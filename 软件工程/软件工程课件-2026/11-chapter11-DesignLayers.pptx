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77"/>
  </p:notesMasterIdLst>
  <p:sldIdLst>
    <p:sldId id="356" r:id="rId2"/>
    <p:sldId id="256" r:id="rId3"/>
    <p:sldId id="257" r:id="rId4"/>
    <p:sldId id="314" r:id="rId5"/>
    <p:sldId id="547" r:id="rId6"/>
    <p:sldId id="535" r:id="rId7"/>
    <p:sldId id="365" r:id="rId8"/>
    <p:sldId id="499" r:id="rId9"/>
    <p:sldId id="549" r:id="rId10"/>
    <p:sldId id="523" r:id="rId11"/>
    <p:sldId id="562" r:id="rId12"/>
    <p:sldId id="524" r:id="rId13"/>
    <p:sldId id="560" r:id="rId14"/>
    <p:sldId id="561" r:id="rId15"/>
    <p:sldId id="564" r:id="rId16"/>
    <p:sldId id="525" r:id="rId17"/>
    <p:sldId id="559" r:id="rId18"/>
    <p:sldId id="565" r:id="rId19"/>
    <p:sldId id="566" r:id="rId20"/>
    <p:sldId id="433" r:id="rId21"/>
    <p:sldId id="540" r:id="rId22"/>
    <p:sldId id="551" r:id="rId23"/>
    <p:sldId id="552" r:id="rId24"/>
    <p:sldId id="553" r:id="rId25"/>
    <p:sldId id="541" r:id="rId26"/>
    <p:sldId id="542" r:id="rId27"/>
    <p:sldId id="500" r:id="rId28"/>
    <p:sldId id="550" r:id="rId29"/>
    <p:sldId id="536" r:id="rId30"/>
    <p:sldId id="498" r:id="rId31"/>
    <p:sldId id="554" r:id="rId32"/>
    <p:sldId id="501" r:id="rId33"/>
    <p:sldId id="502" r:id="rId34"/>
    <p:sldId id="543" r:id="rId35"/>
    <p:sldId id="503" r:id="rId36"/>
    <p:sldId id="555" r:id="rId37"/>
    <p:sldId id="472" r:id="rId38"/>
    <p:sldId id="556" r:id="rId39"/>
    <p:sldId id="437" r:id="rId40"/>
    <p:sldId id="504" r:id="rId41"/>
    <p:sldId id="505" r:id="rId42"/>
    <p:sldId id="506" r:id="rId43"/>
    <p:sldId id="545" r:id="rId44"/>
    <p:sldId id="546" r:id="rId45"/>
    <p:sldId id="528" r:id="rId46"/>
    <p:sldId id="529" r:id="rId47"/>
    <p:sldId id="530" r:id="rId48"/>
    <p:sldId id="544" r:id="rId49"/>
    <p:sldId id="531" r:id="rId50"/>
    <p:sldId id="507" r:id="rId51"/>
    <p:sldId id="508" r:id="rId52"/>
    <p:sldId id="509" r:id="rId53"/>
    <p:sldId id="510" r:id="rId54"/>
    <p:sldId id="534" r:id="rId55"/>
    <p:sldId id="471" r:id="rId56"/>
    <p:sldId id="557" r:id="rId57"/>
    <p:sldId id="512" r:id="rId58"/>
    <p:sldId id="513" r:id="rId59"/>
    <p:sldId id="514" r:id="rId60"/>
    <p:sldId id="515" r:id="rId61"/>
    <p:sldId id="537" r:id="rId62"/>
    <p:sldId id="516" r:id="rId63"/>
    <p:sldId id="517" r:id="rId64"/>
    <p:sldId id="538" r:id="rId65"/>
    <p:sldId id="518" r:id="rId66"/>
    <p:sldId id="473" r:id="rId67"/>
    <p:sldId id="519" r:id="rId68"/>
    <p:sldId id="520" r:id="rId69"/>
    <p:sldId id="474" r:id="rId70"/>
    <p:sldId id="521" r:id="rId71"/>
    <p:sldId id="558" r:id="rId72"/>
    <p:sldId id="431" r:id="rId73"/>
    <p:sldId id="364" r:id="rId74"/>
    <p:sldId id="563" r:id="rId75"/>
    <p:sldId id="470" r:id="rId7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1242" autoAdjust="0"/>
    <p:restoredTop sz="76224" autoAdjust="0"/>
  </p:normalViewPr>
  <p:slideViewPr>
    <p:cSldViewPr>
      <p:cViewPr varScale="1">
        <p:scale>
          <a:sx n="98" d="100"/>
          <a:sy n="98" d="100"/>
        </p:scale>
        <p:origin x="82" y="1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C8446A5-2B72-41F2-BC7A-D16FB032735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BFE4B407-9E4B-4D0B-986B-58A7064AE17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6084" name="Rectangle 4">
            <a:extLst>
              <a:ext uri="{FF2B5EF4-FFF2-40B4-BE49-F238E27FC236}">
                <a16:creationId xmlns:a16="http://schemas.microsoft.com/office/drawing/2014/main" id="{5C0AB37C-2C71-4127-8259-CBEEA8E42EC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3C3495DE-7D9D-487C-9449-D32A6BA7679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DD80B304-24B7-4DCE-97B7-6EA3A27FA01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DCA56F9E-30F8-4933-B63C-4556E436963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49E27BB-29EF-40C4-9DC6-72035873FF6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a:t>
            </a:fld>
            <a:endParaRPr lang="en-US" altLang="zh-CN"/>
          </a:p>
        </p:txBody>
      </p:sp>
    </p:spTree>
    <p:extLst>
      <p:ext uri="{BB962C8B-B14F-4D97-AF65-F5344CB8AC3E}">
        <p14:creationId xmlns:p14="http://schemas.microsoft.com/office/powerpoint/2010/main" val="2640884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面向对象设计：用例实现</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a:t>
            </a:fld>
            <a:endParaRPr lang="en-US" altLang="zh-CN"/>
          </a:p>
        </p:txBody>
      </p:sp>
    </p:spTree>
    <p:extLst>
      <p:ext uri="{BB962C8B-B14F-4D97-AF65-F5344CB8AC3E}">
        <p14:creationId xmlns:p14="http://schemas.microsoft.com/office/powerpoint/2010/main" val="1488649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3</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多层系统的细节设计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用例实现和顺序图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用协作图进行设计</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更新和打包设计类图</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设计模式</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解释设计中不同种类的目标和层次</a:t>
            </a:r>
            <a:endParaRPr lang="en-US" altLang="zh-CN" dirty="0"/>
          </a:p>
          <a:p>
            <a:r>
              <a:rPr lang="zh-CN" altLang="en-US" dirty="0"/>
              <a:t>为实现用例开发顺序图</a:t>
            </a:r>
            <a:endParaRPr lang="en-US" altLang="zh-CN" dirty="0"/>
          </a:p>
          <a:p>
            <a:r>
              <a:rPr lang="zh-CN" altLang="en-US" dirty="0"/>
              <a:t>为细节设计开发协作图</a:t>
            </a:r>
            <a:endParaRPr lang="en-US" altLang="zh-CN" dirty="0"/>
          </a:p>
          <a:p>
            <a:r>
              <a:rPr lang="zh-CN" altLang="en-US" dirty="0"/>
              <a:t>开发更新的设计类图</a:t>
            </a:r>
            <a:endParaRPr lang="en-US" altLang="zh-CN" dirty="0"/>
          </a:p>
          <a:p>
            <a:r>
              <a:rPr lang="zh-CN" altLang="en-US" dirty="0"/>
              <a:t>开发多层子系统包</a:t>
            </a:r>
            <a:endParaRPr lang="en-US" altLang="zh-CN"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a:t>
            </a:fld>
            <a:endParaRPr lang="en-US" altLang="zh-CN"/>
          </a:p>
        </p:txBody>
      </p:sp>
    </p:spTree>
    <p:extLst>
      <p:ext uri="{BB962C8B-B14F-4D97-AF65-F5344CB8AC3E}">
        <p14:creationId xmlns:p14="http://schemas.microsoft.com/office/powerpoint/2010/main" val="1942245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解释设计模式并识别不同的特殊模式</a:t>
            </a:r>
            <a:endParaRPr lang="en-US" altLang="zh-CN" dirty="0"/>
          </a:p>
          <a:p>
            <a:endParaRPr lang="en-US" altLang="zh-CN" dirty="0"/>
          </a:p>
          <a:p>
            <a:r>
              <a:rPr lang="en-US" altLang="zh-CN" b="0" i="0" dirty="0">
                <a:solidFill>
                  <a:srgbClr val="2A2B2E"/>
                </a:solidFill>
                <a:effectLst/>
                <a:latin typeface="PingFang SC"/>
              </a:rPr>
              <a:t>10</a:t>
            </a:r>
            <a:r>
              <a:rPr lang="zh-CN" altLang="en-US" b="0" i="0" dirty="0">
                <a:solidFill>
                  <a:srgbClr val="2A2B2E"/>
                </a:solidFill>
                <a:effectLst/>
                <a:latin typeface="PingFang SC"/>
              </a:rPr>
              <a:t>章介绍了面向对象程序的软件设计概念、多层设计、使用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卡技术实现用例以及基本设计原则</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本章继续在更高级的层面上讨论面向对象软件设计</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a:t>
            </a:fld>
            <a:endParaRPr lang="en-US" altLang="zh-CN"/>
          </a:p>
        </p:txBody>
      </p:sp>
    </p:spTree>
    <p:extLst>
      <p:ext uri="{BB962C8B-B14F-4D97-AF65-F5344CB8AC3E}">
        <p14:creationId xmlns:p14="http://schemas.microsoft.com/office/powerpoint/2010/main" val="2523431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6</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多层系统的细节设计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9069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a:t>
            </a:r>
            <a:r>
              <a:rPr lang="en-US" altLang="zh-CN" dirty="0"/>
              <a:t>10</a:t>
            </a:r>
            <a:r>
              <a:rPr lang="zh-CN" altLang="en-US" dirty="0"/>
              <a:t>章中的</a:t>
            </a:r>
            <a:r>
              <a:rPr lang="en-US" altLang="zh-CN" dirty="0"/>
              <a:t>CRC</a:t>
            </a:r>
            <a:r>
              <a:rPr lang="zh-CN" altLang="en-US" dirty="0"/>
              <a:t>卡主要关注业务逻辑，也就是类</a:t>
            </a:r>
            <a:r>
              <a:rPr lang="zh-CN" altLang="en-US" b="0" i="0" dirty="0">
                <a:solidFill>
                  <a:srgbClr val="2A2B2E"/>
                </a:solidFill>
                <a:effectLst/>
                <a:latin typeface="PingFang SC"/>
              </a:rPr>
              <a:t>的问题域层（对一项细节设计的多层问题关注较少）</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本章关注的三层系统包括视图层、业务逻辑</a:t>
            </a:r>
            <a:r>
              <a:rPr lang="en-US" altLang="zh-CN" b="0" i="0" dirty="0">
                <a:solidFill>
                  <a:srgbClr val="2A2B2E"/>
                </a:solidFill>
                <a:effectLst/>
                <a:latin typeface="PingFang SC"/>
              </a:rPr>
              <a:t>/</a:t>
            </a:r>
            <a:r>
              <a:rPr lang="zh-CN" altLang="en-US" b="0" i="0" dirty="0">
                <a:solidFill>
                  <a:srgbClr val="2A2B2E"/>
                </a:solidFill>
                <a:effectLst/>
                <a:latin typeface="PingFang SC"/>
              </a:rPr>
              <a:t>问题域层和数据访问层</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随之出现的问题：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对象是如何在内存中创建的</a:t>
            </a:r>
            <a:endParaRPr lang="en-US" altLang="zh-CN" b="0" i="0" dirty="0">
              <a:solidFill>
                <a:srgbClr val="2A2B2E"/>
              </a:solidFill>
              <a:effectLst/>
              <a:latin typeface="PingFang SC"/>
            </a:endParaRPr>
          </a:p>
          <a:p>
            <a:r>
              <a:rPr lang="zh-CN" altLang="en-US" b="0" i="0" dirty="0">
                <a:solidFill>
                  <a:srgbClr val="2A2B2E"/>
                </a:solidFill>
                <a:effectLst/>
                <a:latin typeface="PingFang SC"/>
              </a:rPr>
              <a:t>用户界面是如何与其他对象交互的</a:t>
            </a:r>
            <a:endParaRPr lang="en-US" altLang="zh-CN" b="0" i="0" dirty="0">
              <a:solidFill>
                <a:srgbClr val="2A2B2E"/>
              </a:solidFill>
              <a:effectLst/>
              <a:latin typeface="PingFang SC"/>
            </a:endParaRPr>
          </a:p>
          <a:p>
            <a:r>
              <a:rPr lang="zh-CN" altLang="en-US" b="0" i="0" dirty="0">
                <a:solidFill>
                  <a:srgbClr val="2A2B2E"/>
                </a:solidFill>
                <a:effectLst/>
                <a:latin typeface="PingFang SC"/>
              </a:rPr>
              <a:t>数据库是如何处理对象的</a:t>
            </a:r>
            <a:endParaRPr lang="en-US" altLang="zh-CN" b="0" i="0" dirty="0">
              <a:solidFill>
                <a:srgbClr val="2A2B2E"/>
              </a:solidFill>
              <a:effectLst/>
              <a:latin typeface="PingFang SC"/>
            </a:endParaRPr>
          </a:p>
          <a:p>
            <a:r>
              <a:rPr lang="zh-CN" altLang="en-US" b="0" i="0" dirty="0">
                <a:solidFill>
                  <a:srgbClr val="2A2B2E"/>
                </a:solidFill>
                <a:effectLst/>
                <a:latin typeface="PingFang SC"/>
              </a:rPr>
              <a:t>还需要其他对象吗</a:t>
            </a:r>
            <a:r>
              <a:rPr lang="en-US" altLang="zh-CN" b="0" i="0" dirty="0">
                <a:solidFill>
                  <a:srgbClr val="2A2B2E"/>
                </a:solidFill>
                <a:effectLst/>
                <a:latin typeface="PingFang SC"/>
              </a:rPr>
              <a:t>?</a:t>
            </a:r>
          </a:p>
          <a:p>
            <a:r>
              <a:rPr lang="zh-CN" altLang="en-US" b="0" i="0" dirty="0">
                <a:solidFill>
                  <a:srgbClr val="2A2B2E"/>
                </a:solidFill>
                <a:effectLst/>
                <a:latin typeface="PingFang SC"/>
              </a:rPr>
              <a:t>每个对象的寿命是多少</a:t>
            </a:r>
            <a:r>
              <a:rPr lang="en-US" altLang="zh-CN" b="0" i="0" dirty="0">
                <a:solidFill>
                  <a:srgbClr val="2A2B2E"/>
                </a:solidFill>
                <a:effectLst/>
                <a:latin typeface="PingFang SC"/>
              </a:rPr>
              <a:t>?</a:t>
            </a:r>
          </a:p>
          <a:p>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a:t>
            </a:fld>
            <a:endParaRPr lang="en-US" altLang="zh-CN"/>
          </a:p>
        </p:txBody>
      </p:sp>
    </p:spTree>
    <p:extLst>
      <p:ext uri="{BB962C8B-B14F-4D97-AF65-F5344CB8AC3E}">
        <p14:creationId xmlns:p14="http://schemas.microsoft.com/office/powerpoint/2010/main" val="406504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设计模式</a:t>
            </a:r>
            <a:r>
              <a:rPr lang="en-US" altLang="zh-CN" b="0" i="0" dirty="0">
                <a:solidFill>
                  <a:srgbClr val="2A2B2E"/>
                </a:solidFill>
                <a:effectLst/>
                <a:latin typeface="PingFang SC"/>
              </a:rPr>
              <a:t>——</a:t>
            </a:r>
            <a:r>
              <a:rPr lang="zh-CN" altLang="en-US" b="0" i="0" dirty="0">
                <a:solidFill>
                  <a:srgbClr val="2A2B2E"/>
                </a:solidFill>
                <a:effectLst/>
                <a:latin typeface="PingFang SC"/>
              </a:rPr>
              <a:t>被广泛认为是良好实践的标准设计技术和模板</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对于常见的设计</a:t>
            </a:r>
            <a:r>
              <a:rPr lang="en-US" altLang="zh-CN" b="0" i="0" dirty="0">
                <a:solidFill>
                  <a:srgbClr val="2A2B2E"/>
                </a:solidFill>
                <a:effectLst/>
                <a:latin typeface="PingFang SC"/>
              </a:rPr>
              <a:t>/</a:t>
            </a:r>
            <a:r>
              <a:rPr lang="zh-CN" altLang="en-US" b="0" i="0" dirty="0">
                <a:solidFill>
                  <a:srgbClr val="2A2B2E"/>
                </a:solidFill>
                <a:effectLst/>
                <a:latin typeface="PingFang SC"/>
              </a:rPr>
              <a:t>编码问题，设计模式建议了处理问题的最佳方法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8</a:t>
            </a:fld>
            <a:endParaRPr lang="en-US" altLang="zh-CN"/>
          </a:p>
        </p:txBody>
      </p:sp>
    </p:spTree>
    <p:extLst>
      <p:ext uri="{BB962C8B-B14F-4D97-AF65-F5344CB8AC3E}">
        <p14:creationId xmlns:p14="http://schemas.microsoft.com/office/powerpoint/2010/main" val="1734908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9</a:t>
            </a:fld>
            <a:endParaRPr lang="en-US" altLang="zh-CN"/>
          </a:p>
        </p:txBody>
      </p:sp>
    </p:spTree>
    <p:extLst>
      <p:ext uri="{BB962C8B-B14F-4D97-AF65-F5344CB8AC3E}">
        <p14:creationId xmlns:p14="http://schemas.microsoft.com/office/powerpoint/2010/main" val="1665923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10</a:t>
            </a:fld>
            <a:endParaRPr lang="en-US" altLang="zh-CN"/>
          </a:p>
        </p:txBody>
      </p:sp>
    </p:spTree>
    <p:extLst>
      <p:ext uri="{BB962C8B-B14F-4D97-AF65-F5344CB8AC3E}">
        <p14:creationId xmlns:p14="http://schemas.microsoft.com/office/powerpoint/2010/main" val="2928374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11</a:t>
            </a:fld>
            <a:endParaRPr lang="en-US" altLang="zh-CN"/>
          </a:p>
        </p:txBody>
      </p:sp>
    </p:spTree>
    <p:extLst>
      <p:ext uri="{BB962C8B-B14F-4D97-AF65-F5344CB8AC3E}">
        <p14:creationId xmlns:p14="http://schemas.microsoft.com/office/powerpoint/2010/main" val="3751803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问题：一个类只允许是用一个实例。这个实例可能被系统的许多地方调用。（例如，一个工厂类或者主窗口类，管理系统资源的服务类，例如数据库连接）</a:t>
            </a:r>
            <a:endParaRPr lang="en-US" altLang="zh-CN" dirty="0"/>
          </a:p>
          <a:p>
            <a:endParaRPr lang="en-US" altLang="zh-CN" dirty="0"/>
          </a:p>
          <a:p>
            <a:r>
              <a:rPr lang="zh-CN" altLang="en-US" dirty="0"/>
              <a:t>解决方案：单例类有一个静态变量指向它自己的一种实例。所有类的构造器都是私有的，可以通过一种或多种方法防伪，比如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dirty="0"/>
              <a:t>样例：在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dirty="0"/>
              <a:t>优点：在某些时间只需要一个对象实例，但如果它只从一个地方实例化，那么我们可能不需要这个单例。这个单例对象控制它自己并确保值创建了一个实例，无论它被调用多少次，无论它在系统的什么地方出现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a:p>
            <a:r>
              <a:rPr lang="en-US" altLang="zh-CN" dirty="0"/>
              <a:t>synchronized </a:t>
            </a:r>
            <a:r>
              <a:rPr lang="zh-CN" altLang="en-US" dirty="0"/>
              <a:t>是 </a:t>
            </a:r>
            <a:r>
              <a:rPr lang="en-US" altLang="zh-CN" dirty="0"/>
              <a:t>Java </a:t>
            </a:r>
            <a:r>
              <a:rPr lang="zh-CN" altLang="en-US" dirty="0"/>
              <a:t>中的关键字，是利用锁的机制来实现同步的。</a:t>
            </a:r>
          </a:p>
          <a:p>
            <a:r>
              <a:rPr lang="zh-CN" altLang="en-US" dirty="0"/>
              <a:t>锁机制有如下两种特性：</a:t>
            </a:r>
          </a:p>
          <a:p>
            <a:pPr>
              <a:buFont typeface="Arial" panose="020B0604020202020204" pitchFamily="34" charset="0"/>
              <a:buChar char="•"/>
            </a:pPr>
            <a:r>
              <a:rPr lang="zh-CN" altLang="en-US" dirty="0"/>
              <a:t>互斥性：即在同一时间只允许一个线程持有某个对象锁，通过这种特性来实现多线程中的协调机制，这样在同一时间只有一个线程对需同步的代码块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dirty="0"/>
              <a:t>可见性：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12</a:t>
            </a:fld>
            <a:endParaRPr lang="en-US" altLang="zh-CN"/>
          </a:p>
        </p:txBody>
      </p:sp>
    </p:spTree>
    <p:extLst>
      <p:ext uri="{BB962C8B-B14F-4D97-AF65-F5344CB8AC3E}">
        <p14:creationId xmlns:p14="http://schemas.microsoft.com/office/powerpoint/2010/main" val="3366872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问题：一个类只允许是用一个实例。这个实例可能被系统的许多地方调用。（例如，一个工厂类或者主窗口类，管理系统资源的服务类，例如数据库连接）</a:t>
            </a:r>
            <a:endParaRPr lang="en-US" altLang="zh-CN" dirty="0"/>
          </a:p>
          <a:p>
            <a:endParaRPr lang="en-US" altLang="zh-CN" dirty="0"/>
          </a:p>
          <a:p>
            <a:r>
              <a:rPr lang="zh-CN" altLang="en-US" dirty="0"/>
              <a:t>解决方案：单例类有一个静态变量指向它自己的一种实例。所有类的构造器都是私有的，可以通过一种或多种方法防伪，比如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dirty="0"/>
              <a:t>样例：在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dirty="0"/>
              <a:t>优点：在某些时间只需要一个对象实例，但如果它只从一个地方实例化，那么我们可能不需要这个单例。这个单例对象控制它自己并确保值创建了一个实例，无论它被调用多少次，无论它在系统的什么地方出现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a:p>
            <a:r>
              <a:rPr lang="en-US" altLang="zh-CN" dirty="0"/>
              <a:t>synchronized </a:t>
            </a:r>
            <a:r>
              <a:rPr lang="zh-CN" altLang="en-US" dirty="0"/>
              <a:t>是 </a:t>
            </a:r>
            <a:r>
              <a:rPr lang="en-US" altLang="zh-CN" dirty="0"/>
              <a:t>Java </a:t>
            </a:r>
            <a:r>
              <a:rPr lang="zh-CN" altLang="en-US" dirty="0"/>
              <a:t>中的关键字，是利用锁的机制来实现同步的。</a:t>
            </a:r>
          </a:p>
          <a:p>
            <a:r>
              <a:rPr lang="zh-CN" altLang="en-US" dirty="0"/>
              <a:t>锁机制有如下两种特性：</a:t>
            </a:r>
          </a:p>
          <a:p>
            <a:pPr>
              <a:buFont typeface="Arial" panose="020B0604020202020204" pitchFamily="34" charset="0"/>
              <a:buChar char="•"/>
            </a:pPr>
            <a:r>
              <a:rPr lang="zh-CN" altLang="en-US" dirty="0"/>
              <a:t>互斥性：即在同一时间只允许一个线程持有某个对象锁，通过这种特性来实现多线程中的协调机制，这样在同一时间只有一个线程对需同步的代码块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dirty="0"/>
              <a:t>可见性：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13</a:t>
            </a:fld>
            <a:endParaRPr lang="en-US" altLang="zh-CN"/>
          </a:p>
        </p:txBody>
      </p:sp>
    </p:spTree>
    <p:extLst>
      <p:ext uri="{BB962C8B-B14F-4D97-AF65-F5344CB8AC3E}">
        <p14:creationId xmlns:p14="http://schemas.microsoft.com/office/powerpoint/2010/main" val="183281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问题：一个类只允许是用一个实例。这个实例可能被系统的许多地方调用。（例如，一个工厂类或者主窗口类，管理系统资源的服务类，例如数据库连接）</a:t>
            </a:r>
            <a:endParaRPr lang="en-US" altLang="zh-CN" dirty="0"/>
          </a:p>
          <a:p>
            <a:endParaRPr lang="en-US" altLang="zh-CN" dirty="0"/>
          </a:p>
          <a:p>
            <a:r>
              <a:rPr lang="zh-CN" altLang="en-US" dirty="0"/>
              <a:t>解决方案：单例类有一个静态变量指向它自己的一种实例。所有类的构造器都是私有的，可以通过一种或多种方法防伪，比如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dirty="0"/>
              <a:t>样例：在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dirty="0"/>
              <a:t>优点：在某些时间只需要一个对象实例，但如果它只从一个地方实例化，那么我们可能不需要这个单例。这个单例对象控制它自己并确保值创建了一个实例，无论它被调用多少次，无论它在系统的什么地方出现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a:p>
            <a:r>
              <a:rPr lang="en-US" altLang="zh-CN" dirty="0"/>
              <a:t>synchronized </a:t>
            </a:r>
            <a:r>
              <a:rPr lang="zh-CN" altLang="en-US" dirty="0"/>
              <a:t>是 </a:t>
            </a:r>
            <a:r>
              <a:rPr lang="en-US" altLang="zh-CN" dirty="0"/>
              <a:t>Java </a:t>
            </a:r>
            <a:r>
              <a:rPr lang="zh-CN" altLang="en-US" dirty="0"/>
              <a:t>中的关键字，是利用锁的机制来实现同步的。</a:t>
            </a:r>
          </a:p>
          <a:p>
            <a:r>
              <a:rPr lang="zh-CN" altLang="en-US" dirty="0"/>
              <a:t>锁机制有如下两种特性：</a:t>
            </a:r>
          </a:p>
          <a:p>
            <a:pPr>
              <a:buFont typeface="Arial" panose="020B0604020202020204" pitchFamily="34" charset="0"/>
              <a:buChar char="•"/>
            </a:pPr>
            <a:r>
              <a:rPr lang="zh-CN" altLang="en-US" dirty="0"/>
              <a:t>互斥性：即在同一时间只允许一个线程持有某个对象锁，通过这种特性来实现多线程中的协调机制，这样在同一时间只有一个线程对需同步的代码块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dirty="0"/>
              <a:t>可见性：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14</a:t>
            </a:fld>
            <a:endParaRPr lang="en-US" altLang="zh-CN"/>
          </a:p>
        </p:txBody>
      </p:sp>
    </p:spTree>
    <p:extLst>
      <p:ext uri="{BB962C8B-B14F-4D97-AF65-F5344CB8AC3E}">
        <p14:creationId xmlns:p14="http://schemas.microsoft.com/office/powerpoint/2010/main" val="3015902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15</a:t>
            </a:fld>
            <a:endParaRPr lang="en-US" altLang="zh-CN"/>
          </a:p>
        </p:txBody>
      </p:sp>
    </p:spTree>
    <p:extLst>
      <p:ext uri="{BB962C8B-B14F-4D97-AF65-F5344CB8AC3E}">
        <p14:creationId xmlns:p14="http://schemas.microsoft.com/office/powerpoint/2010/main" val="2119540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问题：一个类必须被另一个标准类替代。替换类已经具有一组预定义的方法签名，这些方法签名不同于原始类的方法签名。如何以最小的影响链接新类，从而不必在整个系统中将名称更改为新类中的方法名称</a:t>
            </a:r>
            <a:endParaRPr lang="en-US" altLang="zh-CN" dirty="0"/>
          </a:p>
          <a:p>
            <a:endParaRPr lang="en-US" altLang="zh-CN" dirty="0"/>
          </a:p>
          <a:p>
            <a:r>
              <a:rPr lang="zh-CN" altLang="en-US" dirty="0"/>
              <a:t>解决方法：写一个新类（适配器类），这个类作为初始系统和被替换的类之间的连接。这个类的方法特征与初始类相似。每个方法要求替换类有正确的方法特征。</a:t>
            </a:r>
            <a:endParaRPr lang="en-US" altLang="zh-CN" dirty="0"/>
          </a:p>
          <a:p>
            <a:endParaRPr lang="en-US" altLang="zh-CN" dirty="0"/>
          </a:p>
          <a:p>
            <a:r>
              <a:rPr lang="zh-CN" altLang="en-US" dirty="0"/>
              <a:t>样例：在</a:t>
            </a:r>
            <a:r>
              <a:rPr lang="en-US" altLang="zh-CN" dirty="0"/>
              <a:t>RMO</a:t>
            </a:r>
            <a:r>
              <a:rPr lang="zh-CN" altLang="en-US" dirty="0"/>
              <a:t>系统的许多地方，需要购买类库来提供特别处理。</a:t>
            </a:r>
            <a:endParaRPr lang="en-US" altLang="zh-CN" dirty="0"/>
          </a:p>
          <a:p>
            <a:r>
              <a:rPr lang="zh-CN" altLang="en-US" dirty="0"/>
              <a:t>这些类库可以提供特殊服务，比如计算税务和运输包裹的费用。</a:t>
            </a:r>
            <a:endParaRPr lang="en-US" altLang="zh-CN" dirty="0"/>
          </a:p>
          <a:p>
            <a:r>
              <a:rPr lang="zh-CN" altLang="en-US" dirty="0"/>
              <a:t>有时候，这些服务库被更新成新的版本。有时候，一个服务库甚至被替换给一个完全不同的供应商。</a:t>
            </a:r>
            <a:endParaRPr lang="en-US" altLang="zh-CN" dirty="0"/>
          </a:p>
          <a:p>
            <a:r>
              <a:rPr lang="en-US" altLang="zh-CN" dirty="0"/>
              <a:t>RMO</a:t>
            </a:r>
            <a:r>
              <a:rPr lang="zh-CN" altLang="en-US" dirty="0"/>
              <a:t>系统的员工通过在每个替换雷倩部署一个适配器间接链接被替换的类</a:t>
            </a:r>
            <a:endParaRPr lang="en-US" altLang="zh-CN" dirty="0"/>
          </a:p>
          <a:p>
            <a:endParaRPr lang="en-US" altLang="zh-CN" dirty="0"/>
          </a:p>
          <a:p>
            <a:r>
              <a:rPr lang="zh-CN" altLang="en-US" dirty="0"/>
              <a:t>优点和结果：被改造的类能被替换成需要的类型。适配器类的改变是有限的，并且不会与系统连锁</a:t>
            </a:r>
            <a:endParaRPr lang="en-US" altLang="zh-CN" dirty="0"/>
          </a:p>
          <a:p>
            <a:endParaRPr lang="en-US" altLang="zh-CN" dirty="0"/>
          </a:p>
          <a:p>
            <a:r>
              <a:rPr lang="zh-CN" altLang="en-US" dirty="0"/>
              <a:t>已通过的参数可能变得更复杂，并且很难限制适配器类的改变</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16</a:t>
            </a:fld>
            <a:endParaRPr lang="en-US" altLang="zh-CN"/>
          </a:p>
        </p:txBody>
      </p:sp>
    </p:spTree>
    <p:extLst>
      <p:ext uri="{BB962C8B-B14F-4D97-AF65-F5344CB8AC3E}">
        <p14:creationId xmlns:p14="http://schemas.microsoft.com/office/powerpoint/2010/main" val="588350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问题：一个类必须被另一个标准类替代。替换类已经具有一组预定义的方法签名，这些方法签名不同于原始类的方法签名。如何以最小的影响链接新类，从而不必在整个系统中将名称更改为新类中的方法名称</a:t>
            </a:r>
            <a:endParaRPr lang="en-US" altLang="zh-CN" dirty="0"/>
          </a:p>
          <a:p>
            <a:endParaRPr lang="en-US" altLang="zh-CN" dirty="0"/>
          </a:p>
          <a:p>
            <a:r>
              <a:rPr lang="zh-CN" altLang="en-US" dirty="0"/>
              <a:t>解决方法：写一个新类（适配器类），这个类作为初始系统和被替换的类之间的连接。这个类的方法特征与初始类相似。每个方法要求替换类有正确的方法特征。</a:t>
            </a:r>
            <a:endParaRPr lang="en-US" altLang="zh-CN" dirty="0"/>
          </a:p>
          <a:p>
            <a:endParaRPr lang="en-US" altLang="zh-CN" dirty="0"/>
          </a:p>
          <a:p>
            <a:r>
              <a:rPr lang="zh-CN" altLang="en-US" dirty="0"/>
              <a:t>样例：在</a:t>
            </a:r>
            <a:r>
              <a:rPr lang="en-US" altLang="zh-CN" dirty="0"/>
              <a:t>RMO</a:t>
            </a:r>
            <a:r>
              <a:rPr lang="zh-CN" altLang="en-US" dirty="0"/>
              <a:t>系统的许多地方，需要购买类库来提供特别处理。</a:t>
            </a:r>
            <a:endParaRPr lang="en-US" altLang="zh-CN" dirty="0"/>
          </a:p>
          <a:p>
            <a:r>
              <a:rPr lang="zh-CN" altLang="en-US" dirty="0"/>
              <a:t>这些类库可以提供特殊服务，比如计算税务和运输包裹的费用。</a:t>
            </a:r>
            <a:endParaRPr lang="en-US" altLang="zh-CN" dirty="0"/>
          </a:p>
          <a:p>
            <a:r>
              <a:rPr lang="zh-CN" altLang="en-US" dirty="0"/>
              <a:t>有时候，这些服务库被更新成新的版本。有时候，一个服务库甚至被替换给一个完全不同的供应商。</a:t>
            </a:r>
            <a:endParaRPr lang="en-US" altLang="zh-CN" dirty="0"/>
          </a:p>
          <a:p>
            <a:r>
              <a:rPr lang="en-US" altLang="zh-CN" dirty="0"/>
              <a:t>RMO</a:t>
            </a:r>
            <a:r>
              <a:rPr lang="zh-CN" altLang="en-US" dirty="0"/>
              <a:t>系统的员工通过在每个替换雷倩部署一个适配器间接链接被替换的类</a:t>
            </a:r>
            <a:endParaRPr lang="en-US" altLang="zh-CN" dirty="0"/>
          </a:p>
          <a:p>
            <a:endParaRPr lang="en-US" altLang="zh-CN" dirty="0"/>
          </a:p>
          <a:p>
            <a:r>
              <a:rPr lang="zh-CN" altLang="en-US" dirty="0"/>
              <a:t>优点和结果：被改造的类能被替换成需要的类型。适配器类的改变是有限的，并且不会与系统连锁</a:t>
            </a:r>
            <a:endParaRPr lang="en-US" altLang="zh-CN" dirty="0"/>
          </a:p>
          <a:p>
            <a:endParaRPr lang="en-US" altLang="zh-CN" dirty="0"/>
          </a:p>
          <a:p>
            <a:r>
              <a:rPr lang="zh-CN" altLang="en-US" dirty="0"/>
              <a:t>已通过的参数可能变得更复杂，并且很难限制适配器类的改变</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17</a:t>
            </a:fld>
            <a:endParaRPr lang="en-US" altLang="zh-CN"/>
          </a:p>
        </p:txBody>
      </p:sp>
    </p:spTree>
    <p:extLst>
      <p:ext uri="{BB962C8B-B14F-4D97-AF65-F5344CB8AC3E}">
        <p14:creationId xmlns:p14="http://schemas.microsoft.com/office/powerpoint/2010/main" val="3110106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18</a:t>
            </a:fld>
            <a:endParaRPr lang="en-US" altLang="zh-CN"/>
          </a:p>
        </p:txBody>
      </p:sp>
    </p:spTree>
    <p:extLst>
      <p:ext uri="{BB962C8B-B14F-4D97-AF65-F5344CB8AC3E}">
        <p14:creationId xmlns:p14="http://schemas.microsoft.com/office/powerpoint/2010/main" val="14660485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它们写在设计模式目录</a:t>
            </a:r>
            <a:r>
              <a:rPr lang="en-US" altLang="zh-CN" b="0" i="0" dirty="0">
                <a:solidFill>
                  <a:srgbClr val="2A2B2E"/>
                </a:solidFill>
                <a:effectLst/>
                <a:latin typeface="PingFang SC"/>
              </a:rPr>
              <a:t>/</a:t>
            </a:r>
            <a:r>
              <a:rPr lang="zh-CN" altLang="en-US" b="0" i="0" dirty="0">
                <a:solidFill>
                  <a:srgbClr val="2A2B2E"/>
                </a:solidFill>
                <a:effectLst/>
                <a:latin typeface="PingFang SC"/>
              </a:rPr>
              <a:t>参考资料中。包括</a:t>
            </a:r>
            <a:r>
              <a:rPr lang="en-US" altLang="zh-CN" b="0" i="0" dirty="0">
                <a:solidFill>
                  <a:srgbClr val="2A2B2E"/>
                </a:solidFill>
                <a:effectLst/>
                <a:latin typeface="PingFang SC"/>
              </a:rPr>
              <a:t>:</a:t>
            </a:r>
          </a:p>
          <a:p>
            <a:r>
              <a:rPr lang="zh-CN" altLang="en-US" b="0" i="0" dirty="0">
                <a:solidFill>
                  <a:srgbClr val="2A2B2E"/>
                </a:solidFill>
                <a:effectLst/>
                <a:latin typeface="PingFang SC"/>
              </a:rPr>
              <a:t>模式名称</a:t>
            </a:r>
            <a:endParaRPr lang="en-US" altLang="zh-CN" b="0" i="0" dirty="0">
              <a:solidFill>
                <a:srgbClr val="2A2B2E"/>
              </a:solidFill>
              <a:effectLst/>
              <a:latin typeface="PingFang SC"/>
            </a:endParaRPr>
          </a:p>
          <a:p>
            <a:r>
              <a:rPr lang="zh-CN" altLang="en-US" b="0" i="0" dirty="0">
                <a:solidFill>
                  <a:srgbClr val="2A2B2E"/>
                </a:solidFill>
                <a:effectLst/>
                <a:latin typeface="PingFang SC"/>
              </a:rPr>
              <a:t>需要解决方案的问题</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模式的解决方案或解释</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模式样式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模式的优点和结果</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19</a:t>
            </a:fld>
            <a:endParaRPr lang="en-US" altLang="zh-CN"/>
          </a:p>
        </p:txBody>
      </p:sp>
    </p:spTree>
    <p:extLst>
      <p:ext uri="{BB962C8B-B14F-4D97-AF65-F5344CB8AC3E}">
        <p14:creationId xmlns:p14="http://schemas.microsoft.com/office/powerpoint/2010/main" val="2156334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控制器模式</a:t>
            </a:r>
          </a:p>
          <a:p>
            <a:pPr marL="0" indent="0">
              <a:buNone/>
            </a:pPr>
            <a:endParaRPr lang="en-US" altLang="zh-CN" dirty="0"/>
          </a:p>
          <a:p>
            <a:pPr marL="0" indent="0">
              <a:buNone/>
            </a:pPr>
            <a:r>
              <a:rPr lang="zh-CN" altLang="en-US" b="0" i="0" dirty="0">
                <a:solidFill>
                  <a:srgbClr val="2A2B2E"/>
                </a:solidFill>
                <a:effectLst/>
                <a:latin typeface="PingFang SC"/>
              </a:rPr>
              <a:t>迈向多层架构的第一步</a:t>
            </a:r>
            <a:endParaRPr lang="en-US" altLang="zh-CN" dirty="0"/>
          </a:p>
          <a:p>
            <a:pPr marL="0" indent="0">
              <a:buNone/>
            </a:pPr>
            <a:endParaRPr lang="en-US" altLang="zh-CN" dirty="0"/>
          </a:p>
          <a:p>
            <a:pPr marL="0" indent="0">
              <a:buNone/>
            </a:pPr>
            <a:r>
              <a:rPr lang="zh-CN" altLang="en-US" dirty="0"/>
              <a:t>问题，解决方案，样例，优点和结果</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20</a:t>
            </a:fld>
            <a:endParaRPr lang="en-US" altLang="zh-CN"/>
          </a:p>
        </p:txBody>
      </p:sp>
    </p:spTree>
    <p:extLst>
      <p:ext uri="{BB962C8B-B14F-4D97-AF65-F5344CB8AC3E}">
        <p14:creationId xmlns:p14="http://schemas.microsoft.com/office/powerpoint/2010/main" val="3719236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21</a:t>
            </a:fld>
            <a:endParaRPr lang="en-US" altLang="zh-CN"/>
          </a:p>
        </p:txBody>
      </p:sp>
    </p:spTree>
    <p:extLst>
      <p:ext uri="{BB962C8B-B14F-4D97-AF65-F5344CB8AC3E}">
        <p14:creationId xmlns:p14="http://schemas.microsoft.com/office/powerpoint/2010/main" val="1815238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22</a:t>
            </a:fld>
            <a:endParaRPr lang="en-US" altLang="zh-CN"/>
          </a:p>
        </p:txBody>
      </p:sp>
    </p:spTree>
    <p:extLst>
      <p:ext uri="{BB962C8B-B14F-4D97-AF65-F5344CB8AC3E}">
        <p14:creationId xmlns:p14="http://schemas.microsoft.com/office/powerpoint/2010/main" val="31038551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23</a:t>
            </a:fld>
            <a:endParaRPr lang="en-US" altLang="zh-CN"/>
          </a:p>
        </p:txBody>
      </p:sp>
    </p:spTree>
    <p:extLst>
      <p:ext uri="{BB962C8B-B14F-4D97-AF65-F5344CB8AC3E}">
        <p14:creationId xmlns:p14="http://schemas.microsoft.com/office/powerpoint/2010/main" val="2038089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a:p>
            <a:pPr marL="228600" indent="-228600">
              <a:buAutoNum type="arabicPeriod"/>
            </a:pPr>
            <a:r>
              <a:rPr lang="zh-CN" altLang="en-US" dirty="0"/>
              <a:t>域类负责处理用例，然而，由于一个用例中可能有许多域类，哪一个负责接收消息？</a:t>
            </a:r>
            <a:endParaRPr lang="en-US" altLang="zh-CN" dirty="0"/>
          </a:p>
          <a:p>
            <a:pPr marL="228600" indent="-228600">
              <a:buAutoNum type="arabicPeriod"/>
            </a:pPr>
            <a:r>
              <a:rPr lang="zh-CN" altLang="en-US" dirty="0"/>
              <a:t>用户界面类如果有所有域类的可见性，那么它将显得很复杂。用户界面和域类的耦合度要如何降低？</a:t>
            </a:r>
            <a:endParaRPr lang="en-US" altLang="zh-CN" dirty="0"/>
          </a:p>
          <a:p>
            <a:pPr marL="0" indent="0">
              <a:buNone/>
            </a:pPr>
            <a:endParaRPr lang="en-US" altLang="zh-CN" dirty="0"/>
          </a:p>
          <a:p>
            <a:pPr marL="0" indent="0">
              <a:buNone/>
            </a:pPr>
            <a:r>
              <a:rPr lang="zh-CN" altLang="en-US" dirty="0"/>
              <a:t>解决方案：</a:t>
            </a:r>
            <a:endParaRPr lang="en-US" altLang="zh-CN" dirty="0"/>
          </a:p>
          <a:p>
            <a:pPr marL="0" indent="0">
              <a:buNone/>
            </a:pPr>
            <a:r>
              <a:rPr lang="zh-CN" altLang="en-US" dirty="0"/>
              <a:t>设置一个专门的类接收所有输入消息并充当交换机，然后转发到正确的域类，有几种解决方式：</a:t>
            </a:r>
            <a:endParaRPr lang="en-US" altLang="zh-CN" dirty="0"/>
          </a:p>
          <a:p>
            <a:pPr marL="0" indent="0">
              <a:buNone/>
            </a:pPr>
            <a:r>
              <a:rPr lang="en-US" altLang="zh-CN" dirty="0"/>
              <a:t>1</a:t>
            </a:r>
            <a:r>
              <a:rPr lang="zh-CN" altLang="en-US" dirty="0"/>
              <a:t>）通过单一的类来表示整个系统</a:t>
            </a:r>
            <a:endParaRPr lang="en-US" altLang="zh-CN" dirty="0"/>
          </a:p>
          <a:p>
            <a:pPr marL="0" indent="0">
              <a:buNone/>
            </a:pPr>
            <a:r>
              <a:rPr lang="en-US" altLang="zh-CN" dirty="0"/>
              <a:t>2</a:t>
            </a:r>
            <a:r>
              <a:rPr lang="zh-CN" altLang="en-US" dirty="0"/>
              <a:t>）通过每个用例的类或创建一群用例来演示用例处理过程</a:t>
            </a: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24</a:t>
            </a:fld>
            <a:endParaRPr lang="en-US" altLang="zh-CN"/>
          </a:p>
        </p:txBody>
      </p:sp>
    </p:spTree>
    <p:extLst>
      <p:ext uri="{BB962C8B-B14F-4D97-AF65-F5344CB8AC3E}">
        <p14:creationId xmlns:p14="http://schemas.microsoft.com/office/powerpoint/2010/main" val="2207454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RMO</a:t>
            </a:r>
            <a:r>
              <a:rPr lang="zh-CN" altLang="en-US" dirty="0"/>
              <a:t>顾客账户子系统从</a:t>
            </a:r>
            <a:r>
              <a:rPr lang="en-US" altLang="zh-CN" dirty="0" err="1"/>
              <a:t>custoerform</a:t>
            </a:r>
            <a:r>
              <a:rPr lang="zh-CN" altLang="en-US" dirty="0"/>
              <a:t>窗口接收输入消息</a:t>
            </a:r>
            <a:endParaRPr lang="en-US" altLang="zh-CN" dirty="0"/>
          </a:p>
          <a:p>
            <a:pPr marL="0" indent="0">
              <a:buNone/>
            </a:pPr>
            <a:endParaRPr lang="en-US" altLang="zh-CN" dirty="0"/>
          </a:p>
          <a:p>
            <a:pPr marL="0" indent="0">
              <a:buNone/>
            </a:pPr>
            <a:r>
              <a:rPr lang="zh-CN" altLang="en-US" dirty="0"/>
              <a:t>这些消息传送给</a:t>
            </a:r>
            <a:r>
              <a:rPr lang="en-US" altLang="zh-CN" dirty="0" err="1"/>
              <a:t>customerhandler</a:t>
            </a:r>
            <a:r>
              <a:rPr lang="zh-CN" altLang="en-US" dirty="0"/>
              <a:t>，它相当于一个开关，将接收到的消息路由给正确的域类</a:t>
            </a:r>
            <a:endParaRPr lang="en-US" altLang="zh-CN"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25</a:t>
            </a:fld>
            <a:endParaRPr lang="en-US" altLang="zh-CN"/>
          </a:p>
        </p:txBody>
      </p:sp>
    </p:spTree>
    <p:extLst>
      <p:ext uri="{BB962C8B-B14F-4D97-AF65-F5344CB8AC3E}">
        <p14:creationId xmlns:p14="http://schemas.microsoft.com/office/powerpoint/2010/main" val="97124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优点：</a:t>
            </a:r>
            <a:endParaRPr lang="en-US" altLang="zh-CN" dirty="0"/>
          </a:p>
          <a:p>
            <a:pPr marL="0" indent="0">
              <a:buNone/>
            </a:pPr>
            <a:r>
              <a:rPr lang="zh-CN" altLang="en-US" dirty="0"/>
              <a:t>视图层和域层的耦合度减小了</a:t>
            </a:r>
            <a:endParaRPr lang="en-US" altLang="zh-CN" dirty="0"/>
          </a:p>
          <a:p>
            <a:pPr marL="0" indent="0">
              <a:buNone/>
            </a:pPr>
            <a:r>
              <a:rPr lang="zh-CN" altLang="en-US" dirty="0"/>
              <a:t>控制器提供了间接的层</a:t>
            </a:r>
            <a:endParaRPr lang="en-US" altLang="zh-CN" dirty="0"/>
          </a:p>
          <a:p>
            <a:pPr marL="0" indent="0">
              <a:buNone/>
            </a:pPr>
            <a:endParaRPr lang="en-US" altLang="zh-CN" dirty="0"/>
          </a:p>
          <a:p>
            <a:pPr marL="0" indent="0">
              <a:buNone/>
            </a:pPr>
            <a:r>
              <a:rPr lang="zh-CN" altLang="en-US" dirty="0"/>
              <a:t>结果：</a:t>
            </a:r>
            <a:endParaRPr lang="en-US" altLang="zh-CN" dirty="0"/>
          </a:p>
          <a:p>
            <a:pPr marL="0" indent="0">
              <a:buNone/>
            </a:pPr>
            <a:r>
              <a:rPr lang="zh-CN" altLang="en-US" dirty="0"/>
              <a:t>控制器和许多域类紧密耦合</a:t>
            </a:r>
            <a:endParaRPr lang="en-US" altLang="zh-CN" dirty="0"/>
          </a:p>
          <a:p>
            <a:pPr marL="0" indent="0">
              <a:buNone/>
            </a:pPr>
            <a:r>
              <a:rPr lang="en-US" altLang="zh-CN" dirty="0"/>
              <a:t>   </a:t>
            </a:r>
            <a:r>
              <a:rPr lang="zh-CN" altLang="en-US" dirty="0"/>
              <a:t>如果不注意，控制器会变得不合逻辑</a:t>
            </a:r>
            <a:endParaRPr lang="en-US" altLang="zh-CN" dirty="0"/>
          </a:p>
          <a:p>
            <a:pPr marL="0" indent="0">
              <a:buNone/>
            </a:pPr>
            <a:r>
              <a:rPr lang="en-US" altLang="zh-CN" dirty="0"/>
              <a:t>   </a:t>
            </a:r>
            <a:r>
              <a:rPr lang="zh-CN" altLang="en-US" dirty="0"/>
              <a:t>如果不注意，业务逻辑将会嵌入控制器中</a:t>
            </a:r>
            <a:endParaRPr lang="en-US" altLang="zh-CN" dirty="0"/>
          </a:p>
          <a:p>
            <a:pPr marL="0" indent="0">
              <a:buNone/>
            </a:pP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26</a:t>
            </a:fld>
            <a:endParaRPr lang="en-US" altLang="zh-CN"/>
          </a:p>
        </p:txBody>
      </p:sp>
    </p:spTree>
    <p:extLst>
      <p:ext uri="{BB962C8B-B14F-4D97-AF65-F5344CB8AC3E}">
        <p14:creationId xmlns:p14="http://schemas.microsoft.com/office/powerpoint/2010/main" val="34370837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设计模式在</a:t>
            </a:r>
            <a:r>
              <a:rPr lang="en-US" altLang="zh-CN" b="0" i="0" dirty="0">
                <a:solidFill>
                  <a:srgbClr val="2A2B2E"/>
                </a:solidFill>
                <a:effectLst/>
                <a:latin typeface="PingFang SC"/>
              </a:rPr>
              <a:t>Elements</a:t>
            </a:r>
            <a:r>
              <a:rPr lang="zh-CN" altLang="en-US" b="0" i="0" dirty="0">
                <a:solidFill>
                  <a:srgbClr val="2A2B2E"/>
                </a:solidFill>
                <a:effectLst/>
                <a:latin typeface="PingFang SC"/>
              </a:rPr>
              <a:t>这本书发表后被广泛接受</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我们已经讨论过一些架构设计模式：三层架构或模型</a:t>
            </a:r>
            <a:r>
              <a:rPr lang="en-US" altLang="zh-CN" b="0" i="0" dirty="0">
                <a:solidFill>
                  <a:srgbClr val="2A2B2E"/>
                </a:solidFill>
                <a:effectLst/>
                <a:latin typeface="PingFang SC"/>
              </a:rPr>
              <a:t>-</a:t>
            </a:r>
            <a:r>
              <a:rPr lang="zh-CN" altLang="en-US" b="0" i="0" dirty="0">
                <a:solidFill>
                  <a:srgbClr val="2A2B2E"/>
                </a:solidFill>
                <a:effectLst/>
                <a:latin typeface="PingFang SC"/>
              </a:rPr>
              <a:t>视图</a:t>
            </a:r>
            <a:r>
              <a:rPr lang="en-US" altLang="zh-CN" b="0" i="0" dirty="0">
                <a:solidFill>
                  <a:srgbClr val="2A2B2E"/>
                </a:solidFill>
                <a:effectLst/>
                <a:latin typeface="PingFang SC"/>
              </a:rPr>
              <a:t>-</a:t>
            </a:r>
            <a:r>
              <a:rPr lang="zh-CN" altLang="en-US" b="0" i="0" dirty="0">
                <a:solidFill>
                  <a:srgbClr val="2A2B2E"/>
                </a:solidFill>
                <a:effectLst/>
                <a:latin typeface="PingFang SC"/>
              </a:rPr>
              <a:t>控制器架构</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编程设计模式的第一个示例是控制器模式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  问题是决定如何处理从视图层到问题域层中的类的所有消息，以减少耦合</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解决方案是在视图层和问题域层之间分配一个类，它接收所有消息并充当将消息定向到问题域的交换机</a:t>
            </a:r>
          </a:p>
          <a:p>
            <a:br>
              <a:rPr lang="zh-CN" altLang="en-US" b="0" i="0" dirty="0">
                <a:solidFill>
                  <a:srgbClr val="939599"/>
                </a:solidFill>
                <a:effectLst/>
                <a:latin typeface="PingFang SC"/>
              </a:rPr>
            </a:b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27</a:t>
            </a:fld>
            <a:endParaRPr lang="en-US" altLang="zh-CN"/>
          </a:p>
        </p:txBody>
      </p:sp>
    </p:spTree>
    <p:extLst>
      <p:ext uri="{BB962C8B-B14F-4D97-AF65-F5344CB8AC3E}">
        <p14:creationId xmlns:p14="http://schemas.microsoft.com/office/powerpoint/2010/main" val="1466574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编程设计模式的第一个示例是控制器模式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  问题是决定如何处理从视图层到问题域层中的类的所有消息，以减少耦合</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解决方案是在视图层和问题域层之间分配一个类，它接收所有消息并充当将消息定向到问题域的交换机</a:t>
            </a:r>
          </a:p>
          <a:p>
            <a:br>
              <a:rPr lang="zh-CN" altLang="en-US" b="0" i="0" dirty="0">
                <a:solidFill>
                  <a:srgbClr val="939599"/>
                </a:solidFill>
                <a:effectLst/>
                <a:latin typeface="PingFang SC"/>
              </a:rPr>
            </a:br>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28</a:t>
            </a:fld>
            <a:endParaRPr lang="en-US" altLang="zh-CN"/>
          </a:p>
        </p:txBody>
      </p:sp>
    </p:spTree>
    <p:extLst>
      <p:ext uri="{BB962C8B-B14F-4D97-AF65-F5344CB8AC3E}">
        <p14:creationId xmlns:p14="http://schemas.microsoft.com/office/powerpoint/2010/main" val="22903441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29</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用例实现和顺序图</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17586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用例实现</a:t>
            </a:r>
            <a:r>
              <a:rPr lang="en-US" altLang="zh-CN" b="0" i="0" dirty="0">
                <a:solidFill>
                  <a:srgbClr val="2A2B2E"/>
                </a:solidFill>
                <a:effectLst/>
                <a:latin typeface="PingFang SC"/>
              </a:rPr>
              <a:t>——</a:t>
            </a:r>
            <a:r>
              <a:rPr lang="zh-CN" altLang="en-US" b="0" i="0" dirty="0">
                <a:solidFill>
                  <a:srgbClr val="2A2B2E"/>
                </a:solidFill>
                <a:effectLst/>
                <a:latin typeface="PingFang SC"/>
              </a:rPr>
              <a:t>用交互图详细说明用例的详细设计的过程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两种类型的交互图</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UML</a:t>
            </a:r>
            <a:r>
              <a:rPr lang="zh-CN" altLang="en-US" b="0" i="0" dirty="0">
                <a:solidFill>
                  <a:srgbClr val="2A2B2E"/>
                </a:solidFill>
                <a:effectLst/>
                <a:latin typeface="PingFang SC"/>
              </a:rPr>
              <a:t>顺序图</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a:t>
            </a:r>
            <a:r>
              <a:rPr lang="en-US" altLang="zh-CN" b="0" i="0" dirty="0">
                <a:solidFill>
                  <a:srgbClr val="2A2B2E"/>
                </a:solidFill>
                <a:effectLst/>
                <a:latin typeface="PingFang SC"/>
              </a:rPr>
              <a:t>UML</a:t>
            </a:r>
            <a:r>
              <a:rPr lang="zh-CN" altLang="en-US" b="0" i="0" dirty="0">
                <a:solidFill>
                  <a:srgbClr val="2A2B2E"/>
                </a:solidFill>
                <a:effectLst/>
                <a:latin typeface="PingFang SC"/>
              </a:rPr>
              <a:t>通信图</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顺序图，又名用例实现</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顺序图是通过扩展第四章的系统顺序图</a:t>
            </a:r>
            <a:r>
              <a:rPr lang="en-US" altLang="zh-CN" b="0" i="0" dirty="0">
                <a:solidFill>
                  <a:srgbClr val="2A2B2E"/>
                </a:solidFill>
                <a:effectLst/>
                <a:latin typeface="PingFang SC"/>
              </a:rPr>
              <a:t>(SSD)</a:t>
            </a:r>
            <a:r>
              <a:rPr lang="zh-CN" altLang="en-US" b="0" i="0" dirty="0">
                <a:solidFill>
                  <a:srgbClr val="2A2B2E"/>
                </a:solidFill>
                <a:effectLst/>
                <a:latin typeface="PingFang SC"/>
              </a:rPr>
              <a:t>来展示的，包括</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视图层对象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域层对象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数据访问层对象</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30</a:t>
            </a:fld>
            <a:endParaRPr lang="en-US" altLang="zh-CN"/>
          </a:p>
        </p:txBody>
      </p:sp>
    </p:spTree>
    <p:extLst>
      <p:ext uri="{BB962C8B-B14F-4D97-AF65-F5344CB8AC3E}">
        <p14:creationId xmlns:p14="http://schemas.microsoft.com/office/powerpoint/2010/main" val="3881507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用例实现</a:t>
            </a:r>
            <a:r>
              <a:rPr lang="en-US" altLang="zh-CN" b="0" i="0" dirty="0">
                <a:solidFill>
                  <a:srgbClr val="2A2B2E"/>
                </a:solidFill>
                <a:effectLst/>
                <a:latin typeface="PingFang SC"/>
              </a:rPr>
              <a:t>——</a:t>
            </a:r>
            <a:r>
              <a:rPr lang="zh-CN" altLang="en-US" b="0" i="0" dirty="0">
                <a:solidFill>
                  <a:srgbClr val="2A2B2E"/>
                </a:solidFill>
                <a:effectLst/>
                <a:latin typeface="PingFang SC"/>
              </a:rPr>
              <a:t>用交互图详细说明用例的详细设计的过程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两种类型的交互图</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UML</a:t>
            </a:r>
            <a:r>
              <a:rPr lang="zh-CN" altLang="en-US" b="0" i="0" dirty="0">
                <a:solidFill>
                  <a:srgbClr val="2A2B2E"/>
                </a:solidFill>
                <a:effectLst/>
                <a:latin typeface="PingFang SC"/>
              </a:rPr>
              <a:t>顺序图</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a:t>
            </a:r>
            <a:r>
              <a:rPr lang="en-US" altLang="zh-CN" b="0" i="0" dirty="0">
                <a:solidFill>
                  <a:srgbClr val="2A2B2E"/>
                </a:solidFill>
                <a:effectLst/>
                <a:latin typeface="PingFang SC"/>
              </a:rPr>
              <a:t>UML</a:t>
            </a:r>
            <a:r>
              <a:rPr lang="zh-CN" altLang="en-US" b="0" i="0" dirty="0">
                <a:solidFill>
                  <a:srgbClr val="2A2B2E"/>
                </a:solidFill>
                <a:effectLst/>
                <a:latin typeface="PingFang SC"/>
              </a:rPr>
              <a:t>通信图</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顺序图，又名用例实现</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顺序图是通过扩展第四章的系统顺序图</a:t>
            </a:r>
            <a:r>
              <a:rPr lang="en-US" altLang="zh-CN" b="0" i="0" dirty="0">
                <a:solidFill>
                  <a:srgbClr val="2A2B2E"/>
                </a:solidFill>
                <a:effectLst/>
                <a:latin typeface="PingFang SC"/>
              </a:rPr>
              <a:t>(SSD)</a:t>
            </a:r>
            <a:r>
              <a:rPr lang="zh-CN" altLang="en-US" b="0" i="0" dirty="0">
                <a:solidFill>
                  <a:srgbClr val="2A2B2E"/>
                </a:solidFill>
                <a:effectLst/>
                <a:latin typeface="PingFang SC"/>
              </a:rPr>
              <a:t>来展示的，包括</a:t>
            </a: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视图层对象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域层对象</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数据访问层对象</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31</a:t>
            </a:fld>
            <a:endParaRPr lang="en-US" altLang="zh-CN"/>
          </a:p>
        </p:txBody>
      </p:sp>
    </p:spTree>
    <p:extLst>
      <p:ext uri="{BB962C8B-B14F-4D97-AF65-F5344CB8AC3E}">
        <p14:creationId xmlns:p14="http://schemas.microsoft.com/office/powerpoint/2010/main" val="21652603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从第四章的系统顺序图开始</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32</a:t>
            </a:fld>
            <a:endParaRPr lang="en-US" altLang="zh-CN"/>
          </a:p>
        </p:txBody>
      </p:sp>
    </p:spTree>
    <p:extLst>
      <p:ext uri="{BB962C8B-B14F-4D97-AF65-F5344CB8AC3E}">
        <p14:creationId xmlns:p14="http://schemas.microsoft.com/office/powerpoint/2010/main" val="1899592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不再是模糊的统称为系统，而是明确到具体的类</a:t>
            </a:r>
            <a:endParaRPr lang="en-US" altLang="zh-CN" dirty="0"/>
          </a:p>
          <a:p>
            <a:endParaRPr lang="en-US" altLang="zh-CN" dirty="0"/>
          </a:p>
          <a:p>
            <a:r>
              <a:rPr lang="zh-CN" altLang="en-US" dirty="0"/>
              <a:t>分了不同的层次，这里的层次有视图层，业务逻辑层，中间用控制器类连接</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33</a:t>
            </a:fld>
            <a:endParaRPr lang="en-US" altLang="zh-CN"/>
          </a:p>
        </p:txBody>
      </p:sp>
    </p:spTree>
    <p:extLst>
      <p:ext uri="{BB962C8B-B14F-4D97-AF65-F5344CB8AC3E}">
        <p14:creationId xmlns:p14="http://schemas.microsoft.com/office/powerpoint/2010/main" val="9463761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每一个任务都是通过将信息传递给控制器类，控制器类发给相应的域类来处理</a:t>
            </a:r>
            <a:endParaRPr lang="en-US" altLang="zh-CN" dirty="0"/>
          </a:p>
          <a:p>
            <a:endParaRPr lang="en-US" altLang="zh-CN" dirty="0"/>
          </a:p>
          <a:p>
            <a:r>
              <a:rPr lang="zh-CN" altLang="en-US" dirty="0"/>
              <a:t>生命线上多了白色方框，叫活动生命线，活动生命线代表了一个对象对于活动执行状态的时间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34</a:t>
            </a:fld>
            <a:endParaRPr lang="en-US" altLang="zh-CN"/>
          </a:p>
        </p:txBody>
      </p:sp>
    </p:spTree>
    <p:extLst>
      <p:ext uri="{BB962C8B-B14F-4D97-AF65-F5344CB8AC3E}">
        <p14:creationId xmlns:p14="http://schemas.microsoft.com/office/powerpoint/2010/main" val="480375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扩展顺序图注意事项</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这是一个两层体系结构，因为域类</a:t>
            </a:r>
            <a:r>
              <a:rPr lang="en-US" altLang="zh-CN" b="0" i="0" dirty="0">
                <a:solidFill>
                  <a:srgbClr val="2A2B2E"/>
                </a:solidFill>
                <a:effectLst/>
                <a:latin typeface="PingFang SC"/>
              </a:rPr>
              <a:t>Customer</a:t>
            </a:r>
            <a:r>
              <a:rPr lang="zh-CN" altLang="en-US" b="0" i="0" dirty="0">
                <a:solidFill>
                  <a:srgbClr val="2A2B2E"/>
                </a:solidFill>
                <a:effectLst/>
                <a:latin typeface="PingFang SC"/>
              </a:rPr>
              <a:t>了解数据库并执行</a:t>
            </a:r>
            <a:r>
              <a:rPr lang="en-US" altLang="zh-CN" b="0" i="0" dirty="0">
                <a:solidFill>
                  <a:srgbClr val="2A2B2E"/>
                </a:solidFill>
                <a:effectLst/>
                <a:latin typeface="PingFang SC"/>
              </a:rPr>
              <a:t>SQL</a:t>
            </a:r>
            <a:r>
              <a:rPr lang="zh-CN" altLang="en-US" b="0" i="0" dirty="0">
                <a:solidFill>
                  <a:srgbClr val="2A2B2E"/>
                </a:solidFill>
                <a:effectLst/>
                <a:latin typeface="PingFang SC"/>
              </a:rPr>
              <a:t>语句进行数据访问</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三层设计将添加一个数据访问类来处理数据库，从而产生更高的内聚性和松耦合</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35</a:t>
            </a:fld>
            <a:endParaRPr lang="en-US" altLang="zh-CN"/>
          </a:p>
        </p:txBody>
      </p:sp>
    </p:spTree>
    <p:extLst>
      <p:ext uri="{BB962C8B-B14F-4D97-AF65-F5344CB8AC3E}">
        <p14:creationId xmlns:p14="http://schemas.microsoft.com/office/powerpoint/2010/main" val="823428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en-US" altLang="zh-CN" b="0" i="0" dirty="0" err="1">
                <a:solidFill>
                  <a:srgbClr val="2A2B2E"/>
                </a:solidFill>
                <a:effectLst/>
                <a:latin typeface="PingFang SC"/>
              </a:rPr>
              <a:t>CustomerForm</a:t>
            </a:r>
            <a:r>
              <a:rPr lang="zh-CN" altLang="en-US" b="0" i="0" dirty="0">
                <a:solidFill>
                  <a:srgbClr val="2A2B2E"/>
                </a:solidFill>
                <a:effectLst/>
                <a:latin typeface="PingFang SC"/>
              </a:rPr>
              <a:t>是</a:t>
            </a:r>
            <a:r>
              <a:rPr lang="en-US" altLang="zh-CN" b="0" i="0" dirty="0" err="1">
                <a:solidFill>
                  <a:srgbClr val="2A2B2E"/>
                </a:solidFill>
                <a:effectLst/>
                <a:latin typeface="PingFang SC"/>
              </a:rPr>
              <a:t>CustomerForm</a:t>
            </a:r>
            <a:r>
              <a:rPr lang="zh-CN" altLang="en-US" b="0" i="0" dirty="0">
                <a:solidFill>
                  <a:srgbClr val="2A2B2E"/>
                </a:solidFill>
                <a:effectLst/>
                <a:latin typeface="PingFang SC"/>
              </a:rPr>
              <a:t>类的一个对象，</a:t>
            </a:r>
            <a:r>
              <a:rPr lang="en-US" altLang="zh-CN" b="0" i="0" dirty="0" err="1">
                <a:solidFill>
                  <a:srgbClr val="2A2B2E"/>
                </a:solidFill>
                <a:effectLst/>
                <a:latin typeface="PingFang SC"/>
              </a:rPr>
              <a:t>CustomerHandler</a:t>
            </a:r>
            <a:r>
              <a:rPr lang="zh-CN" altLang="en-US" b="0" i="0" dirty="0">
                <a:solidFill>
                  <a:srgbClr val="2A2B2E"/>
                </a:solidFill>
                <a:effectLst/>
                <a:latin typeface="PingFang SC"/>
              </a:rPr>
              <a:t>是</a:t>
            </a:r>
            <a:r>
              <a:rPr lang="en-US" altLang="zh-CN" b="0" i="0" dirty="0" err="1">
                <a:solidFill>
                  <a:srgbClr val="2A2B2E"/>
                </a:solidFill>
                <a:effectLst/>
                <a:latin typeface="PingFang SC"/>
              </a:rPr>
              <a:t>CustomerHandler</a:t>
            </a:r>
            <a:r>
              <a:rPr lang="zh-CN" altLang="en-US" b="0" i="0" dirty="0">
                <a:solidFill>
                  <a:srgbClr val="2A2B2E"/>
                </a:solidFill>
                <a:effectLst/>
                <a:latin typeface="PingFang SC"/>
              </a:rPr>
              <a:t>类的一个对象，扮演一个控制器原型的角色</a:t>
            </a:r>
            <a:r>
              <a:rPr lang="en-US" altLang="zh-CN" b="0" i="0" dirty="0">
                <a:solidFill>
                  <a:srgbClr val="2A2B2E"/>
                </a:solidFill>
                <a:effectLst/>
                <a:latin typeface="PingFang SC"/>
              </a:rPr>
              <a:t>(</a:t>
            </a:r>
            <a:r>
              <a:rPr lang="zh-CN" altLang="en-US" b="0" i="0" dirty="0">
                <a:solidFill>
                  <a:srgbClr val="2A2B2E"/>
                </a:solidFill>
                <a:effectLst/>
                <a:latin typeface="PingFang SC"/>
              </a:rPr>
              <a:t>两者都下划线，因为它们是对象</a:t>
            </a:r>
            <a:r>
              <a:rPr lang="en-US" altLang="zh-CN" b="0" i="0" dirty="0">
                <a:solidFill>
                  <a:srgbClr val="2A2B2E"/>
                </a:solidFill>
                <a:effectLst/>
                <a:latin typeface="PingFang SC"/>
              </a:rPr>
              <a:t>)</a:t>
            </a:r>
          </a:p>
          <a:p>
            <a:endParaRPr lang="en-US" altLang="zh-CN" b="0" i="0" dirty="0">
              <a:solidFill>
                <a:srgbClr val="2A2B2E"/>
              </a:solidFill>
              <a:effectLst/>
              <a:latin typeface="PingFang SC"/>
            </a:endParaRPr>
          </a:p>
          <a:p>
            <a:r>
              <a:rPr lang="en-US" altLang="zh-CN" b="0" i="0" dirty="0">
                <a:solidFill>
                  <a:srgbClr val="2A2B2E"/>
                </a:solidFill>
                <a:effectLst/>
                <a:latin typeface="PingFang SC"/>
              </a:rPr>
              <a:t>Ac</a:t>
            </a:r>
            <a:r>
              <a:rPr lang="zh-CN" altLang="en-US" b="0" i="0" dirty="0">
                <a:solidFill>
                  <a:srgbClr val="2A2B2E"/>
                </a:solidFill>
                <a:effectLst/>
                <a:latin typeface="PingFang SC"/>
              </a:rPr>
              <a:t>：</a:t>
            </a:r>
            <a:r>
              <a:rPr lang="en-US" altLang="zh-CN" b="0" i="0" dirty="0">
                <a:solidFill>
                  <a:srgbClr val="2A2B2E"/>
                </a:solidFill>
                <a:effectLst/>
                <a:latin typeface="PingFang SC"/>
              </a:rPr>
              <a:t>Customer</a:t>
            </a:r>
            <a:r>
              <a:rPr lang="zh-CN" altLang="en-US" b="0" i="0" dirty="0">
                <a:solidFill>
                  <a:srgbClr val="2A2B2E"/>
                </a:solidFill>
                <a:effectLst/>
                <a:latin typeface="PingFang SC"/>
              </a:rPr>
              <a:t>是</a:t>
            </a:r>
            <a:r>
              <a:rPr lang="en-US" altLang="zh-CN" b="0" i="0" dirty="0">
                <a:solidFill>
                  <a:srgbClr val="2A2B2E"/>
                </a:solidFill>
                <a:effectLst/>
                <a:latin typeface="PingFang SC"/>
              </a:rPr>
              <a:t>Customer</a:t>
            </a:r>
            <a:r>
              <a:rPr lang="zh-CN" altLang="en-US" b="0" i="0" dirty="0">
                <a:solidFill>
                  <a:srgbClr val="2A2B2E"/>
                </a:solidFill>
                <a:effectLst/>
                <a:latin typeface="PingFang SC"/>
              </a:rPr>
              <a:t>类的一个对象，通过名为</a:t>
            </a:r>
            <a:r>
              <a:rPr lang="en-US" altLang="zh-CN" b="0" i="0" dirty="0" err="1">
                <a:solidFill>
                  <a:srgbClr val="2A2B2E"/>
                </a:solidFill>
                <a:effectLst/>
                <a:latin typeface="PingFang SC"/>
              </a:rPr>
              <a:t>aC</a:t>
            </a:r>
            <a:r>
              <a:rPr lang="zh-CN" altLang="en-US" b="0" i="0" dirty="0">
                <a:solidFill>
                  <a:srgbClr val="2A2B2E"/>
                </a:solidFill>
                <a:effectLst/>
                <a:latin typeface="PingFang SC"/>
              </a:rPr>
              <a:t>的引用变量来引用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创建消息给</a:t>
            </a:r>
            <a:r>
              <a:rPr lang="en-US" altLang="zh-CN" b="0" i="0" dirty="0" err="1">
                <a:solidFill>
                  <a:srgbClr val="2A2B2E"/>
                </a:solidFill>
                <a:effectLst/>
                <a:latin typeface="PingFang SC"/>
              </a:rPr>
              <a:t>aC</a:t>
            </a:r>
            <a:r>
              <a:rPr lang="en-US" altLang="zh-CN" b="0" i="0" dirty="0">
                <a:solidFill>
                  <a:srgbClr val="2A2B2E"/>
                </a:solidFill>
                <a:effectLst/>
                <a:latin typeface="PingFang SC"/>
              </a:rPr>
              <a:t>:</a:t>
            </a:r>
            <a:r>
              <a:rPr lang="zh-CN" altLang="en-US" b="0" i="0" dirty="0">
                <a:solidFill>
                  <a:srgbClr val="2A2B2E"/>
                </a:solidFill>
                <a:effectLst/>
                <a:latin typeface="PingFang SC"/>
              </a:rPr>
              <a:t>客户指向对象符号表示创建</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36</a:t>
            </a:fld>
            <a:endParaRPr lang="en-US" altLang="zh-CN"/>
          </a:p>
        </p:txBody>
      </p:sp>
    </p:spTree>
    <p:extLst>
      <p:ext uri="{BB962C8B-B14F-4D97-AF65-F5344CB8AC3E}">
        <p14:creationId xmlns:p14="http://schemas.microsoft.com/office/powerpoint/2010/main" val="22761566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开发初步设计类图，显示导航可见性（</a:t>
            </a:r>
            <a:r>
              <a:rPr lang="en-US" altLang="zh-CN" dirty="0"/>
              <a:t>10</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使用</a:t>
            </a:r>
            <a:r>
              <a:rPr lang="en-US" altLang="zh-CN" dirty="0"/>
              <a:t>CRC</a:t>
            </a:r>
            <a:r>
              <a:rPr lang="zh-CN" altLang="en-US" dirty="0"/>
              <a:t>卡为用例决定类的职责和合作（</a:t>
            </a:r>
            <a:r>
              <a:rPr lang="en-US" altLang="zh-CN" dirty="0"/>
              <a:t>10</a:t>
            </a:r>
            <a:r>
              <a:rPr lang="zh-CN" altLang="en-US" dirty="0"/>
              <a:t>）</a:t>
            </a:r>
            <a:endParaRPr lang="en-US" altLang="zh-CN" dirty="0"/>
          </a:p>
          <a:p>
            <a:endParaRPr lang="en-US" altLang="zh-CN" dirty="0"/>
          </a:p>
          <a:p>
            <a:r>
              <a:rPr lang="zh-CN" altLang="en-US" dirty="0"/>
              <a:t>为每个用例开发详细的顺序图（</a:t>
            </a:r>
            <a:r>
              <a:rPr lang="en-US" altLang="zh-CN" dirty="0"/>
              <a:t>11</a:t>
            </a:r>
            <a:r>
              <a:rPr lang="zh-CN" altLang="en-US" dirty="0"/>
              <a:t>）</a:t>
            </a:r>
            <a:endParaRPr lang="en-US" altLang="zh-CN" dirty="0"/>
          </a:p>
          <a:p>
            <a:r>
              <a:rPr lang="en-US" altLang="zh-CN" dirty="0"/>
              <a:t>   1</a:t>
            </a:r>
            <a:r>
              <a:rPr lang="zh-CN" altLang="en-US" dirty="0"/>
              <a:t>）开发初步顺序图</a:t>
            </a:r>
            <a:endParaRPr lang="en-US" altLang="zh-CN" dirty="0"/>
          </a:p>
          <a:p>
            <a:r>
              <a:rPr lang="en-US" altLang="zh-CN" dirty="0"/>
              <a:t>   2</a:t>
            </a:r>
            <a:r>
              <a:rPr lang="zh-CN" altLang="en-US" dirty="0"/>
              <a:t>）开发多层顺序图</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通过使用</a:t>
            </a:r>
            <a:r>
              <a:rPr lang="en-US" altLang="zh-CN" dirty="0"/>
              <a:t>CRC</a:t>
            </a:r>
            <a:r>
              <a:rPr lang="zh-CN" altLang="en-US" dirty="0"/>
              <a:t>卡或顺序图，添加方法特征和导航信息，以此来更新设计类图（</a:t>
            </a:r>
            <a:r>
              <a:rPr lang="en-US" altLang="zh-CN" dirty="0"/>
              <a:t>11</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将解决方案划分成适当的包（</a:t>
            </a:r>
            <a:r>
              <a:rPr lang="en-US" altLang="zh-CN" dirty="0"/>
              <a:t>11</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37</a:t>
            </a:fld>
            <a:endParaRPr lang="en-US" altLang="zh-CN"/>
          </a:p>
        </p:txBody>
      </p:sp>
    </p:spTree>
    <p:extLst>
      <p:ext uri="{BB962C8B-B14F-4D97-AF65-F5344CB8AC3E}">
        <p14:creationId xmlns:p14="http://schemas.microsoft.com/office/powerpoint/2010/main" val="23571047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开发初步设计类图，显示导航可见性（</a:t>
            </a:r>
            <a:r>
              <a:rPr lang="en-US" altLang="zh-CN" dirty="0"/>
              <a:t>10</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使用</a:t>
            </a:r>
            <a:r>
              <a:rPr lang="en-US" altLang="zh-CN" dirty="0"/>
              <a:t>CRC</a:t>
            </a:r>
            <a:r>
              <a:rPr lang="zh-CN" altLang="en-US" dirty="0"/>
              <a:t>卡为用例决定类的职责和合作（</a:t>
            </a:r>
            <a:r>
              <a:rPr lang="en-US" altLang="zh-CN" dirty="0"/>
              <a:t>10</a:t>
            </a:r>
            <a:r>
              <a:rPr lang="zh-CN" altLang="en-US" dirty="0"/>
              <a:t>）</a:t>
            </a:r>
            <a:endParaRPr lang="en-US" altLang="zh-CN" dirty="0"/>
          </a:p>
          <a:p>
            <a:endParaRPr lang="en-US" altLang="zh-CN" dirty="0"/>
          </a:p>
          <a:p>
            <a:r>
              <a:rPr lang="zh-CN" altLang="en-US" dirty="0"/>
              <a:t>为每个用例开发详细的顺序图（</a:t>
            </a:r>
            <a:r>
              <a:rPr lang="en-US" altLang="zh-CN" dirty="0"/>
              <a:t>11</a:t>
            </a:r>
            <a:r>
              <a:rPr lang="zh-CN" altLang="en-US" dirty="0"/>
              <a:t>）</a:t>
            </a:r>
            <a:endParaRPr lang="en-US" altLang="zh-CN" dirty="0"/>
          </a:p>
          <a:p>
            <a:r>
              <a:rPr lang="en-US" altLang="zh-CN" dirty="0"/>
              <a:t>   1</a:t>
            </a:r>
            <a:r>
              <a:rPr lang="zh-CN" altLang="en-US" dirty="0"/>
              <a:t>）开发初步顺序图</a:t>
            </a:r>
            <a:endParaRPr lang="en-US" altLang="zh-CN" dirty="0"/>
          </a:p>
          <a:p>
            <a:r>
              <a:rPr lang="en-US" altLang="zh-CN" dirty="0"/>
              <a:t>   2</a:t>
            </a:r>
            <a:r>
              <a:rPr lang="zh-CN" altLang="en-US" dirty="0"/>
              <a:t>）开发多层顺序图</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通过使用</a:t>
            </a:r>
            <a:r>
              <a:rPr lang="en-US" altLang="zh-CN" dirty="0"/>
              <a:t>CRC</a:t>
            </a:r>
            <a:r>
              <a:rPr lang="zh-CN" altLang="en-US" dirty="0"/>
              <a:t>卡或顺序图，添加方法特征和导航信息，以此来更新设计类图（</a:t>
            </a:r>
            <a:r>
              <a:rPr lang="en-US" altLang="zh-CN" dirty="0"/>
              <a:t>11</a:t>
            </a:r>
            <a:r>
              <a:rPr lang="zh-CN" altLang="en-US" dirty="0"/>
              <a:t>）</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将解决方案划分成适当的包（</a:t>
            </a:r>
            <a:r>
              <a:rPr lang="en-US" altLang="zh-CN" dirty="0"/>
              <a:t>11</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38</a:t>
            </a:fld>
            <a:endParaRPr lang="en-US" altLang="zh-CN"/>
          </a:p>
        </p:txBody>
      </p:sp>
    </p:spTree>
    <p:extLst>
      <p:ext uri="{BB962C8B-B14F-4D97-AF65-F5344CB8AC3E}">
        <p14:creationId xmlns:p14="http://schemas.microsoft.com/office/powerpoint/2010/main" val="10075452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从客户帐户子系统的域模型开始</a:t>
            </a: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0" i="0" dirty="0">
              <a:solidFill>
                <a:srgbClr val="2A2B2E"/>
              </a:solidFill>
              <a:effectLst/>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图：创建顾客账户用例的部分类图</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39</a:t>
            </a:fld>
            <a:endParaRPr lang="en-US" altLang="zh-CN"/>
          </a:p>
        </p:txBody>
      </p:sp>
    </p:spTree>
    <p:extLst>
      <p:ext uri="{BB962C8B-B14F-4D97-AF65-F5344CB8AC3E}">
        <p14:creationId xmlns:p14="http://schemas.microsoft.com/office/powerpoint/2010/main" val="41792218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初步设计类图</a:t>
            </a:r>
            <a:endParaRPr lang="en-US" altLang="zh-CN" dirty="0"/>
          </a:p>
          <a:p>
            <a:endParaRPr lang="en-US" altLang="zh-CN" dirty="0"/>
          </a:p>
          <a:p>
            <a:r>
              <a:rPr lang="zh-CN" altLang="en-US" b="0" i="0" dirty="0">
                <a:solidFill>
                  <a:srgbClr val="2A2B2E"/>
                </a:solidFill>
                <a:effectLst/>
                <a:latin typeface="PingFang SC"/>
              </a:rPr>
              <a:t>选择需要的类、精细的属性、添加控制器和添加导航可见性</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40</a:t>
            </a:fld>
            <a:endParaRPr lang="en-US" altLang="zh-CN"/>
          </a:p>
        </p:txBody>
      </p:sp>
    </p:spTree>
    <p:extLst>
      <p:ext uri="{BB962C8B-B14F-4D97-AF65-F5344CB8AC3E}">
        <p14:creationId xmlns:p14="http://schemas.microsoft.com/office/powerpoint/2010/main" val="2237885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初步顺序图，扩展系统顺序图，添加控制器，并添加所需的类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扩展系统顺序图的第一步是将问题域对象以及系统顺序图重的输入消息放入图中</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41</a:t>
            </a:fld>
            <a:endParaRPr lang="en-US" altLang="zh-CN"/>
          </a:p>
        </p:txBody>
      </p:sp>
    </p:spTree>
    <p:extLst>
      <p:ext uri="{BB962C8B-B14F-4D97-AF65-F5344CB8AC3E}">
        <p14:creationId xmlns:p14="http://schemas.microsoft.com/office/powerpoint/2010/main" val="32815213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添加消息以完成协作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这些域类处理数据访问，因此这是一个两层体系结构</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42</a:t>
            </a:fld>
            <a:endParaRPr lang="en-US" altLang="zh-CN"/>
          </a:p>
        </p:txBody>
      </p:sp>
    </p:spTree>
    <p:extLst>
      <p:ext uri="{BB962C8B-B14F-4D97-AF65-F5344CB8AC3E}">
        <p14:creationId xmlns:p14="http://schemas.microsoft.com/office/powerpoint/2010/main" val="18372067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添加消息以完成协作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这些域类处理数据访问，因此这是一个两层体系结构</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43</a:t>
            </a:fld>
            <a:endParaRPr lang="en-US" altLang="zh-CN"/>
          </a:p>
        </p:txBody>
      </p:sp>
    </p:spTree>
    <p:extLst>
      <p:ext uri="{BB962C8B-B14F-4D97-AF65-F5344CB8AC3E}">
        <p14:creationId xmlns:p14="http://schemas.microsoft.com/office/powerpoint/2010/main" val="38854855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添加消息以完成协作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这些域类处理数据访问，因此这是一个两层体系结构</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44</a:t>
            </a:fld>
            <a:endParaRPr lang="en-US" altLang="zh-CN"/>
          </a:p>
        </p:txBody>
      </p:sp>
    </p:spTree>
    <p:extLst>
      <p:ext uri="{BB962C8B-B14F-4D97-AF65-F5344CB8AC3E}">
        <p14:creationId xmlns:p14="http://schemas.microsoft.com/office/powerpoint/2010/main" val="17538594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三层架构（加入了数据访问层）</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49</a:t>
            </a:fld>
            <a:endParaRPr lang="en-US" altLang="zh-CN"/>
          </a:p>
        </p:txBody>
      </p:sp>
    </p:spTree>
    <p:extLst>
      <p:ext uri="{BB962C8B-B14F-4D97-AF65-F5344CB8AC3E}">
        <p14:creationId xmlns:p14="http://schemas.microsoft.com/office/powerpoint/2010/main" val="33282540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“加入购物车”用例</a:t>
            </a:r>
            <a:endParaRPr lang="en-US" altLang="zh-CN" dirty="0"/>
          </a:p>
          <a:p>
            <a:endParaRPr lang="en-US" altLang="zh-CN" dirty="0"/>
          </a:p>
          <a:p>
            <a:r>
              <a:rPr lang="zh-CN" altLang="en-US" b="0" i="0" dirty="0">
                <a:solidFill>
                  <a:srgbClr val="2A2B2E"/>
                </a:solidFill>
                <a:effectLst/>
                <a:latin typeface="PingFang SC"/>
              </a:rPr>
              <a:t>从基于活动图的域层开始，然后是系统顺序图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50</a:t>
            </a:fld>
            <a:endParaRPr lang="en-US" altLang="zh-CN"/>
          </a:p>
        </p:txBody>
      </p:sp>
    </p:spTree>
    <p:extLst>
      <p:ext uri="{BB962C8B-B14F-4D97-AF65-F5344CB8AC3E}">
        <p14:creationId xmlns:p14="http://schemas.microsoft.com/office/powerpoint/2010/main" val="6879742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系统顺序图</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51</a:t>
            </a:fld>
            <a:endParaRPr lang="en-US" altLang="zh-CN"/>
          </a:p>
        </p:txBody>
      </p:sp>
    </p:spTree>
    <p:extLst>
      <p:ext uri="{BB962C8B-B14F-4D97-AF65-F5344CB8AC3E}">
        <p14:creationId xmlns:p14="http://schemas.microsoft.com/office/powerpoint/2010/main" val="34446098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初步设计类图</a:t>
            </a:r>
            <a:endParaRPr lang="en-US" altLang="zh-CN"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选择需要的类、精细的属性、添加控制器和添加导航可见性</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52</a:t>
            </a:fld>
            <a:endParaRPr lang="en-US" altLang="zh-CN"/>
          </a:p>
        </p:txBody>
      </p:sp>
    </p:spTree>
    <p:extLst>
      <p:ext uri="{BB962C8B-B14F-4D97-AF65-F5344CB8AC3E}">
        <p14:creationId xmlns:p14="http://schemas.microsoft.com/office/powerpoint/2010/main" val="42693328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A2B2E"/>
                </a:solidFill>
                <a:effectLst/>
                <a:latin typeface="PingFang SC"/>
              </a:rPr>
              <a:t>注意将每个项目添加到购物车的循环框架。使用*符号</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53</a:t>
            </a:fld>
            <a:endParaRPr lang="en-US" altLang="zh-CN"/>
          </a:p>
        </p:txBody>
      </p:sp>
    </p:spTree>
    <p:extLst>
      <p:ext uri="{BB962C8B-B14F-4D97-AF65-F5344CB8AC3E}">
        <p14:creationId xmlns:p14="http://schemas.microsoft.com/office/powerpoint/2010/main" val="30032209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若某个对象拥有其他对象，则该对象负责创建这些对象</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54</a:t>
            </a:fld>
            <a:endParaRPr lang="en-US" altLang="zh-CN"/>
          </a:p>
        </p:txBody>
      </p:sp>
    </p:spTree>
    <p:extLst>
      <p:ext uri="{BB962C8B-B14F-4D97-AF65-F5344CB8AC3E}">
        <p14:creationId xmlns:p14="http://schemas.microsoft.com/office/powerpoint/2010/main" val="11711274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完美的技术假设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我们没有包含诸如用户必须登录之类的消息。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完美内存假设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我们已经假设必要的对象在内存中并且对用例可用。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完美解假定</a:t>
            </a:r>
            <a:r>
              <a:rPr lang="en-US" altLang="zh-CN" b="0" i="0" dirty="0">
                <a:solidFill>
                  <a:srgbClr val="2A2B2E"/>
                </a:solidFill>
                <a:effectLst/>
                <a:latin typeface="PingFang SC"/>
              </a:rPr>
              <a:t>——</a:t>
            </a:r>
            <a:r>
              <a:rPr lang="zh-CN" altLang="en-US" b="0" i="0" dirty="0">
                <a:solidFill>
                  <a:srgbClr val="2A2B2E"/>
                </a:solidFill>
                <a:effectLst/>
                <a:latin typeface="PingFang SC"/>
              </a:rPr>
              <a:t>初步顺序图假定不存在异常，其中没有处理查询的产品为空的逻辑</a:t>
            </a:r>
            <a:br>
              <a:rPr lang="zh-CN" altLang="en-US" b="0" i="0" dirty="0">
                <a:solidFill>
                  <a:srgbClr val="939599"/>
                </a:solidFill>
                <a:effectLst/>
                <a:latin typeface="PingFang SC"/>
              </a:rPr>
            </a:br>
            <a:endParaRPr lang="en-US" altLang="zh-CN" b="0" i="0" dirty="0">
              <a:solidFill>
                <a:srgbClr val="939599"/>
              </a:solidFill>
              <a:effectLst/>
              <a:latin typeface="PingFang SC"/>
            </a:endParaRPr>
          </a:p>
          <a:p>
            <a:pPr algn="l"/>
            <a:r>
              <a:rPr lang="zh-CN" altLang="en-US" b="0" i="0" dirty="0">
                <a:solidFill>
                  <a:srgbClr val="2A2B2E"/>
                </a:solidFill>
                <a:effectLst/>
                <a:latin typeface="PingFang SC"/>
              </a:rPr>
              <a:t>职责分离</a:t>
            </a:r>
            <a:r>
              <a:rPr lang="en-US" altLang="zh-CN" b="0" i="0" dirty="0">
                <a:solidFill>
                  <a:srgbClr val="2A2B2E"/>
                </a:solidFill>
                <a:effectLst/>
                <a:latin typeface="PingFang SC"/>
              </a:rPr>
              <a:t>——</a:t>
            </a:r>
            <a:r>
              <a:rPr lang="zh-CN" altLang="en-US" b="0" i="0" dirty="0">
                <a:solidFill>
                  <a:srgbClr val="2A2B2E"/>
                </a:solidFill>
                <a:effectLst/>
                <a:latin typeface="PingFang SC"/>
              </a:rPr>
              <a:t>建议根据主要关注点</a:t>
            </a:r>
            <a:r>
              <a:rPr lang="en-US" altLang="zh-CN" b="0" i="0" dirty="0">
                <a:solidFill>
                  <a:srgbClr val="2A2B2E"/>
                </a:solidFill>
                <a:effectLst/>
                <a:latin typeface="PingFang SC"/>
              </a:rPr>
              <a:t>(</a:t>
            </a:r>
            <a:r>
              <a:rPr lang="zh-CN" altLang="en-US" b="0" i="0" dirty="0">
                <a:solidFill>
                  <a:srgbClr val="2A2B2E"/>
                </a:solidFill>
                <a:effectLst/>
                <a:latin typeface="PingFang SC"/>
              </a:rPr>
              <a:t>如用户界面、领域和数据访问</a:t>
            </a:r>
            <a:r>
              <a:rPr lang="en-US" altLang="zh-CN" b="0" i="0" dirty="0">
                <a:solidFill>
                  <a:srgbClr val="2A2B2E"/>
                </a:solidFill>
                <a:effectLst/>
                <a:latin typeface="PingFang SC"/>
              </a:rPr>
              <a:t>)</a:t>
            </a:r>
            <a:r>
              <a:rPr lang="zh-CN" altLang="en-US" b="0" i="0" dirty="0">
                <a:solidFill>
                  <a:srgbClr val="2A2B2E"/>
                </a:solidFill>
                <a:effectLst/>
                <a:latin typeface="PingFang SC"/>
              </a:rPr>
              <a:t>将类分离为独立组件的设计原则</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55</a:t>
            </a:fld>
            <a:endParaRPr lang="en-US" altLang="zh-CN"/>
          </a:p>
        </p:txBody>
      </p:sp>
    </p:spTree>
    <p:extLst>
      <p:ext uri="{BB962C8B-B14F-4D97-AF65-F5344CB8AC3E}">
        <p14:creationId xmlns:p14="http://schemas.microsoft.com/office/powerpoint/2010/main" val="12324095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完美的技术假设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我们没有包含诸如用户必须登录之类的消息。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完美内存假设</a:t>
            </a:r>
            <a:r>
              <a:rPr lang="en-US" altLang="zh-CN" b="0" i="0" dirty="0">
                <a:solidFill>
                  <a:srgbClr val="2A2B2E"/>
                </a:solidFill>
                <a:effectLst/>
                <a:latin typeface="PingFang SC"/>
              </a:rPr>
              <a:t>——</a:t>
            </a:r>
            <a:r>
              <a:rPr lang="zh-CN" altLang="en-US" b="0" i="0" dirty="0">
                <a:solidFill>
                  <a:srgbClr val="2A2B2E"/>
                </a:solidFill>
                <a:effectLst/>
                <a:latin typeface="PingFang SC"/>
              </a:rPr>
              <a:t>我们已经假设必要的对象在内存中并且对用例可用。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完美解假定</a:t>
            </a:r>
            <a:r>
              <a:rPr lang="en-US" altLang="zh-CN" b="0" i="0" dirty="0">
                <a:solidFill>
                  <a:srgbClr val="2A2B2E"/>
                </a:solidFill>
                <a:effectLst/>
                <a:latin typeface="PingFang SC"/>
              </a:rPr>
              <a:t>——</a:t>
            </a:r>
            <a:r>
              <a:rPr lang="zh-CN" altLang="en-US" b="0" i="0" dirty="0">
                <a:solidFill>
                  <a:srgbClr val="2A2B2E"/>
                </a:solidFill>
                <a:effectLst/>
                <a:latin typeface="PingFang SC"/>
              </a:rPr>
              <a:t>初步顺序图假定不存在异常，其中没有处理查询的产品为空的逻辑</a:t>
            </a:r>
            <a:br>
              <a:rPr lang="zh-CN" altLang="en-US" b="0" i="0" dirty="0">
                <a:solidFill>
                  <a:srgbClr val="939599"/>
                </a:solidFill>
                <a:effectLst/>
                <a:latin typeface="PingFang SC"/>
              </a:rPr>
            </a:br>
            <a:endParaRPr lang="en-US" altLang="zh-CN" b="0" i="0" dirty="0">
              <a:solidFill>
                <a:srgbClr val="939599"/>
              </a:solidFill>
              <a:effectLst/>
              <a:latin typeface="PingFang SC"/>
            </a:endParaRPr>
          </a:p>
          <a:p>
            <a:pPr algn="l"/>
            <a:r>
              <a:rPr lang="zh-CN" altLang="en-US" b="0" i="0" dirty="0">
                <a:solidFill>
                  <a:srgbClr val="2A2B2E"/>
                </a:solidFill>
                <a:effectLst/>
                <a:latin typeface="PingFang SC"/>
              </a:rPr>
              <a:t>职责分离</a:t>
            </a:r>
            <a:r>
              <a:rPr lang="en-US" altLang="zh-CN" b="0" i="0" dirty="0">
                <a:solidFill>
                  <a:srgbClr val="2A2B2E"/>
                </a:solidFill>
                <a:effectLst/>
                <a:latin typeface="PingFang SC"/>
              </a:rPr>
              <a:t>——</a:t>
            </a:r>
            <a:r>
              <a:rPr lang="zh-CN" altLang="en-US" b="0" i="0" dirty="0">
                <a:solidFill>
                  <a:srgbClr val="2A2B2E"/>
                </a:solidFill>
                <a:effectLst/>
                <a:latin typeface="PingFang SC"/>
              </a:rPr>
              <a:t>建议根据主要关注点</a:t>
            </a:r>
            <a:r>
              <a:rPr lang="en-US" altLang="zh-CN" b="0" i="0" dirty="0">
                <a:solidFill>
                  <a:srgbClr val="2A2B2E"/>
                </a:solidFill>
                <a:effectLst/>
                <a:latin typeface="PingFang SC"/>
              </a:rPr>
              <a:t>(</a:t>
            </a:r>
            <a:r>
              <a:rPr lang="zh-CN" altLang="en-US" b="0" i="0" dirty="0">
                <a:solidFill>
                  <a:srgbClr val="2A2B2E"/>
                </a:solidFill>
                <a:effectLst/>
                <a:latin typeface="PingFang SC"/>
              </a:rPr>
              <a:t>如用户界面、领域和数据访问</a:t>
            </a:r>
            <a:r>
              <a:rPr lang="en-US" altLang="zh-CN" b="0" i="0" dirty="0">
                <a:solidFill>
                  <a:srgbClr val="2A2B2E"/>
                </a:solidFill>
                <a:effectLst/>
                <a:latin typeface="PingFang SC"/>
              </a:rPr>
              <a:t>)</a:t>
            </a:r>
            <a:r>
              <a:rPr lang="zh-CN" altLang="en-US" b="0" i="0" dirty="0">
                <a:solidFill>
                  <a:srgbClr val="2A2B2E"/>
                </a:solidFill>
                <a:effectLst/>
                <a:latin typeface="PingFang SC"/>
              </a:rPr>
              <a:t>将类分离为独立组件的设计原则</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56</a:t>
            </a:fld>
            <a:endParaRPr lang="en-US" altLang="zh-CN"/>
          </a:p>
        </p:txBody>
      </p:sp>
    </p:spTree>
    <p:extLst>
      <p:ext uri="{BB962C8B-B14F-4D97-AF65-F5344CB8AC3E}">
        <p14:creationId xmlns:p14="http://schemas.microsoft.com/office/powerpoint/2010/main" val="2423056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开发多层设计</a:t>
            </a:r>
            <a:endParaRPr lang="en-US" altLang="zh-CN" dirty="0"/>
          </a:p>
          <a:p>
            <a:endParaRPr lang="en-US" altLang="zh-CN" dirty="0"/>
          </a:p>
          <a:p>
            <a:r>
              <a:rPr lang="zh-CN" altLang="en-US" dirty="0"/>
              <a:t>视图层</a:t>
            </a:r>
            <a:endParaRPr lang="en-US" altLang="zh-CN" dirty="0"/>
          </a:p>
          <a:p>
            <a:endParaRPr lang="en-US" altLang="zh-CN" dirty="0"/>
          </a:p>
          <a:p>
            <a:r>
              <a:rPr lang="zh-CN" altLang="en-US" dirty="0"/>
              <a:t>数据访问层（职责分离的准则是数据访问层设计背后的激发因素）</a:t>
            </a:r>
            <a:endParaRPr lang="en-US" altLang="zh-CN" dirty="0"/>
          </a:p>
          <a:p>
            <a:r>
              <a:rPr lang="zh-CN" altLang="en-US" b="0" i="0" dirty="0">
                <a:solidFill>
                  <a:srgbClr val="2A2B2E"/>
                </a:solidFill>
                <a:effectLst/>
                <a:latin typeface="PingFang SC"/>
              </a:rPr>
              <a:t>  持久类需要某种机制来从数据库中存储和检索它们的状态</a:t>
            </a:r>
            <a:endParaRPr lang="en-US" altLang="zh-CN" b="0" i="0" dirty="0">
              <a:solidFill>
                <a:srgbClr val="2A2B2E"/>
              </a:solidFill>
              <a:effectLst/>
              <a:latin typeface="PingFang SC"/>
            </a:endParaRPr>
          </a:p>
          <a:p>
            <a:r>
              <a:rPr lang="zh-CN" altLang="en-US" b="0" i="0" dirty="0">
                <a:solidFill>
                  <a:srgbClr val="2A2B2E"/>
                </a:solidFill>
                <a:effectLst/>
                <a:latin typeface="PingFang SC"/>
              </a:rPr>
              <a:t>  当业务逻辑很复杂，并且需要从域类中分离到数据库和</a:t>
            </a:r>
            <a:r>
              <a:rPr lang="en-US" altLang="zh-CN" b="0" i="0" dirty="0">
                <a:solidFill>
                  <a:srgbClr val="2A2B2E"/>
                </a:solidFill>
                <a:effectLst/>
                <a:latin typeface="PingFang SC"/>
              </a:rPr>
              <a:t>SQL</a:t>
            </a:r>
            <a:r>
              <a:rPr lang="zh-CN" altLang="en-US" b="0" i="0" dirty="0">
                <a:solidFill>
                  <a:srgbClr val="2A2B2E"/>
                </a:solidFill>
                <a:effectLst/>
                <a:latin typeface="PingFang SC"/>
              </a:rPr>
              <a:t>的连接时，需要单独的层。</a:t>
            </a:r>
            <a:endParaRPr lang="en-US" altLang="zh-CN" b="0" i="0" dirty="0">
              <a:solidFill>
                <a:srgbClr val="2A2B2E"/>
              </a:solidFill>
              <a:effectLst/>
              <a:latin typeface="PingFang SC"/>
            </a:endParaRPr>
          </a:p>
          <a:p>
            <a:r>
              <a:rPr lang="zh-CN" altLang="en-US" b="0" i="0" dirty="0">
                <a:solidFill>
                  <a:srgbClr val="2A2B2E"/>
                </a:solidFill>
                <a:effectLst/>
                <a:latin typeface="PingFang SC"/>
              </a:rPr>
              <a:t>  创建客户帐户用例可能不需要单独的层，因为域类可以处理数据</a:t>
            </a:r>
            <a:endParaRPr lang="en-US" altLang="zh-CN" dirty="0"/>
          </a:p>
          <a:p>
            <a:r>
              <a:rPr lang="zh-CN" altLang="en-US" b="0" i="0" dirty="0">
                <a:solidFill>
                  <a:srgbClr val="2A2B2E"/>
                </a:solidFill>
                <a:effectLst/>
                <a:latin typeface="PingFang SC"/>
              </a:rPr>
              <a:t>  填充购物车要复杂得多，确实需要它</a:t>
            </a:r>
            <a:endParaRPr lang="en-US" altLang="zh-CN" b="0" i="0" dirty="0">
              <a:solidFill>
                <a:srgbClr val="2A2B2E"/>
              </a:solidFill>
              <a:effectLst/>
              <a:latin typeface="PingFang SC"/>
            </a:endParaRPr>
          </a:p>
          <a:p>
            <a:r>
              <a:rPr lang="zh-CN" altLang="en-US" b="0" i="0" dirty="0">
                <a:solidFill>
                  <a:srgbClr val="2A2B2E"/>
                </a:solidFill>
                <a:effectLst/>
                <a:latin typeface="PingFang SC"/>
              </a:rPr>
              <a:t>  对于每个域类，添加一个数据访问类来获取和保存有关实例的数据</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57</a:t>
            </a:fld>
            <a:endParaRPr lang="en-US" altLang="zh-CN"/>
          </a:p>
        </p:txBody>
      </p:sp>
    </p:spTree>
    <p:extLst>
      <p:ext uri="{BB962C8B-B14F-4D97-AF65-F5344CB8AC3E}">
        <p14:creationId xmlns:p14="http://schemas.microsoft.com/office/powerpoint/2010/main" val="23049105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a:t>
            </a:r>
            <a:r>
              <a:rPr lang="en-US" altLang="zh-CN" b="0" i="0" dirty="0" err="1">
                <a:solidFill>
                  <a:srgbClr val="2A2B2E"/>
                </a:solidFill>
                <a:effectLst/>
                <a:latin typeface="PingFang SC"/>
              </a:rPr>
              <a:t>CartHandler</a:t>
            </a:r>
            <a:r>
              <a:rPr lang="en-US" altLang="zh-CN" b="0" i="0" dirty="0">
                <a:solidFill>
                  <a:srgbClr val="2A2B2E"/>
                </a:solidFill>
                <a:effectLst/>
                <a:latin typeface="PingFang SC"/>
              </a:rPr>
              <a:t> </a:t>
            </a:r>
            <a:r>
              <a:rPr lang="en-US" altLang="zh-CN" b="0" i="0" dirty="0" err="1">
                <a:solidFill>
                  <a:srgbClr val="2A2B2E"/>
                </a:solidFill>
                <a:effectLst/>
                <a:latin typeface="PingFang SC"/>
              </a:rPr>
              <a:t>findCustomer</a:t>
            </a:r>
            <a:r>
              <a:rPr lang="zh-CN" altLang="en-US" b="0" i="0" dirty="0">
                <a:solidFill>
                  <a:srgbClr val="2A2B2E"/>
                </a:solidFill>
                <a:effectLst/>
                <a:latin typeface="PingFang SC"/>
              </a:rPr>
              <a:t>发消息给</a:t>
            </a:r>
            <a:r>
              <a:rPr lang="en-US" altLang="zh-CN" b="0" i="0" dirty="0">
                <a:solidFill>
                  <a:srgbClr val="2A2B2E"/>
                </a:solidFill>
                <a:effectLst/>
                <a:latin typeface="PingFang SC"/>
              </a:rPr>
              <a:t>Customer</a:t>
            </a:r>
            <a:r>
              <a:rPr lang="zh-CN" altLang="en-US" b="0" i="0" dirty="0">
                <a:solidFill>
                  <a:srgbClr val="2A2B2E"/>
                </a:solidFill>
                <a:effectLst/>
                <a:latin typeface="PingFang SC"/>
              </a:rPr>
              <a:t>类意味着</a:t>
            </a:r>
            <a:r>
              <a:rPr lang="en-US" altLang="zh-CN" b="0" i="0" dirty="0">
                <a:solidFill>
                  <a:srgbClr val="2A2B2E"/>
                </a:solidFill>
                <a:effectLst/>
                <a:latin typeface="PingFang SC"/>
              </a:rPr>
              <a:t>Customer</a:t>
            </a:r>
            <a:r>
              <a:rPr lang="zh-CN" altLang="en-US" b="0" i="0" dirty="0">
                <a:solidFill>
                  <a:srgbClr val="2A2B2E"/>
                </a:solidFill>
                <a:effectLst/>
                <a:latin typeface="PingFang SC"/>
              </a:rPr>
              <a:t>应该创建一个名为</a:t>
            </a:r>
            <a:r>
              <a:rPr lang="en-US" altLang="zh-CN" b="0" i="0" dirty="0" err="1">
                <a:solidFill>
                  <a:srgbClr val="2A2B2E"/>
                </a:solidFill>
                <a:effectLst/>
                <a:latin typeface="PingFang SC"/>
              </a:rPr>
              <a:t>aC</a:t>
            </a:r>
            <a:r>
              <a:rPr lang="zh-CN" altLang="en-US" b="0" i="0" dirty="0">
                <a:solidFill>
                  <a:srgbClr val="2A2B2E"/>
                </a:solidFill>
                <a:effectLst/>
                <a:latin typeface="PingFang SC"/>
              </a:rPr>
              <a:t>的新实例，向</a:t>
            </a:r>
            <a:r>
              <a:rPr lang="en-US" altLang="zh-CN" b="0" i="0" dirty="0">
                <a:solidFill>
                  <a:srgbClr val="2A2B2E"/>
                </a:solidFill>
                <a:effectLst/>
                <a:latin typeface="PingFang SC"/>
              </a:rPr>
              <a:t>:</a:t>
            </a:r>
            <a:r>
              <a:rPr lang="en-US" altLang="zh-CN" b="0" i="0" dirty="0" err="1">
                <a:solidFill>
                  <a:srgbClr val="2A2B2E"/>
                </a:solidFill>
                <a:effectLst/>
                <a:latin typeface="PingFang SC"/>
              </a:rPr>
              <a:t>CustomerDA</a:t>
            </a:r>
            <a:r>
              <a:rPr lang="zh-CN" altLang="en-US" b="0" i="0" dirty="0">
                <a:solidFill>
                  <a:srgbClr val="2A2B2E"/>
                </a:solidFill>
                <a:effectLst/>
                <a:latin typeface="PingFang SC"/>
              </a:rPr>
              <a:t>发送消息，要求它从数据库中读取具有该账号的客户的信息，然后用数据库中的属性值填充新的客户实例。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在需要域对象的其他时候，使用类似的模式</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59</a:t>
            </a:fld>
            <a:endParaRPr lang="en-US" altLang="zh-CN"/>
          </a:p>
        </p:txBody>
      </p:sp>
    </p:spTree>
    <p:extLst>
      <p:ext uri="{BB962C8B-B14F-4D97-AF65-F5344CB8AC3E}">
        <p14:creationId xmlns:p14="http://schemas.microsoft.com/office/powerpoint/2010/main" val="4333051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设计视图层</a:t>
            </a:r>
            <a:endParaRPr lang="en-US" altLang="zh-CN" dirty="0"/>
          </a:p>
          <a:p>
            <a:endParaRPr lang="en-US" altLang="zh-CN" dirty="0"/>
          </a:p>
          <a:p>
            <a:r>
              <a:rPr lang="zh-CN" altLang="en-US" b="0" i="0" dirty="0">
                <a:solidFill>
                  <a:srgbClr val="2A2B2E"/>
                </a:solidFill>
                <a:effectLst/>
                <a:latin typeface="PingFang SC"/>
              </a:rPr>
              <a:t>顺序图只是显示视图与控制器的交互</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视图类甚至不需要知道域或数据访问层</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60</a:t>
            </a:fld>
            <a:endParaRPr lang="en-US" altLang="zh-CN"/>
          </a:p>
        </p:txBody>
      </p:sp>
    </p:spTree>
    <p:extLst>
      <p:ext uri="{BB962C8B-B14F-4D97-AF65-F5344CB8AC3E}">
        <p14:creationId xmlns:p14="http://schemas.microsoft.com/office/powerpoint/2010/main" val="32360495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61</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用协作图进行设计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03389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显示与顺序图相同的信息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协作图中使用的符号</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62</a:t>
            </a:fld>
            <a:endParaRPr lang="en-US" altLang="zh-CN"/>
          </a:p>
        </p:txBody>
      </p:sp>
    </p:spTree>
    <p:extLst>
      <p:ext uri="{BB962C8B-B14F-4D97-AF65-F5344CB8AC3E}">
        <p14:creationId xmlns:p14="http://schemas.microsoft.com/office/powerpoint/2010/main" val="3421240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这个图应该与前面显示的域层序列图相匹配</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许多人更喜欢在头脑风暴中使用它们</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在协作图中，由于没有生命线，每个消息都按照顺序编上号来说明他们之间的次序关系</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63</a:t>
            </a:fld>
            <a:endParaRPr lang="en-US" altLang="zh-CN"/>
          </a:p>
        </p:txBody>
      </p:sp>
    </p:spTree>
    <p:extLst>
      <p:ext uri="{BB962C8B-B14F-4D97-AF65-F5344CB8AC3E}">
        <p14:creationId xmlns:p14="http://schemas.microsoft.com/office/powerpoint/2010/main" val="18895578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9DBA88C-7277-4E45-A2BA-5DD10A7F12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7B590D-77B1-423A-8A9D-D57BF22322BA}" type="slidenum">
              <a:rPr lang="en-US" altLang="zh-CN"/>
              <a:pPr eaLnBrk="1" hangingPunct="1"/>
              <a:t>64</a:t>
            </a:fld>
            <a:endParaRPr lang="en-US" altLang="zh-CN"/>
          </a:p>
        </p:txBody>
      </p:sp>
      <p:sp>
        <p:nvSpPr>
          <p:cNvPr id="47107" name="Rectangle 2">
            <a:extLst>
              <a:ext uri="{FF2B5EF4-FFF2-40B4-BE49-F238E27FC236}">
                <a16:creationId xmlns:a16="http://schemas.microsoft.com/office/drawing/2014/main" id="{8ADC67EF-4AB5-49B3-9783-78CC4A1E4E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F965BC8B-2158-4F89-B107-DFE292BACE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更新和打包设计类图</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77176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设计类图侧重于域层</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65</a:t>
            </a:fld>
            <a:endParaRPr lang="en-US" altLang="zh-CN"/>
          </a:p>
        </p:txBody>
      </p:sp>
    </p:spTree>
    <p:extLst>
      <p:ext uri="{BB962C8B-B14F-4D97-AF65-F5344CB8AC3E}">
        <p14:creationId xmlns:p14="http://schemas.microsoft.com/office/powerpoint/2010/main" val="34514995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完整的设计类图</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66</a:t>
            </a:fld>
            <a:endParaRPr lang="en-US" altLang="zh-CN"/>
          </a:p>
        </p:txBody>
      </p:sp>
    </p:spTree>
    <p:extLst>
      <p:ext uri="{BB962C8B-B14F-4D97-AF65-F5344CB8AC3E}">
        <p14:creationId xmlns:p14="http://schemas.microsoft.com/office/powerpoint/2010/main" val="12662812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包图使用的另一个符号是虚线箭头，它表示依赖关系</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67</a:t>
            </a:fld>
            <a:endParaRPr lang="en-US" altLang="zh-CN"/>
          </a:p>
        </p:txBody>
      </p:sp>
    </p:spTree>
    <p:extLst>
      <p:ext uri="{BB962C8B-B14F-4D97-AF65-F5344CB8AC3E}">
        <p14:creationId xmlns:p14="http://schemas.microsoft.com/office/powerpoint/2010/main" val="488249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子系统包</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68</a:t>
            </a:fld>
            <a:endParaRPr lang="en-US" altLang="zh-CN"/>
          </a:p>
        </p:txBody>
      </p:sp>
    </p:spTree>
    <p:extLst>
      <p:ext uri="{BB962C8B-B14F-4D97-AF65-F5344CB8AC3E}">
        <p14:creationId xmlns:p14="http://schemas.microsoft.com/office/powerpoint/2010/main" val="13138689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视图层完成以下任务</a:t>
            </a:r>
            <a:endParaRPr lang="en-US" altLang="zh-CN" dirty="0"/>
          </a:p>
          <a:p>
            <a:endParaRPr lang="en-US" altLang="zh-CN" dirty="0"/>
          </a:p>
          <a:p>
            <a:r>
              <a:rPr lang="zh-CN" altLang="en-US" dirty="0"/>
              <a:t>展示电子表单和报告</a:t>
            </a:r>
            <a:endParaRPr lang="en-US" altLang="zh-CN" dirty="0"/>
          </a:p>
          <a:p>
            <a:r>
              <a:rPr lang="zh-CN" altLang="en-US" dirty="0"/>
              <a:t>捕捉输入，例如单机、滚动和键盘输入等事件</a:t>
            </a:r>
            <a:endParaRPr lang="en-US" altLang="zh-CN" dirty="0"/>
          </a:p>
          <a:p>
            <a:r>
              <a:rPr lang="zh-CN" altLang="en-US" dirty="0"/>
              <a:t>显示数据字段</a:t>
            </a:r>
            <a:endParaRPr lang="en-US" altLang="zh-CN" dirty="0"/>
          </a:p>
          <a:p>
            <a:r>
              <a:rPr lang="zh-CN" altLang="en-US" dirty="0"/>
              <a:t>接收输入数据</a:t>
            </a:r>
            <a:endParaRPr lang="en-US" altLang="zh-CN" dirty="0"/>
          </a:p>
          <a:p>
            <a:r>
              <a:rPr lang="zh-CN" altLang="en-US" dirty="0"/>
              <a:t>编辑并校验输入数据的合法性</a:t>
            </a:r>
            <a:endParaRPr lang="en-US" altLang="zh-CN" dirty="0"/>
          </a:p>
          <a:p>
            <a:r>
              <a:rPr lang="zh-CN" altLang="en-US" dirty="0"/>
              <a:t>将输入数据传递给域层类</a:t>
            </a:r>
            <a:endParaRPr lang="en-US" altLang="zh-CN" dirty="0"/>
          </a:p>
          <a:p>
            <a:r>
              <a:rPr lang="zh-CN" altLang="en-US" dirty="0"/>
              <a:t>启动与关闭系统</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69</a:t>
            </a:fld>
            <a:endParaRPr lang="en-US" altLang="zh-CN"/>
          </a:p>
        </p:txBody>
      </p:sp>
    </p:spTree>
    <p:extLst>
      <p:ext uri="{BB962C8B-B14F-4D97-AF65-F5344CB8AC3E}">
        <p14:creationId xmlns:p14="http://schemas.microsoft.com/office/powerpoint/2010/main" val="28736433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域层类完成以下任务：</a:t>
            </a:r>
            <a:endParaRPr lang="en-US" altLang="zh-CN" dirty="0"/>
          </a:p>
          <a:p>
            <a:r>
              <a:rPr lang="zh-CN" altLang="en-US" dirty="0"/>
              <a:t>创建问题域类（持久类）</a:t>
            </a:r>
            <a:endParaRPr lang="en-US" altLang="zh-CN" dirty="0"/>
          </a:p>
          <a:p>
            <a:r>
              <a:rPr lang="zh-CN" altLang="en-US" dirty="0"/>
              <a:t>以适当的逻辑处理所有的业务规则</a:t>
            </a:r>
            <a:endParaRPr lang="en-US" altLang="zh-CN" dirty="0"/>
          </a:p>
          <a:p>
            <a:r>
              <a:rPr lang="zh-CN" altLang="en-US" dirty="0"/>
              <a:t>准备持久类以便数据库存储</a:t>
            </a:r>
            <a:endParaRPr lang="en-US" altLang="zh-CN"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70</a:t>
            </a:fld>
            <a:endParaRPr lang="en-US" altLang="zh-CN"/>
          </a:p>
        </p:txBody>
      </p:sp>
    </p:spTree>
    <p:extLst>
      <p:ext uri="{BB962C8B-B14F-4D97-AF65-F5344CB8AC3E}">
        <p14:creationId xmlns:p14="http://schemas.microsoft.com/office/powerpoint/2010/main" val="21788387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数据访问层完成以下任务：</a:t>
            </a:r>
            <a:endParaRPr lang="en-US" altLang="zh-CN" dirty="0"/>
          </a:p>
          <a:p>
            <a:r>
              <a:rPr lang="zh-CN" altLang="en-US" dirty="0"/>
              <a:t>建立并维护数据库之间的连接</a:t>
            </a:r>
            <a:endParaRPr lang="en-US" altLang="zh-CN" dirty="0"/>
          </a:p>
          <a:p>
            <a:r>
              <a:rPr lang="zh-CN" altLang="en-US" dirty="0"/>
              <a:t>包含所有的</a:t>
            </a:r>
            <a:r>
              <a:rPr lang="en-US" altLang="zh-CN" dirty="0"/>
              <a:t>SQL</a:t>
            </a:r>
            <a:r>
              <a:rPr lang="zh-CN" altLang="en-US" dirty="0"/>
              <a:t>语句</a:t>
            </a:r>
            <a:endParaRPr lang="en-US" altLang="zh-CN" dirty="0"/>
          </a:p>
          <a:p>
            <a:r>
              <a:rPr lang="zh-CN" altLang="en-US" dirty="0"/>
              <a:t>处理结果集（</a:t>
            </a:r>
            <a:r>
              <a:rPr lang="en-US" altLang="zh-CN" dirty="0"/>
              <a:t>SQL</a:t>
            </a:r>
            <a:r>
              <a:rPr lang="zh-CN" altLang="en-US" dirty="0"/>
              <a:t>语句的执行结果），并附给合适的域对象</a:t>
            </a:r>
            <a:endParaRPr lang="en-US" altLang="zh-CN" dirty="0"/>
          </a:p>
          <a:p>
            <a:r>
              <a:rPr lang="zh-CN" altLang="en-US" dirty="0"/>
              <a:t>实施断开与数据库的连接</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71</a:t>
            </a:fld>
            <a:endParaRPr lang="en-US" altLang="zh-CN"/>
          </a:p>
        </p:txBody>
      </p:sp>
    </p:spTree>
    <p:extLst>
      <p:ext uri="{BB962C8B-B14F-4D97-AF65-F5344CB8AC3E}">
        <p14:creationId xmlns:p14="http://schemas.microsoft.com/office/powerpoint/2010/main" val="13641886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本章更详细地介绍了用例实现和三层设计，以扩展上一章的设计技术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三层设计是一种架构设计模式，是设计原则和模式使用运动的一部分。</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用例实现是用例的设计，通过设计类图和顺序图来完成。使用顺序图比使用</a:t>
            </a:r>
            <a:r>
              <a:rPr lang="en-US" altLang="zh-CN" b="0" i="0" dirty="0">
                <a:solidFill>
                  <a:srgbClr val="2A2B2E"/>
                </a:solidFill>
                <a:effectLst/>
                <a:latin typeface="PingFang SC"/>
              </a:rPr>
              <a:t>CRC</a:t>
            </a:r>
            <a:r>
              <a:rPr lang="zh-CN" altLang="en-US" b="0" i="0" dirty="0">
                <a:solidFill>
                  <a:srgbClr val="2A2B2E"/>
                </a:solidFill>
                <a:effectLst/>
                <a:latin typeface="PingFang SC"/>
              </a:rPr>
              <a:t>卡具有更大的深度和精度。</a:t>
            </a:r>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72</a:t>
            </a:fld>
            <a:endParaRPr lang="en-US" altLang="zh-CN"/>
          </a:p>
        </p:txBody>
      </p:sp>
    </p:spTree>
    <p:extLst>
      <p:ext uri="{BB962C8B-B14F-4D97-AF65-F5344CB8AC3E}">
        <p14:creationId xmlns:p14="http://schemas.microsoft.com/office/powerpoint/2010/main" val="7990267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从业务逻辑</a:t>
            </a:r>
            <a:r>
              <a:rPr lang="en-US" altLang="zh-CN" b="0" i="0" dirty="0">
                <a:solidFill>
                  <a:srgbClr val="2A2B2E"/>
                </a:solidFill>
                <a:effectLst/>
                <a:latin typeface="PingFang SC"/>
              </a:rPr>
              <a:t>/</a:t>
            </a:r>
            <a:r>
              <a:rPr lang="zh-CN" altLang="en-US" b="0" i="0" dirty="0">
                <a:solidFill>
                  <a:srgbClr val="2A2B2E"/>
                </a:solidFill>
                <a:effectLst/>
                <a:latin typeface="PingFang SC"/>
              </a:rPr>
              <a:t>领域层开始，选择领域类并绘制初始设计类图。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系统顺序图</a:t>
            </a:r>
            <a:r>
              <a:rPr lang="en-US" altLang="zh-CN" b="0" i="0" dirty="0">
                <a:solidFill>
                  <a:srgbClr val="2A2B2E"/>
                </a:solidFill>
                <a:effectLst/>
                <a:latin typeface="PingFang SC"/>
              </a:rPr>
              <a:t>(SSD)</a:t>
            </a:r>
            <a:r>
              <a:rPr lang="zh-CN" altLang="en-US" b="0" i="0" dirty="0">
                <a:solidFill>
                  <a:srgbClr val="2A2B2E"/>
                </a:solidFill>
                <a:effectLst/>
                <a:latin typeface="PingFang SC"/>
              </a:rPr>
              <a:t>通过添加用例控制器和用例的域类来扩展。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消息和返回被添加到顺序图中</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通过根据接收到的消息向类添加方法和更新导航可见性来更新设计类图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73</a:t>
            </a:fld>
            <a:endParaRPr lang="en-US" altLang="zh-CN"/>
          </a:p>
        </p:txBody>
      </p:sp>
    </p:spTree>
    <p:extLst>
      <p:ext uri="{BB962C8B-B14F-4D97-AF65-F5344CB8AC3E}">
        <p14:creationId xmlns:p14="http://schemas.microsoft.com/office/powerpoint/2010/main" val="3957655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如果域类负责数据库访问，那么简单的用例可能只剩下两层。更复杂的系统添加数据访问层作为第三层来处理数据库访问</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视图层还可以添加到顺序图中，以显示多个页面或表单如何与用例控制器交互</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协作图也用于设计用例实现，它显示了与顺序图相同的信息。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74</a:t>
            </a:fld>
            <a:endParaRPr lang="en-US" altLang="zh-CN"/>
          </a:p>
        </p:txBody>
      </p:sp>
    </p:spTree>
    <p:extLst>
      <p:ext uri="{BB962C8B-B14F-4D97-AF65-F5344CB8AC3E}">
        <p14:creationId xmlns:p14="http://schemas.microsoft.com/office/powerpoint/2010/main" val="29741112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UML</a:t>
            </a:r>
            <a:r>
              <a:rPr lang="zh-CN" altLang="en-US" b="0" i="0" dirty="0">
                <a:solidFill>
                  <a:srgbClr val="2A2B2E"/>
                </a:solidFill>
                <a:effectLst/>
                <a:latin typeface="PingFang SC"/>
              </a:rPr>
              <a:t>包图用于将类构造成包，通常每层一个包。包图还可以用于将层打包到子系统中。</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设计模式是一种标准解决方案或模板，已被证明是处理设计问题的有效方法。本章的设计模式包括控制器、适配器、工厂和单例模式</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75</a:t>
            </a:fld>
            <a:endParaRPr lang="en-US" altLang="zh-CN"/>
          </a:p>
        </p:txBody>
      </p:sp>
    </p:spTree>
    <p:extLst>
      <p:ext uri="{BB962C8B-B14F-4D97-AF65-F5344CB8AC3E}">
        <p14:creationId xmlns:p14="http://schemas.microsoft.com/office/powerpoint/2010/main" val="1123144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5EDFF82F-E774-47F1-B788-3BFD9FC13FAE}"/>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grpSp>
        <p:nvGrpSpPr>
          <p:cNvPr id="5" name="Group 8">
            <a:extLst>
              <a:ext uri="{FF2B5EF4-FFF2-40B4-BE49-F238E27FC236}">
                <a16:creationId xmlns:a16="http://schemas.microsoft.com/office/drawing/2014/main" id="{ACDD92B3-EA5B-44EB-A23B-31DAF3CA3204}"/>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D9DDE39F-B1A7-49EB-A56B-1A80DA10ADE7}"/>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7" name="Oval 10">
              <a:extLst>
                <a:ext uri="{FF2B5EF4-FFF2-40B4-BE49-F238E27FC236}">
                  <a16:creationId xmlns:a16="http://schemas.microsoft.com/office/drawing/2014/main" id="{822A7199-C69D-4311-BE05-E1FA36712527}"/>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8" name="Oval 11">
              <a:extLst>
                <a:ext uri="{FF2B5EF4-FFF2-40B4-BE49-F238E27FC236}">
                  <a16:creationId xmlns:a16="http://schemas.microsoft.com/office/drawing/2014/main" id="{B27BD0BB-AE70-4860-8D19-057312FA5020}"/>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9" name="Oval 12">
              <a:extLst>
                <a:ext uri="{FF2B5EF4-FFF2-40B4-BE49-F238E27FC236}">
                  <a16:creationId xmlns:a16="http://schemas.microsoft.com/office/drawing/2014/main" id="{95791925-0079-4803-BE7C-E03A77089411}"/>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0" name="Oval 13">
              <a:extLst>
                <a:ext uri="{FF2B5EF4-FFF2-40B4-BE49-F238E27FC236}">
                  <a16:creationId xmlns:a16="http://schemas.microsoft.com/office/drawing/2014/main" id="{0AAF58C6-2028-458E-A041-A317CF36C879}"/>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 name="Oval 14">
              <a:extLst>
                <a:ext uri="{FF2B5EF4-FFF2-40B4-BE49-F238E27FC236}">
                  <a16:creationId xmlns:a16="http://schemas.microsoft.com/office/drawing/2014/main" id="{CA79A0EA-BB5B-48AB-A4C4-D394AEE4D94D}"/>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2" name="Oval 15">
              <a:extLst>
                <a:ext uri="{FF2B5EF4-FFF2-40B4-BE49-F238E27FC236}">
                  <a16:creationId xmlns:a16="http://schemas.microsoft.com/office/drawing/2014/main" id="{CF003996-A51F-4021-A3AC-15310BA3D2B3}"/>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3" name="Oval 16">
              <a:extLst>
                <a:ext uri="{FF2B5EF4-FFF2-40B4-BE49-F238E27FC236}">
                  <a16:creationId xmlns:a16="http://schemas.microsoft.com/office/drawing/2014/main" id="{CF2D5ADD-F4AF-48FE-A7B6-EB8C3AA9AFBE}"/>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4" name="Oval 17">
              <a:extLst>
                <a:ext uri="{FF2B5EF4-FFF2-40B4-BE49-F238E27FC236}">
                  <a16:creationId xmlns:a16="http://schemas.microsoft.com/office/drawing/2014/main" id="{01CC2D62-E2BB-47BE-9CA4-0F149123EC03}"/>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5" name="Oval 18">
              <a:extLst>
                <a:ext uri="{FF2B5EF4-FFF2-40B4-BE49-F238E27FC236}">
                  <a16:creationId xmlns:a16="http://schemas.microsoft.com/office/drawing/2014/main" id="{86CEFBDB-EF2F-4986-ABA8-1A5566830188}"/>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6" name="Oval 19">
              <a:extLst>
                <a:ext uri="{FF2B5EF4-FFF2-40B4-BE49-F238E27FC236}">
                  <a16:creationId xmlns:a16="http://schemas.microsoft.com/office/drawing/2014/main" id="{4C1EE883-5E07-45DE-A7C0-34BA97A188BC}"/>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7" name="Oval 20">
              <a:extLst>
                <a:ext uri="{FF2B5EF4-FFF2-40B4-BE49-F238E27FC236}">
                  <a16:creationId xmlns:a16="http://schemas.microsoft.com/office/drawing/2014/main" id="{FB408C07-64D1-4BDD-8FE4-FCCEB33EBD7B}"/>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8" name="Oval 21">
              <a:extLst>
                <a:ext uri="{FF2B5EF4-FFF2-40B4-BE49-F238E27FC236}">
                  <a16:creationId xmlns:a16="http://schemas.microsoft.com/office/drawing/2014/main" id="{763B0B7F-8906-4E10-BC4B-3E85C8CD7095}"/>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9" name="Oval 22">
              <a:extLst>
                <a:ext uri="{FF2B5EF4-FFF2-40B4-BE49-F238E27FC236}">
                  <a16:creationId xmlns:a16="http://schemas.microsoft.com/office/drawing/2014/main" id="{5988F134-A3A2-4F9B-9162-F34C1CE47952}"/>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0" name="Oval 23">
              <a:extLst>
                <a:ext uri="{FF2B5EF4-FFF2-40B4-BE49-F238E27FC236}">
                  <a16:creationId xmlns:a16="http://schemas.microsoft.com/office/drawing/2014/main" id="{CC11D215-2371-4620-92B2-78451E0D6C1C}"/>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1" name="Oval 24">
              <a:extLst>
                <a:ext uri="{FF2B5EF4-FFF2-40B4-BE49-F238E27FC236}">
                  <a16:creationId xmlns:a16="http://schemas.microsoft.com/office/drawing/2014/main" id="{11DC0D17-2166-45D2-85C6-EA968BAB2A23}"/>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2" name="Oval 25">
              <a:extLst>
                <a:ext uri="{FF2B5EF4-FFF2-40B4-BE49-F238E27FC236}">
                  <a16:creationId xmlns:a16="http://schemas.microsoft.com/office/drawing/2014/main" id="{C49AB0E8-90FD-48C5-87C5-64EA1A4C318C}"/>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3" name="Oval 26">
              <a:extLst>
                <a:ext uri="{FF2B5EF4-FFF2-40B4-BE49-F238E27FC236}">
                  <a16:creationId xmlns:a16="http://schemas.microsoft.com/office/drawing/2014/main" id="{6232365E-020F-4F55-A194-DFD8F0C23FD7}"/>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4" name="Oval 27">
              <a:extLst>
                <a:ext uri="{FF2B5EF4-FFF2-40B4-BE49-F238E27FC236}">
                  <a16:creationId xmlns:a16="http://schemas.microsoft.com/office/drawing/2014/main" id="{CDA18857-1F57-4558-848C-9CCAEDB6E617}"/>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5" name="Oval 28">
              <a:extLst>
                <a:ext uri="{FF2B5EF4-FFF2-40B4-BE49-F238E27FC236}">
                  <a16:creationId xmlns:a16="http://schemas.microsoft.com/office/drawing/2014/main" id="{45638D2B-FF14-40E5-A579-D61C478B2A74}"/>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6" name="Oval 29">
              <a:extLst>
                <a:ext uri="{FF2B5EF4-FFF2-40B4-BE49-F238E27FC236}">
                  <a16:creationId xmlns:a16="http://schemas.microsoft.com/office/drawing/2014/main" id="{ADB2E0CB-3803-4A18-BBC0-B330006FE982}"/>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27" name="Oval 30">
              <a:extLst>
                <a:ext uri="{FF2B5EF4-FFF2-40B4-BE49-F238E27FC236}">
                  <a16:creationId xmlns:a16="http://schemas.microsoft.com/office/drawing/2014/main" id="{DF9B6592-4B0A-4B3A-B025-24EB6AF39897}"/>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8" name="Oval 31">
              <a:extLst>
                <a:ext uri="{FF2B5EF4-FFF2-40B4-BE49-F238E27FC236}">
                  <a16:creationId xmlns:a16="http://schemas.microsoft.com/office/drawing/2014/main" id="{9F26A48E-B63C-42BF-996B-D615264F04F0}"/>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9" name="Oval 32">
              <a:extLst>
                <a:ext uri="{FF2B5EF4-FFF2-40B4-BE49-F238E27FC236}">
                  <a16:creationId xmlns:a16="http://schemas.microsoft.com/office/drawing/2014/main" id="{D808510D-5AA3-4574-A673-E9E435A3652E}"/>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0" name="Oval 33">
              <a:extLst>
                <a:ext uri="{FF2B5EF4-FFF2-40B4-BE49-F238E27FC236}">
                  <a16:creationId xmlns:a16="http://schemas.microsoft.com/office/drawing/2014/main" id="{B9D03675-D251-43F2-A534-2C4746C60235}"/>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1" name="Oval 34">
              <a:extLst>
                <a:ext uri="{FF2B5EF4-FFF2-40B4-BE49-F238E27FC236}">
                  <a16:creationId xmlns:a16="http://schemas.microsoft.com/office/drawing/2014/main" id="{C8BA3D64-9187-456C-A65C-055AB4D0CBA1}"/>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2" name="Oval 35">
              <a:extLst>
                <a:ext uri="{FF2B5EF4-FFF2-40B4-BE49-F238E27FC236}">
                  <a16:creationId xmlns:a16="http://schemas.microsoft.com/office/drawing/2014/main" id="{E31A120C-C176-4DCB-8BCF-329D0DBE2718}"/>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3" name="Oval 36">
              <a:extLst>
                <a:ext uri="{FF2B5EF4-FFF2-40B4-BE49-F238E27FC236}">
                  <a16:creationId xmlns:a16="http://schemas.microsoft.com/office/drawing/2014/main" id="{5DE088A8-3D8C-43C7-B505-ADCE7C4445E2}"/>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4" name="Oval 37">
              <a:extLst>
                <a:ext uri="{FF2B5EF4-FFF2-40B4-BE49-F238E27FC236}">
                  <a16:creationId xmlns:a16="http://schemas.microsoft.com/office/drawing/2014/main" id="{1BD3C4C8-769E-4A50-9AF5-BBB821921AC2}"/>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5" name="Oval 38">
              <a:extLst>
                <a:ext uri="{FF2B5EF4-FFF2-40B4-BE49-F238E27FC236}">
                  <a16:creationId xmlns:a16="http://schemas.microsoft.com/office/drawing/2014/main" id="{CCB57549-7A94-4DB8-9163-FFEE5F62763F}"/>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6" name="Oval 39">
              <a:extLst>
                <a:ext uri="{FF2B5EF4-FFF2-40B4-BE49-F238E27FC236}">
                  <a16:creationId xmlns:a16="http://schemas.microsoft.com/office/drawing/2014/main" id="{3EAD023B-00B1-4770-9241-B6C257C07D50}"/>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
        <p:nvSpPr>
          <p:cNvPr id="37" name="Line 40">
            <a:extLst>
              <a:ext uri="{FF2B5EF4-FFF2-40B4-BE49-F238E27FC236}">
                <a16:creationId xmlns:a16="http://schemas.microsoft.com/office/drawing/2014/main" id="{34F8FAA5-3B5B-4DDF-BC37-3C207820D673}"/>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cs typeface="Arial" charset="0"/>
            </a:endParaRPr>
          </a:p>
        </p:txBody>
      </p:sp>
      <p:sp>
        <p:nvSpPr>
          <p:cNvPr id="38" name="Rectangle 41">
            <a:extLst>
              <a:ext uri="{FF2B5EF4-FFF2-40B4-BE49-F238E27FC236}">
                <a16:creationId xmlns:a16="http://schemas.microsoft.com/office/drawing/2014/main" id="{661AD5C8-59D8-4B75-A3BD-AA9B34D35143}"/>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p>
            <a:pPr algn="r">
              <a:defRPr/>
            </a:pPr>
            <a:endParaRPr lang="en-US" altLang="en-US" sz="3200" b="1">
              <a:solidFill>
                <a:schemeClr val="tx2"/>
              </a:solidFill>
              <a:latin typeface="Arial" charset="0"/>
              <a:cs typeface="Arial" charset="0"/>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B9347B09-1A74-47E1-802B-EE89C9771CBE}"/>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F90498B4-A7D9-4AA1-8684-11EC5A12387D}"/>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F5D02CE1-220E-44D3-A12A-6E5F8E99E774}"/>
              </a:ext>
            </a:extLst>
          </p:cNvPr>
          <p:cNvSpPr>
            <a:spLocks noGrp="1" noChangeArrowheads="1"/>
          </p:cNvSpPr>
          <p:nvPr>
            <p:ph type="sldNum" sz="quarter" idx="12"/>
          </p:nvPr>
        </p:nvSpPr>
        <p:spPr>
          <a:xfrm>
            <a:off x="7315200" y="6248400"/>
            <a:ext cx="1371600" cy="457200"/>
          </a:xfrm>
        </p:spPr>
        <p:txBody>
          <a:bodyPr/>
          <a:lstStyle>
            <a:lvl1pPr>
              <a:defRPr/>
            </a:lvl1pPr>
          </a:lstStyle>
          <a:p>
            <a:fld id="{9FE11A10-7B67-48A9-B077-DB38B4DC745F}" type="slidenum">
              <a:rPr lang="en-US" altLang="en-US"/>
              <a:pPr/>
              <a:t>‹#›</a:t>
            </a:fld>
            <a:endParaRPr lang="en-US" altLang="en-US"/>
          </a:p>
        </p:txBody>
      </p:sp>
    </p:spTree>
    <p:extLst>
      <p:ext uri="{BB962C8B-B14F-4D97-AF65-F5344CB8AC3E}">
        <p14:creationId xmlns:p14="http://schemas.microsoft.com/office/powerpoint/2010/main" val="298495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395CA36-E60C-4D60-9DE9-4987CBD0304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95B67BE8-B45A-4D42-B0A5-177E428CF1E7}"/>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00D8B137-E4F0-443E-830F-CB60E277B097}"/>
              </a:ext>
            </a:extLst>
          </p:cNvPr>
          <p:cNvSpPr>
            <a:spLocks noGrp="1" noChangeArrowheads="1"/>
          </p:cNvSpPr>
          <p:nvPr>
            <p:ph type="sldNum" sz="quarter" idx="12"/>
          </p:nvPr>
        </p:nvSpPr>
        <p:spPr>
          <a:ln/>
        </p:spPr>
        <p:txBody>
          <a:bodyPr/>
          <a:lstStyle>
            <a:lvl1pPr>
              <a:defRPr/>
            </a:lvl1pPr>
          </a:lstStyle>
          <a:p>
            <a:fld id="{ABBB1CED-0D9F-4F7C-BA0F-67E8D69C7763}" type="slidenum">
              <a:rPr lang="en-US" altLang="en-US"/>
              <a:pPr/>
              <a:t>‹#›</a:t>
            </a:fld>
            <a:endParaRPr lang="en-US" altLang="en-US"/>
          </a:p>
        </p:txBody>
      </p:sp>
    </p:spTree>
    <p:extLst>
      <p:ext uri="{BB962C8B-B14F-4D97-AF65-F5344CB8AC3E}">
        <p14:creationId xmlns:p14="http://schemas.microsoft.com/office/powerpoint/2010/main" val="1438142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D14FFF6-00D7-43F5-8A3A-14C8A47ECDF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1349923F-7230-4683-AB89-A2111D68082B}"/>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A5AC8899-6012-46B0-91FA-CA40CC7A48B3}"/>
              </a:ext>
            </a:extLst>
          </p:cNvPr>
          <p:cNvSpPr>
            <a:spLocks noGrp="1" noChangeArrowheads="1"/>
          </p:cNvSpPr>
          <p:nvPr>
            <p:ph type="sldNum" sz="quarter" idx="12"/>
          </p:nvPr>
        </p:nvSpPr>
        <p:spPr>
          <a:ln/>
        </p:spPr>
        <p:txBody>
          <a:bodyPr/>
          <a:lstStyle>
            <a:lvl1pPr>
              <a:defRPr/>
            </a:lvl1pPr>
          </a:lstStyle>
          <a:p>
            <a:fld id="{382CB17E-B29C-4AF8-AED4-3F48AFE19538}" type="slidenum">
              <a:rPr lang="en-US" altLang="en-US"/>
              <a:pPr/>
              <a:t>‹#›</a:t>
            </a:fld>
            <a:endParaRPr lang="en-US" altLang="en-US"/>
          </a:p>
        </p:txBody>
      </p:sp>
    </p:spTree>
    <p:extLst>
      <p:ext uri="{BB962C8B-B14F-4D97-AF65-F5344CB8AC3E}">
        <p14:creationId xmlns:p14="http://schemas.microsoft.com/office/powerpoint/2010/main" val="3594516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05D532F6-2B33-4053-B725-10BDD846241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4CFDA69-A43C-4675-935C-3716B9F276E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6E577B3A-EC88-4109-A2CD-65BFB7AFD324}"/>
              </a:ext>
            </a:extLst>
          </p:cNvPr>
          <p:cNvSpPr>
            <a:spLocks noGrp="1" noChangeArrowheads="1"/>
          </p:cNvSpPr>
          <p:nvPr>
            <p:ph type="sldNum" sz="quarter" idx="12"/>
          </p:nvPr>
        </p:nvSpPr>
        <p:spPr>
          <a:ln/>
        </p:spPr>
        <p:txBody>
          <a:bodyPr/>
          <a:lstStyle>
            <a:lvl1pPr>
              <a:defRPr/>
            </a:lvl1pPr>
          </a:lstStyle>
          <a:p>
            <a:fld id="{4B90E592-76FC-4EC9-A704-9E9FFB6010ED}" type="slidenum">
              <a:rPr lang="en-US" altLang="en-US"/>
              <a:pPr/>
              <a:t>‹#›</a:t>
            </a:fld>
            <a:endParaRPr lang="en-US" altLang="en-US"/>
          </a:p>
        </p:txBody>
      </p:sp>
    </p:spTree>
    <p:extLst>
      <p:ext uri="{BB962C8B-B14F-4D97-AF65-F5344CB8AC3E}">
        <p14:creationId xmlns:p14="http://schemas.microsoft.com/office/powerpoint/2010/main" val="238527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9BD1F5F8-A51F-43A3-BD4C-1FE4581121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320E47CD-F3B2-4BEC-9985-D0467332B15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5B150476-1D9A-47CB-810B-6D56BA94158E}"/>
              </a:ext>
            </a:extLst>
          </p:cNvPr>
          <p:cNvSpPr>
            <a:spLocks noGrp="1" noChangeArrowheads="1"/>
          </p:cNvSpPr>
          <p:nvPr>
            <p:ph type="sldNum" sz="quarter" idx="12"/>
          </p:nvPr>
        </p:nvSpPr>
        <p:spPr>
          <a:ln/>
        </p:spPr>
        <p:txBody>
          <a:bodyPr/>
          <a:lstStyle>
            <a:lvl1pPr>
              <a:defRPr/>
            </a:lvl1pPr>
          </a:lstStyle>
          <a:p>
            <a:fld id="{13CE0B67-CF41-4998-B839-D5064795D707}" type="slidenum">
              <a:rPr lang="en-US" altLang="en-US"/>
              <a:pPr/>
              <a:t>‹#›</a:t>
            </a:fld>
            <a:endParaRPr lang="en-US" altLang="en-US"/>
          </a:p>
        </p:txBody>
      </p:sp>
    </p:spTree>
    <p:extLst>
      <p:ext uri="{BB962C8B-B14F-4D97-AF65-F5344CB8AC3E}">
        <p14:creationId xmlns:p14="http://schemas.microsoft.com/office/powerpoint/2010/main" val="2622889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B070CAFB-5D64-43F3-AB72-B4642C97843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F740BA7C-B80C-42E6-8C2A-A5BE62A43E5E}"/>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77B520D3-BDD5-43C9-9121-8F12C2E7BF2D}"/>
              </a:ext>
            </a:extLst>
          </p:cNvPr>
          <p:cNvSpPr>
            <a:spLocks noGrp="1" noChangeArrowheads="1"/>
          </p:cNvSpPr>
          <p:nvPr>
            <p:ph type="sldNum" sz="quarter" idx="12"/>
          </p:nvPr>
        </p:nvSpPr>
        <p:spPr>
          <a:ln/>
        </p:spPr>
        <p:txBody>
          <a:bodyPr/>
          <a:lstStyle>
            <a:lvl1pPr>
              <a:defRPr/>
            </a:lvl1pPr>
          </a:lstStyle>
          <a:p>
            <a:fld id="{100CD08D-538C-41ED-924E-1FC1BBF6B257}" type="slidenum">
              <a:rPr lang="en-US" altLang="en-US"/>
              <a:pPr/>
              <a:t>‹#›</a:t>
            </a:fld>
            <a:endParaRPr lang="en-US" altLang="en-US"/>
          </a:p>
        </p:txBody>
      </p:sp>
    </p:spTree>
    <p:extLst>
      <p:ext uri="{BB962C8B-B14F-4D97-AF65-F5344CB8AC3E}">
        <p14:creationId xmlns:p14="http://schemas.microsoft.com/office/powerpoint/2010/main" val="3544308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E7E0F233-456E-4D4C-B05E-82B61531FF8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5AC5C8FF-B43D-4105-8DD6-1D976FB32977}"/>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779CDE89-4F79-4935-A4A2-26C4A987D34F}"/>
              </a:ext>
            </a:extLst>
          </p:cNvPr>
          <p:cNvSpPr>
            <a:spLocks noGrp="1" noChangeArrowheads="1"/>
          </p:cNvSpPr>
          <p:nvPr>
            <p:ph type="sldNum" sz="quarter" idx="12"/>
          </p:nvPr>
        </p:nvSpPr>
        <p:spPr>
          <a:ln/>
        </p:spPr>
        <p:txBody>
          <a:bodyPr/>
          <a:lstStyle>
            <a:lvl1pPr>
              <a:defRPr/>
            </a:lvl1pPr>
          </a:lstStyle>
          <a:p>
            <a:fld id="{0D5996A9-5AD3-4DEF-82DB-77A88BF5FB5A}" type="slidenum">
              <a:rPr lang="en-US" altLang="en-US"/>
              <a:pPr/>
              <a:t>‹#›</a:t>
            </a:fld>
            <a:endParaRPr lang="en-US" altLang="en-US"/>
          </a:p>
        </p:txBody>
      </p:sp>
    </p:spTree>
    <p:extLst>
      <p:ext uri="{BB962C8B-B14F-4D97-AF65-F5344CB8AC3E}">
        <p14:creationId xmlns:p14="http://schemas.microsoft.com/office/powerpoint/2010/main" val="3165448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78E105B-EF40-4CEC-9C23-D7D72C65AD2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57038D6-9A1A-481C-8A7B-616C17F3957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102ADCED-5F0A-45D7-AF94-5DC7AEB1B9E9}"/>
              </a:ext>
            </a:extLst>
          </p:cNvPr>
          <p:cNvSpPr>
            <a:spLocks noGrp="1" noChangeArrowheads="1"/>
          </p:cNvSpPr>
          <p:nvPr>
            <p:ph type="sldNum" sz="quarter" idx="12"/>
          </p:nvPr>
        </p:nvSpPr>
        <p:spPr>
          <a:ln/>
        </p:spPr>
        <p:txBody>
          <a:bodyPr/>
          <a:lstStyle>
            <a:lvl1pPr>
              <a:defRPr/>
            </a:lvl1pPr>
          </a:lstStyle>
          <a:p>
            <a:fld id="{8CF8BD36-44E6-4B3E-9729-683334BF7E37}" type="slidenum">
              <a:rPr lang="en-US" altLang="en-US"/>
              <a:pPr/>
              <a:t>‹#›</a:t>
            </a:fld>
            <a:endParaRPr lang="en-US" altLang="en-US"/>
          </a:p>
        </p:txBody>
      </p:sp>
    </p:spTree>
    <p:extLst>
      <p:ext uri="{BB962C8B-B14F-4D97-AF65-F5344CB8AC3E}">
        <p14:creationId xmlns:p14="http://schemas.microsoft.com/office/powerpoint/2010/main" val="565818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7D48248-41AB-4661-BA8A-D442B0E9862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938C38B-23AD-419D-8216-A0E2FEC50626}"/>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AAB9614B-A8A1-4B82-9CB6-4DFF5CE3DEFB}"/>
              </a:ext>
            </a:extLst>
          </p:cNvPr>
          <p:cNvSpPr>
            <a:spLocks noGrp="1" noChangeArrowheads="1"/>
          </p:cNvSpPr>
          <p:nvPr>
            <p:ph type="sldNum" sz="quarter" idx="12"/>
          </p:nvPr>
        </p:nvSpPr>
        <p:spPr>
          <a:ln/>
        </p:spPr>
        <p:txBody>
          <a:bodyPr/>
          <a:lstStyle>
            <a:lvl1pPr>
              <a:defRPr/>
            </a:lvl1pPr>
          </a:lstStyle>
          <a:p>
            <a:fld id="{9913CBCE-AE93-427F-BFB8-2CF3878535E3}" type="slidenum">
              <a:rPr lang="en-US" altLang="en-US"/>
              <a:pPr/>
              <a:t>‹#›</a:t>
            </a:fld>
            <a:endParaRPr lang="en-US" altLang="en-US"/>
          </a:p>
        </p:txBody>
      </p:sp>
    </p:spTree>
    <p:extLst>
      <p:ext uri="{BB962C8B-B14F-4D97-AF65-F5344CB8AC3E}">
        <p14:creationId xmlns:p14="http://schemas.microsoft.com/office/powerpoint/2010/main" val="2995899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E8BD67D6-42E1-4BB0-AB4A-6711CF3E38D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FF21ECE-9467-43B8-B623-B69E8499614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46ECABB0-33E8-4192-B3AB-B3A706B4DC88}"/>
              </a:ext>
            </a:extLst>
          </p:cNvPr>
          <p:cNvSpPr>
            <a:spLocks noGrp="1" noChangeArrowheads="1"/>
          </p:cNvSpPr>
          <p:nvPr>
            <p:ph type="sldNum" sz="quarter" idx="12"/>
          </p:nvPr>
        </p:nvSpPr>
        <p:spPr>
          <a:ln/>
        </p:spPr>
        <p:txBody>
          <a:bodyPr/>
          <a:lstStyle>
            <a:lvl1pPr>
              <a:defRPr/>
            </a:lvl1pPr>
          </a:lstStyle>
          <a:p>
            <a:fld id="{F0E6FB69-F3ED-4D4F-9F1B-60BB64B5A102}" type="slidenum">
              <a:rPr lang="en-US" altLang="en-US"/>
              <a:pPr/>
              <a:t>‹#›</a:t>
            </a:fld>
            <a:endParaRPr lang="en-US" altLang="en-US"/>
          </a:p>
        </p:txBody>
      </p:sp>
    </p:spTree>
    <p:extLst>
      <p:ext uri="{BB962C8B-B14F-4D97-AF65-F5344CB8AC3E}">
        <p14:creationId xmlns:p14="http://schemas.microsoft.com/office/powerpoint/2010/main" val="1015457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1EF23E45-021E-43FA-B1AF-78781E92FEB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95A2E13D-087E-42D9-BEDD-44D560D31E42}"/>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BFDAC59B-EB17-4D07-A6C7-4A9402CAE4C1}"/>
              </a:ext>
            </a:extLst>
          </p:cNvPr>
          <p:cNvSpPr>
            <a:spLocks noGrp="1" noChangeArrowheads="1"/>
          </p:cNvSpPr>
          <p:nvPr>
            <p:ph type="sldNum" sz="quarter" idx="12"/>
          </p:nvPr>
        </p:nvSpPr>
        <p:spPr>
          <a:ln/>
        </p:spPr>
        <p:txBody>
          <a:bodyPr/>
          <a:lstStyle>
            <a:lvl1pPr>
              <a:defRPr/>
            </a:lvl1pPr>
          </a:lstStyle>
          <a:p>
            <a:fld id="{951BD590-48E2-433F-B705-D6E263C4FED6}" type="slidenum">
              <a:rPr lang="en-US" altLang="en-US"/>
              <a:pPr/>
              <a:t>‹#›</a:t>
            </a:fld>
            <a:endParaRPr lang="en-US" altLang="en-US"/>
          </a:p>
        </p:txBody>
      </p:sp>
    </p:spTree>
    <p:extLst>
      <p:ext uri="{BB962C8B-B14F-4D97-AF65-F5344CB8AC3E}">
        <p14:creationId xmlns:p14="http://schemas.microsoft.com/office/powerpoint/2010/main" val="2483123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3758BEDA-242E-4B3D-B796-22A6D0B21AE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CA967050-B6BF-400B-B94E-A6BEF6E6A85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1C84335D-2DAB-447F-9F3E-9E72A8AAA0A6}"/>
              </a:ext>
            </a:extLst>
          </p:cNvPr>
          <p:cNvSpPr>
            <a:spLocks noGrp="1" noChangeArrowheads="1"/>
          </p:cNvSpPr>
          <p:nvPr>
            <p:ph type="sldNum" sz="quarter" idx="12"/>
          </p:nvPr>
        </p:nvSpPr>
        <p:spPr>
          <a:ln/>
        </p:spPr>
        <p:txBody>
          <a:bodyPr/>
          <a:lstStyle>
            <a:lvl1pPr>
              <a:defRPr/>
            </a:lvl1pPr>
          </a:lstStyle>
          <a:p>
            <a:fld id="{D893C920-6BCD-4DD2-AE09-AFB1E02DF533}" type="slidenum">
              <a:rPr lang="en-US" altLang="en-US"/>
              <a:pPr/>
              <a:t>‹#›</a:t>
            </a:fld>
            <a:endParaRPr lang="en-US" altLang="en-US"/>
          </a:p>
        </p:txBody>
      </p:sp>
    </p:spTree>
    <p:extLst>
      <p:ext uri="{BB962C8B-B14F-4D97-AF65-F5344CB8AC3E}">
        <p14:creationId xmlns:p14="http://schemas.microsoft.com/office/powerpoint/2010/main" val="35006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FA5D47F1-119B-4C17-9275-017BBE44B7FB}"/>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sp>
        <p:nvSpPr>
          <p:cNvPr id="2051" name="Rectangle 3">
            <a:extLst>
              <a:ext uri="{FF2B5EF4-FFF2-40B4-BE49-F238E27FC236}">
                <a16:creationId xmlns:a16="http://schemas.microsoft.com/office/drawing/2014/main" id="{1E5132CB-B849-4FCA-8B4D-F2557C98C84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2" name="Rectangle 4">
            <a:extLst>
              <a:ext uri="{FF2B5EF4-FFF2-40B4-BE49-F238E27FC236}">
                <a16:creationId xmlns:a16="http://schemas.microsoft.com/office/drawing/2014/main" id="{74C1A8A8-C86A-4266-A66E-A9BE90E115B3}"/>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4288F469-9161-4E08-8349-71E6E336F56B}"/>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56160937-FDBB-4028-8556-EB1BE530AA0C}"/>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B3DD9170-5447-40F4-8CA8-A3516C789659}"/>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FA06BB41-4ABD-47F4-8FBB-621B02C9CF3A}" type="slidenum">
              <a:rPr lang="en-US" altLang="en-US"/>
              <a:pPr/>
              <a:t>‹#›</a:t>
            </a:fld>
            <a:endParaRPr lang="en-US" altLang="en-US"/>
          </a:p>
        </p:txBody>
      </p:sp>
      <p:grpSp>
        <p:nvGrpSpPr>
          <p:cNvPr id="2056" name="Group 8">
            <a:extLst>
              <a:ext uri="{FF2B5EF4-FFF2-40B4-BE49-F238E27FC236}">
                <a16:creationId xmlns:a16="http://schemas.microsoft.com/office/drawing/2014/main" id="{AE3A48DE-AEA5-4D3A-92C5-9A3E51639F30}"/>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BD482D51-3DBB-4A84-9636-24A8D937B2B9}"/>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8" name="Oval 10">
              <a:extLst>
                <a:ext uri="{FF2B5EF4-FFF2-40B4-BE49-F238E27FC236}">
                  <a16:creationId xmlns:a16="http://schemas.microsoft.com/office/drawing/2014/main" id="{DD77F976-1A26-4C25-85F8-4FFF6F0FA8D3}"/>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9" name="Oval 11">
              <a:extLst>
                <a:ext uri="{FF2B5EF4-FFF2-40B4-BE49-F238E27FC236}">
                  <a16:creationId xmlns:a16="http://schemas.microsoft.com/office/drawing/2014/main" id="{D46EBFFF-173F-4BC5-B3D1-49CDC8241C77}"/>
                </a:ext>
              </a:extLst>
            </p:cNvPr>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0" name="Oval 12">
              <a:extLst>
                <a:ext uri="{FF2B5EF4-FFF2-40B4-BE49-F238E27FC236}">
                  <a16:creationId xmlns:a16="http://schemas.microsoft.com/office/drawing/2014/main" id="{0DBA9E81-19F0-496A-BF95-7F879530DF37}"/>
                </a:ext>
              </a:extLst>
            </p:cNvPr>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1" name="Oval 13">
              <a:extLst>
                <a:ext uri="{FF2B5EF4-FFF2-40B4-BE49-F238E27FC236}">
                  <a16:creationId xmlns:a16="http://schemas.microsoft.com/office/drawing/2014/main" id="{6B1563FE-815A-4D03-AB37-6571CD96AEDC}"/>
                </a:ext>
              </a:extLst>
            </p:cNvPr>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2" name="Oval 14">
              <a:extLst>
                <a:ext uri="{FF2B5EF4-FFF2-40B4-BE49-F238E27FC236}">
                  <a16:creationId xmlns:a16="http://schemas.microsoft.com/office/drawing/2014/main" id="{62F6FAFE-411F-45D4-8A75-6FAEF57AE502}"/>
                </a:ext>
              </a:extLst>
            </p:cNvPr>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3" name="Oval 15">
              <a:extLst>
                <a:ext uri="{FF2B5EF4-FFF2-40B4-BE49-F238E27FC236}">
                  <a16:creationId xmlns:a16="http://schemas.microsoft.com/office/drawing/2014/main" id="{EF64CF44-A92E-4771-A50A-0452B364EC35}"/>
                </a:ext>
              </a:extLst>
            </p:cNvPr>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4" name="Oval 16">
              <a:extLst>
                <a:ext uri="{FF2B5EF4-FFF2-40B4-BE49-F238E27FC236}">
                  <a16:creationId xmlns:a16="http://schemas.microsoft.com/office/drawing/2014/main" id="{17147413-A733-4988-81B6-E2FD52EDB7C3}"/>
                </a:ext>
              </a:extLst>
            </p:cNvPr>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5" name="Oval 17">
              <a:extLst>
                <a:ext uri="{FF2B5EF4-FFF2-40B4-BE49-F238E27FC236}">
                  <a16:creationId xmlns:a16="http://schemas.microsoft.com/office/drawing/2014/main" id="{9CAC825C-5E71-4954-B536-60EE21F31B6A}"/>
                </a:ext>
              </a:extLst>
            </p:cNvPr>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6" name="Oval 18">
              <a:extLst>
                <a:ext uri="{FF2B5EF4-FFF2-40B4-BE49-F238E27FC236}">
                  <a16:creationId xmlns:a16="http://schemas.microsoft.com/office/drawing/2014/main" id="{59080263-6E29-43AA-9AB9-223C04A9E4E5}"/>
                </a:ext>
              </a:extLst>
            </p:cNvPr>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7" name="Oval 19">
              <a:extLst>
                <a:ext uri="{FF2B5EF4-FFF2-40B4-BE49-F238E27FC236}">
                  <a16:creationId xmlns:a16="http://schemas.microsoft.com/office/drawing/2014/main" id="{886E7A4D-515B-4696-B61D-9AAE0463708B}"/>
                </a:ext>
              </a:extLst>
            </p:cNvPr>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8" name="Oval 20">
              <a:extLst>
                <a:ext uri="{FF2B5EF4-FFF2-40B4-BE49-F238E27FC236}">
                  <a16:creationId xmlns:a16="http://schemas.microsoft.com/office/drawing/2014/main" id="{9149FD02-094D-484A-A102-D4651C592058}"/>
                </a:ext>
              </a:extLst>
            </p:cNvPr>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29" name="Oval 21">
              <a:extLst>
                <a:ext uri="{FF2B5EF4-FFF2-40B4-BE49-F238E27FC236}">
                  <a16:creationId xmlns:a16="http://schemas.microsoft.com/office/drawing/2014/main" id="{C259FADD-194D-4DDA-8BDE-A853CA871F39}"/>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30" name="Oval 22">
              <a:extLst>
                <a:ext uri="{FF2B5EF4-FFF2-40B4-BE49-F238E27FC236}">
                  <a16:creationId xmlns:a16="http://schemas.microsoft.com/office/drawing/2014/main" id="{6CBF490B-3CE7-4ED2-B665-2ACBB226FDD7}"/>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1" name="Oval 23">
              <a:extLst>
                <a:ext uri="{FF2B5EF4-FFF2-40B4-BE49-F238E27FC236}">
                  <a16:creationId xmlns:a16="http://schemas.microsoft.com/office/drawing/2014/main" id="{8F21510B-AE81-425A-BDDA-DE0D86CB5A90}"/>
                </a:ext>
              </a:extLst>
            </p:cNvPr>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2" name="Oval 24">
              <a:extLst>
                <a:ext uri="{FF2B5EF4-FFF2-40B4-BE49-F238E27FC236}">
                  <a16:creationId xmlns:a16="http://schemas.microsoft.com/office/drawing/2014/main" id="{01C39AE0-7B9C-4917-BDAC-F1991CA0A45E}"/>
                </a:ext>
              </a:extLst>
            </p:cNvPr>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3" name="Oval 25">
              <a:extLst>
                <a:ext uri="{FF2B5EF4-FFF2-40B4-BE49-F238E27FC236}">
                  <a16:creationId xmlns:a16="http://schemas.microsoft.com/office/drawing/2014/main" id="{EC333796-264E-4151-9C37-0C9FB6B47DC2}"/>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4" name="Oval 26">
              <a:extLst>
                <a:ext uri="{FF2B5EF4-FFF2-40B4-BE49-F238E27FC236}">
                  <a16:creationId xmlns:a16="http://schemas.microsoft.com/office/drawing/2014/main" id="{063FB1D4-9667-46D9-9411-3162667D5865}"/>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5" name="Oval 27">
              <a:extLst>
                <a:ext uri="{FF2B5EF4-FFF2-40B4-BE49-F238E27FC236}">
                  <a16:creationId xmlns:a16="http://schemas.microsoft.com/office/drawing/2014/main" id="{FA54835A-A64D-44C6-A264-906AB0249F60}"/>
                </a:ext>
              </a:extLst>
            </p:cNvPr>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6" name="Oval 28">
              <a:extLst>
                <a:ext uri="{FF2B5EF4-FFF2-40B4-BE49-F238E27FC236}">
                  <a16:creationId xmlns:a16="http://schemas.microsoft.com/office/drawing/2014/main" id="{3AA6A897-0DC3-42A2-9B60-686A5CD717F2}"/>
                </a:ext>
              </a:extLst>
            </p:cNvPr>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7" name="Oval 29">
              <a:extLst>
                <a:ext uri="{FF2B5EF4-FFF2-40B4-BE49-F238E27FC236}">
                  <a16:creationId xmlns:a16="http://schemas.microsoft.com/office/drawing/2014/main" id="{F6861264-5F54-42D0-8BA7-464710FD9A29}"/>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38" name="Oval 30">
              <a:extLst>
                <a:ext uri="{FF2B5EF4-FFF2-40B4-BE49-F238E27FC236}">
                  <a16:creationId xmlns:a16="http://schemas.microsoft.com/office/drawing/2014/main" id="{50EFF20C-2245-4E18-BA60-ADEE42129CC5}"/>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9" name="Oval 31">
              <a:extLst>
                <a:ext uri="{FF2B5EF4-FFF2-40B4-BE49-F238E27FC236}">
                  <a16:creationId xmlns:a16="http://schemas.microsoft.com/office/drawing/2014/main" id="{348D7547-1CCA-4F0E-9C1C-0AD756094082}"/>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0" name="Oval 32">
              <a:extLst>
                <a:ext uri="{FF2B5EF4-FFF2-40B4-BE49-F238E27FC236}">
                  <a16:creationId xmlns:a16="http://schemas.microsoft.com/office/drawing/2014/main" id="{DF636CE8-2068-44E4-954C-5C3F68823092}"/>
                </a:ext>
              </a:extLst>
            </p:cNvPr>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1" name="Oval 33">
              <a:extLst>
                <a:ext uri="{FF2B5EF4-FFF2-40B4-BE49-F238E27FC236}">
                  <a16:creationId xmlns:a16="http://schemas.microsoft.com/office/drawing/2014/main" id="{D54DB295-D4DA-4F2F-BF0D-CAE5503EDCC2}"/>
                </a:ext>
              </a:extLst>
            </p:cNvPr>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2" name="Oval 34">
              <a:extLst>
                <a:ext uri="{FF2B5EF4-FFF2-40B4-BE49-F238E27FC236}">
                  <a16:creationId xmlns:a16="http://schemas.microsoft.com/office/drawing/2014/main" id="{4BA03CB1-D3AD-41EA-A202-823E1B7AAF33}"/>
                </a:ext>
              </a:extLst>
            </p:cNvPr>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3" name="Oval 35">
              <a:extLst>
                <a:ext uri="{FF2B5EF4-FFF2-40B4-BE49-F238E27FC236}">
                  <a16:creationId xmlns:a16="http://schemas.microsoft.com/office/drawing/2014/main" id="{7967C307-99B8-4B33-94D9-DB82D3FCEFFB}"/>
                </a:ext>
              </a:extLst>
            </p:cNvPr>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4" name="Oval 36">
              <a:extLst>
                <a:ext uri="{FF2B5EF4-FFF2-40B4-BE49-F238E27FC236}">
                  <a16:creationId xmlns:a16="http://schemas.microsoft.com/office/drawing/2014/main" id="{9D33E537-B7D5-421D-996C-B6DE2C2D2FD5}"/>
                </a:ext>
              </a:extLst>
            </p:cNvPr>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5" name="Oval 37">
              <a:extLst>
                <a:ext uri="{FF2B5EF4-FFF2-40B4-BE49-F238E27FC236}">
                  <a16:creationId xmlns:a16="http://schemas.microsoft.com/office/drawing/2014/main" id="{F220B444-3857-4994-88D6-C7A34EC7993F}"/>
                </a:ext>
              </a:extLst>
            </p:cNvPr>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6" name="Oval 38">
              <a:extLst>
                <a:ext uri="{FF2B5EF4-FFF2-40B4-BE49-F238E27FC236}">
                  <a16:creationId xmlns:a16="http://schemas.microsoft.com/office/drawing/2014/main" id="{A9A711B6-28B1-45C2-9860-884FD8219C05}"/>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7" name="Oval 39">
              <a:extLst>
                <a:ext uri="{FF2B5EF4-FFF2-40B4-BE49-F238E27FC236}">
                  <a16:creationId xmlns:a16="http://schemas.microsoft.com/office/drawing/2014/main" id="{6C959027-92E4-4A09-ADA5-D23368F3D86B}"/>
                </a:ext>
              </a:extLst>
            </p:cNvPr>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18"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13.tm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Footer Placeholder 3">
            <a:extLst>
              <a:ext uri="{FF2B5EF4-FFF2-40B4-BE49-F238E27FC236}">
                <a16:creationId xmlns:a16="http://schemas.microsoft.com/office/drawing/2014/main" id="{0F42FAC5-8E50-4E1E-9BB9-2F37FAB782B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028" name="Slide Number Placeholder 4">
            <a:extLst>
              <a:ext uri="{FF2B5EF4-FFF2-40B4-BE49-F238E27FC236}">
                <a16:creationId xmlns:a16="http://schemas.microsoft.com/office/drawing/2014/main" id="{DCFC0681-2E86-4FBF-9044-C806CA97CD0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02D6A4C-40A6-4CC3-A42F-1AFD00ACE532}" type="slidenum">
              <a:rPr lang="en-US" altLang="en-US"/>
              <a:pPr eaLnBrk="1" hangingPunct="1"/>
              <a:t>1</a:t>
            </a:fld>
            <a:endParaRPr lang="en-US" altLang="en-US"/>
          </a:p>
        </p:txBody>
      </p:sp>
      <p:graphicFrame>
        <p:nvGraphicFramePr>
          <p:cNvPr id="1026" name="Object 2">
            <a:extLst>
              <a:ext uri="{FF2B5EF4-FFF2-40B4-BE49-F238E27FC236}">
                <a16:creationId xmlns:a16="http://schemas.microsoft.com/office/drawing/2014/main" id="{F3A29356-A092-4F1D-8316-EFD44F30F3E0}"/>
              </a:ext>
            </a:extLst>
          </p:cNvPr>
          <p:cNvGraphicFramePr>
            <a:graphicFrameLocks noGrp="1" noChangeAspect="1"/>
          </p:cNvGraphicFramePr>
          <p:nvPr>
            <p:ph/>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name="Bitmap Image" r:id="rId3" imgW="24238095" imgH="17380952" progId="Paint.Picture">
                  <p:embed/>
                </p:oleObj>
              </mc:Choice>
              <mc:Fallback>
                <p:oleObj name="Bitmap Image" r:id="rId3" imgW="24238095" imgH="17380952"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TextBox 6">
            <a:extLst>
              <a:ext uri="{FF2B5EF4-FFF2-40B4-BE49-F238E27FC236}">
                <a16:creationId xmlns:a16="http://schemas.microsoft.com/office/drawing/2014/main" id="{221B878F-5428-4536-A066-657DBF3121BA}"/>
              </a:ext>
            </a:extLst>
          </p:cNvPr>
          <p:cNvSpPr txBox="1">
            <a:spLocks noChangeArrowheads="1"/>
          </p:cNvSpPr>
          <p:nvPr/>
        </p:nvSpPr>
        <p:spPr bwMode="auto">
          <a:xfrm>
            <a:off x="685800" y="3048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7" name="Rectangle 6">
            <a:extLst>
              <a:ext uri="{FF2B5EF4-FFF2-40B4-BE49-F238E27FC236}">
                <a16:creationId xmlns:a16="http://schemas.microsoft.com/office/drawing/2014/main" id="{85E068D9-3B73-49F3-8748-6C29DB6804B8}"/>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0033CC"/>
              </a:solidFill>
            </a:endParaRPr>
          </a:p>
        </p:txBody>
      </p:sp>
      <p:sp>
        <p:nvSpPr>
          <p:cNvPr id="1031" name="Text Box 3">
            <a:extLst>
              <a:ext uri="{FF2B5EF4-FFF2-40B4-BE49-F238E27FC236}">
                <a16:creationId xmlns:a16="http://schemas.microsoft.com/office/drawing/2014/main" id="{1C6487EA-AE26-4A66-B56A-684DF154E996}"/>
              </a:ext>
            </a:extLst>
          </p:cNvPr>
          <p:cNvSpPr txBox="1">
            <a:spLocks noChangeArrowheads="1"/>
          </p:cNvSpPr>
          <p:nvPr/>
        </p:nvSpPr>
        <p:spPr bwMode="auto">
          <a:xfrm>
            <a:off x="762000" y="44196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11</a:t>
            </a:r>
          </a:p>
        </p:txBody>
      </p:sp>
      <p:sp>
        <p:nvSpPr>
          <p:cNvPr id="1032" name="TextBox 9">
            <a:extLst>
              <a:ext uri="{FF2B5EF4-FFF2-40B4-BE49-F238E27FC236}">
                <a16:creationId xmlns:a16="http://schemas.microsoft.com/office/drawing/2014/main" id="{CD58885C-93E4-43B3-8A8D-6A7F145557D8}"/>
              </a:ext>
            </a:extLst>
          </p:cNvPr>
          <p:cNvSpPr txBox="1">
            <a:spLocks noChangeArrowheads="1"/>
          </p:cNvSpPr>
          <p:nvPr/>
        </p:nvSpPr>
        <p:spPr bwMode="auto">
          <a:xfrm>
            <a:off x="38862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088E9C01-B356-4CD3-AC9D-2D96B28D5CB4}"/>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dirty="0">
                <a:ea typeface="宋体" panose="02010600030101010101" pitchFamily="2" charset="-122"/>
              </a:rPr>
              <a:t>Object-Oriented Design: </a:t>
            </a:r>
            <a:br>
              <a:rPr lang="en-US" altLang="zh-CN" sz="3600" dirty="0">
                <a:ea typeface="宋体" panose="02010600030101010101" pitchFamily="2" charset="-122"/>
              </a:rPr>
            </a:br>
            <a:r>
              <a:rPr lang="en-US" altLang="zh-CN" sz="3600" dirty="0">
                <a:ea typeface="宋体" panose="02010600030101010101" pitchFamily="2" charset="-122"/>
              </a:rPr>
              <a:t>Use Case Realizations</a:t>
            </a:r>
          </a:p>
        </p:txBody>
      </p:sp>
      <p:sp>
        <p:nvSpPr>
          <p:cNvPr id="4099" name="Rectangle 4">
            <a:extLst>
              <a:ext uri="{FF2B5EF4-FFF2-40B4-BE49-F238E27FC236}">
                <a16:creationId xmlns:a16="http://schemas.microsoft.com/office/drawing/2014/main" id="{DD9D0A83-E1F9-43D9-9AFB-863BDCFDCD21}"/>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11</a:t>
            </a:r>
          </a:p>
        </p:txBody>
      </p:sp>
      <p:sp>
        <p:nvSpPr>
          <p:cNvPr id="4100" name="Rectangle 4">
            <a:extLst>
              <a:ext uri="{FF2B5EF4-FFF2-40B4-BE49-F238E27FC236}">
                <a16:creationId xmlns:a16="http://schemas.microsoft.com/office/drawing/2014/main" id="{F86159CC-6E9D-4964-9468-87192B46470E}"/>
              </a:ext>
            </a:extLst>
          </p:cNvPr>
          <p:cNvSpPr>
            <a:spLocks noGrp="1" noChangeArrowheads="1"/>
          </p:cNvSpPr>
          <p:nvPr/>
        </p:nvSpPr>
        <p:spPr bwMode="auto">
          <a:xfrm>
            <a:off x="2438400" y="3352800"/>
            <a:ext cx="4659313" cy="152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Introduction to Systems </a:t>
            </a: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Analysis and Design: </a:t>
            </a: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An Agile, Iteractive Approach </a:t>
            </a: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algn="r" eaLnBrk="1" hangingPunct="1">
              <a:lnSpc>
                <a:spcPct val="80000"/>
              </a:lnSpc>
              <a:spcBef>
                <a:spcPct val="20000"/>
              </a:spcBef>
              <a:buClr>
                <a:schemeClr val="tx2"/>
              </a:buClr>
              <a:buSzPct val="70000"/>
              <a:buFont typeface="Wingdings" panose="05000000000000000000" pitchFamily="2" charset="2"/>
              <a:buNone/>
            </a:pPr>
            <a:endParaRPr lang="en-US" altLang="zh-CN" sz="2400">
              <a:ea typeface="宋体" panose="02010600030101010101" pitchFamily="2" charset="-122"/>
            </a:endParaRPr>
          </a:p>
          <a:p>
            <a:pPr algn="r" eaLnBrk="1" hangingPunct="1">
              <a:lnSpc>
                <a:spcPct val="80000"/>
              </a:lnSpc>
              <a:spcBef>
                <a:spcPct val="20000"/>
              </a:spcBef>
              <a:buClr>
                <a:schemeClr val="tx2"/>
              </a:buClr>
              <a:buSzPct val="70000"/>
              <a:buFont typeface="Wingdings" panose="05000000000000000000" pitchFamily="2" charset="2"/>
              <a:buNone/>
            </a:pPr>
            <a:r>
              <a:rPr lang="en-US" altLang="zh-CN" sz="2400">
                <a:ea typeface="宋体" panose="02010600030101010101" pitchFamily="2" charset="-122"/>
              </a:rPr>
              <a:t>Satzinger, Jackson &amp; Burd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3</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sz="3200" dirty="0">
                <a:ea typeface="宋体" panose="02010600030101010101" pitchFamily="2" charset="-122"/>
              </a:rPr>
              <a:t>Chapter 11 Object-Oriented Design: </a:t>
            </a:r>
            <a:br>
              <a:rPr lang="en-US" altLang="zh-CN" sz="3200" dirty="0">
                <a:ea typeface="宋体" panose="02010600030101010101" pitchFamily="2" charset="-122"/>
              </a:rPr>
            </a:br>
            <a:r>
              <a:rPr lang="en-US" altLang="zh-CN" sz="3200" dirty="0">
                <a:ea typeface="宋体" panose="02010600030101010101" pitchFamily="2" charset="-122"/>
              </a:rPr>
              <a:t>Use Case Realizations</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r>
              <a:rPr lang="zh-CN" altLang="en-US" sz="2400" dirty="0"/>
              <a:t>（多层系统的细节设计）</a:t>
            </a:r>
            <a:endParaRPr lang="en-GB" altLang="zh-CN" sz="2000" dirty="0"/>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a:t>
            </a:r>
            <a:r>
              <a:rPr lang="en-GB" altLang="zh-CN" sz="3000" dirty="0">
                <a:solidFill>
                  <a:srgbClr val="C00000"/>
                </a:solidFill>
              </a:rPr>
              <a:t>Sequence Diagrams</a:t>
            </a:r>
            <a:r>
              <a:rPr lang="zh-CN" altLang="en-US" sz="2400" dirty="0"/>
              <a:t>（用例实现和顺序图）</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3000" dirty="0"/>
              <a:t>Designing with </a:t>
            </a:r>
            <a:r>
              <a:rPr lang="en-GB" altLang="zh-CN" sz="3000" dirty="0">
                <a:solidFill>
                  <a:srgbClr val="C00000"/>
                </a:solidFill>
              </a:rPr>
              <a:t>Communication Diagrams</a:t>
            </a:r>
            <a:r>
              <a:rPr lang="zh-CN" altLang="en-US" sz="2400" dirty="0"/>
              <a:t>（用协作图进行设计）</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a:t>
            </a:r>
            <a:r>
              <a:rPr lang="en-GB" altLang="zh-CN" sz="3000" dirty="0">
                <a:solidFill>
                  <a:srgbClr val="C00000"/>
                </a:solidFill>
              </a:rPr>
              <a:t>Design Classes</a:t>
            </a:r>
            <a:r>
              <a:rPr lang="zh-CN" altLang="en-US" sz="3200" dirty="0"/>
              <a:t> </a:t>
            </a:r>
            <a:r>
              <a:rPr lang="zh-CN" altLang="en-US" sz="2400" dirty="0"/>
              <a:t>（更新和打包设计类图）</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3000" dirty="0"/>
              <a:t>Design Patterns</a:t>
            </a:r>
            <a:r>
              <a:rPr lang="zh-CN" altLang="en-US" sz="2400" dirty="0"/>
              <a:t>（设计模式）</a:t>
            </a:r>
            <a:endParaRPr lang="en-GB" altLang="zh-CN" sz="2400" dirty="0"/>
          </a:p>
          <a:p>
            <a:pPr eaLnBrk="1" hangingPunct="1">
              <a:spcBef>
                <a:spcPct val="20000"/>
              </a:spcBef>
              <a:buClr>
                <a:schemeClr val="tx2"/>
              </a:buClr>
              <a:buSzPct val="70000"/>
              <a:buFont typeface="Wingdings" panose="05000000000000000000" pitchFamily="2" charset="2"/>
              <a:buChar char="l"/>
            </a:pPr>
            <a:endParaRPr lang="en-GB" altLang="zh-CN" sz="3000" dirty="0"/>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8716B0A3-2D17-48FB-BB6B-78F1B5C2AE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CE42704-FD1D-4287-BB1D-137553494759}"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49DEB7ED-F941-483C-999F-584C677A7D48}"/>
              </a:ext>
            </a:extLst>
          </p:cNvPr>
          <p:cNvSpPr>
            <a:spLocks noGrp="1" noChangeArrowheads="1"/>
          </p:cNvSpPr>
          <p:nvPr>
            <p:ph type="title"/>
          </p:nvPr>
        </p:nvSpPr>
        <p:spPr>
          <a:xfrm>
            <a:off x="457200" y="122238"/>
            <a:ext cx="7543800" cy="944562"/>
          </a:xfrm>
        </p:spPr>
        <p:txBody>
          <a:bodyPr/>
          <a:lstStyle/>
          <a:p>
            <a:pPr eaLnBrk="1" hangingPunct="1"/>
            <a:r>
              <a:rPr lang="en-US" altLang="zh-CN">
                <a:ea typeface="宋体" panose="02010600030101010101" pitchFamily="2" charset="-122"/>
              </a:rPr>
              <a:t>Learning Objectives</a:t>
            </a:r>
          </a:p>
        </p:txBody>
      </p:sp>
      <p:sp>
        <p:nvSpPr>
          <p:cNvPr id="6148" name="Rectangle 5">
            <a:extLst>
              <a:ext uri="{FF2B5EF4-FFF2-40B4-BE49-F238E27FC236}">
                <a16:creationId xmlns:a16="http://schemas.microsoft.com/office/drawing/2014/main" id="{17F01E39-FA42-45BA-8697-88E09F13B48E}"/>
              </a:ext>
            </a:extLst>
          </p:cNvPr>
          <p:cNvSpPr>
            <a:spLocks noChangeArrowheads="1"/>
          </p:cNvSpPr>
          <p:nvPr/>
        </p:nvSpPr>
        <p:spPr bwMode="auto">
          <a:xfrm>
            <a:off x="609600" y="1143000"/>
            <a:ext cx="7924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Explain the different types of objects and layers in a design</a:t>
            </a:r>
            <a:r>
              <a:rPr lang="zh-CN" altLang="en-US" sz="2800" dirty="0">
                <a:ea typeface="宋体" panose="02010600030101010101" pitchFamily="2" charset="-122"/>
              </a:rPr>
              <a:t>（解释设计中不同种类的目标和层次）</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sequence diagrams for use case realization</a:t>
            </a:r>
            <a:r>
              <a:rPr lang="zh-CN" altLang="en-US" sz="2800" dirty="0">
                <a:ea typeface="宋体" panose="02010600030101010101" pitchFamily="2" charset="-122"/>
              </a:rPr>
              <a:t>（为实现用例开发顺序图）</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communication diagrams for detailed design</a:t>
            </a:r>
            <a:r>
              <a:rPr lang="zh-CN" altLang="en-US" sz="2800" dirty="0">
                <a:ea typeface="宋体" panose="02010600030101010101" pitchFamily="2" charset="-122"/>
              </a:rPr>
              <a:t>（为细节设计开发协作图）</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updated design class diagrams</a:t>
            </a:r>
            <a:r>
              <a:rPr lang="zh-CN" altLang="en-US" sz="2800" dirty="0">
                <a:ea typeface="宋体" panose="02010600030101010101" pitchFamily="2" charset="-122"/>
              </a:rPr>
              <a:t>（开发更新的设计类图）</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Develop multilayer subsystem packages</a:t>
            </a:r>
            <a:r>
              <a:rPr lang="zh-CN" altLang="en-US" sz="2800" dirty="0">
                <a:ea typeface="宋体" panose="02010600030101010101" pitchFamily="2" charset="-122"/>
              </a:rPr>
              <a:t>（开发多层子系统包）</a:t>
            </a:r>
            <a:endParaRPr lang="en-US" altLang="zh-CN" sz="2800" dirty="0">
              <a:ea typeface="宋体" panose="02010600030101010101" pitchFamily="2" charset="-122"/>
            </a:endParaRPr>
          </a:p>
        </p:txBody>
      </p:sp>
      <p:sp>
        <p:nvSpPr>
          <p:cNvPr id="6149" name="Rectangle 4">
            <a:extLst>
              <a:ext uri="{FF2B5EF4-FFF2-40B4-BE49-F238E27FC236}">
                <a16:creationId xmlns:a16="http://schemas.microsoft.com/office/drawing/2014/main" id="{929E9BD1-8403-4579-B0D1-A0F2188D3ED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6150" name="Footer Placeholder 4">
            <a:extLst>
              <a:ext uri="{FF2B5EF4-FFF2-40B4-BE49-F238E27FC236}">
                <a16:creationId xmlns:a16="http://schemas.microsoft.com/office/drawing/2014/main" id="{419C5EA5-5C3C-4AF7-A86B-55131CE0B53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8716B0A3-2D17-48FB-BB6B-78F1B5C2AE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CE42704-FD1D-4287-BB1D-137553494759}" type="slidenum">
              <a:rPr lang="en-US" altLang="en-US"/>
              <a:pPr eaLnBrk="1" hangingPunct="1"/>
              <a:t>5</a:t>
            </a:fld>
            <a:endParaRPr lang="en-US" altLang="en-US"/>
          </a:p>
        </p:txBody>
      </p:sp>
      <p:sp>
        <p:nvSpPr>
          <p:cNvPr id="6147" name="Rectangle 2">
            <a:extLst>
              <a:ext uri="{FF2B5EF4-FFF2-40B4-BE49-F238E27FC236}">
                <a16:creationId xmlns:a16="http://schemas.microsoft.com/office/drawing/2014/main" id="{49DEB7ED-F941-483C-999F-584C677A7D48}"/>
              </a:ext>
            </a:extLst>
          </p:cNvPr>
          <p:cNvSpPr>
            <a:spLocks noGrp="1" noChangeArrowheads="1"/>
          </p:cNvSpPr>
          <p:nvPr>
            <p:ph type="title"/>
          </p:nvPr>
        </p:nvSpPr>
        <p:spPr>
          <a:xfrm>
            <a:off x="457200" y="122238"/>
            <a:ext cx="7543800" cy="944562"/>
          </a:xfrm>
        </p:spPr>
        <p:txBody>
          <a:bodyPr/>
          <a:lstStyle/>
          <a:p>
            <a:pPr eaLnBrk="1" hangingPunct="1"/>
            <a:r>
              <a:rPr lang="en-US" altLang="zh-CN">
                <a:ea typeface="宋体" panose="02010600030101010101" pitchFamily="2" charset="-122"/>
              </a:rPr>
              <a:t>Learning Objectives</a:t>
            </a:r>
          </a:p>
        </p:txBody>
      </p:sp>
      <p:sp>
        <p:nvSpPr>
          <p:cNvPr id="6148" name="Rectangle 5">
            <a:extLst>
              <a:ext uri="{FF2B5EF4-FFF2-40B4-BE49-F238E27FC236}">
                <a16:creationId xmlns:a16="http://schemas.microsoft.com/office/drawing/2014/main" id="{17F01E39-FA42-45BA-8697-88E09F13B48E}"/>
              </a:ext>
            </a:extLst>
          </p:cNvPr>
          <p:cNvSpPr>
            <a:spLocks noChangeArrowheads="1"/>
          </p:cNvSpPr>
          <p:nvPr/>
        </p:nvSpPr>
        <p:spPr bwMode="auto">
          <a:xfrm>
            <a:off x="609600" y="1143000"/>
            <a:ext cx="8382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800" dirty="0">
                <a:ea typeface="宋体" panose="02010600030101010101" pitchFamily="2" charset="-122"/>
              </a:rPr>
              <a:t>Explain design patterns and recognize various specific patterns</a:t>
            </a:r>
            <a:r>
              <a:rPr lang="zh-CN" altLang="en-US" sz="2800" dirty="0">
                <a:ea typeface="宋体" panose="02010600030101010101" pitchFamily="2" charset="-122"/>
              </a:rPr>
              <a:t>（解释设计模式并识别不同的特殊模式）</a:t>
            </a:r>
            <a:endParaRPr lang="en-US" altLang="zh-CN" sz="28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800" dirty="0"/>
              <a:t>Chapter 10 introduced software design concepts for OO programs, multi-layer design, use case realization using the CRC cards technique, and fundamental design principles</a:t>
            </a:r>
            <a:r>
              <a:rPr lang="zh-CN" altLang="en-US" sz="2800" dirty="0">
                <a:ea typeface="宋体" panose="02010600030101010101" pitchFamily="2" charset="-122"/>
              </a:rPr>
              <a:t>（</a:t>
            </a:r>
            <a:r>
              <a:rPr lang="en-US" altLang="zh-CN" sz="2800" dirty="0">
                <a:ea typeface="宋体" panose="02010600030101010101" pitchFamily="2" charset="-122"/>
              </a:rPr>
              <a:t>10</a:t>
            </a:r>
            <a:r>
              <a:rPr lang="zh-CN" altLang="en-US" sz="2800" dirty="0">
                <a:ea typeface="宋体" panose="02010600030101010101" pitchFamily="2" charset="-122"/>
              </a:rPr>
              <a:t>章介绍了面向对象程序的软件设计概念、多层设计、</a:t>
            </a:r>
            <a:r>
              <a:rPr lang="en-US" altLang="zh-CN" sz="2800" dirty="0">
                <a:ea typeface="宋体" panose="02010600030101010101" pitchFamily="2" charset="-122"/>
              </a:rPr>
              <a:t>CRC</a:t>
            </a:r>
            <a:r>
              <a:rPr lang="zh-CN" altLang="en-US" sz="2800" dirty="0">
                <a:ea typeface="宋体" panose="02010600030101010101" pitchFamily="2" charset="-122"/>
              </a:rPr>
              <a:t>卡技术、基本设计原则）</a:t>
            </a:r>
            <a:r>
              <a:rPr lang="en-US" altLang="zh-CN" sz="2800" dirty="0">
                <a:ea typeface="宋体" panose="02010600030101010101" pitchFamily="2" charset="-122"/>
              </a:rPr>
              <a:t> </a:t>
            </a:r>
          </a:p>
          <a:p>
            <a:pPr eaLnBrk="1" hangingPunct="1">
              <a:spcBef>
                <a:spcPct val="20000"/>
              </a:spcBef>
              <a:buClr>
                <a:schemeClr val="tx2"/>
              </a:buClr>
              <a:buSzPct val="70000"/>
              <a:buFont typeface="Wingdings" panose="05000000000000000000" pitchFamily="2" charset="2"/>
              <a:buChar char="l"/>
            </a:pPr>
            <a:r>
              <a:rPr lang="en-US" altLang="zh-CN" sz="2800" dirty="0"/>
              <a:t>This chapter continues the discussion of OO software design at a more advanced level</a:t>
            </a:r>
            <a:r>
              <a:rPr lang="zh-CN" altLang="en-US" sz="2800" dirty="0">
                <a:ea typeface="宋体" panose="02010600030101010101" pitchFamily="2" charset="-122"/>
              </a:rPr>
              <a:t>（本章继续在更高级的层面上讨论面向对象软件设计）</a:t>
            </a:r>
          </a:p>
          <a:p>
            <a:pPr eaLnBrk="1" hangingPunct="1">
              <a:spcBef>
                <a:spcPct val="20000"/>
              </a:spcBef>
              <a:buClr>
                <a:schemeClr val="tx2"/>
              </a:buClr>
              <a:buSzPct val="70000"/>
              <a:buFont typeface="Wingdings" panose="05000000000000000000" pitchFamily="2" charset="2"/>
              <a:buChar char="l"/>
            </a:pPr>
            <a:endParaRPr lang="en-US" altLang="zh-CN" sz="2800" dirty="0"/>
          </a:p>
          <a:p>
            <a:pPr eaLnBrk="1" hangingPunct="1">
              <a:spcBef>
                <a:spcPct val="20000"/>
              </a:spcBef>
              <a:buClr>
                <a:schemeClr val="tx2"/>
              </a:buClr>
              <a:buSzPct val="70000"/>
              <a:buFont typeface="Wingdings" panose="05000000000000000000" pitchFamily="2" charset="2"/>
              <a:buChar char="l"/>
            </a:pPr>
            <a:endParaRPr lang="en-GB" altLang="zh-CN" sz="2800" dirty="0"/>
          </a:p>
        </p:txBody>
      </p:sp>
    </p:spTree>
    <p:extLst>
      <p:ext uri="{BB962C8B-B14F-4D97-AF65-F5344CB8AC3E}">
        <p14:creationId xmlns:p14="http://schemas.microsoft.com/office/powerpoint/2010/main" val="82532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6</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Detailed Design of Multilayer Systems</a:t>
            </a:r>
            <a:r>
              <a:rPr lang="zh-CN" altLang="en-US" sz="3000" dirty="0">
                <a:solidFill>
                  <a:srgbClr val="C00000"/>
                </a:solidFill>
              </a:rPr>
              <a:t>（多层系统的细节设计）</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Sequence Diagrams</a:t>
            </a:r>
          </a:p>
          <a:p>
            <a:pPr eaLnBrk="1" hangingPunct="1">
              <a:spcBef>
                <a:spcPct val="20000"/>
              </a:spcBef>
              <a:buClr>
                <a:schemeClr val="tx2"/>
              </a:buClr>
              <a:buSzPct val="70000"/>
              <a:buFont typeface="Wingdings" panose="05000000000000000000" pitchFamily="2" charset="2"/>
              <a:buChar char="l"/>
            </a:pPr>
            <a:r>
              <a:rPr lang="en-GB" altLang="zh-CN" sz="3000" dirty="0"/>
              <a:t>Designing with Communication Diagrams</a:t>
            </a:r>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Design Classes</a:t>
            </a: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697230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C3F66B9D-B66C-498F-9AC9-BA333E68A4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E7FE48F-6096-4987-9467-40147CF01805}" type="slidenum">
              <a:rPr lang="en-US" altLang="en-US"/>
              <a:pPr eaLnBrk="1" hangingPunct="1"/>
              <a:t>7</a:t>
            </a:fld>
            <a:endParaRPr lang="en-US" altLang="en-US"/>
          </a:p>
        </p:txBody>
      </p:sp>
      <p:sp>
        <p:nvSpPr>
          <p:cNvPr id="8195" name="Rectangle 2">
            <a:extLst>
              <a:ext uri="{FF2B5EF4-FFF2-40B4-BE49-F238E27FC236}">
                <a16:creationId xmlns:a16="http://schemas.microsoft.com/office/drawing/2014/main" id="{54FA0975-4E3F-48B4-AC8E-B1785FA92183}"/>
              </a:ext>
            </a:extLst>
          </p:cNvPr>
          <p:cNvSpPr>
            <a:spLocks noGrp="1" noChangeArrowheads="1"/>
          </p:cNvSpPr>
          <p:nvPr>
            <p:ph type="title"/>
          </p:nvPr>
        </p:nvSpPr>
        <p:spPr>
          <a:xfrm>
            <a:off x="304800" y="122238"/>
            <a:ext cx="7696200" cy="1325562"/>
          </a:xfrm>
        </p:spPr>
        <p:txBody>
          <a:bodyPr/>
          <a:lstStyle/>
          <a:p>
            <a:pPr eaLnBrk="1" hangingPunct="1"/>
            <a:r>
              <a:rPr lang="en-US" altLang="zh-CN" sz="4000">
                <a:ea typeface="宋体" panose="02010600030101010101" pitchFamily="2" charset="-122"/>
              </a:rPr>
              <a:t>Detailed Design of Multilayer Systems</a:t>
            </a:r>
            <a:endParaRPr lang="en-US" altLang="zh-CN" sz="3200">
              <a:ea typeface="宋体" panose="02010600030101010101" pitchFamily="2" charset="-122"/>
            </a:endParaRPr>
          </a:p>
        </p:txBody>
      </p:sp>
      <p:sp>
        <p:nvSpPr>
          <p:cNvPr id="8196" name="Rectangle 3">
            <a:extLst>
              <a:ext uri="{FF2B5EF4-FFF2-40B4-BE49-F238E27FC236}">
                <a16:creationId xmlns:a16="http://schemas.microsoft.com/office/drawing/2014/main" id="{35B18E2D-DD79-4742-87F3-499740F63940}"/>
              </a:ext>
            </a:extLst>
          </p:cNvPr>
          <p:cNvSpPr>
            <a:spLocks noGrp="1" noChangeArrowheads="1"/>
          </p:cNvSpPr>
          <p:nvPr>
            <p:ph type="body" idx="1"/>
          </p:nvPr>
        </p:nvSpPr>
        <p:spPr>
          <a:xfrm>
            <a:off x="304800" y="1447800"/>
            <a:ext cx="8610600" cy="4724400"/>
          </a:xfrm>
        </p:spPr>
        <p:txBody>
          <a:bodyPr/>
          <a:lstStyle/>
          <a:p>
            <a:pPr eaLnBrk="1" hangingPunct="1"/>
            <a:r>
              <a:rPr lang="en-US" altLang="zh-CN" sz="2800" dirty="0">
                <a:ea typeface="宋体" panose="02010600030101010101" pitchFamily="2" charset="-122"/>
              </a:rPr>
              <a:t>CRC Cards focuses on the business logic, also known as problem domain layer of classes</a:t>
            </a:r>
            <a:r>
              <a:rPr lang="zh-CN" altLang="en-US" sz="2800" dirty="0">
                <a:ea typeface="宋体" panose="02010600030101010101" pitchFamily="2" charset="-122"/>
              </a:rPr>
              <a:t>（</a:t>
            </a:r>
            <a:r>
              <a:rPr lang="en-US" altLang="zh-CN" sz="2800" dirty="0">
                <a:ea typeface="宋体" panose="02010600030101010101" pitchFamily="2" charset="-122"/>
              </a:rPr>
              <a:t>CRC</a:t>
            </a:r>
            <a:r>
              <a:rPr lang="zh-CN" altLang="en-US" sz="2800" dirty="0">
                <a:ea typeface="宋体" panose="02010600030101010101" pitchFamily="2" charset="-122"/>
              </a:rPr>
              <a:t>卡主要关注业务逻辑，也就是类的问题域层）</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Three layers include </a:t>
            </a:r>
            <a:r>
              <a:rPr lang="en-US" altLang="zh-CN" sz="2800" dirty="0">
                <a:solidFill>
                  <a:srgbClr val="C00000"/>
                </a:solidFill>
                <a:ea typeface="宋体" panose="02010600030101010101" pitchFamily="2" charset="-122"/>
              </a:rPr>
              <a:t>view layer, business logic/problem domain layer, and data access layer</a:t>
            </a:r>
            <a:r>
              <a:rPr lang="zh-CN" altLang="en-US" sz="2800" dirty="0">
                <a:solidFill>
                  <a:srgbClr val="C00000"/>
                </a:solidFill>
                <a:ea typeface="宋体" panose="02010600030101010101" pitchFamily="2" charset="-122"/>
              </a:rPr>
              <a:t>（本章关注的三层系统包括视图层、业务逻辑</a:t>
            </a:r>
            <a:r>
              <a:rPr lang="en-US" altLang="zh-CN" sz="2800" dirty="0">
                <a:solidFill>
                  <a:srgbClr val="C00000"/>
                </a:solidFill>
                <a:ea typeface="宋体" panose="02010600030101010101" pitchFamily="2" charset="-122"/>
              </a:rPr>
              <a:t>/</a:t>
            </a:r>
            <a:r>
              <a:rPr lang="zh-CN" altLang="en-US" sz="2800" dirty="0">
                <a:solidFill>
                  <a:srgbClr val="C00000"/>
                </a:solidFill>
                <a:ea typeface="宋体" panose="02010600030101010101" pitchFamily="2" charset="-122"/>
              </a:rPr>
              <a:t>问题域层和数据访问层）</a:t>
            </a:r>
            <a:r>
              <a:rPr lang="en-US" altLang="zh-CN" sz="2800" dirty="0">
                <a:solidFill>
                  <a:srgbClr val="C00000"/>
                </a:solidFill>
                <a:ea typeface="宋体" panose="02010600030101010101" pitchFamily="2" charset="-122"/>
              </a:rPr>
              <a:t> </a:t>
            </a:r>
          </a:p>
          <a:p>
            <a:pPr eaLnBrk="1" hangingPunct="1"/>
            <a:endParaRPr lang="en-US" altLang="zh-CN" sz="2400" dirty="0">
              <a:ea typeface="宋体" panose="02010600030101010101" pitchFamily="2" charset="-122"/>
            </a:endParaRPr>
          </a:p>
        </p:txBody>
      </p:sp>
      <p:sp>
        <p:nvSpPr>
          <p:cNvPr id="8197" name="Rectangle 4">
            <a:extLst>
              <a:ext uri="{FF2B5EF4-FFF2-40B4-BE49-F238E27FC236}">
                <a16:creationId xmlns:a16="http://schemas.microsoft.com/office/drawing/2014/main" id="{0F9241A0-E5C5-40BB-A682-085823F5932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198" name="Footer Placeholder 4">
            <a:extLst>
              <a:ext uri="{FF2B5EF4-FFF2-40B4-BE49-F238E27FC236}">
                <a16:creationId xmlns:a16="http://schemas.microsoft.com/office/drawing/2014/main" id="{F2FABA63-D801-445E-BD98-02F0B7895B0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8</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eaLnBrk="1" hangingPunct="1"/>
            <a:r>
              <a:rPr lang="en-US" altLang="zh-CN" sz="2600" dirty="0">
                <a:ea typeface="宋体" panose="02010600030101010101" pitchFamily="2" charset="-122"/>
              </a:rPr>
              <a:t>Design Pattern</a:t>
            </a:r>
            <a:r>
              <a:rPr lang="zh-CN" altLang="en-US" sz="2600" dirty="0">
                <a:ea typeface="宋体" panose="02010600030101010101" pitchFamily="2" charset="-122"/>
              </a:rPr>
              <a:t>（设计模式）</a:t>
            </a:r>
            <a:r>
              <a:rPr lang="en-US" altLang="zh-CN" sz="2600" dirty="0">
                <a:ea typeface="宋体" panose="02010600030101010101" pitchFamily="2" charset="-122"/>
              </a:rPr>
              <a:t>—standard design techniques and templates that are widely recognized as good practice</a:t>
            </a:r>
            <a:r>
              <a:rPr lang="zh-CN" altLang="en-US" sz="2600" dirty="0">
                <a:ea typeface="宋体" panose="02010600030101010101" pitchFamily="2" charset="-122"/>
              </a:rPr>
              <a:t>（被广泛认为是良好实践的标准设计技术和模板）</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For common design/coding problems, the design pattern suggests the best way to handle the problem. </a:t>
            </a:r>
            <a:r>
              <a:rPr lang="zh-CN" altLang="en-US" sz="2600" dirty="0">
                <a:ea typeface="宋体" panose="02010600030101010101" pitchFamily="2" charset="-122"/>
              </a:rPr>
              <a:t>（对于常见的设计</a:t>
            </a:r>
            <a:r>
              <a:rPr lang="en-US" altLang="zh-CN" sz="2600" dirty="0">
                <a:ea typeface="宋体" panose="02010600030101010101" pitchFamily="2" charset="-122"/>
              </a:rPr>
              <a:t>/</a:t>
            </a:r>
            <a:r>
              <a:rPr lang="zh-CN" altLang="en-US" sz="2600" dirty="0">
                <a:ea typeface="宋体" panose="02010600030101010101" pitchFamily="2" charset="-122"/>
              </a:rPr>
              <a:t>编码问题，设计模式建议了处理问题的最佳方法）</a:t>
            </a:r>
            <a:endParaRPr lang="en-US" altLang="zh-CN" sz="26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222" name="Footer Placeholder 4">
            <a:extLst>
              <a:ext uri="{FF2B5EF4-FFF2-40B4-BE49-F238E27FC236}">
                <a16:creationId xmlns:a16="http://schemas.microsoft.com/office/drawing/2014/main" id="{F1CC2D5D-FFC1-4083-944B-099D198FA5B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9</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eaLnBrk="1" hangingPunct="1"/>
            <a:r>
              <a:rPr lang="zh-CN" altLang="en-US" sz="2600" dirty="0">
                <a:ea typeface="宋体" panose="02010600030101010101" pitchFamily="2" charset="-122"/>
              </a:rPr>
              <a:t>程序设计模式分为创建型模式、结构型模式、行为型模式三种</a:t>
            </a:r>
            <a:r>
              <a:rPr lang="zh-CN" altLang="en-US" sz="2200" dirty="0">
                <a:ea typeface="宋体" panose="02010600030101010101" pitchFamily="2" charset="-122"/>
              </a:rPr>
              <a:t>：</a:t>
            </a:r>
            <a:endParaRPr lang="en-US" altLang="zh-CN" sz="2200" dirty="0">
              <a:ea typeface="宋体" panose="02010600030101010101" pitchFamily="2" charset="-122"/>
            </a:endParaRPr>
          </a:p>
          <a:p>
            <a:pPr lvl="1" eaLnBrk="1" hangingPunct="1"/>
            <a:r>
              <a:rPr lang="zh-CN" altLang="en-US" sz="2200" b="1" dirty="0">
                <a:ea typeface="宋体" panose="02010600030101010101" pitchFamily="2" charset="-122"/>
              </a:rPr>
              <a:t>创建型模式：</a:t>
            </a:r>
            <a:r>
              <a:rPr lang="zh-CN" altLang="en-US" sz="2200" dirty="0">
                <a:ea typeface="宋体" panose="02010600030101010101" pitchFamily="2" charset="-122"/>
              </a:rPr>
              <a:t>包括工厂方法模式、抽象工厂模式、单例模式、建造者模式、原型模式</a:t>
            </a:r>
            <a:endParaRPr lang="en-US" altLang="zh-CN" sz="2200" dirty="0">
              <a:ea typeface="宋体" panose="02010600030101010101" pitchFamily="2" charset="-122"/>
            </a:endParaRPr>
          </a:p>
          <a:p>
            <a:pPr lvl="2" eaLnBrk="1" hangingPunct="1"/>
            <a:r>
              <a:rPr lang="zh-CN" altLang="en-US" sz="1900" b="1" dirty="0">
                <a:ea typeface="宋体" panose="02010600030101010101" pitchFamily="2" charset="-122"/>
              </a:rPr>
              <a:t>工厂方法模式：</a:t>
            </a:r>
            <a:r>
              <a:rPr lang="zh-CN" altLang="en-US" sz="1900" dirty="0">
                <a:ea typeface="宋体" panose="02010600030101010101" pitchFamily="2" charset="-122"/>
              </a:rPr>
              <a:t>定义一个用于创建对象的接口，让子类决定实例化哪一个类，</a:t>
            </a:r>
            <a:r>
              <a:rPr lang="en-US" altLang="zh-CN" sz="1900" dirty="0">
                <a:ea typeface="宋体" panose="02010600030101010101" pitchFamily="2" charset="-122"/>
              </a:rPr>
              <a:t>Factory Method</a:t>
            </a:r>
            <a:r>
              <a:rPr lang="zh-CN" altLang="en-US" sz="1900" dirty="0">
                <a:ea typeface="宋体" panose="02010600030101010101" pitchFamily="2" charset="-122"/>
              </a:rPr>
              <a:t>使得一个类的实例化延迟到了子类</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抽象工厂模式：</a:t>
            </a:r>
            <a:r>
              <a:rPr lang="zh-CN" altLang="en-US" sz="1900" dirty="0">
                <a:ea typeface="宋体" panose="02010600030101010101" pitchFamily="2" charset="-122"/>
              </a:rPr>
              <a:t>提供一个创建一系列相关或相互依赖对象的接口，而无需制定他们的具体类</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单例模式：</a:t>
            </a:r>
            <a:r>
              <a:rPr lang="zh-CN" altLang="en-US" sz="1900" dirty="0">
                <a:ea typeface="宋体" panose="02010600030101010101" pitchFamily="2" charset="-122"/>
              </a:rPr>
              <a:t>保证一个类只有一个实例，并提供一个访问它的全局访问点</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建造者模式：</a:t>
            </a:r>
            <a:r>
              <a:rPr lang="zh-CN" altLang="en-US" sz="1900" dirty="0">
                <a:ea typeface="宋体" panose="02010600030101010101" pitchFamily="2" charset="-122"/>
              </a:rPr>
              <a:t>将一个复杂对象的构建与它的表示相分离，是的同样的构建过程可以创建不同的表示</a:t>
            </a:r>
            <a:endParaRPr lang="en-US" altLang="zh-CN" sz="1900" dirty="0">
              <a:ea typeface="宋体" panose="02010600030101010101" pitchFamily="2" charset="-122"/>
            </a:endParaRPr>
          </a:p>
          <a:p>
            <a:pPr lvl="2" eaLnBrk="1" hangingPunct="1"/>
            <a:r>
              <a:rPr lang="zh-CN" altLang="en-US" sz="1900" b="1" dirty="0">
                <a:ea typeface="宋体" panose="02010600030101010101" pitchFamily="2" charset="-122"/>
              </a:rPr>
              <a:t>原型模式：</a:t>
            </a:r>
            <a:r>
              <a:rPr lang="zh-CN" altLang="en-US" sz="1900" dirty="0">
                <a:ea typeface="宋体" panose="02010600030101010101" pitchFamily="2" charset="-122"/>
              </a:rPr>
              <a:t>用原型实例制定创建对象的种类，并且通过拷贝这些原型来创建新的对象</a:t>
            </a:r>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222" name="Footer Placeholder 4">
            <a:extLst>
              <a:ext uri="{FF2B5EF4-FFF2-40B4-BE49-F238E27FC236}">
                <a16:creationId xmlns:a16="http://schemas.microsoft.com/office/drawing/2014/main" id="{F1CC2D5D-FFC1-4083-944B-099D198FA5B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25269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10</a:t>
            </a:fld>
            <a:endParaRPr lang="en-US" altLang="en-US"/>
          </a:p>
        </p:txBody>
      </p:sp>
      <p:sp>
        <p:nvSpPr>
          <p:cNvPr id="40963" name="Rectangle 2">
            <a:extLst>
              <a:ext uri="{FF2B5EF4-FFF2-40B4-BE49-F238E27FC236}">
                <a16:creationId xmlns:a16="http://schemas.microsoft.com/office/drawing/2014/main" id="{F7C2C492-7CBE-405F-935C-086670012A84}"/>
              </a:ext>
            </a:extLst>
          </p:cNvPr>
          <p:cNvSpPr>
            <a:spLocks noGrp="1" noChangeArrowheads="1"/>
          </p:cNvSpPr>
          <p:nvPr>
            <p:ph type="title"/>
          </p:nvPr>
        </p:nvSpPr>
        <p:spPr>
          <a:xfrm>
            <a:off x="228600" y="533400"/>
            <a:ext cx="2667000" cy="2544762"/>
          </a:xfrm>
        </p:spPr>
        <p:txBody>
          <a:bodyPr/>
          <a:lstStyle/>
          <a:p>
            <a:pPr eaLnBrk="1" hangingPunct="1"/>
            <a:r>
              <a:rPr lang="en-US" altLang="zh-CN" sz="3600" dirty="0">
                <a:ea typeface="宋体" panose="02010600030101010101" pitchFamily="2" charset="-122"/>
              </a:rPr>
              <a:t>Factory Design Pattern</a:t>
            </a:r>
            <a:br>
              <a:rPr lang="en-US" altLang="zh-CN" sz="3600" dirty="0">
                <a:ea typeface="宋体" panose="02010600030101010101" pitchFamily="2" charset="-122"/>
              </a:rPr>
            </a:br>
            <a:r>
              <a:rPr lang="zh-CN" altLang="en-US" sz="3600" dirty="0">
                <a:ea typeface="宋体" panose="02010600030101010101" pitchFamily="2" charset="-122"/>
              </a:rPr>
              <a:t>（工厂模式）</a:t>
            </a:r>
            <a:endParaRPr lang="en-US" altLang="zh-CN" sz="2800" dirty="0">
              <a:ea typeface="宋体" panose="02010600030101010101" pitchFamily="2" charset="-122"/>
            </a:endParaRPr>
          </a:p>
        </p:txBody>
      </p:sp>
      <p:pic>
        <p:nvPicPr>
          <p:cNvPr id="40964" name="Picture 5">
            <a:extLst>
              <a:ext uri="{FF2B5EF4-FFF2-40B4-BE49-F238E27FC236}">
                <a16:creationId xmlns:a16="http://schemas.microsoft.com/office/drawing/2014/main" id="{D0456538-84E1-4BC2-9A7D-C3A0523F5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28600"/>
            <a:ext cx="526415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0966" name="Footer Placeholder 4">
            <a:extLst>
              <a:ext uri="{FF2B5EF4-FFF2-40B4-BE49-F238E27FC236}">
                <a16:creationId xmlns:a16="http://schemas.microsoft.com/office/drawing/2014/main" id="{6D4D4108-8329-46C4-A3F1-C934B6B81DF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F2F3F588-7505-4732-B2A9-8C3AF7D27C2B}"/>
              </a:ext>
            </a:extLst>
          </p:cNvPr>
          <p:cNvSpPr/>
          <p:nvPr/>
        </p:nvSpPr>
        <p:spPr>
          <a:xfrm>
            <a:off x="6705600" y="4419600"/>
            <a:ext cx="1143000" cy="1295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53B337D-5E6B-43DC-8B31-CD18C5BCDE51}"/>
              </a:ext>
            </a:extLst>
          </p:cNvPr>
          <p:cNvSpPr/>
          <p:nvPr/>
        </p:nvSpPr>
        <p:spPr>
          <a:xfrm>
            <a:off x="6477000" y="3276600"/>
            <a:ext cx="1066800" cy="11430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915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11</a:t>
            </a:fld>
            <a:endParaRPr lang="en-US" altLang="en-US"/>
          </a:p>
        </p:txBody>
      </p:sp>
      <p:sp>
        <p:nvSpPr>
          <p:cNvPr id="40963" name="Rectangle 2">
            <a:extLst>
              <a:ext uri="{FF2B5EF4-FFF2-40B4-BE49-F238E27FC236}">
                <a16:creationId xmlns:a16="http://schemas.microsoft.com/office/drawing/2014/main" id="{F7C2C492-7CBE-405F-935C-086670012A84}"/>
              </a:ext>
            </a:extLst>
          </p:cNvPr>
          <p:cNvSpPr>
            <a:spLocks noGrp="1" noChangeArrowheads="1"/>
          </p:cNvSpPr>
          <p:nvPr>
            <p:ph type="title"/>
          </p:nvPr>
        </p:nvSpPr>
        <p:spPr>
          <a:xfrm>
            <a:off x="228600" y="533400"/>
            <a:ext cx="2667000" cy="2544762"/>
          </a:xfrm>
        </p:spPr>
        <p:txBody>
          <a:bodyPr/>
          <a:lstStyle/>
          <a:p>
            <a:pPr eaLnBrk="1" hangingPunct="1"/>
            <a:r>
              <a:rPr lang="en-US" altLang="zh-CN" sz="3600" dirty="0">
                <a:ea typeface="宋体" panose="02010600030101010101" pitchFamily="2" charset="-122"/>
              </a:rPr>
              <a:t>Factory Design Pattern</a:t>
            </a:r>
            <a:br>
              <a:rPr lang="en-US" altLang="zh-CN" sz="3600" dirty="0">
                <a:ea typeface="宋体" panose="02010600030101010101" pitchFamily="2" charset="-122"/>
              </a:rPr>
            </a:br>
            <a:r>
              <a:rPr lang="zh-CN" altLang="en-US" sz="3600" dirty="0">
                <a:ea typeface="宋体" panose="02010600030101010101" pitchFamily="2" charset="-122"/>
              </a:rPr>
              <a:t>（工厂模式）</a:t>
            </a:r>
            <a:endParaRPr lang="en-US" altLang="zh-CN" sz="2800" dirty="0">
              <a:ea typeface="宋体" panose="02010600030101010101" pitchFamily="2" charset="-122"/>
            </a:endParaRPr>
          </a:p>
        </p:txBody>
      </p:sp>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0966" name="Footer Placeholder 4">
            <a:extLst>
              <a:ext uri="{FF2B5EF4-FFF2-40B4-BE49-F238E27FC236}">
                <a16:creationId xmlns:a16="http://schemas.microsoft.com/office/drawing/2014/main" id="{6D4D4108-8329-46C4-A3F1-C934B6B81DF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0" name="文本框 9">
            <a:extLst>
              <a:ext uri="{FF2B5EF4-FFF2-40B4-BE49-F238E27FC236}">
                <a16:creationId xmlns:a16="http://schemas.microsoft.com/office/drawing/2014/main" id="{B65F424C-9D17-47DE-B6BF-8CD677C94447}"/>
              </a:ext>
            </a:extLst>
          </p:cNvPr>
          <p:cNvSpPr txBox="1"/>
          <p:nvPr/>
        </p:nvSpPr>
        <p:spPr>
          <a:xfrm>
            <a:off x="2895600" y="452803"/>
            <a:ext cx="5105400" cy="5632311"/>
          </a:xfrm>
          <a:prstGeom prst="rect">
            <a:avLst/>
          </a:prstGeom>
          <a:noFill/>
        </p:spPr>
        <p:txBody>
          <a:bodyPr wrap="square">
            <a:spAutoFit/>
          </a:bodyPr>
          <a:lstStyle/>
          <a:p>
            <a:r>
              <a:rPr lang="zh-CN" altLang="en-US" b="1" dirty="0"/>
              <a:t>问题：</a:t>
            </a:r>
            <a:r>
              <a:rPr lang="zh-CN" altLang="en-US" dirty="0"/>
              <a:t>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b="1" dirty="0"/>
              <a:t>解决方案：</a:t>
            </a:r>
            <a:r>
              <a:rPr lang="zh-CN" altLang="en-US" dirty="0"/>
              <a:t>创建一个工厂类。它的责任仅仅是实例化工具类</a:t>
            </a:r>
            <a:endParaRPr lang="en-US" altLang="zh-CN" dirty="0"/>
          </a:p>
          <a:p>
            <a:endParaRPr lang="en-US" altLang="zh-CN" dirty="0"/>
          </a:p>
          <a:p>
            <a:r>
              <a:rPr lang="zh-CN" altLang="en-US" b="1"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b="1" dirty="0"/>
              <a:t>优点和结果：</a:t>
            </a:r>
            <a:r>
              <a:rPr lang="zh-CN" altLang="en-US" dirty="0"/>
              <a:t>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p:txBody>
      </p:sp>
    </p:spTree>
    <p:extLst>
      <p:ext uri="{BB962C8B-B14F-4D97-AF65-F5344CB8AC3E}">
        <p14:creationId xmlns:p14="http://schemas.microsoft.com/office/powerpoint/2010/main" val="3609133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EFB4BFB-5A2B-4C31-AD18-BD28996B1E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53E030-3DD2-42CD-857E-619A79F321F0}" type="slidenum">
              <a:rPr lang="en-US" altLang="en-US"/>
              <a:pPr eaLnBrk="1" hangingPunct="1"/>
              <a:t>12</a:t>
            </a:fld>
            <a:endParaRPr lang="en-US" altLang="en-US"/>
          </a:p>
        </p:txBody>
      </p:sp>
      <p:sp>
        <p:nvSpPr>
          <p:cNvPr id="41987" name="Rectangle 2">
            <a:extLst>
              <a:ext uri="{FF2B5EF4-FFF2-40B4-BE49-F238E27FC236}">
                <a16:creationId xmlns:a16="http://schemas.microsoft.com/office/drawing/2014/main" id="{2FD15CA4-9849-4635-9FC7-9C5645C133AF}"/>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Singleton Design Pattern</a:t>
            </a:r>
            <a:br>
              <a:rPr lang="en-US" altLang="zh-CN" sz="3600" dirty="0">
                <a:ea typeface="宋体" panose="02010600030101010101" pitchFamily="2" charset="-122"/>
              </a:rPr>
            </a:br>
            <a:r>
              <a:rPr lang="zh-CN" altLang="en-US" sz="3600" dirty="0">
                <a:ea typeface="宋体" panose="02010600030101010101" pitchFamily="2" charset="-122"/>
              </a:rPr>
              <a:t>（单例）</a:t>
            </a:r>
            <a:endParaRPr lang="en-US" altLang="zh-CN" sz="2800" dirty="0">
              <a:ea typeface="宋体" panose="02010600030101010101" pitchFamily="2" charset="-122"/>
            </a:endParaRPr>
          </a:p>
        </p:txBody>
      </p:sp>
      <p:pic>
        <p:nvPicPr>
          <p:cNvPr id="41988" name="Picture 4">
            <a:extLst>
              <a:ext uri="{FF2B5EF4-FFF2-40B4-BE49-F238E27FC236}">
                <a16:creationId xmlns:a16="http://schemas.microsoft.com/office/drawing/2014/main" id="{780811E0-9BD3-43AE-B179-18389566C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5" y="152400"/>
            <a:ext cx="5991225" cy="611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4">
            <a:extLst>
              <a:ext uri="{FF2B5EF4-FFF2-40B4-BE49-F238E27FC236}">
                <a16:creationId xmlns:a16="http://schemas.microsoft.com/office/drawing/2014/main" id="{5BE478FA-227F-422E-BC4A-D43A7AAB9E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0" name="Footer Placeholder 4">
            <a:extLst>
              <a:ext uri="{FF2B5EF4-FFF2-40B4-BE49-F238E27FC236}">
                <a16:creationId xmlns:a16="http://schemas.microsoft.com/office/drawing/2014/main" id="{C791F680-91B8-4871-8D1C-8EE9A7622A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66FE2DD9-BC01-4C80-AE29-2FD648CD4A99}"/>
              </a:ext>
            </a:extLst>
          </p:cNvPr>
          <p:cNvSpPr/>
          <p:nvPr/>
        </p:nvSpPr>
        <p:spPr>
          <a:xfrm>
            <a:off x="3886200" y="3048000"/>
            <a:ext cx="3124200" cy="1219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2450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EFB4BFB-5A2B-4C31-AD18-BD28996B1E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53E030-3DD2-42CD-857E-619A79F321F0}" type="slidenum">
              <a:rPr lang="en-US" altLang="en-US"/>
              <a:pPr eaLnBrk="1" hangingPunct="1"/>
              <a:t>13</a:t>
            </a:fld>
            <a:endParaRPr lang="en-US" altLang="en-US"/>
          </a:p>
        </p:txBody>
      </p:sp>
      <p:sp>
        <p:nvSpPr>
          <p:cNvPr id="41987" name="Rectangle 2">
            <a:extLst>
              <a:ext uri="{FF2B5EF4-FFF2-40B4-BE49-F238E27FC236}">
                <a16:creationId xmlns:a16="http://schemas.microsoft.com/office/drawing/2014/main" id="{2FD15CA4-9849-4635-9FC7-9C5645C133AF}"/>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Singleton Design Pattern</a:t>
            </a:r>
            <a:br>
              <a:rPr lang="en-US" altLang="zh-CN" sz="3600" dirty="0">
                <a:ea typeface="宋体" panose="02010600030101010101" pitchFamily="2" charset="-122"/>
              </a:rPr>
            </a:br>
            <a:r>
              <a:rPr lang="zh-CN" altLang="en-US" sz="3600" dirty="0">
                <a:ea typeface="宋体" panose="02010600030101010101" pitchFamily="2" charset="-122"/>
              </a:rPr>
              <a:t>（单例）</a:t>
            </a:r>
            <a:endParaRPr lang="en-US" altLang="zh-CN" sz="2800" dirty="0">
              <a:ea typeface="宋体" panose="02010600030101010101" pitchFamily="2" charset="-122"/>
            </a:endParaRPr>
          </a:p>
        </p:txBody>
      </p:sp>
      <p:sp>
        <p:nvSpPr>
          <p:cNvPr id="41989" name="Rectangle 4">
            <a:extLst>
              <a:ext uri="{FF2B5EF4-FFF2-40B4-BE49-F238E27FC236}">
                <a16:creationId xmlns:a16="http://schemas.microsoft.com/office/drawing/2014/main" id="{5BE478FA-227F-422E-BC4A-D43A7AAB9E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0" name="Footer Placeholder 4">
            <a:extLst>
              <a:ext uri="{FF2B5EF4-FFF2-40B4-BE49-F238E27FC236}">
                <a16:creationId xmlns:a16="http://schemas.microsoft.com/office/drawing/2014/main" id="{C791F680-91B8-4871-8D1C-8EE9A7622A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1959B307-4DDA-4F74-8E7F-F51EEBEFEB6F}"/>
              </a:ext>
            </a:extLst>
          </p:cNvPr>
          <p:cNvSpPr txBox="1"/>
          <p:nvPr/>
        </p:nvSpPr>
        <p:spPr>
          <a:xfrm>
            <a:off x="2432957" y="381000"/>
            <a:ext cx="5486400" cy="5355312"/>
          </a:xfrm>
          <a:prstGeom prst="rect">
            <a:avLst/>
          </a:prstGeom>
          <a:noFill/>
        </p:spPr>
        <p:txBody>
          <a:bodyPr wrap="square">
            <a:spAutoFit/>
          </a:bodyPr>
          <a:lstStyle/>
          <a:p>
            <a:r>
              <a:rPr lang="zh-CN" altLang="en-US" b="1" dirty="0"/>
              <a:t>问题：</a:t>
            </a:r>
            <a:r>
              <a:rPr lang="zh-CN" altLang="en-US" dirty="0"/>
              <a:t>一个类只允许是用一个实例。这个实例可能被系统的许多地方调用。（例如，一个工厂类或者主窗口类，管理系统资源的服务类，例如数据库连接）</a:t>
            </a:r>
            <a:endParaRPr lang="en-US" altLang="zh-CN" dirty="0"/>
          </a:p>
          <a:p>
            <a:endParaRPr lang="en-US" altLang="zh-CN" b="1" dirty="0"/>
          </a:p>
          <a:p>
            <a:r>
              <a:rPr lang="zh-CN" altLang="en-US" b="1" dirty="0"/>
              <a:t>解决方案：</a:t>
            </a:r>
            <a:r>
              <a:rPr lang="zh-CN" altLang="en-US" dirty="0"/>
              <a:t>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b="1" dirty="0"/>
              <a:t>样例：</a:t>
            </a:r>
            <a:r>
              <a:rPr lang="zh-CN" altLang="en-US" dirty="0"/>
              <a:t>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b="1" dirty="0"/>
              <a:t>优点：</a:t>
            </a:r>
            <a:r>
              <a:rPr lang="zh-CN" altLang="en-US" dirty="0"/>
              <a:t>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p:txBody>
      </p:sp>
    </p:spTree>
    <p:extLst>
      <p:ext uri="{BB962C8B-B14F-4D97-AF65-F5344CB8AC3E}">
        <p14:creationId xmlns:p14="http://schemas.microsoft.com/office/powerpoint/2010/main" val="3821974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EFB4BFB-5A2B-4C31-AD18-BD28996B1E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53E030-3DD2-42CD-857E-619A79F321F0}" type="slidenum">
              <a:rPr lang="en-US" altLang="en-US"/>
              <a:pPr eaLnBrk="1" hangingPunct="1"/>
              <a:t>14</a:t>
            </a:fld>
            <a:endParaRPr lang="en-US" altLang="en-US"/>
          </a:p>
        </p:txBody>
      </p:sp>
      <p:sp>
        <p:nvSpPr>
          <p:cNvPr id="41987" name="Rectangle 2">
            <a:extLst>
              <a:ext uri="{FF2B5EF4-FFF2-40B4-BE49-F238E27FC236}">
                <a16:creationId xmlns:a16="http://schemas.microsoft.com/office/drawing/2014/main" id="{2FD15CA4-9849-4635-9FC7-9C5645C133AF}"/>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Singleton Design Pattern</a:t>
            </a:r>
            <a:br>
              <a:rPr lang="en-US" altLang="zh-CN" sz="3600" dirty="0">
                <a:ea typeface="宋体" panose="02010600030101010101" pitchFamily="2" charset="-122"/>
              </a:rPr>
            </a:br>
            <a:r>
              <a:rPr lang="zh-CN" altLang="en-US" sz="3600" dirty="0">
                <a:ea typeface="宋体" panose="02010600030101010101" pitchFamily="2" charset="-122"/>
              </a:rPr>
              <a:t>（单例）</a:t>
            </a:r>
            <a:endParaRPr lang="en-US" altLang="zh-CN" sz="2800" dirty="0">
              <a:ea typeface="宋体" panose="02010600030101010101" pitchFamily="2" charset="-122"/>
            </a:endParaRPr>
          </a:p>
        </p:txBody>
      </p:sp>
      <p:sp>
        <p:nvSpPr>
          <p:cNvPr id="41989" name="Rectangle 4">
            <a:extLst>
              <a:ext uri="{FF2B5EF4-FFF2-40B4-BE49-F238E27FC236}">
                <a16:creationId xmlns:a16="http://schemas.microsoft.com/office/drawing/2014/main" id="{5BE478FA-227F-422E-BC4A-D43A7AAB9E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0" name="Footer Placeholder 4">
            <a:extLst>
              <a:ext uri="{FF2B5EF4-FFF2-40B4-BE49-F238E27FC236}">
                <a16:creationId xmlns:a16="http://schemas.microsoft.com/office/drawing/2014/main" id="{C791F680-91B8-4871-8D1C-8EE9A7622A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1959B307-4DDA-4F74-8E7F-F51EEBEFEB6F}"/>
              </a:ext>
            </a:extLst>
          </p:cNvPr>
          <p:cNvSpPr txBox="1"/>
          <p:nvPr/>
        </p:nvSpPr>
        <p:spPr>
          <a:xfrm>
            <a:off x="2590800" y="457200"/>
            <a:ext cx="5334000" cy="3970318"/>
          </a:xfrm>
          <a:prstGeom prst="rect">
            <a:avLst/>
          </a:prstGeom>
          <a:noFill/>
        </p:spPr>
        <p:txBody>
          <a:bodyPr wrap="square">
            <a:spAutoFit/>
          </a:bodyPr>
          <a:lstStyle/>
          <a:p>
            <a:r>
              <a:rPr lang="en-US" altLang="zh-CN" dirty="0"/>
              <a:t>synchronized </a:t>
            </a:r>
            <a:r>
              <a:rPr lang="zh-CN" altLang="en-US" dirty="0"/>
              <a:t>是 </a:t>
            </a:r>
            <a:r>
              <a:rPr lang="en-US" altLang="zh-CN" dirty="0"/>
              <a:t>Java </a:t>
            </a:r>
            <a:r>
              <a:rPr lang="zh-CN" altLang="en-US" dirty="0"/>
              <a:t>中的关键字，是利用锁的机制来实现同步的。</a:t>
            </a:r>
            <a:endParaRPr lang="en-US" altLang="zh-CN" dirty="0"/>
          </a:p>
          <a:p>
            <a:endParaRPr lang="zh-CN" altLang="en-US" dirty="0"/>
          </a:p>
          <a:p>
            <a:r>
              <a:rPr lang="zh-CN" altLang="en-US" dirty="0"/>
              <a:t>锁机制有如下两种特性：</a:t>
            </a:r>
          </a:p>
          <a:p>
            <a:pPr>
              <a:buFont typeface="Arial" panose="020B0604020202020204" pitchFamily="34" charset="0"/>
              <a:buChar char="•"/>
            </a:pPr>
            <a:r>
              <a:rPr lang="zh-CN" altLang="en-US" b="1" dirty="0"/>
              <a:t>互斥性：</a:t>
            </a:r>
            <a:r>
              <a:rPr lang="zh-CN" altLang="en-US" dirty="0"/>
              <a:t>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b="1" dirty="0"/>
              <a:t>可见性：</a:t>
            </a:r>
            <a:r>
              <a:rPr lang="zh-CN" altLang="en-US" dirty="0"/>
              <a:t>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Tree>
    <p:extLst>
      <p:ext uri="{BB962C8B-B14F-4D97-AF65-F5344CB8AC3E}">
        <p14:creationId xmlns:p14="http://schemas.microsoft.com/office/powerpoint/2010/main" val="4203662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15</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marL="344487" lvl="1" indent="0" eaLnBrk="1" hangingPunct="1">
              <a:buNone/>
            </a:pPr>
            <a:r>
              <a:rPr lang="zh-CN" altLang="en-US" sz="2200" dirty="0">
                <a:ea typeface="宋体" panose="02010600030101010101" pitchFamily="2" charset="-122"/>
              </a:rPr>
              <a:t>结构型模式：适配器模式、装饰器模式、代理模式、外观模式、桥接模式、组合模式、享元模式。</a:t>
            </a:r>
          </a:p>
          <a:p>
            <a:pPr lvl="1" eaLnBrk="1" hangingPunct="1"/>
            <a:r>
              <a:rPr lang="en-US" altLang="zh-CN" sz="2000" dirty="0">
                <a:ea typeface="宋体" panose="02010600030101010101" pitchFamily="2" charset="-122"/>
              </a:rPr>
              <a:t>(1) </a:t>
            </a:r>
            <a:r>
              <a:rPr lang="zh-CN" altLang="en-US" sz="2000" dirty="0">
                <a:ea typeface="宋体" panose="02010600030101010101" pitchFamily="2" charset="-122"/>
              </a:rPr>
              <a:t>适配器模式：将一类的接口转换成客户希望的另外一个接口，适配器使得原本由于接口不兼容而不能一起工作的那些类可以一起工作。</a:t>
            </a:r>
          </a:p>
          <a:p>
            <a:pPr lvl="1" eaLnBrk="1" hangingPunct="1"/>
            <a:r>
              <a:rPr lang="en-US" altLang="zh-CN" sz="2000" dirty="0">
                <a:ea typeface="宋体" panose="02010600030101010101" pitchFamily="2" charset="-122"/>
              </a:rPr>
              <a:t>(2) </a:t>
            </a:r>
            <a:r>
              <a:rPr lang="zh-CN" altLang="en-US" sz="2000" dirty="0">
                <a:ea typeface="宋体" panose="02010600030101010101" pitchFamily="2" charset="-122"/>
              </a:rPr>
              <a:t>装饰器模式：动态地给一个对象增加一些额外的职责，就增加的功能来说，装饰器模式相比生成子类更加灵活。</a:t>
            </a:r>
          </a:p>
          <a:p>
            <a:pPr lvl="1" eaLnBrk="1" hangingPunct="1"/>
            <a:r>
              <a:rPr lang="en-US" altLang="zh-CN" sz="2000" dirty="0">
                <a:ea typeface="宋体" panose="02010600030101010101" pitchFamily="2" charset="-122"/>
              </a:rPr>
              <a:t>(3) </a:t>
            </a:r>
            <a:r>
              <a:rPr lang="zh-CN" altLang="en-US" sz="2000" dirty="0">
                <a:ea typeface="宋体" panose="02010600030101010101" pitchFamily="2" charset="-122"/>
              </a:rPr>
              <a:t>代理模式：为其他对象提供一种代理以控制对这个对象的访问。</a:t>
            </a:r>
          </a:p>
          <a:p>
            <a:pPr lvl="1" eaLnBrk="1" hangingPunct="1"/>
            <a:r>
              <a:rPr lang="en-US" altLang="zh-CN" sz="2000" dirty="0">
                <a:ea typeface="宋体" panose="02010600030101010101" pitchFamily="2" charset="-122"/>
              </a:rPr>
              <a:t>(4) </a:t>
            </a:r>
            <a:r>
              <a:rPr lang="zh-CN" altLang="en-US" sz="2000" dirty="0">
                <a:ea typeface="宋体" panose="02010600030101010101" pitchFamily="2" charset="-122"/>
              </a:rPr>
              <a:t>外观模式：为子系统中一组接口提供一致的界面，此模式定义了一个高层接口，该接口使得子系统更加容易使用。</a:t>
            </a:r>
          </a:p>
          <a:p>
            <a:pPr lvl="1" eaLnBrk="1" hangingPunct="1"/>
            <a:r>
              <a:rPr lang="en-US" altLang="zh-CN" sz="2000" dirty="0">
                <a:ea typeface="宋体" panose="02010600030101010101" pitchFamily="2" charset="-122"/>
              </a:rPr>
              <a:t>(5) </a:t>
            </a:r>
            <a:r>
              <a:rPr lang="zh-CN" altLang="en-US" sz="2000" dirty="0">
                <a:ea typeface="宋体" panose="02010600030101010101" pitchFamily="2" charset="-122"/>
              </a:rPr>
              <a:t>桥接模式：将抽象部分与它的实现部分相分离，使它们可以独立地变化。</a:t>
            </a:r>
          </a:p>
          <a:p>
            <a:pPr lvl="1" eaLnBrk="1" hangingPunct="1"/>
            <a:r>
              <a:rPr lang="en-US" altLang="zh-CN" sz="2000" dirty="0">
                <a:ea typeface="宋体" panose="02010600030101010101" pitchFamily="2" charset="-122"/>
              </a:rPr>
              <a:t>(6) </a:t>
            </a:r>
            <a:r>
              <a:rPr lang="zh-CN" altLang="en-US" sz="2000" dirty="0">
                <a:ea typeface="宋体" panose="02010600030101010101" pitchFamily="2" charset="-122"/>
              </a:rPr>
              <a:t>组合模式：将对象组合成树形结构以表示部分整体的关系，组合使得用户对单个对象和组合对象的使用更具有一致性。</a:t>
            </a:r>
          </a:p>
          <a:p>
            <a:pPr lvl="1" eaLnBrk="1" hangingPunct="1"/>
            <a:r>
              <a:rPr lang="en-US" altLang="zh-CN" sz="2000" dirty="0">
                <a:ea typeface="宋体" panose="02010600030101010101" pitchFamily="2" charset="-122"/>
              </a:rPr>
              <a:t>(7) </a:t>
            </a:r>
            <a:r>
              <a:rPr lang="zh-CN" altLang="en-US" sz="2000" dirty="0">
                <a:ea typeface="宋体" panose="02010600030101010101" pitchFamily="2" charset="-122"/>
              </a:rPr>
              <a:t>享元模式：运用共享技术有效地支持大量细粒度的对象。</a:t>
            </a:r>
          </a:p>
          <a:p>
            <a:pPr lvl="1" eaLnBrk="1" hangingPunct="1"/>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368272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9398B413-7342-4CC8-931A-933A7C29FE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2F268A-9642-47D3-B315-8FAC8654C71C}" type="slidenum">
              <a:rPr lang="en-US" altLang="en-US"/>
              <a:pPr eaLnBrk="1" hangingPunct="1"/>
              <a:t>16</a:t>
            </a:fld>
            <a:endParaRPr lang="en-US" altLang="en-US"/>
          </a:p>
        </p:txBody>
      </p:sp>
      <p:sp>
        <p:nvSpPr>
          <p:cNvPr id="39939" name="Rectangle 2">
            <a:extLst>
              <a:ext uri="{FF2B5EF4-FFF2-40B4-BE49-F238E27FC236}">
                <a16:creationId xmlns:a16="http://schemas.microsoft.com/office/drawing/2014/main" id="{8AC815A2-D1E6-4E0C-A5C8-98E758FF9C68}"/>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Adapter  Design Pattern</a:t>
            </a:r>
            <a:br>
              <a:rPr lang="en-US" altLang="zh-CN" sz="3600" dirty="0">
                <a:ea typeface="宋体" panose="02010600030101010101" pitchFamily="2" charset="-122"/>
              </a:rPr>
            </a:br>
            <a:r>
              <a:rPr lang="zh-CN" altLang="en-US" sz="3600" dirty="0">
                <a:ea typeface="宋体" panose="02010600030101010101" pitchFamily="2" charset="-122"/>
              </a:rPr>
              <a:t>适配器</a:t>
            </a:r>
            <a:endParaRPr lang="en-US" altLang="zh-CN" sz="2800" dirty="0">
              <a:ea typeface="宋体" panose="02010600030101010101" pitchFamily="2" charset="-122"/>
            </a:endParaRPr>
          </a:p>
        </p:txBody>
      </p:sp>
      <p:pic>
        <p:nvPicPr>
          <p:cNvPr id="39940" name="Picture 4">
            <a:extLst>
              <a:ext uri="{FF2B5EF4-FFF2-40B4-BE49-F238E27FC236}">
                <a16:creationId xmlns:a16="http://schemas.microsoft.com/office/drawing/2014/main" id="{87BA9B5B-76A8-4423-88B3-C110CEEA7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2400"/>
            <a:ext cx="536416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4">
            <a:extLst>
              <a:ext uri="{FF2B5EF4-FFF2-40B4-BE49-F238E27FC236}">
                <a16:creationId xmlns:a16="http://schemas.microsoft.com/office/drawing/2014/main" id="{B0B18CCB-C1A2-492E-8D91-A04095E2A67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9942" name="Footer Placeholder 4">
            <a:extLst>
              <a:ext uri="{FF2B5EF4-FFF2-40B4-BE49-F238E27FC236}">
                <a16:creationId xmlns:a16="http://schemas.microsoft.com/office/drawing/2014/main" id="{D31D0FB3-1B32-41B4-9434-159E6888A1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E56E79A9-2DB5-43EA-9984-DC1EE26526FA}"/>
              </a:ext>
            </a:extLst>
          </p:cNvPr>
          <p:cNvSpPr/>
          <p:nvPr/>
        </p:nvSpPr>
        <p:spPr>
          <a:xfrm>
            <a:off x="5181600" y="4191000"/>
            <a:ext cx="990600" cy="106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79608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9398B413-7342-4CC8-931A-933A7C29FE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2F268A-9642-47D3-B315-8FAC8654C71C}" type="slidenum">
              <a:rPr lang="en-US" altLang="en-US"/>
              <a:pPr eaLnBrk="1" hangingPunct="1"/>
              <a:t>17</a:t>
            </a:fld>
            <a:endParaRPr lang="en-US" altLang="en-US"/>
          </a:p>
        </p:txBody>
      </p:sp>
      <p:sp>
        <p:nvSpPr>
          <p:cNvPr id="39939" name="Rectangle 2">
            <a:extLst>
              <a:ext uri="{FF2B5EF4-FFF2-40B4-BE49-F238E27FC236}">
                <a16:creationId xmlns:a16="http://schemas.microsoft.com/office/drawing/2014/main" id="{8AC815A2-D1E6-4E0C-A5C8-98E758FF9C68}"/>
              </a:ext>
            </a:extLst>
          </p:cNvPr>
          <p:cNvSpPr>
            <a:spLocks noGrp="1" noChangeArrowheads="1"/>
          </p:cNvSpPr>
          <p:nvPr>
            <p:ph type="title"/>
          </p:nvPr>
        </p:nvSpPr>
        <p:spPr>
          <a:xfrm>
            <a:off x="304800" y="122238"/>
            <a:ext cx="2362200" cy="2544762"/>
          </a:xfrm>
        </p:spPr>
        <p:txBody>
          <a:bodyPr/>
          <a:lstStyle/>
          <a:p>
            <a:pPr eaLnBrk="1" hangingPunct="1"/>
            <a:r>
              <a:rPr lang="en-US" altLang="zh-CN" sz="3600" dirty="0">
                <a:ea typeface="宋体" panose="02010600030101010101" pitchFamily="2" charset="-122"/>
              </a:rPr>
              <a:t>Adapter  Design Pattern</a:t>
            </a:r>
            <a:br>
              <a:rPr lang="en-US" altLang="zh-CN" sz="3600" dirty="0">
                <a:ea typeface="宋体" panose="02010600030101010101" pitchFamily="2" charset="-122"/>
              </a:rPr>
            </a:br>
            <a:r>
              <a:rPr lang="zh-CN" altLang="en-US" sz="3600" dirty="0">
                <a:ea typeface="宋体" panose="02010600030101010101" pitchFamily="2" charset="-122"/>
              </a:rPr>
              <a:t>适配器</a:t>
            </a:r>
            <a:endParaRPr lang="en-US" altLang="zh-CN" sz="2800" dirty="0">
              <a:ea typeface="宋体" panose="02010600030101010101" pitchFamily="2" charset="-122"/>
            </a:endParaRPr>
          </a:p>
        </p:txBody>
      </p:sp>
      <p:sp>
        <p:nvSpPr>
          <p:cNvPr id="39941" name="Rectangle 4">
            <a:extLst>
              <a:ext uri="{FF2B5EF4-FFF2-40B4-BE49-F238E27FC236}">
                <a16:creationId xmlns:a16="http://schemas.microsoft.com/office/drawing/2014/main" id="{B0B18CCB-C1A2-492E-8D91-A04095E2A67D}"/>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文本框 8">
            <a:extLst>
              <a:ext uri="{FF2B5EF4-FFF2-40B4-BE49-F238E27FC236}">
                <a16:creationId xmlns:a16="http://schemas.microsoft.com/office/drawing/2014/main" id="{06506630-D8DD-4512-A2E9-58145F220FBF}"/>
              </a:ext>
            </a:extLst>
          </p:cNvPr>
          <p:cNvSpPr txBox="1"/>
          <p:nvPr/>
        </p:nvSpPr>
        <p:spPr>
          <a:xfrm>
            <a:off x="2133600" y="79594"/>
            <a:ext cx="5981700" cy="6740307"/>
          </a:xfrm>
          <a:prstGeom prst="rect">
            <a:avLst/>
          </a:prstGeom>
          <a:noFill/>
        </p:spPr>
        <p:txBody>
          <a:bodyPr wrap="square">
            <a:spAutoFit/>
          </a:bodyPr>
          <a:lstStyle/>
          <a:p>
            <a:r>
              <a:rPr lang="zh-CN" altLang="en-US" b="1" dirty="0"/>
              <a:t>问题：</a:t>
            </a:r>
            <a:r>
              <a:rPr lang="zh-CN" altLang="en-US" dirty="0"/>
              <a:t>一个类必须被另一个标准类替代。替换类已经具有一组预定义的方法签名，这些方法签名不同于原始类的方法签名。如何以最小的影响链接新类，从而不必在整个系统中将名称更改为新类中的方法名称</a:t>
            </a:r>
            <a:endParaRPr lang="en-US" altLang="zh-CN" dirty="0"/>
          </a:p>
          <a:p>
            <a:endParaRPr lang="en-US" altLang="zh-CN" dirty="0"/>
          </a:p>
          <a:p>
            <a:r>
              <a:rPr lang="zh-CN" altLang="en-US" b="1" dirty="0"/>
              <a:t>解决方法：</a:t>
            </a:r>
            <a:r>
              <a:rPr lang="zh-CN" altLang="en-US" dirty="0"/>
              <a:t>写一个新类（适配器类），这个类作为初始系统和被替换的类之间的连接。这个类的方法特征与初始类相似。每个方法要求替换类有正确的方法特征。</a:t>
            </a:r>
            <a:endParaRPr lang="en-US" altLang="zh-CN" dirty="0"/>
          </a:p>
          <a:p>
            <a:endParaRPr lang="en-US" altLang="zh-CN" dirty="0"/>
          </a:p>
          <a:p>
            <a:r>
              <a:rPr lang="zh-CN" altLang="en-US" b="1" dirty="0"/>
              <a:t>样例：</a:t>
            </a:r>
            <a:r>
              <a:rPr lang="zh-CN" altLang="en-US" dirty="0"/>
              <a:t>在</a:t>
            </a:r>
            <a:r>
              <a:rPr lang="en-US" altLang="zh-CN" dirty="0"/>
              <a:t>RMO</a:t>
            </a:r>
            <a:r>
              <a:rPr lang="zh-CN" altLang="en-US" dirty="0"/>
              <a:t>系统的许多地方，需要购买类库来提供特别处理。</a:t>
            </a:r>
            <a:endParaRPr lang="en-US" altLang="zh-CN" dirty="0"/>
          </a:p>
          <a:p>
            <a:r>
              <a:rPr lang="zh-CN" altLang="en-US" dirty="0"/>
              <a:t>这些类库可以提供特殊服务，比如计算税务和运输包裹的费用。</a:t>
            </a:r>
            <a:endParaRPr lang="en-US" altLang="zh-CN" dirty="0"/>
          </a:p>
          <a:p>
            <a:r>
              <a:rPr lang="zh-CN" altLang="en-US" dirty="0"/>
              <a:t>有时候，这些服务库被更新成新的版本。有时候，一个服务库甚至被替换给一个完全不同的供应商。</a:t>
            </a:r>
            <a:endParaRPr lang="en-US" altLang="zh-CN" dirty="0"/>
          </a:p>
          <a:p>
            <a:r>
              <a:rPr lang="en-US" altLang="zh-CN" dirty="0"/>
              <a:t>RMO</a:t>
            </a:r>
            <a:r>
              <a:rPr lang="zh-CN" altLang="en-US" dirty="0"/>
              <a:t>系统的员工通过在每个替换部署一个适配器间接链接被替换的类</a:t>
            </a:r>
            <a:endParaRPr lang="en-US" altLang="zh-CN" dirty="0"/>
          </a:p>
          <a:p>
            <a:endParaRPr lang="en-US" altLang="zh-CN" dirty="0"/>
          </a:p>
          <a:p>
            <a:r>
              <a:rPr lang="zh-CN" altLang="en-US" b="1" dirty="0"/>
              <a:t>优点和结果：</a:t>
            </a:r>
            <a:r>
              <a:rPr lang="zh-CN" altLang="en-US" dirty="0"/>
              <a:t>被改造的类能被替换成需要的类型。适配器类的改变是有限的，并且不会与系统连锁</a:t>
            </a:r>
            <a:endParaRPr lang="en-US" altLang="zh-CN" dirty="0"/>
          </a:p>
          <a:p>
            <a:endParaRPr lang="en-US" altLang="zh-CN" dirty="0"/>
          </a:p>
          <a:p>
            <a:r>
              <a:rPr lang="zh-CN" altLang="en-US" dirty="0"/>
              <a:t>已通过的参数可能变得更复杂，并且很难限制适配器类的改变</a:t>
            </a:r>
            <a:endParaRPr lang="en-US" altLang="zh-CN" dirty="0"/>
          </a:p>
          <a:p>
            <a:endParaRPr lang="en-US" altLang="zh-CN" dirty="0"/>
          </a:p>
        </p:txBody>
      </p:sp>
    </p:spTree>
    <p:extLst>
      <p:ext uri="{BB962C8B-B14F-4D97-AF65-F5344CB8AC3E}">
        <p14:creationId xmlns:p14="http://schemas.microsoft.com/office/powerpoint/2010/main" val="318804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18</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447800"/>
            <a:ext cx="8610600" cy="4724400"/>
          </a:xfrm>
        </p:spPr>
        <p:txBody>
          <a:bodyPr/>
          <a:lstStyle/>
          <a:p>
            <a:pPr marL="344487" lvl="1" indent="0" eaLnBrk="1" hangingPunct="1">
              <a:buNone/>
            </a:pPr>
            <a:r>
              <a:rPr lang="zh-CN" altLang="en-US" sz="2200" dirty="0">
                <a:ea typeface="宋体" panose="02010600030101010101" pitchFamily="2" charset="-122"/>
              </a:rPr>
              <a:t>行为型</a:t>
            </a:r>
            <a:r>
              <a:rPr lang="zh-CN" altLang="en-US" sz="2200">
                <a:ea typeface="宋体" panose="02010600030101010101" pitchFamily="2" charset="-122"/>
              </a:rPr>
              <a:t>模式：控制器</a:t>
            </a:r>
            <a:r>
              <a:rPr lang="zh-CN" altLang="en-US" sz="2200" dirty="0">
                <a:ea typeface="宋体" panose="02010600030101010101" pitchFamily="2" charset="-122"/>
              </a:rPr>
              <a:t>模式、观察者模式、模板方法、命令模式、状态模式、策略模式、职责链模式、中介者模式、访问者模式、解释器模式、备忘录模式。 </a:t>
            </a:r>
          </a:p>
          <a:p>
            <a:pPr marL="344487" lvl="1" indent="0" eaLnBrk="1" hangingPunct="1">
              <a:buNone/>
            </a:pPr>
            <a:r>
              <a:rPr lang="en-US" altLang="zh-CN" sz="2200" dirty="0">
                <a:ea typeface="宋体" panose="02010600030101010101" pitchFamily="2" charset="-122"/>
              </a:rPr>
              <a:t>(1) </a:t>
            </a:r>
            <a:r>
              <a:rPr lang="zh-CN" altLang="en-US" sz="2200" dirty="0">
                <a:ea typeface="宋体" panose="02010600030101010101" pitchFamily="2" charset="-122"/>
              </a:rPr>
              <a:t>控制器模式：提供一种方法，顺序访问一个聚合对象的各个元素，而又不需要暴露该对象的内部表示。</a:t>
            </a:r>
          </a:p>
          <a:p>
            <a:pPr marL="344487" lvl="1" indent="0" eaLnBrk="1" hangingPunct="1">
              <a:buNone/>
            </a:pPr>
            <a:r>
              <a:rPr lang="en-US" altLang="zh-CN" sz="2200" dirty="0">
                <a:ea typeface="宋体" panose="02010600030101010101" pitchFamily="2" charset="-122"/>
              </a:rPr>
              <a:t>(2) </a:t>
            </a:r>
            <a:r>
              <a:rPr lang="zh-CN" altLang="en-US" sz="2200" dirty="0">
                <a:ea typeface="宋体" panose="02010600030101010101" pitchFamily="2" charset="-122"/>
              </a:rPr>
              <a:t>观察者模式：定义对象间一对多的依赖关系，当一个对象的状态发生改变时，所有依赖于它的对象都得到通知自动更新。</a:t>
            </a:r>
          </a:p>
          <a:p>
            <a:pPr marL="344487" lvl="1" indent="0" eaLnBrk="1" hangingPunct="1">
              <a:buNone/>
            </a:pPr>
            <a:r>
              <a:rPr lang="en-US" altLang="zh-CN" sz="2200" dirty="0">
                <a:ea typeface="宋体" panose="02010600030101010101" pitchFamily="2" charset="-122"/>
              </a:rPr>
              <a:t>(3) </a:t>
            </a:r>
            <a:r>
              <a:rPr lang="zh-CN" altLang="en-US" sz="2200" dirty="0">
                <a:ea typeface="宋体" panose="02010600030101010101" pitchFamily="2" charset="-122"/>
              </a:rPr>
              <a:t>模板方法：定义一个操作中的算法的骨架，而将一些步骤延迟到子类中，模板方法使得子类可以不改变算法的结构即可重定义该算法的某些特定步骤。</a:t>
            </a:r>
          </a:p>
          <a:p>
            <a:pPr marL="344487" lvl="1" indent="0" eaLnBrk="1" hangingPunct="1">
              <a:buNone/>
            </a:pPr>
            <a:r>
              <a:rPr lang="en-US" altLang="zh-CN" sz="2200" dirty="0">
                <a:ea typeface="宋体" panose="02010600030101010101" pitchFamily="2" charset="-122"/>
              </a:rPr>
              <a:t>(4) </a:t>
            </a:r>
            <a:r>
              <a:rPr lang="zh-CN" altLang="en-US" sz="2200" dirty="0">
                <a:ea typeface="宋体" panose="02010600030101010101" pitchFamily="2" charset="-122"/>
              </a:rPr>
              <a:t>命令模式：将一个请求封装为一个对象，从而可以用不同的请求对客户进行参数化，对请求排队和记录请求日志，以及支持可撤销的操作。</a:t>
            </a:r>
          </a:p>
          <a:p>
            <a:pPr lvl="1" eaLnBrk="1" hangingPunct="1"/>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56046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F1FAC5-EE1B-49E1-BC57-2112636009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3CA96A-1385-4413-9C85-13AEAFF9AEAE}" type="slidenum">
              <a:rPr lang="en-US" altLang="en-US"/>
              <a:pPr eaLnBrk="1" hangingPunct="1"/>
              <a:t>19</a:t>
            </a:fld>
            <a:endParaRPr lang="en-US" altLang="en-US"/>
          </a:p>
        </p:txBody>
      </p:sp>
      <p:sp>
        <p:nvSpPr>
          <p:cNvPr id="9219" name="Rectangle 2">
            <a:extLst>
              <a:ext uri="{FF2B5EF4-FFF2-40B4-BE49-F238E27FC236}">
                <a16:creationId xmlns:a16="http://schemas.microsoft.com/office/drawing/2014/main" id="{81F406FC-B0B0-4CA2-B9EC-84B3351FC8F4}"/>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9220" name="Rectangle 3">
            <a:extLst>
              <a:ext uri="{FF2B5EF4-FFF2-40B4-BE49-F238E27FC236}">
                <a16:creationId xmlns:a16="http://schemas.microsoft.com/office/drawing/2014/main" id="{A651B136-9A50-482E-BCD5-0F83B3555509}"/>
              </a:ext>
            </a:extLst>
          </p:cNvPr>
          <p:cNvSpPr>
            <a:spLocks noGrp="1" noChangeArrowheads="1"/>
          </p:cNvSpPr>
          <p:nvPr>
            <p:ph type="body" idx="1"/>
          </p:nvPr>
        </p:nvSpPr>
        <p:spPr>
          <a:xfrm>
            <a:off x="-304800" y="1676400"/>
            <a:ext cx="8610600" cy="4724400"/>
          </a:xfrm>
        </p:spPr>
        <p:txBody>
          <a:bodyPr/>
          <a:lstStyle/>
          <a:p>
            <a:pPr marL="344487" lvl="1" indent="0" eaLnBrk="1" hangingPunct="1">
              <a:buNone/>
            </a:pPr>
            <a:r>
              <a:rPr lang="en-US" altLang="zh-CN" sz="2200" dirty="0">
                <a:ea typeface="宋体" panose="02010600030101010101" pitchFamily="2" charset="-122"/>
              </a:rPr>
              <a:t>(5) </a:t>
            </a:r>
            <a:r>
              <a:rPr lang="zh-CN" altLang="en-US" sz="2200" dirty="0">
                <a:ea typeface="宋体" panose="02010600030101010101" pitchFamily="2" charset="-122"/>
              </a:rPr>
              <a:t>状态模式：允许对象在其内部状态改变时改变他的行为。对象看起来似乎改变了他的类。</a:t>
            </a:r>
          </a:p>
          <a:p>
            <a:pPr marL="344487" lvl="1" indent="0" eaLnBrk="1" hangingPunct="1">
              <a:buNone/>
            </a:pPr>
            <a:r>
              <a:rPr lang="en-US" altLang="zh-CN" sz="2200" dirty="0">
                <a:ea typeface="宋体" panose="02010600030101010101" pitchFamily="2" charset="-122"/>
              </a:rPr>
              <a:t>(6) </a:t>
            </a:r>
            <a:r>
              <a:rPr lang="zh-CN" altLang="en-US" sz="2200" dirty="0">
                <a:ea typeface="宋体" panose="02010600030101010101" pitchFamily="2" charset="-122"/>
              </a:rPr>
              <a:t>策略模式：定义一系列的算法，把它们一个个封装起来，并使它们可以互相替换，本模式使得算法可以独立于使用它们的客户。</a:t>
            </a:r>
          </a:p>
          <a:p>
            <a:pPr marL="344487" lvl="1" indent="0" eaLnBrk="1" hangingPunct="1">
              <a:buNone/>
            </a:pPr>
            <a:r>
              <a:rPr lang="en-US" altLang="zh-CN" sz="2200" dirty="0">
                <a:ea typeface="宋体" panose="02010600030101010101" pitchFamily="2" charset="-122"/>
              </a:rPr>
              <a:t>(7) </a:t>
            </a:r>
            <a:r>
              <a:rPr lang="zh-CN" altLang="en-US" sz="2200" dirty="0">
                <a:ea typeface="宋体" panose="02010600030101010101" pitchFamily="2" charset="-122"/>
              </a:rPr>
              <a:t>职责链模式：使多个对象都有机会处理请求，从而避免请求的送发者和接收者之间的耦合关系</a:t>
            </a:r>
          </a:p>
          <a:p>
            <a:pPr marL="344487" lvl="1" indent="0" eaLnBrk="1" hangingPunct="1">
              <a:buNone/>
            </a:pPr>
            <a:r>
              <a:rPr lang="en-US" altLang="zh-CN" sz="2200" dirty="0">
                <a:ea typeface="宋体" panose="02010600030101010101" pitchFamily="2" charset="-122"/>
              </a:rPr>
              <a:t>(8) </a:t>
            </a:r>
            <a:r>
              <a:rPr lang="zh-CN" altLang="en-US" sz="2200" dirty="0">
                <a:ea typeface="宋体" panose="02010600030101010101" pitchFamily="2" charset="-122"/>
              </a:rPr>
              <a:t>中介者模式：用一个中介对象封装一些列的对象交互。</a:t>
            </a:r>
          </a:p>
          <a:p>
            <a:pPr marL="344487" lvl="1" indent="0" eaLnBrk="1" hangingPunct="1">
              <a:buNone/>
            </a:pPr>
            <a:r>
              <a:rPr lang="en-US" altLang="zh-CN" sz="2200" dirty="0">
                <a:ea typeface="宋体" panose="02010600030101010101" pitchFamily="2" charset="-122"/>
              </a:rPr>
              <a:t>(9) </a:t>
            </a:r>
            <a:r>
              <a:rPr lang="zh-CN" altLang="en-US" sz="2200" dirty="0">
                <a:ea typeface="宋体" panose="02010600030101010101" pitchFamily="2" charset="-122"/>
              </a:rPr>
              <a:t>访问者模式：表示一个作用于某对象结构中的各元素的操作，使得可以在不改变各元素类的前提下定义作用于这个元素的新操作。</a:t>
            </a:r>
          </a:p>
          <a:p>
            <a:pPr marL="344487" lvl="1" indent="0" eaLnBrk="1" hangingPunct="1">
              <a:buNone/>
            </a:pPr>
            <a:r>
              <a:rPr lang="en-US" altLang="zh-CN" sz="2200" dirty="0">
                <a:ea typeface="宋体" panose="02010600030101010101" pitchFamily="2" charset="-122"/>
              </a:rPr>
              <a:t>(10) </a:t>
            </a:r>
            <a:r>
              <a:rPr lang="zh-CN" altLang="en-US" sz="2200" dirty="0">
                <a:ea typeface="宋体" panose="02010600030101010101" pitchFamily="2" charset="-122"/>
              </a:rPr>
              <a:t>解释器模式：给定一个语言，定义其文法的一个表示，并定义一个解释器，这个解释器使用该表示来解释语言中的句子。</a:t>
            </a:r>
          </a:p>
          <a:p>
            <a:pPr marL="344487" lvl="1" indent="0" eaLnBrk="1" hangingPunct="1">
              <a:buNone/>
            </a:pPr>
            <a:r>
              <a:rPr lang="en-US" altLang="zh-CN" sz="2200" dirty="0">
                <a:ea typeface="宋体" panose="02010600030101010101" pitchFamily="2" charset="-122"/>
              </a:rPr>
              <a:t>(11) </a:t>
            </a:r>
            <a:r>
              <a:rPr lang="zh-CN" altLang="en-US" sz="2200" dirty="0">
                <a:ea typeface="宋体" panose="02010600030101010101" pitchFamily="2" charset="-122"/>
              </a:rPr>
              <a:t>备忘录模式：在不破坏对象的前提下，捕获一个对象的内部状态，并在该对象之外保存这个状态。</a:t>
            </a:r>
          </a:p>
          <a:p>
            <a:pPr lvl="1" eaLnBrk="1" hangingPunct="1"/>
            <a:endParaRPr lang="en-US" altLang="zh-CN" sz="1900" dirty="0">
              <a:ea typeface="宋体" panose="02010600030101010101" pitchFamily="2" charset="-122"/>
            </a:endParaRPr>
          </a:p>
        </p:txBody>
      </p:sp>
      <p:sp>
        <p:nvSpPr>
          <p:cNvPr id="9221" name="Rectangle 4">
            <a:extLst>
              <a:ext uri="{FF2B5EF4-FFF2-40B4-BE49-F238E27FC236}">
                <a16:creationId xmlns:a16="http://schemas.microsoft.com/office/drawing/2014/main" id="{52E813BF-50A2-4E96-A5C4-EFC7AFCD97A0}"/>
              </a:ext>
            </a:extLst>
          </p:cNvPr>
          <p:cNvSpPr>
            <a:spLocks noChangeArrowheads="1"/>
          </p:cNvSpPr>
          <p:nvPr/>
        </p:nvSpPr>
        <p:spPr bwMode="auto">
          <a:xfrm>
            <a:off x="685800" y="6934200"/>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dirty="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dirty="0">
              <a:ea typeface="宋体" panose="02010600030101010101" pitchFamily="2" charset="-122"/>
            </a:endParaRPr>
          </a:p>
        </p:txBody>
      </p:sp>
    </p:spTree>
    <p:extLst>
      <p:ext uri="{BB962C8B-B14F-4D97-AF65-F5344CB8AC3E}">
        <p14:creationId xmlns:p14="http://schemas.microsoft.com/office/powerpoint/2010/main" val="1041283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2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20</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dirty="0">
                <a:ea typeface="宋体" panose="02010600030101010101" pitchFamily="2" charset="-122"/>
              </a:rPr>
              <a:t>Controller Pattern</a:t>
            </a:r>
            <a:br>
              <a:rPr lang="en-US" altLang="zh-CN" sz="3000" dirty="0">
                <a:ea typeface="宋体" panose="02010600030101010101" pitchFamily="2" charset="-122"/>
              </a:rPr>
            </a:br>
            <a:r>
              <a:rPr lang="zh-CN" altLang="en-US" sz="3000" dirty="0">
                <a:ea typeface="宋体" panose="02010600030101010101" pitchFamily="2" charset="-122"/>
              </a:rPr>
              <a:t>控制器模式</a:t>
            </a:r>
            <a:br>
              <a:rPr lang="en-US" altLang="zh-CN" sz="3000" dirty="0">
                <a:ea typeface="宋体" panose="02010600030101010101" pitchFamily="2" charset="-122"/>
              </a:rPr>
            </a:br>
            <a:br>
              <a:rPr lang="en-US" altLang="zh-CN" sz="3000" dirty="0">
                <a:ea typeface="宋体" panose="02010600030101010101" pitchFamily="2" charset="-122"/>
              </a:rPr>
            </a:br>
            <a:r>
              <a:rPr lang="en-US" altLang="zh-CN" sz="2000" dirty="0">
                <a:ea typeface="宋体" panose="02010600030101010101" pitchFamily="2" charset="-122"/>
              </a:rPr>
              <a:t>First step toward multilayer architecture</a:t>
            </a:r>
            <a:br>
              <a:rPr lang="en-US" altLang="zh-CN" sz="2000" dirty="0">
                <a:ea typeface="宋体" panose="02010600030101010101" pitchFamily="2" charset="-122"/>
              </a:rPr>
            </a:br>
            <a:br>
              <a:rPr lang="en-US" altLang="zh-CN" sz="2000" dirty="0">
                <a:ea typeface="宋体" panose="02010600030101010101" pitchFamily="2" charset="-122"/>
              </a:rPr>
            </a:b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More design patterns are at the end of the chapter</a:t>
            </a:r>
            <a:br>
              <a:rPr lang="en-US" altLang="zh-CN" sz="2000" dirty="0">
                <a:ea typeface="宋体" panose="02010600030101010101" pitchFamily="2" charset="-122"/>
              </a:rPr>
            </a:br>
            <a:br>
              <a:rPr lang="en-US" altLang="zh-CN" sz="2000" dirty="0">
                <a:ea typeface="宋体" panose="02010600030101010101" pitchFamily="2" charset="-122"/>
              </a:rPr>
            </a:br>
            <a:endParaRPr lang="en-US" altLang="zh-CN" sz="2000" dirty="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52400"/>
            <a:ext cx="5378450" cy="610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797573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21</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D16EBC25-C833-44E4-A95F-EBCA99ECBE1E}"/>
              </a:ext>
            </a:extLst>
          </p:cNvPr>
          <p:cNvSpPr/>
          <p:nvPr/>
        </p:nvSpPr>
        <p:spPr>
          <a:xfrm>
            <a:off x="2057400" y="2819400"/>
            <a:ext cx="55626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3197225" y="2146547"/>
            <a:ext cx="4918075" cy="646331"/>
          </a:xfrm>
          <a:prstGeom prst="rect">
            <a:avLst/>
          </a:prstGeom>
          <a:noFill/>
        </p:spPr>
        <p:txBody>
          <a:bodyPr wrap="square" rtlCol="0">
            <a:spAutoFit/>
          </a:bodyPr>
          <a:lstStyle/>
          <a:p>
            <a:pPr marL="228600" indent="-228600">
              <a:buAutoNum type="arabicPeriod"/>
            </a:pPr>
            <a:r>
              <a:rPr lang="zh-CN" altLang="en-US" dirty="0"/>
              <a:t>域类负责处理用例，然而，由于一个用例中可能有许多域类，哪一个负责接收消息？</a:t>
            </a:r>
            <a:endParaRPr lang="en-US" altLang="zh-CN" dirty="0"/>
          </a:p>
        </p:txBody>
      </p:sp>
    </p:spTree>
    <p:extLst>
      <p:ext uri="{BB962C8B-B14F-4D97-AF65-F5344CB8AC3E}">
        <p14:creationId xmlns:p14="http://schemas.microsoft.com/office/powerpoint/2010/main" val="7115727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22</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51709D69-2CAE-4697-8AE0-553F4FAD3984}"/>
              </a:ext>
            </a:extLst>
          </p:cNvPr>
          <p:cNvSpPr/>
          <p:nvPr/>
        </p:nvSpPr>
        <p:spPr>
          <a:xfrm>
            <a:off x="2061117" y="3529361"/>
            <a:ext cx="5562600" cy="685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3197225" y="2146547"/>
            <a:ext cx="5641975" cy="646331"/>
          </a:xfrm>
          <a:prstGeom prst="rect">
            <a:avLst/>
          </a:prstGeom>
          <a:noFill/>
        </p:spPr>
        <p:txBody>
          <a:bodyPr wrap="square" rtlCol="0">
            <a:spAutoFit/>
          </a:bodyPr>
          <a:lstStyle/>
          <a:p>
            <a:r>
              <a:rPr lang="en-US" altLang="zh-CN" dirty="0"/>
              <a:t>2. </a:t>
            </a:r>
            <a:r>
              <a:rPr lang="zh-CN" altLang="en-US" dirty="0"/>
              <a:t>用户界面类如果有所有域类的可见性，那么它将显得很复杂。用户界面和域类的耦合度要如何降低？</a:t>
            </a:r>
          </a:p>
        </p:txBody>
      </p:sp>
    </p:spTree>
    <p:extLst>
      <p:ext uri="{BB962C8B-B14F-4D97-AF65-F5344CB8AC3E}">
        <p14:creationId xmlns:p14="http://schemas.microsoft.com/office/powerpoint/2010/main" val="1823281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23</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1709D69-2CAE-4697-8AE0-553F4FAD3984}"/>
              </a:ext>
            </a:extLst>
          </p:cNvPr>
          <p:cNvSpPr/>
          <p:nvPr/>
        </p:nvSpPr>
        <p:spPr>
          <a:xfrm>
            <a:off x="2133600" y="4430487"/>
            <a:ext cx="5562600" cy="59871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1981200" y="5678269"/>
            <a:ext cx="5641975" cy="646331"/>
          </a:xfrm>
          <a:prstGeom prst="rect">
            <a:avLst/>
          </a:prstGeom>
          <a:noFill/>
        </p:spPr>
        <p:txBody>
          <a:bodyPr wrap="square" rtlCol="0">
            <a:spAutoFit/>
          </a:bodyPr>
          <a:lstStyle/>
          <a:p>
            <a:pPr marL="0" indent="0">
              <a:buNone/>
            </a:pPr>
            <a:r>
              <a:rPr lang="zh-CN" altLang="en-US" dirty="0"/>
              <a:t>设置一个专门的类接收所有输入消息并充当交换机，然后转发到正确的域类，有几种解决方式：</a:t>
            </a:r>
            <a:endParaRPr lang="en-US" altLang="zh-CN" dirty="0"/>
          </a:p>
        </p:txBody>
      </p:sp>
    </p:spTree>
    <p:extLst>
      <p:ext uri="{BB962C8B-B14F-4D97-AF65-F5344CB8AC3E}">
        <p14:creationId xmlns:p14="http://schemas.microsoft.com/office/powerpoint/2010/main" val="3126947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24</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3778"/>
          <a:stretch/>
        </p:blipFill>
        <p:spPr bwMode="auto">
          <a:xfrm>
            <a:off x="152399" y="2133600"/>
            <a:ext cx="8716799"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8" name="矩形 7">
            <a:extLst>
              <a:ext uri="{FF2B5EF4-FFF2-40B4-BE49-F238E27FC236}">
                <a16:creationId xmlns:a16="http://schemas.microsoft.com/office/drawing/2014/main" id="{51709D69-2CAE-4697-8AE0-553F4FAD3984}"/>
              </a:ext>
            </a:extLst>
          </p:cNvPr>
          <p:cNvSpPr/>
          <p:nvPr/>
        </p:nvSpPr>
        <p:spPr>
          <a:xfrm>
            <a:off x="2133600" y="4976481"/>
            <a:ext cx="5562600" cy="59871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EBBDDBD-F640-44BE-AAEA-5AE23357DAD8}"/>
              </a:ext>
            </a:extLst>
          </p:cNvPr>
          <p:cNvSpPr txBox="1"/>
          <p:nvPr/>
        </p:nvSpPr>
        <p:spPr>
          <a:xfrm>
            <a:off x="1981200" y="5678269"/>
            <a:ext cx="6248400" cy="646331"/>
          </a:xfrm>
          <a:prstGeom prst="rect">
            <a:avLst/>
          </a:prstGeom>
          <a:noFill/>
        </p:spPr>
        <p:txBody>
          <a:bodyPr wrap="square" rtlCol="0">
            <a:spAutoFit/>
          </a:bodyPr>
          <a:lstStyle/>
          <a:p>
            <a:pPr marL="0" indent="0">
              <a:buNone/>
            </a:pPr>
            <a:r>
              <a:rPr lang="en-US" altLang="zh-CN" dirty="0"/>
              <a:t>a</a:t>
            </a:r>
            <a:r>
              <a:rPr lang="zh-CN" altLang="en-US" dirty="0"/>
              <a:t>）通过单一的控制器类来表示整个系统</a:t>
            </a:r>
            <a:endParaRPr lang="en-US" altLang="zh-CN" dirty="0"/>
          </a:p>
          <a:p>
            <a:pPr marL="0" indent="0">
              <a:buNone/>
            </a:pPr>
            <a:r>
              <a:rPr lang="en-US" altLang="zh-CN" dirty="0"/>
              <a:t>b</a:t>
            </a:r>
            <a:r>
              <a:rPr lang="zh-CN" altLang="en-US" dirty="0"/>
              <a:t>）为每个用例创建一个控制器类</a:t>
            </a:r>
            <a:endParaRPr lang="en-US" altLang="zh-CN" dirty="0"/>
          </a:p>
        </p:txBody>
      </p:sp>
    </p:spTree>
    <p:extLst>
      <p:ext uri="{BB962C8B-B14F-4D97-AF65-F5344CB8AC3E}">
        <p14:creationId xmlns:p14="http://schemas.microsoft.com/office/powerpoint/2010/main" val="4003039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25</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5181600"/>
          </a:xfrm>
        </p:spPr>
        <p:txBody>
          <a:bodyPr/>
          <a:lstStyle/>
          <a:p>
            <a:pPr eaLnBrk="1" hangingPunct="1"/>
            <a:r>
              <a:rPr lang="en-US" altLang="zh-CN" sz="3000">
                <a:ea typeface="宋体" panose="02010600030101010101" pitchFamily="2" charset="-122"/>
              </a:rPr>
              <a:t>Controller Pattern</a:t>
            </a:r>
            <a:br>
              <a:rPr lang="en-US" altLang="zh-CN" sz="3000">
                <a:ea typeface="宋体" panose="02010600030101010101" pitchFamily="2" charset="-122"/>
              </a:rPr>
            </a:br>
            <a:br>
              <a:rPr lang="en-US" altLang="zh-CN" sz="3000">
                <a:ea typeface="宋体" panose="02010600030101010101" pitchFamily="2" charset="-122"/>
              </a:rPr>
            </a:br>
            <a:r>
              <a:rPr lang="en-US" altLang="zh-CN" sz="2000">
                <a:ea typeface="宋体" panose="02010600030101010101" pitchFamily="2" charset="-122"/>
              </a:rPr>
              <a:t>First step toward multilayer architecture</a:t>
            </a: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br>
              <a:rPr lang="en-US" altLang="zh-CN" sz="2000">
                <a:ea typeface="宋体" panose="02010600030101010101" pitchFamily="2" charset="-122"/>
              </a:rPr>
            </a:br>
            <a:r>
              <a:rPr lang="en-US" altLang="zh-CN" sz="2000">
                <a:ea typeface="宋体" panose="02010600030101010101" pitchFamily="2" charset="-122"/>
              </a:rPr>
              <a:t>More design patterns are at the end of the chapter</a:t>
            </a:r>
            <a:br>
              <a:rPr lang="en-US" altLang="zh-CN" sz="2000">
                <a:ea typeface="宋体" panose="02010600030101010101" pitchFamily="2" charset="-122"/>
              </a:rPr>
            </a:br>
            <a:br>
              <a:rPr lang="en-US" altLang="zh-CN" sz="2000">
                <a:ea typeface="宋体" panose="02010600030101010101" pitchFamily="2" charset="-122"/>
              </a:rPr>
            </a:br>
            <a:endParaRPr lang="en-US" altLang="zh-CN" sz="200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973" b="18141"/>
          <a:stretch/>
        </p:blipFill>
        <p:spPr bwMode="auto">
          <a:xfrm>
            <a:off x="321527" y="2057400"/>
            <a:ext cx="7740650" cy="41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ADD7024D-20EF-403A-94AE-B947F43BF76C}"/>
              </a:ext>
            </a:extLst>
          </p:cNvPr>
          <p:cNvSpPr/>
          <p:nvPr/>
        </p:nvSpPr>
        <p:spPr>
          <a:xfrm>
            <a:off x="2479133" y="4572000"/>
            <a:ext cx="1407067"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C6A8AA9-AF9B-486C-8074-8830E2BD177E}"/>
              </a:ext>
            </a:extLst>
          </p:cNvPr>
          <p:cNvSpPr/>
          <p:nvPr/>
        </p:nvSpPr>
        <p:spPr>
          <a:xfrm>
            <a:off x="4572000" y="4572000"/>
            <a:ext cx="1407067"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957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P spid="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26</a:t>
            </a:fld>
            <a:endParaRPr lang="en-US" altLang="en-US"/>
          </a:p>
        </p:txBody>
      </p:sp>
      <p:sp>
        <p:nvSpPr>
          <p:cNvPr id="11267" name="Rectangle 2">
            <a:extLst>
              <a:ext uri="{FF2B5EF4-FFF2-40B4-BE49-F238E27FC236}">
                <a16:creationId xmlns:a16="http://schemas.microsoft.com/office/drawing/2014/main" id="{7549A405-69B2-47FA-9293-1A403CCFD6DA}"/>
              </a:ext>
            </a:extLst>
          </p:cNvPr>
          <p:cNvSpPr>
            <a:spLocks noGrp="1" noChangeArrowheads="1"/>
          </p:cNvSpPr>
          <p:nvPr>
            <p:ph type="title"/>
          </p:nvPr>
        </p:nvSpPr>
        <p:spPr>
          <a:xfrm>
            <a:off x="304800" y="533400"/>
            <a:ext cx="2438400" cy="2176463"/>
          </a:xfrm>
        </p:spPr>
        <p:txBody>
          <a:bodyPr/>
          <a:lstStyle/>
          <a:p>
            <a:pPr eaLnBrk="1" hangingPunct="1"/>
            <a:r>
              <a:rPr lang="en-US" altLang="zh-CN" sz="3000" dirty="0">
                <a:ea typeface="宋体" panose="02010600030101010101" pitchFamily="2" charset="-122"/>
              </a:rPr>
              <a:t>Controller Pattern</a:t>
            </a:r>
            <a:br>
              <a:rPr lang="en-US" altLang="zh-CN" sz="3000" dirty="0">
                <a:ea typeface="宋体" panose="02010600030101010101" pitchFamily="2" charset="-122"/>
              </a:rPr>
            </a:br>
            <a:br>
              <a:rPr lang="en-US" altLang="zh-CN" sz="3000" dirty="0">
                <a:ea typeface="宋体" panose="02010600030101010101" pitchFamily="2" charset="-122"/>
              </a:rPr>
            </a:br>
            <a:endParaRPr lang="en-US" altLang="zh-CN" sz="2000" dirty="0">
              <a:ea typeface="宋体" panose="02010600030101010101" pitchFamily="2" charset="-122"/>
            </a:endParaRPr>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2436"/>
          <a:stretch/>
        </p:blipFill>
        <p:spPr bwMode="auto">
          <a:xfrm>
            <a:off x="424918" y="2019300"/>
            <a:ext cx="8414282"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96293D55-A5B2-49FA-BDA4-5685F688A3AB}"/>
              </a:ext>
            </a:extLst>
          </p:cNvPr>
          <p:cNvSpPr txBox="1"/>
          <p:nvPr/>
        </p:nvSpPr>
        <p:spPr>
          <a:xfrm>
            <a:off x="446689" y="3804345"/>
            <a:ext cx="6096000" cy="2308324"/>
          </a:xfrm>
          <a:prstGeom prst="rect">
            <a:avLst/>
          </a:prstGeom>
          <a:noFill/>
        </p:spPr>
        <p:txBody>
          <a:bodyPr wrap="square">
            <a:spAutoFit/>
          </a:bodyPr>
          <a:lstStyle/>
          <a:p>
            <a:pPr marL="0" indent="0">
              <a:buNone/>
            </a:pPr>
            <a:r>
              <a:rPr lang="zh-CN" altLang="en-US" dirty="0"/>
              <a:t>优点：</a:t>
            </a:r>
            <a:endParaRPr lang="en-US" altLang="zh-CN" dirty="0"/>
          </a:p>
          <a:p>
            <a:pPr marL="0" indent="0">
              <a:buNone/>
            </a:pPr>
            <a:r>
              <a:rPr lang="zh-CN" altLang="en-US" dirty="0"/>
              <a:t>视图层和域层的耦合度减小了</a:t>
            </a:r>
            <a:endParaRPr lang="en-US" altLang="zh-CN" dirty="0"/>
          </a:p>
          <a:p>
            <a:pPr marL="0" indent="0">
              <a:buNone/>
            </a:pPr>
            <a:r>
              <a:rPr lang="zh-CN" altLang="en-US" dirty="0"/>
              <a:t>控制器提供了间接的层</a:t>
            </a:r>
            <a:endParaRPr lang="en-US" altLang="zh-CN" dirty="0"/>
          </a:p>
          <a:p>
            <a:pPr marL="0" indent="0">
              <a:buNone/>
            </a:pPr>
            <a:endParaRPr lang="en-US" altLang="zh-CN" dirty="0"/>
          </a:p>
          <a:p>
            <a:pPr marL="0" indent="0">
              <a:buNone/>
            </a:pPr>
            <a:r>
              <a:rPr lang="zh-CN" altLang="en-US" dirty="0"/>
              <a:t>结果：</a:t>
            </a:r>
            <a:endParaRPr lang="en-US" altLang="zh-CN" dirty="0"/>
          </a:p>
          <a:p>
            <a:pPr marL="0" indent="0">
              <a:buNone/>
            </a:pPr>
            <a:r>
              <a:rPr lang="zh-CN" altLang="en-US" dirty="0"/>
              <a:t>控制器和许多域类紧密耦合</a:t>
            </a:r>
            <a:endParaRPr lang="en-US" altLang="zh-CN" dirty="0"/>
          </a:p>
          <a:p>
            <a:pPr marL="0" indent="0">
              <a:buNone/>
            </a:pPr>
            <a:r>
              <a:rPr lang="en-US" altLang="zh-CN" dirty="0"/>
              <a:t>   </a:t>
            </a:r>
            <a:r>
              <a:rPr lang="zh-CN" altLang="en-US" dirty="0"/>
              <a:t>如果不注意，控制器会变得不合逻辑</a:t>
            </a:r>
            <a:endParaRPr lang="en-US" altLang="zh-CN" dirty="0"/>
          </a:p>
          <a:p>
            <a:pPr marL="0" indent="0">
              <a:buNone/>
            </a:pPr>
            <a:r>
              <a:rPr lang="en-US" altLang="zh-CN" dirty="0"/>
              <a:t>   </a:t>
            </a:r>
            <a:r>
              <a:rPr lang="zh-CN" altLang="en-US" dirty="0"/>
              <a:t>如果不注意，业务逻辑将会嵌入控制器中</a:t>
            </a:r>
            <a:endParaRPr lang="en-US" altLang="zh-CN" dirty="0"/>
          </a:p>
        </p:txBody>
      </p:sp>
    </p:spTree>
    <p:extLst>
      <p:ext uri="{BB962C8B-B14F-4D97-AF65-F5344CB8AC3E}">
        <p14:creationId xmlns:p14="http://schemas.microsoft.com/office/powerpoint/2010/main" val="48721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C4D1A9A6-D03C-476E-A127-9FA31E9328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5765B4-5010-4BEE-810F-9F6CE00FD46C}" type="slidenum">
              <a:rPr lang="en-US" altLang="en-US"/>
              <a:pPr eaLnBrk="1" hangingPunct="1"/>
              <a:t>27</a:t>
            </a:fld>
            <a:endParaRPr lang="en-US" altLang="en-US"/>
          </a:p>
        </p:txBody>
      </p:sp>
      <p:sp>
        <p:nvSpPr>
          <p:cNvPr id="10243" name="Rectangle 2">
            <a:extLst>
              <a:ext uri="{FF2B5EF4-FFF2-40B4-BE49-F238E27FC236}">
                <a16:creationId xmlns:a16="http://schemas.microsoft.com/office/drawing/2014/main" id="{12F64DBB-21DD-4133-930A-993A8A19188B}"/>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10244" name="Rectangle 3">
            <a:extLst>
              <a:ext uri="{FF2B5EF4-FFF2-40B4-BE49-F238E27FC236}">
                <a16:creationId xmlns:a16="http://schemas.microsoft.com/office/drawing/2014/main" id="{7C574EC9-BEC4-49FC-86CB-725AD4BF00E8}"/>
              </a:ext>
            </a:extLst>
          </p:cNvPr>
          <p:cNvSpPr>
            <a:spLocks noGrp="1" noChangeArrowheads="1"/>
          </p:cNvSpPr>
          <p:nvPr>
            <p:ph type="body" idx="1"/>
          </p:nvPr>
        </p:nvSpPr>
        <p:spPr>
          <a:xfrm>
            <a:off x="304800" y="1447800"/>
            <a:ext cx="8610600" cy="4724400"/>
          </a:xfrm>
        </p:spPr>
        <p:txBody>
          <a:bodyPr/>
          <a:lstStyle/>
          <a:p>
            <a:pPr eaLnBrk="1" hangingPunct="1">
              <a:lnSpc>
                <a:spcPct val="80000"/>
              </a:lnSpc>
            </a:pPr>
            <a:r>
              <a:rPr lang="en-US" altLang="zh-CN" sz="2600" dirty="0">
                <a:ea typeface="宋体" panose="02010600030101010101" pitchFamily="2" charset="-122"/>
              </a:rPr>
              <a:t>Design patterns became widely accepted after the publication of </a:t>
            </a:r>
            <a:r>
              <a:rPr lang="en-US" altLang="zh-CN" sz="2600" i="1" dirty="0">
                <a:ea typeface="宋体" panose="02010600030101010101" pitchFamily="2" charset="-122"/>
              </a:rPr>
              <a:t>Elements of Reusable Object-Oriented Software</a:t>
            </a:r>
            <a:r>
              <a:rPr lang="en-US" altLang="zh-CN" sz="2600" dirty="0">
                <a:ea typeface="宋体" panose="02010600030101010101" pitchFamily="2" charset="-122"/>
              </a:rPr>
              <a:t>,(1996) by Gamma et al (the “Gang of Four”) </a:t>
            </a:r>
            <a:r>
              <a:rPr lang="zh-CN" altLang="en-US" sz="2600" dirty="0">
                <a:ea typeface="宋体" panose="02010600030101010101" pitchFamily="2" charset="-122"/>
              </a:rPr>
              <a:t>（设计模式在</a:t>
            </a:r>
            <a:r>
              <a:rPr lang="en-US" altLang="zh-CN" sz="2600" dirty="0">
                <a:ea typeface="宋体" panose="02010600030101010101" pitchFamily="2" charset="-122"/>
              </a:rPr>
              <a:t>Elements</a:t>
            </a:r>
            <a:r>
              <a:rPr lang="zh-CN" altLang="en-US" sz="2600" dirty="0">
                <a:ea typeface="宋体" panose="02010600030101010101" pitchFamily="2" charset="-122"/>
              </a:rPr>
              <a:t>这本书发表后被广泛接受）</a:t>
            </a:r>
            <a:endParaRPr lang="en-US" altLang="zh-CN" sz="2600" dirty="0">
              <a:ea typeface="宋体" panose="02010600030101010101" pitchFamily="2" charset="-122"/>
            </a:endParaRPr>
          </a:p>
          <a:p>
            <a:pPr eaLnBrk="1" hangingPunct="1">
              <a:lnSpc>
                <a:spcPct val="80000"/>
              </a:lnSpc>
            </a:pPr>
            <a:r>
              <a:rPr lang="en-US" altLang="zh-CN" sz="2600" dirty="0">
                <a:ea typeface="宋体" panose="02010600030101010101" pitchFamily="2" charset="-122"/>
              </a:rPr>
              <a:t>There are architectural design patterns talked about already</a:t>
            </a:r>
          </a:p>
          <a:p>
            <a:pPr lvl="1" eaLnBrk="1" hangingPunct="1">
              <a:lnSpc>
                <a:spcPct val="80000"/>
              </a:lnSpc>
            </a:pPr>
            <a:r>
              <a:rPr lang="en-US" altLang="zh-CN" sz="2200" dirty="0">
                <a:solidFill>
                  <a:srgbClr val="C00000"/>
                </a:solidFill>
                <a:ea typeface="宋体" panose="02010600030101010101" pitchFamily="2" charset="-122"/>
              </a:rPr>
              <a:t>Three layer or model-view-controller architecture</a:t>
            </a:r>
            <a:r>
              <a:rPr lang="zh-CN" altLang="en-US" sz="2200" dirty="0">
                <a:solidFill>
                  <a:srgbClr val="C00000"/>
                </a:solidFill>
                <a:ea typeface="宋体" panose="02010600030101010101" pitchFamily="2" charset="-122"/>
              </a:rPr>
              <a:t>（三层架构或模型</a:t>
            </a:r>
            <a:r>
              <a:rPr lang="en-US" altLang="zh-CN" sz="2200" dirty="0">
                <a:solidFill>
                  <a:srgbClr val="C00000"/>
                </a:solidFill>
                <a:ea typeface="宋体" panose="02010600030101010101" pitchFamily="2" charset="-122"/>
              </a:rPr>
              <a:t>-</a:t>
            </a:r>
            <a:r>
              <a:rPr lang="zh-CN" altLang="en-US" sz="2200" dirty="0">
                <a:solidFill>
                  <a:srgbClr val="C00000"/>
                </a:solidFill>
                <a:ea typeface="宋体" panose="02010600030101010101" pitchFamily="2" charset="-122"/>
              </a:rPr>
              <a:t>视图</a:t>
            </a:r>
            <a:r>
              <a:rPr lang="en-US" altLang="zh-CN" sz="2200" dirty="0">
                <a:solidFill>
                  <a:srgbClr val="C00000"/>
                </a:solidFill>
                <a:ea typeface="宋体" panose="02010600030101010101" pitchFamily="2" charset="-122"/>
              </a:rPr>
              <a:t>-</a:t>
            </a:r>
            <a:r>
              <a:rPr lang="zh-CN" altLang="en-US" sz="2200" dirty="0">
                <a:solidFill>
                  <a:srgbClr val="C00000"/>
                </a:solidFill>
                <a:ea typeface="宋体" panose="02010600030101010101" pitchFamily="2" charset="-122"/>
              </a:rPr>
              <a:t>控制器架构）</a:t>
            </a:r>
            <a:endParaRPr lang="en-US" altLang="zh-CN" sz="2200" dirty="0">
              <a:solidFill>
                <a:srgbClr val="C00000"/>
              </a:solidFill>
              <a:ea typeface="宋体" panose="02010600030101010101" pitchFamily="2" charset="-122"/>
            </a:endParaRPr>
          </a:p>
          <a:p>
            <a:pPr lvl="1" eaLnBrk="1" hangingPunct="1">
              <a:lnSpc>
                <a:spcPct val="80000"/>
              </a:lnSpc>
            </a:pPr>
            <a:endParaRPr lang="en-US" altLang="zh-CN" sz="2200" dirty="0">
              <a:ea typeface="宋体" panose="02010600030101010101" pitchFamily="2" charset="-122"/>
            </a:endParaRPr>
          </a:p>
        </p:txBody>
      </p:sp>
      <p:sp>
        <p:nvSpPr>
          <p:cNvPr id="10245" name="Rectangle 4">
            <a:extLst>
              <a:ext uri="{FF2B5EF4-FFF2-40B4-BE49-F238E27FC236}">
                <a16:creationId xmlns:a16="http://schemas.microsoft.com/office/drawing/2014/main" id="{ED6E8A49-1C50-4389-A057-A01ED576D12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0246" name="Footer Placeholder 4">
            <a:extLst>
              <a:ext uri="{FF2B5EF4-FFF2-40B4-BE49-F238E27FC236}">
                <a16:creationId xmlns:a16="http://schemas.microsoft.com/office/drawing/2014/main" id="{8F873DE0-73B1-44E4-8266-36DB46E3232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C4D1A9A6-D03C-476E-A127-9FA31E9328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5765B4-5010-4BEE-810F-9F6CE00FD46C}" type="slidenum">
              <a:rPr lang="en-US" altLang="en-US"/>
              <a:pPr eaLnBrk="1" hangingPunct="1"/>
              <a:t>28</a:t>
            </a:fld>
            <a:endParaRPr lang="en-US" altLang="en-US"/>
          </a:p>
        </p:txBody>
      </p:sp>
      <p:sp>
        <p:nvSpPr>
          <p:cNvPr id="10243" name="Rectangle 2">
            <a:extLst>
              <a:ext uri="{FF2B5EF4-FFF2-40B4-BE49-F238E27FC236}">
                <a16:creationId xmlns:a16="http://schemas.microsoft.com/office/drawing/2014/main" id="{12F64DBB-21DD-4133-930A-993A8A19188B}"/>
              </a:ext>
            </a:extLst>
          </p:cNvPr>
          <p:cNvSpPr>
            <a:spLocks noGrp="1" noChangeArrowheads="1"/>
          </p:cNvSpPr>
          <p:nvPr>
            <p:ph type="title"/>
          </p:nvPr>
        </p:nvSpPr>
        <p:spPr>
          <a:xfrm>
            <a:off x="304800" y="122238"/>
            <a:ext cx="7696200" cy="1020762"/>
          </a:xfrm>
        </p:spPr>
        <p:txBody>
          <a:bodyPr/>
          <a:lstStyle/>
          <a:p>
            <a:pPr eaLnBrk="1" hangingPunct="1"/>
            <a:r>
              <a:rPr lang="en-US" altLang="zh-CN" sz="4000">
                <a:ea typeface="宋体" panose="02010600030101010101" pitchFamily="2" charset="-122"/>
              </a:rPr>
              <a:t>Design Patterns</a:t>
            </a:r>
            <a:endParaRPr lang="en-US" altLang="zh-CN" sz="3200">
              <a:ea typeface="宋体" panose="02010600030101010101" pitchFamily="2" charset="-122"/>
            </a:endParaRPr>
          </a:p>
        </p:txBody>
      </p:sp>
      <p:sp>
        <p:nvSpPr>
          <p:cNvPr id="10244" name="Rectangle 3">
            <a:extLst>
              <a:ext uri="{FF2B5EF4-FFF2-40B4-BE49-F238E27FC236}">
                <a16:creationId xmlns:a16="http://schemas.microsoft.com/office/drawing/2014/main" id="{7C574EC9-BEC4-49FC-86CB-725AD4BF00E8}"/>
              </a:ext>
            </a:extLst>
          </p:cNvPr>
          <p:cNvSpPr>
            <a:spLocks noGrp="1" noChangeArrowheads="1"/>
          </p:cNvSpPr>
          <p:nvPr>
            <p:ph type="body" idx="1"/>
          </p:nvPr>
        </p:nvSpPr>
        <p:spPr>
          <a:xfrm>
            <a:off x="304800" y="1447800"/>
            <a:ext cx="8610600" cy="4724400"/>
          </a:xfrm>
        </p:spPr>
        <p:txBody>
          <a:bodyPr/>
          <a:lstStyle/>
          <a:p>
            <a:pPr eaLnBrk="1" hangingPunct="1">
              <a:lnSpc>
                <a:spcPct val="80000"/>
              </a:lnSpc>
            </a:pPr>
            <a:r>
              <a:rPr lang="en-US" altLang="zh-CN" sz="2600" dirty="0">
                <a:ea typeface="宋体" panose="02010600030101010101" pitchFamily="2" charset="-122"/>
              </a:rPr>
              <a:t>The first example of a programming design pattern shown is the </a:t>
            </a:r>
            <a:r>
              <a:rPr lang="en-US" altLang="zh-CN" sz="2600" u="sng" dirty="0">
                <a:ea typeface="宋体" panose="02010600030101010101" pitchFamily="2" charset="-122"/>
              </a:rPr>
              <a:t>Controller Pattern</a:t>
            </a:r>
            <a:r>
              <a:rPr lang="zh-CN" altLang="en-US" sz="2600" u="sng" dirty="0">
                <a:ea typeface="宋体" panose="02010600030101010101" pitchFamily="2" charset="-122"/>
              </a:rPr>
              <a:t>（控制器模式）</a:t>
            </a:r>
            <a:r>
              <a:rPr lang="en-US" altLang="zh-CN" sz="2600" dirty="0">
                <a:ea typeface="宋体" panose="02010600030101010101" pitchFamily="2" charset="-122"/>
              </a:rPr>
              <a:t>.</a:t>
            </a:r>
          </a:p>
          <a:p>
            <a:pPr lvl="1" eaLnBrk="1" hangingPunct="1">
              <a:lnSpc>
                <a:spcPct val="80000"/>
              </a:lnSpc>
            </a:pPr>
            <a:r>
              <a:rPr lang="en-US" altLang="zh-CN" sz="2200" dirty="0">
                <a:ea typeface="宋体" panose="02010600030101010101" pitchFamily="2" charset="-122"/>
              </a:rPr>
              <a:t>Problem is deciding how to handle all of the messages from the </a:t>
            </a:r>
            <a:r>
              <a:rPr lang="en-US" altLang="zh-CN" sz="2200" u="sng" dirty="0">
                <a:ea typeface="宋体" panose="02010600030101010101" pitchFamily="2" charset="-122"/>
              </a:rPr>
              <a:t>view layer </a:t>
            </a:r>
            <a:r>
              <a:rPr lang="en-US" altLang="zh-CN" sz="2200" dirty="0">
                <a:ea typeface="宋体" panose="02010600030101010101" pitchFamily="2" charset="-122"/>
              </a:rPr>
              <a:t>to classes in the </a:t>
            </a:r>
            <a:r>
              <a:rPr lang="en-US" altLang="zh-CN" sz="2200" u="sng" dirty="0">
                <a:ea typeface="宋体" panose="02010600030101010101" pitchFamily="2" charset="-122"/>
              </a:rPr>
              <a:t>problem domain layer </a:t>
            </a:r>
            <a:r>
              <a:rPr lang="en-US" altLang="zh-CN" sz="2200" dirty="0">
                <a:ea typeface="宋体" panose="02010600030101010101" pitchFamily="2" charset="-122"/>
              </a:rPr>
              <a:t>to </a:t>
            </a:r>
            <a:r>
              <a:rPr lang="en-US" altLang="zh-CN" sz="2200" u="sng" dirty="0">
                <a:ea typeface="宋体" panose="02010600030101010101" pitchFamily="2" charset="-122"/>
              </a:rPr>
              <a:t>reduce coupling</a:t>
            </a:r>
            <a:r>
              <a:rPr lang="zh-CN" altLang="en-US" sz="2200" u="sng" dirty="0">
                <a:ea typeface="宋体" panose="02010600030101010101" pitchFamily="2" charset="-122"/>
              </a:rPr>
              <a:t> （问题是决定如何处理从视图层到问题域层中的类的所有消息，以减少耦合）</a:t>
            </a:r>
            <a:r>
              <a:rPr lang="en-US" altLang="zh-CN" sz="2200" u="sng" dirty="0">
                <a:ea typeface="宋体" panose="02010600030101010101" pitchFamily="2" charset="-122"/>
              </a:rPr>
              <a:t> </a:t>
            </a:r>
          </a:p>
          <a:p>
            <a:pPr lvl="1" eaLnBrk="1" hangingPunct="1">
              <a:lnSpc>
                <a:spcPct val="80000"/>
              </a:lnSpc>
            </a:pPr>
            <a:r>
              <a:rPr lang="en-US" altLang="zh-CN" sz="2200" dirty="0">
                <a:ea typeface="宋体" panose="02010600030101010101" pitchFamily="2" charset="-122"/>
              </a:rPr>
              <a:t>Solution is to </a:t>
            </a:r>
            <a:r>
              <a:rPr lang="en-US" altLang="zh-CN" sz="2200" u="sng" dirty="0">
                <a:ea typeface="宋体" panose="02010600030101010101" pitchFamily="2" charset="-122"/>
              </a:rPr>
              <a:t>assign one class between the view layer and the problem domain layer </a:t>
            </a:r>
            <a:r>
              <a:rPr lang="en-US" altLang="zh-CN" sz="2200" dirty="0">
                <a:ea typeface="宋体" panose="02010600030101010101" pitchFamily="2" charset="-122"/>
              </a:rPr>
              <a:t>that receives all messages and acts as a switchboard directing messages to the problem domain</a:t>
            </a:r>
            <a:r>
              <a:rPr lang="zh-CN" altLang="en-US" sz="2200" dirty="0">
                <a:ea typeface="宋体" panose="02010600030101010101" pitchFamily="2" charset="-122"/>
              </a:rPr>
              <a:t>（ 解决方案是在视图层和问题域层之间分配一个类，它接收所有消息并充当将消息定向到问题域的交换机）</a:t>
            </a:r>
            <a:endParaRPr lang="en-US" altLang="zh-CN" sz="2200" dirty="0">
              <a:ea typeface="宋体" panose="02010600030101010101" pitchFamily="2" charset="-122"/>
            </a:endParaRPr>
          </a:p>
          <a:p>
            <a:pPr lvl="1" eaLnBrk="1" hangingPunct="1">
              <a:lnSpc>
                <a:spcPct val="80000"/>
              </a:lnSpc>
            </a:pPr>
            <a:endParaRPr lang="en-US" altLang="zh-CN" sz="2200" dirty="0">
              <a:ea typeface="宋体" panose="02010600030101010101" pitchFamily="2" charset="-122"/>
            </a:endParaRPr>
          </a:p>
        </p:txBody>
      </p:sp>
      <p:sp>
        <p:nvSpPr>
          <p:cNvPr id="10245" name="Rectangle 4">
            <a:extLst>
              <a:ext uri="{FF2B5EF4-FFF2-40B4-BE49-F238E27FC236}">
                <a16:creationId xmlns:a16="http://schemas.microsoft.com/office/drawing/2014/main" id="{ED6E8A49-1C50-4389-A057-A01ED576D12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0246" name="Footer Placeholder 4">
            <a:extLst>
              <a:ext uri="{FF2B5EF4-FFF2-40B4-BE49-F238E27FC236}">
                <a16:creationId xmlns:a16="http://schemas.microsoft.com/office/drawing/2014/main" id="{8F873DE0-73B1-44E4-8266-36DB46E3232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944010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29</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p>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Use Case Realization with Sequence Diagrams</a:t>
            </a:r>
            <a:r>
              <a:rPr lang="zh-CN" altLang="en-US" sz="3000" dirty="0">
                <a:solidFill>
                  <a:srgbClr val="C00000"/>
                </a:solidFill>
              </a:rPr>
              <a:t>（用例实现和顺序图）</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Designing with Communication Diagrams</a:t>
            </a:r>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Design Classes</a:t>
            </a: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182060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BA756188-7A01-43AE-BB16-B1394B52C1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419549F-2B95-4561-8DDF-28AB12D3F961}" type="slidenum">
              <a:rPr lang="en-US" altLang="en-US"/>
              <a:pPr eaLnBrk="1" hangingPunct="1"/>
              <a:t>30</a:t>
            </a:fld>
            <a:endParaRPr lang="en-US" altLang="en-US"/>
          </a:p>
        </p:txBody>
      </p:sp>
      <p:sp>
        <p:nvSpPr>
          <p:cNvPr id="12291" name="Rectangle 2">
            <a:extLst>
              <a:ext uri="{FF2B5EF4-FFF2-40B4-BE49-F238E27FC236}">
                <a16:creationId xmlns:a16="http://schemas.microsoft.com/office/drawing/2014/main" id="{BD61EA09-E3BC-4FD1-8790-CF6920747D9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Use Case Realization with Sequence Diagrams</a:t>
            </a:r>
            <a:endParaRPr lang="en-US" altLang="zh-CN" sz="2800">
              <a:ea typeface="宋体" panose="02010600030101010101" pitchFamily="2" charset="-122"/>
            </a:endParaRPr>
          </a:p>
        </p:txBody>
      </p:sp>
      <p:sp>
        <p:nvSpPr>
          <p:cNvPr id="12292" name="Rectangle 3">
            <a:extLst>
              <a:ext uri="{FF2B5EF4-FFF2-40B4-BE49-F238E27FC236}">
                <a16:creationId xmlns:a16="http://schemas.microsoft.com/office/drawing/2014/main" id="{B65784D7-33A5-48C7-9788-993157CDC796}"/>
              </a:ext>
            </a:extLst>
          </p:cNvPr>
          <p:cNvSpPr>
            <a:spLocks noGrp="1" noChangeArrowheads="1"/>
          </p:cNvSpPr>
          <p:nvPr>
            <p:ph type="body" idx="1"/>
          </p:nvPr>
        </p:nvSpPr>
        <p:spPr>
          <a:xfrm>
            <a:off x="304800" y="1447800"/>
            <a:ext cx="8610600" cy="4724400"/>
          </a:xfrm>
        </p:spPr>
        <p:txBody>
          <a:bodyPr/>
          <a:lstStyle/>
          <a:p>
            <a:pPr eaLnBrk="1" hangingPunct="1"/>
            <a:r>
              <a:rPr lang="en-US" altLang="zh-CN" sz="2600" dirty="0">
                <a:ea typeface="宋体" panose="02010600030101010101" pitchFamily="2" charset="-122"/>
              </a:rPr>
              <a:t>Use case realization</a:t>
            </a:r>
            <a:r>
              <a:rPr lang="zh-CN" altLang="en-US" sz="2600" dirty="0">
                <a:ea typeface="宋体" panose="02010600030101010101" pitchFamily="2" charset="-122"/>
              </a:rPr>
              <a:t>（用例实现）</a:t>
            </a:r>
            <a:r>
              <a:rPr lang="en-US" altLang="zh-CN" sz="2600" dirty="0">
                <a:ea typeface="宋体" panose="02010600030101010101" pitchFamily="2" charset="-122"/>
              </a:rPr>
              <a:t>—the process of elaborating the detailed design of a use case with interaction diagrams</a:t>
            </a:r>
            <a:r>
              <a:rPr lang="zh-CN" altLang="en-US" sz="2600" dirty="0">
                <a:ea typeface="宋体" panose="02010600030101010101" pitchFamily="2" charset="-122"/>
              </a:rPr>
              <a:t>（用交互图详细说明用例的详细设计的过程）</a:t>
            </a:r>
            <a:endParaRPr lang="en-US" altLang="zh-CN" sz="2600" dirty="0">
              <a:ea typeface="宋体" panose="02010600030101010101" pitchFamily="2" charset="-122"/>
            </a:endParaRPr>
          </a:p>
          <a:p>
            <a:pPr eaLnBrk="1" hangingPunct="1"/>
            <a:r>
              <a:rPr lang="en-US" altLang="zh-CN" sz="2600" dirty="0">
                <a:ea typeface="宋体" panose="02010600030101010101" pitchFamily="2" charset="-122"/>
              </a:rPr>
              <a:t>Two types of interaction diagrams</a:t>
            </a:r>
          </a:p>
          <a:p>
            <a:pPr lvl="1" eaLnBrk="1" hangingPunct="1"/>
            <a:r>
              <a:rPr lang="en-US" altLang="zh-CN" sz="2000" dirty="0">
                <a:ea typeface="宋体" panose="02010600030101010101" pitchFamily="2" charset="-122"/>
              </a:rPr>
              <a:t>UML sequence diagram (emphasized in text)</a:t>
            </a:r>
            <a:r>
              <a:rPr lang="zh-CN" altLang="en-US" sz="2000" dirty="0">
                <a:ea typeface="宋体" panose="02010600030101010101" pitchFamily="2" charset="-122"/>
              </a:rPr>
              <a:t>（顺序图）</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UML communication diagram (also introduced)</a:t>
            </a:r>
            <a:r>
              <a:rPr lang="zh-CN" altLang="en-US" sz="2000" dirty="0">
                <a:ea typeface="宋体" panose="02010600030101010101" pitchFamily="2" charset="-122"/>
              </a:rPr>
              <a:t>（通信图）</a:t>
            </a:r>
            <a:endParaRPr lang="en-US" altLang="zh-CN" sz="2000" dirty="0">
              <a:ea typeface="宋体" panose="02010600030101010101" pitchFamily="2" charset="-122"/>
            </a:endParaRPr>
          </a:p>
          <a:p>
            <a:pPr eaLnBrk="1" hangingPunct="1"/>
            <a:endParaRPr lang="en-US" altLang="zh-CN" sz="2000" dirty="0">
              <a:ea typeface="宋体" panose="02010600030101010101" pitchFamily="2" charset="-122"/>
            </a:endParaRPr>
          </a:p>
        </p:txBody>
      </p:sp>
      <p:sp>
        <p:nvSpPr>
          <p:cNvPr id="12293" name="Rectangle 4">
            <a:extLst>
              <a:ext uri="{FF2B5EF4-FFF2-40B4-BE49-F238E27FC236}">
                <a16:creationId xmlns:a16="http://schemas.microsoft.com/office/drawing/2014/main" id="{388BE6BC-36DE-44D6-8706-B16E5F1FAFD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2294" name="Footer Placeholder 4">
            <a:extLst>
              <a:ext uri="{FF2B5EF4-FFF2-40B4-BE49-F238E27FC236}">
                <a16:creationId xmlns:a16="http://schemas.microsoft.com/office/drawing/2014/main" id="{106307D2-B4FD-4758-95F9-CDF819E1B9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BA756188-7A01-43AE-BB16-B1394B52C1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419549F-2B95-4561-8DDF-28AB12D3F961}" type="slidenum">
              <a:rPr lang="en-US" altLang="en-US"/>
              <a:pPr eaLnBrk="1" hangingPunct="1"/>
              <a:t>31</a:t>
            </a:fld>
            <a:endParaRPr lang="en-US" altLang="en-US"/>
          </a:p>
        </p:txBody>
      </p:sp>
      <p:sp>
        <p:nvSpPr>
          <p:cNvPr id="12291" name="Rectangle 2">
            <a:extLst>
              <a:ext uri="{FF2B5EF4-FFF2-40B4-BE49-F238E27FC236}">
                <a16:creationId xmlns:a16="http://schemas.microsoft.com/office/drawing/2014/main" id="{BD61EA09-E3BC-4FD1-8790-CF6920747D99}"/>
              </a:ext>
            </a:extLst>
          </p:cNvPr>
          <p:cNvSpPr>
            <a:spLocks noGrp="1" noChangeArrowheads="1"/>
          </p:cNvSpPr>
          <p:nvPr>
            <p:ph type="title"/>
          </p:nvPr>
        </p:nvSpPr>
        <p:spPr>
          <a:xfrm>
            <a:off x="304800" y="122238"/>
            <a:ext cx="7696200" cy="1173162"/>
          </a:xfrm>
        </p:spPr>
        <p:txBody>
          <a:bodyPr/>
          <a:lstStyle/>
          <a:p>
            <a:pPr eaLnBrk="1" hangingPunct="1"/>
            <a:r>
              <a:rPr lang="en-US" altLang="zh-CN" sz="3600">
                <a:ea typeface="宋体" panose="02010600030101010101" pitchFamily="2" charset="-122"/>
              </a:rPr>
              <a:t>Use Case Realization with Sequence Diagrams</a:t>
            </a:r>
            <a:endParaRPr lang="en-US" altLang="zh-CN" sz="2800">
              <a:ea typeface="宋体" panose="02010600030101010101" pitchFamily="2" charset="-122"/>
            </a:endParaRPr>
          </a:p>
        </p:txBody>
      </p:sp>
      <p:sp>
        <p:nvSpPr>
          <p:cNvPr id="12292" name="Rectangle 3">
            <a:extLst>
              <a:ext uri="{FF2B5EF4-FFF2-40B4-BE49-F238E27FC236}">
                <a16:creationId xmlns:a16="http://schemas.microsoft.com/office/drawing/2014/main" id="{B65784D7-33A5-48C7-9788-993157CDC796}"/>
              </a:ext>
            </a:extLst>
          </p:cNvPr>
          <p:cNvSpPr>
            <a:spLocks noGrp="1" noChangeArrowheads="1"/>
          </p:cNvSpPr>
          <p:nvPr>
            <p:ph type="body" idx="1"/>
          </p:nvPr>
        </p:nvSpPr>
        <p:spPr>
          <a:xfrm>
            <a:off x="304800" y="1447800"/>
            <a:ext cx="8610600" cy="4724400"/>
          </a:xfrm>
        </p:spPr>
        <p:txBody>
          <a:bodyPr/>
          <a:lstStyle/>
          <a:p>
            <a:pPr eaLnBrk="1" hangingPunct="1"/>
            <a:r>
              <a:rPr lang="en-US" altLang="zh-CN" sz="2600" dirty="0">
                <a:ea typeface="宋体" panose="02010600030101010101" pitchFamily="2" charset="-122"/>
              </a:rPr>
              <a:t>Sequence diagrams, aka use case realization sequence diagrams, extend the system sequence diagram (SSD) to show:</a:t>
            </a:r>
          </a:p>
          <a:p>
            <a:pPr lvl="1" eaLnBrk="1" hangingPunct="1"/>
            <a:r>
              <a:rPr lang="en-US" altLang="zh-CN" sz="2000" dirty="0">
                <a:ea typeface="宋体" panose="02010600030101010101" pitchFamily="2" charset="-122"/>
              </a:rPr>
              <a:t>View layer objects</a:t>
            </a:r>
          </a:p>
          <a:p>
            <a:pPr lvl="1" eaLnBrk="1" hangingPunct="1"/>
            <a:r>
              <a:rPr lang="en-US" altLang="zh-CN" sz="2000" dirty="0">
                <a:ea typeface="宋体" panose="02010600030101010101" pitchFamily="2" charset="-122"/>
              </a:rPr>
              <a:t>Domain layer objects (usually done first)</a:t>
            </a:r>
          </a:p>
          <a:p>
            <a:pPr lvl="1" eaLnBrk="1" hangingPunct="1"/>
            <a:r>
              <a:rPr lang="en-US" altLang="zh-CN" sz="2000" dirty="0">
                <a:ea typeface="宋体" panose="02010600030101010101" pitchFamily="2" charset="-122"/>
              </a:rPr>
              <a:t>Data access layer objects</a:t>
            </a:r>
          </a:p>
          <a:p>
            <a:pPr algn="l"/>
            <a:r>
              <a:rPr lang="zh-CN" altLang="en-US" sz="2400" b="0" i="0" dirty="0">
                <a:solidFill>
                  <a:srgbClr val="2A2B2E"/>
                </a:solidFill>
                <a:effectLst/>
                <a:latin typeface="PingFang SC"/>
              </a:rPr>
              <a:t>顺序图，又名用例实现</a:t>
            </a:r>
            <a:r>
              <a:rPr lang="zh-CN" altLang="en-US" sz="2400" dirty="0">
                <a:solidFill>
                  <a:srgbClr val="2A2B2E"/>
                </a:solidFill>
                <a:latin typeface="PingFang SC"/>
              </a:rPr>
              <a:t>，是通过扩展第四章的系统顺序图</a:t>
            </a:r>
            <a:r>
              <a:rPr lang="en-US" altLang="zh-CN" sz="2400" dirty="0">
                <a:solidFill>
                  <a:srgbClr val="2A2B2E"/>
                </a:solidFill>
                <a:latin typeface="PingFang SC"/>
              </a:rPr>
              <a:t>(SSD)</a:t>
            </a:r>
            <a:r>
              <a:rPr lang="zh-CN" altLang="en-US" sz="2400" dirty="0">
                <a:solidFill>
                  <a:srgbClr val="2A2B2E"/>
                </a:solidFill>
                <a:latin typeface="PingFang SC"/>
              </a:rPr>
              <a:t>来展示的，包括：</a:t>
            </a:r>
            <a:endParaRPr lang="en-US" altLang="zh-CN" sz="2400" dirty="0">
              <a:solidFill>
                <a:srgbClr val="2A2B2E"/>
              </a:solidFill>
              <a:latin typeface="PingFang SC"/>
            </a:endParaRPr>
          </a:p>
          <a:p>
            <a:pPr lvl="1"/>
            <a:r>
              <a:rPr lang="zh-CN" altLang="en-US" sz="2000" b="0" i="0" dirty="0">
                <a:solidFill>
                  <a:srgbClr val="2A2B2E"/>
                </a:solidFill>
                <a:effectLst/>
                <a:latin typeface="PingFang SC"/>
              </a:rPr>
              <a:t>  视图层对象</a:t>
            </a:r>
            <a:endParaRPr lang="en-US" altLang="zh-CN" sz="2000" b="0" i="0" dirty="0">
              <a:solidFill>
                <a:srgbClr val="2A2B2E"/>
              </a:solidFill>
              <a:effectLst/>
              <a:latin typeface="PingFang SC"/>
            </a:endParaRPr>
          </a:p>
          <a:p>
            <a:pPr lvl="1"/>
            <a:r>
              <a:rPr lang="en-US" altLang="zh-CN" sz="2000" b="0" i="0" dirty="0">
                <a:solidFill>
                  <a:srgbClr val="2A2B2E"/>
                </a:solidFill>
                <a:effectLst/>
                <a:latin typeface="PingFang SC"/>
              </a:rPr>
              <a:t>  </a:t>
            </a:r>
            <a:r>
              <a:rPr lang="zh-CN" altLang="en-US" sz="2000" b="0" i="0" dirty="0">
                <a:solidFill>
                  <a:srgbClr val="2A2B2E"/>
                </a:solidFill>
                <a:effectLst/>
                <a:latin typeface="PingFang SC"/>
              </a:rPr>
              <a:t>域层对象</a:t>
            </a:r>
            <a:endParaRPr lang="en-US" altLang="zh-CN" sz="2000" b="0" i="0" dirty="0">
              <a:solidFill>
                <a:srgbClr val="2A2B2E"/>
              </a:solidFill>
              <a:effectLst/>
              <a:latin typeface="PingFang SC"/>
            </a:endParaRPr>
          </a:p>
          <a:p>
            <a:pPr lvl="1"/>
            <a:r>
              <a:rPr lang="en-US" altLang="zh-CN" sz="2000" b="0" i="0" dirty="0">
                <a:solidFill>
                  <a:srgbClr val="2A2B2E"/>
                </a:solidFill>
                <a:effectLst/>
                <a:latin typeface="PingFang SC"/>
              </a:rPr>
              <a:t>  </a:t>
            </a:r>
            <a:r>
              <a:rPr lang="zh-CN" altLang="en-US" sz="2000" b="0" i="0" dirty="0">
                <a:solidFill>
                  <a:srgbClr val="2A2B2E"/>
                </a:solidFill>
                <a:effectLst/>
                <a:latin typeface="PingFang SC"/>
              </a:rPr>
              <a:t>数据访问层对象</a:t>
            </a:r>
            <a:endParaRPr lang="zh-CN" altLang="en-US" sz="2000" dirty="0"/>
          </a:p>
          <a:p>
            <a:pPr eaLnBrk="1" hangingPunct="1"/>
            <a:endParaRPr lang="en-US" altLang="zh-CN" sz="2400" dirty="0">
              <a:ea typeface="宋体" panose="02010600030101010101" pitchFamily="2" charset="-122"/>
            </a:endParaRPr>
          </a:p>
        </p:txBody>
      </p:sp>
      <p:sp>
        <p:nvSpPr>
          <p:cNvPr id="12293" name="Rectangle 4">
            <a:extLst>
              <a:ext uri="{FF2B5EF4-FFF2-40B4-BE49-F238E27FC236}">
                <a16:creationId xmlns:a16="http://schemas.microsoft.com/office/drawing/2014/main" id="{388BE6BC-36DE-44D6-8706-B16E5F1FAFD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2294" name="Footer Placeholder 4">
            <a:extLst>
              <a:ext uri="{FF2B5EF4-FFF2-40B4-BE49-F238E27FC236}">
                <a16:creationId xmlns:a16="http://schemas.microsoft.com/office/drawing/2014/main" id="{106307D2-B4FD-4758-95F9-CDF819E1B93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133847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EEC60D40-4D07-48E9-BEDE-42CB8C98E2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563EBC8-B87D-4D24-B8EF-82683A416DB3}" type="slidenum">
              <a:rPr lang="en-US" altLang="en-US"/>
              <a:pPr eaLnBrk="1" hangingPunct="1"/>
              <a:t>32</a:t>
            </a:fld>
            <a:endParaRPr lang="en-US" altLang="en-US"/>
          </a:p>
        </p:txBody>
      </p:sp>
      <p:sp>
        <p:nvSpPr>
          <p:cNvPr id="13315" name="Rectangle 2">
            <a:extLst>
              <a:ext uri="{FF2B5EF4-FFF2-40B4-BE49-F238E27FC236}">
                <a16:creationId xmlns:a16="http://schemas.microsoft.com/office/drawing/2014/main" id="{ADD61D0A-456A-4682-A24F-C0684CF2BFFE}"/>
              </a:ext>
            </a:extLst>
          </p:cNvPr>
          <p:cNvSpPr>
            <a:spLocks noGrp="1" noChangeArrowheads="1"/>
          </p:cNvSpPr>
          <p:nvPr>
            <p:ph type="title"/>
          </p:nvPr>
        </p:nvSpPr>
        <p:spPr>
          <a:xfrm>
            <a:off x="381000" y="457200"/>
            <a:ext cx="2438400" cy="4800600"/>
          </a:xfrm>
        </p:spPr>
        <p:txBody>
          <a:bodyPr/>
          <a:lstStyle/>
          <a:p>
            <a:pPr eaLnBrk="1" hangingPunct="1"/>
            <a:r>
              <a:rPr lang="en-US" altLang="zh-CN" sz="2600">
                <a:ea typeface="宋体" panose="02010600030101010101" pitchFamily="2" charset="-122"/>
              </a:rPr>
              <a:t>Start with System Sequence Diagram (SSD)</a:t>
            </a:r>
            <a:br>
              <a:rPr lang="en-US" altLang="zh-CN" sz="2600">
                <a:ea typeface="宋体" panose="02010600030101010101" pitchFamily="2" charset="-122"/>
              </a:rPr>
            </a:br>
            <a:br>
              <a:rPr lang="en-US" altLang="zh-CN" sz="2600">
                <a:ea typeface="宋体" panose="02010600030101010101" pitchFamily="2" charset="-122"/>
              </a:rPr>
            </a:br>
            <a:br>
              <a:rPr lang="en-US" altLang="zh-CN" sz="2600">
                <a:ea typeface="宋体" panose="02010600030101010101" pitchFamily="2" charset="-122"/>
              </a:rPr>
            </a:br>
            <a:r>
              <a:rPr lang="en-US" altLang="zh-CN" sz="2600">
                <a:ea typeface="宋体" panose="02010600030101010101" pitchFamily="2" charset="-122"/>
              </a:rPr>
              <a:t>Use case </a:t>
            </a:r>
            <a:r>
              <a:rPr lang="en-US" altLang="zh-CN" sz="2600" i="1">
                <a:ea typeface="宋体" panose="02010600030101010101" pitchFamily="2" charset="-122"/>
              </a:rPr>
              <a:t>Create customer account</a:t>
            </a:r>
            <a:br>
              <a:rPr lang="en-US" altLang="zh-CN" sz="2600">
                <a:ea typeface="宋体" panose="02010600030101010101" pitchFamily="2" charset="-122"/>
              </a:rPr>
            </a:br>
            <a:endParaRPr lang="en-US" altLang="zh-CN" sz="2600">
              <a:ea typeface="宋体" panose="02010600030101010101" pitchFamily="2" charset="-122"/>
            </a:endParaRPr>
          </a:p>
        </p:txBody>
      </p:sp>
      <p:pic>
        <p:nvPicPr>
          <p:cNvPr id="13316" name="Picture 4">
            <a:extLst>
              <a:ext uri="{FF2B5EF4-FFF2-40B4-BE49-F238E27FC236}">
                <a16:creationId xmlns:a16="http://schemas.microsoft.com/office/drawing/2014/main" id="{3A99971A-BB49-462A-85B2-1A03BA74F8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4614" y="269488"/>
            <a:ext cx="5864225"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4">
            <a:extLst>
              <a:ext uri="{FF2B5EF4-FFF2-40B4-BE49-F238E27FC236}">
                <a16:creationId xmlns:a16="http://schemas.microsoft.com/office/drawing/2014/main" id="{B0A1901C-100B-479E-9BE8-AD97790A290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3318" name="Footer Placeholder 4">
            <a:extLst>
              <a:ext uri="{FF2B5EF4-FFF2-40B4-BE49-F238E27FC236}">
                <a16:creationId xmlns:a16="http://schemas.microsoft.com/office/drawing/2014/main" id="{B5A42425-9A76-4F6D-80D6-38AC68B97B8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FE4F3FB6-8CA1-4D9D-A67F-5E86BEF1BA91}"/>
              </a:ext>
            </a:extLst>
          </p:cNvPr>
          <p:cNvSpPr/>
          <p:nvPr/>
        </p:nvSpPr>
        <p:spPr>
          <a:xfrm>
            <a:off x="6324600" y="457200"/>
            <a:ext cx="1676400" cy="1905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a:extLst>
              <a:ext uri="{FF2B5EF4-FFF2-40B4-BE49-F238E27FC236}">
                <a16:creationId xmlns:a16="http://schemas.microsoft.com/office/drawing/2014/main" id="{4DBB9AE3-C12F-407F-AF10-F780419C943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4339" name="Slide Number Placeholder 5">
            <a:extLst>
              <a:ext uri="{FF2B5EF4-FFF2-40B4-BE49-F238E27FC236}">
                <a16:creationId xmlns:a16="http://schemas.microsoft.com/office/drawing/2014/main" id="{EDEA6A31-BAA4-4FDA-8BB2-E9841CEBC6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A4C5DA-C4F4-4E13-9B34-AD8845D0B413}" type="slidenum">
              <a:rPr lang="en-US" altLang="en-US"/>
              <a:pPr eaLnBrk="1" hangingPunct="1"/>
              <a:t>33</a:t>
            </a:fld>
            <a:endParaRPr lang="en-US" altLang="en-US"/>
          </a:p>
        </p:txBody>
      </p:sp>
      <p:sp>
        <p:nvSpPr>
          <p:cNvPr id="14340" name="Rectangle 2">
            <a:extLst>
              <a:ext uri="{FF2B5EF4-FFF2-40B4-BE49-F238E27FC236}">
                <a16:creationId xmlns:a16="http://schemas.microsoft.com/office/drawing/2014/main" id="{57BF9D69-F29D-4D8E-8DA7-397BF1147655}"/>
              </a:ext>
            </a:extLst>
          </p:cNvPr>
          <p:cNvSpPr>
            <a:spLocks noGrp="1" noChangeArrowheads="1"/>
          </p:cNvSpPr>
          <p:nvPr>
            <p:ph type="title"/>
          </p:nvPr>
        </p:nvSpPr>
        <p:spPr>
          <a:xfrm>
            <a:off x="381000" y="457200"/>
            <a:ext cx="6934200" cy="533400"/>
          </a:xfrm>
        </p:spPr>
        <p:txBody>
          <a:bodyPr/>
          <a:lstStyle/>
          <a:p>
            <a:pPr eaLnBrk="1" hangingPunct="1"/>
            <a:r>
              <a:rPr lang="en-US" altLang="zh-CN" sz="2600">
                <a:ea typeface="宋体" panose="02010600030101010101" pitchFamily="2" charset="-122"/>
              </a:rPr>
              <a:t>Sequence Diagram to show View Layer and Part of Problem Domain Layer</a:t>
            </a:r>
          </a:p>
        </p:txBody>
      </p:sp>
      <p:pic>
        <p:nvPicPr>
          <p:cNvPr id="14341" name="Picture 4">
            <a:extLst>
              <a:ext uri="{FF2B5EF4-FFF2-40B4-BE49-F238E27FC236}">
                <a16:creationId xmlns:a16="http://schemas.microsoft.com/office/drawing/2014/main" id="{1F8763F1-6AD0-47E8-B102-C7BCA42F0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143000"/>
            <a:ext cx="70104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4">
            <a:extLst>
              <a:ext uri="{FF2B5EF4-FFF2-40B4-BE49-F238E27FC236}">
                <a16:creationId xmlns:a16="http://schemas.microsoft.com/office/drawing/2014/main" id="{A8D9A5F1-AB74-4CA3-9EDB-5325E7E05D8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矩形 6">
            <a:extLst>
              <a:ext uri="{FF2B5EF4-FFF2-40B4-BE49-F238E27FC236}">
                <a16:creationId xmlns:a16="http://schemas.microsoft.com/office/drawing/2014/main" id="{B7FEC62C-2FAD-4098-8DE0-0EFEAA9AB742}"/>
              </a:ext>
            </a:extLst>
          </p:cNvPr>
          <p:cNvSpPr/>
          <p:nvPr/>
        </p:nvSpPr>
        <p:spPr>
          <a:xfrm>
            <a:off x="2438400" y="1752600"/>
            <a:ext cx="1676400" cy="487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D86DD17-C0F1-4FA0-8C03-29A4D437F466}"/>
              </a:ext>
            </a:extLst>
          </p:cNvPr>
          <p:cNvSpPr/>
          <p:nvPr/>
        </p:nvSpPr>
        <p:spPr>
          <a:xfrm>
            <a:off x="4800600" y="1752600"/>
            <a:ext cx="1676400" cy="487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72B7645-CC2C-455F-A109-FB172DB87FE0}"/>
              </a:ext>
            </a:extLst>
          </p:cNvPr>
          <p:cNvSpPr/>
          <p:nvPr/>
        </p:nvSpPr>
        <p:spPr>
          <a:xfrm>
            <a:off x="6629400" y="3276600"/>
            <a:ext cx="1447800" cy="29932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a:extLst>
              <a:ext uri="{FF2B5EF4-FFF2-40B4-BE49-F238E27FC236}">
                <a16:creationId xmlns:a16="http://schemas.microsoft.com/office/drawing/2014/main" id="{4DBB9AE3-C12F-407F-AF10-F780419C943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14339" name="Slide Number Placeholder 5">
            <a:extLst>
              <a:ext uri="{FF2B5EF4-FFF2-40B4-BE49-F238E27FC236}">
                <a16:creationId xmlns:a16="http://schemas.microsoft.com/office/drawing/2014/main" id="{EDEA6A31-BAA4-4FDA-8BB2-E9841CEBC6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EA4C5DA-C4F4-4E13-9B34-AD8845D0B413}" type="slidenum">
              <a:rPr lang="en-US" altLang="en-US"/>
              <a:pPr eaLnBrk="1" hangingPunct="1"/>
              <a:t>34</a:t>
            </a:fld>
            <a:endParaRPr lang="en-US" altLang="en-US"/>
          </a:p>
        </p:txBody>
      </p:sp>
      <p:sp>
        <p:nvSpPr>
          <p:cNvPr id="14340" name="Rectangle 2">
            <a:extLst>
              <a:ext uri="{FF2B5EF4-FFF2-40B4-BE49-F238E27FC236}">
                <a16:creationId xmlns:a16="http://schemas.microsoft.com/office/drawing/2014/main" id="{57BF9D69-F29D-4D8E-8DA7-397BF1147655}"/>
              </a:ext>
            </a:extLst>
          </p:cNvPr>
          <p:cNvSpPr>
            <a:spLocks noGrp="1" noChangeArrowheads="1"/>
          </p:cNvSpPr>
          <p:nvPr>
            <p:ph type="title"/>
          </p:nvPr>
        </p:nvSpPr>
        <p:spPr>
          <a:xfrm>
            <a:off x="381000" y="457200"/>
            <a:ext cx="6934200" cy="533400"/>
          </a:xfrm>
        </p:spPr>
        <p:txBody>
          <a:bodyPr/>
          <a:lstStyle/>
          <a:p>
            <a:pPr eaLnBrk="1" hangingPunct="1"/>
            <a:r>
              <a:rPr lang="en-US" altLang="zh-CN" sz="2600">
                <a:ea typeface="宋体" panose="02010600030101010101" pitchFamily="2" charset="-122"/>
              </a:rPr>
              <a:t>Sequence Diagram to show View Layer and Part of Problem Domain Layer</a:t>
            </a:r>
          </a:p>
        </p:txBody>
      </p:sp>
      <p:pic>
        <p:nvPicPr>
          <p:cNvPr id="14341" name="Picture 4">
            <a:extLst>
              <a:ext uri="{FF2B5EF4-FFF2-40B4-BE49-F238E27FC236}">
                <a16:creationId xmlns:a16="http://schemas.microsoft.com/office/drawing/2014/main" id="{1F8763F1-6AD0-47E8-B102-C7BCA42F0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143000"/>
            <a:ext cx="70104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4">
            <a:extLst>
              <a:ext uri="{FF2B5EF4-FFF2-40B4-BE49-F238E27FC236}">
                <a16:creationId xmlns:a16="http://schemas.microsoft.com/office/drawing/2014/main" id="{A8D9A5F1-AB74-4CA3-9EDB-5325E7E05D8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矩形 6">
            <a:extLst>
              <a:ext uri="{FF2B5EF4-FFF2-40B4-BE49-F238E27FC236}">
                <a16:creationId xmlns:a16="http://schemas.microsoft.com/office/drawing/2014/main" id="{B7FEC62C-2FAD-4098-8DE0-0EFEAA9AB742}"/>
              </a:ext>
            </a:extLst>
          </p:cNvPr>
          <p:cNvSpPr/>
          <p:nvPr/>
        </p:nvSpPr>
        <p:spPr>
          <a:xfrm>
            <a:off x="1143000" y="2743200"/>
            <a:ext cx="6934200" cy="1524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D86DD17-C0F1-4FA0-8C03-29A4D437F466}"/>
              </a:ext>
            </a:extLst>
          </p:cNvPr>
          <p:cNvSpPr/>
          <p:nvPr/>
        </p:nvSpPr>
        <p:spPr>
          <a:xfrm>
            <a:off x="1143000" y="4343400"/>
            <a:ext cx="69342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72B7645-CC2C-455F-A109-FB172DB87FE0}"/>
              </a:ext>
            </a:extLst>
          </p:cNvPr>
          <p:cNvSpPr/>
          <p:nvPr/>
        </p:nvSpPr>
        <p:spPr>
          <a:xfrm>
            <a:off x="1143000" y="5257800"/>
            <a:ext cx="6934200" cy="10120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3490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2777AC33-C5DC-43CD-B44E-33CB59FA21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0F7737-AD01-4456-B977-61CC785EE31F}" type="slidenum">
              <a:rPr lang="en-US" altLang="en-US"/>
              <a:pPr eaLnBrk="1" hangingPunct="1"/>
              <a:t>35</a:t>
            </a:fld>
            <a:endParaRPr lang="en-US" altLang="en-US"/>
          </a:p>
        </p:txBody>
      </p:sp>
      <p:sp>
        <p:nvSpPr>
          <p:cNvPr id="15363" name="Rectangle 2">
            <a:extLst>
              <a:ext uri="{FF2B5EF4-FFF2-40B4-BE49-F238E27FC236}">
                <a16:creationId xmlns:a16="http://schemas.microsoft.com/office/drawing/2014/main" id="{1F611B17-A47C-47FA-BCF7-71F585D02905}"/>
              </a:ext>
            </a:extLst>
          </p:cNvPr>
          <p:cNvSpPr>
            <a:spLocks noGrp="1" noChangeArrowheads="1"/>
          </p:cNvSpPr>
          <p:nvPr>
            <p:ph type="title"/>
          </p:nvPr>
        </p:nvSpPr>
        <p:spPr>
          <a:xfrm>
            <a:off x="304800" y="349931"/>
            <a:ext cx="7696200" cy="715962"/>
          </a:xfrm>
        </p:spPr>
        <p:txBody>
          <a:bodyPr/>
          <a:lstStyle/>
          <a:p>
            <a:pPr eaLnBrk="1" hangingPunct="1"/>
            <a:r>
              <a:rPr lang="en-US" altLang="zh-CN" sz="3200" dirty="0">
                <a:ea typeface="宋体" panose="02010600030101010101" pitchFamily="2" charset="-122"/>
              </a:rPr>
              <a:t>Notes of Expanded Sequence Diagram</a:t>
            </a:r>
            <a:br>
              <a:rPr lang="en-US" altLang="zh-CN" sz="3200" dirty="0">
                <a:ea typeface="宋体" panose="02010600030101010101" pitchFamily="2" charset="-122"/>
              </a:rPr>
            </a:br>
            <a:r>
              <a:rPr lang="zh-CN" altLang="en-US" sz="3200" dirty="0">
                <a:ea typeface="宋体" panose="02010600030101010101" pitchFamily="2" charset="-122"/>
              </a:rPr>
              <a:t>（扩展顺序图注意事项）</a:t>
            </a:r>
            <a:endParaRPr lang="en-US" altLang="zh-CN" sz="3200" dirty="0">
              <a:ea typeface="宋体" panose="02010600030101010101" pitchFamily="2" charset="-122"/>
            </a:endParaRPr>
          </a:p>
        </p:txBody>
      </p:sp>
      <p:sp>
        <p:nvSpPr>
          <p:cNvPr id="15364" name="Rectangle 3">
            <a:extLst>
              <a:ext uri="{FF2B5EF4-FFF2-40B4-BE49-F238E27FC236}">
                <a16:creationId xmlns:a16="http://schemas.microsoft.com/office/drawing/2014/main" id="{41CE1A53-8D51-4E0C-B351-43BF380091BF}"/>
              </a:ext>
            </a:extLst>
          </p:cNvPr>
          <p:cNvSpPr>
            <a:spLocks noGrp="1" noChangeArrowheads="1"/>
          </p:cNvSpPr>
          <p:nvPr>
            <p:ph type="body" idx="1"/>
          </p:nvPr>
        </p:nvSpPr>
        <p:spPr>
          <a:xfrm>
            <a:off x="134937" y="1065893"/>
            <a:ext cx="8763000" cy="5257800"/>
          </a:xfrm>
        </p:spPr>
        <p:txBody>
          <a:bodyPr/>
          <a:lstStyle/>
          <a:p>
            <a:pPr eaLnBrk="1" hangingPunct="1"/>
            <a:r>
              <a:rPr lang="en-US" altLang="zh-CN" sz="2400" dirty="0">
                <a:ea typeface="宋体" panose="02010600030101010101" pitchFamily="2" charset="-122"/>
              </a:rPr>
              <a:t>This is a two layer architecture, as the domain class Customer knows about the database and executes SQL statements for data access</a:t>
            </a:r>
            <a:r>
              <a:rPr lang="zh-CN" altLang="en-US" sz="2400" dirty="0">
                <a:ea typeface="宋体" panose="02010600030101010101" pitchFamily="2" charset="-122"/>
              </a:rPr>
              <a:t>（这是一个两层体系结构，因为域类</a:t>
            </a:r>
            <a:r>
              <a:rPr lang="en-US" altLang="zh-CN" sz="2400" dirty="0">
                <a:ea typeface="宋体" panose="02010600030101010101" pitchFamily="2" charset="-122"/>
              </a:rPr>
              <a:t>Customer</a:t>
            </a:r>
            <a:r>
              <a:rPr lang="zh-CN" altLang="en-US" sz="2400" dirty="0">
                <a:ea typeface="宋体" panose="02010600030101010101" pitchFamily="2" charset="-122"/>
              </a:rPr>
              <a:t>了解数据库并执行</a:t>
            </a:r>
            <a:r>
              <a:rPr lang="en-US" altLang="zh-CN" sz="2400" dirty="0">
                <a:ea typeface="宋体" panose="02010600030101010101" pitchFamily="2" charset="-122"/>
              </a:rPr>
              <a:t>SQL</a:t>
            </a:r>
            <a:r>
              <a:rPr lang="zh-CN" altLang="en-US" sz="2400" dirty="0">
                <a:ea typeface="宋体" panose="02010600030101010101" pitchFamily="2" charset="-122"/>
              </a:rPr>
              <a:t>语句进行数据访问）</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Three layer design would add a </a:t>
            </a:r>
            <a:r>
              <a:rPr lang="en-US" altLang="zh-CN" sz="2400" u="sng" dirty="0">
                <a:ea typeface="宋体" panose="02010600030101010101" pitchFamily="2" charset="-122"/>
              </a:rPr>
              <a:t>data access class </a:t>
            </a:r>
            <a:r>
              <a:rPr lang="en-US" altLang="zh-CN" sz="2400" dirty="0">
                <a:ea typeface="宋体" panose="02010600030101010101" pitchFamily="2" charset="-122"/>
              </a:rPr>
              <a:t>to handle the database resulting in higher cohesiveness and loose coupling</a:t>
            </a:r>
            <a:r>
              <a:rPr lang="zh-CN" altLang="en-US" sz="2400" dirty="0">
                <a:ea typeface="宋体" panose="02010600030101010101" pitchFamily="2" charset="-122"/>
              </a:rPr>
              <a:t>（三层设计将添加一个数据访问类来处理数据库，从而产生更高的内聚性和松耦合）</a:t>
            </a:r>
            <a:endParaRPr lang="en-US" altLang="zh-CN" sz="2400" dirty="0">
              <a:ea typeface="宋体" panose="02010600030101010101" pitchFamily="2" charset="-122"/>
            </a:endParaRPr>
          </a:p>
        </p:txBody>
      </p:sp>
      <p:sp>
        <p:nvSpPr>
          <p:cNvPr id="15365" name="Rectangle 4">
            <a:extLst>
              <a:ext uri="{FF2B5EF4-FFF2-40B4-BE49-F238E27FC236}">
                <a16:creationId xmlns:a16="http://schemas.microsoft.com/office/drawing/2014/main" id="{8EBC80D0-FD16-4429-8F2B-EFE7E32AA8B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2777AC33-C5DC-43CD-B44E-33CB59FA21D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40F7737-AD01-4456-B977-61CC785EE31F}" type="slidenum">
              <a:rPr lang="en-US" altLang="en-US"/>
              <a:pPr eaLnBrk="1" hangingPunct="1"/>
              <a:t>36</a:t>
            </a:fld>
            <a:endParaRPr lang="en-US" altLang="en-US"/>
          </a:p>
        </p:txBody>
      </p:sp>
      <p:sp>
        <p:nvSpPr>
          <p:cNvPr id="15363" name="Rectangle 2">
            <a:extLst>
              <a:ext uri="{FF2B5EF4-FFF2-40B4-BE49-F238E27FC236}">
                <a16:creationId xmlns:a16="http://schemas.microsoft.com/office/drawing/2014/main" id="{1F611B17-A47C-47FA-BCF7-71F585D02905}"/>
              </a:ext>
            </a:extLst>
          </p:cNvPr>
          <p:cNvSpPr>
            <a:spLocks noGrp="1" noChangeArrowheads="1"/>
          </p:cNvSpPr>
          <p:nvPr>
            <p:ph type="title"/>
          </p:nvPr>
        </p:nvSpPr>
        <p:spPr>
          <a:xfrm>
            <a:off x="304800" y="349931"/>
            <a:ext cx="7696200" cy="715962"/>
          </a:xfrm>
        </p:spPr>
        <p:txBody>
          <a:bodyPr/>
          <a:lstStyle/>
          <a:p>
            <a:pPr eaLnBrk="1" hangingPunct="1"/>
            <a:r>
              <a:rPr lang="en-US" altLang="zh-CN" sz="3200" dirty="0">
                <a:ea typeface="宋体" panose="02010600030101010101" pitchFamily="2" charset="-122"/>
              </a:rPr>
              <a:t>Notes of Expanded Sequence Diagram</a:t>
            </a:r>
            <a:br>
              <a:rPr lang="en-US" altLang="zh-CN" sz="3200" dirty="0">
                <a:ea typeface="宋体" panose="02010600030101010101" pitchFamily="2" charset="-122"/>
              </a:rPr>
            </a:br>
            <a:r>
              <a:rPr lang="zh-CN" altLang="en-US" sz="3200" dirty="0">
                <a:ea typeface="宋体" panose="02010600030101010101" pitchFamily="2" charset="-122"/>
              </a:rPr>
              <a:t>（扩展顺序图注意事项）</a:t>
            </a:r>
            <a:endParaRPr lang="en-US" altLang="zh-CN" sz="3200" dirty="0">
              <a:ea typeface="宋体" panose="02010600030101010101" pitchFamily="2" charset="-122"/>
            </a:endParaRPr>
          </a:p>
        </p:txBody>
      </p:sp>
      <p:sp>
        <p:nvSpPr>
          <p:cNvPr id="15364" name="Rectangle 3">
            <a:extLst>
              <a:ext uri="{FF2B5EF4-FFF2-40B4-BE49-F238E27FC236}">
                <a16:creationId xmlns:a16="http://schemas.microsoft.com/office/drawing/2014/main" id="{41CE1A53-8D51-4E0C-B351-43BF380091BF}"/>
              </a:ext>
            </a:extLst>
          </p:cNvPr>
          <p:cNvSpPr>
            <a:spLocks noGrp="1" noChangeArrowheads="1"/>
          </p:cNvSpPr>
          <p:nvPr>
            <p:ph type="body" idx="1"/>
          </p:nvPr>
        </p:nvSpPr>
        <p:spPr>
          <a:xfrm>
            <a:off x="190500" y="1126332"/>
            <a:ext cx="8763000" cy="5257800"/>
          </a:xfrm>
        </p:spPr>
        <p:txBody>
          <a:bodyPr/>
          <a:lstStyle/>
          <a:p>
            <a:pPr eaLnBrk="1" hangingPunct="1"/>
            <a:r>
              <a:rPr lang="en-US" altLang="zh-CN" sz="2400" dirty="0">
                <a:ea typeface="宋体" panose="02010600030101010101" pitchFamily="2" charset="-122"/>
              </a:rPr>
              <a:t>Note </a:t>
            </a:r>
            <a:r>
              <a:rPr lang="en-US" altLang="zh-CN" sz="2400" u="sng" dirty="0">
                <a:ea typeface="宋体" panose="02010600030101010101" pitchFamily="2" charset="-122"/>
              </a:rPr>
              <a:t>:</a:t>
            </a:r>
            <a:r>
              <a:rPr lang="en-US" altLang="zh-CN" sz="2400" u="sng" dirty="0" err="1">
                <a:ea typeface="宋体" panose="02010600030101010101" pitchFamily="2" charset="-122"/>
              </a:rPr>
              <a:t>CustomerForm</a:t>
            </a:r>
            <a:r>
              <a:rPr lang="en-US" altLang="zh-CN" sz="2400" dirty="0">
                <a:ea typeface="宋体" panose="02010600030101010101" pitchFamily="2" charset="-122"/>
              </a:rPr>
              <a:t> is an object of the </a:t>
            </a:r>
            <a:r>
              <a:rPr lang="en-US" altLang="zh-CN" sz="2400" dirty="0" err="1">
                <a:ea typeface="宋体" panose="02010600030101010101" pitchFamily="2" charset="-122"/>
              </a:rPr>
              <a:t>CustomerForm</a:t>
            </a:r>
            <a:r>
              <a:rPr lang="en-US" altLang="zh-CN" sz="2400" dirty="0">
                <a:ea typeface="宋体" panose="02010600030101010101" pitchFamily="2" charset="-122"/>
              </a:rPr>
              <a:t> class, </a:t>
            </a:r>
            <a:r>
              <a:rPr lang="en-US" altLang="zh-CN" sz="2400" u="sng" dirty="0">
                <a:ea typeface="宋体" panose="02010600030101010101" pitchFamily="2" charset="-122"/>
              </a:rPr>
              <a:t>:</a:t>
            </a:r>
            <a:r>
              <a:rPr lang="en-US" altLang="zh-CN" sz="2400" u="sng" dirty="0" err="1">
                <a:ea typeface="宋体" panose="02010600030101010101" pitchFamily="2" charset="-122"/>
              </a:rPr>
              <a:t>CustomerHandler</a:t>
            </a:r>
            <a:r>
              <a:rPr lang="en-US" altLang="zh-CN" sz="2400" dirty="0">
                <a:ea typeface="宋体" panose="02010600030101010101" pitchFamily="2" charset="-122"/>
              </a:rPr>
              <a:t> is an object of the </a:t>
            </a:r>
            <a:r>
              <a:rPr lang="en-US" altLang="zh-CN" sz="2400" dirty="0" err="1">
                <a:ea typeface="宋体" panose="02010600030101010101" pitchFamily="2" charset="-122"/>
              </a:rPr>
              <a:t>CustomerHandler</a:t>
            </a:r>
            <a:r>
              <a:rPr lang="en-US" altLang="zh-CN" sz="2400" dirty="0">
                <a:ea typeface="宋体" panose="02010600030101010101" pitchFamily="2" charset="-122"/>
              </a:rPr>
              <a:t> class playing the role of a controller stereotype (both underlined </a:t>
            </a:r>
            <a:r>
              <a:rPr lang="en-US" altLang="zh-CN" sz="2400" dirty="0" err="1">
                <a:ea typeface="宋体" panose="02010600030101010101" pitchFamily="2" charset="-122"/>
              </a:rPr>
              <a:t>becuase</a:t>
            </a:r>
            <a:r>
              <a:rPr lang="en-US" altLang="zh-CN" sz="2400" dirty="0">
                <a:ea typeface="宋体" panose="02010600030101010101" pitchFamily="2" charset="-122"/>
              </a:rPr>
              <a:t> they are objects)</a:t>
            </a:r>
            <a:r>
              <a:rPr lang="zh-CN" altLang="en-US" sz="2400" dirty="0">
                <a:ea typeface="宋体" panose="02010600030101010101" pitchFamily="2" charset="-122"/>
              </a:rPr>
              <a:t>（注意</a:t>
            </a:r>
            <a:r>
              <a:rPr lang="en-US" altLang="zh-CN" sz="2400" dirty="0">
                <a:ea typeface="宋体" panose="02010600030101010101" pitchFamily="2" charset="-122"/>
              </a:rPr>
              <a:t>:</a:t>
            </a:r>
            <a:r>
              <a:rPr lang="en-US" altLang="zh-CN" sz="2400" dirty="0" err="1">
                <a:ea typeface="宋体" panose="02010600030101010101" pitchFamily="2" charset="-122"/>
              </a:rPr>
              <a:t>CustomerForm</a:t>
            </a:r>
            <a:r>
              <a:rPr lang="zh-CN" altLang="en-US" sz="2400" dirty="0">
                <a:ea typeface="宋体" panose="02010600030101010101" pitchFamily="2" charset="-122"/>
              </a:rPr>
              <a:t>是</a:t>
            </a:r>
            <a:r>
              <a:rPr lang="en-US" altLang="zh-CN" sz="2400" dirty="0" err="1">
                <a:ea typeface="宋体" panose="02010600030101010101" pitchFamily="2" charset="-122"/>
              </a:rPr>
              <a:t>CustomerForm</a:t>
            </a:r>
            <a:r>
              <a:rPr lang="zh-CN" altLang="en-US" sz="2400" dirty="0">
                <a:ea typeface="宋体" panose="02010600030101010101" pitchFamily="2" charset="-122"/>
              </a:rPr>
              <a:t>类的一个对象，</a:t>
            </a:r>
            <a:r>
              <a:rPr lang="en-US" altLang="zh-CN" sz="2400" dirty="0" err="1">
                <a:ea typeface="宋体" panose="02010600030101010101" pitchFamily="2" charset="-122"/>
              </a:rPr>
              <a:t>CustomerHandler</a:t>
            </a:r>
            <a:r>
              <a:rPr lang="zh-CN" altLang="en-US" sz="2400" dirty="0">
                <a:ea typeface="宋体" panose="02010600030101010101" pitchFamily="2" charset="-122"/>
              </a:rPr>
              <a:t>是</a:t>
            </a:r>
            <a:r>
              <a:rPr lang="en-US" altLang="zh-CN" sz="2400" dirty="0" err="1">
                <a:ea typeface="宋体" panose="02010600030101010101" pitchFamily="2" charset="-122"/>
              </a:rPr>
              <a:t>CustomerHandler</a:t>
            </a:r>
            <a:r>
              <a:rPr lang="zh-CN" altLang="en-US" sz="2400" dirty="0">
                <a:ea typeface="宋体" panose="02010600030101010101" pitchFamily="2" charset="-122"/>
              </a:rPr>
              <a:t>类的一个对象，扮演一个控制器原型的角色（两者都下划线，因为它们是对象））</a:t>
            </a:r>
            <a:endParaRPr lang="en-US" altLang="zh-CN" sz="2400" dirty="0">
              <a:ea typeface="宋体" panose="02010600030101010101" pitchFamily="2" charset="-122"/>
            </a:endParaRPr>
          </a:p>
          <a:p>
            <a:pPr eaLnBrk="1" hangingPunct="1"/>
            <a:r>
              <a:rPr lang="en-US" altLang="zh-CN" sz="2400" u="sng" dirty="0" err="1">
                <a:solidFill>
                  <a:srgbClr val="C00000"/>
                </a:solidFill>
                <a:ea typeface="宋体" panose="02010600030101010101" pitchFamily="2" charset="-122"/>
              </a:rPr>
              <a:t>aC:Customer</a:t>
            </a:r>
            <a:r>
              <a:rPr lang="en-US" altLang="zh-CN" sz="2400" dirty="0">
                <a:solidFill>
                  <a:srgbClr val="C00000"/>
                </a:solidFill>
                <a:ea typeface="宋体" panose="02010600030101010101" pitchFamily="2" charset="-122"/>
              </a:rPr>
              <a:t> is an object </a:t>
            </a:r>
            <a:r>
              <a:rPr lang="en-US" altLang="zh-CN" sz="2400" dirty="0">
                <a:ea typeface="宋体" panose="02010600030101010101" pitchFamily="2" charset="-122"/>
              </a:rPr>
              <a:t>of the Customer class known by reference variable named </a:t>
            </a:r>
            <a:r>
              <a:rPr lang="en-US" altLang="zh-CN" sz="2400" dirty="0" err="1">
                <a:ea typeface="宋体" panose="02010600030101010101" pitchFamily="2" charset="-122"/>
              </a:rPr>
              <a:t>aC</a:t>
            </a:r>
            <a:r>
              <a:rPr lang="zh-CN" altLang="en-US" sz="2400" dirty="0">
                <a:ea typeface="宋体" panose="02010600030101010101" pitchFamily="2" charset="-122"/>
              </a:rPr>
              <a:t>（</a:t>
            </a:r>
            <a:r>
              <a:rPr lang="en-US" altLang="zh-CN" sz="2400" dirty="0" err="1">
                <a:ea typeface="宋体" panose="02010600030101010101" pitchFamily="2" charset="-122"/>
              </a:rPr>
              <a:t>aC</a:t>
            </a:r>
            <a:r>
              <a:rPr lang="zh-CN" altLang="en-US" sz="2400" dirty="0">
                <a:ea typeface="宋体" panose="02010600030101010101" pitchFamily="2" charset="-122"/>
              </a:rPr>
              <a:t>：</a:t>
            </a:r>
            <a:r>
              <a:rPr lang="en-US" altLang="zh-CN" sz="2400" dirty="0">
                <a:ea typeface="宋体" panose="02010600030101010101" pitchFamily="2" charset="-122"/>
              </a:rPr>
              <a:t>Customer</a:t>
            </a:r>
            <a:r>
              <a:rPr lang="zh-CN" altLang="en-US" sz="2400" dirty="0">
                <a:ea typeface="宋体" panose="02010600030101010101" pitchFamily="2" charset="-122"/>
              </a:rPr>
              <a:t>是</a:t>
            </a:r>
            <a:r>
              <a:rPr lang="en-US" altLang="zh-CN" sz="2400" dirty="0">
                <a:ea typeface="宋体" panose="02010600030101010101" pitchFamily="2" charset="-122"/>
              </a:rPr>
              <a:t>Customer</a:t>
            </a:r>
            <a:r>
              <a:rPr lang="zh-CN" altLang="en-US" sz="2400" dirty="0">
                <a:ea typeface="宋体" panose="02010600030101010101" pitchFamily="2" charset="-122"/>
              </a:rPr>
              <a:t>类的一个对象，通过名为</a:t>
            </a:r>
            <a:r>
              <a:rPr lang="en-US" altLang="zh-CN" sz="2400" dirty="0" err="1">
                <a:ea typeface="宋体" panose="02010600030101010101" pitchFamily="2" charset="-122"/>
              </a:rPr>
              <a:t>aC</a:t>
            </a:r>
            <a:r>
              <a:rPr lang="zh-CN" altLang="en-US" sz="2400" dirty="0">
                <a:ea typeface="宋体" panose="02010600030101010101" pitchFamily="2" charset="-122"/>
              </a:rPr>
              <a:t>的引用变量来引用）</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Note: the create message to </a:t>
            </a:r>
            <a:r>
              <a:rPr lang="en-US" altLang="zh-CN" sz="2400" u="sng" dirty="0" err="1">
                <a:ea typeface="宋体" panose="02010600030101010101" pitchFamily="2" charset="-122"/>
              </a:rPr>
              <a:t>aC:Customer</a:t>
            </a:r>
            <a:r>
              <a:rPr lang="en-US" altLang="zh-CN" sz="2400" dirty="0">
                <a:ea typeface="宋体" panose="02010600030101010101" pitchFamily="2" charset="-122"/>
              </a:rPr>
              <a:t> points to the object symbol to indicate create</a:t>
            </a:r>
            <a:r>
              <a:rPr lang="zh-CN" altLang="en-US" sz="2400" dirty="0">
                <a:ea typeface="宋体" panose="02010600030101010101" pitchFamily="2" charset="-122"/>
              </a:rPr>
              <a:t>（创建消息给</a:t>
            </a:r>
            <a:r>
              <a:rPr lang="en-US" altLang="zh-CN" sz="2400" dirty="0" err="1">
                <a:ea typeface="宋体" panose="02010600030101010101" pitchFamily="2" charset="-122"/>
              </a:rPr>
              <a:t>aC</a:t>
            </a:r>
            <a:r>
              <a:rPr lang="en-US" altLang="zh-CN" sz="2400" dirty="0">
                <a:ea typeface="宋体" panose="02010600030101010101" pitchFamily="2" charset="-122"/>
              </a:rPr>
              <a:t>:</a:t>
            </a:r>
            <a:r>
              <a:rPr lang="zh-CN" altLang="en-US" sz="2400" dirty="0">
                <a:ea typeface="宋体" panose="02010600030101010101" pitchFamily="2" charset="-122"/>
              </a:rPr>
              <a:t>客户指向对象符号表示创建）</a:t>
            </a:r>
            <a:endParaRPr lang="en-US" altLang="zh-CN" sz="2400" dirty="0">
              <a:ea typeface="宋体" panose="02010600030101010101" pitchFamily="2" charset="-122"/>
            </a:endParaRPr>
          </a:p>
        </p:txBody>
      </p:sp>
      <p:sp>
        <p:nvSpPr>
          <p:cNvPr id="15365" name="Rectangle 4">
            <a:extLst>
              <a:ext uri="{FF2B5EF4-FFF2-40B4-BE49-F238E27FC236}">
                <a16:creationId xmlns:a16="http://schemas.microsoft.com/office/drawing/2014/main" id="{8EBC80D0-FD16-4429-8F2B-EFE7E32AA8B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05655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A774C3ED-FEB7-4989-85F6-820DA77852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1B3F1EE-968C-44A6-9A14-8C2C698D9A3F}" type="slidenum">
              <a:rPr lang="en-US" altLang="en-US"/>
              <a:pPr eaLnBrk="1" hangingPunct="1"/>
              <a:t>37</a:t>
            </a:fld>
            <a:endParaRPr lang="en-US" altLang="en-US"/>
          </a:p>
        </p:txBody>
      </p:sp>
      <p:sp>
        <p:nvSpPr>
          <p:cNvPr id="16387" name="Rectangle 2">
            <a:extLst>
              <a:ext uri="{FF2B5EF4-FFF2-40B4-BE49-F238E27FC236}">
                <a16:creationId xmlns:a16="http://schemas.microsoft.com/office/drawing/2014/main" id="{356EFE74-B775-43A1-B304-754B2F8B8B76}"/>
              </a:ext>
            </a:extLst>
          </p:cNvPr>
          <p:cNvSpPr>
            <a:spLocks noGrp="1" noChangeArrowheads="1"/>
          </p:cNvSpPr>
          <p:nvPr>
            <p:ph type="title"/>
          </p:nvPr>
        </p:nvSpPr>
        <p:spPr>
          <a:xfrm>
            <a:off x="304800" y="122238"/>
            <a:ext cx="7696200" cy="1020762"/>
          </a:xfrm>
        </p:spPr>
        <p:txBody>
          <a:bodyPr/>
          <a:lstStyle/>
          <a:p>
            <a:pPr eaLnBrk="1" hangingPunct="1"/>
            <a:r>
              <a:rPr lang="en-US" altLang="zh-CN" sz="3200">
                <a:ea typeface="宋体" panose="02010600030101010101" pitchFamily="2" charset="-122"/>
              </a:rPr>
              <a:t>Overview of Detailed Design Steps</a:t>
            </a:r>
            <a:br>
              <a:rPr lang="en-US" altLang="zh-CN" sz="3200">
                <a:ea typeface="宋体" panose="02010600030101010101" pitchFamily="2" charset="-122"/>
              </a:rPr>
            </a:br>
            <a:r>
              <a:rPr lang="en-US" altLang="zh-CN" sz="2400">
                <a:ea typeface="宋体" panose="02010600030101010101" pitchFamily="2" charset="-122"/>
              </a:rPr>
              <a:t>Shown previously in Chapter 10</a:t>
            </a:r>
          </a:p>
        </p:txBody>
      </p:sp>
      <p:pic>
        <p:nvPicPr>
          <p:cNvPr id="16388" name="Picture 6">
            <a:extLst>
              <a:ext uri="{FF2B5EF4-FFF2-40B4-BE49-F238E27FC236}">
                <a16:creationId xmlns:a16="http://schemas.microsoft.com/office/drawing/2014/main" id="{6EC5DAEA-49E4-4F0A-9371-EB5E74730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1570038"/>
            <a:ext cx="8580437"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4">
            <a:extLst>
              <a:ext uri="{FF2B5EF4-FFF2-40B4-BE49-F238E27FC236}">
                <a16:creationId xmlns:a16="http://schemas.microsoft.com/office/drawing/2014/main" id="{6BA2BC45-840B-4A87-8E29-E0DE33048A3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6390" name="Footer Placeholder 4">
            <a:extLst>
              <a:ext uri="{FF2B5EF4-FFF2-40B4-BE49-F238E27FC236}">
                <a16:creationId xmlns:a16="http://schemas.microsoft.com/office/drawing/2014/main" id="{823178E6-2412-4C4B-A9F0-C54EC955B5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F4AAA2B-E88C-4505-8085-81A8CDE926FD}"/>
              </a:ext>
            </a:extLst>
          </p:cNvPr>
          <p:cNvSpPr/>
          <p:nvPr/>
        </p:nvSpPr>
        <p:spPr>
          <a:xfrm>
            <a:off x="304800" y="3352800"/>
            <a:ext cx="8458200" cy="914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E3B24AD-18A3-4ABB-B870-DEF0EF0C837D}"/>
              </a:ext>
            </a:extLst>
          </p:cNvPr>
          <p:cNvSpPr txBox="1"/>
          <p:nvPr/>
        </p:nvSpPr>
        <p:spPr>
          <a:xfrm>
            <a:off x="304800" y="5307989"/>
            <a:ext cx="4572000" cy="923330"/>
          </a:xfrm>
          <a:prstGeom prst="rect">
            <a:avLst/>
          </a:prstGeom>
          <a:noFill/>
        </p:spPr>
        <p:txBody>
          <a:bodyPr wrap="square">
            <a:spAutoFit/>
          </a:bodyPr>
          <a:lstStyle/>
          <a:p>
            <a:r>
              <a:rPr lang="en-US" altLang="zh-CN" dirty="0"/>
              <a:t>3. </a:t>
            </a:r>
            <a:r>
              <a:rPr lang="zh-CN" altLang="en-US" dirty="0"/>
              <a:t>为每个用例开发详细的顺序图</a:t>
            </a:r>
            <a:endParaRPr lang="en-US" altLang="zh-CN" dirty="0"/>
          </a:p>
          <a:p>
            <a:r>
              <a:rPr lang="en-US" altLang="zh-CN" dirty="0"/>
              <a:t>   a</a:t>
            </a:r>
            <a:r>
              <a:rPr lang="zh-CN" altLang="en-US" dirty="0"/>
              <a:t>）开发初步顺序图</a:t>
            </a:r>
            <a:endParaRPr lang="en-US" altLang="zh-CN" dirty="0"/>
          </a:p>
          <a:p>
            <a:r>
              <a:rPr lang="en-US" altLang="zh-CN" dirty="0"/>
              <a:t>   b</a:t>
            </a:r>
            <a:r>
              <a:rPr lang="zh-CN" altLang="en-US" dirty="0"/>
              <a:t>）开发多层顺序图</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A774C3ED-FEB7-4989-85F6-820DA77852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1B3F1EE-968C-44A6-9A14-8C2C698D9A3F}" type="slidenum">
              <a:rPr lang="en-US" altLang="en-US"/>
              <a:pPr eaLnBrk="1" hangingPunct="1"/>
              <a:t>38</a:t>
            </a:fld>
            <a:endParaRPr lang="en-US" altLang="en-US"/>
          </a:p>
        </p:txBody>
      </p:sp>
      <p:sp>
        <p:nvSpPr>
          <p:cNvPr id="16387" name="Rectangle 2">
            <a:extLst>
              <a:ext uri="{FF2B5EF4-FFF2-40B4-BE49-F238E27FC236}">
                <a16:creationId xmlns:a16="http://schemas.microsoft.com/office/drawing/2014/main" id="{356EFE74-B775-43A1-B304-754B2F8B8B76}"/>
              </a:ext>
            </a:extLst>
          </p:cNvPr>
          <p:cNvSpPr>
            <a:spLocks noGrp="1" noChangeArrowheads="1"/>
          </p:cNvSpPr>
          <p:nvPr>
            <p:ph type="title"/>
          </p:nvPr>
        </p:nvSpPr>
        <p:spPr>
          <a:xfrm>
            <a:off x="304800" y="122238"/>
            <a:ext cx="7696200" cy="1020762"/>
          </a:xfrm>
        </p:spPr>
        <p:txBody>
          <a:bodyPr/>
          <a:lstStyle/>
          <a:p>
            <a:pPr eaLnBrk="1" hangingPunct="1"/>
            <a:r>
              <a:rPr lang="en-US" altLang="zh-CN" sz="3200">
                <a:ea typeface="宋体" panose="02010600030101010101" pitchFamily="2" charset="-122"/>
              </a:rPr>
              <a:t>Overview of Detailed Design Steps</a:t>
            </a:r>
            <a:br>
              <a:rPr lang="en-US" altLang="zh-CN" sz="3200">
                <a:ea typeface="宋体" panose="02010600030101010101" pitchFamily="2" charset="-122"/>
              </a:rPr>
            </a:br>
            <a:r>
              <a:rPr lang="en-US" altLang="zh-CN" sz="2400">
                <a:ea typeface="宋体" panose="02010600030101010101" pitchFamily="2" charset="-122"/>
              </a:rPr>
              <a:t>Shown previously in Chapter 10</a:t>
            </a:r>
          </a:p>
        </p:txBody>
      </p:sp>
      <p:pic>
        <p:nvPicPr>
          <p:cNvPr id="16388" name="Picture 6">
            <a:extLst>
              <a:ext uri="{FF2B5EF4-FFF2-40B4-BE49-F238E27FC236}">
                <a16:creationId xmlns:a16="http://schemas.microsoft.com/office/drawing/2014/main" id="{6EC5DAEA-49E4-4F0A-9371-EB5E74730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1570038"/>
            <a:ext cx="8580437"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4">
            <a:extLst>
              <a:ext uri="{FF2B5EF4-FFF2-40B4-BE49-F238E27FC236}">
                <a16:creationId xmlns:a16="http://schemas.microsoft.com/office/drawing/2014/main" id="{6BA2BC45-840B-4A87-8E29-E0DE33048A3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6390" name="Footer Placeholder 4">
            <a:extLst>
              <a:ext uri="{FF2B5EF4-FFF2-40B4-BE49-F238E27FC236}">
                <a16:creationId xmlns:a16="http://schemas.microsoft.com/office/drawing/2014/main" id="{823178E6-2412-4C4B-A9F0-C54EC955B5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F4AAA2B-E88C-4505-8085-81A8CDE926FD}"/>
              </a:ext>
            </a:extLst>
          </p:cNvPr>
          <p:cNvSpPr/>
          <p:nvPr/>
        </p:nvSpPr>
        <p:spPr>
          <a:xfrm>
            <a:off x="304800" y="4267200"/>
            <a:ext cx="8458200"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8E3B24AD-18A3-4ABB-B870-DEF0EF0C837D}"/>
              </a:ext>
            </a:extLst>
          </p:cNvPr>
          <p:cNvSpPr txBox="1"/>
          <p:nvPr/>
        </p:nvSpPr>
        <p:spPr>
          <a:xfrm>
            <a:off x="304800" y="5307989"/>
            <a:ext cx="8458200" cy="369332"/>
          </a:xfrm>
          <a:prstGeom prst="rect">
            <a:avLst/>
          </a:prstGeom>
          <a:noFill/>
        </p:spPr>
        <p:txBody>
          <a:bodyPr wrap="square">
            <a:spAutoFit/>
          </a:bodyPr>
          <a:lstStyle/>
          <a:p>
            <a:r>
              <a:rPr lang="zh-CN" altLang="en-US" dirty="0"/>
              <a:t>通过使用</a:t>
            </a:r>
            <a:r>
              <a:rPr lang="en-US" altLang="zh-CN" dirty="0"/>
              <a:t>CRC</a:t>
            </a:r>
            <a:r>
              <a:rPr lang="zh-CN" altLang="en-US" dirty="0"/>
              <a:t>卡或顺序图，添加方法特征和导航信息，以此来更新设计类图</a:t>
            </a:r>
            <a:endParaRPr lang="en-US" altLang="zh-CN" dirty="0"/>
          </a:p>
        </p:txBody>
      </p:sp>
    </p:spTree>
    <p:extLst>
      <p:ext uri="{BB962C8B-B14F-4D97-AF65-F5344CB8AC3E}">
        <p14:creationId xmlns:p14="http://schemas.microsoft.com/office/powerpoint/2010/main" val="2709867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617C35E6-EEDB-42C4-8A74-9A91A7FD80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1A80B83-FCF6-4662-ACA0-BF66A378C1E8}" type="slidenum">
              <a:rPr lang="en-US" altLang="en-US"/>
              <a:pPr eaLnBrk="1" hangingPunct="1"/>
              <a:t>39</a:t>
            </a:fld>
            <a:endParaRPr lang="en-US" altLang="en-US"/>
          </a:p>
        </p:txBody>
      </p:sp>
      <p:sp>
        <p:nvSpPr>
          <p:cNvPr id="17411" name="Rectangle 2">
            <a:extLst>
              <a:ext uri="{FF2B5EF4-FFF2-40B4-BE49-F238E27FC236}">
                <a16:creationId xmlns:a16="http://schemas.microsoft.com/office/drawing/2014/main" id="{8005C0CB-4C5A-4AE7-9768-BDBB1A93003F}"/>
              </a:ext>
            </a:extLst>
          </p:cNvPr>
          <p:cNvSpPr>
            <a:spLocks noGrp="1" noChangeArrowheads="1"/>
          </p:cNvSpPr>
          <p:nvPr>
            <p:ph type="title"/>
          </p:nvPr>
        </p:nvSpPr>
        <p:spPr>
          <a:xfrm>
            <a:off x="304800" y="122238"/>
            <a:ext cx="2362200" cy="5059362"/>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Start with domain model for </a:t>
            </a:r>
            <a:r>
              <a:rPr lang="en-US" altLang="zh-CN" sz="2000" dirty="0">
                <a:solidFill>
                  <a:srgbClr val="C00000"/>
                </a:solidFill>
                <a:ea typeface="宋体" panose="02010600030101010101" pitchFamily="2" charset="-122"/>
              </a:rPr>
              <a:t>Customer Account Subsystem</a:t>
            </a:r>
            <a:br>
              <a:rPr lang="en-US" altLang="zh-CN" sz="2000" dirty="0">
                <a:solidFill>
                  <a:srgbClr val="C00000"/>
                </a:solidFill>
                <a:ea typeface="宋体" panose="02010600030101010101" pitchFamily="2" charset="-122"/>
              </a:rPr>
            </a:br>
            <a:r>
              <a:rPr lang="en-US" altLang="zh-CN" sz="2000" dirty="0">
                <a:solidFill>
                  <a:srgbClr val="C00000"/>
                </a:solidFill>
                <a:ea typeface="宋体" panose="02010600030101010101" pitchFamily="2" charset="-122"/>
              </a:rPr>
              <a:t>(</a:t>
            </a:r>
            <a:r>
              <a:rPr lang="zh-CN" altLang="en-US" sz="2000" dirty="0">
                <a:solidFill>
                  <a:srgbClr val="C00000"/>
                </a:solidFill>
                <a:ea typeface="宋体" panose="02010600030101010101" pitchFamily="2" charset="-122"/>
              </a:rPr>
              <a:t>客户账户子系统</a:t>
            </a:r>
            <a:r>
              <a:rPr lang="en-US" altLang="zh-CN" sz="2000" dirty="0">
                <a:solidFill>
                  <a:srgbClr val="C00000"/>
                </a:solidFill>
                <a:ea typeface="宋体" panose="02010600030101010101" pitchFamily="2" charset="-122"/>
              </a:rPr>
              <a:t>)</a:t>
            </a:r>
          </a:p>
        </p:txBody>
      </p:sp>
      <p:pic>
        <p:nvPicPr>
          <p:cNvPr id="17412" name="Picture 5">
            <a:extLst>
              <a:ext uri="{FF2B5EF4-FFF2-40B4-BE49-F238E27FC236}">
                <a16:creationId xmlns:a16="http://schemas.microsoft.com/office/drawing/2014/main" id="{D1224144-0E05-4552-A8DE-ED3B9CE25A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52413"/>
            <a:ext cx="6019800" cy="597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4">
            <a:extLst>
              <a:ext uri="{FF2B5EF4-FFF2-40B4-BE49-F238E27FC236}">
                <a16:creationId xmlns:a16="http://schemas.microsoft.com/office/drawing/2014/main" id="{C75AF335-92F1-4B48-849A-45AE1B5CE98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7414" name="Footer Placeholder 4">
            <a:extLst>
              <a:ext uri="{FF2B5EF4-FFF2-40B4-BE49-F238E27FC236}">
                <a16:creationId xmlns:a16="http://schemas.microsoft.com/office/drawing/2014/main" id="{649121A9-0848-423A-AC09-A6163A35637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571E81A3-CAE7-4F94-83C5-A7539DA9FE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F342DA6-AE44-4D54-83BC-B6B0D47C9273}" type="slidenum">
              <a:rPr lang="en-US" altLang="en-US"/>
              <a:pPr eaLnBrk="1" hangingPunct="1"/>
              <a:t>40</a:t>
            </a:fld>
            <a:endParaRPr lang="en-US" altLang="en-US"/>
          </a:p>
        </p:txBody>
      </p:sp>
      <p:sp>
        <p:nvSpPr>
          <p:cNvPr id="18435" name="Rectangle 2">
            <a:extLst>
              <a:ext uri="{FF2B5EF4-FFF2-40B4-BE49-F238E27FC236}">
                <a16:creationId xmlns:a16="http://schemas.microsoft.com/office/drawing/2014/main" id="{021EB624-334B-43CC-AEDD-04A496C65E77}"/>
              </a:ext>
            </a:extLst>
          </p:cNvPr>
          <p:cNvSpPr>
            <a:spLocks noGrp="1" noChangeArrowheads="1"/>
          </p:cNvSpPr>
          <p:nvPr>
            <p:ph type="title"/>
          </p:nvPr>
        </p:nvSpPr>
        <p:spPr>
          <a:xfrm>
            <a:off x="152400" y="611755"/>
            <a:ext cx="2743200" cy="6049962"/>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First cut design class diagram for use case</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solidFill>
                  <a:srgbClr val="C00000"/>
                </a:solidFill>
                <a:ea typeface="宋体" panose="02010600030101010101" pitchFamily="2" charset="-122"/>
              </a:rPr>
              <a:t>Select needed classes, elaborate attributes, add controller, and add navigation visibility</a:t>
            </a:r>
            <a:br>
              <a:rPr lang="en-US" altLang="zh-CN" sz="2000" dirty="0">
                <a:solidFill>
                  <a:srgbClr val="C00000"/>
                </a:solidFill>
                <a:ea typeface="宋体" panose="02010600030101010101" pitchFamily="2" charset="-122"/>
              </a:rPr>
            </a:br>
            <a:r>
              <a:rPr lang="zh-CN" altLang="en-US" sz="2000" dirty="0">
                <a:solidFill>
                  <a:srgbClr val="C00000"/>
                </a:solidFill>
                <a:ea typeface="宋体" panose="02010600030101010101" pitchFamily="2" charset="-122"/>
              </a:rPr>
              <a:t>选择需要的类、精细的属性、添加控制器和添加导航可见性</a:t>
            </a:r>
            <a:br>
              <a:rPr lang="zh-CN" altLang="en-US" sz="2000" dirty="0">
                <a:solidFill>
                  <a:srgbClr val="C00000"/>
                </a:solidFill>
                <a:ea typeface="宋体" panose="02010600030101010101" pitchFamily="2" charset="-122"/>
              </a:rPr>
            </a:br>
            <a:endParaRPr lang="en-US" altLang="zh-CN" sz="2000" dirty="0">
              <a:solidFill>
                <a:srgbClr val="C00000"/>
              </a:solidFill>
              <a:ea typeface="宋体" panose="02010600030101010101" pitchFamily="2" charset="-122"/>
            </a:endParaRPr>
          </a:p>
        </p:txBody>
      </p:sp>
      <p:pic>
        <p:nvPicPr>
          <p:cNvPr id="18436" name="Picture 4">
            <a:extLst>
              <a:ext uri="{FF2B5EF4-FFF2-40B4-BE49-F238E27FC236}">
                <a16:creationId xmlns:a16="http://schemas.microsoft.com/office/drawing/2014/main" id="{8E8AED50-30C2-4AD9-B7CB-55C3B8F6A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5782" y="714375"/>
            <a:ext cx="6049617"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4">
            <a:extLst>
              <a:ext uri="{FF2B5EF4-FFF2-40B4-BE49-F238E27FC236}">
                <a16:creationId xmlns:a16="http://schemas.microsoft.com/office/drawing/2014/main" id="{04BB0EA7-4E1D-4CB1-B91A-2477010D6A3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8438" name="Footer Placeholder 4">
            <a:extLst>
              <a:ext uri="{FF2B5EF4-FFF2-40B4-BE49-F238E27FC236}">
                <a16:creationId xmlns:a16="http://schemas.microsoft.com/office/drawing/2014/main" id="{C8F982F1-8DFB-4ACB-A9A7-676E673A7E1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AE79446-168F-4AF5-A4DD-0ECE0D3742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DB313D4-5028-4411-8731-E89FAF58DAC4}" type="slidenum">
              <a:rPr lang="en-US" altLang="en-US"/>
              <a:pPr eaLnBrk="1" hangingPunct="1"/>
              <a:t>41</a:t>
            </a:fld>
            <a:endParaRPr lang="en-US" altLang="en-US"/>
          </a:p>
        </p:txBody>
      </p:sp>
      <p:sp>
        <p:nvSpPr>
          <p:cNvPr id="19459" name="Rectangle 2">
            <a:extLst>
              <a:ext uri="{FF2B5EF4-FFF2-40B4-BE49-F238E27FC236}">
                <a16:creationId xmlns:a16="http://schemas.microsoft.com/office/drawing/2014/main" id="{DD8A1896-9480-4B1C-B38A-B36811E20EF7}"/>
              </a:ext>
            </a:extLst>
          </p:cNvPr>
          <p:cNvSpPr>
            <a:spLocks noGrp="1" noChangeArrowheads="1"/>
          </p:cNvSpPr>
          <p:nvPr>
            <p:ph type="title"/>
          </p:nvPr>
        </p:nvSpPr>
        <p:spPr>
          <a:xfrm>
            <a:off x="228600" y="533400"/>
            <a:ext cx="2362200" cy="51054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solidFill>
                  <a:srgbClr val="C00000"/>
                </a:solidFill>
                <a:ea typeface="宋体" panose="02010600030101010101" pitchFamily="2" charset="-122"/>
              </a:rPr>
              <a:t>First cut sequence diagram </a:t>
            </a:r>
            <a:r>
              <a:rPr lang="en-US" altLang="zh-CN" sz="2000" dirty="0">
                <a:ea typeface="宋体" panose="02010600030101010101" pitchFamily="2" charset="-122"/>
              </a:rPr>
              <a:t>expanding SSD, adding controller, and adding needed classes</a:t>
            </a:r>
          </a:p>
        </p:txBody>
      </p:sp>
      <p:pic>
        <p:nvPicPr>
          <p:cNvPr id="19460" name="Picture 4">
            <a:extLst>
              <a:ext uri="{FF2B5EF4-FFF2-40B4-BE49-F238E27FC236}">
                <a16:creationId xmlns:a16="http://schemas.microsoft.com/office/drawing/2014/main" id="{2A204903-D1D9-4AC5-A49D-1E72617C6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838200"/>
            <a:ext cx="6448425"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4">
            <a:extLst>
              <a:ext uri="{FF2B5EF4-FFF2-40B4-BE49-F238E27FC236}">
                <a16:creationId xmlns:a16="http://schemas.microsoft.com/office/drawing/2014/main" id="{AE22D603-E8E0-4154-B9C3-04DE47240CA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9462" name="Footer Placeholder 4">
            <a:extLst>
              <a:ext uri="{FF2B5EF4-FFF2-40B4-BE49-F238E27FC236}">
                <a16:creationId xmlns:a16="http://schemas.microsoft.com/office/drawing/2014/main" id="{AAA7E501-B4C9-4E56-9813-093B32E3EE5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38AF17D-963D-4F76-96D4-875EADD229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A06471-5234-41F6-A54F-44AE3DA30A40}" type="slidenum">
              <a:rPr lang="en-US" altLang="en-US"/>
              <a:pPr eaLnBrk="1" hangingPunct="1"/>
              <a:t>42</a:t>
            </a:fld>
            <a:endParaRPr lang="en-US" altLang="en-US"/>
          </a:p>
        </p:txBody>
      </p:sp>
      <p:sp>
        <p:nvSpPr>
          <p:cNvPr id="20483" name="Rectangle 2">
            <a:extLst>
              <a:ext uri="{FF2B5EF4-FFF2-40B4-BE49-F238E27FC236}">
                <a16:creationId xmlns:a16="http://schemas.microsoft.com/office/drawing/2014/main" id="{B62D81B5-B9B7-4104-A690-A6AE8FE9ADB1}"/>
              </a:ext>
            </a:extLst>
          </p:cNvPr>
          <p:cNvSpPr>
            <a:spLocks noGrp="1" noChangeArrowheads="1"/>
          </p:cNvSpPr>
          <p:nvPr>
            <p:ph type="title"/>
          </p:nvPr>
        </p:nvSpPr>
        <p:spPr>
          <a:xfrm>
            <a:off x="152400" y="609600"/>
            <a:ext cx="2667000" cy="57912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Add messages and activation to complete collaboration</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This is just the domain layer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These domain classes handle data access, so this is a two layer architecture</a:t>
            </a:r>
          </a:p>
        </p:txBody>
      </p:sp>
      <p:pic>
        <p:nvPicPr>
          <p:cNvPr id="20484" name="Picture 4">
            <a:extLst>
              <a:ext uri="{FF2B5EF4-FFF2-40B4-BE49-F238E27FC236}">
                <a16:creationId xmlns:a16="http://schemas.microsoft.com/office/drawing/2014/main" id="{62B9CF50-A6D0-4F17-9016-2C8201A53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551613"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4">
            <a:extLst>
              <a:ext uri="{FF2B5EF4-FFF2-40B4-BE49-F238E27FC236}">
                <a16:creationId xmlns:a16="http://schemas.microsoft.com/office/drawing/2014/main" id="{62A497E2-8011-43DB-B3C8-94522B5D2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0486" name="Footer Placeholder 4">
            <a:extLst>
              <a:ext uri="{FF2B5EF4-FFF2-40B4-BE49-F238E27FC236}">
                <a16:creationId xmlns:a16="http://schemas.microsoft.com/office/drawing/2014/main" id="{C6097833-CEE1-4D8E-97B6-7A88F1158D1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FF1BE670-3EB3-4BBE-8AF8-FCBA6A943BE4}"/>
              </a:ext>
            </a:extLst>
          </p:cNvPr>
          <p:cNvSpPr/>
          <p:nvPr/>
        </p:nvSpPr>
        <p:spPr>
          <a:xfrm>
            <a:off x="2514600" y="1600200"/>
            <a:ext cx="5181600" cy="1752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38AF17D-963D-4F76-96D4-875EADD229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A06471-5234-41F6-A54F-44AE3DA30A40}" type="slidenum">
              <a:rPr lang="en-US" altLang="en-US"/>
              <a:pPr eaLnBrk="1" hangingPunct="1"/>
              <a:t>43</a:t>
            </a:fld>
            <a:endParaRPr lang="en-US" altLang="en-US"/>
          </a:p>
        </p:txBody>
      </p:sp>
      <p:sp>
        <p:nvSpPr>
          <p:cNvPr id="20483" name="Rectangle 2">
            <a:extLst>
              <a:ext uri="{FF2B5EF4-FFF2-40B4-BE49-F238E27FC236}">
                <a16:creationId xmlns:a16="http://schemas.microsoft.com/office/drawing/2014/main" id="{B62D81B5-B9B7-4104-A690-A6AE8FE9ADB1}"/>
              </a:ext>
            </a:extLst>
          </p:cNvPr>
          <p:cNvSpPr>
            <a:spLocks noGrp="1" noChangeArrowheads="1"/>
          </p:cNvSpPr>
          <p:nvPr>
            <p:ph type="title"/>
          </p:nvPr>
        </p:nvSpPr>
        <p:spPr>
          <a:xfrm>
            <a:off x="152400" y="609600"/>
            <a:ext cx="2362200" cy="57912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Add messages and activation to complete collaboration</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This is just the domain layer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These domain classes handle data access, so this is a two layer architecture</a:t>
            </a:r>
          </a:p>
        </p:txBody>
      </p:sp>
      <p:pic>
        <p:nvPicPr>
          <p:cNvPr id="20484" name="Picture 4">
            <a:extLst>
              <a:ext uri="{FF2B5EF4-FFF2-40B4-BE49-F238E27FC236}">
                <a16:creationId xmlns:a16="http://schemas.microsoft.com/office/drawing/2014/main" id="{62B9CF50-A6D0-4F17-9016-2C8201A53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551613"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4">
            <a:extLst>
              <a:ext uri="{FF2B5EF4-FFF2-40B4-BE49-F238E27FC236}">
                <a16:creationId xmlns:a16="http://schemas.microsoft.com/office/drawing/2014/main" id="{62A497E2-8011-43DB-B3C8-94522B5D2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0486" name="Footer Placeholder 4">
            <a:extLst>
              <a:ext uri="{FF2B5EF4-FFF2-40B4-BE49-F238E27FC236}">
                <a16:creationId xmlns:a16="http://schemas.microsoft.com/office/drawing/2014/main" id="{C6097833-CEE1-4D8E-97B6-7A88F1158D1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A880F2C3-FAEB-4A7A-8683-75157103B366}"/>
              </a:ext>
            </a:extLst>
          </p:cNvPr>
          <p:cNvSpPr/>
          <p:nvPr/>
        </p:nvSpPr>
        <p:spPr>
          <a:xfrm>
            <a:off x="2502612" y="3206750"/>
            <a:ext cx="6412787" cy="1365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8375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38AF17D-963D-4F76-96D4-875EADD229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A06471-5234-41F6-A54F-44AE3DA30A40}" type="slidenum">
              <a:rPr lang="en-US" altLang="en-US"/>
              <a:pPr eaLnBrk="1" hangingPunct="1"/>
              <a:t>44</a:t>
            </a:fld>
            <a:endParaRPr lang="en-US" altLang="en-US"/>
          </a:p>
        </p:txBody>
      </p:sp>
      <p:sp>
        <p:nvSpPr>
          <p:cNvPr id="20483" name="Rectangle 2">
            <a:extLst>
              <a:ext uri="{FF2B5EF4-FFF2-40B4-BE49-F238E27FC236}">
                <a16:creationId xmlns:a16="http://schemas.microsoft.com/office/drawing/2014/main" id="{B62D81B5-B9B7-4104-A690-A6AE8FE9ADB1}"/>
              </a:ext>
            </a:extLst>
          </p:cNvPr>
          <p:cNvSpPr>
            <a:spLocks noGrp="1" noChangeArrowheads="1"/>
          </p:cNvSpPr>
          <p:nvPr>
            <p:ph type="title"/>
          </p:nvPr>
        </p:nvSpPr>
        <p:spPr>
          <a:xfrm>
            <a:off x="152400" y="609600"/>
            <a:ext cx="2362200" cy="5791200"/>
          </a:xfrm>
        </p:spPr>
        <p:txBody>
          <a:bodyPr/>
          <a:lstStyle/>
          <a:p>
            <a:pPr eaLnBrk="1" hangingPunct="1"/>
            <a:r>
              <a:rPr lang="en-US" altLang="zh-CN" sz="3000" i="1" dirty="0">
                <a:ea typeface="宋体" panose="02010600030101010101" pitchFamily="2" charset="-122"/>
              </a:rPr>
              <a:t>Create Customer Account</a:t>
            </a:r>
            <a:r>
              <a:rPr lang="en-US" altLang="zh-CN" sz="3000" dirty="0">
                <a:ea typeface="宋体" panose="02010600030101010101" pitchFamily="2" charset="-122"/>
              </a:rPr>
              <a:t> 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Add messages and activation to complete collaboration</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This is just the domain layer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These domain classes handle data access, so this is a two layer architecture</a:t>
            </a:r>
          </a:p>
        </p:txBody>
      </p:sp>
      <p:pic>
        <p:nvPicPr>
          <p:cNvPr id="20484" name="Picture 4">
            <a:extLst>
              <a:ext uri="{FF2B5EF4-FFF2-40B4-BE49-F238E27FC236}">
                <a16:creationId xmlns:a16="http://schemas.microsoft.com/office/drawing/2014/main" id="{62B9CF50-A6D0-4F17-9016-2C8201A531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
            <a:ext cx="6551613"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4">
            <a:extLst>
              <a:ext uri="{FF2B5EF4-FFF2-40B4-BE49-F238E27FC236}">
                <a16:creationId xmlns:a16="http://schemas.microsoft.com/office/drawing/2014/main" id="{62A497E2-8011-43DB-B3C8-94522B5D254B}"/>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0486" name="Footer Placeholder 4">
            <a:extLst>
              <a:ext uri="{FF2B5EF4-FFF2-40B4-BE49-F238E27FC236}">
                <a16:creationId xmlns:a16="http://schemas.microsoft.com/office/drawing/2014/main" id="{C6097833-CEE1-4D8E-97B6-7A88F1158D1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6AC05C6B-0237-4CC0-AE56-C15770DC37E2}"/>
              </a:ext>
            </a:extLst>
          </p:cNvPr>
          <p:cNvSpPr/>
          <p:nvPr/>
        </p:nvSpPr>
        <p:spPr>
          <a:xfrm>
            <a:off x="2514600" y="4348244"/>
            <a:ext cx="6412787" cy="1365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38789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FC351B34-A74A-4851-80CE-D9CAE47ED554}"/>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354ECF9B-1472-4D71-BC55-8934FD959725}"/>
              </a:ext>
            </a:extLst>
          </p:cNvPr>
          <p:cNvSpPr>
            <a:spLocks noGrp="1"/>
          </p:cNvSpPr>
          <p:nvPr>
            <p:ph type="sldNum" sz="quarter" idx="12"/>
          </p:nvPr>
        </p:nvSpPr>
        <p:spPr/>
        <p:txBody>
          <a:bodyPr/>
          <a:lstStyle/>
          <a:p>
            <a:fld id="{ABBB1CED-0D9F-4F7C-BA0F-67E8D69C7763}" type="slidenum">
              <a:rPr lang="en-US" altLang="en-US" smtClean="0"/>
              <a:pPr/>
              <a:t>45</a:t>
            </a:fld>
            <a:endParaRPr lang="en-US" altLang="en-US"/>
          </a:p>
        </p:txBody>
      </p:sp>
      <p:sp>
        <p:nvSpPr>
          <p:cNvPr id="8" name="文本框 7">
            <a:extLst>
              <a:ext uri="{FF2B5EF4-FFF2-40B4-BE49-F238E27FC236}">
                <a16:creationId xmlns:a16="http://schemas.microsoft.com/office/drawing/2014/main" id="{47289E0D-4225-479D-BEEA-CB4CCA905D23}"/>
              </a:ext>
            </a:extLst>
          </p:cNvPr>
          <p:cNvSpPr txBox="1"/>
          <p:nvPr>
            <p:custDataLst>
              <p:tags r:id="rId2"/>
            </p:custDataLst>
          </p:nvPr>
        </p:nvSpPr>
        <p:spPr>
          <a:xfrm>
            <a:off x="990600" y="2057400"/>
            <a:ext cx="7315200" cy="2143125"/>
          </a:xfrm>
          <a:prstGeom prst="rect">
            <a:avLst/>
          </a:prstGeom>
          <a:noFill/>
        </p:spPr>
        <p:txBody>
          <a:bodyPr vert="horz" wrap="square" rtlCol="0" anchor="ctr" anchorCtr="0">
            <a:noAutofit/>
          </a:bodyPr>
          <a:lstStyle/>
          <a:p>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Please write the body of </a:t>
            </a:r>
            <a:r>
              <a:rPr lang="en-US" altLang="zh-CN" sz="2800" dirty="0" err="1">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CustomerHandler</a:t>
            </a:r>
            <a:r>
              <a:rPr lang="en-US" altLang="zh-CN"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rPr>
              <a:t> class in Java.</a:t>
            </a:r>
            <a:endParaRPr lang="zh-CN" altLang="en-US" sz="2800" dirty="0">
              <a:solidFill>
                <a:srgbClr val="000000"/>
              </a:solidFill>
              <a:latin typeface="Arial Black" panose="020B0A04020102020204" pitchFamily="34" charset="0"/>
              <a:ea typeface="Microsoft Yahei" panose="020B0503020204020204" pitchFamily="34" charset="-122"/>
              <a:sym typeface="Microsoft Yahei" panose="020B0503020204020204" pitchFamily="34" charset="-122"/>
            </a:endParaRPr>
          </a:p>
        </p:txBody>
      </p:sp>
      <p:sp>
        <p:nvSpPr>
          <p:cNvPr id="9" name="矩形: 圆角 8">
            <a:extLst>
              <a:ext uri="{FF2B5EF4-FFF2-40B4-BE49-F238E27FC236}">
                <a16:creationId xmlns:a16="http://schemas.microsoft.com/office/drawing/2014/main" id="{D9E152C0-39BD-4F1D-A205-9663EFE6952D}"/>
              </a:ext>
            </a:extLst>
          </p:cNvPr>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5" name="矩形 14">
            <a:extLst>
              <a:ext uri="{FF2B5EF4-FFF2-40B4-BE49-F238E27FC236}">
                <a16:creationId xmlns:a16="http://schemas.microsoft.com/office/drawing/2014/main" id="{9BCF0E90-6BAF-45A4-A971-B1AA6E89BD39}"/>
              </a:ext>
            </a:extLst>
          </p:cNvPr>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4" name="组合 13">
            <a:extLst>
              <a:ext uri="{FF2B5EF4-FFF2-40B4-BE49-F238E27FC236}">
                <a16:creationId xmlns:a16="http://schemas.microsoft.com/office/drawing/2014/main" id="{48DB6B35-8DEF-418B-BFF9-CB3317992654}"/>
              </a:ext>
            </a:extLst>
          </p:cNvPr>
          <p:cNvGrpSpPr/>
          <p:nvPr>
            <p:custDataLst>
              <p:tags r:id="rId5"/>
            </p:custDataLst>
          </p:nvPr>
        </p:nvGrpSpPr>
        <p:grpSpPr>
          <a:xfrm>
            <a:off x="0" y="0"/>
            <a:ext cx="9144000" cy="635000"/>
            <a:chOff x="0" y="0"/>
            <a:chExt cx="9144000" cy="635000"/>
          </a:xfrm>
        </p:grpSpPr>
        <p:sp>
          <p:nvSpPr>
            <p:cNvPr id="10" name="TitleBackground">
              <a:extLst>
                <a:ext uri="{FF2B5EF4-FFF2-40B4-BE49-F238E27FC236}">
                  <a16:creationId xmlns:a16="http://schemas.microsoft.com/office/drawing/2014/main" id="{2CBE6AC1-F117-4792-B00E-45EB7C426452}"/>
                </a:ext>
              </a:extLst>
            </p:cNvPr>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ColorBlock">
              <a:extLst>
                <a:ext uri="{FF2B5EF4-FFF2-40B4-BE49-F238E27FC236}">
                  <a16:creationId xmlns:a16="http://schemas.microsoft.com/office/drawing/2014/main" id="{F9C79647-E3AA-4378-9193-558B9FA0DDB0}"/>
                </a:ext>
              </a:extLst>
            </p:cNvPr>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ypeText">
              <a:extLst>
                <a:ext uri="{FF2B5EF4-FFF2-40B4-BE49-F238E27FC236}">
                  <a16:creationId xmlns:a16="http://schemas.microsoft.com/office/drawing/2014/main" id="{E6873CE6-2D0C-40FE-8B84-6804A1590CAD}"/>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3" name="TipText">
              <a:extLst>
                <a:ext uri="{FF2B5EF4-FFF2-40B4-BE49-F238E27FC236}">
                  <a16:creationId xmlns:a16="http://schemas.microsoft.com/office/drawing/2014/main" id="{6B99D761-BFBA-40B0-8C99-5B965E32507C}"/>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7" name="图片 6">
            <a:extLst>
              <a:ext uri="{FF2B5EF4-FFF2-40B4-BE49-F238E27FC236}">
                <a16:creationId xmlns:a16="http://schemas.microsoft.com/office/drawing/2014/main" id="{843A8217-8BCA-447F-AD72-7D2BECCB1FF3}"/>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81241285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CEDF91A-41E4-40AF-BBEB-7CD3630E2F0E}"/>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3" name="灯片编号占位符 2">
            <a:extLst>
              <a:ext uri="{FF2B5EF4-FFF2-40B4-BE49-F238E27FC236}">
                <a16:creationId xmlns:a16="http://schemas.microsoft.com/office/drawing/2014/main" id="{61A68416-B7DF-4831-8F27-10ED10E30B40}"/>
              </a:ext>
            </a:extLst>
          </p:cNvPr>
          <p:cNvSpPr>
            <a:spLocks noGrp="1"/>
          </p:cNvSpPr>
          <p:nvPr>
            <p:ph type="sldNum" sz="quarter" idx="12"/>
          </p:nvPr>
        </p:nvSpPr>
        <p:spPr/>
        <p:txBody>
          <a:bodyPr/>
          <a:lstStyle/>
          <a:p>
            <a:fld id="{0D5996A9-5AD3-4DEF-82DB-77A88BF5FB5A}" type="slidenum">
              <a:rPr lang="en-US" altLang="en-US" smtClean="0"/>
              <a:pPr/>
              <a:t>46</a:t>
            </a:fld>
            <a:endParaRPr lang="en-US" altLang="en-US"/>
          </a:p>
        </p:txBody>
      </p:sp>
      <p:sp>
        <p:nvSpPr>
          <p:cNvPr id="4" name="矩形 3">
            <a:extLst>
              <a:ext uri="{FF2B5EF4-FFF2-40B4-BE49-F238E27FC236}">
                <a16:creationId xmlns:a16="http://schemas.microsoft.com/office/drawing/2014/main" id="{D4122A05-EC8E-4A15-BDCD-FDE61B9AC6AC}"/>
              </a:ext>
            </a:extLst>
          </p:cNvPr>
          <p:cNvSpPr/>
          <p:nvPr/>
        </p:nvSpPr>
        <p:spPr>
          <a:xfrm>
            <a:off x="609600" y="2383572"/>
            <a:ext cx="8186854" cy="4093428"/>
          </a:xfrm>
          <a:prstGeom prst="rect">
            <a:avLst/>
          </a:prstGeom>
        </p:spPr>
        <p:txBody>
          <a:bodyPr wrap="square">
            <a:spAutoFit/>
          </a:bodyPr>
          <a:lstStyle/>
          <a:p>
            <a:pPr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Public Class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CustomerHandler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Private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Custormer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Public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cusInfo</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createNewCustomer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(string name, string phone, string email)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Customer.createNewCustomer</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name,phone,email</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return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aC.getInfo</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Public String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enterAddress</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(string address)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String s = </a:t>
            </a:r>
            <a:r>
              <a:rPr lang="en-US" altLang="zh-CN" sz="2000" kern="100" dirty="0" err="1">
                <a:effectLst/>
                <a:latin typeface="等线" panose="02010600030101010101" pitchFamily="2" charset="-122"/>
                <a:ea typeface="等线" panose="02010600030101010101" pitchFamily="2" charset="-122"/>
                <a:cs typeface="Times New Roman" panose="02020603050405020304" pitchFamily="18" charset="0"/>
              </a:rPr>
              <a:t>aC.enterAddress</a:t>
            </a: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(address);</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Return s;</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marL="133350"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en-US" altLang="zh-CN" sz="20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5" name="Picture 4">
            <a:extLst>
              <a:ext uri="{FF2B5EF4-FFF2-40B4-BE49-F238E27FC236}">
                <a16:creationId xmlns:a16="http://schemas.microsoft.com/office/drawing/2014/main" id="{8EDED6B4-7AEB-4074-9E5E-B1964AF13B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585" b="52809"/>
          <a:stretch/>
        </p:blipFill>
        <p:spPr bwMode="auto">
          <a:xfrm>
            <a:off x="99432" y="130098"/>
            <a:ext cx="4506948" cy="2253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0721B055-60D4-4932-A5E3-70049EFFF29C}"/>
              </a:ext>
            </a:extLst>
          </p:cNvPr>
          <p:cNvSpPr/>
          <p:nvPr/>
        </p:nvSpPr>
        <p:spPr>
          <a:xfrm>
            <a:off x="762000" y="2743200"/>
            <a:ext cx="8034454" cy="189384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6477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2EAD0FC-5483-41D3-8607-ABF091FC00FD}"/>
              </a:ext>
            </a:extLst>
          </p:cNvPr>
          <p:cNvSpPr>
            <a:spLocks noGrp="1"/>
          </p:cNvSpPr>
          <p:nvPr>
            <p:ph type="sldNum" sz="quarter" idx="12"/>
          </p:nvPr>
        </p:nvSpPr>
        <p:spPr/>
        <p:txBody>
          <a:bodyPr/>
          <a:lstStyle/>
          <a:p>
            <a:fld id="{0D5996A9-5AD3-4DEF-82DB-77A88BF5FB5A}" type="slidenum">
              <a:rPr lang="en-US" altLang="en-US" smtClean="0"/>
              <a:pPr/>
              <a:t>47</a:t>
            </a:fld>
            <a:endParaRPr lang="en-US" altLang="en-US"/>
          </a:p>
        </p:txBody>
      </p:sp>
      <p:pic>
        <p:nvPicPr>
          <p:cNvPr id="6" name="图片 5">
            <a:extLst>
              <a:ext uri="{FF2B5EF4-FFF2-40B4-BE49-F238E27FC236}">
                <a16:creationId xmlns:a16="http://schemas.microsoft.com/office/drawing/2014/main" id="{C27B0C6B-A045-4FC1-BDF8-BBCFD0A69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0"/>
            <a:ext cx="5486400" cy="6553200"/>
          </a:xfrm>
          <a:prstGeom prst="rect">
            <a:avLst/>
          </a:prstGeom>
        </p:spPr>
      </p:pic>
      <p:pic>
        <p:nvPicPr>
          <p:cNvPr id="7" name="Picture 4">
            <a:extLst>
              <a:ext uri="{FF2B5EF4-FFF2-40B4-BE49-F238E27FC236}">
                <a16:creationId xmlns:a16="http://schemas.microsoft.com/office/drawing/2014/main" id="{09DD5C3B-F189-41E2-A9AD-A762CF95E0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7" t="925" r="1205" b="1388"/>
          <a:stretch/>
        </p:blipFill>
        <p:spPr bwMode="auto">
          <a:xfrm>
            <a:off x="76200" y="76200"/>
            <a:ext cx="352884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6349F857-7661-4B68-B997-DBB1C2C5DEE1}"/>
              </a:ext>
            </a:extLst>
          </p:cNvPr>
          <p:cNvSpPr/>
          <p:nvPr/>
        </p:nvSpPr>
        <p:spPr>
          <a:xfrm>
            <a:off x="3810000" y="1905000"/>
            <a:ext cx="5257800" cy="1219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FA0E277-9C3F-407A-AFDE-74F254A939E2}"/>
              </a:ext>
            </a:extLst>
          </p:cNvPr>
          <p:cNvSpPr/>
          <p:nvPr/>
        </p:nvSpPr>
        <p:spPr>
          <a:xfrm>
            <a:off x="3810001" y="3124201"/>
            <a:ext cx="5257800" cy="12192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8E3D2349-975D-44FD-8341-4BDF9D259535}"/>
              </a:ext>
            </a:extLst>
          </p:cNvPr>
          <p:cNvCxnSpPr/>
          <p:nvPr/>
        </p:nvCxnSpPr>
        <p:spPr>
          <a:xfrm flipH="1">
            <a:off x="4876800" y="2743200"/>
            <a:ext cx="76200" cy="38100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75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2EAD0FC-5483-41D3-8607-ABF091FC00FD}"/>
              </a:ext>
            </a:extLst>
          </p:cNvPr>
          <p:cNvSpPr>
            <a:spLocks noGrp="1"/>
          </p:cNvSpPr>
          <p:nvPr>
            <p:ph type="sldNum" sz="quarter" idx="12"/>
          </p:nvPr>
        </p:nvSpPr>
        <p:spPr/>
        <p:txBody>
          <a:bodyPr/>
          <a:lstStyle/>
          <a:p>
            <a:fld id="{0D5996A9-5AD3-4DEF-82DB-77A88BF5FB5A}" type="slidenum">
              <a:rPr lang="en-US" altLang="en-US" smtClean="0"/>
              <a:pPr/>
              <a:t>48</a:t>
            </a:fld>
            <a:endParaRPr lang="en-US" altLang="en-US"/>
          </a:p>
        </p:txBody>
      </p:sp>
      <p:pic>
        <p:nvPicPr>
          <p:cNvPr id="6" name="图片 5">
            <a:extLst>
              <a:ext uri="{FF2B5EF4-FFF2-40B4-BE49-F238E27FC236}">
                <a16:creationId xmlns:a16="http://schemas.microsoft.com/office/drawing/2014/main" id="{C27B0C6B-A045-4FC1-BDF8-BBCFD0A69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0"/>
            <a:ext cx="5486400" cy="6553200"/>
          </a:xfrm>
          <a:prstGeom prst="rect">
            <a:avLst/>
          </a:prstGeom>
        </p:spPr>
      </p:pic>
      <p:sp>
        <p:nvSpPr>
          <p:cNvPr id="4" name="矩形 3">
            <a:extLst>
              <a:ext uri="{FF2B5EF4-FFF2-40B4-BE49-F238E27FC236}">
                <a16:creationId xmlns:a16="http://schemas.microsoft.com/office/drawing/2014/main" id="{6349F857-7661-4B68-B997-DBB1C2C5DEE1}"/>
              </a:ext>
            </a:extLst>
          </p:cNvPr>
          <p:cNvSpPr/>
          <p:nvPr/>
        </p:nvSpPr>
        <p:spPr>
          <a:xfrm>
            <a:off x="3771900" y="4954858"/>
            <a:ext cx="5257800" cy="1219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a:extLst>
              <a:ext uri="{FF2B5EF4-FFF2-40B4-BE49-F238E27FC236}">
                <a16:creationId xmlns:a16="http://schemas.microsoft.com/office/drawing/2014/main" id="{1D9D6035-A7B5-4F54-8576-A1A203EF9A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5842"/>
          <a:stretch/>
        </p:blipFill>
        <p:spPr bwMode="auto">
          <a:xfrm>
            <a:off x="14868" y="77129"/>
            <a:ext cx="6551613"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8112D2EF-5E39-444F-93E4-766436C441E1}"/>
              </a:ext>
            </a:extLst>
          </p:cNvPr>
          <p:cNvSpPr/>
          <p:nvPr/>
        </p:nvSpPr>
        <p:spPr>
          <a:xfrm>
            <a:off x="174702" y="2858429"/>
            <a:ext cx="6302298" cy="1103971"/>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50242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04799"/>
            <a:ext cx="8001000" cy="6256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a:extLst>
              <a:ext uri="{FF2B5EF4-FFF2-40B4-BE49-F238E27FC236}">
                <a16:creationId xmlns:a16="http://schemas.microsoft.com/office/drawing/2014/main" id="{777BB463-D6CB-49FF-AEB7-C4F9566AAFC4}"/>
              </a:ext>
            </a:extLst>
          </p:cNvPr>
          <p:cNvSpPr/>
          <p:nvPr/>
        </p:nvSpPr>
        <p:spPr>
          <a:xfrm>
            <a:off x="5257800" y="381000"/>
            <a:ext cx="15240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49E8D89-1E15-4B86-B2B8-09C6FAE69B1B}"/>
              </a:ext>
            </a:extLst>
          </p:cNvPr>
          <p:cNvSpPr/>
          <p:nvPr/>
        </p:nvSpPr>
        <p:spPr>
          <a:xfrm>
            <a:off x="7010400" y="3505200"/>
            <a:ext cx="1524000" cy="838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993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C47724A4-8E8E-41D6-8ACF-7ADE4E7DAB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F2D7213-1E4E-4A9D-B77F-FD33C31974A1}" type="slidenum">
              <a:rPr lang="en-US" altLang="en-US"/>
              <a:pPr eaLnBrk="1" hangingPunct="1"/>
              <a:t>50</a:t>
            </a:fld>
            <a:endParaRPr lang="en-US" altLang="en-US"/>
          </a:p>
        </p:txBody>
      </p:sp>
      <p:sp>
        <p:nvSpPr>
          <p:cNvPr id="21507" name="Rectangle 2">
            <a:extLst>
              <a:ext uri="{FF2B5EF4-FFF2-40B4-BE49-F238E27FC236}">
                <a16:creationId xmlns:a16="http://schemas.microsoft.com/office/drawing/2014/main" id="{A6DEECFE-F32F-4526-AE0F-14462F07189F}"/>
              </a:ext>
            </a:extLst>
          </p:cNvPr>
          <p:cNvSpPr>
            <a:spLocks noGrp="1" noChangeArrowheads="1"/>
          </p:cNvSpPr>
          <p:nvPr>
            <p:ph type="title"/>
          </p:nvPr>
        </p:nvSpPr>
        <p:spPr>
          <a:xfrm>
            <a:off x="304800" y="304800"/>
            <a:ext cx="2743200" cy="3962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Start with domain layer based on </a:t>
            </a:r>
            <a:r>
              <a:rPr lang="en-US" altLang="zh-CN" sz="2000" dirty="0">
                <a:solidFill>
                  <a:srgbClr val="C00000"/>
                </a:solidFill>
                <a:ea typeface="宋体" panose="02010600030101010101" pitchFamily="2" charset="-122"/>
              </a:rPr>
              <a:t>activity diagram </a:t>
            </a:r>
            <a:r>
              <a:rPr lang="en-US" altLang="zh-CN" sz="2000" dirty="0">
                <a:ea typeface="宋体" panose="02010600030101010101" pitchFamily="2" charset="-122"/>
              </a:rPr>
              <a:t>and then </a:t>
            </a:r>
            <a:r>
              <a:rPr lang="en-US" altLang="zh-CN" sz="2000" dirty="0">
                <a:solidFill>
                  <a:schemeClr val="tx1"/>
                </a:solidFill>
                <a:ea typeface="宋体" panose="02010600030101010101" pitchFamily="2" charset="-122"/>
              </a:rPr>
              <a:t>SSD</a:t>
            </a:r>
            <a:br>
              <a:rPr lang="en-US" altLang="zh-CN" sz="2000" dirty="0">
                <a:solidFill>
                  <a:schemeClr val="tx1"/>
                </a:solidFill>
                <a:ea typeface="宋体" panose="02010600030101010101" pitchFamily="2" charset="-122"/>
              </a:rPr>
            </a:br>
            <a:r>
              <a:rPr lang="zh-CN" altLang="en-US" sz="2000" dirty="0">
                <a:solidFill>
                  <a:schemeClr val="tx1"/>
                </a:solidFill>
                <a:ea typeface="宋体" panose="02010600030101010101" pitchFamily="2" charset="-122"/>
              </a:rPr>
              <a:t>（从基于活动图的域层开始，然后是系统顺序图）</a:t>
            </a:r>
            <a:endParaRPr lang="en-US" altLang="zh-CN" sz="2000" dirty="0">
              <a:solidFill>
                <a:schemeClr val="tx1"/>
              </a:solidFill>
              <a:ea typeface="宋体" panose="02010600030101010101" pitchFamily="2" charset="-122"/>
            </a:endParaRPr>
          </a:p>
        </p:txBody>
      </p:sp>
      <p:pic>
        <p:nvPicPr>
          <p:cNvPr id="21508" name="Picture 4">
            <a:extLst>
              <a:ext uri="{FF2B5EF4-FFF2-40B4-BE49-F238E27FC236}">
                <a16:creationId xmlns:a16="http://schemas.microsoft.com/office/drawing/2014/main" id="{86588033-43EA-423C-810C-88593E603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52400"/>
            <a:ext cx="48514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Rectangle 4">
            <a:extLst>
              <a:ext uri="{FF2B5EF4-FFF2-40B4-BE49-F238E27FC236}">
                <a16:creationId xmlns:a16="http://schemas.microsoft.com/office/drawing/2014/main" id="{C8A13BBE-F8A6-4BFF-A8DE-65D7503A6E4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1510" name="Footer Placeholder 4">
            <a:extLst>
              <a:ext uri="{FF2B5EF4-FFF2-40B4-BE49-F238E27FC236}">
                <a16:creationId xmlns:a16="http://schemas.microsoft.com/office/drawing/2014/main" id="{5CC841EC-EDA8-46B5-9A3D-97C68E62D7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2F03E1C4-0F07-4D16-BBD8-76D0EBDC62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C55F73-579A-4F2D-8B76-2995F9C465B7}" type="slidenum">
              <a:rPr lang="en-US" altLang="en-US"/>
              <a:pPr eaLnBrk="1" hangingPunct="1"/>
              <a:t>51</a:t>
            </a:fld>
            <a:endParaRPr lang="en-US" altLang="en-US"/>
          </a:p>
        </p:txBody>
      </p:sp>
      <p:sp>
        <p:nvSpPr>
          <p:cNvPr id="22531" name="Rectangle 2">
            <a:extLst>
              <a:ext uri="{FF2B5EF4-FFF2-40B4-BE49-F238E27FC236}">
                <a16:creationId xmlns:a16="http://schemas.microsoft.com/office/drawing/2014/main" id="{8B3D38CD-D9F3-4C10-9DFA-390C49645BF4}"/>
              </a:ext>
            </a:extLst>
          </p:cNvPr>
          <p:cNvSpPr>
            <a:spLocks noGrp="1" noChangeArrowheads="1"/>
          </p:cNvSpPr>
          <p:nvPr>
            <p:ph type="title"/>
          </p:nvPr>
        </p:nvSpPr>
        <p:spPr>
          <a:xfrm>
            <a:off x="152400" y="381000"/>
            <a:ext cx="2743200" cy="3962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Start with domain layer based on activity diagram and then </a:t>
            </a:r>
            <a:r>
              <a:rPr lang="en-US" altLang="zh-CN" sz="2000" dirty="0">
                <a:solidFill>
                  <a:srgbClr val="C00000"/>
                </a:solidFill>
                <a:ea typeface="宋体" panose="02010600030101010101" pitchFamily="2" charset="-122"/>
              </a:rPr>
              <a:t>SSD</a:t>
            </a:r>
          </a:p>
        </p:txBody>
      </p:sp>
      <p:pic>
        <p:nvPicPr>
          <p:cNvPr id="22532" name="Picture 4">
            <a:extLst>
              <a:ext uri="{FF2B5EF4-FFF2-40B4-BE49-F238E27FC236}">
                <a16:creationId xmlns:a16="http://schemas.microsoft.com/office/drawing/2014/main" id="{E6E6DDDA-4089-4C7C-A87A-6D86D34CB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066800"/>
            <a:ext cx="6157913" cy="446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4">
            <a:extLst>
              <a:ext uri="{FF2B5EF4-FFF2-40B4-BE49-F238E27FC236}">
                <a16:creationId xmlns:a16="http://schemas.microsoft.com/office/drawing/2014/main" id="{E5F1029D-1D1C-41EE-AA73-4A1CD14E082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2534" name="Footer Placeholder 4">
            <a:extLst>
              <a:ext uri="{FF2B5EF4-FFF2-40B4-BE49-F238E27FC236}">
                <a16:creationId xmlns:a16="http://schemas.microsoft.com/office/drawing/2014/main" id="{0515F0DE-C28F-4569-979A-5A88DBBA78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4FF76BA9-1157-4B4D-93F3-AC6F1BB23E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922DA75-967B-4D68-8ED5-93F45C86E27B}" type="slidenum">
              <a:rPr lang="en-US" altLang="en-US"/>
              <a:pPr eaLnBrk="1" hangingPunct="1"/>
              <a:t>52</a:t>
            </a:fld>
            <a:endParaRPr lang="en-US" altLang="en-US"/>
          </a:p>
        </p:txBody>
      </p:sp>
      <p:sp>
        <p:nvSpPr>
          <p:cNvPr id="23555" name="Rectangle 2">
            <a:extLst>
              <a:ext uri="{FF2B5EF4-FFF2-40B4-BE49-F238E27FC236}">
                <a16:creationId xmlns:a16="http://schemas.microsoft.com/office/drawing/2014/main" id="{D3B4CD0B-3F0A-4E49-B68A-95FF98E31B8A}"/>
              </a:ext>
            </a:extLst>
          </p:cNvPr>
          <p:cNvSpPr>
            <a:spLocks noGrp="1" noChangeArrowheads="1"/>
          </p:cNvSpPr>
          <p:nvPr>
            <p:ph type="title"/>
          </p:nvPr>
        </p:nvSpPr>
        <p:spPr>
          <a:xfrm>
            <a:off x="152400" y="838200"/>
            <a:ext cx="2743200" cy="3962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First cut design class diagram</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Select classes, elaborate attributes, add navigation visibility</a:t>
            </a:r>
          </a:p>
        </p:txBody>
      </p:sp>
      <p:pic>
        <p:nvPicPr>
          <p:cNvPr id="23556" name="Picture 4">
            <a:extLst>
              <a:ext uri="{FF2B5EF4-FFF2-40B4-BE49-F238E27FC236}">
                <a16:creationId xmlns:a16="http://schemas.microsoft.com/office/drawing/2014/main" id="{D28138D3-D58C-4FB4-8BE9-E3B7089AB5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52400"/>
            <a:ext cx="516096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Rectangle 4">
            <a:extLst>
              <a:ext uri="{FF2B5EF4-FFF2-40B4-BE49-F238E27FC236}">
                <a16:creationId xmlns:a16="http://schemas.microsoft.com/office/drawing/2014/main" id="{345F52C3-2317-4B54-9789-01516FB3F78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3558" name="Footer Placeholder 4">
            <a:extLst>
              <a:ext uri="{FF2B5EF4-FFF2-40B4-BE49-F238E27FC236}">
                <a16:creationId xmlns:a16="http://schemas.microsoft.com/office/drawing/2014/main" id="{808E0469-0F1F-4FDD-A6A8-8F5BF6A716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571EF9D5-898B-4DA3-B289-B9EE1780D4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75F54D7-AAA5-44C1-A78A-10E214E2A474}" type="slidenum">
              <a:rPr lang="en-US" altLang="en-US"/>
              <a:pPr eaLnBrk="1" hangingPunct="1"/>
              <a:t>53</a:t>
            </a:fld>
            <a:endParaRPr lang="en-US" altLang="en-US"/>
          </a:p>
        </p:txBody>
      </p:sp>
      <p:sp>
        <p:nvSpPr>
          <p:cNvPr id="24579" name="Rectangle 2">
            <a:extLst>
              <a:ext uri="{FF2B5EF4-FFF2-40B4-BE49-F238E27FC236}">
                <a16:creationId xmlns:a16="http://schemas.microsoft.com/office/drawing/2014/main" id="{B4750DDC-FC77-496F-8F96-1B2D3D692A8A}"/>
              </a:ext>
            </a:extLst>
          </p:cNvPr>
          <p:cNvSpPr>
            <a:spLocks noGrp="1" noChangeArrowheads="1"/>
          </p:cNvSpPr>
          <p:nvPr>
            <p:ph type="title"/>
          </p:nvPr>
        </p:nvSpPr>
        <p:spPr>
          <a:xfrm>
            <a:off x="152400" y="838200"/>
            <a:ext cx="2743200" cy="5486400"/>
          </a:xfrm>
        </p:spPr>
        <p:txBody>
          <a:bodyPr/>
          <a:lstStyle/>
          <a:p>
            <a:pPr eaLnBrk="1" hangingPunct="1"/>
            <a:r>
              <a:rPr lang="en-US" altLang="zh-CN" sz="3000" i="1" dirty="0">
                <a:ea typeface="宋体" panose="02010600030101010101" pitchFamily="2" charset="-122"/>
              </a:rPr>
              <a:t>Fill Shopping Cart </a:t>
            </a:r>
            <a:r>
              <a:rPr lang="en-US" altLang="zh-CN" sz="3000" dirty="0">
                <a:ea typeface="宋体" panose="02010600030101010101" pitchFamily="2" charset="-122"/>
              </a:rPr>
              <a:t>Use Case</a:t>
            </a:r>
            <a:br>
              <a:rPr lang="en-US" altLang="zh-CN" sz="32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First cut sequence diagram for domain layer. Will be three layer architecture. </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u="sng" dirty="0">
                <a:ea typeface="宋体" panose="02010600030101010101" pitchFamily="2" charset="-122"/>
              </a:rPr>
              <a:t>:</a:t>
            </a:r>
            <a:r>
              <a:rPr lang="en-US" altLang="zh-CN" sz="2000" u="sng" dirty="0" err="1">
                <a:ea typeface="宋体" panose="02010600030101010101" pitchFamily="2" charset="-122"/>
              </a:rPr>
              <a:t>CartHandler</a:t>
            </a:r>
            <a:r>
              <a:rPr lang="en-US" altLang="zh-CN" sz="2000" dirty="0">
                <a:ea typeface="宋体" panose="02010600030101010101" pitchFamily="2" charset="-122"/>
              </a:rPr>
              <a:t> is controller, other domain classes are included.</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Note loop frame for adding each item to cart. The SSD used * notation</a:t>
            </a:r>
            <a:r>
              <a:rPr lang="zh-CN" altLang="en-US" sz="2000" dirty="0">
                <a:ea typeface="宋体" panose="02010600030101010101" pitchFamily="2" charset="-122"/>
              </a:rPr>
              <a:t>（循环）</a:t>
            </a:r>
            <a:endParaRPr lang="en-US" altLang="zh-CN" sz="2000" dirty="0">
              <a:ea typeface="宋体" panose="02010600030101010101" pitchFamily="2" charset="-122"/>
            </a:endParaRPr>
          </a:p>
        </p:txBody>
      </p:sp>
      <p:pic>
        <p:nvPicPr>
          <p:cNvPr id="24580" name="Picture 4">
            <a:extLst>
              <a:ext uri="{FF2B5EF4-FFF2-40B4-BE49-F238E27FC236}">
                <a16:creationId xmlns:a16="http://schemas.microsoft.com/office/drawing/2014/main" id="{FAF2C213-3F96-42AE-8D54-2F4B32211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4338" y="152400"/>
            <a:ext cx="5716587"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4">
            <a:extLst>
              <a:ext uri="{FF2B5EF4-FFF2-40B4-BE49-F238E27FC236}">
                <a16:creationId xmlns:a16="http://schemas.microsoft.com/office/drawing/2014/main" id="{3D8380B4-5457-40A7-B0E8-C96027F14748}"/>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4582" name="Footer Placeholder 4">
            <a:extLst>
              <a:ext uri="{FF2B5EF4-FFF2-40B4-BE49-F238E27FC236}">
                <a16:creationId xmlns:a16="http://schemas.microsoft.com/office/drawing/2014/main" id="{C2A13348-1073-4C36-B48D-0E53A560D9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3A8ACB15-C874-4DC9-844B-B7E8B185A6BF}"/>
              </a:ext>
            </a:extLst>
          </p:cNvPr>
          <p:cNvSpPr/>
          <p:nvPr/>
        </p:nvSpPr>
        <p:spPr>
          <a:xfrm>
            <a:off x="2999375" y="990600"/>
            <a:ext cx="5671549" cy="2819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046E9-3539-4F40-AA21-407E2DA7858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450BE00-6DA7-42A5-A1A3-4FA9036B4624}"/>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C16C24BA-A625-4392-BA2A-E420FC84ACC9}"/>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0C62D13C-594C-4552-9EDC-42F2AB645700}"/>
              </a:ext>
            </a:extLst>
          </p:cNvPr>
          <p:cNvSpPr>
            <a:spLocks noGrp="1"/>
          </p:cNvSpPr>
          <p:nvPr>
            <p:ph type="sldNum" sz="quarter" idx="12"/>
          </p:nvPr>
        </p:nvSpPr>
        <p:spPr/>
        <p:txBody>
          <a:bodyPr/>
          <a:lstStyle/>
          <a:p>
            <a:fld id="{ABBB1CED-0D9F-4F7C-BA0F-67E8D69C7763}" type="slidenum">
              <a:rPr lang="en-US" altLang="en-US" smtClean="0"/>
              <a:pPr/>
              <a:t>54</a:t>
            </a:fld>
            <a:endParaRPr lang="en-US" altLang="en-US"/>
          </a:p>
        </p:txBody>
      </p:sp>
      <p:pic>
        <p:nvPicPr>
          <p:cNvPr id="6" name="Picture 4">
            <a:extLst>
              <a:ext uri="{FF2B5EF4-FFF2-40B4-BE49-F238E27FC236}">
                <a16:creationId xmlns:a16="http://schemas.microsoft.com/office/drawing/2014/main" id="{70BD8669-C986-429D-A200-D1F569A1E9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0907"/>
          <a:stretch/>
        </p:blipFill>
        <p:spPr bwMode="auto">
          <a:xfrm>
            <a:off x="245862" y="152400"/>
            <a:ext cx="8867658" cy="597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988DA9A3-662F-4B65-A5F4-720E08CAB427}"/>
              </a:ext>
            </a:extLst>
          </p:cNvPr>
          <p:cNvSpPr/>
          <p:nvPr/>
        </p:nvSpPr>
        <p:spPr>
          <a:xfrm>
            <a:off x="1905000" y="2057400"/>
            <a:ext cx="4038600" cy="9271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33518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2396B7CF-3E45-457F-93E9-7FF9429A27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9C267F-69A9-48BB-9D51-4B4713EDA514}" type="slidenum">
              <a:rPr lang="en-US" altLang="en-US"/>
              <a:pPr eaLnBrk="1" hangingPunct="1"/>
              <a:t>55</a:t>
            </a:fld>
            <a:endParaRPr lang="en-US" altLang="en-US"/>
          </a:p>
        </p:txBody>
      </p:sp>
      <p:sp>
        <p:nvSpPr>
          <p:cNvPr id="25603" name="Rectangle 2">
            <a:extLst>
              <a:ext uri="{FF2B5EF4-FFF2-40B4-BE49-F238E27FC236}">
                <a16:creationId xmlns:a16="http://schemas.microsoft.com/office/drawing/2014/main" id="{480E6409-904A-4783-910A-BB8F1917631B}"/>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Assumptions</a:t>
            </a:r>
          </a:p>
        </p:txBody>
      </p:sp>
      <p:sp>
        <p:nvSpPr>
          <p:cNvPr id="25604" name="Rectangle 6">
            <a:extLst>
              <a:ext uri="{FF2B5EF4-FFF2-40B4-BE49-F238E27FC236}">
                <a16:creationId xmlns:a16="http://schemas.microsoft.com/office/drawing/2014/main" id="{FAFAD2F4-7F4F-493F-AD2A-D4DAD08421C8}"/>
              </a:ext>
            </a:extLst>
          </p:cNvPr>
          <p:cNvSpPr>
            <a:spLocks noGrp="1" noChangeArrowheads="1"/>
          </p:cNvSpPr>
          <p:nvPr>
            <p:ph type="body" idx="1"/>
          </p:nvPr>
        </p:nvSpPr>
        <p:spPr>
          <a:xfrm>
            <a:off x="457200" y="990600"/>
            <a:ext cx="8458200" cy="5181600"/>
          </a:xfrm>
          <a:noFill/>
        </p:spPr>
        <p:txBody>
          <a:bodyPr/>
          <a:lstStyle/>
          <a:p>
            <a:pPr eaLnBrk="1" hangingPunct="1"/>
            <a:r>
              <a:rPr lang="en-US" altLang="zh-CN" sz="2400" dirty="0">
                <a:ea typeface="宋体" panose="02010600030101010101" pitchFamily="2" charset="-122"/>
              </a:rPr>
              <a:t>Perfect technology assumption</a:t>
            </a:r>
            <a:r>
              <a:rPr lang="zh-CN" altLang="en-US" sz="2400" dirty="0">
                <a:ea typeface="宋体" panose="02010600030101010101" pitchFamily="2" charset="-122"/>
              </a:rPr>
              <a:t>（完美技术假设）</a:t>
            </a:r>
            <a:r>
              <a:rPr lang="en-US" altLang="zh-CN" sz="2400" dirty="0">
                <a:ea typeface="宋体" panose="02010600030101010101" pitchFamily="2" charset="-122"/>
              </a:rPr>
              <a:t>—First encountered for use cases. We don’t include messages such as the user having to log on.</a:t>
            </a:r>
            <a:r>
              <a:rPr lang="zh-CN" altLang="en-US" sz="2400" dirty="0">
                <a:ea typeface="宋体" panose="02010600030101010101" pitchFamily="2" charset="-122"/>
              </a:rPr>
              <a:t>（我们没有包含诸如用户登录之类的信息）</a:t>
            </a:r>
            <a:endParaRPr lang="en-US" altLang="zh-CN" sz="2400" dirty="0">
              <a:ea typeface="宋体" panose="02010600030101010101" pitchFamily="2" charset="-122"/>
            </a:endParaRPr>
          </a:p>
          <a:p>
            <a:pPr eaLnBrk="1" hangingPunct="1"/>
            <a:r>
              <a:rPr lang="en-US" altLang="zh-CN" sz="2400" dirty="0">
                <a:ea typeface="宋体" panose="02010600030101010101" pitchFamily="2" charset="-122"/>
              </a:rPr>
              <a:t>Perfect memory assumption</a:t>
            </a:r>
            <a:r>
              <a:rPr lang="zh-CN" altLang="en-US" sz="2400" dirty="0">
                <a:ea typeface="宋体" panose="02010600030101010101" pitchFamily="2" charset="-122"/>
              </a:rPr>
              <a:t>（完美内存假设）</a:t>
            </a:r>
            <a:r>
              <a:rPr lang="en-US" altLang="zh-CN" sz="2400" dirty="0">
                <a:ea typeface="宋体" panose="02010600030101010101" pitchFamily="2" charset="-122"/>
              </a:rPr>
              <a:t>—We have assumed that the necessary objects were in memory and available for the use case. In multilayer design to follow, we do include the steps necessary to create objects in memory.</a:t>
            </a:r>
            <a:r>
              <a:rPr lang="zh-CN" altLang="en-US" sz="2400" dirty="0">
                <a:ea typeface="宋体" panose="02010600030101010101" pitchFamily="2" charset="-122"/>
              </a:rPr>
              <a:t>（我们已经假设必要的对象在内存中并且对用例可用）</a:t>
            </a:r>
            <a:endParaRPr lang="en-US" altLang="zh-CN" sz="2400" dirty="0">
              <a:ea typeface="宋体" panose="02010600030101010101" pitchFamily="2" charset="-122"/>
            </a:endParaRPr>
          </a:p>
          <a:p>
            <a:pPr eaLnBrk="1" hangingPunct="1"/>
            <a:endParaRPr lang="en-US" altLang="zh-CN" sz="2400" dirty="0">
              <a:ea typeface="宋体" panose="02010600030101010101" pitchFamily="2" charset="-122"/>
            </a:endParaRPr>
          </a:p>
        </p:txBody>
      </p:sp>
      <p:sp>
        <p:nvSpPr>
          <p:cNvPr id="25605" name="Rectangle 4">
            <a:extLst>
              <a:ext uri="{FF2B5EF4-FFF2-40B4-BE49-F238E27FC236}">
                <a16:creationId xmlns:a16="http://schemas.microsoft.com/office/drawing/2014/main" id="{3BF77A85-D9A3-4720-9789-A4D5726A934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5606" name="Footer Placeholder 4">
            <a:extLst>
              <a:ext uri="{FF2B5EF4-FFF2-40B4-BE49-F238E27FC236}">
                <a16:creationId xmlns:a16="http://schemas.microsoft.com/office/drawing/2014/main" id="{73064137-5854-471C-BEAC-04EEBB9CCC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2396B7CF-3E45-457F-93E9-7FF9429A27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C9C267F-69A9-48BB-9D51-4B4713EDA514}" type="slidenum">
              <a:rPr lang="en-US" altLang="en-US"/>
              <a:pPr eaLnBrk="1" hangingPunct="1"/>
              <a:t>56</a:t>
            </a:fld>
            <a:endParaRPr lang="en-US" altLang="en-US"/>
          </a:p>
        </p:txBody>
      </p:sp>
      <p:sp>
        <p:nvSpPr>
          <p:cNvPr id="25603" name="Rectangle 2">
            <a:extLst>
              <a:ext uri="{FF2B5EF4-FFF2-40B4-BE49-F238E27FC236}">
                <a16:creationId xmlns:a16="http://schemas.microsoft.com/office/drawing/2014/main" id="{480E6409-904A-4783-910A-BB8F1917631B}"/>
              </a:ext>
            </a:extLst>
          </p:cNvPr>
          <p:cNvSpPr>
            <a:spLocks noGrp="1" noChangeArrowheads="1"/>
          </p:cNvSpPr>
          <p:nvPr>
            <p:ph type="title"/>
          </p:nvPr>
        </p:nvSpPr>
        <p:spPr>
          <a:xfrm>
            <a:off x="304800" y="122238"/>
            <a:ext cx="7696200" cy="792162"/>
          </a:xfrm>
        </p:spPr>
        <p:txBody>
          <a:bodyPr/>
          <a:lstStyle/>
          <a:p>
            <a:pPr eaLnBrk="1" hangingPunct="1"/>
            <a:r>
              <a:rPr lang="en-US" altLang="zh-CN" sz="3200">
                <a:ea typeface="宋体" panose="02010600030101010101" pitchFamily="2" charset="-122"/>
              </a:rPr>
              <a:t>Assumptions</a:t>
            </a:r>
          </a:p>
        </p:txBody>
      </p:sp>
      <p:sp>
        <p:nvSpPr>
          <p:cNvPr id="25604" name="Rectangle 6">
            <a:extLst>
              <a:ext uri="{FF2B5EF4-FFF2-40B4-BE49-F238E27FC236}">
                <a16:creationId xmlns:a16="http://schemas.microsoft.com/office/drawing/2014/main" id="{FAFAD2F4-7F4F-493F-AD2A-D4DAD08421C8}"/>
              </a:ext>
            </a:extLst>
          </p:cNvPr>
          <p:cNvSpPr>
            <a:spLocks noGrp="1" noChangeArrowheads="1"/>
          </p:cNvSpPr>
          <p:nvPr>
            <p:ph type="body" idx="1"/>
          </p:nvPr>
        </p:nvSpPr>
        <p:spPr>
          <a:xfrm>
            <a:off x="457200" y="990600"/>
            <a:ext cx="8458200" cy="5181600"/>
          </a:xfrm>
          <a:noFill/>
        </p:spPr>
        <p:txBody>
          <a:bodyPr/>
          <a:lstStyle/>
          <a:p>
            <a:pPr eaLnBrk="1" hangingPunct="1"/>
            <a:r>
              <a:rPr lang="en-US" altLang="zh-CN" sz="2400" dirty="0">
                <a:ea typeface="宋体" panose="02010600030101010101" pitchFamily="2" charset="-122"/>
              </a:rPr>
              <a:t>Perfect solution assumption</a:t>
            </a:r>
            <a:r>
              <a:rPr lang="zh-CN" altLang="en-US" sz="2400" dirty="0">
                <a:ea typeface="宋体" panose="02010600030101010101" pitchFamily="2" charset="-122"/>
              </a:rPr>
              <a:t>（完美解假定）</a:t>
            </a:r>
            <a:r>
              <a:rPr lang="en-US" altLang="zh-CN" sz="2400" dirty="0">
                <a:ea typeface="宋体" panose="02010600030101010101" pitchFamily="2" charset="-122"/>
              </a:rPr>
              <a:t>—The first-cut sequence diagram assumes no exception conditions.</a:t>
            </a:r>
            <a:r>
              <a:rPr lang="zh-CN" altLang="en-US" sz="2400" dirty="0">
                <a:ea typeface="宋体" panose="02010600030101010101" pitchFamily="2" charset="-122"/>
              </a:rPr>
              <a:t>（初步顺序图假定不存在异常，其中没有处理查询的产品为空的逻辑）</a:t>
            </a:r>
            <a:r>
              <a:rPr lang="en-US" altLang="zh-CN" sz="2400" dirty="0">
                <a:ea typeface="宋体" panose="02010600030101010101" pitchFamily="2" charset="-122"/>
              </a:rPr>
              <a:t> </a:t>
            </a:r>
          </a:p>
          <a:p>
            <a:pPr eaLnBrk="1" hangingPunct="1"/>
            <a:r>
              <a:rPr lang="en-US" altLang="zh-CN" sz="2400" dirty="0">
                <a:ea typeface="宋体" panose="02010600030101010101" pitchFamily="2" charset="-122"/>
              </a:rPr>
              <a:t>Separation of responsibilities</a:t>
            </a:r>
            <a:r>
              <a:rPr lang="zh-CN" altLang="en-US" sz="2400" dirty="0">
                <a:ea typeface="宋体" panose="02010600030101010101" pitchFamily="2" charset="-122"/>
              </a:rPr>
              <a:t>（职责分离）</a:t>
            </a:r>
            <a:r>
              <a:rPr lang="en-US" altLang="zh-CN" sz="2400" dirty="0">
                <a:ea typeface="宋体" panose="02010600030101010101" pitchFamily="2" charset="-122"/>
              </a:rPr>
              <a:t>—Design principle that recommends segregating classes into separate components based on the primary focus, such as user interface, domain, and data access</a:t>
            </a:r>
            <a:r>
              <a:rPr lang="zh-CN" altLang="en-US" sz="2400" dirty="0">
                <a:ea typeface="宋体" panose="02010600030101010101" pitchFamily="2" charset="-122"/>
              </a:rPr>
              <a:t>（建议根据主要关注点（如用户界面、问题域和数据访问）将类分类为独立组件的设计原则）</a:t>
            </a:r>
            <a:endParaRPr lang="en-US" altLang="zh-CN" sz="2400" dirty="0">
              <a:ea typeface="宋体" panose="02010600030101010101" pitchFamily="2" charset="-122"/>
            </a:endParaRPr>
          </a:p>
          <a:p>
            <a:pPr eaLnBrk="1" hangingPunct="1"/>
            <a:endParaRPr lang="en-US" altLang="zh-CN" sz="2400" dirty="0">
              <a:ea typeface="宋体" panose="02010600030101010101" pitchFamily="2" charset="-122"/>
            </a:endParaRPr>
          </a:p>
        </p:txBody>
      </p:sp>
      <p:sp>
        <p:nvSpPr>
          <p:cNvPr id="25605" name="Rectangle 4">
            <a:extLst>
              <a:ext uri="{FF2B5EF4-FFF2-40B4-BE49-F238E27FC236}">
                <a16:creationId xmlns:a16="http://schemas.microsoft.com/office/drawing/2014/main" id="{3BF77A85-D9A3-4720-9789-A4D5726A934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5606" name="Footer Placeholder 4">
            <a:extLst>
              <a:ext uri="{FF2B5EF4-FFF2-40B4-BE49-F238E27FC236}">
                <a16:creationId xmlns:a16="http://schemas.microsoft.com/office/drawing/2014/main" id="{73064137-5854-471C-BEAC-04EEBB9CCC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94820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D65B88F2-890C-4D77-9593-FCEA09716B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B19035-1B3A-47B4-945D-0C66AFA40BCC}" type="slidenum">
              <a:rPr lang="en-US" altLang="en-US"/>
              <a:pPr eaLnBrk="1" hangingPunct="1"/>
              <a:t>57</a:t>
            </a:fld>
            <a:endParaRPr lang="en-US" altLang="en-US"/>
          </a:p>
        </p:txBody>
      </p:sp>
      <p:sp>
        <p:nvSpPr>
          <p:cNvPr id="26627" name="Rectangle 2">
            <a:extLst>
              <a:ext uri="{FF2B5EF4-FFF2-40B4-BE49-F238E27FC236}">
                <a16:creationId xmlns:a16="http://schemas.microsoft.com/office/drawing/2014/main" id="{0992CD63-9F2C-477F-94F8-17D980CB617C}"/>
              </a:ext>
            </a:extLst>
          </p:cNvPr>
          <p:cNvSpPr>
            <a:spLocks noGrp="1" noChangeArrowheads="1"/>
          </p:cNvSpPr>
          <p:nvPr>
            <p:ph type="title"/>
          </p:nvPr>
        </p:nvSpPr>
        <p:spPr>
          <a:xfrm>
            <a:off x="304800" y="122238"/>
            <a:ext cx="7696200" cy="944562"/>
          </a:xfrm>
        </p:spPr>
        <p:txBody>
          <a:bodyPr/>
          <a:lstStyle/>
          <a:p>
            <a:pPr eaLnBrk="1" hangingPunct="1"/>
            <a:r>
              <a:rPr lang="en-US" altLang="zh-CN" sz="3200">
                <a:ea typeface="宋体" panose="02010600030101010101" pitchFamily="2" charset="-122"/>
              </a:rPr>
              <a:t>Developing a Multilayer Design</a:t>
            </a:r>
          </a:p>
        </p:txBody>
      </p:sp>
      <p:sp>
        <p:nvSpPr>
          <p:cNvPr id="26628" name="Rectangle 3">
            <a:extLst>
              <a:ext uri="{FF2B5EF4-FFF2-40B4-BE49-F238E27FC236}">
                <a16:creationId xmlns:a16="http://schemas.microsoft.com/office/drawing/2014/main" id="{7BC25A96-0ECC-4C75-9A49-524949B41754}"/>
              </a:ext>
            </a:extLst>
          </p:cNvPr>
          <p:cNvSpPr>
            <a:spLocks noGrp="1" noChangeArrowheads="1"/>
          </p:cNvSpPr>
          <p:nvPr>
            <p:ph type="body" idx="1"/>
          </p:nvPr>
        </p:nvSpPr>
        <p:spPr>
          <a:xfrm>
            <a:off x="457200" y="1143000"/>
            <a:ext cx="8458200" cy="5029200"/>
          </a:xfrm>
          <a:noFill/>
        </p:spPr>
        <p:txBody>
          <a:bodyPr/>
          <a:lstStyle/>
          <a:p>
            <a:pPr eaLnBrk="1" hangingPunct="1"/>
            <a:r>
              <a:rPr lang="en-US" altLang="zh-CN" sz="2400" dirty="0">
                <a:ea typeface="宋体" panose="02010600030101010101" pitchFamily="2" charset="-122"/>
              </a:rPr>
              <a:t>View Layer</a:t>
            </a:r>
            <a:r>
              <a:rPr lang="zh-CN" altLang="en-US" sz="2400" dirty="0">
                <a:ea typeface="宋体" panose="02010600030101010101" pitchFamily="2" charset="-122"/>
              </a:rPr>
              <a:t>（视图层）</a:t>
            </a:r>
            <a:endParaRPr lang="en-US" altLang="zh-CN" sz="2400" dirty="0">
              <a:ea typeface="宋体" panose="02010600030101010101" pitchFamily="2" charset="-122"/>
            </a:endParaRPr>
          </a:p>
          <a:p>
            <a:pPr lvl="1" eaLnBrk="1" hangingPunct="1"/>
            <a:r>
              <a:rPr lang="en-US" altLang="zh-CN" sz="2000" dirty="0">
                <a:ea typeface="宋体" panose="02010600030101010101" pitchFamily="2" charset="-122"/>
              </a:rPr>
              <a:t>With users, there is always a view layer. Add forms or pages</a:t>
            </a:r>
          </a:p>
          <a:p>
            <a:pPr eaLnBrk="1" hangingPunct="1"/>
            <a:r>
              <a:rPr lang="en-US" altLang="zh-CN" sz="2400" dirty="0">
                <a:ea typeface="宋体" panose="02010600030101010101" pitchFamily="2" charset="-122"/>
              </a:rPr>
              <a:t>Data Access Layer</a:t>
            </a:r>
            <a:r>
              <a:rPr lang="zh-CN" altLang="en-US" sz="2400" dirty="0">
                <a:ea typeface="宋体" panose="02010600030101010101" pitchFamily="2" charset="-122"/>
              </a:rPr>
              <a:t>（数据访问层）</a:t>
            </a:r>
            <a:endParaRPr lang="en-US" altLang="zh-CN" sz="2400" dirty="0">
              <a:ea typeface="宋体" panose="02010600030101010101" pitchFamily="2" charset="-122"/>
            </a:endParaRPr>
          </a:p>
          <a:p>
            <a:pPr lvl="1" eaLnBrk="1" hangingPunct="1"/>
            <a:r>
              <a:rPr lang="en-US" altLang="zh-CN" sz="2000" dirty="0">
                <a:ea typeface="宋体" panose="02010600030101010101" pitchFamily="2" charset="-122"/>
              </a:rPr>
              <a:t>Persistent classes need some mechanism for storing and retrieving their state from a database </a:t>
            </a:r>
            <a:r>
              <a:rPr lang="zh-CN" altLang="en-US" sz="2000" dirty="0">
                <a:ea typeface="宋体" panose="02010600030101010101" pitchFamily="2" charset="-122"/>
              </a:rPr>
              <a:t>（持久类需要某种机制来从数据库中存储和检索它们的状态）</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Separate layer required when the business logic is complex and there is a need to separate connection to database and SQL from the domain classes. </a:t>
            </a:r>
            <a:r>
              <a:rPr lang="zh-CN" altLang="en-US" sz="2000" dirty="0">
                <a:ea typeface="宋体" panose="02010600030101010101" pitchFamily="2" charset="-122"/>
              </a:rPr>
              <a:t>（当业务逻辑很复杂，并需要从域类中分离到数据库和</a:t>
            </a:r>
            <a:r>
              <a:rPr lang="en-US" altLang="zh-CN" sz="2000" dirty="0">
                <a:ea typeface="宋体" panose="02010600030101010101" pitchFamily="2" charset="-122"/>
              </a:rPr>
              <a:t>SQL</a:t>
            </a:r>
            <a:r>
              <a:rPr lang="zh-CN" altLang="en-US" sz="2000" dirty="0">
                <a:ea typeface="宋体" panose="02010600030101010101" pitchFamily="2" charset="-122"/>
              </a:rPr>
              <a:t>的连接时，需要单独的层）</a:t>
            </a:r>
            <a:endParaRPr lang="en-US" altLang="zh-CN" sz="2000" dirty="0">
              <a:ea typeface="宋体" panose="02010600030101010101" pitchFamily="2" charset="-122"/>
            </a:endParaRPr>
          </a:p>
          <a:p>
            <a:pPr lvl="1" eaLnBrk="1" hangingPunct="1"/>
            <a:r>
              <a:rPr lang="en-US" altLang="zh-CN" sz="2000" i="1" dirty="0">
                <a:ea typeface="宋体" panose="02010600030101010101" pitchFamily="2" charset="-122"/>
              </a:rPr>
              <a:t>Create customer account</a:t>
            </a:r>
            <a:r>
              <a:rPr lang="en-US" altLang="zh-CN" sz="2000" dirty="0">
                <a:ea typeface="宋体" panose="02010600030101010101" pitchFamily="2" charset="-122"/>
              </a:rPr>
              <a:t> use case might not need a separate layer as domain classes can handle data</a:t>
            </a:r>
            <a:r>
              <a:rPr lang="zh-CN" altLang="en-US" sz="2000" dirty="0">
                <a:ea typeface="宋体" panose="02010600030101010101" pitchFamily="2" charset="-122"/>
              </a:rPr>
              <a:t>（创建客户账户用例可能不需要单独的层，因为域类可以处理数据）</a:t>
            </a:r>
            <a:endParaRPr lang="en-US" altLang="zh-CN" sz="2000" dirty="0">
              <a:ea typeface="宋体" panose="02010600030101010101" pitchFamily="2" charset="-122"/>
            </a:endParaRPr>
          </a:p>
          <a:p>
            <a:pPr lvl="1" eaLnBrk="1" hangingPunct="1"/>
            <a:r>
              <a:rPr lang="en-US" altLang="zh-CN" sz="2000" dirty="0">
                <a:ea typeface="宋体" panose="02010600030101010101" pitchFamily="2" charset="-122"/>
              </a:rPr>
              <a:t>For each domain class, add a data access class to get data and save data about an instance</a:t>
            </a:r>
            <a:r>
              <a:rPr lang="zh-CN" altLang="en-US" sz="2000" dirty="0">
                <a:ea typeface="宋体" panose="02010600030101010101" pitchFamily="2" charset="-122"/>
              </a:rPr>
              <a:t>（对每个域类添加数据访问类）</a:t>
            </a:r>
            <a:endParaRPr lang="en-US" altLang="zh-CN" sz="2000" dirty="0">
              <a:ea typeface="宋体" panose="02010600030101010101" pitchFamily="2" charset="-122"/>
            </a:endParaRPr>
          </a:p>
        </p:txBody>
      </p:sp>
      <p:sp>
        <p:nvSpPr>
          <p:cNvPr id="26629" name="Rectangle 4">
            <a:extLst>
              <a:ext uri="{FF2B5EF4-FFF2-40B4-BE49-F238E27FC236}">
                <a16:creationId xmlns:a16="http://schemas.microsoft.com/office/drawing/2014/main" id="{88E75B33-5B2C-4F9B-B6DB-0348D73C528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6630" name="Footer Placeholder 4">
            <a:extLst>
              <a:ext uri="{FF2B5EF4-FFF2-40B4-BE49-F238E27FC236}">
                <a16:creationId xmlns:a16="http://schemas.microsoft.com/office/drawing/2014/main" id="{D267A565-4399-4A4B-A186-3BDB1810F6F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94F59AFF-EE6D-4BFF-9529-8DDE0052F5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23EB114-98C6-4F70-AF4F-EC87A9917CF4}" type="slidenum">
              <a:rPr lang="en-US" altLang="en-US"/>
              <a:pPr eaLnBrk="1" hangingPunct="1"/>
              <a:t>58</a:t>
            </a:fld>
            <a:endParaRPr lang="en-US" altLang="en-US"/>
          </a:p>
        </p:txBody>
      </p:sp>
      <p:sp>
        <p:nvSpPr>
          <p:cNvPr id="27651" name="Rectangle 2">
            <a:extLst>
              <a:ext uri="{FF2B5EF4-FFF2-40B4-BE49-F238E27FC236}">
                <a16:creationId xmlns:a16="http://schemas.microsoft.com/office/drawing/2014/main" id="{DB47AD8C-AE4F-4976-9E1D-BB2813AACB2A}"/>
              </a:ext>
            </a:extLst>
          </p:cNvPr>
          <p:cNvSpPr>
            <a:spLocks noGrp="1" noChangeArrowheads="1"/>
          </p:cNvSpPr>
          <p:nvPr>
            <p:ph type="title"/>
          </p:nvPr>
        </p:nvSpPr>
        <p:spPr>
          <a:xfrm>
            <a:off x="152400" y="609600"/>
            <a:ext cx="2286000" cy="3352800"/>
          </a:xfrm>
        </p:spPr>
        <p:txBody>
          <a:bodyPr/>
          <a:lstStyle/>
          <a:p>
            <a:pPr eaLnBrk="1" hangingPunct="1"/>
            <a:r>
              <a:rPr lang="en-US" altLang="zh-CN" sz="3000">
                <a:ea typeface="宋体" panose="02010600030101010101" pitchFamily="2" charset="-122"/>
              </a:rPr>
              <a:t>Adding Data Access Layer</a:t>
            </a:r>
            <a:br>
              <a:rPr lang="en-US" altLang="zh-CN" sz="3000">
                <a:ea typeface="宋体" panose="02010600030101010101" pitchFamily="2" charset="-122"/>
              </a:rPr>
            </a:br>
            <a:br>
              <a:rPr lang="en-US" altLang="zh-CN" sz="3000">
                <a:ea typeface="宋体" panose="02010600030101010101" pitchFamily="2" charset="-122"/>
              </a:rPr>
            </a:br>
            <a:r>
              <a:rPr lang="en-US" altLang="zh-CN" sz="2000" i="1">
                <a:ea typeface="宋体" panose="02010600030101010101" pitchFamily="2" charset="-122"/>
              </a:rPr>
              <a:t>Fill shopping Cart</a:t>
            </a:r>
            <a:r>
              <a:rPr lang="en-US" altLang="zh-CN" sz="2000">
                <a:ea typeface="宋体" panose="02010600030101010101" pitchFamily="2" charset="-122"/>
              </a:rPr>
              <a:t> use case</a:t>
            </a:r>
          </a:p>
        </p:txBody>
      </p:sp>
      <p:pic>
        <p:nvPicPr>
          <p:cNvPr id="27652" name="Picture 5">
            <a:extLst>
              <a:ext uri="{FF2B5EF4-FFF2-40B4-BE49-F238E27FC236}">
                <a16:creationId xmlns:a16="http://schemas.microsoft.com/office/drawing/2014/main" id="{BCC654C1-BF21-4B7A-AC69-CA57810C20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53988"/>
            <a:ext cx="6248400" cy="614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Rectangle 4">
            <a:extLst>
              <a:ext uri="{FF2B5EF4-FFF2-40B4-BE49-F238E27FC236}">
                <a16:creationId xmlns:a16="http://schemas.microsoft.com/office/drawing/2014/main" id="{70AD29FA-B87F-44A3-8BB2-FFD613587973}"/>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7654" name="Footer Placeholder 4">
            <a:extLst>
              <a:ext uri="{FF2B5EF4-FFF2-40B4-BE49-F238E27FC236}">
                <a16:creationId xmlns:a16="http://schemas.microsoft.com/office/drawing/2014/main" id="{AD02D673-C4D9-482C-936B-F24FE40575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FC6DF73-A7AE-46AC-907C-FEC63FB3EA5E}"/>
              </a:ext>
            </a:extLst>
          </p:cNvPr>
          <p:cNvSpPr/>
          <p:nvPr/>
        </p:nvSpPr>
        <p:spPr>
          <a:xfrm>
            <a:off x="5867400" y="762000"/>
            <a:ext cx="266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412C810-EFDB-4F3D-85D1-B279D565BCFA}"/>
              </a:ext>
            </a:extLst>
          </p:cNvPr>
          <p:cNvSpPr/>
          <p:nvPr/>
        </p:nvSpPr>
        <p:spPr>
          <a:xfrm>
            <a:off x="3886200" y="348456"/>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8CC787B-640C-44E2-A2ED-A29A2A781E00}"/>
              </a:ext>
            </a:extLst>
          </p:cNvPr>
          <p:cNvSpPr/>
          <p:nvPr/>
        </p:nvSpPr>
        <p:spPr>
          <a:xfrm>
            <a:off x="4724400" y="1828800"/>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412C810-EFDB-4F3D-85D1-B279D565BCFA}"/>
              </a:ext>
            </a:extLst>
          </p:cNvPr>
          <p:cNvSpPr/>
          <p:nvPr/>
        </p:nvSpPr>
        <p:spPr>
          <a:xfrm>
            <a:off x="5562600" y="2451020"/>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E04F4C0E-5659-4787-9950-6480E5625E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CCD719-F5C0-4E8F-943B-A9376D478418}" type="slidenum">
              <a:rPr lang="en-US" altLang="en-US"/>
              <a:pPr eaLnBrk="1" hangingPunct="1"/>
              <a:t>59</a:t>
            </a:fld>
            <a:endParaRPr lang="en-US" altLang="en-US"/>
          </a:p>
        </p:txBody>
      </p:sp>
      <p:sp>
        <p:nvSpPr>
          <p:cNvPr id="28675" name="Rectangle 2">
            <a:extLst>
              <a:ext uri="{FF2B5EF4-FFF2-40B4-BE49-F238E27FC236}">
                <a16:creationId xmlns:a16="http://schemas.microsoft.com/office/drawing/2014/main" id="{448FFA6D-0D32-44E2-ACCC-67E3B7819DDE}"/>
              </a:ext>
            </a:extLst>
          </p:cNvPr>
          <p:cNvSpPr>
            <a:spLocks noGrp="1" noChangeArrowheads="1"/>
          </p:cNvSpPr>
          <p:nvPr>
            <p:ph type="title"/>
          </p:nvPr>
        </p:nvSpPr>
        <p:spPr>
          <a:xfrm>
            <a:off x="304800" y="122238"/>
            <a:ext cx="7696200" cy="944562"/>
          </a:xfrm>
        </p:spPr>
        <p:txBody>
          <a:bodyPr/>
          <a:lstStyle/>
          <a:p>
            <a:pPr eaLnBrk="1" hangingPunct="1"/>
            <a:r>
              <a:rPr lang="en-US" altLang="zh-CN" sz="3200">
                <a:ea typeface="宋体" panose="02010600030101010101" pitchFamily="2" charset="-122"/>
              </a:rPr>
              <a:t>Data Access Notes</a:t>
            </a:r>
          </a:p>
        </p:txBody>
      </p:sp>
      <p:sp>
        <p:nvSpPr>
          <p:cNvPr id="28676" name="Rectangle 3">
            <a:extLst>
              <a:ext uri="{FF2B5EF4-FFF2-40B4-BE49-F238E27FC236}">
                <a16:creationId xmlns:a16="http://schemas.microsoft.com/office/drawing/2014/main" id="{6EF9AF63-65A8-4722-A62A-FB9E9EA97B0A}"/>
              </a:ext>
            </a:extLst>
          </p:cNvPr>
          <p:cNvSpPr>
            <a:spLocks noGrp="1" noChangeArrowheads="1"/>
          </p:cNvSpPr>
          <p:nvPr>
            <p:ph type="body" idx="1"/>
          </p:nvPr>
        </p:nvSpPr>
        <p:spPr>
          <a:xfrm>
            <a:off x="457200" y="1143000"/>
            <a:ext cx="8458200" cy="5029200"/>
          </a:xfrm>
          <a:noFill/>
        </p:spPr>
        <p:txBody>
          <a:bodyPr/>
          <a:lstStyle/>
          <a:p>
            <a:pPr eaLnBrk="1" hangingPunct="1"/>
            <a:r>
              <a:rPr lang="en-US" altLang="zh-CN" sz="2400" u="sng" dirty="0">
                <a:ea typeface="宋体" panose="02010600030101010101" pitchFamily="2" charset="-122"/>
              </a:rPr>
              <a:t>:</a:t>
            </a:r>
            <a:r>
              <a:rPr lang="en-US" altLang="zh-CN" sz="2400" u="sng" dirty="0" err="1">
                <a:ea typeface="宋体" panose="02010600030101010101" pitchFamily="2" charset="-122"/>
              </a:rPr>
              <a:t>CartHandler</a:t>
            </a:r>
            <a:r>
              <a:rPr lang="en-US" altLang="zh-CN" sz="2400" dirty="0">
                <a:ea typeface="宋体" panose="02010600030101010101" pitchFamily="2" charset="-122"/>
              </a:rPr>
              <a:t> </a:t>
            </a:r>
            <a:r>
              <a:rPr lang="en-US" altLang="zh-CN" sz="2400" dirty="0" err="1">
                <a:ea typeface="宋体" panose="02010600030101010101" pitchFamily="2" charset="-122"/>
              </a:rPr>
              <a:t>findCustomer</a:t>
            </a:r>
            <a:r>
              <a:rPr lang="en-US" altLang="zh-CN" sz="2400" dirty="0">
                <a:ea typeface="宋体" panose="02010600030101010101" pitchFamily="2" charset="-122"/>
              </a:rPr>
              <a:t>(acctN0) message to Customer class means Customer should create a new instance named </a:t>
            </a:r>
            <a:r>
              <a:rPr lang="en-US" altLang="zh-CN" sz="2400" dirty="0" err="1">
                <a:ea typeface="宋体" panose="02010600030101010101" pitchFamily="2" charset="-122"/>
              </a:rPr>
              <a:t>aC</a:t>
            </a:r>
            <a:r>
              <a:rPr lang="en-US" altLang="zh-CN" sz="2400" dirty="0">
                <a:ea typeface="宋体" panose="02010600030101010101" pitchFamily="2" charset="-122"/>
              </a:rPr>
              <a:t>, send a message to </a:t>
            </a:r>
            <a:r>
              <a:rPr lang="en-US" altLang="zh-CN" sz="2400" u="sng" dirty="0">
                <a:ea typeface="宋体" panose="02010600030101010101" pitchFamily="2" charset="-122"/>
              </a:rPr>
              <a:t>:</a:t>
            </a:r>
            <a:r>
              <a:rPr lang="en-US" altLang="zh-CN" sz="2400" u="sng" dirty="0" err="1">
                <a:ea typeface="宋体" panose="02010600030101010101" pitchFamily="2" charset="-122"/>
              </a:rPr>
              <a:t>CustomerDA</a:t>
            </a:r>
            <a:r>
              <a:rPr lang="en-US" altLang="zh-CN" sz="2400" dirty="0">
                <a:ea typeface="宋体" panose="02010600030101010101" pitchFamily="2" charset="-122"/>
              </a:rPr>
              <a:t> asking it to </a:t>
            </a:r>
            <a:r>
              <a:rPr lang="en-US" altLang="zh-CN" sz="2400" dirty="0">
                <a:solidFill>
                  <a:srgbClr val="C00000"/>
                </a:solidFill>
                <a:ea typeface="宋体" panose="02010600030101010101" pitchFamily="2" charset="-122"/>
              </a:rPr>
              <a:t>read info from the database </a:t>
            </a:r>
            <a:r>
              <a:rPr lang="en-US" altLang="zh-CN" sz="2400" dirty="0">
                <a:ea typeface="宋体" panose="02010600030101010101" pitchFamily="2" charset="-122"/>
              </a:rPr>
              <a:t>for a customer with that account number, and then populate the new customer instance with the attribute values from the database.</a:t>
            </a:r>
          </a:p>
          <a:p>
            <a:pPr eaLnBrk="1" hangingPunct="1"/>
            <a:r>
              <a:rPr lang="en-US" altLang="zh-CN" sz="2400" dirty="0">
                <a:ea typeface="宋体" panose="02010600030101010101" pitchFamily="2" charset="-122"/>
              </a:rPr>
              <a:t>:</a:t>
            </a:r>
            <a:r>
              <a:rPr lang="en-US" altLang="zh-CN" sz="2400" dirty="0" err="1">
                <a:ea typeface="宋体" panose="02010600030101010101" pitchFamily="2" charset="-122"/>
              </a:rPr>
              <a:t>CartHandler</a:t>
            </a:r>
            <a:r>
              <a:rPr lang="en-US" altLang="zh-CN" sz="2400" dirty="0">
                <a:ea typeface="宋体" panose="02010600030101010101" pitchFamily="2" charset="-122"/>
              </a:rPr>
              <a:t> </a:t>
            </a:r>
            <a:r>
              <a:rPr lang="en-US" altLang="zh-CN" sz="2400" dirty="0" err="1">
                <a:ea typeface="宋体" panose="02010600030101010101" pitchFamily="2" charset="-122"/>
              </a:rPr>
              <a:t>findCustomer</a:t>
            </a:r>
            <a:r>
              <a:rPr lang="zh-CN" altLang="en-US" sz="2400" dirty="0">
                <a:ea typeface="宋体" panose="02010600030101010101" pitchFamily="2" charset="-122"/>
              </a:rPr>
              <a:t>发消息给</a:t>
            </a:r>
            <a:r>
              <a:rPr lang="en-US" altLang="zh-CN" sz="2400" dirty="0">
                <a:ea typeface="宋体" panose="02010600030101010101" pitchFamily="2" charset="-122"/>
              </a:rPr>
              <a:t>Customer</a:t>
            </a:r>
            <a:r>
              <a:rPr lang="zh-CN" altLang="en-US" sz="2400" dirty="0">
                <a:ea typeface="宋体" panose="02010600030101010101" pitchFamily="2" charset="-122"/>
              </a:rPr>
              <a:t>类意味着</a:t>
            </a:r>
            <a:r>
              <a:rPr lang="en-US" altLang="zh-CN" sz="2400" dirty="0">
                <a:ea typeface="宋体" panose="02010600030101010101" pitchFamily="2" charset="-122"/>
              </a:rPr>
              <a:t>Customer</a:t>
            </a:r>
            <a:r>
              <a:rPr lang="zh-CN" altLang="en-US" sz="2400" dirty="0">
                <a:ea typeface="宋体" panose="02010600030101010101" pitchFamily="2" charset="-122"/>
              </a:rPr>
              <a:t>应该创建一个名为</a:t>
            </a:r>
            <a:r>
              <a:rPr lang="en-US" altLang="zh-CN" sz="2400" dirty="0" err="1">
                <a:ea typeface="宋体" panose="02010600030101010101" pitchFamily="2" charset="-122"/>
              </a:rPr>
              <a:t>aC</a:t>
            </a:r>
            <a:r>
              <a:rPr lang="zh-CN" altLang="en-US" sz="2400" dirty="0">
                <a:ea typeface="宋体" panose="02010600030101010101" pitchFamily="2" charset="-122"/>
              </a:rPr>
              <a:t>的新实例</a:t>
            </a:r>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向</a:t>
            </a:r>
            <a:r>
              <a:rPr lang="en-US" altLang="zh-CN" sz="2400" dirty="0">
                <a:ea typeface="宋体" panose="02010600030101010101" pitchFamily="2" charset="-122"/>
              </a:rPr>
              <a:t>:</a:t>
            </a:r>
            <a:r>
              <a:rPr lang="en-US" altLang="zh-CN" sz="2400" dirty="0" err="1">
                <a:ea typeface="宋体" panose="02010600030101010101" pitchFamily="2" charset="-122"/>
              </a:rPr>
              <a:t>CustomerDA</a:t>
            </a:r>
            <a:r>
              <a:rPr lang="zh-CN" altLang="en-US" sz="2400" dirty="0">
                <a:ea typeface="宋体" panose="02010600030101010101" pitchFamily="2" charset="-122"/>
              </a:rPr>
              <a:t>发送消息，要求它从数据库中读取具有该账号的客户的信息，然后用数据库中的属性值填充新的客户实例。</a:t>
            </a:r>
          </a:p>
          <a:p>
            <a:pPr eaLnBrk="1" hangingPunct="1"/>
            <a:endParaRPr lang="en-US" altLang="zh-CN" sz="2400" dirty="0">
              <a:ea typeface="宋体" panose="02010600030101010101" pitchFamily="2" charset="-122"/>
            </a:endParaRPr>
          </a:p>
        </p:txBody>
      </p:sp>
      <p:sp>
        <p:nvSpPr>
          <p:cNvPr id="28677" name="Rectangle 4">
            <a:extLst>
              <a:ext uri="{FF2B5EF4-FFF2-40B4-BE49-F238E27FC236}">
                <a16:creationId xmlns:a16="http://schemas.microsoft.com/office/drawing/2014/main" id="{4A7112D7-5A11-402E-8C4D-8517D54A7E12}"/>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BEB59370-2B0B-4F4A-9C52-6E0E585D87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BEB2669-332A-40F4-A4C1-0D542C776A38}" type="slidenum">
              <a:rPr lang="en-US" altLang="en-US"/>
              <a:pPr eaLnBrk="1" hangingPunct="1"/>
              <a:t>60</a:t>
            </a:fld>
            <a:endParaRPr lang="en-US" altLang="en-US"/>
          </a:p>
        </p:txBody>
      </p:sp>
      <p:sp>
        <p:nvSpPr>
          <p:cNvPr id="29699" name="Rectangle 2">
            <a:extLst>
              <a:ext uri="{FF2B5EF4-FFF2-40B4-BE49-F238E27FC236}">
                <a16:creationId xmlns:a16="http://schemas.microsoft.com/office/drawing/2014/main" id="{77B7376D-58B5-4515-97D7-DA569FE84009}"/>
              </a:ext>
            </a:extLst>
          </p:cNvPr>
          <p:cNvSpPr>
            <a:spLocks noGrp="1" noChangeArrowheads="1"/>
          </p:cNvSpPr>
          <p:nvPr>
            <p:ph type="title"/>
          </p:nvPr>
        </p:nvSpPr>
        <p:spPr>
          <a:xfrm>
            <a:off x="152400" y="609600"/>
            <a:ext cx="2286000" cy="5486400"/>
          </a:xfrm>
        </p:spPr>
        <p:txBody>
          <a:bodyPr/>
          <a:lstStyle/>
          <a:p>
            <a:pPr eaLnBrk="1" hangingPunct="1"/>
            <a:r>
              <a:rPr lang="en-US" altLang="zh-CN" sz="3000" dirty="0">
                <a:ea typeface="宋体" panose="02010600030101010101" pitchFamily="2" charset="-122"/>
              </a:rPr>
              <a:t>Adding View Layer</a:t>
            </a:r>
            <a:br>
              <a:rPr lang="en-US" altLang="zh-CN" sz="3000" dirty="0">
                <a:ea typeface="宋体" panose="02010600030101010101" pitchFamily="2" charset="-122"/>
              </a:rPr>
            </a:br>
            <a:br>
              <a:rPr lang="en-US" altLang="zh-CN" sz="3000" dirty="0">
                <a:ea typeface="宋体" panose="02010600030101010101" pitchFamily="2" charset="-122"/>
              </a:rPr>
            </a:br>
            <a:r>
              <a:rPr lang="en-US" altLang="zh-CN" sz="2000" i="1" dirty="0">
                <a:ea typeface="宋体" panose="02010600030101010101" pitchFamily="2" charset="-122"/>
              </a:rPr>
              <a:t>Fill shopping Cart</a:t>
            </a:r>
            <a:r>
              <a:rPr lang="en-US" altLang="zh-CN" sz="2000" dirty="0">
                <a:ea typeface="宋体" panose="02010600030101010101" pitchFamily="2" charset="-122"/>
              </a:rPr>
              <a:t> use case</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Sequence diagram just shows View interaction with the controller</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solidFill>
                  <a:srgbClr val="C00000"/>
                </a:solidFill>
                <a:ea typeface="宋体" panose="02010600030101010101" pitchFamily="2" charset="-122"/>
              </a:rPr>
              <a:t>View classes don’t need to even know about the domain or data access layer</a:t>
            </a:r>
          </a:p>
        </p:txBody>
      </p:sp>
      <p:pic>
        <p:nvPicPr>
          <p:cNvPr id="29700" name="Picture 4">
            <a:extLst>
              <a:ext uri="{FF2B5EF4-FFF2-40B4-BE49-F238E27FC236}">
                <a16:creationId xmlns:a16="http://schemas.microsoft.com/office/drawing/2014/main" id="{F9D48103-E274-4966-ADF3-73939BA0C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52400"/>
            <a:ext cx="4891088"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Rectangle 4">
            <a:extLst>
              <a:ext uri="{FF2B5EF4-FFF2-40B4-BE49-F238E27FC236}">
                <a16:creationId xmlns:a16="http://schemas.microsoft.com/office/drawing/2014/main" id="{E4FC7F2F-37CE-4769-869A-9FEA0D0FE2A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9702" name="Footer Placeholder 4">
            <a:extLst>
              <a:ext uri="{FF2B5EF4-FFF2-40B4-BE49-F238E27FC236}">
                <a16:creationId xmlns:a16="http://schemas.microsoft.com/office/drawing/2014/main" id="{4FA2B224-B211-4F38-932F-B30B39859C8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61</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Sequence Diagrams</a:t>
            </a:r>
          </a:p>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Designing with Communication Diagrams</a:t>
            </a:r>
            <a:r>
              <a:rPr lang="zh-CN" altLang="en-US" sz="3000" dirty="0">
                <a:solidFill>
                  <a:srgbClr val="C00000"/>
                </a:solidFill>
              </a:rPr>
              <a:t>（设计通信图</a:t>
            </a:r>
            <a:r>
              <a:rPr lang="en-US" altLang="zh-CN" sz="3000" dirty="0">
                <a:solidFill>
                  <a:srgbClr val="C00000"/>
                </a:solidFill>
              </a:rPr>
              <a:t>/</a:t>
            </a:r>
            <a:r>
              <a:rPr lang="zh-CN" altLang="en-US" sz="3000" dirty="0">
                <a:solidFill>
                  <a:srgbClr val="C00000"/>
                </a:solidFill>
              </a:rPr>
              <a:t>协作图）</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Updating and Packaging the Design Classes</a:t>
            </a: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42778029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50004A20-167D-4CC4-850E-9723D98D9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9C7815-01E4-4C55-953B-66303E7AFDC6}" type="slidenum">
              <a:rPr lang="en-US" altLang="en-US"/>
              <a:pPr eaLnBrk="1" hangingPunct="1"/>
              <a:t>62</a:t>
            </a:fld>
            <a:endParaRPr lang="en-US" altLang="en-US"/>
          </a:p>
        </p:txBody>
      </p:sp>
      <p:sp>
        <p:nvSpPr>
          <p:cNvPr id="30723" name="Rectangle 2">
            <a:extLst>
              <a:ext uri="{FF2B5EF4-FFF2-40B4-BE49-F238E27FC236}">
                <a16:creationId xmlns:a16="http://schemas.microsoft.com/office/drawing/2014/main" id="{E71933B4-97AC-40B5-99DD-692A46D028B6}"/>
              </a:ext>
            </a:extLst>
          </p:cNvPr>
          <p:cNvSpPr>
            <a:spLocks noGrp="1" noChangeArrowheads="1"/>
          </p:cNvSpPr>
          <p:nvPr>
            <p:ph type="title"/>
          </p:nvPr>
        </p:nvSpPr>
        <p:spPr>
          <a:xfrm>
            <a:off x="304800" y="122238"/>
            <a:ext cx="7696200" cy="1173162"/>
          </a:xfrm>
        </p:spPr>
        <p:txBody>
          <a:bodyPr/>
          <a:lstStyle/>
          <a:p>
            <a:pPr eaLnBrk="1" hangingPunct="1"/>
            <a:r>
              <a:rPr lang="en-US" altLang="zh-CN" sz="3200">
                <a:ea typeface="宋体" panose="02010600030101010101" pitchFamily="2" charset="-122"/>
              </a:rPr>
              <a:t>Designing with UML Communication Diagrams</a:t>
            </a:r>
          </a:p>
        </p:txBody>
      </p:sp>
      <p:sp>
        <p:nvSpPr>
          <p:cNvPr id="30724" name="Rectangle 3">
            <a:extLst>
              <a:ext uri="{FF2B5EF4-FFF2-40B4-BE49-F238E27FC236}">
                <a16:creationId xmlns:a16="http://schemas.microsoft.com/office/drawing/2014/main" id="{95D2DE0E-0102-4449-8888-E088BF1F52CD}"/>
              </a:ext>
            </a:extLst>
          </p:cNvPr>
          <p:cNvSpPr>
            <a:spLocks noGrp="1" noChangeArrowheads="1"/>
          </p:cNvSpPr>
          <p:nvPr>
            <p:ph type="body" idx="1"/>
          </p:nvPr>
        </p:nvSpPr>
        <p:spPr>
          <a:xfrm>
            <a:off x="457200" y="1371600"/>
            <a:ext cx="8458200" cy="1066800"/>
          </a:xfrm>
          <a:noFill/>
        </p:spPr>
        <p:txBody>
          <a:bodyPr/>
          <a:lstStyle/>
          <a:p>
            <a:pPr eaLnBrk="1" hangingPunct="1"/>
            <a:r>
              <a:rPr lang="en-US" altLang="zh-CN" sz="2400" dirty="0">
                <a:solidFill>
                  <a:srgbClr val="C00000"/>
                </a:solidFill>
                <a:ea typeface="宋体" panose="02010600030101010101" pitchFamily="2" charset="-122"/>
              </a:rPr>
              <a:t>Shows the same information as a sequence diagram</a:t>
            </a:r>
            <a:r>
              <a:rPr lang="zh-CN" altLang="en-US" sz="2400" dirty="0">
                <a:solidFill>
                  <a:srgbClr val="C00000"/>
                </a:solidFill>
                <a:ea typeface="宋体" panose="02010600030101010101" pitchFamily="2" charset="-122"/>
              </a:rPr>
              <a:t>（显示与顺序图相同的信息）</a:t>
            </a:r>
            <a:endParaRPr lang="en-US" altLang="zh-CN" sz="2400" dirty="0">
              <a:solidFill>
                <a:srgbClr val="C00000"/>
              </a:solidFill>
              <a:ea typeface="宋体" panose="02010600030101010101" pitchFamily="2" charset="-122"/>
            </a:endParaRPr>
          </a:p>
          <a:p>
            <a:pPr eaLnBrk="1" hangingPunct="1"/>
            <a:r>
              <a:rPr lang="en-US" altLang="zh-CN" sz="2400" dirty="0">
                <a:ea typeface="宋体" panose="02010600030101010101" pitchFamily="2" charset="-122"/>
              </a:rPr>
              <a:t>Symbols used in a communication diagram:</a:t>
            </a:r>
          </a:p>
        </p:txBody>
      </p:sp>
      <p:pic>
        <p:nvPicPr>
          <p:cNvPr id="30725" name="Picture 4">
            <a:extLst>
              <a:ext uri="{FF2B5EF4-FFF2-40B4-BE49-F238E27FC236}">
                <a16:creationId xmlns:a16="http://schemas.microsoft.com/office/drawing/2014/main" id="{20611133-8AA0-48AE-87B2-9DA5888128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742520"/>
            <a:ext cx="8532813"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Rectangle 4">
            <a:extLst>
              <a:ext uri="{FF2B5EF4-FFF2-40B4-BE49-F238E27FC236}">
                <a16:creationId xmlns:a16="http://schemas.microsoft.com/office/drawing/2014/main" id="{007E21CC-2DD2-43C7-B0D5-139B1A38A61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0727" name="Footer Placeholder 4">
            <a:extLst>
              <a:ext uri="{FF2B5EF4-FFF2-40B4-BE49-F238E27FC236}">
                <a16:creationId xmlns:a16="http://schemas.microsoft.com/office/drawing/2014/main" id="{247FA7B2-67D4-47F9-B938-D46CDC2147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27B2BBE8-D00D-4455-8E58-A41F0D5E8C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7F796D-A5BC-4F81-83F8-6BFCDBA376DF}" type="slidenum">
              <a:rPr lang="en-US" altLang="en-US"/>
              <a:pPr eaLnBrk="1" hangingPunct="1"/>
              <a:t>63</a:t>
            </a:fld>
            <a:endParaRPr lang="en-US" altLang="en-US"/>
          </a:p>
        </p:txBody>
      </p:sp>
      <p:sp>
        <p:nvSpPr>
          <p:cNvPr id="31747" name="Rectangle 2">
            <a:extLst>
              <a:ext uri="{FF2B5EF4-FFF2-40B4-BE49-F238E27FC236}">
                <a16:creationId xmlns:a16="http://schemas.microsoft.com/office/drawing/2014/main" id="{E65602DE-401F-4D00-AC82-C3EA80C7BC5F}"/>
              </a:ext>
            </a:extLst>
          </p:cNvPr>
          <p:cNvSpPr>
            <a:spLocks noGrp="1" noChangeArrowheads="1"/>
          </p:cNvSpPr>
          <p:nvPr>
            <p:ph type="title"/>
          </p:nvPr>
        </p:nvSpPr>
        <p:spPr>
          <a:xfrm>
            <a:off x="304800" y="122238"/>
            <a:ext cx="7696200" cy="1173162"/>
          </a:xfrm>
        </p:spPr>
        <p:txBody>
          <a:bodyPr/>
          <a:lstStyle/>
          <a:p>
            <a:pPr eaLnBrk="1" hangingPunct="1"/>
            <a:r>
              <a:rPr lang="en-US" altLang="zh-CN" sz="3200">
                <a:ea typeface="宋体" panose="02010600030101010101" pitchFamily="2" charset="-122"/>
              </a:rPr>
              <a:t>Communication Diagram for </a:t>
            </a:r>
            <a:r>
              <a:rPr lang="en-US" altLang="zh-CN" sz="3200" i="1">
                <a:ea typeface="宋体" panose="02010600030101010101" pitchFamily="2" charset="-122"/>
              </a:rPr>
              <a:t>Fill Shopping Cart</a:t>
            </a:r>
            <a:r>
              <a:rPr lang="en-US" altLang="zh-CN" sz="3200">
                <a:ea typeface="宋体" panose="02010600030101010101" pitchFamily="2" charset="-122"/>
              </a:rPr>
              <a:t> Use Case</a:t>
            </a:r>
          </a:p>
        </p:txBody>
      </p:sp>
      <p:sp>
        <p:nvSpPr>
          <p:cNvPr id="31748" name="Rectangle 3">
            <a:extLst>
              <a:ext uri="{FF2B5EF4-FFF2-40B4-BE49-F238E27FC236}">
                <a16:creationId xmlns:a16="http://schemas.microsoft.com/office/drawing/2014/main" id="{1E7337D5-BCAE-4122-954A-4770FCD49659}"/>
              </a:ext>
            </a:extLst>
          </p:cNvPr>
          <p:cNvSpPr>
            <a:spLocks noGrp="1" noChangeArrowheads="1"/>
          </p:cNvSpPr>
          <p:nvPr>
            <p:ph type="body" idx="1"/>
          </p:nvPr>
        </p:nvSpPr>
        <p:spPr>
          <a:xfrm>
            <a:off x="457200" y="1371600"/>
            <a:ext cx="8610600" cy="1066800"/>
          </a:xfrm>
          <a:noFill/>
        </p:spPr>
        <p:txBody>
          <a:bodyPr/>
          <a:lstStyle/>
          <a:p>
            <a:pPr eaLnBrk="1" hangingPunct="1"/>
            <a:r>
              <a:rPr lang="en-US" altLang="zh-CN" sz="2400" dirty="0">
                <a:ea typeface="宋体" panose="02010600030101010101" pitchFamily="2" charset="-122"/>
              </a:rPr>
              <a:t>This diagram should match the domain layer sequence diagram shown earlier</a:t>
            </a:r>
          </a:p>
          <a:p>
            <a:pPr eaLnBrk="1" hangingPunct="1"/>
            <a:r>
              <a:rPr lang="en-US" altLang="zh-CN" sz="2400" dirty="0">
                <a:solidFill>
                  <a:srgbClr val="C00000"/>
                </a:solidFill>
                <a:ea typeface="宋体" panose="02010600030101010101" pitchFamily="2" charset="-122"/>
              </a:rPr>
              <a:t>[true/false</a:t>
            </a:r>
            <a:r>
              <a:rPr lang="zh-CN" altLang="en-US" sz="2400" dirty="0">
                <a:solidFill>
                  <a:srgbClr val="C00000"/>
                </a:solidFill>
                <a:ea typeface="宋体" panose="02010600030101010101" pitchFamily="2" charset="-122"/>
              </a:rPr>
              <a:t> </a:t>
            </a:r>
            <a:r>
              <a:rPr lang="en-US" altLang="zh-CN" sz="2400" dirty="0">
                <a:solidFill>
                  <a:srgbClr val="C00000"/>
                </a:solidFill>
                <a:ea typeface="宋体" panose="02010600030101010101" pitchFamily="2" charset="-122"/>
              </a:rPr>
              <a:t>condition]sequence-number: return-value :=</a:t>
            </a:r>
          </a:p>
          <a:p>
            <a:pPr marL="0" indent="0" eaLnBrk="1" hangingPunct="1">
              <a:buNone/>
            </a:pPr>
            <a:r>
              <a:rPr lang="en-US" altLang="zh-CN" sz="2400" dirty="0">
                <a:solidFill>
                  <a:srgbClr val="C00000"/>
                </a:solidFill>
                <a:ea typeface="宋体" panose="02010600030101010101" pitchFamily="2" charset="-122"/>
              </a:rPr>
              <a:t>message-name(parameter-list)</a:t>
            </a:r>
          </a:p>
        </p:txBody>
      </p:sp>
      <p:pic>
        <p:nvPicPr>
          <p:cNvPr id="31749" name="Picture 5">
            <a:extLst>
              <a:ext uri="{FF2B5EF4-FFF2-40B4-BE49-F238E27FC236}">
                <a16:creationId xmlns:a16="http://schemas.microsoft.com/office/drawing/2014/main" id="{AF2A98FD-99F5-4483-9734-68365593F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 y="3048793"/>
            <a:ext cx="87630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4">
            <a:extLst>
              <a:ext uri="{FF2B5EF4-FFF2-40B4-BE49-F238E27FC236}">
                <a16:creationId xmlns:a16="http://schemas.microsoft.com/office/drawing/2014/main" id="{B8DC426E-8F17-4510-AEAE-132CF9427C4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1751" name="Footer Placeholder 4">
            <a:extLst>
              <a:ext uri="{FF2B5EF4-FFF2-40B4-BE49-F238E27FC236}">
                <a16:creationId xmlns:a16="http://schemas.microsoft.com/office/drawing/2014/main" id="{ABC79E57-3E4A-4D20-9D3A-FCFF1383A87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03AF5072-CA43-43F2-814F-206007A0F4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3DF0F6-BF52-40B8-A1EA-413E7D807268}" type="slidenum">
              <a:rPr lang="en-US" altLang="en-US"/>
              <a:pPr eaLnBrk="1" hangingPunct="1"/>
              <a:t>64</a:t>
            </a:fld>
            <a:endParaRPr lang="en-US" altLang="en-US"/>
          </a:p>
        </p:txBody>
      </p:sp>
      <p:sp>
        <p:nvSpPr>
          <p:cNvPr id="5123" name="Rectangle 2">
            <a:extLst>
              <a:ext uri="{FF2B5EF4-FFF2-40B4-BE49-F238E27FC236}">
                <a16:creationId xmlns:a16="http://schemas.microsoft.com/office/drawing/2014/main" id="{E7D8F260-AD38-4F87-83AE-2C7176C39B4D}"/>
              </a:ext>
            </a:extLst>
          </p:cNvPr>
          <p:cNvSpPr>
            <a:spLocks noGrp="1" noChangeArrowheads="1"/>
          </p:cNvSpPr>
          <p:nvPr>
            <p:ph type="title"/>
          </p:nvPr>
        </p:nvSpPr>
        <p:spPr>
          <a:xfrm>
            <a:off x="457200" y="122238"/>
            <a:ext cx="7543800" cy="1096962"/>
          </a:xfrm>
        </p:spPr>
        <p:txBody>
          <a:bodyPr/>
          <a:lstStyle/>
          <a:p>
            <a:pPr eaLnBrk="1" hangingPunct="1"/>
            <a:r>
              <a:rPr lang="en-US" altLang="zh-CN">
                <a:ea typeface="宋体" panose="02010600030101010101" pitchFamily="2" charset="-122"/>
              </a:rPr>
              <a:t>Chapter 11 Outline</a:t>
            </a:r>
          </a:p>
        </p:txBody>
      </p:sp>
      <p:sp>
        <p:nvSpPr>
          <p:cNvPr id="5124" name="Rectangle 3">
            <a:extLst>
              <a:ext uri="{FF2B5EF4-FFF2-40B4-BE49-F238E27FC236}">
                <a16:creationId xmlns:a16="http://schemas.microsoft.com/office/drawing/2014/main" id="{C07A99E0-F31F-4AA4-9CB5-1023BE72AEF2}"/>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5" name="Rectangle 4">
            <a:extLst>
              <a:ext uri="{FF2B5EF4-FFF2-40B4-BE49-F238E27FC236}">
                <a16:creationId xmlns:a16="http://schemas.microsoft.com/office/drawing/2014/main" id="{40623CF0-FC8B-4752-9353-D723F1394785}"/>
              </a:ext>
            </a:extLst>
          </p:cNvPr>
          <p:cNvSpPr>
            <a:spLocks noChangeArrowheads="1"/>
          </p:cNvSpPr>
          <p:nvPr/>
        </p:nvSpPr>
        <p:spPr bwMode="auto">
          <a:xfrm>
            <a:off x="304800" y="13716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000" dirty="0"/>
              <a:t>Detailed Design of Multilayer Systems</a:t>
            </a:r>
          </a:p>
          <a:p>
            <a:pPr eaLnBrk="1" hangingPunct="1">
              <a:spcBef>
                <a:spcPct val="20000"/>
              </a:spcBef>
              <a:buClr>
                <a:schemeClr val="tx2"/>
              </a:buClr>
              <a:buSzPct val="70000"/>
              <a:buFont typeface="Wingdings" panose="05000000000000000000" pitchFamily="2" charset="2"/>
              <a:buChar char="l"/>
            </a:pPr>
            <a:r>
              <a:rPr lang="en-GB" altLang="zh-CN" sz="3000" dirty="0"/>
              <a:t>Use Case Realization with Sequence Diagrams</a:t>
            </a:r>
          </a:p>
          <a:p>
            <a:pPr eaLnBrk="1" hangingPunct="1">
              <a:spcBef>
                <a:spcPct val="20000"/>
              </a:spcBef>
              <a:buClr>
                <a:schemeClr val="tx2"/>
              </a:buClr>
              <a:buSzPct val="70000"/>
              <a:buFont typeface="Wingdings" panose="05000000000000000000" pitchFamily="2" charset="2"/>
              <a:buChar char="l"/>
            </a:pPr>
            <a:r>
              <a:rPr lang="en-GB" altLang="zh-CN" sz="3000" dirty="0"/>
              <a:t>Designing with Communication Diagrams</a:t>
            </a:r>
          </a:p>
          <a:p>
            <a:pPr eaLnBrk="1" hangingPunct="1">
              <a:spcBef>
                <a:spcPct val="20000"/>
              </a:spcBef>
              <a:buClr>
                <a:schemeClr val="tx2"/>
              </a:buClr>
              <a:buSzPct val="70000"/>
              <a:buFont typeface="Wingdings" panose="05000000000000000000" pitchFamily="2" charset="2"/>
              <a:buChar char="l"/>
            </a:pPr>
            <a:r>
              <a:rPr lang="en-GB" altLang="zh-CN" sz="3000" dirty="0">
                <a:solidFill>
                  <a:srgbClr val="C00000"/>
                </a:solidFill>
              </a:rPr>
              <a:t>Updating and Packaging the Design Classes</a:t>
            </a:r>
            <a:r>
              <a:rPr lang="zh-CN" altLang="en-US" sz="3000" dirty="0">
                <a:solidFill>
                  <a:srgbClr val="C00000"/>
                </a:solidFill>
              </a:rPr>
              <a:t>（更新和打包设计类图）</a:t>
            </a:r>
            <a:endParaRPr lang="en-GB" altLang="zh-CN" sz="30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000" dirty="0"/>
              <a:t>Design Patterns</a:t>
            </a:r>
          </a:p>
        </p:txBody>
      </p:sp>
      <p:sp>
        <p:nvSpPr>
          <p:cNvPr id="5126" name="Rectangle 4">
            <a:extLst>
              <a:ext uri="{FF2B5EF4-FFF2-40B4-BE49-F238E27FC236}">
                <a16:creationId xmlns:a16="http://schemas.microsoft.com/office/drawing/2014/main" id="{4EC197EE-7403-4D66-AEFF-53DDB150E406}"/>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5127" name="Footer Placeholder 4">
            <a:extLst>
              <a:ext uri="{FF2B5EF4-FFF2-40B4-BE49-F238E27FC236}">
                <a16:creationId xmlns:a16="http://schemas.microsoft.com/office/drawing/2014/main" id="{9E1C42E7-45E8-4C78-843F-6E8416C40F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5695196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9DB1F126-2BAE-4D0E-A6BB-049C3A8ACD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4F0451B-D079-48D9-ACFC-282DADCAAC10}" type="slidenum">
              <a:rPr lang="en-US" altLang="en-US"/>
              <a:pPr eaLnBrk="1" hangingPunct="1"/>
              <a:t>65</a:t>
            </a:fld>
            <a:endParaRPr lang="en-US" altLang="en-US"/>
          </a:p>
        </p:txBody>
      </p:sp>
      <p:sp>
        <p:nvSpPr>
          <p:cNvPr id="32771" name="Rectangle 2">
            <a:extLst>
              <a:ext uri="{FF2B5EF4-FFF2-40B4-BE49-F238E27FC236}">
                <a16:creationId xmlns:a16="http://schemas.microsoft.com/office/drawing/2014/main" id="{5D5BAB4E-1282-4629-A312-3B779034B781}"/>
              </a:ext>
            </a:extLst>
          </p:cNvPr>
          <p:cNvSpPr>
            <a:spLocks noGrp="1" noChangeArrowheads="1"/>
          </p:cNvSpPr>
          <p:nvPr>
            <p:ph type="title"/>
          </p:nvPr>
        </p:nvSpPr>
        <p:spPr>
          <a:xfrm>
            <a:off x="304800" y="122238"/>
            <a:ext cx="7696200" cy="1020762"/>
          </a:xfrm>
        </p:spPr>
        <p:txBody>
          <a:bodyPr/>
          <a:lstStyle/>
          <a:p>
            <a:pPr eaLnBrk="1" hangingPunct="1"/>
            <a:r>
              <a:rPr lang="en-US" altLang="zh-CN" sz="3200">
                <a:ea typeface="宋体" panose="02010600030101010101" pitchFamily="2" charset="-122"/>
              </a:rPr>
              <a:t>Updating the Design Classes</a:t>
            </a:r>
          </a:p>
        </p:txBody>
      </p:sp>
      <p:sp>
        <p:nvSpPr>
          <p:cNvPr id="32772" name="Rectangle 3">
            <a:extLst>
              <a:ext uri="{FF2B5EF4-FFF2-40B4-BE49-F238E27FC236}">
                <a16:creationId xmlns:a16="http://schemas.microsoft.com/office/drawing/2014/main" id="{10EC34AC-555F-454E-9609-9BCBE76444A7}"/>
              </a:ext>
            </a:extLst>
          </p:cNvPr>
          <p:cNvSpPr>
            <a:spLocks noGrp="1" noChangeArrowheads="1"/>
          </p:cNvSpPr>
          <p:nvPr>
            <p:ph type="body" idx="1"/>
          </p:nvPr>
        </p:nvSpPr>
        <p:spPr>
          <a:xfrm>
            <a:off x="457200" y="1371600"/>
            <a:ext cx="4876800" cy="4572000"/>
          </a:xfrm>
          <a:noFill/>
        </p:spPr>
        <p:txBody>
          <a:bodyPr/>
          <a:lstStyle/>
          <a:p>
            <a:pPr eaLnBrk="1" hangingPunct="1"/>
            <a:r>
              <a:rPr lang="en-US" altLang="zh-CN" sz="2400" dirty="0">
                <a:ea typeface="宋体" panose="02010600030101010101" pitchFamily="2" charset="-122"/>
              </a:rPr>
              <a:t>Design class diagram (DCD)</a:t>
            </a:r>
            <a:r>
              <a:rPr lang="zh-CN" altLang="en-US" sz="2400" dirty="0">
                <a:ea typeface="宋体" panose="02010600030101010101" pitchFamily="2" charset="-122"/>
              </a:rPr>
              <a:t>（设计类图）</a:t>
            </a:r>
            <a:r>
              <a:rPr lang="en-US" altLang="zh-CN" sz="2400" dirty="0">
                <a:ea typeface="宋体" panose="02010600030101010101" pitchFamily="2" charset="-122"/>
              </a:rPr>
              <a:t> focuses on</a:t>
            </a:r>
            <a:r>
              <a:rPr lang="en-US" altLang="zh-CN" sz="2400" dirty="0">
                <a:solidFill>
                  <a:srgbClr val="C00000"/>
                </a:solidFill>
                <a:ea typeface="宋体" panose="02010600030101010101" pitchFamily="2" charset="-122"/>
              </a:rPr>
              <a:t> domain layer</a:t>
            </a:r>
            <a:r>
              <a:rPr lang="zh-CN" altLang="en-US" sz="2400" dirty="0">
                <a:solidFill>
                  <a:srgbClr val="C00000"/>
                </a:solidFill>
                <a:ea typeface="宋体" panose="02010600030101010101" pitchFamily="2" charset="-122"/>
              </a:rPr>
              <a:t>（域层）</a:t>
            </a:r>
            <a:endParaRPr lang="en-US" altLang="zh-CN" sz="2400" dirty="0">
              <a:solidFill>
                <a:srgbClr val="C00000"/>
              </a:solidFill>
              <a:ea typeface="宋体" panose="02010600030101010101" pitchFamily="2" charset="-122"/>
            </a:endParaRPr>
          </a:p>
          <a:p>
            <a:pPr eaLnBrk="1" hangingPunct="1"/>
            <a:r>
              <a:rPr lang="en-US" altLang="zh-CN" sz="2400" dirty="0">
                <a:ea typeface="宋体" panose="02010600030101010101" pitchFamily="2" charset="-122"/>
              </a:rPr>
              <a:t>When an object of a class</a:t>
            </a:r>
            <a:r>
              <a:rPr lang="en-US" altLang="zh-CN" sz="2400" b="1" i="1" dirty="0">
                <a:ea typeface="宋体" panose="02010600030101010101" pitchFamily="2" charset="-122"/>
              </a:rPr>
              <a:t> receives</a:t>
            </a:r>
            <a:r>
              <a:rPr lang="en-US" altLang="zh-CN" sz="2400" dirty="0">
                <a:ea typeface="宋体" panose="02010600030101010101" pitchFamily="2" charset="-122"/>
              </a:rPr>
              <a:t> a message, that message </a:t>
            </a:r>
            <a:r>
              <a:rPr lang="en-US" altLang="zh-CN" sz="2400" b="1" i="1" dirty="0">
                <a:ea typeface="宋体" panose="02010600030101010101" pitchFamily="2" charset="-122"/>
              </a:rPr>
              <a:t>becomes a method</a:t>
            </a:r>
            <a:r>
              <a:rPr lang="en-US" altLang="zh-CN" sz="2400" dirty="0">
                <a:ea typeface="宋体" panose="02010600030101010101" pitchFamily="2" charset="-122"/>
              </a:rPr>
              <a:t> in the class on the DCD</a:t>
            </a:r>
            <a:r>
              <a:rPr lang="zh-CN" altLang="en-US" sz="2400" dirty="0">
                <a:ea typeface="宋体" panose="02010600030101010101" pitchFamily="2" charset="-122"/>
              </a:rPr>
              <a:t>（当类的对象接收到消息时，该消息将成为</a:t>
            </a:r>
            <a:r>
              <a:rPr lang="en-US" altLang="zh-CN" sz="2400" dirty="0">
                <a:ea typeface="宋体" panose="02010600030101010101" pitchFamily="2" charset="-122"/>
              </a:rPr>
              <a:t>DCD</a:t>
            </a:r>
            <a:r>
              <a:rPr lang="zh-CN" altLang="en-US" sz="2400" dirty="0">
                <a:ea typeface="宋体" panose="02010600030101010101" pitchFamily="2" charset="-122"/>
              </a:rPr>
              <a:t>上该类中的方法）</a:t>
            </a:r>
            <a:endParaRPr lang="en-US" altLang="zh-CN" sz="2400" dirty="0">
              <a:ea typeface="宋体" panose="02010600030101010101" pitchFamily="2" charset="-122"/>
            </a:endParaRPr>
          </a:p>
        </p:txBody>
      </p:sp>
      <p:pic>
        <p:nvPicPr>
          <p:cNvPr id="32773" name="Picture 4">
            <a:extLst>
              <a:ext uri="{FF2B5EF4-FFF2-40B4-BE49-F238E27FC236}">
                <a16:creationId xmlns:a16="http://schemas.microsoft.com/office/drawing/2014/main" id="{02EA5469-29DB-4E1E-BFA2-10B4A025C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1150" y="1447800"/>
            <a:ext cx="3286125"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Rectangle 4">
            <a:extLst>
              <a:ext uri="{FF2B5EF4-FFF2-40B4-BE49-F238E27FC236}">
                <a16:creationId xmlns:a16="http://schemas.microsoft.com/office/drawing/2014/main" id="{2F23B022-A2F3-489B-BBA7-5A40345F9A45}"/>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2775" name="Footer Placeholder 4">
            <a:extLst>
              <a:ext uri="{FF2B5EF4-FFF2-40B4-BE49-F238E27FC236}">
                <a16:creationId xmlns:a16="http://schemas.microsoft.com/office/drawing/2014/main" id="{C0F62EEE-7FDF-4383-9DD1-B68CA197764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36BCE704-CA44-425E-ADBE-F02C1D12BE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53DA4D5-2F4E-4753-93FC-9FC49F6979F1}" type="slidenum">
              <a:rPr lang="en-US" altLang="en-US"/>
              <a:pPr eaLnBrk="1" hangingPunct="1"/>
              <a:t>66</a:t>
            </a:fld>
            <a:endParaRPr lang="en-US" altLang="en-US"/>
          </a:p>
        </p:txBody>
      </p:sp>
      <p:sp>
        <p:nvSpPr>
          <p:cNvPr id="33795" name="Rectangle 2">
            <a:extLst>
              <a:ext uri="{FF2B5EF4-FFF2-40B4-BE49-F238E27FC236}">
                <a16:creationId xmlns:a16="http://schemas.microsoft.com/office/drawing/2014/main" id="{ABA86675-04BC-48E0-9A2B-A77CB9091623}"/>
              </a:ext>
            </a:extLst>
          </p:cNvPr>
          <p:cNvSpPr>
            <a:spLocks noGrp="1" noChangeArrowheads="1"/>
          </p:cNvSpPr>
          <p:nvPr>
            <p:ph type="title"/>
          </p:nvPr>
        </p:nvSpPr>
        <p:spPr>
          <a:xfrm>
            <a:off x="228600" y="381000"/>
            <a:ext cx="2895600" cy="4754562"/>
          </a:xfrm>
        </p:spPr>
        <p:txBody>
          <a:bodyPr/>
          <a:lstStyle/>
          <a:p>
            <a:pPr eaLnBrk="1" hangingPunct="1"/>
            <a:r>
              <a:rPr lang="en-US" altLang="zh-CN" sz="3000" dirty="0">
                <a:ea typeface="宋体" panose="02010600030101010101" pitchFamily="2" charset="-122"/>
              </a:rPr>
              <a:t>Updated Design Class Diagram for Domain Layer </a:t>
            </a:r>
            <a:br>
              <a:rPr lang="en-US" altLang="zh-CN" sz="3000" dirty="0">
                <a:ea typeface="宋体" panose="02010600030101010101" pitchFamily="2" charset="-122"/>
              </a:rPr>
            </a:br>
            <a:br>
              <a:rPr lang="en-US" altLang="zh-CN" sz="3200" dirty="0">
                <a:ea typeface="宋体" panose="02010600030101010101" pitchFamily="2" charset="-122"/>
              </a:rPr>
            </a:br>
            <a:r>
              <a:rPr lang="en-US" altLang="zh-CN" sz="2000" dirty="0">
                <a:ea typeface="宋体" panose="02010600030101010101" pitchFamily="2" charset="-122"/>
              </a:rPr>
              <a:t>After </a:t>
            </a:r>
            <a:r>
              <a:rPr lang="en-US" altLang="zh-CN" sz="2000" i="1" dirty="0">
                <a:ea typeface="宋体" panose="02010600030101010101" pitchFamily="2" charset="-122"/>
              </a:rPr>
              <a:t>Create customer account</a:t>
            </a:r>
            <a:r>
              <a:rPr lang="en-US" altLang="zh-CN" sz="2000" dirty="0">
                <a:ea typeface="宋体" panose="02010600030101010101" pitchFamily="2" charset="-122"/>
              </a:rPr>
              <a:t> use case and </a:t>
            </a:r>
            <a:r>
              <a:rPr lang="en-US" altLang="zh-CN" sz="2000" i="1" dirty="0">
                <a:ea typeface="宋体" panose="02010600030101010101" pitchFamily="2" charset="-122"/>
              </a:rPr>
              <a:t>Fill shopping cart</a:t>
            </a:r>
            <a:r>
              <a:rPr lang="en-US" altLang="zh-CN" sz="2000" dirty="0">
                <a:ea typeface="宋体" panose="02010600030101010101" pitchFamily="2" charset="-122"/>
              </a:rPr>
              <a:t> use case</a:t>
            </a:r>
            <a:br>
              <a:rPr lang="en-US" altLang="zh-CN" sz="2000" dirty="0">
                <a:ea typeface="宋体" panose="02010600030101010101" pitchFamily="2" charset="-122"/>
              </a:rPr>
            </a:br>
            <a:br>
              <a:rPr lang="en-US" altLang="zh-CN" sz="2000" dirty="0">
                <a:ea typeface="宋体" panose="02010600030101010101" pitchFamily="2" charset="-122"/>
              </a:rPr>
            </a:br>
            <a:r>
              <a:rPr lang="zh-CN" altLang="en-US" sz="2000" dirty="0">
                <a:ea typeface="宋体" panose="02010600030101010101" pitchFamily="2" charset="-122"/>
              </a:rPr>
              <a:t>完整的设计类图</a:t>
            </a:r>
            <a:endParaRPr lang="en-US" altLang="zh-CN" sz="2000" dirty="0">
              <a:ea typeface="宋体" panose="02010600030101010101" pitchFamily="2" charset="-122"/>
            </a:endParaRPr>
          </a:p>
        </p:txBody>
      </p:sp>
      <p:pic>
        <p:nvPicPr>
          <p:cNvPr id="33796" name="Picture 10">
            <a:extLst>
              <a:ext uri="{FF2B5EF4-FFF2-40B4-BE49-F238E27FC236}">
                <a16:creationId xmlns:a16="http://schemas.microsoft.com/office/drawing/2014/main" id="{18FE6A3E-7B0A-4802-BD63-0ECF5601D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76200"/>
            <a:ext cx="435133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Rectangle 4">
            <a:extLst>
              <a:ext uri="{FF2B5EF4-FFF2-40B4-BE49-F238E27FC236}">
                <a16:creationId xmlns:a16="http://schemas.microsoft.com/office/drawing/2014/main" id="{83FC8A98-B5A6-4DC5-B12F-7C417E151054}"/>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3798" name="Footer Placeholder 4">
            <a:extLst>
              <a:ext uri="{FF2B5EF4-FFF2-40B4-BE49-F238E27FC236}">
                <a16:creationId xmlns:a16="http://schemas.microsoft.com/office/drawing/2014/main" id="{5B781EFC-9E76-46D9-B1D6-D9A8D66DBF4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56E5D6A4-4470-40F2-B98D-31A30270BB8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0ECD507-BAE6-4571-921B-7354B46FB4F4}" type="slidenum">
              <a:rPr lang="en-US" altLang="en-US"/>
              <a:pPr eaLnBrk="1" hangingPunct="1"/>
              <a:t>67</a:t>
            </a:fld>
            <a:endParaRPr lang="en-US" altLang="en-US"/>
          </a:p>
        </p:txBody>
      </p:sp>
      <p:sp>
        <p:nvSpPr>
          <p:cNvPr id="34819" name="Rectangle 2">
            <a:extLst>
              <a:ext uri="{FF2B5EF4-FFF2-40B4-BE49-F238E27FC236}">
                <a16:creationId xmlns:a16="http://schemas.microsoft.com/office/drawing/2014/main" id="{02E009F9-CDB5-4DB8-BB19-FCDBA2233D52}"/>
              </a:ext>
            </a:extLst>
          </p:cNvPr>
          <p:cNvSpPr>
            <a:spLocks noGrp="1" noChangeArrowheads="1"/>
          </p:cNvSpPr>
          <p:nvPr>
            <p:ph type="title"/>
          </p:nvPr>
        </p:nvSpPr>
        <p:spPr>
          <a:xfrm>
            <a:off x="98879" y="448809"/>
            <a:ext cx="3263900" cy="5821362"/>
          </a:xfrm>
        </p:spPr>
        <p:txBody>
          <a:bodyPr/>
          <a:lstStyle/>
          <a:p>
            <a:pPr eaLnBrk="1" hangingPunct="1"/>
            <a:r>
              <a:rPr lang="en-US" altLang="zh-CN" sz="3000" dirty="0">
                <a:ea typeface="宋体" panose="02010600030101010101" pitchFamily="2" charset="-122"/>
              </a:rPr>
              <a:t>Structuring Components with UML Package Diagram </a:t>
            </a:r>
            <a:br>
              <a:rPr lang="en-US" altLang="zh-CN" sz="3000" dirty="0">
                <a:ea typeface="宋体" panose="02010600030101010101" pitchFamily="2" charset="-122"/>
              </a:rPr>
            </a:br>
            <a:br>
              <a:rPr lang="en-US" altLang="zh-CN" sz="3200" dirty="0">
                <a:ea typeface="宋体" panose="02010600030101010101" pitchFamily="2" charset="-122"/>
              </a:rPr>
            </a:br>
            <a:r>
              <a:rPr lang="en-US" altLang="zh-CN" sz="2000" dirty="0">
                <a:solidFill>
                  <a:srgbClr val="C00000"/>
                </a:solidFill>
                <a:ea typeface="宋体" panose="02010600030101010101" pitchFamily="2" charset="-122"/>
              </a:rPr>
              <a:t>Three layer package diagram after two RMO use cases</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Dashed line is dependency</a:t>
            </a:r>
            <a:br>
              <a:rPr lang="en-US" altLang="zh-CN" sz="2000" dirty="0">
                <a:ea typeface="宋体" panose="02010600030101010101" pitchFamily="2" charset="-122"/>
              </a:rPr>
            </a:br>
            <a:r>
              <a:rPr lang="zh-CN" altLang="en-US" sz="2000" dirty="0">
                <a:ea typeface="宋体" panose="02010600030101010101" pitchFamily="2" charset="-122"/>
              </a:rPr>
              <a:t>（包图使用的另一个符号是虚线箭头，它表示依赖关系）</a:t>
            </a:r>
            <a:br>
              <a:rPr lang="en-US" altLang="zh-CN" sz="2000" dirty="0">
                <a:ea typeface="宋体" panose="02010600030101010101" pitchFamily="2" charset="-122"/>
              </a:rPr>
            </a:br>
            <a:br>
              <a:rPr lang="en-US" altLang="zh-CN" sz="2000" dirty="0">
                <a:ea typeface="宋体" panose="02010600030101010101" pitchFamily="2" charset="-122"/>
              </a:rPr>
            </a:br>
            <a:r>
              <a:rPr lang="en-US" altLang="zh-CN" sz="2000" dirty="0">
                <a:ea typeface="宋体" panose="02010600030101010101" pitchFamily="2" charset="-122"/>
              </a:rPr>
              <a:t>Note: Java package</a:t>
            </a:r>
            <a:br>
              <a:rPr lang="en-US" altLang="zh-CN" sz="2000" dirty="0">
                <a:ea typeface="宋体" panose="02010600030101010101" pitchFamily="2" charset="-122"/>
              </a:rPr>
            </a:br>
            <a:r>
              <a:rPr lang="en-US" altLang="zh-CN" sz="2000" dirty="0">
                <a:ea typeface="宋体" panose="02010600030101010101" pitchFamily="2" charset="-122"/>
              </a:rPr>
              <a:t>or .NET namespace</a:t>
            </a:r>
          </a:p>
        </p:txBody>
      </p:sp>
      <p:pic>
        <p:nvPicPr>
          <p:cNvPr id="34820" name="Picture 4">
            <a:extLst>
              <a:ext uri="{FF2B5EF4-FFF2-40B4-BE49-F238E27FC236}">
                <a16:creationId xmlns:a16="http://schemas.microsoft.com/office/drawing/2014/main" id="{4BF3DF69-76BA-4204-818A-FCA9FA707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700" y="152400"/>
            <a:ext cx="511651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Rectangle 4">
            <a:extLst>
              <a:ext uri="{FF2B5EF4-FFF2-40B4-BE49-F238E27FC236}">
                <a16:creationId xmlns:a16="http://schemas.microsoft.com/office/drawing/2014/main" id="{995C6051-B284-4A2F-8E3A-B4714117EDEC}"/>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4822" name="Footer Placeholder 4">
            <a:extLst>
              <a:ext uri="{FF2B5EF4-FFF2-40B4-BE49-F238E27FC236}">
                <a16:creationId xmlns:a16="http://schemas.microsoft.com/office/drawing/2014/main" id="{8C034909-C62D-44F1-AB22-BB7FB9C98F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99AB5750-1EED-4F2D-86A3-08305F4ABE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E05083-47CC-4CAF-AE4D-125E97386856}" type="slidenum">
              <a:rPr lang="en-US" altLang="en-US"/>
              <a:pPr eaLnBrk="1" hangingPunct="1"/>
              <a:t>68</a:t>
            </a:fld>
            <a:endParaRPr lang="en-US" altLang="en-US"/>
          </a:p>
        </p:txBody>
      </p:sp>
      <p:sp>
        <p:nvSpPr>
          <p:cNvPr id="35843" name="Rectangle 2">
            <a:extLst>
              <a:ext uri="{FF2B5EF4-FFF2-40B4-BE49-F238E27FC236}">
                <a16:creationId xmlns:a16="http://schemas.microsoft.com/office/drawing/2014/main" id="{CD1784BA-5C34-4012-BEBD-5E9AECB4DF10}"/>
              </a:ext>
            </a:extLst>
          </p:cNvPr>
          <p:cNvSpPr>
            <a:spLocks noGrp="1" noChangeArrowheads="1"/>
          </p:cNvSpPr>
          <p:nvPr>
            <p:ph type="title"/>
          </p:nvPr>
        </p:nvSpPr>
        <p:spPr>
          <a:xfrm>
            <a:off x="304800" y="122238"/>
            <a:ext cx="7543800" cy="944562"/>
          </a:xfrm>
        </p:spPr>
        <p:txBody>
          <a:bodyPr/>
          <a:lstStyle/>
          <a:p>
            <a:pPr eaLnBrk="1" hangingPunct="1"/>
            <a:r>
              <a:rPr lang="en-US" altLang="zh-CN" sz="3200">
                <a:ea typeface="宋体" panose="02010600030101010101" pitchFamily="2" charset="-122"/>
              </a:rPr>
              <a:t>RMO Subsystem Package Diagram</a:t>
            </a:r>
          </a:p>
        </p:txBody>
      </p:sp>
      <p:pic>
        <p:nvPicPr>
          <p:cNvPr id="35844" name="Picture 4">
            <a:extLst>
              <a:ext uri="{FF2B5EF4-FFF2-40B4-BE49-F238E27FC236}">
                <a16:creationId xmlns:a16="http://schemas.microsoft.com/office/drawing/2014/main" id="{8C951C93-6F98-4ADD-9766-0A975A15E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143000"/>
            <a:ext cx="6551613" cy="516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Rectangle 4">
            <a:extLst>
              <a:ext uri="{FF2B5EF4-FFF2-40B4-BE49-F238E27FC236}">
                <a16:creationId xmlns:a16="http://schemas.microsoft.com/office/drawing/2014/main" id="{1A5264D8-AC4B-44F2-8778-B59F76491B50}"/>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5846" name="Footer Placeholder 4">
            <a:extLst>
              <a:ext uri="{FF2B5EF4-FFF2-40B4-BE49-F238E27FC236}">
                <a16:creationId xmlns:a16="http://schemas.microsoft.com/office/drawing/2014/main" id="{151B6E45-8262-479B-B377-1AC3EDDBD98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B9C7A70B-E945-417C-BC2D-689DC50C36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86A76AE-D828-4C6B-859A-DEAB42195082}" type="slidenum">
              <a:rPr lang="en-US" altLang="en-US"/>
              <a:pPr eaLnBrk="1" hangingPunct="1"/>
              <a:t>69</a:t>
            </a:fld>
            <a:endParaRPr lang="en-US" altLang="en-US"/>
          </a:p>
        </p:txBody>
      </p:sp>
      <p:sp>
        <p:nvSpPr>
          <p:cNvPr id="36867" name="Rectangle 2">
            <a:extLst>
              <a:ext uri="{FF2B5EF4-FFF2-40B4-BE49-F238E27FC236}">
                <a16:creationId xmlns:a16="http://schemas.microsoft.com/office/drawing/2014/main" id="{6080FA9F-BF08-4C60-9961-BE3FD77F23F7}"/>
              </a:ext>
            </a:extLst>
          </p:cNvPr>
          <p:cNvSpPr>
            <a:spLocks noGrp="1" noChangeArrowheads="1"/>
          </p:cNvSpPr>
          <p:nvPr>
            <p:ph type="title"/>
          </p:nvPr>
        </p:nvSpPr>
        <p:spPr>
          <a:xfrm>
            <a:off x="304800" y="122238"/>
            <a:ext cx="7696200" cy="1249362"/>
          </a:xfrm>
        </p:spPr>
        <p:txBody>
          <a:bodyPr/>
          <a:lstStyle/>
          <a:p>
            <a:pPr eaLnBrk="1" hangingPunct="1"/>
            <a:r>
              <a:rPr lang="en-US" altLang="zh-CN" sz="3600">
                <a:ea typeface="宋体" panose="02010600030101010101" pitchFamily="2" charset="-122"/>
              </a:rPr>
              <a:t>Implementation Issues </a:t>
            </a:r>
            <a:br>
              <a:rPr lang="en-US" altLang="zh-CN" sz="3600">
                <a:ea typeface="宋体" panose="02010600030101010101" pitchFamily="2" charset="-122"/>
              </a:rPr>
            </a:br>
            <a:r>
              <a:rPr lang="en-US" altLang="zh-CN" sz="2800">
                <a:ea typeface="宋体" panose="02010600030101010101" pitchFamily="2" charset="-122"/>
              </a:rPr>
              <a:t>Three Layer Design</a:t>
            </a:r>
          </a:p>
        </p:txBody>
      </p:sp>
      <p:sp>
        <p:nvSpPr>
          <p:cNvPr id="36868" name="Rectangle 3">
            <a:extLst>
              <a:ext uri="{FF2B5EF4-FFF2-40B4-BE49-F238E27FC236}">
                <a16:creationId xmlns:a16="http://schemas.microsoft.com/office/drawing/2014/main" id="{7BBAE600-8420-4CF0-A6AF-0D92199CC56A}"/>
              </a:ext>
            </a:extLst>
          </p:cNvPr>
          <p:cNvSpPr>
            <a:spLocks noGrp="1" noChangeArrowheads="1"/>
          </p:cNvSpPr>
          <p:nvPr>
            <p:ph type="body" idx="1"/>
          </p:nvPr>
        </p:nvSpPr>
        <p:spPr>
          <a:xfrm>
            <a:off x="96837" y="1744663"/>
            <a:ext cx="8839200" cy="4724400"/>
          </a:xfrm>
        </p:spPr>
        <p:txBody>
          <a:bodyPr/>
          <a:lstStyle/>
          <a:p>
            <a:pPr eaLnBrk="1" hangingPunct="1"/>
            <a:r>
              <a:rPr lang="en-US" altLang="zh-CN" sz="2800" dirty="0">
                <a:solidFill>
                  <a:srgbClr val="C00000"/>
                </a:solidFill>
                <a:ea typeface="宋体" panose="02010600030101010101" pitchFamily="2" charset="-122"/>
              </a:rPr>
              <a:t>View Layer Class </a:t>
            </a:r>
            <a:r>
              <a:rPr lang="en-US" altLang="zh-CN" sz="2800" dirty="0">
                <a:ea typeface="宋体" panose="02010600030101010101" pitchFamily="2" charset="-122"/>
              </a:rPr>
              <a:t>Responsibilities</a:t>
            </a:r>
            <a:r>
              <a:rPr lang="zh-CN" altLang="en-US" sz="2800" dirty="0">
                <a:ea typeface="宋体" panose="02010600030101010101" pitchFamily="2" charset="-122"/>
              </a:rPr>
              <a:t>（视图层完成以下任务）</a:t>
            </a:r>
            <a:endParaRPr lang="en-US" altLang="zh-CN" sz="2800" dirty="0">
              <a:ea typeface="宋体" panose="02010600030101010101" pitchFamily="2" charset="-122"/>
            </a:endParaRPr>
          </a:p>
          <a:p>
            <a:pPr lvl="1" eaLnBrk="1" hangingPunct="1"/>
            <a:r>
              <a:rPr lang="en-GB" altLang="zh-CN" u="sng" dirty="0"/>
              <a:t>Display</a:t>
            </a:r>
            <a:r>
              <a:rPr lang="en-GB" altLang="zh-CN" dirty="0"/>
              <a:t> electronic forms and reports.</a:t>
            </a:r>
            <a:r>
              <a:rPr lang="zh-CN" altLang="en-US" dirty="0"/>
              <a:t>（展示结果）</a:t>
            </a:r>
            <a:endParaRPr lang="en-US" altLang="zh-CN" dirty="0"/>
          </a:p>
          <a:p>
            <a:pPr lvl="1" eaLnBrk="1" hangingPunct="1"/>
            <a:r>
              <a:rPr lang="zh-CN" altLang="en-US" dirty="0"/>
              <a:t> </a:t>
            </a:r>
            <a:r>
              <a:rPr lang="en-GB" altLang="zh-CN" u="sng" dirty="0"/>
              <a:t>Capture</a:t>
            </a:r>
            <a:r>
              <a:rPr lang="en-GB" altLang="zh-CN" dirty="0"/>
              <a:t> such input events as clicks, rollovers, and key entries.</a:t>
            </a:r>
            <a:r>
              <a:rPr lang="zh-CN" altLang="en-US" dirty="0"/>
              <a:t>（捕捉输入）</a:t>
            </a:r>
            <a:endParaRPr lang="en-GB" altLang="zh-CN" dirty="0"/>
          </a:p>
          <a:p>
            <a:pPr lvl="1" eaLnBrk="1" hangingPunct="1"/>
            <a:r>
              <a:rPr lang="en-GB" altLang="zh-CN" u="sng" dirty="0"/>
              <a:t>Edit and validate</a:t>
            </a:r>
            <a:r>
              <a:rPr lang="en-GB" altLang="zh-CN" dirty="0"/>
              <a:t> input data.</a:t>
            </a:r>
            <a:r>
              <a:rPr lang="zh-CN" altLang="en-US" dirty="0"/>
              <a:t>（编辑并校验）</a:t>
            </a:r>
            <a:endParaRPr lang="en-GB" altLang="zh-CN" dirty="0"/>
          </a:p>
          <a:p>
            <a:pPr lvl="1" eaLnBrk="1" hangingPunct="1"/>
            <a:r>
              <a:rPr lang="en-GB" altLang="zh-CN" u="sng" dirty="0"/>
              <a:t>Forward</a:t>
            </a:r>
            <a:r>
              <a:rPr lang="en-GB" altLang="zh-CN" dirty="0"/>
              <a:t> input data to the domain layer classes.</a:t>
            </a:r>
            <a:r>
              <a:rPr lang="zh-CN" altLang="en-US" dirty="0"/>
              <a:t>（将数据传递给域层类）</a:t>
            </a:r>
            <a:endParaRPr lang="en-GB" altLang="zh-CN" dirty="0"/>
          </a:p>
          <a:p>
            <a:pPr lvl="1" eaLnBrk="1" hangingPunct="1"/>
            <a:r>
              <a:rPr lang="en-GB" altLang="zh-CN" dirty="0"/>
              <a:t>Start and shut down the system.</a:t>
            </a:r>
            <a:r>
              <a:rPr lang="zh-CN" altLang="en-US" dirty="0"/>
              <a:t>（启动与关闭系统）</a:t>
            </a:r>
            <a:endParaRPr lang="en-GB" altLang="zh-CN" dirty="0"/>
          </a:p>
        </p:txBody>
      </p:sp>
      <p:sp>
        <p:nvSpPr>
          <p:cNvPr id="36869" name="Rectangle 4">
            <a:extLst>
              <a:ext uri="{FF2B5EF4-FFF2-40B4-BE49-F238E27FC236}">
                <a16:creationId xmlns:a16="http://schemas.microsoft.com/office/drawing/2014/main" id="{5931CC5D-0366-47EB-A4B0-B03531571EA1}"/>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6870" name="Footer Placeholder 4">
            <a:extLst>
              <a:ext uri="{FF2B5EF4-FFF2-40B4-BE49-F238E27FC236}">
                <a16:creationId xmlns:a16="http://schemas.microsoft.com/office/drawing/2014/main" id="{4A400E4F-A0D0-4753-BF19-31995765614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8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99C55151-943D-43C5-8324-561FBB3FFF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21B835-5C92-423F-AF66-2AF3BDDDA0F5}" type="slidenum">
              <a:rPr lang="en-US" altLang="en-US"/>
              <a:pPr eaLnBrk="1" hangingPunct="1"/>
              <a:t>70</a:t>
            </a:fld>
            <a:endParaRPr lang="en-US" altLang="en-US"/>
          </a:p>
        </p:txBody>
      </p:sp>
      <p:sp>
        <p:nvSpPr>
          <p:cNvPr id="37891" name="Rectangle 2">
            <a:extLst>
              <a:ext uri="{FF2B5EF4-FFF2-40B4-BE49-F238E27FC236}">
                <a16:creationId xmlns:a16="http://schemas.microsoft.com/office/drawing/2014/main" id="{B40D828F-C8AD-4E5B-9CA4-CAAAB5BF52F8}"/>
              </a:ext>
            </a:extLst>
          </p:cNvPr>
          <p:cNvSpPr>
            <a:spLocks noGrp="1" noChangeArrowheads="1"/>
          </p:cNvSpPr>
          <p:nvPr>
            <p:ph type="title"/>
          </p:nvPr>
        </p:nvSpPr>
        <p:spPr>
          <a:xfrm>
            <a:off x="304800" y="122238"/>
            <a:ext cx="7696200" cy="1249362"/>
          </a:xfrm>
        </p:spPr>
        <p:txBody>
          <a:bodyPr/>
          <a:lstStyle/>
          <a:p>
            <a:pPr eaLnBrk="1" hangingPunct="1"/>
            <a:r>
              <a:rPr lang="en-US" altLang="zh-CN" sz="3600">
                <a:ea typeface="宋体" panose="02010600030101010101" pitchFamily="2" charset="-122"/>
              </a:rPr>
              <a:t>Implementation Issues </a:t>
            </a:r>
            <a:br>
              <a:rPr lang="en-US" altLang="zh-CN" sz="3600">
                <a:ea typeface="宋体" panose="02010600030101010101" pitchFamily="2" charset="-122"/>
              </a:rPr>
            </a:br>
            <a:r>
              <a:rPr lang="en-US" altLang="zh-CN" sz="2800">
                <a:ea typeface="宋体" panose="02010600030101010101" pitchFamily="2" charset="-122"/>
              </a:rPr>
              <a:t>Three Layer Design</a:t>
            </a:r>
          </a:p>
        </p:txBody>
      </p:sp>
      <p:sp>
        <p:nvSpPr>
          <p:cNvPr id="37892" name="Rectangle 3">
            <a:extLst>
              <a:ext uri="{FF2B5EF4-FFF2-40B4-BE49-F238E27FC236}">
                <a16:creationId xmlns:a16="http://schemas.microsoft.com/office/drawing/2014/main" id="{F9A3CB0F-556A-4DC3-A6C9-5B9A64A005D1}"/>
              </a:ext>
            </a:extLst>
          </p:cNvPr>
          <p:cNvSpPr>
            <a:spLocks noGrp="1" noChangeArrowheads="1"/>
          </p:cNvSpPr>
          <p:nvPr>
            <p:ph type="body" idx="1"/>
          </p:nvPr>
        </p:nvSpPr>
        <p:spPr>
          <a:xfrm>
            <a:off x="228600" y="1964531"/>
            <a:ext cx="8153400" cy="4724400"/>
          </a:xfrm>
        </p:spPr>
        <p:txBody>
          <a:bodyPr/>
          <a:lstStyle/>
          <a:p>
            <a:pPr eaLnBrk="1" hangingPunct="1"/>
            <a:r>
              <a:rPr lang="en-US" altLang="zh-CN" sz="2400" dirty="0">
                <a:ea typeface="宋体" panose="02010600030101010101" pitchFamily="2" charset="-122"/>
              </a:rPr>
              <a:t>Domain Layer Class Responsibilities</a:t>
            </a:r>
            <a:r>
              <a:rPr lang="zh-CN" altLang="en-US" sz="2400" dirty="0">
                <a:ea typeface="宋体" panose="02010600030101010101" pitchFamily="2" charset="-122"/>
              </a:rPr>
              <a:t>（域层任务：）</a:t>
            </a:r>
            <a:endParaRPr lang="en-US" altLang="zh-CN" sz="2400" dirty="0">
              <a:ea typeface="宋体" panose="02010600030101010101" pitchFamily="2" charset="-122"/>
            </a:endParaRPr>
          </a:p>
          <a:p>
            <a:pPr lvl="1" eaLnBrk="1" hangingPunct="1"/>
            <a:r>
              <a:rPr lang="en-GB" altLang="zh-CN" sz="2200" dirty="0"/>
              <a:t>Create problem domain (persistent) classes.</a:t>
            </a:r>
            <a:r>
              <a:rPr lang="zh-CN" altLang="en-US" sz="2200" dirty="0"/>
              <a:t>（创建问题域类（持久类））</a:t>
            </a:r>
            <a:endParaRPr lang="en-GB" altLang="zh-CN" sz="2200" dirty="0"/>
          </a:p>
          <a:p>
            <a:pPr lvl="1" eaLnBrk="1" hangingPunct="1"/>
            <a:r>
              <a:rPr lang="en-GB" altLang="zh-CN" sz="2200" dirty="0"/>
              <a:t>Process all business rules with appropriate logic.</a:t>
            </a:r>
            <a:r>
              <a:rPr lang="zh-CN" altLang="en-US" sz="2200" dirty="0"/>
              <a:t>（以适当的逻辑处理所有的业务规则）</a:t>
            </a:r>
            <a:endParaRPr lang="en-GB" altLang="zh-CN" sz="2200" dirty="0"/>
          </a:p>
          <a:p>
            <a:pPr lvl="1" eaLnBrk="1" hangingPunct="1"/>
            <a:r>
              <a:rPr lang="en-GB" altLang="zh-CN" sz="2200" dirty="0"/>
              <a:t>Prepare persistent classes for storage to the database.</a:t>
            </a:r>
            <a:r>
              <a:rPr lang="zh-CN" altLang="en-US" sz="2200" dirty="0"/>
              <a:t>（准备持久类以便数据库存储）</a:t>
            </a:r>
            <a:endParaRPr lang="en-GB" altLang="zh-CN" sz="2200" dirty="0"/>
          </a:p>
          <a:p>
            <a:pPr eaLnBrk="1" hangingPunct="1"/>
            <a:endParaRPr lang="en-GB" altLang="zh-CN" sz="2200" dirty="0"/>
          </a:p>
        </p:txBody>
      </p:sp>
      <p:sp>
        <p:nvSpPr>
          <p:cNvPr id="37893" name="Rectangle 4">
            <a:extLst>
              <a:ext uri="{FF2B5EF4-FFF2-40B4-BE49-F238E27FC236}">
                <a16:creationId xmlns:a16="http://schemas.microsoft.com/office/drawing/2014/main" id="{030DC12E-037A-411C-B05A-68DAA4E388E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7894" name="Footer Placeholder 4">
            <a:extLst>
              <a:ext uri="{FF2B5EF4-FFF2-40B4-BE49-F238E27FC236}">
                <a16:creationId xmlns:a16="http://schemas.microsoft.com/office/drawing/2014/main" id="{1CF61854-A61C-4E8A-8451-CAA94489860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99C55151-943D-43C5-8324-561FBB3FFF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21B835-5C92-423F-AF66-2AF3BDDDA0F5}" type="slidenum">
              <a:rPr lang="en-US" altLang="en-US"/>
              <a:pPr eaLnBrk="1" hangingPunct="1"/>
              <a:t>71</a:t>
            </a:fld>
            <a:endParaRPr lang="en-US" altLang="en-US"/>
          </a:p>
        </p:txBody>
      </p:sp>
      <p:sp>
        <p:nvSpPr>
          <p:cNvPr id="37891" name="Rectangle 2">
            <a:extLst>
              <a:ext uri="{FF2B5EF4-FFF2-40B4-BE49-F238E27FC236}">
                <a16:creationId xmlns:a16="http://schemas.microsoft.com/office/drawing/2014/main" id="{B40D828F-C8AD-4E5B-9CA4-CAAAB5BF52F8}"/>
              </a:ext>
            </a:extLst>
          </p:cNvPr>
          <p:cNvSpPr>
            <a:spLocks noGrp="1" noChangeArrowheads="1"/>
          </p:cNvSpPr>
          <p:nvPr>
            <p:ph type="title"/>
          </p:nvPr>
        </p:nvSpPr>
        <p:spPr>
          <a:xfrm>
            <a:off x="304800" y="122238"/>
            <a:ext cx="7696200" cy="1249362"/>
          </a:xfrm>
        </p:spPr>
        <p:txBody>
          <a:bodyPr/>
          <a:lstStyle/>
          <a:p>
            <a:pPr eaLnBrk="1" hangingPunct="1"/>
            <a:r>
              <a:rPr lang="en-US" altLang="zh-CN" sz="3600">
                <a:ea typeface="宋体" panose="02010600030101010101" pitchFamily="2" charset="-122"/>
              </a:rPr>
              <a:t>Implementation Issues </a:t>
            </a:r>
            <a:br>
              <a:rPr lang="en-US" altLang="zh-CN" sz="3600">
                <a:ea typeface="宋体" panose="02010600030101010101" pitchFamily="2" charset="-122"/>
              </a:rPr>
            </a:br>
            <a:r>
              <a:rPr lang="en-US" altLang="zh-CN" sz="2800">
                <a:ea typeface="宋体" panose="02010600030101010101" pitchFamily="2" charset="-122"/>
              </a:rPr>
              <a:t>Three Layer Design</a:t>
            </a:r>
          </a:p>
        </p:txBody>
      </p:sp>
      <p:sp>
        <p:nvSpPr>
          <p:cNvPr id="37892" name="Rectangle 3">
            <a:extLst>
              <a:ext uri="{FF2B5EF4-FFF2-40B4-BE49-F238E27FC236}">
                <a16:creationId xmlns:a16="http://schemas.microsoft.com/office/drawing/2014/main" id="{F9A3CB0F-556A-4DC3-A6C9-5B9A64A005D1}"/>
              </a:ext>
            </a:extLst>
          </p:cNvPr>
          <p:cNvSpPr>
            <a:spLocks noGrp="1" noChangeArrowheads="1"/>
          </p:cNvSpPr>
          <p:nvPr>
            <p:ph type="body" idx="1"/>
          </p:nvPr>
        </p:nvSpPr>
        <p:spPr>
          <a:xfrm>
            <a:off x="249237" y="1981200"/>
            <a:ext cx="8534400" cy="4724400"/>
          </a:xfrm>
        </p:spPr>
        <p:txBody>
          <a:bodyPr/>
          <a:lstStyle/>
          <a:p>
            <a:pPr eaLnBrk="1" hangingPunct="1"/>
            <a:r>
              <a:rPr lang="en-GB" altLang="zh-CN" sz="2400" dirty="0"/>
              <a:t>Data Access Layer Class Responsibilities</a:t>
            </a:r>
            <a:r>
              <a:rPr lang="zh-CN" altLang="en-US" sz="2400" dirty="0"/>
              <a:t>（数据访问层）</a:t>
            </a:r>
            <a:endParaRPr lang="en-GB" altLang="zh-CN" sz="2400" dirty="0"/>
          </a:p>
          <a:p>
            <a:pPr lvl="1" eaLnBrk="1" hangingPunct="1"/>
            <a:r>
              <a:rPr lang="en-GB" altLang="zh-CN" sz="2200" dirty="0"/>
              <a:t>Establish and maintain connections to the database.</a:t>
            </a:r>
            <a:r>
              <a:rPr lang="zh-CN" altLang="en-US" sz="2200" dirty="0"/>
              <a:t>（建立并维护数据库之间的连接）</a:t>
            </a:r>
            <a:endParaRPr lang="en-GB" altLang="zh-CN" sz="2200" dirty="0"/>
          </a:p>
          <a:p>
            <a:pPr lvl="1" eaLnBrk="1" hangingPunct="1"/>
            <a:r>
              <a:rPr lang="en-GB" altLang="zh-CN" sz="2200" dirty="0"/>
              <a:t>Contain all SQL statements.</a:t>
            </a:r>
            <a:r>
              <a:rPr lang="zh-CN" altLang="en-US" sz="2200" dirty="0"/>
              <a:t>（包含所有的</a:t>
            </a:r>
            <a:r>
              <a:rPr lang="en-US" altLang="zh-CN" sz="2200" dirty="0"/>
              <a:t>SQL</a:t>
            </a:r>
            <a:r>
              <a:rPr lang="zh-CN" altLang="en-US" sz="2200" dirty="0"/>
              <a:t>语句）</a:t>
            </a:r>
            <a:endParaRPr lang="en-GB" altLang="zh-CN" sz="2200" dirty="0"/>
          </a:p>
          <a:p>
            <a:pPr lvl="1" eaLnBrk="1" hangingPunct="1"/>
            <a:r>
              <a:rPr lang="en-GB" altLang="zh-CN" sz="2200" dirty="0"/>
              <a:t>Process result sets (the results of SQL executions) into appropriate domain objects.</a:t>
            </a:r>
            <a:r>
              <a:rPr lang="zh-CN" altLang="en-US" sz="2200" dirty="0"/>
              <a:t>（处理结果集（</a:t>
            </a:r>
            <a:r>
              <a:rPr lang="en-US" altLang="zh-CN" sz="2200" dirty="0"/>
              <a:t>SQL</a:t>
            </a:r>
            <a:r>
              <a:rPr lang="zh-CN" altLang="en-US" sz="2200" dirty="0"/>
              <a:t>语句的执行结果），并赋给合适的域对象）</a:t>
            </a:r>
            <a:endParaRPr lang="en-GB" altLang="zh-CN" sz="2200" dirty="0"/>
          </a:p>
          <a:p>
            <a:pPr lvl="1" eaLnBrk="1" hangingPunct="1"/>
            <a:r>
              <a:rPr lang="en-GB" altLang="zh-CN" sz="2200" dirty="0"/>
              <a:t>Disconnect gracefully from the database.</a:t>
            </a:r>
            <a:r>
              <a:rPr lang="zh-CN" altLang="en-US" sz="2200" dirty="0"/>
              <a:t>（实施断开与数据库的连接）</a:t>
            </a:r>
            <a:endParaRPr lang="en-GB" altLang="zh-CN" sz="2200" dirty="0"/>
          </a:p>
        </p:txBody>
      </p:sp>
      <p:sp>
        <p:nvSpPr>
          <p:cNvPr id="37893" name="Rectangle 4">
            <a:extLst>
              <a:ext uri="{FF2B5EF4-FFF2-40B4-BE49-F238E27FC236}">
                <a16:creationId xmlns:a16="http://schemas.microsoft.com/office/drawing/2014/main" id="{030DC12E-037A-411C-B05A-68DAA4E388E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7894" name="Footer Placeholder 4">
            <a:extLst>
              <a:ext uri="{FF2B5EF4-FFF2-40B4-BE49-F238E27FC236}">
                <a16:creationId xmlns:a16="http://schemas.microsoft.com/office/drawing/2014/main" id="{1CF61854-A61C-4E8A-8451-CAA94489860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42021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89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89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19F6C655-F775-44C8-A894-CB5C5AB3A1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EB14140-FFF2-47C3-94F6-A32D09FB36AB}" type="slidenum">
              <a:rPr lang="en-US" altLang="en-US"/>
              <a:pPr eaLnBrk="1" hangingPunct="1"/>
              <a:t>72</a:t>
            </a:fld>
            <a:endParaRPr lang="en-US" altLang="en-US"/>
          </a:p>
        </p:txBody>
      </p:sp>
      <p:sp>
        <p:nvSpPr>
          <p:cNvPr id="43011" name="Rectangle 2">
            <a:extLst>
              <a:ext uri="{FF2B5EF4-FFF2-40B4-BE49-F238E27FC236}">
                <a16:creationId xmlns:a16="http://schemas.microsoft.com/office/drawing/2014/main" id="{2435D0E8-6813-44DF-9249-337A7CC438A6}"/>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000">
              <a:ea typeface="宋体" panose="02010600030101010101" pitchFamily="2" charset="-122"/>
            </a:endParaRPr>
          </a:p>
        </p:txBody>
      </p:sp>
      <p:sp>
        <p:nvSpPr>
          <p:cNvPr id="43012" name="Rectangle 3">
            <a:extLst>
              <a:ext uri="{FF2B5EF4-FFF2-40B4-BE49-F238E27FC236}">
                <a16:creationId xmlns:a16="http://schemas.microsoft.com/office/drawing/2014/main" id="{3007E9EC-6726-4125-B7CA-B697BD5F4F7B}"/>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3013" name="Rectangle 4">
            <a:extLst>
              <a:ext uri="{FF2B5EF4-FFF2-40B4-BE49-F238E27FC236}">
                <a16:creationId xmlns:a16="http://schemas.microsoft.com/office/drawing/2014/main" id="{DD4318E9-B58F-4B72-8990-1E6FCDCA2C0C}"/>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3014" name="Rectangle 5">
            <a:extLst>
              <a:ext uri="{FF2B5EF4-FFF2-40B4-BE49-F238E27FC236}">
                <a16:creationId xmlns:a16="http://schemas.microsoft.com/office/drawing/2014/main" id="{DB25F006-CDDC-442D-BA80-644CB64A186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3015" name="Rectangle 6">
            <a:extLst>
              <a:ext uri="{FF2B5EF4-FFF2-40B4-BE49-F238E27FC236}">
                <a16:creationId xmlns:a16="http://schemas.microsoft.com/office/drawing/2014/main" id="{2DD559A3-5E68-4852-A806-5D46BA3914A1}"/>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3200"/>
          </a:p>
        </p:txBody>
      </p:sp>
      <p:sp>
        <p:nvSpPr>
          <p:cNvPr id="43016" name="Rectangle 7">
            <a:extLst>
              <a:ext uri="{FF2B5EF4-FFF2-40B4-BE49-F238E27FC236}">
                <a16:creationId xmlns:a16="http://schemas.microsoft.com/office/drawing/2014/main" id="{3FADD365-5598-40BF-9F40-A4EAB9ED0DB3}"/>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This chapter went into more detail about </a:t>
            </a:r>
            <a:r>
              <a:rPr lang="en-US" altLang="zh-CN" sz="2000" u="sng" dirty="0">
                <a:ea typeface="宋体" panose="02010600030101010101" pitchFamily="2" charset="-122"/>
              </a:rPr>
              <a:t>use case realization </a:t>
            </a:r>
            <a:r>
              <a:rPr lang="en-US" altLang="zh-CN" sz="2000" dirty="0">
                <a:ea typeface="宋体" panose="02010600030101010101" pitchFamily="2" charset="-122"/>
              </a:rPr>
              <a:t>and </a:t>
            </a:r>
            <a:r>
              <a:rPr lang="en-US" altLang="zh-CN" sz="2000" u="sng" dirty="0">
                <a:ea typeface="宋体" panose="02010600030101010101" pitchFamily="2" charset="-122"/>
              </a:rPr>
              <a:t>three layer design </a:t>
            </a:r>
            <a:r>
              <a:rPr lang="en-US" altLang="zh-CN" sz="2000" dirty="0">
                <a:ea typeface="宋体" panose="02010600030101010101" pitchFamily="2" charset="-122"/>
              </a:rPr>
              <a:t>to extend the design techniques from last chapter</a:t>
            </a:r>
            <a:r>
              <a:rPr lang="zh-CN" altLang="en-US" sz="2000" dirty="0">
                <a:ea typeface="宋体" panose="02010600030101010101" pitchFamily="2" charset="-122"/>
              </a:rPr>
              <a:t>（本章更详细地介绍了用例实现和三层设计，以扩展上一章的设计技术）</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Three layer design is an architectural design pattern, part of the movement toward the use of design principles and patterns. </a:t>
            </a:r>
            <a:r>
              <a:rPr lang="zh-CN" altLang="en-US" sz="2000" dirty="0">
                <a:ea typeface="宋体" panose="02010600030101010101" pitchFamily="2" charset="-122"/>
              </a:rPr>
              <a:t>（三层设计是一种架构设计模式，是设计原则和模式使用运动的一部分。）</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Use case realization is the design of a use case, done with a design class diagram and sequence diagrams. Using sequence diagrams allows greater depth and precision than using CRC cards. </a:t>
            </a:r>
            <a:r>
              <a:rPr lang="zh-CN" altLang="en-US" sz="2000" dirty="0">
                <a:ea typeface="宋体" panose="02010600030101010101" pitchFamily="2" charset="-122"/>
              </a:rPr>
              <a:t>（用例实现是用例的设计，通过设计类图和顺序图来完成。使用顺序图比使用</a:t>
            </a:r>
            <a:r>
              <a:rPr lang="en-US" altLang="zh-CN" sz="2000" dirty="0">
                <a:ea typeface="宋体" panose="02010600030101010101" pitchFamily="2" charset="-122"/>
              </a:rPr>
              <a:t>CRC</a:t>
            </a:r>
            <a:r>
              <a:rPr lang="zh-CN" altLang="en-US" sz="2000" dirty="0">
                <a:ea typeface="宋体" panose="02010600030101010101" pitchFamily="2" charset="-122"/>
              </a:rPr>
              <a:t>卡具有更大的深度和精度。）</a:t>
            </a:r>
            <a:endParaRPr lang="en-US" altLang="zh-CN" sz="2000" dirty="0">
              <a:ea typeface="宋体" panose="02010600030101010101" pitchFamily="2" charset="-122"/>
            </a:endParaRPr>
          </a:p>
        </p:txBody>
      </p:sp>
      <p:sp>
        <p:nvSpPr>
          <p:cNvPr id="43017" name="Rectangle 4">
            <a:extLst>
              <a:ext uri="{FF2B5EF4-FFF2-40B4-BE49-F238E27FC236}">
                <a16:creationId xmlns:a16="http://schemas.microsoft.com/office/drawing/2014/main" id="{1CFFAA16-46E6-4D09-A74A-0093902E452A}"/>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3018" name="Footer Placeholder 4">
            <a:extLst>
              <a:ext uri="{FF2B5EF4-FFF2-40B4-BE49-F238E27FC236}">
                <a16:creationId xmlns:a16="http://schemas.microsoft.com/office/drawing/2014/main" id="{8BCEA7D4-62DB-4378-8B33-932FCAB50A1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36FA8C0B-A631-4F02-B9F2-9303F00EA1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F1D605-AC5A-4305-82E9-A3627C77BB93}" type="slidenum">
              <a:rPr lang="en-US" altLang="en-US"/>
              <a:pPr eaLnBrk="1" hangingPunct="1"/>
              <a:t>73</a:t>
            </a:fld>
            <a:endParaRPr lang="en-US" altLang="en-US"/>
          </a:p>
        </p:txBody>
      </p:sp>
      <p:sp>
        <p:nvSpPr>
          <p:cNvPr id="44035" name="Rectangle 2">
            <a:extLst>
              <a:ext uri="{FF2B5EF4-FFF2-40B4-BE49-F238E27FC236}">
                <a16:creationId xmlns:a16="http://schemas.microsoft.com/office/drawing/2014/main" id="{58CD1EBC-A952-46A0-8D77-038994CA043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4036" name="Rectangle 3">
            <a:extLst>
              <a:ext uri="{FF2B5EF4-FFF2-40B4-BE49-F238E27FC236}">
                <a16:creationId xmlns:a16="http://schemas.microsoft.com/office/drawing/2014/main" id="{54748CBE-FAA5-479E-A1C2-2ADD5AA6E74C}"/>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D6D427DD-DEB8-4AAC-8045-DD5465021502}"/>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4ACDB3E3-AD4B-4446-A28D-D56FB221911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5BEF0E91-BEA9-4086-9FF8-613ADA2A9A80}"/>
              </a:ext>
            </a:extLst>
          </p:cNvPr>
          <p:cNvSpPr>
            <a:spLocks noChangeArrowheads="1"/>
          </p:cNvSpPr>
          <p:nvPr/>
        </p:nvSpPr>
        <p:spPr bwMode="auto">
          <a:xfrm>
            <a:off x="457200" y="1143000"/>
            <a:ext cx="7467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Starting with the </a:t>
            </a:r>
            <a:r>
              <a:rPr lang="en-US" altLang="zh-CN" sz="2000" u="sng" dirty="0">
                <a:ea typeface="宋体" panose="02010600030101010101" pitchFamily="2" charset="-122"/>
              </a:rPr>
              <a:t>business logic/domain layer</a:t>
            </a:r>
            <a:r>
              <a:rPr lang="en-US" altLang="zh-CN" sz="2000" dirty="0">
                <a:ea typeface="宋体" panose="02010600030101010101" pitchFamily="2" charset="-122"/>
              </a:rPr>
              <a:t>, domain classes are selected and an initial design class diagram is drawn. </a:t>
            </a:r>
            <a:r>
              <a:rPr lang="zh-CN" altLang="en-US" sz="2000" dirty="0">
                <a:ea typeface="宋体" panose="02010600030101010101" pitchFamily="2" charset="-122"/>
              </a:rPr>
              <a:t>（从业务逻辑</a:t>
            </a:r>
            <a:r>
              <a:rPr lang="en-US" altLang="zh-CN" sz="2000" dirty="0">
                <a:ea typeface="宋体" panose="02010600030101010101" pitchFamily="2" charset="-122"/>
              </a:rPr>
              <a:t>/</a:t>
            </a:r>
            <a:r>
              <a:rPr lang="zh-CN" altLang="en-US" sz="2000" dirty="0">
                <a:ea typeface="宋体" panose="02010600030101010101" pitchFamily="2" charset="-122"/>
              </a:rPr>
              <a:t>领域层开始，选择领域类并绘制初始设计类图。）</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a:t>
            </a:r>
            <a:r>
              <a:rPr lang="en-US" altLang="zh-CN" sz="2000" u="sng" dirty="0">
                <a:ea typeface="宋体" panose="02010600030101010101" pitchFamily="2" charset="-122"/>
              </a:rPr>
              <a:t>systems sequence diagram (SSD) </a:t>
            </a:r>
            <a:r>
              <a:rPr lang="en-US" altLang="zh-CN" sz="2000" dirty="0">
                <a:ea typeface="宋体" panose="02010600030101010101" pitchFamily="2" charset="-122"/>
              </a:rPr>
              <a:t>from analysis is expanded by adding a </a:t>
            </a:r>
            <a:r>
              <a:rPr lang="en-US" altLang="zh-CN" sz="2000" u="sng" dirty="0">
                <a:ea typeface="宋体" panose="02010600030101010101" pitchFamily="2" charset="-122"/>
              </a:rPr>
              <a:t>use case controller </a:t>
            </a:r>
            <a:r>
              <a:rPr lang="en-US" altLang="zh-CN" sz="2000" dirty="0">
                <a:ea typeface="宋体" panose="02010600030101010101" pitchFamily="2" charset="-122"/>
              </a:rPr>
              <a:t>and then the </a:t>
            </a:r>
            <a:r>
              <a:rPr lang="en-US" altLang="zh-CN" sz="2000" u="sng" dirty="0">
                <a:ea typeface="宋体" panose="02010600030101010101" pitchFamily="2" charset="-122"/>
              </a:rPr>
              <a:t>domain classes </a:t>
            </a:r>
            <a:r>
              <a:rPr lang="en-US" altLang="zh-CN" sz="2000" dirty="0">
                <a:ea typeface="宋体" panose="02010600030101010101" pitchFamily="2" charset="-122"/>
              </a:rPr>
              <a:t>for the use case.</a:t>
            </a:r>
            <a:r>
              <a:rPr lang="zh-CN" altLang="en-US" sz="2000" dirty="0">
                <a:ea typeface="宋体" panose="02010600030101010101" pitchFamily="2" charset="-122"/>
              </a:rPr>
              <a:t>（系统顺序图</a:t>
            </a:r>
            <a:r>
              <a:rPr lang="en-US" altLang="zh-CN" sz="2000" dirty="0">
                <a:ea typeface="宋体" panose="02010600030101010101" pitchFamily="2" charset="-122"/>
              </a:rPr>
              <a:t>(SSD)</a:t>
            </a:r>
            <a:r>
              <a:rPr lang="zh-CN" altLang="en-US" sz="2000" dirty="0">
                <a:ea typeface="宋体" panose="02010600030101010101" pitchFamily="2" charset="-122"/>
              </a:rPr>
              <a:t>通过添加用例控制器和用例的域类来扩展。）</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u="sng" dirty="0">
                <a:ea typeface="宋体" panose="02010600030101010101" pitchFamily="2" charset="-122"/>
              </a:rPr>
              <a:t>Messages and returns are added to the sequence diagram </a:t>
            </a:r>
            <a:r>
              <a:rPr lang="en-US" altLang="zh-CN" sz="2000" dirty="0">
                <a:ea typeface="宋体" panose="02010600030101010101" pitchFamily="2" charset="-122"/>
              </a:rPr>
              <a:t>as responsibilities are assigned to each class.</a:t>
            </a:r>
            <a:r>
              <a:rPr lang="zh-CN" altLang="en-US" sz="2000" dirty="0">
                <a:ea typeface="宋体" panose="02010600030101010101" pitchFamily="2" charset="-122"/>
              </a:rPr>
              <a:t>（消息和返回被添加到顺序图中）</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design class diagram is then updated by </a:t>
            </a:r>
            <a:r>
              <a:rPr lang="en-US" altLang="zh-CN" sz="2000" u="sng" dirty="0">
                <a:ea typeface="宋体" panose="02010600030101010101" pitchFamily="2" charset="-122"/>
              </a:rPr>
              <a:t>adding methods to the classes</a:t>
            </a:r>
            <a:r>
              <a:rPr lang="en-US" altLang="zh-CN" sz="2000" dirty="0">
                <a:ea typeface="宋体" panose="02010600030101010101" pitchFamily="2" charset="-122"/>
              </a:rPr>
              <a:t> based on messages they receive and by updating navigation visibility.</a:t>
            </a:r>
            <a:r>
              <a:rPr lang="zh-CN" altLang="en-US" sz="2000" dirty="0">
                <a:ea typeface="宋体" panose="02010600030101010101" pitchFamily="2" charset="-122"/>
              </a:rPr>
              <a:t>（通过根据接收到的消息向类添加方法和更新导航可见性来更新设计类图）</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p:txBody>
      </p:sp>
      <p:sp>
        <p:nvSpPr>
          <p:cNvPr id="44040" name="Rectangle 4">
            <a:extLst>
              <a:ext uri="{FF2B5EF4-FFF2-40B4-BE49-F238E27FC236}">
                <a16:creationId xmlns:a16="http://schemas.microsoft.com/office/drawing/2014/main" id="{0BC3FDDA-B958-4DC4-BE08-55B69BBBFC5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4041" name="Footer Placeholder 4">
            <a:extLst>
              <a:ext uri="{FF2B5EF4-FFF2-40B4-BE49-F238E27FC236}">
                <a16:creationId xmlns:a16="http://schemas.microsoft.com/office/drawing/2014/main" id="{AEA3C47D-69F6-4BA8-B49C-27335D42362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36FA8C0B-A631-4F02-B9F2-9303F00EA1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F1D605-AC5A-4305-82E9-A3627C77BB93}" type="slidenum">
              <a:rPr lang="en-US" altLang="en-US"/>
              <a:pPr eaLnBrk="1" hangingPunct="1"/>
              <a:t>74</a:t>
            </a:fld>
            <a:endParaRPr lang="en-US" altLang="en-US"/>
          </a:p>
        </p:txBody>
      </p:sp>
      <p:sp>
        <p:nvSpPr>
          <p:cNvPr id="44035" name="Rectangle 2">
            <a:extLst>
              <a:ext uri="{FF2B5EF4-FFF2-40B4-BE49-F238E27FC236}">
                <a16:creationId xmlns:a16="http://schemas.microsoft.com/office/drawing/2014/main" id="{58CD1EBC-A952-46A0-8D77-038994CA043F}"/>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4036" name="Rectangle 3">
            <a:extLst>
              <a:ext uri="{FF2B5EF4-FFF2-40B4-BE49-F238E27FC236}">
                <a16:creationId xmlns:a16="http://schemas.microsoft.com/office/drawing/2014/main" id="{54748CBE-FAA5-479E-A1C2-2ADD5AA6E74C}"/>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4037" name="Rectangle 4">
            <a:extLst>
              <a:ext uri="{FF2B5EF4-FFF2-40B4-BE49-F238E27FC236}">
                <a16:creationId xmlns:a16="http://schemas.microsoft.com/office/drawing/2014/main" id="{D6D427DD-DEB8-4AAC-8045-DD5465021502}"/>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4038" name="Rectangle 5">
            <a:extLst>
              <a:ext uri="{FF2B5EF4-FFF2-40B4-BE49-F238E27FC236}">
                <a16:creationId xmlns:a16="http://schemas.microsoft.com/office/drawing/2014/main" id="{4ACDB3E3-AD4B-4446-A28D-D56FB221911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4039" name="Rectangle 7">
            <a:extLst>
              <a:ext uri="{FF2B5EF4-FFF2-40B4-BE49-F238E27FC236}">
                <a16:creationId xmlns:a16="http://schemas.microsoft.com/office/drawing/2014/main" id="{5BEF0E91-BEA9-4086-9FF8-613ADA2A9A80}"/>
              </a:ext>
            </a:extLst>
          </p:cNvPr>
          <p:cNvSpPr>
            <a:spLocks noChangeArrowheads="1"/>
          </p:cNvSpPr>
          <p:nvPr/>
        </p:nvSpPr>
        <p:spPr bwMode="auto">
          <a:xfrm>
            <a:off x="457200" y="1143000"/>
            <a:ext cx="7467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Simple use case might be left with two layers if the domain classes are responsible for database access. More complex systems add a data access layer as a third layer to handle database access</a:t>
            </a:r>
            <a:r>
              <a:rPr lang="zh-CN" altLang="en-US" sz="2000" dirty="0">
                <a:ea typeface="宋体" panose="02010600030101010101" pitchFamily="2" charset="-122"/>
              </a:rPr>
              <a:t>（如果域类负责数据库访问，那么简单的用例可能只剩下两层。更复杂的系统添加数据访问层作为第三层来处理数据库访问）</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view layer can also be added to the sequence diagram to show how multiple pages or forms interact with the use case controller.</a:t>
            </a:r>
            <a:r>
              <a:rPr lang="zh-CN" altLang="en-US" sz="2000" dirty="0">
                <a:ea typeface="宋体" panose="02010600030101010101" pitchFamily="2" charset="-122"/>
              </a:rPr>
              <a:t>（视图层还可以添加到顺序图中，以显示多个页面或表单如何与用例控制器交互）</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a:t>
            </a:r>
            <a:r>
              <a:rPr lang="en-US" altLang="zh-CN" sz="2000" u="sng" dirty="0">
                <a:ea typeface="宋体" panose="02010600030101010101" pitchFamily="2" charset="-122"/>
              </a:rPr>
              <a:t>UML communication diagram </a:t>
            </a:r>
            <a:r>
              <a:rPr lang="en-US" altLang="zh-CN" sz="2000" dirty="0">
                <a:ea typeface="宋体" panose="02010600030101010101" pitchFamily="2" charset="-122"/>
              </a:rPr>
              <a:t>is also used to design use case realization and it shows the same information as a sequence diagram.</a:t>
            </a:r>
            <a:r>
              <a:rPr lang="zh-CN" altLang="en-US" sz="2000" dirty="0">
                <a:ea typeface="宋体" panose="02010600030101010101" pitchFamily="2" charset="-122"/>
              </a:rPr>
              <a:t>（协作图也用于设计用例实现，它显示了与顺序图相同的信息。）</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endParaRPr lang="en-US" altLang="zh-CN" sz="2000" dirty="0">
              <a:ea typeface="宋体" panose="02010600030101010101" pitchFamily="2" charset="-122"/>
            </a:endParaRPr>
          </a:p>
        </p:txBody>
      </p:sp>
      <p:sp>
        <p:nvSpPr>
          <p:cNvPr id="44040" name="Rectangle 4">
            <a:extLst>
              <a:ext uri="{FF2B5EF4-FFF2-40B4-BE49-F238E27FC236}">
                <a16:creationId xmlns:a16="http://schemas.microsoft.com/office/drawing/2014/main" id="{0BC3FDDA-B958-4DC4-BE08-55B69BBBFC5F}"/>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4041" name="Footer Placeholder 4">
            <a:extLst>
              <a:ext uri="{FF2B5EF4-FFF2-40B4-BE49-F238E27FC236}">
                <a16:creationId xmlns:a16="http://schemas.microsoft.com/office/drawing/2014/main" id="{AEA3C47D-69F6-4BA8-B49C-27335D42362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11311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4AEC2A33-DD49-48D8-BBBC-2F8B931DD1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AB7359C-B812-4709-98D9-446F2BEFCC47}" type="slidenum">
              <a:rPr lang="en-US" altLang="en-US"/>
              <a:pPr eaLnBrk="1" hangingPunct="1"/>
              <a:t>75</a:t>
            </a:fld>
            <a:endParaRPr lang="en-US" altLang="en-US"/>
          </a:p>
        </p:txBody>
      </p:sp>
      <p:sp>
        <p:nvSpPr>
          <p:cNvPr id="45059" name="Rectangle 2">
            <a:extLst>
              <a:ext uri="{FF2B5EF4-FFF2-40B4-BE49-F238E27FC236}">
                <a16:creationId xmlns:a16="http://schemas.microsoft.com/office/drawing/2014/main" id="{182B88A1-6EF7-4EEA-ADBD-247877D42614}"/>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5060" name="Rectangle 3">
            <a:extLst>
              <a:ext uri="{FF2B5EF4-FFF2-40B4-BE49-F238E27FC236}">
                <a16:creationId xmlns:a16="http://schemas.microsoft.com/office/drawing/2014/main" id="{C52FC2C2-E7A3-4CD9-9C59-489EDCBD1677}"/>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5061" name="Rectangle 4">
            <a:extLst>
              <a:ext uri="{FF2B5EF4-FFF2-40B4-BE49-F238E27FC236}">
                <a16:creationId xmlns:a16="http://schemas.microsoft.com/office/drawing/2014/main" id="{25AF5FA0-D720-4193-B7DF-903467952D43}"/>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5062" name="Rectangle 5">
            <a:extLst>
              <a:ext uri="{FF2B5EF4-FFF2-40B4-BE49-F238E27FC236}">
                <a16:creationId xmlns:a16="http://schemas.microsoft.com/office/drawing/2014/main" id="{85ECDA86-6C1E-4C77-B7AA-D72914E2512E}"/>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5063" name="Rectangle 6">
            <a:extLst>
              <a:ext uri="{FF2B5EF4-FFF2-40B4-BE49-F238E27FC236}">
                <a16:creationId xmlns:a16="http://schemas.microsoft.com/office/drawing/2014/main" id="{BFC32362-0C42-4A80-83DB-1249BE9D3E2D}"/>
              </a:ext>
            </a:extLst>
          </p:cNvPr>
          <p:cNvSpPr>
            <a:spLocks noChangeArrowheads="1"/>
          </p:cNvSpPr>
          <p:nvPr/>
        </p:nvSpPr>
        <p:spPr bwMode="auto">
          <a:xfrm>
            <a:off x="457200" y="1295400"/>
            <a:ext cx="7467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000" dirty="0">
                <a:ea typeface="宋体" panose="02010600030101010101" pitchFamily="2" charset="-122"/>
              </a:rPr>
              <a:t>The </a:t>
            </a:r>
            <a:r>
              <a:rPr lang="en-US" altLang="zh-CN" sz="2000" u="sng" dirty="0">
                <a:ea typeface="宋体" panose="02010600030101010101" pitchFamily="2" charset="-122"/>
              </a:rPr>
              <a:t>UML package diagram </a:t>
            </a:r>
            <a:r>
              <a:rPr lang="en-US" altLang="zh-CN" sz="2000" dirty="0">
                <a:ea typeface="宋体" panose="02010600030101010101" pitchFamily="2" charset="-122"/>
              </a:rPr>
              <a:t>is used to structure the classes into packages, usually one package per layer. The package diagram can also be used to package layers into subsystems.</a:t>
            </a:r>
            <a:r>
              <a:rPr lang="zh-CN" altLang="en-US" sz="2000" dirty="0">
                <a:ea typeface="宋体" panose="02010600030101010101" pitchFamily="2" charset="-122"/>
              </a:rPr>
              <a:t>（</a:t>
            </a:r>
            <a:r>
              <a:rPr lang="en-US" altLang="zh-CN" sz="2000" dirty="0">
                <a:ea typeface="宋体" panose="02010600030101010101" pitchFamily="2" charset="-122"/>
              </a:rPr>
              <a:t>UML</a:t>
            </a:r>
            <a:r>
              <a:rPr lang="zh-CN" altLang="en-US" sz="2000" dirty="0">
                <a:ea typeface="宋体" panose="02010600030101010101" pitchFamily="2" charset="-122"/>
              </a:rPr>
              <a:t>包图用于将类构造成包，通常每层一个包。包图还可以用于将层打包到子系统中。）</a:t>
            </a:r>
            <a:endParaRPr lang="en-US" altLang="zh-CN" sz="20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000" u="sng" dirty="0">
                <a:ea typeface="宋体" panose="02010600030101010101" pitchFamily="2" charset="-122"/>
              </a:rPr>
              <a:t>Design patterns </a:t>
            </a:r>
            <a:r>
              <a:rPr lang="en-US" altLang="zh-CN" sz="2000" dirty="0">
                <a:ea typeface="宋体" panose="02010600030101010101" pitchFamily="2" charset="-122"/>
              </a:rPr>
              <a:t>are a standard solutions or templates that have proven to be effective approaches to handling design problems. The design patterns in this chapter include </a:t>
            </a:r>
            <a:r>
              <a:rPr lang="en-US" altLang="zh-CN" sz="2000" dirty="0">
                <a:solidFill>
                  <a:srgbClr val="C00000"/>
                </a:solidFill>
                <a:ea typeface="宋体" panose="02010600030101010101" pitchFamily="2" charset="-122"/>
              </a:rPr>
              <a:t>controller, adapter, factory, and singleton</a:t>
            </a:r>
            <a:r>
              <a:rPr lang="zh-CN" altLang="en-US" sz="2000" dirty="0">
                <a:solidFill>
                  <a:srgbClr val="C00000"/>
                </a:solidFill>
                <a:ea typeface="宋体" panose="02010600030101010101" pitchFamily="2" charset="-122"/>
              </a:rPr>
              <a:t>（设计模式是一种标准解决方案或模板，已被证明是处理设计问题的有效方法。本章的设计模式包括控制器、适配器、工厂和单例模式）</a:t>
            </a:r>
            <a:endParaRPr lang="en-US" altLang="zh-CN" sz="2000" dirty="0">
              <a:solidFill>
                <a:srgbClr val="C00000"/>
              </a:solidFill>
              <a:ea typeface="宋体" panose="02010600030101010101" pitchFamily="2" charset="-122"/>
            </a:endParaRPr>
          </a:p>
        </p:txBody>
      </p:sp>
      <p:sp>
        <p:nvSpPr>
          <p:cNvPr id="45064" name="Rectangle 4">
            <a:extLst>
              <a:ext uri="{FF2B5EF4-FFF2-40B4-BE49-F238E27FC236}">
                <a16:creationId xmlns:a16="http://schemas.microsoft.com/office/drawing/2014/main" id="{F18BBBCC-1732-4556-9015-B7DF9901A8B9}"/>
              </a:ext>
            </a:extLst>
          </p:cNvPr>
          <p:cNvSpPr>
            <a:spLocks noChangeArrowheads="1"/>
          </p:cNvSpPr>
          <p:nvPr/>
        </p:nvSpPr>
        <p:spPr bwMode="auto">
          <a:xfrm>
            <a:off x="7620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5065" name="Footer Placeholder 4">
            <a:extLst>
              <a:ext uri="{FF2B5EF4-FFF2-40B4-BE49-F238E27FC236}">
                <a16:creationId xmlns:a16="http://schemas.microsoft.com/office/drawing/2014/main" id="{2008CB8D-144E-4D93-B78D-018AFAACFC5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14321</TotalTime>
  <Words>14724</Words>
  <Application>Microsoft Office PowerPoint</Application>
  <PresentationFormat>全屏显示(4:3)</PresentationFormat>
  <Paragraphs>994</Paragraphs>
  <Slides>75</Slides>
  <Notes>70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85" baseType="lpstr">
      <vt:lpstr>等线</vt:lpstr>
      <vt:lpstr>Microsoft Yahei</vt:lpstr>
      <vt:lpstr>PingFang SC</vt:lpstr>
      <vt:lpstr>宋体</vt:lpstr>
      <vt:lpstr>Arial</vt:lpstr>
      <vt:lpstr>Arial Black</vt:lpstr>
      <vt:lpstr>Times New Roman</vt:lpstr>
      <vt:lpstr>Wingdings</vt:lpstr>
      <vt:lpstr>Network</vt:lpstr>
      <vt:lpstr>Bitmap Image</vt:lpstr>
      <vt:lpstr>PowerPoint 演示文稿</vt:lpstr>
      <vt:lpstr>Object-Oriented Design:  Use Case Realizations</vt:lpstr>
      <vt:lpstr>Chapter 11 Object-Oriented Design:  Use Case Realizations</vt:lpstr>
      <vt:lpstr>Learning Objectives</vt:lpstr>
      <vt:lpstr>Learning Objectives</vt:lpstr>
      <vt:lpstr>Chapter 11 Outline</vt:lpstr>
      <vt:lpstr>Detailed Design of Multilayer Systems</vt:lpstr>
      <vt:lpstr>Design Patterns</vt:lpstr>
      <vt:lpstr>Design Patterns</vt:lpstr>
      <vt:lpstr>Factory Design Pattern （工厂模式）</vt:lpstr>
      <vt:lpstr>Factory Design Pattern （工厂模式）</vt:lpstr>
      <vt:lpstr>Singleton Design Pattern （单例）</vt:lpstr>
      <vt:lpstr>Singleton Design Pattern （单例）</vt:lpstr>
      <vt:lpstr>Singleton Design Pattern （单例）</vt:lpstr>
      <vt:lpstr>Design Patterns</vt:lpstr>
      <vt:lpstr>Adapter  Design Pattern 适配器</vt:lpstr>
      <vt:lpstr>Adapter  Design Pattern 适配器</vt:lpstr>
      <vt:lpstr>Design Patterns</vt:lpstr>
      <vt:lpstr>Design Patterns</vt:lpstr>
      <vt:lpstr>Controller Pattern 控制器模式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First step toward multilayer architecture    More design patterns are at the end of the chapter  </vt:lpstr>
      <vt:lpstr>Controller Pattern  </vt:lpstr>
      <vt:lpstr>Design Patterns</vt:lpstr>
      <vt:lpstr>Design Patterns</vt:lpstr>
      <vt:lpstr>Chapter 11 Outline</vt:lpstr>
      <vt:lpstr>Use Case Realization with Sequence Diagrams</vt:lpstr>
      <vt:lpstr>Use Case Realization with Sequence Diagrams</vt:lpstr>
      <vt:lpstr>Start with System Sequence Diagram (SSD)   Use case Create customer account </vt:lpstr>
      <vt:lpstr>Sequence Diagram to show View Layer and Part of Problem Domain Layer</vt:lpstr>
      <vt:lpstr>Sequence Diagram to show View Layer and Part of Problem Domain Layer</vt:lpstr>
      <vt:lpstr>Notes of Expanded Sequence Diagram （扩展顺序图注意事项）</vt:lpstr>
      <vt:lpstr>Notes of Expanded Sequence Diagram （扩展顺序图注意事项）</vt:lpstr>
      <vt:lpstr>Overview of Detailed Design Steps Shown previously in Chapter 10</vt:lpstr>
      <vt:lpstr>Overview of Detailed Design Steps Shown previously in Chapter 10</vt:lpstr>
      <vt:lpstr>Create Customer Account Use Case  Start with domain model for Customer Account Subsystem (客户账户子系统)</vt:lpstr>
      <vt:lpstr>Create Customer Account Use Case  First cut design class diagram for use case  Select needed classes, elaborate attributes, add controller, and add navigation visibility 选择需要的类、精细的属性、添加控制器和添加导航可见性 </vt:lpstr>
      <vt:lpstr>Create Customer Account Use Case  First cut sequence diagram expanding SSD, adding controller, and adding needed classes</vt:lpstr>
      <vt:lpstr>Create Customer Account Use Case  Add messages and activation to complete collaboration  This is just the domain layer  These domain classes handle data access, so this is a two layer architecture</vt:lpstr>
      <vt:lpstr>Create Customer Account Use Case  Add messages and activation to complete collaboration  This is just the domain layer  These domain classes handle data access, so this is a two layer architecture</vt:lpstr>
      <vt:lpstr>Create Customer Account Use Case  Add messages and activation to complete collaboration  This is just the domain layer  These domain classes handle data access, so this is a two layer architecture</vt:lpstr>
      <vt:lpstr>PowerPoint 演示文稿</vt:lpstr>
      <vt:lpstr>PowerPoint 演示文稿</vt:lpstr>
      <vt:lpstr>PowerPoint 演示文稿</vt:lpstr>
      <vt:lpstr>PowerPoint 演示文稿</vt:lpstr>
      <vt:lpstr>PowerPoint 演示文稿</vt:lpstr>
      <vt:lpstr>Fill Shopping Cart Use Case  Start with domain layer based on activity diagram and then SSD （从基于活动图的域层开始，然后是系统顺序图）</vt:lpstr>
      <vt:lpstr>Fill Shopping Cart Use Case  Start with domain layer based on activity diagram and then SSD</vt:lpstr>
      <vt:lpstr>Fill Shopping Cart Use Case  First cut design class diagram  Select classes, elaborate attributes, add navigation visibility</vt:lpstr>
      <vt:lpstr>Fill Shopping Cart Use Case  First cut sequence diagram for domain layer. Will be three layer architecture.   :CartHandler is controller, other domain classes are included.  Note loop frame for adding each item to cart. The SSD used * notation（循环）</vt:lpstr>
      <vt:lpstr>PowerPoint 演示文稿</vt:lpstr>
      <vt:lpstr>Assumptions</vt:lpstr>
      <vt:lpstr>Assumptions</vt:lpstr>
      <vt:lpstr>Developing a Multilayer Design</vt:lpstr>
      <vt:lpstr>Adding Data Access Layer  Fill shopping Cart use case</vt:lpstr>
      <vt:lpstr>Data Access Notes</vt:lpstr>
      <vt:lpstr>Adding View Layer  Fill shopping Cart use case  Sequence diagram just shows View interaction with the controller  View classes don’t need to even know about the domain or data access layer</vt:lpstr>
      <vt:lpstr>Chapter 11 Outline</vt:lpstr>
      <vt:lpstr>Designing with UML Communication Diagrams</vt:lpstr>
      <vt:lpstr>Communication Diagram for Fill Shopping Cart Use Case</vt:lpstr>
      <vt:lpstr>Chapter 11 Outline</vt:lpstr>
      <vt:lpstr>Updating the Design Classes</vt:lpstr>
      <vt:lpstr>Updated Design Class Diagram for Domain Layer   After Create customer account use case and Fill shopping cart use case  完整的设计类图</vt:lpstr>
      <vt:lpstr>Structuring Components with UML Package Diagram   Three layer package diagram after two RMO use cases  Dashed line is dependency （包图使用的另一个符号是虚线箭头，它表示依赖关系）  Note: Java package or .NET namespace</vt:lpstr>
      <vt:lpstr>RMO Subsystem Package Diagram</vt:lpstr>
      <vt:lpstr>Implementation Issues  Three Layer Design</vt:lpstr>
      <vt:lpstr>Implementation Issues  Three Layer Design</vt:lpstr>
      <vt:lpstr>Implementation Issues  Three Layer Design</vt:lpstr>
      <vt:lpstr>Summary</vt:lpstr>
      <vt:lpstr>Summary (continued)</vt:lpstr>
      <vt:lpstr>Summary (continued)</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ys h</cp:lastModifiedBy>
  <cp:revision>242</cp:revision>
  <cp:lastPrinted>1601-01-01T00:00:00Z</cp:lastPrinted>
  <dcterms:created xsi:type="dcterms:W3CDTF">2011-10-31T16:54:53Z</dcterms:created>
  <dcterms:modified xsi:type="dcterms:W3CDTF">2026-06-08T03:23:42Z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