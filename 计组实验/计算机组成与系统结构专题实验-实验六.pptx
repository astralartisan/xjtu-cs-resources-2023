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4">
  <p:sldMasterIdLst>
    <p:sldMasterId id="2147483658" r:id="rId1"/>
  </p:sldMasterIdLst>
  <p:notesMasterIdLst>
    <p:notesMasterId r:id="rId31"/>
  </p:notesMasterIdLst>
  <p:handoutMasterIdLst>
    <p:handoutMasterId r:id="rId32"/>
  </p:handoutMasterIdLst>
  <p:sldIdLst>
    <p:sldId id="731" r:id="rId2"/>
    <p:sldId id="1505" r:id="rId3"/>
    <p:sldId id="1699" r:id="rId4"/>
    <p:sldId id="1702" r:id="rId5"/>
    <p:sldId id="1703" r:id="rId6"/>
    <p:sldId id="1704" r:id="rId7"/>
    <p:sldId id="1705" r:id="rId8"/>
    <p:sldId id="1701" r:id="rId9"/>
    <p:sldId id="1706" r:id="rId10"/>
    <p:sldId id="1707" r:id="rId11"/>
    <p:sldId id="1708" r:id="rId12"/>
    <p:sldId id="1709" r:id="rId13"/>
    <p:sldId id="1710" r:id="rId14"/>
    <p:sldId id="1711" r:id="rId15"/>
    <p:sldId id="1712" r:id="rId16"/>
    <p:sldId id="1713" r:id="rId17"/>
    <p:sldId id="1714" r:id="rId18"/>
    <p:sldId id="1715" r:id="rId19"/>
    <p:sldId id="1723" r:id="rId20"/>
    <p:sldId id="1716" r:id="rId21"/>
    <p:sldId id="1717" r:id="rId22"/>
    <p:sldId id="1680" r:id="rId23"/>
    <p:sldId id="1681" r:id="rId24"/>
    <p:sldId id="1682" r:id="rId25"/>
    <p:sldId id="1683" r:id="rId26"/>
    <p:sldId id="1684" r:id="rId27"/>
    <p:sldId id="1697" r:id="rId28"/>
    <p:sldId id="1700" r:id="rId29"/>
    <p:sldId id="1352" r:id="rId30"/>
  </p:sldIdLst>
  <p:sldSz cx="12192000" cy="6858000"/>
  <p:notesSz cx="6761163" cy="99425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483" userDrawn="1">
          <p15:clr>
            <a:srgbClr val="A4A3A4"/>
          </p15:clr>
        </p15:guide>
        <p15:guide id="3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{505F2C04-C923-438B-8C0F-E0CD2BADF298}">
      <wppc:fontMiss xmlns="" xmlns:wppc="http://www.wps.cn/officeDocument/PresentationCustomData" type="true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>
    <p:extLst>
      <p:ext uri="{19B8F6BF-5375-455C-9EA6-DF929625EA0E}">
        <p15:presenceInfo xmlns:p15="http://schemas.microsoft.com/office/powerpoint/2012/main" userId="Adm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69BD"/>
    <a:srgbClr val="E87E04"/>
    <a:srgbClr val="1557AE"/>
    <a:srgbClr val="E97C30"/>
    <a:srgbClr val="3A97D7"/>
    <a:srgbClr val="FFC000"/>
    <a:srgbClr val="1F4E79"/>
    <a:srgbClr val="0070C0"/>
    <a:srgbClr val="2E75B6"/>
    <a:srgbClr val="872E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379" autoAdjust="0"/>
  </p:normalViewPr>
  <p:slideViewPr>
    <p:cSldViewPr snapToGrid="0">
      <p:cViewPr varScale="1">
        <p:scale>
          <a:sx n="121" d="100"/>
          <a:sy n="121" d="100"/>
        </p:scale>
        <p:origin x="108" y="150"/>
      </p:cViewPr>
      <p:guideLst>
        <p:guide pos="483"/>
        <p:guide orient="horz" pos="2160"/>
      </p:guideLst>
    </p:cSldViewPr>
  </p:slideViewPr>
  <p:outlineViewPr>
    <p:cViewPr>
      <p:scale>
        <a:sx n="33" d="100"/>
        <a:sy n="33" d="100"/>
      </p:scale>
      <p:origin x="0" y="-7743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8" d="100"/>
          <a:sy n="78" d="100"/>
        </p:scale>
        <p:origin x="295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0A1BC1-FA36-405A-84E5-2ECB11F24F06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F20590-9981-46CC-AF13-22488216DE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10474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489580-3797-4DA2-9E4E-24E61D4E80CF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CF47CB-3076-4026-8B18-63F39C6D1F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905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8463" y="1243013"/>
            <a:ext cx="5964237" cy="33559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47CB-3076-4026-8B18-63F39C6D1FF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4999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1897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5369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7730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3076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141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017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5022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409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8396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419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08061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000" y="72000"/>
            <a:ext cx="3333421" cy="1085040"/>
          </a:xfrm>
          <a:prstGeom prst="rect">
            <a:avLst/>
          </a:prstGeom>
        </p:spPr>
      </p:pic>
      <p:pic>
        <p:nvPicPr>
          <p:cNvPr id="18" name="Picture 4"/>
          <p:cNvPicPr>
            <a:picLocks noChangeAspect="1" noChangeArrowheads="1"/>
          </p:cNvPicPr>
          <p:nvPr userDrawn="1"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94" r="23326" b="24977"/>
          <a:stretch>
            <a:fillRect/>
          </a:stretch>
        </p:blipFill>
        <p:spPr bwMode="auto">
          <a:xfrm>
            <a:off x="8802168" y="4075114"/>
            <a:ext cx="3389833" cy="278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738675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 userDrawn="1"/>
        </p:nvGrpSpPr>
        <p:grpSpPr>
          <a:xfrm>
            <a:off x="247081" y="196644"/>
            <a:ext cx="434909" cy="335109"/>
            <a:chOff x="3976261" y="3892343"/>
            <a:chExt cx="326182" cy="335109"/>
          </a:xfrm>
        </p:grpSpPr>
        <p:sp>
          <p:nvSpPr>
            <p:cNvPr id="17" name="六边形 16"/>
            <p:cNvSpPr/>
            <p:nvPr/>
          </p:nvSpPr>
          <p:spPr>
            <a:xfrm>
              <a:off x="3976261" y="3892343"/>
              <a:ext cx="122099" cy="106837"/>
            </a:xfrm>
            <a:prstGeom prst="hexag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8" name="六边形 17"/>
            <p:cNvSpPr/>
            <p:nvPr/>
          </p:nvSpPr>
          <p:spPr>
            <a:xfrm>
              <a:off x="3976261" y="4005288"/>
              <a:ext cx="122099" cy="106837"/>
            </a:xfrm>
            <a:prstGeom prst="hexag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9" name="六边形 18"/>
            <p:cNvSpPr/>
            <p:nvPr/>
          </p:nvSpPr>
          <p:spPr>
            <a:xfrm>
              <a:off x="3976261" y="4120615"/>
              <a:ext cx="122099" cy="106837"/>
            </a:xfrm>
            <a:prstGeom prst="hexag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20" name="六边形 19"/>
            <p:cNvSpPr/>
            <p:nvPr/>
          </p:nvSpPr>
          <p:spPr>
            <a:xfrm>
              <a:off x="4078302" y="3945761"/>
              <a:ext cx="122099" cy="106837"/>
            </a:xfrm>
            <a:prstGeom prst="hexag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21" name="六边形 20"/>
            <p:cNvSpPr/>
            <p:nvPr/>
          </p:nvSpPr>
          <p:spPr>
            <a:xfrm>
              <a:off x="4078302" y="4060570"/>
              <a:ext cx="122099" cy="106837"/>
            </a:xfrm>
            <a:prstGeom prst="hexag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22" name="六边形 21"/>
            <p:cNvSpPr/>
            <p:nvPr/>
          </p:nvSpPr>
          <p:spPr>
            <a:xfrm>
              <a:off x="4180344" y="4003942"/>
              <a:ext cx="122099" cy="106837"/>
            </a:xfrm>
            <a:prstGeom prst="hexag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pic>
        <p:nvPicPr>
          <p:cNvPr id="12" name="Picture 4"/>
          <p:cNvPicPr>
            <a:picLocks noChangeAspect="1" noChangeArrowheads="1"/>
          </p:cNvPicPr>
          <p:nvPr userDrawn="1"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94" r="23326" b="24977"/>
          <a:stretch>
            <a:fillRect/>
          </a:stretch>
        </p:blipFill>
        <p:spPr bwMode="auto">
          <a:xfrm>
            <a:off x="8964538" y="4075114"/>
            <a:ext cx="3227463" cy="278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组合 3"/>
          <p:cNvGrpSpPr/>
          <p:nvPr userDrawn="1"/>
        </p:nvGrpSpPr>
        <p:grpSpPr>
          <a:xfrm>
            <a:off x="-8" y="6171726"/>
            <a:ext cx="12192003" cy="688395"/>
            <a:chOff x="-6" y="6127335"/>
            <a:chExt cx="9144002" cy="688395"/>
          </a:xfrm>
        </p:grpSpPr>
        <p:sp>
          <p:nvSpPr>
            <p:cNvPr id="13" name="流程图: 过程 12"/>
            <p:cNvSpPr/>
            <p:nvPr userDrawn="1"/>
          </p:nvSpPr>
          <p:spPr>
            <a:xfrm rot="5400000">
              <a:off x="4391995" y="2063729"/>
              <a:ext cx="360000" cy="9144001"/>
            </a:xfrm>
            <a:prstGeom prst="flowChartProcess">
              <a:avLst/>
            </a:prstGeom>
            <a:solidFill>
              <a:srgbClr val="1557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grpSp>
          <p:nvGrpSpPr>
            <p:cNvPr id="3" name="组合 2"/>
            <p:cNvGrpSpPr/>
            <p:nvPr userDrawn="1"/>
          </p:nvGrpSpPr>
          <p:grpSpPr>
            <a:xfrm>
              <a:off x="7551964" y="6127335"/>
              <a:ext cx="1592032" cy="351994"/>
              <a:chOff x="7551964" y="6145091"/>
              <a:chExt cx="1592032" cy="351994"/>
            </a:xfrm>
          </p:grpSpPr>
          <p:sp>
            <p:nvSpPr>
              <p:cNvPr id="14" name="流程图: 过程 8"/>
              <p:cNvSpPr/>
              <p:nvPr userDrawn="1"/>
            </p:nvSpPr>
            <p:spPr>
              <a:xfrm rot="5400000" flipH="1">
                <a:off x="8184229" y="5512826"/>
                <a:ext cx="327501" cy="1592032"/>
              </a:xfrm>
              <a:custGeom>
                <a:avLst/>
                <a:gdLst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10000 w 10000"/>
                  <a:gd name="connsiteY2" fmla="*/ 10000 h 10000"/>
                  <a:gd name="connsiteX3" fmla="*/ 0 w 10000"/>
                  <a:gd name="connsiteY3" fmla="*/ 10000 h 10000"/>
                  <a:gd name="connsiteX4" fmla="*/ 0 w 10000"/>
                  <a:gd name="connsiteY4" fmla="*/ 0 h 10000"/>
                  <a:gd name="connsiteX0-1" fmla="*/ 0 w 10000"/>
                  <a:gd name="connsiteY0-2" fmla="*/ 0 h 10000"/>
                  <a:gd name="connsiteX1-3" fmla="*/ 10000 w 10000"/>
                  <a:gd name="connsiteY1-4" fmla="*/ 0 h 10000"/>
                  <a:gd name="connsiteX2-5" fmla="*/ 9474 w 10000"/>
                  <a:gd name="connsiteY2-6" fmla="*/ 9062 h 10000"/>
                  <a:gd name="connsiteX3-7" fmla="*/ 0 w 10000"/>
                  <a:gd name="connsiteY3-8" fmla="*/ 10000 h 10000"/>
                  <a:gd name="connsiteX4-9" fmla="*/ 0 w 10000"/>
                  <a:gd name="connsiteY4-10" fmla="*/ 0 h 10000"/>
                  <a:gd name="connsiteX0-11" fmla="*/ 0 w 10075"/>
                  <a:gd name="connsiteY0-12" fmla="*/ 0 h 10000"/>
                  <a:gd name="connsiteX1-13" fmla="*/ 10000 w 10075"/>
                  <a:gd name="connsiteY1-14" fmla="*/ 0 h 10000"/>
                  <a:gd name="connsiteX2-15" fmla="*/ 10028 w 10075"/>
                  <a:gd name="connsiteY2-16" fmla="*/ 8891 h 10000"/>
                  <a:gd name="connsiteX3-17" fmla="*/ 0 w 10075"/>
                  <a:gd name="connsiteY3-18" fmla="*/ 10000 h 10000"/>
                  <a:gd name="connsiteX4-19" fmla="*/ 0 w 10075"/>
                  <a:gd name="connsiteY4-20" fmla="*/ 0 h 10000"/>
                  <a:gd name="connsiteX0-21" fmla="*/ 0 w 10335"/>
                  <a:gd name="connsiteY0-22" fmla="*/ 0 h 10000"/>
                  <a:gd name="connsiteX1-23" fmla="*/ 10000 w 10335"/>
                  <a:gd name="connsiteY1-24" fmla="*/ 0 h 10000"/>
                  <a:gd name="connsiteX2-25" fmla="*/ 10305 w 10335"/>
                  <a:gd name="connsiteY2-26" fmla="*/ 8891 h 10000"/>
                  <a:gd name="connsiteX3-27" fmla="*/ 0 w 10335"/>
                  <a:gd name="connsiteY3-28" fmla="*/ 10000 h 10000"/>
                  <a:gd name="connsiteX4-29" fmla="*/ 0 w 10335"/>
                  <a:gd name="connsiteY4-30" fmla="*/ 0 h 10000"/>
                  <a:gd name="connsiteX0-31" fmla="*/ 0 w 10000"/>
                  <a:gd name="connsiteY0-32" fmla="*/ 0 h 10000"/>
                  <a:gd name="connsiteX1-33" fmla="*/ 10000 w 10000"/>
                  <a:gd name="connsiteY1-34" fmla="*/ 0 h 10000"/>
                  <a:gd name="connsiteX2-35" fmla="*/ 9751 w 10000"/>
                  <a:gd name="connsiteY2-36" fmla="*/ 9062 h 10000"/>
                  <a:gd name="connsiteX3-37" fmla="*/ 0 w 10000"/>
                  <a:gd name="connsiteY3-38" fmla="*/ 10000 h 10000"/>
                  <a:gd name="connsiteX4-39" fmla="*/ 0 w 10000"/>
                  <a:gd name="connsiteY4-40" fmla="*/ 0 h 1000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10000" h="10000">
                    <a:moveTo>
                      <a:pt x="0" y="0"/>
                    </a:moveTo>
                    <a:lnTo>
                      <a:pt x="10000" y="0"/>
                    </a:lnTo>
                    <a:cubicBezTo>
                      <a:pt x="9825" y="3021"/>
                      <a:pt x="9926" y="6041"/>
                      <a:pt x="9751" y="9062"/>
                    </a:cubicBezTo>
                    <a:lnTo>
                      <a:pt x="0" y="100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557A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pic>
            <p:nvPicPr>
              <p:cNvPr id="15" name="图片 14"/>
              <p:cNvPicPr>
                <a:picLocks noChangeAspect="1"/>
              </p:cNvPicPr>
              <p:nvPr userDrawn="1"/>
            </p:nvPicPr>
            <p:blipFill rotWithShape="1">
              <a:blip r:embed="rId3" cstate="print">
                <a:biLevel thresh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77926" r="53951"/>
              <a:stretch>
                <a:fillRect/>
              </a:stretch>
            </p:blipFill>
            <p:spPr>
              <a:xfrm>
                <a:off x="7829550" y="6186030"/>
                <a:ext cx="1154166" cy="311055"/>
              </a:xfrm>
              <a:prstGeom prst="rect">
                <a:avLst/>
              </a:prstGeom>
            </p:spPr>
          </p:pic>
        </p:grpSp>
      </p:grpSp>
      <p:sp>
        <p:nvSpPr>
          <p:cNvPr id="24" name="文本框 23"/>
          <p:cNvSpPr txBox="1"/>
          <p:nvPr userDrawn="1"/>
        </p:nvSpPr>
        <p:spPr>
          <a:xfrm>
            <a:off x="774700" y="138784"/>
            <a:ext cx="14638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0760511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/>
          <p:nvPr userDrawn="1"/>
        </p:nvSpPr>
        <p:spPr>
          <a:xfrm rot="16200000">
            <a:off x="454177" y="-19430"/>
            <a:ext cx="812329" cy="1066991"/>
          </a:xfrm>
          <a:custGeom>
            <a:avLst/>
            <a:gdLst>
              <a:gd name="connsiteX0" fmla="*/ 0 w 661307"/>
              <a:gd name="connsiteY0" fmla="*/ 0 h 726621"/>
              <a:gd name="connsiteX1" fmla="*/ 661307 w 661307"/>
              <a:gd name="connsiteY1" fmla="*/ 0 h 726621"/>
              <a:gd name="connsiteX2" fmla="*/ 661307 w 661307"/>
              <a:gd name="connsiteY2" fmla="*/ 726621 h 726621"/>
              <a:gd name="connsiteX3" fmla="*/ 0 w 661307"/>
              <a:gd name="connsiteY3" fmla="*/ 726621 h 726621"/>
              <a:gd name="connsiteX4" fmla="*/ 0 w 661307"/>
              <a:gd name="connsiteY4" fmla="*/ 0 h 726621"/>
              <a:gd name="connsiteX0-1" fmla="*/ 0 w 661307"/>
              <a:gd name="connsiteY0-2" fmla="*/ 0 h 726621"/>
              <a:gd name="connsiteX1-3" fmla="*/ 661307 w 661307"/>
              <a:gd name="connsiteY1-4" fmla="*/ 0 h 726621"/>
              <a:gd name="connsiteX2-5" fmla="*/ 661307 w 661307"/>
              <a:gd name="connsiteY2-6" fmla="*/ 726621 h 726621"/>
              <a:gd name="connsiteX3-7" fmla="*/ 326571 w 661307"/>
              <a:gd name="connsiteY3-8" fmla="*/ 718457 h 726621"/>
              <a:gd name="connsiteX4-9" fmla="*/ 0 w 661307"/>
              <a:gd name="connsiteY4-10" fmla="*/ 726621 h 726621"/>
              <a:gd name="connsiteX5" fmla="*/ 0 w 661307"/>
              <a:gd name="connsiteY5" fmla="*/ 0 h 726621"/>
              <a:gd name="connsiteX0-11" fmla="*/ 0 w 661307"/>
              <a:gd name="connsiteY0-12" fmla="*/ 0 h 898071"/>
              <a:gd name="connsiteX1-13" fmla="*/ 661307 w 661307"/>
              <a:gd name="connsiteY1-14" fmla="*/ 0 h 898071"/>
              <a:gd name="connsiteX2-15" fmla="*/ 661307 w 661307"/>
              <a:gd name="connsiteY2-16" fmla="*/ 726621 h 898071"/>
              <a:gd name="connsiteX3-17" fmla="*/ 351063 w 661307"/>
              <a:gd name="connsiteY3-18" fmla="*/ 898071 h 898071"/>
              <a:gd name="connsiteX4-19" fmla="*/ 0 w 661307"/>
              <a:gd name="connsiteY4-20" fmla="*/ 726621 h 898071"/>
              <a:gd name="connsiteX5-21" fmla="*/ 0 w 661307"/>
              <a:gd name="connsiteY5-22" fmla="*/ 0 h 898071"/>
              <a:gd name="connsiteX0-23" fmla="*/ 0 w 661307"/>
              <a:gd name="connsiteY0-24" fmla="*/ 0 h 898071"/>
              <a:gd name="connsiteX1-25" fmla="*/ 661307 w 661307"/>
              <a:gd name="connsiteY1-26" fmla="*/ 0 h 898071"/>
              <a:gd name="connsiteX2-27" fmla="*/ 661307 w 661307"/>
              <a:gd name="connsiteY2-28" fmla="*/ 726621 h 898071"/>
              <a:gd name="connsiteX3-29" fmla="*/ 318406 w 661307"/>
              <a:gd name="connsiteY3-30" fmla="*/ 898071 h 898071"/>
              <a:gd name="connsiteX4-31" fmla="*/ 0 w 661307"/>
              <a:gd name="connsiteY4-32" fmla="*/ 726621 h 898071"/>
              <a:gd name="connsiteX5-33" fmla="*/ 0 w 661307"/>
              <a:gd name="connsiteY5-34" fmla="*/ 0 h 898071"/>
              <a:gd name="connsiteX0-35" fmla="*/ 0 w 661307"/>
              <a:gd name="connsiteY0-36" fmla="*/ 0 h 898071"/>
              <a:gd name="connsiteX1-37" fmla="*/ 661307 w 661307"/>
              <a:gd name="connsiteY1-38" fmla="*/ 0 h 898071"/>
              <a:gd name="connsiteX2-39" fmla="*/ 661307 w 661307"/>
              <a:gd name="connsiteY2-40" fmla="*/ 726621 h 898071"/>
              <a:gd name="connsiteX3-41" fmla="*/ 310242 w 661307"/>
              <a:gd name="connsiteY3-42" fmla="*/ 898071 h 898071"/>
              <a:gd name="connsiteX4-43" fmla="*/ 0 w 661307"/>
              <a:gd name="connsiteY4-44" fmla="*/ 726621 h 898071"/>
              <a:gd name="connsiteX5-45" fmla="*/ 0 w 661307"/>
              <a:gd name="connsiteY5-46" fmla="*/ 0 h 898071"/>
              <a:gd name="connsiteX0-47" fmla="*/ 0 w 661307"/>
              <a:gd name="connsiteY0-48" fmla="*/ 0 h 898071"/>
              <a:gd name="connsiteX1-49" fmla="*/ 661307 w 661307"/>
              <a:gd name="connsiteY1-50" fmla="*/ 0 h 898071"/>
              <a:gd name="connsiteX2-51" fmla="*/ 661307 w 661307"/>
              <a:gd name="connsiteY2-52" fmla="*/ 726621 h 898071"/>
              <a:gd name="connsiteX3-53" fmla="*/ 331673 w 661307"/>
              <a:gd name="connsiteY3-54" fmla="*/ 898071 h 898071"/>
              <a:gd name="connsiteX4-55" fmla="*/ 0 w 661307"/>
              <a:gd name="connsiteY4-56" fmla="*/ 726621 h 898071"/>
              <a:gd name="connsiteX5-57" fmla="*/ 0 w 661307"/>
              <a:gd name="connsiteY5-58" fmla="*/ 0 h 89807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</a:cxnLst>
            <a:rect l="l" t="t" r="r" b="b"/>
            <a:pathLst>
              <a:path w="661307" h="898071">
                <a:moveTo>
                  <a:pt x="0" y="0"/>
                </a:moveTo>
                <a:lnTo>
                  <a:pt x="661307" y="0"/>
                </a:lnTo>
                <a:lnTo>
                  <a:pt x="661307" y="726621"/>
                </a:lnTo>
                <a:lnTo>
                  <a:pt x="331673" y="898071"/>
                </a:lnTo>
                <a:lnTo>
                  <a:pt x="0" y="726621"/>
                </a:lnTo>
                <a:lnTo>
                  <a:pt x="0" y="0"/>
                </a:lnTo>
                <a:close/>
              </a:path>
            </a:pathLst>
          </a:custGeom>
          <a:solidFill>
            <a:srgbClr val="1557AE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939" r="87942"/>
          <a:stretch>
            <a:fillRect/>
          </a:stretch>
        </p:blipFill>
        <p:spPr>
          <a:xfrm>
            <a:off x="394816" y="195665"/>
            <a:ext cx="825512" cy="636802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95912" y="107902"/>
            <a:ext cx="150523" cy="812329"/>
          </a:xfrm>
          <a:prstGeom prst="rect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5" name="流程图: 过程 8"/>
          <p:cNvSpPr/>
          <p:nvPr userDrawn="1"/>
        </p:nvSpPr>
        <p:spPr>
          <a:xfrm rot="5400000" flipH="1">
            <a:off x="10236874" y="4902521"/>
            <a:ext cx="324399" cy="3585852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-1" fmla="*/ 0 w 10000"/>
              <a:gd name="connsiteY0-2" fmla="*/ 0 h 10000"/>
              <a:gd name="connsiteX1-3" fmla="*/ 10000 w 10000"/>
              <a:gd name="connsiteY1-4" fmla="*/ 0 h 10000"/>
              <a:gd name="connsiteX2-5" fmla="*/ 9474 w 10000"/>
              <a:gd name="connsiteY2-6" fmla="*/ 9062 h 10000"/>
              <a:gd name="connsiteX3-7" fmla="*/ 0 w 10000"/>
              <a:gd name="connsiteY3-8" fmla="*/ 10000 h 10000"/>
              <a:gd name="connsiteX4-9" fmla="*/ 0 w 10000"/>
              <a:gd name="connsiteY4-10" fmla="*/ 0 h 10000"/>
              <a:gd name="connsiteX0-11" fmla="*/ 0 w 10075"/>
              <a:gd name="connsiteY0-12" fmla="*/ 0 h 10000"/>
              <a:gd name="connsiteX1-13" fmla="*/ 10000 w 10075"/>
              <a:gd name="connsiteY1-14" fmla="*/ 0 h 10000"/>
              <a:gd name="connsiteX2-15" fmla="*/ 10028 w 10075"/>
              <a:gd name="connsiteY2-16" fmla="*/ 8891 h 10000"/>
              <a:gd name="connsiteX3-17" fmla="*/ 0 w 10075"/>
              <a:gd name="connsiteY3-18" fmla="*/ 10000 h 10000"/>
              <a:gd name="connsiteX4-19" fmla="*/ 0 w 10075"/>
              <a:gd name="connsiteY4-20" fmla="*/ 0 h 10000"/>
              <a:gd name="connsiteX0-21" fmla="*/ 0 w 10335"/>
              <a:gd name="connsiteY0-22" fmla="*/ 0 h 10000"/>
              <a:gd name="connsiteX1-23" fmla="*/ 10000 w 10335"/>
              <a:gd name="connsiteY1-24" fmla="*/ 0 h 10000"/>
              <a:gd name="connsiteX2-25" fmla="*/ 10305 w 10335"/>
              <a:gd name="connsiteY2-26" fmla="*/ 8891 h 10000"/>
              <a:gd name="connsiteX3-27" fmla="*/ 0 w 10335"/>
              <a:gd name="connsiteY3-28" fmla="*/ 10000 h 10000"/>
              <a:gd name="connsiteX4-29" fmla="*/ 0 w 10335"/>
              <a:gd name="connsiteY4-30" fmla="*/ 0 h 10000"/>
              <a:gd name="connsiteX0-31" fmla="*/ 0 w 10000"/>
              <a:gd name="connsiteY0-32" fmla="*/ 0 h 10000"/>
              <a:gd name="connsiteX1-33" fmla="*/ 10000 w 10000"/>
              <a:gd name="connsiteY1-34" fmla="*/ 0 h 10000"/>
              <a:gd name="connsiteX2-35" fmla="*/ 9751 w 10000"/>
              <a:gd name="connsiteY2-36" fmla="*/ 9062 h 10000"/>
              <a:gd name="connsiteX3-37" fmla="*/ 0 w 10000"/>
              <a:gd name="connsiteY3-38" fmla="*/ 10000 h 10000"/>
              <a:gd name="connsiteX4-39" fmla="*/ 0 w 10000"/>
              <a:gd name="connsiteY4-40" fmla="*/ 0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cubicBezTo>
                  <a:pt x="9825" y="3021"/>
                  <a:pt x="9926" y="6041"/>
                  <a:pt x="9751" y="9062"/>
                </a:cubicBez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45"/>
          </a:p>
        </p:txBody>
      </p:sp>
      <p:sp>
        <p:nvSpPr>
          <p:cNvPr id="6" name="矩形 5"/>
          <p:cNvSpPr/>
          <p:nvPr userDrawn="1"/>
        </p:nvSpPr>
        <p:spPr>
          <a:xfrm>
            <a:off x="8893022" y="6602968"/>
            <a:ext cx="3227333" cy="219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04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西安交通大学计算机科学与技术学院</a:t>
            </a:r>
          </a:p>
        </p:txBody>
      </p:sp>
      <p:sp>
        <p:nvSpPr>
          <p:cNvPr id="7" name="流程图: 过程 6"/>
          <p:cNvSpPr/>
          <p:nvPr userDrawn="1"/>
        </p:nvSpPr>
        <p:spPr>
          <a:xfrm rot="5400000">
            <a:off x="4432463" y="2253652"/>
            <a:ext cx="171533" cy="9036459"/>
          </a:xfrm>
          <a:prstGeom prst="flowChartProcess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45"/>
          </a:p>
        </p:txBody>
      </p:sp>
    </p:spTree>
    <p:extLst>
      <p:ext uri="{BB962C8B-B14F-4D97-AF65-F5344CB8AC3E}">
        <p14:creationId xmlns:p14="http://schemas.microsoft.com/office/powerpoint/2010/main" val="9849175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/>
          <p:cNvPicPr>
            <a:picLocks noChangeAspect="1" noChangeArrowheads="1"/>
          </p:cNvPicPr>
          <p:nvPr userDrawn="1"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6494" r="23326" b="24977"/>
          <a:stretch>
            <a:fillRect/>
          </a:stretch>
        </p:blipFill>
        <p:spPr bwMode="auto">
          <a:xfrm>
            <a:off x="8870535" y="4075114"/>
            <a:ext cx="3321466" cy="278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 userDrawn="1"/>
        </p:nvSpPr>
        <p:spPr>
          <a:xfrm>
            <a:off x="0" y="360000"/>
            <a:ext cx="4320000" cy="54000"/>
          </a:xfrm>
          <a:prstGeom prst="rect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5" name="矩形 4"/>
          <p:cNvSpPr/>
          <p:nvPr userDrawn="1"/>
        </p:nvSpPr>
        <p:spPr>
          <a:xfrm>
            <a:off x="7873272" y="360000"/>
            <a:ext cx="4320000" cy="54000"/>
          </a:xfrm>
          <a:prstGeom prst="rect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7163" y="1"/>
            <a:ext cx="3182988" cy="83859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/>
          <p:cNvPicPr>
            <a:picLocks noChangeAspect="1" noChangeArrowheads="1"/>
          </p:cNvPicPr>
          <p:nvPr userDrawn="1"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6494" r="23326" b="24977"/>
          <a:stretch>
            <a:fillRect/>
          </a:stretch>
        </p:blipFill>
        <p:spPr bwMode="auto">
          <a:xfrm>
            <a:off x="8827806" y="4075114"/>
            <a:ext cx="3364195" cy="278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64680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588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56" r:id="rId14"/>
    <p:sldLayoutId id="2147483654" r:id="rId15"/>
    <p:sldLayoutId id="2147483657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1482811"/>
            <a:ext cx="12192000" cy="2858530"/>
          </a:xfrm>
          <a:prstGeom prst="rect">
            <a:avLst/>
          </a:prstGeom>
          <a:solidFill>
            <a:srgbClr val="1557A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2103913"/>
            <a:ext cx="12192000" cy="151426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indent="127000" algn="ctr">
              <a:lnSpc>
                <a:spcPct val="120000"/>
              </a:lnSpc>
            </a:pPr>
            <a:r>
              <a:rPr lang="en-US" altLang="zh-CN" sz="45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《</a:t>
            </a:r>
            <a:r>
              <a:rPr lang="zh-CN" altLang="zh-CN" sz="45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计算机组成与系统结构</a:t>
            </a:r>
            <a:r>
              <a:rPr lang="zh-CN" altLang="en-US" sz="45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专题实验</a:t>
            </a:r>
            <a:r>
              <a:rPr lang="en-US" altLang="zh-CN" sz="45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》</a:t>
            </a:r>
          </a:p>
          <a:p>
            <a:pPr algn="ctr">
              <a:lnSpc>
                <a:spcPct val="120000"/>
              </a:lnSpc>
            </a:pPr>
            <a:r>
              <a:rPr lang="en-US" altLang="zh-CN" sz="3200" b="1" dirty="0">
                <a:solidFill>
                  <a:schemeClr val="bg1"/>
                </a:solidFill>
                <a:latin typeface="+mj-lt"/>
              </a:rPr>
              <a:t>Experiment on Computer Organization and Architecture</a:t>
            </a:r>
            <a:endParaRPr lang="zh-CN" altLang="zh-CN" sz="3200" b="1" dirty="0">
              <a:solidFill>
                <a:schemeClr val="accent4">
                  <a:lumMod val="60000"/>
                  <a:lumOff val="40000"/>
                </a:schemeClr>
              </a:solidFill>
              <a:latin typeface="+mj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5193784"/>
            <a:ext cx="12191999" cy="10572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zh-CN" altLang="en-US" sz="2400" b="1" kern="100" dirty="0">
                <a:solidFill>
                  <a:srgbClr val="1557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计算机科学与技术</a:t>
            </a:r>
            <a:r>
              <a:rPr lang="zh-CN" altLang="en-US" sz="2400" b="1" kern="100" dirty="0">
                <a:solidFill>
                  <a:srgbClr val="1557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学院 </a:t>
            </a:r>
            <a:r>
              <a:rPr lang="zh-CN" altLang="en-US" sz="2400" b="1" kern="100" dirty="0">
                <a:solidFill>
                  <a:srgbClr val="1557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实验中心</a:t>
            </a:r>
            <a:endParaRPr lang="zh-CN" altLang="zh-CN" sz="2400" b="1" kern="100" dirty="0">
              <a:solidFill>
                <a:srgbClr val="1557A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127000" algn="ctr">
              <a:lnSpc>
                <a:spcPct val="120000"/>
              </a:lnSpc>
            </a:pPr>
            <a:r>
              <a:rPr lang="en-US" altLang="zh-CN" sz="2400" b="1" kern="100">
                <a:solidFill>
                  <a:srgbClr val="1557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2025</a:t>
            </a:r>
            <a:r>
              <a:rPr lang="zh-CN" altLang="en-US" sz="2400" b="1" kern="100">
                <a:solidFill>
                  <a:srgbClr val="1557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年</a:t>
            </a:r>
            <a:r>
              <a:rPr lang="en-US" altLang="zh-CN" sz="2400" b="1" kern="100" dirty="0">
                <a:solidFill>
                  <a:srgbClr val="1557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11</a:t>
            </a:r>
            <a:r>
              <a:rPr lang="zh-CN" altLang="en-US" sz="2400" b="1" kern="100" dirty="0">
                <a:solidFill>
                  <a:srgbClr val="1557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月</a:t>
            </a:r>
            <a:endParaRPr lang="zh-CN" altLang="zh-CN" sz="2400" b="1" kern="100" dirty="0">
              <a:solidFill>
                <a:srgbClr val="1557A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720"/>
    </mc:Choice>
    <mc:Fallback xmlns="">
      <p:transition spd="slow" advTm="207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66763" y="138784"/>
            <a:ext cx="27540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</a:p>
        </p:txBody>
      </p:sp>
      <p:sp>
        <p:nvSpPr>
          <p:cNvPr id="3" name="矩形 2"/>
          <p:cNvSpPr/>
          <p:nvPr/>
        </p:nvSpPr>
        <p:spPr>
          <a:xfrm>
            <a:off x="766763" y="1200138"/>
            <a:ext cx="11051426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）设计一个基于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MIPS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指令集的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，支持以下指令：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{add, sub,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addi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 lw,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sw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beq, j,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nop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需要包含寄存器组、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模块、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模块、指令译码模块。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）该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能运行基本的汇编指令。 （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D~C+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以下为可选内容：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）实现多周期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B-~B+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）实现以下高级功能之一（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A-~A+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(1).	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级流水线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(2).	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实现超标量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(3).	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路组相联缓存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可基于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RISC V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ARM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指令集实现。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如发现代码为抄袭代码，成绩一律按不及格处理。</a:t>
            </a:r>
            <a:endParaRPr lang="zh-CN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B2B157C-830F-450B-8D68-EAD06963F788}"/>
              </a:ext>
            </a:extLst>
          </p:cNvPr>
          <p:cNvSpPr/>
          <p:nvPr/>
        </p:nvSpPr>
        <p:spPr>
          <a:xfrm>
            <a:off x="766764" y="669461"/>
            <a:ext cx="44163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六</a:t>
            </a:r>
            <a:r>
              <a:rPr lang="zh-CN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综合</a:t>
            </a:r>
            <a:r>
              <a:rPr lang="zh-CN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</a:p>
        </p:txBody>
      </p:sp>
    </p:spTree>
    <p:extLst>
      <p:ext uri="{BB962C8B-B14F-4D97-AF65-F5344CB8AC3E}">
        <p14:creationId xmlns:p14="http://schemas.microsoft.com/office/powerpoint/2010/main" val="1912738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28318B8-C7C5-4DDA-B9BD-53D2769CFAAC}"/>
              </a:ext>
            </a:extLst>
          </p:cNvPr>
          <p:cNvSpPr txBox="1"/>
          <p:nvPr/>
        </p:nvSpPr>
        <p:spPr>
          <a:xfrm>
            <a:off x="766763" y="1392896"/>
            <a:ext cx="1077538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 dirty="0"/>
              <a:t>本次实验在前五次实验基础上，对各模块进行集成，形成一个完整</a:t>
            </a:r>
            <a:r>
              <a:rPr lang="en-US" altLang="zh-CN" sz="2000" dirty="0"/>
              <a:t>CPU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000" dirty="0"/>
              <a:t>PC</a:t>
            </a:r>
            <a:r>
              <a:rPr lang="zh-CN" altLang="en-US" sz="2000" dirty="0"/>
              <a:t>指向当前指令在</a:t>
            </a:r>
            <a:r>
              <a:rPr lang="en-US" altLang="zh-CN" sz="2000" dirty="0"/>
              <a:t>IM</a:t>
            </a:r>
            <a:r>
              <a:rPr lang="zh-CN" altLang="en-US" sz="2000" dirty="0"/>
              <a:t>中地址（实验四）</a:t>
            </a:r>
            <a:endParaRPr lang="en-US" altLang="zh-CN" sz="20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 dirty="0"/>
              <a:t>从</a:t>
            </a:r>
            <a:r>
              <a:rPr lang="en-US" altLang="zh-CN" sz="2000" dirty="0"/>
              <a:t>IM</a:t>
            </a:r>
            <a:r>
              <a:rPr lang="zh-CN" altLang="en-US" sz="2000" dirty="0"/>
              <a:t>获取指令后，对其进行译码，生成相应控制信号（实验五）</a:t>
            </a:r>
            <a:endParaRPr lang="en-US" altLang="zh-CN" sz="20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 dirty="0"/>
              <a:t>根据控制信号，</a:t>
            </a:r>
            <a:r>
              <a:rPr lang="en-US" altLang="zh-CN" sz="2000" dirty="0"/>
              <a:t>ALU</a:t>
            </a:r>
            <a:r>
              <a:rPr lang="zh-CN" altLang="en-US" sz="2000" dirty="0"/>
              <a:t>等模块产生相应结果（要求必须使用实验三完成的</a:t>
            </a:r>
            <a:r>
              <a:rPr lang="en-US" altLang="zh-CN" sz="2000" dirty="0"/>
              <a:t>ALU</a:t>
            </a:r>
            <a:r>
              <a:rPr lang="zh-CN" altLang="en-US" sz="2000" dirty="0"/>
              <a:t>，其中加法器为用基本门器件实现）</a:t>
            </a:r>
            <a:endParaRPr lang="en-US" altLang="zh-CN" sz="20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 dirty="0"/>
              <a:t>将结果写回相应寄存器（实验四）</a:t>
            </a:r>
            <a:endParaRPr lang="en-US" altLang="zh-CN" sz="20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 dirty="0"/>
              <a:t>执行完成后</a:t>
            </a:r>
            <a:r>
              <a:rPr lang="en-US" altLang="zh-CN" sz="2000" dirty="0"/>
              <a:t>PC</a:t>
            </a:r>
            <a:r>
              <a:rPr lang="zh-CN" altLang="en-US" sz="2000" dirty="0"/>
              <a:t>地址加</a:t>
            </a:r>
            <a:r>
              <a:rPr lang="en-US" altLang="zh-CN" sz="2000" dirty="0"/>
              <a:t>4</a:t>
            </a:r>
            <a:r>
              <a:rPr lang="zh-CN" altLang="en-US" sz="2000" dirty="0"/>
              <a:t>（可为</a:t>
            </a:r>
            <a:r>
              <a:rPr lang="en-US" altLang="zh-CN" sz="2000" dirty="0"/>
              <a:t>PC</a:t>
            </a:r>
            <a:r>
              <a:rPr lang="zh-CN" altLang="en-US" sz="2000" dirty="0"/>
              <a:t>寄存器专门配置一个加法器实现自增）</a:t>
            </a:r>
            <a:endParaRPr lang="en-US" altLang="zh-CN" sz="20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endParaRPr lang="zh-CN" altLang="en-US" sz="20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4B0021B-CC62-4984-A82E-DDEE21A5674A}"/>
              </a:ext>
            </a:extLst>
          </p:cNvPr>
          <p:cNvSpPr/>
          <p:nvPr/>
        </p:nvSpPr>
        <p:spPr>
          <a:xfrm>
            <a:off x="766764" y="674211"/>
            <a:ext cx="44163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六</a:t>
            </a:r>
            <a:r>
              <a:rPr lang="zh-CN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综合</a:t>
            </a:r>
            <a:r>
              <a:rPr lang="zh-CN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66763" y="138784"/>
            <a:ext cx="27540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</a:p>
        </p:txBody>
      </p:sp>
    </p:spTree>
    <p:extLst>
      <p:ext uri="{BB962C8B-B14F-4D97-AF65-F5344CB8AC3E}">
        <p14:creationId xmlns:p14="http://schemas.microsoft.com/office/powerpoint/2010/main" val="3885342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A01F0AE-4E0E-4F29-80FD-0337CCF26082}"/>
              </a:ext>
            </a:extLst>
          </p:cNvPr>
          <p:cNvSpPr/>
          <p:nvPr/>
        </p:nvSpPr>
        <p:spPr>
          <a:xfrm>
            <a:off x="766762" y="1229775"/>
            <a:ext cx="10697743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本次实验用到的指令解释及其操作码</a:t>
            </a:r>
          </a:p>
          <a:p>
            <a:r>
              <a:rPr lang="en-US" altLang="zh-CN" sz="2400" dirty="0"/>
              <a:t>R-Type </a:t>
            </a:r>
            <a:r>
              <a:rPr lang="zh-CN" altLang="en-US" sz="2400" dirty="0"/>
              <a:t>指令：</a:t>
            </a:r>
          </a:p>
          <a:p>
            <a:endParaRPr lang="zh-CN" alt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altLang="zh-CN" sz="2400" dirty="0"/>
              <a:t>add </a:t>
            </a:r>
            <a:r>
              <a:rPr lang="en-US" altLang="zh-CN" sz="2400" dirty="0" err="1"/>
              <a:t>rd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rs</a:t>
            </a:r>
            <a:r>
              <a:rPr lang="en-US" altLang="zh-CN" sz="2400" dirty="0"/>
              <a:t>, rt</a:t>
            </a:r>
            <a:r>
              <a:rPr lang="zh-CN" altLang="en-US" sz="2400" dirty="0"/>
              <a:t>：将 </a:t>
            </a:r>
            <a:r>
              <a:rPr lang="en-US" altLang="zh-CN" sz="2400" dirty="0" err="1"/>
              <a:t>rs</a:t>
            </a:r>
            <a:r>
              <a:rPr lang="en-US" altLang="zh-CN" sz="2400" dirty="0"/>
              <a:t> </a:t>
            </a:r>
            <a:r>
              <a:rPr lang="zh-CN" altLang="en-US" sz="2400" dirty="0"/>
              <a:t>和 </a:t>
            </a:r>
            <a:r>
              <a:rPr lang="en-US" altLang="zh-CN" sz="2400" dirty="0"/>
              <a:t>rt </a:t>
            </a:r>
            <a:r>
              <a:rPr lang="zh-CN" altLang="en-US" sz="2400" dirty="0"/>
              <a:t>寄存器中的值相加，并将结果存储在 </a:t>
            </a:r>
            <a:r>
              <a:rPr lang="en-US" altLang="zh-CN" sz="2400" dirty="0" err="1"/>
              <a:t>rd</a:t>
            </a:r>
            <a:r>
              <a:rPr lang="en-US" altLang="zh-CN" sz="2400" dirty="0"/>
              <a:t> </a:t>
            </a:r>
            <a:r>
              <a:rPr lang="zh-CN" altLang="en-US" sz="2400" dirty="0"/>
              <a:t>寄存器中。</a:t>
            </a:r>
          </a:p>
          <a:p>
            <a:pPr lvl="1"/>
            <a:r>
              <a:rPr lang="zh-CN" altLang="en-US" sz="2400" dirty="0"/>
              <a:t>操作码：</a:t>
            </a:r>
            <a:r>
              <a:rPr lang="en-US" altLang="zh-CN" sz="2400" dirty="0"/>
              <a:t>000000</a:t>
            </a:r>
          </a:p>
          <a:p>
            <a:pPr lvl="1"/>
            <a:r>
              <a:rPr lang="zh-CN" altLang="en-US" sz="2400" dirty="0"/>
              <a:t>功能码：</a:t>
            </a:r>
            <a:r>
              <a:rPr lang="en-US" altLang="zh-CN" sz="2400" dirty="0"/>
              <a:t>20</a:t>
            </a:r>
          </a:p>
          <a:p>
            <a:pPr lvl="1"/>
            <a:endParaRPr lang="en-US" altLang="zh-CN" sz="2400" dirty="0"/>
          </a:p>
          <a:p>
            <a:pPr marL="457200" indent="-457200">
              <a:buFont typeface="+mj-lt"/>
              <a:buAutoNum type="arabicPeriod"/>
            </a:pPr>
            <a:r>
              <a:rPr lang="en-US" altLang="zh-CN" sz="2400" dirty="0"/>
              <a:t>sub </a:t>
            </a:r>
            <a:r>
              <a:rPr lang="en-US" altLang="zh-CN" sz="2400" dirty="0" err="1"/>
              <a:t>rd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rs</a:t>
            </a:r>
            <a:r>
              <a:rPr lang="en-US" altLang="zh-CN" sz="2400" dirty="0"/>
              <a:t>, rt</a:t>
            </a:r>
            <a:r>
              <a:rPr lang="zh-CN" altLang="en-US" sz="2400" dirty="0"/>
              <a:t>：将 </a:t>
            </a:r>
            <a:r>
              <a:rPr lang="en-US" altLang="zh-CN" sz="2400" dirty="0" err="1"/>
              <a:t>rs</a:t>
            </a:r>
            <a:r>
              <a:rPr lang="en-US" altLang="zh-CN" sz="2400" dirty="0"/>
              <a:t> </a:t>
            </a:r>
            <a:r>
              <a:rPr lang="zh-CN" altLang="en-US" sz="2400" dirty="0"/>
              <a:t>寄存器中的值减去 </a:t>
            </a:r>
            <a:r>
              <a:rPr lang="en-US" altLang="zh-CN" sz="2400" dirty="0"/>
              <a:t>rt </a:t>
            </a:r>
            <a:r>
              <a:rPr lang="zh-CN" altLang="en-US" sz="2400" dirty="0"/>
              <a:t>寄存器中的值，并将结果存储在 </a:t>
            </a:r>
            <a:r>
              <a:rPr lang="en-US" altLang="zh-CN" sz="2400" dirty="0" err="1"/>
              <a:t>rd</a:t>
            </a:r>
            <a:r>
              <a:rPr lang="en-US" altLang="zh-CN" sz="2400" dirty="0"/>
              <a:t> </a:t>
            </a:r>
            <a:r>
              <a:rPr lang="zh-CN" altLang="en-US" sz="2400" dirty="0"/>
              <a:t>寄存器中。</a:t>
            </a:r>
          </a:p>
          <a:p>
            <a:pPr lvl="1"/>
            <a:r>
              <a:rPr lang="zh-CN" altLang="en-US" sz="2400" dirty="0"/>
              <a:t>操作码：</a:t>
            </a:r>
            <a:r>
              <a:rPr lang="en-US" altLang="zh-CN" sz="2400" dirty="0"/>
              <a:t>000000</a:t>
            </a:r>
          </a:p>
          <a:p>
            <a:pPr lvl="1"/>
            <a:r>
              <a:rPr lang="zh-CN" altLang="en-US" sz="2400" dirty="0"/>
              <a:t>功能码：</a:t>
            </a:r>
            <a:r>
              <a:rPr lang="en-US" altLang="zh-CN" sz="2400" dirty="0"/>
              <a:t>22</a:t>
            </a:r>
          </a:p>
          <a:p>
            <a:endParaRPr lang="en-US" altLang="zh-CN" sz="24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5326819-5FD5-4E00-A7D8-F88DE9F02BAA}"/>
              </a:ext>
            </a:extLst>
          </p:cNvPr>
          <p:cNvSpPr/>
          <p:nvPr/>
        </p:nvSpPr>
        <p:spPr>
          <a:xfrm>
            <a:off x="766763" y="653502"/>
            <a:ext cx="351562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MIPS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指令解释</a:t>
            </a:r>
            <a:endParaRPr lang="zh-CN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F2D4DF3-51C8-49D2-8954-FFB67BBF5105}"/>
              </a:ext>
            </a:extLst>
          </p:cNvPr>
          <p:cNvSpPr txBox="1"/>
          <p:nvPr/>
        </p:nvSpPr>
        <p:spPr>
          <a:xfrm>
            <a:off x="766763" y="138784"/>
            <a:ext cx="27540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</a:p>
        </p:txBody>
      </p:sp>
    </p:spTree>
    <p:extLst>
      <p:ext uri="{BB962C8B-B14F-4D97-AF65-F5344CB8AC3E}">
        <p14:creationId xmlns:p14="http://schemas.microsoft.com/office/powerpoint/2010/main" val="4085448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2A64B71-2ED8-40CC-B293-ECFF8D7B800C}"/>
              </a:ext>
            </a:extLst>
          </p:cNvPr>
          <p:cNvSpPr/>
          <p:nvPr/>
        </p:nvSpPr>
        <p:spPr>
          <a:xfrm>
            <a:off x="766763" y="1115167"/>
            <a:ext cx="10723622" cy="3554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zh-CN" kern="100" dirty="0">
                <a:latin typeface="+mn-ea"/>
                <a:cs typeface="Times New Roman" panose="02020603050405020304" pitchFamily="18" charset="0"/>
              </a:rPr>
              <a:t>I-Type </a:t>
            </a:r>
            <a:r>
              <a:rPr lang="zh-CN" altLang="zh-CN" kern="100" dirty="0">
                <a:latin typeface="+mn-ea"/>
                <a:cs typeface="Times New Roman" panose="02020603050405020304" pitchFamily="18" charset="0"/>
              </a:rPr>
              <a:t>指令：</a:t>
            </a:r>
          </a:p>
          <a:p>
            <a:pPr algn="just">
              <a:lnSpc>
                <a:spcPct val="125000"/>
              </a:lnSpc>
            </a:pPr>
            <a:r>
              <a:rPr lang="en-US" altLang="zh-CN" kern="100" dirty="0">
                <a:latin typeface="+mn-ea"/>
                <a:cs typeface="Times New Roman" panose="02020603050405020304" pitchFamily="18" charset="0"/>
              </a:rPr>
              <a:t> </a:t>
            </a:r>
            <a:endParaRPr lang="zh-CN" altLang="zh-CN" kern="100" dirty="0">
              <a:latin typeface="+mn-ea"/>
              <a:cs typeface="Times New Roman" panose="02020603050405020304" pitchFamily="18" charset="0"/>
            </a:endParaRPr>
          </a:p>
          <a:p>
            <a:pPr lvl="1" algn="just">
              <a:lnSpc>
                <a:spcPct val="125000"/>
              </a:lnSpc>
            </a:pPr>
            <a:r>
              <a:rPr lang="en-US" altLang="zh-CN" kern="100" dirty="0">
                <a:latin typeface="+mn-ea"/>
                <a:cs typeface="Times New Roman" panose="02020603050405020304" pitchFamily="18" charset="0"/>
              </a:rPr>
              <a:t>1. </a:t>
            </a:r>
            <a:r>
              <a:rPr lang="en-US" altLang="zh-CN" kern="100" dirty="0" err="1">
                <a:latin typeface="+mn-ea"/>
                <a:cs typeface="Times New Roman" panose="02020603050405020304" pitchFamily="18" charset="0"/>
              </a:rPr>
              <a:t>addi</a:t>
            </a:r>
            <a:r>
              <a:rPr lang="en-US" altLang="zh-CN" kern="100" dirty="0">
                <a:latin typeface="+mn-ea"/>
                <a:cs typeface="Times New Roman" panose="02020603050405020304" pitchFamily="18" charset="0"/>
              </a:rPr>
              <a:t> rt, </a:t>
            </a:r>
            <a:r>
              <a:rPr lang="en-US" altLang="zh-CN" kern="100" dirty="0" err="1">
                <a:latin typeface="+mn-ea"/>
                <a:cs typeface="Times New Roman" panose="02020603050405020304" pitchFamily="18" charset="0"/>
              </a:rPr>
              <a:t>rs</a:t>
            </a:r>
            <a:r>
              <a:rPr lang="en-US" altLang="zh-CN" kern="100" dirty="0">
                <a:latin typeface="+mn-ea"/>
                <a:cs typeface="Times New Roman" panose="02020603050405020304" pitchFamily="18" charset="0"/>
              </a:rPr>
              <a:t>, immediate</a:t>
            </a:r>
            <a:r>
              <a:rPr lang="zh-CN" altLang="zh-CN" kern="100" dirty="0">
                <a:latin typeface="+mn-ea"/>
                <a:cs typeface="Times New Roman" panose="02020603050405020304" pitchFamily="18" charset="0"/>
              </a:rPr>
              <a:t>：将</a:t>
            </a:r>
            <a:r>
              <a:rPr lang="en-US" altLang="zh-CN" kern="100" dirty="0">
                <a:latin typeface="+mn-ea"/>
                <a:cs typeface="Times New Roman" panose="02020603050405020304" pitchFamily="18" charset="0"/>
              </a:rPr>
              <a:t> </a:t>
            </a:r>
            <a:r>
              <a:rPr lang="en-US" altLang="zh-CN" kern="100" dirty="0" err="1">
                <a:latin typeface="+mn-ea"/>
                <a:cs typeface="Times New Roman" panose="02020603050405020304" pitchFamily="18" charset="0"/>
              </a:rPr>
              <a:t>rs</a:t>
            </a:r>
            <a:r>
              <a:rPr lang="en-US" altLang="zh-CN" kern="100" dirty="0">
                <a:latin typeface="+mn-ea"/>
                <a:cs typeface="Times New Roman" panose="02020603050405020304" pitchFamily="18" charset="0"/>
              </a:rPr>
              <a:t> </a:t>
            </a:r>
            <a:r>
              <a:rPr lang="zh-CN" altLang="zh-CN" kern="100" dirty="0">
                <a:latin typeface="+mn-ea"/>
                <a:cs typeface="Times New Roman" panose="02020603050405020304" pitchFamily="18" charset="0"/>
              </a:rPr>
              <a:t>寄存器中的值与立即数相加，并将结果存储在</a:t>
            </a:r>
            <a:r>
              <a:rPr lang="en-US" altLang="zh-CN" kern="100" dirty="0">
                <a:latin typeface="+mn-ea"/>
                <a:cs typeface="Times New Roman" panose="02020603050405020304" pitchFamily="18" charset="0"/>
              </a:rPr>
              <a:t> rt </a:t>
            </a:r>
            <a:r>
              <a:rPr lang="zh-CN" altLang="zh-CN" kern="100" dirty="0">
                <a:latin typeface="+mn-ea"/>
                <a:cs typeface="Times New Roman" panose="02020603050405020304" pitchFamily="18" charset="0"/>
              </a:rPr>
              <a:t>寄存器中。</a:t>
            </a:r>
            <a:endParaRPr lang="en-US" altLang="zh-CN" kern="100" dirty="0">
              <a:latin typeface="+mn-ea"/>
              <a:cs typeface="Times New Roman" panose="02020603050405020304" pitchFamily="18" charset="0"/>
            </a:endParaRPr>
          </a:p>
          <a:p>
            <a:pPr lvl="1" algn="just">
              <a:lnSpc>
                <a:spcPct val="125000"/>
              </a:lnSpc>
            </a:pPr>
            <a:r>
              <a:rPr lang="en-US" altLang="zh-CN" kern="100" dirty="0">
                <a:latin typeface="+mn-ea"/>
                <a:cs typeface="Times New Roman" panose="02020603050405020304" pitchFamily="18" charset="0"/>
              </a:rPr>
              <a:t>	</a:t>
            </a:r>
            <a:r>
              <a:rPr lang="zh-CN" altLang="zh-CN" kern="100" dirty="0">
                <a:latin typeface="+mn-ea"/>
                <a:cs typeface="Times New Roman" panose="02020603050405020304" pitchFamily="18" charset="0"/>
              </a:rPr>
              <a:t>操作码：</a:t>
            </a:r>
            <a:r>
              <a:rPr lang="en-US" altLang="zh-CN" kern="100" dirty="0">
                <a:latin typeface="+mn-ea"/>
                <a:cs typeface="Times New Roman" panose="02020603050405020304" pitchFamily="18" charset="0"/>
              </a:rPr>
              <a:t>001000</a:t>
            </a:r>
          </a:p>
          <a:p>
            <a:pPr lvl="1" algn="just">
              <a:lnSpc>
                <a:spcPct val="125000"/>
              </a:lnSpc>
            </a:pPr>
            <a:r>
              <a:rPr lang="en-US" altLang="zh-CN" kern="100" dirty="0">
                <a:latin typeface="+mn-ea"/>
                <a:cs typeface="Times New Roman" panose="02020603050405020304" pitchFamily="18" charset="0"/>
              </a:rPr>
              <a:t>2. lw rt, offset(</a:t>
            </a:r>
            <a:r>
              <a:rPr lang="en-US" altLang="zh-CN" kern="100" dirty="0" err="1">
                <a:latin typeface="+mn-ea"/>
                <a:cs typeface="Times New Roman" panose="02020603050405020304" pitchFamily="18" charset="0"/>
              </a:rPr>
              <a:t>rs</a:t>
            </a:r>
            <a:r>
              <a:rPr lang="en-US" altLang="zh-CN" kern="100" dirty="0">
                <a:latin typeface="+mn-ea"/>
                <a:cs typeface="Times New Roman" panose="02020603050405020304" pitchFamily="18" charset="0"/>
              </a:rPr>
              <a:t>)</a:t>
            </a:r>
            <a:r>
              <a:rPr lang="zh-CN" altLang="zh-CN" kern="100" dirty="0">
                <a:latin typeface="+mn-ea"/>
                <a:cs typeface="Times New Roman" panose="02020603050405020304" pitchFamily="18" charset="0"/>
              </a:rPr>
              <a:t>：将地址为</a:t>
            </a:r>
            <a:r>
              <a:rPr lang="en-US" altLang="zh-CN" kern="100" dirty="0">
                <a:latin typeface="+mn-ea"/>
                <a:cs typeface="Times New Roman" panose="02020603050405020304" pitchFamily="18" charset="0"/>
              </a:rPr>
              <a:t> </a:t>
            </a:r>
            <a:r>
              <a:rPr lang="en-US" altLang="zh-CN" kern="100" dirty="0" err="1">
                <a:latin typeface="+mn-ea"/>
                <a:cs typeface="Times New Roman" panose="02020603050405020304" pitchFamily="18" charset="0"/>
              </a:rPr>
              <a:t>rs</a:t>
            </a:r>
            <a:r>
              <a:rPr lang="en-US" altLang="zh-CN" kern="100" dirty="0">
                <a:latin typeface="+mn-ea"/>
                <a:cs typeface="Times New Roman" panose="02020603050405020304" pitchFamily="18" charset="0"/>
              </a:rPr>
              <a:t> + offset </a:t>
            </a:r>
            <a:r>
              <a:rPr lang="zh-CN" altLang="zh-CN" kern="100" dirty="0">
                <a:latin typeface="+mn-ea"/>
                <a:cs typeface="Times New Roman" panose="02020603050405020304" pitchFamily="18" charset="0"/>
              </a:rPr>
              <a:t>的内存中的值加载到</a:t>
            </a:r>
            <a:r>
              <a:rPr lang="en-US" altLang="zh-CN" kern="100" dirty="0">
                <a:latin typeface="+mn-ea"/>
                <a:cs typeface="Times New Roman" panose="02020603050405020304" pitchFamily="18" charset="0"/>
              </a:rPr>
              <a:t> rt </a:t>
            </a:r>
            <a:r>
              <a:rPr lang="zh-CN" altLang="zh-CN" kern="100" dirty="0">
                <a:latin typeface="+mn-ea"/>
                <a:cs typeface="Times New Roman" panose="02020603050405020304" pitchFamily="18" charset="0"/>
              </a:rPr>
              <a:t>寄存器中。</a:t>
            </a:r>
          </a:p>
          <a:p>
            <a:pPr lvl="1" algn="just">
              <a:lnSpc>
                <a:spcPct val="125000"/>
              </a:lnSpc>
            </a:pPr>
            <a:r>
              <a:rPr lang="en-US" altLang="zh-CN" kern="100" dirty="0">
                <a:latin typeface="+mn-ea"/>
                <a:cs typeface="Times New Roman" panose="02020603050405020304" pitchFamily="18" charset="0"/>
              </a:rPr>
              <a:t>	</a:t>
            </a:r>
            <a:r>
              <a:rPr lang="zh-CN" altLang="zh-CN" kern="100" dirty="0">
                <a:latin typeface="+mn-ea"/>
                <a:cs typeface="Times New Roman" panose="02020603050405020304" pitchFamily="18" charset="0"/>
              </a:rPr>
              <a:t>操作码：</a:t>
            </a:r>
            <a:r>
              <a:rPr lang="en-US" altLang="zh-CN" kern="100" dirty="0">
                <a:latin typeface="+mn-ea"/>
                <a:cs typeface="Times New Roman" panose="02020603050405020304" pitchFamily="18" charset="0"/>
              </a:rPr>
              <a:t>100011</a:t>
            </a:r>
          </a:p>
          <a:p>
            <a:pPr lvl="1" algn="just">
              <a:lnSpc>
                <a:spcPct val="125000"/>
              </a:lnSpc>
            </a:pPr>
            <a:r>
              <a:rPr lang="en-US" altLang="zh-CN" kern="100" dirty="0">
                <a:latin typeface="+mn-ea"/>
                <a:cs typeface="Times New Roman" panose="02020603050405020304" pitchFamily="18" charset="0"/>
              </a:rPr>
              <a:t>3. </a:t>
            </a:r>
            <a:r>
              <a:rPr lang="en-US" altLang="zh-CN" kern="100" dirty="0" err="1">
                <a:latin typeface="+mn-ea"/>
                <a:cs typeface="Times New Roman" panose="02020603050405020304" pitchFamily="18" charset="0"/>
              </a:rPr>
              <a:t>sw</a:t>
            </a:r>
            <a:r>
              <a:rPr lang="en-US" altLang="zh-CN" kern="100" dirty="0">
                <a:latin typeface="+mn-ea"/>
                <a:cs typeface="Times New Roman" panose="02020603050405020304" pitchFamily="18" charset="0"/>
              </a:rPr>
              <a:t> rt, offset(</a:t>
            </a:r>
            <a:r>
              <a:rPr lang="en-US" altLang="zh-CN" kern="100" dirty="0" err="1">
                <a:latin typeface="+mn-ea"/>
                <a:cs typeface="Times New Roman" panose="02020603050405020304" pitchFamily="18" charset="0"/>
              </a:rPr>
              <a:t>rs</a:t>
            </a:r>
            <a:r>
              <a:rPr lang="en-US" altLang="zh-CN" kern="100" dirty="0">
                <a:latin typeface="+mn-ea"/>
                <a:cs typeface="Times New Roman" panose="02020603050405020304" pitchFamily="18" charset="0"/>
              </a:rPr>
              <a:t>)</a:t>
            </a:r>
            <a:r>
              <a:rPr lang="zh-CN" altLang="zh-CN" kern="100" dirty="0">
                <a:latin typeface="+mn-ea"/>
                <a:cs typeface="Times New Roman" panose="02020603050405020304" pitchFamily="18" charset="0"/>
              </a:rPr>
              <a:t>：将</a:t>
            </a:r>
            <a:r>
              <a:rPr lang="en-US" altLang="zh-CN" kern="100" dirty="0">
                <a:latin typeface="+mn-ea"/>
                <a:cs typeface="Times New Roman" panose="02020603050405020304" pitchFamily="18" charset="0"/>
              </a:rPr>
              <a:t> rt </a:t>
            </a:r>
            <a:r>
              <a:rPr lang="zh-CN" altLang="zh-CN" kern="100" dirty="0">
                <a:latin typeface="+mn-ea"/>
                <a:cs typeface="Times New Roman" panose="02020603050405020304" pitchFamily="18" charset="0"/>
              </a:rPr>
              <a:t>寄存器中的值存储到地址为</a:t>
            </a:r>
            <a:r>
              <a:rPr lang="en-US" altLang="zh-CN" kern="100" dirty="0">
                <a:latin typeface="+mn-ea"/>
                <a:cs typeface="Times New Roman" panose="02020603050405020304" pitchFamily="18" charset="0"/>
              </a:rPr>
              <a:t> </a:t>
            </a:r>
            <a:r>
              <a:rPr lang="en-US" altLang="zh-CN" kern="100" dirty="0" err="1">
                <a:latin typeface="+mn-ea"/>
                <a:cs typeface="Times New Roman" panose="02020603050405020304" pitchFamily="18" charset="0"/>
              </a:rPr>
              <a:t>rs</a:t>
            </a:r>
            <a:r>
              <a:rPr lang="en-US" altLang="zh-CN" kern="100" dirty="0">
                <a:latin typeface="+mn-ea"/>
                <a:cs typeface="Times New Roman" panose="02020603050405020304" pitchFamily="18" charset="0"/>
              </a:rPr>
              <a:t> + offset </a:t>
            </a:r>
            <a:r>
              <a:rPr lang="zh-CN" altLang="zh-CN" kern="100" dirty="0">
                <a:latin typeface="+mn-ea"/>
                <a:cs typeface="Times New Roman" panose="02020603050405020304" pitchFamily="18" charset="0"/>
              </a:rPr>
              <a:t>的内存中。</a:t>
            </a:r>
          </a:p>
          <a:p>
            <a:pPr lvl="1" algn="just">
              <a:lnSpc>
                <a:spcPct val="125000"/>
              </a:lnSpc>
            </a:pPr>
            <a:r>
              <a:rPr lang="en-US" altLang="zh-CN" kern="100" dirty="0">
                <a:latin typeface="+mn-ea"/>
                <a:cs typeface="Times New Roman" panose="02020603050405020304" pitchFamily="18" charset="0"/>
              </a:rPr>
              <a:t>	</a:t>
            </a:r>
            <a:r>
              <a:rPr lang="zh-CN" altLang="zh-CN" kern="100" dirty="0">
                <a:latin typeface="+mn-ea"/>
                <a:cs typeface="Times New Roman" panose="02020603050405020304" pitchFamily="18" charset="0"/>
              </a:rPr>
              <a:t>操作码：</a:t>
            </a:r>
            <a:r>
              <a:rPr lang="en-US" altLang="zh-CN" kern="100" dirty="0">
                <a:latin typeface="+mn-ea"/>
                <a:cs typeface="Times New Roman" panose="02020603050405020304" pitchFamily="18" charset="0"/>
              </a:rPr>
              <a:t>101011</a:t>
            </a:r>
          </a:p>
          <a:p>
            <a:pPr lvl="1" algn="just">
              <a:lnSpc>
                <a:spcPct val="125000"/>
              </a:lnSpc>
            </a:pPr>
            <a:r>
              <a:rPr lang="en-US" altLang="zh-CN" kern="100" dirty="0">
                <a:latin typeface="+mn-ea"/>
                <a:cs typeface="Times New Roman" panose="02020603050405020304" pitchFamily="18" charset="0"/>
              </a:rPr>
              <a:t>4. beq </a:t>
            </a:r>
            <a:r>
              <a:rPr lang="en-US" altLang="zh-CN" kern="100" dirty="0" err="1">
                <a:latin typeface="+mn-ea"/>
                <a:cs typeface="Times New Roman" panose="02020603050405020304" pitchFamily="18" charset="0"/>
              </a:rPr>
              <a:t>rs</a:t>
            </a:r>
            <a:r>
              <a:rPr lang="en-US" altLang="zh-CN" kern="100" dirty="0">
                <a:latin typeface="+mn-ea"/>
                <a:cs typeface="Times New Roman" panose="02020603050405020304" pitchFamily="18" charset="0"/>
              </a:rPr>
              <a:t>, rt, offset</a:t>
            </a:r>
            <a:r>
              <a:rPr lang="zh-CN" altLang="zh-CN" kern="100" dirty="0">
                <a:latin typeface="+mn-ea"/>
                <a:cs typeface="Times New Roman" panose="02020603050405020304" pitchFamily="18" charset="0"/>
              </a:rPr>
              <a:t>：如果</a:t>
            </a:r>
            <a:r>
              <a:rPr lang="en-US" altLang="zh-CN" kern="100" dirty="0">
                <a:latin typeface="+mn-ea"/>
                <a:cs typeface="Times New Roman" panose="02020603050405020304" pitchFamily="18" charset="0"/>
              </a:rPr>
              <a:t> </a:t>
            </a:r>
            <a:r>
              <a:rPr lang="en-US" altLang="zh-CN" kern="100" dirty="0" err="1">
                <a:latin typeface="+mn-ea"/>
                <a:cs typeface="Times New Roman" panose="02020603050405020304" pitchFamily="18" charset="0"/>
              </a:rPr>
              <a:t>rs</a:t>
            </a:r>
            <a:r>
              <a:rPr lang="en-US" altLang="zh-CN" kern="100" dirty="0">
                <a:latin typeface="+mn-ea"/>
                <a:cs typeface="Times New Roman" panose="02020603050405020304" pitchFamily="18" charset="0"/>
              </a:rPr>
              <a:t> </a:t>
            </a:r>
            <a:r>
              <a:rPr lang="zh-CN" altLang="zh-CN" kern="100" dirty="0">
                <a:latin typeface="+mn-ea"/>
                <a:cs typeface="Times New Roman" panose="02020603050405020304" pitchFamily="18" charset="0"/>
              </a:rPr>
              <a:t>和</a:t>
            </a:r>
            <a:r>
              <a:rPr lang="en-US" altLang="zh-CN" kern="100" dirty="0">
                <a:latin typeface="+mn-ea"/>
                <a:cs typeface="Times New Roman" panose="02020603050405020304" pitchFamily="18" charset="0"/>
              </a:rPr>
              <a:t> rt </a:t>
            </a:r>
            <a:r>
              <a:rPr lang="zh-CN" altLang="zh-CN" kern="100" dirty="0">
                <a:latin typeface="+mn-ea"/>
                <a:cs typeface="Times New Roman" panose="02020603050405020304" pitchFamily="18" charset="0"/>
              </a:rPr>
              <a:t>寄存器中的值相等，则跳转到当前指令地址加上</a:t>
            </a:r>
            <a:r>
              <a:rPr lang="en-US" altLang="zh-CN" kern="100" dirty="0">
                <a:latin typeface="+mn-ea"/>
                <a:cs typeface="Times New Roman" panose="02020603050405020304" pitchFamily="18" charset="0"/>
              </a:rPr>
              <a:t> offset </a:t>
            </a:r>
            <a:r>
              <a:rPr lang="zh-CN" altLang="zh-CN" kern="100" dirty="0">
                <a:latin typeface="+mn-ea"/>
                <a:cs typeface="Times New Roman" panose="02020603050405020304" pitchFamily="18" charset="0"/>
              </a:rPr>
              <a:t>的地址。</a:t>
            </a:r>
          </a:p>
          <a:p>
            <a:pPr lvl="1" algn="just">
              <a:lnSpc>
                <a:spcPct val="125000"/>
              </a:lnSpc>
            </a:pPr>
            <a:r>
              <a:rPr lang="en-US" altLang="zh-CN" kern="100" dirty="0">
                <a:latin typeface="+mn-ea"/>
                <a:cs typeface="Times New Roman" panose="02020603050405020304" pitchFamily="18" charset="0"/>
              </a:rPr>
              <a:t>	</a:t>
            </a:r>
            <a:r>
              <a:rPr lang="zh-CN" altLang="zh-CN" kern="100" dirty="0">
                <a:latin typeface="+mn-ea"/>
                <a:cs typeface="Times New Roman" panose="02020603050405020304" pitchFamily="18" charset="0"/>
              </a:rPr>
              <a:t>操作码：</a:t>
            </a:r>
            <a:r>
              <a:rPr lang="en-US" altLang="zh-CN" kern="100" dirty="0">
                <a:latin typeface="+mn-ea"/>
                <a:cs typeface="Times New Roman" panose="02020603050405020304" pitchFamily="18" charset="0"/>
              </a:rPr>
              <a:t>000100</a:t>
            </a:r>
            <a:endParaRPr lang="zh-CN" altLang="zh-CN" kern="100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1AAB7-3A66-4567-9CD0-6AF992441CB3}"/>
              </a:ext>
            </a:extLst>
          </p:cNvPr>
          <p:cNvSpPr/>
          <p:nvPr/>
        </p:nvSpPr>
        <p:spPr>
          <a:xfrm>
            <a:off x="766763" y="653502"/>
            <a:ext cx="382339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MIPS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指令操作码</a:t>
            </a:r>
            <a:endParaRPr lang="zh-CN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9B11429-683B-4EDC-AF42-39E3AD10FA40}"/>
              </a:ext>
            </a:extLst>
          </p:cNvPr>
          <p:cNvSpPr txBox="1"/>
          <p:nvPr/>
        </p:nvSpPr>
        <p:spPr>
          <a:xfrm>
            <a:off x="766763" y="138784"/>
            <a:ext cx="27540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</a:p>
        </p:txBody>
      </p:sp>
    </p:spTree>
    <p:extLst>
      <p:ext uri="{BB962C8B-B14F-4D97-AF65-F5344CB8AC3E}">
        <p14:creationId xmlns:p14="http://schemas.microsoft.com/office/powerpoint/2010/main" val="2783858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57BE18D-DB14-4FEE-83B6-F0A64509D919}"/>
              </a:ext>
            </a:extLst>
          </p:cNvPr>
          <p:cNvSpPr/>
          <p:nvPr/>
        </p:nvSpPr>
        <p:spPr>
          <a:xfrm>
            <a:off x="766763" y="1299951"/>
            <a:ext cx="9270870" cy="4904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12420" algn="just">
              <a:lnSpc>
                <a:spcPct val="125000"/>
              </a:lnSpc>
            </a:pPr>
            <a:r>
              <a:rPr lang="en-US" altLang="zh-CN" kern="100" dirty="0">
                <a:latin typeface="+mn-ea"/>
                <a:cs typeface="Times New Roman" panose="02020603050405020304" pitchFamily="18" charset="0"/>
              </a:rPr>
              <a:t>J-Type </a:t>
            </a:r>
            <a:r>
              <a:rPr lang="zh-CN" altLang="zh-CN" kern="100" dirty="0">
                <a:latin typeface="+mn-ea"/>
                <a:cs typeface="Times New Roman" panose="02020603050405020304" pitchFamily="18" charset="0"/>
              </a:rPr>
              <a:t>指令：</a:t>
            </a:r>
          </a:p>
          <a:p>
            <a:pPr indent="312420" algn="just">
              <a:lnSpc>
                <a:spcPct val="125000"/>
              </a:lnSpc>
            </a:pPr>
            <a:r>
              <a:rPr lang="en-US" altLang="zh-CN" kern="100" dirty="0">
                <a:latin typeface="+mn-ea"/>
                <a:cs typeface="Times New Roman" panose="02020603050405020304" pitchFamily="18" charset="0"/>
              </a:rPr>
              <a:t> j target</a:t>
            </a:r>
            <a:r>
              <a:rPr lang="zh-CN" altLang="zh-CN" kern="100" dirty="0">
                <a:latin typeface="+mn-ea"/>
                <a:cs typeface="Times New Roman" panose="02020603050405020304" pitchFamily="18" charset="0"/>
              </a:rPr>
              <a:t>：无条件跳转到目标地址。</a:t>
            </a:r>
          </a:p>
          <a:p>
            <a:pPr indent="312420" algn="just">
              <a:lnSpc>
                <a:spcPct val="125000"/>
              </a:lnSpc>
            </a:pPr>
            <a:r>
              <a:rPr lang="zh-CN" altLang="zh-CN" kern="100" dirty="0">
                <a:latin typeface="+mn-ea"/>
                <a:cs typeface="Times New Roman" panose="02020603050405020304" pitchFamily="18" charset="0"/>
              </a:rPr>
              <a:t>操作码：</a:t>
            </a:r>
            <a:r>
              <a:rPr lang="en-US" altLang="zh-CN" kern="100" dirty="0">
                <a:latin typeface="+mn-ea"/>
                <a:cs typeface="Times New Roman" panose="02020603050405020304" pitchFamily="18" charset="0"/>
              </a:rPr>
              <a:t>000010</a:t>
            </a:r>
          </a:p>
          <a:p>
            <a:pPr indent="312420" algn="just">
              <a:lnSpc>
                <a:spcPct val="125000"/>
              </a:lnSpc>
            </a:pPr>
            <a:endParaRPr lang="zh-CN" altLang="zh-CN" kern="100" dirty="0">
              <a:latin typeface="+mn-ea"/>
              <a:cs typeface="Times New Roman" panose="02020603050405020304" pitchFamily="18" charset="0"/>
            </a:endParaRPr>
          </a:p>
          <a:p>
            <a:pPr indent="312420" algn="just">
              <a:lnSpc>
                <a:spcPct val="125000"/>
              </a:lnSpc>
            </a:pPr>
            <a:r>
              <a:rPr lang="en-US" altLang="zh-CN" kern="100" dirty="0">
                <a:latin typeface="+mn-ea"/>
                <a:cs typeface="Times New Roman" panose="02020603050405020304" pitchFamily="18" charset="0"/>
              </a:rPr>
              <a:t>NOP </a:t>
            </a:r>
            <a:r>
              <a:rPr lang="zh-CN" altLang="zh-CN" kern="100" dirty="0">
                <a:latin typeface="+mn-ea"/>
                <a:cs typeface="Times New Roman" panose="02020603050405020304" pitchFamily="18" charset="0"/>
              </a:rPr>
              <a:t>指令：</a:t>
            </a:r>
          </a:p>
          <a:p>
            <a:pPr indent="312420" algn="just">
              <a:lnSpc>
                <a:spcPct val="125000"/>
              </a:lnSpc>
            </a:pPr>
            <a:r>
              <a:rPr lang="en-US" altLang="zh-CN" kern="100" dirty="0" err="1">
                <a:latin typeface="+mn-ea"/>
                <a:cs typeface="Times New Roman" panose="02020603050405020304" pitchFamily="18" charset="0"/>
              </a:rPr>
              <a:t>nop</a:t>
            </a:r>
            <a:r>
              <a:rPr lang="zh-CN" altLang="zh-CN" kern="100" dirty="0">
                <a:latin typeface="+mn-ea"/>
                <a:cs typeface="Times New Roman" panose="02020603050405020304" pitchFamily="18" charset="0"/>
              </a:rPr>
              <a:t>：空指令，不执行任何操作。</a:t>
            </a:r>
          </a:p>
          <a:p>
            <a:pPr indent="312420" algn="just">
              <a:lnSpc>
                <a:spcPct val="125000"/>
              </a:lnSpc>
            </a:pPr>
            <a:r>
              <a:rPr lang="zh-CN" altLang="zh-CN" kern="100" dirty="0">
                <a:latin typeface="+mn-ea"/>
                <a:cs typeface="Times New Roman" panose="02020603050405020304" pitchFamily="18" charset="0"/>
              </a:rPr>
              <a:t>操作码：</a:t>
            </a:r>
            <a:r>
              <a:rPr lang="en-US" altLang="zh-CN" kern="100" dirty="0">
                <a:latin typeface="+mn-ea"/>
                <a:cs typeface="Times New Roman" panose="02020603050405020304" pitchFamily="18" charset="0"/>
              </a:rPr>
              <a:t>000000</a:t>
            </a:r>
            <a:endParaRPr lang="zh-CN" altLang="zh-CN" kern="100" dirty="0">
              <a:latin typeface="+mn-ea"/>
              <a:cs typeface="Times New Roman" panose="02020603050405020304" pitchFamily="18" charset="0"/>
            </a:endParaRPr>
          </a:p>
          <a:p>
            <a:pPr indent="312420" algn="just">
              <a:lnSpc>
                <a:spcPct val="125000"/>
              </a:lnSpc>
            </a:pPr>
            <a:r>
              <a:rPr lang="en-US" altLang="zh-CN" kern="100" dirty="0">
                <a:latin typeface="+mn-ea"/>
                <a:cs typeface="Times New Roman" panose="02020603050405020304" pitchFamily="18" charset="0"/>
              </a:rPr>
              <a:t> </a:t>
            </a:r>
            <a:endParaRPr lang="zh-CN" altLang="zh-CN" kern="100" dirty="0">
              <a:latin typeface="+mn-ea"/>
              <a:cs typeface="Times New Roman" panose="02020603050405020304" pitchFamily="18" charset="0"/>
            </a:endParaRPr>
          </a:p>
          <a:p>
            <a:pPr indent="312420" algn="just">
              <a:lnSpc>
                <a:spcPct val="125000"/>
              </a:lnSpc>
            </a:pPr>
            <a:r>
              <a:rPr lang="en-US" altLang="zh-CN" kern="100" dirty="0">
                <a:latin typeface="+mn-ea"/>
                <a:cs typeface="Times New Roman" panose="02020603050405020304" pitchFamily="18" charset="0"/>
              </a:rPr>
              <a:t>ALU </a:t>
            </a:r>
            <a:r>
              <a:rPr lang="zh-CN" altLang="zh-CN" kern="100" dirty="0">
                <a:latin typeface="+mn-ea"/>
                <a:cs typeface="Times New Roman" panose="02020603050405020304" pitchFamily="18" charset="0"/>
              </a:rPr>
              <a:t>操作码：</a:t>
            </a:r>
          </a:p>
          <a:p>
            <a:pPr indent="312420" algn="just">
              <a:lnSpc>
                <a:spcPct val="125000"/>
              </a:lnSpc>
            </a:pPr>
            <a:r>
              <a:rPr lang="en-US" altLang="zh-CN" kern="100">
                <a:latin typeface="+mn-ea"/>
                <a:cs typeface="Times New Roman" panose="02020603050405020304" pitchFamily="18" charset="0"/>
              </a:rPr>
              <a:t>00000</a:t>
            </a:r>
            <a:r>
              <a:rPr lang="zh-CN" altLang="zh-CN" kern="100" dirty="0">
                <a:latin typeface="+mn-ea"/>
                <a:cs typeface="Times New Roman" panose="02020603050405020304" pitchFamily="18" charset="0"/>
              </a:rPr>
              <a:t>：加法</a:t>
            </a:r>
          </a:p>
          <a:p>
            <a:pPr indent="312420" algn="just">
              <a:lnSpc>
                <a:spcPct val="125000"/>
              </a:lnSpc>
            </a:pPr>
            <a:r>
              <a:rPr lang="en-US" altLang="zh-CN" kern="100" dirty="0">
                <a:latin typeface="+mn-ea"/>
                <a:cs typeface="Times New Roman" panose="02020603050405020304" pitchFamily="18" charset="0"/>
              </a:rPr>
              <a:t>00001</a:t>
            </a:r>
            <a:r>
              <a:rPr lang="zh-CN" altLang="zh-CN" kern="100" dirty="0">
                <a:latin typeface="+mn-ea"/>
                <a:cs typeface="Times New Roman" panose="02020603050405020304" pitchFamily="18" charset="0"/>
              </a:rPr>
              <a:t>：减法</a:t>
            </a:r>
          </a:p>
          <a:p>
            <a:pPr indent="312420" algn="just">
              <a:lnSpc>
                <a:spcPct val="125000"/>
              </a:lnSpc>
            </a:pPr>
            <a:r>
              <a:rPr lang="en-US" altLang="zh-CN" kern="100" dirty="0">
                <a:latin typeface="+mn-ea"/>
                <a:cs typeface="Times New Roman" panose="02020603050405020304" pitchFamily="18" charset="0"/>
              </a:rPr>
              <a:t>00010</a:t>
            </a:r>
            <a:r>
              <a:rPr lang="zh-CN" altLang="zh-CN" kern="100" dirty="0">
                <a:latin typeface="+mn-ea"/>
                <a:cs typeface="Times New Roman" panose="02020603050405020304" pitchFamily="18" charset="0"/>
              </a:rPr>
              <a:t>：逻辑与</a:t>
            </a:r>
          </a:p>
          <a:p>
            <a:pPr indent="312420" algn="just">
              <a:lnSpc>
                <a:spcPct val="125000"/>
              </a:lnSpc>
            </a:pPr>
            <a:r>
              <a:rPr lang="en-US" altLang="zh-CN" kern="100" dirty="0">
                <a:latin typeface="+mn-ea"/>
                <a:cs typeface="Times New Roman" panose="02020603050405020304" pitchFamily="18" charset="0"/>
              </a:rPr>
              <a:t>00011</a:t>
            </a:r>
            <a:r>
              <a:rPr lang="zh-CN" altLang="zh-CN" kern="100" dirty="0">
                <a:latin typeface="+mn-ea"/>
                <a:cs typeface="Times New Roman" panose="02020603050405020304" pitchFamily="18" charset="0"/>
              </a:rPr>
              <a:t>：逻辑或</a:t>
            </a:r>
          </a:p>
          <a:p>
            <a:pPr indent="312420" algn="just">
              <a:lnSpc>
                <a:spcPct val="125000"/>
              </a:lnSpc>
            </a:pPr>
            <a:r>
              <a:rPr lang="en-US" altLang="zh-CN" kern="100" dirty="0">
                <a:latin typeface="+mn-ea"/>
                <a:cs typeface="Times New Roman" panose="02020603050405020304" pitchFamily="18" charset="0"/>
              </a:rPr>
              <a:t>00100</a:t>
            </a:r>
            <a:r>
              <a:rPr lang="zh-CN" altLang="zh-CN" kern="100" dirty="0">
                <a:latin typeface="+mn-ea"/>
                <a:cs typeface="Times New Roman" panose="02020603050405020304" pitchFamily="18" charset="0"/>
              </a:rPr>
              <a:t>：逻辑非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9D75738-09DF-4910-A0E2-467234666386}"/>
              </a:ext>
            </a:extLst>
          </p:cNvPr>
          <p:cNvSpPr/>
          <p:nvPr/>
        </p:nvSpPr>
        <p:spPr>
          <a:xfrm>
            <a:off x="766763" y="653502"/>
            <a:ext cx="382339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MIPS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指令操作码</a:t>
            </a:r>
            <a:endParaRPr lang="zh-CN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C8A7A3D-DE54-4670-936F-0294A609957A}"/>
              </a:ext>
            </a:extLst>
          </p:cNvPr>
          <p:cNvSpPr txBox="1"/>
          <p:nvPr/>
        </p:nvSpPr>
        <p:spPr>
          <a:xfrm>
            <a:off x="766763" y="138784"/>
            <a:ext cx="27540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</a:p>
        </p:txBody>
      </p:sp>
    </p:spTree>
    <p:extLst>
      <p:ext uri="{BB962C8B-B14F-4D97-AF65-F5344CB8AC3E}">
        <p14:creationId xmlns:p14="http://schemas.microsoft.com/office/powerpoint/2010/main" val="91980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66763" y="138784"/>
            <a:ext cx="27540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5B50150-2EC8-4CD0-BD4B-AC5237D2A731}"/>
              </a:ext>
            </a:extLst>
          </p:cNvPr>
          <p:cNvSpPr/>
          <p:nvPr/>
        </p:nvSpPr>
        <p:spPr>
          <a:xfrm>
            <a:off x="766763" y="653502"/>
            <a:ext cx="36647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单周期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原理</a:t>
            </a:r>
            <a:endParaRPr lang="zh-CN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EB75E5F-A4B8-487A-B250-CC6C6557F347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8260" y="1168220"/>
            <a:ext cx="9082395" cy="533248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5543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3FB10B7-C72A-40A9-A8BB-B4736FC9F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838" y="1161854"/>
            <a:ext cx="10040164" cy="5333837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66763" y="138784"/>
            <a:ext cx="27540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5B50150-2EC8-4CD0-BD4B-AC5237D2A731}"/>
              </a:ext>
            </a:extLst>
          </p:cNvPr>
          <p:cNvSpPr/>
          <p:nvPr/>
        </p:nvSpPr>
        <p:spPr>
          <a:xfrm>
            <a:off x="766763" y="653502"/>
            <a:ext cx="36647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单周期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endParaRPr lang="zh-CN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14495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66763" y="138784"/>
            <a:ext cx="27540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5B50150-2EC8-4CD0-BD4B-AC5237D2A731}"/>
              </a:ext>
            </a:extLst>
          </p:cNvPr>
          <p:cNvSpPr/>
          <p:nvPr/>
        </p:nvSpPr>
        <p:spPr>
          <a:xfrm>
            <a:off x="766763" y="653502"/>
            <a:ext cx="36647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单周期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endParaRPr lang="zh-CN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4406967-5DC2-48C5-9BB3-0481C964DE35}"/>
              </a:ext>
            </a:extLst>
          </p:cNvPr>
          <p:cNvSpPr/>
          <p:nvPr/>
        </p:nvSpPr>
        <p:spPr>
          <a:xfrm>
            <a:off x="1524001" y="1446597"/>
            <a:ext cx="4166559" cy="4561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04800" algn="just">
              <a:lnSpc>
                <a:spcPct val="125000"/>
              </a:lnSpc>
            </a:pPr>
            <a:r>
              <a:rPr lang="zh-CN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单周期</a:t>
            </a: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CPU</a:t>
            </a:r>
            <a:r>
              <a:rPr lang="zh-CN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代码实现框架如下：</a:t>
            </a:r>
            <a:endParaRPr lang="zh-CN" altLang="zh-CN" kern="100" dirty="0"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module </a:t>
            </a:r>
            <a:r>
              <a:rPr lang="en-US" altLang="zh-CN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SimpleMIPSCPU</a:t>
            </a: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(</a:t>
            </a:r>
            <a:endParaRPr lang="zh-CN" altLang="zh-CN" kern="100" dirty="0"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input wire </a:t>
            </a:r>
            <a:r>
              <a:rPr lang="en-US" altLang="zh-CN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clk</a:t>
            </a: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,    // </a:t>
            </a:r>
            <a:r>
              <a:rPr lang="zh-CN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时钟</a:t>
            </a:r>
            <a:endParaRPr lang="zh-CN" altLang="zh-CN" kern="100" dirty="0"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input wire </a:t>
            </a:r>
            <a:r>
              <a:rPr lang="en-US" altLang="zh-CN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rst</a:t>
            </a: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,    // </a:t>
            </a:r>
            <a:r>
              <a:rPr lang="zh-CN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复位</a:t>
            </a:r>
            <a:endParaRPr lang="zh-CN" altLang="zh-CN" kern="100" dirty="0"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input wire [31:0] instruction,  // </a:t>
            </a:r>
            <a:r>
              <a:rPr lang="zh-CN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输入指令</a:t>
            </a:r>
            <a:endParaRPr lang="zh-CN" altLang="zh-CN" kern="100" dirty="0"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output reg [31:0] result  // </a:t>
            </a:r>
            <a:r>
              <a:rPr lang="zh-CN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输出结果</a:t>
            </a:r>
            <a:endParaRPr lang="zh-CN" altLang="zh-CN" kern="100" dirty="0"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);</a:t>
            </a:r>
            <a:endParaRPr lang="zh-CN" altLang="zh-CN" kern="100" dirty="0"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 </a:t>
            </a:r>
            <a:endParaRPr lang="zh-CN" altLang="zh-CN" kern="100" dirty="0"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寄存器文件</a:t>
            </a:r>
            <a:endParaRPr lang="zh-CN" altLang="zh-CN" kern="100" dirty="0"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reg [31:0] registers [0:31];</a:t>
            </a:r>
            <a:endParaRPr lang="zh-CN" altLang="zh-CN" kern="100" dirty="0"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 </a:t>
            </a:r>
            <a:endParaRPr lang="zh-CN" altLang="zh-CN" kern="100" dirty="0"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04800" algn="just">
              <a:lnSpc>
                <a:spcPct val="125000"/>
              </a:lnSpc>
            </a:pPr>
            <a:endParaRPr lang="zh-CN" altLang="zh-CN" kern="100" dirty="0"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B398137-48BF-4ED0-9705-8AA48AF88C1B}"/>
              </a:ext>
            </a:extLst>
          </p:cNvPr>
          <p:cNvSpPr/>
          <p:nvPr/>
        </p:nvSpPr>
        <p:spPr>
          <a:xfrm>
            <a:off x="6096000" y="934822"/>
            <a:ext cx="4572000" cy="558467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控制信号</a:t>
            </a: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reg 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RegWrite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MemtoReg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MemWrite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ALUSrc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, Branch, Jump, Zero;</a:t>
            </a: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reg [5:0] opcode;</a:t>
            </a: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reg [4:0] 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rs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, rt, 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rd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 </a:t>
            </a: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立即数</a:t>
            </a: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wire [31:0] immediate;</a:t>
            </a: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 </a:t>
            </a: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// ALU</a:t>
            </a:r>
            <a:r>
              <a:rPr lang="zh-CN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结果</a:t>
            </a: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wire [31:0] 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alu_result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 </a:t>
            </a: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// </a:t>
            </a:r>
            <a:r>
              <a:rPr lang="zh-CN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内存</a:t>
            </a: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reg [31:0] memory [0:1023];</a:t>
            </a: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 </a:t>
            </a: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04800" algn="just">
              <a:lnSpc>
                <a:spcPct val="125000"/>
              </a:lnSpc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62107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66763" y="138784"/>
            <a:ext cx="27540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5B50150-2EC8-4CD0-BD4B-AC5237D2A731}"/>
              </a:ext>
            </a:extLst>
          </p:cNvPr>
          <p:cNvSpPr/>
          <p:nvPr/>
        </p:nvSpPr>
        <p:spPr>
          <a:xfrm>
            <a:off x="766763" y="653502"/>
            <a:ext cx="36647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单周期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endParaRPr lang="zh-CN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4406967-5DC2-48C5-9BB3-0481C964DE35}"/>
              </a:ext>
            </a:extLst>
          </p:cNvPr>
          <p:cNvSpPr/>
          <p:nvPr/>
        </p:nvSpPr>
        <p:spPr>
          <a:xfrm>
            <a:off x="1524000" y="1446598"/>
            <a:ext cx="4483100" cy="3522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// </a:t>
            </a:r>
            <a:r>
              <a:rPr lang="zh-CN" altLang="en-US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运算单元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ALU </a:t>
            </a:r>
            <a:r>
              <a:rPr lang="en-US" altLang="zh-CN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alu</a:t>
            </a: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(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.A(registers[</a:t>
            </a:r>
            <a:r>
              <a:rPr lang="en-US" altLang="zh-CN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rs</a:t>
            </a: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]),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.B(</a:t>
            </a:r>
            <a:r>
              <a:rPr lang="en-US" altLang="zh-CN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ALUSrc</a:t>
            </a: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? immediate : registers[rt]),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.Op(opcode),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.Result(</a:t>
            </a:r>
            <a:r>
              <a:rPr lang="en-US" altLang="zh-CN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alu_result</a:t>
            </a: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),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.Zero(Zero)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);</a:t>
            </a:r>
          </a:p>
          <a:p>
            <a:pPr marL="304800" algn="just">
              <a:lnSpc>
                <a:spcPct val="125000"/>
              </a:lnSpc>
            </a:pPr>
            <a:endParaRPr lang="en-US" altLang="zh-CN" kern="100" dirty="0">
              <a:latin typeface="+mj-lt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304800" algn="just">
              <a:lnSpc>
                <a:spcPct val="125000"/>
              </a:lnSpc>
            </a:pPr>
            <a:endParaRPr lang="en-US" altLang="zh-CN" kern="100" dirty="0">
              <a:latin typeface="+mj-lt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B398137-48BF-4ED0-9705-8AA48AF88C1B}"/>
              </a:ext>
            </a:extLst>
          </p:cNvPr>
          <p:cNvSpPr/>
          <p:nvPr/>
        </p:nvSpPr>
        <p:spPr>
          <a:xfrm>
            <a:off x="5880100" y="1454320"/>
            <a:ext cx="4572000" cy="3554819"/>
          </a:xfrm>
          <a:prstGeom prst="rect">
            <a:avLst/>
          </a:prstGeom>
        </p:spPr>
        <p:txBody>
          <a:bodyPr>
            <a:spAutoFit/>
          </a:bodyPr>
          <a:lstStyle/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// </a:t>
            </a:r>
            <a:r>
              <a:rPr lang="zh-CN" altLang="en-US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主控制单元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ControlUnit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ctrl (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.opcode(opcode),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.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RegWrite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RegWrite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),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.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MemtoReg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MemtoReg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),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.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MemWrite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MemWrite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),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.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ALUSrc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ALUSrc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),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.Branch(Branch),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.Jump(Jump)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);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255809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66763" y="138784"/>
            <a:ext cx="27540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5B50150-2EC8-4CD0-BD4B-AC5237D2A731}"/>
              </a:ext>
            </a:extLst>
          </p:cNvPr>
          <p:cNvSpPr/>
          <p:nvPr/>
        </p:nvSpPr>
        <p:spPr>
          <a:xfrm>
            <a:off x="766763" y="653502"/>
            <a:ext cx="36647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单周期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endParaRPr lang="zh-CN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4406967-5DC2-48C5-9BB3-0481C964DE35}"/>
              </a:ext>
            </a:extLst>
          </p:cNvPr>
          <p:cNvSpPr/>
          <p:nvPr/>
        </p:nvSpPr>
        <p:spPr>
          <a:xfrm>
            <a:off x="1524000" y="1446597"/>
            <a:ext cx="44831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// </a:t>
            </a:r>
            <a:r>
              <a:rPr lang="zh-CN" altLang="en-US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数据存储单元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DataMemory</a:t>
            </a: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dmem</a:t>
            </a: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(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.address(</a:t>
            </a:r>
            <a:r>
              <a:rPr lang="en-US" altLang="zh-CN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alu_result</a:t>
            </a: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),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.</a:t>
            </a:r>
            <a:r>
              <a:rPr lang="en-US" altLang="zh-CN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write_data</a:t>
            </a: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(registers[rt]),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.</a:t>
            </a:r>
            <a:r>
              <a:rPr lang="en-US" altLang="zh-CN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mem_read</a:t>
            </a: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MemWrite</a:t>
            </a: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),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.</a:t>
            </a:r>
            <a:r>
              <a:rPr lang="en-US" altLang="zh-CN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mem_write</a:t>
            </a: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MemWrite</a:t>
            </a: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),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.</a:t>
            </a:r>
            <a:r>
              <a:rPr lang="en-US" altLang="zh-CN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read_data</a:t>
            </a: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(result)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);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B398137-48BF-4ED0-9705-8AA48AF88C1B}"/>
              </a:ext>
            </a:extLst>
          </p:cNvPr>
          <p:cNvSpPr/>
          <p:nvPr/>
        </p:nvSpPr>
        <p:spPr>
          <a:xfrm>
            <a:off x="5880100" y="1454320"/>
            <a:ext cx="4572000" cy="3868623"/>
          </a:xfrm>
          <a:prstGeom prst="rect">
            <a:avLst/>
          </a:prstGeom>
        </p:spPr>
        <p:txBody>
          <a:bodyPr>
            <a:spAutoFit/>
          </a:bodyPr>
          <a:lstStyle/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// </a:t>
            </a:r>
            <a:r>
              <a:rPr lang="zh-CN" altLang="en-US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寄存器写入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always @(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posedge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clk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or 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posedge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rst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) begin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if (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rst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) begin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   // </a:t>
            </a:r>
            <a:r>
              <a:rPr lang="zh-CN" altLang="en-US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复位时将寄存器清零</a:t>
            </a:r>
          </a:p>
          <a:p>
            <a:pPr marL="304800" algn="just">
              <a:lnSpc>
                <a:spcPct val="125000"/>
              </a:lnSpc>
            </a:pPr>
            <a:r>
              <a:rPr lang="zh-CN" altLang="en-US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   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registers &lt;= 32'b0;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end else if (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RegWrite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) begin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   // </a:t>
            </a:r>
            <a:r>
              <a:rPr lang="zh-CN" altLang="en-US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写入寄存器</a:t>
            </a:r>
          </a:p>
          <a:p>
            <a:pPr marL="304800" algn="just">
              <a:lnSpc>
                <a:spcPct val="125000"/>
              </a:lnSpc>
            </a:pPr>
            <a:r>
              <a:rPr lang="zh-CN" altLang="en-US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   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registers[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rd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] &lt;= 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MemtoReg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? result : 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alu_result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;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end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6192437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66763" y="138784"/>
            <a:ext cx="27540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5B50150-2EC8-4CD0-BD4B-AC5237D2A731}"/>
              </a:ext>
            </a:extLst>
          </p:cNvPr>
          <p:cNvSpPr/>
          <p:nvPr/>
        </p:nvSpPr>
        <p:spPr>
          <a:xfrm>
            <a:off x="766763" y="653502"/>
            <a:ext cx="36647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单周期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endParaRPr lang="zh-CN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4406967-5DC2-48C5-9BB3-0481C964DE35}"/>
              </a:ext>
            </a:extLst>
          </p:cNvPr>
          <p:cNvSpPr/>
          <p:nvPr/>
        </p:nvSpPr>
        <p:spPr>
          <a:xfrm>
            <a:off x="1279247" y="1096286"/>
            <a:ext cx="4483100" cy="59461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// </a:t>
            </a:r>
            <a:r>
              <a:rPr lang="zh-CN" altLang="en-US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立即数生成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assign immediate = instruction[15:0];</a:t>
            </a:r>
          </a:p>
          <a:p>
            <a:pPr marL="304800" algn="just">
              <a:lnSpc>
                <a:spcPct val="125000"/>
              </a:lnSpc>
            </a:pPr>
            <a:endParaRPr lang="en-US" altLang="zh-CN" kern="100" dirty="0">
              <a:latin typeface="+mj-lt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// </a:t>
            </a:r>
            <a:r>
              <a:rPr lang="zh-CN" altLang="en-US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控制信号生成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always @* begin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// </a:t>
            </a:r>
            <a:r>
              <a:rPr lang="zh-CN" altLang="en-US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从指令中提取字段</a:t>
            </a:r>
          </a:p>
          <a:p>
            <a:pPr marL="304800" algn="just">
              <a:lnSpc>
                <a:spcPct val="125000"/>
              </a:lnSpc>
            </a:pPr>
            <a:r>
              <a:rPr lang="zh-CN" altLang="en-US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opcode = instruction[31:26];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rs</a:t>
            </a: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= instruction[25:21];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rt = instruction[20:16];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rd</a:t>
            </a: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= instruction[15:11];</a:t>
            </a:r>
          </a:p>
          <a:p>
            <a:pPr marL="304800" algn="just">
              <a:lnSpc>
                <a:spcPct val="125000"/>
              </a:lnSpc>
            </a:pPr>
            <a:endParaRPr lang="en-US" altLang="zh-CN" kern="100" dirty="0">
              <a:latin typeface="+mj-lt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// </a:t>
            </a:r>
            <a:r>
              <a:rPr lang="zh-CN" altLang="en-US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生成控制信号</a:t>
            </a:r>
          </a:p>
          <a:p>
            <a:pPr marL="304800" algn="just">
              <a:lnSpc>
                <a:spcPct val="125000"/>
              </a:lnSpc>
            </a:pPr>
            <a:r>
              <a:rPr lang="zh-CN" altLang="en-US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lang="en-US" altLang="zh-CN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RegWrite</a:t>
            </a: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MemtoReg</a:t>
            </a: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MemWrite</a:t>
            </a: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ALUSrc</a:t>
            </a: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, Branch, Jump} = </a:t>
            </a:r>
            <a:r>
              <a:rPr lang="en-US" altLang="zh-CN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ctrl.control_signals</a:t>
            </a: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;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end</a:t>
            </a:r>
          </a:p>
          <a:p>
            <a:pPr marL="304800" algn="just">
              <a:lnSpc>
                <a:spcPct val="125000"/>
              </a:lnSpc>
            </a:pPr>
            <a:endParaRPr lang="en-US" altLang="zh-CN" kern="100" dirty="0">
              <a:latin typeface="+mj-lt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B398137-48BF-4ED0-9705-8AA48AF88C1B}"/>
              </a:ext>
            </a:extLst>
          </p:cNvPr>
          <p:cNvSpPr/>
          <p:nvPr/>
        </p:nvSpPr>
        <p:spPr>
          <a:xfrm>
            <a:off x="5880100" y="1454319"/>
            <a:ext cx="4572000" cy="456112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// </a:t>
            </a:r>
            <a:r>
              <a:rPr lang="zh-CN" altLang="en-US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同步复位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always @(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posedge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clk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or 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posedge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rst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) begin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if (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rst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) begin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   // </a:t>
            </a:r>
            <a:r>
              <a:rPr lang="zh-CN" altLang="en-US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复位时初始化</a:t>
            </a:r>
          </a:p>
          <a:p>
            <a:pPr marL="304800" algn="just">
              <a:lnSpc>
                <a:spcPct val="125000"/>
              </a:lnSpc>
            </a:pPr>
            <a:r>
              <a:rPr lang="zh-CN" altLang="en-US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   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result &lt;= 32'b0;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end else begin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   // </a:t>
            </a:r>
            <a:r>
              <a:rPr lang="zh-CN" altLang="en-US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输出结果</a:t>
            </a:r>
          </a:p>
          <a:p>
            <a:pPr marL="304800" algn="just">
              <a:lnSpc>
                <a:spcPct val="125000"/>
              </a:lnSpc>
            </a:pPr>
            <a:r>
              <a:rPr lang="zh-CN" altLang="en-US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   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result &lt;= 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MemtoReg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? result : 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alu_result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;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end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end</a:t>
            </a:r>
          </a:p>
          <a:p>
            <a:pPr marL="304800" algn="just">
              <a:lnSpc>
                <a:spcPct val="125000"/>
              </a:lnSpc>
            </a:pPr>
            <a:endParaRPr lang="en-US" altLang="zh-CN" kern="1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endmodule</a:t>
            </a:r>
            <a:endParaRPr lang="en-US" altLang="zh-CN" kern="1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3110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66763" y="138784"/>
            <a:ext cx="27540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5B50150-2EC8-4CD0-BD4B-AC5237D2A731}"/>
              </a:ext>
            </a:extLst>
          </p:cNvPr>
          <p:cNvSpPr/>
          <p:nvPr/>
        </p:nvSpPr>
        <p:spPr>
          <a:xfrm>
            <a:off x="766763" y="653502"/>
            <a:ext cx="36647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多周期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endParaRPr lang="zh-CN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4406967-5DC2-48C5-9BB3-0481C964DE35}"/>
              </a:ext>
            </a:extLst>
          </p:cNvPr>
          <p:cNvSpPr/>
          <p:nvPr/>
        </p:nvSpPr>
        <p:spPr>
          <a:xfrm>
            <a:off x="966158" y="1115166"/>
            <a:ext cx="5198853" cy="5599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04800" algn="just">
              <a:lnSpc>
                <a:spcPct val="125000"/>
              </a:lnSpc>
            </a:pPr>
            <a:r>
              <a:rPr lang="zh-CN" altLang="en-US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多周期</a:t>
            </a: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CPU Verilog</a:t>
            </a:r>
            <a:r>
              <a:rPr lang="zh-CN" altLang="en-US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框架（</a:t>
            </a: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RF,DM</a:t>
            </a:r>
            <a:r>
              <a:rPr lang="zh-CN" altLang="en-US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等参考之前实验实现）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module </a:t>
            </a:r>
            <a:r>
              <a:rPr lang="en-US" altLang="zh-CN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MultiCycleCPU</a:t>
            </a: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(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input </a:t>
            </a:r>
            <a:r>
              <a:rPr lang="en-US" altLang="zh-CN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clk</a:t>
            </a: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,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input reset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);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// </a:t>
            </a:r>
            <a:r>
              <a:rPr lang="zh-CN" altLang="en-US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定义状态</a:t>
            </a:r>
          </a:p>
          <a:p>
            <a:pPr marL="304800" algn="just">
              <a:lnSpc>
                <a:spcPct val="125000"/>
              </a:lnSpc>
            </a:pPr>
            <a:r>
              <a:rPr lang="zh-CN" altLang="en-US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parameter FETCH = 3'b000;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parameter DECODE = 3'b001;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parameter EXECUTE = 3'b010;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parameter MEM_ACCESS = 3'b011;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parameter WRITE_BACK = 3'b100;</a:t>
            </a:r>
          </a:p>
          <a:p>
            <a:pPr marL="304800" algn="just">
              <a:lnSpc>
                <a:spcPct val="125000"/>
              </a:lnSpc>
            </a:pPr>
            <a:endParaRPr lang="en-US" altLang="zh-CN" kern="100" dirty="0">
              <a:latin typeface="+mj-lt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reg [2:0] state, </a:t>
            </a:r>
            <a:r>
              <a:rPr lang="en-US" altLang="zh-CN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next_state</a:t>
            </a: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;</a:t>
            </a:r>
          </a:p>
          <a:p>
            <a:pPr marL="304800" algn="just">
              <a:lnSpc>
                <a:spcPct val="125000"/>
              </a:lnSpc>
            </a:pPr>
            <a:endParaRPr lang="en-US" altLang="zh-CN" kern="100" dirty="0">
              <a:latin typeface="+mj-lt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304800" algn="just">
              <a:lnSpc>
                <a:spcPct val="125000"/>
              </a:lnSpc>
            </a:pPr>
            <a:endParaRPr lang="en-US" altLang="zh-CN" kern="100" dirty="0">
              <a:latin typeface="+mj-lt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B398137-48BF-4ED0-9705-8AA48AF88C1B}"/>
              </a:ext>
            </a:extLst>
          </p:cNvPr>
          <p:cNvSpPr/>
          <p:nvPr/>
        </p:nvSpPr>
        <p:spPr>
          <a:xfrm>
            <a:off x="6432190" y="1445693"/>
            <a:ext cx="4572000" cy="456112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04800" algn="just">
              <a:lnSpc>
                <a:spcPct val="125000"/>
              </a:lnSpc>
            </a:pPr>
            <a:r>
              <a:rPr lang="zh-CN" altLang="en-US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// </a:t>
            </a:r>
            <a:r>
              <a:rPr lang="zh-CN" altLang="en-US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内部信号</a:t>
            </a:r>
          </a:p>
          <a:p>
            <a:pPr marL="304800" algn="just">
              <a:lnSpc>
                <a:spcPct val="125000"/>
              </a:lnSpc>
            </a:pPr>
            <a:r>
              <a:rPr lang="zh-CN" altLang="en-US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reg [31:0] 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PC_in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;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wire [31:0] 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PC_out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, Instruction;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reg [31:0] IR; // </a:t>
            </a:r>
            <a:r>
              <a:rPr lang="zh-CN" altLang="en-US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指令寄存器</a:t>
            </a:r>
          </a:p>
          <a:p>
            <a:pPr marL="304800" algn="just">
              <a:lnSpc>
                <a:spcPct val="125000"/>
              </a:lnSpc>
            </a:pPr>
            <a:r>
              <a:rPr lang="zh-CN" altLang="en-US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wire [31:0] ReadData1, ReadData2, 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ALUResult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MemReadData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;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reg [31:0] 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SignExtImm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;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reg [31:0] 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ALUInputB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;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reg [4:0] 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WriteReg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; // </a:t>
            </a:r>
            <a:r>
              <a:rPr lang="zh-CN" altLang="en-US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修改为 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reg </a:t>
            </a:r>
            <a:r>
              <a:rPr lang="zh-CN" altLang="en-US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类型</a:t>
            </a:r>
          </a:p>
          <a:p>
            <a:pPr marL="304800" algn="just">
              <a:lnSpc>
                <a:spcPct val="125000"/>
              </a:lnSpc>
            </a:pPr>
            <a:r>
              <a:rPr lang="zh-CN" altLang="en-US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wire [3:0] 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ALUControl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;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wire Zero;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</a:t>
            </a:r>
          </a:p>
          <a:p>
            <a:pPr marL="304800" algn="just">
              <a:lnSpc>
                <a:spcPct val="125000"/>
              </a:lnSpc>
            </a:pPr>
            <a:endParaRPr lang="en-US" altLang="zh-CN" kern="1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12078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66763" y="138784"/>
            <a:ext cx="27540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5B50150-2EC8-4CD0-BD4B-AC5237D2A731}"/>
              </a:ext>
            </a:extLst>
          </p:cNvPr>
          <p:cNvSpPr/>
          <p:nvPr/>
        </p:nvSpPr>
        <p:spPr>
          <a:xfrm>
            <a:off x="766763" y="653502"/>
            <a:ext cx="36647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多周期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endParaRPr lang="zh-CN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4406967-5DC2-48C5-9BB3-0481C964DE35}"/>
              </a:ext>
            </a:extLst>
          </p:cNvPr>
          <p:cNvSpPr/>
          <p:nvPr/>
        </p:nvSpPr>
        <p:spPr>
          <a:xfrm>
            <a:off x="1023671" y="1546488"/>
            <a:ext cx="4641011" cy="32085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// </a:t>
            </a:r>
            <a:r>
              <a:rPr lang="zh-CN" altLang="en-US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控制信号</a:t>
            </a:r>
          </a:p>
          <a:p>
            <a:pPr marL="304800" algn="just">
              <a:lnSpc>
                <a:spcPct val="125000"/>
              </a:lnSpc>
            </a:pPr>
            <a:r>
              <a:rPr lang="zh-CN" altLang="en-US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wire 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RegWrite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RegDst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ALUSrc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, Branch, 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MemWrite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MemToReg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, Jump, 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PCSrc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;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wire [1:0] 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ALUOp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;</a:t>
            </a:r>
          </a:p>
          <a:p>
            <a:pPr marL="304800" algn="just">
              <a:lnSpc>
                <a:spcPct val="125000"/>
              </a:lnSpc>
            </a:pPr>
            <a:endParaRPr lang="en-US" altLang="zh-CN" kern="1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// </a:t>
            </a:r>
            <a:r>
              <a:rPr lang="zh-CN" altLang="en-US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初始化 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PC_in</a:t>
            </a:r>
            <a:endParaRPr lang="en-US" altLang="zh-CN" kern="1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initial begin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   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PC_in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= 0;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end</a:t>
            </a:r>
            <a:endParaRPr lang="en-US" altLang="zh-CN" kern="100" dirty="0">
              <a:latin typeface="+mj-lt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B398137-48BF-4ED0-9705-8AA48AF88C1B}"/>
              </a:ext>
            </a:extLst>
          </p:cNvPr>
          <p:cNvSpPr/>
          <p:nvPr/>
        </p:nvSpPr>
        <p:spPr>
          <a:xfrm>
            <a:off x="6328672" y="790086"/>
            <a:ext cx="4572000" cy="459356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04800" algn="just">
              <a:lnSpc>
                <a:spcPct val="125000"/>
              </a:lnSpc>
            </a:pPr>
            <a:r>
              <a:rPr lang="zh-CN" altLang="en-US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// </a:t>
            </a:r>
            <a:r>
              <a:rPr lang="zh-CN" altLang="en-US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实例化程序计数器</a:t>
            </a:r>
          </a:p>
          <a:p>
            <a:pPr marL="304800" algn="just">
              <a:lnSpc>
                <a:spcPct val="125000"/>
              </a:lnSpc>
            </a:pPr>
            <a:r>
              <a:rPr lang="zh-CN" altLang="en-US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ProgramCounter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PC (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   .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clk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clk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),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   .reset(reset),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   .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PC_in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PC_in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),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   .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PC_out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PC_out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);</a:t>
            </a:r>
          </a:p>
          <a:p>
            <a:pPr marL="304800" algn="just">
              <a:lnSpc>
                <a:spcPct val="125000"/>
              </a:lnSpc>
            </a:pPr>
            <a:endParaRPr lang="en-US" altLang="zh-CN" kern="1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// </a:t>
            </a:r>
            <a:r>
              <a:rPr lang="zh-CN" altLang="en-US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实例化指令存储器</a:t>
            </a:r>
          </a:p>
          <a:p>
            <a:pPr marL="304800" algn="just">
              <a:lnSpc>
                <a:spcPct val="125000"/>
              </a:lnSpc>
            </a:pPr>
            <a:r>
              <a:rPr lang="zh-CN" altLang="en-US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InstructionMemory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IM (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   .Address(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PC_out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),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   .Instruction(Instruction)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);  </a:t>
            </a:r>
          </a:p>
        </p:txBody>
      </p:sp>
    </p:spTree>
    <p:extLst>
      <p:ext uri="{BB962C8B-B14F-4D97-AF65-F5344CB8AC3E}">
        <p14:creationId xmlns:p14="http://schemas.microsoft.com/office/powerpoint/2010/main" val="23926079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66763" y="138784"/>
            <a:ext cx="27540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5B50150-2EC8-4CD0-BD4B-AC5237D2A731}"/>
              </a:ext>
            </a:extLst>
          </p:cNvPr>
          <p:cNvSpPr/>
          <p:nvPr/>
        </p:nvSpPr>
        <p:spPr>
          <a:xfrm>
            <a:off x="766763" y="653502"/>
            <a:ext cx="36647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多周期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endParaRPr lang="zh-CN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4406967-5DC2-48C5-9BB3-0481C964DE35}"/>
              </a:ext>
            </a:extLst>
          </p:cNvPr>
          <p:cNvSpPr/>
          <p:nvPr/>
        </p:nvSpPr>
        <p:spPr>
          <a:xfrm>
            <a:off x="766764" y="1529573"/>
            <a:ext cx="5329238" cy="42148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// </a:t>
            </a:r>
            <a:r>
              <a:rPr lang="zh-CN" altLang="en-US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寄存器组</a:t>
            </a:r>
          </a:p>
          <a:p>
            <a:pPr marL="304800" algn="just">
              <a:lnSpc>
                <a:spcPct val="125000"/>
              </a:lnSpc>
            </a:pPr>
            <a:r>
              <a:rPr lang="zh-CN" altLang="en-US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RegisterFile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RF(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   .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clk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clk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),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   .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RegWrite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RegWrite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),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   .ReadReg1(Instruction[25:21]),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   .ReadReg2(Instruction[20:16]),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   .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WriteReg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WriteReg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),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   .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WriteData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MemtoReg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? 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MemReadData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: 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ALUResult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),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   .ReadData1(ReadData1),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   .ReadData2(ReadData2)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);</a:t>
            </a:r>
            <a:endParaRPr lang="en-US" altLang="zh-CN" kern="100" dirty="0">
              <a:latin typeface="+mj-lt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B398137-48BF-4ED0-9705-8AA48AF88C1B}"/>
              </a:ext>
            </a:extLst>
          </p:cNvPr>
          <p:cNvSpPr/>
          <p:nvPr/>
        </p:nvSpPr>
        <p:spPr>
          <a:xfrm>
            <a:off x="5845595" y="2222072"/>
            <a:ext cx="4572000" cy="3868623"/>
          </a:xfrm>
          <a:prstGeom prst="rect">
            <a:avLst/>
          </a:prstGeom>
        </p:spPr>
        <p:txBody>
          <a:bodyPr>
            <a:spAutoFit/>
          </a:bodyPr>
          <a:lstStyle/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// </a:t>
            </a:r>
            <a:r>
              <a:rPr lang="zh-CN" altLang="en-US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实例化数据存储器</a:t>
            </a:r>
          </a:p>
          <a:p>
            <a:pPr marL="304800" algn="just">
              <a:lnSpc>
                <a:spcPct val="125000"/>
              </a:lnSpc>
            </a:pPr>
            <a:r>
              <a:rPr lang="zh-CN" altLang="en-US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DataMemory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DM (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   .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clk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clk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),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   .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MemWrite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MemWrite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),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   .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MemRead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MemRead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),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   .Address(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ALUResult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),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   .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WriteData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(ReadData2),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   .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ReadData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kern="100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MemReadData</a:t>
            </a: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);</a:t>
            </a:r>
          </a:p>
          <a:p>
            <a:pPr marL="304800" algn="just">
              <a:lnSpc>
                <a:spcPct val="125000"/>
              </a:lnSpc>
            </a:pPr>
            <a:endParaRPr lang="en-US" altLang="zh-CN" kern="1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304800" algn="just">
              <a:lnSpc>
                <a:spcPct val="125000"/>
              </a:lnSpc>
            </a:pPr>
            <a:endParaRPr lang="en-US" altLang="zh-CN" kern="1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12569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66763" y="138784"/>
            <a:ext cx="27540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5B50150-2EC8-4CD0-BD4B-AC5237D2A731}"/>
              </a:ext>
            </a:extLst>
          </p:cNvPr>
          <p:cNvSpPr/>
          <p:nvPr/>
        </p:nvSpPr>
        <p:spPr>
          <a:xfrm>
            <a:off x="766763" y="653502"/>
            <a:ext cx="36647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多周期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endParaRPr lang="zh-CN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4406967-5DC2-48C5-9BB3-0481C964DE35}"/>
              </a:ext>
            </a:extLst>
          </p:cNvPr>
          <p:cNvSpPr/>
          <p:nvPr/>
        </p:nvSpPr>
        <p:spPr>
          <a:xfrm>
            <a:off x="766764" y="1168220"/>
            <a:ext cx="4529855" cy="43723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04800" algn="just">
              <a:lnSpc>
                <a:spcPct val="125000"/>
              </a:lnSpc>
            </a:pPr>
            <a:r>
              <a:rPr lang="zh-CN" altLang="en-US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// </a:t>
            </a:r>
            <a:r>
              <a:rPr lang="zh-CN" altLang="en-US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控制单元</a:t>
            </a:r>
          </a:p>
          <a:p>
            <a:pPr marL="304800" algn="just">
              <a:lnSpc>
                <a:spcPct val="125000"/>
              </a:lnSpc>
            </a:pPr>
            <a:r>
              <a:rPr lang="zh-CN" altLang="en-US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    </a:t>
            </a:r>
            <a:r>
              <a:rPr lang="en-US" altLang="zh-CN" sz="16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ControlUnit</a:t>
            </a: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CU(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        .</a:t>
            </a:r>
            <a:r>
              <a:rPr lang="en-US" altLang="zh-CN" sz="16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clk</a:t>
            </a: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6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clk</a:t>
            </a: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),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        .Opcode(Instruction[31:26]),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        .</a:t>
            </a:r>
            <a:r>
              <a:rPr lang="en-US" altLang="zh-CN" sz="16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RegDst</a:t>
            </a: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6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RegDst</a:t>
            </a: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),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        .</a:t>
            </a:r>
            <a:r>
              <a:rPr lang="en-US" altLang="zh-CN" sz="16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ALUSrc</a:t>
            </a: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6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ALUSrc</a:t>
            </a: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),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        .</a:t>
            </a:r>
            <a:r>
              <a:rPr lang="en-US" altLang="zh-CN" sz="16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MemtoReg</a:t>
            </a: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6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MemtoReg</a:t>
            </a: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),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        .</a:t>
            </a:r>
            <a:r>
              <a:rPr lang="en-US" altLang="zh-CN" sz="16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RegWrite</a:t>
            </a: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6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RegWrite</a:t>
            </a: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),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        .</a:t>
            </a:r>
            <a:r>
              <a:rPr lang="en-US" altLang="zh-CN" sz="16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MemRead</a:t>
            </a: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6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MemRead</a:t>
            </a: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),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        .</a:t>
            </a:r>
            <a:r>
              <a:rPr lang="en-US" altLang="zh-CN" sz="16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MemWrite</a:t>
            </a: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6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MemWrite</a:t>
            </a: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),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        .Branch(Branch),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        .</a:t>
            </a:r>
            <a:r>
              <a:rPr lang="en-US" altLang="zh-CN" sz="16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ALUOp</a:t>
            </a: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6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ALUOp</a:t>
            </a: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    );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FF262FE-9AC0-46CB-94E3-8E7441BB3C8B}"/>
              </a:ext>
            </a:extLst>
          </p:cNvPr>
          <p:cNvSpPr txBox="1"/>
          <p:nvPr/>
        </p:nvSpPr>
        <p:spPr>
          <a:xfrm>
            <a:off x="5854132" y="1115167"/>
            <a:ext cx="4606834" cy="4103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4800" algn="just">
              <a:lnSpc>
                <a:spcPct val="125000"/>
              </a:lnSpc>
            </a:pPr>
            <a:r>
              <a:rPr lang="en-US" altLang="zh-CN" dirty="0"/>
              <a:t> </a:t>
            </a: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// ALU</a:t>
            </a:r>
            <a:r>
              <a:rPr lang="zh-CN" altLang="en-US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控制单元</a:t>
            </a:r>
          </a:p>
          <a:p>
            <a:pPr marL="304800" algn="just">
              <a:lnSpc>
                <a:spcPct val="125000"/>
              </a:lnSpc>
            </a:pPr>
            <a:r>
              <a:rPr lang="zh-CN" altLang="en-US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    </a:t>
            </a:r>
            <a:r>
              <a:rPr lang="en-US" altLang="zh-CN" sz="16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ALUControlUnit</a:t>
            </a: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6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ALUCtrl</a:t>
            </a: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(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        .</a:t>
            </a:r>
            <a:r>
              <a:rPr lang="en-US" altLang="zh-CN" sz="16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ALUOp</a:t>
            </a: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6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ALUOp</a:t>
            </a: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),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        .</a:t>
            </a:r>
            <a:r>
              <a:rPr lang="en-US" altLang="zh-CN" sz="16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Funct</a:t>
            </a: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(Instruction[5:0]),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        .</a:t>
            </a:r>
            <a:r>
              <a:rPr lang="en-US" altLang="zh-CN" sz="16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ALUControl</a:t>
            </a: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6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ALUControl</a:t>
            </a: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    );</a:t>
            </a:r>
          </a:p>
          <a:p>
            <a:pPr marL="304800" algn="just">
              <a:lnSpc>
                <a:spcPct val="125000"/>
              </a:lnSpc>
            </a:pPr>
            <a:endParaRPr lang="en-US" altLang="zh-CN" sz="1600" kern="100" dirty="0">
              <a:latin typeface="+mj-lt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304800" algn="just">
              <a:lnSpc>
                <a:spcPct val="125000"/>
              </a:lnSpc>
            </a:pP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// </a:t>
            </a:r>
            <a:r>
              <a:rPr lang="zh-CN" altLang="en-US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符号扩展逻辑</a:t>
            </a:r>
          </a:p>
          <a:p>
            <a:pPr marL="304800" algn="just">
              <a:lnSpc>
                <a:spcPct val="125000"/>
              </a:lnSpc>
            </a:pPr>
            <a:r>
              <a:rPr lang="zh-CN" altLang="en-US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always @(*) begin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    </a:t>
            </a:r>
            <a:r>
              <a:rPr lang="en-US" altLang="zh-CN" sz="16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SignExtImm</a:t>
            </a: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= {{16{IR[15]}}, IR[15:0]}; // </a:t>
            </a:r>
            <a:r>
              <a:rPr lang="zh-CN" altLang="en-US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使用 </a:t>
            </a: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IR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end</a:t>
            </a:r>
          </a:p>
          <a:p>
            <a:pPr marL="304800" algn="just">
              <a:lnSpc>
                <a:spcPct val="125000"/>
              </a:lnSpc>
            </a:pPr>
            <a:endParaRPr lang="en-US" altLang="zh-CN" sz="1600" kern="100" dirty="0">
              <a:latin typeface="+mj-lt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48383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66763" y="138784"/>
            <a:ext cx="27540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5B50150-2EC8-4CD0-BD4B-AC5237D2A731}"/>
              </a:ext>
            </a:extLst>
          </p:cNvPr>
          <p:cNvSpPr/>
          <p:nvPr/>
        </p:nvSpPr>
        <p:spPr>
          <a:xfrm>
            <a:off x="766763" y="653502"/>
            <a:ext cx="36647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多周期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endParaRPr lang="zh-CN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4406967-5DC2-48C5-9BB3-0481C964DE35}"/>
              </a:ext>
            </a:extLst>
          </p:cNvPr>
          <p:cNvSpPr/>
          <p:nvPr/>
        </p:nvSpPr>
        <p:spPr>
          <a:xfrm>
            <a:off x="1454990" y="1168219"/>
            <a:ext cx="8962845" cy="59881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04800" algn="just">
              <a:lnSpc>
                <a:spcPct val="125000"/>
              </a:lnSpc>
            </a:pP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// ALU </a:t>
            </a:r>
            <a:r>
              <a:rPr lang="zh-CN" altLang="en-US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输入选择逻辑</a:t>
            </a:r>
          </a:p>
          <a:p>
            <a:pPr marL="304800" algn="just">
              <a:lnSpc>
                <a:spcPct val="125000"/>
              </a:lnSpc>
            </a:pPr>
            <a:r>
              <a:rPr lang="zh-CN" altLang="en-US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always @(*) begin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    if (</a:t>
            </a:r>
            <a:r>
              <a:rPr lang="en-US" altLang="zh-CN" sz="16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ALUSrc</a:t>
            </a: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16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ALUInputB</a:t>
            </a: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16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SignExtImm</a:t>
            </a: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;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    else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16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ALUInputB</a:t>
            </a: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= ReadData2;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end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// ALU 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操作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ALU 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alu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286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.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clk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clk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286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.A(ReadData1),</a:t>
            </a: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286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.B(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ALUInputB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286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.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ALUControl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ALUControl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286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.Result(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ALUResult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286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.Zero(Zero)</a:t>
            </a: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286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);</a:t>
            </a: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286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04800" algn="just">
              <a:lnSpc>
                <a:spcPct val="125000"/>
              </a:lnSpc>
            </a:pPr>
            <a:endParaRPr lang="en-US" altLang="zh-CN" sz="1600" kern="100" dirty="0">
              <a:latin typeface="+mj-lt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DC23F09-298B-4ED1-99AA-F1CA5E1104AA}"/>
              </a:ext>
            </a:extLst>
          </p:cNvPr>
          <p:cNvSpPr txBox="1"/>
          <p:nvPr/>
        </p:nvSpPr>
        <p:spPr>
          <a:xfrm>
            <a:off x="5524865" y="0"/>
            <a:ext cx="4606834" cy="6289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// 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状态机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always @(posedge 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clk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or 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posedge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reset) begin</a:t>
            </a: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286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if (reset) begin</a:t>
            </a: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286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state &lt;= FETCH;</a:t>
            </a: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286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IR &lt;= 0;</a:t>
            </a: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286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PC_in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&lt;= 0; // 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重置时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PC 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归零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end else begin</a:t>
            </a: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286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state &lt;= 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next_state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286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// 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控制信号设置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if (state == FETCH) begin</a:t>
            </a: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286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IR &lt;= Instruction; // 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FETCH 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状态下写入新的指令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PC_in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&lt;= 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PC_out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+ 4; // 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FETCH 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状态下更新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PC</a:t>
            </a: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286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end</a:t>
            </a: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286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end</a:t>
            </a: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28600" algn="just">
              <a:lnSpc>
                <a:spcPct val="125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end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209568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66763" y="138784"/>
            <a:ext cx="27540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5B50150-2EC8-4CD0-BD4B-AC5237D2A731}"/>
              </a:ext>
            </a:extLst>
          </p:cNvPr>
          <p:cNvSpPr/>
          <p:nvPr/>
        </p:nvSpPr>
        <p:spPr>
          <a:xfrm>
            <a:off x="766763" y="653502"/>
            <a:ext cx="36647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多周期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endParaRPr lang="zh-CN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4406967-5DC2-48C5-9BB3-0481C964DE35}"/>
              </a:ext>
            </a:extLst>
          </p:cNvPr>
          <p:cNvSpPr/>
          <p:nvPr/>
        </p:nvSpPr>
        <p:spPr>
          <a:xfrm>
            <a:off x="766764" y="1168220"/>
            <a:ext cx="5451158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04800" algn="just">
              <a:lnSpc>
                <a:spcPct val="125000"/>
              </a:lnSpc>
            </a:pPr>
            <a:r>
              <a:rPr lang="zh-CN" altLang="en-US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// </a:t>
            </a:r>
            <a:r>
              <a:rPr lang="zh-CN" altLang="en-US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下一状态逻辑</a:t>
            </a:r>
          </a:p>
          <a:p>
            <a:pPr marL="304800" algn="just">
              <a:lnSpc>
                <a:spcPct val="125000"/>
              </a:lnSpc>
            </a:pPr>
            <a:r>
              <a:rPr lang="zh-CN" altLang="en-US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always @(*) begin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    case (state)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        FETCH: </a:t>
            </a:r>
            <a:r>
              <a:rPr lang="en-US" altLang="zh-CN" sz="14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next_state</a:t>
            </a: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= DECODE;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        DECODE: </a:t>
            </a:r>
            <a:r>
              <a:rPr lang="en-US" altLang="zh-CN" sz="14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next_state</a:t>
            </a: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= EXECUTE;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        EXECUTE: begin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            case (IR[31:26])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                6'b100011, 6'b101011: </a:t>
            </a:r>
            <a:r>
              <a:rPr lang="en-US" altLang="zh-CN" sz="14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next_state</a:t>
            </a: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= MEM_ACCESS; // LW, SW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                6'b000100: </a:t>
            </a:r>
            <a:r>
              <a:rPr lang="en-US" altLang="zh-CN" sz="14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next_state</a:t>
            </a: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= FETCH; // BEQ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                6'b001000: </a:t>
            </a:r>
            <a:r>
              <a:rPr lang="en-US" altLang="zh-CN" sz="14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next_state</a:t>
            </a: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= WRITE_BACK; // ADDI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                6'b000000: </a:t>
            </a:r>
            <a:r>
              <a:rPr lang="en-US" altLang="zh-CN" sz="14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next_state</a:t>
            </a: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= WRITE_BACK; // R-type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                default: </a:t>
            </a:r>
            <a:r>
              <a:rPr lang="en-US" altLang="zh-CN" sz="14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next_state</a:t>
            </a: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= FETCH;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            </a:t>
            </a:r>
            <a:r>
              <a:rPr lang="en-US" altLang="zh-CN" sz="14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endcase</a:t>
            </a:r>
            <a:endParaRPr lang="en-US" altLang="zh-CN" sz="1400" kern="100" dirty="0">
              <a:latin typeface="+mj-lt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304800" algn="just">
              <a:lnSpc>
                <a:spcPct val="125000"/>
              </a:lnSpc>
            </a:pP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        end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        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B2FE94E-FDFE-455E-BC48-5C5D1A94B59F}"/>
              </a:ext>
            </a:extLst>
          </p:cNvPr>
          <p:cNvSpPr txBox="1"/>
          <p:nvPr/>
        </p:nvSpPr>
        <p:spPr>
          <a:xfrm>
            <a:off x="6217920" y="1"/>
            <a:ext cx="4526534" cy="6524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4800" algn="just">
              <a:lnSpc>
                <a:spcPct val="125000"/>
              </a:lnSpc>
            </a:pP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MEM_ACCESS: begin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            if (IR[31:26] == 6'b100011) // LW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                </a:t>
            </a:r>
            <a:r>
              <a:rPr lang="en-US" altLang="zh-CN" sz="16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next_state</a:t>
            </a: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= WRITE_BACK;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            else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                </a:t>
            </a:r>
            <a:r>
              <a:rPr lang="en-US" altLang="zh-CN" sz="16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next_state</a:t>
            </a: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= FETCH; // SW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        end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        WRITE_BACK: </a:t>
            </a:r>
            <a:r>
              <a:rPr lang="en-US" altLang="zh-CN" sz="16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next_state</a:t>
            </a: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= FETCH;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        default: </a:t>
            </a:r>
            <a:r>
              <a:rPr lang="en-US" altLang="zh-CN" sz="16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next_state</a:t>
            </a: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= FETCH;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    </a:t>
            </a:r>
            <a:r>
              <a:rPr lang="en-US" altLang="zh-CN" sz="16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endcase</a:t>
            </a:r>
            <a:endParaRPr lang="en-US" altLang="zh-CN" sz="1600" kern="100" dirty="0">
              <a:latin typeface="+mj-lt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304800" algn="just">
              <a:lnSpc>
                <a:spcPct val="125000"/>
              </a:lnSpc>
            </a:pP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end</a:t>
            </a:r>
          </a:p>
          <a:p>
            <a:pPr marL="304800" algn="just">
              <a:lnSpc>
                <a:spcPct val="125000"/>
              </a:lnSpc>
            </a:pPr>
            <a:endParaRPr lang="en-US" altLang="zh-CN" sz="1600" kern="100" dirty="0">
              <a:latin typeface="+mj-lt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304800" algn="just">
              <a:lnSpc>
                <a:spcPct val="125000"/>
              </a:lnSpc>
            </a:pP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// </a:t>
            </a:r>
            <a:r>
              <a:rPr lang="zh-CN" altLang="en-US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写寄存器选择逻辑</a:t>
            </a:r>
          </a:p>
          <a:p>
            <a:pPr marL="304800" algn="just">
              <a:lnSpc>
                <a:spcPct val="125000"/>
              </a:lnSpc>
            </a:pPr>
            <a:r>
              <a:rPr lang="zh-CN" altLang="en-US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always @(*) begin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    if (</a:t>
            </a:r>
            <a:r>
              <a:rPr lang="en-US" altLang="zh-CN" sz="16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RegDst</a:t>
            </a: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16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WriteReg</a:t>
            </a: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= IR[15:11]; // R-type </a:t>
            </a:r>
            <a:r>
              <a:rPr lang="zh-CN" altLang="en-US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指令写入 </a:t>
            </a:r>
            <a:r>
              <a:rPr lang="en-US" altLang="zh-CN" sz="16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rd</a:t>
            </a:r>
            <a:endParaRPr lang="en-US" altLang="zh-CN" sz="1600" kern="100" dirty="0">
              <a:latin typeface="+mj-lt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304800" algn="just">
              <a:lnSpc>
                <a:spcPct val="125000"/>
              </a:lnSpc>
            </a:pP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    else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16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WriteReg</a:t>
            </a: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= IR[20:16]; // I-type </a:t>
            </a:r>
            <a:r>
              <a:rPr lang="zh-CN" altLang="en-US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指令写入 </a:t>
            </a: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rt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end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6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endmodule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8699078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66763" y="138784"/>
            <a:ext cx="27540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5B50150-2EC8-4CD0-BD4B-AC5237D2A731}"/>
              </a:ext>
            </a:extLst>
          </p:cNvPr>
          <p:cNvSpPr/>
          <p:nvPr/>
        </p:nvSpPr>
        <p:spPr>
          <a:xfrm>
            <a:off x="766763" y="538902"/>
            <a:ext cx="44257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多周期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(CU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4406967-5DC2-48C5-9BB3-0481C964DE35}"/>
              </a:ext>
            </a:extLst>
          </p:cNvPr>
          <p:cNvSpPr/>
          <p:nvPr/>
        </p:nvSpPr>
        <p:spPr>
          <a:xfrm>
            <a:off x="766763" y="613405"/>
            <a:ext cx="5599203" cy="57856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algn="just">
              <a:lnSpc>
                <a:spcPct val="125000"/>
              </a:lnSpc>
            </a:pPr>
            <a:endParaRPr lang="en-US" altLang="zh-CN" sz="110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28600" algn="just">
              <a:lnSpc>
                <a:spcPct val="125000"/>
              </a:lnSpc>
            </a:pPr>
            <a:endParaRPr lang="en-US" altLang="zh-CN" sz="110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28600" algn="just">
              <a:lnSpc>
                <a:spcPct val="125000"/>
              </a:lnSpc>
            </a:pPr>
            <a:r>
              <a:rPr lang="en-US" altLang="zh-CN" sz="11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module </a:t>
            </a:r>
            <a:r>
              <a:rPr lang="en-US" altLang="zh-CN" sz="11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ControlUnit</a:t>
            </a:r>
            <a:r>
              <a:rPr lang="en-US" altLang="zh-CN" sz="11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1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input </a:t>
            </a:r>
            <a:r>
              <a:rPr lang="en-US" altLang="zh-CN" sz="11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clk</a:t>
            </a:r>
            <a:r>
              <a:rPr lang="en-US" altLang="zh-CN" sz="11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1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input [5:0] Opcode,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1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output reg </a:t>
            </a:r>
            <a:r>
              <a:rPr lang="en-US" altLang="zh-CN" sz="11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RegDst</a:t>
            </a:r>
            <a:r>
              <a:rPr lang="en-US" altLang="zh-CN" sz="11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1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output reg </a:t>
            </a:r>
            <a:r>
              <a:rPr lang="en-US" altLang="zh-CN" sz="11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ALUSrc</a:t>
            </a:r>
            <a:r>
              <a:rPr lang="en-US" altLang="zh-CN" sz="11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1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output reg </a:t>
            </a:r>
            <a:r>
              <a:rPr lang="en-US" altLang="zh-CN" sz="11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MemtoReg</a:t>
            </a:r>
            <a:r>
              <a:rPr lang="en-US" altLang="zh-CN" sz="11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1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output reg </a:t>
            </a:r>
            <a:r>
              <a:rPr lang="en-US" altLang="zh-CN" sz="11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RegWrite</a:t>
            </a:r>
            <a:r>
              <a:rPr lang="en-US" altLang="zh-CN" sz="11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1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output reg </a:t>
            </a:r>
            <a:r>
              <a:rPr lang="en-US" altLang="zh-CN" sz="11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MemRead</a:t>
            </a:r>
            <a:r>
              <a:rPr lang="en-US" altLang="zh-CN" sz="11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1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output reg </a:t>
            </a:r>
            <a:r>
              <a:rPr lang="en-US" altLang="zh-CN" sz="11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MemWrite</a:t>
            </a:r>
            <a:r>
              <a:rPr lang="en-US" altLang="zh-CN" sz="11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1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output reg Branch,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1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output reg [1:0] </a:t>
            </a:r>
            <a:r>
              <a:rPr lang="en-US" altLang="zh-CN" sz="11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ALUOp</a:t>
            </a:r>
            <a:endParaRPr lang="en-US" altLang="zh-CN" sz="110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28600" algn="just">
              <a:lnSpc>
                <a:spcPct val="125000"/>
              </a:lnSpc>
            </a:pPr>
            <a:r>
              <a:rPr lang="en-US" altLang="zh-CN" sz="11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1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always @(posedge </a:t>
            </a:r>
            <a:r>
              <a:rPr lang="en-US" altLang="zh-CN" sz="11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clk</a:t>
            </a:r>
            <a:r>
              <a:rPr lang="en-US" altLang="zh-CN" sz="11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begin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1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case (Opcode)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1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6'b000000: begin // R</a:t>
            </a:r>
            <a:r>
              <a:rPr lang="zh-CN" altLang="en-US" sz="11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型指令</a:t>
            </a:r>
          </a:p>
          <a:p>
            <a:pPr marL="228600" algn="just">
              <a:lnSpc>
                <a:spcPct val="125000"/>
              </a:lnSpc>
            </a:pPr>
            <a:r>
              <a:rPr lang="zh-CN" altLang="en-US" sz="11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</a:t>
            </a:r>
            <a:r>
              <a:rPr lang="en-US" altLang="zh-CN" sz="11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RegDst</a:t>
            </a:r>
            <a:r>
              <a:rPr lang="en-US" altLang="zh-CN" sz="11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= 1;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1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</a:t>
            </a:r>
            <a:r>
              <a:rPr lang="en-US" altLang="zh-CN" sz="11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ALUSrc</a:t>
            </a:r>
            <a:r>
              <a:rPr lang="en-US" altLang="zh-CN" sz="11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= 0;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1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</a:t>
            </a:r>
            <a:r>
              <a:rPr lang="en-US" altLang="zh-CN" sz="11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MemtoReg</a:t>
            </a:r>
            <a:r>
              <a:rPr lang="en-US" altLang="zh-CN" sz="11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0;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1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</a:t>
            </a:r>
            <a:r>
              <a:rPr lang="en-US" altLang="zh-CN" sz="11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RegWrite</a:t>
            </a:r>
            <a:r>
              <a:rPr lang="en-US" altLang="zh-CN" sz="11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1;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1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</a:t>
            </a:r>
            <a:r>
              <a:rPr lang="en-US" altLang="zh-CN" sz="11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MemRead</a:t>
            </a:r>
            <a:r>
              <a:rPr lang="en-US" altLang="zh-CN" sz="11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= 0;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1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</a:t>
            </a:r>
            <a:r>
              <a:rPr lang="en-US" altLang="zh-CN" sz="11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MemWrite</a:t>
            </a:r>
            <a:r>
              <a:rPr lang="en-US" altLang="zh-CN" sz="11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0;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1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Branch   = 0;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1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</a:t>
            </a:r>
            <a:r>
              <a:rPr lang="en-US" altLang="zh-CN" sz="11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ALUOp</a:t>
            </a:r>
            <a:r>
              <a:rPr lang="en-US" altLang="zh-CN" sz="11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= 2'b10;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1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end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1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B2FE94E-FDFE-455E-BC48-5C5D1A94B59F}"/>
              </a:ext>
            </a:extLst>
          </p:cNvPr>
          <p:cNvSpPr txBox="1"/>
          <p:nvPr/>
        </p:nvSpPr>
        <p:spPr>
          <a:xfrm>
            <a:off x="4577923" y="181743"/>
            <a:ext cx="2952937" cy="6334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algn="just">
              <a:lnSpc>
                <a:spcPct val="125000"/>
              </a:lnSpc>
            </a:pPr>
            <a:r>
              <a:rPr lang="en-US" altLang="zh-CN" sz="10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6'b100011: begin // LW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0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</a:t>
            </a:r>
            <a:r>
              <a:rPr lang="en-US" altLang="zh-CN" sz="105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RegDst</a:t>
            </a:r>
            <a:r>
              <a:rPr lang="en-US" altLang="zh-CN" sz="10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= 0;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0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</a:t>
            </a:r>
            <a:r>
              <a:rPr lang="en-US" altLang="zh-CN" sz="105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ALUSrc</a:t>
            </a:r>
            <a:r>
              <a:rPr lang="en-US" altLang="zh-CN" sz="10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= 1;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0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</a:t>
            </a:r>
            <a:r>
              <a:rPr lang="en-US" altLang="zh-CN" sz="105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MemtoReg</a:t>
            </a:r>
            <a:r>
              <a:rPr lang="en-US" altLang="zh-CN" sz="10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1;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0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</a:t>
            </a:r>
            <a:r>
              <a:rPr lang="en-US" altLang="zh-CN" sz="105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RegWrite</a:t>
            </a:r>
            <a:r>
              <a:rPr lang="en-US" altLang="zh-CN" sz="10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1;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0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</a:t>
            </a:r>
            <a:r>
              <a:rPr lang="en-US" altLang="zh-CN" sz="105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MemRead</a:t>
            </a:r>
            <a:r>
              <a:rPr lang="en-US" altLang="zh-CN" sz="10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= 1;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0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</a:t>
            </a:r>
            <a:r>
              <a:rPr lang="en-US" altLang="zh-CN" sz="105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MemWrite</a:t>
            </a:r>
            <a:r>
              <a:rPr lang="en-US" altLang="zh-CN" sz="10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0;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0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Branch   = 0;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0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</a:t>
            </a:r>
            <a:r>
              <a:rPr lang="en-US" altLang="zh-CN" sz="105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ALUOp</a:t>
            </a:r>
            <a:r>
              <a:rPr lang="en-US" altLang="zh-CN" sz="10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= 2'b00;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0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end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0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6'b101011: begin // SW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0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</a:t>
            </a:r>
            <a:r>
              <a:rPr lang="en-US" altLang="zh-CN" sz="105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RegDst</a:t>
            </a:r>
            <a:r>
              <a:rPr lang="en-US" altLang="zh-CN" sz="10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= 0; // </a:t>
            </a:r>
            <a:r>
              <a:rPr lang="zh-CN" altLang="en-US" sz="10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无意义</a:t>
            </a:r>
          </a:p>
          <a:p>
            <a:pPr marL="228600" algn="just">
              <a:lnSpc>
                <a:spcPct val="125000"/>
              </a:lnSpc>
            </a:pPr>
            <a:r>
              <a:rPr lang="zh-CN" altLang="en-US" sz="10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</a:t>
            </a:r>
            <a:r>
              <a:rPr lang="en-US" altLang="zh-CN" sz="105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ALUSrc</a:t>
            </a:r>
            <a:r>
              <a:rPr lang="en-US" altLang="zh-CN" sz="10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= 1;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0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</a:t>
            </a:r>
            <a:r>
              <a:rPr lang="en-US" altLang="zh-CN" sz="105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MemtoReg</a:t>
            </a:r>
            <a:r>
              <a:rPr lang="en-US" altLang="zh-CN" sz="10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0; // </a:t>
            </a:r>
            <a:r>
              <a:rPr lang="zh-CN" altLang="en-US" sz="10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无意义</a:t>
            </a:r>
          </a:p>
          <a:p>
            <a:pPr marL="228600" algn="just">
              <a:lnSpc>
                <a:spcPct val="125000"/>
              </a:lnSpc>
            </a:pPr>
            <a:r>
              <a:rPr lang="zh-CN" altLang="en-US" sz="10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</a:t>
            </a:r>
            <a:r>
              <a:rPr lang="en-US" altLang="zh-CN" sz="105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RegWrite</a:t>
            </a:r>
            <a:r>
              <a:rPr lang="en-US" altLang="zh-CN" sz="10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0;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0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</a:t>
            </a:r>
            <a:r>
              <a:rPr lang="en-US" altLang="zh-CN" sz="105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MemRead</a:t>
            </a:r>
            <a:r>
              <a:rPr lang="en-US" altLang="zh-CN" sz="10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= 0;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0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</a:t>
            </a:r>
            <a:r>
              <a:rPr lang="en-US" altLang="zh-CN" sz="105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MemWrite</a:t>
            </a:r>
            <a:r>
              <a:rPr lang="en-US" altLang="zh-CN" sz="10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1;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0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Branch   = 0;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0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</a:t>
            </a:r>
            <a:r>
              <a:rPr lang="en-US" altLang="zh-CN" sz="105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ALUOp</a:t>
            </a:r>
            <a:r>
              <a:rPr lang="en-US" altLang="zh-CN" sz="10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= 2'b00;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0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end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0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6'b000100: begin // BEQ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0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</a:t>
            </a:r>
            <a:r>
              <a:rPr lang="en-US" altLang="zh-CN" sz="105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RegDst</a:t>
            </a:r>
            <a:r>
              <a:rPr lang="en-US" altLang="zh-CN" sz="10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= 0; // </a:t>
            </a:r>
            <a:r>
              <a:rPr lang="zh-CN" altLang="en-US" sz="10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无意义</a:t>
            </a:r>
          </a:p>
          <a:p>
            <a:pPr marL="228600" algn="just">
              <a:lnSpc>
                <a:spcPct val="125000"/>
              </a:lnSpc>
            </a:pPr>
            <a:r>
              <a:rPr lang="zh-CN" altLang="en-US" sz="10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</a:t>
            </a:r>
            <a:r>
              <a:rPr lang="en-US" altLang="zh-CN" sz="105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ALUSrc</a:t>
            </a:r>
            <a:r>
              <a:rPr lang="en-US" altLang="zh-CN" sz="10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= 0;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0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</a:t>
            </a:r>
            <a:r>
              <a:rPr lang="en-US" altLang="zh-CN" sz="105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MemtoReg</a:t>
            </a:r>
            <a:r>
              <a:rPr lang="en-US" altLang="zh-CN" sz="10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0; // </a:t>
            </a:r>
            <a:r>
              <a:rPr lang="zh-CN" altLang="en-US" sz="10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无意义</a:t>
            </a:r>
          </a:p>
          <a:p>
            <a:pPr marL="228600" algn="just">
              <a:lnSpc>
                <a:spcPct val="125000"/>
              </a:lnSpc>
            </a:pPr>
            <a:r>
              <a:rPr lang="zh-CN" altLang="en-US" sz="10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</a:t>
            </a:r>
            <a:r>
              <a:rPr lang="en-US" altLang="zh-CN" sz="105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RegWrite</a:t>
            </a:r>
            <a:r>
              <a:rPr lang="en-US" altLang="zh-CN" sz="10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0;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0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</a:t>
            </a:r>
            <a:r>
              <a:rPr lang="en-US" altLang="zh-CN" sz="105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MemRead</a:t>
            </a:r>
            <a:r>
              <a:rPr lang="en-US" altLang="zh-CN" sz="10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= 0;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0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</a:t>
            </a:r>
            <a:r>
              <a:rPr lang="en-US" altLang="zh-CN" sz="105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MemWrite</a:t>
            </a:r>
            <a:r>
              <a:rPr lang="en-US" altLang="zh-CN" sz="10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0;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0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Branch   = 1;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0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</a:t>
            </a:r>
            <a:r>
              <a:rPr lang="en-US" altLang="zh-CN" sz="105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ALUOp</a:t>
            </a:r>
            <a:r>
              <a:rPr lang="en-US" altLang="zh-CN" sz="10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= 2'b01;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0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end</a:t>
            </a:r>
          </a:p>
          <a:p>
            <a:pPr marL="228600" algn="just">
              <a:lnSpc>
                <a:spcPct val="125000"/>
              </a:lnSpc>
            </a:pPr>
            <a:endParaRPr lang="en-US" altLang="zh-CN" sz="105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C21F4F5-CBAF-411B-91DA-5D0311FDEECB}"/>
              </a:ext>
            </a:extLst>
          </p:cNvPr>
          <p:cNvSpPr txBox="1"/>
          <p:nvPr/>
        </p:nvSpPr>
        <p:spPr>
          <a:xfrm>
            <a:off x="8131507" y="95822"/>
            <a:ext cx="3100086" cy="6420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algn="just">
              <a:lnSpc>
                <a:spcPct val="125000"/>
              </a:lnSpc>
            </a:pPr>
            <a:r>
              <a:rPr lang="en-US" altLang="zh-CN" sz="1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6'b001101: begin // ORI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</a:t>
            </a:r>
            <a:r>
              <a:rPr lang="en-US" altLang="zh-CN" sz="10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RegDst</a:t>
            </a:r>
            <a:r>
              <a:rPr lang="en-US" altLang="zh-CN" sz="1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= 0;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</a:t>
            </a:r>
            <a:r>
              <a:rPr lang="en-US" altLang="zh-CN" sz="10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ALUSrc</a:t>
            </a:r>
            <a:r>
              <a:rPr lang="en-US" altLang="zh-CN" sz="1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= 1;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</a:t>
            </a:r>
            <a:r>
              <a:rPr lang="en-US" altLang="zh-CN" sz="10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MemtoReg</a:t>
            </a:r>
            <a:r>
              <a:rPr lang="en-US" altLang="zh-CN" sz="1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0;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</a:t>
            </a:r>
            <a:r>
              <a:rPr lang="en-US" altLang="zh-CN" sz="10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RegWrite</a:t>
            </a:r>
            <a:r>
              <a:rPr lang="en-US" altLang="zh-CN" sz="1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1;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</a:t>
            </a:r>
            <a:r>
              <a:rPr lang="en-US" altLang="zh-CN" sz="10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MemRead</a:t>
            </a:r>
            <a:r>
              <a:rPr lang="en-US" altLang="zh-CN" sz="1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= 0;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</a:t>
            </a:r>
            <a:r>
              <a:rPr lang="en-US" altLang="zh-CN" sz="10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MemWrite</a:t>
            </a:r>
            <a:r>
              <a:rPr lang="en-US" altLang="zh-CN" sz="1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0;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Branch   = 0;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</a:t>
            </a:r>
            <a:r>
              <a:rPr lang="en-US" altLang="zh-CN" sz="10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ALUOp</a:t>
            </a:r>
            <a:r>
              <a:rPr lang="en-US" altLang="zh-CN" sz="1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= 2'b11;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end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6'b001111: begin // LUI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</a:t>
            </a:r>
            <a:r>
              <a:rPr lang="en-US" altLang="zh-CN" sz="10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RegDst</a:t>
            </a:r>
            <a:r>
              <a:rPr lang="en-US" altLang="zh-CN" sz="1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= 0;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</a:t>
            </a:r>
            <a:r>
              <a:rPr lang="en-US" altLang="zh-CN" sz="10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ALUSrc</a:t>
            </a:r>
            <a:r>
              <a:rPr lang="en-US" altLang="zh-CN" sz="1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= 1;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</a:t>
            </a:r>
            <a:r>
              <a:rPr lang="en-US" altLang="zh-CN" sz="10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MemtoReg</a:t>
            </a:r>
            <a:r>
              <a:rPr lang="en-US" altLang="zh-CN" sz="1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0;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</a:t>
            </a:r>
            <a:r>
              <a:rPr lang="en-US" altLang="zh-CN" sz="10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RegWrite</a:t>
            </a:r>
            <a:r>
              <a:rPr lang="en-US" altLang="zh-CN" sz="1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1;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</a:t>
            </a:r>
            <a:r>
              <a:rPr lang="en-US" altLang="zh-CN" sz="10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MemRead</a:t>
            </a:r>
            <a:r>
              <a:rPr lang="en-US" altLang="zh-CN" sz="1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= 0;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</a:t>
            </a:r>
            <a:r>
              <a:rPr lang="en-US" altLang="zh-CN" sz="10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MemWrite</a:t>
            </a:r>
            <a:r>
              <a:rPr lang="en-US" altLang="zh-CN" sz="1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0;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Branch   = 0;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</a:t>
            </a:r>
            <a:r>
              <a:rPr lang="en-US" altLang="zh-CN" sz="10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ALUOp</a:t>
            </a:r>
            <a:r>
              <a:rPr lang="en-US" altLang="zh-CN" sz="1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= 2'b00; // ALU</a:t>
            </a:r>
            <a:r>
              <a:rPr lang="zh-CN" altLang="en-US" sz="1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操作不重要</a:t>
            </a:r>
          </a:p>
          <a:p>
            <a:pPr marL="228600" algn="just">
              <a:lnSpc>
                <a:spcPct val="125000"/>
              </a:lnSpc>
            </a:pPr>
            <a:r>
              <a:rPr lang="zh-CN" altLang="en-US" sz="1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1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end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default: begin // NOP</a:t>
            </a:r>
            <a:r>
              <a:rPr lang="zh-CN" altLang="en-US" sz="1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或未知指令</a:t>
            </a:r>
          </a:p>
          <a:p>
            <a:pPr marL="228600" algn="just">
              <a:lnSpc>
                <a:spcPct val="125000"/>
              </a:lnSpc>
            </a:pPr>
            <a:r>
              <a:rPr lang="zh-CN" altLang="en-US" sz="1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</a:t>
            </a:r>
            <a:r>
              <a:rPr lang="en-US" altLang="zh-CN" sz="10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RegDst</a:t>
            </a:r>
            <a:r>
              <a:rPr lang="en-US" altLang="zh-CN" sz="1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= 0;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</a:t>
            </a:r>
            <a:r>
              <a:rPr lang="en-US" altLang="zh-CN" sz="10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ALUSrc</a:t>
            </a:r>
            <a:r>
              <a:rPr lang="en-US" altLang="zh-CN" sz="1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= 0;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</a:t>
            </a:r>
            <a:r>
              <a:rPr lang="en-US" altLang="zh-CN" sz="10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MemtoReg</a:t>
            </a:r>
            <a:r>
              <a:rPr lang="en-US" altLang="zh-CN" sz="1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0;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</a:t>
            </a:r>
            <a:r>
              <a:rPr lang="en-US" altLang="zh-CN" sz="10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RegWrite</a:t>
            </a:r>
            <a:r>
              <a:rPr lang="en-US" altLang="zh-CN" sz="1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0;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</a:t>
            </a:r>
            <a:r>
              <a:rPr lang="en-US" altLang="zh-CN" sz="10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MemRead</a:t>
            </a:r>
            <a:r>
              <a:rPr lang="en-US" altLang="zh-CN" sz="1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= 0;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</a:t>
            </a:r>
            <a:r>
              <a:rPr lang="en-US" altLang="zh-CN" sz="10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MemWrite</a:t>
            </a:r>
            <a:r>
              <a:rPr lang="en-US" altLang="zh-CN" sz="1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0;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Branch   = 0;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</a:t>
            </a:r>
            <a:r>
              <a:rPr lang="en-US" altLang="zh-CN" sz="10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ALUOp</a:t>
            </a:r>
            <a:r>
              <a:rPr lang="en-US" altLang="zh-CN" sz="1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= 2'b00;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end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10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endcase</a:t>
            </a:r>
            <a:endParaRPr lang="en-US" altLang="zh-CN" sz="100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28600" algn="just">
              <a:lnSpc>
                <a:spcPct val="125000"/>
              </a:lnSpc>
            </a:pPr>
            <a:r>
              <a:rPr lang="en-US" altLang="zh-CN" sz="1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end</a:t>
            </a:r>
          </a:p>
          <a:p>
            <a:pPr marL="228600" algn="just">
              <a:lnSpc>
                <a:spcPct val="125000"/>
              </a:lnSpc>
            </a:pPr>
            <a:r>
              <a:rPr lang="en-US" altLang="zh-CN" sz="10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endmodule</a:t>
            </a:r>
            <a:endParaRPr lang="zh-CN" altLang="en-US" sz="1000" dirty="0"/>
          </a:p>
        </p:txBody>
      </p:sp>
    </p:spTree>
    <p:extLst>
      <p:ext uri="{BB962C8B-B14F-4D97-AF65-F5344CB8AC3E}">
        <p14:creationId xmlns:p14="http://schemas.microsoft.com/office/powerpoint/2010/main" val="9829834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66763" y="138784"/>
            <a:ext cx="27540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5B50150-2EC8-4CD0-BD4B-AC5237D2A731}"/>
              </a:ext>
            </a:extLst>
          </p:cNvPr>
          <p:cNvSpPr/>
          <p:nvPr/>
        </p:nvSpPr>
        <p:spPr>
          <a:xfrm>
            <a:off x="766763" y="653502"/>
            <a:ext cx="39724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五级流水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endParaRPr lang="zh-CN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4406967-5DC2-48C5-9BB3-0481C964DE35}"/>
              </a:ext>
            </a:extLst>
          </p:cNvPr>
          <p:cNvSpPr/>
          <p:nvPr/>
        </p:nvSpPr>
        <p:spPr>
          <a:xfrm>
            <a:off x="766764" y="1168219"/>
            <a:ext cx="5176836" cy="52956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04800" algn="just">
              <a:lnSpc>
                <a:spcPct val="125000"/>
              </a:lnSpc>
            </a:pP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zh-CN" altLang="en-US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级流水</a:t>
            </a: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CPU</a:t>
            </a:r>
            <a:r>
              <a:rPr lang="zh-CN" altLang="en-US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框架如下： 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// Forwarding Unit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// </a:t>
            </a:r>
            <a:r>
              <a:rPr lang="zh-CN" altLang="en-US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添加前推单元来解决数据冒险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// ...</a:t>
            </a:r>
          </a:p>
          <a:p>
            <a:pPr marL="304800" algn="just">
              <a:lnSpc>
                <a:spcPct val="125000"/>
              </a:lnSpc>
            </a:pPr>
            <a:endParaRPr lang="en-US" altLang="zh-CN" sz="1600" kern="100" dirty="0">
              <a:latin typeface="+mj-lt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304800" algn="just">
              <a:lnSpc>
                <a:spcPct val="125000"/>
              </a:lnSpc>
            </a:pP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// Branch Prediction Unit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// </a:t>
            </a:r>
            <a:r>
              <a:rPr lang="zh-CN" altLang="en-US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添加分支预测单元来解决控制冒险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// ...</a:t>
            </a:r>
          </a:p>
          <a:p>
            <a:pPr marL="304800" algn="just">
              <a:lnSpc>
                <a:spcPct val="125000"/>
              </a:lnSpc>
            </a:pPr>
            <a:endParaRPr lang="en-US" altLang="zh-CN" sz="1600" kern="100" dirty="0">
              <a:latin typeface="+mj-lt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304800" algn="just">
              <a:lnSpc>
                <a:spcPct val="125000"/>
              </a:lnSpc>
            </a:pP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// Data Hazard Handling in Execute Stage (EX)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module </a:t>
            </a:r>
            <a:r>
              <a:rPr lang="en-US" altLang="zh-CN" sz="16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ExecuteStage</a:t>
            </a: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(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// ... </a:t>
            </a:r>
            <a:r>
              <a:rPr lang="zh-CN" altLang="en-US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其他输入输出</a:t>
            </a:r>
          </a:p>
          <a:p>
            <a:pPr marL="304800" algn="just">
              <a:lnSpc>
                <a:spcPct val="125000"/>
              </a:lnSpc>
            </a:pPr>
            <a:r>
              <a:rPr lang="zh-CN" altLang="en-US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input wire [31:0] </a:t>
            </a:r>
            <a:r>
              <a:rPr lang="en-US" altLang="zh-CN" sz="16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alu_result</a:t>
            </a: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,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input wire [4:0] rs2,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input wire [1:0] </a:t>
            </a:r>
            <a:r>
              <a:rPr lang="en-US" altLang="zh-CN" sz="16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forward_ex</a:t>
            </a: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,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output wire [31:0] alu_in2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6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);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1E02C5C-D3EA-4C7F-8814-0D08378F3931}"/>
              </a:ext>
            </a:extLst>
          </p:cNvPr>
          <p:cNvSpPr/>
          <p:nvPr/>
        </p:nvSpPr>
        <p:spPr>
          <a:xfrm>
            <a:off x="5559699" y="899480"/>
            <a:ext cx="6387886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// </a:t>
            </a:r>
            <a:r>
              <a:rPr lang="zh-CN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数据冒险解决逻辑</a:t>
            </a:r>
            <a:endParaRPr lang="zh-CN" altLang="zh-CN" kern="100" dirty="0"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always @(</a:t>
            </a:r>
            <a:r>
              <a:rPr lang="en-US" altLang="zh-CN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posedge</a:t>
            </a: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clk</a:t>
            </a: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or </a:t>
            </a:r>
            <a:r>
              <a:rPr lang="en-US" altLang="zh-CN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posedge</a:t>
            </a: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rst</a:t>
            </a: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) begin</a:t>
            </a:r>
            <a:endParaRPr lang="zh-CN" altLang="zh-CN" kern="100" dirty="0"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    if (</a:t>
            </a:r>
            <a:r>
              <a:rPr lang="en-US" altLang="zh-CN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rst</a:t>
            </a: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) begin</a:t>
            </a:r>
            <a:endParaRPr lang="zh-CN" altLang="zh-CN" kern="100" dirty="0"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        alu_in2 &lt;= 0;</a:t>
            </a:r>
            <a:endParaRPr lang="zh-CN" altLang="zh-CN" kern="100" dirty="0"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    end else begin</a:t>
            </a:r>
            <a:endParaRPr lang="zh-CN" altLang="zh-CN" kern="100" dirty="0"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        // </a:t>
            </a:r>
            <a:r>
              <a:rPr lang="zh-CN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使用前推单元的信号进行前推</a:t>
            </a:r>
            <a:endParaRPr lang="zh-CN" altLang="zh-CN" kern="100" dirty="0"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        alu_in2 &lt;= (</a:t>
            </a:r>
            <a:r>
              <a:rPr lang="en-US" altLang="zh-CN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forward_ex</a:t>
            </a: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== 2'b10) ? </a:t>
            </a:r>
            <a:r>
              <a:rPr lang="en-US" altLang="zh-CN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alu_result</a:t>
            </a: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:</a:t>
            </a:r>
            <a:endParaRPr lang="zh-CN" altLang="zh-CN" kern="100" dirty="0"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                    (</a:t>
            </a:r>
            <a:r>
              <a:rPr lang="en-US" altLang="zh-CN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forward_ex</a:t>
            </a: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== 2'b01) ? </a:t>
            </a:r>
            <a:r>
              <a:rPr lang="en-US" altLang="zh-CN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alu_result</a:t>
            </a: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:</a:t>
            </a:r>
            <a:endParaRPr lang="zh-CN" altLang="zh-CN" kern="100" dirty="0"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                    (</a:t>
            </a:r>
            <a:r>
              <a:rPr lang="en-US" altLang="zh-CN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forward_ex</a:t>
            </a: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== 2'b00) ? rs2 : 0;</a:t>
            </a:r>
            <a:endParaRPr lang="zh-CN" altLang="zh-CN" kern="100" dirty="0"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    end</a:t>
            </a:r>
            <a:endParaRPr lang="zh-CN" altLang="zh-CN" kern="100" dirty="0"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end</a:t>
            </a:r>
            <a:endParaRPr lang="zh-CN" altLang="zh-CN" kern="100" dirty="0">
              <a:latin typeface="+mj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04800" algn="just">
              <a:lnSpc>
                <a:spcPct val="125000"/>
              </a:lnSpc>
            </a:pPr>
            <a:r>
              <a:rPr lang="en-US" altLang="zh-CN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endmodule</a:t>
            </a:r>
            <a:endParaRPr lang="zh-CN" alt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551873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66763" y="138784"/>
            <a:ext cx="27540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5B50150-2EC8-4CD0-BD4B-AC5237D2A731}"/>
              </a:ext>
            </a:extLst>
          </p:cNvPr>
          <p:cNvSpPr/>
          <p:nvPr/>
        </p:nvSpPr>
        <p:spPr>
          <a:xfrm>
            <a:off x="766763" y="653502"/>
            <a:ext cx="39724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五级流水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endParaRPr lang="zh-CN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4406967-5DC2-48C5-9BB3-0481C964DE35}"/>
              </a:ext>
            </a:extLst>
          </p:cNvPr>
          <p:cNvSpPr/>
          <p:nvPr/>
        </p:nvSpPr>
        <p:spPr>
          <a:xfrm>
            <a:off x="766763" y="1083019"/>
            <a:ext cx="4952550" cy="54532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04800" algn="just">
              <a:lnSpc>
                <a:spcPct val="125000"/>
              </a:lnSpc>
            </a:pP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// Data Hazard Handling in Memory Stage (MEM)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module </a:t>
            </a:r>
            <a:r>
              <a:rPr lang="en-US" altLang="zh-CN" sz="14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MemoryStage</a:t>
            </a: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(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// ... </a:t>
            </a:r>
            <a:r>
              <a:rPr lang="zh-CN" altLang="en-US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其他输入输出</a:t>
            </a:r>
          </a:p>
          <a:p>
            <a:pPr marL="304800" algn="just">
              <a:lnSpc>
                <a:spcPct val="125000"/>
              </a:lnSpc>
            </a:pPr>
            <a:r>
              <a:rPr lang="zh-CN" altLang="en-US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input wire [31:0] </a:t>
            </a:r>
            <a:r>
              <a:rPr lang="en-US" altLang="zh-CN" sz="14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alu_result</a:t>
            </a: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,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input wire [4:0] rs2,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input wire [1:0] </a:t>
            </a:r>
            <a:r>
              <a:rPr lang="en-US" altLang="zh-CN" sz="14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forward_mem</a:t>
            </a: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,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output wire [31:0] </a:t>
            </a:r>
            <a:r>
              <a:rPr lang="en-US" altLang="zh-CN" sz="14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mem_data</a:t>
            </a:r>
            <a:endParaRPr lang="en-US" altLang="zh-CN" sz="1400" kern="100" dirty="0">
              <a:latin typeface="+mj-lt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304800" algn="just">
              <a:lnSpc>
                <a:spcPct val="125000"/>
              </a:lnSpc>
            </a:pP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);</a:t>
            </a:r>
          </a:p>
          <a:p>
            <a:pPr marL="304800" algn="just">
              <a:lnSpc>
                <a:spcPct val="125000"/>
              </a:lnSpc>
            </a:pPr>
            <a:r>
              <a:rPr lang="zh-CN" altLang="en-US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// </a:t>
            </a:r>
            <a:r>
              <a:rPr lang="zh-CN" altLang="en-US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数据冒险解决逻辑</a:t>
            </a:r>
          </a:p>
          <a:p>
            <a:pPr marL="304800" algn="just">
              <a:lnSpc>
                <a:spcPct val="125000"/>
              </a:lnSpc>
            </a:pPr>
            <a:r>
              <a:rPr lang="zh-CN" altLang="en-US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always @(</a:t>
            </a:r>
            <a:r>
              <a:rPr lang="en-US" altLang="zh-CN" sz="14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posedge</a:t>
            </a: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4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clk</a:t>
            </a: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or </a:t>
            </a:r>
            <a:r>
              <a:rPr lang="en-US" altLang="zh-CN" sz="14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posedge</a:t>
            </a: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4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rst</a:t>
            </a: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) begin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    if (</a:t>
            </a:r>
            <a:r>
              <a:rPr lang="en-US" altLang="zh-CN" sz="14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rst</a:t>
            </a: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) begin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14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mem_data</a:t>
            </a: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&lt;= 0;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    end else begin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        // </a:t>
            </a:r>
            <a:r>
              <a:rPr lang="zh-CN" altLang="en-US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使用前推单元的信号进行前推</a:t>
            </a:r>
          </a:p>
          <a:p>
            <a:pPr marL="304800" algn="just">
              <a:lnSpc>
                <a:spcPct val="125000"/>
              </a:lnSpc>
            </a:pPr>
            <a:r>
              <a:rPr lang="zh-CN" altLang="en-US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14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mem_data</a:t>
            </a: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&lt;= (</a:t>
            </a:r>
            <a:r>
              <a:rPr lang="en-US" altLang="zh-CN" sz="14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forward_mem</a:t>
            </a: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== 2'b10) ? </a:t>
            </a:r>
            <a:r>
              <a:rPr lang="en-US" altLang="zh-CN" sz="14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alu_result</a:t>
            </a: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: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                        (</a:t>
            </a:r>
            <a:r>
              <a:rPr lang="en-US" altLang="zh-CN" sz="14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forward_mem</a:t>
            </a: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== 2'b01) ? </a:t>
            </a:r>
            <a:r>
              <a:rPr lang="en-US" altLang="zh-CN" sz="14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alu_result</a:t>
            </a: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: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                        (</a:t>
            </a:r>
            <a:r>
              <a:rPr lang="en-US" altLang="zh-CN" sz="14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forward_mem</a:t>
            </a: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== 2'b00) ? rs2 : 0;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    end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end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4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endmodule</a:t>
            </a:r>
            <a:endParaRPr lang="en-US" altLang="zh-CN" sz="1400" kern="100" dirty="0">
              <a:latin typeface="+mj-lt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CC71603-2E5A-456E-8F8B-8BA655867F31}"/>
              </a:ext>
            </a:extLst>
          </p:cNvPr>
          <p:cNvSpPr/>
          <p:nvPr/>
        </p:nvSpPr>
        <p:spPr>
          <a:xfrm>
            <a:off x="5551585" y="1052166"/>
            <a:ext cx="6396000" cy="49398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04800" algn="just">
              <a:lnSpc>
                <a:spcPct val="125000"/>
              </a:lnSpc>
            </a:pP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// Control Hazard Handling in IF Stage (Instruction Fetch)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module </a:t>
            </a:r>
            <a:r>
              <a:rPr lang="en-US" altLang="zh-CN" sz="14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InstructionFetchStage</a:t>
            </a: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(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// ... </a:t>
            </a:r>
            <a:r>
              <a:rPr lang="zh-CN" altLang="en-US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其他输入输出</a:t>
            </a:r>
          </a:p>
          <a:p>
            <a:pPr marL="304800" algn="just">
              <a:lnSpc>
                <a:spcPct val="125000"/>
              </a:lnSpc>
            </a:pPr>
            <a:r>
              <a:rPr lang="zh-CN" altLang="en-US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input wire [31:0] pc,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input wire branch,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input wire </a:t>
            </a:r>
            <a:r>
              <a:rPr lang="en-US" altLang="zh-CN" sz="14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branch_taken</a:t>
            </a: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,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output wire [31:0] </a:t>
            </a:r>
            <a:r>
              <a:rPr lang="en-US" altLang="zh-CN" sz="14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next_pc</a:t>
            </a:r>
            <a:endParaRPr lang="en-US" altLang="zh-CN" sz="1400" kern="100" dirty="0">
              <a:latin typeface="+mj-lt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304800" algn="just">
              <a:lnSpc>
                <a:spcPct val="125000"/>
              </a:lnSpc>
            </a:pP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);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// </a:t>
            </a:r>
            <a:r>
              <a:rPr lang="zh-CN" altLang="en-US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分支预测的简单实现</a:t>
            </a:r>
          </a:p>
          <a:p>
            <a:pPr marL="304800" algn="just">
              <a:lnSpc>
                <a:spcPct val="125000"/>
              </a:lnSpc>
            </a:pPr>
            <a:r>
              <a:rPr lang="zh-CN" altLang="en-US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always @(</a:t>
            </a:r>
            <a:r>
              <a:rPr lang="en-US" altLang="zh-CN" sz="14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posedge</a:t>
            </a: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4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clk</a:t>
            </a: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or </a:t>
            </a:r>
            <a:r>
              <a:rPr lang="en-US" altLang="zh-CN" sz="14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posedge</a:t>
            </a: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4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rst</a:t>
            </a: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) begin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    if (</a:t>
            </a:r>
            <a:r>
              <a:rPr lang="en-US" altLang="zh-CN" sz="14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rst</a:t>
            </a: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) begin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14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next_pc</a:t>
            </a: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&lt;= 0;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    end else begin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        // </a:t>
            </a:r>
            <a:r>
              <a:rPr lang="zh-CN" altLang="en-US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使用分支预测单元的信号进行分支预测</a:t>
            </a:r>
          </a:p>
          <a:p>
            <a:pPr marL="304800" algn="just">
              <a:lnSpc>
                <a:spcPct val="125000"/>
              </a:lnSpc>
            </a:pPr>
            <a:r>
              <a:rPr lang="zh-CN" altLang="en-US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14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next_pc</a:t>
            </a: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&lt;= branch ? (</a:t>
            </a:r>
            <a:r>
              <a:rPr lang="en-US" altLang="zh-CN" sz="14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branch_taken</a:t>
            </a: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? </a:t>
            </a:r>
            <a:r>
              <a:rPr lang="en-US" altLang="zh-CN" sz="14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target_address</a:t>
            </a: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: pc + 4) : pc + 4;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    end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400" kern="100" dirty="0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    end</a:t>
            </a:r>
          </a:p>
          <a:p>
            <a:pPr marL="304800" algn="just">
              <a:lnSpc>
                <a:spcPct val="125000"/>
              </a:lnSpc>
            </a:pPr>
            <a:r>
              <a:rPr lang="en-US" altLang="zh-CN" sz="1400" kern="100" dirty="0" err="1">
                <a:latin typeface="+mj-lt"/>
                <a:ea typeface="仿宋" panose="02010609060101010101" pitchFamily="49" charset="-122"/>
                <a:cs typeface="Times New Roman" panose="02020603050405020304" pitchFamily="18" charset="0"/>
              </a:rPr>
              <a:t>endmodule</a:t>
            </a:r>
            <a:endParaRPr lang="en-US" altLang="zh-CN" sz="1400" kern="100" dirty="0">
              <a:latin typeface="+mj-lt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19969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1AE0C6B4-9340-42B9-BD73-0CCF41BFC3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207472"/>
              </p:ext>
            </p:extLst>
          </p:nvPr>
        </p:nvGraphicFramePr>
        <p:xfrm>
          <a:off x="3108386" y="808044"/>
          <a:ext cx="6412302" cy="5718604"/>
        </p:xfrm>
        <a:graphic>
          <a:graphicData uri="http://schemas.openxmlformats.org/drawingml/2006/table">
            <a:tbl>
              <a:tblPr/>
              <a:tblGrid>
                <a:gridCol w="1236452">
                  <a:extLst>
                    <a:ext uri="{9D8B030D-6E8A-4147-A177-3AD203B41FA5}">
                      <a16:colId xmlns:a16="http://schemas.microsoft.com/office/drawing/2014/main" val="2761079945"/>
                    </a:ext>
                  </a:extLst>
                </a:gridCol>
                <a:gridCol w="1621766">
                  <a:extLst>
                    <a:ext uri="{9D8B030D-6E8A-4147-A177-3AD203B41FA5}">
                      <a16:colId xmlns:a16="http://schemas.microsoft.com/office/drawing/2014/main" val="2961182968"/>
                    </a:ext>
                  </a:extLst>
                </a:gridCol>
                <a:gridCol w="1475117">
                  <a:extLst>
                    <a:ext uri="{9D8B030D-6E8A-4147-A177-3AD203B41FA5}">
                      <a16:colId xmlns:a16="http://schemas.microsoft.com/office/drawing/2014/main" val="24479541"/>
                    </a:ext>
                  </a:extLst>
                </a:gridCol>
                <a:gridCol w="2078967">
                  <a:extLst>
                    <a:ext uri="{9D8B030D-6E8A-4147-A177-3AD203B41FA5}">
                      <a16:colId xmlns:a16="http://schemas.microsoft.com/office/drawing/2014/main" val="658707736"/>
                    </a:ext>
                  </a:extLst>
                </a:gridCol>
              </a:tblGrid>
              <a:tr h="222753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j-lt"/>
                        </a:rPr>
                        <a:t>Instruction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+mj-lt"/>
                        </a:rPr>
                        <a:t>Opcode/Function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+mj-lt"/>
                        </a:rPr>
                        <a:t>Syntax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+mj-lt"/>
                        </a:rPr>
                        <a:t>Operation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4487336"/>
                  </a:ext>
                </a:extLst>
              </a:tr>
              <a:tr h="222753">
                <a:tc>
                  <a:txBody>
                    <a:bodyPr/>
                    <a:lstStyle/>
                    <a:p>
                      <a:r>
                        <a:rPr lang="en-US" sz="1400">
                          <a:latin typeface="+mj-lt"/>
                        </a:rPr>
                        <a:t>add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>
                          <a:latin typeface="+mj-lt"/>
                        </a:rPr>
                        <a:t>100000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+mj-lt"/>
                        </a:rPr>
                        <a:t>f $d, $s, $t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+mj-lt"/>
                        </a:rPr>
                        <a:t>$d = $s + $t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6559549"/>
                  </a:ext>
                </a:extLst>
              </a:tr>
              <a:tr h="222753">
                <a:tc>
                  <a:txBody>
                    <a:bodyPr/>
                    <a:lstStyle/>
                    <a:p>
                      <a:r>
                        <a:rPr lang="en-US" sz="1400">
                          <a:latin typeface="+mj-lt"/>
                        </a:rPr>
                        <a:t>addu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>
                          <a:latin typeface="+mj-lt"/>
                        </a:rPr>
                        <a:t>100001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j-lt"/>
                        </a:rPr>
                        <a:t>f $d, $s, $t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+mj-lt"/>
                        </a:rPr>
                        <a:t>$d = $s + $t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5798320"/>
                  </a:ext>
                </a:extLst>
              </a:tr>
              <a:tr h="222753">
                <a:tc>
                  <a:txBody>
                    <a:bodyPr/>
                    <a:lstStyle/>
                    <a:p>
                      <a:r>
                        <a:rPr lang="en-US" sz="1400">
                          <a:latin typeface="+mj-lt"/>
                        </a:rPr>
                        <a:t>addi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>
                          <a:latin typeface="+mj-lt"/>
                        </a:rPr>
                        <a:t>001000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+mj-lt"/>
                        </a:rPr>
                        <a:t>f $d, $s, i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+mj-lt"/>
                        </a:rPr>
                        <a:t>$d = $s + SE(i)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2311016"/>
                  </a:ext>
                </a:extLst>
              </a:tr>
              <a:tr h="222753">
                <a:tc>
                  <a:txBody>
                    <a:bodyPr/>
                    <a:lstStyle/>
                    <a:p>
                      <a:r>
                        <a:rPr lang="en-US" sz="1400">
                          <a:latin typeface="+mj-lt"/>
                        </a:rPr>
                        <a:t>addiu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j-lt"/>
                        </a:rPr>
                        <a:t>001001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+mj-lt"/>
                        </a:rPr>
                        <a:t>f $d, $s, i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+mj-lt"/>
                        </a:rPr>
                        <a:t>$d = $s + SE(i)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6326443"/>
                  </a:ext>
                </a:extLst>
              </a:tr>
              <a:tr h="222753">
                <a:tc>
                  <a:txBody>
                    <a:bodyPr/>
                    <a:lstStyle/>
                    <a:p>
                      <a:r>
                        <a:rPr lang="en-US" sz="1400">
                          <a:latin typeface="+mj-lt"/>
                        </a:rPr>
                        <a:t>and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>
                          <a:latin typeface="+mj-lt"/>
                        </a:rPr>
                        <a:t>100100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+mj-lt"/>
                        </a:rPr>
                        <a:t>f $d, $s, $t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+mj-lt"/>
                        </a:rPr>
                        <a:t>$d = $s &amp; $t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6177672"/>
                  </a:ext>
                </a:extLst>
              </a:tr>
              <a:tr h="222753">
                <a:tc>
                  <a:txBody>
                    <a:bodyPr/>
                    <a:lstStyle/>
                    <a:p>
                      <a:r>
                        <a:rPr lang="en-US" sz="1400">
                          <a:latin typeface="+mj-lt"/>
                        </a:rPr>
                        <a:t>andi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j-lt"/>
                        </a:rPr>
                        <a:t>001100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+mj-lt"/>
                        </a:rPr>
                        <a:t>f $d, $s, i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+mj-lt"/>
                        </a:rPr>
                        <a:t>$t = $s &amp; ZE(i)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7997782"/>
                  </a:ext>
                </a:extLst>
              </a:tr>
              <a:tr h="250624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j-lt"/>
                        </a:rPr>
                        <a:t>div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j-lt"/>
                        </a:rPr>
                        <a:t>011010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j-lt"/>
                        </a:rPr>
                        <a:t>f $s, $t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latin typeface="+mj-lt"/>
                        </a:rPr>
                        <a:t>lo = $s / $t; hi = $s % $t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219890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j-lt"/>
                        </a:rPr>
                        <a:t>divu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>
                          <a:latin typeface="+mj-lt"/>
                        </a:rPr>
                        <a:t>011011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j-lt"/>
                        </a:rPr>
                        <a:t>f $s, $t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latin typeface="+mj-lt"/>
                        </a:rPr>
                        <a:t>lo = $s / $t; hi = $s % $t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6395104"/>
                  </a:ext>
                </a:extLst>
              </a:tr>
              <a:tr h="222753">
                <a:tc>
                  <a:txBody>
                    <a:bodyPr/>
                    <a:lstStyle/>
                    <a:p>
                      <a:r>
                        <a:rPr lang="en-US" sz="1400">
                          <a:latin typeface="+mj-lt"/>
                        </a:rPr>
                        <a:t>mult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>
                          <a:latin typeface="+mj-lt"/>
                        </a:rPr>
                        <a:t>011000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+mj-lt"/>
                        </a:rPr>
                        <a:t>f $s, $t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+mj-lt"/>
                        </a:rPr>
                        <a:t>hi:lo = $s * $t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3585431"/>
                  </a:ext>
                </a:extLst>
              </a:tr>
              <a:tr h="222753">
                <a:tc>
                  <a:txBody>
                    <a:bodyPr/>
                    <a:lstStyle/>
                    <a:p>
                      <a:r>
                        <a:rPr lang="en-US" sz="1400">
                          <a:latin typeface="+mj-lt"/>
                        </a:rPr>
                        <a:t>multu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>
                          <a:latin typeface="+mj-lt"/>
                        </a:rPr>
                        <a:t>011001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j-lt"/>
                        </a:rPr>
                        <a:t>f $s, $t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+mj-lt"/>
                        </a:rPr>
                        <a:t>hi:lo = $s * $t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0840415"/>
                  </a:ext>
                </a:extLst>
              </a:tr>
              <a:tr h="222753">
                <a:tc>
                  <a:txBody>
                    <a:bodyPr/>
                    <a:lstStyle/>
                    <a:p>
                      <a:r>
                        <a:rPr lang="en-US" sz="1400">
                          <a:latin typeface="+mj-lt"/>
                        </a:rPr>
                        <a:t>nor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>
                          <a:latin typeface="+mj-lt"/>
                        </a:rPr>
                        <a:t>100111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+mj-lt"/>
                        </a:rPr>
                        <a:t>f $d, $s, $t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+mj-lt"/>
                        </a:rPr>
                        <a:t>$d = ~($s | $t)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8579240"/>
                  </a:ext>
                </a:extLst>
              </a:tr>
              <a:tr h="222753">
                <a:tc>
                  <a:txBody>
                    <a:bodyPr/>
                    <a:lstStyle/>
                    <a:p>
                      <a:r>
                        <a:rPr lang="en-US" sz="1400">
                          <a:latin typeface="+mj-lt"/>
                        </a:rPr>
                        <a:t>or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>
                          <a:latin typeface="+mj-lt"/>
                        </a:rPr>
                        <a:t>100101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+mj-lt"/>
                        </a:rPr>
                        <a:t>f $d, $s, $t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+mj-lt"/>
                        </a:rPr>
                        <a:t>$d = $s | $t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9925375"/>
                  </a:ext>
                </a:extLst>
              </a:tr>
              <a:tr h="222753">
                <a:tc>
                  <a:txBody>
                    <a:bodyPr/>
                    <a:lstStyle/>
                    <a:p>
                      <a:r>
                        <a:rPr lang="en-US" sz="1400">
                          <a:latin typeface="+mj-lt"/>
                        </a:rPr>
                        <a:t>ori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>
                          <a:latin typeface="+mj-lt"/>
                        </a:rPr>
                        <a:t>001101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+mj-lt"/>
                        </a:rPr>
                        <a:t>f $d, $s, i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+mj-lt"/>
                        </a:rPr>
                        <a:t>$t = $s | ZE(i)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0566779"/>
                  </a:ext>
                </a:extLst>
              </a:tr>
              <a:tr h="222753">
                <a:tc>
                  <a:txBody>
                    <a:bodyPr/>
                    <a:lstStyle/>
                    <a:p>
                      <a:r>
                        <a:rPr lang="en-US" sz="1400">
                          <a:latin typeface="+mj-lt"/>
                        </a:rPr>
                        <a:t>sll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>
                          <a:latin typeface="+mj-lt"/>
                        </a:rPr>
                        <a:t>000000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+mj-lt"/>
                        </a:rPr>
                        <a:t>f $d, $t, a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+mj-lt"/>
                        </a:rPr>
                        <a:t>$d = $t &lt;&lt; a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9246282"/>
                  </a:ext>
                </a:extLst>
              </a:tr>
              <a:tr h="222753">
                <a:tc>
                  <a:txBody>
                    <a:bodyPr/>
                    <a:lstStyle/>
                    <a:p>
                      <a:r>
                        <a:rPr lang="en-US" sz="1400">
                          <a:latin typeface="+mj-lt"/>
                        </a:rPr>
                        <a:t>sllv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>
                          <a:latin typeface="+mj-lt"/>
                        </a:rPr>
                        <a:t>000100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+mj-lt"/>
                        </a:rPr>
                        <a:t>f $d, $t, $s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+mj-lt"/>
                        </a:rPr>
                        <a:t>$d = $t &lt;&lt; $s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069416"/>
                  </a:ext>
                </a:extLst>
              </a:tr>
              <a:tr h="222753">
                <a:tc>
                  <a:txBody>
                    <a:bodyPr/>
                    <a:lstStyle/>
                    <a:p>
                      <a:r>
                        <a:rPr lang="en-US" sz="1400">
                          <a:latin typeface="+mj-lt"/>
                        </a:rPr>
                        <a:t>sra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>
                          <a:latin typeface="+mj-lt"/>
                        </a:rPr>
                        <a:t>000011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+mj-lt"/>
                        </a:rPr>
                        <a:t>f $d, $t, a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+mj-lt"/>
                        </a:rPr>
                        <a:t>$d = $t &gt;&gt; a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5888272"/>
                  </a:ext>
                </a:extLst>
              </a:tr>
              <a:tr h="222753">
                <a:tc>
                  <a:txBody>
                    <a:bodyPr/>
                    <a:lstStyle/>
                    <a:p>
                      <a:r>
                        <a:rPr lang="en-US" sz="1400">
                          <a:latin typeface="+mj-lt"/>
                        </a:rPr>
                        <a:t>srav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>
                          <a:latin typeface="+mj-lt"/>
                        </a:rPr>
                        <a:t>000111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+mj-lt"/>
                        </a:rPr>
                        <a:t>f $d, $t, $s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+mj-lt"/>
                        </a:rPr>
                        <a:t>$d = $t &gt;&gt; $s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6346341"/>
                  </a:ext>
                </a:extLst>
              </a:tr>
              <a:tr h="222753">
                <a:tc>
                  <a:txBody>
                    <a:bodyPr/>
                    <a:lstStyle/>
                    <a:p>
                      <a:r>
                        <a:rPr lang="en-US" sz="1400">
                          <a:latin typeface="+mj-lt"/>
                        </a:rPr>
                        <a:t>srl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>
                          <a:latin typeface="+mj-lt"/>
                        </a:rPr>
                        <a:t>000010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+mj-lt"/>
                        </a:rPr>
                        <a:t>f $d, $t, a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+mj-lt"/>
                        </a:rPr>
                        <a:t>$d = $t &gt;&gt;&gt; a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9314543"/>
                  </a:ext>
                </a:extLst>
              </a:tr>
              <a:tr h="222753">
                <a:tc>
                  <a:txBody>
                    <a:bodyPr/>
                    <a:lstStyle/>
                    <a:p>
                      <a:r>
                        <a:rPr lang="en-US" sz="1400">
                          <a:latin typeface="+mj-lt"/>
                        </a:rPr>
                        <a:t>srlv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>
                          <a:latin typeface="+mj-lt"/>
                        </a:rPr>
                        <a:t>000110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+mj-lt"/>
                        </a:rPr>
                        <a:t>f $d, $t, $s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+mj-lt"/>
                        </a:rPr>
                        <a:t>$d = $t &gt;&gt;&gt; $s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8456199"/>
                  </a:ext>
                </a:extLst>
              </a:tr>
              <a:tr h="222753">
                <a:tc>
                  <a:txBody>
                    <a:bodyPr/>
                    <a:lstStyle/>
                    <a:p>
                      <a:r>
                        <a:rPr lang="en-US" sz="1400">
                          <a:latin typeface="+mj-lt"/>
                        </a:rPr>
                        <a:t>sub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>
                          <a:latin typeface="+mj-lt"/>
                        </a:rPr>
                        <a:t>100010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+mj-lt"/>
                        </a:rPr>
                        <a:t>f $d, $s, $t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+mj-lt"/>
                        </a:rPr>
                        <a:t>$d = $s - $t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265000"/>
                  </a:ext>
                </a:extLst>
              </a:tr>
              <a:tr h="222753">
                <a:tc>
                  <a:txBody>
                    <a:bodyPr/>
                    <a:lstStyle/>
                    <a:p>
                      <a:r>
                        <a:rPr lang="en-US" sz="1400">
                          <a:latin typeface="+mj-lt"/>
                        </a:rPr>
                        <a:t>subu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>
                          <a:latin typeface="+mj-lt"/>
                        </a:rPr>
                        <a:t>100011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+mj-lt"/>
                        </a:rPr>
                        <a:t>f $d, $s, $t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+mj-lt"/>
                        </a:rPr>
                        <a:t>$d = $s - $t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6967194"/>
                  </a:ext>
                </a:extLst>
              </a:tr>
              <a:tr h="222753">
                <a:tc>
                  <a:txBody>
                    <a:bodyPr/>
                    <a:lstStyle/>
                    <a:p>
                      <a:r>
                        <a:rPr lang="en-US" sz="1400">
                          <a:latin typeface="+mj-lt"/>
                        </a:rPr>
                        <a:t>xor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>
                          <a:latin typeface="+mj-lt"/>
                        </a:rPr>
                        <a:t>100110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+mj-lt"/>
                        </a:rPr>
                        <a:t>f $d, $s, $t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+mj-lt"/>
                        </a:rPr>
                        <a:t>$d = $s ^ $t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5479657"/>
                  </a:ext>
                </a:extLst>
              </a:tr>
              <a:tr h="222753">
                <a:tc>
                  <a:txBody>
                    <a:bodyPr/>
                    <a:lstStyle/>
                    <a:p>
                      <a:r>
                        <a:rPr lang="en-US" sz="1400">
                          <a:latin typeface="+mj-lt"/>
                        </a:rPr>
                        <a:t>xori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>
                          <a:latin typeface="+mj-lt"/>
                        </a:rPr>
                        <a:t>001110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j-lt"/>
                        </a:rPr>
                        <a:t>f $d, $s, </a:t>
                      </a:r>
                      <a:r>
                        <a:rPr lang="en-US" sz="1400" dirty="0" err="1">
                          <a:latin typeface="+mj-lt"/>
                        </a:rPr>
                        <a:t>i</a:t>
                      </a:r>
                      <a:endParaRPr lang="en-US" sz="1400" dirty="0">
                        <a:latin typeface="+mj-lt"/>
                      </a:endParaRP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j-lt"/>
                        </a:rPr>
                        <a:t>$d = $s ^ ZE(</a:t>
                      </a:r>
                      <a:r>
                        <a:rPr lang="en-US" sz="1400" dirty="0" err="1">
                          <a:latin typeface="+mj-lt"/>
                        </a:rPr>
                        <a:t>i</a:t>
                      </a:r>
                      <a:r>
                        <a:rPr lang="en-US" sz="1400" dirty="0">
                          <a:latin typeface="+mj-lt"/>
                        </a:rPr>
                        <a:t>)</a:t>
                      </a:r>
                    </a:p>
                  </a:txBody>
                  <a:tcPr marL="10665" marR="10665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6016639"/>
                  </a:ext>
                </a:extLst>
              </a:tr>
            </a:tbl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EADD7C32-9A34-4C5D-9A68-797610F84390}"/>
              </a:ext>
            </a:extLst>
          </p:cNvPr>
          <p:cNvSpPr/>
          <p:nvPr/>
        </p:nvSpPr>
        <p:spPr>
          <a:xfrm>
            <a:off x="766763" y="508862"/>
            <a:ext cx="52946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b="1" dirty="0">
                <a:solidFill>
                  <a:srgbClr val="CC0000"/>
                </a:solidFill>
                <a:latin typeface="Arial" panose="020B0604020202020204" pitchFamily="34" charset="0"/>
              </a:rPr>
              <a:t>Arithmetic and Logical Instructions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09EC2B7-2EAE-49E2-9D12-80A00372C39E}"/>
              </a:ext>
            </a:extLst>
          </p:cNvPr>
          <p:cNvSpPr/>
          <p:nvPr/>
        </p:nvSpPr>
        <p:spPr>
          <a:xfrm>
            <a:off x="3748551" y="138784"/>
            <a:ext cx="35831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附： 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MIPS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指令操作码</a:t>
            </a:r>
            <a:endParaRPr lang="zh-CN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66763" y="138784"/>
            <a:ext cx="27540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</a:p>
        </p:txBody>
      </p:sp>
    </p:spTree>
    <p:extLst>
      <p:ext uri="{BB962C8B-B14F-4D97-AF65-F5344CB8AC3E}">
        <p14:creationId xmlns:p14="http://schemas.microsoft.com/office/powerpoint/2010/main" val="4042241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1E9FFD3-50BF-49AB-A124-82087CF0D381}"/>
              </a:ext>
            </a:extLst>
          </p:cNvPr>
          <p:cNvSpPr/>
          <p:nvPr/>
        </p:nvSpPr>
        <p:spPr>
          <a:xfrm>
            <a:off x="2012522" y="1235332"/>
            <a:ext cx="40703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altLang="zh-CN" b="1" dirty="0">
                <a:solidFill>
                  <a:srgbClr val="CC0000"/>
                </a:solidFill>
                <a:latin typeface="Arial" panose="020B0604020202020204" pitchFamily="34" charset="0"/>
              </a:rPr>
              <a:t>Constant-Manipulating Instructions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A99B1FEB-D34B-40EE-A658-832D4AF2EE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782791"/>
              </p:ext>
            </p:extLst>
          </p:nvPr>
        </p:nvGraphicFramePr>
        <p:xfrm>
          <a:off x="2144279" y="1731356"/>
          <a:ext cx="7027428" cy="1051560"/>
        </p:xfrm>
        <a:graphic>
          <a:graphicData uri="http://schemas.openxmlformats.org/drawingml/2006/table">
            <a:tbl>
              <a:tblPr/>
              <a:tblGrid>
                <a:gridCol w="1294785">
                  <a:extLst>
                    <a:ext uri="{9D8B030D-6E8A-4147-A177-3AD203B41FA5}">
                      <a16:colId xmlns:a16="http://schemas.microsoft.com/office/drawing/2014/main" val="3289759587"/>
                    </a:ext>
                  </a:extLst>
                </a:gridCol>
                <a:gridCol w="1846053">
                  <a:extLst>
                    <a:ext uri="{9D8B030D-6E8A-4147-A177-3AD203B41FA5}">
                      <a16:colId xmlns:a16="http://schemas.microsoft.com/office/drawing/2014/main" val="562352705"/>
                    </a:ext>
                  </a:extLst>
                </a:gridCol>
                <a:gridCol w="1811547">
                  <a:extLst>
                    <a:ext uri="{9D8B030D-6E8A-4147-A177-3AD203B41FA5}">
                      <a16:colId xmlns:a16="http://schemas.microsoft.com/office/drawing/2014/main" val="2392405207"/>
                    </a:ext>
                  </a:extLst>
                </a:gridCol>
                <a:gridCol w="2075043">
                  <a:extLst>
                    <a:ext uri="{9D8B030D-6E8A-4147-A177-3AD203B41FA5}">
                      <a16:colId xmlns:a16="http://schemas.microsoft.com/office/drawing/2014/main" val="2706505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>
                          <a:latin typeface="+mj-lt"/>
                        </a:rPr>
                        <a:t>Instruction</a:t>
                      </a:r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+mj-lt"/>
                        </a:rPr>
                        <a:t>Opcode/Function</a:t>
                      </a:r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Syntax</a:t>
                      </a:r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+mj-lt"/>
                        </a:rPr>
                        <a:t>Operation</a:t>
                      </a:r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8544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+mj-lt"/>
                        </a:rPr>
                        <a:t>lhi</a:t>
                      </a:r>
                      <a:endParaRPr lang="en-US" dirty="0">
                        <a:latin typeface="+mj-lt"/>
                      </a:endParaRPr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+mj-lt"/>
                        </a:rPr>
                        <a:t>011001</a:t>
                      </a:r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o $t, immed32</a:t>
                      </a:r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+mj-lt"/>
                        </a:rPr>
                        <a:t>HH ($t) = i</a:t>
                      </a:r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53478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latin typeface="+mj-lt"/>
                        </a:rPr>
                        <a:t>llo</a:t>
                      </a:r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+mj-lt"/>
                        </a:rPr>
                        <a:t>011000</a:t>
                      </a:r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o $t, immed32</a:t>
                      </a:r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LH ($t) = </a:t>
                      </a:r>
                      <a:r>
                        <a:rPr lang="en-US" dirty="0" err="1">
                          <a:latin typeface="+mj-lt"/>
                        </a:rPr>
                        <a:t>i</a:t>
                      </a:r>
                      <a:endParaRPr lang="en-US" dirty="0">
                        <a:latin typeface="+mj-lt"/>
                      </a:endParaRPr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9317343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A3C2AAB3-D038-45EA-9460-2D0B91041BAD}"/>
              </a:ext>
            </a:extLst>
          </p:cNvPr>
          <p:cNvSpPr/>
          <p:nvPr/>
        </p:nvSpPr>
        <p:spPr>
          <a:xfrm>
            <a:off x="2012522" y="3720360"/>
            <a:ext cx="29161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altLang="zh-CN" b="1" dirty="0">
                <a:solidFill>
                  <a:srgbClr val="CC0000"/>
                </a:solidFill>
                <a:latin typeface="Arial" panose="020B0604020202020204" pitchFamily="34" charset="0"/>
              </a:rPr>
              <a:t>Comparison Instructions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87A742A-2CEB-44FC-9DC1-1FDBD1FEDC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8422416"/>
              </p:ext>
            </p:extLst>
          </p:nvPr>
        </p:nvGraphicFramePr>
        <p:xfrm>
          <a:off x="2144279" y="4199131"/>
          <a:ext cx="7473660" cy="1752600"/>
        </p:xfrm>
        <a:graphic>
          <a:graphicData uri="http://schemas.openxmlformats.org/drawingml/2006/table">
            <a:tbl>
              <a:tblPr/>
              <a:tblGrid>
                <a:gridCol w="1323026">
                  <a:extLst>
                    <a:ext uri="{9D8B030D-6E8A-4147-A177-3AD203B41FA5}">
                      <a16:colId xmlns:a16="http://schemas.microsoft.com/office/drawing/2014/main" val="577467957"/>
                    </a:ext>
                  </a:extLst>
                </a:gridCol>
                <a:gridCol w="1889185">
                  <a:extLst>
                    <a:ext uri="{9D8B030D-6E8A-4147-A177-3AD203B41FA5}">
                      <a16:colId xmlns:a16="http://schemas.microsoft.com/office/drawing/2014/main" val="231714289"/>
                    </a:ext>
                  </a:extLst>
                </a:gridCol>
                <a:gridCol w="1768415">
                  <a:extLst>
                    <a:ext uri="{9D8B030D-6E8A-4147-A177-3AD203B41FA5}">
                      <a16:colId xmlns:a16="http://schemas.microsoft.com/office/drawing/2014/main" val="2779994284"/>
                    </a:ext>
                  </a:extLst>
                </a:gridCol>
                <a:gridCol w="2493034">
                  <a:extLst>
                    <a:ext uri="{9D8B030D-6E8A-4147-A177-3AD203B41FA5}">
                      <a16:colId xmlns:a16="http://schemas.microsoft.com/office/drawing/2014/main" val="41889776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Instruction</a:t>
                      </a:r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Opcode/Function</a:t>
                      </a:r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+mj-lt"/>
                        </a:rPr>
                        <a:t>Syntax</a:t>
                      </a:r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+mj-lt"/>
                        </a:rPr>
                        <a:t>Operation</a:t>
                      </a:r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04829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latin typeface="+mj-lt"/>
                        </a:rPr>
                        <a:t>slt</a:t>
                      </a:r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+mj-lt"/>
                        </a:rPr>
                        <a:t>101010</a:t>
                      </a:r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+mj-lt"/>
                        </a:rPr>
                        <a:t>f $d, $s, $t</a:t>
                      </a:r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+mj-lt"/>
                        </a:rPr>
                        <a:t>$d = ($s &lt; $t)</a:t>
                      </a:r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92214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latin typeface="+mj-lt"/>
                        </a:rPr>
                        <a:t>sltu</a:t>
                      </a:r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+mj-lt"/>
                        </a:rPr>
                        <a:t>101001</a:t>
                      </a:r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f $d, $s, $t</a:t>
                      </a:r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+mj-lt"/>
                        </a:rPr>
                        <a:t>$d = ($s &lt; $t)</a:t>
                      </a:r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15610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latin typeface="+mj-lt"/>
                        </a:rPr>
                        <a:t>slti</a:t>
                      </a:r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+mj-lt"/>
                        </a:rPr>
                        <a:t>001010</a:t>
                      </a:r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+mj-lt"/>
                        </a:rPr>
                        <a:t>f $d, $s, i</a:t>
                      </a:r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+mj-lt"/>
                        </a:rPr>
                        <a:t>$t = ($s &lt; SE(i))</a:t>
                      </a:r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88647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latin typeface="+mj-lt"/>
                        </a:rPr>
                        <a:t>sltiu</a:t>
                      </a:r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+mj-lt"/>
                        </a:rPr>
                        <a:t>001001</a:t>
                      </a:r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+mj-lt"/>
                        </a:rPr>
                        <a:t>f $d, $s, i</a:t>
                      </a:r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$t = ($s &lt; SE(</a:t>
                      </a:r>
                      <a:r>
                        <a:rPr lang="en-US" dirty="0" err="1">
                          <a:latin typeface="+mj-lt"/>
                        </a:rPr>
                        <a:t>i</a:t>
                      </a:r>
                      <a:r>
                        <a:rPr lang="en-US" dirty="0">
                          <a:latin typeface="+mj-lt"/>
                        </a:rPr>
                        <a:t>))</a:t>
                      </a:r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5207074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109EC2B7-2EAE-49E2-9D12-80A00372C39E}"/>
              </a:ext>
            </a:extLst>
          </p:cNvPr>
          <p:cNvSpPr/>
          <p:nvPr/>
        </p:nvSpPr>
        <p:spPr>
          <a:xfrm>
            <a:off x="766763" y="669435"/>
            <a:ext cx="909273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附： 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MIPS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指令操作码</a:t>
            </a:r>
            <a:endParaRPr lang="zh-CN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66763" y="138784"/>
            <a:ext cx="27540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</a:p>
        </p:txBody>
      </p:sp>
    </p:spTree>
    <p:extLst>
      <p:ext uri="{BB962C8B-B14F-4D97-AF65-F5344CB8AC3E}">
        <p14:creationId xmlns:p14="http://schemas.microsoft.com/office/powerpoint/2010/main" val="3072930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5B4F57F-B3B1-49E1-94AB-715C7928AFFC}"/>
              </a:ext>
            </a:extLst>
          </p:cNvPr>
          <p:cNvSpPr/>
          <p:nvPr/>
        </p:nvSpPr>
        <p:spPr>
          <a:xfrm>
            <a:off x="2052917" y="1186695"/>
            <a:ext cx="23647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altLang="zh-CN" b="1" dirty="0">
                <a:solidFill>
                  <a:srgbClr val="CC0000"/>
                </a:solidFill>
                <a:latin typeface="Arial" panose="020B0604020202020204" pitchFamily="34" charset="0"/>
              </a:rPr>
              <a:t>Branch Instructions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ECC5A273-4FAC-4D8D-B6E7-93FE25ED9D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6534072"/>
              </p:ext>
            </p:extLst>
          </p:nvPr>
        </p:nvGraphicFramePr>
        <p:xfrm>
          <a:off x="2052918" y="1708596"/>
          <a:ext cx="8017831" cy="1676400"/>
        </p:xfrm>
        <a:graphic>
          <a:graphicData uri="http://schemas.openxmlformats.org/drawingml/2006/table">
            <a:tbl>
              <a:tblPr/>
              <a:tblGrid>
                <a:gridCol w="1095556">
                  <a:extLst>
                    <a:ext uri="{9D8B030D-6E8A-4147-A177-3AD203B41FA5}">
                      <a16:colId xmlns:a16="http://schemas.microsoft.com/office/drawing/2014/main" val="3976880662"/>
                    </a:ext>
                  </a:extLst>
                </a:gridCol>
                <a:gridCol w="1802921">
                  <a:extLst>
                    <a:ext uri="{9D8B030D-6E8A-4147-A177-3AD203B41FA5}">
                      <a16:colId xmlns:a16="http://schemas.microsoft.com/office/drawing/2014/main" val="569087857"/>
                    </a:ext>
                  </a:extLst>
                </a:gridCol>
                <a:gridCol w="1647645">
                  <a:extLst>
                    <a:ext uri="{9D8B030D-6E8A-4147-A177-3AD203B41FA5}">
                      <a16:colId xmlns:a16="http://schemas.microsoft.com/office/drawing/2014/main" val="885951106"/>
                    </a:ext>
                  </a:extLst>
                </a:gridCol>
                <a:gridCol w="3471709">
                  <a:extLst>
                    <a:ext uri="{9D8B030D-6E8A-4147-A177-3AD203B41FA5}">
                      <a16:colId xmlns:a16="http://schemas.microsoft.com/office/drawing/2014/main" val="9722391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>
                          <a:latin typeface="+mj-lt"/>
                        </a:rPr>
                        <a:t>Instruction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+mj-lt"/>
                        </a:rPr>
                        <a:t>Opcode/Function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+mj-lt"/>
                        </a:rPr>
                        <a:t>Syntax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+mj-lt"/>
                        </a:rPr>
                        <a:t>Operation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0912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j-lt"/>
                        </a:rPr>
                        <a:t>beq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+mj-lt"/>
                        </a:rPr>
                        <a:t>000100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+mj-lt"/>
                        </a:rPr>
                        <a:t>o $s, $t, label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+mj-lt"/>
                        </a:rPr>
                        <a:t>if ($s == $t) pc += i &lt;&lt;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127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>
                          <a:latin typeface="+mj-lt"/>
                        </a:rPr>
                        <a:t>bgtz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+mj-lt"/>
                        </a:rPr>
                        <a:t>000111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+mj-lt"/>
                        </a:rPr>
                        <a:t>o $s, label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+mj-lt"/>
                        </a:rPr>
                        <a:t>if ($s &gt; 0) pc += i &lt;&lt;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2595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>
                          <a:latin typeface="+mj-lt"/>
                        </a:rPr>
                        <a:t>blez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latin typeface="+mj-lt"/>
                        </a:rPr>
                        <a:t>000110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+mj-lt"/>
                        </a:rPr>
                        <a:t>o $s, label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+mj-lt"/>
                        </a:rPr>
                        <a:t>if ($s &lt;= 0) pc += i &lt;&lt;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3055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>
                          <a:latin typeface="+mj-lt"/>
                        </a:rPr>
                        <a:t>bne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+mj-lt"/>
                        </a:rPr>
                        <a:t>000101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+mj-lt"/>
                        </a:rPr>
                        <a:t>o $s, $t, label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j-lt"/>
                        </a:rPr>
                        <a:t>if ($s != $t) pc += </a:t>
                      </a:r>
                      <a:r>
                        <a:rPr lang="en-US" sz="1600" dirty="0" err="1">
                          <a:latin typeface="+mj-lt"/>
                        </a:rPr>
                        <a:t>i</a:t>
                      </a:r>
                      <a:r>
                        <a:rPr lang="en-US" sz="1600" dirty="0">
                          <a:latin typeface="+mj-lt"/>
                        </a:rPr>
                        <a:t> &lt;&lt;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9181060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C8C36E46-278F-4383-8DE6-BBB13C71253C}"/>
              </a:ext>
            </a:extLst>
          </p:cNvPr>
          <p:cNvSpPr/>
          <p:nvPr/>
        </p:nvSpPr>
        <p:spPr>
          <a:xfrm>
            <a:off x="2052917" y="3800532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b="1" dirty="0">
                <a:solidFill>
                  <a:srgbClr val="CC0000"/>
                </a:solidFill>
                <a:latin typeface="Arial" panose="020B0604020202020204" pitchFamily="34" charset="0"/>
              </a:rPr>
              <a:t>Jump Instructions</a:t>
            </a:r>
            <a:endParaRPr lang="zh-CN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C21E537-0501-4F6B-9E3F-815776B916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1192944"/>
              </p:ext>
            </p:extLst>
          </p:nvPr>
        </p:nvGraphicFramePr>
        <p:xfrm>
          <a:off x="2052918" y="4260367"/>
          <a:ext cx="6610829" cy="21031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76188">
                  <a:extLst>
                    <a:ext uri="{9D8B030D-6E8A-4147-A177-3AD203B41FA5}">
                      <a16:colId xmlns:a16="http://schemas.microsoft.com/office/drawing/2014/main" val="469972372"/>
                    </a:ext>
                  </a:extLst>
                </a:gridCol>
                <a:gridCol w="1820174">
                  <a:extLst>
                    <a:ext uri="{9D8B030D-6E8A-4147-A177-3AD203B41FA5}">
                      <a16:colId xmlns:a16="http://schemas.microsoft.com/office/drawing/2014/main" val="601681050"/>
                    </a:ext>
                  </a:extLst>
                </a:gridCol>
                <a:gridCol w="1319841">
                  <a:extLst>
                    <a:ext uri="{9D8B030D-6E8A-4147-A177-3AD203B41FA5}">
                      <a16:colId xmlns:a16="http://schemas.microsoft.com/office/drawing/2014/main" val="2234445419"/>
                    </a:ext>
                  </a:extLst>
                </a:gridCol>
                <a:gridCol w="2294626">
                  <a:extLst>
                    <a:ext uri="{9D8B030D-6E8A-4147-A177-3AD203B41FA5}">
                      <a16:colId xmlns:a16="http://schemas.microsoft.com/office/drawing/2014/main" val="39086590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>
                          <a:latin typeface="+mj-lt"/>
                        </a:rPr>
                        <a:t>Instruction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+mj-lt"/>
                        </a:rPr>
                        <a:t>Opcode/Function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+mj-lt"/>
                        </a:rPr>
                        <a:t>Syntax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+mj-lt"/>
                        </a:rPr>
                        <a:t>Operation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97491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latin typeface="+mj-lt"/>
                        </a:rPr>
                        <a:t>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+mj-lt"/>
                        </a:rPr>
                        <a:t>000010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o label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+mj-lt"/>
                        </a:rPr>
                        <a:t>pc += i &lt;&lt;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17504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latin typeface="+mj-lt"/>
                        </a:rPr>
                        <a:t>jal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+mj-lt"/>
                        </a:rPr>
                        <a:t>000011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o label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$31 = pc; pc += </a:t>
                      </a:r>
                      <a:r>
                        <a:rPr lang="en-US" dirty="0" err="1">
                          <a:latin typeface="+mj-lt"/>
                        </a:rPr>
                        <a:t>i</a:t>
                      </a:r>
                      <a:r>
                        <a:rPr lang="en-US" dirty="0">
                          <a:latin typeface="+mj-lt"/>
                        </a:rPr>
                        <a:t> &lt;&lt;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78825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latin typeface="+mj-lt"/>
                        </a:rPr>
                        <a:t>jalr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+mj-lt"/>
                        </a:rPr>
                        <a:t>001001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+mj-lt"/>
                        </a:rPr>
                        <a:t>o labelR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+mj-lt"/>
                        </a:rPr>
                        <a:t>$31 = pc; pc = $s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62609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latin typeface="+mj-lt"/>
                        </a:rPr>
                        <a:t>jr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+mj-lt"/>
                        </a:rPr>
                        <a:t>001000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+mj-lt"/>
                        </a:rPr>
                        <a:t>o labelR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pc = $s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1147185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109EC2B7-2EAE-49E2-9D12-80A00372C39E}"/>
              </a:ext>
            </a:extLst>
          </p:cNvPr>
          <p:cNvSpPr/>
          <p:nvPr/>
        </p:nvSpPr>
        <p:spPr>
          <a:xfrm>
            <a:off x="766763" y="617677"/>
            <a:ext cx="909273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附： 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MIPS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指令操作码</a:t>
            </a:r>
            <a:endParaRPr lang="zh-CN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66763" y="138784"/>
            <a:ext cx="27540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</a:p>
        </p:txBody>
      </p:sp>
    </p:spTree>
    <p:extLst>
      <p:ext uri="{BB962C8B-B14F-4D97-AF65-F5344CB8AC3E}">
        <p14:creationId xmlns:p14="http://schemas.microsoft.com/office/powerpoint/2010/main" val="3266792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4015FC3-3341-4C50-9C43-B54EB8DF743C}"/>
              </a:ext>
            </a:extLst>
          </p:cNvPr>
          <p:cNvSpPr/>
          <p:nvPr/>
        </p:nvSpPr>
        <p:spPr>
          <a:xfrm>
            <a:off x="2004077" y="1291760"/>
            <a:ext cx="21210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altLang="zh-CN" b="1" dirty="0">
                <a:solidFill>
                  <a:srgbClr val="CC0000"/>
                </a:solidFill>
                <a:latin typeface="Arial" panose="020B0604020202020204" pitchFamily="34" charset="0"/>
              </a:rPr>
              <a:t>Load Instructions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BBE2EBB0-5757-4EC9-B90C-0922041441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2225044"/>
              </p:ext>
            </p:extLst>
          </p:nvPr>
        </p:nvGraphicFramePr>
        <p:xfrm>
          <a:off x="2004076" y="1580703"/>
          <a:ext cx="7479972" cy="2687810"/>
        </p:xfrm>
        <a:graphic>
          <a:graphicData uri="http://schemas.openxmlformats.org/drawingml/2006/table">
            <a:tbl>
              <a:tblPr/>
              <a:tblGrid>
                <a:gridCol w="1276396">
                  <a:extLst>
                    <a:ext uri="{9D8B030D-6E8A-4147-A177-3AD203B41FA5}">
                      <a16:colId xmlns:a16="http://schemas.microsoft.com/office/drawing/2014/main" val="3915928845"/>
                    </a:ext>
                  </a:extLst>
                </a:gridCol>
                <a:gridCol w="1497105">
                  <a:extLst>
                    <a:ext uri="{9D8B030D-6E8A-4147-A177-3AD203B41FA5}">
                      <a16:colId xmlns:a16="http://schemas.microsoft.com/office/drawing/2014/main" val="642212187"/>
                    </a:ext>
                  </a:extLst>
                </a:gridCol>
                <a:gridCol w="1810871">
                  <a:extLst>
                    <a:ext uri="{9D8B030D-6E8A-4147-A177-3AD203B41FA5}">
                      <a16:colId xmlns:a16="http://schemas.microsoft.com/office/drawing/2014/main" val="1645877667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1609875604"/>
                    </a:ext>
                  </a:extLst>
                </a:gridCol>
              </a:tblGrid>
              <a:tr h="431609">
                <a:tc>
                  <a:txBody>
                    <a:bodyPr/>
                    <a:lstStyle/>
                    <a:p>
                      <a:r>
                        <a:rPr lang="en-US" sz="1500">
                          <a:latin typeface="+mj-lt"/>
                        </a:rPr>
                        <a:t>Instruction</a:t>
                      </a:r>
                    </a:p>
                  </a:txBody>
                  <a:tcPr marL="32376" marR="32376" marT="32376" marB="32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latin typeface="+mj-lt"/>
                        </a:rPr>
                        <a:t>Opcode/Function</a:t>
                      </a:r>
                    </a:p>
                  </a:txBody>
                  <a:tcPr marL="32376" marR="32376" marT="32376" marB="32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latin typeface="+mj-lt"/>
                        </a:rPr>
                        <a:t>Syntax</a:t>
                      </a:r>
                    </a:p>
                  </a:txBody>
                  <a:tcPr marL="32376" marR="32376" marT="32376" marB="32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latin typeface="+mj-lt"/>
                        </a:rPr>
                        <a:t>Operation</a:t>
                      </a:r>
                    </a:p>
                  </a:txBody>
                  <a:tcPr marL="32376" marR="32376" marT="32376" marB="32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2157476"/>
                  </a:ext>
                </a:extLst>
              </a:tr>
              <a:tr h="401709">
                <a:tc>
                  <a:txBody>
                    <a:bodyPr/>
                    <a:lstStyle/>
                    <a:p>
                      <a:r>
                        <a:rPr lang="en-US" sz="1500">
                          <a:latin typeface="+mj-lt"/>
                        </a:rPr>
                        <a:t>lb</a:t>
                      </a:r>
                    </a:p>
                  </a:txBody>
                  <a:tcPr marL="32376" marR="32376" marT="32376" marB="32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+mj-lt"/>
                        </a:rPr>
                        <a:t>100000</a:t>
                      </a:r>
                    </a:p>
                  </a:txBody>
                  <a:tcPr marL="32376" marR="32376" marT="32376" marB="32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latin typeface="+mj-lt"/>
                        </a:rPr>
                        <a:t>o $t, i ($s)</a:t>
                      </a:r>
                    </a:p>
                  </a:txBody>
                  <a:tcPr marL="32376" marR="32376" marT="32376" marB="32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500">
                          <a:latin typeface="+mj-lt"/>
                        </a:rPr>
                        <a:t>$t = SE (MEM [$s + i]:1)</a:t>
                      </a:r>
                    </a:p>
                  </a:txBody>
                  <a:tcPr marL="32376" marR="32376" marT="32376" marB="32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6772835"/>
                  </a:ext>
                </a:extLst>
              </a:tr>
              <a:tr h="444517">
                <a:tc>
                  <a:txBody>
                    <a:bodyPr/>
                    <a:lstStyle/>
                    <a:p>
                      <a:r>
                        <a:rPr lang="en-US" sz="1500" dirty="0" err="1">
                          <a:latin typeface="+mj-lt"/>
                        </a:rPr>
                        <a:t>lbu</a:t>
                      </a:r>
                      <a:endParaRPr lang="en-US" sz="1500" dirty="0">
                        <a:latin typeface="+mj-lt"/>
                      </a:endParaRPr>
                    </a:p>
                  </a:txBody>
                  <a:tcPr marL="32376" marR="32376" marT="32376" marB="32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+mj-lt"/>
                        </a:rPr>
                        <a:t>100100</a:t>
                      </a:r>
                    </a:p>
                  </a:txBody>
                  <a:tcPr marL="32376" marR="32376" marT="32376" marB="32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latin typeface="+mj-lt"/>
                        </a:rPr>
                        <a:t>o $t, i ($s)</a:t>
                      </a:r>
                    </a:p>
                  </a:txBody>
                  <a:tcPr marL="32376" marR="32376" marT="32376" marB="32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l-PL" sz="1500">
                          <a:latin typeface="+mj-lt"/>
                        </a:rPr>
                        <a:t>$t = ZE (MEM [$s + i]:1)</a:t>
                      </a:r>
                    </a:p>
                  </a:txBody>
                  <a:tcPr marL="32376" marR="32376" marT="32376" marB="32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2544274"/>
                  </a:ext>
                </a:extLst>
              </a:tr>
              <a:tr h="495528">
                <a:tc>
                  <a:txBody>
                    <a:bodyPr/>
                    <a:lstStyle/>
                    <a:p>
                      <a:r>
                        <a:rPr lang="en-US" sz="1500">
                          <a:latin typeface="+mj-lt"/>
                        </a:rPr>
                        <a:t>lh</a:t>
                      </a:r>
                    </a:p>
                  </a:txBody>
                  <a:tcPr marL="32376" marR="32376" marT="32376" marB="32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+mj-lt"/>
                        </a:rPr>
                        <a:t>100001</a:t>
                      </a:r>
                    </a:p>
                  </a:txBody>
                  <a:tcPr marL="32376" marR="32376" marT="32376" marB="32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latin typeface="+mj-lt"/>
                        </a:rPr>
                        <a:t>o $t, i ($s)</a:t>
                      </a:r>
                    </a:p>
                  </a:txBody>
                  <a:tcPr marL="32376" marR="32376" marT="32376" marB="32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500">
                          <a:latin typeface="+mj-lt"/>
                        </a:rPr>
                        <a:t>$t = SE (MEM [$s + i]:2)</a:t>
                      </a:r>
                    </a:p>
                  </a:txBody>
                  <a:tcPr marL="32376" marR="32376" marT="32376" marB="32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9015185"/>
                  </a:ext>
                </a:extLst>
              </a:tr>
              <a:tr h="289164">
                <a:tc>
                  <a:txBody>
                    <a:bodyPr/>
                    <a:lstStyle/>
                    <a:p>
                      <a:r>
                        <a:rPr lang="en-US" sz="1500" dirty="0" err="1">
                          <a:latin typeface="+mj-lt"/>
                        </a:rPr>
                        <a:t>lhu</a:t>
                      </a:r>
                      <a:endParaRPr lang="en-US" sz="1500" dirty="0">
                        <a:latin typeface="+mj-lt"/>
                      </a:endParaRPr>
                    </a:p>
                  </a:txBody>
                  <a:tcPr marL="32376" marR="32376" marT="32376" marB="32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+mj-lt"/>
                        </a:rPr>
                        <a:t>100101</a:t>
                      </a:r>
                    </a:p>
                  </a:txBody>
                  <a:tcPr marL="32376" marR="32376" marT="32376" marB="32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latin typeface="+mj-lt"/>
                        </a:rPr>
                        <a:t>o $t, i ($s)</a:t>
                      </a:r>
                    </a:p>
                  </a:txBody>
                  <a:tcPr marL="32376" marR="32376" marT="32376" marB="32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l-PL" sz="1500">
                          <a:latin typeface="+mj-lt"/>
                        </a:rPr>
                        <a:t>$t = ZE (MEM [$s + i]:2)</a:t>
                      </a:r>
                    </a:p>
                  </a:txBody>
                  <a:tcPr marL="32376" marR="32376" marT="32376" marB="32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8218208"/>
                  </a:ext>
                </a:extLst>
              </a:tr>
              <a:tr h="621095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+mj-lt"/>
                        </a:rPr>
                        <a:t>lw</a:t>
                      </a:r>
                    </a:p>
                  </a:txBody>
                  <a:tcPr marL="32376" marR="32376" marT="32376" marB="32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500" dirty="0">
                          <a:latin typeface="+mj-lt"/>
                        </a:rPr>
                        <a:t>100011</a:t>
                      </a:r>
                    </a:p>
                  </a:txBody>
                  <a:tcPr marL="32376" marR="32376" marT="32376" marB="32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latin typeface="+mj-lt"/>
                        </a:rPr>
                        <a:t>o $t, i ($s)</a:t>
                      </a:r>
                    </a:p>
                  </a:txBody>
                  <a:tcPr marL="32376" marR="32376" marT="32376" marB="32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+mj-lt"/>
                        </a:rPr>
                        <a:t>$t = MEM [$s + </a:t>
                      </a:r>
                      <a:r>
                        <a:rPr lang="en-US" sz="1500" dirty="0" err="1">
                          <a:latin typeface="+mj-lt"/>
                        </a:rPr>
                        <a:t>i</a:t>
                      </a:r>
                      <a:r>
                        <a:rPr lang="en-US" sz="1500" dirty="0">
                          <a:latin typeface="+mj-lt"/>
                        </a:rPr>
                        <a:t>]:4</a:t>
                      </a:r>
                    </a:p>
                  </a:txBody>
                  <a:tcPr marL="32376" marR="32376" marT="32376" marB="323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3465733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CBB31631-6D2D-4530-B63E-6745895837F1}"/>
              </a:ext>
            </a:extLst>
          </p:cNvPr>
          <p:cNvSpPr/>
          <p:nvPr/>
        </p:nvSpPr>
        <p:spPr>
          <a:xfrm>
            <a:off x="2004076" y="4188124"/>
            <a:ext cx="2159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altLang="zh-CN" b="1" dirty="0">
                <a:solidFill>
                  <a:srgbClr val="CC0000"/>
                </a:solidFill>
                <a:latin typeface="Arial" panose="020B0604020202020204" pitchFamily="34" charset="0"/>
              </a:rPr>
              <a:t>Store Instructions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D380E9D-222B-4873-9679-B78610A4F9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7519064"/>
              </p:ext>
            </p:extLst>
          </p:nvPr>
        </p:nvGraphicFramePr>
        <p:xfrm>
          <a:off x="2004076" y="4650894"/>
          <a:ext cx="8062680" cy="1402080"/>
        </p:xfrm>
        <a:graphic>
          <a:graphicData uri="http://schemas.openxmlformats.org/drawingml/2006/table">
            <a:tbl>
              <a:tblPr/>
              <a:tblGrid>
                <a:gridCol w="2015670">
                  <a:extLst>
                    <a:ext uri="{9D8B030D-6E8A-4147-A177-3AD203B41FA5}">
                      <a16:colId xmlns:a16="http://schemas.microsoft.com/office/drawing/2014/main" val="3119295806"/>
                    </a:ext>
                  </a:extLst>
                </a:gridCol>
                <a:gridCol w="2015670">
                  <a:extLst>
                    <a:ext uri="{9D8B030D-6E8A-4147-A177-3AD203B41FA5}">
                      <a16:colId xmlns:a16="http://schemas.microsoft.com/office/drawing/2014/main" val="2036989493"/>
                    </a:ext>
                  </a:extLst>
                </a:gridCol>
                <a:gridCol w="1476397">
                  <a:extLst>
                    <a:ext uri="{9D8B030D-6E8A-4147-A177-3AD203B41FA5}">
                      <a16:colId xmlns:a16="http://schemas.microsoft.com/office/drawing/2014/main" val="2385594802"/>
                    </a:ext>
                  </a:extLst>
                </a:gridCol>
                <a:gridCol w="2554943">
                  <a:extLst>
                    <a:ext uri="{9D8B030D-6E8A-4147-A177-3AD203B41FA5}">
                      <a16:colId xmlns:a16="http://schemas.microsoft.com/office/drawing/2014/main" val="944530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>
                          <a:latin typeface="+mj-lt"/>
                        </a:rPr>
                        <a:t>Instruction</a:t>
                      </a:r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+mj-lt"/>
                        </a:rPr>
                        <a:t>Opcode/Function</a:t>
                      </a:r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+mj-lt"/>
                        </a:rPr>
                        <a:t>Syntax</a:t>
                      </a:r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+mj-lt"/>
                        </a:rPr>
                        <a:t>Operation</a:t>
                      </a:r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7807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latin typeface="+mj-lt"/>
                        </a:rPr>
                        <a:t>sb</a:t>
                      </a:r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+mj-lt"/>
                        </a:rPr>
                        <a:t>101000</a:t>
                      </a:r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+mj-lt"/>
                        </a:rPr>
                        <a:t>o $t, i ($s)</a:t>
                      </a:r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+mj-lt"/>
                        </a:rPr>
                        <a:t>MEM [$s + i]:1 = LB ($t)</a:t>
                      </a:r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81627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latin typeface="+mj-lt"/>
                        </a:rPr>
                        <a:t>sh</a:t>
                      </a:r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+mj-lt"/>
                        </a:rPr>
                        <a:t>101001</a:t>
                      </a:r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+mj-lt"/>
                        </a:rPr>
                        <a:t>o $t, i ($s)</a:t>
                      </a:r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+mj-lt"/>
                        </a:rPr>
                        <a:t>MEM [$s + i]:2 = LH ($t)</a:t>
                      </a:r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50809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latin typeface="+mj-lt"/>
                        </a:rPr>
                        <a:t>sw</a:t>
                      </a:r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+mj-lt"/>
                        </a:rPr>
                        <a:t>101011</a:t>
                      </a:r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+mj-lt"/>
                        </a:rPr>
                        <a:t>o $t, i ($s)</a:t>
                      </a:r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MEM [$s + </a:t>
                      </a:r>
                      <a:r>
                        <a:rPr lang="en-US" dirty="0" err="1">
                          <a:latin typeface="+mj-lt"/>
                        </a:rPr>
                        <a:t>i</a:t>
                      </a:r>
                      <a:r>
                        <a:rPr lang="en-US" dirty="0">
                          <a:latin typeface="+mj-lt"/>
                        </a:rPr>
                        <a:t>]:4 = $t</a:t>
                      </a:r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7494629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109EC2B7-2EAE-49E2-9D12-80A00372C39E}"/>
              </a:ext>
            </a:extLst>
          </p:cNvPr>
          <p:cNvSpPr/>
          <p:nvPr/>
        </p:nvSpPr>
        <p:spPr>
          <a:xfrm>
            <a:off x="766763" y="660809"/>
            <a:ext cx="909273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附： 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MIPS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指令操作码</a:t>
            </a:r>
            <a:endParaRPr lang="zh-CN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66763" y="138784"/>
            <a:ext cx="27540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</a:p>
        </p:txBody>
      </p:sp>
    </p:spTree>
    <p:extLst>
      <p:ext uri="{BB962C8B-B14F-4D97-AF65-F5344CB8AC3E}">
        <p14:creationId xmlns:p14="http://schemas.microsoft.com/office/powerpoint/2010/main" val="3389856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146B859-F077-4302-A968-9B7A65F681E3}"/>
              </a:ext>
            </a:extLst>
          </p:cNvPr>
          <p:cNvSpPr/>
          <p:nvPr/>
        </p:nvSpPr>
        <p:spPr>
          <a:xfrm>
            <a:off x="2039402" y="1364619"/>
            <a:ext cx="32752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altLang="zh-CN" b="1" dirty="0">
                <a:solidFill>
                  <a:srgbClr val="CC0000"/>
                </a:solidFill>
                <a:latin typeface="Arial" panose="020B0604020202020204" pitchFamily="34" charset="0"/>
              </a:rPr>
              <a:t>Data Movement Instructions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77689B42-82E7-4A25-9CE9-420E94D754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278398"/>
              </p:ext>
            </p:extLst>
          </p:nvPr>
        </p:nvGraphicFramePr>
        <p:xfrm>
          <a:off x="2039402" y="1978144"/>
          <a:ext cx="7886700" cy="1828800"/>
        </p:xfrm>
        <a:graphic>
          <a:graphicData uri="http://schemas.openxmlformats.org/drawingml/2006/table">
            <a:tbl>
              <a:tblPr/>
              <a:tblGrid>
                <a:gridCol w="1971675">
                  <a:extLst>
                    <a:ext uri="{9D8B030D-6E8A-4147-A177-3AD203B41FA5}">
                      <a16:colId xmlns:a16="http://schemas.microsoft.com/office/drawing/2014/main" val="2616384935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9247947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629769379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20463161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>
                          <a:latin typeface="+mj-lt"/>
                        </a:rPr>
                        <a:t>Instruction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Opcode/Function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+mj-lt"/>
                        </a:rPr>
                        <a:t>Syntax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+mj-lt"/>
                        </a:rPr>
                        <a:t>Operation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4082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latin typeface="+mj-lt"/>
                        </a:rPr>
                        <a:t>mfhi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+mj-lt"/>
                        </a:rPr>
                        <a:t>010000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+mj-lt"/>
                        </a:rPr>
                        <a:t>f $d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+mj-lt"/>
                        </a:rPr>
                        <a:t>$d = hi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8194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latin typeface="+mj-lt"/>
                        </a:rPr>
                        <a:t>mflo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+mj-lt"/>
                        </a:rPr>
                        <a:t>010010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+mj-lt"/>
                        </a:rPr>
                        <a:t>f $d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+mj-lt"/>
                        </a:rPr>
                        <a:t>$d = lo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96129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latin typeface="+mj-lt"/>
                        </a:rPr>
                        <a:t>mthi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+mj-lt"/>
                        </a:rPr>
                        <a:t>010001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+mj-lt"/>
                        </a:rPr>
                        <a:t>f $s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+mj-lt"/>
                        </a:rPr>
                        <a:t>hi = $s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430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latin typeface="+mj-lt"/>
                        </a:rPr>
                        <a:t>mtlo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+mj-lt"/>
                        </a:rPr>
                        <a:t>010011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+mj-lt"/>
                        </a:rPr>
                        <a:t>f $s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lo = $s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481368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60EBA7A1-4FF2-4B54-9EB7-88403EA0B0D1}"/>
              </a:ext>
            </a:extLst>
          </p:cNvPr>
          <p:cNvSpPr/>
          <p:nvPr/>
        </p:nvSpPr>
        <p:spPr>
          <a:xfrm>
            <a:off x="2039403" y="4091337"/>
            <a:ext cx="41601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altLang="zh-CN" b="1" dirty="0">
                <a:solidFill>
                  <a:srgbClr val="CC0000"/>
                </a:solidFill>
                <a:latin typeface="Arial" panose="020B0604020202020204" pitchFamily="34" charset="0"/>
              </a:rPr>
              <a:t>Exception and Interrupt Instructions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27D614E-DB18-4165-ADBE-290B506F7D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4258752"/>
              </p:ext>
            </p:extLst>
          </p:nvPr>
        </p:nvGraphicFramePr>
        <p:xfrm>
          <a:off x="2039402" y="4745062"/>
          <a:ext cx="7709648" cy="975360"/>
        </p:xfrm>
        <a:graphic>
          <a:graphicData uri="http://schemas.openxmlformats.org/drawingml/2006/table">
            <a:tbl>
              <a:tblPr/>
              <a:tblGrid>
                <a:gridCol w="1156448">
                  <a:extLst>
                    <a:ext uri="{9D8B030D-6E8A-4147-A177-3AD203B41FA5}">
                      <a16:colId xmlns:a16="http://schemas.microsoft.com/office/drawing/2014/main" val="1366422231"/>
                    </a:ext>
                  </a:extLst>
                </a:gridCol>
                <a:gridCol w="1846729">
                  <a:extLst>
                    <a:ext uri="{9D8B030D-6E8A-4147-A177-3AD203B41FA5}">
                      <a16:colId xmlns:a16="http://schemas.microsoft.com/office/drawing/2014/main" val="3071909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4214665937"/>
                    </a:ext>
                  </a:extLst>
                </a:gridCol>
                <a:gridCol w="3639671">
                  <a:extLst>
                    <a:ext uri="{9D8B030D-6E8A-4147-A177-3AD203B41FA5}">
                      <a16:colId xmlns:a16="http://schemas.microsoft.com/office/drawing/2014/main" val="34558116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>
                          <a:latin typeface="+mj-lt"/>
                        </a:rPr>
                        <a:t>Instruction</a:t>
                      </a:r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Opcode/Function</a:t>
                      </a:r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+mj-lt"/>
                        </a:rPr>
                        <a:t>Syntax</a:t>
                      </a:r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+mj-lt"/>
                        </a:rPr>
                        <a:t>Operation</a:t>
                      </a:r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91177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trap</a:t>
                      </a:r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+mj-lt"/>
                        </a:rPr>
                        <a:t>011010</a:t>
                      </a:r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+mj-lt"/>
                        </a:rPr>
                        <a:t>o i</a:t>
                      </a:r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Dependent on OS; different values for immed26 specify different operations.</a:t>
                      </a:r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354226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109EC2B7-2EAE-49E2-9D12-80A00372C39E}"/>
              </a:ext>
            </a:extLst>
          </p:cNvPr>
          <p:cNvSpPr/>
          <p:nvPr/>
        </p:nvSpPr>
        <p:spPr>
          <a:xfrm>
            <a:off x="766763" y="729820"/>
            <a:ext cx="909273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附： 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MIPS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指令操作码</a:t>
            </a:r>
            <a:endParaRPr lang="zh-CN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66763" y="138784"/>
            <a:ext cx="27540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</a:p>
        </p:txBody>
      </p:sp>
    </p:spTree>
    <p:extLst>
      <p:ext uri="{BB962C8B-B14F-4D97-AF65-F5344CB8AC3E}">
        <p14:creationId xmlns:p14="http://schemas.microsoft.com/office/powerpoint/2010/main" val="633958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A7C1D094-9262-4F46-8496-19802BF126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144301"/>
              </p:ext>
            </p:extLst>
          </p:nvPr>
        </p:nvGraphicFramePr>
        <p:xfrm>
          <a:off x="1708212" y="1139675"/>
          <a:ext cx="9204203" cy="53215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29672">
                  <a:extLst>
                    <a:ext uri="{9D8B030D-6E8A-4147-A177-3AD203B41FA5}">
                      <a16:colId xmlns:a16="http://schemas.microsoft.com/office/drawing/2014/main" val="192997648"/>
                    </a:ext>
                  </a:extLst>
                </a:gridCol>
                <a:gridCol w="1423094">
                  <a:extLst>
                    <a:ext uri="{9D8B030D-6E8A-4147-A177-3AD203B41FA5}">
                      <a16:colId xmlns:a16="http://schemas.microsoft.com/office/drawing/2014/main" val="3789120927"/>
                    </a:ext>
                  </a:extLst>
                </a:gridCol>
                <a:gridCol w="6151437">
                  <a:extLst>
                    <a:ext uri="{9D8B030D-6E8A-4147-A177-3AD203B41FA5}">
                      <a16:colId xmlns:a16="http://schemas.microsoft.com/office/drawing/2014/main" val="3552248483"/>
                    </a:ext>
                  </a:extLst>
                </a:gridCol>
              </a:tblGrid>
              <a:tr h="380108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sz="1600" u="none" strike="noStrike" dirty="0">
                          <a:effectLst/>
                          <a:latin typeface="+mj-lt"/>
                          <a:ea typeface="+mn-ea"/>
                        </a:rPr>
                        <a:t>ALU_OP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600" u="none" strike="noStrike">
                          <a:effectLst/>
                          <a:latin typeface="+mj-lt"/>
                          <a:ea typeface="+mn-ea"/>
                        </a:rPr>
                        <a:t>十进制</a:t>
                      </a:r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600" u="none" strike="noStrike">
                          <a:effectLst/>
                          <a:latin typeface="+mj-lt"/>
                          <a:ea typeface="+mn-ea"/>
                        </a:rPr>
                        <a:t>运算功能</a:t>
                      </a:r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39834441"/>
                  </a:ext>
                </a:extLst>
              </a:tr>
              <a:tr h="380108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600" u="none" strike="noStrike" dirty="0">
                          <a:effectLst/>
                          <a:latin typeface="+mj-lt"/>
                          <a:ea typeface="+mn-ea"/>
                        </a:rPr>
                        <a:t>0000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600" u="none" strike="noStrike">
                          <a:effectLst/>
                          <a:latin typeface="+mj-lt"/>
                          <a:ea typeface="+mn-ea"/>
                        </a:rPr>
                        <a:t>0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US" sz="1600" u="none" strike="noStrike" dirty="0">
                          <a:effectLst/>
                          <a:latin typeface="+mj-lt"/>
                          <a:ea typeface="+mn-ea"/>
                        </a:rPr>
                        <a:t>Result = X &lt;&lt; Y   </a:t>
                      </a:r>
                      <a:r>
                        <a:rPr lang="zh-CN" altLang="en-US" sz="1600" u="none" strike="noStrike" dirty="0">
                          <a:effectLst/>
                          <a:latin typeface="+mj-lt"/>
                          <a:ea typeface="+mn-ea"/>
                        </a:rPr>
                        <a:t>逻辑左移 （</a:t>
                      </a:r>
                      <a:r>
                        <a:rPr lang="en-US" sz="1600" u="none" strike="noStrike" dirty="0">
                          <a:effectLst/>
                          <a:latin typeface="+mj-lt"/>
                          <a:ea typeface="+mn-ea"/>
                        </a:rPr>
                        <a:t>Y</a:t>
                      </a:r>
                      <a:r>
                        <a:rPr lang="zh-CN" altLang="en-US" sz="1600" u="none" strike="noStrike" dirty="0">
                          <a:effectLst/>
                          <a:latin typeface="+mj-lt"/>
                          <a:ea typeface="+mn-ea"/>
                        </a:rPr>
                        <a:t>取低五位） </a:t>
                      </a:r>
                      <a:r>
                        <a:rPr lang="en-US" sz="1600" u="none" strike="noStrike" dirty="0">
                          <a:effectLst/>
                          <a:latin typeface="+mj-lt"/>
                          <a:ea typeface="+mn-ea"/>
                        </a:rPr>
                        <a:t>Result2=0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5245386"/>
                  </a:ext>
                </a:extLst>
              </a:tr>
              <a:tr h="380108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600" u="none" strike="noStrike" dirty="0">
                          <a:effectLst/>
                          <a:latin typeface="+mj-lt"/>
                          <a:ea typeface="+mn-ea"/>
                        </a:rPr>
                        <a:t>0001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600" u="none" strike="noStrike" dirty="0">
                          <a:effectLst/>
                          <a:latin typeface="+mj-lt"/>
                          <a:ea typeface="+mn-ea"/>
                        </a:rPr>
                        <a:t>1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US" sz="1600" u="none" strike="noStrike" dirty="0">
                          <a:effectLst/>
                          <a:latin typeface="+mj-lt"/>
                          <a:ea typeface="+mn-ea"/>
                        </a:rPr>
                        <a:t>Result = X &gt;&gt;&gt;Y  </a:t>
                      </a:r>
                      <a:r>
                        <a:rPr lang="zh-CN" altLang="en-US" sz="1600" u="none" strike="noStrike" dirty="0">
                          <a:effectLst/>
                          <a:latin typeface="+mj-lt"/>
                          <a:ea typeface="+mn-ea"/>
                        </a:rPr>
                        <a:t>算术右移 （</a:t>
                      </a:r>
                      <a:r>
                        <a:rPr lang="en-US" sz="1600" u="none" strike="noStrike" dirty="0">
                          <a:effectLst/>
                          <a:latin typeface="+mj-lt"/>
                          <a:ea typeface="+mn-ea"/>
                        </a:rPr>
                        <a:t>Y</a:t>
                      </a:r>
                      <a:r>
                        <a:rPr lang="zh-CN" altLang="en-US" sz="1600" u="none" strike="noStrike" dirty="0">
                          <a:effectLst/>
                          <a:latin typeface="+mj-lt"/>
                          <a:ea typeface="+mn-ea"/>
                        </a:rPr>
                        <a:t>取低五位）</a:t>
                      </a:r>
                      <a:r>
                        <a:rPr lang="zh-CN" altLang="en-US" sz="1600" b="1" u="none" strike="noStrike" dirty="0">
                          <a:effectLst/>
                          <a:latin typeface="+mj-lt"/>
                          <a:ea typeface="+mn-ea"/>
                        </a:rPr>
                        <a:t> </a:t>
                      </a:r>
                      <a:r>
                        <a:rPr lang="en-US" sz="1600" u="none" strike="noStrike" dirty="0">
                          <a:effectLst/>
                          <a:latin typeface="+mj-lt"/>
                          <a:ea typeface="+mn-ea"/>
                        </a:rPr>
                        <a:t>Result2=0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31534468"/>
                  </a:ext>
                </a:extLst>
              </a:tr>
              <a:tr h="380108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600" u="none" strike="noStrike">
                          <a:effectLst/>
                          <a:latin typeface="+mj-lt"/>
                          <a:ea typeface="+mn-ea"/>
                        </a:rPr>
                        <a:t>0010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600" u="none" strike="noStrike" dirty="0">
                          <a:effectLst/>
                          <a:latin typeface="+mj-lt"/>
                          <a:ea typeface="+mn-ea"/>
                        </a:rPr>
                        <a:t>2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US" sz="1600" u="none" strike="noStrike" dirty="0">
                          <a:effectLst/>
                          <a:latin typeface="+mj-lt"/>
                          <a:ea typeface="+mn-ea"/>
                        </a:rPr>
                        <a:t>Result = X &gt;&gt; Y   </a:t>
                      </a:r>
                      <a:r>
                        <a:rPr lang="zh-CN" altLang="en-US" sz="1600" u="none" strike="noStrike" dirty="0">
                          <a:effectLst/>
                          <a:latin typeface="+mj-lt"/>
                          <a:ea typeface="+mn-ea"/>
                        </a:rPr>
                        <a:t>逻辑右移 （</a:t>
                      </a:r>
                      <a:r>
                        <a:rPr lang="en-US" sz="1600" u="none" strike="noStrike" dirty="0">
                          <a:effectLst/>
                          <a:latin typeface="+mj-lt"/>
                          <a:ea typeface="+mn-ea"/>
                        </a:rPr>
                        <a:t>Y</a:t>
                      </a:r>
                      <a:r>
                        <a:rPr lang="zh-CN" altLang="en-US" sz="1600" u="none" strike="noStrike" dirty="0">
                          <a:effectLst/>
                          <a:latin typeface="+mj-lt"/>
                          <a:ea typeface="+mn-ea"/>
                        </a:rPr>
                        <a:t>取低五位） </a:t>
                      </a:r>
                      <a:r>
                        <a:rPr lang="en-US" sz="1600" u="none" strike="noStrike" dirty="0">
                          <a:effectLst/>
                          <a:latin typeface="+mj-lt"/>
                          <a:ea typeface="+mn-ea"/>
                        </a:rPr>
                        <a:t>Result2=0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10830956"/>
                  </a:ext>
                </a:extLst>
              </a:tr>
              <a:tr h="380108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600" u="none" strike="noStrike">
                          <a:effectLst/>
                          <a:latin typeface="+mj-lt"/>
                          <a:ea typeface="+mn-ea"/>
                        </a:rPr>
                        <a:t>0011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600" u="none" strike="noStrike" dirty="0">
                          <a:effectLst/>
                          <a:latin typeface="+mj-lt"/>
                          <a:ea typeface="+mn-ea"/>
                        </a:rPr>
                        <a:t>3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US" sz="1600" u="none" strike="noStrike" dirty="0">
                          <a:effectLst/>
                          <a:latin typeface="+mj-lt"/>
                          <a:ea typeface="+mn-ea"/>
                        </a:rPr>
                        <a:t>Result = (X * Y)</a:t>
                      </a:r>
                      <a:r>
                        <a:rPr lang="en-US" sz="1600" u="none" strike="noStrike" baseline="-25000" dirty="0">
                          <a:effectLst/>
                          <a:latin typeface="+mj-lt"/>
                          <a:ea typeface="+mn-ea"/>
                        </a:rPr>
                        <a:t>[31:0]</a:t>
                      </a:r>
                      <a:r>
                        <a:rPr lang="en-US" sz="1600" u="none" strike="noStrike" dirty="0">
                          <a:effectLst/>
                          <a:latin typeface="+mj-lt"/>
                          <a:ea typeface="+mn-ea"/>
                        </a:rPr>
                        <a:t>;  Result2 = (X * Y)</a:t>
                      </a:r>
                      <a:r>
                        <a:rPr lang="en-US" sz="1600" u="none" strike="noStrike" baseline="-25000" dirty="0">
                          <a:effectLst/>
                          <a:latin typeface="+mj-lt"/>
                          <a:ea typeface="+mn-ea"/>
                        </a:rPr>
                        <a:t>[63:32]</a:t>
                      </a:r>
                      <a:r>
                        <a:rPr lang="en-US" sz="1600" u="none" strike="noStrike" dirty="0">
                          <a:effectLst/>
                          <a:latin typeface="+mj-lt"/>
                          <a:ea typeface="+mn-ea"/>
                        </a:rPr>
                        <a:t> </a:t>
                      </a:r>
                      <a:r>
                        <a:rPr lang="zh-CN" altLang="en-US" sz="1600" u="none" strike="noStrike" dirty="0">
                          <a:effectLst/>
                          <a:latin typeface="+mj-lt"/>
                          <a:ea typeface="+mn-ea"/>
                        </a:rPr>
                        <a:t>无符号乘法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85862646"/>
                  </a:ext>
                </a:extLst>
              </a:tr>
              <a:tr h="380108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600" u="none" strike="noStrike">
                          <a:effectLst/>
                          <a:latin typeface="+mj-lt"/>
                          <a:ea typeface="+mn-ea"/>
                        </a:rPr>
                        <a:t>0100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600" u="none" strike="noStrike" dirty="0">
                          <a:effectLst/>
                          <a:latin typeface="+mj-lt"/>
                          <a:ea typeface="+mn-ea"/>
                        </a:rPr>
                        <a:t>4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US" sz="1600" u="none" strike="noStrike" dirty="0">
                          <a:effectLst/>
                          <a:latin typeface="+mj-lt"/>
                          <a:ea typeface="+mn-ea"/>
                        </a:rPr>
                        <a:t>Result = X/Y;   Result2 = X%Y  </a:t>
                      </a:r>
                      <a:r>
                        <a:rPr lang="zh-CN" altLang="en-US" sz="1600" u="none" strike="noStrike" dirty="0">
                          <a:effectLst/>
                          <a:latin typeface="+mj-lt"/>
                          <a:ea typeface="+mn-ea"/>
                        </a:rPr>
                        <a:t>无符号除法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927311962"/>
                  </a:ext>
                </a:extLst>
              </a:tr>
              <a:tr h="380108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600" u="none" strike="noStrike">
                          <a:effectLst/>
                          <a:latin typeface="+mj-lt"/>
                          <a:ea typeface="+mn-ea"/>
                        </a:rPr>
                        <a:t>0101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600" u="none" strike="noStrike">
                          <a:effectLst/>
                          <a:latin typeface="+mj-lt"/>
                          <a:ea typeface="+mn-ea"/>
                        </a:rPr>
                        <a:t>5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US" sz="1600" u="none" strike="noStrike" dirty="0">
                          <a:effectLst/>
                          <a:latin typeface="+mj-lt"/>
                          <a:ea typeface="+mn-ea"/>
                        </a:rPr>
                        <a:t>Result = X + Y    (Set OF/UOF)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31451542"/>
                  </a:ext>
                </a:extLst>
              </a:tr>
              <a:tr h="380108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600" u="none" strike="noStrike">
                          <a:effectLst/>
                          <a:latin typeface="+mj-lt"/>
                          <a:ea typeface="+mn-ea"/>
                        </a:rPr>
                        <a:t>0110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600" u="none" strike="noStrike">
                          <a:effectLst/>
                          <a:latin typeface="+mj-lt"/>
                          <a:ea typeface="+mn-ea"/>
                        </a:rPr>
                        <a:t>6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US" sz="1600" u="none" strike="noStrike" dirty="0">
                          <a:effectLst/>
                          <a:latin typeface="+mj-lt"/>
                          <a:ea typeface="+mn-ea"/>
                        </a:rPr>
                        <a:t>Result = X - Y    (Set OF/UOF)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19426928"/>
                  </a:ext>
                </a:extLst>
              </a:tr>
              <a:tr h="380108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600" u="none" strike="noStrike">
                          <a:effectLst/>
                          <a:latin typeface="+mj-lt"/>
                          <a:ea typeface="+mn-ea"/>
                        </a:rPr>
                        <a:t>0111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600" u="none" strike="noStrike">
                          <a:effectLst/>
                          <a:latin typeface="+mj-lt"/>
                          <a:ea typeface="+mn-ea"/>
                        </a:rPr>
                        <a:t>7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US" sz="1600" u="none" strike="noStrike" dirty="0">
                          <a:effectLst/>
                          <a:latin typeface="+mj-lt"/>
                          <a:ea typeface="+mn-ea"/>
                        </a:rPr>
                        <a:t>Result = X &amp; Y   </a:t>
                      </a:r>
                      <a:r>
                        <a:rPr lang="zh-CN" altLang="en-US" sz="1600" u="none" strike="noStrike" dirty="0">
                          <a:effectLst/>
                          <a:latin typeface="+mj-lt"/>
                          <a:ea typeface="+mn-ea"/>
                        </a:rPr>
                        <a:t>按位与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26690940"/>
                  </a:ext>
                </a:extLst>
              </a:tr>
              <a:tr h="380108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600" u="none" strike="noStrike">
                          <a:effectLst/>
                          <a:latin typeface="+mj-lt"/>
                          <a:ea typeface="+mn-ea"/>
                        </a:rPr>
                        <a:t>1000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600" u="none" strike="noStrike">
                          <a:effectLst/>
                          <a:latin typeface="+mj-lt"/>
                          <a:ea typeface="+mn-ea"/>
                        </a:rPr>
                        <a:t>8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US" sz="1600" u="none" strike="noStrike" dirty="0">
                          <a:effectLst/>
                          <a:latin typeface="+mj-lt"/>
                          <a:ea typeface="+mn-ea"/>
                        </a:rPr>
                        <a:t>Result = X | Y    </a:t>
                      </a:r>
                      <a:r>
                        <a:rPr lang="zh-CN" altLang="en-US" sz="1600" u="none" strike="noStrike" dirty="0">
                          <a:effectLst/>
                          <a:latin typeface="+mj-lt"/>
                          <a:ea typeface="+mn-ea"/>
                        </a:rPr>
                        <a:t>按位或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07091425"/>
                  </a:ext>
                </a:extLst>
              </a:tr>
              <a:tr h="380108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600" u="none" strike="noStrike">
                          <a:effectLst/>
                          <a:latin typeface="+mj-lt"/>
                          <a:ea typeface="+mn-ea"/>
                        </a:rPr>
                        <a:t>1001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600" u="none" strike="noStrike">
                          <a:effectLst/>
                          <a:latin typeface="+mj-lt"/>
                          <a:ea typeface="+mn-ea"/>
                        </a:rPr>
                        <a:t>9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US" sz="1600" u="none" strike="noStrike" dirty="0">
                          <a:effectLst/>
                          <a:latin typeface="+mj-lt"/>
                          <a:ea typeface="+mn-ea"/>
                        </a:rPr>
                        <a:t>Result = X⊕Y    </a:t>
                      </a:r>
                      <a:r>
                        <a:rPr lang="zh-CN" altLang="en-US" sz="1600" u="none" strike="noStrike" dirty="0">
                          <a:effectLst/>
                          <a:latin typeface="+mj-lt"/>
                          <a:ea typeface="+mn-ea"/>
                        </a:rPr>
                        <a:t>按位异或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63695897"/>
                  </a:ext>
                </a:extLst>
              </a:tr>
              <a:tr h="380108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600" u="none" strike="noStrike">
                          <a:effectLst/>
                          <a:latin typeface="+mj-lt"/>
                          <a:ea typeface="+mn-ea"/>
                        </a:rPr>
                        <a:t>1010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600" u="none" strike="noStrike">
                          <a:effectLst/>
                          <a:latin typeface="+mj-lt"/>
                          <a:ea typeface="+mn-ea"/>
                        </a:rPr>
                        <a:t>10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US" sz="1600" u="none" strike="noStrike" dirty="0">
                          <a:effectLst/>
                          <a:latin typeface="+mj-lt"/>
                          <a:ea typeface="+mn-ea"/>
                        </a:rPr>
                        <a:t>Result = ~(X |Y)  </a:t>
                      </a:r>
                      <a:r>
                        <a:rPr lang="zh-CN" altLang="en-US" sz="1600" u="none" strike="noStrike" dirty="0">
                          <a:effectLst/>
                          <a:latin typeface="+mj-lt"/>
                          <a:ea typeface="+mn-ea"/>
                        </a:rPr>
                        <a:t>按位或非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97840561"/>
                  </a:ext>
                </a:extLst>
              </a:tr>
              <a:tr h="380108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600" u="none" strike="noStrike">
                          <a:effectLst/>
                          <a:latin typeface="+mj-lt"/>
                          <a:ea typeface="+mn-ea"/>
                        </a:rPr>
                        <a:t>1011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600" u="none" strike="noStrike">
                          <a:effectLst/>
                          <a:latin typeface="+mj-lt"/>
                          <a:ea typeface="+mn-ea"/>
                        </a:rPr>
                        <a:t>11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US" sz="1600" u="none" strike="noStrike" dirty="0">
                          <a:effectLst/>
                          <a:latin typeface="+mj-lt"/>
                          <a:ea typeface="+mn-ea"/>
                        </a:rPr>
                        <a:t>Result = (X &lt; Y) ? 1 : 0 </a:t>
                      </a:r>
                      <a:r>
                        <a:rPr lang="zh-CN" altLang="en-US" sz="1600" u="none" strike="noStrike" dirty="0">
                          <a:effectLst/>
                          <a:latin typeface="+mj-lt"/>
                          <a:ea typeface="+mn-ea"/>
                        </a:rPr>
                        <a:t>符号比较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24428745"/>
                  </a:ext>
                </a:extLst>
              </a:tr>
              <a:tr h="380108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600" u="none" strike="noStrike">
                          <a:effectLst/>
                          <a:latin typeface="+mj-lt"/>
                          <a:ea typeface="+mn-ea"/>
                        </a:rPr>
                        <a:t>1100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600" u="none" strike="noStrike">
                          <a:effectLst/>
                          <a:latin typeface="+mj-lt"/>
                          <a:ea typeface="+mn-ea"/>
                        </a:rPr>
                        <a:t>12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US" sz="1600" u="none" strike="noStrike" dirty="0">
                          <a:effectLst/>
                          <a:latin typeface="+mj-lt"/>
                          <a:ea typeface="+mn-ea"/>
                        </a:rPr>
                        <a:t>Result = (X &lt; Y) ? 1 : 0 </a:t>
                      </a:r>
                      <a:r>
                        <a:rPr lang="zh-CN" altLang="en-US" sz="1600" u="none" strike="noStrike" dirty="0">
                          <a:effectLst/>
                          <a:latin typeface="+mj-lt"/>
                          <a:ea typeface="+mn-ea"/>
                        </a:rPr>
                        <a:t>无符号比较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15286408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14D29636-3F87-4A26-AC38-505617B2E4E4}"/>
              </a:ext>
            </a:extLst>
          </p:cNvPr>
          <p:cNvSpPr/>
          <p:nvPr/>
        </p:nvSpPr>
        <p:spPr>
          <a:xfrm>
            <a:off x="766763" y="678011"/>
            <a:ext cx="942678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附：完整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ALU_OP</a:t>
            </a:r>
            <a:endParaRPr lang="zh-CN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66763" y="138784"/>
            <a:ext cx="27540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</a:p>
        </p:txBody>
      </p:sp>
    </p:spTree>
    <p:extLst>
      <p:ext uri="{BB962C8B-B14F-4D97-AF65-F5344CB8AC3E}">
        <p14:creationId xmlns:p14="http://schemas.microsoft.com/office/powerpoint/2010/main" val="3408639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BB96231F-005E-40D6-AE73-B94D8D40DF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1251"/>
          <a:stretch/>
        </p:blipFill>
        <p:spPr>
          <a:xfrm>
            <a:off x="2105027" y="1139675"/>
            <a:ext cx="6969962" cy="5376568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B21FCF7C-DBBC-46DB-94F4-C28500DA49BD}"/>
              </a:ext>
            </a:extLst>
          </p:cNvPr>
          <p:cNvSpPr/>
          <p:nvPr/>
        </p:nvSpPr>
        <p:spPr>
          <a:xfrm>
            <a:off x="766763" y="678011"/>
            <a:ext cx="942678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附：寄存器文件作用</a:t>
            </a:r>
            <a:endParaRPr lang="zh-CN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66763" y="138784"/>
            <a:ext cx="27540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</a:p>
        </p:txBody>
      </p:sp>
    </p:spTree>
    <p:extLst>
      <p:ext uri="{BB962C8B-B14F-4D97-AF65-F5344CB8AC3E}">
        <p14:creationId xmlns:p14="http://schemas.microsoft.com/office/powerpoint/2010/main" val="784576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89000"/>
              </a:schemeClr>
            </a:gs>
            <a:gs pos="23000">
              <a:schemeClr val="accent5">
                <a:lumMod val="89000"/>
              </a:schemeClr>
            </a:gs>
            <a:gs pos="69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552700"/>
            <a:ext cx="12192000" cy="1800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859" r="53863"/>
          <a:stretch>
            <a:fillRect/>
          </a:stretch>
        </p:blipFill>
        <p:spPr>
          <a:xfrm>
            <a:off x="462793" y="204160"/>
            <a:ext cx="2517275" cy="679161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2807344"/>
            <a:ext cx="12192000" cy="142192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indent="127000" algn="ctr">
              <a:lnSpc>
                <a:spcPct val="120000"/>
              </a:lnSpc>
            </a:pPr>
            <a:r>
              <a:rPr lang="zh-CN" altLang="en-US" sz="7200" b="1" kern="100" dirty="0">
                <a:solidFill>
                  <a:srgbClr val="1557AE"/>
                </a:solidFill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谢谢！</a:t>
            </a:r>
            <a:endParaRPr lang="zh-CN" altLang="zh-CN" sz="7200" b="1" kern="100" dirty="0">
              <a:solidFill>
                <a:srgbClr val="1557AE"/>
              </a:solidFill>
              <a:latin typeface="隶书" panose="02010509060101010101" pitchFamily="49" charset="-122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4233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701"/>
    </mc:Choice>
    <mc:Fallback xmlns="">
      <p:transition spd="slow" advTm="1770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/>
    </p:bldLst>
  </p:timing>
</p:sld>
</file>

<file path=ppt/theme/theme1.xml><?xml version="1.0" encoding="utf-8"?>
<a:theme xmlns:a="http://schemas.openxmlformats.org/drawingml/2006/main" name="Office 主题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28223</TotalTime>
  <Words>3867</Words>
  <Application>Microsoft Office PowerPoint</Application>
  <PresentationFormat>宽屏</PresentationFormat>
  <Paragraphs>798</Paragraphs>
  <Slides>29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1" baseType="lpstr">
      <vt:lpstr>等线</vt:lpstr>
      <vt:lpstr>等线 Light</vt:lpstr>
      <vt:lpstr>仿宋</vt:lpstr>
      <vt:lpstr>隶书</vt:lpstr>
      <vt:lpstr>宋体</vt:lpstr>
      <vt:lpstr>微软雅黑</vt:lpstr>
      <vt:lpstr>Arial</vt:lpstr>
      <vt:lpstr>Calibri</vt:lpstr>
      <vt:lpstr>Calibri Light</vt:lpstr>
      <vt:lpstr>Times New Roman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王齐</dc:creator>
  <cp:lastModifiedBy>张利平</cp:lastModifiedBy>
  <cp:revision>2176</cp:revision>
  <cp:lastPrinted>2015-09-08T03:57:00Z</cp:lastPrinted>
  <dcterms:created xsi:type="dcterms:W3CDTF">2015-09-04T08:06:00Z</dcterms:created>
  <dcterms:modified xsi:type="dcterms:W3CDTF">2025-11-24T00:32:26Z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2052-11.1.0.9339</vt:lpwstr>
  </property>
</Properties>
</file>