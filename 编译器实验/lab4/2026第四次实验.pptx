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4111" r:id="rId2"/>
  </p:sldMasterIdLst>
  <p:notesMasterIdLst>
    <p:notesMasterId r:id="rId29"/>
  </p:notesMasterIdLst>
  <p:handoutMasterIdLst>
    <p:handoutMasterId r:id="rId30"/>
  </p:handoutMasterIdLst>
  <p:sldIdLst>
    <p:sldId id="322" r:id="rId3"/>
    <p:sldId id="2046" r:id="rId4"/>
    <p:sldId id="2047" r:id="rId5"/>
    <p:sldId id="2056" r:id="rId6"/>
    <p:sldId id="2077" r:id="rId7"/>
    <p:sldId id="2057" r:id="rId8"/>
    <p:sldId id="2049" r:id="rId9"/>
    <p:sldId id="2054" r:id="rId10"/>
    <p:sldId id="2058" r:id="rId11"/>
    <p:sldId id="2059" r:id="rId12"/>
    <p:sldId id="2060" r:id="rId13"/>
    <p:sldId id="2063" r:id="rId14"/>
    <p:sldId id="2062" r:id="rId15"/>
    <p:sldId id="2064" r:id="rId16"/>
    <p:sldId id="2061" r:id="rId17"/>
    <p:sldId id="2065" r:id="rId18"/>
    <p:sldId id="2066" r:id="rId19"/>
    <p:sldId id="2067" r:id="rId20"/>
    <p:sldId id="2068" r:id="rId21"/>
    <p:sldId id="2069" r:id="rId22"/>
    <p:sldId id="2070" r:id="rId23"/>
    <p:sldId id="2071" r:id="rId24"/>
    <p:sldId id="2072" r:id="rId25"/>
    <p:sldId id="2074" r:id="rId26"/>
    <p:sldId id="2073" r:id="rId27"/>
    <p:sldId id="2076" r:id="rId28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0E9C7-26B6-44E2-9E63-943E684250D4}">
          <p14:sldIdLst>
            <p14:sldId id="322"/>
            <p14:sldId id="2046"/>
            <p14:sldId id="2047"/>
            <p14:sldId id="2056"/>
            <p14:sldId id="2077"/>
            <p14:sldId id="2057"/>
            <p14:sldId id="2049"/>
            <p14:sldId id="2054"/>
            <p14:sldId id="2058"/>
            <p14:sldId id="2059"/>
            <p14:sldId id="2060"/>
            <p14:sldId id="2063"/>
            <p14:sldId id="2062"/>
            <p14:sldId id="2064"/>
            <p14:sldId id="2061"/>
            <p14:sldId id="2065"/>
            <p14:sldId id="2066"/>
            <p14:sldId id="2067"/>
            <p14:sldId id="2068"/>
            <p14:sldId id="2069"/>
            <p14:sldId id="2070"/>
            <p14:sldId id="2071"/>
            <p14:sldId id="2072"/>
            <p14:sldId id="2074"/>
            <p14:sldId id="2073"/>
            <p14:sldId id="2076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FCD"/>
    <a:srgbClr val="9900FF"/>
    <a:srgbClr val="CC99FF"/>
    <a:srgbClr val="FFFF99"/>
    <a:srgbClr val="FF0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542" autoAdjust="0"/>
  </p:normalViewPr>
  <p:slideViewPr>
    <p:cSldViewPr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4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0476C6-A73D-4127-9355-983E64C22B03}" type="datetimeFigureOut">
              <a:rPr lang="zh-CN" altLang="en-US"/>
              <a:pPr/>
              <a:t>2026/5/9</a:t>
            </a:fld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499ECC-0CCF-4A71-814B-16DE56F04B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406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26FF10-905A-456B-8448-3C00A8879EA4}" type="datetimeFigureOut">
              <a:rPr lang="zh-CN" altLang="en-US"/>
              <a:pPr>
                <a:defRPr/>
              </a:pPr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D789C0-5935-446E-B1F4-42F088224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8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807FC17-1C9E-4F8C-88D9-D8DFD9B90ACA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3AAA4EE-6B8F-411D-B87F-93A159326F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541AF8D-B3D7-4FE9-8B08-D6E788EE449C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5DC97-F21A-4696-89E7-FF9AD1993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5"/>
          <p:cNvSpPr txBox="1"/>
          <p:nvPr userDrawn="1"/>
        </p:nvSpPr>
        <p:spPr>
          <a:xfrm>
            <a:off x="6839744" y="0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西安交通大学赵银亮</a:t>
            </a:r>
            <a:endParaRPr lang="en-US" altLang="zh-CN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  <a:p>
            <a:pPr algn="ctr"/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《</a:t>
            </a:r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形式语言与编译</a:t>
            </a:r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》</a:t>
            </a:r>
            <a:endParaRPr lang="zh-CN" altLang="en-US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89009D1-2B36-4D2C-9D4F-EEB90A38386D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AC66141-66F2-4D3B-9360-5D7AD8B02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981075"/>
            <a:ext cx="4208463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981075"/>
            <a:ext cx="42084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6D98F9-3672-4225-BC10-03EFCF7A32DE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F9C476-AC91-4B5F-851C-25042C2047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E6CB3B0-AC19-4BCA-AE85-B2397647BE23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6BCCD4-78BB-4A98-A30D-917DE64AA5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223DC6B-EEF4-4C7D-A9D8-DEDB8153002C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8EBE35-3097-4DFB-84D4-CDEEA36BEF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FC1E4C-9029-4E3A-8A14-797A659582D7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9A3ABF8-3BA0-4975-9C24-50B959923F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C3716A0-C629-44EC-8886-F1982DF0A0FB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5A54F0-219B-4885-8816-1DCB2C228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CED0AC1-BFD7-4B0A-869E-9AA162B4CDBF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40F4B0B-157D-4EFD-9B70-7D87B5033A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AB5A83-C808-49D2-85F8-16A88CCA0D37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4A5DBD-A33A-4C1C-A1AB-EAA24CE91D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32588" y="44450"/>
            <a:ext cx="2160587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4450"/>
            <a:ext cx="6329363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3D344CE-E26C-45A2-8907-1CC7A50A90AC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6A5130-3728-4351-9C9E-1B8D7B7D05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981075"/>
            <a:ext cx="8569325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B9EBCD-1500-4B34-B597-18BC8D59A588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5868082-8011-4B9E-A200-46897186A1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52736"/>
            <a:ext cx="9144000" cy="2232025"/>
          </a:xfrm>
        </p:spPr>
        <p:txBody>
          <a:bodyPr/>
          <a:lstStyle>
            <a:lvl1pPr>
              <a:defRPr sz="4000" b="0">
                <a:solidFill>
                  <a:srgbClr val="FF0000"/>
                </a:solidFill>
                <a:latin typeface="Garamond" pitchFamily="18" charset="0"/>
                <a:ea typeface="+mj-ea"/>
              </a:defRPr>
            </a:lvl1pPr>
          </a:lstStyle>
          <a:p>
            <a:r>
              <a:rPr lang="en-US" altLang="ko-KR" dirty="0"/>
              <a:t>Click to edit Master title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21088"/>
            <a:ext cx="8686800" cy="49244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COMPANY LOGO</a:t>
            </a:r>
          </a:p>
        </p:txBody>
      </p:sp>
      <p:pic>
        <p:nvPicPr>
          <p:cNvPr id="12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Cambria Math" panose="02040503050406030204" pitchFamily="18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234458"/>
          </a:xfrm>
        </p:spPr>
        <p:txBody>
          <a:bodyPr/>
          <a:lstStyle>
            <a:lvl1pPr marL="342900" indent="-342900"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1pPr>
            <a:lvl2pPr marL="742950" indent="-285750"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>
              <a:buClr>
                <a:schemeClr val="accent3">
                  <a:lumMod val="75000"/>
                </a:schemeClr>
              </a:buClr>
              <a:defRPr>
                <a:latin typeface="+mn-ea"/>
                <a:ea typeface="+mn-ea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249" y="6597352"/>
            <a:ext cx="516255" cy="209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23318" r="10626" b="24722"/>
          <a:stretch/>
        </p:blipFill>
        <p:spPr>
          <a:xfrm>
            <a:off x="8283332" y="44624"/>
            <a:ext cx="82517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208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7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749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713787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250825" y="981075"/>
            <a:ext cx="8642350" cy="461665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5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6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AF5FE"/>
            </a:gs>
            <a:gs pos="50000">
              <a:srgbClr val="FFFFFF"/>
            </a:gs>
            <a:gs pos="100000">
              <a:srgbClr val="DAF5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44450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1075"/>
            <a:ext cx="8569325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400">
                <a:solidFill>
                  <a:srgbClr val="99FFCC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547A495-6F0F-40D1-8022-D8CF4A5D3462}" type="datetime1">
              <a:rPr lang="zh-CN" altLang="en-US"/>
              <a:pPr>
                <a:defRPr/>
              </a:pPr>
              <a:t>2026/5/9</a:t>
            </a:fld>
            <a:endParaRPr lang="en-US" altLang="zh-CN"/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73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61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74C855A-3850-4EA8-9BE2-1AAA92189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6185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76200"/>
          </a:xfrm>
          <a:prstGeom prst="rect">
            <a:avLst/>
          </a:prstGeom>
          <a:gradFill rotWithShape="1">
            <a:gsLst>
              <a:gs pos="0">
                <a:srgbClr val="000068"/>
              </a:gs>
              <a:gs pos="100000">
                <a:srgbClr val="6600CC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zh-CN" altLang="en-US" sz="1800">
              <a:solidFill>
                <a:srgbClr val="000000"/>
              </a:solidFill>
              <a:latin typeface="Gulim" pitchFamily="34" charset="-127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000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5000"/>
        </a:spcBef>
        <a:spcAft>
          <a:spcPct val="5000"/>
        </a:spcAft>
        <a:buClr>
          <a:srgbClr val="FF9900"/>
        </a:buClr>
        <a:buFont typeface="Wingdings" pitchFamily="2" charset="2"/>
        <a:buBlip>
          <a:blip r:embed="rId17"/>
        </a:buBlip>
        <a:defRPr sz="2400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9" descr="图片1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452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79388" y="0"/>
            <a:ext cx="8713787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Click to edit Master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7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3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accent1"/>
          </a:solidFill>
          <a:latin typeface="Cambria Math" panose="020405030504060302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Cambria Math" panose="02040503050406030204" pitchFamily="18" charset="0"/>
        <a:buChar char="▻"/>
        <a:defRPr kumimoji="1" sz="2400" b="0">
          <a:solidFill>
            <a:schemeClr val="tx1"/>
          </a:solidFill>
          <a:latin typeface="Cambria Math" panose="02040503050406030204" pitchFamily="18" charset="0"/>
          <a:ea typeface="仿宋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Cambria Math" panose="02040503050406030204" pitchFamily="18" charset="0"/>
        <a:buChar char="⥼"/>
        <a:defRPr kumimoji="1" sz="2400" b="0">
          <a:solidFill>
            <a:srgbClr val="000000"/>
          </a:solidFill>
          <a:latin typeface="Cambria Math" panose="02040503050406030204" pitchFamily="18" charset="0"/>
          <a:ea typeface="仿宋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0">
          <a:solidFill>
            <a:srgbClr val="000000"/>
          </a:solidFill>
          <a:latin typeface="Garamond" pitchFamily="18" charset="0"/>
          <a:ea typeface="Garamond" pitchFamily="18" charset="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5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005263"/>
            <a:ext cx="8686800" cy="2160587"/>
          </a:xfrm>
        </p:spPr>
        <p:txBody>
          <a:bodyPr/>
          <a:lstStyle/>
          <a:p>
            <a:pPr eaLnBrk="1" hangingPunct="1"/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/>
            <a:r>
              <a:rPr lang="en-US" altLang="zh-CN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2026.05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编译器设计专题实验</a:t>
            </a:r>
            <a:r>
              <a:rPr lang="zh-CN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课</a:t>
            </a:r>
            <a:r>
              <a:rPr lang="en-US" altLang="zh-CN" dirty="0" smtClean="0">
                <a:latin typeface="Cambria" panose="02040503050406030204" pitchFamily="18" charset="0"/>
                <a:ea typeface="Cambria" panose="02040503050406030204" pitchFamily="18" charset="0"/>
              </a:rPr>
              <a:t>2026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277128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3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D8E9A59-3054-4D9E-BC6C-84BA4861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实验三回顾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805FC67-4958-4139-B240-1BD87C604CC5}"/>
              </a:ext>
            </a:extLst>
          </p:cNvPr>
          <p:cNvSpPr/>
          <p:nvPr/>
        </p:nvSpPr>
        <p:spPr>
          <a:xfrm>
            <a:off x="499641" y="2245361"/>
            <a:ext cx="8077200" cy="975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spcAft>
                <a:spcPts val="0"/>
              </a:spcAft>
            </a:pPr>
            <a:r>
              <a:rPr lang="zh-CN" altLang="en-US" dirty="0"/>
              <a:t>构建给定文法的</a:t>
            </a:r>
            <a:r>
              <a:rPr lang="en-US" altLang="zh-CN" dirty="0"/>
              <a:t>LR(0)</a:t>
            </a:r>
            <a:r>
              <a:rPr lang="zh-CN" altLang="en-US" dirty="0"/>
              <a:t>项目集规范族（</a:t>
            </a:r>
            <a:r>
              <a:rPr lang="en-US" altLang="zh-CN" dirty="0"/>
              <a:t>Canonical Collection of LR(0) Items</a:t>
            </a:r>
            <a:r>
              <a:rPr lang="zh-CN" altLang="en-US" dirty="0"/>
              <a:t>），为后续生成</a:t>
            </a:r>
            <a:r>
              <a:rPr lang="en-US" altLang="zh-CN" dirty="0"/>
              <a:t>SLR(1)</a:t>
            </a:r>
            <a:r>
              <a:rPr lang="zh-CN" altLang="en-US" dirty="0"/>
              <a:t>分析表提供基础。</a:t>
            </a:r>
            <a:endParaRPr lang="zh-CN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9AE2818-BCCD-4CDB-9C1A-D4991D10FA9E}"/>
              </a:ext>
            </a:extLst>
          </p:cNvPr>
          <p:cNvSpPr/>
          <p:nvPr/>
        </p:nvSpPr>
        <p:spPr>
          <a:xfrm>
            <a:off x="494305" y="3122482"/>
            <a:ext cx="87022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kern="100" dirty="0"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实验要求</a:t>
            </a:r>
            <a:endParaRPr lang="en-US" altLang="zh-CN" kern="10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1" dirty="0"/>
              <a:t>输入文法规则，支持扩展巴科斯范式（如 </a:t>
            </a:r>
            <a:r>
              <a:rPr lang="en-US" altLang="zh-CN" b="1" dirty="0"/>
              <a:t>E → E + T | T</a:t>
            </a:r>
            <a:r>
              <a:rPr lang="zh-CN" altLang="en-US" b="1" dirty="0"/>
              <a:t>）。</a:t>
            </a:r>
          </a:p>
          <a:p>
            <a:r>
              <a:rPr lang="zh-CN" altLang="en-US" b="1" dirty="0"/>
              <a:t>需要手动增广文法：添加新的起始产生式 </a:t>
            </a:r>
            <a:r>
              <a:rPr lang="en-US" altLang="zh-CN" b="1" dirty="0"/>
              <a:t>S' → S</a:t>
            </a:r>
            <a:r>
              <a:rPr lang="zh-CN" altLang="en-US" b="1" dirty="0"/>
              <a:t>（</a:t>
            </a:r>
            <a:r>
              <a:rPr lang="en-US" altLang="zh-CN" b="1" dirty="0"/>
              <a:t>S</a:t>
            </a:r>
            <a:r>
              <a:rPr lang="zh-CN" altLang="en-US" b="1" dirty="0"/>
              <a:t>为原文法起始符号）。</a:t>
            </a:r>
            <a:endParaRPr lang="en-US" altLang="zh-CN" b="1" dirty="0"/>
          </a:p>
          <a:p>
            <a:r>
              <a:rPr lang="zh-CN" altLang="en-US" b="1" dirty="0"/>
              <a:t>要求生成</a:t>
            </a:r>
            <a:r>
              <a:rPr lang="en-US" altLang="zh-CN" b="1" dirty="0"/>
              <a:t>LR(0)</a:t>
            </a:r>
            <a:r>
              <a:rPr lang="zh-CN" altLang="en-US" b="1" dirty="0"/>
              <a:t>项目集规范族：</a:t>
            </a:r>
            <a:r>
              <a:rPr lang="zh-CN" altLang="en-US" dirty="0"/>
              <a:t>计算每个状态的闭包（</a:t>
            </a:r>
            <a:r>
              <a:rPr lang="en-US" altLang="zh-CN" dirty="0"/>
              <a:t>Closure</a:t>
            </a:r>
            <a:r>
              <a:rPr lang="zh-CN" altLang="en-US" dirty="0"/>
              <a:t>）和状态转移（</a:t>
            </a:r>
            <a:r>
              <a:rPr lang="en-US" altLang="zh-CN" dirty="0" err="1"/>
              <a:t>Goto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输出所有项目</a:t>
            </a:r>
            <a:r>
              <a:rPr lang="zh-CN" altLang="en-US" dirty="0" smtClean="0"/>
              <a:t>集。</a:t>
            </a:r>
            <a:endParaRPr lang="en-US" altLang="zh-CN" dirty="0"/>
          </a:p>
          <a:p>
            <a:r>
              <a:rPr lang="zh-CN" altLang="en-US" dirty="0"/>
              <a:t>规范族的图形化表示（如状态编号和转移关系）。</a:t>
            </a:r>
          </a:p>
          <a:p>
            <a:r>
              <a:rPr lang="zh-CN" altLang="en-US" dirty="0"/>
              <a:t>需要考虑是否属于</a:t>
            </a:r>
            <a:r>
              <a:rPr lang="en-US" altLang="zh-CN" dirty="0"/>
              <a:t>LR(0)</a:t>
            </a:r>
            <a:r>
              <a:rPr lang="zh-CN" altLang="en-US" dirty="0"/>
              <a:t>文法（无移进</a:t>
            </a:r>
            <a:r>
              <a:rPr lang="en-US" altLang="zh-CN" dirty="0"/>
              <a:t>-</a:t>
            </a:r>
            <a:r>
              <a:rPr lang="zh-CN" altLang="en-US" dirty="0"/>
              <a:t>归约或归约</a:t>
            </a:r>
            <a:r>
              <a:rPr lang="en-US" altLang="zh-CN" dirty="0"/>
              <a:t>-</a:t>
            </a:r>
            <a:r>
              <a:rPr lang="zh-CN" altLang="en-US" dirty="0"/>
              <a:t>归约冲突）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1068E86-D828-4FF0-A3B1-51ED62C9C65B}"/>
              </a:ext>
            </a:extLst>
          </p:cNvPr>
          <p:cNvSpPr txBox="1"/>
          <p:nvPr/>
        </p:nvSpPr>
        <p:spPr bwMode="auto">
          <a:xfrm>
            <a:off x="651814" y="1382301"/>
            <a:ext cx="8166845" cy="83099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语法分析则以词法分析输出的单词序列为输入，依据语言的语法规则，构建出对应的语法树 。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40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658464"/>
            <a:ext cx="8277033" cy="523220"/>
          </a:xfrm>
        </p:spPr>
        <p:txBody>
          <a:bodyPr/>
          <a:lstStyle/>
          <a:p>
            <a:pPr lvl="0"/>
            <a:r>
              <a:rPr lang="zh-CN" altLang="en-US" sz="2800" dirty="0"/>
              <a:t>实验</a:t>
            </a:r>
            <a:r>
              <a:rPr lang="en-US" altLang="zh-CN" sz="2800" dirty="0"/>
              <a:t>3</a:t>
            </a:r>
            <a:endParaRPr lang="zh-CN" altLang="zh-CN" sz="2800" dirty="0"/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AEE09A8-E4DA-4D78-8A05-87B8B8FE3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897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一、</a:t>
            </a: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</a:rPr>
              <a:t>实验三回顾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BA96DB79-6D20-4004-A15E-57CC398EFAB6}"/>
              </a:ext>
            </a:extLst>
          </p:cNvPr>
          <p:cNvSpPr/>
          <p:nvPr/>
        </p:nvSpPr>
        <p:spPr>
          <a:xfrm>
            <a:off x="304800" y="1200244"/>
            <a:ext cx="86240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判断是否为</a:t>
            </a:r>
            <a:r>
              <a:rPr lang="en-US" altLang="zh-CN" dirty="0">
                <a:latin typeface="+mn-ea"/>
                <a:ea typeface="+mn-ea"/>
              </a:rPr>
              <a:t>LR(0)</a:t>
            </a:r>
            <a:r>
              <a:rPr lang="zh-CN" altLang="en-US" dirty="0">
                <a:latin typeface="+mn-ea"/>
                <a:ea typeface="+mn-ea"/>
              </a:rPr>
              <a:t>文法：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sz="1800" dirty="0">
                <a:latin typeface="+mn-ea"/>
                <a:ea typeface="+mn-ea"/>
              </a:rPr>
              <a:t>  每个状态中不能同时存在移进项目（点后是终结符，如 </a:t>
            </a:r>
            <a:r>
              <a:rPr lang="en-US" altLang="zh-CN" sz="1800" dirty="0">
                <a:latin typeface="+mn-ea"/>
                <a:ea typeface="+mn-ea"/>
              </a:rPr>
              <a:t>A→α·aβ</a:t>
            </a:r>
            <a:r>
              <a:rPr lang="zh-CN" altLang="en-US" sz="1800" dirty="0">
                <a:latin typeface="+mn-ea"/>
                <a:ea typeface="+mn-ea"/>
              </a:rPr>
              <a:t>）与归约项目（点在最右端，如</a:t>
            </a:r>
            <a:r>
              <a:rPr lang="en-US" altLang="zh-CN" sz="1800" dirty="0" err="1">
                <a:latin typeface="+mn-ea"/>
                <a:ea typeface="+mn-ea"/>
              </a:rPr>
              <a:t>B→γ</a:t>
            </a:r>
            <a:r>
              <a:rPr lang="en-US" altLang="zh-CN" sz="1800" dirty="0">
                <a:latin typeface="+mn-ea"/>
                <a:ea typeface="+mn-ea"/>
              </a:rPr>
              <a:t>·</a:t>
            </a:r>
            <a:r>
              <a:rPr lang="zh-CN" altLang="en-US" sz="1800" dirty="0">
                <a:latin typeface="+mn-ea"/>
                <a:ea typeface="+mn-ea"/>
              </a:rPr>
              <a:t>）的移进</a:t>
            </a:r>
            <a:r>
              <a:rPr lang="en-US" altLang="zh-CN" sz="1800" dirty="0">
                <a:latin typeface="+mn-ea"/>
                <a:ea typeface="+mn-ea"/>
              </a:rPr>
              <a:t>-</a:t>
            </a:r>
            <a:r>
              <a:rPr lang="zh-CN" altLang="en-US" sz="1800" dirty="0">
                <a:latin typeface="+mn-ea"/>
                <a:ea typeface="+mn-ea"/>
              </a:rPr>
              <a:t>归约冲突或者多个归约项目的归约</a:t>
            </a:r>
            <a:r>
              <a:rPr lang="en-US" altLang="zh-CN" sz="1800" dirty="0">
                <a:latin typeface="+mn-ea"/>
                <a:ea typeface="+mn-ea"/>
              </a:rPr>
              <a:t>-</a:t>
            </a:r>
            <a:r>
              <a:rPr lang="zh-CN" altLang="en-US" sz="1800" dirty="0">
                <a:latin typeface="+mn-ea"/>
                <a:ea typeface="+mn-ea"/>
              </a:rPr>
              <a:t>归约冲突。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3B8A409F-83F2-43D8-8FC4-2F7261A8F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87" y="2352525"/>
            <a:ext cx="2762636" cy="21529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97B64B7D-4B78-4786-991B-DE5D541A85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236406"/>
            <a:ext cx="4182059" cy="324847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="" xmlns:a16="http://schemas.microsoft.com/office/drawing/2014/main" id="{ECED5299-8372-4A5D-B325-E67A8F570333}"/>
              </a:ext>
            </a:extLst>
          </p:cNvPr>
          <p:cNvSpPr/>
          <p:nvPr/>
        </p:nvSpPr>
        <p:spPr>
          <a:xfrm>
            <a:off x="562429" y="5769092"/>
            <a:ext cx="8366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当遇到</a:t>
            </a:r>
            <a:r>
              <a:rPr lang="en-US" altLang="zh-CN" sz="1800" dirty="0"/>
              <a:t>c </a:t>
            </a:r>
            <a:r>
              <a:rPr lang="zh-CN" altLang="en-US" sz="1800" dirty="0"/>
              <a:t>时应将其移进分析栈，继续分析后续符号或者遇到</a:t>
            </a:r>
            <a:r>
              <a:rPr lang="en-US" altLang="zh-CN" sz="1800" dirty="0"/>
              <a:t>c </a:t>
            </a:r>
            <a:r>
              <a:rPr lang="zh-CN" altLang="en-US" sz="1800" dirty="0"/>
              <a:t>时应将规约，</a:t>
            </a:r>
          </a:p>
          <a:p>
            <a:r>
              <a:rPr lang="zh-CN" altLang="en-US" sz="1800" dirty="0"/>
              <a:t>当遇到</a:t>
            </a:r>
            <a:r>
              <a:rPr lang="en-US" altLang="zh-CN" sz="1800" dirty="0"/>
              <a:t>b </a:t>
            </a:r>
            <a:r>
              <a:rPr lang="zh-CN" altLang="en-US" sz="1800" dirty="0"/>
              <a:t>时应将其移进分析栈，规约为第一个产生式或者规约为第二个产生式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132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685800"/>
            <a:ext cx="8642350" cy="2234458"/>
          </a:xfrm>
        </p:spPr>
        <p:txBody>
          <a:bodyPr/>
          <a:lstStyle/>
          <a:p>
            <a:r>
              <a:rPr lang="zh-CN" altLang="en-US" dirty="0"/>
              <a:t>实现范例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en-US" altLang="zh-CN" sz="3600" b="0" dirty="0">
                <a:solidFill>
                  <a:schemeClr val="tx1"/>
                </a:solidFill>
                <a:latin typeface="+mn-ea"/>
                <a:ea typeface="+mn-ea"/>
              </a:rPr>
              <a:t>LR0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局限</a:t>
            </a:r>
            <a:r>
              <a:rPr lang="en-US" altLang="zh-CN" sz="3600" b="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不能解决</a:t>
            </a:r>
            <a:r>
              <a:rPr lang="zh-CN" altLang="en-US" sz="3600" b="0" dirty="0">
                <a:solidFill>
                  <a:schemeClr val="tx1"/>
                </a:solidFill>
                <a:latin typeface="宋体" panose="02010600030101010101" pitchFamily="2" charset="-122"/>
              </a:rPr>
              <a:t>冲突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E2664D98-63CE-4E2A-9157-354FA294B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23290"/>
            <a:ext cx="4583841" cy="54289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A887A17A-099E-4CE7-A652-2AF86232B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859" y="914400"/>
            <a:ext cx="2219325" cy="5867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CCFF453F-99B4-4441-9552-84B110770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170" y="747264"/>
            <a:ext cx="2697005" cy="59663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820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683D843-D290-4470-9CF1-B308D3DF1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776692"/>
            <a:ext cx="8642350" cy="461665"/>
          </a:xfrm>
        </p:spPr>
        <p:txBody>
          <a:bodyPr/>
          <a:lstStyle/>
          <a:p>
            <a:r>
              <a:rPr lang="zh-CN" altLang="en-US" dirty="0"/>
              <a:t>实现范例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34B1453-5FCD-4754-AF82-D2FBAF731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en-US" altLang="zh-CN" sz="3600" b="0" dirty="0">
                <a:solidFill>
                  <a:schemeClr val="tx1"/>
                </a:solidFill>
                <a:latin typeface="+mn-ea"/>
                <a:ea typeface="+mn-ea"/>
              </a:rPr>
              <a:t>LR0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局限</a:t>
            </a:r>
            <a:r>
              <a:rPr lang="en-US" altLang="zh-CN" sz="3600" b="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不能解决</a:t>
            </a:r>
            <a:r>
              <a:rPr lang="zh-CN" altLang="en-US" sz="3600" b="0" dirty="0">
                <a:solidFill>
                  <a:schemeClr val="tx1"/>
                </a:solidFill>
                <a:latin typeface="宋体" panose="02010600030101010101" pitchFamily="2" charset="-122"/>
              </a:rPr>
              <a:t>冲突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92BA08DD-24AC-47DB-9150-F6E4E33AD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69" y="1263458"/>
            <a:ext cx="2595355" cy="55072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091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347E180-E262-46D9-BB5A-DA1D2171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893647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实验四：</a:t>
            </a:r>
            <a:r>
              <a:rPr lang="en-US" altLang="zh-CN" b="1" dirty="0">
                <a:latin typeface="+mn-ea"/>
              </a:rPr>
              <a:t>SLR(1)</a:t>
            </a:r>
            <a:r>
              <a:rPr lang="zh-CN" altLang="en-US" b="1" dirty="0">
                <a:latin typeface="+mn-ea"/>
              </a:rPr>
              <a:t>分析表生成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输入：实验三的</a:t>
            </a:r>
            <a:r>
              <a:rPr lang="en-US" altLang="zh-CN" b="1" dirty="0">
                <a:latin typeface="+mn-ea"/>
              </a:rPr>
              <a:t>LR(0)</a:t>
            </a:r>
            <a:r>
              <a:rPr lang="zh-CN" altLang="en-US" b="1" dirty="0">
                <a:latin typeface="+mn-ea"/>
              </a:rPr>
              <a:t>规范族、文法符号的</a:t>
            </a:r>
            <a:r>
              <a:rPr lang="en-US" altLang="zh-CN" b="1" dirty="0">
                <a:latin typeface="+mn-ea"/>
              </a:rPr>
              <a:t>FOLLOW</a:t>
            </a:r>
            <a:r>
              <a:rPr lang="zh-CN" altLang="en-US" b="1" dirty="0">
                <a:latin typeface="+mn-ea"/>
              </a:rPr>
              <a:t>集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输出：</a:t>
            </a:r>
            <a:r>
              <a:rPr lang="en-US" altLang="zh-CN" b="1" dirty="0">
                <a:latin typeface="+mn-ea"/>
              </a:rPr>
              <a:t>SLR(1)</a:t>
            </a:r>
            <a:r>
              <a:rPr lang="zh-CN" altLang="en-US" b="1" dirty="0">
                <a:latin typeface="+mn-ea"/>
              </a:rPr>
              <a:t>分析表（</a:t>
            </a:r>
            <a:r>
              <a:rPr lang="en-US" altLang="zh-CN" b="1" dirty="0">
                <a:latin typeface="+mn-ea"/>
              </a:rPr>
              <a:t>ACTION/GOTO</a:t>
            </a:r>
            <a:r>
              <a:rPr lang="zh-CN" altLang="en-US" b="1" dirty="0">
                <a:latin typeface="+mn-ea"/>
              </a:rPr>
              <a:t>二维表）</a:t>
            </a:r>
            <a:endParaRPr lang="en-US" altLang="zh-CN" b="1" dirty="0">
              <a:latin typeface="+mn-ea"/>
            </a:endParaRPr>
          </a:p>
          <a:p>
            <a:pPr lvl="1"/>
            <a:r>
              <a:rPr lang="en-US" altLang="zh-CN" dirty="0"/>
              <a:t>SLR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）分析引入了 </a:t>
            </a:r>
            <a:r>
              <a:rPr lang="en-US" altLang="zh-CN" b="1" dirty="0"/>
              <a:t>FOLLOW </a:t>
            </a:r>
            <a:r>
              <a:rPr lang="zh-CN" altLang="en-US" b="1" dirty="0"/>
              <a:t>集</a:t>
            </a:r>
            <a:r>
              <a:rPr lang="zh-CN" altLang="en-US" dirty="0"/>
              <a:t> 来辅助解决部分冲突。在遇到移进 </a:t>
            </a:r>
            <a:r>
              <a:rPr lang="en-US" altLang="zh-CN" dirty="0"/>
              <a:t>- </a:t>
            </a:r>
            <a:r>
              <a:rPr lang="zh-CN" altLang="en-US" dirty="0"/>
              <a:t>归约或归约 </a:t>
            </a:r>
            <a:r>
              <a:rPr lang="en-US" altLang="zh-CN" dirty="0"/>
              <a:t>- </a:t>
            </a:r>
            <a:r>
              <a:rPr lang="zh-CN" altLang="en-US" dirty="0"/>
              <a:t>归约冲突时，通过检查归约项目左部非终结符的 </a:t>
            </a:r>
            <a:r>
              <a:rPr lang="en-US" altLang="zh-CN" dirty="0"/>
              <a:t>FOLLOW </a:t>
            </a:r>
            <a:r>
              <a:rPr lang="zh-CN" altLang="en-US" dirty="0"/>
              <a:t>集与当前输入符号的关系来确定操作。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478618B-7E07-4761-874F-515DFC95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SLR(1)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分析表生成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192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058" y="827018"/>
            <a:ext cx="8471742" cy="1557349"/>
          </a:xfrm>
        </p:spPr>
        <p:txBody>
          <a:bodyPr/>
          <a:lstStyle/>
          <a:p>
            <a:pPr lvl="0"/>
            <a:r>
              <a:rPr lang="zh-CN" altLang="en-US" sz="2800" dirty="0"/>
              <a:t>关于输出的解释</a:t>
            </a:r>
            <a:endParaRPr lang="en-US" altLang="zh-CN" sz="2800" dirty="0"/>
          </a:p>
          <a:p>
            <a:pPr lvl="1"/>
            <a:r>
              <a:rPr lang="zh-CN" altLang="en-US" sz="2800" dirty="0"/>
              <a:t>在项目集内区分产生式和闭包</a:t>
            </a:r>
            <a:endParaRPr lang="en-US" altLang="zh-CN" sz="2800" dirty="0"/>
          </a:p>
          <a:p>
            <a:r>
              <a:rPr lang="en-US" altLang="zh-CN" sz="2800" dirty="0"/>
              <a:t>Action</a:t>
            </a:r>
            <a:r>
              <a:rPr lang="zh-CN" altLang="en-US" sz="2800" dirty="0"/>
              <a:t>表</a:t>
            </a:r>
            <a:endParaRPr lang="en-US" altLang="zh-CN" sz="2800" dirty="0"/>
          </a:p>
        </p:txBody>
      </p:sp>
      <p:sp>
        <p:nvSpPr>
          <p:cNvPr id="10" name="标题 9">
            <a:extLst>
              <a:ext uri="{FF2B5EF4-FFF2-40B4-BE49-F238E27FC236}">
                <a16:creationId xmlns="" xmlns:a16="http://schemas.microsoft.com/office/drawing/2014/main" id="{71B45795-45CC-42A7-8CB3-B4FEF9F6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58" y="195704"/>
            <a:ext cx="8713787" cy="765175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7187043-3328-4100-8E0E-CC9E7D4F1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911" y="1864225"/>
            <a:ext cx="6448889" cy="48043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="" xmlns:a16="http://schemas.microsoft.com/office/drawing/2014/main" id="{26B9FD1B-96B5-47C1-AFCF-DFE158FFA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二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SLR(1)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分析表生成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977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1B6565F-9CFD-4A9D-ABE6-EE5A5616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96D75F3-04C1-4E9D-81E3-E1BC588A8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61665"/>
          </a:xfrm>
        </p:spPr>
        <p:txBody>
          <a:bodyPr/>
          <a:lstStyle/>
          <a:p>
            <a:r>
              <a:rPr lang="en-US" altLang="zh-CN" dirty="0" err="1"/>
              <a:t>Goto</a:t>
            </a:r>
            <a:r>
              <a:rPr lang="zh-CN" altLang="en-US" dirty="0"/>
              <a:t>表</a:t>
            </a:r>
          </a:p>
        </p:txBody>
      </p:sp>
      <p:sp>
        <p:nvSpPr>
          <p:cNvPr id="7" name="流程图: 接点 6">
            <a:extLst>
              <a:ext uri="{FF2B5EF4-FFF2-40B4-BE49-F238E27FC236}">
                <a16:creationId xmlns="" xmlns:a16="http://schemas.microsoft.com/office/drawing/2014/main" id="{D0BD9C7F-6AB4-4529-815E-6278ACEA733A}"/>
              </a:ext>
            </a:extLst>
          </p:cNvPr>
          <p:cNvSpPr/>
          <p:nvPr/>
        </p:nvSpPr>
        <p:spPr bwMode="auto">
          <a:xfrm>
            <a:off x="3048000" y="2057400"/>
            <a:ext cx="76200" cy="45719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B4E21814-BC80-4610-845E-73812A54A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211906"/>
            <a:ext cx="3991532" cy="46583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63B58AB-E619-4CD7-9BA9-7921EB674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SLR(1)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分析表生成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37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1B6565F-9CFD-4A9D-ABE6-EE5A5616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96D75F3-04C1-4E9D-81E3-E1BC588A8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61665"/>
          </a:xfrm>
        </p:spPr>
        <p:txBody>
          <a:bodyPr/>
          <a:lstStyle/>
          <a:p>
            <a:r>
              <a:rPr lang="zh-CN" altLang="en-US" dirty="0"/>
              <a:t>实验四的示例过程</a:t>
            </a:r>
          </a:p>
        </p:txBody>
      </p:sp>
      <p:sp>
        <p:nvSpPr>
          <p:cNvPr id="7" name="流程图: 接点 6">
            <a:extLst>
              <a:ext uri="{FF2B5EF4-FFF2-40B4-BE49-F238E27FC236}">
                <a16:creationId xmlns="" xmlns:a16="http://schemas.microsoft.com/office/drawing/2014/main" id="{D0BD9C7F-6AB4-4529-815E-6278ACEA733A}"/>
              </a:ext>
            </a:extLst>
          </p:cNvPr>
          <p:cNvSpPr/>
          <p:nvPr/>
        </p:nvSpPr>
        <p:spPr bwMode="auto">
          <a:xfrm>
            <a:off x="3048000" y="2057400"/>
            <a:ext cx="76200" cy="45719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85B1FDFF-5C11-449B-94AC-C94A23C4A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807889"/>
            <a:ext cx="5668166" cy="60873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6AEA6AD4-982C-4EC8-AAD2-D50210C97658}"/>
              </a:ext>
            </a:extLst>
          </p:cNvPr>
          <p:cNvSpPr txBox="1"/>
          <p:nvPr/>
        </p:nvSpPr>
        <p:spPr bwMode="auto">
          <a:xfrm>
            <a:off x="758456" y="1467548"/>
            <a:ext cx="1752600" cy="120032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以云实验作为本实验输出终端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36A6F99A-35E2-4295-9604-B92179F24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SLR(1)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分析表生成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003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BF696351-BA9B-4E41-BF43-4C33C39BF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90600"/>
            <a:ext cx="6666658" cy="2235200"/>
          </a:xfr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F339ED22-07AF-4ECB-B623-7298C81CD9BC}"/>
              </a:ext>
            </a:extLst>
          </p:cNvPr>
          <p:cNvSpPr txBox="1"/>
          <p:nvPr/>
        </p:nvSpPr>
        <p:spPr bwMode="auto">
          <a:xfrm>
            <a:off x="685800" y="3733800"/>
            <a:ext cx="7086600" cy="70788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ea"/>
                <a:ea typeface="+mn-ea"/>
              </a:rPr>
              <a:t>实验四的选做参考建议：使用</a:t>
            </a:r>
            <a:r>
              <a:rPr lang="en-US" altLang="zh-CN" sz="2000" dirty="0">
                <a:latin typeface="+mn-ea"/>
                <a:ea typeface="+mn-ea"/>
              </a:rPr>
              <a:t>flex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lex</a:t>
            </a:r>
            <a:r>
              <a:rPr lang="zh-CN" altLang="en-US" sz="2000" dirty="0">
                <a:latin typeface="+mn-ea"/>
                <a:ea typeface="+mn-ea"/>
              </a:rPr>
              <a:t>作为词法分析工具，使用</a:t>
            </a:r>
            <a:r>
              <a:rPr lang="en-US" altLang="zh-CN" sz="2000" dirty="0" err="1">
                <a:latin typeface="+mn-ea"/>
                <a:ea typeface="+mn-ea"/>
              </a:rPr>
              <a:t>yacc</a:t>
            </a:r>
            <a:r>
              <a:rPr lang="en-US" altLang="zh-CN" sz="2000" dirty="0">
                <a:latin typeface="+mn-ea"/>
                <a:ea typeface="+mn-ea"/>
              </a:rPr>
              <a:t>/bison </a:t>
            </a:r>
            <a:r>
              <a:rPr lang="zh-CN" altLang="en-US" sz="2000" dirty="0">
                <a:latin typeface="+mn-ea"/>
                <a:ea typeface="+mn-ea"/>
              </a:rPr>
              <a:t>作为语法分析工具，感受一下自动化工具。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SLR(1)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分析表生成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171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" name="内容占位符 11">
            <a:extLst>
              <a:ext uri="{FF2B5EF4-FFF2-40B4-BE49-F238E27FC236}">
                <a16:creationId xmlns="" xmlns:a16="http://schemas.microsoft.com/office/drawing/2014/main" id="{57EB1B71-AF0F-49E8-8695-B4410C84E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43" y="793289"/>
            <a:ext cx="8382000" cy="1981200"/>
          </a:xfrm>
        </p:spPr>
      </p:pic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E9C4ACE3-D7DA-452D-A24C-8FD6078F4CA8}"/>
              </a:ext>
            </a:extLst>
          </p:cNvPr>
          <p:cNvSpPr txBox="1"/>
          <p:nvPr/>
        </p:nvSpPr>
        <p:spPr bwMode="auto">
          <a:xfrm>
            <a:off x="460342" y="2623141"/>
            <a:ext cx="8229600" cy="83099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/>
              <a:t>由若干个「</a:t>
            </a:r>
            <a:r>
              <a:rPr lang="en-US" altLang="zh-CN" dirty="0">
                <a:latin typeface="+mn-ea"/>
                <a:ea typeface="+mn-ea"/>
              </a:rPr>
              <a:t>0 </a:t>
            </a:r>
            <a:r>
              <a:rPr lang="zh-CN" altLang="en-US" dirty="0">
                <a:latin typeface="+mn-ea"/>
                <a:ea typeface="+mn-ea"/>
              </a:rPr>
              <a:t>或 </a:t>
            </a:r>
            <a:r>
              <a:rPr lang="en-US" altLang="zh-CN" dirty="0">
                <a:latin typeface="+mn-ea"/>
                <a:ea typeface="+mn-ea"/>
              </a:rPr>
              <a:t>10</a:t>
            </a:r>
            <a:r>
              <a:rPr lang="zh-CN" altLang="en-US" dirty="0"/>
              <a:t>」作为前缀</a:t>
            </a:r>
            <a:r>
              <a:rPr lang="en-US" altLang="zh-CN" dirty="0"/>
              <a:t>1</a:t>
            </a:r>
            <a:r>
              <a:rPr lang="zh-CN" altLang="en-US" dirty="0"/>
              <a:t>（均可出现零次） ，后面再接任意个字符 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/>
              <a:t>（均可出现零次）组成的所有二进制串。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3BF1F13-68B2-4087-976D-718B25BA77A0}"/>
              </a:ext>
            </a:extLst>
          </p:cNvPr>
          <p:cNvSpPr txBox="1"/>
          <p:nvPr/>
        </p:nvSpPr>
        <p:spPr bwMode="auto">
          <a:xfrm>
            <a:off x="454843" y="3733800"/>
            <a:ext cx="8229600" cy="120032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以任意个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0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开头，且至少含有一个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，后续由若干个「单独 </a:t>
            </a:r>
            <a:r>
              <a:rPr lang="en-US" altLang="zh-CN" dirty="0">
                <a:latin typeface="+mn-ea"/>
                <a:ea typeface="+mn-ea"/>
              </a:rPr>
              <a:t>1 </a:t>
            </a:r>
            <a:r>
              <a:rPr lang="zh-CN" altLang="en-US" dirty="0">
                <a:latin typeface="+mn-ea"/>
                <a:ea typeface="+mn-ea"/>
              </a:rPr>
              <a:t>或 任意个 </a:t>
            </a:r>
            <a:r>
              <a:rPr lang="en-US" altLang="zh-CN" dirty="0">
                <a:latin typeface="+mn-ea"/>
                <a:ea typeface="+mn-ea"/>
              </a:rPr>
              <a:t>0 </a:t>
            </a:r>
            <a:r>
              <a:rPr lang="zh-CN" altLang="en-US" dirty="0">
                <a:latin typeface="+mn-ea"/>
                <a:ea typeface="+mn-ea"/>
              </a:rPr>
              <a:t>后接一个 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」拼接而成的所有二进制串。简化：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所有包含至少一个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的二进制串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2D332947-5DDE-4257-97AC-785DBF6D54F5}"/>
              </a:ext>
            </a:extLst>
          </p:cNvPr>
          <p:cNvSpPr txBox="1"/>
          <p:nvPr/>
        </p:nvSpPr>
        <p:spPr bwMode="auto">
          <a:xfrm>
            <a:off x="454843" y="5341186"/>
            <a:ext cx="8229600" cy="83099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前面由若干个「单个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0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或 一串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后接一个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」拼接而成，末尾必须至少有一个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的所有二进制串。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718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" name="内容占位符 11">
            <a:extLst>
              <a:ext uri="{FF2B5EF4-FFF2-40B4-BE49-F238E27FC236}">
                <a16:creationId xmlns="" xmlns:a16="http://schemas.microsoft.com/office/drawing/2014/main" id="{57EB1B71-AF0F-49E8-8695-B4410C84E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49" y="872939"/>
            <a:ext cx="8382000" cy="1981200"/>
          </a:xfr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3BF1F13-68B2-4087-976D-718B25BA77A0}"/>
              </a:ext>
            </a:extLst>
          </p:cNvPr>
          <p:cNvSpPr txBox="1"/>
          <p:nvPr/>
        </p:nvSpPr>
        <p:spPr bwMode="auto">
          <a:xfrm>
            <a:off x="495951" y="2782488"/>
            <a:ext cx="8229600" cy="378565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  <a:ea typeface="+mn-ea"/>
              </a:rPr>
              <a:t>请分析，如下字符串能否被第一个</a:t>
            </a:r>
            <a:r>
              <a:rPr lang="en-US" altLang="zh-CN" b="1" dirty="0">
                <a:latin typeface="+mn-ea"/>
                <a:ea typeface="+mn-ea"/>
              </a:rPr>
              <a:t>RE</a:t>
            </a:r>
            <a:r>
              <a:rPr lang="zh-CN" altLang="en-US" b="1" dirty="0">
                <a:latin typeface="+mn-ea"/>
                <a:ea typeface="+mn-ea"/>
              </a:rPr>
              <a:t>接受：</a:t>
            </a:r>
            <a:endParaRPr lang="en-US" altLang="zh-CN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+mn-ea"/>
                <a:ea typeface="+mn-ea"/>
              </a:rPr>
              <a:t>101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1001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10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1011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1101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1010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111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r>
              <a:rPr lang="en-US" altLang="zh-CN" b="1" dirty="0">
                <a:latin typeface="+mn-ea"/>
                <a:ea typeface="+mn-ea"/>
              </a:rPr>
              <a:t>0111</a:t>
            </a:r>
            <a:r>
              <a:rPr lang="zh-CN" altLang="en-US" b="1" dirty="0">
                <a:latin typeface="+mn-ea"/>
                <a:ea typeface="+mn-ea"/>
              </a:rPr>
              <a:t>，</a:t>
            </a:r>
            <a:endParaRPr lang="en-US" altLang="zh-CN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110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0110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1110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11110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10110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1101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01101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11101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111101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001100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11011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 011011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 111011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1111011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  <a:ea typeface="+mn-ea"/>
              </a:rPr>
              <a:t>那么</a:t>
            </a:r>
            <a:r>
              <a:rPr lang="en-US" altLang="zh-CN" b="1" dirty="0">
                <a:latin typeface="+mn-ea"/>
                <a:ea typeface="+mn-ea"/>
              </a:rPr>
              <a:t>RE1</a:t>
            </a:r>
            <a:r>
              <a:rPr lang="zh-CN" altLang="en-US" b="1" dirty="0">
                <a:latin typeface="+mn-ea"/>
                <a:ea typeface="+mn-ea"/>
              </a:rPr>
              <a:t>需要注明排斥什么内容呢？</a:t>
            </a:r>
            <a:endParaRPr lang="en-US" altLang="zh-CN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所有不含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110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的子串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121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" name="内容占位符 11">
            <a:extLst>
              <a:ext uri="{FF2B5EF4-FFF2-40B4-BE49-F238E27FC236}">
                <a16:creationId xmlns="" xmlns:a16="http://schemas.microsoft.com/office/drawing/2014/main" id="{57EB1B71-AF0F-49E8-8695-B4410C84E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8382000" cy="1981200"/>
          </a:xfr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3BF1F13-68B2-4087-976D-718B25BA77A0}"/>
              </a:ext>
            </a:extLst>
          </p:cNvPr>
          <p:cNvSpPr txBox="1"/>
          <p:nvPr/>
        </p:nvSpPr>
        <p:spPr bwMode="auto">
          <a:xfrm>
            <a:off x="315985" y="2610683"/>
            <a:ext cx="8229600" cy="392415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</a:rPr>
              <a:t>2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以任意个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0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开头，且至少含有一个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</a:t>
            </a:r>
            <a:r>
              <a:rPr lang="zh-CN" altLang="en-US" sz="2000" dirty="0">
                <a:latin typeface="+mn-ea"/>
                <a:ea typeface="+mn-ea"/>
              </a:rPr>
              <a:t>，后续由若干个「单独 </a:t>
            </a:r>
            <a:r>
              <a:rPr lang="en-US" altLang="zh-CN" sz="2000" dirty="0">
                <a:latin typeface="+mn-ea"/>
                <a:ea typeface="+mn-ea"/>
              </a:rPr>
              <a:t>1 </a:t>
            </a:r>
            <a:r>
              <a:rPr lang="zh-CN" altLang="en-US" sz="2000" dirty="0">
                <a:latin typeface="+mn-ea"/>
                <a:ea typeface="+mn-ea"/>
              </a:rPr>
              <a:t>或 任意个 </a:t>
            </a:r>
            <a:r>
              <a:rPr lang="en-US" altLang="zh-CN" sz="2000" dirty="0">
                <a:latin typeface="+mn-ea"/>
                <a:ea typeface="+mn-ea"/>
              </a:rPr>
              <a:t>0 </a:t>
            </a:r>
            <a:r>
              <a:rPr lang="zh-CN" altLang="en-US" sz="2000" dirty="0">
                <a:latin typeface="+mn-ea"/>
                <a:ea typeface="+mn-ea"/>
              </a:rPr>
              <a:t>后接一个 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en-US" sz="2000" dirty="0">
                <a:latin typeface="+mn-ea"/>
                <a:ea typeface="+mn-ea"/>
              </a:rPr>
              <a:t>」拼接而成的所有二进制串。简化：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所有包含至少一个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的二进制串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800" b="1" dirty="0">
                <a:latin typeface="+mn-ea"/>
                <a:ea typeface="+mn-ea"/>
              </a:rPr>
              <a:t>如下字符串能否被第二个</a:t>
            </a:r>
            <a:r>
              <a:rPr lang="en-US" altLang="zh-CN" sz="1800" b="1" dirty="0">
                <a:latin typeface="+mn-ea"/>
                <a:ea typeface="+mn-ea"/>
              </a:rPr>
              <a:t>RE</a:t>
            </a:r>
            <a:r>
              <a:rPr lang="zh-CN" altLang="en-US" sz="1800" b="1" dirty="0">
                <a:latin typeface="+mn-ea"/>
                <a:ea typeface="+mn-ea"/>
              </a:rPr>
              <a:t>接受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latin typeface="+mn-ea"/>
                <a:ea typeface="+mn-ea"/>
              </a:rPr>
              <a:t>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001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0101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011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101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111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0111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 001101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1001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endParaRPr lang="en-US" altLang="zh-CN" sz="18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latin typeface="+mn-ea"/>
                <a:ea typeface="+mn-ea"/>
              </a:rPr>
              <a:t>101101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endParaRPr lang="en-US" altLang="zh-CN" sz="18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110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1110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1010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01010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endParaRPr lang="en-US" altLang="zh-CN" sz="1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100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1000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ea typeface="+mn-ea"/>
              </a:rPr>
              <a:t>1100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endParaRPr lang="en-US" altLang="zh-CN" sz="1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800" b="0" i="0" dirty="0">
                <a:solidFill>
                  <a:srgbClr val="61666B"/>
                </a:solidFill>
                <a:effectLst/>
                <a:latin typeface="quote-cjk-patch"/>
              </a:rPr>
              <a:t>所有由</a:t>
            </a:r>
            <a:r>
              <a:rPr lang="en-US" altLang="zh-CN" sz="1800" b="0" i="0" dirty="0">
                <a:solidFill>
                  <a:srgbClr val="61666B"/>
                </a:solidFill>
                <a:effectLst/>
                <a:latin typeface="quote-cjk-patch"/>
              </a:rPr>
              <a:t>0</a:t>
            </a:r>
            <a:r>
              <a:rPr lang="zh-CN" altLang="en-US" sz="1800" b="0" i="0" dirty="0">
                <a:solidFill>
                  <a:srgbClr val="61666B"/>
                </a:solidFill>
                <a:effectLst/>
                <a:latin typeface="quote-cjk-patch"/>
              </a:rPr>
              <a:t>和</a:t>
            </a:r>
            <a:r>
              <a:rPr lang="en-US" altLang="zh-CN" sz="1800" b="0" i="0" dirty="0">
                <a:solidFill>
                  <a:srgbClr val="61666B"/>
                </a:solidFill>
                <a:effectLst/>
                <a:latin typeface="quote-cjk-patch"/>
              </a:rPr>
              <a:t>1</a:t>
            </a:r>
            <a:r>
              <a:rPr lang="zh-CN" altLang="en-US" sz="1800" b="0" i="0" dirty="0">
                <a:solidFill>
                  <a:srgbClr val="61666B"/>
                </a:solidFill>
                <a:effectLst/>
                <a:latin typeface="quote-cjk-patch"/>
              </a:rPr>
              <a:t>组成的以</a:t>
            </a:r>
            <a:r>
              <a:rPr lang="en-US" altLang="zh-CN" sz="1800" b="0" i="0" dirty="0">
                <a:solidFill>
                  <a:srgbClr val="61666B"/>
                </a:solidFill>
                <a:effectLst/>
                <a:latin typeface="quote-cjk-patch"/>
              </a:rPr>
              <a:t>1</a:t>
            </a:r>
            <a:r>
              <a:rPr lang="zh-CN" altLang="en-US" sz="1800" b="0" i="0" dirty="0">
                <a:solidFill>
                  <a:srgbClr val="61666B"/>
                </a:solidFill>
                <a:effectLst/>
                <a:latin typeface="quote-cjk-patch"/>
              </a:rPr>
              <a:t>结尾的字符串（即最后一个字符是</a:t>
            </a:r>
            <a:r>
              <a:rPr lang="en-US" altLang="zh-CN" sz="1800" b="0" i="0" dirty="0">
                <a:solidFill>
                  <a:srgbClr val="61666B"/>
                </a:solidFill>
                <a:effectLst/>
                <a:latin typeface="quote-cjk-patch"/>
              </a:rPr>
              <a:t>1</a:t>
            </a:r>
            <a:r>
              <a:rPr lang="zh-CN" altLang="en-US" sz="1800" b="0" i="0" dirty="0">
                <a:solidFill>
                  <a:srgbClr val="61666B"/>
                </a:solidFill>
                <a:effectLst/>
                <a:latin typeface="quote-cjk-patch"/>
              </a:rPr>
              <a:t>）</a:t>
            </a:r>
            <a:endParaRPr lang="en-US" altLang="zh-CN" sz="1800" b="0" i="0" dirty="0">
              <a:solidFill>
                <a:srgbClr val="61666B"/>
              </a:solidFill>
              <a:effectLst/>
              <a:latin typeface="quote-cjk-patch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latin typeface="+mn-ea"/>
                <a:ea typeface="+mn-ea"/>
              </a:rPr>
              <a:t>RE2</a:t>
            </a:r>
            <a:r>
              <a:rPr lang="zh-CN" altLang="en-US" sz="1800" b="1" dirty="0">
                <a:latin typeface="+mn-ea"/>
                <a:ea typeface="+mn-ea"/>
              </a:rPr>
              <a:t>排斥内容：以一个或多个</a:t>
            </a:r>
            <a:r>
              <a:rPr lang="en-US" altLang="zh-CN" sz="1800" b="1" dirty="0">
                <a:latin typeface="+mn-ea"/>
                <a:ea typeface="+mn-ea"/>
              </a:rPr>
              <a:t>0</a:t>
            </a:r>
            <a:r>
              <a:rPr lang="zh-CN" altLang="en-US" sz="1800" b="1" dirty="0">
                <a:latin typeface="+mn-ea"/>
                <a:ea typeface="+mn-ea"/>
              </a:rPr>
              <a:t>结尾的字符串。</a:t>
            </a:r>
            <a:endParaRPr lang="en-US" altLang="zh-CN" sz="1800" b="1" dirty="0"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4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" name="内容占位符 11">
            <a:extLst>
              <a:ext uri="{FF2B5EF4-FFF2-40B4-BE49-F238E27FC236}">
                <a16:creationId xmlns="" xmlns:a16="http://schemas.microsoft.com/office/drawing/2014/main" id="{57EB1B71-AF0F-49E8-8695-B4410C84E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8382000" cy="1981200"/>
          </a:xfrm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3BF1F13-68B2-4087-976D-718B25BA77A0}"/>
              </a:ext>
            </a:extLst>
          </p:cNvPr>
          <p:cNvSpPr txBox="1"/>
          <p:nvPr/>
        </p:nvSpPr>
        <p:spPr bwMode="auto">
          <a:xfrm>
            <a:off x="304800" y="2715904"/>
            <a:ext cx="8229600" cy="30162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+mn-ea"/>
                <a:ea typeface="+mn-ea"/>
              </a:rPr>
              <a:t>3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前面由若干个「单个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0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或 一串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后接一个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」拼接而成，末尾必须至少有一个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+mn-ea"/>
                <a:ea typeface="+mn-ea"/>
              </a:rPr>
              <a:t>的所有二进制串。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  <a:endParaRPr lang="zh-CN" altLang="en-US" sz="20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+mn-ea"/>
                <a:ea typeface="+mn-ea"/>
              </a:rPr>
              <a:t>如下字符串能否被第三个</a:t>
            </a:r>
            <a:r>
              <a:rPr lang="en-US" altLang="zh-CN" sz="2000" b="1" dirty="0">
                <a:latin typeface="+mn-ea"/>
                <a:ea typeface="+mn-ea"/>
              </a:rPr>
              <a:t>RE</a:t>
            </a:r>
            <a:r>
              <a:rPr lang="zh-CN" altLang="en-US" sz="2000" b="1" dirty="0">
                <a:latin typeface="+mn-ea"/>
                <a:ea typeface="+mn-ea"/>
              </a:rPr>
              <a:t>接受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11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101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1101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endParaRPr lang="en-US" altLang="zh-CN" sz="20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1110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1010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100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1000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1100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000" b="0" i="0" dirty="0">
                <a:solidFill>
                  <a:srgbClr val="61666B"/>
                </a:solidFill>
                <a:effectLst/>
                <a:latin typeface="quote-cjk-patch"/>
              </a:rPr>
              <a:t>所有由</a:t>
            </a:r>
            <a:r>
              <a:rPr lang="en-US" altLang="zh-CN" sz="2000" b="0" i="0" dirty="0">
                <a:solidFill>
                  <a:srgbClr val="61666B"/>
                </a:solidFill>
                <a:effectLst/>
                <a:latin typeface="quote-cjk-patch"/>
              </a:rPr>
              <a:t>0</a:t>
            </a:r>
            <a:r>
              <a:rPr lang="zh-CN" altLang="en-US" sz="2000" b="0" i="0" dirty="0">
                <a:solidFill>
                  <a:srgbClr val="61666B"/>
                </a:solidFill>
                <a:effectLst/>
                <a:latin typeface="quote-cjk-patch"/>
              </a:rPr>
              <a:t>和</a:t>
            </a:r>
            <a:r>
              <a:rPr lang="en-US" altLang="zh-CN" sz="2000" b="0" i="0" dirty="0">
                <a:solidFill>
                  <a:srgbClr val="61666B"/>
                </a:solidFill>
                <a:effectLst/>
                <a:latin typeface="quote-cjk-patch"/>
              </a:rPr>
              <a:t>1</a:t>
            </a:r>
            <a:r>
              <a:rPr lang="zh-CN" altLang="en-US" sz="2000" b="0" i="0" dirty="0">
                <a:solidFill>
                  <a:srgbClr val="61666B"/>
                </a:solidFill>
                <a:effectLst/>
                <a:latin typeface="quote-cjk-patch"/>
              </a:rPr>
              <a:t>组成的以</a:t>
            </a:r>
            <a:r>
              <a:rPr lang="en-US" altLang="zh-CN" sz="2000" b="0" i="0" dirty="0">
                <a:solidFill>
                  <a:srgbClr val="61666B"/>
                </a:solidFill>
                <a:effectLst/>
                <a:latin typeface="quote-cjk-patch"/>
              </a:rPr>
              <a:t>1</a:t>
            </a:r>
            <a:r>
              <a:rPr lang="zh-CN" altLang="en-US" sz="2000" b="0" i="0" dirty="0">
                <a:solidFill>
                  <a:srgbClr val="61666B"/>
                </a:solidFill>
                <a:effectLst/>
                <a:latin typeface="quote-cjk-patch"/>
              </a:rPr>
              <a:t>结尾的字符串（即最后一个字符是</a:t>
            </a:r>
            <a:r>
              <a:rPr lang="en-US" altLang="zh-CN" sz="2000" b="0" i="0" dirty="0">
                <a:solidFill>
                  <a:srgbClr val="61666B"/>
                </a:solidFill>
                <a:effectLst/>
                <a:latin typeface="quote-cjk-patch"/>
              </a:rPr>
              <a:t>1</a:t>
            </a:r>
            <a:r>
              <a:rPr lang="zh-CN" altLang="en-US" sz="2000" b="0" i="0" dirty="0">
                <a:solidFill>
                  <a:srgbClr val="61666B"/>
                </a:solidFill>
                <a:effectLst/>
                <a:latin typeface="quote-cjk-patch"/>
              </a:rPr>
              <a:t>）</a:t>
            </a:r>
            <a:endParaRPr lang="en-US" altLang="zh-CN" sz="2000" b="0" i="0" dirty="0">
              <a:solidFill>
                <a:srgbClr val="61666B"/>
              </a:solidFill>
              <a:effectLst/>
              <a:latin typeface="quote-cjk-patch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+mn-ea"/>
                <a:ea typeface="+mn-ea"/>
              </a:rPr>
              <a:t>RE2</a:t>
            </a:r>
            <a:r>
              <a:rPr lang="zh-CN" altLang="en-US" sz="2000" b="1" dirty="0">
                <a:latin typeface="+mn-ea"/>
                <a:ea typeface="+mn-ea"/>
              </a:rPr>
              <a:t>和</a:t>
            </a:r>
            <a:r>
              <a:rPr lang="en-US" altLang="zh-CN" sz="2000" b="1" dirty="0">
                <a:latin typeface="+mn-ea"/>
                <a:ea typeface="+mn-ea"/>
              </a:rPr>
              <a:t>RE3 </a:t>
            </a:r>
            <a:r>
              <a:rPr lang="zh-CN" altLang="en-US" sz="2000" b="1" dirty="0">
                <a:latin typeface="+mn-ea"/>
                <a:ea typeface="+mn-ea"/>
              </a:rPr>
              <a:t>有没有区别？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4D4B939-CA0D-431B-879B-8620EE5E78FC}"/>
              </a:ext>
            </a:extLst>
          </p:cNvPr>
          <p:cNvSpPr txBox="1"/>
          <p:nvPr/>
        </p:nvSpPr>
        <p:spPr bwMode="auto">
          <a:xfrm>
            <a:off x="304800" y="5943600"/>
            <a:ext cx="3581400" cy="4572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二者等价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793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9159E623-A3AE-4A31-A60F-E3C8FFFA8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" y="846081"/>
            <a:ext cx="9134523" cy="3139993"/>
          </a:xfr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38BAB5EB-CB71-46F2-A562-5C1444A1F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4267200"/>
            <a:ext cx="5400722" cy="239174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EAF541CD-9616-46EC-A4E3-7F839BCAF092}"/>
              </a:ext>
            </a:extLst>
          </p:cNvPr>
          <p:cNvSpPr/>
          <p:nvPr/>
        </p:nvSpPr>
        <p:spPr bwMode="auto">
          <a:xfrm>
            <a:off x="685800" y="1981200"/>
            <a:ext cx="5943600" cy="200487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9150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C1C84140-928C-4702-99A3-1B696D44B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890047"/>
            <a:ext cx="5174529" cy="2235200"/>
          </a:xfrm>
        </p:spPr>
      </p:pic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C2CB7794-0A08-4487-80C7-221040B36127}"/>
              </a:ext>
            </a:extLst>
          </p:cNvPr>
          <p:cNvSpPr txBox="1"/>
          <p:nvPr/>
        </p:nvSpPr>
        <p:spPr bwMode="auto">
          <a:xfrm>
            <a:off x="457200" y="3048000"/>
            <a:ext cx="32766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+mn-ea"/>
                <a:ea typeface="+mn-ea"/>
              </a:rPr>
              <a:t>删除第一个中间状态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15A45E4A-4A0B-4B2C-A699-DE8D60E81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378" y="3599763"/>
            <a:ext cx="5828571" cy="23619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856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7" name="内容占位符 6">
            <a:extLst>
              <a:ext uri="{FF2B5EF4-FFF2-40B4-BE49-F238E27FC236}">
                <a16:creationId xmlns="" xmlns:a16="http://schemas.microsoft.com/office/drawing/2014/main" id="{F6BF084A-4C72-4ABD-B404-59F26FA9B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00" y="3733800"/>
            <a:ext cx="6951000" cy="2675082"/>
          </a:xfr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A53F65CC-5A8B-482C-AB55-43E81819F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762295"/>
            <a:ext cx="5828571" cy="23619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233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7" name="内容占位符 6">
            <a:extLst>
              <a:ext uri="{FF2B5EF4-FFF2-40B4-BE49-F238E27FC236}">
                <a16:creationId xmlns="" xmlns:a16="http://schemas.microsoft.com/office/drawing/2014/main" id="{F6BF084A-4C72-4ABD-B404-59F26FA9B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6951000" cy="2675082"/>
          </a:xfrm>
        </p:spPr>
      </p:pic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2E024675-E547-4743-B361-CE0F414CF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343400"/>
            <a:ext cx="7620000" cy="21664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575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C244F4C2-902F-406A-9390-7F7988FF0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3" y="685800"/>
            <a:ext cx="9100457" cy="16764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AA23B988-B09D-4C13-81D8-9137D73EF1A9}"/>
              </a:ext>
            </a:extLst>
          </p:cNvPr>
          <p:cNvSpPr/>
          <p:nvPr/>
        </p:nvSpPr>
        <p:spPr bwMode="auto">
          <a:xfrm>
            <a:off x="228600" y="1676400"/>
            <a:ext cx="8763000" cy="6858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95CFF21A-DAFB-452E-A601-5E1267D0D1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56720"/>
            <a:ext cx="6929976" cy="134417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29BC2071-DF97-46C0-9D69-CEAF95E3E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818966"/>
            <a:ext cx="6390400" cy="156499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3580D2A6-DA48-4A84-B1FD-0C47A6A196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578559"/>
            <a:ext cx="5784838" cy="11872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247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8147B0CF-A53C-439E-AD8E-89AE7CBC5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00" y="755778"/>
            <a:ext cx="6600000" cy="20571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85776D76-7FA5-4CA9-8C0A-0E418F455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7" y="2667000"/>
            <a:ext cx="6914286" cy="2885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C6E745EC-8840-48B0-9724-15BC4F7884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689746"/>
            <a:ext cx="5114200" cy="11336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056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482667D7-673D-4381-9CFC-47DFEF8D1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33" y="762001"/>
            <a:ext cx="6504267" cy="30435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767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A5983DC9-E0D2-48C5-8448-1A223081D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28" y="762000"/>
            <a:ext cx="8257143" cy="44857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BB09BF4D-4BF3-47AD-90A8-E9A568723584}"/>
              </a:ext>
            </a:extLst>
          </p:cNvPr>
          <p:cNvSpPr txBox="1"/>
          <p:nvPr/>
        </p:nvSpPr>
        <p:spPr bwMode="auto">
          <a:xfrm>
            <a:off x="443428" y="5247714"/>
            <a:ext cx="8014772" cy="83099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第一步：</a:t>
            </a:r>
            <a:r>
              <a:rPr lang="zh-CN" altLang="en-US" b="0" i="0" dirty="0">
                <a:effectLst/>
                <a:latin typeface="+mn-ea"/>
                <a:ea typeface="+mn-ea"/>
              </a:rPr>
              <a:t>画</a:t>
            </a:r>
            <a:r>
              <a:rPr lang="zh-CN" altLang="en-US" b="1" i="0" dirty="0">
                <a:effectLst/>
                <a:latin typeface="+mn-ea"/>
                <a:ea typeface="+mn-ea"/>
              </a:rPr>
              <a:t>可区分性表</a:t>
            </a:r>
            <a:r>
              <a:rPr lang="zh-CN" altLang="en-US" b="0" i="0" dirty="0">
                <a:effectLst/>
                <a:latin typeface="+mn-ea"/>
                <a:ea typeface="+mn-ea"/>
              </a:rPr>
              <a:t>时，仍先对所有状态对进行计算，最后再去除不可达状态</a:t>
            </a:r>
            <a:endParaRPr lang="zh-CN" altLang="en-US" dirty="0"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751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3600723C-48CB-4ED7-8927-98BDD3107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810" y="2578715"/>
            <a:ext cx="4000613" cy="320561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D9BA2F02-0337-4C56-8CBF-6997D28D421D}"/>
              </a:ext>
            </a:extLst>
          </p:cNvPr>
          <p:cNvSpPr txBox="1"/>
          <p:nvPr/>
        </p:nvSpPr>
        <p:spPr bwMode="auto">
          <a:xfrm>
            <a:off x="225064" y="783293"/>
            <a:ext cx="8766536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effectLst/>
                <a:latin typeface="+mn-ea"/>
                <a:ea typeface="+mn-ea"/>
              </a:rPr>
              <a:t>1</a:t>
            </a:r>
            <a:r>
              <a:rPr lang="zh-CN" altLang="en-US" sz="2000" b="0" i="0" dirty="0">
                <a:effectLst/>
                <a:latin typeface="+mn-ea"/>
                <a:ea typeface="+mn-ea"/>
              </a:rPr>
              <a:t>、</a:t>
            </a:r>
            <a:r>
              <a:rPr lang="en-US" altLang="zh-CN" sz="2000" b="0" i="0" dirty="0">
                <a:effectLst/>
                <a:latin typeface="+mn-ea"/>
                <a:ea typeface="+mn-ea"/>
              </a:rPr>
              <a:t>8</a:t>
            </a:r>
            <a:r>
              <a:rPr lang="zh-CN" altLang="en-US" sz="2000" b="0" i="0" dirty="0">
                <a:effectLst/>
                <a:latin typeface="+mn-ea"/>
                <a:ea typeface="+mn-ea"/>
              </a:rPr>
              <a:t>个状态共有 </a:t>
            </a:r>
            <a:r>
              <a:rPr lang="en-US" altLang="zh-CN" sz="2000" b="0" i="0" dirty="0">
                <a:effectLst/>
                <a:latin typeface="+mn-ea"/>
                <a:ea typeface="+mn-ea"/>
              </a:rPr>
              <a:t>28</a:t>
            </a:r>
            <a:r>
              <a:rPr lang="zh-CN" altLang="en-US" sz="2000" b="0" i="0" dirty="0">
                <a:effectLst/>
                <a:latin typeface="+mn-ea"/>
                <a:ea typeface="+mn-ea"/>
              </a:rPr>
              <a:t> 个无序对。下三角表中，</a:t>
            </a:r>
            <a:r>
              <a:rPr lang="zh-CN" altLang="en-US" sz="2000" b="1" i="0" dirty="0">
                <a:effectLst/>
                <a:latin typeface="+mn-ea"/>
                <a:ea typeface="+mn-ea"/>
              </a:rPr>
              <a:t>行标 </a:t>
            </a:r>
            <a:r>
              <a:rPr lang="en-US" altLang="zh-CN" sz="2000" b="1" i="0" dirty="0">
                <a:effectLst/>
                <a:latin typeface="+mn-ea"/>
                <a:ea typeface="+mn-ea"/>
              </a:rPr>
              <a:t>&gt; </a:t>
            </a:r>
            <a:r>
              <a:rPr lang="zh-CN" altLang="en-US" sz="2000" b="1" i="0" dirty="0">
                <a:effectLst/>
                <a:latin typeface="+mn-ea"/>
                <a:ea typeface="+mn-ea"/>
              </a:rPr>
              <a:t>列标</a:t>
            </a:r>
            <a:r>
              <a:rPr lang="zh-CN" altLang="en-US" sz="2000" b="0" i="0" dirty="0">
                <a:effectLst/>
                <a:latin typeface="+mn-ea"/>
                <a:ea typeface="+mn-ea"/>
              </a:rPr>
              <a:t>（只填左下角）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25247FC2-8DC0-457C-B855-E01CDE3C913B}"/>
              </a:ext>
            </a:extLst>
          </p:cNvPr>
          <p:cNvSpPr txBox="1"/>
          <p:nvPr/>
        </p:nvSpPr>
        <p:spPr bwMode="auto">
          <a:xfrm>
            <a:off x="225064" y="1320365"/>
            <a:ext cx="8766536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2</a:t>
            </a:r>
            <a:r>
              <a:rPr lang="zh-CN" altLang="en-US" sz="2000" dirty="0">
                <a:latin typeface="+mn-ea"/>
                <a:ea typeface="+mn-ea"/>
              </a:rPr>
              <a:t>、若一对状态中一个是接受状态、另一个不是，直接标记为 </a:t>
            </a:r>
            <a:r>
              <a:rPr lang="en-US" altLang="zh-CN" sz="2000" dirty="0">
                <a:latin typeface="+mn-ea"/>
                <a:ea typeface="+mn-ea"/>
              </a:rPr>
              <a:t>×</a:t>
            </a:r>
            <a:r>
              <a:rPr lang="zh-CN" altLang="en-US" sz="2000" dirty="0">
                <a:latin typeface="+mn-ea"/>
                <a:ea typeface="+mn-ea"/>
              </a:rPr>
              <a:t>（可区分）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42628959-52F9-4E57-A169-D02B810F46F8}"/>
              </a:ext>
            </a:extLst>
          </p:cNvPr>
          <p:cNvSpPr txBox="1"/>
          <p:nvPr/>
        </p:nvSpPr>
        <p:spPr bwMode="auto">
          <a:xfrm>
            <a:off x="225064" y="1826916"/>
            <a:ext cx="83820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3</a:t>
            </a:r>
            <a:r>
              <a:rPr lang="zh-CN" altLang="en-US" sz="2000" dirty="0">
                <a:latin typeface="+mn-ea"/>
                <a:ea typeface="+mn-ea"/>
              </a:rPr>
              <a:t>、对每一个还没标记的对 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p,q</a:t>
            </a:r>
            <a:r>
              <a:rPr lang="en-US" altLang="zh-CN" sz="2000" dirty="0">
                <a:latin typeface="+mn-ea"/>
                <a:ea typeface="+mn-ea"/>
              </a:rPr>
              <a:t>) </a:t>
            </a:r>
            <a:r>
              <a:rPr lang="zh-CN" altLang="en-US" sz="2000" dirty="0">
                <a:latin typeface="+mn-ea"/>
                <a:ea typeface="+mn-ea"/>
              </a:rPr>
              <a:t>，检查输入 </a:t>
            </a:r>
            <a:r>
              <a:rPr lang="en-US" altLang="zh-CN" sz="2000" dirty="0">
                <a:latin typeface="+mn-ea"/>
                <a:ea typeface="+mn-ea"/>
              </a:rPr>
              <a:t>0  </a:t>
            </a:r>
            <a:r>
              <a:rPr lang="zh-CN" altLang="en-US" sz="2000" dirty="0">
                <a:latin typeface="+mn-ea"/>
                <a:ea typeface="+mn-ea"/>
              </a:rPr>
              <a:t>和 </a:t>
            </a:r>
            <a:r>
              <a:rPr lang="en-US" altLang="zh-CN" sz="2000" dirty="0">
                <a:latin typeface="+mn-ea"/>
                <a:ea typeface="+mn-ea"/>
              </a:rPr>
              <a:t>1  </a:t>
            </a:r>
            <a:r>
              <a:rPr lang="zh-CN" altLang="en-US" sz="2000" dirty="0">
                <a:latin typeface="+mn-ea"/>
                <a:ea typeface="+mn-ea"/>
              </a:rPr>
              <a:t>后的转移对。若任一转移对已经是 </a:t>
            </a:r>
            <a:r>
              <a:rPr lang="en-US" altLang="zh-CN" sz="2000" dirty="0">
                <a:latin typeface="+mn-ea"/>
                <a:ea typeface="+mn-ea"/>
              </a:rPr>
              <a:t>×</a:t>
            </a:r>
            <a:r>
              <a:rPr lang="zh-CN" altLang="en-US" sz="2000" dirty="0">
                <a:latin typeface="+mn-ea"/>
                <a:ea typeface="+mn-ea"/>
              </a:rPr>
              <a:t>，则 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p,q</a:t>
            </a:r>
            <a:r>
              <a:rPr lang="en-US" altLang="zh-CN" sz="2000" dirty="0">
                <a:latin typeface="+mn-ea"/>
                <a:ea typeface="+mn-ea"/>
              </a:rPr>
              <a:t>)  </a:t>
            </a:r>
            <a:r>
              <a:rPr lang="zh-CN" altLang="en-US" sz="2000" dirty="0">
                <a:latin typeface="+mn-ea"/>
                <a:ea typeface="+mn-ea"/>
              </a:rPr>
              <a:t>也打 </a:t>
            </a:r>
            <a:r>
              <a:rPr lang="en-US" altLang="zh-CN" sz="2000" dirty="0">
                <a:latin typeface="+mn-ea"/>
                <a:ea typeface="+mn-ea"/>
              </a:rPr>
              <a:t>×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00754C82-C827-46CD-879C-DCFFB4C01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9" y="2578715"/>
            <a:ext cx="3228571" cy="2828571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7073C760-9EE8-40BF-A401-8C169AE71843}"/>
              </a:ext>
            </a:extLst>
          </p:cNvPr>
          <p:cNvSpPr/>
          <p:nvPr/>
        </p:nvSpPr>
        <p:spPr bwMode="auto">
          <a:xfrm>
            <a:off x="375305" y="3397728"/>
            <a:ext cx="13716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F0267DE6-6189-43E1-8955-97185B6CF4D0}"/>
              </a:ext>
            </a:extLst>
          </p:cNvPr>
          <p:cNvSpPr/>
          <p:nvPr/>
        </p:nvSpPr>
        <p:spPr bwMode="auto">
          <a:xfrm>
            <a:off x="1752600" y="3652859"/>
            <a:ext cx="228600" cy="179834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92B92F69-166E-4B63-B565-4EC5B26360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31" y="2823072"/>
            <a:ext cx="1882167" cy="257559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A93D28A7-E468-43D1-8B00-4EA0B4350B15}"/>
              </a:ext>
            </a:extLst>
          </p:cNvPr>
          <p:cNvSpPr txBox="1"/>
          <p:nvPr/>
        </p:nvSpPr>
        <p:spPr bwMode="auto">
          <a:xfrm>
            <a:off x="5410200" y="6019800"/>
            <a:ext cx="27432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对（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zh-CN" altLang="en-US" dirty="0">
                <a:latin typeface="+mn-ea"/>
                <a:ea typeface="+mn-ea"/>
              </a:rPr>
              <a:t>）？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112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29801876-2A7F-44F8-B59C-DD7A0C675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114" y="4010381"/>
            <a:ext cx="5228571" cy="284761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699F768C-3B02-4186-B81B-18F67D1394C6}"/>
              </a:ext>
            </a:extLst>
          </p:cNvPr>
          <p:cNvSpPr txBox="1"/>
          <p:nvPr/>
        </p:nvSpPr>
        <p:spPr bwMode="auto">
          <a:xfrm>
            <a:off x="342900" y="914400"/>
            <a:ext cx="8458200" cy="120032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首先标记的是直接可达</a:t>
            </a:r>
            <a:r>
              <a:rPr lang="en-US" altLang="zh-CN" dirty="0">
                <a:latin typeface="+mn-ea"/>
                <a:ea typeface="+mn-ea"/>
              </a:rPr>
              <a:t>D</a:t>
            </a:r>
            <a:r>
              <a:rPr lang="zh-CN" altLang="en-US" dirty="0">
                <a:latin typeface="+mn-ea"/>
                <a:ea typeface="+mn-ea"/>
              </a:rPr>
              <a:t>的对，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其余如 </a:t>
            </a:r>
            <a:r>
              <a:rPr lang="en-US" altLang="zh-CN" dirty="0">
                <a:latin typeface="+mn-ea"/>
                <a:ea typeface="+mn-ea"/>
              </a:rPr>
              <a:t>(A,B),(A,F),(A,G),(B,F),(B,G),(C,E),(F,G)  </a:t>
            </a:r>
            <a:r>
              <a:rPr lang="zh-CN" altLang="en-US" dirty="0">
                <a:latin typeface="+mn-ea"/>
                <a:ea typeface="+mn-ea"/>
              </a:rPr>
              <a:t>本轮均不满足条件，暂不标记。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7092471-9E08-45ED-8908-88A92CA4E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09800"/>
            <a:ext cx="3485714" cy="282857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5B16B087-6672-4ACB-8339-AFF39DD38882}"/>
              </a:ext>
            </a:extLst>
          </p:cNvPr>
          <p:cNvSpPr/>
          <p:nvPr/>
        </p:nvSpPr>
        <p:spPr bwMode="auto">
          <a:xfrm>
            <a:off x="914400" y="2971800"/>
            <a:ext cx="13716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20AAA445-0883-4CB4-BEEA-A8C75F22ADD6}"/>
              </a:ext>
            </a:extLst>
          </p:cNvPr>
          <p:cNvSpPr/>
          <p:nvPr/>
        </p:nvSpPr>
        <p:spPr bwMode="auto">
          <a:xfrm>
            <a:off x="2286000" y="3200400"/>
            <a:ext cx="228600" cy="179834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F969E2F1-5BB8-4001-A21B-EC07E08182BC}"/>
              </a:ext>
            </a:extLst>
          </p:cNvPr>
          <p:cNvSpPr/>
          <p:nvPr/>
        </p:nvSpPr>
        <p:spPr bwMode="auto">
          <a:xfrm>
            <a:off x="914400" y="2667000"/>
            <a:ext cx="9906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BDCBACD1-80C2-4C9E-BB79-94E5F8185787}"/>
              </a:ext>
            </a:extLst>
          </p:cNvPr>
          <p:cNvSpPr/>
          <p:nvPr/>
        </p:nvSpPr>
        <p:spPr bwMode="auto">
          <a:xfrm>
            <a:off x="914400" y="3276600"/>
            <a:ext cx="13716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B5821A15-E5BE-4567-8B86-727B6169EDE8}"/>
              </a:ext>
            </a:extLst>
          </p:cNvPr>
          <p:cNvSpPr/>
          <p:nvPr/>
        </p:nvSpPr>
        <p:spPr bwMode="auto">
          <a:xfrm>
            <a:off x="2044831" y="3200400"/>
            <a:ext cx="228600" cy="179834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EAF73D59-51E1-46DD-BF4D-8881FB556FA5}"/>
              </a:ext>
            </a:extLst>
          </p:cNvPr>
          <p:cNvSpPr/>
          <p:nvPr/>
        </p:nvSpPr>
        <p:spPr bwMode="auto">
          <a:xfrm>
            <a:off x="2651663" y="3657600"/>
            <a:ext cx="228600" cy="133564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435F3474-D46C-4519-89DC-130889E9C262}"/>
              </a:ext>
            </a:extLst>
          </p:cNvPr>
          <p:cNvSpPr/>
          <p:nvPr/>
        </p:nvSpPr>
        <p:spPr bwMode="auto">
          <a:xfrm>
            <a:off x="2971800" y="3657600"/>
            <a:ext cx="228600" cy="133564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marL="342900" indent="-342900" algn="ctr" latinLnBrk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</a:pP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525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8DF4BA15-F368-45E9-B725-B1C5ED922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9" y="646331"/>
            <a:ext cx="4314257" cy="314750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531CF051-99B9-4DA8-97AF-859D5891ED64}"/>
              </a:ext>
            </a:extLst>
          </p:cNvPr>
          <p:cNvSpPr txBox="1"/>
          <p:nvPr/>
        </p:nvSpPr>
        <p:spPr bwMode="auto">
          <a:xfrm>
            <a:off x="4340966" y="1551922"/>
            <a:ext cx="4666268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从初始状态 </a:t>
            </a:r>
            <a:r>
              <a:rPr lang="en-US" altLang="zh-CN" dirty="0">
                <a:latin typeface="+mn-ea"/>
                <a:ea typeface="+mn-ea"/>
              </a:rPr>
              <a:t>A  </a:t>
            </a:r>
            <a:r>
              <a:rPr lang="zh-CN" altLang="en-US" dirty="0">
                <a:latin typeface="+mn-ea"/>
                <a:ea typeface="+mn-ea"/>
              </a:rPr>
              <a:t>可达的状态只有 </a:t>
            </a:r>
            <a:r>
              <a:rPr lang="en-US" altLang="zh-CN" dirty="0">
                <a:latin typeface="+mn-ea"/>
                <a:ea typeface="+mn-ea"/>
              </a:rPr>
              <a:t>{A,B,C,D} </a:t>
            </a:r>
            <a:r>
              <a:rPr lang="zh-CN" altLang="en-US" dirty="0">
                <a:latin typeface="+mn-ea"/>
                <a:ea typeface="+mn-ea"/>
              </a:rPr>
              <a:t>，所以 </a:t>
            </a:r>
            <a:r>
              <a:rPr lang="en-US" altLang="zh-CN" dirty="0">
                <a:latin typeface="+mn-ea"/>
                <a:ea typeface="+mn-ea"/>
              </a:rPr>
              <a:t>E,F,G,H  </a:t>
            </a:r>
            <a:r>
              <a:rPr lang="zh-CN" altLang="en-US" dirty="0">
                <a:latin typeface="+mn-ea"/>
                <a:ea typeface="+mn-ea"/>
              </a:rPr>
              <a:t>本来就去不掉（它们互相可达但与初始部分不连通）。最小化时：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59D87CBE-D739-4F27-8005-1BD1008267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571" y="3915143"/>
            <a:ext cx="6171429" cy="29428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107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DCC0256-5ACA-488C-80A9-3D340089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四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+mn-ea"/>
                <a:ea typeface="+mn-ea"/>
              </a:rPr>
              <a:t>作业分析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6" name="内容占位符 4">
            <a:extLst>
              <a:ext uri="{FF2B5EF4-FFF2-40B4-BE49-F238E27FC236}">
                <a16:creationId xmlns="" xmlns:a16="http://schemas.microsoft.com/office/drawing/2014/main" id="{E4B82CDF-27F1-418E-8A42-7B17C9DF9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762000"/>
            <a:ext cx="8642350" cy="589889"/>
          </a:xfr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FB0A957B-D0BD-470E-B24D-6EA17CA8F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00" y="1351889"/>
            <a:ext cx="5800000" cy="304761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356A7D07-05EF-4FA2-AF65-D7DA42A7AFED}"/>
              </a:ext>
            </a:extLst>
          </p:cNvPr>
          <p:cNvSpPr txBox="1"/>
          <p:nvPr/>
        </p:nvSpPr>
        <p:spPr bwMode="auto">
          <a:xfrm>
            <a:off x="152400" y="4527732"/>
            <a:ext cx="7086600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、先判断可达性，</a:t>
            </a:r>
            <a:r>
              <a:rPr lang="en-US" altLang="zh-CN" sz="1800" dirty="0">
                <a:latin typeface="+mn-ea"/>
                <a:ea typeface="+mn-ea"/>
              </a:rPr>
              <a:t>s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p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r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en-US" altLang="zh-CN" sz="1800" dirty="0">
                <a:latin typeface="+mn-ea"/>
                <a:ea typeface="+mn-ea"/>
              </a:rPr>
              <a:t>q</a:t>
            </a:r>
            <a:r>
              <a:rPr lang="zh-CN" altLang="en-US" sz="1800" dirty="0">
                <a:latin typeface="+mn-ea"/>
                <a:ea typeface="+mn-ea"/>
              </a:rPr>
              <a:t>没有不可达的状态，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2</a:t>
            </a:r>
            <a:r>
              <a:rPr lang="zh-CN" altLang="en-US" sz="1800" dirty="0">
                <a:latin typeface="+mn-ea"/>
                <a:ea typeface="+mn-ea"/>
              </a:rPr>
              <a:t>、接下来判断是否可区分，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+mn-ea"/>
                <a:ea typeface="+mn-ea"/>
              </a:rPr>
              <a:t>3</a:t>
            </a:r>
            <a:r>
              <a:rPr lang="zh-CN" altLang="en-US" sz="1800" dirty="0">
                <a:latin typeface="+mn-ea"/>
                <a:ea typeface="+mn-ea"/>
              </a:rPr>
              <a:t>、最后可知是最小</a:t>
            </a:r>
            <a:r>
              <a:rPr lang="en-US" altLang="zh-CN" sz="1800" dirty="0">
                <a:latin typeface="+mn-ea"/>
                <a:ea typeface="+mn-ea"/>
              </a:rPr>
              <a:t>DFA</a:t>
            </a:r>
            <a:endParaRPr lang="zh-CN" altLang="en-US" sz="1800" dirty="0">
              <a:latin typeface="+mn-ea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A00CD239-82FB-4AF2-A840-CD2C89A5A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4835" y="4299311"/>
            <a:ext cx="3124200" cy="14287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163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78064083098684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471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9603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939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940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40418582989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980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933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29288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34396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64083135699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72806867769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72806879274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7280688093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9062688117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072806882720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2075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28774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0749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1328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2373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3419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5692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6836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6715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7298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1024898386865"/>
</p:tagLst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8F8F8"/>
      </a:accent1>
      <a:accent2>
        <a:srgbClr val="6600CC"/>
      </a:accent2>
      <a:accent3>
        <a:srgbClr val="FFFFE9"/>
      </a:accent3>
      <a:accent4>
        <a:srgbClr val="000000"/>
      </a:accent4>
      <a:accent5>
        <a:srgbClr val="FBFBFB"/>
      </a:accent5>
      <a:accent6>
        <a:srgbClr val="5C00B9"/>
      </a:accent6>
      <a:hlink>
        <a:srgbClr val="FF5050"/>
      </a:hlink>
      <a:folHlink>
        <a:srgbClr val="FF9900"/>
      </a:folHlink>
    </a:clrScheme>
    <a:fontScheme name="默认设计模板">
      <a:majorFont>
        <a:latin typeface="New Century Schoolbook"/>
        <a:ea typeface="仿宋_GB2312"/>
        <a:cs typeface=""/>
      </a:majorFont>
      <a:minorFont>
        <a:latin typeface="New Century School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EFFEDA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6FEEA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8F8F8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BFBFB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ttymono03">
  <a:themeElements>
    <a:clrScheme name="bettymono03 5">
      <a:dk1>
        <a:srgbClr val="000000"/>
      </a:dk1>
      <a:lt1>
        <a:srgbClr val="FFFFFF"/>
      </a:lt1>
      <a:dk2>
        <a:srgbClr val="000066"/>
      </a:dk2>
      <a:lt2>
        <a:srgbClr val="CCFFFF"/>
      </a:lt2>
      <a:accent1>
        <a:srgbClr val="000068"/>
      </a:accent1>
      <a:accent2>
        <a:srgbClr val="2BD1B9"/>
      </a:accent2>
      <a:accent3>
        <a:srgbClr val="FFFFFF"/>
      </a:accent3>
      <a:accent4>
        <a:srgbClr val="000000"/>
      </a:accent4>
      <a:accent5>
        <a:srgbClr val="AAAAB9"/>
      </a:accent5>
      <a:accent6>
        <a:srgbClr val="26BDA7"/>
      </a:accent6>
      <a:hlink>
        <a:srgbClr val="87D7FF"/>
      </a:hlink>
      <a:folHlink>
        <a:srgbClr val="969696"/>
      </a:folHlink>
    </a:clrScheme>
    <a:fontScheme name="bettymono03">
      <a:majorFont>
        <a:latin typeface="New Century Schoolbook"/>
        <a:ea typeface="黑体"/>
        <a:cs typeface=""/>
      </a:majorFont>
      <a:minorFont>
        <a:latin typeface="New Century Schoolbook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marL="342900" indent="-342900" latinLnBrk="0">
          <a:spcBef>
            <a:spcPct val="20000"/>
          </a:spcBef>
          <a:buClr>
            <a:schemeClr val="accent2"/>
          </a:buClr>
          <a:buFont typeface="Wingdings" pitchFamily="2" charset="2"/>
          <a:buChar char="Ø"/>
          <a:defRPr sz="2400" dirty="0" smtClean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  <a:txDef>
      <a:spPr bwMode="auto">
        <a:noFill/>
        <a:ln w="9525" algn="ctr">
          <a:solidFill>
            <a:schemeClr val="tx1"/>
          </a:solidFill>
          <a:miter lim="800000"/>
          <a:headEnd/>
          <a:tailEnd/>
        </a:ln>
      </a:spPr>
      <a:bodyPr/>
      <a:lstStyle>
        <a:defPPr eaLnBrk="1" hangingPunct="1">
          <a:spcBef>
            <a:spcPct val="50000"/>
          </a:spcBef>
          <a:defRPr b="1">
            <a:latin typeface="Times New Roman" pitchFamily="18" charset="0"/>
          </a:defRPr>
        </a:defPPr>
      </a:lstStyle>
    </a:txDef>
  </a:objectDefaults>
  <a:extraClrSchemeLst>
    <a:extraClrScheme>
      <a:clrScheme name="bettymono03 1">
        <a:dk1>
          <a:srgbClr val="000000"/>
        </a:dk1>
        <a:lt1>
          <a:srgbClr val="FFFFFF"/>
        </a:lt1>
        <a:dk2>
          <a:srgbClr val="000000"/>
        </a:dk2>
        <a:lt2>
          <a:srgbClr val="CCFFFF"/>
        </a:lt2>
        <a:accent1>
          <a:srgbClr val="0033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8A2D"/>
        </a:accent6>
        <a:hlink>
          <a:srgbClr val="6699FF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2">
        <a:dk1>
          <a:srgbClr val="000000"/>
        </a:dk1>
        <a:lt1>
          <a:srgbClr val="FFFFFF"/>
        </a:lt1>
        <a:dk2>
          <a:srgbClr val="000000"/>
        </a:dk2>
        <a:lt2>
          <a:srgbClr val="CCCCFF"/>
        </a:lt2>
        <a:accent1>
          <a:srgbClr val="3E009A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FAACA"/>
        </a:accent5>
        <a:accent6>
          <a:srgbClr val="E78A2D"/>
        </a:accent6>
        <a:hlink>
          <a:srgbClr val="FFE161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3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4240"/>
        </a:accent1>
        <a:accent2>
          <a:srgbClr val="7FBE00"/>
        </a:accent2>
        <a:accent3>
          <a:srgbClr val="FFFFFF"/>
        </a:accent3>
        <a:accent4>
          <a:srgbClr val="000000"/>
        </a:accent4>
        <a:accent5>
          <a:srgbClr val="AAB0AF"/>
        </a:accent5>
        <a:accent6>
          <a:srgbClr val="72AC00"/>
        </a:accent6>
        <a:hlink>
          <a:srgbClr val="FFFF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4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0000"/>
        </a:accent1>
        <a:accent2>
          <a:srgbClr val="33CC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B9E7"/>
        </a:accent6>
        <a:hlink>
          <a:srgbClr val="99FF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5">
        <a:dk1>
          <a:srgbClr val="000000"/>
        </a:dk1>
        <a:lt1>
          <a:srgbClr val="FFFFFF"/>
        </a:lt1>
        <a:dk2>
          <a:srgbClr val="000066"/>
        </a:dk2>
        <a:lt2>
          <a:srgbClr val="CCFFFF"/>
        </a:lt2>
        <a:accent1>
          <a:srgbClr val="000068"/>
        </a:accent1>
        <a:accent2>
          <a:srgbClr val="2BD1B9"/>
        </a:accent2>
        <a:accent3>
          <a:srgbClr val="FFFFFF"/>
        </a:accent3>
        <a:accent4>
          <a:srgbClr val="000000"/>
        </a:accent4>
        <a:accent5>
          <a:srgbClr val="AAAAB9"/>
        </a:accent5>
        <a:accent6>
          <a:srgbClr val="26BDA7"/>
        </a:accent6>
        <a:hlink>
          <a:srgbClr val="87D7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12631</TotalTime>
  <Words>1122</Words>
  <Application>Microsoft Office PowerPoint</Application>
  <PresentationFormat>全屏显示(4:3)</PresentationFormat>
  <Paragraphs>101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默认设计模板</vt:lpstr>
      <vt:lpstr>bettymono03</vt:lpstr>
      <vt:lpstr>编译器设计专题实验课2026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andrejb</dc:creator>
  <cp:lastModifiedBy>微软用户</cp:lastModifiedBy>
  <cp:revision>728</cp:revision>
  <cp:lastPrinted>2011-10-10T03:21:30Z</cp:lastPrinted>
  <dcterms:created xsi:type="dcterms:W3CDTF">2010-10-06T02:55:19Z</dcterms:created>
  <dcterms:modified xsi:type="dcterms:W3CDTF">2026-05-09T07:43:30Z</dcterms:modified>
</cp:coreProperties>
</file>