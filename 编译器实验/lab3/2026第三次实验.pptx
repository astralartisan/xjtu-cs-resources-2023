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  <p:sldMasterId id="2147484111" r:id="rId2"/>
  </p:sldMasterIdLst>
  <p:notesMasterIdLst>
    <p:notesMasterId r:id="rId29"/>
  </p:notesMasterIdLst>
  <p:handoutMasterIdLst>
    <p:handoutMasterId r:id="rId30"/>
  </p:handoutMasterIdLst>
  <p:sldIdLst>
    <p:sldId id="322" r:id="rId3"/>
    <p:sldId id="2041" r:id="rId4"/>
    <p:sldId id="2054" r:id="rId5"/>
    <p:sldId id="2055" r:id="rId6"/>
    <p:sldId id="2056" r:id="rId7"/>
    <p:sldId id="2057" r:id="rId8"/>
    <p:sldId id="2058" r:id="rId9"/>
    <p:sldId id="2042" r:id="rId10"/>
    <p:sldId id="2043" r:id="rId11"/>
    <p:sldId id="2050" r:id="rId12"/>
    <p:sldId id="2044" r:id="rId13"/>
    <p:sldId id="2045" r:id="rId14"/>
    <p:sldId id="2046" r:id="rId15"/>
    <p:sldId id="2047" r:id="rId16"/>
    <p:sldId id="2048" r:id="rId17"/>
    <p:sldId id="2053" r:id="rId18"/>
    <p:sldId id="2064" r:id="rId19"/>
    <p:sldId id="2059" r:id="rId20"/>
    <p:sldId id="2067" r:id="rId21"/>
    <p:sldId id="2068" r:id="rId22"/>
    <p:sldId id="2069" r:id="rId23"/>
    <p:sldId id="2070" r:id="rId24"/>
    <p:sldId id="2071" r:id="rId25"/>
    <p:sldId id="2072" r:id="rId26"/>
    <p:sldId id="2073" r:id="rId27"/>
    <p:sldId id="2074" r:id="rId28"/>
  </p:sldIdLst>
  <p:sldSz cx="9144000" cy="6858000" type="screen4x3"/>
  <p:notesSz cx="6858000" cy="9144000"/>
  <p:custDataLst>
    <p:tags r:id="rId3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68A831A-E422-46B5-94DF-A28935A8A170}">
          <p14:sldIdLst>
            <p14:sldId id="322"/>
            <p14:sldId id="2041"/>
            <p14:sldId id="2054"/>
            <p14:sldId id="2055"/>
            <p14:sldId id="2056"/>
            <p14:sldId id="2057"/>
            <p14:sldId id="2058"/>
            <p14:sldId id="2042"/>
            <p14:sldId id="2043"/>
            <p14:sldId id="2050"/>
            <p14:sldId id="2044"/>
            <p14:sldId id="2045"/>
            <p14:sldId id="2046"/>
            <p14:sldId id="2047"/>
            <p14:sldId id="2048"/>
            <p14:sldId id="2053"/>
            <p14:sldId id="2064"/>
            <p14:sldId id="2059"/>
            <p14:sldId id="2067"/>
            <p14:sldId id="2068"/>
            <p14:sldId id="2069"/>
            <p14:sldId id="2070"/>
            <p14:sldId id="2071"/>
            <p14:sldId id="2072"/>
            <p14:sldId id="2073"/>
            <p14:sldId id="20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AFFCD"/>
    <a:srgbClr val="9900FF"/>
    <a:srgbClr val="CC99FF"/>
    <a:srgbClr val="FFFF9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542" autoAdjust="0"/>
  </p:normalViewPr>
  <p:slideViewPr>
    <p:cSldViewPr>
      <p:cViewPr varScale="1">
        <p:scale>
          <a:sx n="68" d="100"/>
          <a:sy n="68" d="100"/>
        </p:scale>
        <p:origin x="126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2742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E0476C6-A73D-4127-9355-983E64C22B03}" type="datetimeFigureOut">
              <a:rPr lang="zh-CN" altLang="en-US"/>
              <a:pPr/>
              <a:t>2026/5/1</a:t>
            </a:fld>
            <a:endParaRPr lang="en-US" altLang="zh-CN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499ECC-0CCF-4A71-814B-16DE56F04BF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84065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426FF10-905A-456B-8448-3C00A8879EA4}" type="datetimeFigureOut">
              <a:rPr lang="zh-CN" altLang="en-US"/>
              <a:pPr>
                <a:defRPr/>
              </a:pPr>
              <a:t>2026/5/1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CD789C0-5935-446E-B1F4-42F088224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962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0822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5807FC17-1C9E-4F8C-88D9-D8DFD9B90ACA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3AAA4EE-6B8F-411D-B87F-93A159326F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541AF8D-B3D7-4FE9-8B08-D6E788EE449C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75DC97-F21A-4696-89E7-FF9AD19932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Box 5"/>
          <p:cNvSpPr txBox="1"/>
          <p:nvPr userDrawn="1"/>
        </p:nvSpPr>
        <p:spPr>
          <a:xfrm>
            <a:off x="6839744" y="0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西安交通大学赵银亮</a:t>
            </a:r>
            <a:endParaRPr lang="en-US" altLang="zh-CN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  <a:p>
            <a:pPr algn="ctr"/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《</a:t>
            </a:r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形式语言与编译</a:t>
            </a:r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》</a:t>
            </a:r>
            <a:endParaRPr lang="zh-CN" altLang="en-US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89009D1-2B36-4D2C-9D4F-EEB90A38386D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AC66141-66F2-4D3B-9360-5D7AD8B02C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981075"/>
            <a:ext cx="4208463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981075"/>
            <a:ext cx="42084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56D98F9-3672-4225-BC10-03EFCF7A32DE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BF9C476-AC91-4B5F-851C-25042C2047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E6CB3B0-AC19-4BCA-AE85-B2397647BE23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76BCCD4-78BB-4A98-A30D-917DE64AA5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223DC6B-EEF4-4C7D-A9D8-DEDB8153002C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8EBE35-3097-4DFB-84D4-CDEEA36BEF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0FC1E4C-9029-4E3A-8A14-797A659582D7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9A3ABF8-3BA0-4975-9C24-50B959923F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C3716A0-C629-44EC-8886-F1982DF0A0FB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D5A54F0-219B-4885-8816-1DCB2C2284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CED0AC1-BFD7-4B0A-869E-9AA162B4CDBF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40F4B0B-157D-4EFD-9B70-7D87B5033A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2AB5A83-C808-49D2-85F8-16A88CCA0D37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64A5DBD-A33A-4C1C-A1AB-EAA24CE91D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32588" y="44450"/>
            <a:ext cx="2160587" cy="6264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44450"/>
            <a:ext cx="6329363" cy="6264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3D344CE-E26C-45A2-8907-1CC7A50A90AC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F6A5130-3728-4351-9C9E-1B8D7B7D05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23850" y="981075"/>
            <a:ext cx="8569325" cy="53276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3B9EBCD-1500-4B34-B597-18BC8D59A588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5868082-8011-4B9E-A200-46897186A1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ltGray"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52736"/>
            <a:ext cx="9144000" cy="2232025"/>
          </a:xfrm>
        </p:spPr>
        <p:txBody>
          <a:bodyPr/>
          <a:lstStyle>
            <a:lvl1pPr>
              <a:defRPr sz="4000" b="0">
                <a:solidFill>
                  <a:srgbClr val="FF0000"/>
                </a:solidFill>
                <a:latin typeface="Garamond" pitchFamily="18" charset="0"/>
                <a:ea typeface="+mj-ea"/>
              </a:defRPr>
            </a:lvl1pPr>
          </a:lstStyle>
          <a:p>
            <a:r>
              <a:rPr lang="en-US" altLang="ko-KR" dirty="0"/>
              <a:t>Click to edit Master title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21088"/>
            <a:ext cx="8686800" cy="49244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COMPANY LOGO</a:t>
            </a:r>
          </a:p>
        </p:txBody>
      </p:sp>
      <p:pic>
        <p:nvPicPr>
          <p:cNvPr id="12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585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Cambria Math" panose="02040503050406030204" pitchFamily="18" charset="0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2234458"/>
          </a:xfrm>
        </p:spPr>
        <p:txBody>
          <a:bodyPr/>
          <a:lstStyle>
            <a:lvl1pPr marL="342900" indent="-342900">
              <a:buClr>
                <a:schemeClr val="bg2">
                  <a:lumMod val="50000"/>
                </a:schemeClr>
              </a:buClr>
              <a:buFont typeface="Cambria Math" panose="02040503050406030204" pitchFamily="18" charset="0"/>
              <a:buChar char="⌲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1pPr>
            <a:lvl2pPr marL="742950" indent="-285750">
              <a:buClr>
                <a:schemeClr val="tx2">
                  <a:lumMod val="60000"/>
                  <a:lumOff val="40000"/>
                </a:schemeClr>
              </a:buClr>
              <a:buFont typeface="Cambria Math" panose="02040503050406030204" pitchFamily="18" charset="0"/>
              <a:buChar char="•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2pPr>
            <a:lvl3pPr>
              <a:buClr>
                <a:schemeClr val="accent3">
                  <a:lumMod val="75000"/>
                </a:schemeClr>
              </a:buClr>
              <a:defRPr>
                <a:latin typeface="+mn-ea"/>
                <a:ea typeface="+mn-ea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249" y="6597352"/>
            <a:ext cx="516255" cy="209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4" cstate="print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0" t="23318" r="10626" b="24722"/>
          <a:stretch/>
        </p:blipFill>
        <p:spPr>
          <a:xfrm>
            <a:off x="8283332" y="44624"/>
            <a:ext cx="825172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35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2082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778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7496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0"/>
            <a:ext cx="8713787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250825" y="981075"/>
            <a:ext cx="8642350" cy="461665"/>
          </a:xfrm>
        </p:spPr>
        <p:txBody>
          <a:bodyPr/>
          <a:lstStyle>
            <a:lvl1pPr marL="342900" indent="-342900">
              <a:buFont typeface="Wingdings" pitchFamily="2" charset="2"/>
              <a:buChar char="Ø"/>
              <a:defRPr/>
            </a:lvl1pPr>
          </a:lstStyle>
          <a:p>
            <a:pPr lvl="0"/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57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16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AF5FE"/>
            </a:gs>
            <a:gs pos="50000">
              <a:srgbClr val="FFFFFF"/>
            </a:gs>
            <a:gs pos="100000">
              <a:srgbClr val="DAF5F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图片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44450"/>
            <a:ext cx="86423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1075"/>
            <a:ext cx="8569325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61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0" hangingPunct="1">
              <a:defRPr kumimoji="0" sz="1400">
                <a:solidFill>
                  <a:srgbClr val="99FFCC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547A495-6F0F-40D1-8022-D8CF4A5D3462}" type="datetime1">
              <a:rPr lang="zh-CN" altLang="en-US"/>
              <a:pPr>
                <a:defRPr/>
              </a:pPr>
              <a:t>2026/5/1</a:t>
            </a:fld>
            <a:endParaRPr lang="en-US" altLang="zh-CN"/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373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61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74C855A-3850-4EA8-9BE2-1AAA921891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6185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76200"/>
          </a:xfrm>
          <a:prstGeom prst="rect">
            <a:avLst/>
          </a:prstGeom>
          <a:gradFill rotWithShape="1">
            <a:gsLst>
              <a:gs pos="0">
                <a:srgbClr val="000068"/>
              </a:gs>
              <a:gs pos="100000">
                <a:srgbClr val="6600CC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defRPr/>
            </a:pPr>
            <a:endParaRPr kumimoji="1" lang="zh-CN" altLang="en-US" sz="1800">
              <a:solidFill>
                <a:srgbClr val="000000"/>
              </a:solidFill>
              <a:latin typeface="Gulim" pitchFamily="34" charset="-127"/>
              <a:ea typeface="Gulim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10000"/>
        </a:spcAft>
        <a:buBlip>
          <a:blip r:embed="rId15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10000"/>
        </a:spcBef>
        <a:spcAft>
          <a:spcPct val="10000"/>
        </a:spcAft>
        <a:buBlip>
          <a:blip r:embed="rId16"/>
        </a:buBlip>
        <a:defRPr sz="2600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5000"/>
        </a:spcBef>
        <a:spcAft>
          <a:spcPct val="5000"/>
        </a:spcAft>
        <a:buClr>
          <a:srgbClr val="FF9900"/>
        </a:buClr>
        <a:buFont typeface="Wingdings" pitchFamily="2" charset="2"/>
        <a:buBlip>
          <a:blip r:embed="rId17"/>
        </a:buBlip>
        <a:defRPr sz="2400">
          <a:solidFill>
            <a:schemeClr val="tx1"/>
          </a:solidFill>
          <a:latin typeface="Times New Roman" pitchFamily="18" charset="0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9" descr="图片1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6452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79388" y="0"/>
            <a:ext cx="8713787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81075"/>
            <a:ext cx="8642350" cy="179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dirty="0"/>
              <a:t> </a:t>
            </a:r>
            <a:r>
              <a:rPr lang="en-US" altLang="zh-CN" dirty="0"/>
              <a:t>Click to edit Master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7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53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5" r:id="rId4"/>
    <p:sldLayoutId id="2147484116" r:id="rId5"/>
    <p:sldLayoutId id="2147484117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accent1"/>
          </a:solidFill>
          <a:latin typeface="Cambria Math" panose="020405030504060302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Tx/>
        <a:buFont typeface="Cambria Math" panose="02040503050406030204" pitchFamily="18" charset="0"/>
        <a:buChar char="▻"/>
        <a:defRPr kumimoji="1" sz="2400" b="0">
          <a:solidFill>
            <a:schemeClr val="tx1"/>
          </a:solidFill>
          <a:latin typeface="Cambria Math" panose="02040503050406030204" pitchFamily="18" charset="0"/>
          <a:ea typeface="仿宋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Font typeface="Cambria Math" panose="02040503050406030204" pitchFamily="18" charset="0"/>
        <a:buChar char="⥼"/>
        <a:defRPr kumimoji="1" sz="2400" b="0">
          <a:solidFill>
            <a:srgbClr val="000000"/>
          </a:solidFill>
          <a:latin typeface="Cambria Math" panose="02040503050406030204" pitchFamily="18" charset="0"/>
          <a:ea typeface="仿宋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b="0">
          <a:solidFill>
            <a:srgbClr val="000000"/>
          </a:solidFill>
          <a:latin typeface="Garamond" pitchFamily="18" charset="0"/>
          <a:ea typeface="Garamond" pitchFamily="18" charset="0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2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4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5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005263"/>
            <a:ext cx="8686800" cy="2160587"/>
          </a:xfrm>
        </p:spPr>
        <p:txBody>
          <a:bodyPr/>
          <a:lstStyle/>
          <a:p>
            <a:pPr eaLnBrk="1" hangingPunct="1"/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2026.04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Cambria" panose="02040503050406030204" pitchFamily="18" charset="0"/>
                <a:ea typeface="Cambria" panose="02040503050406030204" pitchFamily="18" charset="0"/>
              </a:rPr>
              <a:t>编译器设计专题实验课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2026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1902059"/>
          </a:xfrm>
        </p:spPr>
        <p:txBody>
          <a:bodyPr/>
          <a:lstStyle/>
          <a:p>
            <a:pPr lvl="0"/>
            <a:r>
              <a:rPr lang="zh-CN" altLang="en-US" sz="2800" b="1" dirty="0">
                <a:latin typeface="Times New Roman" pitchFamily="18" charset="0"/>
              </a:rPr>
              <a:t>第一次实验，实现一个模拟的</a:t>
            </a:r>
            <a:r>
              <a:rPr lang="en-US" altLang="zh-CN" sz="2800" b="1" dirty="0">
                <a:latin typeface="Times New Roman" pitchFamily="18" charset="0"/>
              </a:rPr>
              <a:t>DFA</a:t>
            </a:r>
            <a:r>
              <a:rPr lang="zh-CN" altLang="en-US" sz="2800" b="1" dirty="0">
                <a:latin typeface="Times New Roman" pitchFamily="18" charset="0"/>
              </a:rPr>
              <a:t>，包括状态，状态转换等等，输入一串字符，输出可接受的字符流</a:t>
            </a:r>
            <a:endParaRPr lang="en-US" altLang="zh-CN" sz="2800" b="1" dirty="0">
              <a:latin typeface="Times New Roman" pitchFamily="18" charset="0"/>
            </a:endParaRPr>
          </a:p>
          <a:p>
            <a:pPr lvl="0"/>
            <a:endParaRPr lang="zh-CN" altLang="zh-CN" sz="2800" dirty="0"/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B8672D20-EE51-4E9A-B43C-3F14620C9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4" y="-7938"/>
            <a:ext cx="74247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实验回顾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D216E28-2668-4A70-A4F8-15B7C8D5B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759" y="1828800"/>
            <a:ext cx="6031846" cy="47915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7540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2969694" cy="1040285"/>
          </a:xfrm>
        </p:spPr>
        <p:txBody>
          <a:bodyPr/>
          <a:lstStyle/>
          <a:p>
            <a:pPr lvl="0"/>
            <a:r>
              <a:rPr lang="zh-CN" altLang="en-US" sz="2800" b="1" dirty="0">
                <a:latin typeface="Times New Roman" pitchFamily="18" charset="0"/>
              </a:rPr>
              <a:t>第一次实验，以同学作业为例</a:t>
            </a:r>
            <a:endParaRPr lang="en-US" altLang="zh-CN" sz="2800" b="1" dirty="0">
              <a:latin typeface="Times New Roman" pitchFamily="18" charset="0"/>
            </a:endParaRPr>
          </a:p>
          <a:p>
            <a:pPr lvl="0"/>
            <a:endParaRPr lang="zh-CN" altLang="zh-CN" sz="2800" dirty="0"/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B8672D20-EE51-4E9A-B43C-3F14620C9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4" y="-7938"/>
            <a:ext cx="74247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实验回顾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7A405E-CA18-494F-8DBB-7F368366C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827018"/>
            <a:ext cx="5361274" cy="44421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F49E86F-A8E9-49B3-9ECF-4045844F7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834" y="4728061"/>
            <a:ext cx="5971897" cy="10823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F74D5AB-AA93-433E-A81C-A8BF93309B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842073"/>
            <a:ext cx="7433203" cy="10159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9113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85C6CC-22F1-44C1-8B49-C2C08437A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6378575" cy="461665"/>
          </a:xfrm>
        </p:spPr>
        <p:txBody>
          <a:bodyPr/>
          <a:lstStyle/>
          <a:p>
            <a:r>
              <a:rPr lang="zh-CN" altLang="en-US" dirty="0"/>
              <a:t>选做部分</a:t>
            </a: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F034981B-73DA-48DC-A9AB-0084A0EE5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4" y="-7938"/>
            <a:ext cx="74247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实验回顾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D89EE8-AE4A-4563-B606-AE9B2E33F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88057"/>
            <a:ext cx="5791200" cy="63522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721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7D3E8-E833-4701-8BBA-A5D52AAC8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9EA4EC-4CFD-40DB-ABE0-A21BDA4E4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2677656"/>
          </a:xfrm>
        </p:spPr>
        <p:txBody>
          <a:bodyPr/>
          <a:lstStyle/>
          <a:p>
            <a:r>
              <a:rPr lang="zh-CN" altLang="en-US" dirty="0"/>
              <a:t>选做部分</a:t>
            </a:r>
          </a:p>
          <a:p>
            <a:pPr marL="457200" lvl="1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git</a:t>
            </a:r>
            <a:r>
              <a:rPr lang="zh-CN" altLang="en-US" dirty="0"/>
              <a:t>上创建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代码仓库，实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现这个项目的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可视化和一致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3DEC52-0CA7-4B32-94FB-8E68D1E90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108" y="732581"/>
            <a:ext cx="6143625" cy="5819775"/>
          </a:xfrm>
          <a:prstGeom prst="rect">
            <a:avLst/>
          </a:prstGeom>
        </p:spPr>
      </p:pic>
      <p:sp>
        <p:nvSpPr>
          <p:cNvPr id="5" name="矩形 3">
            <a:extLst>
              <a:ext uri="{FF2B5EF4-FFF2-40B4-BE49-F238E27FC236}">
                <a16:creationId xmlns:a16="http://schemas.microsoft.com/office/drawing/2014/main" id="{F09C52AE-2E6A-4B0C-A70D-0FB7B9E81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4" y="-7938"/>
            <a:ext cx="74247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实验回顾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348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7D5B7-0CC5-4F4C-8CFF-A6C31245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CA8697-037D-422D-9778-4CB94D9E0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0" y="1422836"/>
            <a:ext cx="7924800" cy="4248090"/>
          </a:xfrm>
          <a:prstGeom prst="rect">
            <a:avLst/>
          </a:prstGeom>
        </p:spPr>
      </p:pic>
      <p:sp>
        <p:nvSpPr>
          <p:cNvPr id="5" name="矩形 3">
            <a:extLst>
              <a:ext uri="{FF2B5EF4-FFF2-40B4-BE49-F238E27FC236}">
                <a16:creationId xmlns:a16="http://schemas.microsoft.com/office/drawing/2014/main" id="{CD187FAB-88F9-44E8-81D6-E93EEE1C7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4" y="-7938"/>
            <a:ext cx="74247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实验回顾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021009D-4C04-4DA0-B2DF-351ECB8B06CE}"/>
              </a:ext>
            </a:extLst>
          </p:cNvPr>
          <p:cNvSpPr txBox="1">
            <a:spLocks/>
          </p:cNvSpPr>
          <p:nvPr/>
        </p:nvSpPr>
        <p:spPr bwMode="auto">
          <a:xfrm>
            <a:off x="250824" y="863173"/>
            <a:ext cx="8642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Font typeface="Cambria Math" panose="02040503050406030204" pitchFamily="18" charset="0"/>
              <a:buChar char="⌲"/>
              <a:defRPr kumimoji="1" sz="2400" b="0">
                <a:solidFill>
                  <a:schemeClr val="tx1"/>
                </a:solidFill>
                <a:latin typeface="Cambria Math" panose="02040503050406030204" pitchFamily="18" charset="0"/>
                <a:ea typeface="仿宋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Font typeface="Cambria Math" panose="02040503050406030204" pitchFamily="18" charset="0"/>
              <a:buChar char="•"/>
              <a:defRPr kumimoji="1" sz="2400" b="0">
                <a:solidFill>
                  <a:srgbClr val="000000"/>
                </a:solidFill>
                <a:latin typeface="Cambria Math" panose="02040503050406030204" pitchFamily="18" charset="0"/>
                <a:ea typeface="仿宋" panose="0201060906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+mn-ea"/>
                <a:ea typeface="+mn-ea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b="0">
                <a:solidFill>
                  <a:srgbClr val="000000"/>
                </a:solidFill>
                <a:latin typeface="Garamond" pitchFamily="18" charset="0"/>
                <a:ea typeface="Garamond" pitchFamily="18" charset="0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5pPr>
            <a:lvl6pPr marL="2438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6pPr>
            <a:lvl7pPr marL="2895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7pPr>
            <a:lvl8pPr marL="3352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8pPr>
            <a:lvl9pPr marL="3810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9pPr>
          </a:lstStyle>
          <a:p>
            <a:r>
              <a:rPr lang="zh-CN" altLang="en-US" kern="0" dirty="0"/>
              <a:t>选做部分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857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5A3B28-693C-4C2D-8DAB-0C0AB8EC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2138A3-C9E8-4EB2-A902-A1956C95B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54206C-2613-47DC-98B6-551FAC4F5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81" y="1065956"/>
            <a:ext cx="8305800" cy="5153025"/>
          </a:xfrm>
          <a:prstGeom prst="rect">
            <a:avLst/>
          </a:prstGeom>
        </p:spPr>
      </p:pic>
      <p:sp>
        <p:nvSpPr>
          <p:cNvPr id="6" name="矩形 3">
            <a:extLst>
              <a:ext uri="{FF2B5EF4-FFF2-40B4-BE49-F238E27FC236}">
                <a16:creationId xmlns:a16="http://schemas.microsoft.com/office/drawing/2014/main" id="{CBC97570-7843-4B86-B44F-076BBF890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4" y="-7938"/>
            <a:ext cx="74247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实验回顾</a:t>
            </a:r>
            <a:endParaRPr lang="en-US" altLang="zh-CN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9715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实验一和实验二的关联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8E9A59-3054-4D9E-BC6C-84BA4861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实验过程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55554D-4184-4574-90CB-6250AD2F1747}"/>
              </a:ext>
            </a:extLst>
          </p:cNvPr>
          <p:cNvSpPr txBox="1"/>
          <p:nvPr/>
        </p:nvSpPr>
        <p:spPr bwMode="auto">
          <a:xfrm>
            <a:off x="457200" y="1431231"/>
            <a:ext cx="2209800" cy="341632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dfa_in.dfa</a:t>
            </a:r>
            <a:r>
              <a:rPr lang="en-US" altLang="zh-CN" dirty="0"/>
              <a:t>. </a:t>
            </a:r>
            <a:r>
              <a:rPr lang="zh-CN" altLang="en-US" dirty="0"/>
              <a:t>该文件是实验一的输入，根据</a:t>
            </a:r>
            <a:r>
              <a:rPr lang="en-US" altLang="zh-CN" dirty="0" err="1"/>
              <a:t>dfa</a:t>
            </a:r>
            <a:r>
              <a:rPr lang="zh-CN" altLang="en-US" dirty="0"/>
              <a:t>表输出可接受字符流，该文件在实验二中加载作为词法分析的规则文件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B22CA3-06B6-45C8-86A5-D7B5A65DD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927" y="1332729"/>
            <a:ext cx="5639587" cy="55252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4094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2</a:t>
            </a:r>
            <a:endParaRPr lang="zh-CN" altLang="zh-CN" sz="2800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D41B81-A92A-4742-A98C-C848DDE7A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50" y="2127285"/>
            <a:ext cx="5325218" cy="17623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FB393D-C7B1-4760-8825-4835CE7B5D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43341"/>
            <a:ext cx="5992061" cy="43821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FFF09CC-F1BA-48C4-95B2-41ED130DA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实验过程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49FCB0-48D1-4038-B925-A1D9B4EBBB0E}"/>
              </a:ext>
            </a:extLst>
          </p:cNvPr>
          <p:cNvSpPr/>
          <p:nvPr/>
        </p:nvSpPr>
        <p:spPr>
          <a:xfrm>
            <a:off x="449510" y="4029144"/>
            <a:ext cx="84793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8B8B8B"/>
                </a:solidFill>
                <a:latin typeface="DeepSeek-CJK-patch"/>
              </a:rPr>
              <a:t>当采用第一个</a:t>
            </a:r>
            <a:r>
              <a:rPr lang="en-US" altLang="zh-CN" b="1" dirty="0" err="1">
                <a:solidFill>
                  <a:srgbClr val="8B8B8B"/>
                </a:solidFill>
                <a:latin typeface="DeepSeek-CJK-patch"/>
              </a:rPr>
              <a:t>dfa</a:t>
            </a:r>
            <a:r>
              <a:rPr lang="zh-CN" altLang="en-US" b="1" dirty="0">
                <a:solidFill>
                  <a:srgbClr val="8B8B8B"/>
                </a:solidFill>
                <a:latin typeface="DeepSeek-CJK-patch"/>
              </a:rPr>
              <a:t>作为词法规则时，分析</a:t>
            </a:r>
            <a:r>
              <a:rPr lang="en-US" altLang="zh-CN" b="1" dirty="0" err="1">
                <a:solidFill>
                  <a:srgbClr val="8B8B8B"/>
                </a:solidFill>
                <a:latin typeface="DeepSeek-CJK-patch"/>
              </a:rPr>
              <a:t>test.src</a:t>
            </a:r>
            <a:r>
              <a:rPr lang="zh-CN" altLang="en-US" b="1" dirty="0">
                <a:solidFill>
                  <a:srgbClr val="8B8B8B"/>
                </a:solidFill>
                <a:latin typeface="DeepSeek-CJK-patch"/>
              </a:rPr>
              <a:t>报错，请大家分析报错原因，作为实验三回答问题部分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CF3D4E-A714-464F-B4FD-F3725D653D56}"/>
              </a:ext>
            </a:extLst>
          </p:cNvPr>
          <p:cNvSpPr txBox="1"/>
          <p:nvPr/>
        </p:nvSpPr>
        <p:spPr bwMode="auto">
          <a:xfrm>
            <a:off x="415255" y="4957439"/>
            <a:ext cx="8547844" cy="83099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扩展</a:t>
            </a:r>
            <a:r>
              <a:rPr lang="en-US" altLang="zh-CN" dirty="0"/>
              <a:t>DFA</a:t>
            </a:r>
            <a:r>
              <a:rPr lang="zh-CN" altLang="en-US" dirty="0"/>
              <a:t>如下页所示，可接受</a:t>
            </a:r>
            <a:r>
              <a:rPr lang="en-US" altLang="zh-CN" dirty="0"/>
              <a:t>ID</a:t>
            </a:r>
            <a:r>
              <a:rPr lang="zh-CN" altLang="en-US" dirty="0"/>
              <a:t>，</a:t>
            </a:r>
            <a:r>
              <a:rPr lang="en-US" altLang="zh-CN" dirty="0"/>
              <a:t>NUM</a:t>
            </a:r>
            <a:r>
              <a:rPr lang="zh-CN" altLang="en-US" dirty="0"/>
              <a:t>和</a:t>
            </a:r>
            <a:r>
              <a:rPr lang="en-US" altLang="zh-CN" dirty="0"/>
              <a:t>OPERATOR</a:t>
            </a:r>
            <a:r>
              <a:rPr lang="zh-CN" altLang="en-US" dirty="0"/>
              <a:t>，这个</a:t>
            </a:r>
            <a:r>
              <a:rPr lang="en-US" altLang="zh-CN" dirty="0"/>
              <a:t>DFA</a:t>
            </a:r>
            <a:r>
              <a:rPr lang="zh-CN" altLang="en-US" dirty="0"/>
              <a:t>实现了四则运算。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8F903F-C7F3-4BD8-8159-8384645A6E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2092465"/>
            <a:ext cx="1759040" cy="6477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4012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2</a:t>
            </a:r>
            <a:endParaRPr lang="zh-CN" altLang="zh-CN" sz="2800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FF09CC-F1BA-48C4-95B2-41ED130DA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实验过程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49FCB0-48D1-4038-B925-A1D9B4EBBB0E}"/>
              </a:ext>
            </a:extLst>
          </p:cNvPr>
          <p:cNvSpPr/>
          <p:nvPr/>
        </p:nvSpPr>
        <p:spPr>
          <a:xfrm>
            <a:off x="489261" y="5288340"/>
            <a:ext cx="42351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DeepSeek-CJK-patch"/>
              </a:rPr>
              <a:t>回顾检查第一次实验的</a:t>
            </a:r>
            <a:r>
              <a:rPr lang="en-US" altLang="zh-CN" dirty="0">
                <a:latin typeface="DeepSeek-CJK-patch"/>
              </a:rPr>
              <a:t>DFA</a:t>
            </a:r>
            <a:r>
              <a:rPr lang="zh-CN" altLang="en-US" dirty="0">
                <a:latin typeface="DeepSeek-CJK-patch"/>
              </a:rPr>
              <a:t>，</a:t>
            </a:r>
            <a:r>
              <a:rPr lang="en-US" altLang="zh-CN" dirty="0">
                <a:latin typeface="DeepSeek-CJK-patch"/>
              </a:rPr>
              <a:t>DFA</a:t>
            </a:r>
            <a:r>
              <a:rPr lang="zh-CN" altLang="en-US" dirty="0">
                <a:latin typeface="DeepSeek-CJK-patch"/>
              </a:rPr>
              <a:t>的写法不固定，目的是实现</a:t>
            </a:r>
            <a:r>
              <a:rPr lang="en-US" altLang="zh-CN" dirty="0">
                <a:latin typeface="DeepSeek-CJK-patch"/>
              </a:rPr>
              <a:t>DFA</a:t>
            </a:r>
            <a:r>
              <a:rPr lang="zh-CN" altLang="en-US" dirty="0">
                <a:latin typeface="DeepSeek-CJK-patch"/>
              </a:rPr>
              <a:t>的五元组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C5E2543-A63E-45D1-A104-8A77ADB37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61" y="1385503"/>
            <a:ext cx="4445228" cy="379749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F39D787-151B-4A41-A68E-FFC907DF9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680" y="0"/>
            <a:ext cx="2413165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8F498C2-9B76-4605-8B67-6714678BA720}"/>
              </a:ext>
            </a:extLst>
          </p:cNvPr>
          <p:cNvSpPr/>
          <p:nvPr/>
        </p:nvSpPr>
        <p:spPr>
          <a:xfrm>
            <a:off x="5181600" y="1166842"/>
            <a:ext cx="13340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扩展</a:t>
            </a:r>
            <a:r>
              <a:rPr lang="en-US" altLang="zh-CN" dirty="0"/>
              <a:t>DFA </a:t>
            </a:r>
            <a:r>
              <a:rPr lang="zh-CN" altLang="en-US" dirty="0">
                <a:latin typeface="DeepSeek-CJK-patch"/>
              </a:rPr>
              <a:t>，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447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实验一和实验二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8E9A59-3054-4D9E-BC6C-84BA4861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实验过程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05FC67-4958-4139-B240-1BD87C604CC5}"/>
              </a:ext>
            </a:extLst>
          </p:cNvPr>
          <p:cNvSpPr/>
          <p:nvPr/>
        </p:nvSpPr>
        <p:spPr>
          <a:xfrm>
            <a:off x="651814" y="1350238"/>
            <a:ext cx="8077200" cy="970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：如何体现自己的标志，在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 ide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5000"/>
              </a:lnSpc>
              <a:spcAft>
                <a:spcPts val="0"/>
              </a:spcAft>
            </a:pPr>
            <a:endParaRPr lang="zh-CN" altLang="zh-CN" kern="100" dirty="0">
              <a:latin typeface="Cambria Math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AE2818-BCCD-4CDB-9C1A-D4991D10FA9E}"/>
              </a:ext>
            </a:extLst>
          </p:cNvPr>
          <p:cNvSpPr/>
          <p:nvPr/>
        </p:nvSpPr>
        <p:spPr>
          <a:xfrm>
            <a:off x="651814" y="4717702"/>
            <a:ext cx="8077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181818"/>
                </a:solidFill>
                <a:latin typeface="-apple-system"/>
              </a:rPr>
              <a:t>试一下修改</a:t>
            </a:r>
            <a:r>
              <a:rPr lang="en-US" altLang="zh-CN" sz="1800" dirty="0">
                <a:solidFill>
                  <a:srgbClr val="181818"/>
                </a:solidFill>
                <a:latin typeface="-apple-system"/>
              </a:rPr>
              <a:t>PS1</a:t>
            </a:r>
            <a:r>
              <a:rPr lang="zh-CN" altLang="en-US" sz="1800" dirty="0">
                <a:solidFill>
                  <a:srgbClr val="181818"/>
                </a:solidFill>
                <a:latin typeface="-apple-system"/>
              </a:rPr>
              <a:t>变量</a:t>
            </a:r>
            <a:r>
              <a:rPr lang="zh-CN" altLang="en-US" sz="1800" b="0" i="0" dirty="0">
                <a:solidFill>
                  <a:srgbClr val="181818"/>
                </a:solidFill>
                <a:effectLst/>
                <a:latin typeface="-apple-system"/>
              </a:rPr>
              <a:t>，是一种临时</a:t>
            </a:r>
            <a:r>
              <a:rPr lang="zh-CN" altLang="en-US" sz="1800" dirty="0">
                <a:solidFill>
                  <a:srgbClr val="181818"/>
                </a:solidFill>
                <a:latin typeface="-apple-system"/>
              </a:rPr>
              <a:t>修改变量方法，需要每次实验之前完成修改，报告贴截图的地方核对实验结果、</a:t>
            </a:r>
            <a:r>
              <a:rPr lang="en-US" altLang="zh-CN" sz="1800" dirty="0">
                <a:solidFill>
                  <a:srgbClr val="181818"/>
                </a:solidFill>
                <a:latin typeface="-apple-system"/>
              </a:rPr>
              <a:t>ps1</a:t>
            </a:r>
            <a:r>
              <a:rPr lang="zh-CN" altLang="en-US" sz="1800" dirty="0">
                <a:solidFill>
                  <a:srgbClr val="181818"/>
                </a:solidFill>
                <a:latin typeface="-apple-system"/>
              </a:rPr>
              <a:t>和报告提交人姓名</a:t>
            </a:r>
            <a:endParaRPr lang="zh-CN" altLang="en-US" sz="1800" b="0" i="0" dirty="0">
              <a:solidFill>
                <a:srgbClr val="181818"/>
              </a:solidFill>
              <a:effectLst/>
              <a:latin typeface="-apple-system"/>
            </a:endParaRPr>
          </a:p>
          <a:p>
            <a:br>
              <a:rPr lang="en-US" altLang="zh-CN" dirty="0"/>
            </a:br>
            <a:endParaRPr lang="zh-CN" altLang="zh-CN" kern="100" dirty="0">
              <a:latin typeface="Cambria Math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8A5237-4FC2-4124-A018-6C455F32D97C}"/>
              </a:ext>
            </a:extLst>
          </p:cNvPr>
          <p:cNvSpPr txBox="1"/>
          <p:nvPr/>
        </p:nvSpPr>
        <p:spPr bwMode="auto">
          <a:xfrm>
            <a:off x="674454" y="5410200"/>
            <a:ext cx="8077200" cy="10156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Bash</a:t>
            </a:r>
          </a:p>
          <a:p>
            <a:r>
              <a:rPr lang="en-US" altLang="zh-CN" sz="2000" b="1" dirty="0">
                <a:latin typeface="Monaco"/>
              </a:rPr>
              <a:t>export PS1="[\u@\</a:t>
            </a:r>
            <a:r>
              <a:rPr lang="en-US" altLang="zh-CN" sz="2000" b="1" dirty="0" err="1">
                <a:latin typeface="Monaco"/>
              </a:rPr>
              <a:t>daihuijun</a:t>
            </a:r>
            <a:r>
              <a:rPr lang="en-US" altLang="zh-CN" sz="2000" b="1" dirty="0">
                <a:latin typeface="Monaco"/>
              </a:rPr>
              <a:t> \W]\$ "  # </a:t>
            </a:r>
            <a:r>
              <a:rPr lang="zh-CN" altLang="en-US" sz="2000" b="1" dirty="0">
                <a:latin typeface="Monaco"/>
              </a:rPr>
              <a:t>示例格式：显示用户、主机名和当前目录</a:t>
            </a:r>
            <a:endParaRPr lang="zh-CN" altLang="en-US" sz="2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3C1EB9-87A9-4AB0-87B7-B7EE23DA7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14" y="1840932"/>
            <a:ext cx="8430802" cy="6096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B086FAE-C5F5-4E53-9A48-AD3A6E90DA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14" y="2450617"/>
            <a:ext cx="7087589" cy="22482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0409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2</a:t>
            </a:r>
            <a:r>
              <a:rPr lang="zh-CN" altLang="en-US" sz="2800" dirty="0"/>
              <a:t>内容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8E9A59-3054-4D9E-BC6C-84BA4861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实验过程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05FC67-4958-4139-B240-1BD87C604CC5}"/>
              </a:ext>
            </a:extLst>
          </p:cNvPr>
          <p:cNvSpPr/>
          <p:nvPr/>
        </p:nvSpPr>
        <p:spPr>
          <a:xfrm>
            <a:off x="651814" y="1350238"/>
            <a:ext cx="8077200" cy="96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25000"/>
              </a:lnSpc>
              <a:spcAft>
                <a:spcPts val="0"/>
              </a:spcAft>
            </a:pP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修改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DFA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运行时候可以解析任何一个源程序文件，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使其支持主文法，在后续验收可以通过随机编译测试。</a:t>
            </a:r>
            <a:endParaRPr lang="zh-CN" altLang="zh-CN" kern="100" dirty="0">
              <a:latin typeface="Cambria Math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AE2818-BCCD-4CDB-9C1A-D4991D10FA9E}"/>
              </a:ext>
            </a:extLst>
          </p:cNvPr>
          <p:cNvSpPr/>
          <p:nvPr/>
        </p:nvSpPr>
        <p:spPr>
          <a:xfrm>
            <a:off x="990600" y="2423772"/>
            <a:ext cx="75015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可以将输入的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json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换成其他格式，比如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text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csv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，正则表达式等</a:t>
            </a:r>
            <a:endParaRPr lang="en-US" altLang="zh-CN" sz="20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71DE3C4-3C9E-4FAA-B919-59D0F77A1DE6}"/>
              </a:ext>
            </a:extLst>
          </p:cNvPr>
          <p:cNvSpPr txBox="1">
            <a:spLocks/>
          </p:cNvSpPr>
          <p:nvPr/>
        </p:nvSpPr>
        <p:spPr bwMode="auto">
          <a:xfrm>
            <a:off x="320856" y="2964740"/>
            <a:ext cx="83302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Font typeface="Cambria Math" panose="02040503050406030204" pitchFamily="18" charset="0"/>
              <a:buChar char="⌲"/>
              <a:defRPr kumimoji="1" sz="2400" b="0">
                <a:solidFill>
                  <a:schemeClr val="tx1"/>
                </a:solidFill>
                <a:latin typeface="Cambria Math" panose="02040503050406030204" pitchFamily="18" charset="0"/>
                <a:ea typeface="仿宋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Font typeface="Cambria Math" panose="02040503050406030204" pitchFamily="18" charset="0"/>
              <a:buChar char="•"/>
              <a:defRPr kumimoji="1" sz="2400" b="0">
                <a:solidFill>
                  <a:srgbClr val="000000"/>
                </a:solidFill>
                <a:latin typeface="Cambria Math" panose="02040503050406030204" pitchFamily="18" charset="0"/>
                <a:ea typeface="仿宋" panose="0201060906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+mn-ea"/>
                <a:ea typeface="+mn-ea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b="0">
                <a:solidFill>
                  <a:srgbClr val="000000"/>
                </a:solidFill>
                <a:latin typeface="Garamond" pitchFamily="18" charset="0"/>
                <a:ea typeface="Garamond" pitchFamily="18" charset="0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5pPr>
            <a:lvl6pPr marL="2438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6pPr>
            <a:lvl7pPr marL="2895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7pPr>
            <a:lvl8pPr marL="3352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8pPr>
            <a:lvl9pPr marL="3810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9pPr>
          </a:lstStyle>
          <a:p>
            <a:r>
              <a:rPr lang="zh-CN" altLang="en-US" sz="2800" kern="0" dirty="0"/>
              <a:t>实验</a:t>
            </a:r>
            <a:r>
              <a:rPr lang="en-US" altLang="zh-CN" sz="2800" kern="0" dirty="0"/>
              <a:t>2</a:t>
            </a:r>
            <a:r>
              <a:rPr lang="zh-CN" altLang="en-US" sz="2800" kern="0" dirty="0"/>
              <a:t>报告提交</a:t>
            </a:r>
            <a:endParaRPr lang="zh-CN" altLang="zh-CN" sz="2800" kern="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D4A9EE-024B-4267-8394-633F431FC97C}"/>
              </a:ext>
            </a:extLst>
          </p:cNvPr>
          <p:cNvSpPr/>
          <p:nvPr/>
        </p:nvSpPr>
        <p:spPr>
          <a:xfrm>
            <a:off x="651814" y="3600855"/>
            <a:ext cx="8492186" cy="972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25000"/>
              </a:lnSpc>
              <a:spcAft>
                <a:spcPts val="0"/>
              </a:spcAft>
            </a:pP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ps1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，在终端、实例名称或者其他地方显示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，必做部分请提现一下，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C68950E1-BAF0-4E67-B809-5347AB422CE2}"/>
              </a:ext>
            </a:extLst>
          </p:cNvPr>
          <p:cNvSpPr txBox="1">
            <a:spLocks/>
          </p:cNvSpPr>
          <p:nvPr/>
        </p:nvSpPr>
        <p:spPr bwMode="auto">
          <a:xfrm>
            <a:off x="551850" y="4688757"/>
            <a:ext cx="827712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Font typeface="Cambria Math" panose="02040503050406030204" pitchFamily="18" charset="0"/>
              <a:buChar char="⌲"/>
              <a:defRPr kumimoji="1" sz="2400" b="0">
                <a:solidFill>
                  <a:schemeClr val="tx1"/>
                </a:solidFill>
                <a:latin typeface="Cambria Math" panose="02040503050406030204" pitchFamily="18" charset="0"/>
                <a:ea typeface="仿宋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Font typeface="Cambria Math" panose="02040503050406030204" pitchFamily="18" charset="0"/>
              <a:buChar char="•"/>
              <a:defRPr kumimoji="1" sz="2400" b="0">
                <a:solidFill>
                  <a:srgbClr val="000000"/>
                </a:solidFill>
                <a:latin typeface="Cambria Math" panose="02040503050406030204" pitchFamily="18" charset="0"/>
                <a:ea typeface="仿宋" panose="0201060906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+mn-ea"/>
                <a:ea typeface="+mn-ea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b="0">
                <a:solidFill>
                  <a:srgbClr val="000000"/>
                </a:solidFill>
                <a:latin typeface="Garamond" pitchFamily="18" charset="0"/>
                <a:ea typeface="Garamond" pitchFamily="18" charset="0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5pPr>
            <a:lvl6pPr marL="2438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6pPr>
            <a:lvl7pPr marL="2895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7pPr>
            <a:lvl8pPr marL="3352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8pPr>
            <a:lvl9pPr marL="3810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9pPr>
          </a:lstStyle>
          <a:p>
            <a:r>
              <a:rPr lang="en-US" altLang="zh-CN" sz="2800" kern="0" dirty="0"/>
              <a:t>AI</a:t>
            </a:r>
            <a:r>
              <a:rPr lang="zh-CN" altLang="en-US" sz="2800" kern="0" dirty="0"/>
              <a:t>赋能带来了更多更快的编程体验，因此评价的指标每年都在不断变化。</a:t>
            </a:r>
            <a:endParaRPr lang="zh-CN" altLang="zh-CN" sz="2800" kern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0394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3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8E9A59-3054-4D9E-BC6C-84BA4861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实验三任务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05FC67-4958-4139-B240-1BD87C604CC5}"/>
              </a:ext>
            </a:extLst>
          </p:cNvPr>
          <p:cNvSpPr/>
          <p:nvPr/>
        </p:nvSpPr>
        <p:spPr>
          <a:xfrm>
            <a:off x="499641" y="2245361"/>
            <a:ext cx="8077200" cy="975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25000"/>
              </a:lnSpc>
              <a:spcAft>
                <a:spcPts val="0"/>
              </a:spcAft>
            </a:pPr>
            <a:r>
              <a:rPr lang="zh-CN" altLang="en-US" dirty="0"/>
              <a:t>构建给定文法的</a:t>
            </a:r>
            <a:r>
              <a:rPr lang="en-US" altLang="zh-CN" dirty="0"/>
              <a:t>LR(0)</a:t>
            </a:r>
            <a:r>
              <a:rPr lang="zh-CN" altLang="en-US" dirty="0"/>
              <a:t>项目集规范族（</a:t>
            </a:r>
            <a:r>
              <a:rPr lang="en-US" altLang="zh-CN" dirty="0"/>
              <a:t>Canonical Collection of LR(0) Items</a:t>
            </a:r>
            <a:r>
              <a:rPr lang="zh-CN" altLang="en-US" dirty="0"/>
              <a:t>），为后续生成</a:t>
            </a:r>
            <a:r>
              <a:rPr lang="en-US" altLang="zh-CN" dirty="0"/>
              <a:t>SLR(1)</a:t>
            </a:r>
            <a:r>
              <a:rPr lang="zh-CN" altLang="en-US" dirty="0"/>
              <a:t>分析表提供基础。</a:t>
            </a:r>
            <a:endParaRPr lang="zh-CN" altLang="zh-CN" kern="100" dirty="0">
              <a:latin typeface="Cambria Math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AE2818-BCCD-4CDB-9C1A-D4991D10FA9E}"/>
              </a:ext>
            </a:extLst>
          </p:cNvPr>
          <p:cNvSpPr/>
          <p:nvPr/>
        </p:nvSpPr>
        <p:spPr>
          <a:xfrm>
            <a:off x="494306" y="3220884"/>
            <a:ext cx="87022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kern="100" dirty="0"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实验要求</a:t>
            </a:r>
            <a:endParaRPr lang="en-US" altLang="zh-CN" kern="100" dirty="0">
              <a:latin typeface="Cambria Math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1" dirty="0"/>
              <a:t>输入文法规则，支持扩展巴科斯范式（如 </a:t>
            </a:r>
            <a:r>
              <a:rPr lang="en-US" altLang="zh-CN" b="1" dirty="0"/>
              <a:t>E → E + T | T</a:t>
            </a:r>
            <a:r>
              <a:rPr lang="zh-CN" altLang="en-US" b="1" dirty="0"/>
              <a:t>）。</a:t>
            </a:r>
          </a:p>
          <a:p>
            <a:r>
              <a:rPr lang="zh-CN" altLang="en-US" b="1" dirty="0"/>
              <a:t>需要手动增广文法：添加新的起始产生式 </a:t>
            </a:r>
            <a:r>
              <a:rPr lang="en-US" altLang="zh-CN" b="1" dirty="0"/>
              <a:t>S' → S</a:t>
            </a:r>
            <a:r>
              <a:rPr lang="zh-CN" altLang="en-US" b="1" dirty="0"/>
              <a:t>（</a:t>
            </a:r>
            <a:r>
              <a:rPr lang="en-US" altLang="zh-CN" b="1" dirty="0"/>
              <a:t>S</a:t>
            </a:r>
            <a:r>
              <a:rPr lang="zh-CN" altLang="en-US" b="1" dirty="0"/>
              <a:t>为原文法起始符号）。</a:t>
            </a:r>
            <a:endParaRPr lang="en-US" altLang="zh-CN" b="1" dirty="0"/>
          </a:p>
          <a:p>
            <a:r>
              <a:rPr lang="zh-CN" altLang="en-US" b="1" dirty="0"/>
              <a:t>输出：生成</a:t>
            </a:r>
            <a:r>
              <a:rPr lang="en-US" altLang="zh-CN" b="1" dirty="0"/>
              <a:t>LR(0)</a:t>
            </a:r>
            <a:r>
              <a:rPr lang="zh-CN" altLang="en-US" b="1" dirty="0"/>
              <a:t>项目集规范族，</a:t>
            </a:r>
            <a:r>
              <a:rPr lang="zh-CN" altLang="en-US" dirty="0"/>
              <a:t>计算每个状态的闭包（</a:t>
            </a:r>
            <a:r>
              <a:rPr lang="en-US" altLang="zh-CN" dirty="0"/>
              <a:t>Closure</a:t>
            </a:r>
            <a:r>
              <a:rPr lang="zh-CN" altLang="en-US" dirty="0"/>
              <a:t>）和状态转移（</a:t>
            </a:r>
            <a:r>
              <a:rPr lang="en-US" altLang="zh-CN" dirty="0" err="1"/>
              <a:t>Goto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/>
              <a:t>输出所有项目集、如可以实现规范族的图形化表示（如状态编号和转移关系）。需要考虑是否属于</a:t>
            </a:r>
            <a:r>
              <a:rPr lang="en-US" altLang="zh-CN" dirty="0"/>
              <a:t>LR(0)</a:t>
            </a:r>
            <a:r>
              <a:rPr lang="zh-CN" altLang="en-US" dirty="0"/>
              <a:t>文法（无移进</a:t>
            </a:r>
            <a:r>
              <a:rPr lang="en-US" altLang="zh-CN" dirty="0"/>
              <a:t>-</a:t>
            </a:r>
            <a:r>
              <a:rPr lang="zh-CN" altLang="en-US" dirty="0"/>
              <a:t>归约或归约</a:t>
            </a:r>
            <a:r>
              <a:rPr lang="en-US" altLang="zh-CN" dirty="0"/>
              <a:t>-</a:t>
            </a:r>
            <a:r>
              <a:rPr lang="zh-CN" altLang="en-US" dirty="0"/>
              <a:t>归约冲突）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068E86-D828-4FF0-A3B1-51ED62C9C65B}"/>
              </a:ext>
            </a:extLst>
          </p:cNvPr>
          <p:cNvSpPr txBox="1"/>
          <p:nvPr/>
        </p:nvSpPr>
        <p:spPr bwMode="auto">
          <a:xfrm>
            <a:off x="494306" y="1382301"/>
            <a:ext cx="8324354" cy="83099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语法分析则以词法分析输出的单词序列为输入，依据语言的语法规则，构建出对应的语法分析表。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2402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658464"/>
            <a:ext cx="8277033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3</a:t>
            </a:r>
            <a:r>
              <a:rPr lang="zh-CN" altLang="en-US" sz="2800" dirty="0"/>
              <a:t>步骤</a:t>
            </a:r>
            <a:endParaRPr lang="zh-CN" altLang="zh-CN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515C36-6BBC-40ED-8719-35DBEE983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实验三任务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6158B3-B43B-4260-8364-8D7236E947F7}"/>
              </a:ext>
            </a:extLst>
          </p:cNvPr>
          <p:cNvSpPr/>
          <p:nvPr/>
        </p:nvSpPr>
        <p:spPr>
          <a:xfrm>
            <a:off x="609600" y="1371600"/>
            <a:ext cx="810098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增广文法</a:t>
            </a:r>
          </a:p>
          <a:p>
            <a:r>
              <a:rPr lang="zh-CN" altLang="en-US" dirty="0"/>
              <a:t>添加新的起始产生式 </a:t>
            </a:r>
            <a:r>
              <a:rPr lang="en-US" altLang="zh-CN" dirty="0"/>
              <a:t>S' → S</a:t>
            </a:r>
            <a:r>
              <a:rPr lang="zh-CN" altLang="en-US" dirty="0"/>
              <a:t>，确保文法有唯一接受状态。</a:t>
            </a:r>
          </a:p>
          <a:p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生成初始项目集</a:t>
            </a:r>
          </a:p>
          <a:p>
            <a:r>
              <a:rPr lang="zh-CN" altLang="en-US" dirty="0"/>
              <a:t>从增广文法的初始产生式 </a:t>
            </a:r>
            <a:r>
              <a:rPr lang="en-US" altLang="zh-CN" dirty="0"/>
              <a:t>S' → ·S </a:t>
            </a:r>
            <a:r>
              <a:rPr lang="zh-CN" altLang="en-US" dirty="0"/>
              <a:t>开始，构建初始项目集 </a:t>
            </a:r>
            <a:r>
              <a:rPr lang="en-US" altLang="zh-CN" dirty="0"/>
              <a:t>I0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en-US" altLang="zh-CN" dirty="0"/>
              <a:t>3. </a:t>
            </a:r>
            <a:r>
              <a:rPr lang="zh-CN" altLang="en-US" dirty="0"/>
              <a:t>计算闭包（</a:t>
            </a:r>
            <a:r>
              <a:rPr lang="en-US" altLang="zh-CN" dirty="0"/>
              <a:t>Closure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对每个项目集，递归添加所有可达的</a:t>
            </a:r>
            <a:r>
              <a:rPr lang="en-US" altLang="zh-CN" dirty="0"/>
              <a:t>LR(0)</a:t>
            </a:r>
            <a:r>
              <a:rPr lang="zh-CN" altLang="en-US" dirty="0"/>
              <a:t>项（如 </a:t>
            </a:r>
            <a:r>
              <a:rPr lang="en-US" altLang="zh-CN" dirty="0"/>
              <a:t>A → α·Bβ </a:t>
            </a:r>
            <a:r>
              <a:rPr lang="zh-CN" altLang="en-US" dirty="0"/>
              <a:t>需添加 </a:t>
            </a:r>
            <a:r>
              <a:rPr lang="en-US" altLang="zh-CN" dirty="0"/>
              <a:t>B → ·γ</a:t>
            </a:r>
            <a:r>
              <a:rPr lang="zh-CN" altLang="en-US" dirty="0"/>
              <a:t>）。</a:t>
            </a:r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1322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C5C1CAAB-2F99-403E-B9AA-D7FEF6ED4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404712"/>
            <a:ext cx="5767083" cy="448824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3</a:t>
            </a:r>
            <a:endParaRPr lang="zh-CN" altLang="zh-CN" sz="28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05FC67-4958-4139-B240-1BD87C604CC5}"/>
              </a:ext>
            </a:extLst>
          </p:cNvPr>
          <p:cNvSpPr/>
          <p:nvPr/>
        </p:nvSpPr>
        <p:spPr>
          <a:xfrm>
            <a:off x="433387" y="1277645"/>
            <a:ext cx="82771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计算转移（</a:t>
            </a:r>
            <a:r>
              <a:rPr lang="en-US" altLang="zh-CN" dirty="0" err="1"/>
              <a:t>Goto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对每个项目集和文法符号，计算转移后的新项目集。</a:t>
            </a:r>
          </a:p>
          <a:p>
            <a:endParaRPr lang="zh-CN" altLang="en-US" dirty="0"/>
          </a:p>
          <a:p>
            <a:r>
              <a:rPr lang="en-US" altLang="zh-CN" dirty="0"/>
              <a:t>5. </a:t>
            </a:r>
            <a:r>
              <a:rPr lang="zh-CN" altLang="en-US" dirty="0"/>
              <a:t>结果生成</a:t>
            </a:r>
          </a:p>
          <a:p>
            <a:r>
              <a:rPr lang="zh-CN" altLang="en-US" dirty="0"/>
              <a:t>重复步骤</a:t>
            </a:r>
            <a:r>
              <a:rPr lang="en-US" altLang="zh-CN" dirty="0"/>
              <a:t>3-4</a:t>
            </a:r>
            <a:r>
              <a:rPr lang="zh-CN" altLang="en-US" dirty="0"/>
              <a:t>，直到不再产生新项目集。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7A6EC4-CB44-4668-90E5-41D4B4EE7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实验三任务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6CCC2E-B10B-41A0-A8EA-AE91E145349F}"/>
              </a:ext>
            </a:extLst>
          </p:cNvPr>
          <p:cNvSpPr/>
          <p:nvPr/>
        </p:nvSpPr>
        <p:spPr>
          <a:xfrm>
            <a:off x="533400" y="320879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例如</a:t>
            </a:r>
            <a:endParaRPr lang="en-US" altLang="zh-CN" dirty="0"/>
          </a:p>
          <a:p>
            <a:r>
              <a:rPr lang="zh-CN" altLang="en-US" dirty="0"/>
              <a:t>S' → E</a:t>
            </a:r>
          </a:p>
          <a:p>
            <a:r>
              <a:rPr lang="zh-CN" altLang="en-US" dirty="0"/>
              <a:t>E → E + T | T</a:t>
            </a:r>
          </a:p>
          <a:p>
            <a:r>
              <a:rPr lang="zh-CN" altLang="en-US" dirty="0"/>
              <a:t>T → T * F | F</a:t>
            </a:r>
          </a:p>
          <a:p>
            <a:r>
              <a:rPr lang="zh-CN" altLang="en-US" dirty="0"/>
              <a:t>F → (E) | id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5394FC8-B758-43BA-BADA-83C41B08A7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3" y="5181600"/>
            <a:ext cx="4093509" cy="14317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86266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AFBAFC-67CA-4795-BFC1-262439616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461665"/>
          </a:xfrm>
        </p:spPr>
        <p:txBody>
          <a:bodyPr/>
          <a:lstStyle/>
          <a:p>
            <a:r>
              <a:rPr lang="en-US" altLang="zh-CN" b="1" dirty="0"/>
              <a:t>LR (0) </a:t>
            </a:r>
            <a:r>
              <a:rPr lang="zh-CN" altLang="en-US" b="1" dirty="0"/>
              <a:t>项目集（</a:t>
            </a:r>
            <a:r>
              <a:rPr lang="en-US" altLang="zh-CN" b="1" dirty="0"/>
              <a:t>Item Set</a:t>
            </a:r>
            <a:r>
              <a:rPr lang="zh-CN" altLang="en-US" b="1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及其转移关系</a:t>
            </a:r>
          </a:p>
        </p:txBody>
      </p:sp>
      <p:pic>
        <p:nvPicPr>
          <p:cNvPr id="4" name="Picture 8" descr="在这里插入图片描述">
            <a:extLst>
              <a:ext uri="{FF2B5EF4-FFF2-40B4-BE49-F238E27FC236}">
                <a16:creationId xmlns:a16="http://schemas.microsoft.com/office/drawing/2014/main" id="{02E4B6FD-7BD5-4839-9CED-239EC581D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48" y="1828800"/>
            <a:ext cx="8249503" cy="469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A96D7A3-CD71-4245-B6F4-D4F425BA7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实验三任务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8207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在这里插入图片描述">
            <a:extLst>
              <a:ext uri="{FF2B5EF4-FFF2-40B4-BE49-F238E27FC236}">
                <a16:creationId xmlns:a16="http://schemas.microsoft.com/office/drawing/2014/main" id="{31AA6B55-53D0-4A18-8B53-19ED15D07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04732"/>
            <a:ext cx="8249503" cy="469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1FB478E5-CF4F-4DB0-90EB-E7775EE0944D}"/>
              </a:ext>
            </a:extLst>
          </p:cNvPr>
          <p:cNvSpPr/>
          <p:nvPr/>
        </p:nvSpPr>
        <p:spPr bwMode="auto">
          <a:xfrm>
            <a:off x="914400" y="4800600"/>
            <a:ext cx="990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2A46F46-299E-4020-9FF0-43F46E133704}"/>
              </a:ext>
            </a:extLst>
          </p:cNvPr>
          <p:cNvSpPr/>
          <p:nvPr/>
        </p:nvSpPr>
        <p:spPr bwMode="auto">
          <a:xfrm>
            <a:off x="2971800" y="2247900"/>
            <a:ext cx="990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B591239-1072-4840-8BD7-7A36F4889830}"/>
              </a:ext>
            </a:extLst>
          </p:cNvPr>
          <p:cNvSpPr/>
          <p:nvPr/>
        </p:nvSpPr>
        <p:spPr bwMode="auto">
          <a:xfrm>
            <a:off x="2971800" y="1019508"/>
            <a:ext cx="990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FF1D12-4DC7-4355-A59E-FE1D02B6D336}"/>
              </a:ext>
            </a:extLst>
          </p:cNvPr>
          <p:cNvSpPr/>
          <p:nvPr/>
        </p:nvSpPr>
        <p:spPr>
          <a:xfrm>
            <a:off x="457200" y="5657671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/>
              <a:t>多个状态里同时存在归约和移进项目，或者多个归约项目，违反了 </a:t>
            </a:r>
            <a:r>
              <a:rPr lang="en-US" altLang="zh-CN" sz="1800" dirty="0"/>
              <a:t>LR (0) </a:t>
            </a:r>
            <a:r>
              <a:rPr lang="zh-CN" altLang="en-US" sz="1800" dirty="0"/>
              <a:t>项目集的定义，转移逻辑错误 </a:t>
            </a:r>
            <a:r>
              <a:rPr lang="en-US" altLang="zh-CN" sz="1800" dirty="0"/>
              <a:t>I₀ </a:t>
            </a:r>
            <a:r>
              <a:rPr lang="zh-CN" altLang="en-US" sz="1800" dirty="0"/>
              <a:t>到 </a:t>
            </a:r>
            <a:r>
              <a:rPr lang="en-US" altLang="zh-CN" sz="1800" dirty="0"/>
              <a:t>I₃ </a:t>
            </a:r>
            <a:r>
              <a:rPr lang="zh-CN" altLang="en-US" sz="1800" dirty="0"/>
              <a:t>的转移、</a:t>
            </a:r>
            <a:r>
              <a:rPr lang="en-US" altLang="zh-CN" sz="1800" dirty="0"/>
              <a:t>I₆ </a:t>
            </a:r>
            <a:r>
              <a:rPr lang="zh-CN" altLang="en-US" sz="1800" dirty="0"/>
              <a:t>到 </a:t>
            </a:r>
            <a:r>
              <a:rPr lang="en-US" altLang="zh-CN" sz="1800" dirty="0"/>
              <a:t>I₇ </a:t>
            </a:r>
            <a:r>
              <a:rPr lang="zh-CN" altLang="en-US" sz="1800" dirty="0"/>
              <a:t>的转移，都没有正确处理所有项目；项目闭包不完整；图里没有体现任何移进 </a:t>
            </a:r>
            <a:r>
              <a:rPr lang="en-US" altLang="zh-CN" sz="1800" dirty="0"/>
              <a:t>/ </a:t>
            </a:r>
            <a:r>
              <a:rPr lang="zh-CN" altLang="en-US" sz="1800" dirty="0"/>
              <a:t>归约冲突</a:t>
            </a:r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F7C460C4-97A8-4114-A631-3307A71D4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2909042"/>
            <a:ext cx="8642350" cy="2234458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261341-4F07-4E61-85B8-C584F2036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实验三任务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8414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64CF6-CAD9-4559-82A2-ADC1C21A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AFBAFC-67CA-4795-BFC1-262439616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96D7A3-CD71-4245-B6F4-D4F425BA7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作业讲解</a:t>
            </a:r>
            <a:endParaRPr lang="zh-CN" altLang="en-US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004466-BFEC-4BD3-990A-492D21873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7" y="981074"/>
            <a:ext cx="8947519" cy="51149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52975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8C5E2-BD2D-4FEB-B873-5664B847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F8C4CB-A1E6-4EE4-AF08-F8C755FF6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1" y="738187"/>
            <a:ext cx="5715000" cy="53816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8BA7801-23B7-4468-87BC-8249AE183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作业讲解</a:t>
            </a:r>
            <a:endParaRPr lang="zh-CN" altLang="en-US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2173006-02EF-4F24-AE29-5D4DE53C063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65175"/>
            <a:ext cx="4572000" cy="220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3857847" y="3584944"/>
                <a:ext cx="5303874" cy="2919645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rtlCol="0">
                <a:spAutoFit/>
              </a:bodyPr>
              <a:lstStyle/>
              <a:p>
                <a:pPr fontAlgn="ctr"/>
                <a:r>
                  <a:rPr lang="zh-CN" altLang="zh-CN" sz="2000" dirty="0"/>
                  <a:t>转移函数表示为</a:t>
                </a:r>
                <a14:m>
                  <m:oMath xmlns:m="http://schemas.openxmlformats.org/officeDocument/2006/math"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zh-CN" sz="2000" b="0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000" b="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zh-CN" altLang="zh-CN" sz="2000" b="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2000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zh-CN" sz="2000" b="0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acc>
                              <m:accPr>
                                <m:chr m:val="̅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acc>
                              <m:accPr>
                                <m:chr m:val="̅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r>
                          <a:rPr lang="zh-CN" altLang="zh-CN" sz="2000" b="0" i="1">
                            <a:latin typeface="Cambria Math" panose="02040503050406030204" pitchFamily="18" charset="0"/>
                          </a:rPr>
                          <m:t>，</m:t>
                        </m:r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zh-CN" sz="2000" b="0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acc>
                              <m:accPr>
                                <m:chr m:val="̅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000" b="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zh-CN" altLang="zh-CN" sz="2000" dirty="0"/>
              </a:p>
              <a:p>
                <a:pPr fontAlgn="ctr"/>
                <a14:m>
                  <m:oMath xmlns:m="http://schemas.openxmlformats.org/officeDocument/2006/math"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zh-CN" sz="2000" b="0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000" b="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zh-CN" altLang="zh-CN" sz="2000" b="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CN" sz="2000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zh-CN" altLang="zh-CN" sz="2000" b="0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acc>
                              <m:accPr>
                                <m:chr m:val="̅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r>
                          <a:rPr lang="zh-CN" altLang="zh-CN" sz="2000" b="0" i="1">
                            <a:latin typeface="Cambria Math" panose="02040503050406030204" pitchFamily="18" charset="0"/>
                          </a:rPr>
                          <m:t>，</m:t>
                        </m:r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zh-CN" altLang="zh-CN" sz="2000" b="0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000" b="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zh-CN" altLang="zh-CN" sz="2000" dirty="0"/>
              </a:p>
              <a:p>
                <a:pPr fontAlgn="ctr"/>
                <a:r>
                  <a:rPr lang="en-US" altLang="zh-CN" sz="2000" dirty="0"/>
                  <a:t> </a:t>
                </a:r>
                <a:endParaRPr lang="zh-CN" altLang="zh-CN" sz="2000" dirty="0"/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dirty="0">
                    <a:latin typeface="Times New Roman" pitchFamily="18" charset="0"/>
                  </a:rPr>
                  <a:t>一共是</a:t>
                </a:r>
                <a:r>
                  <a:rPr lang="en-US" altLang="zh-CN" dirty="0">
                    <a:latin typeface="Times New Roman" pitchFamily="18" charset="0"/>
                  </a:rPr>
                  <a:t>16</a:t>
                </a:r>
                <a:r>
                  <a:rPr lang="zh-CN" altLang="en-US" dirty="0">
                    <a:latin typeface="Times New Roman" pitchFamily="18" charset="0"/>
                  </a:rPr>
                  <a:t>个状态转移函数</a:t>
                </a:r>
                <a:endParaRPr lang="en-US" altLang="zh-CN" dirty="0">
                  <a:latin typeface="Times New Roman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dirty="0">
                    <a:latin typeface="Times New Roman" pitchFamily="18" charset="0"/>
                  </a:rPr>
                  <a:t>不管是多少种状态，</a:t>
                </a:r>
                <a:r>
                  <a:rPr lang="en-US" altLang="zh-CN" dirty="0">
                    <a:latin typeface="Times New Roman" pitchFamily="18" charset="0"/>
                  </a:rPr>
                  <a:t>16/32</a:t>
                </a:r>
                <a:r>
                  <a:rPr lang="zh-CN" altLang="en-US" dirty="0">
                    <a:latin typeface="Times New Roman" pitchFamily="18" charset="0"/>
                  </a:rPr>
                  <a:t>，转移函数和状态数要相一致。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7847" y="3584944"/>
                <a:ext cx="5303874" cy="2919645"/>
              </a:xfrm>
              <a:prstGeom prst="rect">
                <a:avLst/>
              </a:prstGeom>
              <a:blipFill>
                <a:blip r:embed="rId5"/>
                <a:stretch>
                  <a:fillRect l="-1720" t="-23285" r="-459" b="-3742"/>
                </a:stretch>
              </a:blip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97234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B54EB-61F7-4DEA-A43D-0C3ED1E7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11433E-9238-4454-8DB9-6F3E4B67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作业讲解</a:t>
            </a:r>
            <a:endParaRPr lang="zh-CN" altLang="en-US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87D69F-0D81-4A2D-A55F-C5CA17ABC8C5}"/>
              </a:ext>
            </a:extLst>
          </p:cNvPr>
          <p:cNvSpPr txBox="1"/>
          <p:nvPr/>
        </p:nvSpPr>
        <p:spPr bwMode="auto">
          <a:xfrm>
            <a:off x="609600" y="2973941"/>
            <a:ext cx="5791200" cy="46166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定点数是有小数点的数</a:t>
            </a:r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E67B2739-CFD7-4EF5-BC47-596D118B1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9165772" cy="2057400"/>
          </a:xfr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7AA46CB-D46F-4C8F-9D56-B6A021F0B2E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30075"/>
            <a:ext cx="2590800" cy="156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92660CB-8D9E-4431-8E56-017166C59C9F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704" y="3689911"/>
            <a:ext cx="2917825" cy="135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599F449-2BA6-4981-B02A-C2C6D2DEB7B1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733799"/>
            <a:ext cx="2819400" cy="12678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1091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B54EB-61F7-4DEA-A43D-0C3ED1E7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11433E-9238-4454-8DB9-6F3E4B67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作业讲解</a:t>
            </a:r>
            <a:endParaRPr lang="zh-CN" altLang="en-US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89F5BCEE-F186-4753-B635-D8C974401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20" y="999616"/>
            <a:ext cx="7957289" cy="1743583"/>
          </a:xfr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52800"/>
            <a:ext cx="883639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0912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58818C5-5C0E-495A-BC06-87AB5DE2A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3" y="3103048"/>
            <a:ext cx="4923809" cy="219047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13B54EB-61F7-4DEA-A43D-0C3ED1E7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F45796E-2B7D-4C5D-B437-76911428F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16" y="765175"/>
            <a:ext cx="7978984" cy="2194220"/>
          </a:xfr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011433E-9238-4454-8DB9-6F3E4B67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作业讲解</a:t>
            </a:r>
            <a:endParaRPr lang="zh-CN" altLang="en-US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7" name="图片 6" descr="D:\Wechatfile\xwechat_files\wxid_33vgdo95mzea22_2562\temp\InputTemp\c3adb9af-770b-4ec9-a04c-c0abdffcf4e5.png">
            <a:extLst>
              <a:ext uri="{FF2B5EF4-FFF2-40B4-BE49-F238E27FC236}">
                <a16:creationId xmlns:a16="http://schemas.microsoft.com/office/drawing/2014/main" id="{627F36C0-3172-40E6-A9E4-525431DF6A4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84398"/>
            <a:ext cx="3905250" cy="55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椭圆 2"/>
          <p:cNvSpPr/>
          <p:nvPr/>
        </p:nvSpPr>
        <p:spPr bwMode="auto">
          <a:xfrm>
            <a:off x="1143000" y="5410200"/>
            <a:ext cx="228600" cy="304800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F575CD-A02D-4297-A766-809FCC1EC390}"/>
              </a:ext>
            </a:extLst>
          </p:cNvPr>
          <p:cNvSpPr txBox="1"/>
          <p:nvPr/>
        </p:nvSpPr>
        <p:spPr bwMode="auto">
          <a:xfrm>
            <a:off x="177616" y="5147101"/>
            <a:ext cx="4064093" cy="120032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此次老师课堂更正字母表为</a:t>
            </a:r>
            <a:r>
              <a:rPr lang="en-US" altLang="zh-CN" b="1" dirty="0">
                <a:latin typeface="Times New Roman" pitchFamily="18" charset="0"/>
              </a:rPr>
              <a:t>{0</a:t>
            </a:r>
            <a:r>
              <a:rPr lang="zh-CN" altLang="en-US" b="1" dirty="0">
                <a:latin typeface="Times New Roman" pitchFamily="18" charset="0"/>
              </a:rPr>
              <a:t>，</a:t>
            </a:r>
            <a:r>
              <a:rPr lang="en-US" altLang="zh-CN" b="1" dirty="0">
                <a:latin typeface="Times New Roman" pitchFamily="18" charset="0"/>
              </a:rPr>
              <a:t>1</a:t>
            </a:r>
            <a:r>
              <a:rPr lang="zh-CN" altLang="en-US" b="1" dirty="0">
                <a:latin typeface="Times New Roman" pitchFamily="18" charset="0"/>
              </a:rPr>
              <a:t>，</a:t>
            </a:r>
            <a:r>
              <a:rPr lang="en-US" altLang="zh-CN" b="1" dirty="0">
                <a:latin typeface="Times New Roman" pitchFamily="18" charset="0"/>
              </a:rPr>
              <a:t>.}</a:t>
            </a:r>
            <a:r>
              <a:rPr lang="zh-CN" altLang="en-US" b="1" dirty="0">
                <a:latin typeface="Times New Roman" pitchFamily="18" charset="0"/>
              </a:rPr>
              <a:t>此处贴出的答案不是正确答案，是较为普遍的答案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774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B54EB-61F7-4DEA-A43D-0C3ED1E7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BE41BB9-CC7A-4C10-85CA-4017AAF07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72263"/>
            <a:ext cx="8238095" cy="1771429"/>
          </a:xfr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011433E-9238-4454-8DB9-6F3E4B67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作业讲解</a:t>
            </a:r>
            <a:endParaRPr lang="zh-CN" altLang="en-US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A218E43-D372-46EC-95B6-C949B76E9A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19400"/>
            <a:ext cx="7696200" cy="327648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4EB11E0-79F9-4378-829C-0D3496068453}"/>
              </a:ext>
            </a:extLst>
          </p:cNvPr>
          <p:cNvSpPr txBox="1"/>
          <p:nvPr/>
        </p:nvSpPr>
        <p:spPr bwMode="auto">
          <a:xfrm>
            <a:off x="1371600" y="2543692"/>
            <a:ext cx="5867400" cy="46166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此题几乎所有同学都答对了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7810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B54EB-61F7-4DEA-A43D-0C3ED1E7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156DEF-D7D5-49BE-B224-85412B3A1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11433E-9238-4454-8DB9-6F3E4B67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作业讲解</a:t>
            </a:r>
            <a:endParaRPr lang="zh-CN" altLang="en-US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7407D1-FFCD-423E-B1B0-662679B35E9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86" y="765175"/>
            <a:ext cx="7620000" cy="2858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0A65F7-D63D-4D25-B762-E7556340F41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39942"/>
            <a:ext cx="6858000" cy="9606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913B198-8710-4380-8935-E623FAD5086A}"/>
              </a:ext>
            </a:extLst>
          </p:cNvPr>
          <p:cNvSpPr txBox="1"/>
          <p:nvPr/>
        </p:nvSpPr>
        <p:spPr bwMode="auto">
          <a:xfrm>
            <a:off x="685800" y="5105400"/>
            <a:ext cx="5867400" cy="46166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第二问是</a:t>
            </a:r>
            <a:r>
              <a:rPr lang="en-US" altLang="zh-CN" b="1" dirty="0">
                <a:latin typeface="Times New Roman" pitchFamily="18" charset="0"/>
              </a:rPr>
              <a:t>20</a:t>
            </a:r>
            <a:r>
              <a:rPr lang="zh-CN" altLang="en-US" b="1" dirty="0">
                <a:latin typeface="Times New Roman" pitchFamily="18" charset="0"/>
              </a:rPr>
              <a:t>个串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0929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B54EB-61F7-4DEA-A43D-0C3ED1E7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1EF8669-354E-437D-B7E9-5139EFB3C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5175"/>
            <a:ext cx="8897974" cy="4850223"/>
          </a:xfr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011433E-9238-4454-8DB9-6F3E4B67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作业讲解</a:t>
            </a:r>
            <a:endParaRPr lang="zh-CN" altLang="en-US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1926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B54EB-61F7-4DEA-A43D-0C3ED1E7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156DEF-D7D5-49BE-B224-85412B3A1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904863"/>
          </a:xfrm>
        </p:spPr>
        <p:txBody>
          <a:bodyPr/>
          <a:lstStyle/>
          <a:p>
            <a:r>
              <a:rPr lang="zh-CN" altLang="en-US" dirty="0"/>
              <a:t>闭包是</a:t>
            </a:r>
            <a:r>
              <a:rPr lang="en-US" altLang="zh-CN" dirty="0"/>
              <a:t>{1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8}</a:t>
            </a:r>
          </a:p>
          <a:p>
            <a:r>
              <a:rPr lang="en-US" altLang="zh-CN" dirty="0"/>
              <a:t>DFA</a:t>
            </a:r>
            <a:r>
              <a:rPr lang="zh-CN" altLang="en-US" dirty="0"/>
              <a:t>状态缩减为三</a:t>
            </a:r>
            <a:r>
              <a:rPr lang="zh-CN" altLang="en-US"/>
              <a:t>种状态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11433E-9238-4454-8DB9-6F3E4B67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作业讲解</a:t>
            </a:r>
            <a:endParaRPr lang="zh-CN" altLang="en-US" sz="36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7409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77541143596233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17647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19759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2015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22006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23275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24506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25177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27421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28910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30555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31405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32496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33661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35692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36266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37706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38603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39454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40709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41811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43499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44737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46146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48283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49682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75411436505050"/>
</p:tagLst>
</file>

<file path=ppt/theme/theme1.xml><?xml version="1.0" encoding="utf-8"?>
<a:theme xmlns:a="http://schemas.openxmlformats.org/drawingml/2006/main" name="默认设计模板">
  <a:themeElements>
    <a:clrScheme name="默认设计模板 14">
      <a:dk1>
        <a:srgbClr val="000000"/>
      </a:dk1>
      <a:lt1>
        <a:srgbClr val="FFFFD9"/>
      </a:lt1>
      <a:dk2>
        <a:srgbClr val="000000"/>
      </a:dk2>
      <a:lt2>
        <a:srgbClr val="777777"/>
      </a:lt2>
      <a:accent1>
        <a:srgbClr val="F8F8F8"/>
      </a:accent1>
      <a:accent2>
        <a:srgbClr val="6600CC"/>
      </a:accent2>
      <a:accent3>
        <a:srgbClr val="FFFFE9"/>
      </a:accent3>
      <a:accent4>
        <a:srgbClr val="000000"/>
      </a:accent4>
      <a:accent5>
        <a:srgbClr val="FBFBFB"/>
      </a:accent5>
      <a:accent6>
        <a:srgbClr val="5C00B9"/>
      </a:accent6>
      <a:hlink>
        <a:srgbClr val="FF5050"/>
      </a:hlink>
      <a:folHlink>
        <a:srgbClr val="FF9900"/>
      </a:folHlink>
    </a:clrScheme>
    <a:fontScheme name="默认设计模板">
      <a:majorFont>
        <a:latin typeface="New Century Schoolbook"/>
        <a:ea typeface="仿宋_GB2312"/>
        <a:cs typeface=""/>
      </a:majorFont>
      <a:minorFont>
        <a:latin typeface="New Century Schoolbook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EFFEDA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6FEEA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8F8F8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BFBFB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ttymono03">
  <a:themeElements>
    <a:clrScheme name="bettymono03 5">
      <a:dk1>
        <a:srgbClr val="000000"/>
      </a:dk1>
      <a:lt1>
        <a:srgbClr val="FFFFFF"/>
      </a:lt1>
      <a:dk2>
        <a:srgbClr val="000066"/>
      </a:dk2>
      <a:lt2>
        <a:srgbClr val="CCFFFF"/>
      </a:lt2>
      <a:accent1>
        <a:srgbClr val="000068"/>
      </a:accent1>
      <a:accent2>
        <a:srgbClr val="2BD1B9"/>
      </a:accent2>
      <a:accent3>
        <a:srgbClr val="FFFFFF"/>
      </a:accent3>
      <a:accent4>
        <a:srgbClr val="000000"/>
      </a:accent4>
      <a:accent5>
        <a:srgbClr val="AAAAB9"/>
      </a:accent5>
      <a:accent6>
        <a:srgbClr val="26BDA7"/>
      </a:accent6>
      <a:hlink>
        <a:srgbClr val="87D7FF"/>
      </a:hlink>
      <a:folHlink>
        <a:srgbClr val="969696"/>
      </a:folHlink>
    </a:clrScheme>
    <a:fontScheme name="bettymono03">
      <a:majorFont>
        <a:latin typeface="New Century Schoolbook"/>
        <a:ea typeface="黑体"/>
        <a:cs typeface=""/>
      </a:majorFont>
      <a:minorFont>
        <a:latin typeface="New Century Schoolbook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  <a:headEnd/>
          <a:tailEnd/>
        </a:ln>
      </a:spPr>
      <a:bodyPr>
        <a:spAutoFit/>
      </a:bodyPr>
      <a:lstStyle>
        <a:defPPr marL="342900" indent="-342900" latinLnBrk="0">
          <a:spcBef>
            <a:spcPct val="20000"/>
          </a:spcBef>
          <a:buClr>
            <a:schemeClr val="accent2"/>
          </a:buClr>
          <a:buFont typeface="Wingdings" pitchFamily="2" charset="2"/>
          <a:buChar char="Ø"/>
          <a:defRPr sz="2400" dirty="0" smtClean="0">
            <a:latin typeface="Cambria Math" panose="02040503050406030204" pitchFamily="18" charset="0"/>
            <a:ea typeface="Cambria Math" panose="020405030504060302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  <a:txDef>
      <a:spPr bwMode="auto">
        <a:noFill/>
        <a:ln w="9525" algn="ctr">
          <a:solidFill>
            <a:schemeClr val="tx1"/>
          </a:solidFill>
          <a:miter lim="800000"/>
          <a:headEnd/>
          <a:tailEnd/>
        </a:ln>
      </a:spPr>
      <a:bodyPr/>
      <a:lstStyle>
        <a:defPPr eaLnBrk="1" hangingPunct="1">
          <a:spcBef>
            <a:spcPct val="50000"/>
          </a:spcBef>
          <a:defRPr b="1">
            <a:latin typeface="Times New Roman" pitchFamily="18" charset="0"/>
          </a:defRPr>
        </a:defPPr>
      </a:lstStyle>
    </a:txDef>
  </a:objectDefaults>
  <a:extraClrSchemeLst>
    <a:extraClrScheme>
      <a:clrScheme name="bettymono03 1">
        <a:dk1>
          <a:srgbClr val="000000"/>
        </a:dk1>
        <a:lt1>
          <a:srgbClr val="FFFFFF"/>
        </a:lt1>
        <a:dk2>
          <a:srgbClr val="000000"/>
        </a:dk2>
        <a:lt2>
          <a:srgbClr val="CCFFFF"/>
        </a:lt2>
        <a:accent1>
          <a:srgbClr val="0033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8A2D"/>
        </a:accent6>
        <a:hlink>
          <a:srgbClr val="6699FF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2">
        <a:dk1>
          <a:srgbClr val="000000"/>
        </a:dk1>
        <a:lt1>
          <a:srgbClr val="FFFFFF"/>
        </a:lt1>
        <a:dk2>
          <a:srgbClr val="000000"/>
        </a:dk2>
        <a:lt2>
          <a:srgbClr val="CCCCFF"/>
        </a:lt2>
        <a:accent1>
          <a:srgbClr val="3E009A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FAACA"/>
        </a:accent5>
        <a:accent6>
          <a:srgbClr val="E78A2D"/>
        </a:accent6>
        <a:hlink>
          <a:srgbClr val="FFE161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3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4240"/>
        </a:accent1>
        <a:accent2>
          <a:srgbClr val="7FBE00"/>
        </a:accent2>
        <a:accent3>
          <a:srgbClr val="FFFFFF"/>
        </a:accent3>
        <a:accent4>
          <a:srgbClr val="000000"/>
        </a:accent4>
        <a:accent5>
          <a:srgbClr val="AAB0AF"/>
        </a:accent5>
        <a:accent6>
          <a:srgbClr val="72AC00"/>
        </a:accent6>
        <a:hlink>
          <a:srgbClr val="FFFF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4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0000"/>
        </a:accent1>
        <a:accent2>
          <a:srgbClr val="33CC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B9E7"/>
        </a:accent6>
        <a:hlink>
          <a:srgbClr val="99FFCC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5">
        <a:dk1>
          <a:srgbClr val="000000"/>
        </a:dk1>
        <a:lt1>
          <a:srgbClr val="FFFFFF"/>
        </a:lt1>
        <a:dk2>
          <a:srgbClr val="000066"/>
        </a:dk2>
        <a:lt2>
          <a:srgbClr val="CCFFFF"/>
        </a:lt2>
        <a:accent1>
          <a:srgbClr val="000068"/>
        </a:accent1>
        <a:accent2>
          <a:srgbClr val="2BD1B9"/>
        </a:accent2>
        <a:accent3>
          <a:srgbClr val="FFFFFF"/>
        </a:accent3>
        <a:accent4>
          <a:srgbClr val="000000"/>
        </a:accent4>
        <a:accent5>
          <a:srgbClr val="AAAAB9"/>
        </a:accent5>
        <a:accent6>
          <a:srgbClr val="26BDA7"/>
        </a:accent6>
        <a:hlink>
          <a:srgbClr val="87D7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12307</TotalTime>
  <Words>979</Words>
  <Application>Microsoft Office PowerPoint</Application>
  <PresentationFormat>全屏显示(4:3)</PresentationFormat>
  <Paragraphs>99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6" baseType="lpstr">
      <vt:lpstr>-apple-system</vt:lpstr>
      <vt:lpstr>DeepSeek-CJK-patch</vt:lpstr>
      <vt:lpstr>Gulim</vt:lpstr>
      <vt:lpstr>Monaco</vt:lpstr>
      <vt:lpstr>New Century Schoolbook</vt:lpstr>
      <vt:lpstr>汉仪悠然体简</vt:lpstr>
      <vt:lpstr>楷体</vt:lpstr>
      <vt:lpstr>宋体</vt:lpstr>
      <vt:lpstr>Arial</vt:lpstr>
      <vt:lpstr>Calibri</vt:lpstr>
      <vt:lpstr>Cambria</vt:lpstr>
      <vt:lpstr>Cambria Math</vt:lpstr>
      <vt:lpstr>Garamond</vt:lpstr>
      <vt:lpstr>Gill Sans MT</vt:lpstr>
      <vt:lpstr>Tahoma</vt:lpstr>
      <vt:lpstr>Times New Roman</vt:lpstr>
      <vt:lpstr>Verdana</vt:lpstr>
      <vt:lpstr>Wingdings</vt:lpstr>
      <vt:lpstr>默认设计模板</vt:lpstr>
      <vt:lpstr>bettymono03</vt:lpstr>
      <vt:lpstr>编译器设计专题实验课2026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CUHK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andrejb</dc:creator>
  <cp:lastModifiedBy>Windows User</cp:lastModifiedBy>
  <cp:revision>628</cp:revision>
  <cp:lastPrinted>2011-10-10T03:21:30Z</cp:lastPrinted>
  <dcterms:created xsi:type="dcterms:W3CDTF">2010-10-06T02:55:19Z</dcterms:created>
  <dcterms:modified xsi:type="dcterms:W3CDTF">2026-04-30T23:31:55Z</dcterms:modified>
</cp:coreProperties>
</file>