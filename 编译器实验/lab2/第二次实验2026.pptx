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  <p:sldMasterId id="2147484111" r:id="rId2"/>
  </p:sldMasterIdLst>
  <p:notesMasterIdLst>
    <p:notesMasterId r:id="rId18"/>
  </p:notesMasterIdLst>
  <p:handoutMasterIdLst>
    <p:handoutMasterId r:id="rId19"/>
  </p:handoutMasterIdLst>
  <p:sldIdLst>
    <p:sldId id="322" r:id="rId3"/>
    <p:sldId id="1975" r:id="rId4"/>
    <p:sldId id="1901" r:id="rId5"/>
    <p:sldId id="2049" r:id="rId6"/>
    <p:sldId id="2045" r:id="rId7"/>
    <p:sldId id="2042" r:id="rId8"/>
    <p:sldId id="2052" r:id="rId9"/>
    <p:sldId id="2046" r:id="rId10"/>
    <p:sldId id="2054" r:id="rId11"/>
    <p:sldId id="2041" r:id="rId12"/>
    <p:sldId id="2044" r:id="rId13"/>
    <p:sldId id="2048" r:id="rId14"/>
    <p:sldId id="2050" r:id="rId15"/>
    <p:sldId id="2047" r:id="rId16"/>
    <p:sldId id="2051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1" clrIdx="0">
    <p:extLst>
      <p:ext uri="{19B8F6BF-5375-455C-9EA6-DF929625EA0E}">
        <p15:presenceInfo xmlns="" xmlns:p15="http://schemas.microsoft.com/office/powerpoint/2012/main" userId="Windows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FFCD"/>
    <a:srgbClr val="9900FF"/>
    <a:srgbClr val="CC99FF"/>
    <a:srgbClr val="FFFF99"/>
    <a:srgbClr val="FF0000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542" autoAdjust="0"/>
  </p:normalViewPr>
  <p:slideViewPr>
    <p:cSldViewPr>
      <p:cViewPr varScale="1">
        <p:scale>
          <a:sx n="114" d="100"/>
          <a:sy n="114" d="100"/>
        </p:scale>
        <p:origin x="-155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2742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E0476C6-A73D-4127-9355-983E64C22B03}" type="datetimeFigureOut">
              <a:rPr lang="zh-CN" altLang="en-US"/>
              <a:pPr/>
              <a:t>2026/4/20</a:t>
            </a:fld>
            <a:endParaRPr lang="en-US" altLang="zh-CN"/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499ECC-0CCF-4A71-814B-16DE56F04BF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84065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426FF10-905A-456B-8448-3C00A8879EA4}" type="datetimeFigureOut">
              <a:rPr lang="zh-CN" altLang="en-US"/>
              <a:pPr>
                <a:defRPr/>
              </a:pPr>
              <a:t>2026/4/20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CD789C0-5935-446E-B1F4-42F08822453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962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idu.com/s?wd=%E8%87%AA%E4%B8%8A%E8%80%8C%E4%B8%8B&amp;tn=24004469_oem_dg&amp;rsv_dl=gh_pl_sl_csd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="" xmlns:a16="http://schemas.microsoft.com/office/drawing/2014/main" id="{A7EF3B5C-6AF4-4146-A6CD-DD59E37753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>
            <a:extLst>
              <a:ext uri="{FF2B5EF4-FFF2-40B4-BE49-F238E27FC236}">
                <a16:creationId xmlns="" xmlns:a16="http://schemas.microsoft.com/office/drawing/2014/main" id="{2358F1D5-996F-4E0B-B12F-02D144919C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  <a:p>
            <a:r>
              <a:rPr lang="zh-CN" altLang="en-US"/>
              <a:t>实验课，设置</a:t>
            </a:r>
            <a:r>
              <a:rPr lang="en-US" altLang="zh-CN"/>
              <a:t>8</a:t>
            </a:r>
            <a:r>
              <a:rPr lang="zh-CN" altLang="en-US"/>
              <a:t>周时间，我们安排</a:t>
            </a:r>
            <a:r>
              <a:rPr lang="en-US" altLang="zh-CN"/>
              <a:t>6-8</a:t>
            </a:r>
            <a:r>
              <a:rPr lang="zh-CN" altLang="en-US"/>
              <a:t>次实验。</a:t>
            </a:r>
            <a:endParaRPr lang="en-US" altLang="zh-CN"/>
          </a:p>
          <a:p>
            <a:r>
              <a:rPr lang="zh-CN" altLang="en-US"/>
              <a:t>第一个问题：学形式语言与编译课程的用处是什么？深层次的对程序语言的理解。</a:t>
            </a:r>
            <a:endParaRPr lang="en-US" altLang="zh-CN"/>
          </a:p>
          <a:p>
            <a:r>
              <a:rPr lang="zh-CN" altLang="en-US"/>
              <a:t>一种语言有若干种描述方式：文法描述 通过严格定义的规则来构造语言中的每个合法句子，是一种生成式系统。自动机法是对一个句子进行合法性检验，当然也是通过一种逻辑推理系统，也就是自动机自动的完成整个检验过程。是一种判别式系统。文法描述是</a:t>
            </a:r>
            <a:r>
              <a:rPr lang="zh-CN" altLang="en-US">
                <a:hlinkClick r:id="rId3"/>
              </a:rPr>
              <a:t>自上而下</a:t>
            </a:r>
            <a:r>
              <a:rPr lang="zh-CN" altLang="en-US"/>
              <a:t>的宏观。自动机则是从微观向宏观。</a:t>
            </a:r>
            <a:endParaRPr lang="en-US" altLang="zh-CN"/>
          </a:p>
          <a:p>
            <a:r>
              <a:rPr lang="zh-CN" altLang="en-US"/>
              <a:t>第二个问题，编译器的实现过程是什么，从高级程序设计语言转换为机器可以理解的语言。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MIPS</a:t>
            </a:r>
            <a:r>
              <a:rPr lang="zh-CN" altLang="en-US"/>
              <a:t>处理器是八十年代中期</a:t>
            </a:r>
            <a:r>
              <a:rPr lang="en-US" altLang="zh-CN"/>
              <a:t>RISC CPU</a:t>
            </a:r>
            <a:r>
              <a:rPr lang="zh-CN" altLang="en-US"/>
              <a:t>设计的一大热点。</a:t>
            </a:r>
            <a:r>
              <a:rPr lang="en-US" altLang="zh-CN"/>
              <a:t>MIPS</a:t>
            </a:r>
            <a:r>
              <a:rPr lang="zh-CN" altLang="en-US"/>
              <a:t>是卖的最好的</a:t>
            </a:r>
            <a:r>
              <a:rPr lang="en-US" altLang="zh-CN"/>
              <a:t>RISC CPU</a:t>
            </a:r>
            <a:r>
              <a:rPr lang="zh-CN" altLang="en-US"/>
              <a:t>，</a:t>
            </a:r>
            <a:r>
              <a:rPr lang="en-US" altLang="zh-CN"/>
              <a:t>x86</a:t>
            </a:r>
            <a:r>
              <a:rPr lang="zh-CN" altLang="en-US"/>
              <a:t>是</a:t>
            </a:r>
            <a:r>
              <a:rPr lang="en-US" altLang="zh-CN"/>
              <a:t>cisc</a:t>
            </a:r>
            <a:endParaRPr lang="zh-CN" altLang="en-US"/>
          </a:p>
        </p:txBody>
      </p:sp>
      <p:sp>
        <p:nvSpPr>
          <p:cNvPr id="24580" name="灯片编号占位符 3">
            <a:extLst>
              <a:ext uri="{FF2B5EF4-FFF2-40B4-BE49-F238E27FC236}">
                <a16:creationId xmlns="" xmlns:a16="http://schemas.microsoft.com/office/drawing/2014/main" id="{712BD671-85DB-4309-A1E0-DA0152128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fld id="{AF1291FE-6967-429C-8F66-F872E76CEF6B}" type="slidenum">
              <a:rPr lang="zh-CN" altLang="en-US" b="0" smtClean="0">
                <a:solidFill>
                  <a:srgbClr val="1A1A4E"/>
                </a:solidFill>
                <a:ea typeface="黑体" panose="02010609060101010101" pitchFamily="49" charset="-122"/>
              </a:rPr>
              <a:pPr/>
              <a:t>2</a:t>
            </a:fld>
            <a:endParaRPr lang="zh-CN" altLang="en-US" b="0">
              <a:solidFill>
                <a:srgbClr val="1A1A4E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>
            <a:extLst>
              <a:ext uri="{FF2B5EF4-FFF2-40B4-BE49-F238E27FC236}">
                <a16:creationId xmlns="" xmlns:a16="http://schemas.microsoft.com/office/drawing/2014/main" id="{2FCB573B-57C9-49EA-9436-7005E4E120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备注占位符 2">
            <a:extLst>
              <a:ext uri="{FF2B5EF4-FFF2-40B4-BE49-F238E27FC236}">
                <a16:creationId xmlns="" xmlns:a16="http://schemas.microsoft.com/office/drawing/2014/main" id="{E2DA5335-165F-4938-A8AC-A1194F9BE8B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。</a:t>
            </a:r>
          </a:p>
        </p:txBody>
      </p:sp>
      <p:sp>
        <p:nvSpPr>
          <p:cNvPr id="29700" name="灯片编号占位符 3">
            <a:extLst>
              <a:ext uri="{FF2B5EF4-FFF2-40B4-BE49-F238E27FC236}">
                <a16:creationId xmlns="" xmlns:a16="http://schemas.microsoft.com/office/drawing/2014/main" id="{1C0D95A0-8BCA-430C-81F0-4CC7BFB85D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fld id="{32DF677A-BFB2-4C91-9740-F2204D2DB6E2}" type="slidenum">
              <a:rPr lang="zh-CN" altLang="en-US" b="0" smtClean="0">
                <a:solidFill>
                  <a:srgbClr val="1A1A4E"/>
                </a:solidFill>
                <a:ea typeface="黑体" panose="02010609060101010101" pitchFamily="49" charset="-122"/>
              </a:rPr>
              <a:pPr/>
              <a:t>3</a:t>
            </a:fld>
            <a:endParaRPr lang="zh-CN" altLang="en-US" b="0">
              <a:solidFill>
                <a:srgbClr val="1A1A4E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jpe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0822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5807FC17-1C9E-4F8C-88D9-D8DFD9B90ACA}" type="datetime1">
              <a:rPr lang="zh-CN" altLang="en-US"/>
              <a:pPr>
                <a:defRPr/>
              </a:pPr>
              <a:t>2026/4/20</a:t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3AAA4EE-6B8F-411D-B87F-93A159326F0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541AF8D-B3D7-4FE9-8B08-D6E788EE449C}" type="datetime1">
              <a:rPr lang="zh-CN" altLang="en-US"/>
              <a:pPr>
                <a:defRPr/>
              </a:pPr>
              <a:t>2026/4/20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075DC97-F21A-4696-89E7-FF9AD19932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Box 5"/>
          <p:cNvSpPr txBox="1"/>
          <p:nvPr userDrawn="1"/>
        </p:nvSpPr>
        <p:spPr>
          <a:xfrm>
            <a:off x="6839744" y="0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9pPr>
          </a:lstStyle>
          <a:p>
            <a:pPr algn="ctr"/>
            <a:r>
              <a:rPr lang="zh-CN" altLang="en-US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西安交通大学赵银亮</a:t>
            </a:r>
            <a:endParaRPr lang="en-US" altLang="zh-CN" sz="1600" dirty="0">
              <a:solidFill>
                <a:srgbClr val="FFCCCC"/>
              </a:solidFill>
              <a:latin typeface="汉仪悠然体简" pitchFamily="18" charset="-122"/>
              <a:ea typeface="汉仪悠然体简" pitchFamily="18" charset="-122"/>
            </a:endParaRPr>
          </a:p>
          <a:p>
            <a:pPr algn="ctr"/>
            <a:r>
              <a:rPr lang="en-US" altLang="zh-CN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《</a:t>
            </a:r>
            <a:r>
              <a:rPr lang="zh-CN" altLang="en-US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形式语言与编译</a:t>
            </a:r>
            <a:r>
              <a:rPr lang="en-US" altLang="zh-CN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》</a:t>
            </a:r>
            <a:endParaRPr lang="zh-CN" altLang="en-US" sz="1600" dirty="0">
              <a:solidFill>
                <a:srgbClr val="FFCCCC"/>
              </a:solidFill>
              <a:latin typeface="汉仪悠然体简" pitchFamily="18" charset="-122"/>
              <a:ea typeface="汉仪悠然体简" pitchFamily="18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89009D1-2B36-4D2C-9D4F-EEB90A38386D}" type="datetime1">
              <a:rPr lang="zh-CN" altLang="en-US"/>
              <a:pPr>
                <a:defRPr/>
              </a:pPr>
              <a:t>2026/4/20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AC66141-66F2-4D3B-9360-5D7AD8B02C0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981075"/>
            <a:ext cx="4208463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4713" y="981075"/>
            <a:ext cx="4208462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56D98F9-3672-4225-BC10-03EFCF7A32DE}" type="datetime1">
              <a:rPr lang="zh-CN" altLang="en-US"/>
              <a:pPr>
                <a:defRPr/>
              </a:pPr>
              <a:t>2026/4/20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BF9C476-AC91-4B5F-851C-25042C20474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E6CB3B0-AC19-4BCA-AE85-B2397647BE23}" type="datetime1">
              <a:rPr lang="zh-CN" altLang="en-US"/>
              <a:pPr>
                <a:defRPr/>
              </a:pPr>
              <a:t>2026/4/20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76BCCD4-78BB-4A98-A30D-917DE64AA5D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223DC6B-EEF4-4C7D-A9D8-DEDB8153002C}" type="datetime1">
              <a:rPr lang="zh-CN" altLang="en-US"/>
              <a:pPr>
                <a:defRPr/>
              </a:pPr>
              <a:t>2026/4/20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8EBE35-3097-4DFB-84D4-CDEEA36BEF8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0FC1E4C-9029-4E3A-8A14-797A659582D7}" type="datetime1">
              <a:rPr lang="zh-CN" altLang="en-US"/>
              <a:pPr>
                <a:defRPr/>
              </a:pPr>
              <a:t>2026/4/20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9A3ABF8-3BA0-4975-9C24-50B959923FF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C3716A0-C629-44EC-8886-F1982DF0A0FB}" type="datetime1">
              <a:rPr lang="zh-CN" altLang="en-US"/>
              <a:pPr>
                <a:defRPr/>
              </a:pPr>
              <a:t>2026/4/20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D5A54F0-219B-4885-8816-1DCB2C2284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CED0AC1-BFD7-4B0A-869E-9AA162B4CDBF}" type="datetime1">
              <a:rPr lang="zh-CN" altLang="en-US"/>
              <a:pPr>
                <a:defRPr/>
              </a:pPr>
              <a:t>2026/4/20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40F4B0B-157D-4EFD-9B70-7D87B5033A2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2AB5A83-C808-49D2-85F8-16A88CCA0D37}" type="datetime1">
              <a:rPr lang="zh-CN" altLang="en-US"/>
              <a:pPr>
                <a:defRPr/>
              </a:pPr>
              <a:t>2026/4/20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64A5DBD-A33A-4C1C-A1AB-EAA24CE91D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32588" y="44450"/>
            <a:ext cx="2160587" cy="6264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5" y="44450"/>
            <a:ext cx="6329363" cy="6264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3D344CE-E26C-45A2-8907-1CC7A50A90AC}" type="datetime1">
              <a:rPr lang="zh-CN" altLang="en-US"/>
              <a:pPr>
                <a:defRPr/>
              </a:pPr>
              <a:t>2026/4/20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F6A5130-3728-4351-9C9E-1B8D7B7D05B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44450"/>
            <a:ext cx="8642350" cy="720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23850" y="981075"/>
            <a:ext cx="8569325" cy="532765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3B9EBCD-1500-4B34-B597-18BC8D59A588}" type="datetime1">
              <a:rPr lang="zh-CN" altLang="en-US"/>
              <a:pPr>
                <a:defRPr/>
              </a:pPr>
              <a:t>2026/4/20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5868082-8011-4B9E-A200-46897186A18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ltGray"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52736"/>
            <a:ext cx="9144000" cy="2232025"/>
          </a:xfrm>
        </p:spPr>
        <p:txBody>
          <a:bodyPr/>
          <a:lstStyle>
            <a:lvl1pPr>
              <a:defRPr sz="4000" b="0">
                <a:solidFill>
                  <a:srgbClr val="FF0000"/>
                </a:solidFill>
                <a:latin typeface="Garamond" pitchFamily="18" charset="0"/>
                <a:ea typeface="+mj-ea"/>
              </a:defRPr>
            </a:lvl1pPr>
          </a:lstStyle>
          <a:p>
            <a:r>
              <a:rPr lang="en-US" altLang="ko-KR" dirty="0"/>
              <a:t>Click to edit Master title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221088"/>
            <a:ext cx="8686800" cy="49244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 dirty="0"/>
              <a:t>COMPANY LOGO</a:t>
            </a:r>
          </a:p>
        </p:txBody>
      </p:sp>
      <p:pic>
        <p:nvPicPr>
          <p:cNvPr id="12" name="Picture 2" descr="http://www.xjtu.edu.cn/img/logo_pic99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384"/>
            <a:ext cx="1824137" cy="47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585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Cambria Math" panose="02040503050406030204" pitchFamily="18" charset="0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2234458"/>
          </a:xfrm>
        </p:spPr>
        <p:txBody>
          <a:bodyPr/>
          <a:lstStyle>
            <a:lvl1pPr marL="342900" indent="-342900">
              <a:buClr>
                <a:schemeClr val="bg2">
                  <a:lumMod val="50000"/>
                </a:schemeClr>
              </a:buClr>
              <a:buFont typeface="Cambria Math" panose="02040503050406030204" pitchFamily="18" charset="0"/>
              <a:buChar char="⌲"/>
              <a:defRPr sz="2400" b="0">
                <a:latin typeface="Cambria Math" panose="02040503050406030204" pitchFamily="18" charset="0"/>
                <a:ea typeface="仿宋" panose="02010609060101010101" pitchFamily="49" charset="-122"/>
              </a:defRPr>
            </a:lvl1pPr>
            <a:lvl2pPr marL="742950" indent="-285750">
              <a:buClr>
                <a:schemeClr val="tx2">
                  <a:lumMod val="60000"/>
                  <a:lumOff val="40000"/>
                </a:schemeClr>
              </a:buClr>
              <a:buFont typeface="Cambria Math" panose="02040503050406030204" pitchFamily="18" charset="0"/>
              <a:buChar char="•"/>
              <a:defRPr sz="2400" b="0">
                <a:latin typeface="Cambria Math" panose="02040503050406030204" pitchFamily="18" charset="0"/>
                <a:ea typeface="仿宋" panose="02010609060101010101" pitchFamily="49" charset="-122"/>
              </a:defRPr>
            </a:lvl2pPr>
            <a:lvl3pPr>
              <a:buClr>
                <a:schemeClr val="accent3">
                  <a:lumMod val="75000"/>
                </a:schemeClr>
              </a:buClr>
              <a:defRPr>
                <a:latin typeface="+mn-ea"/>
                <a:ea typeface="+mn-ea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249" y="6597352"/>
            <a:ext cx="516255" cy="209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4" cstate="print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0" t="23318" r="10626" b="24722"/>
          <a:stretch/>
        </p:blipFill>
        <p:spPr>
          <a:xfrm>
            <a:off x="8283332" y="44624"/>
            <a:ext cx="825172" cy="28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435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4244975" cy="2346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244975" cy="2346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82082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7786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7496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0"/>
            <a:ext cx="8713787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250825" y="981075"/>
            <a:ext cx="8642350" cy="461665"/>
          </a:xfrm>
        </p:spPr>
        <p:txBody>
          <a:bodyPr/>
          <a:lstStyle>
            <a:lvl1pPr marL="342900" indent="-342900">
              <a:buFont typeface="Wingdings" pitchFamily="2" charset="2"/>
              <a:buChar char="Ø"/>
              <a:defRPr/>
            </a:lvl1pPr>
          </a:lstStyle>
          <a:p>
            <a:pPr lvl="0"/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55759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173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7.png"/><Relationship Id="rId5" Type="http://schemas.openxmlformats.org/officeDocument/2006/relationships/slideLayout" Target="../slideLayouts/slideLayout17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AF5FE"/>
            </a:gs>
            <a:gs pos="50000">
              <a:srgbClr val="FFFFFF"/>
            </a:gs>
            <a:gs pos="100000">
              <a:srgbClr val="DAF5FE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图片1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44450"/>
            <a:ext cx="864235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981075"/>
            <a:ext cx="8569325" cy="532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61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373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0" hangingPunct="1">
              <a:defRPr kumimoji="0" sz="1400">
                <a:solidFill>
                  <a:srgbClr val="99FFCC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547A495-6F0F-40D1-8022-D8CF4A5D3462}" type="datetime1">
              <a:rPr lang="zh-CN" altLang="en-US"/>
              <a:pPr>
                <a:defRPr/>
              </a:pPr>
              <a:t>2026/4/20</a:t>
            </a:fld>
            <a:endParaRPr lang="en-US" altLang="zh-CN"/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3730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0" hangingPunct="1">
              <a:defRPr kumimoji="0" sz="14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61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373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0" hangingPunct="1">
              <a:defRPr kumimoji="0" sz="14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74C855A-3850-4EA8-9BE2-1AAA9218916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06185" name="Rectangle 9"/>
          <p:cNvSpPr>
            <a:spLocks noChangeArrowheads="1"/>
          </p:cNvSpPr>
          <p:nvPr userDrawn="1"/>
        </p:nvSpPr>
        <p:spPr bwMode="auto">
          <a:xfrm>
            <a:off x="0" y="765175"/>
            <a:ext cx="9144000" cy="76200"/>
          </a:xfrm>
          <a:prstGeom prst="rect">
            <a:avLst/>
          </a:prstGeom>
          <a:gradFill rotWithShape="1">
            <a:gsLst>
              <a:gs pos="0">
                <a:srgbClr val="000068"/>
              </a:gs>
              <a:gs pos="100000">
                <a:srgbClr val="6600CC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latinLnBrk="1" hangingPunct="1">
              <a:defRPr/>
            </a:pPr>
            <a:endParaRPr kumimoji="1" lang="zh-CN" altLang="en-US" sz="1800">
              <a:solidFill>
                <a:srgbClr val="000000"/>
              </a:solidFill>
              <a:latin typeface="Gulim" pitchFamily="34" charset="-127"/>
              <a:ea typeface="Gulim" pitchFamily="34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  <p:sldLayoutId id="2147484110" r:id="rId12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10000"/>
        </a:spcAft>
        <a:buBlip>
          <a:blip r:embed="rId15"/>
        </a:buBlip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10000"/>
        </a:spcBef>
        <a:spcAft>
          <a:spcPct val="10000"/>
        </a:spcAft>
        <a:buBlip>
          <a:blip r:embed="rId16"/>
        </a:buBlip>
        <a:defRPr sz="2600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5000"/>
        </a:spcBef>
        <a:spcAft>
          <a:spcPct val="5000"/>
        </a:spcAft>
        <a:buClr>
          <a:srgbClr val="FF9900"/>
        </a:buClr>
        <a:buFont typeface="Wingdings" pitchFamily="2" charset="2"/>
        <a:buBlip>
          <a:blip r:embed="rId17"/>
        </a:buBlip>
        <a:defRPr sz="2400">
          <a:solidFill>
            <a:schemeClr val="tx1"/>
          </a:solidFill>
          <a:latin typeface="Times New Roman" pitchFamily="18" charset="0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9" descr="图片1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6452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31750"/>
          </a:effec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179388" y="0"/>
            <a:ext cx="8713787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981075"/>
            <a:ext cx="8642350" cy="1791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dirty="0"/>
              <a:t> </a:t>
            </a:r>
            <a:r>
              <a:rPr lang="en-US" altLang="zh-CN" dirty="0"/>
              <a:t>Click to edit Master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pic>
        <p:nvPicPr>
          <p:cNvPr id="7" name="Picture 2" descr="http://www.xjtu.edu.cn/img/logo_pic99.pn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384"/>
            <a:ext cx="1824137" cy="47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53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13" r:id="rId2"/>
    <p:sldLayoutId id="2147484114" r:id="rId3"/>
    <p:sldLayoutId id="2147484115" r:id="rId4"/>
    <p:sldLayoutId id="2147484116" r:id="rId5"/>
    <p:sldLayoutId id="2147484117" r:id="rId6"/>
    <p:sldLayoutId id="2147484118" r:id="rId7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accent1"/>
          </a:solidFill>
          <a:latin typeface="Cambria Math" panose="02040503050406030204" pitchFamily="18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Tx/>
        <a:buFont typeface="Cambria Math" panose="02040503050406030204" pitchFamily="18" charset="0"/>
        <a:buChar char="▻"/>
        <a:defRPr kumimoji="1" sz="2400" b="0">
          <a:solidFill>
            <a:schemeClr val="tx1"/>
          </a:solidFill>
          <a:latin typeface="Cambria Math" panose="02040503050406030204" pitchFamily="18" charset="0"/>
          <a:ea typeface="仿宋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80"/>
        </a:buClr>
        <a:buFont typeface="Cambria Math" panose="02040503050406030204" pitchFamily="18" charset="0"/>
        <a:buChar char="⥼"/>
        <a:defRPr kumimoji="1" sz="2400" b="0">
          <a:solidFill>
            <a:srgbClr val="000000"/>
          </a:solidFill>
          <a:latin typeface="Cambria Math" panose="02040503050406030204" pitchFamily="18" charset="0"/>
          <a:ea typeface="仿宋" panose="0201060906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400" b="0">
          <a:solidFill>
            <a:srgbClr val="000000"/>
          </a:solidFill>
          <a:latin typeface="Garamond" pitchFamily="18" charset="0"/>
          <a:ea typeface="Garamond" pitchFamily="18" charset="0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005263"/>
            <a:ext cx="8686800" cy="2160587"/>
          </a:xfrm>
        </p:spPr>
        <p:txBody>
          <a:bodyPr/>
          <a:lstStyle/>
          <a:p>
            <a:pPr eaLnBrk="1" hangingPunct="1"/>
            <a:endParaRPr lang="en-US" altLang="zh-C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/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2026.04</a:t>
            </a:r>
            <a:endParaRPr lang="en-US" altLang="zh-C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Cambria" panose="02040503050406030204" pitchFamily="18" charset="0"/>
                <a:ea typeface="Cambria" panose="02040503050406030204" pitchFamily="18" charset="0"/>
              </a:rPr>
              <a:t>编译器设计专题实验课</a:t>
            </a:r>
            <a:r>
              <a:rPr lang="en-US" altLang="zh-CN" dirty="0" smtClean="0">
                <a:latin typeface="Cambria" panose="02040503050406030204" pitchFamily="18" charset="0"/>
                <a:ea typeface="Cambria" panose="02040503050406030204" pitchFamily="18" charset="0"/>
              </a:rPr>
              <a:t>2026</a:t>
            </a:r>
            <a:endParaRPr lang="en-US" altLang="zh-C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矩形 7">
            <a:extLst>
              <a:ext uri="{FF2B5EF4-FFF2-40B4-BE49-F238E27FC236}">
                <a16:creationId xmlns="" xmlns:a16="http://schemas.microsoft.com/office/drawing/2014/main" id="{FFA895B5-DA8A-4D6F-A721-A7E40AE5D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80" y="878695"/>
            <a:ext cx="74247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AutoNum type="arabicPeriod"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</a:rPr>
              <a:t>关于考勤</a:t>
            </a:r>
            <a:endParaRPr lang="en-US" altLang="zh-CN" sz="20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23559" name="矩形 3">
            <a:extLst>
              <a:ext uri="{FF2B5EF4-FFF2-40B4-BE49-F238E27FC236}">
                <a16:creationId xmlns="" xmlns:a16="http://schemas.microsoft.com/office/drawing/2014/main" id="{A764C69B-DAC3-4774-94A9-B53D2AA64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-7938"/>
            <a:ext cx="4897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第一次实验反馈</a:t>
            </a:r>
            <a:endParaRPr lang="en-US" altLang="zh-CN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23560" name="矩形 7">
            <a:extLst>
              <a:ext uri="{FF2B5EF4-FFF2-40B4-BE49-F238E27FC236}">
                <a16:creationId xmlns="" xmlns:a16="http://schemas.microsoft.com/office/drawing/2014/main" id="{0E40D9F0-D2BB-4DF2-ABD9-6767B1167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110" y="1614036"/>
            <a:ext cx="81382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签到考勤信息</a:t>
            </a:r>
            <a:endParaRPr lang="en-US" altLang="zh-CN" sz="20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矩形 11">
            <a:extLst>
              <a:ext uri="{FF2B5EF4-FFF2-40B4-BE49-F238E27FC236}">
                <a16:creationId xmlns="" xmlns:a16="http://schemas.microsoft.com/office/drawing/2014/main" id="{6B9140FB-0FE0-43AE-A9FB-46740F6F7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221" y="2227992"/>
            <a:ext cx="475561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签到时间为课程安排的时间段之内，如</a:t>
            </a: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今天下午</a:t>
            </a:r>
            <a:r>
              <a:rPr lang="en-US" altLang="zh-CN" sz="20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点到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6</a:t>
            </a: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点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之间均有效</a:t>
            </a:r>
            <a:endParaRPr lang="en-US" altLang="zh-CN" sz="20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="" xmlns:a16="http://schemas.microsoft.com/office/drawing/2014/main" id="{173B61B2-A5D3-479B-8C8A-DC8601408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249" y="3106509"/>
            <a:ext cx="464175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 关于作业，思源学堂作业上传已经开启，关于留言，有时候忘记回复，可以多提醒我。</a:t>
            </a:r>
            <a:endParaRPr lang="en-US" altLang="zh-CN" sz="20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2A6A0478-785A-4CA7-866B-ECEE3FE86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249" y="4292803"/>
            <a:ext cx="477659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3.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必做和选做，必做部分必须完成，选做部分不完全限定，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ppt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上的选做可以作为选做部分参考内容，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AI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赋能、选做空间非常大 </a:t>
            </a:r>
            <a:endParaRPr lang="en-US" altLang="zh-CN" sz="20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eaLnBrk="1" hangingPunct="1"/>
            <a:endParaRPr lang="en-US" altLang="zh-CN" sz="20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67147C80-0E2B-4829-8136-2DC60947BC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263" y="-7938"/>
            <a:ext cx="4075094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矩形 8">
            <a:extLst>
              <a:ext uri="{FF2B5EF4-FFF2-40B4-BE49-F238E27FC236}">
                <a16:creationId xmlns="" xmlns:a16="http://schemas.microsoft.com/office/drawing/2014/main" id="{7950541C-874C-40B1-94DF-BB47045C6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914400"/>
            <a:ext cx="86645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2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关于理论作业和服务器存在的问题</a:t>
            </a:r>
            <a:endParaRPr lang="en-US" altLang="zh-CN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矩形 3">
            <a:extLst>
              <a:ext uri="{FF2B5EF4-FFF2-40B4-BE49-F238E27FC236}">
                <a16:creationId xmlns="" xmlns:a16="http://schemas.microsoft.com/office/drawing/2014/main" id="{EC0C41DD-7258-4492-8445-B9D6375C6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-7938"/>
            <a:ext cx="4897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第一次实验反馈</a:t>
            </a:r>
            <a:endParaRPr lang="en-US" altLang="zh-CN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="" xmlns:a16="http://schemas.microsoft.com/office/drawing/2014/main" id="{ACB05DDC-0C9B-47F0-A3EA-CBB06BAB1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101" y="1500849"/>
            <a:ext cx="503629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鲲鹏服务器配置：周四开始配置，每天都会添加用户，大家后来在群里反馈后发现出现各种问题，配置没有成功。</a:t>
            </a:r>
            <a:endParaRPr lang="en-US" altLang="zh-CN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C2660F0D-60A6-457D-A1C7-0B9C5BFC2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319" y="3264864"/>
            <a:ext cx="2019048" cy="281904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0BAFE928-EE1A-4F9A-ACB0-4B6D76B712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100" y="4159453"/>
            <a:ext cx="6429739" cy="77779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F8C4E13B-891A-4DE8-A7D0-26AEDBEE65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57055"/>
            <a:ext cx="3579965" cy="301063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89E72BCF-79BC-4677-9CEF-CB15A50EF1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22" y="3264864"/>
            <a:ext cx="6166905" cy="737273"/>
          </a:xfrm>
          <a:prstGeom prst="rect">
            <a:avLst/>
          </a:prstGeom>
        </p:spPr>
      </p:pic>
      <p:sp>
        <p:nvSpPr>
          <p:cNvPr id="16" name="矩形 8">
            <a:extLst>
              <a:ext uri="{FF2B5EF4-FFF2-40B4-BE49-F238E27FC236}">
                <a16:creationId xmlns="" xmlns:a16="http://schemas.microsoft.com/office/drawing/2014/main" id="{19666EF1-5BAC-467A-8CDB-6AE1AFCEC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40" y="4997815"/>
            <a:ext cx="669796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有百名同学申请账号，一一处理和解决报错时间不允许，所以请学委或者班长帮忙处理本班同学。</a:t>
            </a:r>
            <a:endParaRPr lang="en-US" altLang="zh-CN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827018"/>
            <a:ext cx="8277128" cy="523220"/>
          </a:xfrm>
        </p:spPr>
        <p:txBody>
          <a:bodyPr/>
          <a:lstStyle/>
          <a:p>
            <a:pPr lvl="0"/>
            <a:r>
              <a:rPr lang="zh-CN" altLang="en-US" sz="2800" dirty="0"/>
              <a:t>实验</a:t>
            </a:r>
            <a:r>
              <a:rPr lang="en-US" altLang="zh-CN" sz="2800" dirty="0"/>
              <a:t>1</a:t>
            </a:r>
            <a:endParaRPr lang="zh-CN" altLang="zh-CN" sz="2800" dirty="0"/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805FC67-4958-4139-B240-1BD87C604CC5}"/>
              </a:ext>
            </a:extLst>
          </p:cNvPr>
          <p:cNvSpPr/>
          <p:nvPr/>
        </p:nvSpPr>
        <p:spPr>
          <a:xfrm>
            <a:off x="533400" y="1350238"/>
            <a:ext cx="8277128" cy="981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lnSpc>
                <a:spcPct val="125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181818"/>
                </a:solidFill>
                <a:latin typeface="-apple-system"/>
              </a:rPr>
              <a:t>完成</a:t>
            </a:r>
            <a:r>
              <a:rPr lang="en-US" altLang="zh-CN" dirty="0">
                <a:solidFill>
                  <a:srgbClr val="181818"/>
                </a:solidFill>
                <a:latin typeface="-apple-system"/>
              </a:rPr>
              <a:t>DFA</a:t>
            </a:r>
            <a:r>
              <a:rPr lang="zh-CN" altLang="en-US" dirty="0">
                <a:solidFill>
                  <a:srgbClr val="181818"/>
                </a:solidFill>
                <a:latin typeface="-apple-system"/>
              </a:rPr>
              <a:t>，要求有输入和输出截图</a:t>
            </a:r>
            <a:endParaRPr lang="en-US" altLang="zh-CN" dirty="0">
              <a:solidFill>
                <a:srgbClr val="181818"/>
              </a:solidFill>
              <a:latin typeface="-apple-system"/>
            </a:endParaRPr>
          </a:p>
          <a:p>
            <a:pPr indent="266700">
              <a:lnSpc>
                <a:spcPct val="125000"/>
              </a:lnSpc>
              <a:spcAft>
                <a:spcPts val="0"/>
              </a:spcAft>
            </a:pPr>
            <a:endParaRPr lang="zh-CN" altLang="zh-CN" dirty="0">
              <a:solidFill>
                <a:srgbClr val="4D4D4D"/>
              </a:solidFill>
              <a:latin typeface="-apple-system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="" xmlns:a16="http://schemas.microsoft.com/office/drawing/2014/main" id="{71B45795-45CC-42A7-8CB3-B4FEF9F6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58" y="195704"/>
            <a:ext cx="8713787" cy="765175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D42BFB3F-BC38-4F99-99A0-9823DE3AC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26" y="2007476"/>
            <a:ext cx="4445228" cy="3797495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="" xmlns:a16="http://schemas.microsoft.com/office/drawing/2014/main" id="{2F3E376A-EE0C-4259-8B56-69CE1A714251}"/>
              </a:ext>
            </a:extLst>
          </p:cNvPr>
          <p:cNvSpPr/>
          <p:nvPr/>
        </p:nvSpPr>
        <p:spPr bwMode="auto">
          <a:xfrm>
            <a:off x="7696200" y="2916931"/>
            <a:ext cx="609600" cy="609600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tlCol="0" anchor="ctr">
            <a:spAutoFit/>
          </a:bodyPr>
          <a:lstStyle/>
          <a:p>
            <a:pPr marL="342900" indent="-342900" algn="ctr" latinLnBrk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="" xmlns:a16="http://schemas.microsoft.com/office/drawing/2014/main" id="{CE6AC893-8DD2-4F1B-8FF8-B01DABBC870A}"/>
              </a:ext>
            </a:extLst>
          </p:cNvPr>
          <p:cNvSpPr/>
          <p:nvPr/>
        </p:nvSpPr>
        <p:spPr bwMode="auto">
          <a:xfrm>
            <a:off x="6597241" y="2091690"/>
            <a:ext cx="609600" cy="649188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algn="ctr" latinLnBrk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="" xmlns:a16="http://schemas.microsoft.com/office/drawing/2014/main" id="{C181C0F2-AA8F-4C54-88CD-F441892E77BD}"/>
              </a:ext>
            </a:extLst>
          </p:cNvPr>
          <p:cNvSpPr/>
          <p:nvPr/>
        </p:nvSpPr>
        <p:spPr bwMode="auto">
          <a:xfrm>
            <a:off x="5694723" y="2897137"/>
            <a:ext cx="609600" cy="649188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algn="ctr" latinLnBrk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="" xmlns:a16="http://schemas.microsoft.com/office/drawing/2014/main" id="{3F818E61-B8A8-4BB1-B4A2-B71F10DA9E12}"/>
              </a:ext>
            </a:extLst>
          </p:cNvPr>
          <p:cNvSpPr/>
          <p:nvPr/>
        </p:nvSpPr>
        <p:spPr bwMode="auto">
          <a:xfrm>
            <a:off x="6741246" y="3506737"/>
            <a:ext cx="609600" cy="649188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algn="ctr" latinLnBrk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="" xmlns:a16="http://schemas.microsoft.com/office/drawing/2014/main" id="{B0ACE8F2-AC3C-432F-AE48-E0F735F1752F}"/>
              </a:ext>
            </a:extLst>
          </p:cNvPr>
          <p:cNvSpPr/>
          <p:nvPr/>
        </p:nvSpPr>
        <p:spPr bwMode="auto">
          <a:xfrm>
            <a:off x="7747215" y="2897137"/>
            <a:ext cx="609600" cy="649188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algn="ctr" latinLnBrk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6" name="连接符: 曲线 15">
            <a:extLst>
              <a:ext uri="{FF2B5EF4-FFF2-40B4-BE49-F238E27FC236}">
                <a16:creationId xmlns="" xmlns:a16="http://schemas.microsoft.com/office/drawing/2014/main" id="{E866B0B2-5E07-4FFA-A8EC-37D100BC7C4A}"/>
              </a:ext>
            </a:extLst>
          </p:cNvPr>
          <p:cNvCxnSpPr>
            <a:stCxn id="12" idx="0"/>
          </p:cNvCxnSpPr>
          <p:nvPr/>
        </p:nvCxnSpPr>
        <p:spPr bwMode="auto">
          <a:xfrm rot="5400000" flipH="1" flipV="1">
            <a:off x="6025899" y="2273359"/>
            <a:ext cx="597403" cy="650154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连接符: 曲线 16">
            <a:extLst>
              <a:ext uri="{FF2B5EF4-FFF2-40B4-BE49-F238E27FC236}">
                <a16:creationId xmlns="" xmlns:a16="http://schemas.microsoft.com/office/drawing/2014/main" id="{CDDCA4F2-99F7-4DED-90FA-7B1E191C8C15}"/>
              </a:ext>
            </a:extLst>
          </p:cNvPr>
          <p:cNvCxnSpPr>
            <a:cxnSpLocks/>
            <a:stCxn id="12" idx="4"/>
          </p:cNvCxnSpPr>
          <p:nvPr/>
        </p:nvCxnSpPr>
        <p:spPr bwMode="auto">
          <a:xfrm rot="16200000" flipH="1">
            <a:off x="6213564" y="3332283"/>
            <a:ext cx="369565" cy="797647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连接符: 曲线 19">
            <a:extLst>
              <a:ext uri="{FF2B5EF4-FFF2-40B4-BE49-F238E27FC236}">
                <a16:creationId xmlns="" xmlns:a16="http://schemas.microsoft.com/office/drawing/2014/main" id="{3253E269-46AD-4702-98C3-0F86A4DA3E4B}"/>
              </a:ext>
            </a:extLst>
          </p:cNvPr>
          <p:cNvCxnSpPr>
            <a:cxnSpLocks/>
            <a:endCxn id="14" idx="0"/>
          </p:cNvCxnSpPr>
          <p:nvPr/>
        </p:nvCxnSpPr>
        <p:spPr bwMode="auto">
          <a:xfrm>
            <a:off x="7190965" y="2299734"/>
            <a:ext cx="861050" cy="597403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连接符: 曲线 25">
            <a:extLst>
              <a:ext uri="{FF2B5EF4-FFF2-40B4-BE49-F238E27FC236}">
                <a16:creationId xmlns="" xmlns:a16="http://schemas.microsoft.com/office/drawing/2014/main" id="{5AE716E3-E6E5-4BA3-8B58-FF9052B8D725}"/>
              </a:ext>
            </a:extLst>
          </p:cNvPr>
          <p:cNvCxnSpPr>
            <a:cxnSpLocks/>
            <a:stCxn id="13" idx="6"/>
            <a:endCxn id="14" idx="4"/>
          </p:cNvCxnSpPr>
          <p:nvPr/>
        </p:nvCxnSpPr>
        <p:spPr bwMode="auto">
          <a:xfrm flipV="1">
            <a:off x="7350846" y="3546325"/>
            <a:ext cx="701169" cy="285006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" name="椭圆 28">
            <a:extLst>
              <a:ext uri="{FF2B5EF4-FFF2-40B4-BE49-F238E27FC236}">
                <a16:creationId xmlns="" xmlns:a16="http://schemas.microsoft.com/office/drawing/2014/main" id="{80E2CE77-C91E-4B09-A014-0FF5494BB860}"/>
              </a:ext>
            </a:extLst>
          </p:cNvPr>
          <p:cNvSpPr/>
          <p:nvPr/>
        </p:nvSpPr>
        <p:spPr bwMode="auto">
          <a:xfrm>
            <a:off x="7794726" y="2958476"/>
            <a:ext cx="514578" cy="498843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algn="ctr" latinLnBrk="0">
              <a:spcBef>
                <a:spcPct val="20000"/>
              </a:spcBef>
              <a:buClr>
                <a:schemeClr val="accent2"/>
              </a:buClr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="" xmlns:a16="http://schemas.microsoft.com/office/drawing/2014/main" id="{0CADA3E5-675A-4FC2-93A6-ED55FB565724}"/>
              </a:ext>
            </a:extLst>
          </p:cNvPr>
          <p:cNvSpPr txBox="1"/>
          <p:nvPr/>
        </p:nvSpPr>
        <p:spPr bwMode="auto">
          <a:xfrm>
            <a:off x="5999523" y="2438400"/>
            <a:ext cx="3048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Times New Roman" pitchFamily="18" charset="0"/>
              </a:rPr>
              <a:t>a</a:t>
            </a:r>
            <a:endParaRPr lang="zh-CN" altLang="en-US" b="1" dirty="0">
              <a:latin typeface="Times New Roman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="" xmlns:a16="http://schemas.microsoft.com/office/drawing/2014/main" id="{321EC082-466B-412D-AF44-ADCCABD63C2A}"/>
              </a:ext>
            </a:extLst>
          </p:cNvPr>
          <p:cNvSpPr txBox="1"/>
          <p:nvPr/>
        </p:nvSpPr>
        <p:spPr bwMode="auto">
          <a:xfrm>
            <a:off x="7590003" y="2226319"/>
            <a:ext cx="3048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Times New Roman" pitchFamily="18" charset="0"/>
              </a:rPr>
              <a:t>a</a:t>
            </a:r>
            <a:endParaRPr lang="zh-CN" altLang="en-US" b="1" dirty="0">
              <a:latin typeface="Times New Roman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="" xmlns:a16="http://schemas.microsoft.com/office/drawing/2014/main" id="{C2A98D82-C2DF-437E-B90C-D7E68421D8F3}"/>
              </a:ext>
            </a:extLst>
          </p:cNvPr>
          <p:cNvSpPr txBox="1"/>
          <p:nvPr/>
        </p:nvSpPr>
        <p:spPr bwMode="auto">
          <a:xfrm>
            <a:off x="6265536" y="3615801"/>
            <a:ext cx="3048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Times New Roman" pitchFamily="18" charset="0"/>
              </a:rPr>
              <a:t>b</a:t>
            </a:r>
            <a:endParaRPr lang="zh-CN" altLang="en-US" b="1" dirty="0">
              <a:latin typeface="Times New Roman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="" xmlns:a16="http://schemas.microsoft.com/office/drawing/2014/main" id="{9B13FBE3-900A-4E27-84C0-9B83AD2339A8}"/>
              </a:ext>
            </a:extLst>
          </p:cNvPr>
          <p:cNvSpPr txBox="1"/>
          <p:nvPr/>
        </p:nvSpPr>
        <p:spPr bwMode="auto">
          <a:xfrm>
            <a:off x="7553549" y="3589439"/>
            <a:ext cx="3048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Times New Roman" pitchFamily="18" charset="0"/>
              </a:rPr>
              <a:t>b</a:t>
            </a:r>
            <a:endParaRPr lang="zh-CN" altLang="en-US" b="1" dirty="0">
              <a:latin typeface="Times New Roman" pitchFamily="18" charset="0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="" xmlns:a16="http://schemas.microsoft.com/office/drawing/2014/main" id="{6E91B1FB-D3E9-4333-9668-5DB29E03DABD}"/>
              </a:ext>
            </a:extLst>
          </p:cNvPr>
          <p:cNvCxnSpPr>
            <a:cxnSpLocks/>
            <a:stCxn id="13" idx="1"/>
            <a:endCxn id="11" idx="3"/>
          </p:cNvCxnSpPr>
          <p:nvPr/>
        </p:nvCxnSpPr>
        <p:spPr bwMode="auto">
          <a:xfrm flipH="1" flipV="1">
            <a:off x="6686515" y="2645807"/>
            <a:ext cx="144005" cy="9560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连接符: 曲线 41">
            <a:extLst>
              <a:ext uri="{FF2B5EF4-FFF2-40B4-BE49-F238E27FC236}">
                <a16:creationId xmlns="" xmlns:a16="http://schemas.microsoft.com/office/drawing/2014/main" id="{B8E64610-3B0B-4619-9180-1962077A9C4B}"/>
              </a:ext>
            </a:extLst>
          </p:cNvPr>
          <p:cNvCxnSpPr>
            <a:cxnSpLocks/>
            <a:stCxn id="11" idx="6"/>
            <a:endCxn id="13" idx="7"/>
          </p:cNvCxnSpPr>
          <p:nvPr/>
        </p:nvCxnSpPr>
        <p:spPr bwMode="auto">
          <a:xfrm>
            <a:off x="7206841" y="2416284"/>
            <a:ext cx="54731" cy="1185524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9" name="文本框 48">
            <a:extLst>
              <a:ext uri="{FF2B5EF4-FFF2-40B4-BE49-F238E27FC236}">
                <a16:creationId xmlns="" xmlns:a16="http://schemas.microsoft.com/office/drawing/2014/main" id="{61F2A448-3935-4CA8-9CC2-44A4CED89DD3}"/>
              </a:ext>
            </a:extLst>
          </p:cNvPr>
          <p:cNvSpPr txBox="1"/>
          <p:nvPr/>
        </p:nvSpPr>
        <p:spPr bwMode="auto">
          <a:xfrm>
            <a:off x="6528662" y="2866751"/>
            <a:ext cx="3048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Times New Roman" pitchFamily="18" charset="0"/>
              </a:rPr>
              <a:t>a</a:t>
            </a:r>
            <a:endParaRPr lang="zh-CN" altLang="en-US" b="1" dirty="0">
              <a:latin typeface="Times New Roman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="" xmlns:a16="http://schemas.microsoft.com/office/drawing/2014/main" id="{B95ED33F-0122-449A-924C-863325A0B228}"/>
              </a:ext>
            </a:extLst>
          </p:cNvPr>
          <p:cNvSpPr txBox="1"/>
          <p:nvPr/>
        </p:nvSpPr>
        <p:spPr bwMode="auto">
          <a:xfrm>
            <a:off x="7074489" y="2920980"/>
            <a:ext cx="3048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Times New Roman" pitchFamily="18" charset="0"/>
              </a:rPr>
              <a:t>b</a:t>
            </a:r>
            <a:endParaRPr lang="zh-CN" altLang="en-US" b="1" dirty="0">
              <a:latin typeface="Times New Roman" pitchFamily="18" charset="0"/>
            </a:endParaRPr>
          </a:p>
        </p:txBody>
      </p:sp>
      <p:cxnSp>
        <p:nvCxnSpPr>
          <p:cNvPr id="52" name="连接符: 曲线 51">
            <a:extLst>
              <a:ext uri="{FF2B5EF4-FFF2-40B4-BE49-F238E27FC236}">
                <a16:creationId xmlns="" xmlns:a16="http://schemas.microsoft.com/office/drawing/2014/main" id="{BBC85ED2-BA1F-4CDB-97AF-313B4457CC58}"/>
              </a:ext>
            </a:extLst>
          </p:cNvPr>
          <p:cNvCxnSpPr>
            <a:cxnSpLocks/>
            <a:stCxn id="29" idx="6"/>
            <a:endCxn id="29" idx="7"/>
          </p:cNvCxnSpPr>
          <p:nvPr/>
        </p:nvCxnSpPr>
        <p:spPr bwMode="auto">
          <a:xfrm flipH="1" flipV="1">
            <a:off x="8233946" y="3031530"/>
            <a:ext cx="75358" cy="176368"/>
          </a:xfrm>
          <a:prstGeom prst="curvedConnector4">
            <a:avLst>
              <a:gd name="adj1" fmla="val -566049"/>
              <a:gd name="adj2" fmla="val 27103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5" name="文本框 54">
            <a:extLst>
              <a:ext uri="{FF2B5EF4-FFF2-40B4-BE49-F238E27FC236}">
                <a16:creationId xmlns="" xmlns:a16="http://schemas.microsoft.com/office/drawing/2014/main" id="{EA143403-B47D-4F16-9A71-E55405C45ADC}"/>
              </a:ext>
            </a:extLst>
          </p:cNvPr>
          <p:cNvSpPr txBox="1"/>
          <p:nvPr/>
        </p:nvSpPr>
        <p:spPr bwMode="auto">
          <a:xfrm>
            <a:off x="8334243" y="2457151"/>
            <a:ext cx="594602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 err="1">
                <a:latin typeface="Times New Roman" pitchFamily="18" charset="0"/>
              </a:rPr>
              <a:t>a|b</a:t>
            </a:r>
            <a:endParaRPr lang="zh-CN" altLang="en-US" b="1" dirty="0">
              <a:latin typeface="Times New Roman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="" xmlns:a16="http://schemas.microsoft.com/office/drawing/2014/main" id="{6481FB46-F4C2-4859-86E5-1FEC74C08C44}"/>
              </a:ext>
            </a:extLst>
          </p:cNvPr>
          <p:cNvSpPr txBox="1"/>
          <p:nvPr/>
        </p:nvSpPr>
        <p:spPr bwMode="auto">
          <a:xfrm>
            <a:off x="548326" y="5824765"/>
            <a:ext cx="8380519" cy="94006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04800" algn="just">
              <a:lnSpc>
                <a:spcPct val="120000"/>
              </a:lnSpc>
            </a:pP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根据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DFA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和可接受字符，以及长度限制可以获得词法单元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20000"/>
              </a:lnSpc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例如本例的词法单元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矩形 3">
            <a:extLst>
              <a:ext uri="{FF2B5EF4-FFF2-40B4-BE49-F238E27FC236}">
                <a16:creationId xmlns="" xmlns:a16="http://schemas.microsoft.com/office/drawing/2014/main" id="{E7829D6D-F8DC-4A3B-B82C-5B00A4AA2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-7938"/>
            <a:ext cx="4897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第一次实验反馈</a:t>
            </a:r>
            <a:endParaRPr lang="en-US" altLang="zh-CN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351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827018"/>
            <a:ext cx="8277128" cy="5952399"/>
          </a:xfrm>
        </p:spPr>
        <p:txBody>
          <a:bodyPr/>
          <a:lstStyle/>
          <a:p>
            <a:pPr lvl="0"/>
            <a:r>
              <a:rPr lang="zh-CN" altLang="en-US" sz="2800" dirty="0"/>
              <a:t>实验一 词法分析组合</a:t>
            </a:r>
            <a:r>
              <a:rPr lang="en-US" altLang="zh-CN" sz="2800" dirty="0"/>
              <a:t>DFA</a:t>
            </a:r>
          </a:p>
          <a:p>
            <a:pPr lvl="0"/>
            <a:r>
              <a:rPr lang="zh-CN" altLang="en-US" sz="2800" dirty="0"/>
              <a:t>实验二 词法分析器</a:t>
            </a:r>
            <a:r>
              <a:rPr lang="en-US" altLang="zh-CN" sz="2800" dirty="0" smtClean="0"/>
              <a:t>scanner</a:t>
            </a:r>
            <a:r>
              <a:rPr lang="zh-CN" altLang="en-US" sz="2800" dirty="0"/>
              <a:t>实现</a:t>
            </a:r>
            <a:endParaRPr lang="en-US" altLang="zh-CN" sz="2800" dirty="0"/>
          </a:p>
          <a:p>
            <a:pPr lvl="0"/>
            <a:r>
              <a:rPr lang="zh-CN" altLang="en-US" sz="2800" dirty="0"/>
              <a:t>实验三 语法分析</a:t>
            </a:r>
            <a:r>
              <a:rPr lang="en-US" altLang="zh-CN" sz="2800" dirty="0"/>
              <a:t>LR(0)</a:t>
            </a:r>
            <a:r>
              <a:rPr lang="zh-CN" altLang="en-US" sz="2800" dirty="0"/>
              <a:t>规范集设计实现</a:t>
            </a:r>
            <a:endParaRPr lang="en-US" altLang="zh-CN" sz="2800" dirty="0"/>
          </a:p>
          <a:p>
            <a:pPr lvl="0"/>
            <a:r>
              <a:rPr lang="zh-CN" altLang="en-US" sz="2800" dirty="0"/>
              <a:t>实验四 语法分析写出</a:t>
            </a:r>
            <a:r>
              <a:rPr lang="en-US" altLang="zh-CN" sz="2800" dirty="0"/>
              <a:t>SLR(1)</a:t>
            </a:r>
            <a:r>
              <a:rPr lang="zh-CN" altLang="en-US" sz="2800" dirty="0"/>
              <a:t>分析表</a:t>
            </a:r>
            <a:endParaRPr lang="en-US" altLang="zh-CN" sz="2800" dirty="0"/>
          </a:p>
          <a:p>
            <a:pPr lvl="0"/>
            <a:r>
              <a:rPr lang="zh-CN" altLang="en-US" sz="2800" dirty="0"/>
              <a:t>实验五 语义分析实现</a:t>
            </a:r>
            <a:r>
              <a:rPr lang="en-US" altLang="zh-CN" sz="2800" dirty="0"/>
              <a:t>SLR</a:t>
            </a:r>
            <a:r>
              <a:rPr lang="zh-CN" altLang="en-US" sz="2800" dirty="0"/>
              <a:t>引导的语义分析框架</a:t>
            </a:r>
            <a:endParaRPr lang="en-US" altLang="zh-CN" sz="2800" dirty="0"/>
          </a:p>
          <a:p>
            <a:pPr lvl="0"/>
            <a:r>
              <a:rPr lang="zh-CN" altLang="en-US" sz="2800" dirty="0"/>
              <a:t>实验六 中间代码生成，设计属性文法、使用符号表进行语法翻译实现中间代码</a:t>
            </a:r>
            <a:endParaRPr lang="en-US" altLang="zh-CN" sz="2800" dirty="0"/>
          </a:p>
          <a:p>
            <a:pPr lvl="0"/>
            <a:r>
              <a:rPr lang="zh-CN" altLang="en-US" sz="2800" dirty="0"/>
              <a:t>实验七运行时环境，设计存储格式、 构建内存映像</a:t>
            </a:r>
            <a:endParaRPr lang="en-US" altLang="zh-CN" sz="2800" dirty="0"/>
          </a:p>
          <a:p>
            <a:pPr lvl="0"/>
            <a:r>
              <a:rPr lang="zh-CN" altLang="en-US" sz="2800" dirty="0"/>
              <a:t>实验八产生调用活动记录的代码序列产生可执行代码</a:t>
            </a:r>
          </a:p>
          <a:p>
            <a:pPr lvl="0"/>
            <a:r>
              <a:rPr lang="zh-CN" altLang="en-US" sz="2800" dirty="0"/>
              <a:t>验收从第</a:t>
            </a:r>
            <a:r>
              <a:rPr lang="en-US" altLang="zh-CN" sz="2800" dirty="0"/>
              <a:t>7</a:t>
            </a:r>
            <a:r>
              <a:rPr lang="zh-CN" altLang="en-US" sz="2800" dirty="0"/>
              <a:t>次开始，因此部分实验可能不做</a:t>
            </a:r>
            <a:endParaRPr lang="zh-CN" altLang="zh-CN" sz="2800" dirty="0"/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8D8E9A59-3054-4D9E-BC6C-84BA48612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实验安排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89AE2818-BCCD-4CDB-9C1A-D4991D10FA9E}"/>
              </a:ext>
            </a:extLst>
          </p:cNvPr>
          <p:cNvSpPr/>
          <p:nvPr/>
        </p:nvSpPr>
        <p:spPr>
          <a:xfrm>
            <a:off x="457200" y="5791200"/>
            <a:ext cx="80349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/>
            </a:r>
            <a:br>
              <a:rPr lang="en-US" altLang="zh-CN" dirty="0"/>
            </a:br>
            <a:endParaRPr lang="zh-CN" altLang="zh-CN" kern="100" dirty="0">
              <a:latin typeface="Cambria Math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39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989833"/>
            <a:ext cx="8395542" cy="954107"/>
          </a:xfrm>
        </p:spPr>
        <p:txBody>
          <a:bodyPr/>
          <a:lstStyle/>
          <a:p>
            <a:pPr lvl="0"/>
            <a:r>
              <a:rPr lang="zh-CN" altLang="en-US" sz="2800" dirty="0"/>
              <a:t>第一次实验内容：以一个较复杂的</a:t>
            </a:r>
            <a:r>
              <a:rPr lang="en-US" altLang="zh-CN" sz="2800" dirty="0"/>
              <a:t>DFA</a:t>
            </a:r>
            <a:r>
              <a:rPr lang="zh-CN" altLang="en-US" sz="2800" dirty="0"/>
              <a:t>为例，目标是能够识别某种语言词法单位</a:t>
            </a:r>
            <a:endParaRPr lang="zh-CN" altLang="zh-CN" sz="2800" dirty="0"/>
          </a:p>
        </p:txBody>
      </p:sp>
      <p:sp>
        <p:nvSpPr>
          <p:cNvPr id="10" name="标题 9">
            <a:extLst>
              <a:ext uri="{FF2B5EF4-FFF2-40B4-BE49-F238E27FC236}">
                <a16:creationId xmlns="" xmlns:a16="http://schemas.microsoft.com/office/drawing/2014/main" id="{71B45795-45CC-42A7-8CB3-B4FEF9F6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58" y="195704"/>
            <a:ext cx="8713787" cy="76517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矩形 3">
            <a:extLst>
              <a:ext uri="{FF2B5EF4-FFF2-40B4-BE49-F238E27FC236}">
                <a16:creationId xmlns="" xmlns:a16="http://schemas.microsoft.com/office/drawing/2014/main" id="{F6836539-B945-42F5-9492-6E252882D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-7938"/>
            <a:ext cx="4897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第二次实验任务</a:t>
            </a:r>
            <a:endParaRPr lang="en-US" altLang="zh-CN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="" xmlns:a16="http://schemas.microsoft.com/office/drawing/2014/main" id="{0AD5AE90-F9A1-4F5E-BF97-3B83EE50C114}"/>
              </a:ext>
            </a:extLst>
          </p:cNvPr>
          <p:cNvPicPr/>
          <p:nvPr/>
        </p:nvPicPr>
        <p:blipFill>
          <a:blip r:embed="rId2"/>
          <a:srcRect l="33265" t="27573" r="28780" b="19933"/>
          <a:stretch>
            <a:fillRect/>
          </a:stretch>
        </p:blipFill>
        <p:spPr>
          <a:xfrm>
            <a:off x="1600200" y="1971482"/>
            <a:ext cx="6172200" cy="4419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4094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0D8CA8-DDB4-4FE0-B3DC-3872B1EC1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1894201E-D47B-4EA4-81AB-F2FF4033F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14400"/>
            <a:ext cx="8642350" cy="461665"/>
          </a:xfrm>
        </p:spPr>
        <p:txBody>
          <a:bodyPr/>
          <a:lstStyle/>
          <a:p>
            <a:r>
              <a:rPr lang="zh-CN" altLang="en-US" dirty="0"/>
              <a:t>主要识别以下几类 </a:t>
            </a:r>
            <a:r>
              <a:rPr lang="en-US" altLang="zh-CN" dirty="0"/>
              <a:t>Token</a:t>
            </a:r>
            <a:r>
              <a:rPr lang="zh-CN" altLang="en-US" dirty="0"/>
              <a:t>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726F8C67-1B6A-49A4-9907-8351FB2A8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-7938"/>
            <a:ext cx="4897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第二次实验任务</a:t>
            </a:r>
            <a:endParaRPr lang="en-US" altLang="zh-CN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="" xmlns:a16="http://schemas.microsoft.com/office/drawing/2014/main" id="{755D9032-6B8B-4C83-9F0E-DDDA717B1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602114"/>
              </p:ext>
            </p:extLst>
          </p:nvPr>
        </p:nvGraphicFramePr>
        <p:xfrm>
          <a:off x="838200" y="1504174"/>
          <a:ext cx="7467600" cy="30725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="" xmlns:a16="http://schemas.microsoft.com/office/drawing/2014/main" val="2092802449"/>
                    </a:ext>
                  </a:extLst>
                </a:gridCol>
                <a:gridCol w="2819400">
                  <a:extLst>
                    <a:ext uri="{9D8B030D-6E8A-4147-A177-3AD203B41FA5}">
                      <a16:colId xmlns="" xmlns:a16="http://schemas.microsoft.com/office/drawing/2014/main" val="4033809212"/>
                    </a:ext>
                  </a:extLst>
                </a:gridCol>
                <a:gridCol w="3048000">
                  <a:extLst>
                    <a:ext uri="{9D8B030D-6E8A-4147-A177-3AD203B41FA5}">
                      <a16:colId xmlns="" xmlns:a16="http://schemas.microsoft.com/office/drawing/2014/main" val="3290717468"/>
                    </a:ext>
                  </a:extLst>
                </a:gridCol>
              </a:tblGrid>
              <a:tr h="1161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Token </a:t>
                      </a:r>
                      <a:r>
                        <a:rPr lang="zh-CN" altLang="en-US" sz="1800" u="none" strike="noStrike" dirty="0">
                          <a:effectLst/>
                        </a:rPr>
                        <a:t>类型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>
                          <a:effectLst/>
                        </a:rPr>
                        <a:t>说明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>
                          <a:effectLst/>
                        </a:rPr>
                        <a:t>终态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58650480"/>
                  </a:ext>
                </a:extLst>
              </a:tr>
              <a:tr h="1161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SCO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>
                          <a:effectLst/>
                        </a:rPr>
                        <a:t>分号 </a:t>
                      </a:r>
                      <a:r>
                        <a:rPr lang="en-US" altLang="zh-CN" sz="1800" u="none" strike="noStrike">
                          <a:effectLst/>
                        </a:rPr>
                        <a:t>;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effectLst/>
                        </a:rPr>
                        <a:t>2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672398754"/>
                  </a:ext>
                </a:extLst>
              </a:tr>
              <a:tr h="436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ID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>
                          <a:effectLst/>
                        </a:rPr>
                        <a:t>标识符（字母开头，字母数字）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8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387331240"/>
                  </a:ext>
                </a:extLst>
              </a:tr>
              <a:tr h="1161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INT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>
                          <a:effectLst/>
                        </a:rPr>
                        <a:t>整数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AB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34269978"/>
                  </a:ext>
                </a:extLst>
              </a:tr>
              <a:tr h="436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FLO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>
                          <a:effectLst/>
                        </a:rPr>
                        <a:t>浮点数（含小数 </a:t>
                      </a:r>
                      <a:r>
                        <a:rPr lang="en-US" altLang="zh-CN" sz="1800" u="none" strike="noStrike">
                          <a:effectLst/>
                        </a:rPr>
                        <a:t>/ </a:t>
                      </a:r>
                      <a:r>
                        <a:rPr lang="zh-CN" altLang="en-US" sz="1800" u="none" strike="noStrike">
                          <a:effectLst/>
                        </a:rPr>
                        <a:t>科学计数法）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CD、EF、FG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88653143"/>
                  </a:ext>
                </a:extLst>
              </a:tr>
              <a:tr h="1161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AAS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>
                          <a:effectLst/>
                        </a:rPr>
                        <a:t>赋值号 </a:t>
                      </a:r>
                      <a:r>
                        <a:rPr lang="en-US" altLang="zh-CN" sz="1800" u="none" strike="noStrike">
                          <a:effectLst/>
                        </a:rPr>
                        <a:t>=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effectLst/>
                        </a:rPr>
                        <a:t>5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45411298"/>
                  </a:ext>
                </a:extLst>
              </a:tr>
              <a:tr h="2212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ADD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>
                          <a:effectLst/>
                        </a:rPr>
                        <a:t>加号 </a:t>
                      </a:r>
                      <a:r>
                        <a:rPr lang="en-US" altLang="zh-CN" sz="1800" u="none" strike="noStrike">
                          <a:effectLst/>
                        </a:rPr>
                        <a:t>+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4A（</a:t>
                      </a:r>
                      <a:r>
                        <a:rPr lang="zh-CN" altLang="en-US" sz="1800" u="none" strike="noStrike" dirty="0">
                          <a:effectLst/>
                        </a:rPr>
                        <a:t>转移）→</a:t>
                      </a:r>
                      <a:r>
                        <a:rPr lang="en-US" altLang="zh-CN" sz="1800" u="none" strike="noStrike" dirty="0">
                          <a:effectLst/>
                        </a:rPr>
                        <a:t>6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346356078"/>
                  </a:ext>
                </a:extLst>
              </a:tr>
              <a:tr h="2225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SUB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>
                          <a:effectLst/>
                        </a:rPr>
                        <a:t>减号 </a:t>
                      </a:r>
                      <a:r>
                        <a:rPr lang="en-US" altLang="zh-CN" sz="1800" u="none" strike="noStrike">
                          <a:effectLst/>
                        </a:rPr>
                        <a:t>-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0→A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164672808"/>
                  </a:ext>
                </a:extLst>
              </a:tr>
              <a:tr h="1161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DOT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>
                          <a:effectLst/>
                        </a:rPr>
                        <a:t>点号 </a:t>
                      </a:r>
                      <a:r>
                        <a:rPr lang="en-US" altLang="zh-CN" sz="1800" u="none" strike="noStrike">
                          <a:effectLst/>
                        </a:rPr>
                        <a:t>.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0→C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12" marR="6112" marT="61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5797176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84BAC9C8-1B89-4169-B677-A429FCE732B6}"/>
              </a:ext>
            </a:extLst>
          </p:cNvPr>
          <p:cNvSpPr txBox="1"/>
          <p:nvPr/>
        </p:nvSpPr>
        <p:spPr bwMode="auto">
          <a:xfrm>
            <a:off x="3186973" y="4710319"/>
            <a:ext cx="5181600" cy="70788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dirty="0">
                <a:latin typeface="Times New Roman" pitchFamily="18" charset="0"/>
              </a:rPr>
              <a:t>输入：小段代码，</a:t>
            </a:r>
            <a:endParaRPr lang="en-US" altLang="zh-CN" sz="1600" dirty="0"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1600" dirty="0">
                <a:latin typeface="Times New Roman" pitchFamily="18" charset="0"/>
              </a:rPr>
              <a:t>输出：经过</a:t>
            </a:r>
            <a:r>
              <a:rPr lang="en-US" altLang="zh-CN" sz="1600" dirty="0">
                <a:latin typeface="Times New Roman" pitchFamily="18" charset="0"/>
              </a:rPr>
              <a:t>DFA</a:t>
            </a:r>
            <a:r>
              <a:rPr lang="zh-CN" altLang="en-US" sz="1600" dirty="0">
                <a:latin typeface="Times New Roman" pitchFamily="18" charset="0"/>
              </a:rPr>
              <a:t>解析，获得</a:t>
            </a:r>
            <a:r>
              <a:rPr lang="en-US" altLang="zh-CN" sz="1600" dirty="0">
                <a:latin typeface="Times New Roman" pitchFamily="18" charset="0"/>
              </a:rPr>
              <a:t>toke</a:t>
            </a:r>
            <a:r>
              <a:rPr lang="zh-CN" altLang="en-US" sz="1600" dirty="0">
                <a:latin typeface="Times New Roman" pitchFamily="18" charset="0"/>
              </a:rPr>
              <a:t>流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8A73F0A6-6048-43DD-8E31-434D719B0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48" y="4682313"/>
            <a:ext cx="237172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017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827018"/>
            <a:ext cx="8277128" cy="523220"/>
          </a:xfrm>
        </p:spPr>
        <p:txBody>
          <a:bodyPr/>
          <a:lstStyle/>
          <a:p>
            <a:pPr lvl="0"/>
            <a:r>
              <a:rPr lang="zh-CN" altLang="en-US" sz="2800" dirty="0"/>
              <a:t>具体词法规则</a:t>
            </a:r>
            <a:endParaRPr lang="zh-CN" altLang="zh-CN" sz="2800" dirty="0"/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8D8E9A59-3054-4D9E-BC6C-84BA48612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实验过程</a:t>
            </a:r>
          </a:p>
        </p:txBody>
      </p:sp>
      <p:sp>
        <p:nvSpPr>
          <p:cNvPr id="10" name="标题 9">
            <a:extLst>
              <a:ext uri="{FF2B5EF4-FFF2-40B4-BE49-F238E27FC236}">
                <a16:creationId xmlns="" xmlns:a16="http://schemas.microsoft.com/office/drawing/2014/main" id="{71B45795-45CC-42A7-8CB3-B4FEF9F6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58" y="195704"/>
            <a:ext cx="8713787" cy="76517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2D0A9ACB-3BFA-420C-81C1-D2B2C9B3E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353150"/>
            <a:ext cx="3962400" cy="5309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1. 标识符（ID）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构成规则：</a:t>
            </a:r>
            <a:r>
              <a:rPr kumimoji="0" lang="zh-CN" altLang="zh-CN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必须以字母开头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，后续可跟任意字母或数字。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正规式：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letter (letter | digit)*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 </a:t>
            </a: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示例：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a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b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num123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testVar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 </a:t>
            </a: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说明：本实验未区分关键字与标识符，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int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float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等均被识别为普通标识符</a:t>
            </a: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2. 整型常量（INT）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构成规则：由</a:t>
            </a:r>
            <a:r>
              <a:rPr kumimoji="0" lang="zh-CN" altLang="zh-CN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纯数字序列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组成。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正规式：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digit+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 </a:t>
            </a: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示例：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0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123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999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 </a:t>
            </a: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支持负数形式：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-123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（由减号后接整型常量构成）</a:t>
            </a: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3. 浮点型常量（FLOAT）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本实验支持</a:t>
            </a:r>
            <a:r>
              <a:rPr kumimoji="0" lang="zh-CN" altLang="zh-CN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三种标准浮点格式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：</a:t>
            </a: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小数形式：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digit+ . digit*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，如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123.45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66.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 </a:t>
            </a: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小数点开头形式：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. digit+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，如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.45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.9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 </a:t>
            </a: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科学计数法形式：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(digit+ | digit+.digit* | .digit+) (e|E)(+|-)? digit+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，如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1e-3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12.3E+4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正规式：整合上述三种形式的浮点数正规式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示例：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123.45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.66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1e-3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9.8E7</a:t>
            </a: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ui-sans-serif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BBEDE0FC-18A1-420D-8FC0-8F5AB86A2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0751" y="1087189"/>
            <a:ext cx="4417601" cy="577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4. 界符与运算符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分号（SCO）：仅识别符号</a:t>
            </a: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;</a:t>
            </a: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，作为语句结束标记</a:t>
            </a: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赋值符（ASSIGN）：仅识别符号</a:t>
            </a: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=</a:t>
            </a: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，用于变量赋值</a:t>
            </a:r>
            <a:endParaRPr kumimoji="0" lang="zh-CN" altLang="zh-CN" sz="15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加法运算符（PLUS）：仅识别符号</a:t>
            </a: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+</a:t>
            </a: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，不支持</a:t>
            </a: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++</a:t>
            </a: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+=</a:t>
            </a: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等复合形式</a:t>
            </a:r>
            <a:endParaRPr kumimoji="0" lang="zh-CN" altLang="zh-CN" sz="15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减法运算符（MINUS）：仅识别符号</a:t>
            </a: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-</a:t>
            </a: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，可表示负数或减法运算</a:t>
            </a: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小数点（DOT）：仅识别符号</a:t>
            </a: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.</a:t>
            </a:r>
            <a:r>
              <a:rPr kumimoji="0" lang="zh-CN" altLang="zh-CN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，用于构造浮点数</a:t>
            </a:r>
            <a:endParaRPr kumimoji="0" lang="zh-CN" altLang="zh-CN" sz="15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空白符处理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源程序中的</a:t>
            </a:r>
            <a:r>
              <a:rPr kumimoji="0" lang="zh-CN" altLang="zh-CN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空格、换行符、制表符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仅作为单词分隔符，词法分析器会自动跳过，不生成任何 Token</a:t>
            </a: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不支持的词法单元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本实验为基础教学版词法分析器，</a:t>
            </a:r>
            <a:r>
              <a:rPr kumimoji="0" lang="zh-CN" altLang="zh-CN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不支持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以下符号与语法：</a:t>
            </a: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关键字：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if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else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while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int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float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等无特殊识别；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乘除运算符：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*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/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%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；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比较 / 逻辑运算符：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&gt;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&lt;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==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&amp;&amp;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||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!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；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括号与花括号：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(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)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{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}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；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复合运算符：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++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--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+=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ui-monospace"/>
              </a:rPr>
              <a:t>-=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ui-sans-serif"/>
              </a:rPr>
              <a:t>等；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字符串 / 字符常量、注释符号。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40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D90CCD4-8E75-4363-A8FF-87FDAA81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C9D33F6E-807F-43F2-B334-D4C1988A4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实验过程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1E5C2831-B93D-42CA-ADF5-E8002F955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1889748"/>
          </a:xfrm>
        </p:spPr>
        <p:txBody>
          <a:bodyPr/>
          <a:lstStyle/>
          <a:p>
            <a:r>
              <a:rPr lang="zh-CN" altLang="en-US" dirty="0"/>
              <a:t>词法分析的前缀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sz="2000" dirty="0"/>
              <a:t>NFA</a:t>
            </a:r>
            <a:r>
              <a:rPr lang="zh-CN" altLang="en-US" sz="2000" dirty="0"/>
              <a:t>存在歧义，需要维护状态集，速度慢，开销大。词法分析要求线性扫描一次遍历，</a:t>
            </a:r>
            <a:r>
              <a:rPr lang="en-US" altLang="zh-CN" sz="2000" dirty="0"/>
              <a:t>DFA</a:t>
            </a:r>
            <a:r>
              <a:rPr lang="zh-CN" altLang="en-US" sz="2000" dirty="0"/>
              <a:t>在 </a:t>
            </a:r>
            <a:r>
              <a:rPr lang="en-US" altLang="zh-CN" sz="2000" b="1" dirty="0"/>
              <a:t>O(n)</a:t>
            </a:r>
            <a:r>
              <a:rPr lang="zh-CN" altLang="en-US" sz="2000" dirty="0"/>
              <a:t> 时间内完成，无回溯、占用内存小无开销。程序设计语言的词法规则明确，无二义性，因此天然适合用 </a:t>
            </a:r>
            <a:r>
              <a:rPr lang="en-US" altLang="zh-CN" sz="2000" dirty="0"/>
              <a:t>DFA </a:t>
            </a:r>
            <a:r>
              <a:rPr lang="zh-CN" altLang="en-US" sz="2000" dirty="0"/>
              <a:t>识别。</a:t>
            </a:r>
            <a:endParaRPr lang="en-US" altLang="zh-CN" sz="2000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9" name="内容占位符 5">
            <a:extLst>
              <a:ext uri="{FF2B5EF4-FFF2-40B4-BE49-F238E27FC236}">
                <a16:creationId xmlns="" xmlns:a16="http://schemas.microsoft.com/office/drawing/2014/main" id="{9817C147-6204-42A2-A06F-4E38B2D44C23}"/>
              </a:ext>
            </a:extLst>
          </p:cNvPr>
          <p:cNvSpPr txBox="1">
            <a:spLocks/>
          </p:cNvSpPr>
          <p:nvPr/>
        </p:nvSpPr>
        <p:spPr bwMode="auto">
          <a:xfrm>
            <a:off x="237245" y="2436699"/>
            <a:ext cx="86423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>
                  <a:lumMod val="50000"/>
                </a:schemeClr>
              </a:buClr>
              <a:buFont typeface="Cambria Math" panose="02040503050406030204" pitchFamily="18" charset="0"/>
              <a:buChar char="⌲"/>
              <a:defRPr kumimoji="1" sz="2400" b="0">
                <a:solidFill>
                  <a:schemeClr val="tx1"/>
                </a:solidFill>
                <a:latin typeface="Cambria Math" panose="02040503050406030204" pitchFamily="18" charset="0"/>
                <a:ea typeface="仿宋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Font typeface="Cambria Math" panose="02040503050406030204" pitchFamily="18" charset="0"/>
              <a:buChar char="•"/>
              <a:defRPr kumimoji="1" sz="2400" b="0">
                <a:solidFill>
                  <a:srgbClr val="000000"/>
                </a:solidFill>
                <a:latin typeface="Cambria Math" panose="02040503050406030204" pitchFamily="18" charset="0"/>
                <a:ea typeface="仿宋" panose="0201060906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+mn-ea"/>
                <a:ea typeface="+mn-ea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 b="0">
                <a:solidFill>
                  <a:srgbClr val="000000"/>
                </a:solidFill>
                <a:latin typeface="Garamond" pitchFamily="18" charset="0"/>
                <a:ea typeface="Garamond" pitchFamily="18" charset="0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5pPr>
            <a:lvl6pPr marL="2438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6pPr>
            <a:lvl7pPr marL="2895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7pPr>
            <a:lvl8pPr marL="3352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8pPr>
            <a:lvl9pPr marL="3810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9pPr>
          </a:lstStyle>
          <a:p>
            <a:r>
              <a:rPr lang="zh-CN" altLang="en-US" kern="0" dirty="0"/>
              <a:t>主文法的词法类别列表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FFE54612-5DD0-49FF-B6FB-7EBB18BC2594}"/>
              </a:ext>
            </a:extLst>
          </p:cNvPr>
          <p:cNvSpPr/>
          <p:nvPr/>
        </p:nvSpPr>
        <p:spPr>
          <a:xfrm>
            <a:off x="609600" y="2898364"/>
            <a:ext cx="813117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ui-sans-serif"/>
              </a:rPr>
              <a:t>ID = L([a-z][a-z0-9]*) \ KEY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ui-sans-serif"/>
              </a:rPr>
              <a:t>KEY = {int, float, void, if, else, while, return, input, print}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ui-sans-serif"/>
              </a:rPr>
              <a:t>INT = {int}; FLOAT = {float}; VOID = {void}; IF = {if}; ELSE = {else}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ui-sans-serif"/>
              </a:rPr>
              <a:t>WHILE = {while}; RETURN = {return}; INPUT = {input}; PRINT = {print}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ui-sans-serif"/>
              </a:rPr>
              <a:t>NUM = L([+-]?[0-9]+)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ui-sans-serif"/>
              </a:rPr>
              <a:t>FLO = L([+-]?[0-9]*.[0-9]+ | [+-]?[0-9]+.[0-9]*)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ui-sans-serif"/>
              </a:rPr>
              <a:t>OP = AOP ∪ ROP ∪ BOP ∪ {=, +=, ++} AOP = {+, -, *, /}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ui-sans-serif"/>
              </a:rPr>
              <a:t>ADD = {+}; SUB = {-}; MUL = {*}; DIV = {/}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ui-sans-serif"/>
              </a:rPr>
              <a:t>ROP = {&lt;, &lt;=, ==, &gt;, &gt;=, !=}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ui-sans-serif"/>
              </a:rPr>
              <a:t>BOP = {∧, ∨, !} </a:t>
            </a:r>
            <a:r>
              <a:rPr lang="zh-CN" altLang="en-US" sz="1600" dirty="0">
                <a:solidFill>
                  <a:srgbClr val="000000"/>
                </a:solidFill>
                <a:latin typeface="ui-sans-serif"/>
              </a:rPr>
              <a:t>或 </a:t>
            </a:r>
            <a:r>
              <a:rPr lang="en-US" altLang="zh-CN" sz="1600" dirty="0">
                <a:solidFill>
                  <a:srgbClr val="000000"/>
                </a:solidFill>
                <a:latin typeface="ui-sans-serif"/>
              </a:rPr>
              <a:t>BOP = {&amp;&amp;, ||, !}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ui-sans-serif"/>
              </a:rPr>
              <a:t>ASG = {=}; AAS = {+=}; AAA = {++}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ui-sans-serif"/>
              </a:rPr>
              <a:t>DLI = {(, ), [, ], \{, \}, \, :, ;}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ui-sans-serif"/>
              </a:rPr>
              <a:t>LPA = {(}; RPA = {)}; LBK = {[}; RBK = {]}; LBR = {\{}; RBR = {\}}; CMA = {\,};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ui-sans-serif"/>
              </a:rPr>
              <a:t>SCO = {;}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8098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827018"/>
            <a:ext cx="8277128" cy="523220"/>
          </a:xfrm>
        </p:spPr>
        <p:txBody>
          <a:bodyPr/>
          <a:lstStyle/>
          <a:p>
            <a:pPr lvl="0"/>
            <a:r>
              <a:rPr lang="zh-CN" altLang="en-US" sz="2800" dirty="0"/>
              <a:t>实验</a:t>
            </a:r>
            <a:r>
              <a:rPr lang="en-US" altLang="zh-CN" sz="2800" dirty="0"/>
              <a:t>2</a:t>
            </a:r>
            <a:endParaRPr lang="zh-CN" altLang="zh-CN" sz="2800" dirty="0"/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655F8883-B691-4F2D-8A31-4A709E1F4D45}"/>
              </a:ext>
            </a:extLst>
          </p:cNvPr>
          <p:cNvSpPr txBox="1"/>
          <p:nvPr/>
        </p:nvSpPr>
        <p:spPr bwMode="auto">
          <a:xfrm>
            <a:off x="990600" y="1350238"/>
            <a:ext cx="7696200" cy="4801314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以一个简单的例子切入，写一个词法分析扫描程序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scanner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，采用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C++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编写，在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Windows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下编译得到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scanner.exe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程序有两个运行模式：例如：先输入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，再输入符号串个数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，然后输入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个用空格分隔的符号串，程序会给出每个符号串对应的类型或者先输入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，然后任意输入一行语句，程序会对语句进行词法分析，并给出每个单词对应的类型。</a:t>
            </a: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输入样例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id if 485 841.6541 www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输出样例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IF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NUM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FLOAT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3">
            <a:extLst>
              <a:ext uri="{FF2B5EF4-FFF2-40B4-BE49-F238E27FC236}">
                <a16:creationId xmlns="" xmlns:a16="http://schemas.microsoft.com/office/drawing/2014/main" id="{24CEED17-9583-413E-A422-B408DE357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-7938"/>
            <a:ext cx="4897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第二次实验任务</a:t>
            </a:r>
            <a:endParaRPr lang="en-US" altLang="zh-CN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1026" name="图片 1">
            <a:extLst>
              <a:ext uri="{FF2B5EF4-FFF2-40B4-BE49-F238E27FC236}">
                <a16:creationId xmlns="" xmlns:a16="http://schemas.microsoft.com/office/drawing/2014/main" id="{12146D0F-117E-46E7-92F1-015C19982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4092" y="3962400"/>
            <a:ext cx="2799733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754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827018"/>
            <a:ext cx="8277128" cy="523220"/>
          </a:xfrm>
        </p:spPr>
        <p:txBody>
          <a:bodyPr/>
          <a:lstStyle/>
          <a:p>
            <a:pPr lvl="0"/>
            <a:r>
              <a:rPr lang="zh-CN" altLang="en-US" sz="2800" dirty="0"/>
              <a:t>实验台、非</a:t>
            </a:r>
            <a:r>
              <a:rPr lang="en-US" altLang="zh-CN" sz="2800" dirty="0"/>
              <a:t>AI</a:t>
            </a:r>
            <a:r>
              <a:rPr lang="zh-CN" altLang="en-US" sz="2800" dirty="0"/>
              <a:t>编程，远端云环境</a:t>
            </a:r>
            <a:endParaRPr lang="zh-CN" altLang="zh-CN" sz="2800" dirty="0"/>
          </a:p>
        </p:txBody>
      </p:sp>
      <p:sp>
        <p:nvSpPr>
          <p:cNvPr id="10" name="标题 9">
            <a:extLst>
              <a:ext uri="{FF2B5EF4-FFF2-40B4-BE49-F238E27FC236}">
                <a16:creationId xmlns="" xmlns:a16="http://schemas.microsoft.com/office/drawing/2014/main" id="{71B45795-45CC-42A7-8CB3-B4FEF9F6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58" y="195704"/>
            <a:ext cx="8713787" cy="76517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43FF914B-A8F7-4DA9-933A-1D916CD0858A}"/>
              </a:ext>
            </a:extLst>
          </p:cNvPr>
          <p:cNvSpPr txBox="1"/>
          <p:nvPr/>
        </p:nvSpPr>
        <p:spPr bwMode="auto">
          <a:xfrm>
            <a:off x="640030" y="1350238"/>
            <a:ext cx="8153400" cy="4247317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输入样例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while\(true\) \{int a\=0\;\}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输出样例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WHILE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LPAR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RPAR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LBR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ASG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NUM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SEMI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RBR</a:t>
            </a:r>
            <a:endParaRPr lang="zh-CN" altLang="en-US" sz="1800" dirty="0"/>
          </a:p>
        </p:txBody>
      </p:sp>
      <p:sp>
        <p:nvSpPr>
          <p:cNvPr id="12" name="矩形 3">
            <a:extLst>
              <a:ext uri="{FF2B5EF4-FFF2-40B4-BE49-F238E27FC236}">
                <a16:creationId xmlns="" xmlns:a16="http://schemas.microsoft.com/office/drawing/2014/main" id="{8D3FE9FC-7BD6-4CE8-BBFA-D5EE48DA6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-7938"/>
            <a:ext cx="4897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第二次实验任务</a:t>
            </a:r>
            <a:endParaRPr lang="en-US" altLang="zh-CN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2050" name="图片 1">
            <a:extLst>
              <a:ext uri="{FF2B5EF4-FFF2-40B4-BE49-F238E27FC236}">
                <a16:creationId xmlns="" xmlns:a16="http://schemas.microsoft.com/office/drawing/2014/main" id="{77FBAD16-F46F-42A3-B44A-C502D4B13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698212"/>
            <a:ext cx="3390900" cy="281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0409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713774"/>
            <a:ext cx="8277128" cy="523220"/>
          </a:xfrm>
        </p:spPr>
        <p:txBody>
          <a:bodyPr/>
          <a:lstStyle/>
          <a:p>
            <a:pPr lvl="0"/>
            <a:r>
              <a:rPr lang="zh-CN" altLang="en-US" sz="2800" dirty="0"/>
              <a:t>实验</a:t>
            </a:r>
            <a:r>
              <a:rPr lang="en-US" altLang="zh-CN" sz="2800" dirty="0"/>
              <a:t>2</a:t>
            </a:r>
            <a:r>
              <a:rPr lang="zh-CN" altLang="en-US" sz="2800" dirty="0"/>
              <a:t>，</a:t>
            </a:r>
            <a:endParaRPr lang="zh-CN" altLang="zh-CN" sz="2800" dirty="0"/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8D8E9A59-3054-4D9E-BC6C-84BA48612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实验过程</a:t>
            </a:r>
          </a:p>
        </p:txBody>
      </p:sp>
      <p:sp>
        <p:nvSpPr>
          <p:cNvPr id="10" name="标题 9">
            <a:extLst>
              <a:ext uri="{FF2B5EF4-FFF2-40B4-BE49-F238E27FC236}">
                <a16:creationId xmlns="" xmlns:a16="http://schemas.microsoft.com/office/drawing/2014/main" id="{71B45795-45CC-42A7-8CB3-B4FEF9F6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58" y="195704"/>
            <a:ext cx="8713787" cy="765175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884C537F-B723-480F-8149-002CFEE45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581" y="1164401"/>
            <a:ext cx="4235668" cy="572164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="" xmlns:a16="http://schemas.microsoft.com/office/drawing/2014/main" id="{6EA22C48-9BE3-4D2E-92EB-5720DEB75A98}"/>
              </a:ext>
            </a:extLst>
          </p:cNvPr>
          <p:cNvSpPr/>
          <p:nvPr/>
        </p:nvSpPr>
        <p:spPr>
          <a:xfrm>
            <a:off x="641181" y="1137090"/>
            <a:ext cx="314974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kern="0" dirty="0">
                <a:solidFill>
                  <a:srgbClr val="000000"/>
                </a:solidFill>
                <a:latin typeface="Cambria Math" panose="02040503050406030204" pitchFamily="18" charset="0"/>
                <a:ea typeface="仿宋" panose="02010609060101010101" pitchFamily="49" charset="-122"/>
              </a:rPr>
              <a:t>本地</a:t>
            </a:r>
            <a:r>
              <a:rPr kumimoji="1" lang="en-US" altLang="zh-CN" sz="2800" kern="0" dirty="0" err="1">
                <a:solidFill>
                  <a:srgbClr val="000000"/>
                </a:solidFill>
                <a:latin typeface="Cambria Math" panose="02040503050406030204" pitchFamily="18" charset="0"/>
                <a:ea typeface="仿宋" panose="02010609060101010101" pitchFamily="49" charset="-122"/>
              </a:rPr>
              <a:t>vscode</a:t>
            </a:r>
            <a:r>
              <a:rPr kumimoji="1" lang="zh-CN" altLang="en-US" sz="2800" kern="0" dirty="0">
                <a:solidFill>
                  <a:srgbClr val="000000"/>
                </a:solidFill>
                <a:latin typeface="Cambria Math" panose="02040503050406030204" pitchFamily="18" charset="0"/>
                <a:ea typeface="仿宋" panose="02010609060101010101" pitchFamily="49" charset="-122"/>
              </a:rPr>
              <a:t>或者其他环境，采用</a:t>
            </a:r>
            <a:r>
              <a:rPr kumimoji="1" lang="en-US" altLang="zh-CN" sz="2800" kern="0" dirty="0">
                <a:solidFill>
                  <a:srgbClr val="000000"/>
                </a:solidFill>
                <a:latin typeface="Cambria Math" panose="02040503050406030204" pitchFamily="18" charset="0"/>
                <a:ea typeface="仿宋" panose="02010609060101010101" pitchFamily="49" charset="-122"/>
              </a:rPr>
              <a:t>c</a:t>
            </a:r>
            <a:r>
              <a:rPr kumimoji="1" lang="zh-CN" altLang="en-US" sz="2800" kern="0" dirty="0">
                <a:solidFill>
                  <a:srgbClr val="000000"/>
                </a:solidFill>
                <a:latin typeface="Cambria Math" panose="02040503050406030204" pitchFamily="18" charset="0"/>
                <a:ea typeface="仿宋" panose="02010609060101010101" pitchFamily="49" charset="-122"/>
              </a:rPr>
              <a:t>实现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6266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713774"/>
            <a:ext cx="8277128" cy="523220"/>
          </a:xfrm>
        </p:spPr>
        <p:txBody>
          <a:bodyPr/>
          <a:lstStyle/>
          <a:p>
            <a:pPr lvl="0"/>
            <a:r>
              <a:rPr lang="zh-CN" altLang="en-US" sz="2800" dirty="0"/>
              <a:t>实验</a:t>
            </a:r>
            <a:r>
              <a:rPr lang="en-US" altLang="zh-CN" sz="2800" dirty="0"/>
              <a:t>2</a:t>
            </a:r>
            <a:endParaRPr lang="zh-CN" altLang="zh-CN" sz="2800" dirty="0"/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8D8E9A59-3054-4D9E-BC6C-84BA48612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实验过程</a:t>
            </a:r>
          </a:p>
        </p:txBody>
      </p:sp>
      <p:sp>
        <p:nvSpPr>
          <p:cNvPr id="10" name="标题 9">
            <a:extLst>
              <a:ext uri="{FF2B5EF4-FFF2-40B4-BE49-F238E27FC236}">
                <a16:creationId xmlns="" xmlns:a16="http://schemas.microsoft.com/office/drawing/2014/main" id="{71B45795-45CC-42A7-8CB3-B4FEF9F6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58" y="195704"/>
            <a:ext cx="8713787" cy="765175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7DF8B8C2-2009-473A-A26A-5C5266DC3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58" y="1304437"/>
            <a:ext cx="4407126" cy="297830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A2F27C45-646C-43DD-A655-BE9A60B5D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881" y="960879"/>
            <a:ext cx="3448227" cy="328311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6CF31D21-CE20-4142-A70A-281F4F4A36ED}"/>
              </a:ext>
            </a:extLst>
          </p:cNvPr>
          <p:cNvSpPr/>
          <p:nvPr/>
        </p:nvSpPr>
        <p:spPr>
          <a:xfrm>
            <a:off x="338786" y="4757479"/>
            <a:ext cx="8153400" cy="23371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lnSpc>
                <a:spcPct val="125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4D4D4D"/>
                </a:solidFill>
                <a:latin typeface="+mn-ea"/>
                <a:ea typeface="+mn-ea"/>
              </a:rPr>
              <a:t>1</a:t>
            </a:r>
            <a:r>
              <a:rPr lang="zh-CN" altLang="en-US" dirty="0">
                <a:solidFill>
                  <a:srgbClr val="4D4D4D"/>
                </a:solidFill>
                <a:latin typeface="+mn-ea"/>
                <a:ea typeface="+mn-ea"/>
              </a:rPr>
              <a:t>、例如写一个测试文件</a:t>
            </a:r>
            <a:r>
              <a:rPr lang="en-US" altLang="zh-CN" dirty="0" err="1">
                <a:solidFill>
                  <a:srgbClr val="4D4D4D"/>
                </a:solidFill>
                <a:latin typeface="+mn-ea"/>
                <a:ea typeface="+mn-ea"/>
              </a:rPr>
              <a:t>test.c</a:t>
            </a:r>
            <a:r>
              <a:rPr lang="zh-CN" altLang="en-US" dirty="0">
                <a:solidFill>
                  <a:srgbClr val="4D4D4D"/>
                </a:solidFill>
                <a:latin typeface="+mn-ea"/>
                <a:ea typeface="+mn-ea"/>
              </a:rPr>
              <a:t>  词法分析器输出如上述右边</a:t>
            </a:r>
            <a:endParaRPr lang="en-US" altLang="zh-CN" dirty="0">
              <a:solidFill>
                <a:srgbClr val="4D4D4D"/>
              </a:solidFill>
              <a:latin typeface="+mn-ea"/>
              <a:ea typeface="+mn-ea"/>
            </a:endParaRPr>
          </a:p>
          <a:p>
            <a:pPr indent="266700">
              <a:lnSpc>
                <a:spcPct val="125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4D4D4D"/>
                </a:solidFill>
                <a:latin typeface="+mn-ea"/>
                <a:ea typeface="+mn-ea"/>
              </a:rPr>
              <a:t>2</a:t>
            </a:r>
            <a:r>
              <a:rPr lang="zh-CN" altLang="en-US" dirty="0">
                <a:solidFill>
                  <a:srgbClr val="4D4D4D"/>
                </a:solidFill>
                <a:latin typeface="+mn-ea"/>
                <a:ea typeface="+mn-ea"/>
              </a:rPr>
              <a:t>、将终端输出到一个文件（目的是将词法分析的结果作为后续分析的输入文件） </a:t>
            </a:r>
            <a:r>
              <a:rPr lang="zh-CN" altLang="en-US" dirty="0">
                <a:latin typeface="+mn-ea"/>
                <a:ea typeface="+mn-ea"/>
              </a:rPr>
              <a:t/>
            </a:r>
            <a:br>
              <a:rPr lang="zh-CN" altLang="en-US" dirty="0">
                <a:latin typeface="+mn-ea"/>
                <a:ea typeface="+mn-ea"/>
              </a:rPr>
            </a:br>
            <a:endParaRPr lang="zh-CN" altLang="zh-CN" dirty="0">
              <a:solidFill>
                <a:srgbClr val="4D4D4D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1537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827018"/>
            <a:ext cx="8277128" cy="523220"/>
          </a:xfrm>
        </p:spPr>
        <p:txBody>
          <a:bodyPr/>
          <a:lstStyle/>
          <a:p>
            <a:pPr lvl="0"/>
            <a:r>
              <a:rPr lang="zh-CN" altLang="en-US" sz="2800" dirty="0"/>
              <a:t>实验</a:t>
            </a:r>
            <a:r>
              <a:rPr lang="en-US" altLang="zh-CN" sz="2800" dirty="0"/>
              <a:t>2</a:t>
            </a:r>
            <a:endParaRPr lang="zh-CN" altLang="zh-CN" sz="2800" dirty="0"/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8D8E9A59-3054-4D9E-BC6C-84BA48612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实验过程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805FC67-4958-4139-B240-1BD87C604CC5}"/>
              </a:ext>
            </a:extLst>
          </p:cNvPr>
          <p:cNvSpPr/>
          <p:nvPr/>
        </p:nvSpPr>
        <p:spPr>
          <a:xfrm>
            <a:off x="651814" y="1350238"/>
            <a:ext cx="8077200" cy="1440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lnSpc>
                <a:spcPct val="125000"/>
              </a:lnSpc>
              <a:spcAft>
                <a:spcPts val="0"/>
              </a:spcAft>
            </a:pPr>
            <a:r>
              <a:rPr lang="zh-CN" altLang="en-US" kern="100" dirty="0">
                <a:solidFill>
                  <a:srgbClr val="181818"/>
                </a:solidFill>
                <a:latin typeface="-apple-system"/>
                <a:ea typeface="宋体" panose="02010600030101010101" pitchFamily="2" charset="-122"/>
                <a:cs typeface="Times New Roman" panose="02020603050405020304" pitchFamily="18" charset="0"/>
              </a:rPr>
              <a:t>必做，实现该词法类别列表的词法分析器</a:t>
            </a:r>
            <a:endParaRPr lang="en-US" altLang="zh-CN" kern="100" dirty="0">
              <a:solidFill>
                <a:srgbClr val="181818"/>
              </a:solidFill>
              <a:latin typeface="-apple-system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5000"/>
              </a:lnSpc>
              <a:spcAft>
                <a:spcPts val="0"/>
              </a:spcAft>
            </a:pPr>
            <a:r>
              <a:rPr lang="zh-CN" altLang="en-US" kern="100" dirty="0">
                <a:solidFill>
                  <a:srgbClr val="181818"/>
                </a:solidFill>
                <a:latin typeface="-apple-system"/>
                <a:ea typeface="宋体" panose="02010600030101010101" pitchFamily="2" charset="-122"/>
                <a:cs typeface="Times New Roman" panose="02020603050405020304" pitchFamily="18" charset="0"/>
              </a:rPr>
              <a:t>选做，内容不限，可以采用其他方式实现词法分析器，也可以构造页面或者封装程序界面使其和实验一内容结合</a:t>
            </a:r>
            <a:endParaRPr lang="zh-CN" altLang="zh-CN" kern="100" dirty="0">
              <a:latin typeface="Cambria Math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="" xmlns:a16="http://schemas.microsoft.com/office/drawing/2014/main" id="{71B45795-45CC-42A7-8CB3-B4FEF9F6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58" y="195704"/>
            <a:ext cx="8713787" cy="765175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2AF64022-411E-4629-B88D-054992B75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399" y="2971800"/>
            <a:ext cx="7814614" cy="290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322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713774"/>
            <a:ext cx="8277128" cy="523220"/>
          </a:xfrm>
        </p:spPr>
        <p:txBody>
          <a:bodyPr/>
          <a:lstStyle/>
          <a:p>
            <a:pPr lvl="0"/>
            <a:r>
              <a:rPr lang="zh-CN" altLang="en-US" sz="2800" dirty="0"/>
              <a:t>实验</a:t>
            </a:r>
            <a:r>
              <a:rPr lang="en-US" altLang="zh-CN" sz="2800" dirty="0"/>
              <a:t>2</a:t>
            </a:r>
            <a:endParaRPr lang="zh-CN" altLang="zh-CN" sz="2800" dirty="0"/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8D8E9A59-3054-4D9E-BC6C-84BA48612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实验过程</a:t>
            </a:r>
          </a:p>
        </p:txBody>
      </p:sp>
      <p:sp>
        <p:nvSpPr>
          <p:cNvPr id="10" name="标题 9">
            <a:extLst>
              <a:ext uri="{FF2B5EF4-FFF2-40B4-BE49-F238E27FC236}">
                <a16:creationId xmlns="" xmlns:a16="http://schemas.microsoft.com/office/drawing/2014/main" id="{71B45795-45CC-42A7-8CB3-B4FEF9F6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58" y="195704"/>
            <a:ext cx="8713787" cy="76517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525319E6-DA06-43F7-ADC9-D0DEB731D4DE}"/>
              </a:ext>
            </a:extLst>
          </p:cNvPr>
          <p:cNvSpPr/>
          <p:nvPr/>
        </p:nvSpPr>
        <p:spPr>
          <a:xfrm>
            <a:off x="355154" y="1316842"/>
            <a:ext cx="8433593" cy="490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lnSpc>
                <a:spcPct val="125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4D4D4D"/>
                </a:solidFill>
                <a:latin typeface="+mn-ea"/>
                <a:ea typeface="+mn-ea"/>
              </a:rPr>
              <a:t>本语言</a:t>
            </a:r>
            <a:r>
              <a:rPr lang="en-US" altLang="zh-CN" dirty="0">
                <a:solidFill>
                  <a:srgbClr val="4D4D4D"/>
                </a:solidFill>
                <a:latin typeface="+mn-ea"/>
                <a:ea typeface="+mn-ea"/>
              </a:rPr>
              <a:t>DFA</a:t>
            </a:r>
            <a:endParaRPr lang="zh-CN" altLang="zh-CN" dirty="0">
              <a:solidFill>
                <a:srgbClr val="4D4D4D"/>
              </a:solidFill>
              <a:latin typeface="+mn-ea"/>
              <a:ea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543F9D05-D68C-4547-B6E4-19562213F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42" y="2057400"/>
            <a:ext cx="8874866" cy="367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9138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4">
      <a:dk1>
        <a:srgbClr val="000000"/>
      </a:dk1>
      <a:lt1>
        <a:srgbClr val="FFFFD9"/>
      </a:lt1>
      <a:dk2>
        <a:srgbClr val="000000"/>
      </a:dk2>
      <a:lt2>
        <a:srgbClr val="777777"/>
      </a:lt2>
      <a:accent1>
        <a:srgbClr val="F8F8F8"/>
      </a:accent1>
      <a:accent2>
        <a:srgbClr val="6600CC"/>
      </a:accent2>
      <a:accent3>
        <a:srgbClr val="FFFFE9"/>
      </a:accent3>
      <a:accent4>
        <a:srgbClr val="000000"/>
      </a:accent4>
      <a:accent5>
        <a:srgbClr val="FBFBFB"/>
      </a:accent5>
      <a:accent6>
        <a:srgbClr val="5C00B9"/>
      </a:accent6>
      <a:hlink>
        <a:srgbClr val="FF5050"/>
      </a:hlink>
      <a:folHlink>
        <a:srgbClr val="FF9900"/>
      </a:folHlink>
    </a:clrScheme>
    <a:fontScheme name="默认设计模板">
      <a:majorFont>
        <a:latin typeface="New Century Schoolbook"/>
        <a:ea typeface="仿宋_GB2312"/>
        <a:cs typeface=""/>
      </a:majorFont>
      <a:minorFont>
        <a:latin typeface="New Century Schoolbook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EFFEDA"/>
        </a:accent1>
        <a:accent2>
          <a:srgbClr val="6600CC"/>
        </a:accent2>
        <a:accent3>
          <a:srgbClr val="FFFFE9"/>
        </a:accent3>
        <a:accent4>
          <a:srgbClr val="000000"/>
        </a:accent4>
        <a:accent5>
          <a:srgbClr val="F6FEEA"/>
        </a:accent5>
        <a:accent6>
          <a:srgbClr val="5C00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8F8F8"/>
        </a:accent1>
        <a:accent2>
          <a:srgbClr val="6600CC"/>
        </a:accent2>
        <a:accent3>
          <a:srgbClr val="FFFFE9"/>
        </a:accent3>
        <a:accent4>
          <a:srgbClr val="000000"/>
        </a:accent4>
        <a:accent5>
          <a:srgbClr val="FBFBFB"/>
        </a:accent5>
        <a:accent6>
          <a:srgbClr val="5C00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ettymono03">
  <a:themeElements>
    <a:clrScheme name="bettymono03 5">
      <a:dk1>
        <a:srgbClr val="000000"/>
      </a:dk1>
      <a:lt1>
        <a:srgbClr val="FFFFFF"/>
      </a:lt1>
      <a:dk2>
        <a:srgbClr val="000066"/>
      </a:dk2>
      <a:lt2>
        <a:srgbClr val="CCFFFF"/>
      </a:lt2>
      <a:accent1>
        <a:srgbClr val="000068"/>
      </a:accent1>
      <a:accent2>
        <a:srgbClr val="2BD1B9"/>
      </a:accent2>
      <a:accent3>
        <a:srgbClr val="FFFFFF"/>
      </a:accent3>
      <a:accent4>
        <a:srgbClr val="000000"/>
      </a:accent4>
      <a:accent5>
        <a:srgbClr val="AAAAB9"/>
      </a:accent5>
      <a:accent6>
        <a:srgbClr val="26BDA7"/>
      </a:accent6>
      <a:hlink>
        <a:srgbClr val="87D7FF"/>
      </a:hlink>
      <a:folHlink>
        <a:srgbClr val="969696"/>
      </a:folHlink>
    </a:clrScheme>
    <a:fontScheme name="bettymono03">
      <a:majorFont>
        <a:latin typeface="New Century Schoolbook"/>
        <a:ea typeface="黑体"/>
        <a:cs typeface=""/>
      </a:majorFont>
      <a:minorFont>
        <a:latin typeface="New Century Schoolbook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noFill/>
          <a:miter lim="800000"/>
          <a:headEnd/>
          <a:tailEnd/>
        </a:ln>
      </a:spPr>
      <a:bodyPr>
        <a:spAutoFit/>
      </a:bodyPr>
      <a:lstStyle>
        <a:defPPr marL="342900" indent="-342900" latinLnBrk="0">
          <a:spcBef>
            <a:spcPct val="20000"/>
          </a:spcBef>
          <a:buClr>
            <a:schemeClr val="accent2"/>
          </a:buClr>
          <a:buFont typeface="Wingdings" pitchFamily="2" charset="2"/>
          <a:buChar char="Ø"/>
          <a:defRPr sz="2400" dirty="0" smtClean="0">
            <a:latin typeface="Cambria Math" panose="02040503050406030204" pitchFamily="18" charset="0"/>
            <a:ea typeface="Cambria Math" panose="020405030504060302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lnDef>
    <a:txDef>
      <a:spPr bwMode="auto">
        <a:noFill/>
        <a:ln w="9525" algn="ctr">
          <a:solidFill>
            <a:schemeClr val="tx1"/>
          </a:solidFill>
          <a:miter lim="800000"/>
          <a:headEnd/>
          <a:tailEnd/>
        </a:ln>
      </a:spPr>
      <a:bodyPr/>
      <a:lstStyle>
        <a:defPPr eaLnBrk="1" hangingPunct="1">
          <a:spcBef>
            <a:spcPct val="50000"/>
          </a:spcBef>
          <a:defRPr b="1">
            <a:latin typeface="Times New Roman" pitchFamily="18" charset="0"/>
          </a:defRPr>
        </a:defPPr>
      </a:lstStyle>
    </a:txDef>
  </a:objectDefaults>
  <a:extraClrSchemeLst>
    <a:extraClrScheme>
      <a:clrScheme name="bettymono03 1">
        <a:dk1>
          <a:srgbClr val="000000"/>
        </a:dk1>
        <a:lt1>
          <a:srgbClr val="FFFFFF"/>
        </a:lt1>
        <a:dk2>
          <a:srgbClr val="000000"/>
        </a:dk2>
        <a:lt2>
          <a:srgbClr val="CCFFFF"/>
        </a:lt2>
        <a:accent1>
          <a:srgbClr val="0033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E78A2D"/>
        </a:accent6>
        <a:hlink>
          <a:srgbClr val="6699FF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2">
        <a:dk1>
          <a:srgbClr val="000000"/>
        </a:dk1>
        <a:lt1>
          <a:srgbClr val="FFFFFF"/>
        </a:lt1>
        <a:dk2>
          <a:srgbClr val="000000"/>
        </a:dk2>
        <a:lt2>
          <a:srgbClr val="CCCCFF"/>
        </a:lt2>
        <a:accent1>
          <a:srgbClr val="3E009A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AFAACA"/>
        </a:accent5>
        <a:accent6>
          <a:srgbClr val="E78A2D"/>
        </a:accent6>
        <a:hlink>
          <a:srgbClr val="FFE161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3">
        <a:dk1>
          <a:srgbClr val="000000"/>
        </a:dk1>
        <a:lt1>
          <a:srgbClr val="FFFFFF"/>
        </a:lt1>
        <a:dk2>
          <a:srgbClr val="000000"/>
        </a:dk2>
        <a:lt2>
          <a:srgbClr val="CCFFCC"/>
        </a:lt2>
        <a:accent1>
          <a:srgbClr val="004240"/>
        </a:accent1>
        <a:accent2>
          <a:srgbClr val="7FBE00"/>
        </a:accent2>
        <a:accent3>
          <a:srgbClr val="FFFFFF"/>
        </a:accent3>
        <a:accent4>
          <a:srgbClr val="000000"/>
        </a:accent4>
        <a:accent5>
          <a:srgbClr val="AAB0AF"/>
        </a:accent5>
        <a:accent6>
          <a:srgbClr val="72AC00"/>
        </a:accent6>
        <a:hlink>
          <a:srgbClr val="FFFF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4">
        <a:dk1>
          <a:srgbClr val="000000"/>
        </a:dk1>
        <a:lt1>
          <a:srgbClr val="FFFFFF"/>
        </a:lt1>
        <a:dk2>
          <a:srgbClr val="000000"/>
        </a:dk2>
        <a:lt2>
          <a:srgbClr val="CCFFCC"/>
        </a:lt2>
        <a:accent1>
          <a:srgbClr val="000000"/>
        </a:accent1>
        <a:accent2>
          <a:srgbClr val="33CC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B9E7"/>
        </a:accent6>
        <a:hlink>
          <a:srgbClr val="99FFCC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5">
        <a:dk1>
          <a:srgbClr val="000000"/>
        </a:dk1>
        <a:lt1>
          <a:srgbClr val="FFFFFF"/>
        </a:lt1>
        <a:dk2>
          <a:srgbClr val="000066"/>
        </a:dk2>
        <a:lt2>
          <a:srgbClr val="CCFFFF"/>
        </a:lt2>
        <a:accent1>
          <a:srgbClr val="000068"/>
        </a:accent1>
        <a:accent2>
          <a:srgbClr val="2BD1B9"/>
        </a:accent2>
        <a:accent3>
          <a:srgbClr val="FFFFFF"/>
        </a:accent3>
        <a:accent4>
          <a:srgbClr val="000000"/>
        </a:accent4>
        <a:accent5>
          <a:srgbClr val="AAAAB9"/>
        </a:accent5>
        <a:accent6>
          <a:srgbClr val="26BDA7"/>
        </a:accent6>
        <a:hlink>
          <a:srgbClr val="87D7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12370</TotalTime>
  <Words>1447</Words>
  <Application>Microsoft Office PowerPoint</Application>
  <PresentationFormat>全屏显示(4:3)</PresentationFormat>
  <Paragraphs>185</Paragraphs>
  <Slides>15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17" baseType="lpstr">
      <vt:lpstr>默认设计模板</vt:lpstr>
      <vt:lpstr>bettymono03</vt:lpstr>
      <vt:lpstr>编译器设计专题实验课2026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CUHK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andrejb</dc:creator>
  <cp:lastModifiedBy>微软用户</cp:lastModifiedBy>
  <cp:revision>598</cp:revision>
  <cp:lastPrinted>2011-10-10T03:21:30Z</cp:lastPrinted>
  <dcterms:created xsi:type="dcterms:W3CDTF">2010-10-06T02:55:19Z</dcterms:created>
  <dcterms:modified xsi:type="dcterms:W3CDTF">2026-04-20T06:43:22Z</dcterms:modified>
</cp:coreProperties>
</file>