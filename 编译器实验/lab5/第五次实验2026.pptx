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omments/comment1.xml" ContentType="application/vnd.openxmlformats-officedocument.presentationml.comment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4111" r:id="rId2"/>
  </p:sldMasterIdLst>
  <p:notesMasterIdLst>
    <p:notesMasterId r:id="rId23"/>
  </p:notesMasterIdLst>
  <p:handoutMasterIdLst>
    <p:handoutMasterId r:id="rId24"/>
  </p:handoutMasterIdLst>
  <p:sldIdLst>
    <p:sldId id="322" r:id="rId3"/>
    <p:sldId id="2057" r:id="rId4"/>
    <p:sldId id="2060" r:id="rId5"/>
    <p:sldId id="2080" r:id="rId6"/>
    <p:sldId id="2063" r:id="rId7"/>
    <p:sldId id="2061" r:id="rId8"/>
    <p:sldId id="2064" r:id="rId9"/>
    <p:sldId id="2066" r:id="rId10"/>
    <p:sldId id="2067" r:id="rId11"/>
    <p:sldId id="2070" r:id="rId12"/>
    <p:sldId id="2076" r:id="rId13"/>
    <p:sldId id="2077" r:id="rId14"/>
    <p:sldId id="2078" r:id="rId15"/>
    <p:sldId id="2079" r:id="rId16"/>
    <p:sldId id="2068" r:id="rId17"/>
    <p:sldId id="2062" r:id="rId18"/>
    <p:sldId id="2071" r:id="rId19"/>
    <p:sldId id="2072" r:id="rId20"/>
    <p:sldId id="2073" r:id="rId21"/>
    <p:sldId id="2075" r:id="rId22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0E9C7-26B6-44E2-9E63-943E684250D4}">
          <p14:sldIdLst>
            <p14:sldId id="322"/>
            <p14:sldId id="2057"/>
            <p14:sldId id="2060"/>
            <p14:sldId id="2080"/>
            <p14:sldId id="2063"/>
            <p14:sldId id="2061"/>
            <p14:sldId id="2064"/>
            <p14:sldId id="2066"/>
            <p14:sldId id="2067"/>
            <p14:sldId id="2070"/>
            <p14:sldId id="2076"/>
            <p14:sldId id="2077"/>
            <p14:sldId id="2078"/>
            <p14:sldId id="2079"/>
            <p14:sldId id="2068"/>
            <p14:sldId id="2062"/>
            <p14:sldId id="2071"/>
            <p14:sldId id="2072"/>
            <p14:sldId id="2073"/>
            <p14:sldId id="207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xmlns="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FCD"/>
    <a:srgbClr val="9900FF"/>
    <a:srgbClr val="CC99FF"/>
    <a:srgbClr val="FFFF99"/>
    <a:srgbClr val="FF0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542" autoAdjust="0"/>
  </p:normalViewPr>
  <p:slideViewPr>
    <p:cSldViewPr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4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1T19:47:06.885" idx="1">
    <p:pos x="10" y="10"/>
    <p:text/>
    <p:extLst>
      <p:ext uri="{C676402C-5697-4E1C-873F-D02D1690AC5C}">
        <p15:threadingInfo xmlns:p15="http://schemas.microsoft.com/office/powerpoint/2012/main" xmlns="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0476C6-A73D-4127-9355-983E64C22B03}" type="datetimeFigureOut">
              <a:rPr lang="zh-CN" altLang="en-US"/>
              <a:pPr/>
              <a:t>2026/5/14</a:t>
            </a:fld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499ECC-0CCF-4A71-814B-16DE56F04B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406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26FF10-905A-456B-8448-3C00A8879EA4}" type="datetimeFigureOut">
              <a:rPr lang="zh-CN" altLang="en-US"/>
              <a:pPr>
                <a:defRPr/>
              </a:pPr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D789C0-5935-446E-B1F4-42F088224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789C0-5935-446E-B1F4-42F0882245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218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8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807FC17-1C9E-4F8C-88D9-D8DFD9B90ACA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3AAA4EE-6B8F-411D-B87F-93A159326F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541AF8D-B3D7-4FE9-8B08-D6E788EE449C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5DC97-F21A-4696-89E7-FF9AD1993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5"/>
          <p:cNvSpPr txBox="1"/>
          <p:nvPr userDrawn="1"/>
        </p:nvSpPr>
        <p:spPr>
          <a:xfrm>
            <a:off x="6839744" y="0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西安交通大学赵银亮</a:t>
            </a:r>
            <a:endParaRPr lang="en-US" altLang="zh-CN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  <a:p>
            <a:pPr algn="ctr"/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《</a:t>
            </a:r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形式语言与编译</a:t>
            </a:r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》</a:t>
            </a:r>
            <a:endParaRPr lang="zh-CN" altLang="en-US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89009D1-2B36-4D2C-9D4F-EEB90A38386D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AC66141-66F2-4D3B-9360-5D7AD8B02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981075"/>
            <a:ext cx="4208463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981075"/>
            <a:ext cx="42084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6D98F9-3672-4225-BC10-03EFCF7A32DE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F9C476-AC91-4B5F-851C-25042C2047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E6CB3B0-AC19-4BCA-AE85-B2397647BE23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6BCCD4-78BB-4A98-A30D-917DE64AA5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223DC6B-EEF4-4C7D-A9D8-DEDB8153002C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8EBE35-3097-4DFB-84D4-CDEEA36BEF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FC1E4C-9029-4E3A-8A14-797A659582D7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9A3ABF8-3BA0-4975-9C24-50B959923F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C3716A0-C629-44EC-8886-F1982DF0A0FB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5A54F0-219B-4885-8816-1DCB2C228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CED0AC1-BFD7-4B0A-869E-9AA162B4CDBF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40F4B0B-157D-4EFD-9B70-7D87B5033A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AB5A83-C808-49D2-85F8-16A88CCA0D37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4A5DBD-A33A-4C1C-A1AB-EAA24CE91D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32588" y="44450"/>
            <a:ext cx="2160587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4450"/>
            <a:ext cx="6329363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3D344CE-E26C-45A2-8907-1CC7A50A90AC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6A5130-3728-4351-9C9E-1B8D7B7D05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981075"/>
            <a:ext cx="8569325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B9EBCD-1500-4B34-B597-18BC8D59A588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5868082-8011-4B9E-A200-46897186A1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52736"/>
            <a:ext cx="9144000" cy="2232025"/>
          </a:xfrm>
        </p:spPr>
        <p:txBody>
          <a:bodyPr/>
          <a:lstStyle>
            <a:lvl1pPr>
              <a:defRPr sz="4000" b="0">
                <a:solidFill>
                  <a:srgbClr val="FF0000"/>
                </a:solidFill>
                <a:latin typeface="Garamond" pitchFamily="18" charset="0"/>
                <a:ea typeface="+mj-ea"/>
              </a:defRPr>
            </a:lvl1pPr>
          </a:lstStyle>
          <a:p>
            <a:r>
              <a:rPr lang="en-US" altLang="ko-KR" dirty="0"/>
              <a:t>Click to edit Master title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21088"/>
            <a:ext cx="8686800" cy="49244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COMPANY LOGO</a:t>
            </a:r>
          </a:p>
        </p:txBody>
      </p:sp>
      <p:pic>
        <p:nvPicPr>
          <p:cNvPr id="12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Cambria Math" panose="02040503050406030204" pitchFamily="18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234458"/>
          </a:xfrm>
        </p:spPr>
        <p:txBody>
          <a:bodyPr/>
          <a:lstStyle>
            <a:lvl1pPr marL="342900" indent="-342900"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1pPr>
            <a:lvl2pPr marL="742950" indent="-285750"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>
              <a:buClr>
                <a:schemeClr val="accent3">
                  <a:lumMod val="75000"/>
                </a:schemeClr>
              </a:buClr>
              <a:defRPr>
                <a:latin typeface="+mn-ea"/>
                <a:ea typeface="+mn-ea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249" y="6597352"/>
            <a:ext cx="516255" cy="209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23318" r="10626" b="24722"/>
          <a:stretch/>
        </p:blipFill>
        <p:spPr>
          <a:xfrm>
            <a:off x="8283332" y="44624"/>
            <a:ext cx="82517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208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7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749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713787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250825" y="981075"/>
            <a:ext cx="8642350" cy="461665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5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6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AF5FE"/>
            </a:gs>
            <a:gs pos="50000">
              <a:srgbClr val="FFFFFF"/>
            </a:gs>
            <a:gs pos="100000">
              <a:srgbClr val="DAF5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44450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1075"/>
            <a:ext cx="8569325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400">
                <a:solidFill>
                  <a:srgbClr val="99FFCC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547A495-6F0F-40D1-8022-D8CF4A5D3462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73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61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74C855A-3850-4EA8-9BE2-1AAA92189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6185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76200"/>
          </a:xfrm>
          <a:prstGeom prst="rect">
            <a:avLst/>
          </a:prstGeom>
          <a:gradFill rotWithShape="1">
            <a:gsLst>
              <a:gs pos="0">
                <a:srgbClr val="000068"/>
              </a:gs>
              <a:gs pos="100000">
                <a:srgbClr val="6600CC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zh-CN" altLang="en-US" sz="1800">
              <a:solidFill>
                <a:srgbClr val="000000"/>
              </a:solidFill>
              <a:latin typeface="Gulim" pitchFamily="34" charset="-127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000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5000"/>
        </a:spcBef>
        <a:spcAft>
          <a:spcPct val="5000"/>
        </a:spcAft>
        <a:buClr>
          <a:srgbClr val="FF9900"/>
        </a:buClr>
        <a:buFont typeface="Wingdings" pitchFamily="2" charset="2"/>
        <a:buBlip>
          <a:blip r:embed="rId17"/>
        </a:buBlip>
        <a:defRPr sz="2400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9" descr="图片1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452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79388" y="0"/>
            <a:ext cx="8713787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Click to edit Master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7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3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accent1"/>
          </a:solidFill>
          <a:latin typeface="Cambria Math" panose="020405030504060302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Cambria Math" panose="02040503050406030204" pitchFamily="18" charset="0"/>
        <a:buChar char="▻"/>
        <a:defRPr kumimoji="1" sz="2400" b="0">
          <a:solidFill>
            <a:schemeClr val="tx1"/>
          </a:solidFill>
          <a:latin typeface="Cambria Math" panose="02040503050406030204" pitchFamily="18" charset="0"/>
          <a:ea typeface="仿宋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Cambria Math" panose="02040503050406030204" pitchFamily="18" charset="0"/>
        <a:buChar char="⥼"/>
        <a:defRPr kumimoji="1" sz="2400" b="0">
          <a:solidFill>
            <a:srgbClr val="000000"/>
          </a:solidFill>
          <a:latin typeface="Cambria Math" panose="02040503050406030204" pitchFamily="18" charset="0"/>
          <a:ea typeface="仿宋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0">
          <a:solidFill>
            <a:srgbClr val="000000"/>
          </a:solidFill>
          <a:latin typeface="Garamond" pitchFamily="18" charset="0"/>
          <a:ea typeface="Garamond" pitchFamily="18" charset="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005263"/>
            <a:ext cx="8686800" cy="2160587"/>
          </a:xfrm>
        </p:spPr>
        <p:txBody>
          <a:bodyPr/>
          <a:lstStyle/>
          <a:p>
            <a:pPr eaLnBrk="1" hangingPunct="1"/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2026.05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编译器设计专题实验课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2026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819781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实验五：</a:t>
            </a:r>
            <a:r>
              <a:rPr lang="en-US" altLang="zh-CN" b="1" dirty="0">
                <a:latin typeface="+mn-ea"/>
              </a:rPr>
              <a:t>SLR</a:t>
            </a:r>
            <a:r>
              <a:rPr lang="zh-CN" altLang="en-US" b="1" dirty="0">
                <a:latin typeface="+mn-ea"/>
              </a:rPr>
              <a:t>引导的语义分析框架实现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SLR(1)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语法分析的基础上，集成语义动作，构建抽象语法树（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AST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）并维护符号表，完成类型检查和初步语义验证。</a:t>
            </a:r>
            <a:endParaRPr lang="en-US" altLang="zh-CN" b="1" i="0" dirty="0">
              <a:solidFill>
                <a:srgbClr val="404040"/>
              </a:solidFill>
              <a:effectLst/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文法扩展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在产生式中嵌入语义动作；属性计算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实现属性值的传递（如表达式类型、变量地址等）；符号表管理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支持变量声明、作用域嵌套和类型查询；错误检测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报告重复声明、类型不匹配等语义错误。</a:t>
            </a:r>
          </a:p>
          <a:p>
            <a:pPr marL="457200" lvl="1" indent="0">
              <a:buNone/>
            </a:pP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、实验五：语义分析框架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192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555844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实验五：</a:t>
            </a:r>
            <a:r>
              <a:rPr lang="en-US" altLang="zh-CN" b="1" dirty="0">
                <a:latin typeface="+mn-ea"/>
              </a:rPr>
              <a:t>SLR</a:t>
            </a:r>
            <a:r>
              <a:rPr lang="zh-CN" altLang="en-US" b="1" dirty="0">
                <a:latin typeface="+mn-ea"/>
              </a:rPr>
              <a:t>引导的语义分析框架实现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输入：</a:t>
            </a:r>
            <a:r>
              <a:rPr lang="en-US" altLang="zh-CN" b="1" dirty="0">
                <a:latin typeface="+mn-ea"/>
              </a:rPr>
              <a:t>-SLR(1)</a:t>
            </a:r>
            <a:r>
              <a:rPr lang="zh-CN" altLang="en-US" b="1" dirty="0">
                <a:latin typeface="+mn-ea"/>
              </a:rPr>
              <a:t>分析表（实验四输出）嵌入语义动作的文法规则（文件或硬编码）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+mn-ea"/>
              </a:rPr>
              <a:t>- Token</a:t>
            </a:r>
            <a:r>
              <a:rPr lang="zh-CN" altLang="en-US" b="1" dirty="0">
                <a:latin typeface="+mn-ea"/>
              </a:rPr>
              <a:t>流（实验二输出）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输出：</a:t>
            </a:r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抽象语法树（</a:t>
            </a:r>
            <a:r>
              <a:rPr lang="en-US" altLang="zh-CN" b="1" dirty="0">
                <a:latin typeface="+mn-ea"/>
              </a:rPr>
              <a:t>AST</a:t>
            </a:r>
            <a:r>
              <a:rPr lang="zh-CN" altLang="en-US" b="1" dirty="0">
                <a:latin typeface="+mn-ea"/>
              </a:rPr>
              <a:t>）的可视化表示，符号表（变量名、类型、作用域），语义错误报告（如类型错误）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在</a:t>
            </a:r>
            <a:r>
              <a:rPr lang="en-US" altLang="zh-CN" dirty="0"/>
              <a:t>SLR(1)</a:t>
            </a:r>
            <a:r>
              <a:rPr lang="zh-CN" altLang="en-US" dirty="0"/>
              <a:t>语法分析的基础上，集成语义动作，构建抽象语法树（</a:t>
            </a:r>
            <a:r>
              <a:rPr lang="en-US" altLang="zh-CN" dirty="0"/>
              <a:t>AST</a:t>
            </a:r>
            <a:r>
              <a:rPr lang="zh-CN" altLang="en-US" dirty="0"/>
              <a:t>）并维护符号表，完成类型检查和初步语义验证。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、实验五：语义分析框架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766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3564053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                          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                                            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9363F09D-26C1-45C2-9B6A-232A0F0B5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66799"/>
            <a:ext cx="7924800" cy="569053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、实验五：语义分析框架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86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179126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实验六、七八的安排和输入输出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、实验五：语义分析框架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xmlns="" id="{EE3F5A04-9A90-42BB-8FB1-E7ACE295C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980120"/>
              </p:ext>
            </p:extLst>
          </p:nvPr>
        </p:nvGraphicFramePr>
        <p:xfrm>
          <a:off x="762000" y="1412240"/>
          <a:ext cx="708660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xmlns="" val="1458434977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xmlns="" val="225098004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xmlns="" val="2698050869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xmlns="" val="3651546274"/>
                    </a:ext>
                  </a:extLst>
                </a:gridCol>
              </a:tblGrid>
              <a:tr h="395769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effectLst/>
                        </a:rPr>
                        <a:t>实验阶段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effectLst/>
                        </a:rPr>
                        <a:t>输入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effectLst/>
                        </a:rPr>
                        <a:t>输出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核心任务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69222261"/>
                  </a:ext>
                </a:extLst>
              </a:tr>
              <a:tr h="395769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实验六</a:t>
                      </a:r>
                      <a:endParaRPr lang="zh-CN" alt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AST、</a:t>
                      </a:r>
                      <a:r>
                        <a:rPr lang="zh-CN" altLang="en-US">
                          <a:effectLst/>
                        </a:rPr>
                        <a:t>符号表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中间代码（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三地址码、四元式或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LLVM IR</a:t>
                      </a:r>
                      <a:r>
                        <a:rPr lang="zh-CN" altLang="en-US" dirty="0">
                          <a:effectLst/>
                        </a:rPr>
                        <a:t>）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语法树翻译为中间表示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xmlns="" val="1764253993"/>
                  </a:ext>
                </a:extLst>
              </a:tr>
              <a:tr h="395769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实验七</a:t>
                      </a:r>
                      <a:endParaRPr lang="zh-CN" alt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中间代码、符号表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内存地址映射文件</a:t>
                      </a:r>
                      <a:endParaRPr lang="zh-CN" altLang="en-US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内存地址分配与代码序列化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xmlns="" val="17681885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实验八</a:t>
                      </a:r>
                      <a:endParaRPr lang="zh-CN" alt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中间代码、内存映像、符号表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汇编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可执行代码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目标代码生成与优化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xmlns="" val="159692323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D7A33417-56E3-40C1-9822-3FD587CE8F81}"/>
              </a:ext>
            </a:extLst>
          </p:cNvPr>
          <p:cNvSpPr txBox="1"/>
          <p:nvPr/>
        </p:nvSpPr>
        <p:spPr bwMode="auto">
          <a:xfrm>
            <a:off x="762000" y="4419600"/>
            <a:ext cx="7315200" cy="120032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Times New Roman" pitchFamily="18" charset="0"/>
              </a:rPr>
              <a:t>第七次课程开始验收，同学们可以参考思源学堂的示例代码开始准备。验收阶段从源程序阶段到中间代码或者目标代码阶段。</a:t>
            </a:r>
            <a:endParaRPr lang="zh-CN" altLang="en-US" b="1" dirty="0">
              <a:latin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56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5669244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实验步骤：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文法扩展：为每个产生式添加语义动作（例如生成</a:t>
            </a:r>
            <a:r>
              <a:rPr lang="en-US" altLang="zh-CN" b="1" dirty="0">
                <a:latin typeface="+mn-ea"/>
              </a:rPr>
              <a:t>AST</a:t>
            </a:r>
            <a:r>
              <a:rPr lang="zh-CN" altLang="en-US" b="1" dirty="0">
                <a:latin typeface="+mn-ea"/>
              </a:rPr>
              <a:t>节点或更新符号表）；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属性栈设计：在语法分析栈旁维护属性栈，保存每个符号的语义值（如</a:t>
            </a:r>
            <a:r>
              <a:rPr lang="en-US" altLang="zh-CN" b="1" dirty="0">
                <a:latin typeface="+mn-ea"/>
              </a:rPr>
              <a:t>AST</a:t>
            </a:r>
            <a:r>
              <a:rPr lang="zh-CN" altLang="en-US" b="1" dirty="0">
                <a:latin typeface="+mn-ea"/>
              </a:rPr>
              <a:t>节点指针、类型）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语义动作执行：规约时调用对应的语义动作函数，操作属性栈和符号表。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符号表实现：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支持作用域栈结构，处理变量声明和引用。</a:t>
            </a:r>
            <a:endParaRPr lang="en-US" altLang="zh-CN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404040"/>
                </a:solidFill>
                <a:latin typeface="DeepSeek-CJK-patch"/>
              </a:rPr>
              <a:t>错误处理：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在语义动作中检测错误（如未声明变量）并记录。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9D1F3339-3078-4650-A3F0-E7575C32B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46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8414783A-7143-401F-AF8E-113EB45AB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7010760" cy="1257365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949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5"/>
            <a:ext cx="8642350" cy="3268587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实验六：中间代码生成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输入抽象语法树信息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或其他，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token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，源程序等等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。</a:t>
            </a:r>
            <a:endParaRPr lang="en-US" altLang="zh-CN" b="1" i="0" dirty="0">
              <a:solidFill>
                <a:srgbClr val="404040"/>
              </a:solidFill>
              <a:effectLst/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输出中间代码表示，三元式、四元式、三地址方式均可，以下输出均可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、实验六：中间代码生成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/>
              <a:ea typeface="宋体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9F67ED69-EFCB-4456-8158-22764D9CA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403600"/>
            <a:ext cx="2590933" cy="17780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B760C88E-F77A-4C4E-9017-9A3DC8715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2971800"/>
            <a:ext cx="5978978" cy="37072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022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7405104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实验六：中间代码生成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</a:t>
            </a:r>
            <a:r>
              <a:rPr lang="en-US" altLang="zh-CN" b="1" dirty="0">
                <a:latin typeface="+mn-ea"/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示例代码库已经上传，根据同学的修正，目前正确代码大多数，错误代码非常少，集中在词法分析阶段，能够减轻同学在出错处理阶段精力，主要用于分析文法。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D1957741-EC97-491F-95CA-35AD463E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、实验六：中间代码生成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/>
              <a:ea typeface="宋体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4EC46A72-204C-43DC-9E59-D120F02B9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981200"/>
            <a:ext cx="5054860" cy="2521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964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61665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词法规则文件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2D0C4291-0D1E-440A-BB7D-CD843CC8E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" y="1447249"/>
            <a:ext cx="4330885" cy="39635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ACFAF87-CA70-448B-BA85-CAE226276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10200"/>
            <a:ext cx="2571882" cy="12002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394A5DA1-D19C-4171-9FE7-609FFB655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438" y="875378"/>
            <a:ext cx="2798762" cy="589217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D55D447B-CD08-4983-9326-4BD7A4C25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505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61665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词法类别和正则（附录</a:t>
            </a:r>
            <a:r>
              <a:rPr lang="en-US" altLang="zh-CN" b="1" dirty="0">
                <a:latin typeface="+mn-ea"/>
              </a:rPr>
              <a:t>A</a:t>
            </a:r>
            <a:r>
              <a:rPr lang="zh-CN" altLang="en-US" b="1" dirty="0">
                <a:latin typeface="+mn-ea"/>
              </a:rPr>
              <a:t>）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D55D447B-CD08-4983-9326-4BD7A4C25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4174E7D8-21B2-40FE-A5DB-57F18324471F}"/>
              </a:ext>
            </a:extLst>
          </p:cNvPr>
          <p:cNvSpPr/>
          <p:nvPr/>
        </p:nvSpPr>
        <p:spPr>
          <a:xfrm>
            <a:off x="457200" y="1337044"/>
            <a:ext cx="836453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L([a-z][a-z0-9]*)\KEY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= {int, float, void, if, else, while, return, input, print}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= {int}; FLOAT = {float}; VOID = {void}; IF = {if}; ELSE = {else}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= {while}; RETURN = {return}; INPUT = {input}; PRINT = {print}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 = L([+-]?[0-9]*)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 = L([+-]?[0-9]*.[0-9]+|[+-]?[0-9]+.[0-9]*)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 = AOP ∪ ROP ∪ BOP ∪ {=, +=, ++}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AOP = {+, -, *, /}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= {+}; SUB = {-}; MUL = {*}; DIV = {/}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ROP = {&lt;, &lt;=, ==, &gt;, &gt;=, !=}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BOP = {^, v, |} 或 BOP = {&amp;&amp;, ||, !}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ASG = {=}; AAS = {+=}; AAA = {++}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DLI = {(, [, \{, \}, \, \_}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LPA = {(}; RPA = {)}; LBK = {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 RBK = {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 LBR = {\{}; RBR = {\}}; CMA = {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 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 = {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DE523D10-05BC-477B-9A4C-2C41A0281885}"/>
              </a:ext>
            </a:extLst>
          </p:cNvPr>
          <p:cNvSpPr/>
          <p:nvPr/>
        </p:nvSpPr>
        <p:spPr>
          <a:xfrm>
            <a:off x="322262" y="6046025"/>
            <a:ext cx="88217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n-ea"/>
                <a:ea typeface="+mn-ea"/>
              </a:rPr>
              <a:t>d:ID; </a:t>
            </a:r>
            <a:r>
              <a:rPr lang="en-US" altLang="zh-CN" sz="1800" dirty="0" err="1">
                <a:latin typeface="+mn-ea"/>
                <a:ea typeface="+mn-ea"/>
              </a:rPr>
              <a:t>int:KEY</a:t>
            </a:r>
            <a:r>
              <a:rPr lang="en-US" altLang="zh-CN" sz="1800" dirty="0">
                <a:latin typeface="+mn-ea"/>
                <a:ea typeface="+mn-ea"/>
              </a:rPr>
              <a:t>; </a:t>
            </a:r>
            <a:r>
              <a:rPr lang="en-US" altLang="zh-CN" sz="1800" dirty="0" err="1">
                <a:latin typeface="+mn-ea"/>
                <a:ea typeface="+mn-ea"/>
              </a:rPr>
              <a:t>int:INT</a:t>
            </a:r>
            <a:r>
              <a:rPr lang="en-US" altLang="zh-CN" sz="1800" dirty="0">
                <a:latin typeface="+mn-ea"/>
                <a:ea typeface="+mn-ea"/>
              </a:rPr>
              <a:t>; i:NUM; f:FLO; o:AOP; +:ADD; r:ROP; &lt;:L(&lt;);</a:t>
            </a:r>
          </a:p>
          <a:p>
            <a:r>
              <a:rPr lang="en-US" altLang="zh-CN" sz="1800" dirty="0">
                <a:latin typeface="+mn-ea"/>
                <a:ea typeface="+mn-ea"/>
              </a:rPr>
              <a:t>    ^:BOP;     ^:L(^);    &amp;&amp;:BOP;  (:DLL;   ):LPA;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990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4B12961-E990-41E6-9FF8-CED4397E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61665"/>
          </a:xfrm>
        </p:spPr>
        <p:txBody>
          <a:bodyPr/>
          <a:lstStyle/>
          <a:p>
            <a:r>
              <a:rPr lang="zh-CN" altLang="en-US" dirty="0"/>
              <a:t>二者区别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AE964AA0-0AC5-4E55-B17F-F7C8986A1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7" y="20619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DF4E6164-2D22-4EBE-BE5C-146645EED9F9}"/>
              </a:ext>
            </a:extLst>
          </p:cNvPr>
          <p:cNvSpPr/>
          <p:nvPr/>
        </p:nvSpPr>
        <p:spPr>
          <a:xfrm>
            <a:off x="914400" y="1600200"/>
            <a:ext cx="7696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两份规则的关系：附录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en-US" dirty="0">
                <a:latin typeface="+mn-ea"/>
                <a:ea typeface="+mn-ea"/>
              </a:rPr>
              <a:t>中的词法是功能更完整、定义更严谨的超集或升级版。</a:t>
            </a:r>
          </a:p>
          <a:p>
            <a:r>
              <a:rPr lang="zh-CN" altLang="en-US" dirty="0">
                <a:latin typeface="+mn-ea"/>
                <a:ea typeface="+mn-ea"/>
              </a:rPr>
              <a:t>主要区别：</a:t>
            </a:r>
          </a:p>
          <a:p>
            <a:r>
              <a:rPr lang="zh-CN" altLang="en-US" dirty="0">
                <a:latin typeface="+mn-ea"/>
                <a:ea typeface="+mn-ea"/>
              </a:rPr>
              <a:t>标识符定义：附录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en-US" dirty="0">
                <a:latin typeface="+mn-ea"/>
                <a:ea typeface="+mn-ea"/>
              </a:rPr>
              <a:t>中的词法通过 </a:t>
            </a:r>
            <a:r>
              <a:rPr lang="en-US" altLang="zh-CN" dirty="0">
                <a:latin typeface="+mn-ea"/>
                <a:ea typeface="+mn-ea"/>
              </a:rPr>
              <a:t>\KEY </a:t>
            </a:r>
            <a:r>
              <a:rPr lang="zh-CN" altLang="en-US" dirty="0">
                <a:latin typeface="+mn-ea"/>
                <a:ea typeface="+mn-ea"/>
              </a:rPr>
              <a:t>操作排除了关键字，避免了词法分析冲突，而第一个词法规则没有，</a:t>
            </a:r>
          </a:p>
          <a:p>
            <a:r>
              <a:rPr lang="zh-CN" altLang="en-US" dirty="0">
                <a:latin typeface="+mn-ea"/>
                <a:ea typeface="+mn-ea"/>
              </a:rPr>
              <a:t>运算符完整性：第一个词法规则严重缺失关系运算符（如 </a:t>
            </a:r>
            <a:r>
              <a:rPr lang="en-US" altLang="zh-CN" dirty="0">
                <a:latin typeface="+mn-ea"/>
                <a:ea typeface="+mn-ea"/>
              </a:rPr>
              <a:t>&gt;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!=</a:t>
            </a:r>
            <a:r>
              <a:rPr lang="zh-CN" altLang="en-US" dirty="0">
                <a:latin typeface="+mn-ea"/>
                <a:ea typeface="+mn-ea"/>
              </a:rPr>
              <a:t>）、赋值运算符和逻辑运算符，无法描述完整程序。附录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en-US" dirty="0">
                <a:latin typeface="+mn-ea"/>
                <a:ea typeface="+mn-ea"/>
              </a:rPr>
              <a:t>中的词法定义了完整的运算符集。</a:t>
            </a:r>
          </a:p>
          <a:p>
            <a:r>
              <a:rPr lang="zh-CN" altLang="en-US" dirty="0" smtClean="0">
                <a:latin typeface="+mn-ea"/>
                <a:ea typeface="+mn-ea"/>
              </a:rPr>
              <a:t>请注意数值</a:t>
            </a:r>
            <a:r>
              <a:rPr lang="zh-CN" altLang="en-US" dirty="0">
                <a:latin typeface="+mn-ea"/>
                <a:ea typeface="+mn-ea"/>
              </a:rPr>
              <a:t>定义：规则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zh-CN" altLang="en-US" dirty="0">
                <a:latin typeface="+mn-ea"/>
                <a:ea typeface="+mn-ea"/>
              </a:rPr>
              <a:t>的整数定义（</a:t>
            </a:r>
            <a:r>
              <a:rPr lang="en-US" altLang="zh-CN" dirty="0">
                <a:latin typeface="+mn-ea"/>
                <a:ea typeface="+mn-ea"/>
              </a:rPr>
              <a:t>[0-9]*</a:t>
            </a:r>
            <a:r>
              <a:rPr lang="zh-CN" altLang="en-US" dirty="0">
                <a:latin typeface="+mn-ea"/>
                <a:ea typeface="+mn-ea"/>
              </a:rPr>
              <a:t>）可能匹配空字符</a:t>
            </a:r>
            <a:r>
              <a:rPr lang="zh-CN" altLang="en-US" dirty="0" smtClean="0">
                <a:latin typeface="+mn-ea"/>
                <a:ea typeface="+mn-ea"/>
              </a:rPr>
              <a:t>串。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148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4B12961-E990-41E6-9FF8-CED4397E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805203"/>
            <a:ext cx="8642350" cy="461665"/>
          </a:xfrm>
        </p:spPr>
        <p:txBody>
          <a:bodyPr/>
          <a:lstStyle/>
          <a:p>
            <a:r>
              <a:rPr lang="zh-CN" altLang="en-US" dirty="0"/>
              <a:t>主文法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AE964AA0-0AC5-4E55-B17F-F7C8986A1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7" y="20619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59FBD50B-5B72-4F98-94A6-E11EFFB5E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6514"/>
            <a:ext cx="5562886" cy="35434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xmlns="" id="{A60FF280-977C-4421-84E9-D0BF5535DB2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0764" y="5029200"/>
                <a:ext cx="8642350" cy="12466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>
                      <a:lumMod val="50000"/>
                    </a:schemeClr>
                  </a:buClr>
                  <a:buFont typeface="Cambria Math" panose="02040503050406030204" pitchFamily="18" charset="0"/>
                  <a:buChar char="⌲"/>
                  <a:defRPr kumimoji="1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仿宋" panose="02010609060101010101" pitchFamily="49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Font typeface="Cambria Math" panose="02040503050406030204" pitchFamily="18" charset="0"/>
                  <a:buChar char="•"/>
                  <a:defRPr kumimoji="1" sz="2400" b="0">
                    <a:solidFill>
                      <a:srgbClr val="000000"/>
                    </a:solidFill>
                    <a:latin typeface="Cambria Math" panose="02040503050406030204" pitchFamily="18" charset="0"/>
                    <a:ea typeface="仿宋" panose="02010609060101010101" pitchFamily="49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3">
                      <a:lumMod val="75000"/>
                    </a:schemeClr>
                  </a:buClr>
                  <a:buFont typeface="Wingdings" pitchFamily="2" charset="2"/>
                  <a:buChar char="§"/>
                  <a:defRPr kumimoji="1" sz="2400">
                    <a:solidFill>
                      <a:srgbClr val="000000"/>
                    </a:solidFill>
                    <a:latin typeface="+mn-ea"/>
                    <a:ea typeface="+mn-ea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b="0">
                    <a:solidFill>
                      <a:srgbClr val="000000"/>
                    </a:solidFill>
                    <a:latin typeface="Garamond" pitchFamily="18" charset="0"/>
                    <a:ea typeface="Garamond" pitchFamily="18" charset="0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2400">
                    <a:solidFill>
                      <a:srgbClr val="000000"/>
                    </a:solidFill>
                    <a:latin typeface="Verdana" pitchFamily="34" charset="0"/>
                    <a:ea typeface="Gulim" pitchFamily="34" charset="-127"/>
                  </a:defRPr>
                </a:lvl5pPr>
                <a:lvl6pPr marL="2438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2400">
                    <a:solidFill>
                      <a:srgbClr val="000000"/>
                    </a:solidFill>
                    <a:latin typeface="Verdana" pitchFamily="34" charset="0"/>
                    <a:ea typeface="Gulim" pitchFamily="34" charset="-127"/>
                  </a:defRPr>
                </a:lvl6pPr>
                <a:lvl7pPr marL="2895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2400">
                    <a:solidFill>
                      <a:srgbClr val="000000"/>
                    </a:solidFill>
                    <a:latin typeface="Verdana" pitchFamily="34" charset="0"/>
                    <a:ea typeface="Gulim" pitchFamily="34" charset="-127"/>
                  </a:defRPr>
                </a:lvl7pPr>
                <a:lvl8pPr marL="3352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2400">
                    <a:solidFill>
                      <a:srgbClr val="000000"/>
                    </a:solidFill>
                    <a:latin typeface="Verdana" pitchFamily="34" charset="0"/>
                    <a:ea typeface="Gulim" pitchFamily="34" charset="-127"/>
                  </a:defRPr>
                </a:lvl8pPr>
                <a:lvl9pPr marL="3810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2400">
                    <a:solidFill>
                      <a:srgbClr val="000000"/>
                    </a:solidFill>
                    <a:latin typeface="Verdana" pitchFamily="34" charset="0"/>
                    <a:ea typeface="Gulim" pitchFamily="34" charset="-127"/>
                  </a:defRPr>
                </a:lvl9pPr>
              </a:lstStyle>
              <a:p>
                <a:r>
                  <a:rPr lang="zh-CN" altLang="en-US" kern="0" dirty="0"/>
                  <a:t>每个变元都指代一种语法单元</a:t>
                </a:r>
                <a:r>
                  <a:rPr lang="en-US" altLang="zh-CN" kern="0" dirty="0"/>
                  <a:t>:</a:t>
                </a:r>
                <a:r>
                  <a:rPr lang="zh-CN" altLang="en-US" kern="0" dirty="0"/>
                  <a:t>程序</a:t>
                </a:r>
                <a:r>
                  <a:rPr lang="en-US" altLang="zh-CN" kern="0" dirty="0"/>
                  <a:t>P</a:t>
                </a:r>
                <a:r>
                  <a:rPr lang="zh-CN" altLang="en-US" kern="0" dirty="0"/>
                  <a:t>，声明表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n-US" altLang="zh-CN" i="1" kern="0" dirty="0" smtClean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kern="0" dirty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kern="0" dirty="0"/>
                  <a:t>，声明</a:t>
                </a:r>
                <a:r>
                  <a:rPr lang="en-US" altLang="zh-CN" kern="0" dirty="0"/>
                  <a:t>D</a:t>
                </a:r>
                <a:r>
                  <a:rPr lang="zh-CN" altLang="en-US" kern="0" dirty="0"/>
                  <a:t>，类型</a:t>
                </a:r>
                <a:r>
                  <a:rPr lang="en-US" altLang="zh-CN" kern="0" dirty="0"/>
                  <a:t>T</a:t>
                </a:r>
                <a:r>
                  <a:rPr lang="zh-CN" altLang="en-US" kern="0" dirty="0"/>
                  <a:t>，整数表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n-US" altLang="zh-CN" i="1" kern="0" dirty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acc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/>
                  <a:t>，形参表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n-US" altLang="zh-CN" i="1" kern="0" dirty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/>
                  <a:t>，形参</a:t>
                </a:r>
                <a:r>
                  <a:rPr lang="en-US" altLang="zh-CN" kern="0" dirty="0"/>
                  <a:t>A</a:t>
                </a:r>
                <a:r>
                  <a:rPr lang="zh-CN" altLang="en-US" kern="0" dirty="0"/>
                  <a:t>，</a:t>
                </a:r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n-US" altLang="zh-CN" i="1" kern="0" dirty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kern="0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zh-CN" altLang="en-US" kern="0" dirty="0"/>
                  <a:t>实参表，实参</a:t>
                </a:r>
                <a:r>
                  <a:rPr lang="en-US" altLang="zh-CN" kern="0" dirty="0"/>
                  <a:t>R</a:t>
                </a:r>
                <a:r>
                  <a:rPr lang="zh-CN" altLang="en-US" kern="0" dirty="0"/>
                  <a:t>，语句表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n-US" altLang="zh-CN" i="1" kern="0" dirty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/>
                  <a:t>，语句</a:t>
                </a:r>
                <a:r>
                  <a:rPr lang="en-US" altLang="zh-CN" kern="0" dirty="0"/>
                  <a:t>S</a:t>
                </a:r>
                <a:r>
                  <a:rPr lang="zh-CN" altLang="en-US" kern="0" dirty="0"/>
                  <a:t>，表达式表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n-US" altLang="zh-CN" i="1" kern="0" dirty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/>
                  <a:t>，表达式</a:t>
                </a:r>
                <a:r>
                  <a:rPr lang="en-US" altLang="zh-CN" kern="0" dirty="0"/>
                  <a:t>E</a:t>
                </a:r>
                <a:r>
                  <a:rPr lang="zh-CN" altLang="en-US" kern="0" dirty="0"/>
                  <a:t>，布尔表达式</a:t>
                </a:r>
                <a:r>
                  <a:rPr lang="en-US" altLang="zh-CN" kern="0" dirty="0"/>
                  <a:t>B</a:t>
                </a:r>
                <a:r>
                  <a:rPr lang="zh-CN" altLang="en-US" kern="0" dirty="0"/>
                  <a:t>。</a:t>
                </a: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A60FF280-977C-4421-84E9-D0BF5535D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764" y="5029200"/>
                <a:ext cx="8642350" cy="1246623"/>
              </a:xfrm>
              <a:prstGeom prst="rect">
                <a:avLst/>
              </a:prstGeom>
              <a:blipFill>
                <a:blip r:embed="rId4"/>
                <a:stretch>
                  <a:fillRect l="-1058" t="-4412" b="-980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6990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D09E756-305C-4247-8942-017AFCC07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61665"/>
          </a:xfrm>
        </p:spPr>
        <p:txBody>
          <a:bodyPr/>
          <a:lstStyle/>
          <a:p>
            <a:r>
              <a:rPr lang="zh-CN" altLang="en-US" dirty="0"/>
              <a:t>写成可配置的</a:t>
            </a:r>
            <a:r>
              <a:rPr lang="en-US" altLang="zh-CN" dirty="0"/>
              <a:t>CFG</a:t>
            </a:r>
            <a:r>
              <a:rPr lang="zh-CN" altLang="en-US" dirty="0"/>
              <a:t>，程序的输入文件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E7C45424-6926-46CE-9E2F-63399E75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7620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70B6BA4B-1B85-4E7A-88C2-5200BC5FF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0200"/>
            <a:ext cx="7286625" cy="49434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116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41E7260E-4B36-4A40-970F-4AD86A073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209800"/>
            <a:ext cx="1644735" cy="1701887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012859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示例代码库提供若干初级程序</a:t>
            </a:r>
            <a:endParaRPr lang="en-US" altLang="zh-CN" dirty="0"/>
          </a:p>
          <a:p>
            <a:r>
              <a:rPr lang="zh-CN" altLang="en-US" dirty="0"/>
              <a:t>程序段</a:t>
            </a:r>
            <a:endParaRPr lang="en-US" altLang="zh-CN" dirty="0"/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𝐷̌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是变量的声明语句集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𝑆̌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是非变量声明语句集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包括赋值语句</a:t>
            </a:r>
            <a:endParaRPr lang="en-US" altLang="zh-CN" sz="1800" b="0" i="0" dirty="0">
              <a:solidFill>
                <a:srgbClr val="000000"/>
              </a:solidFill>
              <a:effectLst/>
              <a:latin typeface="FZSSJW--GB1-0"/>
            </a:endParaRP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96A815BC-3DDE-4A89-B23B-013405C33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493170"/>
            <a:ext cx="1866996" cy="323867"/>
          </a:xfrm>
          <a:prstGeom prst="rect">
            <a:avLst/>
          </a:prstGeom>
        </p:spPr>
      </p:pic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xmlns="" id="{AB9183C7-EA9A-48FA-A407-D6FAF5DECFD9}"/>
              </a:ext>
            </a:extLst>
          </p:cNvPr>
          <p:cNvCxnSpPr/>
          <p:nvPr/>
        </p:nvCxnSpPr>
        <p:spPr bwMode="auto">
          <a:xfrm flipH="1">
            <a:off x="5855626" y="2743200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6537139F-1DD1-4E60-BDEB-B0CB6F3A5BD4}"/>
              </a:ext>
            </a:extLst>
          </p:cNvPr>
          <p:cNvSpPr txBox="1"/>
          <p:nvPr/>
        </p:nvSpPr>
        <p:spPr bwMode="auto">
          <a:xfrm>
            <a:off x="7379625" y="2560702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函数声明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C1623672-FFC3-46D6-A3A3-D5585800B685}"/>
              </a:ext>
            </a:extLst>
          </p:cNvPr>
          <p:cNvSpPr txBox="1"/>
          <p:nvPr/>
        </p:nvSpPr>
        <p:spPr bwMode="auto">
          <a:xfrm>
            <a:off x="7379625" y="2827368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变量声明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xmlns="" id="{8ECC8ADE-BFB1-4919-BFFC-614F3B44F7AA}"/>
              </a:ext>
            </a:extLst>
          </p:cNvPr>
          <p:cNvCxnSpPr/>
          <p:nvPr/>
        </p:nvCxnSpPr>
        <p:spPr bwMode="auto">
          <a:xfrm flipH="1">
            <a:off x="5855626" y="2942347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xmlns="" id="{1395229F-C3F2-4C13-89E7-76C95600785E}"/>
              </a:ext>
            </a:extLst>
          </p:cNvPr>
          <p:cNvCxnSpPr/>
          <p:nvPr/>
        </p:nvCxnSpPr>
        <p:spPr bwMode="auto">
          <a:xfrm flipH="1">
            <a:off x="5855626" y="3170947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22062C83-7E80-4253-9F51-BB6B3BC655ED}"/>
              </a:ext>
            </a:extLst>
          </p:cNvPr>
          <p:cNvSpPr txBox="1"/>
          <p:nvPr/>
        </p:nvSpPr>
        <p:spPr bwMode="auto">
          <a:xfrm>
            <a:off x="7379624" y="3103524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赋值语句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xmlns="" id="{AC43ACC2-2977-468D-8413-17C71DEA500A}"/>
              </a:ext>
            </a:extLst>
          </p:cNvPr>
          <p:cNvCxnSpPr/>
          <p:nvPr/>
        </p:nvCxnSpPr>
        <p:spPr bwMode="auto">
          <a:xfrm flipH="1">
            <a:off x="5855624" y="3360541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1C4C3FAD-3845-4896-BC89-496A945C0D08}"/>
              </a:ext>
            </a:extLst>
          </p:cNvPr>
          <p:cNvSpPr txBox="1"/>
          <p:nvPr/>
        </p:nvSpPr>
        <p:spPr bwMode="auto">
          <a:xfrm>
            <a:off x="7395455" y="3360541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returrn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语句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xmlns="" id="{DDEBA945-3172-45A7-AB2E-67FC55BA2A31}"/>
              </a:ext>
            </a:extLst>
          </p:cNvPr>
          <p:cNvCxnSpPr>
            <a:cxnSpLocks/>
            <a:stCxn id="41" idx="1"/>
          </p:cNvCxnSpPr>
          <p:nvPr/>
        </p:nvCxnSpPr>
        <p:spPr bwMode="auto">
          <a:xfrm rot="10800000">
            <a:off x="5328216" y="3625483"/>
            <a:ext cx="1975211" cy="1049887"/>
          </a:xfrm>
          <a:prstGeom prst="bentConnector3">
            <a:avLst>
              <a:gd name="adj1" fmla="val 9983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xmlns="" id="{C36E8D1E-F261-4D2B-B1AC-BAF465F98AD5}"/>
              </a:ext>
            </a:extLst>
          </p:cNvPr>
          <p:cNvSpPr txBox="1"/>
          <p:nvPr/>
        </p:nvSpPr>
        <p:spPr bwMode="auto">
          <a:xfrm>
            <a:off x="7303426" y="4167537"/>
            <a:ext cx="1600200" cy="10156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关于分号的用法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S-&gt;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语句列表之间用分号，而语句结束无需分号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因此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return 0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没有分号，函数声明结束部分有分号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A62971BB-8B97-4B83-BBBE-88C835D5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9E81A84-4848-4D3E-A7E3-F3DDF19C4D4B}"/>
              </a:ext>
            </a:extLst>
          </p:cNvPr>
          <p:cNvSpPr/>
          <p:nvPr/>
        </p:nvSpPr>
        <p:spPr>
          <a:xfrm>
            <a:off x="381102" y="2232870"/>
            <a:ext cx="4572000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单字母终结符指代一种词法单元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标识符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，整数</a:t>
            </a:r>
            <a:r>
              <a:rPr lang="en-US" altLang="zh-CN" sz="1500" kern="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实数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，算术运算符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，关系运算符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，单目算术运算符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15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此外的终结符都是与自身对应的一个词法单元，这些词法单元包含了关键字、分隔符、括号、逻辑运算符。每个词法单元都是某个词法类别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种属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的一个实例，采用二元组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(〈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种属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&gt;,&lt;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个体</a:t>
            </a:r>
            <a:r>
              <a:rPr lang="en-US" altLang="zh-CN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&gt;</a:t>
            </a:r>
            <a:r>
              <a:rPr lang="zh-CN" altLang="en-US" sz="1500" kern="0" dirty="0">
                <a:latin typeface="楷体" panose="02010609060101010101" pitchFamily="49" charset="-122"/>
                <a:ea typeface="楷体" panose="02010609060101010101" pitchFamily="49" charset="-122"/>
              </a:rPr>
              <a:t>）表示。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D221F08F-EEB2-4B1E-A005-87126B5FD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02" y="4045063"/>
            <a:ext cx="3629025" cy="22955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8F2F7C93-6D1F-4F97-86D8-03DDB8D02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629" y="5138224"/>
            <a:ext cx="2914650" cy="14668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038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F6012867-2074-41BC-8271-62600F68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819781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示例代码库和文法的解释 </a:t>
            </a:r>
            <a:endParaRPr lang="en-US" altLang="zh-CN" b="1" dirty="0">
              <a:latin typeface="+mn-ea"/>
            </a:endParaRPr>
          </a:p>
          <a:p>
            <a:r>
              <a:rPr lang="zh-CN" altLang="en-US" dirty="0"/>
              <a:t>此外值得注意的本文法的实参和形参部分</a:t>
            </a:r>
            <a:endParaRPr lang="en-US" altLang="zh-CN" dirty="0"/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ewCMMath-Book-Identity-H"/>
              </a:rPr>
              <a:t>()</a:t>
            </a: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代表函数参数列表的声明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可以是普通变量参数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可以是数组参数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ewCMMath-Book-Identity-H"/>
              </a:rPr>
              <a:t>[]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也可以是函数参数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ewCMMath-Book-Identity-H"/>
              </a:rPr>
              <a:t>()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altLang="zh-CN" dirty="0"/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是函数参数列表的声明集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代表函数参数列表中某个参数的声明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参数之间用分号隔开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,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而不是逗号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即使是最后一个参数也需要使用</a:t>
            </a:r>
            <a:endParaRPr lang="en-US" altLang="zh-CN" sz="1800" b="0" i="0" dirty="0">
              <a:solidFill>
                <a:srgbClr val="000000"/>
              </a:solidFill>
              <a:effectLst/>
              <a:latin typeface="FZXBSJW--GB1-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分号</a:t>
            </a:r>
            <a:r>
              <a:rPr lang="zh-CN" altLang="en-US" sz="1800" dirty="0" smtClean="0">
                <a:solidFill>
                  <a:srgbClr val="000000"/>
                </a:solidFill>
                <a:latin typeface="FZXBSJW--GB1-0"/>
              </a:rPr>
              <a:t>结尾</a:t>
            </a:r>
            <a:r>
              <a:rPr lang="en-US" altLang="zh-CN" sz="1800" b="1" i="0" dirty="0" smtClean="0">
                <a:solidFill>
                  <a:srgbClr val="000000"/>
                </a:solidFill>
                <a:effectLst/>
                <a:latin typeface="TimesNewRomanPS-BoldMT"/>
              </a:rPr>
              <a:t>. </a:t>
            </a:r>
            <a:r>
              <a:rPr lang="zh-CN" altLang="en-US" sz="1400" dirty="0"/>
              <a:t/>
            </a:r>
            <a:br>
              <a:rPr lang="zh-CN" altLang="en-US" sz="1400" dirty="0"/>
            </a:br>
            <a:endParaRPr lang="en-US" altLang="zh-CN" sz="1800" b="0" i="0" dirty="0">
              <a:solidFill>
                <a:srgbClr val="000000"/>
              </a:solidFill>
              <a:effectLst/>
              <a:latin typeface="NewCMMath-Book-Identity-H"/>
            </a:endParaRPr>
          </a:p>
          <a:p>
            <a:endParaRPr lang="en-US" altLang="zh-CN" sz="1800" dirty="0">
              <a:solidFill>
                <a:srgbClr val="000000"/>
              </a:solidFill>
              <a:latin typeface="NewCMMath-Book-Identity-H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𝑅̌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是函数调用参数集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𝑅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是函数参数列表中某个参数</a:t>
            </a:r>
            <a:endParaRPr lang="en-US" altLang="zh-CN" sz="1800" b="0" i="0" dirty="0">
              <a:solidFill>
                <a:srgbClr val="000000"/>
              </a:solidFill>
              <a:effectLst/>
              <a:latin typeface="FZSSJW--GB1-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的调用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参数之间用逗号隔开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最后一个参数需要逗号</a:t>
            </a:r>
            <a:endParaRPr lang="en-US" altLang="zh-CN" sz="1800" b="0" i="0" dirty="0">
              <a:solidFill>
                <a:srgbClr val="000000"/>
              </a:solidFill>
              <a:effectLst/>
              <a:latin typeface="FZXBSJW--GB1-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例如</a:t>
            </a:r>
            <a:endParaRPr lang="en-US" altLang="zh-CN" sz="1800" b="0" i="0" dirty="0">
              <a:solidFill>
                <a:srgbClr val="000000"/>
              </a:solidFill>
              <a:effectLst/>
              <a:latin typeface="NewCMMath-Book-Identity-H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0000FFFD-32C7-42B2-B967-415594911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00033"/>
            <a:ext cx="1454225" cy="3873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FAD04410-8A64-447A-B9BB-FEBAFCEB2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319" y="2828609"/>
            <a:ext cx="1206562" cy="3302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A8EE9C7C-4118-4C6E-8F2B-609529EDEC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114800"/>
            <a:ext cx="5257800" cy="53633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xmlns="" id="{06F23039-DA3E-49D7-8DBC-1E215A2E625C}"/>
              </a:ext>
            </a:extLst>
          </p:cNvPr>
          <p:cNvSpPr/>
          <p:nvPr/>
        </p:nvSpPr>
        <p:spPr bwMode="auto">
          <a:xfrm>
            <a:off x="7315200" y="5782388"/>
            <a:ext cx="533400" cy="46601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BD1B9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E826E871-B488-4F58-8BDC-92A1B570CC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205852"/>
            <a:ext cx="1778083" cy="177925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9ACC5ED0-F786-46B4-AA25-D0B0A7A4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407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672048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示例代码库和词法的解释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程序的</a:t>
            </a:r>
            <a:r>
              <a:rPr lang="en-US" altLang="zh-CN" b="1" dirty="0">
                <a:latin typeface="+mn-ea"/>
              </a:rPr>
              <a:t>main</a:t>
            </a:r>
            <a:r>
              <a:rPr lang="zh-CN" altLang="en-US" b="1" dirty="0">
                <a:latin typeface="+mn-ea"/>
              </a:rPr>
              <a:t>被识别为</a:t>
            </a:r>
            <a:r>
              <a:rPr lang="en-US" altLang="zh-CN" b="1" dirty="0">
                <a:latin typeface="+mn-ea"/>
              </a:rPr>
              <a:t>ID</a:t>
            </a:r>
            <a:r>
              <a:rPr lang="zh-CN" altLang="en-US" b="1" dirty="0">
                <a:latin typeface="+mn-ea"/>
              </a:rPr>
              <a:t>，不是关键字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关键字只有</a:t>
            </a:r>
            <a:r>
              <a:rPr lang="en-US" altLang="zh-CN" b="1" dirty="0">
                <a:latin typeface="+mn-ea"/>
              </a:rPr>
              <a:t>int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float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void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if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else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while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return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input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print</a:t>
            </a:r>
            <a:r>
              <a:rPr lang="zh-CN" altLang="en-US" b="1" dirty="0">
                <a:latin typeface="+mn-ea"/>
              </a:rPr>
              <a:t>，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没有 </a:t>
            </a:r>
            <a:r>
              <a:rPr lang="en-US" altLang="zh-CN" b="1" dirty="0">
                <a:latin typeface="+mn-ea"/>
              </a:rPr>
              <a:t>for,</a:t>
            </a:r>
            <a:r>
              <a:rPr lang="zh-CN" altLang="en-US" b="1" dirty="0">
                <a:latin typeface="+mn-ea"/>
              </a:rPr>
              <a:t>除了分号</a:t>
            </a:r>
            <a:r>
              <a:rPr lang="en-US" altLang="zh-CN" b="1" dirty="0">
                <a:latin typeface="+mn-ea"/>
              </a:rPr>
              <a:t>;</a:t>
            </a:r>
            <a:r>
              <a:rPr lang="zh-CN" altLang="en-US" b="1" dirty="0">
                <a:latin typeface="+mn-ea"/>
              </a:rPr>
              <a:t>和逗号，不支持双引号、单引号、</a:t>
            </a:r>
            <a:r>
              <a:rPr lang="en-US" altLang="zh-CN" b="1" dirty="0">
                <a:latin typeface="+mn-ea"/>
              </a:rPr>
              <a:t>\\</a:t>
            </a:r>
            <a:r>
              <a:rPr lang="zh-CN" altLang="en-US" b="1" dirty="0">
                <a:latin typeface="+mn-ea"/>
              </a:rPr>
              <a:t>等其他界符。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没有注释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升级之后的程序支持与或非等操作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支持，</a:t>
            </a:r>
            <a:r>
              <a:rPr lang="en-US" altLang="zh-CN" b="1" dirty="0">
                <a:latin typeface="+mn-ea"/>
              </a:rPr>
              <a:t>{ [ (,) ] }</a:t>
            </a:r>
            <a:r>
              <a:rPr lang="zh-CN" altLang="en-US" b="1" dirty="0">
                <a:latin typeface="+mn-ea"/>
              </a:rPr>
              <a:t>；，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验收程序可以支持部分示例文法和示例词法，不需要完全一致。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F4FD21F0-5367-4271-A79A-5C30ED9D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B1837873-84FB-437D-829A-743AF842E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762" y="152400"/>
            <a:ext cx="2609850" cy="1695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920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2677656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词法部分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示例程序</a:t>
            </a:r>
            <a:r>
              <a:rPr lang="en-US" altLang="zh-CN" b="1" dirty="0">
                <a:latin typeface="+mn-ea"/>
              </a:rPr>
              <a:t>1.src</a:t>
            </a:r>
            <a:r>
              <a:rPr lang="zh-CN" altLang="en-US" b="1" dirty="0">
                <a:latin typeface="+mn-ea"/>
              </a:rPr>
              <a:t>经过词法以后得到</a:t>
            </a:r>
            <a:r>
              <a:rPr lang="en-US" altLang="zh-CN" b="1" dirty="0">
                <a:latin typeface="+mn-ea"/>
              </a:rPr>
              <a:t>token</a:t>
            </a:r>
            <a:r>
              <a:rPr lang="zh-CN" altLang="en-US" b="1" dirty="0">
                <a:latin typeface="+mn-ea"/>
              </a:rPr>
              <a:t>序列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r>
              <a:rPr lang="en-US" altLang="zh-CN" b="1" dirty="0">
                <a:latin typeface="+mn-ea"/>
              </a:rPr>
              <a:t>                    </a:t>
            </a:r>
            <a:r>
              <a:rPr lang="zh-CN" altLang="en-US" b="1" dirty="0">
                <a:latin typeface="+mn-ea"/>
              </a:rPr>
              <a:t>示例程序</a:t>
            </a:r>
            <a:r>
              <a:rPr lang="en-US" altLang="zh-CN" b="1" dirty="0">
                <a:latin typeface="+mn-ea"/>
              </a:rPr>
              <a:t>10.src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652CFF85-B68C-452F-B2FE-EAD4C34AB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622" y="3553035"/>
            <a:ext cx="4781796" cy="6921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8A6CDEAF-3628-43CA-AB23-8CEB639B8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599" y="4605185"/>
            <a:ext cx="2914800" cy="125736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2FAEA13-BC0E-48FC-838A-C8C7CFA2B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92" y="1828800"/>
            <a:ext cx="3448227" cy="385464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94ACE6A0-D86F-4021-B415-A090A396B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271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7035772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词法部分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示例程序</a:t>
            </a:r>
            <a:r>
              <a:rPr lang="en-US" altLang="zh-CN" b="1" dirty="0">
                <a:latin typeface="+mn-ea"/>
              </a:rPr>
              <a:t>10.src</a:t>
            </a:r>
            <a:r>
              <a:rPr lang="zh-CN" altLang="en-US" b="1" dirty="0">
                <a:latin typeface="+mn-ea"/>
              </a:rPr>
              <a:t>经过词法以后得到</a:t>
            </a:r>
            <a:r>
              <a:rPr lang="en-US" altLang="zh-CN" b="1" dirty="0">
                <a:latin typeface="+mn-ea"/>
              </a:rPr>
              <a:t>token</a:t>
            </a:r>
            <a:r>
              <a:rPr lang="zh-CN" altLang="en-US" b="1" dirty="0">
                <a:latin typeface="+mn-ea"/>
              </a:rPr>
              <a:t>序列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表达式可以是</a:t>
            </a:r>
            <a:r>
              <a:rPr lang="en-US" altLang="zh-CN" b="1" dirty="0" err="1">
                <a:latin typeface="+mn-ea"/>
              </a:rPr>
              <a:t>i</a:t>
            </a:r>
            <a:r>
              <a:rPr lang="zh-CN" altLang="en-US" b="1" dirty="0">
                <a:latin typeface="+mn-ea"/>
              </a:rPr>
              <a:t>（整数），</a:t>
            </a:r>
            <a:r>
              <a:rPr lang="en-US" altLang="zh-CN" b="1" dirty="0">
                <a:latin typeface="+mn-ea"/>
              </a:rPr>
              <a:t>f</a:t>
            </a:r>
            <a:r>
              <a:rPr lang="zh-CN" altLang="en-US" b="1" dirty="0">
                <a:latin typeface="+mn-ea"/>
              </a:rPr>
              <a:t>（浮点数），</a:t>
            </a:r>
            <a:r>
              <a:rPr lang="en-US" altLang="zh-CN" b="1" dirty="0">
                <a:latin typeface="+mn-ea"/>
              </a:rPr>
              <a:t>d</a:t>
            </a:r>
            <a:r>
              <a:rPr lang="zh-CN" altLang="en-US" b="1" dirty="0">
                <a:latin typeface="+mn-ea"/>
              </a:rPr>
              <a:t>（某标识符）</a:t>
            </a:r>
            <a:endParaRPr lang="en-US" altLang="zh-CN" b="1" dirty="0">
              <a:latin typeface="+mn-ea"/>
            </a:endParaRPr>
          </a:p>
          <a:p>
            <a:pPr lvl="1"/>
            <a:r>
              <a:rPr lang="en-US" altLang="zh-CN" b="1" dirty="0">
                <a:latin typeface="+mn-ea"/>
              </a:rPr>
              <a:t>E+E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E*E</a:t>
            </a:r>
            <a:r>
              <a:rPr lang="zh-CN" altLang="en-US" b="1" dirty="0">
                <a:latin typeface="+mn-ea"/>
              </a:rPr>
              <a:t>，或者（），或者</a:t>
            </a:r>
            <a:r>
              <a:rPr lang="en-US" altLang="zh-CN" b="1" dirty="0">
                <a:latin typeface="+mn-ea"/>
              </a:rPr>
              <a:t>d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R</a:t>
            </a:r>
            <a:r>
              <a:rPr lang="zh-CN" altLang="en-US" b="1" dirty="0">
                <a:latin typeface="+mn-ea"/>
              </a:rPr>
              <a:t>）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函数调用表达式，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或者</a:t>
            </a:r>
            <a:r>
              <a:rPr lang="en-US" altLang="zh-CN" b="1" dirty="0">
                <a:latin typeface="+mn-ea"/>
              </a:rPr>
              <a:t>d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E</a:t>
            </a:r>
            <a:r>
              <a:rPr lang="zh-CN" altLang="en-US" b="1" dirty="0">
                <a:latin typeface="+mn-ea"/>
              </a:rPr>
              <a:t>）（这个文法，大作业不支持，也可以不写）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CDD974F-A42D-4BF0-90AE-0DAE9D111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79018"/>
            <a:ext cx="1949550" cy="26163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1D173976-155C-4AF8-9E47-E582536B5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05556"/>
            <a:ext cx="3073396" cy="3048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835231E4-F127-4BF5-A8B1-AC2AE9F50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666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6666440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实验六输入                  实验六输出</a:t>
            </a:r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输入是一段符合文法的代码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输出是四元式方式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本次实验结果可作为验收结果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708C5BB7-5640-47ED-9135-D089D5762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8800"/>
            <a:ext cx="2959252" cy="25337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6E8E8908-BBA0-478C-AF2B-4F48FE111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654" y="1371600"/>
            <a:ext cx="3816546" cy="396260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6FB499C8-D2E5-4172-BB5B-06808D58D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、示例代码库和文法的解释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063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78452407107759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27979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2951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35010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6070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36729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3713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39570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77875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78703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3744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80632077733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80632088509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8063209216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80632094889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85985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2326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4475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5776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6357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79432"/>
</p:tagLst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8F8F8"/>
      </a:accent1>
      <a:accent2>
        <a:srgbClr val="6600CC"/>
      </a:accent2>
      <a:accent3>
        <a:srgbClr val="FFFFE9"/>
      </a:accent3>
      <a:accent4>
        <a:srgbClr val="000000"/>
      </a:accent4>
      <a:accent5>
        <a:srgbClr val="FBFBFB"/>
      </a:accent5>
      <a:accent6>
        <a:srgbClr val="5C00B9"/>
      </a:accent6>
      <a:hlink>
        <a:srgbClr val="FF5050"/>
      </a:hlink>
      <a:folHlink>
        <a:srgbClr val="FF9900"/>
      </a:folHlink>
    </a:clrScheme>
    <a:fontScheme name="默认设计模板">
      <a:majorFont>
        <a:latin typeface="New Century Schoolbook"/>
        <a:ea typeface="仿宋_GB2312"/>
        <a:cs typeface=""/>
      </a:majorFont>
      <a:minorFont>
        <a:latin typeface="New Century School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EFFEDA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6FEEA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8F8F8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BFBFB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ttymono03">
  <a:themeElements>
    <a:clrScheme name="bettymono03 5">
      <a:dk1>
        <a:srgbClr val="000000"/>
      </a:dk1>
      <a:lt1>
        <a:srgbClr val="FFFFFF"/>
      </a:lt1>
      <a:dk2>
        <a:srgbClr val="000066"/>
      </a:dk2>
      <a:lt2>
        <a:srgbClr val="CCFFFF"/>
      </a:lt2>
      <a:accent1>
        <a:srgbClr val="000068"/>
      </a:accent1>
      <a:accent2>
        <a:srgbClr val="2BD1B9"/>
      </a:accent2>
      <a:accent3>
        <a:srgbClr val="FFFFFF"/>
      </a:accent3>
      <a:accent4>
        <a:srgbClr val="000000"/>
      </a:accent4>
      <a:accent5>
        <a:srgbClr val="AAAAB9"/>
      </a:accent5>
      <a:accent6>
        <a:srgbClr val="26BDA7"/>
      </a:accent6>
      <a:hlink>
        <a:srgbClr val="87D7FF"/>
      </a:hlink>
      <a:folHlink>
        <a:srgbClr val="969696"/>
      </a:folHlink>
    </a:clrScheme>
    <a:fontScheme name="bettymono03">
      <a:majorFont>
        <a:latin typeface="New Century Schoolbook"/>
        <a:ea typeface="黑体"/>
        <a:cs typeface=""/>
      </a:majorFont>
      <a:minorFont>
        <a:latin typeface="New Century Schoolbook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marL="342900" indent="-342900" latinLnBrk="0">
          <a:spcBef>
            <a:spcPct val="20000"/>
          </a:spcBef>
          <a:buClr>
            <a:schemeClr val="accent2"/>
          </a:buClr>
          <a:buFont typeface="Wingdings" pitchFamily="2" charset="2"/>
          <a:buChar char="Ø"/>
          <a:defRPr sz="2400" dirty="0" smtClean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  <a:txDef>
      <a:spPr bwMode="auto">
        <a:noFill/>
        <a:ln w="9525" algn="ctr">
          <a:solidFill>
            <a:schemeClr val="tx1"/>
          </a:solidFill>
          <a:miter lim="800000"/>
          <a:headEnd/>
          <a:tailEnd/>
        </a:ln>
      </a:spPr>
      <a:bodyPr/>
      <a:lstStyle>
        <a:defPPr eaLnBrk="1" hangingPunct="1">
          <a:spcBef>
            <a:spcPct val="50000"/>
          </a:spcBef>
          <a:defRPr b="1">
            <a:latin typeface="Times New Roman" pitchFamily="18" charset="0"/>
          </a:defRPr>
        </a:defPPr>
      </a:lstStyle>
    </a:txDef>
  </a:objectDefaults>
  <a:extraClrSchemeLst>
    <a:extraClrScheme>
      <a:clrScheme name="bettymono03 1">
        <a:dk1>
          <a:srgbClr val="000000"/>
        </a:dk1>
        <a:lt1>
          <a:srgbClr val="FFFFFF"/>
        </a:lt1>
        <a:dk2>
          <a:srgbClr val="000000"/>
        </a:dk2>
        <a:lt2>
          <a:srgbClr val="CCFFFF"/>
        </a:lt2>
        <a:accent1>
          <a:srgbClr val="0033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8A2D"/>
        </a:accent6>
        <a:hlink>
          <a:srgbClr val="6699FF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2">
        <a:dk1>
          <a:srgbClr val="000000"/>
        </a:dk1>
        <a:lt1>
          <a:srgbClr val="FFFFFF"/>
        </a:lt1>
        <a:dk2>
          <a:srgbClr val="000000"/>
        </a:dk2>
        <a:lt2>
          <a:srgbClr val="CCCCFF"/>
        </a:lt2>
        <a:accent1>
          <a:srgbClr val="3E009A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FAACA"/>
        </a:accent5>
        <a:accent6>
          <a:srgbClr val="E78A2D"/>
        </a:accent6>
        <a:hlink>
          <a:srgbClr val="FFE161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3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4240"/>
        </a:accent1>
        <a:accent2>
          <a:srgbClr val="7FBE00"/>
        </a:accent2>
        <a:accent3>
          <a:srgbClr val="FFFFFF"/>
        </a:accent3>
        <a:accent4>
          <a:srgbClr val="000000"/>
        </a:accent4>
        <a:accent5>
          <a:srgbClr val="AAB0AF"/>
        </a:accent5>
        <a:accent6>
          <a:srgbClr val="72AC00"/>
        </a:accent6>
        <a:hlink>
          <a:srgbClr val="FFFF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4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0000"/>
        </a:accent1>
        <a:accent2>
          <a:srgbClr val="33CC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B9E7"/>
        </a:accent6>
        <a:hlink>
          <a:srgbClr val="99FF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5">
        <a:dk1>
          <a:srgbClr val="000000"/>
        </a:dk1>
        <a:lt1>
          <a:srgbClr val="FFFFFF"/>
        </a:lt1>
        <a:dk2>
          <a:srgbClr val="000066"/>
        </a:dk2>
        <a:lt2>
          <a:srgbClr val="CCFFFF"/>
        </a:lt2>
        <a:accent1>
          <a:srgbClr val="000068"/>
        </a:accent1>
        <a:accent2>
          <a:srgbClr val="2BD1B9"/>
        </a:accent2>
        <a:accent3>
          <a:srgbClr val="FFFFFF"/>
        </a:accent3>
        <a:accent4>
          <a:srgbClr val="000000"/>
        </a:accent4>
        <a:accent5>
          <a:srgbClr val="AAAAB9"/>
        </a:accent5>
        <a:accent6>
          <a:srgbClr val="26BDA7"/>
        </a:accent6>
        <a:hlink>
          <a:srgbClr val="87D7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13153</TotalTime>
  <Words>1560</Words>
  <Application>Microsoft Office PowerPoint</Application>
  <PresentationFormat>全屏显示(4:3)</PresentationFormat>
  <Paragraphs>193</Paragraphs>
  <Slides>20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默认设计模板</vt:lpstr>
      <vt:lpstr>bettymono03</vt:lpstr>
      <vt:lpstr>编译器设计专题实验课2026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andrejb</dc:creator>
  <cp:lastModifiedBy>微软用户</cp:lastModifiedBy>
  <cp:revision>711</cp:revision>
  <cp:lastPrinted>2011-10-10T03:21:30Z</cp:lastPrinted>
  <dcterms:created xsi:type="dcterms:W3CDTF">2010-10-06T02:55:19Z</dcterms:created>
  <dcterms:modified xsi:type="dcterms:W3CDTF">2026-05-14T08:47:18Z</dcterms:modified>
</cp:coreProperties>
</file>