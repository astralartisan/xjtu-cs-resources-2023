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 id="2147484111" r:id="rId2"/>
  </p:sldMasterIdLst>
  <p:notesMasterIdLst>
    <p:notesMasterId r:id="rId19"/>
  </p:notesMasterIdLst>
  <p:handoutMasterIdLst>
    <p:handoutMasterId r:id="rId20"/>
  </p:handoutMasterIdLst>
  <p:sldIdLst>
    <p:sldId id="322" r:id="rId3"/>
    <p:sldId id="2046" r:id="rId4"/>
    <p:sldId id="2047" r:id="rId5"/>
    <p:sldId id="2060" r:id="rId6"/>
    <p:sldId id="2061" r:id="rId7"/>
    <p:sldId id="2048" r:id="rId8"/>
    <p:sldId id="2055" r:id="rId9"/>
    <p:sldId id="2062" r:id="rId10"/>
    <p:sldId id="2053" r:id="rId11"/>
    <p:sldId id="2056" r:id="rId12"/>
    <p:sldId id="2057" r:id="rId13"/>
    <p:sldId id="2052" r:id="rId14"/>
    <p:sldId id="2049" r:id="rId15"/>
    <p:sldId id="2054" r:id="rId16"/>
    <p:sldId id="2058" r:id="rId17"/>
    <p:sldId id="2059" r:id="rId1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Gill Sans MT" pitchFamily="34" charset="0"/>
        <a:ea typeface="ＭＳ Ｐゴシック" pitchFamily="34" charset="-128"/>
        <a:cs typeface="+mn-cs"/>
      </a:defRPr>
    </a:lvl1pPr>
    <a:lvl2pPr marL="457200" algn="l" rtl="0" eaLnBrk="0" fontAlgn="base" hangingPunct="0">
      <a:spcBef>
        <a:spcPct val="0"/>
      </a:spcBef>
      <a:spcAft>
        <a:spcPct val="0"/>
      </a:spcAft>
      <a:defRPr sz="2400" kern="1200">
        <a:solidFill>
          <a:schemeClr val="tx1"/>
        </a:solidFill>
        <a:latin typeface="Gill Sans MT" pitchFamily="34"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Gill Sans MT" pitchFamily="34"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Gill Sans MT" pitchFamily="34"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Gill Sans MT" pitchFamily="34" charset="0"/>
        <a:ea typeface="ＭＳ Ｐゴシック" pitchFamily="34" charset="-128"/>
        <a:cs typeface="+mn-cs"/>
      </a:defRPr>
    </a:lvl5pPr>
    <a:lvl6pPr marL="2286000" algn="l" defTabSz="914400" rtl="0" eaLnBrk="1" latinLnBrk="0" hangingPunct="1">
      <a:defRPr sz="2400" kern="1200">
        <a:solidFill>
          <a:schemeClr val="tx1"/>
        </a:solidFill>
        <a:latin typeface="Gill Sans MT" pitchFamily="34" charset="0"/>
        <a:ea typeface="ＭＳ Ｐゴシック" pitchFamily="34" charset="-128"/>
        <a:cs typeface="+mn-cs"/>
      </a:defRPr>
    </a:lvl6pPr>
    <a:lvl7pPr marL="2743200" algn="l" defTabSz="914400" rtl="0" eaLnBrk="1" latinLnBrk="0" hangingPunct="1">
      <a:defRPr sz="2400" kern="1200">
        <a:solidFill>
          <a:schemeClr val="tx1"/>
        </a:solidFill>
        <a:latin typeface="Gill Sans MT" pitchFamily="34" charset="0"/>
        <a:ea typeface="ＭＳ Ｐゴシック" pitchFamily="34" charset="-128"/>
        <a:cs typeface="+mn-cs"/>
      </a:defRPr>
    </a:lvl7pPr>
    <a:lvl8pPr marL="3200400" algn="l" defTabSz="914400" rtl="0" eaLnBrk="1" latinLnBrk="0" hangingPunct="1">
      <a:defRPr sz="2400" kern="1200">
        <a:solidFill>
          <a:schemeClr val="tx1"/>
        </a:solidFill>
        <a:latin typeface="Gill Sans MT" pitchFamily="34" charset="0"/>
        <a:ea typeface="ＭＳ Ｐゴシック" pitchFamily="34" charset="-128"/>
        <a:cs typeface="+mn-cs"/>
      </a:defRPr>
    </a:lvl8pPr>
    <a:lvl9pPr marL="3657600" algn="l" defTabSz="914400" rtl="0" eaLnBrk="1" latinLnBrk="0" hangingPunct="1">
      <a:defRPr sz="2400" kern="1200">
        <a:solidFill>
          <a:schemeClr val="tx1"/>
        </a:solidFill>
        <a:latin typeface="Gill Sans MT" pitchFamily="34" charset="0"/>
        <a:ea typeface="ＭＳ Ｐゴシック" pitchFamily="34" charset="-128"/>
        <a:cs typeface="+mn-cs"/>
      </a:defRPr>
    </a:lvl9pPr>
  </p:defaultTextStyle>
  <p:extLst>
    <p:ext uri="{521415D9-36F7-43E2-AB2F-B90AF26B5E84}">
      <p14:sectionLst xmlns:p14="http://schemas.microsoft.com/office/powerpoint/2010/main">
        <p14:section name="默认节" id="{AB40E9C7-26B6-44E2-9E63-943E684250D4}">
          <p14:sldIdLst>
            <p14:sldId id="322"/>
            <p14:sldId id="2046"/>
            <p14:sldId id="2047"/>
            <p14:sldId id="2060"/>
            <p14:sldId id="2061"/>
            <p14:sldId id="2048"/>
            <p14:sldId id="2055"/>
            <p14:sldId id="2062"/>
            <p14:sldId id="2053"/>
            <p14:sldId id="2056"/>
            <p14:sldId id="2057"/>
            <p14:sldId id="2052"/>
            <p14:sldId id="2049"/>
            <p14:sldId id="2054"/>
            <p14:sldId id="2058"/>
            <p14:sldId id="2059"/>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86187" initials="8" lastIdx="2" clrIdx="0">
    <p:extLst>
      <p:ext uri="{19B8F6BF-5375-455C-9EA6-DF929625EA0E}">
        <p15:presenceInfo xmlns:p15="http://schemas.microsoft.com/office/powerpoint/2012/main" xmlns="" userId="86187"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clrMode="gray"/>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FFCD"/>
    <a:srgbClr val="9900FF"/>
    <a:srgbClr val="CC99FF"/>
    <a:srgbClr val="FFFF99"/>
    <a:srgbClr val="FF0000"/>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542" autoAdjust="0"/>
  </p:normalViewPr>
  <p:slideViewPr>
    <p:cSldViewPr>
      <p:cViewPr varScale="1">
        <p:scale>
          <a:sx n="114" d="100"/>
          <a:sy n="114" d="100"/>
        </p:scale>
        <p:origin x="-155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2742"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23T10:57:35.421" idx="1">
    <p:pos x="10" y="10"/>
    <p:text/>
    <p:extLst>
      <p:ext uri="{C676402C-5697-4E1C-873F-D02D1690AC5C}">
        <p15:threadingInfo xmlns:p15="http://schemas.microsoft.com/office/powerpoint/2012/main" xmlns="" timeZoneBias="-480"/>
      </p:ext>
    </p:extLst>
  </p:cm>
  <p:cm authorId="1" dt="2025-05-23T10:57:44.764" idx="2">
    <p:pos x="106" y="106"/>
    <p:text/>
    <p:extLst>
      <p:ext uri="{C676402C-5697-4E1C-873F-D02D1690AC5C}">
        <p15:threadingInfo xmlns:p15="http://schemas.microsoft.com/office/powerpoint/2012/main" xmlns=""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zh-CN" altLang="en-US"/>
          </a:p>
        </p:txBody>
      </p:sp>
      <p:sp>
        <p:nvSpPr>
          <p:cNvPr id="1382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9E0476C6-A73D-4127-9355-983E64C22B03}" type="datetimeFigureOut">
              <a:rPr lang="zh-CN" altLang="en-US"/>
              <a:pPr/>
              <a:t>2025/5/26</a:t>
            </a:fld>
            <a:endParaRPr lang="en-US" altLang="zh-CN"/>
          </a:p>
        </p:txBody>
      </p:sp>
      <p:sp>
        <p:nvSpPr>
          <p:cNvPr id="1382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1382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B499ECC-0CCF-4A71-814B-16DE56F04BF2}" type="slidenum">
              <a:rPr lang="zh-CN" altLang="en-US"/>
              <a:pPr/>
              <a:t>‹#›</a:t>
            </a:fld>
            <a:endParaRPr lang="en-US" altLang="zh-CN"/>
          </a:p>
        </p:txBody>
      </p:sp>
    </p:spTree>
    <p:extLst>
      <p:ext uri="{BB962C8B-B14F-4D97-AF65-F5344CB8AC3E}">
        <p14:creationId xmlns:p14="http://schemas.microsoft.com/office/powerpoint/2010/main" val="6284065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1426FF10-905A-456B-8448-3C00A8879EA4}" type="datetimeFigureOut">
              <a:rPr lang="zh-CN" altLang="en-US"/>
              <a:pPr>
                <a:defRPr/>
              </a:pPr>
              <a:t>2025/5/26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CD789C0-5935-446E-B1F4-42F08822453C}" type="slidenum">
              <a:rPr lang="zh-CN" altLang="en-US"/>
              <a:pPr>
                <a:defRPr/>
              </a:pPr>
              <a:t>‹#›</a:t>
            </a:fld>
            <a:endParaRPr lang="zh-CN" altLang="en-US"/>
          </a:p>
        </p:txBody>
      </p:sp>
    </p:spTree>
    <p:extLst>
      <p:ext uri="{BB962C8B-B14F-4D97-AF65-F5344CB8AC3E}">
        <p14:creationId xmlns:p14="http://schemas.microsoft.com/office/powerpoint/2010/main" val="743962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08227" name="Rectangle 3"/>
          <p:cNvSpPr>
            <a:spLocks noGrp="1" noChangeArrowheads="1"/>
          </p:cNvSpPr>
          <p:nvPr>
            <p:ph type="ctrTitle"/>
          </p:nvPr>
        </p:nvSpPr>
        <p:spPr>
          <a:xfrm>
            <a:off x="685800" y="2130425"/>
            <a:ext cx="7772400" cy="1470025"/>
          </a:xfrm>
        </p:spPr>
        <p:txBody>
          <a:bodyPr/>
          <a:lstStyle>
            <a:lvl1pPr>
              <a:defRPr/>
            </a:lvl1pPr>
          </a:lstStyle>
          <a:p>
            <a:r>
              <a:rPr lang="zh-CN" altLang="en-US"/>
              <a:t>单击此处编辑母版标题样式</a:t>
            </a:r>
          </a:p>
        </p:txBody>
      </p:sp>
      <p:sp>
        <p:nvSpPr>
          <p:cNvPr id="308228"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zh-CN" altLang="en-US"/>
              <a:t>单击此处编辑母版副标题样式</a:t>
            </a:r>
          </a:p>
        </p:txBody>
      </p:sp>
      <p:sp>
        <p:nvSpPr>
          <p:cNvPr id="4" name="Rectangle 5"/>
          <p:cNvSpPr>
            <a:spLocks noGrp="1" noChangeArrowheads="1"/>
          </p:cNvSpPr>
          <p:nvPr>
            <p:ph type="dt" sz="half" idx="10"/>
          </p:nvPr>
        </p:nvSpPr>
        <p:spPr>
          <a:xfrm>
            <a:off x="457200" y="6245225"/>
            <a:ext cx="2133600" cy="476250"/>
          </a:xfrm>
        </p:spPr>
        <p:txBody>
          <a:bodyPr/>
          <a:lstStyle>
            <a:lvl1pPr eaLnBrk="0" hangingPunct="0">
              <a:defRPr>
                <a:solidFill>
                  <a:srgbClr val="000000"/>
                </a:solidFill>
              </a:defRPr>
            </a:lvl1pPr>
          </a:lstStyle>
          <a:p>
            <a:pPr>
              <a:defRPr/>
            </a:pPr>
            <a:fld id="{5807FC17-1C9E-4F8C-88D9-D8DFD9B90ACA}" type="datetime1">
              <a:rPr lang="zh-CN" altLang="en-US"/>
              <a:pPr>
                <a:defRPr/>
              </a:pPr>
              <a:t>2025/5/26</a:t>
            </a:fld>
            <a:endParaRPr lang="en-US" altLang="zh-CN"/>
          </a:p>
        </p:txBody>
      </p:sp>
      <p:sp>
        <p:nvSpPr>
          <p:cNvPr id="5" name="Rectangle 6"/>
          <p:cNvSpPr>
            <a:spLocks noGrp="1" noChangeArrowheads="1"/>
          </p:cNvSpPr>
          <p:nvPr>
            <p:ph type="ftr" sz="quarter" idx="11"/>
          </p:nvPr>
        </p:nvSpPr>
        <p:spPr>
          <a:xfrm>
            <a:off x="3124200" y="6245225"/>
            <a:ext cx="2895600" cy="476250"/>
          </a:xfrm>
        </p:spPr>
        <p:txBody>
          <a:bodyPr/>
          <a:lstStyle>
            <a:lvl1pPr eaLnBrk="0" hangingPunct="0">
              <a:defRPr/>
            </a:lvl1pPr>
          </a:lstStyle>
          <a:p>
            <a:pPr>
              <a:defRPr/>
            </a:pPr>
            <a:endParaRPr lang="en-US" altLang="zh-CN"/>
          </a:p>
        </p:txBody>
      </p:sp>
      <p:sp>
        <p:nvSpPr>
          <p:cNvPr id="6" name="Rectangle 7"/>
          <p:cNvSpPr>
            <a:spLocks noGrp="1" noChangeArrowheads="1"/>
          </p:cNvSpPr>
          <p:nvPr>
            <p:ph type="sldNum" sz="quarter" idx="12"/>
          </p:nvPr>
        </p:nvSpPr>
        <p:spPr>
          <a:xfrm>
            <a:off x="6553200" y="6245225"/>
            <a:ext cx="2133600" cy="476250"/>
          </a:xfrm>
        </p:spPr>
        <p:txBody>
          <a:bodyPr/>
          <a:lstStyle>
            <a:lvl1pPr eaLnBrk="0" hangingPunct="0">
              <a:defRPr/>
            </a:lvl1pPr>
          </a:lstStyle>
          <a:p>
            <a:pPr>
              <a:defRPr/>
            </a:pPr>
            <a:fld id="{A3AAA4EE-6B8F-411D-B87F-93A159326F00}"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eaLnBrk="0" hangingPunct="0">
              <a:defRPr/>
            </a:lvl1pPr>
          </a:lstStyle>
          <a:p>
            <a:pPr>
              <a:defRPr/>
            </a:pPr>
            <a:fld id="{E541AF8D-B3D7-4FE9-8B08-D6E788EE449C}" type="datetime1">
              <a:rPr lang="zh-CN" altLang="en-US"/>
              <a:pPr>
                <a:defRPr/>
              </a:pPr>
              <a:t>2025/5/26</a:t>
            </a:fld>
            <a:endParaRPr lang="en-US" altLang="zh-CN"/>
          </a:p>
        </p:txBody>
      </p:sp>
      <p:sp>
        <p:nvSpPr>
          <p:cNvPr id="5"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eaLnBrk="0" hangingPunct="0">
              <a:defRPr/>
            </a:lvl1pPr>
          </a:lstStyle>
          <a:p>
            <a:pPr>
              <a:defRPr/>
            </a:pPr>
            <a:fld id="{9075DC97-F21A-4696-89E7-FF9AD1993287}" type="slidenum">
              <a:rPr lang="zh-CN" altLang="en-US"/>
              <a:pPr>
                <a:defRPr/>
              </a:pPr>
              <a:t>‹#›</a:t>
            </a:fld>
            <a:endParaRPr lang="en-US" altLang="zh-CN"/>
          </a:p>
        </p:txBody>
      </p:sp>
      <p:sp>
        <p:nvSpPr>
          <p:cNvPr id="7" name="TextBox 5"/>
          <p:cNvSpPr txBox="1"/>
          <p:nvPr userDrawn="1"/>
        </p:nvSpPr>
        <p:spPr>
          <a:xfrm>
            <a:off x="6839744" y="0"/>
            <a:ext cx="2304256" cy="584775"/>
          </a:xfrm>
          <a:prstGeom prst="rect">
            <a:avLst/>
          </a:prstGeom>
          <a:noFill/>
        </p:spPr>
        <p:txBody>
          <a:bodyPr wrap="square" rtlCol="0">
            <a:spAutoFit/>
          </a:bodyPr>
          <a:lstStyle>
            <a:defPPr>
              <a:defRPr lang="ko-KR"/>
            </a:defPPr>
            <a:lvl1pPr algn="l" rtl="0" fontAlgn="base" latinLnBrk="1">
              <a:spcBef>
                <a:spcPct val="0"/>
              </a:spcBef>
              <a:spcAft>
                <a:spcPct val="0"/>
              </a:spcAft>
              <a:defRPr kumimoji="1" kern="1200">
                <a:solidFill>
                  <a:schemeClr val="tx1"/>
                </a:solidFill>
                <a:latin typeface="Gulim" pitchFamily="34" charset="-127"/>
                <a:ea typeface="Gulim" pitchFamily="34" charset="-127"/>
                <a:cs typeface="+mn-cs"/>
              </a:defRPr>
            </a:lvl1pPr>
            <a:lvl2pPr marL="457200" algn="l" rtl="0" fontAlgn="base" latinLnBrk="1">
              <a:spcBef>
                <a:spcPct val="0"/>
              </a:spcBef>
              <a:spcAft>
                <a:spcPct val="0"/>
              </a:spcAft>
              <a:defRPr kumimoji="1" kern="1200">
                <a:solidFill>
                  <a:schemeClr val="tx1"/>
                </a:solidFill>
                <a:latin typeface="Gulim" pitchFamily="34" charset="-127"/>
                <a:ea typeface="Gulim" pitchFamily="34" charset="-127"/>
                <a:cs typeface="+mn-cs"/>
              </a:defRPr>
            </a:lvl2pPr>
            <a:lvl3pPr marL="914400" algn="l" rtl="0" fontAlgn="base" latinLnBrk="1">
              <a:spcBef>
                <a:spcPct val="0"/>
              </a:spcBef>
              <a:spcAft>
                <a:spcPct val="0"/>
              </a:spcAft>
              <a:defRPr kumimoji="1" kern="1200">
                <a:solidFill>
                  <a:schemeClr val="tx1"/>
                </a:solidFill>
                <a:latin typeface="Gulim" pitchFamily="34" charset="-127"/>
                <a:ea typeface="Gulim" pitchFamily="34" charset="-127"/>
                <a:cs typeface="+mn-cs"/>
              </a:defRPr>
            </a:lvl3pPr>
            <a:lvl4pPr marL="1371600" algn="l" rtl="0" fontAlgn="base" latinLnBrk="1">
              <a:spcBef>
                <a:spcPct val="0"/>
              </a:spcBef>
              <a:spcAft>
                <a:spcPct val="0"/>
              </a:spcAft>
              <a:defRPr kumimoji="1" kern="1200">
                <a:solidFill>
                  <a:schemeClr val="tx1"/>
                </a:solidFill>
                <a:latin typeface="Gulim" pitchFamily="34" charset="-127"/>
                <a:ea typeface="Gulim" pitchFamily="34" charset="-127"/>
                <a:cs typeface="+mn-cs"/>
              </a:defRPr>
            </a:lvl4pPr>
            <a:lvl5pPr marL="1828800" algn="l" rtl="0" fontAlgn="base" latinLnBrk="1">
              <a:spcBef>
                <a:spcPct val="0"/>
              </a:spcBef>
              <a:spcAft>
                <a:spcPct val="0"/>
              </a:spcAft>
              <a:defRPr kumimoji="1" kern="1200">
                <a:solidFill>
                  <a:schemeClr val="tx1"/>
                </a:solidFill>
                <a:latin typeface="Gulim" pitchFamily="34" charset="-127"/>
                <a:ea typeface="Gulim" pitchFamily="34" charset="-127"/>
                <a:cs typeface="+mn-cs"/>
              </a:defRPr>
            </a:lvl5pPr>
            <a:lvl6pPr marL="2286000" algn="l" defTabSz="914400" rtl="0" eaLnBrk="1" latinLnBrk="0" hangingPunct="1">
              <a:defRPr kumimoji="1" kern="1200">
                <a:solidFill>
                  <a:schemeClr val="tx1"/>
                </a:solidFill>
                <a:latin typeface="Gulim" pitchFamily="34" charset="-127"/>
                <a:ea typeface="Gulim" pitchFamily="34" charset="-127"/>
                <a:cs typeface="+mn-cs"/>
              </a:defRPr>
            </a:lvl6pPr>
            <a:lvl7pPr marL="2743200" algn="l" defTabSz="914400" rtl="0" eaLnBrk="1" latinLnBrk="0" hangingPunct="1">
              <a:defRPr kumimoji="1" kern="1200">
                <a:solidFill>
                  <a:schemeClr val="tx1"/>
                </a:solidFill>
                <a:latin typeface="Gulim" pitchFamily="34" charset="-127"/>
                <a:ea typeface="Gulim" pitchFamily="34" charset="-127"/>
                <a:cs typeface="+mn-cs"/>
              </a:defRPr>
            </a:lvl7pPr>
            <a:lvl8pPr marL="3200400" algn="l" defTabSz="914400" rtl="0" eaLnBrk="1" latinLnBrk="0" hangingPunct="1">
              <a:defRPr kumimoji="1" kern="1200">
                <a:solidFill>
                  <a:schemeClr val="tx1"/>
                </a:solidFill>
                <a:latin typeface="Gulim" pitchFamily="34" charset="-127"/>
                <a:ea typeface="Gulim" pitchFamily="34" charset="-127"/>
                <a:cs typeface="+mn-cs"/>
              </a:defRPr>
            </a:lvl8pPr>
            <a:lvl9pPr marL="3657600" algn="l" defTabSz="914400" rtl="0" eaLnBrk="1" latinLnBrk="0" hangingPunct="1">
              <a:defRPr kumimoji="1" kern="1200">
                <a:solidFill>
                  <a:schemeClr val="tx1"/>
                </a:solidFill>
                <a:latin typeface="Gulim" pitchFamily="34" charset="-127"/>
                <a:ea typeface="Gulim" pitchFamily="34" charset="-127"/>
                <a:cs typeface="+mn-cs"/>
              </a:defRPr>
            </a:lvl9pPr>
          </a:lstStyle>
          <a:p>
            <a:pPr algn="ctr"/>
            <a:r>
              <a:rPr lang="zh-CN" altLang="en-US" sz="1600" dirty="0">
                <a:solidFill>
                  <a:srgbClr val="FFCCCC"/>
                </a:solidFill>
                <a:latin typeface="汉仪悠然体简" pitchFamily="18" charset="-122"/>
                <a:ea typeface="汉仪悠然体简" pitchFamily="18" charset="-122"/>
              </a:rPr>
              <a:t>西安交通大学赵银亮</a:t>
            </a:r>
            <a:endParaRPr lang="en-US" altLang="zh-CN" sz="1600" dirty="0">
              <a:solidFill>
                <a:srgbClr val="FFCCCC"/>
              </a:solidFill>
              <a:latin typeface="汉仪悠然体简" pitchFamily="18" charset="-122"/>
              <a:ea typeface="汉仪悠然体简" pitchFamily="18" charset="-122"/>
            </a:endParaRPr>
          </a:p>
          <a:p>
            <a:pPr algn="ctr"/>
            <a:r>
              <a:rPr lang="en-US" altLang="zh-CN" sz="1600" dirty="0">
                <a:solidFill>
                  <a:srgbClr val="FFCCCC"/>
                </a:solidFill>
                <a:latin typeface="汉仪悠然体简" pitchFamily="18" charset="-122"/>
                <a:ea typeface="汉仪悠然体简" pitchFamily="18" charset="-122"/>
              </a:rPr>
              <a:t>《</a:t>
            </a:r>
            <a:r>
              <a:rPr lang="zh-CN" altLang="en-US" sz="1600" dirty="0">
                <a:solidFill>
                  <a:srgbClr val="FFCCCC"/>
                </a:solidFill>
                <a:latin typeface="汉仪悠然体简" pitchFamily="18" charset="-122"/>
                <a:ea typeface="汉仪悠然体简" pitchFamily="18" charset="-122"/>
              </a:rPr>
              <a:t>形式语言与编译</a:t>
            </a:r>
            <a:r>
              <a:rPr lang="en-US" altLang="zh-CN" sz="1600" dirty="0">
                <a:solidFill>
                  <a:srgbClr val="FFCCCC"/>
                </a:solidFill>
                <a:latin typeface="汉仪悠然体简" pitchFamily="18" charset="-122"/>
                <a:ea typeface="汉仪悠然体简" pitchFamily="18" charset="-122"/>
              </a:rPr>
              <a:t>》</a:t>
            </a:r>
            <a:endParaRPr lang="zh-CN" altLang="en-US" sz="1600" dirty="0">
              <a:solidFill>
                <a:srgbClr val="FFCCCC"/>
              </a:solidFill>
              <a:latin typeface="汉仪悠然体简" pitchFamily="18" charset="-122"/>
              <a:ea typeface="汉仪悠然体简" pitchFamily="18"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eaLnBrk="0" hangingPunct="0">
              <a:defRPr/>
            </a:lvl1pPr>
          </a:lstStyle>
          <a:p>
            <a:pPr>
              <a:defRPr/>
            </a:pPr>
            <a:fld id="{C89009D1-2B36-4D2C-9D4F-EEB90A38386D}" type="datetime1">
              <a:rPr lang="zh-CN" altLang="en-US"/>
              <a:pPr>
                <a:defRPr/>
              </a:pPr>
              <a:t>2025/5/26</a:t>
            </a:fld>
            <a:endParaRPr lang="en-US" altLang="zh-CN"/>
          </a:p>
        </p:txBody>
      </p:sp>
      <p:sp>
        <p:nvSpPr>
          <p:cNvPr id="5"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eaLnBrk="0" hangingPunct="0">
              <a:defRPr/>
            </a:lvl1pPr>
          </a:lstStyle>
          <a:p>
            <a:pPr>
              <a:defRPr/>
            </a:pPr>
            <a:fld id="{BAC66141-66F2-4D3B-9360-5D7AD8B02C04}"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981075"/>
            <a:ext cx="4208463"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4713" y="981075"/>
            <a:ext cx="4208462"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eaLnBrk="0" hangingPunct="0">
              <a:defRPr/>
            </a:lvl1pPr>
          </a:lstStyle>
          <a:p>
            <a:pPr>
              <a:defRPr/>
            </a:pPr>
            <a:fld id="{456D98F9-3672-4225-BC10-03EFCF7A32DE}" type="datetime1">
              <a:rPr lang="zh-CN" altLang="en-US"/>
              <a:pPr>
                <a:defRPr/>
              </a:pPr>
              <a:t>2025/5/26</a:t>
            </a:fld>
            <a:endParaRPr lang="en-US" altLang="zh-CN"/>
          </a:p>
        </p:txBody>
      </p:sp>
      <p:sp>
        <p:nvSpPr>
          <p:cNvPr id="6"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eaLnBrk="0" hangingPunct="0">
              <a:defRPr/>
            </a:lvl1pPr>
          </a:lstStyle>
          <a:p>
            <a:pPr>
              <a:defRPr/>
            </a:pPr>
            <a:fld id="{7BF9C476-AC91-4B5F-851C-25042C204740}"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eaLnBrk="0" hangingPunct="0">
              <a:defRPr/>
            </a:lvl1pPr>
          </a:lstStyle>
          <a:p>
            <a:pPr>
              <a:defRPr/>
            </a:pPr>
            <a:fld id="{0E6CB3B0-AC19-4BCA-AE85-B2397647BE23}" type="datetime1">
              <a:rPr lang="zh-CN" altLang="en-US"/>
              <a:pPr>
                <a:defRPr/>
              </a:pPr>
              <a:t>2025/5/26</a:t>
            </a:fld>
            <a:endParaRPr lang="en-US" altLang="zh-CN"/>
          </a:p>
        </p:txBody>
      </p:sp>
      <p:sp>
        <p:nvSpPr>
          <p:cNvPr id="8"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eaLnBrk="0" hangingPunct="0">
              <a:defRPr/>
            </a:lvl1pPr>
          </a:lstStyle>
          <a:p>
            <a:pPr>
              <a:defRPr/>
            </a:pPr>
            <a:fld id="{E76BCCD4-78BB-4A98-A30D-917DE64AA5D5}"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eaLnBrk="0" hangingPunct="0">
              <a:defRPr/>
            </a:lvl1pPr>
          </a:lstStyle>
          <a:p>
            <a:pPr>
              <a:defRPr/>
            </a:pPr>
            <a:fld id="{C223DC6B-EEF4-4C7D-A9D8-DEDB8153002C}" type="datetime1">
              <a:rPr lang="zh-CN" altLang="en-US"/>
              <a:pPr>
                <a:defRPr/>
              </a:pPr>
              <a:t>2025/5/26</a:t>
            </a:fld>
            <a:endParaRPr lang="en-US" altLang="zh-CN"/>
          </a:p>
        </p:txBody>
      </p:sp>
      <p:sp>
        <p:nvSpPr>
          <p:cNvPr id="4"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eaLnBrk="0" hangingPunct="0">
              <a:defRPr/>
            </a:lvl1pPr>
          </a:lstStyle>
          <a:p>
            <a:pPr>
              <a:defRPr/>
            </a:pPr>
            <a:fld id="{918EBE35-3097-4DFB-84D4-CDEEA36BEF84}"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eaLnBrk="0" hangingPunct="0">
              <a:defRPr/>
            </a:lvl1pPr>
          </a:lstStyle>
          <a:p>
            <a:pPr>
              <a:defRPr/>
            </a:pPr>
            <a:fld id="{B0FC1E4C-9029-4E3A-8A14-797A659582D7}" type="datetime1">
              <a:rPr lang="zh-CN" altLang="en-US"/>
              <a:pPr>
                <a:defRPr/>
              </a:pPr>
              <a:t>2025/5/26</a:t>
            </a:fld>
            <a:endParaRPr lang="en-US" altLang="zh-CN"/>
          </a:p>
        </p:txBody>
      </p:sp>
      <p:sp>
        <p:nvSpPr>
          <p:cNvPr id="3"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eaLnBrk="0" hangingPunct="0">
              <a:defRPr/>
            </a:lvl1pPr>
          </a:lstStyle>
          <a:p>
            <a:pPr>
              <a:defRPr/>
            </a:pPr>
            <a:fld id="{D9A3ABF8-3BA0-4975-9C24-50B959923FF1}"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eaLnBrk="0" hangingPunct="0">
              <a:defRPr/>
            </a:lvl1pPr>
          </a:lstStyle>
          <a:p>
            <a:pPr>
              <a:defRPr/>
            </a:pPr>
            <a:fld id="{CC3716A0-C629-44EC-8886-F1982DF0A0FB}" type="datetime1">
              <a:rPr lang="zh-CN" altLang="en-US"/>
              <a:pPr>
                <a:defRPr/>
              </a:pPr>
              <a:t>2025/5/26</a:t>
            </a:fld>
            <a:endParaRPr lang="en-US" altLang="zh-CN"/>
          </a:p>
        </p:txBody>
      </p:sp>
      <p:sp>
        <p:nvSpPr>
          <p:cNvPr id="6"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eaLnBrk="0" hangingPunct="0">
              <a:defRPr/>
            </a:lvl1pPr>
          </a:lstStyle>
          <a:p>
            <a:pPr>
              <a:defRPr/>
            </a:pPr>
            <a:fld id="{1D5A54F0-219B-4885-8816-1DCB2C228436}"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eaLnBrk="0" hangingPunct="0">
              <a:defRPr/>
            </a:lvl1pPr>
          </a:lstStyle>
          <a:p>
            <a:pPr>
              <a:defRPr/>
            </a:pPr>
            <a:fld id="{3CED0AC1-BFD7-4B0A-869E-9AA162B4CDBF}" type="datetime1">
              <a:rPr lang="zh-CN" altLang="en-US"/>
              <a:pPr>
                <a:defRPr/>
              </a:pPr>
              <a:t>2025/5/26</a:t>
            </a:fld>
            <a:endParaRPr lang="en-US" altLang="zh-CN"/>
          </a:p>
        </p:txBody>
      </p:sp>
      <p:sp>
        <p:nvSpPr>
          <p:cNvPr id="6"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eaLnBrk="0" hangingPunct="0">
              <a:defRPr/>
            </a:lvl1pPr>
          </a:lstStyle>
          <a:p>
            <a:pPr>
              <a:defRPr/>
            </a:pPr>
            <a:fld id="{640F4B0B-157D-4EFD-9B70-7D87B5033A25}"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eaLnBrk="0" hangingPunct="0">
              <a:defRPr/>
            </a:lvl1pPr>
          </a:lstStyle>
          <a:p>
            <a:pPr>
              <a:defRPr/>
            </a:pPr>
            <a:fld id="{22AB5A83-C808-49D2-85F8-16A88CCA0D37}" type="datetime1">
              <a:rPr lang="zh-CN" altLang="en-US"/>
              <a:pPr>
                <a:defRPr/>
              </a:pPr>
              <a:t>2025/5/26</a:t>
            </a:fld>
            <a:endParaRPr lang="en-US" altLang="zh-CN"/>
          </a:p>
        </p:txBody>
      </p:sp>
      <p:sp>
        <p:nvSpPr>
          <p:cNvPr id="5"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eaLnBrk="0" hangingPunct="0">
              <a:defRPr/>
            </a:lvl1pPr>
          </a:lstStyle>
          <a:p>
            <a:pPr>
              <a:defRPr/>
            </a:pPr>
            <a:fld id="{464A5DBD-A33A-4C1C-A1AB-EAA24CE91D93}"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32588" y="44450"/>
            <a:ext cx="2160587" cy="62642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50825" y="44450"/>
            <a:ext cx="6329363" cy="62642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eaLnBrk="0" hangingPunct="0">
              <a:defRPr/>
            </a:lvl1pPr>
          </a:lstStyle>
          <a:p>
            <a:pPr>
              <a:defRPr/>
            </a:pPr>
            <a:fld id="{83D344CE-E26C-45A2-8907-1CC7A50A90AC}" type="datetime1">
              <a:rPr lang="zh-CN" altLang="en-US"/>
              <a:pPr>
                <a:defRPr/>
              </a:pPr>
              <a:t>2025/5/26</a:t>
            </a:fld>
            <a:endParaRPr lang="en-US" altLang="zh-CN"/>
          </a:p>
        </p:txBody>
      </p:sp>
      <p:sp>
        <p:nvSpPr>
          <p:cNvPr id="5"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eaLnBrk="0" hangingPunct="0">
              <a:defRPr/>
            </a:lvl1pPr>
          </a:lstStyle>
          <a:p>
            <a:pPr>
              <a:defRPr/>
            </a:pPr>
            <a:fld id="{7F6A5130-3728-4351-9C9E-1B8D7B7D05B2}"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250825" y="44450"/>
            <a:ext cx="8642350" cy="720725"/>
          </a:xfrm>
        </p:spPr>
        <p:txBody>
          <a:bodyPr/>
          <a:lstStyle/>
          <a:p>
            <a:r>
              <a:rPr lang="zh-CN" altLang="en-US"/>
              <a:t>单击此处编辑母版标题样式</a:t>
            </a:r>
          </a:p>
        </p:txBody>
      </p:sp>
      <p:sp>
        <p:nvSpPr>
          <p:cNvPr id="3" name="图表占位符 2"/>
          <p:cNvSpPr>
            <a:spLocks noGrp="1"/>
          </p:cNvSpPr>
          <p:nvPr>
            <p:ph type="chart" idx="1"/>
          </p:nvPr>
        </p:nvSpPr>
        <p:spPr>
          <a:xfrm>
            <a:off x="323850" y="981075"/>
            <a:ext cx="8569325" cy="5327650"/>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eaLnBrk="0" hangingPunct="0">
              <a:defRPr/>
            </a:lvl1pPr>
          </a:lstStyle>
          <a:p>
            <a:pPr>
              <a:defRPr/>
            </a:pPr>
            <a:fld id="{63B9EBCD-1500-4B34-B597-18BC8D59A588}" type="datetime1">
              <a:rPr lang="zh-CN" altLang="en-US"/>
              <a:pPr>
                <a:defRPr/>
              </a:pPr>
              <a:t>2025/5/26</a:t>
            </a:fld>
            <a:endParaRPr lang="en-US" altLang="zh-CN"/>
          </a:p>
        </p:txBody>
      </p:sp>
      <p:sp>
        <p:nvSpPr>
          <p:cNvPr id="5" name="Rectangle 5"/>
          <p:cNvSpPr>
            <a:spLocks noGrp="1" noChangeArrowheads="1"/>
          </p:cNvSpPr>
          <p:nvPr>
            <p:ph type="ftr" sz="quarter" idx="11"/>
          </p:nvPr>
        </p:nvSpPr>
        <p:spPr/>
        <p:txBody>
          <a:bodyPr/>
          <a:lstStyle>
            <a:lvl1pPr eaLnBrk="0" hangingPunct="0">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eaLnBrk="0" hangingPunct="0">
              <a:defRPr/>
            </a:lvl1pPr>
          </a:lstStyle>
          <a:p>
            <a:pPr>
              <a:defRPr/>
            </a:pPr>
            <a:fld id="{C5868082-8011-4B9E-A200-46897186A183}" type="slidenum">
              <a:rPr lang="zh-CN" altLang="en-US"/>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a:xfrm>
            <a:off x="0" y="1052736"/>
            <a:ext cx="9144000" cy="2232025"/>
          </a:xfrm>
        </p:spPr>
        <p:txBody>
          <a:bodyPr/>
          <a:lstStyle>
            <a:lvl1pPr>
              <a:defRPr sz="4000" b="0">
                <a:solidFill>
                  <a:srgbClr val="FF0000"/>
                </a:solidFill>
                <a:latin typeface="Garamond" pitchFamily="18" charset="0"/>
                <a:ea typeface="+mj-ea"/>
              </a:defRPr>
            </a:lvl1pPr>
          </a:lstStyle>
          <a:p>
            <a:r>
              <a:rPr lang="en-US" altLang="ko-KR" dirty="0"/>
              <a:t>Click to edit Master title</a:t>
            </a:r>
          </a:p>
        </p:txBody>
      </p:sp>
      <p:sp>
        <p:nvSpPr>
          <p:cNvPr id="19459" name="Rectangle 3"/>
          <p:cNvSpPr>
            <a:spLocks noGrp="1" noChangeArrowheads="1"/>
          </p:cNvSpPr>
          <p:nvPr>
            <p:ph type="subTitle" idx="1"/>
          </p:nvPr>
        </p:nvSpPr>
        <p:spPr>
          <a:xfrm>
            <a:off x="250825" y="4221088"/>
            <a:ext cx="8686800" cy="492443"/>
          </a:xfrm>
        </p:spPr>
        <p:txBody>
          <a:bodyPr/>
          <a:lstStyle>
            <a:lvl1pPr marL="0" indent="0" algn="ctr">
              <a:buFont typeface="Wingdings" pitchFamily="2" charset="2"/>
              <a:buNone/>
              <a:defRPr sz="2600">
                <a:solidFill>
                  <a:schemeClr val="bg2">
                    <a:lumMod val="75000"/>
                  </a:schemeClr>
                </a:solidFill>
              </a:defRPr>
            </a:lvl1pPr>
          </a:lstStyle>
          <a:p>
            <a:r>
              <a:rPr lang="en-US" altLang="ko-KR" dirty="0"/>
              <a:t>COMPANY LOGO</a:t>
            </a:r>
          </a:p>
        </p:txBody>
      </p:sp>
      <p:pic>
        <p:nvPicPr>
          <p:cNvPr id="12" name="Picture 2" descr="http://www.xjtu.edu.cn/img/logo_pic99.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7384"/>
            <a:ext cx="1824137" cy="472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5857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200">
                <a:latin typeface="Cambria Math" panose="02040503050406030204" pitchFamily="18" charset="0"/>
                <a:ea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a:xfrm>
            <a:off x="250825" y="981074"/>
            <a:ext cx="8642350" cy="2234458"/>
          </a:xfrm>
        </p:spPr>
        <p:txBody>
          <a:bodyPr/>
          <a:lstStyle>
            <a:lvl1pPr marL="342900" indent="-342900">
              <a:buClr>
                <a:schemeClr val="bg2">
                  <a:lumMod val="50000"/>
                </a:schemeClr>
              </a:buClr>
              <a:buFont typeface="Cambria Math" panose="02040503050406030204" pitchFamily="18" charset="0"/>
              <a:buChar char="⌲"/>
              <a:defRPr sz="2400" b="0">
                <a:latin typeface="Cambria Math" panose="02040503050406030204" pitchFamily="18" charset="0"/>
                <a:ea typeface="仿宋" panose="02010609060101010101" pitchFamily="49" charset="-122"/>
              </a:defRPr>
            </a:lvl1pPr>
            <a:lvl2pPr marL="742950" indent="-285750">
              <a:buClr>
                <a:schemeClr val="tx2">
                  <a:lumMod val="60000"/>
                  <a:lumOff val="40000"/>
                </a:schemeClr>
              </a:buClr>
              <a:buFont typeface="Cambria Math" panose="02040503050406030204" pitchFamily="18" charset="0"/>
              <a:buChar char="•"/>
              <a:defRPr sz="2400" b="0">
                <a:latin typeface="Cambria Math" panose="02040503050406030204" pitchFamily="18" charset="0"/>
                <a:ea typeface="仿宋" panose="02010609060101010101" pitchFamily="49" charset="-122"/>
              </a:defRPr>
            </a:lvl2pPr>
            <a:lvl3pPr>
              <a:buClr>
                <a:schemeClr val="accent3">
                  <a:lumMod val="75000"/>
                </a:schemeClr>
              </a:buClr>
              <a:defRPr>
                <a:latin typeface="+mn-ea"/>
                <a:ea typeface="+mn-ea"/>
              </a:defRPr>
            </a:lvl3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 name="图片 3"/>
          <p:cNvPicPr>
            <a:picLocks noChangeAspect="1"/>
          </p:cNvPicPr>
          <p:nvPr userDrawn="1"/>
        </p:nvPicPr>
        <p:blipFill>
          <a:blip r:embed="rId2" cstate="print">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592249" y="6597352"/>
            <a:ext cx="516255" cy="209550"/>
          </a:xfrm>
          <a:prstGeom prst="rect">
            <a:avLst/>
          </a:prstGeom>
        </p:spPr>
      </p:pic>
      <p:pic>
        <p:nvPicPr>
          <p:cNvPr id="5" name="图片 4"/>
          <p:cNvPicPr>
            <a:picLocks noChangeAspect="1"/>
          </p:cNvPicPr>
          <p:nvPr userDrawn="1"/>
        </p:nvPicPr>
        <p:blipFill rotWithShape="1">
          <a:blip r:embed="rId4" cstate="print">
            <a:duotone>
              <a:prstClr val="black"/>
              <a:srgbClr val="00B0F0">
                <a:tint val="45000"/>
                <a:satMod val="400000"/>
              </a:srgbClr>
            </a:duotone>
            <a:extLst>
              <a:ext uri="{28A0092B-C50C-407E-A947-70E740481C1C}">
                <a14:useLocalDpi xmlns:a14="http://schemas.microsoft.com/office/drawing/2010/main" val="0"/>
              </a:ext>
            </a:extLst>
          </a:blip>
          <a:srcRect l="5900" t="23318" r="10626" b="24722"/>
          <a:stretch/>
        </p:blipFill>
        <p:spPr>
          <a:xfrm>
            <a:off x="8283332" y="44624"/>
            <a:ext cx="825172" cy="288032"/>
          </a:xfrm>
          <a:prstGeom prst="rect">
            <a:avLst/>
          </a:prstGeom>
        </p:spPr>
      </p:pic>
    </p:spTree>
    <p:extLst>
      <p:ext uri="{BB962C8B-B14F-4D97-AF65-F5344CB8AC3E}">
        <p14:creationId xmlns:p14="http://schemas.microsoft.com/office/powerpoint/2010/main" val="3734435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sz="half" idx="1"/>
          </p:nvPr>
        </p:nvSpPr>
        <p:spPr>
          <a:xfrm>
            <a:off x="250825" y="981075"/>
            <a:ext cx="4244975" cy="2346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4244975" cy="23463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82082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Tree>
    <p:extLst>
      <p:ext uri="{BB962C8B-B14F-4D97-AF65-F5344CB8AC3E}">
        <p14:creationId xmlns:p14="http://schemas.microsoft.com/office/powerpoint/2010/main" val="3337786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7496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79388" y="0"/>
            <a:ext cx="8713787" cy="765175"/>
          </a:xfrm>
        </p:spPr>
        <p:txBody>
          <a:bodyPr/>
          <a:lstStyle/>
          <a:p>
            <a:r>
              <a:rPr lang="zh-CN" altLang="en-US"/>
              <a:t>单击此处编辑母版标题样式</a:t>
            </a:r>
          </a:p>
        </p:txBody>
      </p:sp>
      <p:sp>
        <p:nvSpPr>
          <p:cNvPr id="3" name="图表占位符 2"/>
          <p:cNvSpPr>
            <a:spLocks noGrp="1"/>
          </p:cNvSpPr>
          <p:nvPr>
            <p:ph type="chart" idx="1"/>
          </p:nvPr>
        </p:nvSpPr>
        <p:spPr>
          <a:xfrm>
            <a:off x="250825" y="981075"/>
            <a:ext cx="8642350" cy="461665"/>
          </a:xfrm>
        </p:spPr>
        <p:txBody>
          <a:bodyPr/>
          <a:lstStyle>
            <a:lvl1pPr marL="342900" indent="-342900">
              <a:buFont typeface="Wingdings" pitchFamily="2" charset="2"/>
              <a:buChar char="Ø"/>
              <a:defRPr/>
            </a:lvl1pPr>
          </a:lstStyle>
          <a:p>
            <a:pPr lvl="0"/>
            <a:endParaRPr lang="zh-CN" altLang="en-US" noProof="0" dirty="0"/>
          </a:p>
        </p:txBody>
      </p:sp>
    </p:spTree>
    <p:extLst>
      <p:ext uri="{BB962C8B-B14F-4D97-AF65-F5344CB8AC3E}">
        <p14:creationId xmlns:p14="http://schemas.microsoft.com/office/powerpoint/2010/main" val="1995575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image" Target="../media/image7.png"/><Relationship Id="rId4" Type="http://schemas.openxmlformats.org/officeDocument/2006/relationships/slideLayout" Target="../slideLayouts/slideLayout16.xml"/><Relationship Id="rId9"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AF5FE"/>
            </a:gs>
            <a:gs pos="50000">
              <a:srgbClr val="FFFFFF"/>
            </a:gs>
            <a:gs pos="100000">
              <a:srgbClr val="DAF5FE"/>
            </a:gs>
          </a:gsLst>
          <a:lin ang="2700000" scaled="1"/>
        </a:gradFill>
        <a:effectLst/>
      </p:bgPr>
    </p:bg>
    <p:spTree>
      <p:nvGrpSpPr>
        <p:cNvPr id="1" name=""/>
        <p:cNvGrpSpPr/>
        <p:nvPr/>
      </p:nvGrpSpPr>
      <p:grpSpPr>
        <a:xfrm>
          <a:off x="0" y="0"/>
          <a:ext cx="0" cy="0"/>
          <a:chOff x="0" y="0"/>
          <a:chExt cx="0" cy="0"/>
        </a:xfrm>
      </p:grpSpPr>
      <p:pic>
        <p:nvPicPr>
          <p:cNvPr id="2050" name="Picture 7" descr="图片1"/>
          <p:cNvPicPr>
            <a:picLocks noChangeAspect="1" noChangeArrowheads="1"/>
          </p:cNvPicPr>
          <p:nvPr userDrawn="1"/>
        </p:nvPicPr>
        <p:blipFill>
          <a:blip r:embed="rId14" cstate="print"/>
          <a:srcRect/>
          <a:stretch>
            <a:fillRect/>
          </a:stretch>
        </p:blipFill>
        <p:spPr bwMode="auto">
          <a:xfrm>
            <a:off x="0" y="0"/>
            <a:ext cx="9144000" cy="765175"/>
          </a:xfrm>
          <a:prstGeom prst="rect">
            <a:avLst/>
          </a:prstGeom>
          <a:noFill/>
          <a:ln w="9525">
            <a:noFill/>
            <a:miter lim="800000"/>
            <a:headEnd/>
            <a:tailEnd/>
          </a:ln>
        </p:spPr>
      </p:pic>
      <p:sp>
        <p:nvSpPr>
          <p:cNvPr id="2051" name="Rectangle 2"/>
          <p:cNvSpPr>
            <a:spLocks noGrp="1" noChangeArrowheads="1"/>
          </p:cNvSpPr>
          <p:nvPr>
            <p:ph type="title"/>
          </p:nvPr>
        </p:nvSpPr>
        <p:spPr bwMode="auto">
          <a:xfrm>
            <a:off x="250825" y="44450"/>
            <a:ext cx="8642350" cy="7207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2" name="Rectangle 3"/>
          <p:cNvSpPr>
            <a:spLocks noGrp="1" noChangeArrowheads="1"/>
          </p:cNvSpPr>
          <p:nvPr>
            <p:ph type="body" idx="1"/>
          </p:nvPr>
        </p:nvSpPr>
        <p:spPr bwMode="auto">
          <a:xfrm>
            <a:off x="323850" y="981075"/>
            <a:ext cx="8569325" cy="53276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 第二级</a:t>
            </a:r>
          </a:p>
          <a:p>
            <a:pPr lvl="2"/>
            <a:r>
              <a:rPr lang="zh-CN" altLang="en-US"/>
              <a:t> 第三级</a:t>
            </a:r>
          </a:p>
          <a:p>
            <a:pPr lvl="3"/>
            <a:r>
              <a:rPr lang="zh-CN" altLang="en-US"/>
              <a:t>第四级</a:t>
            </a:r>
          </a:p>
          <a:p>
            <a:pPr lvl="4"/>
            <a:r>
              <a:rPr lang="zh-CN" altLang="en-US"/>
              <a:t>第五级</a:t>
            </a:r>
          </a:p>
        </p:txBody>
      </p:sp>
      <p:sp>
        <p:nvSpPr>
          <p:cNvPr id="306180" name="Rectangle 4"/>
          <p:cNvSpPr>
            <a:spLocks noGrp="1" noChangeArrowheads="1"/>
          </p:cNvSpPr>
          <p:nvPr>
            <p:ph type="dt" sz="half" idx="2"/>
          </p:nvPr>
        </p:nvSpPr>
        <p:spPr bwMode="auto">
          <a:xfrm>
            <a:off x="457200" y="63373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0" hangingPunct="1">
              <a:defRPr kumimoji="0" sz="1400">
                <a:solidFill>
                  <a:srgbClr val="99FFCC"/>
                </a:solidFill>
                <a:latin typeface="Arial" charset="0"/>
                <a:ea typeface="宋体" pitchFamily="2" charset="-122"/>
              </a:defRPr>
            </a:lvl1pPr>
          </a:lstStyle>
          <a:p>
            <a:pPr>
              <a:defRPr/>
            </a:pPr>
            <a:fld id="{8547A495-6F0F-40D1-8022-D8CF4A5D3462}" type="datetime1">
              <a:rPr lang="zh-CN" altLang="en-US"/>
              <a:pPr>
                <a:defRPr/>
              </a:pPr>
              <a:t>2025/5/26</a:t>
            </a:fld>
            <a:endParaRPr lang="en-US" altLang="zh-CN"/>
          </a:p>
        </p:txBody>
      </p:sp>
      <p:sp>
        <p:nvSpPr>
          <p:cNvPr id="306181" name="Rectangle 5"/>
          <p:cNvSpPr>
            <a:spLocks noGrp="1" noChangeArrowheads="1"/>
          </p:cNvSpPr>
          <p:nvPr>
            <p:ph type="ftr" sz="quarter" idx="3"/>
          </p:nvPr>
        </p:nvSpPr>
        <p:spPr bwMode="auto">
          <a:xfrm>
            <a:off x="3124200" y="633730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latinLnBrk="0" hangingPunct="1">
              <a:defRPr kumimoji="0" sz="1400">
                <a:solidFill>
                  <a:srgbClr val="000000"/>
                </a:solidFill>
                <a:latin typeface="Arial" charset="0"/>
                <a:ea typeface="宋体" pitchFamily="2" charset="-122"/>
              </a:defRPr>
            </a:lvl1pPr>
          </a:lstStyle>
          <a:p>
            <a:pPr>
              <a:defRPr/>
            </a:pPr>
            <a:endParaRPr lang="en-US" altLang="zh-CN"/>
          </a:p>
        </p:txBody>
      </p:sp>
      <p:sp>
        <p:nvSpPr>
          <p:cNvPr id="306182" name="Rectangle 6"/>
          <p:cNvSpPr>
            <a:spLocks noGrp="1" noChangeArrowheads="1"/>
          </p:cNvSpPr>
          <p:nvPr>
            <p:ph type="sldNum" sz="quarter" idx="4"/>
          </p:nvPr>
        </p:nvSpPr>
        <p:spPr bwMode="auto">
          <a:xfrm>
            <a:off x="6553200" y="633730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0" hangingPunct="1">
              <a:defRPr kumimoji="0" sz="1400">
                <a:solidFill>
                  <a:srgbClr val="000000"/>
                </a:solidFill>
                <a:latin typeface="Arial" charset="0"/>
                <a:ea typeface="宋体" pitchFamily="2" charset="-122"/>
              </a:defRPr>
            </a:lvl1pPr>
          </a:lstStyle>
          <a:p>
            <a:pPr>
              <a:defRPr/>
            </a:pPr>
            <a:fld id="{874C855A-3850-4EA8-9BE2-1AAA92189164}" type="slidenum">
              <a:rPr lang="zh-CN" altLang="en-US"/>
              <a:pPr>
                <a:defRPr/>
              </a:pPr>
              <a:t>‹#›</a:t>
            </a:fld>
            <a:endParaRPr lang="en-US" altLang="zh-CN"/>
          </a:p>
        </p:txBody>
      </p:sp>
      <p:sp>
        <p:nvSpPr>
          <p:cNvPr id="306185" name="Rectangle 9"/>
          <p:cNvSpPr>
            <a:spLocks noChangeArrowheads="1"/>
          </p:cNvSpPr>
          <p:nvPr userDrawn="1"/>
        </p:nvSpPr>
        <p:spPr bwMode="auto">
          <a:xfrm>
            <a:off x="0" y="765175"/>
            <a:ext cx="9144000" cy="76200"/>
          </a:xfrm>
          <a:prstGeom prst="rect">
            <a:avLst/>
          </a:prstGeom>
          <a:gradFill rotWithShape="1">
            <a:gsLst>
              <a:gs pos="0">
                <a:srgbClr val="000068"/>
              </a:gs>
              <a:gs pos="100000">
                <a:srgbClr val="6600CC"/>
              </a:gs>
            </a:gsLst>
            <a:lin ang="2700000" scaled="1"/>
          </a:gradFill>
          <a:ln w="9525">
            <a:noFill/>
            <a:miter lim="800000"/>
            <a:headEnd/>
            <a:tailEnd/>
          </a:ln>
          <a:effectLst/>
        </p:spPr>
        <p:txBody>
          <a:bodyPr wrap="none" anchor="ctr"/>
          <a:lstStyle/>
          <a:p>
            <a:pPr eaLnBrk="1" latinLnBrk="1" hangingPunct="1">
              <a:defRPr/>
            </a:pPr>
            <a:endParaRPr kumimoji="1" lang="zh-CN" altLang="en-US" sz="1800">
              <a:solidFill>
                <a:srgbClr val="000000"/>
              </a:solidFill>
              <a:latin typeface="Gulim" pitchFamily="34" charset="-127"/>
              <a:ea typeface="Gulim" pitchFamily="34" charset="-127"/>
            </a:endParaRPr>
          </a:p>
        </p:txBody>
      </p:sp>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Lst>
  <p:hf hdr="0" ftr="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New Century Schoolbook" pitchFamily="18" charset="0"/>
          <a:ea typeface="仿宋_GB2312" pitchFamily="49" charset="-122"/>
        </a:defRPr>
      </a:lvl2pPr>
      <a:lvl3pPr algn="ctr" rtl="0" eaLnBrk="0" fontAlgn="base" hangingPunct="0">
        <a:spcBef>
          <a:spcPct val="0"/>
        </a:spcBef>
        <a:spcAft>
          <a:spcPct val="0"/>
        </a:spcAft>
        <a:defRPr sz="3600">
          <a:solidFill>
            <a:schemeClr val="tx2"/>
          </a:solidFill>
          <a:latin typeface="New Century Schoolbook" pitchFamily="18" charset="0"/>
          <a:ea typeface="仿宋_GB2312" pitchFamily="49" charset="-122"/>
        </a:defRPr>
      </a:lvl3pPr>
      <a:lvl4pPr algn="ctr" rtl="0" eaLnBrk="0" fontAlgn="base" hangingPunct="0">
        <a:spcBef>
          <a:spcPct val="0"/>
        </a:spcBef>
        <a:spcAft>
          <a:spcPct val="0"/>
        </a:spcAft>
        <a:defRPr sz="3600">
          <a:solidFill>
            <a:schemeClr val="tx2"/>
          </a:solidFill>
          <a:latin typeface="New Century Schoolbook" pitchFamily="18" charset="0"/>
          <a:ea typeface="仿宋_GB2312" pitchFamily="49" charset="-122"/>
        </a:defRPr>
      </a:lvl4pPr>
      <a:lvl5pPr algn="ctr" rtl="0" eaLnBrk="0" fontAlgn="base" hangingPunct="0">
        <a:spcBef>
          <a:spcPct val="0"/>
        </a:spcBef>
        <a:spcAft>
          <a:spcPct val="0"/>
        </a:spcAft>
        <a:defRPr sz="3600">
          <a:solidFill>
            <a:schemeClr val="tx2"/>
          </a:solidFill>
          <a:latin typeface="New Century Schoolbook" pitchFamily="18" charset="0"/>
          <a:ea typeface="仿宋_GB2312" pitchFamily="49" charset="-122"/>
        </a:defRPr>
      </a:lvl5pPr>
      <a:lvl6pPr marL="457200" algn="ctr" rtl="0" fontAlgn="base">
        <a:spcBef>
          <a:spcPct val="0"/>
        </a:spcBef>
        <a:spcAft>
          <a:spcPct val="0"/>
        </a:spcAft>
        <a:defRPr sz="3600">
          <a:solidFill>
            <a:schemeClr val="tx2"/>
          </a:solidFill>
          <a:latin typeface="New Century Schoolbook" pitchFamily="18" charset="0"/>
          <a:ea typeface="仿宋_GB2312" pitchFamily="49" charset="-122"/>
        </a:defRPr>
      </a:lvl6pPr>
      <a:lvl7pPr marL="914400" algn="ctr" rtl="0" fontAlgn="base">
        <a:spcBef>
          <a:spcPct val="0"/>
        </a:spcBef>
        <a:spcAft>
          <a:spcPct val="0"/>
        </a:spcAft>
        <a:defRPr sz="3600">
          <a:solidFill>
            <a:schemeClr val="tx2"/>
          </a:solidFill>
          <a:latin typeface="New Century Schoolbook" pitchFamily="18" charset="0"/>
          <a:ea typeface="仿宋_GB2312" pitchFamily="49" charset="-122"/>
        </a:defRPr>
      </a:lvl7pPr>
      <a:lvl8pPr marL="1371600" algn="ctr" rtl="0" fontAlgn="base">
        <a:spcBef>
          <a:spcPct val="0"/>
        </a:spcBef>
        <a:spcAft>
          <a:spcPct val="0"/>
        </a:spcAft>
        <a:defRPr sz="3600">
          <a:solidFill>
            <a:schemeClr val="tx2"/>
          </a:solidFill>
          <a:latin typeface="New Century Schoolbook" pitchFamily="18" charset="0"/>
          <a:ea typeface="仿宋_GB2312" pitchFamily="49" charset="-122"/>
        </a:defRPr>
      </a:lvl8pPr>
      <a:lvl9pPr marL="1828800" algn="ctr" rtl="0" fontAlgn="base">
        <a:spcBef>
          <a:spcPct val="0"/>
        </a:spcBef>
        <a:spcAft>
          <a:spcPct val="0"/>
        </a:spcAft>
        <a:defRPr sz="3600">
          <a:solidFill>
            <a:schemeClr val="tx2"/>
          </a:solidFill>
          <a:latin typeface="New Century Schoolbook" pitchFamily="18" charset="0"/>
          <a:ea typeface="仿宋_GB2312" pitchFamily="49" charset="-122"/>
        </a:defRPr>
      </a:lvl9pPr>
    </p:titleStyle>
    <p:bodyStyle>
      <a:lvl1pPr marL="342900" indent="-342900" algn="l" rtl="0" eaLnBrk="0" fontAlgn="base" hangingPunct="0">
        <a:spcBef>
          <a:spcPct val="20000"/>
        </a:spcBef>
        <a:spcAft>
          <a:spcPct val="10000"/>
        </a:spcAft>
        <a:buBlip>
          <a:blip r:embed="rId15"/>
        </a:buBlip>
        <a:defRPr sz="2800">
          <a:solidFill>
            <a:schemeClr val="tx1"/>
          </a:solidFill>
          <a:latin typeface="+mn-lt"/>
          <a:ea typeface="+mn-ea"/>
          <a:cs typeface="+mn-cs"/>
        </a:defRPr>
      </a:lvl1pPr>
      <a:lvl2pPr marL="742950" indent="-285750" algn="l" rtl="0" eaLnBrk="0" fontAlgn="base" hangingPunct="0">
        <a:spcBef>
          <a:spcPct val="10000"/>
        </a:spcBef>
        <a:spcAft>
          <a:spcPct val="10000"/>
        </a:spcAft>
        <a:buBlip>
          <a:blip r:embed="rId16"/>
        </a:buBlip>
        <a:defRPr sz="2600">
          <a:solidFill>
            <a:schemeClr val="tx1"/>
          </a:solidFill>
          <a:latin typeface="+mn-lt"/>
          <a:ea typeface="楷体_GB2312" pitchFamily="49" charset="-122"/>
        </a:defRPr>
      </a:lvl2pPr>
      <a:lvl3pPr marL="1143000" indent="-228600" algn="l" rtl="0" eaLnBrk="0" fontAlgn="base" hangingPunct="0">
        <a:spcBef>
          <a:spcPct val="5000"/>
        </a:spcBef>
        <a:spcAft>
          <a:spcPct val="5000"/>
        </a:spcAft>
        <a:buClr>
          <a:srgbClr val="FF9900"/>
        </a:buClr>
        <a:buFont typeface="Wingdings" pitchFamily="2" charset="2"/>
        <a:buBlip>
          <a:blip r:embed="rId17"/>
        </a:buBlip>
        <a:defRPr sz="2400">
          <a:solidFill>
            <a:schemeClr val="tx1"/>
          </a:solidFill>
          <a:latin typeface="Times New Roman" pitchFamily="18" charset="0"/>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Arial" charset="0"/>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Arial" charset="0"/>
          <a:ea typeface="宋体" pitchFamily="2" charset="-122"/>
        </a:defRPr>
      </a:lvl5pPr>
      <a:lvl6pPr marL="2514600" indent="-228600" algn="l" rtl="0" fontAlgn="base">
        <a:spcBef>
          <a:spcPct val="20000"/>
        </a:spcBef>
        <a:spcAft>
          <a:spcPct val="0"/>
        </a:spcAft>
        <a:buChar char="»"/>
        <a:defRPr sz="2000">
          <a:solidFill>
            <a:schemeClr val="tx1"/>
          </a:solidFill>
          <a:latin typeface="Arial" charset="0"/>
          <a:ea typeface="宋体" pitchFamily="2" charset="-122"/>
        </a:defRPr>
      </a:lvl6pPr>
      <a:lvl7pPr marL="2971800" indent="-228600" algn="l" rtl="0" fontAlgn="base">
        <a:spcBef>
          <a:spcPct val="20000"/>
        </a:spcBef>
        <a:spcAft>
          <a:spcPct val="0"/>
        </a:spcAft>
        <a:buChar char="»"/>
        <a:defRPr sz="2000">
          <a:solidFill>
            <a:schemeClr val="tx1"/>
          </a:solidFill>
          <a:latin typeface="Arial" charset="0"/>
          <a:ea typeface="宋体" pitchFamily="2" charset="-122"/>
        </a:defRPr>
      </a:lvl7pPr>
      <a:lvl8pPr marL="3429000" indent="-228600" algn="l" rtl="0" fontAlgn="base">
        <a:spcBef>
          <a:spcPct val="20000"/>
        </a:spcBef>
        <a:spcAft>
          <a:spcPct val="0"/>
        </a:spcAft>
        <a:buChar char="»"/>
        <a:defRPr sz="2000">
          <a:solidFill>
            <a:schemeClr val="tx1"/>
          </a:solidFill>
          <a:latin typeface="Arial" charset="0"/>
          <a:ea typeface="宋体" pitchFamily="2" charset="-122"/>
        </a:defRPr>
      </a:lvl8pPr>
      <a:lvl9pPr marL="3886200" indent="-228600" algn="l" rtl="0" fontAlgn="base">
        <a:spcBef>
          <a:spcPct val="20000"/>
        </a:spcBef>
        <a:spcAft>
          <a:spcPct val="0"/>
        </a:spcAft>
        <a:buChar char="»"/>
        <a:defRPr sz="2000">
          <a:solidFill>
            <a:schemeClr val="tx1"/>
          </a:solidFill>
          <a:latin typeface="Arial"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pic>
        <p:nvPicPr>
          <p:cNvPr id="1026" name="Picture 39" descr="图片1"/>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colorTemperature colorTemp="6452"/>
                    </a14:imgEffect>
                  </a14:imgLayer>
                </a14:imgProps>
              </a:ext>
            </a:extLst>
          </a:blip>
          <a:srcRect/>
          <a:stretch>
            <a:fillRect/>
          </a:stretch>
        </p:blipFill>
        <p:spPr bwMode="auto">
          <a:xfrm>
            <a:off x="0" y="0"/>
            <a:ext cx="9144000" cy="765175"/>
          </a:xfrm>
          <a:prstGeom prst="rect">
            <a:avLst/>
          </a:prstGeom>
          <a:noFill/>
          <a:ln w="9525">
            <a:noFill/>
            <a:miter lim="800000"/>
            <a:headEnd/>
            <a:tailEnd/>
          </a:ln>
          <a:effectLst>
            <a:softEdge rad="31750"/>
          </a:effectLst>
        </p:spPr>
      </p:pic>
      <p:sp>
        <p:nvSpPr>
          <p:cNvPr id="1027" name="Rectangle 2"/>
          <p:cNvSpPr>
            <a:spLocks noGrp="1" noChangeArrowheads="1"/>
          </p:cNvSpPr>
          <p:nvPr>
            <p:ph type="title"/>
          </p:nvPr>
        </p:nvSpPr>
        <p:spPr bwMode="white">
          <a:xfrm>
            <a:off x="179388" y="0"/>
            <a:ext cx="8713787" cy="7651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ko-KR" dirty="0"/>
              <a:t>Click to edit Master title</a:t>
            </a:r>
          </a:p>
        </p:txBody>
      </p:sp>
      <p:sp>
        <p:nvSpPr>
          <p:cNvPr id="1028" name="Rectangle 3"/>
          <p:cNvSpPr>
            <a:spLocks noGrp="1" noChangeArrowheads="1"/>
          </p:cNvSpPr>
          <p:nvPr>
            <p:ph type="body" idx="1"/>
          </p:nvPr>
        </p:nvSpPr>
        <p:spPr bwMode="auto">
          <a:xfrm>
            <a:off x="250825" y="981075"/>
            <a:ext cx="8642350" cy="17912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zh-CN" altLang="en-US" dirty="0"/>
              <a:t> </a:t>
            </a:r>
            <a:r>
              <a:rPr lang="en-US" altLang="zh-CN" dirty="0"/>
              <a:t>Click to edit Master text</a:t>
            </a:r>
          </a:p>
          <a:p>
            <a:pPr lvl="1"/>
            <a:r>
              <a:rPr lang="en-US" altLang="zh-CN" dirty="0"/>
              <a:t>Second level</a:t>
            </a:r>
          </a:p>
          <a:p>
            <a:pPr lvl="3"/>
            <a:r>
              <a:rPr lang="en-US" altLang="zh-CN" dirty="0"/>
              <a:t>Fourth level</a:t>
            </a:r>
          </a:p>
          <a:p>
            <a:pPr lvl="4"/>
            <a:r>
              <a:rPr lang="en-US" altLang="zh-CN" dirty="0"/>
              <a:t>Fifth level</a:t>
            </a:r>
          </a:p>
        </p:txBody>
      </p:sp>
      <p:pic>
        <p:nvPicPr>
          <p:cNvPr id="7" name="Picture 2" descr="http://www.xjtu.edu.cn/img/logo_pic99.png"/>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0" y="-27384"/>
            <a:ext cx="1824137" cy="472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535347"/>
      </p:ext>
    </p:extLst>
  </p:cSld>
  <p:clrMap bg1="lt1" tx1="dk1" bg2="lt2" tx2="dk2" accent1="accent1" accent2="accent2" accent3="accent3" accent4="accent4" accent5="accent5" accent6="accent6" hlink="hlink" folHlink="folHlink"/>
  <p:sldLayoutIdLst>
    <p:sldLayoutId id="2147484112" r:id="rId1"/>
    <p:sldLayoutId id="2147484113" r:id="rId2"/>
    <p:sldLayoutId id="2147484114" r:id="rId3"/>
    <p:sldLayoutId id="2147484115" r:id="rId4"/>
    <p:sldLayoutId id="2147484116" r:id="rId5"/>
    <p:sldLayoutId id="2147484117" r:id="rId6"/>
  </p:sldLayoutIdLst>
  <p:hf hdr="0" ftr="0" dt="0"/>
  <p:txStyles>
    <p:titleStyle>
      <a:lvl1pPr algn="ctr" rtl="0" eaLnBrk="0" fontAlgn="base" hangingPunct="0">
        <a:spcBef>
          <a:spcPct val="0"/>
        </a:spcBef>
        <a:spcAft>
          <a:spcPct val="0"/>
        </a:spcAft>
        <a:defRPr kumimoji="1" sz="3200">
          <a:solidFill>
            <a:schemeClr val="accent1"/>
          </a:solidFill>
          <a:latin typeface="Cambria Math" panose="02040503050406030204" pitchFamily="18" charset="0"/>
          <a:ea typeface="+mj-ea"/>
          <a:cs typeface="+mj-cs"/>
        </a:defRPr>
      </a:lvl1pPr>
      <a:lvl2pPr algn="ctr" rtl="0" eaLnBrk="0" fontAlgn="base" hangingPunct="0">
        <a:spcBef>
          <a:spcPct val="0"/>
        </a:spcBef>
        <a:spcAft>
          <a:spcPct val="0"/>
        </a:spcAft>
        <a:defRPr kumimoji="1" sz="3600">
          <a:solidFill>
            <a:schemeClr val="accent1"/>
          </a:solidFill>
          <a:latin typeface="New Century Schoolbook" pitchFamily="18" charset="0"/>
          <a:ea typeface="黑体" pitchFamily="2" charset="-122"/>
        </a:defRPr>
      </a:lvl2pPr>
      <a:lvl3pPr algn="ctr" rtl="0" eaLnBrk="0" fontAlgn="base" hangingPunct="0">
        <a:spcBef>
          <a:spcPct val="0"/>
        </a:spcBef>
        <a:spcAft>
          <a:spcPct val="0"/>
        </a:spcAft>
        <a:defRPr kumimoji="1" sz="3600">
          <a:solidFill>
            <a:schemeClr val="accent1"/>
          </a:solidFill>
          <a:latin typeface="New Century Schoolbook" pitchFamily="18" charset="0"/>
          <a:ea typeface="黑体" pitchFamily="2" charset="-122"/>
        </a:defRPr>
      </a:lvl3pPr>
      <a:lvl4pPr algn="ctr" rtl="0" eaLnBrk="0" fontAlgn="base" hangingPunct="0">
        <a:spcBef>
          <a:spcPct val="0"/>
        </a:spcBef>
        <a:spcAft>
          <a:spcPct val="0"/>
        </a:spcAft>
        <a:defRPr kumimoji="1" sz="3600">
          <a:solidFill>
            <a:schemeClr val="accent1"/>
          </a:solidFill>
          <a:latin typeface="New Century Schoolbook" pitchFamily="18" charset="0"/>
          <a:ea typeface="黑体" pitchFamily="2" charset="-122"/>
        </a:defRPr>
      </a:lvl4pPr>
      <a:lvl5pPr algn="ctr" rtl="0" eaLnBrk="0" fontAlgn="base" hangingPunct="0">
        <a:spcBef>
          <a:spcPct val="0"/>
        </a:spcBef>
        <a:spcAft>
          <a:spcPct val="0"/>
        </a:spcAft>
        <a:defRPr kumimoji="1" sz="3600">
          <a:solidFill>
            <a:schemeClr val="accent1"/>
          </a:solidFill>
          <a:latin typeface="New Century Schoolbook" pitchFamily="18" charset="0"/>
          <a:ea typeface="黑体" pitchFamily="2" charset="-122"/>
        </a:defRPr>
      </a:lvl5pPr>
      <a:lvl6pPr marL="457200" algn="ctr" rtl="0" fontAlgn="base">
        <a:spcBef>
          <a:spcPct val="0"/>
        </a:spcBef>
        <a:spcAft>
          <a:spcPct val="0"/>
        </a:spcAft>
        <a:defRPr kumimoji="1" sz="3600">
          <a:solidFill>
            <a:schemeClr val="accent1"/>
          </a:solidFill>
          <a:latin typeface="New Century Schoolbook" pitchFamily="18" charset="0"/>
          <a:ea typeface="黑体" pitchFamily="2" charset="-122"/>
        </a:defRPr>
      </a:lvl6pPr>
      <a:lvl7pPr marL="914400" algn="ctr" rtl="0" fontAlgn="base">
        <a:spcBef>
          <a:spcPct val="0"/>
        </a:spcBef>
        <a:spcAft>
          <a:spcPct val="0"/>
        </a:spcAft>
        <a:defRPr kumimoji="1" sz="3600">
          <a:solidFill>
            <a:schemeClr val="accent1"/>
          </a:solidFill>
          <a:latin typeface="New Century Schoolbook" pitchFamily="18" charset="0"/>
          <a:ea typeface="黑体" pitchFamily="2" charset="-122"/>
        </a:defRPr>
      </a:lvl7pPr>
      <a:lvl8pPr marL="1371600" algn="ctr" rtl="0" fontAlgn="base">
        <a:spcBef>
          <a:spcPct val="0"/>
        </a:spcBef>
        <a:spcAft>
          <a:spcPct val="0"/>
        </a:spcAft>
        <a:defRPr kumimoji="1" sz="3600">
          <a:solidFill>
            <a:schemeClr val="accent1"/>
          </a:solidFill>
          <a:latin typeface="New Century Schoolbook" pitchFamily="18" charset="0"/>
          <a:ea typeface="黑体" pitchFamily="2" charset="-122"/>
        </a:defRPr>
      </a:lvl8pPr>
      <a:lvl9pPr marL="1828800" algn="ctr" rtl="0" fontAlgn="base">
        <a:spcBef>
          <a:spcPct val="0"/>
        </a:spcBef>
        <a:spcAft>
          <a:spcPct val="0"/>
        </a:spcAft>
        <a:defRPr kumimoji="1" sz="3600">
          <a:solidFill>
            <a:schemeClr val="accent1"/>
          </a:solidFill>
          <a:latin typeface="New Century Schoolbook" pitchFamily="18" charset="0"/>
          <a:ea typeface="黑体" pitchFamily="2" charset="-122"/>
        </a:defRPr>
      </a:lvl9pPr>
    </p:titleStyle>
    <p:bodyStyle>
      <a:lvl1pPr marL="342900" indent="-342900" algn="l" rtl="0" eaLnBrk="0" fontAlgn="base" hangingPunct="0">
        <a:spcBef>
          <a:spcPct val="20000"/>
        </a:spcBef>
        <a:spcAft>
          <a:spcPct val="0"/>
        </a:spcAft>
        <a:buClrTx/>
        <a:buFont typeface="Cambria Math" panose="02040503050406030204" pitchFamily="18" charset="0"/>
        <a:buChar char="▻"/>
        <a:defRPr kumimoji="1" sz="2400" b="0">
          <a:solidFill>
            <a:schemeClr val="tx1"/>
          </a:solidFill>
          <a:latin typeface="Cambria Math" panose="02040503050406030204" pitchFamily="18" charset="0"/>
          <a:ea typeface="仿宋" panose="02010609060101010101" pitchFamily="49" charset="-122"/>
          <a:cs typeface="+mn-cs"/>
        </a:defRPr>
      </a:lvl1pPr>
      <a:lvl2pPr marL="742950" indent="-285750" algn="l" rtl="0" eaLnBrk="0" fontAlgn="base" hangingPunct="0">
        <a:spcBef>
          <a:spcPct val="20000"/>
        </a:spcBef>
        <a:spcAft>
          <a:spcPct val="0"/>
        </a:spcAft>
        <a:buClr>
          <a:srgbClr val="800080"/>
        </a:buClr>
        <a:buFont typeface="Cambria Math" panose="02040503050406030204" pitchFamily="18" charset="0"/>
        <a:buChar char="⥼"/>
        <a:defRPr kumimoji="1" sz="2400" b="0">
          <a:solidFill>
            <a:srgbClr val="000000"/>
          </a:solidFill>
          <a:latin typeface="Cambria Math" panose="02040503050406030204" pitchFamily="18" charset="0"/>
          <a:ea typeface="仿宋" panose="02010609060101010101" pitchFamily="49" charset="-122"/>
        </a:defRPr>
      </a:lvl2pPr>
      <a:lvl3pPr marL="1143000" indent="-228600" algn="l" rtl="0" eaLnBrk="0" fontAlgn="base" hangingPunct="0">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3pPr>
      <a:lvl4pPr marL="1562100" indent="-228600" algn="l" rtl="0" eaLnBrk="0" fontAlgn="base" hangingPunct="0">
        <a:spcBef>
          <a:spcPct val="20000"/>
        </a:spcBef>
        <a:spcAft>
          <a:spcPct val="0"/>
        </a:spcAft>
        <a:buChar char="–"/>
        <a:defRPr kumimoji="1" sz="2400" b="0">
          <a:solidFill>
            <a:srgbClr val="000000"/>
          </a:solidFill>
          <a:latin typeface="Garamond" pitchFamily="18" charset="0"/>
          <a:ea typeface="Garamond" pitchFamily="18" charset="0"/>
        </a:defRPr>
      </a:lvl4pPr>
      <a:lvl5pPr marL="1981200" indent="-228600" algn="l" rtl="0" eaLnBrk="0" fontAlgn="base" hangingPunct="0">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5pPr>
      <a:lvl6pPr marL="2438400" indent="-228600" algn="l" rtl="0" fontAlgn="base">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6pPr>
      <a:lvl7pPr marL="2895600" indent="-228600" algn="l" rtl="0" fontAlgn="base">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7pPr>
      <a:lvl8pPr marL="3352800" indent="-228600" algn="l" rtl="0" fontAlgn="base">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8pPr>
      <a:lvl9pPr marL="3810000" indent="-228600" algn="l" rtl="0" fontAlgn="base">
        <a:spcBef>
          <a:spcPct val="20000"/>
        </a:spcBef>
        <a:spcAft>
          <a:spcPct val="0"/>
        </a:spcAft>
        <a:buFont typeface="Wingdings" pitchFamily="2" charset="2"/>
        <a:buChar char="§"/>
        <a:defRPr kumimoji="1" sz="2400">
          <a:solidFill>
            <a:srgbClr val="000000"/>
          </a:solidFill>
          <a:latin typeface="Verdana" pitchFamily="34" charset="0"/>
          <a:ea typeface="Gulim" pitchFamily="34" charset="-127"/>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4"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250825" y="4005263"/>
            <a:ext cx="8686800" cy="2160587"/>
          </a:xfrm>
        </p:spPr>
        <p:txBody>
          <a:bodyPr/>
          <a:lstStyle/>
          <a:p>
            <a:pPr eaLnBrk="1" hangingPunct="1"/>
            <a:endParaRPr lang="en-US" altLang="zh-CN" sz="2400" dirty="0">
              <a:latin typeface="Cambria" panose="02040503050406030204" pitchFamily="18" charset="0"/>
              <a:ea typeface="Cambria" panose="02040503050406030204" pitchFamily="18" charset="0"/>
            </a:endParaRPr>
          </a:p>
          <a:p>
            <a:pPr eaLnBrk="1" hangingPunct="1"/>
            <a:r>
              <a:rPr lang="en-US" altLang="zh-CN" sz="2400" dirty="0">
                <a:latin typeface="Cambria" panose="02040503050406030204" pitchFamily="18" charset="0"/>
                <a:ea typeface="Cambria" panose="02040503050406030204" pitchFamily="18" charset="0"/>
              </a:rPr>
              <a:t>2025.05</a:t>
            </a:r>
            <a:endParaRPr lang="en-US" altLang="zh-CN" dirty="0">
              <a:latin typeface="Cambria" panose="02040503050406030204" pitchFamily="18" charset="0"/>
              <a:ea typeface="Cambria" panose="02040503050406030204" pitchFamily="18" charset="0"/>
            </a:endParaRPr>
          </a:p>
        </p:txBody>
      </p:sp>
      <p:sp>
        <p:nvSpPr>
          <p:cNvPr id="16387" name="Rectangle 4"/>
          <p:cNvSpPr>
            <a:spLocks noGrp="1" noChangeArrowheads="1"/>
          </p:cNvSpPr>
          <p:nvPr>
            <p:ph type="ctrTitle"/>
          </p:nvPr>
        </p:nvSpPr>
        <p:spPr/>
        <p:txBody>
          <a:bodyPr/>
          <a:lstStyle/>
          <a:p>
            <a:pPr eaLnBrk="1" hangingPunct="1"/>
            <a:r>
              <a:rPr lang="zh-CN" altLang="en-US" dirty="0">
                <a:latin typeface="Cambria" panose="02040503050406030204" pitchFamily="18" charset="0"/>
                <a:ea typeface="Cambria" panose="02040503050406030204" pitchFamily="18" charset="0"/>
              </a:rPr>
              <a:t>编译器设计专题实验课</a:t>
            </a:r>
            <a:r>
              <a:rPr lang="en-US" altLang="zh-CN" dirty="0">
                <a:latin typeface="Cambria" panose="02040503050406030204" pitchFamily="18" charset="0"/>
                <a:ea typeface="Cambria" panose="02040503050406030204" pitchFamily="18" charset="0"/>
              </a:rPr>
              <a:t>2025</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058" y="827018"/>
            <a:ext cx="8277128" cy="523220"/>
          </a:xfrm>
        </p:spPr>
        <p:txBody>
          <a:bodyPr/>
          <a:lstStyle/>
          <a:p>
            <a:pPr lvl="0"/>
            <a:r>
              <a:rPr lang="zh-CN" altLang="en-US" sz="2800" dirty="0"/>
              <a:t>实验七内容</a:t>
            </a:r>
            <a:endParaRPr lang="zh-CN" altLang="zh-CN" sz="2800" dirty="0"/>
          </a:p>
        </p:txBody>
      </p:sp>
      <p:sp>
        <p:nvSpPr>
          <p:cNvPr id="4" name="矩形 3">
            <a:extLst>
              <a:ext uri="{FF2B5EF4-FFF2-40B4-BE49-F238E27FC236}">
                <a16:creationId xmlns:a16="http://schemas.microsoft.com/office/drawing/2014/main" xmlns="" id="{8D8E9A59-3054-4D9E-BC6C-84BA4861237F}"/>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实验七</a:t>
            </a:r>
          </a:p>
        </p:txBody>
      </p:sp>
      <p:sp>
        <p:nvSpPr>
          <p:cNvPr id="9" name="文本框 8">
            <a:extLst>
              <a:ext uri="{FF2B5EF4-FFF2-40B4-BE49-F238E27FC236}">
                <a16:creationId xmlns:a16="http://schemas.microsoft.com/office/drawing/2014/main" xmlns="" id="{71068E86-D828-4FF0-A3B1-51ED62C9C65B}"/>
              </a:ext>
            </a:extLst>
          </p:cNvPr>
          <p:cNvSpPr txBox="1"/>
          <p:nvPr/>
        </p:nvSpPr>
        <p:spPr bwMode="auto">
          <a:xfrm>
            <a:off x="685800" y="1350238"/>
            <a:ext cx="8166845" cy="830997"/>
          </a:xfrm>
          <a:prstGeom prst="rect">
            <a:avLst/>
          </a:prstGeom>
          <a:noFill/>
          <a:ln w="9525" algn="ctr">
            <a:solidFill>
              <a:schemeClr val="tx1"/>
            </a:solidFill>
            <a:miter lim="800000"/>
            <a:headEnd/>
            <a:tailEnd/>
          </a:ln>
        </p:spPr>
        <p:txBody>
          <a:bodyPr wrap="square">
            <a:spAutoFit/>
          </a:bodyPr>
          <a:lstStyle/>
          <a:p>
            <a:pPr lvl="0"/>
            <a:r>
              <a:rPr lang="zh-CN" altLang="en-US" dirty="0"/>
              <a:t>实验七设计存储格式、 构建内存映像</a:t>
            </a:r>
            <a:endParaRPr lang="en-US" altLang="zh-CN" dirty="0"/>
          </a:p>
          <a:p>
            <a:pPr lvl="0"/>
            <a:r>
              <a:rPr lang="zh-CN" altLang="en-US" dirty="0"/>
              <a:t>实验八产生调用活动记录的代码序列产生可执行代码</a:t>
            </a:r>
          </a:p>
        </p:txBody>
      </p:sp>
    </p:spTree>
    <p:extLst>
      <p:ext uri="{BB962C8B-B14F-4D97-AF65-F5344CB8AC3E}">
        <p14:creationId xmlns:p14="http://schemas.microsoft.com/office/powerpoint/2010/main" val="2982402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058" y="658464"/>
            <a:ext cx="8277033" cy="523220"/>
          </a:xfrm>
        </p:spPr>
        <p:txBody>
          <a:bodyPr/>
          <a:lstStyle/>
          <a:p>
            <a:pPr lvl="0"/>
            <a:r>
              <a:rPr lang="zh-CN" altLang="en-US" sz="2800" dirty="0"/>
              <a:t>实验分</a:t>
            </a:r>
            <a:r>
              <a:rPr lang="en-US" altLang="zh-CN" sz="2800" dirty="0"/>
              <a:t>c/</a:t>
            </a:r>
            <a:r>
              <a:rPr lang="en-US" altLang="zh-CN" sz="2800" dirty="0" err="1"/>
              <a:t>c++</a:t>
            </a:r>
            <a:r>
              <a:rPr lang="zh-CN" altLang="en-US" sz="2800" dirty="0"/>
              <a:t>、</a:t>
            </a:r>
            <a:r>
              <a:rPr lang="en-US" altLang="zh-CN" sz="2800" dirty="0"/>
              <a:t>python</a:t>
            </a:r>
            <a:r>
              <a:rPr lang="zh-CN" altLang="en-US" sz="2800" dirty="0"/>
              <a:t>实现</a:t>
            </a:r>
            <a:endParaRPr lang="zh-CN" altLang="zh-CN" sz="2800" dirty="0"/>
          </a:p>
        </p:txBody>
      </p:sp>
      <p:sp>
        <p:nvSpPr>
          <p:cNvPr id="12" name="矩形 11">
            <a:extLst>
              <a:ext uri="{FF2B5EF4-FFF2-40B4-BE49-F238E27FC236}">
                <a16:creationId xmlns:a16="http://schemas.microsoft.com/office/drawing/2014/main" xmlns="" id="{5F6158B3-B43B-4260-8364-8D7236E947F7}"/>
              </a:ext>
            </a:extLst>
          </p:cNvPr>
          <p:cNvSpPr/>
          <p:nvPr/>
        </p:nvSpPr>
        <p:spPr>
          <a:xfrm>
            <a:off x="446665" y="1181684"/>
            <a:ext cx="5031344" cy="830997"/>
          </a:xfrm>
          <a:prstGeom prst="rect">
            <a:avLst/>
          </a:prstGeom>
        </p:spPr>
        <p:txBody>
          <a:bodyPr wrap="square">
            <a:spAutoFit/>
          </a:bodyPr>
          <a:lstStyle/>
          <a:p>
            <a:r>
              <a:rPr lang="en-US" altLang="zh-CN" dirty="0"/>
              <a:t>Python</a:t>
            </a:r>
            <a:r>
              <a:rPr lang="zh-CN" altLang="en-US" dirty="0"/>
              <a:t>有大量的库可以调用，实际上</a:t>
            </a:r>
            <a:endParaRPr lang="en-US" altLang="zh-CN" dirty="0"/>
          </a:p>
          <a:p>
            <a:r>
              <a:rPr lang="zh-CN" altLang="en-US" dirty="0"/>
              <a:t>需要完成的代码量比</a:t>
            </a:r>
            <a:r>
              <a:rPr lang="en-US" altLang="zh-CN" dirty="0"/>
              <a:t>C/C++</a:t>
            </a:r>
            <a:r>
              <a:rPr lang="zh-CN" altLang="en-US" dirty="0"/>
              <a:t>要少很多</a:t>
            </a:r>
          </a:p>
        </p:txBody>
      </p:sp>
      <p:sp>
        <p:nvSpPr>
          <p:cNvPr id="7" name="矩形 6">
            <a:extLst>
              <a:ext uri="{FF2B5EF4-FFF2-40B4-BE49-F238E27FC236}">
                <a16:creationId xmlns:a16="http://schemas.microsoft.com/office/drawing/2014/main" xmlns="" id="{0AEE09A8-E4DA-4D78-8A05-87B8B8FE312F}"/>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4" name="图片 3">
            <a:extLst>
              <a:ext uri="{FF2B5EF4-FFF2-40B4-BE49-F238E27FC236}">
                <a16:creationId xmlns:a16="http://schemas.microsoft.com/office/drawing/2014/main" xmlns="" id="{79D6FDAD-93BF-45B5-8137-C28FED934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9536" y="38100"/>
            <a:ext cx="3450934" cy="6781800"/>
          </a:xfrm>
          <a:prstGeom prst="rect">
            <a:avLst/>
          </a:prstGeom>
        </p:spPr>
      </p:pic>
      <p:sp>
        <p:nvSpPr>
          <p:cNvPr id="5" name="文本框 4">
            <a:extLst>
              <a:ext uri="{FF2B5EF4-FFF2-40B4-BE49-F238E27FC236}">
                <a16:creationId xmlns:a16="http://schemas.microsoft.com/office/drawing/2014/main" xmlns="" id="{B142829A-D7C7-4D0A-9485-28B05F50B701}"/>
              </a:ext>
            </a:extLst>
          </p:cNvPr>
          <p:cNvSpPr txBox="1"/>
          <p:nvPr/>
        </p:nvSpPr>
        <p:spPr bwMode="auto">
          <a:xfrm>
            <a:off x="685800" y="2302943"/>
            <a:ext cx="4792209" cy="1938992"/>
          </a:xfrm>
          <a:prstGeom prst="rect">
            <a:avLst/>
          </a:prstGeom>
          <a:noFill/>
          <a:ln w="9525" algn="ctr">
            <a:solidFill>
              <a:schemeClr val="tx1"/>
            </a:solidFill>
            <a:miter lim="800000"/>
            <a:headEnd/>
            <a:tailEnd/>
          </a:ln>
        </p:spPr>
        <p:txBody>
          <a:bodyPr wrap="square" rtlCol="0">
            <a:spAutoFit/>
          </a:bodyPr>
          <a:lstStyle/>
          <a:p>
            <a:pPr eaLnBrk="1" hangingPunct="1">
              <a:spcBef>
                <a:spcPct val="50000"/>
              </a:spcBef>
            </a:pPr>
            <a:r>
              <a:rPr lang="zh-CN" altLang="en-US" dirty="0"/>
              <a:t>实验</a:t>
            </a:r>
            <a:r>
              <a:rPr lang="en-US" altLang="zh-CN" dirty="0"/>
              <a:t>2</a:t>
            </a:r>
            <a:r>
              <a:rPr lang="zh-CN" altLang="en-US" dirty="0"/>
              <a:t>的</a:t>
            </a:r>
            <a:r>
              <a:rPr lang="en-US" altLang="zh-CN" dirty="0"/>
              <a:t>python</a:t>
            </a:r>
            <a:r>
              <a:rPr lang="zh-CN" altLang="en-US" dirty="0"/>
              <a:t>部分：</a:t>
            </a:r>
            <a:r>
              <a:rPr lang="en-US" altLang="zh-CN" dirty="0"/>
              <a:t>re</a:t>
            </a:r>
            <a:r>
              <a:rPr lang="zh-CN" altLang="en-US" dirty="0"/>
              <a:t>这个库</a:t>
            </a:r>
            <a:r>
              <a:rPr lang="en-US" altLang="zh-CN" dirty="0"/>
              <a:t>import</a:t>
            </a:r>
            <a:r>
              <a:rPr lang="zh-CN" altLang="en-US" dirty="0"/>
              <a:t>以后，此处内容等同于</a:t>
            </a:r>
            <a:r>
              <a:rPr lang="en-US" altLang="zh-CN" dirty="0" err="1"/>
              <a:t>flex.l</a:t>
            </a:r>
            <a:r>
              <a:rPr lang="zh-CN" altLang="en-US" b="1" dirty="0">
                <a:latin typeface="Times New Roman" pitchFamily="18" charset="0"/>
              </a:rPr>
              <a:t>的内容，因此实验</a:t>
            </a:r>
            <a:r>
              <a:rPr lang="en-US" altLang="zh-CN" b="1" dirty="0">
                <a:latin typeface="Times New Roman" pitchFamily="18" charset="0"/>
              </a:rPr>
              <a:t>2</a:t>
            </a:r>
            <a:r>
              <a:rPr lang="zh-CN" altLang="en-US" b="1" dirty="0">
                <a:latin typeface="Times New Roman" pitchFamily="18" charset="0"/>
              </a:rPr>
              <a:t>的选做部分代码是让同学如果有时间精力可以去思考另一种实现方式</a:t>
            </a:r>
            <a:endParaRPr lang="en-US" altLang="zh-CN" dirty="0"/>
          </a:p>
        </p:txBody>
      </p:sp>
      <p:pic>
        <p:nvPicPr>
          <p:cNvPr id="6" name="图片 5">
            <a:extLst>
              <a:ext uri="{FF2B5EF4-FFF2-40B4-BE49-F238E27FC236}">
                <a16:creationId xmlns:a16="http://schemas.microsoft.com/office/drawing/2014/main" xmlns="" id="{866AC19C-8DB1-445F-8112-D67939AA5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4270244"/>
            <a:ext cx="2482978" cy="2540131"/>
          </a:xfrm>
          <a:prstGeom prst="rect">
            <a:avLst/>
          </a:prstGeom>
        </p:spPr>
      </p:pic>
    </p:spTree>
    <p:extLst>
      <p:ext uri="{BB962C8B-B14F-4D97-AF65-F5344CB8AC3E}">
        <p14:creationId xmlns:p14="http://schemas.microsoft.com/office/powerpoint/2010/main" val="2631322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058" y="658464"/>
            <a:ext cx="8277033" cy="523220"/>
          </a:xfrm>
        </p:spPr>
        <p:txBody>
          <a:bodyPr/>
          <a:lstStyle/>
          <a:p>
            <a:pPr lvl="0"/>
            <a:r>
              <a:rPr lang="zh-CN" altLang="en-US" sz="2800" dirty="0"/>
              <a:t>实验分</a:t>
            </a:r>
            <a:r>
              <a:rPr lang="en-US" altLang="zh-CN" sz="2800" dirty="0"/>
              <a:t>c/</a:t>
            </a:r>
            <a:r>
              <a:rPr lang="en-US" altLang="zh-CN" sz="2800" dirty="0" err="1"/>
              <a:t>c++</a:t>
            </a:r>
            <a:r>
              <a:rPr lang="zh-CN" altLang="en-US" sz="2800" dirty="0"/>
              <a:t>、</a:t>
            </a:r>
            <a:r>
              <a:rPr lang="en-US" altLang="zh-CN" sz="2800" dirty="0"/>
              <a:t>python</a:t>
            </a:r>
            <a:r>
              <a:rPr lang="zh-CN" altLang="en-US" sz="2800" dirty="0"/>
              <a:t>实现</a:t>
            </a:r>
            <a:endParaRPr lang="zh-CN" altLang="zh-CN" sz="2800" dirty="0"/>
          </a:p>
        </p:txBody>
      </p:sp>
      <p:sp>
        <p:nvSpPr>
          <p:cNvPr id="12" name="矩形 11">
            <a:extLst>
              <a:ext uri="{FF2B5EF4-FFF2-40B4-BE49-F238E27FC236}">
                <a16:creationId xmlns:a16="http://schemas.microsoft.com/office/drawing/2014/main" xmlns="" id="{5F6158B3-B43B-4260-8364-8D7236E947F7}"/>
              </a:ext>
            </a:extLst>
          </p:cNvPr>
          <p:cNvSpPr/>
          <p:nvPr/>
        </p:nvSpPr>
        <p:spPr>
          <a:xfrm>
            <a:off x="446665" y="1181684"/>
            <a:ext cx="5031344" cy="5262979"/>
          </a:xfrm>
          <a:prstGeom prst="rect">
            <a:avLst/>
          </a:prstGeom>
        </p:spPr>
        <p:txBody>
          <a:bodyPr wrap="square">
            <a:spAutoFit/>
          </a:bodyPr>
          <a:lstStyle/>
          <a:p>
            <a:r>
              <a:rPr lang="en-US" altLang="zh-CN" dirty="0"/>
              <a:t>Flex</a:t>
            </a:r>
            <a:r>
              <a:rPr lang="zh-CN" altLang="en-US" dirty="0"/>
              <a:t>能做的事情：使用正则式来匹配词法</a:t>
            </a:r>
            <a:endParaRPr lang="en-US" altLang="zh-CN" dirty="0"/>
          </a:p>
          <a:p>
            <a:r>
              <a:rPr lang="en-US" altLang="zh-CN" dirty="0"/>
              <a:t>{ }</a:t>
            </a:r>
            <a:r>
              <a:rPr lang="zh-CN" altLang="en-US" dirty="0"/>
              <a:t>里面的内容是操作代码，我们可以</a:t>
            </a:r>
          </a:p>
          <a:p>
            <a:r>
              <a:rPr lang="zh-CN" altLang="en-US" dirty="0"/>
              <a:t>设置让</a:t>
            </a:r>
            <a:r>
              <a:rPr lang="en-US" altLang="zh-CN" dirty="0"/>
              <a:t>token</a:t>
            </a:r>
            <a:r>
              <a:rPr lang="zh-CN" altLang="en-US" dirty="0"/>
              <a:t>打印处理。</a:t>
            </a:r>
            <a:endParaRPr lang="en-US" altLang="zh-CN" dirty="0"/>
          </a:p>
          <a:p>
            <a:r>
              <a:rPr lang="en-US" altLang="zh-CN" dirty="0"/>
              <a:t>Flex  **</a:t>
            </a:r>
            <a:r>
              <a:rPr lang="zh-CN" altLang="en-US" dirty="0"/>
              <a:t>（文件名）</a:t>
            </a:r>
            <a:r>
              <a:rPr lang="en-US" altLang="zh-CN" dirty="0"/>
              <a:t>.l</a:t>
            </a:r>
          </a:p>
          <a:p>
            <a:r>
              <a:rPr lang="zh-CN" altLang="en-US" dirty="0">
                <a:latin typeface="+mn-ea"/>
                <a:ea typeface="+mn-ea"/>
              </a:rPr>
              <a:t>此时当前目录下多了一个 “</a:t>
            </a:r>
            <a:r>
              <a:rPr lang="en-US" altLang="zh-CN" dirty="0" err="1">
                <a:latin typeface="+mn-ea"/>
                <a:ea typeface="+mn-ea"/>
              </a:rPr>
              <a:t>lex.yy.c</a:t>
            </a:r>
            <a:r>
              <a:rPr lang="en-US" altLang="zh-CN" dirty="0">
                <a:latin typeface="+mn-ea"/>
                <a:ea typeface="+mn-ea"/>
              </a:rPr>
              <a:t>” </a:t>
            </a:r>
            <a:r>
              <a:rPr lang="zh-CN" altLang="en-US" dirty="0">
                <a:latin typeface="+mn-ea"/>
                <a:ea typeface="+mn-ea"/>
              </a:rPr>
              <a:t>文件，把这个 </a:t>
            </a:r>
            <a:r>
              <a:rPr lang="en-US" altLang="zh-CN" dirty="0">
                <a:latin typeface="+mn-ea"/>
                <a:ea typeface="+mn-ea"/>
              </a:rPr>
              <a:t>C </a:t>
            </a:r>
            <a:r>
              <a:rPr lang="zh-CN" altLang="en-US" dirty="0">
                <a:latin typeface="+mn-ea"/>
                <a:ea typeface="+mn-ea"/>
              </a:rPr>
              <a:t>文件编译并运行一遍。</a:t>
            </a:r>
            <a:endParaRPr lang="en-US" altLang="zh-CN" dirty="0">
              <a:latin typeface="+mn-ea"/>
              <a:ea typeface="+mn-ea"/>
            </a:endParaRPr>
          </a:p>
          <a:p>
            <a:r>
              <a:rPr lang="en-US" altLang="zh-CN" dirty="0">
                <a:latin typeface="+mn-ea"/>
                <a:ea typeface="+mn-ea"/>
              </a:rPr>
              <a:t>$ </a:t>
            </a:r>
            <a:r>
              <a:rPr lang="en-US" altLang="zh-CN" dirty="0" err="1">
                <a:latin typeface="+mn-ea"/>
                <a:ea typeface="+mn-ea"/>
              </a:rPr>
              <a:t>gcc</a:t>
            </a:r>
            <a:r>
              <a:rPr lang="en-US" altLang="zh-CN" dirty="0">
                <a:latin typeface="+mn-ea"/>
                <a:ea typeface="+mn-ea"/>
              </a:rPr>
              <a:t> -o scanner </a:t>
            </a:r>
            <a:r>
              <a:rPr lang="en-US" altLang="zh-CN" dirty="0" err="1">
                <a:latin typeface="+mn-ea"/>
                <a:ea typeface="+mn-ea"/>
              </a:rPr>
              <a:t>lex.yy.c</a:t>
            </a:r>
            <a:endParaRPr lang="en-US" altLang="zh-CN" dirty="0">
              <a:latin typeface="+mn-ea"/>
              <a:ea typeface="+mn-ea"/>
            </a:endParaRPr>
          </a:p>
          <a:p>
            <a:r>
              <a:rPr lang="zh-CN" altLang="en-US" dirty="0">
                <a:latin typeface="+mn-ea"/>
                <a:ea typeface="+mn-ea"/>
              </a:rPr>
              <a:t>生成可执行程序，</a:t>
            </a:r>
            <a:r>
              <a:rPr lang="en-US" altLang="zh-CN" dirty="0">
                <a:latin typeface="+mn-ea"/>
                <a:ea typeface="+mn-ea"/>
              </a:rPr>
              <a:t>scanner</a:t>
            </a:r>
            <a:r>
              <a:rPr lang="zh-CN" altLang="en-US" dirty="0">
                <a:latin typeface="+mn-ea"/>
                <a:ea typeface="+mn-ea"/>
              </a:rPr>
              <a:t>，运行</a:t>
            </a:r>
            <a:r>
              <a:rPr lang="en-US" altLang="zh-CN" dirty="0" err="1">
                <a:latin typeface="+mn-ea"/>
                <a:ea typeface="+mn-ea"/>
              </a:rPr>
              <a:t>sacnner</a:t>
            </a:r>
            <a:endParaRPr lang="en-US" altLang="zh-CN" dirty="0">
              <a:latin typeface="+mn-ea"/>
              <a:ea typeface="+mn-ea"/>
            </a:endParaRPr>
          </a:p>
          <a:p>
            <a:r>
              <a:rPr lang="en-US" altLang="zh-CN" dirty="0">
                <a:latin typeface="+mn-ea"/>
                <a:ea typeface="+mn-ea"/>
              </a:rPr>
              <a:t>$ ./scanner</a:t>
            </a:r>
          </a:p>
          <a:p>
            <a:r>
              <a:rPr lang="zh-CN" altLang="en-US" dirty="0"/>
              <a:t>然后在终端敲入代码（或输入文件），则可识别词法</a:t>
            </a:r>
            <a:endParaRPr lang="en-US" altLang="zh-CN" dirty="0">
              <a:latin typeface="+mn-ea"/>
              <a:ea typeface="+mn-ea"/>
            </a:endParaRPr>
          </a:p>
        </p:txBody>
      </p:sp>
      <p:sp>
        <p:nvSpPr>
          <p:cNvPr id="7" name="矩形 6">
            <a:extLst>
              <a:ext uri="{FF2B5EF4-FFF2-40B4-BE49-F238E27FC236}">
                <a16:creationId xmlns:a16="http://schemas.microsoft.com/office/drawing/2014/main" xmlns="" id="{0AEE09A8-E4DA-4D78-8A05-87B8B8FE312F}"/>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9" name="图片 8">
            <a:extLst>
              <a:ext uri="{FF2B5EF4-FFF2-40B4-BE49-F238E27FC236}">
                <a16:creationId xmlns:a16="http://schemas.microsoft.com/office/drawing/2014/main" xmlns="" id="{7CB24FAF-1ACE-4805-8286-0C7621E83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6435" y="665391"/>
            <a:ext cx="3400900" cy="5782482"/>
          </a:xfrm>
          <a:prstGeom prst="rect">
            <a:avLst/>
          </a:prstGeom>
        </p:spPr>
      </p:pic>
    </p:spTree>
    <p:extLst>
      <p:ext uri="{BB962C8B-B14F-4D97-AF65-F5344CB8AC3E}">
        <p14:creationId xmlns:p14="http://schemas.microsoft.com/office/powerpoint/2010/main" val="49087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058" y="658464"/>
            <a:ext cx="8277033" cy="523220"/>
          </a:xfrm>
        </p:spPr>
        <p:txBody>
          <a:bodyPr/>
          <a:lstStyle/>
          <a:p>
            <a:pPr lvl="0"/>
            <a:r>
              <a:rPr lang="zh-CN" altLang="en-US" sz="2800" dirty="0"/>
              <a:t>实验分</a:t>
            </a:r>
            <a:r>
              <a:rPr lang="en-US" altLang="zh-CN" sz="2800" dirty="0"/>
              <a:t>c/</a:t>
            </a:r>
            <a:r>
              <a:rPr lang="en-US" altLang="zh-CN" sz="2800" dirty="0" err="1"/>
              <a:t>c++</a:t>
            </a:r>
            <a:r>
              <a:rPr lang="zh-CN" altLang="en-US" sz="2800" dirty="0"/>
              <a:t>、</a:t>
            </a:r>
            <a:r>
              <a:rPr lang="en-US" altLang="zh-CN" sz="2800" dirty="0"/>
              <a:t>python</a:t>
            </a:r>
            <a:r>
              <a:rPr lang="zh-CN" altLang="en-US" sz="2800" dirty="0"/>
              <a:t>实现</a:t>
            </a:r>
            <a:endParaRPr lang="zh-CN" altLang="zh-CN" sz="2800" dirty="0"/>
          </a:p>
        </p:txBody>
      </p:sp>
      <p:sp>
        <p:nvSpPr>
          <p:cNvPr id="12" name="矩形 11">
            <a:extLst>
              <a:ext uri="{FF2B5EF4-FFF2-40B4-BE49-F238E27FC236}">
                <a16:creationId xmlns:a16="http://schemas.microsoft.com/office/drawing/2014/main" xmlns="" id="{5F6158B3-B43B-4260-8364-8D7236E947F7}"/>
              </a:ext>
            </a:extLst>
          </p:cNvPr>
          <p:cNvSpPr/>
          <p:nvPr/>
        </p:nvSpPr>
        <p:spPr>
          <a:xfrm>
            <a:off x="446665" y="1181684"/>
            <a:ext cx="8045426" cy="1200329"/>
          </a:xfrm>
          <a:prstGeom prst="rect">
            <a:avLst/>
          </a:prstGeom>
        </p:spPr>
        <p:txBody>
          <a:bodyPr wrap="square">
            <a:spAutoFit/>
          </a:bodyPr>
          <a:lstStyle/>
          <a:p>
            <a:r>
              <a:rPr lang="zh-CN" altLang="en-US" dirty="0"/>
              <a:t>对比</a:t>
            </a:r>
            <a:r>
              <a:rPr lang="en-US" altLang="zh-CN" dirty="0"/>
              <a:t>flex</a:t>
            </a:r>
            <a:r>
              <a:rPr lang="zh-CN" altLang="en-US" dirty="0"/>
              <a:t>和</a:t>
            </a:r>
            <a:r>
              <a:rPr lang="en-US" altLang="zh-CN" dirty="0"/>
              <a:t>python</a:t>
            </a:r>
            <a:r>
              <a:rPr lang="zh-CN" altLang="en-US" dirty="0"/>
              <a:t>关于词法部分的内容，</a:t>
            </a:r>
            <a:r>
              <a:rPr lang="en-US" altLang="zh-CN" dirty="0"/>
              <a:t>flex%%</a:t>
            </a:r>
            <a:r>
              <a:rPr lang="zh-CN" altLang="en-US" dirty="0"/>
              <a:t>和</a:t>
            </a:r>
            <a:r>
              <a:rPr lang="en-US" altLang="zh-CN" dirty="0"/>
              <a:t>%%</a:t>
            </a:r>
            <a:r>
              <a:rPr lang="zh-CN" altLang="en-US" dirty="0"/>
              <a:t>中间是正则是定义。</a:t>
            </a:r>
            <a:endParaRPr lang="en-US" altLang="zh-CN" dirty="0"/>
          </a:p>
          <a:p>
            <a:r>
              <a:rPr lang="zh-CN" altLang="en-US" dirty="0">
                <a:latin typeface="+mn-ea"/>
                <a:ea typeface="+mn-ea"/>
              </a:rPr>
              <a:t>关键字部分，非常相似，</a:t>
            </a:r>
            <a:endParaRPr lang="en-US" altLang="zh-CN" dirty="0">
              <a:latin typeface="+mn-ea"/>
              <a:ea typeface="+mn-ea"/>
            </a:endParaRPr>
          </a:p>
        </p:txBody>
      </p:sp>
      <p:sp>
        <p:nvSpPr>
          <p:cNvPr id="7" name="矩形 6">
            <a:extLst>
              <a:ext uri="{FF2B5EF4-FFF2-40B4-BE49-F238E27FC236}">
                <a16:creationId xmlns:a16="http://schemas.microsoft.com/office/drawing/2014/main" xmlns="" id="{0AEE09A8-E4DA-4D78-8A05-87B8B8FE312F}"/>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4" name="图片 3">
            <a:extLst>
              <a:ext uri="{FF2B5EF4-FFF2-40B4-BE49-F238E27FC236}">
                <a16:creationId xmlns:a16="http://schemas.microsoft.com/office/drawing/2014/main" xmlns="" id="{4D94B70E-12E7-44E9-A0D7-82621A6CD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531" y="2652604"/>
            <a:ext cx="3381847" cy="1552792"/>
          </a:xfrm>
          <a:prstGeom prst="rect">
            <a:avLst/>
          </a:prstGeom>
        </p:spPr>
      </p:pic>
      <p:pic>
        <p:nvPicPr>
          <p:cNvPr id="6" name="图片 5">
            <a:extLst>
              <a:ext uri="{FF2B5EF4-FFF2-40B4-BE49-F238E27FC236}">
                <a16:creationId xmlns:a16="http://schemas.microsoft.com/office/drawing/2014/main" xmlns="" id="{32DB0A86-8D53-4219-938E-1AB9613D46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4624" y="1936753"/>
            <a:ext cx="2872839" cy="1623779"/>
          </a:xfrm>
          <a:prstGeom prst="rect">
            <a:avLst/>
          </a:prstGeom>
        </p:spPr>
      </p:pic>
      <p:sp>
        <p:nvSpPr>
          <p:cNvPr id="10" name="矩形 9">
            <a:extLst>
              <a:ext uri="{FF2B5EF4-FFF2-40B4-BE49-F238E27FC236}">
                <a16:creationId xmlns:a16="http://schemas.microsoft.com/office/drawing/2014/main" xmlns="" id="{6E65A9AE-087E-4115-B596-176DF30F3548}"/>
              </a:ext>
            </a:extLst>
          </p:cNvPr>
          <p:cNvSpPr/>
          <p:nvPr/>
        </p:nvSpPr>
        <p:spPr>
          <a:xfrm>
            <a:off x="549287" y="4315601"/>
            <a:ext cx="8045426" cy="830997"/>
          </a:xfrm>
          <a:prstGeom prst="rect">
            <a:avLst/>
          </a:prstGeom>
        </p:spPr>
        <p:txBody>
          <a:bodyPr wrap="square">
            <a:spAutoFit/>
          </a:bodyPr>
          <a:lstStyle/>
          <a:p>
            <a:r>
              <a:rPr lang="zh-CN" altLang="en-US" dirty="0">
                <a:latin typeface="+mn-ea"/>
                <a:ea typeface="+mn-ea"/>
              </a:rPr>
              <a:t>纯</a:t>
            </a:r>
            <a:r>
              <a:rPr lang="en-US" altLang="zh-CN" dirty="0">
                <a:latin typeface="+mn-ea"/>
                <a:ea typeface="+mn-ea"/>
              </a:rPr>
              <a:t>C</a:t>
            </a:r>
            <a:r>
              <a:rPr lang="zh-CN" altLang="en-US" dirty="0">
                <a:latin typeface="+mn-ea"/>
                <a:ea typeface="+mn-ea"/>
              </a:rPr>
              <a:t>代码 </a:t>
            </a:r>
            <a:r>
              <a:rPr lang="en-US" altLang="zh-CN" dirty="0">
                <a:latin typeface="+mn-ea"/>
                <a:ea typeface="+mn-ea"/>
              </a:rPr>
              <a:t>scanner</a:t>
            </a:r>
            <a:r>
              <a:rPr lang="zh-CN" altLang="en-US" dirty="0">
                <a:latin typeface="+mn-ea"/>
                <a:ea typeface="+mn-ea"/>
              </a:rPr>
              <a:t>程序</a:t>
            </a:r>
            <a:endParaRPr lang="en-US" altLang="zh-CN" dirty="0">
              <a:latin typeface="+mn-ea"/>
              <a:ea typeface="+mn-ea"/>
            </a:endParaRPr>
          </a:p>
          <a:p>
            <a:r>
              <a:rPr lang="zh-CN" altLang="en-US" dirty="0">
                <a:latin typeface="+mn-ea"/>
                <a:ea typeface="+mn-ea"/>
              </a:rPr>
              <a:t>头文件和</a:t>
            </a:r>
            <a:r>
              <a:rPr lang="en-US" altLang="zh-CN" dirty="0">
                <a:latin typeface="+mn-ea"/>
                <a:ea typeface="+mn-ea"/>
              </a:rPr>
              <a:t>c</a:t>
            </a:r>
            <a:r>
              <a:rPr lang="zh-CN" altLang="en-US" dirty="0">
                <a:latin typeface="+mn-ea"/>
                <a:ea typeface="+mn-ea"/>
              </a:rPr>
              <a:t>程序</a:t>
            </a:r>
            <a:r>
              <a:rPr lang="en-US" altLang="zh-CN" dirty="0">
                <a:latin typeface="+mn-ea"/>
                <a:ea typeface="+mn-ea"/>
              </a:rPr>
              <a:t>400</a:t>
            </a:r>
            <a:r>
              <a:rPr lang="zh-CN" altLang="en-US" dirty="0">
                <a:latin typeface="+mn-ea"/>
                <a:ea typeface="+mn-ea"/>
              </a:rPr>
              <a:t>多行</a:t>
            </a:r>
            <a:endParaRPr lang="en-US" altLang="zh-CN" dirty="0">
              <a:latin typeface="+mn-ea"/>
              <a:ea typeface="+mn-ea"/>
            </a:endParaRPr>
          </a:p>
        </p:txBody>
      </p:sp>
      <p:pic>
        <p:nvPicPr>
          <p:cNvPr id="11" name="图片 10">
            <a:extLst>
              <a:ext uri="{FF2B5EF4-FFF2-40B4-BE49-F238E27FC236}">
                <a16:creationId xmlns:a16="http://schemas.microsoft.com/office/drawing/2014/main" xmlns="" id="{719ED2A0-DA8F-499B-9C85-A1DC8E4B64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3574" y="4056401"/>
            <a:ext cx="4286891" cy="2801599"/>
          </a:xfrm>
          <a:prstGeom prst="rect">
            <a:avLst/>
          </a:prstGeom>
        </p:spPr>
      </p:pic>
    </p:spTree>
    <p:extLst>
      <p:ext uri="{BB962C8B-B14F-4D97-AF65-F5344CB8AC3E}">
        <p14:creationId xmlns:p14="http://schemas.microsoft.com/office/powerpoint/2010/main" val="2360775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058" y="827018"/>
            <a:ext cx="4682380" cy="6038576"/>
          </a:xfrm>
        </p:spPr>
        <p:txBody>
          <a:bodyPr/>
          <a:lstStyle/>
          <a:p>
            <a:r>
              <a:rPr lang="zh-CN" altLang="en-US" sz="2800" dirty="0"/>
              <a:t>实验</a:t>
            </a:r>
            <a:r>
              <a:rPr lang="en-US" altLang="zh-CN" sz="2800" dirty="0"/>
              <a:t>2</a:t>
            </a:r>
            <a:r>
              <a:rPr lang="zh-CN" altLang="en-US" sz="2800" dirty="0"/>
              <a:t>如果是</a:t>
            </a:r>
            <a:r>
              <a:rPr lang="en-US" altLang="zh-CN" sz="2800" dirty="0" err="1"/>
              <a:t>c++</a:t>
            </a:r>
            <a:r>
              <a:rPr lang="zh-CN" altLang="en-US" sz="2800" dirty="0"/>
              <a:t>实现</a:t>
            </a:r>
            <a:r>
              <a:rPr lang="en-US" altLang="zh-CN" sz="2800" dirty="0"/>
              <a:t>scanner</a:t>
            </a:r>
            <a:r>
              <a:rPr lang="zh-CN" altLang="en-US" sz="2800" dirty="0"/>
              <a:t>，</a:t>
            </a:r>
            <a:r>
              <a:rPr lang="en-US" altLang="zh-CN" sz="2800" dirty="0"/>
              <a:t>200-300</a:t>
            </a:r>
            <a:r>
              <a:rPr lang="zh-CN" altLang="en-US" sz="2800" dirty="0"/>
              <a:t>行左右</a:t>
            </a:r>
            <a:endParaRPr lang="en-US" altLang="zh-CN" sz="2800" dirty="0"/>
          </a:p>
          <a:p>
            <a:r>
              <a:rPr lang="zh-CN" altLang="en-US" sz="2800" dirty="0"/>
              <a:t>需要大量判断和转化</a:t>
            </a:r>
            <a:endParaRPr lang="en-US" altLang="zh-CN" sz="2800" dirty="0"/>
          </a:p>
          <a:p>
            <a:r>
              <a:rPr lang="zh-CN" altLang="en-US" sz="2800" dirty="0"/>
              <a:t>如果使用</a:t>
            </a:r>
            <a:r>
              <a:rPr lang="en-US" altLang="zh-CN" sz="2800" dirty="0"/>
              <a:t>DFA</a:t>
            </a:r>
            <a:r>
              <a:rPr lang="zh-CN" altLang="en-US" sz="2800" dirty="0"/>
              <a:t>实现，代码量更大，出错部分较少，且可以用</a:t>
            </a:r>
            <a:r>
              <a:rPr lang="en-US" altLang="zh-CN" sz="2800" dirty="0" err="1"/>
              <a:t>makefile</a:t>
            </a:r>
            <a:r>
              <a:rPr lang="zh-CN" altLang="en-US" sz="2800" dirty="0"/>
              <a:t>打包成整个项目</a:t>
            </a:r>
            <a:endParaRPr lang="en-US" altLang="zh-CN" sz="2800" dirty="0"/>
          </a:p>
          <a:p>
            <a:r>
              <a:rPr lang="zh-CN" altLang="en-US" sz="2800" dirty="0"/>
              <a:t>大部分选做工作量不小，可能涉及另外的知识体系，而必做部分的内容完成相当好，报告分数也很乐观。</a:t>
            </a:r>
            <a:endParaRPr lang="en-US" altLang="zh-CN" sz="2800" dirty="0"/>
          </a:p>
          <a:p>
            <a:endParaRPr lang="zh-CN" altLang="en-US" sz="2800" dirty="0"/>
          </a:p>
        </p:txBody>
      </p:sp>
      <p:sp>
        <p:nvSpPr>
          <p:cNvPr id="13" name="矩形 12">
            <a:extLst>
              <a:ext uri="{FF2B5EF4-FFF2-40B4-BE49-F238E27FC236}">
                <a16:creationId xmlns:a16="http://schemas.microsoft.com/office/drawing/2014/main" xmlns="" id="{ED6E8E85-FD31-42B5-AFBA-9E8667FA327C}"/>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6" name="图片 5">
            <a:extLst>
              <a:ext uri="{FF2B5EF4-FFF2-40B4-BE49-F238E27FC236}">
                <a16:creationId xmlns:a16="http://schemas.microsoft.com/office/drawing/2014/main" xmlns="" id="{1FE05F59-4983-4423-8696-289AA2626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802" y="933101"/>
            <a:ext cx="4134427" cy="4991797"/>
          </a:xfrm>
          <a:prstGeom prst="rect">
            <a:avLst/>
          </a:prstGeom>
        </p:spPr>
      </p:pic>
    </p:spTree>
    <p:extLst>
      <p:ext uri="{BB962C8B-B14F-4D97-AF65-F5344CB8AC3E}">
        <p14:creationId xmlns:p14="http://schemas.microsoft.com/office/powerpoint/2010/main" val="1086266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830CA5E4-8B77-44E8-88DF-F228E5BC39CB}"/>
              </a:ext>
            </a:extLst>
          </p:cNvPr>
          <p:cNvSpPr>
            <a:spLocks noGrp="1"/>
          </p:cNvSpPr>
          <p:nvPr>
            <p:ph idx="1"/>
          </p:nvPr>
        </p:nvSpPr>
        <p:spPr>
          <a:xfrm>
            <a:off x="250825" y="981074"/>
            <a:ext cx="8642350" cy="2677656"/>
          </a:xfrm>
        </p:spPr>
        <p:txBody>
          <a:bodyPr/>
          <a:lstStyle/>
          <a:p>
            <a:r>
              <a:rPr lang="zh-CN" altLang="en-US" dirty="0"/>
              <a:t>执行过程</a:t>
            </a:r>
            <a:endParaRPr lang="en-US" altLang="zh-CN" dirty="0"/>
          </a:p>
          <a:p>
            <a:r>
              <a:rPr lang="en-US" altLang="zh-CN" dirty="0" err="1"/>
              <a:t>gcc</a:t>
            </a:r>
            <a:r>
              <a:rPr lang="en-US" altLang="zh-CN" dirty="0"/>
              <a:t> -S</a:t>
            </a:r>
            <a:r>
              <a:rPr lang="zh-CN" altLang="en-US" dirty="0"/>
              <a:t>（大写</a:t>
            </a:r>
            <a:r>
              <a:rPr lang="en-US" altLang="zh-CN" dirty="0"/>
              <a:t>S</a:t>
            </a:r>
            <a:r>
              <a:rPr lang="zh-CN" altLang="en-US" dirty="0"/>
              <a:t>）可生成汇编文件</a:t>
            </a:r>
            <a:endParaRPr lang="en-US" altLang="zh-CN" dirty="0"/>
          </a:p>
          <a:p>
            <a:r>
              <a:rPr lang="zh-CN" altLang="en-US" dirty="0"/>
              <a:t>使用</a:t>
            </a:r>
            <a:r>
              <a:rPr lang="en-US" altLang="zh-CN" dirty="0"/>
              <a:t>cat</a:t>
            </a:r>
            <a:r>
              <a:rPr lang="zh-CN" altLang="en-US" dirty="0"/>
              <a:t>打开</a:t>
            </a:r>
            <a:endParaRPr lang="en-US" altLang="zh-CN" dirty="0"/>
          </a:p>
          <a:p>
            <a:r>
              <a:rPr lang="zh-CN" altLang="en-US" dirty="0"/>
              <a:t>当前是</a:t>
            </a:r>
            <a:r>
              <a:rPr lang="en-US" altLang="zh-CN" dirty="0"/>
              <a:t>X86</a:t>
            </a:r>
            <a:r>
              <a:rPr lang="zh-CN" altLang="en-US" dirty="0"/>
              <a:t>的汇编代码，</a:t>
            </a:r>
            <a:r>
              <a:rPr lang="en-US" altLang="zh-CN" dirty="0" err="1"/>
              <a:t>gcc</a:t>
            </a:r>
            <a:r>
              <a:rPr lang="zh-CN" altLang="en-US" dirty="0"/>
              <a:t>默认</a:t>
            </a:r>
            <a:endParaRPr lang="en-US" altLang="zh-CN" dirty="0"/>
          </a:p>
          <a:p>
            <a:r>
              <a:rPr lang="zh-CN" altLang="en-US" dirty="0"/>
              <a:t>和当前平台的汇编代码一致</a:t>
            </a:r>
            <a:endParaRPr lang="en-US" altLang="zh-CN" dirty="0"/>
          </a:p>
          <a:p>
            <a:r>
              <a:rPr lang="zh-CN" altLang="en-US" dirty="0"/>
              <a:t>最终可执行</a:t>
            </a:r>
          </a:p>
        </p:txBody>
      </p:sp>
      <p:sp>
        <p:nvSpPr>
          <p:cNvPr id="7" name="矩形 6">
            <a:extLst>
              <a:ext uri="{FF2B5EF4-FFF2-40B4-BE49-F238E27FC236}">
                <a16:creationId xmlns:a16="http://schemas.microsoft.com/office/drawing/2014/main" xmlns="" id="{23C5E938-EC02-4E2A-A004-C9FD953BE66A}"/>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4" name="图片 3">
            <a:extLst>
              <a:ext uri="{FF2B5EF4-FFF2-40B4-BE49-F238E27FC236}">
                <a16:creationId xmlns:a16="http://schemas.microsoft.com/office/drawing/2014/main" xmlns="" id="{6CEDFFB5-5594-4E7E-BF16-77989CB3D3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4800" y="781038"/>
            <a:ext cx="4419827" cy="400071"/>
          </a:xfrm>
          <a:prstGeom prst="rect">
            <a:avLst/>
          </a:prstGeom>
        </p:spPr>
      </p:pic>
      <p:pic>
        <p:nvPicPr>
          <p:cNvPr id="6" name="图片 5">
            <a:extLst>
              <a:ext uri="{FF2B5EF4-FFF2-40B4-BE49-F238E27FC236}">
                <a16:creationId xmlns:a16="http://schemas.microsoft.com/office/drawing/2014/main" xmlns="" id="{87D6743B-2B6A-45DC-BC59-B0CECA04C8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00" y="1529707"/>
            <a:ext cx="3276768" cy="3911801"/>
          </a:xfrm>
          <a:prstGeom prst="rect">
            <a:avLst/>
          </a:prstGeom>
        </p:spPr>
      </p:pic>
    </p:spTree>
    <p:extLst>
      <p:ext uri="{BB962C8B-B14F-4D97-AF65-F5344CB8AC3E}">
        <p14:creationId xmlns:p14="http://schemas.microsoft.com/office/powerpoint/2010/main" val="2668414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830CA5E4-8B77-44E8-88DF-F228E5BC39CB}"/>
              </a:ext>
            </a:extLst>
          </p:cNvPr>
          <p:cNvSpPr>
            <a:spLocks noGrp="1"/>
          </p:cNvSpPr>
          <p:nvPr>
            <p:ph idx="1"/>
          </p:nvPr>
        </p:nvSpPr>
        <p:spPr>
          <a:xfrm>
            <a:off x="250825" y="981074"/>
            <a:ext cx="8642350" cy="4672048"/>
          </a:xfrm>
        </p:spPr>
        <p:txBody>
          <a:bodyPr/>
          <a:lstStyle/>
          <a:p>
            <a:r>
              <a:rPr lang="zh-CN" altLang="en-US" dirty="0"/>
              <a:t>执行过程</a:t>
            </a:r>
            <a:endParaRPr lang="en-US" altLang="zh-CN" dirty="0"/>
          </a:p>
          <a:p>
            <a:r>
              <a:rPr lang="en-US" altLang="zh-CN" dirty="0"/>
              <a:t>X86</a:t>
            </a:r>
            <a:r>
              <a:rPr lang="zh-CN" altLang="en-US" dirty="0"/>
              <a:t>的架构下，从</a:t>
            </a:r>
            <a:r>
              <a:rPr lang="en-US" altLang="zh-CN" dirty="0"/>
              <a:t>.</a:t>
            </a:r>
            <a:r>
              <a:rPr lang="en-US" altLang="zh-CN" dirty="0" err="1"/>
              <a:t>cpp</a:t>
            </a:r>
            <a:r>
              <a:rPr lang="en-US" altLang="zh-CN" dirty="0"/>
              <a:t> </a:t>
            </a:r>
            <a:r>
              <a:rPr lang="zh-CN" altLang="en-US" dirty="0"/>
              <a:t>文件到</a:t>
            </a:r>
            <a:r>
              <a:rPr lang="en-US" altLang="zh-CN" dirty="0"/>
              <a:t>.s</a:t>
            </a:r>
            <a:r>
              <a:rPr lang="zh-CN" altLang="en-US" dirty="0"/>
              <a:t>文件到</a:t>
            </a:r>
            <a:r>
              <a:rPr lang="en-US" altLang="zh-CN" dirty="0"/>
              <a:t>.o</a:t>
            </a:r>
            <a:r>
              <a:rPr lang="zh-CN" altLang="en-US" dirty="0"/>
              <a:t>文件到可执行程序</a:t>
            </a:r>
            <a:endParaRPr lang="en-US" altLang="zh-CN" dirty="0"/>
          </a:p>
          <a:p>
            <a:endParaRPr lang="en-US" altLang="zh-CN" dirty="0"/>
          </a:p>
          <a:p>
            <a:endParaRPr lang="en-US" altLang="zh-CN" dirty="0"/>
          </a:p>
          <a:p>
            <a:endParaRPr lang="en-US" altLang="zh-CN" dirty="0"/>
          </a:p>
          <a:p>
            <a:endParaRPr lang="en-US" altLang="zh-CN" dirty="0"/>
          </a:p>
          <a:p>
            <a:pPr lvl="0"/>
            <a:r>
              <a:rPr lang="zh-CN" altLang="en-US" dirty="0"/>
              <a:t>以实验二为例表示实验八的结果是可执行代码，中间代码通过编译，模拟器（</a:t>
            </a:r>
            <a:r>
              <a:rPr lang="en-US" altLang="zh-CN" dirty="0" err="1"/>
              <a:t>spim</a:t>
            </a:r>
            <a:r>
              <a:rPr lang="zh-CN" altLang="en-US" dirty="0"/>
              <a:t>）等过程可生成可执行代码，因此验收可以是三地址、三元式、四元式，三地址代码或者</a:t>
            </a:r>
            <a:r>
              <a:rPr lang="en-US" altLang="zh-CN" dirty="0"/>
              <a:t>.s </a:t>
            </a:r>
            <a:r>
              <a:rPr lang="zh-CN" altLang="en-US" dirty="0"/>
              <a:t>代码或者可执行程序</a:t>
            </a:r>
          </a:p>
          <a:p>
            <a:endParaRPr lang="zh-CN" altLang="en-US" dirty="0"/>
          </a:p>
        </p:txBody>
      </p:sp>
      <p:sp>
        <p:nvSpPr>
          <p:cNvPr id="7" name="矩形 6">
            <a:extLst>
              <a:ext uri="{FF2B5EF4-FFF2-40B4-BE49-F238E27FC236}">
                <a16:creationId xmlns:a16="http://schemas.microsoft.com/office/drawing/2014/main" xmlns="" id="{23C5E938-EC02-4E2A-A004-C9FD953BE66A}"/>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16" name="图片 15">
            <a:extLst>
              <a:ext uri="{FF2B5EF4-FFF2-40B4-BE49-F238E27FC236}">
                <a16:creationId xmlns:a16="http://schemas.microsoft.com/office/drawing/2014/main" xmlns="" id="{2950B4A8-896A-4EA2-A432-950941318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039" y="1890255"/>
            <a:ext cx="7189921" cy="1447800"/>
          </a:xfrm>
          <a:prstGeom prst="rect">
            <a:avLst/>
          </a:prstGeom>
        </p:spPr>
      </p:pic>
    </p:spTree>
    <p:extLst>
      <p:ext uri="{BB962C8B-B14F-4D97-AF65-F5344CB8AC3E}">
        <p14:creationId xmlns:p14="http://schemas.microsoft.com/office/powerpoint/2010/main" val="3884162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86AFBAFC-67CA-4795-BFC1-2624396161EE}"/>
              </a:ext>
            </a:extLst>
          </p:cNvPr>
          <p:cNvSpPr>
            <a:spLocks noGrp="1"/>
          </p:cNvSpPr>
          <p:nvPr>
            <p:ph idx="1"/>
          </p:nvPr>
        </p:nvSpPr>
        <p:spPr>
          <a:xfrm>
            <a:off x="250825" y="905839"/>
            <a:ext cx="8642350" cy="4007251"/>
          </a:xfrm>
        </p:spPr>
        <p:txBody>
          <a:bodyPr/>
          <a:lstStyle/>
          <a:p>
            <a:r>
              <a:rPr lang="zh-CN" altLang="en-US" dirty="0"/>
              <a:t>关于验收代码库，感谢同学提示，经过修正目前可用。</a:t>
            </a:r>
            <a:endParaRPr lang="en-US" altLang="zh-CN" dirty="0"/>
          </a:p>
          <a:p>
            <a:endParaRPr lang="en-US" altLang="zh-CN" dirty="0"/>
          </a:p>
          <a:p>
            <a:endParaRPr lang="en-US" altLang="zh-CN" dirty="0"/>
          </a:p>
          <a:p>
            <a:r>
              <a:rPr lang="zh-CN" altLang="en-US" dirty="0"/>
              <a:t>随机选择一个整数，拼接成文件名</a:t>
            </a:r>
            <a:endParaRPr lang="en-US" altLang="zh-CN" dirty="0"/>
          </a:p>
          <a:p>
            <a:endParaRPr lang="en-US" altLang="zh-CN" dirty="0"/>
          </a:p>
          <a:p>
            <a:endParaRPr lang="en-US" altLang="zh-CN" dirty="0"/>
          </a:p>
          <a:p>
            <a:endParaRPr lang="en-US" altLang="zh-CN" dirty="0"/>
          </a:p>
          <a:p>
            <a:endParaRPr lang="en-US" altLang="zh-CN" dirty="0"/>
          </a:p>
          <a:p>
            <a:r>
              <a:rPr lang="zh-CN" altLang="en-US" dirty="0"/>
              <a:t>输出语义分析结果</a:t>
            </a:r>
            <a:endParaRPr lang="en-US" altLang="zh-CN" dirty="0"/>
          </a:p>
        </p:txBody>
      </p:sp>
      <p:sp>
        <p:nvSpPr>
          <p:cNvPr id="6" name="矩形 5">
            <a:extLst>
              <a:ext uri="{FF2B5EF4-FFF2-40B4-BE49-F238E27FC236}">
                <a16:creationId xmlns:a16="http://schemas.microsoft.com/office/drawing/2014/main" xmlns="" id="{BB9EA92F-833B-4408-82A7-9093FDA2A76F}"/>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5" name="图片 4">
            <a:extLst>
              <a:ext uri="{FF2B5EF4-FFF2-40B4-BE49-F238E27FC236}">
                <a16:creationId xmlns:a16="http://schemas.microsoft.com/office/drawing/2014/main" xmlns="" id="{86368D30-1B4D-4351-A73E-C16B4EC9C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379172"/>
            <a:ext cx="5454930" cy="844593"/>
          </a:xfrm>
          <a:prstGeom prst="rect">
            <a:avLst/>
          </a:prstGeom>
        </p:spPr>
      </p:pic>
      <p:pic>
        <p:nvPicPr>
          <p:cNvPr id="8" name="图片 7">
            <a:extLst>
              <a:ext uri="{FF2B5EF4-FFF2-40B4-BE49-F238E27FC236}">
                <a16:creationId xmlns:a16="http://schemas.microsoft.com/office/drawing/2014/main" xmlns="" id="{FC84DDAC-3018-4A0B-8084-649CED878A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2594796"/>
            <a:ext cx="4407126" cy="882695"/>
          </a:xfrm>
          <a:prstGeom prst="rect">
            <a:avLst/>
          </a:prstGeom>
        </p:spPr>
      </p:pic>
      <p:pic>
        <p:nvPicPr>
          <p:cNvPr id="10" name="图片 9">
            <a:extLst>
              <a:ext uri="{FF2B5EF4-FFF2-40B4-BE49-F238E27FC236}">
                <a16:creationId xmlns:a16="http://schemas.microsoft.com/office/drawing/2014/main" xmlns="" id="{1BD4C559-CB6E-49A5-8F07-9DF0BE542D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00" y="3505604"/>
            <a:ext cx="5010407" cy="685835"/>
          </a:xfrm>
          <a:prstGeom prst="rect">
            <a:avLst/>
          </a:prstGeom>
        </p:spPr>
      </p:pic>
      <p:pic>
        <p:nvPicPr>
          <p:cNvPr id="13" name="图片 12">
            <a:extLst>
              <a:ext uri="{FF2B5EF4-FFF2-40B4-BE49-F238E27FC236}">
                <a16:creationId xmlns:a16="http://schemas.microsoft.com/office/drawing/2014/main" xmlns="" id="{CC18B311-23DA-4789-B854-123DA568E3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6803" y="4819557"/>
            <a:ext cx="4311872" cy="1809843"/>
          </a:xfrm>
          <a:prstGeom prst="rect">
            <a:avLst/>
          </a:prstGeom>
        </p:spPr>
      </p:pic>
    </p:spTree>
    <p:extLst>
      <p:ext uri="{BB962C8B-B14F-4D97-AF65-F5344CB8AC3E}">
        <p14:creationId xmlns:p14="http://schemas.microsoft.com/office/powerpoint/2010/main" val="121820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1347E180-E262-46D9-BB5A-DA1D2171B0A7}"/>
              </a:ext>
            </a:extLst>
          </p:cNvPr>
          <p:cNvSpPr>
            <a:spLocks noGrp="1"/>
          </p:cNvSpPr>
          <p:nvPr>
            <p:ph idx="1"/>
          </p:nvPr>
        </p:nvSpPr>
        <p:spPr>
          <a:xfrm>
            <a:off x="250825" y="981074"/>
            <a:ext cx="8642350" cy="5207579"/>
          </a:xfrm>
        </p:spPr>
        <p:txBody>
          <a:bodyPr/>
          <a:lstStyle/>
          <a:p>
            <a:r>
              <a:rPr lang="zh-CN" altLang="en-US" dirty="0"/>
              <a:t>文法的解析</a:t>
            </a:r>
            <a:endParaRPr lang="en-US" altLang="zh-CN" dirty="0"/>
          </a:p>
          <a:p>
            <a:endParaRPr lang="en-US" altLang="zh-CN" dirty="0"/>
          </a:p>
          <a:p>
            <a:endParaRPr lang="en-US" altLang="zh-CN" dirty="0"/>
          </a:p>
          <a:p>
            <a:endParaRPr lang="en-US" altLang="zh-CN" dirty="0"/>
          </a:p>
          <a:p>
            <a:pPr marL="457200" lvl="1" indent="0">
              <a:buNone/>
            </a:pPr>
            <a:endParaRPr lang="en-US" altLang="zh-CN" dirty="0"/>
          </a:p>
          <a:p>
            <a:pPr marL="57150" indent="0">
              <a:buNone/>
            </a:pPr>
            <a:r>
              <a:rPr lang="en-US" altLang="zh-CN" sz="2000" dirty="0"/>
              <a:t>Print/</a:t>
            </a:r>
            <a:r>
              <a:rPr lang="en-US" altLang="zh-CN" sz="2000" dirty="0">
                <a:highlight>
                  <a:srgbClr val="FFFF00"/>
                </a:highlight>
              </a:rPr>
              <a:t>input</a:t>
            </a:r>
            <a:r>
              <a:rPr lang="zh-CN" altLang="en-US" sz="2000" dirty="0"/>
              <a:t>可作为终结符</a:t>
            </a:r>
            <a:endParaRPr lang="zh-CN" altLang="en-US" dirty="0"/>
          </a:p>
          <a:p>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S → d = E | d[</a:t>
            </a:r>
            <a:r>
              <a:rPr lang="en-US" altLang="zh-CN" sz="1800" kern="100" dirty="0">
                <a:effectLst/>
                <a:latin typeface="Cambria Math" panose="02040503050406030204" pitchFamily="18" charset="0"/>
                <a:ea typeface="宋体" panose="02010600030101010101" pitchFamily="2" charset="-122"/>
                <a:cs typeface="Calibri" panose="020F0502020204030204" pitchFamily="34" charset="0"/>
              </a:rPr>
              <a:t>E</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 E | if (B) S | if (B) S else S | while (B) S | return E | {</a:t>
            </a:r>
            <a:r>
              <a:rPr lang="en-US" altLang="zh-CN" sz="1800" kern="100" dirty="0">
                <a:effectLst/>
                <a:latin typeface="Cambria Math" panose="02040503050406030204" pitchFamily="18" charset="0"/>
                <a:ea typeface="宋体" panose="02010600030101010101" pitchFamily="2" charset="-122"/>
                <a:cs typeface="Calibri" panose="020F0502020204030204" pitchFamily="34" charset="0"/>
              </a:rPr>
              <a:t>Š</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 d(</a:t>
            </a:r>
            <a:r>
              <a:rPr lang="en-US" altLang="zh-CN" sz="1800" kern="100" dirty="0">
                <a:effectLst/>
                <a:latin typeface="Cambria Math" panose="02040503050406030204" pitchFamily="18" charset="0"/>
                <a:ea typeface="宋体" panose="02010600030101010101" pitchFamily="2" charset="-122"/>
                <a:cs typeface="Calibri" panose="020F0502020204030204" pitchFamily="34" charset="0"/>
              </a:rPr>
              <a:t>Ř</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 </a:t>
            </a:r>
            <a:r>
              <a:rPr lang="en-US" altLang="zh-CN" sz="1800" kern="100" dirty="0">
                <a:effectLst/>
                <a:highlight>
                  <a:srgbClr val="FFFF00"/>
                </a:highlight>
                <a:latin typeface="Cambria Math" panose="02040503050406030204" pitchFamily="18" charset="0"/>
                <a:ea typeface="宋体" panose="02010600030101010101" pitchFamily="2" charset="-122"/>
                <a:cs typeface="Times New Roman" panose="02020603050405020304" pitchFamily="18" charset="0"/>
              </a:rPr>
              <a:t>input </a:t>
            </a:r>
            <a:r>
              <a:rPr lang="en-US" altLang="zh-CN" sz="1800" kern="100" dirty="0" err="1">
                <a:effectLst/>
                <a:highlight>
                  <a:srgbClr val="FFFF00"/>
                </a:highlight>
                <a:latin typeface="Cambria Math" panose="02040503050406030204" pitchFamily="18" charset="0"/>
                <a:ea typeface="宋体" panose="02010600030101010101" pitchFamily="2" charset="-122"/>
                <a:cs typeface="Times New Roman" panose="02020603050405020304" pitchFamily="18" charset="0"/>
              </a:rPr>
              <a:t>E</a:t>
            </a:r>
            <a:r>
              <a:rPr lang="en-US" altLang="zh-CN" sz="1800" kern="100" dirty="0" err="1">
                <a:effectLst/>
                <a:latin typeface="Cambria Math" panose="02040503050406030204" pitchFamily="18" charset="0"/>
                <a:ea typeface="宋体" panose="02010600030101010101" pitchFamily="2" charset="-122"/>
                <a:cs typeface="Times New Roman" panose="02020603050405020304" pitchFamily="18" charset="0"/>
              </a:rPr>
              <a:t>|print</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E</a:t>
            </a:r>
          </a:p>
          <a:p>
            <a:r>
              <a:rPr lang="en-US" altLang="zh-CN" sz="1800" kern="100" dirty="0">
                <a:ea typeface="宋体" panose="02010600030101010101" pitchFamily="2" charset="-122"/>
                <a:cs typeface="Times New Roman" panose="02020603050405020304" pitchFamily="18" charset="0"/>
              </a:rPr>
              <a:t>S</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1800" kern="100" dirty="0">
                <a:effectLst/>
                <a:latin typeface="Cambria Math" panose="02040503050406030204" pitchFamily="18" charset="0"/>
                <a:ea typeface="宋体" panose="02010600030101010101" pitchFamily="2" charset="-122"/>
                <a:cs typeface="Times New Roman" panose="02020603050405020304" pitchFamily="18" charset="0"/>
              </a:rPr>
              <a:t>如果可以</a:t>
            </a:r>
            <a:r>
              <a:rPr lang="en-US" altLang="zh-CN" sz="1800" kern="100" dirty="0">
                <a:effectLst/>
                <a:latin typeface="Cambria Math" panose="02040503050406030204" pitchFamily="18" charset="0"/>
                <a:ea typeface="宋体" panose="02010600030101010101" pitchFamily="2" charset="-122"/>
                <a:cs typeface="Times New Roman" panose="02020603050405020304" pitchFamily="18" charset="0"/>
              </a:rPr>
              <a:t>→ </a:t>
            </a:r>
            <a:r>
              <a:rPr lang="en-US" altLang="zh-CN" sz="1800" dirty="0">
                <a:effectLst/>
                <a:ea typeface="Cambria Math" panose="02040503050406030204" pitchFamily="18" charset="0"/>
                <a:cs typeface="Times New Roman" panose="02020603050405020304" pitchFamily="18" charset="0"/>
              </a:rPr>
              <a:t>ε</a:t>
            </a:r>
            <a:r>
              <a:rPr lang="zh-CN" altLang="en-US" sz="1800" dirty="0">
                <a:effectLst/>
                <a:ea typeface="Cambria Math" panose="02040503050406030204" pitchFamily="18" charset="0"/>
                <a:cs typeface="Times New Roman" panose="02020603050405020304" pitchFamily="18" charset="0"/>
              </a:rPr>
              <a:t>，</a:t>
            </a:r>
            <a:r>
              <a:rPr lang="en-US" altLang="zh-CN" sz="1800" dirty="0">
                <a:effectLst/>
                <a:ea typeface="Cambria Math" panose="02040503050406030204" pitchFamily="18" charset="0"/>
                <a:cs typeface="Times New Roman" panose="02020603050405020304" pitchFamily="18" charset="0"/>
              </a:rPr>
              <a:t>c</a:t>
            </a:r>
            <a:r>
              <a:rPr lang="zh-CN" altLang="en-US" sz="1800" dirty="0">
                <a:effectLst/>
                <a:ea typeface="Cambria Math" panose="02040503050406030204" pitchFamily="18" charset="0"/>
                <a:cs typeface="Times New Roman" panose="02020603050405020304" pitchFamily="18" charset="0"/>
              </a:rPr>
              <a:t>的主函数形式可以支持</a:t>
            </a:r>
            <a:endParaRPr lang="en-US" altLang="zh-CN" sz="1800" dirty="0">
              <a:effectLst/>
              <a:ea typeface="Cambria Math" panose="02040503050406030204" pitchFamily="18" charset="0"/>
              <a:cs typeface="Times New Roman" panose="02020603050405020304" pitchFamily="18" charset="0"/>
            </a:endParaRPr>
          </a:p>
          <a:p>
            <a:r>
              <a:rPr lang="zh-CN" altLang="en-US" sz="1800" kern="100" dirty="0">
                <a:ea typeface="宋体" panose="02010600030101010101" pitchFamily="2" charset="-122"/>
                <a:cs typeface="Times New Roman" panose="02020603050405020304" pitchFamily="18" charset="0"/>
              </a:rPr>
              <a:t>关于文法的一些冲突</a:t>
            </a:r>
            <a:endParaRPr lang="zh-CN" altLang="zh-CN" sz="1800" kern="100" dirty="0">
              <a:effectLst/>
              <a:latin typeface="Cambria Math" panose="02040503050406030204" pitchFamily="18" charset="0"/>
              <a:ea typeface="宋体" panose="02010600030101010101" pitchFamily="2" charset="-122"/>
              <a:cs typeface="Times New Roman" panose="02020603050405020304" pitchFamily="18" charset="0"/>
            </a:endParaRPr>
          </a:p>
          <a:p>
            <a:endParaRPr lang="en-US" altLang="zh-CN" dirty="0"/>
          </a:p>
          <a:p>
            <a:endParaRPr lang="en-US" altLang="zh-CN" dirty="0"/>
          </a:p>
          <a:p>
            <a:pPr marL="0" indent="0">
              <a:buNone/>
            </a:pPr>
            <a:r>
              <a:rPr lang="zh-CN" altLang="en-US" dirty="0"/>
              <a:t>                             </a:t>
            </a:r>
            <a:endParaRPr lang="zh-CN" altLang="en-US" sz="1600" dirty="0"/>
          </a:p>
        </p:txBody>
      </p:sp>
      <p:sp>
        <p:nvSpPr>
          <p:cNvPr id="6" name="矩形 5">
            <a:extLst>
              <a:ext uri="{FF2B5EF4-FFF2-40B4-BE49-F238E27FC236}">
                <a16:creationId xmlns:a16="http://schemas.microsoft.com/office/drawing/2014/main" xmlns="" id="{CC275647-D584-4B10-A68D-FCC83F58B0BD}"/>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7" name="图片 6">
            <a:extLst>
              <a:ext uri="{FF2B5EF4-FFF2-40B4-BE49-F238E27FC236}">
                <a16:creationId xmlns:a16="http://schemas.microsoft.com/office/drawing/2014/main" xmlns="" id="{154379A5-600E-4827-A085-23B839346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47" y="25400"/>
            <a:ext cx="5562886" cy="3543482"/>
          </a:xfrm>
          <a:prstGeom prst="rect">
            <a:avLst/>
          </a:prstGeom>
        </p:spPr>
      </p:pic>
      <p:sp>
        <p:nvSpPr>
          <p:cNvPr id="14" name="文本框 13">
            <a:extLst>
              <a:ext uri="{FF2B5EF4-FFF2-40B4-BE49-F238E27FC236}">
                <a16:creationId xmlns:a16="http://schemas.microsoft.com/office/drawing/2014/main" xmlns="" id="{63A4BEDD-1A75-429A-9EE6-A07A9707AC28}"/>
              </a:ext>
            </a:extLst>
          </p:cNvPr>
          <p:cNvSpPr txBox="1"/>
          <p:nvPr/>
        </p:nvSpPr>
        <p:spPr bwMode="auto">
          <a:xfrm>
            <a:off x="420255" y="1514393"/>
            <a:ext cx="3048000" cy="1569660"/>
          </a:xfrm>
          <a:prstGeom prst="rect">
            <a:avLst/>
          </a:prstGeom>
          <a:noFill/>
          <a:ln w="9525" algn="ctr">
            <a:solidFill>
              <a:schemeClr val="tx1"/>
            </a:solidFill>
            <a:miter lim="800000"/>
            <a:headEnd/>
            <a:tailEnd/>
          </a:ln>
        </p:spPr>
        <p:txBody>
          <a:bodyPr wrap="square" rtlCol="0">
            <a:spAutoFit/>
          </a:bodyPr>
          <a:lstStyle/>
          <a:p>
            <a:pPr eaLnBrk="1" hangingPunct="1">
              <a:spcBef>
                <a:spcPct val="50000"/>
              </a:spcBef>
            </a:pPr>
            <a:r>
              <a:rPr lang="zh-CN" altLang="en-US" dirty="0"/>
              <a:t>以前</a:t>
            </a:r>
            <a:r>
              <a:rPr lang="en-US" altLang="zh-CN" dirty="0"/>
              <a:t>ppt</a:t>
            </a:r>
            <a:r>
              <a:rPr lang="zh-CN" altLang="en-US" dirty="0"/>
              <a:t>解析了词法，未定义的部分在不引入冲突的情况下可以自行增加</a:t>
            </a:r>
            <a:endParaRPr lang="en-US" altLang="zh-CN" dirty="0"/>
          </a:p>
        </p:txBody>
      </p:sp>
      <p:pic>
        <p:nvPicPr>
          <p:cNvPr id="20" name="图片 19">
            <a:extLst>
              <a:ext uri="{FF2B5EF4-FFF2-40B4-BE49-F238E27FC236}">
                <a16:creationId xmlns:a16="http://schemas.microsoft.com/office/drawing/2014/main" xmlns="" id="{1096CEC6-86AB-4119-A5E2-018CAC9365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3994058"/>
            <a:ext cx="2559182" cy="1797142"/>
          </a:xfrm>
          <a:prstGeom prst="rect">
            <a:avLst/>
          </a:prstGeom>
        </p:spPr>
      </p:pic>
    </p:spTree>
    <p:extLst>
      <p:ext uri="{BB962C8B-B14F-4D97-AF65-F5344CB8AC3E}">
        <p14:creationId xmlns:p14="http://schemas.microsoft.com/office/powerpoint/2010/main" val="1988206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1347E180-E262-46D9-BB5A-DA1D2171B0A7}"/>
              </a:ext>
            </a:extLst>
          </p:cNvPr>
          <p:cNvSpPr>
            <a:spLocks noGrp="1"/>
          </p:cNvSpPr>
          <p:nvPr>
            <p:ph idx="1"/>
          </p:nvPr>
        </p:nvSpPr>
        <p:spPr>
          <a:xfrm>
            <a:off x="250825" y="748504"/>
            <a:ext cx="8642350" cy="2160591"/>
          </a:xfrm>
        </p:spPr>
        <p:txBody>
          <a:bodyPr/>
          <a:lstStyle/>
          <a:p>
            <a:pPr eaLnBrk="1" hangingPunct="1">
              <a:spcBef>
                <a:spcPct val="50000"/>
              </a:spcBef>
            </a:pPr>
            <a:r>
              <a:rPr lang="zh-CN" altLang="en-US" b="1" dirty="0">
                <a:latin typeface="+mn-ea"/>
              </a:rPr>
              <a:t>参考同学提供的内容，进行修正，大家可以自行修改或者重定义</a:t>
            </a:r>
            <a:endParaRPr lang="zh-CN" altLang="en-US" dirty="0"/>
          </a:p>
          <a:p>
            <a:endParaRPr lang="en-US" altLang="zh-CN" dirty="0"/>
          </a:p>
          <a:p>
            <a:endParaRPr lang="en-US" altLang="zh-CN" dirty="0"/>
          </a:p>
          <a:p>
            <a:pPr marL="0" indent="0">
              <a:buNone/>
            </a:pPr>
            <a:r>
              <a:rPr lang="zh-CN" altLang="en-US" dirty="0"/>
              <a:t>                             </a:t>
            </a:r>
            <a:endParaRPr lang="zh-CN" altLang="en-US" sz="1600" dirty="0"/>
          </a:p>
        </p:txBody>
      </p:sp>
      <p:sp>
        <p:nvSpPr>
          <p:cNvPr id="5" name="矩形 4">
            <a:extLst>
              <a:ext uri="{FF2B5EF4-FFF2-40B4-BE49-F238E27FC236}">
                <a16:creationId xmlns:a16="http://schemas.microsoft.com/office/drawing/2014/main" xmlns="" id="{B2927AF8-4AE6-4A25-BC77-04D3CBA1B914}"/>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8" name="图片 7">
            <a:extLst>
              <a:ext uri="{FF2B5EF4-FFF2-40B4-BE49-F238E27FC236}">
                <a16:creationId xmlns:a16="http://schemas.microsoft.com/office/drawing/2014/main" xmlns="" id="{4D5D5F20-E3AD-44A0-9B84-33EEE7084D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676400"/>
            <a:ext cx="8172870" cy="4140413"/>
          </a:xfrm>
          <a:prstGeom prst="rect">
            <a:avLst/>
          </a:prstGeom>
        </p:spPr>
      </p:pic>
    </p:spTree>
    <p:extLst>
      <p:ext uri="{BB962C8B-B14F-4D97-AF65-F5344CB8AC3E}">
        <p14:creationId xmlns:p14="http://schemas.microsoft.com/office/powerpoint/2010/main" val="1321923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830CA5E4-8B77-44E8-88DF-F228E5BC39CB}"/>
              </a:ext>
            </a:extLst>
          </p:cNvPr>
          <p:cNvSpPr>
            <a:spLocks noGrp="1"/>
          </p:cNvSpPr>
          <p:nvPr>
            <p:ph idx="1"/>
          </p:nvPr>
        </p:nvSpPr>
        <p:spPr>
          <a:xfrm>
            <a:off x="250825" y="914400"/>
            <a:ext cx="8642350" cy="3416320"/>
          </a:xfrm>
        </p:spPr>
        <p:txBody>
          <a:bodyPr/>
          <a:lstStyle/>
          <a:p>
            <a:r>
              <a:rPr lang="zh-CN" altLang="en-US" dirty="0"/>
              <a:t>关于实验四，使用</a:t>
            </a:r>
            <a:r>
              <a:rPr lang="en-US" altLang="zh-CN" dirty="0" err="1"/>
              <a:t>makefile</a:t>
            </a:r>
            <a:r>
              <a:rPr lang="zh-CN" altLang="en-US" dirty="0"/>
              <a:t>构造工程，</a:t>
            </a:r>
            <a:r>
              <a:rPr lang="en-US" altLang="zh-CN" dirty="0"/>
              <a:t>make</a:t>
            </a:r>
            <a:r>
              <a:rPr lang="zh-CN" altLang="en-US" dirty="0"/>
              <a:t>和</a:t>
            </a:r>
            <a:r>
              <a:rPr lang="en-US" altLang="zh-CN" dirty="0"/>
              <a:t>make clean</a:t>
            </a:r>
          </a:p>
          <a:p>
            <a:endParaRPr lang="en-US" altLang="zh-CN" dirty="0"/>
          </a:p>
          <a:p>
            <a:endParaRPr lang="en-US" altLang="zh-CN" dirty="0"/>
          </a:p>
          <a:p>
            <a:endParaRPr lang="en-US" altLang="zh-CN" dirty="0"/>
          </a:p>
          <a:p>
            <a:endParaRPr lang="en-US" altLang="zh-CN" dirty="0"/>
          </a:p>
          <a:p>
            <a:r>
              <a:rPr lang="zh-CN" altLang="en-US" dirty="0"/>
              <a:t>选择</a:t>
            </a:r>
            <a:r>
              <a:rPr lang="en-US" altLang="zh-CN" dirty="0"/>
              <a:t>PAI-DSW</a:t>
            </a:r>
            <a:r>
              <a:rPr lang="zh-CN" altLang="en-US" dirty="0"/>
              <a:t>环境：</a:t>
            </a:r>
            <a:r>
              <a:rPr lang="en-US" altLang="zh-CN" dirty="0"/>
              <a:t>notebook</a:t>
            </a:r>
            <a:r>
              <a:rPr lang="zh-CN" altLang="en-US" dirty="0"/>
              <a:t>，可以跑</a:t>
            </a:r>
            <a:r>
              <a:rPr lang="en-US" altLang="zh-CN" dirty="0" err="1"/>
              <a:t>py</a:t>
            </a:r>
            <a:r>
              <a:rPr lang="zh-CN" altLang="en-US" dirty="0"/>
              <a:t>，</a:t>
            </a:r>
            <a:r>
              <a:rPr lang="en-US" altLang="zh-CN" dirty="0" err="1"/>
              <a:t>ipynb</a:t>
            </a:r>
            <a:r>
              <a:rPr lang="zh-CN" altLang="en-US" dirty="0"/>
              <a:t>程序，可以运行</a:t>
            </a:r>
            <a:r>
              <a:rPr lang="en-US" altLang="zh-CN" dirty="0"/>
              <a:t>c/</a:t>
            </a:r>
            <a:r>
              <a:rPr lang="en-US" altLang="zh-CN" dirty="0" err="1"/>
              <a:t>c++</a:t>
            </a:r>
            <a:r>
              <a:rPr lang="zh-CN" altLang="en-US" dirty="0"/>
              <a:t>，可以模拟</a:t>
            </a:r>
            <a:r>
              <a:rPr lang="en-US" altLang="zh-CN" dirty="0" err="1"/>
              <a:t>linux</a:t>
            </a:r>
            <a:r>
              <a:rPr lang="zh-CN" altLang="en-US" dirty="0"/>
              <a:t>环境，相对来说减少安装和环境配置，较为友好</a:t>
            </a:r>
          </a:p>
        </p:txBody>
      </p:sp>
      <p:sp>
        <p:nvSpPr>
          <p:cNvPr id="9" name="矩形 8">
            <a:extLst>
              <a:ext uri="{FF2B5EF4-FFF2-40B4-BE49-F238E27FC236}">
                <a16:creationId xmlns:a16="http://schemas.microsoft.com/office/drawing/2014/main" xmlns="" id="{D128F9E5-47BF-4D12-A931-656468FE8AFD}"/>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pic>
        <p:nvPicPr>
          <p:cNvPr id="11" name="图片 10">
            <a:extLst>
              <a:ext uri="{FF2B5EF4-FFF2-40B4-BE49-F238E27FC236}">
                <a16:creationId xmlns:a16="http://schemas.microsoft.com/office/drawing/2014/main" xmlns="" id="{8EAF1E1B-3305-4B63-B9DF-1EBD93A6EC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4267200"/>
            <a:ext cx="8783276" cy="1057423"/>
          </a:xfrm>
          <a:prstGeom prst="rect">
            <a:avLst/>
          </a:prstGeom>
        </p:spPr>
      </p:pic>
      <p:pic>
        <p:nvPicPr>
          <p:cNvPr id="15" name="图片 14">
            <a:extLst>
              <a:ext uri="{FF2B5EF4-FFF2-40B4-BE49-F238E27FC236}">
                <a16:creationId xmlns:a16="http://schemas.microsoft.com/office/drawing/2014/main" xmlns="" id="{39EB8750-CDD1-41FA-9F24-FCA045487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447800"/>
            <a:ext cx="5229955" cy="1552792"/>
          </a:xfrm>
          <a:prstGeom prst="rect">
            <a:avLst/>
          </a:prstGeom>
        </p:spPr>
      </p:pic>
      <p:pic>
        <p:nvPicPr>
          <p:cNvPr id="6" name="图片 5">
            <a:extLst>
              <a:ext uri="{FF2B5EF4-FFF2-40B4-BE49-F238E27FC236}">
                <a16:creationId xmlns:a16="http://schemas.microsoft.com/office/drawing/2014/main" xmlns="" id="{8717D397-E743-4841-B2D9-E32992D6A3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5552882"/>
            <a:ext cx="6039693" cy="1381318"/>
          </a:xfrm>
          <a:prstGeom prst="rect">
            <a:avLst/>
          </a:prstGeom>
        </p:spPr>
      </p:pic>
    </p:spTree>
    <p:extLst>
      <p:ext uri="{BB962C8B-B14F-4D97-AF65-F5344CB8AC3E}">
        <p14:creationId xmlns:p14="http://schemas.microsoft.com/office/powerpoint/2010/main" val="168756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内容占位符 17">
            <a:extLst>
              <a:ext uri="{FF2B5EF4-FFF2-40B4-BE49-F238E27FC236}">
                <a16:creationId xmlns:a16="http://schemas.microsoft.com/office/drawing/2014/main" xmlns="" id="{9BD939B0-B4D3-40B8-925A-6815AE0671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219200"/>
            <a:ext cx="7239000" cy="4927928"/>
          </a:xfrm>
        </p:spPr>
      </p:pic>
      <p:sp>
        <p:nvSpPr>
          <p:cNvPr id="6" name="矩形 5">
            <a:extLst>
              <a:ext uri="{FF2B5EF4-FFF2-40B4-BE49-F238E27FC236}">
                <a16:creationId xmlns:a16="http://schemas.microsoft.com/office/drawing/2014/main" xmlns="" id="{9299B9A3-201F-4BAB-9D4D-CE8DABDC0402}"/>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一、</a:t>
            </a:r>
            <a:r>
              <a:rPr lang="zh-CN" altLang="en-US" sz="3600" dirty="0">
                <a:solidFill>
                  <a:schemeClr val="tx1"/>
                </a:solidFill>
                <a:latin typeface="宋体" panose="02010600030101010101" pitchFamily="2" charset="-122"/>
              </a:rPr>
              <a:t>实验回顾</a:t>
            </a:r>
          </a:p>
        </p:txBody>
      </p:sp>
    </p:spTree>
    <p:extLst>
      <p:ext uri="{BB962C8B-B14F-4D97-AF65-F5344CB8AC3E}">
        <p14:creationId xmlns:p14="http://schemas.microsoft.com/office/powerpoint/2010/main" val="1329775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296D75F3-04C1-4E9D-81E3-E1BC588A8357}"/>
              </a:ext>
            </a:extLst>
          </p:cNvPr>
          <p:cNvSpPr>
            <a:spLocks noGrp="1"/>
          </p:cNvSpPr>
          <p:nvPr>
            <p:ph idx="1"/>
          </p:nvPr>
        </p:nvSpPr>
        <p:spPr>
          <a:xfrm>
            <a:off x="250825" y="981074"/>
            <a:ext cx="8642350" cy="5706177"/>
          </a:xfrm>
        </p:spPr>
        <p:txBody>
          <a:bodyPr/>
          <a:lstStyle/>
          <a:p>
            <a:r>
              <a:rPr lang="zh-CN" altLang="en-US" dirty="0"/>
              <a:t>实验七根据实验六的符号表内容，可输出内存地址和偏移等信息；实验八则根据中间代码信息，可输出目标代码、可执行代码等，本实验输出如</a:t>
            </a:r>
            <a:r>
              <a:rPr lang="en-US" altLang="zh-CN" dirty="0" err="1"/>
              <a:t>mips</a:t>
            </a:r>
            <a:r>
              <a:rPr lang="zh-CN" altLang="en-US" dirty="0"/>
              <a:t>、</a:t>
            </a:r>
            <a:r>
              <a:rPr lang="en-US" altLang="zh-CN" dirty="0"/>
              <a:t>X86</a:t>
            </a:r>
            <a:r>
              <a:rPr lang="zh-CN" altLang="en-US" dirty="0"/>
              <a:t>，</a:t>
            </a:r>
            <a:r>
              <a:rPr lang="en-US" altLang="zh-CN" dirty="0"/>
              <a:t>arm</a:t>
            </a:r>
            <a:r>
              <a:rPr lang="zh-CN" altLang="en-US" dirty="0"/>
              <a:t>不同指令集的汇编程序。</a:t>
            </a:r>
            <a:endParaRPr lang="en-US" altLang="zh-CN" dirty="0"/>
          </a:p>
          <a:p>
            <a:r>
              <a:rPr lang="zh-CN" altLang="en-US" dirty="0"/>
              <a:t>按教学进度，</a:t>
            </a:r>
            <a:r>
              <a:rPr lang="en-US" altLang="zh-CN" dirty="0"/>
              <a:t>7</a:t>
            </a:r>
            <a:r>
              <a:rPr lang="zh-CN" altLang="en-US" dirty="0"/>
              <a:t>，</a:t>
            </a:r>
            <a:r>
              <a:rPr lang="en-US" altLang="zh-CN" dirty="0"/>
              <a:t>8</a:t>
            </a:r>
            <a:r>
              <a:rPr lang="zh-CN" altLang="en-US" dirty="0"/>
              <a:t>内容合并，输入可以是三地址代码，三、四元式等中间代码，也可以是源代码，输出为汇编 </a:t>
            </a:r>
            <a:r>
              <a:rPr lang="en-US" altLang="zh-CN" dirty="0"/>
              <a:t>.s</a:t>
            </a:r>
            <a:r>
              <a:rPr lang="zh-CN" altLang="en-US" dirty="0"/>
              <a:t>程序</a:t>
            </a:r>
            <a:endParaRPr lang="en-US" altLang="zh-CN" dirty="0"/>
          </a:p>
          <a:p>
            <a:r>
              <a:rPr lang="en-US" altLang="zh-CN" dirty="0"/>
              <a:t> </a:t>
            </a:r>
            <a:r>
              <a:rPr lang="zh-CN" altLang="en-US" dirty="0"/>
              <a:t>本次实验没有作业，一共</a:t>
            </a:r>
            <a:r>
              <a:rPr lang="en-US" altLang="zh-CN" dirty="0"/>
              <a:t>6</a:t>
            </a:r>
            <a:r>
              <a:rPr lang="zh-CN" altLang="en-US" dirty="0"/>
              <a:t>次作业，验收程序可以实现到中间代码部分，也可以实现到汇编程序部分。</a:t>
            </a:r>
            <a:endParaRPr lang="en-US" altLang="zh-CN" dirty="0"/>
          </a:p>
          <a:p>
            <a:r>
              <a:rPr lang="zh-CN" altLang="en-US" dirty="0"/>
              <a:t>成绩构成：实验报告（</a:t>
            </a:r>
            <a:r>
              <a:rPr lang="en-US" altLang="zh-CN" dirty="0"/>
              <a:t>6</a:t>
            </a:r>
            <a:r>
              <a:rPr lang="zh-CN" altLang="en-US" dirty="0"/>
              <a:t>次，</a:t>
            </a:r>
            <a:r>
              <a:rPr lang="en-US" altLang="zh-CN" dirty="0"/>
              <a:t>70%</a:t>
            </a:r>
            <a:r>
              <a:rPr lang="zh-CN" altLang="en-US" dirty="0"/>
              <a:t>）</a:t>
            </a:r>
            <a:r>
              <a:rPr lang="en-US" altLang="zh-CN" dirty="0"/>
              <a:t>+</a:t>
            </a:r>
            <a:r>
              <a:rPr lang="zh-CN" altLang="en-US" dirty="0"/>
              <a:t>程序验收</a:t>
            </a:r>
            <a:r>
              <a:rPr lang="en-US" altLang="zh-CN" dirty="0"/>
              <a:t>+</a:t>
            </a:r>
            <a:r>
              <a:rPr lang="zh-CN" altLang="en-US" dirty="0"/>
              <a:t>（平时考勤</a:t>
            </a:r>
            <a:r>
              <a:rPr lang="en-US" altLang="zh-CN" dirty="0"/>
              <a:t>10%</a:t>
            </a:r>
            <a:r>
              <a:rPr lang="zh-CN" altLang="en-US" dirty="0"/>
              <a:t>）</a:t>
            </a:r>
            <a:endParaRPr lang="en-US" altLang="zh-CN" dirty="0"/>
          </a:p>
          <a:p>
            <a:r>
              <a:rPr lang="zh-CN" altLang="en-US" dirty="0"/>
              <a:t>验收内容：选中一个测试代码，看实现结果。如果程序设计的文法不是实验</a:t>
            </a:r>
            <a:r>
              <a:rPr lang="en-US" altLang="zh-CN" dirty="0"/>
              <a:t>2</a:t>
            </a:r>
            <a:r>
              <a:rPr lang="zh-CN" altLang="en-US" dirty="0"/>
              <a:t>的文法，逻辑部分重合，也认为通过</a:t>
            </a:r>
            <a:endParaRPr lang="en-US" altLang="zh-CN" dirty="0"/>
          </a:p>
          <a:p>
            <a:r>
              <a:rPr lang="zh-CN" altLang="en-US" dirty="0"/>
              <a:t>如某次实验报告逾期，当次报告成绩不会不及格</a:t>
            </a:r>
            <a:endParaRPr lang="en-US" altLang="zh-CN" dirty="0"/>
          </a:p>
          <a:p>
            <a:r>
              <a:rPr lang="zh-CN" altLang="en-US" dirty="0"/>
              <a:t>成绩发布之前，会在思源学堂上传实验报告成绩。</a:t>
            </a:r>
          </a:p>
        </p:txBody>
      </p:sp>
      <p:sp>
        <p:nvSpPr>
          <p:cNvPr id="7" name="流程图: 接点 6">
            <a:extLst>
              <a:ext uri="{FF2B5EF4-FFF2-40B4-BE49-F238E27FC236}">
                <a16:creationId xmlns:a16="http://schemas.microsoft.com/office/drawing/2014/main" xmlns="" id="{D0BD9C7F-6AB4-4529-815E-6278ACEA733A}"/>
              </a:ext>
            </a:extLst>
          </p:cNvPr>
          <p:cNvSpPr/>
          <p:nvPr/>
        </p:nvSpPr>
        <p:spPr bwMode="auto">
          <a:xfrm>
            <a:off x="3048000" y="2057400"/>
            <a:ext cx="76200" cy="45719"/>
          </a:xfrm>
          <a:prstGeom prst="flowChartConnector">
            <a:avLst/>
          </a:prstGeom>
          <a:noFill/>
          <a:ln w="9525">
            <a:noFill/>
            <a:miter lim="800000"/>
            <a:headEnd/>
            <a:tailEnd/>
          </a:ln>
        </p:spPr>
        <p:txBody>
          <a:bodyPr rtlCol="0" anchor="ctr">
            <a:spAutoFit/>
          </a:bodyPr>
          <a:lstStyle/>
          <a:p>
            <a:pPr marL="342900" indent="-342900" algn="ctr" latinLnBrk="0">
              <a:spcBef>
                <a:spcPct val="20000"/>
              </a:spcBef>
              <a:buClr>
                <a:schemeClr val="accent2"/>
              </a:buClr>
              <a:buFont typeface="Wingdings" pitchFamily="2" charset="2"/>
              <a:buChar char="Ø"/>
            </a:pPr>
            <a:endParaRPr lang="zh-CN" altLang="en-US" sz="2400" dirty="0">
              <a:latin typeface="Cambria Math" panose="02040503050406030204" pitchFamily="18" charset="0"/>
              <a:ea typeface="Cambria Math" panose="02040503050406030204" pitchFamily="18" charset="0"/>
            </a:endParaRPr>
          </a:p>
        </p:txBody>
      </p:sp>
      <p:sp>
        <p:nvSpPr>
          <p:cNvPr id="8" name="矩形 7">
            <a:extLst>
              <a:ext uri="{FF2B5EF4-FFF2-40B4-BE49-F238E27FC236}">
                <a16:creationId xmlns:a16="http://schemas.microsoft.com/office/drawing/2014/main" xmlns="" id="{758539E8-8783-4E37-90FF-4D0152306D45}"/>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二、</a:t>
            </a:r>
            <a:r>
              <a:rPr lang="zh-CN" altLang="en-US" sz="3600" dirty="0">
                <a:solidFill>
                  <a:schemeClr val="tx1"/>
                </a:solidFill>
                <a:latin typeface="宋体" panose="02010600030101010101" pitchFamily="2" charset="-122"/>
                <a:ea typeface="黑体" panose="02010609060101010101" pitchFamily="49" charset="-122"/>
              </a:rPr>
              <a:t>实验七、八内容</a:t>
            </a:r>
            <a:endParaRPr lang="zh-CN" altLang="en-US" sz="3600" dirty="0">
              <a:solidFill>
                <a:schemeClr val="tx1"/>
              </a:solidFill>
              <a:latin typeface="宋体" panose="02010600030101010101" pitchFamily="2" charset="-122"/>
            </a:endParaRPr>
          </a:p>
        </p:txBody>
      </p:sp>
    </p:spTree>
    <p:extLst>
      <p:ext uri="{BB962C8B-B14F-4D97-AF65-F5344CB8AC3E}">
        <p14:creationId xmlns:p14="http://schemas.microsoft.com/office/powerpoint/2010/main" val="134370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xmlns="" id="{296D75F3-04C1-4E9D-81E3-E1BC588A8357}"/>
              </a:ext>
            </a:extLst>
          </p:cNvPr>
          <p:cNvSpPr>
            <a:spLocks noGrp="1"/>
          </p:cNvSpPr>
          <p:nvPr>
            <p:ph idx="1"/>
          </p:nvPr>
        </p:nvSpPr>
        <p:spPr>
          <a:xfrm>
            <a:off x="250825" y="838200"/>
            <a:ext cx="8642350" cy="2012859"/>
          </a:xfrm>
        </p:spPr>
        <p:txBody>
          <a:bodyPr/>
          <a:lstStyle/>
          <a:p>
            <a:r>
              <a:rPr lang="zh-CN" altLang="en-US" dirty="0"/>
              <a:t>按标准要求每个实验输出一个中间过程，实现一个</a:t>
            </a:r>
            <a:r>
              <a:rPr lang="en-US" altLang="zh-CN" dirty="0"/>
              <a:t>c/</a:t>
            </a:r>
            <a:r>
              <a:rPr lang="en-US" altLang="zh-CN" dirty="0" err="1"/>
              <a:t>c++</a:t>
            </a:r>
            <a:r>
              <a:rPr lang="zh-CN" altLang="en-US" dirty="0"/>
              <a:t>代码，需要</a:t>
            </a:r>
            <a:r>
              <a:rPr lang="en-US" altLang="zh-CN" dirty="0" err="1"/>
              <a:t>makefile</a:t>
            </a:r>
            <a:r>
              <a:rPr lang="zh-CN" altLang="en-US" dirty="0"/>
              <a:t>完成项目管理</a:t>
            </a:r>
            <a:endParaRPr lang="en-US" altLang="zh-CN" dirty="0"/>
          </a:p>
          <a:p>
            <a:r>
              <a:rPr lang="zh-CN" altLang="en-US" dirty="0"/>
              <a:t>大约需要如下个核心文件，分别为词法 </a:t>
            </a:r>
            <a:r>
              <a:rPr lang="en-US" altLang="zh-CN" dirty="0" err="1"/>
              <a:t>lexer</a:t>
            </a:r>
            <a:r>
              <a:rPr lang="zh-CN" altLang="en-US" dirty="0"/>
              <a:t>，语法</a:t>
            </a:r>
            <a:r>
              <a:rPr lang="en-US" altLang="zh-CN" dirty="0"/>
              <a:t>parser</a:t>
            </a:r>
            <a:r>
              <a:rPr lang="zh-CN" altLang="en-US" dirty="0"/>
              <a:t>，语义 </a:t>
            </a:r>
            <a:r>
              <a:rPr lang="en-US" altLang="zh-CN" dirty="0" err="1"/>
              <a:t>sementic</a:t>
            </a:r>
            <a:r>
              <a:rPr lang="zh-CN" altLang="en-US" dirty="0"/>
              <a:t>，代码生成 </a:t>
            </a:r>
            <a:r>
              <a:rPr lang="en-US" altLang="zh-CN" dirty="0"/>
              <a:t>codec</a:t>
            </a:r>
            <a:r>
              <a:rPr lang="zh-CN" altLang="en-US" dirty="0"/>
              <a:t>和</a:t>
            </a:r>
            <a:r>
              <a:rPr lang="en-US" altLang="zh-CN" dirty="0"/>
              <a:t>main</a:t>
            </a:r>
            <a:r>
              <a:rPr lang="zh-CN" altLang="en-US" dirty="0"/>
              <a:t>来实现</a:t>
            </a:r>
            <a:r>
              <a:rPr lang="en-US" altLang="zh-CN" dirty="0" err="1"/>
              <a:t>comiler</a:t>
            </a:r>
            <a:r>
              <a:rPr lang="zh-CN" altLang="en-US" dirty="0"/>
              <a:t>的主程序调用</a:t>
            </a:r>
          </a:p>
        </p:txBody>
      </p:sp>
      <p:sp>
        <p:nvSpPr>
          <p:cNvPr id="7" name="流程图: 接点 6">
            <a:extLst>
              <a:ext uri="{FF2B5EF4-FFF2-40B4-BE49-F238E27FC236}">
                <a16:creationId xmlns:a16="http://schemas.microsoft.com/office/drawing/2014/main" xmlns="" id="{D0BD9C7F-6AB4-4529-815E-6278ACEA733A}"/>
              </a:ext>
            </a:extLst>
          </p:cNvPr>
          <p:cNvSpPr/>
          <p:nvPr/>
        </p:nvSpPr>
        <p:spPr bwMode="auto">
          <a:xfrm>
            <a:off x="3048000" y="2057400"/>
            <a:ext cx="76200" cy="45719"/>
          </a:xfrm>
          <a:prstGeom prst="flowChartConnector">
            <a:avLst/>
          </a:prstGeom>
          <a:noFill/>
          <a:ln w="9525">
            <a:noFill/>
            <a:miter lim="800000"/>
            <a:headEnd/>
            <a:tailEnd/>
          </a:ln>
        </p:spPr>
        <p:txBody>
          <a:bodyPr rtlCol="0" anchor="ctr">
            <a:spAutoFit/>
          </a:bodyPr>
          <a:lstStyle/>
          <a:p>
            <a:pPr marL="342900" indent="-342900" algn="ctr" latinLnBrk="0">
              <a:spcBef>
                <a:spcPct val="20000"/>
              </a:spcBef>
              <a:buClr>
                <a:schemeClr val="accent2"/>
              </a:buClr>
              <a:buFont typeface="Wingdings" pitchFamily="2" charset="2"/>
              <a:buChar char="Ø"/>
            </a:pPr>
            <a:endParaRPr lang="zh-CN" altLang="en-US" sz="2400" dirty="0">
              <a:latin typeface="Cambria Math" panose="02040503050406030204" pitchFamily="18" charset="0"/>
              <a:ea typeface="Cambria Math" panose="02040503050406030204" pitchFamily="18" charset="0"/>
            </a:endParaRPr>
          </a:p>
        </p:txBody>
      </p:sp>
      <p:sp>
        <p:nvSpPr>
          <p:cNvPr id="9" name="矩形 8">
            <a:extLst>
              <a:ext uri="{FF2B5EF4-FFF2-40B4-BE49-F238E27FC236}">
                <a16:creationId xmlns:a16="http://schemas.microsoft.com/office/drawing/2014/main" xmlns="" id="{A5AC8D42-9D89-44EF-834E-C0CF975F7DC1}"/>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二、</a:t>
            </a:r>
            <a:r>
              <a:rPr lang="zh-CN" altLang="en-US" sz="3600" dirty="0">
                <a:solidFill>
                  <a:schemeClr val="tx1"/>
                </a:solidFill>
                <a:latin typeface="宋体" panose="02010600030101010101" pitchFamily="2" charset="-122"/>
                <a:ea typeface="黑体" panose="02010609060101010101" pitchFamily="49" charset="-122"/>
              </a:rPr>
              <a:t>实验七、八内容</a:t>
            </a:r>
            <a:endParaRPr lang="zh-CN" altLang="en-US" sz="3600" dirty="0">
              <a:solidFill>
                <a:schemeClr val="tx1"/>
              </a:solidFill>
              <a:latin typeface="宋体" panose="02010600030101010101" pitchFamily="2" charset="-122"/>
            </a:endParaRPr>
          </a:p>
        </p:txBody>
      </p:sp>
      <p:pic>
        <p:nvPicPr>
          <p:cNvPr id="10" name="图片 9">
            <a:extLst>
              <a:ext uri="{FF2B5EF4-FFF2-40B4-BE49-F238E27FC236}">
                <a16:creationId xmlns:a16="http://schemas.microsoft.com/office/drawing/2014/main" xmlns="" id="{D8FFFA63-984D-4E90-9836-6100FDA36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499" y="2971800"/>
            <a:ext cx="7439001" cy="3276600"/>
          </a:xfrm>
          <a:prstGeom prst="rect">
            <a:avLst/>
          </a:prstGeom>
        </p:spPr>
      </p:pic>
    </p:spTree>
    <p:extLst>
      <p:ext uri="{BB962C8B-B14F-4D97-AF65-F5344CB8AC3E}">
        <p14:creationId xmlns:p14="http://schemas.microsoft.com/office/powerpoint/2010/main" val="3040031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929661F-428C-4A33-9BF1-783CF1D24A72}"/>
              </a:ext>
            </a:extLst>
          </p:cNvPr>
          <p:cNvSpPr>
            <a:spLocks noGrp="1"/>
          </p:cNvSpPr>
          <p:nvPr>
            <p:ph type="title"/>
          </p:nvPr>
        </p:nvSpPr>
        <p:spPr/>
        <p:txBody>
          <a:bodyPr/>
          <a:lstStyle/>
          <a:p>
            <a:endParaRPr lang="zh-CN" altLang="en-US"/>
          </a:p>
        </p:txBody>
      </p:sp>
      <p:sp>
        <p:nvSpPr>
          <p:cNvPr id="10" name="矩形 9">
            <a:extLst>
              <a:ext uri="{FF2B5EF4-FFF2-40B4-BE49-F238E27FC236}">
                <a16:creationId xmlns:a16="http://schemas.microsoft.com/office/drawing/2014/main" xmlns="" id="{8C1A19E3-C0FD-4C9E-BD8B-6FDBB699A1D1}"/>
              </a:ext>
            </a:extLst>
          </p:cNvPr>
          <p:cNvSpPr>
            <a:spLocks noChangeArrowheads="1"/>
          </p:cNvSpPr>
          <p:nvPr/>
        </p:nvSpPr>
        <p:spPr bwMode="auto">
          <a:xfrm>
            <a:off x="0" y="0"/>
            <a:ext cx="4897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r>
              <a:rPr lang="zh-CN" altLang="en-US" sz="3600" dirty="0">
                <a:solidFill>
                  <a:schemeClr val="tx1"/>
                </a:solidFill>
                <a:latin typeface="Tahoma" panose="020B0604030504040204" pitchFamily="34" charset="0"/>
                <a:ea typeface="黑体" panose="02010609060101010101" pitchFamily="49" charset="-122"/>
              </a:rPr>
              <a:t>二、</a:t>
            </a:r>
            <a:r>
              <a:rPr lang="zh-CN" altLang="en-US" sz="3600" dirty="0">
                <a:solidFill>
                  <a:schemeClr val="tx1"/>
                </a:solidFill>
                <a:latin typeface="宋体" panose="02010600030101010101" pitchFamily="2" charset="-122"/>
                <a:ea typeface="黑体" panose="02010609060101010101" pitchFamily="49" charset="-122"/>
              </a:rPr>
              <a:t>实验七、八内容</a:t>
            </a:r>
            <a:endParaRPr lang="zh-CN" altLang="en-US" sz="3600" dirty="0">
              <a:solidFill>
                <a:schemeClr val="tx1"/>
              </a:solidFill>
              <a:latin typeface="宋体" panose="02010600030101010101" pitchFamily="2" charset="-122"/>
            </a:endParaRPr>
          </a:p>
        </p:txBody>
      </p:sp>
      <p:sp>
        <p:nvSpPr>
          <p:cNvPr id="4" name="内容占位符 3">
            <a:extLst>
              <a:ext uri="{FF2B5EF4-FFF2-40B4-BE49-F238E27FC236}">
                <a16:creationId xmlns:a16="http://schemas.microsoft.com/office/drawing/2014/main" xmlns="" id="{74E77E1F-BF0B-4EC9-9122-6FEC78F3DA55}"/>
              </a:ext>
            </a:extLst>
          </p:cNvPr>
          <p:cNvSpPr>
            <a:spLocks noGrp="1"/>
          </p:cNvSpPr>
          <p:nvPr>
            <p:ph idx="1"/>
          </p:nvPr>
        </p:nvSpPr>
        <p:spPr>
          <a:xfrm>
            <a:off x="76200" y="981074"/>
            <a:ext cx="8888411" cy="2973122"/>
          </a:xfrm>
        </p:spPr>
        <p:txBody>
          <a:bodyPr/>
          <a:lstStyle/>
          <a:p>
            <a:r>
              <a:rPr lang="zh-CN" altLang="en-US" dirty="0"/>
              <a:t>词法部分，</a:t>
            </a:r>
            <a:r>
              <a:rPr lang="en-US" altLang="zh-CN" dirty="0"/>
              <a:t>scanner()</a:t>
            </a:r>
            <a:r>
              <a:rPr lang="zh-CN" altLang="en-US" dirty="0"/>
              <a:t>或者</a:t>
            </a:r>
            <a:r>
              <a:rPr lang="en-US" altLang="zh-CN" dirty="0" err="1"/>
              <a:t>lexer</a:t>
            </a:r>
            <a:r>
              <a:rPr lang="en-US" altLang="zh-CN" dirty="0"/>
              <a:t>()</a:t>
            </a:r>
            <a:r>
              <a:rPr lang="zh-CN" altLang="en-US" dirty="0"/>
              <a:t>没有问题，实验</a:t>
            </a:r>
            <a:r>
              <a:rPr lang="en-US" altLang="zh-CN" dirty="0"/>
              <a:t>2</a:t>
            </a:r>
            <a:r>
              <a:rPr lang="zh-CN" altLang="en-US" dirty="0"/>
              <a:t>完成度很高</a:t>
            </a:r>
            <a:endParaRPr lang="en-US" altLang="zh-CN" dirty="0"/>
          </a:p>
          <a:p>
            <a:r>
              <a:rPr lang="zh-CN" altLang="en-US" dirty="0"/>
              <a:t>语法，</a:t>
            </a:r>
            <a:r>
              <a:rPr lang="en-US" altLang="zh-CN" dirty="0"/>
              <a:t>Parser</a:t>
            </a:r>
            <a:r>
              <a:rPr lang="zh-CN" altLang="en-US" dirty="0"/>
              <a:t>，实现类</a:t>
            </a:r>
            <a:r>
              <a:rPr lang="en-US" altLang="zh-CN" dirty="0"/>
              <a:t>c</a:t>
            </a:r>
            <a:r>
              <a:rPr lang="zh-CN" altLang="en-US" dirty="0"/>
              <a:t>的语法，需要实现</a:t>
            </a:r>
            <a:r>
              <a:rPr lang="en-US" altLang="zh-CN" dirty="0" err="1"/>
              <a:t>slr</a:t>
            </a:r>
            <a:r>
              <a:rPr lang="zh-CN" altLang="en-US" dirty="0"/>
              <a:t>分析表，对于可接受的语句进行规约，实验</a:t>
            </a:r>
            <a:r>
              <a:rPr lang="en-US" altLang="zh-CN" dirty="0"/>
              <a:t>3</a:t>
            </a:r>
            <a:r>
              <a:rPr lang="zh-CN" altLang="en-US" dirty="0"/>
              <a:t>，</a:t>
            </a:r>
            <a:r>
              <a:rPr lang="en-US" altLang="zh-CN" dirty="0"/>
              <a:t>4</a:t>
            </a:r>
            <a:r>
              <a:rPr lang="zh-CN" altLang="en-US" dirty="0"/>
              <a:t>，</a:t>
            </a:r>
            <a:r>
              <a:rPr lang="en-US" altLang="zh-CN" dirty="0"/>
              <a:t>5</a:t>
            </a:r>
            <a:r>
              <a:rPr lang="zh-CN" altLang="en-US" dirty="0"/>
              <a:t>是</a:t>
            </a:r>
            <a:r>
              <a:rPr lang="en-US" altLang="zh-CN" dirty="0" err="1"/>
              <a:t>slr</a:t>
            </a:r>
            <a:r>
              <a:rPr lang="zh-CN" altLang="en-US" dirty="0"/>
              <a:t>部分</a:t>
            </a:r>
            <a:endParaRPr lang="en-US" altLang="zh-CN" dirty="0"/>
          </a:p>
          <a:p>
            <a:r>
              <a:rPr lang="zh-CN" altLang="en-US" dirty="0"/>
              <a:t>语义和代码生成部分，体现在符号表设计</a:t>
            </a:r>
            <a:endParaRPr lang="en-US" altLang="zh-CN" dirty="0"/>
          </a:p>
          <a:p>
            <a:r>
              <a:rPr lang="zh-CN" altLang="en-US" dirty="0"/>
              <a:t>最简洁的方式，就是从源代码分析，到词法到四元式输出</a:t>
            </a:r>
            <a:endParaRPr lang="en-US" altLang="zh-CN" dirty="0"/>
          </a:p>
          <a:p>
            <a:r>
              <a:rPr lang="zh-CN" altLang="en-US" dirty="0"/>
              <a:t>提供了若干参考代码供大家验收使用，验收过程如原创请说出自己工作量或创新</a:t>
            </a:r>
            <a:endParaRPr lang="en-US" altLang="zh-CN" dirty="0"/>
          </a:p>
        </p:txBody>
      </p:sp>
    </p:spTree>
    <p:extLst>
      <p:ext uri="{BB962C8B-B14F-4D97-AF65-F5344CB8AC3E}">
        <p14:creationId xmlns:p14="http://schemas.microsoft.com/office/powerpoint/2010/main" val="2861713742"/>
      </p:ext>
    </p:extLst>
  </p:cSld>
  <p:clrMapOvr>
    <a:masterClrMapping/>
  </p:clrMapOvr>
</p:sld>
</file>

<file path=ppt/theme/theme1.xml><?xml version="1.0" encoding="utf-8"?>
<a:theme xmlns:a="http://schemas.openxmlformats.org/drawingml/2006/main" name="默认设计模板">
  <a:themeElements>
    <a:clrScheme name="默认设计模板 14">
      <a:dk1>
        <a:srgbClr val="000000"/>
      </a:dk1>
      <a:lt1>
        <a:srgbClr val="FFFFD9"/>
      </a:lt1>
      <a:dk2>
        <a:srgbClr val="000000"/>
      </a:dk2>
      <a:lt2>
        <a:srgbClr val="777777"/>
      </a:lt2>
      <a:accent1>
        <a:srgbClr val="F8F8F8"/>
      </a:accent1>
      <a:accent2>
        <a:srgbClr val="6600CC"/>
      </a:accent2>
      <a:accent3>
        <a:srgbClr val="FFFFE9"/>
      </a:accent3>
      <a:accent4>
        <a:srgbClr val="000000"/>
      </a:accent4>
      <a:accent5>
        <a:srgbClr val="FBFBFB"/>
      </a:accent5>
      <a:accent6>
        <a:srgbClr val="5C00B9"/>
      </a:accent6>
      <a:hlink>
        <a:srgbClr val="FF5050"/>
      </a:hlink>
      <a:folHlink>
        <a:srgbClr val="FF9900"/>
      </a:folHlink>
    </a:clrScheme>
    <a:fontScheme name="默认设计模板">
      <a:majorFont>
        <a:latin typeface="New Century Schoolbook"/>
        <a:ea typeface="仿宋_GB2312"/>
        <a:cs typeface=""/>
      </a:majorFont>
      <a:minorFont>
        <a:latin typeface="New Century Schoolbook"/>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000000"/>
        </a:dk2>
        <a:lt2>
          <a:srgbClr val="777777"/>
        </a:lt2>
        <a:accent1>
          <a:srgbClr val="EFFEDA"/>
        </a:accent1>
        <a:accent2>
          <a:srgbClr val="6600CC"/>
        </a:accent2>
        <a:accent3>
          <a:srgbClr val="FFFFE9"/>
        </a:accent3>
        <a:accent4>
          <a:srgbClr val="000000"/>
        </a:accent4>
        <a:accent5>
          <a:srgbClr val="F6FEEA"/>
        </a:accent5>
        <a:accent6>
          <a:srgbClr val="5C00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14">
        <a:dk1>
          <a:srgbClr val="000000"/>
        </a:dk1>
        <a:lt1>
          <a:srgbClr val="FFFFD9"/>
        </a:lt1>
        <a:dk2>
          <a:srgbClr val="000000"/>
        </a:dk2>
        <a:lt2>
          <a:srgbClr val="777777"/>
        </a:lt2>
        <a:accent1>
          <a:srgbClr val="F8F8F8"/>
        </a:accent1>
        <a:accent2>
          <a:srgbClr val="6600CC"/>
        </a:accent2>
        <a:accent3>
          <a:srgbClr val="FFFFE9"/>
        </a:accent3>
        <a:accent4>
          <a:srgbClr val="000000"/>
        </a:accent4>
        <a:accent5>
          <a:srgbClr val="FBFBFB"/>
        </a:accent5>
        <a:accent6>
          <a:srgbClr val="5C00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ettymono03">
  <a:themeElements>
    <a:clrScheme name="bettymono03 5">
      <a:dk1>
        <a:srgbClr val="000000"/>
      </a:dk1>
      <a:lt1>
        <a:srgbClr val="FFFFFF"/>
      </a:lt1>
      <a:dk2>
        <a:srgbClr val="000066"/>
      </a:dk2>
      <a:lt2>
        <a:srgbClr val="CCFFFF"/>
      </a:lt2>
      <a:accent1>
        <a:srgbClr val="000068"/>
      </a:accent1>
      <a:accent2>
        <a:srgbClr val="2BD1B9"/>
      </a:accent2>
      <a:accent3>
        <a:srgbClr val="FFFFFF"/>
      </a:accent3>
      <a:accent4>
        <a:srgbClr val="000000"/>
      </a:accent4>
      <a:accent5>
        <a:srgbClr val="AAAAB9"/>
      </a:accent5>
      <a:accent6>
        <a:srgbClr val="26BDA7"/>
      </a:accent6>
      <a:hlink>
        <a:srgbClr val="87D7FF"/>
      </a:hlink>
      <a:folHlink>
        <a:srgbClr val="969696"/>
      </a:folHlink>
    </a:clrScheme>
    <a:fontScheme name="bettymono03">
      <a:majorFont>
        <a:latin typeface="New Century Schoolbook"/>
        <a:ea typeface="黑体"/>
        <a:cs typeface=""/>
      </a:majorFont>
      <a:minorFont>
        <a:latin typeface="New Century Schoolboo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noFill/>
          <a:miter lim="800000"/>
          <a:headEnd/>
          <a:tailEnd/>
        </a:ln>
      </a:spPr>
      <a:bodyPr>
        <a:spAutoFit/>
      </a:bodyPr>
      <a:lstStyle>
        <a:defPPr marL="342900" indent="-342900" latinLnBrk="0">
          <a:spcBef>
            <a:spcPct val="20000"/>
          </a:spcBef>
          <a:buClr>
            <a:schemeClr val="accent2"/>
          </a:buClr>
          <a:buFont typeface="Wingdings" pitchFamily="2" charset="2"/>
          <a:buChar char="Ø"/>
          <a:defRPr sz="2400" dirty="0" smtClean="0">
            <a:latin typeface="Cambria Math" panose="02040503050406030204" pitchFamily="18" charset="0"/>
            <a:ea typeface="Cambria Math" panose="020405030504060302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Gulim" pitchFamily="34" charset="-127"/>
            <a:ea typeface="Gulim" pitchFamily="34" charset="-127"/>
          </a:defRPr>
        </a:defPPr>
      </a:lstStyle>
    </a:lnDef>
    <a:txDef>
      <a:spPr bwMode="auto">
        <a:noFill/>
        <a:ln w="9525" algn="ctr">
          <a:solidFill>
            <a:schemeClr val="tx1"/>
          </a:solidFill>
          <a:miter lim="800000"/>
          <a:headEnd/>
          <a:tailEnd/>
        </a:ln>
      </a:spPr>
      <a:bodyPr/>
      <a:lstStyle>
        <a:defPPr eaLnBrk="1" hangingPunct="1">
          <a:spcBef>
            <a:spcPct val="50000"/>
          </a:spcBef>
          <a:defRPr b="1">
            <a:latin typeface="Times New Roman" pitchFamily="18" charset="0"/>
          </a:defRPr>
        </a:defPPr>
      </a:lstStyle>
    </a:txDef>
  </a:objectDefaults>
  <a:extraClrSchemeLst>
    <a:extraClrScheme>
      <a:clrScheme name="bettymono03 1">
        <a:dk1>
          <a:srgbClr val="000000"/>
        </a:dk1>
        <a:lt1>
          <a:srgbClr val="FFFFFF"/>
        </a:lt1>
        <a:dk2>
          <a:srgbClr val="000000"/>
        </a:dk2>
        <a:lt2>
          <a:srgbClr val="CCFFFF"/>
        </a:lt2>
        <a:accent1>
          <a:srgbClr val="003399"/>
        </a:accent1>
        <a:accent2>
          <a:srgbClr val="FF9933"/>
        </a:accent2>
        <a:accent3>
          <a:srgbClr val="FFFFFF"/>
        </a:accent3>
        <a:accent4>
          <a:srgbClr val="000000"/>
        </a:accent4>
        <a:accent5>
          <a:srgbClr val="AAADCA"/>
        </a:accent5>
        <a:accent6>
          <a:srgbClr val="E78A2D"/>
        </a:accent6>
        <a:hlink>
          <a:srgbClr val="6699FF"/>
        </a:hlink>
        <a:folHlink>
          <a:srgbClr val="83A6A7"/>
        </a:folHlink>
      </a:clrScheme>
      <a:clrMap bg1="lt1" tx1="dk1" bg2="lt2" tx2="dk2" accent1="accent1" accent2="accent2" accent3="accent3" accent4="accent4" accent5="accent5" accent6="accent6" hlink="hlink" folHlink="folHlink"/>
    </a:extraClrScheme>
    <a:extraClrScheme>
      <a:clrScheme name="bettymono03 2">
        <a:dk1>
          <a:srgbClr val="000000"/>
        </a:dk1>
        <a:lt1>
          <a:srgbClr val="FFFFFF"/>
        </a:lt1>
        <a:dk2>
          <a:srgbClr val="000000"/>
        </a:dk2>
        <a:lt2>
          <a:srgbClr val="CCCCFF"/>
        </a:lt2>
        <a:accent1>
          <a:srgbClr val="3E009A"/>
        </a:accent1>
        <a:accent2>
          <a:srgbClr val="FF9933"/>
        </a:accent2>
        <a:accent3>
          <a:srgbClr val="FFFFFF"/>
        </a:accent3>
        <a:accent4>
          <a:srgbClr val="000000"/>
        </a:accent4>
        <a:accent5>
          <a:srgbClr val="AFAACA"/>
        </a:accent5>
        <a:accent6>
          <a:srgbClr val="E78A2D"/>
        </a:accent6>
        <a:hlink>
          <a:srgbClr val="FFE161"/>
        </a:hlink>
        <a:folHlink>
          <a:srgbClr val="83A6A7"/>
        </a:folHlink>
      </a:clrScheme>
      <a:clrMap bg1="lt1" tx1="dk1" bg2="lt2" tx2="dk2" accent1="accent1" accent2="accent2" accent3="accent3" accent4="accent4" accent5="accent5" accent6="accent6" hlink="hlink" folHlink="folHlink"/>
    </a:extraClrScheme>
    <a:extraClrScheme>
      <a:clrScheme name="bettymono03 3">
        <a:dk1>
          <a:srgbClr val="000000"/>
        </a:dk1>
        <a:lt1>
          <a:srgbClr val="FFFFFF"/>
        </a:lt1>
        <a:dk2>
          <a:srgbClr val="000000"/>
        </a:dk2>
        <a:lt2>
          <a:srgbClr val="CCFFCC"/>
        </a:lt2>
        <a:accent1>
          <a:srgbClr val="004240"/>
        </a:accent1>
        <a:accent2>
          <a:srgbClr val="7FBE00"/>
        </a:accent2>
        <a:accent3>
          <a:srgbClr val="FFFFFF"/>
        </a:accent3>
        <a:accent4>
          <a:srgbClr val="000000"/>
        </a:accent4>
        <a:accent5>
          <a:srgbClr val="AAB0AF"/>
        </a:accent5>
        <a:accent6>
          <a:srgbClr val="72AC00"/>
        </a:accent6>
        <a:hlink>
          <a:srgbClr val="FFFF99"/>
        </a:hlink>
        <a:folHlink>
          <a:srgbClr val="83A6A7"/>
        </a:folHlink>
      </a:clrScheme>
      <a:clrMap bg1="lt1" tx1="dk1" bg2="lt2" tx2="dk2" accent1="accent1" accent2="accent2" accent3="accent3" accent4="accent4" accent5="accent5" accent6="accent6" hlink="hlink" folHlink="folHlink"/>
    </a:extraClrScheme>
    <a:extraClrScheme>
      <a:clrScheme name="bettymono03 4">
        <a:dk1>
          <a:srgbClr val="000000"/>
        </a:dk1>
        <a:lt1>
          <a:srgbClr val="FFFFFF"/>
        </a:lt1>
        <a:dk2>
          <a:srgbClr val="000000"/>
        </a:dk2>
        <a:lt2>
          <a:srgbClr val="CCFFCC"/>
        </a:lt2>
        <a:accent1>
          <a:srgbClr val="000000"/>
        </a:accent1>
        <a:accent2>
          <a:srgbClr val="33CCFF"/>
        </a:accent2>
        <a:accent3>
          <a:srgbClr val="FFFFFF"/>
        </a:accent3>
        <a:accent4>
          <a:srgbClr val="000000"/>
        </a:accent4>
        <a:accent5>
          <a:srgbClr val="AAAAAA"/>
        </a:accent5>
        <a:accent6>
          <a:srgbClr val="2DB9E7"/>
        </a:accent6>
        <a:hlink>
          <a:srgbClr val="99FFCC"/>
        </a:hlink>
        <a:folHlink>
          <a:srgbClr val="83A6A7"/>
        </a:folHlink>
      </a:clrScheme>
      <a:clrMap bg1="lt1" tx1="dk1" bg2="lt2" tx2="dk2" accent1="accent1" accent2="accent2" accent3="accent3" accent4="accent4" accent5="accent5" accent6="accent6" hlink="hlink" folHlink="folHlink"/>
    </a:extraClrScheme>
    <a:extraClrScheme>
      <a:clrScheme name="bettymono03 5">
        <a:dk1>
          <a:srgbClr val="000000"/>
        </a:dk1>
        <a:lt1>
          <a:srgbClr val="FFFFFF"/>
        </a:lt1>
        <a:dk2>
          <a:srgbClr val="000066"/>
        </a:dk2>
        <a:lt2>
          <a:srgbClr val="CCFFFF"/>
        </a:lt2>
        <a:accent1>
          <a:srgbClr val="000068"/>
        </a:accent1>
        <a:accent2>
          <a:srgbClr val="2BD1B9"/>
        </a:accent2>
        <a:accent3>
          <a:srgbClr val="FFFFFF"/>
        </a:accent3>
        <a:accent4>
          <a:srgbClr val="000000"/>
        </a:accent4>
        <a:accent5>
          <a:srgbClr val="AAAAB9"/>
        </a:accent5>
        <a:accent6>
          <a:srgbClr val="26BDA7"/>
        </a:accent6>
        <a:hlink>
          <a:srgbClr val="87D7FF"/>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13736</TotalTime>
  <Words>1010</Words>
  <Application>Microsoft Office PowerPoint</Application>
  <PresentationFormat>全屏显示(4:3)</PresentationFormat>
  <Paragraphs>103</Paragraphs>
  <Slides>16</Slides>
  <Notes>0</Notes>
  <HiddenSlides>0</HiddenSlides>
  <MMClips>0</MMClips>
  <ScaleCrop>false</ScaleCrop>
  <HeadingPairs>
    <vt:vector size="4" baseType="variant">
      <vt:variant>
        <vt:lpstr>主题</vt:lpstr>
      </vt:variant>
      <vt:variant>
        <vt:i4>2</vt:i4>
      </vt:variant>
      <vt:variant>
        <vt:lpstr>幻灯片标题</vt:lpstr>
      </vt:variant>
      <vt:variant>
        <vt:i4>16</vt:i4>
      </vt:variant>
    </vt:vector>
  </HeadingPairs>
  <TitlesOfParts>
    <vt:vector size="18" baseType="lpstr">
      <vt:lpstr>默认设计模板</vt:lpstr>
      <vt:lpstr>bettymono03</vt:lpstr>
      <vt:lpstr>编译器设计专题实验课2025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CUHK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andrejb</dc:creator>
  <cp:lastModifiedBy>微软用户</cp:lastModifiedBy>
  <cp:revision>756</cp:revision>
  <cp:lastPrinted>2011-10-10T03:21:30Z</cp:lastPrinted>
  <dcterms:created xsi:type="dcterms:W3CDTF">2010-10-06T02:55:19Z</dcterms:created>
  <dcterms:modified xsi:type="dcterms:W3CDTF">2025-05-26T00:55:15Z</dcterms:modified>
</cp:coreProperties>
</file>