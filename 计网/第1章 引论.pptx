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2.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 id="2147483672" r:id="rId3"/>
    <p:sldMasterId id="2147483684" r:id="rId4"/>
  </p:sldMasterIdLst>
  <p:notesMasterIdLst>
    <p:notesMasterId r:id="rId44"/>
  </p:notesMasterIdLst>
  <p:handoutMasterIdLst>
    <p:handoutMasterId r:id="rId45"/>
  </p:handoutMasterIdLst>
  <p:sldIdLst>
    <p:sldId id="464" r:id="rId5"/>
    <p:sldId id="417" r:id="rId6"/>
    <p:sldId id="382" r:id="rId7"/>
    <p:sldId id="413" r:id="rId8"/>
    <p:sldId id="270" r:id="rId9"/>
    <p:sldId id="271" r:id="rId10"/>
    <p:sldId id="416" r:id="rId11"/>
    <p:sldId id="273" r:id="rId12"/>
    <p:sldId id="274" r:id="rId13"/>
    <p:sldId id="381" r:id="rId14"/>
    <p:sldId id="468" r:id="rId15"/>
    <p:sldId id="469" r:id="rId16"/>
    <p:sldId id="421" r:id="rId17"/>
    <p:sldId id="470" r:id="rId18"/>
    <p:sldId id="418" r:id="rId19"/>
    <p:sldId id="278" r:id="rId20"/>
    <p:sldId id="398" r:id="rId21"/>
    <p:sldId id="280" r:id="rId22"/>
    <p:sldId id="400" r:id="rId23"/>
    <p:sldId id="282" r:id="rId24"/>
    <p:sldId id="402" r:id="rId25"/>
    <p:sldId id="412" r:id="rId26"/>
    <p:sldId id="483" r:id="rId27"/>
    <p:sldId id="395" r:id="rId28"/>
    <p:sldId id="406" r:id="rId29"/>
    <p:sldId id="404" r:id="rId30"/>
    <p:sldId id="471" r:id="rId31"/>
    <p:sldId id="473" r:id="rId32"/>
    <p:sldId id="474" r:id="rId33"/>
    <p:sldId id="478" r:id="rId34"/>
    <p:sldId id="479" r:id="rId35"/>
    <p:sldId id="480" r:id="rId36"/>
    <p:sldId id="475" r:id="rId37"/>
    <p:sldId id="481" r:id="rId38"/>
    <p:sldId id="315" r:id="rId39"/>
    <p:sldId id="314" r:id="rId40"/>
    <p:sldId id="317" r:id="rId41"/>
    <p:sldId id="376" r:id="rId42"/>
    <p:sldId id="316" r:id="rId43"/>
  </p:sldIdLst>
  <p:sldSz cx="9144000" cy="6858000" type="screen4x3"/>
  <p:notesSz cx="6858000" cy="9144000"/>
  <p:custDataLst>
    <p:tags r:id="rId46"/>
  </p:custDataLst>
  <p:defaultTextStyle>
    <a:defPPr>
      <a:defRPr lang="zh-CN"/>
    </a:defPPr>
    <a:lvl1pPr marL="0" lvl="0" indent="0" algn="l" defTabSz="914400" rtl="0" eaLnBrk="1" fontAlgn="base" latinLnBrk="0" hangingPunct="1">
      <a:lnSpc>
        <a:spcPct val="100000"/>
      </a:lnSpc>
      <a:spcBef>
        <a:spcPct val="0"/>
      </a:spcBef>
      <a:spcAft>
        <a:spcPct val="0"/>
      </a:spcAft>
      <a:buClr>
        <a:srgbClr val="3366FF"/>
      </a:buClr>
      <a:buFont typeface="Wingdings" panose="05000000000000000000" pitchFamily="2" charset="2"/>
      <a:buChar char="l"/>
      <a:defRPr sz="2800" b="0" i="0" u="none" kern="1200" baseline="0">
        <a:solidFill>
          <a:schemeClr val="accent2"/>
        </a:solidFill>
        <a:latin typeface="Times New Roman" panose="02020603050405020304" pitchFamily="18" charset="0"/>
        <a:ea typeface="黑体" panose="02010609060101010101" pitchFamily="49" charset="-122"/>
        <a:cs typeface="+mn-cs"/>
      </a:defRPr>
    </a:lvl1pPr>
    <a:lvl2pPr marL="457200" lvl="1" indent="0" algn="l" defTabSz="914400" rtl="0" eaLnBrk="1" fontAlgn="base" latinLnBrk="0" hangingPunct="1">
      <a:lnSpc>
        <a:spcPct val="100000"/>
      </a:lnSpc>
      <a:spcBef>
        <a:spcPct val="0"/>
      </a:spcBef>
      <a:spcAft>
        <a:spcPct val="0"/>
      </a:spcAft>
      <a:buClr>
        <a:srgbClr val="3366FF"/>
      </a:buClr>
      <a:buFont typeface="Wingdings" panose="05000000000000000000" pitchFamily="2" charset="2"/>
      <a:buChar char="l"/>
      <a:defRPr sz="2800" b="0" i="0" u="none" kern="1200" baseline="0">
        <a:solidFill>
          <a:schemeClr val="accent2"/>
        </a:solidFill>
        <a:latin typeface="Times New Roman" panose="02020603050405020304" pitchFamily="18" charset="0"/>
        <a:ea typeface="黑体" panose="02010609060101010101" pitchFamily="49" charset="-122"/>
        <a:cs typeface="+mn-cs"/>
      </a:defRPr>
    </a:lvl2pPr>
    <a:lvl3pPr marL="914400" lvl="2" indent="0" algn="l" defTabSz="914400" rtl="0" eaLnBrk="1" fontAlgn="base" latinLnBrk="0" hangingPunct="1">
      <a:lnSpc>
        <a:spcPct val="100000"/>
      </a:lnSpc>
      <a:spcBef>
        <a:spcPct val="0"/>
      </a:spcBef>
      <a:spcAft>
        <a:spcPct val="0"/>
      </a:spcAft>
      <a:buClr>
        <a:srgbClr val="3366FF"/>
      </a:buClr>
      <a:buFont typeface="Wingdings" panose="05000000000000000000" pitchFamily="2" charset="2"/>
      <a:buChar char="l"/>
      <a:defRPr sz="2800" b="0" i="0" u="none" kern="1200" baseline="0">
        <a:solidFill>
          <a:schemeClr val="accent2"/>
        </a:solidFill>
        <a:latin typeface="Times New Roman" panose="02020603050405020304" pitchFamily="18" charset="0"/>
        <a:ea typeface="黑体" panose="02010609060101010101" pitchFamily="49" charset="-122"/>
        <a:cs typeface="+mn-cs"/>
      </a:defRPr>
    </a:lvl3pPr>
    <a:lvl4pPr marL="1371600" lvl="3" indent="0" algn="l" defTabSz="914400" rtl="0" eaLnBrk="1" fontAlgn="base" latinLnBrk="0" hangingPunct="1">
      <a:lnSpc>
        <a:spcPct val="100000"/>
      </a:lnSpc>
      <a:spcBef>
        <a:spcPct val="0"/>
      </a:spcBef>
      <a:spcAft>
        <a:spcPct val="0"/>
      </a:spcAft>
      <a:buClr>
        <a:srgbClr val="3366FF"/>
      </a:buClr>
      <a:buFont typeface="Wingdings" panose="05000000000000000000" pitchFamily="2" charset="2"/>
      <a:buChar char="l"/>
      <a:defRPr sz="2800" b="0" i="0" u="none" kern="1200" baseline="0">
        <a:solidFill>
          <a:schemeClr val="accent2"/>
        </a:solidFill>
        <a:latin typeface="Times New Roman" panose="02020603050405020304" pitchFamily="18" charset="0"/>
        <a:ea typeface="黑体" panose="02010609060101010101" pitchFamily="49" charset="-122"/>
        <a:cs typeface="+mn-cs"/>
      </a:defRPr>
    </a:lvl4pPr>
    <a:lvl5pPr marL="1828800" lvl="4" indent="0" algn="l" defTabSz="914400" rtl="0" eaLnBrk="1" fontAlgn="base" latinLnBrk="0" hangingPunct="1">
      <a:lnSpc>
        <a:spcPct val="100000"/>
      </a:lnSpc>
      <a:spcBef>
        <a:spcPct val="0"/>
      </a:spcBef>
      <a:spcAft>
        <a:spcPct val="0"/>
      </a:spcAft>
      <a:buClr>
        <a:srgbClr val="3366FF"/>
      </a:buClr>
      <a:buFont typeface="Wingdings" panose="05000000000000000000" pitchFamily="2" charset="2"/>
      <a:buChar char="l"/>
      <a:defRPr sz="2800" b="0" i="0" u="none" kern="1200" baseline="0">
        <a:solidFill>
          <a:schemeClr val="accent2"/>
        </a:solidFill>
        <a:latin typeface="Times New Roman" panose="02020603050405020304" pitchFamily="18" charset="0"/>
        <a:ea typeface="黑体" panose="02010609060101010101" pitchFamily="49" charset="-122"/>
        <a:cs typeface="+mn-cs"/>
      </a:defRPr>
    </a:lvl5pPr>
    <a:lvl6pPr marL="2286000" lvl="5" indent="0" algn="l" defTabSz="914400" rtl="0" eaLnBrk="1" fontAlgn="base" latinLnBrk="0" hangingPunct="1">
      <a:lnSpc>
        <a:spcPct val="100000"/>
      </a:lnSpc>
      <a:spcBef>
        <a:spcPct val="0"/>
      </a:spcBef>
      <a:spcAft>
        <a:spcPct val="0"/>
      </a:spcAft>
      <a:buClr>
        <a:srgbClr val="3366FF"/>
      </a:buClr>
      <a:buFont typeface="Wingdings" panose="05000000000000000000" pitchFamily="2" charset="2"/>
      <a:buChar char="l"/>
      <a:defRPr sz="2800" b="0" i="0" u="none" kern="1200" baseline="0">
        <a:solidFill>
          <a:schemeClr val="accent2"/>
        </a:solidFill>
        <a:latin typeface="Times New Roman" panose="02020603050405020304" pitchFamily="18" charset="0"/>
        <a:ea typeface="黑体" panose="02010609060101010101" pitchFamily="49" charset="-122"/>
        <a:cs typeface="+mn-cs"/>
      </a:defRPr>
    </a:lvl6pPr>
    <a:lvl7pPr marL="2743200" lvl="6" indent="0" algn="l" defTabSz="914400" rtl="0" eaLnBrk="1" fontAlgn="base" latinLnBrk="0" hangingPunct="1">
      <a:lnSpc>
        <a:spcPct val="100000"/>
      </a:lnSpc>
      <a:spcBef>
        <a:spcPct val="0"/>
      </a:spcBef>
      <a:spcAft>
        <a:spcPct val="0"/>
      </a:spcAft>
      <a:buClr>
        <a:srgbClr val="3366FF"/>
      </a:buClr>
      <a:buFont typeface="Wingdings" panose="05000000000000000000" pitchFamily="2" charset="2"/>
      <a:buChar char="l"/>
      <a:defRPr sz="2800" b="0" i="0" u="none" kern="1200" baseline="0">
        <a:solidFill>
          <a:schemeClr val="accent2"/>
        </a:solidFill>
        <a:latin typeface="Times New Roman" panose="02020603050405020304" pitchFamily="18" charset="0"/>
        <a:ea typeface="黑体" panose="02010609060101010101" pitchFamily="49" charset="-122"/>
        <a:cs typeface="+mn-cs"/>
      </a:defRPr>
    </a:lvl7pPr>
    <a:lvl8pPr marL="3200400" lvl="7" indent="0" algn="l" defTabSz="914400" rtl="0" eaLnBrk="1" fontAlgn="base" latinLnBrk="0" hangingPunct="1">
      <a:lnSpc>
        <a:spcPct val="100000"/>
      </a:lnSpc>
      <a:spcBef>
        <a:spcPct val="0"/>
      </a:spcBef>
      <a:spcAft>
        <a:spcPct val="0"/>
      </a:spcAft>
      <a:buClr>
        <a:srgbClr val="3366FF"/>
      </a:buClr>
      <a:buFont typeface="Wingdings" panose="05000000000000000000" pitchFamily="2" charset="2"/>
      <a:buChar char="l"/>
      <a:defRPr sz="2800" b="0" i="0" u="none" kern="1200" baseline="0">
        <a:solidFill>
          <a:schemeClr val="accent2"/>
        </a:solidFill>
        <a:latin typeface="Times New Roman" panose="02020603050405020304" pitchFamily="18" charset="0"/>
        <a:ea typeface="黑体" panose="02010609060101010101" pitchFamily="49" charset="-122"/>
        <a:cs typeface="+mn-cs"/>
      </a:defRPr>
    </a:lvl8pPr>
    <a:lvl9pPr marL="3657600" lvl="8" indent="0" algn="l" defTabSz="914400" rtl="0" eaLnBrk="1" fontAlgn="base" latinLnBrk="0" hangingPunct="1">
      <a:lnSpc>
        <a:spcPct val="100000"/>
      </a:lnSpc>
      <a:spcBef>
        <a:spcPct val="0"/>
      </a:spcBef>
      <a:spcAft>
        <a:spcPct val="0"/>
      </a:spcAft>
      <a:buClr>
        <a:srgbClr val="3366FF"/>
      </a:buClr>
      <a:buFont typeface="Wingdings" panose="05000000000000000000" pitchFamily="2" charset="2"/>
      <a:buChar char="l"/>
      <a:defRPr sz="2800" b="0" i="0" u="none" kern="1200" baseline="0">
        <a:solidFill>
          <a:schemeClr val="accent2"/>
        </a:solidFill>
        <a:latin typeface="Times New Roman" panose="02020603050405020304" pitchFamily="18" charset="0"/>
        <a:ea typeface="黑体" panose="02010609060101010101" pitchFamily="49" charset="-122"/>
        <a:cs typeface="+mn-cs"/>
      </a:defRPr>
    </a:lvl9pPr>
  </p:defaultTextStyle>
  <p:extLst>
    <p:ext uri="{EFAFB233-063F-42B5-8137-9DF3F51BA10A}">
      <p15:sldGuideLst xmlns:p15="http://schemas.microsoft.com/office/powerpoint/2012/main">
        <p15:guide id="1" orient="horz" pos="2141" userDrawn="1">
          <p15:clr>
            <a:srgbClr val="A4A3A4"/>
          </p15:clr>
        </p15:guide>
        <p15:guide id="2" pos="291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CC"/>
    <a:srgbClr val="66FFFF"/>
    <a:srgbClr val="0000CC"/>
    <a:srgbClr val="FC2704"/>
    <a:srgbClr val="FFFF66"/>
    <a:srgbClr val="FF9933"/>
    <a:srgbClr val="990033"/>
    <a:srgbClr val="FF66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8"/>
    <p:restoredTop sz="59977" autoAdjust="0"/>
  </p:normalViewPr>
  <p:slideViewPr>
    <p:cSldViewPr showGuides="1">
      <p:cViewPr>
        <p:scale>
          <a:sx n="75" d="100"/>
          <a:sy n="75" d="100"/>
        </p:scale>
        <p:origin x="54" y="54"/>
      </p:cViewPr>
      <p:guideLst>
        <p:guide orient="horz" pos="2141"/>
        <p:guide pos="2914"/>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2006" cy="72006"/>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ags" Target="tags/tag1.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slideMaster" Target="slideMasters/slideMaster1.xml"/><Relationship Id="rId6"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image" Target="../media/image13.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6658"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spcBef>
                <a:spcPct val="0"/>
              </a:spcBef>
              <a:buClrTx/>
              <a:buFontTx/>
              <a:buNone/>
              <a:defRPr sz="1200" smtClean="0">
                <a:solidFill>
                  <a:schemeClr val="tx1"/>
                </a:solidFill>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26659" name="Rectangle 3"/>
          <p:cNvSpPr>
            <a:spLocks noGrp="1" noChangeArrowheads="1"/>
          </p:cNvSpPr>
          <p:nvPr>
            <p:ph type="dt" sz="quarter"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spcBef>
                <a:spcPct val="0"/>
              </a:spcBef>
              <a:buClrTx/>
              <a:buFontTx/>
              <a:buNone/>
              <a:defRPr sz="1200" smtClean="0">
                <a:solidFill>
                  <a:schemeClr val="tx1"/>
                </a:solidFill>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26660" name="Rectangle 4"/>
          <p:cNvSpPr>
            <a:spLocks noGrp="1" noChangeArrowheads="1"/>
          </p:cNvSpPr>
          <p:nvPr>
            <p:ph type="ftr" sz="quarter" idx="2"/>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spcBef>
                <a:spcPct val="0"/>
              </a:spcBef>
              <a:buClrTx/>
              <a:buFontTx/>
              <a:buNone/>
              <a:defRPr sz="1200" smtClean="0">
                <a:solidFill>
                  <a:schemeClr val="tx1"/>
                </a:solidFill>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26661" name="Rectangle 5"/>
          <p:cNvSpPr>
            <a:spLocks noGrp="1" noChangeArrowheads="1"/>
          </p:cNvSpPr>
          <p:nvPr>
            <p:ph type="sldNum" sz="quarter" idx="3"/>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a:spcBef>
                <a:spcPct val="0"/>
              </a:spcBef>
              <a:buClrTx/>
              <a:buFontTx/>
              <a:buNone/>
              <a:defRPr sz="1200">
                <a:solidFill>
                  <a:schemeClr val="tx1"/>
                </a:solidFill>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27238F3A-1946-49E9-8BC7-F014E853EB93}" type="slidenum">
              <a:rPr kumimoji="1" lang="en-US" altLang="zh-CN"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1" lang="en-US" altLang="zh-CN"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7266" name="Rectangle 1026"/>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spcBef>
                <a:spcPct val="0"/>
              </a:spcBef>
              <a:buClrTx/>
              <a:buFontTx/>
              <a:buNone/>
              <a:defRPr sz="1200" smtClean="0">
                <a:solidFill>
                  <a:schemeClr val="tx1"/>
                </a:solidFill>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67267" name="Rectangle 1027"/>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spcBef>
                <a:spcPct val="0"/>
              </a:spcBef>
              <a:buClrTx/>
              <a:buFontTx/>
              <a:buNone/>
              <a:defRPr sz="1200" smtClean="0">
                <a:solidFill>
                  <a:schemeClr val="tx1"/>
                </a:solidFill>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100" name="Rectangle 1028"/>
          <p:cNvSpPr>
            <a:spLocks noGrp="1" noRot="1" noChangeAspect="1" noTextEdit="1"/>
          </p:cNvSpPr>
          <p:nvPr>
            <p:ph type="sldImg"/>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267269" name="Rectangle 1029"/>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第五级</a:t>
            </a:r>
          </a:p>
        </p:txBody>
      </p:sp>
      <p:sp>
        <p:nvSpPr>
          <p:cNvPr id="267270" name="Rectangle 1030"/>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spcBef>
                <a:spcPct val="0"/>
              </a:spcBef>
              <a:buClrTx/>
              <a:buFontTx/>
              <a:buNone/>
              <a:defRPr sz="1200" smtClean="0">
                <a:solidFill>
                  <a:schemeClr val="tx1"/>
                </a:solidFill>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67271" name="Rectangle 1031"/>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a:spcBef>
                <a:spcPct val="0"/>
              </a:spcBef>
              <a:buClrTx/>
              <a:buFontTx/>
              <a:buNone/>
              <a:defRPr sz="1200">
                <a:solidFill>
                  <a:schemeClr val="tx1"/>
                </a:solidFill>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4F5194CC-8AF2-45D0-AC08-5D935F5070A1}" type="slidenum">
              <a:rPr kumimoji="1" lang="en-US" altLang="zh-CN"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1" lang="en-US" altLang="zh-CN"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1031"/>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lstStyle/>
          <a:p>
            <a:pPr lvl="0" algn="r">
              <a:buClrTx/>
              <a:buFontTx/>
              <a:buNone/>
            </a:pPr>
            <a:fld id="{9A0DB2DC-4C9A-4742-B13C-FB6460FD3503}" type="slidenum">
              <a:rPr lang="en-US" altLang="zh-CN" sz="1200" dirty="0">
                <a:solidFill>
                  <a:schemeClr val="tx1"/>
                </a:solidFill>
              </a:rPr>
              <a:t>3</a:t>
            </a:fld>
            <a:endParaRPr lang="en-US" altLang="zh-CN" sz="1200" dirty="0">
              <a:solidFill>
                <a:schemeClr val="tx1"/>
              </a:solidFill>
            </a:endParaRPr>
          </a:p>
        </p:txBody>
      </p:sp>
      <p:sp>
        <p:nvSpPr>
          <p:cNvPr id="7170" name="Rectangle 2"/>
          <p:cNvSpPr>
            <a:spLocks noGrp="1" noRot="1" noChangeAspect="1" noTextEdit="1"/>
          </p:cNvSpPr>
          <p:nvPr>
            <p:ph type="sldImg"/>
          </p:nvPr>
        </p:nvSpPr>
        <p:spPr/>
      </p:sp>
      <p:sp>
        <p:nvSpPr>
          <p:cNvPr id="7171" name="Rectangle 3"/>
          <p:cNvSpPr>
            <a:spLocks noGrp="1"/>
          </p:cNvSpPr>
          <p:nvPr>
            <p:ph type="body"/>
          </p:nvPr>
        </p:nvSpPr>
        <p:spPr/>
        <p:txBody>
          <a:bodyPr wrap="square" lIns="91440" tIns="45720" rIns="91440" bIns="45720" anchor="t" anchorCtr="0"/>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理解计算机网络的准确定义，是构建后续知识体系的基础。我们将从三个不同视角解析网络定义，最终聚焦于当前学术界公认的资源共享观点。</a:t>
            </a:r>
          </a:p>
          <a:p>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计算机网络定义的三个观点：</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pPr lvl="0"/>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广义观点（通信视角）</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定义：任何实现信息传输的系统都可视为网络</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涵盖范围：包括电信网、广播电视网等传统通信系统</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局限性：未能体现计算机网络的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智能终端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特性</a:t>
            </a:r>
          </a:p>
          <a:p>
            <a:pPr lvl="0"/>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用户透明观点（虚拟化视角）</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定义：对用户呈现为单一虚拟计算机的系统</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核心特征：分布式处理（如网格计算）、位置无关性（如云服务的访问）、典型技术：中间件、分布式操作系统</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局限性：过度强调透明性，忽略底层异构性</a:t>
            </a:r>
          </a:p>
          <a:p>
            <a:pPr lvl="0"/>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资源共享观点（主流视角）</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定义：自治计算机互连实现资源共享的系统</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三大核心要素：</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r>
            <a:b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b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✓资源共享（硬件、软件、数据）</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r>
            <a:b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b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✓自治系统（独立运行的计算机）</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r>
            <a:b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b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✓协议约束（通信规则）</a:t>
            </a:r>
          </a:p>
          <a:p>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接下来我们就资源共享观点进行详细解析</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资源共享定义的三要素深度剖析</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pPr lvl="0"/>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资源共享，</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硬件资源（打印机、存储设备）、软件资源（</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SaaS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应用）、数据资源（如：互联网上的各种信息），三者当中最为重要的资源种类。</a:t>
            </a:r>
          </a:p>
          <a:p>
            <a:pPr lvl="0"/>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自治系统，</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独立启动</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停止、本地操作系统管理、故障隔离能力</a:t>
            </a:r>
          </a:p>
          <a:p>
            <a:pPr lvl="0"/>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通信协议，</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协议分层：包括物理层协议、网络层协议、应用层协议等；协议要素：语法、语义、时序。</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pPr lvl="0" eaLnBrk="1" hangingPunct="1"/>
            <a:endParaRPr lang="zh-CN" altLang="zh-CN" sz="2400"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各位同学，今天我们将系统梳理计算机网络的发展历程，从早期的单机系统演进到现代融合网络，理解这一过程对把握网络技术演进规律至关重要。</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从发展历程时间轴看，计算机网络发展的四个关键阶段：</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单计算机中心时代（</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1950s-1960s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技术特征：主机</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终端模式（如</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IBMS/360</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）、线路控制器实现简单通信</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典型系统：</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SAGE</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防空系统（首次实现远程通信）、航空订票系统（</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SABRE</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分组交换革命（</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1960s-1970s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突破性技术：存储转发机制（彻底颠覆了电路交换思想）、分组交换：存储转发的进一步改进</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里程碑事件：</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1969ARPANET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投入运行（</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4</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个节点）、</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1973Cerf</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与</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Kahn</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提出</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TCP/IP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雏形</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3.</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标准化与开放互联（</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1980s-1990s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体系结构演进：</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1984ISO</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发布</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OSI</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七层模型、</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1983TCP/IP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成为</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ARPANET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标准协议</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规模扩展：</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NSFNET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主干网建立（</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56Kbps→1.5Mbps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1989</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年</a:t>
            </a:r>
            <a:r>
              <a:rPr lang="en-US" altLang="zh-CN" sz="1200" kern="1200" dirty="0" err="1" smtClean="0">
                <a:solidFill>
                  <a:schemeClr val="tx1"/>
                </a:solidFill>
                <a:effectLst/>
                <a:latin typeface="Times New Roman" panose="02020603050405020304" pitchFamily="18" charset="0"/>
                <a:ea typeface="宋体" panose="02010600030101010101" pitchFamily="2" charset="-122"/>
                <a:cs typeface="+mn-cs"/>
              </a:rPr>
              <a:t>TimBerners</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-Lee</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发明</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WWW</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4.</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融合与创新时代（</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2000s-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至今）</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当代技术焦点于：全光网络（波分复用技术）、软件定义网络（</a:t>
            </a:r>
            <a:r>
              <a:rPr lang="en-US" altLang="zh-CN" sz="1200" kern="1200" dirty="0" err="1" smtClean="0">
                <a:solidFill>
                  <a:schemeClr val="tx1"/>
                </a:solidFill>
                <a:effectLst/>
                <a:latin typeface="Times New Roman" panose="02020603050405020304" pitchFamily="18" charset="0"/>
                <a:ea typeface="宋体" panose="02010600030101010101" pitchFamily="2" charset="-122"/>
                <a:cs typeface="+mn-cs"/>
              </a:rPr>
              <a:t>OpenFlow</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协议）、物联网（</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6LoWPAN</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适配层）</a:t>
            </a:r>
          </a:p>
          <a:p>
            <a:endParaRPr lang="zh-CN" altLang="en-US" dirty="0"/>
          </a:p>
        </p:txBody>
      </p:sp>
    </p:spTree>
    <p:extLst>
      <p:ext uri="{BB962C8B-B14F-4D97-AF65-F5344CB8AC3E}">
        <p14:creationId xmlns:p14="http://schemas.microsoft.com/office/powerpoint/2010/main" val="17509140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1031"/>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lstStyle/>
          <a:p>
            <a:pPr lvl="0" algn="r">
              <a:buClrTx/>
              <a:buFontTx/>
              <a:buNone/>
            </a:pPr>
            <a:fld id="{9A0DB2DC-4C9A-4742-B13C-FB6460FD3503}" type="slidenum">
              <a:rPr lang="en-US" altLang="zh-CN" sz="1200" dirty="0">
                <a:solidFill>
                  <a:schemeClr val="tx1"/>
                </a:solidFill>
              </a:rPr>
              <a:t>5</a:t>
            </a:fld>
            <a:endParaRPr lang="en-US" altLang="zh-CN" sz="1200" dirty="0">
              <a:solidFill>
                <a:schemeClr val="tx1"/>
              </a:solidFill>
            </a:endParaRPr>
          </a:p>
        </p:txBody>
      </p:sp>
      <p:sp>
        <p:nvSpPr>
          <p:cNvPr id="10242" name="Rectangle 2"/>
          <p:cNvSpPr>
            <a:spLocks noGrp="1" noRot="1" noChangeAspect="1" noTextEdit="1"/>
          </p:cNvSpPr>
          <p:nvPr>
            <p:ph type="sldImg"/>
          </p:nvPr>
        </p:nvSpPr>
        <p:spPr/>
      </p:sp>
      <p:sp>
        <p:nvSpPr>
          <p:cNvPr id="10243" name="Rectangle 3"/>
          <p:cNvSpPr>
            <a:spLocks noGrp="1"/>
          </p:cNvSpPr>
          <p:nvPr>
            <p:ph type="body"/>
          </p:nvPr>
        </p:nvSpPr>
        <p:spPr/>
        <p:txBody>
          <a:bodyPr wrap="square" lIns="91440" tIns="45720" rIns="91440" bIns="45720" anchor="t" anchorCtr="0"/>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首先我们将聚焦计算机网络发展初期的经典架构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单计算机中心联机系统。</a:t>
            </a:r>
          </a:p>
          <a:p>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从</a:t>
            </a:r>
            <a:r>
              <a:rPr lang="en-US" altLang="zh-CN" sz="1200" b="1" kern="1200" dirty="0" smtClean="0">
                <a:solidFill>
                  <a:schemeClr val="tx1"/>
                </a:solidFill>
                <a:effectLst/>
                <a:latin typeface="Times New Roman" panose="02020603050405020304" pitchFamily="18" charset="0"/>
                <a:ea typeface="宋体" panose="02010600030101010101" pitchFamily="2" charset="-122"/>
                <a:cs typeface="+mn-cs"/>
              </a:rPr>
              <a:t>PPT</a:t>
            </a:r>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上的系统架构示意图我们可以看到其技术特征</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pPr lvl="0"/>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集中式拓扑结构</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物理连接：主机通过多线路控制器（如</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IBM2703</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）连接终端、典型终端：电传打字机（</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TTY</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CRT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显示器</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控制模式：轮询（</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Polling</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）访问控制、主机直接管理所有终端状态</a:t>
            </a:r>
          </a:p>
          <a:p>
            <a:pPr lvl="0"/>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代表性系统</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美国航空</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SABRE</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系统（</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1964</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年部署）：连接了</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2000+</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终端，能够实现实时票务处理</a:t>
            </a:r>
          </a:p>
          <a:p>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联机系统存在三大固有缺陷</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pPr lvl="0"/>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主机负荷瓶颈</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量化分析：处理开销，每次</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I/O</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操作需</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CPU</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介入；内存限制，早期主机内存以</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KB</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计（如</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IBM7090</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仅</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144KB</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典型案例：</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1960</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年代</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MIT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兼容分时系统</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CTSS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出现严重响应延迟</a:t>
            </a:r>
          </a:p>
          <a:p>
            <a:pPr lvl="0"/>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线路利用率低下</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通信模式缺陷：独占式连接（类比电路交换）、突发数据传输导致链路空闲率</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&gt;70%</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对比效果：相同业务量下，分组交换线路利用率提升</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3-5</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倍</a:t>
            </a:r>
          </a:p>
          <a:p>
            <a:pPr lvl="0"/>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可靠性风险</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单点故障影响：主机宕机</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全网瘫痪、线路故障</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终端脱网、</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改进尝试：引入备用主机（成本高昂）、采用多点控制器（仅局部改善）</a:t>
            </a:r>
          </a:p>
          <a:p>
            <a:pPr lvl="0" eaLnBrk="1" hangingPunct="1"/>
            <a:endParaRPr lang="zh-CN" altLang="zh-CN"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1031"/>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lstStyle/>
          <a:p>
            <a:pPr lvl="0" algn="r">
              <a:buClrTx/>
              <a:buFontTx/>
              <a:buNone/>
            </a:pPr>
            <a:fld id="{9A0DB2DC-4C9A-4742-B13C-FB6460FD3503}" type="slidenum">
              <a:rPr lang="en-US" altLang="zh-CN" sz="1200" dirty="0">
                <a:solidFill>
                  <a:schemeClr val="tx1"/>
                </a:solidFill>
              </a:rPr>
              <a:t>6</a:t>
            </a:fld>
            <a:endParaRPr lang="en-US" altLang="zh-CN" sz="1200" dirty="0">
              <a:solidFill>
                <a:schemeClr val="tx1"/>
              </a:solidFill>
            </a:endParaRPr>
          </a:p>
        </p:txBody>
      </p:sp>
      <p:sp>
        <p:nvSpPr>
          <p:cNvPr id="14338" name="Rectangle 2"/>
          <p:cNvSpPr>
            <a:spLocks noGrp="1" noRot="1" noChangeAspect="1" noTextEdit="1"/>
          </p:cNvSpPr>
          <p:nvPr>
            <p:ph type="sldImg"/>
          </p:nvPr>
        </p:nvSpPr>
        <p:spPr/>
      </p:sp>
      <p:sp>
        <p:nvSpPr>
          <p:cNvPr id="14339" name="Rectangle 3"/>
          <p:cNvSpPr>
            <a:spLocks noGrp="1"/>
          </p:cNvSpPr>
          <p:nvPr>
            <p:ph type="body"/>
          </p:nvPr>
        </p:nvSpPr>
        <p:spPr/>
        <p:txBody>
          <a:bodyPr wrap="square" lIns="91440" tIns="45720" rIns="91440" bIns="45720" anchor="t" anchorCtr="0"/>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明白了单机联机系统之后，我们将探讨</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分组交换网络</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。分组交换是现代计算机网络通信的基础技术，它通过将数据分割为独立传输的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分组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Packet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），实现了高效、灵活的数据传输。</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在早期的计算机网络中，主机直连是一种典型的组网方式。其核心特征是以多台主机为中心，网络结构从传统的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主机</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终端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模式演变为</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主机</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主机</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的直接通信方式。在这一架构中，主机不仅负责数据处理，还需承担通信控制任务，如路由选择、流量管理等。</a:t>
            </a:r>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主机直连方式</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的优势在于去中心化，但扩展性和管理复杂度是其主要挑战。</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大家观察幻灯片上的图例，可以看到图中列出的每台主机都通过独立的通信线路与其他主机直接相连。这种全连接拓扑虽然保证了高可靠性和低延迟，但需要维护的链路数量随主机数呈平方级增长，这在实际部署中会面临成本、布线和管理上的瓶颈。</a:t>
            </a:r>
          </a:p>
          <a:p>
            <a:pPr lvl="0" eaLnBrk="1" hangingPunct="1"/>
            <a:endParaRPr lang="zh-CN" altLang="zh-CN" sz="2400"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为了解放直连方式下主机的通信任务，人们设置了专门的通信控制处理机（</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CCP-</a:t>
            </a:r>
            <a:r>
              <a:rPr lang="en-US" altLang="zh-CN" sz="1200" i="1" kern="1200" dirty="0" err="1" smtClean="0">
                <a:solidFill>
                  <a:schemeClr val="tx1"/>
                </a:solidFill>
                <a:effectLst/>
                <a:latin typeface="Times New Roman" panose="02020603050405020304" pitchFamily="18" charset="0"/>
                <a:ea typeface="宋体" panose="02010600030101010101" pitchFamily="2" charset="-122"/>
                <a:cs typeface="+mn-cs"/>
              </a:rPr>
              <a:t>communication</a:t>
            </a:r>
            <a:r>
              <a:rPr lang="en-US" altLang="zh-CN" sz="1200" kern="1200" dirty="0" err="1" smtClean="0">
                <a:solidFill>
                  <a:schemeClr val="tx1"/>
                </a:solidFill>
                <a:effectLst/>
                <a:latin typeface="Times New Roman" panose="02020603050405020304" pitchFamily="18" charset="0"/>
                <a:ea typeface="宋体" panose="02010600030101010101" pitchFamily="2" charset="-122"/>
                <a:cs typeface="+mn-cs"/>
              </a:rPr>
              <a:t>controlprocessor</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）来负责数据传输与交换。由此引出了通信子网与资源子网两个概念，它们构成了现代计算机网络的核心框架。</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通信子网是分组交换网络的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传输骨架</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，专门负责数据的路由与转发。它由两部分组成：</a:t>
            </a:r>
          </a:p>
          <a:p>
            <a:pPr lvl="0"/>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物理基础设施</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：包括通信线路（如光纤、双绞线、无线信道）和网络互连设备（如交换机、路由器、集线器）。</a:t>
            </a:r>
          </a:p>
          <a:p>
            <a:pPr lvl="0"/>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核心功能</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：实现分组的高效、可靠传输，涉及路径选择（路由算法）、流量控制、差错检测等关键技术。例如，路由器通过查表转发分组，而交换机在局域网内基于</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MAC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地址实现数据帧的快速交换。</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资源子网是网络的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大脑</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，专注于信息处理与服务提供。其核心组件包括：</a:t>
            </a:r>
          </a:p>
          <a:p>
            <a:pPr lvl="0"/>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服务器</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：提供计算、存储或应用服务（如</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Web</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服务器、数据库服务器）。</a:t>
            </a:r>
          </a:p>
          <a:p>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客户计算机</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：发起请求并消费服务（如用户终端、移动设备）。</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r>
            <a:b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b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资源子网与通信子网通过标准协议（如</a:t>
            </a:r>
            <a:r>
              <a:rPr lang="en-US" altLang="zh-CN" sz="1200" kern="1200" dirty="0" err="1" smtClean="0">
                <a:solidFill>
                  <a:schemeClr val="tx1"/>
                </a:solidFill>
                <a:effectLst/>
                <a:latin typeface="Times New Roman" panose="02020603050405020304" pitchFamily="18" charset="0"/>
                <a:ea typeface="宋体" panose="02010600030101010101" pitchFamily="2" charset="-122"/>
                <a:cs typeface="+mn-cs"/>
              </a:rPr>
              <a:t>HTTPoverTCP</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/IP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）交互。例如，当用户访问网站时，浏览器（资源子网）通过通信子网的路由器与服务器建立连接，完成数据交换。</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早期网络（如</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ARPANET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）是明确区分了通信与资源子网，但现代云计算和边缘计算逐级模糊了其边界。</a:t>
            </a:r>
          </a:p>
          <a:p>
            <a:endParaRPr lang="zh-CN" altLang="en-US" dirty="0"/>
          </a:p>
        </p:txBody>
      </p:sp>
    </p:spTree>
    <p:extLst>
      <p:ext uri="{BB962C8B-B14F-4D97-AF65-F5344CB8AC3E}">
        <p14:creationId xmlns:p14="http://schemas.microsoft.com/office/powerpoint/2010/main" val="323093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1031"/>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lstStyle/>
          <a:p>
            <a:pPr lvl="0" algn="r">
              <a:buClrTx/>
              <a:buFontTx/>
              <a:buNone/>
            </a:pPr>
            <a:fld id="{9A0DB2DC-4C9A-4742-B13C-FB6460FD3503}" type="slidenum">
              <a:rPr lang="en-US" altLang="zh-CN" sz="1200" dirty="0">
                <a:solidFill>
                  <a:schemeClr val="tx1"/>
                </a:solidFill>
              </a:rPr>
              <a:t>8</a:t>
            </a:fld>
            <a:endParaRPr lang="en-US" altLang="zh-CN" sz="1200" dirty="0">
              <a:solidFill>
                <a:schemeClr val="tx1"/>
              </a:solidFill>
            </a:endParaRPr>
          </a:p>
        </p:txBody>
      </p:sp>
      <p:sp>
        <p:nvSpPr>
          <p:cNvPr id="17410" name="Rectangle 2"/>
          <p:cNvSpPr>
            <a:spLocks noGrp="1" noRot="1" noChangeAspect="1" noTextEdit="1"/>
          </p:cNvSpPr>
          <p:nvPr>
            <p:ph type="sldImg"/>
          </p:nvPr>
        </p:nvSpPr>
        <p:spPr/>
      </p:sp>
      <p:sp>
        <p:nvSpPr>
          <p:cNvPr id="17411" name="Rectangle 3"/>
          <p:cNvSpPr>
            <a:spLocks noGrp="1"/>
          </p:cNvSpPr>
          <p:nvPr>
            <p:ph type="body"/>
          </p:nvPr>
        </p:nvSpPr>
        <p:spPr/>
        <p:txBody>
          <a:bodyPr wrap="square" lIns="91440" tIns="45720" rIns="91440" bIns="45720" anchor="t" anchorCtr="0"/>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随着通信控制处理机数量的不断增加，相互之间通过各种连接就演变成了公共数据通信网（</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PDN—</a:t>
            </a:r>
            <a:r>
              <a:rPr lang="en-US" altLang="zh-CN" sz="1200" kern="1200" dirty="0" err="1" smtClean="0">
                <a:solidFill>
                  <a:schemeClr val="tx1"/>
                </a:solidFill>
                <a:effectLst/>
                <a:latin typeface="Times New Roman" panose="02020603050405020304" pitchFamily="18" charset="0"/>
                <a:ea typeface="宋体" panose="02010600030101010101" pitchFamily="2" charset="-122"/>
                <a:cs typeface="+mn-cs"/>
              </a:rPr>
              <a:t>publicdatanetwork</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），公共数据网络是现代广域网通信的基础设施，它通过分组交换技术实现高效、可靠的数据传输。</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如图所示，公共数据网络采用分层架构：</a:t>
            </a:r>
          </a:p>
          <a:p>
            <a:r>
              <a:rPr lang="en-US" altLang="zh-CN" sz="1200" b="1" kern="1200" dirty="0" smtClean="0">
                <a:solidFill>
                  <a:schemeClr val="tx1"/>
                </a:solidFill>
                <a:effectLst/>
                <a:latin typeface="Times New Roman" panose="02020603050405020304" pitchFamily="18" charset="0"/>
                <a:ea typeface="宋体" panose="02010600030101010101" pitchFamily="2" charset="-122"/>
                <a:cs typeface="+mn-cs"/>
              </a:rPr>
              <a:t>1</a:t>
            </a:r>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、终端设备</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：作为数据源和目的地</a:t>
            </a:r>
          </a:p>
          <a:p>
            <a:r>
              <a:rPr lang="en-US" altLang="zh-CN" sz="1200" b="1" kern="1200" dirty="0" smtClean="0">
                <a:solidFill>
                  <a:schemeClr val="tx1"/>
                </a:solidFill>
                <a:effectLst/>
                <a:latin typeface="Times New Roman" panose="02020603050405020304" pitchFamily="18" charset="0"/>
                <a:ea typeface="宋体" panose="02010600030101010101" pitchFamily="2" charset="-122"/>
                <a:cs typeface="+mn-cs"/>
              </a:rPr>
              <a:t>2</a:t>
            </a:r>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、终端适配器</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：负责协议转换和接口适配</a:t>
            </a:r>
          </a:p>
          <a:p>
            <a:r>
              <a:rPr lang="en-US" altLang="zh-CN" sz="1200" b="1" kern="1200" dirty="0" smtClean="0">
                <a:solidFill>
                  <a:schemeClr val="tx1"/>
                </a:solidFill>
                <a:effectLst/>
                <a:latin typeface="Times New Roman" panose="02020603050405020304" pitchFamily="18" charset="0"/>
                <a:ea typeface="宋体" panose="02010600030101010101" pitchFamily="2" charset="-122"/>
                <a:cs typeface="+mn-cs"/>
              </a:rPr>
              <a:t>3</a:t>
            </a:r>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、公共数据通信网</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：核心传输网络，由运营商建设维护</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这种架构实现了</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通信子网公用化</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，使不同机构的终端设备可以共享同一套传输基础设施，大幅降低了通信成本。</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pPr lvl="0" eaLnBrk="1" hangingPunct="1"/>
            <a:endParaRPr lang="en-US" altLang="zh-CN"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1031"/>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lstStyle/>
          <a:p>
            <a:pPr lvl="0" algn="r">
              <a:buClrTx/>
              <a:buFontTx/>
              <a:buNone/>
            </a:pPr>
            <a:fld id="{9A0DB2DC-4C9A-4742-B13C-FB6460FD3503}" type="slidenum">
              <a:rPr lang="en-US" altLang="zh-CN" sz="1200" dirty="0">
                <a:solidFill>
                  <a:schemeClr val="tx1"/>
                </a:solidFill>
              </a:rPr>
              <a:t>9</a:t>
            </a:fld>
            <a:endParaRPr lang="en-US" altLang="zh-CN" sz="1200" dirty="0">
              <a:solidFill>
                <a:schemeClr val="tx1"/>
              </a:solidFill>
            </a:endParaRPr>
          </a:p>
        </p:txBody>
      </p:sp>
      <p:sp>
        <p:nvSpPr>
          <p:cNvPr id="19458" name="Rectangle 2"/>
          <p:cNvSpPr>
            <a:spLocks noGrp="1" noRot="1" noChangeAspect="1" noTextEdit="1"/>
          </p:cNvSpPr>
          <p:nvPr>
            <p:ph type="sldImg"/>
          </p:nvPr>
        </p:nvSpPr>
        <p:spPr/>
      </p:sp>
      <p:sp>
        <p:nvSpPr>
          <p:cNvPr id="19459" name="Rectangle 3"/>
          <p:cNvSpPr>
            <a:spLocks noGrp="1"/>
          </p:cNvSpPr>
          <p:nvPr>
            <p:ph type="body"/>
          </p:nvPr>
        </p:nvSpPr>
        <p:spPr/>
        <p:txBody>
          <a:bodyPr wrap="square" lIns="91440" tIns="45720" rIns="91440" bIns="45720" anchor="t" anchorCtr="0"/>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分组交换网络之后，计算机网络开始步入标准化发展历程。本页幻灯片我们将系统讲解计算机网络体系结构的标准化发展历程。网络标准化是确保不同设备互联互通的关键，我们将分析三大类标准：厂商标准、国际标准和事实。</a:t>
            </a:r>
          </a:p>
          <a:p>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第一阶段：厂商标准时期。</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在网络发展初期，各大计算机厂商制定了专属网络体系结构：</a:t>
            </a:r>
          </a:p>
          <a:p>
            <a:pPr lvl="0"/>
            <a:r>
              <a:rPr lang="en-US" altLang="zh-CN" sz="1200" b="1" kern="1200" dirty="0" smtClean="0">
                <a:solidFill>
                  <a:schemeClr val="tx1"/>
                </a:solidFill>
                <a:effectLst/>
                <a:latin typeface="Times New Roman" panose="02020603050405020304" pitchFamily="18" charset="0"/>
                <a:ea typeface="宋体" panose="02010600030101010101" pitchFamily="2" charset="-122"/>
                <a:cs typeface="+mn-cs"/>
              </a:rPr>
              <a:t>IBM</a:t>
            </a:r>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的</a:t>
            </a:r>
            <a:r>
              <a:rPr lang="en-US" altLang="zh-CN" sz="1200" b="1" kern="1200" dirty="0" smtClean="0">
                <a:solidFill>
                  <a:schemeClr val="tx1"/>
                </a:solidFill>
                <a:effectLst/>
                <a:latin typeface="Times New Roman" panose="02020603050405020304" pitchFamily="18" charset="0"/>
                <a:ea typeface="宋体" panose="02010600030101010101" pitchFamily="2" charset="-122"/>
                <a:cs typeface="+mn-cs"/>
              </a:rPr>
              <a:t>SNA</a:t>
            </a:r>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（系统网络架构）</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采用分层设计（</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7</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层模型）、主要服务于</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IBM</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大型机系统、典型协议包括</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SDLC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（同步数据链路控制）</a:t>
            </a:r>
          </a:p>
          <a:p>
            <a:pPr lvl="0"/>
            <a:r>
              <a:rPr lang="en-US" altLang="zh-CN" sz="1200" b="1" kern="1200" dirty="0" smtClean="0">
                <a:solidFill>
                  <a:schemeClr val="tx1"/>
                </a:solidFill>
                <a:effectLst/>
                <a:latin typeface="Times New Roman" panose="02020603050405020304" pitchFamily="18" charset="0"/>
                <a:ea typeface="宋体" panose="02010600030101010101" pitchFamily="2" charset="-122"/>
                <a:cs typeface="+mn-cs"/>
              </a:rPr>
              <a:t>DEC</a:t>
            </a:r>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的</a:t>
            </a:r>
            <a:r>
              <a:rPr lang="en-US" altLang="zh-CN" sz="1200" b="1" kern="1200" dirty="0" smtClean="0">
                <a:solidFill>
                  <a:schemeClr val="tx1"/>
                </a:solidFill>
                <a:effectLst/>
                <a:latin typeface="Times New Roman" panose="02020603050405020304" pitchFamily="18" charset="0"/>
                <a:ea typeface="宋体" panose="02010600030101010101" pitchFamily="2" charset="-122"/>
                <a:cs typeface="+mn-cs"/>
              </a:rPr>
              <a:t>DNA</a:t>
            </a:r>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（数字网络架构）</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支持</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PDP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和</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VAX</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系列计算机、首创终端通信概念、使用</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DAP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（数据访问协议）</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这些厂商标准推动了网络技术发展，但也造成了严重的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厂商锁定</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问题。</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第二阶段：国际标准</a:t>
            </a:r>
            <a:r>
              <a:rPr lang="en-US" altLang="zh-CN" sz="1200" b="1" kern="1200" dirty="0" smtClean="0">
                <a:solidFill>
                  <a:schemeClr val="tx1"/>
                </a:solidFill>
                <a:effectLst/>
                <a:latin typeface="Times New Roman" panose="02020603050405020304" pitchFamily="18" charset="0"/>
                <a:ea typeface="宋体" panose="02010600030101010101" pitchFamily="2" charset="-122"/>
                <a:cs typeface="+mn-cs"/>
              </a:rPr>
              <a:t>OSI/RM</a:t>
            </a:r>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国际标准化组织（</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ISO</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）提出的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OSI</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参考模型具有里程碑意义。</a:t>
            </a:r>
          </a:p>
          <a:p>
            <a:r>
              <a:rPr lang="en-US" altLang="zh-CN" sz="1200" b="1" kern="1200" dirty="0" smtClean="0">
                <a:solidFill>
                  <a:schemeClr val="tx1"/>
                </a:solidFill>
                <a:effectLst/>
                <a:latin typeface="Times New Roman" panose="02020603050405020304" pitchFamily="18" charset="0"/>
                <a:ea typeface="宋体" panose="02010600030101010101" pitchFamily="2" charset="-122"/>
                <a:cs typeface="+mn-cs"/>
              </a:rPr>
              <a:t>1</a:t>
            </a:r>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、七层架构</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：自底向上分别是：物理层</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数据链路层</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网络层</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传输层</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会话层</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表示层</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应用层</a:t>
            </a:r>
          </a:p>
          <a:p>
            <a:r>
              <a:rPr lang="en-US" altLang="zh-CN" sz="1200" b="1" kern="1200" dirty="0" smtClean="0">
                <a:solidFill>
                  <a:schemeClr val="tx1"/>
                </a:solidFill>
                <a:effectLst/>
                <a:latin typeface="Times New Roman" panose="02020603050405020304" pitchFamily="18" charset="0"/>
                <a:ea typeface="宋体" panose="02010600030101010101" pitchFamily="2" charset="-122"/>
                <a:cs typeface="+mn-cs"/>
              </a:rPr>
              <a:t>2</a:t>
            </a:r>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、核心贡献</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：明确定义了服务与协议的区别、制定了各层功能划分标准、为网络互连提供了理论框架</a:t>
            </a:r>
          </a:p>
          <a:p>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第三阶段：事实标准</a:t>
            </a:r>
            <a:r>
              <a:rPr lang="en-US" altLang="zh-CN" sz="1200" b="1" kern="1200" dirty="0" smtClean="0">
                <a:solidFill>
                  <a:schemeClr val="tx1"/>
                </a:solidFill>
                <a:effectLst/>
                <a:latin typeface="Times New Roman" panose="02020603050405020304" pitchFamily="18" charset="0"/>
                <a:ea typeface="宋体" panose="02010600030101010101" pitchFamily="2" charset="-122"/>
                <a:cs typeface="+mn-cs"/>
              </a:rPr>
              <a:t>TCP/IP</a:t>
            </a:r>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TCP/IP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协议集凭借其独特优势成为事实标准：</a:t>
            </a:r>
          </a:p>
          <a:p>
            <a:pPr lvl="0"/>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架构特点</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：简化的四层模型（网络接口</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网际</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传输</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应用）、端到端设计原则、包容性地址方案（</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IPv4/IPv6</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pPr lvl="0"/>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成功因素</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：阿帕网（</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ARPANET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）的示范效应、开放免费的协议规范、出色的异构网络兼容性、</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TCP/IP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吸收了</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OSI</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的分层思想，同时克服了其过度复杂的问题。</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当前互联网</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90%</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以上的流量都基于</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TCP/IP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协议族。</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不同阶段三类标准的对比分析可以参见幻灯片上的对比表格。</a:t>
            </a:r>
          </a:p>
          <a:p>
            <a:pPr lvl="0" eaLnBrk="1" hangingPunct="1"/>
            <a:endParaRPr lang="zh-CN" altLang="zh-CN" b="1"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1031"/>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lstStyle/>
          <a:p>
            <a:pPr lvl="0" algn="r">
              <a:buClrTx/>
              <a:buFontTx/>
              <a:buNone/>
            </a:pPr>
            <a:fld id="{9A0DB2DC-4C9A-4742-B13C-FB6460FD3503}" type="slidenum">
              <a:rPr lang="en-US" altLang="zh-CN" sz="1200" dirty="0">
                <a:solidFill>
                  <a:schemeClr val="tx1"/>
                </a:solidFill>
              </a:rPr>
              <a:t>10</a:t>
            </a:fld>
            <a:endParaRPr lang="en-US" altLang="zh-CN" sz="1200" dirty="0">
              <a:solidFill>
                <a:schemeClr val="tx1"/>
              </a:solidFill>
            </a:endParaRPr>
          </a:p>
        </p:txBody>
      </p:sp>
      <p:sp>
        <p:nvSpPr>
          <p:cNvPr id="21506" name="Rectangle 2"/>
          <p:cNvSpPr>
            <a:spLocks noGrp="1" noRot="1" noChangeAspect="1" noTextEdit="1"/>
          </p:cNvSpPr>
          <p:nvPr>
            <p:ph type="sldImg"/>
          </p:nvPr>
        </p:nvSpPr>
        <p:spPr/>
      </p:sp>
      <p:sp>
        <p:nvSpPr>
          <p:cNvPr id="21507" name="Rectangle 3"/>
          <p:cNvSpPr>
            <a:spLocks noGrp="1"/>
          </p:cNvSpPr>
          <p:nvPr>
            <p:ph type="body"/>
          </p:nvPr>
        </p:nvSpPr>
        <p:spPr/>
        <p:txBody>
          <a:bodyPr wrap="square" lIns="91440" tIns="45720" rIns="91440" bIns="45720" anchor="t" anchorCtr="0"/>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接下来将探讨局域网的兴起到</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三网融合</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的演进，从全光网络的部署到物联网的崛起，网络技术正在重塑我们的数字世界。</a:t>
            </a:r>
          </a:p>
          <a:p>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网络发展的两大驱动力：</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计算机网络的爆发式增长主要源于：</a:t>
            </a:r>
          </a:p>
          <a:p>
            <a:pPr lvl="0"/>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局域网技术革命</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：以太网标准的普及（</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IEEE802.3</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）、交换式局域网取代共享介质网络、典型速率从</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10Mbps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发展到今天的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400Gbps</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pPr lvl="0"/>
            <a:r>
              <a:rPr lang="en-US" altLang="zh-CN" sz="1200" b="1" kern="1200" dirty="0" smtClean="0">
                <a:solidFill>
                  <a:schemeClr val="tx1"/>
                </a:solidFill>
                <a:effectLst/>
                <a:latin typeface="Times New Roman" panose="02020603050405020304" pitchFamily="18" charset="0"/>
                <a:ea typeface="宋体" panose="02010600030101010101" pitchFamily="2" charset="-122"/>
                <a:cs typeface="+mn-cs"/>
              </a:rPr>
              <a:t>Internet</a:t>
            </a:r>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全球化</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TCP/IP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协议的统一作用、万维网（</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WWW</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）应用引爆点、移动互联网的指数级增长</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这两股力量共同推动了从</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连接计算机</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到</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连接世界</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的转变。</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三网融合技术：</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三网融合标志着网络边界的消融：</a:t>
            </a:r>
          </a:p>
          <a:p>
            <a:pPr lvl="0"/>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技术融合</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：电信网的</a:t>
            </a:r>
            <a:r>
              <a:rPr lang="en-US" altLang="zh-CN" sz="1200" kern="1200" dirty="0" err="1" smtClean="0">
                <a:solidFill>
                  <a:schemeClr val="tx1"/>
                </a:solidFill>
                <a:effectLst/>
                <a:latin typeface="Times New Roman" panose="02020603050405020304" pitchFamily="18" charset="0"/>
                <a:ea typeface="宋体" panose="02010600030101010101" pitchFamily="2" charset="-122"/>
                <a:cs typeface="+mn-cs"/>
              </a:rPr>
              <a:t>QoS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保障（如</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MPLS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）、计算机互联网的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IP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化改造、有线电视网的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DOCSIS3.1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标准</a:t>
            </a:r>
          </a:p>
          <a:p>
            <a:pPr lvl="0"/>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业务融合案例</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IPTV</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（基于互联网的电视服务）、</a:t>
            </a:r>
            <a:r>
              <a:rPr lang="en-US" altLang="zh-CN" sz="1200" kern="1200" dirty="0" err="1" smtClean="0">
                <a:solidFill>
                  <a:schemeClr val="tx1"/>
                </a:solidFill>
                <a:effectLst/>
                <a:latin typeface="Times New Roman" panose="02020603050405020304" pitchFamily="18" charset="0"/>
                <a:ea typeface="宋体" panose="02010600030101010101" pitchFamily="2" charset="-122"/>
                <a:cs typeface="+mn-cs"/>
              </a:rPr>
              <a:t>VoLTE</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（电信级语音</a:t>
            </a:r>
            <a:r>
              <a:rPr lang="en-US" altLang="zh-CN" sz="1200" kern="1200" dirty="0" err="1" smtClean="0">
                <a:solidFill>
                  <a:schemeClr val="tx1"/>
                </a:solidFill>
                <a:effectLst/>
                <a:latin typeface="Times New Roman" panose="02020603050405020304" pitchFamily="18" charset="0"/>
                <a:ea typeface="宋体" panose="02010600030101010101" pitchFamily="2" charset="-122"/>
                <a:cs typeface="+mn-cs"/>
              </a:rPr>
              <a:t>overLTE</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融合背后的核心技术是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err="1" smtClean="0">
                <a:solidFill>
                  <a:schemeClr val="tx1"/>
                </a:solidFill>
                <a:effectLst/>
                <a:latin typeface="Times New Roman" panose="02020603050405020304" pitchFamily="18" charset="0"/>
                <a:ea typeface="宋体" panose="02010600030101010101" pitchFamily="2" charset="-122"/>
                <a:cs typeface="+mn-cs"/>
              </a:rPr>
              <a:t>EverythingonIP</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和</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err="1" smtClean="0">
                <a:solidFill>
                  <a:schemeClr val="tx1"/>
                </a:solidFill>
                <a:effectLst/>
                <a:latin typeface="Times New Roman" panose="02020603050405020304" pitchFamily="18" charset="0"/>
                <a:ea typeface="宋体" panose="02010600030101010101" pitchFamily="2" charset="-122"/>
                <a:cs typeface="+mn-cs"/>
              </a:rPr>
              <a:t>IPoverEverything</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全光网络架构：</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全光网络是新一代骨干网的终极形态：</a:t>
            </a:r>
          </a:p>
          <a:p>
            <a:pPr lvl="0"/>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核心特征</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：端到端光传输（</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OTN/WDM</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）、光交换取代电交换（</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ROADM</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技术）、超低延迟（光子级转发）</a:t>
            </a:r>
          </a:p>
          <a:p>
            <a:pPr lvl="0"/>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技术突破</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：相干光通信（</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100G+</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速率）、光分组交换实验网、智能光网络（</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ASON</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控制平面）</a:t>
            </a:r>
          </a:p>
          <a:p>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物联网：</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物联网（</a:t>
            </a:r>
            <a:r>
              <a:rPr lang="en-US" altLang="zh-CN" sz="1200" kern="1200" dirty="0" err="1" smtClean="0">
                <a:solidFill>
                  <a:schemeClr val="tx1"/>
                </a:solidFill>
                <a:effectLst/>
                <a:latin typeface="Times New Roman" panose="02020603050405020304" pitchFamily="18" charset="0"/>
                <a:ea typeface="宋体" panose="02010600030101010101" pitchFamily="2" charset="-122"/>
                <a:cs typeface="+mn-cs"/>
              </a:rPr>
              <a:t>IoT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）构建了物理世界的神经网络，形成了物物相连的互联网。预计</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2025</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年全球</a:t>
            </a:r>
            <a:r>
              <a:rPr lang="en-US" altLang="zh-CN" sz="1200" kern="1200" dirty="0" err="1" smtClean="0">
                <a:solidFill>
                  <a:schemeClr val="tx1"/>
                </a:solidFill>
                <a:effectLst/>
                <a:latin typeface="Times New Roman" panose="02020603050405020304" pitchFamily="18" charset="0"/>
                <a:ea typeface="宋体" panose="02010600030101010101" pitchFamily="2" charset="-122"/>
                <a:cs typeface="+mn-cs"/>
              </a:rPr>
              <a:t>IoT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设备将突破</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750</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亿台。</a:t>
            </a:r>
          </a:p>
          <a:p>
            <a:pPr lvl="0"/>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物联网架构层次</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分为四个层次，即：感知层（</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RFID/</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传感器）、网络层（</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LPWAN/NB-</a:t>
            </a:r>
            <a:r>
              <a:rPr lang="en-US" altLang="zh-CN" sz="1200" kern="1200" dirty="0" err="1" smtClean="0">
                <a:solidFill>
                  <a:schemeClr val="tx1"/>
                </a:solidFill>
                <a:effectLst/>
                <a:latin typeface="Times New Roman" panose="02020603050405020304" pitchFamily="18" charset="0"/>
                <a:ea typeface="宋体" panose="02010600030101010101" pitchFamily="2" charset="-122"/>
                <a:cs typeface="+mn-cs"/>
              </a:rPr>
              <a:t>IoT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）、平台层（</a:t>
            </a:r>
            <a:r>
              <a:rPr lang="en-US" altLang="zh-CN" sz="1200" kern="1200" dirty="0" err="1" smtClean="0">
                <a:solidFill>
                  <a:schemeClr val="tx1"/>
                </a:solidFill>
                <a:effectLst/>
                <a:latin typeface="Times New Roman" panose="02020603050405020304" pitchFamily="18" charset="0"/>
                <a:ea typeface="宋体" panose="02010600030101010101" pitchFamily="2" charset="-122"/>
                <a:cs typeface="+mn-cs"/>
              </a:rPr>
              <a:t>IoT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中间件）、应用层（智慧城市</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工业</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4.0</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pPr lvl="0"/>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物联网关键技术</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包括</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6LoWPAN</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适配层协议、边缘计算架构、物联安全体系（轻量级加密）等</a:t>
            </a:r>
          </a:p>
          <a:p>
            <a:pPr lvl="1" indent="0" eaLnBrk="1" hangingPunct="1"/>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1031"/>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lstStyle/>
          <a:p>
            <a:pPr lvl="0" algn="r">
              <a:buClrTx/>
              <a:buFontTx/>
              <a:buNone/>
            </a:pPr>
            <a:fld id="{9A0DB2DC-4C9A-4742-B13C-FB6460FD3503}" type="slidenum">
              <a:rPr lang="en-US" altLang="zh-CN" sz="1200" dirty="0">
                <a:solidFill>
                  <a:schemeClr val="tx1"/>
                </a:solidFill>
              </a:rPr>
              <a:t>11</a:t>
            </a:fld>
            <a:endParaRPr lang="en-US" altLang="zh-CN" sz="1200" dirty="0">
              <a:solidFill>
                <a:schemeClr val="tx1"/>
              </a:solidFill>
            </a:endParaRPr>
          </a:p>
        </p:txBody>
      </p:sp>
      <p:sp>
        <p:nvSpPr>
          <p:cNvPr id="21506" name="Rectangle 2"/>
          <p:cNvSpPr>
            <a:spLocks noGrp="1" noRot="1" noChangeAspect="1" noTextEdit="1"/>
          </p:cNvSpPr>
          <p:nvPr>
            <p:ph type="sldImg"/>
          </p:nvPr>
        </p:nvSpPr>
        <p:spPr/>
      </p:sp>
      <p:sp>
        <p:nvSpPr>
          <p:cNvPr id="21507" name="Rectangle 3"/>
          <p:cNvSpPr>
            <a:spLocks noGrp="1"/>
          </p:cNvSpPr>
          <p:nvPr>
            <p:ph type="body"/>
          </p:nvPr>
        </p:nvSpPr>
        <p:spPr/>
        <p:txBody>
          <a:bodyPr wrap="square" lIns="91440" tIns="45720" rIns="91440" bIns="45720" anchor="t" anchorCtr="0"/>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本页幻灯片今天我们将基本解析软件定义网络（</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Software-</a:t>
            </a:r>
            <a:r>
              <a:rPr lang="en-US" altLang="zh-CN" sz="1200" kern="1200" dirty="0" err="1" smtClean="0">
                <a:solidFill>
                  <a:schemeClr val="tx1"/>
                </a:solidFill>
                <a:effectLst/>
                <a:latin typeface="Times New Roman" panose="02020603050405020304" pitchFamily="18" charset="0"/>
                <a:ea typeface="宋体" panose="02010600030101010101" pitchFamily="2" charset="-122"/>
                <a:cs typeface="+mn-cs"/>
              </a:rPr>
              <a:t>DefinedNetworking</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SDN</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）这一革命性的网络架构范式。</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SDN</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从根本上重构了传统网络的控制方式，其核心思想是通过控制平面与数据平面的解耦，实现网络的可编程化和智能化管理。</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r>
              <a:rPr lang="en-US" altLang="zh-CN" sz="1200" b="1" kern="1200" dirty="0" smtClean="0">
                <a:solidFill>
                  <a:schemeClr val="tx1"/>
                </a:solidFill>
                <a:effectLst/>
                <a:latin typeface="Times New Roman" panose="02020603050405020304" pitchFamily="18" charset="0"/>
                <a:ea typeface="宋体" panose="02010600030101010101" pitchFamily="2" charset="-122"/>
                <a:cs typeface="+mn-cs"/>
              </a:rPr>
              <a:t>SDN</a:t>
            </a:r>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的核心特点：</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SDN</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架构具有三大特征：</a:t>
            </a:r>
          </a:p>
          <a:p>
            <a:pPr lvl="0"/>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控制与转发解耦</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，控制平面抽象为集中控制器、数据平面简化为流表转发设备、通过标准接口（如</a:t>
            </a:r>
            <a:r>
              <a:rPr lang="en-US" altLang="zh-CN" sz="1200" kern="1200" dirty="0" err="1" smtClean="0">
                <a:solidFill>
                  <a:schemeClr val="tx1"/>
                </a:solidFill>
                <a:effectLst/>
                <a:latin typeface="Times New Roman" panose="02020603050405020304" pitchFamily="18" charset="0"/>
                <a:ea typeface="宋体" panose="02010600030101010101" pitchFamily="2" charset="-122"/>
                <a:cs typeface="+mn-cs"/>
              </a:rPr>
              <a:t>OpenFlow</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）实现交互</a:t>
            </a:r>
          </a:p>
          <a:p>
            <a:pPr lvl="0"/>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网络状态集中管控</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：全局网络视图实时同步、策略一致性保障、快速故障定位与恢复</a:t>
            </a:r>
          </a:p>
          <a:p>
            <a:pPr lvl="0"/>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网络虚拟化能力</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：物理资源池化、按需创建虚拟网络切片、多租户隔离保障</a:t>
            </a:r>
          </a:p>
          <a:p>
            <a:r>
              <a:rPr lang="en-US" altLang="zh-CN" sz="1200" b="1" kern="1200" dirty="0" smtClean="0">
                <a:solidFill>
                  <a:schemeClr val="tx1"/>
                </a:solidFill>
                <a:effectLst/>
                <a:latin typeface="Times New Roman" panose="02020603050405020304" pitchFamily="18" charset="0"/>
                <a:ea typeface="宋体" panose="02010600030101010101" pitchFamily="2" charset="-122"/>
                <a:cs typeface="+mn-cs"/>
              </a:rPr>
              <a:t>SDN</a:t>
            </a:r>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三层架构详解：</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SDN</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标准架构包含三个关键层次：</a:t>
            </a:r>
          </a:p>
          <a:p>
            <a:pPr lvl="0"/>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基础设施层，</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由支持</a:t>
            </a:r>
            <a:r>
              <a:rPr lang="en-US" altLang="zh-CN" sz="1200" kern="1200" dirty="0" err="1" smtClean="0">
                <a:solidFill>
                  <a:schemeClr val="tx1"/>
                </a:solidFill>
                <a:effectLst/>
                <a:latin typeface="Times New Roman" panose="02020603050405020304" pitchFamily="18" charset="0"/>
                <a:ea typeface="宋体" panose="02010600030101010101" pitchFamily="2" charset="-122"/>
                <a:cs typeface="+mn-cs"/>
              </a:rPr>
              <a:t>OpenFlow</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的白牌交换机组成；仅执行匹配</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动作（</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Match-Action</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）基础操作；典型设备：</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OVS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err="1" smtClean="0">
                <a:solidFill>
                  <a:schemeClr val="tx1"/>
                </a:solidFill>
                <a:effectLst/>
                <a:latin typeface="Times New Roman" panose="02020603050405020304" pitchFamily="18" charset="0"/>
                <a:ea typeface="宋体" panose="02010600030101010101" pitchFamily="2" charset="-122"/>
                <a:cs typeface="+mn-cs"/>
              </a:rPr>
              <a:t>OpenvSwitch</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pPr lvl="0"/>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控制层，控制器集群（如</a:t>
            </a:r>
            <a:r>
              <a:rPr lang="en-US" altLang="zh-CN" sz="1200" b="1" kern="1200" dirty="0" err="1" smtClean="0">
                <a:solidFill>
                  <a:schemeClr val="tx1"/>
                </a:solidFill>
                <a:effectLst/>
                <a:latin typeface="Times New Roman" panose="02020603050405020304" pitchFamily="18" charset="0"/>
                <a:ea typeface="宋体" panose="02010600030101010101" pitchFamily="2" charset="-122"/>
                <a:cs typeface="+mn-cs"/>
              </a:rPr>
              <a:t>OpenDaylight</a:t>
            </a:r>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b="1" kern="1200" dirty="0" smtClean="0">
                <a:solidFill>
                  <a:schemeClr val="tx1"/>
                </a:solidFill>
                <a:effectLst/>
                <a:latin typeface="Times New Roman" panose="02020603050405020304" pitchFamily="18" charset="0"/>
                <a:ea typeface="宋体" panose="02010600030101010101" pitchFamily="2" charset="-122"/>
                <a:cs typeface="+mn-cs"/>
              </a:rPr>
              <a:t>ONOS</a:t>
            </a:r>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）、核心功能：包括拓扑发现、路由计算、流表下发、北向接口提供</a:t>
            </a:r>
            <a:r>
              <a:rPr lang="en-US" altLang="zh-CN" sz="1200" b="1" kern="1200" dirty="0" smtClean="0">
                <a:solidFill>
                  <a:schemeClr val="tx1"/>
                </a:solidFill>
                <a:effectLst/>
                <a:latin typeface="Times New Roman" panose="02020603050405020304" pitchFamily="18" charset="0"/>
                <a:ea typeface="宋体" panose="02010600030101010101" pitchFamily="2" charset="-122"/>
                <a:cs typeface="+mn-cs"/>
              </a:rPr>
              <a:t>RESTAPI</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pPr lvl="0"/>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应用层。网络功能</a:t>
            </a:r>
            <a:r>
              <a:rPr lang="en-US" altLang="zh-CN" sz="1200" b="1" kern="1200" dirty="0" smtClean="0">
                <a:solidFill>
                  <a:schemeClr val="tx1"/>
                </a:solidFill>
                <a:effectLst/>
                <a:latin typeface="Times New Roman" panose="02020603050405020304" pitchFamily="18" charset="0"/>
                <a:ea typeface="宋体" panose="02010600030101010101" pitchFamily="2" charset="-122"/>
                <a:cs typeface="+mn-cs"/>
              </a:rPr>
              <a:t>APP</a:t>
            </a:r>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化</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pPr lvl="1" indent="0" eaLnBrk="1" hangingPunct="1"/>
            <a:endParaRPr lang="zh-CN"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1031"/>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lstStyle/>
          <a:p>
            <a:pPr lvl="0" algn="r">
              <a:buClrTx/>
              <a:buFontTx/>
              <a:buNone/>
            </a:pPr>
            <a:fld id="{9A0DB2DC-4C9A-4742-B13C-FB6460FD3503}" type="slidenum">
              <a:rPr lang="en-US" altLang="zh-CN" sz="1200" dirty="0">
                <a:solidFill>
                  <a:schemeClr val="tx1"/>
                </a:solidFill>
              </a:rPr>
              <a:t>12</a:t>
            </a:fld>
            <a:endParaRPr lang="en-US" altLang="zh-CN" sz="1200" dirty="0">
              <a:solidFill>
                <a:schemeClr val="tx1"/>
              </a:solidFill>
            </a:endParaRPr>
          </a:p>
        </p:txBody>
      </p:sp>
      <p:sp>
        <p:nvSpPr>
          <p:cNvPr id="21506" name="Rectangle 2"/>
          <p:cNvSpPr>
            <a:spLocks noGrp="1" noRot="1" noChangeAspect="1" noTextEdit="1"/>
          </p:cNvSpPr>
          <p:nvPr>
            <p:ph type="sldImg"/>
          </p:nvPr>
        </p:nvSpPr>
        <p:spPr/>
      </p:sp>
      <p:sp>
        <p:nvSpPr>
          <p:cNvPr id="21507" name="Rectangle 3"/>
          <p:cNvSpPr>
            <a:spLocks noGrp="1"/>
          </p:cNvSpPr>
          <p:nvPr>
            <p:ph type="body"/>
          </p:nvPr>
        </p:nvSpPr>
        <p:spPr/>
        <p:txBody>
          <a:bodyPr wrap="square" lIns="91440" tIns="45720" rIns="91440" bIns="45720" anchor="t" anchorCtr="0"/>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的最后将介绍我国自主创新的未来网络试验设施（</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CENI</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）国家重大科技基础设施。作为网络强国战略的核心载体，</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CENI</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代表了我国在新型网络架构领域的重大突破，其技术体系涵盖可编程网络、云化资源、服务质量保障和网络安全四大核心维度。</a:t>
            </a:r>
          </a:p>
          <a:p>
            <a:r>
              <a:rPr lang="en-US" altLang="zh-CN" sz="1200" b="1" kern="1200" dirty="0" smtClean="0">
                <a:solidFill>
                  <a:schemeClr val="tx1"/>
                </a:solidFill>
                <a:effectLst/>
                <a:latin typeface="Times New Roman" panose="02020603050405020304" pitchFamily="18" charset="0"/>
                <a:ea typeface="宋体" panose="02010600030101010101" pitchFamily="2" charset="-122"/>
                <a:cs typeface="+mn-cs"/>
              </a:rPr>
              <a:t>CENI</a:t>
            </a:r>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战略背景：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CENI</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的立项建设具有重大战略意义</a:t>
            </a:r>
          </a:p>
          <a:p>
            <a:pPr lvl="0"/>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时间节点</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2013</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年列入《国家重大科技基础设施建设中长期规划》</a:t>
            </a:r>
          </a:p>
          <a:p>
            <a:pPr lvl="0"/>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定位目标</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：突破传统互联网</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尽力而为</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传输瓶颈</a:t>
            </a:r>
          </a:p>
          <a:p>
            <a:pPr lvl="0"/>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技术指标</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：支持</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100+</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异构网络协议、微秒级端到端时延、</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99.999%</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可靠性保障</a:t>
            </a:r>
          </a:p>
          <a:p>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网络能力视图：网络可编程能力体现在网络管控能力的提升，</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CENI</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的核心创新体现在网络可编程体系：</a:t>
            </a:r>
          </a:p>
          <a:p>
            <a:pPr lvl="0"/>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硬件层面：支持</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P4</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可编程交换芯片、白盒交换机定制化数据平面</a:t>
            </a:r>
          </a:p>
          <a:p>
            <a:pPr lvl="0"/>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系统层面：自研网络操作系统（如</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CNOS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）、细粒度流量感知（</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5Tuple</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深度检测）</a:t>
            </a:r>
          </a:p>
          <a:p>
            <a:pPr lvl="0"/>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管控层面：意图驱动网络（</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Intent-</a:t>
            </a:r>
            <a:r>
              <a:rPr lang="en-US" altLang="zh-CN" sz="1200" kern="1200" dirty="0" err="1" smtClean="0">
                <a:solidFill>
                  <a:schemeClr val="tx1"/>
                </a:solidFill>
                <a:effectLst/>
                <a:latin typeface="Times New Roman" panose="02020603050405020304" pitchFamily="18" charset="0"/>
                <a:ea typeface="宋体" panose="02010600030101010101" pitchFamily="2" charset="-122"/>
                <a:cs typeface="+mn-cs"/>
              </a:rPr>
              <a:t>BasedNetworking</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）、动态策略合规性验证</a:t>
            </a:r>
          </a:p>
          <a:p>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业务资源视图：</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CENI</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实现网络与云的深度融合，表现在业务能力的提升</a:t>
            </a:r>
          </a:p>
          <a:p>
            <a:pPr lvl="0"/>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、多云端协同：跨云资源统一编排、云网服务链自动化部署、</a:t>
            </a:r>
          </a:p>
          <a:p>
            <a:pPr lvl="0"/>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、分布式云：边缘计算节点下沉、雾计算资源池化</a:t>
            </a:r>
          </a:p>
          <a:p>
            <a:pPr lvl="0"/>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3</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、通信计算一体化：算力感知路由协议、近数据处理（</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Near-</a:t>
            </a:r>
            <a:r>
              <a:rPr lang="en-US" altLang="zh-CN" sz="1200" kern="1200" dirty="0" err="1" smtClean="0">
                <a:solidFill>
                  <a:schemeClr val="tx1"/>
                </a:solidFill>
                <a:effectLst/>
                <a:latin typeface="Times New Roman" panose="02020603050405020304" pitchFamily="18" charset="0"/>
                <a:ea typeface="宋体" panose="02010600030101010101" pitchFamily="2" charset="-122"/>
                <a:cs typeface="+mn-cs"/>
              </a:rPr>
              <a:t>DataProcessing</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服务质量视图：</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CENI</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突破性服务质量技术旨在提升网络承载能力：</a:t>
            </a:r>
          </a:p>
          <a:p>
            <a:pPr lvl="0"/>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SCRP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（智能云资源协议）：动态带宽预留、应用</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SLA</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自动映射</a:t>
            </a:r>
          </a:p>
          <a:p>
            <a:pPr lvl="0"/>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空天地一体化：</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IP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与</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5G/</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卫星网络协同、多模态接入无缝切换</a:t>
            </a:r>
          </a:p>
          <a:p>
            <a:pPr lvl="0"/>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骨干网增强：确定性时延保障、亚毫秒级抖动控制</a:t>
            </a:r>
          </a:p>
          <a:p>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网络安全视图：</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CENI</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构建多层防御体系，旨在提升网络的安全防护能力：</a:t>
            </a:r>
          </a:p>
          <a:p>
            <a:pPr lvl="0"/>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智能安全网络：</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AI</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驱动的威胁狩猎、动态微隔离（</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Micro-Segmentation</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pPr lvl="0"/>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商用级保障：国密算法全栈部署、等保</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2.0</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三级以上合规</a:t>
            </a:r>
          </a:p>
          <a:p>
            <a:pPr lvl="1" indent="0" eaLnBrk="1" hangingPunct="1"/>
            <a:endParaRPr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大家平时经常听说过不同的计算机网络，如局域网、光纤网、数据中心网络等，这些概念其实就是安装不同的标准或视角对计算机网络进行了分类。</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计算机网络分类的最主要标准就是按覆盖范围分类，基于此标准可以划分为个域网、局域网、城域网以及广域网。</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个域网（</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PAN—</a:t>
            </a:r>
            <a:r>
              <a:rPr lang="en-US" altLang="zh-CN" sz="1200" i="0" kern="1200" dirty="0" smtClean="0">
                <a:solidFill>
                  <a:schemeClr val="tx1"/>
                </a:solidFill>
                <a:effectLst/>
                <a:latin typeface="Times New Roman" panose="02020603050405020304" pitchFamily="18" charset="0"/>
                <a:ea typeface="宋体" panose="02010600030101010101" pitchFamily="2" charset="-122"/>
                <a:cs typeface="+mn-cs"/>
              </a:rPr>
              <a:t>Personal Area Network</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）：覆盖范围通常在</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10</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米以内，用于连接个人设备，如智能手机、平板、蓝牙耳机等。典型技术包括蓝牙、</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ZigBee</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和红外。主要特点：低功耗、短距离、高便携性，适合个人场景下的设备互联。</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局域网（</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LAN—Local </a:t>
            </a:r>
            <a:r>
              <a:rPr lang="en-US" altLang="zh-CN" sz="1200" i="0" kern="1200" dirty="0" smtClean="0">
                <a:solidFill>
                  <a:schemeClr val="tx1"/>
                </a:solidFill>
                <a:effectLst/>
                <a:latin typeface="Times New Roman" panose="02020603050405020304" pitchFamily="18" charset="0"/>
                <a:ea typeface="宋体" panose="02010600030101010101" pitchFamily="2" charset="-122"/>
                <a:cs typeface="+mn-cs"/>
              </a:rPr>
              <a:t>Area Network</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 ：覆盖范围从几米到几千米，常见于家庭、办公室或校园。典型技术包括以太网（</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IEEE 802.3</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）和</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Wi-Fi</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IEEE 802.11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）。主要特点：高带宽、低延迟、私有化管理，支持资源共享（如打印机、文件服务器）。</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3.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城域网（</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MAN—</a:t>
            </a:r>
            <a:r>
              <a:rPr lang="en-US" altLang="zh-CN" sz="1200" i="0" kern="1200" dirty="0" smtClean="0">
                <a:solidFill>
                  <a:schemeClr val="tx1"/>
                </a:solidFill>
                <a:effectLst/>
                <a:latin typeface="Times New Roman" panose="02020603050405020304" pitchFamily="18" charset="0"/>
                <a:ea typeface="宋体" panose="02010600030101010101" pitchFamily="2" charset="-122"/>
                <a:cs typeface="+mn-cs"/>
              </a:rPr>
              <a:t>Metropolitan Area Network</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 ：覆盖一个城市或地区（几十公里），例如城市级光纤网络或有线电视网络。技术代表包括光纤分布式数据接口（</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FDDI</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和城域以太网。主要特点：中等规模，连接多个局域网，适合企业和公共服务。需要指明的是，城域网在技术上与局域网没有本质区别，只是适用范围不同，所以在不严格分类条件下，城域网可以归并到局域网中。</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4.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广域网（</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WAN—Wide Area Network</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 ：覆盖全国或全球，如互联网。核心技术包括路由器、</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ISP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骨干网和协议（如</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TCP/IP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）。主要特点：长距离、依赖公共基础设施，延迟和带宽差异较大。</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除了按覆盖范围分类之外，计算机网络还可以按其他标准分类</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按通信介质分类</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有线网：依赖双绞线、同轴电缆或光纤，稳定性高（如千兆以太网）。</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无线网：通过无线电波（如</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Wi-Fi</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5G</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），灵活性高但易受干扰。</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按使用用户分类</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公用网：面向公众（如互联网），由</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ISP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运营。</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专用网：企业或机构私有（如银行内网），安全性要求高。</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3.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按网络控制方式分类</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集中式：由中心节点控制（如早期的主机</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终端模式）。</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分布式：节点自治（如</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P2P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网络），容错性强。</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4.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按网络环境分类</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部门</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企业</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校园网络：按组织规模划分，设计需考虑用户密度和流量负载。</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5.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按传输技术分类</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广播式：单一信道共享（如传统以太网）。</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点到点：独立路径通信（如</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VPN</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隧道），隐私性更佳。</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6.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按通信速率分类</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宽带与窄带：宽带支持高数据量（如光纤到户），窄带适用于低速场景（如早期拨号上网）。</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计算机网络的分类标准多样，实际应用中常需结合覆盖范围、技术需求及环境特点进行设计。理解这些分类有助于为不同场景选择最优网络架构。</a:t>
            </a:r>
          </a:p>
          <a:p>
            <a:endParaRPr lang="zh-CN" altLang="en-US" dirty="0"/>
          </a:p>
        </p:txBody>
      </p:sp>
    </p:spTree>
    <p:extLst>
      <p:ext uri="{BB962C8B-B14F-4D97-AF65-F5344CB8AC3E}">
        <p14:creationId xmlns:p14="http://schemas.microsoft.com/office/powerpoint/2010/main" val="4497912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1031"/>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lstStyle/>
          <a:p>
            <a:pPr lvl="0" algn="r">
              <a:buClrTx/>
              <a:buFontTx/>
              <a:buNone/>
            </a:pPr>
            <a:fld id="{9A0DB2DC-4C9A-4742-B13C-FB6460FD3503}" type="slidenum">
              <a:rPr lang="en-US" altLang="zh-CN" sz="1200" dirty="0">
                <a:solidFill>
                  <a:schemeClr val="tx1"/>
                </a:solidFill>
              </a:rPr>
              <a:t>14</a:t>
            </a:fld>
            <a:endParaRPr lang="en-US" altLang="zh-CN" sz="1200" dirty="0">
              <a:solidFill>
                <a:schemeClr val="tx1"/>
              </a:solidFill>
            </a:endParaRPr>
          </a:p>
        </p:txBody>
      </p:sp>
      <p:sp>
        <p:nvSpPr>
          <p:cNvPr id="24578" name="Rectangle 2"/>
          <p:cNvSpPr>
            <a:spLocks noGrp="1" noRot="1" noChangeAspect="1" noTextEdit="1"/>
          </p:cNvSpPr>
          <p:nvPr>
            <p:ph type="sldImg"/>
          </p:nvPr>
        </p:nvSpPr>
        <p:spPr/>
      </p:sp>
      <p:sp>
        <p:nvSpPr>
          <p:cNvPr id="24579" name="Rectangle 3"/>
          <p:cNvSpPr>
            <a:spLocks noGrp="1"/>
          </p:cNvSpPr>
          <p:nvPr>
            <p:ph type="body"/>
          </p:nvPr>
        </p:nvSpPr>
        <p:spPr/>
        <p:txBody>
          <a:bodyPr wrap="square" lIns="91440" tIns="45720" rIns="91440" bIns="45720" anchor="t" anchorCtr="0"/>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明白了计算机网络分类之后，我们给出了一个典型的计算机互联网络示意图，该互联网由局域网、广域网通过路由器相互连接而成。</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幻灯片上的示意图展示了计算机互联网络的基本组成元素，包括主机（</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Host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）、路由器（</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Router</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）和多路复用设备（</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Multiplexer</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），这些设备通过网络云（</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Network Cloud</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）互联，构成一个典型的通信系统。</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下面就该互联网中的关键设备的功能进行说明。</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主机（</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Host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作为网络的终端设备，负责生成或消费数据（如个人电脑、服务器）。</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运行应用程序（如</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Web</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浏览器、数据库服务），通过协议栈（如</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TCP/IP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）实现通信。</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路由器（</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Router</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核心功能是路径选择与数据包转发，基于路由表（</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Routing Table</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）决定最优路径。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连接不同网络（如</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LAN</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与</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WAN</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），支持</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NAT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、防火墙等高级功能。</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3.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多路复用设备（</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Multiplexer</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通过频分复用（</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FDM</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）或时分复用（</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TDM</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）技术，将多个信号合并到单一信道传输，提升链路利用率。</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常见于电信网络或数据中心，减少物理线路需求。</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4.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网络云（</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Network Cloud</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抽象表示复杂的网络基础设施（如</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ISP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骨干网、互联网），隐藏内部拓扑细节。</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可能包含交换机、光纤链路、卫星通信等异构技术。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pPr lvl="1" indent="0" eaLnBrk="1" hangingPunct="1"/>
            <a:endParaRPr lang="zh-CN"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1031"/>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lstStyle/>
          <a:p>
            <a:pPr lvl="0" algn="r">
              <a:buClrTx/>
              <a:buFontTx/>
              <a:buNone/>
            </a:pPr>
            <a:fld id="{9A0DB2DC-4C9A-4742-B13C-FB6460FD3503}" type="slidenum">
              <a:rPr lang="en-US" altLang="zh-CN" sz="1200" dirty="0">
                <a:solidFill>
                  <a:schemeClr val="tx1"/>
                </a:solidFill>
              </a:rPr>
              <a:t>15</a:t>
            </a:fld>
            <a:endParaRPr lang="en-US" altLang="zh-CN" sz="1200" dirty="0">
              <a:solidFill>
                <a:schemeClr val="tx1"/>
              </a:solidFill>
            </a:endParaRPr>
          </a:p>
        </p:txBody>
      </p:sp>
      <p:sp>
        <p:nvSpPr>
          <p:cNvPr id="24578" name="Rectangle 2"/>
          <p:cNvSpPr>
            <a:spLocks noGrp="1" noRot="1" noChangeAspect="1" noTextEdit="1"/>
          </p:cNvSpPr>
          <p:nvPr>
            <p:ph type="sldImg"/>
          </p:nvPr>
        </p:nvSpPr>
        <p:spPr/>
      </p:sp>
      <p:sp>
        <p:nvSpPr>
          <p:cNvPr id="24579" name="Rectangle 3"/>
          <p:cNvSpPr>
            <a:spLocks noGrp="1"/>
          </p:cNvSpPr>
          <p:nvPr>
            <p:ph type="body"/>
          </p:nvPr>
        </p:nvSpPr>
        <p:spPr/>
        <p:txBody>
          <a:bodyPr wrap="square" lIns="91440" tIns="45720" rIns="91440" bIns="45720" anchor="t" anchorCtr="0"/>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计算机网络结构可以从物理结构和逻辑结构两个维度进行分析。物理结构关注硬件层面的连接方式，而逻辑结构则聚焦于数据通信的抽象机制。这两个维度共同决定了网络的性能、可靠性和适用场景。</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、网络物理结构，关注于网络的物理连接方式与拓扑结构。</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物理连接方式基本可以分为有线连接与无线连接</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拓扑结构包括总线型拓扑、星型拓扑、环型拓扑、树型拓扑以及网状拓扑等。</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、网络逻辑结构：关注于信道连接方式与数据传输方式。</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信道连接方式包括点对点（</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Point-to-Point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）与广播（</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Broadcast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数据传输方式包括电路交换、分组交换、报文交换、混合交换。</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计算机网络的物理结构与逻辑结构并不是割裂的，相互间存在协同关系，物理结构为</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躯体</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，逻辑结构为</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灵魂</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，二者协同满足多样化应用需求，共同支撑计算机网络技术的发展与应用。</a:t>
            </a:r>
          </a:p>
          <a:p>
            <a:pPr lvl="1" indent="0" eaLnBrk="1" hangingPunct="1"/>
            <a:endParaRPr lang="zh-CN"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1031"/>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lstStyle/>
          <a:p>
            <a:pPr lvl="0" algn="r">
              <a:buClrTx/>
              <a:buFontTx/>
              <a:buNone/>
            </a:pPr>
            <a:fld id="{9A0DB2DC-4C9A-4742-B13C-FB6460FD3503}" type="slidenum">
              <a:rPr lang="en-US" altLang="zh-CN" sz="1200" dirty="0">
                <a:solidFill>
                  <a:schemeClr val="tx1"/>
                </a:solidFill>
              </a:rPr>
              <a:t>16</a:t>
            </a:fld>
            <a:endParaRPr lang="en-US" altLang="zh-CN" sz="1200" dirty="0">
              <a:solidFill>
                <a:schemeClr val="tx1"/>
              </a:solidFill>
            </a:endParaRPr>
          </a:p>
        </p:txBody>
      </p:sp>
      <p:sp>
        <p:nvSpPr>
          <p:cNvPr id="26626" name="Rectangle 2"/>
          <p:cNvSpPr>
            <a:spLocks noGrp="1" noRot="1" noChangeAspect="1" noTextEdit="1"/>
          </p:cNvSpPr>
          <p:nvPr>
            <p:ph type="sldImg"/>
          </p:nvPr>
        </p:nvSpPr>
        <p:spPr/>
      </p:sp>
      <p:sp>
        <p:nvSpPr>
          <p:cNvPr id="26627" name="Rectangle 3"/>
          <p:cNvSpPr>
            <a:spLocks noGrp="1"/>
          </p:cNvSpPr>
          <p:nvPr>
            <p:ph type="body"/>
          </p:nvPr>
        </p:nvSpPr>
        <p:spPr/>
        <p:txBody>
          <a:bodyPr wrap="square" lIns="91440" tIns="45720" rIns="91440" bIns="45720" anchor="t" anchorCtr="0"/>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本页</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PPT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讲述拓扑结构基本概念</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拓扑结构是计算机网络设计的核心基础，它采用拓扑学的方法，将网络中的设备抽象为</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点</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（节点），将通信链路抽象为</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线</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（连接），通过研究这些几何图形的连接关系，来分析和优化网络的整体架构。这种抽象方法使我们能够：</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忽略具体的物理设备差异（如路由器型号）</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聚焦于连接的本质特征（如路径冗余性）</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预判网络的可靠性、扩展性和性能瓶颈</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主要拓扑类型有总线形、星形、环形、树形、网状形等。</a:t>
            </a:r>
          </a:p>
          <a:p>
            <a:pPr lvl="0" eaLnBrk="1" hangingPunct="1"/>
            <a:endParaRPr lang="zh-CN" altLang="zh-CN"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最简单的拓扑结构就是总线型拓扑。 </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结构特征：所有节点共享单一传输介质（如同轴电缆）；</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优势：布线成本低，适合小型网络</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缺陷：冲突域问题（需</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CSMA/CD</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协调）、单点故障导致全网瘫痪</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总线型拓扑的典型网络实例就是传统以太网（</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10Base2/10Base5</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），如今已被交换机星型拓扑取代，但在工业控制领域仍有使用。</a:t>
            </a:r>
          </a:p>
          <a:p>
            <a:endParaRPr lang="zh-CN" altLang="en-US" dirty="0"/>
          </a:p>
        </p:txBody>
      </p:sp>
    </p:spTree>
    <p:extLst>
      <p:ext uri="{BB962C8B-B14F-4D97-AF65-F5344CB8AC3E}">
        <p14:creationId xmlns:p14="http://schemas.microsoft.com/office/powerpoint/2010/main" val="32252088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1031"/>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lstStyle/>
          <a:p>
            <a:pPr lvl="0" algn="r">
              <a:buClrTx/>
              <a:buFontTx/>
              <a:buNone/>
            </a:pPr>
            <a:fld id="{9A0DB2DC-4C9A-4742-B13C-FB6460FD3503}" type="slidenum">
              <a:rPr lang="en-US" altLang="zh-CN" sz="1200" dirty="0">
                <a:solidFill>
                  <a:schemeClr val="tx1"/>
                </a:solidFill>
              </a:rPr>
              <a:t>18</a:t>
            </a:fld>
            <a:endParaRPr lang="en-US" altLang="zh-CN" sz="1200" dirty="0">
              <a:solidFill>
                <a:schemeClr val="tx1"/>
              </a:solidFill>
            </a:endParaRPr>
          </a:p>
        </p:txBody>
      </p:sp>
      <p:sp>
        <p:nvSpPr>
          <p:cNvPr id="29698" name="Rectangle 2"/>
          <p:cNvSpPr>
            <a:spLocks noGrp="1" noRot="1" noChangeAspect="1" noTextEdit="1"/>
          </p:cNvSpPr>
          <p:nvPr>
            <p:ph type="sldImg"/>
          </p:nvPr>
        </p:nvSpPr>
        <p:spPr/>
      </p:sp>
      <p:sp>
        <p:nvSpPr>
          <p:cNvPr id="29699" name="Rectangle 3"/>
          <p:cNvSpPr>
            <a:spLocks noGrp="1"/>
          </p:cNvSpPr>
          <p:nvPr>
            <p:ph type="body"/>
          </p:nvPr>
        </p:nvSpPr>
        <p:spPr/>
        <p:txBody>
          <a:bodyPr wrap="square" lIns="91440" tIns="45720" rIns="91440" bIns="45720" anchor="t" anchorCtr="0"/>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星形拓扑是一种以中央节点为核心，通过</a:t>
            </a:r>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独立点对点链路</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辐射状连接所有终端节点的网络结构。其核心特征包括：</a:t>
            </a:r>
          </a:p>
          <a:p>
            <a:pPr lvl="0"/>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中心化控制架构</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：所有通信必须经由中央节点（如交换机、集线器或无线</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）转发</a:t>
            </a:r>
          </a:p>
          <a:p>
            <a:pPr lvl="0"/>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链路独立性</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：各节点间无直接连接，形成</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"hub-and-spoke"</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模型</a:t>
            </a:r>
          </a:p>
          <a:p>
            <a:pPr lvl="0"/>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逻辑与物理拓扑统一</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：物理连接方式直接映射为数据流向逻辑</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星形拓扑优点</a:t>
            </a:r>
          </a:p>
          <a:p>
            <a:pPr lvl="0"/>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扩展灵活</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热插拔新增节点（无需中断网络）</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层级扩展：通过堆叠技术形成分布式星型</a:t>
            </a:r>
          </a:p>
          <a:p>
            <a:pPr lvl="0"/>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管理便捷性</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集中式流量监控（通过</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SNMP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采集交换机数据）</a:t>
            </a:r>
          </a:p>
          <a:p>
            <a:r>
              <a:rPr lang="en-US" altLang="zh-CN" sz="1200" kern="1200" dirty="0" err="1" smtClean="0">
                <a:solidFill>
                  <a:schemeClr val="tx1"/>
                </a:solidFill>
                <a:effectLst/>
                <a:latin typeface="Times New Roman" panose="02020603050405020304" pitchFamily="18" charset="0"/>
                <a:ea typeface="宋体" panose="02010600030101010101" pitchFamily="2" charset="-122"/>
                <a:cs typeface="+mn-cs"/>
              </a:rPr>
              <a:t>QoS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策略统一部署（如</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VLAN</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划分、带宽限制）</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安全管控：端口安全（</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MAC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绑定）、</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802.1X</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认证</a:t>
            </a:r>
          </a:p>
          <a:p>
            <a:pPr lvl="0"/>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故障隔离性</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终端节点故障仅影响本地（如</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PC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网卡损坏）</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链路中断不影响其他节点（对比总线型拓扑）</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星形拓扑缺点</a:t>
            </a:r>
          </a:p>
          <a:p>
            <a:pPr lvl="0"/>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布线复杂度问题</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结构化布线系统（</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TIA-568</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标准）</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预连接光纤系统（减少现场熔接）</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无线回传替代（如</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60GHz</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毫米波）</a:t>
            </a:r>
          </a:p>
          <a:p>
            <a:pPr lvl="0"/>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中央节点单点故障</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硬件冗余：采用堆叠交换机或</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HSRP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协议</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虚拟化方案：</a:t>
            </a:r>
            <a:r>
              <a:rPr lang="en-US" altLang="zh-CN" sz="1200" kern="1200" dirty="0" err="1" smtClean="0">
                <a:solidFill>
                  <a:schemeClr val="tx1"/>
                </a:solidFill>
                <a:effectLst/>
                <a:latin typeface="Times New Roman" panose="02020603050405020304" pitchFamily="18" charset="0"/>
                <a:ea typeface="宋体" panose="02010600030101010101" pitchFamily="2" charset="-122"/>
                <a:cs typeface="+mn-cs"/>
              </a:rPr>
              <a:t>vPC</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err="1" smtClean="0">
                <a:solidFill>
                  <a:schemeClr val="tx1"/>
                </a:solidFill>
                <a:effectLst/>
                <a:latin typeface="Times New Roman" panose="02020603050405020304" pitchFamily="18" charset="0"/>
                <a:ea typeface="宋体" panose="02010600030101010101" pitchFamily="2" charset="-122"/>
                <a:cs typeface="+mn-cs"/>
              </a:rPr>
              <a:t>vSwitch</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等虚拟端口技术</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星形拓扑</a:t>
            </a:r>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典型应用场景就是企业办公网络，该网络的</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接入层采用星型拓扑交换机。</a:t>
            </a:r>
          </a:p>
          <a:p>
            <a:pPr lvl="0" eaLnBrk="1" hangingPunct="1"/>
            <a:endParaRPr lang="zh-CN" altLang="zh-CN" b="1" u="sng"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环形拓扑是一种节点通过闭合环路首尾相连的网络结构，其核心特征包括：</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闭合传输路径：数据沿单向或双向环路持续流动</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无端点特性：区别于总线型拓扑的终端匹配要求</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确定性介质访问：典型实现采用令牌传递（</a:t>
            </a:r>
            <a:r>
              <a:rPr lang="en-US" altLang="zh-CN" sz="1200" kern="1200" dirty="0" err="1" smtClean="0">
                <a:solidFill>
                  <a:schemeClr val="tx1"/>
                </a:solidFill>
                <a:effectLst/>
                <a:latin typeface="Times New Roman" panose="02020603050405020304" pitchFamily="18" charset="0"/>
                <a:ea typeface="宋体" panose="02010600030101010101" pitchFamily="2" charset="-122"/>
                <a:cs typeface="+mn-cs"/>
              </a:rPr>
              <a:t>TokenPassing</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）机制</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环形拓扑优势</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光纤适配性优势</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带宽利用率：统计复用效率达</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90%+</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（对比</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CSMA/CD</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&lt;60%</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确定性延迟：令牌轮转时间可精确计算（最大延迟</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节点数</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单节点传输处理耗时）</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关键应用：工业控制系统（如西门子</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S7-1500PLC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环网）</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结构稳定性</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无冲突传输（对比以太网</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CSMA/CD</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功率预算均衡（光纤环形结构信号衰减可预测）</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环形拓扑缺陷</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环路可靠性挑战</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双环容错：</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FDDI</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primary/secondary</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环设计、自愈时间</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&lt;50ms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（光纤断路自动切换）</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环网保护协议：</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ERPS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（以太环保护切换，</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G.8032</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）、倒换时间</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&lt;20ms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（达到电信级要求）</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扩展性限制</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节点数理论限制（令牌环最大</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250</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节点）</a:t>
            </a:r>
          </a:p>
          <a:p>
            <a:endParaRPr lang="zh-CN" altLang="en-US" dirty="0"/>
          </a:p>
        </p:txBody>
      </p:sp>
    </p:spTree>
    <p:extLst>
      <p:ext uri="{BB962C8B-B14F-4D97-AF65-F5344CB8AC3E}">
        <p14:creationId xmlns:p14="http://schemas.microsoft.com/office/powerpoint/2010/main" val="312718316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1031"/>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lstStyle/>
          <a:p>
            <a:pPr lvl="0" algn="r">
              <a:buClrTx/>
              <a:buFontTx/>
              <a:buNone/>
            </a:pPr>
            <a:fld id="{9A0DB2DC-4C9A-4742-B13C-FB6460FD3503}" type="slidenum">
              <a:rPr lang="en-US" altLang="zh-CN" sz="1200" dirty="0">
                <a:solidFill>
                  <a:schemeClr val="tx1"/>
                </a:solidFill>
              </a:rPr>
              <a:t>20</a:t>
            </a:fld>
            <a:endParaRPr lang="en-US" altLang="zh-CN" sz="1200" dirty="0">
              <a:solidFill>
                <a:schemeClr val="tx1"/>
              </a:solidFill>
            </a:endParaRPr>
          </a:p>
        </p:txBody>
      </p:sp>
      <p:sp>
        <p:nvSpPr>
          <p:cNvPr id="32770" name="Rectangle 2"/>
          <p:cNvSpPr>
            <a:spLocks noGrp="1" noRot="1" noChangeAspect="1" noTextEdit="1"/>
          </p:cNvSpPr>
          <p:nvPr>
            <p:ph type="sldImg"/>
          </p:nvPr>
        </p:nvSpPr>
        <p:spPr/>
      </p:sp>
      <p:sp>
        <p:nvSpPr>
          <p:cNvPr id="32771" name="Rectangle 3"/>
          <p:cNvSpPr>
            <a:spLocks noGrp="1"/>
          </p:cNvSpPr>
          <p:nvPr>
            <p:ph type="body"/>
          </p:nvPr>
        </p:nvSpPr>
        <p:spPr/>
        <p:txBody>
          <a:bodyPr wrap="square" lIns="91440" tIns="45720" rIns="91440" bIns="45720" anchor="t" anchorCtr="0"/>
          <a:lstStyle/>
          <a:p>
            <a:pPr lvl="0" eaLnBrk="1" hangingPunct="1"/>
            <a:endParaRPr lang="en-US" altLang="zh-CN" dirty="0"/>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树形拓扑是一种分层递归的网络结构，其特征包括：</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根叶分层：由根节点（</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Root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）、分支节点（</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Branch</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）和叶节点（</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Leaf</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）构成多级层次</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单向数据流：通常采用</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根</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分支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叶</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的下行广播和</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叶</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分支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根</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的上行汇聚模式</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树形拓扑优势</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分层容错机制</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子树隔离：单分支故障不影响其他子树（对比总线型）</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-BPDU</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保护：防止边缘端口误接破坏树结构</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流量工程优势</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上行流量聚合：分支节点实现数据归并</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分级</a:t>
            </a:r>
            <a:r>
              <a:rPr lang="en-US" altLang="zh-CN" sz="1200" kern="1200" dirty="0" err="1" smtClean="0">
                <a:solidFill>
                  <a:schemeClr val="tx1"/>
                </a:solidFill>
                <a:effectLst/>
                <a:latin typeface="Times New Roman" panose="02020603050405020304" pitchFamily="18" charset="0"/>
                <a:ea typeface="宋体" panose="02010600030101010101" pitchFamily="2" charset="-122"/>
                <a:cs typeface="+mn-cs"/>
              </a:rPr>
              <a:t>QoS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策略：核心层优先保障</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VoIP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流量</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树形拓扑缺陷</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根节点依赖问题</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多根系统：</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VRRP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虚拟路由器冗余协议</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分布式根：基于</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SDN</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的逻辑多根架构</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收敛速度瓶颈</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快速生成树（</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RSTP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）：收敛时间</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&lt;1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秒</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华为</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SEP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智能以太保护协议：</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50ms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级倒换</a:t>
            </a:r>
          </a:p>
          <a:p>
            <a:pPr lvl="0" eaLnBrk="1" hangingPunct="1"/>
            <a:endParaRPr lang="en-US" altLang="zh-CN"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1031"/>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lstStyle/>
          <a:p>
            <a:pPr lvl="0" algn="r">
              <a:buClrTx/>
              <a:buFontTx/>
              <a:buNone/>
            </a:pPr>
            <a:fld id="{9A0DB2DC-4C9A-4742-B13C-FB6460FD3503}" type="slidenum">
              <a:rPr lang="en-US" altLang="zh-CN" sz="1200" dirty="0">
                <a:solidFill>
                  <a:schemeClr val="tx1"/>
                </a:solidFill>
              </a:rPr>
              <a:t>21</a:t>
            </a:fld>
            <a:endParaRPr lang="en-US" altLang="zh-CN" sz="1200" dirty="0">
              <a:solidFill>
                <a:schemeClr val="tx1"/>
              </a:solidFill>
            </a:endParaRPr>
          </a:p>
        </p:txBody>
      </p:sp>
      <p:sp>
        <p:nvSpPr>
          <p:cNvPr id="34818" name="Rectangle 2"/>
          <p:cNvSpPr>
            <a:spLocks noGrp="1" noRot="1" noChangeAspect="1" noTextEdit="1"/>
          </p:cNvSpPr>
          <p:nvPr>
            <p:ph type="sldImg"/>
          </p:nvPr>
        </p:nvSpPr>
        <p:spPr/>
      </p:sp>
      <p:sp>
        <p:nvSpPr>
          <p:cNvPr id="34819" name="Rectangle 3"/>
          <p:cNvSpPr>
            <a:spLocks noGrp="1"/>
          </p:cNvSpPr>
          <p:nvPr>
            <p:ph type="body"/>
          </p:nvPr>
        </p:nvSpPr>
        <p:spPr/>
        <p:txBody>
          <a:bodyPr wrap="square" lIns="91440" tIns="45720" rIns="91440" bIns="45720" anchor="t" anchorCtr="0"/>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网状拓扑是一种全连接或部分连接的非结构化网络，其核心特征表现为：</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多路径互联：每个节点至少与两个其他节点直接相连（部分网状），或与所有节点互联（全网状）</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去中心化结构：不存在层级或固定通信路径，区别于星型</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树型拓扑</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动态路由特性：数据包可通过多跳路径到达目标（如</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IP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网络的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下一跳</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机制）</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网状拓扑的最大优势就是超高可靠性机制</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多路径冗余</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典型实现：</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ECMP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（等价多路径路由）</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故障自愈：</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BGP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收敛优化至秒级</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抗毁性设计</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军事网络：</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DARPA</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MANET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项目</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太空网络：</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CCSDS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DTN</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协议</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网状拓扑的缺点也很明显，如：</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通信线路冗余大，使得网络费用增加；</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传输效率低，复杂的路由与转发过程导致数据传输效率不高；</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网状拓扑本质上是以冗余换可靠性的设计哲学，在关键基础设施领域不可替代。现代网络通过协议优化和</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SDN</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控制，正逐步解决其效率瓶颈问题。</a:t>
            </a:r>
          </a:p>
          <a:p>
            <a:pPr lvl="0" eaLnBrk="1" hangingPunct="1"/>
            <a:endParaRPr lang="en-US" altLang="zh-CN"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网络拓扑结构的选择是网络设计的核心决策，这</a:t>
            </a:r>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不是一件简单的事情，它是一个多维决策过程</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，需要综合考量多个关键因素构成的</a:t>
            </a:r>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技术</a:t>
            </a:r>
            <a:r>
              <a:rPr lang="en-US" altLang="zh-CN" sz="1200" b="1"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经济权衡模型</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r>
              <a:rPr lang="zh-CN" altLang="zh-CN" sz="1200" b="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b="0" kern="1200" dirty="0" smtClean="0">
                <a:solidFill>
                  <a:schemeClr val="tx1"/>
                </a:solidFill>
                <a:effectLst/>
                <a:latin typeface="Times New Roman" panose="02020603050405020304" pitchFamily="18" charset="0"/>
                <a:ea typeface="宋体" panose="02010600030101010101" pitchFamily="2" charset="-122"/>
                <a:cs typeface="+mn-cs"/>
              </a:rPr>
              <a:t>1</a:t>
            </a:r>
            <a:r>
              <a:rPr lang="zh-CN" altLang="zh-CN" sz="1200" b="0" kern="1200" dirty="0" smtClean="0">
                <a:solidFill>
                  <a:schemeClr val="tx1"/>
                </a:solidFill>
                <a:effectLst/>
                <a:latin typeface="Times New Roman" panose="02020603050405020304" pitchFamily="18" charset="0"/>
                <a:ea typeface="宋体" panose="02010600030101010101" pitchFamily="2" charset="-122"/>
                <a:cs typeface="+mn-cs"/>
              </a:rPr>
              <a:t>）传输介质特性</a:t>
            </a:r>
            <a:endPar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endParaRPr>
          </a:p>
          <a:p>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有线介质适配性</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pPr lvl="0"/>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双绞线：适合星型拓扑（</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≤100m</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Cat6A</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支持</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10Gbps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pPr lvl="0"/>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光纤：环形</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网状拓扑最佳（单模支持</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80km</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无中继）</a:t>
            </a:r>
          </a:p>
          <a:p>
            <a:pPr lvl="0"/>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同轴电缆：逐渐淘汰，仅存于总线型</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CATV</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网络</a:t>
            </a:r>
          </a:p>
          <a:p>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无线介质约束</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pPr lvl="0"/>
            <a:r>
              <a:rPr lang="en-US" altLang="zh-CN" sz="1200" kern="1200" dirty="0" err="1" smtClean="0">
                <a:solidFill>
                  <a:schemeClr val="tx1"/>
                </a:solidFill>
                <a:effectLst/>
                <a:latin typeface="Times New Roman" panose="02020603050405020304" pitchFamily="18" charset="0"/>
                <a:ea typeface="宋体" panose="02010600030101010101" pitchFamily="2" charset="-122"/>
                <a:cs typeface="+mn-cs"/>
              </a:rPr>
              <a:t>WiFi</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IEEE802.11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）：星型（</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Infra</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模式）</a:t>
            </a:r>
            <a:r>
              <a:rPr lang="en-US" altLang="zh-CN" sz="1200" kern="1200" dirty="0" err="1" smtClean="0">
                <a:solidFill>
                  <a:schemeClr val="tx1"/>
                </a:solidFill>
                <a:effectLst/>
                <a:latin typeface="Times New Roman" panose="02020603050405020304" pitchFamily="18" charset="0"/>
                <a:ea typeface="宋体" panose="02010600030101010101" pitchFamily="2" charset="-122"/>
                <a:cs typeface="+mn-cs"/>
              </a:rPr>
              <a:t>vsMesh</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802.11s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pPr lvl="0"/>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5G</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毫米波：需考虑视距传输对网状拓扑的影响</a:t>
            </a:r>
          </a:p>
          <a:p>
            <a:r>
              <a:rPr lang="zh-CN" altLang="zh-CN" sz="1200" b="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b="0" kern="1200" dirty="0" smtClean="0">
                <a:solidFill>
                  <a:schemeClr val="tx1"/>
                </a:solidFill>
                <a:effectLst/>
                <a:latin typeface="Times New Roman" panose="02020603050405020304" pitchFamily="18" charset="0"/>
                <a:ea typeface="宋体" panose="02010600030101010101" pitchFamily="2" charset="-122"/>
                <a:cs typeface="+mn-cs"/>
              </a:rPr>
              <a:t>2</a:t>
            </a:r>
            <a:r>
              <a:rPr lang="zh-CN" altLang="zh-CN" sz="1200" b="0" kern="1200" dirty="0" smtClean="0">
                <a:solidFill>
                  <a:schemeClr val="tx1"/>
                </a:solidFill>
                <a:effectLst/>
                <a:latin typeface="Times New Roman" panose="02020603050405020304" pitchFamily="18" charset="0"/>
                <a:ea typeface="宋体" panose="02010600030101010101" pitchFamily="2" charset="-122"/>
                <a:cs typeface="+mn-cs"/>
              </a:rPr>
              <a:t>）介质访问控制方法</a:t>
            </a:r>
            <a:endPar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endParaRPr>
          </a:p>
          <a:p>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竞争型协议</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pPr lvl="0"/>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CSMA/CD</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：适合总线型以太网（逐级被淘汰）</a:t>
            </a:r>
          </a:p>
          <a:p>
            <a:pPr lvl="0"/>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CSMA/CA</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err="1" smtClean="0">
                <a:solidFill>
                  <a:schemeClr val="tx1"/>
                </a:solidFill>
                <a:effectLst/>
                <a:latin typeface="Times New Roman" panose="02020603050405020304" pitchFamily="18" charset="0"/>
                <a:ea typeface="宋体" panose="02010600030101010101" pitchFamily="2" charset="-122"/>
                <a:cs typeface="+mn-cs"/>
              </a:rPr>
              <a:t>WiFi</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星型拓扑的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MAC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层基础</a:t>
            </a:r>
          </a:p>
          <a:p>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确定性协议</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pPr lvl="0"/>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令牌传递：环形拓扑专属（</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IEEE802.5</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pPr lvl="0"/>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TDMA</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：工业无线网状网络（如</a:t>
            </a:r>
            <a:r>
              <a:rPr lang="en-US" altLang="zh-CN" sz="1200" kern="1200" dirty="0" err="1" smtClean="0">
                <a:solidFill>
                  <a:schemeClr val="tx1"/>
                </a:solidFill>
                <a:effectLst/>
                <a:latin typeface="Times New Roman" panose="02020603050405020304" pitchFamily="18" charset="0"/>
                <a:ea typeface="宋体" panose="02010600030101010101" pitchFamily="2" charset="-122"/>
                <a:cs typeface="+mn-cs"/>
              </a:rPr>
              <a:t>WirelessHART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混合型协议</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pPr lvl="0"/>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全双工交换式以太网：重构星型拓扑的冲突域</a:t>
            </a:r>
          </a:p>
          <a:p>
            <a:r>
              <a:rPr lang="zh-CN" altLang="zh-CN" sz="1200" b="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b="0" kern="1200" dirty="0" smtClean="0">
                <a:solidFill>
                  <a:schemeClr val="tx1"/>
                </a:solidFill>
                <a:effectLst/>
                <a:latin typeface="Times New Roman" panose="02020603050405020304" pitchFamily="18" charset="0"/>
                <a:ea typeface="宋体" panose="02010600030101010101" pitchFamily="2" charset="-122"/>
                <a:cs typeface="+mn-cs"/>
              </a:rPr>
              <a:t>3</a:t>
            </a:r>
            <a:r>
              <a:rPr lang="zh-CN" altLang="zh-CN" sz="1200" b="0" kern="1200" dirty="0" smtClean="0">
                <a:solidFill>
                  <a:schemeClr val="tx1"/>
                </a:solidFill>
                <a:effectLst/>
                <a:latin typeface="Times New Roman" panose="02020603050405020304" pitchFamily="18" charset="0"/>
                <a:ea typeface="宋体" panose="02010600030101010101" pitchFamily="2" charset="-122"/>
                <a:cs typeface="+mn-cs"/>
              </a:rPr>
              <a:t>）经济性与技术平衡</a:t>
            </a:r>
            <a:endPar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endParaRPr>
          </a:p>
          <a:p>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成本模型</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pPr lvl="0"/>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布线成本：网状＞环形＞星型＞总线型</a:t>
            </a:r>
          </a:p>
          <a:p>
            <a:pPr lvl="0"/>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设备成本：核心交换机</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vs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边缘路由器投入差异</a:t>
            </a:r>
          </a:p>
          <a:p>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全生命周期考量</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pPr lvl="0"/>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扩展成本：树型拓扑的模块化优势</a:t>
            </a:r>
          </a:p>
          <a:p>
            <a:pPr lvl="0"/>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维护成本：星型拓扑的故障定位效率</a:t>
            </a:r>
          </a:p>
          <a:p>
            <a:r>
              <a:rPr lang="zh-CN" altLang="zh-CN" sz="1200" b="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b="0" kern="1200" dirty="0" smtClean="0">
                <a:solidFill>
                  <a:schemeClr val="tx1"/>
                </a:solidFill>
                <a:effectLst/>
                <a:latin typeface="Times New Roman" panose="02020603050405020304" pitchFamily="18" charset="0"/>
                <a:ea typeface="宋体" panose="02010600030101010101" pitchFamily="2" charset="-122"/>
                <a:cs typeface="+mn-cs"/>
              </a:rPr>
              <a:t>4</a:t>
            </a:r>
            <a:r>
              <a:rPr lang="zh-CN" altLang="zh-CN" sz="1200" b="0" kern="1200" dirty="0" smtClean="0">
                <a:solidFill>
                  <a:schemeClr val="tx1"/>
                </a:solidFill>
                <a:effectLst/>
                <a:latin typeface="Times New Roman" panose="02020603050405020304" pitchFamily="18" charset="0"/>
                <a:ea typeface="宋体" panose="02010600030101010101" pitchFamily="2" charset="-122"/>
                <a:cs typeface="+mn-cs"/>
              </a:rPr>
              <a:t>）灵活性需求</a:t>
            </a:r>
            <a:endPar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endParaRPr>
          </a:p>
          <a:p>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物理灵活性</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pPr lvl="0"/>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无线</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Mesh</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：临时网络部署（救灾</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军事）</a:t>
            </a:r>
          </a:p>
          <a:p>
            <a:pPr lvl="0"/>
            <a:r>
              <a:rPr lang="en-US" altLang="zh-CN" sz="1200" kern="1200" dirty="0" err="1" smtClean="0">
                <a:solidFill>
                  <a:schemeClr val="tx1"/>
                </a:solidFill>
                <a:effectLst/>
                <a:latin typeface="Times New Roman" panose="02020603050405020304" pitchFamily="18" charset="0"/>
                <a:ea typeface="宋体" panose="02010600030101010101" pitchFamily="2" charset="-122"/>
                <a:cs typeface="+mn-cs"/>
              </a:rPr>
              <a:t>PoE</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供电：星型拓扑的终端灵活部署</a:t>
            </a:r>
          </a:p>
          <a:p>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逻辑灵活性</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pPr lvl="0"/>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SDN</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覆盖网络：在物理星型上实现逻辑网状</a:t>
            </a:r>
          </a:p>
          <a:p>
            <a:pPr lvl="0"/>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VLAN</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划分：树型拓扑中的虚拟网络切片</a:t>
            </a:r>
          </a:p>
          <a:p>
            <a:r>
              <a:rPr lang="zh-CN" altLang="zh-CN" sz="1200" b="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b="0" kern="1200" dirty="0" smtClean="0">
                <a:solidFill>
                  <a:schemeClr val="tx1"/>
                </a:solidFill>
                <a:effectLst/>
                <a:latin typeface="Times New Roman" panose="02020603050405020304" pitchFamily="18" charset="0"/>
                <a:ea typeface="宋体" panose="02010600030101010101" pitchFamily="2" charset="-122"/>
                <a:cs typeface="+mn-cs"/>
              </a:rPr>
              <a:t>5</a:t>
            </a:r>
            <a:r>
              <a:rPr lang="zh-CN" altLang="zh-CN" sz="1200" b="0" kern="1200" dirty="0" smtClean="0">
                <a:solidFill>
                  <a:schemeClr val="tx1"/>
                </a:solidFill>
                <a:effectLst/>
                <a:latin typeface="Times New Roman" panose="02020603050405020304" pitchFamily="18" charset="0"/>
                <a:ea typeface="宋体" panose="02010600030101010101" pitchFamily="2" charset="-122"/>
                <a:cs typeface="+mn-cs"/>
              </a:rPr>
              <a:t>）可靠性要求</a:t>
            </a:r>
            <a:endPar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endParaRPr>
          </a:p>
          <a:p>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冗余设计</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pPr lvl="0"/>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网状：多路径冗余（金融骨干网）</a:t>
            </a:r>
          </a:p>
          <a:p>
            <a:pPr lvl="0"/>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双环：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FDDI</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a:t>
            </a:r>
            <a:r>
              <a:rPr lang="en-US" altLang="zh-CN" sz="1200" kern="1200" dirty="0" err="1" smtClean="0">
                <a:solidFill>
                  <a:schemeClr val="tx1"/>
                </a:solidFill>
                <a:effectLst/>
                <a:latin typeface="Times New Roman" panose="02020603050405020304" pitchFamily="18" charset="0"/>
                <a:ea typeface="宋体" panose="02010600030101010101" pitchFamily="2" charset="-122"/>
                <a:cs typeface="+mn-cs"/>
              </a:rPr>
              <a:t>DualHoming</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设计</a:t>
            </a:r>
          </a:p>
          <a:p>
            <a:r>
              <a:rPr lang="en-US" altLang="zh-CN" sz="1200" b="1" kern="1200" dirty="0" smtClean="0">
                <a:solidFill>
                  <a:schemeClr val="tx1"/>
                </a:solidFill>
                <a:effectLst/>
                <a:latin typeface="Times New Roman" panose="02020603050405020304" pitchFamily="18" charset="0"/>
                <a:ea typeface="宋体" panose="02010600030101010101" pitchFamily="2" charset="-122"/>
                <a:cs typeface="+mn-cs"/>
              </a:rPr>
              <a:t>MTBF</a:t>
            </a:r>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指标</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pPr lvl="0"/>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工业网络：环形拓扑的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99.999%</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可用性要求</a:t>
            </a:r>
          </a:p>
          <a:p>
            <a:pPr lvl="0"/>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企业网：星型拓扑的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5</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个</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9</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标准</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endParaRPr lang="zh-CN" altLang="en-US" dirty="0"/>
          </a:p>
        </p:txBody>
      </p:sp>
    </p:spTree>
    <p:extLst>
      <p:ext uri="{BB962C8B-B14F-4D97-AF65-F5344CB8AC3E}">
        <p14:creationId xmlns:p14="http://schemas.microsoft.com/office/powerpoint/2010/main" val="251218969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明白了计算机网络拓扑选择的影响因素之后，我们给出一个不同应用场景下的网络拓扑决策参考，如</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PPT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中的表格所示，大家对照其中的条目仔细思考其中的决策原因。</a:t>
            </a:r>
          </a:p>
          <a:p>
            <a:endParaRPr lang="zh-CN" altLang="en-US" dirty="0"/>
          </a:p>
        </p:txBody>
      </p:sp>
    </p:spTree>
    <p:extLst>
      <p:ext uri="{BB962C8B-B14F-4D97-AF65-F5344CB8AC3E}">
        <p14:creationId xmlns:p14="http://schemas.microsoft.com/office/powerpoint/2010/main" val="411960259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1031"/>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lstStyle/>
          <a:p>
            <a:pPr lvl="0" algn="r">
              <a:buClrTx/>
              <a:buFontTx/>
              <a:buNone/>
            </a:pPr>
            <a:fld id="{9A0DB2DC-4C9A-4742-B13C-FB6460FD3503}" type="slidenum">
              <a:rPr lang="en-US" altLang="zh-CN" sz="1200" dirty="0">
                <a:solidFill>
                  <a:schemeClr val="tx1"/>
                </a:solidFill>
              </a:rPr>
              <a:t>24</a:t>
            </a:fld>
            <a:endParaRPr lang="en-US" altLang="zh-CN" sz="1200" dirty="0">
              <a:solidFill>
                <a:schemeClr val="tx1"/>
              </a:solidFill>
            </a:endParaRPr>
          </a:p>
        </p:txBody>
      </p:sp>
      <p:sp>
        <p:nvSpPr>
          <p:cNvPr id="37890" name="Rectangle 2"/>
          <p:cNvSpPr>
            <a:spLocks noGrp="1" noRot="1" noChangeAspect="1" noTextEdit="1"/>
          </p:cNvSpPr>
          <p:nvPr>
            <p:ph type="sldImg"/>
          </p:nvPr>
        </p:nvSpPr>
        <p:spPr/>
      </p:sp>
      <p:sp>
        <p:nvSpPr>
          <p:cNvPr id="37891" name="Rectangle 3"/>
          <p:cNvSpPr>
            <a:spLocks noGrp="1"/>
          </p:cNvSpPr>
          <p:nvPr>
            <p:ph type="body"/>
          </p:nvPr>
        </p:nvSpPr>
        <p:spPr/>
        <p:txBody>
          <a:bodyPr wrap="square" lIns="91440" tIns="45720" rIns="91440" bIns="45720" anchor="t" anchorCtr="0"/>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计算机网络逻辑结构实际上关注的是数据传输方式，通常可分为</a:t>
            </a:r>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广播式网络（</a:t>
            </a:r>
            <a:r>
              <a:rPr lang="en-US" altLang="zh-CN" sz="1200" b="1" kern="1200" dirty="0" smtClean="0">
                <a:solidFill>
                  <a:schemeClr val="tx1"/>
                </a:solidFill>
                <a:effectLst/>
                <a:latin typeface="Times New Roman" panose="02020603050405020304" pitchFamily="18" charset="0"/>
                <a:ea typeface="宋体" panose="02010600030101010101" pitchFamily="2" charset="-122"/>
                <a:cs typeface="+mn-cs"/>
              </a:rPr>
              <a:t>Broadcast Networks</a:t>
            </a:r>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和</a:t>
            </a:r>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点对点式网络（</a:t>
            </a:r>
            <a:r>
              <a:rPr lang="en-US" altLang="zh-CN" sz="1200" b="1" kern="1200" dirty="0" smtClean="0">
                <a:solidFill>
                  <a:schemeClr val="tx1"/>
                </a:solidFill>
                <a:effectLst/>
                <a:latin typeface="Times New Roman" panose="02020603050405020304" pitchFamily="18" charset="0"/>
                <a:ea typeface="宋体" panose="02010600030101010101" pitchFamily="2" charset="-122"/>
                <a:cs typeface="+mn-cs"/>
              </a:rPr>
              <a:t>Point-to-Point Networks</a:t>
            </a:r>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两种根本模式，二者的差异体现在协议设计、硬件实现和应用场景等各个层面。</a:t>
            </a:r>
          </a:p>
          <a:p>
            <a:pPr lvl="0" eaLnBrk="1" hangingPunct="1"/>
            <a:endParaRPr lang="en-US" altLang="zh-CN"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广播式网络是一种信道共享型通信系统，其共享信道本质既是网络效率优势的来源，也是网络性能瓶颈的根源。广播式网络的核心运行机制表现为：</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、所有计算机共享一条通信信道，网络本身也只有一条通信信道；</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、任一台计算机发出的信息可以直接被其他所有计算机接收，至于发送方自己是否需要接收广播信道上传输的数据依赖于实际的网络设计；</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3</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、两台以上计算机同时发送会产生冲突，冲突会导致当前发送行为失效；</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广播式网络涉及的核心技术有：</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）介质访问控制（</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MAC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）方法，包括竞争型访问、调度型访问、</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混合型访问等</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）冲突处理双策略，包括冲突检测与消除、冲突避免机制等</a:t>
            </a:r>
          </a:p>
          <a:p>
            <a:endParaRPr lang="zh-CN" altLang="en-US" dirty="0"/>
          </a:p>
        </p:txBody>
      </p:sp>
    </p:spTree>
    <p:extLst>
      <p:ext uri="{BB962C8B-B14F-4D97-AF65-F5344CB8AC3E}">
        <p14:creationId xmlns:p14="http://schemas.microsoft.com/office/powerpoint/2010/main" val="58523791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点对点（</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Point-to-Point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）网络是通过</a:t>
            </a:r>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专用链路</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直接连接两个网络节点的通信系统，其核心特征包括：</a:t>
            </a:r>
          </a:p>
          <a:p>
            <a:pPr lvl="0"/>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独占式信道</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：物理或逻辑上独立的双向传输通道（如</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T1/E1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专线）</a:t>
            </a:r>
          </a:p>
          <a:p>
            <a:pPr lvl="0"/>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显式路径建立</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：区别于广播网络的共享介质访问模式</a:t>
            </a:r>
          </a:p>
          <a:p>
            <a:pPr lvl="0"/>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多跳中继能力</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：支持通过中间设备（路由器</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交换机）构建端到端路径</a:t>
            </a:r>
          </a:p>
          <a:p>
            <a:pPr lvl="0"/>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路由冗余能力</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：一般情况下，两台计算机间的传输有多条路径可供选择</a:t>
            </a:r>
          </a:p>
          <a:p>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点对点网络的关键技术就是</a:t>
            </a:r>
            <a:r>
              <a:rPr lang="zh-CN" altLang="zh-CN" sz="1200" b="0" kern="1200" dirty="0" smtClean="0">
                <a:solidFill>
                  <a:schemeClr val="tx1"/>
                </a:solidFill>
                <a:effectLst/>
                <a:latin typeface="Times New Roman" panose="02020603050405020304" pitchFamily="18" charset="0"/>
                <a:ea typeface="宋体" panose="02010600030101010101" pitchFamily="2" charset="-122"/>
                <a:cs typeface="+mn-cs"/>
              </a:rPr>
              <a:t>路由选择，常见的路由方法有静态路由与动态路由，主要的路由条目都是由动态路由生成的。</a:t>
            </a:r>
            <a:endPar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endParaRPr>
          </a:p>
          <a:p>
            <a:pPr lvl="0"/>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静态路由，</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手工配置路由表、适用场景：网络拓扑稳定的小型网络</a:t>
            </a:r>
          </a:p>
          <a:p>
            <a:pPr lvl="0"/>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动态路由协议，</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距离矢量协议（</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RIP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BGP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）、链路状态协议（</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OSPF</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IS-IS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）、路径矢量协议（</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BGP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endParaRPr lang="zh-CN" altLang="en-US" dirty="0"/>
          </a:p>
        </p:txBody>
      </p:sp>
    </p:spTree>
    <p:extLst>
      <p:ext uri="{BB962C8B-B14F-4D97-AF65-F5344CB8AC3E}">
        <p14:creationId xmlns:p14="http://schemas.microsoft.com/office/powerpoint/2010/main" val="103970670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最后我们通过一个例程来分析网络物理结构与逻辑结构的协同关系。幻灯片上的星形拓扑在实际部署中呈现出</a:t>
            </a:r>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物理拓扑与逻辑拓扑的分离特性</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，这种解耦能力使其成为现代网络的基础架构。如图所示，节点</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要发送数据给节点</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D</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，在左边的广播式网络中，节点</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发出的数据被中心节点接收后，中心节点不做任何处理，直接从其它端口广播传输，节点</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B</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D</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都能够接收到节点</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发送的数据，由于节点</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B</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不是真正的数据接收方，故它们会将接收的数据丢弃，而节点</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D</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由于是真正的数据接收方，故它会保留接收的数据。</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接下来我们再看右边的点到点网络是实现节点</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到节点</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D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的数据传输过程，中心节点接收到节点</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发送的数据后，通过地址检查、路由选择等环节后将数据唯一地转发给节点</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D</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，节点</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B</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不会接收到</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发出的数据。</a:t>
            </a:r>
            <a:endParaRPr lang="zh-CN" altLang="en-US" dirty="0"/>
          </a:p>
        </p:txBody>
      </p:sp>
    </p:spTree>
    <p:extLst>
      <p:ext uri="{BB962C8B-B14F-4D97-AF65-F5344CB8AC3E}">
        <p14:creationId xmlns:p14="http://schemas.microsoft.com/office/powerpoint/2010/main" val="69895496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计算机网络的性能指标</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时延（</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Delay</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时延的定义与重要性</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时延（</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Delay</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是指数据单元（帧、分组或报文段）从通信链路或网络的源端传输到目的端所需的总时间。时延是评估网络性能的核心指标，直接影响用户体验（如视频卡顿、语音通话滞后）和系统效率（如实时控制系统的稳定性）。</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时延的组成及深度解析</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）发送时延（</a:t>
            </a:r>
            <a:r>
              <a:rPr lang="en-US" altLang="zh-CN" sz="1200" kern="1200" dirty="0" err="1" smtClean="0">
                <a:solidFill>
                  <a:schemeClr val="tx1"/>
                </a:solidFill>
                <a:effectLst/>
                <a:latin typeface="Times New Roman" panose="02020603050405020304" pitchFamily="18" charset="0"/>
                <a:ea typeface="宋体" panose="02010600030101010101" pitchFamily="2" charset="-122"/>
                <a:cs typeface="+mn-cs"/>
              </a:rPr>
              <a:t>TransmissionDelay</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定义：也称为传输时延，指将数据块的所有比特推送到传输介质上所需的时间。</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计算公式：</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发送时延</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数据块长度（比特）</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发送速率（比特</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秒）</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技术细节：</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与数据块大小成正比，与信道带宽成反比。</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例如：一个</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1500</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字节（</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12000</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比特）的以太网帧，在</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100Mbps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链路上的发送时延为</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12000/100×10</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⁶</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=0.12</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毫秒。</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）传播时延（</a:t>
            </a:r>
            <a:r>
              <a:rPr lang="en-US" altLang="zh-CN" sz="1200" kern="1200" dirty="0" err="1" smtClean="0">
                <a:solidFill>
                  <a:schemeClr val="tx1"/>
                </a:solidFill>
                <a:effectLst/>
                <a:latin typeface="Times New Roman" panose="02020603050405020304" pitchFamily="18" charset="0"/>
                <a:ea typeface="宋体" panose="02010600030101010101" pitchFamily="2" charset="-122"/>
                <a:cs typeface="+mn-cs"/>
              </a:rPr>
              <a:t>PropagationDelay</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定义：电磁信号在物理介质中传播一定距离所需的时间。</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计算公式：</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传播时延</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传输路径长度（米）</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信号传播速度（米</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秒）</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技术细节：</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信号传播速度取决于介质：光纤中约为</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2×10</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⁸</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m/s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，铜缆中约为</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2.3×10</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⁸</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m/s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与距离成正比，与数据速率无关。</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案例：北京到上海的光纤距离约</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1300</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公里，传播时延</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≈6.5</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毫秒。</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3</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）处理时延（</a:t>
            </a:r>
            <a:r>
              <a:rPr lang="en-US" altLang="zh-CN" sz="1200" kern="1200" dirty="0" err="1" smtClean="0">
                <a:solidFill>
                  <a:schemeClr val="tx1"/>
                </a:solidFill>
                <a:effectLst/>
                <a:latin typeface="Times New Roman" panose="02020603050405020304" pitchFamily="18" charset="0"/>
                <a:ea typeface="宋体" panose="02010600030101010101" pitchFamily="2" charset="-122"/>
                <a:cs typeface="+mn-cs"/>
              </a:rPr>
              <a:t>ProcessingDelay</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定义：网络设备（路由器、交换机）对数据包进行处理所需的时间。</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处理内容：首部解析（如</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IP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头部校验和计算）、路由表查找（最长前缀匹配算法）、协议转换（如</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NAT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操作）。</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技术细节：取决于设备硬件性能（</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ASIC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转发芯片</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vs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软件路由）。</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现代交换机处理时延通常＜</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微秒，软件路由器处理时延可能达毫秒级。</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4</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）排队时延（</a:t>
            </a:r>
            <a:r>
              <a:rPr lang="en-US" altLang="zh-CN" sz="1200" kern="1200" dirty="0" err="1" smtClean="0">
                <a:solidFill>
                  <a:schemeClr val="tx1"/>
                </a:solidFill>
                <a:effectLst/>
                <a:latin typeface="Times New Roman" panose="02020603050405020304" pitchFamily="18" charset="0"/>
                <a:ea typeface="宋体" panose="02010600030101010101" pitchFamily="2" charset="-122"/>
                <a:cs typeface="+mn-cs"/>
              </a:rPr>
              <a:t>QueueingDelay</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定义：数据包在设备输出队列中等待传输的时间。</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影响因素：网络负载强度（泊松过程建模）、队列调度算法（</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FIFO</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WFQ</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、优先级队列）。</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技术细节：遵循</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M/M/1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排队模型时，平均排队时延</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服务时间</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利用率</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利用率</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、突发流量可能导致缓冲区膨胀（</a:t>
            </a:r>
            <a:r>
              <a:rPr lang="en-US" altLang="zh-CN" sz="1200" kern="1200" dirty="0" err="1" smtClean="0">
                <a:solidFill>
                  <a:schemeClr val="tx1"/>
                </a:solidFill>
                <a:effectLst/>
                <a:latin typeface="Times New Roman" panose="02020603050405020304" pitchFamily="18" charset="0"/>
                <a:ea typeface="宋体" panose="02010600030101010101" pitchFamily="2" charset="-122"/>
                <a:cs typeface="+mn-cs"/>
              </a:rPr>
              <a:t>Bufferbloat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5</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）转发时延（</a:t>
            </a:r>
            <a:r>
              <a:rPr lang="en-US" altLang="zh-CN" sz="1200" kern="1200" dirty="0" err="1" smtClean="0">
                <a:solidFill>
                  <a:schemeClr val="tx1"/>
                </a:solidFill>
                <a:effectLst/>
                <a:latin typeface="Times New Roman" panose="02020603050405020304" pitchFamily="18" charset="0"/>
                <a:ea typeface="宋体" panose="02010600030101010101" pitchFamily="2" charset="-122"/>
                <a:cs typeface="+mn-cs"/>
              </a:rPr>
              <a:t>RelayDelay</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定义：特指多跳网络中，数据包在中间设备（如路由器）的停留时间。</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组成要素：由处理时延与排队时延相加而成</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技术细节：在</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IP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网络中通常称为</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每跳时延</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traceroute</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工具可逐跳测量。</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3.</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时延的综合计算与测量</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端到端时延</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发送时延</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传播时延</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转发时延</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测量工具：</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Ping</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ICMP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回显请求</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应答）。</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4.</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时延优化技术</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协议层优化：</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QUIC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协议减少握手时延。</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物理层突破：光子交换（</a:t>
            </a:r>
            <a:r>
              <a:rPr lang="en-US" altLang="zh-CN" sz="1200" kern="1200" dirty="0" err="1" smtClean="0">
                <a:solidFill>
                  <a:schemeClr val="tx1"/>
                </a:solidFill>
                <a:effectLst/>
                <a:latin typeface="Times New Roman" panose="02020603050405020304" pitchFamily="18" charset="0"/>
                <a:ea typeface="宋体" panose="02010600030101010101" pitchFamily="2" charset="-122"/>
                <a:cs typeface="+mn-cs"/>
              </a:rPr>
              <a:t>PhotonicSwitching</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）将处理时延降至纳秒级。</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-AI</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预测：</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LSTM</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网络预测流量峰值，动态调整路由。</a:t>
            </a:r>
          </a:p>
          <a:p>
            <a:endParaRPr lang="zh-CN" altLang="en-US" dirty="0"/>
          </a:p>
        </p:txBody>
      </p:sp>
    </p:spTree>
    <p:extLst>
      <p:ext uri="{BB962C8B-B14F-4D97-AF65-F5344CB8AC3E}">
        <p14:creationId xmlns:p14="http://schemas.microsoft.com/office/powerpoint/2010/main" val="218335289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时延带宽积（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Delay-</a:t>
            </a:r>
            <a:r>
              <a:rPr lang="en-US" altLang="zh-CN" sz="1200" kern="1200" dirty="0" err="1" smtClean="0">
                <a:solidFill>
                  <a:schemeClr val="tx1"/>
                </a:solidFill>
                <a:effectLst/>
                <a:latin typeface="Times New Roman" panose="02020603050405020304" pitchFamily="18" charset="0"/>
                <a:ea typeface="宋体" panose="02010600030101010101" pitchFamily="2" charset="-122"/>
                <a:cs typeface="+mn-cs"/>
              </a:rPr>
              <a:t>BandwidthProduct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时延带宽积的核心概念</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时延带宽积（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Delay-</a:t>
            </a:r>
            <a:r>
              <a:rPr lang="en-US" altLang="zh-CN" sz="1200" kern="1200" dirty="0" err="1" smtClean="0">
                <a:solidFill>
                  <a:schemeClr val="tx1"/>
                </a:solidFill>
                <a:effectLst/>
                <a:latin typeface="Times New Roman" panose="02020603050405020304" pitchFamily="18" charset="0"/>
                <a:ea typeface="宋体" panose="02010600030101010101" pitchFamily="2" charset="-122"/>
                <a:cs typeface="+mn-cs"/>
              </a:rPr>
              <a:t>BandwidthProduct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DBP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）是衡量网络链路容量特性的一个关键指标，其定义为链路的传播时延（</a:t>
            </a:r>
            <a:r>
              <a:rPr lang="en-US" altLang="zh-CN" sz="1200" kern="1200" dirty="0" err="1" smtClean="0">
                <a:solidFill>
                  <a:schemeClr val="tx1"/>
                </a:solidFill>
                <a:effectLst/>
                <a:latin typeface="Times New Roman" panose="02020603050405020304" pitchFamily="18" charset="0"/>
                <a:ea typeface="宋体" panose="02010600030101010101" pitchFamily="2" charset="-122"/>
                <a:cs typeface="+mn-cs"/>
              </a:rPr>
              <a:t>PropagationDelay</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）与带宽（</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Bandwidth</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）的乘积：</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时延带宽积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传播时延</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带宽</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该乘积的物理意义代表了链路上所能容纳的最大数据量（以比特为单位），直观反映了链路的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空间</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容量，即从发送端发出直至接收端开始接收的这段时间内，链路上可存在的最大比特数。</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时延带宽积的深度解析</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）物理意义：链路的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比特长度</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类比解释：将链路想象为一个</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管道</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，其长度由传播时延决定（时间维度），横截面积由带宽决定（容量维度）。时延带宽积就是这个管道的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容积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，即管道中能填充的比特总量。</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）关键特性：衡量链路的容纳能力</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它表示已发送但尚未被接收端接收到的数据的最大数量。</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反映了为了完全占用链路（即让链路上始终有数据在传输），发送端需要持续发送的数据量。</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是判断网络是否处于稳定高效工作状态的重要依据。</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3.</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时延带宽积的核心重要性</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）指导协议设计（尤其是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TCP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窗口大小设置：</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TCP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协议的接收窗口（</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RWND</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）必须至少等于链路的时延带宽积，才能完全利用可用带宽，避免因等待确认（</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ACK</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）而空闲。</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如果</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RWND&lt;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时延带宽积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无法占满链路，带宽利用率低。</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如果</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RWND≥</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时延带宽积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可实现全速传输，高效利用带宽。</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）诊断网络性能瓶颈</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计算出的时延带宽积是一个理论最大值。如果实际吞吐量远低于带宽，且</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TCP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窗口设置合理，则可能表明网络中存在丢包、拥塞或缓冲区不足等问题。</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3</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）理解缓冲需求</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网络设备（如路由器、交换机）的接口缓冲区大小需要合理设置，以容纳至少一个时延带宽积的数据量，平滑突发流量，防止拥塞时丢包。但过大也会导致</a:t>
            </a:r>
            <a:r>
              <a:rPr lang="en-US" altLang="zh-CN" sz="1200" kern="1200" dirty="0" err="1" smtClean="0">
                <a:solidFill>
                  <a:schemeClr val="tx1"/>
                </a:solidFill>
                <a:effectLst/>
                <a:latin typeface="Times New Roman" panose="02020603050405020304" pitchFamily="18" charset="0"/>
                <a:ea typeface="宋体" panose="02010600030101010101" pitchFamily="2" charset="-122"/>
                <a:cs typeface="+mn-cs"/>
              </a:rPr>
              <a:t>Bufferbloat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（缓冲区膨胀）问题。</a:t>
            </a:r>
          </a:p>
          <a:p>
            <a:endParaRPr lang="zh-CN" altLang="en-US" dirty="0"/>
          </a:p>
        </p:txBody>
      </p:sp>
    </p:spTree>
    <p:extLst>
      <p:ext uri="{BB962C8B-B14F-4D97-AF65-F5344CB8AC3E}">
        <p14:creationId xmlns:p14="http://schemas.microsoft.com/office/powerpoint/2010/main" val="18698224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幻灯片图像占位符 1"/>
          <p:cNvSpPr>
            <a:spLocks noGrp="1" noRot="1" noChangeAspect="1" noTextEdit="1"/>
          </p:cNvSpPr>
          <p:nvPr>
            <p:ph type="sldImg"/>
          </p:nvPr>
        </p:nvSpPr>
        <p:spPr/>
      </p:sp>
      <p:sp>
        <p:nvSpPr>
          <p:cNvPr id="62466" name="文本占位符 2"/>
          <p:cNvSpPr>
            <a:spLocks noGrp="1"/>
          </p:cNvSpPr>
          <p:nvPr>
            <p:ph type="body"/>
          </p:nvPr>
        </p:nvSpPr>
        <p:spPr/>
        <p:txBody>
          <a:bodyPr wrap="square" lIns="91440" tIns="45720" rIns="91440" bIns="45720" anchor="t" anchorCtr="0"/>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传输速率是衡量数据通信系统性能的根本性指标。我们必须精确区分三个紧密相关但内涵不同的术语：比特率（</a:t>
            </a:r>
            <a:r>
              <a:rPr lang="en-US" altLang="zh-CN" sz="1200" kern="1200" dirty="0" err="1" smtClean="0">
                <a:solidFill>
                  <a:schemeClr val="tx1"/>
                </a:solidFill>
                <a:effectLst/>
                <a:latin typeface="Times New Roman" panose="02020603050405020304" pitchFamily="18" charset="0"/>
                <a:ea typeface="宋体" panose="02010600030101010101" pitchFamily="2" charset="-122"/>
                <a:cs typeface="+mn-cs"/>
              </a:rPr>
              <a:t>BitRate</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）、带宽（</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Bandwidth</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）和波特率（</a:t>
            </a:r>
            <a:r>
              <a:rPr lang="en-US" altLang="zh-CN" sz="1200" kern="1200" dirty="0" err="1" smtClean="0">
                <a:solidFill>
                  <a:schemeClr val="tx1"/>
                </a:solidFill>
                <a:effectLst/>
                <a:latin typeface="Times New Roman" panose="02020603050405020304" pitchFamily="18" charset="0"/>
                <a:ea typeface="宋体" panose="02010600030101010101" pitchFamily="2" charset="-122"/>
                <a:cs typeface="+mn-cs"/>
              </a:rPr>
              <a:t>BaudRate</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信息传输速率（比特率</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err="1" smtClean="0">
                <a:solidFill>
                  <a:schemeClr val="tx1"/>
                </a:solidFill>
                <a:effectLst/>
                <a:latin typeface="Times New Roman" panose="02020603050405020304" pitchFamily="18" charset="0"/>
                <a:ea typeface="宋体" panose="02010600030101010101" pitchFamily="2" charset="-122"/>
                <a:cs typeface="+mn-cs"/>
              </a:rPr>
              <a:t>BitRate</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定义：指在单位时间（每秒）内，通信系统传输的原始数字数据（即编码前）的二进制位数。</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数学表达：</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err="1" smtClean="0">
                <a:solidFill>
                  <a:schemeClr val="tx1"/>
                </a:solidFill>
                <a:effectLst/>
                <a:latin typeface="Times New Roman" panose="02020603050405020304" pitchFamily="18" charset="0"/>
                <a:ea typeface="宋体" panose="02010600030101010101" pitchFamily="2" charset="-122"/>
                <a:cs typeface="+mn-cs"/>
              </a:rPr>
              <a:t>Rb</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传输的总比特数</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时间</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单位：比特每秒（</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b/</a:t>
            </a:r>
            <a:r>
              <a:rPr lang="en-US" altLang="zh-CN" sz="1200" kern="1200" dirty="0" err="1" smtClean="0">
                <a:solidFill>
                  <a:schemeClr val="tx1"/>
                </a:solidFill>
                <a:effectLst/>
                <a:latin typeface="Times New Roman" panose="02020603050405020304" pitchFamily="18" charset="0"/>
                <a:ea typeface="宋体" panose="02010600030101010101" pitchFamily="2" charset="-122"/>
                <a:cs typeface="+mn-cs"/>
              </a:rPr>
              <a:t>s,bps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）。常用衍生单位：</a:t>
            </a:r>
            <a:r>
              <a:rPr lang="en-US" altLang="zh-CN" sz="1200" kern="1200" dirty="0" err="1" smtClean="0">
                <a:solidFill>
                  <a:schemeClr val="tx1"/>
                </a:solidFill>
                <a:effectLst/>
                <a:latin typeface="Times New Roman" panose="02020603050405020304" pitchFamily="18" charset="0"/>
                <a:ea typeface="宋体" panose="02010600030101010101" pitchFamily="2" charset="-122"/>
                <a:cs typeface="+mn-cs"/>
              </a:rPr>
              <a:t>kbps,Mbps,Gbps,Tbps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核心特征：衡量的是信息的传输效率，是用户真正关心的有效数据速率；它是一个与应用层和表示层相关的逻辑概念。</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带宽（</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Bandwidth</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）：双重含义的演进与统一</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原始（模拟）含义：指信道允许通过的信号频率范围，即最高频率与最低频率之差，单位是赫兹（</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Hz</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）。它决定了信道的潜在数据传输能力。</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引申（数字）含义：在计算机网络领域，带宽已成为数字信道最大理论信息传输速率（即最大比特率）的同义词。</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例如：我们说</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这条链路的带宽是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100Mbps”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，意指其最大能以</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100</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兆比特每秒的速率传输数据。</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3.</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码元传输速率（波特率</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err="1" smtClean="0">
                <a:solidFill>
                  <a:schemeClr val="tx1"/>
                </a:solidFill>
                <a:effectLst/>
                <a:latin typeface="Times New Roman" panose="02020603050405020304" pitchFamily="18" charset="0"/>
                <a:ea typeface="宋体" panose="02010600030101010101" pitchFamily="2" charset="-122"/>
                <a:cs typeface="+mn-cs"/>
              </a:rPr>
              <a:t>BaudRate</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定义：指单位时间内，信道上传送的码元（</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Symbol</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）的个数。码元是信号在时间轴上的一个基本波形单元。</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单位：波特（</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Baud</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）、符号</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秒（</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symbol/s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核心特征：</a:t>
            </a:r>
          </a:p>
          <a:p>
            <a:pPr lvl="0"/>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衡量的是信号波形变化的速率，是一个与物理层和信号编码方式直接相关的参数。</a:t>
            </a:r>
          </a:p>
          <a:p>
            <a:pPr lvl="0"/>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它描述了信号的调制速率。</a:t>
            </a:r>
          </a:p>
          <a:p>
            <a:pPr lvl="0"/>
            <a:endParaRPr lang="zh-CN" alt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a:buClrTx/>
              <a:buFontTx/>
              <a:buNone/>
            </a:pPr>
            <a:fld id="{9A0DB2DC-4C9A-4742-B13C-FB6460FD3503}" type="slidenum">
              <a:rPr lang="en-US" altLang="zh-CN" sz="1200" b="0" dirty="0">
                <a:solidFill>
                  <a:schemeClr val="tx1"/>
                </a:solidFill>
                <a:ea typeface="宋体" panose="02010600030101010101" pitchFamily="2" charset="-122"/>
              </a:rPr>
              <a:t>31</a:t>
            </a:fld>
            <a:endParaRPr lang="en-US" altLang="zh-CN" sz="1200" b="0" dirty="0">
              <a:solidFill>
                <a:schemeClr val="tx1"/>
              </a:solidFill>
              <a:ea typeface="宋体" panose="02010600030101010101" pitchFamily="2" charset="-122"/>
            </a:endParaRPr>
          </a:p>
        </p:txBody>
      </p:sp>
      <p:sp>
        <p:nvSpPr>
          <p:cNvPr id="64514" name="Rectangle 2"/>
          <p:cNvSpPr>
            <a:spLocks noGrp="1" noRot="1" noChangeAspect="1" noTextEdit="1"/>
          </p:cNvSpPr>
          <p:nvPr>
            <p:ph type="sldImg"/>
          </p:nvPr>
        </p:nvSpPr>
        <p:spPr/>
      </p:sp>
      <p:sp>
        <p:nvSpPr>
          <p:cNvPr id="64515" name="Rectangle 3"/>
          <p:cNvSpPr>
            <a:spLocks noGrp="1"/>
          </p:cNvSpPr>
          <p:nvPr>
            <p:ph type="body"/>
          </p:nvPr>
        </p:nvSpPr>
        <p:spPr/>
        <p:txBody>
          <a:bodyPr wrap="square" lIns="91440" tIns="45720" rIns="91440" bIns="45720" anchor="t" anchorCtr="0"/>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比特率与波特率的关系</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两者的关系是理解数据传输的关键：</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比特率</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err="1" smtClean="0">
                <a:solidFill>
                  <a:schemeClr val="tx1"/>
                </a:solidFill>
                <a:effectLst/>
                <a:latin typeface="Times New Roman" panose="02020603050405020304" pitchFamily="18" charset="0"/>
                <a:ea typeface="宋体" panose="02010600030101010101" pitchFamily="2" charset="-122"/>
                <a:cs typeface="+mn-cs"/>
              </a:rPr>
              <a:t>R_b</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波特率</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(R_B)×</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每个码元携带的比特数</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(m)</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，即：</a:t>
            </a:r>
            <a:r>
              <a:rPr lang="en-US" altLang="zh-CN" sz="1200" kern="1200" dirty="0" err="1" smtClean="0">
                <a:solidFill>
                  <a:schemeClr val="tx1"/>
                </a:solidFill>
                <a:effectLst/>
                <a:latin typeface="Times New Roman" panose="02020603050405020304" pitchFamily="18" charset="0"/>
                <a:ea typeface="宋体" panose="02010600030101010101" pitchFamily="2" charset="-122"/>
                <a:cs typeface="+mn-cs"/>
              </a:rPr>
              <a:t>R_b</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=R_B*log</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₂</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(M)</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其中，</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M</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是码元所采用的状态数（调制阶数）。</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这意味着，在相同的波特率（信号变化速度）下，通过使用更复杂的调制技术（增加</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M</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），可以成倍地提高比特率（信息传输速度）。</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3</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）实例分析</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二进制调制（</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M=2</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）：例如</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NRZ</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编码，一个码元（一种电压电平）代表</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比特（</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0</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或</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）。此时，</a:t>
            </a:r>
            <a:r>
              <a:rPr lang="en-US" altLang="zh-CN" sz="1200" kern="1200" dirty="0" err="1" smtClean="0">
                <a:solidFill>
                  <a:schemeClr val="tx1"/>
                </a:solidFill>
                <a:effectLst/>
                <a:latin typeface="Times New Roman" panose="02020603050405020304" pitchFamily="18" charset="0"/>
                <a:ea typeface="宋体" panose="02010600030101010101" pitchFamily="2" charset="-122"/>
                <a:cs typeface="+mn-cs"/>
              </a:rPr>
              <a:t>R_b</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=R_B</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。比特率在数值上等于波特率。</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多进制调制（</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M&gt;2</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-QPSK</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M=4</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）：一个码元（一种相位）代表</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比特。</a:t>
            </a:r>
            <a:r>
              <a:rPr lang="en-US" altLang="zh-CN" sz="1200" kern="1200" dirty="0" err="1" smtClean="0">
                <a:solidFill>
                  <a:schemeClr val="tx1"/>
                </a:solidFill>
                <a:effectLst/>
                <a:latin typeface="Times New Roman" panose="02020603050405020304" pitchFamily="18" charset="0"/>
                <a:ea typeface="宋体" panose="02010600030101010101" pitchFamily="2" charset="-122"/>
                <a:cs typeface="+mn-cs"/>
              </a:rPr>
              <a:t>R_b</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=2*R_B</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。比特率是波特率的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倍。</a:t>
            </a:r>
          </a:p>
          <a:p>
            <a:endParaRPr lang="zh-CN" altLang="zh-CN" sz="1200" kern="1200" dirty="0">
              <a:solidFill>
                <a:schemeClr val="tx1"/>
              </a:solidFill>
              <a:effectLst/>
              <a:latin typeface="Times New Roman" panose="02020603050405020304" pitchFamily="18" charset="0"/>
              <a:ea typeface="宋体" panose="02010600030101010101" pitchFamily="2" charset="-122"/>
              <a:cs typeface="+mn-cs"/>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a:buClrTx/>
              <a:buFontTx/>
              <a:buNone/>
            </a:pPr>
            <a:fld id="{9A0DB2DC-4C9A-4742-B13C-FB6460FD3503}" type="slidenum">
              <a:rPr lang="en-US" altLang="zh-CN" sz="1200" b="0" dirty="0">
                <a:solidFill>
                  <a:schemeClr val="tx1"/>
                </a:solidFill>
                <a:ea typeface="宋体" panose="02010600030101010101" pitchFamily="2" charset="-122"/>
              </a:rPr>
              <a:t>32</a:t>
            </a:fld>
            <a:endParaRPr lang="en-US" altLang="zh-CN" sz="1200" b="0" dirty="0">
              <a:solidFill>
                <a:schemeClr val="tx1"/>
              </a:solidFill>
              <a:ea typeface="宋体" panose="02010600030101010101" pitchFamily="2" charset="-122"/>
            </a:endParaRPr>
          </a:p>
        </p:txBody>
      </p:sp>
      <p:sp>
        <p:nvSpPr>
          <p:cNvPr id="64514" name="Rectangle 2"/>
          <p:cNvSpPr>
            <a:spLocks noGrp="1" noRot="1" noChangeAspect="1" noTextEdit="1"/>
          </p:cNvSpPr>
          <p:nvPr>
            <p:ph type="sldImg"/>
          </p:nvPr>
        </p:nvSpPr>
        <p:spPr/>
      </p:sp>
      <p:sp>
        <p:nvSpPr>
          <p:cNvPr id="64515" name="Rectangle 3"/>
          <p:cNvSpPr>
            <a:spLocks noGrp="1"/>
          </p:cNvSpPr>
          <p:nvPr>
            <p:ph type="body"/>
          </p:nvPr>
        </p:nvSpPr>
        <p:spPr/>
        <p:txBody>
          <a:bodyPr wrap="square" lIns="91440" tIns="45720" rIns="91440" bIns="45720" anchor="t" anchorCtr="0"/>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带宽与吞吐量</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带宽（</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Bandwidth</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）的双重内涵</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）本质含义：信号的频带宽度</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定义：指一个信号所占据的频率范围的宽度，即其最高频率分量与最低频率分量之差。</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数学表达：</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B=</a:t>
            </a:r>
            <a:r>
              <a:rPr lang="en-US" altLang="zh-CN" sz="1200" kern="1200" dirty="0" err="1" smtClean="0">
                <a:solidFill>
                  <a:schemeClr val="tx1"/>
                </a:solidFill>
                <a:effectLst/>
                <a:latin typeface="Times New Roman" panose="02020603050405020304" pitchFamily="18" charset="0"/>
                <a:ea typeface="宋体" panose="02010600030101010101" pitchFamily="2" charset="-122"/>
                <a:cs typeface="+mn-cs"/>
              </a:rPr>
              <a:t>f_max-f_min</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单位：赫兹（</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Hz</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）及其派生单位（</a:t>
            </a:r>
            <a:r>
              <a:rPr lang="en-US" altLang="zh-CN" sz="1200" kern="1200" dirty="0" err="1" smtClean="0">
                <a:solidFill>
                  <a:schemeClr val="tx1"/>
                </a:solidFill>
                <a:effectLst/>
                <a:latin typeface="Times New Roman" panose="02020603050405020304" pitchFamily="18" charset="0"/>
                <a:ea typeface="宋体" panose="02010600030101010101" pitchFamily="2" charset="-122"/>
                <a:cs typeface="+mn-cs"/>
              </a:rPr>
              <a:t>kHz,MHz,GHz</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物理意义：描述了信号在频域上的特征，是信号本身的属性。</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示例：传统电话语音信号：约</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300Hz-3.4kHz</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，因此带宽约</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3.1kHz</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；一个数字信号，其谐波分量主要分布在</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0</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至</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1MHz</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，则其（近似）带宽为</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1MHz</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）引申含义：信道的最大传输速率</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定义：在计算机网络领域，带宽更常被用作数字信道所能支持的最高理论数据传输速率的同义词。</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单位：比特每秒（</a:t>
            </a:r>
            <a:r>
              <a:rPr lang="en-US" altLang="zh-CN" sz="1200" kern="1200" dirty="0" err="1" smtClean="0">
                <a:solidFill>
                  <a:schemeClr val="tx1"/>
                </a:solidFill>
                <a:effectLst/>
                <a:latin typeface="Times New Roman" panose="02020603050405020304" pitchFamily="18" charset="0"/>
                <a:ea typeface="宋体" panose="02010600030101010101" pitchFamily="2" charset="-122"/>
                <a:cs typeface="+mn-cs"/>
              </a:rPr>
              <a:t>bps,bit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）及其派生单位（</a:t>
            </a:r>
            <a:r>
              <a:rPr lang="en-US" altLang="zh-CN" sz="1200" kern="1200" dirty="0" err="1" smtClean="0">
                <a:solidFill>
                  <a:schemeClr val="tx1"/>
                </a:solidFill>
                <a:effectLst/>
                <a:latin typeface="Times New Roman" panose="02020603050405020304" pitchFamily="18" charset="0"/>
                <a:ea typeface="宋体" panose="02010600030101010101" pitchFamily="2" charset="-122"/>
                <a:cs typeface="+mn-cs"/>
              </a:rPr>
              <a:t>kbps,Mbps,Gbps,Tbps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示例：我们说</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千兆以太网的带宽是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1Gbps”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，意指其理论上每秒最多可以传输</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10^9</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比特。</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吞吐量（</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Throughput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）定义与特征</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定义：指在单位时间内，通过网络、信道或接口成功传输的、有效的用户数据总量。</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计算公式：吞吐量</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传输的有效数据量</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总耗时</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单位：与带宽相同，也是</a:t>
            </a:r>
            <a:r>
              <a:rPr lang="en-US" altLang="zh-CN" sz="1200" kern="1200" dirty="0" err="1" smtClean="0">
                <a:solidFill>
                  <a:schemeClr val="tx1"/>
                </a:solidFill>
                <a:effectLst/>
                <a:latin typeface="Times New Roman" panose="02020603050405020304" pitchFamily="18" charset="0"/>
                <a:ea typeface="宋体" panose="02010600030101010101" pitchFamily="2" charset="-122"/>
                <a:cs typeface="+mn-cs"/>
              </a:rPr>
              <a:t>bps,Mbps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等。</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核心特征：衡量的是实际达到的、有效的性能指标，是用户真正感知到的速度；它总是一个小于或等于带宽（最大速率）的值；它是一个端到端的、综合性的性能度量，涵盖了整个传输路径的影响。</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）影响吞吐量的关键因素</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吞吐量之所以达不到带宽的理论值，是由于多种因素造成的开销和损耗：</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协议开销：</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各层协议都会添加头部和尾部。例如，</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TCP/IP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数据包包含以太网帧头、</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IP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头、</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TCP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头等。传输有效应用数据的比特只占整个帧的一部分。</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开销比例：有效数据量</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总传输数据量。以太网中该值通常可达</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90%</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以上，但在传输小数据包时效率极低。</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网络拥塞</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当网络流量过大时，路由器队列排满，导致丢包。</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TCP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等可靠传输协议会通过重传机制来补偿，这引入了额外时延并降低了有效吞吐量。</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3.</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传输错误</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信号衰减、噪声干扰导致比特错误，同样引发数据帧的重传，降低效率。</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4.</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端系统性能</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发送方或接收方的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CPU</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、内存、磁盘</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I/O</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、操作系统协议栈处理能力不足，都可能成为瓶颈，无法</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喂饱</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或</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消化</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高带宽链路。</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5.</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传播时延（</a:t>
            </a:r>
            <a:r>
              <a:rPr lang="en-US" altLang="zh-CN" sz="1200" kern="1200" dirty="0" err="1" smtClean="0">
                <a:solidFill>
                  <a:schemeClr val="tx1"/>
                </a:solidFill>
                <a:effectLst/>
                <a:latin typeface="Times New Roman" panose="02020603050405020304" pitchFamily="18" charset="0"/>
                <a:ea typeface="宋体" panose="02010600030101010101" pitchFamily="2" charset="-122"/>
                <a:cs typeface="+mn-cs"/>
              </a:rPr>
              <a:t>PropagationDelay</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在长延迟网络中（如卫星链路、跨洋光缆），即使带宽很高，</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TCP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等协议的滑动窗口机制也可能导致无法充分利用带宽，因为确认（</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ACK</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）返回太慢，发送方必须等待后才能发送新数据。</a:t>
            </a:r>
          </a:p>
          <a:p>
            <a:pPr lvl="0" eaLnBrk="1" hangingPunct="1"/>
            <a:endParaRPr lang="zh-CN" altLang="zh-CN" sz="1000" b="1" u="sng" dirty="0">
              <a:solidFill>
                <a:srgbClr val="FFFF00"/>
              </a:solidFill>
              <a:latin typeface="Arial" panose="020B0604020202020204" pitchFamily="34"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可靠性指标</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误码率（</a:t>
            </a:r>
            <a:r>
              <a:rPr lang="en-US" altLang="zh-CN" sz="1200" kern="1200" dirty="0" err="1" smtClean="0">
                <a:solidFill>
                  <a:schemeClr val="tx1"/>
                </a:solidFill>
                <a:effectLst/>
                <a:latin typeface="Times New Roman" panose="02020603050405020304" pitchFamily="18" charset="0"/>
                <a:ea typeface="宋体" panose="02010600030101010101" pitchFamily="2" charset="-122"/>
                <a:cs typeface="+mn-cs"/>
              </a:rPr>
              <a:t>BitErrorRate,BER</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误码率的核心概念与重要性</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定义：误码率是衡量数据在传输系统中可靠性或保真度的根本性指标，其严格定义为接收端发生错误的数据单元数量与发送端发送的相应数据单元总数之比。</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重要性：误码率是评估通信链路质量、比较不同调制编码方案性能、以及进行网络规划和优化的核心依据。极低的误码率是现代数字通信系统得以实现的基础。</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误码率的分类</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根据所衡量的“数据单元”不同，误码率有以下具体形式：</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）误比特率（</a:t>
            </a:r>
            <a:r>
              <a:rPr lang="en-US" altLang="zh-CN" sz="1200" kern="1200" dirty="0" err="1" smtClean="0">
                <a:solidFill>
                  <a:schemeClr val="tx1"/>
                </a:solidFill>
                <a:effectLst/>
                <a:latin typeface="Times New Roman" panose="02020603050405020304" pitchFamily="18" charset="0"/>
                <a:ea typeface="宋体" panose="02010600030101010101" pitchFamily="2" charset="-122"/>
                <a:cs typeface="+mn-cs"/>
              </a:rPr>
              <a:t>BitErrorRate,BER</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定义：传错的二进制比特数与传输的总比特数之比，主要反映物理层和链路层的传输质量。</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价值：是评估调制解调（</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Modem</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）性能、信道编码效率和信号完整性的最直接、最基础的指标。是计算其他层次误码率（如误帧率）的输入基础。</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）误帧率（</a:t>
            </a:r>
            <a:r>
              <a:rPr lang="en-US" altLang="zh-CN" sz="1200" kern="1200" dirty="0" err="1" smtClean="0">
                <a:solidFill>
                  <a:schemeClr val="tx1"/>
                </a:solidFill>
                <a:effectLst/>
                <a:latin typeface="Times New Roman" panose="02020603050405020304" pitchFamily="18" charset="0"/>
                <a:ea typeface="宋体" panose="02010600030101010101" pitchFamily="2" charset="-122"/>
                <a:cs typeface="+mn-cs"/>
              </a:rPr>
              <a:t>FrameErrorRate,FER</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定义：接收到的错误数据帧数与发送的总数据帧数之比。</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计算公式：</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FER=</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错误帧数</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总传输帧数，反映数据链路层的整体传输可靠性。</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价值：对于采用帧校验序列的系统，只要帧内有任意一个比特出错，整个帧就会被接收端丢弃并视为错误。因此，</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FER</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比</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BER</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更能直接体现上层协议所感知到的链路质量。</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3</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）误分组率</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误包率（</a:t>
            </a:r>
            <a:r>
              <a:rPr lang="en-US" altLang="zh-CN" sz="1200" kern="1200" dirty="0" err="1" smtClean="0">
                <a:solidFill>
                  <a:schemeClr val="tx1"/>
                </a:solidFill>
                <a:effectLst/>
                <a:latin typeface="Times New Roman" panose="02020603050405020304" pitchFamily="18" charset="0"/>
                <a:ea typeface="宋体" panose="02010600030101010101" pitchFamily="2" charset="-122"/>
                <a:cs typeface="+mn-cs"/>
              </a:rPr>
              <a:t>PacketErrorRate,PER</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定义：接收到的错误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IP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数据包数与发送的总</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IP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数据包数之比，反映网络层及以上层次的传输有效性。</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价值：对于网络工程师和应用开发者而言，</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PER</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是比</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BER</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和</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FER</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更具实际意义的指标，因为它直接关系到应用的吞吐量和延迟。</a:t>
            </a:r>
          </a:p>
          <a:p>
            <a:endParaRPr lang="zh-CN" altLang="en-US" dirty="0"/>
          </a:p>
        </p:txBody>
      </p:sp>
    </p:spTree>
    <p:extLst>
      <p:ext uri="{BB962C8B-B14F-4D97-AF65-F5344CB8AC3E}">
        <p14:creationId xmlns:p14="http://schemas.microsoft.com/office/powerpoint/2010/main" val="288913877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1031"/>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lstStyle/>
          <a:p>
            <a:pPr lvl="0" algn="r">
              <a:buClrTx/>
              <a:buFontTx/>
              <a:buNone/>
            </a:pPr>
            <a:fld id="{9A0DB2DC-4C9A-4742-B13C-FB6460FD3503}" type="slidenum">
              <a:rPr lang="en-US" altLang="zh-CN" sz="1200" dirty="0">
                <a:solidFill>
                  <a:schemeClr val="tx1"/>
                </a:solidFill>
              </a:rPr>
              <a:t>34</a:t>
            </a:fld>
            <a:endParaRPr lang="en-US" altLang="zh-CN" sz="1200" dirty="0">
              <a:solidFill>
                <a:schemeClr val="tx1"/>
              </a:solidFill>
            </a:endParaRPr>
          </a:p>
        </p:txBody>
      </p:sp>
      <p:sp>
        <p:nvSpPr>
          <p:cNvPr id="58370" name="Rectangle 2"/>
          <p:cNvSpPr>
            <a:spLocks noGrp="1" noRot="1" noChangeAspect="1" noTextEdit="1"/>
          </p:cNvSpPr>
          <p:nvPr>
            <p:ph type="sldImg"/>
          </p:nvPr>
        </p:nvSpPr>
        <p:spPr/>
      </p:sp>
      <p:sp>
        <p:nvSpPr>
          <p:cNvPr id="58371" name="Rectangle 3"/>
          <p:cNvSpPr>
            <a:spLocks noGrp="1"/>
          </p:cNvSpPr>
          <p:nvPr>
            <p:ph type="body"/>
          </p:nvPr>
        </p:nvSpPr>
        <p:spPr/>
        <p:txBody>
          <a:bodyPr wrap="square" lIns="91440" tIns="45720" rIns="91440" bIns="45720" anchor="t" anchorCtr="0"/>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我们一直在讲网络的结构、协议和原理，那么，所有这些技术最终是为了什么？就是为了应用，就是为了解决实际问题，创造价值。</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这一页</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PPT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为我们系统地梳理了计算机网络几大典型的应用领域。</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企业信息化是网络的基石应用，它重构了现代企业的运营模式。</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电子商务则彻底改变了我们的商业和消费习惯，这是大家感受最深的。</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3</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而信息发布与检索，也就是我们每天用的网站和搜索引擎，构成了当今互联网的内容核心。</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4</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个人通信和家庭娱乐，这两点已经深度融入各位的日常生活，从微信、视频通话到在线游戏、</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4K</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流媒体，其底层支撑正是强大的计算机网络。</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特别要大家关注的是最后这部分——前沿应用拓展。像数字孪生、元宇宙、量子通信这些听起来非常前沿的技术，它们并非空中楼阁，恰恰是建立在下一代网络技术的基础之上。它们代表着未来的无限可能，也正是在座各位同学未来可能会投身的方向。</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总之，计算机网络的生命力在于应用。后续的课程内容我们学习到这些应用是如何构建在网络体系之上的。</a:t>
            </a:r>
          </a:p>
          <a:p>
            <a:pPr lvl="0" eaLnBrk="1" hangingPunct="1"/>
            <a:endParaRPr lang="en-US" altLang="zh-CN"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1031"/>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lstStyle/>
          <a:p>
            <a:pPr lvl="0" algn="r">
              <a:buClrTx/>
              <a:buFontTx/>
              <a:buNone/>
            </a:pPr>
            <a:fld id="{9A0DB2DC-4C9A-4742-B13C-FB6460FD3503}" type="slidenum">
              <a:rPr lang="en-US" altLang="zh-CN" sz="1200" dirty="0">
                <a:solidFill>
                  <a:schemeClr val="tx1"/>
                </a:solidFill>
              </a:rPr>
              <a:t>35</a:t>
            </a:fld>
            <a:endParaRPr lang="en-US" altLang="zh-CN" sz="1200" dirty="0">
              <a:solidFill>
                <a:schemeClr val="tx1"/>
              </a:solidFill>
            </a:endParaRPr>
          </a:p>
        </p:txBody>
      </p:sp>
      <p:sp>
        <p:nvSpPr>
          <p:cNvPr id="58370" name="Rectangle 2"/>
          <p:cNvSpPr>
            <a:spLocks noGrp="1" noRot="1" noChangeAspect="1" noTextEdit="1"/>
          </p:cNvSpPr>
          <p:nvPr>
            <p:ph type="sldImg"/>
          </p:nvPr>
        </p:nvSpPr>
        <p:spPr/>
      </p:sp>
      <p:sp>
        <p:nvSpPr>
          <p:cNvPr id="58371" name="Rectangle 3"/>
          <p:cNvSpPr>
            <a:spLocks noGrp="1"/>
          </p:cNvSpPr>
          <p:nvPr>
            <p:ph type="body"/>
          </p:nvPr>
        </p:nvSpPr>
        <p:spPr/>
        <p:txBody>
          <a:bodyPr wrap="square" lIns="91440" tIns="45720" rIns="91440" bIns="45720" anchor="t" anchorCtr="0"/>
          <a:lstStyle/>
          <a:p>
            <a:pPr lvl="0" algn="just" eaLnBrk="1" hangingPunct="1"/>
            <a:r>
              <a:rPr lang="en-US" altLang="zh-CN" dirty="0">
                <a:solidFill>
                  <a:srgbClr val="003399"/>
                </a:solidFill>
              </a:rPr>
              <a:t>ISO </a:t>
            </a:r>
            <a:r>
              <a:rPr lang="zh-CN" altLang="en-US" dirty="0">
                <a:solidFill>
                  <a:srgbClr val="003399"/>
                </a:solidFill>
              </a:rPr>
              <a:t>有</a:t>
            </a:r>
            <a:r>
              <a:rPr lang="en-US" altLang="zh-CN" dirty="0">
                <a:solidFill>
                  <a:srgbClr val="003399"/>
                </a:solidFill>
              </a:rPr>
              <a:t>89</a:t>
            </a:r>
            <a:r>
              <a:rPr lang="zh-CN" altLang="en-US" dirty="0">
                <a:solidFill>
                  <a:srgbClr val="003399"/>
                </a:solidFill>
              </a:rPr>
              <a:t>个成员国家，</a:t>
            </a:r>
            <a:r>
              <a:rPr lang="en-US" altLang="zh-CN" dirty="0">
                <a:solidFill>
                  <a:srgbClr val="003399"/>
                </a:solidFill>
              </a:rPr>
              <a:t>85 </a:t>
            </a:r>
            <a:r>
              <a:rPr lang="zh-CN" altLang="en-US" dirty="0">
                <a:solidFill>
                  <a:srgbClr val="003399"/>
                </a:solidFill>
              </a:rPr>
              <a:t>个其他成员</a:t>
            </a:r>
            <a:r>
              <a:rPr lang="zh-CN" altLang="en-US" dirty="0" smtClean="0">
                <a:solidFill>
                  <a:srgbClr val="003399"/>
                </a:solidFill>
              </a:rPr>
              <a:t>。</a:t>
            </a:r>
            <a:endParaRPr lang="en-US" altLang="zh-CN" dirty="0" smtClean="0">
              <a:solidFill>
                <a:srgbClr val="003399"/>
              </a:solidFill>
            </a:endParaRP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各位同学，大家好。今天我们讲解的内容是</a:t>
            </a:r>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计算机网络相关的国际标准化组织</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。国际标准在计算机网络的发展中起到了至关重要的作用，它们确保了不同厂商的设备和技术能够互联互通，从而构建起全球统一的网络环境。</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首先，我们来看</a:t>
            </a:r>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国际标准化组织（</a:t>
            </a:r>
            <a:r>
              <a:rPr lang="en-US" altLang="zh-CN" sz="1200" b="1" kern="1200" dirty="0" smtClean="0">
                <a:solidFill>
                  <a:schemeClr val="tx1"/>
                </a:solidFill>
                <a:effectLst/>
                <a:latin typeface="Times New Roman" panose="02020603050405020304" pitchFamily="18" charset="0"/>
                <a:ea typeface="宋体" panose="02010600030101010101" pitchFamily="2" charset="-122"/>
                <a:cs typeface="+mn-cs"/>
              </a:rPr>
              <a:t>ISO</a:t>
            </a:r>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b="1" kern="1200" dirty="0" smtClean="0">
                <a:solidFill>
                  <a:schemeClr val="tx1"/>
                </a:solidFill>
                <a:effectLst/>
                <a:latin typeface="Times New Roman" panose="02020603050405020304" pitchFamily="18" charset="0"/>
                <a:ea typeface="宋体" panose="02010600030101010101" pitchFamily="2" charset="-122"/>
                <a:cs typeface="+mn-cs"/>
              </a:rPr>
              <a:t>International Organization for Standardization</a:t>
            </a:r>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ISO</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成立于</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1946</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年，是一个全球性的非政府组织，专门负责制定和推广各类国际标准。这些标准覆盖了工业、技术、商业等多个领域，为全球的技术发展提供了统一的规范和依据。</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ISO</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的组织结构非常庞大且系统化。它由</a:t>
            </a:r>
            <a:r>
              <a:rPr lang="en-US" altLang="zh-CN" sz="1200" b="1" kern="1200" dirty="0" smtClean="0">
                <a:solidFill>
                  <a:schemeClr val="tx1"/>
                </a:solidFill>
                <a:effectLst/>
                <a:latin typeface="Times New Roman" panose="02020603050405020304" pitchFamily="18" charset="0"/>
                <a:ea typeface="宋体" panose="02010600030101010101" pitchFamily="2" charset="-122"/>
                <a:cs typeface="+mn-cs"/>
              </a:rPr>
              <a:t>200</a:t>
            </a:r>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多个技术委员会（</a:t>
            </a:r>
            <a:r>
              <a:rPr lang="en-US" altLang="zh-CN" sz="1200" b="1" kern="1200" dirty="0" smtClean="0">
                <a:solidFill>
                  <a:schemeClr val="tx1"/>
                </a:solidFill>
                <a:effectLst/>
                <a:latin typeface="Times New Roman" panose="02020603050405020304" pitchFamily="18" charset="0"/>
                <a:ea typeface="宋体" panose="02010600030101010101" pitchFamily="2" charset="-122"/>
                <a:cs typeface="+mn-cs"/>
              </a:rPr>
              <a:t>Technical Committees, TC</a:t>
            </a:r>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组成，每个技术委员会专注于某一特定领域。例如，</a:t>
            </a:r>
            <a:r>
              <a:rPr lang="en-US" altLang="zh-CN" sz="1200" b="1" kern="1200" dirty="0" smtClean="0">
                <a:solidFill>
                  <a:schemeClr val="tx1"/>
                </a:solidFill>
                <a:effectLst/>
                <a:latin typeface="Times New Roman" panose="02020603050405020304" pitchFamily="18" charset="0"/>
                <a:ea typeface="宋体" panose="02010600030101010101" pitchFamily="2" charset="-122"/>
                <a:cs typeface="+mn-cs"/>
              </a:rPr>
              <a:t>TC97</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就是专门负责</a:t>
            </a:r>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计算机和信息处理</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的技术委员会。在每个技术委员会下还设有若干</a:t>
            </a:r>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分委员会（</a:t>
            </a:r>
            <a:r>
              <a:rPr lang="en-US" altLang="zh-CN" sz="1200" b="1" kern="1200" dirty="0" smtClean="0">
                <a:solidFill>
                  <a:schemeClr val="tx1"/>
                </a:solidFill>
                <a:effectLst/>
                <a:latin typeface="Times New Roman" panose="02020603050405020304" pitchFamily="18" charset="0"/>
                <a:ea typeface="宋体" panose="02010600030101010101" pitchFamily="2" charset="-122"/>
                <a:cs typeface="+mn-cs"/>
              </a:rPr>
              <a:t>Subcommittees, SC</a:t>
            </a:r>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，分委员会进一步细分为</a:t>
            </a:r>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工作组（</a:t>
            </a:r>
            <a:r>
              <a:rPr lang="en-US" altLang="zh-CN" sz="1200" b="1" kern="1200" dirty="0" smtClean="0">
                <a:solidFill>
                  <a:schemeClr val="tx1"/>
                </a:solidFill>
                <a:effectLst/>
                <a:latin typeface="Times New Roman" panose="02020603050405020304" pitchFamily="18" charset="0"/>
                <a:ea typeface="宋体" panose="02010600030101010101" pitchFamily="2" charset="-122"/>
                <a:cs typeface="+mn-cs"/>
              </a:rPr>
              <a:t>Working Groups, WG</a:t>
            </a:r>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。这种层级化的结构确保了标准制定的专业性和高效性。</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以</a:t>
            </a:r>
            <a:r>
              <a:rPr lang="en-US" altLang="zh-CN" sz="1200" b="1" kern="1200" dirty="0" smtClean="0">
                <a:solidFill>
                  <a:schemeClr val="tx1"/>
                </a:solidFill>
                <a:effectLst/>
                <a:latin typeface="Times New Roman" panose="02020603050405020304" pitchFamily="18" charset="0"/>
                <a:ea typeface="宋体" panose="02010600030101010101" pitchFamily="2" charset="-122"/>
                <a:cs typeface="+mn-cs"/>
              </a:rPr>
              <a:t>TC97/SC21/WG1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为例，这是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ISO</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中一个具体的工作组，其职责是制定</a:t>
            </a:r>
            <a:r>
              <a:rPr lang="en-US" altLang="zh-CN" sz="1200" b="1" kern="1200" dirty="0" smtClean="0">
                <a:solidFill>
                  <a:schemeClr val="tx1"/>
                </a:solidFill>
                <a:effectLst/>
                <a:latin typeface="Times New Roman" panose="02020603050405020304" pitchFamily="18" charset="0"/>
                <a:ea typeface="宋体" panose="02010600030101010101" pitchFamily="2" charset="-122"/>
                <a:cs typeface="+mn-cs"/>
              </a:rPr>
              <a:t>OSI</a:t>
            </a:r>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开放系统互连的体系结构、概念性方案和形式描述</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的相关标准。</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OSI</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模型是计算机网络中非常重要的参考模型，它将网络通信分为七层，每一层都有明确的功能和协议。</a:t>
            </a:r>
          </a:p>
          <a:p>
            <a:pPr lvl="0" algn="just" eaLnBrk="1" hangingPunct="1"/>
            <a:endParaRPr lang="zh-CN" altLang="en-US" dirty="0">
              <a:solidFill>
                <a:srgbClr val="003399"/>
              </a:solidFill>
            </a:endParaRPr>
          </a:p>
          <a:p>
            <a:pPr lvl="0" eaLnBrk="1" hangingPunct="1"/>
            <a:endParaRPr lang="en-US" altLang="zh-CN"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1031"/>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lstStyle/>
          <a:p>
            <a:pPr lvl="0" algn="r">
              <a:buClrTx/>
              <a:buFontTx/>
              <a:buNone/>
            </a:pPr>
            <a:fld id="{9A0DB2DC-4C9A-4742-B13C-FB6460FD3503}" type="slidenum">
              <a:rPr lang="en-US" altLang="zh-CN" sz="1200" dirty="0">
                <a:solidFill>
                  <a:schemeClr val="tx1"/>
                </a:solidFill>
              </a:rPr>
              <a:t>36</a:t>
            </a:fld>
            <a:endParaRPr lang="en-US" altLang="zh-CN" sz="1200" dirty="0">
              <a:solidFill>
                <a:schemeClr val="tx1"/>
              </a:solidFill>
            </a:endParaRPr>
          </a:p>
        </p:txBody>
      </p:sp>
      <p:sp>
        <p:nvSpPr>
          <p:cNvPr id="60418" name="Rectangle 2"/>
          <p:cNvSpPr>
            <a:spLocks noGrp="1" noRot="1" noChangeAspect="1" noTextEdit="1"/>
          </p:cNvSpPr>
          <p:nvPr>
            <p:ph type="sldImg"/>
          </p:nvPr>
        </p:nvSpPr>
        <p:spPr/>
      </p:sp>
      <p:sp>
        <p:nvSpPr>
          <p:cNvPr id="60419" name="Rectangle 3"/>
          <p:cNvSpPr>
            <a:spLocks noGrp="1"/>
          </p:cNvSpPr>
          <p:nvPr>
            <p:ph type="body"/>
          </p:nvPr>
        </p:nvSpPr>
        <p:spPr/>
        <p:txBody>
          <a:bodyPr wrap="square" lIns="91440" tIns="45720" rIns="91440" bIns="45720" anchor="t" anchorCtr="0"/>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与计算机网络相关的第二个国际标准化组织就是国际电信联盟（</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ITU, International Telecommunication Union</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），它是全球电信标准化体系的核心组织。作为联合国下属的权威机构，国际电信联盟在通信技术标准化领域具有不可替代的地位。</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国际电信联盟的历史可以追溯到</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1865</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年，最初是为协调国际电报通信而成立的。随着技术发展，其职能不断扩展，并于</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1947</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年正式成为联合国下属的专门机构。这一历史沿革反映了国际电信联盟从传统电信到现代信息通信技术的演进历程。</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ITU</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的组织架构分为三个核心部门：</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 ITU-R</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（无线电通信部门）：负责全球无线电频谱和卫星轨道的管理、制定无线通信技术标准（如</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5G/6G</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、物联网等）、协调各国频谱分配，避免国际干扰</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 ITU-T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（电信标准化部门）：前身为著名的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CCITT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组织，制定有线通信和网络技术标准，代表性成果包括：</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X.25</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分组交换协议、</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V</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系列调制解调器标准、</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G.711/G.729</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语音编码标准、</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H.26x</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视频编码标准、光传输网络（</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OTN</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）标准</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3. ITU-D</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（发展部门）：致力于缩小数字鸿沟、推动发展中国家通信基础设施建设、提供技术援助和能力建设</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ITU</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的独特之处在于其政府组织的性质。成员国包括</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193</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个主权国家，同时吸纳了</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900</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多家企业和学术机构作为部门成员。这种架构使其能够协调各国电信政策、平衡技术与监管需求、推动全球通信标准的统一</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ITU</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与其他标准组织（如</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ISO</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IEEE</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）保持着密切合作。例如：与</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ISO/IEC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联合制定</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ASN.1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标准、与</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IEEE</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协作制定宽带无线接入标准、与</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3GPP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共同推进移动通信标准。</a:t>
            </a:r>
          </a:p>
          <a:p>
            <a:pPr lvl="0" eaLnBrk="1" hangingPunct="1"/>
            <a:endParaRPr lang="en-US" altLang="zh-CN"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1031"/>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lstStyle/>
          <a:p>
            <a:pPr lvl="0" algn="r">
              <a:buClrTx/>
              <a:buFontTx/>
              <a:buNone/>
            </a:pPr>
            <a:fld id="{9A0DB2DC-4C9A-4742-B13C-FB6460FD3503}" type="slidenum">
              <a:rPr lang="en-US" altLang="zh-CN" sz="1200" dirty="0">
                <a:solidFill>
                  <a:schemeClr val="tx1"/>
                </a:solidFill>
              </a:rPr>
              <a:t>37</a:t>
            </a:fld>
            <a:endParaRPr lang="en-US" altLang="zh-CN" sz="1200" dirty="0">
              <a:solidFill>
                <a:schemeClr val="tx1"/>
              </a:solidFill>
            </a:endParaRPr>
          </a:p>
        </p:txBody>
      </p:sp>
      <p:sp>
        <p:nvSpPr>
          <p:cNvPr id="62466" name="Rectangle 2"/>
          <p:cNvSpPr>
            <a:spLocks noGrp="1" noRot="1" noChangeAspect="1" noTextEdit="1"/>
          </p:cNvSpPr>
          <p:nvPr>
            <p:ph type="sldImg"/>
          </p:nvPr>
        </p:nvSpPr>
        <p:spPr/>
      </p:sp>
      <p:sp>
        <p:nvSpPr>
          <p:cNvPr id="62467" name="Rectangle 3"/>
          <p:cNvSpPr>
            <a:spLocks noGrp="1"/>
          </p:cNvSpPr>
          <p:nvPr>
            <p:ph type="body"/>
          </p:nvPr>
        </p:nvSpPr>
        <p:spPr/>
        <p:txBody>
          <a:bodyPr wrap="square" lIns="91440" tIns="45720" rIns="91440" bIns="45720" anchor="t" anchorCtr="0"/>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第三个与计算机网络相关的标准化组织就是我们要重点讲解的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Internet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标准组织，即互联网标准组织。需要明确的是，互联网标准化机构是非政府性质的，采用开放参与、共识驱动的运作模式。这种去中心化的特点使得互联网标准能够快速响应技术发展需求。</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互联网标准体系的核心是因特网体系结构研究委员会（</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IAB—</a:t>
            </a:r>
            <a:r>
              <a:rPr lang="en-US" altLang="zh-CN" sz="1200" kern="1200" dirty="0" err="1" smtClean="0">
                <a:solidFill>
                  <a:schemeClr val="tx1"/>
                </a:solidFill>
                <a:effectLst/>
                <a:latin typeface="Times New Roman" panose="02020603050405020304" pitchFamily="18" charset="0"/>
                <a:ea typeface="宋体" panose="02010600030101010101" pitchFamily="2" charset="-122"/>
                <a:cs typeface="+mn-cs"/>
              </a:rPr>
              <a:t>InternetArchitectureBoard</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IAB</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作为互联网标准体系的最高技术管理机构，主要负责监督互联网协议体系结构的演进、协调各个标准化组织的工作、代表互联网社群与国际组织对接等事务。</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在</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IAB</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之下设有几个重要的分支机构：</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因特网工程任务部（</a:t>
            </a:r>
            <a:r>
              <a:rPr lang="en-US" altLang="zh-CN" sz="1200" kern="1200" dirty="0" err="1" smtClean="0">
                <a:solidFill>
                  <a:schemeClr val="tx1"/>
                </a:solidFill>
                <a:effectLst/>
                <a:latin typeface="Times New Roman" panose="02020603050405020304" pitchFamily="18" charset="0"/>
                <a:ea typeface="宋体" panose="02010600030101010101" pitchFamily="2" charset="-122"/>
                <a:cs typeface="+mn-cs"/>
              </a:rPr>
              <a:t>IETF,InternetEngineeringTaskForce</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专注于解决互联网的短期工程问题，采用</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运行代码</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err="1" smtClean="0">
                <a:solidFill>
                  <a:schemeClr val="tx1"/>
                </a:solidFill>
                <a:effectLst/>
                <a:latin typeface="Times New Roman" panose="02020603050405020304" pitchFamily="18" charset="0"/>
                <a:ea typeface="宋体" panose="02010600030101010101" pitchFamily="2" charset="-122"/>
                <a:cs typeface="+mn-cs"/>
              </a:rPr>
              <a:t>runningcode</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）的务实理念，按技术领域划分为多个工作组（如路由、安全、传输等），形成了</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RFC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文档、互联网核心协议等成果物。</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因特网研究任务部（</a:t>
            </a:r>
            <a:r>
              <a:rPr lang="en-US" altLang="zh-CN" sz="1200" kern="1200" dirty="0" err="1" smtClean="0">
                <a:solidFill>
                  <a:schemeClr val="tx1"/>
                </a:solidFill>
                <a:effectLst/>
                <a:latin typeface="Times New Roman" panose="02020603050405020304" pitchFamily="18" charset="0"/>
                <a:ea typeface="宋体" panose="02010600030101010101" pitchFamily="2" charset="-122"/>
                <a:cs typeface="+mn-cs"/>
              </a:rPr>
              <a:t>IRTF,InternetResearchTaskForce</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），致力于互联网的长期研究课题</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关注新兴技术领域，关注未来网络架构、隐私增强技术以及新型传输协议等。</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3.Internet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编号管理局（</a:t>
            </a:r>
            <a:r>
              <a:rPr lang="en-US" altLang="zh-CN" sz="1200" kern="1200" dirty="0" err="1" smtClean="0">
                <a:solidFill>
                  <a:schemeClr val="tx1"/>
                </a:solidFill>
                <a:effectLst/>
                <a:latin typeface="Times New Roman" panose="02020603050405020304" pitchFamily="18" charset="0"/>
                <a:ea typeface="宋体" panose="02010600030101010101" pitchFamily="2" charset="-122"/>
                <a:cs typeface="+mn-cs"/>
              </a:rPr>
              <a:t>IANA,InternetAssignedNumbersAuthority</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），负责全球关键互联网资源的分配，如：</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IP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地址空间（</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IPv4/IPv6</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）、自治系统号（</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ASN</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）、顶级域名管理、协议参数注册。</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需要指明的是，目前的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IANA</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已经不存在了，现由</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ICANN</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（互联网名称与数字地址分配机构）接替运营。</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4.RFC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编辑部，负责</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RFC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文档的全生命周期管理，包括：文档编辑、出版发布、状态追踪（标准、草案、历史等）。</a:t>
            </a:r>
          </a:p>
          <a:p>
            <a:pPr lvl="0" eaLnBrk="1" hangingPunct="1"/>
            <a:endParaRPr lang="zh-CN" alt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接下来我们将深入探讨互联网标准的核心载体</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——RFC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文档，以及其中几个具有里程碑意义的协议。</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首先，</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RFC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全称为</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Request For Comments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（请求评议），虽然字面意思是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征求意见</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，但实际已成为互联网技术标准的权威发布形式。所有互联网基础协议，从底层传输到应用层服务，均通过</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RFC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系列文档进行标准化。</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下面给出几个描述</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TCP/IP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协议族的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RFC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例程：</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RFC793</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：定义了传输控制协议（</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TCP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），这是互联网可靠传输的基石。它通过三次握手建立连接、滑动窗口实现流量控制、序列号保证数据有序性，为</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HTTP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等应用层协议提供了面向连接的传输服务。</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RFC791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：规范的网际协议（</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IP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）则负责无连接的数据包路由。其最核心的创新是采用分层编址方案，将</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32</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位地址划分为网络标识和主机标识，这一设计直接支撑了互联网的可扩展性。</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3</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RFC1157</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：制定的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SNMP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（简单网络管理协议）是网络设备监控的事实标准。它采用</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Manager/Agent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架构，通过</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GET/SET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操作管理</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MIB</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库中的对象，极大简化了异构网络环境下的运维工作。</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4</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RFC959</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：制定的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FTP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协议展示了早期互联网文件共享的经典设计，分离控制连接（端口</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）和数据连接（端口</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20</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），支持</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ASCII/Binary</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两种传输模式，其命令响应机制至今仍是许多协议参考的范式。</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特别强调的是，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RFC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文档本身具有严格的状态分类，包括</a:t>
            </a:r>
            <a:r>
              <a:rPr lang="en-US" altLang="zh-CN" sz="1200" kern="1200" dirty="0" err="1" smtClean="0">
                <a:solidFill>
                  <a:schemeClr val="tx1"/>
                </a:solidFill>
                <a:effectLst/>
                <a:latin typeface="Times New Roman" panose="02020603050405020304" pitchFamily="18" charset="0"/>
                <a:ea typeface="宋体" panose="02010600030101010101" pitchFamily="2" charset="-122"/>
                <a:cs typeface="+mn-cs"/>
              </a:rPr>
              <a:t>ProposedStandard</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（提案标准）、</a:t>
            </a:r>
            <a:r>
              <a:rPr lang="en-US" altLang="zh-CN" sz="1200" kern="1200" dirty="0" err="1" smtClean="0">
                <a:solidFill>
                  <a:schemeClr val="tx1"/>
                </a:solidFill>
                <a:effectLst/>
                <a:latin typeface="Times New Roman" panose="02020603050405020304" pitchFamily="18" charset="0"/>
                <a:ea typeface="宋体" panose="02010600030101010101" pitchFamily="2" charset="-122"/>
                <a:cs typeface="+mn-cs"/>
              </a:rPr>
              <a:t>DraftStandard</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（草案标准）和</a:t>
            </a:r>
            <a:r>
              <a:rPr lang="en-US" altLang="zh-CN" sz="1200" kern="1200" dirty="0" err="1" smtClean="0">
                <a:solidFill>
                  <a:schemeClr val="tx1"/>
                </a:solidFill>
                <a:effectLst/>
                <a:latin typeface="Times New Roman" panose="02020603050405020304" pitchFamily="18" charset="0"/>
                <a:ea typeface="宋体" panose="02010600030101010101" pitchFamily="2" charset="-122"/>
                <a:cs typeface="+mn-cs"/>
              </a:rPr>
              <a:t>InternetStandard</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（互联网标准）等。</a:t>
            </a:r>
          </a:p>
          <a:p>
            <a:endParaRPr lang="zh-CN" altLang="en-US" dirty="0"/>
          </a:p>
        </p:txBody>
      </p:sp>
    </p:spTree>
    <p:extLst>
      <p:ext uri="{BB962C8B-B14F-4D97-AF65-F5344CB8AC3E}">
        <p14:creationId xmlns:p14="http://schemas.microsoft.com/office/powerpoint/2010/main" val="41050224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除了前面介绍的几个标准化组织，计算机网络的发展还依赖于多个其它的权威标准化组织。这些机构在不同领域制定规范，推动全球信息技术的互操作性和创新。</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、美国国家标准与技术研究院（</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NIST—</a:t>
            </a:r>
            <a:r>
              <a:rPr lang="en-US" altLang="zh-CN" sz="1200" kern="1200" dirty="0" err="1" smtClean="0">
                <a:solidFill>
                  <a:schemeClr val="tx1"/>
                </a:solidFill>
                <a:effectLst/>
                <a:latin typeface="Times New Roman" panose="02020603050405020304" pitchFamily="18" charset="0"/>
                <a:ea typeface="宋体" panose="02010600030101010101" pitchFamily="2" charset="-122"/>
                <a:cs typeface="+mn-cs"/>
              </a:rPr>
              <a:t>NationalInstituteofStandardsandTechnology</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）隶属于美国商务部，是美国的标准化机构，它不仅是美国重要的计量科学机构，还在信息安全（如</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FIPS140</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加密标准）、云计算（</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NIST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云定义）等领域制定关键标准。其发布的《网络安全框架》（</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CSF</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）被全球企业广泛采用。</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、美国国家标准学会（</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ANSI—</a:t>
            </a:r>
            <a:r>
              <a:rPr lang="en-US" altLang="zh-CN" sz="1200" kern="1200" dirty="0" err="1" smtClean="0">
                <a:solidFill>
                  <a:schemeClr val="tx1"/>
                </a:solidFill>
                <a:effectLst/>
                <a:latin typeface="Times New Roman" panose="02020603050405020304" pitchFamily="18" charset="0"/>
                <a:ea typeface="宋体" panose="02010600030101010101" pitchFamily="2" charset="-122"/>
                <a:cs typeface="+mn-cs"/>
              </a:rPr>
              <a:t>AmericanNationalStandardsInstitute</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），作为美国在</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ISO</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（国际标准化组织）的代表，负责协调国内标准与国际标准的接轨。例如，</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语言标准的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ANSIC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（后成为</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ISO/IEC9899</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）就是由其推动。</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3</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、电气与电子工程师协会（</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IEEE—</a:t>
            </a:r>
            <a:r>
              <a:rPr lang="en-US" altLang="zh-CN" sz="1200" i="0" kern="1200" dirty="0" err="1" smtClean="0">
                <a:solidFill>
                  <a:schemeClr val="tx1"/>
                </a:solidFill>
                <a:effectLst/>
                <a:latin typeface="Times New Roman" panose="02020603050405020304" pitchFamily="18" charset="0"/>
                <a:ea typeface="宋体" panose="02010600030101010101" pitchFamily="2" charset="-122"/>
                <a:cs typeface="+mn-cs"/>
              </a:rPr>
              <a:t>InstituteofElectricalandElectronicsEngineers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），在电子工程与通信领域，电气与电子工程师协会的影响力尤为突出，其制定的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IEEE802</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系列标准是局域网技术的基石。</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值得注意的是，部分</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IEEE</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标准（如</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802.3</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）后来被</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ISO</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采纳为</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ISO8802</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系列，体现了国际标准的融合。</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4</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ATM</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论坛，虽因技术迭代逐渐淡出，但其制定的异步传输模式（</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ATM</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）标准曾在</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90</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年代主导高速网络技术，其信元交换（</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53</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字节固定分组）设计对后续技术影响深远。</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5</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OIF</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（光互联网论坛），专注于光网络互操作性，其规范（如</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CPRI</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协议）支撑了</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5G</a:t>
            </a:r>
            <a:r>
              <a:rPr lang="zh-CN" altLang="zh-CN" sz="1200" kern="1200" smtClean="0">
                <a:solidFill>
                  <a:schemeClr val="tx1"/>
                </a:solidFill>
                <a:effectLst/>
                <a:latin typeface="Times New Roman" panose="02020603050405020304" pitchFamily="18" charset="0"/>
                <a:ea typeface="宋体" panose="02010600030101010101" pitchFamily="2" charset="-122"/>
                <a:cs typeface="+mn-cs"/>
              </a:rPr>
              <a:t>前传网络和数据中心光互联的标准化部署。</a:t>
            </a:r>
          </a:p>
          <a:p>
            <a:endParaRPr lang="zh-CN" altLang="en-US"/>
          </a:p>
        </p:txBody>
      </p:sp>
    </p:spTree>
    <p:extLst>
      <p:ext uri="{BB962C8B-B14F-4D97-AF65-F5344CB8AC3E}">
        <p14:creationId xmlns:p14="http://schemas.microsoft.com/office/powerpoint/2010/main" val="38032667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41C9119B-83B0-49F4-919B-5C77D0A7FD97}" type="datetime1">
              <a:rPr kumimoji="0" lang="zh-CN" altLang="en-US"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rPr>
              <a:t>2025/8/26</a:t>
            </a:fld>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41C9119B-83B0-49F4-919B-5C77D0A7FD97}" type="datetime1">
              <a:rPr kumimoji="0" lang="zh-CN" altLang="en-US"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rPr>
              <a:t>2025/8/26</a:t>
            </a:fld>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endParaRPr>
          </a:p>
        </p:txBody>
      </p:sp>
      <p:sp>
        <p:nvSpPr>
          <p:cNvPr id="6" name="文本框 5"/>
          <p:cNvSpPr txBox="1"/>
          <p:nvPr userDrawn="1"/>
        </p:nvSpPr>
        <p:spPr>
          <a:xfrm>
            <a:off x="7596505" y="6359525"/>
            <a:ext cx="3058795" cy="544195"/>
          </a:xfrm>
          <a:prstGeom prst="rect">
            <a:avLst/>
          </a:prstGeom>
          <a:noFill/>
        </p:spPr>
        <p:txBody>
          <a:bodyPr wrap="square" rtlCol="0">
            <a:noAutofit/>
          </a:bodyPr>
          <a:lstStyle/>
          <a:p>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41C9119B-83B0-49F4-919B-5C77D0A7FD97}" type="datetime1">
              <a:rPr kumimoji="0" lang="zh-CN" altLang="en-US"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rPr>
              <a:t>2025/8/26</a:t>
            </a:fld>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762000" y="137636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724400" y="137636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41C9119B-83B0-49F4-919B-5C77D0A7FD97}" type="datetime1">
              <a:rPr kumimoji="0" lang="zh-CN" altLang="en-US"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rPr>
              <a:t>2025/8/26</a:t>
            </a:fld>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41C9119B-83B0-49F4-919B-5C77D0A7FD97}" type="datetime1">
              <a:rPr kumimoji="0" lang="zh-CN" altLang="en-US"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rPr>
              <a:t>2025/8/26</a:t>
            </a:fld>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41C9119B-83B0-49F4-919B-5C77D0A7FD97}" type="datetime1">
              <a:rPr kumimoji="0" lang="zh-CN" altLang="en-US"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rPr>
              <a:t>2025/8/26</a:t>
            </a:fld>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41C9119B-83B0-49F4-919B-5C77D0A7FD97}" type="datetime1">
              <a:rPr kumimoji="0" lang="zh-CN" altLang="en-US"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rPr>
              <a:t>2025/8/26</a:t>
            </a:fld>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41C9119B-83B0-49F4-919B-5C77D0A7FD97}" type="datetime1">
              <a:rPr kumimoji="0" lang="zh-CN" altLang="en-US"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rPr>
              <a:t>2025/8/26</a:t>
            </a:fld>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3366FF"/>
              </a:buClr>
              <a:buSzTx/>
              <a:buFont typeface="Wingdings" panose="05000000000000000000" pitchFamily="2" charset="2"/>
              <a:buNone/>
              <a:defRPr/>
            </a:pPr>
            <a:endParaRPr kumimoji="1" lang="zh-CN" altLang="en-US" sz="3200" b="1" i="0" u="none" strike="noStrike" kern="0" cap="none" spc="0" normalizeH="0" baseline="0" noProof="0" smtClean="0">
              <a:ln>
                <a:noFill/>
              </a:ln>
              <a:solidFill>
                <a:schemeClr val="bg2"/>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41C9119B-83B0-49F4-919B-5C77D0A7FD97}" type="datetime1">
              <a:rPr kumimoji="0" lang="zh-CN" altLang="en-US"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rPr>
              <a:t>2025/8/26</a:t>
            </a:fld>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41C9119B-83B0-49F4-919B-5C77D0A7FD97}" type="datetime1">
              <a:rPr kumimoji="0" lang="zh-CN" altLang="en-US"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rPr>
              <a:t>2025/8/26</a:t>
            </a:fld>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81775" y="7938"/>
            <a:ext cx="1952625" cy="5483225"/>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719138" y="7938"/>
            <a:ext cx="5710237" cy="5483225"/>
          </a:xfrm>
        </p:spPr>
        <p:txBody>
          <a:bodyPr vert="eaVert"/>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41C9119B-83B0-49F4-919B-5C77D0A7FD97}" type="datetime1">
              <a:rPr kumimoji="0" lang="zh-CN" altLang="en-US"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rPr>
              <a:t>2025/8/26</a:t>
            </a:fld>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41C9119B-83B0-49F4-919B-5C77D0A7FD97}" type="datetime1">
              <a:rPr kumimoji="0" lang="zh-CN" altLang="en-US"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rPr>
              <a:t>2025/8/26</a:t>
            </a:fld>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41C9119B-83B0-49F4-919B-5C77D0A7FD97}" type="datetime1">
              <a:rPr kumimoji="0" lang="zh-CN" altLang="en-US"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rPr>
              <a:t>2025/8/26</a:t>
            </a:fld>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41C9119B-83B0-49F4-919B-5C77D0A7FD97}" type="datetime1">
              <a:rPr kumimoji="0" lang="zh-CN" altLang="en-US"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rPr>
              <a:t>2025/8/26</a:t>
            </a:fld>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762000" y="137636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724400" y="137636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41C9119B-83B0-49F4-919B-5C77D0A7FD97}" type="datetime1">
              <a:rPr kumimoji="0" lang="zh-CN" altLang="en-US"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rPr>
              <a:t>2025/8/26</a:t>
            </a:fld>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41C9119B-83B0-49F4-919B-5C77D0A7FD97}" type="datetime1">
              <a:rPr kumimoji="0" lang="zh-CN" altLang="en-US"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rPr>
              <a:t>2025/8/26</a:t>
            </a:fld>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41C9119B-83B0-49F4-919B-5C77D0A7FD97}" type="datetime1">
              <a:rPr kumimoji="0" lang="zh-CN" altLang="en-US"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rPr>
              <a:t>2025/8/26</a:t>
            </a:fld>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41C9119B-83B0-49F4-919B-5C77D0A7FD97}" type="datetime1">
              <a:rPr kumimoji="0" lang="zh-CN" altLang="en-US"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rPr>
              <a:t>2025/8/26</a:t>
            </a:fld>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41C9119B-83B0-49F4-919B-5C77D0A7FD97}" type="datetime1">
              <a:rPr kumimoji="0" lang="zh-CN" altLang="en-US"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rPr>
              <a:t>2025/8/26</a:t>
            </a:fld>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3366FF"/>
              </a:buClr>
              <a:buSzTx/>
              <a:buFont typeface="Wingdings" panose="05000000000000000000" pitchFamily="2" charset="2"/>
              <a:buNone/>
              <a:defRPr/>
            </a:pPr>
            <a:endParaRPr kumimoji="1" lang="zh-CN" altLang="en-US" sz="3200" b="1" i="0" u="none" strike="noStrike" kern="0" cap="none" spc="0" normalizeH="0" baseline="0" noProof="0" smtClean="0">
              <a:ln>
                <a:noFill/>
              </a:ln>
              <a:solidFill>
                <a:schemeClr val="bg2"/>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41C9119B-83B0-49F4-919B-5C77D0A7FD97}" type="datetime1">
              <a:rPr kumimoji="0" lang="zh-CN" altLang="en-US"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rPr>
              <a:t>2025/8/26</a:t>
            </a:fld>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41C9119B-83B0-49F4-919B-5C77D0A7FD97}" type="datetime1">
              <a:rPr kumimoji="0" lang="zh-CN" altLang="en-US"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rPr>
              <a:t>2025/8/26</a:t>
            </a:fld>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81775" y="7938"/>
            <a:ext cx="1952625" cy="5483225"/>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719138" y="7938"/>
            <a:ext cx="5710237" cy="5483225"/>
          </a:xfrm>
        </p:spPr>
        <p:txBody>
          <a:bodyPr vert="eaVert"/>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41C9119B-83B0-49F4-919B-5C77D0A7FD97}" type="datetime1">
              <a:rPr kumimoji="0" lang="zh-CN" altLang="en-US"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rPr>
              <a:t>2025/8/26</a:t>
            </a:fld>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41C9119B-83B0-49F4-919B-5C77D0A7FD97}" type="datetime1">
              <a:rPr kumimoji="0" lang="zh-CN" altLang="en-US"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rPr>
              <a:t>2025/8/26</a:t>
            </a:fld>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41C9119B-83B0-49F4-919B-5C77D0A7FD97}" type="datetime1">
              <a:rPr kumimoji="0" lang="zh-CN" altLang="en-US"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rPr>
              <a:t>2025/8/26</a:t>
            </a:fld>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41C9119B-83B0-49F4-919B-5C77D0A7FD97}" type="datetime1">
              <a:rPr kumimoji="0" lang="zh-CN" altLang="en-US"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rPr>
              <a:t>2025/8/26</a:t>
            </a:fld>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762000" y="137636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724400" y="137636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41C9119B-83B0-49F4-919B-5C77D0A7FD97}" type="datetime1">
              <a:rPr kumimoji="0" lang="zh-CN" altLang="en-US"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rPr>
              <a:t>2025/8/26</a:t>
            </a:fld>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41C9119B-83B0-49F4-919B-5C77D0A7FD97}" type="datetime1">
              <a:rPr kumimoji="0" lang="zh-CN" altLang="en-US"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rPr>
              <a:t>2025/8/26</a:t>
            </a:fld>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41C9119B-83B0-49F4-919B-5C77D0A7FD97}" type="datetime1">
              <a:rPr kumimoji="0" lang="zh-CN" altLang="en-US"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rPr>
              <a:t>2025/8/26</a:t>
            </a:fld>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41C9119B-83B0-49F4-919B-5C77D0A7FD97}" type="datetime1">
              <a:rPr kumimoji="0" lang="zh-CN" altLang="en-US"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rPr>
              <a:t>2025/8/26</a:t>
            </a:fld>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41C9119B-83B0-49F4-919B-5C77D0A7FD97}" type="datetime1">
              <a:rPr kumimoji="0" lang="zh-CN" altLang="en-US"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rPr>
              <a:t>2025/8/26</a:t>
            </a:fld>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3366FF"/>
              </a:buClr>
              <a:buSzTx/>
              <a:buFont typeface="Wingdings" panose="05000000000000000000" pitchFamily="2" charset="2"/>
              <a:buNone/>
              <a:defRPr/>
            </a:pPr>
            <a:endParaRPr kumimoji="1" lang="zh-CN" altLang="en-US" sz="3200" b="1" i="0" u="none" strike="noStrike" kern="0" cap="none" spc="0" normalizeH="0" baseline="0" noProof="0" smtClean="0">
              <a:ln>
                <a:noFill/>
              </a:ln>
              <a:solidFill>
                <a:schemeClr val="bg2"/>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41C9119B-83B0-49F4-919B-5C77D0A7FD97}" type="datetime1">
              <a:rPr kumimoji="0" lang="zh-CN" altLang="en-US"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rPr>
              <a:t>2025/8/26</a:t>
            </a:fld>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41C9119B-83B0-49F4-919B-5C77D0A7FD97}" type="datetime1">
              <a:rPr kumimoji="0" lang="zh-CN" altLang="en-US"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rPr>
              <a:t>2025/8/26</a:t>
            </a:fld>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81775" y="7938"/>
            <a:ext cx="1952625" cy="5483225"/>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719138" y="7938"/>
            <a:ext cx="5710237" cy="5483225"/>
          </a:xfrm>
        </p:spPr>
        <p:txBody>
          <a:bodyPr vert="eaVert"/>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41C9119B-83B0-49F4-919B-5C77D0A7FD97}" type="datetime1">
              <a:rPr kumimoji="0" lang="zh-CN" altLang="en-US"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rPr>
              <a:t>2025/8/26</a:t>
            </a:fld>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41C9119B-83B0-49F4-919B-5C77D0A7FD97}" type="datetime1">
              <a:rPr kumimoji="0" lang="zh-CN" altLang="en-US"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rPr>
              <a:t>2025/8/26</a:t>
            </a:fld>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41C9119B-83B0-49F4-919B-5C77D0A7FD97}" type="datetime1">
              <a:rPr kumimoji="0" lang="zh-CN" altLang="en-US"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rPr>
              <a:t>2025/8/26</a:t>
            </a:fld>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endParaRPr>
          </a:p>
        </p:txBody>
      </p:sp>
      <p:sp>
        <p:nvSpPr>
          <p:cNvPr id="6" name="文本框 5"/>
          <p:cNvSpPr txBox="1"/>
          <p:nvPr userDrawn="1"/>
        </p:nvSpPr>
        <p:spPr>
          <a:xfrm>
            <a:off x="7596505" y="6359525"/>
            <a:ext cx="3058795" cy="544195"/>
          </a:xfrm>
          <a:prstGeom prst="rect">
            <a:avLst/>
          </a:prstGeom>
          <a:noFill/>
        </p:spPr>
        <p:txBody>
          <a:bodyPr wrap="square" rtlCol="0">
            <a:noAutofit/>
          </a:bodyPr>
          <a:lstStyle/>
          <a:p>
            <a:endParaRPr lang="zh-CN" alt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41C9119B-83B0-49F4-919B-5C77D0A7FD97}" type="datetime1">
              <a:rPr kumimoji="0" lang="zh-CN" altLang="en-US"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rPr>
              <a:t>2025/8/26</a:t>
            </a:fld>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762000" y="137636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724400" y="137636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41C9119B-83B0-49F4-919B-5C77D0A7FD97}" type="datetime1">
              <a:rPr kumimoji="0" lang="zh-CN" altLang="en-US"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rPr>
              <a:t>2025/8/26</a:t>
            </a:fld>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41C9119B-83B0-49F4-919B-5C77D0A7FD97}" type="datetime1">
              <a:rPr kumimoji="0" lang="zh-CN" altLang="en-US"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rPr>
              <a:t>2025/8/26</a:t>
            </a:fld>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41C9119B-83B0-49F4-919B-5C77D0A7FD97}" type="datetime1">
              <a:rPr kumimoji="0" lang="zh-CN" altLang="en-US"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rPr>
              <a:t>2025/8/26</a:t>
            </a:fld>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41C9119B-83B0-49F4-919B-5C77D0A7FD97}" type="datetime1">
              <a:rPr kumimoji="0" lang="zh-CN" altLang="en-US"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rPr>
              <a:t>2025/8/26</a:t>
            </a:fld>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41C9119B-83B0-49F4-919B-5C77D0A7FD97}" type="datetime1">
              <a:rPr kumimoji="0" lang="zh-CN" altLang="en-US"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rPr>
              <a:t>2025/8/26</a:t>
            </a:fld>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3366FF"/>
              </a:buClr>
              <a:buSzTx/>
              <a:buFont typeface="Wingdings" panose="05000000000000000000" pitchFamily="2" charset="2"/>
              <a:buNone/>
              <a:defRPr/>
            </a:pPr>
            <a:endParaRPr kumimoji="1" lang="zh-CN" altLang="en-US" sz="3200" b="1" i="0" u="none" strike="noStrike" kern="0" cap="none" spc="0" normalizeH="0" baseline="0" noProof="0" smtClean="0">
              <a:ln>
                <a:noFill/>
              </a:ln>
              <a:solidFill>
                <a:schemeClr val="bg2"/>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41C9119B-83B0-49F4-919B-5C77D0A7FD97}" type="datetime1">
              <a:rPr kumimoji="0" lang="zh-CN" altLang="en-US"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rPr>
              <a:t>2025/8/26</a:t>
            </a:fld>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41C9119B-83B0-49F4-919B-5C77D0A7FD97}" type="datetime1">
              <a:rPr kumimoji="0" lang="zh-CN" altLang="en-US"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rPr>
              <a:t>2025/8/26</a:t>
            </a:fld>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81775" y="7938"/>
            <a:ext cx="1952625" cy="5483225"/>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719138" y="7938"/>
            <a:ext cx="5710237" cy="5483225"/>
          </a:xfrm>
        </p:spPr>
        <p:txBody>
          <a:bodyPr vert="eaVert"/>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41C9119B-83B0-49F4-919B-5C77D0A7FD97}" type="datetime1">
              <a:rPr kumimoji="0" lang="zh-CN" altLang="en-US"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rPr>
              <a:t>2025/8/26</a:t>
            </a:fld>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vmlDrawing" Target="../drawings/vmlDrawing1.v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oleObject" Target="../embeddings/oleObject1.bin"/><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vmlDrawing" Target="../drawings/vmlDrawing2.v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6" Type="http://schemas.openxmlformats.org/officeDocument/2006/relationships/image" Target="../media/image1.pn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oleObject" Target="../embeddings/oleObject2.bin"/><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3.jpe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vmlDrawing" Target="../drawings/vmlDrawing3.v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6" Type="http://schemas.openxmlformats.org/officeDocument/2006/relationships/image" Target="../media/image1.png"/><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5" Type="http://schemas.openxmlformats.org/officeDocument/2006/relationships/oleObject" Target="../embeddings/oleObject3.bin"/><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image" Target="../media/image3.jpe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vmlDrawing" Target="../drawings/vmlDrawing4.v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6" Type="http://schemas.openxmlformats.org/officeDocument/2006/relationships/image" Target="../media/image1.png"/><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5" Type="http://schemas.openxmlformats.org/officeDocument/2006/relationships/oleObject" Target="../embeddings/oleObject4.bin"/><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rotWithShape="1">
          <a:blip r:embed="rId14"/>
          <a:stretch>
            <a:fillRect/>
          </a:stretch>
        </a:blip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719138" y="7938"/>
            <a:ext cx="7696200" cy="720725"/>
          </a:xfrm>
          <a:prstGeom prst="rect">
            <a:avLst/>
          </a:prstGeom>
          <a:noFill/>
          <a:ln w="9525">
            <a:noFill/>
          </a:ln>
          <a:effectLst>
            <a:outerShdw dist="17961" dir="2699999" algn="ctr" rotWithShape="0">
              <a:schemeClr val="bg2"/>
            </a:outerShdw>
          </a:effectLst>
        </p:spPr>
        <p:txBody>
          <a:bodyPr lIns="92075" tIns="46038" rIns="92075" bIns="46038" anchor="ctr" anchorCtr="0"/>
          <a:lstStyle/>
          <a:p>
            <a:pPr lvl="0"/>
            <a:r>
              <a:rPr lang="zh-CN" altLang="en-US" dirty="0"/>
              <a:t>单击此处编辑母版标题样式</a:t>
            </a:r>
          </a:p>
        </p:txBody>
      </p:sp>
      <p:sp>
        <p:nvSpPr>
          <p:cNvPr id="504835" name="Rectangle 3"/>
          <p:cNvSpPr>
            <a:spLocks noGrp="1" noChangeArrowheads="1"/>
          </p:cNvSpPr>
          <p:nvPr>
            <p:ph type="dt" sz="half" idx="2"/>
          </p:nvPr>
        </p:nvSpPr>
        <p:spPr bwMode="auto">
          <a:xfrm>
            <a:off x="685800" y="6248400"/>
            <a:ext cx="1905000" cy="457200"/>
          </a:xfrm>
          <a:prstGeom prst="rect">
            <a:avLst/>
          </a:prstGeom>
          <a:noFill/>
          <a:ln w="9525">
            <a:noFill/>
            <a:miter lim="800000"/>
          </a:ln>
          <a:effectLst/>
        </p:spPr>
        <p:txBody>
          <a:bodyPr vert="horz" wrap="square" lIns="92075" tIns="46038" rIns="92075" bIns="46038" numCol="1" anchor="ctr" anchorCtr="0" compatLnSpc="1"/>
          <a:lstStyle>
            <a:lvl1pPr>
              <a:spcBef>
                <a:spcPct val="0"/>
              </a:spcBef>
              <a:buClrTx/>
              <a:buFontTx/>
              <a:buNone/>
              <a:defRPr kumimoji="0" sz="1400" b="1" smtClean="0">
                <a:solidFill>
                  <a:schemeClr val="bg2"/>
                </a:solidFill>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41C9119B-83B0-49F4-919B-5C77D0A7FD97}" type="datetime1">
              <a:rPr kumimoji="0" lang="zh-CN" altLang="en-US"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rPr>
              <a:t>2025/8/26</a:t>
            </a:fld>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endParaRPr>
          </a:p>
        </p:txBody>
      </p:sp>
      <p:sp>
        <p:nvSpPr>
          <p:cNvPr id="504836" name="Rectangle 4"/>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2075" tIns="46038" rIns="92075" bIns="46038" numCol="1" anchor="ctr" anchorCtr="0" compatLnSpc="1"/>
          <a:lstStyle>
            <a:lvl1pPr algn="ctr">
              <a:spcBef>
                <a:spcPct val="0"/>
              </a:spcBef>
              <a:buClrTx/>
              <a:buFontTx/>
              <a:buNone/>
              <a:defRPr kumimoji="0" sz="1400" b="1" smtClean="0">
                <a:solidFill>
                  <a:schemeClr val="bg2"/>
                </a:solidFill>
                <a:ea typeface="+mn-ea"/>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endParaRPr>
          </a:p>
        </p:txBody>
      </p:sp>
      <p:sp>
        <p:nvSpPr>
          <p:cNvPr id="1029" name="Rectangle 5"/>
          <p:cNvSpPr>
            <a:spLocks noGrp="1"/>
          </p:cNvSpPr>
          <p:nvPr>
            <p:ph type="body"/>
          </p:nvPr>
        </p:nvSpPr>
        <p:spPr>
          <a:xfrm>
            <a:off x="762000" y="1376363"/>
            <a:ext cx="7772400" cy="4114800"/>
          </a:xfrm>
          <a:prstGeom prst="rect">
            <a:avLst/>
          </a:prstGeom>
          <a:noFill/>
          <a:ln w="9525">
            <a:noFill/>
          </a:ln>
        </p:spPr>
        <p:txBody>
          <a:bodyPr anchor="t" anchorCtr="0"/>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30" name="Rectangle 6"/>
          <p:cNvSpPr/>
          <p:nvPr/>
        </p:nvSpPr>
        <p:spPr>
          <a:xfrm>
            <a:off x="0" y="682625"/>
            <a:ext cx="9144000" cy="46038"/>
          </a:xfrm>
          <a:prstGeom prst="rect">
            <a:avLst/>
          </a:prstGeom>
          <a:gradFill rotWithShape="1">
            <a:gsLst>
              <a:gs pos="0">
                <a:srgbClr val="0066FF"/>
              </a:gs>
              <a:gs pos="50000">
                <a:srgbClr val="99CCFF"/>
              </a:gs>
              <a:gs pos="100000">
                <a:srgbClr val="0066FF"/>
              </a:gs>
            </a:gsLst>
            <a:lin ang="0" scaled="1"/>
            <a:tileRect/>
          </a:gradFill>
          <a:ln w="9525">
            <a:noFill/>
          </a:ln>
          <a:effectLst>
            <a:outerShdw dist="56796" dir="1593903" algn="ctr" rotWithShape="0">
              <a:srgbClr val="DDDDDD"/>
            </a:outerShdw>
          </a:effectLst>
        </p:spPr>
        <p:txBody>
          <a:bodyPr wrap="none" anchor="ctr" anchorCtr="0"/>
          <a:lstStyle/>
          <a:p>
            <a:pPr marL="342900" lvl="0" indent="-342900" algn="ctr">
              <a:spcBef>
                <a:spcPct val="20000"/>
              </a:spcBef>
            </a:pPr>
            <a:endParaRPr lang="zh-CN" altLang="zh-CN" dirty="0">
              <a:latin typeface="Times New Roman" panose="02020603050405020304" pitchFamily="18" charset="0"/>
              <a:ea typeface="黑体" panose="02010609060101010101" pitchFamily="49" charset="-122"/>
            </a:endParaRPr>
          </a:p>
        </p:txBody>
      </p:sp>
      <p:graphicFrame>
        <p:nvGraphicFramePr>
          <p:cNvPr id="1031" name="Object 8"/>
          <p:cNvGraphicFramePr>
            <a:graphicFrameLocks noChangeAspect="1"/>
          </p:cNvGraphicFramePr>
          <p:nvPr userDrawn="1"/>
        </p:nvGraphicFramePr>
        <p:xfrm>
          <a:off x="0" y="188913"/>
          <a:ext cx="9144000" cy="1008062"/>
        </p:xfrm>
        <a:graphic>
          <a:graphicData uri="http://schemas.openxmlformats.org/presentationml/2006/ole">
            <mc:AlternateContent xmlns:mc="http://schemas.openxmlformats.org/markup-compatibility/2006">
              <mc:Choice xmlns:v="urn:schemas-microsoft-com:vml" Requires="v">
                <p:oleObj spid="_x0000_s3096" r:id="rId15" imgW="15290800" imgH="1549400" progId="Photoshop.Image.7">
                  <p:embed/>
                </p:oleObj>
              </mc:Choice>
              <mc:Fallback>
                <p:oleObj r:id="rId15" imgW="15290800" imgH="1549400" progId="Photoshop.Image.7">
                  <p:embed/>
                  <p:pic>
                    <p:nvPicPr>
                      <p:cNvPr id="0" name="图片 3076"/>
                      <p:cNvPicPr/>
                      <p:nvPr/>
                    </p:nvPicPr>
                    <p:blipFill>
                      <a:blip r:embed="rId16"/>
                      <a:stretch>
                        <a:fillRect/>
                      </a:stretch>
                    </p:blipFill>
                    <p:spPr>
                      <a:xfrm>
                        <a:off x="0" y="188913"/>
                        <a:ext cx="9144000" cy="1008062"/>
                      </a:xfrm>
                      <a:prstGeom prst="rect">
                        <a:avLst/>
                      </a:prstGeom>
                      <a:noFill/>
                      <a:ln w="38100">
                        <a:noFill/>
                        <a:miter/>
                      </a:ln>
                    </p:spPr>
                  </p:pic>
                </p:oleObj>
              </mc:Fallback>
            </mc:AlternateContent>
          </a:graphicData>
        </a:graphic>
      </p:graphicFrame>
      <p:sp>
        <p:nvSpPr>
          <p:cNvPr id="1032" name="Rectangle 9"/>
          <p:cNvSpPr/>
          <p:nvPr userDrawn="1"/>
        </p:nvSpPr>
        <p:spPr>
          <a:xfrm>
            <a:off x="0" y="0"/>
            <a:ext cx="9144000" cy="241300"/>
          </a:xfrm>
          <a:prstGeom prst="rect">
            <a:avLst/>
          </a:prstGeom>
          <a:solidFill>
            <a:srgbClr val="FF9933"/>
          </a:solidFill>
          <a:ln w="9525">
            <a:noFill/>
          </a:ln>
        </p:spPr>
        <p:txBody>
          <a:bodyPr wrap="none" anchor="ctr" anchorCtr="0"/>
          <a:lstStyle/>
          <a:p>
            <a:pPr lvl="0" algn="ctr">
              <a:buClrTx/>
              <a:buFontTx/>
              <a:buNone/>
            </a:pPr>
            <a:endParaRPr lang="zh-CN" altLang="zh-CN" sz="1800" dirty="0">
              <a:solidFill>
                <a:schemeClr val="tx1"/>
              </a:solidFill>
              <a:latin typeface="Arial" panose="020B0604020202020204" pitchFamily="34" charset="0"/>
              <a:ea typeface="宋体" panose="02010600030101010101" pitchFamily="2" charset="-122"/>
            </a:endParaRPr>
          </a:p>
        </p:txBody>
      </p:sp>
      <p:sp>
        <p:nvSpPr>
          <p:cNvPr id="1033" name="Freeform 10"/>
          <p:cNvSpPr/>
          <p:nvPr userDrawn="1"/>
        </p:nvSpPr>
        <p:spPr>
          <a:xfrm>
            <a:off x="0" y="908050"/>
            <a:ext cx="9144000" cy="461963"/>
          </a:xfrm>
          <a:custGeom>
            <a:avLst/>
            <a:gdLst/>
            <a:ahLst/>
            <a:cxnLst>
              <a:cxn ang="0">
                <a:pos x="4" y="365"/>
              </a:cxn>
              <a:cxn ang="0">
                <a:pos x="0" y="246"/>
              </a:cxn>
              <a:cxn ang="0">
                <a:pos x="1837" y="32"/>
              </a:cxn>
              <a:cxn ang="0">
                <a:pos x="3970" y="52"/>
              </a:cxn>
              <a:cxn ang="0">
                <a:pos x="5764" y="231"/>
              </a:cxn>
              <a:cxn ang="0">
                <a:pos x="5768" y="366"/>
              </a:cxn>
              <a:cxn ang="0">
                <a:pos x="4" y="365"/>
              </a:cxn>
            </a:cxnLst>
            <a:rect l="0" t="0" r="0" b="0"/>
            <a:pathLst>
              <a:path w="5768" h="366">
                <a:moveTo>
                  <a:pt x="4" y="365"/>
                </a:moveTo>
                <a:lnTo>
                  <a:pt x="0" y="246"/>
                </a:lnTo>
                <a:cubicBezTo>
                  <a:pt x="304" y="192"/>
                  <a:pt x="1175" y="64"/>
                  <a:pt x="1837" y="32"/>
                </a:cubicBezTo>
                <a:cubicBezTo>
                  <a:pt x="2499" y="0"/>
                  <a:pt x="3316" y="19"/>
                  <a:pt x="3970" y="52"/>
                </a:cubicBezTo>
                <a:cubicBezTo>
                  <a:pt x="4624" y="85"/>
                  <a:pt x="5464" y="179"/>
                  <a:pt x="5764" y="231"/>
                </a:cubicBezTo>
                <a:lnTo>
                  <a:pt x="5768" y="366"/>
                </a:lnTo>
                <a:lnTo>
                  <a:pt x="4" y="365"/>
                </a:lnTo>
                <a:close/>
              </a:path>
            </a:pathLst>
          </a:custGeom>
          <a:solidFill>
            <a:schemeClr val="bg1"/>
          </a:solidFill>
          <a:ln w="9525">
            <a:noFill/>
          </a:ln>
        </p:spPr>
        <p:txBody>
          <a:bodyPr/>
          <a:lstStyle/>
          <a:p>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eaLnBrk="0" fontAlgn="base" hangingPunct="0">
        <a:spcBef>
          <a:spcPct val="0"/>
        </a:spcBef>
        <a:spcAft>
          <a:spcPct val="0"/>
        </a:spcAft>
        <a:defRPr kumimoji="1" sz="4000">
          <a:solidFill>
            <a:srgbClr val="FF9900"/>
          </a:solidFill>
          <a:latin typeface="+mj-lt"/>
          <a:ea typeface="+mj-ea"/>
          <a:cs typeface="+mj-cs"/>
        </a:defRPr>
      </a:lvl1pPr>
      <a:lvl2pPr algn="ctr" rtl="0" eaLnBrk="0" fontAlgn="base" hangingPunct="0">
        <a:spcBef>
          <a:spcPct val="0"/>
        </a:spcBef>
        <a:spcAft>
          <a:spcPct val="0"/>
        </a:spcAft>
        <a:defRPr kumimoji="1" sz="4000">
          <a:solidFill>
            <a:srgbClr val="FF9900"/>
          </a:solidFill>
          <a:latin typeface="Arial" panose="020B0604020202020204" pitchFamily="34" charset="0"/>
          <a:ea typeface="黑体" panose="02010609060101010101" pitchFamily="49" charset="-122"/>
        </a:defRPr>
      </a:lvl2pPr>
      <a:lvl3pPr algn="ctr" rtl="0" eaLnBrk="0" fontAlgn="base" hangingPunct="0">
        <a:spcBef>
          <a:spcPct val="0"/>
        </a:spcBef>
        <a:spcAft>
          <a:spcPct val="0"/>
        </a:spcAft>
        <a:defRPr kumimoji="1" sz="4000">
          <a:solidFill>
            <a:srgbClr val="FF9900"/>
          </a:solidFill>
          <a:latin typeface="Arial" panose="020B0604020202020204" pitchFamily="34" charset="0"/>
          <a:ea typeface="黑体" panose="02010609060101010101" pitchFamily="49" charset="-122"/>
        </a:defRPr>
      </a:lvl3pPr>
      <a:lvl4pPr algn="ctr" rtl="0" eaLnBrk="0" fontAlgn="base" hangingPunct="0">
        <a:spcBef>
          <a:spcPct val="0"/>
        </a:spcBef>
        <a:spcAft>
          <a:spcPct val="0"/>
        </a:spcAft>
        <a:defRPr kumimoji="1" sz="4000">
          <a:solidFill>
            <a:srgbClr val="FF9900"/>
          </a:solidFill>
          <a:latin typeface="Arial" panose="020B0604020202020204" pitchFamily="34" charset="0"/>
          <a:ea typeface="黑体" panose="02010609060101010101" pitchFamily="49" charset="-122"/>
        </a:defRPr>
      </a:lvl4pPr>
      <a:lvl5pPr algn="ctr" rtl="0" eaLnBrk="0" fontAlgn="base" hangingPunct="0">
        <a:spcBef>
          <a:spcPct val="0"/>
        </a:spcBef>
        <a:spcAft>
          <a:spcPct val="0"/>
        </a:spcAft>
        <a:defRPr kumimoji="1" sz="4000">
          <a:solidFill>
            <a:srgbClr val="FF9900"/>
          </a:solidFill>
          <a:latin typeface="Arial" panose="020B0604020202020204" pitchFamily="34" charset="0"/>
          <a:ea typeface="黑体" panose="02010609060101010101" pitchFamily="49" charset="-122"/>
        </a:defRPr>
      </a:lvl5pPr>
      <a:lvl6pPr marL="457200"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6pPr>
      <a:lvl7pPr marL="914400"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7pPr>
      <a:lvl8pPr marL="1371600"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8pPr>
      <a:lvl9pPr marL="1828800"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9pPr>
    </p:titleStyle>
    <p:bodyStyle>
      <a:lvl1pPr marL="342900" indent="-342900" algn="l" rtl="0" eaLnBrk="0" fontAlgn="base" hangingPunct="0">
        <a:spcBef>
          <a:spcPct val="20000"/>
        </a:spcBef>
        <a:spcAft>
          <a:spcPct val="0"/>
        </a:spcAft>
        <a:buClr>
          <a:srgbClr val="3366FF"/>
        </a:buClr>
        <a:buFont typeface="Wingdings" panose="05000000000000000000" pitchFamily="2" charset="2"/>
        <a:buChar char="l"/>
        <a:defRPr kumimoji="1" sz="3200" b="1">
          <a:solidFill>
            <a:schemeClr val="bg2"/>
          </a:solidFill>
          <a:latin typeface="+mn-lt"/>
          <a:ea typeface="+mn-ea"/>
          <a:cs typeface="+mn-cs"/>
        </a:defRPr>
      </a:lvl1pPr>
      <a:lvl2pPr marL="742950" indent="-285750" algn="l" rtl="0" eaLnBrk="0" fontAlgn="base" hangingPunct="0">
        <a:spcBef>
          <a:spcPct val="20000"/>
        </a:spcBef>
        <a:spcAft>
          <a:spcPct val="0"/>
        </a:spcAft>
        <a:buClr>
          <a:srgbClr val="003399"/>
        </a:buClr>
        <a:buFont typeface="Wingdings" panose="05000000000000000000" pitchFamily="2" charset="2"/>
        <a:buChar char="ü"/>
        <a:defRPr kumimoji="1" sz="2800" b="1">
          <a:solidFill>
            <a:srgbClr val="003399"/>
          </a:solidFill>
          <a:latin typeface="+mn-lt"/>
          <a:ea typeface="+mn-ea"/>
        </a:defRPr>
      </a:lvl2pPr>
      <a:lvl3pPr marL="1143000" indent="-228600" algn="l" rtl="0" eaLnBrk="0" fontAlgn="base" hangingPunct="0">
        <a:spcBef>
          <a:spcPct val="20000"/>
        </a:spcBef>
        <a:spcAft>
          <a:spcPct val="0"/>
        </a:spcAft>
        <a:buClr>
          <a:srgbClr val="CC6600"/>
        </a:buClr>
        <a:buFont typeface="Wingdings" panose="05000000000000000000" pitchFamily="2" charset="2"/>
        <a:buChar char="q"/>
        <a:defRPr kumimoji="1" sz="2400" b="1">
          <a:solidFill>
            <a:srgbClr val="CC6600"/>
          </a:solidFill>
          <a:latin typeface="+mn-lt"/>
          <a:ea typeface="+mn-ea"/>
        </a:defRPr>
      </a:lvl3pPr>
      <a:lvl4pPr marL="1600200" indent="-228600" algn="l" rtl="0" eaLnBrk="0" fontAlgn="base" hangingPunct="0">
        <a:spcBef>
          <a:spcPct val="20000"/>
        </a:spcBef>
        <a:spcAft>
          <a:spcPct val="0"/>
        </a:spcAft>
        <a:buClr>
          <a:srgbClr val="256EFF"/>
        </a:buClr>
        <a:buChar char="–"/>
        <a:defRPr kumimoji="1" sz="2000" b="1">
          <a:solidFill>
            <a:schemeClr val="bg2"/>
          </a:solidFill>
          <a:latin typeface="+mn-lt"/>
          <a:ea typeface="+mn-ea"/>
        </a:defRPr>
      </a:lvl4pPr>
      <a:lvl5pPr marL="2057400" indent="-228600" algn="l" rtl="0" eaLnBrk="0" fontAlgn="base" hangingPunct="0">
        <a:spcBef>
          <a:spcPct val="20000"/>
        </a:spcBef>
        <a:spcAft>
          <a:spcPct val="0"/>
        </a:spcAft>
        <a:buClr>
          <a:srgbClr val="256EFF"/>
        </a:buClr>
        <a:buChar char="•"/>
        <a:defRPr kumimoji="1" sz="2000" b="1">
          <a:solidFill>
            <a:schemeClr val="bg2"/>
          </a:solidFill>
          <a:latin typeface="+mn-lt"/>
          <a:ea typeface="+mn-ea"/>
        </a:defRPr>
      </a:lvl5pPr>
      <a:lvl6pPr marL="2514600" indent="-228600" algn="l" rtl="0" fontAlgn="base">
        <a:spcBef>
          <a:spcPct val="20000"/>
        </a:spcBef>
        <a:spcAft>
          <a:spcPct val="0"/>
        </a:spcAft>
        <a:buClr>
          <a:srgbClr val="256EFF"/>
        </a:buClr>
        <a:buChar char="•"/>
        <a:defRPr kumimoji="1" sz="2000" b="1">
          <a:solidFill>
            <a:schemeClr val="bg2"/>
          </a:solidFill>
          <a:latin typeface="+mn-lt"/>
          <a:ea typeface="+mn-ea"/>
        </a:defRPr>
      </a:lvl6pPr>
      <a:lvl7pPr marL="2971800" indent="-228600" algn="l" rtl="0" fontAlgn="base">
        <a:spcBef>
          <a:spcPct val="20000"/>
        </a:spcBef>
        <a:spcAft>
          <a:spcPct val="0"/>
        </a:spcAft>
        <a:buClr>
          <a:srgbClr val="256EFF"/>
        </a:buClr>
        <a:buChar char="•"/>
        <a:defRPr kumimoji="1" sz="2000" b="1">
          <a:solidFill>
            <a:schemeClr val="bg2"/>
          </a:solidFill>
          <a:latin typeface="+mn-lt"/>
          <a:ea typeface="+mn-ea"/>
        </a:defRPr>
      </a:lvl7pPr>
      <a:lvl8pPr marL="3429000" indent="-228600" algn="l" rtl="0" fontAlgn="base">
        <a:spcBef>
          <a:spcPct val="20000"/>
        </a:spcBef>
        <a:spcAft>
          <a:spcPct val="0"/>
        </a:spcAft>
        <a:buClr>
          <a:srgbClr val="256EFF"/>
        </a:buClr>
        <a:buChar char="•"/>
        <a:defRPr kumimoji="1" sz="2000" b="1">
          <a:solidFill>
            <a:schemeClr val="bg2"/>
          </a:solidFill>
          <a:latin typeface="+mn-lt"/>
          <a:ea typeface="+mn-ea"/>
        </a:defRPr>
      </a:lvl8pPr>
      <a:lvl9pPr marL="3886200" indent="-228600" algn="l" rtl="0" fontAlgn="base">
        <a:spcBef>
          <a:spcPct val="20000"/>
        </a:spcBef>
        <a:spcAft>
          <a:spcPct val="0"/>
        </a:spcAft>
        <a:buClr>
          <a:srgbClr val="256EFF"/>
        </a:buClr>
        <a:buChar char="•"/>
        <a:defRPr kumimoji="1" sz="2000" b="1">
          <a:solidFill>
            <a:schemeClr val="bg2"/>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4"/>
          <a:stretch>
            <a:fillRect/>
          </a:stretch>
        </a:blipFill>
        <a:effectLst/>
      </p:bgPr>
    </p:bg>
    <p:spTree>
      <p:nvGrpSpPr>
        <p:cNvPr id="1" name=""/>
        <p:cNvGrpSpPr/>
        <p:nvPr/>
      </p:nvGrpSpPr>
      <p:grpSpPr>
        <a:xfrm>
          <a:off x="0" y="0"/>
          <a:ext cx="0" cy="0"/>
          <a:chOff x="0" y="0"/>
          <a:chExt cx="0" cy="0"/>
        </a:xfrm>
      </p:grpSpPr>
      <p:sp>
        <p:nvSpPr>
          <p:cNvPr id="2050" name="Rectangle 2"/>
          <p:cNvSpPr>
            <a:spLocks noGrp="1"/>
          </p:cNvSpPr>
          <p:nvPr>
            <p:ph type="title"/>
          </p:nvPr>
        </p:nvSpPr>
        <p:spPr>
          <a:xfrm>
            <a:off x="719138" y="7938"/>
            <a:ext cx="7696200" cy="720725"/>
          </a:xfrm>
          <a:prstGeom prst="rect">
            <a:avLst/>
          </a:prstGeom>
          <a:noFill/>
          <a:ln w="9525">
            <a:noFill/>
          </a:ln>
          <a:effectLst>
            <a:outerShdw dist="17961" dir="2699999" algn="ctr" rotWithShape="0">
              <a:schemeClr val="bg2"/>
            </a:outerShdw>
          </a:effectLst>
        </p:spPr>
        <p:txBody>
          <a:bodyPr lIns="92075" tIns="46038" rIns="92075" bIns="46038" anchor="ctr" anchorCtr="0"/>
          <a:lstStyle/>
          <a:p>
            <a:pPr lvl="0"/>
            <a:r>
              <a:rPr lang="zh-CN" altLang="en-US" dirty="0"/>
              <a:t>单击此处编辑母版标题样式</a:t>
            </a:r>
          </a:p>
        </p:txBody>
      </p:sp>
      <p:sp>
        <p:nvSpPr>
          <p:cNvPr id="504835" name="Rectangle 3"/>
          <p:cNvSpPr>
            <a:spLocks noGrp="1" noChangeArrowheads="1"/>
          </p:cNvSpPr>
          <p:nvPr>
            <p:ph type="dt" sz="half" idx="2"/>
          </p:nvPr>
        </p:nvSpPr>
        <p:spPr bwMode="auto">
          <a:xfrm>
            <a:off x="685800" y="6248400"/>
            <a:ext cx="1905000" cy="457200"/>
          </a:xfrm>
          <a:prstGeom prst="rect">
            <a:avLst/>
          </a:prstGeom>
          <a:noFill/>
          <a:ln w="9525">
            <a:noFill/>
            <a:miter lim="800000"/>
          </a:ln>
          <a:effectLst/>
        </p:spPr>
        <p:txBody>
          <a:bodyPr vert="horz" wrap="square" lIns="92075" tIns="46038" rIns="92075" bIns="46038" numCol="1" anchor="ctr" anchorCtr="0" compatLnSpc="1"/>
          <a:lstStyle>
            <a:lvl1pPr>
              <a:spcBef>
                <a:spcPct val="0"/>
              </a:spcBef>
              <a:buClrTx/>
              <a:buFontTx/>
              <a:buNone/>
              <a:defRPr kumimoji="0" sz="1400" b="1" smtClean="0">
                <a:solidFill>
                  <a:schemeClr val="bg2"/>
                </a:solidFill>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41C9119B-83B0-49F4-919B-5C77D0A7FD97}" type="datetime1">
              <a:rPr kumimoji="0" lang="zh-CN" altLang="en-US"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rPr>
              <a:t>2025/8/26</a:t>
            </a:fld>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endParaRPr>
          </a:p>
        </p:txBody>
      </p:sp>
      <p:sp>
        <p:nvSpPr>
          <p:cNvPr id="504836" name="Rectangle 4"/>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2075" tIns="46038" rIns="92075" bIns="46038" numCol="1" anchor="ctr" anchorCtr="0" compatLnSpc="1"/>
          <a:lstStyle>
            <a:lvl1pPr algn="ctr">
              <a:spcBef>
                <a:spcPct val="0"/>
              </a:spcBef>
              <a:buClrTx/>
              <a:buFontTx/>
              <a:buNone/>
              <a:defRPr kumimoji="0" sz="1400" b="1" smtClean="0">
                <a:solidFill>
                  <a:schemeClr val="bg2"/>
                </a:solidFill>
                <a:ea typeface="+mn-ea"/>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endParaRPr>
          </a:p>
        </p:txBody>
      </p:sp>
      <p:sp>
        <p:nvSpPr>
          <p:cNvPr id="2053" name="Rectangle 5"/>
          <p:cNvSpPr>
            <a:spLocks noGrp="1"/>
          </p:cNvSpPr>
          <p:nvPr>
            <p:ph type="body"/>
          </p:nvPr>
        </p:nvSpPr>
        <p:spPr>
          <a:xfrm>
            <a:off x="762000" y="1376363"/>
            <a:ext cx="7772400" cy="4114800"/>
          </a:xfrm>
          <a:prstGeom prst="rect">
            <a:avLst/>
          </a:prstGeom>
          <a:noFill/>
          <a:ln w="9525">
            <a:noFill/>
          </a:ln>
        </p:spPr>
        <p:txBody>
          <a:bodyPr anchor="t" anchorCtr="0"/>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054" name="Rectangle 6"/>
          <p:cNvSpPr/>
          <p:nvPr/>
        </p:nvSpPr>
        <p:spPr>
          <a:xfrm>
            <a:off x="0" y="682625"/>
            <a:ext cx="9144000" cy="46038"/>
          </a:xfrm>
          <a:prstGeom prst="rect">
            <a:avLst/>
          </a:prstGeom>
          <a:gradFill rotWithShape="1">
            <a:gsLst>
              <a:gs pos="0">
                <a:srgbClr val="0066FF"/>
              </a:gs>
              <a:gs pos="50000">
                <a:srgbClr val="99CCFF"/>
              </a:gs>
              <a:gs pos="100000">
                <a:srgbClr val="0066FF"/>
              </a:gs>
            </a:gsLst>
            <a:lin ang="0" scaled="1"/>
            <a:tileRect/>
          </a:gradFill>
          <a:ln w="9525">
            <a:noFill/>
          </a:ln>
          <a:effectLst>
            <a:outerShdw dist="56796" dir="1593903" algn="ctr" rotWithShape="0">
              <a:srgbClr val="DDDDDD"/>
            </a:outerShdw>
          </a:effectLst>
        </p:spPr>
        <p:txBody>
          <a:bodyPr wrap="none" anchor="ctr" anchorCtr="0"/>
          <a:lstStyle/>
          <a:p>
            <a:pPr marL="342900" lvl="0" indent="-342900" algn="ctr">
              <a:spcBef>
                <a:spcPct val="20000"/>
              </a:spcBef>
            </a:pPr>
            <a:endParaRPr lang="zh-CN" altLang="zh-CN" dirty="0">
              <a:latin typeface="Times New Roman" panose="02020603050405020304" pitchFamily="18" charset="0"/>
              <a:ea typeface="黑体" panose="02010609060101010101" pitchFamily="49" charset="-122"/>
            </a:endParaRPr>
          </a:p>
        </p:txBody>
      </p:sp>
      <p:graphicFrame>
        <p:nvGraphicFramePr>
          <p:cNvPr id="2055" name="Object 8"/>
          <p:cNvGraphicFramePr>
            <a:graphicFrameLocks noChangeAspect="1"/>
          </p:cNvGraphicFramePr>
          <p:nvPr userDrawn="1"/>
        </p:nvGraphicFramePr>
        <p:xfrm>
          <a:off x="0" y="188913"/>
          <a:ext cx="9144000" cy="1008062"/>
        </p:xfrm>
        <a:graphic>
          <a:graphicData uri="http://schemas.openxmlformats.org/presentationml/2006/ole">
            <mc:AlternateContent xmlns:mc="http://schemas.openxmlformats.org/markup-compatibility/2006">
              <mc:Choice xmlns:v="urn:schemas-microsoft-com:vml" Requires="v">
                <p:oleObj spid="_x0000_s4114" r:id="rId15" imgW="15290800" imgH="1549400" progId="Photoshop.Image.7">
                  <p:embed/>
                </p:oleObj>
              </mc:Choice>
              <mc:Fallback>
                <p:oleObj r:id="rId15" imgW="15290800" imgH="1549400" progId="Photoshop.Image.7">
                  <p:embed/>
                  <p:pic>
                    <p:nvPicPr>
                      <p:cNvPr id="0" name="图片 3075"/>
                      <p:cNvPicPr/>
                      <p:nvPr/>
                    </p:nvPicPr>
                    <p:blipFill>
                      <a:blip r:embed="rId16"/>
                      <a:stretch>
                        <a:fillRect/>
                      </a:stretch>
                    </p:blipFill>
                    <p:spPr>
                      <a:xfrm>
                        <a:off x="0" y="188913"/>
                        <a:ext cx="9144000" cy="1008062"/>
                      </a:xfrm>
                      <a:prstGeom prst="rect">
                        <a:avLst/>
                      </a:prstGeom>
                      <a:noFill/>
                      <a:ln w="38100">
                        <a:noFill/>
                        <a:miter/>
                      </a:ln>
                    </p:spPr>
                  </p:pic>
                </p:oleObj>
              </mc:Fallback>
            </mc:AlternateContent>
          </a:graphicData>
        </a:graphic>
      </p:graphicFrame>
      <p:sp>
        <p:nvSpPr>
          <p:cNvPr id="2056" name="Rectangle 9"/>
          <p:cNvSpPr/>
          <p:nvPr userDrawn="1"/>
        </p:nvSpPr>
        <p:spPr>
          <a:xfrm>
            <a:off x="0" y="0"/>
            <a:ext cx="9144000" cy="241300"/>
          </a:xfrm>
          <a:prstGeom prst="rect">
            <a:avLst/>
          </a:prstGeom>
          <a:solidFill>
            <a:srgbClr val="FF9933"/>
          </a:solidFill>
          <a:ln w="9525">
            <a:noFill/>
          </a:ln>
        </p:spPr>
        <p:txBody>
          <a:bodyPr wrap="none" anchor="ctr" anchorCtr="0"/>
          <a:lstStyle/>
          <a:p>
            <a:pPr lvl="0" algn="ctr">
              <a:buClrTx/>
              <a:buFontTx/>
              <a:buNone/>
            </a:pPr>
            <a:endParaRPr lang="zh-CN" altLang="zh-CN" sz="1800" dirty="0">
              <a:solidFill>
                <a:schemeClr val="tx1"/>
              </a:solidFill>
              <a:latin typeface="Arial" panose="020B0604020202020204" pitchFamily="34" charset="0"/>
              <a:ea typeface="宋体" panose="02010600030101010101" pitchFamily="2" charset="-122"/>
            </a:endParaRPr>
          </a:p>
        </p:txBody>
      </p:sp>
      <p:sp>
        <p:nvSpPr>
          <p:cNvPr id="2057" name="Freeform 10"/>
          <p:cNvSpPr/>
          <p:nvPr userDrawn="1"/>
        </p:nvSpPr>
        <p:spPr>
          <a:xfrm>
            <a:off x="0" y="908050"/>
            <a:ext cx="9144000" cy="461963"/>
          </a:xfrm>
          <a:custGeom>
            <a:avLst/>
            <a:gdLst/>
            <a:ahLst/>
            <a:cxnLst>
              <a:cxn ang="0">
                <a:pos x="4" y="365"/>
              </a:cxn>
              <a:cxn ang="0">
                <a:pos x="0" y="246"/>
              </a:cxn>
              <a:cxn ang="0">
                <a:pos x="1837" y="32"/>
              </a:cxn>
              <a:cxn ang="0">
                <a:pos x="3970" y="52"/>
              </a:cxn>
              <a:cxn ang="0">
                <a:pos x="5764" y="231"/>
              </a:cxn>
              <a:cxn ang="0">
                <a:pos x="5768" y="366"/>
              </a:cxn>
              <a:cxn ang="0">
                <a:pos x="4" y="365"/>
              </a:cxn>
            </a:cxnLst>
            <a:rect l="0" t="0" r="0" b="0"/>
            <a:pathLst>
              <a:path w="5768" h="366">
                <a:moveTo>
                  <a:pt x="4" y="365"/>
                </a:moveTo>
                <a:lnTo>
                  <a:pt x="0" y="246"/>
                </a:lnTo>
                <a:cubicBezTo>
                  <a:pt x="304" y="192"/>
                  <a:pt x="1175" y="64"/>
                  <a:pt x="1837" y="32"/>
                </a:cubicBezTo>
                <a:cubicBezTo>
                  <a:pt x="2499" y="0"/>
                  <a:pt x="3316" y="19"/>
                  <a:pt x="3970" y="52"/>
                </a:cubicBezTo>
                <a:cubicBezTo>
                  <a:pt x="4624" y="85"/>
                  <a:pt x="5464" y="179"/>
                  <a:pt x="5764" y="231"/>
                </a:cubicBezTo>
                <a:lnTo>
                  <a:pt x="5768" y="366"/>
                </a:lnTo>
                <a:lnTo>
                  <a:pt x="4" y="365"/>
                </a:lnTo>
                <a:close/>
              </a:path>
            </a:pathLst>
          </a:custGeom>
          <a:solidFill>
            <a:schemeClr val="bg1"/>
          </a:solidFill>
          <a:ln w="9525">
            <a:noFill/>
          </a:ln>
        </p:spPr>
        <p:txBody>
          <a:bodyPr/>
          <a:lstStyle/>
          <a:p>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ctr" rtl="0" eaLnBrk="0" fontAlgn="base" hangingPunct="0">
        <a:spcBef>
          <a:spcPct val="0"/>
        </a:spcBef>
        <a:spcAft>
          <a:spcPct val="0"/>
        </a:spcAft>
        <a:defRPr kumimoji="1" sz="4000">
          <a:solidFill>
            <a:srgbClr val="FF9900"/>
          </a:solidFill>
          <a:latin typeface="+mj-lt"/>
          <a:ea typeface="+mj-ea"/>
          <a:cs typeface="+mj-cs"/>
        </a:defRPr>
      </a:lvl1pPr>
      <a:lvl2pPr algn="ctr" rtl="0" eaLnBrk="0" fontAlgn="base" hangingPunct="0">
        <a:spcBef>
          <a:spcPct val="0"/>
        </a:spcBef>
        <a:spcAft>
          <a:spcPct val="0"/>
        </a:spcAft>
        <a:defRPr kumimoji="1" sz="4000">
          <a:solidFill>
            <a:srgbClr val="FF9900"/>
          </a:solidFill>
          <a:latin typeface="Arial" panose="020B0604020202020204" pitchFamily="34" charset="0"/>
          <a:ea typeface="黑体" panose="02010609060101010101" pitchFamily="49" charset="-122"/>
        </a:defRPr>
      </a:lvl2pPr>
      <a:lvl3pPr algn="ctr" rtl="0" eaLnBrk="0" fontAlgn="base" hangingPunct="0">
        <a:spcBef>
          <a:spcPct val="0"/>
        </a:spcBef>
        <a:spcAft>
          <a:spcPct val="0"/>
        </a:spcAft>
        <a:defRPr kumimoji="1" sz="4000">
          <a:solidFill>
            <a:srgbClr val="FF9900"/>
          </a:solidFill>
          <a:latin typeface="Arial" panose="020B0604020202020204" pitchFamily="34" charset="0"/>
          <a:ea typeface="黑体" panose="02010609060101010101" pitchFamily="49" charset="-122"/>
        </a:defRPr>
      </a:lvl3pPr>
      <a:lvl4pPr algn="ctr" rtl="0" eaLnBrk="0" fontAlgn="base" hangingPunct="0">
        <a:spcBef>
          <a:spcPct val="0"/>
        </a:spcBef>
        <a:spcAft>
          <a:spcPct val="0"/>
        </a:spcAft>
        <a:defRPr kumimoji="1" sz="4000">
          <a:solidFill>
            <a:srgbClr val="FF9900"/>
          </a:solidFill>
          <a:latin typeface="Arial" panose="020B0604020202020204" pitchFamily="34" charset="0"/>
          <a:ea typeface="黑体" panose="02010609060101010101" pitchFamily="49" charset="-122"/>
        </a:defRPr>
      </a:lvl4pPr>
      <a:lvl5pPr algn="ctr" rtl="0" eaLnBrk="0" fontAlgn="base" hangingPunct="0">
        <a:spcBef>
          <a:spcPct val="0"/>
        </a:spcBef>
        <a:spcAft>
          <a:spcPct val="0"/>
        </a:spcAft>
        <a:defRPr kumimoji="1" sz="4000">
          <a:solidFill>
            <a:srgbClr val="FF9900"/>
          </a:solidFill>
          <a:latin typeface="Arial" panose="020B0604020202020204" pitchFamily="34" charset="0"/>
          <a:ea typeface="黑体" panose="02010609060101010101" pitchFamily="49" charset="-122"/>
        </a:defRPr>
      </a:lvl5pPr>
      <a:lvl6pPr marL="457200"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6pPr>
      <a:lvl7pPr marL="914400"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7pPr>
      <a:lvl8pPr marL="1371600"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8pPr>
      <a:lvl9pPr marL="1828800"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9pPr>
    </p:titleStyle>
    <p:bodyStyle>
      <a:lvl1pPr marL="342900" indent="-342900" algn="l" rtl="0" eaLnBrk="0" fontAlgn="base" hangingPunct="0">
        <a:spcBef>
          <a:spcPct val="20000"/>
        </a:spcBef>
        <a:spcAft>
          <a:spcPct val="0"/>
        </a:spcAft>
        <a:buClr>
          <a:srgbClr val="3366FF"/>
        </a:buClr>
        <a:buFont typeface="Wingdings" panose="05000000000000000000" pitchFamily="2" charset="2"/>
        <a:buChar char="l"/>
        <a:defRPr kumimoji="1" sz="3200" b="1">
          <a:solidFill>
            <a:schemeClr val="bg2"/>
          </a:solidFill>
          <a:latin typeface="+mn-lt"/>
          <a:ea typeface="+mn-ea"/>
          <a:cs typeface="+mn-cs"/>
        </a:defRPr>
      </a:lvl1pPr>
      <a:lvl2pPr marL="742950" indent="-285750" algn="l" rtl="0" eaLnBrk="0" fontAlgn="base" hangingPunct="0">
        <a:spcBef>
          <a:spcPct val="20000"/>
        </a:spcBef>
        <a:spcAft>
          <a:spcPct val="0"/>
        </a:spcAft>
        <a:buClr>
          <a:srgbClr val="003399"/>
        </a:buClr>
        <a:buFont typeface="Wingdings" panose="05000000000000000000" pitchFamily="2" charset="2"/>
        <a:buChar char="ü"/>
        <a:defRPr kumimoji="1" sz="2800" b="1">
          <a:solidFill>
            <a:srgbClr val="003399"/>
          </a:solidFill>
          <a:latin typeface="+mn-lt"/>
          <a:ea typeface="+mn-ea"/>
        </a:defRPr>
      </a:lvl2pPr>
      <a:lvl3pPr marL="1143000" indent="-228600" algn="l" rtl="0" eaLnBrk="0" fontAlgn="base" hangingPunct="0">
        <a:spcBef>
          <a:spcPct val="20000"/>
        </a:spcBef>
        <a:spcAft>
          <a:spcPct val="0"/>
        </a:spcAft>
        <a:buClr>
          <a:srgbClr val="CC6600"/>
        </a:buClr>
        <a:buFont typeface="Wingdings" panose="05000000000000000000" pitchFamily="2" charset="2"/>
        <a:buChar char="q"/>
        <a:defRPr kumimoji="1" sz="2400" b="1">
          <a:solidFill>
            <a:srgbClr val="CC6600"/>
          </a:solidFill>
          <a:latin typeface="+mn-lt"/>
          <a:ea typeface="+mn-ea"/>
        </a:defRPr>
      </a:lvl3pPr>
      <a:lvl4pPr marL="1600200" indent="-228600" algn="l" rtl="0" eaLnBrk="0" fontAlgn="base" hangingPunct="0">
        <a:spcBef>
          <a:spcPct val="20000"/>
        </a:spcBef>
        <a:spcAft>
          <a:spcPct val="0"/>
        </a:spcAft>
        <a:buClr>
          <a:srgbClr val="256EFF"/>
        </a:buClr>
        <a:buChar char="–"/>
        <a:defRPr kumimoji="1" sz="2000" b="1">
          <a:solidFill>
            <a:schemeClr val="bg2"/>
          </a:solidFill>
          <a:latin typeface="+mn-lt"/>
          <a:ea typeface="+mn-ea"/>
        </a:defRPr>
      </a:lvl4pPr>
      <a:lvl5pPr marL="2057400" indent="-228600" algn="l" rtl="0" eaLnBrk="0" fontAlgn="base" hangingPunct="0">
        <a:spcBef>
          <a:spcPct val="20000"/>
        </a:spcBef>
        <a:spcAft>
          <a:spcPct val="0"/>
        </a:spcAft>
        <a:buClr>
          <a:srgbClr val="256EFF"/>
        </a:buClr>
        <a:buChar char="•"/>
        <a:defRPr kumimoji="1" sz="2000" b="1">
          <a:solidFill>
            <a:schemeClr val="bg2"/>
          </a:solidFill>
          <a:latin typeface="+mn-lt"/>
          <a:ea typeface="+mn-ea"/>
        </a:defRPr>
      </a:lvl5pPr>
      <a:lvl6pPr marL="2514600" indent="-228600" algn="l" rtl="0" fontAlgn="base">
        <a:spcBef>
          <a:spcPct val="20000"/>
        </a:spcBef>
        <a:spcAft>
          <a:spcPct val="0"/>
        </a:spcAft>
        <a:buClr>
          <a:srgbClr val="256EFF"/>
        </a:buClr>
        <a:buChar char="•"/>
        <a:defRPr kumimoji="1" sz="2000" b="1">
          <a:solidFill>
            <a:schemeClr val="bg2"/>
          </a:solidFill>
          <a:latin typeface="+mn-lt"/>
          <a:ea typeface="+mn-ea"/>
        </a:defRPr>
      </a:lvl6pPr>
      <a:lvl7pPr marL="2971800" indent="-228600" algn="l" rtl="0" fontAlgn="base">
        <a:spcBef>
          <a:spcPct val="20000"/>
        </a:spcBef>
        <a:spcAft>
          <a:spcPct val="0"/>
        </a:spcAft>
        <a:buClr>
          <a:srgbClr val="256EFF"/>
        </a:buClr>
        <a:buChar char="•"/>
        <a:defRPr kumimoji="1" sz="2000" b="1">
          <a:solidFill>
            <a:schemeClr val="bg2"/>
          </a:solidFill>
          <a:latin typeface="+mn-lt"/>
          <a:ea typeface="+mn-ea"/>
        </a:defRPr>
      </a:lvl7pPr>
      <a:lvl8pPr marL="3429000" indent="-228600" algn="l" rtl="0" fontAlgn="base">
        <a:spcBef>
          <a:spcPct val="20000"/>
        </a:spcBef>
        <a:spcAft>
          <a:spcPct val="0"/>
        </a:spcAft>
        <a:buClr>
          <a:srgbClr val="256EFF"/>
        </a:buClr>
        <a:buChar char="•"/>
        <a:defRPr kumimoji="1" sz="2000" b="1">
          <a:solidFill>
            <a:schemeClr val="bg2"/>
          </a:solidFill>
          <a:latin typeface="+mn-lt"/>
          <a:ea typeface="+mn-ea"/>
        </a:defRPr>
      </a:lvl8pPr>
      <a:lvl9pPr marL="3886200" indent="-228600" algn="l" rtl="0" fontAlgn="base">
        <a:spcBef>
          <a:spcPct val="20000"/>
        </a:spcBef>
        <a:spcAft>
          <a:spcPct val="0"/>
        </a:spcAft>
        <a:buClr>
          <a:srgbClr val="256EFF"/>
        </a:buClr>
        <a:buChar char="•"/>
        <a:defRPr kumimoji="1" sz="2000" b="1">
          <a:solidFill>
            <a:schemeClr val="bg2"/>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4"/>
          <a:stretch>
            <a:fillRect/>
          </a:stretch>
        </a:blip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719138" y="7938"/>
            <a:ext cx="7696200" cy="720725"/>
          </a:xfrm>
          <a:prstGeom prst="rect">
            <a:avLst/>
          </a:prstGeom>
          <a:noFill/>
          <a:ln w="9525">
            <a:noFill/>
          </a:ln>
          <a:effectLst>
            <a:outerShdw dist="17961" dir="2699999" algn="ctr" rotWithShape="0">
              <a:schemeClr val="bg2"/>
            </a:outerShdw>
          </a:effectLst>
        </p:spPr>
        <p:txBody>
          <a:bodyPr lIns="92075" tIns="46038" rIns="92075" bIns="46038" anchor="ctr" anchorCtr="0"/>
          <a:lstStyle/>
          <a:p>
            <a:pPr lvl="0"/>
            <a:r>
              <a:rPr lang="zh-CN" altLang="en-US" dirty="0"/>
              <a:t>单击此处编辑母版标题样式</a:t>
            </a:r>
          </a:p>
        </p:txBody>
      </p:sp>
      <p:sp>
        <p:nvSpPr>
          <p:cNvPr id="504835" name="Rectangle 3"/>
          <p:cNvSpPr>
            <a:spLocks noGrp="1" noChangeArrowheads="1"/>
          </p:cNvSpPr>
          <p:nvPr>
            <p:ph type="dt" sz="half" idx="2"/>
          </p:nvPr>
        </p:nvSpPr>
        <p:spPr bwMode="auto">
          <a:xfrm>
            <a:off x="685800" y="6248400"/>
            <a:ext cx="1905000" cy="457200"/>
          </a:xfrm>
          <a:prstGeom prst="rect">
            <a:avLst/>
          </a:prstGeom>
          <a:noFill/>
          <a:ln w="9525">
            <a:noFill/>
            <a:miter lim="800000"/>
          </a:ln>
          <a:effectLst/>
        </p:spPr>
        <p:txBody>
          <a:bodyPr vert="horz" wrap="square" lIns="92075" tIns="46038" rIns="92075" bIns="46038" numCol="1" anchor="ctr" anchorCtr="0" compatLnSpc="1"/>
          <a:lstStyle>
            <a:lvl1pPr>
              <a:spcBef>
                <a:spcPct val="0"/>
              </a:spcBef>
              <a:buClrTx/>
              <a:buFontTx/>
              <a:buNone/>
              <a:defRPr kumimoji="0" sz="1400" b="1" smtClean="0">
                <a:solidFill>
                  <a:schemeClr val="bg2"/>
                </a:solidFill>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41C9119B-83B0-49F4-919B-5C77D0A7FD97}" type="datetime1">
              <a:rPr kumimoji="0" lang="zh-CN" altLang="en-US"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rPr>
              <a:t>2025/8/26</a:t>
            </a:fld>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endParaRPr>
          </a:p>
        </p:txBody>
      </p:sp>
      <p:sp>
        <p:nvSpPr>
          <p:cNvPr id="504836" name="Rectangle 4"/>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2075" tIns="46038" rIns="92075" bIns="46038" numCol="1" anchor="ctr" anchorCtr="0" compatLnSpc="1"/>
          <a:lstStyle>
            <a:lvl1pPr algn="ctr">
              <a:spcBef>
                <a:spcPct val="0"/>
              </a:spcBef>
              <a:buClrTx/>
              <a:buFontTx/>
              <a:buNone/>
              <a:defRPr kumimoji="0" sz="1400" b="1" smtClean="0">
                <a:solidFill>
                  <a:schemeClr val="bg2"/>
                </a:solidFill>
                <a:ea typeface="+mn-ea"/>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endParaRPr>
          </a:p>
        </p:txBody>
      </p:sp>
      <p:sp>
        <p:nvSpPr>
          <p:cNvPr id="1029" name="Rectangle 5"/>
          <p:cNvSpPr>
            <a:spLocks noGrp="1"/>
          </p:cNvSpPr>
          <p:nvPr>
            <p:ph type="body"/>
          </p:nvPr>
        </p:nvSpPr>
        <p:spPr>
          <a:xfrm>
            <a:off x="762000" y="1376363"/>
            <a:ext cx="7772400" cy="4114800"/>
          </a:xfrm>
          <a:prstGeom prst="rect">
            <a:avLst/>
          </a:prstGeom>
          <a:noFill/>
          <a:ln w="9525">
            <a:noFill/>
          </a:ln>
        </p:spPr>
        <p:txBody>
          <a:bodyPr anchor="t" anchorCtr="0"/>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30" name="Rectangle 6"/>
          <p:cNvSpPr/>
          <p:nvPr/>
        </p:nvSpPr>
        <p:spPr>
          <a:xfrm>
            <a:off x="0" y="682625"/>
            <a:ext cx="9144000" cy="46038"/>
          </a:xfrm>
          <a:prstGeom prst="rect">
            <a:avLst/>
          </a:prstGeom>
          <a:gradFill rotWithShape="1">
            <a:gsLst>
              <a:gs pos="0">
                <a:srgbClr val="0066FF"/>
              </a:gs>
              <a:gs pos="50000">
                <a:srgbClr val="99CCFF"/>
              </a:gs>
              <a:gs pos="100000">
                <a:srgbClr val="0066FF"/>
              </a:gs>
            </a:gsLst>
            <a:lin ang="0" scaled="1"/>
            <a:tileRect/>
          </a:gradFill>
          <a:ln w="9525">
            <a:noFill/>
          </a:ln>
          <a:effectLst>
            <a:outerShdw dist="56796" dir="1593903" algn="ctr" rotWithShape="0">
              <a:srgbClr val="DDDDDD"/>
            </a:outerShdw>
          </a:effectLst>
        </p:spPr>
        <p:txBody>
          <a:bodyPr wrap="none" anchor="ctr" anchorCtr="0"/>
          <a:lstStyle/>
          <a:p>
            <a:pPr marL="342900" lvl="0" indent="-342900" algn="ctr">
              <a:spcBef>
                <a:spcPct val="20000"/>
              </a:spcBef>
            </a:pPr>
            <a:endParaRPr lang="zh-CN" altLang="zh-CN" dirty="0">
              <a:latin typeface="Times New Roman" panose="02020603050405020304" pitchFamily="18" charset="0"/>
              <a:ea typeface="黑体" panose="02010609060101010101" pitchFamily="49" charset="-122"/>
            </a:endParaRPr>
          </a:p>
        </p:txBody>
      </p:sp>
      <p:graphicFrame>
        <p:nvGraphicFramePr>
          <p:cNvPr id="1031" name="Object 8"/>
          <p:cNvGraphicFramePr>
            <a:graphicFrameLocks noChangeAspect="1"/>
          </p:cNvGraphicFramePr>
          <p:nvPr userDrawn="1"/>
        </p:nvGraphicFramePr>
        <p:xfrm>
          <a:off x="0" y="188913"/>
          <a:ext cx="9144000" cy="1008062"/>
        </p:xfrm>
        <a:graphic>
          <a:graphicData uri="http://schemas.openxmlformats.org/presentationml/2006/ole">
            <mc:AlternateContent xmlns:mc="http://schemas.openxmlformats.org/markup-compatibility/2006">
              <mc:Choice xmlns:v="urn:schemas-microsoft-com:vml" Requires="v">
                <p:oleObj spid="_x0000_s5138" r:id="rId15" imgW="15290800" imgH="1549400" progId="Photoshop.Image.7">
                  <p:embed/>
                </p:oleObj>
              </mc:Choice>
              <mc:Fallback>
                <p:oleObj r:id="rId15" imgW="15290800" imgH="1549400" progId="Photoshop.Image.7">
                  <p:embed/>
                  <p:pic>
                    <p:nvPicPr>
                      <p:cNvPr id="0" name="图片 3076"/>
                      <p:cNvPicPr/>
                      <p:nvPr/>
                    </p:nvPicPr>
                    <p:blipFill>
                      <a:blip r:embed="rId16"/>
                      <a:stretch>
                        <a:fillRect/>
                      </a:stretch>
                    </p:blipFill>
                    <p:spPr>
                      <a:xfrm>
                        <a:off x="0" y="188913"/>
                        <a:ext cx="9144000" cy="1008062"/>
                      </a:xfrm>
                      <a:prstGeom prst="rect">
                        <a:avLst/>
                      </a:prstGeom>
                      <a:noFill/>
                      <a:ln w="38100">
                        <a:noFill/>
                        <a:miter/>
                      </a:ln>
                    </p:spPr>
                  </p:pic>
                </p:oleObj>
              </mc:Fallback>
            </mc:AlternateContent>
          </a:graphicData>
        </a:graphic>
      </p:graphicFrame>
      <p:sp>
        <p:nvSpPr>
          <p:cNvPr id="1032" name="Rectangle 9"/>
          <p:cNvSpPr/>
          <p:nvPr userDrawn="1"/>
        </p:nvSpPr>
        <p:spPr>
          <a:xfrm>
            <a:off x="0" y="0"/>
            <a:ext cx="9144000" cy="241300"/>
          </a:xfrm>
          <a:prstGeom prst="rect">
            <a:avLst/>
          </a:prstGeom>
          <a:solidFill>
            <a:srgbClr val="FF9933"/>
          </a:solidFill>
          <a:ln w="9525">
            <a:noFill/>
          </a:ln>
        </p:spPr>
        <p:txBody>
          <a:bodyPr wrap="none" anchor="ctr" anchorCtr="0"/>
          <a:lstStyle/>
          <a:p>
            <a:pPr lvl="0" algn="ctr">
              <a:buClrTx/>
              <a:buFontTx/>
              <a:buNone/>
            </a:pPr>
            <a:endParaRPr lang="zh-CN" altLang="zh-CN" sz="1800" dirty="0">
              <a:solidFill>
                <a:schemeClr val="tx1"/>
              </a:solidFill>
              <a:latin typeface="Arial" panose="020B0604020202020204" pitchFamily="34" charset="0"/>
              <a:ea typeface="宋体" panose="02010600030101010101" pitchFamily="2" charset="-122"/>
            </a:endParaRPr>
          </a:p>
        </p:txBody>
      </p:sp>
      <p:sp>
        <p:nvSpPr>
          <p:cNvPr id="1033" name="Freeform 10"/>
          <p:cNvSpPr/>
          <p:nvPr userDrawn="1"/>
        </p:nvSpPr>
        <p:spPr>
          <a:xfrm>
            <a:off x="0" y="908050"/>
            <a:ext cx="9144000" cy="461963"/>
          </a:xfrm>
          <a:custGeom>
            <a:avLst/>
            <a:gdLst/>
            <a:ahLst/>
            <a:cxnLst>
              <a:cxn ang="0">
                <a:pos x="4" y="365"/>
              </a:cxn>
              <a:cxn ang="0">
                <a:pos x="0" y="246"/>
              </a:cxn>
              <a:cxn ang="0">
                <a:pos x="1837" y="32"/>
              </a:cxn>
              <a:cxn ang="0">
                <a:pos x="3970" y="52"/>
              </a:cxn>
              <a:cxn ang="0">
                <a:pos x="5764" y="231"/>
              </a:cxn>
              <a:cxn ang="0">
                <a:pos x="5768" y="366"/>
              </a:cxn>
              <a:cxn ang="0">
                <a:pos x="4" y="365"/>
              </a:cxn>
            </a:cxnLst>
            <a:rect l="0" t="0" r="0" b="0"/>
            <a:pathLst>
              <a:path w="5768" h="366">
                <a:moveTo>
                  <a:pt x="4" y="365"/>
                </a:moveTo>
                <a:lnTo>
                  <a:pt x="0" y="246"/>
                </a:lnTo>
                <a:cubicBezTo>
                  <a:pt x="304" y="192"/>
                  <a:pt x="1175" y="64"/>
                  <a:pt x="1837" y="32"/>
                </a:cubicBezTo>
                <a:cubicBezTo>
                  <a:pt x="2499" y="0"/>
                  <a:pt x="3316" y="19"/>
                  <a:pt x="3970" y="52"/>
                </a:cubicBezTo>
                <a:cubicBezTo>
                  <a:pt x="4624" y="85"/>
                  <a:pt x="5464" y="179"/>
                  <a:pt x="5764" y="231"/>
                </a:cubicBezTo>
                <a:lnTo>
                  <a:pt x="5768" y="366"/>
                </a:lnTo>
                <a:lnTo>
                  <a:pt x="4" y="365"/>
                </a:lnTo>
                <a:close/>
              </a:path>
            </a:pathLst>
          </a:custGeom>
          <a:solidFill>
            <a:schemeClr val="bg1"/>
          </a:solidFill>
          <a:ln w="9525">
            <a:noFill/>
          </a:ln>
        </p:spPr>
        <p:txBody>
          <a:bodyPr/>
          <a:lstStyle/>
          <a:p>
            <a:endParaRPr lang="zh-CN" alt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algn="ctr" rtl="0" eaLnBrk="0" fontAlgn="base" hangingPunct="0">
        <a:spcBef>
          <a:spcPct val="0"/>
        </a:spcBef>
        <a:spcAft>
          <a:spcPct val="0"/>
        </a:spcAft>
        <a:defRPr kumimoji="1" sz="4000">
          <a:solidFill>
            <a:srgbClr val="FF9900"/>
          </a:solidFill>
          <a:latin typeface="+mj-lt"/>
          <a:ea typeface="+mj-ea"/>
          <a:cs typeface="+mj-cs"/>
        </a:defRPr>
      </a:lvl1pPr>
      <a:lvl2pPr algn="ctr" rtl="0" eaLnBrk="0" fontAlgn="base" hangingPunct="0">
        <a:spcBef>
          <a:spcPct val="0"/>
        </a:spcBef>
        <a:spcAft>
          <a:spcPct val="0"/>
        </a:spcAft>
        <a:defRPr kumimoji="1" sz="4000">
          <a:solidFill>
            <a:srgbClr val="FF9900"/>
          </a:solidFill>
          <a:latin typeface="Arial" panose="020B0604020202020204" pitchFamily="34" charset="0"/>
          <a:ea typeface="黑体" panose="02010609060101010101" pitchFamily="49" charset="-122"/>
        </a:defRPr>
      </a:lvl2pPr>
      <a:lvl3pPr algn="ctr" rtl="0" eaLnBrk="0" fontAlgn="base" hangingPunct="0">
        <a:spcBef>
          <a:spcPct val="0"/>
        </a:spcBef>
        <a:spcAft>
          <a:spcPct val="0"/>
        </a:spcAft>
        <a:defRPr kumimoji="1" sz="4000">
          <a:solidFill>
            <a:srgbClr val="FF9900"/>
          </a:solidFill>
          <a:latin typeface="Arial" panose="020B0604020202020204" pitchFamily="34" charset="0"/>
          <a:ea typeface="黑体" panose="02010609060101010101" pitchFamily="49" charset="-122"/>
        </a:defRPr>
      </a:lvl3pPr>
      <a:lvl4pPr algn="ctr" rtl="0" eaLnBrk="0" fontAlgn="base" hangingPunct="0">
        <a:spcBef>
          <a:spcPct val="0"/>
        </a:spcBef>
        <a:spcAft>
          <a:spcPct val="0"/>
        </a:spcAft>
        <a:defRPr kumimoji="1" sz="4000">
          <a:solidFill>
            <a:srgbClr val="FF9900"/>
          </a:solidFill>
          <a:latin typeface="Arial" panose="020B0604020202020204" pitchFamily="34" charset="0"/>
          <a:ea typeface="黑体" panose="02010609060101010101" pitchFamily="49" charset="-122"/>
        </a:defRPr>
      </a:lvl4pPr>
      <a:lvl5pPr algn="ctr" rtl="0" eaLnBrk="0" fontAlgn="base" hangingPunct="0">
        <a:spcBef>
          <a:spcPct val="0"/>
        </a:spcBef>
        <a:spcAft>
          <a:spcPct val="0"/>
        </a:spcAft>
        <a:defRPr kumimoji="1" sz="4000">
          <a:solidFill>
            <a:srgbClr val="FF9900"/>
          </a:solidFill>
          <a:latin typeface="Arial" panose="020B0604020202020204" pitchFamily="34" charset="0"/>
          <a:ea typeface="黑体" panose="02010609060101010101" pitchFamily="49" charset="-122"/>
        </a:defRPr>
      </a:lvl5pPr>
      <a:lvl6pPr marL="457200"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6pPr>
      <a:lvl7pPr marL="914400"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7pPr>
      <a:lvl8pPr marL="1371600"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8pPr>
      <a:lvl9pPr marL="1828800"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9pPr>
    </p:titleStyle>
    <p:bodyStyle>
      <a:lvl1pPr marL="342900" indent="-342900" algn="l" rtl="0" eaLnBrk="0" fontAlgn="base" hangingPunct="0">
        <a:spcBef>
          <a:spcPct val="20000"/>
        </a:spcBef>
        <a:spcAft>
          <a:spcPct val="0"/>
        </a:spcAft>
        <a:buClr>
          <a:srgbClr val="3366FF"/>
        </a:buClr>
        <a:buFont typeface="Wingdings" panose="05000000000000000000" pitchFamily="2" charset="2"/>
        <a:buChar char="l"/>
        <a:defRPr kumimoji="1" sz="3200" b="1">
          <a:solidFill>
            <a:schemeClr val="bg2"/>
          </a:solidFill>
          <a:latin typeface="+mn-lt"/>
          <a:ea typeface="+mn-ea"/>
          <a:cs typeface="+mn-cs"/>
        </a:defRPr>
      </a:lvl1pPr>
      <a:lvl2pPr marL="742950" indent="-285750" algn="l" rtl="0" eaLnBrk="0" fontAlgn="base" hangingPunct="0">
        <a:spcBef>
          <a:spcPct val="20000"/>
        </a:spcBef>
        <a:spcAft>
          <a:spcPct val="0"/>
        </a:spcAft>
        <a:buClr>
          <a:srgbClr val="003399"/>
        </a:buClr>
        <a:buFont typeface="Wingdings" panose="05000000000000000000" pitchFamily="2" charset="2"/>
        <a:buChar char="ü"/>
        <a:defRPr kumimoji="1" sz="2800" b="1">
          <a:solidFill>
            <a:srgbClr val="003399"/>
          </a:solidFill>
          <a:latin typeface="+mn-lt"/>
          <a:ea typeface="+mn-ea"/>
        </a:defRPr>
      </a:lvl2pPr>
      <a:lvl3pPr marL="1143000" indent="-228600" algn="l" rtl="0" eaLnBrk="0" fontAlgn="base" hangingPunct="0">
        <a:spcBef>
          <a:spcPct val="20000"/>
        </a:spcBef>
        <a:spcAft>
          <a:spcPct val="0"/>
        </a:spcAft>
        <a:buClr>
          <a:srgbClr val="CC6600"/>
        </a:buClr>
        <a:buFont typeface="Wingdings" panose="05000000000000000000" pitchFamily="2" charset="2"/>
        <a:buChar char="q"/>
        <a:defRPr kumimoji="1" sz="2400" b="1">
          <a:solidFill>
            <a:srgbClr val="CC6600"/>
          </a:solidFill>
          <a:latin typeface="+mn-lt"/>
          <a:ea typeface="+mn-ea"/>
        </a:defRPr>
      </a:lvl3pPr>
      <a:lvl4pPr marL="1600200" indent="-228600" algn="l" rtl="0" eaLnBrk="0" fontAlgn="base" hangingPunct="0">
        <a:spcBef>
          <a:spcPct val="20000"/>
        </a:spcBef>
        <a:spcAft>
          <a:spcPct val="0"/>
        </a:spcAft>
        <a:buClr>
          <a:srgbClr val="256EFF"/>
        </a:buClr>
        <a:buChar char="–"/>
        <a:defRPr kumimoji="1" sz="2000" b="1">
          <a:solidFill>
            <a:schemeClr val="bg2"/>
          </a:solidFill>
          <a:latin typeface="+mn-lt"/>
          <a:ea typeface="+mn-ea"/>
        </a:defRPr>
      </a:lvl4pPr>
      <a:lvl5pPr marL="2057400" indent="-228600" algn="l" rtl="0" eaLnBrk="0" fontAlgn="base" hangingPunct="0">
        <a:spcBef>
          <a:spcPct val="20000"/>
        </a:spcBef>
        <a:spcAft>
          <a:spcPct val="0"/>
        </a:spcAft>
        <a:buClr>
          <a:srgbClr val="256EFF"/>
        </a:buClr>
        <a:buChar char="•"/>
        <a:defRPr kumimoji="1" sz="2000" b="1">
          <a:solidFill>
            <a:schemeClr val="bg2"/>
          </a:solidFill>
          <a:latin typeface="+mn-lt"/>
          <a:ea typeface="+mn-ea"/>
        </a:defRPr>
      </a:lvl5pPr>
      <a:lvl6pPr marL="2514600" indent="-228600" algn="l" rtl="0" fontAlgn="base">
        <a:spcBef>
          <a:spcPct val="20000"/>
        </a:spcBef>
        <a:spcAft>
          <a:spcPct val="0"/>
        </a:spcAft>
        <a:buClr>
          <a:srgbClr val="256EFF"/>
        </a:buClr>
        <a:buChar char="•"/>
        <a:defRPr kumimoji="1" sz="2000" b="1">
          <a:solidFill>
            <a:schemeClr val="bg2"/>
          </a:solidFill>
          <a:latin typeface="+mn-lt"/>
          <a:ea typeface="+mn-ea"/>
        </a:defRPr>
      </a:lvl6pPr>
      <a:lvl7pPr marL="2971800" indent="-228600" algn="l" rtl="0" fontAlgn="base">
        <a:spcBef>
          <a:spcPct val="20000"/>
        </a:spcBef>
        <a:spcAft>
          <a:spcPct val="0"/>
        </a:spcAft>
        <a:buClr>
          <a:srgbClr val="256EFF"/>
        </a:buClr>
        <a:buChar char="•"/>
        <a:defRPr kumimoji="1" sz="2000" b="1">
          <a:solidFill>
            <a:schemeClr val="bg2"/>
          </a:solidFill>
          <a:latin typeface="+mn-lt"/>
          <a:ea typeface="+mn-ea"/>
        </a:defRPr>
      </a:lvl7pPr>
      <a:lvl8pPr marL="3429000" indent="-228600" algn="l" rtl="0" fontAlgn="base">
        <a:spcBef>
          <a:spcPct val="20000"/>
        </a:spcBef>
        <a:spcAft>
          <a:spcPct val="0"/>
        </a:spcAft>
        <a:buClr>
          <a:srgbClr val="256EFF"/>
        </a:buClr>
        <a:buChar char="•"/>
        <a:defRPr kumimoji="1" sz="2000" b="1">
          <a:solidFill>
            <a:schemeClr val="bg2"/>
          </a:solidFill>
          <a:latin typeface="+mn-lt"/>
          <a:ea typeface="+mn-ea"/>
        </a:defRPr>
      </a:lvl8pPr>
      <a:lvl9pPr marL="3886200" indent="-228600" algn="l" rtl="0" fontAlgn="base">
        <a:spcBef>
          <a:spcPct val="20000"/>
        </a:spcBef>
        <a:spcAft>
          <a:spcPct val="0"/>
        </a:spcAft>
        <a:buClr>
          <a:srgbClr val="256EFF"/>
        </a:buClr>
        <a:buChar char="•"/>
        <a:defRPr kumimoji="1" sz="2000" b="1">
          <a:solidFill>
            <a:schemeClr val="bg2"/>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blipFill rotWithShape="1">
          <a:blip r:embed="rId14"/>
          <a:stretch>
            <a:fillRect/>
          </a:stretch>
        </a:blip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719138" y="7938"/>
            <a:ext cx="7696200" cy="720725"/>
          </a:xfrm>
          <a:prstGeom prst="rect">
            <a:avLst/>
          </a:prstGeom>
          <a:noFill/>
          <a:ln w="9525">
            <a:noFill/>
          </a:ln>
          <a:effectLst>
            <a:outerShdw dist="17961" dir="2699999" algn="ctr" rotWithShape="0">
              <a:schemeClr val="bg2"/>
            </a:outerShdw>
          </a:effectLst>
        </p:spPr>
        <p:txBody>
          <a:bodyPr lIns="92075" tIns="46038" rIns="92075" bIns="46038" anchor="ctr" anchorCtr="0"/>
          <a:lstStyle/>
          <a:p>
            <a:pPr lvl="0"/>
            <a:r>
              <a:rPr lang="zh-CN" altLang="en-US" dirty="0"/>
              <a:t>单击此处编辑母版标题样式</a:t>
            </a:r>
          </a:p>
        </p:txBody>
      </p:sp>
      <p:sp>
        <p:nvSpPr>
          <p:cNvPr id="504835" name="Rectangle 3"/>
          <p:cNvSpPr>
            <a:spLocks noGrp="1" noChangeArrowheads="1"/>
          </p:cNvSpPr>
          <p:nvPr>
            <p:ph type="dt" sz="half" idx="2"/>
          </p:nvPr>
        </p:nvSpPr>
        <p:spPr bwMode="auto">
          <a:xfrm>
            <a:off x="685800" y="6248400"/>
            <a:ext cx="1905000" cy="457200"/>
          </a:xfrm>
          <a:prstGeom prst="rect">
            <a:avLst/>
          </a:prstGeom>
          <a:noFill/>
          <a:ln w="9525">
            <a:noFill/>
            <a:miter lim="800000"/>
          </a:ln>
          <a:effectLst/>
        </p:spPr>
        <p:txBody>
          <a:bodyPr vert="horz" wrap="square" lIns="92075" tIns="46038" rIns="92075" bIns="46038" numCol="1" anchor="ctr" anchorCtr="0" compatLnSpc="1"/>
          <a:lstStyle>
            <a:lvl1pPr>
              <a:spcBef>
                <a:spcPct val="0"/>
              </a:spcBef>
              <a:buClrTx/>
              <a:buFontTx/>
              <a:buNone/>
              <a:defRPr kumimoji="0" sz="1400" b="1" smtClean="0">
                <a:solidFill>
                  <a:schemeClr val="bg2"/>
                </a:solidFill>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41C9119B-83B0-49F4-919B-5C77D0A7FD97}" type="datetime1">
              <a:rPr kumimoji="0" lang="zh-CN" altLang="en-US"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rPr>
              <a:t>2025/8/26</a:t>
            </a:fld>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endParaRPr>
          </a:p>
        </p:txBody>
      </p:sp>
      <p:sp>
        <p:nvSpPr>
          <p:cNvPr id="504836" name="Rectangle 4"/>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2075" tIns="46038" rIns="92075" bIns="46038" numCol="1" anchor="ctr" anchorCtr="0" compatLnSpc="1"/>
          <a:lstStyle>
            <a:lvl1pPr algn="ctr">
              <a:spcBef>
                <a:spcPct val="0"/>
              </a:spcBef>
              <a:buClrTx/>
              <a:buFontTx/>
              <a:buNone/>
              <a:defRPr kumimoji="0" sz="1400" b="1" smtClean="0">
                <a:solidFill>
                  <a:schemeClr val="bg2"/>
                </a:solidFill>
                <a:ea typeface="+mn-ea"/>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endParaRPr>
          </a:p>
        </p:txBody>
      </p:sp>
      <p:sp>
        <p:nvSpPr>
          <p:cNvPr id="1029" name="Rectangle 5"/>
          <p:cNvSpPr>
            <a:spLocks noGrp="1"/>
          </p:cNvSpPr>
          <p:nvPr>
            <p:ph type="body"/>
          </p:nvPr>
        </p:nvSpPr>
        <p:spPr>
          <a:xfrm>
            <a:off x="762000" y="1376363"/>
            <a:ext cx="7772400" cy="4114800"/>
          </a:xfrm>
          <a:prstGeom prst="rect">
            <a:avLst/>
          </a:prstGeom>
          <a:noFill/>
          <a:ln w="9525">
            <a:noFill/>
          </a:ln>
        </p:spPr>
        <p:txBody>
          <a:bodyPr anchor="t" anchorCtr="0"/>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30" name="Rectangle 6"/>
          <p:cNvSpPr/>
          <p:nvPr/>
        </p:nvSpPr>
        <p:spPr>
          <a:xfrm>
            <a:off x="0" y="682625"/>
            <a:ext cx="9144000" cy="46038"/>
          </a:xfrm>
          <a:prstGeom prst="rect">
            <a:avLst/>
          </a:prstGeom>
          <a:gradFill rotWithShape="1">
            <a:gsLst>
              <a:gs pos="0">
                <a:srgbClr val="0066FF"/>
              </a:gs>
              <a:gs pos="50000">
                <a:srgbClr val="99CCFF"/>
              </a:gs>
              <a:gs pos="100000">
                <a:srgbClr val="0066FF"/>
              </a:gs>
            </a:gsLst>
            <a:lin ang="0" scaled="1"/>
            <a:tileRect/>
          </a:gradFill>
          <a:ln w="9525">
            <a:noFill/>
          </a:ln>
          <a:effectLst>
            <a:outerShdw dist="56796" dir="1593903" algn="ctr" rotWithShape="0">
              <a:srgbClr val="DDDDDD"/>
            </a:outerShdw>
          </a:effectLst>
        </p:spPr>
        <p:txBody>
          <a:bodyPr wrap="none" anchor="ctr" anchorCtr="0"/>
          <a:lstStyle/>
          <a:p>
            <a:pPr marL="342900" lvl="0" indent="-342900" algn="ctr">
              <a:spcBef>
                <a:spcPct val="20000"/>
              </a:spcBef>
            </a:pPr>
            <a:endParaRPr lang="zh-CN" altLang="zh-CN" dirty="0">
              <a:latin typeface="Times New Roman" panose="02020603050405020304" pitchFamily="18" charset="0"/>
              <a:ea typeface="黑体" panose="02010609060101010101" pitchFamily="49" charset="-122"/>
            </a:endParaRPr>
          </a:p>
        </p:txBody>
      </p:sp>
      <p:graphicFrame>
        <p:nvGraphicFramePr>
          <p:cNvPr id="1031" name="Object 8"/>
          <p:cNvGraphicFramePr>
            <a:graphicFrameLocks noChangeAspect="1"/>
          </p:cNvGraphicFramePr>
          <p:nvPr userDrawn="1"/>
        </p:nvGraphicFramePr>
        <p:xfrm>
          <a:off x="0" y="188913"/>
          <a:ext cx="9144000" cy="1008062"/>
        </p:xfrm>
        <a:graphic>
          <a:graphicData uri="http://schemas.openxmlformats.org/presentationml/2006/ole">
            <mc:AlternateContent xmlns:mc="http://schemas.openxmlformats.org/markup-compatibility/2006">
              <mc:Choice xmlns:v="urn:schemas-microsoft-com:vml" Requires="v">
                <p:oleObj spid="_x0000_s6162" r:id="rId15" imgW="15290800" imgH="1549400" progId="Photoshop.Image.7">
                  <p:embed/>
                </p:oleObj>
              </mc:Choice>
              <mc:Fallback>
                <p:oleObj r:id="rId15" imgW="15290800" imgH="1549400" progId="Photoshop.Image.7">
                  <p:embed/>
                  <p:pic>
                    <p:nvPicPr>
                      <p:cNvPr id="0" name="图片 3076"/>
                      <p:cNvPicPr/>
                      <p:nvPr/>
                    </p:nvPicPr>
                    <p:blipFill>
                      <a:blip r:embed="rId16"/>
                      <a:stretch>
                        <a:fillRect/>
                      </a:stretch>
                    </p:blipFill>
                    <p:spPr>
                      <a:xfrm>
                        <a:off x="0" y="188913"/>
                        <a:ext cx="9144000" cy="1008062"/>
                      </a:xfrm>
                      <a:prstGeom prst="rect">
                        <a:avLst/>
                      </a:prstGeom>
                      <a:noFill/>
                      <a:ln w="38100">
                        <a:noFill/>
                        <a:miter/>
                      </a:ln>
                    </p:spPr>
                  </p:pic>
                </p:oleObj>
              </mc:Fallback>
            </mc:AlternateContent>
          </a:graphicData>
        </a:graphic>
      </p:graphicFrame>
      <p:sp>
        <p:nvSpPr>
          <p:cNvPr id="1032" name="Rectangle 9"/>
          <p:cNvSpPr/>
          <p:nvPr userDrawn="1"/>
        </p:nvSpPr>
        <p:spPr>
          <a:xfrm>
            <a:off x="0" y="0"/>
            <a:ext cx="9144000" cy="241300"/>
          </a:xfrm>
          <a:prstGeom prst="rect">
            <a:avLst/>
          </a:prstGeom>
          <a:solidFill>
            <a:srgbClr val="FF9933"/>
          </a:solidFill>
          <a:ln w="9525">
            <a:noFill/>
          </a:ln>
        </p:spPr>
        <p:txBody>
          <a:bodyPr wrap="none" anchor="ctr" anchorCtr="0"/>
          <a:lstStyle/>
          <a:p>
            <a:pPr lvl="0" algn="ctr">
              <a:buClrTx/>
              <a:buFontTx/>
              <a:buNone/>
            </a:pPr>
            <a:endParaRPr lang="zh-CN" altLang="zh-CN" sz="1800" dirty="0">
              <a:solidFill>
                <a:schemeClr val="tx1"/>
              </a:solidFill>
              <a:latin typeface="Arial" panose="020B0604020202020204" pitchFamily="34" charset="0"/>
              <a:ea typeface="宋体" panose="02010600030101010101" pitchFamily="2" charset="-122"/>
            </a:endParaRPr>
          </a:p>
        </p:txBody>
      </p:sp>
      <p:sp>
        <p:nvSpPr>
          <p:cNvPr id="1033" name="Freeform 10"/>
          <p:cNvSpPr/>
          <p:nvPr userDrawn="1"/>
        </p:nvSpPr>
        <p:spPr>
          <a:xfrm>
            <a:off x="0" y="908050"/>
            <a:ext cx="9144000" cy="461963"/>
          </a:xfrm>
          <a:custGeom>
            <a:avLst/>
            <a:gdLst/>
            <a:ahLst/>
            <a:cxnLst>
              <a:cxn ang="0">
                <a:pos x="4" y="365"/>
              </a:cxn>
              <a:cxn ang="0">
                <a:pos x="0" y="246"/>
              </a:cxn>
              <a:cxn ang="0">
                <a:pos x="1837" y="32"/>
              </a:cxn>
              <a:cxn ang="0">
                <a:pos x="3970" y="52"/>
              </a:cxn>
              <a:cxn ang="0">
                <a:pos x="5764" y="231"/>
              </a:cxn>
              <a:cxn ang="0">
                <a:pos x="5768" y="366"/>
              </a:cxn>
              <a:cxn ang="0">
                <a:pos x="4" y="365"/>
              </a:cxn>
            </a:cxnLst>
            <a:rect l="0" t="0" r="0" b="0"/>
            <a:pathLst>
              <a:path w="5768" h="366">
                <a:moveTo>
                  <a:pt x="4" y="365"/>
                </a:moveTo>
                <a:lnTo>
                  <a:pt x="0" y="246"/>
                </a:lnTo>
                <a:cubicBezTo>
                  <a:pt x="304" y="192"/>
                  <a:pt x="1175" y="64"/>
                  <a:pt x="1837" y="32"/>
                </a:cubicBezTo>
                <a:cubicBezTo>
                  <a:pt x="2499" y="0"/>
                  <a:pt x="3316" y="19"/>
                  <a:pt x="3970" y="52"/>
                </a:cubicBezTo>
                <a:cubicBezTo>
                  <a:pt x="4624" y="85"/>
                  <a:pt x="5464" y="179"/>
                  <a:pt x="5764" y="231"/>
                </a:cubicBezTo>
                <a:lnTo>
                  <a:pt x="5768" y="366"/>
                </a:lnTo>
                <a:lnTo>
                  <a:pt x="4" y="365"/>
                </a:lnTo>
                <a:close/>
              </a:path>
            </a:pathLst>
          </a:custGeom>
          <a:solidFill>
            <a:schemeClr val="bg1"/>
          </a:solidFill>
          <a:ln w="9525">
            <a:noFill/>
          </a:ln>
        </p:spPr>
        <p:txBody>
          <a:bodyPr/>
          <a:lstStyle/>
          <a:p>
            <a:endParaRPr lang="zh-CN" altLang="en-US"/>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sldNum="0" hdr="0" ftr="0" dt="0"/>
  <p:txStyles>
    <p:titleStyle>
      <a:lvl1pPr algn="ctr" rtl="0" eaLnBrk="0" fontAlgn="base" hangingPunct="0">
        <a:spcBef>
          <a:spcPct val="0"/>
        </a:spcBef>
        <a:spcAft>
          <a:spcPct val="0"/>
        </a:spcAft>
        <a:defRPr kumimoji="1" sz="4000">
          <a:solidFill>
            <a:srgbClr val="FF9900"/>
          </a:solidFill>
          <a:latin typeface="+mj-lt"/>
          <a:ea typeface="+mj-ea"/>
          <a:cs typeface="+mj-cs"/>
        </a:defRPr>
      </a:lvl1pPr>
      <a:lvl2pPr algn="ctr" rtl="0" eaLnBrk="0" fontAlgn="base" hangingPunct="0">
        <a:spcBef>
          <a:spcPct val="0"/>
        </a:spcBef>
        <a:spcAft>
          <a:spcPct val="0"/>
        </a:spcAft>
        <a:defRPr kumimoji="1" sz="4000">
          <a:solidFill>
            <a:srgbClr val="FF9900"/>
          </a:solidFill>
          <a:latin typeface="Arial" panose="020B0604020202020204" pitchFamily="34" charset="0"/>
          <a:ea typeface="黑体" panose="02010609060101010101" pitchFamily="49" charset="-122"/>
        </a:defRPr>
      </a:lvl2pPr>
      <a:lvl3pPr algn="ctr" rtl="0" eaLnBrk="0" fontAlgn="base" hangingPunct="0">
        <a:spcBef>
          <a:spcPct val="0"/>
        </a:spcBef>
        <a:spcAft>
          <a:spcPct val="0"/>
        </a:spcAft>
        <a:defRPr kumimoji="1" sz="4000">
          <a:solidFill>
            <a:srgbClr val="FF9900"/>
          </a:solidFill>
          <a:latin typeface="Arial" panose="020B0604020202020204" pitchFamily="34" charset="0"/>
          <a:ea typeface="黑体" panose="02010609060101010101" pitchFamily="49" charset="-122"/>
        </a:defRPr>
      </a:lvl3pPr>
      <a:lvl4pPr algn="ctr" rtl="0" eaLnBrk="0" fontAlgn="base" hangingPunct="0">
        <a:spcBef>
          <a:spcPct val="0"/>
        </a:spcBef>
        <a:spcAft>
          <a:spcPct val="0"/>
        </a:spcAft>
        <a:defRPr kumimoji="1" sz="4000">
          <a:solidFill>
            <a:srgbClr val="FF9900"/>
          </a:solidFill>
          <a:latin typeface="Arial" panose="020B0604020202020204" pitchFamily="34" charset="0"/>
          <a:ea typeface="黑体" panose="02010609060101010101" pitchFamily="49" charset="-122"/>
        </a:defRPr>
      </a:lvl4pPr>
      <a:lvl5pPr algn="ctr" rtl="0" eaLnBrk="0" fontAlgn="base" hangingPunct="0">
        <a:spcBef>
          <a:spcPct val="0"/>
        </a:spcBef>
        <a:spcAft>
          <a:spcPct val="0"/>
        </a:spcAft>
        <a:defRPr kumimoji="1" sz="4000">
          <a:solidFill>
            <a:srgbClr val="FF9900"/>
          </a:solidFill>
          <a:latin typeface="Arial" panose="020B0604020202020204" pitchFamily="34" charset="0"/>
          <a:ea typeface="黑体" panose="02010609060101010101" pitchFamily="49" charset="-122"/>
        </a:defRPr>
      </a:lvl5pPr>
      <a:lvl6pPr marL="457200"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6pPr>
      <a:lvl7pPr marL="914400"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7pPr>
      <a:lvl8pPr marL="1371600"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8pPr>
      <a:lvl9pPr marL="1828800"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9pPr>
    </p:titleStyle>
    <p:bodyStyle>
      <a:lvl1pPr marL="342900" indent="-342900" algn="l" rtl="0" eaLnBrk="0" fontAlgn="base" hangingPunct="0">
        <a:spcBef>
          <a:spcPct val="20000"/>
        </a:spcBef>
        <a:spcAft>
          <a:spcPct val="0"/>
        </a:spcAft>
        <a:buClr>
          <a:srgbClr val="3366FF"/>
        </a:buClr>
        <a:buFont typeface="Wingdings" panose="05000000000000000000" pitchFamily="2" charset="2"/>
        <a:buChar char="l"/>
        <a:defRPr kumimoji="1" sz="3200" b="1">
          <a:solidFill>
            <a:schemeClr val="bg2"/>
          </a:solidFill>
          <a:latin typeface="+mn-lt"/>
          <a:ea typeface="+mn-ea"/>
          <a:cs typeface="+mn-cs"/>
        </a:defRPr>
      </a:lvl1pPr>
      <a:lvl2pPr marL="742950" indent="-285750" algn="l" rtl="0" eaLnBrk="0" fontAlgn="base" hangingPunct="0">
        <a:spcBef>
          <a:spcPct val="20000"/>
        </a:spcBef>
        <a:spcAft>
          <a:spcPct val="0"/>
        </a:spcAft>
        <a:buClr>
          <a:srgbClr val="003399"/>
        </a:buClr>
        <a:buFont typeface="Wingdings" panose="05000000000000000000" pitchFamily="2" charset="2"/>
        <a:buChar char="ü"/>
        <a:defRPr kumimoji="1" sz="2800" b="1">
          <a:solidFill>
            <a:srgbClr val="003399"/>
          </a:solidFill>
          <a:latin typeface="+mn-lt"/>
          <a:ea typeface="+mn-ea"/>
        </a:defRPr>
      </a:lvl2pPr>
      <a:lvl3pPr marL="1143000" indent="-228600" algn="l" rtl="0" eaLnBrk="0" fontAlgn="base" hangingPunct="0">
        <a:spcBef>
          <a:spcPct val="20000"/>
        </a:spcBef>
        <a:spcAft>
          <a:spcPct val="0"/>
        </a:spcAft>
        <a:buClr>
          <a:srgbClr val="CC6600"/>
        </a:buClr>
        <a:buFont typeface="Wingdings" panose="05000000000000000000" pitchFamily="2" charset="2"/>
        <a:buChar char="q"/>
        <a:defRPr kumimoji="1" sz="2400" b="1">
          <a:solidFill>
            <a:srgbClr val="CC6600"/>
          </a:solidFill>
          <a:latin typeface="+mn-lt"/>
          <a:ea typeface="+mn-ea"/>
        </a:defRPr>
      </a:lvl3pPr>
      <a:lvl4pPr marL="1600200" indent="-228600" algn="l" rtl="0" eaLnBrk="0" fontAlgn="base" hangingPunct="0">
        <a:spcBef>
          <a:spcPct val="20000"/>
        </a:spcBef>
        <a:spcAft>
          <a:spcPct val="0"/>
        </a:spcAft>
        <a:buClr>
          <a:srgbClr val="256EFF"/>
        </a:buClr>
        <a:buChar char="–"/>
        <a:defRPr kumimoji="1" sz="2000" b="1">
          <a:solidFill>
            <a:schemeClr val="bg2"/>
          </a:solidFill>
          <a:latin typeface="+mn-lt"/>
          <a:ea typeface="+mn-ea"/>
        </a:defRPr>
      </a:lvl4pPr>
      <a:lvl5pPr marL="2057400" indent="-228600" algn="l" rtl="0" eaLnBrk="0" fontAlgn="base" hangingPunct="0">
        <a:spcBef>
          <a:spcPct val="20000"/>
        </a:spcBef>
        <a:spcAft>
          <a:spcPct val="0"/>
        </a:spcAft>
        <a:buClr>
          <a:srgbClr val="256EFF"/>
        </a:buClr>
        <a:buChar char="•"/>
        <a:defRPr kumimoji="1" sz="2000" b="1">
          <a:solidFill>
            <a:schemeClr val="bg2"/>
          </a:solidFill>
          <a:latin typeface="+mn-lt"/>
          <a:ea typeface="+mn-ea"/>
        </a:defRPr>
      </a:lvl5pPr>
      <a:lvl6pPr marL="2514600" indent="-228600" algn="l" rtl="0" fontAlgn="base">
        <a:spcBef>
          <a:spcPct val="20000"/>
        </a:spcBef>
        <a:spcAft>
          <a:spcPct val="0"/>
        </a:spcAft>
        <a:buClr>
          <a:srgbClr val="256EFF"/>
        </a:buClr>
        <a:buChar char="•"/>
        <a:defRPr kumimoji="1" sz="2000" b="1">
          <a:solidFill>
            <a:schemeClr val="bg2"/>
          </a:solidFill>
          <a:latin typeface="+mn-lt"/>
          <a:ea typeface="+mn-ea"/>
        </a:defRPr>
      </a:lvl6pPr>
      <a:lvl7pPr marL="2971800" indent="-228600" algn="l" rtl="0" fontAlgn="base">
        <a:spcBef>
          <a:spcPct val="20000"/>
        </a:spcBef>
        <a:spcAft>
          <a:spcPct val="0"/>
        </a:spcAft>
        <a:buClr>
          <a:srgbClr val="256EFF"/>
        </a:buClr>
        <a:buChar char="•"/>
        <a:defRPr kumimoji="1" sz="2000" b="1">
          <a:solidFill>
            <a:schemeClr val="bg2"/>
          </a:solidFill>
          <a:latin typeface="+mn-lt"/>
          <a:ea typeface="+mn-ea"/>
        </a:defRPr>
      </a:lvl7pPr>
      <a:lvl8pPr marL="3429000" indent="-228600" algn="l" rtl="0" fontAlgn="base">
        <a:spcBef>
          <a:spcPct val="20000"/>
        </a:spcBef>
        <a:spcAft>
          <a:spcPct val="0"/>
        </a:spcAft>
        <a:buClr>
          <a:srgbClr val="256EFF"/>
        </a:buClr>
        <a:buChar char="•"/>
        <a:defRPr kumimoji="1" sz="2000" b="1">
          <a:solidFill>
            <a:schemeClr val="bg2"/>
          </a:solidFill>
          <a:latin typeface="+mn-lt"/>
          <a:ea typeface="+mn-ea"/>
        </a:defRPr>
      </a:lvl8pPr>
      <a:lvl9pPr marL="3886200" indent="-228600" algn="l" rtl="0" fontAlgn="base">
        <a:spcBef>
          <a:spcPct val="20000"/>
        </a:spcBef>
        <a:spcAft>
          <a:spcPct val="0"/>
        </a:spcAft>
        <a:buClr>
          <a:srgbClr val="256EFF"/>
        </a:buClr>
        <a:buChar char="•"/>
        <a:defRPr kumimoji="1" sz="2000" b="1">
          <a:solidFill>
            <a:schemeClr val="bg2"/>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vmlDrawing" Target="../drawings/vmlDrawing5.vml"/><Relationship Id="rId5" Type="http://schemas.openxmlformats.org/officeDocument/2006/relationships/image" Target="../media/image4.emf"/><Relationship Id="rId4" Type="http://schemas.openxmlformats.org/officeDocument/2006/relationships/oleObject" Target="../embeddings/oleObject5.bin"/></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35.xml"/><Relationship Id="rId1" Type="http://schemas.openxmlformats.org/officeDocument/2006/relationships/tags" Target="../tags/tag2.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3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35.xml"/><Relationship Id="rId1" Type="http://schemas.openxmlformats.org/officeDocument/2006/relationships/vmlDrawing" Target="../drawings/vmlDrawing6.vml"/><Relationship Id="rId5" Type="http://schemas.openxmlformats.org/officeDocument/2006/relationships/image" Target="../media/image7.emf"/><Relationship Id="rId4" Type="http://schemas.openxmlformats.org/officeDocument/2006/relationships/oleObject" Target="../embeddings/oleObject6.bin"/></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vmlDrawing" Target="../drawings/vmlDrawing7.vml"/><Relationship Id="rId5" Type="http://schemas.openxmlformats.org/officeDocument/2006/relationships/image" Target="../media/image8.wmf"/><Relationship Id="rId4" Type="http://schemas.openxmlformats.org/officeDocument/2006/relationships/oleObject" Target="../embeddings/oleObject7.bin"/></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vmlDrawing" Target="../drawings/vmlDrawing8.vml"/><Relationship Id="rId5" Type="http://schemas.openxmlformats.org/officeDocument/2006/relationships/image" Target="../media/image9.wmf"/><Relationship Id="rId4" Type="http://schemas.openxmlformats.org/officeDocument/2006/relationships/oleObject" Target="../embeddings/oleObject8.bin"/></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vmlDrawing" Target="../drawings/vmlDrawing9.vml"/><Relationship Id="rId5" Type="http://schemas.openxmlformats.org/officeDocument/2006/relationships/image" Target="../media/image10.wmf"/><Relationship Id="rId4" Type="http://schemas.openxmlformats.org/officeDocument/2006/relationships/oleObject" Target="../embeddings/oleObject9.bin"/></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vmlDrawing" Target="../drawings/vmlDrawing10.vml"/><Relationship Id="rId5" Type="http://schemas.openxmlformats.org/officeDocument/2006/relationships/image" Target="../media/image11.wmf"/><Relationship Id="rId4" Type="http://schemas.openxmlformats.org/officeDocument/2006/relationships/oleObject" Target="../embeddings/oleObject10.bin"/></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5.xml"/><Relationship Id="rId7" Type="http://schemas.openxmlformats.org/officeDocument/2006/relationships/image" Target="../media/image14.emf"/><Relationship Id="rId2" Type="http://schemas.openxmlformats.org/officeDocument/2006/relationships/slideLayout" Target="../slideLayouts/slideLayout35.xml"/><Relationship Id="rId1" Type="http://schemas.openxmlformats.org/officeDocument/2006/relationships/vmlDrawing" Target="../drawings/vmlDrawing11.vml"/><Relationship Id="rId6" Type="http://schemas.openxmlformats.org/officeDocument/2006/relationships/oleObject" Target="../embeddings/oleObject12.bin"/><Relationship Id="rId5" Type="http://schemas.openxmlformats.org/officeDocument/2006/relationships/image" Target="../media/image13.emf"/><Relationship Id="rId4" Type="http://schemas.openxmlformats.org/officeDocument/2006/relationships/oleObject" Target="../embeddings/oleObject11.bin"/></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Rot="1"/>
          </p:cNvSpPr>
          <p:nvPr>
            <p:ph type="ctrTitle"/>
          </p:nvPr>
        </p:nvSpPr>
        <p:spPr/>
        <p:txBody>
          <a:bodyPr vert="horz" wrap="square" lIns="91440" tIns="45720" rIns="91440" bIns="45720" anchor="ctr" anchorCtr="0"/>
          <a:lstStyle/>
          <a:p>
            <a:pPr eaLnBrk="1" hangingPunct="1">
              <a:buClrTx/>
              <a:buSzTx/>
              <a:buFontTx/>
            </a:pPr>
            <a:r>
              <a:rPr lang="zh-CN" altLang="en-US" sz="7200" b="1" kern="1200" dirty="0">
                <a:solidFill>
                  <a:srgbClr val="000099"/>
                </a:solidFill>
                <a:latin typeface="华文中宋" panose="02010600040101010101" charset="-122"/>
                <a:ea typeface="华文中宋" panose="02010600040101010101" charset="-122"/>
                <a:cs typeface="+mj-cs"/>
              </a:rPr>
              <a:t>计算机网络</a:t>
            </a:r>
          </a:p>
        </p:txBody>
      </p:sp>
      <p:sp>
        <p:nvSpPr>
          <p:cNvPr id="4100" name="Rectangle 3"/>
          <p:cNvSpPr>
            <a:spLocks noGrp="1" noRot="1"/>
          </p:cNvSpPr>
          <p:nvPr>
            <p:ph type="subTitle" idx="1"/>
          </p:nvPr>
        </p:nvSpPr>
        <p:spPr/>
        <p:txBody>
          <a:bodyPr vert="horz" wrap="square" lIns="91440" tIns="45720" rIns="91440" bIns="45720" anchor="t" anchorCtr="0"/>
          <a:lstStyle/>
          <a:p>
            <a:pPr eaLnBrk="1" hangingPunct="1">
              <a:buSzTx/>
            </a:pPr>
            <a:r>
              <a:rPr lang="zh-CN" altLang="en-US" sz="2800" kern="1200" dirty="0">
                <a:solidFill>
                  <a:srgbClr val="000099"/>
                </a:solidFill>
                <a:latin typeface="+mn-lt"/>
                <a:ea typeface="+mn-ea"/>
                <a:cs typeface="+mn-cs"/>
              </a:rPr>
              <a:t>西安交通大学</a:t>
            </a:r>
          </a:p>
          <a:p>
            <a:pPr eaLnBrk="1" hangingPunct="1">
              <a:buSzTx/>
            </a:pPr>
            <a:r>
              <a:rPr lang="zh-CN" altLang="en-US" sz="2800" kern="1200" dirty="0">
                <a:solidFill>
                  <a:srgbClr val="000099"/>
                </a:solidFill>
                <a:latin typeface="+mn-lt"/>
                <a:ea typeface="+mn-ea"/>
                <a:cs typeface="+mn-cs"/>
              </a:rPr>
              <a:t>计算机科学与技术学院</a:t>
            </a:r>
          </a:p>
        </p:txBody>
      </p:sp>
    </p:spTree>
  </p:cSld>
  <p:clrMapOvr>
    <a:masterClrMapping/>
  </p:clrMapOvr>
  <p:transition>
    <p:zo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p:cNvSpPr>
            <a:spLocks noGrp="1"/>
          </p:cNvSpPr>
          <p:nvPr>
            <p:ph type="title"/>
          </p:nvPr>
        </p:nvSpPr>
        <p:spPr>
          <a:xfrm>
            <a:off x="1447800" y="260350"/>
            <a:ext cx="7696200" cy="720725"/>
          </a:xfrm>
        </p:spPr>
        <p:txBody>
          <a:bodyPr vert="horz" wrap="square" lIns="92075" tIns="46038" rIns="92075" bIns="46038" anchor="ctr" anchorCtr="0"/>
          <a:lstStyle/>
          <a:p>
            <a:pPr algn="r" eaLnBrk="1" hangingPunct="1"/>
            <a:r>
              <a:rPr lang="zh-CN" altLang="en-US" dirty="0">
                <a:solidFill>
                  <a:schemeClr val="bg1"/>
                </a:solidFill>
                <a:latin typeface="黑体" panose="02010609060101010101" pitchFamily="49" charset="-122"/>
              </a:rPr>
              <a:t>第一章  概  述</a:t>
            </a:r>
          </a:p>
        </p:txBody>
      </p:sp>
      <p:sp>
        <p:nvSpPr>
          <p:cNvPr id="5122" name="Rectangle 3"/>
          <p:cNvSpPr>
            <a:spLocks noGrp="1"/>
          </p:cNvSpPr>
          <p:nvPr>
            <p:ph idx="1"/>
          </p:nvPr>
        </p:nvSpPr>
        <p:spPr>
          <a:xfrm>
            <a:off x="971700" y="1412832"/>
            <a:ext cx="7772400" cy="4537021"/>
          </a:xfrm>
        </p:spPr>
        <p:txBody>
          <a:bodyPr vert="horz" wrap="square" lIns="91440" tIns="45720" rIns="91440" bIns="45720" anchor="t" anchorCtr="0"/>
          <a:lstStyle/>
          <a:p>
            <a:pPr eaLnBrk="1" hangingPunct="1">
              <a:lnSpc>
                <a:spcPct val="115000"/>
              </a:lnSpc>
            </a:pPr>
            <a:r>
              <a:rPr lang="zh-CN" altLang="en-US" dirty="0" smtClean="0">
                <a:solidFill>
                  <a:srgbClr val="000066"/>
                </a:solidFill>
                <a:latin typeface="黑体" panose="02010609060101010101" pitchFamily="49" charset="-122"/>
                <a:ea typeface="黑体" panose="02010609060101010101" pitchFamily="49" charset="-122"/>
              </a:rPr>
              <a:t>计算机网络定义</a:t>
            </a:r>
            <a:endParaRPr lang="zh-CN" altLang="en-US" dirty="0">
              <a:solidFill>
                <a:srgbClr val="000066"/>
              </a:solidFill>
              <a:latin typeface="黑体" panose="02010609060101010101" pitchFamily="49" charset="-122"/>
              <a:ea typeface="黑体" panose="02010609060101010101" pitchFamily="49" charset="-122"/>
            </a:endParaRPr>
          </a:p>
          <a:p>
            <a:pPr eaLnBrk="1" hangingPunct="1">
              <a:lnSpc>
                <a:spcPct val="115000"/>
              </a:lnSpc>
            </a:pPr>
            <a:r>
              <a:rPr lang="zh-CN" altLang="en-US" dirty="0" smtClean="0">
                <a:solidFill>
                  <a:srgbClr val="000066"/>
                </a:solidFill>
                <a:latin typeface="黑体" panose="02010609060101010101" pitchFamily="49" charset="-122"/>
                <a:ea typeface="黑体" panose="02010609060101010101" pitchFamily="49" charset="-122"/>
              </a:rPr>
              <a:t>计算机网络发展</a:t>
            </a:r>
            <a:endParaRPr lang="zh-CN" altLang="en-US" dirty="0">
              <a:solidFill>
                <a:srgbClr val="000066"/>
              </a:solidFill>
              <a:latin typeface="黑体" panose="02010609060101010101" pitchFamily="49" charset="-122"/>
              <a:ea typeface="黑体" panose="02010609060101010101" pitchFamily="49" charset="-122"/>
            </a:endParaRPr>
          </a:p>
          <a:p>
            <a:pPr eaLnBrk="1" hangingPunct="1">
              <a:lnSpc>
                <a:spcPct val="115000"/>
              </a:lnSpc>
            </a:pPr>
            <a:r>
              <a:rPr lang="zh-CN" altLang="en-US" dirty="0" smtClean="0">
                <a:solidFill>
                  <a:srgbClr val="000066"/>
                </a:solidFill>
                <a:latin typeface="黑体" panose="02010609060101010101" pitchFamily="49" charset="-122"/>
                <a:ea typeface="黑体" panose="02010609060101010101" pitchFamily="49" charset="-122"/>
              </a:rPr>
              <a:t>计算机网络分类</a:t>
            </a:r>
            <a:endParaRPr lang="zh-CN" altLang="en-US" dirty="0">
              <a:solidFill>
                <a:srgbClr val="000066"/>
              </a:solidFill>
              <a:latin typeface="黑体" panose="02010609060101010101" pitchFamily="49" charset="-122"/>
              <a:ea typeface="黑体" panose="02010609060101010101" pitchFamily="49" charset="-122"/>
            </a:endParaRPr>
          </a:p>
          <a:p>
            <a:pPr eaLnBrk="1" hangingPunct="1">
              <a:lnSpc>
                <a:spcPct val="115000"/>
              </a:lnSpc>
            </a:pPr>
            <a:r>
              <a:rPr lang="zh-CN" altLang="en-US" dirty="0" smtClean="0">
                <a:solidFill>
                  <a:srgbClr val="000066"/>
                </a:solidFill>
                <a:latin typeface="黑体" panose="02010609060101010101" pitchFamily="49" charset="-122"/>
                <a:ea typeface="黑体" panose="02010609060101010101" pitchFamily="49" charset="-122"/>
              </a:rPr>
              <a:t>计算机网络结构</a:t>
            </a:r>
            <a:endParaRPr lang="zh-CN" altLang="en-US" dirty="0">
              <a:solidFill>
                <a:srgbClr val="000066"/>
              </a:solidFill>
              <a:latin typeface="黑体" panose="02010609060101010101" pitchFamily="49" charset="-122"/>
              <a:ea typeface="黑体" panose="02010609060101010101" pitchFamily="49" charset="-122"/>
            </a:endParaRPr>
          </a:p>
          <a:p>
            <a:pPr marL="342900" lvl="1" indent="-342900" algn="l" eaLnBrk="1" hangingPunct="1">
              <a:lnSpc>
                <a:spcPct val="115000"/>
              </a:lnSpc>
              <a:buSzTx/>
              <a:buChar char="l"/>
            </a:pPr>
            <a:r>
              <a:rPr lang="zh-CN" altLang="en-US" sz="3200" dirty="0" smtClean="0">
                <a:solidFill>
                  <a:srgbClr val="000066"/>
                </a:solidFill>
                <a:latin typeface="黑体" panose="02010609060101010101" pitchFamily="49" charset="-122"/>
                <a:ea typeface="黑体" panose="02010609060101010101" pitchFamily="49" charset="-122"/>
                <a:cs typeface="+mn-cs"/>
                <a:sym typeface="+mn-ea"/>
              </a:rPr>
              <a:t>计算机网络性能指标</a:t>
            </a:r>
            <a:endParaRPr lang="zh-CN" altLang="en-US" sz="3200" dirty="0">
              <a:solidFill>
                <a:srgbClr val="000066"/>
              </a:solidFill>
              <a:latin typeface="黑体" panose="02010609060101010101" pitchFamily="49" charset="-122"/>
              <a:ea typeface="黑体" panose="02010609060101010101" pitchFamily="49" charset="-122"/>
              <a:cs typeface="+mn-cs"/>
            </a:endParaRPr>
          </a:p>
          <a:p>
            <a:pPr marL="342900" lvl="1" indent="-342900" algn="l" eaLnBrk="1" hangingPunct="1">
              <a:lnSpc>
                <a:spcPct val="115000"/>
              </a:lnSpc>
              <a:buSzTx/>
              <a:buChar char="l"/>
            </a:pPr>
            <a:r>
              <a:rPr lang="zh-CN" altLang="en-US" sz="3200" dirty="0">
                <a:solidFill>
                  <a:srgbClr val="000066"/>
                </a:solidFill>
                <a:latin typeface="黑体" panose="02010609060101010101" pitchFamily="49" charset="-122"/>
                <a:ea typeface="黑体" panose="02010609060101010101" pitchFamily="49" charset="-122"/>
                <a:cs typeface="+mn-cs"/>
                <a:sym typeface="+mn-ea"/>
              </a:rPr>
              <a:t>计算机网络应用</a:t>
            </a:r>
            <a:endParaRPr lang="zh-CN" altLang="en-US" sz="3200" dirty="0">
              <a:solidFill>
                <a:srgbClr val="000066"/>
              </a:solidFill>
              <a:latin typeface="黑体" panose="02010609060101010101" pitchFamily="49" charset="-122"/>
              <a:ea typeface="黑体" panose="02010609060101010101" pitchFamily="49" charset="-122"/>
              <a:cs typeface="+mn-cs"/>
            </a:endParaRPr>
          </a:p>
          <a:p>
            <a:pPr marL="342900" lvl="1" indent="-342900" algn="l" eaLnBrk="1" hangingPunct="1">
              <a:lnSpc>
                <a:spcPct val="115000"/>
              </a:lnSpc>
              <a:buSzTx/>
              <a:buChar char="l"/>
            </a:pPr>
            <a:r>
              <a:rPr lang="zh-CN" altLang="en-US" sz="3200" dirty="0">
                <a:solidFill>
                  <a:srgbClr val="000066"/>
                </a:solidFill>
                <a:latin typeface="黑体" panose="02010609060101010101" pitchFamily="49" charset="-122"/>
                <a:ea typeface="黑体" panose="02010609060101010101" pitchFamily="49" charset="-122"/>
                <a:cs typeface="+mn-cs"/>
                <a:sym typeface="+mn-ea"/>
              </a:rPr>
              <a:t>计算机网络相关国际标准化组织</a:t>
            </a:r>
            <a:endParaRPr lang="zh-CN" altLang="en-US" sz="3200" dirty="0">
              <a:solidFill>
                <a:srgbClr val="000066"/>
              </a:solidFill>
              <a:latin typeface="黑体" panose="02010609060101010101" pitchFamily="49" charset="-122"/>
              <a:ea typeface="黑体" panose="02010609060101010101" pitchFamily="49" charset="-122"/>
              <a:cs typeface="+mn-cs"/>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2"/>
          <p:cNvSpPr>
            <a:spLocks noGrp="1"/>
          </p:cNvSpPr>
          <p:nvPr>
            <p:ph type="title"/>
          </p:nvPr>
        </p:nvSpPr>
        <p:spPr>
          <a:xfrm>
            <a:off x="1447800" y="260350"/>
            <a:ext cx="7696200" cy="720725"/>
          </a:xfrm>
        </p:spPr>
        <p:txBody>
          <a:bodyPr vert="horz" wrap="square" lIns="92075" tIns="46038" rIns="92075" bIns="46038" anchor="ctr" anchorCtr="0"/>
          <a:lstStyle/>
          <a:p>
            <a:pPr algn="r" eaLnBrk="1" hangingPunct="1"/>
            <a:r>
              <a:rPr lang="en-US" altLang="zh-CN" sz="3600" dirty="0">
                <a:solidFill>
                  <a:schemeClr val="bg1"/>
                </a:solidFill>
              </a:rPr>
              <a:t>1.1</a:t>
            </a:r>
            <a:r>
              <a:rPr lang="zh-CN" altLang="en-US" sz="3600" dirty="0">
                <a:solidFill>
                  <a:schemeClr val="bg1"/>
                </a:solidFill>
              </a:rPr>
              <a:t>计算机网络的定义</a:t>
            </a:r>
          </a:p>
        </p:txBody>
      </p:sp>
      <p:sp>
        <p:nvSpPr>
          <p:cNvPr id="419846" name="Rectangle 6"/>
          <p:cNvSpPr>
            <a:spLocks noGrp="1"/>
          </p:cNvSpPr>
          <p:nvPr>
            <p:ph idx="1"/>
          </p:nvPr>
        </p:nvSpPr>
        <p:spPr>
          <a:xfrm>
            <a:off x="900113" y="1341438"/>
            <a:ext cx="7772400" cy="4607772"/>
          </a:xfrm>
        </p:spPr>
        <p:txBody>
          <a:bodyPr vert="horz" wrap="square" lIns="91440" tIns="45720" rIns="91440" bIns="45720" anchor="t" anchorCtr="0"/>
          <a:lstStyle/>
          <a:p>
            <a:pPr eaLnBrk="1" hangingPunct="1"/>
            <a:r>
              <a:rPr lang="zh-CN" altLang="en-US" sz="2800" dirty="0" smtClean="0">
                <a:solidFill>
                  <a:schemeClr val="accent2"/>
                </a:solidFill>
                <a:latin typeface="黑体" panose="02010609060101010101" pitchFamily="49" charset="-122"/>
                <a:ea typeface="黑体" panose="02010609060101010101" pitchFamily="49" charset="-122"/>
              </a:rPr>
              <a:t>计算机网络定义</a:t>
            </a:r>
            <a:r>
              <a:rPr lang="zh-CN" altLang="en-US" sz="2800" dirty="0">
                <a:solidFill>
                  <a:schemeClr val="accent2"/>
                </a:solidFill>
                <a:latin typeface="黑体" panose="02010609060101010101" pitchFamily="49" charset="-122"/>
                <a:ea typeface="黑体" panose="02010609060101010101" pitchFamily="49" charset="-122"/>
              </a:rPr>
              <a:t>的三个观点</a:t>
            </a:r>
          </a:p>
          <a:p>
            <a:pPr lvl="1" eaLnBrk="1" hangingPunct="1"/>
            <a:r>
              <a:rPr lang="zh-CN" altLang="en-US" dirty="0">
                <a:solidFill>
                  <a:srgbClr val="000066"/>
                </a:solidFill>
                <a:latin typeface="黑体" panose="02010609060101010101" pitchFamily="49" charset="-122"/>
                <a:ea typeface="黑体" panose="02010609060101010101" pitchFamily="49" charset="-122"/>
              </a:rPr>
              <a:t>广义的观点</a:t>
            </a:r>
          </a:p>
          <a:p>
            <a:pPr lvl="1" eaLnBrk="1" hangingPunct="1"/>
            <a:r>
              <a:rPr lang="zh-CN" altLang="en-US" dirty="0">
                <a:solidFill>
                  <a:srgbClr val="000066"/>
                </a:solidFill>
                <a:latin typeface="黑体" panose="02010609060101010101" pitchFamily="49" charset="-122"/>
                <a:ea typeface="黑体" panose="02010609060101010101" pitchFamily="49" charset="-122"/>
              </a:rPr>
              <a:t>用户透明的观点</a:t>
            </a:r>
          </a:p>
          <a:p>
            <a:pPr lvl="1" eaLnBrk="1" hangingPunct="1"/>
            <a:r>
              <a:rPr lang="zh-CN" altLang="en-US" dirty="0">
                <a:solidFill>
                  <a:srgbClr val="000066"/>
                </a:solidFill>
                <a:latin typeface="黑体" panose="02010609060101010101" pitchFamily="49" charset="-122"/>
                <a:ea typeface="黑体" panose="02010609060101010101" pitchFamily="49" charset="-122"/>
              </a:rPr>
              <a:t>资源共享的观点</a:t>
            </a:r>
          </a:p>
          <a:p>
            <a:pPr lvl="1" eaLnBrk="1" hangingPunct="1"/>
            <a:endParaRPr lang="zh-CN" altLang="en-US" dirty="0">
              <a:solidFill>
                <a:srgbClr val="000066"/>
              </a:solidFill>
              <a:latin typeface="黑体" panose="02010609060101010101" pitchFamily="49" charset="-122"/>
              <a:ea typeface="黑体" panose="02010609060101010101" pitchFamily="49" charset="-122"/>
            </a:endParaRPr>
          </a:p>
          <a:p>
            <a:pPr marL="342900" lvl="1" indent="-342900" algn="l" eaLnBrk="1" hangingPunct="1">
              <a:buSzTx/>
              <a:buChar char="l"/>
            </a:pPr>
            <a:r>
              <a:rPr lang="zh-CN" altLang="en-US" dirty="0">
                <a:solidFill>
                  <a:schemeClr val="accent2"/>
                </a:solidFill>
                <a:latin typeface="黑体" panose="02010609060101010101" pitchFamily="49" charset="-122"/>
                <a:ea typeface="黑体" panose="02010609060101010101" pitchFamily="49" charset="-122"/>
                <a:cs typeface="+mn-cs"/>
                <a:sym typeface="+mn-ea"/>
              </a:rPr>
              <a:t>资源共享观点的计算机网络定义</a:t>
            </a:r>
            <a:endParaRPr lang="zh-CN" altLang="en-US" dirty="0">
              <a:solidFill>
                <a:schemeClr val="accent2"/>
              </a:solidFill>
              <a:latin typeface="黑体" panose="02010609060101010101" pitchFamily="49" charset="-122"/>
              <a:ea typeface="黑体" panose="02010609060101010101" pitchFamily="49" charset="-122"/>
              <a:cs typeface="+mn-cs"/>
            </a:endParaRPr>
          </a:p>
          <a:p>
            <a:pPr lvl="1" eaLnBrk="1" hangingPunct="1"/>
            <a:r>
              <a:rPr lang="zh-CN" altLang="en-US" dirty="0">
                <a:solidFill>
                  <a:srgbClr val="000066"/>
                </a:solidFill>
                <a:latin typeface="黑体" panose="02010609060101010101" pitchFamily="49" charset="-122"/>
                <a:ea typeface="黑体" panose="02010609060101010101" pitchFamily="49" charset="-122"/>
              </a:rPr>
              <a:t>资源共享 </a:t>
            </a:r>
          </a:p>
          <a:p>
            <a:pPr lvl="1" eaLnBrk="1" hangingPunct="1"/>
            <a:r>
              <a:rPr lang="zh-CN" altLang="en-US" dirty="0">
                <a:solidFill>
                  <a:srgbClr val="000066"/>
                </a:solidFill>
                <a:latin typeface="黑体" panose="02010609060101010101" pitchFamily="49" charset="-122"/>
                <a:ea typeface="黑体" panose="02010609060101010101" pitchFamily="49" charset="-122"/>
              </a:rPr>
              <a:t>分布在不同地理位置的“自治系统” </a:t>
            </a:r>
          </a:p>
          <a:p>
            <a:pPr lvl="1" eaLnBrk="1" hangingPunct="1"/>
            <a:r>
              <a:rPr lang="zh-CN" altLang="en-US" dirty="0">
                <a:solidFill>
                  <a:srgbClr val="000066"/>
                </a:solidFill>
                <a:latin typeface="黑体" panose="02010609060101010101" pitchFamily="49" charset="-122"/>
                <a:ea typeface="黑体" panose="02010609060101010101" pitchFamily="49" charset="-122"/>
              </a:rPr>
              <a:t>遵循一定的规则</a:t>
            </a:r>
            <a:r>
              <a:rPr lang="en-US" altLang="zh-CN" dirty="0">
                <a:solidFill>
                  <a:srgbClr val="000066"/>
                </a:solidFill>
                <a:latin typeface="黑体" panose="02010609060101010101" pitchFamily="49" charset="-122"/>
                <a:ea typeface="黑体" panose="02010609060101010101" pitchFamily="49" charset="-122"/>
              </a:rPr>
              <a:t>—“</a:t>
            </a:r>
            <a:r>
              <a:rPr lang="zh-CN" altLang="en-US" dirty="0">
                <a:solidFill>
                  <a:srgbClr val="000066"/>
                </a:solidFill>
                <a:latin typeface="黑体" panose="02010609060101010101" pitchFamily="49" charset="-122"/>
                <a:ea typeface="黑体" panose="02010609060101010101" pitchFamily="49" charset="-122"/>
              </a:rPr>
              <a:t>协议 ”</a:t>
            </a:r>
          </a:p>
          <a:p>
            <a:pPr eaLnBrk="1" hangingPunct="1">
              <a:buNone/>
            </a:pPr>
            <a:endParaRPr lang="en-US" altLang="zh-CN" sz="2800" dirty="0">
              <a:solidFill>
                <a:srgbClr val="000066"/>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984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19846">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19846">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19846">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19846">
                                            <p:txEl>
                                              <p:pRg st="5" end="5"/>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19846">
                                            <p:txEl>
                                              <p:pRg st="6" end="6"/>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19846">
                                            <p:txEl>
                                              <p:pRg st="7" end="7"/>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1984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46"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2"/>
          <p:cNvSpPr>
            <a:spLocks noGrp="1"/>
          </p:cNvSpPr>
          <p:nvPr>
            <p:ph type="title"/>
          </p:nvPr>
        </p:nvSpPr>
        <p:spPr>
          <a:xfrm>
            <a:off x="1447800" y="260350"/>
            <a:ext cx="7696200" cy="720725"/>
          </a:xfrm>
        </p:spPr>
        <p:txBody>
          <a:bodyPr vert="horz" wrap="square" lIns="92075" tIns="46038" rIns="92075" bIns="46038" anchor="ctr" anchorCtr="0"/>
          <a:lstStyle/>
          <a:p>
            <a:pPr algn="r" eaLnBrk="1" hangingPunct="1"/>
            <a:r>
              <a:rPr lang="en-US" altLang="zh-CN" sz="3600" dirty="0">
                <a:solidFill>
                  <a:schemeClr val="bg1"/>
                </a:solidFill>
              </a:rPr>
              <a:t>1.2 </a:t>
            </a:r>
            <a:r>
              <a:rPr lang="zh-CN" altLang="en-US" sz="3600" dirty="0">
                <a:solidFill>
                  <a:schemeClr val="bg1"/>
                </a:solidFill>
              </a:rPr>
              <a:t>计算机网络的产生和发展</a:t>
            </a:r>
            <a:endParaRPr lang="en-US" altLang="zh-CN" sz="3600" dirty="0">
              <a:solidFill>
                <a:schemeClr val="bg1"/>
              </a:solidFill>
            </a:endParaRPr>
          </a:p>
        </p:txBody>
      </p:sp>
      <p:sp>
        <p:nvSpPr>
          <p:cNvPr id="8194" name="Freeform 5"/>
          <p:cNvSpPr/>
          <p:nvPr/>
        </p:nvSpPr>
        <p:spPr>
          <a:xfrm>
            <a:off x="5629275" y="2619375"/>
            <a:ext cx="519113" cy="846138"/>
          </a:xfrm>
          <a:custGeom>
            <a:avLst/>
            <a:gdLst/>
            <a:ahLst/>
            <a:cxnLst>
              <a:cxn ang="0">
                <a:pos x="519113" y="228686"/>
              </a:cxn>
              <a:cxn ang="0">
                <a:pos x="0" y="846138"/>
              </a:cxn>
              <a:cxn ang="0">
                <a:pos x="0" y="545035"/>
              </a:cxn>
              <a:cxn ang="0">
                <a:pos x="519113" y="0"/>
              </a:cxn>
              <a:cxn ang="0">
                <a:pos x="519113" y="228686"/>
              </a:cxn>
            </a:cxnLst>
            <a:rect l="0" t="0" r="0" b="0"/>
            <a:pathLst>
              <a:path w="308" h="444">
                <a:moveTo>
                  <a:pt x="308" y="120"/>
                </a:moveTo>
                <a:lnTo>
                  <a:pt x="0" y="444"/>
                </a:lnTo>
                <a:lnTo>
                  <a:pt x="0" y="286"/>
                </a:lnTo>
                <a:lnTo>
                  <a:pt x="308" y="0"/>
                </a:lnTo>
                <a:lnTo>
                  <a:pt x="308" y="120"/>
                </a:lnTo>
                <a:close/>
              </a:path>
            </a:pathLst>
          </a:custGeom>
          <a:gradFill rotWithShape="1">
            <a:gsLst>
              <a:gs pos="0">
                <a:srgbClr val="00281D"/>
              </a:gs>
              <a:gs pos="50000">
                <a:srgbClr val="00563F"/>
              </a:gs>
              <a:gs pos="100000">
                <a:srgbClr val="00281D"/>
              </a:gs>
            </a:gsLst>
            <a:lin ang="2700000" scaled="1"/>
            <a:tileRect/>
          </a:gradFill>
          <a:ln w="0">
            <a:noFill/>
          </a:ln>
        </p:spPr>
        <p:txBody>
          <a:bodyPr/>
          <a:lstStyle/>
          <a:p>
            <a:endParaRPr lang="zh-CN" altLang="en-US"/>
          </a:p>
        </p:txBody>
      </p:sp>
      <p:sp>
        <p:nvSpPr>
          <p:cNvPr id="8195" name="Freeform 6"/>
          <p:cNvSpPr/>
          <p:nvPr/>
        </p:nvSpPr>
        <p:spPr>
          <a:xfrm>
            <a:off x="3165475" y="2609850"/>
            <a:ext cx="3016250" cy="541338"/>
          </a:xfrm>
          <a:custGeom>
            <a:avLst/>
            <a:gdLst/>
            <a:ahLst/>
            <a:cxnLst>
              <a:cxn ang="0">
                <a:pos x="2496090" y="541338"/>
              </a:cxn>
              <a:cxn ang="0">
                <a:pos x="0" y="541338"/>
              </a:cxn>
              <a:cxn ang="0">
                <a:pos x="753218" y="0"/>
              </a:cxn>
              <a:cxn ang="0">
                <a:pos x="3016250" y="0"/>
              </a:cxn>
              <a:cxn ang="0">
                <a:pos x="2496090" y="541338"/>
              </a:cxn>
            </a:cxnLst>
            <a:rect l="0" t="0" r="0" b="0"/>
            <a:pathLst>
              <a:path w="1786" h="284">
                <a:moveTo>
                  <a:pt x="1478" y="284"/>
                </a:moveTo>
                <a:lnTo>
                  <a:pt x="0" y="284"/>
                </a:lnTo>
                <a:lnTo>
                  <a:pt x="446" y="0"/>
                </a:lnTo>
                <a:lnTo>
                  <a:pt x="1786" y="0"/>
                </a:lnTo>
                <a:lnTo>
                  <a:pt x="1478" y="284"/>
                </a:lnTo>
                <a:close/>
              </a:path>
            </a:pathLst>
          </a:custGeom>
          <a:solidFill>
            <a:srgbClr val="00CC99"/>
          </a:solidFill>
          <a:ln w="0">
            <a:noFill/>
          </a:ln>
        </p:spPr>
        <p:txBody>
          <a:bodyPr/>
          <a:lstStyle/>
          <a:p>
            <a:endParaRPr lang="zh-CN" altLang="en-US"/>
          </a:p>
        </p:txBody>
      </p:sp>
      <p:sp>
        <p:nvSpPr>
          <p:cNvPr id="8196" name="Freeform 7"/>
          <p:cNvSpPr/>
          <p:nvPr/>
        </p:nvSpPr>
        <p:spPr>
          <a:xfrm>
            <a:off x="5105400" y="3460750"/>
            <a:ext cx="520700" cy="841375"/>
          </a:xfrm>
          <a:custGeom>
            <a:avLst/>
            <a:gdLst/>
            <a:ahLst/>
            <a:cxnLst>
              <a:cxn ang="0">
                <a:pos x="520700" y="228428"/>
              </a:cxn>
              <a:cxn ang="0">
                <a:pos x="0" y="841375"/>
              </a:cxn>
              <a:cxn ang="0">
                <a:pos x="0" y="544419"/>
              </a:cxn>
              <a:cxn ang="0">
                <a:pos x="520700" y="0"/>
              </a:cxn>
              <a:cxn ang="0">
                <a:pos x="520700" y="228428"/>
              </a:cxn>
            </a:cxnLst>
            <a:rect l="0" t="0" r="0" b="0"/>
            <a:pathLst>
              <a:path w="308" h="442">
                <a:moveTo>
                  <a:pt x="308" y="120"/>
                </a:moveTo>
                <a:lnTo>
                  <a:pt x="0" y="442"/>
                </a:lnTo>
                <a:lnTo>
                  <a:pt x="0" y="286"/>
                </a:lnTo>
                <a:lnTo>
                  <a:pt x="308" y="0"/>
                </a:lnTo>
                <a:lnTo>
                  <a:pt x="308" y="120"/>
                </a:lnTo>
                <a:close/>
              </a:path>
            </a:pathLst>
          </a:custGeom>
          <a:gradFill rotWithShape="1">
            <a:gsLst>
              <a:gs pos="0">
                <a:srgbClr val="230744"/>
              </a:gs>
              <a:gs pos="50000">
                <a:srgbClr val="4B1092"/>
              </a:gs>
              <a:gs pos="100000">
                <a:srgbClr val="230744"/>
              </a:gs>
            </a:gsLst>
            <a:lin ang="2700000" scaled="1"/>
            <a:tileRect/>
          </a:gradFill>
          <a:ln w="0">
            <a:noFill/>
          </a:ln>
        </p:spPr>
        <p:txBody>
          <a:bodyPr/>
          <a:lstStyle/>
          <a:p>
            <a:endParaRPr lang="zh-CN" altLang="en-US"/>
          </a:p>
        </p:txBody>
      </p:sp>
      <p:sp>
        <p:nvSpPr>
          <p:cNvPr id="8197" name="Freeform 8"/>
          <p:cNvSpPr/>
          <p:nvPr/>
        </p:nvSpPr>
        <p:spPr>
          <a:xfrm>
            <a:off x="2373313" y="3475038"/>
            <a:ext cx="3241675" cy="539750"/>
          </a:xfrm>
          <a:custGeom>
            <a:avLst/>
            <a:gdLst/>
            <a:ahLst/>
            <a:cxnLst>
              <a:cxn ang="0">
                <a:pos x="2721656" y="539750"/>
              </a:cxn>
              <a:cxn ang="0">
                <a:pos x="0" y="539750"/>
              </a:cxn>
              <a:cxn ang="0">
                <a:pos x="753014" y="0"/>
              </a:cxn>
              <a:cxn ang="0">
                <a:pos x="3241675" y="0"/>
              </a:cxn>
              <a:cxn ang="0">
                <a:pos x="2721656" y="539750"/>
              </a:cxn>
            </a:cxnLst>
            <a:rect l="0" t="0" r="0" b="0"/>
            <a:pathLst>
              <a:path w="1920" h="284">
                <a:moveTo>
                  <a:pt x="1612" y="284"/>
                </a:moveTo>
                <a:lnTo>
                  <a:pt x="0" y="284"/>
                </a:lnTo>
                <a:lnTo>
                  <a:pt x="446" y="0"/>
                </a:lnTo>
                <a:lnTo>
                  <a:pt x="1920" y="0"/>
                </a:lnTo>
                <a:lnTo>
                  <a:pt x="1612" y="284"/>
                </a:lnTo>
                <a:close/>
              </a:path>
            </a:pathLst>
          </a:custGeom>
          <a:solidFill>
            <a:srgbClr val="A77BFF"/>
          </a:solidFill>
          <a:ln w="0">
            <a:noFill/>
          </a:ln>
        </p:spPr>
        <p:txBody>
          <a:bodyPr/>
          <a:lstStyle/>
          <a:p>
            <a:endParaRPr lang="zh-CN" altLang="en-US"/>
          </a:p>
        </p:txBody>
      </p:sp>
      <p:sp>
        <p:nvSpPr>
          <p:cNvPr id="8198" name="Freeform 9"/>
          <p:cNvSpPr/>
          <p:nvPr/>
        </p:nvSpPr>
        <p:spPr>
          <a:xfrm>
            <a:off x="4581525" y="4292600"/>
            <a:ext cx="517525" cy="844550"/>
          </a:xfrm>
          <a:custGeom>
            <a:avLst/>
            <a:gdLst/>
            <a:ahLst/>
            <a:cxnLst>
              <a:cxn ang="0">
                <a:pos x="517525" y="232061"/>
              </a:cxn>
              <a:cxn ang="0">
                <a:pos x="0" y="844550"/>
              </a:cxn>
              <a:cxn ang="0">
                <a:pos x="0" y="544012"/>
              </a:cxn>
              <a:cxn ang="0">
                <a:pos x="517525" y="0"/>
              </a:cxn>
              <a:cxn ang="0">
                <a:pos x="517525" y="232061"/>
              </a:cxn>
            </a:cxnLst>
            <a:rect l="0" t="0" r="0" b="0"/>
            <a:pathLst>
              <a:path w="306" h="444">
                <a:moveTo>
                  <a:pt x="306" y="122"/>
                </a:moveTo>
                <a:lnTo>
                  <a:pt x="0" y="444"/>
                </a:lnTo>
                <a:lnTo>
                  <a:pt x="0" y="286"/>
                </a:lnTo>
                <a:lnTo>
                  <a:pt x="306" y="0"/>
                </a:lnTo>
                <a:lnTo>
                  <a:pt x="306" y="122"/>
                </a:lnTo>
                <a:close/>
              </a:path>
            </a:pathLst>
          </a:custGeom>
          <a:gradFill rotWithShape="1">
            <a:gsLst>
              <a:gs pos="0">
                <a:srgbClr val="431805"/>
              </a:gs>
              <a:gs pos="50000">
                <a:srgbClr val="90330A"/>
              </a:gs>
              <a:gs pos="100000">
                <a:srgbClr val="431805"/>
              </a:gs>
            </a:gsLst>
            <a:lin ang="2700000" scaled="1"/>
            <a:tileRect/>
          </a:gradFill>
          <a:ln w="0">
            <a:noFill/>
          </a:ln>
        </p:spPr>
        <p:txBody>
          <a:bodyPr/>
          <a:lstStyle/>
          <a:p>
            <a:endParaRPr lang="zh-CN" altLang="en-US"/>
          </a:p>
        </p:txBody>
      </p:sp>
      <p:sp>
        <p:nvSpPr>
          <p:cNvPr id="8199" name="Freeform 10"/>
          <p:cNvSpPr/>
          <p:nvPr/>
        </p:nvSpPr>
        <p:spPr>
          <a:xfrm>
            <a:off x="4067175" y="5157788"/>
            <a:ext cx="520700" cy="846137"/>
          </a:xfrm>
          <a:custGeom>
            <a:avLst/>
            <a:gdLst/>
            <a:ahLst/>
            <a:cxnLst>
              <a:cxn ang="0">
                <a:pos x="520700" y="232497"/>
              </a:cxn>
              <a:cxn ang="0">
                <a:pos x="0" y="846137"/>
              </a:cxn>
              <a:cxn ang="0">
                <a:pos x="0" y="545034"/>
              </a:cxn>
              <a:cxn ang="0">
                <a:pos x="520700" y="0"/>
              </a:cxn>
              <a:cxn ang="0">
                <a:pos x="520700" y="232497"/>
              </a:cxn>
            </a:cxnLst>
            <a:rect l="0" t="0" r="0" b="0"/>
            <a:pathLst>
              <a:path w="308" h="444">
                <a:moveTo>
                  <a:pt x="308" y="122"/>
                </a:moveTo>
                <a:lnTo>
                  <a:pt x="0" y="444"/>
                </a:lnTo>
                <a:lnTo>
                  <a:pt x="0" y="286"/>
                </a:lnTo>
                <a:lnTo>
                  <a:pt x="308" y="0"/>
                </a:lnTo>
                <a:lnTo>
                  <a:pt x="308" y="122"/>
                </a:lnTo>
                <a:close/>
              </a:path>
            </a:pathLst>
          </a:custGeom>
          <a:gradFill rotWithShape="1">
            <a:gsLst>
              <a:gs pos="0">
                <a:srgbClr val="433206"/>
              </a:gs>
              <a:gs pos="50000">
                <a:srgbClr val="906B0E"/>
              </a:gs>
              <a:gs pos="100000">
                <a:srgbClr val="433206"/>
              </a:gs>
            </a:gsLst>
            <a:lin ang="2700000" scaled="1"/>
            <a:tileRect/>
          </a:gradFill>
          <a:ln w="0">
            <a:noFill/>
          </a:ln>
        </p:spPr>
        <p:txBody>
          <a:bodyPr/>
          <a:lstStyle/>
          <a:p>
            <a:endParaRPr lang="zh-CN" altLang="en-US"/>
          </a:p>
        </p:txBody>
      </p:sp>
      <p:sp>
        <p:nvSpPr>
          <p:cNvPr id="8200" name="Freeform 11"/>
          <p:cNvSpPr/>
          <p:nvPr/>
        </p:nvSpPr>
        <p:spPr>
          <a:xfrm>
            <a:off x="900113" y="5157788"/>
            <a:ext cx="3681412" cy="539750"/>
          </a:xfrm>
          <a:custGeom>
            <a:avLst/>
            <a:gdLst/>
            <a:ahLst/>
            <a:cxnLst>
              <a:cxn ang="0">
                <a:pos x="3161286" y="539750"/>
              </a:cxn>
              <a:cxn ang="0">
                <a:pos x="0" y="539750"/>
              </a:cxn>
              <a:cxn ang="0">
                <a:pos x="753170" y="0"/>
              </a:cxn>
              <a:cxn ang="0">
                <a:pos x="3681412" y="0"/>
              </a:cxn>
              <a:cxn ang="0">
                <a:pos x="3161286" y="539750"/>
              </a:cxn>
            </a:cxnLst>
            <a:rect l="0" t="0" r="0" b="0"/>
            <a:pathLst>
              <a:path w="2180" h="284">
                <a:moveTo>
                  <a:pt x="1872" y="284"/>
                </a:moveTo>
                <a:lnTo>
                  <a:pt x="0" y="284"/>
                </a:lnTo>
                <a:lnTo>
                  <a:pt x="446" y="0"/>
                </a:lnTo>
                <a:lnTo>
                  <a:pt x="2180" y="0"/>
                </a:lnTo>
                <a:lnTo>
                  <a:pt x="1872" y="284"/>
                </a:lnTo>
                <a:close/>
              </a:path>
            </a:pathLst>
          </a:custGeom>
          <a:solidFill>
            <a:srgbClr val="990033"/>
          </a:solidFill>
          <a:ln w="0">
            <a:noFill/>
          </a:ln>
        </p:spPr>
        <p:txBody>
          <a:bodyPr/>
          <a:lstStyle/>
          <a:p>
            <a:endParaRPr lang="zh-CN" altLang="en-US"/>
          </a:p>
        </p:txBody>
      </p:sp>
      <p:sp>
        <p:nvSpPr>
          <p:cNvPr id="8201" name="Freeform 21"/>
          <p:cNvSpPr/>
          <p:nvPr/>
        </p:nvSpPr>
        <p:spPr>
          <a:xfrm>
            <a:off x="1006475" y="2322513"/>
            <a:ext cx="2597150" cy="3182937"/>
          </a:xfrm>
          <a:custGeom>
            <a:avLst/>
            <a:gdLst/>
            <a:ahLst/>
            <a:cxnLst>
              <a:cxn ang="0">
                <a:pos x="17087" y="2961766"/>
              </a:cxn>
              <a:cxn ang="0">
                <a:pos x="79737" y="2548273"/>
              </a:cxn>
              <a:cxn ang="0">
                <a:pos x="176561" y="2173244"/>
              </a:cxn>
              <a:cxn ang="0">
                <a:pos x="301862" y="1831872"/>
              </a:cxn>
              <a:cxn ang="0">
                <a:pos x="449945" y="1526560"/>
              </a:cxn>
              <a:cxn ang="0">
                <a:pos x="612267" y="1254904"/>
              </a:cxn>
              <a:cxn ang="0">
                <a:pos x="783132" y="1016905"/>
              </a:cxn>
              <a:cxn ang="0">
                <a:pos x="956845" y="810158"/>
              </a:cxn>
              <a:cxn ang="0">
                <a:pos x="1127710" y="634664"/>
              </a:cxn>
              <a:cxn ang="0">
                <a:pos x="1290032" y="490422"/>
              </a:cxn>
              <a:cxn ang="0">
                <a:pos x="1438115" y="372625"/>
              </a:cxn>
              <a:cxn ang="0">
                <a:pos x="1560568" y="283676"/>
              </a:cxn>
              <a:cxn ang="0">
                <a:pos x="1657392" y="221171"/>
              </a:cxn>
              <a:cxn ang="0">
                <a:pos x="1720042" y="185110"/>
              </a:cxn>
              <a:cxn ang="0">
                <a:pos x="1742824" y="173090"/>
              </a:cxn>
              <a:cxn ang="0">
                <a:pos x="2460458" y="67313"/>
              </a:cxn>
              <a:cxn ang="0">
                <a:pos x="2232638" y="394261"/>
              </a:cxn>
              <a:cxn ang="0">
                <a:pos x="2212703" y="399069"/>
              </a:cxn>
              <a:cxn ang="0">
                <a:pos x="2155748" y="415897"/>
              </a:cxn>
              <a:cxn ang="0">
                <a:pos x="2067468" y="444746"/>
              </a:cxn>
              <a:cxn ang="0">
                <a:pos x="1950710" y="492826"/>
              </a:cxn>
              <a:cxn ang="0">
                <a:pos x="1808323" y="560139"/>
              </a:cxn>
              <a:cxn ang="0">
                <a:pos x="1648849" y="649088"/>
              </a:cxn>
              <a:cxn ang="0">
                <a:pos x="1472288" y="764482"/>
              </a:cxn>
              <a:cxn ang="0">
                <a:pos x="1287184" y="908724"/>
              </a:cxn>
              <a:cxn ang="0">
                <a:pos x="1096385" y="1081814"/>
              </a:cxn>
              <a:cxn ang="0">
                <a:pos x="899890" y="1293369"/>
              </a:cxn>
              <a:cxn ang="0">
                <a:pos x="709090" y="1538580"/>
              </a:cxn>
              <a:cxn ang="0">
                <a:pos x="526834" y="1824660"/>
              </a:cxn>
              <a:cxn ang="0">
                <a:pos x="353121" y="2154012"/>
              </a:cxn>
              <a:cxn ang="0">
                <a:pos x="196495" y="2529041"/>
              </a:cxn>
              <a:cxn ang="0">
                <a:pos x="59803" y="2952150"/>
              </a:cxn>
            </a:cxnLst>
            <a:rect l="0" t="0" r="0" b="0"/>
            <a:pathLst>
              <a:path w="1824" h="2648">
                <a:moveTo>
                  <a:pt x="0" y="2648"/>
                </a:moveTo>
                <a:lnTo>
                  <a:pt x="12" y="2464"/>
                </a:lnTo>
                <a:lnTo>
                  <a:pt x="32" y="2288"/>
                </a:lnTo>
                <a:lnTo>
                  <a:pt x="56" y="2120"/>
                </a:lnTo>
                <a:lnTo>
                  <a:pt x="88" y="1960"/>
                </a:lnTo>
                <a:lnTo>
                  <a:pt x="124" y="1808"/>
                </a:lnTo>
                <a:lnTo>
                  <a:pt x="166" y="1662"/>
                </a:lnTo>
                <a:lnTo>
                  <a:pt x="212" y="1524"/>
                </a:lnTo>
                <a:lnTo>
                  <a:pt x="262" y="1394"/>
                </a:lnTo>
                <a:lnTo>
                  <a:pt x="316" y="1270"/>
                </a:lnTo>
                <a:lnTo>
                  <a:pt x="372" y="1154"/>
                </a:lnTo>
                <a:lnTo>
                  <a:pt x="430" y="1044"/>
                </a:lnTo>
                <a:lnTo>
                  <a:pt x="490" y="942"/>
                </a:lnTo>
                <a:lnTo>
                  <a:pt x="550" y="846"/>
                </a:lnTo>
                <a:lnTo>
                  <a:pt x="612" y="758"/>
                </a:lnTo>
                <a:lnTo>
                  <a:pt x="672" y="674"/>
                </a:lnTo>
                <a:lnTo>
                  <a:pt x="734" y="598"/>
                </a:lnTo>
                <a:lnTo>
                  <a:pt x="792" y="528"/>
                </a:lnTo>
                <a:lnTo>
                  <a:pt x="850" y="464"/>
                </a:lnTo>
                <a:lnTo>
                  <a:pt x="906" y="408"/>
                </a:lnTo>
                <a:lnTo>
                  <a:pt x="960" y="356"/>
                </a:lnTo>
                <a:lnTo>
                  <a:pt x="1010" y="310"/>
                </a:lnTo>
                <a:lnTo>
                  <a:pt x="1056" y="270"/>
                </a:lnTo>
                <a:lnTo>
                  <a:pt x="1096" y="236"/>
                </a:lnTo>
                <a:lnTo>
                  <a:pt x="1134" y="208"/>
                </a:lnTo>
                <a:lnTo>
                  <a:pt x="1164" y="184"/>
                </a:lnTo>
                <a:lnTo>
                  <a:pt x="1190" y="166"/>
                </a:lnTo>
                <a:lnTo>
                  <a:pt x="1208" y="154"/>
                </a:lnTo>
                <a:lnTo>
                  <a:pt x="1220" y="146"/>
                </a:lnTo>
                <a:lnTo>
                  <a:pt x="1224" y="144"/>
                </a:lnTo>
                <a:lnTo>
                  <a:pt x="848" y="0"/>
                </a:lnTo>
                <a:lnTo>
                  <a:pt x="1728" y="56"/>
                </a:lnTo>
                <a:lnTo>
                  <a:pt x="1824" y="480"/>
                </a:lnTo>
                <a:lnTo>
                  <a:pt x="1568" y="328"/>
                </a:lnTo>
                <a:lnTo>
                  <a:pt x="1564" y="328"/>
                </a:lnTo>
                <a:lnTo>
                  <a:pt x="1554" y="332"/>
                </a:lnTo>
                <a:lnTo>
                  <a:pt x="1538" y="338"/>
                </a:lnTo>
                <a:lnTo>
                  <a:pt x="1514" y="346"/>
                </a:lnTo>
                <a:lnTo>
                  <a:pt x="1486" y="356"/>
                </a:lnTo>
                <a:lnTo>
                  <a:pt x="1452" y="370"/>
                </a:lnTo>
                <a:lnTo>
                  <a:pt x="1412" y="388"/>
                </a:lnTo>
                <a:lnTo>
                  <a:pt x="1370" y="410"/>
                </a:lnTo>
                <a:lnTo>
                  <a:pt x="1322" y="436"/>
                </a:lnTo>
                <a:lnTo>
                  <a:pt x="1270" y="466"/>
                </a:lnTo>
                <a:lnTo>
                  <a:pt x="1216" y="500"/>
                </a:lnTo>
                <a:lnTo>
                  <a:pt x="1158" y="540"/>
                </a:lnTo>
                <a:lnTo>
                  <a:pt x="1098" y="584"/>
                </a:lnTo>
                <a:lnTo>
                  <a:pt x="1034" y="636"/>
                </a:lnTo>
                <a:lnTo>
                  <a:pt x="970" y="692"/>
                </a:lnTo>
                <a:lnTo>
                  <a:pt x="904" y="756"/>
                </a:lnTo>
                <a:lnTo>
                  <a:pt x="836" y="824"/>
                </a:lnTo>
                <a:lnTo>
                  <a:pt x="770" y="900"/>
                </a:lnTo>
                <a:lnTo>
                  <a:pt x="700" y="984"/>
                </a:lnTo>
                <a:lnTo>
                  <a:pt x="632" y="1076"/>
                </a:lnTo>
                <a:lnTo>
                  <a:pt x="566" y="1174"/>
                </a:lnTo>
                <a:lnTo>
                  <a:pt x="498" y="1280"/>
                </a:lnTo>
                <a:lnTo>
                  <a:pt x="434" y="1394"/>
                </a:lnTo>
                <a:lnTo>
                  <a:pt x="370" y="1518"/>
                </a:lnTo>
                <a:lnTo>
                  <a:pt x="308" y="1650"/>
                </a:lnTo>
                <a:lnTo>
                  <a:pt x="248" y="1792"/>
                </a:lnTo>
                <a:lnTo>
                  <a:pt x="192" y="1944"/>
                </a:lnTo>
                <a:lnTo>
                  <a:pt x="138" y="2104"/>
                </a:lnTo>
                <a:lnTo>
                  <a:pt x="88" y="2274"/>
                </a:lnTo>
                <a:lnTo>
                  <a:pt x="42" y="2456"/>
                </a:lnTo>
                <a:lnTo>
                  <a:pt x="0" y="2648"/>
                </a:lnTo>
                <a:close/>
              </a:path>
            </a:pathLst>
          </a:custGeom>
          <a:gradFill rotWithShape="1">
            <a:gsLst>
              <a:gs pos="0">
                <a:srgbClr val="D11364"/>
              </a:gs>
              <a:gs pos="100000">
                <a:srgbClr val="61092E"/>
              </a:gs>
            </a:gsLst>
            <a:lin ang="5400000" scaled="1"/>
            <a:tileRect/>
          </a:gradFill>
          <a:ln w="0">
            <a:noFill/>
          </a:ln>
        </p:spPr>
        <p:txBody>
          <a:bodyPr/>
          <a:lstStyle/>
          <a:p>
            <a:endParaRPr lang="zh-CN" altLang="en-US"/>
          </a:p>
        </p:txBody>
      </p:sp>
      <p:sp>
        <p:nvSpPr>
          <p:cNvPr id="8202" name="Rectangle 22"/>
          <p:cNvSpPr/>
          <p:nvPr/>
        </p:nvSpPr>
        <p:spPr>
          <a:xfrm>
            <a:off x="3165475" y="3186113"/>
            <a:ext cx="2497138" cy="304800"/>
          </a:xfrm>
          <a:prstGeom prst="rect">
            <a:avLst/>
          </a:prstGeom>
          <a:gradFill rotWithShape="1">
            <a:gsLst>
              <a:gs pos="0">
                <a:srgbClr val="00684D"/>
              </a:gs>
              <a:gs pos="50000">
                <a:srgbClr val="00906A"/>
              </a:gs>
              <a:gs pos="100000">
                <a:srgbClr val="00684D"/>
              </a:gs>
            </a:gsLst>
            <a:lin ang="2700000" scaled="1"/>
            <a:tileRect/>
          </a:gradFill>
          <a:ln w="9525">
            <a:noFill/>
          </a:ln>
        </p:spPr>
        <p:txBody>
          <a:bodyPr wrap="none" anchor="ctr" anchorCtr="0"/>
          <a:lstStyle/>
          <a:p>
            <a:pPr algn="ctr" eaLnBrk="0" hangingPunct="0">
              <a:buClrTx/>
              <a:buFontTx/>
              <a:buNone/>
            </a:pPr>
            <a:endParaRPr lang="zh-CN" altLang="zh-CN" sz="2400" b="1" dirty="0">
              <a:solidFill>
                <a:schemeClr val="bg1"/>
              </a:solidFill>
              <a:latin typeface="Verdana" panose="020B0604030504040204" pitchFamily="34" charset="0"/>
              <a:ea typeface="宋体" panose="02010600030101010101" pitchFamily="2" charset="-122"/>
            </a:endParaRPr>
          </a:p>
        </p:txBody>
      </p:sp>
      <p:sp>
        <p:nvSpPr>
          <p:cNvPr id="8203" name="Rectangle 23"/>
          <p:cNvSpPr/>
          <p:nvPr/>
        </p:nvSpPr>
        <p:spPr>
          <a:xfrm>
            <a:off x="2373313" y="3978275"/>
            <a:ext cx="2720975" cy="298450"/>
          </a:xfrm>
          <a:prstGeom prst="rect">
            <a:avLst/>
          </a:prstGeom>
          <a:gradFill rotWithShape="1">
            <a:gsLst>
              <a:gs pos="0">
                <a:srgbClr val="5D2FB9"/>
              </a:gs>
              <a:gs pos="50000">
                <a:srgbClr val="8041FF"/>
              </a:gs>
              <a:gs pos="100000">
                <a:srgbClr val="5D2FB9"/>
              </a:gs>
            </a:gsLst>
            <a:lin ang="2700000" scaled="1"/>
            <a:tileRect/>
          </a:gradFill>
          <a:ln w="9525">
            <a:noFill/>
          </a:ln>
        </p:spPr>
        <p:txBody>
          <a:bodyPr wrap="none" anchor="ctr" anchorCtr="0"/>
          <a:lstStyle/>
          <a:p>
            <a:pPr algn="ctr" eaLnBrk="0" hangingPunct="0">
              <a:buClrTx/>
              <a:buFontTx/>
              <a:buNone/>
            </a:pPr>
            <a:endParaRPr lang="zh-CN" altLang="zh-CN" sz="2400" b="1" dirty="0">
              <a:solidFill>
                <a:schemeClr val="bg1"/>
              </a:solidFill>
              <a:latin typeface="Verdana" panose="020B0604030504040204" pitchFamily="34" charset="0"/>
              <a:ea typeface="宋体" panose="02010600030101010101" pitchFamily="2" charset="-122"/>
            </a:endParaRPr>
          </a:p>
        </p:txBody>
      </p:sp>
      <p:sp>
        <p:nvSpPr>
          <p:cNvPr id="8204" name="Freeform 24"/>
          <p:cNvSpPr/>
          <p:nvPr/>
        </p:nvSpPr>
        <p:spPr>
          <a:xfrm>
            <a:off x="1619250" y="4292600"/>
            <a:ext cx="3459163" cy="544513"/>
          </a:xfrm>
          <a:custGeom>
            <a:avLst/>
            <a:gdLst/>
            <a:ahLst/>
            <a:cxnLst>
              <a:cxn ang="0">
                <a:pos x="2942315" y="544513"/>
              </a:cxn>
              <a:cxn ang="0">
                <a:pos x="0" y="544513"/>
              </a:cxn>
              <a:cxn ang="0">
                <a:pos x="753314" y="0"/>
              </a:cxn>
              <a:cxn ang="0">
                <a:pos x="3459163" y="0"/>
              </a:cxn>
              <a:cxn ang="0">
                <a:pos x="2942315" y="544513"/>
              </a:cxn>
            </a:cxnLst>
            <a:rect l="0" t="0" r="0" b="0"/>
            <a:pathLst>
              <a:path w="2048" h="286">
                <a:moveTo>
                  <a:pt x="1742" y="286"/>
                </a:moveTo>
                <a:lnTo>
                  <a:pt x="0" y="286"/>
                </a:lnTo>
                <a:lnTo>
                  <a:pt x="446" y="0"/>
                </a:lnTo>
                <a:lnTo>
                  <a:pt x="2048" y="0"/>
                </a:lnTo>
                <a:lnTo>
                  <a:pt x="1742" y="286"/>
                </a:lnTo>
                <a:close/>
              </a:path>
            </a:pathLst>
          </a:custGeom>
          <a:solidFill>
            <a:srgbClr val="FF9966"/>
          </a:solidFill>
          <a:ln w="0">
            <a:noFill/>
          </a:ln>
        </p:spPr>
        <p:txBody>
          <a:bodyPr/>
          <a:lstStyle/>
          <a:p>
            <a:endParaRPr lang="zh-CN" altLang="en-US"/>
          </a:p>
        </p:txBody>
      </p:sp>
      <p:sp>
        <p:nvSpPr>
          <p:cNvPr id="8205" name="Rectangle 25"/>
          <p:cNvSpPr/>
          <p:nvPr/>
        </p:nvSpPr>
        <p:spPr>
          <a:xfrm>
            <a:off x="1654175" y="4841875"/>
            <a:ext cx="2944813" cy="298450"/>
          </a:xfrm>
          <a:prstGeom prst="rect">
            <a:avLst/>
          </a:prstGeom>
          <a:gradFill rotWithShape="1">
            <a:gsLst>
              <a:gs pos="0">
                <a:srgbClr val="A0523A"/>
              </a:gs>
              <a:gs pos="50000">
                <a:srgbClr val="DC7150"/>
              </a:gs>
              <a:gs pos="100000">
                <a:srgbClr val="A0523A"/>
              </a:gs>
            </a:gsLst>
            <a:lin ang="2700000" scaled="1"/>
            <a:tileRect/>
          </a:gradFill>
          <a:ln w="9525">
            <a:noFill/>
          </a:ln>
        </p:spPr>
        <p:txBody>
          <a:bodyPr wrap="none" anchor="ctr" anchorCtr="0"/>
          <a:lstStyle/>
          <a:p>
            <a:pPr algn="ctr" eaLnBrk="0" hangingPunct="0">
              <a:buClrTx/>
              <a:buFontTx/>
              <a:buNone/>
            </a:pPr>
            <a:r>
              <a:rPr lang="en-US" altLang="zh-CN" sz="2400" b="1" dirty="0">
                <a:solidFill>
                  <a:schemeClr val="bg1"/>
                </a:solidFill>
                <a:latin typeface="Verdana" panose="020B0604030504040204" pitchFamily="34" charset="0"/>
                <a:ea typeface="宋体" panose="02010600030101010101" pitchFamily="2" charset="-122"/>
              </a:rPr>
              <a:t> </a:t>
            </a:r>
          </a:p>
        </p:txBody>
      </p:sp>
      <p:sp>
        <p:nvSpPr>
          <p:cNvPr id="8206" name="Rectangle 26"/>
          <p:cNvSpPr/>
          <p:nvPr/>
        </p:nvSpPr>
        <p:spPr>
          <a:xfrm>
            <a:off x="933450" y="5707063"/>
            <a:ext cx="3168650" cy="296862"/>
          </a:xfrm>
          <a:prstGeom prst="rect">
            <a:avLst/>
          </a:prstGeom>
          <a:gradFill rotWithShape="1">
            <a:gsLst>
              <a:gs pos="0">
                <a:srgbClr val="977514"/>
              </a:gs>
              <a:gs pos="50000">
                <a:srgbClr val="D0A11C"/>
              </a:gs>
              <a:gs pos="100000">
                <a:srgbClr val="977514"/>
              </a:gs>
            </a:gsLst>
            <a:lin ang="2700000" scaled="1"/>
            <a:tileRect/>
          </a:gradFill>
          <a:ln w="9525">
            <a:noFill/>
          </a:ln>
        </p:spPr>
        <p:txBody>
          <a:bodyPr wrap="none" anchor="ctr" anchorCtr="0"/>
          <a:lstStyle/>
          <a:p>
            <a:pPr algn="ctr" eaLnBrk="0" hangingPunct="0">
              <a:buClrTx/>
              <a:buFontTx/>
              <a:buNone/>
            </a:pPr>
            <a:endParaRPr lang="zh-CN" altLang="zh-CN" sz="2400" b="1" dirty="0">
              <a:solidFill>
                <a:schemeClr val="bg1"/>
              </a:solidFill>
              <a:latin typeface="Verdana" panose="020B0604030504040204" pitchFamily="34" charset="0"/>
              <a:ea typeface="宋体" panose="02010600030101010101" pitchFamily="2" charset="-122"/>
            </a:endParaRPr>
          </a:p>
        </p:txBody>
      </p:sp>
      <p:sp>
        <p:nvSpPr>
          <p:cNvPr id="8207" name="Text Box 75"/>
          <p:cNvSpPr txBox="1"/>
          <p:nvPr/>
        </p:nvSpPr>
        <p:spPr>
          <a:xfrm>
            <a:off x="4211638" y="1484313"/>
            <a:ext cx="4535487" cy="1383665"/>
          </a:xfrm>
          <a:prstGeom prst="rect">
            <a:avLst/>
          </a:prstGeom>
          <a:noFill/>
          <a:ln w="9525">
            <a:noFill/>
          </a:ln>
        </p:spPr>
        <p:txBody>
          <a:bodyPr anchor="t" anchorCtr="0">
            <a:spAutoFit/>
          </a:bodyPr>
          <a:lstStyle/>
          <a:p>
            <a:pPr eaLnBrk="0" hangingPunct="0">
              <a:buClrTx/>
              <a:buFontTx/>
              <a:buNone/>
            </a:pPr>
            <a:r>
              <a:rPr lang="zh-CN" altLang="en-US" b="1" dirty="0">
                <a:solidFill>
                  <a:schemeClr val="tx1"/>
                </a:solidFill>
                <a:latin typeface="Times New Roman" panose="02020603050405020304" pitchFamily="18" charset="0"/>
                <a:ea typeface="仿宋_GB2312" pitchFamily="49" charset="-122"/>
              </a:rPr>
              <a:t>三网合一、全光网络、</a:t>
            </a:r>
          </a:p>
          <a:p>
            <a:pPr eaLnBrk="0" hangingPunct="0">
              <a:buClrTx/>
              <a:buFontTx/>
              <a:buNone/>
            </a:pPr>
            <a:r>
              <a:rPr lang="zh-CN" altLang="en-US" b="1" dirty="0">
                <a:solidFill>
                  <a:schemeClr val="tx1"/>
                </a:solidFill>
                <a:latin typeface="Times New Roman" panose="02020603050405020304" pitchFamily="18" charset="0"/>
                <a:ea typeface="仿宋_GB2312" pitchFamily="49" charset="-122"/>
              </a:rPr>
              <a:t>物联网 、软件定义网络</a:t>
            </a:r>
            <a:r>
              <a:rPr lang="en-US" altLang="zh-CN" b="1" dirty="0">
                <a:solidFill>
                  <a:schemeClr val="tx1"/>
                </a:solidFill>
                <a:latin typeface="Times New Roman" panose="02020603050405020304" pitchFamily="18" charset="0"/>
                <a:ea typeface="仿宋_GB2312" pitchFamily="49" charset="-122"/>
              </a:rPr>
              <a:t> ... …  </a:t>
            </a:r>
          </a:p>
        </p:txBody>
      </p:sp>
      <p:sp>
        <p:nvSpPr>
          <p:cNvPr id="8208" name="Rectangle 77"/>
          <p:cNvSpPr/>
          <p:nvPr/>
        </p:nvSpPr>
        <p:spPr>
          <a:xfrm>
            <a:off x="2540000" y="6140450"/>
            <a:ext cx="184150" cy="457200"/>
          </a:xfrm>
          <a:prstGeom prst="rect">
            <a:avLst/>
          </a:prstGeom>
          <a:noFill/>
          <a:ln w="12700">
            <a:noFill/>
          </a:ln>
        </p:spPr>
        <p:txBody>
          <a:bodyPr wrap="none" anchor="t" anchorCtr="0">
            <a:spAutoFit/>
          </a:bodyPr>
          <a:lstStyle/>
          <a:p>
            <a:pPr marL="342900" indent="-342900" eaLnBrk="0" hangingPunct="0">
              <a:buClrTx/>
              <a:buFontTx/>
              <a:buNone/>
            </a:pPr>
            <a:endParaRPr lang="zh-CN" altLang="zh-CN" sz="2400" b="1" dirty="0">
              <a:solidFill>
                <a:schemeClr val="tx1"/>
              </a:solidFill>
              <a:latin typeface="Verdana" panose="020B0604030504040204" pitchFamily="34" charset="0"/>
              <a:ea typeface="宋体" panose="02010600030101010101" pitchFamily="2" charset="-122"/>
            </a:endParaRPr>
          </a:p>
        </p:txBody>
      </p:sp>
      <p:sp>
        <p:nvSpPr>
          <p:cNvPr id="8209" name="Rectangle 78"/>
          <p:cNvSpPr/>
          <p:nvPr/>
        </p:nvSpPr>
        <p:spPr>
          <a:xfrm>
            <a:off x="1403350" y="5157788"/>
            <a:ext cx="2673350" cy="519112"/>
          </a:xfrm>
          <a:prstGeom prst="rect">
            <a:avLst/>
          </a:prstGeom>
          <a:noFill/>
          <a:ln w="12700">
            <a:noFill/>
          </a:ln>
        </p:spPr>
        <p:txBody>
          <a:bodyPr wrap="none" anchor="t" anchorCtr="0">
            <a:spAutoFit/>
          </a:bodyPr>
          <a:lstStyle/>
          <a:p>
            <a:pPr marL="342900" indent="-342900">
              <a:spcBef>
                <a:spcPct val="20000"/>
              </a:spcBef>
              <a:buNone/>
            </a:pPr>
            <a:r>
              <a:rPr lang="zh-CN" altLang="en-US" b="1" dirty="0">
                <a:solidFill>
                  <a:schemeClr val="bg1"/>
                </a:solidFill>
                <a:latin typeface="Times New Roman" panose="02020603050405020304" pitchFamily="18" charset="0"/>
                <a:ea typeface="黑体" panose="02010609060101010101" pitchFamily="49" charset="-122"/>
              </a:rPr>
              <a:t>单计算机为中心</a:t>
            </a:r>
          </a:p>
        </p:txBody>
      </p:sp>
      <p:sp>
        <p:nvSpPr>
          <p:cNvPr id="8210" name="Rectangle 79"/>
          <p:cNvSpPr/>
          <p:nvPr/>
        </p:nvSpPr>
        <p:spPr>
          <a:xfrm>
            <a:off x="2590800" y="4267200"/>
            <a:ext cx="1606550" cy="519113"/>
          </a:xfrm>
          <a:prstGeom prst="rect">
            <a:avLst/>
          </a:prstGeom>
          <a:noFill/>
          <a:ln w="12700">
            <a:noFill/>
          </a:ln>
        </p:spPr>
        <p:txBody>
          <a:bodyPr wrap="none" anchor="t" anchorCtr="0">
            <a:spAutoFit/>
          </a:bodyPr>
          <a:lstStyle/>
          <a:p>
            <a:pPr marL="342900" indent="-342900">
              <a:spcBef>
                <a:spcPct val="20000"/>
              </a:spcBef>
              <a:buNone/>
            </a:pPr>
            <a:r>
              <a:rPr lang="zh-CN" altLang="en-US" b="1" dirty="0">
                <a:solidFill>
                  <a:schemeClr val="bg1"/>
                </a:solidFill>
                <a:latin typeface="Times New Roman" panose="02020603050405020304" pitchFamily="18" charset="0"/>
                <a:ea typeface="黑体" panose="02010609060101010101" pitchFamily="49" charset="-122"/>
              </a:rPr>
              <a:t>分组交换</a:t>
            </a:r>
          </a:p>
        </p:txBody>
      </p:sp>
      <p:sp>
        <p:nvSpPr>
          <p:cNvPr id="8211" name="Rectangle 80"/>
          <p:cNvSpPr/>
          <p:nvPr/>
        </p:nvSpPr>
        <p:spPr>
          <a:xfrm>
            <a:off x="2590800" y="3617913"/>
            <a:ext cx="184150" cy="519112"/>
          </a:xfrm>
          <a:prstGeom prst="rect">
            <a:avLst/>
          </a:prstGeom>
          <a:noFill/>
          <a:ln w="12700">
            <a:noFill/>
          </a:ln>
        </p:spPr>
        <p:txBody>
          <a:bodyPr wrap="none" anchor="t" anchorCtr="0">
            <a:spAutoFit/>
          </a:bodyPr>
          <a:lstStyle/>
          <a:p>
            <a:pPr marL="342900" indent="-342900">
              <a:spcBef>
                <a:spcPct val="20000"/>
              </a:spcBef>
              <a:buNone/>
            </a:pPr>
            <a:endParaRPr lang="zh-CN" altLang="zh-CN" b="1" dirty="0">
              <a:solidFill>
                <a:schemeClr val="bg1"/>
              </a:solidFill>
              <a:latin typeface="Times New Roman" panose="02020603050405020304" pitchFamily="18" charset="0"/>
              <a:ea typeface="黑体" panose="02010609060101010101" pitchFamily="49" charset="-122"/>
            </a:endParaRPr>
          </a:p>
        </p:txBody>
      </p:sp>
      <p:sp>
        <p:nvSpPr>
          <p:cNvPr id="8212" name="Rectangle 81"/>
          <p:cNvSpPr/>
          <p:nvPr/>
        </p:nvSpPr>
        <p:spPr>
          <a:xfrm>
            <a:off x="3094038" y="3475038"/>
            <a:ext cx="1962150" cy="519112"/>
          </a:xfrm>
          <a:prstGeom prst="rect">
            <a:avLst/>
          </a:prstGeom>
          <a:noFill/>
          <a:ln w="12700">
            <a:noFill/>
          </a:ln>
        </p:spPr>
        <p:txBody>
          <a:bodyPr wrap="none" anchor="t" anchorCtr="0">
            <a:spAutoFit/>
          </a:bodyPr>
          <a:lstStyle/>
          <a:p>
            <a:pPr marL="342900" indent="-342900">
              <a:spcBef>
                <a:spcPct val="20000"/>
              </a:spcBef>
              <a:buNone/>
            </a:pPr>
            <a:r>
              <a:rPr lang="zh-CN" altLang="en-US" b="1" dirty="0">
                <a:solidFill>
                  <a:schemeClr val="bg1"/>
                </a:solidFill>
                <a:latin typeface="Times New Roman" panose="02020603050405020304" pitchFamily="18" charset="0"/>
                <a:ea typeface="黑体" panose="02010609060101010101" pitchFamily="49" charset="-122"/>
              </a:rPr>
              <a:t>网络标准化</a:t>
            </a:r>
          </a:p>
        </p:txBody>
      </p:sp>
      <p:sp>
        <p:nvSpPr>
          <p:cNvPr id="8213" name="Rectangle 82"/>
          <p:cNvSpPr/>
          <p:nvPr/>
        </p:nvSpPr>
        <p:spPr>
          <a:xfrm>
            <a:off x="5724525" y="2852738"/>
            <a:ext cx="2736850" cy="519112"/>
          </a:xfrm>
          <a:prstGeom prst="rect">
            <a:avLst/>
          </a:prstGeom>
          <a:noFill/>
          <a:ln w="12700">
            <a:noFill/>
          </a:ln>
        </p:spPr>
        <p:txBody>
          <a:bodyPr wrap="none" anchor="t" anchorCtr="0">
            <a:spAutoFit/>
          </a:bodyPr>
          <a:lstStyle/>
          <a:p>
            <a:pPr marL="342900" indent="-342900">
              <a:spcBef>
                <a:spcPct val="20000"/>
              </a:spcBef>
              <a:buNone/>
            </a:pPr>
            <a:r>
              <a:rPr lang="en-US" altLang="zh-CN" b="1" dirty="0">
                <a:solidFill>
                  <a:schemeClr val="tx1"/>
                </a:solidFill>
                <a:latin typeface="Times New Roman" panose="02020603050405020304" pitchFamily="18" charset="0"/>
                <a:ea typeface="黑体" panose="02010609060101010101" pitchFamily="49" charset="-122"/>
              </a:rPr>
              <a:t>   </a:t>
            </a:r>
            <a:r>
              <a:rPr lang="zh-CN" altLang="en-US" sz="2400" b="1" dirty="0">
                <a:solidFill>
                  <a:schemeClr val="tx1"/>
                </a:solidFill>
                <a:latin typeface="Times New Roman" panose="02020603050405020304" pitchFamily="18" charset="0"/>
                <a:ea typeface="黑体" panose="02010609060101010101" pitchFamily="49" charset="-122"/>
              </a:rPr>
              <a:t>局域网、</a:t>
            </a:r>
            <a:r>
              <a:rPr lang="en-US" altLang="zh-CN" sz="2400" b="1" dirty="0">
                <a:solidFill>
                  <a:schemeClr val="tx1"/>
                </a:solidFill>
                <a:latin typeface="Times New Roman" panose="02020603050405020304" pitchFamily="18" charset="0"/>
                <a:ea typeface="黑体" panose="02010609060101010101" pitchFamily="49" charset="-122"/>
              </a:rPr>
              <a:t>Internet</a:t>
            </a:r>
          </a:p>
        </p:txBody>
      </p:sp>
      <p:sp>
        <p:nvSpPr>
          <p:cNvPr id="8214" name="Rectangle 83"/>
          <p:cNvSpPr/>
          <p:nvPr/>
        </p:nvSpPr>
        <p:spPr>
          <a:xfrm>
            <a:off x="3886200" y="2609850"/>
            <a:ext cx="1606550" cy="519113"/>
          </a:xfrm>
          <a:prstGeom prst="rect">
            <a:avLst/>
          </a:prstGeom>
          <a:noFill/>
          <a:ln w="12700">
            <a:noFill/>
          </a:ln>
        </p:spPr>
        <p:txBody>
          <a:bodyPr wrap="none" anchor="t" anchorCtr="0">
            <a:spAutoFit/>
          </a:bodyPr>
          <a:lstStyle/>
          <a:p>
            <a:pPr marL="342900" indent="-342900">
              <a:spcBef>
                <a:spcPct val="20000"/>
              </a:spcBef>
              <a:buNone/>
            </a:pPr>
            <a:r>
              <a:rPr lang="zh-CN" altLang="en-US" b="1" dirty="0">
                <a:solidFill>
                  <a:schemeClr val="bg1"/>
                </a:solidFill>
                <a:latin typeface="Times New Roman" panose="02020603050405020304" pitchFamily="18" charset="0"/>
                <a:ea typeface="黑体" panose="02010609060101010101" pitchFamily="49" charset="-122"/>
              </a:rPr>
              <a:t>飞速发展</a:t>
            </a:r>
          </a:p>
        </p:txBody>
      </p:sp>
      <p:sp>
        <p:nvSpPr>
          <p:cNvPr id="8215" name="Rectangle 84"/>
          <p:cNvSpPr/>
          <p:nvPr/>
        </p:nvSpPr>
        <p:spPr>
          <a:xfrm>
            <a:off x="5076825" y="4508500"/>
            <a:ext cx="1704975" cy="519113"/>
          </a:xfrm>
          <a:prstGeom prst="rect">
            <a:avLst/>
          </a:prstGeom>
          <a:noFill/>
          <a:ln w="12700">
            <a:noFill/>
          </a:ln>
        </p:spPr>
        <p:txBody>
          <a:bodyPr wrap="none" anchor="t" anchorCtr="0">
            <a:spAutoFit/>
          </a:bodyPr>
          <a:lstStyle/>
          <a:p>
            <a:pPr marL="342900" indent="-342900">
              <a:spcBef>
                <a:spcPct val="20000"/>
              </a:spcBef>
              <a:buNone/>
            </a:pPr>
            <a:r>
              <a:rPr lang="en-US" altLang="zh-CN" b="1" dirty="0">
                <a:solidFill>
                  <a:schemeClr val="tx1"/>
                </a:solidFill>
                <a:latin typeface="Times New Roman" panose="02020603050405020304" pitchFamily="18" charset="0"/>
                <a:ea typeface="黑体" panose="02010609060101010101" pitchFamily="49" charset="-122"/>
              </a:rPr>
              <a:t>   </a:t>
            </a:r>
            <a:r>
              <a:rPr lang="en-US" altLang="zh-CN" sz="2400" b="1" dirty="0">
                <a:solidFill>
                  <a:schemeClr val="tx1"/>
                </a:solidFill>
                <a:latin typeface="Times New Roman" panose="02020603050405020304" pitchFamily="18" charset="0"/>
                <a:ea typeface="黑体" panose="02010609060101010101" pitchFamily="49" charset="-122"/>
              </a:rPr>
              <a:t>ARPAnet</a:t>
            </a:r>
          </a:p>
        </p:txBody>
      </p:sp>
      <p:sp>
        <p:nvSpPr>
          <p:cNvPr id="8216" name="Rectangle 85"/>
          <p:cNvSpPr/>
          <p:nvPr/>
        </p:nvSpPr>
        <p:spPr>
          <a:xfrm>
            <a:off x="5508625" y="3644900"/>
            <a:ext cx="2889250" cy="519113"/>
          </a:xfrm>
          <a:prstGeom prst="rect">
            <a:avLst/>
          </a:prstGeom>
          <a:noFill/>
          <a:ln w="12700">
            <a:noFill/>
          </a:ln>
        </p:spPr>
        <p:txBody>
          <a:bodyPr wrap="none" anchor="t" anchorCtr="0">
            <a:spAutoFit/>
          </a:bodyPr>
          <a:lstStyle/>
          <a:p>
            <a:pPr marL="342900" indent="-342900">
              <a:spcBef>
                <a:spcPct val="20000"/>
              </a:spcBef>
              <a:buNone/>
            </a:pPr>
            <a:r>
              <a:rPr lang="en-US" altLang="zh-CN" b="1" dirty="0">
                <a:solidFill>
                  <a:schemeClr val="tx1"/>
                </a:solidFill>
                <a:latin typeface="Times New Roman" panose="02020603050405020304" pitchFamily="18" charset="0"/>
                <a:ea typeface="黑体" panose="02010609060101010101" pitchFamily="49" charset="-122"/>
              </a:rPr>
              <a:t>   </a:t>
            </a:r>
            <a:r>
              <a:rPr lang="en-US" altLang="zh-CN" sz="2400" b="1" dirty="0">
                <a:solidFill>
                  <a:schemeClr val="tx1"/>
                </a:solidFill>
                <a:latin typeface="Times New Roman" panose="02020603050405020304" pitchFamily="18" charset="0"/>
                <a:ea typeface="黑体" panose="02010609060101010101" pitchFamily="49" charset="-122"/>
              </a:rPr>
              <a:t>ISO/OSI</a:t>
            </a:r>
            <a:r>
              <a:rPr lang="zh-CN" altLang="en-US" sz="2400" b="1" dirty="0">
                <a:solidFill>
                  <a:schemeClr val="tx1"/>
                </a:solidFill>
                <a:latin typeface="Times New Roman" panose="02020603050405020304" pitchFamily="18" charset="0"/>
                <a:ea typeface="黑体" panose="02010609060101010101" pitchFamily="49" charset="-122"/>
              </a:rPr>
              <a:t>、</a:t>
            </a:r>
            <a:r>
              <a:rPr lang="en-US" altLang="zh-CN" sz="2400" b="1" dirty="0">
                <a:solidFill>
                  <a:schemeClr val="tx1"/>
                </a:solidFill>
                <a:latin typeface="Times New Roman" panose="02020603050405020304" pitchFamily="18" charset="0"/>
                <a:ea typeface="黑体" panose="02010609060101010101" pitchFamily="49" charset="-122"/>
              </a:rPr>
              <a:t>TCP/IP</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Rectangle 2"/>
          <p:cNvSpPr>
            <a:spLocks noGrp="1"/>
          </p:cNvSpPr>
          <p:nvPr>
            <p:ph type="title"/>
          </p:nvPr>
        </p:nvSpPr>
        <p:spPr>
          <a:xfrm>
            <a:off x="1447800" y="188913"/>
            <a:ext cx="7696200" cy="720725"/>
          </a:xfrm>
        </p:spPr>
        <p:txBody>
          <a:bodyPr vert="horz" wrap="square" lIns="92075" tIns="46038" rIns="92075" bIns="46038" anchor="ctr" anchorCtr="0"/>
          <a:lstStyle/>
          <a:p>
            <a:pPr algn="r" eaLnBrk="1" hangingPunct="1"/>
            <a:r>
              <a:rPr lang="zh-CN" altLang="en-US" sz="3200" dirty="0">
                <a:solidFill>
                  <a:schemeClr val="bg1"/>
                </a:solidFill>
              </a:rPr>
              <a:t>以单计算机为中心的联机系统</a:t>
            </a:r>
          </a:p>
        </p:txBody>
      </p:sp>
      <p:graphicFrame>
        <p:nvGraphicFramePr>
          <p:cNvPr id="2050" name="Object 2"/>
          <p:cNvGraphicFramePr>
            <a:graphicFrameLocks noGrp="1" noChangeAspect="1"/>
          </p:cNvGraphicFramePr>
          <p:nvPr>
            <p:ph idx="1"/>
          </p:nvPr>
        </p:nvGraphicFramePr>
        <p:xfrm>
          <a:off x="900113" y="2032000"/>
          <a:ext cx="3743325" cy="3675063"/>
        </p:xfrm>
        <a:graphic>
          <a:graphicData uri="http://schemas.openxmlformats.org/presentationml/2006/ole">
            <mc:AlternateContent xmlns:mc="http://schemas.openxmlformats.org/markup-compatibility/2006">
              <mc:Choice xmlns:v="urn:schemas-microsoft-com:vml" Requires="v">
                <p:oleObj spid="_x0000_s7186" r:id="rId4" imgW="7469505" imgH="8609330" progId="Visio.Drawing.11">
                  <p:embed/>
                </p:oleObj>
              </mc:Choice>
              <mc:Fallback>
                <p:oleObj r:id="rId4" imgW="7469505" imgH="8609330" progId="Visio.Drawing.11">
                  <p:embed/>
                  <p:pic>
                    <p:nvPicPr>
                      <p:cNvPr id="0" name="图片 3077"/>
                      <p:cNvPicPr/>
                      <p:nvPr/>
                    </p:nvPicPr>
                    <p:blipFill>
                      <a:blip r:embed="rId5"/>
                      <a:stretch>
                        <a:fillRect/>
                      </a:stretch>
                    </p:blipFill>
                    <p:spPr>
                      <a:xfrm>
                        <a:off x="900113" y="2032000"/>
                        <a:ext cx="3743325" cy="3675063"/>
                      </a:xfrm>
                      <a:prstGeom prst="rect">
                        <a:avLst/>
                      </a:prstGeom>
                      <a:solidFill>
                        <a:schemeClr val="bg1"/>
                      </a:solidFill>
                      <a:ln w="38100">
                        <a:miter/>
                      </a:ln>
                    </p:spPr>
                  </p:pic>
                </p:oleObj>
              </mc:Fallback>
            </mc:AlternateContent>
          </a:graphicData>
        </a:graphic>
      </p:graphicFrame>
      <p:sp>
        <p:nvSpPr>
          <p:cNvPr id="407556" name="Rectangle 4"/>
          <p:cNvSpPr/>
          <p:nvPr/>
        </p:nvSpPr>
        <p:spPr>
          <a:xfrm>
            <a:off x="5292725" y="1484313"/>
            <a:ext cx="3529013" cy="4248150"/>
          </a:xfrm>
          <a:prstGeom prst="rect">
            <a:avLst/>
          </a:prstGeom>
          <a:noFill/>
          <a:ln w="9525">
            <a:noFill/>
          </a:ln>
        </p:spPr>
        <p:txBody>
          <a:bodyPr anchor="t" anchorCtr="0"/>
          <a:lstStyle/>
          <a:p>
            <a:pPr marL="342900" indent="-342900">
              <a:spcBef>
                <a:spcPct val="20000"/>
              </a:spcBef>
            </a:pPr>
            <a:r>
              <a:rPr lang="zh-CN" altLang="en-US" sz="3200" b="1" dirty="0">
                <a:solidFill>
                  <a:schemeClr val="bg2"/>
                </a:solidFill>
                <a:latin typeface="Times New Roman" panose="02020603050405020304" pitchFamily="18" charset="0"/>
                <a:ea typeface="黑体" panose="02010609060101010101" pitchFamily="49" charset="-122"/>
              </a:rPr>
              <a:t>特征</a:t>
            </a:r>
          </a:p>
          <a:p>
            <a:pPr marL="742950" lvl="1" indent="-285750">
              <a:spcBef>
                <a:spcPct val="20000"/>
              </a:spcBef>
              <a:buClr>
                <a:srgbClr val="003399"/>
              </a:buClr>
              <a:buFont typeface="Wingdings" panose="05000000000000000000" pitchFamily="2" charset="2"/>
              <a:buChar char="ü"/>
            </a:pPr>
            <a:r>
              <a:rPr lang="zh-CN" altLang="en-US" sz="2400" dirty="0">
                <a:solidFill>
                  <a:srgbClr val="003399"/>
                </a:solidFill>
                <a:latin typeface="Times New Roman" panose="02020603050405020304" pitchFamily="18" charset="0"/>
                <a:ea typeface="黑体" panose="02010609060101010101" pitchFamily="49" charset="-122"/>
              </a:rPr>
              <a:t>以单处理机为中心的联机网络</a:t>
            </a:r>
          </a:p>
          <a:p>
            <a:pPr marL="742950" lvl="1" indent="-285750">
              <a:spcBef>
                <a:spcPct val="20000"/>
              </a:spcBef>
              <a:buClr>
                <a:srgbClr val="003399"/>
              </a:buClr>
              <a:buFont typeface="Wingdings" panose="05000000000000000000" pitchFamily="2" charset="2"/>
              <a:buChar char="ü"/>
            </a:pPr>
            <a:r>
              <a:rPr lang="zh-CN" altLang="en-US" sz="2400" dirty="0">
                <a:solidFill>
                  <a:srgbClr val="003399"/>
                </a:solidFill>
                <a:latin typeface="Times New Roman" panose="02020603050405020304" pitchFamily="18" charset="0"/>
                <a:ea typeface="黑体" panose="02010609060101010101" pitchFamily="49" charset="-122"/>
              </a:rPr>
              <a:t>集中式控制</a:t>
            </a:r>
          </a:p>
          <a:p>
            <a:pPr marL="342900" indent="-342900">
              <a:lnSpc>
                <a:spcPct val="150000"/>
              </a:lnSpc>
              <a:spcBef>
                <a:spcPct val="20000"/>
              </a:spcBef>
            </a:pPr>
            <a:r>
              <a:rPr lang="zh-CN" altLang="en-US" sz="3200" b="1" dirty="0">
                <a:solidFill>
                  <a:schemeClr val="bg2"/>
                </a:solidFill>
                <a:latin typeface="Times New Roman" panose="02020603050405020304" pitchFamily="18" charset="0"/>
                <a:ea typeface="黑体" panose="02010609060101010101" pitchFamily="49" charset="-122"/>
              </a:rPr>
              <a:t>缺点</a:t>
            </a:r>
          </a:p>
          <a:p>
            <a:pPr marL="742950" lvl="1" indent="-285750">
              <a:spcBef>
                <a:spcPct val="20000"/>
              </a:spcBef>
              <a:buClr>
                <a:srgbClr val="003399"/>
              </a:buClr>
              <a:buFont typeface="Wingdings" panose="05000000000000000000" pitchFamily="2" charset="2"/>
              <a:buChar char="ü"/>
            </a:pPr>
            <a:r>
              <a:rPr lang="zh-CN" altLang="en-US" sz="2400" dirty="0">
                <a:solidFill>
                  <a:srgbClr val="003399"/>
                </a:solidFill>
                <a:latin typeface="Times New Roman" panose="02020603050405020304" pitchFamily="18" charset="0"/>
                <a:ea typeface="黑体" panose="02010609060101010101" pitchFamily="49" charset="-122"/>
              </a:rPr>
              <a:t>主机负荷重</a:t>
            </a:r>
          </a:p>
          <a:p>
            <a:pPr marL="742950" lvl="1" indent="-285750">
              <a:spcBef>
                <a:spcPct val="20000"/>
              </a:spcBef>
              <a:buClr>
                <a:srgbClr val="003399"/>
              </a:buClr>
              <a:buFont typeface="Wingdings" panose="05000000000000000000" pitchFamily="2" charset="2"/>
              <a:buChar char="ü"/>
            </a:pPr>
            <a:r>
              <a:rPr lang="zh-CN" altLang="en-US" sz="2400" dirty="0">
                <a:solidFill>
                  <a:srgbClr val="003399"/>
                </a:solidFill>
                <a:latin typeface="Times New Roman" panose="02020603050405020304" pitchFamily="18" charset="0"/>
                <a:ea typeface="黑体" panose="02010609060101010101" pitchFamily="49" charset="-122"/>
              </a:rPr>
              <a:t>线路利用率低</a:t>
            </a:r>
          </a:p>
          <a:p>
            <a:pPr marL="742950" lvl="1" indent="-285750">
              <a:spcBef>
                <a:spcPct val="20000"/>
              </a:spcBef>
              <a:buClr>
                <a:srgbClr val="003399"/>
              </a:buClr>
              <a:buFont typeface="Wingdings" panose="05000000000000000000" pitchFamily="2" charset="2"/>
              <a:buChar char="ü"/>
            </a:pPr>
            <a:r>
              <a:rPr lang="zh-CN" altLang="en-US" sz="2400" dirty="0">
                <a:solidFill>
                  <a:srgbClr val="003399"/>
                </a:solidFill>
                <a:latin typeface="Times New Roman" panose="02020603050405020304" pitchFamily="18" charset="0"/>
                <a:ea typeface="黑体" panose="02010609060101010101" pitchFamily="49" charset="-122"/>
              </a:rPr>
              <a:t>可靠性差</a:t>
            </a:r>
          </a:p>
        </p:txBody>
      </p:sp>
      <p:sp>
        <p:nvSpPr>
          <p:cNvPr id="9220" name="矩形 1"/>
          <p:cNvSpPr/>
          <p:nvPr/>
        </p:nvSpPr>
        <p:spPr>
          <a:xfrm>
            <a:off x="827088" y="1844675"/>
            <a:ext cx="2665412" cy="2376488"/>
          </a:xfrm>
          <a:prstGeom prst="rect">
            <a:avLst/>
          </a:prstGeom>
          <a:noFill/>
          <a:ln w="12700">
            <a:noFill/>
          </a:ln>
        </p:spPr>
        <p:txBody>
          <a:bodyPr wrap="none" anchor="t" anchorCtr="0">
            <a:spAutoFit/>
          </a:bodyPr>
          <a:lstStyle/>
          <a:p>
            <a:pPr marL="342900" indent="-342900">
              <a:spcBef>
                <a:spcPct val="20000"/>
              </a:spcBef>
            </a:pPr>
            <a:endParaRPr lang="zh-CN" altLang="en-US" dirty="0">
              <a:latin typeface="Times New Roman" panose="02020603050405020304" pitchFamily="18" charset="0"/>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 calcmode="lin" valueType="num">
                                      <p:cBhvr>
                                        <p:cTn id="7" dur="500" fill="hold"/>
                                        <p:tgtEl>
                                          <p:spTgt spid="2050"/>
                                        </p:tgtEl>
                                        <p:attrNameLst>
                                          <p:attrName>ppt_x</p:attrName>
                                        </p:attrNameLst>
                                      </p:cBhvr>
                                      <p:tavLst>
                                        <p:tav tm="0">
                                          <p:val>
                                            <p:strVal val="0-#ppt_w/2"/>
                                          </p:val>
                                        </p:tav>
                                        <p:tav tm="100000">
                                          <p:val>
                                            <p:strVal val="#ppt_x"/>
                                          </p:val>
                                        </p:tav>
                                      </p:tavLst>
                                    </p:anim>
                                    <p:anim calcmode="lin" valueType="num">
                                      <p:cBhvr>
                                        <p:cTn id="8" dur="500" fill="hold"/>
                                        <p:tgtEl>
                                          <p:spTgt spid="205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407556">
                                            <p:txEl>
                                              <p:pRg st="0" end="0"/>
                                            </p:txEl>
                                          </p:spTgt>
                                        </p:tgtEl>
                                        <p:attrNameLst>
                                          <p:attrName>style.visibility</p:attrName>
                                        </p:attrNameLst>
                                      </p:cBhvr>
                                      <p:to>
                                        <p:strVal val="visible"/>
                                      </p:to>
                                    </p:set>
                                    <p:animEffect transition="in" filter="fade">
                                      <p:cBhvr>
                                        <p:cTn id="13" dur="1000"/>
                                        <p:tgtEl>
                                          <p:spTgt spid="407556">
                                            <p:txEl>
                                              <p:pRg st="0" end="0"/>
                                            </p:txEl>
                                          </p:spTgt>
                                        </p:tgtEl>
                                      </p:cBhvr>
                                    </p:animEffect>
                                    <p:anim calcmode="lin" valueType="num">
                                      <p:cBhvr>
                                        <p:cTn id="14" dur="1000" fill="hold"/>
                                        <p:tgtEl>
                                          <p:spTgt spid="407556">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407556">
                                            <p:txEl>
                                              <p:pRg st="0" end="0"/>
                                            </p:txEl>
                                          </p:spTgt>
                                        </p:tgtEl>
                                        <p:attrNameLst>
                                          <p:attrName>ppt_y</p:attrName>
                                        </p:attrNameLst>
                                      </p:cBhvr>
                                      <p:tavLst>
                                        <p:tav tm="0">
                                          <p:val>
                                            <p:strVal val="#ppt_y+.1"/>
                                          </p:val>
                                        </p:tav>
                                        <p:tav tm="100000">
                                          <p:val>
                                            <p:strVal val="#ppt_y"/>
                                          </p:val>
                                        </p:tav>
                                      </p:tavLst>
                                    </p:anim>
                                  </p:childTnLst>
                                </p:cTn>
                              </p:par>
                              <p:par>
                                <p:cTn id="16" presetID="42" presetClass="entr" presetSubtype="0" fill="hold" grpId="0" nodeType="withEffect">
                                  <p:stCondLst>
                                    <p:cond delay="0"/>
                                  </p:stCondLst>
                                  <p:childTnLst>
                                    <p:set>
                                      <p:cBhvr>
                                        <p:cTn id="17" dur="1" fill="hold">
                                          <p:stCondLst>
                                            <p:cond delay="0"/>
                                          </p:stCondLst>
                                        </p:cTn>
                                        <p:tgtEl>
                                          <p:spTgt spid="407556">
                                            <p:txEl>
                                              <p:pRg st="1" end="1"/>
                                            </p:txEl>
                                          </p:spTgt>
                                        </p:tgtEl>
                                        <p:attrNameLst>
                                          <p:attrName>style.visibility</p:attrName>
                                        </p:attrNameLst>
                                      </p:cBhvr>
                                      <p:to>
                                        <p:strVal val="visible"/>
                                      </p:to>
                                    </p:set>
                                    <p:animEffect transition="in" filter="fade">
                                      <p:cBhvr>
                                        <p:cTn id="18" dur="1000"/>
                                        <p:tgtEl>
                                          <p:spTgt spid="407556">
                                            <p:txEl>
                                              <p:pRg st="1" end="1"/>
                                            </p:txEl>
                                          </p:spTgt>
                                        </p:tgtEl>
                                      </p:cBhvr>
                                    </p:animEffect>
                                    <p:anim calcmode="lin" valueType="num">
                                      <p:cBhvr>
                                        <p:cTn id="19" dur="1000" fill="hold"/>
                                        <p:tgtEl>
                                          <p:spTgt spid="407556">
                                            <p:txEl>
                                              <p:pRg st="1" end="1"/>
                                            </p:txEl>
                                          </p:spTgt>
                                        </p:tgtEl>
                                        <p:attrNameLst>
                                          <p:attrName>ppt_x</p:attrName>
                                        </p:attrNameLst>
                                      </p:cBhvr>
                                      <p:tavLst>
                                        <p:tav tm="0">
                                          <p:val>
                                            <p:strVal val="#ppt_x"/>
                                          </p:val>
                                        </p:tav>
                                        <p:tav tm="100000">
                                          <p:val>
                                            <p:strVal val="#ppt_x"/>
                                          </p:val>
                                        </p:tav>
                                      </p:tavLst>
                                    </p:anim>
                                    <p:anim calcmode="lin" valueType="num">
                                      <p:cBhvr>
                                        <p:cTn id="20" dur="1000" fill="hold"/>
                                        <p:tgtEl>
                                          <p:spTgt spid="407556">
                                            <p:txEl>
                                              <p:pRg st="1" end="1"/>
                                            </p:txEl>
                                          </p:spTgt>
                                        </p:tgtEl>
                                        <p:attrNameLst>
                                          <p:attrName>ppt_y</p:attrName>
                                        </p:attrNameLst>
                                      </p:cBhvr>
                                      <p:tavLst>
                                        <p:tav tm="0">
                                          <p:val>
                                            <p:strVal val="#ppt_y+.1"/>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407556">
                                            <p:txEl>
                                              <p:pRg st="2" end="2"/>
                                            </p:txEl>
                                          </p:spTgt>
                                        </p:tgtEl>
                                        <p:attrNameLst>
                                          <p:attrName>style.visibility</p:attrName>
                                        </p:attrNameLst>
                                      </p:cBhvr>
                                      <p:to>
                                        <p:strVal val="visible"/>
                                      </p:to>
                                    </p:set>
                                    <p:animEffect transition="in" filter="fade">
                                      <p:cBhvr>
                                        <p:cTn id="23" dur="1000"/>
                                        <p:tgtEl>
                                          <p:spTgt spid="407556">
                                            <p:txEl>
                                              <p:pRg st="2" end="2"/>
                                            </p:txEl>
                                          </p:spTgt>
                                        </p:tgtEl>
                                      </p:cBhvr>
                                    </p:animEffect>
                                    <p:anim calcmode="lin" valueType="num">
                                      <p:cBhvr>
                                        <p:cTn id="24" dur="1000" fill="hold"/>
                                        <p:tgtEl>
                                          <p:spTgt spid="407556">
                                            <p:txEl>
                                              <p:pRg st="2" end="2"/>
                                            </p:txEl>
                                          </p:spTgt>
                                        </p:tgtEl>
                                        <p:attrNameLst>
                                          <p:attrName>ppt_x</p:attrName>
                                        </p:attrNameLst>
                                      </p:cBhvr>
                                      <p:tavLst>
                                        <p:tav tm="0">
                                          <p:val>
                                            <p:strVal val="#ppt_x"/>
                                          </p:val>
                                        </p:tav>
                                        <p:tav tm="100000">
                                          <p:val>
                                            <p:strVal val="#ppt_x"/>
                                          </p:val>
                                        </p:tav>
                                      </p:tavLst>
                                    </p:anim>
                                    <p:anim calcmode="lin" valueType="num">
                                      <p:cBhvr>
                                        <p:cTn id="25" dur="1000" fill="hold"/>
                                        <p:tgtEl>
                                          <p:spTgt spid="40755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grpId="0" nodeType="clickEffect">
                                  <p:stCondLst>
                                    <p:cond delay="0"/>
                                  </p:stCondLst>
                                  <p:childTnLst>
                                    <p:set>
                                      <p:cBhvr>
                                        <p:cTn id="29" dur="1" fill="hold">
                                          <p:stCondLst>
                                            <p:cond delay="0"/>
                                          </p:stCondLst>
                                        </p:cTn>
                                        <p:tgtEl>
                                          <p:spTgt spid="407556">
                                            <p:txEl>
                                              <p:pRg st="3" end="3"/>
                                            </p:txEl>
                                          </p:spTgt>
                                        </p:tgtEl>
                                        <p:attrNameLst>
                                          <p:attrName>style.visibility</p:attrName>
                                        </p:attrNameLst>
                                      </p:cBhvr>
                                      <p:to>
                                        <p:strVal val="visible"/>
                                      </p:to>
                                    </p:set>
                                    <p:animEffect transition="in" filter="fade">
                                      <p:cBhvr>
                                        <p:cTn id="30" dur="1000"/>
                                        <p:tgtEl>
                                          <p:spTgt spid="407556">
                                            <p:txEl>
                                              <p:pRg st="3" end="3"/>
                                            </p:txEl>
                                          </p:spTgt>
                                        </p:tgtEl>
                                      </p:cBhvr>
                                    </p:animEffect>
                                    <p:anim calcmode="lin" valueType="num">
                                      <p:cBhvr>
                                        <p:cTn id="31" dur="1000" fill="hold"/>
                                        <p:tgtEl>
                                          <p:spTgt spid="407556">
                                            <p:txEl>
                                              <p:pRg st="3" end="3"/>
                                            </p:txEl>
                                          </p:spTgt>
                                        </p:tgtEl>
                                        <p:attrNameLst>
                                          <p:attrName>ppt_x</p:attrName>
                                        </p:attrNameLst>
                                      </p:cBhvr>
                                      <p:tavLst>
                                        <p:tav tm="0">
                                          <p:val>
                                            <p:strVal val="#ppt_x"/>
                                          </p:val>
                                        </p:tav>
                                        <p:tav tm="100000">
                                          <p:val>
                                            <p:strVal val="#ppt_x"/>
                                          </p:val>
                                        </p:tav>
                                      </p:tavLst>
                                    </p:anim>
                                    <p:anim calcmode="lin" valueType="num">
                                      <p:cBhvr>
                                        <p:cTn id="32" dur="1000" fill="hold"/>
                                        <p:tgtEl>
                                          <p:spTgt spid="407556">
                                            <p:txEl>
                                              <p:pRg st="3" end="3"/>
                                            </p:txEl>
                                          </p:spTgt>
                                        </p:tgtEl>
                                        <p:attrNameLst>
                                          <p:attrName>ppt_y</p:attrName>
                                        </p:attrNameLst>
                                      </p:cBhvr>
                                      <p:tavLst>
                                        <p:tav tm="0">
                                          <p:val>
                                            <p:strVal val="#ppt_y+.1"/>
                                          </p:val>
                                        </p:tav>
                                        <p:tav tm="100000">
                                          <p:val>
                                            <p:strVal val="#ppt_y"/>
                                          </p:val>
                                        </p:tav>
                                      </p:tavLst>
                                    </p:anim>
                                  </p:childTnLst>
                                </p:cTn>
                              </p:par>
                              <p:par>
                                <p:cTn id="33" presetID="42" presetClass="entr" presetSubtype="0" fill="hold" grpId="0" nodeType="withEffect">
                                  <p:stCondLst>
                                    <p:cond delay="0"/>
                                  </p:stCondLst>
                                  <p:childTnLst>
                                    <p:set>
                                      <p:cBhvr>
                                        <p:cTn id="34" dur="1" fill="hold">
                                          <p:stCondLst>
                                            <p:cond delay="0"/>
                                          </p:stCondLst>
                                        </p:cTn>
                                        <p:tgtEl>
                                          <p:spTgt spid="407556">
                                            <p:txEl>
                                              <p:pRg st="4" end="4"/>
                                            </p:txEl>
                                          </p:spTgt>
                                        </p:tgtEl>
                                        <p:attrNameLst>
                                          <p:attrName>style.visibility</p:attrName>
                                        </p:attrNameLst>
                                      </p:cBhvr>
                                      <p:to>
                                        <p:strVal val="visible"/>
                                      </p:to>
                                    </p:set>
                                    <p:animEffect transition="in" filter="fade">
                                      <p:cBhvr>
                                        <p:cTn id="35" dur="1000"/>
                                        <p:tgtEl>
                                          <p:spTgt spid="407556">
                                            <p:txEl>
                                              <p:pRg st="4" end="4"/>
                                            </p:txEl>
                                          </p:spTgt>
                                        </p:tgtEl>
                                      </p:cBhvr>
                                    </p:animEffect>
                                    <p:anim calcmode="lin" valueType="num">
                                      <p:cBhvr>
                                        <p:cTn id="36" dur="1000" fill="hold"/>
                                        <p:tgtEl>
                                          <p:spTgt spid="407556">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407556">
                                            <p:txEl>
                                              <p:pRg st="4" end="4"/>
                                            </p:txEl>
                                          </p:spTgt>
                                        </p:tgtEl>
                                        <p:attrNameLst>
                                          <p:attrName>ppt_y</p:attrName>
                                        </p:attrNameLst>
                                      </p:cBhvr>
                                      <p:tavLst>
                                        <p:tav tm="0">
                                          <p:val>
                                            <p:strVal val="#ppt_y+.1"/>
                                          </p:val>
                                        </p:tav>
                                        <p:tav tm="100000">
                                          <p:val>
                                            <p:strVal val="#ppt_y"/>
                                          </p:val>
                                        </p:tav>
                                      </p:tavLst>
                                    </p:anim>
                                  </p:childTnLst>
                                </p:cTn>
                              </p:par>
                              <p:par>
                                <p:cTn id="38" presetID="42" presetClass="entr" presetSubtype="0" fill="hold" grpId="0" nodeType="withEffect">
                                  <p:stCondLst>
                                    <p:cond delay="0"/>
                                  </p:stCondLst>
                                  <p:childTnLst>
                                    <p:set>
                                      <p:cBhvr>
                                        <p:cTn id="39" dur="1" fill="hold">
                                          <p:stCondLst>
                                            <p:cond delay="0"/>
                                          </p:stCondLst>
                                        </p:cTn>
                                        <p:tgtEl>
                                          <p:spTgt spid="407556">
                                            <p:txEl>
                                              <p:pRg st="5" end="5"/>
                                            </p:txEl>
                                          </p:spTgt>
                                        </p:tgtEl>
                                        <p:attrNameLst>
                                          <p:attrName>style.visibility</p:attrName>
                                        </p:attrNameLst>
                                      </p:cBhvr>
                                      <p:to>
                                        <p:strVal val="visible"/>
                                      </p:to>
                                    </p:set>
                                    <p:animEffect transition="in" filter="fade">
                                      <p:cBhvr>
                                        <p:cTn id="40" dur="1000"/>
                                        <p:tgtEl>
                                          <p:spTgt spid="407556">
                                            <p:txEl>
                                              <p:pRg st="5" end="5"/>
                                            </p:txEl>
                                          </p:spTgt>
                                        </p:tgtEl>
                                      </p:cBhvr>
                                    </p:animEffect>
                                    <p:anim calcmode="lin" valueType="num">
                                      <p:cBhvr>
                                        <p:cTn id="41" dur="1000" fill="hold"/>
                                        <p:tgtEl>
                                          <p:spTgt spid="407556">
                                            <p:txEl>
                                              <p:pRg st="5" end="5"/>
                                            </p:txEl>
                                          </p:spTgt>
                                        </p:tgtEl>
                                        <p:attrNameLst>
                                          <p:attrName>ppt_x</p:attrName>
                                        </p:attrNameLst>
                                      </p:cBhvr>
                                      <p:tavLst>
                                        <p:tav tm="0">
                                          <p:val>
                                            <p:strVal val="#ppt_x"/>
                                          </p:val>
                                        </p:tav>
                                        <p:tav tm="100000">
                                          <p:val>
                                            <p:strVal val="#ppt_x"/>
                                          </p:val>
                                        </p:tav>
                                      </p:tavLst>
                                    </p:anim>
                                    <p:anim calcmode="lin" valueType="num">
                                      <p:cBhvr>
                                        <p:cTn id="42" dur="1000" fill="hold"/>
                                        <p:tgtEl>
                                          <p:spTgt spid="407556">
                                            <p:txEl>
                                              <p:pRg st="5" end="5"/>
                                            </p:txEl>
                                          </p:spTgt>
                                        </p:tgtEl>
                                        <p:attrNameLst>
                                          <p:attrName>ppt_y</p:attrName>
                                        </p:attrNameLst>
                                      </p:cBhvr>
                                      <p:tavLst>
                                        <p:tav tm="0">
                                          <p:val>
                                            <p:strVal val="#ppt_y+.1"/>
                                          </p:val>
                                        </p:tav>
                                        <p:tav tm="100000">
                                          <p:val>
                                            <p:strVal val="#ppt_y"/>
                                          </p:val>
                                        </p:tav>
                                      </p:tavLst>
                                    </p:anim>
                                  </p:childTnLst>
                                </p:cTn>
                              </p:par>
                              <p:par>
                                <p:cTn id="43" presetID="42" presetClass="entr" presetSubtype="0" fill="hold" grpId="0" nodeType="withEffect">
                                  <p:stCondLst>
                                    <p:cond delay="0"/>
                                  </p:stCondLst>
                                  <p:childTnLst>
                                    <p:set>
                                      <p:cBhvr>
                                        <p:cTn id="44" dur="1" fill="hold">
                                          <p:stCondLst>
                                            <p:cond delay="0"/>
                                          </p:stCondLst>
                                        </p:cTn>
                                        <p:tgtEl>
                                          <p:spTgt spid="407556">
                                            <p:txEl>
                                              <p:pRg st="6" end="6"/>
                                            </p:txEl>
                                          </p:spTgt>
                                        </p:tgtEl>
                                        <p:attrNameLst>
                                          <p:attrName>style.visibility</p:attrName>
                                        </p:attrNameLst>
                                      </p:cBhvr>
                                      <p:to>
                                        <p:strVal val="visible"/>
                                      </p:to>
                                    </p:set>
                                    <p:animEffect transition="in" filter="fade">
                                      <p:cBhvr>
                                        <p:cTn id="45" dur="1000"/>
                                        <p:tgtEl>
                                          <p:spTgt spid="407556">
                                            <p:txEl>
                                              <p:pRg st="6" end="6"/>
                                            </p:txEl>
                                          </p:spTgt>
                                        </p:tgtEl>
                                      </p:cBhvr>
                                    </p:animEffect>
                                    <p:anim calcmode="lin" valueType="num">
                                      <p:cBhvr>
                                        <p:cTn id="46" dur="1000" fill="hold"/>
                                        <p:tgtEl>
                                          <p:spTgt spid="407556">
                                            <p:txEl>
                                              <p:pRg st="6" end="6"/>
                                            </p:txEl>
                                          </p:spTgt>
                                        </p:tgtEl>
                                        <p:attrNameLst>
                                          <p:attrName>ppt_x</p:attrName>
                                        </p:attrNameLst>
                                      </p:cBhvr>
                                      <p:tavLst>
                                        <p:tav tm="0">
                                          <p:val>
                                            <p:strVal val="#ppt_x"/>
                                          </p:val>
                                        </p:tav>
                                        <p:tav tm="100000">
                                          <p:val>
                                            <p:strVal val="#ppt_x"/>
                                          </p:val>
                                        </p:tav>
                                      </p:tavLst>
                                    </p:anim>
                                    <p:anim calcmode="lin" valueType="num">
                                      <p:cBhvr>
                                        <p:cTn id="47" dur="1000" fill="hold"/>
                                        <p:tgtEl>
                                          <p:spTgt spid="407556">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7556"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p:cNvSpPr>
          <p:nvPr>
            <p:ph type="title"/>
          </p:nvPr>
        </p:nvSpPr>
        <p:spPr>
          <a:xfrm>
            <a:off x="1447800" y="260350"/>
            <a:ext cx="7696200" cy="720725"/>
          </a:xfrm>
        </p:spPr>
        <p:txBody>
          <a:bodyPr vert="horz" wrap="square" lIns="92075" tIns="46038" rIns="92075" bIns="46038" anchor="ctr" anchorCtr="0"/>
          <a:lstStyle/>
          <a:p>
            <a:pPr algn="r" eaLnBrk="1" hangingPunct="1"/>
            <a:r>
              <a:rPr lang="zh-CN" altLang="en-US" sz="3600" dirty="0">
                <a:solidFill>
                  <a:schemeClr val="bg1"/>
                </a:solidFill>
              </a:rPr>
              <a:t>分组交换网络</a:t>
            </a:r>
            <a:endParaRPr lang="zh-CN" altLang="en-US" sz="4400" dirty="0"/>
          </a:p>
        </p:txBody>
      </p:sp>
      <p:sp>
        <p:nvSpPr>
          <p:cNvPr id="13314" name="Rectangle 3"/>
          <p:cNvSpPr/>
          <p:nvPr/>
        </p:nvSpPr>
        <p:spPr>
          <a:xfrm>
            <a:off x="925513" y="1357313"/>
            <a:ext cx="4767262" cy="638175"/>
          </a:xfrm>
          <a:prstGeom prst="rect">
            <a:avLst/>
          </a:prstGeom>
          <a:noFill/>
          <a:ln w="9525">
            <a:noFill/>
          </a:ln>
        </p:spPr>
        <p:txBody>
          <a:bodyPr anchor="t" anchorCtr="0"/>
          <a:lstStyle/>
          <a:p>
            <a:pPr marL="1003300" lvl="1" indent="-285750" algn="just">
              <a:spcBef>
                <a:spcPct val="20000"/>
              </a:spcBef>
              <a:buClr>
                <a:schemeClr val="accent1"/>
              </a:buClr>
              <a:buFontTx/>
              <a:buNone/>
            </a:pPr>
            <a:r>
              <a:rPr lang="zh-CN" altLang="en-US" sz="3200" b="1" dirty="0">
                <a:solidFill>
                  <a:srgbClr val="003399"/>
                </a:solidFill>
                <a:latin typeface="Times New Roman" panose="02020603050405020304" pitchFamily="18" charset="0"/>
                <a:ea typeface="黑体" panose="02010609060101010101" pitchFamily="49" charset="-122"/>
              </a:rPr>
              <a:t> 主机直连方式</a:t>
            </a:r>
          </a:p>
        </p:txBody>
      </p:sp>
      <p:grpSp>
        <p:nvGrpSpPr>
          <p:cNvPr id="13315" name="Group 4"/>
          <p:cNvGrpSpPr/>
          <p:nvPr/>
        </p:nvGrpSpPr>
        <p:grpSpPr>
          <a:xfrm>
            <a:off x="468313" y="2133600"/>
            <a:ext cx="5181600" cy="3581400"/>
            <a:chOff x="576" y="3312"/>
            <a:chExt cx="3264" cy="2256"/>
          </a:xfrm>
        </p:grpSpPr>
        <p:sp>
          <p:nvSpPr>
            <p:cNvPr id="13316" name="Rectangle 5"/>
            <p:cNvSpPr/>
            <p:nvPr/>
          </p:nvSpPr>
          <p:spPr>
            <a:xfrm>
              <a:off x="1776" y="3792"/>
              <a:ext cx="720" cy="288"/>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lstStyle/>
            <a:p>
              <a:pPr algn="ctr" eaLnBrk="0" hangingPunct="0">
                <a:buClrTx/>
                <a:buFontTx/>
                <a:buNone/>
              </a:pPr>
              <a:r>
                <a:rPr lang="en-US" altLang="zh-CN" sz="2400" dirty="0">
                  <a:solidFill>
                    <a:schemeClr val="tx1"/>
                  </a:solidFill>
                  <a:latin typeface="Times New Roman" panose="02020603050405020304" pitchFamily="18" charset="0"/>
                  <a:ea typeface="宋体" panose="02010600030101010101" pitchFamily="2" charset="-122"/>
                </a:rPr>
                <a:t>HOST</a:t>
              </a:r>
            </a:p>
          </p:txBody>
        </p:sp>
        <p:sp>
          <p:nvSpPr>
            <p:cNvPr id="13317" name="Rectangle 6"/>
            <p:cNvSpPr/>
            <p:nvPr/>
          </p:nvSpPr>
          <p:spPr>
            <a:xfrm>
              <a:off x="2544" y="4608"/>
              <a:ext cx="720" cy="288"/>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lstStyle/>
            <a:p>
              <a:pPr algn="ctr" eaLnBrk="0" hangingPunct="0">
                <a:buClrTx/>
                <a:buFontTx/>
                <a:buNone/>
              </a:pPr>
              <a:r>
                <a:rPr lang="en-US" altLang="zh-CN" sz="2400" dirty="0">
                  <a:solidFill>
                    <a:schemeClr val="tx1"/>
                  </a:solidFill>
                  <a:latin typeface="Times New Roman" panose="02020603050405020304" pitchFamily="18" charset="0"/>
                  <a:ea typeface="宋体" panose="02010600030101010101" pitchFamily="2" charset="-122"/>
                </a:rPr>
                <a:t>HOST</a:t>
              </a:r>
            </a:p>
          </p:txBody>
        </p:sp>
        <p:sp>
          <p:nvSpPr>
            <p:cNvPr id="13318" name="Rectangle 7"/>
            <p:cNvSpPr/>
            <p:nvPr/>
          </p:nvSpPr>
          <p:spPr>
            <a:xfrm>
              <a:off x="1104" y="4608"/>
              <a:ext cx="720" cy="288"/>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lstStyle/>
            <a:p>
              <a:pPr algn="ctr" eaLnBrk="0" hangingPunct="0">
                <a:buClrTx/>
                <a:buFontTx/>
                <a:buNone/>
              </a:pPr>
              <a:r>
                <a:rPr lang="en-US" altLang="zh-CN" sz="2400" dirty="0">
                  <a:solidFill>
                    <a:schemeClr val="tx1"/>
                  </a:solidFill>
                  <a:latin typeface="Times New Roman" panose="02020603050405020304" pitchFamily="18" charset="0"/>
                  <a:ea typeface="宋体" panose="02010600030101010101" pitchFamily="2" charset="-122"/>
                </a:rPr>
                <a:t>HOST</a:t>
              </a:r>
            </a:p>
          </p:txBody>
        </p:sp>
        <p:sp>
          <p:nvSpPr>
            <p:cNvPr id="13319" name="Line 8"/>
            <p:cNvSpPr/>
            <p:nvPr/>
          </p:nvSpPr>
          <p:spPr>
            <a:xfrm flipH="1">
              <a:off x="1488" y="4080"/>
              <a:ext cx="528" cy="528"/>
            </a:xfrm>
            <a:prstGeom prst="line">
              <a:avLst/>
            </a:prstGeom>
            <a:ln w="9525" cap="flat" cmpd="sng">
              <a:solidFill>
                <a:schemeClr val="tx1"/>
              </a:solidFill>
              <a:prstDash val="solid"/>
              <a:round/>
              <a:headEnd type="none" w="med" len="med"/>
              <a:tailEnd type="none" w="med" len="med"/>
            </a:ln>
          </p:spPr>
        </p:sp>
        <p:sp>
          <p:nvSpPr>
            <p:cNvPr id="13320" name="Line 9"/>
            <p:cNvSpPr/>
            <p:nvPr/>
          </p:nvSpPr>
          <p:spPr>
            <a:xfrm>
              <a:off x="2304" y="4080"/>
              <a:ext cx="528" cy="528"/>
            </a:xfrm>
            <a:prstGeom prst="line">
              <a:avLst/>
            </a:prstGeom>
            <a:ln w="9525" cap="flat" cmpd="sng">
              <a:solidFill>
                <a:schemeClr val="tx1"/>
              </a:solidFill>
              <a:prstDash val="solid"/>
              <a:round/>
              <a:headEnd type="none" w="med" len="med"/>
              <a:tailEnd type="none" w="med" len="med"/>
            </a:ln>
          </p:spPr>
        </p:sp>
        <p:sp>
          <p:nvSpPr>
            <p:cNvPr id="13321" name="Line 10"/>
            <p:cNvSpPr/>
            <p:nvPr/>
          </p:nvSpPr>
          <p:spPr>
            <a:xfrm>
              <a:off x="1824" y="4752"/>
              <a:ext cx="720" cy="0"/>
            </a:xfrm>
            <a:prstGeom prst="line">
              <a:avLst/>
            </a:prstGeom>
            <a:ln w="9525" cap="flat" cmpd="sng">
              <a:solidFill>
                <a:schemeClr val="tx1"/>
              </a:solidFill>
              <a:prstDash val="solid"/>
              <a:round/>
              <a:headEnd type="none" w="med" len="med"/>
              <a:tailEnd type="none" w="med" len="med"/>
            </a:ln>
          </p:spPr>
        </p:sp>
        <p:sp>
          <p:nvSpPr>
            <p:cNvPr id="13322" name="AutoShape 11"/>
            <p:cNvSpPr/>
            <p:nvPr/>
          </p:nvSpPr>
          <p:spPr>
            <a:xfrm>
              <a:off x="576" y="4512"/>
              <a:ext cx="240" cy="192"/>
            </a:xfrm>
            <a:prstGeom prst="flowChartDisplay">
              <a:avLst/>
            </a:prstGeom>
            <a:solidFill>
              <a:srgbClr val="00FFFF"/>
            </a:solidFill>
            <a:ln w="9525" cap="flat" cmpd="sng">
              <a:solidFill>
                <a:schemeClr val="tx1"/>
              </a:solidFill>
              <a:prstDash val="solid"/>
              <a:miter/>
              <a:headEnd type="none" w="med" len="med"/>
              <a:tailEnd type="none" w="med" len="med"/>
            </a:ln>
          </p:spPr>
          <p:txBody>
            <a:bodyPr wrap="none" anchor="ctr" anchorCtr="0"/>
            <a:lstStyle/>
            <a:p>
              <a:pPr algn="ctr" eaLnBrk="0" hangingPunct="0">
                <a:buClrTx/>
                <a:buFontTx/>
                <a:buNone/>
              </a:pPr>
              <a:r>
                <a:rPr lang="en-US" altLang="zh-CN" sz="2400" dirty="0">
                  <a:solidFill>
                    <a:schemeClr val="tx1"/>
                  </a:solidFill>
                  <a:latin typeface="Times New Roman" panose="02020603050405020304" pitchFamily="18" charset="0"/>
                  <a:ea typeface="宋体" panose="02010600030101010101" pitchFamily="2" charset="-122"/>
                </a:rPr>
                <a:t>T</a:t>
              </a:r>
            </a:p>
          </p:txBody>
        </p:sp>
        <p:sp>
          <p:nvSpPr>
            <p:cNvPr id="13323" name="AutoShape 12"/>
            <p:cNvSpPr/>
            <p:nvPr/>
          </p:nvSpPr>
          <p:spPr>
            <a:xfrm>
              <a:off x="1248" y="5184"/>
              <a:ext cx="240" cy="192"/>
            </a:xfrm>
            <a:prstGeom prst="flowChartDisplay">
              <a:avLst/>
            </a:prstGeom>
            <a:solidFill>
              <a:srgbClr val="00FFFF"/>
            </a:solidFill>
            <a:ln w="9525" cap="flat" cmpd="sng">
              <a:solidFill>
                <a:schemeClr val="tx1"/>
              </a:solidFill>
              <a:prstDash val="solid"/>
              <a:miter/>
              <a:headEnd type="none" w="med" len="med"/>
              <a:tailEnd type="none" w="med" len="med"/>
            </a:ln>
          </p:spPr>
          <p:txBody>
            <a:bodyPr wrap="none" anchor="ctr" anchorCtr="0"/>
            <a:lstStyle/>
            <a:p>
              <a:pPr algn="ctr" eaLnBrk="0" hangingPunct="0">
                <a:buClrTx/>
                <a:buFontTx/>
                <a:buNone/>
              </a:pPr>
              <a:r>
                <a:rPr lang="en-US" altLang="zh-CN" sz="2400" dirty="0">
                  <a:solidFill>
                    <a:schemeClr val="tx1"/>
                  </a:solidFill>
                  <a:latin typeface="Times New Roman" panose="02020603050405020304" pitchFamily="18" charset="0"/>
                  <a:ea typeface="宋体" panose="02010600030101010101" pitchFamily="2" charset="-122"/>
                </a:rPr>
                <a:t>T</a:t>
              </a:r>
            </a:p>
          </p:txBody>
        </p:sp>
        <p:sp>
          <p:nvSpPr>
            <p:cNvPr id="13324" name="AutoShape 13"/>
            <p:cNvSpPr/>
            <p:nvPr/>
          </p:nvSpPr>
          <p:spPr>
            <a:xfrm>
              <a:off x="624" y="5136"/>
              <a:ext cx="240" cy="192"/>
            </a:xfrm>
            <a:prstGeom prst="flowChartDisplay">
              <a:avLst/>
            </a:prstGeom>
            <a:solidFill>
              <a:srgbClr val="00FFFF"/>
            </a:solidFill>
            <a:ln w="9525" cap="flat" cmpd="sng">
              <a:solidFill>
                <a:schemeClr val="tx1"/>
              </a:solidFill>
              <a:prstDash val="solid"/>
              <a:miter/>
              <a:headEnd type="none" w="med" len="med"/>
              <a:tailEnd type="none" w="med" len="med"/>
            </a:ln>
          </p:spPr>
          <p:txBody>
            <a:bodyPr wrap="none" anchor="ctr" anchorCtr="0"/>
            <a:lstStyle/>
            <a:p>
              <a:pPr algn="ctr" eaLnBrk="0" hangingPunct="0">
                <a:buClrTx/>
                <a:buFontTx/>
                <a:buNone/>
              </a:pPr>
              <a:r>
                <a:rPr lang="en-US" altLang="zh-CN" sz="2400" dirty="0">
                  <a:solidFill>
                    <a:schemeClr val="tx1"/>
                  </a:solidFill>
                  <a:latin typeface="Times New Roman" panose="02020603050405020304" pitchFamily="18" charset="0"/>
                  <a:ea typeface="宋体" panose="02010600030101010101" pitchFamily="2" charset="-122"/>
                </a:rPr>
                <a:t>T</a:t>
              </a:r>
            </a:p>
          </p:txBody>
        </p:sp>
        <p:sp>
          <p:nvSpPr>
            <p:cNvPr id="13325" name="AutoShape 14"/>
            <p:cNvSpPr/>
            <p:nvPr/>
          </p:nvSpPr>
          <p:spPr>
            <a:xfrm>
              <a:off x="2880" y="3840"/>
              <a:ext cx="240" cy="192"/>
            </a:xfrm>
            <a:prstGeom prst="flowChartDisplay">
              <a:avLst/>
            </a:prstGeom>
            <a:solidFill>
              <a:srgbClr val="00FFFF"/>
            </a:solidFill>
            <a:ln w="9525" cap="flat" cmpd="sng">
              <a:solidFill>
                <a:schemeClr val="tx1"/>
              </a:solidFill>
              <a:prstDash val="solid"/>
              <a:miter/>
              <a:headEnd type="none" w="med" len="med"/>
              <a:tailEnd type="none" w="med" len="med"/>
            </a:ln>
          </p:spPr>
          <p:txBody>
            <a:bodyPr wrap="none" anchor="ctr" anchorCtr="0"/>
            <a:lstStyle/>
            <a:p>
              <a:pPr algn="ctr" eaLnBrk="0" hangingPunct="0">
                <a:buClrTx/>
                <a:buFontTx/>
                <a:buNone/>
              </a:pPr>
              <a:r>
                <a:rPr lang="en-US" altLang="zh-CN" sz="2400" dirty="0">
                  <a:solidFill>
                    <a:schemeClr val="tx1"/>
                  </a:solidFill>
                  <a:latin typeface="Times New Roman" panose="02020603050405020304" pitchFamily="18" charset="0"/>
                  <a:ea typeface="宋体" panose="02010600030101010101" pitchFamily="2" charset="-122"/>
                </a:rPr>
                <a:t>T</a:t>
              </a:r>
            </a:p>
          </p:txBody>
        </p:sp>
        <p:sp>
          <p:nvSpPr>
            <p:cNvPr id="13326" name="AutoShape 15"/>
            <p:cNvSpPr/>
            <p:nvPr/>
          </p:nvSpPr>
          <p:spPr>
            <a:xfrm>
              <a:off x="1995" y="3312"/>
              <a:ext cx="240" cy="192"/>
            </a:xfrm>
            <a:prstGeom prst="flowChartDisplay">
              <a:avLst/>
            </a:prstGeom>
            <a:solidFill>
              <a:srgbClr val="00FFFF"/>
            </a:solidFill>
            <a:ln w="9525" cap="flat" cmpd="sng">
              <a:solidFill>
                <a:schemeClr val="tx1"/>
              </a:solidFill>
              <a:prstDash val="solid"/>
              <a:miter/>
              <a:headEnd type="none" w="med" len="med"/>
              <a:tailEnd type="none" w="med" len="med"/>
            </a:ln>
          </p:spPr>
          <p:txBody>
            <a:bodyPr wrap="none" anchor="ctr" anchorCtr="0"/>
            <a:lstStyle/>
            <a:p>
              <a:pPr algn="ctr" eaLnBrk="0" hangingPunct="0">
                <a:buClrTx/>
                <a:buFontTx/>
                <a:buNone/>
              </a:pPr>
              <a:r>
                <a:rPr lang="en-US" altLang="zh-CN" sz="2400" dirty="0">
                  <a:solidFill>
                    <a:schemeClr val="tx1"/>
                  </a:solidFill>
                  <a:latin typeface="Times New Roman" panose="02020603050405020304" pitchFamily="18" charset="0"/>
                  <a:ea typeface="宋体" panose="02010600030101010101" pitchFamily="2" charset="-122"/>
                </a:rPr>
                <a:t>T</a:t>
              </a:r>
            </a:p>
          </p:txBody>
        </p:sp>
        <p:sp>
          <p:nvSpPr>
            <p:cNvPr id="13327" name="AutoShape 16"/>
            <p:cNvSpPr/>
            <p:nvPr/>
          </p:nvSpPr>
          <p:spPr>
            <a:xfrm>
              <a:off x="1248" y="3840"/>
              <a:ext cx="240" cy="192"/>
            </a:xfrm>
            <a:prstGeom prst="flowChartDisplay">
              <a:avLst/>
            </a:prstGeom>
            <a:solidFill>
              <a:srgbClr val="00FFFF"/>
            </a:solidFill>
            <a:ln w="9525" cap="flat" cmpd="sng">
              <a:solidFill>
                <a:schemeClr val="tx1"/>
              </a:solidFill>
              <a:prstDash val="solid"/>
              <a:miter/>
              <a:headEnd type="none" w="med" len="med"/>
              <a:tailEnd type="none" w="med" len="med"/>
            </a:ln>
          </p:spPr>
          <p:txBody>
            <a:bodyPr wrap="none" anchor="ctr" anchorCtr="0"/>
            <a:lstStyle/>
            <a:p>
              <a:pPr algn="ctr" eaLnBrk="0" hangingPunct="0">
                <a:buClrTx/>
                <a:buFontTx/>
                <a:buNone/>
              </a:pPr>
              <a:r>
                <a:rPr lang="en-US" altLang="zh-CN" sz="2400" dirty="0">
                  <a:solidFill>
                    <a:schemeClr val="tx1"/>
                  </a:solidFill>
                  <a:latin typeface="Times New Roman" panose="02020603050405020304" pitchFamily="18" charset="0"/>
                  <a:ea typeface="宋体" panose="02010600030101010101" pitchFamily="2" charset="-122"/>
                </a:rPr>
                <a:t>T</a:t>
              </a:r>
            </a:p>
          </p:txBody>
        </p:sp>
        <p:sp>
          <p:nvSpPr>
            <p:cNvPr id="13328" name="AutoShape 17"/>
            <p:cNvSpPr/>
            <p:nvPr/>
          </p:nvSpPr>
          <p:spPr>
            <a:xfrm>
              <a:off x="3600" y="4656"/>
              <a:ext cx="240" cy="192"/>
            </a:xfrm>
            <a:prstGeom prst="flowChartDisplay">
              <a:avLst/>
            </a:prstGeom>
            <a:solidFill>
              <a:srgbClr val="00FFFF"/>
            </a:solidFill>
            <a:ln w="9525" cap="flat" cmpd="sng">
              <a:solidFill>
                <a:schemeClr val="tx1"/>
              </a:solidFill>
              <a:prstDash val="solid"/>
              <a:miter/>
              <a:headEnd type="none" w="med" len="med"/>
              <a:tailEnd type="none" w="med" len="med"/>
            </a:ln>
          </p:spPr>
          <p:txBody>
            <a:bodyPr wrap="none" anchor="ctr" anchorCtr="0"/>
            <a:lstStyle/>
            <a:p>
              <a:pPr algn="ctr" eaLnBrk="0" hangingPunct="0">
                <a:buClrTx/>
                <a:buFontTx/>
                <a:buNone/>
              </a:pPr>
              <a:r>
                <a:rPr lang="en-US" altLang="zh-CN" sz="2400" dirty="0">
                  <a:solidFill>
                    <a:schemeClr val="tx1"/>
                  </a:solidFill>
                  <a:latin typeface="Times New Roman" panose="02020603050405020304" pitchFamily="18" charset="0"/>
                  <a:ea typeface="宋体" panose="02010600030101010101" pitchFamily="2" charset="-122"/>
                </a:rPr>
                <a:t>T</a:t>
              </a:r>
            </a:p>
          </p:txBody>
        </p:sp>
        <p:sp>
          <p:nvSpPr>
            <p:cNvPr id="13329" name="AutoShape 18"/>
            <p:cNvSpPr/>
            <p:nvPr/>
          </p:nvSpPr>
          <p:spPr>
            <a:xfrm>
              <a:off x="2640" y="5280"/>
              <a:ext cx="240" cy="192"/>
            </a:xfrm>
            <a:prstGeom prst="flowChartDisplay">
              <a:avLst/>
            </a:prstGeom>
            <a:solidFill>
              <a:srgbClr val="00FFFF"/>
            </a:solidFill>
            <a:ln w="9525" cap="flat" cmpd="sng">
              <a:solidFill>
                <a:schemeClr val="tx1"/>
              </a:solidFill>
              <a:prstDash val="solid"/>
              <a:miter/>
              <a:headEnd type="none" w="med" len="med"/>
              <a:tailEnd type="none" w="med" len="med"/>
            </a:ln>
          </p:spPr>
          <p:txBody>
            <a:bodyPr wrap="none" anchor="ctr" anchorCtr="0"/>
            <a:lstStyle/>
            <a:p>
              <a:pPr algn="ctr" eaLnBrk="0" hangingPunct="0">
                <a:buClrTx/>
                <a:buFontTx/>
                <a:buNone/>
              </a:pPr>
              <a:r>
                <a:rPr lang="en-US" altLang="zh-CN" sz="2400" dirty="0">
                  <a:solidFill>
                    <a:schemeClr val="tx1"/>
                  </a:solidFill>
                  <a:latin typeface="Times New Roman" panose="02020603050405020304" pitchFamily="18" charset="0"/>
                  <a:ea typeface="宋体" panose="02010600030101010101" pitchFamily="2" charset="-122"/>
                </a:rPr>
                <a:t>T</a:t>
              </a:r>
            </a:p>
          </p:txBody>
        </p:sp>
        <p:sp>
          <p:nvSpPr>
            <p:cNvPr id="13330" name="AutoShape 19"/>
            <p:cNvSpPr/>
            <p:nvPr/>
          </p:nvSpPr>
          <p:spPr>
            <a:xfrm>
              <a:off x="2784" y="5328"/>
              <a:ext cx="240" cy="192"/>
            </a:xfrm>
            <a:prstGeom prst="flowChartDisplay">
              <a:avLst/>
            </a:prstGeom>
            <a:solidFill>
              <a:srgbClr val="00FFFF"/>
            </a:solidFill>
            <a:ln w="9525" cap="flat" cmpd="sng">
              <a:solidFill>
                <a:schemeClr val="tx1"/>
              </a:solidFill>
              <a:prstDash val="solid"/>
              <a:miter/>
              <a:headEnd type="none" w="med" len="med"/>
              <a:tailEnd type="none" w="med" len="med"/>
            </a:ln>
          </p:spPr>
          <p:txBody>
            <a:bodyPr wrap="none" anchor="ctr" anchorCtr="0"/>
            <a:lstStyle/>
            <a:p>
              <a:pPr algn="ctr" eaLnBrk="0" hangingPunct="0">
                <a:buClrTx/>
                <a:buFontTx/>
                <a:buNone/>
              </a:pPr>
              <a:r>
                <a:rPr lang="en-US" altLang="zh-CN" sz="2400" dirty="0">
                  <a:solidFill>
                    <a:schemeClr val="tx1"/>
                  </a:solidFill>
                  <a:latin typeface="Times New Roman" panose="02020603050405020304" pitchFamily="18" charset="0"/>
                  <a:ea typeface="宋体" panose="02010600030101010101" pitchFamily="2" charset="-122"/>
                </a:rPr>
                <a:t>T</a:t>
              </a:r>
            </a:p>
          </p:txBody>
        </p:sp>
        <p:sp>
          <p:nvSpPr>
            <p:cNvPr id="13331" name="AutoShape 20"/>
            <p:cNvSpPr/>
            <p:nvPr/>
          </p:nvSpPr>
          <p:spPr>
            <a:xfrm>
              <a:off x="2928" y="5376"/>
              <a:ext cx="240" cy="192"/>
            </a:xfrm>
            <a:prstGeom prst="flowChartDisplay">
              <a:avLst/>
            </a:prstGeom>
            <a:solidFill>
              <a:srgbClr val="00FFFF"/>
            </a:solidFill>
            <a:ln w="9525" cap="flat" cmpd="sng">
              <a:solidFill>
                <a:schemeClr val="tx1"/>
              </a:solidFill>
              <a:prstDash val="solid"/>
              <a:miter/>
              <a:headEnd type="none" w="med" len="med"/>
              <a:tailEnd type="none" w="med" len="med"/>
            </a:ln>
          </p:spPr>
          <p:txBody>
            <a:bodyPr wrap="none" anchor="ctr" anchorCtr="0"/>
            <a:lstStyle/>
            <a:p>
              <a:pPr algn="ctr" eaLnBrk="0" hangingPunct="0">
                <a:buClrTx/>
                <a:buFontTx/>
                <a:buNone/>
              </a:pPr>
              <a:r>
                <a:rPr lang="en-US" altLang="zh-CN" sz="2400" dirty="0">
                  <a:solidFill>
                    <a:schemeClr val="tx1"/>
                  </a:solidFill>
                  <a:latin typeface="Times New Roman" panose="02020603050405020304" pitchFamily="18" charset="0"/>
                  <a:ea typeface="宋体" panose="02010600030101010101" pitchFamily="2" charset="-122"/>
                </a:rPr>
                <a:t>T</a:t>
              </a:r>
            </a:p>
          </p:txBody>
        </p:sp>
        <p:sp>
          <p:nvSpPr>
            <p:cNvPr id="13332" name="Line 21"/>
            <p:cNvSpPr/>
            <p:nvPr/>
          </p:nvSpPr>
          <p:spPr>
            <a:xfrm flipH="1">
              <a:off x="2784" y="4896"/>
              <a:ext cx="96" cy="384"/>
            </a:xfrm>
            <a:prstGeom prst="line">
              <a:avLst/>
            </a:prstGeom>
            <a:ln w="9525" cap="flat" cmpd="sng">
              <a:solidFill>
                <a:schemeClr val="tx1"/>
              </a:solidFill>
              <a:prstDash val="solid"/>
              <a:round/>
              <a:headEnd type="none" w="med" len="med"/>
              <a:tailEnd type="none" w="med" len="med"/>
            </a:ln>
          </p:spPr>
        </p:sp>
        <p:sp>
          <p:nvSpPr>
            <p:cNvPr id="13333" name="Line 22"/>
            <p:cNvSpPr/>
            <p:nvPr/>
          </p:nvSpPr>
          <p:spPr>
            <a:xfrm flipH="1">
              <a:off x="2928" y="4896"/>
              <a:ext cx="0" cy="432"/>
            </a:xfrm>
            <a:prstGeom prst="line">
              <a:avLst/>
            </a:prstGeom>
            <a:ln w="9525" cap="flat" cmpd="sng">
              <a:solidFill>
                <a:schemeClr val="tx1"/>
              </a:solidFill>
              <a:prstDash val="solid"/>
              <a:round/>
              <a:headEnd type="none" w="med" len="med"/>
              <a:tailEnd type="none" w="med" len="med"/>
            </a:ln>
          </p:spPr>
        </p:sp>
        <p:sp>
          <p:nvSpPr>
            <p:cNvPr id="13334" name="Line 23"/>
            <p:cNvSpPr/>
            <p:nvPr/>
          </p:nvSpPr>
          <p:spPr>
            <a:xfrm>
              <a:off x="2976" y="4896"/>
              <a:ext cx="96" cy="480"/>
            </a:xfrm>
            <a:prstGeom prst="line">
              <a:avLst/>
            </a:prstGeom>
            <a:ln w="9525" cap="flat" cmpd="sng">
              <a:solidFill>
                <a:schemeClr val="tx1"/>
              </a:solidFill>
              <a:prstDash val="solid"/>
              <a:round/>
              <a:headEnd type="none" w="med" len="med"/>
              <a:tailEnd type="none" w="med" len="med"/>
            </a:ln>
          </p:spPr>
        </p:sp>
        <p:sp>
          <p:nvSpPr>
            <p:cNvPr id="13335" name="Line 24"/>
            <p:cNvSpPr/>
            <p:nvPr/>
          </p:nvSpPr>
          <p:spPr>
            <a:xfrm>
              <a:off x="3264" y="4752"/>
              <a:ext cx="336" cy="0"/>
            </a:xfrm>
            <a:prstGeom prst="line">
              <a:avLst/>
            </a:prstGeom>
            <a:ln w="9525" cap="flat" cmpd="sng">
              <a:solidFill>
                <a:schemeClr val="tx1"/>
              </a:solidFill>
              <a:prstDash val="solid"/>
              <a:round/>
              <a:headEnd type="none" w="med" len="med"/>
              <a:tailEnd type="none" w="med" len="med"/>
            </a:ln>
          </p:spPr>
        </p:sp>
        <p:sp>
          <p:nvSpPr>
            <p:cNvPr id="13336" name="Line 25"/>
            <p:cNvSpPr/>
            <p:nvPr/>
          </p:nvSpPr>
          <p:spPr>
            <a:xfrm>
              <a:off x="816" y="4608"/>
              <a:ext cx="288" cy="96"/>
            </a:xfrm>
            <a:prstGeom prst="line">
              <a:avLst/>
            </a:prstGeom>
            <a:ln w="9525" cap="flat" cmpd="sng">
              <a:solidFill>
                <a:schemeClr val="tx1"/>
              </a:solidFill>
              <a:prstDash val="solid"/>
              <a:round/>
              <a:headEnd type="none" w="med" len="med"/>
              <a:tailEnd type="none" w="med" len="med"/>
            </a:ln>
          </p:spPr>
        </p:sp>
        <p:sp>
          <p:nvSpPr>
            <p:cNvPr id="13337" name="Line 26"/>
            <p:cNvSpPr/>
            <p:nvPr/>
          </p:nvSpPr>
          <p:spPr>
            <a:xfrm flipV="1">
              <a:off x="816" y="4896"/>
              <a:ext cx="336" cy="240"/>
            </a:xfrm>
            <a:prstGeom prst="line">
              <a:avLst/>
            </a:prstGeom>
            <a:ln w="9525" cap="flat" cmpd="sng">
              <a:solidFill>
                <a:schemeClr val="tx1"/>
              </a:solidFill>
              <a:prstDash val="solid"/>
              <a:round/>
              <a:headEnd type="none" w="med" len="med"/>
              <a:tailEnd type="none" w="med" len="med"/>
            </a:ln>
          </p:spPr>
        </p:sp>
        <p:sp>
          <p:nvSpPr>
            <p:cNvPr id="13338" name="Line 27"/>
            <p:cNvSpPr/>
            <p:nvPr/>
          </p:nvSpPr>
          <p:spPr>
            <a:xfrm flipV="1">
              <a:off x="1344" y="4896"/>
              <a:ext cx="0" cy="288"/>
            </a:xfrm>
            <a:prstGeom prst="line">
              <a:avLst/>
            </a:prstGeom>
            <a:ln w="9525" cap="flat" cmpd="sng">
              <a:solidFill>
                <a:schemeClr val="tx1"/>
              </a:solidFill>
              <a:prstDash val="solid"/>
              <a:round/>
              <a:headEnd type="none" w="med" len="med"/>
              <a:tailEnd type="none" w="med" len="med"/>
            </a:ln>
          </p:spPr>
        </p:sp>
        <p:sp>
          <p:nvSpPr>
            <p:cNvPr id="13339" name="Line 28"/>
            <p:cNvSpPr/>
            <p:nvPr/>
          </p:nvSpPr>
          <p:spPr>
            <a:xfrm flipV="1">
              <a:off x="1488" y="3936"/>
              <a:ext cx="288" cy="0"/>
            </a:xfrm>
            <a:prstGeom prst="line">
              <a:avLst/>
            </a:prstGeom>
            <a:ln w="9525" cap="flat" cmpd="sng">
              <a:solidFill>
                <a:schemeClr val="tx1"/>
              </a:solidFill>
              <a:prstDash val="solid"/>
              <a:round/>
              <a:headEnd type="none" w="med" len="med"/>
              <a:tailEnd type="none" w="med" len="med"/>
            </a:ln>
          </p:spPr>
        </p:sp>
        <p:sp>
          <p:nvSpPr>
            <p:cNvPr id="13340" name="Line 29"/>
            <p:cNvSpPr/>
            <p:nvPr/>
          </p:nvSpPr>
          <p:spPr>
            <a:xfrm flipH="1">
              <a:off x="2112" y="3504"/>
              <a:ext cx="0" cy="288"/>
            </a:xfrm>
            <a:prstGeom prst="line">
              <a:avLst/>
            </a:prstGeom>
            <a:ln w="9525" cap="flat" cmpd="sng">
              <a:solidFill>
                <a:schemeClr val="tx1"/>
              </a:solidFill>
              <a:prstDash val="solid"/>
              <a:round/>
              <a:headEnd type="none" w="med" len="med"/>
              <a:tailEnd type="none" w="med" len="med"/>
            </a:ln>
          </p:spPr>
        </p:sp>
        <p:sp>
          <p:nvSpPr>
            <p:cNvPr id="13341" name="Line 30"/>
            <p:cNvSpPr/>
            <p:nvPr/>
          </p:nvSpPr>
          <p:spPr>
            <a:xfrm flipH="1">
              <a:off x="2496" y="3936"/>
              <a:ext cx="384" cy="0"/>
            </a:xfrm>
            <a:prstGeom prst="line">
              <a:avLst/>
            </a:prstGeom>
            <a:ln w="9525" cap="flat" cmpd="sng">
              <a:solidFill>
                <a:schemeClr val="tx1"/>
              </a:solidFill>
              <a:prstDash val="solid"/>
              <a:round/>
              <a:headEnd type="none" w="med" len="med"/>
              <a:tailEnd type="none" w="med" len="med"/>
            </a:ln>
          </p:spPr>
        </p:sp>
        <p:sp>
          <p:nvSpPr>
            <p:cNvPr id="13342" name="Text Box 31"/>
            <p:cNvSpPr txBox="1"/>
            <p:nvPr/>
          </p:nvSpPr>
          <p:spPr>
            <a:xfrm>
              <a:off x="1776" y="4320"/>
              <a:ext cx="692" cy="231"/>
            </a:xfrm>
            <a:prstGeom prst="rect">
              <a:avLst/>
            </a:prstGeom>
            <a:noFill/>
            <a:ln w="9525">
              <a:noFill/>
            </a:ln>
          </p:spPr>
          <p:txBody>
            <a:bodyPr wrap="none" anchor="t" anchorCtr="0">
              <a:spAutoFit/>
            </a:bodyPr>
            <a:lstStyle/>
            <a:p>
              <a:pPr algn="ctr" eaLnBrk="0" hangingPunct="0">
                <a:buClrTx/>
                <a:buFontTx/>
                <a:buNone/>
              </a:pPr>
              <a:r>
                <a:rPr lang="zh-CN" altLang="en-US" sz="1800" dirty="0">
                  <a:solidFill>
                    <a:schemeClr val="tx1"/>
                  </a:solidFill>
                  <a:latin typeface="Times New Roman" panose="02020603050405020304" pitchFamily="18" charset="0"/>
                  <a:ea typeface="宋体" panose="02010600030101010101" pitchFamily="2" charset="-122"/>
                </a:rPr>
                <a:t>通信线路</a:t>
              </a:r>
            </a:p>
          </p:txBody>
        </p:sp>
      </p:grpSp>
      <p:sp>
        <p:nvSpPr>
          <p:cNvPr id="193568" name="Rectangle 32"/>
          <p:cNvSpPr>
            <a:spLocks noGrp="1"/>
          </p:cNvSpPr>
          <p:nvPr>
            <p:ph idx="1"/>
          </p:nvPr>
        </p:nvSpPr>
        <p:spPr>
          <a:xfrm>
            <a:off x="4887913" y="1564958"/>
            <a:ext cx="4256087" cy="3540125"/>
          </a:xfrm>
        </p:spPr>
        <p:txBody>
          <a:bodyPr vert="horz" wrap="square" lIns="91440" tIns="45720" rIns="91440" bIns="45720" anchor="t" anchorCtr="0"/>
          <a:lstStyle/>
          <a:p>
            <a:pPr marL="1371600" lvl="2" indent="-457200" eaLnBrk="1" hangingPunct="1">
              <a:buClr>
                <a:srgbClr val="0000CC"/>
              </a:buClr>
              <a:buFontTx/>
              <a:buChar char="•"/>
            </a:pPr>
            <a:r>
              <a:rPr lang="zh-CN" altLang="en-US" sz="2800" b="0" dirty="0">
                <a:solidFill>
                  <a:schemeClr val="tx1"/>
                </a:solidFill>
                <a:latin typeface="黑体" panose="02010609060101010101" pitchFamily="49" charset="-122"/>
                <a:ea typeface="黑体" panose="02010609060101010101" pitchFamily="49" charset="-122"/>
              </a:rPr>
              <a:t>多主机为中心</a:t>
            </a:r>
          </a:p>
          <a:p>
            <a:pPr marL="1371600" lvl="2" indent="-457200" eaLnBrk="1" hangingPunct="1">
              <a:buClr>
                <a:srgbClr val="0000CC"/>
              </a:buClr>
              <a:buFontTx/>
              <a:buChar char="•"/>
            </a:pPr>
            <a:r>
              <a:rPr lang="zh-CN" altLang="en-US" sz="2800" b="0" dirty="0">
                <a:solidFill>
                  <a:schemeClr val="tx1"/>
                </a:solidFill>
                <a:latin typeface="黑体" panose="02010609060101010101" pitchFamily="49" charset="-122"/>
                <a:ea typeface="黑体" panose="02010609060101010101" pitchFamily="49" charset="-122"/>
              </a:rPr>
              <a:t>网络结构从“主机－终端” 转变为“主机－主机”</a:t>
            </a:r>
          </a:p>
          <a:p>
            <a:pPr marL="1371600" lvl="2" indent="-457200" eaLnBrk="1" hangingPunct="1">
              <a:buClr>
                <a:srgbClr val="0000CC"/>
              </a:buClr>
              <a:buFontTx/>
              <a:buChar char="•"/>
            </a:pPr>
            <a:r>
              <a:rPr lang="zh-CN" altLang="en-US" sz="2800" b="0" dirty="0">
                <a:solidFill>
                  <a:schemeClr val="tx1"/>
                </a:solidFill>
                <a:latin typeface="黑体" panose="02010609060101010101" pitchFamily="49" charset="-122"/>
                <a:ea typeface="黑体" panose="02010609060101010101" pitchFamily="49" charset="-122"/>
              </a:rPr>
              <a:t>主机负责数据处理和通信工作</a:t>
            </a:r>
            <a:endParaRPr lang="en-US" altLang="zh-CN" sz="2800" b="0" dirty="0">
              <a:solidFill>
                <a:schemeClr val="tx1"/>
              </a:solidFill>
              <a:latin typeface="黑体" panose="02010609060101010101" pitchFamily="49" charset="-122"/>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3568">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3568">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356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3568"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9412" name="Rectangle 4"/>
          <p:cNvSpPr/>
          <p:nvPr/>
        </p:nvSpPr>
        <p:spPr>
          <a:xfrm>
            <a:off x="5148263" y="1773238"/>
            <a:ext cx="3995737" cy="4464050"/>
          </a:xfrm>
          <a:prstGeom prst="rect">
            <a:avLst/>
          </a:prstGeom>
          <a:noFill/>
          <a:ln w="9525">
            <a:noFill/>
          </a:ln>
        </p:spPr>
        <p:txBody>
          <a:bodyPr anchor="t" anchorCtr="0"/>
          <a:lstStyle/>
          <a:p>
            <a:pPr marL="342900" indent="-342900" eaLnBrk="0" hangingPunct="0">
              <a:spcBef>
                <a:spcPts val="1800"/>
              </a:spcBef>
              <a:buClrTx/>
              <a:buFontTx/>
              <a:buChar char="•"/>
            </a:pPr>
            <a:r>
              <a:rPr lang="zh-CN" altLang="en-US" b="1" dirty="0">
                <a:solidFill>
                  <a:srgbClr val="0000CC"/>
                </a:solidFill>
                <a:latin typeface="黑体" panose="02010609060101010101" pitchFamily="49" charset="-122"/>
                <a:ea typeface="黑体" panose="02010609060101010101" pitchFamily="49" charset="-122"/>
              </a:rPr>
              <a:t>通信子网</a:t>
            </a:r>
          </a:p>
          <a:p>
            <a:pPr marL="742950" lvl="1" indent="-285750" eaLnBrk="0" hangingPunct="0">
              <a:lnSpc>
                <a:spcPct val="120000"/>
              </a:lnSpc>
              <a:spcBef>
                <a:spcPts val="600"/>
              </a:spcBef>
              <a:buClrTx/>
              <a:buFontTx/>
              <a:buNone/>
            </a:pPr>
            <a:r>
              <a:rPr lang="zh-CN" altLang="en-US" sz="2400" dirty="0">
                <a:solidFill>
                  <a:srgbClr val="FF9933"/>
                </a:solidFill>
                <a:latin typeface="黑体" panose="02010609060101010101" pitchFamily="49" charset="-122"/>
                <a:ea typeface="黑体" panose="02010609060101010101" pitchFamily="49" charset="-122"/>
              </a:rPr>
              <a:t>  </a:t>
            </a:r>
            <a:r>
              <a:rPr lang="zh-CN" altLang="en-US" sz="2400" dirty="0">
                <a:solidFill>
                  <a:schemeClr val="bg2"/>
                </a:solidFill>
                <a:latin typeface="黑体" panose="02010609060101010101" pitchFamily="49" charset="-122"/>
                <a:ea typeface="黑体" panose="02010609060101010101" pitchFamily="49" charset="-122"/>
              </a:rPr>
              <a:t>负责数据传输</a:t>
            </a:r>
          </a:p>
          <a:p>
            <a:pPr marL="742950" lvl="1" indent="-285750" eaLnBrk="0" hangingPunct="0">
              <a:lnSpc>
                <a:spcPct val="120000"/>
              </a:lnSpc>
              <a:spcBef>
                <a:spcPts val="600"/>
              </a:spcBef>
              <a:buClrTx/>
              <a:buFontTx/>
              <a:buNone/>
            </a:pPr>
            <a:r>
              <a:rPr lang="zh-CN" altLang="en-US" sz="2400" dirty="0">
                <a:solidFill>
                  <a:schemeClr val="bg2"/>
                </a:solidFill>
                <a:latin typeface="黑体" panose="02010609060101010101" pitchFamily="49" charset="-122"/>
                <a:ea typeface="黑体" panose="02010609060101010101" pitchFamily="49" charset="-122"/>
              </a:rPr>
              <a:t>  通信线路、网络互连设备（交换机，路由器，</a:t>
            </a:r>
            <a:r>
              <a:rPr lang="en-US" altLang="zh-CN" sz="2400" dirty="0">
                <a:solidFill>
                  <a:schemeClr val="bg2"/>
                </a:solidFill>
                <a:latin typeface="黑体" panose="02010609060101010101" pitchFamily="49" charset="-122"/>
                <a:ea typeface="黑体" panose="02010609060101010101" pitchFamily="49" charset="-122"/>
              </a:rPr>
              <a:t>HUB</a:t>
            </a:r>
            <a:r>
              <a:rPr lang="zh-CN" altLang="en-US" sz="2400" dirty="0">
                <a:solidFill>
                  <a:schemeClr val="bg2"/>
                </a:solidFill>
                <a:latin typeface="黑体" panose="02010609060101010101" pitchFamily="49" charset="-122"/>
                <a:ea typeface="黑体" panose="02010609060101010101" pitchFamily="49" charset="-122"/>
              </a:rPr>
              <a:t>等）</a:t>
            </a:r>
          </a:p>
          <a:p>
            <a:pPr marL="342900" indent="-342900" eaLnBrk="0" hangingPunct="0">
              <a:buClrTx/>
              <a:buFontTx/>
              <a:buChar char="•"/>
            </a:pPr>
            <a:r>
              <a:rPr lang="zh-CN" altLang="en-US" b="1" dirty="0">
                <a:solidFill>
                  <a:srgbClr val="0000CC"/>
                </a:solidFill>
                <a:latin typeface="黑体" panose="02010609060101010101" pitchFamily="49" charset="-122"/>
                <a:ea typeface="黑体" panose="02010609060101010101" pitchFamily="49" charset="-122"/>
              </a:rPr>
              <a:t>资源子网</a:t>
            </a:r>
          </a:p>
          <a:p>
            <a:pPr marL="742950" lvl="1" indent="-285750" eaLnBrk="0" hangingPunct="0">
              <a:lnSpc>
                <a:spcPct val="120000"/>
              </a:lnSpc>
              <a:buClrTx/>
              <a:buFontTx/>
              <a:buNone/>
            </a:pPr>
            <a:r>
              <a:rPr lang="zh-CN" altLang="en-US" sz="2400" dirty="0">
                <a:solidFill>
                  <a:srgbClr val="FF9933"/>
                </a:solidFill>
                <a:latin typeface="黑体" panose="02010609060101010101" pitchFamily="49" charset="-122"/>
                <a:ea typeface="黑体" panose="02010609060101010101" pitchFamily="49" charset="-122"/>
              </a:rPr>
              <a:t>  </a:t>
            </a:r>
            <a:r>
              <a:rPr lang="zh-CN" altLang="en-US" sz="2400" dirty="0">
                <a:solidFill>
                  <a:schemeClr val="bg2"/>
                </a:solidFill>
                <a:latin typeface="黑体" panose="02010609060101010101" pitchFamily="49" charset="-122"/>
                <a:ea typeface="黑体" panose="02010609060101010101" pitchFamily="49" charset="-122"/>
              </a:rPr>
              <a:t>负责信息处理</a:t>
            </a:r>
          </a:p>
          <a:p>
            <a:pPr marL="742950" lvl="1" indent="-285750" eaLnBrk="0" hangingPunct="0">
              <a:lnSpc>
                <a:spcPct val="120000"/>
              </a:lnSpc>
              <a:buClrTx/>
              <a:buFontTx/>
              <a:buNone/>
            </a:pPr>
            <a:r>
              <a:rPr lang="zh-CN" altLang="en-US" sz="2400" dirty="0">
                <a:solidFill>
                  <a:schemeClr val="bg2"/>
                </a:solidFill>
                <a:latin typeface="黑体" panose="02010609060101010101" pitchFamily="49" charset="-122"/>
                <a:ea typeface="黑体" panose="02010609060101010101" pitchFamily="49" charset="-122"/>
              </a:rPr>
              <a:t>  服务器、客户计算机</a:t>
            </a:r>
          </a:p>
          <a:p>
            <a:pPr marL="342900" indent="-342900" eaLnBrk="0" hangingPunct="0">
              <a:buClrTx/>
              <a:buFontTx/>
              <a:buNone/>
            </a:pPr>
            <a:endParaRPr lang="zh-CN" altLang="en-US" b="1" dirty="0">
              <a:solidFill>
                <a:schemeClr val="bg2"/>
              </a:solidFill>
              <a:latin typeface="黑体" panose="02010609060101010101" pitchFamily="49" charset="-122"/>
              <a:ea typeface="黑体" panose="02010609060101010101" pitchFamily="49" charset="-122"/>
            </a:endParaRPr>
          </a:p>
          <a:p>
            <a:pPr marL="342900" indent="-342900" eaLnBrk="0" hangingPunct="0">
              <a:buClrTx/>
              <a:buFontTx/>
              <a:buNone/>
            </a:pPr>
            <a:endParaRPr lang="en-US" altLang="zh-CN" b="1" dirty="0">
              <a:solidFill>
                <a:schemeClr val="bg2"/>
              </a:solidFill>
              <a:latin typeface="黑体" panose="02010609060101010101" pitchFamily="49" charset="-122"/>
              <a:ea typeface="黑体" panose="02010609060101010101" pitchFamily="49" charset="-122"/>
            </a:endParaRPr>
          </a:p>
        </p:txBody>
      </p:sp>
      <p:grpSp>
        <p:nvGrpSpPr>
          <p:cNvPr id="15362" name="Group 5"/>
          <p:cNvGrpSpPr/>
          <p:nvPr/>
        </p:nvGrpSpPr>
        <p:grpSpPr>
          <a:xfrm>
            <a:off x="468313" y="2420938"/>
            <a:ext cx="4724400" cy="3886200"/>
            <a:chOff x="576" y="1920"/>
            <a:chExt cx="2976" cy="2448"/>
          </a:xfrm>
        </p:grpSpPr>
        <p:sp>
          <p:nvSpPr>
            <p:cNvPr id="15363" name="Rectangle 6"/>
            <p:cNvSpPr/>
            <p:nvPr/>
          </p:nvSpPr>
          <p:spPr>
            <a:xfrm>
              <a:off x="1104" y="3264"/>
              <a:ext cx="720" cy="672"/>
            </a:xfrm>
            <a:prstGeom prst="rect">
              <a:avLst/>
            </a:prstGeom>
            <a:solidFill>
              <a:srgbClr val="E1FFFF"/>
            </a:solidFill>
            <a:ln w="9525" cap="flat" cmpd="sng">
              <a:solidFill>
                <a:schemeClr val="tx1"/>
              </a:solidFill>
              <a:prstDash val="dash"/>
              <a:miter/>
              <a:headEnd type="none" w="med" len="med"/>
              <a:tailEnd type="none" w="med" len="med"/>
            </a:ln>
          </p:spPr>
          <p:txBody>
            <a:bodyPr wrap="none" anchor="ctr" anchorCtr="0"/>
            <a:lstStyle/>
            <a:p>
              <a:pPr>
                <a:spcBef>
                  <a:spcPct val="20000"/>
                </a:spcBef>
              </a:pPr>
              <a:endParaRPr lang="zh-CN" altLang="en-US" dirty="0">
                <a:latin typeface="Times New Roman" panose="02020603050405020304" pitchFamily="18" charset="0"/>
                <a:ea typeface="黑体" panose="02010609060101010101" pitchFamily="49" charset="-122"/>
              </a:endParaRPr>
            </a:p>
          </p:txBody>
        </p:sp>
        <p:sp>
          <p:nvSpPr>
            <p:cNvPr id="15364" name="Rectangle 7"/>
            <p:cNvSpPr/>
            <p:nvPr/>
          </p:nvSpPr>
          <p:spPr>
            <a:xfrm>
              <a:off x="1652" y="2256"/>
              <a:ext cx="816" cy="720"/>
            </a:xfrm>
            <a:prstGeom prst="rect">
              <a:avLst/>
            </a:prstGeom>
            <a:solidFill>
              <a:srgbClr val="E1FFFF"/>
            </a:solidFill>
            <a:ln w="9525" cap="flat" cmpd="sng">
              <a:solidFill>
                <a:schemeClr val="tx1"/>
              </a:solidFill>
              <a:prstDash val="dash"/>
              <a:miter/>
              <a:headEnd type="none" w="med" len="med"/>
              <a:tailEnd type="none" w="med" len="med"/>
            </a:ln>
          </p:spPr>
          <p:txBody>
            <a:bodyPr wrap="none" anchor="ctr" anchorCtr="0"/>
            <a:lstStyle/>
            <a:p>
              <a:pPr>
                <a:spcBef>
                  <a:spcPct val="20000"/>
                </a:spcBef>
              </a:pPr>
              <a:endParaRPr lang="zh-CN" altLang="en-US" dirty="0">
                <a:latin typeface="Times New Roman" panose="02020603050405020304" pitchFamily="18" charset="0"/>
                <a:ea typeface="黑体" panose="02010609060101010101" pitchFamily="49" charset="-122"/>
              </a:endParaRPr>
            </a:p>
          </p:txBody>
        </p:sp>
        <p:sp>
          <p:nvSpPr>
            <p:cNvPr id="15365" name="Oval 8"/>
            <p:cNvSpPr/>
            <p:nvPr/>
          </p:nvSpPr>
          <p:spPr>
            <a:xfrm>
              <a:off x="1796" y="2688"/>
              <a:ext cx="480" cy="192"/>
            </a:xfrm>
            <a:prstGeom prst="ellipse">
              <a:avLst/>
            </a:prstGeom>
            <a:solidFill>
              <a:srgbClr val="00FFFF"/>
            </a:solidFill>
            <a:ln w="9525" cap="flat" cmpd="sng">
              <a:solidFill>
                <a:schemeClr val="tx1"/>
              </a:solidFill>
              <a:prstDash val="solid"/>
              <a:round/>
              <a:headEnd type="none" w="med" len="med"/>
              <a:tailEnd type="none" w="med" len="med"/>
            </a:ln>
          </p:spPr>
          <p:txBody>
            <a:bodyPr wrap="none" anchor="ctr" anchorCtr="0"/>
            <a:lstStyle/>
            <a:p>
              <a:pPr algn="ctr" eaLnBrk="0" hangingPunct="0">
                <a:buClrTx/>
                <a:buFontTx/>
                <a:buNone/>
              </a:pPr>
              <a:r>
                <a:rPr lang="en-US" altLang="zh-CN" sz="1800" dirty="0">
                  <a:solidFill>
                    <a:schemeClr val="tx1"/>
                  </a:solidFill>
                  <a:latin typeface="Times New Roman" panose="02020603050405020304" pitchFamily="18" charset="0"/>
                  <a:ea typeface="宋体" panose="02010600030101010101" pitchFamily="2" charset="-122"/>
                </a:rPr>
                <a:t>CCP</a:t>
              </a:r>
            </a:p>
          </p:txBody>
        </p:sp>
        <p:sp>
          <p:nvSpPr>
            <p:cNvPr id="15366" name="Oval 9"/>
            <p:cNvSpPr/>
            <p:nvPr/>
          </p:nvSpPr>
          <p:spPr>
            <a:xfrm>
              <a:off x="1248" y="3312"/>
              <a:ext cx="480" cy="192"/>
            </a:xfrm>
            <a:prstGeom prst="ellipse">
              <a:avLst/>
            </a:prstGeom>
            <a:solidFill>
              <a:srgbClr val="00FFFF"/>
            </a:solidFill>
            <a:ln w="9525" cap="flat" cmpd="sng">
              <a:solidFill>
                <a:schemeClr val="tx1"/>
              </a:solidFill>
              <a:prstDash val="solid"/>
              <a:round/>
              <a:headEnd type="none" w="med" len="med"/>
              <a:tailEnd type="none" w="med" len="med"/>
            </a:ln>
          </p:spPr>
          <p:txBody>
            <a:bodyPr wrap="none" anchor="ctr" anchorCtr="0"/>
            <a:lstStyle/>
            <a:p>
              <a:pPr algn="ctr" eaLnBrk="0" hangingPunct="0">
                <a:buClrTx/>
                <a:buFontTx/>
                <a:buNone/>
              </a:pPr>
              <a:r>
                <a:rPr lang="en-US" altLang="zh-CN" sz="1800" dirty="0">
                  <a:solidFill>
                    <a:schemeClr val="tx1"/>
                  </a:solidFill>
                  <a:latin typeface="Times New Roman" panose="02020603050405020304" pitchFamily="18" charset="0"/>
                  <a:ea typeface="宋体" panose="02010600030101010101" pitchFamily="2" charset="-122"/>
                </a:rPr>
                <a:t>CCP</a:t>
              </a:r>
            </a:p>
          </p:txBody>
        </p:sp>
        <p:sp>
          <p:nvSpPr>
            <p:cNvPr id="15367" name="Line 10"/>
            <p:cNvSpPr/>
            <p:nvPr/>
          </p:nvSpPr>
          <p:spPr>
            <a:xfrm flipH="1">
              <a:off x="1584" y="2880"/>
              <a:ext cx="432" cy="432"/>
            </a:xfrm>
            <a:prstGeom prst="line">
              <a:avLst/>
            </a:prstGeom>
            <a:ln w="9525" cap="flat" cmpd="sng">
              <a:solidFill>
                <a:schemeClr val="tx1"/>
              </a:solidFill>
              <a:prstDash val="solid"/>
              <a:round/>
              <a:headEnd type="none" w="med" len="med"/>
              <a:tailEnd type="none" w="med" len="med"/>
            </a:ln>
          </p:spPr>
        </p:sp>
        <p:sp>
          <p:nvSpPr>
            <p:cNvPr id="15368" name="Rectangle 11"/>
            <p:cNvSpPr/>
            <p:nvPr/>
          </p:nvSpPr>
          <p:spPr>
            <a:xfrm>
              <a:off x="1152" y="3648"/>
              <a:ext cx="624" cy="240"/>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lstStyle/>
            <a:p>
              <a:pPr algn="ctr" eaLnBrk="0" hangingPunct="0">
                <a:buClrTx/>
                <a:buFontTx/>
                <a:buNone/>
              </a:pPr>
              <a:r>
                <a:rPr lang="en-US" altLang="zh-CN" sz="2000" dirty="0">
                  <a:solidFill>
                    <a:schemeClr val="tx1"/>
                  </a:solidFill>
                  <a:latin typeface="Times New Roman" panose="02020603050405020304" pitchFamily="18" charset="0"/>
                  <a:ea typeface="宋体" panose="02010600030101010101" pitchFamily="2" charset="-122"/>
                </a:rPr>
                <a:t>HOST</a:t>
              </a:r>
            </a:p>
          </p:txBody>
        </p:sp>
        <p:sp>
          <p:nvSpPr>
            <p:cNvPr id="15369" name="Rectangle 12"/>
            <p:cNvSpPr/>
            <p:nvPr/>
          </p:nvSpPr>
          <p:spPr>
            <a:xfrm>
              <a:off x="1748" y="2304"/>
              <a:ext cx="624" cy="240"/>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lstStyle/>
            <a:p>
              <a:pPr algn="ctr" eaLnBrk="0" hangingPunct="0">
                <a:buClrTx/>
                <a:buFontTx/>
                <a:buNone/>
              </a:pPr>
              <a:r>
                <a:rPr lang="en-US" altLang="zh-CN" sz="2000" dirty="0">
                  <a:solidFill>
                    <a:schemeClr val="tx1"/>
                  </a:solidFill>
                  <a:latin typeface="Times New Roman" panose="02020603050405020304" pitchFamily="18" charset="0"/>
                  <a:ea typeface="宋体" panose="02010600030101010101" pitchFamily="2" charset="-122"/>
                </a:rPr>
                <a:t>HOST</a:t>
              </a:r>
            </a:p>
          </p:txBody>
        </p:sp>
        <p:sp>
          <p:nvSpPr>
            <p:cNvPr id="15370" name="Line 13"/>
            <p:cNvSpPr/>
            <p:nvPr/>
          </p:nvSpPr>
          <p:spPr>
            <a:xfrm>
              <a:off x="2036" y="2544"/>
              <a:ext cx="0" cy="144"/>
            </a:xfrm>
            <a:prstGeom prst="line">
              <a:avLst/>
            </a:prstGeom>
            <a:ln w="9525" cap="flat" cmpd="sng">
              <a:solidFill>
                <a:schemeClr val="tx1"/>
              </a:solidFill>
              <a:prstDash val="solid"/>
              <a:round/>
              <a:headEnd type="none" w="med" len="med"/>
              <a:tailEnd type="none" w="med" len="med"/>
            </a:ln>
          </p:spPr>
        </p:sp>
        <p:sp>
          <p:nvSpPr>
            <p:cNvPr id="15371" name="Line 14"/>
            <p:cNvSpPr/>
            <p:nvPr/>
          </p:nvSpPr>
          <p:spPr>
            <a:xfrm flipV="1">
              <a:off x="1488" y="3504"/>
              <a:ext cx="0" cy="144"/>
            </a:xfrm>
            <a:prstGeom prst="line">
              <a:avLst/>
            </a:prstGeom>
            <a:ln w="9525" cap="flat" cmpd="sng">
              <a:solidFill>
                <a:schemeClr val="tx1"/>
              </a:solidFill>
              <a:prstDash val="solid"/>
              <a:round/>
              <a:headEnd type="none" w="med" len="med"/>
              <a:tailEnd type="none" w="med" len="med"/>
            </a:ln>
          </p:spPr>
        </p:sp>
        <p:sp>
          <p:nvSpPr>
            <p:cNvPr id="15372" name="AutoShape 15"/>
            <p:cNvSpPr/>
            <p:nvPr/>
          </p:nvSpPr>
          <p:spPr>
            <a:xfrm>
              <a:off x="576" y="3696"/>
              <a:ext cx="240" cy="192"/>
            </a:xfrm>
            <a:prstGeom prst="flowChartDisplay">
              <a:avLst/>
            </a:prstGeom>
            <a:solidFill>
              <a:srgbClr val="00FFFF"/>
            </a:solidFill>
            <a:ln w="9525" cap="flat" cmpd="sng">
              <a:solidFill>
                <a:schemeClr val="tx1"/>
              </a:solidFill>
              <a:prstDash val="solid"/>
              <a:miter/>
              <a:headEnd type="none" w="med" len="med"/>
              <a:tailEnd type="none" w="med" len="med"/>
            </a:ln>
          </p:spPr>
          <p:txBody>
            <a:bodyPr wrap="none" anchor="ctr" anchorCtr="0"/>
            <a:lstStyle/>
            <a:p>
              <a:pPr algn="ctr" eaLnBrk="0" hangingPunct="0">
                <a:buClrTx/>
                <a:buFontTx/>
                <a:buNone/>
              </a:pPr>
              <a:r>
                <a:rPr lang="en-US" altLang="zh-CN" sz="2400" dirty="0">
                  <a:solidFill>
                    <a:schemeClr val="tx1"/>
                  </a:solidFill>
                  <a:latin typeface="Times New Roman" panose="02020603050405020304" pitchFamily="18" charset="0"/>
                  <a:ea typeface="宋体" panose="02010600030101010101" pitchFamily="2" charset="-122"/>
                </a:rPr>
                <a:t>T</a:t>
              </a:r>
            </a:p>
          </p:txBody>
        </p:sp>
        <p:sp>
          <p:nvSpPr>
            <p:cNvPr id="15373" name="AutoShape 16"/>
            <p:cNvSpPr/>
            <p:nvPr/>
          </p:nvSpPr>
          <p:spPr>
            <a:xfrm>
              <a:off x="1056" y="4176"/>
              <a:ext cx="240" cy="192"/>
            </a:xfrm>
            <a:prstGeom prst="flowChartDisplay">
              <a:avLst/>
            </a:prstGeom>
            <a:solidFill>
              <a:srgbClr val="00FFFF"/>
            </a:solidFill>
            <a:ln w="9525" cap="flat" cmpd="sng">
              <a:solidFill>
                <a:schemeClr val="tx1"/>
              </a:solidFill>
              <a:prstDash val="solid"/>
              <a:miter/>
              <a:headEnd type="none" w="med" len="med"/>
              <a:tailEnd type="none" w="med" len="med"/>
            </a:ln>
          </p:spPr>
          <p:txBody>
            <a:bodyPr wrap="none" anchor="ctr" anchorCtr="0"/>
            <a:lstStyle/>
            <a:p>
              <a:pPr algn="ctr" eaLnBrk="0" hangingPunct="0">
                <a:buClrTx/>
                <a:buFontTx/>
                <a:buNone/>
              </a:pPr>
              <a:r>
                <a:rPr lang="en-US" altLang="zh-CN" sz="2400" dirty="0">
                  <a:solidFill>
                    <a:schemeClr val="tx1"/>
                  </a:solidFill>
                  <a:latin typeface="Times New Roman" panose="02020603050405020304" pitchFamily="18" charset="0"/>
                  <a:ea typeface="宋体" panose="02010600030101010101" pitchFamily="2" charset="-122"/>
                </a:rPr>
                <a:t>T</a:t>
              </a:r>
            </a:p>
          </p:txBody>
        </p:sp>
        <p:sp>
          <p:nvSpPr>
            <p:cNvPr id="15374" name="AutoShape 17"/>
            <p:cNvSpPr/>
            <p:nvPr/>
          </p:nvSpPr>
          <p:spPr>
            <a:xfrm>
              <a:off x="2372" y="1920"/>
              <a:ext cx="240" cy="192"/>
            </a:xfrm>
            <a:prstGeom prst="flowChartDisplay">
              <a:avLst/>
            </a:prstGeom>
            <a:solidFill>
              <a:srgbClr val="00FFFF"/>
            </a:solidFill>
            <a:ln w="9525" cap="flat" cmpd="sng">
              <a:solidFill>
                <a:schemeClr val="tx1"/>
              </a:solidFill>
              <a:prstDash val="solid"/>
              <a:miter/>
              <a:headEnd type="none" w="med" len="med"/>
              <a:tailEnd type="none" w="med" len="med"/>
            </a:ln>
          </p:spPr>
          <p:txBody>
            <a:bodyPr wrap="none" anchor="ctr" anchorCtr="0"/>
            <a:lstStyle/>
            <a:p>
              <a:pPr algn="ctr" eaLnBrk="0" hangingPunct="0">
                <a:buClrTx/>
                <a:buFontTx/>
                <a:buNone/>
              </a:pPr>
              <a:r>
                <a:rPr lang="en-US" altLang="zh-CN" sz="2400" dirty="0">
                  <a:solidFill>
                    <a:schemeClr val="tx1"/>
                  </a:solidFill>
                  <a:latin typeface="Times New Roman" panose="02020603050405020304" pitchFamily="18" charset="0"/>
                  <a:ea typeface="宋体" panose="02010600030101010101" pitchFamily="2" charset="-122"/>
                </a:rPr>
                <a:t>T</a:t>
              </a:r>
            </a:p>
          </p:txBody>
        </p:sp>
        <p:sp>
          <p:nvSpPr>
            <p:cNvPr id="15375" name="AutoShape 18"/>
            <p:cNvSpPr/>
            <p:nvPr/>
          </p:nvSpPr>
          <p:spPr>
            <a:xfrm>
              <a:off x="1460" y="1920"/>
              <a:ext cx="240" cy="192"/>
            </a:xfrm>
            <a:prstGeom prst="flowChartDisplay">
              <a:avLst/>
            </a:prstGeom>
            <a:solidFill>
              <a:srgbClr val="00FFFF"/>
            </a:solidFill>
            <a:ln w="9525" cap="flat" cmpd="sng">
              <a:solidFill>
                <a:schemeClr val="tx1"/>
              </a:solidFill>
              <a:prstDash val="solid"/>
              <a:miter/>
              <a:headEnd type="none" w="med" len="med"/>
              <a:tailEnd type="none" w="med" len="med"/>
            </a:ln>
          </p:spPr>
          <p:txBody>
            <a:bodyPr wrap="none" anchor="ctr" anchorCtr="0"/>
            <a:lstStyle/>
            <a:p>
              <a:pPr algn="ctr" eaLnBrk="0" hangingPunct="0">
                <a:buClrTx/>
                <a:buFontTx/>
                <a:buNone/>
              </a:pPr>
              <a:r>
                <a:rPr lang="en-US" altLang="zh-CN" sz="2400" dirty="0">
                  <a:solidFill>
                    <a:schemeClr val="tx1"/>
                  </a:solidFill>
                  <a:latin typeface="Times New Roman" panose="02020603050405020304" pitchFamily="18" charset="0"/>
                  <a:ea typeface="宋体" panose="02010600030101010101" pitchFamily="2" charset="-122"/>
                </a:rPr>
                <a:t>T</a:t>
              </a:r>
            </a:p>
          </p:txBody>
        </p:sp>
        <p:sp>
          <p:nvSpPr>
            <p:cNvPr id="15376" name="Line 19"/>
            <p:cNvSpPr/>
            <p:nvPr/>
          </p:nvSpPr>
          <p:spPr>
            <a:xfrm>
              <a:off x="1584" y="3888"/>
              <a:ext cx="96" cy="288"/>
            </a:xfrm>
            <a:prstGeom prst="line">
              <a:avLst/>
            </a:prstGeom>
            <a:ln w="9525" cap="flat" cmpd="sng">
              <a:solidFill>
                <a:schemeClr val="tx1"/>
              </a:solidFill>
              <a:prstDash val="solid"/>
              <a:round/>
              <a:headEnd type="none" w="med" len="med"/>
              <a:tailEnd type="none" w="med" len="med"/>
            </a:ln>
          </p:spPr>
        </p:sp>
        <p:sp>
          <p:nvSpPr>
            <p:cNvPr id="15377" name="Line 20"/>
            <p:cNvSpPr/>
            <p:nvPr/>
          </p:nvSpPr>
          <p:spPr>
            <a:xfrm flipV="1">
              <a:off x="1200" y="3888"/>
              <a:ext cx="144" cy="288"/>
            </a:xfrm>
            <a:prstGeom prst="line">
              <a:avLst/>
            </a:prstGeom>
            <a:ln w="9525" cap="flat" cmpd="sng">
              <a:solidFill>
                <a:schemeClr val="tx1"/>
              </a:solidFill>
              <a:prstDash val="solid"/>
              <a:round/>
              <a:headEnd type="none" w="med" len="med"/>
              <a:tailEnd type="none" w="med" len="med"/>
            </a:ln>
          </p:spPr>
        </p:sp>
        <p:sp>
          <p:nvSpPr>
            <p:cNvPr id="15378" name="Line 21"/>
            <p:cNvSpPr/>
            <p:nvPr/>
          </p:nvSpPr>
          <p:spPr>
            <a:xfrm>
              <a:off x="1652" y="2112"/>
              <a:ext cx="240" cy="192"/>
            </a:xfrm>
            <a:prstGeom prst="line">
              <a:avLst/>
            </a:prstGeom>
            <a:ln w="9525" cap="flat" cmpd="sng">
              <a:solidFill>
                <a:schemeClr val="tx1"/>
              </a:solidFill>
              <a:prstDash val="solid"/>
              <a:round/>
              <a:headEnd type="none" w="med" len="med"/>
              <a:tailEnd type="none" w="med" len="med"/>
            </a:ln>
          </p:spPr>
        </p:sp>
        <p:sp>
          <p:nvSpPr>
            <p:cNvPr id="15379" name="Line 22"/>
            <p:cNvSpPr/>
            <p:nvPr/>
          </p:nvSpPr>
          <p:spPr>
            <a:xfrm flipH="1">
              <a:off x="2228" y="2112"/>
              <a:ext cx="192" cy="192"/>
            </a:xfrm>
            <a:prstGeom prst="line">
              <a:avLst/>
            </a:prstGeom>
            <a:ln w="9525" cap="flat" cmpd="sng">
              <a:solidFill>
                <a:schemeClr val="tx1"/>
              </a:solidFill>
              <a:prstDash val="solid"/>
              <a:round/>
              <a:headEnd type="none" w="med" len="med"/>
              <a:tailEnd type="none" w="med" len="med"/>
            </a:ln>
          </p:spPr>
        </p:sp>
        <p:sp>
          <p:nvSpPr>
            <p:cNvPr id="15380" name="AutoShape 23"/>
            <p:cNvSpPr/>
            <p:nvPr/>
          </p:nvSpPr>
          <p:spPr>
            <a:xfrm>
              <a:off x="3312" y="3696"/>
              <a:ext cx="240" cy="192"/>
            </a:xfrm>
            <a:prstGeom prst="flowChartDisplay">
              <a:avLst/>
            </a:prstGeom>
            <a:solidFill>
              <a:srgbClr val="00FFFF"/>
            </a:solidFill>
            <a:ln w="9525" cap="flat" cmpd="sng">
              <a:solidFill>
                <a:schemeClr val="tx1"/>
              </a:solidFill>
              <a:prstDash val="solid"/>
              <a:miter/>
              <a:headEnd type="none" w="med" len="med"/>
              <a:tailEnd type="none" w="med" len="med"/>
            </a:ln>
          </p:spPr>
          <p:txBody>
            <a:bodyPr wrap="none" anchor="ctr" anchorCtr="0"/>
            <a:lstStyle/>
            <a:p>
              <a:pPr algn="ctr" eaLnBrk="0" hangingPunct="0">
                <a:buClrTx/>
                <a:buFontTx/>
                <a:buNone/>
              </a:pPr>
              <a:r>
                <a:rPr lang="en-US" altLang="zh-CN" sz="2400" dirty="0">
                  <a:solidFill>
                    <a:schemeClr val="tx1"/>
                  </a:solidFill>
                  <a:latin typeface="Times New Roman" panose="02020603050405020304" pitchFamily="18" charset="0"/>
                  <a:ea typeface="宋体" panose="02010600030101010101" pitchFamily="2" charset="-122"/>
                </a:rPr>
                <a:t>T</a:t>
              </a:r>
            </a:p>
          </p:txBody>
        </p:sp>
        <p:sp>
          <p:nvSpPr>
            <p:cNvPr id="15381" name="AutoShape 24"/>
            <p:cNvSpPr/>
            <p:nvPr/>
          </p:nvSpPr>
          <p:spPr>
            <a:xfrm>
              <a:off x="1584" y="4176"/>
              <a:ext cx="240" cy="192"/>
            </a:xfrm>
            <a:prstGeom prst="flowChartDisplay">
              <a:avLst/>
            </a:prstGeom>
            <a:solidFill>
              <a:srgbClr val="00FFFF"/>
            </a:solidFill>
            <a:ln w="9525" cap="flat" cmpd="sng">
              <a:solidFill>
                <a:schemeClr val="tx1"/>
              </a:solidFill>
              <a:prstDash val="solid"/>
              <a:miter/>
              <a:headEnd type="none" w="med" len="med"/>
              <a:tailEnd type="none" w="med" len="med"/>
            </a:ln>
          </p:spPr>
          <p:txBody>
            <a:bodyPr wrap="none" anchor="ctr" anchorCtr="0"/>
            <a:lstStyle/>
            <a:p>
              <a:pPr algn="ctr" eaLnBrk="0" hangingPunct="0">
                <a:buClrTx/>
                <a:buFontTx/>
                <a:buNone/>
              </a:pPr>
              <a:r>
                <a:rPr lang="en-US" altLang="zh-CN" sz="2400" dirty="0">
                  <a:solidFill>
                    <a:schemeClr val="tx1"/>
                  </a:solidFill>
                  <a:latin typeface="Times New Roman" panose="02020603050405020304" pitchFamily="18" charset="0"/>
                  <a:ea typeface="宋体" panose="02010600030101010101" pitchFamily="2" charset="-122"/>
                </a:rPr>
                <a:t>T</a:t>
              </a:r>
            </a:p>
          </p:txBody>
        </p:sp>
        <p:sp>
          <p:nvSpPr>
            <p:cNvPr id="15382" name="Line 25"/>
            <p:cNvSpPr/>
            <p:nvPr/>
          </p:nvSpPr>
          <p:spPr>
            <a:xfrm flipH="1">
              <a:off x="816" y="3792"/>
              <a:ext cx="336" cy="0"/>
            </a:xfrm>
            <a:prstGeom prst="line">
              <a:avLst/>
            </a:prstGeom>
            <a:ln w="9525" cap="flat" cmpd="sng">
              <a:solidFill>
                <a:schemeClr val="tx1"/>
              </a:solidFill>
              <a:prstDash val="solid"/>
              <a:round/>
              <a:headEnd type="none" w="med" len="med"/>
              <a:tailEnd type="none" w="med" len="med"/>
            </a:ln>
          </p:spPr>
        </p:sp>
        <p:sp>
          <p:nvSpPr>
            <p:cNvPr id="15383" name="Rectangle 26"/>
            <p:cNvSpPr/>
            <p:nvPr/>
          </p:nvSpPr>
          <p:spPr>
            <a:xfrm>
              <a:off x="2304" y="3264"/>
              <a:ext cx="720" cy="672"/>
            </a:xfrm>
            <a:prstGeom prst="rect">
              <a:avLst/>
            </a:prstGeom>
            <a:solidFill>
              <a:srgbClr val="E1FFFF"/>
            </a:solidFill>
            <a:ln w="9525" cap="flat" cmpd="sng">
              <a:solidFill>
                <a:schemeClr val="tx1"/>
              </a:solidFill>
              <a:prstDash val="dash"/>
              <a:miter/>
              <a:headEnd type="none" w="med" len="med"/>
              <a:tailEnd type="none" w="med" len="med"/>
            </a:ln>
          </p:spPr>
          <p:txBody>
            <a:bodyPr wrap="none" anchor="ctr" anchorCtr="0"/>
            <a:lstStyle/>
            <a:p>
              <a:pPr>
                <a:spcBef>
                  <a:spcPct val="20000"/>
                </a:spcBef>
              </a:pPr>
              <a:endParaRPr lang="zh-CN" altLang="en-US" dirty="0">
                <a:latin typeface="Times New Roman" panose="02020603050405020304" pitchFamily="18" charset="0"/>
                <a:ea typeface="黑体" panose="02010609060101010101" pitchFamily="49" charset="-122"/>
              </a:endParaRPr>
            </a:p>
          </p:txBody>
        </p:sp>
        <p:sp>
          <p:nvSpPr>
            <p:cNvPr id="15384" name="Oval 27"/>
            <p:cNvSpPr/>
            <p:nvPr/>
          </p:nvSpPr>
          <p:spPr>
            <a:xfrm>
              <a:off x="2448" y="3312"/>
              <a:ext cx="480" cy="192"/>
            </a:xfrm>
            <a:prstGeom prst="ellipse">
              <a:avLst/>
            </a:prstGeom>
            <a:solidFill>
              <a:srgbClr val="00FFFF"/>
            </a:solidFill>
            <a:ln w="9525" cap="flat" cmpd="sng">
              <a:solidFill>
                <a:schemeClr val="tx1"/>
              </a:solidFill>
              <a:prstDash val="solid"/>
              <a:round/>
              <a:headEnd type="none" w="med" len="med"/>
              <a:tailEnd type="none" w="med" len="med"/>
            </a:ln>
          </p:spPr>
          <p:txBody>
            <a:bodyPr wrap="none" anchor="ctr" anchorCtr="0"/>
            <a:lstStyle/>
            <a:p>
              <a:pPr algn="ctr" eaLnBrk="0" hangingPunct="0">
                <a:buClrTx/>
                <a:buFontTx/>
                <a:buNone/>
              </a:pPr>
              <a:r>
                <a:rPr lang="en-US" altLang="zh-CN" sz="1800" dirty="0">
                  <a:solidFill>
                    <a:schemeClr val="tx1"/>
                  </a:solidFill>
                  <a:latin typeface="Times New Roman" panose="02020603050405020304" pitchFamily="18" charset="0"/>
                  <a:ea typeface="宋体" panose="02010600030101010101" pitchFamily="2" charset="-122"/>
                </a:rPr>
                <a:t>CCP</a:t>
              </a:r>
            </a:p>
          </p:txBody>
        </p:sp>
        <p:sp>
          <p:nvSpPr>
            <p:cNvPr id="15385" name="Rectangle 28"/>
            <p:cNvSpPr/>
            <p:nvPr/>
          </p:nvSpPr>
          <p:spPr>
            <a:xfrm>
              <a:off x="2352" y="3648"/>
              <a:ext cx="624" cy="240"/>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lstStyle/>
            <a:p>
              <a:pPr algn="ctr" eaLnBrk="0" hangingPunct="0">
                <a:buClrTx/>
                <a:buFontTx/>
                <a:buNone/>
              </a:pPr>
              <a:r>
                <a:rPr lang="en-US" altLang="zh-CN" sz="2000" dirty="0">
                  <a:solidFill>
                    <a:schemeClr val="tx1"/>
                  </a:solidFill>
                  <a:latin typeface="Times New Roman" panose="02020603050405020304" pitchFamily="18" charset="0"/>
                  <a:ea typeface="宋体" panose="02010600030101010101" pitchFamily="2" charset="-122"/>
                </a:rPr>
                <a:t>HOST</a:t>
              </a:r>
            </a:p>
          </p:txBody>
        </p:sp>
        <p:sp>
          <p:nvSpPr>
            <p:cNvPr id="15386" name="Line 29"/>
            <p:cNvSpPr/>
            <p:nvPr/>
          </p:nvSpPr>
          <p:spPr>
            <a:xfrm flipV="1">
              <a:off x="2688" y="3504"/>
              <a:ext cx="0" cy="144"/>
            </a:xfrm>
            <a:prstGeom prst="line">
              <a:avLst/>
            </a:prstGeom>
            <a:ln w="9525" cap="flat" cmpd="sng">
              <a:solidFill>
                <a:schemeClr val="tx1"/>
              </a:solidFill>
              <a:prstDash val="solid"/>
              <a:round/>
              <a:headEnd type="none" w="med" len="med"/>
              <a:tailEnd type="none" w="med" len="med"/>
            </a:ln>
          </p:spPr>
        </p:sp>
        <p:sp>
          <p:nvSpPr>
            <p:cNvPr id="15387" name="AutoShape 30"/>
            <p:cNvSpPr/>
            <p:nvPr/>
          </p:nvSpPr>
          <p:spPr>
            <a:xfrm>
              <a:off x="2256" y="4176"/>
              <a:ext cx="240" cy="192"/>
            </a:xfrm>
            <a:prstGeom prst="flowChartDisplay">
              <a:avLst/>
            </a:prstGeom>
            <a:solidFill>
              <a:srgbClr val="00FFFF"/>
            </a:solidFill>
            <a:ln w="9525" cap="flat" cmpd="sng">
              <a:solidFill>
                <a:schemeClr val="tx1"/>
              </a:solidFill>
              <a:prstDash val="solid"/>
              <a:miter/>
              <a:headEnd type="none" w="med" len="med"/>
              <a:tailEnd type="none" w="med" len="med"/>
            </a:ln>
          </p:spPr>
          <p:txBody>
            <a:bodyPr wrap="none" anchor="ctr" anchorCtr="0"/>
            <a:lstStyle/>
            <a:p>
              <a:pPr algn="ctr" eaLnBrk="0" hangingPunct="0">
                <a:buClrTx/>
                <a:buFontTx/>
                <a:buNone/>
              </a:pPr>
              <a:r>
                <a:rPr lang="en-US" altLang="zh-CN" sz="2400" dirty="0">
                  <a:solidFill>
                    <a:schemeClr val="tx1"/>
                  </a:solidFill>
                  <a:latin typeface="Times New Roman" panose="02020603050405020304" pitchFamily="18" charset="0"/>
                  <a:ea typeface="宋体" panose="02010600030101010101" pitchFamily="2" charset="-122"/>
                </a:rPr>
                <a:t>T</a:t>
              </a:r>
            </a:p>
          </p:txBody>
        </p:sp>
        <p:sp>
          <p:nvSpPr>
            <p:cNvPr id="15388" name="Line 31"/>
            <p:cNvSpPr/>
            <p:nvPr/>
          </p:nvSpPr>
          <p:spPr>
            <a:xfrm>
              <a:off x="2784" y="3888"/>
              <a:ext cx="144" cy="288"/>
            </a:xfrm>
            <a:prstGeom prst="line">
              <a:avLst/>
            </a:prstGeom>
            <a:ln w="9525" cap="flat" cmpd="sng">
              <a:solidFill>
                <a:schemeClr val="tx1"/>
              </a:solidFill>
              <a:prstDash val="solid"/>
              <a:round/>
              <a:headEnd type="none" w="med" len="med"/>
              <a:tailEnd type="none" w="med" len="med"/>
            </a:ln>
          </p:spPr>
        </p:sp>
        <p:sp>
          <p:nvSpPr>
            <p:cNvPr id="15389" name="Line 32"/>
            <p:cNvSpPr/>
            <p:nvPr/>
          </p:nvSpPr>
          <p:spPr>
            <a:xfrm flipV="1">
              <a:off x="2400" y="3888"/>
              <a:ext cx="144" cy="288"/>
            </a:xfrm>
            <a:prstGeom prst="line">
              <a:avLst/>
            </a:prstGeom>
            <a:ln w="9525" cap="flat" cmpd="sng">
              <a:solidFill>
                <a:schemeClr val="tx1"/>
              </a:solidFill>
              <a:prstDash val="solid"/>
              <a:round/>
              <a:headEnd type="none" w="med" len="med"/>
              <a:tailEnd type="none" w="med" len="med"/>
            </a:ln>
          </p:spPr>
        </p:sp>
        <p:sp>
          <p:nvSpPr>
            <p:cNvPr id="15390" name="AutoShape 33"/>
            <p:cNvSpPr/>
            <p:nvPr/>
          </p:nvSpPr>
          <p:spPr>
            <a:xfrm>
              <a:off x="2832" y="4176"/>
              <a:ext cx="240" cy="192"/>
            </a:xfrm>
            <a:prstGeom prst="flowChartDisplay">
              <a:avLst/>
            </a:prstGeom>
            <a:solidFill>
              <a:srgbClr val="00FFFF"/>
            </a:solidFill>
            <a:ln w="9525" cap="flat" cmpd="sng">
              <a:solidFill>
                <a:schemeClr val="tx1"/>
              </a:solidFill>
              <a:prstDash val="solid"/>
              <a:miter/>
              <a:headEnd type="none" w="med" len="med"/>
              <a:tailEnd type="none" w="med" len="med"/>
            </a:ln>
          </p:spPr>
          <p:txBody>
            <a:bodyPr wrap="none" anchor="ctr" anchorCtr="0"/>
            <a:lstStyle/>
            <a:p>
              <a:pPr algn="ctr" eaLnBrk="0" hangingPunct="0">
                <a:buClrTx/>
                <a:buFontTx/>
                <a:buNone/>
              </a:pPr>
              <a:r>
                <a:rPr lang="en-US" altLang="zh-CN" sz="2400" dirty="0">
                  <a:solidFill>
                    <a:schemeClr val="tx1"/>
                  </a:solidFill>
                  <a:latin typeface="Times New Roman" panose="02020603050405020304" pitchFamily="18" charset="0"/>
                  <a:ea typeface="宋体" panose="02010600030101010101" pitchFamily="2" charset="-122"/>
                </a:rPr>
                <a:t>T</a:t>
              </a:r>
            </a:p>
          </p:txBody>
        </p:sp>
        <p:sp>
          <p:nvSpPr>
            <p:cNvPr id="15391" name="Line 34"/>
            <p:cNvSpPr/>
            <p:nvPr/>
          </p:nvSpPr>
          <p:spPr>
            <a:xfrm flipH="1">
              <a:off x="2976" y="3792"/>
              <a:ext cx="336" cy="0"/>
            </a:xfrm>
            <a:prstGeom prst="line">
              <a:avLst/>
            </a:prstGeom>
            <a:ln w="9525" cap="flat" cmpd="sng">
              <a:solidFill>
                <a:schemeClr val="tx1"/>
              </a:solidFill>
              <a:prstDash val="solid"/>
              <a:round/>
              <a:headEnd type="none" w="med" len="med"/>
              <a:tailEnd type="none" w="med" len="med"/>
            </a:ln>
          </p:spPr>
        </p:sp>
        <p:sp>
          <p:nvSpPr>
            <p:cNvPr id="15392" name="Line 35"/>
            <p:cNvSpPr/>
            <p:nvPr/>
          </p:nvSpPr>
          <p:spPr>
            <a:xfrm>
              <a:off x="2112" y="2880"/>
              <a:ext cx="432" cy="432"/>
            </a:xfrm>
            <a:prstGeom prst="line">
              <a:avLst/>
            </a:prstGeom>
            <a:ln w="9525" cap="flat" cmpd="sng">
              <a:solidFill>
                <a:schemeClr val="tx1"/>
              </a:solidFill>
              <a:prstDash val="solid"/>
              <a:round/>
              <a:headEnd type="none" w="med" len="med"/>
              <a:tailEnd type="none" w="med" len="med"/>
            </a:ln>
          </p:spPr>
        </p:sp>
        <p:sp>
          <p:nvSpPr>
            <p:cNvPr id="15393" name="Line 36"/>
            <p:cNvSpPr/>
            <p:nvPr/>
          </p:nvSpPr>
          <p:spPr>
            <a:xfrm>
              <a:off x="1728" y="3408"/>
              <a:ext cx="720" cy="0"/>
            </a:xfrm>
            <a:prstGeom prst="line">
              <a:avLst/>
            </a:prstGeom>
            <a:ln w="9525" cap="flat" cmpd="sng">
              <a:solidFill>
                <a:schemeClr val="tx1"/>
              </a:solidFill>
              <a:prstDash val="solid"/>
              <a:round/>
              <a:headEnd type="none" w="med" len="med"/>
              <a:tailEnd type="none" w="med" len="med"/>
            </a:ln>
          </p:spPr>
        </p:sp>
      </p:grpSp>
      <p:sp>
        <p:nvSpPr>
          <p:cNvPr id="15394" name="Text Box 37"/>
          <p:cNvSpPr txBox="1"/>
          <p:nvPr/>
        </p:nvSpPr>
        <p:spPr>
          <a:xfrm>
            <a:off x="2339975" y="4868863"/>
            <a:ext cx="1098550" cy="366712"/>
          </a:xfrm>
          <a:prstGeom prst="rect">
            <a:avLst/>
          </a:prstGeom>
          <a:noFill/>
          <a:ln w="9525">
            <a:noFill/>
          </a:ln>
        </p:spPr>
        <p:txBody>
          <a:bodyPr wrap="none" anchor="t" anchorCtr="0">
            <a:spAutoFit/>
          </a:bodyPr>
          <a:lstStyle/>
          <a:p>
            <a:pPr algn="ctr" eaLnBrk="0" hangingPunct="0">
              <a:buClrTx/>
              <a:buFontTx/>
              <a:buNone/>
            </a:pPr>
            <a:r>
              <a:rPr lang="zh-CN" altLang="en-US" sz="1800" dirty="0">
                <a:solidFill>
                  <a:schemeClr val="tx1"/>
                </a:solidFill>
                <a:latin typeface="Times New Roman" panose="02020603050405020304" pitchFamily="18" charset="0"/>
                <a:ea typeface="宋体" panose="02010600030101010101" pitchFamily="2" charset="-122"/>
              </a:rPr>
              <a:t>通信线路</a:t>
            </a:r>
          </a:p>
        </p:txBody>
      </p:sp>
      <p:sp>
        <p:nvSpPr>
          <p:cNvPr id="15395" name="Rectangle 39"/>
          <p:cNvSpPr>
            <a:spLocks noGrp="1"/>
          </p:cNvSpPr>
          <p:nvPr>
            <p:ph type="title"/>
          </p:nvPr>
        </p:nvSpPr>
        <p:spPr>
          <a:xfrm>
            <a:off x="1447800" y="260350"/>
            <a:ext cx="7696200" cy="720725"/>
          </a:xfrm>
        </p:spPr>
        <p:txBody>
          <a:bodyPr vert="horz" wrap="square" lIns="92075" tIns="46038" rIns="92075" bIns="46038" anchor="ctr" anchorCtr="0"/>
          <a:lstStyle/>
          <a:p>
            <a:pPr algn="r" eaLnBrk="1" hangingPunct="1"/>
            <a:r>
              <a:rPr lang="zh-CN" altLang="en-US" sz="3600" dirty="0">
                <a:solidFill>
                  <a:schemeClr val="bg1"/>
                </a:solidFill>
              </a:rPr>
              <a:t>分组交换网络</a:t>
            </a:r>
            <a:endParaRPr lang="zh-CN" altLang="en-US" sz="4400" dirty="0"/>
          </a:p>
        </p:txBody>
      </p:sp>
      <p:sp>
        <p:nvSpPr>
          <p:cNvPr id="15396" name="Rectangle 3"/>
          <p:cNvSpPr/>
          <p:nvPr/>
        </p:nvSpPr>
        <p:spPr>
          <a:xfrm>
            <a:off x="684213" y="1552575"/>
            <a:ext cx="3594100" cy="639763"/>
          </a:xfrm>
          <a:prstGeom prst="rect">
            <a:avLst/>
          </a:prstGeom>
          <a:noFill/>
          <a:ln w="9525">
            <a:noFill/>
          </a:ln>
        </p:spPr>
        <p:txBody>
          <a:bodyPr anchor="t" anchorCtr="0"/>
          <a:lstStyle/>
          <a:p>
            <a:pPr marL="1003300" lvl="1" indent="-285750" algn="just">
              <a:spcBef>
                <a:spcPct val="20000"/>
              </a:spcBef>
              <a:buClr>
                <a:schemeClr val="accent1"/>
              </a:buClr>
              <a:buFontTx/>
              <a:buNone/>
            </a:pPr>
            <a:r>
              <a:rPr lang="zh-CN" altLang="en-US" sz="3200" b="1" dirty="0">
                <a:solidFill>
                  <a:srgbClr val="003399"/>
                </a:solidFill>
                <a:latin typeface="Times New Roman" panose="02020603050405020304" pitchFamily="18" charset="0"/>
                <a:ea typeface="黑体" panose="02010609060101010101" pitchFamily="49" charset="-122"/>
              </a:rPr>
              <a:t> 通信子网连接</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2941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29412">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2941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29412">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29412">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2941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2"/>
          <p:cNvSpPr>
            <a:spLocks noGrp="1"/>
          </p:cNvSpPr>
          <p:nvPr>
            <p:ph type="title"/>
          </p:nvPr>
        </p:nvSpPr>
        <p:spPr>
          <a:xfrm>
            <a:off x="1447800" y="260350"/>
            <a:ext cx="7696200" cy="720725"/>
          </a:xfrm>
        </p:spPr>
        <p:txBody>
          <a:bodyPr vert="horz" wrap="square" lIns="92075" tIns="46038" rIns="92075" bIns="46038" anchor="ctr" anchorCtr="0"/>
          <a:lstStyle/>
          <a:p>
            <a:pPr algn="r" eaLnBrk="1" hangingPunct="1">
              <a:buNone/>
            </a:pPr>
            <a:r>
              <a:rPr lang="zh-CN" altLang="en-US" sz="3200" dirty="0">
                <a:solidFill>
                  <a:schemeClr val="bg1"/>
                </a:solidFill>
              </a:rPr>
              <a:t>分组交换网络</a:t>
            </a:r>
            <a:endParaRPr lang="zh-CN" altLang="en-US" dirty="0"/>
          </a:p>
        </p:txBody>
      </p:sp>
      <p:grpSp>
        <p:nvGrpSpPr>
          <p:cNvPr id="16386" name="Group 4"/>
          <p:cNvGrpSpPr/>
          <p:nvPr/>
        </p:nvGrpSpPr>
        <p:grpSpPr>
          <a:xfrm>
            <a:off x="250825" y="2276475"/>
            <a:ext cx="5029200" cy="2921000"/>
            <a:chOff x="672" y="3552"/>
            <a:chExt cx="3168" cy="2112"/>
          </a:xfrm>
        </p:grpSpPr>
        <p:sp>
          <p:nvSpPr>
            <p:cNvPr id="16387" name="Oval 5"/>
            <p:cNvSpPr/>
            <p:nvPr/>
          </p:nvSpPr>
          <p:spPr>
            <a:xfrm>
              <a:off x="1680" y="4320"/>
              <a:ext cx="1152" cy="480"/>
            </a:xfrm>
            <a:prstGeom prst="ellipse">
              <a:avLst/>
            </a:prstGeom>
            <a:solidFill>
              <a:srgbClr val="00FFFF"/>
            </a:solidFill>
            <a:ln w="9525" cap="flat" cmpd="sng">
              <a:solidFill>
                <a:schemeClr val="tx1"/>
              </a:solidFill>
              <a:prstDash val="solid"/>
              <a:round/>
              <a:headEnd type="none" w="med" len="med"/>
              <a:tailEnd type="none" w="med" len="med"/>
            </a:ln>
          </p:spPr>
          <p:txBody>
            <a:bodyPr wrap="none" anchor="ctr" anchorCtr="0"/>
            <a:lstStyle/>
            <a:p>
              <a:pPr algn="ctr" eaLnBrk="0" hangingPunct="0">
                <a:buClrTx/>
                <a:buFontTx/>
                <a:buNone/>
              </a:pPr>
              <a:r>
                <a:rPr lang="zh-CN" altLang="en-US" sz="1800" dirty="0">
                  <a:solidFill>
                    <a:schemeClr val="tx1"/>
                  </a:solidFill>
                  <a:latin typeface="Times New Roman" panose="02020603050405020304" pitchFamily="18" charset="0"/>
                  <a:ea typeface="宋体" panose="02010600030101010101" pitchFamily="2" charset="-122"/>
                </a:rPr>
                <a:t>公用数据通信网</a:t>
              </a:r>
            </a:p>
          </p:txBody>
        </p:sp>
        <p:sp>
          <p:nvSpPr>
            <p:cNvPr id="16388" name="Rectangle 6"/>
            <p:cNvSpPr/>
            <p:nvPr/>
          </p:nvSpPr>
          <p:spPr>
            <a:xfrm>
              <a:off x="1152" y="4944"/>
              <a:ext cx="624" cy="240"/>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lstStyle/>
            <a:p>
              <a:pPr algn="ctr" eaLnBrk="0" hangingPunct="0">
                <a:buClrTx/>
                <a:buFontTx/>
                <a:buNone/>
              </a:pPr>
              <a:r>
                <a:rPr lang="en-US" altLang="zh-CN" sz="2000" dirty="0">
                  <a:solidFill>
                    <a:schemeClr val="tx1"/>
                  </a:solidFill>
                  <a:latin typeface="Times New Roman" panose="02020603050405020304" pitchFamily="18" charset="0"/>
                  <a:ea typeface="宋体" panose="02010600030101010101" pitchFamily="2" charset="-122"/>
                </a:rPr>
                <a:t>HOST</a:t>
              </a:r>
            </a:p>
          </p:txBody>
        </p:sp>
        <p:sp>
          <p:nvSpPr>
            <p:cNvPr id="16389" name="Rectangle 7"/>
            <p:cNvSpPr/>
            <p:nvPr/>
          </p:nvSpPr>
          <p:spPr>
            <a:xfrm>
              <a:off x="1920" y="3888"/>
              <a:ext cx="624" cy="240"/>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lstStyle/>
            <a:p>
              <a:pPr algn="ctr" eaLnBrk="0" hangingPunct="0">
                <a:buClrTx/>
                <a:buFontTx/>
                <a:buNone/>
              </a:pPr>
              <a:r>
                <a:rPr lang="en-US" altLang="zh-CN" sz="2000" dirty="0">
                  <a:solidFill>
                    <a:schemeClr val="tx1"/>
                  </a:solidFill>
                  <a:latin typeface="Times New Roman" panose="02020603050405020304" pitchFamily="18" charset="0"/>
                  <a:ea typeface="宋体" panose="02010600030101010101" pitchFamily="2" charset="-122"/>
                </a:rPr>
                <a:t>HOST</a:t>
              </a:r>
            </a:p>
          </p:txBody>
        </p:sp>
        <p:sp>
          <p:nvSpPr>
            <p:cNvPr id="16390" name="Line 8"/>
            <p:cNvSpPr/>
            <p:nvPr/>
          </p:nvSpPr>
          <p:spPr>
            <a:xfrm flipH="1">
              <a:off x="2208" y="4128"/>
              <a:ext cx="0" cy="192"/>
            </a:xfrm>
            <a:prstGeom prst="line">
              <a:avLst/>
            </a:prstGeom>
            <a:ln w="9525" cap="flat" cmpd="sng">
              <a:solidFill>
                <a:schemeClr val="tx1"/>
              </a:solidFill>
              <a:prstDash val="solid"/>
              <a:round/>
              <a:headEnd type="none" w="med" len="med"/>
              <a:tailEnd type="none" w="med" len="med"/>
            </a:ln>
          </p:spPr>
        </p:sp>
        <p:sp>
          <p:nvSpPr>
            <p:cNvPr id="16391" name="Line 9"/>
            <p:cNvSpPr/>
            <p:nvPr/>
          </p:nvSpPr>
          <p:spPr>
            <a:xfrm flipV="1">
              <a:off x="1488" y="4752"/>
              <a:ext cx="384" cy="192"/>
            </a:xfrm>
            <a:prstGeom prst="line">
              <a:avLst/>
            </a:prstGeom>
            <a:ln w="9525" cap="flat" cmpd="sng">
              <a:solidFill>
                <a:schemeClr val="tx1"/>
              </a:solidFill>
              <a:prstDash val="solid"/>
              <a:round/>
              <a:headEnd type="none" w="med" len="med"/>
              <a:tailEnd type="none" w="med" len="med"/>
            </a:ln>
          </p:spPr>
        </p:sp>
        <p:sp>
          <p:nvSpPr>
            <p:cNvPr id="16392" name="AutoShape 10"/>
            <p:cNvSpPr/>
            <p:nvPr/>
          </p:nvSpPr>
          <p:spPr>
            <a:xfrm>
              <a:off x="672" y="4992"/>
              <a:ext cx="240" cy="192"/>
            </a:xfrm>
            <a:prstGeom prst="flowChartDisplay">
              <a:avLst/>
            </a:prstGeom>
            <a:solidFill>
              <a:srgbClr val="00FFFF"/>
            </a:solidFill>
            <a:ln w="9525" cap="flat" cmpd="sng">
              <a:solidFill>
                <a:schemeClr val="tx1"/>
              </a:solidFill>
              <a:prstDash val="solid"/>
              <a:miter/>
              <a:headEnd type="none" w="med" len="med"/>
              <a:tailEnd type="none" w="med" len="med"/>
            </a:ln>
          </p:spPr>
          <p:txBody>
            <a:bodyPr wrap="none" anchor="ctr" anchorCtr="0"/>
            <a:lstStyle/>
            <a:p>
              <a:pPr algn="ctr" eaLnBrk="0" hangingPunct="0">
                <a:buClrTx/>
                <a:buFontTx/>
                <a:buNone/>
              </a:pPr>
              <a:r>
                <a:rPr lang="en-US" altLang="zh-CN" sz="2400" dirty="0">
                  <a:solidFill>
                    <a:schemeClr val="tx1"/>
                  </a:solidFill>
                  <a:latin typeface="Times New Roman" panose="02020603050405020304" pitchFamily="18" charset="0"/>
                  <a:ea typeface="宋体" panose="02010600030101010101" pitchFamily="2" charset="-122"/>
                </a:rPr>
                <a:t>T</a:t>
              </a:r>
            </a:p>
          </p:txBody>
        </p:sp>
        <p:sp>
          <p:nvSpPr>
            <p:cNvPr id="16393" name="AutoShape 11"/>
            <p:cNvSpPr/>
            <p:nvPr/>
          </p:nvSpPr>
          <p:spPr>
            <a:xfrm>
              <a:off x="1056" y="5472"/>
              <a:ext cx="240" cy="192"/>
            </a:xfrm>
            <a:prstGeom prst="flowChartDisplay">
              <a:avLst/>
            </a:prstGeom>
            <a:solidFill>
              <a:srgbClr val="00FFFF"/>
            </a:solidFill>
            <a:ln w="9525" cap="flat" cmpd="sng">
              <a:solidFill>
                <a:schemeClr val="tx1"/>
              </a:solidFill>
              <a:prstDash val="solid"/>
              <a:miter/>
              <a:headEnd type="none" w="med" len="med"/>
              <a:tailEnd type="none" w="med" len="med"/>
            </a:ln>
          </p:spPr>
          <p:txBody>
            <a:bodyPr wrap="none" anchor="ctr" anchorCtr="0"/>
            <a:lstStyle/>
            <a:p>
              <a:pPr algn="ctr" eaLnBrk="0" hangingPunct="0">
                <a:buClrTx/>
                <a:buFontTx/>
                <a:buNone/>
              </a:pPr>
              <a:r>
                <a:rPr lang="en-US" altLang="zh-CN" sz="2400" dirty="0">
                  <a:solidFill>
                    <a:schemeClr val="tx1"/>
                  </a:solidFill>
                  <a:latin typeface="Times New Roman" panose="02020603050405020304" pitchFamily="18" charset="0"/>
                  <a:ea typeface="宋体" panose="02010600030101010101" pitchFamily="2" charset="-122"/>
                </a:rPr>
                <a:t>T</a:t>
              </a:r>
            </a:p>
          </p:txBody>
        </p:sp>
        <p:sp>
          <p:nvSpPr>
            <p:cNvPr id="16394" name="AutoShape 12"/>
            <p:cNvSpPr/>
            <p:nvPr/>
          </p:nvSpPr>
          <p:spPr>
            <a:xfrm>
              <a:off x="2448" y="3552"/>
              <a:ext cx="240" cy="192"/>
            </a:xfrm>
            <a:prstGeom prst="flowChartDisplay">
              <a:avLst/>
            </a:prstGeom>
            <a:solidFill>
              <a:srgbClr val="00FFFF"/>
            </a:solidFill>
            <a:ln w="9525" cap="flat" cmpd="sng">
              <a:solidFill>
                <a:schemeClr val="tx1"/>
              </a:solidFill>
              <a:prstDash val="solid"/>
              <a:miter/>
              <a:headEnd type="none" w="med" len="med"/>
              <a:tailEnd type="none" w="med" len="med"/>
            </a:ln>
          </p:spPr>
          <p:txBody>
            <a:bodyPr wrap="none" anchor="ctr" anchorCtr="0"/>
            <a:lstStyle/>
            <a:p>
              <a:pPr algn="ctr" eaLnBrk="0" hangingPunct="0">
                <a:buClrTx/>
                <a:buFontTx/>
                <a:buNone/>
              </a:pPr>
              <a:r>
                <a:rPr lang="en-US" altLang="zh-CN" sz="2400" dirty="0">
                  <a:solidFill>
                    <a:schemeClr val="tx1"/>
                  </a:solidFill>
                  <a:latin typeface="Times New Roman" panose="02020603050405020304" pitchFamily="18" charset="0"/>
                  <a:ea typeface="宋体" panose="02010600030101010101" pitchFamily="2" charset="-122"/>
                </a:rPr>
                <a:t>T</a:t>
              </a:r>
            </a:p>
          </p:txBody>
        </p:sp>
        <p:sp>
          <p:nvSpPr>
            <p:cNvPr id="16395" name="AutoShape 13"/>
            <p:cNvSpPr/>
            <p:nvPr/>
          </p:nvSpPr>
          <p:spPr>
            <a:xfrm>
              <a:off x="1728" y="3552"/>
              <a:ext cx="240" cy="192"/>
            </a:xfrm>
            <a:prstGeom prst="flowChartDisplay">
              <a:avLst/>
            </a:prstGeom>
            <a:solidFill>
              <a:srgbClr val="00FFFF"/>
            </a:solidFill>
            <a:ln w="9525" cap="flat" cmpd="sng">
              <a:solidFill>
                <a:schemeClr val="tx1"/>
              </a:solidFill>
              <a:prstDash val="solid"/>
              <a:miter/>
              <a:headEnd type="none" w="med" len="med"/>
              <a:tailEnd type="none" w="med" len="med"/>
            </a:ln>
          </p:spPr>
          <p:txBody>
            <a:bodyPr wrap="none" anchor="ctr" anchorCtr="0"/>
            <a:lstStyle/>
            <a:p>
              <a:pPr algn="ctr" eaLnBrk="0" hangingPunct="0">
                <a:buClrTx/>
                <a:buFontTx/>
                <a:buNone/>
              </a:pPr>
              <a:r>
                <a:rPr lang="en-US" altLang="zh-CN" sz="2400" dirty="0">
                  <a:solidFill>
                    <a:schemeClr val="tx1"/>
                  </a:solidFill>
                  <a:latin typeface="Times New Roman" panose="02020603050405020304" pitchFamily="18" charset="0"/>
                  <a:ea typeface="宋体" panose="02010600030101010101" pitchFamily="2" charset="-122"/>
                </a:rPr>
                <a:t>T</a:t>
              </a:r>
            </a:p>
          </p:txBody>
        </p:sp>
        <p:sp>
          <p:nvSpPr>
            <p:cNvPr id="16396" name="Line 14"/>
            <p:cNvSpPr/>
            <p:nvPr/>
          </p:nvSpPr>
          <p:spPr>
            <a:xfrm>
              <a:off x="1584" y="5184"/>
              <a:ext cx="96" cy="288"/>
            </a:xfrm>
            <a:prstGeom prst="line">
              <a:avLst/>
            </a:prstGeom>
            <a:ln w="9525" cap="flat" cmpd="sng">
              <a:solidFill>
                <a:schemeClr val="tx1"/>
              </a:solidFill>
              <a:prstDash val="solid"/>
              <a:round/>
              <a:headEnd type="none" w="med" len="med"/>
              <a:tailEnd type="none" w="med" len="med"/>
            </a:ln>
          </p:spPr>
        </p:sp>
        <p:sp>
          <p:nvSpPr>
            <p:cNvPr id="16397" name="Line 15"/>
            <p:cNvSpPr/>
            <p:nvPr/>
          </p:nvSpPr>
          <p:spPr>
            <a:xfrm flipV="1">
              <a:off x="1200" y="5184"/>
              <a:ext cx="144" cy="288"/>
            </a:xfrm>
            <a:prstGeom prst="line">
              <a:avLst/>
            </a:prstGeom>
            <a:ln w="9525" cap="flat" cmpd="sng">
              <a:solidFill>
                <a:schemeClr val="tx1"/>
              </a:solidFill>
              <a:prstDash val="solid"/>
              <a:round/>
              <a:headEnd type="none" w="med" len="med"/>
              <a:tailEnd type="none" w="med" len="med"/>
            </a:ln>
          </p:spPr>
        </p:sp>
        <p:sp>
          <p:nvSpPr>
            <p:cNvPr id="16398" name="Line 16"/>
            <p:cNvSpPr/>
            <p:nvPr/>
          </p:nvSpPr>
          <p:spPr>
            <a:xfrm>
              <a:off x="1920" y="3744"/>
              <a:ext cx="144" cy="144"/>
            </a:xfrm>
            <a:prstGeom prst="line">
              <a:avLst/>
            </a:prstGeom>
            <a:ln w="9525" cap="flat" cmpd="sng">
              <a:solidFill>
                <a:schemeClr val="tx1"/>
              </a:solidFill>
              <a:prstDash val="solid"/>
              <a:round/>
              <a:headEnd type="none" w="med" len="med"/>
              <a:tailEnd type="none" w="med" len="med"/>
            </a:ln>
          </p:spPr>
        </p:sp>
        <p:sp>
          <p:nvSpPr>
            <p:cNvPr id="16399" name="Line 17"/>
            <p:cNvSpPr/>
            <p:nvPr/>
          </p:nvSpPr>
          <p:spPr>
            <a:xfrm flipH="1">
              <a:off x="2400" y="3744"/>
              <a:ext cx="144" cy="144"/>
            </a:xfrm>
            <a:prstGeom prst="line">
              <a:avLst/>
            </a:prstGeom>
            <a:ln w="9525" cap="flat" cmpd="sng">
              <a:solidFill>
                <a:schemeClr val="tx1"/>
              </a:solidFill>
              <a:prstDash val="solid"/>
              <a:round/>
              <a:headEnd type="none" w="med" len="med"/>
              <a:tailEnd type="none" w="med" len="med"/>
            </a:ln>
          </p:spPr>
        </p:sp>
        <p:sp>
          <p:nvSpPr>
            <p:cNvPr id="16400" name="AutoShape 18"/>
            <p:cNvSpPr/>
            <p:nvPr/>
          </p:nvSpPr>
          <p:spPr>
            <a:xfrm>
              <a:off x="3600" y="4990"/>
              <a:ext cx="240" cy="192"/>
            </a:xfrm>
            <a:prstGeom prst="flowChartDisplay">
              <a:avLst/>
            </a:prstGeom>
            <a:solidFill>
              <a:srgbClr val="00FFFF"/>
            </a:solidFill>
            <a:ln w="9525" cap="flat" cmpd="sng">
              <a:solidFill>
                <a:schemeClr val="tx1"/>
              </a:solidFill>
              <a:prstDash val="solid"/>
              <a:miter/>
              <a:headEnd type="none" w="med" len="med"/>
              <a:tailEnd type="none" w="med" len="med"/>
            </a:ln>
          </p:spPr>
          <p:txBody>
            <a:bodyPr wrap="none" anchor="ctr" anchorCtr="0"/>
            <a:lstStyle/>
            <a:p>
              <a:pPr algn="ctr" eaLnBrk="0" hangingPunct="0">
                <a:buClrTx/>
                <a:buFontTx/>
                <a:buNone/>
              </a:pPr>
              <a:r>
                <a:rPr lang="en-US" altLang="zh-CN" sz="2400" dirty="0">
                  <a:solidFill>
                    <a:schemeClr val="tx1"/>
                  </a:solidFill>
                  <a:latin typeface="Times New Roman" panose="02020603050405020304" pitchFamily="18" charset="0"/>
                  <a:ea typeface="宋体" panose="02010600030101010101" pitchFamily="2" charset="-122"/>
                </a:rPr>
                <a:t>T</a:t>
              </a:r>
            </a:p>
          </p:txBody>
        </p:sp>
        <p:sp>
          <p:nvSpPr>
            <p:cNvPr id="16401" name="AutoShape 19"/>
            <p:cNvSpPr/>
            <p:nvPr/>
          </p:nvSpPr>
          <p:spPr>
            <a:xfrm>
              <a:off x="1584" y="5472"/>
              <a:ext cx="240" cy="192"/>
            </a:xfrm>
            <a:prstGeom prst="flowChartDisplay">
              <a:avLst/>
            </a:prstGeom>
            <a:solidFill>
              <a:srgbClr val="00FFFF"/>
            </a:solidFill>
            <a:ln w="9525" cap="flat" cmpd="sng">
              <a:solidFill>
                <a:schemeClr val="tx1"/>
              </a:solidFill>
              <a:prstDash val="solid"/>
              <a:miter/>
              <a:headEnd type="none" w="med" len="med"/>
              <a:tailEnd type="none" w="med" len="med"/>
            </a:ln>
          </p:spPr>
          <p:txBody>
            <a:bodyPr wrap="none" anchor="ctr" anchorCtr="0"/>
            <a:lstStyle/>
            <a:p>
              <a:pPr algn="ctr" eaLnBrk="0" hangingPunct="0">
                <a:buClrTx/>
                <a:buFontTx/>
                <a:buNone/>
              </a:pPr>
              <a:r>
                <a:rPr lang="en-US" altLang="zh-CN" sz="2400" dirty="0">
                  <a:solidFill>
                    <a:schemeClr val="tx1"/>
                  </a:solidFill>
                  <a:latin typeface="Times New Roman" panose="02020603050405020304" pitchFamily="18" charset="0"/>
                  <a:ea typeface="宋体" panose="02010600030101010101" pitchFamily="2" charset="-122"/>
                </a:rPr>
                <a:t>T</a:t>
              </a:r>
            </a:p>
          </p:txBody>
        </p:sp>
        <p:sp>
          <p:nvSpPr>
            <p:cNvPr id="16402" name="Line 20"/>
            <p:cNvSpPr/>
            <p:nvPr/>
          </p:nvSpPr>
          <p:spPr>
            <a:xfrm flipH="1">
              <a:off x="912" y="5088"/>
              <a:ext cx="240" cy="0"/>
            </a:xfrm>
            <a:prstGeom prst="line">
              <a:avLst/>
            </a:prstGeom>
            <a:ln w="9525" cap="flat" cmpd="sng">
              <a:solidFill>
                <a:schemeClr val="tx1"/>
              </a:solidFill>
              <a:prstDash val="solid"/>
              <a:round/>
              <a:headEnd type="none" w="med" len="med"/>
              <a:tailEnd type="none" w="med" len="med"/>
            </a:ln>
          </p:spPr>
        </p:sp>
        <p:sp>
          <p:nvSpPr>
            <p:cNvPr id="16403" name="Rectangle 21"/>
            <p:cNvSpPr/>
            <p:nvPr/>
          </p:nvSpPr>
          <p:spPr>
            <a:xfrm>
              <a:off x="2784" y="4944"/>
              <a:ext cx="624" cy="240"/>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lstStyle/>
            <a:p>
              <a:pPr algn="ctr" eaLnBrk="0" hangingPunct="0">
                <a:buClrTx/>
                <a:buFontTx/>
                <a:buNone/>
              </a:pPr>
              <a:r>
                <a:rPr lang="en-US" altLang="zh-CN" sz="2000" dirty="0">
                  <a:solidFill>
                    <a:schemeClr val="tx1"/>
                  </a:solidFill>
                  <a:latin typeface="Times New Roman" panose="02020603050405020304" pitchFamily="18" charset="0"/>
                  <a:ea typeface="宋体" panose="02010600030101010101" pitchFamily="2" charset="-122"/>
                </a:rPr>
                <a:t>HOST</a:t>
              </a:r>
            </a:p>
          </p:txBody>
        </p:sp>
        <p:sp>
          <p:nvSpPr>
            <p:cNvPr id="16404" name="Line 22"/>
            <p:cNvSpPr/>
            <p:nvPr/>
          </p:nvSpPr>
          <p:spPr>
            <a:xfrm flipH="1" flipV="1">
              <a:off x="2640" y="4752"/>
              <a:ext cx="432" cy="192"/>
            </a:xfrm>
            <a:prstGeom prst="line">
              <a:avLst/>
            </a:prstGeom>
            <a:ln w="9525" cap="flat" cmpd="sng">
              <a:solidFill>
                <a:schemeClr val="tx1"/>
              </a:solidFill>
              <a:prstDash val="solid"/>
              <a:round/>
              <a:headEnd type="none" w="med" len="med"/>
              <a:tailEnd type="none" w="med" len="med"/>
            </a:ln>
          </p:spPr>
        </p:sp>
        <p:sp>
          <p:nvSpPr>
            <p:cNvPr id="16405" name="AutoShape 23"/>
            <p:cNvSpPr/>
            <p:nvPr/>
          </p:nvSpPr>
          <p:spPr>
            <a:xfrm>
              <a:off x="2688" y="5472"/>
              <a:ext cx="240" cy="192"/>
            </a:xfrm>
            <a:prstGeom prst="flowChartDisplay">
              <a:avLst/>
            </a:prstGeom>
            <a:solidFill>
              <a:srgbClr val="00FFFF"/>
            </a:solidFill>
            <a:ln w="9525" cap="flat" cmpd="sng">
              <a:solidFill>
                <a:schemeClr val="tx1"/>
              </a:solidFill>
              <a:prstDash val="solid"/>
              <a:miter/>
              <a:headEnd type="none" w="med" len="med"/>
              <a:tailEnd type="none" w="med" len="med"/>
            </a:ln>
          </p:spPr>
          <p:txBody>
            <a:bodyPr wrap="none" anchor="ctr" anchorCtr="0"/>
            <a:lstStyle/>
            <a:p>
              <a:pPr algn="ctr" eaLnBrk="0" hangingPunct="0">
                <a:buClrTx/>
                <a:buFontTx/>
                <a:buNone/>
              </a:pPr>
              <a:r>
                <a:rPr lang="en-US" altLang="zh-CN" sz="2400" dirty="0">
                  <a:solidFill>
                    <a:schemeClr val="tx1"/>
                  </a:solidFill>
                  <a:latin typeface="Times New Roman" panose="02020603050405020304" pitchFamily="18" charset="0"/>
                  <a:ea typeface="宋体" panose="02010600030101010101" pitchFamily="2" charset="-122"/>
                </a:rPr>
                <a:t>T</a:t>
              </a:r>
            </a:p>
          </p:txBody>
        </p:sp>
        <p:sp>
          <p:nvSpPr>
            <p:cNvPr id="16406" name="Line 24"/>
            <p:cNvSpPr/>
            <p:nvPr/>
          </p:nvSpPr>
          <p:spPr>
            <a:xfrm>
              <a:off x="3216" y="5184"/>
              <a:ext cx="144" cy="288"/>
            </a:xfrm>
            <a:prstGeom prst="line">
              <a:avLst/>
            </a:prstGeom>
            <a:ln w="9525" cap="flat" cmpd="sng">
              <a:solidFill>
                <a:schemeClr val="tx1"/>
              </a:solidFill>
              <a:prstDash val="solid"/>
              <a:round/>
              <a:headEnd type="none" w="med" len="med"/>
              <a:tailEnd type="none" w="med" len="med"/>
            </a:ln>
          </p:spPr>
        </p:sp>
        <p:sp>
          <p:nvSpPr>
            <p:cNvPr id="16407" name="Line 25"/>
            <p:cNvSpPr/>
            <p:nvPr/>
          </p:nvSpPr>
          <p:spPr>
            <a:xfrm flipV="1">
              <a:off x="2832" y="5184"/>
              <a:ext cx="144" cy="288"/>
            </a:xfrm>
            <a:prstGeom prst="line">
              <a:avLst/>
            </a:prstGeom>
            <a:ln w="9525" cap="flat" cmpd="sng">
              <a:solidFill>
                <a:schemeClr val="tx1"/>
              </a:solidFill>
              <a:prstDash val="solid"/>
              <a:round/>
              <a:headEnd type="none" w="med" len="med"/>
              <a:tailEnd type="none" w="med" len="med"/>
            </a:ln>
          </p:spPr>
        </p:sp>
        <p:sp>
          <p:nvSpPr>
            <p:cNvPr id="16408" name="AutoShape 26"/>
            <p:cNvSpPr/>
            <p:nvPr/>
          </p:nvSpPr>
          <p:spPr>
            <a:xfrm>
              <a:off x="3264" y="5472"/>
              <a:ext cx="240" cy="192"/>
            </a:xfrm>
            <a:prstGeom prst="flowChartDisplay">
              <a:avLst/>
            </a:prstGeom>
            <a:solidFill>
              <a:srgbClr val="00FFFF"/>
            </a:solidFill>
            <a:ln w="9525" cap="flat" cmpd="sng">
              <a:solidFill>
                <a:schemeClr val="tx1"/>
              </a:solidFill>
              <a:prstDash val="solid"/>
              <a:miter/>
              <a:headEnd type="none" w="med" len="med"/>
              <a:tailEnd type="none" w="med" len="med"/>
            </a:ln>
          </p:spPr>
          <p:txBody>
            <a:bodyPr wrap="none" anchor="ctr" anchorCtr="0"/>
            <a:lstStyle/>
            <a:p>
              <a:pPr algn="ctr" eaLnBrk="0" hangingPunct="0">
                <a:buClrTx/>
                <a:buFontTx/>
                <a:buNone/>
              </a:pPr>
              <a:r>
                <a:rPr lang="en-US" altLang="zh-CN" sz="2400" dirty="0">
                  <a:solidFill>
                    <a:schemeClr val="tx1"/>
                  </a:solidFill>
                  <a:latin typeface="Times New Roman" panose="02020603050405020304" pitchFamily="18" charset="0"/>
                  <a:ea typeface="宋体" panose="02010600030101010101" pitchFamily="2" charset="-122"/>
                </a:rPr>
                <a:t>T</a:t>
              </a:r>
            </a:p>
          </p:txBody>
        </p:sp>
        <p:sp>
          <p:nvSpPr>
            <p:cNvPr id="16409" name="Line 27"/>
            <p:cNvSpPr/>
            <p:nvPr/>
          </p:nvSpPr>
          <p:spPr>
            <a:xfrm flipH="1">
              <a:off x="3408" y="5088"/>
              <a:ext cx="192" cy="0"/>
            </a:xfrm>
            <a:prstGeom prst="line">
              <a:avLst/>
            </a:prstGeom>
            <a:ln w="9525" cap="flat" cmpd="sng">
              <a:solidFill>
                <a:schemeClr val="tx1"/>
              </a:solidFill>
              <a:prstDash val="solid"/>
              <a:round/>
              <a:headEnd type="none" w="med" len="med"/>
              <a:tailEnd type="none" w="med" len="med"/>
            </a:ln>
          </p:spPr>
        </p:sp>
        <p:sp>
          <p:nvSpPr>
            <p:cNvPr id="16410" name="AutoShape 28"/>
            <p:cNvSpPr/>
            <p:nvPr/>
          </p:nvSpPr>
          <p:spPr>
            <a:xfrm>
              <a:off x="1200" y="4224"/>
              <a:ext cx="240" cy="192"/>
            </a:xfrm>
            <a:prstGeom prst="flowChartDisplay">
              <a:avLst/>
            </a:prstGeom>
            <a:solidFill>
              <a:srgbClr val="00FFFF"/>
            </a:solidFill>
            <a:ln w="9525" cap="flat" cmpd="sng">
              <a:solidFill>
                <a:schemeClr val="tx1"/>
              </a:solidFill>
              <a:prstDash val="solid"/>
              <a:miter/>
              <a:headEnd type="none" w="med" len="med"/>
              <a:tailEnd type="none" w="med" len="med"/>
            </a:ln>
          </p:spPr>
          <p:txBody>
            <a:bodyPr wrap="none" anchor="ctr" anchorCtr="0"/>
            <a:lstStyle/>
            <a:p>
              <a:pPr algn="ctr" eaLnBrk="0" hangingPunct="0">
                <a:buClrTx/>
                <a:buFontTx/>
                <a:buNone/>
              </a:pPr>
              <a:r>
                <a:rPr lang="en-US" altLang="zh-CN" sz="2400" dirty="0">
                  <a:solidFill>
                    <a:schemeClr val="tx1"/>
                  </a:solidFill>
                  <a:latin typeface="Times New Roman" panose="02020603050405020304" pitchFamily="18" charset="0"/>
                  <a:ea typeface="宋体" panose="02010600030101010101" pitchFamily="2" charset="-122"/>
                </a:rPr>
                <a:t>T</a:t>
              </a:r>
            </a:p>
          </p:txBody>
        </p:sp>
        <p:sp>
          <p:nvSpPr>
            <p:cNvPr id="16411" name="AutoShape 29"/>
            <p:cNvSpPr/>
            <p:nvPr/>
          </p:nvSpPr>
          <p:spPr>
            <a:xfrm>
              <a:off x="3120" y="4368"/>
              <a:ext cx="240" cy="192"/>
            </a:xfrm>
            <a:prstGeom prst="flowChartDisplay">
              <a:avLst/>
            </a:prstGeom>
            <a:solidFill>
              <a:srgbClr val="00FFFF"/>
            </a:solidFill>
            <a:ln w="9525" cap="flat" cmpd="sng">
              <a:solidFill>
                <a:schemeClr val="tx1"/>
              </a:solidFill>
              <a:prstDash val="solid"/>
              <a:miter/>
              <a:headEnd type="none" w="med" len="med"/>
              <a:tailEnd type="none" w="med" len="med"/>
            </a:ln>
          </p:spPr>
          <p:txBody>
            <a:bodyPr wrap="none" anchor="ctr" anchorCtr="0"/>
            <a:lstStyle/>
            <a:p>
              <a:pPr algn="ctr" eaLnBrk="0" hangingPunct="0">
                <a:buClrTx/>
                <a:buFontTx/>
                <a:buNone/>
              </a:pPr>
              <a:r>
                <a:rPr lang="en-US" altLang="zh-CN" sz="2400" dirty="0">
                  <a:solidFill>
                    <a:schemeClr val="tx1"/>
                  </a:solidFill>
                  <a:latin typeface="Times New Roman" panose="02020603050405020304" pitchFamily="18" charset="0"/>
                  <a:ea typeface="宋体" panose="02010600030101010101" pitchFamily="2" charset="-122"/>
                </a:rPr>
                <a:t>T</a:t>
              </a:r>
            </a:p>
          </p:txBody>
        </p:sp>
        <p:sp>
          <p:nvSpPr>
            <p:cNvPr id="16412" name="Line 30"/>
            <p:cNvSpPr/>
            <p:nvPr/>
          </p:nvSpPr>
          <p:spPr>
            <a:xfrm>
              <a:off x="1440" y="4368"/>
              <a:ext cx="288" cy="96"/>
            </a:xfrm>
            <a:prstGeom prst="line">
              <a:avLst/>
            </a:prstGeom>
            <a:ln w="9525" cap="flat" cmpd="sng">
              <a:solidFill>
                <a:schemeClr val="tx1"/>
              </a:solidFill>
              <a:prstDash val="solid"/>
              <a:round/>
              <a:headEnd type="none" w="med" len="med"/>
              <a:tailEnd type="none" w="med" len="med"/>
            </a:ln>
          </p:spPr>
        </p:sp>
        <p:sp>
          <p:nvSpPr>
            <p:cNvPr id="16413" name="Line 31"/>
            <p:cNvSpPr/>
            <p:nvPr/>
          </p:nvSpPr>
          <p:spPr>
            <a:xfrm flipH="1">
              <a:off x="2832" y="4464"/>
              <a:ext cx="288" cy="96"/>
            </a:xfrm>
            <a:prstGeom prst="line">
              <a:avLst/>
            </a:prstGeom>
            <a:ln w="9525" cap="flat" cmpd="sng">
              <a:solidFill>
                <a:schemeClr val="tx1"/>
              </a:solidFill>
              <a:prstDash val="solid"/>
              <a:round/>
              <a:headEnd type="none" w="med" len="med"/>
              <a:tailEnd type="none" w="med" len="med"/>
            </a:ln>
          </p:spPr>
        </p:sp>
      </p:grpSp>
      <p:sp>
        <p:nvSpPr>
          <p:cNvPr id="16414" name="Rectangle 32"/>
          <p:cNvSpPr/>
          <p:nvPr/>
        </p:nvSpPr>
        <p:spPr>
          <a:xfrm>
            <a:off x="250825" y="1627188"/>
            <a:ext cx="4027488" cy="465137"/>
          </a:xfrm>
          <a:prstGeom prst="rect">
            <a:avLst/>
          </a:prstGeom>
          <a:noFill/>
          <a:ln w="9525">
            <a:noFill/>
          </a:ln>
        </p:spPr>
        <p:txBody>
          <a:bodyPr anchor="t" anchorCtr="0"/>
          <a:lstStyle/>
          <a:p>
            <a:pPr marL="1003300" lvl="1" indent="-285750" algn="just">
              <a:spcBef>
                <a:spcPct val="20000"/>
              </a:spcBef>
              <a:buClr>
                <a:schemeClr val="accent1"/>
              </a:buClr>
              <a:buFontTx/>
              <a:buNone/>
            </a:pPr>
            <a:r>
              <a:rPr lang="zh-CN" altLang="en-US" b="1" dirty="0">
                <a:solidFill>
                  <a:srgbClr val="003399"/>
                </a:solidFill>
                <a:latin typeface="Times New Roman" panose="02020603050405020304" pitchFamily="18" charset="0"/>
                <a:ea typeface="黑体" panose="02010609060101010101" pitchFamily="49" charset="-122"/>
              </a:rPr>
              <a:t> 公共数据网络连接</a:t>
            </a:r>
          </a:p>
        </p:txBody>
      </p:sp>
      <p:sp>
        <p:nvSpPr>
          <p:cNvPr id="195617" name="Rectangle 33"/>
          <p:cNvSpPr/>
          <p:nvPr/>
        </p:nvSpPr>
        <p:spPr>
          <a:xfrm>
            <a:off x="5435600" y="1052513"/>
            <a:ext cx="3708400" cy="5113337"/>
          </a:xfrm>
          <a:prstGeom prst="rect">
            <a:avLst/>
          </a:prstGeom>
          <a:noFill/>
          <a:ln w="9525">
            <a:noFill/>
          </a:ln>
        </p:spPr>
        <p:txBody>
          <a:bodyPr anchor="t" anchorCtr="0"/>
          <a:lstStyle/>
          <a:p>
            <a:pPr marL="342900" indent="-342900" eaLnBrk="0" hangingPunct="0">
              <a:buClrTx/>
              <a:buFontTx/>
              <a:buNone/>
            </a:pPr>
            <a:endParaRPr lang="en-US" altLang="zh-CN" b="1" dirty="0">
              <a:solidFill>
                <a:schemeClr val="bg2"/>
              </a:solidFill>
              <a:latin typeface="黑体" panose="02010609060101010101" pitchFamily="49" charset="-122"/>
              <a:ea typeface="黑体" panose="02010609060101010101" pitchFamily="49" charset="-122"/>
            </a:endParaRPr>
          </a:p>
          <a:p>
            <a:pPr marL="342900" indent="-342900" eaLnBrk="0" hangingPunct="0">
              <a:buClrTx/>
              <a:buFontTx/>
              <a:buChar char="•"/>
            </a:pPr>
            <a:r>
              <a:rPr lang="zh-CN" altLang="en-US" b="1" dirty="0">
                <a:solidFill>
                  <a:srgbClr val="0000CC"/>
                </a:solidFill>
                <a:latin typeface="黑体" panose="02010609060101010101" pitchFamily="49" charset="-122"/>
                <a:ea typeface="黑体" panose="02010609060101010101" pitchFamily="49" charset="-122"/>
              </a:rPr>
              <a:t>公共传输网络建设</a:t>
            </a:r>
          </a:p>
          <a:p>
            <a:pPr marL="742950" lvl="1" indent="-285750" eaLnBrk="0" hangingPunct="0">
              <a:lnSpc>
                <a:spcPct val="130000"/>
              </a:lnSpc>
              <a:buClrTx/>
              <a:buFontTx/>
              <a:buNone/>
            </a:pPr>
            <a:r>
              <a:rPr lang="zh-CN" altLang="en-US" sz="2400" dirty="0">
                <a:solidFill>
                  <a:srgbClr val="FF9933"/>
                </a:solidFill>
                <a:latin typeface="黑体" panose="02010609060101010101" pitchFamily="49" charset="-122"/>
                <a:ea typeface="黑体" panose="02010609060101010101" pitchFamily="49" charset="-122"/>
              </a:rPr>
              <a:t>  </a:t>
            </a:r>
            <a:r>
              <a:rPr lang="zh-CN" altLang="en-US" sz="2400" dirty="0">
                <a:solidFill>
                  <a:schemeClr val="bg2"/>
                </a:solidFill>
                <a:latin typeface="黑体" panose="02010609060101010101" pitchFamily="49" charset="-122"/>
                <a:ea typeface="黑体" panose="02010609060101010101" pitchFamily="49" charset="-122"/>
              </a:rPr>
              <a:t>扩大通信子网规模使之成为公用的数据传输网络</a:t>
            </a:r>
          </a:p>
          <a:p>
            <a:pPr marL="342900" indent="-342900" eaLnBrk="0" hangingPunct="0">
              <a:buClrTx/>
              <a:buFontTx/>
              <a:buNone/>
            </a:pPr>
            <a:endParaRPr lang="zh-CN" altLang="en-US" b="1" dirty="0">
              <a:solidFill>
                <a:schemeClr val="bg2"/>
              </a:solidFill>
              <a:latin typeface="黑体" panose="02010609060101010101" pitchFamily="49" charset="-122"/>
              <a:ea typeface="黑体" panose="02010609060101010101" pitchFamily="49" charset="-122"/>
            </a:endParaRPr>
          </a:p>
          <a:p>
            <a:pPr marL="342900" indent="-342900" eaLnBrk="0" hangingPunct="0">
              <a:buClrTx/>
              <a:buFontTx/>
              <a:buChar char="•"/>
            </a:pPr>
            <a:r>
              <a:rPr lang="zh-CN" altLang="en-US" b="1" dirty="0">
                <a:solidFill>
                  <a:srgbClr val="0000CC"/>
                </a:solidFill>
                <a:latin typeface="黑体" panose="02010609060101010101" pitchFamily="49" charset="-122"/>
                <a:ea typeface="黑体" panose="02010609060101010101" pitchFamily="49" charset="-122"/>
              </a:rPr>
              <a:t>划分分组</a:t>
            </a:r>
          </a:p>
          <a:p>
            <a:pPr marL="342900" indent="-342900" eaLnBrk="0" hangingPunct="0">
              <a:buClrTx/>
              <a:buFontTx/>
              <a:buChar char="•"/>
            </a:pPr>
            <a:endParaRPr lang="zh-CN" altLang="en-US" b="1" dirty="0">
              <a:solidFill>
                <a:srgbClr val="0000CC"/>
              </a:solidFill>
              <a:latin typeface="黑体" panose="02010609060101010101" pitchFamily="49" charset="-122"/>
              <a:ea typeface="黑体" panose="02010609060101010101" pitchFamily="49" charset="-122"/>
            </a:endParaRPr>
          </a:p>
          <a:p>
            <a:pPr marL="342900" indent="-342900" eaLnBrk="0" hangingPunct="0">
              <a:buClrTx/>
              <a:buFontTx/>
              <a:buChar char="•"/>
            </a:pPr>
            <a:r>
              <a:rPr lang="zh-CN" altLang="en-US" b="1" dirty="0">
                <a:solidFill>
                  <a:srgbClr val="0000CC"/>
                </a:solidFill>
                <a:latin typeface="黑体" panose="02010609060101010101" pitchFamily="49" charset="-122"/>
                <a:ea typeface="黑体" panose="02010609060101010101" pitchFamily="49" charset="-122"/>
              </a:rPr>
              <a:t>先存储再转发</a:t>
            </a:r>
          </a:p>
          <a:p>
            <a:pPr marL="742950" lvl="1" indent="-285750" eaLnBrk="0" hangingPunct="0">
              <a:lnSpc>
                <a:spcPct val="130000"/>
              </a:lnSpc>
              <a:buClrTx/>
              <a:buNone/>
            </a:pPr>
            <a:r>
              <a:rPr lang="zh-CN" altLang="en-US" sz="2400" dirty="0">
                <a:solidFill>
                  <a:schemeClr val="tx1"/>
                </a:solidFill>
                <a:latin typeface="黑体" panose="02010609060101010101" pitchFamily="49" charset="-122"/>
                <a:ea typeface="黑体" panose="02010609060101010101" pitchFamily="49" charset="-122"/>
              </a:rPr>
              <a:t>  中间结点以先存储再转发方式工作</a:t>
            </a:r>
          </a:p>
          <a:p>
            <a:pPr marL="342900" indent="-342900" eaLnBrk="0" hangingPunct="0">
              <a:buClrTx/>
              <a:buFontTx/>
              <a:buNone/>
            </a:pPr>
            <a:endParaRPr lang="zh-CN" altLang="en-US" b="1" dirty="0">
              <a:solidFill>
                <a:schemeClr val="tx1"/>
              </a:solidFill>
              <a:latin typeface="黑体" panose="02010609060101010101" pitchFamily="49" charset="-122"/>
              <a:ea typeface="黑体" panose="02010609060101010101" pitchFamily="49" charset="-122"/>
            </a:endParaRPr>
          </a:p>
          <a:p>
            <a:pPr marL="342900" indent="-342900" eaLnBrk="0" hangingPunct="0">
              <a:buClrTx/>
              <a:buFontTx/>
              <a:buNone/>
            </a:pPr>
            <a:endParaRPr lang="zh-CN" altLang="en-US" b="1" dirty="0">
              <a:solidFill>
                <a:schemeClr val="tx1"/>
              </a:solidFill>
              <a:latin typeface="宋体" panose="02010600030101010101" pitchFamily="2" charset="-122"/>
              <a:ea typeface="宋体" panose="02010600030101010101" pitchFamily="2" charset="-122"/>
            </a:endParaRPr>
          </a:p>
          <a:p>
            <a:pPr marL="342900" indent="-342900" eaLnBrk="0" hangingPunct="0">
              <a:buClrTx/>
              <a:buFontTx/>
              <a:buNone/>
            </a:pPr>
            <a:endParaRPr lang="zh-CN" altLang="en-US" b="1" dirty="0">
              <a:solidFill>
                <a:schemeClr val="bg2"/>
              </a:solidFill>
              <a:latin typeface="Times New Roman" panose="02020603050405020304" pitchFamily="18" charset="0"/>
              <a:ea typeface="宋体" panose="02010600030101010101" pitchFamily="2" charset="-122"/>
            </a:endParaRPr>
          </a:p>
          <a:p>
            <a:pPr marL="342900" indent="-342900" eaLnBrk="0" hangingPunct="0">
              <a:buClrTx/>
              <a:buFontTx/>
              <a:buNone/>
            </a:pPr>
            <a:r>
              <a:rPr lang="zh-CN" altLang="en-US" sz="2400" dirty="0">
                <a:solidFill>
                  <a:schemeClr val="bg2"/>
                </a:solidFill>
                <a:latin typeface="Times New Roman" panose="02020603050405020304" pitchFamily="18" charset="0"/>
                <a:ea typeface="宋体" panose="02010600030101010101" pitchFamily="2" charset="-122"/>
              </a:rPr>
              <a:t>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5617">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5617">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95617">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95617">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9561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2"/>
          <p:cNvSpPr>
            <a:spLocks noGrp="1"/>
          </p:cNvSpPr>
          <p:nvPr>
            <p:ph type="title"/>
          </p:nvPr>
        </p:nvSpPr>
        <p:spPr>
          <a:xfrm>
            <a:off x="1447800" y="260350"/>
            <a:ext cx="7696200" cy="720725"/>
          </a:xfrm>
        </p:spPr>
        <p:txBody>
          <a:bodyPr vert="horz" wrap="square" lIns="92075" tIns="46038" rIns="92075" bIns="46038" anchor="ctr" anchorCtr="0"/>
          <a:lstStyle/>
          <a:p>
            <a:pPr algn="r" eaLnBrk="1" hangingPunct="1"/>
            <a:r>
              <a:rPr lang="zh-CN" altLang="en-US" sz="3200" dirty="0">
                <a:solidFill>
                  <a:schemeClr val="bg1"/>
                </a:solidFill>
              </a:rPr>
              <a:t>体系结构标准化网络</a:t>
            </a:r>
          </a:p>
        </p:txBody>
      </p:sp>
      <p:sp>
        <p:nvSpPr>
          <p:cNvPr id="196611" name="Rectangle 3"/>
          <p:cNvSpPr/>
          <p:nvPr/>
        </p:nvSpPr>
        <p:spPr>
          <a:xfrm>
            <a:off x="1042988" y="1557338"/>
            <a:ext cx="6481762" cy="1871662"/>
          </a:xfrm>
          <a:prstGeom prst="rect">
            <a:avLst/>
          </a:prstGeom>
          <a:noFill/>
          <a:ln w="9525">
            <a:noFill/>
          </a:ln>
        </p:spPr>
        <p:txBody>
          <a:bodyPr anchor="t" anchorCtr="0"/>
          <a:lstStyle/>
          <a:p>
            <a:pPr>
              <a:spcBef>
                <a:spcPct val="20000"/>
              </a:spcBef>
              <a:buClr>
                <a:srgbClr val="0000CC"/>
              </a:buClr>
              <a:buFont typeface="Wingdings" panose="05000000000000000000" pitchFamily="2" charset="2"/>
              <a:buChar char="§"/>
            </a:pPr>
            <a:r>
              <a:rPr lang="en-US" altLang="zh-CN" sz="3200" b="1" dirty="0">
                <a:solidFill>
                  <a:srgbClr val="000066"/>
                </a:solidFill>
                <a:latin typeface="黑体" panose="02010609060101010101" pitchFamily="49" charset="-122"/>
                <a:ea typeface="黑体" panose="02010609060101010101" pitchFamily="49" charset="-122"/>
              </a:rPr>
              <a:t> </a:t>
            </a:r>
            <a:r>
              <a:rPr lang="zh-CN" altLang="en-US" sz="3200" b="1" dirty="0">
                <a:solidFill>
                  <a:srgbClr val="000066"/>
                </a:solidFill>
                <a:latin typeface="黑体" panose="02010609060101010101" pitchFamily="49" charset="-122"/>
                <a:ea typeface="黑体" panose="02010609060101010101" pitchFamily="49" charset="-122"/>
              </a:rPr>
              <a:t>厂商标准：</a:t>
            </a:r>
            <a:r>
              <a:rPr lang="en-US" altLang="zh-CN" sz="3200" b="1" dirty="0">
                <a:solidFill>
                  <a:srgbClr val="0000CC"/>
                </a:solidFill>
                <a:latin typeface="黑体" panose="02010609060101010101" pitchFamily="49" charset="-122"/>
                <a:ea typeface="黑体" panose="02010609060101010101" pitchFamily="49" charset="-122"/>
              </a:rPr>
              <a:t>IBM-SNA</a:t>
            </a:r>
            <a:r>
              <a:rPr lang="zh-CN" altLang="en-US" sz="3200" b="1" dirty="0">
                <a:solidFill>
                  <a:srgbClr val="0000CC"/>
                </a:solidFill>
                <a:latin typeface="黑体" panose="02010609060101010101" pitchFamily="49" charset="-122"/>
                <a:ea typeface="黑体" panose="02010609060101010101" pitchFamily="49" charset="-122"/>
              </a:rPr>
              <a:t>、</a:t>
            </a:r>
            <a:r>
              <a:rPr lang="en-US" altLang="zh-CN" sz="3200" b="1" dirty="0">
                <a:solidFill>
                  <a:srgbClr val="0000CC"/>
                </a:solidFill>
                <a:latin typeface="黑体" panose="02010609060101010101" pitchFamily="49" charset="-122"/>
                <a:ea typeface="黑体" panose="02010609060101010101" pitchFamily="49" charset="-122"/>
              </a:rPr>
              <a:t>DEC-DNA</a:t>
            </a:r>
          </a:p>
          <a:p>
            <a:pPr>
              <a:spcBef>
                <a:spcPct val="20000"/>
              </a:spcBef>
              <a:buClr>
                <a:srgbClr val="0000CC"/>
              </a:buClr>
              <a:buFont typeface="Wingdings" panose="05000000000000000000" pitchFamily="2" charset="2"/>
              <a:buChar char="§"/>
            </a:pPr>
            <a:r>
              <a:rPr lang="en-US" altLang="zh-CN" sz="3200" b="1" dirty="0" smtClean="0">
                <a:solidFill>
                  <a:srgbClr val="000066"/>
                </a:solidFill>
                <a:latin typeface="黑体" panose="02010609060101010101" pitchFamily="49" charset="-122"/>
                <a:ea typeface="黑体" panose="02010609060101010101" pitchFamily="49" charset="-122"/>
              </a:rPr>
              <a:t> </a:t>
            </a:r>
            <a:r>
              <a:rPr lang="zh-CN" altLang="en-US" sz="3200" b="1" dirty="0">
                <a:solidFill>
                  <a:srgbClr val="000066"/>
                </a:solidFill>
                <a:latin typeface="黑体" panose="02010609060101010101" pitchFamily="49" charset="-122"/>
                <a:ea typeface="黑体" panose="02010609060101010101" pitchFamily="49" charset="-122"/>
              </a:rPr>
              <a:t>国际标准：</a:t>
            </a:r>
            <a:r>
              <a:rPr lang="en-US" altLang="zh-CN" sz="3200" b="1" dirty="0">
                <a:solidFill>
                  <a:srgbClr val="0000CC"/>
                </a:solidFill>
                <a:latin typeface="黑体" panose="02010609060101010101" pitchFamily="49" charset="-122"/>
                <a:ea typeface="黑体" panose="02010609060101010101" pitchFamily="49" charset="-122"/>
              </a:rPr>
              <a:t>ISO-OSI/RM</a:t>
            </a:r>
            <a:endParaRPr lang="zh-CN" altLang="en-US" sz="3200" b="1" dirty="0">
              <a:solidFill>
                <a:srgbClr val="0000CC"/>
              </a:solidFill>
              <a:latin typeface="黑体" panose="02010609060101010101" pitchFamily="49" charset="-122"/>
              <a:ea typeface="黑体" panose="02010609060101010101" pitchFamily="49" charset="-122"/>
            </a:endParaRPr>
          </a:p>
          <a:p>
            <a:pPr>
              <a:spcBef>
                <a:spcPct val="20000"/>
              </a:spcBef>
              <a:buClr>
                <a:srgbClr val="0000CC"/>
              </a:buClr>
              <a:buFont typeface="Wingdings" panose="05000000000000000000" pitchFamily="2" charset="2"/>
              <a:buChar char="§"/>
            </a:pPr>
            <a:r>
              <a:rPr lang="zh-CN" altLang="en-US" sz="3200" b="1" dirty="0" smtClean="0">
                <a:solidFill>
                  <a:srgbClr val="000066"/>
                </a:solidFill>
                <a:latin typeface="黑体" panose="02010609060101010101" pitchFamily="49" charset="-122"/>
                <a:ea typeface="黑体" panose="02010609060101010101" pitchFamily="49" charset="-122"/>
              </a:rPr>
              <a:t> </a:t>
            </a:r>
            <a:r>
              <a:rPr lang="zh-CN" altLang="en-US" sz="3200" b="1" dirty="0">
                <a:solidFill>
                  <a:srgbClr val="000066"/>
                </a:solidFill>
                <a:latin typeface="黑体" panose="02010609060101010101" pitchFamily="49" charset="-122"/>
                <a:ea typeface="黑体" panose="02010609060101010101" pitchFamily="49" charset="-122"/>
              </a:rPr>
              <a:t>事实标准：</a:t>
            </a:r>
            <a:r>
              <a:rPr lang="en-US" altLang="zh-CN" sz="3200" b="1" dirty="0">
                <a:solidFill>
                  <a:srgbClr val="0000CC"/>
                </a:solidFill>
                <a:latin typeface="黑体" panose="02010609060101010101" pitchFamily="49" charset="-122"/>
                <a:ea typeface="黑体" panose="02010609060101010101" pitchFamily="49" charset="-122"/>
              </a:rPr>
              <a:t>TCP/IP</a:t>
            </a:r>
            <a:r>
              <a:rPr lang="zh-CN" altLang="en-US" sz="3200" b="1" dirty="0">
                <a:solidFill>
                  <a:srgbClr val="0000CC"/>
                </a:solidFill>
                <a:latin typeface="黑体" panose="02010609060101010101" pitchFamily="49" charset="-122"/>
                <a:ea typeface="黑体" panose="02010609060101010101" pitchFamily="49" charset="-122"/>
              </a:rPr>
              <a:t>协议集</a:t>
            </a:r>
          </a:p>
          <a:p>
            <a:pPr marL="621030" lvl="1" indent="-262255">
              <a:spcBef>
                <a:spcPct val="20000"/>
              </a:spcBef>
              <a:buClr>
                <a:srgbClr val="0000CC"/>
              </a:buClr>
              <a:buFont typeface="Wingdings" panose="05000000000000000000" pitchFamily="2" charset="2"/>
              <a:buChar char="ü"/>
            </a:pPr>
            <a:endParaRPr lang="en-US" altLang="zh-CN" sz="3200" b="1" dirty="0">
              <a:solidFill>
                <a:srgbClr val="000066"/>
              </a:solidFill>
              <a:latin typeface="黑体" panose="02010609060101010101" pitchFamily="49" charset="-122"/>
              <a:ea typeface="黑体" panose="02010609060101010101" pitchFamily="49" charset="-122"/>
            </a:endParaRPr>
          </a:p>
        </p:txBody>
      </p:sp>
      <p:graphicFrame>
        <p:nvGraphicFramePr>
          <p:cNvPr id="4" name="表格 3"/>
          <p:cNvGraphicFramePr>
            <a:graphicFrameLocks noGrp="1"/>
          </p:cNvGraphicFramePr>
          <p:nvPr>
            <p:extLst>
              <p:ext uri="{D42A27DB-BD31-4B8C-83A1-F6EECF244321}">
                <p14:modId xmlns:p14="http://schemas.microsoft.com/office/powerpoint/2010/main" val="2188925877"/>
              </p:ext>
            </p:extLst>
          </p:nvPr>
        </p:nvGraphicFramePr>
        <p:xfrm>
          <a:off x="1052178" y="3429000"/>
          <a:ext cx="6984582" cy="2880240"/>
        </p:xfrm>
        <a:graphic>
          <a:graphicData uri="http://schemas.openxmlformats.org/drawingml/2006/table">
            <a:tbl>
              <a:tblPr/>
              <a:tblGrid>
                <a:gridCol w="1722933">
                  <a:extLst>
                    <a:ext uri="{9D8B030D-6E8A-4147-A177-3AD203B41FA5}">
                      <a16:colId xmlns:a16="http://schemas.microsoft.com/office/drawing/2014/main" val="1874484746"/>
                    </a:ext>
                  </a:extLst>
                </a:gridCol>
                <a:gridCol w="1753883">
                  <a:extLst>
                    <a:ext uri="{9D8B030D-6E8A-4147-A177-3AD203B41FA5}">
                      <a16:colId xmlns:a16="http://schemas.microsoft.com/office/drawing/2014/main" val="2958518987"/>
                    </a:ext>
                  </a:extLst>
                </a:gridCol>
                <a:gridCol w="1753883">
                  <a:extLst>
                    <a:ext uri="{9D8B030D-6E8A-4147-A177-3AD203B41FA5}">
                      <a16:colId xmlns:a16="http://schemas.microsoft.com/office/drawing/2014/main" val="3571791621"/>
                    </a:ext>
                  </a:extLst>
                </a:gridCol>
                <a:gridCol w="1753883">
                  <a:extLst>
                    <a:ext uri="{9D8B030D-6E8A-4147-A177-3AD203B41FA5}">
                      <a16:colId xmlns:a16="http://schemas.microsoft.com/office/drawing/2014/main" val="2489404495"/>
                    </a:ext>
                  </a:extLst>
                </a:gridCol>
              </a:tblGrid>
              <a:tr h="0">
                <a:tc>
                  <a:txBody>
                    <a:bodyPr/>
                    <a:lstStyle/>
                    <a:p>
                      <a:pPr algn="l"/>
                      <a:r>
                        <a:rPr lang="zh-CN" altLang="en-US" sz="2400" b="1" dirty="0">
                          <a:ln>
                            <a:solidFill>
                              <a:schemeClr val="accent1"/>
                            </a:solidFill>
                          </a:ln>
                          <a:solidFill>
                            <a:schemeClr val="tx2">
                              <a:lumMod val="75000"/>
                            </a:schemeClr>
                          </a:solidFill>
                          <a:effectLst/>
                          <a:latin typeface="微软雅黑" panose="020B0503020204020204" pitchFamily="34" charset="-122"/>
                          <a:ea typeface="微软雅黑" panose="020B0503020204020204" pitchFamily="34" charset="-122"/>
                        </a:rPr>
                        <a:t>标准类型</a:t>
                      </a:r>
                    </a:p>
                  </a:txBody>
                  <a:tcPr marR="95250" marT="95250" marB="952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a:r>
                        <a:rPr lang="zh-CN" altLang="en-US" sz="2400" b="1" dirty="0">
                          <a:ln>
                            <a:solidFill>
                              <a:schemeClr val="accent1"/>
                            </a:solidFill>
                          </a:ln>
                          <a:solidFill>
                            <a:schemeClr val="tx2">
                              <a:lumMod val="75000"/>
                            </a:schemeClr>
                          </a:solidFill>
                          <a:effectLst/>
                          <a:latin typeface="微软雅黑" panose="020B0503020204020204" pitchFamily="34" charset="-122"/>
                          <a:ea typeface="微软雅黑" panose="020B0503020204020204" pitchFamily="34" charset="-122"/>
                        </a:rPr>
                        <a:t>代表</a:t>
                      </a:r>
                    </a:p>
                  </a:txBody>
                  <a:tcPr marL="95250" marR="95250" marT="95250" marB="952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a:r>
                        <a:rPr lang="zh-CN" altLang="en-US" sz="2400" b="1" dirty="0">
                          <a:ln>
                            <a:solidFill>
                              <a:schemeClr val="accent1"/>
                            </a:solidFill>
                          </a:ln>
                          <a:solidFill>
                            <a:schemeClr val="tx2">
                              <a:lumMod val="75000"/>
                            </a:schemeClr>
                          </a:solidFill>
                          <a:effectLst/>
                          <a:latin typeface="微软雅黑" panose="020B0503020204020204" pitchFamily="34" charset="-122"/>
                          <a:ea typeface="微软雅黑" panose="020B0503020204020204" pitchFamily="34" charset="-122"/>
                        </a:rPr>
                        <a:t>适用性</a:t>
                      </a:r>
                    </a:p>
                  </a:txBody>
                  <a:tcPr marL="95250" marR="95250" marT="95250" marB="952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a:r>
                        <a:rPr lang="zh-CN" altLang="en-US" sz="2400" b="1" dirty="0">
                          <a:ln>
                            <a:solidFill>
                              <a:schemeClr val="accent1"/>
                            </a:solidFill>
                          </a:ln>
                          <a:solidFill>
                            <a:schemeClr val="tx2">
                              <a:lumMod val="75000"/>
                            </a:schemeClr>
                          </a:solidFill>
                          <a:effectLst/>
                          <a:latin typeface="微软雅黑" panose="020B0503020204020204" pitchFamily="34" charset="-122"/>
                          <a:ea typeface="微软雅黑" panose="020B0503020204020204" pitchFamily="34" charset="-122"/>
                        </a:rPr>
                        <a:t>生命周期</a:t>
                      </a:r>
                    </a:p>
                  </a:txBody>
                  <a:tcPr marL="95250" marR="95250" marT="95250" marB="952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2854762386"/>
                  </a:ext>
                </a:extLst>
              </a:tr>
              <a:tr h="0">
                <a:tc>
                  <a:txBody>
                    <a:bodyPr/>
                    <a:lstStyle/>
                    <a:p>
                      <a:r>
                        <a:rPr lang="zh-CN" altLang="en-US" sz="2400">
                          <a:ln>
                            <a:solidFill>
                              <a:schemeClr val="accent1"/>
                            </a:solidFill>
                          </a:ln>
                          <a:effectLst/>
                          <a:latin typeface="微软雅黑" panose="020B0503020204020204" pitchFamily="34" charset="-122"/>
                          <a:ea typeface="微软雅黑" panose="020B0503020204020204" pitchFamily="34" charset="-122"/>
                        </a:rPr>
                        <a:t>厂商标准</a:t>
                      </a:r>
                    </a:p>
                  </a:txBody>
                  <a:tcPr marR="95250" marT="95250" marB="952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r>
                        <a:rPr lang="en-US" sz="2400" dirty="0">
                          <a:ln>
                            <a:solidFill>
                              <a:schemeClr val="accent1"/>
                            </a:solidFill>
                          </a:ln>
                          <a:effectLst/>
                          <a:latin typeface="微软雅黑" panose="020B0503020204020204" pitchFamily="34" charset="-122"/>
                          <a:ea typeface="微软雅黑" panose="020B0503020204020204" pitchFamily="34" charset="-122"/>
                        </a:rPr>
                        <a:t>SNA/DNA</a:t>
                      </a:r>
                    </a:p>
                  </a:txBody>
                  <a:tcPr marL="95250" marR="95250" marT="95250" marB="952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r>
                        <a:rPr lang="zh-CN" altLang="en-US" sz="2400" dirty="0">
                          <a:ln>
                            <a:solidFill>
                              <a:schemeClr val="accent1"/>
                            </a:solidFill>
                          </a:ln>
                          <a:effectLst/>
                          <a:latin typeface="微软雅黑" panose="020B0503020204020204" pitchFamily="34" charset="-122"/>
                          <a:ea typeface="微软雅黑" panose="020B0503020204020204" pitchFamily="34" charset="-122"/>
                        </a:rPr>
                        <a:t>封闭系统</a:t>
                      </a:r>
                    </a:p>
                  </a:txBody>
                  <a:tcPr marL="95250" marR="95250" marT="95250" marB="952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r>
                        <a:rPr lang="en-US" sz="2400" dirty="0">
                          <a:ln>
                            <a:solidFill>
                              <a:schemeClr val="accent1"/>
                            </a:solidFill>
                          </a:ln>
                          <a:effectLst/>
                          <a:latin typeface="微软雅黑" panose="020B0503020204020204" pitchFamily="34" charset="-122"/>
                          <a:ea typeface="微软雅黑" panose="020B0503020204020204" pitchFamily="34" charset="-122"/>
                        </a:rPr>
                        <a:t>1970s-1990s</a:t>
                      </a:r>
                    </a:p>
                  </a:txBody>
                  <a:tcPr marL="95250" marR="95250" marT="95250" marB="952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3600312860"/>
                  </a:ext>
                </a:extLst>
              </a:tr>
              <a:tr h="681900">
                <a:tc>
                  <a:txBody>
                    <a:bodyPr/>
                    <a:lstStyle/>
                    <a:p>
                      <a:r>
                        <a:rPr lang="zh-CN" altLang="en-US" sz="2400">
                          <a:ln>
                            <a:solidFill>
                              <a:schemeClr val="accent1"/>
                            </a:solidFill>
                          </a:ln>
                          <a:effectLst/>
                          <a:latin typeface="微软雅黑" panose="020B0503020204020204" pitchFamily="34" charset="-122"/>
                          <a:ea typeface="微软雅黑" panose="020B0503020204020204" pitchFamily="34" charset="-122"/>
                        </a:rPr>
                        <a:t>国际标准</a:t>
                      </a:r>
                    </a:p>
                  </a:txBody>
                  <a:tcPr marR="95250" marT="95250" marB="952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r>
                        <a:rPr lang="en-US" sz="2400">
                          <a:ln>
                            <a:solidFill>
                              <a:schemeClr val="accent1"/>
                            </a:solidFill>
                          </a:ln>
                          <a:effectLst/>
                          <a:latin typeface="微软雅黑" panose="020B0503020204020204" pitchFamily="34" charset="-122"/>
                          <a:ea typeface="微软雅黑" panose="020B0503020204020204" pitchFamily="34" charset="-122"/>
                        </a:rPr>
                        <a:t>OSI/RM</a:t>
                      </a:r>
                    </a:p>
                  </a:txBody>
                  <a:tcPr marL="95250" marR="95250" marT="95250" marB="952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r>
                        <a:rPr lang="zh-CN" altLang="en-US" sz="2400">
                          <a:ln>
                            <a:solidFill>
                              <a:schemeClr val="accent1"/>
                            </a:solidFill>
                          </a:ln>
                          <a:effectLst/>
                          <a:latin typeface="微软雅黑" panose="020B0503020204020204" pitchFamily="34" charset="-122"/>
                          <a:ea typeface="微软雅黑" panose="020B0503020204020204" pitchFamily="34" charset="-122"/>
                        </a:rPr>
                        <a:t>理论指导</a:t>
                      </a:r>
                    </a:p>
                  </a:txBody>
                  <a:tcPr marL="95250" marR="95250" marT="95250" marB="952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r>
                        <a:rPr lang="en-US" sz="2400" dirty="0">
                          <a:ln>
                            <a:solidFill>
                              <a:schemeClr val="accent1"/>
                            </a:solidFill>
                          </a:ln>
                          <a:effectLst/>
                          <a:latin typeface="微软雅黑" panose="020B0503020204020204" pitchFamily="34" charset="-122"/>
                          <a:ea typeface="微软雅黑" panose="020B0503020204020204" pitchFamily="34" charset="-122"/>
                        </a:rPr>
                        <a:t>1980s</a:t>
                      </a:r>
                      <a:r>
                        <a:rPr lang="zh-CN" altLang="en-US" sz="2400" dirty="0">
                          <a:ln>
                            <a:solidFill>
                              <a:schemeClr val="accent1"/>
                            </a:solidFill>
                          </a:ln>
                          <a:effectLst/>
                          <a:latin typeface="微软雅黑" panose="020B0503020204020204" pitchFamily="34" charset="-122"/>
                          <a:ea typeface="微软雅黑" panose="020B0503020204020204" pitchFamily="34" charset="-122"/>
                        </a:rPr>
                        <a:t>至今</a:t>
                      </a:r>
                    </a:p>
                  </a:txBody>
                  <a:tcPr marL="95250" marR="95250" marT="95250" marB="952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2819494696"/>
                  </a:ext>
                </a:extLst>
              </a:tr>
              <a:tr h="720060">
                <a:tc>
                  <a:txBody>
                    <a:bodyPr/>
                    <a:lstStyle/>
                    <a:p>
                      <a:r>
                        <a:rPr lang="zh-CN" altLang="en-US" sz="2400">
                          <a:ln>
                            <a:solidFill>
                              <a:schemeClr val="accent1"/>
                            </a:solidFill>
                          </a:ln>
                          <a:effectLst/>
                          <a:latin typeface="微软雅黑" panose="020B0503020204020204" pitchFamily="34" charset="-122"/>
                          <a:ea typeface="微软雅黑" panose="020B0503020204020204" pitchFamily="34" charset="-122"/>
                        </a:rPr>
                        <a:t>事实标准</a:t>
                      </a:r>
                    </a:p>
                  </a:txBody>
                  <a:tcPr marR="95250" marT="95250" marB="952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r>
                        <a:rPr lang="en-US" sz="2400">
                          <a:ln>
                            <a:solidFill>
                              <a:schemeClr val="accent1"/>
                            </a:solidFill>
                          </a:ln>
                          <a:effectLst/>
                          <a:latin typeface="微软雅黑" panose="020B0503020204020204" pitchFamily="34" charset="-122"/>
                          <a:ea typeface="微软雅黑" panose="020B0503020204020204" pitchFamily="34" charset="-122"/>
                        </a:rPr>
                        <a:t>TCP/IP</a:t>
                      </a:r>
                    </a:p>
                  </a:txBody>
                  <a:tcPr marL="95250" marR="95250" marT="95250" marB="952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r>
                        <a:rPr lang="zh-CN" altLang="en-US" sz="2400">
                          <a:ln>
                            <a:solidFill>
                              <a:schemeClr val="accent1"/>
                            </a:solidFill>
                          </a:ln>
                          <a:effectLst/>
                          <a:latin typeface="微软雅黑" panose="020B0503020204020204" pitchFamily="34" charset="-122"/>
                          <a:ea typeface="微软雅黑" panose="020B0503020204020204" pitchFamily="34" charset="-122"/>
                        </a:rPr>
                        <a:t>全球互联网</a:t>
                      </a:r>
                    </a:p>
                  </a:txBody>
                  <a:tcPr marL="95250" marR="95250" marT="95250" marB="952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r>
                        <a:rPr lang="en-US" sz="2400" dirty="0">
                          <a:ln>
                            <a:solidFill>
                              <a:schemeClr val="accent1"/>
                            </a:solidFill>
                          </a:ln>
                          <a:effectLst/>
                          <a:latin typeface="微软雅黑" panose="020B0503020204020204" pitchFamily="34" charset="-122"/>
                          <a:ea typeface="微软雅黑" panose="020B0503020204020204" pitchFamily="34" charset="-122"/>
                        </a:rPr>
                        <a:t>1980s</a:t>
                      </a:r>
                      <a:r>
                        <a:rPr lang="zh-CN" altLang="en-US" sz="2400" dirty="0">
                          <a:ln>
                            <a:solidFill>
                              <a:schemeClr val="accent1"/>
                            </a:solidFill>
                          </a:ln>
                          <a:effectLst/>
                          <a:latin typeface="微软雅黑" panose="020B0503020204020204" pitchFamily="34" charset="-122"/>
                          <a:ea typeface="微软雅黑" panose="020B0503020204020204" pitchFamily="34" charset="-122"/>
                        </a:rPr>
                        <a:t>至今</a:t>
                      </a:r>
                    </a:p>
                  </a:txBody>
                  <a:tcPr marL="95250" marR="95250" marT="95250" marB="952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2434175777"/>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66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661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661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2"/>
          <p:cNvSpPr>
            <a:spLocks noGrp="1"/>
          </p:cNvSpPr>
          <p:nvPr>
            <p:ph type="title"/>
          </p:nvPr>
        </p:nvSpPr>
        <p:spPr>
          <a:xfrm>
            <a:off x="1447800" y="260350"/>
            <a:ext cx="7696200" cy="720725"/>
          </a:xfrm>
        </p:spPr>
        <p:txBody>
          <a:bodyPr vert="horz" wrap="square" lIns="92075" tIns="46038" rIns="92075" bIns="46038" anchor="ctr" anchorCtr="0"/>
          <a:lstStyle/>
          <a:p>
            <a:pPr marL="838200" indent="-838200" algn="r" eaLnBrk="1" hangingPunct="1"/>
            <a:r>
              <a:rPr lang="zh-CN" altLang="en-US" sz="3200" dirty="0">
                <a:solidFill>
                  <a:schemeClr val="bg1"/>
                </a:solidFill>
              </a:rPr>
              <a:t>计算机网络的蓬勃发展</a:t>
            </a:r>
          </a:p>
        </p:txBody>
      </p:sp>
      <p:sp>
        <p:nvSpPr>
          <p:cNvPr id="15363" name="Rectangle 3"/>
          <p:cNvSpPr>
            <a:spLocks noGrp="1"/>
          </p:cNvSpPr>
          <p:nvPr>
            <p:ph idx="1"/>
          </p:nvPr>
        </p:nvSpPr>
        <p:spPr>
          <a:xfrm>
            <a:off x="539664" y="1196814"/>
            <a:ext cx="8388350" cy="5040312"/>
          </a:xfrm>
        </p:spPr>
        <p:txBody>
          <a:bodyPr vert="horz" wrap="square" lIns="91440" tIns="45720" rIns="91440" bIns="45720" anchor="t" anchorCtr="0"/>
          <a:lstStyle/>
          <a:p>
            <a:pPr eaLnBrk="1" hangingPunct="1">
              <a:spcBef>
                <a:spcPts val="800"/>
              </a:spcBef>
            </a:pPr>
            <a:r>
              <a:rPr lang="en-US" altLang="zh-CN" sz="2800" dirty="0">
                <a:solidFill>
                  <a:srgbClr val="FF0000"/>
                </a:solidFill>
                <a:latin typeface="黑体" panose="02010609060101010101" pitchFamily="49" charset="-122"/>
                <a:ea typeface="黑体" panose="02010609060101010101" pitchFamily="49" charset="-122"/>
              </a:rPr>
              <a:t> </a:t>
            </a:r>
            <a:r>
              <a:rPr lang="zh-CN" altLang="en-US" sz="2800" b="0" dirty="0">
                <a:solidFill>
                  <a:srgbClr val="FF0000"/>
                </a:solidFill>
                <a:latin typeface="黑体" panose="02010609060101010101" pitchFamily="49" charset="-122"/>
                <a:ea typeface="黑体" panose="02010609060101010101" pitchFamily="49" charset="-122"/>
              </a:rPr>
              <a:t>局域网</a:t>
            </a:r>
            <a:r>
              <a:rPr lang="zh-CN" altLang="en-US" sz="2800" b="0" dirty="0">
                <a:latin typeface="黑体" panose="02010609060101010101" pitchFamily="49" charset="-122"/>
                <a:ea typeface="黑体" panose="02010609060101010101" pitchFamily="49" charset="-122"/>
              </a:rPr>
              <a:t>的出现和</a:t>
            </a:r>
            <a:r>
              <a:rPr lang="en-US" altLang="zh-CN" sz="2800" b="0" dirty="0">
                <a:solidFill>
                  <a:srgbClr val="FF0000"/>
                </a:solidFill>
                <a:latin typeface="黑体" panose="02010609060101010101" pitchFamily="49" charset="-122"/>
                <a:ea typeface="黑体" panose="02010609060101010101" pitchFamily="49" charset="-122"/>
              </a:rPr>
              <a:t>Internet</a:t>
            </a:r>
            <a:r>
              <a:rPr lang="zh-CN" altLang="en-US" sz="2800" b="0" dirty="0">
                <a:latin typeface="黑体" panose="02010609060101010101" pitchFamily="49" charset="-122"/>
                <a:ea typeface="黑体" panose="02010609060101010101" pitchFamily="49" charset="-122"/>
              </a:rPr>
              <a:t>的推广促进</a:t>
            </a:r>
            <a:r>
              <a:rPr lang="zh-CN" altLang="en-US" sz="2800" b="0" dirty="0" smtClean="0">
                <a:latin typeface="黑体" panose="02010609060101010101" pitchFamily="49" charset="-122"/>
                <a:ea typeface="黑体" panose="02010609060101010101" pitchFamily="49" charset="-122"/>
              </a:rPr>
              <a:t>了</a:t>
            </a:r>
            <a:r>
              <a:rPr lang="zh-CN" altLang="en-US" sz="2800" b="0" dirty="0">
                <a:latin typeface="黑体" panose="02010609060101010101" pitchFamily="49" charset="-122"/>
                <a:ea typeface="黑体" panose="02010609060101010101" pitchFamily="49" charset="-122"/>
              </a:rPr>
              <a:t>计算机</a:t>
            </a:r>
            <a:r>
              <a:rPr lang="zh-CN" altLang="en-US" sz="2800" b="0" dirty="0" smtClean="0">
                <a:latin typeface="黑体" panose="02010609060101010101" pitchFamily="49" charset="-122"/>
                <a:ea typeface="黑体" panose="02010609060101010101" pitchFamily="49" charset="-122"/>
              </a:rPr>
              <a:t>网络</a:t>
            </a:r>
            <a:r>
              <a:rPr lang="zh-CN" altLang="en-US" sz="2800" b="0" dirty="0">
                <a:latin typeface="黑体" panose="02010609060101010101" pitchFamily="49" charset="-122"/>
                <a:ea typeface="黑体" panose="02010609060101010101" pitchFamily="49" charset="-122"/>
              </a:rPr>
              <a:t>的蓬勃发展</a:t>
            </a:r>
          </a:p>
          <a:p>
            <a:pPr eaLnBrk="1" hangingPunct="1">
              <a:lnSpc>
                <a:spcPct val="90000"/>
              </a:lnSpc>
              <a:spcBef>
                <a:spcPts val="800"/>
              </a:spcBef>
            </a:pPr>
            <a:r>
              <a:rPr lang="zh-CN" altLang="en-US" sz="2800" dirty="0">
                <a:latin typeface="黑体" panose="02010609060101010101" pitchFamily="49" charset="-122"/>
                <a:ea typeface="黑体" panose="02010609060101010101" pitchFamily="49" charset="-122"/>
              </a:rPr>
              <a:t>“三网”合一</a:t>
            </a:r>
          </a:p>
          <a:p>
            <a:pPr lvl="1" eaLnBrk="1" hangingPunct="1">
              <a:lnSpc>
                <a:spcPct val="90000"/>
              </a:lnSpc>
              <a:spcBef>
                <a:spcPts val="800"/>
              </a:spcBef>
            </a:pPr>
            <a:r>
              <a:rPr lang="zh-CN" altLang="en-US" sz="2400" b="0" dirty="0">
                <a:solidFill>
                  <a:srgbClr val="FF0000"/>
                </a:solidFill>
                <a:latin typeface="黑体" panose="02010609060101010101" pitchFamily="49" charset="-122"/>
                <a:ea typeface="黑体" panose="02010609060101010101" pitchFamily="49" charset="-122"/>
              </a:rPr>
              <a:t>电信网、计算机互联网和有线电视</a:t>
            </a:r>
            <a:r>
              <a:rPr lang="zh-CN" altLang="en-US" sz="2400" b="0" dirty="0" smtClean="0">
                <a:latin typeface="黑体" panose="02010609060101010101" pitchFamily="49" charset="-122"/>
                <a:ea typeface="黑体" panose="02010609060101010101" pitchFamily="49" charset="-122"/>
              </a:rPr>
              <a:t>网趋于</a:t>
            </a:r>
            <a:r>
              <a:rPr lang="zh-CN" altLang="en-US" sz="2400" b="0" dirty="0">
                <a:latin typeface="黑体" panose="02010609060101010101" pitchFamily="49" charset="-122"/>
                <a:ea typeface="黑体" panose="02010609060101010101" pitchFamily="49" charset="-122"/>
              </a:rPr>
              <a:t>相互渗透和相互融合。</a:t>
            </a:r>
          </a:p>
          <a:p>
            <a:pPr eaLnBrk="1" hangingPunct="1">
              <a:lnSpc>
                <a:spcPct val="90000"/>
              </a:lnSpc>
              <a:spcBef>
                <a:spcPts val="800"/>
              </a:spcBef>
            </a:pPr>
            <a:r>
              <a:rPr lang="zh-CN" altLang="en-US" sz="2800" dirty="0">
                <a:latin typeface="黑体" panose="02010609060101010101" pitchFamily="49" charset="-122"/>
                <a:ea typeface="黑体" panose="02010609060101010101" pitchFamily="49" charset="-122"/>
              </a:rPr>
              <a:t>全光网络</a:t>
            </a:r>
          </a:p>
          <a:p>
            <a:pPr lvl="1" eaLnBrk="1" hangingPunct="1">
              <a:lnSpc>
                <a:spcPct val="90000"/>
              </a:lnSpc>
              <a:spcBef>
                <a:spcPts val="800"/>
              </a:spcBef>
            </a:pPr>
            <a:r>
              <a:rPr lang="zh-CN" altLang="en-US" sz="2400" b="0" dirty="0">
                <a:latin typeface="黑体" panose="02010609060101010101" pitchFamily="49" charset="-122"/>
                <a:ea typeface="黑体" panose="02010609060101010101" pitchFamily="49" charset="-122"/>
              </a:rPr>
              <a:t>骨干网和接入网采用光纤作为传输</a:t>
            </a:r>
            <a:r>
              <a:rPr lang="zh-CN" altLang="en-US" sz="2400" b="0" dirty="0" smtClean="0">
                <a:latin typeface="黑体" panose="02010609060101010101" pitchFamily="49" charset="-122"/>
                <a:ea typeface="黑体" panose="02010609060101010101" pitchFamily="49" charset="-122"/>
              </a:rPr>
              <a:t>介质</a:t>
            </a:r>
            <a:endParaRPr lang="en-US" altLang="zh-CN" sz="2400" b="0" dirty="0" smtClean="0">
              <a:latin typeface="黑体" panose="02010609060101010101" pitchFamily="49" charset="-122"/>
              <a:ea typeface="黑体" panose="02010609060101010101" pitchFamily="49" charset="-122"/>
            </a:endParaRPr>
          </a:p>
          <a:p>
            <a:pPr lvl="1" eaLnBrk="1" hangingPunct="1">
              <a:lnSpc>
                <a:spcPct val="90000"/>
              </a:lnSpc>
              <a:spcBef>
                <a:spcPts val="800"/>
              </a:spcBef>
            </a:pPr>
            <a:r>
              <a:rPr lang="zh-CN" altLang="en-US" sz="2400" b="0" dirty="0" smtClean="0">
                <a:latin typeface="黑体" panose="02010609060101010101" pitchFamily="49" charset="-122"/>
                <a:ea typeface="黑体" panose="02010609060101010101" pitchFamily="49" charset="-122"/>
              </a:rPr>
              <a:t>骨干网的电节点被光节点取代</a:t>
            </a:r>
            <a:endParaRPr lang="zh-CN" altLang="en-US" sz="2400" b="0" dirty="0">
              <a:latin typeface="黑体" panose="02010609060101010101" pitchFamily="49" charset="-122"/>
              <a:ea typeface="黑体" panose="02010609060101010101" pitchFamily="49" charset="-122"/>
            </a:endParaRPr>
          </a:p>
          <a:p>
            <a:pPr eaLnBrk="1" hangingPunct="1">
              <a:lnSpc>
                <a:spcPct val="90000"/>
              </a:lnSpc>
              <a:spcBef>
                <a:spcPts val="800"/>
              </a:spcBef>
            </a:pPr>
            <a:r>
              <a:rPr lang="zh-CN" altLang="en-US" sz="2800" dirty="0">
                <a:latin typeface="黑体" panose="02010609060101010101" pitchFamily="49" charset="-122"/>
                <a:ea typeface="黑体" panose="02010609060101010101" pitchFamily="49" charset="-122"/>
              </a:rPr>
              <a:t>物联网</a:t>
            </a:r>
          </a:p>
          <a:p>
            <a:pPr lvl="1" eaLnBrk="1" hangingPunct="1">
              <a:lnSpc>
                <a:spcPct val="90000"/>
              </a:lnSpc>
              <a:spcBef>
                <a:spcPts val="800"/>
              </a:spcBef>
            </a:pPr>
            <a:r>
              <a:rPr lang="zh-CN" altLang="en-US" sz="2400" b="0" dirty="0">
                <a:latin typeface="黑体" panose="02010609060101010101" pitchFamily="49" charset="-122"/>
                <a:ea typeface="黑体" panose="02010609060101010101" pitchFamily="49" charset="-122"/>
              </a:rPr>
              <a:t>物物相连的互联网</a:t>
            </a:r>
            <a:endParaRPr lang="en-US" altLang="zh-CN" sz="2400" b="0" dirty="0">
              <a:latin typeface="黑体" panose="02010609060101010101" pitchFamily="49" charset="-122"/>
              <a:ea typeface="黑体" panose="02010609060101010101" pitchFamily="49" charset="-122"/>
            </a:endParaRPr>
          </a:p>
          <a:p>
            <a:pPr eaLnBrk="1" hangingPunct="1">
              <a:lnSpc>
                <a:spcPct val="90000"/>
              </a:lnSpc>
              <a:spcBef>
                <a:spcPts val="800"/>
              </a:spcBef>
            </a:pPr>
            <a:r>
              <a:rPr lang="zh-CN" altLang="en-US" sz="2800" dirty="0">
                <a:latin typeface="黑体" panose="02010609060101010101" pitchFamily="49" charset="-122"/>
                <a:ea typeface="黑体" panose="02010609060101010101" pitchFamily="49" charset="-122"/>
              </a:rPr>
              <a:t>软件定义网络</a:t>
            </a:r>
          </a:p>
          <a:p>
            <a:pPr lvl="1" algn="l" eaLnBrk="1" hangingPunct="1">
              <a:lnSpc>
                <a:spcPct val="90000"/>
              </a:lnSpc>
              <a:spcBef>
                <a:spcPct val="20000"/>
              </a:spcBef>
              <a:buSzTx/>
            </a:pPr>
            <a:endParaRPr lang="zh-CN" altLang="en-US" sz="2400" b="0" dirty="0">
              <a:latin typeface="黑体" panose="02010609060101010101" pitchFamily="49" charset="-122"/>
              <a:ea typeface="黑体" panose="02010609060101010101" pitchFamily="49" charset="-122"/>
              <a:cs typeface="+mn-ea"/>
            </a:endParaRPr>
          </a:p>
          <a:p>
            <a:pPr eaLnBrk="1" hangingPunct="1">
              <a:lnSpc>
                <a:spcPct val="90000"/>
              </a:lnSpc>
              <a:spcBef>
                <a:spcPts val="1800"/>
              </a:spcBef>
            </a:pPr>
            <a:endParaRPr lang="zh-CN" altLang="en-US" sz="2800" dirty="0">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36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36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536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536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536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536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5363">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536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536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2"/>
          <p:cNvSpPr>
            <a:spLocks noGrp="1"/>
          </p:cNvSpPr>
          <p:nvPr>
            <p:ph type="title"/>
          </p:nvPr>
        </p:nvSpPr>
        <p:spPr>
          <a:xfrm>
            <a:off x="1447800" y="260350"/>
            <a:ext cx="7696200" cy="720725"/>
          </a:xfrm>
        </p:spPr>
        <p:txBody>
          <a:bodyPr vert="horz" wrap="square" lIns="92075" tIns="46038" rIns="92075" bIns="46038" anchor="ctr" anchorCtr="0"/>
          <a:lstStyle/>
          <a:p>
            <a:pPr marL="838200" indent="-838200" algn="r" eaLnBrk="1" hangingPunct="1"/>
            <a:r>
              <a:rPr lang="zh-CN" altLang="en-US" sz="3200" dirty="0">
                <a:solidFill>
                  <a:schemeClr val="bg1"/>
                </a:solidFill>
              </a:rPr>
              <a:t>软件定义网络</a:t>
            </a:r>
            <a:r>
              <a:rPr lang="en-US" altLang="zh-CN" sz="3200" dirty="0">
                <a:solidFill>
                  <a:schemeClr val="bg1"/>
                </a:solidFill>
              </a:rPr>
              <a:t>SDN</a:t>
            </a:r>
          </a:p>
        </p:txBody>
      </p:sp>
      <p:sp>
        <p:nvSpPr>
          <p:cNvPr id="15363" name="Rectangle 3"/>
          <p:cNvSpPr>
            <a:spLocks noGrp="1"/>
          </p:cNvSpPr>
          <p:nvPr>
            <p:ph idx="1"/>
          </p:nvPr>
        </p:nvSpPr>
        <p:spPr>
          <a:xfrm>
            <a:off x="467658" y="1268820"/>
            <a:ext cx="8388350" cy="1839240"/>
          </a:xfrm>
        </p:spPr>
        <p:txBody>
          <a:bodyPr vert="horz" wrap="square" lIns="91440" tIns="45720" rIns="91440" bIns="45720" anchor="t" anchorCtr="0"/>
          <a:lstStyle/>
          <a:p>
            <a:pPr eaLnBrk="1" hangingPunct="1">
              <a:spcBef>
                <a:spcPts val="1800"/>
              </a:spcBef>
            </a:pPr>
            <a:r>
              <a:rPr lang="en-US" altLang="zh-CN" sz="2800" b="0" dirty="0" smtClean="0">
                <a:latin typeface="黑体" panose="02010609060101010101" pitchFamily="49" charset="-122"/>
                <a:ea typeface="黑体" panose="02010609060101010101" pitchFamily="49" charset="-122"/>
              </a:rPr>
              <a:t>SDN</a:t>
            </a:r>
            <a:r>
              <a:rPr lang="zh-CN" altLang="en-US" sz="2800" b="0" dirty="0" smtClean="0">
                <a:latin typeface="黑体" panose="02010609060101010101" pitchFamily="49" charset="-122"/>
                <a:ea typeface="黑体" panose="02010609060101010101" pitchFamily="49" charset="-122"/>
              </a:rPr>
              <a:t>特点</a:t>
            </a:r>
            <a:endParaRPr lang="zh-CN" altLang="en-US" sz="2800" b="0" dirty="0">
              <a:latin typeface="黑体" panose="02010609060101010101" pitchFamily="49" charset="-122"/>
              <a:ea typeface="黑体" panose="02010609060101010101" pitchFamily="49" charset="-122"/>
            </a:endParaRPr>
          </a:p>
          <a:p>
            <a:pPr lvl="1" algn="l" eaLnBrk="1" hangingPunct="1">
              <a:lnSpc>
                <a:spcPct val="90000"/>
              </a:lnSpc>
              <a:spcBef>
                <a:spcPct val="20000"/>
              </a:spcBef>
              <a:buSzTx/>
            </a:pPr>
            <a:r>
              <a:rPr lang="zh-CN" altLang="en-US" sz="2400" b="0" dirty="0">
                <a:latin typeface="黑体" panose="02010609060101010101" pitchFamily="49" charset="-122"/>
                <a:ea typeface="黑体" panose="02010609060101010101" pitchFamily="49" charset="-122"/>
                <a:cs typeface="+mn-ea"/>
              </a:rPr>
              <a:t>解耦了控制平面与数据平面</a:t>
            </a:r>
          </a:p>
          <a:p>
            <a:pPr lvl="1" algn="l" eaLnBrk="1" hangingPunct="1">
              <a:lnSpc>
                <a:spcPct val="90000"/>
              </a:lnSpc>
              <a:spcBef>
                <a:spcPct val="20000"/>
              </a:spcBef>
              <a:buSzTx/>
            </a:pPr>
            <a:r>
              <a:rPr lang="zh-CN" altLang="en-US" sz="2400" b="0" dirty="0">
                <a:latin typeface="黑体" panose="02010609060101010101" pitchFamily="49" charset="-122"/>
                <a:ea typeface="黑体" panose="02010609060101010101" pitchFamily="49" charset="-122"/>
                <a:cs typeface="+mn-ea"/>
              </a:rPr>
              <a:t>支持集中化的网络状态控制</a:t>
            </a:r>
          </a:p>
          <a:p>
            <a:pPr lvl="1" algn="l" eaLnBrk="1" hangingPunct="1">
              <a:lnSpc>
                <a:spcPct val="90000"/>
              </a:lnSpc>
              <a:spcBef>
                <a:spcPct val="20000"/>
              </a:spcBef>
              <a:buSzTx/>
            </a:pPr>
            <a:r>
              <a:rPr lang="zh-CN" altLang="en-US" sz="2400" b="0" dirty="0">
                <a:latin typeface="黑体" panose="02010609060101010101" pitchFamily="49" charset="-122"/>
                <a:ea typeface="黑体" panose="02010609060101010101" pitchFamily="49" charset="-122"/>
                <a:cs typeface="+mn-ea"/>
              </a:rPr>
              <a:t>实现了底层网络设施对上层应用的透明 </a:t>
            </a:r>
          </a:p>
          <a:p>
            <a:pPr lvl="1" algn="l" eaLnBrk="1" hangingPunct="1">
              <a:lnSpc>
                <a:spcPct val="90000"/>
              </a:lnSpc>
              <a:spcBef>
                <a:spcPct val="20000"/>
              </a:spcBef>
              <a:buSzTx/>
            </a:pPr>
            <a:endParaRPr lang="zh-CN" altLang="en-US" sz="2400" b="0" dirty="0">
              <a:latin typeface="黑体" panose="02010609060101010101" pitchFamily="49" charset="-122"/>
              <a:ea typeface="黑体" panose="02010609060101010101" pitchFamily="49" charset="-122"/>
              <a:cs typeface="+mn-ea"/>
            </a:endParaRPr>
          </a:p>
          <a:p>
            <a:pPr eaLnBrk="1" hangingPunct="1">
              <a:lnSpc>
                <a:spcPct val="90000"/>
              </a:lnSpc>
              <a:spcBef>
                <a:spcPts val="1800"/>
              </a:spcBef>
            </a:pPr>
            <a:endParaRPr lang="zh-CN" altLang="en-US" sz="2800" dirty="0">
              <a:latin typeface="黑体" panose="02010609060101010101" pitchFamily="49" charset="-122"/>
              <a:ea typeface="黑体" panose="02010609060101010101" pitchFamily="49" charset="-122"/>
            </a:endParaRPr>
          </a:p>
        </p:txBody>
      </p:sp>
      <p:pic>
        <p:nvPicPr>
          <p:cNvPr id="2" name="图片 6"/>
          <p:cNvPicPr>
            <a:picLocks noChangeAspect="1"/>
          </p:cNvPicPr>
          <p:nvPr>
            <p:custDataLst>
              <p:tags r:id="rId1"/>
            </p:custDataLst>
          </p:nvPr>
        </p:nvPicPr>
        <p:blipFill>
          <a:blip r:embed="rId4"/>
          <a:stretch>
            <a:fillRect/>
          </a:stretch>
        </p:blipFill>
        <p:spPr>
          <a:xfrm>
            <a:off x="1619754" y="3108060"/>
            <a:ext cx="4938395" cy="316611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2"/>
          <p:cNvSpPr>
            <a:spLocks noGrp="1"/>
          </p:cNvSpPr>
          <p:nvPr>
            <p:ph type="title"/>
          </p:nvPr>
        </p:nvSpPr>
        <p:spPr>
          <a:xfrm>
            <a:off x="1447800" y="260350"/>
            <a:ext cx="7696200" cy="720725"/>
          </a:xfrm>
        </p:spPr>
        <p:txBody>
          <a:bodyPr vert="horz" wrap="square" lIns="92075" tIns="46038" rIns="92075" bIns="46038" anchor="ctr" anchorCtr="0"/>
          <a:lstStyle/>
          <a:p>
            <a:pPr marL="838200" indent="-838200" algn="r" eaLnBrk="1" hangingPunct="1"/>
            <a:r>
              <a:rPr lang="en-US" sz="3200" dirty="0">
                <a:solidFill>
                  <a:schemeClr val="bg1"/>
                </a:solidFill>
              </a:rPr>
              <a:t>CENI</a:t>
            </a:r>
            <a:r>
              <a:rPr lang="zh-CN" altLang="en-US" sz="3200" dirty="0">
                <a:solidFill>
                  <a:schemeClr val="bg1"/>
                </a:solidFill>
              </a:rPr>
              <a:t>未来网络体系架构</a:t>
            </a:r>
            <a:endParaRPr lang="en-US" altLang="zh-CN" sz="3200" dirty="0">
              <a:solidFill>
                <a:schemeClr val="bg1"/>
              </a:solidFill>
            </a:endParaRPr>
          </a:p>
        </p:txBody>
      </p:sp>
      <p:sp>
        <p:nvSpPr>
          <p:cNvPr id="15363" name="Rectangle 3"/>
          <p:cNvSpPr>
            <a:spLocks noGrp="1"/>
          </p:cNvSpPr>
          <p:nvPr>
            <p:ph idx="1"/>
          </p:nvPr>
        </p:nvSpPr>
        <p:spPr>
          <a:xfrm>
            <a:off x="468313" y="1341438"/>
            <a:ext cx="8388350" cy="5040312"/>
          </a:xfrm>
        </p:spPr>
        <p:txBody>
          <a:bodyPr vert="horz" wrap="square" lIns="91440" tIns="45720" rIns="91440" bIns="45720" anchor="t" anchorCtr="0"/>
          <a:lstStyle/>
          <a:p>
            <a:pPr eaLnBrk="1" hangingPunct="1">
              <a:spcBef>
                <a:spcPts val="1800"/>
              </a:spcBef>
            </a:pPr>
            <a:r>
              <a:rPr sz="2400" b="0" dirty="0">
                <a:latin typeface="黑体" panose="02010609060101010101" pitchFamily="49" charset="-122"/>
                <a:ea typeface="黑体" panose="02010609060101010101" pitchFamily="49" charset="-122"/>
              </a:rPr>
              <a:t>2013年，我国首次将“未来网络试验设施（CENI）”列入《国家重大科技基础设施建设中长期规划（2012-2030）》</a:t>
            </a:r>
          </a:p>
          <a:p>
            <a:pPr lvl="1" algn="l" eaLnBrk="1" hangingPunct="1">
              <a:lnSpc>
                <a:spcPct val="90000"/>
              </a:lnSpc>
              <a:spcBef>
                <a:spcPct val="20000"/>
              </a:spcBef>
              <a:buSzTx/>
            </a:pPr>
            <a:endParaRPr lang="zh-CN" altLang="en-US" sz="2400" b="0" dirty="0">
              <a:latin typeface="黑体" panose="02010609060101010101" pitchFamily="49" charset="-122"/>
              <a:ea typeface="黑体" panose="02010609060101010101" pitchFamily="49" charset="-122"/>
              <a:cs typeface="+mn-ea"/>
            </a:endParaRPr>
          </a:p>
          <a:p>
            <a:pPr eaLnBrk="1" hangingPunct="1">
              <a:lnSpc>
                <a:spcPct val="90000"/>
              </a:lnSpc>
              <a:spcBef>
                <a:spcPts val="1800"/>
              </a:spcBef>
            </a:pPr>
            <a:endParaRPr lang="zh-CN" altLang="en-US" sz="2800" dirty="0">
              <a:latin typeface="黑体" panose="02010609060101010101" pitchFamily="49" charset="-122"/>
              <a:ea typeface="黑体" panose="02010609060101010101" pitchFamily="49" charset="-122"/>
            </a:endParaRPr>
          </a:p>
        </p:txBody>
      </p:sp>
      <p:pic>
        <p:nvPicPr>
          <p:cNvPr id="2" name="图片 11"/>
          <p:cNvPicPr>
            <a:picLocks noChangeAspect="1"/>
          </p:cNvPicPr>
          <p:nvPr/>
        </p:nvPicPr>
        <p:blipFill>
          <a:blip r:embed="rId3"/>
          <a:stretch>
            <a:fillRect/>
          </a:stretch>
        </p:blipFill>
        <p:spPr>
          <a:xfrm>
            <a:off x="1153478" y="2348910"/>
            <a:ext cx="7018020" cy="3707883"/>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p:cNvSpPr>
            <a:spLocks noGrp="1"/>
          </p:cNvSpPr>
          <p:nvPr>
            <p:ph type="title"/>
          </p:nvPr>
        </p:nvSpPr>
        <p:spPr>
          <a:xfrm>
            <a:off x="2843213" y="260350"/>
            <a:ext cx="7696200" cy="720725"/>
          </a:xfrm>
        </p:spPr>
        <p:txBody>
          <a:bodyPr vert="horz" wrap="square" lIns="92075" tIns="46038" rIns="92075" bIns="46038" anchor="ctr" anchorCtr="0"/>
          <a:lstStyle/>
          <a:p>
            <a:pPr eaLnBrk="1" hangingPunct="1"/>
            <a:r>
              <a:rPr lang="en-US" altLang="zh-CN" dirty="0">
                <a:solidFill>
                  <a:schemeClr val="bg1"/>
                </a:solidFill>
              </a:rPr>
              <a:t>1.3 </a:t>
            </a:r>
            <a:r>
              <a:rPr lang="zh-CN" altLang="en-US" dirty="0">
                <a:solidFill>
                  <a:schemeClr val="bg1"/>
                </a:solidFill>
              </a:rPr>
              <a:t>计算机网络分类</a:t>
            </a:r>
          </a:p>
        </p:txBody>
      </p:sp>
      <p:sp>
        <p:nvSpPr>
          <p:cNvPr id="541699" name="Rectangle 3"/>
          <p:cNvSpPr>
            <a:spLocks noGrp="1"/>
          </p:cNvSpPr>
          <p:nvPr>
            <p:ph idx="1"/>
          </p:nvPr>
        </p:nvSpPr>
        <p:spPr>
          <a:xfrm>
            <a:off x="468313" y="1196975"/>
            <a:ext cx="8229600" cy="4997450"/>
          </a:xfrm>
        </p:spPr>
        <p:txBody>
          <a:bodyPr vert="horz" wrap="square" lIns="91440" tIns="45720" rIns="91440" bIns="45720" anchor="t" anchorCtr="0"/>
          <a:lstStyle/>
          <a:p>
            <a:pPr marL="609600" indent="-609600" eaLnBrk="1" hangingPunct="1">
              <a:lnSpc>
                <a:spcPct val="90000"/>
              </a:lnSpc>
            </a:pPr>
            <a:r>
              <a:rPr lang="zh-CN" altLang="en-US" sz="2800" dirty="0">
                <a:latin typeface="黑体" panose="02010609060101010101" pitchFamily="49" charset="-122"/>
                <a:ea typeface="黑体" panose="02010609060101010101" pitchFamily="49" charset="-122"/>
              </a:rPr>
              <a:t>按覆盖范围 </a:t>
            </a:r>
          </a:p>
          <a:p>
            <a:pPr marL="990600" lvl="1" indent="-533400" eaLnBrk="1" hangingPunct="1"/>
            <a:r>
              <a:rPr lang="zh-CN" altLang="en-US" sz="2400" b="0" dirty="0">
                <a:latin typeface="黑体" panose="02010609060101010101" pitchFamily="49" charset="-122"/>
                <a:ea typeface="黑体" panose="02010609060101010101" pitchFamily="49" charset="-122"/>
              </a:rPr>
              <a:t>个域网</a:t>
            </a:r>
            <a:r>
              <a:rPr lang="en-US" altLang="zh-CN" sz="2400" b="0" dirty="0">
                <a:latin typeface="黑体" panose="02010609060101010101" pitchFamily="49" charset="-122"/>
                <a:ea typeface="黑体" panose="02010609060101010101" pitchFamily="49" charset="-122"/>
                <a:sym typeface="+mn-ea"/>
              </a:rPr>
              <a:t>(Personal Area Network</a:t>
            </a:r>
            <a:r>
              <a:rPr lang="zh-CN" altLang="en-US" sz="2400" b="0" dirty="0">
                <a:latin typeface="黑体" panose="02010609060101010101" pitchFamily="49" charset="-122"/>
                <a:ea typeface="黑体" panose="02010609060101010101" pitchFamily="49" charset="-122"/>
                <a:sym typeface="+mn-ea"/>
              </a:rPr>
              <a:t>，</a:t>
            </a:r>
            <a:r>
              <a:rPr lang="en-US" altLang="zh-CN" sz="2400" b="0" dirty="0">
                <a:latin typeface="黑体" panose="02010609060101010101" pitchFamily="49" charset="-122"/>
                <a:ea typeface="黑体" panose="02010609060101010101" pitchFamily="49" charset="-122"/>
                <a:sym typeface="+mn-ea"/>
              </a:rPr>
              <a:t>PAN)</a:t>
            </a:r>
          </a:p>
          <a:p>
            <a:pPr marL="990600" lvl="1" indent="-533400" eaLnBrk="1" hangingPunct="1"/>
            <a:r>
              <a:rPr lang="zh-CN" altLang="en-US" sz="2400" b="0" dirty="0">
                <a:latin typeface="黑体" panose="02010609060101010101" pitchFamily="49" charset="-122"/>
                <a:ea typeface="黑体" panose="02010609060101010101" pitchFamily="49" charset="-122"/>
              </a:rPr>
              <a:t>局域网</a:t>
            </a:r>
            <a:r>
              <a:rPr lang="en-US" altLang="zh-CN" sz="2400" b="0" dirty="0">
                <a:latin typeface="黑体" panose="02010609060101010101" pitchFamily="49" charset="-122"/>
                <a:ea typeface="黑体" panose="02010609060101010101" pitchFamily="49" charset="-122"/>
              </a:rPr>
              <a:t>(Local Area Network</a:t>
            </a:r>
            <a:r>
              <a:rPr lang="zh-CN" altLang="en-US" sz="2400" b="0" dirty="0">
                <a:latin typeface="黑体" panose="02010609060101010101" pitchFamily="49" charset="-122"/>
                <a:ea typeface="黑体" panose="02010609060101010101" pitchFamily="49" charset="-122"/>
              </a:rPr>
              <a:t>，</a:t>
            </a:r>
            <a:r>
              <a:rPr lang="en-US" altLang="zh-CN" sz="2400" b="0" dirty="0">
                <a:latin typeface="黑体" panose="02010609060101010101" pitchFamily="49" charset="-122"/>
                <a:ea typeface="黑体" panose="02010609060101010101" pitchFamily="49" charset="-122"/>
              </a:rPr>
              <a:t>LAN)</a:t>
            </a:r>
          </a:p>
          <a:p>
            <a:pPr marL="990600" lvl="1" indent="-533400" eaLnBrk="1" hangingPunct="1"/>
            <a:r>
              <a:rPr lang="zh-CN" altLang="en-US" sz="2400" b="0" dirty="0">
                <a:latin typeface="黑体" panose="02010609060101010101" pitchFamily="49" charset="-122"/>
                <a:ea typeface="黑体" panose="02010609060101010101" pitchFamily="49" charset="-122"/>
              </a:rPr>
              <a:t>城域网</a:t>
            </a:r>
            <a:r>
              <a:rPr lang="en-US" altLang="zh-CN" sz="2400" b="0" dirty="0">
                <a:latin typeface="黑体" panose="02010609060101010101" pitchFamily="49" charset="-122"/>
                <a:ea typeface="黑体" panose="02010609060101010101" pitchFamily="49" charset="-122"/>
              </a:rPr>
              <a:t>(Metropolitan Area Network</a:t>
            </a:r>
            <a:r>
              <a:rPr lang="zh-CN" altLang="en-US" sz="2400" b="0" dirty="0">
                <a:latin typeface="黑体" panose="02010609060101010101" pitchFamily="49" charset="-122"/>
                <a:ea typeface="黑体" panose="02010609060101010101" pitchFamily="49" charset="-122"/>
              </a:rPr>
              <a:t>，</a:t>
            </a:r>
            <a:r>
              <a:rPr lang="en-US" altLang="zh-CN" sz="2400" b="0" dirty="0">
                <a:latin typeface="黑体" panose="02010609060101010101" pitchFamily="49" charset="-122"/>
                <a:ea typeface="黑体" panose="02010609060101010101" pitchFamily="49" charset="-122"/>
              </a:rPr>
              <a:t>MAN)</a:t>
            </a:r>
          </a:p>
          <a:p>
            <a:pPr marL="990600" lvl="1" indent="-533400" eaLnBrk="1" hangingPunct="1"/>
            <a:r>
              <a:rPr lang="zh-CN" altLang="en-US" sz="2400" b="0" dirty="0">
                <a:latin typeface="黑体" panose="02010609060101010101" pitchFamily="49" charset="-122"/>
                <a:ea typeface="黑体" panose="02010609060101010101" pitchFamily="49" charset="-122"/>
              </a:rPr>
              <a:t>广域网</a:t>
            </a:r>
            <a:r>
              <a:rPr lang="en-US" altLang="zh-CN" sz="2400" b="0" dirty="0">
                <a:latin typeface="黑体" panose="02010609060101010101" pitchFamily="49" charset="-122"/>
                <a:ea typeface="黑体" panose="02010609060101010101" pitchFamily="49" charset="-122"/>
              </a:rPr>
              <a:t>(Wide Area Network</a:t>
            </a:r>
            <a:r>
              <a:rPr lang="zh-CN" altLang="en-US" sz="2400" b="0" dirty="0">
                <a:latin typeface="黑体" panose="02010609060101010101" pitchFamily="49" charset="-122"/>
                <a:ea typeface="黑体" panose="02010609060101010101" pitchFamily="49" charset="-122"/>
              </a:rPr>
              <a:t>，</a:t>
            </a:r>
            <a:r>
              <a:rPr lang="en-US" altLang="zh-CN" sz="2400" b="0" dirty="0">
                <a:latin typeface="黑体" panose="02010609060101010101" pitchFamily="49" charset="-122"/>
                <a:ea typeface="黑体" panose="02010609060101010101" pitchFamily="49" charset="-122"/>
              </a:rPr>
              <a:t>WAN)</a:t>
            </a:r>
          </a:p>
          <a:p>
            <a:pPr marL="609600" indent="-609600" eaLnBrk="1" hangingPunct="1">
              <a:lnSpc>
                <a:spcPct val="90000"/>
              </a:lnSpc>
              <a:spcBef>
                <a:spcPts val="1800"/>
              </a:spcBef>
            </a:pPr>
            <a:r>
              <a:rPr lang="zh-CN" altLang="en-US" sz="2800" dirty="0">
                <a:latin typeface="黑体" panose="02010609060101010101" pitchFamily="49" charset="-122"/>
                <a:ea typeface="黑体" panose="02010609060101010101" pitchFamily="49" charset="-122"/>
              </a:rPr>
              <a:t>按其它标准 </a:t>
            </a:r>
          </a:p>
          <a:p>
            <a:pPr marL="990600" lvl="1" indent="-533400" eaLnBrk="1" hangingPunct="1"/>
            <a:r>
              <a:rPr lang="zh-CN" altLang="en-US" sz="2400" b="0" dirty="0">
                <a:latin typeface="黑体" panose="02010609060101010101" pitchFamily="49" charset="-122"/>
                <a:ea typeface="黑体" panose="02010609060101010101" pitchFamily="49" charset="-122"/>
              </a:rPr>
              <a:t>按通信介质：有线网、无线网</a:t>
            </a:r>
          </a:p>
          <a:p>
            <a:pPr marL="990600" lvl="1" indent="-533400" eaLnBrk="1" hangingPunct="1"/>
            <a:r>
              <a:rPr lang="zh-CN" altLang="en-US" sz="2400" b="0" dirty="0">
                <a:latin typeface="黑体" panose="02010609060101010101" pitchFamily="49" charset="-122"/>
                <a:ea typeface="黑体" panose="02010609060101010101" pitchFamily="49" charset="-122"/>
                <a:sym typeface="+mn-ea"/>
              </a:rPr>
              <a:t>按使用用户：公用网、专用网</a:t>
            </a:r>
            <a:endParaRPr lang="zh-CN" altLang="en-US" sz="2400" b="0" dirty="0">
              <a:latin typeface="黑体" panose="02010609060101010101" pitchFamily="49" charset="-122"/>
              <a:ea typeface="黑体" panose="02010609060101010101" pitchFamily="49" charset="-122"/>
            </a:endParaRPr>
          </a:p>
          <a:p>
            <a:pPr marL="990600" lvl="1" indent="-533400" eaLnBrk="1" hangingPunct="1"/>
            <a:r>
              <a:rPr lang="zh-CN" altLang="en-US" sz="2400" b="0" dirty="0">
                <a:latin typeface="黑体" panose="02010609060101010101" pitchFamily="49" charset="-122"/>
                <a:ea typeface="黑体" panose="02010609060101010101" pitchFamily="49" charset="-122"/>
              </a:rPr>
              <a:t>按网络控制方式：分布式网络、集中式网络</a:t>
            </a:r>
          </a:p>
          <a:p>
            <a:pPr marL="990600" lvl="1" indent="-533400" eaLnBrk="1" hangingPunct="1"/>
            <a:r>
              <a:rPr lang="zh-CN" altLang="en-US" sz="2400" b="0" dirty="0">
                <a:latin typeface="黑体" panose="02010609060101010101" pitchFamily="49" charset="-122"/>
                <a:ea typeface="黑体" panose="02010609060101010101" pitchFamily="49" charset="-122"/>
              </a:rPr>
              <a:t>按网络环境：部门网络、企业网络、校园网络</a:t>
            </a:r>
          </a:p>
          <a:p>
            <a:pPr marL="990600" lvl="1" indent="-533400" eaLnBrk="1" hangingPunct="1"/>
            <a:r>
              <a:rPr lang="zh-CN" altLang="en-US" sz="2400" b="0" dirty="0">
                <a:latin typeface="黑体" panose="02010609060101010101" pitchFamily="49" charset="-122"/>
                <a:ea typeface="黑体" panose="02010609060101010101" pitchFamily="49" charset="-122"/>
                <a:sym typeface="+mn-ea"/>
              </a:rPr>
              <a:t>传输技术：广播式网络、点到点式网络</a:t>
            </a:r>
          </a:p>
          <a:p>
            <a:pPr marL="990600" lvl="1" indent="-533400" eaLnBrk="1" hangingPunct="1"/>
            <a:r>
              <a:rPr lang="zh-CN" altLang="en-US" sz="2400" b="0" dirty="0">
                <a:latin typeface="黑体" panose="02010609060101010101" pitchFamily="49" charset="-122"/>
                <a:ea typeface="黑体" panose="02010609060101010101" pitchFamily="49" charset="-122"/>
                <a:sym typeface="+mn-ea"/>
              </a:rPr>
              <a:t>按通信速率：高、中、低速（宽带网络与窄带网络）</a:t>
            </a:r>
            <a:endParaRPr lang="zh-CN" altLang="en-US" sz="2400" b="0" dirty="0">
              <a:latin typeface="黑体" panose="02010609060101010101" pitchFamily="49" charset="-122"/>
              <a:ea typeface="黑体" panose="02010609060101010101" pitchFamily="49" charset="-122"/>
            </a:endParaRPr>
          </a:p>
          <a:p>
            <a:pPr marL="990600" lvl="1" indent="-533400" eaLnBrk="1" hangingPunct="1"/>
            <a:endParaRPr lang="zh-CN" altLang="en-US" sz="2400" b="0" dirty="0">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4169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41699">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41699">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41699">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41699">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41699">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41699">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41699">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41699">
                                            <p:txEl>
                                              <p:pRg st="8" end="8"/>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41699">
                                            <p:txEl>
                                              <p:pRg st="9" end="9"/>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41699">
                                            <p:txEl>
                                              <p:pRg st="10" end="10"/>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41699">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1699"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p:cNvSpPr>
            <a:spLocks noGrp="1"/>
          </p:cNvSpPr>
          <p:nvPr>
            <p:ph type="title"/>
          </p:nvPr>
        </p:nvSpPr>
        <p:spPr>
          <a:xfrm>
            <a:off x="1339850" y="188913"/>
            <a:ext cx="7696200" cy="720725"/>
          </a:xfrm>
        </p:spPr>
        <p:txBody>
          <a:bodyPr vert="horz" wrap="square" lIns="92075" tIns="46038" rIns="92075" bIns="46038" anchor="ctr" anchorCtr="0"/>
          <a:lstStyle/>
          <a:p>
            <a:pPr marL="838200" indent="-838200" algn="r" eaLnBrk="1" hangingPunct="1"/>
            <a:r>
              <a:rPr lang="zh-CN" altLang="en-US" sz="3600" dirty="0">
                <a:solidFill>
                  <a:schemeClr val="bg1"/>
                </a:solidFill>
              </a:rPr>
              <a:t>计算机互联网络示意图</a:t>
            </a:r>
          </a:p>
        </p:txBody>
      </p:sp>
      <p:graphicFrame>
        <p:nvGraphicFramePr>
          <p:cNvPr id="1073742852" name="对象 1073742851"/>
          <p:cNvGraphicFramePr>
            <a:graphicFrameLocks noChangeAspect="1"/>
          </p:cNvGraphicFramePr>
          <p:nvPr/>
        </p:nvGraphicFramePr>
        <p:xfrm>
          <a:off x="483235" y="1356360"/>
          <a:ext cx="8217535" cy="4166235"/>
        </p:xfrm>
        <a:graphic>
          <a:graphicData uri="http://schemas.openxmlformats.org/presentationml/2006/ole">
            <mc:AlternateContent xmlns:mc="http://schemas.openxmlformats.org/markup-compatibility/2006">
              <mc:Choice xmlns:v="urn:schemas-microsoft-com:vml" Requires="v">
                <p:oleObj spid="_x0000_s9234" r:id="rId4" imgW="5574665" imgH="2831465" progId="Visio.Drawing.11">
                  <p:embed/>
                </p:oleObj>
              </mc:Choice>
              <mc:Fallback>
                <p:oleObj r:id="rId4" imgW="5574665" imgH="2831465" progId="Visio.Drawing.11">
                  <p:embed/>
                  <p:pic>
                    <p:nvPicPr>
                      <p:cNvPr id="0" name="图片 3075"/>
                      <p:cNvPicPr/>
                      <p:nvPr/>
                    </p:nvPicPr>
                    <p:blipFill>
                      <a:blip r:embed="rId5"/>
                      <a:stretch>
                        <a:fillRect/>
                      </a:stretch>
                    </p:blipFill>
                    <p:spPr>
                      <a:xfrm>
                        <a:off x="483235" y="1356360"/>
                        <a:ext cx="8217535" cy="416623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p:cNvSpPr>
            <a:spLocks noGrp="1"/>
          </p:cNvSpPr>
          <p:nvPr>
            <p:ph type="title"/>
          </p:nvPr>
        </p:nvSpPr>
        <p:spPr>
          <a:xfrm>
            <a:off x="1339850" y="188913"/>
            <a:ext cx="7696200" cy="720725"/>
          </a:xfrm>
        </p:spPr>
        <p:txBody>
          <a:bodyPr vert="horz" wrap="square" lIns="92075" tIns="46038" rIns="92075" bIns="46038" anchor="ctr" anchorCtr="0"/>
          <a:lstStyle/>
          <a:p>
            <a:pPr marL="838200" indent="-838200" algn="r" eaLnBrk="1" hangingPunct="1"/>
            <a:r>
              <a:rPr lang="en-US" altLang="zh-CN" sz="3600" dirty="0">
                <a:solidFill>
                  <a:schemeClr val="bg1"/>
                </a:solidFill>
              </a:rPr>
              <a:t>1.4 </a:t>
            </a:r>
            <a:r>
              <a:rPr lang="zh-CN" altLang="en-US" sz="3600" dirty="0">
                <a:solidFill>
                  <a:schemeClr val="bg1"/>
                </a:solidFill>
              </a:rPr>
              <a:t>计算机网络的结构</a:t>
            </a:r>
          </a:p>
        </p:txBody>
      </p:sp>
      <p:sp>
        <p:nvSpPr>
          <p:cNvPr id="533507" name="Rectangle 3"/>
          <p:cNvSpPr>
            <a:spLocks noGrp="1"/>
          </p:cNvSpPr>
          <p:nvPr>
            <p:ph idx="1"/>
          </p:nvPr>
        </p:nvSpPr>
        <p:spPr>
          <a:xfrm>
            <a:off x="1079500" y="1484313"/>
            <a:ext cx="7092950" cy="4114800"/>
          </a:xfrm>
        </p:spPr>
        <p:txBody>
          <a:bodyPr vert="horz" wrap="square" lIns="91440" tIns="45720" rIns="91440" bIns="45720" anchor="t" anchorCtr="0"/>
          <a:lstStyle/>
          <a:p>
            <a:pPr eaLnBrk="1" hangingPunct="1"/>
            <a:r>
              <a:rPr lang="zh-CN" altLang="en-US" dirty="0">
                <a:ea typeface="黑体" panose="02010609060101010101" pitchFamily="49" charset="-122"/>
              </a:rPr>
              <a:t>物理结构</a:t>
            </a:r>
          </a:p>
          <a:p>
            <a:pPr lvl="1" eaLnBrk="1" hangingPunct="1"/>
            <a:r>
              <a:rPr lang="zh-CN" altLang="en-US" b="0" dirty="0">
                <a:ea typeface="黑体" panose="02010609060101010101" pitchFamily="49" charset="-122"/>
              </a:rPr>
              <a:t>物理连接方式、拓扑结构</a:t>
            </a:r>
          </a:p>
          <a:p>
            <a:pPr lvl="1" eaLnBrk="1" hangingPunct="1"/>
            <a:endParaRPr lang="zh-CN" altLang="en-US" sz="3200" dirty="0">
              <a:ea typeface="黑体" panose="02010609060101010101" pitchFamily="49" charset="-122"/>
            </a:endParaRPr>
          </a:p>
          <a:p>
            <a:pPr eaLnBrk="1" hangingPunct="1"/>
            <a:r>
              <a:rPr lang="zh-CN" altLang="en-US" dirty="0">
                <a:ea typeface="黑体" panose="02010609060101010101" pitchFamily="49" charset="-122"/>
              </a:rPr>
              <a:t>逻辑结构</a:t>
            </a:r>
          </a:p>
          <a:p>
            <a:pPr lvl="1" eaLnBrk="1" hangingPunct="1"/>
            <a:r>
              <a:rPr lang="zh-CN" altLang="en-US" b="0" dirty="0">
                <a:ea typeface="黑体" panose="02010609060101010101" pitchFamily="49" charset="-122"/>
              </a:rPr>
              <a:t>信道连接方式、数据传输方式</a:t>
            </a:r>
          </a:p>
          <a:p>
            <a:pPr lvl="1" eaLnBrk="1" hangingPunct="1">
              <a:buNone/>
            </a:pPr>
            <a:endParaRPr lang="zh-CN" altLang="en-US" sz="3200" dirty="0">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3350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33507">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33507">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3350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p:cNvSpPr>
            <a:spLocks noGrp="1"/>
          </p:cNvSpPr>
          <p:nvPr>
            <p:ph type="title"/>
          </p:nvPr>
        </p:nvSpPr>
        <p:spPr>
          <a:xfrm>
            <a:off x="1447800" y="260350"/>
            <a:ext cx="7696200" cy="720725"/>
          </a:xfrm>
        </p:spPr>
        <p:txBody>
          <a:bodyPr vert="horz" wrap="square" lIns="92075" tIns="46038" rIns="92075" bIns="46038" anchor="ctr" anchorCtr="0"/>
          <a:lstStyle/>
          <a:p>
            <a:pPr algn="r" eaLnBrk="1" hangingPunct="1"/>
            <a:r>
              <a:rPr lang="zh-CN" altLang="en-US" sz="3600" dirty="0">
                <a:solidFill>
                  <a:schemeClr val="bg1"/>
                </a:solidFill>
              </a:rPr>
              <a:t>拓扑结构</a:t>
            </a:r>
          </a:p>
        </p:txBody>
      </p:sp>
      <p:sp>
        <p:nvSpPr>
          <p:cNvPr id="200708" name="Rectangle 4"/>
          <p:cNvSpPr>
            <a:spLocks noGrp="1"/>
          </p:cNvSpPr>
          <p:nvPr>
            <p:ph idx="1"/>
          </p:nvPr>
        </p:nvSpPr>
        <p:spPr>
          <a:xfrm>
            <a:off x="827088" y="1196975"/>
            <a:ext cx="8066087" cy="4114800"/>
          </a:xfrm>
        </p:spPr>
        <p:txBody>
          <a:bodyPr vert="horz" wrap="square" lIns="91440" tIns="45720" rIns="91440" bIns="45720" anchor="t" anchorCtr="0"/>
          <a:lstStyle/>
          <a:p>
            <a:pPr eaLnBrk="1" hangingPunct="1"/>
            <a:r>
              <a:rPr lang="en-US" altLang="zh-CN" dirty="0">
                <a:solidFill>
                  <a:schemeClr val="tx1"/>
                </a:solidFill>
                <a:latin typeface="黑体" panose="02010609060101010101" pitchFamily="49" charset="-122"/>
                <a:ea typeface="黑体" panose="02010609060101010101" pitchFamily="49" charset="-122"/>
              </a:rPr>
              <a:t> </a:t>
            </a:r>
            <a:r>
              <a:rPr lang="zh-CN" altLang="en-US" sz="3600" dirty="0">
                <a:solidFill>
                  <a:schemeClr val="tx1"/>
                </a:solidFill>
                <a:latin typeface="黑体" panose="02010609060101010101" pitchFamily="49" charset="-122"/>
                <a:ea typeface="黑体" panose="02010609060101010101" pitchFamily="49" charset="-122"/>
              </a:rPr>
              <a:t>拓扑结构的定义</a:t>
            </a:r>
            <a:endParaRPr lang="zh-CN" altLang="en-US" sz="3600" dirty="0">
              <a:latin typeface="黑体" panose="02010609060101010101" pitchFamily="49" charset="-122"/>
              <a:ea typeface="黑体" panose="02010609060101010101" pitchFamily="49" charset="-122"/>
            </a:endParaRPr>
          </a:p>
          <a:p>
            <a:pPr lvl="1" eaLnBrk="1" hangingPunct="1">
              <a:lnSpc>
                <a:spcPct val="120000"/>
              </a:lnSpc>
            </a:pPr>
            <a:r>
              <a:rPr lang="zh-CN" altLang="en-US" b="0" dirty="0">
                <a:latin typeface="黑体" panose="02010609060101010101" pitchFamily="49" charset="-122"/>
                <a:ea typeface="黑体" panose="02010609060101010101" pitchFamily="49" charset="-122"/>
              </a:rPr>
              <a:t>采用拓扑学的方法抽象的网络结构，研究计算机网络中“点”和“线”构成的几何图形。</a:t>
            </a:r>
          </a:p>
          <a:p>
            <a:pPr eaLnBrk="1" hangingPunct="1">
              <a:spcBef>
                <a:spcPts val="1200"/>
              </a:spcBef>
            </a:pPr>
            <a:r>
              <a:rPr lang="zh-CN" altLang="en-US" dirty="0">
                <a:latin typeface="黑体" panose="02010609060101010101" pitchFamily="49" charset="-122"/>
                <a:ea typeface="黑体" panose="02010609060101010101" pitchFamily="49" charset="-122"/>
              </a:rPr>
              <a:t> </a:t>
            </a:r>
            <a:r>
              <a:rPr lang="zh-CN" altLang="en-US" sz="3600" dirty="0">
                <a:latin typeface="黑体" panose="02010609060101010101" pitchFamily="49" charset="-122"/>
                <a:ea typeface="黑体" panose="02010609060101010101" pitchFamily="49" charset="-122"/>
              </a:rPr>
              <a:t>拓扑结构的种类 </a:t>
            </a:r>
          </a:p>
          <a:p>
            <a:pPr lvl="1" eaLnBrk="1" hangingPunct="1"/>
            <a:r>
              <a:rPr lang="zh-CN" altLang="en-US" b="0" dirty="0">
                <a:latin typeface="黑体" panose="02010609060101010101" pitchFamily="49" charset="-122"/>
                <a:ea typeface="黑体" panose="02010609060101010101" pitchFamily="49" charset="-122"/>
              </a:rPr>
              <a:t>总线形、星形、环形、树形、网状形等</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0708">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0708">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00708">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0070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p:cNvSpPr>
            <a:spLocks noGrp="1"/>
          </p:cNvSpPr>
          <p:nvPr>
            <p:ph type="title"/>
          </p:nvPr>
        </p:nvSpPr>
        <p:spPr>
          <a:xfrm>
            <a:off x="1447800" y="260350"/>
            <a:ext cx="7696200" cy="720725"/>
          </a:xfrm>
        </p:spPr>
        <p:txBody>
          <a:bodyPr vert="horz" wrap="square" lIns="92075" tIns="46038" rIns="92075" bIns="46038" anchor="ctr" anchorCtr="0"/>
          <a:lstStyle/>
          <a:p>
            <a:pPr algn="r" eaLnBrk="1" hangingPunct="1"/>
            <a:r>
              <a:rPr lang="zh-CN" altLang="en-US" sz="3200" dirty="0">
                <a:solidFill>
                  <a:schemeClr val="bg1"/>
                </a:solidFill>
              </a:rPr>
              <a:t>总线形拓扑</a:t>
            </a:r>
          </a:p>
        </p:txBody>
      </p:sp>
      <p:graphicFrame>
        <p:nvGraphicFramePr>
          <p:cNvPr id="4098" name="Object 5"/>
          <p:cNvGraphicFramePr>
            <a:graphicFrameLocks noGrp="1" noChangeAspect="1"/>
          </p:cNvGraphicFramePr>
          <p:nvPr>
            <p:ph idx="1"/>
          </p:nvPr>
        </p:nvGraphicFramePr>
        <p:xfrm>
          <a:off x="1547813" y="1268413"/>
          <a:ext cx="5545137" cy="2803525"/>
        </p:xfrm>
        <a:graphic>
          <a:graphicData uri="http://schemas.openxmlformats.org/presentationml/2006/ole">
            <mc:AlternateContent xmlns:mc="http://schemas.openxmlformats.org/markup-compatibility/2006">
              <mc:Choice xmlns:v="urn:schemas-microsoft-com:vml" Requires="v">
                <p:oleObj spid="_x0000_s10258" r:id="rId4" imgW="4531360" imgH="2294255" progId="Visio.Drawing.6">
                  <p:embed/>
                </p:oleObj>
              </mc:Choice>
              <mc:Fallback>
                <p:oleObj r:id="rId4" imgW="4531360" imgH="2294255" progId="Visio.Drawing.6">
                  <p:embed/>
                  <p:pic>
                    <p:nvPicPr>
                      <p:cNvPr id="0" name="图片 3075"/>
                      <p:cNvPicPr/>
                      <p:nvPr/>
                    </p:nvPicPr>
                    <p:blipFill>
                      <a:blip r:embed="rId5"/>
                      <a:stretch>
                        <a:fillRect/>
                      </a:stretch>
                    </p:blipFill>
                    <p:spPr>
                      <a:xfrm>
                        <a:off x="1547813" y="1268413"/>
                        <a:ext cx="5545137" cy="2803525"/>
                      </a:xfrm>
                      <a:prstGeom prst="rect">
                        <a:avLst/>
                      </a:prstGeom>
                      <a:noFill/>
                      <a:ln w="38100">
                        <a:miter/>
                      </a:ln>
                    </p:spPr>
                  </p:pic>
                </p:oleObj>
              </mc:Fallback>
            </mc:AlternateContent>
          </a:graphicData>
        </a:graphic>
      </p:graphicFrame>
      <p:sp>
        <p:nvSpPr>
          <p:cNvPr id="491527" name="Rectangle 7"/>
          <p:cNvSpPr/>
          <p:nvPr/>
        </p:nvSpPr>
        <p:spPr>
          <a:xfrm>
            <a:off x="900113" y="4378325"/>
            <a:ext cx="7772400" cy="1557338"/>
          </a:xfrm>
          <a:prstGeom prst="rect">
            <a:avLst/>
          </a:prstGeom>
          <a:noFill/>
          <a:ln w="9525">
            <a:noFill/>
          </a:ln>
        </p:spPr>
        <p:txBody>
          <a:bodyPr anchor="t" anchorCtr="0">
            <a:spAutoFit/>
          </a:bodyPr>
          <a:lstStyle/>
          <a:p>
            <a:pPr marL="342900" indent="-342900">
              <a:spcBef>
                <a:spcPct val="20000"/>
              </a:spcBef>
            </a:pPr>
            <a:r>
              <a:rPr lang="zh-CN" altLang="en-US" b="1" dirty="0">
                <a:solidFill>
                  <a:schemeClr val="tx1"/>
                </a:solidFill>
                <a:latin typeface="Times New Roman" panose="02020603050405020304" pitchFamily="18" charset="0"/>
                <a:ea typeface="黑体" panose="02010609060101010101" pitchFamily="49" charset="-122"/>
              </a:rPr>
              <a:t>特征：</a:t>
            </a:r>
            <a:r>
              <a:rPr lang="zh-CN" altLang="en-US" dirty="0">
                <a:solidFill>
                  <a:srgbClr val="0000CC"/>
                </a:solidFill>
                <a:latin typeface="Times New Roman" panose="02020603050405020304" pitchFamily="18" charset="0"/>
                <a:ea typeface="黑体" panose="02010609060101010101" pitchFamily="49" charset="-122"/>
              </a:rPr>
              <a:t>所有结点都连接到一条共享总线上</a:t>
            </a:r>
            <a:endParaRPr lang="en-US" altLang="zh-CN" dirty="0">
              <a:solidFill>
                <a:srgbClr val="0000CC"/>
              </a:solidFill>
              <a:latin typeface="Times New Roman" panose="02020603050405020304" pitchFamily="18" charset="0"/>
              <a:ea typeface="黑体" panose="02010609060101010101" pitchFamily="49" charset="-122"/>
            </a:endParaRPr>
          </a:p>
          <a:p>
            <a:pPr marL="342900" indent="-342900">
              <a:spcBef>
                <a:spcPct val="20000"/>
              </a:spcBef>
            </a:pPr>
            <a:r>
              <a:rPr lang="zh-CN" altLang="en-US" b="1" dirty="0">
                <a:solidFill>
                  <a:schemeClr val="tx1"/>
                </a:solidFill>
                <a:latin typeface="Times New Roman" panose="02020603050405020304" pitchFamily="18" charset="0"/>
                <a:ea typeface="黑体" panose="02010609060101010101" pitchFamily="49" charset="-122"/>
              </a:rPr>
              <a:t>优点：</a:t>
            </a:r>
            <a:r>
              <a:rPr lang="zh-CN" altLang="en-US" dirty="0">
                <a:solidFill>
                  <a:srgbClr val="0000CC"/>
                </a:solidFill>
                <a:latin typeface="Times New Roman" panose="02020603050405020304" pitchFamily="18" charset="0"/>
                <a:ea typeface="黑体" panose="02010609060101010101" pitchFamily="49" charset="-122"/>
              </a:rPr>
              <a:t>线路长度短、布线容易</a:t>
            </a:r>
          </a:p>
          <a:p>
            <a:pPr marL="342900" indent="-342900">
              <a:spcBef>
                <a:spcPct val="20000"/>
              </a:spcBef>
            </a:pPr>
            <a:r>
              <a:rPr lang="zh-CN" altLang="en-US" b="1" dirty="0">
                <a:solidFill>
                  <a:schemeClr val="tx1"/>
                </a:solidFill>
                <a:latin typeface="Times New Roman" panose="02020603050405020304" pitchFamily="18" charset="0"/>
                <a:ea typeface="黑体" panose="02010609060101010101" pitchFamily="49" charset="-122"/>
              </a:rPr>
              <a:t>缺点：</a:t>
            </a:r>
            <a:r>
              <a:rPr lang="zh-CN" altLang="en-US" dirty="0">
                <a:solidFill>
                  <a:srgbClr val="0000CC"/>
                </a:solidFill>
                <a:latin typeface="Times New Roman" panose="02020603050405020304" pitchFamily="18" charset="0"/>
                <a:ea typeface="黑体" panose="02010609060101010101" pitchFamily="49" charset="-122"/>
              </a:rPr>
              <a:t>故障扩散性、故障定位困难</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barn(inVertical)">
                                      <p:cBhvr>
                                        <p:cTn id="7" dur="500"/>
                                        <p:tgtEl>
                                          <p:spTgt spid="4098"/>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491527">
                                            <p:txEl>
                                              <p:pRg st="0" end="0"/>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491527">
                                            <p:txEl>
                                              <p:pRg st="1" end="1"/>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49152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Grp="1"/>
          </p:cNvSpPr>
          <p:nvPr>
            <p:ph type="title"/>
          </p:nvPr>
        </p:nvSpPr>
        <p:spPr>
          <a:xfrm>
            <a:off x="1447800" y="188913"/>
            <a:ext cx="7696200" cy="720725"/>
          </a:xfrm>
        </p:spPr>
        <p:txBody>
          <a:bodyPr vert="horz" wrap="square" lIns="92075" tIns="46038" rIns="92075" bIns="46038" anchor="ctr" anchorCtr="0"/>
          <a:lstStyle/>
          <a:p>
            <a:pPr algn="r" eaLnBrk="1" hangingPunct="1"/>
            <a:r>
              <a:rPr lang="zh-CN" altLang="en-US" sz="3200" dirty="0">
                <a:solidFill>
                  <a:schemeClr val="bg1"/>
                </a:solidFill>
              </a:rPr>
              <a:t>星形拓扑</a:t>
            </a:r>
          </a:p>
        </p:txBody>
      </p:sp>
      <p:sp>
        <p:nvSpPr>
          <p:cNvPr id="202755" name="Rectangle 3"/>
          <p:cNvSpPr/>
          <p:nvPr/>
        </p:nvSpPr>
        <p:spPr>
          <a:xfrm>
            <a:off x="3910013" y="1358900"/>
            <a:ext cx="5184775" cy="4822825"/>
          </a:xfrm>
          <a:prstGeom prst="rect">
            <a:avLst/>
          </a:prstGeom>
          <a:noFill/>
          <a:ln w="9525">
            <a:noFill/>
          </a:ln>
        </p:spPr>
        <p:txBody>
          <a:bodyPr anchor="t" anchorCtr="0"/>
          <a:lstStyle/>
          <a:p>
            <a:pPr marL="457200" indent="-457200">
              <a:spcBef>
                <a:spcPct val="20000"/>
              </a:spcBef>
            </a:pPr>
            <a:r>
              <a:rPr lang="zh-CN" altLang="en-US" b="1" dirty="0">
                <a:solidFill>
                  <a:schemeClr val="bg2"/>
                </a:solidFill>
                <a:latin typeface="Times New Roman" panose="02020603050405020304" pitchFamily="18" charset="0"/>
                <a:ea typeface="黑体" panose="02010609060101010101" pitchFamily="49" charset="-122"/>
              </a:rPr>
              <a:t>特征</a:t>
            </a:r>
            <a:endParaRPr lang="en-US" altLang="zh-CN" b="1" dirty="0">
              <a:solidFill>
                <a:schemeClr val="bg2"/>
              </a:solidFill>
              <a:latin typeface="Times New Roman" panose="02020603050405020304" pitchFamily="18" charset="0"/>
              <a:ea typeface="黑体" panose="02010609060101010101" pitchFamily="49" charset="-122"/>
            </a:endParaRPr>
          </a:p>
          <a:p>
            <a:pPr marL="457200" indent="-457200">
              <a:spcBef>
                <a:spcPct val="20000"/>
              </a:spcBef>
              <a:buFont typeface="Wingdings" panose="05000000000000000000" pitchFamily="2" charset="2"/>
              <a:buChar char="ü"/>
            </a:pPr>
            <a:r>
              <a:rPr lang="zh-CN" altLang="en-US" sz="2400" dirty="0">
                <a:solidFill>
                  <a:srgbClr val="000066"/>
                </a:solidFill>
                <a:latin typeface="Times New Roman" panose="02020603050405020304" pitchFamily="18" charset="0"/>
                <a:ea typeface="黑体" panose="02010609060101010101" pitchFamily="49" charset="-122"/>
              </a:rPr>
              <a:t>中央节点通过点到点链路连接各节点</a:t>
            </a:r>
            <a:endParaRPr lang="en-US" altLang="zh-CN" sz="2400" dirty="0">
              <a:solidFill>
                <a:schemeClr val="bg2"/>
              </a:solidFill>
              <a:latin typeface="Times New Roman" panose="02020603050405020304" pitchFamily="18" charset="0"/>
              <a:ea typeface="黑体" panose="02010609060101010101" pitchFamily="49" charset="-122"/>
            </a:endParaRPr>
          </a:p>
          <a:p>
            <a:pPr marL="457200" indent="-457200">
              <a:spcBef>
                <a:spcPct val="20000"/>
              </a:spcBef>
            </a:pPr>
            <a:r>
              <a:rPr lang="zh-CN" altLang="en-US" b="1" dirty="0">
                <a:solidFill>
                  <a:schemeClr val="bg2"/>
                </a:solidFill>
                <a:latin typeface="Times New Roman" panose="02020603050405020304" pitchFamily="18" charset="0"/>
                <a:ea typeface="黑体" panose="02010609060101010101" pitchFamily="49" charset="-122"/>
              </a:rPr>
              <a:t>优点</a:t>
            </a:r>
          </a:p>
          <a:p>
            <a:pPr marL="457200" indent="-457200">
              <a:spcBef>
                <a:spcPct val="20000"/>
              </a:spcBef>
              <a:buFont typeface="Wingdings" panose="05000000000000000000" pitchFamily="2" charset="2"/>
              <a:buChar char="ü"/>
            </a:pPr>
            <a:r>
              <a:rPr lang="zh-CN" altLang="en-US" sz="2400" dirty="0">
                <a:solidFill>
                  <a:srgbClr val="000066"/>
                </a:solidFill>
                <a:latin typeface="Times New Roman" panose="02020603050405020304" pitchFamily="18" charset="0"/>
                <a:ea typeface="黑体" panose="02010609060101010101" pitchFamily="49" charset="-122"/>
              </a:rPr>
              <a:t>建网灵活</a:t>
            </a:r>
            <a:endParaRPr lang="en-US" altLang="zh-CN" sz="2400" dirty="0">
              <a:solidFill>
                <a:srgbClr val="000066"/>
              </a:solidFill>
              <a:latin typeface="Times New Roman" panose="02020603050405020304" pitchFamily="18" charset="0"/>
              <a:ea typeface="黑体" panose="02010609060101010101" pitchFamily="49" charset="-122"/>
            </a:endParaRPr>
          </a:p>
          <a:p>
            <a:pPr marL="457200" indent="-457200">
              <a:spcBef>
                <a:spcPct val="20000"/>
              </a:spcBef>
              <a:buFont typeface="Wingdings" panose="05000000000000000000" pitchFamily="2" charset="2"/>
              <a:buChar char="ü"/>
            </a:pPr>
            <a:r>
              <a:rPr lang="zh-CN" altLang="en-US" sz="2400" dirty="0">
                <a:solidFill>
                  <a:srgbClr val="000066"/>
                </a:solidFill>
                <a:latin typeface="Times New Roman" panose="02020603050405020304" pitchFamily="18" charset="0"/>
                <a:ea typeface="黑体" panose="02010609060101010101" pitchFamily="49" charset="-122"/>
              </a:rPr>
              <a:t>便于集中式控制</a:t>
            </a:r>
            <a:endParaRPr lang="en-US" altLang="zh-CN" sz="2400" dirty="0">
              <a:solidFill>
                <a:srgbClr val="000066"/>
              </a:solidFill>
              <a:latin typeface="Times New Roman" panose="02020603050405020304" pitchFamily="18" charset="0"/>
              <a:ea typeface="黑体" panose="02010609060101010101" pitchFamily="49" charset="-122"/>
            </a:endParaRPr>
          </a:p>
          <a:p>
            <a:pPr marL="457200" indent="-457200">
              <a:spcBef>
                <a:spcPct val="20000"/>
              </a:spcBef>
              <a:buFont typeface="Wingdings" panose="05000000000000000000" pitchFamily="2" charset="2"/>
              <a:buChar char="ü"/>
            </a:pPr>
            <a:r>
              <a:rPr lang="zh-CN" altLang="en-US" sz="2400" dirty="0">
                <a:solidFill>
                  <a:srgbClr val="000066"/>
                </a:solidFill>
                <a:latin typeface="Times New Roman" panose="02020603050405020304" pitchFamily="18" charset="0"/>
                <a:ea typeface="黑体" panose="02010609060101010101" pitchFamily="49" charset="-122"/>
              </a:rPr>
              <a:t>除中央节点外其它节点故障不扩散</a:t>
            </a:r>
          </a:p>
          <a:p>
            <a:pPr marL="457200" indent="-457200">
              <a:spcBef>
                <a:spcPct val="20000"/>
              </a:spcBef>
            </a:pPr>
            <a:r>
              <a:rPr lang="zh-CN" altLang="en-US" b="1" dirty="0">
                <a:solidFill>
                  <a:schemeClr val="bg2"/>
                </a:solidFill>
                <a:latin typeface="Times New Roman" panose="02020603050405020304" pitchFamily="18" charset="0"/>
                <a:ea typeface="黑体" panose="02010609060101010101" pitchFamily="49" charset="-122"/>
              </a:rPr>
              <a:t>缺点</a:t>
            </a:r>
          </a:p>
          <a:p>
            <a:pPr marL="457200" indent="-457200">
              <a:spcBef>
                <a:spcPct val="20000"/>
              </a:spcBef>
              <a:buFont typeface="Wingdings" panose="05000000000000000000" pitchFamily="2" charset="2"/>
              <a:buChar char="ü"/>
            </a:pPr>
            <a:r>
              <a:rPr lang="zh-CN" altLang="en-US" sz="2400" dirty="0">
                <a:solidFill>
                  <a:srgbClr val="000066"/>
                </a:solidFill>
                <a:latin typeface="Times New Roman" panose="02020603050405020304" pitchFamily="18" charset="0"/>
                <a:ea typeface="黑体" panose="02010609060101010101" pitchFamily="49" charset="-122"/>
              </a:rPr>
              <a:t>线路长度长，布线难</a:t>
            </a:r>
          </a:p>
          <a:p>
            <a:pPr marL="457200" indent="-457200">
              <a:spcBef>
                <a:spcPct val="20000"/>
              </a:spcBef>
              <a:buFont typeface="Wingdings" panose="05000000000000000000" pitchFamily="2" charset="2"/>
              <a:buChar char="ü"/>
            </a:pPr>
            <a:r>
              <a:rPr lang="zh-CN" altLang="en-US" sz="2400" dirty="0">
                <a:solidFill>
                  <a:srgbClr val="000066"/>
                </a:solidFill>
                <a:latin typeface="Times New Roman" panose="02020603050405020304" pitchFamily="18" charset="0"/>
                <a:ea typeface="黑体" panose="02010609060101010101" pitchFamily="49" charset="-122"/>
              </a:rPr>
              <a:t>依赖于中央节点</a:t>
            </a:r>
          </a:p>
          <a:p>
            <a:pPr marL="457200" indent="-457200">
              <a:spcBef>
                <a:spcPct val="20000"/>
              </a:spcBef>
              <a:buFont typeface="Wingdings" panose="05000000000000000000" pitchFamily="2" charset="2"/>
              <a:buChar char="ü"/>
            </a:pPr>
            <a:endParaRPr lang="zh-CN" altLang="en-US" sz="2400" b="1" dirty="0">
              <a:solidFill>
                <a:srgbClr val="003399"/>
              </a:solidFill>
              <a:latin typeface="Times New Roman" panose="02020603050405020304" pitchFamily="18" charset="0"/>
              <a:ea typeface="黑体" panose="02010609060101010101" pitchFamily="49" charset="-122"/>
            </a:endParaRPr>
          </a:p>
          <a:p>
            <a:pPr marL="457200" indent="-457200" algn="just">
              <a:spcBef>
                <a:spcPct val="50000"/>
              </a:spcBef>
              <a:buClr>
                <a:schemeClr val="accent1"/>
              </a:buClr>
              <a:buSzPct val="90000"/>
              <a:buFont typeface="Monotype Sorts" pitchFamily="2" charset="2"/>
              <a:buNone/>
            </a:pPr>
            <a:endParaRPr lang="en-US" altLang="zh-CN" sz="2400" dirty="0">
              <a:solidFill>
                <a:schemeClr val="tx1"/>
              </a:solidFill>
              <a:latin typeface="Times New Roman" panose="02020603050405020304" pitchFamily="18" charset="0"/>
              <a:ea typeface="宋体" panose="02010600030101010101" pitchFamily="2" charset="-122"/>
            </a:endParaRPr>
          </a:p>
        </p:txBody>
      </p:sp>
      <p:graphicFrame>
        <p:nvGraphicFramePr>
          <p:cNvPr id="5122" name="Object 4"/>
          <p:cNvGraphicFramePr>
            <a:graphicFrameLocks noChangeAspect="1"/>
          </p:cNvGraphicFramePr>
          <p:nvPr/>
        </p:nvGraphicFramePr>
        <p:xfrm>
          <a:off x="323850" y="1844675"/>
          <a:ext cx="3586163" cy="3371850"/>
        </p:xfrm>
        <a:graphic>
          <a:graphicData uri="http://schemas.openxmlformats.org/presentationml/2006/ole">
            <mc:AlternateContent xmlns:mc="http://schemas.openxmlformats.org/markup-compatibility/2006">
              <mc:Choice xmlns:v="urn:schemas-microsoft-com:vml" Requires="v">
                <p:oleObj spid="_x0000_s11283" r:id="rId4" imgW="3584575" imgH="3375660" progId="Visio.Drawing.6">
                  <p:embed/>
                </p:oleObj>
              </mc:Choice>
              <mc:Fallback>
                <p:oleObj r:id="rId4" imgW="3584575" imgH="3375660" progId="Visio.Drawing.6">
                  <p:embed/>
                  <p:pic>
                    <p:nvPicPr>
                      <p:cNvPr id="0" name="图片 3083"/>
                      <p:cNvPicPr/>
                      <p:nvPr/>
                    </p:nvPicPr>
                    <p:blipFill>
                      <a:blip r:embed="rId5"/>
                      <a:stretch>
                        <a:fillRect/>
                      </a:stretch>
                    </p:blipFill>
                    <p:spPr>
                      <a:xfrm>
                        <a:off x="323850" y="1844675"/>
                        <a:ext cx="3586163" cy="337185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122"/>
                                        </p:tgtEl>
                                        <p:attrNameLst>
                                          <p:attrName>style.visibility</p:attrName>
                                        </p:attrNameLst>
                                      </p:cBhvr>
                                      <p:to>
                                        <p:strVal val="visible"/>
                                      </p:to>
                                    </p:set>
                                    <p:animEffect transition="in" filter="barn(inVertical)">
                                      <p:cBhvr>
                                        <p:cTn id="7" dur="500"/>
                                        <p:tgtEl>
                                          <p:spTgt spid="512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202755">
                                            <p:txEl>
                                              <p:pRg st="0" end="0"/>
                                            </p:txEl>
                                          </p:spTgt>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202755">
                                            <p:txEl>
                                              <p:pRg st="1" end="1"/>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202755">
                                            <p:txEl>
                                              <p:pRg st="2" end="2"/>
                                            </p:txEl>
                                          </p:spTgt>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202755">
                                            <p:txEl>
                                              <p:pRg st="3" end="3"/>
                                            </p:txEl>
                                          </p:spTgt>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202755">
                                            <p:txEl>
                                              <p:pRg st="4" end="4"/>
                                            </p:txEl>
                                          </p:spTgt>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202755">
                                            <p:txEl>
                                              <p:pRg st="5" end="5"/>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202755">
                                            <p:txEl>
                                              <p:pRg st="6" end="6"/>
                                            </p:txEl>
                                          </p:spTgt>
                                        </p:tgtEl>
                                        <p:attrNameLst>
                                          <p:attrName>style.visibility</p:attrName>
                                        </p:attrNameLst>
                                      </p:cBhvr>
                                      <p:to>
                                        <p:strVal val="visible"/>
                                      </p:to>
                                    </p:set>
                                  </p:childTnLst>
                                </p:cTn>
                              </p:par>
                              <p:par>
                                <p:cTn id="28" presetID="1" presetClass="entr" presetSubtype="0" fill="hold" nodeType="withEffect">
                                  <p:stCondLst>
                                    <p:cond delay="0"/>
                                  </p:stCondLst>
                                  <p:childTnLst>
                                    <p:set>
                                      <p:cBhvr>
                                        <p:cTn id="29" dur="1" fill="hold">
                                          <p:stCondLst>
                                            <p:cond delay="0"/>
                                          </p:stCondLst>
                                        </p:cTn>
                                        <p:tgtEl>
                                          <p:spTgt spid="202755">
                                            <p:txEl>
                                              <p:pRg st="7" end="7"/>
                                            </p:txEl>
                                          </p:spTgt>
                                        </p:tgtEl>
                                        <p:attrNameLst>
                                          <p:attrName>style.visibility</p:attrName>
                                        </p:attrNameLst>
                                      </p:cBhvr>
                                      <p:to>
                                        <p:strVal val="visible"/>
                                      </p:to>
                                    </p:set>
                                  </p:childTnLst>
                                </p:cTn>
                              </p:par>
                              <p:par>
                                <p:cTn id="30" presetID="1" presetClass="entr" presetSubtype="0" fill="hold" nodeType="withEffect">
                                  <p:stCondLst>
                                    <p:cond delay="0"/>
                                  </p:stCondLst>
                                  <p:childTnLst>
                                    <p:set>
                                      <p:cBhvr>
                                        <p:cTn id="31" dur="1" fill="hold">
                                          <p:stCondLst>
                                            <p:cond delay="0"/>
                                          </p:stCondLst>
                                        </p:cTn>
                                        <p:tgtEl>
                                          <p:spTgt spid="20275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p:cNvSpPr>
            <a:spLocks noGrp="1"/>
          </p:cNvSpPr>
          <p:nvPr>
            <p:ph type="title"/>
          </p:nvPr>
        </p:nvSpPr>
        <p:spPr>
          <a:xfrm>
            <a:off x="1447800" y="333375"/>
            <a:ext cx="7696200" cy="720725"/>
          </a:xfrm>
        </p:spPr>
        <p:txBody>
          <a:bodyPr vert="horz" wrap="square" lIns="92075" tIns="46038" rIns="92075" bIns="46038" anchor="ctr" anchorCtr="0"/>
          <a:lstStyle/>
          <a:p>
            <a:pPr algn="r" eaLnBrk="1" hangingPunct="1"/>
            <a:r>
              <a:rPr lang="zh-CN" altLang="en-US" sz="3200" dirty="0">
                <a:solidFill>
                  <a:schemeClr val="bg1"/>
                </a:solidFill>
              </a:rPr>
              <a:t>环形拓扑</a:t>
            </a:r>
          </a:p>
        </p:txBody>
      </p:sp>
      <p:graphicFrame>
        <p:nvGraphicFramePr>
          <p:cNvPr id="6146" name="Object 6"/>
          <p:cNvGraphicFramePr>
            <a:graphicFrameLocks noGrp="1" noChangeAspect="1"/>
          </p:cNvGraphicFramePr>
          <p:nvPr>
            <p:ph idx="1"/>
          </p:nvPr>
        </p:nvGraphicFramePr>
        <p:xfrm>
          <a:off x="539750" y="1916113"/>
          <a:ext cx="4092575" cy="3514725"/>
        </p:xfrm>
        <a:graphic>
          <a:graphicData uri="http://schemas.openxmlformats.org/presentationml/2006/ole">
            <mc:AlternateContent xmlns:mc="http://schemas.openxmlformats.org/markup-compatibility/2006">
              <mc:Choice xmlns:v="urn:schemas-microsoft-com:vml" Requires="v">
                <p:oleObj spid="_x0000_s12307" r:id="rId4" imgW="4331335" imgH="3869055" progId="Visio.Drawing.6">
                  <p:embed/>
                </p:oleObj>
              </mc:Choice>
              <mc:Fallback>
                <p:oleObj r:id="rId4" imgW="4331335" imgH="3869055" progId="Visio.Drawing.6">
                  <p:embed/>
                  <p:pic>
                    <p:nvPicPr>
                      <p:cNvPr id="0" name="图片 3082"/>
                      <p:cNvPicPr/>
                      <p:nvPr/>
                    </p:nvPicPr>
                    <p:blipFill>
                      <a:blip r:embed="rId5"/>
                      <a:stretch>
                        <a:fillRect/>
                      </a:stretch>
                    </p:blipFill>
                    <p:spPr>
                      <a:xfrm>
                        <a:off x="539750" y="1916113"/>
                        <a:ext cx="4092575" cy="3514725"/>
                      </a:xfrm>
                      <a:prstGeom prst="rect">
                        <a:avLst/>
                      </a:prstGeom>
                      <a:noFill/>
                      <a:ln w="38100">
                        <a:miter/>
                      </a:ln>
                    </p:spPr>
                  </p:pic>
                </p:oleObj>
              </mc:Fallback>
            </mc:AlternateContent>
          </a:graphicData>
        </a:graphic>
      </p:graphicFrame>
      <p:sp>
        <p:nvSpPr>
          <p:cNvPr id="493576" name="Rectangle 8"/>
          <p:cNvSpPr/>
          <p:nvPr/>
        </p:nvSpPr>
        <p:spPr>
          <a:xfrm>
            <a:off x="4787900" y="1892300"/>
            <a:ext cx="4176713" cy="3894138"/>
          </a:xfrm>
          <a:prstGeom prst="rect">
            <a:avLst/>
          </a:prstGeom>
          <a:noFill/>
          <a:ln w="9525">
            <a:noFill/>
          </a:ln>
        </p:spPr>
        <p:txBody>
          <a:bodyPr anchor="t" anchorCtr="0"/>
          <a:lstStyle/>
          <a:p>
            <a:pPr marL="457200" indent="-457200">
              <a:spcBef>
                <a:spcPct val="20000"/>
              </a:spcBef>
            </a:pPr>
            <a:r>
              <a:rPr lang="zh-CN" altLang="en-US" b="1" dirty="0">
                <a:solidFill>
                  <a:schemeClr val="bg2"/>
                </a:solidFill>
                <a:latin typeface="Times New Roman" panose="02020603050405020304" pitchFamily="18" charset="0"/>
                <a:ea typeface="黑体" panose="02010609060101010101" pitchFamily="49" charset="-122"/>
              </a:rPr>
              <a:t>特征</a:t>
            </a:r>
            <a:endParaRPr lang="en-US" altLang="zh-CN" b="1" dirty="0">
              <a:solidFill>
                <a:schemeClr val="bg2"/>
              </a:solidFill>
              <a:latin typeface="Times New Roman" panose="02020603050405020304" pitchFamily="18" charset="0"/>
              <a:ea typeface="黑体" panose="02010609060101010101" pitchFamily="49" charset="-122"/>
            </a:endParaRPr>
          </a:p>
          <a:p>
            <a:pPr marL="457200" indent="-457200">
              <a:spcBef>
                <a:spcPct val="20000"/>
              </a:spcBef>
              <a:buFont typeface="Wingdings" panose="05000000000000000000" pitchFamily="2" charset="2"/>
              <a:buChar char="ü"/>
            </a:pPr>
            <a:r>
              <a:rPr lang="zh-CN" altLang="en-US" sz="2400" dirty="0">
                <a:solidFill>
                  <a:srgbClr val="000066"/>
                </a:solidFill>
                <a:latin typeface="Times New Roman" panose="02020603050405020304" pitchFamily="18" charset="0"/>
                <a:ea typeface="黑体" panose="02010609060101010101" pitchFamily="49" charset="-122"/>
              </a:rPr>
              <a:t>首尾相连的总线形结构</a:t>
            </a:r>
            <a:endParaRPr lang="en-US" altLang="zh-CN" sz="2400" dirty="0">
              <a:solidFill>
                <a:srgbClr val="000066"/>
              </a:solidFill>
              <a:latin typeface="Times New Roman" panose="02020603050405020304" pitchFamily="18" charset="0"/>
              <a:ea typeface="黑体" panose="02010609060101010101" pitchFamily="49" charset="-122"/>
            </a:endParaRPr>
          </a:p>
          <a:p>
            <a:pPr marL="457200" indent="-457200">
              <a:spcBef>
                <a:spcPts val="1800"/>
              </a:spcBef>
            </a:pPr>
            <a:r>
              <a:rPr lang="zh-CN" altLang="en-US" b="1" dirty="0">
                <a:solidFill>
                  <a:schemeClr val="bg2"/>
                </a:solidFill>
                <a:latin typeface="Times New Roman" panose="02020603050405020304" pitchFamily="18" charset="0"/>
                <a:ea typeface="黑体" panose="02010609060101010101" pitchFamily="49" charset="-122"/>
              </a:rPr>
              <a:t>优点</a:t>
            </a:r>
          </a:p>
          <a:p>
            <a:pPr marL="457200" indent="-457200">
              <a:spcBef>
                <a:spcPct val="20000"/>
              </a:spcBef>
              <a:buFont typeface="Wingdings" panose="05000000000000000000" pitchFamily="2" charset="2"/>
              <a:buChar char="ü"/>
            </a:pPr>
            <a:r>
              <a:rPr lang="zh-CN" altLang="en-US" sz="2400" dirty="0">
                <a:solidFill>
                  <a:srgbClr val="000066"/>
                </a:solidFill>
                <a:latin typeface="Times New Roman" panose="02020603050405020304" pitchFamily="18" charset="0"/>
                <a:ea typeface="黑体" panose="02010609060101010101" pitchFamily="49" charset="-122"/>
              </a:rPr>
              <a:t>最适合采用光纤</a:t>
            </a:r>
          </a:p>
          <a:p>
            <a:pPr marL="457200" indent="-457200">
              <a:spcBef>
                <a:spcPts val="1800"/>
              </a:spcBef>
            </a:pPr>
            <a:r>
              <a:rPr lang="zh-CN" altLang="en-US" b="1" dirty="0">
                <a:solidFill>
                  <a:schemeClr val="tx1"/>
                </a:solidFill>
                <a:latin typeface="Times New Roman" panose="02020603050405020304" pitchFamily="18" charset="0"/>
                <a:ea typeface="黑体" panose="02010609060101010101" pitchFamily="49" charset="-122"/>
              </a:rPr>
              <a:t>缺点</a:t>
            </a:r>
          </a:p>
          <a:p>
            <a:pPr marL="457200" indent="-457200">
              <a:spcBef>
                <a:spcPct val="20000"/>
              </a:spcBef>
              <a:buFont typeface="Wingdings" panose="05000000000000000000" pitchFamily="2" charset="2"/>
              <a:buChar char="ü"/>
            </a:pPr>
            <a:r>
              <a:rPr lang="zh-CN" altLang="en-US" sz="2400" dirty="0">
                <a:solidFill>
                  <a:srgbClr val="000066"/>
                </a:solidFill>
                <a:latin typeface="Times New Roman" panose="02020603050405020304" pitchFamily="18" charset="0"/>
                <a:ea typeface="黑体" panose="02010609060101010101" pitchFamily="49" charset="-122"/>
              </a:rPr>
              <a:t>对环路可靠性的依赖性强</a:t>
            </a:r>
          </a:p>
          <a:p>
            <a:pPr marL="457200" indent="-457200">
              <a:spcBef>
                <a:spcPct val="20000"/>
              </a:spcBef>
              <a:buFont typeface="Wingdings" panose="05000000000000000000" pitchFamily="2" charset="2"/>
              <a:buChar char="ü"/>
            </a:pPr>
            <a:endParaRPr lang="zh-CN" altLang="en-US" b="1" dirty="0">
              <a:solidFill>
                <a:srgbClr val="003399"/>
              </a:solidFill>
              <a:latin typeface="Times New Roman" panose="02020603050405020304" pitchFamily="18" charset="0"/>
              <a:ea typeface="黑体" panose="02010609060101010101" pitchFamily="49" charset="-122"/>
            </a:endParaRPr>
          </a:p>
          <a:p>
            <a:pPr marL="457200" indent="-457200" algn="just">
              <a:spcBef>
                <a:spcPct val="50000"/>
              </a:spcBef>
              <a:buClr>
                <a:schemeClr val="accent1"/>
              </a:buClr>
              <a:buSzPct val="90000"/>
              <a:buFont typeface="Monotype Sorts" pitchFamily="2" charset="2"/>
              <a:buNone/>
            </a:pPr>
            <a:endParaRPr lang="en-US" altLang="zh-CN" dirty="0">
              <a:solidFill>
                <a:schemeClr val="tx1"/>
              </a:solidFill>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6146"/>
                                        </p:tgtEl>
                                        <p:attrNameLst>
                                          <p:attrName>style.visibility</p:attrName>
                                        </p:attrNameLst>
                                      </p:cBhvr>
                                      <p:to>
                                        <p:strVal val="visible"/>
                                      </p:to>
                                    </p:set>
                                    <p:animEffect transition="in" filter="barn(inVertical)">
                                      <p:cBhvr>
                                        <p:cTn id="7" dur="500"/>
                                        <p:tgtEl>
                                          <p:spTgt spid="614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493576">
                                            <p:txEl>
                                              <p:pRg st="0" end="0"/>
                                            </p:txEl>
                                          </p:spTgt>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493576">
                                            <p:txEl>
                                              <p:pRg st="1" end="1"/>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493576">
                                            <p:txEl>
                                              <p:pRg st="2" end="2"/>
                                            </p:txEl>
                                          </p:spTgt>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493576">
                                            <p:txEl>
                                              <p:pRg st="3" end="3"/>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493576">
                                            <p:txEl>
                                              <p:pRg st="4" end="4"/>
                                            </p:txEl>
                                          </p:spTgt>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49357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p:cNvSpPr>
            <a:spLocks noGrp="1"/>
          </p:cNvSpPr>
          <p:nvPr>
            <p:ph type="title"/>
          </p:nvPr>
        </p:nvSpPr>
        <p:spPr>
          <a:xfrm>
            <a:off x="1447800" y="188913"/>
            <a:ext cx="7696200" cy="720725"/>
          </a:xfrm>
        </p:spPr>
        <p:txBody>
          <a:bodyPr vert="horz" wrap="square" lIns="92075" tIns="46038" rIns="92075" bIns="46038" anchor="ctr" anchorCtr="0"/>
          <a:lstStyle/>
          <a:p>
            <a:pPr algn="r" eaLnBrk="1" hangingPunct="1"/>
            <a:r>
              <a:rPr lang="zh-CN" altLang="en-US" sz="3200" dirty="0">
                <a:solidFill>
                  <a:schemeClr val="bg1"/>
                </a:solidFill>
              </a:rPr>
              <a:t>树形拓扑</a:t>
            </a:r>
          </a:p>
        </p:txBody>
      </p:sp>
      <p:graphicFrame>
        <p:nvGraphicFramePr>
          <p:cNvPr id="7170" name="Object 4"/>
          <p:cNvGraphicFramePr>
            <a:graphicFrameLocks noChangeAspect="1"/>
          </p:cNvGraphicFramePr>
          <p:nvPr/>
        </p:nvGraphicFramePr>
        <p:xfrm>
          <a:off x="468313" y="1989138"/>
          <a:ext cx="4303712" cy="3011487"/>
        </p:xfrm>
        <a:graphic>
          <a:graphicData uri="http://schemas.openxmlformats.org/presentationml/2006/ole">
            <mc:AlternateContent xmlns:mc="http://schemas.openxmlformats.org/markup-compatibility/2006">
              <mc:Choice xmlns:v="urn:schemas-microsoft-com:vml" Requires="v">
                <p:oleObj spid="_x0000_s13331" r:id="rId4" imgW="4815840" imgH="3375660" progId="Visio.Drawing.6">
                  <p:embed/>
                </p:oleObj>
              </mc:Choice>
              <mc:Fallback>
                <p:oleObj r:id="rId4" imgW="4815840" imgH="3375660" progId="Visio.Drawing.6">
                  <p:embed/>
                  <p:pic>
                    <p:nvPicPr>
                      <p:cNvPr id="0" name="图片 3084"/>
                      <p:cNvPicPr/>
                      <p:nvPr/>
                    </p:nvPicPr>
                    <p:blipFill>
                      <a:blip r:embed="rId5"/>
                      <a:stretch>
                        <a:fillRect/>
                      </a:stretch>
                    </p:blipFill>
                    <p:spPr>
                      <a:xfrm>
                        <a:off x="468313" y="1989138"/>
                        <a:ext cx="4303712" cy="3011487"/>
                      </a:xfrm>
                      <a:prstGeom prst="rect">
                        <a:avLst/>
                      </a:prstGeom>
                      <a:noFill/>
                      <a:ln w="38100">
                        <a:noFill/>
                        <a:miter/>
                      </a:ln>
                    </p:spPr>
                  </p:pic>
                </p:oleObj>
              </mc:Fallback>
            </mc:AlternateContent>
          </a:graphicData>
        </a:graphic>
      </p:graphicFrame>
      <p:sp>
        <p:nvSpPr>
          <p:cNvPr id="204806" name="Rectangle 6"/>
          <p:cNvSpPr/>
          <p:nvPr/>
        </p:nvSpPr>
        <p:spPr>
          <a:xfrm>
            <a:off x="5003800" y="1547813"/>
            <a:ext cx="3638550" cy="3894137"/>
          </a:xfrm>
          <a:prstGeom prst="rect">
            <a:avLst/>
          </a:prstGeom>
          <a:noFill/>
          <a:ln w="9525">
            <a:noFill/>
          </a:ln>
        </p:spPr>
        <p:txBody>
          <a:bodyPr anchor="t" anchorCtr="0"/>
          <a:lstStyle/>
          <a:p>
            <a:pPr marL="457200" indent="-457200">
              <a:spcBef>
                <a:spcPct val="20000"/>
              </a:spcBef>
            </a:pPr>
            <a:r>
              <a:rPr lang="zh-CN" altLang="en-US" b="1" dirty="0">
                <a:solidFill>
                  <a:schemeClr val="bg2"/>
                </a:solidFill>
                <a:latin typeface="Times New Roman" panose="02020603050405020304" pitchFamily="18" charset="0"/>
                <a:ea typeface="黑体" panose="02010609060101010101" pitchFamily="49" charset="-122"/>
              </a:rPr>
              <a:t>特征</a:t>
            </a:r>
            <a:endParaRPr lang="en-US" altLang="zh-CN" b="1" dirty="0">
              <a:solidFill>
                <a:schemeClr val="bg2"/>
              </a:solidFill>
              <a:latin typeface="Times New Roman" panose="02020603050405020304" pitchFamily="18" charset="0"/>
              <a:ea typeface="黑体" panose="02010609060101010101" pitchFamily="49" charset="-122"/>
            </a:endParaRPr>
          </a:p>
          <a:p>
            <a:pPr marL="457200" indent="-457200">
              <a:spcBef>
                <a:spcPct val="20000"/>
              </a:spcBef>
              <a:buFont typeface="Wingdings" panose="05000000000000000000" pitchFamily="2" charset="2"/>
              <a:buChar char="ü"/>
            </a:pPr>
            <a:r>
              <a:rPr lang="zh-CN" altLang="en-US" sz="2400" dirty="0">
                <a:solidFill>
                  <a:srgbClr val="000066"/>
                </a:solidFill>
                <a:latin typeface="Times New Roman" panose="02020603050405020304" pitchFamily="18" charset="0"/>
                <a:ea typeface="黑体" panose="02010609060101010101" pitchFamily="49" charset="-122"/>
              </a:rPr>
              <a:t>由根和叶节点组成</a:t>
            </a:r>
            <a:endParaRPr lang="zh-CN" altLang="en-US" sz="2400" dirty="0">
              <a:solidFill>
                <a:schemeClr val="bg2"/>
              </a:solidFill>
              <a:latin typeface="Times New Roman" panose="02020603050405020304" pitchFamily="18" charset="0"/>
              <a:ea typeface="黑体" panose="02010609060101010101" pitchFamily="49" charset="-122"/>
            </a:endParaRPr>
          </a:p>
          <a:p>
            <a:pPr marL="457200" indent="-457200">
              <a:spcBef>
                <a:spcPts val="1800"/>
              </a:spcBef>
            </a:pPr>
            <a:r>
              <a:rPr lang="zh-CN" altLang="en-US" b="1" dirty="0">
                <a:solidFill>
                  <a:schemeClr val="bg2"/>
                </a:solidFill>
                <a:latin typeface="Times New Roman" panose="02020603050405020304" pitchFamily="18" charset="0"/>
                <a:ea typeface="黑体" panose="02010609060101010101" pitchFamily="49" charset="-122"/>
              </a:rPr>
              <a:t>优点</a:t>
            </a:r>
          </a:p>
          <a:p>
            <a:pPr marL="457200" indent="-457200">
              <a:spcBef>
                <a:spcPct val="20000"/>
              </a:spcBef>
              <a:buFont typeface="Wingdings" panose="05000000000000000000" pitchFamily="2" charset="2"/>
              <a:buChar char="ü"/>
            </a:pPr>
            <a:r>
              <a:rPr lang="zh-CN" altLang="en-US" sz="2400" dirty="0">
                <a:solidFill>
                  <a:srgbClr val="000066"/>
                </a:solidFill>
                <a:latin typeface="Times New Roman" panose="02020603050405020304" pitchFamily="18" charset="0"/>
                <a:ea typeface="黑体" panose="02010609060101010101" pitchFamily="49" charset="-122"/>
              </a:rPr>
              <a:t>属于分层网络，具有一定容错能力</a:t>
            </a:r>
          </a:p>
          <a:p>
            <a:pPr marL="457200" indent="-457200">
              <a:spcBef>
                <a:spcPts val="1800"/>
              </a:spcBef>
            </a:pPr>
            <a:r>
              <a:rPr lang="zh-CN" altLang="en-US" b="1" dirty="0">
                <a:solidFill>
                  <a:schemeClr val="tx1"/>
                </a:solidFill>
                <a:latin typeface="Times New Roman" panose="02020603050405020304" pitchFamily="18" charset="0"/>
                <a:ea typeface="黑体" panose="02010609060101010101" pitchFamily="49" charset="-122"/>
              </a:rPr>
              <a:t>缺点</a:t>
            </a:r>
          </a:p>
          <a:p>
            <a:pPr marL="457200" indent="-457200">
              <a:spcBef>
                <a:spcPct val="20000"/>
              </a:spcBef>
              <a:buFont typeface="Wingdings" panose="05000000000000000000" pitchFamily="2" charset="2"/>
              <a:buChar char="ü"/>
            </a:pPr>
            <a:r>
              <a:rPr lang="zh-CN" altLang="en-US" sz="2400" dirty="0">
                <a:solidFill>
                  <a:srgbClr val="000066"/>
                </a:solidFill>
                <a:latin typeface="Times New Roman" panose="02020603050405020304" pitchFamily="18" charset="0"/>
                <a:ea typeface="黑体" panose="02010609060101010101" pitchFamily="49" charset="-122"/>
              </a:rPr>
              <a:t>属于集中式控制，对上层节点依赖性强</a:t>
            </a:r>
          </a:p>
          <a:p>
            <a:pPr marL="457200" indent="-457200">
              <a:spcBef>
                <a:spcPct val="20000"/>
              </a:spcBef>
              <a:buFont typeface="Wingdings" panose="05000000000000000000" pitchFamily="2" charset="2"/>
              <a:buChar char="ü"/>
            </a:pPr>
            <a:endParaRPr lang="zh-CN" altLang="en-US" b="1" dirty="0">
              <a:solidFill>
                <a:srgbClr val="003399"/>
              </a:solidFill>
              <a:latin typeface="Times New Roman" panose="02020603050405020304" pitchFamily="18" charset="0"/>
              <a:ea typeface="黑体" panose="02010609060101010101" pitchFamily="49" charset="-122"/>
            </a:endParaRPr>
          </a:p>
          <a:p>
            <a:pPr marL="457200" indent="-457200" algn="just">
              <a:spcBef>
                <a:spcPct val="50000"/>
              </a:spcBef>
              <a:buClr>
                <a:schemeClr val="accent1"/>
              </a:buClr>
              <a:buSzPct val="90000"/>
              <a:buFont typeface="Monotype Sorts" pitchFamily="2" charset="2"/>
              <a:buNone/>
            </a:pPr>
            <a:endParaRPr lang="en-US" altLang="zh-CN" dirty="0">
              <a:solidFill>
                <a:schemeClr val="tx1"/>
              </a:solidFill>
              <a:latin typeface="Times New Roman" panose="02020603050405020304" pitchFamily="18"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7170"/>
                                        </p:tgtEl>
                                        <p:attrNameLst>
                                          <p:attrName>style.visibility</p:attrName>
                                        </p:attrNameLst>
                                      </p:cBhvr>
                                      <p:to>
                                        <p:strVal val="visible"/>
                                      </p:to>
                                    </p:set>
                                    <p:animEffect transition="in" filter="barn(inVertical)">
                                      <p:cBhvr>
                                        <p:cTn id="7" dur="500"/>
                                        <p:tgtEl>
                                          <p:spTgt spid="7170"/>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204806">
                                            <p:txEl>
                                              <p:pRg st="0" end="0"/>
                                            </p:txEl>
                                          </p:spTgt>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204806">
                                            <p:txEl>
                                              <p:pRg st="1" end="1"/>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204806">
                                            <p:txEl>
                                              <p:pRg st="2" end="2"/>
                                            </p:txEl>
                                          </p:spTgt>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204806">
                                            <p:txEl>
                                              <p:pRg st="3" end="3"/>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204806">
                                            <p:txEl>
                                              <p:pRg st="4" end="4"/>
                                            </p:txEl>
                                          </p:spTgt>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20480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p:cNvSpPr>
            <a:spLocks noGrp="1"/>
          </p:cNvSpPr>
          <p:nvPr>
            <p:ph type="title"/>
          </p:nvPr>
        </p:nvSpPr>
        <p:spPr>
          <a:xfrm>
            <a:off x="1447800" y="260350"/>
            <a:ext cx="7696200" cy="720725"/>
          </a:xfrm>
        </p:spPr>
        <p:txBody>
          <a:bodyPr vert="horz" wrap="square" lIns="92075" tIns="46038" rIns="92075" bIns="46038" anchor="ctr" anchorCtr="0"/>
          <a:lstStyle/>
          <a:p>
            <a:pPr algn="r" eaLnBrk="1" hangingPunct="1"/>
            <a:r>
              <a:rPr lang="zh-CN" altLang="en-US" sz="3200" dirty="0">
                <a:solidFill>
                  <a:schemeClr val="bg1"/>
                </a:solidFill>
              </a:rPr>
              <a:t>网状形拓扑</a:t>
            </a:r>
          </a:p>
        </p:txBody>
      </p:sp>
      <p:pic>
        <p:nvPicPr>
          <p:cNvPr id="19459" name="Picture 4" descr="Hybrid Mesh"/>
          <p:cNvPicPr>
            <a:picLocks noGrp="1" noChangeAspect="1"/>
          </p:cNvPicPr>
          <p:nvPr>
            <p:ph idx="1"/>
          </p:nvPr>
        </p:nvPicPr>
        <p:blipFill>
          <a:blip r:embed="rId3"/>
          <a:stretch>
            <a:fillRect/>
          </a:stretch>
        </p:blipFill>
        <p:spPr>
          <a:xfrm>
            <a:off x="539750" y="1916113"/>
            <a:ext cx="4445000" cy="3544887"/>
          </a:xfrm>
        </p:spPr>
      </p:pic>
      <p:sp>
        <p:nvSpPr>
          <p:cNvPr id="495623" name="Rectangle 7"/>
          <p:cNvSpPr/>
          <p:nvPr/>
        </p:nvSpPr>
        <p:spPr>
          <a:xfrm>
            <a:off x="5148263" y="1741488"/>
            <a:ext cx="3638550" cy="3894137"/>
          </a:xfrm>
          <a:prstGeom prst="rect">
            <a:avLst/>
          </a:prstGeom>
          <a:noFill/>
          <a:ln w="9525">
            <a:noFill/>
          </a:ln>
        </p:spPr>
        <p:txBody>
          <a:bodyPr anchor="t" anchorCtr="0"/>
          <a:lstStyle/>
          <a:p>
            <a:pPr marL="457200" indent="-457200">
              <a:spcBef>
                <a:spcPct val="20000"/>
              </a:spcBef>
            </a:pPr>
            <a:r>
              <a:rPr lang="zh-CN" altLang="en-US" dirty="0">
                <a:solidFill>
                  <a:schemeClr val="bg2"/>
                </a:solidFill>
                <a:latin typeface="Times New Roman" panose="02020603050405020304" pitchFamily="18" charset="0"/>
                <a:ea typeface="黑体" panose="02010609060101010101" pitchFamily="49" charset="-122"/>
              </a:rPr>
              <a:t>特征</a:t>
            </a:r>
            <a:endParaRPr lang="en-US" altLang="zh-CN" dirty="0">
              <a:solidFill>
                <a:schemeClr val="bg2"/>
              </a:solidFill>
              <a:latin typeface="Times New Roman" panose="02020603050405020304" pitchFamily="18" charset="0"/>
              <a:ea typeface="黑体" panose="02010609060101010101" pitchFamily="49" charset="-122"/>
            </a:endParaRPr>
          </a:p>
          <a:p>
            <a:pPr marL="457200" indent="-457200">
              <a:spcBef>
                <a:spcPct val="20000"/>
              </a:spcBef>
              <a:buFont typeface="Wingdings" panose="05000000000000000000" pitchFamily="2" charset="2"/>
              <a:buChar char="ü"/>
            </a:pPr>
            <a:r>
              <a:rPr lang="zh-CN" altLang="en-US" sz="2400" dirty="0">
                <a:solidFill>
                  <a:srgbClr val="000066"/>
                </a:solidFill>
                <a:latin typeface="Garamond" panose="02020404030301010803" pitchFamily="18" charset="0"/>
                <a:ea typeface="黑体" panose="02010609060101010101" pitchFamily="49" charset="-122"/>
              </a:rPr>
              <a:t>没有明晰特征的结构</a:t>
            </a:r>
            <a:endParaRPr lang="en-US" altLang="zh-CN" sz="2400" dirty="0">
              <a:solidFill>
                <a:schemeClr val="bg2"/>
              </a:solidFill>
              <a:latin typeface="Times New Roman" panose="02020603050405020304" pitchFamily="18" charset="0"/>
              <a:ea typeface="黑体" panose="02010609060101010101" pitchFamily="49" charset="-122"/>
            </a:endParaRPr>
          </a:p>
          <a:p>
            <a:pPr marL="457200" indent="-457200">
              <a:spcBef>
                <a:spcPts val="1800"/>
              </a:spcBef>
            </a:pPr>
            <a:r>
              <a:rPr lang="zh-CN" altLang="en-US" dirty="0">
                <a:solidFill>
                  <a:schemeClr val="bg2"/>
                </a:solidFill>
                <a:latin typeface="Times New Roman" panose="02020603050405020304" pitchFamily="18" charset="0"/>
                <a:ea typeface="黑体" panose="02010609060101010101" pitchFamily="49" charset="-122"/>
              </a:rPr>
              <a:t>优点</a:t>
            </a:r>
          </a:p>
          <a:p>
            <a:pPr marL="457200" indent="-457200">
              <a:spcBef>
                <a:spcPct val="20000"/>
              </a:spcBef>
              <a:buFont typeface="Wingdings" panose="05000000000000000000" pitchFamily="2" charset="2"/>
              <a:buChar char="ü"/>
            </a:pPr>
            <a:r>
              <a:rPr lang="zh-CN" altLang="en-US" sz="2400" dirty="0">
                <a:solidFill>
                  <a:srgbClr val="000066"/>
                </a:solidFill>
                <a:latin typeface="Garamond" panose="02020404030301010803" pitchFamily="18" charset="0"/>
                <a:ea typeface="黑体" panose="02010609060101010101" pitchFamily="49" charset="-122"/>
              </a:rPr>
              <a:t>可靠性高</a:t>
            </a:r>
          </a:p>
          <a:p>
            <a:pPr marL="457200" indent="-457200">
              <a:spcBef>
                <a:spcPts val="1800"/>
              </a:spcBef>
            </a:pPr>
            <a:r>
              <a:rPr lang="zh-CN" altLang="en-US" dirty="0">
                <a:solidFill>
                  <a:schemeClr val="tx1"/>
                </a:solidFill>
                <a:latin typeface="Times New Roman" panose="02020603050405020304" pitchFamily="18" charset="0"/>
                <a:ea typeface="黑体" panose="02010609060101010101" pitchFamily="49" charset="-122"/>
              </a:rPr>
              <a:t>缺点</a:t>
            </a:r>
          </a:p>
          <a:p>
            <a:pPr marL="457200" indent="-457200">
              <a:spcBef>
                <a:spcPct val="20000"/>
              </a:spcBef>
              <a:buFont typeface="Wingdings" panose="05000000000000000000" pitchFamily="2" charset="2"/>
              <a:buChar char="ü"/>
            </a:pPr>
            <a:r>
              <a:rPr lang="zh-CN" altLang="en-US" sz="2400" dirty="0">
                <a:solidFill>
                  <a:srgbClr val="000066"/>
                </a:solidFill>
                <a:latin typeface="Garamond" panose="02020404030301010803" pitchFamily="18" charset="0"/>
                <a:ea typeface="黑体" panose="02010609060101010101" pitchFamily="49" charset="-122"/>
              </a:rPr>
              <a:t>通信线路冗余大</a:t>
            </a:r>
          </a:p>
          <a:p>
            <a:pPr marL="457200" indent="-457200">
              <a:spcBef>
                <a:spcPct val="20000"/>
              </a:spcBef>
              <a:buFont typeface="Wingdings" panose="05000000000000000000" pitchFamily="2" charset="2"/>
              <a:buChar char="ü"/>
            </a:pPr>
            <a:r>
              <a:rPr lang="zh-CN" altLang="en-US" sz="2400" dirty="0">
                <a:solidFill>
                  <a:srgbClr val="000066"/>
                </a:solidFill>
                <a:latin typeface="Garamond" panose="02020404030301010803" pitchFamily="18" charset="0"/>
                <a:ea typeface="黑体" panose="02010609060101010101" pitchFamily="49" charset="-122"/>
              </a:rPr>
              <a:t>传输效率低</a:t>
            </a:r>
          </a:p>
          <a:p>
            <a:pPr marL="457200" indent="-457200">
              <a:spcBef>
                <a:spcPct val="20000"/>
              </a:spcBef>
              <a:buFont typeface="Wingdings" panose="05000000000000000000" pitchFamily="2" charset="2"/>
              <a:buChar char="ü"/>
            </a:pPr>
            <a:endParaRPr lang="zh-CN" altLang="en-US" b="1" dirty="0">
              <a:solidFill>
                <a:srgbClr val="003399"/>
              </a:solidFill>
              <a:latin typeface="Times New Roman" panose="02020603050405020304" pitchFamily="18" charset="0"/>
              <a:ea typeface="黑体" panose="02010609060101010101" pitchFamily="49" charset="-122"/>
            </a:endParaRPr>
          </a:p>
          <a:p>
            <a:pPr marL="457200" indent="-457200" algn="just">
              <a:spcBef>
                <a:spcPct val="50000"/>
              </a:spcBef>
              <a:buClr>
                <a:schemeClr val="accent1"/>
              </a:buClr>
              <a:buSzPct val="90000"/>
              <a:buFont typeface="Monotype Sorts" pitchFamily="2" charset="2"/>
              <a:buNone/>
            </a:pPr>
            <a:endParaRPr lang="en-US" altLang="zh-CN" dirty="0">
              <a:solidFill>
                <a:schemeClr val="tx1"/>
              </a:solidFill>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9459"/>
                                        </p:tgtEl>
                                        <p:attrNameLst>
                                          <p:attrName>style.visibility</p:attrName>
                                        </p:attrNameLst>
                                      </p:cBhvr>
                                      <p:to>
                                        <p:strVal val="visible"/>
                                      </p:to>
                                    </p:set>
                                    <p:animEffect transition="in" filter="barn(inVertical)">
                                      <p:cBhvr>
                                        <p:cTn id="7" dur="500"/>
                                        <p:tgtEl>
                                          <p:spTgt spid="19459"/>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495623">
                                            <p:txEl>
                                              <p:pRg st="0" end="0"/>
                                            </p:txEl>
                                          </p:spTgt>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495623">
                                            <p:txEl>
                                              <p:pRg st="1" end="1"/>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495623">
                                            <p:txEl>
                                              <p:pRg st="2" end="2"/>
                                            </p:txEl>
                                          </p:spTgt>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495623">
                                            <p:txEl>
                                              <p:pRg st="3" end="3"/>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495623">
                                            <p:txEl>
                                              <p:pRg st="4" end="4"/>
                                            </p:txEl>
                                          </p:spTgt>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495623">
                                            <p:txEl>
                                              <p:pRg st="5" end="5"/>
                                            </p:txEl>
                                          </p:spTgt>
                                        </p:tgtEl>
                                        <p:attrNameLst>
                                          <p:attrName>style.visibility</p:attrName>
                                        </p:attrNameLst>
                                      </p:cBhvr>
                                      <p:to>
                                        <p:strVal val="visible"/>
                                      </p:to>
                                    </p:set>
                                  </p:childTnLst>
                                </p:cTn>
                              </p:par>
                              <p:par>
                                <p:cTn id="26" presetID="1" presetClass="entr" presetSubtype="0" fill="hold" nodeType="withEffect">
                                  <p:stCondLst>
                                    <p:cond delay="0"/>
                                  </p:stCondLst>
                                  <p:childTnLst>
                                    <p:set>
                                      <p:cBhvr>
                                        <p:cTn id="27" dur="1" fill="hold">
                                          <p:stCondLst>
                                            <p:cond delay="0"/>
                                          </p:stCondLst>
                                        </p:cTn>
                                        <p:tgtEl>
                                          <p:spTgt spid="49562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p:cNvSpPr>
            <a:spLocks noGrp="1"/>
          </p:cNvSpPr>
          <p:nvPr>
            <p:ph type="title"/>
          </p:nvPr>
        </p:nvSpPr>
        <p:spPr>
          <a:xfrm>
            <a:off x="1447800" y="188913"/>
            <a:ext cx="7696200" cy="720725"/>
          </a:xfrm>
        </p:spPr>
        <p:txBody>
          <a:bodyPr vert="horz" wrap="square" lIns="92075" tIns="46038" rIns="92075" bIns="46038" anchor="ctr" anchorCtr="0"/>
          <a:lstStyle/>
          <a:p>
            <a:pPr algn="r" eaLnBrk="1" hangingPunct="1"/>
            <a:r>
              <a:rPr lang="zh-CN" altLang="en-US" sz="3200" dirty="0">
                <a:solidFill>
                  <a:schemeClr val="bg1"/>
                </a:solidFill>
              </a:rPr>
              <a:t>网络拓扑结构的选择因素</a:t>
            </a:r>
          </a:p>
        </p:txBody>
      </p:sp>
      <p:sp>
        <p:nvSpPr>
          <p:cNvPr id="524302" name="AutoShape 14"/>
          <p:cNvSpPr>
            <a:spLocks noChangeArrowheads="1"/>
          </p:cNvSpPr>
          <p:nvPr/>
        </p:nvSpPr>
        <p:spPr bwMode="ltGray">
          <a:xfrm>
            <a:off x="762000" y="1600200"/>
            <a:ext cx="5499100" cy="4495800"/>
          </a:xfrm>
          <a:prstGeom prst="rightArrow">
            <a:avLst>
              <a:gd name="adj1" fmla="val 79306"/>
              <a:gd name="adj2" fmla="val 30296"/>
            </a:avLst>
          </a:prstGeom>
          <a:gradFill rotWithShape="1">
            <a:gsLst>
              <a:gs pos="0">
                <a:schemeClr val="accent1">
                  <a:gamma/>
                  <a:tint val="0"/>
                  <a:invGamma/>
                  <a:alpha val="24001"/>
                </a:schemeClr>
              </a:gs>
              <a:gs pos="100000">
                <a:schemeClr val="accent1"/>
              </a:gs>
            </a:gsLst>
            <a:lin ang="0" scaled="1"/>
          </a:gradFill>
          <a:ln w="9525">
            <a:no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24303" name="AutoShape 15"/>
          <p:cNvSpPr>
            <a:spLocks noChangeArrowheads="1"/>
          </p:cNvSpPr>
          <p:nvPr/>
        </p:nvSpPr>
        <p:spPr bwMode="blackWhite">
          <a:xfrm>
            <a:off x="914400" y="2209800"/>
            <a:ext cx="4038600" cy="990600"/>
          </a:xfrm>
          <a:prstGeom prst="roundRect">
            <a:avLst>
              <a:gd name="adj" fmla="val 9106"/>
            </a:avLst>
          </a:prstGeom>
          <a:gradFill rotWithShape="1">
            <a:gsLst>
              <a:gs pos="0">
                <a:schemeClr val="accent2"/>
              </a:gs>
              <a:gs pos="100000">
                <a:schemeClr val="accent2">
                  <a:gamma/>
                  <a:tint val="69804"/>
                  <a:invGamma/>
                </a:schemeClr>
              </a:gs>
            </a:gsLst>
            <a:lin ang="5400000" scaled="1"/>
          </a:gradFill>
          <a:ln w="25400">
            <a:solidFill>
              <a:schemeClr val="bg1"/>
            </a:solidFill>
            <a:round/>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400" b="1" i="0" u="none" strike="noStrike" kern="1200" cap="none" spc="0" normalizeH="0" baseline="0" noProof="0">
                <a:ln>
                  <a:noFill/>
                </a:ln>
                <a:solidFill>
                  <a:schemeClr val="tx1"/>
                </a:solidFill>
                <a:effectLst/>
                <a:uLnTx/>
                <a:uFillTx/>
                <a:latin typeface="Arial" panose="020B0604020202020204" pitchFamily="34" charset="0"/>
                <a:ea typeface="华文宋体" panose="02010600040101010101" pitchFamily="2" charset="-122"/>
                <a:cs typeface="+mn-cs"/>
              </a:rPr>
              <a:t>传输介质</a:t>
            </a:r>
          </a:p>
        </p:txBody>
      </p:sp>
      <p:sp>
        <p:nvSpPr>
          <p:cNvPr id="35844" name="AutoShape 16"/>
          <p:cNvSpPr/>
          <p:nvPr/>
        </p:nvSpPr>
        <p:spPr>
          <a:xfrm>
            <a:off x="914400" y="3352800"/>
            <a:ext cx="4038600" cy="990600"/>
          </a:xfrm>
          <a:prstGeom prst="roundRect">
            <a:avLst>
              <a:gd name="adj" fmla="val 9106"/>
            </a:avLst>
          </a:prstGeom>
          <a:gradFill rotWithShape="1">
            <a:gsLst>
              <a:gs pos="0">
                <a:srgbClr val="699D5F"/>
              </a:gs>
              <a:gs pos="100000">
                <a:srgbClr val="96BB8F"/>
              </a:gs>
            </a:gsLst>
            <a:lin ang="5400000" scaled="1"/>
            <a:tileRect/>
          </a:gradFill>
          <a:ln w="25400" cap="flat" cmpd="sng">
            <a:solidFill>
              <a:schemeClr val="bg1"/>
            </a:solidFill>
            <a:prstDash val="solid"/>
            <a:round/>
            <a:headEnd type="none" w="med" len="med"/>
            <a:tailEnd type="none" w="med" len="med"/>
          </a:ln>
        </p:spPr>
        <p:txBody>
          <a:bodyPr wrap="none" anchor="ctr" anchorCtr="0"/>
          <a:lstStyle/>
          <a:p>
            <a:pPr algn="ctr" eaLnBrk="0" hangingPunct="0">
              <a:buClrTx/>
              <a:buFontTx/>
              <a:buNone/>
            </a:pPr>
            <a:r>
              <a:rPr lang="zh-CN" altLang="en-US" sz="2400" b="1" dirty="0">
                <a:solidFill>
                  <a:schemeClr val="tx1"/>
                </a:solidFill>
                <a:latin typeface="Arial" panose="020B0604020202020204" pitchFamily="34" charset="0"/>
                <a:ea typeface="华文宋体" panose="02010600040101010101" pitchFamily="2" charset="-122"/>
              </a:rPr>
              <a:t>介质访问控制方法</a:t>
            </a:r>
          </a:p>
        </p:txBody>
      </p:sp>
      <p:sp>
        <p:nvSpPr>
          <p:cNvPr id="35845" name="AutoShape 17"/>
          <p:cNvSpPr/>
          <p:nvPr/>
        </p:nvSpPr>
        <p:spPr>
          <a:xfrm>
            <a:off x="900113" y="4508500"/>
            <a:ext cx="4038600" cy="990600"/>
          </a:xfrm>
          <a:prstGeom prst="roundRect">
            <a:avLst>
              <a:gd name="adj" fmla="val 9106"/>
            </a:avLst>
          </a:prstGeom>
          <a:solidFill>
            <a:srgbClr val="FFCC99"/>
          </a:solidFill>
          <a:ln w="25400" cap="flat" cmpd="sng">
            <a:solidFill>
              <a:schemeClr val="bg1"/>
            </a:solidFill>
            <a:prstDash val="solid"/>
            <a:round/>
            <a:headEnd type="none" w="med" len="med"/>
            <a:tailEnd type="none" w="med" len="med"/>
          </a:ln>
        </p:spPr>
        <p:txBody>
          <a:bodyPr wrap="none" anchor="ctr" anchorCtr="0"/>
          <a:lstStyle/>
          <a:p>
            <a:pPr algn="ctr" eaLnBrk="0" hangingPunct="0">
              <a:buClrTx/>
              <a:buFontTx/>
              <a:buNone/>
            </a:pPr>
            <a:r>
              <a:rPr lang="zh-CN" altLang="en-US" sz="2400" b="1" dirty="0">
                <a:solidFill>
                  <a:schemeClr val="tx1"/>
                </a:solidFill>
                <a:latin typeface="Arial" panose="020B0604020202020204" pitchFamily="34" charset="0"/>
                <a:ea typeface="华文宋体" panose="02010600040101010101" pitchFamily="2" charset="-122"/>
              </a:rPr>
              <a:t>费用、灵活性、可靠性</a:t>
            </a:r>
          </a:p>
        </p:txBody>
      </p:sp>
      <p:sp>
        <p:nvSpPr>
          <p:cNvPr id="35846" name="AutoShape 18"/>
          <p:cNvSpPr/>
          <p:nvPr/>
        </p:nvSpPr>
        <p:spPr>
          <a:xfrm>
            <a:off x="5699125" y="3284538"/>
            <a:ext cx="3444875" cy="1295400"/>
          </a:xfrm>
          <a:prstGeom prst="roundRect">
            <a:avLst>
              <a:gd name="adj" fmla="val 9106"/>
            </a:avLst>
          </a:prstGeom>
          <a:noFill/>
          <a:ln w="25400">
            <a:noFill/>
          </a:ln>
        </p:spPr>
        <p:txBody>
          <a:bodyPr anchor="ctr" anchorCtr="0"/>
          <a:lstStyle/>
          <a:p>
            <a:pPr algn="ctr">
              <a:buClrTx/>
              <a:buFontTx/>
              <a:buNone/>
            </a:pPr>
            <a:r>
              <a:rPr lang="en-US" altLang="zh-CN" sz="3200" dirty="0">
                <a:solidFill>
                  <a:srgbClr val="0000CC"/>
                </a:solidFill>
                <a:latin typeface="黑体" panose="02010609060101010101" pitchFamily="49" charset="-122"/>
                <a:ea typeface="黑体" panose="02010609060101010101" pitchFamily="49" charset="-122"/>
              </a:rPr>
              <a:t>   </a:t>
            </a:r>
            <a:r>
              <a:rPr lang="zh-CN" altLang="en-US" sz="3200" dirty="0">
                <a:solidFill>
                  <a:srgbClr val="0000CC"/>
                </a:solidFill>
                <a:latin typeface="黑体" panose="02010609060101010101" pitchFamily="49" charset="-122"/>
                <a:ea typeface="黑体" panose="02010609060101010101" pitchFamily="49" charset="-122"/>
              </a:rPr>
              <a:t>网络拓扑结构</a:t>
            </a:r>
          </a:p>
          <a:p>
            <a:pPr algn="ctr">
              <a:buClrTx/>
              <a:buFontTx/>
              <a:buNone/>
            </a:pPr>
            <a:r>
              <a:rPr lang="zh-CN" altLang="en-US" sz="3200" dirty="0">
                <a:solidFill>
                  <a:srgbClr val="0000CC"/>
                </a:solidFill>
                <a:latin typeface="黑体" panose="02010609060101010101" pitchFamily="49" charset="-122"/>
                <a:ea typeface="黑体" panose="02010609060101010101" pitchFamily="49" charset="-122"/>
              </a:rPr>
              <a:t>的选择</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59724" y="332742"/>
            <a:ext cx="7696200" cy="540544"/>
          </a:xfrm>
        </p:spPr>
        <p:txBody>
          <a:bodyPr/>
          <a:lstStyle/>
          <a:p>
            <a:pPr algn="r"/>
            <a:r>
              <a:rPr lang="zh-CN" altLang="en-US" sz="3200" dirty="0">
                <a:solidFill>
                  <a:schemeClr val="bg1"/>
                </a:solidFill>
              </a:rPr>
              <a:t>网络拓扑决策参考</a:t>
            </a:r>
          </a:p>
        </p:txBody>
      </p:sp>
      <p:graphicFrame>
        <p:nvGraphicFramePr>
          <p:cNvPr id="4" name="表格 3"/>
          <p:cNvGraphicFramePr>
            <a:graphicFrameLocks noGrp="1"/>
          </p:cNvGraphicFramePr>
          <p:nvPr>
            <p:extLst>
              <p:ext uri="{D42A27DB-BD31-4B8C-83A1-F6EECF244321}">
                <p14:modId xmlns:p14="http://schemas.microsoft.com/office/powerpoint/2010/main" val="1550420198"/>
              </p:ext>
            </p:extLst>
          </p:nvPr>
        </p:nvGraphicFramePr>
        <p:xfrm>
          <a:off x="645694" y="1941555"/>
          <a:ext cx="8174660" cy="3589030"/>
        </p:xfrm>
        <a:graphic>
          <a:graphicData uri="http://schemas.openxmlformats.org/drawingml/2006/table">
            <a:tbl>
              <a:tblPr/>
              <a:tblGrid>
                <a:gridCol w="2692640">
                  <a:extLst>
                    <a:ext uri="{9D8B030D-6E8A-4147-A177-3AD203B41FA5}">
                      <a16:colId xmlns:a16="http://schemas.microsoft.com/office/drawing/2014/main" val="1554998673"/>
                    </a:ext>
                  </a:extLst>
                </a:gridCol>
                <a:gridCol w="2741010">
                  <a:extLst>
                    <a:ext uri="{9D8B030D-6E8A-4147-A177-3AD203B41FA5}">
                      <a16:colId xmlns:a16="http://schemas.microsoft.com/office/drawing/2014/main" val="3983571779"/>
                    </a:ext>
                  </a:extLst>
                </a:gridCol>
                <a:gridCol w="2741010">
                  <a:extLst>
                    <a:ext uri="{9D8B030D-6E8A-4147-A177-3AD203B41FA5}">
                      <a16:colId xmlns:a16="http://schemas.microsoft.com/office/drawing/2014/main" val="3471901881"/>
                    </a:ext>
                  </a:extLst>
                </a:gridCol>
              </a:tblGrid>
              <a:tr h="695379">
                <a:tc>
                  <a:txBody>
                    <a:bodyPr/>
                    <a:lstStyle/>
                    <a:p>
                      <a:pPr algn="ctr"/>
                      <a:r>
                        <a:rPr lang="zh-CN" altLang="en-US" sz="2400" b="0" dirty="0" smtClean="0">
                          <a:solidFill>
                            <a:srgbClr val="C00000"/>
                          </a:solidFill>
                          <a:effectLst/>
                          <a:latin typeface="微软雅黑" panose="020B0503020204020204" pitchFamily="34" charset="-122"/>
                          <a:ea typeface="微软雅黑" panose="020B0503020204020204" pitchFamily="34" charset="-122"/>
                        </a:rPr>
                        <a:t>应用场景</a:t>
                      </a:r>
                      <a:endParaRPr lang="zh-CN" altLang="en-US" sz="2400" b="0" dirty="0">
                        <a:solidFill>
                          <a:srgbClr val="C00000"/>
                        </a:solidFill>
                        <a:effectLst/>
                        <a:latin typeface="微软雅黑" panose="020B0503020204020204" pitchFamily="34" charset="-122"/>
                        <a:ea typeface="微软雅黑" panose="020B0503020204020204" pitchFamily="34" charset="-122"/>
                      </a:endParaRPr>
                    </a:p>
                  </a:txBody>
                  <a:tcPr marL="68580" marR="71438" marT="71438" marB="71438" anchor="ctr">
                    <a:lnL w="38100" cap="flat" cmpd="sng" algn="ctr">
                      <a:solidFill>
                        <a:schemeClr val="tx2"/>
                      </a:solidFill>
                      <a:prstDash val="solid"/>
                      <a:round/>
                      <a:headEnd type="none" w="med" len="med"/>
                      <a:tailEnd type="none" w="med" len="med"/>
                    </a:lnL>
                    <a:lnR w="38100" cap="flat" cmpd="sng" algn="ctr">
                      <a:solidFill>
                        <a:schemeClr val="tx2"/>
                      </a:solidFill>
                      <a:prstDash val="solid"/>
                      <a:round/>
                      <a:headEnd type="none" w="med" len="med"/>
                      <a:tailEnd type="none" w="med" len="med"/>
                    </a:lnR>
                    <a:lnT w="38100" cap="flat" cmpd="sng" algn="ctr">
                      <a:solidFill>
                        <a:schemeClr val="tx2"/>
                      </a:solidFill>
                      <a:prstDash val="solid"/>
                      <a:round/>
                      <a:headEnd type="none" w="med" len="med"/>
                      <a:tailEnd type="none" w="med" len="med"/>
                    </a:lnT>
                    <a:lnB w="38100" cap="flat" cmpd="sng" algn="ctr">
                      <a:solidFill>
                        <a:schemeClr val="tx2"/>
                      </a:solidFill>
                      <a:prstDash val="solid"/>
                      <a:round/>
                      <a:headEnd type="none" w="med" len="med"/>
                      <a:tailEnd type="none" w="med" len="med"/>
                    </a:lnB>
                    <a:gradFill>
                      <a:gsLst>
                        <a:gs pos="0">
                          <a:schemeClr val="accent1">
                            <a:gamma/>
                            <a:tint val="0"/>
                            <a:invGamma/>
                            <a:alpha val="24001"/>
                          </a:schemeClr>
                        </a:gs>
                        <a:gs pos="100000">
                          <a:schemeClr val="accent1"/>
                        </a:gs>
                      </a:gsLst>
                      <a:lin ang="0" scaled="1"/>
                    </a:gradFill>
                  </a:tcPr>
                </a:tc>
                <a:tc>
                  <a:txBody>
                    <a:bodyPr/>
                    <a:lstStyle/>
                    <a:p>
                      <a:pPr algn="ctr"/>
                      <a:r>
                        <a:rPr lang="zh-CN" altLang="en-US" sz="2400" b="0" dirty="0">
                          <a:solidFill>
                            <a:srgbClr val="C00000"/>
                          </a:solidFill>
                          <a:effectLst/>
                          <a:latin typeface="微软雅黑" panose="020B0503020204020204" pitchFamily="34" charset="-122"/>
                          <a:ea typeface="微软雅黑" panose="020B0503020204020204" pitchFamily="34" charset="-122"/>
                        </a:rPr>
                        <a:t>首选拓扑</a:t>
                      </a:r>
                    </a:p>
                  </a:txBody>
                  <a:tcPr marL="71438" marR="71438" marT="71438" marB="71438" anchor="ctr">
                    <a:lnL w="38100" cap="flat" cmpd="sng" algn="ctr">
                      <a:solidFill>
                        <a:schemeClr val="tx2"/>
                      </a:solidFill>
                      <a:prstDash val="solid"/>
                      <a:round/>
                      <a:headEnd type="none" w="med" len="med"/>
                      <a:tailEnd type="none" w="med" len="med"/>
                    </a:lnL>
                    <a:lnR w="38100" cap="flat" cmpd="sng" algn="ctr">
                      <a:solidFill>
                        <a:schemeClr val="tx2"/>
                      </a:solidFill>
                      <a:prstDash val="solid"/>
                      <a:round/>
                      <a:headEnd type="none" w="med" len="med"/>
                      <a:tailEnd type="none" w="med" len="med"/>
                    </a:lnR>
                    <a:lnT w="38100" cap="flat" cmpd="sng" algn="ctr">
                      <a:solidFill>
                        <a:schemeClr val="tx2"/>
                      </a:solidFill>
                      <a:prstDash val="solid"/>
                      <a:round/>
                      <a:headEnd type="none" w="med" len="med"/>
                      <a:tailEnd type="none" w="med" len="med"/>
                    </a:lnT>
                    <a:lnB w="38100" cap="flat" cmpd="sng" algn="ctr">
                      <a:solidFill>
                        <a:schemeClr val="tx2"/>
                      </a:solidFill>
                      <a:prstDash val="solid"/>
                      <a:round/>
                      <a:headEnd type="none" w="med" len="med"/>
                      <a:tailEnd type="none" w="med" len="med"/>
                    </a:lnB>
                    <a:gradFill>
                      <a:gsLst>
                        <a:gs pos="0">
                          <a:schemeClr val="accent1">
                            <a:gamma/>
                            <a:tint val="0"/>
                            <a:invGamma/>
                            <a:alpha val="24001"/>
                          </a:schemeClr>
                        </a:gs>
                        <a:gs pos="100000">
                          <a:schemeClr val="accent1"/>
                        </a:gs>
                      </a:gsLst>
                      <a:lin ang="0" scaled="1"/>
                    </a:gradFill>
                  </a:tcPr>
                </a:tc>
                <a:tc>
                  <a:txBody>
                    <a:bodyPr/>
                    <a:lstStyle/>
                    <a:p>
                      <a:pPr algn="ctr"/>
                      <a:r>
                        <a:rPr lang="zh-CN" altLang="en-US" sz="2400" b="0" dirty="0">
                          <a:solidFill>
                            <a:srgbClr val="C00000"/>
                          </a:solidFill>
                          <a:effectLst/>
                          <a:latin typeface="微软雅黑" panose="020B0503020204020204" pitchFamily="34" charset="-122"/>
                          <a:ea typeface="微软雅黑" panose="020B0503020204020204" pitchFamily="34" charset="-122"/>
                        </a:rPr>
                        <a:t>关键决定因素</a:t>
                      </a:r>
                    </a:p>
                  </a:txBody>
                  <a:tcPr marL="71438" marR="71438" marT="71438" marB="71438" anchor="ctr">
                    <a:lnL w="38100" cap="flat" cmpd="sng" algn="ctr">
                      <a:solidFill>
                        <a:schemeClr val="tx2"/>
                      </a:solidFill>
                      <a:prstDash val="solid"/>
                      <a:round/>
                      <a:headEnd type="none" w="med" len="med"/>
                      <a:tailEnd type="none" w="med" len="med"/>
                    </a:lnL>
                    <a:lnR w="38100" cap="flat" cmpd="sng" algn="ctr">
                      <a:solidFill>
                        <a:schemeClr val="tx2"/>
                      </a:solidFill>
                      <a:prstDash val="solid"/>
                      <a:round/>
                      <a:headEnd type="none" w="med" len="med"/>
                      <a:tailEnd type="none" w="med" len="med"/>
                    </a:lnR>
                    <a:lnT w="38100" cap="flat" cmpd="sng" algn="ctr">
                      <a:solidFill>
                        <a:schemeClr val="tx2"/>
                      </a:solidFill>
                      <a:prstDash val="solid"/>
                      <a:round/>
                      <a:headEnd type="none" w="med" len="med"/>
                      <a:tailEnd type="none" w="med" len="med"/>
                    </a:lnT>
                    <a:lnB w="38100" cap="flat" cmpd="sng" algn="ctr">
                      <a:solidFill>
                        <a:schemeClr val="tx2"/>
                      </a:solidFill>
                      <a:prstDash val="solid"/>
                      <a:round/>
                      <a:headEnd type="none" w="med" len="med"/>
                      <a:tailEnd type="none" w="med" len="med"/>
                    </a:lnB>
                    <a:gradFill>
                      <a:gsLst>
                        <a:gs pos="0">
                          <a:schemeClr val="accent1">
                            <a:gamma/>
                            <a:tint val="0"/>
                            <a:invGamma/>
                            <a:alpha val="24001"/>
                          </a:schemeClr>
                        </a:gs>
                        <a:gs pos="100000">
                          <a:schemeClr val="accent1"/>
                        </a:gs>
                      </a:gsLst>
                      <a:lin ang="0" scaled="1"/>
                    </a:gradFill>
                  </a:tcPr>
                </a:tc>
                <a:extLst>
                  <a:ext uri="{0D108BD9-81ED-4DB2-BD59-A6C34878D82A}">
                    <a16:rowId xmlns:a16="http://schemas.microsoft.com/office/drawing/2014/main" val="42642823"/>
                  </a:ext>
                </a:extLst>
              </a:tr>
              <a:tr h="575267">
                <a:tc>
                  <a:txBody>
                    <a:bodyPr/>
                    <a:lstStyle/>
                    <a:p>
                      <a:pPr algn="ctr"/>
                      <a:r>
                        <a:rPr lang="zh-CN" altLang="en-US" sz="2000" b="0">
                          <a:effectLst/>
                          <a:latin typeface="微软雅黑" panose="020B0503020204020204" pitchFamily="34" charset="-122"/>
                          <a:ea typeface="微软雅黑" panose="020B0503020204020204" pitchFamily="34" charset="-122"/>
                        </a:rPr>
                        <a:t>数据中心</a:t>
                      </a:r>
                    </a:p>
                  </a:txBody>
                  <a:tcPr marL="68580" marR="71438" marT="71438" marB="71438" anchor="ctr">
                    <a:lnL w="38100" cap="flat" cmpd="sng" algn="ctr">
                      <a:solidFill>
                        <a:schemeClr val="tx2"/>
                      </a:solidFill>
                      <a:prstDash val="solid"/>
                      <a:round/>
                      <a:headEnd type="none" w="med" len="med"/>
                      <a:tailEnd type="none" w="med" len="med"/>
                    </a:lnL>
                    <a:lnR w="38100" cap="flat" cmpd="sng" algn="ctr">
                      <a:solidFill>
                        <a:schemeClr val="tx2"/>
                      </a:solidFill>
                      <a:prstDash val="solid"/>
                      <a:round/>
                      <a:headEnd type="none" w="med" len="med"/>
                      <a:tailEnd type="none" w="med" len="med"/>
                    </a:lnR>
                    <a:lnT w="38100" cap="flat" cmpd="sng" algn="ctr">
                      <a:solidFill>
                        <a:schemeClr val="tx2"/>
                      </a:solidFill>
                      <a:prstDash val="solid"/>
                      <a:round/>
                      <a:headEnd type="none" w="med" len="med"/>
                      <a:tailEnd type="none" w="med" len="med"/>
                    </a:lnT>
                    <a:lnB w="38100" cap="flat" cmpd="sng" algn="ctr">
                      <a:solidFill>
                        <a:schemeClr val="tx2"/>
                      </a:solidFill>
                      <a:prstDash val="solid"/>
                      <a:round/>
                      <a:headEnd type="none" w="med" len="med"/>
                      <a:tailEnd type="none" w="med" len="med"/>
                    </a:lnB>
                    <a:gradFill>
                      <a:gsLst>
                        <a:gs pos="0">
                          <a:schemeClr val="accent1">
                            <a:gamma/>
                            <a:tint val="0"/>
                            <a:invGamma/>
                            <a:alpha val="24001"/>
                          </a:schemeClr>
                        </a:gs>
                        <a:gs pos="100000">
                          <a:schemeClr val="accent1"/>
                        </a:gs>
                      </a:gsLst>
                      <a:lin ang="0" scaled="1"/>
                    </a:gradFill>
                  </a:tcPr>
                </a:tc>
                <a:tc>
                  <a:txBody>
                    <a:bodyPr/>
                    <a:lstStyle/>
                    <a:p>
                      <a:pPr algn="ctr"/>
                      <a:r>
                        <a:rPr lang="zh-CN" altLang="en-US" sz="2000" b="0" dirty="0">
                          <a:effectLst/>
                          <a:latin typeface="微软雅黑" panose="020B0503020204020204" pitchFamily="34" charset="-122"/>
                          <a:ea typeface="微软雅黑" panose="020B0503020204020204" pitchFamily="34" charset="-122"/>
                        </a:rPr>
                        <a:t>叶脊架构</a:t>
                      </a:r>
                    </a:p>
                  </a:txBody>
                  <a:tcPr marL="71438" marR="71438" marT="71438" marB="71438" anchor="ctr">
                    <a:lnL w="38100" cap="flat" cmpd="sng" algn="ctr">
                      <a:solidFill>
                        <a:schemeClr val="tx2"/>
                      </a:solidFill>
                      <a:prstDash val="solid"/>
                      <a:round/>
                      <a:headEnd type="none" w="med" len="med"/>
                      <a:tailEnd type="none" w="med" len="med"/>
                    </a:lnL>
                    <a:lnR w="38100" cap="flat" cmpd="sng" algn="ctr">
                      <a:solidFill>
                        <a:schemeClr val="tx2"/>
                      </a:solidFill>
                      <a:prstDash val="solid"/>
                      <a:round/>
                      <a:headEnd type="none" w="med" len="med"/>
                      <a:tailEnd type="none" w="med" len="med"/>
                    </a:lnR>
                    <a:lnT w="38100" cap="flat" cmpd="sng" algn="ctr">
                      <a:solidFill>
                        <a:schemeClr val="tx2"/>
                      </a:solidFill>
                      <a:prstDash val="solid"/>
                      <a:round/>
                      <a:headEnd type="none" w="med" len="med"/>
                      <a:tailEnd type="none" w="med" len="med"/>
                    </a:lnT>
                    <a:lnB w="38100" cap="flat" cmpd="sng" algn="ctr">
                      <a:solidFill>
                        <a:schemeClr val="tx2"/>
                      </a:solidFill>
                      <a:prstDash val="solid"/>
                      <a:round/>
                      <a:headEnd type="none" w="med" len="med"/>
                      <a:tailEnd type="none" w="med" len="med"/>
                    </a:lnB>
                    <a:gradFill>
                      <a:gsLst>
                        <a:gs pos="0">
                          <a:schemeClr val="accent1">
                            <a:gamma/>
                            <a:tint val="0"/>
                            <a:invGamma/>
                            <a:alpha val="24001"/>
                          </a:schemeClr>
                        </a:gs>
                        <a:gs pos="100000">
                          <a:schemeClr val="accent1"/>
                        </a:gs>
                      </a:gsLst>
                      <a:lin ang="0" scaled="1"/>
                    </a:gradFill>
                  </a:tcPr>
                </a:tc>
                <a:tc>
                  <a:txBody>
                    <a:bodyPr/>
                    <a:lstStyle/>
                    <a:p>
                      <a:pPr algn="ctr"/>
                      <a:r>
                        <a:rPr lang="zh-CN" altLang="en-US" sz="2000" b="0" dirty="0">
                          <a:effectLst/>
                          <a:latin typeface="微软雅黑" panose="020B0503020204020204" pitchFamily="34" charset="-122"/>
                          <a:ea typeface="微软雅黑" panose="020B0503020204020204" pitchFamily="34" charset="-122"/>
                        </a:rPr>
                        <a:t>低延迟、高带宽</a:t>
                      </a:r>
                    </a:p>
                  </a:txBody>
                  <a:tcPr marL="71438" marR="71438" marT="71438" marB="71438" anchor="ctr">
                    <a:lnL w="38100" cap="flat" cmpd="sng" algn="ctr">
                      <a:solidFill>
                        <a:schemeClr val="tx2"/>
                      </a:solidFill>
                      <a:prstDash val="solid"/>
                      <a:round/>
                      <a:headEnd type="none" w="med" len="med"/>
                      <a:tailEnd type="none" w="med" len="med"/>
                    </a:lnL>
                    <a:lnR w="38100" cap="flat" cmpd="sng" algn="ctr">
                      <a:solidFill>
                        <a:schemeClr val="tx2"/>
                      </a:solidFill>
                      <a:prstDash val="solid"/>
                      <a:round/>
                      <a:headEnd type="none" w="med" len="med"/>
                      <a:tailEnd type="none" w="med" len="med"/>
                    </a:lnR>
                    <a:lnT w="38100" cap="flat" cmpd="sng" algn="ctr">
                      <a:solidFill>
                        <a:schemeClr val="tx2"/>
                      </a:solidFill>
                      <a:prstDash val="solid"/>
                      <a:round/>
                      <a:headEnd type="none" w="med" len="med"/>
                      <a:tailEnd type="none" w="med" len="med"/>
                    </a:lnT>
                    <a:lnB w="38100" cap="flat" cmpd="sng" algn="ctr">
                      <a:solidFill>
                        <a:schemeClr val="tx2"/>
                      </a:solidFill>
                      <a:prstDash val="solid"/>
                      <a:round/>
                      <a:headEnd type="none" w="med" len="med"/>
                      <a:tailEnd type="none" w="med" len="med"/>
                    </a:lnB>
                    <a:gradFill>
                      <a:gsLst>
                        <a:gs pos="0">
                          <a:schemeClr val="accent1">
                            <a:gamma/>
                            <a:tint val="0"/>
                            <a:invGamma/>
                            <a:alpha val="24001"/>
                          </a:schemeClr>
                        </a:gs>
                        <a:gs pos="100000">
                          <a:schemeClr val="accent1"/>
                        </a:gs>
                      </a:gsLst>
                      <a:lin ang="0" scaled="1"/>
                    </a:gradFill>
                  </a:tcPr>
                </a:tc>
                <a:extLst>
                  <a:ext uri="{0D108BD9-81ED-4DB2-BD59-A6C34878D82A}">
                    <a16:rowId xmlns:a16="http://schemas.microsoft.com/office/drawing/2014/main" val="1532779148"/>
                  </a:ext>
                </a:extLst>
              </a:tr>
              <a:tr h="592583">
                <a:tc>
                  <a:txBody>
                    <a:bodyPr/>
                    <a:lstStyle/>
                    <a:p>
                      <a:pPr algn="ctr"/>
                      <a:r>
                        <a:rPr lang="zh-CN" altLang="en-US" sz="2000" b="0">
                          <a:effectLst/>
                          <a:latin typeface="微软雅黑" panose="020B0503020204020204" pitchFamily="34" charset="-122"/>
                          <a:ea typeface="微软雅黑" panose="020B0503020204020204" pitchFamily="34" charset="-122"/>
                        </a:rPr>
                        <a:t>工业控制</a:t>
                      </a:r>
                    </a:p>
                  </a:txBody>
                  <a:tcPr marL="68580" marR="71438" marT="71438" marB="71438" anchor="ctr">
                    <a:lnL w="38100" cap="flat" cmpd="sng" algn="ctr">
                      <a:solidFill>
                        <a:schemeClr val="tx2"/>
                      </a:solidFill>
                      <a:prstDash val="solid"/>
                      <a:round/>
                      <a:headEnd type="none" w="med" len="med"/>
                      <a:tailEnd type="none" w="med" len="med"/>
                    </a:lnL>
                    <a:lnR w="38100" cap="flat" cmpd="sng" algn="ctr">
                      <a:solidFill>
                        <a:schemeClr val="tx2"/>
                      </a:solidFill>
                      <a:prstDash val="solid"/>
                      <a:round/>
                      <a:headEnd type="none" w="med" len="med"/>
                      <a:tailEnd type="none" w="med" len="med"/>
                    </a:lnR>
                    <a:lnT w="38100" cap="flat" cmpd="sng" algn="ctr">
                      <a:solidFill>
                        <a:schemeClr val="tx2"/>
                      </a:solidFill>
                      <a:prstDash val="solid"/>
                      <a:round/>
                      <a:headEnd type="none" w="med" len="med"/>
                      <a:tailEnd type="none" w="med" len="med"/>
                    </a:lnT>
                    <a:lnB w="38100" cap="flat" cmpd="sng" algn="ctr">
                      <a:solidFill>
                        <a:schemeClr val="tx2"/>
                      </a:solidFill>
                      <a:prstDash val="solid"/>
                      <a:round/>
                      <a:headEnd type="none" w="med" len="med"/>
                      <a:tailEnd type="none" w="med" len="med"/>
                    </a:lnB>
                    <a:gradFill>
                      <a:gsLst>
                        <a:gs pos="0">
                          <a:schemeClr val="accent1">
                            <a:gamma/>
                            <a:tint val="0"/>
                            <a:invGamma/>
                            <a:alpha val="24001"/>
                          </a:schemeClr>
                        </a:gs>
                        <a:gs pos="100000">
                          <a:schemeClr val="accent1"/>
                        </a:gs>
                      </a:gsLst>
                      <a:lin ang="0" scaled="1"/>
                    </a:gradFill>
                  </a:tcPr>
                </a:tc>
                <a:tc>
                  <a:txBody>
                    <a:bodyPr/>
                    <a:lstStyle/>
                    <a:p>
                      <a:pPr algn="ctr"/>
                      <a:r>
                        <a:rPr lang="zh-CN" altLang="en-US" sz="2000" b="0" dirty="0">
                          <a:effectLst/>
                          <a:latin typeface="微软雅黑" panose="020B0503020204020204" pitchFamily="34" charset="-122"/>
                          <a:ea typeface="微软雅黑" panose="020B0503020204020204" pitchFamily="34" charset="-122"/>
                        </a:rPr>
                        <a:t>双环型</a:t>
                      </a:r>
                    </a:p>
                  </a:txBody>
                  <a:tcPr marL="71438" marR="71438" marT="71438" marB="71438" anchor="ctr">
                    <a:lnL w="38100" cap="flat" cmpd="sng" algn="ctr">
                      <a:solidFill>
                        <a:schemeClr val="tx2"/>
                      </a:solidFill>
                      <a:prstDash val="solid"/>
                      <a:round/>
                      <a:headEnd type="none" w="med" len="med"/>
                      <a:tailEnd type="none" w="med" len="med"/>
                    </a:lnL>
                    <a:lnR w="38100" cap="flat" cmpd="sng" algn="ctr">
                      <a:solidFill>
                        <a:schemeClr val="tx2"/>
                      </a:solidFill>
                      <a:prstDash val="solid"/>
                      <a:round/>
                      <a:headEnd type="none" w="med" len="med"/>
                      <a:tailEnd type="none" w="med" len="med"/>
                    </a:lnR>
                    <a:lnT w="38100" cap="flat" cmpd="sng" algn="ctr">
                      <a:solidFill>
                        <a:schemeClr val="tx2"/>
                      </a:solidFill>
                      <a:prstDash val="solid"/>
                      <a:round/>
                      <a:headEnd type="none" w="med" len="med"/>
                      <a:tailEnd type="none" w="med" len="med"/>
                    </a:lnT>
                    <a:lnB w="38100" cap="flat" cmpd="sng" algn="ctr">
                      <a:solidFill>
                        <a:schemeClr val="tx2"/>
                      </a:solidFill>
                      <a:prstDash val="solid"/>
                      <a:round/>
                      <a:headEnd type="none" w="med" len="med"/>
                      <a:tailEnd type="none" w="med" len="med"/>
                    </a:lnB>
                    <a:gradFill>
                      <a:gsLst>
                        <a:gs pos="0">
                          <a:schemeClr val="accent1">
                            <a:gamma/>
                            <a:tint val="0"/>
                            <a:invGamma/>
                            <a:alpha val="24001"/>
                          </a:schemeClr>
                        </a:gs>
                        <a:gs pos="100000">
                          <a:schemeClr val="accent1"/>
                        </a:gs>
                      </a:gsLst>
                      <a:lin ang="0" scaled="1"/>
                    </a:gradFill>
                  </a:tcPr>
                </a:tc>
                <a:tc>
                  <a:txBody>
                    <a:bodyPr/>
                    <a:lstStyle/>
                    <a:p>
                      <a:pPr algn="ctr"/>
                      <a:r>
                        <a:rPr lang="zh-CN" altLang="en-US" sz="2000" b="0" dirty="0">
                          <a:effectLst/>
                          <a:latin typeface="微软雅黑" panose="020B0503020204020204" pitchFamily="34" charset="-122"/>
                          <a:ea typeface="微软雅黑" panose="020B0503020204020204" pitchFamily="34" charset="-122"/>
                        </a:rPr>
                        <a:t>确定性</a:t>
                      </a:r>
                      <a:r>
                        <a:rPr lang="zh-CN" altLang="en-US" sz="2000" b="0" dirty="0" smtClean="0">
                          <a:effectLst/>
                          <a:latin typeface="微软雅黑" panose="020B0503020204020204" pitchFamily="34" charset="-122"/>
                          <a:ea typeface="微软雅黑" panose="020B0503020204020204" pitchFamily="34" charset="-122"/>
                        </a:rPr>
                        <a:t>延迟、故障</a:t>
                      </a:r>
                      <a:r>
                        <a:rPr lang="zh-CN" altLang="en-US" sz="2000" b="0" dirty="0">
                          <a:effectLst/>
                          <a:latin typeface="微软雅黑" panose="020B0503020204020204" pitchFamily="34" charset="-122"/>
                          <a:ea typeface="微软雅黑" panose="020B0503020204020204" pitchFamily="34" charset="-122"/>
                        </a:rPr>
                        <a:t>自愈</a:t>
                      </a:r>
                    </a:p>
                  </a:txBody>
                  <a:tcPr marL="71438" marR="71438" marT="71438" marB="71438" anchor="ctr">
                    <a:lnL w="38100" cap="flat" cmpd="sng" algn="ctr">
                      <a:solidFill>
                        <a:schemeClr val="tx2"/>
                      </a:solidFill>
                      <a:prstDash val="solid"/>
                      <a:round/>
                      <a:headEnd type="none" w="med" len="med"/>
                      <a:tailEnd type="none" w="med" len="med"/>
                    </a:lnL>
                    <a:lnR w="38100" cap="flat" cmpd="sng" algn="ctr">
                      <a:solidFill>
                        <a:schemeClr val="tx2"/>
                      </a:solidFill>
                      <a:prstDash val="solid"/>
                      <a:round/>
                      <a:headEnd type="none" w="med" len="med"/>
                      <a:tailEnd type="none" w="med" len="med"/>
                    </a:lnR>
                    <a:lnT w="38100" cap="flat" cmpd="sng" algn="ctr">
                      <a:solidFill>
                        <a:schemeClr val="tx2"/>
                      </a:solidFill>
                      <a:prstDash val="solid"/>
                      <a:round/>
                      <a:headEnd type="none" w="med" len="med"/>
                      <a:tailEnd type="none" w="med" len="med"/>
                    </a:lnT>
                    <a:lnB w="38100" cap="flat" cmpd="sng" algn="ctr">
                      <a:solidFill>
                        <a:schemeClr val="tx2"/>
                      </a:solidFill>
                      <a:prstDash val="solid"/>
                      <a:round/>
                      <a:headEnd type="none" w="med" len="med"/>
                      <a:tailEnd type="none" w="med" len="med"/>
                    </a:lnB>
                    <a:gradFill>
                      <a:gsLst>
                        <a:gs pos="0">
                          <a:schemeClr val="accent1">
                            <a:gamma/>
                            <a:tint val="0"/>
                            <a:invGamma/>
                            <a:alpha val="24001"/>
                          </a:schemeClr>
                        </a:gs>
                        <a:gs pos="100000">
                          <a:schemeClr val="accent1"/>
                        </a:gs>
                      </a:gsLst>
                      <a:lin ang="0" scaled="1"/>
                    </a:gradFill>
                  </a:tcPr>
                </a:tc>
                <a:extLst>
                  <a:ext uri="{0D108BD9-81ED-4DB2-BD59-A6C34878D82A}">
                    <a16:rowId xmlns:a16="http://schemas.microsoft.com/office/drawing/2014/main" val="2180328243"/>
                  </a:ext>
                </a:extLst>
              </a:tr>
              <a:tr h="575267">
                <a:tc>
                  <a:txBody>
                    <a:bodyPr/>
                    <a:lstStyle/>
                    <a:p>
                      <a:pPr algn="ctr"/>
                      <a:r>
                        <a:rPr lang="zh-CN" altLang="en-US" sz="2000" b="0">
                          <a:effectLst/>
                          <a:latin typeface="微软雅黑" panose="020B0503020204020204" pitchFamily="34" charset="-122"/>
                          <a:ea typeface="微软雅黑" panose="020B0503020204020204" pitchFamily="34" charset="-122"/>
                        </a:rPr>
                        <a:t>校园网</a:t>
                      </a:r>
                    </a:p>
                  </a:txBody>
                  <a:tcPr marL="68580" marR="71438" marT="71438" marB="71438" anchor="ctr">
                    <a:lnL w="38100" cap="flat" cmpd="sng" algn="ctr">
                      <a:solidFill>
                        <a:schemeClr val="tx2"/>
                      </a:solidFill>
                      <a:prstDash val="solid"/>
                      <a:round/>
                      <a:headEnd type="none" w="med" len="med"/>
                      <a:tailEnd type="none" w="med" len="med"/>
                    </a:lnL>
                    <a:lnR w="38100" cap="flat" cmpd="sng" algn="ctr">
                      <a:solidFill>
                        <a:schemeClr val="tx2"/>
                      </a:solidFill>
                      <a:prstDash val="solid"/>
                      <a:round/>
                      <a:headEnd type="none" w="med" len="med"/>
                      <a:tailEnd type="none" w="med" len="med"/>
                    </a:lnR>
                    <a:lnT w="38100" cap="flat" cmpd="sng" algn="ctr">
                      <a:solidFill>
                        <a:schemeClr val="tx2"/>
                      </a:solidFill>
                      <a:prstDash val="solid"/>
                      <a:round/>
                      <a:headEnd type="none" w="med" len="med"/>
                      <a:tailEnd type="none" w="med" len="med"/>
                    </a:lnT>
                    <a:lnB w="38100" cap="flat" cmpd="sng" algn="ctr">
                      <a:solidFill>
                        <a:schemeClr val="tx2"/>
                      </a:solidFill>
                      <a:prstDash val="solid"/>
                      <a:round/>
                      <a:headEnd type="none" w="med" len="med"/>
                      <a:tailEnd type="none" w="med" len="med"/>
                    </a:lnB>
                    <a:gradFill>
                      <a:gsLst>
                        <a:gs pos="0">
                          <a:schemeClr val="accent1">
                            <a:gamma/>
                            <a:tint val="0"/>
                            <a:invGamma/>
                            <a:alpha val="24001"/>
                          </a:schemeClr>
                        </a:gs>
                        <a:gs pos="100000">
                          <a:schemeClr val="accent1"/>
                        </a:gs>
                      </a:gsLst>
                      <a:lin ang="0" scaled="1"/>
                    </a:gradFill>
                  </a:tcPr>
                </a:tc>
                <a:tc>
                  <a:txBody>
                    <a:bodyPr/>
                    <a:lstStyle/>
                    <a:p>
                      <a:pPr algn="ctr"/>
                      <a:r>
                        <a:rPr lang="zh-CN" altLang="en-US" sz="2000" b="0" dirty="0">
                          <a:effectLst/>
                          <a:latin typeface="微软雅黑" panose="020B0503020204020204" pitchFamily="34" charset="-122"/>
                          <a:ea typeface="微软雅黑" panose="020B0503020204020204" pitchFamily="34" charset="-122"/>
                        </a:rPr>
                        <a:t>层次化树型</a:t>
                      </a:r>
                    </a:p>
                  </a:txBody>
                  <a:tcPr marL="71438" marR="71438" marT="71438" marB="71438" anchor="ctr">
                    <a:lnL w="38100" cap="flat" cmpd="sng" algn="ctr">
                      <a:solidFill>
                        <a:schemeClr val="tx2"/>
                      </a:solidFill>
                      <a:prstDash val="solid"/>
                      <a:round/>
                      <a:headEnd type="none" w="med" len="med"/>
                      <a:tailEnd type="none" w="med" len="med"/>
                    </a:lnL>
                    <a:lnR w="38100" cap="flat" cmpd="sng" algn="ctr">
                      <a:solidFill>
                        <a:schemeClr val="tx2"/>
                      </a:solidFill>
                      <a:prstDash val="solid"/>
                      <a:round/>
                      <a:headEnd type="none" w="med" len="med"/>
                      <a:tailEnd type="none" w="med" len="med"/>
                    </a:lnR>
                    <a:lnT w="38100" cap="flat" cmpd="sng" algn="ctr">
                      <a:solidFill>
                        <a:schemeClr val="tx2"/>
                      </a:solidFill>
                      <a:prstDash val="solid"/>
                      <a:round/>
                      <a:headEnd type="none" w="med" len="med"/>
                      <a:tailEnd type="none" w="med" len="med"/>
                    </a:lnT>
                    <a:lnB w="38100" cap="flat" cmpd="sng" algn="ctr">
                      <a:solidFill>
                        <a:schemeClr val="tx2"/>
                      </a:solidFill>
                      <a:prstDash val="solid"/>
                      <a:round/>
                      <a:headEnd type="none" w="med" len="med"/>
                      <a:tailEnd type="none" w="med" len="med"/>
                    </a:lnB>
                    <a:gradFill>
                      <a:gsLst>
                        <a:gs pos="0">
                          <a:schemeClr val="accent1">
                            <a:gamma/>
                            <a:tint val="0"/>
                            <a:invGamma/>
                            <a:alpha val="24001"/>
                          </a:schemeClr>
                        </a:gs>
                        <a:gs pos="100000">
                          <a:schemeClr val="accent1"/>
                        </a:gs>
                      </a:gsLst>
                      <a:lin ang="0" scaled="1"/>
                    </a:gradFill>
                  </a:tcPr>
                </a:tc>
                <a:tc>
                  <a:txBody>
                    <a:bodyPr/>
                    <a:lstStyle/>
                    <a:p>
                      <a:pPr algn="ctr"/>
                      <a:r>
                        <a:rPr lang="zh-CN" altLang="en-US" sz="2000" b="0" dirty="0">
                          <a:effectLst/>
                          <a:latin typeface="微软雅黑" panose="020B0503020204020204" pitchFamily="34" charset="-122"/>
                          <a:ea typeface="微软雅黑" panose="020B0503020204020204" pitchFamily="34" charset="-122"/>
                        </a:rPr>
                        <a:t>成本控制、易管理</a:t>
                      </a:r>
                    </a:p>
                  </a:txBody>
                  <a:tcPr marL="71438" marR="71438" marT="71438" marB="71438" anchor="ctr">
                    <a:lnL w="38100" cap="flat" cmpd="sng" algn="ctr">
                      <a:solidFill>
                        <a:schemeClr val="tx2"/>
                      </a:solidFill>
                      <a:prstDash val="solid"/>
                      <a:round/>
                      <a:headEnd type="none" w="med" len="med"/>
                      <a:tailEnd type="none" w="med" len="med"/>
                    </a:lnL>
                    <a:lnR w="38100" cap="flat" cmpd="sng" algn="ctr">
                      <a:solidFill>
                        <a:schemeClr val="tx2"/>
                      </a:solidFill>
                      <a:prstDash val="solid"/>
                      <a:round/>
                      <a:headEnd type="none" w="med" len="med"/>
                      <a:tailEnd type="none" w="med" len="med"/>
                    </a:lnR>
                    <a:lnT w="38100" cap="flat" cmpd="sng" algn="ctr">
                      <a:solidFill>
                        <a:schemeClr val="tx2"/>
                      </a:solidFill>
                      <a:prstDash val="solid"/>
                      <a:round/>
                      <a:headEnd type="none" w="med" len="med"/>
                      <a:tailEnd type="none" w="med" len="med"/>
                    </a:lnT>
                    <a:lnB w="38100" cap="flat" cmpd="sng" algn="ctr">
                      <a:solidFill>
                        <a:schemeClr val="tx2"/>
                      </a:solidFill>
                      <a:prstDash val="solid"/>
                      <a:round/>
                      <a:headEnd type="none" w="med" len="med"/>
                      <a:tailEnd type="none" w="med" len="med"/>
                    </a:lnB>
                    <a:gradFill>
                      <a:gsLst>
                        <a:gs pos="0">
                          <a:schemeClr val="accent1">
                            <a:gamma/>
                            <a:tint val="0"/>
                            <a:invGamma/>
                            <a:alpha val="24001"/>
                          </a:schemeClr>
                        </a:gs>
                        <a:gs pos="100000">
                          <a:schemeClr val="accent1"/>
                        </a:gs>
                      </a:gsLst>
                      <a:lin ang="0" scaled="1"/>
                    </a:gradFill>
                  </a:tcPr>
                </a:tc>
                <a:extLst>
                  <a:ext uri="{0D108BD9-81ED-4DB2-BD59-A6C34878D82A}">
                    <a16:rowId xmlns:a16="http://schemas.microsoft.com/office/drawing/2014/main" val="3795152472"/>
                  </a:ext>
                </a:extLst>
              </a:tr>
              <a:tr h="575267">
                <a:tc>
                  <a:txBody>
                    <a:bodyPr/>
                    <a:lstStyle/>
                    <a:p>
                      <a:pPr algn="ctr"/>
                      <a:r>
                        <a:rPr lang="zh-CN" altLang="en-US" sz="2000" b="0">
                          <a:effectLst/>
                          <a:latin typeface="微软雅黑" panose="020B0503020204020204" pitchFamily="34" charset="-122"/>
                          <a:ea typeface="微软雅黑" panose="020B0503020204020204" pitchFamily="34" charset="-122"/>
                        </a:rPr>
                        <a:t>移动</a:t>
                      </a:r>
                      <a:r>
                        <a:rPr lang="en-US" sz="2000" b="0">
                          <a:effectLst/>
                          <a:latin typeface="微软雅黑" panose="020B0503020204020204" pitchFamily="34" charset="-122"/>
                          <a:ea typeface="微软雅黑" panose="020B0503020204020204" pitchFamily="34" charset="-122"/>
                        </a:rPr>
                        <a:t>Ad-hoc</a:t>
                      </a:r>
                    </a:p>
                  </a:txBody>
                  <a:tcPr marL="68580" marR="71438" marT="71438" marB="71438" anchor="ctr">
                    <a:lnL w="38100" cap="flat" cmpd="sng" algn="ctr">
                      <a:solidFill>
                        <a:schemeClr val="tx2"/>
                      </a:solidFill>
                      <a:prstDash val="solid"/>
                      <a:round/>
                      <a:headEnd type="none" w="med" len="med"/>
                      <a:tailEnd type="none" w="med" len="med"/>
                    </a:lnL>
                    <a:lnR w="38100" cap="flat" cmpd="sng" algn="ctr">
                      <a:solidFill>
                        <a:schemeClr val="tx2"/>
                      </a:solidFill>
                      <a:prstDash val="solid"/>
                      <a:round/>
                      <a:headEnd type="none" w="med" len="med"/>
                      <a:tailEnd type="none" w="med" len="med"/>
                    </a:lnR>
                    <a:lnT w="38100" cap="flat" cmpd="sng" algn="ctr">
                      <a:solidFill>
                        <a:schemeClr val="tx2"/>
                      </a:solidFill>
                      <a:prstDash val="solid"/>
                      <a:round/>
                      <a:headEnd type="none" w="med" len="med"/>
                      <a:tailEnd type="none" w="med" len="med"/>
                    </a:lnT>
                    <a:lnB w="38100" cap="flat" cmpd="sng" algn="ctr">
                      <a:solidFill>
                        <a:schemeClr val="tx2"/>
                      </a:solidFill>
                      <a:prstDash val="solid"/>
                      <a:round/>
                      <a:headEnd type="none" w="med" len="med"/>
                      <a:tailEnd type="none" w="med" len="med"/>
                    </a:lnB>
                    <a:gradFill>
                      <a:gsLst>
                        <a:gs pos="0">
                          <a:schemeClr val="accent1">
                            <a:gamma/>
                            <a:tint val="0"/>
                            <a:invGamma/>
                            <a:alpha val="24001"/>
                          </a:schemeClr>
                        </a:gs>
                        <a:gs pos="100000">
                          <a:schemeClr val="accent1"/>
                        </a:gs>
                      </a:gsLst>
                      <a:lin ang="0" scaled="1"/>
                    </a:gradFill>
                  </a:tcPr>
                </a:tc>
                <a:tc>
                  <a:txBody>
                    <a:bodyPr/>
                    <a:lstStyle/>
                    <a:p>
                      <a:pPr algn="ctr"/>
                      <a:r>
                        <a:rPr lang="zh-CN" altLang="en-US" sz="2000" b="0">
                          <a:effectLst/>
                          <a:latin typeface="微软雅黑" panose="020B0503020204020204" pitchFamily="34" charset="-122"/>
                          <a:ea typeface="微软雅黑" panose="020B0503020204020204" pitchFamily="34" charset="-122"/>
                        </a:rPr>
                        <a:t>动态</a:t>
                      </a:r>
                      <a:r>
                        <a:rPr lang="en-US" sz="2000" b="0">
                          <a:effectLst/>
                          <a:latin typeface="微软雅黑" panose="020B0503020204020204" pitchFamily="34" charset="-122"/>
                          <a:ea typeface="微软雅黑" panose="020B0503020204020204" pitchFamily="34" charset="-122"/>
                        </a:rPr>
                        <a:t>Mesh</a:t>
                      </a:r>
                    </a:p>
                  </a:txBody>
                  <a:tcPr marL="71438" marR="71438" marT="71438" marB="71438" anchor="ctr">
                    <a:lnL w="38100" cap="flat" cmpd="sng" algn="ctr">
                      <a:solidFill>
                        <a:schemeClr val="tx2"/>
                      </a:solidFill>
                      <a:prstDash val="solid"/>
                      <a:round/>
                      <a:headEnd type="none" w="med" len="med"/>
                      <a:tailEnd type="none" w="med" len="med"/>
                    </a:lnL>
                    <a:lnR w="38100" cap="flat" cmpd="sng" algn="ctr">
                      <a:solidFill>
                        <a:schemeClr val="tx2"/>
                      </a:solidFill>
                      <a:prstDash val="solid"/>
                      <a:round/>
                      <a:headEnd type="none" w="med" len="med"/>
                      <a:tailEnd type="none" w="med" len="med"/>
                    </a:lnR>
                    <a:lnT w="38100" cap="flat" cmpd="sng" algn="ctr">
                      <a:solidFill>
                        <a:schemeClr val="tx2"/>
                      </a:solidFill>
                      <a:prstDash val="solid"/>
                      <a:round/>
                      <a:headEnd type="none" w="med" len="med"/>
                      <a:tailEnd type="none" w="med" len="med"/>
                    </a:lnT>
                    <a:lnB w="38100" cap="flat" cmpd="sng" algn="ctr">
                      <a:solidFill>
                        <a:schemeClr val="tx2"/>
                      </a:solidFill>
                      <a:prstDash val="solid"/>
                      <a:round/>
                      <a:headEnd type="none" w="med" len="med"/>
                      <a:tailEnd type="none" w="med" len="med"/>
                    </a:lnB>
                    <a:gradFill>
                      <a:gsLst>
                        <a:gs pos="0">
                          <a:schemeClr val="accent1">
                            <a:gamma/>
                            <a:tint val="0"/>
                            <a:invGamma/>
                            <a:alpha val="24001"/>
                          </a:schemeClr>
                        </a:gs>
                        <a:gs pos="100000">
                          <a:schemeClr val="accent1"/>
                        </a:gs>
                      </a:gsLst>
                      <a:lin ang="0" scaled="1"/>
                    </a:gradFill>
                  </a:tcPr>
                </a:tc>
                <a:tc>
                  <a:txBody>
                    <a:bodyPr/>
                    <a:lstStyle/>
                    <a:p>
                      <a:pPr algn="ctr"/>
                      <a:r>
                        <a:rPr lang="zh-CN" altLang="en-US" sz="2000" b="0" dirty="0">
                          <a:effectLst/>
                          <a:latin typeface="微软雅黑" panose="020B0503020204020204" pitchFamily="34" charset="-122"/>
                          <a:ea typeface="微软雅黑" panose="020B0503020204020204" pitchFamily="34" charset="-122"/>
                        </a:rPr>
                        <a:t>无基础设施依赖</a:t>
                      </a:r>
                    </a:p>
                  </a:txBody>
                  <a:tcPr marL="71438" marR="71438" marT="71438" marB="71438" anchor="ctr">
                    <a:lnL w="38100" cap="flat" cmpd="sng" algn="ctr">
                      <a:solidFill>
                        <a:schemeClr val="tx2"/>
                      </a:solidFill>
                      <a:prstDash val="solid"/>
                      <a:round/>
                      <a:headEnd type="none" w="med" len="med"/>
                      <a:tailEnd type="none" w="med" len="med"/>
                    </a:lnL>
                    <a:lnR w="38100" cap="flat" cmpd="sng" algn="ctr">
                      <a:solidFill>
                        <a:schemeClr val="tx2"/>
                      </a:solidFill>
                      <a:prstDash val="solid"/>
                      <a:round/>
                      <a:headEnd type="none" w="med" len="med"/>
                      <a:tailEnd type="none" w="med" len="med"/>
                    </a:lnR>
                    <a:lnT w="38100" cap="flat" cmpd="sng" algn="ctr">
                      <a:solidFill>
                        <a:schemeClr val="tx2"/>
                      </a:solidFill>
                      <a:prstDash val="solid"/>
                      <a:round/>
                      <a:headEnd type="none" w="med" len="med"/>
                      <a:tailEnd type="none" w="med" len="med"/>
                    </a:lnT>
                    <a:lnB w="38100" cap="flat" cmpd="sng" algn="ctr">
                      <a:solidFill>
                        <a:schemeClr val="tx2"/>
                      </a:solidFill>
                      <a:prstDash val="solid"/>
                      <a:round/>
                      <a:headEnd type="none" w="med" len="med"/>
                      <a:tailEnd type="none" w="med" len="med"/>
                    </a:lnB>
                    <a:gradFill>
                      <a:gsLst>
                        <a:gs pos="0">
                          <a:schemeClr val="accent1">
                            <a:gamma/>
                            <a:tint val="0"/>
                            <a:invGamma/>
                            <a:alpha val="24001"/>
                          </a:schemeClr>
                        </a:gs>
                        <a:gs pos="100000">
                          <a:schemeClr val="accent1"/>
                        </a:gs>
                      </a:gsLst>
                      <a:lin ang="0" scaled="1"/>
                    </a:gradFill>
                  </a:tcPr>
                </a:tc>
                <a:extLst>
                  <a:ext uri="{0D108BD9-81ED-4DB2-BD59-A6C34878D82A}">
                    <a16:rowId xmlns:a16="http://schemas.microsoft.com/office/drawing/2014/main" val="3277051580"/>
                  </a:ext>
                </a:extLst>
              </a:tr>
              <a:tr h="575267">
                <a:tc>
                  <a:txBody>
                    <a:bodyPr/>
                    <a:lstStyle/>
                    <a:p>
                      <a:pPr algn="ctr"/>
                      <a:r>
                        <a:rPr lang="zh-CN" altLang="en-US" sz="2000" b="0">
                          <a:effectLst/>
                          <a:latin typeface="微软雅黑" panose="020B0503020204020204" pitchFamily="34" charset="-122"/>
                          <a:ea typeface="微软雅黑" panose="020B0503020204020204" pitchFamily="34" charset="-122"/>
                        </a:rPr>
                        <a:t>智能家居</a:t>
                      </a:r>
                    </a:p>
                  </a:txBody>
                  <a:tcPr marL="68580" marR="71438" marT="71438" marB="71438" anchor="ctr">
                    <a:lnL w="38100" cap="flat" cmpd="sng" algn="ctr">
                      <a:solidFill>
                        <a:schemeClr val="tx2"/>
                      </a:solidFill>
                      <a:prstDash val="solid"/>
                      <a:round/>
                      <a:headEnd type="none" w="med" len="med"/>
                      <a:tailEnd type="none" w="med" len="med"/>
                    </a:lnL>
                    <a:lnR w="38100" cap="flat" cmpd="sng" algn="ctr">
                      <a:solidFill>
                        <a:schemeClr val="tx2"/>
                      </a:solidFill>
                      <a:prstDash val="solid"/>
                      <a:round/>
                      <a:headEnd type="none" w="med" len="med"/>
                      <a:tailEnd type="none" w="med" len="med"/>
                    </a:lnR>
                    <a:lnT w="38100" cap="flat" cmpd="sng" algn="ctr">
                      <a:solidFill>
                        <a:schemeClr val="tx2"/>
                      </a:solidFill>
                      <a:prstDash val="solid"/>
                      <a:round/>
                      <a:headEnd type="none" w="med" len="med"/>
                      <a:tailEnd type="none" w="med" len="med"/>
                    </a:lnT>
                    <a:lnB w="38100" cap="flat" cmpd="sng" algn="ctr">
                      <a:solidFill>
                        <a:schemeClr val="tx2"/>
                      </a:solidFill>
                      <a:prstDash val="solid"/>
                      <a:round/>
                      <a:headEnd type="none" w="med" len="med"/>
                      <a:tailEnd type="none" w="med" len="med"/>
                    </a:lnB>
                    <a:gradFill>
                      <a:gsLst>
                        <a:gs pos="0">
                          <a:schemeClr val="accent1">
                            <a:gamma/>
                            <a:tint val="0"/>
                            <a:invGamma/>
                            <a:alpha val="24001"/>
                          </a:schemeClr>
                        </a:gs>
                        <a:gs pos="100000">
                          <a:schemeClr val="accent1"/>
                        </a:gs>
                      </a:gsLst>
                      <a:lin ang="0" scaled="1"/>
                    </a:gradFill>
                  </a:tcPr>
                </a:tc>
                <a:tc>
                  <a:txBody>
                    <a:bodyPr/>
                    <a:lstStyle/>
                    <a:p>
                      <a:pPr algn="ctr"/>
                      <a:r>
                        <a:rPr lang="zh-CN" altLang="en-US" sz="2000" b="0">
                          <a:effectLst/>
                          <a:latin typeface="微软雅黑" panose="020B0503020204020204" pitchFamily="34" charset="-122"/>
                          <a:ea typeface="微软雅黑" panose="020B0503020204020204" pitchFamily="34" charset="-122"/>
                        </a:rPr>
                        <a:t>混合星型</a:t>
                      </a:r>
                    </a:p>
                  </a:txBody>
                  <a:tcPr marL="71438" marR="71438" marT="71438" marB="71438" anchor="ctr">
                    <a:lnL w="38100" cap="flat" cmpd="sng" algn="ctr">
                      <a:solidFill>
                        <a:schemeClr val="tx2"/>
                      </a:solidFill>
                      <a:prstDash val="solid"/>
                      <a:round/>
                      <a:headEnd type="none" w="med" len="med"/>
                      <a:tailEnd type="none" w="med" len="med"/>
                    </a:lnL>
                    <a:lnR w="38100" cap="flat" cmpd="sng" algn="ctr">
                      <a:solidFill>
                        <a:schemeClr val="tx2"/>
                      </a:solidFill>
                      <a:prstDash val="solid"/>
                      <a:round/>
                      <a:headEnd type="none" w="med" len="med"/>
                      <a:tailEnd type="none" w="med" len="med"/>
                    </a:lnR>
                    <a:lnT w="38100" cap="flat" cmpd="sng" algn="ctr">
                      <a:solidFill>
                        <a:schemeClr val="tx2"/>
                      </a:solidFill>
                      <a:prstDash val="solid"/>
                      <a:round/>
                      <a:headEnd type="none" w="med" len="med"/>
                      <a:tailEnd type="none" w="med" len="med"/>
                    </a:lnT>
                    <a:lnB w="38100" cap="flat" cmpd="sng" algn="ctr">
                      <a:solidFill>
                        <a:schemeClr val="tx2"/>
                      </a:solidFill>
                      <a:prstDash val="solid"/>
                      <a:round/>
                      <a:headEnd type="none" w="med" len="med"/>
                      <a:tailEnd type="none" w="med" len="med"/>
                    </a:lnB>
                    <a:gradFill>
                      <a:gsLst>
                        <a:gs pos="0">
                          <a:schemeClr val="accent1">
                            <a:gamma/>
                            <a:tint val="0"/>
                            <a:invGamma/>
                            <a:alpha val="24001"/>
                          </a:schemeClr>
                        </a:gs>
                        <a:gs pos="100000">
                          <a:schemeClr val="accent1"/>
                        </a:gs>
                      </a:gsLst>
                      <a:lin ang="0" scaled="1"/>
                    </a:gradFill>
                  </a:tcPr>
                </a:tc>
                <a:tc>
                  <a:txBody>
                    <a:bodyPr/>
                    <a:lstStyle/>
                    <a:p>
                      <a:pPr algn="ctr"/>
                      <a:r>
                        <a:rPr lang="zh-CN" altLang="en-US" sz="2000" b="0" dirty="0">
                          <a:effectLst/>
                          <a:latin typeface="微软雅黑" panose="020B0503020204020204" pitchFamily="34" charset="-122"/>
                          <a:ea typeface="微软雅黑" panose="020B0503020204020204" pitchFamily="34" charset="-122"/>
                        </a:rPr>
                        <a:t>无线覆盖、终端多样性</a:t>
                      </a:r>
                    </a:p>
                  </a:txBody>
                  <a:tcPr marL="71438" marR="71438" marT="71438" marB="71438" anchor="ctr">
                    <a:lnL w="38100" cap="flat" cmpd="sng" algn="ctr">
                      <a:solidFill>
                        <a:schemeClr val="tx2"/>
                      </a:solidFill>
                      <a:prstDash val="solid"/>
                      <a:round/>
                      <a:headEnd type="none" w="med" len="med"/>
                      <a:tailEnd type="none" w="med" len="med"/>
                    </a:lnL>
                    <a:lnR w="38100" cap="flat" cmpd="sng" algn="ctr">
                      <a:solidFill>
                        <a:schemeClr val="tx2"/>
                      </a:solidFill>
                      <a:prstDash val="solid"/>
                      <a:round/>
                      <a:headEnd type="none" w="med" len="med"/>
                      <a:tailEnd type="none" w="med" len="med"/>
                    </a:lnR>
                    <a:lnT w="38100" cap="flat" cmpd="sng" algn="ctr">
                      <a:solidFill>
                        <a:schemeClr val="tx2"/>
                      </a:solidFill>
                      <a:prstDash val="solid"/>
                      <a:round/>
                      <a:headEnd type="none" w="med" len="med"/>
                      <a:tailEnd type="none" w="med" len="med"/>
                    </a:lnT>
                    <a:lnB w="38100" cap="flat" cmpd="sng" algn="ctr">
                      <a:solidFill>
                        <a:schemeClr val="tx2"/>
                      </a:solidFill>
                      <a:prstDash val="solid"/>
                      <a:round/>
                      <a:headEnd type="none" w="med" len="med"/>
                      <a:tailEnd type="none" w="med" len="med"/>
                    </a:lnB>
                    <a:gradFill>
                      <a:gsLst>
                        <a:gs pos="0">
                          <a:schemeClr val="accent1">
                            <a:gamma/>
                            <a:tint val="0"/>
                            <a:invGamma/>
                            <a:alpha val="24001"/>
                          </a:schemeClr>
                        </a:gs>
                        <a:gs pos="100000">
                          <a:schemeClr val="accent1"/>
                        </a:gs>
                      </a:gsLst>
                      <a:lin ang="0" scaled="1"/>
                    </a:gradFill>
                  </a:tcPr>
                </a:tc>
                <a:extLst>
                  <a:ext uri="{0D108BD9-81ED-4DB2-BD59-A6C34878D82A}">
                    <a16:rowId xmlns:a16="http://schemas.microsoft.com/office/drawing/2014/main" val="2932232846"/>
                  </a:ext>
                </a:extLst>
              </a:tr>
            </a:tbl>
          </a:graphicData>
        </a:graphic>
      </p:graphicFrame>
    </p:spTree>
    <p:extLst>
      <p:ext uri="{BB962C8B-B14F-4D97-AF65-F5344CB8AC3E}">
        <p14:creationId xmlns:p14="http://schemas.microsoft.com/office/powerpoint/2010/main" val="125438938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p:cNvSpPr>
            <a:spLocks noGrp="1"/>
          </p:cNvSpPr>
          <p:nvPr>
            <p:ph type="title"/>
          </p:nvPr>
        </p:nvSpPr>
        <p:spPr>
          <a:xfrm>
            <a:off x="1447800" y="188913"/>
            <a:ext cx="7696200" cy="720725"/>
          </a:xfrm>
        </p:spPr>
        <p:txBody>
          <a:bodyPr vert="horz" wrap="square" lIns="92075" tIns="46038" rIns="92075" bIns="46038" anchor="ctr" anchorCtr="0"/>
          <a:lstStyle/>
          <a:p>
            <a:pPr algn="r" eaLnBrk="1" hangingPunct="1"/>
            <a:r>
              <a:rPr lang="zh-CN" altLang="en-US" sz="3200" dirty="0">
                <a:solidFill>
                  <a:schemeClr val="bg1"/>
                </a:solidFill>
              </a:rPr>
              <a:t>网络的逻辑结构</a:t>
            </a:r>
          </a:p>
        </p:txBody>
      </p:sp>
      <p:sp>
        <p:nvSpPr>
          <p:cNvPr id="488451" name="Rectangle 3"/>
          <p:cNvSpPr>
            <a:spLocks noGrp="1"/>
          </p:cNvSpPr>
          <p:nvPr>
            <p:ph idx="1"/>
          </p:nvPr>
        </p:nvSpPr>
        <p:spPr>
          <a:xfrm>
            <a:off x="539750" y="1916113"/>
            <a:ext cx="8229600" cy="3168650"/>
          </a:xfrm>
        </p:spPr>
        <p:txBody>
          <a:bodyPr vert="horz" wrap="square" lIns="91440" tIns="45720" rIns="91440" bIns="45720" anchor="t" anchorCtr="0"/>
          <a:lstStyle/>
          <a:p>
            <a:pPr marL="590550" indent="-533400" eaLnBrk="1" hangingPunct="1">
              <a:spcBef>
                <a:spcPct val="50000"/>
              </a:spcBef>
            </a:pPr>
            <a:r>
              <a:rPr lang="zh-CN" altLang="en-US" sz="3600" dirty="0">
                <a:latin typeface="黑体" panose="02010609060101010101" pitchFamily="49" charset="-122"/>
                <a:ea typeface="黑体" panose="02010609060101010101" pitchFamily="49" charset="-122"/>
              </a:rPr>
              <a:t>广播式网络</a:t>
            </a:r>
            <a:r>
              <a:rPr lang="en-US" altLang="zh-CN" sz="3600" dirty="0">
                <a:latin typeface="黑体" panose="02010609060101010101" pitchFamily="49" charset="-122"/>
                <a:ea typeface="黑体" panose="02010609060101010101" pitchFamily="49" charset="-122"/>
              </a:rPr>
              <a:t>(broadcast networks)</a:t>
            </a:r>
          </a:p>
          <a:p>
            <a:pPr marL="590550" indent="-533400" eaLnBrk="1" hangingPunct="1">
              <a:spcBef>
                <a:spcPct val="50000"/>
              </a:spcBef>
            </a:pPr>
            <a:r>
              <a:rPr lang="zh-CN" altLang="en-US" sz="3600" dirty="0">
                <a:latin typeface="黑体" panose="02010609060101010101" pitchFamily="49" charset="-122"/>
                <a:ea typeface="黑体" panose="02010609060101010101" pitchFamily="49" charset="-122"/>
              </a:rPr>
              <a:t>点对点式网络</a:t>
            </a:r>
            <a:r>
              <a:rPr lang="en-US" altLang="zh-CN" sz="3600" dirty="0">
                <a:latin typeface="黑体" panose="02010609060101010101" pitchFamily="49" charset="-122"/>
                <a:ea typeface="黑体" panose="02010609060101010101" pitchFamily="49" charset="-122"/>
              </a:rPr>
              <a:t>(point-to-point networks)</a:t>
            </a:r>
            <a:r>
              <a:rPr lang="en-US" altLang="zh-CN" sz="3600" dirty="0"/>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8845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8845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2"/>
          <p:cNvSpPr>
            <a:spLocks noGrp="1"/>
          </p:cNvSpPr>
          <p:nvPr>
            <p:ph type="title"/>
          </p:nvPr>
        </p:nvSpPr>
        <p:spPr>
          <a:xfrm>
            <a:off x="1447800" y="260350"/>
            <a:ext cx="7696200" cy="720725"/>
          </a:xfrm>
        </p:spPr>
        <p:txBody>
          <a:bodyPr vert="horz" wrap="square" lIns="92075" tIns="46038" rIns="92075" bIns="46038" anchor="ctr" anchorCtr="0"/>
          <a:lstStyle/>
          <a:p>
            <a:pPr algn="r" eaLnBrk="1" hangingPunct="1"/>
            <a:r>
              <a:rPr lang="zh-CN" altLang="en-US" sz="3200" dirty="0">
                <a:solidFill>
                  <a:schemeClr val="bg1"/>
                </a:solidFill>
              </a:rPr>
              <a:t>广播式网络</a:t>
            </a:r>
          </a:p>
        </p:txBody>
      </p:sp>
      <p:sp>
        <p:nvSpPr>
          <p:cNvPr id="499716" name="Rectangle 4"/>
          <p:cNvSpPr>
            <a:spLocks noGrp="1"/>
          </p:cNvSpPr>
          <p:nvPr>
            <p:ph idx="1"/>
          </p:nvPr>
        </p:nvSpPr>
        <p:spPr>
          <a:xfrm>
            <a:off x="827088" y="1484313"/>
            <a:ext cx="7704137" cy="4997450"/>
          </a:xfrm>
        </p:spPr>
        <p:txBody>
          <a:bodyPr vert="horz" wrap="square" lIns="91440" tIns="45720" rIns="91440" bIns="45720" anchor="t" anchorCtr="0"/>
          <a:lstStyle/>
          <a:p>
            <a:pPr marL="609600" indent="-609600" eaLnBrk="1" hangingPunct="1"/>
            <a:r>
              <a:rPr lang="zh-CN" altLang="en-US" dirty="0">
                <a:latin typeface="黑体" panose="02010609060101010101" pitchFamily="49" charset="-122"/>
                <a:ea typeface="黑体" panose="02010609060101010101" pitchFamily="49" charset="-122"/>
              </a:rPr>
              <a:t>基本特点</a:t>
            </a:r>
          </a:p>
          <a:p>
            <a:pPr marL="990600" lvl="1" indent="-533400" eaLnBrk="1" hangingPunct="1"/>
            <a:r>
              <a:rPr lang="zh-CN" altLang="en-US" b="0" dirty="0">
                <a:latin typeface="黑体" panose="02010609060101010101" pitchFamily="49" charset="-122"/>
                <a:ea typeface="黑体" panose="02010609060101010101" pitchFamily="49" charset="-122"/>
              </a:rPr>
              <a:t>所有计算机</a:t>
            </a:r>
            <a:r>
              <a:rPr lang="zh-CN" altLang="en-US" b="0" dirty="0">
                <a:solidFill>
                  <a:srgbClr val="FC2704"/>
                </a:solidFill>
                <a:latin typeface="黑体" panose="02010609060101010101" pitchFamily="49" charset="-122"/>
                <a:ea typeface="黑体" panose="02010609060101010101" pitchFamily="49" charset="-122"/>
              </a:rPr>
              <a:t>共享</a:t>
            </a:r>
            <a:r>
              <a:rPr lang="zh-CN" altLang="en-US" b="0" dirty="0">
                <a:latin typeface="黑体" panose="02010609060101010101" pitchFamily="49" charset="-122"/>
                <a:ea typeface="黑体" panose="02010609060101010101" pitchFamily="49" charset="-122"/>
              </a:rPr>
              <a:t>一条通信信道</a:t>
            </a:r>
          </a:p>
          <a:p>
            <a:pPr marL="990600" lvl="1" indent="-533400" eaLnBrk="1" hangingPunct="1"/>
            <a:r>
              <a:rPr lang="zh-CN" altLang="en-US" b="0" dirty="0">
                <a:latin typeface="黑体" panose="02010609060101010101" pitchFamily="49" charset="-122"/>
                <a:ea typeface="黑体" panose="02010609060101010101" pitchFamily="49" charset="-122"/>
              </a:rPr>
              <a:t>任一台计算机发出的信息可以</a:t>
            </a:r>
            <a:r>
              <a:rPr lang="zh-CN" altLang="en-US" b="0" dirty="0">
                <a:solidFill>
                  <a:srgbClr val="FC2704"/>
                </a:solidFill>
                <a:latin typeface="黑体" panose="02010609060101010101" pitchFamily="49" charset="-122"/>
                <a:ea typeface="黑体" panose="02010609060101010101" pitchFamily="49" charset="-122"/>
              </a:rPr>
              <a:t>直接</a:t>
            </a:r>
            <a:r>
              <a:rPr lang="zh-CN" altLang="en-US" b="0" dirty="0">
                <a:latin typeface="黑体" panose="02010609060101010101" pitchFamily="49" charset="-122"/>
                <a:ea typeface="黑体" panose="02010609060101010101" pitchFamily="49" charset="-122"/>
              </a:rPr>
              <a:t>被其他</a:t>
            </a:r>
            <a:r>
              <a:rPr lang="zh-CN" altLang="en-US" b="0" dirty="0">
                <a:solidFill>
                  <a:srgbClr val="FC2704"/>
                </a:solidFill>
                <a:latin typeface="黑体" panose="02010609060101010101" pitchFamily="49" charset="-122"/>
                <a:ea typeface="黑体" panose="02010609060101010101" pitchFamily="49" charset="-122"/>
              </a:rPr>
              <a:t>所有</a:t>
            </a:r>
            <a:r>
              <a:rPr lang="zh-CN" altLang="en-US" b="0" dirty="0">
                <a:latin typeface="黑体" panose="02010609060101010101" pitchFamily="49" charset="-122"/>
                <a:ea typeface="黑体" panose="02010609060101010101" pitchFamily="49" charset="-122"/>
              </a:rPr>
              <a:t>计算机接收</a:t>
            </a:r>
          </a:p>
          <a:p>
            <a:pPr marL="990600" lvl="1" indent="-533400" eaLnBrk="1" hangingPunct="1"/>
            <a:r>
              <a:rPr lang="zh-CN" altLang="en-US" b="0" dirty="0">
                <a:latin typeface="黑体" panose="02010609060101010101" pitchFamily="49" charset="-122"/>
                <a:ea typeface="黑体" panose="02010609060101010101" pitchFamily="49" charset="-122"/>
              </a:rPr>
              <a:t>两台以上计算机同时发送会产生</a:t>
            </a:r>
            <a:r>
              <a:rPr lang="zh-CN" altLang="en-US" b="0" dirty="0">
                <a:solidFill>
                  <a:srgbClr val="FC2704"/>
                </a:solidFill>
                <a:latin typeface="黑体" panose="02010609060101010101" pitchFamily="49" charset="-122"/>
                <a:ea typeface="黑体" panose="02010609060101010101" pitchFamily="49" charset="-122"/>
              </a:rPr>
              <a:t>冲突</a:t>
            </a:r>
          </a:p>
          <a:p>
            <a:pPr marL="609600" indent="-609600" eaLnBrk="1" hangingPunct="1">
              <a:spcBef>
                <a:spcPts val="1800"/>
              </a:spcBef>
            </a:pPr>
            <a:r>
              <a:rPr lang="zh-CN" altLang="en-US" dirty="0">
                <a:latin typeface="黑体" panose="02010609060101010101" pitchFamily="49" charset="-122"/>
                <a:ea typeface="黑体" panose="02010609060101010101" pitchFamily="49" charset="-122"/>
              </a:rPr>
              <a:t>关键技术 </a:t>
            </a:r>
          </a:p>
          <a:p>
            <a:pPr marL="990600" lvl="1" indent="-533400" eaLnBrk="1" hangingPunct="1"/>
            <a:r>
              <a:rPr lang="zh-CN" altLang="en-US" b="0" dirty="0">
                <a:latin typeface="黑体" panose="02010609060101010101" pitchFamily="49" charset="-122"/>
                <a:ea typeface="黑体" panose="02010609060101010101" pitchFamily="49" charset="-122"/>
              </a:rPr>
              <a:t>介质访问控制方法</a:t>
            </a:r>
          </a:p>
          <a:p>
            <a:pPr marL="990600" lvl="1" indent="-533400" eaLnBrk="1" hangingPunct="1"/>
            <a:r>
              <a:rPr lang="zh-CN" altLang="en-US" b="0" dirty="0" smtClean="0">
                <a:latin typeface="黑体" panose="02010609060101010101" pitchFamily="49" charset="-122"/>
                <a:ea typeface="黑体" panose="02010609060101010101" pitchFamily="49" charset="-122"/>
              </a:rPr>
              <a:t>冲突解决方法：</a:t>
            </a:r>
            <a:r>
              <a:rPr lang="zh-CN" altLang="en-US" b="0" dirty="0">
                <a:latin typeface="黑体" panose="02010609060101010101" pitchFamily="49" charset="-122"/>
                <a:ea typeface="黑体" panose="02010609060101010101" pitchFamily="49" charset="-122"/>
              </a:rPr>
              <a:t>检测</a:t>
            </a:r>
            <a:r>
              <a:rPr lang="zh-CN" altLang="en-US" b="0" dirty="0" smtClean="0">
                <a:latin typeface="黑体" panose="02010609060101010101" pitchFamily="49" charset="-122"/>
                <a:ea typeface="黑体" panose="02010609060101010101" pitchFamily="49" charset="-122"/>
              </a:rPr>
              <a:t>冲突</a:t>
            </a:r>
            <a:r>
              <a:rPr lang="en-US" altLang="zh-CN" b="0" dirty="0" smtClean="0">
                <a:latin typeface="黑体" panose="02010609060101010101" pitchFamily="49" charset="-122"/>
                <a:ea typeface="黑体" panose="02010609060101010101" pitchFamily="49" charset="-122"/>
              </a:rPr>
              <a:t>+</a:t>
            </a:r>
            <a:r>
              <a:rPr lang="zh-CN" altLang="en-US" b="0" dirty="0" smtClean="0">
                <a:latin typeface="黑体" panose="02010609060101010101" pitchFamily="49" charset="-122"/>
                <a:ea typeface="黑体" panose="02010609060101010101" pitchFamily="49" charset="-122"/>
              </a:rPr>
              <a:t>消除冲突、</a:t>
            </a:r>
            <a:r>
              <a:rPr lang="zh-CN" altLang="en-US" b="0" dirty="0">
                <a:latin typeface="黑体" panose="02010609060101010101" pitchFamily="49" charset="-122"/>
                <a:ea typeface="黑体" panose="02010609060101010101" pitchFamily="49" charset="-122"/>
              </a:rPr>
              <a:t>避免</a:t>
            </a:r>
            <a:r>
              <a:rPr lang="zh-CN" altLang="en-US" b="0" dirty="0" smtClean="0">
                <a:latin typeface="黑体" panose="02010609060101010101" pitchFamily="49" charset="-122"/>
                <a:ea typeface="黑体" panose="02010609060101010101" pitchFamily="49" charset="-122"/>
              </a:rPr>
              <a:t>冲突</a:t>
            </a:r>
            <a:endParaRPr lang="zh-CN" altLang="en-US" b="0" dirty="0">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971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99716">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99716">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99716">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99716">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99716">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9971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2"/>
          <p:cNvSpPr>
            <a:spLocks noGrp="1"/>
          </p:cNvSpPr>
          <p:nvPr>
            <p:ph type="title"/>
          </p:nvPr>
        </p:nvSpPr>
        <p:spPr>
          <a:xfrm>
            <a:off x="1447800" y="333375"/>
            <a:ext cx="7696200" cy="720725"/>
          </a:xfrm>
        </p:spPr>
        <p:txBody>
          <a:bodyPr vert="horz" wrap="square" lIns="92075" tIns="46038" rIns="92075" bIns="46038" anchor="ctr" anchorCtr="0"/>
          <a:lstStyle/>
          <a:p>
            <a:pPr algn="r" eaLnBrk="1" hangingPunct="1"/>
            <a:r>
              <a:rPr lang="zh-CN" altLang="en-US" sz="3200" dirty="0">
                <a:solidFill>
                  <a:schemeClr val="bg1"/>
                </a:solidFill>
              </a:rPr>
              <a:t>点到点式网络</a:t>
            </a:r>
          </a:p>
        </p:txBody>
      </p:sp>
      <p:sp>
        <p:nvSpPr>
          <p:cNvPr id="497668" name="Rectangle 4"/>
          <p:cNvSpPr>
            <a:spLocks noGrp="1"/>
          </p:cNvSpPr>
          <p:nvPr>
            <p:ph idx="1"/>
          </p:nvPr>
        </p:nvSpPr>
        <p:spPr>
          <a:xfrm>
            <a:off x="755650" y="1268413"/>
            <a:ext cx="8064500" cy="4997450"/>
          </a:xfrm>
        </p:spPr>
        <p:txBody>
          <a:bodyPr vert="horz" wrap="square" lIns="91440" tIns="45720" rIns="91440" bIns="45720" anchor="t" anchorCtr="0"/>
          <a:lstStyle/>
          <a:p>
            <a:pPr marL="609600" indent="-609600" eaLnBrk="1" hangingPunct="1"/>
            <a:r>
              <a:rPr lang="zh-CN" altLang="en-US" sz="3600" dirty="0">
                <a:latin typeface="黑体" panose="02010609060101010101" pitchFamily="49" charset="-122"/>
                <a:ea typeface="黑体" panose="02010609060101010101" pitchFamily="49" charset="-122"/>
              </a:rPr>
              <a:t>基本特点</a:t>
            </a:r>
          </a:p>
          <a:p>
            <a:pPr marL="990600" lvl="1" indent="-533400" eaLnBrk="1" hangingPunct="1"/>
            <a:r>
              <a:rPr lang="zh-CN" altLang="en-US" b="0" dirty="0">
                <a:latin typeface="黑体" panose="02010609060101010101" pitchFamily="49" charset="-122"/>
                <a:ea typeface="黑体" panose="02010609060101010101" pitchFamily="49" charset="-122"/>
              </a:rPr>
              <a:t>一条线路连接两个网络互连设备</a:t>
            </a:r>
            <a:r>
              <a:rPr lang="zh-CN" altLang="en-US" b="0" dirty="0">
                <a:solidFill>
                  <a:srgbClr val="FC2704"/>
                </a:solidFill>
                <a:latin typeface="黑体" panose="02010609060101010101" pitchFamily="49" charset="-122"/>
                <a:ea typeface="黑体" panose="02010609060101010101" pitchFamily="49" charset="-122"/>
              </a:rPr>
              <a:t>（点到点）</a:t>
            </a:r>
          </a:p>
          <a:p>
            <a:pPr marL="990600" lvl="1" indent="-533400" eaLnBrk="1" hangingPunct="1"/>
            <a:r>
              <a:rPr lang="zh-CN" altLang="en-US" b="0" dirty="0">
                <a:latin typeface="黑体" panose="02010609060101010101" pitchFamily="49" charset="-122"/>
                <a:ea typeface="黑体" panose="02010609060101010101" pitchFamily="49" charset="-122"/>
              </a:rPr>
              <a:t>一般情况下，两台计算机间的传输要经过</a:t>
            </a:r>
            <a:r>
              <a:rPr lang="zh-CN" altLang="en-US" b="0" dirty="0">
                <a:solidFill>
                  <a:srgbClr val="FC2704"/>
                </a:solidFill>
                <a:latin typeface="黑体" panose="02010609060101010101" pitchFamily="49" charset="-122"/>
                <a:ea typeface="黑体" panose="02010609060101010101" pitchFamily="49" charset="-122"/>
              </a:rPr>
              <a:t>多台</a:t>
            </a:r>
            <a:r>
              <a:rPr lang="zh-CN" altLang="en-US" b="0" dirty="0">
                <a:latin typeface="黑体" panose="02010609060101010101" pitchFamily="49" charset="-122"/>
                <a:ea typeface="黑体" panose="02010609060101010101" pitchFamily="49" charset="-122"/>
              </a:rPr>
              <a:t>网络互连设备</a:t>
            </a:r>
          </a:p>
          <a:p>
            <a:pPr marL="990600" lvl="1" indent="-533400" eaLnBrk="1" hangingPunct="1"/>
            <a:r>
              <a:rPr lang="zh-CN" altLang="en-US" b="0" dirty="0">
                <a:latin typeface="黑体" panose="02010609060101010101" pitchFamily="49" charset="-122"/>
                <a:ea typeface="黑体" panose="02010609060101010101" pitchFamily="49" charset="-122"/>
              </a:rPr>
              <a:t>一般情况下，两台计算机间的传输有</a:t>
            </a:r>
            <a:r>
              <a:rPr lang="zh-CN" altLang="en-US" b="0" dirty="0">
                <a:solidFill>
                  <a:srgbClr val="FC2704"/>
                </a:solidFill>
                <a:latin typeface="黑体" panose="02010609060101010101" pitchFamily="49" charset="-122"/>
                <a:ea typeface="黑体" panose="02010609060101010101" pitchFamily="49" charset="-122"/>
              </a:rPr>
              <a:t>多条路径</a:t>
            </a:r>
            <a:r>
              <a:rPr lang="zh-CN" altLang="en-US" b="0" dirty="0">
                <a:latin typeface="黑体" panose="02010609060101010101" pitchFamily="49" charset="-122"/>
                <a:ea typeface="黑体" panose="02010609060101010101" pitchFamily="49" charset="-122"/>
              </a:rPr>
              <a:t>可供选择</a:t>
            </a:r>
          </a:p>
          <a:p>
            <a:pPr marL="609600" indent="-609600" eaLnBrk="1" hangingPunct="1">
              <a:spcBef>
                <a:spcPts val="1800"/>
              </a:spcBef>
            </a:pPr>
            <a:r>
              <a:rPr lang="zh-CN" altLang="en-US" sz="3600" dirty="0">
                <a:latin typeface="黑体" panose="02010609060101010101" pitchFamily="49" charset="-122"/>
                <a:ea typeface="黑体" panose="02010609060101010101" pitchFamily="49" charset="-122"/>
              </a:rPr>
              <a:t>关键技术 </a:t>
            </a:r>
          </a:p>
          <a:p>
            <a:pPr marL="990600" lvl="1" indent="-533400" eaLnBrk="1" hangingPunct="1"/>
            <a:r>
              <a:rPr lang="zh-CN" altLang="en-US" b="0" dirty="0">
                <a:latin typeface="黑体" panose="02010609060101010101" pitchFamily="49" charset="-122"/>
                <a:ea typeface="黑体" panose="02010609060101010101" pitchFamily="49" charset="-122"/>
              </a:rPr>
              <a:t>路由选择</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7668">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97668">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97668">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97668">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97668">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9766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16"/>
          <p:cNvGraphicFramePr/>
          <p:nvPr>
            <p:extLst>
              <p:ext uri="{D42A27DB-BD31-4B8C-83A1-F6EECF244321}">
                <p14:modId xmlns:p14="http://schemas.microsoft.com/office/powerpoint/2010/main" val="4150558981"/>
              </p:ext>
            </p:extLst>
          </p:nvPr>
        </p:nvGraphicFramePr>
        <p:xfrm>
          <a:off x="899694" y="2457931"/>
          <a:ext cx="3567112" cy="3149600"/>
        </p:xfrm>
        <a:graphic>
          <a:graphicData uri="http://schemas.openxmlformats.org/presentationml/2006/ole">
            <mc:AlternateContent xmlns:mc="http://schemas.openxmlformats.org/markup-compatibility/2006">
              <mc:Choice xmlns:v="urn:schemas-microsoft-com:vml" Requires="v">
                <p:oleObj spid="_x0000_s14373" name="Visio" r:id="rId4" imgW="3429068" imgH="2619270" progId="Visio.Drawing.11">
                  <p:embed/>
                </p:oleObj>
              </mc:Choice>
              <mc:Fallback>
                <p:oleObj name="Visio" r:id="rId4" imgW="3429068" imgH="2619270" progId="Visio.Drawing.11">
                  <p:embed/>
                  <p:pic>
                    <p:nvPicPr>
                      <p:cNvPr id="0" name="图片 3075"/>
                      <p:cNvPicPr/>
                      <p:nvPr/>
                    </p:nvPicPr>
                    <p:blipFill>
                      <a:blip r:embed="rId5"/>
                      <a:stretch>
                        <a:fillRect/>
                      </a:stretch>
                    </p:blipFill>
                    <p:spPr>
                      <a:xfrm>
                        <a:off x="899694" y="2457931"/>
                        <a:ext cx="3567112" cy="3149600"/>
                      </a:xfrm>
                      <a:prstGeom prst="rect">
                        <a:avLst/>
                      </a:prstGeom>
                      <a:noFill/>
                      <a:ln w="38100">
                        <a:noFill/>
                        <a:miter/>
                      </a:ln>
                    </p:spPr>
                  </p:pic>
                </p:oleObj>
              </mc:Fallback>
            </mc:AlternateContent>
          </a:graphicData>
        </a:graphic>
      </p:graphicFrame>
      <p:sp>
        <p:nvSpPr>
          <p:cNvPr id="40961" name="Rectangle 2"/>
          <p:cNvSpPr>
            <a:spLocks noGrp="1"/>
          </p:cNvSpPr>
          <p:nvPr>
            <p:ph type="title"/>
          </p:nvPr>
        </p:nvSpPr>
        <p:spPr>
          <a:xfrm>
            <a:off x="1447800" y="333375"/>
            <a:ext cx="7696200" cy="720725"/>
          </a:xfrm>
        </p:spPr>
        <p:txBody>
          <a:bodyPr vert="horz" wrap="square" lIns="92075" tIns="46038" rIns="92075" bIns="46038" anchor="ctr" anchorCtr="0"/>
          <a:lstStyle/>
          <a:p>
            <a:pPr algn="r" eaLnBrk="1" hangingPunct="1"/>
            <a:r>
              <a:rPr lang="zh-CN" altLang="en-US" sz="3200" dirty="0">
                <a:solidFill>
                  <a:schemeClr val="bg1"/>
                </a:solidFill>
              </a:rPr>
              <a:t>物理结构和逻辑结构关系举例</a:t>
            </a:r>
          </a:p>
        </p:txBody>
      </p:sp>
      <p:sp>
        <p:nvSpPr>
          <p:cNvPr id="497668" name="Rectangle 4"/>
          <p:cNvSpPr>
            <a:spLocks noGrp="1"/>
          </p:cNvSpPr>
          <p:nvPr>
            <p:ph idx="1"/>
          </p:nvPr>
        </p:nvSpPr>
        <p:spPr>
          <a:xfrm>
            <a:off x="755650" y="1268413"/>
            <a:ext cx="8064500" cy="4997450"/>
          </a:xfrm>
        </p:spPr>
        <p:txBody>
          <a:bodyPr vert="horz" wrap="square" lIns="91440" tIns="45720" rIns="91440" bIns="45720" anchor="t" anchorCtr="0"/>
          <a:lstStyle/>
          <a:p>
            <a:pPr marL="457200" lvl="1" indent="0" eaLnBrk="1" hangingPunct="1">
              <a:buNone/>
            </a:pPr>
            <a:r>
              <a:rPr lang="zh-CN" altLang="en-US" b="0" dirty="0">
                <a:latin typeface="黑体" panose="02010609060101010101" pitchFamily="49" charset="-122"/>
                <a:ea typeface="黑体" panose="02010609060101010101" pitchFamily="49" charset="-122"/>
              </a:rPr>
              <a:t>星形拓扑结构的两种传输方式</a:t>
            </a:r>
          </a:p>
        </p:txBody>
      </p:sp>
      <p:graphicFrame>
        <p:nvGraphicFramePr>
          <p:cNvPr id="5" name="Object 16"/>
          <p:cNvGraphicFramePr/>
          <p:nvPr>
            <p:extLst>
              <p:ext uri="{D42A27DB-BD31-4B8C-83A1-F6EECF244321}">
                <p14:modId xmlns:p14="http://schemas.microsoft.com/office/powerpoint/2010/main" val="745887797"/>
              </p:ext>
            </p:extLst>
          </p:nvPr>
        </p:nvGraphicFramePr>
        <p:xfrm>
          <a:off x="4770008" y="2492922"/>
          <a:ext cx="3533775" cy="3138488"/>
        </p:xfrm>
        <a:graphic>
          <a:graphicData uri="http://schemas.openxmlformats.org/presentationml/2006/ole">
            <mc:AlternateContent xmlns:mc="http://schemas.openxmlformats.org/markup-compatibility/2006">
              <mc:Choice xmlns:v="urn:schemas-microsoft-com:vml" Requires="v">
                <p:oleObj spid="_x0000_s14374" name="Visio" r:id="rId6" imgW="3409888" imgH="2619270" progId="Visio.Drawing.11">
                  <p:embed/>
                </p:oleObj>
              </mc:Choice>
              <mc:Fallback>
                <p:oleObj name="Visio" r:id="rId6" imgW="3409888" imgH="2619270" progId="Visio.Drawing.11">
                  <p:embed/>
                  <p:pic>
                    <p:nvPicPr>
                      <p:cNvPr id="2" name="Object 16"/>
                      <p:cNvPicPr/>
                      <p:nvPr/>
                    </p:nvPicPr>
                    <p:blipFill>
                      <a:blip r:embed="rId7"/>
                      <a:stretch>
                        <a:fillRect/>
                      </a:stretch>
                    </p:blipFill>
                    <p:spPr>
                      <a:xfrm>
                        <a:off x="4770008" y="2492922"/>
                        <a:ext cx="3533775" cy="3138488"/>
                      </a:xfrm>
                      <a:prstGeom prst="rect">
                        <a:avLst/>
                      </a:prstGeom>
                      <a:noFill/>
                      <a:ln w="38100">
                        <a:noFill/>
                        <a:miter/>
                      </a:ln>
                    </p:spPr>
                  </p:pic>
                </p:oleObj>
              </mc:Fallback>
            </mc:AlternateContent>
          </a:graphicData>
        </a:graphic>
      </p:graphicFrame>
      <p:cxnSp>
        <p:nvCxnSpPr>
          <p:cNvPr id="4" name="直接箭头连接符 3"/>
          <p:cNvCxnSpPr/>
          <p:nvPr/>
        </p:nvCxnSpPr>
        <p:spPr bwMode="auto">
          <a:xfrm flipV="1">
            <a:off x="1447800" y="3068970"/>
            <a:ext cx="387972" cy="504042"/>
          </a:xfrm>
          <a:prstGeom prst="straightConnector1">
            <a:avLst/>
          </a:prstGeom>
          <a:noFill/>
          <a:ln w="12700" cap="flat" cmpd="sng" algn="ctr">
            <a:noFill/>
            <a:prstDash val="solid"/>
            <a:round/>
            <a:headEnd type="none" w="med" len="med"/>
            <a:tailEnd type="triangle"/>
          </a:ln>
        </p:spPr>
      </p:cxnSp>
      <p:grpSp>
        <p:nvGrpSpPr>
          <p:cNvPr id="21" name="组合 20"/>
          <p:cNvGrpSpPr/>
          <p:nvPr/>
        </p:nvGrpSpPr>
        <p:grpSpPr>
          <a:xfrm>
            <a:off x="1562438" y="3068970"/>
            <a:ext cx="2145490" cy="963761"/>
            <a:chOff x="1562438" y="3068970"/>
            <a:chExt cx="2145490" cy="963761"/>
          </a:xfrm>
        </p:grpSpPr>
        <p:cxnSp>
          <p:nvCxnSpPr>
            <p:cNvPr id="7" name="直接箭头连接符 6"/>
            <p:cNvCxnSpPr/>
            <p:nvPr/>
          </p:nvCxnSpPr>
          <p:spPr bwMode="auto">
            <a:xfrm flipV="1">
              <a:off x="1562438" y="3068970"/>
              <a:ext cx="648054" cy="685070"/>
            </a:xfrm>
            <a:prstGeom prst="straightConnector1">
              <a:avLst/>
            </a:prstGeom>
            <a:noFill/>
            <a:ln w="19050" cap="flat" cmpd="sng" algn="ctr">
              <a:solidFill>
                <a:srgbClr val="FF0000"/>
              </a:solidFill>
              <a:prstDash val="solid"/>
              <a:round/>
              <a:headEnd type="none" w="med" len="med"/>
              <a:tailEnd type="triangle"/>
            </a:ln>
          </p:spPr>
        </p:cxnSp>
        <p:cxnSp>
          <p:nvCxnSpPr>
            <p:cNvPr id="11" name="直接箭头连接符 10"/>
            <p:cNvCxnSpPr/>
            <p:nvPr/>
          </p:nvCxnSpPr>
          <p:spPr bwMode="auto">
            <a:xfrm flipH="1">
              <a:off x="2248224" y="3337675"/>
              <a:ext cx="212623" cy="650661"/>
            </a:xfrm>
            <a:prstGeom prst="straightConnector1">
              <a:avLst/>
            </a:prstGeom>
            <a:noFill/>
            <a:ln w="19050" cap="flat" cmpd="sng" algn="ctr">
              <a:solidFill>
                <a:srgbClr val="FF0000"/>
              </a:solidFill>
              <a:prstDash val="solid"/>
              <a:round/>
              <a:headEnd type="none" w="med" len="med"/>
              <a:tailEnd type="triangle"/>
            </a:ln>
          </p:spPr>
        </p:cxnSp>
        <p:cxnSp>
          <p:nvCxnSpPr>
            <p:cNvPr id="15" name="直接箭头连接符 14"/>
            <p:cNvCxnSpPr/>
            <p:nvPr/>
          </p:nvCxnSpPr>
          <p:spPr bwMode="auto">
            <a:xfrm>
              <a:off x="2857618" y="3337675"/>
              <a:ext cx="130250" cy="650661"/>
            </a:xfrm>
            <a:prstGeom prst="straightConnector1">
              <a:avLst/>
            </a:prstGeom>
            <a:noFill/>
            <a:ln w="19050" cap="flat" cmpd="sng" algn="ctr">
              <a:solidFill>
                <a:srgbClr val="FF0000"/>
              </a:solidFill>
              <a:prstDash val="solid"/>
              <a:round/>
              <a:headEnd type="none" w="med" len="med"/>
              <a:tailEnd type="triangle"/>
            </a:ln>
          </p:spPr>
        </p:cxnSp>
        <p:cxnSp>
          <p:nvCxnSpPr>
            <p:cNvPr id="17" name="直接箭头连接符 16"/>
            <p:cNvCxnSpPr/>
            <p:nvPr/>
          </p:nvCxnSpPr>
          <p:spPr bwMode="auto">
            <a:xfrm>
              <a:off x="3184302" y="3337675"/>
              <a:ext cx="523626" cy="695056"/>
            </a:xfrm>
            <a:prstGeom prst="straightConnector1">
              <a:avLst/>
            </a:prstGeom>
            <a:noFill/>
            <a:ln w="19050" cap="flat" cmpd="sng" algn="ctr">
              <a:solidFill>
                <a:srgbClr val="FF0000"/>
              </a:solidFill>
              <a:prstDash val="solid"/>
              <a:round/>
              <a:headEnd type="none" w="med" len="med"/>
              <a:tailEnd type="triangle"/>
            </a:ln>
          </p:spPr>
        </p:cxnSp>
      </p:grpSp>
      <p:cxnSp>
        <p:nvCxnSpPr>
          <p:cNvPr id="20" name="直接箭头连接符 19"/>
          <p:cNvCxnSpPr/>
          <p:nvPr/>
        </p:nvCxnSpPr>
        <p:spPr bwMode="auto">
          <a:xfrm>
            <a:off x="7218209" y="3441807"/>
            <a:ext cx="450049" cy="546529"/>
          </a:xfrm>
          <a:prstGeom prst="straightConnector1">
            <a:avLst/>
          </a:prstGeom>
          <a:noFill/>
          <a:ln w="19050" cap="flat" cmpd="sng" algn="ctr">
            <a:solidFill>
              <a:srgbClr val="C00000"/>
            </a:solidFill>
            <a:prstDash val="solid"/>
            <a:round/>
            <a:headEnd type="none" w="med" len="med"/>
            <a:tailEnd type="triangle"/>
          </a:ln>
        </p:spPr>
      </p:cxnSp>
      <p:cxnSp>
        <p:nvCxnSpPr>
          <p:cNvPr id="22" name="直接箭头连接符 21"/>
          <p:cNvCxnSpPr/>
          <p:nvPr/>
        </p:nvCxnSpPr>
        <p:spPr bwMode="auto">
          <a:xfrm flipV="1">
            <a:off x="5508524" y="3140976"/>
            <a:ext cx="647605" cy="720060"/>
          </a:xfrm>
          <a:prstGeom prst="straightConnector1">
            <a:avLst/>
          </a:prstGeom>
          <a:noFill/>
          <a:ln w="19050" cap="flat" cmpd="sng" algn="ctr">
            <a:solidFill>
              <a:srgbClr val="00B050"/>
            </a:solidFill>
            <a:prstDash val="solid"/>
            <a:round/>
            <a:headEnd type="none" w="med" len="med"/>
            <a:tailEnd type="triangle"/>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8691" name="Rectangle 3"/>
          <p:cNvSpPr>
            <a:spLocks noGrp="1"/>
          </p:cNvSpPr>
          <p:nvPr>
            <p:ph idx="1" hasCustomPrompt="1"/>
          </p:nvPr>
        </p:nvSpPr>
        <p:spPr>
          <a:xfrm>
            <a:off x="684213" y="1196975"/>
            <a:ext cx="7772400" cy="4752975"/>
          </a:xfrm>
        </p:spPr>
        <p:txBody>
          <a:bodyPr vert="horz" wrap="square" lIns="91440" tIns="45720" rIns="91440" bIns="45720" anchor="t" anchorCtr="0"/>
          <a:lstStyle/>
          <a:p>
            <a:pPr marL="609600" indent="-609600" eaLnBrk="1" hangingPunct="1">
              <a:spcBef>
                <a:spcPts val="1200"/>
              </a:spcBef>
            </a:pPr>
            <a:r>
              <a:rPr lang="zh-CN" altLang="en-US" sz="2800" dirty="0"/>
              <a:t>计算机网络中，</a:t>
            </a:r>
            <a:r>
              <a:rPr lang="zh-CN" altLang="en-US" sz="2800" dirty="0">
                <a:solidFill>
                  <a:srgbClr val="FF0066"/>
                </a:solidFill>
              </a:rPr>
              <a:t>时延（</a:t>
            </a:r>
            <a:r>
              <a:rPr lang="en-US" altLang="zh-CN" sz="2800" dirty="0">
                <a:solidFill>
                  <a:srgbClr val="FF0066"/>
                </a:solidFill>
              </a:rPr>
              <a:t>delay</a:t>
            </a:r>
            <a:r>
              <a:rPr lang="zh-CN" altLang="en-US" sz="2800" dirty="0">
                <a:solidFill>
                  <a:srgbClr val="FF0066"/>
                </a:solidFill>
              </a:rPr>
              <a:t>）</a:t>
            </a:r>
            <a:r>
              <a:rPr lang="zh-CN" altLang="en-US" sz="2800" dirty="0"/>
              <a:t>指一个数据块（帧、分组、报文段等）从链路或网络的一端传送到另一端所需要的时间。 </a:t>
            </a:r>
          </a:p>
          <a:p>
            <a:pPr marL="609600" indent="-609600" eaLnBrk="1" hangingPunct="1">
              <a:spcBef>
                <a:spcPts val="1200"/>
              </a:spcBef>
            </a:pPr>
            <a:r>
              <a:rPr lang="zh-CN" altLang="en-US" sz="2800" dirty="0"/>
              <a:t>时延组成 </a:t>
            </a:r>
          </a:p>
          <a:p>
            <a:pPr marL="990600" lvl="1" indent="-533400" eaLnBrk="1" hangingPunct="1">
              <a:spcBef>
                <a:spcPts val="1200"/>
              </a:spcBef>
            </a:pPr>
            <a:r>
              <a:rPr lang="zh-CN" altLang="en-US" sz="2400" dirty="0"/>
              <a:t>发送时延（</a:t>
            </a:r>
            <a:r>
              <a:rPr lang="en-US" altLang="zh-CN" sz="2400" dirty="0"/>
              <a:t>transmission delay</a:t>
            </a:r>
            <a:r>
              <a:rPr lang="zh-CN" altLang="en-US" sz="2400" dirty="0"/>
              <a:t>，传输时延） </a:t>
            </a:r>
          </a:p>
          <a:p>
            <a:pPr marL="990600" lvl="1" indent="-533400" eaLnBrk="1" hangingPunct="1">
              <a:spcBef>
                <a:spcPts val="1200"/>
              </a:spcBef>
            </a:pPr>
            <a:r>
              <a:rPr lang="zh-CN" altLang="en-US" sz="2400" dirty="0"/>
              <a:t>传播时延（</a:t>
            </a:r>
            <a:r>
              <a:rPr lang="en-US" altLang="zh-CN" sz="2400" dirty="0"/>
              <a:t>propagation delay</a:t>
            </a:r>
            <a:r>
              <a:rPr lang="zh-CN" altLang="en-US" sz="2400" dirty="0"/>
              <a:t>） </a:t>
            </a:r>
          </a:p>
          <a:p>
            <a:pPr marL="990600" lvl="1" indent="-533400" eaLnBrk="1" hangingPunct="1">
              <a:spcBef>
                <a:spcPts val="1200"/>
              </a:spcBef>
            </a:pPr>
            <a:r>
              <a:rPr lang="zh-CN" altLang="en-US" sz="2400" dirty="0"/>
              <a:t>转发时延（</a:t>
            </a:r>
            <a:r>
              <a:rPr lang="en-US" altLang="zh-CN" sz="2400" dirty="0"/>
              <a:t>relay delay</a:t>
            </a:r>
            <a:r>
              <a:rPr lang="zh-CN" altLang="en-US" sz="2400" dirty="0"/>
              <a:t>）</a:t>
            </a:r>
          </a:p>
          <a:p>
            <a:pPr marL="1371600" lvl="2" indent="-457200" eaLnBrk="1" hangingPunct="1">
              <a:spcBef>
                <a:spcPts val="1200"/>
              </a:spcBef>
            </a:pPr>
            <a:r>
              <a:rPr lang="zh-CN" altLang="en-US" dirty="0">
                <a:solidFill>
                  <a:srgbClr val="FF0066"/>
                </a:solidFill>
              </a:rPr>
              <a:t>排队时延（</a:t>
            </a:r>
            <a:r>
              <a:rPr lang="en-US" altLang="zh-CN" dirty="0">
                <a:solidFill>
                  <a:srgbClr val="FF0066"/>
                </a:solidFill>
              </a:rPr>
              <a:t>queueing delay</a:t>
            </a:r>
            <a:r>
              <a:rPr lang="zh-CN" altLang="en-US" dirty="0">
                <a:solidFill>
                  <a:srgbClr val="FF0066"/>
                </a:solidFill>
              </a:rPr>
              <a:t>）</a:t>
            </a:r>
          </a:p>
          <a:p>
            <a:pPr marL="1371600" lvl="2" indent="-457200" eaLnBrk="1" hangingPunct="1">
              <a:spcBef>
                <a:spcPts val="1200"/>
              </a:spcBef>
            </a:pPr>
            <a:r>
              <a:rPr lang="zh-CN" altLang="en-US" dirty="0">
                <a:solidFill>
                  <a:srgbClr val="FF0066"/>
                </a:solidFill>
              </a:rPr>
              <a:t>处理时延 （</a:t>
            </a:r>
            <a:r>
              <a:rPr lang="en-US" altLang="zh-CN" dirty="0">
                <a:solidFill>
                  <a:srgbClr val="FF0066"/>
                </a:solidFill>
              </a:rPr>
              <a:t>processing delay</a:t>
            </a:r>
            <a:r>
              <a:rPr lang="zh-CN" altLang="en-US" dirty="0">
                <a:solidFill>
                  <a:srgbClr val="FF0066"/>
                </a:solidFill>
              </a:rPr>
              <a:t>）</a:t>
            </a:r>
          </a:p>
        </p:txBody>
      </p:sp>
      <p:sp>
        <p:nvSpPr>
          <p:cNvPr id="23553" name="Rectangle 2"/>
          <p:cNvSpPr>
            <a:spLocks noGrp="1"/>
          </p:cNvSpPr>
          <p:nvPr>
            <p:ph type="title"/>
          </p:nvPr>
        </p:nvSpPr>
        <p:spPr>
          <a:xfrm>
            <a:off x="1339850" y="188913"/>
            <a:ext cx="7696200" cy="720725"/>
          </a:xfrm>
        </p:spPr>
        <p:txBody>
          <a:bodyPr vert="horz" wrap="square" lIns="92075" tIns="46038" rIns="92075" bIns="46038" anchor="ctr" anchorCtr="0"/>
          <a:lstStyle/>
          <a:p>
            <a:pPr marL="838200" indent="-838200" algn="r" eaLnBrk="1" hangingPunct="1"/>
            <a:r>
              <a:rPr lang="en-US" altLang="zh-CN" sz="3600" dirty="0">
                <a:solidFill>
                  <a:schemeClr val="bg1"/>
                </a:solidFill>
              </a:rPr>
              <a:t>1.5 </a:t>
            </a:r>
            <a:r>
              <a:rPr lang="zh-CN" altLang="en-US" sz="3600" dirty="0">
                <a:solidFill>
                  <a:schemeClr val="bg1"/>
                </a:solidFill>
              </a:rPr>
              <a:t>计算机网络的性能指标</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9869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9869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9869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9869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9869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9869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9869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8691" grpId="0" uiExpand="1"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2"/>
          <p:cNvSpPr>
            <a:spLocks noGrp="1"/>
          </p:cNvSpPr>
          <p:nvPr>
            <p:ph type="title"/>
          </p:nvPr>
        </p:nvSpPr>
        <p:spPr>
          <a:xfrm>
            <a:off x="1907858" y="188913"/>
            <a:ext cx="7696200" cy="720725"/>
          </a:xfrm>
        </p:spPr>
        <p:txBody>
          <a:bodyPr vert="horz" wrap="square" lIns="92075" tIns="46038" rIns="92075" bIns="46038" anchor="ctr" anchorCtr="0"/>
          <a:lstStyle/>
          <a:p>
            <a:pPr eaLnBrk="1" hangingPunct="1"/>
            <a:r>
              <a:rPr lang="zh-CN" altLang="en-US" sz="3600" dirty="0">
                <a:solidFill>
                  <a:schemeClr val="bg1"/>
                </a:solidFill>
              </a:rPr>
              <a:t>时延带宽积</a:t>
            </a:r>
          </a:p>
        </p:txBody>
      </p:sp>
      <p:sp>
        <p:nvSpPr>
          <p:cNvPr id="512003" name="Rectangle 3"/>
          <p:cNvSpPr>
            <a:spLocks noGrp="1"/>
          </p:cNvSpPr>
          <p:nvPr>
            <p:ph idx="1" hasCustomPrompt="1"/>
          </p:nvPr>
        </p:nvSpPr>
        <p:spPr>
          <a:xfrm>
            <a:off x="755650" y="1412875"/>
            <a:ext cx="7772400" cy="4114800"/>
          </a:xfrm>
        </p:spPr>
        <p:txBody>
          <a:bodyPr vert="horz" wrap="square" lIns="91440" tIns="45720" rIns="91440" bIns="45720" anchor="t" anchorCtr="0"/>
          <a:lstStyle/>
          <a:p>
            <a:pPr marL="609600" indent="-609600" eaLnBrk="1" hangingPunct="1"/>
            <a:r>
              <a:rPr lang="zh-CN" altLang="en-US" dirty="0"/>
              <a:t>时延带宽积即</a:t>
            </a:r>
            <a:r>
              <a:rPr lang="zh-CN" altLang="en-US" dirty="0">
                <a:solidFill>
                  <a:srgbClr val="FF0066"/>
                </a:solidFill>
              </a:rPr>
              <a:t>传播时延</a:t>
            </a:r>
            <a:r>
              <a:rPr lang="zh-CN" altLang="en-US" dirty="0"/>
              <a:t>和</a:t>
            </a:r>
            <a:r>
              <a:rPr lang="zh-CN" altLang="en-US" dirty="0">
                <a:solidFill>
                  <a:srgbClr val="FF0066"/>
                </a:solidFill>
              </a:rPr>
              <a:t>带宽</a:t>
            </a:r>
            <a:r>
              <a:rPr lang="zh-CN" altLang="en-US" dirty="0"/>
              <a:t>的</a:t>
            </a:r>
            <a:r>
              <a:rPr lang="zh-CN" altLang="en-US" dirty="0">
                <a:solidFill>
                  <a:srgbClr val="FF0066"/>
                </a:solidFill>
              </a:rPr>
              <a:t>乘积</a:t>
            </a:r>
            <a:r>
              <a:rPr lang="zh-CN" altLang="en-US" dirty="0"/>
              <a:t>：</a:t>
            </a:r>
          </a:p>
          <a:p>
            <a:pPr marL="609600" indent="-609600" eaLnBrk="1" hangingPunct="1">
              <a:buNone/>
            </a:pPr>
            <a:r>
              <a:rPr lang="zh-CN" altLang="en-US" dirty="0"/>
              <a:t>	</a:t>
            </a:r>
            <a:r>
              <a:rPr lang="zh-CN" altLang="en-US" i="1" dirty="0"/>
              <a:t>时延带宽积＝传播时延</a:t>
            </a:r>
            <a:r>
              <a:rPr lang="en-US" altLang="zh-CN" i="1" dirty="0"/>
              <a:t>×</a:t>
            </a:r>
            <a:r>
              <a:rPr lang="zh-CN" altLang="en-US" i="1" dirty="0"/>
              <a:t>带宽</a:t>
            </a:r>
          </a:p>
          <a:p>
            <a:pPr marL="609600" indent="-609600" eaLnBrk="1" hangingPunct="1">
              <a:buNone/>
            </a:pPr>
            <a:endParaRPr lang="zh-CN" altLang="en-US" i="1" dirty="0"/>
          </a:p>
          <a:p>
            <a:pPr marL="609600" indent="-609600" eaLnBrk="1" hangingPunct="1"/>
            <a:r>
              <a:rPr lang="zh-CN" altLang="en-US" dirty="0"/>
              <a:t>时延带宽积又称为</a:t>
            </a:r>
            <a:r>
              <a:rPr lang="zh-CN" altLang="en-US" dirty="0">
                <a:solidFill>
                  <a:srgbClr val="FF0066"/>
                </a:solidFill>
              </a:rPr>
              <a:t>比特长度</a:t>
            </a:r>
            <a:r>
              <a:rPr lang="zh-CN" altLang="en-US" dirty="0"/>
              <a:t>，即以比特为单位的链路长度。</a:t>
            </a:r>
            <a:r>
              <a:rPr lang="zh-CN" altLang="en-US" sz="2800" dirty="0"/>
              <a:t>   </a:t>
            </a:r>
          </a:p>
          <a:p>
            <a:pPr marL="609600" indent="-609600" eaLnBrk="1" hangingPunct="1"/>
            <a:endParaRPr lang="en-US" altLang="zh-CN"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00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1200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1200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03" grpId="0" uiExpand="1"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2"/>
          <p:cNvSpPr>
            <a:spLocks noGrp="1"/>
          </p:cNvSpPr>
          <p:nvPr>
            <p:ph type="title"/>
          </p:nvPr>
        </p:nvSpPr>
        <p:spPr>
          <a:xfrm>
            <a:off x="1475423" y="188913"/>
            <a:ext cx="7696200" cy="720725"/>
          </a:xfrm>
        </p:spPr>
        <p:txBody>
          <a:bodyPr vert="horz" wrap="square" lIns="92075" tIns="46038" rIns="92075" bIns="46038" anchor="ctr" anchorCtr="0"/>
          <a:lstStyle/>
          <a:p>
            <a:pPr algn="ctr" eaLnBrk="1" hangingPunct="1">
              <a:buClrTx/>
              <a:buSzTx/>
              <a:buFontTx/>
            </a:pPr>
            <a:r>
              <a:rPr lang="zh-CN" altLang="en-US" sz="3600" dirty="0">
                <a:solidFill>
                  <a:schemeClr val="bg1"/>
                </a:solidFill>
              </a:rPr>
              <a:t>传输速率</a:t>
            </a:r>
          </a:p>
        </p:txBody>
      </p:sp>
      <p:sp>
        <p:nvSpPr>
          <p:cNvPr id="514051" name="Rectangle 3"/>
          <p:cNvSpPr>
            <a:spLocks noGrp="1"/>
          </p:cNvSpPr>
          <p:nvPr>
            <p:ph idx="1" hasCustomPrompt="1"/>
          </p:nvPr>
        </p:nvSpPr>
        <p:spPr>
          <a:xfrm>
            <a:off x="539750" y="1268413"/>
            <a:ext cx="8208963" cy="4967287"/>
          </a:xfrm>
        </p:spPr>
        <p:txBody>
          <a:bodyPr vert="horz" wrap="square" lIns="91440" tIns="45720" rIns="91440" bIns="45720" anchor="t" anchorCtr="0"/>
          <a:lstStyle/>
          <a:p>
            <a:pPr eaLnBrk="1" hangingPunct="1">
              <a:lnSpc>
                <a:spcPct val="120000"/>
              </a:lnSpc>
              <a:spcBef>
                <a:spcPts val="1200"/>
              </a:spcBef>
            </a:pPr>
            <a:r>
              <a:rPr lang="zh-CN" altLang="en-US" sz="2800" dirty="0">
                <a:solidFill>
                  <a:srgbClr val="FF0066"/>
                </a:solidFill>
              </a:rPr>
              <a:t>信息传输速率</a:t>
            </a:r>
            <a:r>
              <a:rPr lang="zh-CN" altLang="en-US" sz="2800" dirty="0"/>
              <a:t>是指每秒传输的</a:t>
            </a:r>
            <a:r>
              <a:rPr lang="zh-CN" altLang="en-US" sz="2800" dirty="0">
                <a:solidFill>
                  <a:srgbClr val="FF0066"/>
                </a:solidFill>
              </a:rPr>
              <a:t>编码前</a:t>
            </a:r>
            <a:r>
              <a:rPr lang="zh-CN" altLang="en-US" sz="2800" dirty="0"/>
              <a:t>的数字数据的二进制位数，单位是比特</a:t>
            </a:r>
            <a:r>
              <a:rPr lang="en-US" altLang="zh-CN" sz="2800" dirty="0"/>
              <a:t>/</a:t>
            </a:r>
            <a:r>
              <a:rPr lang="zh-CN" altLang="en-US" sz="2800" dirty="0"/>
              <a:t>秒，即</a:t>
            </a:r>
            <a:r>
              <a:rPr lang="en-US" altLang="zh-CN" sz="2800" dirty="0"/>
              <a:t>b/s</a:t>
            </a:r>
            <a:r>
              <a:rPr lang="zh-CN" altLang="en-US" sz="2800" dirty="0"/>
              <a:t>，</a:t>
            </a:r>
            <a:r>
              <a:rPr lang="en-US" altLang="zh-CN" sz="2800" dirty="0"/>
              <a:t>bps</a:t>
            </a:r>
            <a:r>
              <a:rPr lang="zh-CN" altLang="en-US" sz="2800" dirty="0"/>
              <a:t>；简称</a:t>
            </a:r>
            <a:r>
              <a:rPr lang="zh-CN" altLang="en-US" sz="2800" dirty="0">
                <a:solidFill>
                  <a:srgbClr val="FF0066"/>
                </a:solidFill>
              </a:rPr>
              <a:t>比特率</a:t>
            </a:r>
            <a:r>
              <a:rPr lang="zh-CN" altLang="en-US" sz="2800" dirty="0"/>
              <a:t>。 </a:t>
            </a:r>
          </a:p>
          <a:p>
            <a:pPr eaLnBrk="1" hangingPunct="1">
              <a:lnSpc>
                <a:spcPct val="120000"/>
              </a:lnSpc>
              <a:spcBef>
                <a:spcPts val="1200"/>
              </a:spcBef>
            </a:pPr>
            <a:r>
              <a:rPr lang="zh-CN" altLang="en-US" sz="2800" dirty="0"/>
              <a:t>计算机网络中，和信息传输速率具有同样含义的另一个术语称为</a:t>
            </a:r>
            <a:r>
              <a:rPr lang="zh-CN" altLang="en-US" sz="2800" dirty="0">
                <a:solidFill>
                  <a:srgbClr val="FF0066"/>
                </a:solidFill>
              </a:rPr>
              <a:t>带宽</a:t>
            </a:r>
            <a:r>
              <a:rPr lang="en-US" altLang="zh-CN" sz="2800" dirty="0">
                <a:solidFill>
                  <a:srgbClr val="FF0066"/>
                </a:solidFill>
              </a:rPr>
              <a:t>(bandwidth)</a:t>
            </a:r>
            <a:r>
              <a:rPr lang="zh-CN" altLang="en-US" sz="2800" dirty="0"/>
              <a:t>。 </a:t>
            </a:r>
          </a:p>
          <a:p>
            <a:pPr eaLnBrk="1" hangingPunct="1">
              <a:lnSpc>
                <a:spcPct val="120000"/>
              </a:lnSpc>
              <a:spcBef>
                <a:spcPts val="1200"/>
              </a:spcBef>
            </a:pPr>
            <a:r>
              <a:rPr lang="zh-CN" altLang="en-US" sz="2800" dirty="0"/>
              <a:t>数字数据经</a:t>
            </a:r>
            <a:r>
              <a:rPr lang="zh-CN" altLang="en-US" sz="2800" dirty="0">
                <a:solidFill>
                  <a:srgbClr val="FF0066"/>
                </a:solidFill>
              </a:rPr>
              <a:t>线路编码后</a:t>
            </a:r>
            <a:r>
              <a:rPr lang="zh-CN" altLang="en-US" sz="2800" dirty="0"/>
              <a:t>的传输信号在信道上的传输速率称为</a:t>
            </a:r>
            <a:r>
              <a:rPr lang="zh-CN" altLang="en-US" sz="2800" dirty="0">
                <a:solidFill>
                  <a:srgbClr val="FF0066"/>
                </a:solidFill>
              </a:rPr>
              <a:t>码元传输速率</a:t>
            </a:r>
            <a:r>
              <a:rPr lang="zh-CN" altLang="en-US" sz="2800" dirty="0"/>
              <a:t>，它是指每秒传输的码元数，即每秒钟传输信号波形变换的次数，单位是</a:t>
            </a:r>
            <a:r>
              <a:rPr lang="zh-CN" altLang="en-US" sz="2800" dirty="0">
                <a:solidFill>
                  <a:srgbClr val="FF0066"/>
                </a:solidFill>
              </a:rPr>
              <a:t>波特（Baud,symbol/s</a:t>
            </a:r>
            <a:r>
              <a:rPr lang="zh-CN" altLang="en-US" sz="2800" dirty="0"/>
              <a:t>）</a:t>
            </a:r>
            <a:br>
              <a:rPr lang="zh-CN" altLang="en-US" sz="2800" dirty="0"/>
            </a:br>
            <a:r>
              <a:rPr lang="zh-CN" altLang="en-US" sz="2800" dirty="0"/>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405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1405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14051">
                                            <p:txEl>
                                              <p:charRg st="97" end="17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2"/>
          <p:cNvSpPr>
            <a:spLocks noGrp="1"/>
          </p:cNvSpPr>
          <p:nvPr>
            <p:ph type="title"/>
          </p:nvPr>
        </p:nvSpPr>
        <p:spPr>
          <a:xfrm>
            <a:off x="1793875" y="433388"/>
            <a:ext cx="7288213" cy="384175"/>
          </a:xfrm>
        </p:spPr>
        <p:txBody>
          <a:bodyPr vert="horz" wrap="square" lIns="92075" tIns="46038" rIns="92075" bIns="46038" anchor="ctr" anchorCtr="0"/>
          <a:lstStyle/>
          <a:p>
            <a:pPr algn="ctr" eaLnBrk="1" hangingPunct="1">
              <a:buClrTx/>
              <a:buSzTx/>
              <a:buFontTx/>
            </a:pPr>
            <a:r>
              <a:rPr lang="zh-CN" altLang="en-US" sz="3600" dirty="0">
                <a:solidFill>
                  <a:schemeClr val="bg1"/>
                </a:solidFill>
              </a:rPr>
              <a:t> 波特率和比特率关系</a:t>
            </a:r>
          </a:p>
        </p:txBody>
      </p:sp>
      <p:sp>
        <p:nvSpPr>
          <p:cNvPr id="499715" name="Rectangle 3"/>
          <p:cNvSpPr>
            <a:spLocks noGrp="1"/>
          </p:cNvSpPr>
          <p:nvPr>
            <p:ph idx="1" hasCustomPrompt="1"/>
          </p:nvPr>
        </p:nvSpPr>
        <p:spPr>
          <a:xfrm>
            <a:off x="468313" y="836613"/>
            <a:ext cx="8675687" cy="4968875"/>
          </a:xfrm>
        </p:spPr>
        <p:txBody>
          <a:bodyPr vert="horz" wrap="square" lIns="91440" tIns="45720" rIns="91440" bIns="45720" anchor="t" anchorCtr="0"/>
          <a:lstStyle/>
          <a:p>
            <a:pPr eaLnBrk="1" hangingPunct="1">
              <a:lnSpc>
                <a:spcPct val="90000"/>
              </a:lnSpc>
              <a:buNone/>
            </a:pPr>
            <a:endParaRPr lang="en-US" altLang="zh-CN" sz="2800" b="0" dirty="0"/>
          </a:p>
          <a:p>
            <a:pPr eaLnBrk="1" hangingPunct="1">
              <a:lnSpc>
                <a:spcPct val="90000"/>
              </a:lnSpc>
            </a:pPr>
            <a:r>
              <a:rPr lang="zh-CN" altLang="en-US" sz="2800" dirty="0">
                <a:solidFill>
                  <a:srgbClr val="FF0066"/>
                </a:solidFill>
              </a:rPr>
              <a:t>波特</a:t>
            </a:r>
            <a:r>
              <a:rPr lang="en-US" altLang="zh-CN" sz="2800" dirty="0">
                <a:solidFill>
                  <a:schemeClr val="hlink"/>
                </a:solidFill>
              </a:rPr>
              <a:t>RB</a:t>
            </a:r>
            <a:r>
              <a:rPr lang="en-US" altLang="zh-CN" dirty="0">
                <a:solidFill>
                  <a:schemeClr val="hlink"/>
                </a:solidFill>
              </a:rPr>
              <a:t> </a:t>
            </a:r>
            <a:r>
              <a:rPr lang="en-US" altLang="zh-CN" sz="2800" dirty="0">
                <a:solidFill>
                  <a:srgbClr val="FF0066"/>
                </a:solidFill>
              </a:rPr>
              <a:t> </a:t>
            </a:r>
            <a:r>
              <a:rPr lang="zh-CN" altLang="en-US" sz="2800" dirty="0"/>
              <a:t>：信号波形每秒钟变化的次数，也称调制速率。</a:t>
            </a:r>
          </a:p>
          <a:p>
            <a:pPr eaLnBrk="1" hangingPunct="1">
              <a:lnSpc>
                <a:spcPct val="90000"/>
              </a:lnSpc>
            </a:pPr>
            <a:r>
              <a:rPr lang="zh-CN" altLang="en-US" sz="2800" dirty="0">
                <a:solidFill>
                  <a:srgbClr val="FF0066"/>
                </a:solidFill>
              </a:rPr>
              <a:t>比特率</a:t>
            </a:r>
            <a:r>
              <a:rPr lang="en-US" altLang="zh-CN" sz="2800" dirty="0">
                <a:solidFill>
                  <a:schemeClr val="hlink"/>
                </a:solidFill>
              </a:rPr>
              <a:t>Rb</a:t>
            </a:r>
            <a:r>
              <a:rPr lang="en-US" altLang="zh-CN" dirty="0">
                <a:solidFill>
                  <a:schemeClr val="hlink"/>
                </a:solidFill>
              </a:rPr>
              <a:t> </a:t>
            </a:r>
            <a:r>
              <a:rPr lang="zh-CN" altLang="en-US" sz="2800" dirty="0"/>
              <a:t>：每秒钟传送的二进制位数</a:t>
            </a:r>
            <a:r>
              <a:rPr lang="zh-CN" altLang="en-US" sz="2800" b="0" dirty="0"/>
              <a:t>。</a:t>
            </a:r>
          </a:p>
          <a:p>
            <a:pPr>
              <a:lnSpc>
                <a:spcPct val="120000"/>
              </a:lnSpc>
              <a:buClr>
                <a:srgbClr val="FF9900"/>
              </a:buClr>
              <a:buSzPct val="65000"/>
              <a:buNone/>
            </a:pPr>
            <a:r>
              <a:rPr lang="zh-CN" altLang="en-US" sz="2800" dirty="0">
                <a:solidFill>
                  <a:srgbClr val="003399"/>
                </a:solidFill>
              </a:rPr>
              <a:t>     一个信号往往可以携带多个二进制位，所以在固定的信息传输速率下，比特率往往大于波特。换句话说，一个码元中可以传送多个比特（</a:t>
            </a:r>
            <a:r>
              <a:rPr lang="en-US" altLang="zh-CN" sz="2800" dirty="0">
                <a:solidFill>
                  <a:srgbClr val="003399"/>
                </a:solidFill>
              </a:rPr>
              <a:t>bit</a:t>
            </a:r>
            <a:r>
              <a:rPr lang="zh-CN" altLang="en-US" sz="2800" dirty="0">
                <a:solidFill>
                  <a:srgbClr val="003399"/>
                </a:solidFill>
              </a:rPr>
              <a:t>）。</a:t>
            </a:r>
          </a:p>
          <a:p>
            <a:pPr lvl="1" eaLnBrk="1" hangingPunct="1">
              <a:lnSpc>
                <a:spcPct val="90000"/>
              </a:lnSpc>
              <a:buNone/>
            </a:pPr>
            <a:endParaRPr lang="zh-CN" altLang="en-US" sz="2400" b="0" dirty="0"/>
          </a:p>
          <a:p>
            <a:pPr lvl="1" eaLnBrk="1" hangingPunct="1">
              <a:lnSpc>
                <a:spcPct val="90000"/>
              </a:lnSpc>
              <a:buNone/>
            </a:pPr>
            <a:r>
              <a:rPr lang="zh-CN" altLang="en-US" dirty="0"/>
              <a:t>       </a:t>
            </a:r>
            <a:r>
              <a:rPr lang="en-US" altLang="zh-CN" dirty="0">
                <a:solidFill>
                  <a:schemeClr val="hlink"/>
                </a:solidFill>
              </a:rPr>
              <a:t>Rb= RB log</a:t>
            </a:r>
            <a:r>
              <a:rPr lang="en-US" altLang="zh-CN" baseline="-25000" dirty="0">
                <a:solidFill>
                  <a:schemeClr val="hlink"/>
                </a:solidFill>
              </a:rPr>
              <a:t>2</a:t>
            </a:r>
            <a:r>
              <a:rPr lang="en-US" altLang="zh-CN" dirty="0">
                <a:solidFill>
                  <a:schemeClr val="hlink"/>
                </a:solidFill>
              </a:rPr>
              <a:t> V  (V</a:t>
            </a:r>
            <a:r>
              <a:rPr lang="zh-CN" altLang="en-US" dirty="0">
                <a:solidFill>
                  <a:schemeClr val="hlink"/>
                </a:solidFill>
              </a:rPr>
              <a:t>为电平的级数</a:t>
            </a:r>
            <a:r>
              <a:rPr lang="en-US" altLang="zh-CN" dirty="0">
                <a:solidFill>
                  <a:schemeClr val="hlink"/>
                </a:solidFill>
              </a:rPr>
              <a:t>)</a:t>
            </a:r>
          </a:p>
          <a:p>
            <a:pPr lvl="1" eaLnBrk="1" hangingPunct="1">
              <a:lnSpc>
                <a:spcPct val="90000"/>
              </a:lnSpc>
              <a:buNone/>
            </a:pPr>
            <a:r>
              <a:rPr lang="en-US" altLang="zh-CN" dirty="0">
                <a:solidFill>
                  <a:schemeClr val="hlink"/>
                </a:solidFill>
              </a:rPr>
              <a:t>      </a:t>
            </a:r>
            <a:r>
              <a:rPr lang="zh-CN" altLang="en-US" dirty="0">
                <a:solidFill>
                  <a:schemeClr val="hlink"/>
                </a:solidFill>
              </a:rPr>
              <a:t>编码效率</a:t>
            </a:r>
            <a:r>
              <a:rPr lang="en-US" altLang="zh-CN" dirty="0">
                <a:solidFill>
                  <a:schemeClr val="hlink"/>
                </a:solidFill>
              </a:rPr>
              <a:t>=Rb /RB</a:t>
            </a:r>
          </a:p>
          <a:p>
            <a:pPr lvl="1" eaLnBrk="1" hangingPunct="1">
              <a:lnSpc>
                <a:spcPct val="90000"/>
              </a:lnSpc>
              <a:buNone/>
            </a:pPr>
            <a:endParaRPr lang="en-US" altLang="zh-CN" b="0" dirty="0">
              <a:solidFill>
                <a:schemeClr val="hlink"/>
              </a:solidFill>
            </a:endParaRPr>
          </a:p>
          <a:p>
            <a:pPr lvl="1" eaLnBrk="1" hangingPunct="1">
              <a:lnSpc>
                <a:spcPct val="90000"/>
              </a:lnSpc>
              <a:buNone/>
            </a:pPr>
            <a:endParaRPr lang="en-US" altLang="zh-CN"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9715">
                                            <p:txEl>
                                              <p:charRg st="1" end="3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99715">
                                            <p:txEl>
                                              <p:charRg st="30" end="5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99715">
                                            <p:txEl>
                                              <p:charRg st="50" end="12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99715">
                                            <p:txEl>
                                              <p:charRg st="123" end="15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99715">
                                            <p:txEl>
                                              <p:charRg st="155" end="17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2"/>
          <p:cNvSpPr>
            <a:spLocks noGrp="1"/>
          </p:cNvSpPr>
          <p:nvPr>
            <p:ph type="title"/>
          </p:nvPr>
        </p:nvSpPr>
        <p:spPr>
          <a:xfrm>
            <a:off x="1793875" y="433388"/>
            <a:ext cx="7288213" cy="384175"/>
          </a:xfrm>
        </p:spPr>
        <p:txBody>
          <a:bodyPr vert="horz" wrap="square" lIns="92075" tIns="46038" rIns="92075" bIns="46038" anchor="ctr" anchorCtr="0"/>
          <a:lstStyle/>
          <a:p>
            <a:pPr algn="ctr" eaLnBrk="1" hangingPunct="1">
              <a:buClrTx/>
              <a:buSzTx/>
              <a:buFontTx/>
            </a:pPr>
            <a:r>
              <a:rPr lang="zh-CN" altLang="en-US" sz="3600" dirty="0">
                <a:solidFill>
                  <a:schemeClr val="bg1"/>
                </a:solidFill>
              </a:rPr>
              <a:t> 带宽和吞吐量</a:t>
            </a:r>
            <a:r>
              <a:rPr lang="en-US" altLang="zh-CN" sz="3600" dirty="0">
                <a:solidFill>
                  <a:schemeClr val="bg1"/>
                </a:solidFill>
              </a:rPr>
              <a:t> </a:t>
            </a:r>
          </a:p>
        </p:txBody>
      </p:sp>
      <p:sp>
        <p:nvSpPr>
          <p:cNvPr id="499715" name="Rectangle 3"/>
          <p:cNvSpPr>
            <a:spLocks noGrp="1"/>
          </p:cNvSpPr>
          <p:nvPr>
            <p:ph idx="1" hasCustomPrompt="1"/>
          </p:nvPr>
        </p:nvSpPr>
        <p:spPr>
          <a:xfrm>
            <a:off x="468313" y="836613"/>
            <a:ext cx="8675687" cy="4968875"/>
          </a:xfrm>
        </p:spPr>
        <p:txBody>
          <a:bodyPr vert="horz" wrap="square" lIns="91440" tIns="45720" rIns="91440" bIns="45720" anchor="t" anchorCtr="0"/>
          <a:lstStyle/>
          <a:p>
            <a:pPr eaLnBrk="1" hangingPunct="1">
              <a:lnSpc>
                <a:spcPct val="90000"/>
              </a:lnSpc>
              <a:buNone/>
            </a:pPr>
            <a:endParaRPr lang="en-US" altLang="zh-CN" sz="2800" b="0" dirty="0"/>
          </a:p>
          <a:p>
            <a:pPr eaLnBrk="1" hangingPunct="1">
              <a:lnSpc>
                <a:spcPct val="90000"/>
              </a:lnSpc>
            </a:pPr>
            <a:r>
              <a:rPr lang="zh-CN" sz="2800" dirty="0">
                <a:solidFill>
                  <a:srgbClr val="FF0066"/>
                </a:solidFill>
              </a:rPr>
              <a:t>带宽</a:t>
            </a:r>
          </a:p>
          <a:p>
            <a:pPr marL="457200" lvl="1" indent="0" eaLnBrk="1" hangingPunct="1">
              <a:lnSpc>
                <a:spcPct val="90000"/>
              </a:lnSpc>
              <a:buNone/>
            </a:pPr>
            <a:r>
              <a:rPr lang="zh-CN" altLang="en-US" sz="2450" dirty="0"/>
              <a:t>带宽（bandwidth）在计算机网络领域中有两个含义：</a:t>
            </a:r>
          </a:p>
          <a:p>
            <a:pPr lvl="1" eaLnBrk="1" hangingPunct="1">
              <a:lnSpc>
                <a:spcPct val="90000"/>
              </a:lnSpc>
            </a:pPr>
            <a:r>
              <a:rPr lang="zh-CN" altLang="en-US" sz="2450" dirty="0"/>
              <a:t>信号具有的频带宽度（单位是赫兹，Hz）</a:t>
            </a:r>
          </a:p>
          <a:p>
            <a:pPr lvl="1" eaLnBrk="1" hangingPunct="1">
              <a:lnSpc>
                <a:spcPct val="90000"/>
              </a:lnSpc>
            </a:pPr>
            <a:r>
              <a:rPr lang="zh-CN" altLang="en-US" sz="2450" dirty="0"/>
              <a:t>信道的最大传输速率（单位是比特每秒，bps），表示网络（信道）的传输能力。</a:t>
            </a:r>
          </a:p>
          <a:p>
            <a:pPr lvl="1" eaLnBrk="1" hangingPunct="1">
              <a:lnSpc>
                <a:spcPct val="90000"/>
              </a:lnSpc>
            </a:pPr>
            <a:endParaRPr lang="zh-CN" altLang="en-US" sz="2450" dirty="0"/>
          </a:p>
          <a:p>
            <a:pPr eaLnBrk="1" hangingPunct="1">
              <a:lnSpc>
                <a:spcPct val="90000"/>
              </a:lnSpc>
            </a:pPr>
            <a:r>
              <a:rPr lang="zh-CN" sz="2800" dirty="0">
                <a:solidFill>
                  <a:srgbClr val="FF0066"/>
                </a:solidFill>
              </a:rPr>
              <a:t>吞吐量</a:t>
            </a:r>
            <a:r>
              <a:rPr lang="en-US" altLang="zh-CN" dirty="0">
                <a:solidFill>
                  <a:schemeClr val="hlink"/>
                </a:solidFill>
              </a:rPr>
              <a:t> </a:t>
            </a:r>
            <a:r>
              <a:rPr lang="zh-CN" altLang="en-US" sz="2800" dirty="0"/>
              <a:t>：单位时间内通过网络（或者信道、接口）的实际数据数量</a:t>
            </a:r>
            <a:r>
              <a:rPr lang="zh-CN" altLang="en-US" sz="2800" b="0" dirty="0"/>
              <a:t>。</a:t>
            </a:r>
          </a:p>
          <a:p>
            <a:pPr>
              <a:lnSpc>
                <a:spcPct val="120000"/>
              </a:lnSpc>
              <a:buClr>
                <a:srgbClr val="FF9900"/>
              </a:buClr>
              <a:buSzPct val="65000"/>
              <a:buNone/>
            </a:pPr>
            <a:r>
              <a:rPr lang="zh-CN" altLang="en-US" sz="2800" dirty="0">
                <a:solidFill>
                  <a:srgbClr val="003399"/>
                </a:solidFill>
              </a:rPr>
              <a:t>     </a:t>
            </a:r>
            <a:r>
              <a:rPr sz="2800" dirty="0">
                <a:solidFill>
                  <a:srgbClr val="003399"/>
                </a:solidFill>
              </a:rPr>
              <a:t>吞吐量 = </a:t>
            </a:r>
            <a:r>
              <a:rPr sz="2800" dirty="0" err="1" smtClean="0">
                <a:solidFill>
                  <a:srgbClr val="003399"/>
                </a:solidFill>
              </a:rPr>
              <a:t>传输的有效数据</a:t>
            </a:r>
            <a:r>
              <a:rPr lang="zh-CN" altLang="en-US" sz="2800" dirty="0">
                <a:solidFill>
                  <a:srgbClr val="003399"/>
                </a:solidFill>
              </a:rPr>
              <a:t>量</a:t>
            </a:r>
            <a:r>
              <a:rPr sz="2800" dirty="0" smtClean="0">
                <a:solidFill>
                  <a:srgbClr val="003399"/>
                </a:solidFill>
              </a:rPr>
              <a:t>/</a:t>
            </a:r>
            <a:r>
              <a:rPr sz="2800" dirty="0">
                <a:solidFill>
                  <a:srgbClr val="003399"/>
                </a:solidFill>
              </a:rPr>
              <a:t>传输的总时延 </a:t>
            </a:r>
            <a:endParaRPr lang="en-US" altLang="zh-CN"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9715">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9971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2"/>
          <p:cNvSpPr>
            <a:spLocks noGrp="1"/>
          </p:cNvSpPr>
          <p:nvPr>
            <p:ph type="title"/>
          </p:nvPr>
        </p:nvSpPr>
        <p:spPr>
          <a:xfrm>
            <a:off x="903288" y="188913"/>
            <a:ext cx="7696200" cy="720725"/>
          </a:xfrm>
        </p:spPr>
        <p:txBody>
          <a:bodyPr vert="horz" wrap="square" lIns="92075" tIns="46038" rIns="92075" bIns="46038" anchor="ctr" anchorCtr="0"/>
          <a:lstStyle/>
          <a:p>
            <a:pPr algn="ctr" eaLnBrk="1" hangingPunct="1">
              <a:buClrTx/>
              <a:buSzTx/>
              <a:buFontTx/>
            </a:pPr>
            <a:r>
              <a:rPr lang="zh-CN" altLang="en-US" sz="3600" dirty="0">
                <a:solidFill>
                  <a:schemeClr val="bg1"/>
                </a:solidFill>
              </a:rPr>
              <a:t>可靠性指标-误码率</a:t>
            </a:r>
          </a:p>
        </p:txBody>
      </p:sp>
      <p:sp>
        <p:nvSpPr>
          <p:cNvPr id="513027" name="Rectangle 3"/>
          <p:cNvSpPr>
            <a:spLocks noGrp="1"/>
          </p:cNvSpPr>
          <p:nvPr>
            <p:ph idx="1" hasCustomPrompt="1"/>
          </p:nvPr>
        </p:nvSpPr>
        <p:spPr>
          <a:xfrm>
            <a:off x="827088" y="1412875"/>
            <a:ext cx="7772400" cy="4679950"/>
          </a:xfrm>
        </p:spPr>
        <p:txBody>
          <a:bodyPr vert="horz" wrap="square" lIns="91440" tIns="45720" rIns="91440" bIns="45720" anchor="t" anchorCtr="0"/>
          <a:lstStyle/>
          <a:p>
            <a:pPr eaLnBrk="1" hangingPunct="1">
              <a:spcBef>
                <a:spcPts val="1200"/>
              </a:spcBef>
            </a:pPr>
            <a:r>
              <a:rPr lang="zh-CN" altLang="en-US" dirty="0">
                <a:solidFill>
                  <a:srgbClr val="FF0066"/>
                </a:solidFill>
              </a:rPr>
              <a:t>误码率</a:t>
            </a:r>
            <a:r>
              <a:rPr lang="zh-CN" altLang="en-US" dirty="0"/>
              <a:t>是指传输的数据被传错的概率</a:t>
            </a:r>
          </a:p>
          <a:p>
            <a:pPr eaLnBrk="1" hangingPunct="1">
              <a:spcBef>
                <a:spcPts val="1200"/>
              </a:spcBef>
            </a:pPr>
            <a:r>
              <a:rPr lang="zh-CN" altLang="en-US" dirty="0"/>
              <a:t>按照衡量误码率的基本单位不同，可分为：</a:t>
            </a:r>
          </a:p>
          <a:p>
            <a:pPr lvl="1" eaLnBrk="1" hangingPunct="1">
              <a:spcBef>
                <a:spcPts val="1200"/>
              </a:spcBef>
            </a:pPr>
            <a:r>
              <a:rPr lang="zh-CN" altLang="en-US" dirty="0"/>
              <a:t>误比特率</a:t>
            </a:r>
          </a:p>
          <a:p>
            <a:pPr lvl="1" eaLnBrk="1" hangingPunct="1">
              <a:spcBef>
                <a:spcPts val="1200"/>
              </a:spcBef>
              <a:buNone/>
            </a:pPr>
            <a:r>
              <a:rPr lang="zh-CN" altLang="en-US" dirty="0"/>
              <a:t>   误比特率＝ 传错的比特数 </a:t>
            </a:r>
            <a:r>
              <a:rPr lang="zh-CN" altLang="en-US" i="1" dirty="0"/>
              <a:t>⁄</a:t>
            </a:r>
            <a:r>
              <a:rPr lang="zh-CN" altLang="en-US" dirty="0"/>
              <a:t> 传输的比特总数</a:t>
            </a:r>
          </a:p>
          <a:p>
            <a:pPr lvl="1" eaLnBrk="1" hangingPunct="1">
              <a:spcBef>
                <a:spcPts val="1200"/>
              </a:spcBef>
            </a:pPr>
            <a:r>
              <a:rPr lang="zh-CN" altLang="en-US" dirty="0"/>
              <a:t>误帧率</a:t>
            </a:r>
          </a:p>
          <a:p>
            <a:pPr lvl="1" eaLnBrk="1" hangingPunct="1">
              <a:spcBef>
                <a:spcPts val="1200"/>
              </a:spcBef>
            </a:pPr>
            <a:r>
              <a:rPr lang="zh-CN" altLang="en-US" dirty="0"/>
              <a:t>误分组率</a:t>
            </a:r>
          </a:p>
          <a:p>
            <a:pPr lvl="1" eaLnBrk="1" hangingPunct="1">
              <a:spcBef>
                <a:spcPts val="1200"/>
              </a:spcBef>
            </a:pPr>
            <a:r>
              <a:rPr lang="en-US" altLang="zh-CN" dirty="0">
                <a:latin typeface="宋体" panose="02010600030101010101" pitchFamily="2" charset="-122"/>
              </a:rPr>
              <a:t>…</a:t>
            </a:r>
            <a:r>
              <a:rPr lang="en-US" altLang="zh-CN" dirty="0"/>
              <a:t> </a:t>
            </a:r>
            <a:r>
              <a:rPr lang="en-US" altLang="zh-CN" dirty="0">
                <a:latin typeface="宋体" panose="02010600030101010101" pitchFamily="2" charset="-122"/>
              </a:rPr>
              <a:t>…</a:t>
            </a:r>
            <a:r>
              <a:rPr lang="en-US" altLang="zh-CN" dirty="0"/>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302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13027">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13027">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1302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13027">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13027">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1302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027" grpId="0" uiExpand="1"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p:cNvSpPr>
            <a:spLocks noGrp="1"/>
          </p:cNvSpPr>
          <p:nvPr>
            <p:ph idx="1"/>
          </p:nvPr>
        </p:nvSpPr>
        <p:spPr>
          <a:xfrm>
            <a:off x="539750" y="1268413"/>
            <a:ext cx="8281988" cy="4495800"/>
          </a:xfrm>
        </p:spPr>
        <p:txBody>
          <a:bodyPr vert="horz" wrap="square" lIns="91440" tIns="45720" rIns="91440" bIns="45720" anchor="t" anchorCtr="0"/>
          <a:lstStyle/>
          <a:p>
            <a:pPr marL="0" indent="0" algn="just" eaLnBrk="1" hangingPunct="1">
              <a:lnSpc>
                <a:spcPct val="90000"/>
              </a:lnSpc>
              <a:buNone/>
            </a:pPr>
            <a:r>
              <a:rPr lang="zh-CN" dirty="0">
                <a:solidFill>
                  <a:srgbClr val="000066"/>
                </a:solidFill>
                <a:latin typeface="黑体" panose="02010609060101010101" pitchFamily="49" charset="-122"/>
                <a:ea typeface="黑体" panose="02010609060101010101" pitchFamily="49" charset="-122"/>
              </a:rPr>
              <a:t>计算机网络的几种典形应用</a:t>
            </a:r>
            <a:r>
              <a:rPr lang="en-US" altLang="zh-CN" dirty="0">
                <a:solidFill>
                  <a:srgbClr val="000066"/>
                </a:solidFill>
                <a:latin typeface="黑体" panose="02010609060101010101" pitchFamily="49" charset="-122"/>
                <a:ea typeface="黑体" panose="02010609060101010101" pitchFamily="49" charset="-122"/>
              </a:rPr>
              <a:t> </a:t>
            </a:r>
          </a:p>
          <a:p>
            <a:pPr marL="0" indent="0" algn="just" eaLnBrk="1" hangingPunct="1">
              <a:lnSpc>
                <a:spcPct val="90000"/>
              </a:lnSpc>
            </a:pPr>
            <a:r>
              <a:rPr lang="en-US" altLang="zh-CN" sz="2900" dirty="0">
                <a:solidFill>
                  <a:srgbClr val="003399"/>
                </a:solidFill>
              </a:rPr>
              <a:t>  </a:t>
            </a:r>
            <a:r>
              <a:rPr lang="zh-CN" altLang="en-US" sz="2900" dirty="0">
                <a:solidFill>
                  <a:srgbClr val="003399"/>
                </a:solidFill>
              </a:rPr>
              <a:t>企业信息化              </a:t>
            </a:r>
          </a:p>
          <a:p>
            <a:pPr marL="0" indent="0" algn="just" eaLnBrk="1" hangingPunct="1">
              <a:lnSpc>
                <a:spcPct val="90000"/>
              </a:lnSpc>
            </a:pPr>
            <a:r>
              <a:rPr lang="en-US" altLang="zh-CN" sz="2900" dirty="0">
                <a:solidFill>
                  <a:srgbClr val="003399"/>
                </a:solidFill>
              </a:rPr>
              <a:t>  </a:t>
            </a:r>
            <a:r>
              <a:rPr lang="zh-CN" altLang="en-US" sz="2900" dirty="0">
                <a:solidFill>
                  <a:srgbClr val="003399"/>
                </a:solidFill>
              </a:rPr>
              <a:t>电子商务</a:t>
            </a:r>
          </a:p>
          <a:p>
            <a:pPr marL="0" indent="0" algn="just" eaLnBrk="1" hangingPunct="1">
              <a:lnSpc>
                <a:spcPct val="90000"/>
              </a:lnSpc>
            </a:pPr>
            <a:r>
              <a:rPr lang="en-US" altLang="zh-CN" sz="2900" dirty="0">
                <a:solidFill>
                  <a:srgbClr val="003399"/>
                </a:solidFill>
              </a:rPr>
              <a:t>  </a:t>
            </a:r>
            <a:r>
              <a:rPr lang="zh-CN" altLang="en-US" sz="2900" dirty="0">
                <a:solidFill>
                  <a:srgbClr val="003399"/>
                </a:solidFill>
              </a:rPr>
              <a:t>信息发布与检索</a:t>
            </a:r>
          </a:p>
          <a:p>
            <a:pPr marL="0" indent="0" algn="just" eaLnBrk="1" hangingPunct="1">
              <a:lnSpc>
                <a:spcPct val="90000"/>
              </a:lnSpc>
            </a:pPr>
            <a:r>
              <a:rPr lang="en-US" altLang="zh-CN" sz="2900" dirty="0">
                <a:solidFill>
                  <a:srgbClr val="003399"/>
                </a:solidFill>
              </a:rPr>
              <a:t>  </a:t>
            </a:r>
            <a:r>
              <a:rPr lang="zh-CN" altLang="en-US" sz="2900" dirty="0">
                <a:solidFill>
                  <a:srgbClr val="003399"/>
                </a:solidFill>
              </a:rPr>
              <a:t>个人通信</a:t>
            </a:r>
          </a:p>
          <a:p>
            <a:pPr marL="0" indent="0" algn="just" eaLnBrk="1" hangingPunct="1">
              <a:lnSpc>
                <a:spcPct val="90000"/>
              </a:lnSpc>
            </a:pPr>
            <a:r>
              <a:rPr lang="en-US" altLang="zh-CN" sz="2900" dirty="0">
                <a:solidFill>
                  <a:srgbClr val="003399"/>
                </a:solidFill>
              </a:rPr>
              <a:t>  </a:t>
            </a:r>
            <a:r>
              <a:rPr lang="zh-CN" altLang="en-US" sz="2900" dirty="0">
                <a:solidFill>
                  <a:srgbClr val="003399"/>
                </a:solidFill>
              </a:rPr>
              <a:t>家庭</a:t>
            </a:r>
            <a:r>
              <a:rPr lang="zh-CN" altLang="en-US" sz="2900" dirty="0" smtClean="0">
                <a:solidFill>
                  <a:srgbClr val="003399"/>
                </a:solidFill>
              </a:rPr>
              <a:t>娱乐</a:t>
            </a:r>
            <a:endParaRPr lang="en-US" altLang="zh-CN" sz="2900" dirty="0" smtClean="0">
              <a:solidFill>
                <a:srgbClr val="003399"/>
              </a:solidFill>
            </a:endParaRPr>
          </a:p>
          <a:p>
            <a:pPr marL="0" indent="0" algn="just" eaLnBrk="1" hangingPunct="1">
              <a:lnSpc>
                <a:spcPct val="90000"/>
              </a:lnSpc>
            </a:pPr>
            <a:r>
              <a:rPr lang="en-US" altLang="zh-CN" dirty="0" smtClean="0"/>
              <a:t> </a:t>
            </a:r>
            <a:r>
              <a:rPr lang="zh-CN" altLang="zh-CN" dirty="0"/>
              <a:t>前沿应用拓展</a:t>
            </a:r>
            <a:r>
              <a:rPr lang="en-US" altLang="zh-CN" dirty="0"/>
              <a:t>  </a:t>
            </a:r>
            <a:endParaRPr lang="zh-CN" altLang="zh-CN" dirty="0"/>
          </a:p>
          <a:p>
            <a:pPr lvl="1"/>
            <a:r>
              <a:rPr lang="en-US" altLang="zh-CN" dirty="0" smtClean="0">
                <a:solidFill>
                  <a:srgbClr val="C00000"/>
                </a:solidFill>
              </a:rPr>
              <a:t> </a:t>
            </a:r>
            <a:r>
              <a:rPr lang="zh-CN" altLang="zh-CN" dirty="0">
                <a:solidFill>
                  <a:srgbClr val="C00000"/>
                </a:solidFill>
              </a:rPr>
              <a:t>数字</a:t>
            </a:r>
            <a:r>
              <a:rPr lang="zh-CN" altLang="zh-CN" dirty="0" smtClean="0">
                <a:solidFill>
                  <a:srgbClr val="C00000"/>
                </a:solidFill>
              </a:rPr>
              <a:t>孪生</a:t>
            </a:r>
            <a:r>
              <a:rPr lang="zh-CN" altLang="en-US" dirty="0" smtClean="0">
                <a:solidFill>
                  <a:srgbClr val="C00000"/>
                </a:solidFill>
              </a:rPr>
              <a:t>、</a:t>
            </a:r>
            <a:r>
              <a:rPr lang="zh-CN" altLang="zh-CN" dirty="0" smtClean="0">
                <a:solidFill>
                  <a:srgbClr val="C00000"/>
                </a:solidFill>
              </a:rPr>
              <a:t>元宇宙</a:t>
            </a:r>
            <a:r>
              <a:rPr lang="zh-CN" altLang="en-US" dirty="0" smtClean="0">
                <a:solidFill>
                  <a:srgbClr val="C00000"/>
                </a:solidFill>
              </a:rPr>
              <a:t>、</a:t>
            </a:r>
            <a:r>
              <a:rPr lang="zh-CN" altLang="zh-CN" dirty="0" smtClean="0">
                <a:solidFill>
                  <a:srgbClr val="C00000"/>
                </a:solidFill>
              </a:rPr>
              <a:t>量子通信</a:t>
            </a:r>
            <a:endParaRPr lang="en-US" altLang="zh-CN" sz="2500" dirty="0">
              <a:solidFill>
                <a:srgbClr val="C00000"/>
              </a:solidFill>
            </a:endParaRPr>
          </a:p>
        </p:txBody>
      </p:sp>
      <p:sp>
        <p:nvSpPr>
          <p:cNvPr id="57346" name="Rectangle 5"/>
          <p:cNvSpPr>
            <a:spLocks noGrp="1"/>
          </p:cNvSpPr>
          <p:nvPr>
            <p:ph type="title"/>
          </p:nvPr>
        </p:nvSpPr>
        <p:spPr>
          <a:xfrm>
            <a:off x="1447800" y="188913"/>
            <a:ext cx="7696200" cy="720725"/>
          </a:xfrm>
        </p:spPr>
        <p:txBody>
          <a:bodyPr vert="horz" wrap="square" lIns="92075" tIns="46038" rIns="92075" bIns="46038" anchor="ctr" anchorCtr="0"/>
          <a:lstStyle/>
          <a:p>
            <a:pPr algn="r" eaLnBrk="1" hangingPunct="1"/>
            <a:r>
              <a:rPr lang="en-US" altLang="zh-CN" sz="3200" dirty="0">
                <a:solidFill>
                  <a:schemeClr val="bg1"/>
                </a:solidFill>
              </a:rPr>
              <a:t>1.6 </a:t>
            </a:r>
            <a:r>
              <a:rPr lang="zh-CN" altLang="en-US" sz="3200" dirty="0">
                <a:solidFill>
                  <a:schemeClr val="bg1"/>
                </a:solidFill>
              </a:rPr>
              <a:t>计算机网络应用</a:t>
            </a: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p:cNvSpPr>
            <a:spLocks noGrp="1"/>
          </p:cNvSpPr>
          <p:nvPr>
            <p:ph idx="1"/>
          </p:nvPr>
        </p:nvSpPr>
        <p:spPr>
          <a:xfrm>
            <a:off x="539750" y="1268413"/>
            <a:ext cx="8281988" cy="4495800"/>
          </a:xfrm>
        </p:spPr>
        <p:txBody>
          <a:bodyPr vert="horz" wrap="square" lIns="91440" tIns="45720" rIns="91440" bIns="45720" anchor="t" anchorCtr="0"/>
          <a:lstStyle/>
          <a:p>
            <a:pPr marL="0" indent="0" algn="just" eaLnBrk="1" hangingPunct="1">
              <a:lnSpc>
                <a:spcPct val="90000"/>
              </a:lnSpc>
              <a:buNone/>
            </a:pPr>
            <a:r>
              <a:rPr lang="zh-CN" altLang="en-US" dirty="0">
                <a:solidFill>
                  <a:srgbClr val="000066"/>
                </a:solidFill>
                <a:latin typeface="黑体" panose="02010609060101010101" pitchFamily="49" charset="-122"/>
                <a:ea typeface="黑体" panose="02010609060101010101" pitchFamily="49" charset="-122"/>
              </a:rPr>
              <a:t>国际标准化组织</a:t>
            </a:r>
            <a:r>
              <a:rPr lang="en-US" altLang="zh-CN" dirty="0">
                <a:solidFill>
                  <a:srgbClr val="000066"/>
                </a:solidFill>
                <a:latin typeface="黑体" panose="02010609060101010101" pitchFamily="49" charset="-122"/>
                <a:ea typeface="黑体" panose="02010609060101010101" pitchFamily="49" charset="-122"/>
              </a:rPr>
              <a:t>— ISO </a:t>
            </a:r>
          </a:p>
          <a:p>
            <a:pPr marL="0" indent="0" algn="just" eaLnBrk="1" hangingPunct="1">
              <a:lnSpc>
                <a:spcPct val="90000"/>
              </a:lnSpc>
            </a:pPr>
            <a:r>
              <a:rPr lang="en-US" altLang="zh-CN" sz="2900" dirty="0">
                <a:solidFill>
                  <a:srgbClr val="003399"/>
                </a:solidFill>
                <a:latin typeface="黑体" panose="02010609060101010101" pitchFamily="49" charset="-122"/>
                <a:ea typeface="黑体" panose="02010609060101010101" pitchFamily="49" charset="-122"/>
              </a:rPr>
              <a:t>  1946</a:t>
            </a:r>
            <a:r>
              <a:rPr lang="zh-CN" altLang="en-US" sz="2900" dirty="0">
                <a:solidFill>
                  <a:srgbClr val="003399"/>
                </a:solidFill>
                <a:latin typeface="黑体" panose="02010609060101010101" pitchFamily="49" charset="-122"/>
                <a:ea typeface="黑体" panose="02010609060101010101" pitchFamily="49" charset="-122"/>
              </a:rPr>
              <a:t>年成立，负责制定各种国际标准。</a:t>
            </a:r>
          </a:p>
          <a:p>
            <a:pPr marL="0" indent="0" algn="just" eaLnBrk="1" hangingPunct="1">
              <a:lnSpc>
                <a:spcPct val="90000"/>
              </a:lnSpc>
            </a:pPr>
            <a:r>
              <a:rPr lang="zh-CN" altLang="en-US" sz="2900" dirty="0">
                <a:solidFill>
                  <a:srgbClr val="003399"/>
                </a:solidFill>
                <a:latin typeface="黑体" panose="02010609060101010101" pitchFamily="49" charset="-122"/>
                <a:ea typeface="黑体" panose="02010609060101010101" pitchFamily="49" charset="-122"/>
              </a:rPr>
              <a:t>  </a:t>
            </a:r>
            <a:r>
              <a:rPr lang="en-US" altLang="zh-CN" sz="2900" dirty="0">
                <a:solidFill>
                  <a:srgbClr val="003399"/>
                </a:solidFill>
                <a:latin typeface="黑体" panose="02010609060101010101" pitchFamily="49" charset="-122"/>
                <a:ea typeface="黑体" panose="02010609060101010101" pitchFamily="49" charset="-122"/>
              </a:rPr>
              <a:t>ISO </a:t>
            </a:r>
            <a:r>
              <a:rPr lang="zh-CN" altLang="en-US" sz="2900" dirty="0">
                <a:solidFill>
                  <a:srgbClr val="003399"/>
                </a:solidFill>
                <a:latin typeface="黑体" panose="02010609060101010101" pitchFamily="49" charset="-122"/>
                <a:ea typeface="黑体" panose="02010609060101010101" pitchFamily="49" charset="-122"/>
              </a:rPr>
              <a:t>有</a:t>
            </a:r>
            <a:r>
              <a:rPr lang="en-US" altLang="zh-CN" sz="2900" dirty="0">
                <a:solidFill>
                  <a:srgbClr val="003399"/>
                </a:solidFill>
                <a:latin typeface="黑体" panose="02010609060101010101" pitchFamily="49" charset="-122"/>
                <a:ea typeface="黑体" panose="02010609060101010101" pitchFamily="49" charset="-122"/>
              </a:rPr>
              <a:t>200</a:t>
            </a:r>
            <a:r>
              <a:rPr lang="zh-CN" altLang="en-US" sz="2900" dirty="0">
                <a:solidFill>
                  <a:srgbClr val="003399"/>
                </a:solidFill>
                <a:latin typeface="黑体" panose="02010609060101010101" pitchFamily="49" charset="-122"/>
                <a:ea typeface="黑体" panose="02010609060101010101" pitchFamily="49" charset="-122"/>
              </a:rPr>
              <a:t>多个技术委员会</a:t>
            </a:r>
            <a:r>
              <a:rPr lang="en-US" altLang="zh-CN" sz="2900" dirty="0">
                <a:solidFill>
                  <a:srgbClr val="003399"/>
                </a:solidFill>
                <a:latin typeface="黑体" panose="02010609060101010101" pitchFamily="49" charset="-122"/>
                <a:ea typeface="黑体" panose="02010609060101010101" pitchFamily="49" charset="-122"/>
              </a:rPr>
              <a:t>TC</a:t>
            </a:r>
            <a:r>
              <a:rPr lang="zh-CN" altLang="en-US" sz="2900" dirty="0">
                <a:solidFill>
                  <a:srgbClr val="003399"/>
                </a:solidFill>
                <a:latin typeface="黑体" panose="02010609060101010101" pitchFamily="49" charset="-122"/>
                <a:ea typeface="黑体" panose="02010609060101010101" pitchFamily="49" charset="-122"/>
              </a:rPr>
              <a:t>，每个技术委员会下设若干分委员会</a:t>
            </a:r>
            <a:r>
              <a:rPr lang="en-US" altLang="zh-CN" sz="2900" dirty="0">
                <a:solidFill>
                  <a:srgbClr val="003399"/>
                </a:solidFill>
                <a:latin typeface="黑体" panose="02010609060101010101" pitchFamily="49" charset="-122"/>
                <a:ea typeface="黑体" panose="02010609060101010101" pitchFamily="49" charset="-122"/>
              </a:rPr>
              <a:t>SC</a:t>
            </a:r>
            <a:r>
              <a:rPr lang="zh-CN" altLang="en-US" sz="2900" dirty="0">
                <a:solidFill>
                  <a:srgbClr val="003399"/>
                </a:solidFill>
                <a:latin typeface="黑体" panose="02010609060101010101" pitchFamily="49" charset="-122"/>
                <a:ea typeface="黑体" panose="02010609060101010101" pitchFamily="49" charset="-122"/>
              </a:rPr>
              <a:t>，每个分委员会由由若干工作组</a:t>
            </a:r>
            <a:r>
              <a:rPr lang="en-US" altLang="zh-CN" sz="2900" dirty="0">
                <a:solidFill>
                  <a:srgbClr val="003399"/>
                </a:solidFill>
                <a:latin typeface="黑体" panose="02010609060101010101" pitchFamily="49" charset="-122"/>
                <a:ea typeface="黑体" panose="02010609060101010101" pitchFamily="49" charset="-122"/>
              </a:rPr>
              <a:t>WG </a:t>
            </a:r>
            <a:r>
              <a:rPr lang="zh-CN" altLang="en-US" sz="2900" dirty="0">
                <a:solidFill>
                  <a:srgbClr val="003399"/>
                </a:solidFill>
                <a:latin typeface="黑体" panose="02010609060101010101" pitchFamily="49" charset="-122"/>
                <a:ea typeface="黑体" panose="02010609060101010101" pitchFamily="49" charset="-122"/>
              </a:rPr>
              <a:t>组成。</a:t>
            </a:r>
          </a:p>
          <a:p>
            <a:pPr marL="0" indent="0" eaLnBrk="1" hangingPunct="1">
              <a:lnSpc>
                <a:spcPct val="90000"/>
              </a:lnSpc>
              <a:buNone/>
            </a:pPr>
            <a:r>
              <a:rPr lang="zh-CN" altLang="en-US" sz="2900" dirty="0">
                <a:solidFill>
                  <a:srgbClr val="003399"/>
                </a:solidFill>
                <a:latin typeface="黑体" panose="02010609060101010101" pitchFamily="49" charset="-122"/>
                <a:ea typeface="黑体" panose="02010609060101010101" pitchFamily="49" charset="-122"/>
              </a:rPr>
              <a:t>     例如：</a:t>
            </a:r>
            <a:r>
              <a:rPr lang="en-US" altLang="zh-CN" sz="2900" dirty="0">
                <a:solidFill>
                  <a:srgbClr val="003399"/>
                </a:solidFill>
                <a:latin typeface="黑体" panose="02010609060101010101" pitchFamily="49" charset="-122"/>
                <a:ea typeface="黑体" panose="02010609060101010101" pitchFamily="49" charset="-122"/>
              </a:rPr>
              <a:t>TC97 - </a:t>
            </a:r>
            <a:r>
              <a:rPr lang="zh-CN" altLang="en-US" sz="2900" dirty="0">
                <a:solidFill>
                  <a:srgbClr val="003399"/>
                </a:solidFill>
                <a:latin typeface="黑体" panose="02010609060101010101" pitchFamily="49" charset="-122"/>
                <a:ea typeface="黑体" panose="02010609060101010101" pitchFamily="49" charset="-122"/>
              </a:rPr>
              <a:t>计算机和信息处理</a:t>
            </a:r>
          </a:p>
          <a:p>
            <a:pPr marL="0" indent="0" eaLnBrk="1" hangingPunct="1">
              <a:lnSpc>
                <a:spcPct val="90000"/>
              </a:lnSpc>
              <a:buNone/>
            </a:pPr>
            <a:r>
              <a:rPr lang="zh-CN" altLang="en-US" sz="2900" dirty="0">
                <a:solidFill>
                  <a:srgbClr val="003399"/>
                </a:solidFill>
                <a:latin typeface="黑体" panose="02010609060101010101" pitchFamily="49" charset="-122"/>
                <a:ea typeface="黑体" panose="02010609060101010101" pitchFamily="49" charset="-122"/>
              </a:rPr>
              <a:t>         </a:t>
            </a:r>
            <a:r>
              <a:rPr lang="en-US" altLang="zh-CN" sz="2900" dirty="0">
                <a:solidFill>
                  <a:srgbClr val="003399"/>
                </a:solidFill>
                <a:latin typeface="黑体" panose="02010609060101010101" pitchFamily="49" charset="-122"/>
                <a:ea typeface="黑体" panose="02010609060101010101" pitchFamily="49" charset="-122"/>
              </a:rPr>
              <a:t>TC97/SC21/WG1 - OSI </a:t>
            </a:r>
            <a:r>
              <a:rPr lang="zh-CN" altLang="en-US" sz="2900" dirty="0">
                <a:solidFill>
                  <a:srgbClr val="003399"/>
                </a:solidFill>
                <a:latin typeface="黑体" panose="02010609060101010101" pitchFamily="49" charset="-122"/>
                <a:ea typeface="黑体" panose="02010609060101010101" pitchFamily="49" charset="-122"/>
              </a:rPr>
              <a:t>体系结构、概念</a:t>
            </a:r>
          </a:p>
          <a:p>
            <a:pPr marL="0" indent="0" eaLnBrk="1" hangingPunct="1">
              <a:lnSpc>
                <a:spcPct val="90000"/>
              </a:lnSpc>
              <a:buNone/>
            </a:pPr>
            <a:r>
              <a:rPr lang="zh-CN" altLang="en-US" sz="2900" dirty="0">
                <a:solidFill>
                  <a:srgbClr val="003399"/>
                </a:solidFill>
                <a:latin typeface="黑体" panose="02010609060101010101" pitchFamily="49" charset="-122"/>
                <a:ea typeface="黑体" panose="02010609060101010101" pitchFamily="49" charset="-122"/>
              </a:rPr>
              <a:t>                 性方案和形式描述</a:t>
            </a:r>
          </a:p>
          <a:p>
            <a:pPr marL="0" indent="0" eaLnBrk="1" hangingPunct="1">
              <a:lnSpc>
                <a:spcPct val="90000"/>
              </a:lnSpc>
              <a:buNone/>
            </a:pPr>
            <a:r>
              <a:rPr lang="zh-CN" altLang="en-US" sz="2900" dirty="0">
                <a:solidFill>
                  <a:srgbClr val="003399"/>
                </a:solidFill>
              </a:rPr>
              <a:t>                 </a:t>
            </a:r>
          </a:p>
        </p:txBody>
      </p:sp>
      <p:sp>
        <p:nvSpPr>
          <p:cNvPr id="57346" name="Rectangle 5"/>
          <p:cNvSpPr>
            <a:spLocks noGrp="1"/>
          </p:cNvSpPr>
          <p:nvPr>
            <p:ph type="title"/>
          </p:nvPr>
        </p:nvSpPr>
        <p:spPr>
          <a:xfrm>
            <a:off x="1447800" y="188913"/>
            <a:ext cx="7696200" cy="720725"/>
          </a:xfrm>
        </p:spPr>
        <p:txBody>
          <a:bodyPr vert="horz" wrap="square" lIns="92075" tIns="46038" rIns="92075" bIns="46038" anchor="ctr" anchorCtr="0"/>
          <a:lstStyle/>
          <a:p>
            <a:pPr algn="r" eaLnBrk="1" hangingPunct="1"/>
            <a:r>
              <a:rPr lang="en-US" altLang="zh-CN" sz="3200" dirty="0">
                <a:solidFill>
                  <a:schemeClr val="bg1"/>
                </a:solidFill>
              </a:rPr>
              <a:t>1.7 </a:t>
            </a:r>
            <a:r>
              <a:rPr lang="zh-CN" altLang="en-US" sz="3200" dirty="0">
                <a:solidFill>
                  <a:schemeClr val="bg1"/>
                </a:solidFill>
              </a:rPr>
              <a:t>计算机网络相关国际标准化组织</a:t>
            </a: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2"/>
          <p:cNvSpPr>
            <a:spLocks noGrp="1"/>
          </p:cNvSpPr>
          <p:nvPr>
            <p:ph type="title"/>
          </p:nvPr>
        </p:nvSpPr>
        <p:spPr>
          <a:xfrm>
            <a:off x="2122488" y="404813"/>
            <a:ext cx="7021512" cy="384175"/>
          </a:xfrm>
        </p:spPr>
        <p:txBody>
          <a:bodyPr vert="horz" wrap="square" lIns="92075" tIns="46038" rIns="92075" bIns="46038" anchor="ctr" anchorCtr="0"/>
          <a:lstStyle/>
          <a:p>
            <a:pPr algn="r" eaLnBrk="1" hangingPunct="1"/>
            <a:r>
              <a:rPr lang="zh-CN" altLang="en-US" sz="3200" dirty="0">
                <a:solidFill>
                  <a:schemeClr val="bg1"/>
                </a:solidFill>
              </a:rPr>
              <a:t>电信标准化组织</a:t>
            </a:r>
          </a:p>
        </p:txBody>
      </p:sp>
      <p:sp>
        <p:nvSpPr>
          <p:cNvPr id="59394" name="Rectangle 3"/>
          <p:cNvSpPr>
            <a:spLocks noGrp="1"/>
          </p:cNvSpPr>
          <p:nvPr>
            <p:ph idx="1"/>
          </p:nvPr>
        </p:nvSpPr>
        <p:spPr>
          <a:xfrm>
            <a:off x="0" y="1341438"/>
            <a:ext cx="8686800" cy="4495800"/>
          </a:xfrm>
        </p:spPr>
        <p:txBody>
          <a:bodyPr vert="horz" wrap="square" lIns="91440" tIns="45720" rIns="91440" bIns="45720" anchor="t" anchorCtr="0"/>
          <a:lstStyle/>
          <a:p>
            <a:pPr marL="990600" lvl="1" indent="-533400" eaLnBrk="1" hangingPunct="1">
              <a:buNone/>
            </a:pPr>
            <a:r>
              <a:rPr lang="zh-CN" altLang="en-US" sz="3200" dirty="0">
                <a:solidFill>
                  <a:srgbClr val="000066"/>
                </a:solidFill>
                <a:latin typeface="黑体" panose="02010609060101010101" pitchFamily="49" charset="-122"/>
                <a:ea typeface="黑体" panose="02010609060101010101" pitchFamily="49" charset="-122"/>
              </a:rPr>
              <a:t>国际电信联盟</a:t>
            </a:r>
            <a:r>
              <a:rPr lang="en-US" altLang="zh-CN" sz="3200" dirty="0">
                <a:solidFill>
                  <a:srgbClr val="000066"/>
                </a:solidFill>
                <a:latin typeface="黑体" panose="02010609060101010101" pitchFamily="49" charset="-122"/>
                <a:ea typeface="黑体" panose="02010609060101010101" pitchFamily="49" charset="-122"/>
              </a:rPr>
              <a:t>ITU</a:t>
            </a:r>
          </a:p>
          <a:p>
            <a:pPr marL="990600" lvl="1" indent="-533400" eaLnBrk="1" hangingPunct="1"/>
            <a:r>
              <a:rPr lang="en-US" altLang="zh-CN" sz="2900" dirty="0">
                <a:latin typeface="黑体" panose="02010609060101010101" pitchFamily="49" charset="-122"/>
                <a:ea typeface="黑体" panose="02010609060101010101" pitchFamily="49" charset="-122"/>
              </a:rPr>
              <a:t>1865</a:t>
            </a:r>
            <a:r>
              <a:rPr lang="zh-CN" altLang="en-US" sz="2900" dirty="0">
                <a:latin typeface="黑体" panose="02010609060101010101" pitchFamily="49" charset="-122"/>
                <a:ea typeface="黑体" panose="02010609060101010101" pitchFamily="49" charset="-122"/>
              </a:rPr>
              <a:t>年成立，</a:t>
            </a:r>
            <a:r>
              <a:rPr lang="en-US" altLang="zh-CN" sz="2900" dirty="0">
                <a:latin typeface="黑体" panose="02010609060101010101" pitchFamily="49" charset="-122"/>
                <a:ea typeface="黑体" panose="02010609060101010101" pitchFamily="49" charset="-122"/>
              </a:rPr>
              <a:t>1947</a:t>
            </a:r>
            <a:r>
              <a:rPr lang="zh-CN" altLang="en-US" sz="2900" dirty="0">
                <a:latin typeface="黑体" panose="02010609060101010101" pitchFamily="49" charset="-122"/>
                <a:ea typeface="黑体" panose="02010609060101010101" pitchFamily="49" charset="-122"/>
              </a:rPr>
              <a:t>年 </a:t>
            </a:r>
            <a:r>
              <a:rPr lang="en-US" altLang="zh-CN" sz="2900" dirty="0">
                <a:latin typeface="黑体" panose="02010609060101010101" pitchFamily="49" charset="-122"/>
                <a:ea typeface="黑体" panose="02010609060101010101" pitchFamily="49" charset="-122"/>
              </a:rPr>
              <a:t>ITU </a:t>
            </a:r>
            <a:r>
              <a:rPr lang="zh-CN" altLang="en-US" sz="2900" dirty="0">
                <a:latin typeface="黑体" panose="02010609060101010101" pitchFamily="49" charset="-122"/>
                <a:ea typeface="黑体" panose="02010609060101010101" pitchFamily="49" charset="-122"/>
              </a:rPr>
              <a:t>成为联合国的一个组织，</a:t>
            </a:r>
          </a:p>
          <a:p>
            <a:pPr marL="990600" lvl="1" indent="-533400" eaLnBrk="1" hangingPunct="1"/>
            <a:r>
              <a:rPr lang="en-US" altLang="zh-CN" sz="2900" dirty="0">
                <a:latin typeface="黑体" panose="02010609060101010101" pitchFamily="49" charset="-122"/>
                <a:ea typeface="黑体" panose="02010609060101010101" pitchFamily="49" charset="-122"/>
              </a:rPr>
              <a:t>ITU</a:t>
            </a:r>
            <a:r>
              <a:rPr lang="zh-CN" altLang="en-US" sz="2900" dirty="0">
                <a:latin typeface="黑体" panose="02010609060101010101" pitchFamily="49" charset="-122"/>
                <a:ea typeface="黑体" panose="02010609060101010101" pitchFamily="49" charset="-122"/>
              </a:rPr>
              <a:t>由三部分组成：</a:t>
            </a:r>
          </a:p>
          <a:p>
            <a:pPr marL="990600" lvl="1" indent="-533400" eaLnBrk="1" hangingPunct="1">
              <a:buNone/>
            </a:pPr>
            <a:r>
              <a:rPr lang="zh-CN" altLang="en-US" sz="2900" dirty="0">
                <a:latin typeface="黑体" panose="02010609060101010101" pitchFamily="49" charset="-122"/>
                <a:ea typeface="黑体" panose="02010609060101010101" pitchFamily="49" charset="-122"/>
              </a:rPr>
              <a:t>	     </a:t>
            </a:r>
            <a:r>
              <a:rPr lang="en-US" altLang="zh-CN" sz="2900" dirty="0">
                <a:latin typeface="黑体" panose="02010609060101010101" pitchFamily="49" charset="-122"/>
                <a:ea typeface="黑体" panose="02010609060101010101" pitchFamily="49" charset="-122"/>
              </a:rPr>
              <a:t>ITU- R</a:t>
            </a:r>
            <a:r>
              <a:rPr lang="zh-CN" altLang="en-US" sz="2900" dirty="0">
                <a:latin typeface="黑体" panose="02010609060101010101" pitchFamily="49" charset="-122"/>
                <a:ea typeface="黑体" panose="02010609060101010101" pitchFamily="49" charset="-122"/>
              </a:rPr>
              <a:t>：无线通信</a:t>
            </a:r>
          </a:p>
          <a:p>
            <a:pPr marL="990600" lvl="1" indent="-533400" eaLnBrk="1" hangingPunct="1">
              <a:buNone/>
            </a:pPr>
            <a:r>
              <a:rPr lang="zh-CN" altLang="en-US" sz="2900" dirty="0">
                <a:latin typeface="黑体" panose="02010609060101010101" pitchFamily="49" charset="-122"/>
                <a:ea typeface="黑体" panose="02010609060101010101" pitchFamily="49" charset="-122"/>
              </a:rPr>
              <a:t>	     </a:t>
            </a:r>
            <a:r>
              <a:rPr lang="en-US" altLang="zh-CN" sz="2900" dirty="0">
                <a:latin typeface="黑体" panose="02010609060101010101" pitchFamily="49" charset="-122"/>
                <a:ea typeface="黑体" panose="02010609060101010101" pitchFamily="49" charset="-122"/>
              </a:rPr>
              <a:t>ITU- T</a:t>
            </a:r>
            <a:r>
              <a:rPr lang="zh-CN" altLang="en-US" sz="2900" dirty="0">
                <a:latin typeface="黑体" panose="02010609060101010101" pitchFamily="49" charset="-122"/>
                <a:ea typeface="黑体" panose="02010609060101010101" pitchFamily="49" charset="-122"/>
              </a:rPr>
              <a:t>：电信标准（早期被称为</a:t>
            </a:r>
            <a:r>
              <a:rPr lang="en-US" altLang="zh-CN" sz="2900" dirty="0">
                <a:latin typeface="黑体" panose="02010609060101010101" pitchFamily="49" charset="-122"/>
                <a:ea typeface="黑体" panose="02010609060101010101" pitchFamily="49" charset="-122"/>
              </a:rPr>
              <a:t>CCITT</a:t>
            </a:r>
            <a:r>
              <a:rPr lang="zh-CN" altLang="en-US" sz="2900" dirty="0">
                <a:latin typeface="黑体" panose="02010609060101010101" pitchFamily="49" charset="-122"/>
                <a:ea typeface="黑体" panose="02010609060101010101" pitchFamily="49" charset="-122"/>
              </a:rPr>
              <a:t>）</a:t>
            </a:r>
          </a:p>
          <a:p>
            <a:pPr marL="990600" lvl="1" indent="-533400" eaLnBrk="1" hangingPunct="1">
              <a:buNone/>
            </a:pPr>
            <a:r>
              <a:rPr lang="zh-CN" altLang="en-US" sz="2900" dirty="0">
                <a:latin typeface="黑体" panose="02010609060101010101" pitchFamily="49" charset="-122"/>
                <a:ea typeface="黑体" panose="02010609060101010101" pitchFamily="49" charset="-122"/>
              </a:rPr>
              <a:t>	     </a:t>
            </a:r>
            <a:r>
              <a:rPr lang="en-US" altLang="zh-CN" sz="2900" dirty="0">
                <a:latin typeface="黑体" panose="02010609060101010101" pitchFamily="49" charset="-122"/>
                <a:ea typeface="黑体" panose="02010609060101010101" pitchFamily="49" charset="-122"/>
              </a:rPr>
              <a:t>ITU- D</a:t>
            </a:r>
            <a:r>
              <a:rPr lang="zh-CN" altLang="en-US" sz="2900" dirty="0">
                <a:latin typeface="黑体" panose="02010609060101010101" pitchFamily="49" charset="-122"/>
                <a:ea typeface="黑体" panose="02010609060101010101" pitchFamily="49" charset="-122"/>
              </a:rPr>
              <a:t>：开发</a:t>
            </a:r>
          </a:p>
        </p:txBody>
      </p:sp>
      <p:sp>
        <p:nvSpPr>
          <p:cNvPr id="59395" name="Line 4"/>
          <p:cNvSpPr/>
          <p:nvPr/>
        </p:nvSpPr>
        <p:spPr>
          <a:xfrm>
            <a:off x="1042988" y="5589588"/>
            <a:ext cx="7162800" cy="0"/>
          </a:xfrm>
          <a:prstGeom prst="line">
            <a:avLst/>
          </a:prstGeom>
          <a:ln w="9525" cap="flat" cmpd="sng">
            <a:solidFill>
              <a:schemeClr val="tx1"/>
            </a:solidFill>
            <a:prstDash val="solid"/>
            <a:round/>
            <a:headEnd type="none" w="med" len="med"/>
            <a:tailEnd type="none" w="med" len="med"/>
          </a:ln>
        </p:spPr>
      </p:sp>
      <p:sp>
        <p:nvSpPr>
          <p:cNvPr id="59396" name="Rectangle 5"/>
          <p:cNvSpPr/>
          <p:nvPr/>
        </p:nvSpPr>
        <p:spPr>
          <a:xfrm>
            <a:off x="1042988" y="5734050"/>
            <a:ext cx="6407150" cy="396875"/>
          </a:xfrm>
          <a:prstGeom prst="rect">
            <a:avLst/>
          </a:prstGeom>
          <a:noFill/>
          <a:ln w="9525">
            <a:noFill/>
          </a:ln>
        </p:spPr>
        <p:txBody>
          <a:bodyPr wrap="none" anchor="t" anchorCtr="0">
            <a:spAutoFit/>
          </a:bodyPr>
          <a:lstStyle/>
          <a:p>
            <a:pPr>
              <a:buClrTx/>
              <a:buFontTx/>
              <a:buNone/>
            </a:pPr>
            <a:r>
              <a:rPr lang="en-US" altLang="zh-CN" sz="2000" dirty="0">
                <a:solidFill>
                  <a:schemeClr val="hlink"/>
                </a:solidFill>
                <a:latin typeface="楷体_GB2312" pitchFamily="49" charset="-122"/>
                <a:ea typeface="楷体_GB2312" pitchFamily="49" charset="-122"/>
              </a:rPr>
              <a:t>ITU</a:t>
            </a:r>
            <a:r>
              <a:rPr lang="zh-CN" altLang="en-US" sz="2000" dirty="0">
                <a:solidFill>
                  <a:schemeClr val="hlink"/>
                </a:solidFill>
                <a:latin typeface="楷体_GB2312" pitchFamily="49" charset="-122"/>
                <a:ea typeface="楷体_GB2312" pitchFamily="49" charset="-122"/>
              </a:rPr>
              <a:t>是一个政府为主的组织，是电信界最有影响的组织。</a:t>
            </a: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2"/>
          <p:cNvSpPr>
            <a:spLocks noGrp="1"/>
          </p:cNvSpPr>
          <p:nvPr>
            <p:ph idx="1"/>
          </p:nvPr>
        </p:nvSpPr>
        <p:spPr>
          <a:xfrm>
            <a:off x="611188" y="1341438"/>
            <a:ext cx="8532812" cy="4471987"/>
          </a:xfrm>
        </p:spPr>
        <p:txBody>
          <a:bodyPr vert="horz" wrap="square" lIns="91440" tIns="45720" rIns="91440" bIns="45720" anchor="t" anchorCtr="0">
            <a:spAutoFit/>
          </a:bodyPr>
          <a:lstStyle/>
          <a:p>
            <a:pPr marL="0" indent="0" eaLnBrk="1" hangingPunct="1"/>
            <a:r>
              <a:rPr lang="en-US" altLang="zh-CN" sz="2800" dirty="0">
                <a:solidFill>
                  <a:srgbClr val="000066"/>
                </a:solidFill>
                <a:latin typeface="黑体" panose="02010609060101010101" pitchFamily="49" charset="-122"/>
                <a:ea typeface="黑体" panose="02010609060101010101" pitchFamily="49" charset="-122"/>
              </a:rPr>
              <a:t> </a:t>
            </a:r>
            <a:r>
              <a:rPr lang="zh-CN" altLang="en-US" sz="2800" dirty="0">
                <a:solidFill>
                  <a:srgbClr val="000066"/>
                </a:solidFill>
                <a:latin typeface="黑体" panose="02010609060101010101" pitchFamily="49" charset="-122"/>
                <a:ea typeface="黑体" panose="02010609060101010101" pitchFamily="49" charset="-122"/>
              </a:rPr>
              <a:t>因特网标准化机构是非政府性质的</a:t>
            </a:r>
          </a:p>
          <a:p>
            <a:pPr marL="0" indent="0" eaLnBrk="1" hangingPunct="1"/>
            <a:r>
              <a:rPr lang="zh-CN" altLang="en-US" sz="2800" dirty="0">
                <a:solidFill>
                  <a:srgbClr val="000066"/>
                </a:solidFill>
                <a:latin typeface="黑体" panose="02010609060101010101" pitchFamily="49" charset="-122"/>
                <a:ea typeface="黑体" panose="02010609060101010101" pitchFamily="49" charset="-122"/>
              </a:rPr>
              <a:t> 因特网体系结构研究委员会</a:t>
            </a:r>
          </a:p>
          <a:p>
            <a:pPr marL="0" indent="0" eaLnBrk="1" hangingPunct="1">
              <a:buNone/>
            </a:pPr>
            <a:r>
              <a:rPr lang="zh-CN" altLang="en-US" sz="2800" dirty="0">
                <a:solidFill>
                  <a:srgbClr val="000066"/>
                </a:solidFill>
                <a:latin typeface="黑体" panose="02010609060101010101" pitchFamily="49" charset="-122"/>
                <a:ea typeface="黑体" panose="02010609060101010101" pitchFamily="49" charset="-122"/>
              </a:rPr>
              <a:t>  （</a:t>
            </a:r>
            <a:r>
              <a:rPr lang="en-US" altLang="zh-CN" sz="2800" dirty="0">
                <a:solidFill>
                  <a:srgbClr val="000066"/>
                </a:solidFill>
                <a:latin typeface="黑体" panose="02010609060101010101" pitchFamily="49" charset="-122"/>
                <a:ea typeface="黑体" panose="02010609060101010101" pitchFamily="49" charset="-122"/>
              </a:rPr>
              <a:t>Internet ArchitectureBoard</a:t>
            </a:r>
            <a:r>
              <a:rPr lang="zh-CN" altLang="en-US" sz="2800" dirty="0">
                <a:solidFill>
                  <a:srgbClr val="000066"/>
                </a:solidFill>
                <a:latin typeface="黑体" panose="02010609060101010101" pitchFamily="49" charset="-122"/>
                <a:ea typeface="黑体" panose="02010609060101010101" pitchFamily="49" charset="-122"/>
              </a:rPr>
              <a:t>，</a:t>
            </a:r>
            <a:r>
              <a:rPr lang="en-US" altLang="zh-CN" sz="2800" dirty="0">
                <a:solidFill>
                  <a:srgbClr val="000066"/>
                </a:solidFill>
                <a:latin typeface="黑体" panose="02010609060101010101" pitchFamily="49" charset="-122"/>
                <a:ea typeface="黑体" panose="02010609060101010101" pitchFamily="49" charset="-122"/>
              </a:rPr>
              <a:t>IAB</a:t>
            </a:r>
            <a:r>
              <a:rPr lang="zh-CN" altLang="en-US" sz="2800" dirty="0">
                <a:solidFill>
                  <a:srgbClr val="000066"/>
                </a:solidFill>
                <a:latin typeface="黑体" panose="02010609060101010101" pitchFamily="49" charset="-122"/>
                <a:ea typeface="黑体" panose="02010609060101010101" pitchFamily="49" charset="-122"/>
              </a:rPr>
              <a:t>）</a:t>
            </a:r>
          </a:p>
          <a:p>
            <a:pPr marL="621030" lvl="1" indent="-262255" eaLnBrk="1" hangingPunct="1"/>
            <a:r>
              <a:rPr lang="zh-CN" altLang="en-US" dirty="0">
                <a:latin typeface="黑体" panose="02010609060101010101" pitchFamily="49" charset="-122"/>
                <a:ea typeface="黑体" panose="02010609060101010101" pitchFamily="49" charset="-122"/>
              </a:rPr>
              <a:t>因特网工程任务部</a:t>
            </a:r>
            <a:r>
              <a:rPr lang="en-US" altLang="zh-CN" dirty="0">
                <a:latin typeface="黑体" panose="02010609060101010101" pitchFamily="49" charset="-122"/>
                <a:ea typeface="黑体" panose="02010609060101010101" pitchFamily="49" charset="-122"/>
              </a:rPr>
              <a:t>(IETF)</a:t>
            </a:r>
          </a:p>
          <a:p>
            <a:pPr marL="979805" lvl="2" indent="-179705" eaLnBrk="1" hangingPunct="1"/>
            <a:r>
              <a:rPr lang="zh-CN" altLang="en-US" dirty="0">
                <a:latin typeface="黑体" panose="02010609060101010101" pitchFamily="49" charset="-122"/>
                <a:ea typeface="黑体" panose="02010609060101010101" pitchFamily="49" charset="-122"/>
              </a:rPr>
              <a:t>处理短期的工程问题 </a:t>
            </a:r>
          </a:p>
          <a:p>
            <a:pPr marL="621030" lvl="1" indent="-262255" eaLnBrk="1" hangingPunct="1"/>
            <a:r>
              <a:rPr lang="zh-CN" altLang="en-US" dirty="0">
                <a:latin typeface="黑体" panose="02010609060101010101" pitchFamily="49" charset="-122"/>
                <a:ea typeface="黑体" panose="02010609060101010101" pitchFamily="49" charset="-122"/>
              </a:rPr>
              <a:t>因特网研究任务部</a:t>
            </a:r>
            <a:r>
              <a:rPr lang="en-US" altLang="zh-CN" dirty="0">
                <a:latin typeface="黑体" panose="02010609060101010101" pitchFamily="49" charset="-122"/>
                <a:ea typeface="黑体" panose="02010609060101010101" pitchFamily="49" charset="-122"/>
              </a:rPr>
              <a:t>(IRTF)</a:t>
            </a:r>
          </a:p>
          <a:p>
            <a:pPr marL="979805" lvl="2" indent="-179705" eaLnBrk="1" hangingPunct="1"/>
            <a:r>
              <a:rPr lang="zh-CN" altLang="en-US" dirty="0">
                <a:latin typeface="黑体" panose="02010609060101010101" pitchFamily="49" charset="-122"/>
                <a:ea typeface="黑体" panose="02010609060101010101" pitchFamily="49" charset="-122"/>
              </a:rPr>
              <a:t>注重长期的研究</a:t>
            </a:r>
          </a:p>
          <a:p>
            <a:pPr marL="621030" lvl="1" indent="-262255" eaLnBrk="1" hangingPunct="1"/>
            <a:r>
              <a:rPr lang="en-US" altLang="zh-CN" dirty="0">
                <a:latin typeface="黑体" panose="02010609060101010101" pitchFamily="49" charset="-122"/>
                <a:ea typeface="黑体" panose="02010609060101010101" pitchFamily="49" charset="-122"/>
              </a:rPr>
              <a:t>Internet</a:t>
            </a:r>
            <a:r>
              <a:rPr lang="zh-CN" altLang="en-US" dirty="0">
                <a:latin typeface="黑体" panose="02010609060101010101" pitchFamily="49" charset="-122"/>
                <a:ea typeface="黑体" panose="02010609060101010101" pitchFamily="49" charset="-122"/>
              </a:rPr>
              <a:t>编号管理局</a:t>
            </a:r>
            <a:r>
              <a:rPr lang="en-US" altLang="zh-CN" dirty="0">
                <a:latin typeface="黑体" panose="02010609060101010101" pitchFamily="49" charset="-122"/>
                <a:ea typeface="黑体" panose="02010609060101010101" pitchFamily="49" charset="-122"/>
              </a:rPr>
              <a:t>(IANA) </a:t>
            </a:r>
          </a:p>
          <a:p>
            <a:pPr marL="621030" lvl="1" indent="-262255" eaLnBrk="1" hangingPunct="1"/>
            <a:r>
              <a:rPr lang="en-US" altLang="zh-CN" dirty="0">
                <a:latin typeface="黑体" panose="02010609060101010101" pitchFamily="49" charset="-122"/>
                <a:ea typeface="黑体" panose="02010609060101010101" pitchFamily="49" charset="-122"/>
              </a:rPr>
              <a:t>RFC</a:t>
            </a:r>
            <a:r>
              <a:rPr lang="zh-CN" altLang="en-US" dirty="0">
                <a:latin typeface="黑体" panose="02010609060101010101" pitchFamily="49" charset="-122"/>
                <a:ea typeface="黑体" panose="02010609060101010101" pitchFamily="49" charset="-122"/>
              </a:rPr>
              <a:t>编辑部 </a:t>
            </a:r>
          </a:p>
        </p:txBody>
      </p:sp>
      <p:sp>
        <p:nvSpPr>
          <p:cNvPr id="61442" name="Rectangle 5"/>
          <p:cNvSpPr>
            <a:spLocks noGrp="1"/>
          </p:cNvSpPr>
          <p:nvPr>
            <p:ph type="title"/>
          </p:nvPr>
        </p:nvSpPr>
        <p:spPr>
          <a:xfrm>
            <a:off x="5691188" y="333375"/>
            <a:ext cx="3452812" cy="581025"/>
          </a:xfrm>
        </p:spPr>
        <p:txBody>
          <a:bodyPr vert="horz" wrap="square" lIns="92075" tIns="46038" rIns="92075" bIns="46038" anchor="ctr" anchorCtr="0"/>
          <a:lstStyle/>
          <a:p>
            <a:pPr algn="l" eaLnBrk="1" hangingPunct="1"/>
            <a:r>
              <a:rPr lang="en-US" altLang="zh-CN" sz="3200" dirty="0">
                <a:solidFill>
                  <a:schemeClr val="bg1"/>
                </a:solidFill>
              </a:rPr>
              <a:t>Internet</a:t>
            </a:r>
            <a:r>
              <a:rPr lang="zh-CN" altLang="en-US" sz="3200" dirty="0">
                <a:solidFill>
                  <a:schemeClr val="bg1"/>
                </a:solidFill>
              </a:rPr>
              <a:t>标准组织</a:t>
            </a: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2"/>
          <p:cNvSpPr>
            <a:spLocks noGrp="1"/>
          </p:cNvSpPr>
          <p:nvPr>
            <p:ph type="title"/>
          </p:nvPr>
        </p:nvSpPr>
        <p:spPr>
          <a:xfrm>
            <a:off x="7812088" y="260350"/>
            <a:ext cx="1692275" cy="720725"/>
          </a:xfrm>
        </p:spPr>
        <p:txBody>
          <a:bodyPr vert="horz" wrap="square" lIns="92075" tIns="46038" rIns="92075" bIns="46038" anchor="ctr" anchorCtr="0"/>
          <a:lstStyle/>
          <a:p>
            <a:pPr algn="l" eaLnBrk="1" hangingPunct="1"/>
            <a:r>
              <a:rPr lang="en-US" altLang="zh-CN" sz="3600" dirty="0">
                <a:solidFill>
                  <a:schemeClr val="bg1"/>
                </a:solidFill>
              </a:rPr>
              <a:t>RFC </a:t>
            </a:r>
          </a:p>
        </p:txBody>
      </p:sp>
      <p:sp>
        <p:nvSpPr>
          <p:cNvPr id="63490" name="Rectangle 3"/>
          <p:cNvSpPr>
            <a:spLocks noGrp="1"/>
          </p:cNvSpPr>
          <p:nvPr>
            <p:ph idx="1"/>
          </p:nvPr>
        </p:nvSpPr>
        <p:spPr>
          <a:xfrm>
            <a:off x="755650" y="1268413"/>
            <a:ext cx="7772400" cy="4114800"/>
          </a:xfrm>
        </p:spPr>
        <p:txBody>
          <a:bodyPr vert="horz" wrap="square" lIns="91440" tIns="45720" rIns="91440" bIns="45720" anchor="t" anchorCtr="0"/>
          <a:lstStyle/>
          <a:p>
            <a:pPr eaLnBrk="1" hangingPunct="1">
              <a:lnSpc>
                <a:spcPct val="90000"/>
              </a:lnSpc>
            </a:pPr>
            <a:r>
              <a:rPr lang="en-US" altLang="zh-CN" sz="2800" dirty="0">
                <a:latin typeface="黑体" panose="02010609060101010101" pitchFamily="49" charset="-122"/>
                <a:ea typeface="黑体" panose="02010609060101010101" pitchFamily="49" charset="-122"/>
              </a:rPr>
              <a:t>RFC</a:t>
            </a:r>
            <a:r>
              <a:rPr lang="zh-CN" altLang="en-US" sz="2800" dirty="0">
                <a:latin typeface="黑体" panose="02010609060101010101" pitchFamily="49" charset="-122"/>
                <a:ea typeface="黑体" panose="02010609060101010101" pitchFamily="49" charset="-122"/>
              </a:rPr>
              <a:t>（</a:t>
            </a:r>
            <a:r>
              <a:rPr lang="en-US" altLang="zh-CN" sz="2800" dirty="0">
                <a:latin typeface="黑体" panose="02010609060101010101" pitchFamily="49" charset="-122"/>
                <a:ea typeface="黑体" panose="02010609060101010101" pitchFamily="49" charset="-122"/>
              </a:rPr>
              <a:t>Request For Comments)</a:t>
            </a:r>
            <a:r>
              <a:rPr lang="zh-CN" altLang="en-US" sz="2800" dirty="0">
                <a:latin typeface="黑体" panose="02010609060101010101" pitchFamily="49" charset="-122"/>
                <a:ea typeface="黑体" panose="02010609060101010101" pitchFamily="49" charset="-122"/>
              </a:rPr>
              <a:t>：</a:t>
            </a:r>
            <a:r>
              <a:rPr lang="en-US" altLang="zh-CN" sz="2800" dirty="0">
                <a:latin typeface="黑体" panose="02010609060101010101" pitchFamily="49" charset="-122"/>
                <a:ea typeface="黑体" panose="02010609060101010101" pitchFamily="49" charset="-122"/>
              </a:rPr>
              <a:t>Internet</a:t>
            </a:r>
            <a:r>
              <a:rPr lang="zh-CN" altLang="en-US" sz="2800" dirty="0">
                <a:latin typeface="黑体" panose="02010609060101010101" pitchFamily="49" charset="-122"/>
                <a:ea typeface="黑体" panose="02010609060101010101" pitchFamily="49" charset="-122"/>
              </a:rPr>
              <a:t>的标准几乎都是以</a:t>
            </a:r>
            <a:r>
              <a:rPr lang="en-US" altLang="zh-CN" sz="2800" dirty="0">
                <a:latin typeface="黑体" panose="02010609060101010101" pitchFamily="49" charset="-122"/>
                <a:ea typeface="黑体" panose="02010609060101010101" pitchFamily="49" charset="-122"/>
              </a:rPr>
              <a:t>RFC</a:t>
            </a:r>
            <a:r>
              <a:rPr lang="zh-CN" altLang="en-US" sz="2800" dirty="0">
                <a:latin typeface="黑体" panose="02010609060101010101" pitchFamily="49" charset="-122"/>
                <a:ea typeface="黑体" panose="02010609060101010101" pitchFamily="49" charset="-122"/>
              </a:rPr>
              <a:t>的形式提出。</a:t>
            </a:r>
          </a:p>
          <a:p>
            <a:pPr eaLnBrk="1" hangingPunct="1">
              <a:lnSpc>
                <a:spcPct val="90000"/>
              </a:lnSpc>
            </a:pPr>
            <a:r>
              <a:rPr lang="zh-CN" altLang="en-US" sz="2800" dirty="0">
                <a:latin typeface="黑体" panose="02010609060101010101" pitchFamily="49" charset="-122"/>
                <a:ea typeface="黑体" panose="02010609060101010101" pitchFamily="49" charset="-122"/>
              </a:rPr>
              <a:t>以</a:t>
            </a:r>
            <a:r>
              <a:rPr lang="en-US" altLang="zh-CN" sz="2800" dirty="0">
                <a:latin typeface="黑体" panose="02010609060101010101" pitchFamily="49" charset="-122"/>
                <a:ea typeface="黑体" panose="02010609060101010101" pitchFamily="49" charset="-122"/>
              </a:rPr>
              <a:t>TCP/IP</a:t>
            </a:r>
            <a:r>
              <a:rPr lang="zh-CN" altLang="en-US" sz="2800" dirty="0">
                <a:latin typeface="黑体" panose="02010609060101010101" pitchFamily="49" charset="-122"/>
                <a:ea typeface="黑体" panose="02010609060101010101" pitchFamily="49" charset="-122"/>
              </a:rPr>
              <a:t>协议为例：</a:t>
            </a:r>
          </a:p>
          <a:p>
            <a:pPr lvl="1" eaLnBrk="1" hangingPunct="1">
              <a:lnSpc>
                <a:spcPct val="90000"/>
              </a:lnSpc>
            </a:pPr>
            <a:r>
              <a:rPr lang="en-US" altLang="zh-CN" sz="2400" dirty="0">
                <a:latin typeface="黑体" panose="02010609060101010101" pitchFamily="49" charset="-122"/>
                <a:ea typeface="黑体" panose="02010609060101010101" pitchFamily="49" charset="-122"/>
              </a:rPr>
              <a:t>RFC 793 - Transmission Control Protocol</a:t>
            </a:r>
            <a:r>
              <a:rPr lang="zh-CN" altLang="en-US" sz="2400" dirty="0">
                <a:latin typeface="黑体" panose="02010609060101010101" pitchFamily="49" charset="-122"/>
                <a:ea typeface="黑体" panose="02010609060101010101" pitchFamily="49" charset="-122"/>
              </a:rPr>
              <a:t>（</a:t>
            </a:r>
            <a:r>
              <a:rPr lang="en-US" altLang="zh-CN" sz="2400" dirty="0">
                <a:latin typeface="黑体" panose="02010609060101010101" pitchFamily="49" charset="-122"/>
                <a:ea typeface="黑体" panose="02010609060101010101" pitchFamily="49" charset="-122"/>
              </a:rPr>
              <a:t>TCP</a:t>
            </a:r>
            <a:r>
              <a:rPr lang="zh-CN" altLang="en-US" sz="2400" dirty="0">
                <a:latin typeface="黑体" panose="02010609060101010101" pitchFamily="49" charset="-122"/>
                <a:ea typeface="黑体" panose="02010609060101010101" pitchFamily="49" charset="-122"/>
              </a:rPr>
              <a:t>）</a:t>
            </a:r>
          </a:p>
          <a:p>
            <a:pPr lvl="1" eaLnBrk="1" hangingPunct="1">
              <a:lnSpc>
                <a:spcPct val="90000"/>
              </a:lnSpc>
            </a:pPr>
            <a:r>
              <a:rPr lang="en-US" altLang="zh-CN" sz="2400" dirty="0">
                <a:latin typeface="黑体" panose="02010609060101010101" pitchFamily="49" charset="-122"/>
                <a:ea typeface="黑体" panose="02010609060101010101" pitchFamily="49" charset="-122"/>
              </a:rPr>
              <a:t>RFC 791 - Internet Protocol </a:t>
            </a:r>
            <a:r>
              <a:rPr lang="zh-CN" altLang="en-US" sz="2400" dirty="0">
                <a:latin typeface="黑体" panose="02010609060101010101" pitchFamily="49" charset="-122"/>
                <a:ea typeface="黑体" panose="02010609060101010101" pitchFamily="49" charset="-122"/>
              </a:rPr>
              <a:t>（</a:t>
            </a:r>
            <a:r>
              <a:rPr lang="en-US" altLang="zh-CN" sz="2400" dirty="0">
                <a:latin typeface="黑体" panose="02010609060101010101" pitchFamily="49" charset="-122"/>
                <a:ea typeface="黑体" panose="02010609060101010101" pitchFamily="49" charset="-122"/>
              </a:rPr>
              <a:t>IP</a:t>
            </a:r>
            <a:r>
              <a:rPr lang="zh-CN" altLang="en-US" sz="2400" dirty="0">
                <a:latin typeface="黑体" panose="02010609060101010101" pitchFamily="49" charset="-122"/>
                <a:ea typeface="黑体" panose="02010609060101010101" pitchFamily="49" charset="-122"/>
              </a:rPr>
              <a:t>）</a:t>
            </a:r>
          </a:p>
          <a:p>
            <a:pPr lvl="1" eaLnBrk="1" hangingPunct="1">
              <a:lnSpc>
                <a:spcPct val="90000"/>
              </a:lnSpc>
            </a:pPr>
            <a:r>
              <a:rPr lang="en-US" altLang="zh-CN" sz="2400" dirty="0">
                <a:latin typeface="黑体" panose="02010609060101010101" pitchFamily="49" charset="-122"/>
                <a:ea typeface="黑体" panose="02010609060101010101" pitchFamily="49" charset="-122"/>
              </a:rPr>
              <a:t>RFC 1157 - Simple Network Management Protocol (SNMP)</a:t>
            </a:r>
          </a:p>
          <a:p>
            <a:pPr lvl="1" eaLnBrk="1" hangingPunct="1">
              <a:lnSpc>
                <a:spcPct val="90000"/>
              </a:lnSpc>
            </a:pPr>
            <a:r>
              <a:rPr lang="en-US" altLang="zh-CN" sz="2400" dirty="0">
                <a:latin typeface="黑体" panose="02010609060101010101" pitchFamily="49" charset="-122"/>
                <a:ea typeface="黑体" panose="02010609060101010101" pitchFamily="49" charset="-122"/>
              </a:rPr>
              <a:t>RFC 959 -  File Transfer Protocol (FTP)</a:t>
            </a: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2"/>
          <p:cNvSpPr>
            <a:spLocks noGrp="1"/>
          </p:cNvSpPr>
          <p:nvPr>
            <p:ph idx="1"/>
          </p:nvPr>
        </p:nvSpPr>
        <p:spPr>
          <a:xfrm>
            <a:off x="684213" y="1457325"/>
            <a:ext cx="8208962" cy="4419879"/>
          </a:xfrm>
        </p:spPr>
        <p:txBody>
          <a:bodyPr vert="horz" wrap="square" lIns="91440" tIns="45720" rIns="91440" bIns="45720" anchor="t" anchorCtr="0"/>
          <a:lstStyle/>
          <a:p>
            <a:pPr eaLnBrk="1" hangingPunct="1">
              <a:lnSpc>
                <a:spcPct val="110000"/>
              </a:lnSpc>
            </a:pPr>
            <a:r>
              <a:rPr lang="en-US" altLang="zh-CN" sz="2800" dirty="0">
                <a:solidFill>
                  <a:srgbClr val="000066"/>
                </a:solidFill>
                <a:latin typeface="黑体" panose="02010609060101010101" pitchFamily="49" charset="-122"/>
                <a:ea typeface="黑体" panose="02010609060101010101" pitchFamily="49" charset="-122"/>
              </a:rPr>
              <a:t>NIST</a:t>
            </a:r>
            <a:r>
              <a:rPr lang="zh-CN" altLang="en-US" sz="2800" dirty="0">
                <a:solidFill>
                  <a:srgbClr val="000066"/>
                </a:solidFill>
                <a:latin typeface="黑体" panose="02010609060101010101" pitchFamily="49" charset="-122"/>
                <a:ea typeface="黑体" panose="02010609060101010101" pitchFamily="49" charset="-122"/>
              </a:rPr>
              <a:t>：美国国家标准和技术研究所，美国商业部的标准化机构</a:t>
            </a:r>
          </a:p>
          <a:p>
            <a:pPr algn="just" eaLnBrk="1" hangingPunct="1">
              <a:lnSpc>
                <a:spcPct val="110000"/>
              </a:lnSpc>
            </a:pPr>
            <a:r>
              <a:rPr lang="en-US" altLang="zh-CN" sz="2800" dirty="0">
                <a:solidFill>
                  <a:srgbClr val="000066"/>
                </a:solidFill>
                <a:latin typeface="黑体" panose="02010609060101010101" pitchFamily="49" charset="-122"/>
                <a:ea typeface="黑体" panose="02010609060101010101" pitchFamily="49" charset="-122"/>
              </a:rPr>
              <a:t>ANSI</a:t>
            </a:r>
            <a:r>
              <a:rPr lang="zh-CN" altLang="en-US" sz="2800" dirty="0">
                <a:solidFill>
                  <a:srgbClr val="000066"/>
                </a:solidFill>
                <a:latin typeface="黑体" panose="02010609060101010101" pitchFamily="49" charset="-122"/>
                <a:ea typeface="黑体" panose="02010609060101010101" pitchFamily="49" charset="-122"/>
              </a:rPr>
              <a:t>：美国国家标准研究所，</a:t>
            </a:r>
            <a:r>
              <a:rPr lang="en-US" altLang="zh-CN" sz="2800" dirty="0">
                <a:solidFill>
                  <a:srgbClr val="000066"/>
                </a:solidFill>
                <a:latin typeface="黑体" panose="02010609060101010101" pitchFamily="49" charset="-122"/>
                <a:ea typeface="黑体" panose="02010609060101010101" pitchFamily="49" charset="-122"/>
              </a:rPr>
              <a:t>ISO </a:t>
            </a:r>
            <a:r>
              <a:rPr lang="zh-CN" altLang="en-US" sz="2800" dirty="0">
                <a:solidFill>
                  <a:srgbClr val="000066"/>
                </a:solidFill>
                <a:latin typeface="黑体" panose="02010609060101010101" pitchFamily="49" charset="-122"/>
                <a:ea typeface="黑体" panose="02010609060101010101" pitchFamily="49" charset="-122"/>
              </a:rPr>
              <a:t>的美国代表</a:t>
            </a:r>
          </a:p>
          <a:p>
            <a:pPr eaLnBrk="1" hangingPunct="1">
              <a:lnSpc>
                <a:spcPct val="110000"/>
              </a:lnSpc>
            </a:pPr>
            <a:r>
              <a:rPr lang="en-US" altLang="zh-CN" sz="2800" dirty="0">
                <a:solidFill>
                  <a:srgbClr val="000066"/>
                </a:solidFill>
                <a:latin typeface="黑体" panose="02010609060101010101" pitchFamily="49" charset="-122"/>
                <a:ea typeface="黑体" panose="02010609060101010101" pitchFamily="49" charset="-122"/>
              </a:rPr>
              <a:t>IEEE</a:t>
            </a:r>
            <a:r>
              <a:rPr lang="zh-CN" altLang="en-US" sz="2800" dirty="0">
                <a:solidFill>
                  <a:srgbClr val="000066"/>
                </a:solidFill>
                <a:latin typeface="黑体" panose="02010609060101010101" pitchFamily="49" charset="-122"/>
                <a:ea typeface="黑体" panose="02010609060101010101" pitchFamily="49" charset="-122"/>
              </a:rPr>
              <a:t>：电器电子工程师协会，发表行业标准。</a:t>
            </a:r>
          </a:p>
          <a:p>
            <a:pPr eaLnBrk="1" hangingPunct="1">
              <a:lnSpc>
                <a:spcPct val="110000"/>
              </a:lnSpc>
            </a:pPr>
            <a:r>
              <a:rPr lang="zh-CN" altLang="en-US" sz="2800" dirty="0">
                <a:solidFill>
                  <a:srgbClr val="000066"/>
                </a:solidFill>
                <a:latin typeface="黑体" panose="02010609060101010101" pitchFamily="49" charset="-122"/>
                <a:ea typeface="黑体" panose="02010609060101010101" pitchFamily="49" charset="-122"/>
              </a:rPr>
              <a:t>      例如</a:t>
            </a:r>
            <a:r>
              <a:rPr lang="en-US" altLang="zh-CN" sz="2800" dirty="0">
                <a:solidFill>
                  <a:srgbClr val="000066"/>
                </a:solidFill>
                <a:latin typeface="黑体" panose="02010609060101010101" pitchFamily="49" charset="-122"/>
                <a:ea typeface="黑体" panose="02010609060101010101" pitchFamily="49" charset="-122"/>
              </a:rPr>
              <a:t>IEEE 802</a:t>
            </a:r>
            <a:r>
              <a:rPr lang="zh-CN" altLang="en-US" sz="2800" dirty="0">
                <a:solidFill>
                  <a:srgbClr val="000066"/>
                </a:solidFill>
                <a:latin typeface="黑体" panose="02010609060101010101" pitchFamily="49" charset="-122"/>
                <a:ea typeface="黑体" panose="02010609060101010101" pitchFamily="49" charset="-122"/>
              </a:rPr>
              <a:t>，后成为</a:t>
            </a:r>
            <a:r>
              <a:rPr lang="en-US" altLang="zh-CN" sz="2800" dirty="0">
                <a:solidFill>
                  <a:srgbClr val="000066"/>
                </a:solidFill>
                <a:latin typeface="黑体" panose="02010609060101010101" pitchFamily="49" charset="-122"/>
                <a:ea typeface="黑体" panose="02010609060101010101" pitchFamily="49" charset="-122"/>
              </a:rPr>
              <a:t>ISO 8002</a:t>
            </a:r>
            <a:r>
              <a:rPr lang="zh-CN" altLang="en-US" sz="2800" dirty="0">
                <a:solidFill>
                  <a:srgbClr val="000066"/>
                </a:solidFill>
                <a:latin typeface="黑体" panose="02010609060101010101" pitchFamily="49" charset="-122"/>
                <a:ea typeface="黑体" panose="02010609060101010101" pitchFamily="49" charset="-122"/>
              </a:rPr>
              <a:t>。</a:t>
            </a:r>
          </a:p>
          <a:p>
            <a:pPr eaLnBrk="1" hangingPunct="1">
              <a:lnSpc>
                <a:spcPct val="110000"/>
              </a:lnSpc>
            </a:pPr>
            <a:r>
              <a:rPr lang="en-US" altLang="zh-CN" sz="2800" dirty="0">
                <a:solidFill>
                  <a:srgbClr val="000066"/>
                </a:solidFill>
                <a:latin typeface="黑体" panose="02010609060101010101" pitchFamily="49" charset="-122"/>
                <a:ea typeface="黑体" panose="02010609060101010101" pitchFamily="49" charset="-122"/>
              </a:rPr>
              <a:t>ATM Forum</a:t>
            </a:r>
            <a:r>
              <a:rPr lang="zh-CN" altLang="en-US" sz="2800" dirty="0">
                <a:solidFill>
                  <a:srgbClr val="000066"/>
                </a:solidFill>
                <a:latin typeface="黑体" panose="02010609060101010101" pitchFamily="49" charset="-122"/>
                <a:ea typeface="黑体" panose="02010609060101010101" pitchFamily="49" charset="-122"/>
              </a:rPr>
              <a:t>：</a:t>
            </a:r>
            <a:r>
              <a:rPr lang="en-US" altLang="zh-CN" sz="2800" dirty="0">
                <a:solidFill>
                  <a:srgbClr val="000066"/>
                </a:solidFill>
                <a:latin typeface="黑体" panose="02010609060101010101" pitchFamily="49" charset="-122"/>
                <a:ea typeface="黑体" panose="02010609060101010101" pitchFamily="49" charset="-122"/>
              </a:rPr>
              <a:t>ATM</a:t>
            </a:r>
            <a:r>
              <a:rPr lang="zh-CN" altLang="en-US" sz="2800" dirty="0">
                <a:solidFill>
                  <a:srgbClr val="000066"/>
                </a:solidFill>
                <a:latin typeface="黑体" panose="02010609060101010101" pitchFamily="49" charset="-122"/>
                <a:ea typeface="黑体" panose="02010609060101010101" pitchFamily="49" charset="-122"/>
              </a:rPr>
              <a:t>论坛</a:t>
            </a:r>
          </a:p>
          <a:p>
            <a:pPr eaLnBrk="1" hangingPunct="1">
              <a:lnSpc>
                <a:spcPct val="110000"/>
              </a:lnSpc>
            </a:pPr>
            <a:r>
              <a:rPr lang="en-US" altLang="zh-CN" sz="2800" dirty="0">
                <a:solidFill>
                  <a:srgbClr val="000066"/>
                </a:solidFill>
                <a:latin typeface="黑体" panose="02010609060101010101" pitchFamily="49" charset="-122"/>
                <a:ea typeface="黑体" panose="02010609060101010101" pitchFamily="49" charset="-122"/>
              </a:rPr>
              <a:t>OIF</a:t>
            </a:r>
            <a:r>
              <a:rPr lang="zh-CN" altLang="en-US" sz="2800" dirty="0">
                <a:solidFill>
                  <a:srgbClr val="000066"/>
                </a:solidFill>
                <a:latin typeface="黑体" panose="02010609060101010101" pitchFamily="49" charset="-122"/>
                <a:ea typeface="黑体" panose="02010609060101010101" pitchFamily="49" charset="-122"/>
              </a:rPr>
              <a:t>（</a:t>
            </a:r>
            <a:r>
              <a:rPr lang="en-US" altLang="zh-CN" sz="2800" dirty="0">
                <a:solidFill>
                  <a:srgbClr val="000066"/>
                </a:solidFill>
                <a:latin typeface="黑体" panose="02010609060101010101" pitchFamily="49" charset="-122"/>
                <a:ea typeface="黑体" panose="02010609060101010101" pitchFamily="49" charset="-122"/>
              </a:rPr>
              <a:t>Optical Internetworking Forum</a:t>
            </a:r>
            <a:r>
              <a:rPr lang="zh-CN" altLang="en-US" sz="2800" dirty="0">
                <a:solidFill>
                  <a:srgbClr val="000066"/>
                </a:solidFill>
                <a:latin typeface="黑体" panose="02010609060101010101" pitchFamily="49" charset="-122"/>
                <a:ea typeface="黑体" panose="02010609060101010101" pitchFamily="49" charset="-122"/>
              </a:rPr>
              <a:t>）：光纤互连网络</a:t>
            </a:r>
            <a:r>
              <a:rPr lang="zh-CN" altLang="en-US" sz="2800" dirty="0" smtClean="0">
                <a:solidFill>
                  <a:srgbClr val="000066"/>
                </a:solidFill>
                <a:latin typeface="黑体" panose="02010609060101010101" pitchFamily="49" charset="-122"/>
                <a:ea typeface="黑体" panose="02010609060101010101" pitchFamily="49" charset="-122"/>
              </a:rPr>
              <a:t>论坛</a:t>
            </a:r>
            <a:r>
              <a:rPr lang="en-US" altLang="zh-CN" sz="1800" b="0" dirty="0" smtClean="0">
                <a:latin typeface="宋体" panose="02010600030101010101" pitchFamily="2" charset="-122"/>
              </a:rPr>
              <a:t>    </a:t>
            </a:r>
            <a:endParaRPr lang="en-US" altLang="zh-CN" sz="1800" b="0" dirty="0">
              <a:latin typeface="宋体" panose="02010600030101010101" pitchFamily="2" charset="-122"/>
            </a:endParaRPr>
          </a:p>
        </p:txBody>
      </p:sp>
      <p:sp>
        <p:nvSpPr>
          <p:cNvPr id="64514" name="Rectangle 3"/>
          <p:cNvSpPr>
            <a:spLocks noGrp="1"/>
          </p:cNvSpPr>
          <p:nvPr>
            <p:ph type="title"/>
          </p:nvPr>
        </p:nvSpPr>
        <p:spPr>
          <a:xfrm>
            <a:off x="1447800" y="188913"/>
            <a:ext cx="7696200" cy="720725"/>
          </a:xfrm>
        </p:spPr>
        <p:txBody>
          <a:bodyPr vert="horz" wrap="square" lIns="92075" tIns="46038" rIns="92075" bIns="46038" anchor="ctr" anchorCtr="0"/>
          <a:lstStyle/>
          <a:p>
            <a:pPr algn="r" eaLnBrk="1" hangingPunct="1"/>
            <a:r>
              <a:rPr lang="zh-CN" altLang="en-US" sz="3200" dirty="0">
                <a:solidFill>
                  <a:schemeClr val="bg1"/>
                </a:solidFill>
              </a:rPr>
              <a:t>其它标准化组织</a:t>
            </a:r>
          </a:p>
        </p:txBody>
      </p:sp>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KSO_WPP_MARK_KEY" val="29c55bb3-fdfb-4a99-9227-4cac058d8088"/>
  <p:tag name="COMMONDATA" val="eyJoZGlkIjoiMTMzYjE4ODYyOGRkZGYyZWFlNTBhZWZiYTIxNDJlYmMifQ=="/>
</p:tagLst>
</file>

<file path=ppt/tags/tag2.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2592,&quot;width&quot;:4043}"/>
</p:tagLst>
</file>

<file path=ppt/theme/theme1.xml><?xml version="1.0" encoding="utf-8"?>
<a:theme xmlns:a="http://schemas.openxmlformats.org/drawingml/2006/main" name="REREC模板（2004年2月）">
  <a:themeElements>
    <a:clrScheme name="">
      <a:dk1>
        <a:srgbClr val="000000"/>
      </a:dk1>
      <a:lt1>
        <a:srgbClr val="FFFFFF"/>
      </a:lt1>
      <a:dk2>
        <a:srgbClr val="FFCC66"/>
      </a:dk2>
      <a:lt2>
        <a:srgbClr val="000000"/>
      </a:lt2>
      <a:accent1>
        <a:srgbClr val="00FFFF"/>
      </a:accent1>
      <a:accent2>
        <a:srgbClr val="3366FF"/>
      </a:accent2>
      <a:accent3>
        <a:srgbClr val="FFFFFF"/>
      </a:accent3>
      <a:accent4>
        <a:srgbClr val="000000"/>
      </a:accent4>
      <a:accent5>
        <a:srgbClr val="AAFFFF"/>
      </a:accent5>
      <a:accent6>
        <a:srgbClr val="2D5CE7"/>
      </a:accent6>
      <a:hlink>
        <a:srgbClr val="FF0033"/>
      </a:hlink>
      <a:folHlink>
        <a:srgbClr val="FFFF00"/>
      </a:folHlink>
    </a:clrScheme>
    <a:fontScheme name="REREC模板（2004年2月）">
      <a:majorFont>
        <a:latin typeface="Arial"/>
        <a:ea typeface="黑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flat" cmpd="sng" algn="ctr">
          <a:noFill/>
          <a:prstDash val="solid"/>
          <a:round/>
          <a:headEnd type="none" w="med" len="med"/>
          <a:tailEnd type="none" w="med" len="med"/>
        </a:ln>
      </a:spPr>
      <a:bodyPr vert="horz" wrap="none" lIns="91440" tIns="45720" rIns="91440" bIns="45720" numCol="1" anchor="t" anchorCtr="0" compatLnSpc="1">
        <a:spAutoFit/>
      </a:bodyPr>
      <a:lstStyle>
        <a:defPPr marL="342900" marR="0" indent="-342900" algn="l" defTabSz="914400" rtl="0" eaLnBrk="1" fontAlgn="base" latinLnBrk="0" hangingPunct="1">
          <a:lnSpc>
            <a:spcPct val="100000"/>
          </a:lnSpc>
          <a:spcBef>
            <a:spcPct val="20000"/>
          </a:spcBef>
          <a:spcAft>
            <a:spcPct val="0"/>
          </a:spcAft>
          <a:buClr>
            <a:srgbClr val="3366FF"/>
          </a:buClr>
          <a:buSzTx/>
          <a:buFont typeface="Wingdings" panose="05000000000000000000" pitchFamily="2" charset="2"/>
          <a:buChar char="l"/>
          <a:defRPr kumimoji="1" lang="zh-CN" altLang="en-US" sz="2800" b="0" i="0" u="none" strike="noStrike" cap="none" normalizeH="0" baseline="0" smtClean="0">
            <a:ln>
              <a:noFill/>
            </a:ln>
            <a:solidFill>
              <a:schemeClr val="accent2"/>
            </a:solidFill>
            <a:effectLst/>
            <a:latin typeface="Times New Roman" panose="02020603050405020304" pitchFamily="18" charset="0"/>
            <a:ea typeface="黑体" panose="02010609060101010101" pitchFamily="49" charset="-122"/>
          </a:defRPr>
        </a:defPPr>
      </a:lstStyle>
    </a:spDef>
    <a:lnDef>
      <a:spPr bwMode="auto">
        <a:xfrm>
          <a:off x="0" y="0"/>
          <a:ext cx="1" cy="1"/>
        </a:xfrm>
        <a:custGeom>
          <a:avLst/>
          <a:gdLst/>
          <a:ahLst/>
          <a:cxnLst/>
          <a:rect l="0" t="0" r="0" b="0"/>
          <a:pathLst/>
        </a:custGeom>
        <a:noFill/>
        <a:ln w="12700" cap="flat" cmpd="sng" algn="ctr">
          <a:noFill/>
          <a:prstDash val="solid"/>
          <a:round/>
          <a:headEnd type="none" w="med" len="med"/>
          <a:tailEnd type="none" w="med" len="med"/>
        </a:ln>
      </a:spPr>
      <a:bodyPr vert="horz" wrap="none" lIns="91440" tIns="45720" rIns="91440" bIns="45720" numCol="1" anchor="t" anchorCtr="0" compatLnSpc="1">
        <a:spAutoFit/>
      </a:bodyPr>
      <a:lstStyle>
        <a:defPPr marL="342900" marR="0" indent="-342900" algn="l" defTabSz="914400" rtl="0" eaLnBrk="1" fontAlgn="base" latinLnBrk="0" hangingPunct="1">
          <a:lnSpc>
            <a:spcPct val="100000"/>
          </a:lnSpc>
          <a:spcBef>
            <a:spcPct val="20000"/>
          </a:spcBef>
          <a:spcAft>
            <a:spcPct val="0"/>
          </a:spcAft>
          <a:buClr>
            <a:srgbClr val="3366FF"/>
          </a:buClr>
          <a:buSzTx/>
          <a:buFont typeface="Wingdings" panose="05000000000000000000" pitchFamily="2" charset="2"/>
          <a:buChar char="l"/>
          <a:defRPr kumimoji="1" lang="zh-CN" altLang="en-US" sz="2800" b="0" i="0" u="none" strike="noStrike" cap="none" normalizeH="0" baseline="0" smtClean="0">
            <a:ln>
              <a:noFill/>
            </a:ln>
            <a:solidFill>
              <a:schemeClr val="accent2"/>
            </a:solidFill>
            <a:effectLst/>
            <a:latin typeface="Times New Roman" panose="02020603050405020304" pitchFamily="18" charset="0"/>
            <a:ea typeface="黑体" panose="02010609060101010101" pitchFamily="49" charset="-122"/>
          </a:defRPr>
        </a:defPPr>
      </a:lstStyle>
    </a:lnDef>
  </a:objectDefaults>
  <a:extraClrSchemeLst>
    <a:extraClrScheme>
      <a:clrScheme name="REREC模板（2004年2月） 1">
        <a:dk1>
          <a:srgbClr val="000000"/>
        </a:dk1>
        <a:lt1>
          <a:srgbClr val="FFFFFF"/>
        </a:lt1>
        <a:dk2>
          <a:srgbClr val="0000FF"/>
        </a:dk2>
        <a:lt2>
          <a:srgbClr val="FFCC66"/>
        </a:lt2>
        <a:accent1>
          <a:srgbClr val="00FFFF"/>
        </a:accent1>
        <a:accent2>
          <a:srgbClr val="3366FF"/>
        </a:accent2>
        <a:accent3>
          <a:srgbClr val="AAAAFF"/>
        </a:accent3>
        <a:accent4>
          <a:srgbClr val="DADADA"/>
        </a:accent4>
        <a:accent5>
          <a:srgbClr val="AAFFFF"/>
        </a:accent5>
        <a:accent6>
          <a:srgbClr val="2D5CE7"/>
        </a:accent6>
        <a:hlink>
          <a:srgbClr val="FF0033"/>
        </a:hlink>
        <a:folHlink>
          <a:srgbClr val="FFFF00"/>
        </a:folHlink>
      </a:clrScheme>
      <a:clrMap bg1="dk2" tx1="lt1" bg2="dk1" tx2="lt2" accent1="accent1" accent2="accent2" accent3="accent3" accent4="accent4" accent5="accent5" accent6="accent6" hlink="hlink" folHlink="folHlink"/>
    </a:extraClrScheme>
    <a:extraClrScheme>
      <a:clrScheme name="REREC模板（2004年2月） 2">
        <a:dk1>
          <a:srgbClr val="000000"/>
        </a:dk1>
        <a:lt1>
          <a:srgbClr val="FFFFFF"/>
        </a:lt1>
        <a:dk2>
          <a:srgbClr val="000000"/>
        </a:dk2>
        <a:lt2>
          <a:srgbClr val="CCECFF"/>
        </a:lt2>
        <a:accent1>
          <a:srgbClr val="6699FF"/>
        </a:accent1>
        <a:accent2>
          <a:srgbClr val="66CCFF"/>
        </a:accent2>
        <a:accent3>
          <a:srgbClr val="FFFFFF"/>
        </a:accent3>
        <a:accent4>
          <a:srgbClr val="000000"/>
        </a:accent4>
        <a:accent5>
          <a:srgbClr val="B8CAFF"/>
        </a:accent5>
        <a:accent6>
          <a:srgbClr val="5CB9E7"/>
        </a:accent6>
        <a:hlink>
          <a:srgbClr val="CC99FF"/>
        </a:hlink>
        <a:folHlink>
          <a:srgbClr val="00CCCC"/>
        </a:folHlink>
      </a:clrScheme>
      <a:clrMap bg1="lt1" tx1="dk1" bg2="lt2" tx2="dk2" accent1="accent1" accent2="accent2" accent3="accent3" accent4="accent4" accent5="accent5" accent6="accent6" hlink="hlink" folHlink="folHlink"/>
    </a:extraClrScheme>
    <a:extraClrScheme>
      <a:clrScheme name="REREC模板（2004年2月） 3">
        <a:dk1>
          <a:srgbClr val="000000"/>
        </a:dk1>
        <a:lt1>
          <a:srgbClr val="FFFFFF"/>
        </a:lt1>
        <a:dk2>
          <a:srgbClr val="000000"/>
        </a:dk2>
        <a:lt2>
          <a:srgbClr val="FFFFFF"/>
        </a:lt2>
        <a:accent1>
          <a:srgbClr val="CBCBCB"/>
        </a:accent1>
        <a:accent2>
          <a:srgbClr val="EAEAEA"/>
        </a:accent2>
        <a:accent3>
          <a:srgbClr val="FFFFFF"/>
        </a:accent3>
        <a:accent4>
          <a:srgbClr val="000000"/>
        </a:accent4>
        <a:accent5>
          <a:srgbClr val="E2E2E2"/>
        </a:accent5>
        <a:accent6>
          <a:srgbClr val="D4D4D4"/>
        </a:accent6>
        <a:hlink>
          <a:srgbClr val="5F5F5F"/>
        </a:hlink>
        <a:folHlink>
          <a:srgbClr val="969696"/>
        </a:folHlink>
      </a:clrScheme>
      <a:clrMap bg1="lt1" tx1="dk1" bg2="lt2" tx2="dk2" accent1="accent1" accent2="accent2" accent3="accent3" accent4="accent4" accent5="accent5" accent6="accent6" hlink="hlink" folHlink="folHlink"/>
    </a:extraClrScheme>
    <a:extraClrScheme>
      <a:clrScheme name="REREC模板（2004年2月） 4">
        <a:dk1>
          <a:srgbClr val="000000"/>
        </a:dk1>
        <a:lt1>
          <a:srgbClr val="FFFFFF"/>
        </a:lt1>
        <a:dk2>
          <a:srgbClr val="008080"/>
        </a:dk2>
        <a:lt2>
          <a:srgbClr val="FFCC66"/>
        </a:lt2>
        <a:accent1>
          <a:srgbClr val="0099CC"/>
        </a:accent1>
        <a:accent2>
          <a:srgbClr val="009999"/>
        </a:accent2>
        <a:accent3>
          <a:srgbClr val="AAC0C0"/>
        </a:accent3>
        <a:accent4>
          <a:srgbClr val="DADADA"/>
        </a:accent4>
        <a:accent5>
          <a:srgbClr val="AACAE2"/>
        </a:accent5>
        <a:accent6>
          <a:srgbClr val="008A8A"/>
        </a:accent6>
        <a:hlink>
          <a:srgbClr val="6600CC"/>
        </a:hlink>
        <a:folHlink>
          <a:srgbClr val="FFFF00"/>
        </a:folHlink>
      </a:clrScheme>
      <a:clrMap bg1="dk2" tx1="lt1" bg2="dk1" tx2="lt2" accent1="accent1" accent2="accent2" accent3="accent3" accent4="accent4" accent5="accent5" accent6="accent6" hlink="hlink" folHlink="folHlink"/>
    </a:extraClrScheme>
    <a:extraClrScheme>
      <a:clrScheme name="REREC模板（2004年2月） 5">
        <a:dk1>
          <a:srgbClr val="000000"/>
        </a:dk1>
        <a:lt1>
          <a:srgbClr val="FFFFFF"/>
        </a:lt1>
        <a:dk2>
          <a:srgbClr val="993300"/>
        </a:dk2>
        <a:lt2>
          <a:srgbClr val="FFCC66"/>
        </a:lt2>
        <a:accent1>
          <a:srgbClr val="FF6633"/>
        </a:accent1>
        <a:accent2>
          <a:srgbClr val="CC6600"/>
        </a:accent2>
        <a:accent3>
          <a:srgbClr val="CAADAA"/>
        </a:accent3>
        <a:accent4>
          <a:srgbClr val="DADADA"/>
        </a:accent4>
        <a:accent5>
          <a:srgbClr val="FFB8AD"/>
        </a:accent5>
        <a:accent6>
          <a:srgbClr val="B95C00"/>
        </a:accent6>
        <a:hlink>
          <a:srgbClr val="CC0000"/>
        </a:hlink>
        <a:folHlink>
          <a:srgbClr val="FFFF0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REREC模板（2004年2月）">
  <a:themeElements>
    <a:clrScheme name="">
      <a:dk1>
        <a:srgbClr val="000000"/>
      </a:dk1>
      <a:lt1>
        <a:srgbClr val="FFFFFF"/>
      </a:lt1>
      <a:dk2>
        <a:srgbClr val="FFCC66"/>
      </a:dk2>
      <a:lt2>
        <a:srgbClr val="000000"/>
      </a:lt2>
      <a:accent1>
        <a:srgbClr val="00FFFF"/>
      </a:accent1>
      <a:accent2>
        <a:srgbClr val="3366FF"/>
      </a:accent2>
      <a:accent3>
        <a:srgbClr val="FFFFFF"/>
      </a:accent3>
      <a:accent4>
        <a:srgbClr val="000000"/>
      </a:accent4>
      <a:accent5>
        <a:srgbClr val="AAFFFF"/>
      </a:accent5>
      <a:accent6>
        <a:srgbClr val="2D5CE7"/>
      </a:accent6>
      <a:hlink>
        <a:srgbClr val="FF0033"/>
      </a:hlink>
      <a:folHlink>
        <a:srgbClr val="FFFF00"/>
      </a:folHlink>
    </a:clrScheme>
    <a:fontScheme name="REREC模板（2004年2月）">
      <a:majorFont>
        <a:latin typeface="Arial"/>
        <a:ea typeface="黑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flat" cmpd="sng" algn="ctr">
          <a:noFill/>
          <a:prstDash val="solid"/>
          <a:round/>
          <a:headEnd type="none" w="med" len="med"/>
          <a:tailEnd type="none" w="med" len="med"/>
        </a:ln>
      </a:spPr>
      <a:bodyPr vert="horz" wrap="none" lIns="91440" tIns="45720" rIns="91440" bIns="45720" numCol="1" anchor="t" anchorCtr="0" compatLnSpc="1">
        <a:spAutoFit/>
      </a:bodyPr>
      <a:lstStyle>
        <a:defPPr marL="342900" marR="0" indent="-342900" algn="l" defTabSz="914400" rtl="0" eaLnBrk="1" fontAlgn="base" latinLnBrk="0" hangingPunct="1">
          <a:lnSpc>
            <a:spcPct val="100000"/>
          </a:lnSpc>
          <a:spcBef>
            <a:spcPct val="20000"/>
          </a:spcBef>
          <a:spcAft>
            <a:spcPct val="0"/>
          </a:spcAft>
          <a:buClr>
            <a:srgbClr val="3366FF"/>
          </a:buClr>
          <a:buSzTx/>
          <a:buFont typeface="Wingdings" panose="05000000000000000000" pitchFamily="2" charset="2"/>
          <a:buChar char="l"/>
          <a:defRPr kumimoji="1" lang="zh-CN" altLang="en-US" sz="2800" b="0" i="0" u="none" strike="noStrike" cap="none" normalizeH="0" baseline="0" smtClean="0">
            <a:ln>
              <a:noFill/>
            </a:ln>
            <a:solidFill>
              <a:schemeClr val="accent2"/>
            </a:solidFill>
            <a:effectLst/>
            <a:latin typeface="Times New Roman" panose="02020603050405020304" pitchFamily="18" charset="0"/>
            <a:ea typeface="黑体" panose="02010609060101010101" pitchFamily="49" charset="-122"/>
          </a:defRPr>
        </a:defPPr>
      </a:lstStyle>
    </a:spDef>
    <a:lnDef>
      <a:spPr bwMode="auto">
        <a:xfrm>
          <a:off x="0" y="0"/>
          <a:ext cx="1" cy="1"/>
        </a:xfrm>
        <a:custGeom>
          <a:avLst/>
          <a:gdLst/>
          <a:ahLst/>
          <a:cxnLst/>
          <a:rect l="0" t="0" r="0" b="0"/>
          <a:pathLst/>
        </a:custGeom>
        <a:noFill/>
        <a:ln w="12700" cap="flat" cmpd="sng" algn="ctr">
          <a:noFill/>
          <a:prstDash val="solid"/>
          <a:round/>
          <a:headEnd type="none" w="med" len="med"/>
          <a:tailEnd type="none" w="med" len="med"/>
        </a:ln>
      </a:spPr>
      <a:bodyPr vert="horz" wrap="none" lIns="91440" tIns="45720" rIns="91440" bIns="45720" numCol="1" anchor="t" anchorCtr="0" compatLnSpc="1">
        <a:spAutoFit/>
      </a:bodyPr>
      <a:lstStyle>
        <a:defPPr marL="342900" marR="0" indent="-342900" algn="l" defTabSz="914400" rtl="0" eaLnBrk="1" fontAlgn="base" latinLnBrk="0" hangingPunct="1">
          <a:lnSpc>
            <a:spcPct val="100000"/>
          </a:lnSpc>
          <a:spcBef>
            <a:spcPct val="20000"/>
          </a:spcBef>
          <a:spcAft>
            <a:spcPct val="0"/>
          </a:spcAft>
          <a:buClr>
            <a:srgbClr val="3366FF"/>
          </a:buClr>
          <a:buSzTx/>
          <a:buFont typeface="Wingdings" panose="05000000000000000000" pitchFamily="2" charset="2"/>
          <a:buChar char="l"/>
          <a:defRPr kumimoji="1" lang="zh-CN" altLang="en-US" sz="2800" b="0" i="0" u="none" strike="noStrike" cap="none" normalizeH="0" baseline="0" smtClean="0">
            <a:ln>
              <a:noFill/>
            </a:ln>
            <a:solidFill>
              <a:schemeClr val="accent2"/>
            </a:solidFill>
            <a:effectLst/>
            <a:latin typeface="Times New Roman" panose="02020603050405020304" pitchFamily="18" charset="0"/>
            <a:ea typeface="黑体" panose="02010609060101010101" pitchFamily="49" charset="-122"/>
          </a:defRPr>
        </a:defPPr>
      </a:lstStyle>
    </a:lnDef>
  </a:objectDefaults>
  <a:extraClrSchemeLst>
    <a:extraClrScheme>
      <a:clrScheme name="REREC模板（2004年2月） 1">
        <a:dk1>
          <a:srgbClr val="000000"/>
        </a:dk1>
        <a:lt1>
          <a:srgbClr val="FFFFFF"/>
        </a:lt1>
        <a:dk2>
          <a:srgbClr val="0000FF"/>
        </a:dk2>
        <a:lt2>
          <a:srgbClr val="FFCC66"/>
        </a:lt2>
        <a:accent1>
          <a:srgbClr val="00FFFF"/>
        </a:accent1>
        <a:accent2>
          <a:srgbClr val="3366FF"/>
        </a:accent2>
        <a:accent3>
          <a:srgbClr val="AAAAFF"/>
        </a:accent3>
        <a:accent4>
          <a:srgbClr val="DADADA"/>
        </a:accent4>
        <a:accent5>
          <a:srgbClr val="AAFFFF"/>
        </a:accent5>
        <a:accent6>
          <a:srgbClr val="2D5CE7"/>
        </a:accent6>
        <a:hlink>
          <a:srgbClr val="FF0033"/>
        </a:hlink>
        <a:folHlink>
          <a:srgbClr val="FFFF00"/>
        </a:folHlink>
      </a:clrScheme>
      <a:clrMap bg1="dk2" tx1="lt1" bg2="dk1" tx2="lt2" accent1="accent1" accent2="accent2" accent3="accent3" accent4="accent4" accent5="accent5" accent6="accent6" hlink="hlink" folHlink="folHlink"/>
    </a:extraClrScheme>
    <a:extraClrScheme>
      <a:clrScheme name="REREC模板（2004年2月） 2">
        <a:dk1>
          <a:srgbClr val="000000"/>
        </a:dk1>
        <a:lt1>
          <a:srgbClr val="FFFFFF"/>
        </a:lt1>
        <a:dk2>
          <a:srgbClr val="000000"/>
        </a:dk2>
        <a:lt2>
          <a:srgbClr val="CCECFF"/>
        </a:lt2>
        <a:accent1>
          <a:srgbClr val="6699FF"/>
        </a:accent1>
        <a:accent2>
          <a:srgbClr val="66CCFF"/>
        </a:accent2>
        <a:accent3>
          <a:srgbClr val="FFFFFF"/>
        </a:accent3>
        <a:accent4>
          <a:srgbClr val="000000"/>
        </a:accent4>
        <a:accent5>
          <a:srgbClr val="B8CAFF"/>
        </a:accent5>
        <a:accent6>
          <a:srgbClr val="5CB9E7"/>
        </a:accent6>
        <a:hlink>
          <a:srgbClr val="CC99FF"/>
        </a:hlink>
        <a:folHlink>
          <a:srgbClr val="00CCCC"/>
        </a:folHlink>
      </a:clrScheme>
      <a:clrMap bg1="lt1" tx1="dk1" bg2="lt2" tx2="dk2" accent1="accent1" accent2="accent2" accent3="accent3" accent4="accent4" accent5="accent5" accent6="accent6" hlink="hlink" folHlink="folHlink"/>
    </a:extraClrScheme>
    <a:extraClrScheme>
      <a:clrScheme name="REREC模板（2004年2月） 3">
        <a:dk1>
          <a:srgbClr val="000000"/>
        </a:dk1>
        <a:lt1>
          <a:srgbClr val="FFFFFF"/>
        </a:lt1>
        <a:dk2>
          <a:srgbClr val="000000"/>
        </a:dk2>
        <a:lt2>
          <a:srgbClr val="FFFFFF"/>
        </a:lt2>
        <a:accent1>
          <a:srgbClr val="CBCBCB"/>
        </a:accent1>
        <a:accent2>
          <a:srgbClr val="EAEAEA"/>
        </a:accent2>
        <a:accent3>
          <a:srgbClr val="FFFFFF"/>
        </a:accent3>
        <a:accent4>
          <a:srgbClr val="000000"/>
        </a:accent4>
        <a:accent5>
          <a:srgbClr val="E2E2E2"/>
        </a:accent5>
        <a:accent6>
          <a:srgbClr val="D4D4D4"/>
        </a:accent6>
        <a:hlink>
          <a:srgbClr val="5F5F5F"/>
        </a:hlink>
        <a:folHlink>
          <a:srgbClr val="969696"/>
        </a:folHlink>
      </a:clrScheme>
      <a:clrMap bg1="lt1" tx1="dk1" bg2="lt2" tx2="dk2" accent1="accent1" accent2="accent2" accent3="accent3" accent4="accent4" accent5="accent5" accent6="accent6" hlink="hlink" folHlink="folHlink"/>
    </a:extraClrScheme>
    <a:extraClrScheme>
      <a:clrScheme name="REREC模板（2004年2月） 4">
        <a:dk1>
          <a:srgbClr val="000000"/>
        </a:dk1>
        <a:lt1>
          <a:srgbClr val="FFFFFF"/>
        </a:lt1>
        <a:dk2>
          <a:srgbClr val="008080"/>
        </a:dk2>
        <a:lt2>
          <a:srgbClr val="FFCC66"/>
        </a:lt2>
        <a:accent1>
          <a:srgbClr val="0099CC"/>
        </a:accent1>
        <a:accent2>
          <a:srgbClr val="009999"/>
        </a:accent2>
        <a:accent3>
          <a:srgbClr val="AAC0C0"/>
        </a:accent3>
        <a:accent4>
          <a:srgbClr val="DADADA"/>
        </a:accent4>
        <a:accent5>
          <a:srgbClr val="AACAE2"/>
        </a:accent5>
        <a:accent6>
          <a:srgbClr val="008A8A"/>
        </a:accent6>
        <a:hlink>
          <a:srgbClr val="6600CC"/>
        </a:hlink>
        <a:folHlink>
          <a:srgbClr val="FFFF00"/>
        </a:folHlink>
      </a:clrScheme>
      <a:clrMap bg1="dk2" tx1="lt1" bg2="dk1" tx2="lt2" accent1="accent1" accent2="accent2" accent3="accent3" accent4="accent4" accent5="accent5" accent6="accent6" hlink="hlink" folHlink="folHlink"/>
    </a:extraClrScheme>
    <a:extraClrScheme>
      <a:clrScheme name="REREC模板（2004年2月） 5">
        <a:dk1>
          <a:srgbClr val="000000"/>
        </a:dk1>
        <a:lt1>
          <a:srgbClr val="FFFFFF"/>
        </a:lt1>
        <a:dk2>
          <a:srgbClr val="993300"/>
        </a:dk2>
        <a:lt2>
          <a:srgbClr val="FFCC66"/>
        </a:lt2>
        <a:accent1>
          <a:srgbClr val="FF6633"/>
        </a:accent1>
        <a:accent2>
          <a:srgbClr val="CC6600"/>
        </a:accent2>
        <a:accent3>
          <a:srgbClr val="CAADAA"/>
        </a:accent3>
        <a:accent4>
          <a:srgbClr val="DADADA"/>
        </a:accent4>
        <a:accent5>
          <a:srgbClr val="FFB8AD"/>
        </a:accent5>
        <a:accent6>
          <a:srgbClr val="B95C00"/>
        </a:accent6>
        <a:hlink>
          <a:srgbClr val="CC0000"/>
        </a:hlink>
        <a:folHlink>
          <a:srgbClr val="FFFF0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REREC模板（2004年2月）">
  <a:themeElements>
    <a:clrScheme name="">
      <a:dk1>
        <a:srgbClr val="000000"/>
      </a:dk1>
      <a:lt1>
        <a:srgbClr val="FFFFFF"/>
      </a:lt1>
      <a:dk2>
        <a:srgbClr val="FFCC66"/>
      </a:dk2>
      <a:lt2>
        <a:srgbClr val="000000"/>
      </a:lt2>
      <a:accent1>
        <a:srgbClr val="00FFFF"/>
      </a:accent1>
      <a:accent2>
        <a:srgbClr val="3366FF"/>
      </a:accent2>
      <a:accent3>
        <a:srgbClr val="FFFFFF"/>
      </a:accent3>
      <a:accent4>
        <a:srgbClr val="000000"/>
      </a:accent4>
      <a:accent5>
        <a:srgbClr val="AAFFFF"/>
      </a:accent5>
      <a:accent6>
        <a:srgbClr val="2D5CE7"/>
      </a:accent6>
      <a:hlink>
        <a:srgbClr val="FF0033"/>
      </a:hlink>
      <a:folHlink>
        <a:srgbClr val="FFFF00"/>
      </a:folHlink>
    </a:clrScheme>
    <a:fontScheme name="REREC模板（2004年2月）">
      <a:majorFont>
        <a:latin typeface="Arial"/>
        <a:ea typeface="黑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flat" cmpd="sng" algn="ctr">
          <a:noFill/>
          <a:prstDash val="solid"/>
          <a:round/>
          <a:headEnd type="none" w="med" len="med"/>
          <a:tailEnd type="none" w="med" len="med"/>
        </a:ln>
      </a:spPr>
      <a:bodyPr vert="horz" wrap="none" lIns="91440" tIns="45720" rIns="91440" bIns="45720" numCol="1" anchor="t" anchorCtr="0" compatLnSpc="1">
        <a:spAutoFit/>
      </a:bodyPr>
      <a:lstStyle>
        <a:defPPr marL="342900" marR="0" indent="-342900" algn="l" defTabSz="914400" rtl="0" eaLnBrk="1" fontAlgn="base" latinLnBrk="0" hangingPunct="1">
          <a:lnSpc>
            <a:spcPct val="100000"/>
          </a:lnSpc>
          <a:spcBef>
            <a:spcPct val="20000"/>
          </a:spcBef>
          <a:spcAft>
            <a:spcPct val="0"/>
          </a:spcAft>
          <a:buClr>
            <a:srgbClr val="3366FF"/>
          </a:buClr>
          <a:buSzTx/>
          <a:buFont typeface="Wingdings" panose="05000000000000000000" pitchFamily="2" charset="2"/>
          <a:buChar char="l"/>
          <a:defRPr kumimoji="1" lang="zh-CN" altLang="en-US" sz="2800" b="0" i="0" u="none" strike="noStrike" cap="none" normalizeH="0" baseline="0" smtClean="0">
            <a:ln>
              <a:noFill/>
            </a:ln>
            <a:solidFill>
              <a:schemeClr val="accent2"/>
            </a:solidFill>
            <a:effectLst/>
            <a:latin typeface="Times New Roman" panose="02020603050405020304" pitchFamily="18" charset="0"/>
            <a:ea typeface="黑体" panose="02010609060101010101" pitchFamily="49" charset="-122"/>
          </a:defRPr>
        </a:defPPr>
      </a:lstStyle>
    </a:spDef>
    <a:lnDef>
      <a:spPr bwMode="auto">
        <a:xfrm>
          <a:off x="0" y="0"/>
          <a:ext cx="1" cy="1"/>
        </a:xfrm>
        <a:custGeom>
          <a:avLst/>
          <a:gdLst/>
          <a:ahLst/>
          <a:cxnLst/>
          <a:rect l="0" t="0" r="0" b="0"/>
          <a:pathLst/>
        </a:custGeom>
        <a:noFill/>
        <a:ln w="12700" cap="flat" cmpd="sng" algn="ctr">
          <a:noFill/>
          <a:prstDash val="solid"/>
          <a:round/>
          <a:headEnd type="none" w="med" len="med"/>
          <a:tailEnd type="none" w="med" len="med"/>
        </a:ln>
      </a:spPr>
      <a:bodyPr vert="horz" wrap="none" lIns="91440" tIns="45720" rIns="91440" bIns="45720" numCol="1" anchor="t" anchorCtr="0" compatLnSpc="1">
        <a:spAutoFit/>
      </a:bodyPr>
      <a:lstStyle>
        <a:defPPr marL="342900" marR="0" indent="-342900" algn="l" defTabSz="914400" rtl="0" eaLnBrk="1" fontAlgn="base" latinLnBrk="0" hangingPunct="1">
          <a:lnSpc>
            <a:spcPct val="100000"/>
          </a:lnSpc>
          <a:spcBef>
            <a:spcPct val="20000"/>
          </a:spcBef>
          <a:spcAft>
            <a:spcPct val="0"/>
          </a:spcAft>
          <a:buClr>
            <a:srgbClr val="3366FF"/>
          </a:buClr>
          <a:buSzTx/>
          <a:buFont typeface="Wingdings" panose="05000000000000000000" pitchFamily="2" charset="2"/>
          <a:buChar char="l"/>
          <a:defRPr kumimoji="1" lang="zh-CN" altLang="en-US" sz="2800" b="0" i="0" u="none" strike="noStrike" cap="none" normalizeH="0" baseline="0" smtClean="0">
            <a:ln>
              <a:noFill/>
            </a:ln>
            <a:solidFill>
              <a:schemeClr val="accent2"/>
            </a:solidFill>
            <a:effectLst/>
            <a:latin typeface="Times New Roman" panose="02020603050405020304" pitchFamily="18" charset="0"/>
            <a:ea typeface="黑体" panose="02010609060101010101" pitchFamily="49" charset="-122"/>
          </a:defRPr>
        </a:defPPr>
      </a:lstStyle>
    </a:lnDef>
  </a:objectDefaults>
  <a:extraClrSchemeLst>
    <a:extraClrScheme>
      <a:clrScheme name="REREC模板（2004年2月） 1">
        <a:dk1>
          <a:srgbClr val="000000"/>
        </a:dk1>
        <a:lt1>
          <a:srgbClr val="FFFFFF"/>
        </a:lt1>
        <a:dk2>
          <a:srgbClr val="0000FF"/>
        </a:dk2>
        <a:lt2>
          <a:srgbClr val="FFCC66"/>
        </a:lt2>
        <a:accent1>
          <a:srgbClr val="00FFFF"/>
        </a:accent1>
        <a:accent2>
          <a:srgbClr val="3366FF"/>
        </a:accent2>
        <a:accent3>
          <a:srgbClr val="AAAAFF"/>
        </a:accent3>
        <a:accent4>
          <a:srgbClr val="DADADA"/>
        </a:accent4>
        <a:accent5>
          <a:srgbClr val="AAFFFF"/>
        </a:accent5>
        <a:accent6>
          <a:srgbClr val="2D5CE7"/>
        </a:accent6>
        <a:hlink>
          <a:srgbClr val="FF0033"/>
        </a:hlink>
        <a:folHlink>
          <a:srgbClr val="FFFF00"/>
        </a:folHlink>
      </a:clrScheme>
      <a:clrMap bg1="dk2" tx1="lt1" bg2="dk1" tx2="lt2" accent1="accent1" accent2="accent2" accent3="accent3" accent4="accent4" accent5="accent5" accent6="accent6" hlink="hlink" folHlink="folHlink"/>
    </a:extraClrScheme>
    <a:extraClrScheme>
      <a:clrScheme name="REREC模板（2004年2月） 2">
        <a:dk1>
          <a:srgbClr val="000000"/>
        </a:dk1>
        <a:lt1>
          <a:srgbClr val="FFFFFF"/>
        </a:lt1>
        <a:dk2>
          <a:srgbClr val="000000"/>
        </a:dk2>
        <a:lt2>
          <a:srgbClr val="CCECFF"/>
        </a:lt2>
        <a:accent1>
          <a:srgbClr val="6699FF"/>
        </a:accent1>
        <a:accent2>
          <a:srgbClr val="66CCFF"/>
        </a:accent2>
        <a:accent3>
          <a:srgbClr val="FFFFFF"/>
        </a:accent3>
        <a:accent4>
          <a:srgbClr val="000000"/>
        </a:accent4>
        <a:accent5>
          <a:srgbClr val="B8CAFF"/>
        </a:accent5>
        <a:accent6>
          <a:srgbClr val="5CB9E7"/>
        </a:accent6>
        <a:hlink>
          <a:srgbClr val="CC99FF"/>
        </a:hlink>
        <a:folHlink>
          <a:srgbClr val="00CCCC"/>
        </a:folHlink>
      </a:clrScheme>
      <a:clrMap bg1="lt1" tx1="dk1" bg2="lt2" tx2="dk2" accent1="accent1" accent2="accent2" accent3="accent3" accent4="accent4" accent5="accent5" accent6="accent6" hlink="hlink" folHlink="folHlink"/>
    </a:extraClrScheme>
    <a:extraClrScheme>
      <a:clrScheme name="REREC模板（2004年2月） 3">
        <a:dk1>
          <a:srgbClr val="000000"/>
        </a:dk1>
        <a:lt1>
          <a:srgbClr val="FFFFFF"/>
        </a:lt1>
        <a:dk2>
          <a:srgbClr val="000000"/>
        </a:dk2>
        <a:lt2>
          <a:srgbClr val="FFFFFF"/>
        </a:lt2>
        <a:accent1>
          <a:srgbClr val="CBCBCB"/>
        </a:accent1>
        <a:accent2>
          <a:srgbClr val="EAEAEA"/>
        </a:accent2>
        <a:accent3>
          <a:srgbClr val="FFFFFF"/>
        </a:accent3>
        <a:accent4>
          <a:srgbClr val="000000"/>
        </a:accent4>
        <a:accent5>
          <a:srgbClr val="E2E2E2"/>
        </a:accent5>
        <a:accent6>
          <a:srgbClr val="D4D4D4"/>
        </a:accent6>
        <a:hlink>
          <a:srgbClr val="5F5F5F"/>
        </a:hlink>
        <a:folHlink>
          <a:srgbClr val="969696"/>
        </a:folHlink>
      </a:clrScheme>
      <a:clrMap bg1="lt1" tx1="dk1" bg2="lt2" tx2="dk2" accent1="accent1" accent2="accent2" accent3="accent3" accent4="accent4" accent5="accent5" accent6="accent6" hlink="hlink" folHlink="folHlink"/>
    </a:extraClrScheme>
    <a:extraClrScheme>
      <a:clrScheme name="REREC模板（2004年2月） 4">
        <a:dk1>
          <a:srgbClr val="000000"/>
        </a:dk1>
        <a:lt1>
          <a:srgbClr val="FFFFFF"/>
        </a:lt1>
        <a:dk2>
          <a:srgbClr val="008080"/>
        </a:dk2>
        <a:lt2>
          <a:srgbClr val="FFCC66"/>
        </a:lt2>
        <a:accent1>
          <a:srgbClr val="0099CC"/>
        </a:accent1>
        <a:accent2>
          <a:srgbClr val="009999"/>
        </a:accent2>
        <a:accent3>
          <a:srgbClr val="AAC0C0"/>
        </a:accent3>
        <a:accent4>
          <a:srgbClr val="DADADA"/>
        </a:accent4>
        <a:accent5>
          <a:srgbClr val="AACAE2"/>
        </a:accent5>
        <a:accent6>
          <a:srgbClr val="008A8A"/>
        </a:accent6>
        <a:hlink>
          <a:srgbClr val="6600CC"/>
        </a:hlink>
        <a:folHlink>
          <a:srgbClr val="FFFF00"/>
        </a:folHlink>
      </a:clrScheme>
      <a:clrMap bg1="dk2" tx1="lt1" bg2="dk1" tx2="lt2" accent1="accent1" accent2="accent2" accent3="accent3" accent4="accent4" accent5="accent5" accent6="accent6" hlink="hlink" folHlink="folHlink"/>
    </a:extraClrScheme>
    <a:extraClrScheme>
      <a:clrScheme name="REREC模板（2004年2月） 5">
        <a:dk1>
          <a:srgbClr val="000000"/>
        </a:dk1>
        <a:lt1>
          <a:srgbClr val="FFFFFF"/>
        </a:lt1>
        <a:dk2>
          <a:srgbClr val="993300"/>
        </a:dk2>
        <a:lt2>
          <a:srgbClr val="FFCC66"/>
        </a:lt2>
        <a:accent1>
          <a:srgbClr val="FF6633"/>
        </a:accent1>
        <a:accent2>
          <a:srgbClr val="CC6600"/>
        </a:accent2>
        <a:accent3>
          <a:srgbClr val="CAADAA"/>
        </a:accent3>
        <a:accent4>
          <a:srgbClr val="DADADA"/>
        </a:accent4>
        <a:accent5>
          <a:srgbClr val="FFB8AD"/>
        </a:accent5>
        <a:accent6>
          <a:srgbClr val="B95C00"/>
        </a:accent6>
        <a:hlink>
          <a:srgbClr val="CC0000"/>
        </a:hlink>
        <a:folHlink>
          <a:srgbClr val="FFFF0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REREC模板（2004年2月）">
  <a:themeElements>
    <a:clrScheme name="">
      <a:dk1>
        <a:srgbClr val="000000"/>
      </a:dk1>
      <a:lt1>
        <a:srgbClr val="FFFFFF"/>
      </a:lt1>
      <a:dk2>
        <a:srgbClr val="FFCC66"/>
      </a:dk2>
      <a:lt2>
        <a:srgbClr val="000000"/>
      </a:lt2>
      <a:accent1>
        <a:srgbClr val="00FFFF"/>
      </a:accent1>
      <a:accent2>
        <a:srgbClr val="3366FF"/>
      </a:accent2>
      <a:accent3>
        <a:srgbClr val="FFFFFF"/>
      </a:accent3>
      <a:accent4>
        <a:srgbClr val="000000"/>
      </a:accent4>
      <a:accent5>
        <a:srgbClr val="AAFFFF"/>
      </a:accent5>
      <a:accent6>
        <a:srgbClr val="2D5CE7"/>
      </a:accent6>
      <a:hlink>
        <a:srgbClr val="FF0033"/>
      </a:hlink>
      <a:folHlink>
        <a:srgbClr val="FFFF00"/>
      </a:folHlink>
    </a:clrScheme>
    <a:fontScheme name="REREC模板（2004年2月）">
      <a:majorFont>
        <a:latin typeface="Arial"/>
        <a:ea typeface="黑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flat" cmpd="sng" algn="ctr">
          <a:noFill/>
          <a:prstDash val="solid"/>
          <a:round/>
          <a:headEnd type="none" w="med" len="med"/>
          <a:tailEnd type="none" w="med" len="med"/>
        </a:ln>
      </a:spPr>
      <a:bodyPr vert="horz" wrap="none" lIns="91440" tIns="45720" rIns="91440" bIns="45720" numCol="1" anchor="t" anchorCtr="0" compatLnSpc="1">
        <a:spAutoFit/>
      </a:bodyPr>
      <a:lstStyle>
        <a:defPPr marL="342900" marR="0" indent="-342900" algn="l" defTabSz="914400" rtl="0" eaLnBrk="1" fontAlgn="base" latinLnBrk="0" hangingPunct="1">
          <a:lnSpc>
            <a:spcPct val="100000"/>
          </a:lnSpc>
          <a:spcBef>
            <a:spcPct val="20000"/>
          </a:spcBef>
          <a:spcAft>
            <a:spcPct val="0"/>
          </a:spcAft>
          <a:buClr>
            <a:srgbClr val="3366FF"/>
          </a:buClr>
          <a:buSzTx/>
          <a:buFont typeface="Wingdings" panose="05000000000000000000" pitchFamily="2" charset="2"/>
          <a:buChar char="l"/>
          <a:defRPr kumimoji="1" lang="zh-CN" altLang="en-US" sz="2800" b="0" i="0" u="none" strike="noStrike" cap="none" normalizeH="0" baseline="0" smtClean="0">
            <a:ln>
              <a:noFill/>
            </a:ln>
            <a:solidFill>
              <a:schemeClr val="accent2"/>
            </a:solidFill>
            <a:effectLst/>
            <a:latin typeface="Times New Roman" panose="02020603050405020304" pitchFamily="18" charset="0"/>
            <a:ea typeface="黑体" panose="02010609060101010101" pitchFamily="49" charset="-122"/>
          </a:defRPr>
        </a:defPPr>
      </a:lstStyle>
    </a:spDef>
    <a:lnDef>
      <a:spPr bwMode="auto">
        <a:xfrm>
          <a:off x="0" y="0"/>
          <a:ext cx="1" cy="1"/>
        </a:xfrm>
        <a:custGeom>
          <a:avLst/>
          <a:gdLst/>
          <a:ahLst/>
          <a:cxnLst/>
          <a:rect l="0" t="0" r="0" b="0"/>
          <a:pathLst/>
        </a:custGeom>
        <a:noFill/>
        <a:ln w="12700" cap="flat" cmpd="sng" algn="ctr">
          <a:noFill/>
          <a:prstDash val="solid"/>
          <a:round/>
          <a:headEnd type="none" w="med" len="med"/>
          <a:tailEnd type="none" w="med" len="med"/>
        </a:ln>
      </a:spPr>
      <a:bodyPr vert="horz" wrap="none" lIns="91440" tIns="45720" rIns="91440" bIns="45720" numCol="1" anchor="t" anchorCtr="0" compatLnSpc="1">
        <a:spAutoFit/>
      </a:bodyPr>
      <a:lstStyle>
        <a:defPPr marL="342900" marR="0" indent="-342900" algn="l" defTabSz="914400" rtl="0" eaLnBrk="1" fontAlgn="base" latinLnBrk="0" hangingPunct="1">
          <a:lnSpc>
            <a:spcPct val="100000"/>
          </a:lnSpc>
          <a:spcBef>
            <a:spcPct val="20000"/>
          </a:spcBef>
          <a:spcAft>
            <a:spcPct val="0"/>
          </a:spcAft>
          <a:buClr>
            <a:srgbClr val="3366FF"/>
          </a:buClr>
          <a:buSzTx/>
          <a:buFont typeface="Wingdings" panose="05000000000000000000" pitchFamily="2" charset="2"/>
          <a:buChar char="l"/>
          <a:defRPr kumimoji="1" lang="zh-CN" altLang="en-US" sz="2800" b="0" i="0" u="none" strike="noStrike" cap="none" normalizeH="0" baseline="0" smtClean="0">
            <a:ln>
              <a:noFill/>
            </a:ln>
            <a:solidFill>
              <a:schemeClr val="accent2"/>
            </a:solidFill>
            <a:effectLst/>
            <a:latin typeface="Times New Roman" panose="02020603050405020304" pitchFamily="18" charset="0"/>
            <a:ea typeface="黑体" panose="02010609060101010101" pitchFamily="49" charset="-122"/>
          </a:defRPr>
        </a:defPPr>
      </a:lstStyle>
    </a:lnDef>
  </a:objectDefaults>
  <a:extraClrSchemeLst>
    <a:extraClrScheme>
      <a:clrScheme name="REREC模板（2004年2月） 1">
        <a:dk1>
          <a:srgbClr val="000000"/>
        </a:dk1>
        <a:lt1>
          <a:srgbClr val="FFFFFF"/>
        </a:lt1>
        <a:dk2>
          <a:srgbClr val="0000FF"/>
        </a:dk2>
        <a:lt2>
          <a:srgbClr val="FFCC66"/>
        </a:lt2>
        <a:accent1>
          <a:srgbClr val="00FFFF"/>
        </a:accent1>
        <a:accent2>
          <a:srgbClr val="3366FF"/>
        </a:accent2>
        <a:accent3>
          <a:srgbClr val="AAAAFF"/>
        </a:accent3>
        <a:accent4>
          <a:srgbClr val="DADADA"/>
        </a:accent4>
        <a:accent5>
          <a:srgbClr val="AAFFFF"/>
        </a:accent5>
        <a:accent6>
          <a:srgbClr val="2D5CE7"/>
        </a:accent6>
        <a:hlink>
          <a:srgbClr val="FF0033"/>
        </a:hlink>
        <a:folHlink>
          <a:srgbClr val="FFFF00"/>
        </a:folHlink>
      </a:clrScheme>
      <a:clrMap bg1="dk2" tx1="lt1" bg2="dk1" tx2="lt2" accent1="accent1" accent2="accent2" accent3="accent3" accent4="accent4" accent5="accent5" accent6="accent6" hlink="hlink" folHlink="folHlink"/>
    </a:extraClrScheme>
    <a:extraClrScheme>
      <a:clrScheme name="REREC模板（2004年2月） 2">
        <a:dk1>
          <a:srgbClr val="000000"/>
        </a:dk1>
        <a:lt1>
          <a:srgbClr val="FFFFFF"/>
        </a:lt1>
        <a:dk2>
          <a:srgbClr val="000000"/>
        </a:dk2>
        <a:lt2>
          <a:srgbClr val="CCECFF"/>
        </a:lt2>
        <a:accent1>
          <a:srgbClr val="6699FF"/>
        </a:accent1>
        <a:accent2>
          <a:srgbClr val="66CCFF"/>
        </a:accent2>
        <a:accent3>
          <a:srgbClr val="FFFFFF"/>
        </a:accent3>
        <a:accent4>
          <a:srgbClr val="000000"/>
        </a:accent4>
        <a:accent5>
          <a:srgbClr val="B8CAFF"/>
        </a:accent5>
        <a:accent6>
          <a:srgbClr val="5CB9E7"/>
        </a:accent6>
        <a:hlink>
          <a:srgbClr val="CC99FF"/>
        </a:hlink>
        <a:folHlink>
          <a:srgbClr val="00CCCC"/>
        </a:folHlink>
      </a:clrScheme>
      <a:clrMap bg1="lt1" tx1="dk1" bg2="lt2" tx2="dk2" accent1="accent1" accent2="accent2" accent3="accent3" accent4="accent4" accent5="accent5" accent6="accent6" hlink="hlink" folHlink="folHlink"/>
    </a:extraClrScheme>
    <a:extraClrScheme>
      <a:clrScheme name="REREC模板（2004年2月） 3">
        <a:dk1>
          <a:srgbClr val="000000"/>
        </a:dk1>
        <a:lt1>
          <a:srgbClr val="FFFFFF"/>
        </a:lt1>
        <a:dk2>
          <a:srgbClr val="000000"/>
        </a:dk2>
        <a:lt2>
          <a:srgbClr val="FFFFFF"/>
        </a:lt2>
        <a:accent1>
          <a:srgbClr val="CBCBCB"/>
        </a:accent1>
        <a:accent2>
          <a:srgbClr val="EAEAEA"/>
        </a:accent2>
        <a:accent3>
          <a:srgbClr val="FFFFFF"/>
        </a:accent3>
        <a:accent4>
          <a:srgbClr val="000000"/>
        </a:accent4>
        <a:accent5>
          <a:srgbClr val="E2E2E2"/>
        </a:accent5>
        <a:accent6>
          <a:srgbClr val="D4D4D4"/>
        </a:accent6>
        <a:hlink>
          <a:srgbClr val="5F5F5F"/>
        </a:hlink>
        <a:folHlink>
          <a:srgbClr val="969696"/>
        </a:folHlink>
      </a:clrScheme>
      <a:clrMap bg1="lt1" tx1="dk1" bg2="lt2" tx2="dk2" accent1="accent1" accent2="accent2" accent3="accent3" accent4="accent4" accent5="accent5" accent6="accent6" hlink="hlink" folHlink="folHlink"/>
    </a:extraClrScheme>
    <a:extraClrScheme>
      <a:clrScheme name="REREC模板（2004年2月） 4">
        <a:dk1>
          <a:srgbClr val="000000"/>
        </a:dk1>
        <a:lt1>
          <a:srgbClr val="FFFFFF"/>
        </a:lt1>
        <a:dk2>
          <a:srgbClr val="008080"/>
        </a:dk2>
        <a:lt2>
          <a:srgbClr val="FFCC66"/>
        </a:lt2>
        <a:accent1>
          <a:srgbClr val="0099CC"/>
        </a:accent1>
        <a:accent2>
          <a:srgbClr val="009999"/>
        </a:accent2>
        <a:accent3>
          <a:srgbClr val="AAC0C0"/>
        </a:accent3>
        <a:accent4>
          <a:srgbClr val="DADADA"/>
        </a:accent4>
        <a:accent5>
          <a:srgbClr val="AACAE2"/>
        </a:accent5>
        <a:accent6>
          <a:srgbClr val="008A8A"/>
        </a:accent6>
        <a:hlink>
          <a:srgbClr val="6600CC"/>
        </a:hlink>
        <a:folHlink>
          <a:srgbClr val="FFFF00"/>
        </a:folHlink>
      </a:clrScheme>
      <a:clrMap bg1="dk2" tx1="lt1" bg2="dk1" tx2="lt2" accent1="accent1" accent2="accent2" accent3="accent3" accent4="accent4" accent5="accent5" accent6="accent6" hlink="hlink" folHlink="folHlink"/>
    </a:extraClrScheme>
    <a:extraClrScheme>
      <a:clrScheme name="REREC模板（2004年2月） 5">
        <a:dk1>
          <a:srgbClr val="000000"/>
        </a:dk1>
        <a:lt1>
          <a:srgbClr val="FFFFFF"/>
        </a:lt1>
        <a:dk2>
          <a:srgbClr val="993300"/>
        </a:dk2>
        <a:lt2>
          <a:srgbClr val="FFCC66"/>
        </a:lt2>
        <a:accent1>
          <a:srgbClr val="FF6633"/>
        </a:accent1>
        <a:accent2>
          <a:srgbClr val="CC6600"/>
        </a:accent2>
        <a:accent3>
          <a:srgbClr val="CAADAA"/>
        </a:accent3>
        <a:accent4>
          <a:srgbClr val="DADADA"/>
        </a:accent4>
        <a:accent5>
          <a:srgbClr val="FFB8AD"/>
        </a:accent5>
        <a:accent6>
          <a:srgbClr val="B95C00"/>
        </a:accent6>
        <a:hlink>
          <a:srgbClr val="CC0000"/>
        </a:hlink>
        <a:folHlink>
          <a:srgbClr val="FFFF0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西安交通大学</Template>
  <TotalTime>1253</TotalTime>
  <Words>11807</Words>
  <Application>Microsoft Office PowerPoint</Application>
  <PresentationFormat>全屏显示(4:3)</PresentationFormat>
  <Paragraphs>862</Paragraphs>
  <Slides>39</Slides>
  <Notes>37</Notes>
  <HiddenSlides>0</HiddenSlides>
  <MMClips>0</MMClips>
  <ScaleCrop>false</ScaleCrop>
  <HeadingPairs>
    <vt:vector size="8" baseType="variant">
      <vt:variant>
        <vt:lpstr>已用的字体</vt:lpstr>
      </vt:variant>
      <vt:variant>
        <vt:i4>13</vt:i4>
      </vt:variant>
      <vt:variant>
        <vt:lpstr>主题</vt:lpstr>
      </vt:variant>
      <vt:variant>
        <vt:i4>4</vt:i4>
      </vt:variant>
      <vt:variant>
        <vt:lpstr>嵌入 OLE 服务器</vt:lpstr>
      </vt:variant>
      <vt:variant>
        <vt:i4>4</vt:i4>
      </vt:variant>
      <vt:variant>
        <vt:lpstr>幻灯片标题</vt:lpstr>
      </vt:variant>
      <vt:variant>
        <vt:i4>39</vt:i4>
      </vt:variant>
    </vt:vector>
  </HeadingPairs>
  <TitlesOfParts>
    <vt:vector size="60" baseType="lpstr">
      <vt:lpstr>Monotype Sorts</vt:lpstr>
      <vt:lpstr>仿宋_GB2312</vt:lpstr>
      <vt:lpstr>黑体</vt:lpstr>
      <vt:lpstr>华文宋体</vt:lpstr>
      <vt:lpstr>华文中宋</vt:lpstr>
      <vt:lpstr>楷体_GB2312</vt:lpstr>
      <vt:lpstr>宋体</vt:lpstr>
      <vt:lpstr>微软雅黑</vt:lpstr>
      <vt:lpstr>Arial</vt:lpstr>
      <vt:lpstr>Garamond</vt:lpstr>
      <vt:lpstr>Times New Roman</vt:lpstr>
      <vt:lpstr>Verdana</vt:lpstr>
      <vt:lpstr>Wingdings</vt:lpstr>
      <vt:lpstr>REREC模板（2004年2月）</vt:lpstr>
      <vt:lpstr>1_REREC模板（2004年2月）</vt:lpstr>
      <vt:lpstr>2_REREC模板（2004年2月）</vt:lpstr>
      <vt:lpstr>3_REREC模板（2004年2月）</vt:lpstr>
      <vt:lpstr>Photoshop.Image.7</vt:lpstr>
      <vt:lpstr>Microsoft Visio 2003-2010 绘图</vt:lpstr>
      <vt:lpstr>Microsoft Visio 2000/2002 Drawing</vt:lpstr>
      <vt:lpstr>Visio</vt:lpstr>
      <vt:lpstr>计算机网络</vt:lpstr>
      <vt:lpstr>第一章  概  述</vt:lpstr>
      <vt:lpstr>1.1计算机网络的定义</vt:lpstr>
      <vt:lpstr>1.2 计算机网络的产生和发展</vt:lpstr>
      <vt:lpstr>以单计算机为中心的联机系统</vt:lpstr>
      <vt:lpstr>分组交换网络</vt:lpstr>
      <vt:lpstr>分组交换网络</vt:lpstr>
      <vt:lpstr>分组交换网络</vt:lpstr>
      <vt:lpstr>体系结构标准化网络</vt:lpstr>
      <vt:lpstr>计算机网络的蓬勃发展</vt:lpstr>
      <vt:lpstr>软件定义网络SDN</vt:lpstr>
      <vt:lpstr>CENI未来网络体系架构</vt:lpstr>
      <vt:lpstr>1.3 计算机网络分类</vt:lpstr>
      <vt:lpstr>计算机互联网络示意图</vt:lpstr>
      <vt:lpstr>1.4 计算机网络的结构</vt:lpstr>
      <vt:lpstr>拓扑结构</vt:lpstr>
      <vt:lpstr>总线形拓扑</vt:lpstr>
      <vt:lpstr>星形拓扑</vt:lpstr>
      <vt:lpstr>环形拓扑</vt:lpstr>
      <vt:lpstr>树形拓扑</vt:lpstr>
      <vt:lpstr>网状形拓扑</vt:lpstr>
      <vt:lpstr>网络拓扑结构的选择因素</vt:lpstr>
      <vt:lpstr>网络拓扑决策参考</vt:lpstr>
      <vt:lpstr>网络的逻辑结构</vt:lpstr>
      <vt:lpstr>广播式网络</vt:lpstr>
      <vt:lpstr>点到点式网络</vt:lpstr>
      <vt:lpstr>物理结构和逻辑结构关系举例</vt:lpstr>
      <vt:lpstr>1.5 计算机网络的性能指标</vt:lpstr>
      <vt:lpstr>时延带宽积</vt:lpstr>
      <vt:lpstr>传输速率</vt:lpstr>
      <vt:lpstr> 波特率和比特率关系</vt:lpstr>
      <vt:lpstr> 带宽和吞吐量 </vt:lpstr>
      <vt:lpstr>可靠性指标-误码率</vt:lpstr>
      <vt:lpstr>1.6 计算机网络应用</vt:lpstr>
      <vt:lpstr>1.7 计算机网络相关国际标准化组织</vt:lpstr>
      <vt:lpstr>电信标准化组织</vt:lpstr>
      <vt:lpstr>Internet标准组织</vt:lpstr>
      <vt:lpstr>RFC </vt:lpstr>
      <vt:lpstr>其它标准化组织</vt:lpstr>
    </vt:vector>
  </TitlesOfParts>
  <Company>xjtu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第一章概述</dc:title>
  <dc:creator>zhuhaiping</dc:creator>
  <cp:lastModifiedBy>微软用户</cp:lastModifiedBy>
  <cp:revision>363</cp:revision>
  <dcterms:created xsi:type="dcterms:W3CDTF">1999-09-03T07:07:00Z</dcterms:created>
  <dcterms:modified xsi:type="dcterms:W3CDTF">2025-08-27T09:29:56Z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2052-11.1.0.13703</vt:lpwstr>
  </property>
  <property fmtid="{D5CDD505-2E9C-101B-9397-08002B2CF9AE}" pid="3" name="ICV">
    <vt:lpwstr>64C9C14AD2D047B6987238CB2EB897D1</vt:lpwstr>
  </property>
</Properties>
</file>