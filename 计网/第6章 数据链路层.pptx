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95"/>
  </p:notesMasterIdLst>
  <p:handoutMasterIdLst>
    <p:handoutMasterId r:id="rId96"/>
  </p:handoutMasterIdLst>
  <p:sldIdLst>
    <p:sldId id="546" r:id="rId2"/>
    <p:sldId id="360" r:id="rId3"/>
    <p:sldId id="432" r:id="rId4"/>
    <p:sldId id="258" r:id="rId5"/>
    <p:sldId id="267" r:id="rId6"/>
    <p:sldId id="398" r:id="rId7"/>
    <p:sldId id="264" r:id="rId8"/>
    <p:sldId id="375" r:id="rId9"/>
    <p:sldId id="269" r:id="rId10"/>
    <p:sldId id="479" r:id="rId11"/>
    <p:sldId id="376" r:id="rId12"/>
    <p:sldId id="393" r:id="rId13"/>
    <p:sldId id="275" r:id="rId14"/>
    <p:sldId id="381" r:id="rId15"/>
    <p:sldId id="276" r:id="rId16"/>
    <p:sldId id="280" r:id="rId17"/>
    <p:sldId id="282" r:id="rId18"/>
    <p:sldId id="284" r:id="rId19"/>
    <p:sldId id="390" r:id="rId20"/>
    <p:sldId id="259" r:id="rId21"/>
    <p:sldId id="446" r:id="rId22"/>
    <p:sldId id="447" r:id="rId23"/>
    <p:sldId id="261" r:id="rId24"/>
    <p:sldId id="397" r:id="rId25"/>
    <p:sldId id="386" r:id="rId26"/>
    <p:sldId id="295" r:id="rId27"/>
    <p:sldId id="460" r:id="rId28"/>
    <p:sldId id="291" r:id="rId29"/>
    <p:sldId id="476" r:id="rId30"/>
    <p:sldId id="481" r:id="rId31"/>
    <p:sldId id="457" r:id="rId32"/>
    <p:sldId id="482" r:id="rId33"/>
    <p:sldId id="483" r:id="rId34"/>
    <p:sldId id="484" r:id="rId35"/>
    <p:sldId id="485" r:id="rId36"/>
    <p:sldId id="486" r:id="rId37"/>
    <p:sldId id="487" r:id="rId38"/>
    <p:sldId id="488" r:id="rId39"/>
    <p:sldId id="489" r:id="rId40"/>
    <p:sldId id="490" r:id="rId41"/>
    <p:sldId id="491" r:id="rId42"/>
    <p:sldId id="492" r:id="rId43"/>
    <p:sldId id="419" r:id="rId44"/>
    <p:sldId id="420" r:id="rId45"/>
    <p:sldId id="421" r:id="rId46"/>
    <p:sldId id="422" r:id="rId47"/>
    <p:sldId id="423" r:id="rId48"/>
    <p:sldId id="493" r:id="rId49"/>
    <p:sldId id="495" r:id="rId50"/>
    <p:sldId id="497" r:id="rId51"/>
    <p:sldId id="498" r:id="rId52"/>
    <p:sldId id="499" r:id="rId53"/>
    <p:sldId id="500" r:id="rId54"/>
    <p:sldId id="502" r:id="rId55"/>
    <p:sldId id="503" r:id="rId56"/>
    <p:sldId id="504" r:id="rId57"/>
    <p:sldId id="505" r:id="rId58"/>
    <p:sldId id="506" r:id="rId59"/>
    <p:sldId id="507" r:id="rId60"/>
    <p:sldId id="509" r:id="rId61"/>
    <p:sldId id="510" r:id="rId62"/>
    <p:sldId id="511" r:id="rId63"/>
    <p:sldId id="512" r:id="rId64"/>
    <p:sldId id="513" r:id="rId65"/>
    <p:sldId id="514" r:id="rId66"/>
    <p:sldId id="515" r:id="rId67"/>
    <p:sldId id="516" r:id="rId68"/>
    <p:sldId id="517" r:id="rId69"/>
    <p:sldId id="518" r:id="rId70"/>
    <p:sldId id="519" r:id="rId71"/>
    <p:sldId id="521" r:id="rId72"/>
    <p:sldId id="522" r:id="rId73"/>
    <p:sldId id="524" r:id="rId74"/>
    <p:sldId id="525" r:id="rId75"/>
    <p:sldId id="526" r:id="rId76"/>
    <p:sldId id="527" r:id="rId77"/>
    <p:sldId id="528" r:id="rId78"/>
    <p:sldId id="529" r:id="rId79"/>
    <p:sldId id="530" r:id="rId80"/>
    <p:sldId id="531" r:id="rId81"/>
    <p:sldId id="533" r:id="rId82"/>
    <p:sldId id="532" r:id="rId83"/>
    <p:sldId id="534" r:id="rId84"/>
    <p:sldId id="537" r:id="rId85"/>
    <p:sldId id="538" r:id="rId86"/>
    <p:sldId id="535" r:id="rId87"/>
    <p:sldId id="539" r:id="rId88"/>
    <p:sldId id="540" r:id="rId89"/>
    <p:sldId id="541" r:id="rId90"/>
    <p:sldId id="547" r:id="rId91"/>
    <p:sldId id="543" r:id="rId92"/>
    <p:sldId id="544" r:id="rId93"/>
    <p:sldId id="545" r:id="rId94"/>
  </p:sldIdLst>
  <p:sldSz cx="9144000" cy="6858000" type="screen4x3"/>
  <p:notesSz cx="6858000" cy="9144000"/>
  <p:custDataLst>
    <p:tags r:id="rId97"/>
  </p:custDataLst>
  <p:defaultTextStyle>
    <a:defPPr>
      <a:defRPr lang="zh-CN"/>
    </a:defPPr>
    <a:lvl1pPr algn="l" rtl="0" eaLnBrk="0" fontAlgn="base" hangingPunct="0">
      <a:spcBef>
        <a:spcPct val="0"/>
      </a:spcBef>
      <a:spcAft>
        <a:spcPct val="0"/>
      </a:spcAft>
      <a:defRPr kumimoji="1" sz="2800" b="1" kern="1200">
        <a:solidFill>
          <a:schemeClr val="accent2"/>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2800" b="1" kern="1200">
        <a:solidFill>
          <a:schemeClr val="accent2"/>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2800" b="1" kern="1200">
        <a:solidFill>
          <a:schemeClr val="accent2"/>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2800" b="1" kern="1200">
        <a:solidFill>
          <a:schemeClr val="accent2"/>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2800" b="1" kern="1200">
        <a:solidFill>
          <a:schemeClr val="accent2"/>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2800" b="1" kern="1200">
        <a:solidFill>
          <a:schemeClr val="accent2"/>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2800" b="1" kern="1200">
        <a:solidFill>
          <a:schemeClr val="accent2"/>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2800" b="1" kern="1200">
        <a:solidFill>
          <a:schemeClr val="accent2"/>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2800" b="1" kern="1200">
        <a:solidFill>
          <a:schemeClr val="accent2"/>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66"/>
    <a:srgbClr val="000099"/>
    <a:srgbClr val="FF6600"/>
    <a:srgbClr val="FF3300"/>
    <a:srgbClr val="660033"/>
    <a:srgbClr val="FF5050"/>
    <a:srgbClr val="F1DFBF"/>
    <a:srgbClr val="F9F6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9" autoAdjust="0"/>
    <p:restoredTop sz="61844" autoAdjust="0"/>
  </p:normalViewPr>
  <p:slideViewPr>
    <p:cSldViewPr showGuides="1">
      <p:cViewPr varScale="1">
        <p:scale>
          <a:sx n="67" d="100"/>
          <a:sy n="67" d="100"/>
        </p:scale>
        <p:origin x="888" y="7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Lst>
  </p:outlineViewPr>
  <p:notesTextViewPr>
    <p:cViewPr>
      <p:scale>
        <a:sx n="100" d="100"/>
        <a:sy n="100" d="100"/>
      </p:scale>
      <p:origin x="0" y="0"/>
    </p:cViewPr>
  </p:notesTextViewPr>
  <p:sorterViewPr>
    <p:cViewPr>
      <p:scale>
        <a:sx n="66" d="100"/>
        <a:sy n="66" d="100"/>
      </p:scale>
      <p:origin x="0" y="568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11.xml"/><Relationship Id="rId13" Type="http://schemas.openxmlformats.org/officeDocument/2006/relationships/slide" Target="slides/slide25.xml"/><Relationship Id="rId18" Type="http://schemas.openxmlformats.org/officeDocument/2006/relationships/slide" Target="slides/slide44.xml"/><Relationship Id="rId3" Type="http://schemas.openxmlformats.org/officeDocument/2006/relationships/slide" Target="slides/slide5.xml"/><Relationship Id="rId21" Type="http://schemas.openxmlformats.org/officeDocument/2006/relationships/slide" Target="slides/slide48.xml"/><Relationship Id="rId7" Type="http://schemas.openxmlformats.org/officeDocument/2006/relationships/slide" Target="slides/slide10.xml"/><Relationship Id="rId12" Type="http://schemas.openxmlformats.org/officeDocument/2006/relationships/slide" Target="slides/slide23.xml"/><Relationship Id="rId17" Type="http://schemas.openxmlformats.org/officeDocument/2006/relationships/slide" Target="slides/slide43.xml"/><Relationship Id="rId2" Type="http://schemas.openxmlformats.org/officeDocument/2006/relationships/slide" Target="slides/slide4.xml"/><Relationship Id="rId16" Type="http://schemas.openxmlformats.org/officeDocument/2006/relationships/slide" Target="slides/slide31.xml"/><Relationship Id="rId20" Type="http://schemas.openxmlformats.org/officeDocument/2006/relationships/slide" Target="slides/slide46.xml"/><Relationship Id="rId1" Type="http://schemas.openxmlformats.org/officeDocument/2006/relationships/slide" Target="slides/slide2.xml"/><Relationship Id="rId6" Type="http://schemas.openxmlformats.org/officeDocument/2006/relationships/slide" Target="slides/slide9.xml"/><Relationship Id="rId11" Type="http://schemas.openxmlformats.org/officeDocument/2006/relationships/slide" Target="slides/slide19.xml"/><Relationship Id="rId5" Type="http://schemas.openxmlformats.org/officeDocument/2006/relationships/slide" Target="slides/slide8.xml"/><Relationship Id="rId15" Type="http://schemas.openxmlformats.org/officeDocument/2006/relationships/slide" Target="slides/slide28.xml"/><Relationship Id="rId10" Type="http://schemas.openxmlformats.org/officeDocument/2006/relationships/slide" Target="slides/slide18.xml"/><Relationship Id="rId19" Type="http://schemas.openxmlformats.org/officeDocument/2006/relationships/slide" Target="slides/slide45.xml"/><Relationship Id="rId4" Type="http://schemas.openxmlformats.org/officeDocument/2006/relationships/slide" Target="slides/slide7.xml"/><Relationship Id="rId9" Type="http://schemas.openxmlformats.org/officeDocument/2006/relationships/slide" Target="slides/slide16.xml"/><Relationship Id="rId14" Type="http://schemas.openxmlformats.org/officeDocument/2006/relationships/slide" Target="slides/slide2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2.png"/></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2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spcBef>
                <a:spcPct val="0"/>
              </a:spcBef>
              <a:buClrTx/>
              <a:buFontTx/>
              <a:buNone/>
              <a:defRPr kumimoji="0" sz="1200" b="0">
                <a:solidFill>
                  <a:schemeClr val="tx1"/>
                </a:solidFill>
                <a:latin typeface="Garamond" panose="02020404030301010803" pitchFamily="18" charset="0"/>
                <a:ea typeface="宋体" panose="02010600030101010101" pitchFamily="2" charset="-122"/>
              </a:defRPr>
            </a:lvl1pPr>
          </a:lstStyle>
          <a:p>
            <a:pPr>
              <a:defRPr/>
            </a:pPr>
            <a:endParaRPr lang="en-US" altLang="zh-CN"/>
          </a:p>
        </p:txBody>
      </p:sp>
      <p:sp>
        <p:nvSpPr>
          <p:cNvPr id="28262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spcBef>
                <a:spcPct val="0"/>
              </a:spcBef>
              <a:buClrTx/>
              <a:buFontTx/>
              <a:buNone/>
              <a:defRPr kumimoji="0" sz="1200" b="0">
                <a:solidFill>
                  <a:schemeClr val="tx1"/>
                </a:solidFill>
                <a:latin typeface="Garamond" panose="02020404030301010803" pitchFamily="18" charset="0"/>
                <a:ea typeface="宋体" panose="02010600030101010101" pitchFamily="2" charset="-122"/>
              </a:defRPr>
            </a:lvl1pPr>
          </a:lstStyle>
          <a:p>
            <a:pPr>
              <a:defRPr/>
            </a:pPr>
            <a:endParaRPr lang="en-US" altLang="zh-CN"/>
          </a:p>
        </p:txBody>
      </p:sp>
      <p:sp>
        <p:nvSpPr>
          <p:cNvPr id="28262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spcBef>
                <a:spcPct val="0"/>
              </a:spcBef>
              <a:buClrTx/>
              <a:buFontTx/>
              <a:buNone/>
              <a:defRPr kumimoji="0" sz="1200" b="0">
                <a:solidFill>
                  <a:schemeClr val="tx1"/>
                </a:solidFill>
                <a:latin typeface="Garamond" panose="02020404030301010803" pitchFamily="18" charset="0"/>
                <a:ea typeface="宋体" panose="02010600030101010101" pitchFamily="2" charset="-122"/>
              </a:defRPr>
            </a:lvl1pPr>
          </a:lstStyle>
          <a:p>
            <a:pPr>
              <a:defRPr/>
            </a:pPr>
            <a:endParaRPr lang="en-US" altLang="zh-CN"/>
          </a:p>
        </p:txBody>
      </p:sp>
      <p:sp>
        <p:nvSpPr>
          <p:cNvPr id="28262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spcBef>
                <a:spcPct val="0"/>
              </a:spcBef>
              <a:buClrTx/>
              <a:buFontTx/>
              <a:buNone/>
              <a:defRPr kumimoji="0" sz="1200" b="0">
                <a:solidFill>
                  <a:schemeClr val="tx1"/>
                </a:solidFill>
                <a:latin typeface="Garamond" panose="02020404030301010803" pitchFamily="18" charset="0"/>
                <a:ea typeface="宋体" panose="02010600030101010101" pitchFamily="2" charset="-122"/>
              </a:defRPr>
            </a:lvl1pPr>
          </a:lstStyle>
          <a:p>
            <a:pPr>
              <a:defRPr/>
            </a:pPr>
            <a:fld id="{1EB4FF73-36FC-471B-B947-54BF9C5DEC8A}" type="slidenum">
              <a:rPr lang="en-US" altLang="zh-CN"/>
              <a:t>‹#›</a:t>
            </a:fld>
            <a:endParaRPr lang="en-US" altLang="zh-CN"/>
          </a:p>
        </p:txBody>
      </p:sp>
    </p:spTree>
    <p:extLst>
      <p:ext uri="{BB962C8B-B14F-4D97-AF65-F5344CB8AC3E}">
        <p14:creationId xmlns:p14="http://schemas.microsoft.com/office/powerpoint/2010/main" val="33313589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5586" name="Rectangle 1026"/>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spcBef>
                <a:spcPct val="0"/>
              </a:spcBef>
              <a:buClrTx/>
              <a:buFontTx/>
              <a:buNone/>
              <a:defRPr sz="1200" b="0">
                <a:solidFill>
                  <a:schemeClr val="tx1"/>
                </a:solidFill>
                <a:ea typeface="宋体" panose="02010600030101010101" pitchFamily="2" charset="-122"/>
              </a:defRPr>
            </a:lvl1pPr>
          </a:lstStyle>
          <a:p>
            <a:pPr>
              <a:defRPr/>
            </a:pPr>
            <a:endParaRPr lang="en-US" altLang="zh-CN"/>
          </a:p>
        </p:txBody>
      </p:sp>
      <p:sp>
        <p:nvSpPr>
          <p:cNvPr id="195587" name="Rectangle 1027"/>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spcBef>
                <a:spcPct val="0"/>
              </a:spcBef>
              <a:buClrTx/>
              <a:buFontTx/>
              <a:buNone/>
              <a:defRPr sz="1200" b="0">
                <a:solidFill>
                  <a:schemeClr val="tx1"/>
                </a:solidFill>
                <a:ea typeface="宋体" panose="02010600030101010101" pitchFamily="2" charset="-122"/>
              </a:defRPr>
            </a:lvl1pPr>
          </a:lstStyle>
          <a:p>
            <a:pPr>
              <a:defRPr/>
            </a:pPr>
            <a:endParaRPr lang="en-US" altLang="zh-CN"/>
          </a:p>
        </p:txBody>
      </p:sp>
      <p:sp>
        <p:nvSpPr>
          <p:cNvPr id="3076"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5589" name="Rectangle 1029"/>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95590" name="Rectangle 1030"/>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spcBef>
                <a:spcPct val="0"/>
              </a:spcBef>
              <a:buClrTx/>
              <a:buFontTx/>
              <a:buNone/>
              <a:defRPr sz="1200" b="0">
                <a:solidFill>
                  <a:schemeClr val="tx1"/>
                </a:solidFill>
                <a:ea typeface="宋体" panose="02010600030101010101" pitchFamily="2" charset="-122"/>
              </a:defRPr>
            </a:lvl1pPr>
          </a:lstStyle>
          <a:p>
            <a:pPr>
              <a:defRPr/>
            </a:pPr>
            <a:endParaRPr lang="en-US" altLang="zh-CN"/>
          </a:p>
        </p:txBody>
      </p:sp>
      <p:sp>
        <p:nvSpPr>
          <p:cNvPr id="195591" name="Rectangle 1031"/>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spcBef>
                <a:spcPct val="0"/>
              </a:spcBef>
              <a:buClrTx/>
              <a:buFontTx/>
              <a:buNone/>
              <a:defRPr sz="1200" b="0">
                <a:solidFill>
                  <a:schemeClr val="tx1"/>
                </a:solidFill>
                <a:ea typeface="宋体" panose="02010600030101010101" pitchFamily="2" charset="-122"/>
              </a:defRPr>
            </a:lvl1pPr>
          </a:lstStyle>
          <a:p>
            <a:pPr>
              <a:defRPr/>
            </a:pPr>
            <a:fld id="{BBA3D5C2-C1D3-45E1-A904-B1618B2C8C9C}" type="slidenum">
              <a:rPr lang="en-US" altLang="zh-CN"/>
              <a:t>‹#›</a:t>
            </a:fld>
            <a:endParaRPr lang="en-US" altLang="zh-CN"/>
          </a:p>
        </p:txBody>
      </p:sp>
    </p:spTree>
    <p:extLst>
      <p:ext uri="{BB962C8B-B14F-4D97-AF65-F5344CB8AC3E}">
        <p14:creationId xmlns:p14="http://schemas.microsoft.com/office/powerpoint/2010/main" val="41833415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6CFBA2CE-5CCB-4DAE-A8C6-F68A46AC7609}" type="slidenum">
              <a:rPr lang="en-US" altLang="zh-CN" sz="1200" b="0" smtClean="0">
                <a:solidFill>
                  <a:schemeClr val="tx1"/>
                </a:solidFill>
                <a:ea typeface="宋体" panose="02010600030101010101" pitchFamily="2" charset="-122"/>
              </a:rPr>
              <a:t>2</a:t>
            </a:fld>
            <a:endParaRPr lang="en-US" altLang="zh-CN" sz="1200" b="0" smtClean="0">
              <a:solidFill>
                <a:schemeClr val="tx1"/>
              </a:solidFill>
              <a:ea typeface="宋体" panose="02010600030101010101" pitchFamily="2" charset="-122"/>
            </a:endParaRPr>
          </a:p>
        </p:txBody>
      </p:sp>
      <p:sp>
        <p:nvSpPr>
          <p:cNvPr id="6147" name="Rectangle 1026"/>
          <p:cNvSpPr>
            <a:spLocks noGrp="1" noRot="1" noChangeAspect="1" noChangeArrowheads="1" noTextEdit="1"/>
          </p:cNvSpPr>
          <p:nvPr>
            <p:ph type="sldImg"/>
          </p:nvPr>
        </p:nvSpPr>
        <p:spPr/>
      </p:sp>
      <p:sp>
        <p:nvSpPr>
          <p:cNvPr id="6148" name="Rectangle 1027"/>
          <p:cNvSpPr>
            <a:spLocks noGrp="1" noChangeArrowheads="1"/>
          </p:cNvSpPr>
          <p:nvPr>
            <p:ph type="body" idx="1"/>
          </p:nvPr>
        </p:nvSpPr>
        <p:spPr>
          <a:noFill/>
        </p:spPr>
        <p:txBody>
          <a:bodyPr/>
          <a:lstStyle/>
          <a:p>
            <a:pPr eaLnBrk="1" hangingPunct="1"/>
            <a:r>
              <a:rPr lang="zh-CN" altLang="en-US" b="1" smtClean="0"/>
              <a:t>在讨论数据链路层的基本概念和协议之前，需要讨论一个问题：为什么要设计数据链路层？</a:t>
            </a:r>
          </a:p>
          <a:p>
            <a:pPr eaLnBrk="1" hangingPunct="1"/>
            <a:r>
              <a:rPr lang="zh-CN" altLang="en-US" smtClean="0"/>
              <a:t>这个问题我们从</a:t>
            </a:r>
            <a:r>
              <a:rPr lang="en-US" altLang="zh-CN" smtClean="0"/>
              <a:t>3</a:t>
            </a:r>
            <a:r>
              <a:rPr lang="zh-CN" altLang="en-US" smtClean="0"/>
              <a:t>个方面来回答：</a:t>
            </a:r>
          </a:p>
          <a:p>
            <a:pPr eaLnBrk="1" hangingPunct="1"/>
            <a:r>
              <a:rPr lang="zh-CN" altLang="en-US" smtClean="0"/>
              <a:t>（</a:t>
            </a:r>
            <a:r>
              <a:rPr lang="en-US" altLang="zh-CN" smtClean="0"/>
              <a:t>1</a:t>
            </a:r>
            <a:r>
              <a:rPr lang="zh-CN" altLang="en-US" smtClean="0"/>
              <a:t>）在原始的物理传输线路上传输数据信号是有差错的，存在一定的误码率；</a:t>
            </a:r>
          </a:p>
          <a:p>
            <a:pPr eaLnBrk="1" hangingPunct="1"/>
            <a:r>
              <a:rPr lang="zh-CN" altLang="en-US" smtClean="0"/>
              <a:t>据（</a:t>
            </a:r>
            <a:r>
              <a:rPr lang="en-US" altLang="zh-CN" smtClean="0"/>
              <a:t>2</a:t>
            </a:r>
            <a:r>
              <a:rPr lang="zh-CN" altLang="en-US" smtClean="0"/>
              <a:t>）设计数据链路层的目的就是</a:t>
            </a:r>
            <a:r>
              <a:rPr lang="zh-CN" altLang="en-US" sz="1000" smtClean="0">
                <a:solidFill>
                  <a:schemeClr val="hlink"/>
                </a:solidFill>
              </a:rPr>
              <a:t>如何在有差错的线路上，进行无差错传输。向网络层提供高质量的服务。</a:t>
            </a:r>
          </a:p>
          <a:p>
            <a:pPr eaLnBrk="1" hangingPunct="1"/>
            <a:r>
              <a:rPr lang="zh-CN" altLang="en-US" sz="1000" smtClean="0">
                <a:solidFill>
                  <a:schemeClr val="hlink"/>
                </a:solidFill>
              </a:rPr>
              <a:t>（</a:t>
            </a:r>
            <a:r>
              <a:rPr lang="en-US" altLang="zh-CN" sz="1000" smtClean="0">
                <a:solidFill>
                  <a:schemeClr val="hlink"/>
                </a:solidFill>
              </a:rPr>
              <a:t>3</a:t>
            </a:r>
            <a:r>
              <a:rPr lang="zh-CN" altLang="en-US" sz="1000" smtClean="0">
                <a:solidFill>
                  <a:schemeClr val="hlink"/>
                </a:solidFill>
              </a:rPr>
              <a:t>）从网络参考来看，物理层之上的各层都有改善数据传输质量的要求，数据链路层是重要的一层。</a:t>
            </a:r>
          </a:p>
          <a:p>
            <a:pPr eaLnBrk="1" hangingPunct="1"/>
            <a:endParaRPr lang="zh-CN" altLang="en-US" smtClean="0"/>
          </a:p>
          <a:p>
            <a:pPr eaLnBrk="1" hangingPunct="1"/>
            <a:endParaRPr lang="zh-CN" altLang="en-US" smtClean="0"/>
          </a:p>
          <a:p>
            <a:pPr eaLnBrk="1" hangingPunct="1"/>
            <a:r>
              <a:rPr lang="zh-CN" altLang="en-US" smtClean="0"/>
              <a:t>至于</a:t>
            </a:r>
            <a:r>
              <a:rPr lang="zh-CN" altLang="en-US" smtClean="0">
                <a:latin typeface="Arial" panose="020B0604020202020204" pitchFamily="34" charset="0"/>
              </a:rPr>
              <a:t>“</a:t>
            </a:r>
            <a:r>
              <a:rPr lang="zh-CN" altLang="en-US" smtClean="0"/>
              <a:t>流量控制</a:t>
            </a:r>
            <a:r>
              <a:rPr lang="zh-CN" altLang="en-US" smtClean="0">
                <a:latin typeface="Arial" panose="020B0604020202020204" pitchFamily="34" charset="0"/>
              </a:rPr>
              <a:t>”</a:t>
            </a:r>
            <a:r>
              <a:rPr lang="zh-CN" altLang="en-US" smtClean="0"/>
              <a:t>，我们在第一章讲</a:t>
            </a:r>
            <a:r>
              <a:rPr lang="en-US" altLang="zh-CN" smtClean="0"/>
              <a:t>OSI</a:t>
            </a:r>
            <a:r>
              <a:rPr lang="zh-CN" altLang="en-US" smtClean="0"/>
              <a:t>分层时重点讲过，流控对于多层都有，只不过是所管辖的范围不同。数据链路层负责相邻结点之间的流量控制，网络层负责源结点到目标结点，传输层负责源端到目的端。</a:t>
            </a:r>
          </a:p>
        </p:txBody>
      </p:sp>
    </p:spTree>
    <p:extLst>
      <p:ext uri="{BB962C8B-B14F-4D97-AF65-F5344CB8AC3E}">
        <p14:creationId xmlns:p14="http://schemas.microsoft.com/office/powerpoint/2010/main" val="2437585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各位同学，今天我们正式进入《计算机网络》课程中数据链路层。第一个知识点就是数据链路层的诞生背景，我们为什么需要在物理层之上，再额外设计一个数据链路层？</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首先，我们要从物理层的局限性谈起。物理层的功能只负责在传输媒体上透明地传输原始的比特流，它关注的是电压高低、光闪灭、调制技术等信号层面的问题。然而，任何一条真实的、原始的物理传输线路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无论是双绞线、同轴电缆还是光纤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都绝非完美。信号在传输过程中不可避免地会受到电磁干扰、能量衰减、甚至物理损伤等因素的影响。这就导致了差错问题：发送端发送的是比特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，接收端可能由于干扰误判为比特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。这种错误是客观存在的，我们用误码率（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BER: Bit Error Rate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来衡量它。因此，可以毫不夸张地说，仅靠物理层进行数据传输是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有差错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的、不可靠的。</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那么，如何解决这个问题呢？这就是数据链路层诞生的使命。它的核心设计目的，正是要在有差错的、不完美的物理层基础之上，通过一系列技术手段，构建起一个对于上层来说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无差错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的、高质量的数据传输通道。它就像一个非常能干、非常可靠的助手，接手了物理层这个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毛坯房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，通过精装修（比如增加差错检测、纠错机制），向它的上司</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提供一个稳固、可靠、高品质的服务。网络层可以放心地假设它之下的链路是完美的，从而专注于自己的路由和寻址等核心任务。</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最后，我们从整个网络体系结构的宏观视角来看。在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OSI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参考模型或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型中，物理层之上的每一层，其实都有责任进一步改善数据传输的质量和效率。但数据链路层是直面物理介质错误的第一道防线，它的工作直接决定了网络通信的基础可靠性。网络层、传输层的许多优秀特性，都建立在数据链路层提供的这条可靠链路之上。</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3</a:t>
            </a:fld>
            <a:endParaRPr lang="en-US" altLang="zh-CN"/>
          </a:p>
        </p:txBody>
      </p:sp>
    </p:spTree>
    <p:extLst>
      <p:ext uri="{BB962C8B-B14F-4D97-AF65-F5344CB8AC3E}">
        <p14:creationId xmlns:p14="http://schemas.microsoft.com/office/powerpoint/2010/main" val="4242615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0E9A96BA-2488-440E-87BE-04A0C77EDDB0}" type="slidenum">
              <a:rPr lang="en-US" altLang="zh-CN" sz="1200" b="0" smtClean="0">
                <a:solidFill>
                  <a:schemeClr val="tx1"/>
                </a:solidFill>
                <a:ea typeface="宋体" panose="02010600030101010101" pitchFamily="2" charset="-122"/>
              </a:rPr>
              <a:t>4</a:t>
            </a:fld>
            <a:endParaRPr lang="en-US" altLang="zh-CN" sz="1200" b="0" smtClean="0">
              <a:solidFill>
                <a:schemeClr val="tx1"/>
              </a:solidFill>
              <a:ea typeface="宋体" panose="02010600030101010101" pitchFamily="2" charset="-122"/>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大家既然明白了为什么需要数据链路层，自然就想弄清楚数据链路层的定义，即数据链路层究竟是什么？</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首先，我们来看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（国际标准化组织） 是如何定义这一层的。标准指出，数据链路层的根本目的是为了提供功能上和规程上的方法。这句话非常精要，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功能性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指的是它要具备的具体能力，比如成帧、差错控制；而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规程性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则强调了它是一套需要双方共同遵守的规则和流程。这套方法的最终目标，是为了建立、维护和释放网络实体之间的数据链路。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接下来，我们必须清晰地区分两个极易混淆但至关重要的基础术语：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链路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数据链路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链路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，更准确的叫法是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物理链路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是指一条无源的、点到点或点到多点的物理线路段，比如一根光纤、一段网线。它的核心特征是中间没有交换节点，数据从一端进去就从另一端出来。但请大家注意，链路尽管没有交换节点，但它允许包含像中继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Repeater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）或集线器（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Hub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）这样的设备，因为这些设备只执行信号层面的放大和整形功能，并不涉及数据层面的处理功能，如差错控制、转发过滤等。</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数据链路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则是一个逻辑上的概念。它是在原始的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物理链路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基础之上，增加了控制数据传输的通信协议而构成的。这些协议规定了数据如何打包成帧、如何检错纠错、如何控制发送速率等。简而言之，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物理链路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提供了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数据链路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加上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交通规则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。只有两者结合，才能构成一条可靠、有序的数据传输通道。</a:t>
            </a:r>
          </a:p>
          <a:p>
            <a:pPr eaLnBrk="1" hangingPunct="1"/>
            <a:endParaRPr lang="zh-CN" altLang="zh-CN" dirty="0" smtClean="0"/>
          </a:p>
        </p:txBody>
      </p:sp>
    </p:spTree>
    <p:extLst>
      <p:ext uri="{BB962C8B-B14F-4D97-AF65-F5344CB8AC3E}">
        <p14:creationId xmlns:p14="http://schemas.microsoft.com/office/powerpoint/2010/main" val="1959633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现在我们学习数据链路层的核心功能。</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首先，我们要知道，所有这些功能都是通过数据链路层协议（也称为数据链路控制规程）来实现的。这套协议的本质就是一系列保障数据能迅速、正确、有效地从发送点到达接收点的控制规则和方式。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那么，这些协议具体提供了哪些基本功能呢？大家看幻灯片，列举了八大功能（实际也许还有更多的功能）：</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数据链路管理：负责链路的建立、维护和释放，就像打电话前的拨号、通话中的保持和结束后的挂断。</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帧定界（成帧）：这是最基本的功能。它将网络层传下来的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数据包封装成帧，并添加首部和尾部来实现帧同步，让接收方能从比特流中识别出每一个帧的开始和结束。</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流量控制：解决收发双方速度不匹配的问题，防止发送方过快导致接收方缓冲区溢出。</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差错控制：利用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等技术检测帧是否在传输中出错，并通过重传机制来纠正错误，这是实现可靠传输的关键。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数据区分：能够区分帧里传输的是业务数据还是控制信息（如地址、校验码）。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透明传输：这是一个重要概念，它指的是无论数据是什么组合，都应该能顺利传输，为此采用了字节填充或比特填充等技术来解决特殊字符冲突的问题。</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寻址：在帧头部添加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地址，确保帧能被送达正确的目的节点。</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介质访问控制：这是在广播式网络中（如以太网）至关重要的功能，它决定了当多个主机共享同一信道时，谁有权在什么时候发送数据。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这些功能相互配合，共同将不可靠的物理链路变成了可靠的、有条理的数据链路。</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a:t>
            </a:fld>
            <a:endParaRPr lang="en-US" altLang="zh-CN"/>
          </a:p>
        </p:txBody>
      </p:sp>
    </p:spTree>
    <p:extLst>
      <p:ext uri="{BB962C8B-B14F-4D97-AF65-F5344CB8AC3E}">
        <p14:creationId xmlns:p14="http://schemas.microsoft.com/office/powerpoint/2010/main" val="1121362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04ACCF11-F977-490F-AA2B-ECE57D692AE4}" type="slidenum">
              <a:rPr lang="en-US" altLang="zh-CN" sz="1200" b="0" smtClean="0">
                <a:solidFill>
                  <a:schemeClr val="tx1"/>
                </a:solidFill>
                <a:ea typeface="宋体" panose="02010600030101010101" pitchFamily="2" charset="-122"/>
              </a:rPr>
              <a:t>6</a:t>
            </a:fld>
            <a:endParaRPr lang="en-US" altLang="zh-CN" sz="1200" b="0" smtClean="0">
              <a:solidFill>
                <a:schemeClr val="tx1"/>
              </a:solidFill>
              <a:ea typeface="宋体" panose="02010600030101010101" pitchFamily="2" charset="-122"/>
            </a:endParaRPr>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各位同学，现在我们来看一下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上的示意图，它清晰地展示了数据链路层在网络中的位置及其承上启下的作用。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这张图描绘了一个路由器（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Router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内部的简单工作流程。大家可以看到，路由器内部有两个关键的处理进程：一个是路由选择进程（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Routing process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），它工作在网络层，负责为数据包选择最佳路径；另一个就是数据链路层进程（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 link layer process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），它就在路由进程的下方（这个下方指的是逻辑层次方面，示意图的左右方表示数据处理的先后流程）。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数据在这两个层之间的形态转换非常关键：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在网络层，数据的单位是分组或包（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Packet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当分组要通过一条具体的传输线路（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Transmission line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发送到下一个路由器或主机时，它会被交给数据链路层。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数据链路层会为这个分组加上帧头和帧尾，将其封装成一个新的单位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Frame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）。这个过程遵循数据链路协议的规则。</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所以，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是数据链路层的协议数据单元，它只在相邻节点之间的一段链路上有效。数据链路层的任务就是管理这条具体的链路，确保帧能正确、有效地从当前节点传送到数据链路另一端的下一个节点。</a:t>
            </a:r>
          </a:p>
          <a:p>
            <a:pPr eaLnBrk="1" hangingPunct="1"/>
            <a:endParaRPr lang="zh-CN" altLang="zh-CN" dirty="0" smtClean="0"/>
          </a:p>
        </p:txBody>
      </p:sp>
    </p:spTree>
    <p:extLst>
      <p:ext uri="{BB962C8B-B14F-4D97-AF65-F5344CB8AC3E}">
        <p14:creationId xmlns:p14="http://schemas.microsoft.com/office/powerpoint/2010/main" val="443400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16EF4D98-F96D-48A6-86C6-B854AA7F8EDA}" type="slidenum">
              <a:rPr lang="en-US" altLang="zh-CN" sz="1200" b="0" smtClean="0">
                <a:solidFill>
                  <a:schemeClr val="tx1"/>
                </a:solidFill>
                <a:ea typeface="宋体" panose="02010600030101010101" pitchFamily="2" charset="-122"/>
              </a:rPr>
              <a:t>7</a:t>
            </a:fld>
            <a:endParaRPr lang="en-US" altLang="zh-CN" sz="1200" b="0" smtClean="0">
              <a:solidFill>
                <a:schemeClr val="tx1"/>
              </a:solidFill>
              <a:ea typeface="宋体" panose="02010600030101010101" pitchFamily="2"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各位同学，现在我们开始帧边界划分这一知识点。</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要理解这个问题的本质。数据链路层从物理层接收到的是一个原始的、连续的比特流。它的首要任务就是将这些比特流分割成一个个独立的、可识别的数据块，每个数据块称为一个帧。这个识别帧的开始和结束的过程，就叫做帧定界或帧同步。</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给出的是第一种、也是最直观的方法：字符计数法。</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它的原理非常简单：在帧的开头部分，用一个特定字段（比如第一个字节）来直接标明这个帧总共包含多少个字符（或字节）。</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大家看幻灯片下方的示意图，第一个数字“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就表示这个帧包含</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个字符，接收方读取后，就知道紧接着的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个字符（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5, 5,3, 4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）与第一个指示长度的字符都属于同一个帧。下一个数字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则表示下一帧有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个字符，以此类推。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字符计数法有一个致命的缺点：非常脆弱，缺乏鲁棒性。如果帧头部的这个计数值本身在传输中出错了（比如从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误传为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），那么接收方就会错误地划分帧的边界。这不仅会导致本帧接收错误，更会引发连锁反应，使得后续的所有帧都无法正确同步，造成灾难性的后果。</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正因为这个致命的缺陷，字符计数法在实战中很少被采用。</a:t>
            </a:r>
          </a:p>
          <a:p>
            <a:pPr eaLnBrk="1" hangingPunct="1"/>
            <a:endParaRPr lang="zh-CN" altLang="zh-CN" sz="1000" dirty="0" smtClean="0"/>
          </a:p>
        </p:txBody>
      </p:sp>
    </p:spTree>
    <p:extLst>
      <p:ext uri="{BB962C8B-B14F-4D97-AF65-F5344CB8AC3E}">
        <p14:creationId xmlns:p14="http://schemas.microsoft.com/office/powerpoint/2010/main" val="631475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84A93C57-0FAF-4997-ACF9-51974BA8EFD7}" type="slidenum">
              <a:rPr lang="en-US" altLang="zh-CN" sz="1200" b="0" smtClean="0">
                <a:solidFill>
                  <a:schemeClr val="tx1"/>
                </a:solidFill>
                <a:ea typeface="宋体" panose="02010600030101010101" pitchFamily="2" charset="-122"/>
              </a:rPr>
              <a:t>8</a:t>
            </a:fld>
            <a:endParaRPr lang="en-US" altLang="zh-CN" sz="1200" b="0" smtClean="0">
              <a:solidFill>
                <a:schemeClr val="tx1"/>
              </a:solidFill>
              <a:ea typeface="宋体" panose="02010600030101010101" pitchFamily="2" charset="-122"/>
            </a:endParaRPr>
          </a:p>
        </p:txBody>
      </p:sp>
      <p:sp>
        <p:nvSpPr>
          <p:cNvPr id="21507" name="Rectangle 2"/>
          <p:cNvSpPr>
            <a:spLocks noGrp="1" noRot="1" noChangeAspect="1" noChangeArrowheads="1" noTextEdit="1"/>
          </p:cNvSpPr>
          <p:nvPr>
            <p:ph type="sldImg"/>
          </p:nvPr>
        </p:nvSpPr>
        <p:spPr/>
      </p:sp>
      <p:sp>
        <p:nvSpPr>
          <p:cNvPr id="21508"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鉴于字符计数法存在的缺陷，业界提出了第二种帧边界划分方法：首尾界符法，也称为字节填充法或字符填充法。</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这种方法的核心思想是：使用一些特殊的、固定的控制字符来明确标记一帧的开始和结束。如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所示，它通常用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DLE STX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 Link Escape, Start of </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TeXt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）这个组合来标示帧的开始，用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DLE ETX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End of </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TeXt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）来标示帧的结束。</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但是，这里有一个麻烦问题：如果要传输的数据信息中，恰好包含了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“DLE”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这个字符怎么办？接收方会误以为这是一个控制字符，从而导致帧边界错乱。</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为了解决这个问题，引入了透明传输机制：在发送端，当数据信息中出现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“DLE”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字符时，就在它前面再插入一个额外的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“DLE”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字符。接收端在收到连续两个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“DLE”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时，就知道这是数据本身，会删除其中一个，恢复原始数据；而单个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“DLE”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组合，被解释为控制信息。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中的例子：真实想传的数据是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`DLE STX A DLE B DLE ETX`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，经过字节填充后，在网络中传送的序列就变成了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`DLE STX DLE </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DLE</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STX A DLE </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DLE</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B DLE </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DLE</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ETX DLE ETX`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这种方法的缺点也很明显：它严重依赖于特定的字符编码（如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ASCII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码），局限于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位字符的传送，通用性不强，在现代网络环境中使用面不宽。</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但这种方法为我们引入了“转义”和“填充”的重要思想，为我们学习下一种更通用的方法——比特填充法——打下了基础。</a:t>
            </a:r>
            <a:endParaRPr lang="zh-CN" altLang="zh-CN" sz="1200" kern="1200" dirty="0">
              <a:solidFill>
                <a:schemeClr val="tx1"/>
              </a:solidFill>
              <a:effectLst/>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519159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6B68037D-B6BD-40B5-BAD7-98017CF76937}" type="slidenum">
              <a:rPr lang="en-US" altLang="zh-CN" sz="1200" b="0" smtClean="0">
                <a:solidFill>
                  <a:schemeClr val="tx1"/>
                </a:solidFill>
                <a:ea typeface="宋体" panose="02010600030101010101" pitchFamily="2" charset="-122"/>
              </a:rPr>
              <a:t>9</a:t>
            </a:fld>
            <a:endParaRPr lang="en-US" altLang="zh-CN" sz="1200" b="0" smtClean="0">
              <a:solidFill>
                <a:schemeClr val="tx1"/>
              </a:solidFill>
              <a:ea typeface="宋体" panose="02010600030101010101" pitchFamily="2" charset="-122"/>
            </a:endParaRPr>
          </a:p>
        </p:txBody>
      </p:sp>
      <p:sp>
        <p:nvSpPr>
          <p:cNvPr id="23555" name="Rectangle 2"/>
          <p:cNvSpPr>
            <a:spLocks noGrp="1" noRot="1" noChangeAspect="1" noChangeArrowheads="1" noTextEdit="1"/>
          </p:cNvSpPr>
          <p:nvPr>
            <p:ph type="sldImg"/>
          </p:nvPr>
        </p:nvSpPr>
        <p:spPr/>
      </p:sp>
      <p:sp>
        <p:nvSpPr>
          <p:cNvPr id="23556"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现在我们学习第三种，也是目前最常用、最重要的一种帧定界方法：首尾标志法，也称为比特填充法或零比特填充法。</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这种方法实现了一次重要的飞跃：它不再依赖特定的字符编码，而是在比特层面上解决问题。它用一个特殊的、固定的比特串</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“01111110”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作为标志，同时放在帧的首部和尾部，来明确标识一个帧的开始和结束。</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同样，麻烦问题又来了：如果要传输的数据部分中，恰好出现了和标志位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“01111110”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一样的比特组合怎么办？接收方会误以为这是一个帧结束或开始的信号，导致帧同步错误。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为了解决这个问题，引入了著名的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比特插入删除技术，即比特填充。规则非常简单却很巧妙：</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发送端：在数据字段中，每连续出现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，就自动在其后插入一个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。这样就确保了标志位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“01111110”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这个独特的序列不会在数据区域中出现。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接收端：在接收数据时，每连续收到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，就检查其后的一位。如果是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，则将其删除，恢复原始数据；如果是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，则再结合下一位判断，如果是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），那就意味着收到了一个真正的帧边界标志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“01111110”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我们来看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上的例子：原始数据是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`0110111111011111001`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发送端在连续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后插</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，变成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`011011111</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0</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10111101001`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然后再加上首尾标志位，最终在网络中传送的比特流就是：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`01111110` `011011111</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0</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101111001001` `01111110`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这种方法通用性强，可靠性高，是高级数据链路控制（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HDLC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等协议的标准做法。</a:t>
            </a:r>
            <a:endParaRPr lang="zh-CN" altLang="zh-CN" sz="1000" dirty="0" smtClean="0"/>
          </a:p>
        </p:txBody>
      </p:sp>
    </p:spTree>
    <p:extLst>
      <p:ext uri="{BB962C8B-B14F-4D97-AF65-F5344CB8AC3E}">
        <p14:creationId xmlns:p14="http://schemas.microsoft.com/office/powerpoint/2010/main" val="3434510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012160EC-8F6A-4CAF-97A8-572E4788DBC1}" type="slidenum">
              <a:rPr lang="en-US" altLang="zh-CN" sz="1200" b="0" smtClean="0">
                <a:solidFill>
                  <a:schemeClr val="tx1"/>
                </a:solidFill>
                <a:ea typeface="宋体" panose="02010600030101010101" pitchFamily="2" charset="-122"/>
              </a:rPr>
              <a:t>10</a:t>
            </a:fld>
            <a:endParaRPr lang="en-US" altLang="zh-CN" sz="1200" b="0" smtClean="0">
              <a:solidFill>
                <a:schemeClr val="tx1"/>
              </a:solidFill>
              <a:ea typeface="宋体" panose="02010600030101010101" pitchFamily="2" charset="-122"/>
            </a:endParaRPr>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最后我们来看第四种帧定界方法：物理层编码违例法。这是一种非常独特的方法，它巧妙地利用了物理层的编码特性。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这种方法的核心思想是：使用物理层编码规则中未定义的、非法的电信号组合来标记帧的起始和结束。这就好比在交通规则中，用红灯和绿灯来管理车辆，而我们现在用一种规则里根本没有的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紫色灯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来作为特殊信号。</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正因为如此，这种方法有一个重要的前提：只适用于物理层编码本身存在冗余的网络。最典型的例子就是曼彻斯特编码。在这种编码中，每一位比特中间都有一次电平跳变，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跳变代表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跳变代表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。那么，一些持续的高电平或低电平，或者不符合跳变规则的信号，就属于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违例码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。这些违例码不会用于表示数据比特，正好可以被数据链路层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借用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来作为帧边界的特殊标志。</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很多实际的数据链路协议中，往往会采用字符计数法和另一种方法（如首尾标志法）的组合使用，以兼顾效率和可靠性。这种方法让我们看到，网络体系结构中各层并非完全独立，有时可以通过跨层协作来更优雅地解决问题。</a:t>
            </a:r>
          </a:p>
        </p:txBody>
      </p:sp>
    </p:spTree>
    <p:extLst>
      <p:ext uri="{BB962C8B-B14F-4D97-AF65-F5344CB8AC3E}">
        <p14:creationId xmlns:p14="http://schemas.microsoft.com/office/powerpoint/2010/main" val="3088699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6E49C565-25E0-40D7-8681-A38499625FE7}" type="slidenum">
              <a:rPr lang="en-US" altLang="zh-CN" sz="1200" b="0" smtClean="0">
                <a:solidFill>
                  <a:schemeClr val="tx1"/>
                </a:solidFill>
                <a:ea typeface="宋体" panose="02010600030101010101" pitchFamily="2" charset="-122"/>
              </a:rPr>
              <a:t>11</a:t>
            </a:fld>
            <a:endParaRPr lang="en-US" altLang="zh-CN" sz="1200" b="0" smtClean="0">
              <a:solidFill>
                <a:schemeClr val="tx1"/>
              </a:solidFill>
              <a:ea typeface="宋体" panose="02010600030101010101" pitchFamily="2" charset="-122"/>
            </a:endParaRPr>
          </a:p>
        </p:txBody>
      </p:sp>
      <p:sp>
        <p:nvSpPr>
          <p:cNvPr id="27651" name="Rectangle 2"/>
          <p:cNvSpPr>
            <a:spLocks noGrp="1" noRot="1" noChangeAspect="1" noChangeArrowheads="1" noTextEdit="1"/>
          </p:cNvSpPr>
          <p:nvPr>
            <p:ph type="sldImg"/>
          </p:nvPr>
        </p:nvSpPr>
        <p:spPr/>
      </p:sp>
      <p:sp>
        <p:nvSpPr>
          <p:cNvPr id="27652"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各位同学，现在我们开始学习知识点——差错控制。</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首先，我们要了解差错产生的原因。数据在物理链路上传输时，错误主要源于两类噪声：</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第一类是随机噪声，它由信道本身的电气特性（如热噪声）引起，会导致信号幅度、频率或相位发生随机、轻微的畸变。这类错误特点是位出错随机且孤立，称为随机性差错。</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第二类是冲击噪声，它由外部强烈的突发干扰引起，如闪电、大功率电机的启动或停止。这类错误特点是成串的比特连续出错，称为突发性差错，是网络通信中差错的主要来源。</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那么，这些比特错误体现在数据链路层，具体表现为两种“错误”情况：</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第一种是帧出错：即接收方收到了数据帧，但经校验后发现帧中的部分比特出现了错误。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第二种是帧丢失：情况更严重，包括数据帧在传输途中彻底丢失，或者接收方返回的应答帧（如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丢失。严格地讲，帧丢失并非一定是传输途中彻底丢失，只要接收端没有接收到有效帧，就认定为帧丢失。</a:t>
            </a:r>
          </a:p>
          <a:p>
            <a:pPr eaLnBrk="1" hangingPunct="1"/>
            <a:endParaRPr lang="zh-CN" altLang="zh-CN" dirty="0" smtClean="0"/>
          </a:p>
        </p:txBody>
      </p:sp>
    </p:spTree>
    <p:extLst>
      <p:ext uri="{BB962C8B-B14F-4D97-AF65-F5344CB8AC3E}">
        <p14:creationId xmlns:p14="http://schemas.microsoft.com/office/powerpoint/2010/main" val="95141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AA9F3F6E-4B4C-47AD-9B5F-EC8EE284996E}" type="slidenum">
              <a:rPr lang="en-US" altLang="zh-CN" sz="1200" b="0" smtClean="0">
                <a:solidFill>
                  <a:schemeClr val="tx1"/>
                </a:solidFill>
                <a:ea typeface="宋体" panose="02010600030101010101" pitchFamily="2" charset="-122"/>
              </a:rPr>
              <a:t>12</a:t>
            </a:fld>
            <a:endParaRPr lang="en-US" altLang="zh-CN" sz="1200" b="0" smtClean="0">
              <a:solidFill>
                <a:schemeClr val="tx1"/>
              </a:solidFill>
              <a:ea typeface="宋体" panose="02010600030101010101" pitchFamily="2" charset="-122"/>
            </a:endParaRPr>
          </a:p>
        </p:txBody>
      </p:sp>
      <p:sp>
        <p:nvSpPr>
          <p:cNvPr id="29699" name="Rectangle 2"/>
          <p:cNvSpPr>
            <a:spLocks noGrp="1" noRot="1" noChangeAspect="1" noChangeArrowheads="1" noTextEdit="1"/>
          </p:cNvSpPr>
          <p:nvPr>
            <p:ph type="sldImg"/>
          </p:nvPr>
        </p:nvSpPr>
        <p:spPr/>
      </p:sp>
      <p:sp>
        <p:nvSpPr>
          <p:cNvPr id="29700"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既然数据帧出错是必然的，那么我们有哪些差错控制的具体方呢？</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要明确差错控制的根本目的。它的核心任务不是保证每一个比特都不出错，它的目标是确保最终提交给上层（网络层）的数据是正确的。为了实现这个目标，接收方必须具备两个能力：第一是判断接收到的数据是否正确；第二是如果发现错误，能够采取某种措施进行恢复。</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那么，如何实现这个目标呢？其基本策略是在要发送的原始数据码元后面，附加一些冗余码元（也称为校验码）。这些冗余码是根据原始数据通过特定算法计算出来的，它们本身不携带应用信息，只用于校验。</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基于这个策略，产生了三种常用的差错控制方法：</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第一种是检错反馈重发，即接收方检测到错误后，通过反馈信道要求发送方重新发送该帧。这是数据链路层最常用的方法。</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第二种是自动纠错，即在冗余码中加入足够的信息，使得接收方在发现错误时，不仅能知道错了，还能自动计算出正确数据是什么并予以纠正。</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第三种是混合方式，结合前两者的优点，接收方对少量错误进行自动纠正，对无法纠正的错误则要求发送方重发。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这三种方法各有适用场景，共同构成了保障数据可靠传输的技术基础。</a:t>
            </a:r>
          </a:p>
          <a:p>
            <a:pPr eaLnBrk="1" hangingPunct="1"/>
            <a:endParaRPr lang="en-US" altLang="zh-CN" dirty="0" smtClean="0"/>
          </a:p>
        </p:txBody>
      </p:sp>
    </p:spTree>
    <p:extLst>
      <p:ext uri="{BB962C8B-B14F-4D97-AF65-F5344CB8AC3E}">
        <p14:creationId xmlns:p14="http://schemas.microsoft.com/office/powerpoint/2010/main" val="6295796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570A78BB-C60D-4FA5-982F-40AE7422F5FB}" type="slidenum">
              <a:rPr lang="en-US" altLang="zh-CN" sz="1200" b="0" smtClean="0">
                <a:solidFill>
                  <a:schemeClr val="tx1"/>
                </a:solidFill>
                <a:ea typeface="宋体" panose="02010600030101010101" pitchFamily="2" charset="-122"/>
              </a:rPr>
              <a:t>13</a:t>
            </a:fld>
            <a:endParaRPr lang="en-US" altLang="zh-CN" sz="1200" b="0" smtClean="0">
              <a:solidFill>
                <a:schemeClr val="tx1"/>
              </a:solidFill>
              <a:ea typeface="宋体" panose="02010600030101010101" pitchFamily="2" charset="-122"/>
            </a:endParaRPr>
          </a:p>
        </p:txBody>
      </p:sp>
      <p:sp>
        <p:nvSpPr>
          <p:cNvPr id="31747" name="Rectangle 2"/>
          <p:cNvSpPr>
            <a:spLocks noGrp="1" noRot="1" noChangeAspect="1" noChangeArrowheads="1" noTextEdit="1"/>
          </p:cNvSpPr>
          <p:nvPr>
            <p:ph type="sldImg"/>
          </p:nvPr>
        </p:nvSpPr>
        <p:spPr/>
      </p:sp>
      <p:sp>
        <p:nvSpPr>
          <p:cNvPr id="31748"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我们深入探讨实现差错控制的两种核心技术：纠错码和检错码。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首先，我们引入一个关键概念——码字（</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Codeword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）。一个要发送的帧不再仅仅是原始数据，它由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个数据位和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个冗余校验位共同组成，总长度为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n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 = m + 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）。这个完整的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n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位单元就称为一个码字。</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根据冗余位的目的和能力，主要分为两类：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第一类是纠错码（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Error-correcting code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设计思想是：加入足够多的冗余位，使得接收方在收到码字后，不仅能通过计算发现错误，还能自动定位到错误发生的具体位置，从而直接将其纠正。这种方式不需要发送方重传，但代价是冗余开销非常大，传输效率较低。</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第二类是检错码（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Error-detecting code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）。它的设计思想是：只加入少量冗余位，使得接收方能够发现帧中出现了错误，但无法确定是哪些比特出了错，因此也就无法自动纠正。为了保障数据的最终正确性，检错码必须配合反馈重发机制（如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协议），当接收方检测到错误后，会请求发送方重新发送该帧。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简单来说，纠错码是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自己动手，丰衣足食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；而检错码是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发现问题，呼叫支援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。在实际的数据链路层协议中，基于效率和复杂度的考量，检错码配合重传机制的应用更为广泛。</a:t>
            </a:r>
          </a:p>
          <a:p>
            <a:pPr eaLnBrk="1" hangingPunct="1"/>
            <a:endParaRPr lang="zh-CN" altLang="en-US" dirty="0" smtClean="0"/>
          </a:p>
        </p:txBody>
      </p:sp>
    </p:spTree>
    <p:extLst>
      <p:ext uri="{BB962C8B-B14F-4D97-AF65-F5344CB8AC3E}">
        <p14:creationId xmlns:p14="http://schemas.microsoft.com/office/powerpoint/2010/main" val="41518538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58D019A4-E778-4788-919B-E514AA9648D6}" type="slidenum">
              <a:rPr lang="en-US" altLang="zh-CN" sz="1200" b="0" smtClean="0">
                <a:solidFill>
                  <a:schemeClr val="tx1"/>
                </a:solidFill>
                <a:ea typeface="宋体" panose="02010600030101010101" pitchFamily="2" charset="-122"/>
              </a:rPr>
              <a:t>14</a:t>
            </a:fld>
            <a:endParaRPr lang="en-US" altLang="zh-CN" sz="1200" b="0" smtClean="0">
              <a:solidFill>
                <a:schemeClr val="tx1"/>
              </a:solidFill>
              <a:ea typeface="宋体" panose="02010600030101010101" pitchFamily="2" charset="-122"/>
            </a:endParaRPr>
          </a:p>
        </p:txBody>
      </p:sp>
      <p:sp>
        <p:nvSpPr>
          <p:cNvPr id="33795" name="Rectangle 2"/>
          <p:cNvSpPr>
            <a:spLocks noGrp="1" noRot="1" noChangeAspect="1" noChangeArrowheads="1" noTextEdit="1"/>
          </p:cNvSpPr>
          <p:nvPr>
            <p:ph type="sldImg"/>
          </p:nvPr>
        </p:nvSpPr>
        <p:spPr/>
      </p:sp>
      <p:sp>
        <p:nvSpPr>
          <p:cNvPr id="33796"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先给大家介绍能够实现码纠错和检错能力的核心数学概念——海明距离（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Hamming Distance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首先，理解它的定义：两个等长码字之间的海明距离，指的是它们之间对应位不同的个数。这是一个衡量两个码字差异程度的指标。例如，码字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“0000000010”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“0000011111”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相比，从右向左数，有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个对应位不同，因此它们的海明距离是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进而，一个编码方案的海明距离定义为：该方案中所有可能码字对之间的海明距离的最小值。这个最小值决定了整个编码方案的纠错和检错能力。</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由此引出了重要的海明定理，它揭示了编码能力与海明距离的定量关系：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第一，要检测出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位错，编码方案的海明距离至少需要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。因为只有这样，任何</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位的错误才不足以将一个有效码字变成另一个有效码字，接收方就能发现这是一个非法码字。</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第二，要纠正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位错，要求则更高，编码方案的海明距离至少需要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2d+1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。这确保了即使发生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位错误，出错的码字在空间上仍然最接近发送的那个原始正确码字，从而可以被唯一地纠正回来。</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简单来说，海明距离越大，编码的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容错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能力就越强。这一定理为设计高效的差错控制编码提供了理论依据。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pPr eaLnBrk="1" hangingPunct="1"/>
            <a:endParaRPr lang="en-US" altLang="zh-CN" dirty="0" smtClean="0"/>
          </a:p>
        </p:txBody>
      </p:sp>
    </p:spTree>
    <p:extLst>
      <p:ext uri="{BB962C8B-B14F-4D97-AF65-F5344CB8AC3E}">
        <p14:creationId xmlns:p14="http://schemas.microsoft.com/office/powerpoint/2010/main" val="1908083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9536A0A1-5C8E-42B6-BF99-BA3B5D976CDF}" type="slidenum">
              <a:rPr lang="en-US" altLang="zh-CN" sz="1200" b="0" smtClean="0">
                <a:solidFill>
                  <a:schemeClr val="tx1"/>
                </a:solidFill>
                <a:ea typeface="宋体" panose="02010600030101010101" pitchFamily="2" charset="-122"/>
              </a:rPr>
              <a:t>15</a:t>
            </a:fld>
            <a:endParaRPr lang="en-US" altLang="zh-CN" sz="1200" b="0" smtClean="0">
              <a:solidFill>
                <a:schemeClr val="tx1"/>
              </a:solidFill>
              <a:ea typeface="宋体" panose="02010600030101010101" pitchFamily="2" charset="-122"/>
            </a:endParaRPr>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真实计算机网络使用纠错码不多，主要是检错吗。现在我们学习一种最简单、最基础的差错检测编码：奇偶校验码（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Parity Check Code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它的实现原理非常简单：在要发送的数据位后面，额外添加一个奇偶校验位，使得整个码字中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的个数满足奇偶性要求。</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中的偶校验为例：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原始数据是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`10110101`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的个数是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（奇数），那么就在末尾添加一个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的总数变成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（偶数），形成码字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`101101011`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原始数据是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`10110001`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的个数是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（偶数），那么就在末尾添加一个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，保持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的总数为偶数，形成码字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`101100010`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这样，接收方在收到数据后，只需计算整个码字中“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的个数。如果结果不符合约定的奇偶性（例如，约定偶校验却收到了奇数个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），就可以判定传输过程中发生了错误。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然而，奇偶校验码的校验能力非常低。它只能检测出奇数个比特发生的错误。如果错误比特数是偶数个，则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的个数奇偶性不变，错误就无法被检出。因此，它难以适用于对可靠性要求高的块数据传输。</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了改进它，人们提出了垂直水平奇偶校验码（也称为纵横奇偶校验码或方阵码）。它同时对数据的行和列进行奇偶校验，大大提高了检错能力，不仅能发现更多错误，有时还能定位错误位，是实现简单、效果较好的常用方法。</a:t>
            </a:r>
          </a:p>
          <a:p>
            <a:pPr eaLnBrk="1" hangingPunct="1"/>
            <a:endParaRPr lang="zh-CN" altLang="zh-CN" dirty="0" smtClean="0"/>
          </a:p>
        </p:txBody>
      </p:sp>
    </p:spTree>
    <p:extLst>
      <p:ext uri="{BB962C8B-B14F-4D97-AF65-F5344CB8AC3E}">
        <p14:creationId xmlns:p14="http://schemas.microsoft.com/office/powerpoint/2010/main" val="3641056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由于奇偶校验码检错能力有效，人们提出了效能更高的差错检测技术——循环冗余校验码（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码），也称为多项式编码。这是目前数据链路层使用最为广泛的检错吗。</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首先，循环冗余校验码基于一种巧妙的数学抽象：将二进制位串表示为多项式。例如，比特流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“110001”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可以表示为系数为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的多项式，即：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x^5 + x^4 + 1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，每一位比特的值就是对应次幂项的系数。</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循环冗余校验码校验的核心是一个双方事先约定好的生成多项式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G(x)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。这个多项式的选择有严格要求：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其最高位和最低位的系数必须为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它必须比要传输的原始信息所对应的多项式短。</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它的校验过程如下：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发送端：根据原始数据和生成多项式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G(x)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进行计算，生成一个校验和（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码），并将其附加在数据帧的尾部。这个操作相当于构造了一个新的、能被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G(x)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整除的带校验码的多项式。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接收端：将接收到的整个比特流（数据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码）同样看作一个多项式，并用相同的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G(x)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去除它。如果余数为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，则认为传输无误；如果余数不为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，则断定传输过程中必定发生了差错。</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码以其极强的检错能力（能检测所有奇数位错、双比特错以及大部分突发错误）和高效的硬件实现，成为了现代通信中不可或缺的差错检测手段。</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16</a:t>
            </a:fld>
            <a:endParaRPr lang="en-US" altLang="zh-CN"/>
          </a:p>
        </p:txBody>
      </p:sp>
    </p:spTree>
    <p:extLst>
      <p:ext uri="{BB962C8B-B14F-4D97-AF65-F5344CB8AC3E}">
        <p14:creationId xmlns:p14="http://schemas.microsoft.com/office/powerpoint/2010/main" val="388910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给出了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码计算的示意图范例，注意：计算过程中使用的是异或运算，不是大家认知中的常规减法运算。</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17</a:t>
            </a:fld>
            <a:endParaRPr lang="en-US" altLang="zh-CN"/>
          </a:p>
        </p:txBody>
      </p:sp>
    </p:spTree>
    <p:extLst>
      <p:ext uri="{BB962C8B-B14F-4D97-AF65-F5344CB8AC3E}">
        <p14:creationId xmlns:p14="http://schemas.microsoft.com/office/powerpoint/2010/main" val="935971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57C3C7CD-C954-4278-B3CF-8CE65D37137D}" type="slidenum">
              <a:rPr lang="en-US" altLang="zh-CN" sz="1200" b="0" smtClean="0">
                <a:solidFill>
                  <a:schemeClr val="tx1"/>
                </a:solidFill>
                <a:ea typeface="宋体" panose="02010600030101010101" pitchFamily="2" charset="-122"/>
              </a:rPr>
              <a:t>18</a:t>
            </a:fld>
            <a:endParaRPr lang="en-US" altLang="zh-CN" sz="1200" b="0" smtClean="0">
              <a:solidFill>
                <a:schemeClr val="tx1"/>
              </a:solidFill>
              <a:ea typeface="宋体" panose="02010600030101010101" pitchFamily="2" charset="-122"/>
            </a:endParaRPr>
          </a:p>
        </p:txBody>
      </p:sp>
      <p:sp>
        <p:nvSpPr>
          <p:cNvPr id="39939" name="Rectangle 1026"/>
          <p:cNvSpPr>
            <a:spLocks noGrp="1" noRot="1" noChangeAspect="1" noChangeArrowheads="1" noTextEdit="1"/>
          </p:cNvSpPr>
          <p:nvPr>
            <p:ph type="sldImg"/>
          </p:nvPr>
        </p:nvSpPr>
        <p:spPr/>
      </p:sp>
      <p:sp>
        <p:nvSpPr>
          <p:cNvPr id="39940" name="Rectangle 1027"/>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码的一个重要优势在于其标准化。经过长期实践检验，有四个生成多项式已成为国际标准，适用于不同场景：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CRC-12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：结构相对简单，适用于字符长度为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位的场景。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CRC-16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CRC-CCITT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：这是两种最常用的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标准，被广泛用于如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HDLC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X.25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等链路层协议中，提供强大的检错能力。</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CRC-32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：生成多项式更长，检错能力极强，被应用于对可靠性要求极高的场景，如以太网（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Ethernet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ZIP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压缩文件等。</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校验能带来极高的可靠性。接收方无差错接受数据帧的概率非常接近于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，这意味着我们几乎可以完全信任通过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校验的帧在传输中没有出错。</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然而，必须强调一个重要的科学观点：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不能检测出所有的差错。没有任何一种检错码能做到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检测所有错误模式。但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的数学设计使其能够检测出几乎所有常见的错误类型，其漏检率极低，在实际应用中完全可以满足可靠性要求。</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之所以能广泛应用，还得益于其高效的硬件实现。通过简单的移位寄存器和异或门电路就可以快速完成编码和校验，速度极快，几乎不增加数据传输的延迟。</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因此，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以其标准化、高可靠性和高效率，成为了数据链路层差错检测技术的实际工业标准。</a:t>
            </a:r>
          </a:p>
          <a:p>
            <a:pPr eaLnBrk="1" hangingPunct="1"/>
            <a:endParaRPr lang="zh-CN" altLang="zh-CN" dirty="0" smtClean="0"/>
          </a:p>
        </p:txBody>
      </p:sp>
    </p:spTree>
    <p:extLst>
      <p:ext uri="{BB962C8B-B14F-4D97-AF65-F5344CB8AC3E}">
        <p14:creationId xmlns:p14="http://schemas.microsoft.com/office/powerpoint/2010/main" val="2365031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2390BD1C-2B27-4178-B1AB-C7AB85881147}" type="slidenum">
              <a:rPr lang="en-US" altLang="zh-CN" sz="1200" b="0" smtClean="0">
                <a:solidFill>
                  <a:schemeClr val="tx1"/>
                </a:solidFill>
                <a:ea typeface="宋体" panose="02010600030101010101" pitchFamily="2" charset="-122"/>
              </a:rPr>
              <a:t>19</a:t>
            </a:fld>
            <a:endParaRPr lang="en-US" altLang="zh-CN" sz="1200" b="0" smtClean="0">
              <a:solidFill>
                <a:schemeClr val="tx1"/>
              </a:solidFill>
              <a:ea typeface="宋体" panose="02010600030101010101" pitchFamily="2" charset="-122"/>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各位同学，最后我们学习在网络高层协议中广泛应用的差错检测方法——检验和（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Checksum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）算法。</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检验和的计算遵循一个清晰的步骤序列：</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首先，将报文中的检验字段初值置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接着，将待发送的数据拆分成若干个与检验字段等长的分片（如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位一组），如果最后一个分片长度不足，则补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对齐。</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然后，对所有分片执行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的补码和运算（即带循环进位的加法），将累加的结果取反，得到的这个值就是校验和。</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最后，将这个计算出的校验和数值置入报文的检验字段中发送出去。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接收端的验证过程非常简单直接：它对接收到的数据（包括检验字段）执行完全相同的计算过程。如果最终计算得到的校验和为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，则表明数据在传输过程中极有可能没有出现差错；如果结果不为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，则断定传输发生了错误。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需要特别注意的是，检验和算法因其软件实现简单、计算效率高，主要被应用于网络层、传输层等高层协议中，例如我们熟悉的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UDP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报文首部都使用检验和进行差错检测。它与数据链路层常用的、硬件实现的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码形成了互补的分工。</a:t>
            </a:r>
            <a:endParaRPr lang="zh-CN" altLang="zh-CN" sz="1200" kern="1200" dirty="0">
              <a:solidFill>
                <a:schemeClr val="tx1"/>
              </a:solidFill>
              <a:effectLst/>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849213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C8C3B204-51A6-4510-AB60-0F91D86E2BF6}" type="slidenum">
              <a:rPr lang="en-US" altLang="zh-CN" sz="1200" b="0" smtClean="0">
                <a:solidFill>
                  <a:schemeClr val="tx1"/>
                </a:solidFill>
                <a:ea typeface="宋体" panose="02010600030101010101" pitchFamily="2" charset="-122"/>
              </a:rPr>
              <a:t>20</a:t>
            </a:fld>
            <a:endParaRPr lang="en-US" altLang="zh-CN" sz="1200" b="0" smtClean="0">
              <a:solidFill>
                <a:schemeClr val="tx1"/>
              </a:solidFill>
              <a:ea typeface="宋体" panose="02010600030101010101" pitchFamily="2" charset="-122"/>
            </a:endParaRPr>
          </a:p>
        </p:txBody>
      </p:sp>
      <p:sp>
        <p:nvSpPr>
          <p:cNvPr id="44035" name="Rectangle 2"/>
          <p:cNvSpPr>
            <a:spLocks noGrp="1" noRot="1" noChangeAspect="1" noChangeArrowheads="1" noTextEdit="1"/>
          </p:cNvSpPr>
          <p:nvPr>
            <p:ph type="sldImg"/>
          </p:nvPr>
        </p:nvSpPr>
        <p:spPr/>
      </p:sp>
      <p:sp>
        <p:nvSpPr>
          <p:cNvPr id="44036"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各位同学，今天我们开始学习流量控制。</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先看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上的示意图。这里展示的是发送方主机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，数据从它的高层应用通过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发出，暂存在发送缓存中，然后由数据链路层封装成帧，发送出去。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再看接收方主机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，它的数据链路层接收到帧，同样经过一个接收缓存，再通过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上传给它的高层应用。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那么，这个收发过程中就引出一个问题：如果主机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的处理速度跟不上主机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的发送速度，会发生什么？结果不言而喻，会出现数据会溢出、丢失，造成网络资源浪费。</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何避免出现这一问题呢？这就迫切需要流量控制，它的目标非常明确，就是约束发送方的发送能力，让其不能超过接收方的接收能力，实现双方速度的匹配。流量控制本质上是由接收端控制发送端，接收方为主导。</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实现这一目标主要有两种实现流量控制的协议：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一是非常简单的停等协议，发一帧，等一个确认，再发下一帧，效率低下。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另一种是效率更高、也更复杂的滑动窗口协议，它允许发送方连续发送多个帧，大大提升了信道利用率。</a:t>
            </a:r>
          </a:p>
          <a:p>
            <a:pPr eaLnBrk="1" hangingPunct="1"/>
            <a:endParaRPr lang="en-US" altLang="zh-CN" b="1" dirty="0" smtClean="0"/>
          </a:p>
        </p:txBody>
      </p:sp>
    </p:spTree>
    <p:extLst>
      <p:ext uri="{BB962C8B-B14F-4D97-AF65-F5344CB8AC3E}">
        <p14:creationId xmlns:p14="http://schemas.microsoft.com/office/powerpoint/2010/main" val="3926721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各位同学，现在我们来看一种最简单的流量控制协议——单工停等协议。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它的工作原理就像我们对话时的“一问一答”，非常容易理解。</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大家看发送方的工作流程，它非常</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守规矩</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首先，从高层应用取数据。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然后将数据封装成帧。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把帧送到发送缓冲区。</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发送这个帧。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之后，它就进入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状态，暂停发送，直到收到来自接收方的应答（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我们再来看接收方，它的步骤则是对称的：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它始终在等候发送方的数据帧。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帧到达后，接收它。</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将帧送到接收缓冲区。</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拆封帧，并将数据提交给高层应用。</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最后，立即向发送方回发一个应答（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），告诉对方：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我已收到，你可以发下一个了。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停等协议的核心就是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发送一帧，等待一确认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。发送方在收到上一个帧的确认之前，绝不会发送下一个帧。这种方式虽然简单可靠，但效率较低，因为信道在等待期间是空闲的。</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21</a:t>
            </a:fld>
            <a:endParaRPr lang="en-US" altLang="zh-CN"/>
          </a:p>
        </p:txBody>
      </p:sp>
    </p:spTree>
    <p:extLst>
      <p:ext uri="{BB962C8B-B14F-4D97-AF65-F5344CB8AC3E}">
        <p14:creationId xmlns:p14="http://schemas.microsoft.com/office/powerpoint/2010/main" val="965625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我们通过时序图来分析停等协议在不同传输情况下的工作过程。这能帮助我们理解它是如何实现可靠传输的。</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大家看，这里描述了四种场景：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首先是理想情况（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正确接收后，提交给主机并返回</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确认。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收到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后，继续发送下一数据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。这是一个完美的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确认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循环。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现在看异常情况（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）：数据帧在传输中出错（如比特错误）。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接收到后，通过校验发现帧错误，于是丢弃该帧，并返回一个否认帧（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收到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后，就知道传输失败，会重传原来的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再看情况（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）：数据帧完全丢失，根本没能到达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不会做任何动作。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发送后启动一个定时器，超时后仍没收到任何应答（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），它就判定帧可能丢失，于是主动超时重传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最后是情况（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）：确认帧（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）丢失。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正确接收并处理了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，但它发回的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在路上丢了。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同样会因为定时器超时而收不到应答，于是重传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。注意，此时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会再次收到一个重复的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，它会丢弃这个重复帧，并重新发送一个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停等协议通过确认（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）、否认（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）和超时重传这三种机制，保证了无论在哪种传输错误下，数据都能最终可靠地交付给接收方。其核心思想就是：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不见应答，绝不前进；一旦超时，立即重传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22</a:t>
            </a:fld>
            <a:endParaRPr lang="en-US" altLang="zh-CN"/>
          </a:p>
        </p:txBody>
      </p:sp>
    </p:spTree>
    <p:extLst>
      <p:ext uri="{BB962C8B-B14F-4D97-AF65-F5344CB8AC3E}">
        <p14:creationId xmlns:p14="http://schemas.microsoft.com/office/powerpoint/2010/main" val="23843447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96F5F5DF-FFA9-42E6-8954-1640EB4E66CA}" type="slidenum">
              <a:rPr lang="en-US" altLang="zh-CN" sz="1200" b="0" smtClean="0">
                <a:solidFill>
                  <a:schemeClr val="tx1"/>
                </a:solidFill>
                <a:ea typeface="宋体" panose="02010600030101010101" pitchFamily="2" charset="-122"/>
              </a:rPr>
              <a:t>23</a:t>
            </a:fld>
            <a:endParaRPr lang="en-US" altLang="zh-CN" sz="1200" b="0" smtClean="0">
              <a:solidFill>
                <a:schemeClr val="tx1"/>
              </a:solidFill>
              <a:ea typeface="宋体" panose="02010600030101010101" pitchFamily="2" charset="-122"/>
            </a:endParaRPr>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理想勤快下的单工停等协议我们已经清楚了，现在我们深入探讨单工停等协议在面对差错时的具体实现机制和优化方法。</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首先，协议有三种应答方式：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正向应答（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）：接收方正确接收后，发送一个确认信号。这是最常用、最核心的方式。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负向应答（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）：接收方检测到帧出错时，主动发送一个否认信号，要求发送方重传。</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双向应答：结合以上两种，既发送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也发送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，使得响应更全面。</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在实际中，我们最常使用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正向应答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超时重传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机制来解决差错问题。即：发送方发出一个帧后就启动定时器。如果收到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，就继续发送；如果超时未收到任何应答（可能是数据帧或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丢失），就自动重发。这是一种简单而有效的策略。</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为了防止重复帧的问题（如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丢失导致发送方重传），协议采用了循环序号机制。给每个数据帧编一个序号（比如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交替循环）。接收方通过序号就能判断出当前收到的是否是一个新的数据帧，还是一个已经处理过的重复帧，从而决定是接收还是丢弃。</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最后，为了提升协议效率，减少网络中的控制信息，可以采用三种方法来降低应答数量：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单帧应答：每收到一帧就回一个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。简单但开销大。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成批应答：成功接收连续多个帧后，只用一个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来确认一整批。效率高。</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附载应答（或称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捎带确认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）：接收方不单独发送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，而是等待自己有数据要发送时，将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信息搭载在数据帧上一同发回。这是最巧妙、最高效的方式。</a:t>
            </a:r>
          </a:p>
          <a:p>
            <a:pPr eaLnBrk="1" hangingPunct="1"/>
            <a:endParaRPr lang="zh-CN" altLang="zh-CN" sz="1000" dirty="0" smtClean="0"/>
          </a:p>
        </p:txBody>
      </p:sp>
    </p:spTree>
    <p:extLst>
      <p:ext uri="{BB962C8B-B14F-4D97-AF65-F5344CB8AC3E}">
        <p14:creationId xmlns:p14="http://schemas.microsoft.com/office/powerpoint/2010/main" val="12769842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24D7C01F-D7E8-4F97-B661-76A2F5C761EC}" type="slidenum">
              <a:rPr lang="en-US" altLang="zh-CN" sz="1200" b="0" smtClean="0">
                <a:solidFill>
                  <a:schemeClr val="tx1"/>
                </a:solidFill>
                <a:ea typeface="宋体" panose="02010600030101010101" pitchFamily="2" charset="-122"/>
              </a:rPr>
              <a:t>24</a:t>
            </a:fld>
            <a:endParaRPr lang="en-US" altLang="zh-CN" sz="1200" b="0" smtClean="0">
              <a:solidFill>
                <a:schemeClr val="tx1"/>
              </a:solidFill>
              <a:ea typeface="宋体" panose="02010600030101010101" pitchFamily="2" charset="-122"/>
            </a:endParaRPr>
          </a:p>
        </p:txBody>
      </p:sp>
      <p:sp>
        <p:nvSpPr>
          <p:cNvPr id="54275" name="Rectangle 2"/>
          <p:cNvSpPr>
            <a:spLocks noGrp="1" noRot="1" noChangeAspect="1" noChangeArrowheads="1" noTextEdit="1"/>
          </p:cNvSpPr>
          <p:nvPr>
            <p:ph type="sldImg"/>
          </p:nvPr>
        </p:nvSpPr>
        <p:spPr/>
      </p:sp>
      <p:sp>
        <p:nvSpPr>
          <p:cNvPr id="54276"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各位同学，最后我们通过一个流程图来完整梳理单工停等协议在差错情况下的工作流程。请大家跟随我的讲解，理清图中的每个判断步骤。</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我们先看发送方的流程：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起点是：从网络层取数据，封装成帧。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然后发送帧，并同时启动定时器。</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随后进入关键决策循环：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首先判断应答是否到达？</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如果是，且应答正确，则停止定时器，准备发送下一帧。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如果否（未收到应答），则接着判断是否超时？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如果未超时，则继续等待。</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如果已超时，则流程跳回</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这一步，执行重传。</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我们再来看接收方的流程：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起点是：接收帧。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随后进行一系列关键检查：</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首先判断帧是否成功收到？（即物理上是否收到）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如果否（帧丢失），则流程结束（相当于丢弃），等待下一次接收。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如果是，则接着判断是否是重复帧？（通过序列号检查）</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如果是重复帧，则直接丢弃，并重新发送一个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（防止发送方再次超时重传）。</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如果否（是新帧），则再判断帧内容是否正确？（通过差错校验码检查）</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如果不正确（帧出错），则丢弃，并可能发送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如果正确，则将数据提交给网络层，并发送应答（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这个流程图清晰地揭示了协议的核心</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基于定时器的重传机制和基于序列号的重复帧检测机制。发送方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不见应答决不罢休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火眼金睛辨重复、验正误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，双方通过紧密配合，最终确保了数据的可靠传输。</a:t>
            </a:r>
          </a:p>
          <a:p>
            <a:pPr eaLnBrk="1" hangingPunct="1"/>
            <a:endParaRPr lang="en-US" altLang="zh-CN" dirty="0" smtClean="0"/>
          </a:p>
        </p:txBody>
      </p:sp>
    </p:spTree>
    <p:extLst>
      <p:ext uri="{BB962C8B-B14F-4D97-AF65-F5344CB8AC3E}">
        <p14:creationId xmlns:p14="http://schemas.microsoft.com/office/powerpoint/2010/main" val="27891460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8A005AFC-9F0B-471C-B45E-7C83D3DB9CF9}" type="slidenum">
              <a:rPr lang="en-US" altLang="zh-CN" sz="1200" b="0" smtClean="0">
                <a:solidFill>
                  <a:schemeClr val="tx1"/>
                </a:solidFill>
                <a:ea typeface="宋体" panose="02010600030101010101" pitchFamily="2" charset="-122"/>
              </a:rPr>
              <a:t>25</a:t>
            </a:fld>
            <a:endParaRPr lang="en-US" altLang="zh-CN" sz="1200" b="0" smtClean="0">
              <a:solidFill>
                <a:schemeClr val="tx1"/>
              </a:solidFill>
              <a:ea typeface="宋体" panose="02010600030101010101" pitchFamily="2" charset="-122"/>
            </a:endParaRPr>
          </a:p>
        </p:txBody>
      </p:sp>
      <p:sp>
        <p:nvSpPr>
          <p:cNvPr id="56323" name="Rectangle 2"/>
          <p:cNvSpPr>
            <a:spLocks noGrp="1" noRot="1" noChangeAspect="1" noChangeArrowheads="1" noTextEdit="1"/>
          </p:cNvSpPr>
          <p:nvPr>
            <p:ph type="sldImg"/>
          </p:nvPr>
        </p:nvSpPr>
        <p:spPr/>
      </p:sp>
      <p:sp>
        <p:nvSpPr>
          <p:cNvPr id="56324"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各位同学，现在我们学习连续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协议，它是为了克服我们刚才讲的停等协议效率低下的问题而提出的。</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连续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协议的工作原理非常直观：发送方可以连续发送多个帧，而不需要像停等协议那样，每发一帧都必须停下来等待对方的应答。这样就大大减少了信道空闲的时间，显著提高了信道的利用率和传输效率。</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但是，一旦在连续发送的过程中出现了帧出错，该如何处理呢？这就引出了两种不同的策略，其本质上是一种传输资源与存储资源的博弈。</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第一种策略叫全部重传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Go-Back-N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特征：只要有一帧出错（比如第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帧），发送方就必须从出错的那一帧开始，重新发送之后所有的帧（即重传第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代价：这种方法浪费传输资源，因为可能重传了很多已经正确到达的帧。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优势：但它对接收方要求很低，接收方的缓存区只需要一个，实现简单。</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第二种策略叫选择重传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Selective Repeat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特征：哪个帧出错了，就只重传哪一个帧。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优势：这种方法节省传输资源，避免了不必要的重传。</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代价：但它对接收方要求很高，接收方必须有足够多的缓存区，来暂存那些已经正确收到但序号不连续（因为中间有帧出错）的帧，直到缺失的帧被重传过来。这消耗的是存储资源。</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连续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连续发送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换来了效率的提升，但引入了新的问题。全部重传是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以传输换存储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，选择重传是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以存储换传输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。在实际网络设计中，就需要根据具体的信道条件和设备资源，在这两者之间进行权衡和选择。</a:t>
            </a:r>
          </a:p>
          <a:p>
            <a:pPr marL="228600" indent="-228600" eaLnBrk="1" hangingPunct="1"/>
            <a:endParaRPr lang="en-US" altLang="zh-CN" dirty="0" smtClean="0"/>
          </a:p>
        </p:txBody>
      </p:sp>
    </p:spTree>
    <p:extLst>
      <p:ext uri="{BB962C8B-B14F-4D97-AF65-F5344CB8AC3E}">
        <p14:creationId xmlns:p14="http://schemas.microsoft.com/office/powerpoint/2010/main" val="42826944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E386552E-A336-4825-8BC3-35CE265319EF}" type="slidenum">
              <a:rPr lang="en-US" altLang="zh-CN" sz="1200" b="0" smtClean="0">
                <a:solidFill>
                  <a:schemeClr val="tx1"/>
                </a:solidFill>
                <a:ea typeface="宋体" panose="02010600030101010101" pitchFamily="2" charset="-122"/>
              </a:rPr>
              <a:t>26</a:t>
            </a:fld>
            <a:endParaRPr lang="en-US" altLang="zh-CN" sz="1200" b="0" smtClean="0">
              <a:solidFill>
                <a:schemeClr val="tx1"/>
              </a:solidFill>
              <a:ea typeface="宋体" panose="02010600030101010101" pitchFamily="2" charset="-122"/>
            </a:endParaRPr>
          </a:p>
        </p:txBody>
      </p:sp>
      <p:sp>
        <p:nvSpPr>
          <p:cNvPr id="58371" name="Rectangle 2"/>
          <p:cNvSpPr>
            <a:spLocks noGrp="1" noRot="1" noChangeAspect="1" noChangeArrowheads="1" noTextEdit="1"/>
          </p:cNvSpPr>
          <p:nvPr>
            <p:ph type="sldImg"/>
          </p:nvPr>
        </p:nvSpPr>
        <p:spPr/>
      </p:sp>
      <p:sp>
        <p:nvSpPr>
          <p:cNvPr id="58372"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我们通过一个时序图来详细讲解全部重传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Go-Back-N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）协议的具体工作原理。</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大家看，发送方正在连续地发送数据帧，从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。接收方也相应地返回</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确认帧。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关键点在这里：我们假设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帧在传输过程中出错了。接收方收到后，通过校验发现错误，于是丢弃</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根据全部重传协议的规则，接收方采取的策略是：它期望收到的是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，但收到的帧出错或不按序，因此它之后所有连续到达的帧（如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DATA3, DATA4, DATA5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）都会被它视为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而全部丢弃。并且，每丢弃一帧，它都会重复发送最后一个正确接收的帧的确认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（确认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），以此不断地提醒发送方：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我期望收到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发送方在发完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后，可能会收到这些重复的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（这涉及到快速重传话题，后续的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知识点会讲解），但更可能的是，它为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启动的重传定时器超时 了。这时，发送方的反应是：回退（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Go-Back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）。它从出错的那个帧（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）开始，重新发送所有后续的帧（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DATA2, DATA3, DATA4, DATA5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），而不管这些帧是否已经成功发送过。</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当正确的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最终到达后，接收方会接收它并提交给主机，然后发送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。同时，后续的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现在也因为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的到达而变得有序，可以被依次提交。接收方之后会按序发送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总结一下全部重传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的特点：</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发送方：一旦超时，就回退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步，重传所有已发出但未确认的帧。简单粗暴，但浪费带宽。</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接收方：极其简单，只需要一个帧的缓存。它只按序接收，任何不按序的帧都会被丢弃，并重复最后一次确认。</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这种机制用重复传输的代价，换来了接收方实现的简单性。</a:t>
            </a:r>
          </a:p>
          <a:p>
            <a:pPr eaLnBrk="1" hangingPunct="1"/>
            <a:endParaRPr lang="zh-CN" altLang="zh-CN" dirty="0" smtClean="0"/>
          </a:p>
        </p:txBody>
      </p:sp>
    </p:spTree>
    <p:extLst>
      <p:ext uri="{BB962C8B-B14F-4D97-AF65-F5344CB8AC3E}">
        <p14:creationId xmlns:p14="http://schemas.microsoft.com/office/powerpoint/2010/main" val="26855575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6C89C4E9-B16E-422B-8744-4F9FDB988093}" type="slidenum">
              <a:rPr lang="en-US" altLang="zh-CN" sz="1200" b="0" smtClean="0">
                <a:solidFill>
                  <a:schemeClr val="tx1"/>
                </a:solidFill>
                <a:ea typeface="宋体" panose="02010600030101010101" pitchFamily="2" charset="-122"/>
              </a:rPr>
              <a:t>27</a:t>
            </a:fld>
            <a:endParaRPr lang="en-US" altLang="zh-CN" sz="1200" b="0" smtClean="0">
              <a:solidFill>
                <a:schemeClr val="tx1"/>
              </a:solidFill>
              <a:ea typeface="宋体" panose="02010600030101010101" pitchFamily="2" charset="-122"/>
            </a:endParaRPr>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接下来我们学习滑动窗口协议，它是对连续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协议的一个重要改进。</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滑动窗口协议的核心思想是：通过一个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窗口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来动态控制那些</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已经发出但还未被确认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的数据帧的数量。这个窗口的大小是固定的，但它会随着确认帧的到达而在序列号上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滑动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，因此得名。这个过程需要发送窗口和接收窗口相互配合才能完成。</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我们先关注发送窗口，它定义了发送方的行为规则：</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窗口大小（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W_T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）：这是一个关键参数。它规定了在没有任何确认帧返回的情况下，发送方最多可以连续发送多少帧。这就好比给了发送方一个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信用额度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，在这个额度内，它可以不停发送。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窗口内的帧：我们可以把发送窗口想象成一个在序列号上滑动的框，框里的帧分为两种状态：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已发送但未收到确认的帧：这些帧已经发出，但命运未卜，可能成功也可能丢失，需要准备重传。</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允许发送但尚未发送的帧：这些是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备用军</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，只要窗口还有空间，发送方就可以随时将它们发送出去。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滑动窗口协议通过设置一个大小固定的发送窗口，巧妙地限制了传输管道中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在途数据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的数量，从而实现了高效的流量控制。它既允许了连续发送以提高效率，又避免了发送方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淹没</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接收方。</a:t>
            </a:r>
          </a:p>
          <a:p>
            <a:pPr eaLnBrk="1" hangingPunct="1"/>
            <a:endParaRPr lang="en-US" altLang="zh-CN" dirty="0" smtClean="0"/>
          </a:p>
        </p:txBody>
      </p:sp>
    </p:spTree>
    <p:extLst>
      <p:ext uri="{BB962C8B-B14F-4D97-AF65-F5344CB8AC3E}">
        <p14:creationId xmlns:p14="http://schemas.microsoft.com/office/powerpoint/2010/main" val="36375188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C0F4600B-A5DE-4407-A1D5-6C3D42EDE322}" type="slidenum">
              <a:rPr lang="en-US" altLang="zh-CN" sz="1200" b="0" smtClean="0">
                <a:solidFill>
                  <a:schemeClr val="tx1"/>
                </a:solidFill>
                <a:ea typeface="宋体" panose="02010600030101010101" pitchFamily="2" charset="-122"/>
              </a:rPr>
              <a:t>28</a:t>
            </a:fld>
            <a:endParaRPr lang="en-US" altLang="zh-CN" sz="1200" b="0" smtClean="0">
              <a:solidFill>
                <a:schemeClr val="tx1"/>
              </a:solidFill>
              <a:ea typeface="宋体" panose="02010600030101010101" pitchFamily="2" charset="-122"/>
            </a:endParaRPr>
          </a:p>
        </p:txBody>
      </p:sp>
      <p:sp>
        <p:nvSpPr>
          <p:cNvPr id="63491" name="Rectangle 1026"/>
          <p:cNvSpPr>
            <a:spLocks noGrp="1" noRot="1" noChangeAspect="1" noChangeArrowheads="1" noTextEdit="1"/>
          </p:cNvSpPr>
          <p:nvPr>
            <p:ph type="sldImg"/>
          </p:nvPr>
        </p:nvSpPr>
        <p:spPr/>
      </p:sp>
      <p:sp>
        <p:nvSpPr>
          <p:cNvPr id="63492" name="Rectangle 1027"/>
          <p:cNvSpPr>
            <a:spLocks noGrp="1" noChangeArrowheads="1"/>
          </p:cNvSpPr>
          <p:nvPr>
            <p:ph type="body" idx="1"/>
          </p:nvPr>
        </p:nvSpPr>
        <p:spPr>
          <a:noFill/>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我们会看到，接收方如何用类似的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接收窗口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来配合工作，共同完成这个精巧的机制。</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接收窗口同样有一个窗口大小（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W_R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）。它定义了接收方允许连续接收的、但还未提交给上层应用的帧的个数。这代表了接收方的处理能力和缓存空间。</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接收窗口的核心功能是控制哪些帧可以被接收，哪些帧会被丢弃。它就像一个严格的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安检口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，只允许符合规定的帧进入。</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那么，它的规则是什么呢？最关键的一条是：只有当到达的数据帧的序号，正好落在当前接收窗口的范围之内时，接收方才会接收这个帧。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这意味着：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如果帧的序号等于接收窗口的下边界（即正是期望收到的下一个帧），接收方会接收它并提交给网络层，同时整个接收窗口向前滑动一格。</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如果帧的序号落在窗口内部但并非下边界（即序列号大于期望值），接收方可能会缓存该帧（选择重传）或丢弃它（回退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如果帧的序号落在窗口之后（序号过大），说明发送方失控，接收方会直接丢弃。</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如果帧的序号落在窗口之前（序号过小），这一定是一个重复帧，接收方也会丢弃它，但可能会重发一个确认，防止发送方超时。</a:t>
            </a:r>
          </a:p>
          <a:p>
            <a:pPr eaLnBrk="1" hangingPunct="1"/>
            <a:endParaRPr lang="en-US" altLang="zh-CN" dirty="0" smtClean="0"/>
          </a:p>
        </p:txBody>
      </p:sp>
    </p:spTree>
    <p:extLst>
      <p:ext uri="{BB962C8B-B14F-4D97-AF65-F5344CB8AC3E}">
        <p14:creationId xmlns:p14="http://schemas.microsoft.com/office/powerpoint/2010/main" val="18230662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我们通过这示意图来直观地理解发送窗口是如何</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滑动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的。请大家注意窗口边界和帧状态的变化。</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是初始状态：假设我们的发送窗口大小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W_T = 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。此时，发送窗口覆盖了序号为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的帧。这意味着发送方允许连续发送这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0,1,2,3,4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）。而序号</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及之后的帧，都还不允许发送。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展示了发送动作：发送方已经发送了窗口内的第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），还允许发送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），此时窗口的边界没有改变。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展示了窗口控制：这时，发送方已经发送了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），但没有收到任何应答帧，即：发送窗口被消耗完毕，发送方不能发送后续的数据了（如数据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等即使这些存在）。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展示了窗口滑动：发送方收到了对帧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的确认，于是窗口向右滑动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个位置。帧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被移出窗口，同时又有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个新的帧（帧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）被纳入窗口的末尾，这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个帧是允许发送的，但此时的帧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仍然占据发送窗口空间，因为这两个帧对应的应答帧尚未到来。</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29</a:t>
            </a:fld>
            <a:endParaRPr lang="en-US" altLang="zh-CN"/>
          </a:p>
        </p:txBody>
      </p:sp>
    </p:spTree>
    <p:extLst>
      <p:ext uri="{BB962C8B-B14F-4D97-AF65-F5344CB8AC3E}">
        <p14:creationId xmlns:p14="http://schemas.microsoft.com/office/powerpoint/2010/main" val="16711262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下面我们通过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中的示意图来理解接收窗口是如何工作的。接收窗口决定了接收方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愿意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接收哪些帧。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是初始状态：假设接收窗口大小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W_R = 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。此时，接收窗口期望并准备接收序号为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的帧。任何序号不是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的帧都会被拒绝或丢弃。</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展示了正确接收：接收方成功收到了期望的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号帧。接收方会将该帧的数据提交给上层网络，同时，接收窗口向前滑动一个序号，准备接收下一个帧，即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号帧。此时，窗口的状态变为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准备接收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号帧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展示了窗口滑动后的新状态：在成功接收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号帧并滑动后，接收窗口现在只期望接收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号帧。任何非</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号帧到达，都会被拒绝或丢弃。接收方会持续这个状态，直到正确的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号帧到达。</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总结一下：接收窗口严格按序接收。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它永远只期望接收下一个按顺序的、序号正确的帧。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一旦正确收到，它就滑动，改变其期望接收的序号。</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对于任何不按序到达的帧，它都会拒绝，以此保证提交给上层应用的数据绝对是顺序正确的。</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这个机制与发送窗口配合，共同构成了滑动窗口协议可靠传输的基石。</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30</a:t>
            </a:fld>
            <a:endParaRPr lang="en-US" altLang="zh-CN"/>
          </a:p>
        </p:txBody>
      </p:sp>
    </p:spTree>
    <p:extLst>
      <p:ext uri="{BB962C8B-B14F-4D97-AF65-F5344CB8AC3E}">
        <p14:creationId xmlns:p14="http://schemas.microsoft.com/office/powerpoint/2010/main" val="25588841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最后我们来看滑动窗口协议中一个非常关键的设计要点——窗口大小与序号位数之间的关系。这是一个确保协议正确性的数学基础。</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首先，对于全部重传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Go-Back-N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它的窗口大小关系是：发送窗口大小大于接收窗口大小，且接收窗口固定为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。这很好理解，因为接收方只按序接收，只需要缓存一个帧。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更重要的是，发送窗口的大小必须满足：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WT ≤ 2n-1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，这里的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是表示帧序号的二进制位数。比如，如果用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位二进制表示序号（</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），则序号范围是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，那么发送窗口最大只能是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，而不能是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其次，对于选择性重传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ARQ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Selective Repeat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它的窗口大小关系是：发送窗口和接收窗口大小相等，因为接收方需要缓存那些未按序到达的正确帧，所以它的缓存能力必须和发送方的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信用额度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匹配。</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同样，它们的窗口大小也必须遵守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WT ≤ 2n-1</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那么，为什么会有这个限制呢？</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核心原因是为了避免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窗口滑动后造成的序号歧义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简单来说，如果窗口过大，当旧的确认帧延迟到达时，发送方可能会误以为这是对新一轮发送的确认，从而导致协议失败。将窗口最大值限制在序号空间的一半以内，可以绝对避免这种混淆，保证协议的可靠性。</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31</a:t>
            </a:fld>
            <a:endParaRPr lang="en-US" altLang="zh-CN"/>
          </a:p>
        </p:txBody>
      </p:sp>
    </p:spTree>
    <p:extLst>
      <p:ext uri="{BB962C8B-B14F-4D97-AF65-F5344CB8AC3E}">
        <p14:creationId xmlns:p14="http://schemas.microsoft.com/office/powerpoint/2010/main" val="11591120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各位同学，现在我们开始学习广播信道访问控制这一知识点。</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首先，我们根据信道连接方式将网络分为两类：</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使用点到点信道的网络，这类网络主要应用于广域网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使用广播信道（也称为多路访问信道或随机访问信道）的网络，这类网络是局域网的主导形式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广播信道网络面临的核心问题是：如何解决多个设备共享同一信道时的争用问题？当多个站点同时发送数据时，就会产生冲突。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为了解决这个问题，我们引入了介质访问控制协议（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协议），这是数据链路层协议中至关重要的组成部分。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协议的主要任务就是协调多个设备对共享信道的访问，确保数据能够有序、高效地传输。</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32</a:t>
            </a:fld>
            <a:endParaRPr lang="en-US" altLang="zh-CN"/>
          </a:p>
        </p:txBody>
      </p:sp>
    </p:spTree>
    <p:extLst>
      <p:ext uri="{BB962C8B-B14F-4D97-AF65-F5344CB8AC3E}">
        <p14:creationId xmlns:p14="http://schemas.microsoft.com/office/powerpoint/2010/main" val="39409080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首先介绍广播信道访问控制中的静态分配策略。</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静态分配的基本思想很直观：将信道资源平均分配给每个需要通信的用户。主要有两种实现方式：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第一种是频分多路复用（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FDM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），也就是将总频带划分成多个子频带，每个用户独占一个固定的频段进行通信。</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第二种是时分多路复用（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TDM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），将时间划分成固定的时槽，每个用户在特定的时间片段内独占整个信道。</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静态分配策略的优点在于：当用户数量较少且相对固定，每个用户的通信量都较大时，这种分配方式简单且有效。</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但它的缺点也很明显：缺乏灵活性，无法适应网络中站点数量动态变化或者各站点通信量突发不均的情况，容易导致信道资源的浪费。</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33</a:t>
            </a:fld>
            <a:endParaRPr lang="en-US" altLang="zh-CN"/>
          </a:p>
        </p:txBody>
      </p:sp>
    </p:spTree>
    <p:extLst>
      <p:ext uri="{BB962C8B-B14F-4D97-AF65-F5344CB8AC3E}">
        <p14:creationId xmlns:p14="http://schemas.microsoft.com/office/powerpoint/2010/main" val="41341111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接下来介绍信道动态分配策略，这是解决广播信道争用问题的更智能方案。</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与静态分配不同，动态分配策略根据网络中实时的通信需求，来灵活协调各用户对信道的使用权，能够更好地适应网络负载的变化。</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动态分配策略主要分为两大类：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第一类是无冲突协议，以令牌协议为代表。这类协议通过一个特殊的令牌在网络中循环传递，只有获得令牌的站点才能发送数据，从而完全避免了冲突。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第二类是冲突协议，包括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协议。这类协议允许站点随机竞争信道，冲突不可避免但可以通过各种机制来检测和处理冲突。我们熟悉的以太网使用的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协议就属于这一类。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动态分配策略能够根据网络状况实时调整，大大提高了信道利用率，特别适合站点数量和通信量变化较大的局域网环境。</a:t>
            </a:r>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34</a:t>
            </a:fld>
            <a:endParaRPr lang="en-US" altLang="zh-CN"/>
          </a:p>
        </p:txBody>
      </p:sp>
    </p:spTree>
    <p:extLst>
      <p:ext uri="{BB962C8B-B14F-4D97-AF65-F5344CB8AC3E}">
        <p14:creationId xmlns:p14="http://schemas.microsoft.com/office/powerpoint/2010/main" val="37016387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我们先讲解一种重要的无冲突协议：令牌协议。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令牌协议的工作原理很巧妙：在整个网络中始终流转着一个唯一的控制帧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令牌。任何一个站点想要发送数据，都必须先截获这个令牌，然后才能发送数据。由于令牌只有一个，这就从根本上避免了多个站点同时发送数据可能产生的冲突。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上的示意图示来看令牌协议的工作过程：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）传递令牌：令牌在网络中各站点间顺序传递</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）截获令牌：当站点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有数据要发送时，它截获经过的令牌</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）数据传送：站点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将数据发送给目的站点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）令牌继续传递：发送完成后，站点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释放令牌，让其继续在网络中流转</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令牌协议的优点是完全避免冲突，提供可预测的传输延迟，特别适合实时性要求高的应用。但缺点是令牌维护复杂，如果令牌丢失或损坏，需要专门的机制来恢复。</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典型的应用有令牌环网和令牌总线网。</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35</a:t>
            </a:fld>
            <a:endParaRPr lang="en-US" altLang="zh-CN"/>
          </a:p>
        </p:txBody>
      </p:sp>
    </p:spTree>
    <p:extLst>
      <p:ext uri="{BB962C8B-B14F-4D97-AF65-F5344CB8AC3E}">
        <p14:creationId xmlns:p14="http://schemas.microsoft.com/office/powerpoint/2010/main" val="41687445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p:cNvSpPr>
            <a:spLocks noGrp="1" noRot="1" noChangeAspect="1" noTextEdit="1"/>
          </p:cNvSpPr>
          <p:nvPr>
            <p:ph type="sldImg"/>
          </p:nvPr>
        </p:nvSpPr>
        <p:spPr/>
      </p:sp>
      <p:sp>
        <p:nvSpPr>
          <p:cNvPr id="22530" name="文本占位符 2"/>
          <p:cNvSpPr>
            <a:spLocks noGrp="1"/>
          </p:cNvSpPr>
          <p:nvPr>
            <p:ph type="body"/>
          </p:nvPr>
        </p:nvSpPr>
        <p:spPr/>
        <p:txBody>
          <a:bodyPr wrap="square" lIns="91440" tIns="45720" rIns="91440" bIns="45720" anchor="t"/>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现在我们介绍一类重要的冲突协议——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协议，这是最早出现的随机接入协议，为后来的以太网技术奠定了重要基础。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基本思想非常简洁：任何用户只要有数据要发送，就可以直接发送，然后通过监听信道来判断是否发生冲突。如果发生冲突，就等待一段随机时间后重传。这种思想适用于任何无协调关系的用户争用单一共享资源的系统。</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协议主要分为两类：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第一类是纯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协议（也叫连续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用户可以随时发送数据帧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发送后监听信道，发生冲突则随机退避后重发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实现简单，但信道利用率较低</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第二类是时间片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协议（离散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将时间划分为固定的时间片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用户只能在时间片的开始时刻发送帧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通过时间同步减少了冲突窗口，提高了信道利用率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协议虽然简单，但其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先发送，再检测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的核心思想对后来的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协议产生了深远影响，是理解现代局域网技术的重要基础。</a:t>
            </a:r>
          </a:p>
          <a:p>
            <a:pPr lvl="0"/>
            <a:endParaRPr lang="zh-CN" altLang="en-US" dirty="0"/>
          </a:p>
        </p:txBody>
      </p:sp>
    </p:spTree>
    <p:extLst>
      <p:ext uri="{BB962C8B-B14F-4D97-AF65-F5344CB8AC3E}">
        <p14:creationId xmlns:p14="http://schemas.microsoft.com/office/powerpoint/2010/main" val="31968118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最后，我们一个示意图示来具体讲解时间片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协议的工作过程。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大家可以看到图示分为三个部分：</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最上面是站点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的帧产生情况：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三个帧在不同时间点产生。</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中间是站点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的帧产生情况：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两个帧产生，其中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帧在发送时发生冲突，经过随机退避时间后重传为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最下面是信道上实际的发送情况：</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在第一个时间片，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帧成功发送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在第二个时间片，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帧成功发送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在第三个时间片，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帧同时发送，产生冲突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冲突后，两个站点各自等待随机时间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在下一个时间片立即重传成功</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B2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等待更长时间后，作为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在后续时间片成功发送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这个图示清晰地展示了时间片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协议的关键特点：一是只能在时间片开始时发送，二是冲突后采用随机退避机制。虽然通过时间片划分减少了冲突概率，但冲突仍然可能发生，需要重传机制来保证可靠性。</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37</a:t>
            </a:fld>
            <a:endParaRPr lang="en-US" altLang="zh-CN"/>
          </a:p>
        </p:txBody>
      </p:sp>
    </p:spTree>
    <p:extLst>
      <p:ext uri="{BB962C8B-B14F-4D97-AF65-F5344CB8AC3E}">
        <p14:creationId xmlns:p14="http://schemas.microsoft.com/office/powerpoint/2010/main" val="4717234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各位同学，现在我们介绍一种改进的随机接入协议——载波监听多路访问协议（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ALOHA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协议的重要演进。</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协议的核心思想包含两个部分：</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首先是载波监听（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Carrier Sense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站点在发送数据前，先监听信道上是否有载波信号</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如果检测到载波，说明信道正被其他站点使用，就暂不发送数据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先听后说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的策略大大降低了冲突概率</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其次是多路访问（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Multiple Access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指多个用户共享同一条传输信道</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所有站点都有平等访问信道的权利</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协议通过先监听后发送的方式，显著减少了冲突的发生，提高了信道利用率。大家可以将它比作我们在会议室发言前的习惯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先听听是否有人在说话，避免同时开口造成的混乱。</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需要注意的是，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虽然降低了冲突概率，但并不能完全避免冲突，后续要学习的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协议就是用于解决冲突的。</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38</a:t>
            </a:fld>
            <a:endParaRPr lang="en-US" altLang="zh-CN"/>
          </a:p>
        </p:txBody>
      </p:sp>
    </p:spTree>
    <p:extLst>
      <p:ext uri="{BB962C8B-B14F-4D97-AF65-F5344CB8AC3E}">
        <p14:creationId xmlns:p14="http://schemas.microsoft.com/office/powerpoint/2010/main" val="10447978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下面详细介绍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协议中的一种重要变体：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先看它的工作流程，非常直观：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当站点有数据要发送时，首先监听信道状态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如果发现信道空闲，就立即发送数据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如果发现信道繁忙，就持续监听，直到检测到信道变为空闲，然后立即发送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这种协议被称为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，是因为站点一旦准备发送，就会以概率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）的坚持度来等待和占用信道。</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它的性能特点很鲜明：</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优点：最大限度地减少了信道空闲时间，一旦信道空闲就能立即被利用</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缺点：如果有多个站点都在等待同一信道，一旦空闲就会同时发送，冲突概率较高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特别要注意的是：广播延迟对协议性能影响很大。信号传播延迟越大，不同站点检测到信道空闲的时间差就越大，发生冲突的可能性就越大，协议性能也就越差。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在轻负载环境下表现良好，但在重负载或大延迟网络中冲突较为严重。</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39</a:t>
            </a:fld>
            <a:endParaRPr lang="en-US" altLang="zh-CN"/>
          </a:p>
        </p:txBody>
      </p:sp>
    </p:spTree>
    <p:extLst>
      <p:ext uri="{BB962C8B-B14F-4D97-AF65-F5344CB8AC3E}">
        <p14:creationId xmlns:p14="http://schemas.microsoft.com/office/powerpoint/2010/main" val="7638964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p:sp>
      <p:sp>
        <p:nvSpPr>
          <p:cNvPr id="27650" name="文本占位符 2"/>
          <p:cNvSpPr>
            <a:spLocks noGrp="1"/>
          </p:cNvSpPr>
          <p:nvPr>
            <p:ph type="body"/>
          </p:nvPr>
        </p:nvSpPr>
        <p:spPr/>
        <p:txBody>
          <a:bodyPr wrap="square" lIns="91440" tIns="45720" rIns="91440" bIns="45720" anchor="t"/>
          <a:lstStyle/>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协议的另一种重要变体就是非坚持型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它的工作流程，与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坚持式有明显区别：</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站点有数据要发送时，首先监听信道状态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如果发现信道空闲，立即发送数据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如果发现信道繁忙，不是持续监听，而是等待一段随机时间后，重新开始整个发送过程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这种协议被称为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非坚持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，是因为当站点遇到信道繁忙时，不会坚持监听，而是主动退避。</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它的性能特点也很明确：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优点：通过随机退避机制，显著减少了冲突的概率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缺点：信道可能在一段时间内保持空闲，增加了发送延迟</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总体而言，非坚持型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在信道效率方面比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坚持式更高，因为冲突更少；但在传输延迟方面比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坚持式更大，因为遇到繁忙时需要等待随机时间。</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这种协议更适合网络负载较重的情况，通过牺牲一定的实时性来换取更稳定的传输性能。</a:t>
            </a:r>
          </a:p>
          <a:p>
            <a:pPr lvl="0"/>
            <a:endParaRPr lang="zh-CN" altLang="en-US" dirty="0"/>
          </a:p>
        </p:txBody>
      </p:sp>
    </p:spTree>
    <p:extLst>
      <p:ext uri="{BB962C8B-B14F-4D97-AF65-F5344CB8AC3E}">
        <p14:creationId xmlns:p14="http://schemas.microsoft.com/office/powerpoint/2010/main" val="18710046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介绍的是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协议的第三种变体：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，这是一种结合了前两种协议特点的混合方案。</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适用于时槽信道，即时间被划分为固定长度的时槽。</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它的工作流程很有特点：</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站点有数据要发送时，先监听信道</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如果信道空闲，不是立即发送，而是以概率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立即发送，以概率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延迟到下一个时槽发送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如果下一个时槽仍然空闲，重复这个随机决策过程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如果信道繁忙，就等待下一个时槽，重新开始发送过程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这种设计巧妙地在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立即发送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随机退避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之间找到了平衡点。概率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的设定很关键：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值较大时，行为接近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坚持式，减少空闲时间但增加冲突风险</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值较小时，行为接近非坚持式，减少冲突但增加延迟</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通过这种概率化的发送策略，既避免了多个站点同时坚持发送造成的冲突，又减少了信道空闲时间，在效率和延迟之间取得了较好的平衡。</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41</a:t>
            </a:fld>
            <a:endParaRPr lang="en-US" altLang="zh-CN"/>
          </a:p>
        </p:txBody>
      </p:sp>
    </p:spTree>
    <p:extLst>
      <p:ext uri="{BB962C8B-B14F-4D97-AF65-F5344CB8AC3E}">
        <p14:creationId xmlns:p14="http://schemas.microsoft.com/office/powerpoint/2010/main" val="21316100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最后，我们学习成功应用于以太网的协议：带冲突检测的载波监听多路访问协议（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首先看为什么要引入冲突检测：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当两个帧发生冲突时，继续传输损坏的帧毫无意义，只会浪费宝贵的信道资源</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如果让站点能够边发送边监听，一旦检测到冲突就立即停止发送，可以显著提高信道利用率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就是冲突检测（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Collision Detection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）的缩写</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的工作流程分为三个关键步骤：</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协议：先监听，信道空闲才发送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边发送边检测：在发送过程中持续监听信道，如果检测到冲突，立即停止发送，并发出一个瞬间干扰信号（</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Jam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信号），通知所有站点发生了冲突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随机退避：发出干扰信号后，等待一个随机时间再重新尝试发送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先听后说，边说边听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的机制，使得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成为以太网成功的核心技术基础，既减少了冲突造成的资源浪费，又保持了协议的简单性和可靠性。</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42</a:t>
            </a:fld>
            <a:endParaRPr lang="en-US" altLang="zh-CN"/>
          </a:p>
        </p:txBody>
      </p:sp>
    </p:spTree>
    <p:extLst>
      <p:ext uri="{BB962C8B-B14F-4D97-AF65-F5344CB8AC3E}">
        <p14:creationId xmlns:p14="http://schemas.microsoft.com/office/powerpoint/2010/main" val="39081771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6687B644-6689-406B-9136-11E0EEA4CFB5}" type="slidenum">
              <a:rPr lang="en-US" altLang="zh-CN" sz="1200" b="0" smtClean="0">
                <a:solidFill>
                  <a:schemeClr val="tx1"/>
                </a:solidFill>
                <a:ea typeface="宋体" panose="02010600030101010101" pitchFamily="2" charset="-122"/>
              </a:rPr>
              <a:t>43</a:t>
            </a:fld>
            <a:endParaRPr lang="en-US" altLang="zh-CN" sz="1200" b="0" smtClean="0">
              <a:solidFill>
                <a:schemeClr val="tx1"/>
              </a:solidFill>
              <a:ea typeface="宋体" panose="02010600030101010101" pitchFamily="2" charset="-122"/>
            </a:endParaRPr>
          </a:p>
        </p:txBody>
      </p:sp>
      <p:sp>
        <p:nvSpPr>
          <p:cNvPr id="67587" name="Rectangle 2"/>
          <p:cNvSpPr>
            <a:spLocks noGrp="1" noRot="1" noChangeAspect="1" noChangeArrowheads="1" noTextEdit="1"/>
          </p:cNvSpPr>
          <p:nvPr>
            <p:ph type="sldImg"/>
          </p:nvPr>
        </p:nvSpPr>
        <p:spPr>
          <a:solidFill>
            <a:srgbClr val="FFFFFF"/>
          </a:solidFill>
        </p:spPr>
      </p:sp>
      <p:sp>
        <p:nvSpPr>
          <p:cNvPr id="67588" name="Rectangle 3"/>
          <p:cNvSpPr>
            <a:spLocks noGrp="1" noChangeArrowheads="1"/>
          </p:cNvSpPr>
          <p:nvPr>
            <p:ph type="body" idx="1"/>
          </p:nvPr>
        </p:nvSpPr>
        <p:spPr>
          <a:solidFill>
            <a:srgbClr val="FFFFFF"/>
          </a:solidFill>
          <a:ln>
            <a:solidFill>
              <a:srgbClr val="000000"/>
            </a:solidFill>
            <a:miter lim="800000"/>
          </a:ln>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各位同学，现在我们学习点对点数据链路协议，这是数据链路层中与广播协议并列的重要分支。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点对点通信主要应用于两种典型场景：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路由器到路由器的专线连接：在广域网中，通过租用线路连接两个路由器</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拨号上网连接：用户通过调制解调器拨号连接到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的路由器或接入服务器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上的图例，它完整展示了一个拨号上网的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连接过程：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左侧是用户家庭，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机通过调制解调器和拨号电话线连接</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中间是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协议建立的点对点数据链路，承载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右侧是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端，调制解调器接收连接后，数据通过路由器进入互联网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在这种点对点通信中，由于只有两个设备直接相连，不需要复杂的介质访问控制协议，避免了冲突问题。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协议就是最典型的点对点数据链路协议，为各种网络层协议提供了可靠的数据传输服务。</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点对点协议虽然简单，但在广域网连接和拨号接入中发挥着不可替代的重要作用。</a:t>
            </a:r>
          </a:p>
          <a:p>
            <a:pPr eaLnBrk="1" hangingPunct="1"/>
            <a:endParaRPr lang="en-US" altLang="zh-CN" sz="1000" dirty="0" smtClean="0"/>
          </a:p>
        </p:txBody>
      </p:sp>
    </p:spTree>
    <p:extLst>
      <p:ext uri="{BB962C8B-B14F-4D97-AF65-F5344CB8AC3E}">
        <p14:creationId xmlns:p14="http://schemas.microsoft.com/office/powerpoint/2010/main" val="17551937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0551D3AE-71BD-492E-A62B-77C569071FDD}" type="slidenum">
              <a:rPr lang="en-US" altLang="zh-CN" sz="1200" b="0" smtClean="0">
                <a:solidFill>
                  <a:schemeClr val="tx1"/>
                </a:solidFill>
                <a:ea typeface="宋体" panose="02010600030101010101" pitchFamily="2" charset="-122"/>
              </a:rPr>
              <a:t>44</a:t>
            </a:fld>
            <a:endParaRPr lang="en-US" altLang="zh-CN" sz="1200" b="0" smtClean="0">
              <a:solidFill>
                <a:schemeClr val="tx1"/>
              </a:solidFill>
              <a:ea typeface="宋体" panose="02010600030101010101" pitchFamily="2" charset="-122"/>
            </a:endParaRPr>
          </a:p>
        </p:txBody>
      </p:sp>
      <p:sp>
        <p:nvSpPr>
          <p:cNvPr id="69635" name="Rectangle 2"/>
          <p:cNvSpPr>
            <a:spLocks noGrp="1" noRot="1" noChangeAspect="1" noChangeArrowheads="1" noTextEdit="1"/>
          </p:cNvSpPr>
          <p:nvPr>
            <p:ph type="sldImg"/>
          </p:nvPr>
        </p:nvSpPr>
        <p:spPr>
          <a:solidFill>
            <a:srgbClr val="FFFFFF"/>
          </a:solidFill>
        </p:spPr>
      </p:sp>
      <p:sp>
        <p:nvSpPr>
          <p:cNvPr id="69636" name="Rectangle 3"/>
          <p:cNvSpPr>
            <a:spLocks noGrp="1" noChangeArrowheads="1"/>
          </p:cNvSpPr>
          <p:nvPr>
            <p:ph type="body" idx="1"/>
          </p:nvPr>
        </p:nvSpPr>
        <p:spPr>
          <a:solidFill>
            <a:srgbClr val="FFFFFF"/>
          </a:solidFill>
          <a:ln>
            <a:solidFill>
              <a:srgbClr val="000000"/>
            </a:solidFill>
            <a:miter lim="800000"/>
          </a:ln>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现在我们介绍一种早期的串行线路协议——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SLIP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Serial Line 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协议的前身。</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SLIP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Rick Adams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1984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年提出，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RFC1055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文档定义了其具体细节。它是一个简单的封装协议，主要功能是定义特殊字符序列，将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包在串行线路上封装成帧格式。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SLIP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的工作原理很简单：</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使用一个特殊的标记字节（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0xC0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）作为帧的定界符</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采用字符填充技术处理数据中出现的定界符</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然而，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SLIP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存在诸多严重缺陷：</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不提供差错校验，数据可靠性无法保证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只支持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协议，缺乏多协议支持能力</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地址不能动态分配，配置不灵活</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不提供身份认证，安全性不足</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多种版本并存，互操作性差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SLIP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虽然简单，但功能过于简陋，很快就被更完善的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协议所取代。这个发展过程体现了网络协议从简单到完善、从单一功能到全面服务的演进规律。</a:t>
            </a:r>
            <a:endParaRPr lang="zh-CN" altLang="zh-CN" sz="1200" kern="1200" dirty="0">
              <a:solidFill>
                <a:schemeClr val="tx1"/>
              </a:solidFill>
              <a:effectLst/>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9801089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0A880A22-449E-44F7-999F-5C9DCB5C3EF7}" type="slidenum">
              <a:rPr lang="en-US" altLang="zh-CN" sz="1200" b="0" smtClean="0">
                <a:solidFill>
                  <a:schemeClr val="tx1"/>
                </a:solidFill>
                <a:ea typeface="宋体" panose="02010600030101010101" pitchFamily="2" charset="-122"/>
              </a:rPr>
              <a:t>45</a:t>
            </a:fld>
            <a:endParaRPr lang="en-US" altLang="zh-CN" sz="1200" b="0" smtClean="0">
              <a:solidFill>
                <a:schemeClr val="tx1"/>
              </a:solidFill>
              <a:ea typeface="宋体" panose="02010600030101010101" pitchFamily="2" charset="-122"/>
            </a:endParaRPr>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p:spPr>
        <p:txBody>
          <a:bodyPr/>
          <a:lstStyle/>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Point-to-Point Protocol</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），这是一个功能完善的点对点数据链路层协议。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RFC 1661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1662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1663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等一系列标准文档定义，全面解决了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SLIP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协议的诸多缺陷。它主要提供以下重要功能：</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差错校验：保证数据传输的可靠性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支持多种协议：不仅支持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，还支持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AppleTalk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动态分配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地址：支持地址的自动配置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身份认证：提供</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CHAP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等认证机制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协议以帧为单位发送数据，而不是原始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包，提供了完整的数据链路层服务。</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协议包含两个关键组成部分：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链路控制协议（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）：负责链路的建立、配置、测试和维护</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网络控制协议（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）：负责不同网络层协议的建立和配置，如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用于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这种分层设计使得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协议既保证了链路的可靠性，又能够灵活支持多种网络层协议，成为拨号接入、专线连接等领域的事实标准。</a:t>
            </a:r>
            <a:endParaRPr lang="zh-CN" altLang="zh-CN" sz="1200" kern="1200" dirty="0">
              <a:solidFill>
                <a:schemeClr val="tx1"/>
              </a:solidFill>
              <a:effectLst/>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7996771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1160B66B-CBD7-44B1-8EB5-C5387E7BE116}" type="slidenum">
              <a:rPr lang="en-US" altLang="zh-CN" sz="1200" b="0" smtClean="0">
                <a:solidFill>
                  <a:schemeClr val="tx1"/>
                </a:solidFill>
                <a:ea typeface="宋体" panose="02010600030101010101" pitchFamily="2" charset="-122"/>
              </a:rPr>
              <a:t>46</a:t>
            </a:fld>
            <a:endParaRPr lang="en-US" altLang="zh-CN" sz="1200" b="0" smtClean="0">
              <a:solidFill>
                <a:schemeClr val="tx1"/>
              </a:solidFill>
              <a:ea typeface="宋体" panose="02010600030101010101" pitchFamily="2" charset="-122"/>
            </a:endParaRPr>
          </a:p>
        </p:txBody>
      </p:sp>
      <p:sp>
        <p:nvSpPr>
          <p:cNvPr id="73731" name="Rectangle 2"/>
          <p:cNvSpPr>
            <a:spLocks noGrp="1" noRot="1" noChangeAspect="1" noChangeArrowheads="1" noTextEdit="1"/>
          </p:cNvSpPr>
          <p:nvPr>
            <p:ph type="sldImg"/>
          </p:nvPr>
        </p:nvSpPr>
        <p:spPr>
          <a:solidFill>
            <a:srgbClr val="FFFFFF"/>
          </a:solidFill>
        </p:spPr>
      </p:sp>
      <p:sp>
        <p:nvSpPr>
          <p:cNvPr id="73732" name="Rectangle 3"/>
          <p:cNvSpPr>
            <a:spLocks noGrp="1" noChangeArrowheads="1"/>
          </p:cNvSpPr>
          <p:nvPr>
            <p:ph type="body" idx="1"/>
          </p:nvPr>
        </p:nvSpPr>
        <p:spPr>
          <a:solidFill>
            <a:srgbClr val="FFFFFF"/>
          </a:solidFill>
          <a:ln>
            <a:solidFill>
              <a:srgbClr val="000000"/>
            </a:solidFill>
            <a:miter lim="800000"/>
          </a:ln>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现在我们解析一下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协议的帧格式，这是理解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工作原理的关键。</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中的图示的帧结构，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帧由以下几个字段组成，从左到右依次发送：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首先是标记域（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字节）：固定为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01111110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，作为帧的起始和结束定界符。采用字符填充技术处理数据中的相同模式。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字节）：通常固定为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11111111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，表示广播地址，因为在点对点链路中不需要具体地址。</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控制域（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字节）：默认值为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00000011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，表示使用无编号帧，不提供可靠传输。但在质量较差的线路上，也可以配置为使用序号和确认的可靠传输模式。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字节）：这是关键字段，指示净负荷中封装的是哪种网络层协议，比如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等，实现了多协议支持。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净负荷域（变长）：默认最大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1500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字节，承载上层协议数据包。</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帧检验序列（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FCS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字节）：提供差错检测功能，保证数据完整性。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帧格式的设计体现了简单实用的原则，既有足够的控制功能，又保持了较高的传输效率，完美满足了点对点链路的通信需求。</a:t>
            </a:r>
          </a:p>
          <a:p>
            <a:pPr eaLnBrk="1" hangingPunct="1"/>
            <a:endParaRPr lang="zh-CN" altLang="en-US" dirty="0" smtClean="0"/>
          </a:p>
        </p:txBody>
      </p:sp>
    </p:spTree>
    <p:extLst>
      <p:ext uri="{BB962C8B-B14F-4D97-AF65-F5344CB8AC3E}">
        <p14:creationId xmlns:p14="http://schemas.microsoft.com/office/powerpoint/2010/main" val="42690136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E7155C70-1D08-4A00-9703-952EB34710CC}" type="slidenum">
              <a:rPr lang="en-US" altLang="zh-CN" sz="1200" b="0" smtClean="0">
                <a:solidFill>
                  <a:schemeClr val="tx1"/>
                </a:solidFill>
                <a:ea typeface="宋体" panose="02010600030101010101" pitchFamily="2" charset="-122"/>
              </a:rPr>
              <a:t>47</a:t>
            </a:fld>
            <a:endParaRPr lang="en-US" altLang="zh-CN" sz="1200" b="0" smtClean="0">
              <a:solidFill>
                <a:schemeClr val="tx1"/>
              </a:solidFill>
              <a:ea typeface="宋体" panose="02010600030101010101" pitchFamily="2" charset="-122"/>
            </a:endParaRPr>
          </a:p>
        </p:txBody>
      </p:sp>
      <p:sp>
        <p:nvSpPr>
          <p:cNvPr id="75779" name="Rectangle 2"/>
          <p:cNvSpPr>
            <a:spLocks noGrp="1" noRot="1" noChangeAspect="1" noChangeArrowheads="1" noTextEdit="1"/>
          </p:cNvSpPr>
          <p:nvPr>
            <p:ph type="sldImg"/>
          </p:nvPr>
        </p:nvSpPr>
        <p:spPr>
          <a:solidFill>
            <a:srgbClr val="FFFFFF"/>
          </a:solidFill>
        </p:spPr>
      </p:sp>
      <p:sp>
        <p:nvSpPr>
          <p:cNvPr id="75780" name="Rectangle 3"/>
          <p:cNvSpPr>
            <a:spLocks noGrp="1" noChangeArrowheads="1"/>
          </p:cNvSpPr>
          <p:nvPr>
            <p:ph type="body" idx="1"/>
          </p:nvPr>
        </p:nvSpPr>
        <p:spPr>
          <a:solidFill>
            <a:srgbClr val="FFFFFF"/>
          </a:solidFill>
          <a:ln>
            <a:solidFill>
              <a:srgbClr val="000000"/>
            </a:solidFill>
            <a:miter lim="800000"/>
          </a:ln>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最后我们通过状态迁移图来讲解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协议的工作过程，这是一个典型的有限状态机模型。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链路的建立和维护经历以下几个关键阶段：</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首先从链路静止状态开始，当物理层检测到载波信号后，进入链路建立阶段。</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在链路建立阶段，双方使用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协议进行配置协商：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如果协商成功，进入鉴别阶段</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如果协商失败，退回静止状态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在鉴别阶段（可选）：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如果认证成功，进入网络层配置阶段</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如果认证失败，链路终止</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在网络层协议阶段，使用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协议进行网络层配置：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配置成功后，链路进入通信状态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配置失败则链路终止</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在整个通信过程中，任何一方都可以发起通信结束请求，链路优雅终止，回到静止状态。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这个状态迁移过程确保了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链路能够可靠地建立、维护和释放，提供了完整的链路生命周期管理。</a:t>
            </a:r>
          </a:p>
          <a:p>
            <a:pPr eaLnBrk="1" hangingPunct="1"/>
            <a:endParaRPr lang="en-US" altLang="zh-CN" dirty="0" smtClean="0"/>
          </a:p>
        </p:txBody>
      </p:sp>
    </p:spTree>
    <p:extLst>
      <p:ext uri="{BB962C8B-B14F-4D97-AF65-F5344CB8AC3E}">
        <p14:creationId xmlns:p14="http://schemas.microsoft.com/office/powerpoint/2010/main" val="3720636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31"/>
          <p:cNvSpPr>
            <a:spLocks noGrp="1" noChangeArrowheads="1"/>
          </p:cNvSpPr>
          <p:nvPr>
            <p:ph type="sldNum" sz="quarter" idx="5"/>
          </p:nvPr>
        </p:nvSpPr>
        <p:spPr>
          <a:noFill/>
        </p:spPr>
        <p:txBody>
          <a:bodyPr/>
          <a:lstStyle>
            <a:lvl1pPr>
              <a:defRPr kumimoji="1" sz="2800" b="1">
                <a:solidFill>
                  <a:schemeClr val="accent2"/>
                </a:solidFill>
                <a:latin typeface="Times New Roman" panose="02020603050405020304" pitchFamily="18" charset="0"/>
                <a:ea typeface="黑体" panose="02010609060101010101" pitchFamily="49" charset="-122"/>
              </a:defRPr>
            </a:lvl1pPr>
            <a:lvl2pPr marL="742950" indent="-285750">
              <a:defRPr kumimoji="1" sz="2800" b="1">
                <a:solidFill>
                  <a:schemeClr val="accent2"/>
                </a:solidFill>
                <a:latin typeface="Times New Roman" panose="02020603050405020304" pitchFamily="18" charset="0"/>
                <a:ea typeface="黑体" panose="02010609060101010101" pitchFamily="49" charset="-122"/>
              </a:defRPr>
            </a:lvl2pPr>
            <a:lvl3pPr marL="1143000" indent="-228600">
              <a:defRPr kumimoji="1" sz="2800" b="1">
                <a:solidFill>
                  <a:schemeClr val="accent2"/>
                </a:solidFill>
                <a:latin typeface="Times New Roman" panose="02020603050405020304" pitchFamily="18" charset="0"/>
                <a:ea typeface="黑体" panose="02010609060101010101" pitchFamily="49" charset="-122"/>
              </a:defRPr>
            </a:lvl3pPr>
            <a:lvl4pPr marL="1600200" indent="-228600">
              <a:defRPr kumimoji="1" sz="2800" b="1">
                <a:solidFill>
                  <a:schemeClr val="accent2"/>
                </a:solidFill>
                <a:latin typeface="Times New Roman" panose="02020603050405020304" pitchFamily="18" charset="0"/>
                <a:ea typeface="黑体" panose="02010609060101010101" pitchFamily="49" charset="-122"/>
              </a:defRPr>
            </a:lvl4pPr>
            <a:lvl5pPr marL="2057400" indent="-228600">
              <a:defRPr kumimoji="1" sz="2800" b="1">
                <a:solidFill>
                  <a:schemeClr val="accent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800" b="1">
                <a:solidFill>
                  <a:schemeClr val="accent2"/>
                </a:solidFill>
                <a:latin typeface="Times New Roman" panose="02020603050405020304" pitchFamily="18" charset="0"/>
                <a:ea typeface="黑体" panose="02010609060101010101" pitchFamily="49" charset="-122"/>
              </a:defRPr>
            </a:lvl9pPr>
          </a:lstStyle>
          <a:p>
            <a:fld id="{6687B644-6689-406B-9136-11E0EEA4CFB5}" type="slidenum">
              <a:rPr lang="en-US" altLang="zh-CN" sz="1200" b="0" smtClean="0">
                <a:solidFill>
                  <a:schemeClr val="tx1"/>
                </a:solidFill>
                <a:ea typeface="宋体" panose="02010600030101010101" pitchFamily="2" charset="-122"/>
              </a:rPr>
              <a:t>48</a:t>
            </a:fld>
            <a:endParaRPr lang="en-US" altLang="zh-CN" sz="1200" b="0" smtClean="0">
              <a:solidFill>
                <a:schemeClr val="tx1"/>
              </a:solidFill>
              <a:ea typeface="宋体" panose="02010600030101010101" pitchFamily="2" charset="-122"/>
            </a:endParaRPr>
          </a:p>
        </p:txBody>
      </p:sp>
      <p:sp>
        <p:nvSpPr>
          <p:cNvPr id="67587" name="Rectangle 2"/>
          <p:cNvSpPr>
            <a:spLocks noGrp="1" noRot="1" noChangeAspect="1" noChangeArrowheads="1" noTextEdit="1"/>
          </p:cNvSpPr>
          <p:nvPr>
            <p:ph type="sldImg"/>
          </p:nvPr>
        </p:nvSpPr>
        <p:spPr>
          <a:solidFill>
            <a:srgbClr val="FFFFFF"/>
          </a:solidFill>
        </p:spPr>
      </p:sp>
      <p:sp>
        <p:nvSpPr>
          <p:cNvPr id="67588" name="Rectangle 3"/>
          <p:cNvSpPr>
            <a:spLocks noGrp="1" noChangeArrowheads="1"/>
          </p:cNvSpPr>
          <p:nvPr>
            <p:ph type="body" idx="1"/>
          </p:nvPr>
        </p:nvSpPr>
        <p:spPr>
          <a:solidFill>
            <a:srgbClr val="FFFFFF"/>
          </a:solidFill>
          <a:ln>
            <a:solidFill>
              <a:srgbClr val="000000"/>
            </a:solidFill>
            <a:miter lim="800000"/>
          </a:ln>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上世纪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年代，计算机技术经历了一场革命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个人计算机，也就是我们常说的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机，开始普及。不再是只有大型机构才拥有的大型机，许多办公室、实验室都开始出现一台台独立的微型计算机。</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那么，随之而来的就是一个很自然的需求：这些在物理上离得很近的机器，如何才能方便地交换数据、共享昂贵的硬件（比如当时价值不菲的激光打印机或大容量硬盘）呢？局域网（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Local Area Network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就是为了解决这个问题而诞生的。它本质上是一个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小范围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的通信网络，把这个区域内的所有通信设备，主要是计算机，连接在一起。</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在众多局域网技术方案中，有一个技术凭借其简单的设计、良好的扩展性和相对低廉的成本，最终脱颖而出，成为了绝对的赢家。它就是——以太网（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Ethernet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以太网是局域网的典型代表。它的地位高到什么程度呢？在今天，我们几乎可以认为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局域网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以太网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。它垄断了从我们的家庭、教室到全球所有大型企业的有线局域网市场。我们电脑后面那个插网线的接口，就是以太网接口。</a:t>
            </a:r>
          </a:p>
          <a:p>
            <a:pPr eaLnBrk="1" hangingPunct="1"/>
            <a:endParaRPr lang="en-US" altLang="zh-CN" sz="1000" dirty="0" smtClean="0"/>
          </a:p>
        </p:txBody>
      </p:sp>
    </p:spTree>
    <p:extLst>
      <p:ext uri="{BB962C8B-B14F-4D97-AF65-F5344CB8AC3E}">
        <p14:creationId xmlns:p14="http://schemas.microsoft.com/office/powerpoint/2010/main" val="36372094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这一页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非常精炼地概括了局域网的几个核心特点。我们可以从地理、性能、技术和管理四个维度来理解。</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首先，是它的范围限制。 顾名思义，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局域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指的就是它的覆盖范围很小，通常是一个房间、一栋大楼或者一个校园园区，距离一般不超过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公里。正是这种地理上的集中性，为它后续的高性能奠定了基础。</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其次，是它的高性能。 正因为范围小，线路短，信号衰减和干扰就小，所以局域网能实现很高的传输速率，从早期的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兆比特每秒，到千兆、乃至万兆（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10Gbps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）都非常普遍。同时，传输质量非常高，误码率极低，在十的负八次方到负十次方之间，意味着数据传输非常可靠，出错概率极小。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第三，是它的技术特点。 早期的局域网大多采用基带传输，也就是直接在线路上传输数字信号，独占信道的全部带宽。这种方式简单、成本低，非常适合短距离高速通信。</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最后，是它的管理属性。 局域网通常由一个单位或组织自行建设、管理和拥有，比如我们学校的校园网。它的主要目的是满足内部的通信和资源共享需求，不对外提供公共服务，这和电信运营商建设的公共网络有本质区别。</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我们再看右边的拓扑图：它展示了一个非常经典的局域网结构。多个终端（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stations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）通过集线器（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Hub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连接到一起，而多个集线器又可以上行连接到性能更强、更智能转发数据的交换机（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Switch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）。最终，所有设备都可以访问到网络的服务器群（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Server farm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），来获取数据和服务。</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这张图很好地体现了局域网“为一个单位所拥有”的集中式建设模式。</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49</a:t>
            </a:fld>
            <a:endParaRPr lang="en-US" altLang="zh-CN"/>
          </a:p>
        </p:txBody>
      </p:sp>
    </p:spTree>
    <p:extLst>
      <p:ext uri="{BB962C8B-B14F-4D97-AF65-F5344CB8AC3E}">
        <p14:creationId xmlns:p14="http://schemas.microsoft.com/office/powerpoint/2010/main" val="41731676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这一页的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让我们理解经典的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OSI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七层参考模型是如何具体应用到局域网技术中的。国际电气与电子工程师协会（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）制定的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标准，就是对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OSI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模型最成功、最具体的实践之一。</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大家可以看到，这个对比图清晰地展示了两者的对应关系：</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物理层是直接对应的。它负责定义硬件的电气、机械和功能特性，比如网线接口、光波长、信号编码等，确保比特流能在物理介质上传输。</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最关键的变化在数据链路层。在局域网中，这一层被拆分成了两个子层：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介质访问控制子层（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子层）：这是局域网技术的核心与特色。因为局域网通常采用广播式的共享信道，多台机器如何公平、高效地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争夺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信道使用权就成了关键问题。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子层就是来管理这个过程的，比如定义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（以太网）或令牌环等访问机制。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逻辑链路控制子层（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LLC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子层）：它位于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子层之上，更接近网络层。它的作用是屏蔽掉不同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技术（比如以太网和令牌环）的差异，为上层提供一个统一的、可靠的逻辑接口，负责帧的组装、差错控制、流量控制等。这样，网络层的协议（如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协议）就可以不必关心底层具体用的是哪种局域网技术。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而网络层及以上的高层，在局域网参考模型中通常不做定义。</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50</a:t>
            </a:fld>
            <a:endParaRPr lang="en-US" altLang="zh-CN"/>
          </a:p>
        </p:txBody>
      </p:sp>
    </p:spTree>
    <p:extLst>
      <p:ext uri="{BB962C8B-B14F-4D97-AF65-F5344CB8AC3E}">
        <p14:creationId xmlns:p14="http://schemas.microsoft.com/office/powerpoint/2010/main" val="22570907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现在我们来看这张描述“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标准间关系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的图表。这张图非常关键，它为我们揭示了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系列标准是如何有机地组织在一起的。</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大家可以看到，在这些标准系列中，逻辑链路控制（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LLC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）子层对应的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标准尤其重要，因为该子层的作用是向上层提供一个统一的接口，屏蔽底层不同网络的差异。</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那么，它是如何屏蔽差异的呢？答案就在它下方连接的各式各样的标准上。比如：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：这就是我们最熟悉的以太网标准。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：这是令牌环网的标准。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：这是令牌总线网的标准。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以及其他很多标准。</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这些标准都定义了各自独特的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子层和物理层（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PHY</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的实现方式。它们就像不同的方言，但通过共同的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LLC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这个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普通话翻译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，就可以与上层的网络协议进行沟通。</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就像是这个大家庭的总管家，负责更高层次的架构、管理和互联问题，比如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定义的桥接（可以理解为早期交换技术）就非常重要。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标准体系是一个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横向分离、纵向统一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的模块化结构。 这种设计思想极其高明，它保证了不同厂商、采用不同技术的网络设备之间能够互操作，是局域网技术能够蓬勃发展并形成统一市场的关键原因。</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51</a:t>
            </a:fld>
            <a:endParaRPr lang="en-US" altLang="zh-CN"/>
          </a:p>
        </p:txBody>
      </p:sp>
    </p:spTree>
    <p:extLst>
      <p:ext uri="{BB962C8B-B14F-4D97-AF65-F5344CB8AC3E}">
        <p14:creationId xmlns:p14="http://schemas.microsoft.com/office/powerpoint/2010/main" val="33641622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同学们，现在我们来看“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数据链路层划分子层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的原因和好处。</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将数据链路层划分为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LLC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两个子层，是网络体系结构中一个非常经典且巧妙的设计。这么做的核心目的就是：将功能中与硬件相关的部分和与硬件无关的部分分开，从而降低实现的复杂度。</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为什么要这么做呢？这源于传统共享式局域网的一个根本特点：所有设备连接在一条共享信道上。这就引出了一个核心问题：当大家都想发言时，谁先说？后说的怎么避免冲突？这就是介质访问控制（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）问题，是共享信道必须解决的难题。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划分了子层带来了巨大的优势：它使帧的传输独立于具体的物理介质和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方法。这意味着：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子层是与介质、拓扑相关的。它专门负责处理这些</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硬件相关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的麻烦事，比如定义如何争夺信道（是采用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还是令牌传递）、如何识别设备地址（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地址）等。不同的局域网技术（如以太网、令牌环），主要区别就在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LLC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子层则是与介质、拓扑无关的。它建立在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子层之上，负责更高层的管理任务，如建立逻辑连接、差错控制、流量控制等。它对下层屏蔽了不同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技术的复杂性。</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52</a:t>
            </a:fld>
            <a:endParaRPr lang="en-US" altLang="zh-CN"/>
          </a:p>
        </p:txBody>
      </p:sp>
    </p:spTree>
    <p:extLst>
      <p:ext uri="{BB962C8B-B14F-4D97-AF65-F5344CB8AC3E}">
        <p14:creationId xmlns:p14="http://schemas.microsoft.com/office/powerpoint/2010/main" val="25631245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现在我们来看“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Ethernet”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之间的关系。这是一个关于标准如何从企业规范演变为国际标准的经典案例。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幻灯片清晰地勾勒出了以太网技术的发展脉络：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起源与诞生：一切始于施乐公司（</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Xerox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），他们最早设计出了速率仅为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2.94Mbps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Ethernet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（以太网）。这是这项技术的雏形。</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产业联盟与推进：随后，由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Xerox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DEC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（数字设备公司）和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Intel</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（英特尔） 这三家巨头强强联手，共同制定并推广了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的以太网标准（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DIX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标准）。这个阶段使得以太网从一家公司的技术变成了一个得到产业支持的、更成熟的商业规范。</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标准化与微小分化：为了使这项技术更具通用性和开放性，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牵头将其接纳为国际标准，即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。它核心采用了以太网的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坚持型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技术，并定义了从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的多种规范。</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这里需要强调一个重要的知识点：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“Ethernet”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不能完全划等号。虽然它们极其相似，核心思想一致，并且在日常口语中我们常混用，但它们在技术细节上（最关键的就是帧格式）存在一些差别。可以理解为，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是在以太网基础上进行标准化和微调后形成的国际版本。</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53</a:t>
            </a:fld>
            <a:endParaRPr lang="en-US" altLang="zh-CN"/>
          </a:p>
        </p:txBody>
      </p:sp>
    </p:spTree>
    <p:extLst>
      <p:ext uri="{BB962C8B-B14F-4D97-AF65-F5344CB8AC3E}">
        <p14:creationId xmlns:p14="http://schemas.microsoft.com/office/powerpoint/2010/main" val="6590206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这张幻灯片列出了以太网发展过程中一系列重要的物理层标准命名。这些代码看似复杂，但其实遵循着一个非常清晰的命名规则，理解了规则，就记住了它们。</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大家看，像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10Base5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100BaseT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1000BaseX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这样的名字，其实可以拆成三部分来理解：</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开头的数字：代表传输速率，单位是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兆比特每秒，</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是百兆，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`1000`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是千兆，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`10G`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就是万兆。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中间的词：代表传输技术。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`Base`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代表基带传输，即独占信道全部带宽传输数字信号。与此相对的是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`Broad`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，代表宽带传输，在以太网中较少见。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最后的字母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数字：代表传输介质或段最大长度。</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数字（如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）：在老标准中代表单段电缆的最大长度，单位是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`10Base5`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速率、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米最大长度。</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字母（如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）：代表介质类型。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代表双绞线（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Twisted Pair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`F`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代表光纤（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Fiber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`X`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代表特殊编码或多种介质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从列表的演变我们可以清晰地看到以太网技术的进化之路：从早期的同轴电缆（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10Base5, 10Base2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），到成为主流的双绞线（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10BaseT, 100BaseT, 1000BaseT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），再到高性能骨干网络采用的光纤（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10BaseF, 100BaseF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），速率也从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、千兆、万兆一路发展到今天的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40G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甚至更高。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这种模块化的命名方式，本身就体现了以太网强大的扩展性和适应性，正是它能一统局域网江湖的重要原因之一。</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54</a:t>
            </a:fld>
            <a:endParaRPr lang="en-US" altLang="zh-CN"/>
          </a:p>
        </p:txBody>
      </p:sp>
    </p:spTree>
    <p:extLst>
      <p:ext uri="{BB962C8B-B14F-4D97-AF65-F5344CB8AC3E}">
        <p14:creationId xmlns:p14="http://schemas.microsoft.com/office/powerpoint/2010/main" val="27380271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现在我们来看 “传统以太网的介质访问控制方法”的流程。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非常经典地展示了早期共享式以太网的核心工作机制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（载波监听多点接入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碰撞检测） 的完整过程。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首先，先听后说（载波监听）：一台电脑想发送数据前，必须先检测信道。如果信道空闲（图上显示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网络有载波？否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），它就会开始发送。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边说边听（碰撞检测）：发送数据的同时，它也在持续监听信道，这是最关键的一步。如果检测到有冲突（即信号异常），说明此时至少有另一台设备也在发送，数据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撞车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一撞就停，发个警报：一旦检测到冲突，它会立即停止发送当前被破坏的数据帧，并紧接着发送一个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Jam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（阻塞）信号。这个信号的目的就是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大声嚷嚷</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，确保网络上所有站点都能感知到这次冲突，从而都停止发送。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待重试（二进制指数退避）：冲突后，不能马上再次尝试，否则会再次相撞。这时，所有卷入冲突的站点都会启动一个二进制指数退避算法。简单来说，就是随机等待一个不断加倍的时间段再重试。这个算法巧妙地分散了各站点的重发时间，避免了新的冲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间歇时间：在每次发送尝试之间，协议还强制要求一个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9.6μs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的帧间间隙，给网络和设备一个短暂的休息和恢复时间。</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这个过程完美地解决了“共享信道”上“谁先说、冲突了怎么办”的根本问题。虽然在现代全双工交换式以太网中，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已不再需要，但理解它是我们掌握网络技术演进史的基石。</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55</a:t>
            </a:fld>
            <a:endParaRPr lang="en-US" altLang="zh-CN"/>
          </a:p>
        </p:txBody>
      </p:sp>
    </p:spTree>
    <p:extLst>
      <p:ext uri="{BB962C8B-B14F-4D97-AF65-F5344CB8AC3E}">
        <p14:creationId xmlns:p14="http://schemas.microsoft.com/office/powerpoint/2010/main" val="32529423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现在我们来看 “二进制指数退避算法”具体流程。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这个算法是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协议中的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智慧大脑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，它专门负责优雅地解决数据冲突后的重传调度问题。它的核心设计思想是：通过随机的、不断加倍的等待时间，来分散冲突各方的重发时机，从而有效避免再次碰撞。</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我们来看一下它的具体规则，它就像一个“冲突次数越多，耐心就越大”的机制：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定义时间基本单位：算法将时间划分为固定的时槽，每个时槽长度为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微秒，这是信号在最大规模以太网上往返一周所需的时间。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退避规则：第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次冲突后，站点不会立即重发，而是在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`0`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次方减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这个范围内，随机选择一个数字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，然后等待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K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51.2μs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之后再进行重试。</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第一次冲突（</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[0, 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中选，即等待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个时槽。</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第二次冲突（</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[0, 1, 2, 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中选，即等待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个时槽。</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第三次冲突（</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i</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[0, 1, 2, 3, 4, 5, 6, 7]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上限与放弃：</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指数级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扩大的范围不会无限增长。到第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次冲突后，等待的时槽数范围就固定在了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2¹</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）之间，不再扩大。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如果冲突达到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次仍不成功，算法就会放弃发送，并向上一层协议报告失败。这通常意味着网络负载过重或设备出现故障。</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这个算法的精妙之处在于，它既通过“随机数”分散了冲突站点，又通过“指数退避”动态适应了网络负载——网络越忙，冲突越多，等待时间就越长，给了网络恢复的机会。</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56</a:t>
            </a:fld>
            <a:endParaRPr lang="en-US" altLang="zh-CN"/>
          </a:p>
        </p:txBody>
      </p:sp>
    </p:spTree>
    <p:extLst>
      <p:ext uri="{BB962C8B-B14F-4D97-AF65-F5344CB8AC3E}">
        <p14:creationId xmlns:p14="http://schemas.microsoft.com/office/powerpoint/2010/main" val="35024044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接下来我们讲解“最短帧长制约”问题。在以太网中，为了能够可靠地检测到冲突，必须保证帧的传输时间不小于信号在电缆中最远往返所需的时间。</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的示意图：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站点开始发送数据帧；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）：帧即将到达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站点时，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也开始发送，导致冲突；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）：冲突信号传回</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检测到冲突。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）中如果冲突信号到达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站点时，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站点如果已经发送完数据，大家想一想：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站点还能够检测到冲突吗？ 答案是：不能。原因是一旦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站点发完数据后，站点就不再关注信道上的信号状态了，自认为数据发送已经成功，实际上数据已经冲突了。为了避免这一后果出现，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站点必须在最晚的冲突信号到来之前一直处于发送状态，这样就可以检测到任何情况下的长途了。这个最晚时间长度就被定义为最大冲突检测时间，等于信号在电缆中最远往返所需的时间。</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以太网中，最大冲突检测时间设置为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微秒，因此最短帧长被设定为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字节。这意味着如果网络速率提高，我们必须相应增加最短帧长，或缩短站点间的最大距离，否则冲突可能无法被及时检测。</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57</a:t>
            </a:fld>
            <a:endParaRPr lang="en-US" altLang="zh-CN"/>
          </a:p>
        </p:txBody>
      </p:sp>
    </p:spTree>
    <p:extLst>
      <p:ext uri="{BB962C8B-B14F-4D97-AF65-F5344CB8AC3E}">
        <p14:creationId xmlns:p14="http://schemas.microsoft.com/office/powerpoint/2010/main" val="27176469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现在我们来看以太网的帧格式，这是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标准中定义的帧结构。</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大家可以看到，一个标准的以太网帧由多个字段组成，总长度在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1518</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字节之间。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最前面是前导码（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10101010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序列，用于实现比特同步。</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接下来是帧起始定界符（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SFD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字节，固定为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10101011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，表示帧正式开始。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后面是目的地址（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）和源地址（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字节，通常我们使用的是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长度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类型字段（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LEN/Type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字节，若值小于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1500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，表示后面数据的长度；若大于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1536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，则表示上层协议类型（</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如</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0800H</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表示</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IP,8137H</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为</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IPX</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等</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数据字段（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LLC-PDU</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）：长度在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1500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字节之间，如果数据不足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字节，则使用填充字段（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PAD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）补足，这是为了满足最短帧长要求。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最后是帧检验序列（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FCS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CRC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校验，用于检测帧传输中是否出错。</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这种结构的设计既保证了帧的可靠传输，也实现了与高层协议的兼容。请注意，填充字段的存在是为了确保帧长不少于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字节，从而满足冲突检测的要求。</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58</a:t>
            </a:fld>
            <a:endParaRPr lang="en-US" altLang="zh-CN"/>
          </a:p>
        </p:txBody>
      </p:sp>
    </p:spTree>
    <p:extLst>
      <p:ext uri="{BB962C8B-B14F-4D97-AF65-F5344CB8AC3E}">
        <p14:creationId xmlns:p14="http://schemas.microsoft.com/office/powerpoint/2010/main" val="29316252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最后我们再解释一下以太网帧格式中的目的地址和源地址字段。</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这两个地址各占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个字节，也就是我们常说的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地址或物理地址。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地址的字节分配很有特点：</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个字节由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统一分配给各个设备厂商，称为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OUI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（组织唯一标识符）。</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个字节则由厂商自行分配，确保每一块网卡的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地址都是全球唯一的。</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关于地址的最高位有专门定义：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如果最高位是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，表示这是一个单播地址，也就是一对一通信。</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如果最高位是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，则表示是组播或广播地址。特别地，如果所有位都是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FF:FF:FF:FF:FF:FF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），就是广播地址，表示发送给所有设备。</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标准中，还对次高位做了定义：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次高位为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表示是全局管理地址，也就是由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分配的通用地址。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次高位为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则表示是局部管理地址，通常用于临时或实验环境，但实际中绝大多数情况都使用全局地址。</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59</a:t>
            </a:fld>
            <a:endParaRPr lang="en-US" altLang="zh-CN"/>
          </a:p>
        </p:txBody>
      </p:sp>
    </p:spTree>
    <p:extLst>
      <p:ext uri="{BB962C8B-B14F-4D97-AF65-F5344CB8AC3E}">
        <p14:creationId xmlns:p14="http://schemas.microsoft.com/office/powerpoint/2010/main" val="35760887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各位同学，现在我们介绍快速以太网，这是以太网技术的一次重要演进。</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快速以太网的产生背景可以追溯到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1995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正式通过了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802.3u</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标准，作为对原有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标准的补充。快速以太网最大特点是保持了原有的帧格式、接口和规程完全不变，这样做的好处是向下兼容，保护用户原有投资。其核心提升在于将比特时间从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100ns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缩短到了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10ns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，从而将速率从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提升到了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它主要有三个物理层标准：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- 100Base-TX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类双绞线，这是最常见、应用最广泛的类型。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- 100Base-FX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芯多模光纤，适用于距离更远或电磁干扰较强的场景。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- 100Base-T4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类双绞线，是为了利用当时已有的电话线缆而设计的方案。</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快速以太网的成功在于它用最小的改动，实现了十倍的速率提升，平滑地完成了从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的过渡。</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60</a:t>
            </a:fld>
            <a:endParaRPr lang="en-US" altLang="zh-CN"/>
          </a:p>
        </p:txBody>
      </p:sp>
    </p:spTree>
    <p:extLst>
      <p:ext uri="{BB962C8B-B14F-4D97-AF65-F5344CB8AC3E}">
        <p14:creationId xmlns:p14="http://schemas.microsoft.com/office/powerpoint/2010/main" val="4062285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a:t>
            </a:r>
            <a:r>
              <a:rPr lang="zh-CN" altLang="en-US" sz="1200" kern="1200" dirty="0" smtClean="0">
                <a:solidFill>
                  <a:schemeClr val="tx1"/>
                </a:solidFill>
                <a:effectLst/>
                <a:latin typeface="Times New Roman" panose="02020603050405020304" pitchFamily="18" charset="0"/>
                <a:ea typeface="宋体" panose="02010600030101010101" pitchFamily="2" charset="-122"/>
                <a:cs typeface="+mn-cs"/>
              </a:rPr>
              <a:t>通过</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一个表格来直观地比较一下传统以太网和快速以太网的关键技术特性。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首先最核心的区别当然是速率，从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提升到了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，实现了十倍的飞跃。</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它们遵循的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标准也不同，传统以太网是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，而快速以太网是其补充标准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802.3u</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值得注意的是，尽管速度大幅提升，但它们的核心协议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（载波侦听多路访问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冲突检测）并没有改变，保证了技术的延续性。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在拓扑结构上，快速以太网全面转向了更可靠的星型结构。</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传输介质也从同轴电缆为主，过渡到更广泛地使用双绞线（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UTP/STP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）和光纤。</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虽然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HUB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到工作站的最大距离保持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米不变，但连接接口从传统的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AUI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升级为了支持更高速率的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MII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（介质独立接口）。</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61</a:t>
            </a:fld>
            <a:endParaRPr lang="en-US" altLang="zh-CN"/>
          </a:p>
        </p:txBody>
      </p:sp>
    </p:spTree>
    <p:extLst>
      <p:ext uri="{BB962C8B-B14F-4D97-AF65-F5344CB8AC3E}">
        <p14:creationId xmlns:p14="http://schemas.microsoft.com/office/powerpoint/2010/main" val="413719299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接下来我们看传统以太网与快速以太网在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层参数上的详细比较。这些参数直接决定了网络如何访问介质和处理冲突。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虽然速率提升了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倍，但许多核心参数为了保持兼容性并没有改变。</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冲突检测时间片都是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位时，但由于位时缩短，快速以太网的实际检测时间从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微秒减少到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微秒。</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帧际间隙从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9.6μs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缩短到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0.96μs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，这使得快速以太网在单位时间内能发送更多的帧。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重试上限（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次）和退避上限（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次）保持不变，说明冲突处理机制是一致的。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最大帧（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1518</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字节）和最小帧（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字节）长度也完全相同，保证了帧格式的兼容。</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- 48</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地址长度更是完全没有变化。</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这些不变的参数表明，快速以太网在提升速率的同时，最大限度地继承了传统以太网的成熟机制，实现了平滑过渡。</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62</a:t>
            </a:fld>
            <a:endParaRPr lang="en-US" altLang="zh-CN"/>
          </a:p>
        </p:txBody>
      </p:sp>
    </p:spTree>
    <p:extLst>
      <p:ext uri="{BB962C8B-B14F-4D97-AF65-F5344CB8AC3E}">
        <p14:creationId xmlns:p14="http://schemas.microsoft.com/office/powerpoint/2010/main" val="21199016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最后，我们通过表格来详细比较传统以太网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10Base-T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与三种快速以太网标准的物理层规范差异。</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首先看编码方法：传统以太网采用曼彻斯特编码，而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100Base-TX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使用了更高效的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4B/5B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编码，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100Base-T4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则采用了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8B/6T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编码，这些编码方案都是为了在更高频率下可靠传输。</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传输介质要求也不同：</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- 10Base-T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100Base-T4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类以上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UTP</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- 100Base-TX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要求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类以上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STP</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- 100Base-FX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使用光纤，支持最长传输距离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信号频率的变化也很明显：从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10Base-T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20MHz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提升到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125MHz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TX/FX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），这也是百兆速率的基础。</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特别要注意线对使用的区别：</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100Base-T4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需要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对线，用其中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对同时发送数据，这是为了在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类线上实现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速率，但它不支持全双工；而其他标准都支持全双工通信。</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最后，传输距离方面，</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100Base-FX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凭借光纤优势，最大距离可达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公里，远超过铜缆的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米限制。</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63</a:t>
            </a:fld>
            <a:endParaRPr lang="en-US" altLang="zh-CN"/>
          </a:p>
        </p:txBody>
      </p:sp>
    </p:spTree>
    <p:extLst>
      <p:ext uri="{BB962C8B-B14F-4D97-AF65-F5344CB8AC3E}">
        <p14:creationId xmlns:p14="http://schemas.microsoft.com/office/powerpoint/2010/main" val="214995859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明白了快速以太网，我们开始介绍千兆以太网，也称为吉比特以太网。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千兆以太网主要由两个标准组成：</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802.3z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1000Base-X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系列：</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- 1000Base-SX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：使用短波长（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850nm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）在多模光纤上传输，成本较低，适用于短距离连接。</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- 1000Base-LX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：使用长波长（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1300nm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），既支持多模光纤也支持单模光纤，传输距离更远。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- 1000Base-CX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：使用优质的屏蔽双绞线或同轴电缆，适用于机房内设备间的短距离高速互联。</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另一个是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802.3ab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1000Base-T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UTP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双绞线</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将传输距离扩展到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米</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这使得千兆以太网能够直接利用现有布线系统，大大降低了部署成本和难度</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千兆以太网在保持与传统以太网帧格式和协议兼容的同时，实现了速率的大幅提升，为校园网、企业网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backbone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提供了高性能的解决方案。</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64</a:t>
            </a:fld>
            <a:endParaRPr lang="en-US" altLang="zh-CN"/>
          </a:p>
        </p:txBody>
      </p:sp>
    </p:spTree>
    <p:extLst>
      <p:ext uri="{BB962C8B-B14F-4D97-AF65-F5344CB8AC3E}">
        <p14:creationId xmlns:p14="http://schemas.microsoft.com/office/powerpoint/2010/main" val="42218891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现在我们讲解千兆以太网为适应高速传输而引入的两项重要改进技术：载波扩展和帧突发。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千兆以太网虽然保留了传统的帧格式和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协议，但由于速率提高到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1000Mbps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，必须解决冲突检测时间片相对变短的问题。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首先，在全双工模式下，由于使用点到点连接，不存在冲突，因此不需要这些改进。但在半双工模式下：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第一项技术：载波扩展</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最小帧长仍为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字节，但争用期扩展为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当发送的帧小于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字节时，物理层会自动填充特殊的扩展载波符号</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这样保证了足够的冲突检测时间，但代价是传输短帧时效率较低</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第二项技术：帧突发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为了弥补载波扩展的效率损失，允许站点一次突发发送多个帧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只要所有帧的总长度不超过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1500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字节，就可以连续发送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大大提高了短帧的传输效率</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这两项技术的结合，既保证了冲突检测的可靠性，又维持了较高的传输效率，体现了千兆以太网设计的巧妙之处。</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65</a:t>
            </a:fld>
            <a:endParaRPr lang="en-US" altLang="zh-CN"/>
          </a:p>
        </p:txBody>
      </p:sp>
    </p:spTree>
    <p:extLst>
      <p:ext uri="{BB962C8B-B14F-4D97-AF65-F5344CB8AC3E}">
        <p14:creationId xmlns:p14="http://schemas.microsoft.com/office/powerpoint/2010/main" val="4826921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本次知识点的最后我们略微介绍一下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吉比特以太网，也就是万兆以太网。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万兆以太网具有几个显著的特点，体现了它与前几代以太网的根本性区别：</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首先，它不再支持半双工模式，只定义全双工模式。这意味着彻底告别了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协议，因为全双工模式下不存在冲突问题。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由于传输速率高达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10Gbps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，只能使用光纤作为传输介质，铜缆已无法满足其带宽和距离要求。</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在编码方式上，采用了更高效的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64B/66B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8B/10B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编码，大幅提升了编码效率。</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最重要的是，万兆以太网定义了两种物理层：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一种用于局域网（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），延续传统的以太网帧格式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另一种用于广域网（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），兼容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SDH/SONET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OC-192c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帧结构</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这使得万兆以太网不仅能够作为局域网骨干技术，还能直接扩展到广域网应用，实现了端到端的以太网连接。</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万兆以太网的出现，标志着以太网从局域网技术真正发展成为可覆盖广域范围的统一网络技术。</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67</a:t>
            </a:fld>
            <a:endParaRPr lang="en-US" altLang="zh-CN"/>
          </a:p>
        </p:txBody>
      </p:sp>
    </p:spTree>
    <p:extLst>
      <p:ext uri="{BB962C8B-B14F-4D97-AF65-F5344CB8AC3E}">
        <p14:creationId xmlns:p14="http://schemas.microsoft.com/office/powerpoint/2010/main" val="298028358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各位同学好，本知识点包含了网桥（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Bridge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）与交换机（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Switch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）的相关内容。</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首先，我们学习网桥。什么是网桥？网桥是工作在数据链路层的一种网络互连设备，它在互连的局域网（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）之间实现帧的存储和转发。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网桥具有以下几个核心特征：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第一，工作在数据链路层。这意味着它比中继器和集线器更智能，能够处理数据帧而不仅仅是物理信号。</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第二，具备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翻译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和适配能力。网桥能够互连两个采用不同数据链路层协议（如以太网和令牌环）、不同传输介质（如双绞线和同轴电缆）或不同传输速率的网络。它是早期的协议转换器。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第三，核心工作机制是存储转发。网桥对收到的数据帧进行接收、存储、地址过滤，最后再转发。它会检查帧的目的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地址，决定是转发到另一个网段还是将其丢弃。</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第四，要求高层协议一致。网桥需要互连的网络在数据链路层以上（如网络层、传输层）采用相同的协议（如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协议栈）。它只在数据链路层进行操作。</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五，能隔离冲突域、降低广播数量。这是网桥一个非常重要的优点。它可以分隔两个网络之间的通信量，只让必要的通信数据通过。这有效地减少了每个网段内的冲突和广播流量，从而改善了整体网络的性能和安全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网桥是一个智能的、基于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地址进行转发的早期二层互连设备，它在扩展网络范围的同时，也提供了流量隔离和过滤的功能。</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69</a:t>
            </a:fld>
            <a:endParaRPr lang="en-US" altLang="zh-CN"/>
          </a:p>
        </p:txBody>
      </p:sp>
    </p:spTree>
    <p:extLst>
      <p:ext uri="{BB962C8B-B14F-4D97-AF65-F5344CB8AC3E}">
        <p14:creationId xmlns:p14="http://schemas.microsoft.com/office/powerpoint/2010/main" val="342921491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透明网桥，也被称为生成树网桥的工作原理，它的工作流程就像一个自学的“交通管理员”，具体步骤如下：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混杂模式监听：网桥首先会工作在混杂模式，这意味着它会接收所有流经其端口的帧，而不仅仅是目标地址发给它的帧，这是它学习的基础。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查询与决策：当网桥收到一个数据帧后，它会查看帧的目的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地址，并查询内部的地址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端口对应表（也叫转发表），以此来决定是将这个帧转发到另一个端口，还是丢弃（如果目的地址就在来源端口所在的网段）。</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初始洪泛：网桥刚启动时，它的转发表是空白的。它不知道任何设备的位</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置。此时，对于所有收到的单播帧，它会采用洪泛的方式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即从除接收端口以外的所有其他端口转发出去，以确保数据能到达目的地。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逆向学习：这是网桥最核心、最智能的机制。在转发帧的同时，网桥会分析帧的源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地址。它会想：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这个帧是从我这个端口来的，那这个源设备肯定就在这个端口所连接的网段上。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于是，它就将这个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地址和接收端口的对应关系记录到转发表中。这种通过监听源地址来学习位置的方法，就叫做逆向学习算法。</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表项维护：网络中的设备可能会移动或更换。因此，网桥软件会不断更新转发表，并为每个表项设置一个计时器。如果一段时间内没有再次收到来自某个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地址的帧，就认为该设备已离线或移动，从而删除这条过时的记录，保持表的有效性。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总结来说，透明网桥通过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洪泛</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学习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转发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的自动化过程，自发地构建转发表，实现了即插即用和高效的帧过滤转发。</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70</a:t>
            </a:fld>
            <a:endParaRPr lang="en-US" altLang="zh-CN"/>
          </a:p>
        </p:txBody>
      </p:sp>
    </p:spTree>
    <p:extLst>
      <p:ext uri="{BB962C8B-B14F-4D97-AF65-F5344CB8AC3E}">
        <p14:creationId xmlns:p14="http://schemas.microsoft.com/office/powerpoint/2010/main" val="8290911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下面我们通过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上的流程图来完整梳理一下透明网桥是如何对每一个数据帧进行处理的。这是一个典型的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学习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转发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相结合的过程。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流程从左上角开始： 网桥在某个端口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上收到了一个数据帧。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第一步：检查目的地址（转发决策）</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网桥首先提取帧中的目的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地址，并查询内部的站表（转发表）。这里是一个关键决策点：</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如果找不到目的站点：网桥不知道这个设备在哪里，为了确保帧能到达，它会采取洪泛策略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即从除接收端口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以外的所有其他端口广播出去。</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如果找到了目的站点：网桥会检查该地址对应的端口方向。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如果方向就是端口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本身：说明目的设备和源设备在同一个物理网段，这个帧不需要转发，网桥会直接丢弃它。这样可以隔离本地流量，提高效率。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如果方向是其他端口：说明目的设备在另一个网段，网桥会沿正确的端口方向进行转发。</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第二步：学习源地址（更新站表）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在处理转发的同时，网桥会并行进行逆向学习。它查看帧的源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地址，并查询站表：</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如果源地址不在站表中：这是一个新设备！网桥会将它以及其对应的接收端口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作为一个新表项加入站表。</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如果源地址已在站表中：网桥会更新这条记录，刷新它的计时器，表明这个设备刚刚活跃过。</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这个流程循环往复，网桥就是这样通过处理每一个帧，自发地学习网络拓扑，并做出智能的转发或隔离决策的。</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71</a:t>
            </a:fld>
            <a:endParaRPr lang="en-US" altLang="zh-CN"/>
          </a:p>
        </p:txBody>
      </p:sp>
    </p:spTree>
    <p:extLst>
      <p:ext uri="{BB962C8B-B14F-4D97-AF65-F5344CB8AC3E}">
        <p14:creationId xmlns:p14="http://schemas.microsoft.com/office/powerpoint/2010/main" val="23979538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明白了网桥工作机理之后，下面来学习现代局域网的核心设备——以太网交换机。</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简单来说，以太网交换机本质上是一个功能更强、性能更高的多端口网桥。它是在传统网桥技术的基础上发展起来的改进型设备，专门用于连接网络中的各个节点。</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与传统网桥相比，交换机主要有三大改进：</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端口更多：交换机提供了大量的端口，可以直接连接计算机、服务器等终端设备，成为了网络真正的汇聚中心。</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性能更强：传统网桥多采用软件实现转发，速度较慢。而交换机大多采用基于专用硬件（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ASIC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芯片）的交换结构，实现了线速转发，性能得到了巨大提升。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用途更专一：交换机一般用于连接相同类型的局域网（如全部是以太网），这使得它的处理效率非常高。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根据数据帧的转发方式，以太网交换机主要分为三种类型：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存储转发式交换：这是最常用、最可靠的方式。交换机先完整接收整个数据帧，进行差错校验，确认无误后再将其转发出去。有错则丢弃，可靠性高，但有延迟。</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直通式交换：为了追求极致的速度。交换机只要接收到帧头，查看到目的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地址，就立即开始转发，无需等待整个帧接收完毕。速度极快，但会转发错误帧。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碎片交换方式：这是前两种方式的折衷。交换机先接收帧的前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个字节（一个帧的最小长度），确保不是冲突碎片且地址正确后，就开始转发。在速度和可靠性之间取得了平衡。</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总结一下：交换机就是一个智能、高速、多端口的交通枢纽，它根据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地址，在内部为数据帧建立了一条条临时的专用通道，极大地提升了网络性能。</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72</a:t>
            </a:fld>
            <a:endParaRPr lang="en-US" altLang="zh-CN"/>
          </a:p>
        </p:txBody>
      </p:sp>
    </p:spTree>
    <p:extLst>
      <p:ext uri="{BB962C8B-B14F-4D97-AF65-F5344CB8AC3E}">
        <p14:creationId xmlns:p14="http://schemas.microsoft.com/office/powerpoint/2010/main" val="40821524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各位同学，今天我们学习一个优化局域网管理的技术——虚拟局域网，简称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VLAN—Virtual 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首先，什么是虚拟局域网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虚拟局域网并不是一种新的物理网络，而是在现有的交换式局域网基础上，通过网络管理软件（通常是交换机的配置命令）构建出来的一个逻辑上的网络。它的关键特性是能够跨越不同的物理网段和网络设备，将位于不同地点的设备组合到同一个逻辑广播域中，实现端到端的逻辑连接。</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那么，我们为什么要使用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呢？它主要有三大优点：</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第一，大大降低了管理开销。在传统网络中，如果把一台电脑从一个部门搬到另一个部门，可能需要更换物理网线甚至交换机端口。而使用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后，只需要在网络管理软件上修改该端口的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配置，就能让它立即归属于新的逻辑网络，设备的移动、添加和修改变得非常灵活高效。</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第二，可以有效控制广播风暴。传统的局域网是一个大的广播域，任何广播包都会发送给所有设备。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可以将一个大的局域网划分成多个小的逻辑广播域，从而将广播流量限制在必要的范围内，极大地提升了网络性能。</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第三，可以显著提高网络安全性。通过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划分，能够实现不同部门、不同应用系统之间的逻辑隔离。即使设备连接在同一台交换机上，属于不同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的设备也无法直接通信，必须通过路由器或三层交换机，这就在网络层面上增加了安全屏障。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技术实现了网络组织的逻辑化，让网络管理更灵活、更高效、更安全。</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73</a:t>
            </a:fld>
            <a:endParaRPr lang="en-US" altLang="zh-CN"/>
          </a:p>
        </p:txBody>
      </p:sp>
    </p:spTree>
    <p:extLst>
      <p:ext uri="{BB962C8B-B14F-4D97-AF65-F5344CB8AC3E}">
        <p14:creationId xmlns:p14="http://schemas.microsoft.com/office/powerpoint/2010/main" val="29061028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各位同学，我们知道了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的好处，那么如何具体划分一个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呢？主要有以下几种方法：</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第一种，也是最常用、最简单的一种，是基于端口的划分。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顾名思义，就是直接将交换机的某个物理端口划分到某个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它既可以在一台交换机内部进行单交换机端口定义，也可以跨越多个交换机，将不同交换机上的端口划分到同一个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中，实现多交换机端口定义。</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优点是配置简单直观；缺点是如果用户更换了连接的交换机端口，其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成员身份就会改变，不够灵活。</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第二种，是基于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地址的划分。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这种方式是根据终端设备的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地址（即网卡的物理地址）来决定它属于哪个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最大的优点就是灵活性高。无论用户设备连接到网络的哪个端口，交换机都会根据其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地址将其自动归入正确的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，非常适合移动办公场景。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缺点是初始配置和管理工作量较大，需要预先录入所有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第三种，是基于网络层的划分。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这种方法是根据数据包中的网络层信息（如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地址、协议类型）来划分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优点是可以实现基于业务或子网的逻辑分组，但处理起来更复杂，对交换机性能要求更高。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第四种，是基于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组播的划分。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这种方式将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的动态划分与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组播组相结合，认为一个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组播组就是一个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从基于端口到基于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的划分方式从固定、不灵活走向了动态、灵活。实际网络中，基于端口的划分因其简单可靠而应用最为广泛。</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74</a:t>
            </a:fld>
            <a:endParaRPr lang="en-US" altLang="zh-CN"/>
          </a:p>
        </p:txBody>
      </p:sp>
    </p:spTree>
    <p:extLst>
      <p:ext uri="{BB962C8B-B14F-4D97-AF65-F5344CB8AC3E}">
        <p14:creationId xmlns:p14="http://schemas.microsoft.com/office/powerpoint/2010/main" val="428399450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现在我们来看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最基础、最常用的划分方法</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基于端口的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划分中的单交换机端口定义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大家请看图示，这是一台交换机，上面有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个物理端口。</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单交换机端口定义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，就是指在一台交换机的内部，由网络管理员手动地、静态地将它的物理端口划分到不同的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例如，在这个示意图中：</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我们可以将端口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划分到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 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（比如行政部）。</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将端口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划分到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 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（比如技术部）。</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这种方法的优点是配置简单、易于管理，性能也好。缺点是缺乏灵活性，设备移动后需要重新配置端口。</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75</a:t>
            </a:fld>
            <a:endParaRPr lang="en-US" altLang="zh-CN"/>
          </a:p>
        </p:txBody>
      </p:sp>
    </p:spTree>
    <p:extLst>
      <p:ext uri="{BB962C8B-B14F-4D97-AF65-F5344CB8AC3E}">
        <p14:creationId xmlns:p14="http://schemas.microsoft.com/office/powerpoint/2010/main" val="68649189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下面我们来看基于端口的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划分中更高级的应用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多交换机端口定义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大家看图中的示意图，这里现在有两台交换机。多交换机端口定义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的核心思想是：将连接在不同物理交换机上的端口，划分到同一个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中，从而构建一个跨越物理设备的逻辑网络。</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举个例子来理解：</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假设交换机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和交换机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都被划分到了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 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（市场部）。那么，即使这些交换机端口相连电脑在物理上接入了不同的交换机，它们在逻辑上却同属于同一个广播域（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 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），可以直接通信。</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实现跨交换机实现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关键是交换机之间互联的端口需要被配置为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Trunk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（干道）端口。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Trunk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端口不属于任何一个普通的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，它的特殊职责是允许携带不同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 Tag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）的数据帧在交换机之间传输。</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76</a:t>
            </a:fld>
            <a:endParaRPr lang="en-US" altLang="zh-CN"/>
          </a:p>
        </p:txBody>
      </p:sp>
    </p:spTree>
    <p:extLst>
      <p:ext uri="{BB962C8B-B14F-4D97-AF65-F5344CB8AC3E}">
        <p14:creationId xmlns:p14="http://schemas.microsoft.com/office/powerpoint/2010/main" val="23694194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最后，我们通过对比来学习两种关键的帧格式：标准以太网帧和用于实现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标记帧。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首先，大家看第一行，这是标准以太网帧的格式，它由几个固定字段组成：</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前导码（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Preamble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和 帧起始定界符（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SFD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）：用于接收方的时钟同步，标志着帧的开始。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目的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和 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）：这是数据链路层的核心，指明了帧的接收者和发送者。</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类型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长度（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Type/Length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）：标识上层协议（如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）或帧的长度。</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）：承载的上层协议数据单元，长度在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1500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字节之间。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帧校验序列（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FCS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）：用于检验帧在传输过程中是否出错。</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接下来是关键，大家看第二和第三部分，这是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802.1Q</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标记帧的格式。为了实现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，它在标准以太网帧的源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地址和类型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长度字段之间，插入了一个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字节的标记（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Tag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这个标记包含两个部分：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TPID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（标记协议标识符）：固定为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0x8100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，用来告诉接收设备这是一个带了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标记的帧。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TCI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（标记控制信息）：它又包含三个子字段：</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优先级（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位）：用于服务质量（</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QoS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），定义帧的优先级。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CFI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位）：规范格式指示器，通常用于兼容以太网和令牌环网。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VLAN ID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位）：这是最核心的部分！它标识了该帧属于哪个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（范围是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1-4094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），正是这个字段实现了跨交换机的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VLAN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逻辑隔离。</a:t>
            </a:r>
          </a:p>
          <a:p>
            <a:endParaRPr lang="zh-CN" altLang="en-US" dirty="0"/>
          </a:p>
        </p:txBody>
      </p:sp>
    </p:spTree>
    <p:extLst>
      <p:ext uri="{BB962C8B-B14F-4D97-AF65-F5344CB8AC3E}">
        <p14:creationId xmlns:p14="http://schemas.microsoft.com/office/powerpoint/2010/main" val="216785705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各位同学，今天我们学习一种非常重要的网络形式——无线局域网（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），主要是指我们每天都在使用的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Wi-Fi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网络，当然也包括蓝牙以及</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zigbee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网络等。</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首先，无线局域网相比传统的有线网络，拥有几个非常突出的优点：</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灵活性和移动性：这是它最核心的优势。用户可以在信号覆盖范围内自由移动，摆脱了线缆的束缚。</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安装便捷：无需破墙掘地、铺设线缆，只需部署一个或多个接入点（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），就可以快速建立网络覆盖。</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易于进行网络规划和调整：网络结构灵活，增加或减少用户、调整覆盖范围都非常方便。</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故障定位容易：网络出现问题，通常只需排查无线接入点（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）或终端，相比排查整条物理线路更为简单。</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易于扩展：要扩大覆盖范围或支持更多用户，只需增加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的数量即可，扩展性很强。</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其次，无线局域网主要有两种基本的拓扑结构（组织方式）：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无中心拓扑（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Ad-Hoc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模式）：也称为对等模式。所有设备之间可以直接通信，不需要中央节点。就像一群人在一个房间里直接对话，适合临时性的快速组网。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有中心拓扑（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Infrastructure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模式）：这是常用的模式。它需要一个无线接入点（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作为中心节点，所有设备的通信都必须通过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来转发。这就像所有人通过一个主持人来交流和传递信息，结构更稳定，易于管理，是企业、家庭网络的主流选择。</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78</a:t>
            </a:fld>
            <a:endParaRPr lang="en-US" altLang="zh-CN"/>
          </a:p>
        </p:txBody>
      </p:sp>
    </p:spTree>
    <p:extLst>
      <p:ext uri="{BB962C8B-B14F-4D97-AF65-F5344CB8AC3E}">
        <p14:creationId xmlns:p14="http://schemas.microsoft.com/office/powerpoint/2010/main" val="240007392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网络作为应用最为广泛的无线局域网，我们梳理一下其的发展历程，这些标准系列可以看作是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Wi-Fi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家谱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这个家族的发展主要体现在四个方面的演进：发布时间、工作频段、调制技术和传输速率。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第一代：开创先河</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 (1997)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：最早的标准，速度很慢（</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），已淘汰。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第二代：大众普及</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802.11b (1999)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：工作在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2.4GHz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频段，速度提升至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11Mbps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，是早期让</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Wi-Fi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普及的开路先锋。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802.11a (1999)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：同期诞生但工作在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5GHz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频段，采用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OFDM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技术，速率更高（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54Mbps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），但成本也高。</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第三代：承上启下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802.11g (2003)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：工作在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2.4GHz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，速率达到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54Mbps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。它兼容了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11b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，成为当时的主流选择。</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第四代：性能飞跃（</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MIMO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时代）</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802.11n (Wi-Fi 4, 2009)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：首次引入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MIMO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（多天线）技术，可同时使用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2.4G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双频段，理论速率高达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600Mbps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，是第一次重大飞跃。</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第五代：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Gigabit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时代</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802.11ac (Wi-Fi 5, 2013)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：仅工作在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5GHz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频段，强化了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MIMO</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，理论速率可达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3.47Gbps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，进入了千兆无线时代。</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第六代：高效时代</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802.11ax (Wi-Fi 6, 2019)</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：最新一代标准，同时支持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2.4G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频段。它的目标不仅是提升单一设备的速度（高达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9.6Gbps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），更是通过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OFDMA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等技术大幅提升多设备连接时的整体网络效率和容量，非常适合现在的智能家居和高密度场景。</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Wi-Fi 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，就是一个从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能无线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更快、更稳、连接更多设备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的进化史。</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79</a:t>
            </a:fld>
            <a:endParaRPr lang="en-US" altLang="zh-CN"/>
          </a:p>
        </p:txBody>
      </p:sp>
    </p:spTree>
    <p:extLst>
      <p:ext uri="{BB962C8B-B14F-4D97-AF65-F5344CB8AC3E}">
        <p14:creationId xmlns:p14="http://schemas.microsoft.com/office/powerpoint/2010/main" val="329504266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本页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我们学习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无线局域网的三种基本组织模式，也称为服务集。</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第一种是独立基本服务集（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IBSS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），也就是我们常说的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Ad-Hoc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模式或对等网络。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所示，在这种模式下，没有中心设备（如无线路由器）。所有无线工作站（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）之间可以直接进行通信，自组织成一个临时的对等网络。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它结构简单，适合临时、快速的设备间文件共享，但覆盖范围小，难以管理。</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第二种是基本服务集（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），这是最常见、最核心的组网模式。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所示，它的核心是一个接入点（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 - Access Point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）。所有无线工作站（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）都必须通过这个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来相互通信或访问有线网络。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负责管理所有接入的站点，构成了一个覆盖范围明确的基本服务区域（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）。我们家里的无线路由器就工作在这个模式下。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第三种是扩展服务集（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），这是为了扩大覆盖范围而采用的模式。</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所示，它由多个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（即多个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通过一个分布式系统（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，通常是有线网络） 连接而成。这样，用户可以在多个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的覆盖范围内无缝漫游，而网络连接不会中断。大型商场、校园、企业办公楼的全覆盖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Wi-Fi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就是采用这种模式。</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IBSS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再到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，网络的规模、复杂度和可控性逐步增加。</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80</a:t>
            </a:fld>
            <a:endParaRPr lang="en-US" altLang="zh-CN"/>
          </a:p>
        </p:txBody>
      </p:sp>
    </p:spTree>
    <p:extLst>
      <p:ext uri="{BB962C8B-B14F-4D97-AF65-F5344CB8AC3E}">
        <p14:creationId xmlns:p14="http://schemas.microsoft.com/office/powerpoint/2010/main" val="308472173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各位同学，要深入理解无线局域网，我们必须掌握其一系列核心概念。这些术语是构建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WLAN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知识体系的基石。</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首先，我们从最基本的元素开始：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工作站（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）：就是指任何一个接入到无线网络中的终端设备，比如我们的手机、笔记本电脑。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接入点（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）：这是无线网络的核心枢纽。所有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之间的通信，以及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访问有线网络，都必须通过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来完成。</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可以组建网络的基本单元。</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基本服务集（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）：指的是一个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所覆盖的、由其管理的所有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构成的这个基本网络单元。就像一个路由器和连接到它的所有设备。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基本服务区（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）：就是指一个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的无线信号所能覆盖的物理区域范围。</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为了扩大覆盖，需要将多个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连接起来：</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分布式系统（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）：通常指连接多个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的有线骨干网络（如以太网），它负责在不同的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之间转发数据。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扩展服务集（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）：就是由同一个分布式系统互联的多个基本服务集所组成的一个更大的逻辑网络。用户可以在扩展服务集内无缝移动，这就是漫游。</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最后，是几个关键的标识符和过程：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服务集标识（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SSID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）：这是我们给无线网络起的名字，是用户选择网络时看到的标识。</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基本服务集标识（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BSSID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）：这是每个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无线接口的唯一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地址，用于在网络内部唯一标识一个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节点漫游（</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STA Roaming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）：指的就是一个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从一个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的覆盖范围移动并切换到另一个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的过程，这是实现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内无缝移动的关键技术。通常是在二层漫游。</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81</a:t>
            </a:fld>
            <a:endParaRPr lang="en-US" altLang="zh-CN"/>
          </a:p>
        </p:txBody>
      </p:sp>
    </p:spTree>
    <p:extLst>
      <p:ext uri="{BB962C8B-B14F-4D97-AF65-F5344CB8AC3E}">
        <p14:creationId xmlns:p14="http://schemas.microsoft.com/office/powerpoint/2010/main" val="170826867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82</a:t>
            </a:fld>
            <a:endParaRPr lang="en-US" altLang="zh-CN"/>
          </a:p>
        </p:txBody>
      </p:sp>
    </p:spTree>
    <p:extLst>
      <p:ext uri="{BB962C8B-B14F-4D97-AF65-F5344CB8AC3E}">
        <p14:creationId xmlns:p14="http://schemas.microsoft.com/office/powerpoint/2010/main" val="195497861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各位同学，现在我们剖析一下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协议的体系结构，理解它是如何协调多个设备在共享的无线媒介上有序工作的。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协议的核心设计在于其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子层，它提供了两种截然不同的媒介访问控制功能：</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分布协调功能（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DCF- Distributed Coordination Function)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）：这是最重要、最核心、且强制实现的机制。它采用基于竞争的分布式访问方式，其核心就是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（载波侦听多路访问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冲突避免） 协议。设备在发送前先侦听信道，并通过随机回退等机制来尽力避免冲突。这是我们当前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Wi-Fi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网络的工作基础。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点协调功能（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PCF-Point Coordination Function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）：这是一种集中式的控制方式。由一个中央节点（通常是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）轮流询问各个站点，为其分配传输机会。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PCF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DCF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作为基础扩展的，它是一项可选功能。</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在物理层，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标准家族则定义了一系列不同的调制、编码和天线技术来实际传输数据，例如：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802.11a/g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采用的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OFDM</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802.11b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采用的 扩频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802.11n/ac/ax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采用的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MIMO-OFDM</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总体而言，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的体系结构是，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层用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DCF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作为主力来解决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谁来说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的问题，而物理层的各种技术则解决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怎么说得更快更稳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的问题。</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83</a:t>
            </a:fld>
            <a:endParaRPr lang="en-US" altLang="zh-CN"/>
          </a:p>
        </p:txBody>
      </p:sp>
    </p:spTree>
    <p:extLst>
      <p:ext uri="{BB962C8B-B14F-4D97-AF65-F5344CB8AC3E}">
        <p14:creationId xmlns:p14="http://schemas.microsoft.com/office/powerpoint/2010/main" val="29082946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各位同学，现在我们剖析一下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协议的体系结构，理解它是如何协调多个设备在共享的无线媒介上有序工作的。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协议的核心设计在于其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子层，它提供了两种截然不同的媒介访问控制功能：</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分布协调功能（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DCF- Distributed Coordination Function)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）：这是最重要、最核心、且强制实现的机制。它采用基于竞争的分布式访问方式，其核心就是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（载波侦听多路访问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冲突避免） 协议。设备在发送前先侦听信道，并通过随机回退等机制来尽力避免冲突。这是我们当前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Wi-Fi</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网络的工作基础。</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点协调功能（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PCF-Point Coordination Function</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）：这是一种集中式的控制方式。由一个中央节点（通常是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）轮流询问各个站点，为其分配传输机会。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PCF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DCF</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作为基础扩展的，它是一项可选功能。</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在物理层，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标准家族则定义了一系列不同的调制、编码和天线技术来实际传输数据，例如：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802.11a/g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采用的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OFDM</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802.11b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采用的 扩频</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802.11n/ac/ax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采用的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MIMO-OFDM</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总体而言，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的体系结构是，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层用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DCF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作为主力来解决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谁来说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的问题，而物理层的各种技术则解决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怎么说得更快更稳</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的问题。</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84</a:t>
            </a:fld>
            <a:endParaRPr lang="en-US" altLang="zh-CN"/>
          </a:p>
        </p:txBody>
      </p:sp>
    </p:spTree>
    <p:extLst>
      <p:ext uri="{BB962C8B-B14F-4D97-AF65-F5344CB8AC3E}">
        <p14:creationId xmlns:p14="http://schemas.microsoft.com/office/powerpoint/2010/main" val="252474205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各位同学，我们都知道有线以太网（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（载波侦听多路访问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冲突检测）协议来控制共享信道。那么，为什么我们的无线局域网（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）却要采用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（冲突避免）协议呢？这背后有三个核心原因：</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第一，硬件上难以实现。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要求网卡能边发送边监听（即同时收发），以便在发送时能检测到冲突。但在高频无线电路中，设计一个能同时收发强大信号的设备非常困难，且成本极高。无线设备通常无法在发送信号的同时清晰地监听信道。</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第二，无线环境存在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隐藏节点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暴露节点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问题。</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这是最关键的原因，</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导致冲突检测困难；</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关于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隐藏节点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暴露节点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问题的细节内容在下页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讲述。</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第三，信号衰减导致冲突检测失灵。</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无线网络中节点间距可能很远，信号在传播过程中会衰减。可能两个距离很远的节点同时发送，在中心节点（如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）处发生了冲突，但由于信号衰减，这两个发送节点都无法收到对方足够强的信号来检测到这次冲突。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正因为以上三点，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先侦听、边发送边检测、冲突后重传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机制在无线环境下几乎无法工作。 因此，</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802.11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转向使用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，其核心思想从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检测冲突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转变为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主动避免冲突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，通过预约信道（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RTS/CTS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和随机回退等机制来最大限度地减少冲突的发生。</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85</a:t>
            </a:fld>
            <a:endParaRPr lang="en-US" altLang="zh-CN"/>
          </a:p>
        </p:txBody>
      </p:sp>
    </p:spTree>
    <p:extLst>
      <p:ext uri="{BB962C8B-B14F-4D97-AF65-F5344CB8AC3E}">
        <p14:creationId xmlns:p14="http://schemas.microsoft.com/office/powerpoint/2010/main" val="147207960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现在我们来看隐藏节点和暴露节点的细节。</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首先，大家看图示的第一个场景，这是隐藏节点问题。</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正在向节点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发送数据。节点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的信号覆盖范围之外，它</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正在发送，因此它误以为信道是空闲的。此时，如果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也向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发送数据，那么两路信号就会在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这个接收点发生冲突，导致传输失败。</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隐藏节点问题的原因：多个发送方之间彼此听不见，但同一接收方能同时收到它们，从而引发冲突。 这是导致无线网络冲突的主要原因。</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接下来，我们看第二个场景，这是暴露节点问题。</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正在向节点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发送数据。节点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的信号覆盖范围内，它</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听</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到了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的发送，因此它认为信道繁忙，为了避免冲突而不敢发送。但实际上，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的目标是向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发送数据。 由于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发送信号并不会干扰到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的信号（反之亦然），所以这次传输本来是可以成功进行的。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暴露节点问题的原因：不必要的侦听抑制了本该可以进行的并行传输，从而降低了信道的空间复用率和整体效率。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隐藏节点问题增加了冲突，而暴露节点问题降低了效率。这两个问题都是由无线信号传播的广播特性和有限的传输范围造成的，是设计无线</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）必须考虑和解决的核心问题。</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86</a:t>
            </a:fld>
            <a:endParaRPr lang="en-US" altLang="zh-CN"/>
          </a:p>
        </p:txBody>
      </p:sp>
    </p:spTree>
    <p:extLst>
      <p:ext uri="{BB962C8B-B14F-4D97-AF65-F5344CB8AC3E}">
        <p14:creationId xmlns:p14="http://schemas.microsoft.com/office/powerpoint/2010/main" val="193963343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各位同学，现在我们来看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（冲突避免） 协议的具体工作流程。</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的示意图上可以看出，整个过程可以看作是发送数据前的一次“信道预约”：</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发起请求（侦听与请求）：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首先侦听信道。若空闲一个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DIFS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（分布式帧间间隔）时间后，它并不直接发送数据，而是先发送一个很短的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（请求发送） 帧。这个帧包含了后续数据传输所需的持续时间。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广播许可（清除与回复）：</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收到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后，等待一个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SIFS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（短帧间间隔）时间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——SIFS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比</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DIFS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更短，拥有最高优先级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然后回复一个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（允许发送） 帧。</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帧也同样包含了这次通信的持续时间。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预约生效（网络分配向量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RTS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帧就像一个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广播公告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。周围所有听到它们的节点（如图中的其他站点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）都会根据帧中携带的持续时间信息，设置自己的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（网络分配向量）。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就是一个倒计时器，在此期间，它们认为信道已被占用，会主动延迟自己的访问，从而避免了冲突。</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数据传输与确认：</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收到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后，再等待一个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SIFS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，便开始发送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（数据帧）。</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成功接收数据后，再等待一个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SIFS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，回复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ACK</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（确认帧）完成整个流程。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CSMA/CA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通过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RTS-CTS-Data-ACK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的四次握手机制，并利用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虚拟载波侦听，巧妙地解决了隐藏节点问题与隐藏节点问题，实现了冲突避免。</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87</a:t>
            </a:fld>
            <a:endParaRPr lang="en-US" altLang="zh-CN"/>
          </a:p>
        </p:txBody>
      </p:sp>
    </p:spTree>
    <p:extLst>
      <p:ext uri="{BB962C8B-B14F-4D97-AF65-F5344CB8AC3E}">
        <p14:creationId xmlns:p14="http://schemas.microsoft.com/office/powerpoint/2010/main" val="174143326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最后我们学习</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CSMA/CA</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协议中一个非常巧妙的机制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虚拟载波侦听。</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它的核心是一个叫做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（网络分配向量） 的定时器。这个机制解决了无线网络中物理载波侦听的局限性。</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虚拟载波侦听的工作流程如下：</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信息广播：当发送者准备通信时，它会在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（请求发送） 帧中携带一个关键信息，即本次数据传输总共需要占用信道的预估时间。</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设置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：周围所有接收到这个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帧（或随后由接收方回复的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CTS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帧）的节点，它们并不会去解析整个数据帧，但会读取这个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占用时间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字段，并据此设置自己的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定时器。这个定时器就像一个倒计时钟，告诉节点：</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在倒计时结束前，信道都处于忙碌状态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虚拟侦听：在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NAV</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倒计时期间，即使物理上的信道是空闲的，也会认为信道是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的，从而推迟自己的发送。这就相当于进行了一次</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虚拟</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的载波侦听。</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虚拟载波侦听的巨大优势在于：它使得节点不需要时刻保持高功耗的物理信道监听，能高效地确定信道何时会变为空闲。这不仅节省了能量，更重要的是，它通过这种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信令预约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的方式，有效地避免了隐藏节点等问题造成的冲突，极大地提高了无线信道的利用效率。</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88</a:t>
            </a:fld>
            <a:endParaRPr lang="en-US" altLang="zh-CN"/>
          </a:p>
        </p:txBody>
      </p:sp>
    </p:spTree>
    <p:extLst>
      <p:ext uri="{BB962C8B-B14F-4D97-AF65-F5344CB8AC3E}">
        <p14:creationId xmlns:p14="http://schemas.microsoft.com/office/powerpoint/2010/main" val="424497031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各位同学，本次知识点我们学习另外两种短距离、低功耗无线局域网，即蓝牙网络与</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Zigbee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先介绍蓝牙（</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Bluetooth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）技术。蓝牙是一种适用于极短距离（通常</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米内）的无线通信技术。它有以下几个技术特点：</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它工作在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2.4GHz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ISM</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这个全球免费的公共频段。</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为了在嘈杂的公共频段中稳定通信，它采用了跳频（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FHSS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技术，以每秒</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1600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次的速率在不同的频率间切换，有效抗干扰。</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其经典版本的传输速率约为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1Mbps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它采用时分双工（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TDD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方案来实现全双工通信，即通过时间片的交替，在同一频率上实现数据的双向传输。</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蓝牙的组网方式非常有特色，主要分为两种：</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微微网（</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Piconet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）：这是蓝牙最基本的网络单元。它是一个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ad-hoc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（自组织） 的微型网络，采用主从结构：由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个主设备（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Master</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，如手机）和最多</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个活跃的从设备（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Slave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，如耳机、手表）构成。主设备控制时钟和跳频序列，从设备与之同步。</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散射网（</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Scatternet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）：单个微微网的覆盖范围和设备数量都有限。为了扩大网络规模，多个微微网可以互连，形成一个更大的网络，这就是散射网。一个微微网中的主设备可以成为另一个微微网中的从设备，起到桥接的作用。</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89</a:t>
            </a:fld>
            <a:endParaRPr lang="en-US" altLang="zh-CN"/>
          </a:p>
        </p:txBody>
      </p:sp>
    </p:spTree>
    <p:extLst>
      <p:ext uri="{BB962C8B-B14F-4D97-AF65-F5344CB8AC3E}">
        <p14:creationId xmlns:p14="http://schemas.microsoft.com/office/powerpoint/2010/main" val="317962621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各位同学，下面我们通过</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PPT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的示意图来具体理解蓝牙的两种组网形态：微微网（</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Piconet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和散射网（</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Scatternet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微微网（</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Piconet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）是蓝牙网络最基本的构建单元。</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每个微微网都遵循严格的 </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一主多从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结构，图中微微网包含有一个</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主设备（</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Master, M</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和最多</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7</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个活跃从设备（</a:t>
            </a:r>
            <a:r>
              <a:rPr lang="en-US" altLang="zh-CN" sz="1200" b="1" kern="1200" dirty="0" smtClean="0">
                <a:solidFill>
                  <a:schemeClr val="tx1"/>
                </a:solidFill>
                <a:effectLst/>
                <a:latin typeface="Times New Roman" panose="02020603050405020304" pitchFamily="18" charset="0"/>
                <a:ea typeface="宋体" panose="02010600030101010101" pitchFamily="2" charset="-122"/>
                <a:cs typeface="+mn-cs"/>
              </a:rPr>
              <a:t>Slave, S</a:t>
            </a:r>
            <a:r>
              <a:rPr lang="zh-CN" altLang="zh-CN" sz="1200" b="1"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主设备负责同步和调度整个网络。</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那么，什么是散射网（</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Scatternet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 呢？</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散射网就是由多个微微网（椭圆形边界标记）相互连接而形成的更大范围的网络。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它的关键机制是：一个设备可以同时属于多个微微网。请注意图中设备的角色：</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B1: M/S/S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，这表示该节点跨越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个微微网，在箭头指向节点的微微网中节点充当从设备，在箭头指出所在的微微网中节点充当主设备；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B1: M/S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表明该节点充当一个微微网的主设备以及另一个微微网的从设备；</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B1: 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表明该节点充当两个微微网的从设备。</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90</a:t>
            </a:fld>
            <a:endParaRPr lang="en-US" altLang="zh-CN"/>
          </a:p>
        </p:txBody>
      </p:sp>
    </p:spTree>
    <p:extLst>
      <p:ext uri="{BB962C8B-B14F-4D97-AF65-F5344CB8AC3E}">
        <p14:creationId xmlns:p14="http://schemas.microsoft.com/office/powerpoint/2010/main" val="137255657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与蓝牙比较类似的无线局域网就是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ZigBee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ZigBee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是一种专为短距离、低传输速率、低功耗应用场景设计的无线通信技术，其底层标准对应的是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IEEE 802.15.4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。它非常适合智能家居、工业传感等需要设备长期在线但数据量不大的领域。</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ZigBee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网络通常包含三类设备，它们共同构成一个有序的网络架构：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协调器：这是整个网络的核心与管理者，一个网络中有且只有一个。它负责网络的初始化、地址分配和维护，是网络的起点。</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路由器：扮演中继和扩展的角色，负责转发数据，扩大网络覆盖范围，并帮助其他设备接入网络。</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终端设备：通常是功耗极低的传感或控制设备（如温度传感器），它们通过路由器或协调器接入网络，完成具体的数据采集或执行任务。</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ZigBee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支持星状网和网状网两种拓扑结构。从图例中可以看到，设备之间可以形成多跳路由，组成一个具有自组织、自愈合能力的可靠网络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单个节点故障不会导致整个网络瘫痪。</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总体而言，</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ZigBee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通过其低功耗、多跳路由和稳定的网络结构，为物联网应用提供了一个高度可靠的通信解决方案。</a:t>
            </a:r>
          </a:p>
          <a:p>
            <a:endParaRPr lang="zh-CN" altLang="en-US" dirty="0"/>
          </a:p>
        </p:txBody>
      </p:sp>
      <p:sp>
        <p:nvSpPr>
          <p:cNvPr id="4" name="灯片编号占位符 3"/>
          <p:cNvSpPr>
            <a:spLocks noGrp="1"/>
          </p:cNvSpPr>
          <p:nvPr>
            <p:ph type="sldNum" sz="quarter" idx="10"/>
          </p:nvPr>
        </p:nvSpPr>
        <p:spPr/>
        <p:txBody>
          <a:bodyPr/>
          <a:lstStyle/>
          <a:p>
            <a:pPr>
              <a:defRPr/>
            </a:pPr>
            <a:fld id="{BBA3D5C2-C1D3-45E1-A904-B1618B2C8C9C}" type="slidenum">
              <a:rPr lang="en-US" altLang="zh-CN" smtClean="0"/>
              <a:t>91</a:t>
            </a:fld>
            <a:endParaRPr lang="en-US" altLang="zh-CN"/>
          </a:p>
        </p:txBody>
      </p:sp>
    </p:spTree>
    <p:extLst>
      <p:ext uri="{BB962C8B-B14F-4D97-AF65-F5344CB8AC3E}">
        <p14:creationId xmlns:p14="http://schemas.microsoft.com/office/powerpoint/2010/main" val="4148631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72738"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3600"/>
            </a:lvl1pPr>
          </a:lstStyle>
          <a:p>
            <a:pPr lvl="0"/>
            <a:r>
              <a:rPr lang="zh-CN" altLang="en-US" noProof="0" smtClean="0"/>
              <a:t>单击此处编辑母版标题样式</a:t>
            </a:r>
          </a:p>
        </p:txBody>
      </p:sp>
      <p:sp>
        <p:nvSpPr>
          <p:cNvPr id="372739" name="Rectangle 3"/>
          <p:cNvSpPr>
            <a:spLocks noGrp="1" noChangeArrowheads="1"/>
          </p:cNvSpPr>
          <p:nvPr>
            <p:ph type="subTitle" sz="quarter" idx="1"/>
          </p:nvPr>
        </p:nvSpPr>
        <p:spPr>
          <a:xfrm>
            <a:off x="1371600" y="3429000"/>
            <a:ext cx="6400800" cy="1752600"/>
          </a:xfrm>
          <a:extLst>
            <a:ext uri="{AF507438-7753-43E0-B8FC-AC1667EBCBE1}">
              <a14:hiddenEffects xmlns:a14="http://schemas.microsoft.com/office/drawing/2010/main">
                <a:effectLst>
                  <a:outerShdw dist="28398" dir="3806097" algn="ctr" rotWithShape="0">
                    <a:srgbClr val="CCFFFF">
                      <a:alpha val="50000"/>
                    </a:srgbClr>
                  </a:outerShdw>
                </a:effectLst>
              </a14:hiddenEffects>
            </a:ext>
          </a:extLst>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lvl="0"/>
            <a:r>
              <a:rPr lang="zh-CN" altLang="en-US" noProof="0" smtClean="0"/>
              <a:t>单击此处编辑母版副标题样式</a:t>
            </a:r>
          </a:p>
        </p:txBody>
      </p:sp>
      <p:sp>
        <p:nvSpPr>
          <p:cNvPr id="4" name="Rectangle 4"/>
          <p:cNvSpPr>
            <a:spLocks noGrp="1" noChangeArrowheads="1"/>
          </p:cNvSpPr>
          <p:nvPr>
            <p:ph type="dt" sz="quarter" idx="10"/>
          </p:nvPr>
        </p:nvSpPr>
        <p:spPr/>
        <p:txBody>
          <a:bodyPr/>
          <a:lstStyle>
            <a:lvl1pPr>
              <a:defRPr b="0"/>
            </a:lvl1pPr>
          </a:lstStyle>
          <a:p>
            <a:pPr>
              <a:defRPr/>
            </a:pPr>
            <a:endParaRPr lang="en-US" altLang="zh-CN"/>
          </a:p>
        </p:txBody>
      </p:sp>
      <p:sp>
        <p:nvSpPr>
          <p:cNvPr id="5" name="Rectangle 5"/>
          <p:cNvSpPr>
            <a:spLocks noGrp="1" noChangeArrowheads="1"/>
          </p:cNvSpPr>
          <p:nvPr>
            <p:ph type="ftr" sz="quarter" idx="11"/>
          </p:nvPr>
        </p:nvSpPr>
        <p:spPr/>
        <p:txBody>
          <a:bodyPr/>
          <a:lstStyle>
            <a:lvl1pPr>
              <a:defRPr b="0"/>
            </a:lvl1pPr>
          </a:lstStyle>
          <a:p>
            <a:pPr>
              <a:defRPr/>
            </a:pPr>
            <a:endParaRPr lang="en-US" altLang="zh-CN"/>
          </a:p>
        </p:txBody>
      </p:sp>
      <p:sp>
        <p:nvSpPr>
          <p:cNvPr id="6" name="Rectangle 6"/>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lstStyle>
            <a:lvl1pPr algn="r" eaLnBrk="1" hangingPunct="1">
              <a:spcBef>
                <a:spcPct val="0"/>
              </a:spcBef>
              <a:buClrTx/>
              <a:buFontTx/>
              <a:buNone/>
              <a:defRPr kumimoji="0" sz="1400" b="0">
                <a:solidFill>
                  <a:schemeClr val="bg2"/>
                </a:solidFill>
                <a:ea typeface="+mn-ea"/>
              </a:defRPr>
            </a:lvl1pPr>
          </a:lstStyle>
          <a:p>
            <a:pPr>
              <a:defRPr/>
            </a:pPr>
            <a:fld id="{8C6F1A03-5486-4045-8D35-84E961F903A8}"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
          <p:cNvSpPr>
            <a:spLocks noGrp="1" noChangeArrowheads="1"/>
          </p:cNvSpPr>
          <p:nvPr>
            <p:ph type="dt" sz="half" idx="10"/>
          </p:nvPr>
        </p:nvSpPr>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p>
        </p:txBody>
      </p:sp>
      <p:sp>
        <p:nvSpPr>
          <p:cNvPr id="4" name="Rectangle 3"/>
          <p:cNvSpPr>
            <a:spLocks noGrp="1" noChangeArrowheads="1"/>
          </p:cNvSpPr>
          <p:nvPr>
            <p:ph type="dt" sz="half" idx="10"/>
          </p:nvPr>
        </p:nvSpPr>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755650" y="1341438"/>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hasCustomPrompt="1"/>
          </p:nvPr>
        </p:nvSpPr>
        <p:spPr>
          <a:xfrm>
            <a:off x="4718050" y="1341438"/>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
          <p:cNvSpPr>
            <a:spLocks noGrp="1" noChangeArrowheads="1"/>
          </p:cNvSpPr>
          <p:nvPr>
            <p:ph type="dt" sz="half" idx="10"/>
          </p:nvPr>
        </p:nvSpPr>
        <p:spPr/>
        <p:txBody>
          <a:bodyPr/>
          <a:lstStyle>
            <a:lvl1pPr>
              <a:defRPr/>
            </a:lvl1pPr>
          </a:lstStyle>
          <a:p>
            <a:pPr>
              <a:defRPr/>
            </a:pPr>
            <a:endParaRPr lang="en-US" altLang="zh-CN"/>
          </a:p>
        </p:txBody>
      </p:sp>
      <p:sp>
        <p:nvSpPr>
          <p:cNvPr id="6"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3"/>
          <p:cNvSpPr>
            <a:spLocks noGrp="1" noChangeArrowheads="1"/>
          </p:cNvSpPr>
          <p:nvPr>
            <p:ph type="dt" sz="half" idx="10"/>
          </p:nvPr>
        </p:nvSpPr>
        <p:spPr/>
        <p:txBody>
          <a:bodyPr/>
          <a:lstStyle>
            <a:lvl1pPr>
              <a:defRPr/>
            </a:lvl1pPr>
          </a:lstStyle>
          <a:p>
            <a:pPr>
              <a:defRPr/>
            </a:pPr>
            <a:endParaRPr lang="en-US" altLang="zh-CN"/>
          </a:p>
        </p:txBody>
      </p:sp>
      <p:sp>
        <p:nvSpPr>
          <p:cNvPr id="8"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3"/>
          <p:cNvSpPr>
            <a:spLocks noGrp="1" noChangeArrowheads="1"/>
          </p:cNvSpPr>
          <p:nvPr>
            <p:ph type="dt" sz="half" idx="10"/>
          </p:nvPr>
        </p:nvSpPr>
        <p:spPr/>
        <p:txBody>
          <a:bodyPr/>
          <a:lstStyle>
            <a:lvl1pPr>
              <a:defRPr/>
            </a:lvl1pPr>
          </a:lstStyle>
          <a:p>
            <a:pPr>
              <a:defRPr/>
            </a:pPr>
            <a:endParaRPr lang="en-US" altLang="zh-CN"/>
          </a:p>
        </p:txBody>
      </p:sp>
      <p:sp>
        <p:nvSpPr>
          <p:cNvPr id="4"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p:cNvSpPr>
            <a:spLocks noGrp="1" noChangeArrowheads="1"/>
          </p:cNvSpPr>
          <p:nvPr>
            <p:ph type="dt" sz="half" idx="10"/>
          </p:nvPr>
        </p:nvSpPr>
        <p:spPr/>
        <p:txBody>
          <a:bodyPr/>
          <a:lstStyle>
            <a:lvl1pPr>
              <a:defRPr/>
            </a:lvl1pPr>
          </a:lstStyle>
          <a:p>
            <a:pPr>
              <a:defRPr/>
            </a:pPr>
            <a:endParaRPr lang="en-US" altLang="zh-CN"/>
          </a:p>
        </p:txBody>
      </p:sp>
      <p:sp>
        <p:nvSpPr>
          <p:cNvPr id="3"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Rectangle 3"/>
          <p:cNvSpPr>
            <a:spLocks noGrp="1" noChangeArrowheads="1"/>
          </p:cNvSpPr>
          <p:nvPr>
            <p:ph type="dt" sz="half" idx="10"/>
          </p:nvPr>
        </p:nvSpPr>
        <p:spPr/>
        <p:txBody>
          <a:bodyPr/>
          <a:lstStyle>
            <a:lvl1pPr>
              <a:defRPr/>
            </a:lvl1pPr>
          </a:lstStyle>
          <a:p>
            <a:pPr>
              <a:defRPr/>
            </a:pPr>
            <a:endParaRPr lang="en-US" altLang="zh-CN"/>
          </a:p>
        </p:txBody>
      </p:sp>
      <p:sp>
        <p:nvSpPr>
          <p:cNvPr id="6"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Rectangle 3"/>
          <p:cNvSpPr>
            <a:spLocks noGrp="1" noChangeArrowheads="1"/>
          </p:cNvSpPr>
          <p:nvPr>
            <p:ph type="dt" sz="half" idx="10"/>
          </p:nvPr>
        </p:nvSpPr>
        <p:spPr/>
        <p:txBody>
          <a:bodyPr/>
          <a:lstStyle>
            <a:lvl1pPr>
              <a:defRPr/>
            </a:lvl1pPr>
          </a:lstStyle>
          <a:p>
            <a:pPr>
              <a:defRPr/>
            </a:pPr>
            <a:endParaRPr lang="en-US" altLang="zh-CN"/>
          </a:p>
        </p:txBody>
      </p:sp>
      <p:sp>
        <p:nvSpPr>
          <p:cNvPr id="6"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
          <p:cNvSpPr>
            <a:spLocks noGrp="1" noChangeArrowheads="1"/>
          </p:cNvSpPr>
          <p:nvPr>
            <p:ph type="dt" sz="half" idx="10"/>
          </p:nvPr>
        </p:nvSpPr>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46913" y="260350"/>
            <a:ext cx="2097087" cy="5195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755650" y="260350"/>
            <a:ext cx="6138863" cy="519588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
          <p:cNvSpPr>
            <a:spLocks noGrp="1" noChangeArrowheads="1"/>
          </p:cNvSpPr>
          <p:nvPr>
            <p:ph type="dt" sz="half" idx="10"/>
          </p:nvPr>
        </p:nvSpPr>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47800" y="260350"/>
            <a:ext cx="7696200" cy="7207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hasCustomPrompt="1"/>
          </p:nvPr>
        </p:nvSpPr>
        <p:spPr>
          <a:xfrm>
            <a:off x="755650" y="1341438"/>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hasCustomPrompt="1"/>
          </p:nvPr>
        </p:nvSpPr>
        <p:spPr>
          <a:xfrm>
            <a:off x="4718050" y="1341438"/>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
          <p:cNvSpPr>
            <a:spLocks noGrp="1" noChangeArrowheads="1"/>
          </p:cNvSpPr>
          <p:nvPr>
            <p:ph type="dt" sz="half" idx="10"/>
          </p:nvPr>
        </p:nvSpPr>
        <p:spPr/>
        <p:txBody>
          <a:bodyPr/>
          <a:lstStyle>
            <a:lvl1pPr>
              <a:defRPr/>
            </a:lvl1pPr>
          </a:lstStyle>
          <a:p>
            <a:pPr>
              <a:defRPr/>
            </a:pPr>
            <a:endParaRPr lang="en-US" altLang="zh-CN"/>
          </a:p>
        </p:txBody>
      </p:sp>
      <p:sp>
        <p:nvSpPr>
          <p:cNvPr id="6" name="Rectangle 4"/>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19138" y="7938"/>
            <a:ext cx="7815262" cy="5483225"/>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vmlDrawing" Target="../drawings/vmlDrawing1.v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447800" y="260350"/>
            <a:ext cx="7696200" cy="7207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2075" tIns="46038" rIns="92075" bIns="46038" numCol="1" anchor="ctr" anchorCtr="0" compatLnSpc="1"/>
          <a:lstStyle/>
          <a:p>
            <a:pPr lvl="0"/>
            <a:r>
              <a:rPr lang="zh-CN" altLang="en-US" smtClean="0"/>
              <a:t>单击此处编辑母版标题样式</a:t>
            </a:r>
          </a:p>
        </p:txBody>
      </p:sp>
      <p:sp>
        <p:nvSpPr>
          <p:cNvPr id="371715" name="Rectangle 3"/>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lstStyle>
            <a:lvl1pPr algn="l" eaLnBrk="1" hangingPunct="1">
              <a:spcBef>
                <a:spcPct val="0"/>
              </a:spcBef>
              <a:buClrTx/>
              <a:buFontTx/>
              <a:buNone/>
              <a:defRPr kumimoji="0" sz="1400">
                <a:solidFill>
                  <a:schemeClr val="bg2"/>
                </a:solidFill>
                <a:ea typeface="+mn-ea"/>
              </a:defRPr>
            </a:lvl1pPr>
          </a:lstStyle>
          <a:p>
            <a:pPr>
              <a:defRPr/>
            </a:pPr>
            <a:endParaRPr lang="en-US" altLang="zh-CN"/>
          </a:p>
        </p:txBody>
      </p:sp>
      <p:sp>
        <p:nvSpPr>
          <p:cNvPr id="371716" name="Rectangle 4"/>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lstStyle>
            <a:lvl1pPr algn="ctr" eaLnBrk="1" hangingPunct="1">
              <a:spcBef>
                <a:spcPct val="0"/>
              </a:spcBef>
              <a:buClrTx/>
              <a:buFontTx/>
              <a:buNone/>
              <a:defRPr kumimoji="0" sz="1400">
                <a:solidFill>
                  <a:schemeClr val="bg2"/>
                </a:solidFill>
                <a:ea typeface="+mn-ea"/>
              </a:defRPr>
            </a:lvl1pPr>
          </a:lstStyle>
          <a:p>
            <a:pPr>
              <a:defRPr/>
            </a:pPr>
            <a:endParaRPr lang="en-US" altLang="zh-CN"/>
          </a:p>
        </p:txBody>
      </p:sp>
      <p:sp>
        <p:nvSpPr>
          <p:cNvPr id="1029" name="Rectangle 5"/>
          <p:cNvSpPr>
            <a:spLocks noGrp="1" noChangeArrowheads="1"/>
          </p:cNvSpPr>
          <p:nvPr>
            <p:ph type="body" idx="1"/>
          </p:nvPr>
        </p:nvSpPr>
        <p:spPr bwMode="auto">
          <a:xfrm>
            <a:off x="755650" y="13414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71718"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a:noFill/>
          </a:ln>
          <a:effectLst>
            <a:outerShdw dist="56796" dir="1593903" algn="ctr" rotWithShape="0">
              <a:srgbClr val="DDDDDD"/>
            </a:outerShdw>
          </a:effectLst>
          <a:extLst>
            <a:ext uri="{91240B29-F687-4F45-9708-019B960494DF}">
              <a14:hiddenLine xmlns:a14="http://schemas.microsoft.com/office/drawing/2010/main" w="9525">
                <a:solidFill>
                  <a:schemeClr val="bg1"/>
                </a:solidFill>
                <a:miter lim="800000"/>
                <a:headEnd/>
                <a:tailEnd/>
              </a14:hiddenLine>
            </a:ext>
          </a:extLst>
        </p:spPr>
        <p:txBody>
          <a:bodyPr wrap="none" anchor="ct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Clr>
                <a:srgbClr val="3366FF"/>
              </a:buClr>
              <a:buFont typeface="Wingdings" panose="05000000000000000000" pitchFamily="2" charset="2"/>
              <a:buChar char="l"/>
              <a:defRPr/>
            </a:pPr>
            <a:endParaRPr lang="zh-CN" altLang="zh-CN" sz="2800" b="0" smtClean="0">
              <a:solidFill>
                <a:schemeClr val="accent2"/>
              </a:solidFill>
              <a:ea typeface="黑体" panose="02010609060101010101" pitchFamily="49" charset="-122"/>
            </a:endParaRPr>
          </a:p>
        </p:txBody>
      </p:sp>
      <p:sp>
        <p:nvSpPr>
          <p:cNvPr id="371727" name="Rectangle 15"/>
          <p:cNvSpPr>
            <a:spLocks noChangeArrowheads="1"/>
          </p:cNvSpPr>
          <p:nvPr/>
        </p:nvSpPr>
        <p:spPr bwMode="auto">
          <a:xfrm>
            <a:off x="1447800" y="260350"/>
            <a:ext cx="7696200" cy="7207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0"/>
              </a:spcBef>
              <a:defRPr kumimoji="1" sz="3200">
                <a:solidFill>
                  <a:schemeClr val="bg1"/>
                </a:solidFill>
                <a:latin typeface="Arial" panose="020B0604020202020204" pitchFamily="34" charset="0"/>
                <a:ea typeface="黑体" panose="02010609060101010101" pitchFamily="49" charset="-122"/>
              </a:defRPr>
            </a:lvl1pPr>
            <a:lvl2pPr>
              <a:spcBef>
                <a:spcPct val="0"/>
              </a:spcBef>
              <a:defRPr kumimoji="1" sz="3200">
                <a:solidFill>
                  <a:schemeClr val="bg1"/>
                </a:solidFill>
                <a:latin typeface="Arial" panose="020B0604020202020204" pitchFamily="34" charset="0"/>
                <a:ea typeface="黑体" panose="02010609060101010101" pitchFamily="49" charset="-122"/>
              </a:defRPr>
            </a:lvl2pPr>
            <a:lvl3pPr>
              <a:spcBef>
                <a:spcPct val="0"/>
              </a:spcBef>
              <a:defRPr kumimoji="1" sz="3200">
                <a:solidFill>
                  <a:schemeClr val="bg1"/>
                </a:solidFill>
                <a:latin typeface="Arial" panose="020B0604020202020204" pitchFamily="34" charset="0"/>
                <a:ea typeface="黑体" panose="02010609060101010101" pitchFamily="49" charset="-122"/>
              </a:defRPr>
            </a:lvl3pPr>
            <a:lvl4pPr>
              <a:spcBef>
                <a:spcPct val="0"/>
              </a:spcBef>
              <a:defRPr kumimoji="1" sz="3200">
                <a:solidFill>
                  <a:schemeClr val="bg1"/>
                </a:solidFill>
                <a:latin typeface="Arial" panose="020B0604020202020204" pitchFamily="34" charset="0"/>
                <a:ea typeface="黑体" panose="02010609060101010101" pitchFamily="49" charset="-122"/>
              </a:defRPr>
            </a:lvl4pPr>
            <a:lvl5pPr>
              <a:spcBef>
                <a:spcPct val="0"/>
              </a:spcBef>
              <a:defRPr kumimoji="1" sz="3200">
                <a:solidFill>
                  <a:schemeClr val="bg1"/>
                </a:solidFill>
                <a:latin typeface="Arial" panose="020B0604020202020204" pitchFamily="34" charset="0"/>
                <a:ea typeface="黑体" panose="02010609060101010101" pitchFamily="49" charset="-122"/>
              </a:defRPr>
            </a:lvl5pPr>
            <a:lvl6pPr marL="4572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6pPr>
            <a:lvl7pPr marL="9144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7pPr>
            <a:lvl8pPr marL="13716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8pPr>
            <a:lvl9pPr marL="18288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9pPr>
          </a:lstStyle>
          <a:p>
            <a:pPr algn="r" eaLnBrk="1" hangingPunct="1">
              <a:defRPr/>
            </a:pPr>
            <a:r>
              <a:rPr lang="zh-CN" altLang="en-US" b="0" smtClean="0"/>
              <a:t>单击此处编辑母版标题样式</a:t>
            </a:r>
          </a:p>
        </p:txBody>
      </p:sp>
      <p:sp>
        <p:nvSpPr>
          <p:cNvPr id="371728" name="Rectangle 16"/>
          <p:cNvSpPr>
            <a:spLocks noChangeArrowheads="1"/>
          </p:cNvSpPr>
          <p:nvPr/>
        </p:nvSpPr>
        <p:spPr bwMode="auto">
          <a:xfrm>
            <a:off x="1447800" y="260350"/>
            <a:ext cx="7696200" cy="7207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0"/>
              </a:spcBef>
              <a:defRPr kumimoji="1" sz="3200">
                <a:solidFill>
                  <a:schemeClr val="bg1"/>
                </a:solidFill>
                <a:latin typeface="Arial" panose="020B0604020202020204" pitchFamily="34" charset="0"/>
                <a:ea typeface="黑体" panose="02010609060101010101" pitchFamily="49" charset="-122"/>
              </a:defRPr>
            </a:lvl1pPr>
            <a:lvl2pPr>
              <a:spcBef>
                <a:spcPct val="0"/>
              </a:spcBef>
              <a:defRPr kumimoji="1" sz="3200">
                <a:solidFill>
                  <a:schemeClr val="bg1"/>
                </a:solidFill>
                <a:latin typeface="Arial" panose="020B0604020202020204" pitchFamily="34" charset="0"/>
                <a:ea typeface="黑体" panose="02010609060101010101" pitchFamily="49" charset="-122"/>
              </a:defRPr>
            </a:lvl2pPr>
            <a:lvl3pPr>
              <a:spcBef>
                <a:spcPct val="0"/>
              </a:spcBef>
              <a:defRPr kumimoji="1" sz="3200">
                <a:solidFill>
                  <a:schemeClr val="bg1"/>
                </a:solidFill>
                <a:latin typeface="Arial" panose="020B0604020202020204" pitchFamily="34" charset="0"/>
                <a:ea typeface="黑体" panose="02010609060101010101" pitchFamily="49" charset="-122"/>
              </a:defRPr>
            </a:lvl3pPr>
            <a:lvl4pPr>
              <a:spcBef>
                <a:spcPct val="0"/>
              </a:spcBef>
              <a:defRPr kumimoji="1" sz="3200">
                <a:solidFill>
                  <a:schemeClr val="bg1"/>
                </a:solidFill>
                <a:latin typeface="Arial" panose="020B0604020202020204" pitchFamily="34" charset="0"/>
                <a:ea typeface="黑体" panose="02010609060101010101" pitchFamily="49" charset="-122"/>
              </a:defRPr>
            </a:lvl4pPr>
            <a:lvl5pPr>
              <a:spcBef>
                <a:spcPct val="0"/>
              </a:spcBef>
              <a:defRPr kumimoji="1" sz="3200">
                <a:solidFill>
                  <a:schemeClr val="bg1"/>
                </a:solidFill>
                <a:latin typeface="Arial" panose="020B0604020202020204" pitchFamily="34" charset="0"/>
                <a:ea typeface="黑体" panose="02010609060101010101" pitchFamily="49" charset="-122"/>
              </a:defRPr>
            </a:lvl5pPr>
            <a:lvl6pPr marL="4572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6pPr>
            <a:lvl7pPr marL="9144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7pPr>
            <a:lvl8pPr marL="13716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8pPr>
            <a:lvl9pPr marL="18288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9pPr>
          </a:lstStyle>
          <a:p>
            <a:pPr algn="r" eaLnBrk="1" hangingPunct="1">
              <a:defRPr/>
            </a:pPr>
            <a:r>
              <a:rPr lang="zh-CN" altLang="en-US" b="0" smtClean="0"/>
              <a:t>单击此处编辑母版标题样式</a:t>
            </a:r>
          </a:p>
        </p:txBody>
      </p:sp>
      <p:sp>
        <p:nvSpPr>
          <p:cNvPr id="371729" name="Rectangle 17"/>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a:noFill/>
          </a:ln>
          <a:effectLst>
            <a:outerShdw dist="56796" dir="1593903" algn="ctr" rotWithShape="0">
              <a:srgbClr val="DDDDDD"/>
            </a:outerShdw>
          </a:effectLst>
          <a:extLst>
            <a:ext uri="{91240B29-F687-4F45-9708-019B960494DF}">
              <a14:hiddenLine xmlns:a14="http://schemas.microsoft.com/office/drawing/2010/main" w="9525">
                <a:solidFill>
                  <a:schemeClr val="bg1"/>
                </a:solidFill>
                <a:miter lim="800000"/>
                <a:headEnd/>
                <a:tailEnd/>
              </a14:hiddenLine>
            </a:ext>
          </a:extLst>
        </p:spPr>
        <p:txBody>
          <a:bodyPr wrap="none" anchor="ct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Clr>
                <a:srgbClr val="3366FF"/>
              </a:buClr>
              <a:buFont typeface="Wingdings" panose="05000000000000000000" pitchFamily="2" charset="2"/>
              <a:buChar char="l"/>
              <a:defRPr/>
            </a:pPr>
            <a:endParaRPr lang="zh-CN" altLang="zh-CN" sz="2800" smtClean="0">
              <a:solidFill>
                <a:schemeClr val="accent2"/>
              </a:solidFill>
              <a:ea typeface="黑体" panose="02010609060101010101" pitchFamily="49" charset="-122"/>
            </a:endParaRPr>
          </a:p>
        </p:txBody>
      </p:sp>
      <p:sp>
        <p:nvSpPr>
          <p:cNvPr id="371730" name="Rectangle 18"/>
          <p:cNvSpPr>
            <a:spLocks noChangeArrowheads="1"/>
          </p:cNvSpPr>
          <p:nvPr/>
        </p:nvSpPr>
        <p:spPr bwMode="auto">
          <a:xfrm>
            <a:off x="719138" y="7938"/>
            <a:ext cx="7696200" cy="7207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0"/>
              </a:spcBef>
              <a:defRPr kumimoji="1" sz="3200">
                <a:solidFill>
                  <a:schemeClr val="bg1"/>
                </a:solidFill>
                <a:latin typeface="Arial" panose="020B0604020202020204" pitchFamily="34" charset="0"/>
                <a:ea typeface="黑体" panose="02010609060101010101" pitchFamily="49" charset="-122"/>
              </a:defRPr>
            </a:lvl1pPr>
            <a:lvl2pPr>
              <a:spcBef>
                <a:spcPct val="0"/>
              </a:spcBef>
              <a:defRPr kumimoji="1" sz="3200">
                <a:solidFill>
                  <a:schemeClr val="bg1"/>
                </a:solidFill>
                <a:latin typeface="Arial" panose="020B0604020202020204" pitchFamily="34" charset="0"/>
                <a:ea typeface="黑体" panose="02010609060101010101" pitchFamily="49" charset="-122"/>
              </a:defRPr>
            </a:lvl2pPr>
            <a:lvl3pPr>
              <a:spcBef>
                <a:spcPct val="0"/>
              </a:spcBef>
              <a:defRPr kumimoji="1" sz="3200">
                <a:solidFill>
                  <a:schemeClr val="bg1"/>
                </a:solidFill>
                <a:latin typeface="Arial" panose="020B0604020202020204" pitchFamily="34" charset="0"/>
                <a:ea typeface="黑体" panose="02010609060101010101" pitchFamily="49" charset="-122"/>
              </a:defRPr>
            </a:lvl3pPr>
            <a:lvl4pPr>
              <a:spcBef>
                <a:spcPct val="0"/>
              </a:spcBef>
              <a:defRPr kumimoji="1" sz="3200">
                <a:solidFill>
                  <a:schemeClr val="bg1"/>
                </a:solidFill>
                <a:latin typeface="Arial" panose="020B0604020202020204" pitchFamily="34" charset="0"/>
                <a:ea typeface="黑体" panose="02010609060101010101" pitchFamily="49" charset="-122"/>
              </a:defRPr>
            </a:lvl4pPr>
            <a:lvl5pPr>
              <a:spcBef>
                <a:spcPct val="0"/>
              </a:spcBef>
              <a:defRPr kumimoji="1" sz="3200">
                <a:solidFill>
                  <a:schemeClr val="bg1"/>
                </a:solidFill>
                <a:latin typeface="Arial" panose="020B0604020202020204" pitchFamily="34" charset="0"/>
                <a:ea typeface="黑体" panose="02010609060101010101" pitchFamily="49" charset="-122"/>
              </a:defRPr>
            </a:lvl5pPr>
            <a:lvl6pPr marL="4572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6pPr>
            <a:lvl7pPr marL="9144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7pPr>
            <a:lvl8pPr marL="13716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8pPr>
            <a:lvl9pPr marL="1828800" algn="r"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9pPr>
          </a:lstStyle>
          <a:p>
            <a:pPr algn="r" eaLnBrk="1" hangingPunct="1">
              <a:defRPr/>
            </a:pPr>
            <a:r>
              <a:rPr lang="zh-CN" altLang="en-US" b="0" smtClean="0"/>
              <a:t>单击此处编辑母版标题样式</a:t>
            </a:r>
          </a:p>
        </p:txBody>
      </p:sp>
      <p:sp>
        <p:nvSpPr>
          <p:cNvPr id="371731" name="Rectangle 19"/>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a:noFill/>
          </a:ln>
          <a:effectLst>
            <a:outerShdw dist="56796" dir="1593903" algn="ctr" rotWithShape="0">
              <a:srgbClr val="DDDDDD"/>
            </a:outerShdw>
          </a:effectLst>
          <a:extLst>
            <a:ext uri="{91240B29-F687-4F45-9708-019B960494DF}">
              <a14:hiddenLine xmlns:a14="http://schemas.microsoft.com/office/drawing/2010/main" w="9525">
                <a:solidFill>
                  <a:schemeClr val="bg1"/>
                </a:solidFill>
                <a:miter lim="800000"/>
                <a:headEnd/>
                <a:tailEnd/>
              </a14:hiddenLine>
            </a:ext>
          </a:extLst>
        </p:spPr>
        <p:txBody>
          <a:bodyPr wrap="none" anchor="ct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Clr>
                <a:srgbClr val="3366FF"/>
              </a:buClr>
              <a:buFont typeface="Wingdings" panose="05000000000000000000" pitchFamily="2" charset="2"/>
              <a:buChar char="l"/>
              <a:defRPr/>
            </a:pPr>
            <a:endParaRPr lang="zh-CN" altLang="zh-CN" sz="2800" b="0" smtClean="0">
              <a:solidFill>
                <a:schemeClr val="accent2"/>
              </a:solidFill>
              <a:ea typeface="黑体" panose="02010609060101010101" pitchFamily="49" charset="-122"/>
            </a:endParaRPr>
          </a:p>
        </p:txBody>
      </p:sp>
      <p:graphicFrame>
        <p:nvGraphicFramePr>
          <p:cNvPr id="1036" name="Object 20"/>
          <p:cNvGraphicFramePr>
            <a:graphicFrameLocks noChangeAspect="1"/>
          </p:cNvGraphicFramePr>
          <p:nvPr/>
        </p:nvGraphicFramePr>
        <p:xfrm>
          <a:off x="0" y="188913"/>
          <a:ext cx="9144000" cy="1008062"/>
        </p:xfrm>
        <a:graphic>
          <a:graphicData uri="http://schemas.openxmlformats.org/presentationml/2006/ole">
            <mc:AlternateContent xmlns:mc="http://schemas.openxmlformats.org/markup-compatibility/2006">
              <mc:Choice xmlns:v="urn:schemas-microsoft-com:vml" Requires="v">
                <p:oleObj spid="_x0000_s1085" name="Image" r:id="rId17" imgW="15290800" imgH="1549400" progId="Photoshop.Image.7">
                  <p:embed/>
                </p:oleObj>
              </mc:Choice>
              <mc:Fallback>
                <p:oleObj name="Image" r:id="rId17" imgW="15290800" imgH="1549400" progId="Photoshop.Image.7">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188913"/>
                        <a:ext cx="9144000"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7" name="Rectangle 21"/>
          <p:cNvSpPr>
            <a:spLocks noChangeArrowheads="1"/>
          </p:cNvSpPr>
          <p:nvPr/>
        </p:nvSpPr>
        <p:spPr bwMode="ltGray">
          <a:xfrm>
            <a:off x="0" y="0"/>
            <a:ext cx="9144000" cy="241300"/>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spcBef>
                <a:spcPct val="20000"/>
              </a:spcBef>
              <a:buClr>
                <a:srgbClr val="3366FF"/>
              </a:buClr>
              <a:buFont typeface="Wingdings" panose="05000000000000000000" pitchFamily="2" charset="2"/>
              <a:buChar char="l"/>
              <a:defRPr kumimoji="1" sz="2800" b="1">
                <a:solidFill>
                  <a:schemeClr val="accent2"/>
                </a:solidFill>
                <a:latin typeface="Times New Roman" panose="02020603050405020304" pitchFamily="18" charset="0"/>
                <a:ea typeface="黑体" panose="02010609060101010101" pitchFamily="49" charset="-122"/>
              </a:defRPr>
            </a:lvl1pPr>
            <a:lvl2pPr marL="742950" indent="-285750" algn="r">
              <a:spcBef>
                <a:spcPct val="20000"/>
              </a:spcBef>
              <a:buClr>
                <a:srgbClr val="3366FF"/>
              </a:buClr>
              <a:buFont typeface="Wingdings" panose="05000000000000000000" pitchFamily="2" charset="2"/>
              <a:buChar char="l"/>
              <a:defRPr kumimoji="1" sz="2800" b="1">
                <a:solidFill>
                  <a:schemeClr val="accent2"/>
                </a:solidFill>
                <a:latin typeface="Times New Roman" panose="02020603050405020304" pitchFamily="18" charset="0"/>
                <a:ea typeface="黑体" panose="02010609060101010101" pitchFamily="49" charset="-122"/>
              </a:defRPr>
            </a:lvl2pPr>
            <a:lvl3pPr marL="1143000" indent="-228600" algn="r">
              <a:spcBef>
                <a:spcPct val="20000"/>
              </a:spcBef>
              <a:buClr>
                <a:srgbClr val="3366FF"/>
              </a:buClr>
              <a:buFont typeface="Wingdings" panose="05000000000000000000" pitchFamily="2" charset="2"/>
              <a:buChar char="l"/>
              <a:defRPr kumimoji="1" sz="2800" b="1">
                <a:solidFill>
                  <a:schemeClr val="accent2"/>
                </a:solidFill>
                <a:latin typeface="Times New Roman" panose="02020603050405020304" pitchFamily="18" charset="0"/>
                <a:ea typeface="黑体" panose="02010609060101010101" pitchFamily="49" charset="-122"/>
              </a:defRPr>
            </a:lvl3pPr>
            <a:lvl4pPr marL="1600200" indent="-228600" algn="r">
              <a:spcBef>
                <a:spcPct val="20000"/>
              </a:spcBef>
              <a:buClr>
                <a:srgbClr val="3366FF"/>
              </a:buClr>
              <a:buFont typeface="Wingdings" panose="05000000000000000000" pitchFamily="2" charset="2"/>
              <a:buChar char="l"/>
              <a:defRPr kumimoji="1" sz="2800" b="1">
                <a:solidFill>
                  <a:schemeClr val="accent2"/>
                </a:solidFill>
                <a:latin typeface="Times New Roman" panose="02020603050405020304" pitchFamily="18" charset="0"/>
                <a:ea typeface="黑体" panose="02010609060101010101" pitchFamily="49" charset="-122"/>
              </a:defRPr>
            </a:lvl4pPr>
            <a:lvl5pPr marL="2057400" indent="-228600" algn="r">
              <a:spcBef>
                <a:spcPct val="20000"/>
              </a:spcBef>
              <a:buClr>
                <a:srgbClr val="3366FF"/>
              </a:buClr>
              <a:buFont typeface="Wingdings" panose="05000000000000000000" pitchFamily="2" charset="2"/>
              <a:buChar char="l"/>
              <a:defRPr kumimoji="1" sz="2800" b="1">
                <a:solidFill>
                  <a:schemeClr val="accent2"/>
                </a:solidFill>
                <a:latin typeface="Times New Roman" panose="02020603050405020304" pitchFamily="18" charset="0"/>
                <a:ea typeface="黑体" panose="02010609060101010101" pitchFamily="49" charset="-122"/>
              </a:defRPr>
            </a:lvl5pPr>
            <a:lvl6pPr marL="2514600" indent="-228600" algn="r" eaLnBrk="0" fontAlgn="base" hangingPunct="0">
              <a:spcBef>
                <a:spcPct val="20000"/>
              </a:spcBef>
              <a:spcAft>
                <a:spcPct val="0"/>
              </a:spcAft>
              <a:buClr>
                <a:srgbClr val="3366FF"/>
              </a:buClr>
              <a:buFont typeface="Wingdings" panose="05000000000000000000" pitchFamily="2" charset="2"/>
              <a:buChar char="l"/>
              <a:defRPr kumimoji="1" sz="2800" b="1">
                <a:solidFill>
                  <a:schemeClr val="accent2"/>
                </a:solidFill>
                <a:latin typeface="Times New Roman" panose="02020603050405020304" pitchFamily="18" charset="0"/>
                <a:ea typeface="黑体" panose="02010609060101010101" pitchFamily="49" charset="-122"/>
              </a:defRPr>
            </a:lvl6pPr>
            <a:lvl7pPr marL="2971800" indent="-228600" algn="r" eaLnBrk="0" fontAlgn="base" hangingPunct="0">
              <a:spcBef>
                <a:spcPct val="20000"/>
              </a:spcBef>
              <a:spcAft>
                <a:spcPct val="0"/>
              </a:spcAft>
              <a:buClr>
                <a:srgbClr val="3366FF"/>
              </a:buClr>
              <a:buFont typeface="Wingdings" panose="05000000000000000000" pitchFamily="2" charset="2"/>
              <a:buChar char="l"/>
              <a:defRPr kumimoji="1" sz="2800" b="1">
                <a:solidFill>
                  <a:schemeClr val="accent2"/>
                </a:solidFill>
                <a:latin typeface="Times New Roman" panose="02020603050405020304" pitchFamily="18" charset="0"/>
                <a:ea typeface="黑体" panose="02010609060101010101" pitchFamily="49" charset="-122"/>
              </a:defRPr>
            </a:lvl7pPr>
            <a:lvl8pPr marL="3429000" indent="-228600" algn="r" eaLnBrk="0" fontAlgn="base" hangingPunct="0">
              <a:spcBef>
                <a:spcPct val="20000"/>
              </a:spcBef>
              <a:spcAft>
                <a:spcPct val="0"/>
              </a:spcAft>
              <a:buClr>
                <a:srgbClr val="3366FF"/>
              </a:buClr>
              <a:buFont typeface="Wingdings" panose="05000000000000000000" pitchFamily="2" charset="2"/>
              <a:buChar char="l"/>
              <a:defRPr kumimoji="1" sz="2800" b="1">
                <a:solidFill>
                  <a:schemeClr val="accent2"/>
                </a:solidFill>
                <a:latin typeface="Times New Roman" panose="02020603050405020304" pitchFamily="18" charset="0"/>
                <a:ea typeface="黑体" panose="02010609060101010101" pitchFamily="49" charset="-122"/>
              </a:defRPr>
            </a:lvl8pPr>
            <a:lvl9pPr marL="3886200" indent="-228600" algn="r" eaLnBrk="0" fontAlgn="base" hangingPunct="0">
              <a:spcBef>
                <a:spcPct val="20000"/>
              </a:spcBef>
              <a:spcAft>
                <a:spcPct val="0"/>
              </a:spcAft>
              <a:buClr>
                <a:srgbClr val="3366FF"/>
              </a:buClr>
              <a:buFont typeface="Wingdings" panose="05000000000000000000" pitchFamily="2" charset="2"/>
              <a:buChar char="l"/>
              <a:defRPr kumimoji="1" sz="2800" b="1">
                <a:solidFill>
                  <a:schemeClr val="accent2"/>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defRPr/>
            </a:pPr>
            <a:endParaRPr kumimoji="0" lang="zh-CN" altLang="zh-CN" sz="1800" b="0" smtClean="0">
              <a:solidFill>
                <a:schemeClr val="tx1"/>
              </a:solidFill>
              <a:latin typeface="Arial" panose="020B0604020202020204" pitchFamily="34" charset="0"/>
              <a:ea typeface="宋体" panose="02010600030101010101" pitchFamily="2" charset="-122"/>
            </a:endParaRPr>
          </a:p>
        </p:txBody>
      </p:sp>
      <p:sp>
        <p:nvSpPr>
          <p:cNvPr id="1038" name="Freeform 22"/>
          <p:cNvSpPr/>
          <p:nvPr/>
        </p:nvSpPr>
        <p:spPr bwMode="white">
          <a:xfrm>
            <a:off x="0" y="908050"/>
            <a:ext cx="9144000" cy="461963"/>
          </a:xfrm>
          <a:custGeom>
            <a:avLst/>
            <a:gdLst>
              <a:gd name="T0" fmla="*/ 10052376 w 5768"/>
              <a:gd name="T1" fmla="*/ 581494033 h 366"/>
              <a:gd name="T2" fmla="*/ 0 w 5768"/>
              <a:gd name="T3" fmla="*/ 391911234 h 366"/>
              <a:gd name="T4" fmla="*/ 2147483646 w 5768"/>
              <a:gd name="T5" fmla="*/ 50980015 h 366"/>
              <a:gd name="T6" fmla="*/ 2147483646 w 5768"/>
              <a:gd name="T7" fmla="*/ 82842840 h 366"/>
              <a:gd name="T8" fmla="*/ 2147483646 w 5768"/>
              <a:gd name="T9" fmla="*/ 368014115 h 366"/>
              <a:gd name="T10" fmla="*/ 2147483646 w 5768"/>
              <a:gd name="T11" fmla="*/ 583086922 h 366"/>
              <a:gd name="T12" fmla="*/ 10052376 w 5768"/>
              <a:gd name="T13" fmla="*/ 581494033 h 3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8" h="366">
                <a:moveTo>
                  <a:pt x="4" y="365"/>
                </a:moveTo>
                <a:lnTo>
                  <a:pt x="0" y="246"/>
                </a:lnTo>
                <a:cubicBezTo>
                  <a:pt x="304" y="192"/>
                  <a:pt x="1175" y="64"/>
                  <a:pt x="1837" y="32"/>
                </a:cubicBezTo>
                <a:cubicBezTo>
                  <a:pt x="2499" y="0"/>
                  <a:pt x="3316" y="19"/>
                  <a:pt x="3970" y="52"/>
                </a:cubicBezTo>
                <a:cubicBezTo>
                  <a:pt x="4624" y="85"/>
                  <a:pt x="5464" y="179"/>
                  <a:pt x="5764" y="231"/>
                </a:cubicBezTo>
                <a:lnTo>
                  <a:pt x="5768" y="366"/>
                </a:lnTo>
                <a:lnTo>
                  <a:pt x="4" y="365"/>
                </a:ln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r" rtl="0" eaLnBrk="0" fontAlgn="base" hangingPunct="0">
        <a:spcBef>
          <a:spcPct val="0"/>
        </a:spcBef>
        <a:spcAft>
          <a:spcPct val="0"/>
        </a:spcAft>
        <a:defRPr kumimoji="1" sz="3200" kern="1200">
          <a:solidFill>
            <a:schemeClr val="bg1"/>
          </a:solidFill>
          <a:latin typeface="+mj-lt"/>
          <a:ea typeface="+mj-ea"/>
          <a:cs typeface="+mj-cs"/>
        </a:defRPr>
      </a:lvl1pPr>
      <a:lvl2pPr algn="r" rtl="0" eaLnBrk="0" fontAlgn="base" hangingPunct="0">
        <a:spcBef>
          <a:spcPct val="0"/>
        </a:spcBef>
        <a:spcAft>
          <a:spcPct val="0"/>
        </a:spcAft>
        <a:defRPr kumimoji="1" sz="3200">
          <a:solidFill>
            <a:schemeClr val="bg1"/>
          </a:solidFill>
          <a:latin typeface="Arial" panose="020B0604020202020204" pitchFamily="34" charset="0"/>
          <a:ea typeface="黑体" panose="02010609060101010101" pitchFamily="49" charset="-122"/>
        </a:defRPr>
      </a:lvl2pPr>
      <a:lvl3pPr algn="r" rtl="0" eaLnBrk="0" fontAlgn="base" hangingPunct="0">
        <a:spcBef>
          <a:spcPct val="0"/>
        </a:spcBef>
        <a:spcAft>
          <a:spcPct val="0"/>
        </a:spcAft>
        <a:defRPr kumimoji="1" sz="3200">
          <a:solidFill>
            <a:schemeClr val="bg1"/>
          </a:solidFill>
          <a:latin typeface="Arial" panose="020B0604020202020204" pitchFamily="34" charset="0"/>
          <a:ea typeface="黑体" panose="02010609060101010101" pitchFamily="49" charset="-122"/>
        </a:defRPr>
      </a:lvl3pPr>
      <a:lvl4pPr algn="r" rtl="0" eaLnBrk="0" fontAlgn="base" hangingPunct="0">
        <a:spcBef>
          <a:spcPct val="0"/>
        </a:spcBef>
        <a:spcAft>
          <a:spcPct val="0"/>
        </a:spcAft>
        <a:defRPr kumimoji="1" sz="3200">
          <a:solidFill>
            <a:schemeClr val="bg1"/>
          </a:solidFill>
          <a:latin typeface="Arial" panose="020B0604020202020204" pitchFamily="34" charset="0"/>
          <a:ea typeface="黑体" panose="02010609060101010101" pitchFamily="49" charset="-122"/>
        </a:defRPr>
      </a:lvl4pPr>
      <a:lvl5pPr algn="r" rtl="0" eaLnBrk="0" fontAlgn="base" hangingPunct="0">
        <a:spcBef>
          <a:spcPct val="0"/>
        </a:spcBef>
        <a:spcAft>
          <a:spcPct val="0"/>
        </a:spcAft>
        <a:defRPr kumimoji="1" sz="3200">
          <a:solidFill>
            <a:schemeClr val="bg1"/>
          </a:solidFill>
          <a:latin typeface="Arial" panose="020B0604020202020204" pitchFamily="34" charset="0"/>
          <a:ea typeface="黑体" panose="02010609060101010101" pitchFamily="49" charset="-122"/>
        </a:defRPr>
      </a:lvl5pPr>
      <a:lvl6pPr marL="457200" algn="r" rtl="0"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6pPr>
      <a:lvl7pPr marL="914400" algn="r" rtl="0"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7pPr>
      <a:lvl8pPr marL="1371600" algn="r" rtl="0"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8pPr>
      <a:lvl9pPr marL="1828800" algn="r" rtl="0" fontAlgn="base">
        <a:spcBef>
          <a:spcPct val="0"/>
        </a:spcBef>
        <a:spcAft>
          <a:spcPct val="0"/>
        </a:spcAft>
        <a:defRPr kumimoji="1" sz="3200">
          <a:solidFill>
            <a:schemeClr val="bg1"/>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kern="1200">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kern="1200">
          <a:solidFill>
            <a:srgbClr val="003399"/>
          </a:solidFill>
          <a:latin typeface="+mn-lt"/>
          <a:ea typeface="+mn-ea"/>
          <a:cs typeface="+mn-cs"/>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kern="1200">
          <a:solidFill>
            <a:srgbClr val="CC6600"/>
          </a:solidFill>
          <a:latin typeface="+mn-lt"/>
          <a:ea typeface="+mn-ea"/>
          <a:cs typeface="+mn-cs"/>
        </a:defRPr>
      </a:lvl3pPr>
      <a:lvl4pPr marL="1600200" indent="-228600" algn="l" rtl="0" eaLnBrk="0" fontAlgn="base" hangingPunct="0">
        <a:spcBef>
          <a:spcPct val="20000"/>
        </a:spcBef>
        <a:spcAft>
          <a:spcPct val="0"/>
        </a:spcAft>
        <a:buClr>
          <a:srgbClr val="256EFF"/>
        </a:buClr>
        <a:buChar char="–"/>
        <a:defRPr kumimoji="1" sz="2000" b="1" kern="1200">
          <a:solidFill>
            <a:schemeClr val="bg2"/>
          </a:solidFill>
          <a:latin typeface="+mn-lt"/>
          <a:ea typeface="+mn-ea"/>
          <a:cs typeface="+mn-cs"/>
        </a:defRPr>
      </a:lvl4pPr>
      <a:lvl5pPr marL="2057400" indent="-228600" algn="l" rtl="0" eaLnBrk="0" fontAlgn="base" hangingPunct="0">
        <a:spcBef>
          <a:spcPct val="20000"/>
        </a:spcBef>
        <a:spcAft>
          <a:spcPct val="0"/>
        </a:spcAft>
        <a:buClr>
          <a:srgbClr val="256EFF"/>
        </a:buClr>
        <a:buChar char="•"/>
        <a:defRPr kumimoji="1" sz="2000" b="1"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1.emf"/><Relationship Id="rId4"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2.emf"/><Relationship Id="rId4" Type="http://schemas.openxmlformats.org/officeDocument/2006/relationships/oleObject" Target="../embeddings/oleObject4.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3.emf"/><Relationship Id="rId4" Type="http://schemas.openxmlformats.org/officeDocument/2006/relationships/oleObject" Target="../embeddings/oleObject5.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4.emf"/><Relationship Id="rId4" Type="http://schemas.openxmlformats.org/officeDocument/2006/relationships/oleObject" Target="../embeddings/oleObject6.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15.emf"/><Relationship Id="rId4" Type="http://schemas.openxmlformats.org/officeDocument/2006/relationships/oleObject" Target="../embeddings/oleObject7.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7.emf"/><Relationship Id="rId4" Type="http://schemas.openxmlformats.org/officeDocument/2006/relationships/oleObject" Target="../embeddings/oleObject8.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8.emf"/><Relationship Id="rId4" Type="http://schemas.openxmlformats.org/officeDocument/2006/relationships/oleObject" Target="../embeddings/oleObject9.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vmlDrawing" Target="../drawings/vmlDrawing10.vml"/><Relationship Id="rId5" Type="http://schemas.openxmlformats.org/officeDocument/2006/relationships/image" Target="../media/image20.emf"/><Relationship Id="rId4" Type="http://schemas.openxmlformats.org/officeDocument/2006/relationships/oleObject" Target="../embeddings/oleObject10.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vmlDrawing" Target="../drawings/vmlDrawing11.vml"/><Relationship Id="rId5" Type="http://schemas.openxmlformats.org/officeDocument/2006/relationships/image" Target="../media/image21.emf"/><Relationship Id="rId4" Type="http://schemas.openxmlformats.org/officeDocument/2006/relationships/oleObject" Target="../embeddings/oleObject11.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3.emf"/><Relationship Id="rId4" Type="http://schemas.openxmlformats.org/officeDocument/2006/relationships/oleObject" Target="../embeddings/oleObject12.bin"/></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25.wmf"/><Relationship Id="rId4" Type="http://schemas.openxmlformats.org/officeDocument/2006/relationships/oleObject" Target="../embeddings/oleObject13.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6.wmf"/></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27.emf"/><Relationship Id="rId4" Type="http://schemas.openxmlformats.org/officeDocument/2006/relationships/oleObject" Target="../embeddings/oleObject15.bin"/></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28.emf"/><Relationship Id="rId4" Type="http://schemas.openxmlformats.org/officeDocument/2006/relationships/oleObject" Target="../embeddings/oleObject16.bin"/></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9.emf"/><Relationship Id="rId4" Type="http://schemas.openxmlformats.org/officeDocument/2006/relationships/oleObject" Target="../embeddings/oleObject17.bin"/></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30.wmf"/><Relationship Id="rId4" Type="http://schemas.openxmlformats.org/officeDocument/2006/relationships/oleObject" Target="../embeddings/oleObject18.bin"/></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32.png"/><Relationship Id="rId4" Type="http://schemas.openxmlformats.org/officeDocument/2006/relationships/oleObject" Target="../embeddings/oleObject19.bin"/></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33.emf"/><Relationship Id="rId4" Type="http://schemas.openxmlformats.org/officeDocument/2006/relationships/oleObject" Target="../embeddings/oleObject20.bin"/></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34.emf"/><Relationship Id="rId4" Type="http://schemas.openxmlformats.org/officeDocument/2006/relationships/oleObject" Target="../embeddings/oleObject21.bin"/></Relationships>
</file>

<file path=ppt/slides/_rels/slide8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7.xml"/><Relationship Id="rId7" Type="http://schemas.openxmlformats.org/officeDocument/2006/relationships/image" Target="../media/image37.e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23.bin"/><Relationship Id="rId5" Type="http://schemas.openxmlformats.org/officeDocument/2006/relationships/image" Target="../media/image36.emf"/><Relationship Id="rId4" Type="http://schemas.openxmlformats.org/officeDocument/2006/relationships/oleObject" Target="../embeddings/oleObject22.bin"/></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38.emf"/><Relationship Id="rId4" Type="http://schemas.openxmlformats.org/officeDocument/2006/relationships/oleObject" Target="../embeddings/oleObject24.bin"/></Relationships>
</file>

<file path=ppt/slides/_rels/slide92.xml.rels><?xml version="1.0" encoding="UTF-8" standalone="yes"?>
<Relationships xmlns="http://schemas.openxmlformats.org/package/2006/relationships"><Relationship Id="rId2" Type="http://schemas.openxmlformats.org/officeDocument/2006/relationships/hyperlink" Target="https://baike.baidu.com/item/%E7%A7%BB%E5%8A%A8%E9%80%9A%E4%BF%A1"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Rot="1"/>
          </p:cNvSpPr>
          <p:nvPr>
            <p:ph type="ctrTitle"/>
          </p:nvPr>
        </p:nvSpPr>
        <p:spPr/>
        <p:txBody>
          <a:bodyPr lIns="91440" tIns="45720" rIns="91440" bIns="45720"/>
          <a:lstStyle/>
          <a:p>
            <a:pPr eaLnBrk="1" hangingPunct="1">
              <a:defRPr/>
            </a:pPr>
            <a:r>
              <a:rPr lang="zh-CN" altLang="en-US" sz="7200" b="1" kern="1200" dirty="0">
                <a:solidFill>
                  <a:srgbClr val="000099"/>
                </a:solidFill>
                <a:latin typeface="华文中宋" panose="02010600040101010101" charset="-122"/>
                <a:ea typeface="华文中宋" panose="02010600040101010101" charset="-122"/>
              </a:rPr>
              <a:t>计算机网络</a:t>
            </a:r>
          </a:p>
        </p:txBody>
      </p:sp>
      <p:sp>
        <p:nvSpPr>
          <p:cNvPr id="4100" name="Rectangle 3"/>
          <p:cNvSpPr>
            <a:spLocks noGrp="1" noRot="1"/>
          </p:cNvSpPr>
          <p:nvPr>
            <p:ph type="subTitle" idx="1"/>
          </p:nvPr>
        </p:nvSpPr>
        <p:spPr/>
        <p:txBody>
          <a:bodyPr/>
          <a:lstStyle/>
          <a:p>
            <a:pPr eaLnBrk="1" hangingPunct="1">
              <a:defRPr/>
            </a:pPr>
            <a:r>
              <a:rPr lang="zh-CN" altLang="en-US" sz="2800" kern="1200" dirty="0">
                <a:solidFill>
                  <a:srgbClr val="000099"/>
                </a:solidFill>
              </a:rPr>
              <a:t>西安交通大学</a:t>
            </a:r>
          </a:p>
          <a:p>
            <a:pPr eaLnBrk="1" hangingPunct="1">
              <a:defRPr/>
            </a:pPr>
            <a:r>
              <a:rPr lang="zh-CN" altLang="en-US" sz="2800" kern="1200" dirty="0">
                <a:solidFill>
                  <a:srgbClr val="000099"/>
                </a:solidFill>
              </a:rPr>
              <a:t>计算机科学与技术学院</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zh-CN" altLang="en-US" sz="3800" dirty="0" smtClean="0"/>
              <a:t>第六章 数据链路控制</a:t>
            </a:r>
          </a:p>
        </p:txBody>
      </p:sp>
      <p:sp>
        <p:nvSpPr>
          <p:cNvPr id="5123" name="Rectangle 3"/>
          <p:cNvSpPr>
            <a:spLocks noGrp="1" noChangeArrowheads="1"/>
          </p:cNvSpPr>
          <p:nvPr>
            <p:ph type="body" idx="1"/>
          </p:nvPr>
        </p:nvSpPr>
        <p:spPr>
          <a:xfrm>
            <a:off x="1619672" y="1196752"/>
            <a:ext cx="6019800" cy="4680520"/>
          </a:xfrm>
        </p:spPr>
        <p:txBody>
          <a:bodyPr/>
          <a:lstStyle/>
          <a:p>
            <a:pPr marL="538480" indent="-538480" eaLnBrk="1" hangingPunct="1">
              <a:spcBef>
                <a:spcPts val="1200"/>
              </a:spcBef>
            </a:pPr>
            <a:r>
              <a:rPr lang="zh-CN" altLang="en-US" sz="2800" dirty="0" smtClean="0">
                <a:solidFill>
                  <a:srgbClr val="0066CC"/>
                </a:solidFill>
                <a:latin typeface="+mj-ea"/>
                <a:ea typeface="+mj-ea"/>
              </a:rPr>
              <a:t>数据链路层概述</a:t>
            </a:r>
            <a:endParaRPr lang="en-US" altLang="zh-CN" sz="2800" dirty="0" smtClean="0">
              <a:solidFill>
                <a:srgbClr val="0066CC"/>
              </a:solidFill>
              <a:latin typeface="+mj-ea"/>
              <a:ea typeface="+mj-ea"/>
            </a:endParaRPr>
          </a:p>
          <a:p>
            <a:pPr marL="538480" indent="-538480" eaLnBrk="1" hangingPunct="1">
              <a:spcBef>
                <a:spcPts val="1200"/>
              </a:spcBef>
            </a:pPr>
            <a:r>
              <a:rPr lang="zh-CN" altLang="en-US" sz="2800" dirty="0" smtClean="0">
                <a:solidFill>
                  <a:srgbClr val="0066CC"/>
                </a:solidFill>
                <a:latin typeface="+mj-ea"/>
                <a:ea typeface="+mj-ea"/>
              </a:rPr>
              <a:t>帧边界划分方法</a:t>
            </a:r>
            <a:endParaRPr lang="en-US" altLang="zh-CN" sz="2800" dirty="0" smtClean="0">
              <a:solidFill>
                <a:srgbClr val="0066CC"/>
              </a:solidFill>
              <a:latin typeface="+mj-ea"/>
              <a:ea typeface="+mj-ea"/>
            </a:endParaRPr>
          </a:p>
          <a:p>
            <a:pPr marL="538480" indent="-538480" eaLnBrk="1" hangingPunct="1">
              <a:spcBef>
                <a:spcPts val="1200"/>
              </a:spcBef>
            </a:pPr>
            <a:r>
              <a:rPr lang="zh-CN" altLang="en-US" sz="2800" dirty="0" smtClean="0">
                <a:solidFill>
                  <a:srgbClr val="0066CC"/>
                </a:solidFill>
                <a:latin typeface="+mj-ea"/>
                <a:ea typeface="+mj-ea"/>
              </a:rPr>
              <a:t>差错控制</a:t>
            </a:r>
          </a:p>
          <a:p>
            <a:pPr marL="538480" indent="-538480" eaLnBrk="1" hangingPunct="1">
              <a:spcBef>
                <a:spcPts val="1200"/>
              </a:spcBef>
            </a:pPr>
            <a:r>
              <a:rPr lang="zh-CN" altLang="en-US" sz="2800" dirty="0" smtClean="0">
                <a:solidFill>
                  <a:srgbClr val="0066CC"/>
                </a:solidFill>
                <a:latin typeface="+mj-ea"/>
                <a:ea typeface="+mj-ea"/>
              </a:rPr>
              <a:t>流量控制</a:t>
            </a:r>
            <a:endParaRPr lang="en-US" altLang="zh-CN" sz="2800" dirty="0" smtClean="0">
              <a:solidFill>
                <a:srgbClr val="0066CC"/>
              </a:solidFill>
              <a:latin typeface="+mj-ea"/>
              <a:ea typeface="+mj-ea"/>
            </a:endParaRPr>
          </a:p>
          <a:p>
            <a:pPr marL="538480" indent="-538480" eaLnBrk="1" hangingPunct="1">
              <a:spcBef>
                <a:spcPts val="1200"/>
              </a:spcBef>
            </a:pPr>
            <a:r>
              <a:rPr lang="zh-CN" altLang="en-US" sz="2800" dirty="0" smtClean="0">
                <a:solidFill>
                  <a:srgbClr val="0066CC"/>
                </a:solidFill>
                <a:latin typeface="+mj-ea"/>
                <a:ea typeface="+mj-ea"/>
              </a:rPr>
              <a:t>广播信道访问控制</a:t>
            </a:r>
          </a:p>
          <a:p>
            <a:pPr marL="538480" indent="-538480" eaLnBrk="1" hangingPunct="1">
              <a:spcBef>
                <a:spcPts val="1200"/>
              </a:spcBef>
            </a:pPr>
            <a:r>
              <a:rPr lang="zh-CN" altLang="en-US" sz="2800" dirty="0" smtClean="0">
                <a:solidFill>
                  <a:srgbClr val="0066CC"/>
                </a:solidFill>
                <a:latin typeface="+mj-ea"/>
                <a:ea typeface="+mj-ea"/>
              </a:rPr>
              <a:t>点对点数据链路协议</a:t>
            </a:r>
            <a:endParaRPr lang="en-US" altLang="zh-CN" sz="2800" dirty="0" smtClean="0">
              <a:solidFill>
                <a:srgbClr val="0066CC"/>
              </a:solidFill>
              <a:latin typeface="+mj-ea"/>
              <a:ea typeface="+mj-ea"/>
            </a:endParaRPr>
          </a:p>
          <a:p>
            <a:pPr marL="538480" indent="-538480" eaLnBrk="1" hangingPunct="1">
              <a:spcBef>
                <a:spcPts val="1200"/>
              </a:spcBef>
            </a:pPr>
            <a:r>
              <a:rPr lang="zh-CN" altLang="en-US" sz="2800" dirty="0" smtClean="0">
                <a:solidFill>
                  <a:srgbClr val="0066CC"/>
                </a:solidFill>
                <a:latin typeface="+mj-ea"/>
                <a:ea typeface="+mj-ea"/>
              </a:rPr>
              <a:t>以太网</a:t>
            </a:r>
            <a:endParaRPr lang="en-US" altLang="zh-CN" sz="2800" dirty="0" smtClean="0">
              <a:solidFill>
                <a:srgbClr val="0066CC"/>
              </a:solidFill>
              <a:latin typeface="+mj-ea"/>
              <a:ea typeface="+mj-ea"/>
            </a:endParaRPr>
          </a:p>
          <a:p>
            <a:pPr marL="538480" indent="-538480" eaLnBrk="1" hangingPunct="1">
              <a:spcBef>
                <a:spcPts val="1200"/>
              </a:spcBef>
            </a:pPr>
            <a:r>
              <a:rPr lang="zh-CN" altLang="en-US" sz="2800" dirty="0" smtClean="0">
                <a:solidFill>
                  <a:srgbClr val="0066CC"/>
                </a:solidFill>
                <a:latin typeface="+mj-ea"/>
                <a:ea typeface="+mj-ea"/>
              </a:rPr>
              <a:t>无线网络和移动网络</a:t>
            </a:r>
          </a:p>
          <a:p>
            <a:pPr lvl="1" eaLnBrk="1" hangingPunct="1">
              <a:buFont typeface="Wingdings" panose="05000000000000000000" pitchFamily="2" charset="2"/>
              <a:buNone/>
            </a:pPr>
            <a:endParaRPr lang="zh-CN" altLang="en-US" dirty="0" smtClean="0">
              <a:latin typeface="+mj-ea"/>
              <a:ea typeface="+mj-ea"/>
            </a:endParaRPr>
          </a:p>
          <a:p>
            <a:pPr eaLnBrk="1" hangingPunct="1">
              <a:buFont typeface="Wingdings" panose="05000000000000000000" pitchFamily="2" charset="2"/>
              <a:buNone/>
            </a:pPr>
            <a:r>
              <a:rPr lang="zh-CN" altLang="en-US" sz="2800" dirty="0" smtClean="0">
                <a:latin typeface="+mj-ea"/>
                <a:ea typeface="+mj-ea"/>
              </a:rPr>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zh-CN" dirty="0" smtClean="0"/>
              <a:t>6.1 </a:t>
            </a:r>
            <a:r>
              <a:rPr lang="zh-CN" altLang="en-US" dirty="0" smtClean="0"/>
              <a:t>数据链路层概述</a:t>
            </a:r>
          </a:p>
        </p:txBody>
      </p:sp>
      <p:sp>
        <p:nvSpPr>
          <p:cNvPr id="289795" name="Rectangle 3"/>
          <p:cNvSpPr>
            <a:spLocks noGrp="1" noChangeArrowheads="1"/>
          </p:cNvSpPr>
          <p:nvPr>
            <p:ph type="body" idx="1"/>
          </p:nvPr>
        </p:nvSpPr>
        <p:spPr>
          <a:xfrm>
            <a:off x="683568" y="1412874"/>
            <a:ext cx="7988945" cy="4608413"/>
          </a:xfrm>
        </p:spPr>
        <p:txBody>
          <a:bodyPr/>
          <a:lstStyle/>
          <a:p>
            <a:pPr marL="538480" indent="-538480" eaLnBrk="1" hangingPunct="1"/>
            <a:r>
              <a:rPr lang="zh-CN" altLang="en-US" dirty="0" smtClean="0">
                <a:latin typeface="+mj-ea"/>
                <a:ea typeface="+mj-ea"/>
              </a:rPr>
              <a:t>为何设计数据链路层？</a:t>
            </a:r>
            <a:endParaRPr lang="en-US" altLang="zh-CN" dirty="0" smtClean="0">
              <a:latin typeface="+mj-ea"/>
              <a:ea typeface="+mj-ea"/>
            </a:endParaRPr>
          </a:p>
          <a:p>
            <a:pPr marL="989330" lvl="1" indent="-532130" eaLnBrk="1" hangingPunct="1">
              <a:lnSpc>
                <a:spcPct val="110000"/>
              </a:lnSpc>
              <a:spcBef>
                <a:spcPts val="600"/>
              </a:spcBef>
            </a:pPr>
            <a:r>
              <a:rPr lang="zh-CN" altLang="en-US" dirty="0" smtClean="0"/>
              <a:t>在原始的物理传输线路上传输数据信号是有差错的，</a:t>
            </a:r>
            <a:r>
              <a:rPr lang="zh-CN" altLang="en-US" dirty="0" smtClean="0">
                <a:solidFill>
                  <a:schemeClr val="accent2"/>
                </a:solidFill>
              </a:rPr>
              <a:t>存在一定的误码率</a:t>
            </a:r>
            <a:r>
              <a:rPr lang="zh-CN" altLang="en-US" dirty="0" smtClean="0"/>
              <a:t>；</a:t>
            </a:r>
          </a:p>
          <a:p>
            <a:pPr marL="989330" lvl="1" indent="-532130" eaLnBrk="1" hangingPunct="1">
              <a:lnSpc>
                <a:spcPct val="110000"/>
              </a:lnSpc>
              <a:spcBef>
                <a:spcPts val="600"/>
              </a:spcBef>
            </a:pPr>
            <a:r>
              <a:rPr lang="zh-CN" altLang="en-US" dirty="0" smtClean="0"/>
              <a:t>设计数据链路层的目的就是如何在有差错的物理层上，</a:t>
            </a:r>
            <a:r>
              <a:rPr lang="zh-CN" altLang="en-US" dirty="0" smtClean="0">
                <a:solidFill>
                  <a:schemeClr val="accent2"/>
                </a:solidFill>
              </a:rPr>
              <a:t>进行无差错传输</a:t>
            </a:r>
            <a:r>
              <a:rPr lang="zh-CN" altLang="en-US" dirty="0" smtClean="0"/>
              <a:t>。向网络层提供高质量的服务。</a:t>
            </a:r>
          </a:p>
          <a:p>
            <a:pPr marL="989330" lvl="1" indent="-532130" eaLnBrk="1" hangingPunct="1">
              <a:lnSpc>
                <a:spcPct val="110000"/>
              </a:lnSpc>
              <a:spcBef>
                <a:spcPts val="600"/>
              </a:spcBef>
            </a:pPr>
            <a:r>
              <a:rPr lang="zh-CN" altLang="en-US" dirty="0" smtClean="0"/>
              <a:t>从网络参考模型来看，物理层之上的各层都有改善</a:t>
            </a:r>
            <a:r>
              <a:rPr lang="zh-CN" altLang="en-US" dirty="0" smtClean="0">
                <a:solidFill>
                  <a:schemeClr val="accent2"/>
                </a:solidFill>
              </a:rPr>
              <a:t>数据传输质量</a:t>
            </a:r>
            <a:r>
              <a:rPr lang="zh-CN" altLang="en-US" dirty="0" smtClean="0"/>
              <a:t>的要求，数据链路层是重要的一层。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97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97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97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9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smtClean="0"/>
              <a:t>数据链路层定义</a:t>
            </a:r>
          </a:p>
        </p:txBody>
      </p:sp>
      <p:sp>
        <p:nvSpPr>
          <p:cNvPr id="4099" name="Rectangle 3"/>
          <p:cNvSpPr>
            <a:spLocks noGrp="1" noChangeArrowheads="1"/>
          </p:cNvSpPr>
          <p:nvPr>
            <p:ph type="body" idx="1"/>
          </p:nvPr>
        </p:nvSpPr>
        <p:spPr>
          <a:xfrm>
            <a:off x="611560" y="1196752"/>
            <a:ext cx="8208962" cy="5040560"/>
          </a:xfrm>
        </p:spPr>
        <p:txBody>
          <a:bodyPr/>
          <a:lstStyle/>
          <a:p>
            <a:pPr marL="389255" indent="-389255" eaLnBrk="1" hangingPunct="1">
              <a:lnSpc>
                <a:spcPct val="110000"/>
              </a:lnSpc>
              <a:spcBef>
                <a:spcPts val="600"/>
              </a:spcBef>
              <a:spcAft>
                <a:spcPts val="0"/>
              </a:spcAft>
            </a:pPr>
            <a:r>
              <a:rPr lang="en-US" altLang="zh-CN" b="0" dirty="0">
                <a:latin typeface="+mj-ea"/>
                <a:ea typeface="+mj-ea"/>
              </a:rPr>
              <a:t>ISO</a:t>
            </a:r>
            <a:r>
              <a:rPr lang="zh-CN" altLang="en-US" b="0" dirty="0">
                <a:latin typeface="+mj-ea"/>
                <a:ea typeface="+mj-ea"/>
              </a:rPr>
              <a:t>关于数据链路层的定义</a:t>
            </a:r>
            <a:endParaRPr lang="en-US" altLang="zh-CN" b="0" dirty="0">
              <a:latin typeface="+mj-ea"/>
              <a:ea typeface="+mj-ea"/>
            </a:endParaRPr>
          </a:p>
          <a:p>
            <a:pPr marL="789305" lvl="1" indent="-389255" eaLnBrk="1" hangingPunct="1">
              <a:lnSpc>
                <a:spcPct val="110000"/>
              </a:lnSpc>
              <a:spcBef>
                <a:spcPts val="600"/>
              </a:spcBef>
              <a:spcAft>
                <a:spcPts val="0"/>
              </a:spcAft>
            </a:pPr>
            <a:r>
              <a:rPr lang="zh-CN" altLang="en-US" b="0" dirty="0">
                <a:latin typeface="+mj-ea"/>
                <a:ea typeface="+mj-ea"/>
              </a:rPr>
              <a:t>数据链路层的目的是为了提供功能上和规程上的方法，以便建立、维护和释放网络实体间的数据链路</a:t>
            </a:r>
            <a:r>
              <a:rPr lang="zh-CN" altLang="en-US" b="0" dirty="0" smtClean="0">
                <a:latin typeface="+mj-ea"/>
                <a:ea typeface="+mj-ea"/>
              </a:rPr>
              <a:t>。</a:t>
            </a:r>
            <a:endParaRPr lang="en-US" altLang="zh-CN" b="0" dirty="0" smtClean="0">
              <a:latin typeface="+mj-ea"/>
              <a:ea typeface="+mj-ea"/>
            </a:endParaRPr>
          </a:p>
          <a:p>
            <a:pPr marL="389255" indent="-389255" eaLnBrk="1" hangingPunct="1">
              <a:lnSpc>
                <a:spcPct val="110000"/>
              </a:lnSpc>
              <a:spcBef>
                <a:spcPts val="600"/>
              </a:spcBef>
              <a:spcAft>
                <a:spcPts val="0"/>
              </a:spcAft>
            </a:pPr>
            <a:r>
              <a:rPr lang="zh-CN" altLang="en-US" b="0" dirty="0">
                <a:latin typeface="+mj-ea"/>
                <a:ea typeface="+mj-ea"/>
              </a:rPr>
              <a:t>链路</a:t>
            </a:r>
            <a:r>
              <a:rPr lang="en-US" altLang="zh-CN" b="0" dirty="0">
                <a:latin typeface="+mj-ea"/>
                <a:ea typeface="+mj-ea"/>
              </a:rPr>
              <a:t>/</a:t>
            </a:r>
            <a:r>
              <a:rPr lang="zh-CN" altLang="en-US" b="0" dirty="0">
                <a:latin typeface="+mj-ea"/>
                <a:ea typeface="+mj-ea"/>
              </a:rPr>
              <a:t>物理链路</a:t>
            </a:r>
            <a:endParaRPr lang="en-US" altLang="zh-CN" b="0" dirty="0">
              <a:latin typeface="+mj-ea"/>
              <a:ea typeface="+mj-ea"/>
            </a:endParaRPr>
          </a:p>
          <a:p>
            <a:pPr marL="789305" lvl="1" indent="-389255" eaLnBrk="1" hangingPunct="1">
              <a:lnSpc>
                <a:spcPct val="110000"/>
              </a:lnSpc>
              <a:spcBef>
                <a:spcPts val="600"/>
              </a:spcBef>
              <a:spcAft>
                <a:spcPts val="0"/>
              </a:spcAft>
            </a:pPr>
            <a:r>
              <a:rPr lang="zh-CN" altLang="en-US" b="0" dirty="0">
                <a:latin typeface="+mj-ea"/>
                <a:ea typeface="+mj-ea"/>
              </a:rPr>
              <a:t>一条无源的点到点或点到多点的物理线路段</a:t>
            </a:r>
            <a:endParaRPr lang="en-US" altLang="zh-CN" b="0" dirty="0">
              <a:latin typeface="+mj-ea"/>
              <a:ea typeface="+mj-ea"/>
            </a:endParaRPr>
          </a:p>
          <a:p>
            <a:pPr marL="789305" lvl="1" indent="-389255" eaLnBrk="1" hangingPunct="1">
              <a:lnSpc>
                <a:spcPct val="110000"/>
              </a:lnSpc>
              <a:spcBef>
                <a:spcPts val="600"/>
              </a:spcBef>
              <a:spcAft>
                <a:spcPts val="0"/>
              </a:spcAft>
            </a:pPr>
            <a:r>
              <a:rPr lang="zh-CN" altLang="en-US" b="0" dirty="0">
                <a:latin typeface="+mj-ea"/>
                <a:ea typeface="+mj-ea"/>
              </a:rPr>
              <a:t>中间没有交换节点，但允许包含信号中继设备</a:t>
            </a:r>
          </a:p>
          <a:p>
            <a:pPr marL="389255" indent="-389255" eaLnBrk="1" hangingPunct="1">
              <a:lnSpc>
                <a:spcPct val="110000"/>
              </a:lnSpc>
              <a:spcBef>
                <a:spcPts val="600"/>
              </a:spcBef>
              <a:spcAft>
                <a:spcPts val="0"/>
              </a:spcAft>
            </a:pPr>
            <a:r>
              <a:rPr lang="zh-CN" altLang="en-US" b="0" dirty="0">
                <a:latin typeface="+mj-ea"/>
                <a:ea typeface="+mj-ea"/>
              </a:rPr>
              <a:t>数据链路</a:t>
            </a:r>
            <a:endParaRPr lang="en-US" altLang="zh-CN" b="0" dirty="0">
              <a:latin typeface="+mj-ea"/>
              <a:ea typeface="+mj-ea"/>
            </a:endParaRPr>
          </a:p>
          <a:p>
            <a:pPr marL="789305" lvl="1" indent="-389255" eaLnBrk="1" hangingPunct="1">
              <a:lnSpc>
                <a:spcPct val="110000"/>
              </a:lnSpc>
              <a:spcBef>
                <a:spcPts val="600"/>
              </a:spcBef>
              <a:spcAft>
                <a:spcPts val="600"/>
              </a:spcAft>
            </a:pPr>
            <a:r>
              <a:rPr lang="zh-CN" altLang="en-US" b="0" dirty="0">
                <a:latin typeface="+mj-ea"/>
                <a:ea typeface="+mj-ea"/>
              </a:rPr>
              <a:t>物理链路</a:t>
            </a:r>
            <a:r>
              <a:rPr lang="en-US" altLang="zh-CN" b="0" dirty="0">
                <a:latin typeface="+mj-ea"/>
                <a:ea typeface="+mj-ea"/>
              </a:rPr>
              <a:t>+</a:t>
            </a:r>
            <a:r>
              <a:rPr lang="zh-CN" altLang="en-US" b="0" dirty="0">
                <a:latin typeface="+mj-ea"/>
                <a:ea typeface="+mj-ea"/>
              </a:rPr>
              <a:t>控制数据传输的通信协议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fade">
                                      <p:cBhvr>
                                        <p:cTn id="7" dur="1000"/>
                                        <p:tgtEl>
                                          <p:spTgt spid="4099">
                                            <p:txEl>
                                              <p:pRg st="0" end="0"/>
                                            </p:txEl>
                                          </p:spTgt>
                                        </p:tgtEl>
                                      </p:cBhvr>
                                    </p:animEffect>
                                    <p:anim calcmode="lin" valueType="num">
                                      <p:cBhvr>
                                        <p:cTn id="8" dur="1000" fill="hold"/>
                                        <p:tgtEl>
                                          <p:spTgt spid="40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09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fade">
                                      <p:cBhvr>
                                        <p:cTn id="12" dur="1000"/>
                                        <p:tgtEl>
                                          <p:spTgt spid="4099">
                                            <p:txEl>
                                              <p:pRg st="1" end="1"/>
                                            </p:txEl>
                                          </p:spTgt>
                                        </p:tgtEl>
                                      </p:cBhvr>
                                    </p:animEffect>
                                    <p:anim calcmode="lin" valueType="num">
                                      <p:cBhvr>
                                        <p:cTn id="13" dur="1000" fill="hold"/>
                                        <p:tgtEl>
                                          <p:spTgt spid="409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0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099">
                                            <p:txEl>
                                              <p:pRg st="2" end="2"/>
                                            </p:txEl>
                                          </p:spTgt>
                                        </p:tgtEl>
                                        <p:attrNameLst>
                                          <p:attrName>style.visibility</p:attrName>
                                        </p:attrNameLst>
                                      </p:cBhvr>
                                      <p:to>
                                        <p:strVal val="visible"/>
                                      </p:to>
                                    </p:set>
                                    <p:animEffect transition="in" filter="fade">
                                      <p:cBhvr>
                                        <p:cTn id="19" dur="1000"/>
                                        <p:tgtEl>
                                          <p:spTgt spid="4099">
                                            <p:txEl>
                                              <p:pRg st="2" end="2"/>
                                            </p:txEl>
                                          </p:spTgt>
                                        </p:tgtEl>
                                      </p:cBhvr>
                                    </p:animEffect>
                                    <p:anim calcmode="lin" valueType="num">
                                      <p:cBhvr>
                                        <p:cTn id="20" dur="1000" fill="hold"/>
                                        <p:tgtEl>
                                          <p:spTgt spid="409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09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099">
                                            <p:txEl>
                                              <p:pRg st="3" end="3"/>
                                            </p:txEl>
                                          </p:spTgt>
                                        </p:tgtEl>
                                        <p:attrNameLst>
                                          <p:attrName>style.visibility</p:attrName>
                                        </p:attrNameLst>
                                      </p:cBhvr>
                                      <p:to>
                                        <p:strVal val="visible"/>
                                      </p:to>
                                    </p:set>
                                    <p:animEffect transition="in" filter="fade">
                                      <p:cBhvr>
                                        <p:cTn id="24" dur="1000"/>
                                        <p:tgtEl>
                                          <p:spTgt spid="4099">
                                            <p:txEl>
                                              <p:pRg st="3" end="3"/>
                                            </p:txEl>
                                          </p:spTgt>
                                        </p:tgtEl>
                                      </p:cBhvr>
                                    </p:animEffect>
                                    <p:anim calcmode="lin" valueType="num">
                                      <p:cBhvr>
                                        <p:cTn id="25" dur="1000" fill="hold"/>
                                        <p:tgtEl>
                                          <p:spTgt spid="409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09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099">
                                            <p:txEl>
                                              <p:pRg st="4" end="4"/>
                                            </p:txEl>
                                          </p:spTgt>
                                        </p:tgtEl>
                                        <p:attrNameLst>
                                          <p:attrName>style.visibility</p:attrName>
                                        </p:attrNameLst>
                                      </p:cBhvr>
                                      <p:to>
                                        <p:strVal val="visible"/>
                                      </p:to>
                                    </p:set>
                                    <p:animEffect transition="in" filter="fade">
                                      <p:cBhvr>
                                        <p:cTn id="29" dur="1000"/>
                                        <p:tgtEl>
                                          <p:spTgt spid="4099">
                                            <p:txEl>
                                              <p:pRg st="4" end="4"/>
                                            </p:txEl>
                                          </p:spTgt>
                                        </p:tgtEl>
                                      </p:cBhvr>
                                    </p:animEffect>
                                    <p:anim calcmode="lin" valueType="num">
                                      <p:cBhvr>
                                        <p:cTn id="30" dur="1000" fill="hold"/>
                                        <p:tgtEl>
                                          <p:spTgt spid="409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09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4099">
                                            <p:txEl>
                                              <p:pRg st="5" end="5"/>
                                            </p:txEl>
                                          </p:spTgt>
                                        </p:tgtEl>
                                        <p:attrNameLst>
                                          <p:attrName>style.visibility</p:attrName>
                                        </p:attrNameLst>
                                      </p:cBhvr>
                                      <p:to>
                                        <p:strVal val="visible"/>
                                      </p:to>
                                    </p:set>
                                    <p:animEffect transition="in" filter="fade">
                                      <p:cBhvr>
                                        <p:cTn id="36" dur="1000"/>
                                        <p:tgtEl>
                                          <p:spTgt spid="4099">
                                            <p:txEl>
                                              <p:pRg st="5" end="5"/>
                                            </p:txEl>
                                          </p:spTgt>
                                        </p:tgtEl>
                                      </p:cBhvr>
                                    </p:animEffect>
                                    <p:anim calcmode="lin" valueType="num">
                                      <p:cBhvr>
                                        <p:cTn id="37" dur="1000" fill="hold"/>
                                        <p:tgtEl>
                                          <p:spTgt spid="4099">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099">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099">
                                            <p:txEl>
                                              <p:pRg st="6" end="6"/>
                                            </p:txEl>
                                          </p:spTgt>
                                        </p:tgtEl>
                                        <p:attrNameLst>
                                          <p:attrName>style.visibility</p:attrName>
                                        </p:attrNameLst>
                                      </p:cBhvr>
                                      <p:to>
                                        <p:strVal val="visible"/>
                                      </p:to>
                                    </p:set>
                                    <p:animEffect transition="in" filter="fade">
                                      <p:cBhvr>
                                        <p:cTn id="41" dur="1000"/>
                                        <p:tgtEl>
                                          <p:spTgt spid="4099">
                                            <p:txEl>
                                              <p:pRg st="6" end="6"/>
                                            </p:txEl>
                                          </p:spTgt>
                                        </p:tgtEl>
                                      </p:cBhvr>
                                    </p:animEffect>
                                    <p:anim calcmode="lin" valueType="num">
                                      <p:cBhvr>
                                        <p:cTn id="42" dur="1000" fill="hold"/>
                                        <p:tgtEl>
                                          <p:spTgt spid="4099">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409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smtClean="0"/>
              <a:t>数据链路层基本功能</a:t>
            </a:r>
          </a:p>
        </p:txBody>
      </p:sp>
      <p:sp>
        <p:nvSpPr>
          <p:cNvPr id="13315" name="Rectangle 3"/>
          <p:cNvSpPr>
            <a:spLocks noGrp="1" noChangeArrowheads="1"/>
          </p:cNvSpPr>
          <p:nvPr>
            <p:ph type="body" idx="1"/>
          </p:nvPr>
        </p:nvSpPr>
        <p:spPr>
          <a:xfrm>
            <a:off x="755576" y="1196752"/>
            <a:ext cx="8077200" cy="5184576"/>
          </a:xfrm>
        </p:spPr>
        <p:txBody>
          <a:bodyPr/>
          <a:lstStyle/>
          <a:p>
            <a:pPr eaLnBrk="1" hangingPunct="1">
              <a:spcBef>
                <a:spcPts val="1200"/>
              </a:spcBef>
            </a:pPr>
            <a:r>
              <a:rPr lang="zh-CN" altLang="en-US" sz="2800" dirty="0" smtClean="0">
                <a:latin typeface="+mj-ea"/>
                <a:ea typeface="+mj-ea"/>
              </a:rPr>
              <a:t>数据链路层协议</a:t>
            </a:r>
          </a:p>
          <a:p>
            <a:pPr lvl="1" indent="-379730" eaLnBrk="1" hangingPunct="1">
              <a:lnSpc>
                <a:spcPct val="110000"/>
              </a:lnSpc>
              <a:spcBef>
                <a:spcPts val="600"/>
              </a:spcBef>
              <a:buClr>
                <a:schemeClr val="accent2"/>
              </a:buClr>
            </a:pPr>
            <a:r>
              <a:rPr lang="zh-CN" altLang="en-US" sz="2400" dirty="0" smtClean="0"/>
              <a:t>保障数据能迅速、正确、有效地从发送点到达接收点所采用的控制方式，也被称作数据链路控制规程。</a:t>
            </a:r>
          </a:p>
          <a:p>
            <a:pPr eaLnBrk="1" hangingPunct="1">
              <a:spcBef>
                <a:spcPts val="600"/>
              </a:spcBef>
            </a:pPr>
            <a:r>
              <a:rPr lang="zh-CN" altLang="en-US" sz="2800" dirty="0">
                <a:latin typeface="+mj-ea"/>
                <a:ea typeface="+mj-ea"/>
              </a:rPr>
              <a:t>数据链路层提供的基本功能</a:t>
            </a:r>
          </a:p>
          <a:p>
            <a:pPr marL="802005" lvl="1" indent="-438150" eaLnBrk="1" hangingPunct="1">
              <a:spcBef>
                <a:spcPts val="600"/>
              </a:spcBef>
              <a:buClr>
                <a:schemeClr val="accent2"/>
              </a:buClr>
            </a:pPr>
            <a:r>
              <a:rPr lang="zh-CN" altLang="en-US" sz="2400" dirty="0" smtClean="0"/>
              <a:t>数据链路管理：链路建立</a:t>
            </a:r>
            <a:r>
              <a:rPr lang="zh-CN" altLang="en-US" sz="2400" dirty="0"/>
              <a:t>、维护和</a:t>
            </a:r>
            <a:r>
              <a:rPr lang="zh-CN" altLang="en-US" sz="2400" dirty="0" smtClean="0"/>
              <a:t>释放</a:t>
            </a:r>
            <a:endParaRPr lang="zh-CN" altLang="en-US" sz="2400" dirty="0"/>
          </a:p>
          <a:p>
            <a:pPr marL="802005" lvl="1" indent="-438150" eaLnBrk="1" hangingPunct="1">
              <a:spcBef>
                <a:spcPts val="300"/>
              </a:spcBef>
              <a:buClr>
                <a:schemeClr val="accent2"/>
              </a:buClr>
            </a:pPr>
            <a:r>
              <a:rPr lang="zh-CN" altLang="en-US" sz="2400" dirty="0"/>
              <a:t>帧定界</a:t>
            </a:r>
            <a:r>
              <a:rPr lang="zh-CN" altLang="en-US" sz="2400" dirty="0" smtClean="0"/>
              <a:t>（成帧</a:t>
            </a:r>
            <a:r>
              <a:rPr lang="en-US" altLang="zh-CN" sz="2400" dirty="0" smtClean="0"/>
              <a:t>/</a:t>
            </a:r>
            <a:r>
              <a:rPr lang="zh-CN" altLang="en-US" sz="2400" dirty="0" smtClean="0"/>
              <a:t>帧</a:t>
            </a:r>
            <a:r>
              <a:rPr lang="zh-CN" altLang="en-US" sz="2400" dirty="0"/>
              <a:t>同步）　</a:t>
            </a:r>
          </a:p>
          <a:p>
            <a:pPr marL="802005" lvl="1" indent="-438150" eaLnBrk="1" hangingPunct="1">
              <a:spcBef>
                <a:spcPts val="300"/>
              </a:spcBef>
              <a:buClr>
                <a:schemeClr val="accent2"/>
              </a:buClr>
            </a:pPr>
            <a:r>
              <a:rPr lang="zh-CN" altLang="en-US" sz="2400" dirty="0" smtClean="0"/>
              <a:t>流量控制</a:t>
            </a:r>
          </a:p>
          <a:p>
            <a:pPr marL="802005" lvl="1" indent="-438150" eaLnBrk="1" hangingPunct="1">
              <a:spcBef>
                <a:spcPts val="300"/>
              </a:spcBef>
              <a:buClr>
                <a:schemeClr val="accent2"/>
              </a:buClr>
            </a:pPr>
            <a:r>
              <a:rPr lang="zh-CN" altLang="en-US" sz="2400" dirty="0" smtClean="0"/>
              <a:t>差错控制</a:t>
            </a:r>
            <a:endParaRPr lang="en-US" altLang="zh-CN" sz="2400" dirty="0" smtClean="0"/>
          </a:p>
          <a:p>
            <a:pPr marL="802005" lvl="1" indent="-438150" eaLnBrk="1" hangingPunct="1">
              <a:spcBef>
                <a:spcPts val="300"/>
              </a:spcBef>
              <a:buClr>
                <a:schemeClr val="accent2"/>
              </a:buClr>
            </a:pPr>
            <a:r>
              <a:rPr lang="zh-CN" altLang="en-US" sz="2400" dirty="0" smtClean="0"/>
              <a:t>数据区分：区分业务数据与控制信息</a:t>
            </a:r>
            <a:endParaRPr lang="en-US" altLang="zh-CN" sz="2400" dirty="0" smtClean="0"/>
          </a:p>
          <a:p>
            <a:pPr marL="802005" lvl="1" indent="-438150" eaLnBrk="1" hangingPunct="1">
              <a:spcBef>
                <a:spcPts val="300"/>
              </a:spcBef>
              <a:buClr>
                <a:schemeClr val="accent2"/>
              </a:buClr>
            </a:pPr>
            <a:r>
              <a:rPr lang="zh-CN" altLang="en-US" sz="2400" dirty="0" smtClean="0"/>
              <a:t>透明传输</a:t>
            </a:r>
            <a:endParaRPr lang="zh-CN" altLang="en-US" sz="2400" dirty="0"/>
          </a:p>
          <a:p>
            <a:pPr marL="802005" lvl="1" indent="-438150" eaLnBrk="1" hangingPunct="1">
              <a:spcBef>
                <a:spcPts val="300"/>
              </a:spcBef>
              <a:buClr>
                <a:schemeClr val="accent2"/>
              </a:buClr>
            </a:pPr>
            <a:r>
              <a:rPr lang="zh-CN" altLang="en-US" sz="2400" dirty="0" smtClean="0"/>
              <a:t>寻址 </a:t>
            </a:r>
            <a:endParaRPr lang="en-US" altLang="zh-CN" sz="2400" dirty="0" smtClean="0"/>
          </a:p>
          <a:p>
            <a:pPr marL="802005" lvl="1" indent="-438150" eaLnBrk="1" hangingPunct="1">
              <a:spcBef>
                <a:spcPts val="300"/>
              </a:spcBef>
              <a:buClr>
                <a:schemeClr val="accent2"/>
              </a:buClr>
            </a:pPr>
            <a:r>
              <a:rPr lang="zh-CN" altLang="en-US" sz="2400" dirty="0" smtClean="0"/>
              <a:t>介质访问控制</a:t>
            </a:r>
            <a:endParaRPr lang="zh-CN" altLang="en-US" sz="2400" dirty="0"/>
          </a:p>
          <a:p>
            <a:pPr lvl="1" eaLnBrk="1" hangingPunct="1">
              <a:buClr>
                <a:schemeClr val="tx2"/>
              </a:buClr>
              <a:buFont typeface="Wingdings" panose="05000000000000000000" pitchFamily="2" charset="2"/>
              <a:buChar char="Ø"/>
            </a:pPr>
            <a:endParaRPr lang="en-US" altLang="zh-CN" sz="2400" dirty="0" smtClean="0">
              <a:latin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31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1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1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1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1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1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31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315">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3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090" name="Picture 2" descr="3-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341438"/>
            <a:ext cx="8253412" cy="412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3"/>
          <p:cNvSpPr>
            <a:spLocks noChangeArrowheads="1"/>
          </p:cNvSpPr>
          <p:nvPr/>
        </p:nvSpPr>
        <p:spPr bwMode="auto">
          <a:xfrm>
            <a:off x="0" y="333375"/>
            <a:ext cx="9144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hlink"/>
              </a:buClr>
              <a:buSzPct val="70000"/>
              <a:buFontTx/>
              <a:buNone/>
            </a:pPr>
            <a:r>
              <a:rPr lang="zh-CN" altLang="en-US" b="0" dirty="0" smtClean="0">
                <a:solidFill>
                  <a:schemeClr val="bg1"/>
                </a:solidFill>
                <a:latin typeface="Arial" panose="020B0604020202020204" pitchFamily="34" charset="0"/>
                <a:ea typeface="黑体" panose="02010609060101010101" pitchFamily="49" charset="-122"/>
              </a:rPr>
              <a:t>数据链路层位置</a:t>
            </a:r>
            <a:endParaRPr lang="zh-CN" altLang="en-US" b="0" dirty="0">
              <a:solidFill>
                <a:schemeClr val="bg1"/>
              </a:solidFill>
              <a:latin typeface="Arial" panose="020B0604020202020204" pitchFamily="34" charset="0"/>
              <a:ea typeface="黑体" panose="02010609060101010101" pitchFamily="49" charset="-122"/>
            </a:endParaRPr>
          </a:p>
        </p:txBody>
      </p:sp>
      <p:sp>
        <p:nvSpPr>
          <p:cNvPr id="12294" name="AutoShape 8"/>
          <p:cNvSpPr>
            <a:spLocks noChangeArrowheads="1"/>
          </p:cNvSpPr>
          <p:nvPr/>
        </p:nvSpPr>
        <p:spPr bwMode="auto">
          <a:xfrm>
            <a:off x="5220072" y="2852936"/>
            <a:ext cx="762000" cy="381000"/>
          </a:xfrm>
          <a:prstGeom prst="wedgeRectCallout">
            <a:avLst>
              <a:gd name="adj1" fmla="val 3125"/>
              <a:gd name="adj2" fmla="val 110000"/>
            </a:avLst>
          </a:prstGeom>
          <a:solidFill>
            <a:schemeClr val="tx2"/>
          </a:solidFill>
          <a:ln w="1905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kumimoji="0" lang="zh-CN" altLang="en-US" sz="1800">
                <a:solidFill>
                  <a:srgbClr val="FF5050"/>
                </a:solidFill>
                <a:latin typeface="Garamond" panose="02020404030301010803" pitchFamily="18" charset="0"/>
              </a:rPr>
              <a:t>帧</a:t>
            </a:r>
          </a:p>
        </p:txBody>
      </p:sp>
      <p:sp>
        <p:nvSpPr>
          <p:cNvPr id="12295" name="AutoShape 9"/>
          <p:cNvSpPr>
            <a:spLocks noChangeArrowheads="1"/>
          </p:cNvSpPr>
          <p:nvPr/>
        </p:nvSpPr>
        <p:spPr bwMode="auto">
          <a:xfrm>
            <a:off x="6784975" y="4475163"/>
            <a:ext cx="762000" cy="381000"/>
          </a:xfrm>
          <a:prstGeom prst="wedgeRectCallout">
            <a:avLst>
              <a:gd name="adj1" fmla="val -144792"/>
              <a:gd name="adj2" fmla="val -225833"/>
            </a:avLst>
          </a:prstGeom>
          <a:solidFill>
            <a:schemeClr val="tx2"/>
          </a:solidFill>
          <a:ln w="1905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kumimoji="0" lang="zh-CN" altLang="en-US" sz="1800">
                <a:solidFill>
                  <a:srgbClr val="FF5050"/>
                </a:solidFill>
                <a:latin typeface="Garamond" panose="02020404030301010803" pitchFamily="18" charset="0"/>
              </a:rPr>
              <a:t>分组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17090"/>
                                        </p:tgtEl>
                                        <p:attrNameLst>
                                          <p:attrName>style.visibility</p:attrName>
                                        </p:attrNameLst>
                                      </p:cBhvr>
                                      <p:to>
                                        <p:strVal val="visible"/>
                                      </p:to>
                                    </p:set>
                                    <p:animEffect transition="in" filter="barn(inVertical)">
                                      <p:cBhvr>
                                        <p:cTn id="7" dur="500"/>
                                        <p:tgtEl>
                                          <p:spTgt spid="21709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29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animBg="1"/>
      <p:bldP spid="1229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buClr>
                <a:schemeClr val="hlink"/>
              </a:buClr>
              <a:buFont typeface="Wingdings" panose="05000000000000000000" pitchFamily="2" charset="2"/>
              <a:buNone/>
            </a:pPr>
            <a:r>
              <a:rPr lang="en-US" altLang="zh-CN" dirty="0" smtClean="0"/>
              <a:t>6.2 </a:t>
            </a:r>
            <a:r>
              <a:rPr lang="zh-CN" altLang="en-US" dirty="0" smtClean="0"/>
              <a:t>帧边界划分方法</a:t>
            </a:r>
          </a:p>
        </p:txBody>
      </p:sp>
      <p:sp>
        <p:nvSpPr>
          <p:cNvPr id="10243" name="Rectangle 3"/>
          <p:cNvSpPr>
            <a:spLocks noGrp="1" noChangeArrowheads="1"/>
          </p:cNvSpPr>
          <p:nvPr>
            <p:ph type="body" idx="1"/>
          </p:nvPr>
        </p:nvSpPr>
        <p:spPr>
          <a:xfrm>
            <a:off x="250825" y="1484313"/>
            <a:ext cx="8675688" cy="4267200"/>
          </a:xfrm>
        </p:spPr>
        <p:txBody>
          <a:bodyPr/>
          <a:lstStyle/>
          <a:p>
            <a:pPr eaLnBrk="1" hangingPunct="1"/>
            <a:r>
              <a:rPr lang="zh-CN" altLang="en-US" sz="2800" dirty="0" smtClean="0">
                <a:latin typeface="+mj-ea"/>
                <a:ea typeface="+mj-ea"/>
              </a:rPr>
              <a:t>帧边界划分：将比特流分成离散的帧</a:t>
            </a:r>
            <a:endParaRPr lang="en-US" altLang="zh-CN" sz="2800" dirty="0" smtClean="0">
              <a:latin typeface="+mj-ea"/>
              <a:ea typeface="+mj-ea"/>
            </a:endParaRPr>
          </a:p>
          <a:p>
            <a:pPr eaLnBrk="1" hangingPunct="1"/>
            <a:r>
              <a:rPr lang="zh-CN" altLang="en-US" sz="2800" dirty="0" smtClean="0">
                <a:latin typeface="+mj-ea"/>
                <a:ea typeface="+mj-ea"/>
              </a:rPr>
              <a:t>帧边界划分方法：四种基本方法</a:t>
            </a:r>
          </a:p>
          <a:p>
            <a:pPr lvl="1" eaLnBrk="1" hangingPunct="1">
              <a:buClr>
                <a:schemeClr val="tx2"/>
              </a:buClr>
              <a:buFont typeface="Wingdings" panose="05000000000000000000" pitchFamily="2" charset="2"/>
              <a:buNone/>
            </a:pPr>
            <a:r>
              <a:rPr lang="en-US" altLang="zh-CN" dirty="0" smtClean="0">
                <a:solidFill>
                  <a:schemeClr val="accent2"/>
                </a:solidFill>
              </a:rPr>
              <a:t>1</a:t>
            </a:r>
            <a:r>
              <a:rPr lang="zh-CN" altLang="en-US" dirty="0" smtClean="0">
                <a:solidFill>
                  <a:schemeClr val="accent2"/>
                </a:solidFill>
              </a:rPr>
              <a:t>）字符计数法</a:t>
            </a:r>
          </a:p>
          <a:p>
            <a:pPr lvl="2" eaLnBrk="1" hangingPunct="1">
              <a:buClr>
                <a:srgbClr val="000099"/>
              </a:buClr>
              <a:buFont typeface="Wingdings" panose="05000000000000000000" pitchFamily="2" charset="2"/>
              <a:buChar char="ü"/>
            </a:pPr>
            <a:r>
              <a:rPr lang="zh-CN" altLang="en-US" sz="2800" dirty="0" smtClean="0">
                <a:solidFill>
                  <a:schemeClr val="accent2"/>
                </a:solidFill>
              </a:rPr>
              <a:t>在帧头中用一个域来表示整个帧的字符个数</a:t>
            </a:r>
          </a:p>
          <a:p>
            <a:pPr lvl="2" eaLnBrk="1" hangingPunct="1">
              <a:buClr>
                <a:srgbClr val="000099"/>
              </a:buClr>
              <a:buFont typeface="Wingdings" panose="05000000000000000000" pitchFamily="2" charset="2"/>
              <a:buChar char="ü"/>
            </a:pPr>
            <a:r>
              <a:rPr lang="zh-CN" altLang="en-US" dirty="0" smtClean="0">
                <a:solidFill>
                  <a:schemeClr val="accent2"/>
                </a:solidFill>
                <a:ea typeface="楷体_GB2312" pitchFamily="49" charset="-122"/>
              </a:rPr>
              <a:t>缺点：若计数出错，对本帧和后面的帧有影响。</a:t>
            </a:r>
          </a:p>
          <a:p>
            <a:pPr lvl="2" eaLnBrk="1" hangingPunct="1">
              <a:buClr>
                <a:srgbClr val="000099"/>
              </a:buClr>
              <a:buFont typeface="Wingdings" panose="05000000000000000000" pitchFamily="2" charset="2"/>
              <a:buNone/>
            </a:pPr>
            <a:r>
              <a:rPr lang="zh-CN" altLang="en-US" dirty="0" smtClean="0">
                <a:solidFill>
                  <a:schemeClr val="accent2"/>
                </a:solidFill>
                <a:ea typeface="楷体_GB2312" pitchFamily="49" charset="-122"/>
              </a:rPr>
              <a:t>		   因此很少采用。</a:t>
            </a:r>
          </a:p>
        </p:txBody>
      </p:sp>
      <p:grpSp>
        <p:nvGrpSpPr>
          <p:cNvPr id="10265" name="Group 25"/>
          <p:cNvGrpSpPr/>
          <p:nvPr/>
        </p:nvGrpSpPr>
        <p:grpSpPr bwMode="auto">
          <a:xfrm>
            <a:off x="1116013" y="4365625"/>
            <a:ext cx="6192837" cy="1079500"/>
            <a:chOff x="1296" y="2496"/>
            <a:chExt cx="3696" cy="528"/>
          </a:xfrm>
        </p:grpSpPr>
        <p:sp>
          <p:nvSpPr>
            <p:cNvPr id="18437" name="Rectangle 4"/>
            <p:cNvSpPr>
              <a:spLocks noChangeArrowheads="1"/>
            </p:cNvSpPr>
            <p:nvPr/>
          </p:nvSpPr>
          <p:spPr bwMode="auto">
            <a:xfrm>
              <a:off x="1296" y="273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endParaRPr lang="zh-CN" altLang="en-US" sz="2800">
                <a:solidFill>
                  <a:schemeClr val="accent2"/>
                </a:solidFill>
                <a:ea typeface="黑体" panose="02010609060101010101" pitchFamily="49" charset="-122"/>
              </a:endParaRPr>
            </a:p>
          </p:txBody>
        </p:sp>
        <p:sp>
          <p:nvSpPr>
            <p:cNvPr id="18438" name="Rectangle 5"/>
            <p:cNvSpPr>
              <a:spLocks noChangeArrowheads="1"/>
            </p:cNvSpPr>
            <p:nvPr/>
          </p:nvSpPr>
          <p:spPr bwMode="auto">
            <a:xfrm>
              <a:off x="139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a:solidFill>
                    <a:srgbClr val="FF5050"/>
                  </a:solidFill>
                </a:rPr>
                <a:t>5</a:t>
              </a:r>
            </a:p>
          </p:txBody>
        </p:sp>
        <p:sp>
          <p:nvSpPr>
            <p:cNvPr id="18439" name="Rectangle 6"/>
            <p:cNvSpPr>
              <a:spLocks noChangeArrowheads="1"/>
            </p:cNvSpPr>
            <p:nvPr/>
          </p:nvSpPr>
          <p:spPr bwMode="auto">
            <a:xfrm>
              <a:off x="163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5</a:t>
              </a:r>
            </a:p>
          </p:txBody>
        </p:sp>
        <p:sp>
          <p:nvSpPr>
            <p:cNvPr id="18440" name="Rectangle 7"/>
            <p:cNvSpPr>
              <a:spLocks noChangeArrowheads="1"/>
            </p:cNvSpPr>
            <p:nvPr/>
          </p:nvSpPr>
          <p:spPr bwMode="auto">
            <a:xfrm>
              <a:off x="187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5</a:t>
              </a:r>
            </a:p>
          </p:txBody>
        </p:sp>
        <p:sp>
          <p:nvSpPr>
            <p:cNvPr id="18441" name="Rectangle 8"/>
            <p:cNvSpPr>
              <a:spLocks noChangeArrowheads="1"/>
            </p:cNvSpPr>
            <p:nvPr/>
          </p:nvSpPr>
          <p:spPr bwMode="auto">
            <a:xfrm>
              <a:off x="211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3</a:t>
              </a:r>
            </a:p>
          </p:txBody>
        </p:sp>
        <p:sp>
          <p:nvSpPr>
            <p:cNvPr id="18442" name="Rectangle 9"/>
            <p:cNvSpPr>
              <a:spLocks noChangeArrowheads="1"/>
            </p:cNvSpPr>
            <p:nvPr/>
          </p:nvSpPr>
          <p:spPr bwMode="auto">
            <a:xfrm>
              <a:off x="235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4</a:t>
              </a:r>
            </a:p>
          </p:txBody>
        </p:sp>
        <p:sp>
          <p:nvSpPr>
            <p:cNvPr id="18443" name="Rectangle 10"/>
            <p:cNvSpPr>
              <a:spLocks noChangeArrowheads="1"/>
            </p:cNvSpPr>
            <p:nvPr/>
          </p:nvSpPr>
          <p:spPr bwMode="auto">
            <a:xfrm>
              <a:off x="259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a:solidFill>
                    <a:srgbClr val="FF5050"/>
                  </a:solidFill>
                </a:rPr>
                <a:t>3</a:t>
              </a:r>
            </a:p>
          </p:txBody>
        </p:sp>
        <p:sp>
          <p:nvSpPr>
            <p:cNvPr id="18444" name="Rectangle 11"/>
            <p:cNvSpPr>
              <a:spLocks noChangeArrowheads="1"/>
            </p:cNvSpPr>
            <p:nvPr/>
          </p:nvSpPr>
          <p:spPr bwMode="auto">
            <a:xfrm>
              <a:off x="283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2</a:t>
              </a:r>
            </a:p>
          </p:txBody>
        </p:sp>
        <p:sp>
          <p:nvSpPr>
            <p:cNvPr id="18445" name="Rectangle 12"/>
            <p:cNvSpPr>
              <a:spLocks noChangeArrowheads="1"/>
            </p:cNvSpPr>
            <p:nvPr/>
          </p:nvSpPr>
          <p:spPr bwMode="auto">
            <a:xfrm>
              <a:off x="307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2</a:t>
              </a:r>
            </a:p>
          </p:txBody>
        </p:sp>
        <p:sp>
          <p:nvSpPr>
            <p:cNvPr id="18446" name="Rectangle 13"/>
            <p:cNvSpPr>
              <a:spLocks noChangeArrowheads="1"/>
            </p:cNvSpPr>
            <p:nvPr/>
          </p:nvSpPr>
          <p:spPr bwMode="auto">
            <a:xfrm>
              <a:off x="331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a:solidFill>
                    <a:srgbClr val="FF5050"/>
                  </a:solidFill>
                </a:rPr>
                <a:t>4</a:t>
              </a:r>
            </a:p>
          </p:txBody>
        </p:sp>
        <p:sp>
          <p:nvSpPr>
            <p:cNvPr id="18447" name="Rectangle 14"/>
            <p:cNvSpPr>
              <a:spLocks noChangeArrowheads="1"/>
            </p:cNvSpPr>
            <p:nvPr/>
          </p:nvSpPr>
          <p:spPr bwMode="auto">
            <a:xfrm>
              <a:off x="355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5</a:t>
              </a:r>
            </a:p>
          </p:txBody>
        </p:sp>
        <p:sp>
          <p:nvSpPr>
            <p:cNvPr id="18448" name="Rectangle 15"/>
            <p:cNvSpPr>
              <a:spLocks noChangeArrowheads="1"/>
            </p:cNvSpPr>
            <p:nvPr/>
          </p:nvSpPr>
          <p:spPr bwMode="auto">
            <a:xfrm>
              <a:off x="379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2</a:t>
              </a:r>
            </a:p>
          </p:txBody>
        </p:sp>
        <p:sp>
          <p:nvSpPr>
            <p:cNvPr id="18449" name="Rectangle 16"/>
            <p:cNvSpPr>
              <a:spLocks noChangeArrowheads="1"/>
            </p:cNvSpPr>
            <p:nvPr/>
          </p:nvSpPr>
          <p:spPr bwMode="auto">
            <a:xfrm>
              <a:off x="403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1</a:t>
              </a:r>
            </a:p>
          </p:txBody>
        </p:sp>
        <p:sp>
          <p:nvSpPr>
            <p:cNvPr id="18450" name="Rectangle 17"/>
            <p:cNvSpPr>
              <a:spLocks noChangeArrowheads="1"/>
            </p:cNvSpPr>
            <p:nvPr/>
          </p:nvSpPr>
          <p:spPr bwMode="auto">
            <a:xfrm>
              <a:off x="427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a:solidFill>
                    <a:srgbClr val="FF5050"/>
                  </a:solidFill>
                </a:rPr>
                <a:t>3</a:t>
              </a:r>
            </a:p>
          </p:txBody>
        </p:sp>
        <p:sp>
          <p:nvSpPr>
            <p:cNvPr id="18451" name="Rectangle 18"/>
            <p:cNvSpPr>
              <a:spLocks noChangeArrowheads="1"/>
            </p:cNvSpPr>
            <p:nvPr/>
          </p:nvSpPr>
          <p:spPr bwMode="auto">
            <a:xfrm>
              <a:off x="451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5</a:t>
              </a:r>
            </a:p>
          </p:txBody>
        </p:sp>
        <p:sp>
          <p:nvSpPr>
            <p:cNvPr id="18452" name="Rectangle 19"/>
            <p:cNvSpPr>
              <a:spLocks noChangeArrowheads="1"/>
            </p:cNvSpPr>
            <p:nvPr/>
          </p:nvSpPr>
          <p:spPr bwMode="auto">
            <a:xfrm>
              <a:off x="4752" y="2640"/>
              <a:ext cx="240"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400" b="0">
                  <a:solidFill>
                    <a:schemeClr val="tx1"/>
                  </a:solidFill>
                </a:rPr>
                <a:t>5</a:t>
              </a:r>
            </a:p>
          </p:txBody>
        </p:sp>
        <p:sp>
          <p:nvSpPr>
            <p:cNvPr id="18453" name="Line 20"/>
            <p:cNvSpPr>
              <a:spLocks noChangeShapeType="1"/>
            </p:cNvSpPr>
            <p:nvPr/>
          </p:nvSpPr>
          <p:spPr bwMode="auto">
            <a:xfrm flipV="1">
              <a:off x="2592" y="2496"/>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454" name="Line 21"/>
            <p:cNvSpPr>
              <a:spLocks noChangeShapeType="1"/>
            </p:cNvSpPr>
            <p:nvPr/>
          </p:nvSpPr>
          <p:spPr bwMode="auto">
            <a:xfrm flipV="1">
              <a:off x="1392" y="2496"/>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455" name="Line 22"/>
            <p:cNvSpPr>
              <a:spLocks noChangeShapeType="1"/>
            </p:cNvSpPr>
            <p:nvPr/>
          </p:nvSpPr>
          <p:spPr bwMode="auto">
            <a:xfrm flipV="1">
              <a:off x="3312" y="2496"/>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456" name="Line 23"/>
            <p:cNvSpPr>
              <a:spLocks noChangeShapeType="1"/>
            </p:cNvSpPr>
            <p:nvPr/>
          </p:nvSpPr>
          <p:spPr bwMode="auto">
            <a:xfrm flipV="1">
              <a:off x="4272" y="2496"/>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457" name="Line 24"/>
            <p:cNvSpPr>
              <a:spLocks noChangeShapeType="1"/>
            </p:cNvSpPr>
            <p:nvPr/>
          </p:nvSpPr>
          <p:spPr bwMode="auto">
            <a:xfrm flipV="1">
              <a:off x="4992" y="2496"/>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dirty="0" smtClean="0"/>
              <a:t>帧边界划分方法</a:t>
            </a:r>
          </a:p>
        </p:txBody>
      </p:sp>
      <p:sp>
        <p:nvSpPr>
          <p:cNvPr id="145411" name="Rectangle 3"/>
          <p:cNvSpPr>
            <a:spLocks noGrp="1" noChangeArrowheads="1"/>
          </p:cNvSpPr>
          <p:nvPr>
            <p:ph type="body" idx="1"/>
          </p:nvPr>
        </p:nvSpPr>
        <p:spPr>
          <a:xfrm>
            <a:off x="755576" y="1268760"/>
            <a:ext cx="7315200" cy="4648200"/>
          </a:xfrm>
        </p:spPr>
        <p:txBody>
          <a:bodyPr/>
          <a:lstStyle/>
          <a:p>
            <a:pPr eaLnBrk="1" hangingPunct="1">
              <a:buFont typeface="Wingdings" panose="05000000000000000000" pitchFamily="2" charset="2"/>
              <a:buNone/>
              <a:defRPr/>
            </a:pPr>
            <a:r>
              <a:rPr lang="en-US" altLang="zh-CN" dirty="0" smtClean="0">
                <a:solidFill>
                  <a:srgbClr val="000099"/>
                </a:solidFill>
              </a:rPr>
              <a:t>2</a:t>
            </a:r>
            <a:r>
              <a:rPr lang="zh-CN" altLang="en-US" dirty="0" smtClean="0">
                <a:solidFill>
                  <a:srgbClr val="000099"/>
                </a:solidFill>
              </a:rPr>
              <a:t>）首尾界符法</a:t>
            </a:r>
          </a:p>
          <a:p>
            <a:pPr lvl="1" eaLnBrk="1" hangingPunct="1">
              <a:buClr>
                <a:srgbClr val="000099"/>
              </a:buClr>
              <a:defRPr/>
            </a:pPr>
            <a:r>
              <a:rPr lang="zh-CN" altLang="en-US" sz="2400" dirty="0" smtClean="0">
                <a:latin typeface="仿宋_GB2312" pitchFamily="49" charset="-122"/>
              </a:rPr>
              <a:t>用</a:t>
            </a:r>
            <a:r>
              <a:rPr lang="en-US" altLang="zh-CN" sz="2400" dirty="0" smtClean="0">
                <a:latin typeface="仿宋_GB2312" pitchFamily="49" charset="-122"/>
              </a:rPr>
              <a:t>DLE STX</a:t>
            </a:r>
            <a:r>
              <a:rPr lang="zh-CN" altLang="en-US" sz="2400" dirty="0" smtClean="0">
                <a:latin typeface="仿宋_GB2312" pitchFamily="49" charset="-122"/>
              </a:rPr>
              <a:t>标示帧的开始</a:t>
            </a:r>
          </a:p>
          <a:p>
            <a:pPr lvl="1" eaLnBrk="1" hangingPunct="1">
              <a:buClr>
                <a:srgbClr val="000099"/>
              </a:buClr>
              <a:defRPr/>
            </a:pPr>
            <a:r>
              <a:rPr lang="zh-CN" altLang="en-US" sz="2400" dirty="0" smtClean="0">
                <a:latin typeface="仿宋_GB2312" pitchFamily="49" charset="-122"/>
              </a:rPr>
              <a:t>用</a:t>
            </a:r>
            <a:r>
              <a:rPr lang="en-US" altLang="zh-CN" sz="2400" dirty="0" smtClean="0">
                <a:latin typeface="仿宋_GB2312" pitchFamily="49" charset="-122"/>
              </a:rPr>
              <a:t>DLE ETX</a:t>
            </a:r>
            <a:r>
              <a:rPr lang="zh-CN" altLang="en-US" sz="2400" dirty="0" smtClean="0">
                <a:latin typeface="仿宋_GB2312" pitchFamily="49" charset="-122"/>
              </a:rPr>
              <a:t>标示帧的结束</a:t>
            </a:r>
          </a:p>
          <a:p>
            <a:pPr lvl="1" eaLnBrk="1" hangingPunct="1">
              <a:buClr>
                <a:srgbClr val="000099"/>
              </a:buClr>
              <a:defRPr/>
            </a:pPr>
            <a:r>
              <a:rPr lang="zh-CN" altLang="en-US" sz="2400" dirty="0" smtClean="0">
                <a:latin typeface="仿宋_GB2312" pitchFamily="49" charset="-122"/>
              </a:rPr>
              <a:t>用</a:t>
            </a:r>
            <a:r>
              <a:rPr lang="en-US" altLang="zh-CN" sz="2400" dirty="0" smtClean="0">
                <a:latin typeface="仿宋_GB2312" pitchFamily="49" charset="-122"/>
              </a:rPr>
              <a:t>DLE </a:t>
            </a:r>
            <a:r>
              <a:rPr lang="en-US" altLang="zh-CN" sz="2400" dirty="0" err="1" smtClean="0">
                <a:latin typeface="仿宋_GB2312" pitchFamily="49" charset="-122"/>
              </a:rPr>
              <a:t>DLE</a:t>
            </a:r>
            <a:r>
              <a:rPr lang="zh-CN" altLang="en-US" sz="2400" dirty="0" smtClean="0">
                <a:latin typeface="仿宋_GB2312" pitchFamily="49" charset="-122"/>
              </a:rPr>
              <a:t>标示传送数据信息中的</a:t>
            </a:r>
            <a:r>
              <a:rPr lang="en-US" altLang="zh-CN" sz="2400" dirty="0" smtClean="0">
                <a:latin typeface="仿宋_GB2312" pitchFamily="49" charset="-122"/>
              </a:rPr>
              <a:t>DLE</a:t>
            </a:r>
          </a:p>
          <a:p>
            <a:pPr marL="457200" lvl="1" indent="0" eaLnBrk="1" hangingPunct="1">
              <a:buClr>
                <a:srgbClr val="000099"/>
              </a:buClr>
              <a:buFont typeface="Wingdings" panose="05000000000000000000" pitchFamily="2" charset="2"/>
              <a:buNone/>
              <a:defRPr/>
            </a:pPr>
            <a:r>
              <a:rPr lang="zh-CN" altLang="en-US" sz="2400" dirty="0" smtClean="0">
                <a:latin typeface="仿宋_GB2312" pitchFamily="49" charset="-122"/>
              </a:rPr>
              <a:t>例如：信息</a:t>
            </a:r>
            <a:r>
              <a:rPr lang="en-US" altLang="zh-CN" sz="2400" i="1" dirty="0" smtClean="0">
                <a:latin typeface="仿宋_GB2312" pitchFamily="49" charset="-122"/>
              </a:rPr>
              <a:t>DLE STX A DLE B DLE ETX</a:t>
            </a:r>
            <a:r>
              <a:rPr lang="zh-CN" altLang="en-US" sz="2400" dirty="0" smtClean="0">
                <a:latin typeface="仿宋_GB2312" pitchFamily="49" charset="-122"/>
              </a:rPr>
              <a:t>在网络中传送时表示为：</a:t>
            </a:r>
            <a:r>
              <a:rPr lang="en-US" altLang="zh-CN" sz="2400" dirty="0" smtClean="0">
                <a:solidFill>
                  <a:srgbClr val="339966"/>
                </a:solidFill>
                <a:latin typeface="仿宋_GB2312" pitchFamily="49" charset="-122"/>
              </a:rPr>
              <a:t>DLE STX</a:t>
            </a:r>
            <a:r>
              <a:rPr lang="en-US" altLang="zh-CN" sz="2400" dirty="0" smtClean="0">
                <a:latin typeface="仿宋_GB2312" pitchFamily="49" charset="-122"/>
              </a:rPr>
              <a:t> </a:t>
            </a:r>
            <a:r>
              <a:rPr lang="en-US" altLang="zh-CN" sz="2400" i="1" dirty="0" smtClean="0">
                <a:latin typeface="仿宋_GB2312" pitchFamily="49" charset="-122"/>
              </a:rPr>
              <a:t>DLE </a:t>
            </a:r>
            <a:r>
              <a:rPr lang="en-US" altLang="zh-CN" sz="2400" i="1" dirty="0" err="1" smtClean="0">
                <a:solidFill>
                  <a:srgbClr val="FF5050"/>
                </a:solidFill>
                <a:latin typeface="仿宋_GB2312" pitchFamily="49" charset="-122"/>
              </a:rPr>
              <a:t>DLE</a:t>
            </a:r>
            <a:r>
              <a:rPr lang="en-US" altLang="zh-CN" sz="2400" i="1" dirty="0" smtClean="0">
                <a:latin typeface="仿宋_GB2312" pitchFamily="49" charset="-122"/>
              </a:rPr>
              <a:t> STX A DLE </a:t>
            </a:r>
            <a:r>
              <a:rPr lang="en-US" altLang="zh-CN" sz="2400" i="1" dirty="0" err="1" smtClean="0">
                <a:solidFill>
                  <a:srgbClr val="FF5050"/>
                </a:solidFill>
                <a:latin typeface="仿宋_GB2312" pitchFamily="49" charset="-122"/>
              </a:rPr>
              <a:t>DLE</a:t>
            </a:r>
            <a:r>
              <a:rPr lang="en-US" altLang="zh-CN" sz="2400" i="1" dirty="0" smtClean="0">
                <a:latin typeface="仿宋_GB2312" pitchFamily="49" charset="-122"/>
              </a:rPr>
              <a:t> B DLE </a:t>
            </a:r>
            <a:r>
              <a:rPr lang="en-US" altLang="zh-CN" sz="2400" i="1" dirty="0" err="1" smtClean="0">
                <a:solidFill>
                  <a:srgbClr val="FF5050"/>
                </a:solidFill>
                <a:latin typeface="仿宋_GB2312" pitchFamily="49" charset="-122"/>
              </a:rPr>
              <a:t>DLE</a:t>
            </a:r>
            <a:r>
              <a:rPr lang="en-US" altLang="zh-CN" sz="2400" i="1" dirty="0" smtClean="0">
                <a:latin typeface="仿宋_GB2312" pitchFamily="49" charset="-122"/>
              </a:rPr>
              <a:t> ETX</a:t>
            </a:r>
            <a:r>
              <a:rPr lang="en-US" altLang="zh-CN" sz="2400" dirty="0" smtClean="0">
                <a:latin typeface="仿宋_GB2312" pitchFamily="49" charset="-122"/>
              </a:rPr>
              <a:t> </a:t>
            </a:r>
            <a:r>
              <a:rPr lang="en-US" altLang="zh-CN" sz="2400" dirty="0" smtClean="0">
                <a:solidFill>
                  <a:srgbClr val="339966"/>
                </a:solidFill>
                <a:latin typeface="仿宋_GB2312" pitchFamily="49" charset="-122"/>
              </a:rPr>
              <a:t>DLE ETX</a:t>
            </a:r>
          </a:p>
          <a:p>
            <a:pPr lvl="1" eaLnBrk="1" hangingPunct="1">
              <a:spcBef>
                <a:spcPts val="1200"/>
              </a:spcBef>
              <a:buClr>
                <a:srgbClr val="000099"/>
              </a:buClr>
              <a:defRPr/>
            </a:pPr>
            <a:r>
              <a:rPr lang="zh-CN" altLang="en-US" sz="2400" dirty="0" smtClean="0">
                <a:latin typeface="仿宋_GB2312" pitchFamily="49" charset="-122"/>
              </a:rPr>
              <a:t>缺点</a:t>
            </a:r>
            <a:r>
              <a:rPr lang="zh-CN" altLang="en-US" sz="2400" dirty="0">
                <a:latin typeface="仿宋_GB2312" pitchFamily="49" charset="-122"/>
              </a:rPr>
              <a:t>：局限于</a:t>
            </a:r>
            <a:r>
              <a:rPr lang="en-US" altLang="zh-CN" sz="2400" dirty="0">
                <a:latin typeface="仿宋_GB2312" pitchFamily="49" charset="-122"/>
              </a:rPr>
              <a:t>8</a:t>
            </a:r>
            <a:r>
              <a:rPr lang="zh-CN" altLang="en-US" sz="2400" dirty="0">
                <a:latin typeface="仿宋_GB2312" pitchFamily="49" charset="-122"/>
              </a:rPr>
              <a:t>位字符和</a:t>
            </a:r>
            <a:r>
              <a:rPr lang="en-US" altLang="zh-CN" sz="2400" dirty="0">
                <a:latin typeface="仿宋_GB2312" pitchFamily="49" charset="-122"/>
              </a:rPr>
              <a:t>ASCII</a:t>
            </a:r>
            <a:r>
              <a:rPr lang="zh-CN" altLang="en-US" sz="2400" dirty="0">
                <a:latin typeface="仿宋_GB2312" pitchFamily="49" charset="-122"/>
              </a:rPr>
              <a:t>字符传送</a:t>
            </a:r>
            <a:r>
              <a:rPr lang="zh-CN" altLang="en-US" sz="2400" dirty="0" smtClean="0">
                <a:latin typeface="仿宋_GB2312" pitchFamily="49" charset="-122"/>
              </a:rPr>
              <a:t>，使用面不宽。</a:t>
            </a:r>
            <a:endParaRPr lang="zh-CN" altLang="en-US" sz="2400" dirty="0">
              <a:latin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411">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5411">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541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54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54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uiExpand="1" build="p" bldLvl="3"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dirty="0" smtClean="0"/>
              <a:t>帧边界划分方法</a:t>
            </a:r>
          </a:p>
        </p:txBody>
      </p:sp>
      <p:sp>
        <p:nvSpPr>
          <p:cNvPr id="15363" name="Rectangle 3"/>
          <p:cNvSpPr>
            <a:spLocks noGrp="1" noChangeArrowheads="1"/>
          </p:cNvSpPr>
          <p:nvPr>
            <p:ph type="body" idx="1"/>
          </p:nvPr>
        </p:nvSpPr>
        <p:spPr>
          <a:xfrm>
            <a:off x="323850" y="1412875"/>
            <a:ext cx="8496300" cy="4525963"/>
          </a:xfrm>
        </p:spPr>
        <p:txBody>
          <a:bodyPr/>
          <a:lstStyle/>
          <a:p>
            <a:pPr eaLnBrk="1" hangingPunct="1">
              <a:spcBef>
                <a:spcPts val="1200"/>
              </a:spcBef>
              <a:spcAft>
                <a:spcPts val="600"/>
              </a:spcAft>
              <a:buClr>
                <a:schemeClr val="tx2"/>
              </a:buClr>
              <a:buFont typeface="Wingdings" panose="05000000000000000000" pitchFamily="2" charset="2"/>
              <a:buNone/>
              <a:defRPr/>
            </a:pPr>
            <a:r>
              <a:rPr lang="en-US" altLang="zh-CN" dirty="0" smtClean="0">
                <a:solidFill>
                  <a:srgbClr val="000099"/>
                </a:solidFill>
                <a:latin typeface="仿宋_GB2312" pitchFamily="49" charset="-122"/>
              </a:rPr>
              <a:t>3</a:t>
            </a:r>
            <a:r>
              <a:rPr lang="zh-CN" altLang="en-US" dirty="0" smtClean="0">
                <a:solidFill>
                  <a:srgbClr val="000099"/>
                </a:solidFill>
                <a:latin typeface="仿宋_GB2312" pitchFamily="49" charset="-122"/>
              </a:rPr>
              <a:t>）首尾标志法</a:t>
            </a:r>
          </a:p>
          <a:p>
            <a:pPr lvl="1" eaLnBrk="1" hangingPunct="1">
              <a:spcBef>
                <a:spcPts val="1200"/>
              </a:spcBef>
              <a:buClr>
                <a:srgbClr val="000099"/>
              </a:buClr>
              <a:defRPr/>
            </a:pPr>
            <a:r>
              <a:rPr lang="zh-CN" altLang="en-US" dirty="0" smtClean="0">
                <a:solidFill>
                  <a:srgbClr val="000099"/>
                </a:solidFill>
                <a:latin typeface="仿宋_GB2312" pitchFamily="49" charset="-122"/>
              </a:rPr>
              <a:t>帧的起始和结束都用一个特殊的位串“</a:t>
            </a:r>
            <a:r>
              <a:rPr lang="en-US" altLang="zh-CN" dirty="0" smtClean="0">
                <a:solidFill>
                  <a:srgbClr val="000099"/>
                </a:solidFill>
                <a:latin typeface="仿宋_GB2312" pitchFamily="49" charset="-122"/>
              </a:rPr>
              <a:t>01111110”</a:t>
            </a:r>
            <a:r>
              <a:rPr lang="zh-CN" altLang="en-US" dirty="0" smtClean="0">
                <a:solidFill>
                  <a:srgbClr val="000099"/>
                </a:solidFill>
                <a:latin typeface="仿宋_GB2312" pitchFamily="49" charset="-122"/>
              </a:rPr>
              <a:t>，称为标记</a:t>
            </a:r>
            <a:r>
              <a:rPr lang="en-US" altLang="zh-CN" dirty="0" smtClean="0">
                <a:solidFill>
                  <a:srgbClr val="000099"/>
                </a:solidFill>
                <a:latin typeface="仿宋_GB2312" pitchFamily="49" charset="-122"/>
              </a:rPr>
              <a:t>(flag)</a:t>
            </a:r>
            <a:endParaRPr lang="en-US" altLang="zh-CN" b="0" dirty="0" smtClean="0">
              <a:solidFill>
                <a:srgbClr val="000099"/>
              </a:solidFill>
              <a:latin typeface="仿宋_GB2312" pitchFamily="49" charset="-122"/>
            </a:endParaRPr>
          </a:p>
          <a:p>
            <a:pPr lvl="1" eaLnBrk="1" hangingPunct="1">
              <a:spcBef>
                <a:spcPts val="1200"/>
              </a:spcBef>
              <a:buClr>
                <a:srgbClr val="000099"/>
              </a:buClr>
              <a:defRPr/>
            </a:pPr>
            <a:r>
              <a:rPr lang="en-US" altLang="zh-CN" dirty="0" smtClean="0">
                <a:solidFill>
                  <a:srgbClr val="000099"/>
                </a:solidFill>
                <a:latin typeface="仿宋_GB2312" pitchFamily="49" charset="-122"/>
              </a:rPr>
              <a:t>“0”</a:t>
            </a:r>
            <a:r>
              <a:rPr lang="zh-CN" altLang="en-US" dirty="0" smtClean="0">
                <a:solidFill>
                  <a:srgbClr val="000099"/>
                </a:solidFill>
                <a:latin typeface="仿宋_GB2312" pitchFamily="49" charset="-122"/>
              </a:rPr>
              <a:t>比特插入删除技术，在传送的数据信息中每遇到</a:t>
            </a:r>
            <a:r>
              <a:rPr lang="en-US" altLang="zh-CN" dirty="0" smtClean="0">
                <a:solidFill>
                  <a:srgbClr val="000099"/>
                </a:solidFill>
                <a:latin typeface="仿宋_GB2312" pitchFamily="49" charset="-122"/>
              </a:rPr>
              <a:t>5</a:t>
            </a:r>
            <a:r>
              <a:rPr lang="zh-CN" altLang="en-US" dirty="0" smtClean="0">
                <a:solidFill>
                  <a:srgbClr val="000099"/>
                </a:solidFill>
                <a:latin typeface="仿宋_GB2312" pitchFamily="49" charset="-122"/>
              </a:rPr>
              <a:t>个连续的</a:t>
            </a:r>
            <a:r>
              <a:rPr lang="en-US" altLang="zh-CN" dirty="0" smtClean="0">
                <a:solidFill>
                  <a:srgbClr val="000099"/>
                </a:solidFill>
                <a:latin typeface="仿宋_GB2312" pitchFamily="49" charset="-122"/>
              </a:rPr>
              <a:t>1</a:t>
            </a:r>
            <a:r>
              <a:rPr lang="zh-CN" altLang="en-US" dirty="0" smtClean="0">
                <a:solidFill>
                  <a:srgbClr val="000099"/>
                </a:solidFill>
                <a:latin typeface="仿宋_GB2312" pitchFamily="49" charset="-122"/>
              </a:rPr>
              <a:t>在其后加</a:t>
            </a:r>
            <a:r>
              <a:rPr lang="en-US" altLang="zh-CN" dirty="0" smtClean="0">
                <a:solidFill>
                  <a:srgbClr val="000099"/>
                </a:solidFill>
                <a:latin typeface="仿宋_GB2312" pitchFamily="49" charset="-122"/>
              </a:rPr>
              <a:t>0</a:t>
            </a:r>
          </a:p>
          <a:p>
            <a:pPr marL="457200" lvl="1" indent="0" eaLnBrk="1" hangingPunct="1">
              <a:spcBef>
                <a:spcPts val="1200"/>
              </a:spcBef>
              <a:buClr>
                <a:srgbClr val="000099"/>
              </a:buClr>
              <a:buFont typeface="Wingdings" panose="05000000000000000000" pitchFamily="2" charset="2"/>
              <a:buNone/>
              <a:defRPr/>
            </a:pPr>
            <a:r>
              <a:rPr lang="zh-CN" altLang="en-US" dirty="0" smtClean="0">
                <a:solidFill>
                  <a:srgbClr val="000099"/>
                </a:solidFill>
                <a:latin typeface="仿宋_GB2312" pitchFamily="49" charset="-122"/>
              </a:rPr>
              <a:t>例如：</a:t>
            </a:r>
            <a:r>
              <a:rPr lang="en-US" altLang="zh-CN" dirty="0" smtClean="0">
                <a:solidFill>
                  <a:srgbClr val="000099"/>
                </a:solidFill>
                <a:latin typeface="仿宋_GB2312" pitchFamily="49" charset="-122"/>
              </a:rPr>
              <a:t>0110111111011111001</a:t>
            </a:r>
            <a:r>
              <a:rPr lang="zh-CN" altLang="en-US" dirty="0" smtClean="0">
                <a:solidFill>
                  <a:srgbClr val="000099"/>
                </a:solidFill>
                <a:latin typeface="仿宋_GB2312" pitchFamily="49" charset="-122"/>
              </a:rPr>
              <a:t>在网络中传送时表示为： </a:t>
            </a:r>
            <a:r>
              <a:rPr lang="en-US" altLang="zh-CN" dirty="0" smtClean="0">
                <a:solidFill>
                  <a:srgbClr val="FF6600"/>
                </a:solidFill>
                <a:latin typeface="仿宋_GB2312" pitchFamily="49" charset="-122"/>
              </a:rPr>
              <a:t>01111110</a:t>
            </a:r>
            <a:r>
              <a:rPr lang="en-US" altLang="zh-CN" dirty="0" smtClean="0">
                <a:solidFill>
                  <a:srgbClr val="000099"/>
                </a:solidFill>
                <a:latin typeface="仿宋_GB2312" pitchFamily="49" charset="-122"/>
              </a:rPr>
              <a:t>011011111</a:t>
            </a:r>
            <a:r>
              <a:rPr lang="en-US" altLang="zh-CN" dirty="0" smtClean="0">
                <a:solidFill>
                  <a:srgbClr val="FF6600"/>
                </a:solidFill>
                <a:latin typeface="仿宋_GB2312" pitchFamily="49" charset="-122"/>
              </a:rPr>
              <a:t>0</a:t>
            </a:r>
            <a:r>
              <a:rPr lang="en-US" altLang="zh-CN" dirty="0" smtClean="0">
                <a:solidFill>
                  <a:srgbClr val="000099"/>
                </a:solidFill>
                <a:latin typeface="仿宋_GB2312" pitchFamily="49" charset="-122"/>
              </a:rPr>
              <a:t>1011111</a:t>
            </a:r>
            <a:r>
              <a:rPr lang="en-US" altLang="zh-CN" dirty="0" smtClean="0">
                <a:solidFill>
                  <a:srgbClr val="FF6600"/>
                </a:solidFill>
                <a:latin typeface="仿宋_GB2312" pitchFamily="49" charset="-122"/>
              </a:rPr>
              <a:t>0</a:t>
            </a:r>
            <a:r>
              <a:rPr lang="en-US" altLang="zh-CN" dirty="0" smtClean="0">
                <a:solidFill>
                  <a:srgbClr val="000099"/>
                </a:solidFill>
                <a:latin typeface="仿宋_GB2312" pitchFamily="49" charset="-122"/>
              </a:rPr>
              <a:t>001</a:t>
            </a:r>
            <a:r>
              <a:rPr lang="en-US" altLang="zh-CN" dirty="0" smtClean="0">
                <a:solidFill>
                  <a:srgbClr val="FF6600"/>
                </a:solidFill>
                <a:latin typeface="仿宋_GB2312" pitchFamily="49" charset="-122"/>
              </a:rPr>
              <a:t>01111110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 calcmode="lin" valueType="num">
                                      <p:cBhvr additive="base">
                                        <p:cTn id="7" dur="500" fill="hold"/>
                                        <p:tgtEl>
                                          <p:spTgt spid="1536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anim calcmode="lin" valueType="num">
                                      <p:cBhvr additive="base">
                                        <p:cTn id="13" dur="500" fill="hold"/>
                                        <p:tgtEl>
                                          <p:spTgt spid="1536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363">
                                            <p:txEl>
                                              <p:pRg st="3" end="3"/>
                                            </p:txEl>
                                          </p:spTgt>
                                        </p:tgtEl>
                                        <p:attrNameLst>
                                          <p:attrName>style.visibility</p:attrName>
                                        </p:attrNameLst>
                                      </p:cBhvr>
                                      <p:to>
                                        <p:strVal val="visible"/>
                                      </p:to>
                                    </p:set>
                                    <p:anim calcmode="lin" valueType="num">
                                      <p:cBhvr additive="base">
                                        <p:cTn id="19" dur="500" fill="hold"/>
                                        <p:tgtEl>
                                          <p:spTgt spid="1536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36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bldLvl="3"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dirty="0" smtClean="0"/>
              <a:t>帧边界划分方法</a:t>
            </a:r>
          </a:p>
        </p:txBody>
      </p:sp>
      <p:sp>
        <p:nvSpPr>
          <p:cNvPr id="15363" name="Rectangle 3"/>
          <p:cNvSpPr>
            <a:spLocks noGrp="1" noChangeArrowheads="1"/>
          </p:cNvSpPr>
          <p:nvPr>
            <p:ph type="body" idx="1"/>
          </p:nvPr>
        </p:nvSpPr>
        <p:spPr>
          <a:xfrm>
            <a:off x="323850" y="1412875"/>
            <a:ext cx="8496300" cy="4525963"/>
          </a:xfrm>
        </p:spPr>
        <p:txBody>
          <a:bodyPr/>
          <a:lstStyle/>
          <a:p>
            <a:pPr eaLnBrk="1" hangingPunct="1">
              <a:spcBef>
                <a:spcPts val="1200"/>
              </a:spcBef>
              <a:buClr>
                <a:schemeClr val="tx2"/>
              </a:buClr>
              <a:buFont typeface="Wingdings" panose="05000000000000000000" pitchFamily="2" charset="2"/>
              <a:buNone/>
              <a:defRPr/>
            </a:pPr>
            <a:r>
              <a:rPr lang="en-US" altLang="zh-CN" dirty="0" smtClean="0">
                <a:solidFill>
                  <a:srgbClr val="000099"/>
                </a:solidFill>
                <a:latin typeface="仿宋_GB2312" pitchFamily="49" charset="-122"/>
              </a:rPr>
              <a:t>4</a:t>
            </a:r>
            <a:r>
              <a:rPr lang="zh-CN" altLang="en-US" dirty="0" smtClean="0">
                <a:solidFill>
                  <a:srgbClr val="000099"/>
                </a:solidFill>
                <a:latin typeface="仿宋_GB2312" pitchFamily="49" charset="-122"/>
              </a:rPr>
              <a:t>）物理层编码违例法</a:t>
            </a:r>
          </a:p>
          <a:p>
            <a:pPr lvl="1" eaLnBrk="1" hangingPunct="1">
              <a:spcBef>
                <a:spcPts val="1200"/>
              </a:spcBef>
              <a:buClr>
                <a:srgbClr val="000099"/>
              </a:buClr>
              <a:defRPr/>
            </a:pPr>
            <a:r>
              <a:rPr lang="zh-CN" altLang="en-US" dirty="0" smtClean="0">
                <a:solidFill>
                  <a:srgbClr val="000099"/>
                </a:solidFill>
                <a:latin typeface="仿宋_GB2312" pitchFamily="49" charset="-122"/>
              </a:rPr>
              <a:t>只适用于物理层编码有冗余的网络，如曼彻斯特编码</a:t>
            </a:r>
          </a:p>
          <a:p>
            <a:pPr marL="514350" lvl="1" indent="0" eaLnBrk="1" hangingPunct="1">
              <a:lnSpc>
                <a:spcPct val="90000"/>
              </a:lnSpc>
              <a:buClr>
                <a:srgbClr val="000099"/>
              </a:buClr>
              <a:buFont typeface="Wingdings" panose="05000000000000000000" pitchFamily="2" charset="2"/>
              <a:buNone/>
              <a:defRPr/>
            </a:pPr>
            <a:endParaRPr lang="en-US" altLang="zh-CN" dirty="0" smtClean="0">
              <a:solidFill>
                <a:srgbClr val="000099"/>
              </a:solidFill>
              <a:latin typeface="仿宋_GB2312" pitchFamily="49" charset="-122"/>
            </a:endParaRPr>
          </a:p>
          <a:p>
            <a:pPr marL="514350" lvl="1" indent="0" eaLnBrk="1" hangingPunct="1">
              <a:lnSpc>
                <a:spcPct val="90000"/>
              </a:lnSpc>
              <a:buClr>
                <a:srgbClr val="000099"/>
              </a:buClr>
              <a:buFont typeface="Wingdings" panose="05000000000000000000" pitchFamily="2" charset="2"/>
              <a:buNone/>
              <a:defRPr/>
            </a:pPr>
            <a:endParaRPr lang="en-US" altLang="zh-CN" dirty="0" smtClean="0">
              <a:solidFill>
                <a:srgbClr val="000099"/>
              </a:solidFill>
              <a:latin typeface="仿宋_GB2312" pitchFamily="49" charset="-122"/>
            </a:endParaRPr>
          </a:p>
          <a:p>
            <a:pPr marL="514350" lvl="1" indent="0" eaLnBrk="1" hangingPunct="1">
              <a:lnSpc>
                <a:spcPct val="90000"/>
              </a:lnSpc>
              <a:buClr>
                <a:srgbClr val="000099"/>
              </a:buClr>
              <a:buFont typeface="Wingdings" panose="05000000000000000000" pitchFamily="2" charset="2"/>
              <a:buNone/>
              <a:defRPr/>
            </a:pPr>
            <a:endParaRPr lang="en-US" altLang="zh-CN" dirty="0" smtClean="0">
              <a:solidFill>
                <a:srgbClr val="000099"/>
              </a:solidFill>
              <a:latin typeface="仿宋_GB2312" pitchFamily="49" charset="-122"/>
            </a:endParaRPr>
          </a:p>
          <a:p>
            <a:pPr marL="514350" lvl="1" indent="0" eaLnBrk="1" hangingPunct="1">
              <a:lnSpc>
                <a:spcPct val="90000"/>
              </a:lnSpc>
              <a:buClr>
                <a:srgbClr val="000099"/>
              </a:buClr>
              <a:buFont typeface="Wingdings" panose="05000000000000000000" pitchFamily="2" charset="2"/>
              <a:buNone/>
              <a:defRPr/>
            </a:pPr>
            <a:endParaRPr lang="zh-CN" altLang="en-US" dirty="0" smtClean="0">
              <a:solidFill>
                <a:srgbClr val="000099"/>
              </a:solidFill>
              <a:latin typeface="仿宋_GB2312" pitchFamily="49" charset="-122"/>
            </a:endParaRPr>
          </a:p>
          <a:p>
            <a:pPr eaLnBrk="1" hangingPunct="1">
              <a:lnSpc>
                <a:spcPct val="90000"/>
              </a:lnSpc>
              <a:buFont typeface="Wingdings" panose="05000000000000000000" pitchFamily="2" charset="2"/>
              <a:buChar char="ü"/>
              <a:defRPr/>
            </a:pPr>
            <a:r>
              <a:rPr lang="zh-CN" altLang="en-US" sz="2800" i="1" dirty="0" smtClean="0">
                <a:latin typeface="仿宋_GB2312" pitchFamily="49" charset="-122"/>
              </a:rPr>
              <a:t>注意</a:t>
            </a:r>
            <a:r>
              <a:rPr lang="zh-CN" altLang="en-US" sz="2800" b="0" i="1" dirty="0" smtClean="0">
                <a:latin typeface="仿宋_GB2312" pitchFamily="49" charset="-122"/>
              </a:rPr>
              <a:t>：</a:t>
            </a:r>
            <a:r>
              <a:rPr lang="zh-CN" altLang="en-US" sz="2800" i="1" dirty="0" smtClean="0">
                <a:latin typeface="仿宋_GB2312" pitchFamily="49" charset="-122"/>
              </a:rPr>
              <a:t>在很多数据链路协议中，使用字符计数法和一种其它方法的组合。</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84363" y="3160713"/>
            <a:ext cx="4991100"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bldLvl="3"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buClr>
                <a:schemeClr val="hlink"/>
              </a:buClr>
              <a:buFont typeface="Wingdings" panose="05000000000000000000" pitchFamily="2" charset="2"/>
              <a:buNone/>
            </a:pPr>
            <a:r>
              <a:rPr lang="en-US" altLang="zh-CN" dirty="0" smtClean="0"/>
              <a:t>6.3 </a:t>
            </a:r>
            <a:r>
              <a:rPr lang="zh-CN" altLang="en-US" dirty="0" smtClean="0"/>
              <a:t>差错控制</a:t>
            </a:r>
          </a:p>
        </p:txBody>
      </p:sp>
      <p:sp>
        <p:nvSpPr>
          <p:cNvPr id="147459" name="Rectangle 3"/>
          <p:cNvSpPr>
            <a:spLocks noGrp="1" noChangeArrowheads="1"/>
          </p:cNvSpPr>
          <p:nvPr>
            <p:ph type="body" idx="1"/>
          </p:nvPr>
        </p:nvSpPr>
        <p:spPr>
          <a:xfrm>
            <a:off x="611188" y="1341438"/>
            <a:ext cx="8532812" cy="5040312"/>
          </a:xfrm>
        </p:spPr>
        <p:txBody>
          <a:bodyPr/>
          <a:lstStyle/>
          <a:p>
            <a:pPr marL="450850" indent="-450850" eaLnBrk="1" hangingPunct="1">
              <a:spcBef>
                <a:spcPts val="600"/>
              </a:spcBef>
              <a:buClr>
                <a:srgbClr val="000099"/>
              </a:buClr>
            </a:pPr>
            <a:r>
              <a:rPr lang="zh-CN" altLang="en-US" dirty="0" smtClean="0">
                <a:solidFill>
                  <a:schemeClr val="tx1"/>
                </a:solidFill>
                <a:latin typeface="+mj-ea"/>
                <a:ea typeface="+mj-ea"/>
              </a:rPr>
              <a:t>差错产生的原因及分类</a:t>
            </a:r>
          </a:p>
          <a:p>
            <a:pPr marL="935990" lvl="1" indent="-533400" eaLnBrk="1" hangingPunct="1">
              <a:lnSpc>
                <a:spcPct val="110000"/>
              </a:lnSpc>
              <a:spcBef>
                <a:spcPts val="600"/>
              </a:spcBef>
              <a:buClr>
                <a:srgbClr val="000099"/>
              </a:buClr>
            </a:pPr>
            <a:r>
              <a:rPr lang="zh-CN" altLang="en-US" dirty="0" smtClean="0">
                <a:solidFill>
                  <a:srgbClr val="002060"/>
                </a:solidFill>
                <a:latin typeface="CordiaUPC" pitchFamily="34" charset="-34"/>
              </a:rPr>
              <a:t>随机噪声引发：信道的电气特性引起信号幅度、频率、相位的畸变，导致随机性差错；</a:t>
            </a:r>
            <a:endParaRPr lang="en-US" altLang="zh-CN" dirty="0" smtClean="0">
              <a:solidFill>
                <a:srgbClr val="002060"/>
              </a:solidFill>
              <a:latin typeface="CordiaUPC" pitchFamily="34" charset="-34"/>
            </a:endParaRPr>
          </a:p>
          <a:p>
            <a:pPr marL="935990" lvl="1" indent="-533400" eaLnBrk="1" hangingPunct="1">
              <a:lnSpc>
                <a:spcPct val="110000"/>
              </a:lnSpc>
              <a:spcBef>
                <a:spcPts val="600"/>
              </a:spcBef>
              <a:buClr>
                <a:srgbClr val="000099"/>
              </a:buClr>
            </a:pPr>
            <a:r>
              <a:rPr lang="zh-CN" altLang="en-US" dirty="0" smtClean="0">
                <a:solidFill>
                  <a:srgbClr val="002060"/>
                </a:solidFill>
                <a:latin typeface="CordiaUPC" pitchFamily="34" charset="-34"/>
              </a:rPr>
              <a:t>冲击噪声引发：闪电、大功率电机的启停等，导致突发性差错。</a:t>
            </a:r>
          </a:p>
          <a:p>
            <a:pPr marL="609600" indent="-609600" eaLnBrk="1" hangingPunct="1">
              <a:spcBef>
                <a:spcPts val="600"/>
              </a:spcBef>
              <a:buClr>
                <a:srgbClr val="000099"/>
              </a:buClr>
            </a:pPr>
            <a:r>
              <a:rPr lang="zh-CN" altLang="en-US" dirty="0" smtClean="0">
                <a:solidFill>
                  <a:schemeClr val="tx1"/>
                </a:solidFill>
                <a:latin typeface="+mj-ea"/>
                <a:ea typeface="+mj-ea"/>
              </a:rPr>
              <a:t>数据链路层出错</a:t>
            </a:r>
            <a:r>
              <a:rPr lang="zh-CN" altLang="en-US" dirty="0">
                <a:solidFill>
                  <a:schemeClr val="tx1"/>
                </a:solidFill>
                <a:latin typeface="+mj-ea"/>
                <a:ea typeface="+mj-ea"/>
              </a:rPr>
              <a:t>情况</a:t>
            </a:r>
          </a:p>
          <a:p>
            <a:pPr marL="935990" lvl="1" indent="-533400" eaLnBrk="1" hangingPunct="1">
              <a:lnSpc>
                <a:spcPct val="110000"/>
              </a:lnSpc>
              <a:spcBef>
                <a:spcPts val="1200"/>
              </a:spcBef>
              <a:buClr>
                <a:srgbClr val="000099"/>
              </a:buClr>
            </a:pPr>
            <a:r>
              <a:rPr lang="zh-CN" altLang="en-US" dirty="0">
                <a:solidFill>
                  <a:srgbClr val="002060"/>
                </a:solidFill>
                <a:latin typeface="CordiaUPC" pitchFamily="34" charset="-34"/>
              </a:rPr>
              <a:t>帧出错：数据帧</a:t>
            </a:r>
          </a:p>
          <a:p>
            <a:pPr marL="935990" lvl="1" indent="-533400" eaLnBrk="1" hangingPunct="1">
              <a:lnSpc>
                <a:spcPct val="110000"/>
              </a:lnSpc>
              <a:spcBef>
                <a:spcPts val="600"/>
              </a:spcBef>
              <a:buClr>
                <a:srgbClr val="000099"/>
              </a:buClr>
            </a:pPr>
            <a:r>
              <a:rPr lang="zh-CN" altLang="en-US" dirty="0">
                <a:solidFill>
                  <a:srgbClr val="002060"/>
                </a:solidFill>
                <a:latin typeface="CordiaUPC" pitchFamily="34" charset="-34"/>
              </a:rPr>
              <a:t>帧丢失：数据帧、应答帧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74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74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745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745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7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Rectangle 3"/>
          <p:cNvSpPr>
            <a:spLocks noGrp="1" noChangeArrowheads="1"/>
          </p:cNvSpPr>
          <p:nvPr>
            <p:ph type="body" idx="1"/>
          </p:nvPr>
        </p:nvSpPr>
        <p:spPr>
          <a:xfrm>
            <a:off x="719138" y="1268760"/>
            <a:ext cx="8424862" cy="4825007"/>
          </a:xfrm>
        </p:spPr>
        <p:txBody>
          <a:bodyPr/>
          <a:lstStyle/>
          <a:p>
            <a:pPr marL="450850" indent="-450850" eaLnBrk="1" hangingPunct="1">
              <a:spcBef>
                <a:spcPts val="600"/>
              </a:spcBef>
              <a:buClr>
                <a:srgbClr val="000099"/>
              </a:buClr>
            </a:pPr>
            <a:r>
              <a:rPr lang="zh-CN" altLang="en-US" dirty="0">
                <a:solidFill>
                  <a:schemeClr val="tx1"/>
                </a:solidFill>
                <a:latin typeface="+mj-ea"/>
                <a:ea typeface="+mj-ea"/>
              </a:rPr>
              <a:t>差错控制的目的</a:t>
            </a:r>
          </a:p>
          <a:p>
            <a:pPr marL="901700" lvl="1" indent="-444500" eaLnBrk="1" hangingPunct="1">
              <a:lnSpc>
                <a:spcPct val="120000"/>
              </a:lnSpc>
              <a:spcBef>
                <a:spcPts val="1200"/>
              </a:spcBef>
            </a:pPr>
            <a:r>
              <a:rPr lang="zh-CN" altLang="en-US" dirty="0" smtClean="0">
                <a:latin typeface="仿宋_GB2312" pitchFamily="49" charset="-122"/>
              </a:rPr>
              <a:t>保证帧正确送交上层。在接收方能够判断接收的数据是否正确，若错误还可能要恢复错误。</a:t>
            </a:r>
            <a:endParaRPr lang="en-US" altLang="zh-CN" dirty="0" smtClean="0">
              <a:latin typeface="仿宋_GB2312" pitchFamily="49" charset="-122"/>
            </a:endParaRPr>
          </a:p>
          <a:p>
            <a:pPr marL="901700" lvl="1" indent="-444500" eaLnBrk="1" hangingPunct="1">
              <a:lnSpc>
                <a:spcPct val="120000"/>
              </a:lnSpc>
              <a:spcBef>
                <a:spcPts val="1200"/>
              </a:spcBef>
            </a:pPr>
            <a:r>
              <a:rPr lang="zh-CN" altLang="en-US" dirty="0" smtClean="0">
                <a:latin typeface="仿宋_GB2312" pitchFamily="49" charset="-122"/>
              </a:rPr>
              <a:t>基本策略：</a:t>
            </a:r>
            <a:r>
              <a:rPr lang="zh-CN" altLang="en-US" dirty="0">
                <a:latin typeface="仿宋_GB2312" pitchFamily="49" charset="-122"/>
              </a:rPr>
              <a:t>数据码元</a:t>
            </a:r>
            <a:r>
              <a:rPr lang="en-US" altLang="zh-CN" dirty="0">
                <a:latin typeface="仿宋_GB2312" pitchFamily="49" charset="-122"/>
              </a:rPr>
              <a:t>+</a:t>
            </a:r>
            <a:r>
              <a:rPr lang="zh-CN" altLang="en-US" dirty="0">
                <a:latin typeface="仿宋_GB2312" pitchFamily="49" charset="-122"/>
              </a:rPr>
              <a:t>冗余</a:t>
            </a:r>
            <a:r>
              <a:rPr lang="zh-CN" altLang="en-US" dirty="0" smtClean="0">
                <a:latin typeface="仿宋_GB2312" pitchFamily="49" charset="-122"/>
              </a:rPr>
              <a:t>码元</a:t>
            </a:r>
            <a:endParaRPr lang="zh-CN" altLang="en-US" dirty="0">
              <a:latin typeface="仿宋_GB2312" pitchFamily="49" charset="-122"/>
            </a:endParaRPr>
          </a:p>
          <a:p>
            <a:pPr marL="450850" indent="-450850" eaLnBrk="1" hangingPunct="1">
              <a:spcBef>
                <a:spcPts val="600"/>
              </a:spcBef>
              <a:buClr>
                <a:srgbClr val="000099"/>
              </a:buClr>
            </a:pPr>
            <a:r>
              <a:rPr lang="zh-CN" altLang="en-US" dirty="0" smtClean="0">
                <a:solidFill>
                  <a:schemeClr val="tx1"/>
                </a:solidFill>
                <a:latin typeface="+mj-ea"/>
                <a:ea typeface="+mj-ea"/>
              </a:rPr>
              <a:t>常用差错控制方法</a:t>
            </a:r>
            <a:endParaRPr lang="zh-CN" altLang="en-US" dirty="0">
              <a:solidFill>
                <a:schemeClr val="tx1"/>
              </a:solidFill>
              <a:latin typeface="+mj-ea"/>
              <a:ea typeface="+mj-ea"/>
            </a:endParaRPr>
          </a:p>
          <a:p>
            <a:pPr marL="989330" lvl="1" indent="-532130" eaLnBrk="1" hangingPunct="1">
              <a:spcBef>
                <a:spcPts val="1200"/>
              </a:spcBef>
              <a:buClr>
                <a:srgbClr val="000099"/>
              </a:buClr>
            </a:pPr>
            <a:r>
              <a:rPr lang="zh-CN" altLang="en-US" dirty="0">
                <a:latin typeface="仿宋_GB2312" pitchFamily="49" charset="-122"/>
              </a:rPr>
              <a:t>检错反馈重发</a:t>
            </a:r>
          </a:p>
          <a:p>
            <a:pPr marL="989330" lvl="1" indent="-532130" eaLnBrk="1" hangingPunct="1">
              <a:spcBef>
                <a:spcPts val="1200"/>
              </a:spcBef>
              <a:buClr>
                <a:srgbClr val="000099"/>
              </a:buClr>
            </a:pPr>
            <a:r>
              <a:rPr lang="zh-CN" altLang="en-US" dirty="0">
                <a:latin typeface="仿宋_GB2312" pitchFamily="49" charset="-122"/>
              </a:rPr>
              <a:t>自动纠错</a:t>
            </a:r>
            <a:endParaRPr lang="en-US" altLang="zh-CN" dirty="0">
              <a:latin typeface="仿宋_GB2312" pitchFamily="49" charset="-122"/>
            </a:endParaRPr>
          </a:p>
          <a:p>
            <a:pPr marL="989330" lvl="1" indent="-532130" eaLnBrk="1" hangingPunct="1">
              <a:spcBef>
                <a:spcPts val="1200"/>
              </a:spcBef>
              <a:buClr>
                <a:srgbClr val="000099"/>
              </a:buClr>
            </a:pPr>
            <a:r>
              <a:rPr lang="zh-CN" altLang="en-US" dirty="0">
                <a:latin typeface="仿宋_GB2312" pitchFamily="49" charset="-122"/>
              </a:rPr>
              <a:t>混合方式</a:t>
            </a:r>
          </a:p>
          <a:p>
            <a:pPr eaLnBrk="1" hangingPunct="1">
              <a:buSzPct val="85000"/>
              <a:buFont typeface="Wingdings" panose="05000000000000000000" pitchFamily="2" charset="2"/>
              <a:buNone/>
            </a:pPr>
            <a:endParaRPr lang="zh-CN" altLang="en-US" dirty="0" smtClean="0"/>
          </a:p>
          <a:p>
            <a:pPr lvl="1" eaLnBrk="1" hangingPunct="1"/>
            <a:endParaRPr lang="zh-CN" altLang="en-US" sz="3600" dirty="0" smtClean="0"/>
          </a:p>
          <a:p>
            <a:pPr eaLnBrk="1" hangingPunct="1"/>
            <a:endParaRPr lang="en-US" altLang="zh-CN" sz="2000" dirty="0" smtClean="0"/>
          </a:p>
        </p:txBody>
      </p:sp>
      <p:sp>
        <p:nvSpPr>
          <p:cNvPr id="28675" name="Rectangle 4"/>
          <p:cNvSpPr>
            <a:spLocks noGrp="1" noChangeArrowheads="1"/>
          </p:cNvSpPr>
          <p:nvPr>
            <p:ph type="title"/>
          </p:nvPr>
        </p:nvSpPr>
        <p:spPr>
          <a:noFill/>
        </p:spPr>
        <p:txBody>
          <a:bodyPr/>
          <a:lstStyle/>
          <a:p>
            <a:pPr eaLnBrk="1" hangingPunct="1"/>
            <a:r>
              <a:rPr lang="en-US" altLang="zh-CN" smtClean="0"/>
              <a:t>            </a:t>
            </a:r>
            <a:r>
              <a:rPr lang="zh-CN" altLang="en-US" smtClean="0"/>
              <a:t>差错控制方法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9443">
                                            <p:txEl>
                                              <p:pRg st="0" end="0"/>
                                            </p:txEl>
                                          </p:spTgt>
                                        </p:tgtEl>
                                        <p:attrNameLst>
                                          <p:attrName>style.visibility</p:attrName>
                                        </p:attrNameLst>
                                      </p:cBhvr>
                                      <p:to>
                                        <p:strVal val="visible"/>
                                      </p:to>
                                    </p:set>
                                    <p:animEffect transition="in" filter="blinds(horizontal)">
                                      <p:cBhvr>
                                        <p:cTn id="7" dur="500"/>
                                        <p:tgtEl>
                                          <p:spTgt spid="18944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9443">
                                            <p:txEl>
                                              <p:pRg st="1" end="1"/>
                                            </p:txEl>
                                          </p:spTgt>
                                        </p:tgtEl>
                                        <p:attrNameLst>
                                          <p:attrName>style.visibility</p:attrName>
                                        </p:attrNameLst>
                                      </p:cBhvr>
                                      <p:to>
                                        <p:strVal val="visible"/>
                                      </p:to>
                                    </p:set>
                                    <p:animEffect transition="in" filter="blinds(horizontal)">
                                      <p:cBhvr>
                                        <p:cTn id="10" dur="500"/>
                                        <p:tgtEl>
                                          <p:spTgt spid="18944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9443">
                                            <p:txEl>
                                              <p:pRg st="2" end="2"/>
                                            </p:txEl>
                                          </p:spTgt>
                                        </p:tgtEl>
                                        <p:attrNameLst>
                                          <p:attrName>style.visibility</p:attrName>
                                        </p:attrNameLst>
                                      </p:cBhvr>
                                      <p:to>
                                        <p:strVal val="visible"/>
                                      </p:to>
                                    </p:set>
                                    <p:animEffect transition="in" filter="blinds(horizontal)">
                                      <p:cBhvr>
                                        <p:cTn id="13" dur="500"/>
                                        <p:tgtEl>
                                          <p:spTgt spid="18944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89443">
                                            <p:txEl>
                                              <p:pRg st="3" end="3"/>
                                            </p:txEl>
                                          </p:spTgt>
                                        </p:tgtEl>
                                        <p:attrNameLst>
                                          <p:attrName>style.visibility</p:attrName>
                                        </p:attrNameLst>
                                      </p:cBhvr>
                                      <p:to>
                                        <p:strVal val="visible"/>
                                      </p:to>
                                    </p:set>
                                    <p:animEffect transition="in" filter="blinds(horizontal)">
                                      <p:cBhvr>
                                        <p:cTn id="18" dur="500"/>
                                        <p:tgtEl>
                                          <p:spTgt spid="18944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89443">
                                            <p:txEl>
                                              <p:pRg st="4" end="4"/>
                                            </p:txEl>
                                          </p:spTgt>
                                        </p:tgtEl>
                                        <p:attrNameLst>
                                          <p:attrName>style.visibility</p:attrName>
                                        </p:attrNameLst>
                                      </p:cBhvr>
                                      <p:to>
                                        <p:strVal val="visible"/>
                                      </p:to>
                                    </p:set>
                                    <p:animEffect transition="in" filter="blinds(horizontal)">
                                      <p:cBhvr>
                                        <p:cTn id="21" dur="500"/>
                                        <p:tgtEl>
                                          <p:spTgt spid="18944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89443">
                                            <p:txEl>
                                              <p:pRg st="5" end="5"/>
                                            </p:txEl>
                                          </p:spTgt>
                                        </p:tgtEl>
                                        <p:attrNameLst>
                                          <p:attrName>style.visibility</p:attrName>
                                        </p:attrNameLst>
                                      </p:cBhvr>
                                      <p:to>
                                        <p:strVal val="visible"/>
                                      </p:to>
                                    </p:set>
                                    <p:animEffect transition="in" filter="blinds(horizontal)">
                                      <p:cBhvr>
                                        <p:cTn id="24" dur="500"/>
                                        <p:tgtEl>
                                          <p:spTgt spid="189443">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89443">
                                            <p:txEl>
                                              <p:pRg st="6" end="6"/>
                                            </p:txEl>
                                          </p:spTgt>
                                        </p:tgtEl>
                                        <p:attrNameLst>
                                          <p:attrName>style.visibility</p:attrName>
                                        </p:attrNameLst>
                                      </p:cBhvr>
                                      <p:to>
                                        <p:strVal val="visible"/>
                                      </p:to>
                                    </p:set>
                                    <p:animEffect transition="in" filter="blinds(horizontal)">
                                      <p:cBhvr>
                                        <p:cTn id="27" dur="500"/>
                                        <p:tgtEl>
                                          <p:spTgt spid="1894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mtClean="0"/>
              <a:t>纠错码和检错码</a:t>
            </a:r>
          </a:p>
        </p:txBody>
      </p:sp>
      <p:sp>
        <p:nvSpPr>
          <p:cNvPr id="22534" name="Rectangle 6"/>
          <p:cNvSpPr>
            <a:spLocks noChangeArrowheads="1"/>
          </p:cNvSpPr>
          <p:nvPr/>
        </p:nvSpPr>
        <p:spPr bwMode="auto">
          <a:xfrm>
            <a:off x="539552" y="1268760"/>
            <a:ext cx="8059737" cy="547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990600" indent="-53340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371600" indent="-4572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828800" indent="-4572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286000" indent="-4572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743200" indent="-4572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3200400" indent="-4572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657600" indent="-4572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4114800" indent="-4572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buClr>
                <a:srgbClr val="000099"/>
              </a:buClr>
              <a:buSzPct val="90000"/>
            </a:pPr>
            <a:r>
              <a:rPr lang="zh-CN" altLang="en-US" sz="2800" dirty="0" smtClean="0">
                <a:solidFill>
                  <a:schemeClr val="tx1"/>
                </a:solidFill>
                <a:latin typeface="黑体" panose="02010609060101010101" pitchFamily="49" charset="-122"/>
                <a:ea typeface="黑体" panose="02010609060101010101" pitchFamily="49" charset="-122"/>
              </a:rPr>
              <a:t>码字</a:t>
            </a:r>
            <a:endParaRPr lang="en-US" altLang="zh-CN" sz="2800" dirty="0" smtClean="0">
              <a:solidFill>
                <a:schemeClr val="tx1"/>
              </a:solidFill>
              <a:latin typeface="黑体" panose="02010609060101010101" pitchFamily="49" charset="-122"/>
              <a:ea typeface="黑体" panose="02010609060101010101" pitchFamily="49" charset="-122"/>
            </a:endParaRPr>
          </a:p>
          <a:p>
            <a:pPr lvl="1" eaLnBrk="1" hangingPunct="1">
              <a:buClr>
                <a:srgbClr val="000099"/>
              </a:buClr>
              <a:buSzPct val="90000"/>
            </a:pPr>
            <a:r>
              <a:rPr lang="zh-CN" altLang="en-US" sz="2400" dirty="0" smtClean="0">
                <a:latin typeface="宋体" panose="02010600030101010101" pitchFamily="2" charset="-122"/>
              </a:rPr>
              <a:t>一个帧包括</a:t>
            </a:r>
            <a:r>
              <a:rPr lang="en-US" altLang="zh-CN" sz="2400" dirty="0" smtClean="0">
                <a:latin typeface="宋体" panose="02010600030101010101" pitchFamily="2" charset="-122"/>
              </a:rPr>
              <a:t>m</a:t>
            </a:r>
            <a:r>
              <a:rPr lang="zh-CN" altLang="en-US" sz="2400" dirty="0" smtClean="0">
                <a:latin typeface="宋体" panose="02010600030101010101" pitchFamily="2" charset="-122"/>
              </a:rPr>
              <a:t>个数据位，</a:t>
            </a:r>
            <a:r>
              <a:rPr lang="en-US" altLang="zh-CN" sz="2400" dirty="0" smtClean="0">
                <a:latin typeface="宋体" panose="02010600030101010101" pitchFamily="2" charset="-122"/>
              </a:rPr>
              <a:t>r</a:t>
            </a:r>
            <a:r>
              <a:rPr lang="zh-CN" altLang="en-US" sz="2400" dirty="0" smtClean="0">
                <a:latin typeface="宋体" panose="02010600030101010101" pitchFamily="2" charset="-122"/>
              </a:rPr>
              <a:t>个校验位</a:t>
            </a:r>
            <a:r>
              <a:rPr lang="en-US" altLang="zh-CN" sz="2400" dirty="0" smtClean="0">
                <a:latin typeface="宋体" panose="02010600030101010101" pitchFamily="2" charset="-122"/>
              </a:rPr>
              <a:t>/</a:t>
            </a:r>
            <a:r>
              <a:rPr lang="zh-CN" altLang="en-US" sz="2400" dirty="0" smtClean="0">
                <a:latin typeface="宋体" panose="02010600030101010101" pitchFamily="2" charset="-122"/>
              </a:rPr>
              <a:t>冗余位，称为</a:t>
            </a:r>
            <a:r>
              <a:rPr lang="en-US" altLang="zh-CN" sz="2400" dirty="0" smtClean="0">
                <a:latin typeface="宋体" panose="02010600030101010101" pitchFamily="2" charset="-122"/>
              </a:rPr>
              <a:t>n</a:t>
            </a:r>
            <a:r>
              <a:rPr lang="en-US" altLang="zh-CN" sz="2400" b="0" dirty="0" smtClean="0">
                <a:solidFill>
                  <a:schemeClr val="accent2"/>
                </a:solidFill>
                <a:ea typeface="黑体" panose="02010609060101010101" pitchFamily="49" charset="-122"/>
              </a:rPr>
              <a:t> </a:t>
            </a:r>
            <a:r>
              <a:rPr lang="zh-CN" altLang="en-US" sz="2400" dirty="0" smtClean="0">
                <a:latin typeface="宋体" panose="02010600030101010101" pitchFamily="2" charset="-122"/>
              </a:rPr>
              <a:t>位码字（</a:t>
            </a:r>
            <a:r>
              <a:rPr lang="en-US" altLang="zh-CN" sz="2400" dirty="0" smtClean="0">
                <a:ea typeface="黑体" panose="02010609060101010101" pitchFamily="49" charset="-122"/>
              </a:rPr>
              <a:t>n=</a:t>
            </a:r>
            <a:r>
              <a:rPr lang="en-US" altLang="zh-CN" sz="2400" dirty="0" err="1" smtClean="0">
                <a:ea typeface="黑体" panose="02010609060101010101" pitchFamily="49" charset="-122"/>
              </a:rPr>
              <a:t>m+r</a:t>
            </a:r>
            <a:r>
              <a:rPr lang="zh-CN" altLang="en-US" sz="2400" dirty="0" smtClean="0">
                <a:ea typeface="黑体" panose="02010609060101010101" pitchFamily="49" charset="-122"/>
              </a:rPr>
              <a:t>）</a:t>
            </a:r>
            <a:r>
              <a:rPr lang="zh-CN" altLang="en-US" sz="2400" dirty="0" smtClean="0">
                <a:latin typeface="宋体" panose="02010600030101010101" pitchFamily="2" charset="-122"/>
              </a:rPr>
              <a:t>。</a:t>
            </a:r>
            <a:r>
              <a:rPr lang="zh-CN" altLang="en-US" sz="2400" b="0" dirty="0" smtClean="0">
                <a:solidFill>
                  <a:schemeClr val="tx1"/>
                </a:solidFill>
              </a:rPr>
              <a:t>	</a:t>
            </a:r>
            <a:endParaRPr lang="en-US" altLang="zh-CN" sz="2400" b="0" dirty="0" smtClean="0">
              <a:solidFill>
                <a:schemeClr val="tx1"/>
              </a:solidFill>
            </a:endParaRPr>
          </a:p>
          <a:p>
            <a:pPr eaLnBrk="1" hangingPunct="1">
              <a:spcBef>
                <a:spcPts val="1200"/>
              </a:spcBef>
              <a:spcAft>
                <a:spcPts val="600"/>
              </a:spcAft>
              <a:buClr>
                <a:srgbClr val="000099"/>
              </a:buClr>
              <a:buSzPct val="90000"/>
            </a:pPr>
            <a:r>
              <a:rPr lang="zh-CN" altLang="en-US" sz="2800" dirty="0">
                <a:solidFill>
                  <a:schemeClr val="tx1"/>
                </a:solidFill>
                <a:latin typeface="黑体" panose="02010609060101010101" pitchFamily="49" charset="-122"/>
                <a:ea typeface="黑体" panose="02010609060101010101" pitchFamily="49" charset="-122"/>
              </a:rPr>
              <a:t>纠错码</a:t>
            </a:r>
            <a:r>
              <a:rPr lang="en-US" altLang="zh-CN" sz="2800" dirty="0">
                <a:solidFill>
                  <a:schemeClr val="tx1"/>
                </a:solidFill>
                <a:latin typeface="黑体" panose="02010609060101010101" pitchFamily="49" charset="-122"/>
                <a:ea typeface="黑体" panose="02010609060101010101" pitchFamily="49" charset="-122"/>
              </a:rPr>
              <a:t>error-correcting code</a:t>
            </a:r>
          </a:p>
          <a:p>
            <a:pPr lvl="1" eaLnBrk="1" hangingPunct="1">
              <a:buClr>
                <a:srgbClr val="000099"/>
              </a:buClr>
              <a:buSzPct val="90000"/>
            </a:pPr>
            <a:r>
              <a:rPr lang="zh-CN" altLang="en-US" sz="2400" dirty="0">
                <a:latin typeface="宋体" panose="02010600030101010101" pitchFamily="2" charset="-122"/>
              </a:rPr>
              <a:t>加入足够多冗余位，使接收方不仅知道有差错发生，并知道哪些位发生差错。</a:t>
            </a:r>
          </a:p>
          <a:p>
            <a:pPr eaLnBrk="1" hangingPunct="1">
              <a:spcBef>
                <a:spcPts val="1200"/>
              </a:spcBef>
              <a:spcAft>
                <a:spcPts val="600"/>
              </a:spcAft>
              <a:buClr>
                <a:srgbClr val="000099"/>
              </a:buClr>
              <a:buSzPct val="90000"/>
            </a:pPr>
            <a:r>
              <a:rPr lang="zh-CN" altLang="en-US" sz="2800" dirty="0">
                <a:solidFill>
                  <a:schemeClr val="tx1"/>
                </a:solidFill>
                <a:latin typeface="黑体" panose="02010609060101010101" pitchFamily="49" charset="-122"/>
                <a:ea typeface="黑体" panose="02010609060101010101" pitchFamily="49" charset="-122"/>
              </a:rPr>
              <a:t>检错码 </a:t>
            </a:r>
            <a:r>
              <a:rPr lang="en-US" altLang="zh-CN" sz="2800" dirty="0">
                <a:solidFill>
                  <a:schemeClr val="tx1"/>
                </a:solidFill>
                <a:latin typeface="黑体" panose="02010609060101010101" pitchFamily="49" charset="-122"/>
                <a:ea typeface="黑体" panose="02010609060101010101" pitchFamily="49" charset="-122"/>
              </a:rPr>
              <a:t>error-detecting code</a:t>
            </a:r>
          </a:p>
          <a:p>
            <a:pPr lvl="1" eaLnBrk="1" hangingPunct="1">
              <a:buClr>
                <a:srgbClr val="000099"/>
              </a:buClr>
              <a:buSzPct val="90000"/>
            </a:pPr>
            <a:r>
              <a:rPr lang="zh-CN" altLang="en-US" sz="2400" dirty="0">
                <a:latin typeface="宋体" panose="02010600030101010101" pitchFamily="2" charset="-122"/>
              </a:rPr>
              <a:t>加入少量冗余位，使接收方仅知道有差错发生，但不知道什么位置出错</a:t>
            </a:r>
            <a:endParaRPr lang="en-US" altLang="zh-CN" sz="2400" dirty="0">
              <a:latin typeface="宋体" panose="02010600030101010101" pitchFamily="2" charset="-122"/>
            </a:endParaRPr>
          </a:p>
          <a:p>
            <a:pPr lvl="1" eaLnBrk="1" hangingPunct="1">
              <a:buClr>
                <a:srgbClr val="000099"/>
              </a:buClr>
              <a:buSzPct val="90000"/>
            </a:pPr>
            <a:r>
              <a:rPr lang="zh-CN" altLang="en-US" sz="2400" dirty="0">
                <a:latin typeface="宋体" panose="02010600030101010101" pitchFamily="2" charset="-122"/>
              </a:rPr>
              <a:t>若要保障正确性传输，还需要使用请求重发机制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53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3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53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53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53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dirty="0" smtClean="0"/>
              <a:t>海明码</a:t>
            </a:r>
          </a:p>
        </p:txBody>
      </p:sp>
      <p:sp>
        <p:nvSpPr>
          <p:cNvPr id="282630" name="Rectangle 2054"/>
          <p:cNvSpPr>
            <a:spLocks noChangeArrowheads="1"/>
          </p:cNvSpPr>
          <p:nvPr/>
        </p:nvSpPr>
        <p:spPr bwMode="auto">
          <a:xfrm>
            <a:off x="179388" y="1196975"/>
            <a:ext cx="8785225" cy="453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kumimoji="1" sz="3200" b="1">
                <a:solidFill>
                  <a:schemeClr val="bg2"/>
                </a:solidFill>
                <a:latin typeface="Times New Roman" panose="02020603050405020304" pitchFamily="18" charset="0"/>
                <a:ea typeface="宋体" panose="02010600030101010101" pitchFamily="2" charset="-122"/>
              </a:defRPr>
            </a:lvl1pPr>
            <a:lvl2pPr marL="742950" indent="-285750" algn="l">
              <a:buClr>
                <a:srgbClr val="003399"/>
              </a:buClr>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lgn="l">
              <a:buClr>
                <a:srgbClr val="CC6600"/>
              </a:buClr>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lgn="l">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lgn="l">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20000"/>
              </a:spcBef>
              <a:buClr>
                <a:srgbClr val="3366FF"/>
              </a:buClr>
              <a:buFont typeface="Wingdings" panose="05000000000000000000" pitchFamily="2" charset="2"/>
              <a:buChar char="l"/>
              <a:defRPr/>
            </a:pPr>
            <a:r>
              <a:rPr lang="zh-CN" altLang="en-US" sz="2800" dirty="0" smtClean="0">
                <a:latin typeface="黑体" panose="02010609060101010101" pitchFamily="49" charset="-122"/>
                <a:ea typeface="黑体" panose="02010609060101010101" pitchFamily="49" charset="-122"/>
              </a:rPr>
              <a:t>海明距离</a:t>
            </a:r>
          </a:p>
          <a:p>
            <a:pPr lvl="1" eaLnBrk="1" hangingPunct="1">
              <a:spcBef>
                <a:spcPct val="20000"/>
              </a:spcBef>
              <a:buFont typeface="Wingdings" panose="05000000000000000000" pitchFamily="2" charset="2"/>
              <a:buChar char="ü"/>
              <a:defRPr/>
            </a:pPr>
            <a:r>
              <a:rPr lang="zh-CN" altLang="en-US" sz="2400" dirty="0" smtClean="0">
                <a:latin typeface="仿宋_GB2312" pitchFamily="49" charset="-122"/>
              </a:rPr>
              <a:t>两个码字的海明距离：两个码字</a:t>
            </a:r>
            <a:r>
              <a:rPr lang="zh-CN" altLang="en-US" sz="2400" dirty="0" smtClean="0">
                <a:solidFill>
                  <a:schemeClr val="hlink"/>
                </a:solidFill>
                <a:latin typeface="仿宋_GB2312" pitchFamily="49" charset="-122"/>
              </a:rPr>
              <a:t>不相同</a:t>
            </a:r>
            <a:r>
              <a:rPr lang="zh-CN" altLang="en-US" sz="2400" dirty="0" smtClean="0">
                <a:latin typeface="仿宋_GB2312" pitchFamily="49" charset="-122"/>
              </a:rPr>
              <a:t>位的个数。</a:t>
            </a:r>
            <a:endParaRPr lang="en-US" altLang="zh-CN" sz="2400" dirty="0" smtClean="0">
              <a:latin typeface="仿宋_GB2312" pitchFamily="49" charset="-122"/>
            </a:endParaRPr>
          </a:p>
          <a:p>
            <a:pPr marL="457200" lvl="1" indent="0" eaLnBrk="1" hangingPunct="1">
              <a:spcBef>
                <a:spcPts val="1200"/>
              </a:spcBef>
              <a:spcAft>
                <a:spcPts val="600"/>
              </a:spcAft>
              <a:buFont typeface="Wingdings" panose="05000000000000000000" pitchFamily="2" charset="2"/>
              <a:buNone/>
              <a:defRPr/>
            </a:pPr>
            <a:r>
              <a:rPr lang="zh-CN" altLang="en-US" sz="2400" dirty="0" smtClean="0">
                <a:latin typeface="仿宋_GB2312" pitchFamily="49" charset="-122"/>
              </a:rPr>
              <a:t>例：</a:t>
            </a:r>
            <a:r>
              <a:rPr lang="en-US" altLang="zh-CN" sz="2400" dirty="0" smtClean="0">
                <a:latin typeface="仿宋_GB2312" pitchFamily="49" charset="-122"/>
              </a:rPr>
              <a:t>0000000010</a:t>
            </a:r>
            <a:r>
              <a:rPr lang="zh-CN" altLang="en-US" sz="2400" dirty="0" smtClean="0">
                <a:latin typeface="仿宋_GB2312" pitchFamily="49" charset="-122"/>
              </a:rPr>
              <a:t>与</a:t>
            </a:r>
            <a:r>
              <a:rPr lang="en-US" altLang="zh-CN" sz="2400" dirty="0" smtClean="0">
                <a:latin typeface="仿宋_GB2312" pitchFamily="49" charset="-122"/>
              </a:rPr>
              <a:t>0000011111</a:t>
            </a:r>
            <a:r>
              <a:rPr lang="zh-CN" altLang="en-US" sz="2400" dirty="0" smtClean="0">
                <a:latin typeface="仿宋_GB2312" pitchFamily="49" charset="-122"/>
              </a:rPr>
              <a:t>的海明距离？</a:t>
            </a:r>
            <a:r>
              <a:rPr lang="en-US" altLang="zh-CN" sz="2400" dirty="0" smtClean="0">
                <a:latin typeface="仿宋_GB2312" pitchFamily="49" charset="-122"/>
              </a:rPr>
              <a:t>   </a:t>
            </a:r>
          </a:p>
          <a:p>
            <a:pPr lvl="1" eaLnBrk="1" hangingPunct="1">
              <a:spcBef>
                <a:spcPct val="20000"/>
              </a:spcBef>
              <a:buFont typeface="Wingdings" panose="05000000000000000000" pitchFamily="2" charset="2"/>
              <a:buChar char="ü"/>
              <a:defRPr/>
            </a:pPr>
            <a:r>
              <a:rPr lang="zh-CN" altLang="en-US" sz="2400" dirty="0" smtClean="0">
                <a:latin typeface="仿宋_GB2312" pitchFamily="49" charset="-122"/>
              </a:rPr>
              <a:t>编码方案的海明距离：编码方案中任意两个码字海明距离的</a:t>
            </a:r>
            <a:r>
              <a:rPr lang="zh-CN" altLang="en-US" sz="2400" dirty="0" smtClean="0">
                <a:solidFill>
                  <a:schemeClr val="hlink"/>
                </a:solidFill>
                <a:latin typeface="仿宋_GB2312" pitchFamily="49" charset="-122"/>
              </a:rPr>
              <a:t>最小值</a:t>
            </a:r>
            <a:r>
              <a:rPr lang="zh-CN" altLang="en-US" sz="2400" dirty="0" smtClean="0">
                <a:latin typeface="仿宋_GB2312" pitchFamily="49" charset="-122"/>
              </a:rPr>
              <a:t>。</a:t>
            </a:r>
            <a:endParaRPr lang="en-US" altLang="zh-CN" sz="2400" dirty="0" smtClean="0">
              <a:latin typeface="仿宋_GB2312" pitchFamily="49" charset="-122"/>
            </a:endParaRPr>
          </a:p>
          <a:p>
            <a:pPr eaLnBrk="1" hangingPunct="1">
              <a:spcBef>
                <a:spcPct val="20000"/>
              </a:spcBef>
              <a:buClr>
                <a:srgbClr val="3366FF"/>
              </a:buClr>
              <a:buFont typeface="Wingdings" panose="05000000000000000000" pitchFamily="2" charset="2"/>
              <a:buChar char="l"/>
              <a:defRPr/>
            </a:pPr>
            <a:r>
              <a:rPr lang="zh-CN" altLang="en-US" sz="2800" dirty="0">
                <a:latin typeface="黑体" panose="02010609060101010101" pitchFamily="49" charset="-122"/>
                <a:ea typeface="黑体" panose="02010609060101010101" pitchFamily="49" charset="-122"/>
              </a:rPr>
              <a:t>海明定理</a:t>
            </a:r>
          </a:p>
          <a:p>
            <a:pPr lvl="1" eaLnBrk="1" hangingPunct="1">
              <a:spcBef>
                <a:spcPct val="20000"/>
              </a:spcBef>
              <a:buFont typeface="Wingdings" panose="05000000000000000000" pitchFamily="2" charset="2"/>
              <a:buChar char="ü"/>
              <a:defRPr/>
            </a:pPr>
            <a:r>
              <a:rPr lang="zh-CN" altLang="en-US" sz="2400" dirty="0" smtClean="0">
                <a:latin typeface="仿宋_GB2312" pitchFamily="49" charset="-122"/>
              </a:rPr>
              <a:t>为</a:t>
            </a:r>
            <a:r>
              <a:rPr lang="zh-CN" altLang="en-US" sz="2400" dirty="0" smtClean="0">
                <a:solidFill>
                  <a:schemeClr val="hlink"/>
                </a:solidFill>
                <a:latin typeface="仿宋_GB2312" pitchFamily="49" charset="-122"/>
              </a:rPr>
              <a:t>检测</a:t>
            </a:r>
            <a:r>
              <a:rPr lang="en-US" altLang="zh-CN" sz="2400" dirty="0" smtClean="0">
                <a:solidFill>
                  <a:schemeClr val="hlink"/>
                </a:solidFill>
                <a:latin typeface="仿宋_GB2312" pitchFamily="49" charset="-122"/>
              </a:rPr>
              <a:t>d</a:t>
            </a:r>
            <a:r>
              <a:rPr lang="zh-CN" altLang="en-US" sz="2400" dirty="0" smtClean="0">
                <a:latin typeface="仿宋_GB2312" pitchFamily="49" charset="-122"/>
              </a:rPr>
              <a:t>位错，编码方案的海明距离应至少为</a:t>
            </a:r>
            <a:r>
              <a:rPr lang="en-US" altLang="zh-CN" sz="2400" dirty="0" smtClean="0">
                <a:solidFill>
                  <a:schemeClr val="hlink"/>
                </a:solidFill>
                <a:latin typeface="仿宋_GB2312" pitchFamily="49" charset="-122"/>
              </a:rPr>
              <a:t>d+1</a:t>
            </a:r>
            <a:r>
              <a:rPr lang="zh-CN" altLang="en-US" sz="2400" dirty="0" smtClean="0">
                <a:latin typeface="仿宋_GB2312" pitchFamily="49" charset="-122"/>
              </a:rPr>
              <a:t>；       当发生</a:t>
            </a:r>
            <a:r>
              <a:rPr lang="en-US" altLang="zh-CN" sz="2400" dirty="0" smtClean="0">
                <a:latin typeface="仿宋_GB2312" pitchFamily="49" charset="-122"/>
              </a:rPr>
              <a:t>d</a:t>
            </a:r>
            <a:r>
              <a:rPr lang="zh-CN" altLang="en-US" sz="2400" dirty="0" smtClean="0">
                <a:latin typeface="仿宋_GB2312" pitchFamily="49" charset="-122"/>
              </a:rPr>
              <a:t>位错时，不会由一种合法编码变为另一种合法编码。</a:t>
            </a:r>
          </a:p>
          <a:p>
            <a:pPr lvl="1" eaLnBrk="1" hangingPunct="1">
              <a:spcBef>
                <a:spcPct val="20000"/>
              </a:spcBef>
              <a:buFont typeface="Wingdings" panose="05000000000000000000" pitchFamily="2" charset="2"/>
              <a:buChar char="ü"/>
              <a:defRPr/>
            </a:pPr>
            <a:r>
              <a:rPr lang="zh-CN" altLang="en-US" sz="2400" dirty="0" smtClean="0">
                <a:latin typeface="仿宋_GB2312" pitchFamily="49" charset="-122"/>
              </a:rPr>
              <a:t>为</a:t>
            </a:r>
            <a:r>
              <a:rPr lang="zh-CN" altLang="en-US" sz="2400" dirty="0" smtClean="0">
                <a:solidFill>
                  <a:schemeClr val="hlink"/>
                </a:solidFill>
                <a:latin typeface="仿宋_GB2312" pitchFamily="49" charset="-122"/>
              </a:rPr>
              <a:t>纠正</a:t>
            </a:r>
            <a:r>
              <a:rPr lang="en-US" altLang="zh-CN" sz="2400" dirty="0" smtClean="0">
                <a:solidFill>
                  <a:schemeClr val="hlink"/>
                </a:solidFill>
                <a:latin typeface="仿宋_GB2312" pitchFamily="49" charset="-122"/>
              </a:rPr>
              <a:t>d</a:t>
            </a:r>
            <a:r>
              <a:rPr lang="zh-CN" altLang="en-US" sz="2400" dirty="0" smtClean="0">
                <a:latin typeface="仿宋_GB2312" pitchFamily="49" charset="-122"/>
              </a:rPr>
              <a:t>位错，编码方案的海明距离应至少为</a:t>
            </a:r>
            <a:r>
              <a:rPr lang="en-US" altLang="zh-CN" sz="2400" dirty="0" smtClean="0">
                <a:solidFill>
                  <a:schemeClr val="hlink"/>
                </a:solidFill>
                <a:latin typeface="仿宋_GB2312" pitchFamily="49" charset="-122"/>
              </a:rPr>
              <a:t>2d+1</a:t>
            </a:r>
            <a:r>
              <a:rPr lang="zh-CN" altLang="en-US" sz="2400" dirty="0" smtClean="0">
                <a:latin typeface="仿宋_GB2312" pitchFamily="49" charset="-122"/>
              </a:rPr>
              <a:t>；</a:t>
            </a:r>
          </a:p>
          <a:p>
            <a:pPr lvl="1" eaLnBrk="1" hangingPunct="1">
              <a:spcBef>
                <a:spcPct val="20000"/>
              </a:spcBef>
              <a:buFont typeface="Wingdings" panose="05000000000000000000" pitchFamily="2" charset="2"/>
              <a:buNone/>
              <a:defRPr/>
            </a:pPr>
            <a:r>
              <a:rPr lang="zh-CN" altLang="en-US" sz="2400" dirty="0" smtClean="0">
                <a:latin typeface="仿宋_GB2312" pitchFamily="49" charset="-122"/>
              </a:rPr>
              <a:t>  当发生</a:t>
            </a:r>
            <a:r>
              <a:rPr lang="en-US" altLang="zh-CN" sz="2400" dirty="0" smtClean="0">
                <a:latin typeface="仿宋_GB2312" pitchFamily="49" charset="-122"/>
              </a:rPr>
              <a:t>d</a:t>
            </a:r>
            <a:r>
              <a:rPr lang="zh-CN" altLang="en-US" sz="2400" dirty="0" smtClean="0">
                <a:latin typeface="仿宋_GB2312" pitchFamily="49" charset="-122"/>
              </a:rPr>
              <a:t>位错时，出错编码仍然最接近于原始的正确编码。</a:t>
            </a:r>
            <a:endParaRPr lang="en-US" altLang="zh-CN" sz="2400" dirty="0" smtClean="0">
              <a:latin typeface="仿宋_GB2312" pitchFamily="49" charset="-122"/>
            </a:endParaRPr>
          </a:p>
          <a:p>
            <a:pPr lvl="1" eaLnBrk="1" hangingPunct="1">
              <a:spcBef>
                <a:spcPct val="20000"/>
              </a:spcBef>
              <a:buFont typeface="Wingdings" panose="05000000000000000000" pitchFamily="2" charset="2"/>
              <a:buChar char="ü"/>
              <a:defRPr/>
            </a:pPr>
            <a:endParaRPr lang="zh-CN" altLang="en-US" sz="2400" dirty="0" smtClean="0">
              <a:latin typeface="仿宋_GB2312" pitchFamily="49" charset="-122"/>
            </a:endParaRPr>
          </a:p>
        </p:txBody>
      </p:sp>
      <p:sp>
        <p:nvSpPr>
          <p:cNvPr id="2" name="文本框 1"/>
          <p:cNvSpPr txBox="1">
            <a:spLocks noChangeArrowheads="1"/>
          </p:cNvSpPr>
          <p:nvPr/>
        </p:nvSpPr>
        <p:spPr bwMode="auto">
          <a:xfrm>
            <a:off x="6588125" y="2205038"/>
            <a:ext cx="363538" cy="522287"/>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Font typeface="Wingdings" panose="05000000000000000000" pitchFamily="2" charset="2"/>
              <a:buNone/>
            </a:pPr>
            <a:r>
              <a:rPr lang="en-US" altLang="zh-CN" sz="2800">
                <a:solidFill>
                  <a:schemeClr val="accent2"/>
                </a:solidFill>
                <a:ea typeface="黑体" panose="02010609060101010101" pitchFamily="49" charset="-122"/>
              </a:rPr>
              <a:t>4</a:t>
            </a:r>
            <a:endParaRPr lang="zh-CN" altLang="en-US" sz="2800">
              <a:solidFill>
                <a:schemeClr val="accent2"/>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6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26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26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82630">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82630">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82630">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82630">
                                            <p:txEl>
                                              <p:pRg st="6" end="6"/>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8263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smtClean="0"/>
              <a:t>奇偶校验码</a:t>
            </a:r>
          </a:p>
        </p:txBody>
      </p:sp>
      <p:sp>
        <p:nvSpPr>
          <p:cNvPr id="230404" name="Rectangle 2052"/>
          <p:cNvSpPr>
            <a:spLocks noChangeArrowheads="1"/>
          </p:cNvSpPr>
          <p:nvPr/>
        </p:nvSpPr>
        <p:spPr bwMode="auto">
          <a:xfrm>
            <a:off x="755650" y="1341438"/>
            <a:ext cx="7920038" cy="482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r>
              <a:rPr lang="zh-CN" altLang="en-US" sz="2800" dirty="0">
                <a:latin typeface="仿宋_GB2312" pitchFamily="49" charset="-122"/>
              </a:rPr>
              <a:t>在数据后填加一个奇偶位（</a:t>
            </a:r>
            <a:r>
              <a:rPr lang="en-US" altLang="zh-CN" sz="2800" dirty="0">
                <a:latin typeface="仿宋_GB2312" pitchFamily="49" charset="-122"/>
              </a:rPr>
              <a:t>parity bit</a:t>
            </a:r>
            <a:r>
              <a:rPr lang="zh-CN" altLang="en-US" sz="2800" dirty="0">
                <a:latin typeface="仿宋_GB2312" pitchFamily="49" charset="-122"/>
              </a:rPr>
              <a:t>）</a:t>
            </a:r>
          </a:p>
          <a:p>
            <a:pPr lvl="1" eaLnBrk="1" hangingPunct="1">
              <a:buFont typeface="Wingdings" panose="05000000000000000000" pitchFamily="2" charset="2"/>
              <a:buNone/>
            </a:pPr>
            <a:r>
              <a:rPr lang="zh-CN" altLang="en-US" sz="2400" dirty="0">
                <a:latin typeface="仿宋_GB2312" pitchFamily="49" charset="-122"/>
              </a:rPr>
              <a:t>例：使用</a:t>
            </a:r>
            <a:r>
              <a:rPr lang="zh-CN" altLang="en-US" sz="2400" dirty="0">
                <a:solidFill>
                  <a:schemeClr val="hlink"/>
                </a:solidFill>
                <a:latin typeface="仿宋_GB2312" pitchFamily="49" charset="-122"/>
              </a:rPr>
              <a:t>偶校验</a:t>
            </a:r>
            <a:r>
              <a:rPr lang="zh-CN" altLang="en-US" sz="2400" dirty="0">
                <a:latin typeface="仿宋_GB2312" pitchFamily="49" charset="-122"/>
              </a:rPr>
              <a:t>（</a:t>
            </a:r>
            <a:r>
              <a:rPr lang="zh-CN" altLang="en-US" sz="2400" dirty="0">
                <a:latin typeface="宋体" panose="02010600030101010101" pitchFamily="2" charset="-122"/>
              </a:rPr>
              <a:t>“</a:t>
            </a:r>
            <a:r>
              <a:rPr lang="en-US" altLang="zh-CN" sz="2400" dirty="0">
                <a:latin typeface="仿宋_GB2312" pitchFamily="49" charset="-122"/>
              </a:rPr>
              <a:t>1</a:t>
            </a:r>
            <a:r>
              <a:rPr lang="en-US" altLang="zh-CN" sz="2400" dirty="0">
                <a:latin typeface="宋体" panose="02010600030101010101" pitchFamily="2" charset="-122"/>
              </a:rPr>
              <a:t>”</a:t>
            </a:r>
            <a:r>
              <a:rPr lang="zh-CN" altLang="en-US" sz="2400" dirty="0">
                <a:latin typeface="仿宋_GB2312" pitchFamily="49" charset="-122"/>
              </a:rPr>
              <a:t>的个数为偶数）</a:t>
            </a:r>
          </a:p>
          <a:p>
            <a:pPr eaLnBrk="1" hangingPunct="1">
              <a:buFont typeface="Wingdings" panose="05000000000000000000" pitchFamily="2" charset="2"/>
              <a:buNone/>
            </a:pPr>
            <a:r>
              <a:rPr lang="zh-CN" altLang="en-US" sz="2400" dirty="0">
                <a:solidFill>
                  <a:srgbClr val="003399"/>
                </a:solidFill>
                <a:latin typeface="仿宋_GB2312" pitchFamily="49" charset="-122"/>
              </a:rPr>
              <a:t>		</a:t>
            </a:r>
            <a:r>
              <a:rPr lang="en-US" altLang="zh-CN" sz="2400" dirty="0">
                <a:solidFill>
                  <a:srgbClr val="003399"/>
                </a:solidFill>
                <a:latin typeface="仿宋_GB2312" pitchFamily="49" charset="-122"/>
              </a:rPr>
              <a:t>10110101	</a:t>
            </a:r>
            <a:r>
              <a:rPr lang="en-US" altLang="zh-CN" sz="2400" dirty="0">
                <a:solidFill>
                  <a:srgbClr val="003399"/>
                </a:solidFill>
                <a:latin typeface="宋体" panose="02010600030101010101" pitchFamily="2" charset="-122"/>
              </a:rPr>
              <a:t>——</a:t>
            </a:r>
            <a:r>
              <a:rPr lang="en-US" altLang="zh-CN" sz="2400" dirty="0">
                <a:solidFill>
                  <a:srgbClr val="003399"/>
                </a:solidFill>
                <a:latin typeface="仿宋_GB2312" pitchFamily="49" charset="-122"/>
              </a:rPr>
              <a:t>&gt;	10110101</a:t>
            </a:r>
            <a:r>
              <a:rPr lang="en-US" altLang="zh-CN" sz="2400" dirty="0">
                <a:solidFill>
                  <a:schemeClr val="hlink"/>
                </a:solidFill>
                <a:latin typeface="仿宋_GB2312" pitchFamily="49" charset="-122"/>
              </a:rPr>
              <a:t>1</a:t>
            </a:r>
          </a:p>
          <a:p>
            <a:pPr eaLnBrk="1" hangingPunct="1">
              <a:buFont typeface="Wingdings" panose="05000000000000000000" pitchFamily="2" charset="2"/>
              <a:buNone/>
            </a:pPr>
            <a:r>
              <a:rPr lang="en-US" altLang="zh-CN" sz="2400" dirty="0">
                <a:solidFill>
                  <a:srgbClr val="003399"/>
                </a:solidFill>
                <a:latin typeface="仿宋_GB2312" pitchFamily="49" charset="-122"/>
              </a:rPr>
              <a:t>		10110001	</a:t>
            </a:r>
            <a:r>
              <a:rPr lang="en-US" altLang="zh-CN" sz="2400" dirty="0">
                <a:solidFill>
                  <a:srgbClr val="003399"/>
                </a:solidFill>
                <a:latin typeface="宋体" panose="02010600030101010101" pitchFamily="2" charset="-122"/>
              </a:rPr>
              <a:t>——</a:t>
            </a:r>
            <a:r>
              <a:rPr lang="en-US" altLang="zh-CN" sz="2400" dirty="0">
                <a:solidFill>
                  <a:srgbClr val="003399"/>
                </a:solidFill>
                <a:latin typeface="仿宋_GB2312" pitchFamily="49" charset="-122"/>
              </a:rPr>
              <a:t>&gt;	</a:t>
            </a:r>
            <a:r>
              <a:rPr lang="en-US" altLang="zh-CN" sz="2400" dirty="0" smtClean="0">
                <a:solidFill>
                  <a:srgbClr val="003399"/>
                </a:solidFill>
                <a:latin typeface="仿宋_GB2312" pitchFamily="49" charset="-122"/>
              </a:rPr>
              <a:t>10110001</a:t>
            </a:r>
            <a:r>
              <a:rPr lang="en-US" altLang="zh-CN" sz="2400" dirty="0" smtClean="0">
                <a:solidFill>
                  <a:schemeClr val="hlink"/>
                </a:solidFill>
                <a:latin typeface="仿宋_GB2312" pitchFamily="49" charset="-122"/>
              </a:rPr>
              <a:t>0</a:t>
            </a:r>
            <a:endParaRPr lang="en-US" altLang="zh-CN" sz="2400" dirty="0">
              <a:solidFill>
                <a:schemeClr val="hlink"/>
              </a:solidFill>
              <a:latin typeface="仿宋_GB2312" pitchFamily="49" charset="-122"/>
            </a:endParaRPr>
          </a:p>
          <a:p>
            <a:pPr lvl="1" eaLnBrk="1" hangingPunct="1"/>
            <a:r>
              <a:rPr lang="zh-CN" altLang="en-US" sz="2400" dirty="0">
                <a:latin typeface="仿宋_GB2312" pitchFamily="49" charset="-122"/>
              </a:rPr>
              <a:t>若接收方收到的字节奇偶结果不正确，就可以知道传输中发生了错误</a:t>
            </a:r>
            <a:r>
              <a:rPr lang="zh-CN" altLang="en-US" sz="2400" dirty="0" smtClean="0">
                <a:latin typeface="仿宋_GB2312" pitchFamily="49" charset="-122"/>
              </a:rPr>
              <a:t>。</a:t>
            </a:r>
            <a:endParaRPr lang="en-US" altLang="zh-CN" sz="2400" dirty="0" smtClean="0">
              <a:latin typeface="仿宋_GB2312" pitchFamily="49" charset="-122"/>
            </a:endParaRPr>
          </a:p>
          <a:p>
            <a:r>
              <a:rPr lang="zh-CN" altLang="en-US" sz="2800" dirty="0">
                <a:latin typeface="仿宋_GB2312" pitchFamily="49" charset="-122"/>
              </a:rPr>
              <a:t>奇偶校验码因校验能力低而难以适用于块数据传输。</a:t>
            </a:r>
            <a:endParaRPr lang="en-US" altLang="zh-CN" sz="2800" dirty="0">
              <a:latin typeface="仿宋_GB2312" pitchFamily="49" charset="-122"/>
            </a:endParaRPr>
          </a:p>
          <a:p>
            <a:r>
              <a:rPr lang="zh-CN" altLang="en-US" sz="2800" dirty="0">
                <a:latin typeface="仿宋_GB2312" pitchFamily="49" charset="-122"/>
              </a:rPr>
              <a:t>垂直水平奇偶校验码（纵横奇偶校验码、方阵码）</a:t>
            </a:r>
            <a:r>
              <a:rPr lang="zh-CN" altLang="en-US" sz="2800" dirty="0" smtClean="0">
                <a:latin typeface="仿宋_GB2312" pitchFamily="49" charset="-122"/>
              </a:rPr>
              <a:t>：奇偶校验码</a:t>
            </a:r>
            <a:r>
              <a:rPr lang="zh-CN" altLang="en-US" sz="2800" dirty="0">
                <a:latin typeface="仿宋_GB2312" pitchFamily="49" charset="-122"/>
              </a:rPr>
              <a:t>的改进，提高了检错能力。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4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040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040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040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040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040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040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dirty="0" smtClean="0">
                <a:sym typeface="Symbol" panose="05050102010706020507" pitchFamily="18" charset="2"/>
              </a:rPr>
              <a:t>循环冗余校验码 </a:t>
            </a:r>
            <a:r>
              <a:rPr lang="en-US" altLang="zh-CN" dirty="0" smtClean="0">
                <a:sym typeface="Symbol" panose="05050102010706020507" pitchFamily="18" charset="2"/>
              </a:rPr>
              <a:t>(CRC)</a:t>
            </a:r>
          </a:p>
        </p:txBody>
      </p:sp>
      <p:sp>
        <p:nvSpPr>
          <p:cNvPr id="27651" name="Rectangle 3"/>
          <p:cNvSpPr>
            <a:spLocks noGrp="1" noChangeArrowheads="1"/>
          </p:cNvSpPr>
          <p:nvPr>
            <p:ph type="body" idx="1"/>
          </p:nvPr>
        </p:nvSpPr>
        <p:spPr>
          <a:xfrm>
            <a:off x="539750" y="1125538"/>
            <a:ext cx="8388350" cy="5183782"/>
          </a:xfrm>
        </p:spPr>
        <p:txBody>
          <a:bodyPr/>
          <a:lstStyle/>
          <a:p>
            <a:pPr eaLnBrk="1" hangingPunct="1">
              <a:defRPr/>
            </a:pPr>
            <a:r>
              <a:rPr lang="zh-CN" altLang="en-US" sz="2800" dirty="0" smtClean="0">
                <a:latin typeface="+mj-ea"/>
                <a:ea typeface="+mj-ea"/>
                <a:sym typeface="Symbol" panose="05050102010706020507" pitchFamily="18" charset="2"/>
              </a:rPr>
              <a:t>循环冗余码（</a:t>
            </a:r>
            <a:r>
              <a:rPr lang="en-US" altLang="zh-CN" sz="2800" dirty="0" smtClean="0">
                <a:latin typeface="+mj-ea"/>
                <a:ea typeface="+mj-ea"/>
                <a:sym typeface="Symbol" panose="05050102010706020507" pitchFamily="18" charset="2"/>
              </a:rPr>
              <a:t>CRC</a:t>
            </a:r>
            <a:r>
              <a:rPr lang="zh-CN" altLang="en-US" sz="2800" dirty="0" smtClean="0">
                <a:latin typeface="+mj-ea"/>
                <a:ea typeface="+mj-ea"/>
                <a:sym typeface="Symbol" panose="05050102010706020507" pitchFamily="18" charset="2"/>
              </a:rPr>
              <a:t>码，多项式编码）</a:t>
            </a:r>
          </a:p>
          <a:p>
            <a:pPr lvl="1" eaLnBrk="1" hangingPunct="1">
              <a:buClr>
                <a:srgbClr val="000099"/>
              </a:buClr>
              <a:buSzPct val="85000"/>
              <a:defRPr/>
            </a:pPr>
            <a:r>
              <a:rPr lang="zh-CN" altLang="en-US" sz="2400" dirty="0" smtClean="0">
                <a:latin typeface="仿宋_GB2312" pitchFamily="49" charset="-122"/>
                <a:sym typeface="Symbol" panose="05050102010706020507" pitchFamily="18" charset="2"/>
              </a:rPr>
              <a:t>二进制位串的多项式表示</a:t>
            </a:r>
            <a:endParaRPr lang="en-US" altLang="zh-CN" sz="2400" dirty="0" smtClean="0">
              <a:latin typeface="仿宋_GB2312" pitchFamily="49" charset="-122"/>
              <a:sym typeface="Symbol" panose="05050102010706020507" pitchFamily="18" charset="2"/>
            </a:endParaRPr>
          </a:p>
          <a:p>
            <a:pPr marL="457200" lvl="1" indent="0" eaLnBrk="1" hangingPunct="1">
              <a:buClr>
                <a:srgbClr val="000099"/>
              </a:buClr>
              <a:buSzPct val="85000"/>
              <a:buFont typeface="Wingdings" panose="05000000000000000000" pitchFamily="2" charset="2"/>
              <a:buNone/>
              <a:defRPr/>
            </a:pPr>
            <a:r>
              <a:rPr lang="zh-CN" altLang="en-US" sz="2400" dirty="0" smtClean="0">
                <a:latin typeface="仿宋_GB2312" pitchFamily="49" charset="-122"/>
                <a:sym typeface="Symbol" panose="05050102010706020507" pitchFamily="18" charset="2"/>
              </a:rPr>
              <a:t>例程：</a:t>
            </a:r>
            <a:r>
              <a:rPr lang="en-US" altLang="zh-CN" sz="2400" dirty="0" smtClean="0">
                <a:latin typeface="仿宋_GB2312" pitchFamily="49" charset="-122"/>
                <a:sym typeface="Symbol" panose="05050102010706020507" pitchFamily="18" charset="2"/>
              </a:rPr>
              <a:t>110001 </a:t>
            </a:r>
            <a:r>
              <a:rPr lang="zh-CN" altLang="en-US" sz="2400" dirty="0" smtClean="0">
                <a:latin typeface="仿宋_GB2312" pitchFamily="49" charset="-122"/>
                <a:sym typeface="Symbol" panose="05050102010706020507" pitchFamily="18" charset="2"/>
              </a:rPr>
              <a:t>表示成多项式 </a:t>
            </a:r>
            <a:r>
              <a:rPr lang="en-US" altLang="zh-CN" sz="2400" i="1" dirty="0" smtClean="0">
                <a:latin typeface="仿宋_GB2312" pitchFamily="49" charset="-122"/>
                <a:sym typeface="Symbol" panose="05050102010706020507" pitchFamily="18" charset="2"/>
              </a:rPr>
              <a:t>x</a:t>
            </a:r>
            <a:r>
              <a:rPr lang="en-US" altLang="zh-CN" sz="2400" i="1" baseline="30000" dirty="0" smtClean="0">
                <a:latin typeface="仿宋_GB2312" pitchFamily="49" charset="-122"/>
                <a:sym typeface="Symbol" panose="05050102010706020507" pitchFamily="18" charset="2"/>
              </a:rPr>
              <a:t>5</a:t>
            </a:r>
            <a:r>
              <a:rPr lang="en-US" altLang="zh-CN" sz="2400" i="1" dirty="0" smtClean="0">
                <a:latin typeface="仿宋_GB2312" pitchFamily="49" charset="-122"/>
                <a:sym typeface="Symbol" panose="05050102010706020507" pitchFamily="18" charset="2"/>
              </a:rPr>
              <a:t> + x</a:t>
            </a:r>
            <a:r>
              <a:rPr lang="en-US" altLang="zh-CN" sz="2400" i="1" baseline="30000" dirty="0">
                <a:latin typeface="仿宋_GB2312" pitchFamily="49" charset="-122"/>
                <a:sym typeface="Symbol" panose="05050102010706020507" pitchFamily="18" charset="2"/>
              </a:rPr>
              <a:t>4</a:t>
            </a:r>
            <a:r>
              <a:rPr lang="en-US" altLang="zh-CN" sz="2400" i="1" dirty="0" smtClean="0">
                <a:latin typeface="仿宋_GB2312" pitchFamily="49" charset="-122"/>
                <a:sym typeface="Symbol" panose="05050102010706020507" pitchFamily="18" charset="2"/>
              </a:rPr>
              <a:t> + 1</a:t>
            </a:r>
          </a:p>
          <a:p>
            <a:pPr eaLnBrk="1" hangingPunct="1">
              <a:defRPr/>
            </a:pPr>
            <a:r>
              <a:rPr lang="zh-CN" altLang="en-US" sz="2800" dirty="0" smtClean="0">
                <a:latin typeface="黑体" panose="02010609060101010101" pitchFamily="49" charset="-122"/>
                <a:ea typeface="黑体" panose="02010609060101010101" pitchFamily="49" charset="-122"/>
                <a:sym typeface="Symbol" panose="05050102010706020507" pitchFamily="18" charset="2"/>
              </a:rPr>
              <a:t>生成多项式</a:t>
            </a:r>
            <a:r>
              <a:rPr lang="en-US" altLang="zh-CN" sz="2800" i="1" dirty="0" smtClean="0">
                <a:latin typeface="黑体" panose="02010609060101010101" pitchFamily="49" charset="-122"/>
                <a:ea typeface="黑体" panose="02010609060101010101" pitchFamily="49" charset="-122"/>
                <a:sym typeface="Symbol" panose="05050102010706020507" pitchFamily="18" charset="2"/>
              </a:rPr>
              <a:t>G(x)</a:t>
            </a:r>
          </a:p>
          <a:p>
            <a:pPr lvl="1" eaLnBrk="1" hangingPunct="1">
              <a:buClr>
                <a:srgbClr val="000099"/>
              </a:buClr>
              <a:buSzPct val="85000"/>
              <a:defRPr/>
            </a:pPr>
            <a:r>
              <a:rPr lang="zh-CN" altLang="en-US" sz="2400" dirty="0" smtClean="0">
                <a:latin typeface="仿宋_GB2312" pitchFamily="49" charset="-122"/>
                <a:sym typeface="Symbol" panose="05050102010706020507" pitchFamily="18" charset="2"/>
              </a:rPr>
              <a:t>发方、收方事前</a:t>
            </a:r>
            <a:r>
              <a:rPr lang="zh-CN" altLang="en-US" sz="2400" dirty="0" smtClean="0">
                <a:solidFill>
                  <a:schemeClr val="hlink"/>
                </a:solidFill>
                <a:latin typeface="仿宋_GB2312" pitchFamily="49" charset="-122"/>
                <a:sym typeface="Symbol" panose="05050102010706020507" pitchFamily="18" charset="2"/>
              </a:rPr>
              <a:t>约定</a:t>
            </a:r>
            <a:r>
              <a:rPr lang="zh-CN" altLang="en-US" sz="2400" dirty="0" smtClean="0">
                <a:latin typeface="仿宋_GB2312" pitchFamily="49" charset="-122"/>
                <a:sym typeface="Symbol" panose="05050102010706020507" pitchFamily="18" charset="2"/>
              </a:rPr>
              <a:t>；</a:t>
            </a:r>
          </a:p>
          <a:p>
            <a:pPr lvl="1" eaLnBrk="1" hangingPunct="1">
              <a:buClr>
                <a:srgbClr val="000099"/>
              </a:buClr>
              <a:buSzPct val="85000"/>
              <a:defRPr/>
            </a:pPr>
            <a:r>
              <a:rPr lang="zh-CN" altLang="en-US" sz="2400" dirty="0" smtClean="0">
                <a:latin typeface="仿宋_GB2312" pitchFamily="49" charset="-122"/>
                <a:sym typeface="Symbol" panose="05050102010706020507" pitchFamily="18" charset="2"/>
              </a:rPr>
              <a:t>生成多项式的最高位和最低位必须为</a:t>
            </a:r>
            <a:r>
              <a:rPr lang="en-US" altLang="zh-CN" sz="2400" dirty="0" smtClean="0">
                <a:solidFill>
                  <a:schemeClr val="hlink"/>
                </a:solidFill>
                <a:latin typeface="仿宋_GB2312" pitchFamily="49" charset="-122"/>
                <a:sym typeface="Symbol" panose="05050102010706020507" pitchFamily="18" charset="2"/>
              </a:rPr>
              <a:t>1</a:t>
            </a:r>
          </a:p>
          <a:p>
            <a:pPr lvl="1" eaLnBrk="1" hangingPunct="1">
              <a:buClr>
                <a:srgbClr val="000099"/>
              </a:buClr>
              <a:buSzPct val="85000"/>
              <a:defRPr/>
            </a:pPr>
            <a:r>
              <a:rPr lang="zh-CN" altLang="en-US" sz="2400" dirty="0" smtClean="0">
                <a:latin typeface="仿宋_GB2312" pitchFamily="49" charset="-122"/>
                <a:sym typeface="Symbol" panose="05050102010706020507" pitchFamily="18" charset="2"/>
              </a:rPr>
              <a:t>生成多项式必须比传输信息对应的多项式</a:t>
            </a:r>
            <a:r>
              <a:rPr lang="zh-CN" altLang="en-US" sz="2400" dirty="0" smtClean="0">
                <a:solidFill>
                  <a:schemeClr val="hlink"/>
                </a:solidFill>
                <a:latin typeface="仿宋_GB2312" pitchFamily="49" charset="-122"/>
                <a:sym typeface="Symbol" panose="05050102010706020507" pitchFamily="18" charset="2"/>
              </a:rPr>
              <a:t>短</a:t>
            </a:r>
            <a:r>
              <a:rPr lang="zh-CN" altLang="en-US" sz="2400" dirty="0" smtClean="0">
                <a:latin typeface="仿宋_GB2312" pitchFamily="49" charset="-122"/>
                <a:sym typeface="Symbol" panose="05050102010706020507" pitchFamily="18" charset="2"/>
              </a:rPr>
              <a:t>。</a:t>
            </a:r>
          </a:p>
          <a:p>
            <a:pPr eaLnBrk="1" hangingPunct="1">
              <a:defRPr/>
            </a:pPr>
            <a:r>
              <a:rPr lang="en-US" altLang="zh-CN" sz="2800" dirty="0" smtClean="0">
                <a:latin typeface="黑体" panose="02010609060101010101" pitchFamily="49" charset="-122"/>
                <a:ea typeface="黑体" panose="02010609060101010101" pitchFamily="49" charset="-122"/>
                <a:sym typeface="Symbol" panose="05050102010706020507" pitchFamily="18" charset="2"/>
              </a:rPr>
              <a:t>CRC</a:t>
            </a:r>
            <a:r>
              <a:rPr lang="zh-CN" altLang="en-US" sz="2800" dirty="0" smtClean="0">
                <a:latin typeface="黑体" panose="02010609060101010101" pitchFamily="49" charset="-122"/>
                <a:ea typeface="黑体" panose="02010609060101010101" pitchFamily="49" charset="-122"/>
                <a:sym typeface="Symbol" panose="05050102010706020507" pitchFamily="18" charset="2"/>
              </a:rPr>
              <a:t>校验过程</a:t>
            </a:r>
          </a:p>
          <a:p>
            <a:pPr lvl="1" eaLnBrk="1" hangingPunct="1">
              <a:buClr>
                <a:srgbClr val="000099"/>
              </a:buClr>
              <a:buSzPct val="85000"/>
              <a:defRPr/>
            </a:pPr>
            <a:r>
              <a:rPr lang="en-US" altLang="zh-CN" sz="2400" dirty="0" smtClean="0">
                <a:latin typeface="仿宋_GB2312" pitchFamily="49" charset="-122"/>
                <a:sym typeface="Symbol" panose="05050102010706020507" pitchFamily="18" charset="2"/>
              </a:rPr>
              <a:t>CRC</a:t>
            </a:r>
            <a:r>
              <a:rPr lang="zh-CN" altLang="en-US" sz="2400" dirty="0" smtClean="0">
                <a:latin typeface="仿宋_GB2312" pitchFamily="49" charset="-122"/>
                <a:sym typeface="Symbol" panose="05050102010706020507" pitchFamily="18" charset="2"/>
              </a:rPr>
              <a:t>码（即校验和）加在</a:t>
            </a:r>
            <a:r>
              <a:rPr lang="zh-CN" altLang="en-US" sz="2400" dirty="0" smtClean="0">
                <a:solidFill>
                  <a:schemeClr val="hlink"/>
                </a:solidFill>
                <a:latin typeface="仿宋_GB2312" pitchFamily="49" charset="-122"/>
                <a:sym typeface="Symbol" panose="05050102010706020507" pitchFamily="18" charset="2"/>
              </a:rPr>
              <a:t>帧尾</a:t>
            </a:r>
            <a:r>
              <a:rPr lang="zh-CN" altLang="en-US" sz="2400" dirty="0" smtClean="0">
                <a:latin typeface="仿宋_GB2312" pitchFamily="49" charset="-122"/>
                <a:sym typeface="Symbol" panose="05050102010706020507" pitchFamily="18" charset="2"/>
              </a:rPr>
              <a:t>，使带</a:t>
            </a:r>
            <a:r>
              <a:rPr lang="en-US" altLang="zh-CN" sz="2400" dirty="0" smtClean="0">
                <a:latin typeface="仿宋_GB2312" pitchFamily="49" charset="-122"/>
                <a:sym typeface="Symbol" panose="05050102010706020507" pitchFamily="18" charset="2"/>
              </a:rPr>
              <a:t>CRC</a:t>
            </a:r>
            <a:r>
              <a:rPr lang="zh-CN" altLang="en-US" sz="2400" dirty="0" smtClean="0">
                <a:latin typeface="仿宋_GB2312" pitchFamily="49" charset="-122"/>
                <a:sym typeface="Symbol" panose="05050102010706020507" pitchFamily="18" charset="2"/>
              </a:rPr>
              <a:t>码的多项式能被</a:t>
            </a:r>
            <a:r>
              <a:rPr lang="en-US" altLang="zh-CN" sz="2400" dirty="0" smtClean="0">
                <a:latin typeface="仿宋_GB2312" pitchFamily="49" charset="-122"/>
                <a:sym typeface="Symbol" panose="05050102010706020507" pitchFamily="18" charset="2"/>
              </a:rPr>
              <a:t>G(x)</a:t>
            </a:r>
            <a:r>
              <a:rPr lang="zh-CN" altLang="en-US" sz="2400" dirty="0" smtClean="0">
                <a:solidFill>
                  <a:schemeClr val="hlink"/>
                </a:solidFill>
                <a:latin typeface="仿宋_GB2312" pitchFamily="49" charset="-122"/>
                <a:sym typeface="Symbol" panose="05050102010706020507" pitchFamily="18" charset="2"/>
              </a:rPr>
              <a:t>除尽</a:t>
            </a:r>
            <a:r>
              <a:rPr lang="zh-CN" altLang="en-US" sz="2400" dirty="0" smtClean="0">
                <a:latin typeface="仿宋_GB2312" pitchFamily="49" charset="-122"/>
                <a:sym typeface="Symbol" panose="05050102010706020507" pitchFamily="18" charset="2"/>
              </a:rPr>
              <a:t>；接收方接收时，用</a:t>
            </a:r>
            <a:r>
              <a:rPr lang="en-US" altLang="zh-CN" sz="2400" dirty="0" smtClean="0">
                <a:latin typeface="仿宋_GB2312" pitchFamily="49" charset="-122"/>
                <a:sym typeface="Symbol" panose="05050102010706020507" pitchFamily="18" charset="2"/>
              </a:rPr>
              <a:t>G(x)</a:t>
            </a:r>
            <a:r>
              <a:rPr lang="zh-CN" altLang="en-US" sz="2400" dirty="0" smtClean="0">
                <a:latin typeface="仿宋_GB2312" pitchFamily="49" charset="-122"/>
                <a:sym typeface="Symbol" panose="05050102010706020507" pitchFamily="18" charset="2"/>
              </a:rPr>
              <a:t>去除它，若</a:t>
            </a:r>
            <a:r>
              <a:rPr lang="zh-CN" altLang="en-US" sz="2400" dirty="0" smtClean="0">
                <a:solidFill>
                  <a:schemeClr val="hlink"/>
                </a:solidFill>
                <a:latin typeface="仿宋_GB2312" pitchFamily="49" charset="-122"/>
                <a:sym typeface="Symbol" panose="05050102010706020507" pitchFamily="18" charset="2"/>
              </a:rPr>
              <a:t>有余数</a:t>
            </a:r>
            <a:r>
              <a:rPr lang="zh-CN" altLang="en-US" sz="2400" dirty="0" smtClean="0">
                <a:latin typeface="仿宋_GB2312" pitchFamily="49" charset="-122"/>
                <a:sym typeface="Symbol" panose="05050102010706020507" pitchFamily="18" charset="2"/>
              </a:rPr>
              <a:t>，则传输出错。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65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65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65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651">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65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6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0"/>
            <a:ext cx="498633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圆角矩形标注 2"/>
          <p:cNvSpPr>
            <a:spLocks noChangeArrowheads="1"/>
          </p:cNvSpPr>
          <p:nvPr/>
        </p:nvSpPr>
        <p:spPr bwMode="auto">
          <a:xfrm>
            <a:off x="2268538" y="1773238"/>
            <a:ext cx="1366837" cy="2016125"/>
          </a:xfrm>
          <a:prstGeom prst="wedgeRoundRectCallout">
            <a:avLst>
              <a:gd name="adj1" fmla="val -20833"/>
              <a:gd name="adj2" fmla="val 62500"/>
              <a:gd name="adj3" fmla="val 16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endParaRPr lang="zh-CN" altLang="en-US" sz="2800">
              <a:solidFill>
                <a:schemeClr val="accent2"/>
              </a:solidFill>
              <a:ea typeface="黑体" panose="02010609060101010101" pitchFamily="49" charset="-122"/>
            </a:endParaRPr>
          </a:p>
        </p:txBody>
      </p:sp>
      <p:sp>
        <p:nvSpPr>
          <p:cNvPr id="4" name="圆角矩形标注 3"/>
          <p:cNvSpPr>
            <a:spLocks noChangeArrowheads="1"/>
          </p:cNvSpPr>
          <p:nvPr/>
        </p:nvSpPr>
        <p:spPr bwMode="auto">
          <a:xfrm>
            <a:off x="1235075" y="3933825"/>
            <a:ext cx="1033463" cy="850900"/>
          </a:xfrm>
          <a:prstGeom prst="wedgeRoundRectCallout">
            <a:avLst>
              <a:gd name="adj1" fmla="val 213963"/>
              <a:gd name="adj2" fmla="val -358199"/>
              <a:gd name="adj3" fmla="val 16667"/>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Font typeface="Wingdings" panose="05000000000000000000" pitchFamily="2" charset="2"/>
              <a:buNone/>
            </a:pPr>
            <a:r>
              <a:rPr lang="zh-CN" altLang="en-US" sz="2000">
                <a:solidFill>
                  <a:schemeClr val="accent2"/>
                </a:solidFill>
                <a:latin typeface="华文楷体" panose="02010600040101010101" pitchFamily="2" charset="-122"/>
                <a:ea typeface="华文楷体" panose="02010600040101010101" pitchFamily="2" charset="-122"/>
              </a:rPr>
              <a:t>执行异</a:t>
            </a:r>
            <a:endParaRPr lang="en-US" altLang="zh-CN" sz="2000">
              <a:solidFill>
                <a:schemeClr val="accent2"/>
              </a:solidFill>
              <a:latin typeface="华文楷体" panose="02010600040101010101" pitchFamily="2" charset="-122"/>
              <a:ea typeface="华文楷体" panose="02010600040101010101" pitchFamily="2" charset="-122"/>
            </a:endParaRPr>
          </a:p>
          <a:p>
            <a:pPr algn="r" eaLnBrk="1" hangingPunct="1">
              <a:buFont typeface="Wingdings" panose="05000000000000000000" pitchFamily="2" charset="2"/>
              <a:buNone/>
            </a:pPr>
            <a:r>
              <a:rPr lang="zh-CN" altLang="en-US" sz="2000">
                <a:solidFill>
                  <a:schemeClr val="accent2"/>
                </a:solidFill>
                <a:latin typeface="华文楷体" panose="02010600040101010101" pitchFamily="2" charset="-122"/>
                <a:ea typeface="华文楷体" panose="02010600040101010101" pitchFamily="2" charset="-122"/>
              </a:rPr>
              <a:t>或运算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755650" y="1125538"/>
            <a:ext cx="8388350" cy="4967758"/>
          </a:xfrm>
        </p:spPr>
        <p:txBody>
          <a:bodyPr/>
          <a:lstStyle/>
          <a:p>
            <a:pPr eaLnBrk="1" hangingPunct="1">
              <a:spcBef>
                <a:spcPts val="1200"/>
              </a:spcBef>
            </a:pPr>
            <a:r>
              <a:rPr lang="zh-CN" altLang="en-US" sz="2800" dirty="0" smtClean="0">
                <a:latin typeface="黑体" panose="02010609060101010101" pitchFamily="49" charset="-122"/>
                <a:ea typeface="黑体" panose="02010609060101010101" pitchFamily="49" charset="-122"/>
              </a:rPr>
              <a:t>标准化，四个多项式已成为国际标准</a:t>
            </a:r>
          </a:p>
          <a:p>
            <a:pPr lvl="1" eaLnBrk="1" hangingPunct="1">
              <a:lnSpc>
                <a:spcPct val="90000"/>
              </a:lnSpc>
              <a:buClr>
                <a:srgbClr val="000099"/>
              </a:buClr>
              <a:buSzPct val="85000"/>
            </a:pPr>
            <a:r>
              <a:rPr lang="en-US" altLang="zh-CN" sz="2400" i="1" dirty="0" smtClean="0">
                <a:latin typeface="宋体" panose="02010600030101010101" pitchFamily="2" charset="-122"/>
              </a:rPr>
              <a:t>CRC-12 	= x</a:t>
            </a:r>
            <a:r>
              <a:rPr lang="en-US" altLang="zh-CN" sz="2400" i="1" baseline="30000" dirty="0" smtClean="0">
                <a:latin typeface="宋体" panose="02010600030101010101" pitchFamily="2" charset="-122"/>
              </a:rPr>
              <a:t>12</a:t>
            </a:r>
            <a:r>
              <a:rPr lang="en-US" altLang="zh-CN" sz="2400" i="1" dirty="0" smtClean="0">
                <a:latin typeface="宋体" panose="02010600030101010101" pitchFamily="2" charset="-122"/>
              </a:rPr>
              <a:t> + x</a:t>
            </a:r>
            <a:r>
              <a:rPr lang="en-US" altLang="zh-CN" sz="2400" i="1" baseline="30000" dirty="0" smtClean="0">
                <a:latin typeface="宋体" panose="02010600030101010101" pitchFamily="2" charset="-122"/>
              </a:rPr>
              <a:t>11</a:t>
            </a:r>
            <a:r>
              <a:rPr lang="en-US" altLang="zh-CN" sz="2400" i="1" dirty="0" smtClean="0">
                <a:latin typeface="宋体" panose="02010600030101010101" pitchFamily="2" charset="-122"/>
              </a:rPr>
              <a:t> + x</a:t>
            </a:r>
            <a:r>
              <a:rPr lang="en-US" altLang="zh-CN" sz="2400" i="1" baseline="30000" dirty="0" smtClean="0">
                <a:latin typeface="宋体" panose="02010600030101010101" pitchFamily="2" charset="-122"/>
              </a:rPr>
              <a:t>3</a:t>
            </a:r>
            <a:r>
              <a:rPr lang="en-US" altLang="zh-CN" sz="2400" i="1" dirty="0" smtClean="0">
                <a:latin typeface="宋体" panose="02010600030101010101" pitchFamily="2" charset="-122"/>
              </a:rPr>
              <a:t> + x</a:t>
            </a:r>
            <a:r>
              <a:rPr lang="en-US" altLang="zh-CN" sz="2400" i="1" baseline="30000" dirty="0" smtClean="0">
                <a:latin typeface="宋体" panose="02010600030101010101" pitchFamily="2" charset="-122"/>
              </a:rPr>
              <a:t>2</a:t>
            </a:r>
            <a:r>
              <a:rPr lang="en-US" altLang="zh-CN" sz="2400" i="1" dirty="0" smtClean="0">
                <a:latin typeface="宋体" panose="02010600030101010101" pitchFamily="2" charset="-122"/>
              </a:rPr>
              <a:t> + x + 1</a:t>
            </a:r>
          </a:p>
          <a:p>
            <a:pPr lvl="1" eaLnBrk="1" hangingPunct="1">
              <a:lnSpc>
                <a:spcPct val="90000"/>
              </a:lnSpc>
              <a:buClr>
                <a:srgbClr val="000099"/>
              </a:buClr>
              <a:buSzPct val="85000"/>
            </a:pPr>
            <a:r>
              <a:rPr lang="en-US" altLang="zh-CN" sz="2400" i="1" dirty="0" smtClean="0">
                <a:latin typeface="宋体" panose="02010600030101010101" pitchFamily="2" charset="-122"/>
              </a:rPr>
              <a:t>CRC-16 	= x</a:t>
            </a:r>
            <a:r>
              <a:rPr lang="en-US" altLang="zh-CN" sz="2400" i="1" baseline="30000" dirty="0" smtClean="0">
                <a:latin typeface="宋体" panose="02010600030101010101" pitchFamily="2" charset="-122"/>
              </a:rPr>
              <a:t>16</a:t>
            </a:r>
            <a:r>
              <a:rPr lang="en-US" altLang="zh-CN" sz="2400" i="1" dirty="0" smtClean="0">
                <a:latin typeface="宋体" panose="02010600030101010101" pitchFamily="2" charset="-122"/>
              </a:rPr>
              <a:t> + x</a:t>
            </a:r>
            <a:r>
              <a:rPr lang="en-US" altLang="zh-CN" sz="2400" i="1" baseline="30000" dirty="0" smtClean="0">
                <a:latin typeface="宋体" panose="02010600030101010101" pitchFamily="2" charset="-122"/>
              </a:rPr>
              <a:t>15</a:t>
            </a:r>
            <a:r>
              <a:rPr lang="en-US" altLang="zh-CN" sz="2400" i="1" dirty="0" smtClean="0">
                <a:latin typeface="宋体" panose="02010600030101010101" pitchFamily="2" charset="-122"/>
              </a:rPr>
              <a:t> + x</a:t>
            </a:r>
            <a:r>
              <a:rPr lang="en-US" altLang="zh-CN" sz="2400" i="1" baseline="30000" dirty="0" smtClean="0">
                <a:latin typeface="宋体" panose="02010600030101010101" pitchFamily="2" charset="-122"/>
              </a:rPr>
              <a:t>2</a:t>
            </a:r>
            <a:r>
              <a:rPr lang="en-US" altLang="zh-CN" sz="2400" i="1" dirty="0" smtClean="0">
                <a:latin typeface="宋体" panose="02010600030101010101" pitchFamily="2" charset="-122"/>
              </a:rPr>
              <a:t> + 1</a:t>
            </a:r>
          </a:p>
          <a:p>
            <a:pPr lvl="1" eaLnBrk="1" hangingPunct="1">
              <a:lnSpc>
                <a:spcPct val="90000"/>
              </a:lnSpc>
              <a:buClr>
                <a:srgbClr val="000099"/>
              </a:buClr>
              <a:buSzPct val="85000"/>
            </a:pPr>
            <a:r>
              <a:rPr lang="en-US" altLang="zh-CN" sz="2400" i="1" dirty="0" smtClean="0">
                <a:latin typeface="宋体" panose="02010600030101010101" pitchFamily="2" charset="-122"/>
              </a:rPr>
              <a:t>CRC-CCITT = x</a:t>
            </a:r>
            <a:r>
              <a:rPr lang="en-US" altLang="zh-CN" sz="2400" i="1" baseline="30000" dirty="0" smtClean="0">
                <a:latin typeface="宋体" panose="02010600030101010101" pitchFamily="2" charset="-122"/>
              </a:rPr>
              <a:t>16</a:t>
            </a:r>
            <a:r>
              <a:rPr lang="en-US" altLang="zh-CN" sz="2400" i="1" dirty="0" smtClean="0">
                <a:latin typeface="宋体" panose="02010600030101010101" pitchFamily="2" charset="-122"/>
              </a:rPr>
              <a:t> + x</a:t>
            </a:r>
            <a:r>
              <a:rPr lang="en-US" altLang="zh-CN" sz="2400" i="1" baseline="30000" dirty="0" smtClean="0">
                <a:latin typeface="宋体" panose="02010600030101010101" pitchFamily="2" charset="-122"/>
              </a:rPr>
              <a:t>12</a:t>
            </a:r>
            <a:r>
              <a:rPr lang="en-US" altLang="zh-CN" sz="2400" i="1" dirty="0" smtClean="0">
                <a:latin typeface="宋体" panose="02010600030101010101" pitchFamily="2" charset="-122"/>
              </a:rPr>
              <a:t> + x</a:t>
            </a:r>
            <a:r>
              <a:rPr lang="en-US" altLang="zh-CN" sz="2400" i="1" baseline="30000" dirty="0" smtClean="0">
                <a:latin typeface="宋体" panose="02010600030101010101" pitchFamily="2" charset="-122"/>
              </a:rPr>
              <a:t>5</a:t>
            </a:r>
            <a:r>
              <a:rPr lang="en-US" altLang="zh-CN" sz="2400" i="1" dirty="0" smtClean="0">
                <a:latin typeface="宋体" panose="02010600030101010101" pitchFamily="2" charset="-122"/>
              </a:rPr>
              <a:t> + 1</a:t>
            </a:r>
          </a:p>
          <a:p>
            <a:pPr lvl="1" eaLnBrk="1" hangingPunct="1">
              <a:lnSpc>
                <a:spcPct val="90000"/>
              </a:lnSpc>
              <a:buClr>
                <a:srgbClr val="000099"/>
              </a:buClr>
              <a:buSzPct val="85000"/>
            </a:pPr>
            <a:r>
              <a:rPr lang="en-US" altLang="zh-CN" sz="2200" i="1" dirty="0" smtClean="0">
                <a:latin typeface="宋体" panose="02010600030101010101" pitchFamily="2" charset="-122"/>
              </a:rPr>
              <a:t>CRC-32=X</a:t>
            </a:r>
            <a:r>
              <a:rPr lang="en-US" altLang="zh-CN" sz="2200" i="1" baseline="30000" dirty="0" smtClean="0">
                <a:latin typeface="宋体" panose="02010600030101010101" pitchFamily="2" charset="-122"/>
              </a:rPr>
              <a:t>32</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26</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23</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22</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16</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12</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11</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10</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8</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7</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5</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4</a:t>
            </a:r>
            <a:r>
              <a:rPr lang="en-US" altLang="zh-CN" sz="2200" i="1" dirty="0" smtClean="0">
                <a:latin typeface="宋体" panose="02010600030101010101" pitchFamily="2" charset="-122"/>
              </a:rPr>
              <a:t>+X</a:t>
            </a:r>
            <a:r>
              <a:rPr lang="en-US" altLang="zh-CN" sz="2200" i="1" baseline="30000" dirty="0" smtClean="0">
                <a:latin typeface="宋体" panose="02010600030101010101" pitchFamily="2" charset="-122"/>
              </a:rPr>
              <a:t>2</a:t>
            </a:r>
            <a:r>
              <a:rPr lang="en-US" altLang="zh-CN" sz="2200" i="1" dirty="0" smtClean="0">
                <a:latin typeface="宋体" panose="02010600030101010101" pitchFamily="2" charset="-122"/>
              </a:rPr>
              <a:t>+X+1</a:t>
            </a:r>
            <a:r>
              <a:rPr lang="en-US" altLang="zh-CN" sz="2400" i="1" dirty="0" smtClean="0">
                <a:latin typeface="宋体" panose="02010600030101010101" pitchFamily="2" charset="-122"/>
              </a:rPr>
              <a:t> </a:t>
            </a:r>
          </a:p>
          <a:p>
            <a:pPr eaLnBrk="1" hangingPunct="1">
              <a:lnSpc>
                <a:spcPct val="90000"/>
              </a:lnSpc>
              <a:spcBef>
                <a:spcPts val="1200"/>
              </a:spcBef>
            </a:pPr>
            <a:r>
              <a:rPr lang="zh-CN" altLang="en-US" sz="2800" dirty="0">
                <a:latin typeface="黑体" panose="02010609060101010101" pitchFamily="49" charset="-122"/>
                <a:ea typeface="黑体" panose="02010609060101010101" pitchFamily="49" charset="-122"/>
              </a:rPr>
              <a:t>无差错接受数据帧</a:t>
            </a:r>
            <a:endParaRPr lang="en-US" altLang="zh-CN" sz="2800" dirty="0">
              <a:latin typeface="黑体" panose="02010609060101010101" pitchFamily="49" charset="-122"/>
              <a:ea typeface="黑体" panose="02010609060101010101" pitchFamily="49" charset="-122"/>
            </a:endParaRPr>
          </a:p>
          <a:p>
            <a:pPr marL="742950" lvl="2" indent="-342900" eaLnBrk="1" hangingPunct="1">
              <a:lnSpc>
                <a:spcPct val="120000"/>
              </a:lnSpc>
              <a:spcBef>
                <a:spcPts val="1200"/>
              </a:spcBef>
              <a:buClr>
                <a:srgbClr val="3366FF"/>
              </a:buClr>
              <a:buFont typeface="Wingdings" panose="05000000000000000000" pitchFamily="2" charset="2"/>
              <a:buChar char="ü"/>
            </a:pPr>
            <a:r>
              <a:rPr lang="zh-CN" altLang="zh-CN" dirty="0">
                <a:solidFill>
                  <a:schemeClr val="bg2"/>
                </a:solidFill>
                <a:latin typeface="+mn-ea"/>
              </a:rPr>
              <a:t>凡是接受的数据帧能以非常接近于</a:t>
            </a:r>
            <a:r>
              <a:rPr lang="en-US" altLang="zh-CN" dirty="0">
                <a:solidFill>
                  <a:schemeClr val="bg2"/>
                </a:solidFill>
                <a:latin typeface="+mn-ea"/>
              </a:rPr>
              <a:t>1</a:t>
            </a:r>
            <a:r>
              <a:rPr lang="zh-CN" altLang="zh-CN" dirty="0">
                <a:solidFill>
                  <a:schemeClr val="bg2"/>
                </a:solidFill>
                <a:latin typeface="+mn-ea"/>
              </a:rPr>
              <a:t>的概率认为这些帧在传输过程中没有产生</a:t>
            </a:r>
            <a:r>
              <a:rPr lang="zh-CN" altLang="zh-CN" dirty="0" smtClean="0">
                <a:solidFill>
                  <a:schemeClr val="bg2"/>
                </a:solidFill>
                <a:latin typeface="+mn-ea"/>
              </a:rPr>
              <a:t>差错</a:t>
            </a:r>
            <a:endParaRPr lang="en-US" altLang="zh-CN" dirty="0" smtClean="0">
              <a:solidFill>
                <a:schemeClr val="bg2"/>
              </a:solidFill>
              <a:latin typeface="+mn-ea"/>
            </a:endParaRPr>
          </a:p>
          <a:p>
            <a:pPr marL="742950" lvl="2" indent="-342900" eaLnBrk="1" hangingPunct="1">
              <a:lnSpc>
                <a:spcPct val="120000"/>
              </a:lnSpc>
              <a:spcBef>
                <a:spcPts val="1200"/>
              </a:spcBef>
              <a:buClr>
                <a:srgbClr val="3366FF"/>
              </a:buClr>
              <a:buFont typeface="Wingdings" panose="05000000000000000000" pitchFamily="2" charset="2"/>
              <a:buChar char="ü"/>
            </a:pPr>
            <a:r>
              <a:rPr lang="en-US" altLang="zh-CN" dirty="0" smtClean="0">
                <a:solidFill>
                  <a:schemeClr val="bg2"/>
                </a:solidFill>
                <a:latin typeface="+mn-ea"/>
              </a:rPr>
              <a:t>CRC</a:t>
            </a:r>
            <a:r>
              <a:rPr lang="zh-CN" altLang="en-US" dirty="0" smtClean="0">
                <a:solidFill>
                  <a:schemeClr val="bg2"/>
                </a:solidFill>
                <a:latin typeface="+mn-ea"/>
              </a:rPr>
              <a:t>不能检测出所有的差错</a:t>
            </a:r>
            <a:endParaRPr lang="en-US" altLang="zh-CN" dirty="0">
              <a:solidFill>
                <a:schemeClr val="bg2"/>
              </a:solidFill>
              <a:latin typeface="+mn-ea"/>
            </a:endParaRPr>
          </a:p>
          <a:p>
            <a:pPr eaLnBrk="1" hangingPunct="1">
              <a:lnSpc>
                <a:spcPct val="90000"/>
              </a:lnSpc>
              <a:spcBef>
                <a:spcPts val="1200"/>
              </a:spcBef>
            </a:pPr>
            <a:r>
              <a:rPr lang="zh-CN" altLang="en-US" sz="2800" dirty="0">
                <a:latin typeface="黑体" panose="02010609060101010101" pitchFamily="49" charset="-122"/>
                <a:ea typeface="黑体" panose="02010609060101010101" pitchFamily="49" charset="-122"/>
              </a:rPr>
              <a:t>硬件实现</a:t>
            </a:r>
            <a:r>
              <a:rPr lang="en-US" altLang="zh-CN" sz="2800" dirty="0">
                <a:latin typeface="黑体" panose="02010609060101010101" pitchFamily="49" charset="-122"/>
                <a:ea typeface="黑体" panose="02010609060101010101" pitchFamily="49" charset="-122"/>
              </a:rPr>
              <a:t>CRC</a:t>
            </a:r>
            <a:r>
              <a:rPr lang="zh-CN" altLang="en-US" sz="2800" dirty="0">
                <a:latin typeface="黑体" panose="02010609060101010101" pitchFamily="49" charset="-122"/>
                <a:ea typeface="黑体" panose="02010609060101010101" pitchFamily="49" charset="-122"/>
              </a:rPr>
              <a:t>校验</a:t>
            </a:r>
          </a:p>
          <a:p>
            <a:pPr lvl="1" eaLnBrk="1" hangingPunct="1">
              <a:lnSpc>
                <a:spcPct val="90000"/>
              </a:lnSpc>
            </a:pPr>
            <a:endParaRPr lang="en-US" altLang="zh-CN" sz="2400" dirty="0" smtClean="0">
              <a:latin typeface="宋体" panose="02010600030101010101" pitchFamily="2" charset="-122"/>
            </a:endParaRPr>
          </a:p>
        </p:txBody>
      </p:sp>
      <p:sp>
        <p:nvSpPr>
          <p:cNvPr id="38915" name="Rectangle 2"/>
          <p:cNvSpPr>
            <a:spLocks noChangeArrowheads="1"/>
          </p:cNvSpPr>
          <p:nvPr/>
        </p:nvSpPr>
        <p:spPr bwMode="auto">
          <a:xfrm>
            <a:off x="6838950" y="333375"/>
            <a:ext cx="23050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Font typeface="Wingdings" panose="05000000000000000000" pitchFamily="2" charset="2"/>
              <a:buNone/>
            </a:pPr>
            <a:r>
              <a:rPr lang="en-US" altLang="zh-CN" b="0">
                <a:solidFill>
                  <a:schemeClr val="bg1"/>
                </a:solidFill>
                <a:latin typeface="Arial" panose="020B0604020202020204" pitchFamily="34" charset="0"/>
                <a:ea typeface="黑体" panose="02010609060101010101" pitchFamily="49" charset="-122"/>
              </a:rPr>
              <a:t>CRC</a:t>
            </a:r>
            <a:r>
              <a:rPr lang="zh-CN" altLang="en-US" b="0">
                <a:solidFill>
                  <a:schemeClr val="bg1"/>
                </a:solidFill>
                <a:latin typeface="Arial" panose="020B0604020202020204" pitchFamily="34" charset="0"/>
                <a:ea typeface="黑体" panose="02010609060101010101" pitchFamily="49" charset="-122"/>
              </a:rPr>
              <a:t>码特征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7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7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74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74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747">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7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smtClean="0"/>
              <a:t>检验和</a:t>
            </a:r>
            <a:r>
              <a:rPr lang="en-US" altLang="zh-CN" smtClean="0"/>
              <a:t>(checksum)</a:t>
            </a:r>
            <a:r>
              <a:rPr lang="zh-CN" altLang="en-US" smtClean="0"/>
              <a:t>算法</a:t>
            </a:r>
          </a:p>
        </p:txBody>
      </p:sp>
      <p:sp>
        <p:nvSpPr>
          <p:cNvPr id="161795" name="Rectangle 3"/>
          <p:cNvSpPr>
            <a:spLocks noGrp="1" noChangeArrowheads="1"/>
          </p:cNvSpPr>
          <p:nvPr>
            <p:ph type="body" idx="1"/>
          </p:nvPr>
        </p:nvSpPr>
        <p:spPr>
          <a:xfrm>
            <a:off x="395288" y="1412875"/>
            <a:ext cx="8281987" cy="5105400"/>
          </a:xfrm>
        </p:spPr>
        <p:txBody>
          <a:bodyPr/>
          <a:lstStyle/>
          <a:p>
            <a:pPr eaLnBrk="1" hangingPunct="1">
              <a:spcBef>
                <a:spcPts val="1200"/>
              </a:spcBef>
            </a:pPr>
            <a:r>
              <a:rPr lang="zh-CN" altLang="en-US" sz="2800" smtClean="0">
                <a:solidFill>
                  <a:schemeClr val="tx1"/>
                </a:solidFill>
                <a:latin typeface="仿宋_GB2312" pitchFamily="49" charset="-122"/>
              </a:rPr>
              <a:t>检验字段初值置</a:t>
            </a:r>
            <a:r>
              <a:rPr lang="en-US" altLang="zh-CN" sz="2800" smtClean="0">
                <a:solidFill>
                  <a:schemeClr val="tx1"/>
                </a:solidFill>
                <a:latin typeface="仿宋_GB2312" pitchFamily="49" charset="-122"/>
              </a:rPr>
              <a:t>0</a:t>
            </a:r>
            <a:r>
              <a:rPr lang="zh-CN" altLang="en-US" sz="2800" smtClean="0">
                <a:solidFill>
                  <a:schemeClr val="tx1"/>
                </a:solidFill>
                <a:latin typeface="仿宋_GB2312" pitchFamily="49" charset="-122"/>
              </a:rPr>
              <a:t>；</a:t>
            </a:r>
          </a:p>
          <a:p>
            <a:pPr eaLnBrk="1" hangingPunct="1">
              <a:spcBef>
                <a:spcPts val="1200"/>
              </a:spcBef>
            </a:pPr>
            <a:r>
              <a:rPr lang="zh-CN" altLang="en-US" sz="2800" smtClean="0">
                <a:solidFill>
                  <a:schemeClr val="tx1"/>
                </a:solidFill>
                <a:latin typeface="仿宋_GB2312" pitchFamily="49" charset="-122"/>
              </a:rPr>
              <a:t>数据拆分成与检验字段等长的分片，不足部分补</a:t>
            </a:r>
            <a:r>
              <a:rPr lang="en-US" altLang="zh-CN" sz="2800" smtClean="0">
                <a:solidFill>
                  <a:schemeClr val="tx1"/>
                </a:solidFill>
                <a:latin typeface="仿宋_GB2312" pitchFamily="49" charset="-122"/>
              </a:rPr>
              <a:t>0</a:t>
            </a:r>
            <a:r>
              <a:rPr lang="zh-CN" altLang="en-US" sz="2800" smtClean="0">
                <a:solidFill>
                  <a:schemeClr val="tx1"/>
                </a:solidFill>
                <a:latin typeface="仿宋_GB2312" pitchFamily="49" charset="-122"/>
              </a:rPr>
              <a:t>；</a:t>
            </a:r>
          </a:p>
          <a:p>
            <a:pPr eaLnBrk="1" hangingPunct="1">
              <a:spcBef>
                <a:spcPts val="1200"/>
              </a:spcBef>
            </a:pPr>
            <a:r>
              <a:rPr lang="zh-CN" altLang="en-US" sz="2800" smtClean="0">
                <a:solidFill>
                  <a:schemeClr val="tx1"/>
                </a:solidFill>
                <a:latin typeface="仿宋_GB2312" pitchFamily="49" charset="-122"/>
              </a:rPr>
              <a:t>将所有分片执行</a:t>
            </a:r>
            <a:r>
              <a:rPr lang="en-US" altLang="zh-CN" sz="2800" smtClean="0">
                <a:solidFill>
                  <a:schemeClr val="tx1"/>
                </a:solidFill>
              </a:rPr>
              <a:t>1</a:t>
            </a:r>
            <a:r>
              <a:rPr lang="zh-CN" altLang="zh-CN" sz="2800" smtClean="0">
                <a:solidFill>
                  <a:schemeClr val="tx1"/>
                </a:solidFill>
              </a:rPr>
              <a:t>的补码和运算</a:t>
            </a:r>
            <a:r>
              <a:rPr lang="zh-CN" altLang="en-US" sz="2800" smtClean="0">
                <a:solidFill>
                  <a:schemeClr val="tx1"/>
                </a:solidFill>
                <a:latin typeface="仿宋_GB2312" pitchFamily="49" charset="-122"/>
              </a:rPr>
              <a:t>，累加结果再取反就是校验和；</a:t>
            </a:r>
          </a:p>
          <a:p>
            <a:pPr eaLnBrk="1" hangingPunct="1">
              <a:spcBef>
                <a:spcPts val="1200"/>
              </a:spcBef>
            </a:pPr>
            <a:r>
              <a:rPr lang="zh-CN" altLang="en-US" sz="2800" smtClean="0">
                <a:solidFill>
                  <a:schemeClr val="tx1"/>
                </a:solidFill>
                <a:latin typeface="仿宋_GB2312" pitchFamily="49" charset="-122"/>
              </a:rPr>
              <a:t>计算结果置入检验字段；</a:t>
            </a:r>
          </a:p>
          <a:p>
            <a:pPr eaLnBrk="1" hangingPunct="1">
              <a:spcBef>
                <a:spcPts val="1200"/>
              </a:spcBef>
            </a:pPr>
            <a:r>
              <a:rPr lang="zh-CN" altLang="en-US" sz="2800" smtClean="0">
                <a:solidFill>
                  <a:schemeClr val="tx1"/>
                </a:solidFill>
                <a:latin typeface="仿宋_GB2312" pitchFamily="49" charset="-122"/>
              </a:rPr>
              <a:t>接收段执行相同的过程，计算的校验和为</a:t>
            </a:r>
            <a:r>
              <a:rPr lang="en-US" altLang="zh-CN" sz="2800" smtClean="0">
                <a:solidFill>
                  <a:schemeClr val="tx1"/>
                </a:solidFill>
                <a:latin typeface="仿宋_GB2312" pitchFamily="49" charset="-122"/>
              </a:rPr>
              <a:t>0</a:t>
            </a:r>
            <a:r>
              <a:rPr lang="zh-CN" altLang="en-US" sz="2800" smtClean="0">
                <a:solidFill>
                  <a:schemeClr val="tx1"/>
                </a:solidFill>
                <a:latin typeface="仿宋_GB2312" pitchFamily="49" charset="-122"/>
              </a:rPr>
              <a:t>表示正确；</a:t>
            </a:r>
          </a:p>
          <a:p>
            <a:pPr eaLnBrk="1" hangingPunct="1">
              <a:spcBef>
                <a:spcPts val="1200"/>
              </a:spcBef>
            </a:pPr>
            <a:r>
              <a:rPr lang="zh-CN" altLang="en-US" sz="2800" smtClean="0">
                <a:solidFill>
                  <a:schemeClr val="tx1"/>
                </a:solidFill>
                <a:latin typeface="仿宋_GB2312" pitchFamily="49" charset="-122"/>
              </a:rPr>
              <a:t>适用于高层协议，如</a:t>
            </a:r>
            <a:r>
              <a:rPr lang="en-US" altLang="zh-CN" sz="2800" smtClean="0">
                <a:solidFill>
                  <a:schemeClr val="tx1"/>
                </a:solidFill>
                <a:latin typeface="仿宋_GB2312" pitchFamily="49" charset="-122"/>
              </a:rPr>
              <a:t>IP</a:t>
            </a:r>
            <a:r>
              <a:rPr lang="zh-CN" altLang="en-US" sz="2800" smtClean="0">
                <a:solidFill>
                  <a:schemeClr val="tx1"/>
                </a:solidFill>
                <a:latin typeface="仿宋_GB2312" pitchFamily="49" charset="-122"/>
              </a:rPr>
              <a:t>、</a:t>
            </a:r>
            <a:r>
              <a:rPr lang="en-US" altLang="zh-CN" sz="2800" smtClean="0">
                <a:solidFill>
                  <a:schemeClr val="tx1"/>
                </a:solidFill>
                <a:latin typeface="仿宋_GB2312" pitchFamily="49" charset="-122"/>
              </a:rPr>
              <a:t>TCP</a:t>
            </a:r>
            <a:r>
              <a:rPr lang="zh-CN" altLang="en-US" sz="2800" smtClean="0">
                <a:solidFill>
                  <a:schemeClr val="tx1"/>
                </a:solidFill>
                <a:latin typeface="仿宋_GB2312" pitchFamily="49" charset="-122"/>
              </a:rPr>
              <a:t>、</a:t>
            </a:r>
            <a:r>
              <a:rPr lang="en-US" altLang="zh-CN" sz="2800" smtClean="0">
                <a:solidFill>
                  <a:schemeClr val="tx1"/>
                </a:solidFill>
                <a:latin typeface="仿宋_GB2312" pitchFamily="49" charset="-122"/>
              </a:rPr>
              <a:t>UDP</a:t>
            </a:r>
            <a:r>
              <a:rPr lang="zh-CN" altLang="en-US" sz="2800" smtClean="0">
                <a:solidFill>
                  <a:schemeClr val="tx1"/>
                </a:solidFill>
                <a:latin typeface="仿宋_GB2312" pitchFamily="49" charset="-122"/>
              </a:rPr>
              <a:t>等；</a:t>
            </a:r>
          </a:p>
          <a:p>
            <a:pPr eaLnBrk="1" hangingPunct="1">
              <a:lnSpc>
                <a:spcPct val="90000"/>
              </a:lnSpc>
            </a:pPr>
            <a:endParaRPr lang="en-US" altLang="zh-CN" sz="2800" smtClean="0">
              <a:latin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1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1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1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17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17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17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zh-CN" dirty="0" smtClean="0"/>
              <a:t>6.4  </a:t>
            </a:r>
            <a:r>
              <a:rPr lang="zh-CN" altLang="en-US" dirty="0" smtClean="0"/>
              <a:t>流量控制</a:t>
            </a:r>
          </a:p>
        </p:txBody>
      </p:sp>
      <p:graphicFrame>
        <p:nvGraphicFramePr>
          <p:cNvPr id="185347" name="Object 3"/>
          <p:cNvGraphicFramePr>
            <a:graphicFrameLocks noGrp="1" noChangeAspect="1"/>
          </p:cNvGraphicFramePr>
          <p:nvPr>
            <p:ph idx="1"/>
          </p:nvPr>
        </p:nvGraphicFramePr>
        <p:xfrm>
          <a:off x="971600" y="1052736"/>
          <a:ext cx="7993063" cy="3146425"/>
        </p:xfrm>
        <a:graphic>
          <a:graphicData uri="http://schemas.openxmlformats.org/presentationml/2006/ole">
            <mc:AlternateContent xmlns:mc="http://schemas.openxmlformats.org/markup-compatibility/2006">
              <mc:Choice xmlns:v="urn:schemas-microsoft-com:vml" Requires="v">
                <p:oleObj spid="_x0000_s43058" name="Visio" r:id="rId4" imgW="4268470" imgH="1680845" progId="Visio.Drawing.6">
                  <p:embed/>
                </p:oleObj>
              </mc:Choice>
              <mc:Fallback>
                <p:oleObj name="Visio" r:id="rId4" imgW="4268470" imgH="1680845" progId="Visio.Drawing.6">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600" y="1052736"/>
                        <a:ext cx="7993063" cy="31464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971600" y="4077072"/>
            <a:ext cx="7704856" cy="2431435"/>
          </a:xfrm>
          <a:prstGeom prst="rect">
            <a:avLst/>
          </a:prstGeom>
        </p:spPr>
        <p:txBody>
          <a:bodyPr wrap="square">
            <a:spAutoFit/>
          </a:bodyPr>
          <a:lstStyle/>
          <a:p>
            <a:pPr marL="457200" indent="-457200">
              <a:buFont typeface="Wingdings" panose="05000000000000000000" pitchFamily="2" charset="2"/>
              <a:buChar char="l"/>
            </a:pPr>
            <a:r>
              <a:rPr lang="zh-CN" altLang="en-US" b="0" dirty="0" smtClean="0">
                <a:solidFill>
                  <a:schemeClr val="tx1"/>
                </a:solidFill>
                <a:latin typeface="+mj-ea"/>
                <a:ea typeface="+mj-ea"/>
              </a:rPr>
              <a:t>流量控制目标</a:t>
            </a:r>
            <a:endParaRPr lang="en-US" altLang="zh-CN" b="0" dirty="0" smtClean="0">
              <a:solidFill>
                <a:schemeClr val="tx1"/>
              </a:solidFill>
              <a:latin typeface="+mj-ea"/>
              <a:ea typeface="+mj-ea"/>
            </a:endParaRPr>
          </a:p>
          <a:p>
            <a:pPr marL="914400" lvl="1" indent="-457200">
              <a:buFont typeface="Wingdings" panose="05000000000000000000" pitchFamily="2" charset="2"/>
              <a:buChar char="ü"/>
            </a:pPr>
            <a:r>
              <a:rPr lang="zh-CN" altLang="en-US" sz="2400" b="0" dirty="0" smtClean="0">
                <a:latin typeface="+mn-ea"/>
                <a:ea typeface="+mn-ea"/>
              </a:rPr>
              <a:t>控制</a:t>
            </a:r>
            <a:r>
              <a:rPr lang="zh-CN" altLang="en-US" sz="2400" b="0" dirty="0">
                <a:latin typeface="+mn-ea"/>
                <a:ea typeface="+mn-ea"/>
              </a:rPr>
              <a:t>发送方的数据发送能力，使</a:t>
            </a:r>
            <a:r>
              <a:rPr lang="zh-CN" altLang="en-US" sz="2400" b="0" dirty="0" smtClean="0">
                <a:latin typeface="+mn-ea"/>
                <a:ea typeface="+mn-ea"/>
              </a:rPr>
              <a:t>之不能</a:t>
            </a:r>
            <a:r>
              <a:rPr lang="zh-CN" altLang="en-US" sz="2400" b="0" dirty="0">
                <a:latin typeface="+mn-ea"/>
                <a:ea typeface="+mn-ea"/>
              </a:rPr>
              <a:t>超过接收方的数据接收能力</a:t>
            </a:r>
            <a:r>
              <a:rPr lang="zh-CN" altLang="en-US" sz="2400" b="0" dirty="0" smtClean="0">
                <a:latin typeface="+mn-ea"/>
                <a:ea typeface="+mn-ea"/>
              </a:rPr>
              <a:t>。</a:t>
            </a:r>
            <a:endParaRPr lang="en-US" altLang="zh-CN" sz="2400" b="0" dirty="0" smtClean="0">
              <a:latin typeface="+mn-ea"/>
              <a:ea typeface="+mn-ea"/>
            </a:endParaRPr>
          </a:p>
          <a:p>
            <a:pPr marL="457200" indent="-457200">
              <a:buFont typeface="Wingdings" panose="05000000000000000000" pitchFamily="2" charset="2"/>
              <a:buChar char="l"/>
            </a:pPr>
            <a:r>
              <a:rPr lang="zh-CN" altLang="en-US" b="0" dirty="0" smtClean="0">
                <a:solidFill>
                  <a:schemeClr val="tx1"/>
                </a:solidFill>
                <a:latin typeface="+mj-ea"/>
                <a:ea typeface="+mj-ea"/>
              </a:rPr>
              <a:t>流量控制常用方法</a:t>
            </a:r>
            <a:endParaRPr lang="en-US" altLang="zh-CN" b="0" dirty="0">
              <a:solidFill>
                <a:schemeClr val="tx1"/>
              </a:solidFill>
              <a:latin typeface="+mj-ea"/>
              <a:ea typeface="+mj-ea"/>
            </a:endParaRPr>
          </a:p>
          <a:p>
            <a:pPr marL="914400" lvl="1" indent="-457200">
              <a:buFont typeface="Wingdings" panose="05000000000000000000" pitchFamily="2" charset="2"/>
              <a:buChar char="ü"/>
            </a:pPr>
            <a:r>
              <a:rPr lang="zh-CN" altLang="en-US" sz="2400" b="0" dirty="0" smtClean="0">
                <a:latin typeface="+mn-ea"/>
                <a:ea typeface="+mn-ea"/>
              </a:rPr>
              <a:t>停</a:t>
            </a:r>
            <a:r>
              <a:rPr lang="zh-CN" altLang="en-US" sz="2400" b="0" dirty="0">
                <a:latin typeface="+mn-ea"/>
                <a:ea typeface="+mn-ea"/>
              </a:rPr>
              <a:t>等</a:t>
            </a:r>
            <a:r>
              <a:rPr lang="zh-CN" altLang="en-US" sz="2400" b="0" dirty="0" smtClean="0">
                <a:latin typeface="+mn-ea"/>
                <a:ea typeface="+mn-ea"/>
              </a:rPr>
              <a:t>协议（简单）</a:t>
            </a:r>
            <a:endParaRPr lang="en-US" altLang="zh-CN" sz="2400" b="0" dirty="0" smtClean="0">
              <a:latin typeface="+mn-ea"/>
              <a:ea typeface="+mn-ea"/>
            </a:endParaRPr>
          </a:p>
          <a:p>
            <a:pPr marL="914400" lvl="1" indent="-457200">
              <a:buFont typeface="Wingdings" panose="05000000000000000000" pitchFamily="2" charset="2"/>
              <a:buChar char="ü"/>
            </a:pPr>
            <a:r>
              <a:rPr lang="zh-CN" altLang="en-US" sz="2400" b="0" dirty="0" smtClean="0">
                <a:latin typeface="+mn-ea"/>
                <a:ea typeface="+mn-ea"/>
              </a:rPr>
              <a:t>滑动</a:t>
            </a:r>
            <a:r>
              <a:rPr lang="zh-CN" altLang="en-US" sz="2400" b="0" dirty="0">
                <a:latin typeface="+mn-ea"/>
                <a:ea typeface="+mn-ea"/>
              </a:rPr>
              <a:t>窗口</a:t>
            </a:r>
            <a:r>
              <a:rPr lang="zh-CN" altLang="en-US" sz="2400" b="0" dirty="0" smtClean="0">
                <a:latin typeface="+mn-ea"/>
                <a:ea typeface="+mn-ea"/>
              </a:rPr>
              <a:t>协议（复杂）</a:t>
            </a:r>
            <a:endParaRPr lang="zh-CN" altLang="en-US" sz="24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85347"/>
                                        </p:tgtEl>
                                        <p:attrNameLst>
                                          <p:attrName>style.visibility</p:attrName>
                                        </p:attrNameLst>
                                      </p:cBhvr>
                                      <p:to>
                                        <p:strVal val="visible"/>
                                      </p:to>
                                    </p:set>
                                    <p:animEffect transition="in" filter="barn(inVertical)">
                                      <p:cBhvr>
                                        <p:cTn id="7" dur="500"/>
                                        <p:tgtEl>
                                          <p:spTgt spid="18534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endParaRPr lang="zh-CN" altLang="en-US" sz="2800">
              <a:solidFill>
                <a:schemeClr val="accent2"/>
              </a:solidFill>
              <a:ea typeface="黑体" panose="02010609060101010101" pitchFamily="49" charset="-122"/>
            </a:endParaRPr>
          </a:p>
        </p:txBody>
      </p:sp>
      <p:sp>
        <p:nvSpPr>
          <p:cNvPr id="305160" name="Rectangle 8"/>
          <p:cNvSpPr>
            <a:spLocks noGrp="1" noChangeArrowheads="1"/>
          </p:cNvSpPr>
          <p:nvPr>
            <p:ph type="body" idx="1"/>
          </p:nvPr>
        </p:nvSpPr>
        <p:spPr>
          <a:xfrm>
            <a:off x="684213" y="1412875"/>
            <a:ext cx="8135937" cy="4310063"/>
          </a:xfrm>
          <a:noFill/>
        </p:spPr>
        <p:txBody>
          <a:bodyPr/>
          <a:lstStyle/>
          <a:p>
            <a:pPr eaLnBrk="1" hangingPunct="1"/>
            <a:r>
              <a:rPr lang="zh-CN" altLang="en-US" sz="2800" dirty="0" smtClean="0">
                <a:latin typeface="仿宋_GB2312" pitchFamily="49" charset="-122"/>
              </a:rPr>
              <a:t>发送方工作过程</a:t>
            </a:r>
            <a:endParaRPr lang="en-US" altLang="zh-CN" sz="2800" dirty="0" smtClean="0">
              <a:latin typeface="仿宋_GB2312" pitchFamily="49" charset="-122"/>
            </a:endParaRPr>
          </a:p>
          <a:p>
            <a:pPr marL="742950" lvl="2" indent="-342900" eaLnBrk="1" hangingPunct="1">
              <a:buClr>
                <a:srgbClr val="3366FF"/>
              </a:buClr>
              <a:buFont typeface="Wingdings" panose="05000000000000000000" pitchFamily="2" charset="2"/>
              <a:buChar char="ü"/>
            </a:pPr>
            <a:r>
              <a:rPr lang="zh-CN" altLang="en-US" dirty="0" smtClean="0">
                <a:latin typeface="仿宋_GB2312" pitchFamily="49" charset="-122"/>
              </a:rPr>
              <a:t>从高层取数据→</a:t>
            </a:r>
            <a:r>
              <a:rPr lang="zh-CN" altLang="en-US" dirty="0">
                <a:latin typeface="仿宋_GB2312" pitchFamily="49" charset="-122"/>
              </a:rPr>
              <a:t>封装</a:t>
            </a:r>
            <a:r>
              <a:rPr lang="zh-CN" altLang="en-US" dirty="0" smtClean="0">
                <a:latin typeface="仿宋_GB2312" pitchFamily="49" charset="-122"/>
              </a:rPr>
              <a:t>成帧→送到发送缓冲区→发送帧→等待对方应答；</a:t>
            </a:r>
            <a:endParaRPr lang="en-US" altLang="zh-CN" sz="2800" dirty="0" smtClean="0">
              <a:latin typeface="仿宋_GB2312" pitchFamily="49" charset="-122"/>
            </a:endParaRPr>
          </a:p>
          <a:p>
            <a:pPr eaLnBrk="1" hangingPunct="1"/>
            <a:r>
              <a:rPr lang="zh-CN" altLang="en-US" sz="2800" dirty="0">
                <a:latin typeface="仿宋_GB2312" pitchFamily="49" charset="-122"/>
              </a:rPr>
              <a:t>接收</a:t>
            </a:r>
            <a:r>
              <a:rPr lang="zh-CN" altLang="en-US" sz="2800" dirty="0" smtClean="0">
                <a:latin typeface="仿宋_GB2312" pitchFamily="49" charset="-122"/>
              </a:rPr>
              <a:t>方</a:t>
            </a:r>
            <a:r>
              <a:rPr lang="zh-CN" altLang="en-US" sz="2800" dirty="0">
                <a:latin typeface="仿宋_GB2312" pitchFamily="49" charset="-122"/>
              </a:rPr>
              <a:t>工作过程</a:t>
            </a:r>
            <a:endParaRPr lang="en-US" altLang="zh-CN" sz="2800" dirty="0">
              <a:latin typeface="仿宋_GB2312" pitchFamily="49" charset="-122"/>
            </a:endParaRPr>
          </a:p>
          <a:p>
            <a:pPr marL="742950" lvl="2" indent="-342900" eaLnBrk="1" hangingPunct="1">
              <a:buClr>
                <a:srgbClr val="3366FF"/>
              </a:buClr>
              <a:buFont typeface="Wingdings" panose="05000000000000000000" pitchFamily="2" charset="2"/>
              <a:buChar char="ü"/>
            </a:pPr>
            <a:r>
              <a:rPr lang="zh-CN" altLang="en-US" dirty="0" smtClean="0">
                <a:latin typeface="仿宋_GB2312" pitchFamily="49" charset="-122"/>
              </a:rPr>
              <a:t>等候对方数据帧→接收帧</a:t>
            </a:r>
            <a:r>
              <a:rPr lang="zh-CN" altLang="en-US" dirty="0">
                <a:latin typeface="仿宋_GB2312" pitchFamily="49" charset="-122"/>
              </a:rPr>
              <a:t>→送</a:t>
            </a:r>
            <a:r>
              <a:rPr lang="zh-CN" altLang="en-US" dirty="0" smtClean="0">
                <a:latin typeface="仿宋_GB2312" pitchFamily="49" charset="-122"/>
              </a:rPr>
              <a:t>到接收缓冲区→提交数据给高层→发送应答</a:t>
            </a:r>
            <a:r>
              <a:rPr lang="zh-CN" altLang="en-US" dirty="0">
                <a:latin typeface="仿宋_GB2312" pitchFamily="49" charset="-122"/>
              </a:rPr>
              <a:t>；</a:t>
            </a:r>
            <a:endParaRPr lang="en-US" altLang="zh-CN" sz="2800" dirty="0">
              <a:latin typeface="仿宋_GB2312" pitchFamily="49" charset="-122"/>
            </a:endParaRPr>
          </a:p>
        </p:txBody>
      </p:sp>
      <p:sp>
        <p:nvSpPr>
          <p:cNvPr id="45060" name="Rectangle 9"/>
          <p:cNvSpPr>
            <a:spLocks noGrp="1" noChangeArrowheads="1"/>
          </p:cNvSpPr>
          <p:nvPr>
            <p:ph type="title"/>
          </p:nvPr>
        </p:nvSpPr>
        <p:spPr/>
        <p:txBody>
          <a:bodyPr/>
          <a:lstStyle/>
          <a:p>
            <a:pPr eaLnBrk="1" hangingPunct="1"/>
            <a:r>
              <a:rPr lang="zh-CN" altLang="en-US" dirty="0" smtClean="0"/>
              <a:t>单工停等协议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516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516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516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6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ChangeArrowheads="1"/>
          </p:cNvSpPr>
          <p:nvPr/>
        </p:nvSpPr>
        <p:spPr bwMode="auto">
          <a:xfrm>
            <a:off x="4308475" y="3025775"/>
            <a:ext cx="527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ctr" eaLnBrk="1" hangingPunct="1"/>
            <a:endParaRPr lang="zh-CN" altLang="zh-CN" sz="2800" b="0">
              <a:solidFill>
                <a:schemeClr val="accent2"/>
              </a:solidFill>
              <a:ea typeface="黑体" panose="02010609060101010101" pitchFamily="49" charset="-122"/>
            </a:endParaRPr>
          </a:p>
        </p:txBody>
      </p:sp>
      <p:sp>
        <p:nvSpPr>
          <p:cNvPr id="50179" name="Text Box 6"/>
          <p:cNvSpPr txBox="1">
            <a:spLocks noChangeArrowheads="1"/>
          </p:cNvSpPr>
          <p:nvPr/>
        </p:nvSpPr>
        <p:spPr bwMode="auto">
          <a:xfrm>
            <a:off x="4172228" y="260350"/>
            <a:ext cx="46987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Font typeface="Wingdings" panose="05000000000000000000" pitchFamily="2" charset="2"/>
              <a:buNone/>
            </a:pPr>
            <a:r>
              <a:rPr lang="zh-CN" altLang="en-US" b="0" dirty="0">
                <a:solidFill>
                  <a:schemeClr val="bg1"/>
                </a:solidFill>
                <a:latin typeface="黑体" panose="02010609060101010101" pitchFamily="49" charset="-122"/>
                <a:ea typeface="黑体" panose="02010609060101010101" pitchFamily="49" charset="-122"/>
              </a:rPr>
              <a:t>数据帧在链路上传输情况</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858963"/>
            <a:ext cx="2343150"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68550" y="1847850"/>
            <a:ext cx="2085975"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46600" y="1847850"/>
            <a:ext cx="232410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791325" y="1863725"/>
            <a:ext cx="2286000"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827584" y="1268413"/>
            <a:ext cx="8316416" cy="5246687"/>
          </a:xfrm>
        </p:spPr>
        <p:txBody>
          <a:bodyPr/>
          <a:lstStyle/>
          <a:p>
            <a:pPr eaLnBrk="1" hangingPunct="1"/>
            <a:r>
              <a:rPr lang="zh-CN" altLang="en-US" sz="2800" dirty="0" smtClean="0">
                <a:latin typeface="宋体" panose="02010600030101010101" pitchFamily="2" charset="-122"/>
              </a:rPr>
              <a:t>应答方式</a:t>
            </a:r>
            <a:endParaRPr lang="en-US" altLang="zh-CN" sz="2800" dirty="0" smtClean="0">
              <a:latin typeface="宋体" panose="02010600030101010101" pitchFamily="2" charset="-122"/>
            </a:endParaRPr>
          </a:p>
          <a:p>
            <a:pPr lvl="1" eaLnBrk="1" hangingPunct="1"/>
            <a:r>
              <a:rPr lang="zh-CN" altLang="en-US" sz="2400" dirty="0" smtClean="0">
                <a:latin typeface="宋体" panose="02010600030101010101" pitchFamily="2" charset="-122"/>
              </a:rPr>
              <a:t>正向应答、负向应答、双向应答</a:t>
            </a:r>
            <a:endParaRPr lang="en-US" altLang="zh-CN" sz="2400" dirty="0" smtClean="0">
              <a:latin typeface="宋体" panose="02010600030101010101" pitchFamily="2" charset="-122"/>
            </a:endParaRPr>
          </a:p>
          <a:p>
            <a:pPr eaLnBrk="1" hangingPunct="1"/>
            <a:r>
              <a:rPr lang="zh-CN" altLang="en-US" dirty="0" smtClean="0">
                <a:latin typeface="宋体" panose="02010600030101010101" pitchFamily="2" charset="-122"/>
              </a:rPr>
              <a:t>常使用</a:t>
            </a:r>
            <a:r>
              <a:rPr lang="zh-CN" altLang="en-US" dirty="0" smtClean="0">
                <a:solidFill>
                  <a:schemeClr val="hlink"/>
                </a:solidFill>
                <a:latin typeface="宋体" panose="02010600030101010101" pitchFamily="2" charset="-122"/>
              </a:rPr>
              <a:t>正向应答</a:t>
            </a:r>
            <a:r>
              <a:rPr lang="en-US" altLang="zh-CN" dirty="0" smtClean="0">
                <a:solidFill>
                  <a:schemeClr val="hlink"/>
                </a:solidFill>
                <a:latin typeface="宋体" panose="02010600030101010101" pitchFamily="2" charset="-122"/>
              </a:rPr>
              <a:t>+</a:t>
            </a:r>
            <a:r>
              <a:rPr lang="zh-CN" altLang="en-US" dirty="0" smtClean="0">
                <a:solidFill>
                  <a:schemeClr val="hlink"/>
                </a:solidFill>
                <a:latin typeface="宋体" panose="02010600030101010101" pitchFamily="2" charset="-122"/>
              </a:rPr>
              <a:t>重发机制</a:t>
            </a:r>
            <a:r>
              <a:rPr lang="zh-CN" altLang="en-US" dirty="0" smtClean="0">
                <a:latin typeface="宋体" panose="02010600030101010101" pitchFamily="2" charset="-122"/>
              </a:rPr>
              <a:t>来解决差错控制。</a:t>
            </a:r>
          </a:p>
          <a:p>
            <a:pPr eaLnBrk="1" hangingPunct="1"/>
            <a:r>
              <a:rPr lang="zh-CN" altLang="en-US" dirty="0" smtClean="0">
                <a:latin typeface="宋体" panose="02010600030101010101" pitchFamily="2" charset="-122"/>
              </a:rPr>
              <a:t>数据序号采用</a:t>
            </a:r>
            <a:r>
              <a:rPr lang="zh-CN" altLang="en-US" dirty="0" smtClean="0">
                <a:solidFill>
                  <a:schemeClr val="hlink"/>
                </a:solidFill>
                <a:latin typeface="宋体" panose="02010600030101010101" pitchFamily="2" charset="-122"/>
              </a:rPr>
              <a:t>循环序号</a:t>
            </a:r>
            <a:r>
              <a:rPr lang="zh-CN" altLang="en-US" dirty="0" smtClean="0">
                <a:latin typeface="宋体" panose="02010600030101010101" pitchFamily="2" charset="-122"/>
              </a:rPr>
              <a:t>机制。 </a:t>
            </a:r>
          </a:p>
          <a:p>
            <a:pPr eaLnBrk="1" hangingPunct="1"/>
            <a:r>
              <a:rPr lang="zh-CN" altLang="en-US" dirty="0" smtClean="0">
                <a:latin typeface="宋体" panose="02010600030101010101" pitchFamily="2" charset="-122"/>
              </a:rPr>
              <a:t>降低应答数量</a:t>
            </a:r>
          </a:p>
          <a:p>
            <a:pPr lvl="1" eaLnBrk="1" hangingPunct="1"/>
            <a:r>
              <a:rPr lang="zh-CN" altLang="en-US" sz="3200" dirty="0" smtClean="0">
                <a:solidFill>
                  <a:srgbClr val="FF3300"/>
                </a:solidFill>
                <a:latin typeface="宋体" panose="02010600030101010101" pitchFamily="2" charset="-122"/>
              </a:rPr>
              <a:t>单帧应答</a:t>
            </a:r>
          </a:p>
          <a:p>
            <a:pPr lvl="1" eaLnBrk="1" hangingPunct="1"/>
            <a:r>
              <a:rPr lang="zh-CN" altLang="en-US" sz="3200" dirty="0" smtClean="0">
                <a:solidFill>
                  <a:srgbClr val="FF3300"/>
                </a:solidFill>
                <a:latin typeface="宋体" panose="02010600030101010101" pitchFamily="2" charset="-122"/>
              </a:rPr>
              <a:t>成批应答</a:t>
            </a:r>
          </a:p>
          <a:p>
            <a:pPr lvl="1" eaLnBrk="1" hangingPunct="1"/>
            <a:r>
              <a:rPr lang="zh-CN" altLang="en-US" dirty="0" smtClean="0">
                <a:solidFill>
                  <a:schemeClr val="hlink"/>
                </a:solidFill>
                <a:latin typeface="宋体" panose="02010600030101010101" pitchFamily="2" charset="-122"/>
              </a:rPr>
              <a:t>附载应答</a:t>
            </a:r>
            <a:endParaRPr lang="zh-CN" altLang="en-US" dirty="0" smtClean="0">
              <a:latin typeface="宋体" panose="02010600030101010101" pitchFamily="2" charset="-122"/>
            </a:endParaRPr>
          </a:p>
        </p:txBody>
      </p:sp>
      <p:sp>
        <p:nvSpPr>
          <p:cNvPr id="51203" name="Rectangle 5"/>
          <p:cNvSpPr>
            <a:spLocks noGrp="1" noChangeArrowheads="1"/>
          </p:cNvSpPr>
          <p:nvPr>
            <p:ph type="title"/>
          </p:nvPr>
        </p:nvSpPr>
        <p:spPr>
          <a:noFill/>
        </p:spPr>
        <p:txBody>
          <a:bodyPr/>
          <a:lstStyle/>
          <a:p>
            <a:pPr eaLnBrk="1" hangingPunct="1"/>
            <a:r>
              <a:rPr lang="zh-CN" altLang="en-US" dirty="0" smtClean="0"/>
              <a:t>单工停等协议（差错情况）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71">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71">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7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0" name="Group 4"/>
          <p:cNvGrpSpPr/>
          <p:nvPr/>
        </p:nvGrpSpPr>
        <p:grpSpPr bwMode="auto">
          <a:xfrm>
            <a:off x="560388" y="1196975"/>
            <a:ext cx="7683500" cy="4749800"/>
            <a:chOff x="333" y="845"/>
            <a:chExt cx="5155" cy="3264"/>
          </a:xfrm>
        </p:grpSpPr>
        <p:sp>
          <p:nvSpPr>
            <p:cNvPr id="53254" name="Line 1026"/>
            <p:cNvSpPr>
              <a:spLocks noChangeShapeType="1"/>
            </p:cNvSpPr>
            <p:nvPr/>
          </p:nvSpPr>
          <p:spPr bwMode="auto">
            <a:xfrm flipH="1">
              <a:off x="720" y="3168"/>
              <a:ext cx="1056"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55" name="Rectangle 1027"/>
            <p:cNvSpPr>
              <a:spLocks noChangeArrowheads="1"/>
            </p:cNvSpPr>
            <p:nvPr/>
          </p:nvSpPr>
          <p:spPr bwMode="auto">
            <a:xfrm>
              <a:off x="897" y="941"/>
              <a:ext cx="1536" cy="288"/>
            </a:xfrm>
            <a:prstGeom prst="rect">
              <a:avLst/>
            </a:prstGeom>
            <a:solidFill>
              <a:srgbClr val="F5F2BB"/>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en-US" altLang="zh-CN" sz="2000" b="0">
                  <a:latin typeface="宋体" panose="02010600030101010101" pitchFamily="2" charset="-122"/>
                </a:rPr>
                <a:t> </a:t>
              </a:r>
              <a:r>
                <a:rPr lang="zh-CN" altLang="en-US" sz="2000" b="0">
                  <a:latin typeface="宋体" panose="02010600030101010101" pitchFamily="2" charset="-122"/>
                </a:rPr>
                <a:t>网络层取数，成帧</a:t>
              </a:r>
            </a:p>
          </p:txBody>
        </p:sp>
        <p:sp>
          <p:nvSpPr>
            <p:cNvPr id="53256" name="Rectangle 1028"/>
            <p:cNvSpPr>
              <a:spLocks noChangeArrowheads="1"/>
            </p:cNvSpPr>
            <p:nvPr/>
          </p:nvSpPr>
          <p:spPr bwMode="auto">
            <a:xfrm>
              <a:off x="1281" y="1517"/>
              <a:ext cx="672" cy="288"/>
            </a:xfrm>
            <a:prstGeom prst="rect">
              <a:avLst/>
            </a:prstGeom>
            <a:solidFill>
              <a:srgbClr val="F5F2BB"/>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zh-CN" altLang="en-US" sz="2000" b="0">
                  <a:latin typeface="宋体" panose="02010600030101010101" pitchFamily="2" charset="-122"/>
                </a:rPr>
                <a:t>发送帧</a:t>
              </a:r>
            </a:p>
          </p:txBody>
        </p:sp>
        <p:sp>
          <p:nvSpPr>
            <p:cNvPr id="53257" name="AutoShape 1029"/>
            <p:cNvSpPr>
              <a:spLocks noChangeArrowheads="1"/>
            </p:cNvSpPr>
            <p:nvPr/>
          </p:nvSpPr>
          <p:spPr bwMode="auto">
            <a:xfrm>
              <a:off x="3585" y="1037"/>
              <a:ext cx="1200" cy="384"/>
            </a:xfrm>
            <a:prstGeom prst="flowChartDecision">
              <a:avLst/>
            </a:prstGeom>
            <a:solidFill>
              <a:srgbClr val="F5F2BB"/>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zh-CN" altLang="en-US" sz="2000" b="0">
                  <a:latin typeface="宋体" panose="02010600030101010101" pitchFamily="2" charset="-122"/>
                </a:rPr>
                <a:t>帧到否</a:t>
              </a:r>
            </a:p>
          </p:txBody>
        </p:sp>
        <p:sp>
          <p:nvSpPr>
            <p:cNvPr id="53258" name="AutoShape 1030"/>
            <p:cNvSpPr>
              <a:spLocks noChangeArrowheads="1"/>
            </p:cNvSpPr>
            <p:nvPr/>
          </p:nvSpPr>
          <p:spPr bwMode="auto">
            <a:xfrm>
              <a:off x="945" y="2093"/>
              <a:ext cx="1344" cy="384"/>
            </a:xfrm>
            <a:prstGeom prst="flowChartDecision">
              <a:avLst/>
            </a:prstGeom>
            <a:solidFill>
              <a:srgbClr val="F5F2BB"/>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zh-CN" altLang="en-US" sz="2000" b="0">
                  <a:latin typeface="宋体" panose="02010600030101010101" pitchFamily="2" charset="-122"/>
                </a:rPr>
                <a:t>应答到否</a:t>
              </a:r>
            </a:p>
          </p:txBody>
        </p:sp>
        <p:sp>
          <p:nvSpPr>
            <p:cNvPr id="53259" name="Line 1031"/>
            <p:cNvSpPr>
              <a:spLocks noChangeShapeType="1"/>
            </p:cNvSpPr>
            <p:nvPr/>
          </p:nvSpPr>
          <p:spPr bwMode="auto">
            <a:xfrm>
              <a:off x="1617" y="1277"/>
              <a:ext cx="1"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0" name="Line 1032"/>
            <p:cNvSpPr>
              <a:spLocks noChangeShapeType="1"/>
            </p:cNvSpPr>
            <p:nvPr/>
          </p:nvSpPr>
          <p:spPr bwMode="auto">
            <a:xfrm>
              <a:off x="1617" y="1805"/>
              <a:ext cx="1" cy="28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1" name="Line 1033"/>
            <p:cNvSpPr>
              <a:spLocks noChangeShapeType="1"/>
            </p:cNvSpPr>
            <p:nvPr/>
          </p:nvSpPr>
          <p:spPr bwMode="auto">
            <a:xfrm>
              <a:off x="1617" y="2477"/>
              <a:ext cx="1" cy="28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2" name="Line 1034"/>
            <p:cNvSpPr>
              <a:spLocks noChangeShapeType="1"/>
            </p:cNvSpPr>
            <p:nvPr/>
          </p:nvSpPr>
          <p:spPr bwMode="auto">
            <a:xfrm>
              <a:off x="1665" y="3149"/>
              <a:ext cx="1"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3" name="Line 1035"/>
            <p:cNvSpPr>
              <a:spLocks noChangeShapeType="1"/>
            </p:cNvSpPr>
            <p:nvPr/>
          </p:nvSpPr>
          <p:spPr bwMode="auto">
            <a:xfrm>
              <a:off x="657" y="2957"/>
              <a:ext cx="384"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4" name="Line 1036"/>
            <p:cNvSpPr>
              <a:spLocks noChangeShapeType="1"/>
            </p:cNvSpPr>
            <p:nvPr/>
          </p:nvSpPr>
          <p:spPr bwMode="auto">
            <a:xfrm flipV="1">
              <a:off x="657" y="1709"/>
              <a:ext cx="1" cy="12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5" name="Line 1037"/>
            <p:cNvSpPr>
              <a:spLocks noChangeShapeType="1"/>
            </p:cNvSpPr>
            <p:nvPr/>
          </p:nvSpPr>
          <p:spPr bwMode="auto">
            <a:xfrm>
              <a:off x="657" y="1709"/>
              <a:ext cx="624" cy="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6" name="Line 1038"/>
            <p:cNvSpPr>
              <a:spLocks noChangeShapeType="1"/>
            </p:cNvSpPr>
            <p:nvPr/>
          </p:nvSpPr>
          <p:spPr bwMode="auto">
            <a:xfrm>
              <a:off x="333" y="2285"/>
              <a:ext cx="612" cy="1"/>
            </a:xfrm>
            <a:prstGeom prst="line">
              <a:avLst/>
            </a:prstGeom>
            <a:noFill/>
            <a:ln w="9525">
              <a:solidFill>
                <a:schemeClr val="tx1"/>
              </a:solidFill>
              <a:round/>
              <a:head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7" name="Line 1039"/>
            <p:cNvSpPr>
              <a:spLocks noChangeShapeType="1"/>
            </p:cNvSpPr>
            <p:nvPr/>
          </p:nvSpPr>
          <p:spPr bwMode="auto">
            <a:xfrm>
              <a:off x="1665" y="3389"/>
              <a:ext cx="864"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8" name="Line 1040"/>
            <p:cNvSpPr>
              <a:spLocks noChangeShapeType="1"/>
            </p:cNvSpPr>
            <p:nvPr/>
          </p:nvSpPr>
          <p:spPr bwMode="auto">
            <a:xfrm flipV="1">
              <a:off x="2529" y="2285"/>
              <a:ext cx="1"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9" name="Line 1041"/>
            <p:cNvSpPr>
              <a:spLocks noChangeShapeType="1"/>
            </p:cNvSpPr>
            <p:nvPr/>
          </p:nvSpPr>
          <p:spPr bwMode="auto">
            <a:xfrm flipH="1">
              <a:off x="2289" y="2285"/>
              <a:ext cx="240" cy="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70" name="AutoShape 1042"/>
            <p:cNvSpPr>
              <a:spLocks noChangeArrowheads="1"/>
            </p:cNvSpPr>
            <p:nvPr/>
          </p:nvSpPr>
          <p:spPr bwMode="auto">
            <a:xfrm>
              <a:off x="993" y="2765"/>
              <a:ext cx="1200" cy="384"/>
            </a:xfrm>
            <a:prstGeom prst="flowChartDecision">
              <a:avLst/>
            </a:prstGeom>
            <a:solidFill>
              <a:srgbClr val="F5F2BB"/>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zh-CN" altLang="en-US" sz="2000" b="0">
                  <a:latin typeface="宋体" panose="02010600030101010101" pitchFamily="2" charset="-122"/>
                </a:rPr>
                <a:t>超时否</a:t>
              </a:r>
            </a:p>
          </p:txBody>
        </p:sp>
        <p:sp>
          <p:nvSpPr>
            <p:cNvPr id="53271" name="Line 1043"/>
            <p:cNvSpPr>
              <a:spLocks noChangeShapeType="1"/>
            </p:cNvSpPr>
            <p:nvPr/>
          </p:nvSpPr>
          <p:spPr bwMode="auto">
            <a:xfrm>
              <a:off x="4209" y="1421"/>
              <a:ext cx="1" cy="19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72" name="Line 1044"/>
            <p:cNvSpPr>
              <a:spLocks noChangeShapeType="1"/>
            </p:cNvSpPr>
            <p:nvPr/>
          </p:nvSpPr>
          <p:spPr bwMode="auto">
            <a:xfrm>
              <a:off x="4209" y="845"/>
              <a:ext cx="1" cy="19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73" name="Line 1045"/>
            <p:cNvSpPr>
              <a:spLocks noChangeShapeType="1"/>
            </p:cNvSpPr>
            <p:nvPr/>
          </p:nvSpPr>
          <p:spPr bwMode="auto">
            <a:xfrm>
              <a:off x="4785" y="1229"/>
              <a:ext cx="288"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74" name="Line 1046"/>
            <p:cNvSpPr>
              <a:spLocks noChangeShapeType="1"/>
            </p:cNvSpPr>
            <p:nvPr/>
          </p:nvSpPr>
          <p:spPr bwMode="auto">
            <a:xfrm flipV="1">
              <a:off x="5073" y="941"/>
              <a:ext cx="1"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75" name="Line 1047"/>
            <p:cNvSpPr>
              <a:spLocks noChangeShapeType="1"/>
            </p:cNvSpPr>
            <p:nvPr/>
          </p:nvSpPr>
          <p:spPr bwMode="auto">
            <a:xfrm flipH="1">
              <a:off x="4209" y="941"/>
              <a:ext cx="1211" cy="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76" name="AutoShape 1048"/>
            <p:cNvSpPr>
              <a:spLocks noChangeArrowheads="1"/>
            </p:cNvSpPr>
            <p:nvPr/>
          </p:nvSpPr>
          <p:spPr bwMode="auto">
            <a:xfrm>
              <a:off x="3585" y="1613"/>
              <a:ext cx="1200" cy="336"/>
            </a:xfrm>
            <a:prstGeom prst="flowChartDecision">
              <a:avLst/>
            </a:prstGeom>
            <a:solidFill>
              <a:srgbClr val="F5F2BB"/>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zh-CN" altLang="en-US" sz="2000" b="0">
                  <a:latin typeface="宋体" panose="02010600030101010101" pitchFamily="2" charset="-122"/>
                </a:rPr>
                <a:t>重复否</a:t>
              </a:r>
            </a:p>
          </p:txBody>
        </p:sp>
        <p:sp>
          <p:nvSpPr>
            <p:cNvPr id="53277" name="Line 1049"/>
            <p:cNvSpPr>
              <a:spLocks noChangeShapeType="1"/>
            </p:cNvSpPr>
            <p:nvPr/>
          </p:nvSpPr>
          <p:spPr bwMode="auto">
            <a:xfrm>
              <a:off x="4161" y="1949"/>
              <a:ext cx="1" cy="19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78" name="AutoShape 1050"/>
            <p:cNvSpPr>
              <a:spLocks noChangeArrowheads="1"/>
            </p:cNvSpPr>
            <p:nvPr/>
          </p:nvSpPr>
          <p:spPr bwMode="auto">
            <a:xfrm>
              <a:off x="3552" y="2160"/>
              <a:ext cx="1200" cy="288"/>
            </a:xfrm>
            <a:prstGeom prst="flowChartDecision">
              <a:avLst/>
            </a:prstGeom>
            <a:solidFill>
              <a:srgbClr val="F5F2BB"/>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zh-CN" altLang="en-US" sz="2000" b="0">
                  <a:latin typeface="宋体" panose="02010600030101010101" pitchFamily="2" charset="-122"/>
                </a:rPr>
                <a:t>正确否</a:t>
              </a:r>
            </a:p>
          </p:txBody>
        </p:sp>
        <p:sp>
          <p:nvSpPr>
            <p:cNvPr id="53279" name="Rectangle 1051"/>
            <p:cNvSpPr>
              <a:spLocks noChangeArrowheads="1"/>
            </p:cNvSpPr>
            <p:nvPr/>
          </p:nvSpPr>
          <p:spPr bwMode="auto">
            <a:xfrm>
              <a:off x="3537" y="2669"/>
              <a:ext cx="1392" cy="288"/>
            </a:xfrm>
            <a:prstGeom prst="rect">
              <a:avLst/>
            </a:prstGeom>
            <a:solidFill>
              <a:srgbClr val="F5F2BB"/>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zh-CN" altLang="en-US" sz="2000" b="0">
                  <a:latin typeface="宋体" panose="02010600030101010101" pitchFamily="2" charset="-122"/>
                </a:rPr>
                <a:t>接收帧，送网络层</a:t>
              </a:r>
            </a:p>
          </p:txBody>
        </p:sp>
        <p:sp>
          <p:nvSpPr>
            <p:cNvPr id="53280" name="Rectangle 1052"/>
            <p:cNvSpPr>
              <a:spLocks noChangeArrowheads="1"/>
            </p:cNvSpPr>
            <p:nvPr/>
          </p:nvSpPr>
          <p:spPr bwMode="auto">
            <a:xfrm>
              <a:off x="3873" y="3197"/>
              <a:ext cx="570" cy="288"/>
            </a:xfrm>
            <a:prstGeom prst="rect">
              <a:avLst/>
            </a:prstGeom>
            <a:solidFill>
              <a:srgbClr val="F5F2BB"/>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Clr>
                  <a:schemeClr val="accent1"/>
                </a:buClr>
                <a:buFontTx/>
                <a:buNone/>
              </a:pPr>
              <a:r>
                <a:rPr lang="zh-CN" altLang="en-US" sz="2000" b="0">
                  <a:latin typeface="宋体" panose="02010600030101010101" pitchFamily="2" charset="-122"/>
                </a:rPr>
                <a:t>发应答</a:t>
              </a:r>
            </a:p>
          </p:txBody>
        </p:sp>
        <p:sp>
          <p:nvSpPr>
            <p:cNvPr id="53281" name="Line 1053"/>
            <p:cNvSpPr>
              <a:spLocks noChangeShapeType="1"/>
            </p:cNvSpPr>
            <p:nvPr/>
          </p:nvSpPr>
          <p:spPr bwMode="auto">
            <a:xfrm>
              <a:off x="4785" y="1805"/>
              <a:ext cx="288"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82" name="Line 1054"/>
            <p:cNvSpPr>
              <a:spLocks noChangeShapeType="1"/>
            </p:cNvSpPr>
            <p:nvPr/>
          </p:nvSpPr>
          <p:spPr bwMode="auto">
            <a:xfrm flipH="1">
              <a:off x="5073" y="1805"/>
              <a:ext cx="1" cy="15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83" name="Line 1055"/>
            <p:cNvSpPr>
              <a:spLocks noChangeShapeType="1"/>
            </p:cNvSpPr>
            <p:nvPr/>
          </p:nvSpPr>
          <p:spPr bwMode="auto">
            <a:xfrm flipH="1">
              <a:off x="4449" y="3341"/>
              <a:ext cx="624" cy="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84" name="Line 1056"/>
            <p:cNvSpPr>
              <a:spLocks noChangeShapeType="1"/>
            </p:cNvSpPr>
            <p:nvPr/>
          </p:nvSpPr>
          <p:spPr bwMode="auto">
            <a:xfrm>
              <a:off x="4161" y="2429"/>
              <a:ext cx="1"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85" name="Line 1057"/>
            <p:cNvSpPr>
              <a:spLocks noChangeShapeType="1"/>
            </p:cNvSpPr>
            <p:nvPr/>
          </p:nvSpPr>
          <p:spPr bwMode="auto">
            <a:xfrm>
              <a:off x="4161" y="2957"/>
              <a:ext cx="1"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86" name="Line 1058"/>
            <p:cNvSpPr>
              <a:spLocks noChangeShapeType="1"/>
            </p:cNvSpPr>
            <p:nvPr/>
          </p:nvSpPr>
          <p:spPr bwMode="auto">
            <a:xfrm flipV="1">
              <a:off x="4656" y="2304"/>
              <a:ext cx="768"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87" name="Line 1059"/>
            <p:cNvSpPr>
              <a:spLocks noChangeShapeType="1"/>
            </p:cNvSpPr>
            <p:nvPr/>
          </p:nvSpPr>
          <p:spPr bwMode="auto">
            <a:xfrm flipV="1">
              <a:off x="1953" y="981"/>
              <a:ext cx="2197" cy="680"/>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88" name="Line 1060"/>
            <p:cNvSpPr>
              <a:spLocks noChangeShapeType="1"/>
            </p:cNvSpPr>
            <p:nvPr/>
          </p:nvSpPr>
          <p:spPr bwMode="auto">
            <a:xfrm flipH="1" flipV="1">
              <a:off x="1610" y="1933"/>
              <a:ext cx="2256" cy="1401"/>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89" name="Oval 1061"/>
            <p:cNvSpPr>
              <a:spLocks noChangeArrowheads="1"/>
            </p:cNvSpPr>
            <p:nvPr/>
          </p:nvSpPr>
          <p:spPr bwMode="auto">
            <a:xfrm>
              <a:off x="2625" y="1229"/>
              <a:ext cx="720" cy="288"/>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b="0">
                  <a:latin typeface="宋体" panose="02010600030101010101" pitchFamily="2" charset="-122"/>
                </a:rPr>
                <a:t>发送帧</a:t>
              </a:r>
            </a:p>
          </p:txBody>
        </p:sp>
        <p:sp>
          <p:nvSpPr>
            <p:cNvPr id="53290" name="Oval 1062"/>
            <p:cNvSpPr>
              <a:spLocks noChangeArrowheads="1"/>
            </p:cNvSpPr>
            <p:nvPr/>
          </p:nvSpPr>
          <p:spPr bwMode="auto">
            <a:xfrm>
              <a:off x="2608" y="2659"/>
              <a:ext cx="912" cy="288"/>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b="0">
                  <a:latin typeface="宋体" panose="02010600030101010101" pitchFamily="2" charset="-122"/>
                </a:rPr>
                <a:t>应答帧</a:t>
              </a:r>
            </a:p>
          </p:txBody>
        </p:sp>
        <p:sp>
          <p:nvSpPr>
            <p:cNvPr id="53291" name="Text Box 1063"/>
            <p:cNvSpPr txBox="1">
              <a:spLocks noChangeArrowheads="1"/>
            </p:cNvSpPr>
            <p:nvPr/>
          </p:nvSpPr>
          <p:spPr bwMode="auto">
            <a:xfrm>
              <a:off x="4209" y="1373"/>
              <a:ext cx="2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b="0">
                  <a:solidFill>
                    <a:schemeClr val="tx1"/>
                  </a:solidFill>
                  <a:latin typeface="宋体" panose="02010600030101010101" pitchFamily="2" charset="-122"/>
                </a:rPr>
                <a:t>Y</a:t>
              </a:r>
            </a:p>
          </p:txBody>
        </p:sp>
        <p:sp>
          <p:nvSpPr>
            <p:cNvPr id="53292" name="Text Box 1064"/>
            <p:cNvSpPr txBox="1">
              <a:spLocks noChangeArrowheads="1"/>
            </p:cNvSpPr>
            <p:nvPr/>
          </p:nvSpPr>
          <p:spPr bwMode="auto">
            <a:xfrm>
              <a:off x="4737" y="941"/>
              <a:ext cx="288"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0">
                  <a:solidFill>
                    <a:schemeClr val="tx1"/>
                  </a:solidFill>
                  <a:latin typeface="宋体" panose="02010600030101010101" pitchFamily="2" charset="-122"/>
                </a:rPr>
                <a:t>N</a:t>
              </a:r>
            </a:p>
          </p:txBody>
        </p:sp>
        <p:sp>
          <p:nvSpPr>
            <p:cNvPr id="53293" name="Text Box 1065"/>
            <p:cNvSpPr txBox="1">
              <a:spLocks noChangeArrowheads="1"/>
            </p:cNvSpPr>
            <p:nvPr/>
          </p:nvSpPr>
          <p:spPr bwMode="auto">
            <a:xfrm>
              <a:off x="705" y="2045"/>
              <a:ext cx="287"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0">
                  <a:solidFill>
                    <a:schemeClr val="tx1"/>
                  </a:solidFill>
                  <a:latin typeface="宋体" panose="02010600030101010101" pitchFamily="2" charset="-122"/>
                </a:rPr>
                <a:t>Y</a:t>
              </a:r>
            </a:p>
          </p:txBody>
        </p:sp>
        <p:sp>
          <p:nvSpPr>
            <p:cNvPr id="53294" name="Text Box 1066"/>
            <p:cNvSpPr txBox="1">
              <a:spLocks noChangeArrowheads="1"/>
            </p:cNvSpPr>
            <p:nvPr/>
          </p:nvSpPr>
          <p:spPr bwMode="auto">
            <a:xfrm>
              <a:off x="1377" y="2477"/>
              <a:ext cx="288"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0">
                  <a:solidFill>
                    <a:schemeClr val="tx1"/>
                  </a:solidFill>
                  <a:latin typeface="宋体" panose="02010600030101010101" pitchFamily="2" charset="-122"/>
                </a:rPr>
                <a:t>N</a:t>
              </a:r>
            </a:p>
          </p:txBody>
        </p:sp>
        <p:sp>
          <p:nvSpPr>
            <p:cNvPr id="53295" name="Text Box 1067"/>
            <p:cNvSpPr txBox="1">
              <a:spLocks noChangeArrowheads="1"/>
            </p:cNvSpPr>
            <p:nvPr/>
          </p:nvSpPr>
          <p:spPr bwMode="auto">
            <a:xfrm>
              <a:off x="705" y="2717"/>
              <a:ext cx="287"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0">
                  <a:solidFill>
                    <a:schemeClr val="tx1"/>
                  </a:solidFill>
                  <a:latin typeface="宋体" panose="02010600030101010101" pitchFamily="2" charset="-122"/>
                </a:rPr>
                <a:t>Y</a:t>
              </a:r>
            </a:p>
          </p:txBody>
        </p:sp>
        <p:sp>
          <p:nvSpPr>
            <p:cNvPr id="53296" name="Text Box 1068"/>
            <p:cNvSpPr txBox="1">
              <a:spLocks noChangeArrowheads="1"/>
            </p:cNvSpPr>
            <p:nvPr/>
          </p:nvSpPr>
          <p:spPr bwMode="auto">
            <a:xfrm>
              <a:off x="1714" y="3149"/>
              <a:ext cx="287"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0">
                  <a:solidFill>
                    <a:schemeClr val="tx1"/>
                  </a:solidFill>
                  <a:latin typeface="宋体" panose="02010600030101010101" pitchFamily="2" charset="-122"/>
                </a:rPr>
                <a:t>N</a:t>
              </a:r>
            </a:p>
          </p:txBody>
        </p:sp>
        <p:sp>
          <p:nvSpPr>
            <p:cNvPr id="53297" name="Text Box 1069"/>
            <p:cNvSpPr txBox="1">
              <a:spLocks noChangeArrowheads="1"/>
            </p:cNvSpPr>
            <p:nvPr/>
          </p:nvSpPr>
          <p:spPr bwMode="auto">
            <a:xfrm>
              <a:off x="4740" y="1980"/>
              <a:ext cx="28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b="0">
                  <a:solidFill>
                    <a:schemeClr val="tx1"/>
                  </a:solidFill>
                  <a:latin typeface="宋体" panose="02010600030101010101" pitchFamily="2" charset="-122"/>
                </a:rPr>
                <a:t>N</a:t>
              </a:r>
            </a:p>
          </p:txBody>
        </p:sp>
        <p:sp>
          <p:nvSpPr>
            <p:cNvPr id="53298" name="Text Box 1070"/>
            <p:cNvSpPr txBox="1">
              <a:spLocks noChangeArrowheads="1"/>
            </p:cNvSpPr>
            <p:nvPr/>
          </p:nvSpPr>
          <p:spPr bwMode="auto">
            <a:xfrm>
              <a:off x="4105" y="2388"/>
              <a:ext cx="288"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0">
                  <a:solidFill>
                    <a:schemeClr val="tx1"/>
                  </a:solidFill>
                  <a:latin typeface="宋体" panose="02010600030101010101" pitchFamily="2" charset="-122"/>
                </a:rPr>
                <a:t>Y</a:t>
              </a:r>
            </a:p>
          </p:txBody>
        </p:sp>
        <p:sp>
          <p:nvSpPr>
            <p:cNvPr id="53299" name="AutoShape 1071"/>
            <p:cNvSpPr>
              <a:spLocks noChangeArrowheads="1"/>
            </p:cNvSpPr>
            <p:nvPr/>
          </p:nvSpPr>
          <p:spPr bwMode="auto">
            <a:xfrm>
              <a:off x="801" y="3149"/>
              <a:ext cx="528" cy="768"/>
            </a:xfrm>
            <a:prstGeom prst="curvedRightArrow">
              <a:avLst>
                <a:gd name="adj1" fmla="val 29226"/>
                <a:gd name="adj2" fmla="val 58182"/>
                <a:gd name="adj3" fmla="val 33333"/>
              </a:avLst>
            </a:prstGeom>
            <a:solidFill>
              <a:srgbClr val="00FF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endParaRPr lang="zh-CN" altLang="en-US" sz="2800">
                <a:solidFill>
                  <a:schemeClr val="accent2"/>
                </a:solidFill>
                <a:ea typeface="黑体" panose="02010609060101010101" pitchFamily="49" charset="-122"/>
              </a:endParaRPr>
            </a:p>
          </p:txBody>
        </p:sp>
        <p:sp>
          <p:nvSpPr>
            <p:cNvPr id="53300" name="Oval 1072"/>
            <p:cNvSpPr>
              <a:spLocks noChangeArrowheads="1"/>
            </p:cNvSpPr>
            <p:nvPr/>
          </p:nvSpPr>
          <p:spPr bwMode="auto">
            <a:xfrm>
              <a:off x="1377" y="3629"/>
              <a:ext cx="1008" cy="480"/>
            </a:xfrm>
            <a:prstGeom prst="ellipse">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b="0">
                  <a:latin typeface="宋体" panose="02010600030101010101" pitchFamily="2" charset="-122"/>
                </a:rPr>
                <a:t>定时器</a:t>
              </a:r>
            </a:p>
          </p:txBody>
        </p:sp>
        <p:sp>
          <p:nvSpPr>
            <p:cNvPr id="53301" name="Line 1074"/>
            <p:cNvSpPr>
              <a:spLocks noChangeShapeType="1"/>
            </p:cNvSpPr>
            <p:nvPr/>
          </p:nvSpPr>
          <p:spPr bwMode="auto">
            <a:xfrm flipH="1">
              <a:off x="5420" y="935"/>
              <a:ext cx="0" cy="136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302" name="Text Box 1075"/>
            <p:cNvSpPr txBox="1">
              <a:spLocks noChangeArrowheads="1"/>
            </p:cNvSpPr>
            <p:nvPr/>
          </p:nvSpPr>
          <p:spPr bwMode="auto">
            <a:xfrm>
              <a:off x="5012" y="2069"/>
              <a:ext cx="4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1800" b="0">
                  <a:solidFill>
                    <a:schemeClr val="tx1"/>
                  </a:solidFill>
                  <a:latin typeface="宋体" panose="02010600030101010101" pitchFamily="2" charset="-122"/>
                </a:rPr>
                <a:t>丢弃</a:t>
              </a:r>
            </a:p>
          </p:txBody>
        </p:sp>
        <p:sp>
          <p:nvSpPr>
            <p:cNvPr id="53303" name="Text Box 1076"/>
            <p:cNvSpPr txBox="1">
              <a:spLocks noChangeArrowheads="1"/>
            </p:cNvSpPr>
            <p:nvPr/>
          </p:nvSpPr>
          <p:spPr bwMode="auto">
            <a:xfrm>
              <a:off x="4740" y="1570"/>
              <a:ext cx="4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1800" b="0">
                  <a:solidFill>
                    <a:schemeClr val="tx1"/>
                  </a:solidFill>
                  <a:latin typeface="宋体" panose="02010600030101010101" pitchFamily="2" charset="-122"/>
                </a:rPr>
                <a:t>丢弃</a:t>
              </a:r>
            </a:p>
          </p:txBody>
        </p:sp>
        <p:sp>
          <p:nvSpPr>
            <p:cNvPr id="53304" name="Text Box 1077"/>
            <p:cNvSpPr txBox="1">
              <a:spLocks noChangeArrowheads="1"/>
            </p:cNvSpPr>
            <p:nvPr/>
          </p:nvSpPr>
          <p:spPr bwMode="auto">
            <a:xfrm>
              <a:off x="4150" y="1933"/>
              <a:ext cx="28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b="0">
                  <a:solidFill>
                    <a:schemeClr val="tx1"/>
                  </a:solidFill>
                  <a:latin typeface="宋体" panose="02010600030101010101" pitchFamily="2" charset="-122"/>
                </a:rPr>
                <a:t>N</a:t>
              </a:r>
            </a:p>
          </p:txBody>
        </p:sp>
        <p:sp>
          <p:nvSpPr>
            <p:cNvPr id="53305" name="Text Box 1078"/>
            <p:cNvSpPr txBox="1">
              <a:spLocks noChangeArrowheads="1"/>
            </p:cNvSpPr>
            <p:nvPr/>
          </p:nvSpPr>
          <p:spPr bwMode="auto">
            <a:xfrm>
              <a:off x="4604" y="1525"/>
              <a:ext cx="288"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0">
                  <a:solidFill>
                    <a:schemeClr val="tx1"/>
                  </a:solidFill>
                  <a:latin typeface="宋体" panose="02010600030101010101" pitchFamily="2" charset="-122"/>
                </a:rPr>
                <a:t>Y</a:t>
              </a:r>
            </a:p>
          </p:txBody>
        </p:sp>
      </p:grpSp>
      <p:sp>
        <p:nvSpPr>
          <p:cNvPr id="53251" name="Text Box 5"/>
          <p:cNvSpPr txBox="1">
            <a:spLocks noChangeArrowheads="1"/>
          </p:cNvSpPr>
          <p:nvPr/>
        </p:nvSpPr>
        <p:spPr bwMode="auto">
          <a:xfrm>
            <a:off x="3407053" y="352425"/>
            <a:ext cx="551946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Font typeface="Wingdings" panose="05000000000000000000" pitchFamily="2" charset="2"/>
              <a:buNone/>
            </a:pPr>
            <a:r>
              <a:rPr lang="zh-CN" altLang="en-US" b="0" dirty="0" smtClean="0">
                <a:solidFill>
                  <a:schemeClr val="bg1"/>
                </a:solidFill>
                <a:latin typeface="+mj-ea"/>
                <a:ea typeface="+mj-ea"/>
              </a:rPr>
              <a:t>差错情况下单工</a:t>
            </a:r>
            <a:r>
              <a:rPr lang="zh-CN" altLang="en-US" b="0" dirty="0">
                <a:solidFill>
                  <a:schemeClr val="bg1"/>
                </a:solidFill>
                <a:latin typeface="+mj-ea"/>
                <a:ea typeface="+mj-ea"/>
              </a:rPr>
              <a:t>停等</a:t>
            </a:r>
            <a:r>
              <a:rPr lang="zh-CN" altLang="en-US" b="0" dirty="0" smtClean="0">
                <a:solidFill>
                  <a:schemeClr val="bg1"/>
                </a:solidFill>
                <a:latin typeface="+mj-ea"/>
                <a:ea typeface="+mj-ea"/>
              </a:rPr>
              <a:t>协议流程</a:t>
            </a:r>
            <a:endParaRPr lang="zh-CN" altLang="en-US" b="0" dirty="0">
              <a:solidFill>
                <a:schemeClr val="bg1"/>
              </a:solidFill>
              <a:latin typeface="+mj-ea"/>
              <a:ea typeface="+mj-ea"/>
            </a:endParaRPr>
          </a:p>
        </p:txBody>
      </p:sp>
      <p:sp>
        <p:nvSpPr>
          <p:cNvPr id="53252" name="Line 1036"/>
          <p:cNvSpPr>
            <a:spLocks noChangeShapeType="1"/>
          </p:cNvSpPr>
          <p:nvPr/>
        </p:nvSpPr>
        <p:spPr bwMode="auto">
          <a:xfrm flipH="1" flipV="1">
            <a:off x="558800" y="1557338"/>
            <a:ext cx="1588" cy="17430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53" name="Line 1038"/>
          <p:cNvSpPr>
            <a:spLocks noChangeShapeType="1"/>
          </p:cNvSpPr>
          <p:nvPr/>
        </p:nvSpPr>
        <p:spPr bwMode="auto">
          <a:xfrm>
            <a:off x="560388" y="1557338"/>
            <a:ext cx="839787" cy="0"/>
          </a:xfrm>
          <a:prstGeom prst="line">
            <a:avLst/>
          </a:prstGeom>
          <a:noFill/>
          <a:ln w="952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447800" y="333375"/>
            <a:ext cx="7696200" cy="549275"/>
          </a:xfrm>
        </p:spPr>
        <p:txBody>
          <a:bodyPr/>
          <a:lstStyle/>
          <a:p>
            <a:pPr eaLnBrk="1" hangingPunct="1"/>
            <a:r>
              <a:rPr lang="zh-CN" altLang="en-US" smtClean="0"/>
              <a:t>连续</a:t>
            </a:r>
            <a:r>
              <a:rPr lang="en-US" altLang="zh-CN" smtClean="0"/>
              <a:t>ARQ</a:t>
            </a:r>
            <a:r>
              <a:rPr lang="zh-CN" altLang="en-US" smtClean="0"/>
              <a:t>协议 </a:t>
            </a:r>
          </a:p>
        </p:txBody>
      </p:sp>
      <p:sp>
        <p:nvSpPr>
          <p:cNvPr id="157699" name="Rectangle 3"/>
          <p:cNvSpPr>
            <a:spLocks noGrp="1" noChangeArrowheads="1"/>
          </p:cNvSpPr>
          <p:nvPr>
            <p:ph type="body" idx="1"/>
          </p:nvPr>
        </p:nvSpPr>
        <p:spPr>
          <a:xfrm>
            <a:off x="539750" y="1196975"/>
            <a:ext cx="8208963" cy="5256361"/>
          </a:xfrm>
        </p:spPr>
        <p:txBody>
          <a:bodyPr/>
          <a:lstStyle/>
          <a:p>
            <a:pPr marL="609600" indent="-609600" eaLnBrk="1" hangingPunct="1">
              <a:spcBef>
                <a:spcPts val="600"/>
              </a:spcBef>
            </a:pPr>
            <a:r>
              <a:rPr lang="zh-CN" altLang="en-US" sz="2800" dirty="0" smtClean="0">
                <a:latin typeface="+mj-ea"/>
                <a:ea typeface="+mj-ea"/>
              </a:rPr>
              <a:t>工作原理</a:t>
            </a:r>
          </a:p>
          <a:p>
            <a:pPr marL="990600" lvl="1" indent="-533400" eaLnBrk="1" hangingPunct="1">
              <a:spcBef>
                <a:spcPts val="600"/>
              </a:spcBef>
            </a:pPr>
            <a:r>
              <a:rPr lang="zh-CN" altLang="en-US" sz="2600" dirty="0" smtClean="0">
                <a:solidFill>
                  <a:srgbClr val="000099"/>
                </a:solidFill>
              </a:rPr>
              <a:t>连续</a:t>
            </a:r>
            <a:r>
              <a:rPr lang="en-US" altLang="zh-CN" sz="2600" dirty="0" smtClean="0">
                <a:solidFill>
                  <a:srgbClr val="000099"/>
                </a:solidFill>
              </a:rPr>
              <a:t>ARQ</a:t>
            </a:r>
            <a:r>
              <a:rPr lang="zh-CN" altLang="en-US" sz="2600" dirty="0" smtClean="0">
                <a:solidFill>
                  <a:srgbClr val="000099"/>
                </a:solidFill>
              </a:rPr>
              <a:t>协议是指</a:t>
            </a:r>
            <a:r>
              <a:rPr lang="zh-CN" altLang="en-US" sz="2600" dirty="0" smtClean="0">
                <a:solidFill>
                  <a:schemeClr val="hlink"/>
                </a:solidFill>
              </a:rPr>
              <a:t>不需要收到应答帧</a:t>
            </a:r>
            <a:r>
              <a:rPr lang="zh-CN" altLang="en-US" sz="2600" dirty="0" smtClean="0">
                <a:solidFill>
                  <a:srgbClr val="000099"/>
                </a:solidFill>
              </a:rPr>
              <a:t>就可连续不断的发后续的帧，克服停等</a:t>
            </a:r>
            <a:r>
              <a:rPr lang="en-US" altLang="zh-CN" sz="2600" dirty="0" smtClean="0">
                <a:solidFill>
                  <a:srgbClr val="000099"/>
                </a:solidFill>
              </a:rPr>
              <a:t>ARQ</a:t>
            </a:r>
            <a:r>
              <a:rPr lang="zh-CN" altLang="en-US" sz="2600" dirty="0" smtClean="0">
                <a:solidFill>
                  <a:srgbClr val="000099"/>
                </a:solidFill>
              </a:rPr>
              <a:t>协议效率低下问题。</a:t>
            </a:r>
            <a:endParaRPr lang="zh-CN" altLang="en-US" sz="2600" dirty="0" smtClean="0">
              <a:solidFill>
                <a:schemeClr val="hlink"/>
              </a:solidFill>
            </a:endParaRPr>
          </a:p>
          <a:p>
            <a:pPr marL="609600" indent="-609600" eaLnBrk="1" hangingPunct="1">
              <a:spcBef>
                <a:spcPts val="600"/>
              </a:spcBef>
            </a:pPr>
            <a:r>
              <a:rPr lang="zh-CN" altLang="en-US" sz="2800" dirty="0" smtClean="0">
                <a:latin typeface="+mj-ea"/>
                <a:ea typeface="+mj-ea"/>
              </a:rPr>
              <a:t>帧出错后处理策略：传输资源与存储资源博弈</a:t>
            </a:r>
          </a:p>
          <a:p>
            <a:pPr marL="990600" lvl="1" indent="-533400" eaLnBrk="1" hangingPunct="1">
              <a:spcBef>
                <a:spcPts val="600"/>
              </a:spcBef>
            </a:pPr>
            <a:r>
              <a:rPr lang="zh-CN" altLang="en-US" sz="2600" dirty="0" smtClean="0"/>
              <a:t>全部重传</a:t>
            </a:r>
            <a:r>
              <a:rPr lang="en-US" altLang="zh-CN" sz="2600" dirty="0" smtClean="0"/>
              <a:t>ARQ</a:t>
            </a:r>
            <a:endParaRPr lang="zh-CN" altLang="en-US" sz="2600" dirty="0" smtClean="0"/>
          </a:p>
          <a:p>
            <a:pPr marL="1371600" lvl="2" indent="-457200" eaLnBrk="1" hangingPunct="1">
              <a:spcBef>
                <a:spcPts val="600"/>
              </a:spcBef>
            </a:pPr>
            <a:r>
              <a:rPr lang="zh-CN" altLang="en-US" sz="2600" dirty="0" smtClean="0">
                <a:solidFill>
                  <a:srgbClr val="000099"/>
                </a:solidFill>
              </a:rPr>
              <a:t>当一帧出错时，需重传出错帧及之后的所有帧；</a:t>
            </a:r>
          </a:p>
          <a:p>
            <a:pPr marL="1371600" lvl="2" indent="-457200" eaLnBrk="1" hangingPunct="1">
              <a:spcBef>
                <a:spcPts val="600"/>
              </a:spcBef>
            </a:pPr>
            <a:r>
              <a:rPr lang="zh-CN" altLang="en-US" sz="2600" dirty="0" smtClean="0">
                <a:solidFill>
                  <a:srgbClr val="000099"/>
                </a:solidFill>
              </a:rPr>
              <a:t>接收方的缓冲区数量只需要一个。</a:t>
            </a:r>
          </a:p>
          <a:p>
            <a:pPr marL="990600" lvl="1" indent="-533400" eaLnBrk="1" hangingPunct="1">
              <a:spcBef>
                <a:spcPts val="600"/>
              </a:spcBef>
            </a:pPr>
            <a:r>
              <a:rPr lang="zh-CN" altLang="en-US" sz="2600" dirty="0" smtClean="0"/>
              <a:t>选择重传</a:t>
            </a:r>
            <a:r>
              <a:rPr lang="en-US" altLang="zh-CN" sz="2600" dirty="0" smtClean="0"/>
              <a:t>ARQ</a:t>
            </a:r>
            <a:endParaRPr lang="zh-CN" altLang="en-US" sz="2600" dirty="0" smtClean="0"/>
          </a:p>
          <a:p>
            <a:pPr marL="1371600" lvl="2" indent="-457200" eaLnBrk="1" hangingPunct="1">
              <a:spcBef>
                <a:spcPts val="600"/>
              </a:spcBef>
            </a:pPr>
            <a:r>
              <a:rPr lang="zh-CN" altLang="en-US" sz="2600" dirty="0" smtClean="0">
                <a:solidFill>
                  <a:srgbClr val="000099"/>
                </a:solidFill>
              </a:rPr>
              <a:t>当一帧出错时，只重传出错帧；</a:t>
            </a:r>
          </a:p>
          <a:p>
            <a:pPr marL="1371600" lvl="2" indent="-457200" eaLnBrk="1" hangingPunct="1">
              <a:spcBef>
                <a:spcPts val="600"/>
              </a:spcBef>
            </a:pPr>
            <a:r>
              <a:rPr lang="zh-CN" altLang="en-US" sz="2600" dirty="0" smtClean="0">
                <a:solidFill>
                  <a:srgbClr val="000099"/>
                </a:solidFill>
              </a:rPr>
              <a:t>接收方的缓冲区数量足够多。</a:t>
            </a:r>
          </a:p>
          <a:p>
            <a:pPr marL="1371600" lvl="2" indent="-457200" eaLnBrk="1" hangingPunct="1">
              <a:lnSpc>
                <a:spcPct val="90000"/>
              </a:lnSpc>
              <a:buFont typeface="Wingdings" panose="05000000000000000000" pitchFamily="2" charset="2"/>
              <a:buNone/>
            </a:pPr>
            <a:endParaRPr lang="en-US" altLang="zh-CN" sz="2600" dirty="0" smtClean="0"/>
          </a:p>
        </p:txBody>
      </p:sp>
      <p:sp>
        <p:nvSpPr>
          <p:cNvPr id="55300" name="Rectangle 4"/>
          <p:cNvSpPr>
            <a:spLocks noChangeArrowheads="1"/>
          </p:cNvSpPr>
          <p:nvPr/>
        </p:nvSpPr>
        <p:spPr bwMode="auto">
          <a:xfrm>
            <a:off x="2057400" y="2362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endParaRPr lang="zh-CN" altLang="en-US" sz="2800">
              <a:solidFill>
                <a:schemeClr val="accent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769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769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769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769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769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7699">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7699">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76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ChangeArrowheads="1"/>
          </p:cNvSpPr>
          <p:nvPr/>
        </p:nvSpPr>
        <p:spPr bwMode="auto">
          <a:xfrm>
            <a:off x="0" y="914400"/>
            <a:ext cx="9144000" cy="53340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endParaRPr lang="zh-CN" altLang="en-US" sz="2800">
              <a:solidFill>
                <a:schemeClr val="accent2"/>
              </a:solidFill>
              <a:ea typeface="黑体" panose="02010609060101010101" pitchFamily="49" charset="-122"/>
            </a:endParaRPr>
          </a:p>
        </p:txBody>
      </p:sp>
      <p:sp>
        <p:nvSpPr>
          <p:cNvPr id="57347" name="Rectangle 14"/>
          <p:cNvSpPr>
            <a:spLocks noChangeArrowheads="1"/>
          </p:cNvSpPr>
          <p:nvPr/>
        </p:nvSpPr>
        <p:spPr bwMode="auto">
          <a:xfrm>
            <a:off x="0" y="2282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endParaRPr lang="zh-CN" altLang="en-US" sz="2800">
              <a:solidFill>
                <a:schemeClr val="accent2"/>
              </a:solidFill>
              <a:ea typeface="黑体" panose="02010609060101010101" pitchFamily="49" charset="-122"/>
            </a:endParaRPr>
          </a:p>
        </p:txBody>
      </p:sp>
      <p:graphicFrame>
        <p:nvGraphicFramePr>
          <p:cNvPr id="57348" name="Object 13"/>
          <p:cNvGraphicFramePr>
            <a:graphicFrameLocks noChangeAspect="1"/>
          </p:cNvGraphicFramePr>
          <p:nvPr/>
        </p:nvGraphicFramePr>
        <p:xfrm>
          <a:off x="0" y="1268413"/>
          <a:ext cx="8675688" cy="4705350"/>
        </p:xfrm>
        <a:graphic>
          <a:graphicData uri="http://schemas.openxmlformats.org/presentationml/2006/ole">
            <mc:AlternateContent xmlns:mc="http://schemas.openxmlformats.org/markup-compatibility/2006">
              <mc:Choice xmlns:v="urn:schemas-microsoft-com:vml" Requires="v">
                <p:oleObj spid="_x0000_s57396" name="Visio" r:id="rId4" imgW="5640070" imgH="3060065" progId="Visio.Drawing.6">
                  <p:embed/>
                </p:oleObj>
              </mc:Choice>
              <mc:Fallback>
                <p:oleObj name="Visio" r:id="rId4" imgW="5640070" imgH="3060065" progId="Visio.Drawing.6">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268413"/>
                        <a:ext cx="8675688" cy="4705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49" name="Text Box 16"/>
          <p:cNvSpPr txBox="1">
            <a:spLocks noChangeArrowheads="1"/>
          </p:cNvSpPr>
          <p:nvPr/>
        </p:nvSpPr>
        <p:spPr bwMode="auto">
          <a:xfrm>
            <a:off x="4402426" y="354013"/>
            <a:ext cx="45336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buFont typeface="Wingdings" panose="05000000000000000000" pitchFamily="2" charset="2"/>
              <a:buNone/>
            </a:pPr>
            <a:r>
              <a:rPr lang="zh-CN" altLang="en-US" sz="2800" b="0" dirty="0" smtClean="0">
                <a:solidFill>
                  <a:schemeClr val="bg1"/>
                </a:solidFill>
                <a:ea typeface="黑体" panose="02010609060101010101" pitchFamily="49" charset="-122"/>
              </a:rPr>
              <a:t>全部重传</a:t>
            </a:r>
            <a:r>
              <a:rPr lang="en-US" altLang="zh-CN" sz="2800" b="0" dirty="0" smtClean="0">
                <a:solidFill>
                  <a:schemeClr val="bg1"/>
                </a:solidFill>
                <a:ea typeface="黑体" panose="02010609060101010101" pitchFamily="49" charset="-122"/>
              </a:rPr>
              <a:t>ARQ</a:t>
            </a:r>
            <a:r>
              <a:rPr lang="zh-CN" altLang="en-US" sz="2800" b="0" dirty="0" smtClean="0">
                <a:solidFill>
                  <a:schemeClr val="bg1"/>
                </a:solidFill>
                <a:ea typeface="黑体" panose="02010609060101010101" pitchFamily="49" charset="-122"/>
              </a:rPr>
              <a:t>协议工作</a:t>
            </a:r>
            <a:r>
              <a:rPr lang="zh-CN" altLang="en-US" sz="2800" b="0" dirty="0">
                <a:solidFill>
                  <a:schemeClr val="bg1"/>
                </a:solidFill>
                <a:ea typeface="黑体" panose="02010609060101010101" pitchFamily="49" charset="-122"/>
              </a:rPr>
              <a:t>原理</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zh-CN" dirty="0" smtClean="0"/>
              <a:t>    </a:t>
            </a:r>
            <a:r>
              <a:rPr lang="zh-CN" altLang="en-US" dirty="0" smtClean="0"/>
              <a:t>滑动窗口协议</a:t>
            </a:r>
          </a:p>
        </p:txBody>
      </p:sp>
      <p:sp>
        <p:nvSpPr>
          <p:cNvPr id="382979" name="Rectangle 3"/>
          <p:cNvSpPr>
            <a:spLocks noGrp="1" noChangeArrowheads="1"/>
          </p:cNvSpPr>
          <p:nvPr>
            <p:ph type="body" idx="1"/>
          </p:nvPr>
        </p:nvSpPr>
        <p:spPr>
          <a:xfrm>
            <a:off x="468313" y="1341438"/>
            <a:ext cx="8353425" cy="4824412"/>
          </a:xfrm>
        </p:spPr>
        <p:txBody>
          <a:bodyPr/>
          <a:lstStyle/>
          <a:p>
            <a:pPr marL="609600" indent="-609600" eaLnBrk="1" hangingPunct="1">
              <a:lnSpc>
                <a:spcPct val="110000"/>
              </a:lnSpc>
              <a:spcBef>
                <a:spcPts val="1200"/>
              </a:spcBef>
            </a:pPr>
            <a:r>
              <a:rPr lang="zh-CN" altLang="en-US" sz="2800" dirty="0" smtClean="0">
                <a:latin typeface="+mj-ea"/>
                <a:ea typeface="+mj-ea"/>
              </a:rPr>
              <a:t>滑动窗口协议是对连续</a:t>
            </a:r>
            <a:r>
              <a:rPr lang="en-US" altLang="zh-CN" sz="2800" dirty="0" smtClean="0">
                <a:latin typeface="+mj-ea"/>
                <a:ea typeface="+mj-ea"/>
              </a:rPr>
              <a:t>ARQ</a:t>
            </a:r>
            <a:r>
              <a:rPr lang="zh-CN" altLang="en-US" sz="2800" dirty="0" smtClean="0">
                <a:latin typeface="+mj-ea"/>
                <a:ea typeface="+mj-ea"/>
              </a:rPr>
              <a:t>协议的改进，它能够控制</a:t>
            </a:r>
            <a:r>
              <a:rPr lang="zh-CN" altLang="en-US" sz="2800" dirty="0" smtClean="0">
                <a:solidFill>
                  <a:schemeClr val="hlink"/>
                </a:solidFill>
                <a:latin typeface="+mj-ea"/>
                <a:ea typeface="+mj-ea"/>
              </a:rPr>
              <a:t>已发送但未确认</a:t>
            </a:r>
            <a:r>
              <a:rPr lang="zh-CN" altLang="en-US" sz="2800" dirty="0" smtClean="0">
                <a:latin typeface="+mj-ea"/>
                <a:ea typeface="+mj-ea"/>
              </a:rPr>
              <a:t>的数据帧的个数（滑动窗口的大小）</a:t>
            </a:r>
            <a:r>
              <a:rPr lang="zh-CN" altLang="en-US" sz="2800" dirty="0">
                <a:latin typeface="+mj-ea"/>
                <a:ea typeface="+mj-ea"/>
              </a:rPr>
              <a:t>，</a:t>
            </a:r>
            <a:r>
              <a:rPr lang="zh-CN" altLang="en-US" sz="2800" dirty="0" smtClean="0">
                <a:latin typeface="+mj-ea"/>
                <a:ea typeface="+mj-ea"/>
              </a:rPr>
              <a:t>需要发送窗口与接收窗口配合工作。</a:t>
            </a:r>
          </a:p>
          <a:p>
            <a:pPr marL="609600" indent="-609600" eaLnBrk="1" hangingPunct="1">
              <a:spcBef>
                <a:spcPts val="1200"/>
              </a:spcBef>
            </a:pPr>
            <a:r>
              <a:rPr lang="zh-CN" altLang="en-US" sz="2800" dirty="0" smtClean="0">
                <a:latin typeface="+mj-ea"/>
                <a:ea typeface="+mj-ea"/>
              </a:rPr>
              <a:t>发送窗口</a:t>
            </a:r>
          </a:p>
          <a:p>
            <a:pPr marL="990600" lvl="1" indent="-533400" eaLnBrk="1" hangingPunct="1">
              <a:spcBef>
                <a:spcPts val="1200"/>
              </a:spcBef>
            </a:pPr>
            <a:r>
              <a:rPr lang="zh-CN" altLang="en-US" dirty="0" smtClean="0">
                <a:latin typeface="仿宋_GB2312" pitchFamily="49" charset="-122"/>
              </a:rPr>
              <a:t>窗口大小（</a:t>
            </a:r>
            <a:r>
              <a:rPr lang="en-US" altLang="zh-CN" i="1" dirty="0" smtClean="0"/>
              <a:t> W</a:t>
            </a:r>
            <a:r>
              <a:rPr lang="en-US" altLang="zh-CN" i="1" baseline="-25000" dirty="0" smtClean="0"/>
              <a:t>T </a:t>
            </a:r>
            <a:r>
              <a:rPr lang="zh-CN" altLang="en-US" dirty="0" smtClean="0">
                <a:latin typeface="仿宋_GB2312" pitchFamily="49" charset="-122"/>
              </a:rPr>
              <a:t>）：</a:t>
            </a:r>
            <a:r>
              <a:rPr lang="zh-CN" altLang="zh-CN" dirty="0" smtClean="0"/>
              <a:t>没有收到</a:t>
            </a:r>
            <a:r>
              <a:rPr lang="zh-CN" altLang="en-US" dirty="0" smtClean="0"/>
              <a:t>接收</a:t>
            </a:r>
            <a:r>
              <a:rPr lang="zh-CN" altLang="zh-CN" dirty="0" smtClean="0"/>
              <a:t>方确认信息的情况下发送方最多可以发送的帧</a:t>
            </a:r>
            <a:r>
              <a:rPr lang="zh-CN" altLang="en-US" dirty="0" smtClean="0"/>
              <a:t>个</a:t>
            </a:r>
            <a:r>
              <a:rPr lang="zh-CN" altLang="zh-CN" dirty="0" smtClean="0"/>
              <a:t>数</a:t>
            </a:r>
            <a:endParaRPr lang="en-US" altLang="zh-CN" dirty="0" smtClean="0"/>
          </a:p>
          <a:p>
            <a:pPr marL="990600" lvl="1" indent="-533400" eaLnBrk="1" hangingPunct="1">
              <a:spcBef>
                <a:spcPts val="1200"/>
              </a:spcBef>
            </a:pPr>
            <a:r>
              <a:rPr lang="zh-CN" altLang="en-US" dirty="0" smtClean="0">
                <a:latin typeface="仿宋_GB2312" pitchFamily="49" charset="-122"/>
              </a:rPr>
              <a:t>窗口内的帧类型</a:t>
            </a:r>
            <a:endParaRPr lang="en-US" altLang="zh-CN" dirty="0" smtClean="0">
              <a:latin typeface="仿宋_GB2312" pitchFamily="49" charset="-122"/>
            </a:endParaRPr>
          </a:p>
          <a:p>
            <a:pPr marL="1390650" lvl="2" indent="-533400" eaLnBrk="1" hangingPunct="1">
              <a:spcBef>
                <a:spcPts val="1200"/>
              </a:spcBef>
            </a:pPr>
            <a:r>
              <a:rPr lang="zh-CN" altLang="en-US" dirty="0" smtClean="0">
                <a:latin typeface="仿宋_GB2312" pitchFamily="49" charset="-122"/>
              </a:rPr>
              <a:t>已发送帧（未收到确认）</a:t>
            </a:r>
            <a:endParaRPr lang="en-US" altLang="zh-CN" dirty="0" smtClean="0">
              <a:latin typeface="仿宋_GB2312" pitchFamily="49" charset="-122"/>
            </a:endParaRPr>
          </a:p>
          <a:p>
            <a:pPr marL="1390650" lvl="2" indent="-533400" eaLnBrk="1" hangingPunct="1">
              <a:spcBef>
                <a:spcPts val="1200"/>
              </a:spcBef>
            </a:pPr>
            <a:r>
              <a:rPr lang="zh-CN" altLang="en-US" dirty="0" smtClean="0">
                <a:latin typeface="仿宋_GB2312" pitchFamily="49" charset="-122"/>
              </a:rPr>
              <a:t>允许发送帧（尚未发送的帧）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29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29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29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297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2979">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29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9"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zh-CN" altLang="en-US" dirty="0" smtClean="0"/>
              <a:t>接收窗口</a:t>
            </a:r>
          </a:p>
        </p:txBody>
      </p:sp>
      <p:sp>
        <p:nvSpPr>
          <p:cNvPr id="38915" name="Rectangle 3"/>
          <p:cNvSpPr>
            <a:spLocks noGrp="1" noChangeArrowheads="1"/>
          </p:cNvSpPr>
          <p:nvPr>
            <p:ph type="body" idx="1"/>
          </p:nvPr>
        </p:nvSpPr>
        <p:spPr>
          <a:xfrm>
            <a:off x="468313" y="1341438"/>
            <a:ext cx="8353425" cy="4243387"/>
          </a:xfrm>
        </p:spPr>
        <p:txBody>
          <a:bodyPr/>
          <a:lstStyle/>
          <a:p>
            <a:pPr marL="609600" indent="-609600" eaLnBrk="1" hangingPunct="1">
              <a:spcBef>
                <a:spcPts val="1200"/>
              </a:spcBef>
            </a:pPr>
            <a:r>
              <a:rPr lang="zh-CN" altLang="en-US" sz="2800" dirty="0" smtClean="0">
                <a:latin typeface="仿宋_GB2312" pitchFamily="49" charset="-122"/>
              </a:rPr>
              <a:t>接收窗口</a:t>
            </a:r>
          </a:p>
          <a:p>
            <a:pPr marL="990600" lvl="1" indent="-533400" eaLnBrk="1" hangingPunct="1">
              <a:spcBef>
                <a:spcPts val="1200"/>
              </a:spcBef>
            </a:pPr>
            <a:r>
              <a:rPr lang="zh-CN" altLang="en-US" dirty="0" smtClean="0">
                <a:latin typeface="仿宋_GB2312" pitchFamily="49" charset="-122"/>
              </a:rPr>
              <a:t>窗口大小（</a:t>
            </a:r>
            <a:r>
              <a:rPr lang="en-US" altLang="zh-CN" i="1" dirty="0" smtClean="0"/>
              <a:t> W</a:t>
            </a:r>
            <a:r>
              <a:rPr lang="en-US" altLang="zh-CN" i="1" baseline="-25000" dirty="0" smtClean="0"/>
              <a:t>R </a:t>
            </a:r>
            <a:r>
              <a:rPr lang="zh-CN" altLang="en-US" dirty="0" smtClean="0">
                <a:latin typeface="仿宋_GB2312" pitchFamily="49" charset="-122"/>
              </a:rPr>
              <a:t>）：允许连续接收未处理帧的个数</a:t>
            </a:r>
            <a:endParaRPr lang="en-US" altLang="zh-CN" dirty="0" smtClean="0">
              <a:latin typeface="仿宋_GB2312" pitchFamily="49" charset="-122"/>
            </a:endParaRPr>
          </a:p>
          <a:p>
            <a:pPr marL="990600" lvl="1" indent="-533400" eaLnBrk="1" hangingPunct="1">
              <a:spcBef>
                <a:spcPts val="1200"/>
              </a:spcBef>
            </a:pPr>
            <a:r>
              <a:rPr lang="zh-CN" altLang="zh-CN" dirty="0" smtClean="0"/>
              <a:t>控制哪些帧可以接收</a:t>
            </a:r>
            <a:r>
              <a:rPr lang="zh-CN" altLang="en-US" dirty="0" smtClean="0"/>
              <a:t>，</a:t>
            </a:r>
            <a:r>
              <a:rPr lang="zh-CN" altLang="zh-CN" dirty="0" smtClean="0"/>
              <a:t>哪些帧不可以接收</a:t>
            </a:r>
            <a:endParaRPr lang="en-US" altLang="zh-CN" dirty="0" smtClean="0"/>
          </a:p>
          <a:p>
            <a:pPr marL="1390650" lvl="2" indent="-533400" eaLnBrk="1" hangingPunct="1">
              <a:spcBef>
                <a:spcPts val="1200"/>
              </a:spcBef>
            </a:pPr>
            <a:r>
              <a:rPr lang="zh-CN" altLang="zh-CN" dirty="0" smtClean="0"/>
              <a:t>当到</a:t>
            </a:r>
            <a:r>
              <a:rPr lang="zh-CN" altLang="en-US" dirty="0" smtClean="0"/>
              <a:t>达</a:t>
            </a:r>
            <a:r>
              <a:rPr lang="zh-CN" altLang="zh-CN" dirty="0" smtClean="0"/>
              <a:t>的数据帧的序号与接收窗口的序号一致时才能接收该帧</a:t>
            </a:r>
            <a:endParaRPr lang="en-US" altLang="zh-CN" dirty="0" smtClean="0">
              <a:latin typeface="仿宋_GB2312" pitchFamily="49" charset="-122"/>
            </a:endParaRPr>
          </a:p>
          <a:p>
            <a:pPr marL="990600" lvl="1" indent="-533400" eaLnBrk="1" hangingPunct="1">
              <a:lnSpc>
                <a:spcPct val="90000"/>
              </a:lnSpc>
            </a:pPr>
            <a:endParaRPr lang="zh-CN" altLang="en-US" dirty="0" smtClean="0">
              <a:latin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dirty="0" smtClean="0"/>
              <a:t>发送窗口</a:t>
            </a:r>
            <a:endParaRPr lang="zh-CN" altLang="zh-CN" dirty="0" smtClean="0"/>
          </a:p>
        </p:txBody>
      </p:sp>
      <p:sp>
        <p:nvSpPr>
          <p:cNvPr id="61443" name="Rectangle 8"/>
          <p:cNvSpPr>
            <a:spLocks noChangeArrowheads="1"/>
          </p:cNvSpPr>
          <p:nvPr/>
        </p:nvSpPr>
        <p:spPr bwMode="auto">
          <a:xfrm>
            <a:off x="1116013" y="1268413"/>
            <a:ext cx="159258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endParaRPr lang="zh-CN" altLang="en-US" sz="2800">
              <a:solidFill>
                <a:schemeClr val="accent2"/>
              </a:solidFill>
              <a:ea typeface="黑体" panose="02010609060101010101" pitchFamily="49" charset="-122"/>
            </a:endParaRPr>
          </a:p>
        </p:txBody>
      </p:sp>
      <p:graphicFrame>
        <p:nvGraphicFramePr>
          <p:cNvPr id="61444" name="对象 6"/>
          <p:cNvGraphicFramePr>
            <a:graphicFrameLocks noChangeAspect="1"/>
          </p:cNvGraphicFramePr>
          <p:nvPr/>
        </p:nvGraphicFramePr>
        <p:xfrm>
          <a:off x="1116013" y="1268413"/>
          <a:ext cx="6551612" cy="4811712"/>
        </p:xfrm>
        <a:graphic>
          <a:graphicData uri="http://schemas.openxmlformats.org/presentationml/2006/ole">
            <mc:AlternateContent xmlns:mc="http://schemas.openxmlformats.org/markup-compatibility/2006">
              <mc:Choice xmlns:v="urn:schemas-microsoft-com:vml" Requires="v">
                <p:oleObj spid="_x0000_s61491" name="Visio" r:id="rId4" imgW="3876040" imgH="2836545" progId="Visio.Drawing.11">
                  <p:embed/>
                </p:oleObj>
              </mc:Choice>
              <mc:Fallback>
                <p:oleObj name="Visio" r:id="rId4" imgW="3876040" imgH="2836545" progId="Visio.Drawing.11">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1268413"/>
                        <a:ext cx="6551612" cy="481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zh-CN" altLang="en-US" dirty="0" smtClean="0"/>
              <a:t>接收窗口</a:t>
            </a:r>
            <a:endParaRPr lang="zh-CN" altLang="zh-CN" dirty="0" smtClean="0"/>
          </a:p>
        </p:txBody>
      </p:sp>
      <p:sp>
        <p:nvSpPr>
          <p:cNvPr id="64515" name="Rectangle 8"/>
          <p:cNvSpPr>
            <a:spLocks noChangeArrowheads="1"/>
          </p:cNvSpPr>
          <p:nvPr/>
        </p:nvSpPr>
        <p:spPr bwMode="auto">
          <a:xfrm>
            <a:off x="1116013" y="1268413"/>
            <a:ext cx="1592580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endParaRPr lang="zh-CN" altLang="en-US" sz="2800">
              <a:solidFill>
                <a:schemeClr val="accent2"/>
              </a:solidFill>
              <a:ea typeface="黑体" panose="02010609060101010101" pitchFamily="49" charset="-122"/>
            </a:endParaRPr>
          </a:p>
        </p:txBody>
      </p:sp>
      <p:sp>
        <p:nvSpPr>
          <p:cNvPr id="64516" name="Rectangle 2"/>
          <p:cNvSpPr>
            <a:spLocks noChangeArrowheads="1"/>
          </p:cNvSpPr>
          <p:nvPr/>
        </p:nvSpPr>
        <p:spPr bwMode="auto">
          <a:xfrm>
            <a:off x="1116013" y="1601788"/>
            <a:ext cx="17329150"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3366FF"/>
              </a:buClr>
              <a:buFont typeface="Wingdings" panose="05000000000000000000" pitchFamily="2" charset="2"/>
              <a:buChar char="l"/>
              <a:defRPr kumimoji="1" sz="3200" b="1">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rgbClr val="003399"/>
              </a:buClr>
              <a:buFont typeface="Wingdings" panose="05000000000000000000" pitchFamily="2" charset="2"/>
              <a:buChar char="ü"/>
              <a:defRPr kumimoji="1" sz="2800" b="1">
                <a:solidFill>
                  <a:srgbClr val="003399"/>
                </a:solidFill>
                <a:latin typeface="Times New Roman" panose="02020603050405020304" pitchFamily="18" charset="0"/>
                <a:ea typeface="宋体" panose="02010600030101010101" pitchFamily="2" charset="-122"/>
              </a:defRPr>
            </a:lvl2pPr>
            <a:lvl3pPr marL="1143000" indent="-228600">
              <a:spcBef>
                <a:spcPct val="20000"/>
              </a:spcBef>
              <a:buClr>
                <a:srgbClr val="CC6600"/>
              </a:buClr>
              <a:buFont typeface="Wingdings" panose="05000000000000000000" pitchFamily="2" charset="2"/>
              <a:buChar char="q"/>
              <a:defRPr kumimoji="1" sz="2400" b="1">
                <a:solidFill>
                  <a:srgbClr val="CC6600"/>
                </a:solidFill>
                <a:latin typeface="Times New Roman" panose="02020603050405020304" pitchFamily="18" charset="0"/>
                <a:ea typeface="宋体" panose="02010600030101010101" pitchFamily="2" charset="-122"/>
              </a:defRPr>
            </a:lvl3pPr>
            <a:lvl4pPr marL="16002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rgbClr val="256EFF"/>
              </a:buClr>
              <a:buChar char="•"/>
              <a:defRPr kumimoji="1" sz="20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256EFF"/>
              </a:buClr>
              <a:buChar char="•"/>
              <a:defRPr kumimoji="1" sz="2000" b="1">
                <a:solidFill>
                  <a:schemeClr val="bg2"/>
                </a:solidFill>
                <a:latin typeface="Times New Roman" panose="02020603050405020304" pitchFamily="18" charset="0"/>
                <a:ea typeface="宋体" panose="02010600030101010101" pitchFamily="2" charset="-122"/>
              </a:defRPr>
            </a:lvl9pPr>
          </a:lstStyle>
          <a:p>
            <a:pPr algn="r" eaLnBrk="1" hangingPunct="1"/>
            <a:endParaRPr lang="zh-CN" altLang="en-US" sz="2800">
              <a:solidFill>
                <a:schemeClr val="accent2"/>
              </a:solidFill>
              <a:ea typeface="黑体" panose="02010609060101010101" pitchFamily="49" charset="-122"/>
            </a:endParaRPr>
          </a:p>
        </p:txBody>
      </p:sp>
      <p:graphicFrame>
        <p:nvGraphicFramePr>
          <p:cNvPr id="64517" name="对象 2"/>
          <p:cNvGraphicFramePr>
            <a:graphicFrameLocks noChangeAspect="1"/>
          </p:cNvGraphicFramePr>
          <p:nvPr/>
        </p:nvGraphicFramePr>
        <p:xfrm>
          <a:off x="1116013" y="1412875"/>
          <a:ext cx="6480175" cy="4386263"/>
        </p:xfrm>
        <a:graphic>
          <a:graphicData uri="http://schemas.openxmlformats.org/presentationml/2006/ole">
            <mc:AlternateContent xmlns:mc="http://schemas.openxmlformats.org/markup-compatibility/2006">
              <mc:Choice xmlns:v="urn:schemas-microsoft-com:vml" Requires="v">
                <p:oleObj spid="_x0000_s64564" name="Visio" r:id="rId4" imgW="3740785" imgH="2535555" progId="Visio.Drawing.11">
                  <p:embed/>
                </p:oleObj>
              </mc:Choice>
              <mc:Fallback>
                <p:oleObj name="Visio" r:id="rId4" imgW="3740785" imgH="2535555" progId="Visio.Drawing.11">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1412875"/>
                        <a:ext cx="6480175" cy="438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dirty="0" smtClean="0"/>
              <a:t>窗口大小与序号关系</a:t>
            </a:r>
          </a:p>
        </p:txBody>
      </p:sp>
      <p:sp>
        <p:nvSpPr>
          <p:cNvPr id="362499" name="Rectangle 3"/>
          <p:cNvSpPr>
            <a:spLocks noGrp="1" noChangeArrowheads="1"/>
          </p:cNvSpPr>
          <p:nvPr>
            <p:ph type="body" idx="1"/>
          </p:nvPr>
        </p:nvSpPr>
        <p:spPr>
          <a:xfrm>
            <a:off x="1455738" y="1628775"/>
            <a:ext cx="5653087" cy="3671888"/>
          </a:xfrm>
        </p:spPr>
        <p:txBody>
          <a:bodyPr/>
          <a:lstStyle/>
          <a:p>
            <a:pPr eaLnBrk="1" hangingPunct="1"/>
            <a:r>
              <a:rPr lang="zh-CN" altLang="en-US" dirty="0" smtClean="0">
                <a:latin typeface="+mj-ea"/>
                <a:ea typeface="+mj-ea"/>
              </a:rPr>
              <a:t>全部重传</a:t>
            </a:r>
            <a:r>
              <a:rPr lang="en-US" altLang="zh-CN" dirty="0" smtClean="0">
                <a:latin typeface="+mj-ea"/>
                <a:ea typeface="+mj-ea"/>
              </a:rPr>
              <a:t>ARQ</a:t>
            </a:r>
            <a:r>
              <a:rPr lang="zh-CN" altLang="en-US" dirty="0" smtClean="0">
                <a:latin typeface="+mj-ea"/>
                <a:ea typeface="+mj-ea"/>
              </a:rPr>
              <a:t>协议</a:t>
            </a:r>
          </a:p>
          <a:p>
            <a:pPr marL="901700" lvl="1" indent="-444500" eaLnBrk="1" hangingPunct="1"/>
            <a:r>
              <a:rPr lang="en-US" altLang="zh-CN" i="1" dirty="0" smtClean="0"/>
              <a:t>W</a:t>
            </a:r>
            <a:r>
              <a:rPr lang="en-US" altLang="zh-CN" i="1" baseline="-25000" dirty="0" smtClean="0"/>
              <a:t>T</a:t>
            </a:r>
            <a:r>
              <a:rPr lang="en-US" altLang="zh-CN" i="1" dirty="0" smtClean="0"/>
              <a:t> &gt;W</a:t>
            </a:r>
            <a:r>
              <a:rPr lang="en-US" altLang="zh-CN" i="1" baseline="-25000" dirty="0" smtClean="0"/>
              <a:t>R</a:t>
            </a:r>
            <a:r>
              <a:rPr lang="en-US" altLang="zh-CN" dirty="0" smtClean="0"/>
              <a:t> </a:t>
            </a:r>
            <a:r>
              <a:rPr lang="zh-CN" altLang="en-US" i="1" dirty="0" smtClean="0"/>
              <a:t>，</a:t>
            </a:r>
            <a:r>
              <a:rPr lang="en-US" altLang="zh-CN" i="1" dirty="0" smtClean="0"/>
              <a:t>W</a:t>
            </a:r>
            <a:r>
              <a:rPr lang="en-US" altLang="zh-CN" i="1" baseline="-25000" dirty="0" smtClean="0"/>
              <a:t>R</a:t>
            </a:r>
            <a:r>
              <a:rPr lang="en-US" altLang="zh-CN" dirty="0" smtClean="0"/>
              <a:t> =1</a:t>
            </a:r>
          </a:p>
          <a:p>
            <a:pPr marL="901700" lvl="1" indent="-444500" eaLnBrk="1" hangingPunct="1"/>
            <a:r>
              <a:rPr lang="en-US" altLang="zh-CN" i="1" dirty="0" smtClean="0"/>
              <a:t>W</a:t>
            </a:r>
            <a:r>
              <a:rPr lang="en-US" altLang="zh-CN" i="1" baseline="-25000" dirty="0" smtClean="0"/>
              <a:t>T</a:t>
            </a:r>
            <a:r>
              <a:rPr lang="en-US" altLang="zh-CN" i="1" dirty="0" smtClean="0"/>
              <a:t> ≤ 2</a:t>
            </a:r>
            <a:r>
              <a:rPr lang="en-US" altLang="zh-CN" i="1" baseline="30000" dirty="0" smtClean="0"/>
              <a:t>n</a:t>
            </a:r>
            <a:r>
              <a:rPr lang="en-US" altLang="zh-CN" i="1" dirty="0" smtClean="0"/>
              <a:t>-1</a:t>
            </a:r>
            <a:r>
              <a:rPr lang="en-US" altLang="zh-CN" dirty="0" smtClean="0"/>
              <a:t> </a:t>
            </a:r>
          </a:p>
          <a:p>
            <a:pPr eaLnBrk="1" hangingPunct="1">
              <a:spcBef>
                <a:spcPts val="2400"/>
              </a:spcBef>
            </a:pPr>
            <a:r>
              <a:rPr lang="zh-CN" altLang="en-US" dirty="0" smtClean="0">
                <a:latin typeface="黑体" panose="02010609060101010101" pitchFamily="49" charset="-122"/>
                <a:ea typeface="黑体" panose="02010609060101010101" pitchFamily="49" charset="-122"/>
              </a:rPr>
              <a:t>选择性重传</a:t>
            </a:r>
            <a:r>
              <a:rPr lang="en-US" altLang="zh-CN" dirty="0" smtClean="0">
                <a:latin typeface="黑体" panose="02010609060101010101" pitchFamily="49" charset="-122"/>
                <a:ea typeface="黑体" panose="02010609060101010101" pitchFamily="49" charset="-122"/>
              </a:rPr>
              <a:t>ARQ</a:t>
            </a:r>
            <a:r>
              <a:rPr lang="zh-CN" altLang="en-US" dirty="0" smtClean="0">
                <a:latin typeface="黑体" panose="02010609060101010101" pitchFamily="49" charset="-122"/>
                <a:ea typeface="黑体" panose="02010609060101010101" pitchFamily="49" charset="-122"/>
              </a:rPr>
              <a:t>协议</a:t>
            </a:r>
          </a:p>
          <a:p>
            <a:pPr marL="901700" lvl="1" indent="-444500" eaLnBrk="1" hangingPunct="1"/>
            <a:r>
              <a:rPr lang="en-US" altLang="zh-CN" i="1" dirty="0" smtClean="0"/>
              <a:t>W</a:t>
            </a:r>
            <a:r>
              <a:rPr lang="en-US" altLang="zh-CN" i="1" baseline="-25000" dirty="0" smtClean="0"/>
              <a:t>T</a:t>
            </a:r>
            <a:r>
              <a:rPr lang="en-US" altLang="zh-CN" i="1" dirty="0" smtClean="0"/>
              <a:t> </a:t>
            </a:r>
            <a:r>
              <a:rPr lang="en-US" altLang="zh-CN" dirty="0" smtClean="0"/>
              <a:t>=</a:t>
            </a:r>
            <a:r>
              <a:rPr lang="en-US" altLang="zh-CN" i="1" dirty="0" smtClean="0"/>
              <a:t> W</a:t>
            </a:r>
            <a:r>
              <a:rPr lang="en-US" altLang="zh-CN" i="1" baseline="-25000" dirty="0" smtClean="0"/>
              <a:t>R</a:t>
            </a:r>
            <a:r>
              <a:rPr lang="en-US" altLang="zh-CN" i="1" dirty="0" smtClean="0"/>
              <a:t> </a:t>
            </a:r>
          </a:p>
          <a:p>
            <a:pPr marL="901700" lvl="1" indent="-444500" eaLnBrk="1" hangingPunct="1"/>
            <a:r>
              <a:rPr lang="en-US" altLang="zh-CN" i="1" dirty="0" smtClean="0"/>
              <a:t>W</a:t>
            </a:r>
            <a:r>
              <a:rPr lang="en-US" altLang="zh-CN" i="1" baseline="-25000" dirty="0" smtClean="0"/>
              <a:t>T</a:t>
            </a:r>
            <a:r>
              <a:rPr lang="en-US" altLang="zh-CN" i="1" dirty="0" smtClean="0"/>
              <a:t> ≤ 2</a:t>
            </a:r>
            <a:r>
              <a:rPr lang="en-US" altLang="zh-CN" i="1" baseline="30000" dirty="0" smtClean="0"/>
              <a:t>n-1</a:t>
            </a:r>
            <a:endParaRPr lang="en-US" altLang="zh-CN"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249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24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effectLst/>
                <a:uLnTx/>
                <a:uFillTx/>
                <a:latin typeface="+mj-lt"/>
                <a:ea typeface="+mj-ea"/>
                <a:cs typeface="+mj-cs"/>
              </a:rPr>
              <a:t>6.5 </a:t>
            </a:r>
            <a:r>
              <a:rPr kumimoji="1" lang="zh-CN" altLang="en-US" sz="3200" b="0" i="0" u="none" strike="noStrike" kern="0" cap="none" spc="0" normalizeH="0" baseline="0" noProof="0" dirty="0" smtClean="0">
                <a:ln>
                  <a:noFill/>
                </a:ln>
                <a:effectLst/>
                <a:uLnTx/>
                <a:uFillTx/>
                <a:latin typeface="+mj-lt"/>
                <a:ea typeface="+mj-ea"/>
                <a:cs typeface="+mj-cs"/>
              </a:rPr>
              <a:t>广播信道</a:t>
            </a:r>
            <a:r>
              <a:rPr lang="zh-CN" altLang="en-US" kern="0" dirty="0" smtClean="0"/>
              <a:t>访问控制</a:t>
            </a:r>
            <a:endParaRPr kumimoji="1" lang="zh-CN" altLang="en-US" sz="3200" b="0" i="0" u="none" strike="noStrike" kern="0" cap="none" spc="0" normalizeH="0" baseline="0" noProof="0" dirty="0" smtClean="0">
              <a:ln>
                <a:noFill/>
              </a:ln>
              <a:effectLst/>
              <a:uLnTx/>
              <a:uFillTx/>
            </a:endParaRPr>
          </a:p>
        </p:txBody>
      </p:sp>
      <p:sp>
        <p:nvSpPr>
          <p:cNvPr id="8195" name="Rectangle 3"/>
          <p:cNvSpPr>
            <a:spLocks noGrp="1"/>
          </p:cNvSpPr>
          <p:nvPr>
            <p:ph idx="1"/>
          </p:nvPr>
        </p:nvSpPr>
        <p:spPr>
          <a:xfrm>
            <a:off x="755576" y="1556792"/>
            <a:ext cx="7772400" cy="4241800"/>
          </a:xfrm>
        </p:spPr>
        <p:txBody>
          <a:bodyPr vert="horz" wrap="square" lIns="91440" tIns="45720" rIns="91440" bIns="45720" anchor="t"/>
          <a:lstStyle/>
          <a:p>
            <a:pPr eaLnBrk="1" hangingPunct="1">
              <a:spcBef>
                <a:spcPts val="600"/>
              </a:spcBef>
            </a:pPr>
            <a:r>
              <a:rPr lang="zh-CN" altLang="en-US" dirty="0">
                <a:latin typeface="黑体" panose="02010609060101010101" pitchFamily="49" charset="-122"/>
                <a:ea typeface="黑体" panose="02010609060101010101" pitchFamily="49" charset="-122"/>
              </a:rPr>
              <a:t>按信道连接方式</a:t>
            </a:r>
            <a:r>
              <a:rPr lang="zh-CN" altLang="en-US" dirty="0" smtClean="0">
                <a:latin typeface="黑体" panose="02010609060101010101" pitchFamily="49" charset="-122"/>
                <a:ea typeface="黑体" panose="02010609060101010101" pitchFamily="49" charset="-122"/>
              </a:rPr>
              <a:t>网络分类</a:t>
            </a:r>
            <a:endParaRPr lang="zh-CN" altLang="en-US" dirty="0">
              <a:latin typeface="黑体" panose="02010609060101010101" pitchFamily="49" charset="-122"/>
              <a:ea typeface="黑体" panose="02010609060101010101" pitchFamily="49" charset="-122"/>
            </a:endParaRPr>
          </a:p>
          <a:p>
            <a:pPr lvl="1" eaLnBrk="1" hangingPunct="1">
              <a:spcBef>
                <a:spcPts val="600"/>
              </a:spcBef>
            </a:pPr>
            <a:r>
              <a:rPr lang="zh-CN" altLang="en-US" dirty="0">
                <a:latin typeface="+mn-ea"/>
              </a:rPr>
              <a:t>使用点</a:t>
            </a:r>
            <a:r>
              <a:rPr lang="zh-CN" altLang="en-US" dirty="0" smtClean="0">
                <a:latin typeface="+mn-ea"/>
              </a:rPr>
              <a:t>到点信道的网络，广域网主导</a:t>
            </a:r>
            <a:endParaRPr lang="zh-CN" altLang="en-US" dirty="0">
              <a:latin typeface="+mn-ea"/>
            </a:endParaRPr>
          </a:p>
          <a:p>
            <a:pPr lvl="1" eaLnBrk="1" hangingPunct="1">
              <a:spcBef>
                <a:spcPts val="1200"/>
              </a:spcBef>
            </a:pPr>
            <a:r>
              <a:rPr lang="zh-CN" altLang="en-US" dirty="0">
                <a:latin typeface="+mn-ea"/>
              </a:rPr>
              <a:t>使用广播信道（多路访问信道，随机访问信道）的</a:t>
            </a:r>
            <a:r>
              <a:rPr lang="zh-CN" altLang="en-US" dirty="0" smtClean="0">
                <a:latin typeface="+mn-ea"/>
              </a:rPr>
              <a:t>网络，局域网主导</a:t>
            </a:r>
            <a:endParaRPr lang="zh-CN" altLang="en-US" dirty="0">
              <a:latin typeface="+mn-ea"/>
            </a:endParaRPr>
          </a:p>
          <a:p>
            <a:pPr marL="802005" lvl="2" indent="-438150" eaLnBrk="1" hangingPunct="1">
              <a:spcBef>
                <a:spcPts val="1200"/>
              </a:spcBef>
            </a:pPr>
            <a:r>
              <a:rPr lang="zh-CN" altLang="en-US" sz="2800" i="1" dirty="0" smtClean="0">
                <a:solidFill>
                  <a:schemeClr val="hlink"/>
                </a:solidFill>
                <a:ea typeface="黑体" panose="02010609060101010101" pitchFamily="49" charset="-122"/>
              </a:rPr>
              <a:t>广播信道网络：</a:t>
            </a:r>
            <a:r>
              <a:rPr lang="zh-CN" altLang="en-US" sz="2800" i="1" dirty="0">
                <a:solidFill>
                  <a:schemeClr val="hlink"/>
                </a:solidFill>
                <a:ea typeface="黑体" panose="02010609060101010101" pitchFamily="49" charset="-122"/>
              </a:rPr>
              <a:t>如何</a:t>
            </a:r>
            <a:r>
              <a:rPr lang="zh-CN" altLang="en-US" sz="2800" i="1" dirty="0" smtClean="0">
                <a:solidFill>
                  <a:schemeClr val="hlink"/>
                </a:solidFill>
                <a:ea typeface="黑体" panose="02010609060101010101" pitchFamily="49" charset="-122"/>
              </a:rPr>
              <a:t>解决信道</a:t>
            </a:r>
            <a:r>
              <a:rPr lang="zh-CN" altLang="en-US" sz="2800" i="1" dirty="0">
                <a:solidFill>
                  <a:schemeClr val="hlink"/>
                </a:solidFill>
                <a:ea typeface="黑体" panose="02010609060101010101" pitchFamily="49" charset="-122"/>
              </a:rPr>
              <a:t>争用</a:t>
            </a:r>
          </a:p>
          <a:p>
            <a:pPr eaLnBrk="1" hangingPunct="1">
              <a:spcBef>
                <a:spcPts val="1800"/>
              </a:spcBef>
              <a:spcAft>
                <a:spcPts val="600"/>
              </a:spcAft>
            </a:pPr>
            <a:r>
              <a:rPr lang="zh-CN" altLang="en-US" sz="2800" dirty="0" smtClean="0">
                <a:latin typeface="黑体" panose="02010609060101010101" pitchFamily="49" charset="-122"/>
                <a:ea typeface="黑体" panose="02010609060101010101" pitchFamily="49" charset="-122"/>
              </a:rPr>
              <a:t>解决广播信道</a:t>
            </a:r>
            <a:r>
              <a:rPr lang="zh-CN" altLang="en-US" sz="2800" dirty="0">
                <a:latin typeface="黑体" panose="02010609060101010101" pitchFamily="49" charset="-122"/>
                <a:ea typeface="黑体" panose="02010609060101010101" pitchFamily="49" charset="-122"/>
              </a:rPr>
              <a:t>争用的协议称为介质访问控制协议 </a:t>
            </a:r>
            <a:r>
              <a:rPr lang="zh-CN" altLang="en-US" sz="2800" dirty="0" smtClean="0">
                <a:latin typeface="黑体" panose="02010609060101010101" pitchFamily="49" charset="-122"/>
                <a:ea typeface="黑体" panose="02010609060101010101" pitchFamily="49" charset="-122"/>
              </a:rPr>
              <a:t>（</a:t>
            </a:r>
            <a:r>
              <a:rPr lang="en-US" altLang="zh-CN" sz="2800" dirty="0" smtClean="0">
                <a:latin typeface="+mj-lt"/>
                <a:ea typeface="黑体" panose="02010609060101010101" pitchFamily="49" charset="-122"/>
              </a:rPr>
              <a:t>MAC—Medium </a:t>
            </a:r>
            <a:r>
              <a:rPr lang="en-US" altLang="zh-CN" sz="2800" dirty="0">
                <a:latin typeface="+mj-lt"/>
                <a:ea typeface="黑体" panose="02010609060101010101" pitchFamily="49" charset="-122"/>
              </a:rPr>
              <a:t>Access Control</a:t>
            </a:r>
            <a:r>
              <a:rPr lang="zh-CN" altLang="en-US" sz="2800" dirty="0">
                <a:latin typeface="黑体" panose="02010609060101010101" pitchFamily="49" charset="-122"/>
                <a:ea typeface="黑体" panose="02010609060101010101" pitchFamily="49" charset="-122"/>
              </a:rPr>
              <a:t>），是数据链路层协议</a:t>
            </a:r>
            <a:r>
              <a:rPr lang="zh-CN" altLang="en-US" sz="2800" dirty="0" smtClean="0">
                <a:latin typeface="黑体" panose="02010609060101010101" pitchFamily="49" charset="-122"/>
                <a:ea typeface="黑体" panose="02010609060101010101" pitchFamily="49" charset="-122"/>
              </a:rPr>
              <a:t>的重要部分</a:t>
            </a:r>
            <a:r>
              <a:rPr lang="zh-CN" altLang="en-US" sz="2800" dirty="0">
                <a:latin typeface="黑体" panose="02010609060101010101" pitchFamily="49" charset="-122"/>
                <a:ea typeface="黑体" panose="02010609060101010101" pitchFamily="49" charset="-122"/>
              </a:rPr>
              <a:t>。</a:t>
            </a:r>
          </a:p>
          <a:p>
            <a:pPr eaLnBrk="1" hangingPunct="1">
              <a:lnSpc>
                <a:spcPct val="90000"/>
              </a:lnSpc>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1000"/>
                                        <p:tgtEl>
                                          <p:spTgt spid="8195">
                                            <p:txEl>
                                              <p:pRg st="0" end="0"/>
                                            </p:txEl>
                                          </p:spTgt>
                                        </p:tgtEl>
                                      </p:cBhvr>
                                    </p:animEffect>
                                    <p:anim calcmode="lin" valueType="num">
                                      <p:cBhvr>
                                        <p:cTn id="8"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fade">
                                      <p:cBhvr>
                                        <p:cTn id="12" dur="1000"/>
                                        <p:tgtEl>
                                          <p:spTgt spid="8195">
                                            <p:txEl>
                                              <p:pRg st="1" end="1"/>
                                            </p:txEl>
                                          </p:spTgt>
                                        </p:tgtEl>
                                      </p:cBhvr>
                                    </p:animEffect>
                                    <p:anim calcmode="lin" valueType="num">
                                      <p:cBhvr>
                                        <p:cTn id="13"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19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fade">
                                      <p:cBhvr>
                                        <p:cTn id="17" dur="1000"/>
                                        <p:tgtEl>
                                          <p:spTgt spid="8195">
                                            <p:txEl>
                                              <p:pRg st="2" end="2"/>
                                            </p:txEl>
                                          </p:spTgt>
                                        </p:tgtEl>
                                      </p:cBhvr>
                                    </p:animEffect>
                                    <p:anim calcmode="lin" valueType="num">
                                      <p:cBhvr>
                                        <p:cTn id="18"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19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fade">
                                      <p:cBhvr>
                                        <p:cTn id="22" dur="1000"/>
                                        <p:tgtEl>
                                          <p:spTgt spid="8195">
                                            <p:txEl>
                                              <p:pRg st="3" end="3"/>
                                            </p:txEl>
                                          </p:spTgt>
                                        </p:tgtEl>
                                      </p:cBhvr>
                                    </p:animEffect>
                                    <p:anim calcmode="lin" valueType="num">
                                      <p:cBhvr>
                                        <p:cTn id="23" dur="1000" fill="hold"/>
                                        <p:tgtEl>
                                          <p:spTgt spid="819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819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195">
                                            <p:txEl>
                                              <p:pRg st="4" end="4"/>
                                            </p:txEl>
                                          </p:spTgt>
                                        </p:tgtEl>
                                        <p:attrNameLst>
                                          <p:attrName>style.visibility</p:attrName>
                                        </p:attrNameLst>
                                      </p:cBhvr>
                                      <p:to>
                                        <p:strVal val="visible"/>
                                      </p:to>
                                    </p:set>
                                    <p:animEffect transition="in" filter="fade">
                                      <p:cBhvr>
                                        <p:cTn id="29" dur="1000"/>
                                        <p:tgtEl>
                                          <p:spTgt spid="8195">
                                            <p:txEl>
                                              <p:pRg st="4" end="4"/>
                                            </p:txEl>
                                          </p:spTgt>
                                        </p:tgtEl>
                                      </p:cBhvr>
                                    </p:animEffect>
                                    <p:anim calcmode="lin" valueType="num">
                                      <p:cBhvr>
                                        <p:cTn id="30" dur="1000" fill="hold"/>
                                        <p:tgtEl>
                                          <p:spTgt spid="8195">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819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p:cNvSpPr>
          <p:nvPr>
            <p:ph idx="1"/>
          </p:nvPr>
        </p:nvSpPr>
        <p:spPr>
          <a:xfrm>
            <a:off x="755576" y="1412776"/>
            <a:ext cx="8064500" cy="4933950"/>
          </a:xfrm>
        </p:spPr>
        <p:txBody>
          <a:bodyPr vert="horz" wrap="square" lIns="91440" tIns="45720" rIns="91440" bIns="45720" anchor="t"/>
          <a:lstStyle/>
          <a:p>
            <a:pPr eaLnBrk="1" hangingPunct="1">
              <a:lnSpc>
                <a:spcPct val="120000"/>
              </a:lnSpc>
              <a:spcBef>
                <a:spcPts val="600"/>
              </a:spcBef>
            </a:pPr>
            <a:r>
              <a:rPr lang="zh-CN" altLang="en-US" sz="2800" dirty="0"/>
              <a:t>静态分配的基本思想是</a:t>
            </a:r>
            <a:r>
              <a:rPr lang="zh-CN" altLang="en-US" sz="2800" dirty="0" smtClean="0"/>
              <a:t>将信道</a:t>
            </a:r>
            <a:r>
              <a:rPr lang="zh-CN" altLang="en-US" sz="2800" dirty="0"/>
              <a:t>资源</a:t>
            </a:r>
            <a:r>
              <a:rPr lang="zh-CN" altLang="en-US" sz="2800" dirty="0">
                <a:solidFill>
                  <a:srgbClr val="FF0000"/>
                </a:solidFill>
              </a:rPr>
              <a:t>平均分配</a:t>
            </a:r>
            <a:r>
              <a:rPr lang="zh-CN" altLang="en-US" sz="2800" dirty="0"/>
              <a:t>给每个要参与通信的用户。</a:t>
            </a:r>
          </a:p>
          <a:p>
            <a:pPr lvl="1" eaLnBrk="1" hangingPunct="1">
              <a:spcBef>
                <a:spcPts val="600"/>
              </a:spcBef>
            </a:pPr>
            <a:r>
              <a:rPr lang="zh-CN" altLang="en-US" sz="2400" dirty="0" smtClean="0"/>
              <a:t>频分多路复用 FDM（波分复用WDM）：将</a:t>
            </a:r>
            <a:r>
              <a:rPr lang="zh-CN" altLang="en-US" sz="2400" dirty="0" smtClean="0">
                <a:solidFill>
                  <a:srgbClr val="800000"/>
                </a:solidFill>
              </a:rPr>
              <a:t>频带</a:t>
            </a:r>
            <a:r>
              <a:rPr lang="zh-CN" altLang="en-US" sz="2400" dirty="0" smtClean="0"/>
              <a:t>平均分配给每个要参与通信的用户；</a:t>
            </a:r>
          </a:p>
          <a:p>
            <a:pPr lvl="1" eaLnBrk="1" hangingPunct="1">
              <a:spcBef>
                <a:spcPts val="600"/>
              </a:spcBef>
            </a:pPr>
            <a:r>
              <a:rPr lang="zh-CN" altLang="en-US" sz="2400" dirty="0" smtClean="0"/>
              <a:t>时分多路复用 TDM：让每个用户拥有固定的信道传送</a:t>
            </a:r>
            <a:r>
              <a:rPr lang="zh-CN" altLang="en-US" sz="2400" dirty="0" smtClean="0">
                <a:solidFill>
                  <a:srgbClr val="800000"/>
                </a:solidFill>
              </a:rPr>
              <a:t>时槽</a:t>
            </a:r>
            <a:r>
              <a:rPr lang="zh-CN" altLang="en-US" sz="2400" dirty="0" smtClean="0"/>
              <a:t>。</a:t>
            </a:r>
          </a:p>
          <a:p>
            <a:pPr lvl="1" eaLnBrk="1" hangingPunct="1">
              <a:spcBef>
                <a:spcPts val="600"/>
              </a:spcBef>
            </a:pPr>
            <a:r>
              <a:rPr lang="zh-CN" altLang="en-US" sz="2400" dirty="0" smtClean="0">
                <a:solidFill>
                  <a:srgbClr val="800000"/>
                </a:solidFill>
              </a:rPr>
              <a:t>优点</a:t>
            </a:r>
            <a:r>
              <a:rPr lang="zh-CN" altLang="en-US" sz="2400" dirty="0">
                <a:solidFill>
                  <a:srgbClr val="800000"/>
                </a:solidFill>
              </a:rPr>
              <a:t>：</a:t>
            </a:r>
            <a:r>
              <a:rPr lang="zh-CN" altLang="en-US" sz="2400" dirty="0"/>
              <a:t>适合于用户较少，数目基本固定，各用户的通信量都较大的情况。</a:t>
            </a:r>
          </a:p>
          <a:p>
            <a:pPr lvl="1" eaLnBrk="1" hangingPunct="1">
              <a:spcBef>
                <a:spcPts val="600"/>
              </a:spcBef>
            </a:pPr>
            <a:r>
              <a:rPr lang="zh-CN" altLang="en-US" sz="2400" dirty="0">
                <a:solidFill>
                  <a:srgbClr val="800000"/>
                </a:solidFill>
              </a:rPr>
              <a:t>缺点：</a:t>
            </a:r>
            <a:r>
              <a:rPr lang="zh-CN" altLang="en-US" sz="2400" dirty="0"/>
              <a:t>无法灵活适应站点数及其通信量的变化。</a:t>
            </a:r>
            <a:endParaRPr lang="zh-CN" altLang="en-US" dirty="0"/>
          </a:p>
          <a:p>
            <a:pPr lvl="1" eaLnBrk="1" hangingPunct="1">
              <a:lnSpc>
                <a:spcPct val="90000"/>
              </a:lnSpc>
            </a:pPr>
            <a:endParaRPr lang="zh-CN" altLang="en-US" sz="2400" dirty="0"/>
          </a:p>
        </p:txBody>
      </p:sp>
      <p:sp>
        <p:nvSpPr>
          <p:cNvPr id="9221" name="Rectangle 5"/>
          <p:cNvSpPr>
            <a:spLocks noGrp="1" noChangeArrowheads="1"/>
          </p:cNvSpPr>
          <p:nvPr>
            <p:ph type="title"/>
          </p:nvPr>
        </p:nvSpPr>
        <p:spPr>
          <a:xfrm>
            <a:off x="1447800" y="260350"/>
            <a:ext cx="7588696" cy="720725"/>
          </a:xfrm>
        </p:spPr>
        <p:txBody>
          <a:bodyPr vert="horz" wrap="square" lIns="92075" tIns="46038" rIns="92075" bIns="46038" numCol="1" anchor="ctr" anchorCtr="0" compatLnSpc="1"/>
          <a:lstStyle/>
          <a:p>
            <a:pPr lvl="0" eaLnBrk="1" hangingPunct="1">
              <a:defRPr/>
            </a:pPr>
            <a:r>
              <a:rPr lang="zh-CN" altLang="en-US" kern="0" dirty="0"/>
              <a:t>信道</a:t>
            </a:r>
            <a:r>
              <a:rPr lang="zh-CN" altLang="en-US" kern="0" dirty="0" smtClean="0"/>
              <a:t>静态</a:t>
            </a:r>
            <a:r>
              <a:rPr kumimoji="1" lang="zh-CN" altLang="en-US" b="0" i="0" u="none" strike="noStrike" kern="0" cap="none" spc="0" normalizeH="0" baseline="0" noProof="0" dirty="0" smtClean="0">
                <a:ln>
                  <a:noFill/>
                </a:ln>
                <a:effectLst/>
                <a:uLnTx/>
                <a:uFillTx/>
              </a:rPr>
              <a:t>分配策略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p:cNvSpPr>
          <p:nvPr>
            <p:ph idx="1"/>
          </p:nvPr>
        </p:nvSpPr>
        <p:spPr>
          <a:xfrm>
            <a:off x="683568" y="1412776"/>
            <a:ext cx="8039868" cy="4462463"/>
          </a:xfrm>
        </p:spPr>
        <p:txBody>
          <a:bodyPr vert="horz" wrap="square" lIns="91440" tIns="45720" rIns="91440" bIns="45720" anchor="t"/>
          <a:lstStyle/>
          <a:p>
            <a:pPr eaLnBrk="1" hangingPunct="1">
              <a:lnSpc>
                <a:spcPct val="120000"/>
              </a:lnSpc>
              <a:spcBef>
                <a:spcPts val="600"/>
              </a:spcBef>
            </a:pPr>
            <a:r>
              <a:rPr lang="zh-CN" altLang="en-US" dirty="0">
                <a:solidFill>
                  <a:srgbClr val="003399"/>
                </a:solidFill>
                <a:latin typeface="宋体" panose="02010600030101010101" pitchFamily="2" charset="-122"/>
              </a:rPr>
              <a:t>信道动态分配策略是根据当前对信道请求的情况动态协调各用户对信道的使用权。</a:t>
            </a:r>
          </a:p>
          <a:p>
            <a:pPr eaLnBrk="1" hangingPunct="1">
              <a:spcBef>
                <a:spcPts val="1200"/>
              </a:spcBef>
            </a:pPr>
            <a:r>
              <a:rPr lang="zh-CN" altLang="en-US" dirty="0" smtClean="0">
                <a:solidFill>
                  <a:srgbClr val="003399"/>
                </a:solidFill>
                <a:ea typeface="黑体" panose="02010609060101010101" pitchFamily="49" charset="-122"/>
              </a:rPr>
              <a:t>动态分配策略分类</a:t>
            </a:r>
            <a:endParaRPr lang="zh-CN" altLang="en-US" dirty="0">
              <a:solidFill>
                <a:srgbClr val="003399"/>
              </a:solidFill>
              <a:ea typeface="黑体" panose="02010609060101010101" pitchFamily="49" charset="-122"/>
            </a:endParaRPr>
          </a:p>
          <a:p>
            <a:pPr lvl="1" eaLnBrk="1" hangingPunct="1"/>
            <a:r>
              <a:rPr lang="zh-CN" altLang="en-US" dirty="0">
                <a:latin typeface="宋体" panose="02010600030101010101" pitchFamily="2" charset="-122"/>
              </a:rPr>
              <a:t>无冲突</a:t>
            </a:r>
            <a:r>
              <a:rPr lang="zh-CN" altLang="en-US" dirty="0" smtClean="0">
                <a:latin typeface="宋体" panose="02010600030101010101" pitchFamily="2" charset="-122"/>
              </a:rPr>
              <a:t>协议：令牌协议</a:t>
            </a:r>
            <a:endParaRPr lang="zh-CN" altLang="en-US" dirty="0">
              <a:ea typeface="Arial Unicode MS" panose="020B0604020202020204" charset="-122"/>
            </a:endParaRPr>
          </a:p>
          <a:p>
            <a:pPr lvl="1" eaLnBrk="1" hangingPunct="1"/>
            <a:r>
              <a:rPr lang="zh-CN" altLang="en-US" dirty="0">
                <a:latin typeface="宋体" panose="02010600030101010101" pitchFamily="2" charset="-122"/>
              </a:rPr>
              <a:t>冲突</a:t>
            </a:r>
            <a:r>
              <a:rPr lang="zh-CN" altLang="en-US" dirty="0" smtClean="0">
                <a:latin typeface="宋体" panose="02010600030101010101" pitchFamily="2" charset="-122"/>
              </a:rPr>
              <a:t>协议：</a:t>
            </a:r>
            <a:r>
              <a:rPr lang="en-US" altLang="zh-CN" dirty="0" smtClean="0">
                <a:latin typeface="宋体" panose="02010600030101010101" pitchFamily="2" charset="-122"/>
              </a:rPr>
              <a:t>ALOHA</a:t>
            </a:r>
            <a:r>
              <a:rPr lang="zh-CN" altLang="en-US" dirty="0" smtClean="0">
                <a:latin typeface="宋体" panose="02010600030101010101" pitchFamily="2" charset="-122"/>
              </a:rPr>
              <a:t>协议、</a:t>
            </a:r>
            <a:r>
              <a:rPr lang="en-US" altLang="zh-CN" dirty="0" smtClean="0">
                <a:latin typeface="宋体" panose="02010600030101010101" pitchFamily="2" charset="-122"/>
              </a:rPr>
              <a:t>CSMA</a:t>
            </a:r>
            <a:r>
              <a:rPr lang="zh-CN" altLang="en-US" dirty="0" smtClean="0">
                <a:latin typeface="宋体" panose="02010600030101010101" pitchFamily="2" charset="-122"/>
              </a:rPr>
              <a:t>协议</a:t>
            </a:r>
            <a:r>
              <a:rPr lang="zh-CN" altLang="en-US" dirty="0" smtClean="0">
                <a:solidFill>
                  <a:schemeClr val="hlink"/>
                </a:solidFill>
                <a:latin typeface="宋体" panose="02010600030101010101" pitchFamily="2" charset="-122"/>
              </a:rPr>
              <a:t> </a:t>
            </a:r>
            <a:r>
              <a:rPr lang="zh-CN" altLang="en-US" dirty="0" smtClean="0">
                <a:solidFill>
                  <a:schemeClr val="hlink"/>
                </a:solidFill>
                <a:ea typeface="黑体" panose="02010609060101010101" pitchFamily="49" charset="-122"/>
              </a:rPr>
              <a:t> </a:t>
            </a:r>
            <a:endParaRPr lang="zh-CN" altLang="en-US" dirty="0">
              <a:solidFill>
                <a:schemeClr val="hlink"/>
              </a:solidFill>
              <a:ea typeface="黑体" panose="02010609060101010101" pitchFamily="49" charset="-122"/>
            </a:endParaRPr>
          </a:p>
        </p:txBody>
      </p:sp>
      <p:sp>
        <p:nvSpPr>
          <p:cNvPr id="10245" name="Rectangle 5"/>
          <p:cNvSpPr>
            <a:spLocks noGrp="1" noChangeArrowheads="1"/>
          </p:cNvSpPr>
          <p:nvPr>
            <p:ph type="title"/>
          </p:nvPr>
        </p:nvSpPr>
        <p:spPr>
          <a:xfrm>
            <a:off x="1447800" y="260350"/>
            <a:ext cx="7372672" cy="72072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mj-lt"/>
                <a:ea typeface="+mj-ea"/>
                <a:cs typeface="+mj-cs"/>
              </a:rPr>
              <a:t>信道动态分配策略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fade">
                                      <p:cBhvr>
                                        <p:cTn id="7" dur="1000"/>
                                        <p:tgtEl>
                                          <p:spTgt spid="10243">
                                            <p:txEl>
                                              <p:pRg st="0" end="0"/>
                                            </p:txEl>
                                          </p:spTgt>
                                        </p:tgtEl>
                                      </p:cBhvr>
                                    </p:animEffect>
                                    <p:anim calcmode="lin" valueType="num">
                                      <p:cBhvr>
                                        <p:cTn id="8" dur="10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2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243">
                                            <p:txEl>
                                              <p:pRg st="1" end="1"/>
                                            </p:txEl>
                                          </p:spTgt>
                                        </p:tgtEl>
                                        <p:attrNameLst>
                                          <p:attrName>style.visibility</p:attrName>
                                        </p:attrNameLst>
                                      </p:cBhvr>
                                      <p:to>
                                        <p:strVal val="visible"/>
                                      </p:to>
                                    </p:set>
                                    <p:animEffect transition="in" filter="fade">
                                      <p:cBhvr>
                                        <p:cTn id="14" dur="1000"/>
                                        <p:tgtEl>
                                          <p:spTgt spid="10243">
                                            <p:txEl>
                                              <p:pRg st="1" end="1"/>
                                            </p:txEl>
                                          </p:spTgt>
                                        </p:tgtEl>
                                      </p:cBhvr>
                                    </p:animEffect>
                                    <p:anim calcmode="lin" valueType="num">
                                      <p:cBhvr>
                                        <p:cTn id="15" dur="10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24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Effect transition="in" filter="fade">
                                      <p:cBhvr>
                                        <p:cTn id="19" dur="1000"/>
                                        <p:tgtEl>
                                          <p:spTgt spid="10243">
                                            <p:txEl>
                                              <p:pRg st="2" end="2"/>
                                            </p:txEl>
                                          </p:spTgt>
                                        </p:tgtEl>
                                      </p:cBhvr>
                                    </p:animEffect>
                                    <p:anim calcmode="lin" valueType="num">
                                      <p:cBhvr>
                                        <p:cTn id="20" dur="10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24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243">
                                            <p:txEl>
                                              <p:pRg st="3" end="3"/>
                                            </p:txEl>
                                          </p:spTgt>
                                        </p:tgtEl>
                                        <p:attrNameLst>
                                          <p:attrName>style.visibility</p:attrName>
                                        </p:attrNameLst>
                                      </p:cBhvr>
                                      <p:to>
                                        <p:strVal val="visible"/>
                                      </p:to>
                                    </p:set>
                                    <p:animEffect transition="in" filter="fade">
                                      <p:cBhvr>
                                        <p:cTn id="24" dur="1000"/>
                                        <p:tgtEl>
                                          <p:spTgt spid="10243">
                                            <p:txEl>
                                              <p:pRg st="3" end="3"/>
                                            </p:txEl>
                                          </p:spTgt>
                                        </p:tgtEl>
                                      </p:cBhvr>
                                    </p:animEffect>
                                    <p:anim calcmode="lin" valueType="num">
                                      <p:cBhvr>
                                        <p:cTn id="25" dur="10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024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447800" y="260350"/>
            <a:ext cx="7450064" cy="72072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mj-lt"/>
                <a:ea typeface="+mj-ea"/>
                <a:cs typeface="+mj-cs"/>
              </a:rPr>
              <a:t>　令牌协议</a:t>
            </a:r>
          </a:p>
        </p:txBody>
      </p:sp>
      <p:sp>
        <p:nvSpPr>
          <p:cNvPr id="27651" name="Rectangle 3"/>
          <p:cNvSpPr>
            <a:spLocks noGrp="1"/>
          </p:cNvSpPr>
          <p:nvPr>
            <p:ph idx="1"/>
          </p:nvPr>
        </p:nvSpPr>
        <p:spPr>
          <a:xfrm>
            <a:off x="755576" y="1165954"/>
            <a:ext cx="8142288" cy="1079244"/>
          </a:xfrm>
        </p:spPr>
        <p:txBody>
          <a:bodyPr vert="horz" wrap="square" lIns="91440" tIns="45720" rIns="91440" bIns="45720" anchor="t"/>
          <a:lstStyle/>
          <a:p>
            <a:pPr eaLnBrk="1" hangingPunct="1">
              <a:lnSpc>
                <a:spcPct val="120000"/>
              </a:lnSpc>
            </a:pPr>
            <a:r>
              <a:rPr lang="zh-CN" altLang="en-US" sz="2400" dirty="0" smtClean="0">
                <a:latin typeface="+mj-ea"/>
                <a:ea typeface="+mj-ea"/>
              </a:rPr>
              <a:t>网络</a:t>
            </a:r>
            <a:r>
              <a:rPr lang="zh-CN" altLang="en-US" sz="2400" dirty="0">
                <a:latin typeface="+mj-ea"/>
                <a:ea typeface="+mj-ea"/>
              </a:rPr>
              <a:t>中流转</a:t>
            </a:r>
            <a:r>
              <a:rPr lang="zh-CN" altLang="en-US" sz="2400" dirty="0" smtClean="0">
                <a:latin typeface="+mj-ea"/>
                <a:ea typeface="+mj-ea"/>
              </a:rPr>
              <a:t>着唯一的被</a:t>
            </a:r>
            <a:r>
              <a:rPr lang="zh-CN" altLang="en-US" sz="2400" dirty="0">
                <a:latin typeface="+mj-ea"/>
                <a:ea typeface="+mj-ea"/>
              </a:rPr>
              <a:t>称为</a:t>
            </a:r>
            <a:r>
              <a:rPr lang="zh-CN" altLang="en-US" sz="2400" dirty="0" smtClean="0">
                <a:solidFill>
                  <a:srgbClr val="FF3300"/>
                </a:solidFill>
                <a:latin typeface="+mj-ea"/>
                <a:ea typeface="+mj-ea"/>
              </a:rPr>
              <a:t>“令牌</a:t>
            </a:r>
            <a:r>
              <a:rPr lang="en-US" altLang="zh-CN" sz="2400" dirty="0" smtClean="0">
                <a:solidFill>
                  <a:srgbClr val="FF3300"/>
                </a:solidFill>
                <a:latin typeface="+mj-ea"/>
                <a:ea typeface="+mj-ea"/>
              </a:rPr>
              <a:t>”</a:t>
            </a:r>
            <a:r>
              <a:rPr lang="zh-CN" altLang="en-US" sz="2400" dirty="0" smtClean="0">
                <a:latin typeface="+mj-ea"/>
                <a:ea typeface="+mj-ea"/>
              </a:rPr>
              <a:t>的控制帧。节点</a:t>
            </a:r>
            <a:r>
              <a:rPr lang="zh-CN" altLang="en-US" sz="2400" dirty="0">
                <a:latin typeface="+mj-ea"/>
                <a:ea typeface="+mj-ea"/>
              </a:rPr>
              <a:t>要发送数据</a:t>
            </a:r>
            <a:r>
              <a:rPr lang="zh-CN" altLang="en-US" sz="2400" dirty="0" smtClean="0">
                <a:latin typeface="+mj-ea"/>
                <a:ea typeface="+mj-ea"/>
              </a:rPr>
              <a:t>必须先</a:t>
            </a:r>
            <a:r>
              <a:rPr lang="zh-CN" altLang="en-US" sz="2400" dirty="0">
                <a:latin typeface="+mj-ea"/>
                <a:ea typeface="+mj-ea"/>
              </a:rPr>
              <a:t>截获令牌</a:t>
            </a:r>
            <a:r>
              <a:rPr lang="zh-CN" altLang="en-US" sz="2400" dirty="0" smtClean="0">
                <a:latin typeface="+mj-ea"/>
                <a:ea typeface="+mj-ea"/>
              </a:rPr>
              <a:t>，</a:t>
            </a:r>
            <a:r>
              <a:rPr lang="zh-CN" altLang="en-US" sz="2400" dirty="0">
                <a:latin typeface="+mj-ea"/>
                <a:ea typeface="+mj-ea"/>
              </a:rPr>
              <a:t>令牌的唯一性避免了冲突。</a:t>
            </a:r>
            <a:r>
              <a:rPr lang="zh-CN" altLang="en-US" sz="2800" dirty="0">
                <a:latin typeface="+mj-ea"/>
                <a:ea typeface="+mj-ea"/>
              </a:rPr>
              <a:t> </a:t>
            </a:r>
          </a:p>
        </p:txBody>
      </p:sp>
      <p:graphicFrame>
        <p:nvGraphicFramePr>
          <p:cNvPr id="20483" name="对象 -2147482621"/>
          <p:cNvGraphicFramePr>
            <a:graphicFrameLocks noChangeAspect="1"/>
          </p:cNvGraphicFramePr>
          <p:nvPr/>
        </p:nvGraphicFramePr>
        <p:xfrm>
          <a:off x="1619672" y="2275997"/>
          <a:ext cx="5165725" cy="4616450"/>
        </p:xfrm>
        <a:graphic>
          <a:graphicData uri="http://schemas.openxmlformats.org/presentationml/2006/ole">
            <mc:AlternateContent xmlns:mc="http://schemas.openxmlformats.org/markup-compatibility/2006">
              <mc:Choice xmlns:v="urn:schemas-microsoft-com:vml" Requires="v">
                <p:oleObj spid="_x0000_s89131" r:id="rId4" imgW="3278505" imgH="2927985" progId="Visio.Drawing.11">
                  <p:embed/>
                </p:oleObj>
              </mc:Choice>
              <mc:Fallback>
                <p:oleObj r:id="rId4" imgW="3278505" imgH="2927985" progId="Visio.Drawing.11">
                  <p:embed/>
                  <p:pic>
                    <p:nvPicPr>
                      <p:cNvPr id="0" name="对象 -2147482621"/>
                      <p:cNvPicPr/>
                      <p:nvPr/>
                    </p:nvPicPr>
                    <p:blipFill>
                      <a:blip r:embed="rId5"/>
                      <a:stretch>
                        <a:fillRect/>
                      </a:stretch>
                    </p:blipFill>
                    <p:spPr>
                      <a:xfrm>
                        <a:off x="1619672" y="2275997"/>
                        <a:ext cx="5165725" cy="46164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p:cTn id="7" dur="500" fill="hold"/>
                                        <p:tgtEl>
                                          <p:spTgt spid="27651">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2765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447800" y="260350"/>
            <a:ext cx="7402513" cy="72072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b="0" i="0" u="none" strike="noStrike" kern="0" cap="none" spc="0" normalizeH="0" baseline="0" noProof="0" dirty="0" smtClean="0">
                <a:ln>
                  <a:noFill/>
                </a:ln>
                <a:effectLst/>
                <a:uLnTx/>
                <a:uFillTx/>
                <a:latin typeface="+mj-lt"/>
                <a:ea typeface="+mj-ea"/>
                <a:cs typeface="+mj-cs"/>
              </a:rPr>
              <a:t>ALOHA</a:t>
            </a:r>
            <a:r>
              <a:rPr kumimoji="1" lang="zh-CN" altLang="en-US" b="0" i="0" u="none" strike="noStrike" kern="0" cap="none" spc="0" normalizeH="0" baseline="0" noProof="0" dirty="0" smtClean="0">
                <a:ln>
                  <a:noFill/>
                </a:ln>
                <a:effectLst/>
                <a:uLnTx/>
                <a:uFillTx/>
                <a:latin typeface="+mj-lt"/>
                <a:ea typeface="+mj-ea"/>
                <a:cs typeface="+mj-cs"/>
              </a:rPr>
              <a:t>协议</a:t>
            </a:r>
          </a:p>
        </p:txBody>
      </p:sp>
      <p:sp>
        <p:nvSpPr>
          <p:cNvPr id="12291" name="Rectangle 3"/>
          <p:cNvSpPr>
            <a:spLocks noGrp="1"/>
          </p:cNvSpPr>
          <p:nvPr>
            <p:ph idx="1"/>
          </p:nvPr>
        </p:nvSpPr>
        <p:spPr>
          <a:xfrm>
            <a:off x="611560" y="1196752"/>
            <a:ext cx="8382000" cy="5400600"/>
          </a:xfrm>
        </p:spPr>
        <p:txBody>
          <a:bodyPr vert="horz" wrap="square" lIns="91440" tIns="45720" rIns="91440" bIns="45720" anchor="t"/>
          <a:lstStyle/>
          <a:p>
            <a:pPr eaLnBrk="1" hangingPunct="1"/>
            <a:r>
              <a:rPr lang="en-US" altLang="zh-CN" sz="2800" dirty="0" smtClean="0"/>
              <a:t>ALOHA</a:t>
            </a:r>
            <a:r>
              <a:rPr lang="zh-CN" altLang="en-US" sz="2800" dirty="0" smtClean="0"/>
              <a:t>协议用于解决</a:t>
            </a:r>
            <a:r>
              <a:rPr lang="zh-CN" altLang="en-US" sz="2800" dirty="0"/>
              <a:t>信道的</a:t>
            </a:r>
            <a:r>
              <a:rPr lang="zh-CN" altLang="en-US" sz="2800" dirty="0" smtClean="0"/>
              <a:t>动态分配问题，</a:t>
            </a:r>
            <a:r>
              <a:rPr lang="zh-CN" altLang="en-US" sz="2800" dirty="0"/>
              <a:t>基本思想可用于任何</a:t>
            </a:r>
            <a:r>
              <a:rPr lang="zh-CN" altLang="en-US" sz="2800" dirty="0">
                <a:solidFill>
                  <a:srgbClr val="FF3300"/>
                </a:solidFill>
              </a:rPr>
              <a:t>无协调关系</a:t>
            </a:r>
            <a:r>
              <a:rPr lang="zh-CN" altLang="en-US" sz="2800" dirty="0"/>
              <a:t>的用户争用单一</a:t>
            </a:r>
            <a:r>
              <a:rPr lang="zh-CN" altLang="en-US" sz="2800" dirty="0" smtClean="0"/>
              <a:t>共享资源使用权的系统。</a:t>
            </a:r>
            <a:endParaRPr lang="zh-CN" altLang="en-US" sz="2800" dirty="0"/>
          </a:p>
          <a:p>
            <a:pPr lvl="1" eaLnBrk="1" hangingPunct="1">
              <a:buChar char="Ø"/>
            </a:pPr>
            <a:r>
              <a:rPr lang="zh-CN" altLang="en-US" sz="2400" dirty="0"/>
              <a:t>分类：</a:t>
            </a:r>
            <a:r>
              <a:rPr lang="zh-CN" altLang="en-US" sz="2400" dirty="0">
                <a:solidFill>
                  <a:srgbClr val="FF3300"/>
                </a:solidFill>
              </a:rPr>
              <a:t>纯</a:t>
            </a:r>
            <a:r>
              <a:rPr lang="en-US" altLang="zh-CN" sz="2400" dirty="0">
                <a:solidFill>
                  <a:srgbClr val="FF3300"/>
                </a:solidFill>
              </a:rPr>
              <a:t>ALOHA</a:t>
            </a:r>
            <a:r>
              <a:rPr lang="zh-CN" altLang="en-US" sz="2400" dirty="0"/>
              <a:t>协议和</a:t>
            </a:r>
            <a:r>
              <a:rPr lang="zh-CN" altLang="en-US" sz="2400" dirty="0">
                <a:solidFill>
                  <a:srgbClr val="FF3300"/>
                </a:solidFill>
              </a:rPr>
              <a:t>时间片</a:t>
            </a:r>
            <a:r>
              <a:rPr lang="en-US" altLang="zh-CN" sz="2400" dirty="0">
                <a:solidFill>
                  <a:srgbClr val="FF3300"/>
                </a:solidFill>
              </a:rPr>
              <a:t>ALOHA</a:t>
            </a:r>
            <a:r>
              <a:rPr lang="zh-CN" altLang="en-US" sz="2400" dirty="0"/>
              <a:t>协议</a:t>
            </a:r>
            <a:endParaRPr lang="zh-CN" altLang="en-US" dirty="0"/>
          </a:p>
          <a:p>
            <a:pPr eaLnBrk="1" hangingPunct="1"/>
            <a:r>
              <a:rPr lang="zh-CN" altLang="en-US" sz="2800" dirty="0">
                <a:latin typeface="黑体" panose="02010609060101010101" pitchFamily="49" charset="-122"/>
                <a:ea typeface="黑体" panose="02010609060101010101" pitchFamily="49" charset="-122"/>
              </a:rPr>
              <a:t>纯</a:t>
            </a:r>
            <a:r>
              <a:rPr lang="en-US" altLang="zh-CN" sz="2800" dirty="0">
                <a:latin typeface="黑体" panose="02010609060101010101" pitchFamily="49" charset="-122"/>
                <a:ea typeface="黑体" panose="02010609060101010101" pitchFamily="49" charset="-122"/>
              </a:rPr>
              <a:t>ALOHA</a:t>
            </a:r>
            <a:r>
              <a:rPr lang="zh-CN" altLang="en-US" sz="2800" dirty="0" smtClean="0">
                <a:latin typeface="黑体" panose="02010609060101010101" pitchFamily="49" charset="-122"/>
                <a:ea typeface="黑体" panose="02010609060101010101" pitchFamily="49" charset="-122"/>
              </a:rPr>
              <a:t>协议（连续</a:t>
            </a:r>
            <a:r>
              <a:rPr lang="en-US" altLang="zh-CN" sz="2800" dirty="0" smtClean="0">
                <a:latin typeface="黑体" panose="02010609060101010101" pitchFamily="49" charset="-122"/>
                <a:ea typeface="黑体" panose="02010609060101010101" pitchFamily="49" charset="-122"/>
              </a:rPr>
              <a:t>ALOHA</a:t>
            </a:r>
            <a:r>
              <a:rPr lang="zh-CN" altLang="en-US" sz="2800" dirty="0">
                <a:latin typeface="黑体" panose="02010609060101010101" pitchFamily="49" charset="-122"/>
                <a:ea typeface="黑体" panose="02010609060101010101" pitchFamily="49" charset="-122"/>
              </a:rPr>
              <a:t>协议）</a:t>
            </a:r>
          </a:p>
          <a:p>
            <a:pPr lvl="1" eaLnBrk="1" hangingPunct="1">
              <a:buChar char="Ø"/>
            </a:pPr>
            <a:r>
              <a:rPr lang="zh-CN" altLang="en-US" sz="2400" dirty="0"/>
              <a:t>基本思想：用户有数据要发送时，可以</a:t>
            </a:r>
            <a:r>
              <a:rPr lang="zh-CN" altLang="en-US" sz="2400" dirty="0">
                <a:solidFill>
                  <a:srgbClr val="FF3300"/>
                </a:solidFill>
              </a:rPr>
              <a:t>直接发至信道</a:t>
            </a:r>
            <a:r>
              <a:rPr lang="zh-CN" altLang="en-US" sz="2400" dirty="0"/>
              <a:t>；然后</a:t>
            </a:r>
            <a:r>
              <a:rPr lang="zh-CN" altLang="en-US" sz="2400" dirty="0">
                <a:solidFill>
                  <a:srgbClr val="FF3300"/>
                </a:solidFill>
              </a:rPr>
              <a:t>监听信道</a:t>
            </a:r>
            <a:r>
              <a:rPr lang="zh-CN" altLang="en-US" sz="2400" dirty="0"/>
              <a:t>看是否产生冲突，若产生冲突，则等待一段</a:t>
            </a:r>
            <a:r>
              <a:rPr lang="zh-CN" altLang="en-US" sz="2400" dirty="0" smtClean="0">
                <a:solidFill>
                  <a:srgbClr val="FF3300"/>
                </a:solidFill>
              </a:rPr>
              <a:t>随机</a:t>
            </a:r>
            <a:r>
              <a:rPr lang="zh-CN" altLang="en-US" sz="2400" dirty="0" smtClean="0"/>
              <a:t>时间重传。</a:t>
            </a:r>
            <a:endParaRPr lang="zh-CN" altLang="en-US" sz="2000" dirty="0"/>
          </a:p>
          <a:p>
            <a:pPr eaLnBrk="1" hangingPunct="1"/>
            <a:r>
              <a:rPr lang="zh-CN" altLang="en-US" sz="2800" dirty="0">
                <a:latin typeface="黑体" panose="02010609060101010101" pitchFamily="49" charset="-122"/>
                <a:ea typeface="黑体" panose="02010609060101010101" pitchFamily="49" charset="-122"/>
              </a:rPr>
              <a:t>时间片</a:t>
            </a:r>
            <a:r>
              <a:rPr lang="en-US" altLang="zh-CN" sz="2800" dirty="0">
                <a:latin typeface="黑体" panose="02010609060101010101" pitchFamily="49" charset="-122"/>
                <a:ea typeface="黑体" panose="02010609060101010101" pitchFamily="49" charset="-122"/>
              </a:rPr>
              <a:t>ALOHA</a:t>
            </a:r>
            <a:r>
              <a:rPr lang="zh-CN" altLang="en-US" sz="2800" dirty="0" smtClean="0">
                <a:latin typeface="黑体" panose="02010609060101010101" pitchFamily="49" charset="-122"/>
                <a:ea typeface="黑体" panose="02010609060101010101" pitchFamily="49" charset="-122"/>
              </a:rPr>
              <a:t>协议（离散</a:t>
            </a:r>
            <a:r>
              <a:rPr lang="en-US" altLang="zh-CN" sz="2800" dirty="0" smtClean="0">
                <a:latin typeface="黑体" panose="02010609060101010101" pitchFamily="49" charset="-122"/>
                <a:ea typeface="黑体" panose="02010609060101010101" pitchFamily="49" charset="-122"/>
              </a:rPr>
              <a:t>ALOHA</a:t>
            </a:r>
            <a:r>
              <a:rPr lang="zh-CN" altLang="en-US" sz="2800" dirty="0" smtClean="0">
                <a:latin typeface="黑体" panose="02010609060101010101" pitchFamily="49" charset="-122"/>
                <a:ea typeface="黑体" panose="02010609060101010101" pitchFamily="49" charset="-122"/>
              </a:rPr>
              <a:t>协议）</a:t>
            </a:r>
            <a:endParaRPr lang="zh-CN" altLang="en-US" sz="2800" dirty="0">
              <a:latin typeface="黑体" panose="02010609060101010101" pitchFamily="49" charset="-122"/>
              <a:ea typeface="黑体" panose="02010609060101010101" pitchFamily="49" charset="-122"/>
            </a:endParaRPr>
          </a:p>
          <a:p>
            <a:pPr lvl="1" eaLnBrk="1" hangingPunct="1"/>
            <a:r>
              <a:rPr lang="zh-CN" altLang="en-US" sz="2400" dirty="0"/>
              <a:t>基本思想：把信道时间</a:t>
            </a:r>
            <a:r>
              <a:rPr lang="zh-CN" altLang="en-US" sz="2400" dirty="0">
                <a:solidFill>
                  <a:srgbClr val="FF3300"/>
                </a:solidFill>
              </a:rPr>
              <a:t>分成离散的时间片</a:t>
            </a:r>
            <a:r>
              <a:rPr lang="zh-CN" altLang="en-US" sz="2400" dirty="0"/>
              <a:t>，片长</a:t>
            </a:r>
            <a:r>
              <a:rPr lang="zh-CN" altLang="en-US" sz="2400" dirty="0" smtClean="0"/>
              <a:t>为最大帧</a:t>
            </a:r>
            <a:r>
              <a:rPr lang="zh-CN" altLang="en-US" sz="2400" dirty="0"/>
              <a:t>所需的发送时间。</a:t>
            </a:r>
            <a:r>
              <a:rPr lang="zh-CN" altLang="en-US" sz="2400" dirty="0" smtClean="0"/>
              <a:t>每个节点只能</a:t>
            </a:r>
            <a:r>
              <a:rPr lang="zh-CN" altLang="en-US" sz="2400" dirty="0"/>
              <a:t>在</a:t>
            </a:r>
            <a:r>
              <a:rPr lang="zh-CN" altLang="en-US" sz="2400" dirty="0">
                <a:solidFill>
                  <a:srgbClr val="FF3300"/>
                </a:solidFill>
              </a:rPr>
              <a:t>时间片开始时</a:t>
            </a:r>
            <a:r>
              <a:rPr lang="zh-CN" altLang="en-US" sz="2400" dirty="0"/>
              <a:t>才允许发送</a:t>
            </a:r>
            <a:r>
              <a:rPr lang="zh-CN" altLang="en-US" sz="2400" dirty="0" smtClean="0"/>
              <a:t>。之后过程</a:t>
            </a:r>
            <a:r>
              <a:rPr lang="zh-CN" altLang="en-US" sz="2400" dirty="0"/>
              <a:t>与纯</a:t>
            </a:r>
            <a:r>
              <a:rPr lang="en-US" altLang="zh-CN" sz="2400" dirty="0"/>
              <a:t>ALOHA</a:t>
            </a:r>
            <a:r>
              <a:rPr lang="zh-CN" altLang="en-US" sz="2400" dirty="0"/>
              <a:t>协议相同。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1000"/>
                                        <p:tgtEl>
                                          <p:spTgt spid="12291">
                                            <p:txEl>
                                              <p:pRg st="0" end="0"/>
                                            </p:txEl>
                                          </p:spTgt>
                                        </p:tgtEl>
                                      </p:cBhvr>
                                    </p:animEffect>
                                    <p:anim calcmode="lin" valueType="num">
                                      <p:cBhvr>
                                        <p:cTn id="8" dur="10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29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fade">
                                      <p:cBhvr>
                                        <p:cTn id="12" dur="1000"/>
                                        <p:tgtEl>
                                          <p:spTgt spid="12291">
                                            <p:txEl>
                                              <p:pRg st="1" end="1"/>
                                            </p:txEl>
                                          </p:spTgt>
                                        </p:tgtEl>
                                      </p:cBhvr>
                                    </p:animEffect>
                                    <p:anim calcmode="lin" valueType="num">
                                      <p:cBhvr>
                                        <p:cTn id="13" dur="10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2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291">
                                            <p:txEl>
                                              <p:pRg st="2" end="2"/>
                                            </p:txEl>
                                          </p:spTgt>
                                        </p:tgtEl>
                                        <p:attrNameLst>
                                          <p:attrName>style.visibility</p:attrName>
                                        </p:attrNameLst>
                                      </p:cBhvr>
                                      <p:to>
                                        <p:strVal val="visible"/>
                                      </p:to>
                                    </p:set>
                                    <p:animEffect transition="in" filter="fade">
                                      <p:cBhvr>
                                        <p:cTn id="19" dur="1000"/>
                                        <p:tgtEl>
                                          <p:spTgt spid="12291">
                                            <p:txEl>
                                              <p:pRg st="2" end="2"/>
                                            </p:txEl>
                                          </p:spTgt>
                                        </p:tgtEl>
                                      </p:cBhvr>
                                    </p:animEffect>
                                    <p:anim calcmode="lin" valueType="num">
                                      <p:cBhvr>
                                        <p:cTn id="20" dur="10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2291">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2291">
                                            <p:txEl>
                                              <p:pRg st="3" end="3"/>
                                            </p:txEl>
                                          </p:spTgt>
                                        </p:tgtEl>
                                        <p:attrNameLst>
                                          <p:attrName>style.visibility</p:attrName>
                                        </p:attrNameLst>
                                      </p:cBhvr>
                                      <p:to>
                                        <p:strVal val="visible"/>
                                      </p:to>
                                    </p:set>
                                    <p:animEffect transition="in" filter="fade">
                                      <p:cBhvr>
                                        <p:cTn id="24" dur="1000"/>
                                        <p:tgtEl>
                                          <p:spTgt spid="12291">
                                            <p:txEl>
                                              <p:pRg st="3" end="3"/>
                                            </p:txEl>
                                          </p:spTgt>
                                        </p:tgtEl>
                                      </p:cBhvr>
                                    </p:animEffect>
                                    <p:anim calcmode="lin" valueType="num">
                                      <p:cBhvr>
                                        <p:cTn id="25" dur="10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229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291">
                                            <p:txEl>
                                              <p:pRg st="4" end="4"/>
                                            </p:txEl>
                                          </p:spTgt>
                                        </p:tgtEl>
                                        <p:attrNameLst>
                                          <p:attrName>style.visibility</p:attrName>
                                        </p:attrNameLst>
                                      </p:cBhvr>
                                      <p:to>
                                        <p:strVal val="visible"/>
                                      </p:to>
                                    </p:set>
                                    <p:animEffect transition="in" filter="fade">
                                      <p:cBhvr>
                                        <p:cTn id="31" dur="1000"/>
                                        <p:tgtEl>
                                          <p:spTgt spid="12291">
                                            <p:txEl>
                                              <p:pRg st="4" end="4"/>
                                            </p:txEl>
                                          </p:spTgt>
                                        </p:tgtEl>
                                      </p:cBhvr>
                                    </p:animEffect>
                                    <p:anim calcmode="lin" valueType="num">
                                      <p:cBhvr>
                                        <p:cTn id="32" dur="1000" fill="hold"/>
                                        <p:tgtEl>
                                          <p:spTgt spid="12291">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2291">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2291">
                                            <p:txEl>
                                              <p:pRg st="5" end="5"/>
                                            </p:txEl>
                                          </p:spTgt>
                                        </p:tgtEl>
                                        <p:attrNameLst>
                                          <p:attrName>style.visibility</p:attrName>
                                        </p:attrNameLst>
                                      </p:cBhvr>
                                      <p:to>
                                        <p:strVal val="visible"/>
                                      </p:to>
                                    </p:set>
                                    <p:animEffect transition="in" filter="fade">
                                      <p:cBhvr>
                                        <p:cTn id="36" dur="1000"/>
                                        <p:tgtEl>
                                          <p:spTgt spid="12291">
                                            <p:txEl>
                                              <p:pRg st="5" end="5"/>
                                            </p:txEl>
                                          </p:spTgt>
                                        </p:tgtEl>
                                      </p:cBhvr>
                                    </p:animEffect>
                                    <p:anim calcmode="lin" valueType="num">
                                      <p:cBhvr>
                                        <p:cTn id="37" dur="1000" fill="hold"/>
                                        <p:tgtEl>
                                          <p:spTgt spid="12291">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1229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5"/>
          <p:cNvSpPr/>
          <p:nvPr/>
        </p:nvSpPr>
        <p:spPr>
          <a:xfrm>
            <a:off x="2647950" y="2576513"/>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sp>
        <p:nvSpPr>
          <p:cNvPr id="14343" name="Rectangle 7"/>
          <p:cNvSpPr>
            <a:spLocks noChangeArrowheads="1"/>
          </p:cNvSpPr>
          <p:nvPr/>
        </p:nvSpPr>
        <p:spPr bwMode="auto">
          <a:xfrm>
            <a:off x="1268288" y="332656"/>
            <a:ext cx="7696200" cy="720725"/>
          </a:xfrm>
          <a:prstGeom prst="rect">
            <a:avLst/>
          </a:prstGeom>
          <a:noFill/>
          <a:ln w="9525">
            <a:noFill/>
            <a:miter lim="800000"/>
          </a:ln>
          <a:effectLst>
            <a:outerShdw dist="17961" dir="2700000" algn="ctr" rotWithShape="0">
              <a:schemeClr val="bg2"/>
            </a:outerShdw>
          </a:effectLst>
        </p:spPr>
        <p:txBody>
          <a:bodyPr lIns="92075" tIns="46038" rIns="92075" bIns="46038"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dirty="0">
                <a:ln>
                  <a:noFill/>
                </a:ln>
                <a:solidFill>
                  <a:schemeClr val="bg1"/>
                </a:solidFill>
                <a:effectLst/>
                <a:uLnTx/>
                <a:uFillTx/>
                <a:latin typeface="Arial" panose="020B0604020202020204" pitchFamily="34" charset="0"/>
                <a:ea typeface="黑体" panose="02010609060101010101" pitchFamily="49" charset="-122"/>
                <a:cs typeface="+mn-cs"/>
              </a:rPr>
              <a:t>时间片</a:t>
            </a:r>
            <a:r>
              <a:rPr kumimoji="1" lang="en-US" altLang="zh-CN" sz="3200" b="0" i="0" u="none" strike="noStrike" kern="1200" cap="none" spc="0" normalizeH="0" baseline="0" noProof="0" dirty="0">
                <a:ln>
                  <a:noFill/>
                </a:ln>
                <a:solidFill>
                  <a:schemeClr val="bg1"/>
                </a:solidFill>
                <a:effectLst/>
                <a:uLnTx/>
                <a:uFillTx/>
                <a:latin typeface="Arial" panose="020B0604020202020204" pitchFamily="34" charset="0"/>
                <a:ea typeface="黑体" panose="02010609060101010101" pitchFamily="49" charset="-122"/>
                <a:cs typeface="+mn-cs"/>
              </a:rPr>
              <a:t>ALOHA</a:t>
            </a:r>
            <a:r>
              <a:rPr kumimoji="1" lang="zh-CN" altLang="en-US" sz="3200" b="0" i="0" u="none" strike="noStrike" kern="1200" cap="none" spc="0" normalizeH="0" baseline="0" noProof="0" dirty="0">
                <a:ln>
                  <a:noFill/>
                </a:ln>
                <a:solidFill>
                  <a:schemeClr val="bg1"/>
                </a:solidFill>
                <a:effectLst/>
                <a:uLnTx/>
                <a:uFillTx/>
                <a:latin typeface="Arial" panose="020B0604020202020204" pitchFamily="34" charset="0"/>
                <a:ea typeface="黑体" panose="02010609060101010101" pitchFamily="49" charset="-122"/>
                <a:cs typeface="+mn-cs"/>
              </a:rPr>
              <a:t>协议的发送过程</a:t>
            </a:r>
          </a:p>
        </p:txBody>
      </p:sp>
      <p:sp>
        <p:nvSpPr>
          <p:cNvPr id="23555" name="Rectangle 9"/>
          <p:cNvSpPr/>
          <p:nvPr/>
        </p:nvSpPr>
        <p:spPr>
          <a:xfrm>
            <a:off x="0" y="0"/>
            <a:ext cx="9144000" cy="0"/>
          </a:xfrm>
          <a:prstGeom prst="rect">
            <a:avLst/>
          </a:prstGeom>
          <a:noFill/>
          <a:ln w="12700">
            <a:noFill/>
          </a:ln>
        </p:spPr>
        <p:txBody>
          <a:bodyPr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23556" name="Object 8"/>
          <p:cNvGraphicFramePr/>
          <p:nvPr/>
        </p:nvGraphicFramePr>
        <p:xfrm>
          <a:off x="539552" y="1844824"/>
          <a:ext cx="8424936" cy="3312368"/>
        </p:xfrm>
        <a:graphic>
          <a:graphicData uri="http://schemas.openxmlformats.org/presentationml/2006/ole">
            <mc:AlternateContent xmlns:mc="http://schemas.openxmlformats.org/markup-compatibility/2006">
              <mc:Choice xmlns:v="urn:schemas-microsoft-com:vml" Requires="v">
                <p:oleObj spid="_x0000_s90154" r:id="rId4" imgW="6175375" imgH="2315845" progId="Visio.Drawing.11">
                  <p:embed/>
                </p:oleObj>
              </mc:Choice>
              <mc:Fallback>
                <p:oleObj r:id="rId4" imgW="6175375" imgH="2315845" progId="Visio.Drawing.11">
                  <p:embed/>
                  <p:pic>
                    <p:nvPicPr>
                      <p:cNvPr id="0" name="Object 8"/>
                      <p:cNvPicPr/>
                      <p:nvPr/>
                    </p:nvPicPr>
                    <p:blipFill>
                      <a:blip r:embed="rId5"/>
                      <a:stretch>
                        <a:fillRect/>
                      </a:stretch>
                    </p:blipFill>
                    <p:spPr>
                      <a:xfrm>
                        <a:off x="539552" y="1844824"/>
                        <a:ext cx="8424936" cy="331236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587" y="260648"/>
            <a:ext cx="8890893" cy="740400"/>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dirty="0" smtClean="0">
                <a:ln>
                  <a:noFill/>
                </a:ln>
                <a:effectLst/>
                <a:uLnTx/>
                <a:uFillTx/>
                <a:latin typeface="+mj-lt"/>
                <a:ea typeface="+mj-ea"/>
                <a:cs typeface="+mj-cs"/>
              </a:rPr>
              <a:t>载波监听多路访问协议</a:t>
            </a:r>
            <a:r>
              <a:rPr kumimoji="1" lang="en-US" altLang="zh-CN" sz="3200" b="0" i="0" u="none" strike="noStrike" kern="0" cap="none" spc="0" normalizeH="0" baseline="0" noProof="0" dirty="0" smtClean="0">
                <a:ln>
                  <a:noFill/>
                </a:ln>
                <a:effectLst/>
                <a:uLnTx/>
                <a:uFillTx/>
                <a:latin typeface="+mj-lt"/>
                <a:ea typeface="+mj-ea"/>
                <a:cs typeface="+mj-cs"/>
              </a:rPr>
              <a:t>CSMA</a:t>
            </a:r>
            <a:endParaRPr kumimoji="1" lang="zh-CN" altLang="en-US" sz="3200" b="0" i="0" u="none" strike="noStrike" kern="0" cap="none" spc="0" normalizeH="0" baseline="0" noProof="0" dirty="0" smtClean="0">
              <a:ln>
                <a:noFill/>
              </a:ln>
              <a:effectLst/>
              <a:uLnTx/>
              <a:uFillTx/>
              <a:latin typeface="+mj-lt"/>
              <a:ea typeface="+mj-ea"/>
              <a:cs typeface="+mj-cs"/>
            </a:endParaRPr>
          </a:p>
        </p:txBody>
      </p:sp>
      <p:sp>
        <p:nvSpPr>
          <p:cNvPr id="16387" name="Rectangle 3"/>
          <p:cNvSpPr>
            <a:spLocks noGrp="1"/>
          </p:cNvSpPr>
          <p:nvPr>
            <p:ph idx="1"/>
          </p:nvPr>
        </p:nvSpPr>
        <p:spPr>
          <a:xfrm>
            <a:off x="827584" y="1484784"/>
            <a:ext cx="7702550" cy="4094708"/>
          </a:xfrm>
        </p:spPr>
        <p:txBody>
          <a:bodyPr vert="horz" wrap="square" lIns="91440" tIns="45720" rIns="91440" bIns="45720" anchor="t"/>
          <a:lstStyle/>
          <a:p>
            <a:pPr eaLnBrk="1" hangingPunct="1">
              <a:lnSpc>
                <a:spcPct val="90000"/>
              </a:lnSpc>
            </a:pPr>
            <a:r>
              <a:rPr lang="zh-CN" altLang="en-US" sz="2800" dirty="0">
                <a:latin typeface="黑体" panose="02010609060101010101" pitchFamily="49" charset="-122"/>
                <a:ea typeface="黑体" panose="02010609060101010101" pitchFamily="49" charset="-122"/>
              </a:rPr>
              <a:t>载波监听（</a:t>
            </a:r>
            <a:r>
              <a:rPr lang="en-US" altLang="zh-CN" sz="2800" dirty="0">
                <a:latin typeface="+mj-lt"/>
                <a:ea typeface="黑体" panose="02010609060101010101" pitchFamily="49" charset="-122"/>
              </a:rPr>
              <a:t>Carrier Sense</a:t>
            </a:r>
            <a:r>
              <a:rPr lang="zh-CN" altLang="en-US" sz="2800" dirty="0">
                <a:latin typeface="黑体" panose="02010609060101010101" pitchFamily="49" charset="-122"/>
                <a:ea typeface="黑体" panose="02010609060101010101" pitchFamily="49" charset="-122"/>
              </a:rPr>
              <a:t>）</a:t>
            </a:r>
          </a:p>
          <a:p>
            <a:pPr lvl="1" eaLnBrk="1" hangingPunct="1">
              <a:lnSpc>
                <a:spcPct val="120000"/>
              </a:lnSpc>
              <a:spcBef>
                <a:spcPts val="600"/>
              </a:spcBef>
              <a:spcAft>
                <a:spcPts val="600"/>
              </a:spcAft>
            </a:pPr>
            <a:r>
              <a:rPr lang="zh-CN" altLang="en-US" sz="2400" dirty="0"/>
              <a:t>站点在为发送帧而访问传输信道之前，首先</a:t>
            </a:r>
            <a:r>
              <a:rPr lang="zh-CN" altLang="en-US" sz="2400" dirty="0">
                <a:solidFill>
                  <a:srgbClr val="FF3300"/>
                </a:solidFill>
              </a:rPr>
              <a:t>监听信道</a:t>
            </a:r>
            <a:r>
              <a:rPr lang="zh-CN" altLang="en-US" sz="2400" dirty="0"/>
              <a:t>有无载波，若有载波，说明已有用户在使用信道，则不发送帧以避免冲突。</a:t>
            </a:r>
          </a:p>
          <a:p>
            <a:pPr eaLnBrk="1" hangingPunct="1">
              <a:lnSpc>
                <a:spcPct val="90000"/>
              </a:lnSpc>
            </a:pPr>
            <a:r>
              <a:rPr lang="zh-CN" altLang="en-US" sz="2800" dirty="0">
                <a:latin typeface="黑体" panose="02010609060101010101" pitchFamily="49" charset="-122"/>
                <a:ea typeface="黑体" panose="02010609060101010101" pitchFamily="49" charset="-122"/>
              </a:rPr>
              <a:t>多路访问（</a:t>
            </a:r>
            <a:r>
              <a:rPr lang="en-US" altLang="zh-CN" sz="2800" dirty="0">
                <a:latin typeface="+mj-lt"/>
                <a:ea typeface="黑体" panose="02010609060101010101" pitchFamily="49" charset="-122"/>
              </a:rPr>
              <a:t>Multiple Access</a:t>
            </a:r>
            <a:r>
              <a:rPr lang="zh-CN" altLang="en-US" sz="2800" dirty="0">
                <a:latin typeface="黑体" panose="02010609060101010101" pitchFamily="49" charset="-122"/>
                <a:ea typeface="黑体" panose="02010609060101010101" pitchFamily="49" charset="-122"/>
              </a:rPr>
              <a:t>）</a:t>
            </a:r>
          </a:p>
          <a:p>
            <a:pPr lvl="1" eaLnBrk="1" hangingPunct="1">
              <a:spcBef>
                <a:spcPts val="600"/>
              </a:spcBef>
              <a:spcAft>
                <a:spcPts val="600"/>
              </a:spcAft>
            </a:pPr>
            <a:r>
              <a:rPr lang="zh-CN" altLang="en-US" sz="2400" dirty="0"/>
              <a:t>多个用户共用一条信道</a:t>
            </a:r>
            <a:endParaRPr lang="en-US" altLang="zh-CN" sz="2400" dirty="0"/>
          </a:p>
          <a:p>
            <a:pPr eaLnBrk="1" hangingPunct="1">
              <a:lnSpc>
                <a:spcPct val="90000"/>
              </a:lnSpc>
            </a:pPr>
            <a:r>
              <a:rPr lang="zh-CN" altLang="en-US" sz="2800" dirty="0">
                <a:latin typeface="黑体" panose="02010609060101010101" pitchFamily="49" charset="-122"/>
                <a:ea typeface="黑体" panose="02010609060101010101" pitchFamily="49" charset="-122"/>
              </a:rPr>
              <a:t>载波侦听</a:t>
            </a:r>
            <a:r>
              <a:rPr lang="zh-CN" altLang="en-US" sz="2800" dirty="0" smtClean="0">
                <a:latin typeface="黑体" panose="02010609060101010101" pitchFamily="49" charset="-122"/>
                <a:ea typeface="黑体" panose="02010609060101010101" pitchFamily="49" charset="-122"/>
              </a:rPr>
              <a:t>多路访问</a:t>
            </a:r>
            <a:r>
              <a:rPr lang="en-US" altLang="zh-CN" sz="2800" dirty="0" smtClean="0">
                <a:latin typeface="+mj-lt"/>
                <a:ea typeface="黑体" panose="02010609060101010101" pitchFamily="49" charset="-122"/>
              </a:rPr>
              <a:t>CSMA</a:t>
            </a:r>
          </a:p>
          <a:p>
            <a:pPr lvl="1" eaLnBrk="1" hangingPunct="1">
              <a:spcBef>
                <a:spcPts val="1200"/>
              </a:spcBef>
            </a:pPr>
            <a:r>
              <a:rPr lang="zh-CN" altLang="en-US" sz="2400" dirty="0" smtClean="0">
                <a:latin typeface="+mj-lt"/>
                <a:ea typeface="黑体" panose="02010609060101010101" pitchFamily="49" charset="-122"/>
              </a:rPr>
              <a:t>（</a:t>
            </a:r>
            <a:r>
              <a:rPr lang="en-US" altLang="zh-CN" sz="2400" dirty="0">
                <a:latin typeface="+mj-lt"/>
                <a:ea typeface="黑体" panose="02010609060101010101" pitchFamily="49" charset="-122"/>
              </a:rPr>
              <a:t>Carrier Sense Multiple Access</a:t>
            </a:r>
            <a:r>
              <a:rPr lang="zh-CN" altLang="en-US" sz="2400" dirty="0" smtClean="0">
                <a:latin typeface="+mj-lt"/>
                <a:ea typeface="黑体" panose="02010609060101010101" pitchFamily="49" charset="-122"/>
              </a:rPr>
              <a:t>）</a:t>
            </a:r>
            <a:endParaRPr lang="zh-CN" altLang="en-US" sz="2400" dirty="0">
              <a:latin typeface="+mj-lt"/>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fade">
                                      <p:cBhvr>
                                        <p:cTn id="7" dur="1000"/>
                                        <p:tgtEl>
                                          <p:spTgt spid="16387">
                                            <p:txEl>
                                              <p:pRg st="0" end="0"/>
                                            </p:txEl>
                                          </p:spTgt>
                                        </p:tgtEl>
                                      </p:cBhvr>
                                    </p:animEffect>
                                    <p:anim calcmode="lin" valueType="num">
                                      <p:cBhvr>
                                        <p:cTn id="8" dur="10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38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fade">
                                      <p:cBhvr>
                                        <p:cTn id="12" dur="1000"/>
                                        <p:tgtEl>
                                          <p:spTgt spid="16387">
                                            <p:txEl>
                                              <p:pRg st="1" end="1"/>
                                            </p:txEl>
                                          </p:spTgt>
                                        </p:tgtEl>
                                      </p:cBhvr>
                                    </p:animEffect>
                                    <p:anim calcmode="lin" valueType="num">
                                      <p:cBhvr>
                                        <p:cTn id="13" dur="10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3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Effect transition="in" filter="fade">
                                      <p:cBhvr>
                                        <p:cTn id="19" dur="1000"/>
                                        <p:tgtEl>
                                          <p:spTgt spid="16387">
                                            <p:txEl>
                                              <p:pRg st="2" end="2"/>
                                            </p:txEl>
                                          </p:spTgt>
                                        </p:tgtEl>
                                      </p:cBhvr>
                                    </p:animEffect>
                                    <p:anim calcmode="lin" valueType="num">
                                      <p:cBhvr>
                                        <p:cTn id="20" dur="10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638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387">
                                            <p:txEl>
                                              <p:pRg st="3" end="3"/>
                                            </p:txEl>
                                          </p:spTgt>
                                        </p:tgtEl>
                                        <p:attrNameLst>
                                          <p:attrName>style.visibility</p:attrName>
                                        </p:attrNameLst>
                                      </p:cBhvr>
                                      <p:to>
                                        <p:strVal val="visible"/>
                                      </p:to>
                                    </p:set>
                                    <p:animEffect transition="in" filter="fade">
                                      <p:cBhvr>
                                        <p:cTn id="24" dur="1000"/>
                                        <p:tgtEl>
                                          <p:spTgt spid="16387">
                                            <p:txEl>
                                              <p:pRg st="3" end="3"/>
                                            </p:txEl>
                                          </p:spTgt>
                                        </p:tgtEl>
                                      </p:cBhvr>
                                    </p:animEffect>
                                    <p:anim calcmode="lin" valueType="num">
                                      <p:cBhvr>
                                        <p:cTn id="25" dur="10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63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6387">
                                            <p:txEl>
                                              <p:pRg st="4" end="4"/>
                                            </p:txEl>
                                          </p:spTgt>
                                        </p:tgtEl>
                                        <p:attrNameLst>
                                          <p:attrName>style.visibility</p:attrName>
                                        </p:attrNameLst>
                                      </p:cBhvr>
                                      <p:to>
                                        <p:strVal val="visible"/>
                                      </p:to>
                                    </p:set>
                                    <p:animEffect transition="in" filter="fade">
                                      <p:cBhvr>
                                        <p:cTn id="31" dur="1000"/>
                                        <p:tgtEl>
                                          <p:spTgt spid="16387">
                                            <p:txEl>
                                              <p:pRg st="4" end="4"/>
                                            </p:txEl>
                                          </p:spTgt>
                                        </p:tgtEl>
                                      </p:cBhvr>
                                    </p:animEffect>
                                    <p:anim calcmode="lin" valueType="num">
                                      <p:cBhvr>
                                        <p:cTn id="32" dur="10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6387">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6387">
                                            <p:txEl>
                                              <p:pRg st="5" end="5"/>
                                            </p:txEl>
                                          </p:spTgt>
                                        </p:tgtEl>
                                        <p:attrNameLst>
                                          <p:attrName>style.visibility</p:attrName>
                                        </p:attrNameLst>
                                      </p:cBhvr>
                                      <p:to>
                                        <p:strVal val="visible"/>
                                      </p:to>
                                    </p:set>
                                    <p:animEffect transition="in" filter="fade">
                                      <p:cBhvr>
                                        <p:cTn id="36" dur="1000"/>
                                        <p:tgtEl>
                                          <p:spTgt spid="16387">
                                            <p:txEl>
                                              <p:pRg st="5" end="5"/>
                                            </p:txEl>
                                          </p:spTgt>
                                        </p:tgtEl>
                                      </p:cBhvr>
                                    </p:animEffect>
                                    <p:anim calcmode="lin" valueType="num">
                                      <p:cBhvr>
                                        <p:cTn id="37" dur="10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1638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 y="332656"/>
            <a:ext cx="8820472" cy="685800"/>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b="0" i="0" u="none" strike="noStrike" kern="0" cap="none" spc="0" normalizeH="0" baseline="0" noProof="0" dirty="0" smtClean="0">
                <a:ln>
                  <a:noFill/>
                </a:ln>
                <a:effectLst/>
                <a:uLnTx/>
                <a:uFillTx/>
                <a:latin typeface="+mj-lt"/>
                <a:ea typeface="+mj-ea"/>
                <a:cs typeface="+mj-cs"/>
              </a:rPr>
              <a:t>1-</a:t>
            </a:r>
            <a:r>
              <a:rPr kumimoji="1" lang="zh-CN" altLang="en-US" b="0" i="0" u="none" strike="noStrike" kern="0" cap="none" spc="0" normalizeH="0" baseline="0" noProof="0" dirty="0" smtClean="0">
                <a:ln>
                  <a:noFill/>
                </a:ln>
                <a:effectLst/>
                <a:uLnTx/>
                <a:uFillTx/>
                <a:latin typeface="+mj-lt"/>
                <a:ea typeface="+mj-ea"/>
                <a:cs typeface="+mj-cs"/>
              </a:rPr>
              <a:t>坚持式</a:t>
            </a:r>
            <a:r>
              <a:rPr kumimoji="1" lang="en-US" altLang="zh-CN" b="0" i="0" u="none" strike="noStrike" kern="0" cap="none" spc="0" normalizeH="0" baseline="0" noProof="0" dirty="0" smtClean="0">
                <a:ln>
                  <a:noFill/>
                </a:ln>
                <a:effectLst/>
                <a:uLnTx/>
                <a:uFillTx/>
                <a:latin typeface="+mj-lt"/>
                <a:ea typeface="+mj-ea"/>
                <a:cs typeface="+mj-cs"/>
              </a:rPr>
              <a:t>CSMA</a:t>
            </a:r>
            <a:endParaRPr kumimoji="1" lang="zh-CN" altLang="en-US" b="0" i="0" u="none" strike="noStrike" kern="0" cap="none" spc="0" normalizeH="0" baseline="0" noProof="0" dirty="0" smtClean="0">
              <a:ln>
                <a:noFill/>
              </a:ln>
              <a:effectLst/>
              <a:uLnTx/>
              <a:uFillTx/>
              <a:latin typeface="+mj-lt"/>
              <a:ea typeface="+mj-ea"/>
              <a:cs typeface="+mj-cs"/>
            </a:endParaRPr>
          </a:p>
        </p:txBody>
      </p:sp>
      <p:sp>
        <p:nvSpPr>
          <p:cNvPr id="16387" name="Rectangle 3"/>
          <p:cNvSpPr>
            <a:spLocks noGrp="1"/>
          </p:cNvSpPr>
          <p:nvPr>
            <p:ph idx="1"/>
          </p:nvPr>
        </p:nvSpPr>
        <p:spPr>
          <a:xfrm>
            <a:off x="1043608" y="1340768"/>
            <a:ext cx="7491413" cy="5167313"/>
          </a:xfrm>
        </p:spPr>
        <p:txBody>
          <a:bodyPr vert="horz" wrap="square" lIns="91440" tIns="45720" rIns="91440" bIns="45720" anchor="t"/>
          <a:lstStyle/>
          <a:p>
            <a:pPr marL="342900" marR="0" indent="-342900" algn="l" defTabSz="914400" rtl="0" eaLnBrk="1" fontAlgn="base" latinLnBrk="0" hangingPunct="1">
              <a:spcBef>
                <a:spcPct val="20000"/>
              </a:spcBef>
              <a:spcAft>
                <a:spcPct val="0"/>
              </a:spcAft>
              <a:buClr>
                <a:srgbClr val="3366FF"/>
              </a:buClr>
              <a:buSzTx/>
              <a:buFont typeface="Wingdings" panose="05000000000000000000" pitchFamily="2" charset="2"/>
              <a:buChar char="l"/>
            </a:pPr>
            <a:r>
              <a:rPr kumimoji="1" lang="zh-CN" altLang="en-US" sz="2800" b="1" i="0" u="none" strike="noStrike" kern="0" cap="none" spc="0" normalizeH="0" baseline="0" noProof="1" smtClean="0">
                <a:solidFill>
                  <a:schemeClr val="bg2"/>
                </a:solidFill>
                <a:latin typeface="+mj-ea"/>
                <a:ea typeface="+mj-ea"/>
                <a:cs typeface="+mn-cs"/>
              </a:rPr>
              <a:t>工作流程</a:t>
            </a:r>
            <a:endParaRPr kumimoji="1" lang="zh-CN" altLang="en-US" sz="2800" b="1" i="0" u="none" strike="noStrike" kern="0" cap="none" spc="0" normalizeH="0" baseline="0" noProof="1">
              <a:solidFill>
                <a:schemeClr val="bg2"/>
              </a:solidFill>
              <a:latin typeface="+mj-ea"/>
              <a:ea typeface="+mj-ea"/>
              <a:cs typeface="+mn-cs"/>
            </a:endParaRPr>
          </a:p>
          <a:p>
            <a:pPr marL="742950" marR="0" lvl="1" indent="-285750" algn="l" defTabSz="914400" rtl="0" eaLnBrk="1" fontAlgn="base" latinLnBrk="0" hangingPunct="1">
              <a:spcBef>
                <a:spcPct val="20000"/>
              </a:spcBef>
              <a:spcAft>
                <a:spcPct val="0"/>
              </a:spcAft>
              <a:buClr>
                <a:srgbClr val="003399"/>
              </a:buClr>
              <a:buSzTx/>
              <a:buFont typeface="Wingdings" panose="05000000000000000000" pitchFamily="2" charset="2"/>
              <a:buChar char="ü"/>
            </a:pPr>
            <a:r>
              <a:rPr kumimoji="1" lang="zh-CN" altLang="en-US" sz="2400" b="1" i="0" u="none" strike="noStrike" kern="0" cap="none" spc="0" normalizeH="0" baseline="0" noProof="1" smtClean="0">
                <a:solidFill>
                  <a:srgbClr val="003399"/>
                </a:solidFill>
                <a:latin typeface="+mn-ea"/>
                <a:cs typeface="+mn-ea"/>
              </a:rPr>
              <a:t>若节点</a:t>
            </a:r>
            <a:r>
              <a:rPr kumimoji="1" lang="zh-CN" altLang="en-US" sz="2400" b="1" i="0" u="none" strike="noStrike" kern="0" cap="none" spc="0" normalizeH="0" baseline="0" noProof="1">
                <a:solidFill>
                  <a:srgbClr val="003399"/>
                </a:solidFill>
                <a:latin typeface="+mn-ea"/>
                <a:cs typeface="+mn-ea"/>
              </a:rPr>
              <a:t>有数据发送，先</a:t>
            </a:r>
            <a:r>
              <a:rPr kumimoji="1" lang="zh-CN" altLang="en-US" sz="2400" b="1" i="0" u="none" strike="noStrike" kern="0" cap="none" spc="0" normalizeH="0" baseline="0" noProof="1">
                <a:solidFill>
                  <a:srgbClr val="FF3300"/>
                </a:solidFill>
                <a:latin typeface="+mn-ea"/>
                <a:cs typeface="+mn-ea"/>
              </a:rPr>
              <a:t>监听信道</a:t>
            </a:r>
            <a:r>
              <a:rPr kumimoji="1" lang="zh-CN" altLang="en-US" sz="2400" b="1" i="0" u="none" strike="noStrike" kern="0" cap="none" spc="0" normalizeH="0" baseline="0" noProof="1">
                <a:solidFill>
                  <a:srgbClr val="003399"/>
                </a:solidFill>
                <a:latin typeface="+mn-ea"/>
                <a:cs typeface="+mn-ea"/>
              </a:rPr>
              <a:t>；</a:t>
            </a:r>
          </a:p>
          <a:p>
            <a:pPr marL="742950" marR="0" lvl="1" indent="-285750" algn="l" defTabSz="914400" rtl="0" eaLnBrk="1" fontAlgn="base" latinLnBrk="0" hangingPunct="1">
              <a:spcBef>
                <a:spcPct val="20000"/>
              </a:spcBef>
              <a:spcAft>
                <a:spcPct val="0"/>
              </a:spcAft>
              <a:buClr>
                <a:srgbClr val="003399"/>
              </a:buClr>
              <a:buSzTx/>
              <a:buFont typeface="Wingdings" panose="05000000000000000000" pitchFamily="2" charset="2"/>
              <a:buChar char="ü"/>
            </a:pPr>
            <a:r>
              <a:rPr kumimoji="1" lang="zh-CN" altLang="en-US" sz="2400" b="1" i="0" u="none" strike="noStrike" kern="0" cap="none" spc="0" normalizeH="0" baseline="0" noProof="1" smtClean="0">
                <a:solidFill>
                  <a:srgbClr val="003399"/>
                </a:solidFill>
                <a:latin typeface="+mn-ea"/>
                <a:cs typeface="+mn-ea"/>
              </a:rPr>
              <a:t>若节点</a:t>
            </a:r>
            <a:r>
              <a:rPr kumimoji="1" lang="zh-CN" altLang="en-US" sz="2400" b="1" i="0" u="none" strike="noStrike" kern="0" cap="none" spc="0" normalizeH="0" baseline="0" noProof="1">
                <a:solidFill>
                  <a:srgbClr val="003399"/>
                </a:solidFill>
                <a:latin typeface="+mn-ea"/>
                <a:cs typeface="+mn-ea"/>
              </a:rPr>
              <a:t>发现</a:t>
            </a:r>
            <a:r>
              <a:rPr kumimoji="1" lang="zh-CN" altLang="en-US" sz="2400" b="1" i="0" u="none" strike="noStrike" kern="0" cap="none" spc="0" normalizeH="0" baseline="0" noProof="1">
                <a:solidFill>
                  <a:srgbClr val="FF3300"/>
                </a:solidFill>
                <a:latin typeface="+mn-ea"/>
                <a:cs typeface="+mn-ea"/>
              </a:rPr>
              <a:t>信道空闲</a:t>
            </a:r>
            <a:r>
              <a:rPr kumimoji="1" lang="zh-CN" altLang="en-US" sz="2400" b="1" i="0" u="none" strike="noStrike" kern="0" cap="none" spc="0" normalizeH="0" baseline="0" noProof="1">
                <a:solidFill>
                  <a:srgbClr val="003399"/>
                </a:solidFill>
                <a:latin typeface="+mn-ea"/>
                <a:cs typeface="+mn-ea"/>
              </a:rPr>
              <a:t>，则</a:t>
            </a:r>
            <a:r>
              <a:rPr kumimoji="1" lang="zh-CN" altLang="en-US" sz="2400" b="1" i="0" u="none" strike="noStrike" kern="0" cap="none" spc="0" normalizeH="0" baseline="0" noProof="1" smtClean="0">
                <a:solidFill>
                  <a:schemeClr val="hlink"/>
                </a:solidFill>
                <a:latin typeface="+mn-ea"/>
                <a:cs typeface="+mn-ea"/>
              </a:rPr>
              <a:t>发送数据</a:t>
            </a:r>
            <a:r>
              <a:rPr kumimoji="1" lang="zh-CN" altLang="en-US" sz="2400" b="1" i="0" u="none" strike="noStrike" kern="0" cap="none" spc="0" normalizeH="0" baseline="0" noProof="1" smtClean="0">
                <a:solidFill>
                  <a:srgbClr val="003399"/>
                </a:solidFill>
                <a:latin typeface="+mn-ea"/>
                <a:cs typeface="+mn-ea"/>
              </a:rPr>
              <a:t>；</a:t>
            </a:r>
            <a:endParaRPr kumimoji="1" lang="zh-CN" altLang="en-US" sz="2400" b="1" i="0" u="none" strike="noStrike" kern="0" cap="none" spc="0" normalizeH="0" baseline="0" noProof="1">
              <a:solidFill>
                <a:srgbClr val="003399"/>
              </a:solidFill>
              <a:latin typeface="+mn-ea"/>
              <a:cs typeface="+mn-ea"/>
            </a:endParaRPr>
          </a:p>
          <a:p>
            <a:pPr marL="742950" marR="0" lvl="1" indent="-285750" algn="l" defTabSz="914400" rtl="0" eaLnBrk="1" fontAlgn="base" latinLnBrk="0" hangingPunct="1">
              <a:spcBef>
                <a:spcPct val="20000"/>
              </a:spcBef>
              <a:spcAft>
                <a:spcPct val="0"/>
              </a:spcAft>
              <a:buClr>
                <a:srgbClr val="003399"/>
              </a:buClr>
              <a:buSzTx/>
              <a:buFont typeface="Wingdings" panose="05000000000000000000" pitchFamily="2" charset="2"/>
              <a:buChar char="ü"/>
            </a:pPr>
            <a:r>
              <a:rPr kumimoji="1" lang="zh-CN" altLang="en-US" sz="2400" b="1" i="0" u="none" strike="noStrike" kern="0" cap="none" spc="0" normalizeH="0" baseline="0" noProof="1">
                <a:solidFill>
                  <a:srgbClr val="003399"/>
                </a:solidFill>
                <a:latin typeface="+mn-ea"/>
                <a:cs typeface="+mn-ea"/>
              </a:rPr>
              <a:t>若信道忙，则</a:t>
            </a:r>
            <a:r>
              <a:rPr kumimoji="1" lang="zh-CN" altLang="en-US" sz="2400" b="1" i="0" u="none" strike="noStrike" kern="0" cap="none" spc="0" normalizeH="0" baseline="0" noProof="1">
                <a:solidFill>
                  <a:srgbClr val="FF3300"/>
                </a:solidFill>
                <a:latin typeface="+mn-ea"/>
                <a:cs typeface="+mn-ea"/>
              </a:rPr>
              <a:t>继续监听</a:t>
            </a:r>
            <a:r>
              <a:rPr kumimoji="1" lang="zh-CN" altLang="en-US" sz="2400" b="1" i="0" u="none" strike="noStrike" kern="0" cap="none" spc="0" normalizeH="0" baseline="0" noProof="1">
                <a:solidFill>
                  <a:srgbClr val="003399"/>
                </a:solidFill>
                <a:latin typeface="+mn-ea"/>
                <a:cs typeface="+mn-ea"/>
              </a:rPr>
              <a:t>直至发现</a:t>
            </a:r>
            <a:r>
              <a:rPr kumimoji="1" lang="zh-CN" altLang="en-US" sz="2400" b="1" i="0" u="none" strike="noStrike" kern="0" cap="none" spc="0" normalizeH="0" baseline="0" noProof="1" smtClean="0">
                <a:solidFill>
                  <a:srgbClr val="003399"/>
                </a:solidFill>
                <a:latin typeface="+mn-ea"/>
                <a:cs typeface="+mn-ea"/>
              </a:rPr>
              <a:t>信道变成空闲</a:t>
            </a:r>
            <a:r>
              <a:rPr kumimoji="1" lang="zh-CN" altLang="en-US" sz="2400" b="1" i="0" u="none" strike="noStrike" kern="0" cap="none" spc="0" normalizeH="0" baseline="0" noProof="1">
                <a:solidFill>
                  <a:srgbClr val="003399"/>
                </a:solidFill>
                <a:latin typeface="+mn-ea"/>
                <a:cs typeface="+mn-ea"/>
              </a:rPr>
              <a:t>，然后</a:t>
            </a:r>
            <a:r>
              <a:rPr kumimoji="1" lang="zh-CN" altLang="en-US" sz="2400" b="1" i="0" u="none" strike="noStrike" kern="0" cap="none" spc="0" normalizeH="0" baseline="0" noProof="1" smtClean="0">
                <a:solidFill>
                  <a:srgbClr val="003399"/>
                </a:solidFill>
                <a:latin typeface="+mn-ea"/>
                <a:cs typeface="+mn-ea"/>
              </a:rPr>
              <a:t>完成数据发送</a:t>
            </a:r>
            <a:r>
              <a:rPr kumimoji="1" lang="zh-CN" altLang="en-US" sz="2400" b="1" i="0" u="none" strike="noStrike" kern="0" cap="none" spc="0" normalizeH="0" baseline="0" noProof="1">
                <a:solidFill>
                  <a:srgbClr val="003399"/>
                </a:solidFill>
                <a:latin typeface="+mn-ea"/>
                <a:cs typeface="+mn-ea"/>
              </a:rPr>
              <a:t>；</a:t>
            </a:r>
          </a:p>
          <a:p>
            <a:pPr lvl="0" eaLnBrk="1" hangingPunct="1"/>
            <a:r>
              <a:rPr lang="zh-CN" altLang="en-US" sz="2800" kern="0" noProof="1" smtClean="0">
                <a:latin typeface="+mj-ea"/>
                <a:ea typeface="+mj-ea"/>
                <a:sym typeface="+mn-ea"/>
              </a:rPr>
              <a:t>性能</a:t>
            </a:r>
            <a:r>
              <a:rPr lang="zh-CN" altLang="en-US" sz="2800" kern="0" noProof="1">
                <a:latin typeface="+mj-ea"/>
                <a:ea typeface="+mj-ea"/>
                <a:sym typeface="+mn-ea"/>
              </a:rPr>
              <a:t>特点</a:t>
            </a:r>
            <a:endParaRPr lang="zh-CN" altLang="en-US" sz="2800" kern="0" noProof="1">
              <a:latin typeface="+mj-ea"/>
              <a:ea typeface="+mj-ea"/>
            </a:endParaRPr>
          </a:p>
          <a:p>
            <a:pPr marL="742950" marR="0" lvl="1" indent="-285750" algn="l" defTabSz="914400" rtl="0" eaLnBrk="1" fontAlgn="base" latinLnBrk="0" hangingPunct="1">
              <a:spcBef>
                <a:spcPct val="20000"/>
              </a:spcBef>
              <a:spcAft>
                <a:spcPct val="0"/>
              </a:spcAft>
              <a:buClr>
                <a:srgbClr val="003399"/>
              </a:buClr>
              <a:buSzTx/>
              <a:buFont typeface="Wingdings" panose="05000000000000000000" pitchFamily="2" charset="2"/>
              <a:buChar char="ü"/>
            </a:pPr>
            <a:r>
              <a:rPr kumimoji="1" lang="zh-CN" altLang="en-US" sz="2325" b="1" i="0" u="none" strike="noStrike" kern="0" cap="none" spc="0" normalizeH="0" baseline="0" noProof="1">
                <a:solidFill>
                  <a:srgbClr val="C00000"/>
                </a:solidFill>
                <a:latin typeface="+mn-lt"/>
                <a:ea typeface="+mn-ea"/>
                <a:cs typeface="+mn-ea"/>
                <a:sym typeface="+mn-ea"/>
              </a:rPr>
              <a:t>优点：</a:t>
            </a:r>
            <a:r>
              <a:rPr kumimoji="1" lang="zh-CN" altLang="en-US" sz="2325" b="1" i="0" u="none" strike="noStrike" kern="0" cap="none" spc="0" normalizeH="0" baseline="0" noProof="1">
                <a:solidFill>
                  <a:srgbClr val="003399"/>
                </a:solidFill>
                <a:latin typeface="+mn-lt"/>
                <a:ea typeface="+mn-ea"/>
                <a:cs typeface="+mn-ea"/>
                <a:sym typeface="+mn-ea"/>
              </a:rPr>
              <a:t>减少了信道空闲时间；</a:t>
            </a:r>
            <a:endParaRPr kumimoji="1" lang="zh-CN" altLang="en-US" sz="2325" b="1" i="0" u="none" strike="noStrike" kern="0" cap="none" spc="0" normalizeH="0" baseline="0" noProof="1">
              <a:solidFill>
                <a:srgbClr val="003399"/>
              </a:solidFill>
              <a:latin typeface="+mn-lt"/>
              <a:ea typeface="+mn-ea"/>
              <a:cs typeface="+mn-ea"/>
            </a:endParaRPr>
          </a:p>
          <a:p>
            <a:pPr marL="742950" marR="0" lvl="1" indent="-285750" algn="l" defTabSz="914400" rtl="0" eaLnBrk="1" fontAlgn="base" latinLnBrk="0" hangingPunct="1">
              <a:spcBef>
                <a:spcPct val="20000"/>
              </a:spcBef>
              <a:spcAft>
                <a:spcPct val="0"/>
              </a:spcAft>
              <a:buClr>
                <a:srgbClr val="003399"/>
              </a:buClr>
              <a:buSzTx/>
              <a:buFont typeface="Wingdings" panose="05000000000000000000" pitchFamily="2" charset="2"/>
              <a:buChar char="ü"/>
            </a:pPr>
            <a:r>
              <a:rPr kumimoji="1" lang="zh-CN" altLang="en-US" sz="2325" b="1" i="0" u="none" strike="noStrike" kern="0" cap="none" spc="0" normalizeH="0" baseline="0" noProof="1">
                <a:solidFill>
                  <a:srgbClr val="C00000"/>
                </a:solidFill>
                <a:latin typeface="+mn-lt"/>
                <a:ea typeface="+mn-ea"/>
                <a:cs typeface="+mn-ea"/>
                <a:sym typeface="+mn-ea"/>
              </a:rPr>
              <a:t>缺点</a:t>
            </a:r>
            <a:r>
              <a:rPr kumimoji="1" lang="zh-CN" altLang="en-US" sz="2325" b="1" i="0" u="none" strike="noStrike" kern="0" cap="none" spc="0" normalizeH="0" baseline="0" noProof="1">
                <a:solidFill>
                  <a:srgbClr val="800000"/>
                </a:solidFill>
                <a:latin typeface="+mn-lt"/>
                <a:ea typeface="+mn-ea"/>
                <a:cs typeface="+mn-ea"/>
                <a:sym typeface="+mn-ea"/>
              </a:rPr>
              <a:t>：</a:t>
            </a:r>
            <a:r>
              <a:rPr kumimoji="1" lang="zh-CN" altLang="en-US" sz="2325" b="1" i="0" u="none" strike="noStrike" kern="0" cap="none" spc="0" normalizeH="0" baseline="0" noProof="1">
                <a:solidFill>
                  <a:srgbClr val="003399"/>
                </a:solidFill>
                <a:latin typeface="+mn-lt"/>
                <a:ea typeface="+mn-ea"/>
                <a:cs typeface="+mn-ea"/>
                <a:sym typeface="+mn-ea"/>
              </a:rPr>
              <a:t>增加了发生冲突的概率；</a:t>
            </a:r>
            <a:endParaRPr kumimoji="1" lang="zh-CN" altLang="en-US" sz="2325" b="1" i="0" u="none" strike="noStrike" kern="0" cap="none" spc="0" normalizeH="0" baseline="0" noProof="1">
              <a:solidFill>
                <a:srgbClr val="003399"/>
              </a:solidFill>
              <a:latin typeface="+mn-lt"/>
              <a:ea typeface="+mn-ea"/>
              <a:cs typeface="+mn-ea"/>
            </a:endParaRPr>
          </a:p>
          <a:p>
            <a:pPr marL="742950" marR="0" lvl="1" indent="-285750" algn="l" defTabSz="914400" rtl="0" eaLnBrk="1" fontAlgn="base" latinLnBrk="0" hangingPunct="1">
              <a:spcBef>
                <a:spcPct val="20000"/>
              </a:spcBef>
              <a:spcAft>
                <a:spcPct val="0"/>
              </a:spcAft>
              <a:buClr>
                <a:srgbClr val="003399"/>
              </a:buClr>
              <a:buSzTx/>
              <a:buFont typeface="Wingdings" panose="05000000000000000000" pitchFamily="2" charset="2"/>
              <a:buChar char="ü"/>
            </a:pPr>
            <a:r>
              <a:rPr kumimoji="1" lang="zh-CN" altLang="en-US" sz="2325" b="1" i="0" u="none" strike="noStrike" kern="0" cap="none" spc="0" normalizeH="0" baseline="0" noProof="1">
                <a:solidFill>
                  <a:srgbClr val="003399"/>
                </a:solidFill>
                <a:latin typeface="+mn-lt"/>
                <a:ea typeface="+mn-ea"/>
                <a:cs typeface="+mn-ea"/>
                <a:sym typeface="+mn-ea"/>
              </a:rPr>
              <a:t>广播延迟对协议性能的影响：广播延迟越大，发生冲突的可能性越大，协议性能越差；</a:t>
            </a:r>
            <a:endParaRPr kumimoji="1" lang="zh-CN" altLang="en-US" sz="2330" b="1" i="0" u="none" strike="noStrike" kern="0" cap="none" spc="0" normalizeH="0" baseline="0" noProof="1">
              <a:solidFill>
                <a:srgbClr val="003399"/>
              </a:solidFill>
              <a:latin typeface="+mn-lt"/>
              <a:ea typeface="楷体_GB2312" pitchFamily="49"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fade">
                                      <p:cBhvr>
                                        <p:cTn id="7" dur="1000"/>
                                        <p:tgtEl>
                                          <p:spTgt spid="16387">
                                            <p:txEl>
                                              <p:pRg st="0" end="0"/>
                                            </p:txEl>
                                          </p:spTgt>
                                        </p:tgtEl>
                                      </p:cBhvr>
                                    </p:animEffect>
                                    <p:anim calcmode="lin" valueType="num">
                                      <p:cBhvr>
                                        <p:cTn id="8" dur="10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38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fade">
                                      <p:cBhvr>
                                        <p:cTn id="12" dur="1000"/>
                                        <p:tgtEl>
                                          <p:spTgt spid="16387">
                                            <p:txEl>
                                              <p:pRg st="1" end="1"/>
                                            </p:txEl>
                                          </p:spTgt>
                                        </p:tgtEl>
                                      </p:cBhvr>
                                    </p:animEffect>
                                    <p:anim calcmode="lin" valueType="num">
                                      <p:cBhvr>
                                        <p:cTn id="13" dur="10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38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fade">
                                      <p:cBhvr>
                                        <p:cTn id="17" dur="1000"/>
                                        <p:tgtEl>
                                          <p:spTgt spid="16387">
                                            <p:txEl>
                                              <p:pRg st="2" end="2"/>
                                            </p:txEl>
                                          </p:spTgt>
                                        </p:tgtEl>
                                      </p:cBhvr>
                                    </p:animEffect>
                                    <p:anim calcmode="lin" valueType="num">
                                      <p:cBhvr>
                                        <p:cTn id="18" dur="10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638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387">
                                            <p:txEl>
                                              <p:pRg st="3" end="3"/>
                                            </p:txEl>
                                          </p:spTgt>
                                        </p:tgtEl>
                                        <p:attrNameLst>
                                          <p:attrName>style.visibility</p:attrName>
                                        </p:attrNameLst>
                                      </p:cBhvr>
                                      <p:to>
                                        <p:strVal val="visible"/>
                                      </p:to>
                                    </p:set>
                                    <p:animEffect transition="in" filter="fade">
                                      <p:cBhvr>
                                        <p:cTn id="22" dur="1000"/>
                                        <p:tgtEl>
                                          <p:spTgt spid="16387">
                                            <p:txEl>
                                              <p:pRg st="3" end="3"/>
                                            </p:txEl>
                                          </p:spTgt>
                                        </p:tgtEl>
                                      </p:cBhvr>
                                    </p:animEffect>
                                    <p:anim calcmode="lin" valueType="num">
                                      <p:cBhvr>
                                        <p:cTn id="23" dur="10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63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6387">
                                            <p:txEl>
                                              <p:pRg st="4" end="4"/>
                                            </p:txEl>
                                          </p:spTgt>
                                        </p:tgtEl>
                                        <p:attrNameLst>
                                          <p:attrName>style.visibility</p:attrName>
                                        </p:attrNameLst>
                                      </p:cBhvr>
                                      <p:to>
                                        <p:strVal val="visible"/>
                                      </p:to>
                                    </p:set>
                                    <p:animEffect transition="in" filter="fade">
                                      <p:cBhvr>
                                        <p:cTn id="29" dur="1000"/>
                                        <p:tgtEl>
                                          <p:spTgt spid="16387">
                                            <p:txEl>
                                              <p:pRg st="4" end="4"/>
                                            </p:txEl>
                                          </p:spTgt>
                                        </p:tgtEl>
                                      </p:cBhvr>
                                    </p:animEffect>
                                    <p:anim calcmode="lin" valueType="num">
                                      <p:cBhvr>
                                        <p:cTn id="30" dur="10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6387">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6387">
                                            <p:txEl>
                                              <p:pRg st="5" end="5"/>
                                            </p:txEl>
                                          </p:spTgt>
                                        </p:tgtEl>
                                        <p:attrNameLst>
                                          <p:attrName>style.visibility</p:attrName>
                                        </p:attrNameLst>
                                      </p:cBhvr>
                                      <p:to>
                                        <p:strVal val="visible"/>
                                      </p:to>
                                    </p:set>
                                    <p:animEffect transition="in" filter="fade">
                                      <p:cBhvr>
                                        <p:cTn id="34" dur="1000"/>
                                        <p:tgtEl>
                                          <p:spTgt spid="16387">
                                            <p:txEl>
                                              <p:pRg st="5" end="5"/>
                                            </p:txEl>
                                          </p:spTgt>
                                        </p:tgtEl>
                                      </p:cBhvr>
                                    </p:animEffect>
                                    <p:anim calcmode="lin" valueType="num">
                                      <p:cBhvr>
                                        <p:cTn id="35" dur="10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16387">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6387">
                                            <p:txEl>
                                              <p:pRg st="6" end="6"/>
                                            </p:txEl>
                                          </p:spTgt>
                                        </p:tgtEl>
                                        <p:attrNameLst>
                                          <p:attrName>style.visibility</p:attrName>
                                        </p:attrNameLst>
                                      </p:cBhvr>
                                      <p:to>
                                        <p:strVal val="visible"/>
                                      </p:to>
                                    </p:set>
                                    <p:animEffect transition="in" filter="fade">
                                      <p:cBhvr>
                                        <p:cTn id="39" dur="1000"/>
                                        <p:tgtEl>
                                          <p:spTgt spid="16387">
                                            <p:txEl>
                                              <p:pRg st="6" end="6"/>
                                            </p:txEl>
                                          </p:spTgt>
                                        </p:tgtEl>
                                      </p:cBhvr>
                                    </p:animEffect>
                                    <p:anim calcmode="lin" valueType="num">
                                      <p:cBhvr>
                                        <p:cTn id="40" dur="1000" fill="hold"/>
                                        <p:tgtEl>
                                          <p:spTgt spid="16387">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16387">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6387">
                                            <p:txEl>
                                              <p:pRg st="7" end="7"/>
                                            </p:txEl>
                                          </p:spTgt>
                                        </p:tgtEl>
                                        <p:attrNameLst>
                                          <p:attrName>style.visibility</p:attrName>
                                        </p:attrNameLst>
                                      </p:cBhvr>
                                      <p:to>
                                        <p:strVal val="visible"/>
                                      </p:to>
                                    </p:set>
                                    <p:animEffect transition="in" filter="fade">
                                      <p:cBhvr>
                                        <p:cTn id="44" dur="1000"/>
                                        <p:tgtEl>
                                          <p:spTgt spid="16387">
                                            <p:txEl>
                                              <p:pRg st="7" end="7"/>
                                            </p:txEl>
                                          </p:spTgt>
                                        </p:tgtEl>
                                      </p:cBhvr>
                                    </p:animEffect>
                                    <p:anim calcmode="lin" valueType="num">
                                      <p:cBhvr>
                                        <p:cTn id="45" dur="1000" fill="hold"/>
                                        <p:tgtEl>
                                          <p:spTgt spid="16387">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1638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51520" y="332656"/>
            <a:ext cx="8674992" cy="609600"/>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b="0" i="0" u="none" strike="noStrike" kern="0" cap="none" spc="0" normalizeH="0" baseline="0" noProof="0" dirty="0" smtClean="0">
                <a:ln>
                  <a:noFill/>
                </a:ln>
                <a:effectLst/>
                <a:uLnTx/>
                <a:uFillTx/>
                <a:latin typeface="+mj-ea"/>
                <a:cs typeface="+mj-cs"/>
              </a:rPr>
              <a:t> </a:t>
            </a:r>
            <a:r>
              <a:rPr kumimoji="1" lang="zh-CN" altLang="en-US" b="0" i="0" u="none" strike="noStrike" kern="0" cap="none" spc="0" normalizeH="0" baseline="0" noProof="1">
                <a:latin typeface="+mj-ea"/>
                <a:cs typeface="+mj-cs"/>
                <a:sym typeface="+mn-ea"/>
              </a:rPr>
              <a:t>非坚持型</a:t>
            </a:r>
            <a:r>
              <a:rPr kumimoji="1" lang="en-US" altLang="zh-CN" b="0" i="0" u="none" strike="noStrike" kern="0" cap="none" spc="0" normalizeH="0" baseline="0" noProof="1" smtClean="0">
                <a:latin typeface="+mj-ea"/>
                <a:cs typeface="+mj-cs"/>
                <a:sym typeface="+mn-ea"/>
              </a:rPr>
              <a:t>CSMA</a:t>
            </a:r>
            <a:endParaRPr kumimoji="1" lang="zh-CN" altLang="en-US" b="0" i="0" u="none" strike="noStrike" kern="0" cap="none" spc="0" normalizeH="0" baseline="0" noProof="0" dirty="0" smtClean="0">
              <a:ln>
                <a:noFill/>
              </a:ln>
              <a:effectLst/>
              <a:uLnTx/>
              <a:uFillTx/>
              <a:latin typeface="+mj-ea"/>
              <a:cs typeface="+mj-cs"/>
            </a:endParaRPr>
          </a:p>
        </p:txBody>
      </p:sp>
      <p:sp>
        <p:nvSpPr>
          <p:cNvPr id="17411" name="Rectangle 3"/>
          <p:cNvSpPr>
            <a:spLocks noGrp="1"/>
          </p:cNvSpPr>
          <p:nvPr>
            <p:ph idx="1"/>
          </p:nvPr>
        </p:nvSpPr>
        <p:spPr>
          <a:xfrm>
            <a:off x="827584" y="1196752"/>
            <a:ext cx="7772400" cy="5297488"/>
          </a:xfrm>
        </p:spPr>
        <p:txBody>
          <a:bodyPr vert="horz" wrap="square" lIns="91440" tIns="45720" rIns="91440" bIns="45720" anchor="t"/>
          <a:lstStyle/>
          <a:p>
            <a:pPr marL="342900" marR="0" lvl="0" indent="-342900" algn="l" defTabSz="914400" rtl="0" eaLnBrk="1" fontAlgn="base" latinLnBrk="0" hangingPunct="1">
              <a:spcBef>
                <a:spcPct val="20000"/>
              </a:spcBef>
              <a:spcAft>
                <a:spcPct val="0"/>
              </a:spcAft>
              <a:buClr>
                <a:srgbClr val="3366FF"/>
              </a:buClr>
              <a:buSzTx/>
              <a:buFont typeface="Wingdings" panose="05000000000000000000" pitchFamily="2" charset="2"/>
              <a:buChar char="l"/>
            </a:pPr>
            <a:r>
              <a:rPr lang="zh-CN" altLang="en-US" sz="2800" kern="0" noProof="1" smtClean="0">
                <a:latin typeface="黑体" panose="02010609060101010101" pitchFamily="49" charset="-122"/>
                <a:ea typeface="黑体" panose="02010609060101010101" pitchFamily="49" charset="-122"/>
              </a:rPr>
              <a:t>工作流程</a:t>
            </a:r>
            <a:endParaRPr kumimoji="1" lang="zh-CN" altLang="en-US" sz="2800" b="1" i="0" u="none" strike="noStrike" kern="0" cap="none" spc="0" normalizeH="0" baseline="0" noProof="1">
              <a:solidFill>
                <a:schemeClr val="bg2"/>
              </a:solidFill>
              <a:latin typeface="黑体" panose="02010609060101010101" pitchFamily="49" charset="-122"/>
              <a:ea typeface="黑体" panose="02010609060101010101" pitchFamily="49" charset="-122"/>
            </a:endParaRPr>
          </a:p>
          <a:p>
            <a:pPr marL="742950" marR="0" lvl="1" indent="-285750" algn="l" defTabSz="914400" rtl="0" eaLnBrk="1" fontAlgn="base" latinLnBrk="0" hangingPunct="1">
              <a:spcBef>
                <a:spcPct val="20000"/>
              </a:spcBef>
              <a:spcAft>
                <a:spcPct val="0"/>
              </a:spcAft>
              <a:buClr>
                <a:srgbClr val="0033CC"/>
              </a:buClr>
              <a:buSzTx/>
              <a:buFont typeface="Wingdings" panose="05000000000000000000" pitchFamily="2" charset="2"/>
              <a:buChar char="ü"/>
            </a:pPr>
            <a:r>
              <a:rPr kumimoji="1" lang="zh-CN" altLang="en-US" sz="2400" b="1" i="0" u="none" strike="noStrike" kern="0" cap="none" spc="0" normalizeH="0" baseline="0" noProof="1" smtClean="0">
                <a:solidFill>
                  <a:srgbClr val="003399"/>
                </a:solidFill>
                <a:latin typeface="+mn-lt"/>
                <a:ea typeface="+mn-ea"/>
                <a:cs typeface="+mn-ea"/>
              </a:rPr>
              <a:t>若节点</a:t>
            </a:r>
            <a:r>
              <a:rPr kumimoji="1" lang="zh-CN" altLang="en-US" sz="2400" b="1" i="0" u="none" strike="noStrike" kern="0" cap="none" spc="0" normalizeH="0" baseline="0" noProof="1">
                <a:solidFill>
                  <a:srgbClr val="003399"/>
                </a:solidFill>
                <a:latin typeface="+mn-lt"/>
                <a:ea typeface="+mn-ea"/>
                <a:cs typeface="+mn-ea"/>
              </a:rPr>
              <a:t>有数据发送，先</a:t>
            </a:r>
            <a:r>
              <a:rPr kumimoji="1" lang="zh-CN" altLang="en-US" sz="2400" b="1" i="0" u="none" strike="noStrike" kern="0" cap="none" spc="0" normalizeH="0" baseline="0" noProof="1">
                <a:solidFill>
                  <a:srgbClr val="C00000"/>
                </a:solidFill>
                <a:latin typeface="+mn-lt"/>
                <a:ea typeface="+mn-ea"/>
                <a:cs typeface="+mn-ea"/>
              </a:rPr>
              <a:t>监听信道；</a:t>
            </a:r>
            <a:endParaRPr kumimoji="1" lang="zh-CN" altLang="en-US" sz="2400" b="1" i="0" u="none" strike="noStrike" kern="0" cap="none" spc="0" normalizeH="0" baseline="0" noProof="1">
              <a:solidFill>
                <a:srgbClr val="003399"/>
              </a:solidFill>
              <a:latin typeface="+mn-lt"/>
              <a:ea typeface="+mn-ea"/>
              <a:cs typeface="+mn-ea"/>
            </a:endParaRPr>
          </a:p>
          <a:p>
            <a:pPr marL="742950" marR="0" lvl="1" indent="-285750" algn="l" defTabSz="914400" rtl="0" eaLnBrk="1" fontAlgn="base" latinLnBrk="0" hangingPunct="1">
              <a:spcBef>
                <a:spcPct val="20000"/>
              </a:spcBef>
              <a:spcAft>
                <a:spcPct val="0"/>
              </a:spcAft>
              <a:buClr>
                <a:srgbClr val="0033CC"/>
              </a:buClr>
              <a:buSzTx/>
              <a:buFont typeface="Wingdings" panose="05000000000000000000" pitchFamily="2" charset="2"/>
              <a:buChar char="ü"/>
            </a:pPr>
            <a:r>
              <a:rPr kumimoji="1" lang="zh-CN" altLang="en-US" sz="2400" b="1" i="0" u="none" strike="noStrike" kern="0" cap="none" spc="0" normalizeH="0" baseline="0" noProof="1" smtClean="0">
                <a:solidFill>
                  <a:srgbClr val="003399"/>
                </a:solidFill>
                <a:latin typeface="+mn-lt"/>
                <a:ea typeface="+mn-ea"/>
                <a:cs typeface="+mn-ea"/>
              </a:rPr>
              <a:t>若节点</a:t>
            </a:r>
            <a:r>
              <a:rPr kumimoji="1" lang="zh-CN" altLang="en-US" sz="2400" b="1" i="0" u="none" strike="noStrike" kern="0" cap="none" spc="0" normalizeH="0" baseline="0" noProof="1">
                <a:solidFill>
                  <a:srgbClr val="003399"/>
                </a:solidFill>
                <a:latin typeface="+mn-lt"/>
                <a:ea typeface="+mn-ea"/>
                <a:cs typeface="+mn-ea"/>
              </a:rPr>
              <a:t>发现</a:t>
            </a:r>
            <a:r>
              <a:rPr kumimoji="1" lang="zh-CN" altLang="en-US" sz="2400" b="1" i="0" u="none" strike="noStrike" kern="0" cap="none" spc="0" normalizeH="0" baseline="0" noProof="1">
                <a:solidFill>
                  <a:srgbClr val="C00000"/>
                </a:solidFill>
                <a:latin typeface="+mn-lt"/>
                <a:ea typeface="+mn-ea"/>
                <a:cs typeface="+mn-ea"/>
              </a:rPr>
              <a:t>信道空闲</a:t>
            </a:r>
            <a:r>
              <a:rPr kumimoji="1" lang="zh-CN" altLang="en-US" sz="2400" b="1" i="0" u="none" strike="noStrike" kern="0" cap="none" spc="0" normalizeH="0" baseline="0" noProof="1">
                <a:solidFill>
                  <a:srgbClr val="003399"/>
                </a:solidFill>
                <a:latin typeface="+mn-lt"/>
                <a:ea typeface="+mn-ea"/>
                <a:cs typeface="+mn-ea"/>
              </a:rPr>
              <a:t>，则</a:t>
            </a:r>
            <a:r>
              <a:rPr kumimoji="1" lang="zh-CN" altLang="en-US" sz="2400" b="1" i="0" u="none" strike="noStrike" kern="0" cap="none" spc="0" normalizeH="0" baseline="0" noProof="1">
                <a:solidFill>
                  <a:srgbClr val="C00000"/>
                </a:solidFill>
                <a:latin typeface="+mn-lt"/>
                <a:ea typeface="+mn-ea"/>
                <a:cs typeface="+mn-ea"/>
              </a:rPr>
              <a:t>发送</a:t>
            </a:r>
            <a:r>
              <a:rPr kumimoji="1" lang="zh-CN" altLang="en-US" sz="2400" b="1" i="0" u="none" strike="noStrike" kern="0" cap="none" spc="0" normalizeH="0" baseline="0" noProof="1">
                <a:solidFill>
                  <a:srgbClr val="003399"/>
                </a:solidFill>
                <a:latin typeface="+mn-lt"/>
                <a:ea typeface="+mn-ea"/>
                <a:cs typeface="+mn-ea"/>
              </a:rPr>
              <a:t>；</a:t>
            </a:r>
          </a:p>
          <a:p>
            <a:pPr marL="742950" marR="0" lvl="1" indent="-285750" algn="l" defTabSz="914400" rtl="0" eaLnBrk="1" fontAlgn="base" latinLnBrk="0" hangingPunct="1">
              <a:spcBef>
                <a:spcPct val="20000"/>
              </a:spcBef>
              <a:spcAft>
                <a:spcPct val="0"/>
              </a:spcAft>
              <a:buClr>
                <a:srgbClr val="0033CC"/>
              </a:buClr>
              <a:buSzTx/>
              <a:buFont typeface="Wingdings" panose="05000000000000000000" pitchFamily="2" charset="2"/>
              <a:buChar char="ü"/>
            </a:pPr>
            <a:r>
              <a:rPr kumimoji="1" lang="zh-CN" altLang="en-US" sz="2400" b="1" i="0" u="none" strike="noStrike" kern="0" cap="none" spc="0" normalizeH="0" baseline="0" noProof="1">
                <a:solidFill>
                  <a:srgbClr val="003399"/>
                </a:solidFill>
                <a:latin typeface="+mn-lt"/>
                <a:ea typeface="+mn-ea"/>
                <a:cs typeface="+mn-ea"/>
              </a:rPr>
              <a:t>若信道忙，</a:t>
            </a:r>
            <a:r>
              <a:rPr kumimoji="1" lang="zh-CN" altLang="en-US" sz="2400" b="1" i="0" u="none" strike="noStrike" kern="0" cap="none" spc="0" normalizeH="0" baseline="0" noProof="1">
                <a:solidFill>
                  <a:srgbClr val="C00000"/>
                </a:solidFill>
                <a:latin typeface="+mn-lt"/>
                <a:ea typeface="+mn-ea"/>
                <a:cs typeface="+mn-ea"/>
              </a:rPr>
              <a:t>等待一随机时间</a:t>
            </a:r>
            <a:r>
              <a:rPr kumimoji="1" lang="zh-CN" altLang="en-US" sz="2400" b="1" i="0" u="none" strike="noStrike" kern="0" cap="none" spc="0" normalizeH="0" baseline="0" noProof="1">
                <a:solidFill>
                  <a:srgbClr val="003399"/>
                </a:solidFill>
                <a:latin typeface="+mn-lt"/>
                <a:ea typeface="+mn-ea"/>
                <a:cs typeface="+mn-ea"/>
              </a:rPr>
              <a:t>，然后重新开始发送过程</a:t>
            </a:r>
            <a:r>
              <a:rPr kumimoji="1" lang="zh-CN" altLang="en-US" sz="2330" b="1" i="0" u="none" strike="noStrike" kern="0" cap="none" spc="0" normalizeH="0" baseline="0" noProof="1">
                <a:solidFill>
                  <a:srgbClr val="0033CC"/>
                </a:solidFill>
                <a:latin typeface="+mn-lt"/>
                <a:ea typeface="楷体_GB2312" pitchFamily="49" charset="-122"/>
                <a:cs typeface="+mn-ea"/>
              </a:rPr>
              <a:t>；</a:t>
            </a:r>
          </a:p>
          <a:p>
            <a:pPr eaLnBrk="1" hangingPunct="1"/>
            <a:r>
              <a:rPr lang="zh-CN" altLang="en-US" sz="2800" kern="0" noProof="1" smtClean="0">
                <a:latin typeface="黑体" panose="02010609060101010101" pitchFamily="49" charset="-122"/>
                <a:ea typeface="黑体" panose="02010609060101010101" pitchFamily="49" charset="-122"/>
              </a:rPr>
              <a:t>性能</a:t>
            </a:r>
            <a:endParaRPr lang="zh-CN" altLang="en-US" sz="2800" kern="0" noProof="1">
              <a:latin typeface="黑体" panose="02010609060101010101" pitchFamily="49" charset="-122"/>
              <a:ea typeface="黑体" panose="02010609060101010101" pitchFamily="49" charset="-122"/>
            </a:endParaRPr>
          </a:p>
          <a:p>
            <a:pPr marL="742950" marR="0" lvl="1" indent="-285750" algn="l" defTabSz="914400" rtl="0" eaLnBrk="1" fontAlgn="base" latinLnBrk="0" hangingPunct="1">
              <a:spcBef>
                <a:spcPct val="20000"/>
              </a:spcBef>
              <a:spcAft>
                <a:spcPct val="0"/>
              </a:spcAft>
              <a:buClr>
                <a:srgbClr val="003399"/>
              </a:buClr>
              <a:buSzTx/>
              <a:buFont typeface="Wingdings" panose="05000000000000000000" pitchFamily="2" charset="2"/>
              <a:buChar char="ü"/>
            </a:pPr>
            <a:r>
              <a:rPr kumimoji="1" lang="zh-CN" altLang="en-US" sz="2400" b="1" i="0" u="none" strike="noStrike" kern="0" cap="none" spc="0" normalizeH="0" baseline="0" noProof="1">
                <a:solidFill>
                  <a:srgbClr val="C00000"/>
                </a:solidFill>
                <a:latin typeface="+mn-lt"/>
                <a:ea typeface="+mn-ea"/>
                <a:cs typeface="+mn-ea"/>
              </a:rPr>
              <a:t>优点：</a:t>
            </a:r>
            <a:r>
              <a:rPr kumimoji="1" lang="zh-CN" altLang="en-US" sz="2400" b="1" i="0" u="none" strike="noStrike" kern="0" cap="none" spc="0" normalizeH="0" baseline="0" noProof="1">
                <a:solidFill>
                  <a:srgbClr val="003399"/>
                </a:solidFill>
                <a:latin typeface="+mn-lt"/>
                <a:ea typeface="+mn-ea"/>
                <a:cs typeface="+mn-ea"/>
              </a:rPr>
              <a:t>减少了冲突的概率；</a:t>
            </a:r>
          </a:p>
          <a:p>
            <a:pPr marL="742950" marR="0" lvl="1" indent="-285750" algn="l" defTabSz="914400" rtl="0" eaLnBrk="1" fontAlgn="base" latinLnBrk="0" hangingPunct="1">
              <a:spcBef>
                <a:spcPct val="20000"/>
              </a:spcBef>
              <a:spcAft>
                <a:spcPct val="0"/>
              </a:spcAft>
              <a:buClr>
                <a:srgbClr val="003399"/>
              </a:buClr>
              <a:buSzTx/>
              <a:buFont typeface="Wingdings" panose="05000000000000000000" pitchFamily="2" charset="2"/>
              <a:buChar char="ü"/>
            </a:pPr>
            <a:r>
              <a:rPr kumimoji="1" lang="zh-CN" altLang="en-US" sz="2400" b="1" i="0" u="none" strike="noStrike" kern="0" cap="none" spc="0" normalizeH="0" baseline="0" noProof="1">
                <a:solidFill>
                  <a:srgbClr val="C00000"/>
                </a:solidFill>
                <a:latin typeface="+mn-lt"/>
                <a:ea typeface="+mn-ea"/>
                <a:cs typeface="+mn-ea"/>
              </a:rPr>
              <a:t>缺点</a:t>
            </a:r>
            <a:r>
              <a:rPr kumimoji="1" lang="zh-CN" altLang="en-US" sz="2400" b="1" i="0" u="none" strike="noStrike" kern="0" cap="none" spc="0" normalizeH="0" baseline="0" noProof="1">
                <a:solidFill>
                  <a:srgbClr val="003399"/>
                </a:solidFill>
                <a:latin typeface="+mn-lt"/>
                <a:ea typeface="+mn-ea"/>
                <a:cs typeface="+mn-ea"/>
              </a:rPr>
              <a:t>：增加了信道空闲时间，数据发送延迟增大；</a:t>
            </a:r>
          </a:p>
          <a:p>
            <a:pPr marL="742950" marR="0" lvl="1" indent="-285750" algn="l" defTabSz="914400" rtl="0" eaLnBrk="1" fontAlgn="base" latinLnBrk="0" hangingPunct="1">
              <a:spcBef>
                <a:spcPct val="20000"/>
              </a:spcBef>
              <a:spcAft>
                <a:spcPct val="0"/>
              </a:spcAft>
              <a:buClr>
                <a:srgbClr val="003399"/>
              </a:buClr>
              <a:buSzTx/>
              <a:buFont typeface="Wingdings" panose="05000000000000000000" pitchFamily="2" charset="2"/>
              <a:buChar char="ü"/>
            </a:pPr>
            <a:r>
              <a:rPr kumimoji="1" lang="zh-CN" altLang="en-US" sz="2400" b="1" i="0" u="none" strike="noStrike" kern="0" cap="none" spc="0" normalizeH="0" baseline="0" noProof="1">
                <a:solidFill>
                  <a:srgbClr val="003399"/>
                </a:solidFill>
                <a:latin typeface="+mn-lt"/>
                <a:ea typeface="+mn-ea"/>
                <a:cs typeface="+mn-ea"/>
              </a:rPr>
              <a:t>信道效率比 </a:t>
            </a:r>
            <a:r>
              <a:rPr kumimoji="1" lang="en-US" altLang="zh-CN" sz="2400" b="1" i="0" u="none" strike="noStrike" kern="0" cap="none" spc="0" normalizeH="0" baseline="0" noProof="1">
                <a:solidFill>
                  <a:srgbClr val="003399"/>
                </a:solidFill>
                <a:latin typeface="+mn-lt"/>
                <a:ea typeface="+mn-ea"/>
                <a:cs typeface="+mn-ea"/>
              </a:rPr>
              <a:t>1-</a:t>
            </a:r>
            <a:r>
              <a:rPr kumimoji="1" lang="zh-CN" altLang="en-US" sz="2400" b="1" i="0" u="none" strike="noStrike" kern="0" cap="none" spc="0" normalizeH="0" baseline="0" noProof="1">
                <a:solidFill>
                  <a:srgbClr val="003399"/>
                </a:solidFill>
                <a:latin typeface="+mn-lt"/>
                <a:ea typeface="+mn-ea"/>
                <a:cs typeface="+mn-ea"/>
              </a:rPr>
              <a:t>坚持</a:t>
            </a:r>
            <a:r>
              <a:rPr kumimoji="1" lang="en-US" altLang="zh-CN" sz="2400" b="1" i="0" u="none" strike="noStrike" kern="0" cap="none" spc="0" normalizeH="0" baseline="0" noProof="1">
                <a:solidFill>
                  <a:srgbClr val="003399"/>
                </a:solidFill>
                <a:latin typeface="+mn-lt"/>
                <a:ea typeface="+mn-ea"/>
                <a:cs typeface="+mn-ea"/>
              </a:rPr>
              <a:t>CSMA</a:t>
            </a:r>
            <a:r>
              <a:rPr kumimoji="1" lang="zh-CN" altLang="en-US" sz="2400" b="1" i="0" u="none" strike="noStrike" kern="0" cap="none" spc="0" normalizeH="0" baseline="0" noProof="1">
                <a:solidFill>
                  <a:srgbClr val="003399"/>
                </a:solidFill>
                <a:latin typeface="+mn-lt"/>
                <a:ea typeface="+mn-ea"/>
                <a:cs typeface="+mn-ea"/>
              </a:rPr>
              <a:t>高，传输延迟比 </a:t>
            </a:r>
            <a:r>
              <a:rPr kumimoji="1" lang="en-US" altLang="zh-CN" sz="2400" b="1" i="0" u="none" strike="noStrike" kern="0" cap="none" spc="0" normalizeH="0" baseline="0" noProof="1">
                <a:solidFill>
                  <a:srgbClr val="003399"/>
                </a:solidFill>
                <a:latin typeface="+mn-lt"/>
                <a:ea typeface="+mn-ea"/>
                <a:cs typeface="+mn-ea"/>
              </a:rPr>
              <a:t>1-</a:t>
            </a:r>
            <a:r>
              <a:rPr kumimoji="1" lang="zh-CN" altLang="en-US" sz="2400" b="1" i="0" u="none" strike="noStrike" kern="0" cap="none" spc="0" normalizeH="0" baseline="0" noProof="1">
                <a:solidFill>
                  <a:srgbClr val="003399"/>
                </a:solidFill>
                <a:latin typeface="+mn-lt"/>
                <a:ea typeface="+mn-ea"/>
                <a:cs typeface="+mn-ea"/>
              </a:rPr>
              <a:t>坚持</a:t>
            </a:r>
            <a:r>
              <a:rPr kumimoji="1" lang="en-US" altLang="zh-CN" sz="2400" b="1" i="0" u="none" strike="noStrike" kern="0" cap="none" spc="0" normalizeH="0" baseline="0" noProof="1">
                <a:solidFill>
                  <a:srgbClr val="003399"/>
                </a:solidFill>
                <a:latin typeface="+mn-lt"/>
                <a:ea typeface="+mn-ea"/>
                <a:cs typeface="+mn-ea"/>
              </a:rPr>
              <a:t>CSMA</a:t>
            </a:r>
            <a:r>
              <a:rPr kumimoji="1" lang="zh-CN" altLang="en-US" sz="2400" b="1" i="0" u="none" strike="noStrike" kern="0" cap="none" spc="0" normalizeH="0" baseline="0" noProof="1">
                <a:solidFill>
                  <a:srgbClr val="003399"/>
                </a:solidFill>
                <a:latin typeface="+mn-lt"/>
                <a:ea typeface="+mn-ea"/>
                <a:cs typeface="+mn-ea"/>
              </a:rPr>
              <a:t>大。</a:t>
            </a:r>
            <a:endParaRPr kumimoji="1" lang="zh-CN" altLang="en-US" sz="2000" b="1" i="0" u="none" strike="noStrike" kern="0" cap="none" spc="0" normalizeH="0" baseline="0" noProof="1">
              <a:solidFill>
                <a:srgbClr val="003399"/>
              </a:solidFill>
              <a:latin typeface="+mn-lt"/>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fade">
                                      <p:cBhvr>
                                        <p:cTn id="7" dur="1000"/>
                                        <p:tgtEl>
                                          <p:spTgt spid="17411">
                                            <p:txEl>
                                              <p:pRg st="0" end="0"/>
                                            </p:txEl>
                                          </p:spTgt>
                                        </p:tgtEl>
                                      </p:cBhvr>
                                    </p:animEffect>
                                    <p:anim calcmode="lin" valueType="num">
                                      <p:cBhvr>
                                        <p:cTn id="8" dur="10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41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fade">
                                      <p:cBhvr>
                                        <p:cTn id="12" dur="1000"/>
                                        <p:tgtEl>
                                          <p:spTgt spid="17411">
                                            <p:txEl>
                                              <p:pRg st="1" end="1"/>
                                            </p:txEl>
                                          </p:spTgt>
                                        </p:tgtEl>
                                      </p:cBhvr>
                                    </p:animEffect>
                                    <p:anim calcmode="lin" valueType="num">
                                      <p:cBhvr>
                                        <p:cTn id="13" dur="10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741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fade">
                                      <p:cBhvr>
                                        <p:cTn id="17" dur="1000"/>
                                        <p:tgtEl>
                                          <p:spTgt spid="17411">
                                            <p:txEl>
                                              <p:pRg st="2" end="2"/>
                                            </p:txEl>
                                          </p:spTgt>
                                        </p:tgtEl>
                                      </p:cBhvr>
                                    </p:animEffect>
                                    <p:anim calcmode="lin" valueType="num">
                                      <p:cBhvr>
                                        <p:cTn id="18" dur="10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7411">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fade">
                                      <p:cBhvr>
                                        <p:cTn id="22" dur="1000"/>
                                        <p:tgtEl>
                                          <p:spTgt spid="17411">
                                            <p:txEl>
                                              <p:pRg st="3" end="3"/>
                                            </p:txEl>
                                          </p:spTgt>
                                        </p:tgtEl>
                                      </p:cBhvr>
                                    </p:animEffect>
                                    <p:anim calcmode="lin" valueType="num">
                                      <p:cBhvr>
                                        <p:cTn id="23" dur="10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74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7411">
                                            <p:txEl>
                                              <p:pRg st="4" end="4"/>
                                            </p:txEl>
                                          </p:spTgt>
                                        </p:tgtEl>
                                        <p:attrNameLst>
                                          <p:attrName>style.visibility</p:attrName>
                                        </p:attrNameLst>
                                      </p:cBhvr>
                                      <p:to>
                                        <p:strVal val="visible"/>
                                      </p:to>
                                    </p:set>
                                    <p:animEffect transition="in" filter="fade">
                                      <p:cBhvr>
                                        <p:cTn id="29" dur="1000"/>
                                        <p:tgtEl>
                                          <p:spTgt spid="17411">
                                            <p:txEl>
                                              <p:pRg st="4" end="4"/>
                                            </p:txEl>
                                          </p:spTgt>
                                        </p:tgtEl>
                                      </p:cBhvr>
                                    </p:animEffect>
                                    <p:anim calcmode="lin" valueType="num">
                                      <p:cBhvr>
                                        <p:cTn id="30" dur="10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7411">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7411">
                                            <p:txEl>
                                              <p:pRg st="5" end="5"/>
                                            </p:txEl>
                                          </p:spTgt>
                                        </p:tgtEl>
                                        <p:attrNameLst>
                                          <p:attrName>style.visibility</p:attrName>
                                        </p:attrNameLst>
                                      </p:cBhvr>
                                      <p:to>
                                        <p:strVal val="visible"/>
                                      </p:to>
                                    </p:set>
                                    <p:animEffect transition="in" filter="fade">
                                      <p:cBhvr>
                                        <p:cTn id="34" dur="1000"/>
                                        <p:tgtEl>
                                          <p:spTgt spid="17411">
                                            <p:txEl>
                                              <p:pRg st="5" end="5"/>
                                            </p:txEl>
                                          </p:spTgt>
                                        </p:tgtEl>
                                      </p:cBhvr>
                                    </p:animEffect>
                                    <p:anim calcmode="lin" valueType="num">
                                      <p:cBhvr>
                                        <p:cTn id="35" dur="10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17411">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7411">
                                            <p:txEl>
                                              <p:pRg st="6" end="6"/>
                                            </p:txEl>
                                          </p:spTgt>
                                        </p:tgtEl>
                                        <p:attrNameLst>
                                          <p:attrName>style.visibility</p:attrName>
                                        </p:attrNameLst>
                                      </p:cBhvr>
                                      <p:to>
                                        <p:strVal val="visible"/>
                                      </p:to>
                                    </p:set>
                                    <p:animEffect transition="in" filter="fade">
                                      <p:cBhvr>
                                        <p:cTn id="39" dur="1000"/>
                                        <p:tgtEl>
                                          <p:spTgt spid="17411">
                                            <p:txEl>
                                              <p:pRg st="6" end="6"/>
                                            </p:txEl>
                                          </p:spTgt>
                                        </p:tgtEl>
                                      </p:cBhvr>
                                    </p:animEffect>
                                    <p:anim calcmode="lin" valueType="num">
                                      <p:cBhvr>
                                        <p:cTn id="40" dur="1000" fill="hold"/>
                                        <p:tgtEl>
                                          <p:spTgt spid="17411">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17411">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7411">
                                            <p:txEl>
                                              <p:pRg st="7" end="7"/>
                                            </p:txEl>
                                          </p:spTgt>
                                        </p:tgtEl>
                                        <p:attrNameLst>
                                          <p:attrName>style.visibility</p:attrName>
                                        </p:attrNameLst>
                                      </p:cBhvr>
                                      <p:to>
                                        <p:strVal val="visible"/>
                                      </p:to>
                                    </p:set>
                                    <p:animEffect transition="in" filter="fade">
                                      <p:cBhvr>
                                        <p:cTn id="44" dur="1000"/>
                                        <p:tgtEl>
                                          <p:spTgt spid="17411">
                                            <p:txEl>
                                              <p:pRg st="7" end="7"/>
                                            </p:txEl>
                                          </p:spTgt>
                                        </p:tgtEl>
                                      </p:cBhvr>
                                    </p:animEffect>
                                    <p:anim calcmode="lin" valueType="num">
                                      <p:cBhvr>
                                        <p:cTn id="45" dur="1000" fill="hold"/>
                                        <p:tgtEl>
                                          <p:spTgt spid="17411">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174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447800" y="260350"/>
            <a:ext cx="7444680" cy="72072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b="0" i="0" u="none" strike="noStrike" kern="0" cap="none" spc="0" normalizeH="0" baseline="0" noProof="1">
                <a:latin typeface="+mj-ea"/>
                <a:cs typeface="+mj-cs"/>
                <a:sym typeface="+mn-ea"/>
              </a:rPr>
              <a:t>p-</a:t>
            </a:r>
            <a:r>
              <a:rPr kumimoji="1" lang="zh-CN" altLang="en-US" b="0" i="0" u="none" strike="noStrike" kern="0" cap="none" spc="0" normalizeH="0" baseline="0" noProof="1">
                <a:latin typeface="+mj-ea"/>
                <a:cs typeface="+mj-cs"/>
                <a:sym typeface="+mn-ea"/>
              </a:rPr>
              <a:t>坚持型</a:t>
            </a:r>
            <a:r>
              <a:rPr kumimoji="1" lang="en-US" altLang="zh-CN" b="0" i="0" u="none" strike="noStrike" kern="0" cap="none" spc="0" normalizeH="0" baseline="0" noProof="1" smtClean="0">
                <a:latin typeface="+mj-ea"/>
                <a:cs typeface="+mj-cs"/>
                <a:sym typeface="+mn-ea"/>
              </a:rPr>
              <a:t>CSMA</a:t>
            </a:r>
            <a:endParaRPr kumimoji="1" lang="zh-CN" altLang="en-US" b="0" i="0" u="none" strike="noStrike" kern="0" cap="none" spc="0" normalizeH="0" baseline="0" noProof="0" dirty="0" smtClean="0">
              <a:ln>
                <a:noFill/>
              </a:ln>
              <a:effectLst/>
              <a:uLnTx/>
              <a:uFillTx/>
              <a:latin typeface="+mj-ea"/>
              <a:cs typeface="+mj-cs"/>
            </a:endParaRPr>
          </a:p>
        </p:txBody>
      </p:sp>
      <p:sp>
        <p:nvSpPr>
          <p:cNvPr id="18435" name="Rectangle 3"/>
          <p:cNvSpPr>
            <a:spLocks noGrp="1"/>
          </p:cNvSpPr>
          <p:nvPr>
            <p:ph idx="1"/>
          </p:nvPr>
        </p:nvSpPr>
        <p:spPr>
          <a:xfrm>
            <a:off x="899592" y="1340768"/>
            <a:ext cx="7772400" cy="4818062"/>
          </a:xfrm>
        </p:spPr>
        <p:txBody>
          <a:bodyPr vert="horz" wrap="square" lIns="91440" tIns="45720" rIns="91440" bIns="45720" anchor="t"/>
          <a:lstStyle/>
          <a:p>
            <a:pPr eaLnBrk="1" hangingPunct="1"/>
            <a:r>
              <a:rPr lang="zh-CN" altLang="en-US" dirty="0" smtClean="0">
                <a:latin typeface="+mj-ea"/>
                <a:ea typeface="+mj-ea"/>
              </a:rPr>
              <a:t>适用于时槽（时间分片）信道</a:t>
            </a:r>
            <a:endParaRPr lang="zh-CN" altLang="en-US" dirty="0">
              <a:latin typeface="+mj-ea"/>
              <a:ea typeface="+mj-ea"/>
            </a:endParaRPr>
          </a:p>
          <a:p>
            <a:pPr eaLnBrk="1" hangingPunct="1"/>
            <a:r>
              <a:rPr lang="zh-CN" altLang="en-US" dirty="0" smtClean="0">
                <a:latin typeface="+mj-ea"/>
                <a:ea typeface="+mj-ea"/>
              </a:rPr>
              <a:t>工作流程</a:t>
            </a:r>
            <a:endParaRPr lang="zh-CN" altLang="en-US" dirty="0">
              <a:latin typeface="+mj-ea"/>
              <a:ea typeface="+mj-ea"/>
            </a:endParaRPr>
          </a:p>
          <a:p>
            <a:pPr lvl="1" eaLnBrk="1" hangingPunct="1">
              <a:spcBef>
                <a:spcPts val="1200"/>
              </a:spcBef>
              <a:buClr>
                <a:srgbClr val="0033CC"/>
              </a:buClr>
            </a:pPr>
            <a:r>
              <a:rPr lang="zh-CN" altLang="en-US" sz="2400" dirty="0" smtClean="0"/>
              <a:t>若节点</a:t>
            </a:r>
            <a:r>
              <a:rPr lang="zh-CN" altLang="en-US" sz="2400" dirty="0"/>
              <a:t>有数据发送，先</a:t>
            </a:r>
            <a:r>
              <a:rPr lang="zh-CN" altLang="en-US" sz="2400" dirty="0">
                <a:solidFill>
                  <a:srgbClr val="C00000"/>
                </a:solidFill>
              </a:rPr>
              <a:t>监听信道</a:t>
            </a:r>
            <a:r>
              <a:rPr lang="zh-CN" altLang="en-US" sz="2400" dirty="0"/>
              <a:t>；</a:t>
            </a:r>
          </a:p>
          <a:p>
            <a:pPr lvl="1" eaLnBrk="1" hangingPunct="1">
              <a:spcBef>
                <a:spcPts val="1200"/>
              </a:spcBef>
              <a:buClr>
                <a:srgbClr val="0033CC"/>
              </a:buClr>
            </a:pPr>
            <a:r>
              <a:rPr lang="zh-CN" altLang="en-US" sz="2400" dirty="0" smtClean="0"/>
              <a:t>若节点</a:t>
            </a:r>
            <a:r>
              <a:rPr lang="zh-CN" altLang="en-US" sz="2400" dirty="0"/>
              <a:t>发现</a:t>
            </a:r>
            <a:r>
              <a:rPr lang="zh-CN" altLang="en-US" sz="2400" dirty="0">
                <a:solidFill>
                  <a:srgbClr val="C00000"/>
                </a:solidFill>
              </a:rPr>
              <a:t>信道空闲</a:t>
            </a:r>
            <a:r>
              <a:rPr lang="zh-CN" altLang="en-US" sz="2400" dirty="0"/>
              <a:t>，则</a:t>
            </a:r>
            <a:r>
              <a:rPr lang="zh-CN" altLang="en-US" sz="2400" dirty="0">
                <a:solidFill>
                  <a:srgbClr val="C00000"/>
                </a:solidFill>
              </a:rPr>
              <a:t>以概率p发送数据</a:t>
            </a:r>
            <a:r>
              <a:rPr lang="zh-CN" altLang="en-US" sz="2400" dirty="0"/>
              <a:t>，以</a:t>
            </a:r>
            <a:r>
              <a:rPr lang="zh-CN" altLang="en-US" sz="2400" dirty="0" smtClean="0">
                <a:solidFill>
                  <a:srgbClr val="C00000"/>
                </a:solidFill>
              </a:rPr>
              <a:t>概率1</a:t>
            </a:r>
            <a:r>
              <a:rPr lang="zh-CN" altLang="en-US" sz="2400" dirty="0">
                <a:solidFill>
                  <a:srgbClr val="C00000"/>
                </a:solidFill>
              </a:rPr>
              <a:t>- p 延迟至下一个时槽发送</a:t>
            </a:r>
            <a:r>
              <a:rPr lang="zh-CN" altLang="en-US" sz="2400" dirty="0"/>
              <a:t>。若下一个时槽仍空闲，重复此</a:t>
            </a:r>
            <a:r>
              <a:rPr lang="zh-CN" altLang="en-US" sz="2400" dirty="0" smtClean="0"/>
              <a:t>过程；</a:t>
            </a:r>
            <a:endParaRPr lang="zh-CN" altLang="en-US" sz="2400" dirty="0"/>
          </a:p>
          <a:p>
            <a:pPr lvl="1" eaLnBrk="1" hangingPunct="1">
              <a:spcBef>
                <a:spcPts val="1200"/>
              </a:spcBef>
              <a:buClr>
                <a:srgbClr val="0033CC"/>
              </a:buClr>
            </a:pPr>
            <a:r>
              <a:rPr lang="zh-CN" altLang="en-US" sz="2400" dirty="0"/>
              <a:t>若信道忙，则</a:t>
            </a:r>
            <a:r>
              <a:rPr lang="zh-CN" altLang="en-US" sz="2400" dirty="0">
                <a:solidFill>
                  <a:srgbClr val="C00000"/>
                </a:solidFill>
              </a:rPr>
              <a:t>等待下一个时槽</a:t>
            </a:r>
            <a:r>
              <a:rPr lang="zh-CN" altLang="en-US" sz="2400" dirty="0"/>
              <a:t>，重新开始</a:t>
            </a:r>
            <a:r>
              <a:rPr lang="zh-CN" altLang="en-US" sz="2400" dirty="0" smtClean="0"/>
              <a:t>发送过程；</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435">
                                            <p:txEl>
                                              <p:pRg st="3" end="3"/>
                                            </p:txEl>
                                          </p:spTgt>
                                        </p:tgtEl>
                                        <p:attrNameLst>
                                          <p:attrName>style.visibility</p:attrName>
                                        </p:attrNameLst>
                                      </p:cBhvr>
                                      <p:to>
                                        <p:strVal val="visible"/>
                                      </p:to>
                                    </p:set>
                                    <p:anim calcmode="lin" valueType="num">
                                      <p:cBhvr additive="base">
                                        <p:cTn id="25" dur="500" fill="hold"/>
                                        <p:tgtEl>
                                          <p:spTgt spid="184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4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435">
                                            <p:txEl>
                                              <p:pRg st="4" end="4"/>
                                            </p:txEl>
                                          </p:spTgt>
                                        </p:tgtEl>
                                        <p:attrNameLst>
                                          <p:attrName>style.visibility</p:attrName>
                                        </p:attrNameLst>
                                      </p:cBhvr>
                                      <p:to>
                                        <p:strVal val="visible"/>
                                      </p:to>
                                    </p:set>
                                    <p:anim calcmode="lin" valueType="num">
                                      <p:cBhvr additive="base">
                                        <p:cTn id="31" dur="500" fill="hold"/>
                                        <p:tgtEl>
                                          <p:spTgt spid="1843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4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bldLvl="3"/>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idx="1"/>
          </p:nvPr>
        </p:nvSpPr>
        <p:spPr>
          <a:xfrm>
            <a:off x="481933" y="1124744"/>
            <a:ext cx="8640763" cy="5207000"/>
          </a:xfrm>
        </p:spPr>
        <p:txBody>
          <a:bodyPr vert="horz" wrap="square" lIns="91440" tIns="45720" rIns="91440" bIns="45720" anchor="t"/>
          <a:lstStyle/>
          <a:p>
            <a:pPr eaLnBrk="1" hangingPunct="1">
              <a:lnSpc>
                <a:spcPct val="105000"/>
              </a:lnSpc>
            </a:pPr>
            <a:r>
              <a:rPr lang="zh-CN" altLang="en-US" sz="2800" dirty="0" smtClean="0">
                <a:latin typeface="+mj-ea"/>
                <a:ea typeface="+mj-ea"/>
              </a:rPr>
              <a:t>引入冲突检测原因</a:t>
            </a:r>
            <a:endParaRPr lang="zh-CN" altLang="en-US" sz="2800" dirty="0">
              <a:latin typeface="+mj-ea"/>
              <a:ea typeface="+mj-ea"/>
            </a:endParaRPr>
          </a:p>
          <a:p>
            <a:pPr lvl="1" eaLnBrk="1" hangingPunct="1">
              <a:lnSpc>
                <a:spcPct val="105000"/>
              </a:lnSpc>
            </a:pPr>
            <a:r>
              <a:rPr lang="zh-CN" altLang="en-US" sz="2400" dirty="0"/>
              <a:t>当两个</a:t>
            </a:r>
            <a:r>
              <a:rPr lang="zh-CN" altLang="en-US" sz="2400" dirty="0" smtClean="0"/>
              <a:t>帧传输发生</a:t>
            </a:r>
            <a:r>
              <a:rPr lang="zh-CN" altLang="en-US" sz="2400" dirty="0"/>
              <a:t>冲突时，两个</a:t>
            </a:r>
            <a:r>
              <a:rPr lang="zh-CN" altLang="en-US" sz="2400" dirty="0">
                <a:solidFill>
                  <a:srgbClr val="C00000"/>
                </a:solidFill>
              </a:rPr>
              <a:t>被损坏帧继续传送毫无意义</a:t>
            </a:r>
            <a:r>
              <a:rPr lang="zh-CN" altLang="en-US" sz="2400" dirty="0" smtClean="0"/>
              <a:t>，对于</a:t>
            </a:r>
            <a:r>
              <a:rPr lang="zh-CN" altLang="en-US" sz="2400" dirty="0"/>
              <a:t>有限的信道来讲，这是很大</a:t>
            </a:r>
            <a:r>
              <a:rPr lang="zh-CN" altLang="en-US" sz="2400" dirty="0" smtClean="0"/>
              <a:t>的资源浪费</a:t>
            </a:r>
            <a:r>
              <a:rPr lang="zh-CN" altLang="en-US" sz="2400" dirty="0"/>
              <a:t>。</a:t>
            </a:r>
            <a:r>
              <a:rPr lang="zh-CN" altLang="en-US" sz="2400" dirty="0" smtClean="0"/>
              <a:t>如果节点</a:t>
            </a:r>
            <a:r>
              <a:rPr lang="zh-CN" altLang="en-US" sz="2400" dirty="0"/>
              <a:t>边</a:t>
            </a:r>
            <a:r>
              <a:rPr lang="zh-CN" altLang="en-US" sz="2400" dirty="0">
                <a:solidFill>
                  <a:srgbClr val="C00000"/>
                </a:solidFill>
              </a:rPr>
              <a:t>发送边监听</a:t>
            </a:r>
            <a:r>
              <a:rPr lang="zh-CN" altLang="en-US" sz="2400" dirty="0"/>
              <a:t>，并在监听到</a:t>
            </a:r>
            <a:r>
              <a:rPr lang="zh-CN" altLang="en-US" sz="2400" dirty="0">
                <a:solidFill>
                  <a:srgbClr val="C00000"/>
                </a:solidFill>
              </a:rPr>
              <a:t>冲突之后立即停止发送</a:t>
            </a:r>
            <a:r>
              <a:rPr lang="zh-CN" altLang="en-US" sz="2400" dirty="0"/>
              <a:t>，可以提高信道的</a:t>
            </a:r>
            <a:r>
              <a:rPr lang="zh-CN" altLang="en-US" sz="2400" dirty="0" smtClean="0"/>
              <a:t>利用率。</a:t>
            </a:r>
            <a:endParaRPr lang="en-US" altLang="zh-CN" sz="2400" dirty="0" smtClean="0"/>
          </a:p>
          <a:p>
            <a:pPr lvl="1" eaLnBrk="1" hangingPunct="1">
              <a:lnSpc>
                <a:spcPct val="105000"/>
              </a:lnSpc>
            </a:pPr>
            <a:r>
              <a:rPr lang="en-US" altLang="zh-CN" sz="2400" dirty="0" smtClean="0"/>
              <a:t>CD——Collision Detection</a:t>
            </a:r>
            <a:endParaRPr lang="zh-CN" altLang="en-US" sz="2400" dirty="0"/>
          </a:p>
          <a:p>
            <a:pPr eaLnBrk="1" hangingPunct="1">
              <a:lnSpc>
                <a:spcPct val="105000"/>
              </a:lnSpc>
            </a:pPr>
            <a:r>
              <a:rPr lang="en-US" altLang="zh-CN" sz="2800" dirty="0" smtClean="0"/>
              <a:t>CSMA/CD</a:t>
            </a:r>
            <a:r>
              <a:rPr lang="zh-CN" altLang="en-US" sz="2800" dirty="0" smtClean="0"/>
              <a:t>工作流程</a:t>
            </a:r>
            <a:endParaRPr lang="zh-CN" altLang="en-US" sz="2400" dirty="0"/>
          </a:p>
          <a:p>
            <a:pPr lvl="1" eaLnBrk="1" hangingPunct="1">
              <a:lnSpc>
                <a:spcPct val="105000"/>
              </a:lnSpc>
            </a:pPr>
            <a:r>
              <a:rPr lang="zh-CN" altLang="en-US" sz="2400" dirty="0"/>
              <a:t>节</a:t>
            </a:r>
            <a:r>
              <a:rPr lang="zh-CN" altLang="en-US" sz="2400" dirty="0" smtClean="0"/>
              <a:t>点</a:t>
            </a:r>
            <a:r>
              <a:rPr lang="zh-CN" altLang="en-US" sz="2400" dirty="0"/>
              <a:t>使用</a:t>
            </a:r>
            <a:r>
              <a:rPr lang="en-US" altLang="zh-CN" sz="2400" dirty="0">
                <a:solidFill>
                  <a:srgbClr val="C00000"/>
                </a:solidFill>
              </a:rPr>
              <a:t>CSMA</a:t>
            </a:r>
            <a:r>
              <a:rPr lang="zh-CN" altLang="en-US" sz="2400" dirty="0">
                <a:solidFill>
                  <a:srgbClr val="C00000"/>
                </a:solidFill>
              </a:rPr>
              <a:t>协议</a:t>
            </a:r>
            <a:r>
              <a:rPr lang="zh-CN" altLang="en-US" sz="2400" dirty="0"/>
              <a:t>进行数据发送；</a:t>
            </a:r>
          </a:p>
          <a:p>
            <a:pPr lvl="1" eaLnBrk="1" hangingPunct="1">
              <a:lnSpc>
                <a:spcPct val="105000"/>
              </a:lnSpc>
            </a:pPr>
            <a:r>
              <a:rPr lang="zh-CN" altLang="en-US" sz="2400" dirty="0"/>
              <a:t>在发送期间如果</a:t>
            </a:r>
            <a:r>
              <a:rPr lang="zh-CN" altLang="en-US" sz="2400" dirty="0">
                <a:solidFill>
                  <a:srgbClr val="C00000"/>
                </a:solidFill>
              </a:rPr>
              <a:t>检测到冲突</a:t>
            </a:r>
            <a:r>
              <a:rPr lang="zh-CN" altLang="en-US" sz="2400" dirty="0"/>
              <a:t>，立即</a:t>
            </a:r>
            <a:r>
              <a:rPr lang="zh-CN" altLang="en-US" sz="2400" dirty="0">
                <a:solidFill>
                  <a:srgbClr val="C00000"/>
                </a:solidFill>
              </a:rPr>
              <a:t>终止发送</a:t>
            </a:r>
            <a:r>
              <a:rPr lang="zh-CN" altLang="en-US" sz="2400" dirty="0"/>
              <a:t>，并发出一个瞬间</a:t>
            </a:r>
            <a:r>
              <a:rPr lang="zh-CN" altLang="en-US" sz="2400" dirty="0">
                <a:solidFill>
                  <a:srgbClr val="C00000"/>
                </a:solidFill>
              </a:rPr>
              <a:t>干扰信号</a:t>
            </a:r>
            <a:r>
              <a:rPr lang="zh-CN" altLang="en-US" sz="2400" dirty="0"/>
              <a:t>，使所有</a:t>
            </a:r>
            <a:r>
              <a:rPr lang="zh-CN" altLang="en-US" sz="2400" dirty="0" smtClean="0"/>
              <a:t>的节点</a:t>
            </a:r>
            <a:r>
              <a:rPr lang="zh-CN" altLang="en-US" sz="2400" dirty="0"/>
              <a:t>都知道发生了冲突；</a:t>
            </a:r>
          </a:p>
          <a:p>
            <a:pPr lvl="1" eaLnBrk="1" hangingPunct="1">
              <a:lnSpc>
                <a:spcPct val="105000"/>
              </a:lnSpc>
            </a:pPr>
            <a:r>
              <a:rPr lang="zh-CN" altLang="en-US" sz="2400" dirty="0"/>
              <a:t>在发出干扰信号后，等待一段随机时间</a:t>
            </a:r>
            <a:r>
              <a:rPr lang="zh-CN" altLang="en-US" sz="2400" dirty="0">
                <a:solidFill>
                  <a:srgbClr val="C00000"/>
                </a:solidFill>
              </a:rPr>
              <a:t>（称为退避） </a:t>
            </a:r>
            <a:r>
              <a:rPr lang="zh-CN" altLang="en-US" sz="2400" dirty="0"/>
              <a:t>，再</a:t>
            </a:r>
            <a:r>
              <a:rPr lang="zh-CN" altLang="en-US" sz="2400" dirty="0" smtClean="0"/>
              <a:t>重复</a:t>
            </a:r>
            <a:r>
              <a:rPr lang="zh-CN" altLang="en-US" sz="2400" dirty="0"/>
              <a:t>发送</a:t>
            </a:r>
            <a:r>
              <a:rPr lang="zh-CN" altLang="en-US" sz="2400" dirty="0" smtClean="0"/>
              <a:t>过程</a:t>
            </a:r>
            <a:r>
              <a:rPr lang="zh-CN" altLang="en-US" sz="2400" dirty="0"/>
              <a:t>。</a:t>
            </a:r>
          </a:p>
        </p:txBody>
      </p:sp>
      <p:sp>
        <p:nvSpPr>
          <p:cNvPr id="22531" name="Rectangle 3"/>
          <p:cNvSpPr>
            <a:spLocks noGrp="1" noRot="1" noChangeArrowheads="1"/>
          </p:cNvSpPr>
          <p:nvPr>
            <p:ph type="title"/>
          </p:nvPr>
        </p:nvSpPr>
        <p:spPr>
          <a:xfrm>
            <a:off x="158083" y="206027"/>
            <a:ext cx="8964613" cy="720725"/>
          </a:xfrm>
        </p:spPr>
        <p:txBody>
          <a:bodyPr vert="horz" wrap="square" lIns="91440" tIns="45720" rIns="91440" bIns="45720"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effectLst/>
                <a:uLnTx/>
                <a:uFillTx/>
                <a:latin typeface="+mj-ea"/>
                <a:cs typeface="+mj-cs"/>
              </a:rPr>
              <a:t> </a:t>
            </a:r>
            <a:r>
              <a:rPr kumimoji="1" lang="zh-CN" altLang="en-US" sz="3200" b="0" i="0" u="none" strike="noStrike" kern="0" cap="none" spc="0" normalizeH="0" baseline="0" noProof="0" dirty="0" smtClean="0">
                <a:ln>
                  <a:noFill/>
                </a:ln>
                <a:effectLst/>
                <a:uLnTx/>
                <a:uFillTx/>
                <a:latin typeface="+mj-ea"/>
                <a:cs typeface="+mj-cs"/>
              </a:rPr>
              <a:t>带冲突检测的载波监听多路访问协议</a:t>
            </a:r>
            <a:endParaRPr kumimoji="1" lang="en-US" altLang="zh-CN" sz="2400" b="0" i="0" u="none" strike="noStrike" kern="0" cap="none" spc="0" normalizeH="0" baseline="0" noProof="0" dirty="0" smtClean="0">
              <a:ln>
                <a:noFill/>
              </a:ln>
              <a:effectLst/>
              <a:uLnTx/>
              <a:uFillTx/>
              <a:latin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1000"/>
                                        <p:tgtEl>
                                          <p:spTgt spid="22530">
                                            <p:txEl>
                                              <p:pRg st="0" end="0"/>
                                            </p:txEl>
                                          </p:spTgt>
                                        </p:tgtEl>
                                      </p:cBhvr>
                                    </p:animEffect>
                                    <p:anim calcmode="lin" valueType="num">
                                      <p:cBhvr>
                                        <p:cTn id="8" dur="1000" fill="hold"/>
                                        <p:tgtEl>
                                          <p:spTgt spid="2253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253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1000"/>
                                        <p:tgtEl>
                                          <p:spTgt spid="22530">
                                            <p:txEl>
                                              <p:pRg st="1" end="1"/>
                                            </p:txEl>
                                          </p:spTgt>
                                        </p:tgtEl>
                                      </p:cBhvr>
                                    </p:animEffect>
                                    <p:anim calcmode="lin" valueType="num">
                                      <p:cBhvr>
                                        <p:cTn id="13" dur="1000" fill="hold"/>
                                        <p:tgtEl>
                                          <p:spTgt spid="22530">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2530">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fade">
                                      <p:cBhvr>
                                        <p:cTn id="17" dur="1000"/>
                                        <p:tgtEl>
                                          <p:spTgt spid="22530">
                                            <p:txEl>
                                              <p:pRg st="2" end="2"/>
                                            </p:txEl>
                                          </p:spTgt>
                                        </p:tgtEl>
                                      </p:cBhvr>
                                    </p:animEffect>
                                    <p:anim calcmode="lin" valueType="num">
                                      <p:cBhvr>
                                        <p:cTn id="18" dur="1000" fill="hold"/>
                                        <p:tgtEl>
                                          <p:spTgt spid="22530">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253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2530">
                                            <p:txEl>
                                              <p:pRg st="3" end="3"/>
                                            </p:txEl>
                                          </p:spTgt>
                                        </p:tgtEl>
                                        <p:attrNameLst>
                                          <p:attrName>style.visibility</p:attrName>
                                        </p:attrNameLst>
                                      </p:cBhvr>
                                      <p:to>
                                        <p:strVal val="visible"/>
                                      </p:to>
                                    </p:set>
                                    <p:animEffect transition="in" filter="fade">
                                      <p:cBhvr>
                                        <p:cTn id="24" dur="1000"/>
                                        <p:tgtEl>
                                          <p:spTgt spid="22530">
                                            <p:txEl>
                                              <p:pRg st="3" end="3"/>
                                            </p:txEl>
                                          </p:spTgt>
                                        </p:tgtEl>
                                      </p:cBhvr>
                                    </p:animEffect>
                                    <p:anim calcmode="lin" valueType="num">
                                      <p:cBhvr>
                                        <p:cTn id="25" dur="1000" fill="hold"/>
                                        <p:tgtEl>
                                          <p:spTgt spid="22530">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22530">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2530">
                                            <p:txEl>
                                              <p:pRg st="4" end="4"/>
                                            </p:txEl>
                                          </p:spTgt>
                                        </p:tgtEl>
                                        <p:attrNameLst>
                                          <p:attrName>style.visibility</p:attrName>
                                        </p:attrNameLst>
                                      </p:cBhvr>
                                      <p:to>
                                        <p:strVal val="visible"/>
                                      </p:to>
                                    </p:set>
                                    <p:animEffect transition="in" filter="fade">
                                      <p:cBhvr>
                                        <p:cTn id="29" dur="1000"/>
                                        <p:tgtEl>
                                          <p:spTgt spid="22530">
                                            <p:txEl>
                                              <p:pRg st="4" end="4"/>
                                            </p:txEl>
                                          </p:spTgt>
                                        </p:tgtEl>
                                      </p:cBhvr>
                                    </p:animEffect>
                                    <p:anim calcmode="lin" valueType="num">
                                      <p:cBhvr>
                                        <p:cTn id="30" dur="1000" fill="hold"/>
                                        <p:tgtEl>
                                          <p:spTgt spid="22530">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22530">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2530">
                                            <p:txEl>
                                              <p:pRg st="5" end="5"/>
                                            </p:txEl>
                                          </p:spTgt>
                                        </p:tgtEl>
                                        <p:attrNameLst>
                                          <p:attrName>style.visibility</p:attrName>
                                        </p:attrNameLst>
                                      </p:cBhvr>
                                      <p:to>
                                        <p:strVal val="visible"/>
                                      </p:to>
                                    </p:set>
                                    <p:animEffect transition="in" filter="fade">
                                      <p:cBhvr>
                                        <p:cTn id="34" dur="1000"/>
                                        <p:tgtEl>
                                          <p:spTgt spid="22530">
                                            <p:txEl>
                                              <p:pRg st="5" end="5"/>
                                            </p:txEl>
                                          </p:spTgt>
                                        </p:tgtEl>
                                      </p:cBhvr>
                                    </p:animEffect>
                                    <p:anim calcmode="lin" valueType="num">
                                      <p:cBhvr>
                                        <p:cTn id="35" dur="1000" fill="hold"/>
                                        <p:tgtEl>
                                          <p:spTgt spid="22530">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22530">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2530">
                                            <p:txEl>
                                              <p:pRg st="6" end="6"/>
                                            </p:txEl>
                                          </p:spTgt>
                                        </p:tgtEl>
                                        <p:attrNameLst>
                                          <p:attrName>style.visibility</p:attrName>
                                        </p:attrNameLst>
                                      </p:cBhvr>
                                      <p:to>
                                        <p:strVal val="visible"/>
                                      </p:to>
                                    </p:set>
                                    <p:animEffect transition="in" filter="fade">
                                      <p:cBhvr>
                                        <p:cTn id="39" dur="1000"/>
                                        <p:tgtEl>
                                          <p:spTgt spid="22530">
                                            <p:txEl>
                                              <p:pRg st="6" end="6"/>
                                            </p:txEl>
                                          </p:spTgt>
                                        </p:tgtEl>
                                      </p:cBhvr>
                                    </p:animEffect>
                                    <p:anim calcmode="lin" valueType="num">
                                      <p:cBhvr>
                                        <p:cTn id="40" dur="1000" fill="hold"/>
                                        <p:tgtEl>
                                          <p:spTgt spid="22530">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2253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763688" y="278538"/>
            <a:ext cx="7267575" cy="539452"/>
          </a:xfrm>
        </p:spPr>
        <p:txBody>
          <a:bodyPr/>
          <a:lstStyle/>
          <a:p>
            <a:pPr eaLnBrk="1" hangingPunct="1"/>
            <a:r>
              <a:rPr lang="en-US" altLang="zh-CN" dirty="0" smtClean="0"/>
              <a:t>6.6 </a:t>
            </a:r>
            <a:r>
              <a:rPr lang="zh-CN" altLang="en-US" dirty="0" smtClean="0"/>
              <a:t>点对点数据链路协议</a:t>
            </a:r>
          </a:p>
        </p:txBody>
      </p:sp>
      <p:sp>
        <p:nvSpPr>
          <p:cNvPr id="66563" name="Rectangle 3"/>
          <p:cNvSpPr>
            <a:spLocks noGrp="1" noChangeArrowheads="1"/>
          </p:cNvSpPr>
          <p:nvPr>
            <p:ph type="body" idx="1"/>
          </p:nvPr>
        </p:nvSpPr>
        <p:spPr>
          <a:xfrm>
            <a:off x="539750" y="1196974"/>
            <a:ext cx="8604250" cy="5184353"/>
          </a:xfrm>
        </p:spPr>
        <p:txBody>
          <a:bodyPr/>
          <a:lstStyle/>
          <a:p>
            <a:pPr eaLnBrk="1" hangingPunct="1"/>
            <a:r>
              <a:rPr lang="zh-CN" altLang="en-US" sz="2800" dirty="0" smtClean="0">
                <a:latin typeface="黑体" panose="02010609060101010101" pitchFamily="49" charset="-122"/>
                <a:ea typeface="黑体" panose="02010609060101010101" pitchFamily="49" charset="-122"/>
              </a:rPr>
              <a:t>点到点通信场景</a:t>
            </a:r>
          </a:p>
          <a:p>
            <a:pPr lvl="1" eaLnBrk="1" hangingPunct="1"/>
            <a:r>
              <a:rPr lang="zh-CN" altLang="en-US" sz="2400" dirty="0" smtClean="0"/>
              <a:t>路由器到路由器（</a:t>
            </a:r>
            <a:r>
              <a:rPr lang="en-US" altLang="zh-CN" sz="2400" dirty="0" smtClean="0"/>
              <a:t>router-router leased line connection</a:t>
            </a:r>
            <a:r>
              <a:rPr lang="zh-CN" altLang="en-US" sz="2400" dirty="0" smtClean="0"/>
              <a:t>）</a:t>
            </a:r>
          </a:p>
          <a:p>
            <a:pPr lvl="1" eaLnBrk="1" hangingPunct="1"/>
            <a:r>
              <a:rPr lang="zh-CN" altLang="en-US" sz="2400" dirty="0" smtClean="0"/>
              <a:t>通过</a:t>
            </a:r>
            <a:r>
              <a:rPr lang="en-US" altLang="zh-CN" sz="2400" dirty="0" smtClean="0"/>
              <a:t>modem</a:t>
            </a:r>
            <a:r>
              <a:rPr lang="zh-CN" altLang="en-US" sz="2400" dirty="0" smtClean="0"/>
              <a:t>拨号上网，连到路由器或接入服务器（</a:t>
            </a:r>
            <a:r>
              <a:rPr lang="en-US" altLang="zh-CN" sz="2400" dirty="0" smtClean="0"/>
              <a:t>dial-up host-router connection</a:t>
            </a:r>
            <a:r>
              <a:rPr lang="zh-CN" altLang="en-US" sz="2400" dirty="0" smtClean="0"/>
              <a:t>）</a:t>
            </a:r>
          </a:p>
        </p:txBody>
      </p:sp>
      <p:pic>
        <p:nvPicPr>
          <p:cNvPr id="665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881" y="3140968"/>
            <a:ext cx="8027988" cy="302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5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5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p:cNvSpPr>
            <a:spLocks noGrp="1" noChangeArrowheads="1"/>
          </p:cNvSpPr>
          <p:nvPr>
            <p:ph type="title"/>
          </p:nvPr>
        </p:nvSpPr>
        <p:spPr/>
        <p:txBody>
          <a:bodyPr/>
          <a:lstStyle/>
          <a:p>
            <a:pPr eaLnBrk="1" hangingPunct="1"/>
            <a:r>
              <a:rPr lang="en-US" altLang="zh-CN" dirty="0" smtClean="0"/>
              <a:t>SLIP</a:t>
            </a:r>
            <a:r>
              <a:rPr lang="zh-CN" altLang="en-US" dirty="0" smtClean="0"/>
              <a:t>协议</a:t>
            </a:r>
          </a:p>
        </p:txBody>
      </p:sp>
      <p:sp>
        <p:nvSpPr>
          <p:cNvPr id="262147" name="Rectangle 1027"/>
          <p:cNvSpPr>
            <a:spLocks noGrp="1" noChangeArrowheads="1"/>
          </p:cNvSpPr>
          <p:nvPr>
            <p:ph type="body" idx="1"/>
          </p:nvPr>
        </p:nvSpPr>
        <p:spPr>
          <a:xfrm>
            <a:off x="539750" y="1196975"/>
            <a:ext cx="8229600" cy="4908550"/>
          </a:xfrm>
        </p:spPr>
        <p:txBody>
          <a:bodyPr>
            <a:spAutoFit/>
          </a:bodyPr>
          <a:lstStyle/>
          <a:p>
            <a:pPr eaLnBrk="1" hangingPunct="1">
              <a:spcBef>
                <a:spcPts val="600"/>
              </a:spcBef>
            </a:pPr>
            <a:r>
              <a:rPr lang="en-US" altLang="zh-CN" sz="2800" dirty="0" smtClean="0">
                <a:latin typeface="+mj-lt"/>
              </a:rPr>
              <a:t>SLIP —— Serial Line IP</a:t>
            </a:r>
          </a:p>
          <a:p>
            <a:pPr lvl="1" eaLnBrk="1" hangingPunct="1">
              <a:spcBef>
                <a:spcPts val="600"/>
              </a:spcBef>
            </a:pPr>
            <a:r>
              <a:rPr lang="en-US" altLang="zh-CN" sz="2400" dirty="0" smtClean="0"/>
              <a:t>1984</a:t>
            </a:r>
            <a:r>
              <a:rPr lang="zh-CN" altLang="en-US" sz="2400" dirty="0" smtClean="0"/>
              <a:t>年，</a:t>
            </a:r>
            <a:r>
              <a:rPr lang="en-US" altLang="zh-CN" sz="2400" dirty="0" smtClean="0"/>
              <a:t>Rick Adams</a:t>
            </a:r>
            <a:r>
              <a:rPr lang="zh-CN" altLang="en-US" sz="2400" dirty="0" smtClean="0"/>
              <a:t>提出，</a:t>
            </a:r>
            <a:r>
              <a:rPr lang="en-US" altLang="zh-CN" sz="2400" dirty="0" smtClean="0"/>
              <a:t>RFC1055</a:t>
            </a:r>
            <a:r>
              <a:rPr lang="zh-CN" altLang="en-US" sz="2400" dirty="0" smtClean="0"/>
              <a:t>定义了细节</a:t>
            </a:r>
            <a:endParaRPr lang="en-US" altLang="zh-CN" sz="2400" dirty="0" smtClean="0"/>
          </a:p>
          <a:p>
            <a:pPr lvl="1" eaLnBrk="1" hangingPunct="1">
              <a:spcBef>
                <a:spcPts val="600"/>
              </a:spcBef>
            </a:pPr>
            <a:r>
              <a:rPr lang="zh-CN" altLang="en-US" sz="2400" dirty="0" smtClean="0"/>
              <a:t>是一个封装协议，定义了一系列字符将</a:t>
            </a:r>
            <a:r>
              <a:rPr lang="en-US" altLang="zh-CN" sz="2400" dirty="0" smtClean="0"/>
              <a:t>IP</a:t>
            </a:r>
            <a:r>
              <a:rPr lang="zh-CN" altLang="en-US" sz="2400" dirty="0" smtClean="0"/>
              <a:t>包在串行线路上变成帧格式</a:t>
            </a:r>
          </a:p>
          <a:p>
            <a:pPr lvl="1" eaLnBrk="1" hangingPunct="1">
              <a:spcBef>
                <a:spcPts val="600"/>
              </a:spcBef>
            </a:pPr>
            <a:r>
              <a:rPr lang="zh-CN" altLang="en-US" sz="2400" dirty="0" smtClean="0"/>
              <a:t>用一个标记字节（</a:t>
            </a:r>
            <a:r>
              <a:rPr lang="en-US" altLang="zh-CN" sz="2400" dirty="0" smtClean="0"/>
              <a:t>0xC0</a:t>
            </a:r>
            <a:r>
              <a:rPr lang="zh-CN" altLang="en-US" sz="2400" dirty="0" smtClean="0"/>
              <a:t>）来定界，采用字符填充技术；</a:t>
            </a:r>
          </a:p>
          <a:p>
            <a:pPr lvl="1" eaLnBrk="1" hangingPunct="1">
              <a:spcBef>
                <a:spcPts val="600"/>
              </a:spcBef>
            </a:pPr>
            <a:r>
              <a:rPr lang="zh-CN" altLang="en-US" sz="2400" dirty="0" smtClean="0"/>
              <a:t>存在问题</a:t>
            </a:r>
          </a:p>
          <a:p>
            <a:pPr lvl="2" eaLnBrk="1" hangingPunct="1">
              <a:spcBef>
                <a:spcPts val="600"/>
              </a:spcBef>
              <a:buSzPct val="95000"/>
              <a:buFont typeface="Wingdings" panose="05000000000000000000" pitchFamily="2" charset="2"/>
              <a:buChar char="Ø"/>
            </a:pPr>
            <a:r>
              <a:rPr lang="zh-CN" altLang="en-US" dirty="0" smtClean="0">
                <a:solidFill>
                  <a:srgbClr val="000099"/>
                </a:solidFill>
              </a:rPr>
              <a:t>不提供差错校验</a:t>
            </a:r>
          </a:p>
          <a:p>
            <a:pPr lvl="2" eaLnBrk="1" hangingPunct="1">
              <a:spcBef>
                <a:spcPts val="600"/>
              </a:spcBef>
              <a:buSzPct val="95000"/>
              <a:buFont typeface="Wingdings" panose="05000000000000000000" pitchFamily="2" charset="2"/>
              <a:buChar char="Ø"/>
            </a:pPr>
            <a:r>
              <a:rPr lang="zh-CN" altLang="en-US" dirty="0" smtClean="0">
                <a:solidFill>
                  <a:srgbClr val="000099"/>
                </a:solidFill>
              </a:rPr>
              <a:t>只支持</a:t>
            </a:r>
            <a:r>
              <a:rPr lang="en-US" altLang="zh-CN" dirty="0" smtClean="0">
                <a:solidFill>
                  <a:srgbClr val="000099"/>
                </a:solidFill>
              </a:rPr>
              <a:t>IP</a:t>
            </a:r>
          </a:p>
          <a:p>
            <a:pPr lvl="2" eaLnBrk="1" hangingPunct="1">
              <a:spcBef>
                <a:spcPts val="600"/>
              </a:spcBef>
              <a:buSzPct val="95000"/>
              <a:buFont typeface="Wingdings" panose="05000000000000000000" pitchFamily="2" charset="2"/>
              <a:buChar char="Ø"/>
            </a:pPr>
            <a:r>
              <a:rPr lang="en-US" altLang="zh-CN" dirty="0" smtClean="0">
                <a:solidFill>
                  <a:srgbClr val="000099"/>
                </a:solidFill>
              </a:rPr>
              <a:t>IP</a:t>
            </a:r>
            <a:r>
              <a:rPr lang="zh-CN" altLang="en-US" dirty="0" smtClean="0">
                <a:solidFill>
                  <a:srgbClr val="000099"/>
                </a:solidFill>
              </a:rPr>
              <a:t>地址不能动态分配</a:t>
            </a:r>
          </a:p>
          <a:p>
            <a:pPr lvl="2" eaLnBrk="1" hangingPunct="1">
              <a:spcBef>
                <a:spcPts val="600"/>
              </a:spcBef>
              <a:buSzPct val="95000"/>
              <a:buFont typeface="Wingdings" panose="05000000000000000000" pitchFamily="2" charset="2"/>
              <a:buChar char="Ø"/>
            </a:pPr>
            <a:r>
              <a:rPr lang="zh-CN" altLang="en-US" dirty="0" smtClean="0">
                <a:solidFill>
                  <a:srgbClr val="000099"/>
                </a:solidFill>
              </a:rPr>
              <a:t>不提供身份认证</a:t>
            </a:r>
          </a:p>
          <a:p>
            <a:pPr lvl="2" eaLnBrk="1" hangingPunct="1">
              <a:spcBef>
                <a:spcPts val="600"/>
              </a:spcBef>
              <a:buSzPct val="95000"/>
              <a:buFont typeface="Wingdings" panose="05000000000000000000" pitchFamily="2" charset="2"/>
              <a:buChar char="Ø"/>
            </a:pPr>
            <a:r>
              <a:rPr lang="zh-CN" altLang="en-US" dirty="0" smtClean="0">
                <a:solidFill>
                  <a:srgbClr val="000099"/>
                </a:solidFill>
              </a:rPr>
              <a:t>多种版本并存，互连困难</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21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21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21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214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214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214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214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2147">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21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5" name="Rectangle 3"/>
          <p:cNvSpPr>
            <a:spLocks noGrp="1" noChangeArrowheads="1"/>
          </p:cNvSpPr>
          <p:nvPr>
            <p:ph type="body" idx="1"/>
          </p:nvPr>
        </p:nvSpPr>
        <p:spPr>
          <a:xfrm>
            <a:off x="250825" y="1196975"/>
            <a:ext cx="8713788" cy="5400675"/>
          </a:xfrm>
        </p:spPr>
        <p:txBody>
          <a:bodyPr/>
          <a:lstStyle/>
          <a:p>
            <a:pPr eaLnBrk="1" hangingPunct="1"/>
            <a:r>
              <a:rPr lang="en-US" altLang="zh-CN" sz="2800" dirty="0" smtClean="0">
                <a:latin typeface="仿宋_GB2312" pitchFamily="49" charset="-122"/>
              </a:rPr>
              <a:t>RFC 1661</a:t>
            </a:r>
            <a:r>
              <a:rPr lang="zh-CN" altLang="en-US" sz="2800" dirty="0" smtClean="0">
                <a:latin typeface="仿宋_GB2312" pitchFamily="49" charset="-122"/>
              </a:rPr>
              <a:t>，</a:t>
            </a:r>
            <a:r>
              <a:rPr lang="en-US" altLang="zh-CN" sz="2800" dirty="0" smtClean="0">
                <a:latin typeface="仿宋_GB2312" pitchFamily="49" charset="-122"/>
              </a:rPr>
              <a:t>RFC 1662</a:t>
            </a:r>
            <a:r>
              <a:rPr lang="zh-CN" altLang="en-US" sz="2800" dirty="0" smtClean="0">
                <a:latin typeface="仿宋_GB2312" pitchFamily="49" charset="-122"/>
              </a:rPr>
              <a:t>，</a:t>
            </a:r>
            <a:r>
              <a:rPr lang="en-US" altLang="zh-CN" sz="2800" dirty="0" smtClean="0">
                <a:latin typeface="仿宋_GB2312" pitchFamily="49" charset="-122"/>
              </a:rPr>
              <a:t>RFC 1663</a:t>
            </a:r>
          </a:p>
          <a:p>
            <a:pPr eaLnBrk="1" hangingPunct="1"/>
            <a:r>
              <a:rPr lang="zh-CN" altLang="en-US" sz="2800" dirty="0" smtClean="0">
                <a:latin typeface="仿宋_GB2312" pitchFamily="49" charset="-122"/>
              </a:rPr>
              <a:t>提供差错校验、支持多种协议、允许动态分配</a:t>
            </a:r>
            <a:r>
              <a:rPr lang="en-US" altLang="zh-CN" sz="2800" dirty="0" smtClean="0">
                <a:latin typeface="仿宋_GB2312" pitchFamily="49" charset="-122"/>
              </a:rPr>
              <a:t>IP</a:t>
            </a:r>
            <a:r>
              <a:rPr lang="zh-CN" altLang="en-US" sz="2800" dirty="0" smtClean="0">
                <a:latin typeface="仿宋_GB2312" pitchFamily="49" charset="-122"/>
              </a:rPr>
              <a:t>地址、支持认证等。</a:t>
            </a:r>
          </a:p>
          <a:p>
            <a:pPr eaLnBrk="1" hangingPunct="1"/>
            <a:r>
              <a:rPr lang="zh-CN" altLang="en-US" sz="2800" dirty="0" smtClean="0">
                <a:latin typeface="仿宋_GB2312" pitchFamily="49" charset="-122"/>
              </a:rPr>
              <a:t>以</a:t>
            </a:r>
            <a:r>
              <a:rPr lang="zh-CN" altLang="en-US" sz="2800" dirty="0" smtClean="0">
                <a:solidFill>
                  <a:srgbClr val="FF3300"/>
                </a:solidFill>
                <a:latin typeface="仿宋_GB2312" pitchFamily="49" charset="-122"/>
              </a:rPr>
              <a:t>帧</a:t>
            </a:r>
            <a:r>
              <a:rPr lang="zh-CN" altLang="en-US" sz="2800" dirty="0" smtClean="0">
                <a:latin typeface="仿宋_GB2312" pitchFamily="49" charset="-122"/>
              </a:rPr>
              <a:t>为单位发送，而不是原始</a:t>
            </a:r>
            <a:r>
              <a:rPr lang="en-US" altLang="zh-CN" sz="2800" dirty="0" smtClean="0">
                <a:latin typeface="仿宋_GB2312" pitchFamily="49" charset="-122"/>
              </a:rPr>
              <a:t>IP</a:t>
            </a:r>
            <a:r>
              <a:rPr lang="zh-CN" altLang="en-US" sz="2800" dirty="0" smtClean="0">
                <a:latin typeface="仿宋_GB2312" pitchFamily="49" charset="-122"/>
              </a:rPr>
              <a:t>包；</a:t>
            </a:r>
          </a:p>
          <a:p>
            <a:pPr eaLnBrk="1" hangingPunct="1"/>
            <a:r>
              <a:rPr lang="zh-CN" altLang="en-US" sz="2800" dirty="0" smtClean="0">
                <a:latin typeface="仿宋_GB2312" pitchFamily="49" charset="-122"/>
              </a:rPr>
              <a:t>包括两部分</a:t>
            </a:r>
          </a:p>
          <a:p>
            <a:pPr lvl="1" eaLnBrk="1" hangingPunct="1"/>
            <a:r>
              <a:rPr lang="zh-CN" altLang="en-US" b="0" dirty="0" smtClean="0">
                <a:solidFill>
                  <a:schemeClr val="hlink"/>
                </a:solidFill>
                <a:latin typeface="仿宋_GB2312" pitchFamily="49" charset="-122"/>
              </a:rPr>
              <a:t>链路控制协议</a:t>
            </a:r>
            <a:r>
              <a:rPr lang="en-US" altLang="zh-CN" b="0" dirty="0" smtClean="0">
                <a:solidFill>
                  <a:schemeClr val="hlink"/>
                </a:solidFill>
                <a:latin typeface="仿宋_GB2312" pitchFamily="49" charset="-122"/>
              </a:rPr>
              <a:t>LCP</a:t>
            </a:r>
            <a:r>
              <a:rPr lang="zh-CN" altLang="en-US" dirty="0" smtClean="0">
                <a:latin typeface="仿宋_GB2312" pitchFamily="49" charset="-122"/>
              </a:rPr>
              <a:t>（</a:t>
            </a:r>
            <a:r>
              <a:rPr lang="en-US" altLang="zh-CN" b="0" dirty="0" smtClean="0">
                <a:latin typeface="+mj-lt"/>
              </a:rPr>
              <a:t>Link Control Protocol</a:t>
            </a:r>
            <a:r>
              <a:rPr lang="zh-CN" altLang="en-US" dirty="0" smtClean="0">
                <a:latin typeface="仿宋_GB2312" pitchFamily="49" charset="-122"/>
              </a:rPr>
              <a:t>）</a:t>
            </a:r>
          </a:p>
          <a:p>
            <a:pPr lvl="2" eaLnBrk="1" hangingPunct="1"/>
            <a:r>
              <a:rPr lang="zh-CN" altLang="en-US" sz="2800" dirty="0" smtClean="0">
                <a:latin typeface="仿宋_GB2312" pitchFamily="49" charset="-122"/>
              </a:rPr>
              <a:t>建立、配置和测试数据链路连接</a:t>
            </a:r>
          </a:p>
          <a:p>
            <a:pPr lvl="1" eaLnBrk="1" hangingPunct="1"/>
            <a:r>
              <a:rPr lang="zh-CN" altLang="en-US" b="0" dirty="0" smtClean="0">
                <a:solidFill>
                  <a:schemeClr val="hlink"/>
                </a:solidFill>
                <a:latin typeface="仿宋_GB2312" pitchFamily="49" charset="-122"/>
              </a:rPr>
              <a:t>网络控制协议</a:t>
            </a:r>
            <a:r>
              <a:rPr lang="en-US" altLang="zh-CN" b="0" dirty="0" smtClean="0">
                <a:solidFill>
                  <a:schemeClr val="hlink"/>
                </a:solidFill>
                <a:latin typeface="仿宋_GB2312" pitchFamily="49" charset="-122"/>
              </a:rPr>
              <a:t>NCP</a:t>
            </a:r>
            <a:r>
              <a:rPr lang="zh-CN" altLang="en-US" dirty="0" smtClean="0">
                <a:latin typeface="仿宋_GB2312" pitchFamily="49" charset="-122"/>
              </a:rPr>
              <a:t>（</a:t>
            </a:r>
            <a:r>
              <a:rPr lang="en-US" altLang="zh-CN" b="0" dirty="0">
                <a:latin typeface="+mj-lt"/>
              </a:rPr>
              <a:t>Network Control Protocol</a:t>
            </a:r>
            <a:r>
              <a:rPr lang="zh-CN" altLang="en-US" dirty="0" smtClean="0">
                <a:latin typeface="仿宋_GB2312" pitchFamily="49" charset="-122"/>
              </a:rPr>
              <a:t>）</a:t>
            </a:r>
          </a:p>
          <a:p>
            <a:pPr lvl="2" eaLnBrk="1" hangingPunct="1"/>
            <a:r>
              <a:rPr lang="zh-CN" altLang="en-US" sz="2800" dirty="0" smtClean="0">
                <a:latin typeface="仿宋_GB2312" pitchFamily="49" charset="-122"/>
              </a:rPr>
              <a:t>建立、配置不同网络层协议</a:t>
            </a:r>
          </a:p>
        </p:txBody>
      </p:sp>
      <p:sp>
        <p:nvSpPr>
          <p:cNvPr id="3" name="标题 2"/>
          <p:cNvSpPr>
            <a:spLocks noGrp="1"/>
          </p:cNvSpPr>
          <p:nvPr>
            <p:ph type="title"/>
          </p:nvPr>
        </p:nvSpPr>
        <p:spPr>
          <a:xfrm>
            <a:off x="1447800" y="260350"/>
            <a:ext cx="7516813" cy="720725"/>
          </a:xfrm>
        </p:spPr>
        <p:txBody>
          <a:bodyPr/>
          <a:lstStyle/>
          <a:p>
            <a:r>
              <a:rPr lang="en-US" altLang="zh-CN" dirty="0" smtClean="0"/>
              <a:t>PPP</a:t>
            </a:r>
            <a:r>
              <a:rPr lang="zh-CN" altLang="en-US" dirty="0" smtClean="0"/>
              <a:t>协议</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4195">
                                            <p:txEl>
                                              <p:pRg st="0" end="0"/>
                                            </p:txEl>
                                          </p:spTgt>
                                        </p:tgtEl>
                                        <p:attrNameLst>
                                          <p:attrName>style.visibility</p:attrName>
                                        </p:attrNameLst>
                                      </p:cBhvr>
                                      <p:to>
                                        <p:strVal val="visible"/>
                                      </p:to>
                                    </p:set>
                                    <p:animEffect transition="in" filter="blinds(horizontal)">
                                      <p:cBhvr>
                                        <p:cTn id="7" dur="500"/>
                                        <p:tgtEl>
                                          <p:spTgt spid="264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4195">
                                            <p:txEl>
                                              <p:pRg st="1" end="1"/>
                                            </p:txEl>
                                          </p:spTgt>
                                        </p:tgtEl>
                                        <p:attrNameLst>
                                          <p:attrName>style.visibility</p:attrName>
                                        </p:attrNameLst>
                                      </p:cBhvr>
                                      <p:to>
                                        <p:strVal val="visible"/>
                                      </p:to>
                                    </p:set>
                                    <p:animEffect transition="in" filter="blinds(horizontal)">
                                      <p:cBhvr>
                                        <p:cTn id="12" dur="500"/>
                                        <p:tgtEl>
                                          <p:spTgt spid="264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4195">
                                            <p:txEl>
                                              <p:pRg st="2" end="2"/>
                                            </p:txEl>
                                          </p:spTgt>
                                        </p:tgtEl>
                                        <p:attrNameLst>
                                          <p:attrName>style.visibility</p:attrName>
                                        </p:attrNameLst>
                                      </p:cBhvr>
                                      <p:to>
                                        <p:strVal val="visible"/>
                                      </p:to>
                                    </p:set>
                                    <p:animEffect transition="in" filter="blinds(horizontal)">
                                      <p:cBhvr>
                                        <p:cTn id="17" dur="500"/>
                                        <p:tgtEl>
                                          <p:spTgt spid="264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4195">
                                            <p:txEl>
                                              <p:pRg st="3" end="3"/>
                                            </p:txEl>
                                          </p:spTgt>
                                        </p:tgtEl>
                                        <p:attrNameLst>
                                          <p:attrName>style.visibility</p:attrName>
                                        </p:attrNameLst>
                                      </p:cBhvr>
                                      <p:to>
                                        <p:strVal val="visible"/>
                                      </p:to>
                                    </p:set>
                                    <p:animEffect transition="in" filter="blinds(horizontal)">
                                      <p:cBhvr>
                                        <p:cTn id="22" dur="500"/>
                                        <p:tgtEl>
                                          <p:spTgt spid="264195">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64195">
                                            <p:txEl>
                                              <p:pRg st="4" end="4"/>
                                            </p:txEl>
                                          </p:spTgt>
                                        </p:tgtEl>
                                        <p:attrNameLst>
                                          <p:attrName>style.visibility</p:attrName>
                                        </p:attrNameLst>
                                      </p:cBhvr>
                                      <p:to>
                                        <p:strVal val="visible"/>
                                      </p:to>
                                    </p:set>
                                    <p:animEffect transition="in" filter="blinds(horizontal)">
                                      <p:cBhvr>
                                        <p:cTn id="25" dur="500"/>
                                        <p:tgtEl>
                                          <p:spTgt spid="26419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64195">
                                            <p:txEl>
                                              <p:pRg st="5" end="5"/>
                                            </p:txEl>
                                          </p:spTgt>
                                        </p:tgtEl>
                                        <p:attrNameLst>
                                          <p:attrName>style.visibility</p:attrName>
                                        </p:attrNameLst>
                                      </p:cBhvr>
                                      <p:to>
                                        <p:strVal val="visible"/>
                                      </p:to>
                                    </p:set>
                                    <p:animEffect transition="in" filter="blinds(horizontal)">
                                      <p:cBhvr>
                                        <p:cTn id="28" dur="500"/>
                                        <p:tgtEl>
                                          <p:spTgt spid="264195">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64195">
                                            <p:txEl>
                                              <p:pRg st="6" end="6"/>
                                            </p:txEl>
                                          </p:spTgt>
                                        </p:tgtEl>
                                        <p:attrNameLst>
                                          <p:attrName>style.visibility</p:attrName>
                                        </p:attrNameLst>
                                      </p:cBhvr>
                                      <p:to>
                                        <p:strVal val="visible"/>
                                      </p:to>
                                    </p:set>
                                    <p:animEffect transition="in" filter="blinds(horizontal)">
                                      <p:cBhvr>
                                        <p:cTn id="31" dur="500"/>
                                        <p:tgtEl>
                                          <p:spTgt spid="264195">
                                            <p:txEl>
                                              <p:pRg st="6" end="6"/>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64195">
                                            <p:txEl>
                                              <p:pRg st="7" end="7"/>
                                            </p:txEl>
                                          </p:spTgt>
                                        </p:tgtEl>
                                        <p:attrNameLst>
                                          <p:attrName>style.visibility</p:attrName>
                                        </p:attrNameLst>
                                      </p:cBhvr>
                                      <p:to>
                                        <p:strVal val="visible"/>
                                      </p:to>
                                    </p:set>
                                    <p:animEffect transition="in" filter="blinds(horizontal)">
                                      <p:cBhvr>
                                        <p:cTn id="34" dur="500"/>
                                        <p:tgtEl>
                                          <p:spTgt spid="2641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5"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type="body" idx="1"/>
          </p:nvPr>
        </p:nvSpPr>
        <p:spPr>
          <a:xfrm>
            <a:off x="522920" y="3263770"/>
            <a:ext cx="8458200" cy="3453253"/>
          </a:xfrm>
          <a:noFill/>
        </p:spPr>
        <p:txBody>
          <a:bodyPr>
            <a:spAutoFit/>
          </a:bodyPr>
          <a:lstStyle/>
          <a:p>
            <a:pPr marL="714375" lvl="2" indent="-539750" eaLnBrk="1" hangingPunct="1">
              <a:lnSpc>
                <a:spcPct val="90000"/>
              </a:lnSpc>
              <a:buClr>
                <a:srgbClr val="000099"/>
              </a:buClr>
            </a:pPr>
            <a:r>
              <a:rPr lang="zh-CN" altLang="en-US" dirty="0" smtClean="0">
                <a:solidFill>
                  <a:srgbClr val="003399"/>
                </a:solidFill>
                <a:latin typeface="仿宋_GB2312" pitchFamily="49" charset="-122"/>
              </a:rPr>
              <a:t>标记域：</a:t>
            </a:r>
            <a:r>
              <a:rPr lang="en-US" altLang="zh-CN" dirty="0" smtClean="0">
                <a:solidFill>
                  <a:srgbClr val="003399"/>
                </a:solidFill>
                <a:latin typeface="仿宋_GB2312" pitchFamily="49" charset="-122"/>
              </a:rPr>
              <a:t>01111110</a:t>
            </a:r>
            <a:r>
              <a:rPr lang="zh-CN" altLang="en-US" dirty="0" smtClean="0">
                <a:solidFill>
                  <a:srgbClr val="003399"/>
                </a:solidFill>
                <a:latin typeface="仿宋_GB2312" pitchFamily="49" charset="-122"/>
              </a:rPr>
              <a:t>，字符填充；</a:t>
            </a:r>
          </a:p>
          <a:p>
            <a:pPr marL="714375" lvl="2" indent="-539750" eaLnBrk="1" hangingPunct="1">
              <a:lnSpc>
                <a:spcPct val="90000"/>
              </a:lnSpc>
              <a:buClr>
                <a:srgbClr val="000099"/>
              </a:buClr>
            </a:pPr>
            <a:r>
              <a:rPr lang="zh-CN" altLang="en-US" dirty="0" smtClean="0">
                <a:solidFill>
                  <a:srgbClr val="003399"/>
                </a:solidFill>
                <a:latin typeface="仿宋_GB2312" pitchFamily="49" charset="-122"/>
              </a:rPr>
              <a:t>地址域：</a:t>
            </a:r>
            <a:r>
              <a:rPr lang="en-US" altLang="zh-CN" dirty="0" smtClean="0">
                <a:solidFill>
                  <a:srgbClr val="003399"/>
                </a:solidFill>
                <a:latin typeface="仿宋_GB2312" pitchFamily="49" charset="-122"/>
              </a:rPr>
              <a:t>11111111</a:t>
            </a:r>
          </a:p>
          <a:p>
            <a:pPr marL="714375" lvl="2" indent="-539750" eaLnBrk="1" hangingPunct="1">
              <a:lnSpc>
                <a:spcPct val="90000"/>
              </a:lnSpc>
              <a:buClr>
                <a:srgbClr val="000099"/>
              </a:buClr>
            </a:pPr>
            <a:r>
              <a:rPr lang="zh-CN" altLang="en-US" dirty="0" smtClean="0">
                <a:solidFill>
                  <a:srgbClr val="003399"/>
                </a:solidFill>
                <a:latin typeface="仿宋_GB2312" pitchFamily="49" charset="-122"/>
              </a:rPr>
              <a:t>控制域：缺省值为</a:t>
            </a:r>
            <a:r>
              <a:rPr lang="en-US" altLang="zh-CN" dirty="0" smtClean="0">
                <a:solidFill>
                  <a:srgbClr val="003399"/>
                </a:solidFill>
                <a:latin typeface="仿宋_GB2312" pitchFamily="49" charset="-122"/>
              </a:rPr>
              <a:t>00000011</a:t>
            </a:r>
            <a:r>
              <a:rPr lang="zh-CN" altLang="en-US" dirty="0" smtClean="0">
                <a:solidFill>
                  <a:srgbClr val="003399"/>
                </a:solidFill>
                <a:latin typeface="仿宋_GB2312" pitchFamily="49" charset="-122"/>
              </a:rPr>
              <a:t>，表示无序号帧，不提供使用序号和确认的可靠传输；但是在不可靠线路上，可使用有序号的可靠传输。</a:t>
            </a:r>
          </a:p>
          <a:p>
            <a:pPr marL="714375" lvl="2" indent="-539750" eaLnBrk="1" hangingPunct="1">
              <a:lnSpc>
                <a:spcPct val="90000"/>
              </a:lnSpc>
              <a:buClr>
                <a:srgbClr val="000099"/>
              </a:buClr>
            </a:pPr>
            <a:r>
              <a:rPr lang="zh-CN" altLang="en-US" dirty="0" smtClean="0">
                <a:solidFill>
                  <a:srgbClr val="003399"/>
                </a:solidFill>
                <a:latin typeface="仿宋_GB2312" pitchFamily="49" charset="-122"/>
              </a:rPr>
              <a:t>协议域：指示净负荷中是何种包，比如</a:t>
            </a:r>
            <a:r>
              <a:rPr lang="en-US" altLang="zh-CN" dirty="0" smtClean="0">
                <a:solidFill>
                  <a:srgbClr val="003399"/>
                </a:solidFill>
                <a:latin typeface="仿宋_GB2312" pitchFamily="49" charset="-122"/>
              </a:rPr>
              <a:t>IP</a:t>
            </a:r>
            <a:r>
              <a:rPr lang="zh-CN" altLang="en-US" dirty="0" smtClean="0">
                <a:solidFill>
                  <a:srgbClr val="003399"/>
                </a:solidFill>
                <a:latin typeface="仿宋_GB2312" pitchFamily="49" charset="-122"/>
              </a:rPr>
              <a:t>，</a:t>
            </a:r>
            <a:r>
              <a:rPr lang="en-US" altLang="zh-CN" dirty="0" smtClean="0">
                <a:solidFill>
                  <a:srgbClr val="003399"/>
                </a:solidFill>
                <a:latin typeface="仿宋_GB2312" pitchFamily="49" charset="-122"/>
              </a:rPr>
              <a:t>IPX</a:t>
            </a:r>
            <a:r>
              <a:rPr lang="zh-CN" altLang="en-US" dirty="0" smtClean="0">
                <a:solidFill>
                  <a:srgbClr val="003399"/>
                </a:solidFill>
                <a:latin typeface="仿宋_GB2312" pitchFamily="49" charset="-122"/>
              </a:rPr>
              <a:t>等。缺省大小为</a:t>
            </a:r>
            <a:r>
              <a:rPr lang="en-US" altLang="zh-CN" dirty="0" smtClean="0">
                <a:solidFill>
                  <a:srgbClr val="003399"/>
                </a:solidFill>
                <a:latin typeface="仿宋_GB2312" pitchFamily="49" charset="-122"/>
              </a:rPr>
              <a:t>2</a:t>
            </a:r>
            <a:r>
              <a:rPr lang="zh-CN" altLang="en-US" dirty="0" smtClean="0">
                <a:solidFill>
                  <a:srgbClr val="003399"/>
                </a:solidFill>
                <a:latin typeface="仿宋_GB2312" pitchFamily="49" charset="-122"/>
              </a:rPr>
              <a:t>个字节。</a:t>
            </a:r>
          </a:p>
          <a:p>
            <a:pPr marL="714375" lvl="2" indent="-539750" eaLnBrk="1" hangingPunct="1">
              <a:lnSpc>
                <a:spcPct val="90000"/>
              </a:lnSpc>
              <a:buClr>
                <a:srgbClr val="000099"/>
              </a:buClr>
            </a:pPr>
            <a:r>
              <a:rPr lang="zh-CN" altLang="en-US" dirty="0" smtClean="0">
                <a:solidFill>
                  <a:srgbClr val="003399"/>
                </a:solidFill>
                <a:latin typeface="仿宋_GB2312" pitchFamily="49" charset="-122"/>
              </a:rPr>
              <a:t>净负荷域：变长，缺省为</a:t>
            </a:r>
            <a:r>
              <a:rPr lang="en-US" altLang="zh-CN" dirty="0" smtClean="0">
                <a:solidFill>
                  <a:srgbClr val="003399"/>
                </a:solidFill>
                <a:latin typeface="仿宋_GB2312" pitchFamily="49" charset="-122"/>
              </a:rPr>
              <a:t>1500</a:t>
            </a:r>
            <a:r>
              <a:rPr lang="zh-CN" altLang="en-US" dirty="0" smtClean="0">
                <a:solidFill>
                  <a:srgbClr val="003399"/>
                </a:solidFill>
                <a:latin typeface="仿宋_GB2312" pitchFamily="49" charset="-122"/>
              </a:rPr>
              <a:t>字节；</a:t>
            </a:r>
          </a:p>
          <a:p>
            <a:pPr marL="714375" lvl="2" indent="-539750" eaLnBrk="1" hangingPunct="1">
              <a:lnSpc>
                <a:spcPct val="90000"/>
              </a:lnSpc>
              <a:buClr>
                <a:srgbClr val="000099"/>
              </a:buClr>
            </a:pPr>
            <a:r>
              <a:rPr lang="zh-CN" altLang="en-US" dirty="0" smtClean="0">
                <a:solidFill>
                  <a:srgbClr val="003399"/>
                </a:solidFill>
                <a:latin typeface="仿宋_GB2312" pitchFamily="49" charset="-122"/>
              </a:rPr>
              <a:t>校验和域：</a:t>
            </a:r>
            <a:r>
              <a:rPr lang="en-US" altLang="zh-CN" dirty="0" smtClean="0">
                <a:solidFill>
                  <a:srgbClr val="003399"/>
                </a:solidFill>
                <a:latin typeface="仿宋_GB2312" pitchFamily="49" charset="-122"/>
              </a:rPr>
              <a:t>2</a:t>
            </a:r>
            <a:r>
              <a:rPr lang="zh-CN" altLang="en-US" dirty="0" smtClean="0">
                <a:solidFill>
                  <a:srgbClr val="003399"/>
                </a:solidFill>
                <a:latin typeface="仿宋_GB2312" pitchFamily="49" charset="-122"/>
              </a:rPr>
              <a:t>或</a:t>
            </a:r>
            <a:r>
              <a:rPr lang="en-US" altLang="zh-CN" dirty="0" smtClean="0">
                <a:solidFill>
                  <a:srgbClr val="003399"/>
                </a:solidFill>
                <a:latin typeface="仿宋_GB2312" pitchFamily="49" charset="-122"/>
              </a:rPr>
              <a:t>4</a:t>
            </a:r>
            <a:r>
              <a:rPr lang="zh-CN" altLang="en-US" dirty="0" smtClean="0">
                <a:solidFill>
                  <a:srgbClr val="003399"/>
                </a:solidFill>
                <a:latin typeface="仿宋_GB2312" pitchFamily="49" charset="-122"/>
              </a:rPr>
              <a:t>个字节</a:t>
            </a:r>
          </a:p>
        </p:txBody>
      </p:sp>
      <p:sp>
        <p:nvSpPr>
          <p:cNvPr id="72708" name="Rectangle 4"/>
          <p:cNvSpPr>
            <a:spLocks noGrp="1" noChangeArrowheads="1"/>
          </p:cNvSpPr>
          <p:nvPr>
            <p:ph type="title"/>
          </p:nvPr>
        </p:nvSpPr>
        <p:spPr>
          <a:xfrm>
            <a:off x="1447800" y="260350"/>
            <a:ext cx="7533320" cy="720725"/>
          </a:xfrm>
          <a:noFill/>
        </p:spPr>
        <p:txBody>
          <a:bodyPr/>
          <a:lstStyle/>
          <a:p>
            <a:pPr eaLnBrk="1" hangingPunct="1"/>
            <a:r>
              <a:rPr lang="en-US" altLang="zh-CN" dirty="0" smtClean="0"/>
              <a:t>PPP</a:t>
            </a:r>
            <a:r>
              <a:rPr lang="zh-CN" altLang="en-US" dirty="0" smtClean="0"/>
              <a:t>帧格式</a:t>
            </a:r>
          </a:p>
        </p:txBody>
      </p:sp>
      <p:graphicFrame>
        <p:nvGraphicFramePr>
          <p:cNvPr id="3" name="对象 2"/>
          <p:cNvGraphicFramePr>
            <a:graphicFrameLocks noChangeAspect="1"/>
          </p:cNvGraphicFramePr>
          <p:nvPr/>
        </p:nvGraphicFramePr>
        <p:xfrm>
          <a:off x="1259632" y="1190764"/>
          <a:ext cx="6984776" cy="1863317"/>
        </p:xfrm>
        <a:graphic>
          <a:graphicData uri="http://schemas.openxmlformats.org/presentationml/2006/ole">
            <mc:AlternateContent xmlns:mc="http://schemas.openxmlformats.org/markup-compatibility/2006">
              <mc:Choice xmlns:v="urn:schemas-microsoft-com:vml" Requires="v">
                <p:oleObj spid="_x0000_s72747" name="Visio" r:id="rId4" imgW="5575300" imgH="1498600" progId="Visio.Drawing.15">
                  <p:embed/>
                </p:oleObj>
              </mc:Choice>
              <mc:Fallback>
                <p:oleObj name="Visio" r:id="rId4" imgW="5575300" imgH="1498600" progId="Visio.Drawing.15">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1190764"/>
                        <a:ext cx="6984776" cy="1863317"/>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47800" y="260350"/>
            <a:ext cx="7444680" cy="720725"/>
          </a:xfrm>
        </p:spPr>
        <p:txBody>
          <a:bodyPr/>
          <a:lstStyle/>
          <a:p>
            <a:r>
              <a:rPr lang="en-US" altLang="zh-CN" dirty="0" smtClean="0"/>
              <a:t>PPP</a:t>
            </a:r>
            <a:r>
              <a:rPr lang="zh-CN" altLang="en-US" dirty="0" smtClean="0"/>
              <a:t>工作状态迁移</a:t>
            </a:r>
            <a:endParaRPr lang="zh-CN" altLang="en-US" dirty="0"/>
          </a:p>
        </p:txBody>
      </p:sp>
      <p:graphicFrame>
        <p:nvGraphicFramePr>
          <p:cNvPr id="4" name="对象 3"/>
          <p:cNvGraphicFramePr>
            <a:graphicFrameLocks noChangeAspect="1"/>
          </p:cNvGraphicFramePr>
          <p:nvPr/>
        </p:nvGraphicFramePr>
        <p:xfrm>
          <a:off x="827584" y="1700808"/>
          <a:ext cx="8031041" cy="3528392"/>
        </p:xfrm>
        <a:graphic>
          <a:graphicData uri="http://schemas.openxmlformats.org/presentationml/2006/ole">
            <mc:AlternateContent xmlns:mc="http://schemas.openxmlformats.org/markup-compatibility/2006">
              <mc:Choice xmlns:v="urn:schemas-microsoft-com:vml" Requires="v">
                <p:oleObj spid="_x0000_s74794" name="Visio" r:id="rId4" imgW="2809240" imgH="1233805" progId="Visio.Drawing.15">
                  <p:embed/>
                </p:oleObj>
              </mc:Choice>
              <mc:Fallback>
                <p:oleObj name="Visio" r:id="rId4" imgW="2809240" imgH="1233805" progId="Visio.Drawing.15">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84" y="1700808"/>
                        <a:ext cx="8031041" cy="3528392"/>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763689" y="278538"/>
            <a:ext cx="7200800" cy="539452"/>
          </a:xfrm>
        </p:spPr>
        <p:txBody>
          <a:bodyPr/>
          <a:lstStyle/>
          <a:p>
            <a:pPr eaLnBrk="1" hangingPunct="1"/>
            <a:r>
              <a:rPr lang="en-US" altLang="zh-CN" dirty="0" smtClean="0"/>
              <a:t>6.7 </a:t>
            </a:r>
            <a:r>
              <a:rPr lang="zh-CN" altLang="en-US" dirty="0" smtClean="0"/>
              <a:t>以太网</a:t>
            </a:r>
          </a:p>
        </p:txBody>
      </p:sp>
      <p:sp>
        <p:nvSpPr>
          <p:cNvPr id="66563" name="Rectangle 3"/>
          <p:cNvSpPr>
            <a:spLocks noGrp="1" noChangeArrowheads="1"/>
          </p:cNvSpPr>
          <p:nvPr>
            <p:ph type="body" idx="1"/>
          </p:nvPr>
        </p:nvSpPr>
        <p:spPr>
          <a:xfrm>
            <a:off x="539750" y="1196974"/>
            <a:ext cx="7992690" cy="4464273"/>
          </a:xfrm>
        </p:spPr>
        <p:txBody>
          <a:bodyPr/>
          <a:lstStyle/>
          <a:p>
            <a:pPr eaLnBrk="1" hangingPunct="1"/>
            <a:r>
              <a:rPr lang="zh-CN" altLang="en-US" dirty="0" smtClean="0">
                <a:latin typeface="黑体" panose="02010609060101010101" pitchFamily="49" charset="-122"/>
                <a:ea typeface="黑体" panose="02010609060101010101" pitchFamily="49" charset="-122"/>
              </a:rPr>
              <a:t>以太网产生背景</a:t>
            </a:r>
          </a:p>
          <a:p>
            <a:pPr marL="901700" lvl="1" indent="-444500" eaLnBrk="1" hangingPunct="1">
              <a:lnSpc>
                <a:spcPct val="120000"/>
              </a:lnSpc>
              <a:spcBef>
                <a:spcPts val="1800"/>
              </a:spcBef>
            </a:pPr>
            <a:r>
              <a:rPr lang="zh-CN" altLang="en-US" dirty="0" smtClean="0"/>
              <a:t>局域网诞生：</a:t>
            </a:r>
            <a:r>
              <a:rPr lang="en-US" altLang="zh-CN" dirty="0" smtClean="0"/>
              <a:t>20</a:t>
            </a:r>
            <a:r>
              <a:rPr lang="zh-CN" altLang="en-US" dirty="0" smtClean="0"/>
              <a:t>世纪</a:t>
            </a:r>
            <a:r>
              <a:rPr lang="en-US" altLang="zh-CN" dirty="0" smtClean="0"/>
              <a:t>80</a:t>
            </a:r>
            <a:r>
              <a:rPr lang="zh-CN" altLang="en-US" dirty="0" smtClean="0"/>
              <a:t>年代，微型机发展迅速，彼此需要近距离相互通信，共享资源；</a:t>
            </a:r>
            <a:endParaRPr lang="en-US" altLang="zh-CN" dirty="0" smtClean="0"/>
          </a:p>
          <a:p>
            <a:pPr marL="901700" lvl="1" indent="-444500" eaLnBrk="1" hangingPunct="1">
              <a:lnSpc>
                <a:spcPct val="120000"/>
              </a:lnSpc>
              <a:spcBef>
                <a:spcPts val="1800"/>
              </a:spcBef>
            </a:pPr>
            <a:r>
              <a:rPr lang="zh-CN" altLang="en-US" dirty="0"/>
              <a:t>局域网是一种将小区域内的各种通信设备互连在一起的通信网络。</a:t>
            </a:r>
            <a:endParaRPr lang="en-US" altLang="zh-CN" dirty="0"/>
          </a:p>
          <a:p>
            <a:pPr marL="901700" lvl="1" indent="-444500" eaLnBrk="1" hangingPunct="1">
              <a:lnSpc>
                <a:spcPct val="120000"/>
              </a:lnSpc>
              <a:spcBef>
                <a:spcPts val="1800"/>
              </a:spcBef>
            </a:pPr>
            <a:r>
              <a:rPr lang="zh-CN" altLang="en-US" dirty="0"/>
              <a:t>以太网是局域网的典型代表，当前几乎垄断了局域网市场。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3" name="Group 1103"/>
          <p:cNvGrpSpPr/>
          <p:nvPr/>
        </p:nvGrpSpPr>
        <p:grpSpPr>
          <a:xfrm>
            <a:off x="683568" y="1303337"/>
            <a:ext cx="4114800" cy="4391025"/>
            <a:chOff x="324" y="1474"/>
            <a:chExt cx="2592" cy="2766"/>
          </a:xfrm>
        </p:grpSpPr>
        <p:sp>
          <p:nvSpPr>
            <p:cNvPr id="8194" name="Rectangle 1104"/>
            <p:cNvSpPr/>
            <p:nvPr/>
          </p:nvSpPr>
          <p:spPr>
            <a:xfrm>
              <a:off x="564" y="3894"/>
              <a:ext cx="0" cy="230"/>
            </a:xfrm>
            <a:prstGeom prst="rect">
              <a:avLst/>
            </a:prstGeom>
            <a:noFill/>
            <a:ln w="9525">
              <a:noFill/>
            </a:ln>
          </p:spPr>
          <p:txBody>
            <a:bodyPr wrap="none" lIns="0" tIns="0" rIns="0" bIns="0" anchor="t">
              <a:spAutoFit/>
            </a:bodyPr>
            <a:lstStyle/>
            <a:p>
              <a:pPr>
                <a:spcBef>
                  <a:spcPct val="0"/>
                </a:spcBef>
                <a:buClrTx/>
                <a:buFontTx/>
                <a:buNone/>
              </a:pPr>
              <a:endParaRPr lang="zh-CN" altLang="zh-CN" sz="2400" dirty="0">
                <a:solidFill>
                  <a:schemeClr val="tx1"/>
                </a:solidFill>
                <a:latin typeface="Times New Roman" panose="02020603050405020304" pitchFamily="18" charset="0"/>
                <a:ea typeface="宋体" panose="02010600030101010101" pitchFamily="2" charset="-122"/>
              </a:endParaRPr>
            </a:p>
          </p:txBody>
        </p:sp>
        <p:sp>
          <p:nvSpPr>
            <p:cNvPr id="8195" name="Rectangle 1105"/>
            <p:cNvSpPr/>
            <p:nvPr/>
          </p:nvSpPr>
          <p:spPr>
            <a:xfrm>
              <a:off x="324" y="1474"/>
              <a:ext cx="151"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Wingdings" panose="05000000000000000000" pitchFamily="2" charset="2"/>
                  <a:ea typeface="宋体" panose="02010600030101010101" pitchFamily="2" charset="-122"/>
                </a:rPr>
                <a:t>ü</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196" name="Rectangle 1106"/>
            <p:cNvSpPr/>
            <p:nvPr/>
          </p:nvSpPr>
          <p:spPr>
            <a:xfrm>
              <a:off x="612" y="1480"/>
              <a:ext cx="960" cy="230"/>
            </a:xfrm>
            <a:prstGeom prst="rect">
              <a:avLst/>
            </a:prstGeom>
            <a:noFill/>
            <a:ln w="9525">
              <a:noFill/>
            </a:ln>
          </p:spPr>
          <p:txBody>
            <a:bodyPr wrap="none" lIns="0" tIns="0" rIns="0" bIns="0" anchor="t">
              <a:spAutoFit/>
            </a:bodyPr>
            <a:lstStyle/>
            <a:p>
              <a:pPr>
                <a:spcBef>
                  <a:spcPct val="0"/>
                </a:spcBef>
                <a:buClrTx/>
                <a:buFontTx/>
                <a:buNone/>
              </a:pPr>
              <a:r>
                <a:rPr lang="zh-CN" altLang="en-US" sz="2400" dirty="0">
                  <a:solidFill>
                    <a:schemeClr val="tx1"/>
                  </a:solidFill>
                  <a:latin typeface="宋体" panose="02010600030101010101" pitchFamily="2" charset="-122"/>
                  <a:ea typeface="宋体" panose="02010600030101010101" pitchFamily="2" charset="-122"/>
                </a:rPr>
                <a:t>覆盖范围小</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197" name="Rectangle 1107"/>
            <p:cNvSpPr/>
            <p:nvPr/>
          </p:nvSpPr>
          <p:spPr>
            <a:xfrm>
              <a:off x="612" y="1702"/>
              <a:ext cx="2112" cy="230"/>
            </a:xfrm>
            <a:prstGeom prst="rect">
              <a:avLst/>
            </a:prstGeom>
            <a:noFill/>
            <a:ln w="9525">
              <a:noFill/>
            </a:ln>
          </p:spPr>
          <p:txBody>
            <a:bodyPr wrap="none" lIns="0" tIns="0" rIns="0" bIns="0" anchor="t">
              <a:spAutoFit/>
            </a:bodyPr>
            <a:lstStyle/>
            <a:p>
              <a:pPr>
                <a:spcBef>
                  <a:spcPct val="0"/>
                </a:spcBef>
                <a:buClrTx/>
                <a:buFontTx/>
                <a:buNone/>
              </a:pPr>
              <a:r>
                <a:rPr lang="zh-CN" altLang="en-US" sz="2400" dirty="0">
                  <a:solidFill>
                    <a:schemeClr val="tx1"/>
                  </a:solidFill>
                  <a:latin typeface="宋体" panose="02010600030101010101" pitchFamily="2" charset="-122"/>
                  <a:ea typeface="宋体" panose="02010600030101010101" pitchFamily="2" charset="-122"/>
                </a:rPr>
                <a:t>房间、建筑物、园区范围</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198" name="Rectangle 1108"/>
            <p:cNvSpPr/>
            <p:nvPr/>
          </p:nvSpPr>
          <p:spPr>
            <a:xfrm>
              <a:off x="604" y="1932"/>
              <a:ext cx="576" cy="230"/>
            </a:xfrm>
            <a:prstGeom prst="rect">
              <a:avLst/>
            </a:prstGeom>
            <a:noFill/>
            <a:ln w="9525">
              <a:noFill/>
            </a:ln>
          </p:spPr>
          <p:txBody>
            <a:bodyPr wrap="none" lIns="0" tIns="0" rIns="0" bIns="0" anchor="t">
              <a:spAutoFit/>
            </a:bodyPr>
            <a:lstStyle/>
            <a:p>
              <a:pPr>
                <a:spcBef>
                  <a:spcPct val="0"/>
                </a:spcBef>
                <a:buClrTx/>
                <a:buFontTx/>
                <a:buNone/>
              </a:pPr>
              <a:r>
                <a:rPr lang="zh-CN" altLang="en-US" sz="2400" dirty="0">
                  <a:solidFill>
                    <a:schemeClr val="tx1"/>
                  </a:solidFill>
                  <a:latin typeface="宋体" panose="02010600030101010101" pitchFamily="2" charset="-122"/>
                  <a:ea typeface="宋体" panose="02010600030101010101" pitchFamily="2" charset="-122"/>
                </a:rPr>
                <a:t>距离≤</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199" name="Rectangle 1109"/>
            <p:cNvSpPr/>
            <p:nvPr/>
          </p:nvSpPr>
          <p:spPr>
            <a:xfrm>
              <a:off x="1186" y="1906"/>
              <a:ext cx="210"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Tahoma" panose="020B0604030504040204" pitchFamily="34" charset="0"/>
                  <a:ea typeface="宋体" panose="02010600030101010101" pitchFamily="2" charset="-122"/>
                </a:rPr>
                <a:t>25</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00" name="Rectangle 1110"/>
            <p:cNvSpPr/>
            <p:nvPr/>
          </p:nvSpPr>
          <p:spPr>
            <a:xfrm>
              <a:off x="1430" y="1906"/>
              <a:ext cx="257"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Tahoma" panose="020B0604030504040204" pitchFamily="34" charset="0"/>
                  <a:ea typeface="宋体" panose="02010600030101010101" pitchFamily="2" charset="-122"/>
                </a:rPr>
                <a:t>km</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01" name="Rectangle 1111"/>
            <p:cNvSpPr/>
            <p:nvPr/>
          </p:nvSpPr>
          <p:spPr>
            <a:xfrm>
              <a:off x="324" y="2164"/>
              <a:ext cx="151"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Wingdings" panose="05000000000000000000" pitchFamily="2" charset="2"/>
                  <a:ea typeface="宋体" panose="02010600030101010101" pitchFamily="2" charset="-122"/>
                </a:rPr>
                <a:t>ü</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02" name="Rectangle 1112"/>
            <p:cNvSpPr/>
            <p:nvPr/>
          </p:nvSpPr>
          <p:spPr>
            <a:xfrm>
              <a:off x="612" y="2170"/>
              <a:ext cx="960" cy="230"/>
            </a:xfrm>
            <a:prstGeom prst="rect">
              <a:avLst/>
            </a:prstGeom>
            <a:noFill/>
            <a:ln w="9525">
              <a:noFill/>
            </a:ln>
          </p:spPr>
          <p:txBody>
            <a:bodyPr wrap="none" lIns="0" tIns="0" rIns="0" bIns="0" anchor="t">
              <a:spAutoFit/>
            </a:bodyPr>
            <a:lstStyle/>
            <a:p>
              <a:pPr>
                <a:spcBef>
                  <a:spcPct val="0"/>
                </a:spcBef>
                <a:buClrTx/>
                <a:buFontTx/>
                <a:buNone/>
              </a:pPr>
              <a:r>
                <a:rPr lang="zh-CN" altLang="en-US" sz="2400" dirty="0">
                  <a:solidFill>
                    <a:schemeClr val="tx1"/>
                  </a:solidFill>
                  <a:latin typeface="宋体" panose="02010600030101010101" pitchFamily="2" charset="-122"/>
                  <a:ea typeface="宋体" panose="02010600030101010101" pitchFamily="2" charset="-122"/>
                </a:rPr>
                <a:t>高传输速率</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203" name="Rectangle 1113"/>
            <p:cNvSpPr/>
            <p:nvPr/>
          </p:nvSpPr>
          <p:spPr>
            <a:xfrm>
              <a:off x="612" y="2366"/>
              <a:ext cx="210"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Tahoma" panose="020B0604030504040204" pitchFamily="34" charset="0"/>
                  <a:ea typeface="宋体" panose="02010600030101010101" pitchFamily="2" charset="-122"/>
                </a:rPr>
                <a:t>10</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04" name="Rectangle 1114"/>
            <p:cNvSpPr/>
            <p:nvPr/>
          </p:nvSpPr>
          <p:spPr>
            <a:xfrm>
              <a:off x="856" y="2366"/>
              <a:ext cx="446"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Tahoma" panose="020B0604030504040204" pitchFamily="34" charset="0"/>
                  <a:ea typeface="宋体" panose="02010600030101010101" pitchFamily="2" charset="-122"/>
                </a:rPr>
                <a:t>Mbps</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05" name="Rectangle 1115"/>
            <p:cNvSpPr/>
            <p:nvPr/>
          </p:nvSpPr>
          <p:spPr>
            <a:xfrm>
              <a:off x="1368" y="2392"/>
              <a:ext cx="193" cy="230"/>
            </a:xfrm>
            <a:prstGeom prst="rect">
              <a:avLst/>
            </a:prstGeom>
            <a:noFill/>
            <a:ln w="9525">
              <a:noFill/>
            </a:ln>
          </p:spPr>
          <p:txBody>
            <a:bodyPr wrap="none" lIns="0" tIns="0" rIns="0" bIns="0" anchor="t">
              <a:spAutoFit/>
            </a:bodyPr>
            <a:lstStyle/>
            <a:p>
              <a:pPr>
                <a:spcBef>
                  <a:spcPct val="0"/>
                </a:spcBef>
                <a:buClrTx/>
                <a:buFontTx/>
                <a:buNone/>
              </a:pPr>
              <a:r>
                <a:rPr lang="zh-CN" altLang="en-US" sz="2400" dirty="0">
                  <a:solidFill>
                    <a:schemeClr val="tx1"/>
                  </a:solidFill>
                  <a:latin typeface="宋体" panose="02010600030101010101" pitchFamily="2" charset="-122"/>
                  <a:ea typeface="宋体" panose="02010600030101010101" pitchFamily="2" charset="-122"/>
                </a:rPr>
                <a:t>～</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206" name="Rectangle 1116"/>
            <p:cNvSpPr/>
            <p:nvPr/>
          </p:nvSpPr>
          <p:spPr>
            <a:xfrm>
              <a:off x="1562" y="2366"/>
              <a:ext cx="1133" cy="233"/>
            </a:xfrm>
            <a:prstGeom prst="rect">
              <a:avLst/>
            </a:prstGeom>
            <a:noFill/>
            <a:ln w="9525">
              <a:noFill/>
            </a:ln>
          </p:spPr>
          <p:txBody>
            <a:bodyPr wrap="none" lIns="0" tIns="0" rIns="0" bIns="0" anchor="t">
              <a:spAutoFit/>
            </a:bodyPr>
            <a:lstStyle/>
            <a:p>
              <a:pPr>
                <a:spcBef>
                  <a:spcPct val="0"/>
                </a:spcBef>
                <a:buClrTx/>
                <a:buFontTx/>
                <a:buNone/>
              </a:pPr>
              <a:r>
                <a:rPr lang="en-US" altLang="zh-CN" sz="2400" dirty="0" smtClean="0">
                  <a:solidFill>
                    <a:schemeClr val="tx1"/>
                  </a:solidFill>
                  <a:latin typeface="Tahoma" panose="020B0604030504040204" pitchFamily="34" charset="0"/>
                  <a:ea typeface="宋体" panose="02010600030101010101" pitchFamily="2" charset="-122"/>
                </a:rPr>
                <a:t>10000Mbps</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07" name="Rectangle 1117"/>
            <p:cNvSpPr/>
            <p:nvPr/>
          </p:nvSpPr>
          <p:spPr>
            <a:xfrm>
              <a:off x="324" y="2624"/>
              <a:ext cx="151"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Wingdings" panose="05000000000000000000" pitchFamily="2" charset="2"/>
                  <a:ea typeface="宋体" panose="02010600030101010101" pitchFamily="2" charset="-122"/>
                </a:rPr>
                <a:t>ü</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08" name="Rectangle 1118"/>
            <p:cNvSpPr/>
            <p:nvPr/>
          </p:nvSpPr>
          <p:spPr>
            <a:xfrm>
              <a:off x="612" y="2630"/>
              <a:ext cx="768" cy="230"/>
            </a:xfrm>
            <a:prstGeom prst="rect">
              <a:avLst/>
            </a:prstGeom>
            <a:noFill/>
            <a:ln w="9525">
              <a:noFill/>
            </a:ln>
          </p:spPr>
          <p:txBody>
            <a:bodyPr wrap="none" lIns="0" tIns="0" rIns="0" bIns="0" anchor="t">
              <a:spAutoFit/>
            </a:bodyPr>
            <a:lstStyle/>
            <a:p>
              <a:pPr>
                <a:spcBef>
                  <a:spcPct val="0"/>
                </a:spcBef>
                <a:buClrTx/>
                <a:buFontTx/>
                <a:buNone/>
              </a:pPr>
              <a:r>
                <a:rPr lang="zh-CN" altLang="en-US" sz="2400" dirty="0">
                  <a:solidFill>
                    <a:schemeClr val="tx1"/>
                  </a:solidFill>
                  <a:latin typeface="宋体" panose="02010600030101010101" pitchFamily="2" charset="-122"/>
                  <a:ea typeface="宋体" panose="02010600030101010101" pitchFamily="2" charset="-122"/>
                </a:rPr>
                <a:t>低误码率</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209" name="Rectangle 1119"/>
            <p:cNvSpPr/>
            <p:nvPr/>
          </p:nvSpPr>
          <p:spPr>
            <a:xfrm>
              <a:off x="612" y="2826"/>
              <a:ext cx="210"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Tahoma" panose="020B0604030504040204" pitchFamily="34" charset="0"/>
                  <a:ea typeface="宋体" panose="02010600030101010101" pitchFamily="2" charset="-122"/>
                </a:rPr>
                <a:t>10</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10" name="Rectangle 1120"/>
            <p:cNvSpPr/>
            <p:nvPr/>
          </p:nvSpPr>
          <p:spPr>
            <a:xfrm>
              <a:off x="856" y="2834"/>
              <a:ext cx="47" cy="154"/>
            </a:xfrm>
            <a:prstGeom prst="rect">
              <a:avLst/>
            </a:prstGeom>
            <a:noFill/>
            <a:ln w="9525">
              <a:noFill/>
            </a:ln>
          </p:spPr>
          <p:txBody>
            <a:bodyPr wrap="none" lIns="0" tIns="0" rIns="0" bIns="0" anchor="t">
              <a:spAutoFit/>
            </a:bodyPr>
            <a:lstStyle/>
            <a:p>
              <a:pPr>
                <a:spcBef>
                  <a:spcPct val="0"/>
                </a:spcBef>
                <a:buClrTx/>
                <a:buFontTx/>
                <a:buNone/>
              </a:pPr>
              <a:r>
                <a:rPr lang="en-US" altLang="zh-CN" sz="1600" dirty="0">
                  <a:solidFill>
                    <a:schemeClr val="tx1"/>
                  </a:solidFill>
                  <a:latin typeface="Tahoma" panose="020B0604030504040204" pitchFamily="34" charset="0"/>
                  <a:ea typeface="宋体" panose="02010600030101010101" pitchFamily="2" charset="-122"/>
                </a:rPr>
                <a:t>-</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11" name="Rectangle 1121"/>
            <p:cNvSpPr/>
            <p:nvPr/>
          </p:nvSpPr>
          <p:spPr>
            <a:xfrm>
              <a:off x="912" y="2834"/>
              <a:ext cx="70" cy="154"/>
            </a:xfrm>
            <a:prstGeom prst="rect">
              <a:avLst/>
            </a:prstGeom>
            <a:noFill/>
            <a:ln w="9525">
              <a:noFill/>
            </a:ln>
          </p:spPr>
          <p:txBody>
            <a:bodyPr wrap="none" lIns="0" tIns="0" rIns="0" bIns="0" anchor="t">
              <a:spAutoFit/>
            </a:bodyPr>
            <a:lstStyle/>
            <a:p>
              <a:pPr>
                <a:spcBef>
                  <a:spcPct val="0"/>
                </a:spcBef>
                <a:buClrTx/>
                <a:buFontTx/>
                <a:buNone/>
              </a:pPr>
              <a:r>
                <a:rPr lang="en-US" altLang="zh-CN" sz="1600" dirty="0">
                  <a:solidFill>
                    <a:schemeClr val="tx1"/>
                  </a:solidFill>
                  <a:latin typeface="Tahoma" panose="020B0604030504040204" pitchFamily="34" charset="0"/>
                  <a:ea typeface="宋体" panose="02010600030101010101" pitchFamily="2" charset="-122"/>
                </a:rPr>
                <a:t>8</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12" name="Rectangle 1122"/>
            <p:cNvSpPr/>
            <p:nvPr/>
          </p:nvSpPr>
          <p:spPr>
            <a:xfrm>
              <a:off x="1050" y="2852"/>
              <a:ext cx="193" cy="230"/>
            </a:xfrm>
            <a:prstGeom prst="rect">
              <a:avLst/>
            </a:prstGeom>
            <a:noFill/>
            <a:ln w="9525">
              <a:noFill/>
            </a:ln>
          </p:spPr>
          <p:txBody>
            <a:bodyPr wrap="none" lIns="0" tIns="0" rIns="0" bIns="0" anchor="t">
              <a:spAutoFit/>
            </a:bodyPr>
            <a:lstStyle/>
            <a:p>
              <a:pPr>
                <a:spcBef>
                  <a:spcPct val="0"/>
                </a:spcBef>
                <a:buClrTx/>
                <a:buFontTx/>
                <a:buNone/>
              </a:pPr>
              <a:r>
                <a:rPr lang="zh-CN" altLang="en-US" sz="2400" dirty="0">
                  <a:solidFill>
                    <a:schemeClr val="tx1"/>
                  </a:solidFill>
                  <a:latin typeface="宋体" panose="02010600030101010101" pitchFamily="2" charset="-122"/>
                  <a:ea typeface="宋体" panose="02010600030101010101" pitchFamily="2" charset="-122"/>
                </a:rPr>
                <a:t>～</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213" name="Rectangle 1123"/>
            <p:cNvSpPr/>
            <p:nvPr/>
          </p:nvSpPr>
          <p:spPr>
            <a:xfrm>
              <a:off x="1300" y="2826"/>
              <a:ext cx="210"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Tahoma" panose="020B0604030504040204" pitchFamily="34" charset="0"/>
                  <a:ea typeface="宋体" panose="02010600030101010101" pitchFamily="2" charset="-122"/>
                </a:rPr>
                <a:t>10</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14" name="Rectangle 1124"/>
            <p:cNvSpPr/>
            <p:nvPr/>
          </p:nvSpPr>
          <p:spPr>
            <a:xfrm>
              <a:off x="1544" y="2834"/>
              <a:ext cx="47" cy="154"/>
            </a:xfrm>
            <a:prstGeom prst="rect">
              <a:avLst/>
            </a:prstGeom>
            <a:noFill/>
            <a:ln w="9525">
              <a:noFill/>
            </a:ln>
          </p:spPr>
          <p:txBody>
            <a:bodyPr wrap="none" lIns="0" tIns="0" rIns="0" bIns="0" anchor="t">
              <a:spAutoFit/>
            </a:bodyPr>
            <a:lstStyle/>
            <a:p>
              <a:pPr>
                <a:spcBef>
                  <a:spcPct val="0"/>
                </a:spcBef>
                <a:buClrTx/>
                <a:buFontTx/>
                <a:buNone/>
              </a:pPr>
              <a:r>
                <a:rPr lang="en-US" altLang="zh-CN" sz="1600" dirty="0">
                  <a:solidFill>
                    <a:schemeClr val="tx1"/>
                  </a:solidFill>
                  <a:latin typeface="Tahoma" panose="020B0604030504040204" pitchFamily="34" charset="0"/>
                  <a:ea typeface="宋体" panose="02010600030101010101" pitchFamily="2" charset="-122"/>
                </a:rPr>
                <a:t>-</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15" name="Rectangle 1125"/>
            <p:cNvSpPr/>
            <p:nvPr/>
          </p:nvSpPr>
          <p:spPr>
            <a:xfrm>
              <a:off x="1600" y="2834"/>
              <a:ext cx="140" cy="154"/>
            </a:xfrm>
            <a:prstGeom prst="rect">
              <a:avLst/>
            </a:prstGeom>
            <a:noFill/>
            <a:ln w="9525">
              <a:noFill/>
            </a:ln>
          </p:spPr>
          <p:txBody>
            <a:bodyPr wrap="none" lIns="0" tIns="0" rIns="0" bIns="0" anchor="t">
              <a:spAutoFit/>
            </a:bodyPr>
            <a:lstStyle/>
            <a:p>
              <a:pPr>
                <a:spcBef>
                  <a:spcPct val="0"/>
                </a:spcBef>
                <a:buClrTx/>
                <a:buFontTx/>
                <a:buNone/>
              </a:pPr>
              <a:r>
                <a:rPr lang="en-US" altLang="zh-CN" sz="1600" dirty="0">
                  <a:solidFill>
                    <a:schemeClr val="tx1"/>
                  </a:solidFill>
                  <a:latin typeface="Tahoma" panose="020B0604030504040204" pitchFamily="34" charset="0"/>
                  <a:ea typeface="宋体" panose="02010600030101010101" pitchFamily="2" charset="-122"/>
                </a:rPr>
                <a:t>10</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16" name="Rectangle 1126"/>
            <p:cNvSpPr/>
            <p:nvPr/>
          </p:nvSpPr>
          <p:spPr>
            <a:xfrm>
              <a:off x="324" y="3084"/>
              <a:ext cx="192"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Wingdings" panose="05000000000000000000" pitchFamily="2" charset="2"/>
                  <a:ea typeface="宋体" panose="02010600030101010101" pitchFamily="2" charset="-122"/>
                </a:rPr>
                <a:t> </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18" name="Rectangle 1128"/>
            <p:cNvSpPr/>
            <p:nvPr/>
          </p:nvSpPr>
          <p:spPr>
            <a:xfrm>
              <a:off x="324" y="3314"/>
              <a:ext cx="151"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Wingdings" panose="05000000000000000000" pitchFamily="2" charset="2"/>
                  <a:ea typeface="宋体" panose="02010600030101010101" pitchFamily="2" charset="-122"/>
                </a:rPr>
                <a:t>ü</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19" name="Rectangle 1129"/>
            <p:cNvSpPr/>
            <p:nvPr/>
          </p:nvSpPr>
          <p:spPr>
            <a:xfrm>
              <a:off x="612" y="3320"/>
              <a:ext cx="1152" cy="230"/>
            </a:xfrm>
            <a:prstGeom prst="rect">
              <a:avLst/>
            </a:prstGeom>
            <a:noFill/>
            <a:ln w="9525">
              <a:noFill/>
            </a:ln>
          </p:spPr>
          <p:txBody>
            <a:bodyPr wrap="none" lIns="0" tIns="0" rIns="0" bIns="0" anchor="t">
              <a:spAutoFit/>
            </a:bodyPr>
            <a:lstStyle/>
            <a:p>
              <a:pPr>
                <a:spcBef>
                  <a:spcPct val="0"/>
                </a:spcBef>
                <a:buClrTx/>
                <a:buFontTx/>
                <a:buNone/>
              </a:pPr>
              <a:r>
                <a:rPr lang="zh-CN" altLang="en-US" sz="2400" dirty="0">
                  <a:solidFill>
                    <a:schemeClr val="tx1"/>
                  </a:solidFill>
                  <a:latin typeface="宋体" panose="02010600030101010101" pitchFamily="2" charset="-122"/>
                  <a:ea typeface="宋体" panose="02010600030101010101" pitchFamily="2" charset="-122"/>
                </a:rPr>
                <a:t>采用基带传输</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220" name="Rectangle 1130"/>
            <p:cNvSpPr/>
            <p:nvPr/>
          </p:nvSpPr>
          <p:spPr>
            <a:xfrm>
              <a:off x="324" y="3544"/>
              <a:ext cx="151" cy="230"/>
            </a:xfrm>
            <a:prstGeom prst="rect">
              <a:avLst/>
            </a:prstGeom>
            <a:noFill/>
            <a:ln w="9525">
              <a:noFill/>
            </a:ln>
          </p:spPr>
          <p:txBody>
            <a:bodyPr wrap="none" lIns="0" tIns="0" rIns="0" bIns="0" anchor="t">
              <a:spAutoFit/>
            </a:bodyPr>
            <a:lstStyle/>
            <a:p>
              <a:pPr>
                <a:spcBef>
                  <a:spcPct val="0"/>
                </a:spcBef>
                <a:buClrTx/>
                <a:buFontTx/>
                <a:buNone/>
              </a:pPr>
              <a:r>
                <a:rPr lang="en-US" altLang="zh-CN" sz="2400" dirty="0">
                  <a:solidFill>
                    <a:schemeClr val="tx1"/>
                  </a:solidFill>
                  <a:latin typeface="Wingdings" panose="05000000000000000000" pitchFamily="2" charset="2"/>
                  <a:ea typeface="宋体" panose="02010600030101010101" pitchFamily="2" charset="-122"/>
                </a:rPr>
                <a:t>ü</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8221" name="Rectangle 1131"/>
            <p:cNvSpPr/>
            <p:nvPr/>
          </p:nvSpPr>
          <p:spPr>
            <a:xfrm>
              <a:off x="612" y="3550"/>
              <a:ext cx="2304" cy="230"/>
            </a:xfrm>
            <a:prstGeom prst="rect">
              <a:avLst/>
            </a:prstGeom>
            <a:noFill/>
            <a:ln w="9525">
              <a:noFill/>
            </a:ln>
          </p:spPr>
          <p:txBody>
            <a:bodyPr wrap="none" lIns="0" tIns="0" rIns="0" bIns="0" anchor="t">
              <a:spAutoFit/>
            </a:bodyPr>
            <a:lstStyle/>
            <a:p>
              <a:pPr>
                <a:spcBef>
                  <a:spcPct val="0"/>
                </a:spcBef>
                <a:buClrTx/>
                <a:buFontTx/>
                <a:buNone/>
              </a:pPr>
              <a:r>
                <a:rPr lang="zh-CN" altLang="en-US" sz="2400" dirty="0">
                  <a:solidFill>
                    <a:schemeClr val="tx1"/>
                  </a:solidFill>
                  <a:latin typeface="宋体" panose="02010600030101010101" pitchFamily="2" charset="-122"/>
                  <a:ea typeface="宋体" panose="02010600030101010101" pitchFamily="2" charset="-122"/>
                </a:rPr>
                <a:t>为一个单位所拥有，自行建</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222" name="Rectangle 1132"/>
            <p:cNvSpPr/>
            <p:nvPr/>
          </p:nvSpPr>
          <p:spPr>
            <a:xfrm>
              <a:off x="612" y="3780"/>
              <a:ext cx="1728" cy="460"/>
            </a:xfrm>
            <a:prstGeom prst="rect">
              <a:avLst/>
            </a:prstGeom>
            <a:noFill/>
            <a:ln w="9525">
              <a:noFill/>
            </a:ln>
          </p:spPr>
          <p:txBody>
            <a:bodyPr wrap="none" lIns="0" tIns="0" rIns="0" bIns="0" anchor="t">
              <a:spAutoFit/>
            </a:bodyPr>
            <a:lstStyle/>
            <a:p>
              <a:pPr>
                <a:spcBef>
                  <a:spcPct val="0"/>
                </a:spcBef>
                <a:buClrTx/>
                <a:buFontTx/>
                <a:buNone/>
              </a:pPr>
              <a:r>
                <a:rPr lang="zh-CN" altLang="en-US" sz="2400" dirty="0">
                  <a:solidFill>
                    <a:schemeClr val="tx1"/>
                  </a:solidFill>
                  <a:latin typeface="宋体" panose="02010600030101010101" pitchFamily="2" charset="-122"/>
                  <a:ea typeface="宋体" panose="02010600030101010101" pitchFamily="2" charset="-122"/>
                </a:rPr>
                <a:t>设，不对外提供服务</a:t>
              </a:r>
            </a:p>
            <a:p>
              <a:pPr>
                <a:spcBef>
                  <a:spcPct val="0"/>
                </a:spcBef>
                <a:buClrTx/>
                <a:buFontTx/>
                <a:buNone/>
              </a:pPr>
              <a:endParaRPr lang="en-US" altLang="zh-CN" sz="2400" dirty="0">
                <a:solidFill>
                  <a:schemeClr val="tx1"/>
                </a:solidFill>
                <a:latin typeface="Times New Roman" panose="02020603050405020304" pitchFamily="18" charset="0"/>
                <a:ea typeface="宋体" panose="02010600030101010101" pitchFamily="2" charset="-122"/>
              </a:endParaRPr>
            </a:p>
          </p:txBody>
        </p:sp>
      </p:grpSp>
      <p:pic>
        <p:nvPicPr>
          <p:cNvPr id="8223" name="Picture 1137"/>
          <p:cNvPicPr>
            <a:picLocks noChangeAspect="1"/>
          </p:cNvPicPr>
          <p:nvPr/>
        </p:nvPicPr>
        <p:blipFill>
          <a:blip r:embed="rId3"/>
          <a:stretch>
            <a:fillRect/>
          </a:stretch>
        </p:blipFill>
        <p:spPr>
          <a:xfrm>
            <a:off x="5171287" y="1208088"/>
            <a:ext cx="3533775" cy="4581525"/>
          </a:xfrm>
          <a:prstGeom prst="rect">
            <a:avLst/>
          </a:prstGeom>
          <a:noFill/>
          <a:ln w="9525">
            <a:noFill/>
          </a:ln>
        </p:spPr>
      </p:pic>
      <p:sp>
        <p:nvSpPr>
          <p:cNvPr id="4098" name="Rectangle 2"/>
          <p:cNvSpPr>
            <a:spLocks noGrp="1" noChangeArrowheads="1"/>
          </p:cNvSpPr>
          <p:nvPr>
            <p:ph type="title"/>
          </p:nvPr>
        </p:nvSpPr>
        <p:spPr>
          <a:xfrm>
            <a:off x="1296987" y="290513"/>
            <a:ext cx="7667501" cy="72072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dirty="0" smtClean="0">
                <a:ln>
                  <a:noFill/>
                </a:ln>
                <a:effectLst/>
                <a:uLnTx/>
                <a:uFillTx/>
                <a:latin typeface="+mj-lt"/>
                <a:ea typeface="+mj-ea"/>
                <a:cs typeface="+mj-cs"/>
              </a:rPr>
              <a:t>局域网基本特征 </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123" name="Rectangle 219"/>
          <p:cNvSpPr>
            <a:spLocks noChangeArrowheads="1"/>
          </p:cNvSpPr>
          <p:nvPr/>
        </p:nvSpPr>
        <p:spPr bwMode="auto">
          <a:xfrm>
            <a:off x="755650" y="226892"/>
            <a:ext cx="8137525" cy="758081"/>
          </a:xfrm>
          <a:prstGeom prst="rect">
            <a:avLst/>
          </a:prstGeom>
          <a:noFill/>
          <a:ln w="9525">
            <a:noFill/>
            <a:miter lim="800000"/>
          </a:ln>
          <a:effectLst>
            <a:outerShdw dist="17961" dir="2700000" algn="ctr" rotWithShape="0">
              <a:schemeClr val="bg2"/>
            </a:outerShdw>
          </a:effectLst>
        </p:spPr>
        <p:txBody>
          <a:bodyPr lIns="92075" tIns="46038" rIns="92075" bIns="46038"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smtClean="0">
                <a:ln>
                  <a:noFill/>
                </a:ln>
                <a:solidFill>
                  <a:schemeClr val="bg1"/>
                </a:solidFill>
                <a:effectLst/>
                <a:uLnTx/>
                <a:uFillTx/>
                <a:latin typeface="Arial" panose="020B0604020202020204" pitchFamily="34" charset="0"/>
                <a:ea typeface="黑体" panose="02010609060101010101" pitchFamily="49" charset="-122"/>
                <a:cs typeface="+mn-cs"/>
              </a:rPr>
              <a:t>IEEE </a:t>
            </a:r>
            <a:r>
              <a:rPr kumimoji="1" lang="en-US" altLang="zh-CN" sz="3200" b="0" i="0" u="none" strike="noStrike" kern="1200" cap="none" spc="0" normalizeH="0" baseline="0" noProof="0" dirty="0">
                <a:ln>
                  <a:noFill/>
                </a:ln>
                <a:solidFill>
                  <a:schemeClr val="bg1"/>
                </a:solidFill>
                <a:effectLst/>
                <a:uLnTx/>
                <a:uFillTx/>
                <a:latin typeface="Arial" panose="020B0604020202020204" pitchFamily="34" charset="0"/>
                <a:ea typeface="黑体" panose="02010609060101010101" pitchFamily="49" charset="-122"/>
                <a:cs typeface="+mn-cs"/>
              </a:rPr>
              <a:t>802</a:t>
            </a:r>
            <a:r>
              <a:rPr kumimoji="1" lang="zh-CN" altLang="en-US" sz="3200" b="0" i="0" u="none" strike="noStrike" kern="1200" cap="none" spc="0" normalizeH="0" baseline="0" noProof="0" dirty="0">
                <a:ln>
                  <a:noFill/>
                </a:ln>
                <a:solidFill>
                  <a:schemeClr val="bg1"/>
                </a:solidFill>
                <a:effectLst/>
                <a:uLnTx/>
                <a:uFillTx/>
                <a:latin typeface="Arial" panose="020B0604020202020204" pitchFamily="34" charset="0"/>
                <a:ea typeface="黑体" panose="02010609060101010101" pitchFamily="49" charset="-122"/>
                <a:cs typeface="+mn-cs"/>
              </a:rPr>
              <a:t>局域网络体系结构</a:t>
            </a:r>
          </a:p>
        </p:txBody>
      </p:sp>
      <p:sp>
        <p:nvSpPr>
          <p:cNvPr id="12290" name="Rectangle 221"/>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sp>
        <p:nvSpPr>
          <p:cNvPr id="12291" name="Rectangle 223"/>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12292" name="Object 222"/>
          <p:cNvGraphicFramePr/>
          <p:nvPr/>
        </p:nvGraphicFramePr>
        <p:xfrm>
          <a:off x="971600" y="1844824"/>
          <a:ext cx="6780213" cy="3527425"/>
        </p:xfrm>
        <a:graphic>
          <a:graphicData uri="http://schemas.openxmlformats.org/presentationml/2006/ole">
            <mc:AlternateContent xmlns:mc="http://schemas.openxmlformats.org/markup-compatibility/2006">
              <mc:Choice xmlns:v="urn:schemas-microsoft-com:vml" Requires="v">
                <p:oleObj spid="_x0000_s104487" r:id="rId4" imgW="3416300" imgH="1790700" progId="Visio.Drawing.11">
                  <p:embed/>
                </p:oleObj>
              </mc:Choice>
              <mc:Fallback>
                <p:oleObj r:id="rId4" imgW="3416300" imgH="1790700" progId="Visio.Drawing.11">
                  <p:embed/>
                  <p:pic>
                    <p:nvPicPr>
                      <p:cNvPr id="0" name="Object 222"/>
                      <p:cNvPicPr/>
                      <p:nvPr/>
                    </p:nvPicPr>
                    <p:blipFill>
                      <a:blip r:embed="rId5"/>
                      <a:stretch>
                        <a:fillRect/>
                      </a:stretch>
                    </p:blipFill>
                    <p:spPr>
                      <a:xfrm>
                        <a:off x="971600" y="1844824"/>
                        <a:ext cx="6780213" cy="3527425"/>
                      </a:xfrm>
                      <a:prstGeom prst="rect">
                        <a:avLst/>
                      </a:prstGeom>
                      <a:noFill/>
                      <a:ln w="38100">
                        <a:noFill/>
                        <a:miter/>
                      </a:ln>
                    </p:spPr>
                  </p:pic>
                </p:oleObj>
              </mc:Fallback>
            </mc:AlternateContent>
          </a:graphicData>
        </a:graphic>
      </p:graphicFrame>
      <p:sp>
        <p:nvSpPr>
          <p:cNvPr id="10242" name="Rectangle 3"/>
          <p:cNvSpPr>
            <a:spLocks noGrp="1"/>
          </p:cNvSpPr>
          <p:nvPr>
            <p:ph type="body" sz="half" idx="4294967295"/>
          </p:nvPr>
        </p:nvSpPr>
        <p:spPr>
          <a:xfrm>
            <a:off x="777021" y="1207281"/>
            <a:ext cx="7554913" cy="719138"/>
          </a:xfrm>
        </p:spPr>
        <p:txBody>
          <a:bodyPr vert="horz" wrap="square" lIns="91440" tIns="45720" rIns="91440" bIns="45720" anchor="t"/>
          <a:lstStyle/>
          <a:p>
            <a:pPr eaLnBrk="1" hangingPunct="1">
              <a:buClr>
                <a:srgbClr val="3366FF"/>
              </a:buClr>
              <a:buSzTx/>
              <a:buFont typeface="Wingdings" panose="05000000000000000000" pitchFamily="2" charset="2"/>
            </a:pPr>
            <a:r>
              <a:rPr lang="en-US" altLang="zh-CN" sz="2800" dirty="0"/>
              <a:t>IEEE 802</a:t>
            </a:r>
            <a:r>
              <a:rPr lang="zh-CN" altLang="en-US" sz="2800" dirty="0"/>
              <a:t>与</a:t>
            </a:r>
            <a:r>
              <a:rPr lang="en-US" altLang="zh-CN" sz="2800" dirty="0"/>
              <a:t>OSI</a:t>
            </a:r>
            <a:r>
              <a:rPr lang="zh-CN" altLang="en-US" sz="2800" dirty="0"/>
              <a:t>网络体系结构比较</a:t>
            </a:r>
          </a:p>
          <a:p>
            <a:pPr eaLnBrk="1" hangingPunct="1">
              <a:buClr>
                <a:srgbClr val="3366FF"/>
              </a:buClr>
              <a:buSzTx/>
              <a:buFont typeface="Wingdings" panose="05000000000000000000" pitchFamily="2" charset="2"/>
            </a:pPr>
            <a:endParaRPr lang="en-US" altLang="zh-CN" sz="28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effectLst/>
                <a:uLnTx/>
                <a:uFillTx/>
                <a:latin typeface="+mj-lt"/>
                <a:ea typeface="+mj-ea"/>
                <a:cs typeface="+mj-cs"/>
              </a:rPr>
              <a:t>IEEE 802</a:t>
            </a:r>
            <a:r>
              <a:rPr kumimoji="1" lang="zh-CN" altLang="en-US" sz="3200" b="0" i="0" u="none" strike="noStrike" kern="0" cap="none" spc="0" normalizeH="0" baseline="0" noProof="0" dirty="0" smtClean="0">
                <a:ln>
                  <a:noFill/>
                </a:ln>
                <a:effectLst/>
                <a:uLnTx/>
                <a:uFillTx/>
                <a:latin typeface="+mj-lt"/>
                <a:ea typeface="+mj-ea"/>
                <a:cs typeface="+mj-cs"/>
              </a:rPr>
              <a:t>标准间的关系</a:t>
            </a:r>
          </a:p>
        </p:txBody>
      </p:sp>
      <p:sp>
        <p:nvSpPr>
          <p:cNvPr id="10243" name="Rectangle 6"/>
          <p:cNvSpPr/>
          <p:nvPr/>
        </p:nvSpPr>
        <p:spPr>
          <a:xfrm>
            <a:off x="2457450" y="260985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3" name="对象 2"/>
          <p:cNvGraphicFramePr>
            <a:graphicFrameLocks noChangeAspect="1"/>
          </p:cNvGraphicFramePr>
          <p:nvPr/>
        </p:nvGraphicFramePr>
        <p:xfrm>
          <a:off x="827584" y="1772816"/>
          <a:ext cx="8057112" cy="3240360"/>
        </p:xfrm>
        <a:graphic>
          <a:graphicData uri="http://schemas.openxmlformats.org/presentationml/2006/ole">
            <mc:AlternateContent xmlns:mc="http://schemas.openxmlformats.org/markup-compatibility/2006">
              <mc:Choice xmlns:v="urn:schemas-microsoft-com:vml" Requires="v">
                <p:oleObj spid="_x0000_s105513" name="Visio" r:id="rId4" imgW="3911600" imgH="1574800" progId="Visio.Drawing.15">
                  <p:embed/>
                </p:oleObj>
              </mc:Choice>
              <mc:Fallback>
                <p:oleObj name="Visio" r:id="rId4" imgW="3911600" imgH="1574800" progId="Visio.Drawing.15">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84" y="1772816"/>
                        <a:ext cx="8057112" cy="3240360"/>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2051720" y="404664"/>
            <a:ext cx="6902946" cy="576064"/>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b="0" i="0" u="none" strike="noStrike" kern="0" cap="none" spc="0" normalizeH="0" baseline="0" noProof="0" dirty="0" smtClean="0">
                <a:ln>
                  <a:noFill/>
                </a:ln>
                <a:effectLst/>
                <a:uLnTx/>
                <a:uFillTx/>
                <a:latin typeface="黑体" panose="02010609060101010101" pitchFamily="49" charset="-122"/>
                <a:ea typeface="+mj-ea"/>
                <a:cs typeface="+mj-cs"/>
              </a:rPr>
              <a:t>IEEE802 </a:t>
            </a:r>
            <a:r>
              <a:rPr kumimoji="1" lang="zh-CN" altLang="en-US" b="0" i="0" u="none" strike="noStrike" kern="0" cap="none" spc="0" normalizeH="0" baseline="0" noProof="0" dirty="0" smtClean="0">
                <a:ln>
                  <a:noFill/>
                </a:ln>
                <a:effectLst/>
                <a:uLnTx/>
                <a:uFillTx/>
                <a:latin typeface="黑体" panose="02010609060101010101" pitchFamily="49" charset="-122"/>
                <a:ea typeface="+mj-ea"/>
                <a:cs typeface="+mj-cs"/>
              </a:rPr>
              <a:t>数据链路层划分子层</a:t>
            </a:r>
          </a:p>
        </p:txBody>
      </p:sp>
      <p:sp>
        <p:nvSpPr>
          <p:cNvPr id="13314" name="Rectangle 4"/>
          <p:cNvSpPr/>
          <p:nvPr/>
        </p:nvSpPr>
        <p:spPr>
          <a:xfrm>
            <a:off x="899592" y="1340768"/>
            <a:ext cx="7554913" cy="4392488"/>
          </a:xfrm>
          <a:prstGeom prst="rect">
            <a:avLst/>
          </a:prstGeom>
          <a:noFill/>
          <a:ln w="9525">
            <a:noFill/>
          </a:ln>
        </p:spPr>
        <p:txBody>
          <a:bodyPr anchor="t"/>
          <a:lstStyle/>
          <a:p>
            <a:pPr marL="457200" indent="-457200">
              <a:lnSpc>
                <a:spcPct val="130000"/>
              </a:lnSpc>
              <a:spcBef>
                <a:spcPts val="600"/>
              </a:spcBef>
              <a:buFont typeface="Wingdings" panose="05000000000000000000" pitchFamily="2" charset="2"/>
              <a:buChar char="l"/>
            </a:pPr>
            <a:r>
              <a:rPr lang="zh-CN" altLang="en-US" b="1" dirty="0">
                <a:solidFill>
                  <a:srgbClr val="003399"/>
                </a:solidFill>
                <a:latin typeface="Times New Roman" panose="02020603050405020304" pitchFamily="18" charset="0"/>
                <a:ea typeface="宋体" panose="02010600030101010101" pitchFamily="2" charset="-122"/>
                <a:sym typeface="Wingdings 2" panose="05020102010507070707" pitchFamily="18" charset="2"/>
              </a:rPr>
              <a:t>将功能中与硬件相关的部分和与硬件无关的部分分开，降低实现的复杂度</a:t>
            </a:r>
            <a:r>
              <a:rPr lang="zh-CN" altLang="en-US" b="1" dirty="0" smtClean="0">
                <a:solidFill>
                  <a:srgbClr val="003399"/>
                </a:solidFill>
                <a:latin typeface="Times New Roman" panose="02020603050405020304" pitchFamily="18" charset="0"/>
                <a:ea typeface="宋体" panose="02010600030101010101" pitchFamily="2" charset="-122"/>
                <a:sym typeface="Wingdings 2" panose="05020102010507070707" pitchFamily="18" charset="2"/>
              </a:rPr>
              <a:t>。</a:t>
            </a:r>
            <a:endParaRPr lang="en-US" altLang="zh-CN" b="1" dirty="0" smtClean="0">
              <a:solidFill>
                <a:srgbClr val="003399"/>
              </a:solidFill>
              <a:latin typeface="Times New Roman" panose="02020603050405020304" pitchFamily="18" charset="0"/>
              <a:ea typeface="宋体" panose="02010600030101010101" pitchFamily="2" charset="-122"/>
              <a:sym typeface="Wingdings 2" panose="05020102010507070707" pitchFamily="18" charset="2"/>
            </a:endParaRPr>
          </a:p>
          <a:p>
            <a:pPr marL="457200" indent="-457200">
              <a:lnSpc>
                <a:spcPct val="130000"/>
              </a:lnSpc>
              <a:spcBef>
                <a:spcPts val="600"/>
              </a:spcBef>
              <a:buFont typeface="Wingdings" panose="05000000000000000000" pitchFamily="2" charset="2"/>
              <a:buChar char="l"/>
            </a:pPr>
            <a:r>
              <a:rPr lang="zh-CN" altLang="en-US" b="1" dirty="0" smtClean="0">
                <a:solidFill>
                  <a:srgbClr val="003399"/>
                </a:solidFill>
                <a:latin typeface="Times New Roman" panose="02020603050405020304" pitchFamily="18" charset="0"/>
                <a:ea typeface="宋体" panose="02010600030101010101" pitchFamily="2" charset="-122"/>
                <a:sym typeface="Wingdings 2" panose="05020102010507070707" pitchFamily="18" charset="2"/>
              </a:rPr>
              <a:t>传统</a:t>
            </a:r>
            <a:r>
              <a:rPr lang="zh-CN" altLang="en-US" b="1" dirty="0">
                <a:solidFill>
                  <a:srgbClr val="003399"/>
                </a:solidFill>
                <a:latin typeface="Times New Roman" panose="02020603050405020304" pitchFamily="18" charset="0"/>
                <a:ea typeface="宋体" panose="02010600030101010101" pitchFamily="2" charset="-122"/>
                <a:sym typeface="Wingdings 2" panose="05020102010507070707" pitchFamily="18" charset="2"/>
              </a:rPr>
              <a:t>共享式局域网特点：共享信道，需要解决介质访问控制（</a:t>
            </a:r>
            <a:r>
              <a:rPr lang="en-US" altLang="zh-CN" b="1" dirty="0">
                <a:solidFill>
                  <a:srgbClr val="003399"/>
                </a:solidFill>
                <a:latin typeface="Times New Roman" panose="02020603050405020304" pitchFamily="18" charset="0"/>
                <a:ea typeface="宋体" panose="02010600030101010101" pitchFamily="2" charset="-122"/>
                <a:sym typeface="Wingdings 2" panose="05020102010507070707" pitchFamily="18" charset="2"/>
              </a:rPr>
              <a:t>MAC</a:t>
            </a:r>
            <a:r>
              <a:rPr lang="zh-CN" altLang="en-US" b="1" dirty="0">
                <a:solidFill>
                  <a:srgbClr val="003399"/>
                </a:solidFill>
                <a:latin typeface="Times New Roman" panose="02020603050405020304" pitchFamily="18" charset="0"/>
                <a:ea typeface="宋体" panose="02010600030101010101" pitchFamily="2" charset="-122"/>
                <a:sym typeface="Wingdings 2" panose="05020102010507070707" pitchFamily="18" charset="2"/>
              </a:rPr>
              <a:t>）问题</a:t>
            </a:r>
            <a:r>
              <a:rPr lang="zh-CN" altLang="en-US" b="1" dirty="0" smtClean="0">
                <a:solidFill>
                  <a:srgbClr val="003399"/>
                </a:solidFill>
                <a:latin typeface="Times New Roman" panose="02020603050405020304" pitchFamily="18" charset="0"/>
                <a:ea typeface="宋体" panose="02010600030101010101" pitchFamily="2" charset="-122"/>
                <a:sym typeface="Wingdings 2" panose="05020102010507070707" pitchFamily="18" charset="2"/>
              </a:rPr>
              <a:t>。</a:t>
            </a:r>
            <a:endParaRPr lang="en-US" altLang="zh-CN" b="1" dirty="0" smtClean="0">
              <a:solidFill>
                <a:srgbClr val="003399"/>
              </a:solidFill>
              <a:latin typeface="Times New Roman" panose="02020603050405020304" pitchFamily="18" charset="0"/>
              <a:ea typeface="宋体" panose="02010600030101010101" pitchFamily="2" charset="-122"/>
              <a:sym typeface="Wingdings 2" panose="05020102010507070707" pitchFamily="18" charset="2"/>
            </a:endParaRPr>
          </a:p>
          <a:p>
            <a:pPr marL="457200" indent="-457200">
              <a:lnSpc>
                <a:spcPct val="130000"/>
              </a:lnSpc>
              <a:spcBef>
                <a:spcPts val="600"/>
              </a:spcBef>
              <a:buFont typeface="Wingdings" panose="05000000000000000000" pitchFamily="2" charset="2"/>
              <a:buChar char="l"/>
            </a:pPr>
            <a:r>
              <a:rPr lang="zh-CN" altLang="en-US" b="1" dirty="0" smtClean="0">
                <a:solidFill>
                  <a:srgbClr val="003399"/>
                </a:solidFill>
                <a:latin typeface="Times New Roman" panose="02020603050405020304" pitchFamily="18" charset="0"/>
                <a:ea typeface="宋体" panose="02010600030101010101" pitchFamily="2" charset="-122"/>
                <a:sym typeface="Wingdings 2" panose="05020102010507070707" pitchFamily="18" charset="2"/>
              </a:rPr>
              <a:t>划分子层</a:t>
            </a:r>
            <a:r>
              <a:rPr lang="zh-CN" altLang="en-US" b="1" dirty="0">
                <a:solidFill>
                  <a:srgbClr val="003399"/>
                </a:solidFill>
                <a:latin typeface="Times New Roman" panose="02020603050405020304" pitchFamily="18" charset="0"/>
                <a:ea typeface="宋体" panose="02010600030101010101" pitchFamily="2" charset="-122"/>
                <a:sym typeface="Wingdings 2" panose="05020102010507070707" pitchFamily="18" charset="2"/>
              </a:rPr>
              <a:t>可以使帧的传输独立于介质和</a:t>
            </a:r>
            <a:r>
              <a:rPr lang="en-US" altLang="zh-CN" b="1" dirty="0" smtClean="0">
                <a:solidFill>
                  <a:srgbClr val="003399"/>
                </a:solidFill>
                <a:latin typeface="Times New Roman" panose="02020603050405020304" pitchFamily="18" charset="0"/>
                <a:ea typeface="宋体" panose="02010600030101010101" pitchFamily="2" charset="-122"/>
                <a:sym typeface="Wingdings 2" panose="05020102010507070707" pitchFamily="18" charset="2"/>
              </a:rPr>
              <a:t>MAC</a:t>
            </a:r>
            <a:r>
              <a:rPr lang="zh-CN" altLang="en-US" b="1" dirty="0" smtClean="0">
                <a:solidFill>
                  <a:srgbClr val="003399"/>
                </a:solidFill>
                <a:latin typeface="Times New Roman" panose="02020603050405020304" pitchFamily="18" charset="0"/>
                <a:ea typeface="宋体" panose="02010600030101010101" pitchFamily="2" charset="-122"/>
                <a:sym typeface="Wingdings 2" panose="05020102010507070707" pitchFamily="18" charset="2"/>
              </a:rPr>
              <a:t>方法</a:t>
            </a:r>
            <a:r>
              <a:rPr lang="zh-CN" altLang="en-US" b="1" dirty="0">
                <a:solidFill>
                  <a:srgbClr val="003399"/>
                </a:solidFill>
                <a:latin typeface="Times New Roman" panose="02020603050405020304" pitchFamily="18" charset="0"/>
                <a:ea typeface="宋体" panose="02010600030101010101" pitchFamily="2" charset="-122"/>
                <a:sym typeface="Wingdings 2" panose="05020102010507070707" pitchFamily="18" charset="2"/>
              </a:rPr>
              <a:t>。</a:t>
            </a:r>
            <a:endParaRPr lang="zh-CN" altLang="en-US" b="1" dirty="0">
              <a:solidFill>
                <a:schemeClr val="bg2"/>
              </a:solidFill>
              <a:latin typeface="Times New Roman" panose="02020603050405020304" pitchFamily="18" charset="0"/>
              <a:ea typeface="宋体" panose="02010600030101010101" pitchFamily="2" charset="-122"/>
            </a:endParaRPr>
          </a:p>
          <a:p>
            <a:pPr marL="800100" lvl="1" indent="-342900" eaLnBrk="1" hangingPunct="1">
              <a:buClr>
                <a:srgbClr val="003399"/>
              </a:buClr>
              <a:buFont typeface="Wingdings" panose="05000000000000000000" pitchFamily="2" charset="2"/>
              <a:buChar char="ü"/>
            </a:pPr>
            <a:r>
              <a:rPr lang="en-US" altLang="zh-CN" sz="2400" b="1" i="1" dirty="0">
                <a:solidFill>
                  <a:schemeClr val="hlink"/>
                </a:solidFill>
                <a:latin typeface="Times New Roman" panose="02020603050405020304" pitchFamily="18" charset="0"/>
                <a:ea typeface="宋体" panose="02010600030101010101" pitchFamily="2" charset="-122"/>
                <a:sym typeface="Wingdings 2" panose="05020102010507070707" pitchFamily="18" charset="2"/>
              </a:rPr>
              <a:t>LLC</a:t>
            </a:r>
            <a:r>
              <a:rPr lang="zh-CN" altLang="en-US" sz="2400" b="1" i="1" dirty="0">
                <a:solidFill>
                  <a:schemeClr val="hlink"/>
                </a:solidFill>
                <a:latin typeface="Times New Roman" panose="02020603050405020304" pitchFamily="18" charset="0"/>
                <a:ea typeface="宋体" panose="02010600030101010101" pitchFamily="2" charset="-122"/>
                <a:sym typeface="Wingdings 2" panose="05020102010507070707" pitchFamily="18" charset="2"/>
              </a:rPr>
              <a:t>： 与介质、拓扑无关</a:t>
            </a:r>
          </a:p>
          <a:p>
            <a:pPr marL="800100" lvl="1" indent="-342900" eaLnBrk="1" hangingPunct="1">
              <a:buClr>
                <a:srgbClr val="003399"/>
              </a:buClr>
              <a:buFont typeface="Wingdings" panose="05000000000000000000" pitchFamily="2" charset="2"/>
              <a:buChar char="ü"/>
            </a:pPr>
            <a:r>
              <a:rPr lang="en-US" altLang="zh-CN" sz="2400" b="1" i="1" dirty="0">
                <a:solidFill>
                  <a:schemeClr val="hlink"/>
                </a:solidFill>
                <a:latin typeface="Times New Roman" panose="02020603050405020304" pitchFamily="18" charset="0"/>
                <a:ea typeface="宋体" panose="02010600030101010101" pitchFamily="2" charset="-122"/>
                <a:sym typeface="Wingdings 2" panose="05020102010507070707" pitchFamily="18" charset="2"/>
              </a:rPr>
              <a:t>MAC</a:t>
            </a:r>
            <a:r>
              <a:rPr lang="zh-CN" altLang="en-US" sz="2400" b="1" i="1" dirty="0">
                <a:solidFill>
                  <a:schemeClr val="hlink"/>
                </a:solidFill>
                <a:latin typeface="Times New Roman" panose="02020603050405020304" pitchFamily="18" charset="0"/>
                <a:ea typeface="宋体" panose="02010600030101010101" pitchFamily="2" charset="-122"/>
                <a:sym typeface="Wingdings 2" panose="05020102010507070707" pitchFamily="18" charset="2"/>
              </a:rPr>
              <a:t>：与介质、拓扑相关</a:t>
            </a:r>
          </a:p>
          <a:p>
            <a:pPr marL="342900" indent="-342900"/>
            <a:endParaRPr lang="en-US" altLang="zh-CN" b="1" dirty="0">
              <a:solidFill>
                <a:schemeClr val="bg2"/>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763688" y="298450"/>
            <a:ext cx="7269163" cy="538163"/>
          </a:xfrm>
        </p:spPr>
        <p:txBody>
          <a:bodyPr vert="horz" wrap="square" lIns="92075" tIns="46038" rIns="92075" bIns="46038" numCol="1" anchor="ctr" anchorCtr="0" compatLnSpc="1"/>
          <a:lstStyle/>
          <a:p>
            <a:pPr eaLnBrk="1" hangingPunct="1">
              <a:buNone/>
            </a:pPr>
            <a:r>
              <a:rPr lang="en-US" altLang="zh-CN" dirty="0" smtClean="0">
                <a:ea typeface="黑体" panose="02010609060101010101" pitchFamily="49" charset="-122"/>
              </a:rPr>
              <a:t>IEEE 802.3 </a:t>
            </a:r>
            <a:r>
              <a:rPr lang="zh-CN" altLang="en-US" dirty="0" smtClean="0">
                <a:ea typeface="黑体" panose="02010609060101010101" pitchFamily="49" charset="-122"/>
              </a:rPr>
              <a:t>和 </a:t>
            </a:r>
            <a:r>
              <a:rPr lang="en-US" altLang="zh-CN" dirty="0" smtClean="0">
                <a:ea typeface="黑体" panose="02010609060101010101" pitchFamily="49" charset="-122"/>
              </a:rPr>
              <a:t>Ethernet</a:t>
            </a:r>
            <a:endParaRPr lang="en-US" altLang="zh-CN" dirty="0">
              <a:ea typeface="黑体" panose="02010609060101010101" pitchFamily="49" charset="-122"/>
            </a:endParaRPr>
          </a:p>
        </p:txBody>
      </p:sp>
      <p:sp>
        <p:nvSpPr>
          <p:cNvPr id="30722" name="Rectangle 3"/>
          <p:cNvSpPr>
            <a:spLocks noGrp="1"/>
          </p:cNvSpPr>
          <p:nvPr>
            <p:ph idx="1"/>
          </p:nvPr>
        </p:nvSpPr>
        <p:spPr>
          <a:xfrm>
            <a:off x="755576" y="1412776"/>
            <a:ext cx="7485062" cy="5033962"/>
          </a:xfrm>
        </p:spPr>
        <p:txBody>
          <a:bodyPr vert="horz" wrap="square" lIns="91440" tIns="45720" rIns="91440" bIns="45720" anchor="t"/>
          <a:lstStyle/>
          <a:p>
            <a:pPr algn="just" eaLnBrk="1" hangingPunct="1">
              <a:lnSpc>
                <a:spcPct val="120000"/>
              </a:lnSpc>
              <a:spcBef>
                <a:spcPts val="1200"/>
              </a:spcBef>
            </a:pPr>
            <a:r>
              <a:rPr lang="en-US" altLang="zh-CN" sz="2800" dirty="0" smtClean="0"/>
              <a:t>Xerox </a:t>
            </a:r>
            <a:r>
              <a:rPr lang="zh-CN" altLang="en-US" sz="2800" dirty="0"/>
              <a:t>设计了</a:t>
            </a:r>
            <a:r>
              <a:rPr lang="en-US" altLang="zh-CN" sz="2800" dirty="0"/>
              <a:t>2.94Mbps</a:t>
            </a:r>
            <a:r>
              <a:rPr lang="zh-CN" altLang="en-US" sz="2800" dirty="0"/>
              <a:t>的采用</a:t>
            </a:r>
            <a:r>
              <a:rPr lang="en-US" altLang="zh-CN" sz="2800" dirty="0"/>
              <a:t>CSMA/CD</a:t>
            </a:r>
            <a:r>
              <a:rPr lang="zh-CN" altLang="en-US" sz="2800" dirty="0"/>
              <a:t>协议的</a:t>
            </a:r>
            <a:r>
              <a:rPr lang="en-US" altLang="zh-CN" sz="2800" dirty="0"/>
              <a:t>Ethernet</a:t>
            </a:r>
          </a:p>
          <a:p>
            <a:pPr algn="just" eaLnBrk="1" hangingPunct="1">
              <a:lnSpc>
                <a:spcPct val="120000"/>
              </a:lnSpc>
              <a:spcBef>
                <a:spcPts val="1200"/>
              </a:spcBef>
            </a:pPr>
            <a:r>
              <a:rPr lang="en-US" altLang="zh-CN" sz="2800" dirty="0"/>
              <a:t>Xerox, DEC, Intel</a:t>
            </a:r>
            <a:r>
              <a:rPr lang="zh-CN" altLang="en-US" sz="2800" dirty="0"/>
              <a:t>共同制定了</a:t>
            </a:r>
            <a:r>
              <a:rPr lang="en-US" altLang="zh-CN" sz="2800" dirty="0"/>
              <a:t>10Mbps</a:t>
            </a:r>
            <a:r>
              <a:rPr lang="zh-CN" altLang="en-US" sz="2800" dirty="0"/>
              <a:t>的</a:t>
            </a:r>
            <a:r>
              <a:rPr lang="en-US" altLang="zh-CN" sz="2800" dirty="0"/>
              <a:t>CSMA/CD</a:t>
            </a:r>
            <a:r>
              <a:rPr lang="zh-CN" altLang="en-US" sz="2800" dirty="0"/>
              <a:t>以太网标准</a:t>
            </a:r>
          </a:p>
          <a:p>
            <a:pPr algn="just" eaLnBrk="1" hangingPunct="1">
              <a:lnSpc>
                <a:spcPct val="120000"/>
              </a:lnSpc>
              <a:spcBef>
                <a:spcPts val="1200"/>
              </a:spcBef>
            </a:pPr>
            <a:r>
              <a:rPr lang="en-US" altLang="zh-CN" sz="2800" dirty="0"/>
              <a:t>IEEE</a:t>
            </a:r>
            <a:r>
              <a:rPr lang="zh-CN" altLang="en-US" sz="2800" dirty="0"/>
              <a:t>定义了采用</a:t>
            </a:r>
            <a:r>
              <a:rPr lang="en-US" altLang="zh-CN" sz="2800" dirty="0"/>
              <a:t>1-</a:t>
            </a:r>
            <a:r>
              <a:rPr lang="zh-CN" altLang="en-US" sz="2800" dirty="0"/>
              <a:t>坚持型</a:t>
            </a:r>
            <a:r>
              <a:rPr lang="en-US" altLang="zh-CN" sz="2800" dirty="0"/>
              <a:t>CSMA/CD</a:t>
            </a:r>
            <a:r>
              <a:rPr lang="zh-CN" altLang="en-US" sz="2800" dirty="0"/>
              <a:t>技术的</a:t>
            </a:r>
            <a:r>
              <a:rPr lang="en-US" altLang="zh-CN" sz="2800" dirty="0"/>
              <a:t>802.3</a:t>
            </a:r>
            <a:r>
              <a:rPr lang="zh-CN" altLang="en-US" sz="2800" dirty="0"/>
              <a:t>局域网标准，速率从</a:t>
            </a:r>
            <a:r>
              <a:rPr lang="en-US" altLang="zh-CN" sz="2800" dirty="0"/>
              <a:t>1M</a:t>
            </a:r>
            <a:r>
              <a:rPr lang="zh-CN" altLang="en-US" sz="2800" dirty="0"/>
              <a:t>到</a:t>
            </a:r>
            <a:r>
              <a:rPr lang="en-US" altLang="zh-CN" sz="2800" dirty="0"/>
              <a:t>10Mbps</a:t>
            </a:r>
            <a:r>
              <a:rPr lang="zh-CN" altLang="en-US" sz="2800" dirty="0"/>
              <a:t>，</a:t>
            </a:r>
            <a:r>
              <a:rPr lang="en-US" altLang="zh-CN" sz="2800" dirty="0"/>
              <a:t>802.3</a:t>
            </a:r>
            <a:r>
              <a:rPr lang="zh-CN" altLang="zh-CN" sz="2800" dirty="0"/>
              <a:t>标准与以太网协议略有差别。 </a:t>
            </a:r>
            <a:r>
              <a:rPr lang="en-US" altLang="zh-CN" sz="2800" dirty="0">
                <a:solidFill>
                  <a:srgbClr val="C00000"/>
                </a:solidFill>
                <a:latin typeface="宋体" panose="02010600030101010101" pitchFamily="2" charset="-122"/>
              </a:rPr>
              <a:t>Ethernet</a:t>
            </a:r>
            <a:r>
              <a:rPr lang="zh-CN" altLang="en-US" sz="2800" dirty="0">
                <a:solidFill>
                  <a:srgbClr val="C00000"/>
                </a:solidFill>
                <a:latin typeface="宋体" panose="02010600030101010101" pitchFamily="2" charset="-122"/>
              </a:rPr>
              <a:t>和</a:t>
            </a:r>
            <a:r>
              <a:rPr lang="en-US" altLang="zh-CN" sz="2800" dirty="0">
                <a:solidFill>
                  <a:srgbClr val="C00000"/>
                </a:solidFill>
                <a:latin typeface="宋体" panose="02010600030101010101" pitchFamily="2" charset="-122"/>
              </a:rPr>
              <a:t>IEEE 802.3</a:t>
            </a:r>
            <a:r>
              <a:rPr lang="zh-CN" altLang="en-US" sz="2800" dirty="0">
                <a:solidFill>
                  <a:srgbClr val="C00000"/>
                </a:solidFill>
                <a:latin typeface="宋体" panose="02010600030101010101" pitchFamily="2" charset="-122"/>
              </a:rPr>
              <a:t>的帧格式不同。</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ChangeArrowheads="1"/>
          </p:cNvSpPr>
          <p:nvPr/>
        </p:nvSpPr>
        <p:spPr bwMode="auto">
          <a:xfrm>
            <a:off x="1579562" y="404663"/>
            <a:ext cx="7269163" cy="262881"/>
          </a:xfrm>
          <a:prstGeom prst="rect">
            <a:avLst/>
          </a:prstGeom>
          <a:noFill/>
          <a:ln w="9525">
            <a:noFill/>
            <a:miter lim="800000"/>
          </a:ln>
          <a:effectLst>
            <a:outerShdw dist="17961" dir="2700000" algn="ctr" rotWithShape="0">
              <a:schemeClr val="bg2"/>
            </a:outerShdw>
          </a:effectLst>
        </p:spPr>
        <p:txBody>
          <a:bodyPr lIns="92075" tIns="46038" rIns="92075" bIns="46038" anchor="ct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dirty="0">
                <a:ln>
                  <a:noFill/>
                </a:ln>
                <a:solidFill>
                  <a:schemeClr val="bg1"/>
                </a:solidFill>
                <a:effectLst/>
                <a:uLnTx/>
                <a:uFillTx/>
                <a:latin typeface="Arial" panose="020B0604020202020204" pitchFamily="34" charset="0"/>
                <a:ea typeface="黑体" panose="02010609060101010101" pitchFamily="49" charset="-122"/>
                <a:cs typeface="+mn-cs"/>
              </a:rPr>
              <a:t>以太网物理层类型</a:t>
            </a:r>
          </a:p>
        </p:txBody>
      </p:sp>
      <p:sp>
        <p:nvSpPr>
          <p:cNvPr id="33794" name="Rectangle 4"/>
          <p:cNvSpPr/>
          <p:nvPr/>
        </p:nvSpPr>
        <p:spPr>
          <a:xfrm>
            <a:off x="574675" y="1288926"/>
            <a:ext cx="8569325" cy="5040560"/>
          </a:xfrm>
          <a:prstGeom prst="rect">
            <a:avLst/>
          </a:prstGeom>
          <a:noFill/>
          <a:ln w="9525">
            <a:noFill/>
          </a:ln>
        </p:spPr>
        <p:txBody>
          <a:bodyPr anchor="t"/>
          <a:lstStyle/>
          <a:p>
            <a:pPr marL="342900" indent="-342900">
              <a:spcBef>
                <a:spcPts val="600"/>
              </a:spcBef>
              <a:buFont typeface="Wingdings" panose="05000000000000000000" pitchFamily="2" charset="2"/>
              <a:buChar char="l"/>
            </a:pPr>
            <a:r>
              <a:rPr lang="en-US" altLang="zh-CN" sz="2400" dirty="0">
                <a:solidFill>
                  <a:srgbClr val="C00000"/>
                </a:solidFill>
                <a:latin typeface="+mj-lt"/>
                <a:ea typeface="宋体" panose="02010600030101010101" pitchFamily="2" charset="-122"/>
              </a:rPr>
              <a:t>10Base5 </a:t>
            </a:r>
            <a:r>
              <a:rPr lang="zh-CN" altLang="en-US" sz="2400" dirty="0">
                <a:solidFill>
                  <a:srgbClr val="C00000"/>
                </a:solidFill>
                <a:latin typeface="+mj-lt"/>
                <a:ea typeface="宋体" panose="02010600030101010101" pitchFamily="2" charset="-122"/>
              </a:rPr>
              <a:t>粗同轴电缆</a:t>
            </a:r>
          </a:p>
          <a:p>
            <a:pPr marL="342900" indent="-342900">
              <a:spcBef>
                <a:spcPts val="600"/>
              </a:spcBef>
              <a:buFont typeface="Wingdings" panose="05000000000000000000" pitchFamily="2" charset="2"/>
              <a:buChar char="l"/>
            </a:pPr>
            <a:r>
              <a:rPr lang="en-US" altLang="zh-CN" sz="2400" dirty="0">
                <a:solidFill>
                  <a:srgbClr val="C00000"/>
                </a:solidFill>
                <a:latin typeface="+mj-lt"/>
                <a:ea typeface="宋体" panose="02010600030101010101" pitchFamily="2" charset="-122"/>
              </a:rPr>
              <a:t>10Base2 </a:t>
            </a:r>
            <a:r>
              <a:rPr lang="zh-CN" altLang="en-US" sz="2400" dirty="0">
                <a:solidFill>
                  <a:srgbClr val="C00000"/>
                </a:solidFill>
                <a:latin typeface="+mj-lt"/>
                <a:ea typeface="宋体" panose="02010600030101010101" pitchFamily="2" charset="-122"/>
              </a:rPr>
              <a:t>细同轴电缆</a:t>
            </a:r>
          </a:p>
          <a:p>
            <a:pPr marL="342900" indent="-342900">
              <a:spcBef>
                <a:spcPts val="600"/>
              </a:spcBef>
              <a:buFont typeface="Wingdings" panose="05000000000000000000" pitchFamily="2" charset="2"/>
              <a:buChar char="l"/>
            </a:pPr>
            <a:r>
              <a:rPr lang="en-US" altLang="zh-CN" sz="2400" dirty="0">
                <a:solidFill>
                  <a:srgbClr val="C00000"/>
                </a:solidFill>
                <a:latin typeface="+mj-lt"/>
                <a:ea typeface="宋体" panose="02010600030101010101" pitchFamily="2" charset="-122"/>
              </a:rPr>
              <a:t>10BaseT </a:t>
            </a:r>
            <a:r>
              <a:rPr lang="zh-CN" altLang="en-US" sz="2400" dirty="0">
                <a:solidFill>
                  <a:srgbClr val="C00000"/>
                </a:solidFill>
                <a:latin typeface="+mj-lt"/>
                <a:ea typeface="宋体" panose="02010600030101010101" pitchFamily="2" charset="-122"/>
              </a:rPr>
              <a:t>双绞线</a:t>
            </a:r>
          </a:p>
          <a:p>
            <a:pPr marL="342900" indent="-342900">
              <a:spcBef>
                <a:spcPts val="600"/>
              </a:spcBef>
              <a:buFont typeface="Wingdings" panose="05000000000000000000" pitchFamily="2" charset="2"/>
              <a:buChar char="l"/>
            </a:pPr>
            <a:r>
              <a:rPr lang="en-US" altLang="zh-CN" sz="2400" dirty="0">
                <a:solidFill>
                  <a:srgbClr val="0070C0"/>
                </a:solidFill>
                <a:latin typeface="+mj-lt"/>
                <a:ea typeface="宋体" panose="02010600030101010101" pitchFamily="2" charset="-122"/>
              </a:rPr>
              <a:t>10BaseF </a:t>
            </a:r>
            <a:r>
              <a:rPr lang="zh-CN" altLang="en-US" sz="2400" dirty="0">
                <a:solidFill>
                  <a:srgbClr val="0070C0"/>
                </a:solidFill>
                <a:latin typeface="+mj-lt"/>
                <a:ea typeface="宋体" panose="02010600030101010101" pitchFamily="2" charset="-122"/>
              </a:rPr>
              <a:t>光纤</a:t>
            </a:r>
            <a:r>
              <a:rPr lang="en-US" altLang="zh-CN" sz="2400" dirty="0">
                <a:solidFill>
                  <a:srgbClr val="0070C0"/>
                </a:solidFill>
                <a:latin typeface="+mj-lt"/>
                <a:ea typeface="宋体" panose="02010600030101010101" pitchFamily="2" charset="-122"/>
              </a:rPr>
              <a:t>MMF</a:t>
            </a:r>
          </a:p>
          <a:p>
            <a:pPr marL="342900" indent="-342900">
              <a:spcBef>
                <a:spcPts val="600"/>
              </a:spcBef>
              <a:buFont typeface="Wingdings" panose="05000000000000000000" pitchFamily="2" charset="2"/>
              <a:buChar char="l"/>
            </a:pPr>
            <a:r>
              <a:rPr lang="en-US" altLang="zh-CN" sz="2400" dirty="0">
                <a:solidFill>
                  <a:srgbClr val="0070C0"/>
                </a:solidFill>
                <a:latin typeface="+mj-lt"/>
                <a:ea typeface="宋体" panose="02010600030101010101" pitchFamily="2" charset="-122"/>
              </a:rPr>
              <a:t>100BaseT </a:t>
            </a:r>
            <a:r>
              <a:rPr lang="zh-CN" altLang="en-US" sz="2400" dirty="0">
                <a:solidFill>
                  <a:srgbClr val="0070C0"/>
                </a:solidFill>
                <a:latin typeface="+mj-lt"/>
                <a:ea typeface="宋体" panose="02010600030101010101" pitchFamily="2" charset="-122"/>
              </a:rPr>
              <a:t>双绞线</a:t>
            </a:r>
          </a:p>
          <a:p>
            <a:pPr marL="342900" indent="-342900">
              <a:spcBef>
                <a:spcPts val="600"/>
              </a:spcBef>
              <a:buFont typeface="Wingdings" panose="05000000000000000000" pitchFamily="2" charset="2"/>
              <a:buChar char="l"/>
            </a:pPr>
            <a:r>
              <a:rPr lang="en-US" altLang="zh-CN" sz="2400" dirty="0">
                <a:solidFill>
                  <a:srgbClr val="0070C0"/>
                </a:solidFill>
                <a:latin typeface="+mj-lt"/>
                <a:ea typeface="宋体" panose="02010600030101010101" pitchFamily="2" charset="-122"/>
              </a:rPr>
              <a:t>100BaseF </a:t>
            </a:r>
            <a:r>
              <a:rPr lang="zh-CN" altLang="en-US" sz="2400" dirty="0">
                <a:solidFill>
                  <a:srgbClr val="0070C0"/>
                </a:solidFill>
                <a:latin typeface="+mj-lt"/>
                <a:ea typeface="宋体" panose="02010600030101010101" pitchFamily="2" charset="-122"/>
              </a:rPr>
              <a:t>光纤</a:t>
            </a:r>
            <a:r>
              <a:rPr lang="en-US" altLang="zh-CN" sz="2400" dirty="0">
                <a:solidFill>
                  <a:srgbClr val="0070C0"/>
                </a:solidFill>
                <a:latin typeface="+mj-lt"/>
                <a:ea typeface="宋体" panose="02010600030101010101" pitchFamily="2" charset="-122"/>
              </a:rPr>
              <a:t>MMF/SMF</a:t>
            </a:r>
          </a:p>
          <a:p>
            <a:pPr marL="342900" indent="-342900">
              <a:spcBef>
                <a:spcPts val="600"/>
              </a:spcBef>
              <a:buFont typeface="Wingdings" panose="05000000000000000000" pitchFamily="2" charset="2"/>
              <a:buChar char="l"/>
            </a:pPr>
            <a:r>
              <a:rPr lang="en-US" altLang="zh-CN" sz="2400" dirty="0">
                <a:solidFill>
                  <a:srgbClr val="7030A0"/>
                </a:solidFill>
                <a:latin typeface="+mj-lt"/>
                <a:ea typeface="宋体" panose="02010600030101010101" pitchFamily="2" charset="-122"/>
              </a:rPr>
              <a:t>1000BaseX </a:t>
            </a:r>
            <a:r>
              <a:rPr lang="zh-CN" altLang="en-US" sz="2400" dirty="0">
                <a:solidFill>
                  <a:srgbClr val="7030A0"/>
                </a:solidFill>
                <a:latin typeface="+mj-lt"/>
                <a:ea typeface="宋体" panose="02010600030101010101" pitchFamily="2" charset="-122"/>
              </a:rPr>
              <a:t>屏蔽双绞线</a:t>
            </a:r>
            <a:r>
              <a:rPr lang="en-US" altLang="zh-CN" sz="2400" dirty="0">
                <a:solidFill>
                  <a:srgbClr val="7030A0"/>
                </a:solidFill>
                <a:latin typeface="+mj-lt"/>
                <a:ea typeface="宋体" panose="02010600030101010101" pitchFamily="2" charset="-122"/>
              </a:rPr>
              <a:t>/MMF/SMF</a:t>
            </a:r>
          </a:p>
          <a:p>
            <a:pPr marL="342900" indent="-342900">
              <a:spcBef>
                <a:spcPts val="600"/>
              </a:spcBef>
              <a:buFont typeface="Wingdings" panose="05000000000000000000" pitchFamily="2" charset="2"/>
              <a:buChar char="l"/>
            </a:pPr>
            <a:r>
              <a:rPr lang="en-US" altLang="zh-CN" sz="2400" dirty="0">
                <a:solidFill>
                  <a:srgbClr val="7030A0"/>
                </a:solidFill>
                <a:latin typeface="+mj-lt"/>
                <a:ea typeface="宋体" panose="02010600030101010101" pitchFamily="2" charset="-122"/>
              </a:rPr>
              <a:t>1000BaseT </a:t>
            </a:r>
            <a:r>
              <a:rPr lang="zh-CN" altLang="en-US" sz="2400" dirty="0">
                <a:solidFill>
                  <a:srgbClr val="7030A0"/>
                </a:solidFill>
                <a:latin typeface="+mj-lt"/>
                <a:ea typeface="宋体" panose="02010600030101010101" pitchFamily="2" charset="-122"/>
              </a:rPr>
              <a:t>双绞线</a:t>
            </a:r>
          </a:p>
          <a:p>
            <a:pPr marL="342900" indent="-342900">
              <a:spcBef>
                <a:spcPts val="600"/>
              </a:spcBef>
              <a:buFont typeface="Wingdings" panose="05000000000000000000" pitchFamily="2" charset="2"/>
              <a:buChar char="l"/>
            </a:pPr>
            <a:r>
              <a:rPr lang="en-US" altLang="zh-CN" sz="2400" dirty="0">
                <a:solidFill>
                  <a:srgbClr val="339966"/>
                </a:solidFill>
                <a:latin typeface="+mj-lt"/>
                <a:ea typeface="宋体" panose="02010600030101010101" pitchFamily="2" charset="-122"/>
              </a:rPr>
              <a:t>10GBaseX</a:t>
            </a:r>
            <a:r>
              <a:rPr lang="zh-CN" altLang="en-US" sz="2400" dirty="0">
                <a:solidFill>
                  <a:srgbClr val="339966"/>
                </a:solidFill>
                <a:latin typeface="+mj-lt"/>
                <a:ea typeface="宋体" panose="02010600030101010101" pitchFamily="2" charset="-122"/>
              </a:rPr>
              <a:t>、</a:t>
            </a:r>
            <a:r>
              <a:rPr lang="en-US" altLang="zh-CN" sz="2400" dirty="0">
                <a:solidFill>
                  <a:srgbClr val="339966"/>
                </a:solidFill>
                <a:latin typeface="+mj-lt"/>
                <a:ea typeface="宋体" panose="02010600030101010101" pitchFamily="2" charset="-122"/>
              </a:rPr>
              <a:t>10BaseR</a:t>
            </a:r>
            <a:r>
              <a:rPr lang="zh-CN" altLang="en-US" sz="2400" dirty="0">
                <a:solidFill>
                  <a:srgbClr val="339966"/>
                </a:solidFill>
                <a:latin typeface="+mj-lt"/>
                <a:ea typeface="宋体" panose="02010600030101010101" pitchFamily="2" charset="-122"/>
              </a:rPr>
              <a:t>（局域网，编码方式不同）</a:t>
            </a:r>
            <a:endParaRPr lang="en-US" altLang="zh-CN" sz="2400" dirty="0">
              <a:solidFill>
                <a:srgbClr val="339966"/>
              </a:solidFill>
              <a:latin typeface="+mj-lt"/>
              <a:ea typeface="宋体" panose="02010600030101010101" pitchFamily="2" charset="-122"/>
            </a:endParaRPr>
          </a:p>
          <a:p>
            <a:pPr marL="342900" indent="-342900">
              <a:spcBef>
                <a:spcPts val="600"/>
              </a:spcBef>
              <a:buFont typeface="Wingdings" panose="05000000000000000000" pitchFamily="2" charset="2"/>
              <a:buChar char="l"/>
            </a:pPr>
            <a:r>
              <a:rPr lang="en-US" altLang="zh-CN" sz="2400" dirty="0">
                <a:solidFill>
                  <a:srgbClr val="339966"/>
                </a:solidFill>
                <a:latin typeface="+mj-lt"/>
                <a:ea typeface="宋体" panose="02010600030101010101" pitchFamily="2" charset="-122"/>
              </a:rPr>
              <a:t>10GBaseW</a:t>
            </a:r>
            <a:r>
              <a:rPr lang="zh-CN" altLang="en-US" sz="2400" dirty="0">
                <a:solidFill>
                  <a:srgbClr val="339966"/>
                </a:solidFill>
                <a:latin typeface="+mj-lt"/>
                <a:ea typeface="宋体" panose="02010600030101010101" pitchFamily="2" charset="-122"/>
              </a:rPr>
              <a:t>（广域网）</a:t>
            </a:r>
          </a:p>
          <a:p>
            <a:pPr marL="342900" indent="-342900">
              <a:spcBef>
                <a:spcPts val="600"/>
              </a:spcBef>
              <a:buFont typeface="Wingdings" panose="05000000000000000000" pitchFamily="2" charset="2"/>
              <a:buChar char="l"/>
            </a:pPr>
            <a:r>
              <a:rPr lang="en-US" altLang="zh-CN" sz="2400" dirty="0">
                <a:solidFill>
                  <a:schemeClr val="tx2">
                    <a:lumMod val="75000"/>
                  </a:schemeClr>
                </a:solidFill>
                <a:latin typeface="+mj-lt"/>
                <a:ea typeface="宋体" panose="02010600030101010101" pitchFamily="2" charset="-122"/>
                <a:sym typeface="宋体" panose="02010600030101010101" pitchFamily="2" charset="-122"/>
              </a:rPr>
              <a:t>40GbaseCR4</a:t>
            </a:r>
            <a:r>
              <a:rPr lang="zh-CN" altLang="en-US" sz="2400" dirty="0">
                <a:solidFill>
                  <a:schemeClr val="tx2">
                    <a:lumMod val="75000"/>
                  </a:schemeClr>
                </a:solidFill>
                <a:latin typeface="+mj-lt"/>
                <a:ea typeface="宋体" panose="02010600030101010101" pitchFamily="2" charset="-122"/>
                <a:sym typeface="宋体" panose="02010600030101010101" pitchFamily="2" charset="-122"/>
              </a:rPr>
              <a:t>、</a:t>
            </a:r>
            <a:r>
              <a:rPr lang="zh-CN" altLang="en-US" sz="2400" dirty="0">
                <a:solidFill>
                  <a:schemeClr val="tx2">
                    <a:lumMod val="75000"/>
                  </a:schemeClr>
                </a:solidFill>
                <a:latin typeface="+mj-lt"/>
                <a:ea typeface="宋体" panose="02010600030101010101" pitchFamily="2" charset="-122"/>
              </a:rPr>
              <a:t>100G</a:t>
            </a:r>
            <a:r>
              <a:rPr lang="en-US" altLang="zh-CN" sz="2400" dirty="0">
                <a:solidFill>
                  <a:schemeClr val="tx2">
                    <a:lumMod val="75000"/>
                  </a:schemeClr>
                </a:solidFill>
                <a:latin typeface="+mj-lt"/>
                <a:ea typeface="宋体" panose="02010600030101010101" pitchFamily="2" charset="-122"/>
              </a:rPr>
              <a:t>BaseSR10</a:t>
            </a:r>
            <a:r>
              <a:rPr lang="zh-CN" altLang="en-US" sz="2400" dirty="0">
                <a:solidFill>
                  <a:schemeClr val="tx2">
                    <a:lumMod val="75000"/>
                  </a:schemeClr>
                </a:solidFill>
                <a:latin typeface="+mj-lt"/>
                <a:ea typeface="宋体" panose="02010600030101010101" pitchFamily="2" charset="-122"/>
              </a:rPr>
              <a:t>、100G</a:t>
            </a:r>
            <a:r>
              <a:rPr lang="en-US" altLang="zh-CN" sz="2400" dirty="0">
                <a:solidFill>
                  <a:schemeClr val="tx2">
                    <a:lumMod val="75000"/>
                  </a:schemeClr>
                </a:solidFill>
                <a:latin typeface="+mj-lt"/>
                <a:ea typeface="宋体" panose="02010600030101010101" pitchFamily="2" charset="-122"/>
              </a:rPr>
              <a:t>BaseCR10</a:t>
            </a:r>
            <a:r>
              <a:rPr lang="zh-CN" altLang="en-US" sz="2400" dirty="0">
                <a:solidFill>
                  <a:schemeClr val="tx2">
                    <a:lumMod val="75000"/>
                  </a:schemeClr>
                </a:solidFill>
                <a:latin typeface="+mj-lt"/>
                <a:ea typeface="宋体" panose="02010600030101010101" pitchFamily="2" charset="-122"/>
              </a:rPr>
              <a:t> </a:t>
            </a:r>
            <a:r>
              <a:rPr lang="en-US" altLang="zh-CN" sz="2400" dirty="0">
                <a:solidFill>
                  <a:schemeClr val="tx2">
                    <a:lumMod val="75000"/>
                  </a:schemeClr>
                </a:solidFill>
                <a:latin typeface="+mj-lt"/>
                <a:ea typeface="宋体" panose="02010600030101010101" pitchFamily="2" charset="-122"/>
              </a:rPr>
              <a:t>......</a:t>
            </a:r>
            <a:r>
              <a:rPr lang="zh-CN" altLang="en-US" sz="2400" dirty="0">
                <a:solidFill>
                  <a:schemeClr val="tx2">
                    <a:lumMod val="75000"/>
                  </a:schemeClr>
                </a:solidFill>
                <a:latin typeface="+mj-lt"/>
                <a:ea typeface="宋体" panose="02010600030101010101" pitchFamily="2" charset="-122"/>
              </a:rPr>
              <a:t> </a:t>
            </a:r>
            <a:r>
              <a:rPr lang="zh-CN" altLang="en-US" sz="2000" dirty="0">
                <a:solidFill>
                  <a:schemeClr val="tx2">
                    <a:lumMod val="75000"/>
                  </a:schemeClr>
                </a:solidFill>
                <a:latin typeface="+mj-lt"/>
                <a:ea typeface="宋体" panose="02010600030101010101" pitchFamily="2" charset="-122"/>
              </a:rPr>
              <a:t> </a:t>
            </a:r>
            <a:endParaRPr lang="zh-CN" altLang="en-US" sz="2000" dirty="0">
              <a:solidFill>
                <a:schemeClr val="tx1"/>
              </a:solidFill>
              <a:latin typeface="Times New Roman" panose="02020603050405020304" pitchFamily="18" charset="0"/>
              <a:ea typeface="宋体" panose="02010600030101010101" pitchFamily="2" charset="-122"/>
            </a:endParaRPr>
          </a:p>
        </p:txBody>
      </p:sp>
      <p:pic>
        <p:nvPicPr>
          <p:cNvPr id="33795" name="Picture 5"/>
          <p:cNvPicPr>
            <a:picLocks noChangeAspect="1"/>
          </p:cNvPicPr>
          <p:nvPr/>
        </p:nvPicPr>
        <p:blipFill>
          <a:blip r:embed="rId3"/>
          <a:stretch>
            <a:fillRect/>
          </a:stretch>
        </p:blipFill>
        <p:spPr>
          <a:xfrm>
            <a:off x="4859337" y="1047747"/>
            <a:ext cx="4152900" cy="27336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79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79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79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79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79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79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79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79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33795"/>
                                        </p:tgtEl>
                                        <p:attrNameLst>
                                          <p:attrName>style.visibility</p:attrName>
                                        </p:attrNameLst>
                                      </p:cBhvr>
                                      <p:to>
                                        <p:strVal val="visible"/>
                                      </p:to>
                                    </p:set>
                                    <p:anim calcmode="lin" valueType="num">
                                      <p:cBhvr additive="base">
                                        <p:cTn id="39" dur="500" fill="hold"/>
                                        <p:tgtEl>
                                          <p:spTgt spid="33795"/>
                                        </p:tgtEl>
                                        <p:attrNameLst>
                                          <p:attrName>ppt_x</p:attrName>
                                        </p:attrNameLst>
                                      </p:cBhvr>
                                      <p:tavLst>
                                        <p:tav tm="0">
                                          <p:val>
                                            <p:strVal val="1+#ppt_w/2"/>
                                          </p:val>
                                        </p:tav>
                                        <p:tav tm="100000">
                                          <p:val>
                                            <p:strVal val="#ppt_x"/>
                                          </p:val>
                                        </p:tav>
                                      </p:tavLst>
                                    </p:anim>
                                    <p:anim calcmode="lin" valueType="num">
                                      <p:cBhvr additive="base">
                                        <p:cTn id="40" dur="500" fill="hold"/>
                                        <p:tgtEl>
                                          <p:spTgt spid="337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1619672" y="369888"/>
            <a:ext cx="7340600" cy="46672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ea typeface="+mj-ea"/>
                <a:cs typeface="+mj-cs"/>
              </a:rPr>
              <a:t>　传统</a:t>
            </a:r>
            <a:r>
              <a:rPr kumimoji="1" lang="zh-CN" altLang="en-US" b="0" i="0" u="none" strike="noStrike" kern="0" cap="none" spc="0" normalizeH="0" baseline="0" noProof="0" dirty="0" smtClean="0">
                <a:ln>
                  <a:noFill/>
                </a:ln>
                <a:effectLst/>
                <a:uLnTx/>
                <a:uFillTx/>
                <a:latin typeface="宋体" panose="02010600030101010101" pitchFamily="2" charset="-122"/>
                <a:ea typeface="+mj-ea"/>
                <a:cs typeface="+mj-cs"/>
              </a:rPr>
              <a:t>以太网的介质访问控制方法</a:t>
            </a:r>
            <a:r>
              <a:rPr kumimoji="1" lang="zh-CN" altLang="en-US" b="0" i="0" u="none" strike="noStrike" kern="0" cap="none" spc="0" normalizeH="0" baseline="0" noProof="0" dirty="0" smtClean="0">
                <a:ln>
                  <a:noFill/>
                </a:ln>
                <a:effectLst/>
                <a:uLnTx/>
                <a:uFillTx/>
                <a:ea typeface="+mj-ea"/>
                <a:cs typeface="+mj-cs"/>
              </a:rPr>
              <a:t> </a:t>
            </a:r>
          </a:p>
        </p:txBody>
      </p:sp>
      <p:sp>
        <p:nvSpPr>
          <p:cNvPr id="36866" name="Rectangle 6"/>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3" name="对象 2"/>
          <p:cNvGraphicFramePr>
            <a:graphicFrameLocks noChangeAspect="1"/>
          </p:cNvGraphicFramePr>
          <p:nvPr/>
        </p:nvGraphicFramePr>
        <p:xfrm>
          <a:off x="1835696" y="1206500"/>
          <a:ext cx="4968552" cy="5411153"/>
        </p:xfrm>
        <a:graphic>
          <a:graphicData uri="http://schemas.openxmlformats.org/presentationml/2006/ole">
            <mc:AlternateContent xmlns:mc="http://schemas.openxmlformats.org/markup-compatibility/2006">
              <mc:Choice xmlns:v="urn:schemas-microsoft-com:vml" Requires="v">
                <p:oleObj spid="_x0000_s109605" name="Visio" r:id="rId4" imgW="2959100" imgH="3225800" progId="Visio.Drawing.15">
                  <p:embed/>
                </p:oleObj>
              </mc:Choice>
              <mc:Fallback>
                <p:oleObj name="Visio" r:id="rId4" imgW="2959100" imgH="322580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696" y="1206500"/>
                        <a:ext cx="4968552" cy="5411153"/>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044700" y="443809"/>
            <a:ext cx="6842125" cy="481013"/>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dirty="0" smtClean="0">
                <a:ln>
                  <a:noFill/>
                </a:ln>
                <a:effectLst/>
                <a:uLnTx/>
                <a:uFillTx/>
                <a:latin typeface="+mj-lt"/>
                <a:ea typeface="+mj-ea"/>
                <a:cs typeface="+mj-cs"/>
              </a:rPr>
              <a:t>二进制指数退避算法</a:t>
            </a:r>
          </a:p>
        </p:txBody>
      </p:sp>
      <p:sp>
        <p:nvSpPr>
          <p:cNvPr id="37890" name="Rectangle 3"/>
          <p:cNvSpPr>
            <a:spLocks noGrp="1"/>
          </p:cNvSpPr>
          <p:nvPr>
            <p:ph idx="1"/>
          </p:nvPr>
        </p:nvSpPr>
        <p:spPr>
          <a:xfrm>
            <a:off x="533400" y="1340768"/>
            <a:ext cx="8353425" cy="4362450"/>
          </a:xfrm>
        </p:spPr>
        <p:txBody>
          <a:bodyPr vert="horz" wrap="square" lIns="91440" tIns="45720" rIns="91440" bIns="45720" anchor="t"/>
          <a:lstStyle/>
          <a:p>
            <a:pPr eaLnBrk="1" hangingPunct="1">
              <a:lnSpc>
                <a:spcPct val="110000"/>
              </a:lnSpc>
            </a:pPr>
            <a:r>
              <a:rPr lang="zh-CN" altLang="en-US" sz="2600" b="0" dirty="0">
                <a:latin typeface="+mn-ea"/>
              </a:rPr>
              <a:t>将冲突发生后的时间划分为长度为</a:t>
            </a:r>
            <a:r>
              <a:rPr lang="en-US" altLang="zh-CN" sz="2600" b="0" dirty="0">
                <a:solidFill>
                  <a:srgbClr val="FF3300"/>
                </a:solidFill>
                <a:latin typeface="+mn-ea"/>
              </a:rPr>
              <a:t>51.2</a:t>
            </a:r>
            <a:r>
              <a:rPr lang="zh-CN" altLang="en-US" sz="2600" b="0" dirty="0">
                <a:solidFill>
                  <a:srgbClr val="FF3300"/>
                </a:solidFill>
                <a:latin typeface="+mn-ea"/>
              </a:rPr>
              <a:t>微秒的时槽</a:t>
            </a:r>
          </a:p>
          <a:p>
            <a:pPr eaLnBrk="1" hangingPunct="1">
              <a:lnSpc>
                <a:spcPct val="110000"/>
              </a:lnSpc>
            </a:pPr>
            <a:r>
              <a:rPr lang="zh-CN" altLang="en-US" sz="2600" b="0" dirty="0">
                <a:latin typeface="+mn-ea"/>
              </a:rPr>
              <a:t>发生第一次冲突后，各个站点等待 </a:t>
            </a:r>
            <a:r>
              <a:rPr lang="en-US" altLang="zh-CN" sz="2600" b="0" dirty="0">
                <a:latin typeface="+mn-ea"/>
              </a:rPr>
              <a:t>0 </a:t>
            </a:r>
            <a:r>
              <a:rPr lang="zh-CN" altLang="en-US" sz="2600" b="0" dirty="0">
                <a:latin typeface="+mn-ea"/>
              </a:rPr>
              <a:t>或 </a:t>
            </a:r>
            <a:r>
              <a:rPr lang="en-US" altLang="zh-CN" sz="2600" b="0" dirty="0">
                <a:latin typeface="+mn-ea"/>
              </a:rPr>
              <a:t>1 </a:t>
            </a:r>
            <a:r>
              <a:rPr lang="zh-CN" altLang="en-US" sz="2600" b="0" dirty="0">
                <a:latin typeface="+mn-ea"/>
              </a:rPr>
              <a:t>个时槽再开始重传；</a:t>
            </a:r>
          </a:p>
          <a:p>
            <a:pPr eaLnBrk="1" hangingPunct="1">
              <a:lnSpc>
                <a:spcPct val="110000"/>
              </a:lnSpc>
            </a:pPr>
            <a:r>
              <a:rPr lang="zh-CN" altLang="en-US" sz="2600" b="0" dirty="0">
                <a:latin typeface="+mn-ea"/>
              </a:rPr>
              <a:t>发生第二次冲突后，各个站点随机地选择等待</a:t>
            </a:r>
            <a:r>
              <a:rPr lang="en-US" altLang="zh-CN" sz="2600" b="0" dirty="0">
                <a:latin typeface="+mn-ea"/>
              </a:rPr>
              <a:t>0, 1, 2</a:t>
            </a:r>
            <a:r>
              <a:rPr lang="zh-CN" altLang="en-US" sz="2600" b="0" dirty="0">
                <a:latin typeface="+mn-ea"/>
              </a:rPr>
              <a:t>或</a:t>
            </a:r>
            <a:r>
              <a:rPr lang="en-US" altLang="zh-CN" sz="2600" b="0" dirty="0">
                <a:latin typeface="+mn-ea"/>
              </a:rPr>
              <a:t>3</a:t>
            </a:r>
            <a:r>
              <a:rPr lang="zh-CN" altLang="en-US" sz="2600" b="0" dirty="0">
                <a:latin typeface="+mn-ea"/>
              </a:rPr>
              <a:t>个时槽再开始重传；</a:t>
            </a:r>
          </a:p>
          <a:p>
            <a:pPr eaLnBrk="1" hangingPunct="1">
              <a:lnSpc>
                <a:spcPct val="110000"/>
              </a:lnSpc>
            </a:pPr>
            <a:r>
              <a:rPr lang="zh-CN" altLang="en-US" sz="2600" b="0" dirty="0">
                <a:latin typeface="+mn-ea"/>
              </a:rPr>
              <a:t>第 </a:t>
            </a:r>
            <a:r>
              <a:rPr lang="en-US" altLang="zh-CN" sz="2600" b="0" dirty="0">
                <a:solidFill>
                  <a:srgbClr val="FF3300"/>
                </a:solidFill>
                <a:latin typeface="+mn-ea"/>
              </a:rPr>
              <a:t>i</a:t>
            </a:r>
            <a:r>
              <a:rPr lang="en-US" altLang="zh-CN" sz="2600" b="0" dirty="0">
                <a:latin typeface="+mn-ea"/>
              </a:rPr>
              <a:t> </a:t>
            </a:r>
            <a:r>
              <a:rPr lang="zh-CN" altLang="en-US" sz="2600" b="0" dirty="0">
                <a:latin typeface="+mn-ea"/>
              </a:rPr>
              <a:t>次冲突后，在 </a:t>
            </a:r>
            <a:r>
              <a:rPr lang="en-US" altLang="zh-CN" sz="2600" b="0" dirty="0">
                <a:solidFill>
                  <a:srgbClr val="FF3300"/>
                </a:solidFill>
                <a:latin typeface="+mn-ea"/>
              </a:rPr>
              <a:t>0 </a:t>
            </a:r>
            <a:r>
              <a:rPr lang="zh-CN" altLang="en-US" sz="2600" b="0" dirty="0">
                <a:solidFill>
                  <a:srgbClr val="FF3300"/>
                </a:solidFill>
                <a:latin typeface="+mn-ea"/>
              </a:rPr>
              <a:t>至 </a:t>
            </a:r>
            <a:r>
              <a:rPr lang="en-US" altLang="zh-CN" sz="2600" b="0" dirty="0">
                <a:solidFill>
                  <a:srgbClr val="FF3300"/>
                </a:solidFill>
                <a:latin typeface="+mn-ea"/>
              </a:rPr>
              <a:t>2</a:t>
            </a:r>
            <a:r>
              <a:rPr lang="en-US" altLang="zh-CN" sz="2600" b="0" baseline="30000" dirty="0">
                <a:solidFill>
                  <a:srgbClr val="FF3300"/>
                </a:solidFill>
                <a:latin typeface="+mn-ea"/>
              </a:rPr>
              <a:t>i</a:t>
            </a:r>
            <a:r>
              <a:rPr lang="en-US" altLang="zh-CN" sz="2600" b="0" dirty="0">
                <a:solidFill>
                  <a:srgbClr val="FF3300"/>
                </a:solidFill>
                <a:latin typeface="+mn-ea"/>
              </a:rPr>
              <a:t>-1 </a:t>
            </a:r>
            <a:r>
              <a:rPr lang="zh-CN" altLang="en-US" sz="2600" b="0" dirty="0">
                <a:solidFill>
                  <a:srgbClr val="FF3300"/>
                </a:solidFill>
                <a:latin typeface="+mn-ea"/>
              </a:rPr>
              <a:t>间</a:t>
            </a:r>
            <a:r>
              <a:rPr lang="zh-CN" altLang="en-US" sz="2600" b="0" dirty="0">
                <a:latin typeface="+mn-ea"/>
              </a:rPr>
              <a:t>随机地选择一个等待的时槽数，再开始重传；</a:t>
            </a:r>
          </a:p>
          <a:p>
            <a:pPr eaLnBrk="1" hangingPunct="1">
              <a:lnSpc>
                <a:spcPct val="110000"/>
              </a:lnSpc>
            </a:pPr>
            <a:r>
              <a:rPr lang="en-US" altLang="zh-CN" sz="2600" b="0" dirty="0">
                <a:latin typeface="+mn-ea"/>
              </a:rPr>
              <a:t>10</a:t>
            </a:r>
            <a:r>
              <a:rPr lang="zh-CN" altLang="en-US" sz="2600" b="0" dirty="0">
                <a:latin typeface="+mn-ea"/>
              </a:rPr>
              <a:t>次冲突后，选择等待的时槽数固定在</a:t>
            </a:r>
            <a:r>
              <a:rPr lang="en-US" altLang="zh-CN" sz="2600" b="0" dirty="0">
                <a:latin typeface="+mn-ea"/>
              </a:rPr>
              <a:t>0</a:t>
            </a:r>
            <a:r>
              <a:rPr lang="zh-CN" altLang="en-US" sz="2600" b="0" dirty="0">
                <a:latin typeface="+mn-ea"/>
              </a:rPr>
              <a:t>至</a:t>
            </a:r>
            <a:r>
              <a:rPr lang="en-US" altLang="zh-CN" sz="2600" b="0" dirty="0">
                <a:latin typeface="+mn-ea"/>
              </a:rPr>
              <a:t>2</a:t>
            </a:r>
            <a:r>
              <a:rPr lang="en-US" altLang="zh-CN" sz="2600" b="0" baseline="30000" dirty="0">
                <a:latin typeface="+mn-ea"/>
              </a:rPr>
              <a:t>10</a:t>
            </a:r>
            <a:r>
              <a:rPr lang="en-US" altLang="zh-CN" sz="2600" b="0" dirty="0">
                <a:latin typeface="+mn-ea"/>
              </a:rPr>
              <a:t>—1</a:t>
            </a:r>
            <a:r>
              <a:rPr lang="zh-CN" altLang="en-US" sz="2600" b="0" dirty="0">
                <a:latin typeface="+mn-ea"/>
              </a:rPr>
              <a:t>之间；</a:t>
            </a:r>
          </a:p>
          <a:p>
            <a:pPr eaLnBrk="1" hangingPunct="1">
              <a:lnSpc>
                <a:spcPct val="110000"/>
              </a:lnSpc>
            </a:pPr>
            <a:r>
              <a:rPr lang="en-US" altLang="zh-CN" sz="2600" b="0" dirty="0">
                <a:solidFill>
                  <a:srgbClr val="FF3300"/>
                </a:solidFill>
                <a:latin typeface="+mn-ea"/>
              </a:rPr>
              <a:t>16</a:t>
            </a:r>
            <a:r>
              <a:rPr lang="zh-CN" altLang="en-US" sz="2600" b="0" dirty="0">
                <a:solidFill>
                  <a:srgbClr val="FF3300"/>
                </a:solidFill>
                <a:latin typeface="+mn-ea"/>
              </a:rPr>
              <a:t>次</a:t>
            </a:r>
            <a:r>
              <a:rPr lang="zh-CN" altLang="en-US" sz="2600" b="0" dirty="0">
                <a:latin typeface="+mn-ea"/>
              </a:rPr>
              <a:t>冲突后，发送失败，报告上层。</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1516062" y="369576"/>
            <a:ext cx="7269163" cy="538474"/>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mj-lt"/>
                <a:ea typeface="+mj-ea"/>
                <a:cs typeface="+mj-cs"/>
              </a:rPr>
              <a:t>　最短帧长制约</a:t>
            </a:r>
          </a:p>
        </p:txBody>
      </p:sp>
      <p:sp>
        <p:nvSpPr>
          <p:cNvPr id="38914" name="Rectangle 3"/>
          <p:cNvSpPr>
            <a:spLocks noGrp="1"/>
          </p:cNvSpPr>
          <p:nvPr>
            <p:ph idx="1"/>
          </p:nvPr>
        </p:nvSpPr>
        <p:spPr>
          <a:xfrm>
            <a:off x="250825" y="1081151"/>
            <a:ext cx="8534400" cy="864096"/>
          </a:xfrm>
        </p:spPr>
        <p:txBody>
          <a:bodyPr vert="horz" wrap="square" lIns="91440" tIns="45720" rIns="91440" bIns="45720" anchor="t"/>
          <a:lstStyle/>
          <a:p>
            <a:pPr lvl="1" eaLnBrk="1" hangingPunct="1">
              <a:lnSpc>
                <a:spcPct val="120000"/>
              </a:lnSpc>
              <a:buFont typeface="Wingdings" panose="05000000000000000000" pitchFamily="2" charset="2"/>
              <a:buChar char="l"/>
            </a:pPr>
            <a:r>
              <a:rPr lang="zh-CN" altLang="en-US" sz="2400" dirty="0" smtClean="0">
                <a:latin typeface="+mn-ea"/>
              </a:rPr>
              <a:t>为了检测到所有冲突，避免</a:t>
            </a:r>
            <a:r>
              <a:rPr lang="zh-CN" altLang="en-US" sz="2400" dirty="0">
                <a:latin typeface="+mn-ea"/>
              </a:rPr>
              <a:t>帧的第一个比特到达电缆的远端前帧已经发完，帧发送时间应该</a:t>
            </a:r>
            <a:r>
              <a:rPr lang="zh-CN" altLang="en-US" sz="2400" dirty="0" smtClean="0">
                <a:latin typeface="+mn-ea"/>
              </a:rPr>
              <a:t>大于</a:t>
            </a:r>
            <a:r>
              <a:rPr lang="zh-CN" altLang="en-US" sz="2400" dirty="0" smtClean="0">
                <a:solidFill>
                  <a:srgbClr val="C00000"/>
                </a:solidFill>
                <a:latin typeface="+mn-ea"/>
              </a:rPr>
              <a:t>往返延迟时间（冲突检测时间）</a:t>
            </a:r>
            <a:r>
              <a:rPr lang="zh-CN" altLang="en-US" sz="2400" dirty="0" smtClean="0">
                <a:latin typeface="+mn-ea"/>
              </a:rPr>
              <a:t>；</a:t>
            </a:r>
            <a:endParaRPr lang="zh-CN" altLang="en-US" sz="2400" dirty="0">
              <a:latin typeface="+mn-ea"/>
            </a:endParaRPr>
          </a:p>
          <a:p>
            <a:pPr lvl="2" eaLnBrk="1" hangingPunct="1">
              <a:lnSpc>
                <a:spcPct val="120000"/>
              </a:lnSpc>
              <a:buFont typeface="Wingdings" panose="05000000000000000000" pitchFamily="2" charset="2"/>
              <a:buChar char="l"/>
            </a:pPr>
            <a:endParaRPr lang="zh-CN" altLang="en-US" sz="2000" dirty="0">
              <a:latin typeface="+mn-ea"/>
            </a:endParaRPr>
          </a:p>
        </p:txBody>
      </p:sp>
      <p:pic>
        <p:nvPicPr>
          <p:cNvPr id="38916" name="图片 40"/>
          <p:cNvPicPr>
            <a:picLocks noChangeAspect="1"/>
          </p:cNvPicPr>
          <p:nvPr/>
        </p:nvPicPr>
        <p:blipFill>
          <a:blip r:embed="rId3"/>
          <a:stretch>
            <a:fillRect/>
          </a:stretch>
        </p:blipFill>
        <p:spPr>
          <a:xfrm>
            <a:off x="468834" y="1628800"/>
            <a:ext cx="8365181" cy="3096344"/>
          </a:xfrm>
          <a:prstGeom prst="rect">
            <a:avLst/>
          </a:prstGeom>
          <a:noFill/>
          <a:ln w="9525">
            <a:noFill/>
          </a:ln>
        </p:spPr>
      </p:pic>
      <p:sp>
        <p:nvSpPr>
          <p:cNvPr id="6" name="Rectangle 3"/>
          <p:cNvSpPr txBox="1"/>
          <p:nvPr/>
        </p:nvSpPr>
        <p:spPr bwMode="auto">
          <a:xfrm>
            <a:off x="299615" y="4734205"/>
            <a:ext cx="8534400" cy="1723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kern="1200">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kern="1200">
                <a:solidFill>
                  <a:srgbClr val="003399"/>
                </a:solidFill>
                <a:latin typeface="+mn-lt"/>
                <a:ea typeface="+mn-ea"/>
                <a:cs typeface="+mn-cs"/>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kern="1200">
                <a:solidFill>
                  <a:srgbClr val="CC6600"/>
                </a:solidFill>
                <a:latin typeface="+mn-lt"/>
                <a:ea typeface="+mn-ea"/>
                <a:cs typeface="+mn-cs"/>
              </a:defRPr>
            </a:lvl3pPr>
            <a:lvl4pPr marL="1600200" indent="-228600" algn="l" rtl="0" eaLnBrk="0" fontAlgn="base" hangingPunct="0">
              <a:spcBef>
                <a:spcPct val="20000"/>
              </a:spcBef>
              <a:spcAft>
                <a:spcPct val="0"/>
              </a:spcAft>
              <a:buClr>
                <a:srgbClr val="256EFF"/>
              </a:buClr>
              <a:buChar char="–"/>
              <a:defRPr kumimoji="1" sz="2000" b="1" kern="1200">
                <a:solidFill>
                  <a:schemeClr val="bg2"/>
                </a:solidFill>
                <a:latin typeface="+mn-lt"/>
                <a:ea typeface="+mn-ea"/>
                <a:cs typeface="+mn-cs"/>
              </a:defRPr>
            </a:lvl4pPr>
            <a:lvl5pPr marL="2057400" indent="-228600" algn="l" rtl="0" eaLnBrk="0" fontAlgn="base" hangingPunct="0">
              <a:spcBef>
                <a:spcPct val="20000"/>
              </a:spcBef>
              <a:spcAft>
                <a:spcPct val="0"/>
              </a:spcAft>
              <a:buClr>
                <a:srgbClr val="256EFF"/>
              </a:buClr>
              <a:buChar char="•"/>
              <a:defRPr kumimoji="1" sz="2000" b="1"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eaLnBrk="1" hangingPunct="1">
              <a:lnSpc>
                <a:spcPct val="110000"/>
              </a:lnSpc>
              <a:spcBef>
                <a:spcPts val="600"/>
              </a:spcBef>
              <a:buFont typeface="Wingdings" panose="05000000000000000000" pitchFamily="2" charset="2"/>
              <a:buChar char="l"/>
            </a:pPr>
            <a:r>
              <a:rPr lang="en-US" altLang="zh-CN" sz="2400" dirty="0" smtClean="0"/>
              <a:t>10Mbps LAN</a:t>
            </a:r>
            <a:r>
              <a:rPr lang="zh-CN" altLang="en-US" sz="2400" dirty="0" smtClean="0"/>
              <a:t>，最大冲突检测时间为</a:t>
            </a:r>
            <a:r>
              <a:rPr lang="en-US" altLang="zh-CN" sz="2400" dirty="0" smtClean="0">
                <a:solidFill>
                  <a:srgbClr val="FF3300"/>
                </a:solidFill>
              </a:rPr>
              <a:t>51.2</a:t>
            </a:r>
            <a:r>
              <a:rPr lang="zh-CN" altLang="en-US" sz="2400" dirty="0" smtClean="0">
                <a:solidFill>
                  <a:srgbClr val="FF3300"/>
                </a:solidFill>
              </a:rPr>
              <a:t>微秒</a:t>
            </a:r>
            <a:r>
              <a:rPr lang="zh-CN" altLang="en-US" sz="2400" dirty="0" smtClean="0"/>
              <a:t>，最短帧长为</a:t>
            </a:r>
            <a:r>
              <a:rPr lang="en-US" altLang="zh-CN" sz="2400" dirty="0" smtClean="0">
                <a:solidFill>
                  <a:srgbClr val="FF3300"/>
                </a:solidFill>
              </a:rPr>
              <a:t>64</a:t>
            </a:r>
            <a:r>
              <a:rPr lang="zh-CN" altLang="en-US" sz="2400" dirty="0" smtClean="0">
                <a:solidFill>
                  <a:srgbClr val="FF3300"/>
                </a:solidFill>
              </a:rPr>
              <a:t>字节</a:t>
            </a:r>
            <a:r>
              <a:rPr lang="zh-CN" altLang="en-US" sz="2400" dirty="0" smtClean="0"/>
              <a:t>；</a:t>
            </a:r>
          </a:p>
          <a:p>
            <a:pPr lvl="1" eaLnBrk="1" hangingPunct="1">
              <a:lnSpc>
                <a:spcPct val="110000"/>
              </a:lnSpc>
              <a:spcBef>
                <a:spcPts val="600"/>
              </a:spcBef>
              <a:buFont typeface="Wingdings" panose="05000000000000000000" pitchFamily="2" charset="2"/>
              <a:buChar char="l"/>
            </a:pPr>
            <a:r>
              <a:rPr lang="zh-CN" altLang="en-US" sz="2400" dirty="0" smtClean="0"/>
              <a:t>网络速度提高，最短帧长也应该增大或者站点间的距离要减小。</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1754249" y="423862"/>
            <a:ext cx="7269163" cy="38417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mj-lt"/>
                <a:ea typeface="+mj-ea"/>
                <a:cs typeface="+mj-cs"/>
              </a:rPr>
              <a:t>　以太网的帧格式（</a:t>
            </a:r>
            <a:r>
              <a:rPr kumimoji="1" lang="en-US" altLang="zh-CN" b="0" i="0" u="none" strike="noStrike" kern="0" cap="none" spc="0" normalizeH="0" baseline="0" noProof="0" dirty="0" smtClean="0">
                <a:ln>
                  <a:noFill/>
                </a:ln>
                <a:effectLst/>
                <a:uLnTx/>
                <a:uFillTx/>
                <a:latin typeface="+mj-lt"/>
                <a:ea typeface="+mj-ea"/>
                <a:cs typeface="+mj-cs"/>
              </a:rPr>
              <a:t>1</a:t>
            </a:r>
            <a:r>
              <a:rPr kumimoji="1" lang="zh-CN" altLang="en-US" b="0" i="0" u="none" strike="noStrike" kern="0" cap="none" spc="0" normalizeH="0" baseline="0" noProof="0" dirty="0" smtClean="0">
                <a:ln>
                  <a:noFill/>
                </a:ln>
                <a:effectLst/>
                <a:uLnTx/>
                <a:uFillTx/>
                <a:latin typeface="+mj-lt"/>
                <a:ea typeface="+mj-ea"/>
                <a:cs typeface="+mj-cs"/>
              </a:rPr>
              <a:t>）</a:t>
            </a:r>
          </a:p>
        </p:txBody>
      </p:sp>
      <p:sp>
        <p:nvSpPr>
          <p:cNvPr id="10244" name="Rectangle 3"/>
          <p:cNvSpPr>
            <a:spLocks noGrp="1"/>
          </p:cNvSpPr>
          <p:nvPr>
            <p:ph idx="1"/>
          </p:nvPr>
        </p:nvSpPr>
        <p:spPr>
          <a:xfrm>
            <a:off x="489012" y="3429000"/>
            <a:ext cx="8534400" cy="3072765"/>
          </a:xfrm>
        </p:spPr>
        <p:txBody>
          <a:bodyPr vert="horz" wrap="square" lIns="91440" tIns="45720" rIns="91440" bIns="45720" anchor="t"/>
          <a:lstStyle/>
          <a:p>
            <a:pPr defTabSz="762000" fontAlgn="base"/>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PA</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 前同步码 </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  10101010</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序列，用于使接收方与发送方同步</a:t>
            </a:r>
            <a:endParaRPr lang="zh-CN" altLang="en-US" sz="2000" b="0" strike="noStrike" noProof="1">
              <a:solidFill>
                <a:schemeClr val="tx1"/>
              </a:solidFill>
              <a:effectLst/>
              <a:latin typeface="Arial" panose="020B0604020202020204" pitchFamily="34" charset="0"/>
              <a:ea typeface="宋体" panose="02010600030101010101" pitchFamily="2" charset="-122"/>
            </a:endParaRPr>
          </a:p>
          <a:p>
            <a:pPr defTabSz="762000" fontAlgn="base"/>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SFD</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 帧首定界 </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-- 10101011</a:t>
            </a:r>
            <a:endParaRPr lang="en-US" altLang="zh-CN" sz="2000" b="0" strike="noStrike" noProof="1">
              <a:solidFill>
                <a:schemeClr val="tx1"/>
              </a:solidFill>
              <a:effectLst/>
              <a:latin typeface="Arial" panose="020B0604020202020204" pitchFamily="34" charset="0"/>
              <a:ea typeface="宋体" panose="02010600030101010101" pitchFamily="2" charset="-122"/>
            </a:endParaRPr>
          </a:p>
          <a:p>
            <a:pPr defTabSz="762000" fontAlgn="base"/>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DA</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 目的</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MAC</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地址；  </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SA</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 源</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MAC</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地址</a:t>
            </a:r>
            <a:endParaRPr lang="zh-CN" altLang="en-US" sz="2000" b="0" strike="noStrike" noProof="1">
              <a:solidFill>
                <a:schemeClr val="tx1"/>
              </a:solidFill>
              <a:effectLst/>
              <a:latin typeface="Arial" panose="020B0604020202020204" pitchFamily="34" charset="0"/>
              <a:ea typeface="宋体" panose="02010600030101010101" pitchFamily="2" charset="-122"/>
            </a:endParaRPr>
          </a:p>
          <a:p>
            <a:pPr defTabSz="762000" fontAlgn="base"/>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LEN</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：数据长度（数据部分的字节数）（</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0-1500B</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a:t>
            </a:r>
            <a:endParaRPr lang="zh-CN" altLang="en-US" sz="2000" b="0" strike="noStrike" noProof="1">
              <a:solidFill>
                <a:schemeClr val="tx1"/>
              </a:solidFill>
              <a:effectLst/>
              <a:latin typeface="Arial" panose="020B0604020202020204" pitchFamily="34" charset="0"/>
              <a:ea typeface="宋体" panose="02010600030101010101" pitchFamily="2" charset="-122"/>
            </a:endParaRPr>
          </a:p>
          <a:p>
            <a:pPr defTabSz="762000" fontAlgn="base"/>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Type</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 类型。高层协议标识</a:t>
            </a:r>
            <a:endParaRPr lang="zh-CN" altLang="en-US" sz="2000" b="0" strike="noStrike" noProof="1">
              <a:solidFill>
                <a:schemeClr val="tx1"/>
              </a:solidFill>
              <a:effectLst/>
              <a:latin typeface="Arial" panose="020B0604020202020204" pitchFamily="34" charset="0"/>
              <a:ea typeface="宋体" panose="02010600030101010101" pitchFamily="2" charset="-122"/>
            </a:endParaRPr>
          </a:p>
          <a:p>
            <a:pPr defTabSz="762000" fontAlgn="base"/>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LLC PDU+pad -- </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最少</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46</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字节</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 </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最多</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1500</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字节 </a:t>
            </a:r>
            <a:endParaRPr lang="zh-CN" altLang="en-US" sz="2000" b="0" strike="noStrike" noProof="1">
              <a:solidFill>
                <a:schemeClr val="tx1"/>
              </a:solidFill>
              <a:effectLst/>
              <a:latin typeface="Arial" panose="020B0604020202020204" pitchFamily="34" charset="0"/>
              <a:ea typeface="宋体" panose="02010600030101010101" pitchFamily="2" charset="-122"/>
            </a:endParaRPr>
          </a:p>
          <a:p>
            <a:pPr defTabSz="762000" fontAlgn="base"/>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Pad</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：填充字段，保证帧长不少于</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64</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字节</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若</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Data</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域</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≥46</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字节，则无</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Pad)</a:t>
            </a:r>
            <a:endParaRPr lang="en-US" altLang="zh-CN" sz="2000" b="0" strike="noStrike" noProof="1">
              <a:solidFill>
                <a:schemeClr val="tx1"/>
              </a:solidFill>
              <a:effectLst/>
              <a:latin typeface="Arial" panose="020B0604020202020204" pitchFamily="34" charset="0"/>
              <a:ea typeface="宋体" panose="02010600030101010101" pitchFamily="2" charset="-122"/>
            </a:endParaRPr>
          </a:p>
          <a:p>
            <a:pPr defTabSz="762000" fontAlgn="base"/>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FCS</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 帧校验序列（</a:t>
            </a:r>
            <a:r>
              <a:rPr lang="en-US" altLang="zh-CN" sz="2000" b="0" strike="noStrike" noProof="1">
                <a:solidFill>
                  <a:schemeClr val="tx1"/>
                </a:solidFill>
                <a:effectLst/>
                <a:latin typeface="Arial" panose="020B0604020202020204" pitchFamily="34" charset="0"/>
                <a:ea typeface="宋体" panose="02010600030101010101" pitchFamily="2" charset="-122"/>
                <a:sym typeface="+mn-ea"/>
              </a:rPr>
              <a:t>CRC-32</a:t>
            </a:r>
            <a:r>
              <a:rPr lang="zh-CN" altLang="en-US" sz="2000" b="0" strike="noStrike" noProof="1">
                <a:solidFill>
                  <a:schemeClr val="tx1"/>
                </a:solidFill>
                <a:effectLst/>
                <a:latin typeface="Arial" panose="020B0604020202020204" pitchFamily="34" charset="0"/>
                <a:ea typeface="宋体" panose="02010600030101010101" pitchFamily="2" charset="-122"/>
                <a:sym typeface="+mn-ea"/>
              </a:rPr>
              <a:t>）</a:t>
            </a:r>
          </a:p>
        </p:txBody>
      </p:sp>
      <p:sp>
        <p:nvSpPr>
          <p:cNvPr id="39939" name="Rectangle 7"/>
          <p:cNvSpPr/>
          <p:nvPr/>
        </p:nvSpPr>
        <p:spPr>
          <a:xfrm>
            <a:off x="0" y="201613"/>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39940" name="对象 -2147482615"/>
          <p:cNvGraphicFramePr>
            <a:graphicFrameLocks noChangeAspect="1"/>
          </p:cNvGraphicFramePr>
          <p:nvPr/>
        </p:nvGraphicFramePr>
        <p:xfrm>
          <a:off x="571500" y="1155700"/>
          <a:ext cx="8572500" cy="2146300"/>
        </p:xfrm>
        <a:graphic>
          <a:graphicData uri="http://schemas.openxmlformats.org/presentationml/2006/ole">
            <mc:AlternateContent xmlns:mc="http://schemas.openxmlformats.org/markup-compatibility/2006">
              <mc:Choice xmlns:v="urn:schemas-microsoft-com:vml" Requires="v">
                <p:oleObj spid="_x0000_s110627" r:id="rId4" imgW="9033510" imgH="2252980" progId="Visio.Drawing.11">
                  <p:embed/>
                </p:oleObj>
              </mc:Choice>
              <mc:Fallback>
                <p:oleObj r:id="rId4" imgW="9033510" imgH="2252980" progId="Visio.Drawing.11">
                  <p:embed/>
                  <p:pic>
                    <p:nvPicPr>
                      <p:cNvPr id="0" name="对象 -2147482615"/>
                      <p:cNvPicPr/>
                      <p:nvPr/>
                    </p:nvPicPr>
                    <p:blipFill>
                      <a:blip r:embed="rId5"/>
                      <a:stretch>
                        <a:fillRect/>
                      </a:stretch>
                    </p:blipFill>
                    <p:spPr>
                      <a:xfrm>
                        <a:off x="571500" y="1155700"/>
                        <a:ext cx="8572500" cy="21463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p:cNvSpPr>
          <p:nvPr>
            <p:ph idx="1"/>
          </p:nvPr>
        </p:nvSpPr>
        <p:spPr>
          <a:xfrm>
            <a:off x="914400" y="1219200"/>
            <a:ext cx="7162800" cy="1908175"/>
          </a:xfrm>
        </p:spPr>
        <p:txBody>
          <a:bodyPr vert="horz" wrap="square" lIns="91440" tIns="45720" rIns="91440" bIns="45720" anchor="t"/>
          <a:lstStyle/>
          <a:p>
            <a:pPr marL="609600" indent="-609600" eaLnBrk="1" hangingPunct="1">
              <a:buFont typeface="Monotype Sorts" pitchFamily="2" charset="2"/>
              <a:buNone/>
            </a:pPr>
            <a:endParaRPr lang="en-US" altLang="zh-CN" sz="2800" dirty="0"/>
          </a:p>
          <a:p>
            <a:pPr marL="609600" indent="-609600" eaLnBrk="1" hangingPunct="1">
              <a:buFont typeface="Monotype Sorts" pitchFamily="2" charset="2"/>
              <a:buNone/>
            </a:pPr>
            <a:endParaRPr lang="en-US" altLang="zh-CN" sz="2400" dirty="0"/>
          </a:p>
          <a:p>
            <a:pPr marL="609600" indent="-609600" eaLnBrk="1" hangingPunct="1">
              <a:buFont typeface="Monotype Sorts" pitchFamily="2" charset="2"/>
              <a:buChar char="4"/>
            </a:pPr>
            <a:endParaRPr lang="en-US" altLang="zh-CN" sz="2400" dirty="0"/>
          </a:p>
          <a:p>
            <a:pPr marL="609600" indent="-609600" eaLnBrk="1" hangingPunct="1">
              <a:buNone/>
            </a:pPr>
            <a:endParaRPr lang="en-US" altLang="zh-CN" sz="2800" dirty="0"/>
          </a:p>
        </p:txBody>
      </p:sp>
      <p:sp>
        <p:nvSpPr>
          <p:cNvPr id="40962" name="Rectangle 6"/>
          <p:cNvSpPr/>
          <p:nvPr/>
        </p:nvSpPr>
        <p:spPr>
          <a:xfrm>
            <a:off x="669987" y="1357313"/>
            <a:ext cx="8353425" cy="4362450"/>
          </a:xfrm>
          <a:prstGeom prst="rect">
            <a:avLst/>
          </a:prstGeom>
          <a:noFill/>
          <a:ln w="9525">
            <a:noFill/>
          </a:ln>
        </p:spPr>
        <p:txBody>
          <a:bodyPr anchor="t"/>
          <a:lstStyle/>
          <a:p>
            <a:pPr marL="342900" indent="-342900">
              <a:spcBef>
                <a:spcPts val="600"/>
              </a:spcBef>
              <a:spcAft>
                <a:spcPts val="600"/>
              </a:spcAft>
              <a:buFont typeface="Wingdings" panose="05000000000000000000" pitchFamily="2" charset="2"/>
              <a:buChar char="l"/>
            </a:pPr>
            <a:r>
              <a:rPr lang="zh-CN" altLang="en-US" sz="3200" b="1" dirty="0" smtClean="0">
                <a:solidFill>
                  <a:schemeClr val="tx1"/>
                </a:solidFill>
                <a:latin typeface="黑体" panose="02010609060101010101" pitchFamily="49" charset="-122"/>
              </a:rPr>
              <a:t>目的地址</a:t>
            </a:r>
            <a:r>
              <a:rPr lang="zh-CN" altLang="en-US" sz="3200" b="1" dirty="0">
                <a:solidFill>
                  <a:schemeClr val="tx1"/>
                </a:solidFill>
                <a:latin typeface="黑体" panose="02010609060101010101" pitchFamily="49" charset="-122"/>
              </a:rPr>
              <a:t>和源地址</a:t>
            </a:r>
          </a:p>
          <a:p>
            <a:pPr marL="800100" lvl="1" indent="-342900" eaLnBrk="1" hangingPunct="1">
              <a:lnSpc>
                <a:spcPct val="120000"/>
              </a:lnSpc>
              <a:spcBef>
                <a:spcPts val="600"/>
              </a:spcBef>
              <a:buClr>
                <a:srgbClr val="003399"/>
              </a:buClr>
              <a:buFont typeface="Wingdings" panose="05000000000000000000" pitchFamily="2" charset="2"/>
              <a:buChar char="ü"/>
            </a:pPr>
            <a:r>
              <a:rPr lang="zh-CN" altLang="en-US" sz="2400" b="1" dirty="0">
                <a:solidFill>
                  <a:schemeClr val="tx1"/>
                </a:solidFill>
                <a:ea typeface="宋体" panose="02010600030101010101" pitchFamily="2" charset="-122"/>
              </a:rPr>
              <a:t>共</a:t>
            </a:r>
            <a:r>
              <a:rPr lang="en-US" altLang="zh-CN" sz="2400" b="1" dirty="0">
                <a:solidFill>
                  <a:schemeClr val="tx1"/>
                </a:solidFill>
                <a:ea typeface="宋体" panose="02010600030101010101" pitchFamily="2" charset="-122"/>
              </a:rPr>
              <a:t>6</a:t>
            </a:r>
            <a:r>
              <a:rPr lang="zh-CN" altLang="en-US" sz="2400" b="1" dirty="0">
                <a:solidFill>
                  <a:schemeClr val="tx1"/>
                </a:solidFill>
                <a:ea typeface="宋体" panose="02010600030101010101" pitchFamily="2" charset="-122"/>
              </a:rPr>
              <a:t>个字节，前三个字节由</a:t>
            </a:r>
            <a:r>
              <a:rPr lang="en-US" altLang="zh-CN" sz="2400" b="1" dirty="0">
                <a:solidFill>
                  <a:schemeClr val="tx1"/>
                </a:solidFill>
                <a:ea typeface="宋体" panose="02010600030101010101" pitchFamily="2" charset="-122"/>
              </a:rPr>
              <a:t>IEEE802</a:t>
            </a:r>
            <a:r>
              <a:rPr lang="zh-CN" altLang="en-US" sz="2400" b="1" dirty="0">
                <a:solidFill>
                  <a:srgbClr val="FF3300"/>
                </a:solidFill>
                <a:ea typeface="宋体" panose="02010600030101010101" pitchFamily="2" charset="-122"/>
              </a:rPr>
              <a:t>分配给厂商</a:t>
            </a:r>
            <a:r>
              <a:rPr lang="zh-CN" altLang="en-US" sz="2400" b="1" dirty="0">
                <a:solidFill>
                  <a:schemeClr val="tx1"/>
                </a:solidFill>
                <a:ea typeface="宋体" panose="02010600030101010101" pitchFamily="2" charset="-122"/>
              </a:rPr>
              <a:t>，后三个字节由厂商唯一地</a:t>
            </a:r>
            <a:r>
              <a:rPr lang="zh-CN" altLang="en-US" sz="2400" b="1" dirty="0">
                <a:solidFill>
                  <a:srgbClr val="FF3300"/>
                </a:solidFill>
                <a:ea typeface="宋体" panose="02010600030101010101" pitchFamily="2" charset="-122"/>
              </a:rPr>
              <a:t>分配给所生产的网卡</a:t>
            </a:r>
            <a:r>
              <a:rPr lang="zh-CN" altLang="en-US" sz="2400" b="1" dirty="0">
                <a:solidFill>
                  <a:schemeClr val="tx1"/>
                </a:solidFill>
                <a:ea typeface="宋体" panose="02010600030101010101" pitchFamily="2" charset="-122"/>
              </a:rPr>
              <a:t>。</a:t>
            </a:r>
          </a:p>
          <a:p>
            <a:pPr marL="800100" lvl="1" indent="-342900" eaLnBrk="1" hangingPunct="1">
              <a:lnSpc>
                <a:spcPct val="120000"/>
              </a:lnSpc>
              <a:spcBef>
                <a:spcPts val="600"/>
              </a:spcBef>
              <a:buClr>
                <a:srgbClr val="003399"/>
              </a:buClr>
              <a:buFont typeface="Wingdings" panose="05000000000000000000" pitchFamily="2" charset="2"/>
              <a:buChar char="ü"/>
            </a:pPr>
            <a:r>
              <a:rPr lang="zh-CN" altLang="en-US" sz="2400" dirty="0">
                <a:solidFill>
                  <a:srgbClr val="003399"/>
                </a:solidFill>
                <a:ea typeface="宋体" panose="02010600030101010101" pitchFamily="2" charset="-122"/>
              </a:rPr>
              <a:t>以太网对</a:t>
            </a:r>
            <a:r>
              <a:rPr lang="zh-CN" altLang="en-US" sz="2400" b="1" dirty="0" smtClean="0">
                <a:solidFill>
                  <a:srgbClr val="003399"/>
                </a:solidFill>
                <a:ea typeface="宋体" panose="02010600030101010101" pitchFamily="2" charset="-122"/>
              </a:rPr>
              <a:t>目的地址</a:t>
            </a:r>
            <a:r>
              <a:rPr lang="zh-CN" altLang="en-US" sz="2400" dirty="0" smtClean="0">
                <a:solidFill>
                  <a:srgbClr val="003399"/>
                </a:solidFill>
                <a:ea typeface="宋体" panose="02010600030101010101" pitchFamily="2" charset="-122"/>
              </a:rPr>
              <a:t>的</a:t>
            </a:r>
            <a:r>
              <a:rPr lang="zh-CN" altLang="en-US" sz="2400" b="1" dirty="0" smtClean="0">
                <a:solidFill>
                  <a:srgbClr val="003399"/>
                </a:solidFill>
                <a:ea typeface="宋体" panose="02010600030101010101" pitchFamily="2" charset="-122"/>
              </a:rPr>
              <a:t>最高位</a:t>
            </a:r>
            <a:r>
              <a:rPr lang="zh-CN" altLang="en-US" sz="2400" b="1" dirty="0">
                <a:solidFill>
                  <a:srgbClr val="003399"/>
                </a:solidFill>
                <a:ea typeface="宋体" panose="02010600030101010101" pitchFamily="2" charset="-122"/>
              </a:rPr>
              <a:t>有定义，为“</a:t>
            </a:r>
            <a:r>
              <a:rPr lang="en-US" altLang="zh-CN" sz="2400" b="1" dirty="0">
                <a:solidFill>
                  <a:srgbClr val="003399"/>
                </a:solidFill>
                <a:ea typeface="宋体" panose="02010600030101010101" pitchFamily="2" charset="-122"/>
              </a:rPr>
              <a:t>0”</a:t>
            </a:r>
            <a:r>
              <a:rPr lang="zh-CN" altLang="en-US" sz="2400" b="1" dirty="0">
                <a:solidFill>
                  <a:srgbClr val="003399"/>
                </a:solidFill>
                <a:ea typeface="宋体" panose="02010600030101010101" pitchFamily="2" charset="-122"/>
              </a:rPr>
              <a:t>表示单播，为“</a:t>
            </a:r>
            <a:r>
              <a:rPr lang="en-US" altLang="zh-CN" sz="2400" b="1" dirty="0">
                <a:solidFill>
                  <a:srgbClr val="003399"/>
                </a:solidFill>
                <a:ea typeface="宋体" panose="02010600030101010101" pitchFamily="2" charset="-122"/>
              </a:rPr>
              <a:t>1”</a:t>
            </a:r>
            <a:r>
              <a:rPr lang="zh-CN" altLang="en-US" sz="2400" b="1" dirty="0">
                <a:solidFill>
                  <a:srgbClr val="003399"/>
                </a:solidFill>
                <a:ea typeface="宋体" panose="02010600030101010101" pitchFamily="2" charset="-122"/>
              </a:rPr>
              <a:t>表示多播或广播。若广播要求目的地址全“</a:t>
            </a:r>
            <a:r>
              <a:rPr lang="en-US" altLang="zh-CN" sz="2400" b="1" dirty="0">
                <a:solidFill>
                  <a:srgbClr val="003399"/>
                </a:solidFill>
                <a:ea typeface="宋体" panose="02010600030101010101" pitchFamily="2" charset="-122"/>
              </a:rPr>
              <a:t>1”</a:t>
            </a:r>
            <a:r>
              <a:rPr lang="zh-CN" altLang="en-US" sz="2400" b="1" dirty="0" smtClean="0">
                <a:solidFill>
                  <a:srgbClr val="003399"/>
                </a:solidFill>
                <a:ea typeface="宋体" panose="02010600030101010101" pitchFamily="2" charset="-122"/>
              </a:rPr>
              <a:t>。</a:t>
            </a:r>
            <a:endParaRPr lang="en-US" altLang="zh-CN" sz="2400" b="1" dirty="0" smtClean="0">
              <a:solidFill>
                <a:srgbClr val="003399"/>
              </a:solidFill>
              <a:ea typeface="宋体" panose="02010600030101010101" pitchFamily="2" charset="-122"/>
            </a:endParaRPr>
          </a:p>
          <a:p>
            <a:pPr marL="800100" lvl="1" indent="-342900" eaLnBrk="1" hangingPunct="1">
              <a:lnSpc>
                <a:spcPct val="120000"/>
              </a:lnSpc>
              <a:spcBef>
                <a:spcPts val="600"/>
              </a:spcBef>
              <a:buClr>
                <a:srgbClr val="003399"/>
              </a:buClr>
              <a:buFont typeface="Wingdings" panose="05000000000000000000" pitchFamily="2" charset="2"/>
              <a:buChar char="ü"/>
            </a:pPr>
            <a:r>
              <a:rPr lang="en-US" altLang="zh-CN" sz="2400" b="1" dirty="0" smtClean="0">
                <a:solidFill>
                  <a:srgbClr val="003399"/>
                </a:solidFill>
                <a:ea typeface="宋体" panose="02010600030101010101" pitchFamily="2" charset="-122"/>
              </a:rPr>
              <a:t>IEEE802.3</a:t>
            </a:r>
            <a:r>
              <a:rPr lang="zh-CN" altLang="en-US" sz="2400" b="1" dirty="0" smtClean="0">
                <a:solidFill>
                  <a:srgbClr val="003399"/>
                </a:solidFill>
                <a:ea typeface="宋体" panose="02010600030101010101" pitchFamily="2" charset="-122"/>
              </a:rPr>
              <a:t>对目标地址的最高位</a:t>
            </a:r>
            <a:r>
              <a:rPr lang="zh-CN" altLang="en-US" sz="2400" b="1" dirty="0">
                <a:solidFill>
                  <a:srgbClr val="003399"/>
                </a:solidFill>
                <a:ea typeface="宋体" panose="02010600030101010101" pitchFamily="2" charset="-122"/>
              </a:rPr>
              <a:t>和次高位都有定义，最高位与以太网相同。次高位为“</a:t>
            </a:r>
            <a:r>
              <a:rPr lang="en-US" altLang="zh-CN" sz="2400" b="1" dirty="0">
                <a:solidFill>
                  <a:srgbClr val="003399"/>
                </a:solidFill>
                <a:ea typeface="宋体" panose="02010600030101010101" pitchFamily="2" charset="-122"/>
              </a:rPr>
              <a:t>0”</a:t>
            </a:r>
            <a:r>
              <a:rPr lang="zh-CN" altLang="en-US" sz="2400" b="1" dirty="0">
                <a:solidFill>
                  <a:srgbClr val="003399"/>
                </a:solidFill>
                <a:ea typeface="宋体" panose="02010600030101010101" pitchFamily="2" charset="-122"/>
              </a:rPr>
              <a:t>表示全局管理地址，为“</a:t>
            </a:r>
            <a:r>
              <a:rPr lang="en-US" altLang="zh-CN" sz="2400" b="1" dirty="0">
                <a:solidFill>
                  <a:srgbClr val="003399"/>
                </a:solidFill>
                <a:ea typeface="宋体" panose="02010600030101010101" pitchFamily="2" charset="-122"/>
              </a:rPr>
              <a:t>1”</a:t>
            </a:r>
            <a:r>
              <a:rPr lang="zh-CN" altLang="en-US" sz="2400" b="1" dirty="0">
                <a:solidFill>
                  <a:srgbClr val="003399"/>
                </a:solidFill>
                <a:ea typeface="宋体" panose="02010600030101010101" pitchFamily="2" charset="-122"/>
              </a:rPr>
              <a:t>局部管理地址，一般情况下总为全局管理地址（由</a:t>
            </a:r>
            <a:r>
              <a:rPr lang="en-US" altLang="zh-CN" sz="2400" b="1" dirty="0">
                <a:solidFill>
                  <a:srgbClr val="003399"/>
                </a:solidFill>
                <a:ea typeface="宋体" panose="02010600030101010101" pitchFamily="2" charset="-122"/>
              </a:rPr>
              <a:t>IEEE802</a:t>
            </a:r>
            <a:r>
              <a:rPr lang="zh-CN" altLang="en-US" sz="2400" b="1" dirty="0">
                <a:solidFill>
                  <a:srgbClr val="003399"/>
                </a:solidFill>
                <a:ea typeface="宋体" panose="02010600030101010101" pitchFamily="2" charset="-122"/>
              </a:rPr>
              <a:t>分配）。</a:t>
            </a:r>
          </a:p>
          <a:p>
            <a:pPr marL="342900" indent="-342900">
              <a:lnSpc>
                <a:spcPct val="90000"/>
              </a:lnSpc>
            </a:pPr>
            <a:endParaRPr lang="en-US" altLang="zh-CN" sz="2400" dirty="0">
              <a:solidFill>
                <a:srgbClr val="FF3300"/>
              </a:solidFill>
              <a:latin typeface="Times New Roman" panose="02020603050405020304" pitchFamily="18" charset="0"/>
              <a:ea typeface="宋体" panose="02010600030101010101" pitchFamily="2" charset="-122"/>
            </a:endParaRPr>
          </a:p>
        </p:txBody>
      </p:sp>
      <p:sp>
        <p:nvSpPr>
          <p:cNvPr id="5" name="Rectangle 2"/>
          <p:cNvSpPr>
            <a:spLocks noGrp="1" noChangeArrowheads="1"/>
          </p:cNvSpPr>
          <p:nvPr>
            <p:ph type="title"/>
          </p:nvPr>
        </p:nvSpPr>
        <p:spPr>
          <a:xfrm>
            <a:off x="1754249" y="423862"/>
            <a:ext cx="7269163" cy="38417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mj-lt"/>
                <a:ea typeface="+mj-ea"/>
                <a:cs typeface="+mj-cs"/>
              </a:rPr>
              <a:t>　以太网的帧格式（</a:t>
            </a:r>
            <a:r>
              <a:rPr kumimoji="1" lang="en-US" altLang="zh-CN" b="0" i="0" u="none" strike="noStrike" kern="0" cap="none" spc="0" normalizeH="0" baseline="0" noProof="0" dirty="0" smtClean="0">
                <a:ln>
                  <a:noFill/>
                </a:ln>
                <a:effectLst/>
                <a:uLnTx/>
                <a:uFillTx/>
                <a:latin typeface="+mj-lt"/>
                <a:ea typeface="+mj-ea"/>
                <a:cs typeface="+mj-cs"/>
              </a:rPr>
              <a:t>2</a:t>
            </a:r>
            <a:r>
              <a:rPr kumimoji="1" lang="zh-CN" altLang="en-US" b="0" i="0" u="none" strike="noStrike" kern="0" cap="none" spc="0" normalizeH="0" baseline="0" noProof="0" dirty="0" smtClean="0">
                <a:ln>
                  <a:noFill/>
                </a:ln>
                <a:effectLst/>
                <a:uLnTx/>
                <a:uFillTx/>
                <a:latin typeface="+mj-lt"/>
                <a:ea typeface="+mj-ea"/>
                <a:cs typeface="+mj-cs"/>
              </a:rPr>
              <a:t>）</a:t>
            </a:r>
          </a:p>
        </p:txBody>
      </p:sp>
    </p:spTree>
  </p:cSld>
  <p:clrMapOvr>
    <a:masterClrMapping/>
  </p:clrMapOvr>
  <p:transition/>
  <p:timing>
    <p:tnLst>
      <p:par>
        <p:cTn id="1" dur="indefinite" restart="never" nodeType="tmRoot"/>
      </p:par>
    </p:tnLst>
    <p:bldLst>
      <p:bldP spid="52227" grpId="0" build="p" bldLvl="3"/>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1187624" y="188641"/>
            <a:ext cx="7704856" cy="719410"/>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黑体" panose="02010609060101010101" pitchFamily="49" charset="-122"/>
                <a:ea typeface="+mj-ea"/>
                <a:cs typeface="+mj-cs"/>
              </a:rPr>
              <a:t>快速以太网 </a:t>
            </a:r>
          </a:p>
        </p:txBody>
      </p:sp>
      <p:sp>
        <p:nvSpPr>
          <p:cNvPr id="107523" name="Rectangle 3"/>
          <p:cNvSpPr>
            <a:spLocks noGrp="1"/>
          </p:cNvSpPr>
          <p:nvPr>
            <p:ph idx="1"/>
          </p:nvPr>
        </p:nvSpPr>
        <p:spPr>
          <a:xfrm>
            <a:off x="755576" y="1340768"/>
            <a:ext cx="7772400" cy="3954463"/>
          </a:xfrm>
        </p:spPr>
        <p:txBody>
          <a:bodyPr vert="horz" wrap="square" lIns="91440" tIns="45720" rIns="91440" bIns="45720" anchor="t"/>
          <a:lstStyle/>
          <a:p>
            <a:pPr eaLnBrk="1" hangingPunct="1"/>
            <a:r>
              <a:rPr lang="zh-CN" altLang="en-US" sz="2800" dirty="0">
                <a:latin typeface="黑体" panose="02010609060101010101" pitchFamily="49" charset="-122"/>
                <a:ea typeface="黑体" panose="02010609060101010101" pitchFamily="49" charset="-122"/>
              </a:rPr>
              <a:t>产生</a:t>
            </a:r>
            <a:r>
              <a:rPr lang="zh-CN" altLang="en-US" sz="2800" dirty="0" smtClean="0">
                <a:latin typeface="黑体" panose="02010609060101010101" pitchFamily="49" charset="-122"/>
                <a:ea typeface="黑体" panose="02010609060101010101" pitchFamily="49" charset="-122"/>
              </a:rPr>
              <a:t>背景</a:t>
            </a:r>
            <a:endParaRPr lang="zh-CN" altLang="en-US" sz="2800" dirty="0">
              <a:latin typeface="黑体" panose="02010609060101010101" pitchFamily="49" charset="-122"/>
              <a:ea typeface="黑体" panose="02010609060101010101" pitchFamily="49" charset="-122"/>
            </a:endParaRPr>
          </a:p>
          <a:p>
            <a:pPr lvl="1" eaLnBrk="1" hangingPunct="1"/>
            <a:r>
              <a:rPr lang="en-US" altLang="zh-CN" sz="2400" dirty="0"/>
              <a:t>1995</a:t>
            </a:r>
            <a:r>
              <a:rPr lang="zh-CN" altLang="en-US" sz="2400" dirty="0"/>
              <a:t>年，</a:t>
            </a:r>
            <a:r>
              <a:rPr lang="en-US" altLang="zh-CN" sz="2400" dirty="0"/>
              <a:t>IEEE</a:t>
            </a:r>
            <a:r>
              <a:rPr lang="zh-CN" altLang="en-US" sz="2400" dirty="0"/>
              <a:t>通过</a:t>
            </a:r>
            <a:r>
              <a:rPr lang="en-US" altLang="zh-CN" sz="2400" dirty="0">
                <a:solidFill>
                  <a:srgbClr val="FF3300"/>
                </a:solidFill>
              </a:rPr>
              <a:t>802.3u</a:t>
            </a:r>
            <a:r>
              <a:rPr lang="zh-CN" altLang="en-US" sz="2400" dirty="0"/>
              <a:t>标准，实际上是</a:t>
            </a:r>
            <a:r>
              <a:rPr lang="en-US" altLang="zh-CN" sz="2400" dirty="0"/>
              <a:t>802.3</a:t>
            </a:r>
            <a:r>
              <a:rPr lang="zh-CN" altLang="en-US" sz="2400" dirty="0"/>
              <a:t>的一个补充。原有的帧格式、接口、规程不变，只是将</a:t>
            </a:r>
            <a:r>
              <a:rPr lang="zh-CN" altLang="en-US" sz="2400" dirty="0">
                <a:solidFill>
                  <a:srgbClr val="FF3300"/>
                </a:solidFill>
              </a:rPr>
              <a:t>比特时间从</a:t>
            </a:r>
            <a:r>
              <a:rPr lang="en-US" altLang="zh-CN" sz="2400" dirty="0">
                <a:solidFill>
                  <a:srgbClr val="FF3300"/>
                </a:solidFill>
              </a:rPr>
              <a:t>100ns</a:t>
            </a:r>
            <a:r>
              <a:rPr lang="zh-CN" altLang="en-US" sz="2400" dirty="0">
                <a:solidFill>
                  <a:srgbClr val="FF3300"/>
                </a:solidFill>
              </a:rPr>
              <a:t>缩短为</a:t>
            </a:r>
            <a:r>
              <a:rPr lang="en-US" altLang="zh-CN" sz="2400" dirty="0">
                <a:solidFill>
                  <a:srgbClr val="FF3300"/>
                </a:solidFill>
              </a:rPr>
              <a:t>10ns</a:t>
            </a:r>
            <a:r>
              <a:rPr lang="zh-CN" altLang="en-US" sz="2400" dirty="0"/>
              <a:t>。</a:t>
            </a:r>
          </a:p>
          <a:p>
            <a:pPr eaLnBrk="1" hangingPunct="1"/>
            <a:r>
              <a:rPr lang="zh-CN" altLang="en-US" sz="2800" dirty="0" smtClean="0">
                <a:latin typeface="黑体" panose="02010609060101010101" pitchFamily="49" charset="-122"/>
                <a:ea typeface="黑体" panose="02010609060101010101" pitchFamily="49" charset="-122"/>
              </a:rPr>
              <a:t>快速以太网标准</a:t>
            </a:r>
            <a:endParaRPr lang="zh-CN" altLang="en-US" sz="2800" dirty="0">
              <a:latin typeface="黑体" panose="02010609060101010101" pitchFamily="49" charset="-122"/>
              <a:ea typeface="黑体" panose="02010609060101010101" pitchFamily="49" charset="-122"/>
            </a:endParaRPr>
          </a:p>
          <a:p>
            <a:pPr lvl="1" eaLnBrk="1" hangingPunct="1"/>
            <a:r>
              <a:rPr lang="en-US" altLang="zh-CN" sz="2400" dirty="0"/>
              <a:t>100Base-TX</a:t>
            </a:r>
          </a:p>
          <a:p>
            <a:pPr lvl="1" eaLnBrk="1" hangingPunct="1"/>
            <a:r>
              <a:rPr lang="en-US" altLang="zh-CN" sz="2400" dirty="0">
                <a:sym typeface="宋体" panose="02010600030101010101" pitchFamily="2" charset="-122"/>
              </a:rPr>
              <a:t>100Base-FX</a:t>
            </a:r>
            <a:endParaRPr lang="en-US" altLang="zh-CN" sz="2400" dirty="0"/>
          </a:p>
          <a:p>
            <a:pPr lvl="1" eaLnBrk="1" hangingPunct="1"/>
            <a:r>
              <a:rPr lang="en-US" altLang="zh-CN" sz="2400" dirty="0">
                <a:sym typeface="宋体" panose="02010600030101010101" pitchFamily="2" charset="-122"/>
              </a:rPr>
              <a:t>100Base-T4</a:t>
            </a:r>
            <a:endParaRPr lang="en-US" altLang="zh-CN" sz="2400" dirty="0"/>
          </a:p>
          <a:p>
            <a:pPr lvl="1" eaLnBrk="1" hangingPunct="1"/>
            <a:endParaRPr lang="zh-CN" altLang="en-US" sz="2400" dirty="0"/>
          </a:p>
          <a:p>
            <a:pPr lvl="1" eaLnBrk="1" hangingPunct="1"/>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additive="base">
                                        <p:cTn id="7" dur="500" fill="hold"/>
                                        <p:tgtEl>
                                          <p:spTgt spid="1075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75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7523">
                                            <p:txEl>
                                              <p:pRg st="1" end="1"/>
                                            </p:txEl>
                                          </p:spTgt>
                                        </p:tgtEl>
                                        <p:attrNameLst>
                                          <p:attrName>style.visibility</p:attrName>
                                        </p:attrNameLst>
                                      </p:cBhvr>
                                      <p:to>
                                        <p:strVal val="visible"/>
                                      </p:to>
                                    </p:set>
                                    <p:anim calcmode="lin" valueType="num">
                                      <p:cBhvr additive="base">
                                        <p:cTn id="11" dur="500" fill="hold"/>
                                        <p:tgtEl>
                                          <p:spTgt spid="10752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75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07523">
                                            <p:txEl>
                                              <p:pRg st="2" end="2"/>
                                            </p:txEl>
                                          </p:spTgt>
                                        </p:tgtEl>
                                        <p:attrNameLst>
                                          <p:attrName>style.visibility</p:attrName>
                                        </p:attrNameLst>
                                      </p:cBhvr>
                                      <p:to>
                                        <p:strVal val="visible"/>
                                      </p:to>
                                    </p:set>
                                    <p:anim calcmode="lin" valueType="num">
                                      <p:cBhvr additive="base">
                                        <p:cTn id="17" dur="500" fill="hold"/>
                                        <p:tgtEl>
                                          <p:spTgt spid="10752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752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07523">
                                            <p:txEl>
                                              <p:pRg st="3" end="3"/>
                                            </p:txEl>
                                          </p:spTgt>
                                        </p:tgtEl>
                                        <p:attrNameLst>
                                          <p:attrName>style.visibility</p:attrName>
                                        </p:attrNameLst>
                                      </p:cBhvr>
                                      <p:to>
                                        <p:strVal val="visible"/>
                                      </p:to>
                                    </p:set>
                                    <p:anim calcmode="lin" valueType="num">
                                      <p:cBhvr additive="base">
                                        <p:cTn id="21" dur="500" fill="hold"/>
                                        <p:tgtEl>
                                          <p:spTgt spid="10752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0752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07523">
                                            <p:txEl>
                                              <p:pRg st="4" end="4"/>
                                            </p:txEl>
                                          </p:spTgt>
                                        </p:tgtEl>
                                        <p:attrNameLst>
                                          <p:attrName>style.visibility</p:attrName>
                                        </p:attrNameLst>
                                      </p:cBhvr>
                                      <p:to>
                                        <p:strVal val="visible"/>
                                      </p:to>
                                    </p:set>
                                    <p:anim calcmode="lin" valueType="num">
                                      <p:cBhvr additive="base">
                                        <p:cTn id="25" dur="500" fill="hold"/>
                                        <p:tgtEl>
                                          <p:spTgt spid="10752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752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07523">
                                            <p:txEl>
                                              <p:pRg st="5" end="5"/>
                                            </p:txEl>
                                          </p:spTgt>
                                        </p:tgtEl>
                                        <p:attrNameLst>
                                          <p:attrName>style.visibility</p:attrName>
                                        </p:attrNameLst>
                                      </p:cBhvr>
                                      <p:to>
                                        <p:strVal val="visible"/>
                                      </p:to>
                                    </p:set>
                                    <p:anim calcmode="lin" valueType="num">
                                      <p:cBhvr additive="base">
                                        <p:cTn id="29" dur="500" fill="hold"/>
                                        <p:tgtEl>
                                          <p:spTgt spid="107523">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0752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p:cNvSpPr>
          <p:nvPr>
            <p:ph idx="1"/>
          </p:nvPr>
        </p:nvSpPr>
        <p:spPr>
          <a:xfrm>
            <a:off x="914400" y="2022475"/>
            <a:ext cx="5334000" cy="3090863"/>
          </a:xfrm>
          <a:solidFill>
            <a:schemeClr val="bg1"/>
          </a:solidFill>
        </p:spPr>
        <p:txBody>
          <a:bodyPr vert="horz" wrap="square" lIns="91440" tIns="45720" rIns="91440" bIns="45720" anchor="t"/>
          <a:lstStyle/>
          <a:p>
            <a:pPr marL="609600" indent="-609600" eaLnBrk="1" hangingPunct="1">
              <a:lnSpc>
                <a:spcPct val="90000"/>
              </a:lnSpc>
              <a:buNone/>
            </a:pPr>
            <a:endParaRPr lang="en-US" altLang="zh-CN" sz="2800" dirty="0"/>
          </a:p>
          <a:p>
            <a:pPr marL="609600" indent="-609600" eaLnBrk="1" hangingPunct="1">
              <a:lnSpc>
                <a:spcPct val="90000"/>
              </a:lnSpc>
              <a:buNone/>
            </a:pPr>
            <a:endParaRPr lang="en-US" altLang="zh-CN" sz="2800" dirty="0"/>
          </a:p>
          <a:p>
            <a:pPr marL="609600" indent="-609600" eaLnBrk="1" hangingPunct="1">
              <a:lnSpc>
                <a:spcPct val="90000"/>
              </a:lnSpc>
              <a:buNone/>
            </a:pPr>
            <a:endParaRPr lang="en-US" altLang="zh-CN" sz="2800" dirty="0"/>
          </a:p>
          <a:p>
            <a:pPr marL="609600" indent="-609600" eaLnBrk="1" hangingPunct="1">
              <a:lnSpc>
                <a:spcPct val="90000"/>
              </a:lnSpc>
              <a:buNone/>
            </a:pPr>
            <a:endParaRPr lang="en-US" altLang="zh-CN" sz="2800" dirty="0"/>
          </a:p>
          <a:p>
            <a:pPr marL="609600" indent="-609600" eaLnBrk="1" hangingPunct="1">
              <a:lnSpc>
                <a:spcPct val="90000"/>
              </a:lnSpc>
              <a:buNone/>
            </a:pPr>
            <a:r>
              <a:rPr lang="en-US" altLang="zh-CN" sz="2400" dirty="0"/>
              <a:t>  </a:t>
            </a:r>
          </a:p>
          <a:p>
            <a:pPr marL="609600" indent="-609600" eaLnBrk="1" hangingPunct="1">
              <a:lnSpc>
                <a:spcPct val="90000"/>
              </a:lnSpc>
              <a:buNone/>
            </a:pPr>
            <a:r>
              <a:rPr lang="en-US" altLang="zh-CN" sz="2400" dirty="0"/>
              <a:t>    </a:t>
            </a:r>
          </a:p>
          <a:p>
            <a:pPr marL="609600" indent="-609600" eaLnBrk="1" hangingPunct="1">
              <a:lnSpc>
                <a:spcPct val="90000"/>
              </a:lnSpc>
              <a:buNone/>
            </a:pPr>
            <a:r>
              <a:rPr lang="en-US" altLang="zh-CN" sz="2400" dirty="0"/>
              <a:t>   </a:t>
            </a:r>
            <a:endParaRPr lang="en-US" altLang="zh-CN" dirty="0"/>
          </a:p>
        </p:txBody>
      </p:sp>
      <p:sp>
        <p:nvSpPr>
          <p:cNvPr id="109632" name="Rectangle 64"/>
          <p:cNvSpPr>
            <a:spLocks noGrp="1" noChangeArrowheads="1"/>
          </p:cNvSpPr>
          <p:nvPr>
            <p:ph type="title"/>
          </p:nvPr>
        </p:nvSpPr>
        <p:spPr>
          <a:xfrm>
            <a:off x="1371600" y="244010"/>
            <a:ext cx="7592888" cy="874713"/>
          </a:xfrm>
        </p:spPr>
        <p:txBody>
          <a:bodyPr vert="horz" wrap="square" lIns="92075" tIns="46038" rIns="92075" bIns="46038" numCol="1" anchor="ctr" anchorCtr="0" compatLnSpc="1"/>
          <a:lstStyle/>
          <a:p>
            <a:pPr lvl="0" eaLnBrk="1" hangingPunct="1">
              <a:defRPr/>
            </a:pPr>
            <a:r>
              <a:rPr lang="zh-CN" altLang="zh-CN" kern="0" dirty="0">
                <a:latin typeface="+mj-ea"/>
              </a:rPr>
              <a:t>传统以太网与快速</a:t>
            </a:r>
            <a:r>
              <a:rPr lang="zh-CN" altLang="zh-CN" kern="0" dirty="0" smtClean="0">
                <a:latin typeface="+mj-ea"/>
              </a:rPr>
              <a:t>以太网</a:t>
            </a:r>
            <a:r>
              <a:rPr lang="zh-CN" altLang="en-US" kern="0" dirty="0" smtClean="0">
                <a:latin typeface="+mj-ea"/>
              </a:rPr>
              <a:t>技术</a:t>
            </a:r>
            <a:r>
              <a:rPr lang="zh-CN" altLang="zh-CN" kern="0" dirty="0" smtClean="0">
                <a:latin typeface="+mj-ea"/>
              </a:rPr>
              <a:t>比较</a:t>
            </a:r>
            <a:endParaRPr kumimoji="1" lang="zh-CN" altLang="en-US" b="0" i="0" u="none" strike="noStrike" kern="0" cap="none" spc="0" normalizeH="0" baseline="0" noProof="0" dirty="0" smtClean="0">
              <a:ln>
                <a:noFill/>
              </a:ln>
              <a:solidFill>
                <a:srgbClr val="FF9900"/>
              </a:solidFill>
              <a:effectLst/>
              <a:uLnTx/>
              <a:uFillTx/>
            </a:endParaRPr>
          </a:p>
        </p:txBody>
      </p:sp>
      <p:graphicFrame>
        <p:nvGraphicFramePr>
          <p:cNvPr id="2" name="表格 1"/>
          <p:cNvGraphicFramePr>
            <a:graphicFrameLocks noGrp="1"/>
          </p:cNvGraphicFramePr>
          <p:nvPr/>
        </p:nvGraphicFramePr>
        <p:xfrm>
          <a:off x="395536" y="1412776"/>
          <a:ext cx="8424936" cy="4680518"/>
        </p:xfrm>
        <a:graphic>
          <a:graphicData uri="http://schemas.openxmlformats.org/drawingml/2006/table">
            <a:tbl>
              <a:tblPr firstRow="1" firstCol="1" bandRow="1">
                <a:tableStyleId>{5C22544A-7EE6-4342-B048-85BDC9FD1C3A}</a:tableStyleId>
              </a:tblPr>
              <a:tblGrid>
                <a:gridCol w="3095784">
                  <a:extLst>
                    <a:ext uri="{9D8B030D-6E8A-4147-A177-3AD203B41FA5}">
                      <a16:colId xmlns:a16="http://schemas.microsoft.com/office/drawing/2014/main" val="20000"/>
                    </a:ext>
                  </a:extLst>
                </a:gridCol>
                <a:gridCol w="2969397">
                  <a:extLst>
                    <a:ext uri="{9D8B030D-6E8A-4147-A177-3AD203B41FA5}">
                      <a16:colId xmlns:a16="http://schemas.microsoft.com/office/drawing/2014/main" val="20001"/>
                    </a:ext>
                  </a:extLst>
                </a:gridCol>
                <a:gridCol w="2359755">
                  <a:extLst>
                    <a:ext uri="{9D8B030D-6E8A-4147-A177-3AD203B41FA5}">
                      <a16:colId xmlns:a16="http://schemas.microsoft.com/office/drawing/2014/main" val="20002"/>
                    </a:ext>
                  </a:extLst>
                </a:gridCol>
              </a:tblGrid>
              <a:tr h="608153">
                <a:tc>
                  <a:txBody>
                    <a:bodyPr/>
                    <a:lstStyle/>
                    <a:p>
                      <a:pPr algn="ctr">
                        <a:spcAft>
                          <a:spcPts val="0"/>
                        </a:spcAft>
                      </a:pPr>
                      <a:r>
                        <a:rPr lang="zh-CN" sz="2400" kern="100" dirty="0">
                          <a:solidFill>
                            <a:srgbClr val="FF0000"/>
                          </a:solidFill>
                          <a:effectLst/>
                          <a:latin typeface="+mj-ea"/>
                          <a:ea typeface="+mj-ea"/>
                        </a:rPr>
                        <a:t>项目</a:t>
                      </a:r>
                    </a:p>
                  </a:txBody>
                  <a:tcPr marL="68580" marR="68580" marT="0" marB="0" anchor="ctr"/>
                </a:tc>
                <a:tc>
                  <a:txBody>
                    <a:bodyPr/>
                    <a:lstStyle/>
                    <a:p>
                      <a:pPr algn="ctr">
                        <a:spcAft>
                          <a:spcPts val="0"/>
                        </a:spcAft>
                      </a:pPr>
                      <a:r>
                        <a:rPr lang="zh-CN" sz="2400" kern="100" dirty="0">
                          <a:solidFill>
                            <a:srgbClr val="FF0000"/>
                          </a:solidFill>
                          <a:effectLst/>
                          <a:latin typeface="+mj-ea"/>
                          <a:ea typeface="+mj-ea"/>
                        </a:rPr>
                        <a:t>传统以太网</a:t>
                      </a:r>
                    </a:p>
                  </a:txBody>
                  <a:tcPr marL="68580" marR="68580" marT="0" marB="0" anchor="ctr"/>
                </a:tc>
                <a:tc>
                  <a:txBody>
                    <a:bodyPr/>
                    <a:lstStyle/>
                    <a:p>
                      <a:pPr algn="ctr">
                        <a:spcAft>
                          <a:spcPts val="0"/>
                        </a:spcAft>
                      </a:pPr>
                      <a:r>
                        <a:rPr lang="zh-CN" sz="2400" kern="100" dirty="0">
                          <a:solidFill>
                            <a:srgbClr val="FF0000"/>
                          </a:solidFill>
                          <a:effectLst/>
                          <a:latin typeface="+mj-ea"/>
                          <a:ea typeface="+mj-ea"/>
                        </a:rPr>
                        <a:t>快速以太网</a:t>
                      </a:r>
                    </a:p>
                  </a:txBody>
                  <a:tcPr marL="68580" marR="68580" marT="0" marB="0" anchor="ctr"/>
                </a:tc>
                <a:extLst>
                  <a:ext uri="{0D108BD9-81ED-4DB2-BD59-A6C34878D82A}">
                    <a16:rowId xmlns:a16="http://schemas.microsoft.com/office/drawing/2014/main" val="10000"/>
                  </a:ext>
                </a:extLst>
              </a:tr>
              <a:tr h="521273">
                <a:tc>
                  <a:txBody>
                    <a:bodyPr/>
                    <a:lstStyle/>
                    <a:p>
                      <a:pPr algn="ctr">
                        <a:spcAft>
                          <a:spcPts val="0"/>
                        </a:spcAft>
                      </a:pPr>
                      <a:r>
                        <a:rPr lang="zh-CN" sz="2400" kern="100" dirty="0">
                          <a:solidFill>
                            <a:srgbClr val="0070C0"/>
                          </a:solidFill>
                          <a:effectLst/>
                          <a:latin typeface="+mj-ea"/>
                          <a:ea typeface="+mj-ea"/>
                        </a:rPr>
                        <a:t>速率</a:t>
                      </a:r>
                    </a:p>
                  </a:txBody>
                  <a:tcPr marL="68580" marR="68580" marT="0" marB="0" anchor="ctr"/>
                </a:tc>
                <a:tc>
                  <a:txBody>
                    <a:bodyPr/>
                    <a:lstStyle/>
                    <a:p>
                      <a:pPr algn="ctr">
                        <a:spcAft>
                          <a:spcPts val="0"/>
                        </a:spcAft>
                      </a:pPr>
                      <a:r>
                        <a:rPr lang="en-US" sz="2400" kern="100" dirty="0">
                          <a:effectLst/>
                          <a:latin typeface="+mj-ea"/>
                          <a:ea typeface="+mj-ea"/>
                        </a:rPr>
                        <a:t>10Mbps</a:t>
                      </a:r>
                      <a:endParaRPr lang="zh-CN" sz="2400" kern="100" dirty="0">
                        <a:effectLst/>
                        <a:latin typeface="+mj-ea"/>
                        <a:ea typeface="+mj-ea"/>
                      </a:endParaRPr>
                    </a:p>
                  </a:txBody>
                  <a:tcPr marL="68580" marR="68580" marT="0" marB="0" anchor="ctr"/>
                </a:tc>
                <a:tc>
                  <a:txBody>
                    <a:bodyPr/>
                    <a:lstStyle/>
                    <a:p>
                      <a:pPr algn="ctr">
                        <a:spcAft>
                          <a:spcPts val="0"/>
                        </a:spcAft>
                      </a:pPr>
                      <a:r>
                        <a:rPr lang="en-US" sz="2400" kern="100">
                          <a:effectLst/>
                          <a:latin typeface="+mj-ea"/>
                          <a:ea typeface="+mj-ea"/>
                        </a:rPr>
                        <a:t>100Mbps</a:t>
                      </a:r>
                      <a:endParaRPr lang="zh-CN" sz="2400" kern="100">
                        <a:effectLst/>
                        <a:latin typeface="+mj-ea"/>
                        <a:ea typeface="+mj-ea"/>
                      </a:endParaRPr>
                    </a:p>
                  </a:txBody>
                  <a:tcPr marL="68580" marR="68580" marT="0" marB="0" anchor="ctr"/>
                </a:tc>
                <a:extLst>
                  <a:ext uri="{0D108BD9-81ED-4DB2-BD59-A6C34878D82A}">
                    <a16:rowId xmlns:a16="http://schemas.microsoft.com/office/drawing/2014/main" val="10001"/>
                  </a:ext>
                </a:extLst>
              </a:tr>
              <a:tr h="521273">
                <a:tc>
                  <a:txBody>
                    <a:bodyPr/>
                    <a:lstStyle/>
                    <a:p>
                      <a:pPr algn="ctr">
                        <a:spcAft>
                          <a:spcPts val="0"/>
                        </a:spcAft>
                      </a:pPr>
                      <a:r>
                        <a:rPr lang="en-US" sz="2400" kern="100" dirty="0">
                          <a:solidFill>
                            <a:srgbClr val="0070C0"/>
                          </a:solidFill>
                          <a:effectLst/>
                          <a:latin typeface="+mj-ea"/>
                          <a:ea typeface="+mj-ea"/>
                        </a:rPr>
                        <a:t>IEEE</a:t>
                      </a:r>
                      <a:r>
                        <a:rPr lang="zh-CN" sz="2400" kern="100" dirty="0">
                          <a:solidFill>
                            <a:srgbClr val="0070C0"/>
                          </a:solidFill>
                          <a:effectLst/>
                          <a:latin typeface="+mj-ea"/>
                          <a:ea typeface="+mj-ea"/>
                        </a:rPr>
                        <a:t>标准</a:t>
                      </a:r>
                    </a:p>
                  </a:txBody>
                  <a:tcPr marL="68580" marR="68580" marT="0" marB="0" anchor="ctr"/>
                </a:tc>
                <a:tc>
                  <a:txBody>
                    <a:bodyPr/>
                    <a:lstStyle/>
                    <a:p>
                      <a:pPr algn="ctr">
                        <a:spcAft>
                          <a:spcPts val="0"/>
                        </a:spcAft>
                      </a:pPr>
                      <a:r>
                        <a:rPr lang="en-US" sz="2400" kern="100" dirty="0">
                          <a:effectLst/>
                          <a:latin typeface="+mj-ea"/>
                          <a:ea typeface="+mj-ea"/>
                        </a:rPr>
                        <a:t>802.3</a:t>
                      </a:r>
                      <a:endParaRPr lang="zh-CN" sz="2400" kern="100" dirty="0">
                        <a:effectLst/>
                        <a:latin typeface="+mj-ea"/>
                        <a:ea typeface="+mj-ea"/>
                      </a:endParaRPr>
                    </a:p>
                  </a:txBody>
                  <a:tcPr marL="68580" marR="68580" marT="0" marB="0" anchor="ctr"/>
                </a:tc>
                <a:tc>
                  <a:txBody>
                    <a:bodyPr/>
                    <a:lstStyle/>
                    <a:p>
                      <a:pPr algn="ctr">
                        <a:spcAft>
                          <a:spcPts val="0"/>
                        </a:spcAft>
                      </a:pPr>
                      <a:r>
                        <a:rPr lang="en-US" sz="2400" kern="100">
                          <a:effectLst/>
                          <a:latin typeface="+mj-ea"/>
                          <a:ea typeface="+mj-ea"/>
                        </a:rPr>
                        <a:t>802.3u</a:t>
                      </a:r>
                      <a:endParaRPr lang="zh-CN" sz="2400" kern="100">
                        <a:effectLst/>
                        <a:latin typeface="+mj-ea"/>
                        <a:ea typeface="+mj-ea"/>
                      </a:endParaRPr>
                    </a:p>
                  </a:txBody>
                  <a:tcPr marL="68580" marR="68580" marT="0" marB="0" anchor="ctr"/>
                </a:tc>
                <a:extLst>
                  <a:ext uri="{0D108BD9-81ED-4DB2-BD59-A6C34878D82A}">
                    <a16:rowId xmlns:a16="http://schemas.microsoft.com/office/drawing/2014/main" val="10002"/>
                  </a:ext>
                </a:extLst>
              </a:tr>
              <a:tr h="521273">
                <a:tc>
                  <a:txBody>
                    <a:bodyPr/>
                    <a:lstStyle/>
                    <a:p>
                      <a:pPr algn="ctr">
                        <a:spcAft>
                          <a:spcPts val="0"/>
                        </a:spcAft>
                      </a:pPr>
                      <a:r>
                        <a:rPr lang="zh-CN" sz="2400" kern="100" dirty="0">
                          <a:solidFill>
                            <a:srgbClr val="0070C0"/>
                          </a:solidFill>
                          <a:effectLst/>
                          <a:latin typeface="+mj-ea"/>
                          <a:ea typeface="+mj-ea"/>
                        </a:rPr>
                        <a:t>介质访问协议</a:t>
                      </a:r>
                    </a:p>
                  </a:txBody>
                  <a:tcPr marL="68580" marR="68580" marT="0" marB="0" anchor="ctr"/>
                </a:tc>
                <a:tc>
                  <a:txBody>
                    <a:bodyPr/>
                    <a:lstStyle/>
                    <a:p>
                      <a:pPr algn="ctr">
                        <a:spcAft>
                          <a:spcPts val="0"/>
                        </a:spcAft>
                      </a:pPr>
                      <a:r>
                        <a:rPr lang="en-US" sz="2400" kern="100" dirty="0">
                          <a:effectLst/>
                          <a:latin typeface="+mj-ea"/>
                          <a:ea typeface="+mj-ea"/>
                        </a:rPr>
                        <a:t>CSMA/CD</a:t>
                      </a:r>
                      <a:endParaRPr lang="zh-CN" sz="2400" kern="100" dirty="0">
                        <a:effectLst/>
                        <a:latin typeface="+mj-ea"/>
                        <a:ea typeface="+mj-ea"/>
                      </a:endParaRPr>
                    </a:p>
                  </a:txBody>
                  <a:tcPr marL="68580" marR="68580" marT="0" marB="0" anchor="ctr"/>
                </a:tc>
                <a:tc>
                  <a:txBody>
                    <a:bodyPr/>
                    <a:lstStyle/>
                    <a:p>
                      <a:pPr algn="ctr">
                        <a:spcAft>
                          <a:spcPts val="0"/>
                        </a:spcAft>
                      </a:pPr>
                      <a:r>
                        <a:rPr lang="en-US" sz="2400" kern="100">
                          <a:effectLst/>
                          <a:latin typeface="+mj-ea"/>
                          <a:ea typeface="+mj-ea"/>
                        </a:rPr>
                        <a:t>CSMA/CD</a:t>
                      </a:r>
                      <a:endParaRPr lang="zh-CN" sz="2400" kern="100">
                        <a:effectLst/>
                        <a:latin typeface="+mj-ea"/>
                        <a:ea typeface="+mj-ea"/>
                      </a:endParaRPr>
                    </a:p>
                  </a:txBody>
                  <a:tcPr marL="68580" marR="68580" marT="0" marB="0" anchor="ctr"/>
                </a:tc>
                <a:extLst>
                  <a:ext uri="{0D108BD9-81ED-4DB2-BD59-A6C34878D82A}">
                    <a16:rowId xmlns:a16="http://schemas.microsoft.com/office/drawing/2014/main" val="10003"/>
                  </a:ext>
                </a:extLst>
              </a:tr>
              <a:tr h="521273">
                <a:tc>
                  <a:txBody>
                    <a:bodyPr/>
                    <a:lstStyle/>
                    <a:p>
                      <a:pPr algn="ctr">
                        <a:spcAft>
                          <a:spcPts val="0"/>
                        </a:spcAft>
                      </a:pPr>
                      <a:r>
                        <a:rPr lang="zh-CN" sz="2400" kern="100" dirty="0">
                          <a:solidFill>
                            <a:srgbClr val="0070C0"/>
                          </a:solidFill>
                          <a:effectLst/>
                          <a:latin typeface="+mj-ea"/>
                          <a:ea typeface="+mj-ea"/>
                        </a:rPr>
                        <a:t>拓扑结构</a:t>
                      </a:r>
                    </a:p>
                  </a:txBody>
                  <a:tcPr marL="68580" marR="68580" marT="0" marB="0" anchor="ctr"/>
                </a:tc>
                <a:tc>
                  <a:txBody>
                    <a:bodyPr/>
                    <a:lstStyle/>
                    <a:p>
                      <a:pPr algn="ctr">
                        <a:spcAft>
                          <a:spcPts val="0"/>
                        </a:spcAft>
                      </a:pPr>
                      <a:r>
                        <a:rPr lang="zh-CN" sz="2400" kern="100" dirty="0">
                          <a:effectLst/>
                          <a:latin typeface="+mj-ea"/>
                          <a:ea typeface="+mj-ea"/>
                        </a:rPr>
                        <a:t>总线型或星型</a:t>
                      </a:r>
                    </a:p>
                  </a:txBody>
                  <a:tcPr marL="68580" marR="68580" marT="0" marB="0" anchor="ctr"/>
                </a:tc>
                <a:tc>
                  <a:txBody>
                    <a:bodyPr/>
                    <a:lstStyle/>
                    <a:p>
                      <a:pPr algn="ctr">
                        <a:spcAft>
                          <a:spcPts val="0"/>
                        </a:spcAft>
                      </a:pPr>
                      <a:r>
                        <a:rPr lang="zh-CN" sz="2400" kern="100" dirty="0">
                          <a:effectLst/>
                          <a:latin typeface="+mj-ea"/>
                          <a:ea typeface="+mj-ea"/>
                        </a:rPr>
                        <a:t>星型</a:t>
                      </a:r>
                    </a:p>
                  </a:txBody>
                  <a:tcPr marL="68580" marR="68580" marT="0" marB="0" anchor="ctr"/>
                </a:tc>
                <a:extLst>
                  <a:ext uri="{0D108BD9-81ED-4DB2-BD59-A6C34878D82A}">
                    <a16:rowId xmlns:a16="http://schemas.microsoft.com/office/drawing/2014/main" val="10004"/>
                  </a:ext>
                </a:extLst>
              </a:tr>
              <a:tr h="733000">
                <a:tc>
                  <a:txBody>
                    <a:bodyPr/>
                    <a:lstStyle/>
                    <a:p>
                      <a:pPr algn="ctr">
                        <a:spcAft>
                          <a:spcPts val="0"/>
                        </a:spcAft>
                      </a:pPr>
                      <a:r>
                        <a:rPr lang="zh-CN" sz="2400" kern="100" dirty="0">
                          <a:solidFill>
                            <a:srgbClr val="0070C0"/>
                          </a:solidFill>
                          <a:effectLst/>
                          <a:latin typeface="+mj-ea"/>
                          <a:ea typeface="+mj-ea"/>
                        </a:rPr>
                        <a:t>传输介质</a:t>
                      </a:r>
                    </a:p>
                  </a:txBody>
                  <a:tcPr marL="68580" marR="68580" marT="0" marB="0" anchor="ctr"/>
                </a:tc>
                <a:tc>
                  <a:txBody>
                    <a:bodyPr/>
                    <a:lstStyle/>
                    <a:p>
                      <a:pPr algn="ctr">
                        <a:spcAft>
                          <a:spcPts val="0"/>
                        </a:spcAft>
                      </a:pPr>
                      <a:r>
                        <a:rPr lang="zh-CN" sz="2400" kern="100">
                          <a:effectLst/>
                          <a:latin typeface="+mj-ea"/>
                          <a:ea typeface="+mj-ea"/>
                        </a:rPr>
                        <a:t>同轴电缆、光纤、</a:t>
                      </a:r>
                      <a:r>
                        <a:rPr lang="en-US" sz="2400" kern="100">
                          <a:effectLst/>
                          <a:latin typeface="+mj-ea"/>
                          <a:ea typeface="+mj-ea"/>
                        </a:rPr>
                        <a:t>UTP</a:t>
                      </a:r>
                      <a:endParaRPr lang="zh-CN" sz="2400" kern="100">
                        <a:effectLst/>
                        <a:latin typeface="+mj-ea"/>
                        <a:ea typeface="+mj-ea"/>
                      </a:endParaRPr>
                    </a:p>
                  </a:txBody>
                  <a:tcPr marL="68580" marR="68580" marT="0" marB="0" anchor="ctr"/>
                </a:tc>
                <a:tc>
                  <a:txBody>
                    <a:bodyPr/>
                    <a:lstStyle/>
                    <a:p>
                      <a:pPr algn="ctr">
                        <a:spcAft>
                          <a:spcPts val="0"/>
                        </a:spcAft>
                      </a:pPr>
                      <a:r>
                        <a:rPr lang="en-US" sz="2400" kern="100" dirty="0">
                          <a:effectLst/>
                          <a:latin typeface="+mj-ea"/>
                          <a:ea typeface="+mj-ea"/>
                        </a:rPr>
                        <a:t>UTP</a:t>
                      </a:r>
                      <a:r>
                        <a:rPr lang="zh-CN" sz="2400" kern="100" dirty="0">
                          <a:effectLst/>
                          <a:latin typeface="+mj-ea"/>
                          <a:ea typeface="+mj-ea"/>
                        </a:rPr>
                        <a:t>、</a:t>
                      </a:r>
                      <a:r>
                        <a:rPr lang="en-US" sz="2400" kern="100" dirty="0">
                          <a:effectLst/>
                          <a:latin typeface="+mj-ea"/>
                          <a:ea typeface="+mj-ea"/>
                        </a:rPr>
                        <a:t>STP</a:t>
                      </a:r>
                      <a:r>
                        <a:rPr lang="zh-CN" sz="2400" kern="100" dirty="0">
                          <a:effectLst/>
                          <a:latin typeface="+mj-ea"/>
                          <a:ea typeface="+mj-ea"/>
                        </a:rPr>
                        <a:t>、光纤</a:t>
                      </a:r>
                    </a:p>
                  </a:txBody>
                  <a:tcPr marL="68580" marR="68580" marT="0" marB="0" anchor="ctr"/>
                </a:tc>
                <a:extLst>
                  <a:ext uri="{0D108BD9-81ED-4DB2-BD59-A6C34878D82A}">
                    <a16:rowId xmlns:a16="http://schemas.microsoft.com/office/drawing/2014/main" val="10005"/>
                  </a:ext>
                </a:extLst>
              </a:tr>
              <a:tr h="733000">
                <a:tc>
                  <a:txBody>
                    <a:bodyPr/>
                    <a:lstStyle/>
                    <a:p>
                      <a:pPr algn="ctr">
                        <a:spcAft>
                          <a:spcPts val="0"/>
                        </a:spcAft>
                      </a:pPr>
                      <a:r>
                        <a:rPr lang="en-US" sz="2400" kern="100" dirty="0">
                          <a:solidFill>
                            <a:srgbClr val="0070C0"/>
                          </a:solidFill>
                          <a:effectLst/>
                          <a:latin typeface="+mj-ea"/>
                          <a:ea typeface="+mj-ea"/>
                        </a:rPr>
                        <a:t>HUB</a:t>
                      </a:r>
                      <a:r>
                        <a:rPr lang="zh-CN" sz="2400" kern="100" dirty="0">
                          <a:solidFill>
                            <a:srgbClr val="0070C0"/>
                          </a:solidFill>
                          <a:effectLst/>
                          <a:latin typeface="+mj-ea"/>
                          <a:ea typeface="+mj-ea"/>
                        </a:rPr>
                        <a:t>到工作站最大距离</a:t>
                      </a:r>
                    </a:p>
                  </a:txBody>
                  <a:tcPr marL="68580" marR="68580" marT="0" marB="0" anchor="ctr"/>
                </a:tc>
                <a:tc>
                  <a:txBody>
                    <a:bodyPr/>
                    <a:lstStyle/>
                    <a:p>
                      <a:pPr algn="ctr">
                        <a:spcAft>
                          <a:spcPts val="0"/>
                        </a:spcAft>
                      </a:pPr>
                      <a:r>
                        <a:rPr lang="en-US" sz="2400" kern="100" dirty="0">
                          <a:effectLst/>
                          <a:latin typeface="+mj-ea"/>
                          <a:ea typeface="+mj-ea"/>
                        </a:rPr>
                        <a:t>100</a:t>
                      </a:r>
                      <a:r>
                        <a:rPr lang="zh-CN" sz="2400" kern="100" dirty="0">
                          <a:effectLst/>
                          <a:latin typeface="+mj-ea"/>
                          <a:ea typeface="+mj-ea"/>
                        </a:rPr>
                        <a:t>米</a:t>
                      </a:r>
                    </a:p>
                  </a:txBody>
                  <a:tcPr marL="68580" marR="68580" marT="0" marB="0" anchor="ctr"/>
                </a:tc>
                <a:tc>
                  <a:txBody>
                    <a:bodyPr/>
                    <a:lstStyle/>
                    <a:p>
                      <a:pPr algn="ctr">
                        <a:spcAft>
                          <a:spcPts val="0"/>
                        </a:spcAft>
                      </a:pPr>
                      <a:r>
                        <a:rPr lang="en-US" sz="2400" kern="100" dirty="0">
                          <a:effectLst/>
                          <a:latin typeface="+mj-ea"/>
                          <a:ea typeface="+mj-ea"/>
                        </a:rPr>
                        <a:t>100</a:t>
                      </a:r>
                      <a:r>
                        <a:rPr lang="zh-CN" sz="2400" kern="100" dirty="0">
                          <a:effectLst/>
                          <a:latin typeface="+mj-ea"/>
                          <a:ea typeface="+mj-ea"/>
                        </a:rPr>
                        <a:t>米</a:t>
                      </a:r>
                    </a:p>
                  </a:txBody>
                  <a:tcPr marL="68580" marR="68580" marT="0" marB="0" anchor="ctr"/>
                </a:tc>
                <a:extLst>
                  <a:ext uri="{0D108BD9-81ED-4DB2-BD59-A6C34878D82A}">
                    <a16:rowId xmlns:a16="http://schemas.microsoft.com/office/drawing/2014/main" val="10006"/>
                  </a:ext>
                </a:extLst>
              </a:tr>
              <a:tr h="521273">
                <a:tc>
                  <a:txBody>
                    <a:bodyPr/>
                    <a:lstStyle/>
                    <a:p>
                      <a:pPr algn="ctr">
                        <a:spcAft>
                          <a:spcPts val="0"/>
                        </a:spcAft>
                      </a:pPr>
                      <a:r>
                        <a:rPr lang="zh-CN" sz="2400" kern="100" dirty="0">
                          <a:solidFill>
                            <a:srgbClr val="0070C0"/>
                          </a:solidFill>
                          <a:effectLst/>
                          <a:latin typeface="+mj-ea"/>
                          <a:ea typeface="+mj-ea"/>
                        </a:rPr>
                        <a:t>介质独立接口</a:t>
                      </a:r>
                    </a:p>
                  </a:txBody>
                  <a:tcPr marL="68580" marR="68580" marT="0" marB="0" anchor="ctr"/>
                </a:tc>
                <a:tc>
                  <a:txBody>
                    <a:bodyPr/>
                    <a:lstStyle/>
                    <a:p>
                      <a:pPr algn="ctr">
                        <a:spcAft>
                          <a:spcPts val="0"/>
                        </a:spcAft>
                      </a:pPr>
                      <a:r>
                        <a:rPr lang="en-US" sz="2400" kern="100">
                          <a:effectLst/>
                          <a:latin typeface="+mj-ea"/>
                          <a:ea typeface="+mj-ea"/>
                        </a:rPr>
                        <a:t>AUI</a:t>
                      </a:r>
                      <a:endParaRPr lang="zh-CN" sz="2400" kern="100">
                        <a:effectLst/>
                        <a:latin typeface="+mj-ea"/>
                        <a:ea typeface="+mj-ea"/>
                      </a:endParaRPr>
                    </a:p>
                  </a:txBody>
                  <a:tcPr marL="68580" marR="68580" marT="0" marB="0" anchor="ctr"/>
                </a:tc>
                <a:tc>
                  <a:txBody>
                    <a:bodyPr/>
                    <a:lstStyle/>
                    <a:p>
                      <a:pPr algn="ctr">
                        <a:spcAft>
                          <a:spcPts val="0"/>
                        </a:spcAft>
                      </a:pPr>
                      <a:r>
                        <a:rPr lang="en-US" sz="2400" kern="100" dirty="0">
                          <a:effectLst/>
                          <a:latin typeface="+mj-ea"/>
                          <a:ea typeface="+mj-ea"/>
                        </a:rPr>
                        <a:t>MII</a:t>
                      </a:r>
                      <a:endParaRPr lang="zh-CN" sz="2400" kern="100" dirty="0">
                        <a:effectLst/>
                        <a:latin typeface="+mj-ea"/>
                        <a:ea typeface="+mj-ea"/>
                      </a:endParaRPr>
                    </a:p>
                  </a:txBody>
                  <a:tcPr marL="68580" marR="68580" marT="0" marB="0" anchor="ctr"/>
                </a:tc>
                <a:extLst>
                  <a:ext uri="{0D108BD9-81ED-4DB2-BD59-A6C34878D82A}">
                    <a16:rowId xmlns:a16="http://schemas.microsoft.com/office/drawing/2014/main" val="10007"/>
                  </a:ext>
                </a:extLst>
              </a:tr>
            </a:tbl>
          </a:graphicData>
        </a:graphic>
      </p:graphicFrame>
    </p:spTree>
  </p:cSld>
  <p:clrMapOvr>
    <a:masterClrMapping/>
  </p:clrMapOvr>
  <p:transition>
    <p:random/>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idx="1"/>
          </p:nvPr>
        </p:nvSpPr>
        <p:spPr>
          <a:xfrm>
            <a:off x="914400" y="2022475"/>
            <a:ext cx="5334000" cy="3090863"/>
          </a:xfrm>
          <a:solidFill>
            <a:schemeClr val="bg1"/>
          </a:solidFill>
        </p:spPr>
        <p:txBody>
          <a:bodyPr vert="horz" wrap="square" lIns="91440" tIns="45720" rIns="91440" bIns="45720" anchor="t"/>
          <a:lstStyle/>
          <a:p>
            <a:pPr marL="609600" indent="-609600" eaLnBrk="1" hangingPunct="1">
              <a:lnSpc>
                <a:spcPct val="90000"/>
              </a:lnSpc>
              <a:buNone/>
            </a:pPr>
            <a:endParaRPr lang="en-US" altLang="zh-CN" sz="2800" dirty="0"/>
          </a:p>
          <a:p>
            <a:pPr marL="609600" indent="-609600" eaLnBrk="1" hangingPunct="1">
              <a:lnSpc>
                <a:spcPct val="90000"/>
              </a:lnSpc>
              <a:buNone/>
            </a:pPr>
            <a:endParaRPr lang="en-US" altLang="zh-CN" sz="2800" dirty="0"/>
          </a:p>
          <a:p>
            <a:pPr marL="609600" indent="-609600" eaLnBrk="1" hangingPunct="1">
              <a:lnSpc>
                <a:spcPct val="90000"/>
              </a:lnSpc>
              <a:buNone/>
            </a:pPr>
            <a:endParaRPr lang="en-US" altLang="zh-CN" sz="2800" dirty="0"/>
          </a:p>
          <a:p>
            <a:pPr marL="609600" indent="-609600" eaLnBrk="1" hangingPunct="1">
              <a:lnSpc>
                <a:spcPct val="90000"/>
              </a:lnSpc>
              <a:buNone/>
            </a:pPr>
            <a:endParaRPr lang="en-US" altLang="zh-CN" sz="2800" dirty="0"/>
          </a:p>
          <a:p>
            <a:pPr marL="609600" indent="-609600" eaLnBrk="1" hangingPunct="1">
              <a:lnSpc>
                <a:spcPct val="90000"/>
              </a:lnSpc>
              <a:buNone/>
            </a:pPr>
            <a:r>
              <a:rPr lang="en-US" altLang="zh-CN" sz="2400" dirty="0"/>
              <a:t>  </a:t>
            </a:r>
          </a:p>
          <a:p>
            <a:pPr marL="609600" indent="-609600" eaLnBrk="1" hangingPunct="1">
              <a:lnSpc>
                <a:spcPct val="90000"/>
              </a:lnSpc>
              <a:buNone/>
            </a:pPr>
            <a:r>
              <a:rPr lang="en-US" altLang="zh-CN" sz="2400" dirty="0"/>
              <a:t>    </a:t>
            </a:r>
          </a:p>
          <a:p>
            <a:pPr marL="609600" indent="-609600" eaLnBrk="1" hangingPunct="1">
              <a:lnSpc>
                <a:spcPct val="90000"/>
              </a:lnSpc>
              <a:buNone/>
            </a:pPr>
            <a:r>
              <a:rPr lang="en-US" altLang="zh-CN" sz="2400" dirty="0"/>
              <a:t>   </a:t>
            </a:r>
            <a:endParaRPr lang="en-US" altLang="zh-CN" dirty="0"/>
          </a:p>
        </p:txBody>
      </p:sp>
      <p:sp>
        <p:nvSpPr>
          <p:cNvPr id="109632" name="Rectangle 64"/>
          <p:cNvSpPr>
            <a:spLocks noGrp="1" noChangeArrowheads="1"/>
          </p:cNvSpPr>
          <p:nvPr>
            <p:ph type="title"/>
          </p:nvPr>
        </p:nvSpPr>
        <p:spPr>
          <a:xfrm>
            <a:off x="1187624" y="306007"/>
            <a:ext cx="7772400" cy="65975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zh-CN" sz="3200" b="0" i="0" u="none" strike="noStrike" kern="0" cap="none" spc="0" normalizeH="0" baseline="0" noProof="0" dirty="0" smtClean="0">
                <a:ln>
                  <a:noFill/>
                </a:ln>
                <a:effectLst/>
                <a:uLnTx/>
                <a:uFillTx/>
                <a:latin typeface="+mj-ea"/>
                <a:cs typeface="+mj-cs"/>
              </a:rPr>
              <a:t>传统以太网与快速以太网</a:t>
            </a:r>
            <a:r>
              <a:rPr kumimoji="1" lang="en-US" altLang="zh-CN" sz="3200" b="0" i="0" u="none" strike="noStrike" kern="0" cap="none" spc="0" normalizeH="0" baseline="0" noProof="0" dirty="0" smtClean="0">
                <a:ln>
                  <a:noFill/>
                </a:ln>
                <a:effectLst/>
                <a:uLnTx/>
                <a:uFillTx/>
                <a:latin typeface="+mj-ea"/>
                <a:cs typeface="+mj-cs"/>
              </a:rPr>
              <a:t>MAC</a:t>
            </a:r>
            <a:r>
              <a:rPr kumimoji="1" lang="zh-CN" altLang="zh-CN" sz="3200" b="0" i="0" u="none" strike="noStrike" kern="0" cap="none" spc="0" normalizeH="0" baseline="0" noProof="0" dirty="0" smtClean="0">
                <a:ln>
                  <a:noFill/>
                </a:ln>
                <a:effectLst/>
                <a:uLnTx/>
                <a:uFillTx/>
                <a:latin typeface="+mj-ea"/>
                <a:cs typeface="+mj-cs"/>
              </a:rPr>
              <a:t>参数比较</a:t>
            </a:r>
            <a:endParaRPr kumimoji="1" lang="zh-CN" altLang="en-US" sz="3200" b="0" i="0" u="none" strike="noStrike" kern="0" cap="none" spc="0" normalizeH="0" baseline="0" noProof="0" dirty="0" smtClean="0">
              <a:ln>
                <a:noFill/>
              </a:ln>
              <a:effectLst/>
              <a:uLnTx/>
              <a:uFillTx/>
              <a:latin typeface="+mj-ea"/>
              <a:cs typeface="+mj-cs"/>
            </a:endParaRPr>
          </a:p>
        </p:txBody>
      </p:sp>
      <p:graphicFrame>
        <p:nvGraphicFramePr>
          <p:cNvPr id="2" name="表格 1"/>
          <p:cNvGraphicFramePr>
            <a:graphicFrameLocks noGrp="1"/>
          </p:cNvGraphicFramePr>
          <p:nvPr/>
        </p:nvGraphicFramePr>
        <p:xfrm>
          <a:off x="827584" y="1484783"/>
          <a:ext cx="7776864" cy="4536507"/>
        </p:xfrm>
        <a:graphic>
          <a:graphicData uri="http://schemas.openxmlformats.org/drawingml/2006/table">
            <a:tbl>
              <a:tblPr firstRow="1" firstCol="1" bandRow="1">
                <a:tableStyleId>{5C22544A-7EE6-4342-B048-85BDC9FD1C3A}</a:tableStyleId>
              </a:tblPr>
              <a:tblGrid>
                <a:gridCol w="3010505">
                  <a:extLst>
                    <a:ext uri="{9D8B030D-6E8A-4147-A177-3AD203B41FA5}">
                      <a16:colId xmlns:a16="http://schemas.microsoft.com/office/drawing/2014/main" val="20000"/>
                    </a:ext>
                  </a:extLst>
                </a:gridCol>
                <a:gridCol w="2915505">
                  <a:extLst>
                    <a:ext uri="{9D8B030D-6E8A-4147-A177-3AD203B41FA5}">
                      <a16:colId xmlns:a16="http://schemas.microsoft.com/office/drawing/2014/main" val="20001"/>
                    </a:ext>
                  </a:extLst>
                </a:gridCol>
                <a:gridCol w="1850854">
                  <a:extLst>
                    <a:ext uri="{9D8B030D-6E8A-4147-A177-3AD203B41FA5}">
                      <a16:colId xmlns:a16="http://schemas.microsoft.com/office/drawing/2014/main" val="20002"/>
                    </a:ext>
                  </a:extLst>
                </a:gridCol>
              </a:tblGrid>
              <a:tr h="824819">
                <a:tc>
                  <a:txBody>
                    <a:bodyPr/>
                    <a:lstStyle/>
                    <a:p>
                      <a:pPr algn="ctr">
                        <a:spcAft>
                          <a:spcPts val="0"/>
                        </a:spcAft>
                      </a:pPr>
                      <a:r>
                        <a:rPr lang="zh-CN" sz="2400" kern="100" dirty="0">
                          <a:solidFill>
                            <a:srgbClr val="FF0000"/>
                          </a:solidFill>
                          <a:effectLst/>
                        </a:rPr>
                        <a:t>参数</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zh-CN" sz="2400" kern="100" dirty="0">
                          <a:solidFill>
                            <a:srgbClr val="FF0000"/>
                          </a:solidFill>
                          <a:effectLst/>
                        </a:rPr>
                        <a:t>传统以太网</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zh-CN" sz="2400" kern="100" dirty="0">
                          <a:solidFill>
                            <a:srgbClr val="FF0000"/>
                          </a:solidFill>
                          <a:effectLst/>
                        </a:rPr>
                        <a:t>快速以太网</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412410">
                <a:tc>
                  <a:txBody>
                    <a:bodyPr/>
                    <a:lstStyle/>
                    <a:p>
                      <a:pPr algn="ctr">
                        <a:spcAft>
                          <a:spcPts val="0"/>
                        </a:spcAft>
                      </a:pPr>
                      <a:r>
                        <a:rPr lang="zh-CN" sz="2400" kern="100" dirty="0">
                          <a:solidFill>
                            <a:srgbClr val="0070C0"/>
                          </a:solidFill>
                          <a:effectLst/>
                          <a:latin typeface="+mj-ea"/>
                          <a:ea typeface="+mj-ea"/>
                        </a:rPr>
                        <a:t>冲突检测时间片</a:t>
                      </a:r>
                    </a:p>
                  </a:txBody>
                  <a:tcPr marL="68580" marR="68580" marT="0" marB="0" anchor="ctr"/>
                </a:tc>
                <a:tc>
                  <a:txBody>
                    <a:bodyPr/>
                    <a:lstStyle/>
                    <a:p>
                      <a:pPr algn="ctr">
                        <a:spcAft>
                          <a:spcPts val="0"/>
                        </a:spcAft>
                      </a:pPr>
                      <a:r>
                        <a:rPr lang="en-US" sz="2400" kern="100">
                          <a:effectLst/>
                        </a:rPr>
                        <a:t>512</a:t>
                      </a:r>
                      <a:r>
                        <a:rPr lang="zh-CN" sz="2400" kern="100">
                          <a:effectLst/>
                        </a:rPr>
                        <a:t>位时</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400" kern="100">
                          <a:effectLst/>
                        </a:rPr>
                        <a:t>512</a:t>
                      </a:r>
                      <a:r>
                        <a:rPr lang="zh-CN" sz="2400" kern="100">
                          <a:effectLst/>
                        </a:rPr>
                        <a:t>位时</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824819">
                <a:tc>
                  <a:txBody>
                    <a:bodyPr/>
                    <a:lstStyle/>
                    <a:p>
                      <a:pPr algn="ctr">
                        <a:spcAft>
                          <a:spcPts val="0"/>
                        </a:spcAft>
                      </a:pPr>
                      <a:r>
                        <a:rPr lang="zh-CN" sz="2400" kern="100" dirty="0">
                          <a:solidFill>
                            <a:srgbClr val="0070C0"/>
                          </a:solidFill>
                          <a:effectLst/>
                          <a:latin typeface="+mj-ea"/>
                          <a:ea typeface="+mj-ea"/>
                        </a:rPr>
                        <a:t>帧际间隙</a:t>
                      </a:r>
                    </a:p>
                  </a:txBody>
                  <a:tcPr marL="68580" marR="68580" marT="0" marB="0" anchor="ctr"/>
                </a:tc>
                <a:tc>
                  <a:txBody>
                    <a:bodyPr/>
                    <a:lstStyle/>
                    <a:p>
                      <a:pPr algn="ctr">
                        <a:spcAft>
                          <a:spcPts val="0"/>
                        </a:spcAft>
                      </a:pPr>
                      <a:r>
                        <a:rPr lang="en-US" sz="2400" kern="100">
                          <a:effectLst/>
                        </a:rPr>
                        <a:t>9.6μs</a:t>
                      </a:r>
                      <a:r>
                        <a:rPr lang="zh-CN" sz="2400" kern="100">
                          <a:effectLst/>
                        </a:rPr>
                        <a:t>（最小）</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400" kern="100">
                          <a:effectLst/>
                        </a:rPr>
                        <a:t>0.96μs</a:t>
                      </a:r>
                      <a:r>
                        <a:rPr lang="zh-CN" sz="2400" kern="100">
                          <a:effectLst/>
                        </a:rPr>
                        <a:t>（最小）</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412410">
                <a:tc>
                  <a:txBody>
                    <a:bodyPr/>
                    <a:lstStyle/>
                    <a:p>
                      <a:pPr algn="ctr">
                        <a:spcAft>
                          <a:spcPts val="0"/>
                        </a:spcAft>
                      </a:pPr>
                      <a:r>
                        <a:rPr lang="zh-CN" sz="2400" kern="100" dirty="0">
                          <a:solidFill>
                            <a:srgbClr val="0070C0"/>
                          </a:solidFill>
                          <a:effectLst/>
                          <a:latin typeface="+mj-ea"/>
                          <a:ea typeface="+mj-ea"/>
                        </a:rPr>
                        <a:t>重试上限</a:t>
                      </a:r>
                    </a:p>
                  </a:txBody>
                  <a:tcPr marL="68580" marR="68580" marT="0" marB="0" anchor="ctr"/>
                </a:tc>
                <a:tc>
                  <a:txBody>
                    <a:bodyPr/>
                    <a:lstStyle/>
                    <a:p>
                      <a:pPr algn="ctr">
                        <a:spcAft>
                          <a:spcPts val="0"/>
                        </a:spcAft>
                      </a:pPr>
                      <a:r>
                        <a:rPr lang="en-US" sz="2400" kern="100">
                          <a:effectLst/>
                        </a:rPr>
                        <a:t>16</a:t>
                      </a:r>
                      <a:r>
                        <a:rPr lang="zh-CN" sz="2400" kern="100">
                          <a:effectLst/>
                        </a:rPr>
                        <a:t>次</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400" kern="100">
                          <a:effectLst/>
                        </a:rPr>
                        <a:t>16</a:t>
                      </a:r>
                      <a:r>
                        <a:rPr lang="zh-CN" sz="2400" kern="100">
                          <a:effectLst/>
                        </a:rPr>
                        <a:t>次</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824819">
                <a:tc>
                  <a:txBody>
                    <a:bodyPr/>
                    <a:lstStyle/>
                    <a:p>
                      <a:pPr algn="ctr">
                        <a:spcAft>
                          <a:spcPts val="0"/>
                        </a:spcAft>
                      </a:pPr>
                      <a:r>
                        <a:rPr lang="zh-CN" sz="2400" kern="100" dirty="0">
                          <a:solidFill>
                            <a:srgbClr val="0070C0"/>
                          </a:solidFill>
                          <a:effectLst/>
                          <a:latin typeface="+mj-ea"/>
                          <a:ea typeface="+mj-ea"/>
                        </a:rPr>
                        <a:t>退避上限</a:t>
                      </a:r>
                    </a:p>
                  </a:txBody>
                  <a:tcPr marL="68580" marR="68580" marT="0" marB="0" anchor="ctr"/>
                </a:tc>
                <a:tc>
                  <a:txBody>
                    <a:bodyPr/>
                    <a:lstStyle/>
                    <a:p>
                      <a:pPr algn="ctr">
                        <a:spcAft>
                          <a:spcPts val="0"/>
                        </a:spcAft>
                      </a:pPr>
                      <a:r>
                        <a:rPr lang="en-US" sz="2400" kern="100">
                          <a:effectLst/>
                        </a:rPr>
                        <a:t>10</a:t>
                      </a:r>
                      <a:r>
                        <a:rPr lang="zh-CN" sz="2400" kern="100">
                          <a:effectLst/>
                        </a:rPr>
                        <a:t>（幂指数）</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400" kern="100">
                          <a:effectLst/>
                        </a:rPr>
                        <a:t>10</a:t>
                      </a:r>
                      <a:r>
                        <a:rPr lang="zh-CN" sz="2400" kern="100">
                          <a:effectLst/>
                        </a:rPr>
                        <a:t>（幂指数）</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412410">
                <a:tc>
                  <a:txBody>
                    <a:bodyPr/>
                    <a:lstStyle/>
                    <a:p>
                      <a:pPr algn="ctr">
                        <a:spcAft>
                          <a:spcPts val="0"/>
                        </a:spcAft>
                      </a:pPr>
                      <a:r>
                        <a:rPr lang="zh-CN" sz="2400" kern="100" dirty="0">
                          <a:solidFill>
                            <a:srgbClr val="0070C0"/>
                          </a:solidFill>
                          <a:effectLst/>
                          <a:latin typeface="+mj-ea"/>
                          <a:ea typeface="+mj-ea"/>
                        </a:rPr>
                        <a:t>最大帧字节数</a:t>
                      </a:r>
                    </a:p>
                  </a:txBody>
                  <a:tcPr marL="68580" marR="68580" marT="0" marB="0" anchor="ctr"/>
                </a:tc>
                <a:tc>
                  <a:txBody>
                    <a:bodyPr/>
                    <a:lstStyle/>
                    <a:p>
                      <a:pPr algn="ctr">
                        <a:spcAft>
                          <a:spcPts val="0"/>
                        </a:spcAft>
                      </a:pPr>
                      <a:r>
                        <a:rPr lang="en-US" sz="2400" kern="100">
                          <a:effectLst/>
                        </a:rPr>
                        <a:t>1518</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400" kern="100">
                          <a:effectLst/>
                        </a:rPr>
                        <a:t>1518</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412410">
                <a:tc>
                  <a:txBody>
                    <a:bodyPr/>
                    <a:lstStyle/>
                    <a:p>
                      <a:pPr algn="ctr">
                        <a:spcAft>
                          <a:spcPts val="0"/>
                        </a:spcAft>
                      </a:pPr>
                      <a:r>
                        <a:rPr lang="zh-CN" sz="2400" kern="100" dirty="0">
                          <a:solidFill>
                            <a:srgbClr val="0070C0"/>
                          </a:solidFill>
                          <a:effectLst/>
                          <a:latin typeface="+mj-ea"/>
                          <a:ea typeface="+mj-ea"/>
                        </a:rPr>
                        <a:t>最小帧字节数</a:t>
                      </a:r>
                    </a:p>
                  </a:txBody>
                  <a:tcPr marL="68580" marR="68580" marT="0" marB="0" anchor="ctr"/>
                </a:tc>
                <a:tc>
                  <a:txBody>
                    <a:bodyPr/>
                    <a:lstStyle/>
                    <a:p>
                      <a:pPr algn="ctr">
                        <a:spcAft>
                          <a:spcPts val="0"/>
                        </a:spcAft>
                      </a:pPr>
                      <a:r>
                        <a:rPr lang="en-US" sz="2400" kern="100">
                          <a:effectLst/>
                        </a:rPr>
                        <a:t>64</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400" kern="100">
                          <a:effectLst/>
                        </a:rPr>
                        <a:t>64</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412410">
                <a:tc>
                  <a:txBody>
                    <a:bodyPr/>
                    <a:lstStyle/>
                    <a:p>
                      <a:pPr algn="ctr">
                        <a:spcAft>
                          <a:spcPts val="0"/>
                        </a:spcAft>
                      </a:pPr>
                      <a:r>
                        <a:rPr lang="zh-CN" sz="2400" kern="100" dirty="0">
                          <a:solidFill>
                            <a:srgbClr val="0070C0"/>
                          </a:solidFill>
                          <a:effectLst/>
                          <a:latin typeface="+mj-ea"/>
                          <a:ea typeface="+mj-ea"/>
                        </a:rPr>
                        <a:t>地址长度</a:t>
                      </a:r>
                    </a:p>
                  </a:txBody>
                  <a:tcPr marL="68580" marR="68580" marT="0" marB="0" anchor="ctr"/>
                </a:tc>
                <a:tc>
                  <a:txBody>
                    <a:bodyPr/>
                    <a:lstStyle/>
                    <a:p>
                      <a:pPr algn="ctr">
                        <a:spcAft>
                          <a:spcPts val="0"/>
                        </a:spcAft>
                      </a:pPr>
                      <a:r>
                        <a:rPr lang="en-US" sz="2400" kern="100">
                          <a:effectLst/>
                        </a:rPr>
                        <a:t>48</a:t>
                      </a:r>
                      <a:r>
                        <a:rPr lang="zh-CN" sz="2400" kern="100">
                          <a:effectLst/>
                        </a:rPr>
                        <a:t>位</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400" kern="100" dirty="0">
                          <a:effectLst/>
                        </a:rPr>
                        <a:t>48</a:t>
                      </a:r>
                      <a:r>
                        <a:rPr lang="zh-CN" sz="2400" kern="100" dirty="0">
                          <a:effectLst/>
                        </a:rPr>
                        <a:t>位</a:t>
                      </a:r>
                      <a:endParaRPr lang="zh-CN" sz="24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bl>
          </a:graphicData>
        </a:graphic>
      </p:graphicFrame>
    </p:spTree>
  </p:cSld>
  <p:clrMapOvr>
    <a:masterClrMapping/>
  </p:clrMapOvr>
  <p:transition>
    <p:random/>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32" name="Rectangle 64"/>
          <p:cNvSpPr>
            <a:spLocks noGrp="1" noChangeArrowheads="1"/>
          </p:cNvSpPr>
          <p:nvPr>
            <p:ph type="title"/>
          </p:nvPr>
        </p:nvSpPr>
        <p:spPr>
          <a:xfrm>
            <a:off x="1187624" y="306007"/>
            <a:ext cx="7772400" cy="65975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zh-CN" sz="3200" b="0" i="0" u="none" strike="noStrike" kern="0" cap="none" spc="0" normalizeH="0" baseline="0" noProof="0" dirty="0" smtClean="0">
                <a:ln>
                  <a:noFill/>
                </a:ln>
                <a:effectLst/>
                <a:uLnTx/>
                <a:uFillTx/>
                <a:latin typeface="+mj-ea"/>
                <a:cs typeface="+mj-cs"/>
              </a:rPr>
              <a:t>传统以太网与快速以太网</a:t>
            </a:r>
            <a:r>
              <a:rPr kumimoji="1" lang="zh-CN" altLang="en-US" sz="3200" b="0" i="0" u="none" strike="noStrike" kern="0" cap="none" spc="0" normalizeH="0" baseline="0" noProof="0" dirty="0" smtClean="0">
                <a:ln>
                  <a:noFill/>
                </a:ln>
                <a:effectLst/>
                <a:uLnTx/>
                <a:uFillTx/>
                <a:latin typeface="+mj-ea"/>
                <a:cs typeface="+mj-cs"/>
              </a:rPr>
              <a:t>物理规范</a:t>
            </a:r>
            <a:r>
              <a:rPr kumimoji="1" lang="zh-CN" altLang="zh-CN" sz="3200" b="0" i="0" u="none" strike="noStrike" kern="0" cap="none" spc="0" normalizeH="0" baseline="0" noProof="0" dirty="0" smtClean="0">
                <a:ln>
                  <a:noFill/>
                </a:ln>
                <a:effectLst/>
                <a:uLnTx/>
                <a:uFillTx/>
                <a:latin typeface="+mj-ea"/>
                <a:cs typeface="+mj-cs"/>
              </a:rPr>
              <a:t>比较</a:t>
            </a:r>
            <a:endParaRPr kumimoji="1" lang="zh-CN" altLang="en-US" sz="3200" b="0" i="0" u="none" strike="noStrike" kern="0" cap="none" spc="0" normalizeH="0" baseline="0" noProof="0" dirty="0" smtClean="0">
              <a:ln>
                <a:noFill/>
              </a:ln>
              <a:effectLst/>
              <a:uLnTx/>
              <a:uFillTx/>
              <a:latin typeface="+mj-ea"/>
              <a:cs typeface="+mj-cs"/>
            </a:endParaRPr>
          </a:p>
        </p:txBody>
      </p:sp>
      <p:graphicFrame>
        <p:nvGraphicFramePr>
          <p:cNvPr id="4" name="表格 3"/>
          <p:cNvGraphicFramePr>
            <a:graphicFrameLocks noGrp="1"/>
          </p:cNvGraphicFramePr>
          <p:nvPr/>
        </p:nvGraphicFramePr>
        <p:xfrm>
          <a:off x="1" y="1268758"/>
          <a:ext cx="9143998" cy="4824540"/>
        </p:xfrm>
        <a:graphic>
          <a:graphicData uri="http://schemas.openxmlformats.org/drawingml/2006/table">
            <a:tbl>
              <a:tblPr firstRow="1" firstCol="1" bandRow="1">
                <a:tableStyleId>{5C22544A-7EE6-4342-B048-85BDC9FD1C3A}</a:tableStyleId>
              </a:tblPr>
              <a:tblGrid>
                <a:gridCol w="1608839">
                  <a:extLst>
                    <a:ext uri="{9D8B030D-6E8A-4147-A177-3AD203B41FA5}">
                      <a16:colId xmlns:a16="http://schemas.microsoft.com/office/drawing/2014/main" val="20000"/>
                    </a:ext>
                  </a:extLst>
                </a:gridCol>
                <a:gridCol w="1587111">
                  <a:extLst>
                    <a:ext uri="{9D8B030D-6E8A-4147-A177-3AD203B41FA5}">
                      <a16:colId xmlns:a16="http://schemas.microsoft.com/office/drawing/2014/main" val="20001"/>
                    </a:ext>
                  </a:extLst>
                </a:gridCol>
                <a:gridCol w="2493442">
                  <a:extLst>
                    <a:ext uri="{9D8B030D-6E8A-4147-A177-3AD203B41FA5}">
                      <a16:colId xmlns:a16="http://schemas.microsoft.com/office/drawing/2014/main" val="20002"/>
                    </a:ext>
                  </a:extLst>
                </a:gridCol>
                <a:gridCol w="1906810">
                  <a:extLst>
                    <a:ext uri="{9D8B030D-6E8A-4147-A177-3AD203B41FA5}">
                      <a16:colId xmlns:a16="http://schemas.microsoft.com/office/drawing/2014/main" val="20003"/>
                    </a:ext>
                  </a:extLst>
                </a:gridCol>
                <a:gridCol w="1547796">
                  <a:extLst>
                    <a:ext uri="{9D8B030D-6E8A-4147-A177-3AD203B41FA5}">
                      <a16:colId xmlns:a16="http://schemas.microsoft.com/office/drawing/2014/main" val="20004"/>
                    </a:ext>
                  </a:extLst>
                </a:gridCol>
              </a:tblGrid>
              <a:tr h="615453">
                <a:tc>
                  <a:txBody>
                    <a:bodyPr/>
                    <a:lstStyle/>
                    <a:p>
                      <a:pPr algn="ctr">
                        <a:spcAft>
                          <a:spcPts val="0"/>
                        </a:spcAft>
                      </a:pPr>
                      <a:r>
                        <a:rPr lang="en-US" sz="2000" kern="100">
                          <a:effectLst/>
                        </a:rPr>
                        <a:t> </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dirty="0">
                          <a:solidFill>
                            <a:srgbClr val="FF0000"/>
                          </a:solidFill>
                          <a:effectLst/>
                          <a:latin typeface="+mj-lt"/>
                        </a:rPr>
                        <a:t>10Base-T</a:t>
                      </a:r>
                      <a:endParaRPr lang="zh-CN" sz="2000" kern="100" dirty="0">
                        <a:solidFill>
                          <a:srgbClr val="FF0000"/>
                        </a:solidFill>
                        <a:effectLst/>
                        <a:latin typeface="+mj-lt"/>
                        <a:ea typeface="宋体" panose="02010600030101010101" pitchFamily="2" charset="-122"/>
                      </a:endParaRPr>
                    </a:p>
                  </a:txBody>
                  <a:tcPr marL="68580" marR="68580" marT="0" marB="0" anchor="ctr"/>
                </a:tc>
                <a:tc>
                  <a:txBody>
                    <a:bodyPr/>
                    <a:lstStyle/>
                    <a:p>
                      <a:pPr algn="ctr">
                        <a:spcAft>
                          <a:spcPts val="0"/>
                        </a:spcAft>
                      </a:pPr>
                      <a:r>
                        <a:rPr lang="en-US" sz="2000" kern="100" dirty="0">
                          <a:solidFill>
                            <a:srgbClr val="FF0000"/>
                          </a:solidFill>
                          <a:effectLst/>
                          <a:latin typeface="+mj-lt"/>
                        </a:rPr>
                        <a:t>100Base-TX</a:t>
                      </a:r>
                      <a:endParaRPr lang="zh-CN" sz="2000" kern="100" dirty="0">
                        <a:solidFill>
                          <a:srgbClr val="FF0000"/>
                        </a:solidFill>
                        <a:effectLst/>
                        <a:latin typeface="+mj-lt"/>
                        <a:ea typeface="宋体" panose="02010600030101010101" pitchFamily="2" charset="-122"/>
                      </a:endParaRPr>
                    </a:p>
                  </a:txBody>
                  <a:tcPr marL="68580" marR="68580" marT="0" marB="0" anchor="ctr"/>
                </a:tc>
                <a:tc>
                  <a:txBody>
                    <a:bodyPr/>
                    <a:lstStyle/>
                    <a:p>
                      <a:pPr algn="ctr">
                        <a:spcAft>
                          <a:spcPts val="0"/>
                        </a:spcAft>
                      </a:pPr>
                      <a:r>
                        <a:rPr lang="en-US" sz="2000" kern="100" dirty="0">
                          <a:solidFill>
                            <a:srgbClr val="FF0000"/>
                          </a:solidFill>
                          <a:effectLst/>
                          <a:latin typeface="+mj-lt"/>
                        </a:rPr>
                        <a:t>100Base-FX</a:t>
                      </a:r>
                      <a:endParaRPr lang="zh-CN" sz="2000" kern="100" dirty="0">
                        <a:solidFill>
                          <a:srgbClr val="FF0000"/>
                        </a:solidFill>
                        <a:effectLst/>
                        <a:latin typeface="+mj-lt"/>
                        <a:ea typeface="宋体" panose="02010600030101010101" pitchFamily="2" charset="-122"/>
                      </a:endParaRPr>
                    </a:p>
                  </a:txBody>
                  <a:tcPr marL="68580" marR="68580" marT="0" marB="0" anchor="ctr"/>
                </a:tc>
                <a:tc>
                  <a:txBody>
                    <a:bodyPr/>
                    <a:lstStyle/>
                    <a:p>
                      <a:pPr algn="ctr">
                        <a:spcAft>
                          <a:spcPts val="0"/>
                        </a:spcAft>
                      </a:pPr>
                      <a:r>
                        <a:rPr lang="en-US" sz="2000" kern="100" dirty="0">
                          <a:solidFill>
                            <a:srgbClr val="FF0000"/>
                          </a:solidFill>
                          <a:effectLst/>
                          <a:latin typeface="+mj-lt"/>
                        </a:rPr>
                        <a:t>100Base-T4</a:t>
                      </a:r>
                      <a:endParaRPr lang="zh-CN" sz="2000" kern="100" dirty="0">
                        <a:solidFill>
                          <a:srgbClr val="FF0000"/>
                        </a:solidFill>
                        <a:effectLst/>
                        <a:latin typeface="+mj-lt"/>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615453">
                <a:tc>
                  <a:txBody>
                    <a:bodyPr/>
                    <a:lstStyle/>
                    <a:p>
                      <a:pPr algn="ctr">
                        <a:spcAft>
                          <a:spcPts val="0"/>
                        </a:spcAft>
                      </a:pPr>
                      <a:r>
                        <a:rPr lang="zh-CN" sz="2000" kern="100" dirty="0">
                          <a:solidFill>
                            <a:srgbClr val="0070C0"/>
                          </a:solidFill>
                          <a:effectLst/>
                          <a:latin typeface="+mj-ea"/>
                          <a:ea typeface="+mj-ea"/>
                        </a:rPr>
                        <a:t>编码方法</a:t>
                      </a:r>
                    </a:p>
                  </a:txBody>
                  <a:tcPr marL="68580" marR="68580" marT="0" marB="0" anchor="ctr"/>
                </a:tc>
                <a:tc>
                  <a:txBody>
                    <a:bodyPr/>
                    <a:lstStyle/>
                    <a:p>
                      <a:pPr algn="ctr">
                        <a:spcAft>
                          <a:spcPts val="0"/>
                        </a:spcAft>
                      </a:pPr>
                      <a:r>
                        <a:rPr lang="zh-CN" sz="2000" kern="100">
                          <a:effectLst/>
                        </a:rPr>
                        <a:t>曼彻斯特编码</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dirty="0">
                          <a:effectLst/>
                        </a:rPr>
                        <a:t>4B/5B</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4B/5B</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8B/6T</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615453">
                <a:tc>
                  <a:txBody>
                    <a:bodyPr/>
                    <a:lstStyle/>
                    <a:p>
                      <a:pPr algn="ctr">
                        <a:spcAft>
                          <a:spcPts val="0"/>
                        </a:spcAft>
                      </a:pPr>
                      <a:r>
                        <a:rPr lang="zh-CN" sz="2000" kern="100" dirty="0">
                          <a:solidFill>
                            <a:srgbClr val="0070C0"/>
                          </a:solidFill>
                          <a:effectLst/>
                          <a:latin typeface="+mj-ea"/>
                          <a:ea typeface="+mj-ea"/>
                        </a:rPr>
                        <a:t>传输介质</a:t>
                      </a:r>
                    </a:p>
                  </a:txBody>
                  <a:tcPr marL="68580" marR="68580" marT="0" marB="0" anchor="ctr"/>
                </a:tc>
                <a:tc>
                  <a:txBody>
                    <a:bodyPr/>
                    <a:lstStyle/>
                    <a:p>
                      <a:pPr algn="ctr">
                        <a:spcAft>
                          <a:spcPts val="0"/>
                        </a:spcAft>
                      </a:pPr>
                      <a:r>
                        <a:rPr lang="en-US" sz="2000" kern="100">
                          <a:effectLst/>
                        </a:rPr>
                        <a:t>UTP3</a:t>
                      </a:r>
                      <a:r>
                        <a:rPr lang="zh-CN" sz="2000" kern="100">
                          <a:effectLst/>
                        </a:rPr>
                        <a:t>类以上</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UTP5</a:t>
                      </a:r>
                      <a:r>
                        <a:rPr lang="zh-CN" sz="2000" kern="100">
                          <a:effectLst/>
                        </a:rPr>
                        <a:t>类以上或</a:t>
                      </a:r>
                      <a:r>
                        <a:rPr lang="en-US" sz="2000" kern="100">
                          <a:effectLst/>
                        </a:rPr>
                        <a:t>STP1</a:t>
                      </a:r>
                      <a:r>
                        <a:rPr lang="zh-CN" sz="2000" kern="100">
                          <a:effectLst/>
                        </a:rPr>
                        <a:t>类</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zh-CN" sz="2000" kern="100">
                          <a:effectLst/>
                        </a:rPr>
                        <a:t>多模或单模光纤</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UTP3</a:t>
                      </a:r>
                      <a:r>
                        <a:rPr lang="zh-CN" sz="2000" kern="100">
                          <a:effectLst/>
                        </a:rPr>
                        <a:t>类以上</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590682">
                <a:tc>
                  <a:txBody>
                    <a:bodyPr/>
                    <a:lstStyle/>
                    <a:p>
                      <a:pPr algn="ctr">
                        <a:spcAft>
                          <a:spcPts val="0"/>
                        </a:spcAft>
                      </a:pPr>
                      <a:r>
                        <a:rPr lang="zh-CN" sz="2000" kern="100" dirty="0">
                          <a:solidFill>
                            <a:srgbClr val="0070C0"/>
                          </a:solidFill>
                          <a:effectLst/>
                          <a:latin typeface="+mj-ea"/>
                          <a:ea typeface="+mj-ea"/>
                        </a:rPr>
                        <a:t>信号频率</a:t>
                      </a:r>
                    </a:p>
                  </a:txBody>
                  <a:tcPr marL="68580" marR="68580" marT="0" marB="0" anchor="ctr"/>
                </a:tc>
                <a:tc>
                  <a:txBody>
                    <a:bodyPr/>
                    <a:lstStyle/>
                    <a:p>
                      <a:pPr algn="ctr">
                        <a:spcAft>
                          <a:spcPts val="0"/>
                        </a:spcAft>
                      </a:pPr>
                      <a:r>
                        <a:rPr lang="en-US" sz="2000" kern="100" dirty="0">
                          <a:effectLst/>
                        </a:rPr>
                        <a:t>20MHz</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125MHz</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125MHz</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25MHz</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615453">
                <a:tc>
                  <a:txBody>
                    <a:bodyPr/>
                    <a:lstStyle/>
                    <a:p>
                      <a:pPr algn="ctr">
                        <a:spcAft>
                          <a:spcPts val="0"/>
                        </a:spcAft>
                      </a:pPr>
                      <a:r>
                        <a:rPr lang="zh-CN" sz="2000" kern="100" dirty="0">
                          <a:solidFill>
                            <a:srgbClr val="0070C0"/>
                          </a:solidFill>
                          <a:effectLst/>
                          <a:latin typeface="+mj-ea"/>
                          <a:ea typeface="+mj-ea"/>
                        </a:rPr>
                        <a:t>要求缆对数量</a:t>
                      </a:r>
                    </a:p>
                  </a:txBody>
                  <a:tcPr marL="68580" marR="68580" marT="0" marB="0" anchor="ctr"/>
                </a:tc>
                <a:tc>
                  <a:txBody>
                    <a:bodyPr/>
                    <a:lstStyle/>
                    <a:p>
                      <a:pPr algn="ctr">
                        <a:spcAft>
                          <a:spcPts val="0"/>
                        </a:spcAft>
                      </a:pPr>
                      <a:r>
                        <a:rPr lang="en-US" sz="2000" kern="100">
                          <a:effectLst/>
                        </a:rPr>
                        <a:t>2</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2</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2</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4</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590682">
                <a:tc>
                  <a:txBody>
                    <a:bodyPr/>
                    <a:lstStyle/>
                    <a:p>
                      <a:pPr algn="ctr">
                        <a:spcAft>
                          <a:spcPts val="0"/>
                        </a:spcAft>
                      </a:pPr>
                      <a:r>
                        <a:rPr lang="zh-CN" sz="2000" kern="100" dirty="0">
                          <a:solidFill>
                            <a:srgbClr val="0070C0"/>
                          </a:solidFill>
                          <a:effectLst/>
                          <a:latin typeface="+mj-ea"/>
                          <a:ea typeface="+mj-ea"/>
                        </a:rPr>
                        <a:t>发送线对数</a:t>
                      </a:r>
                    </a:p>
                  </a:txBody>
                  <a:tcPr marL="68580" marR="68580" marT="0" marB="0" anchor="ctr"/>
                </a:tc>
                <a:tc>
                  <a:txBody>
                    <a:bodyPr/>
                    <a:lstStyle/>
                    <a:p>
                      <a:pPr algn="ctr">
                        <a:spcAft>
                          <a:spcPts val="0"/>
                        </a:spcAft>
                      </a:pPr>
                      <a:r>
                        <a:rPr lang="en-US" sz="2000" kern="100">
                          <a:effectLst/>
                        </a:rPr>
                        <a:t>1</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1</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1</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3</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590682">
                <a:tc>
                  <a:txBody>
                    <a:bodyPr/>
                    <a:lstStyle/>
                    <a:p>
                      <a:pPr algn="ctr">
                        <a:spcAft>
                          <a:spcPts val="0"/>
                        </a:spcAft>
                      </a:pPr>
                      <a:r>
                        <a:rPr lang="zh-CN" sz="2000" kern="100" dirty="0">
                          <a:solidFill>
                            <a:srgbClr val="0070C0"/>
                          </a:solidFill>
                          <a:effectLst/>
                          <a:latin typeface="+mj-ea"/>
                          <a:ea typeface="+mj-ea"/>
                        </a:rPr>
                        <a:t>网段距离</a:t>
                      </a:r>
                    </a:p>
                  </a:txBody>
                  <a:tcPr marL="68580" marR="68580" marT="0" marB="0" anchor="ctr"/>
                </a:tc>
                <a:tc>
                  <a:txBody>
                    <a:bodyPr/>
                    <a:lstStyle/>
                    <a:p>
                      <a:pPr algn="ctr">
                        <a:spcAft>
                          <a:spcPts val="0"/>
                        </a:spcAft>
                      </a:pPr>
                      <a:r>
                        <a:rPr lang="en-US" sz="2000" kern="100">
                          <a:effectLst/>
                        </a:rPr>
                        <a:t>100m</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100m</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150/412/2000m</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000" kern="100">
                          <a:effectLst/>
                        </a:rPr>
                        <a:t>100m</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590682">
                <a:tc>
                  <a:txBody>
                    <a:bodyPr/>
                    <a:lstStyle/>
                    <a:p>
                      <a:pPr algn="ctr">
                        <a:spcAft>
                          <a:spcPts val="0"/>
                        </a:spcAft>
                      </a:pPr>
                      <a:r>
                        <a:rPr lang="zh-CN" sz="2000" kern="100" dirty="0">
                          <a:solidFill>
                            <a:srgbClr val="0070C0"/>
                          </a:solidFill>
                          <a:effectLst/>
                          <a:latin typeface="+mj-ea"/>
                          <a:ea typeface="+mj-ea"/>
                        </a:rPr>
                        <a:t>全双工能力</a:t>
                      </a:r>
                    </a:p>
                  </a:txBody>
                  <a:tcPr marL="68580" marR="68580" marT="0" marB="0" anchor="ctr"/>
                </a:tc>
                <a:tc>
                  <a:txBody>
                    <a:bodyPr/>
                    <a:lstStyle/>
                    <a:p>
                      <a:pPr algn="ctr">
                        <a:spcAft>
                          <a:spcPts val="0"/>
                        </a:spcAft>
                      </a:pPr>
                      <a:r>
                        <a:rPr lang="zh-CN" sz="2000" kern="100">
                          <a:effectLst/>
                        </a:rPr>
                        <a:t>有</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zh-CN" sz="2000" kern="100">
                          <a:effectLst/>
                        </a:rPr>
                        <a:t>有</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zh-CN" sz="2000" kern="100">
                          <a:effectLst/>
                        </a:rPr>
                        <a:t>有</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zh-CN" sz="2000" kern="100" dirty="0">
                          <a:effectLst/>
                        </a:rPr>
                        <a:t>无</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bl>
          </a:graphicData>
        </a:graphic>
      </p:graphicFrame>
    </p:spTree>
  </p:cSld>
  <p:clrMapOvr>
    <a:masterClrMapping/>
  </p:clrMapOvr>
  <p:transition>
    <p:random/>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1187624" y="332656"/>
            <a:ext cx="7772400" cy="542057"/>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dirty="0" smtClean="0">
                <a:ln>
                  <a:noFill/>
                </a:ln>
                <a:effectLst/>
                <a:uLnTx/>
                <a:uFillTx/>
                <a:latin typeface="+mj-lt"/>
                <a:ea typeface="+mj-ea"/>
                <a:cs typeface="+mj-cs"/>
              </a:rPr>
              <a:t>千兆以太网</a:t>
            </a:r>
          </a:p>
        </p:txBody>
      </p:sp>
      <p:sp>
        <p:nvSpPr>
          <p:cNvPr id="113667" name="Rectangle 3"/>
          <p:cNvSpPr>
            <a:spLocks noGrp="1"/>
          </p:cNvSpPr>
          <p:nvPr>
            <p:ph idx="1"/>
          </p:nvPr>
        </p:nvSpPr>
        <p:spPr>
          <a:xfrm>
            <a:off x="395536" y="1412776"/>
            <a:ext cx="8435975" cy="4392612"/>
          </a:xfrm>
        </p:spPr>
        <p:txBody>
          <a:bodyPr vert="horz" wrap="square" lIns="91440" tIns="45720" rIns="91440" bIns="45720" anchor="t"/>
          <a:lstStyle/>
          <a:p>
            <a:pPr eaLnBrk="1" hangingPunct="1">
              <a:lnSpc>
                <a:spcPct val="90000"/>
              </a:lnSpc>
            </a:pPr>
            <a:r>
              <a:rPr lang="zh-CN" altLang="en-US" sz="2800" kern="0" dirty="0">
                <a:solidFill>
                  <a:schemeClr val="tx1"/>
                </a:solidFill>
                <a:latin typeface="+mj-lt"/>
              </a:rPr>
              <a:t>千兆以太网（</a:t>
            </a:r>
            <a:r>
              <a:rPr lang="en-US" altLang="zh-CN" sz="2800" kern="0" dirty="0">
                <a:solidFill>
                  <a:schemeClr val="tx1"/>
                </a:solidFill>
                <a:latin typeface="+mj-lt"/>
              </a:rPr>
              <a:t>Gigabit Ethernet</a:t>
            </a:r>
            <a:r>
              <a:rPr lang="zh-CN" altLang="en-US" sz="2800" kern="0" dirty="0" smtClean="0">
                <a:solidFill>
                  <a:schemeClr val="tx1"/>
                </a:solidFill>
                <a:latin typeface="+mj-lt"/>
              </a:rPr>
              <a:t>）</a:t>
            </a:r>
            <a:r>
              <a:rPr lang="en-US" altLang="zh-CN" sz="2800" kern="0" dirty="0" smtClean="0">
                <a:solidFill>
                  <a:schemeClr val="tx1"/>
                </a:solidFill>
                <a:latin typeface="+mj-lt"/>
              </a:rPr>
              <a:t>/</a:t>
            </a:r>
            <a:r>
              <a:rPr lang="zh-CN" altLang="en-US" sz="2800" kern="0" dirty="0" smtClean="0">
                <a:solidFill>
                  <a:schemeClr val="tx1"/>
                </a:solidFill>
                <a:latin typeface="+mj-lt"/>
              </a:rPr>
              <a:t>吉以太网</a:t>
            </a:r>
            <a:endParaRPr lang="en-US" altLang="zh-CN" sz="2800" kern="0" dirty="0" smtClean="0">
              <a:solidFill>
                <a:schemeClr val="tx1"/>
              </a:solidFill>
              <a:latin typeface="+mj-lt"/>
            </a:endParaRPr>
          </a:p>
          <a:p>
            <a:pPr eaLnBrk="1" hangingPunct="1">
              <a:lnSpc>
                <a:spcPct val="90000"/>
              </a:lnSpc>
            </a:pPr>
            <a:r>
              <a:rPr lang="en-US" altLang="zh-CN" sz="2800" b="0" dirty="0" smtClean="0"/>
              <a:t>802.3z</a:t>
            </a:r>
            <a:r>
              <a:rPr lang="zh-CN" altLang="en-US" sz="2800" b="0" dirty="0"/>
              <a:t>（</a:t>
            </a:r>
            <a:r>
              <a:rPr lang="en-US" altLang="zh-CN" sz="2800" b="0" dirty="0" smtClean="0"/>
              <a:t>1000BaseX</a:t>
            </a:r>
            <a:r>
              <a:rPr lang="zh-CN" altLang="en-US" sz="2800" b="0" dirty="0" smtClean="0"/>
              <a:t>标准）</a:t>
            </a:r>
            <a:endParaRPr lang="zh-CN" altLang="en-US" sz="2800" b="0" dirty="0"/>
          </a:p>
          <a:p>
            <a:pPr lvl="1" eaLnBrk="1" hangingPunct="1">
              <a:spcBef>
                <a:spcPts val="600"/>
              </a:spcBef>
            </a:pPr>
            <a:r>
              <a:rPr lang="zh-CN" altLang="en-US" sz="2400" b="0" dirty="0"/>
              <a:t> </a:t>
            </a:r>
            <a:r>
              <a:rPr lang="en-US" altLang="zh-CN" sz="2400" b="0" dirty="0">
                <a:ea typeface="Arial Unicode MS" panose="020B0604020202020204" charset="-122"/>
              </a:rPr>
              <a:t>1000Base-SX</a:t>
            </a:r>
            <a:r>
              <a:rPr lang="en-US" altLang="zh-CN" sz="2400" b="0" dirty="0">
                <a:latin typeface="宋体" panose="02010600030101010101" pitchFamily="2" charset="-122"/>
              </a:rPr>
              <a:t> </a:t>
            </a:r>
            <a:r>
              <a:rPr lang="zh-CN" altLang="en-US" sz="2400" b="0" dirty="0">
                <a:latin typeface="宋体" panose="02010600030101010101" pitchFamily="2" charset="-122"/>
              </a:rPr>
              <a:t>针对短波长（</a:t>
            </a:r>
            <a:r>
              <a:rPr lang="en-US" altLang="zh-CN" sz="2400" b="0" dirty="0">
                <a:ea typeface="Arial Unicode MS" panose="020B0604020202020204" charset="-122"/>
              </a:rPr>
              <a:t>850nm</a:t>
            </a:r>
            <a:r>
              <a:rPr lang="zh-CN" altLang="en-US" sz="2400" b="0" dirty="0">
                <a:latin typeface="宋体" panose="02010600030101010101" pitchFamily="2" charset="-122"/>
              </a:rPr>
              <a:t>）的多模光纤上</a:t>
            </a:r>
          </a:p>
          <a:p>
            <a:pPr lvl="1" eaLnBrk="1" hangingPunct="1">
              <a:spcBef>
                <a:spcPts val="600"/>
              </a:spcBef>
            </a:pPr>
            <a:r>
              <a:rPr lang="en-US" altLang="zh-CN" sz="2400" b="0" dirty="0">
                <a:ea typeface="Arial Unicode MS" panose="020B0604020202020204" charset="-122"/>
              </a:rPr>
              <a:t>1000Base-LX</a:t>
            </a:r>
            <a:r>
              <a:rPr lang="en-US" altLang="zh-CN" sz="2400" b="0" dirty="0">
                <a:latin typeface="宋体" panose="02010600030101010101" pitchFamily="2" charset="-122"/>
              </a:rPr>
              <a:t> </a:t>
            </a:r>
            <a:r>
              <a:rPr lang="zh-CN" altLang="en-US" sz="2400" b="0" dirty="0">
                <a:latin typeface="宋体" panose="02010600030101010101" pitchFamily="2" charset="-122"/>
              </a:rPr>
              <a:t>针对长波长</a:t>
            </a:r>
            <a:r>
              <a:rPr lang="en-US" altLang="zh-CN" sz="2400" b="0" dirty="0">
                <a:ea typeface="Arial Unicode MS" panose="020B0604020202020204" charset="-122"/>
              </a:rPr>
              <a:t>(1300nm)</a:t>
            </a:r>
            <a:r>
              <a:rPr lang="zh-CN" altLang="en-US" sz="2400" b="0" dirty="0">
                <a:latin typeface="宋体" panose="02010600030101010101" pitchFamily="2" charset="-122"/>
              </a:rPr>
              <a:t>的单模或多模光纤</a:t>
            </a:r>
          </a:p>
          <a:p>
            <a:pPr lvl="1" eaLnBrk="1" hangingPunct="1">
              <a:spcBef>
                <a:spcPts val="600"/>
              </a:spcBef>
            </a:pPr>
            <a:r>
              <a:rPr lang="en-US" altLang="zh-CN" sz="2400" b="0" dirty="0">
                <a:ea typeface="Arial Unicode MS" panose="020B0604020202020204" charset="-122"/>
              </a:rPr>
              <a:t>1000Base-CX</a:t>
            </a:r>
            <a:r>
              <a:rPr lang="zh-CN" altLang="en-US" sz="2400" b="0" dirty="0">
                <a:latin typeface="宋体" panose="02010600030101010101" pitchFamily="2" charset="-122"/>
              </a:rPr>
              <a:t>就是针对低成本、优质的屏蔽双绞线或同轴电缆。</a:t>
            </a:r>
            <a:endParaRPr lang="zh-CN" altLang="en-US" sz="2400" b="0" dirty="0"/>
          </a:p>
          <a:p>
            <a:pPr eaLnBrk="1" hangingPunct="1">
              <a:lnSpc>
                <a:spcPct val="90000"/>
              </a:lnSpc>
            </a:pPr>
            <a:r>
              <a:rPr lang="en-US" altLang="zh-CN" sz="2800" b="0" dirty="0"/>
              <a:t>802.3ab</a:t>
            </a:r>
            <a:r>
              <a:rPr lang="zh-CN" altLang="en-US" sz="2800" b="0" dirty="0"/>
              <a:t>（</a:t>
            </a:r>
            <a:r>
              <a:rPr lang="en-US" altLang="zh-CN" sz="2800" b="0" dirty="0" smtClean="0"/>
              <a:t>1000BaseT</a:t>
            </a:r>
            <a:r>
              <a:rPr lang="zh-CN" altLang="en-US" sz="2800" b="0" dirty="0" smtClean="0"/>
              <a:t>标准）</a:t>
            </a:r>
            <a:endParaRPr lang="zh-CN" altLang="en-US" sz="2800" b="0" dirty="0">
              <a:latin typeface="宋体" panose="02010600030101010101" pitchFamily="2" charset="-122"/>
            </a:endParaRPr>
          </a:p>
          <a:p>
            <a:pPr lvl="1" eaLnBrk="1" hangingPunct="1">
              <a:lnSpc>
                <a:spcPct val="120000"/>
              </a:lnSpc>
              <a:spcBef>
                <a:spcPts val="1200"/>
              </a:spcBef>
            </a:pPr>
            <a:r>
              <a:rPr lang="zh-CN" altLang="en-US" sz="2400" b="0" dirty="0" smtClean="0">
                <a:latin typeface="宋体" panose="02010600030101010101" pitchFamily="2" charset="-122"/>
              </a:rPr>
              <a:t>使用</a:t>
            </a:r>
            <a:r>
              <a:rPr lang="en-US" altLang="zh-CN" sz="2400" b="0" dirty="0">
                <a:ea typeface="Arial Unicode MS" panose="020B0604020202020204" charset="-122"/>
              </a:rPr>
              <a:t>4</a:t>
            </a:r>
            <a:r>
              <a:rPr lang="zh-CN" altLang="en-US" sz="2400" b="0" dirty="0">
                <a:latin typeface="宋体" panose="02010600030101010101" pitchFamily="2" charset="-122"/>
              </a:rPr>
              <a:t>对</a:t>
            </a:r>
            <a:r>
              <a:rPr lang="en-US" altLang="zh-CN" sz="2400" b="0" dirty="0">
                <a:ea typeface="Arial Unicode MS" panose="020B0604020202020204" charset="-122"/>
              </a:rPr>
              <a:t>5</a:t>
            </a:r>
            <a:r>
              <a:rPr lang="zh-CN" altLang="en-US" sz="2400" b="0" dirty="0">
                <a:latin typeface="宋体" panose="02010600030101010101" pitchFamily="2" charset="-122"/>
              </a:rPr>
              <a:t>类、超</a:t>
            </a:r>
            <a:r>
              <a:rPr lang="en-US" altLang="zh-CN" sz="2400" b="0" dirty="0">
                <a:ea typeface="Arial Unicode MS" panose="020B0604020202020204" charset="-122"/>
              </a:rPr>
              <a:t>5</a:t>
            </a:r>
            <a:r>
              <a:rPr lang="zh-CN" altLang="en-US" sz="2400" b="0" dirty="0">
                <a:latin typeface="宋体" panose="02010600030101010101" pitchFamily="2" charset="-122"/>
              </a:rPr>
              <a:t>类、</a:t>
            </a:r>
            <a:r>
              <a:rPr lang="en-US" altLang="zh-CN" sz="2400" b="0" dirty="0">
                <a:ea typeface="Arial Unicode MS" panose="020B0604020202020204" charset="-122"/>
              </a:rPr>
              <a:t>6</a:t>
            </a:r>
            <a:r>
              <a:rPr lang="zh-CN" altLang="en-US" sz="2400" b="0" dirty="0">
                <a:latin typeface="宋体" panose="02010600030101010101" pitchFamily="2" charset="-122"/>
              </a:rPr>
              <a:t>类</a:t>
            </a:r>
            <a:r>
              <a:rPr lang="en-US" altLang="zh-CN" sz="2400" b="0" dirty="0">
                <a:ea typeface="Arial Unicode MS" panose="020B0604020202020204" charset="-122"/>
              </a:rPr>
              <a:t>UTP</a:t>
            </a:r>
            <a:r>
              <a:rPr lang="zh-CN" altLang="en-US" sz="2400" b="0" dirty="0">
                <a:latin typeface="宋体" panose="02010600030101010101" pitchFamily="2" charset="-122"/>
              </a:rPr>
              <a:t>双绞线，将传输距离扩展到</a:t>
            </a:r>
            <a:r>
              <a:rPr lang="en-US" altLang="zh-CN" sz="2400" b="0" dirty="0">
                <a:ea typeface="Arial Unicode MS" panose="020B0604020202020204" charset="-122"/>
              </a:rPr>
              <a:t>100</a:t>
            </a:r>
            <a:r>
              <a:rPr lang="zh-CN" altLang="en-US" sz="2400" b="0" dirty="0">
                <a:latin typeface="宋体" panose="02010600030101010101" pitchFamily="2" charset="-122"/>
              </a:rPr>
              <a:t>米，非屏蔽双绞线缆的工作方式，最长传输距离为</a:t>
            </a:r>
            <a:r>
              <a:rPr lang="en-US" altLang="zh-CN" sz="2400" b="0" dirty="0">
                <a:ea typeface="Arial Unicode MS" panose="020B0604020202020204" charset="-122"/>
              </a:rPr>
              <a:t>100</a:t>
            </a:r>
            <a:r>
              <a:rPr lang="zh-CN" altLang="en-US" sz="2400" b="0" dirty="0">
                <a:latin typeface="宋体" panose="02010600030101010101" pitchFamily="2" charset="-122"/>
              </a:rPr>
              <a:t>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fade">
                                      <p:cBhvr>
                                        <p:cTn id="7" dur="1000"/>
                                        <p:tgtEl>
                                          <p:spTgt spid="113667">
                                            <p:txEl>
                                              <p:pRg st="0" end="0"/>
                                            </p:txEl>
                                          </p:spTgt>
                                        </p:tgtEl>
                                      </p:cBhvr>
                                    </p:animEffect>
                                    <p:anim calcmode="lin" valueType="num">
                                      <p:cBhvr>
                                        <p:cTn id="8" dur="1000" fill="hold"/>
                                        <p:tgtEl>
                                          <p:spTgt spid="11366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366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3667">
                                            <p:txEl>
                                              <p:pRg st="1" end="1"/>
                                            </p:txEl>
                                          </p:spTgt>
                                        </p:tgtEl>
                                        <p:attrNameLst>
                                          <p:attrName>style.visibility</p:attrName>
                                        </p:attrNameLst>
                                      </p:cBhvr>
                                      <p:to>
                                        <p:strVal val="visible"/>
                                      </p:to>
                                    </p:set>
                                    <p:animEffect transition="in" filter="fade">
                                      <p:cBhvr>
                                        <p:cTn id="14" dur="1000"/>
                                        <p:tgtEl>
                                          <p:spTgt spid="113667">
                                            <p:txEl>
                                              <p:pRg st="1" end="1"/>
                                            </p:txEl>
                                          </p:spTgt>
                                        </p:tgtEl>
                                      </p:cBhvr>
                                    </p:animEffect>
                                    <p:anim calcmode="lin" valueType="num">
                                      <p:cBhvr>
                                        <p:cTn id="15" dur="1000" fill="hold"/>
                                        <p:tgtEl>
                                          <p:spTgt spid="11366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1366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13667">
                                            <p:txEl>
                                              <p:pRg st="2" end="2"/>
                                            </p:txEl>
                                          </p:spTgt>
                                        </p:tgtEl>
                                        <p:attrNameLst>
                                          <p:attrName>style.visibility</p:attrName>
                                        </p:attrNameLst>
                                      </p:cBhvr>
                                      <p:to>
                                        <p:strVal val="visible"/>
                                      </p:to>
                                    </p:set>
                                    <p:animEffect transition="in" filter="fade">
                                      <p:cBhvr>
                                        <p:cTn id="19" dur="1000"/>
                                        <p:tgtEl>
                                          <p:spTgt spid="113667">
                                            <p:txEl>
                                              <p:pRg st="2" end="2"/>
                                            </p:txEl>
                                          </p:spTgt>
                                        </p:tgtEl>
                                      </p:cBhvr>
                                    </p:animEffect>
                                    <p:anim calcmode="lin" valueType="num">
                                      <p:cBhvr>
                                        <p:cTn id="20" dur="1000" fill="hold"/>
                                        <p:tgtEl>
                                          <p:spTgt spid="11366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1366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3667">
                                            <p:txEl>
                                              <p:pRg st="3" end="3"/>
                                            </p:txEl>
                                          </p:spTgt>
                                        </p:tgtEl>
                                        <p:attrNameLst>
                                          <p:attrName>style.visibility</p:attrName>
                                        </p:attrNameLst>
                                      </p:cBhvr>
                                      <p:to>
                                        <p:strVal val="visible"/>
                                      </p:to>
                                    </p:set>
                                    <p:animEffect transition="in" filter="fade">
                                      <p:cBhvr>
                                        <p:cTn id="24" dur="1000"/>
                                        <p:tgtEl>
                                          <p:spTgt spid="113667">
                                            <p:txEl>
                                              <p:pRg st="3" end="3"/>
                                            </p:txEl>
                                          </p:spTgt>
                                        </p:tgtEl>
                                      </p:cBhvr>
                                    </p:animEffect>
                                    <p:anim calcmode="lin" valueType="num">
                                      <p:cBhvr>
                                        <p:cTn id="25" dur="1000" fill="hold"/>
                                        <p:tgtEl>
                                          <p:spTgt spid="11366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1366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3667">
                                            <p:txEl>
                                              <p:pRg st="4" end="4"/>
                                            </p:txEl>
                                          </p:spTgt>
                                        </p:tgtEl>
                                        <p:attrNameLst>
                                          <p:attrName>style.visibility</p:attrName>
                                        </p:attrNameLst>
                                      </p:cBhvr>
                                      <p:to>
                                        <p:strVal val="visible"/>
                                      </p:to>
                                    </p:set>
                                    <p:animEffect transition="in" filter="fade">
                                      <p:cBhvr>
                                        <p:cTn id="29" dur="1000"/>
                                        <p:tgtEl>
                                          <p:spTgt spid="113667">
                                            <p:txEl>
                                              <p:pRg st="4" end="4"/>
                                            </p:txEl>
                                          </p:spTgt>
                                        </p:tgtEl>
                                      </p:cBhvr>
                                    </p:animEffect>
                                    <p:anim calcmode="lin" valueType="num">
                                      <p:cBhvr>
                                        <p:cTn id="30" dur="1000" fill="hold"/>
                                        <p:tgtEl>
                                          <p:spTgt spid="11366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1366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13667">
                                            <p:txEl>
                                              <p:pRg st="5" end="5"/>
                                            </p:txEl>
                                          </p:spTgt>
                                        </p:tgtEl>
                                        <p:attrNameLst>
                                          <p:attrName>style.visibility</p:attrName>
                                        </p:attrNameLst>
                                      </p:cBhvr>
                                      <p:to>
                                        <p:strVal val="visible"/>
                                      </p:to>
                                    </p:set>
                                    <p:animEffect transition="in" filter="fade">
                                      <p:cBhvr>
                                        <p:cTn id="36" dur="1000"/>
                                        <p:tgtEl>
                                          <p:spTgt spid="113667">
                                            <p:txEl>
                                              <p:pRg st="5" end="5"/>
                                            </p:txEl>
                                          </p:spTgt>
                                        </p:tgtEl>
                                      </p:cBhvr>
                                    </p:animEffect>
                                    <p:anim calcmode="lin" valueType="num">
                                      <p:cBhvr>
                                        <p:cTn id="37" dur="1000" fill="hold"/>
                                        <p:tgtEl>
                                          <p:spTgt spid="113667">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113667">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3667">
                                            <p:txEl>
                                              <p:pRg st="6" end="6"/>
                                            </p:txEl>
                                          </p:spTgt>
                                        </p:tgtEl>
                                        <p:attrNameLst>
                                          <p:attrName>style.visibility</p:attrName>
                                        </p:attrNameLst>
                                      </p:cBhvr>
                                      <p:to>
                                        <p:strVal val="visible"/>
                                      </p:to>
                                    </p:set>
                                    <p:animEffect transition="in" filter="fade">
                                      <p:cBhvr>
                                        <p:cTn id="41" dur="1000"/>
                                        <p:tgtEl>
                                          <p:spTgt spid="113667">
                                            <p:txEl>
                                              <p:pRg st="6" end="6"/>
                                            </p:txEl>
                                          </p:spTgt>
                                        </p:tgtEl>
                                      </p:cBhvr>
                                    </p:animEffect>
                                    <p:anim calcmode="lin" valueType="num">
                                      <p:cBhvr>
                                        <p:cTn id="42" dur="1000" fill="hold"/>
                                        <p:tgtEl>
                                          <p:spTgt spid="113667">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11366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1447800" y="260350"/>
            <a:ext cx="7516688" cy="72072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mj-lt"/>
                <a:ea typeface="+mj-ea"/>
                <a:cs typeface="+mj-cs"/>
              </a:rPr>
              <a:t>千兆以太网改进技术（</a:t>
            </a:r>
            <a:r>
              <a:rPr kumimoji="1" lang="en-US" altLang="zh-CN" b="0" i="0" u="none" strike="noStrike" kern="0" cap="none" spc="0" normalizeH="0" baseline="0" noProof="0" dirty="0" smtClean="0">
                <a:ln>
                  <a:noFill/>
                </a:ln>
                <a:effectLst/>
                <a:uLnTx/>
                <a:uFillTx/>
                <a:latin typeface="+mj-lt"/>
                <a:ea typeface="+mj-ea"/>
                <a:cs typeface="+mj-cs"/>
              </a:rPr>
              <a:t>1</a:t>
            </a:r>
            <a:r>
              <a:rPr kumimoji="1" lang="zh-CN" altLang="en-US" b="0" i="0" u="none" strike="noStrike" kern="0" cap="none" spc="0" normalizeH="0" baseline="0" noProof="0" dirty="0" smtClean="0">
                <a:ln>
                  <a:noFill/>
                </a:ln>
                <a:effectLst/>
                <a:uLnTx/>
                <a:uFillTx/>
                <a:latin typeface="+mj-lt"/>
                <a:ea typeface="+mj-ea"/>
                <a:cs typeface="+mj-cs"/>
              </a:rPr>
              <a:t>）</a:t>
            </a:r>
          </a:p>
        </p:txBody>
      </p:sp>
      <p:sp>
        <p:nvSpPr>
          <p:cNvPr id="69635" name="Rectangle 3"/>
          <p:cNvSpPr>
            <a:spLocks noGrp="1"/>
          </p:cNvSpPr>
          <p:nvPr>
            <p:ph idx="1"/>
          </p:nvPr>
        </p:nvSpPr>
        <p:spPr>
          <a:xfrm>
            <a:off x="683568" y="1268760"/>
            <a:ext cx="7991475" cy="5040560"/>
          </a:xfrm>
        </p:spPr>
        <p:txBody>
          <a:bodyPr vert="horz" wrap="square" lIns="91440" tIns="45720" rIns="91440" bIns="45720" anchor="t"/>
          <a:lstStyle/>
          <a:p>
            <a:pPr eaLnBrk="1" fontAlgn="base" hangingPunct="1">
              <a:lnSpc>
                <a:spcPct val="110000"/>
              </a:lnSpc>
            </a:pPr>
            <a:r>
              <a:rPr lang="zh-CN" altLang="en-US" sz="2400" strike="noStrike" noProof="1" smtClean="0">
                <a:latin typeface="+mj-lt"/>
                <a:ea typeface="+mj-ea"/>
              </a:rPr>
              <a:t>千兆以太网保留</a:t>
            </a:r>
            <a:r>
              <a:rPr lang="zh-CN" altLang="en-US" sz="2400" strike="noStrike" noProof="1">
                <a:latin typeface="+mj-lt"/>
                <a:ea typeface="+mj-ea"/>
              </a:rPr>
              <a:t>了原来</a:t>
            </a:r>
            <a:r>
              <a:rPr lang="zh-CN" altLang="en-US" sz="2400" strike="noStrike" noProof="1" smtClean="0">
                <a:latin typeface="+mj-lt"/>
                <a:ea typeface="+mj-ea"/>
              </a:rPr>
              <a:t>的以太帧格式</a:t>
            </a:r>
            <a:r>
              <a:rPr lang="zh-CN" altLang="en-US" sz="2400" strike="noStrike" noProof="1">
                <a:latin typeface="+mj-lt"/>
                <a:ea typeface="+mj-ea"/>
              </a:rPr>
              <a:t>和CSMA／CD的基本内容，但引入了两项新技术：</a:t>
            </a:r>
            <a:r>
              <a:rPr lang="zh-CN" altLang="en-US" sz="2400" strike="noStrike" noProof="1">
                <a:gradFill>
                  <a:gsLst>
                    <a:gs pos="0">
                      <a:srgbClr val="E30000"/>
                    </a:gs>
                    <a:gs pos="100000">
                      <a:srgbClr val="760303"/>
                    </a:gs>
                  </a:gsLst>
                  <a:lin scaled="0"/>
                </a:gradFill>
                <a:latin typeface="+mj-lt"/>
                <a:ea typeface="+mj-ea"/>
              </a:rPr>
              <a:t>载波延伸 (carrier extension)</a:t>
            </a:r>
            <a:r>
              <a:rPr lang="zh-CN" altLang="en-US" sz="2400" strike="noStrike" noProof="1">
                <a:latin typeface="+mj-lt"/>
                <a:ea typeface="+mj-ea"/>
              </a:rPr>
              <a:t>和</a:t>
            </a:r>
            <a:r>
              <a:rPr lang="zh-CN" altLang="en-US" sz="2400" strike="noStrike" noProof="1">
                <a:gradFill>
                  <a:gsLst>
                    <a:gs pos="0">
                      <a:srgbClr val="E30000"/>
                    </a:gs>
                    <a:gs pos="100000">
                      <a:srgbClr val="760303"/>
                    </a:gs>
                  </a:gsLst>
                  <a:lin scaled="0"/>
                </a:gradFill>
                <a:latin typeface="+mj-lt"/>
                <a:ea typeface="+mj-ea"/>
              </a:rPr>
              <a:t>帧突发（packet bursting)</a:t>
            </a:r>
            <a:r>
              <a:rPr lang="zh-CN" altLang="en-US" sz="2400" strike="noStrike" noProof="1">
                <a:latin typeface="+mj-lt"/>
                <a:ea typeface="+mj-ea"/>
              </a:rPr>
              <a:t>。</a:t>
            </a:r>
          </a:p>
          <a:p>
            <a:pPr lvl="1" eaLnBrk="1" fontAlgn="base" hangingPunct="1">
              <a:lnSpc>
                <a:spcPct val="120000"/>
              </a:lnSpc>
              <a:spcBef>
                <a:spcPts val="600"/>
              </a:spcBef>
            </a:pPr>
            <a:r>
              <a:rPr lang="zh-CN" altLang="en-US" sz="2200" strike="noStrike" noProof="1"/>
              <a:t>千兆以太网可以采用</a:t>
            </a:r>
            <a:r>
              <a:rPr lang="zh-CN" altLang="en-US" sz="2200" strike="noStrike" noProof="1">
                <a:solidFill>
                  <a:srgbClr val="C00000"/>
                </a:solidFill>
              </a:rPr>
              <a:t>半双工</a:t>
            </a:r>
            <a:r>
              <a:rPr lang="zh-CN" altLang="en-US" sz="2200" strike="noStrike" noProof="1"/>
              <a:t>和</a:t>
            </a:r>
            <a:r>
              <a:rPr lang="zh-CN" altLang="en-US" sz="2200" strike="noStrike" noProof="1">
                <a:solidFill>
                  <a:srgbClr val="C00000"/>
                </a:solidFill>
              </a:rPr>
              <a:t>全双工</a:t>
            </a:r>
            <a:r>
              <a:rPr lang="zh-CN" altLang="en-US" sz="2200" strike="noStrike" noProof="1"/>
              <a:t>两种方式，在全双工模式下，无冲突发生，不使用冲突检测。</a:t>
            </a:r>
          </a:p>
          <a:p>
            <a:pPr lvl="1" eaLnBrk="1" fontAlgn="base" hangingPunct="1">
              <a:lnSpc>
                <a:spcPct val="120000"/>
              </a:lnSpc>
              <a:spcBef>
                <a:spcPts val="600"/>
              </a:spcBef>
            </a:pPr>
            <a:r>
              <a:rPr lang="zh-CN" altLang="en-US" sz="2200" strike="noStrike" noProof="1"/>
              <a:t>千兆以太网的</a:t>
            </a:r>
            <a:r>
              <a:rPr lang="zh-CN" altLang="en-US" sz="2200" strike="noStrike" noProof="1">
                <a:solidFill>
                  <a:srgbClr val="C00000"/>
                </a:solidFill>
              </a:rPr>
              <a:t>最小帧长仍保持64字节</a:t>
            </a:r>
            <a:r>
              <a:rPr lang="zh-CN" altLang="en-US" sz="2200" strike="noStrike" noProof="1"/>
              <a:t>不变，但规定</a:t>
            </a:r>
            <a:r>
              <a:rPr lang="zh-CN" altLang="en-US" sz="2200" strike="noStrike" noProof="1">
                <a:solidFill>
                  <a:srgbClr val="C00000"/>
                </a:solidFill>
              </a:rPr>
              <a:t>争用期为512字节</a:t>
            </a:r>
            <a:r>
              <a:rPr lang="zh-CN" altLang="en-US" sz="2200" strike="noStrike" noProof="1"/>
              <a:t>。当发送一帧时，如果帧长小于512字节，那么物理层将发送一个特殊的“</a:t>
            </a:r>
            <a:r>
              <a:rPr lang="zh-CN" altLang="en-US" sz="2200" strike="noStrike" noProof="1">
                <a:solidFill>
                  <a:srgbClr val="C00000"/>
                </a:solidFill>
              </a:rPr>
              <a:t>扩展载波</a:t>
            </a:r>
            <a:r>
              <a:rPr lang="zh-CN" altLang="en-US" sz="2200" strike="noStrike" noProof="1"/>
              <a:t>”符号序列进行填充，</a:t>
            </a:r>
            <a:r>
              <a:rPr lang="zh-CN" altLang="en-US" sz="2200" strike="noStrike" noProof="1" smtClean="0"/>
              <a:t>直至发送时长</a:t>
            </a:r>
            <a:r>
              <a:rPr lang="zh-CN" altLang="en-US" sz="2200" strike="noStrike" noProof="1"/>
              <a:t>达到512字节。</a:t>
            </a:r>
          </a:p>
          <a:p>
            <a:pPr lvl="1" eaLnBrk="1" fontAlgn="base" hangingPunct="1">
              <a:lnSpc>
                <a:spcPct val="120000"/>
              </a:lnSpc>
              <a:spcBef>
                <a:spcPts val="600"/>
              </a:spcBef>
            </a:pPr>
            <a:r>
              <a:rPr lang="zh-CN" altLang="en-US" sz="2200" strike="noStrike" noProof="1">
                <a:solidFill>
                  <a:srgbClr val="C00000"/>
                </a:solidFill>
              </a:rPr>
              <a:t>为了改善短帧的传送效率</a:t>
            </a:r>
            <a:r>
              <a:rPr lang="zh-CN" altLang="en-US" sz="2200" strike="noStrike" noProof="1"/>
              <a:t>，千兆以太网标准又增加了帧突发的功能。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6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1447800" y="260350"/>
            <a:ext cx="7444680" cy="72072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mj-lt"/>
                <a:ea typeface="+mj-ea"/>
                <a:cs typeface="+mj-cs"/>
              </a:rPr>
              <a:t>千兆以太网改进技术（</a:t>
            </a:r>
            <a:r>
              <a:rPr kumimoji="1" lang="en-US" altLang="zh-CN" b="0" i="0" u="none" strike="noStrike" kern="0" cap="none" spc="0" normalizeH="0" baseline="0" noProof="0" dirty="0" smtClean="0">
                <a:ln>
                  <a:noFill/>
                </a:ln>
                <a:effectLst/>
                <a:uLnTx/>
                <a:uFillTx/>
                <a:latin typeface="+mj-lt"/>
                <a:ea typeface="+mj-ea"/>
                <a:cs typeface="+mj-cs"/>
              </a:rPr>
              <a:t>2</a:t>
            </a:r>
            <a:r>
              <a:rPr kumimoji="1" lang="zh-CN" altLang="en-US" b="0" i="0" u="none" strike="noStrike" kern="0" cap="none" spc="0" normalizeH="0" baseline="0" noProof="0" dirty="0" smtClean="0">
                <a:ln>
                  <a:noFill/>
                </a:ln>
                <a:effectLst/>
                <a:uLnTx/>
                <a:uFillTx/>
                <a:latin typeface="+mj-lt"/>
                <a:ea typeface="+mj-ea"/>
                <a:cs typeface="+mj-cs"/>
              </a:rPr>
              <a:t>）</a:t>
            </a:r>
          </a:p>
        </p:txBody>
      </p:sp>
      <p:sp>
        <p:nvSpPr>
          <p:cNvPr id="51202" name="Rectangle 3"/>
          <p:cNvSpPr>
            <a:spLocks noGrp="1"/>
          </p:cNvSpPr>
          <p:nvPr>
            <p:ph idx="1"/>
          </p:nvPr>
        </p:nvSpPr>
        <p:spPr>
          <a:xfrm>
            <a:off x="510480" y="1295573"/>
            <a:ext cx="8382000" cy="3293209"/>
          </a:xfrm>
        </p:spPr>
        <p:txBody>
          <a:bodyPr vert="horz" wrap="square" lIns="91440" tIns="45720" rIns="91440" bIns="45720" anchor="t">
            <a:spAutoFit/>
          </a:bodyPr>
          <a:lstStyle/>
          <a:p>
            <a:pPr eaLnBrk="1" hangingPunct="1"/>
            <a:r>
              <a:rPr lang="zh-CN" altLang="en-US" dirty="0">
                <a:ea typeface="黑体" panose="02010609060101010101" pitchFamily="49" charset="-122"/>
              </a:rPr>
              <a:t>帧突发</a:t>
            </a:r>
          </a:p>
          <a:p>
            <a:pPr lvl="1" eaLnBrk="1" hangingPunct="1"/>
            <a:r>
              <a:rPr lang="zh-CN" sz="2000" dirty="0"/>
              <a:t>发方被允许</a:t>
            </a:r>
            <a:r>
              <a:rPr lang="zh-CN" sz="2000" dirty="0">
                <a:solidFill>
                  <a:srgbClr val="C00000"/>
                </a:solidFill>
              </a:rPr>
              <a:t>连续发送若干帧</a:t>
            </a:r>
            <a:r>
              <a:rPr lang="zh-CN" sz="2000" dirty="0"/>
              <a:t>，其中第一个帧按CSMA</a:t>
            </a:r>
            <a:r>
              <a:rPr lang="en-US" altLang="zh-CN" sz="2000" dirty="0"/>
              <a:t>/</a:t>
            </a:r>
            <a:r>
              <a:rPr lang="zh-CN" sz="2000" dirty="0"/>
              <a:t>CD规则发送。</a:t>
            </a:r>
          </a:p>
          <a:p>
            <a:pPr lvl="1" eaLnBrk="1" hangingPunct="1"/>
            <a:r>
              <a:rPr lang="zh-CN" sz="2000" dirty="0">
                <a:solidFill>
                  <a:srgbClr val="C00000"/>
                </a:solidFill>
              </a:rPr>
              <a:t>第一个短帧，必须</a:t>
            </a:r>
            <a:r>
              <a:rPr lang="zh-CN" altLang="zh-CN" sz="2000" dirty="0">
                <a:solidFill>
                  <a:srgbClr val="C00000"/>
                </a:solidFill>
              </a:rPr>
              <a:t>进行</a:t>
            </a:r>
            <a:r>
              <a:rPr lang="zh-CN" sz="2000" dirty="0">
                <a:solidFill>
                  <a:srgbClr val="C00000"/>
                </a:solidFill>
              </a:rPr>
              <a:t>载波扩展至一个512B时槽</a:t>
            </a:r>
            <a:r>
              <a:rPr lang="zh-CN" sz="2000" dirty="0"/>
              <a:t>。若该帧发送成功，发方就可继续发其他帧直至发完数据或达到一次帧突发的最大长度限制。</a:t>
            </a:r>
          </a:p>
          <a:p>
            <a:pPr lvl="1" eaLnBrk="1" hangingPunct="1"/>
            <a:r>
              <a:rPr lang="zh-CN" sz="2000" dirty="0" smtClean="0"/>
              <a:t>发</a:t>
            </a:r>
            <a:r>
              <a:rPr lang="zh-CN" sz="2000" dirty="0"/>
              <a:t>方为了连续占有信道，</a:t>
            </a:r>
            <a:r>
              <a:rPr lang="zh-CN" sz="2000" dirty="0">
                <a:solidFill>
                  <a:srgbClr val="C00000"/>
                </a:solidFill>
              </a:rPr>
              <a:t>用96位载波扩展填充帧间隙IFG</a:t>
            </a:r>
            <a:r>
              <a:rPr lang="zh-CN" sz="2000" dirty="0"/>
              <a:t>，这样其他主机在IFG期间仍可继续监听到载波，不会启动发送。</a:t>
            </a:r>
          </a:p>
          <a:p>
            <a:pPr lvl="1" eaLnBrk="1" hangingPunct="1"/>
            <a:r>
              <a:rPr lang="zh-CN" sz="2000" dirty="0">
                <a:solidFill>
                  <a:srgbClr val="C00000"/>
                </a:solidFill>
              </a:rPr>
              <a:t>冲突只能发生在第一个时槽之内</a:t>
            </a:r>
            <a:r>
              <a:rPr lang="zh-CN" sz="2000" dirty="0"/>
              <a:t>。因此，以后连续发送的帧即使是短帧也不必再进行载波扩展。</a:t>
            </a:r>
          </a:p>
        </p:txBody>
      </p:sp>
      <p:sp>
        <p:nvSpPr>
          <p:cNvPr id="51203" name="Rectangle 5"/>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6" name="Object 4"/>
          <p:cNvGraphicFramePr/>
          <p:nvPr/>
        </p:nvGraphicFramePr>
        <p:xfrm>
          <a:off x="848617" y="4615941"/>
          <a:ext cx="7705725" cy="1268413"/>
        </p:xfrm>
        <a:graphic>
          <a:graphicData uri="http://schemas.openxmlformats.org/presentationml/2006/ole">
            <mc:AlternateContent xmlns:mc="http://schemas.openxmlformats.org/markup-compatibility/2006">
              <mc:Choice xmlns:v="urn:schemas-microsoft-com:vml" Requires="v">
                <p:oleObj spid="_x0000_s116771" r:id="rId3" imgW="5637530" imgH="929005" progId="Visio.Drawing.11">
                  <p:embed/>
                </p:oleObj>
              </mc:Choice>
              <mc:Fallback>
                <p:oleObj r:id="rId3" imgW="5637530" imgH="929005" progId="Visio.Drawing.11">
                  <p:embed/>
                  <p:pic>
                    <p:nvPicPr>
                      <p:cNvPr id="0" name="Object 4"/>
                      <p:cNvPicPr/>
                      <p:nvPr/>
                    </p:nvPicPr>
                    <p:blipFill>
                      <a:blip r:embed="rId4"/>
                      <a:stretch>
                        <a:fillRect/>
                      </a:stretch>
                    </p:blipFill>
                    <p:spPr>
                      <a:xfrm>
                        <a:off x="848617" y="4615941"/>
                        <a:ext cx="7705725" cy="12684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1115616" y="367010"/>
            <a:ext cx="7772400" cy="61406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b="0" i="0" u="none" strike="noStrike" kern="0" cap="none" spc="0" normalizeH="0" baseline="0" noProof="0" dirty="0" smtClean="0">
                <a:ln>
                  <a:noFill/>
                </a:ln>
                <a:effectLst/>
                <a:uLnTx/>
                <a:uFillTx/>
                <a:latin typeface="+mj-lt"/>
                <a:ea typeface="+mj-ea"/>
                <a:cs typeface="+mj-cs"/>
              </a:rPr>
              <a:t>10</a:t>
            </a:r>
            <a:r>
              <a:rPr kumimoji="1" lang="zh-CN" altLang="en-US" b="0" i="0" u="none" strike="noStrike" kern="0" cap="none" spc="0" normalizeH="0" baseline="0" noProof="0" dirty="0" smtClean="0">
                <a:ln>
                  <a:noFill/>
                </a:ln>
                <a:effectLst/>
                <a:uLnTx/>
                <a:uFillTx/>
                <a:latin typeface="+mj-lt"/>
                <a:ea typeface="+mj-ea"/>
                <a:cs typeface="+mj-cs"/>
              </a:rPr>
              <a:t>吉比特以太网 </a:t>
            </a:r>
          </a:p>
        </p:txBody>
      </p:sp>
      <p:sp>
        <p:nvSpPr>
          <p:cNvPr id="52226" name="Rectangle 3"/>
          <p:cNvSpPr>
            <a:spLocks noGrp="1"/>
          </p:cNvSpPr>
          <p:nvPr>
            <p:ph idx="1"/>
          </p:nvPr>
        </p:nvSpPr>
        <p:spPr>
          <a:xfrm>
            <a:off x="611560" y="1340768"/>
            <a:ext cx="7993063" cy="3524042"/>
          </a:xfrm>
        </p:spPr>
        <p:txBody>
          <a:bodyPr vert="horz" wrap="square" lIns="91440" tIns="45720" rIns="91440" bIns="45720" anchor="t">
            <a:spAutoFit/>
          </a:bodyPr>
          <a:lstStyle/>
          <a:p>
            <a:pPr algn="just" eaLnBrk="1" hangingPunct="1">
              <a:lnSpc>
                <a:spcPct val="90000"/>
              </a:lnSpc>
            </a:pPr>
            <a:r>
              <a:rPr lang="en-US" altLang="zh-CN" sz="2800" dirty="0" smtClean="0">
                <a:latin typeface="黑体" panose="02010609060101010101" pitchFamily="49" charset="-122"/>
                <a:ea typeface="黑体" panose="02010609060101010101" pitchFamily="49" charset="-122"/>
              </a:rPr>
              <a:t>10</a:t>
            </a:r>
            <a:r>
              <a:rPr lang="zh-CN" altLang="en-US" sz="2800" dirty="0" smtClean="0">
                <a:latin typeface="黑体" panose="02010609060101010101" pitchFamily="49" charset="-122"/>
                <a:ea typeface="黑体" panose="02010609060101010101" pitchFamily="49" charset="-122"/>
              </a:rPr>
              <a:t>吉比特以太网（万兆以太网）特点</a:t>
            </a:r>
            <a:endParaRPr lang="zh-CN" altLang="en-US" sz="2800" dirty="0">
              <a:latin typeface="黑体" panose="02010609060101010101" pitchFamily="49" charset="-122"/>
              <a:ea typeface="黑体" panose="02010609060101010101" pitchFamily="49" charset="-122"/>
            </a:endParaRPr>
          </a:p>
          <a:p>
            <a:pPr marL="901700" lvl="1" indent="-444500" algn="just" eaLnBrk="1" hangingPunct="1">
              <a:lnSpc>
                <a:spcPct val="120000"/>
              </a:lnSpc>
              <a:spcBef>
                <a:spcPts val="600"/>
              </a:spcBef>
            </a:pPr>
            <a:r>
              <a:rPr lang="zh-CN" altLang="en-US" sz="2400" dirty="0" smtClean="0">
                <a:latin typeface="宋体" panose="02010600030101010101" pitchFamily="2" charset="-122"/>
              </a:rPr>
              <a:t>不再</a:t>
            </a:r>
            <a:r>
              <a:rPr lang="zh-CN" altLang="en-US" sz="2400" dirty="0">
                <a:latin typeface="宋体" panose="02010600030101010101" pitchFamily="2" charset="-122"/>
              </a:rPr>
              <a:t>支持单工模式，只定义了</a:t>
            </a:r>
            <a:r>
              <a:rPr lang="zh-CN" altLang="en-US" sz="2400" dirty="0">
                <a:solidFill>
                  <a:srgbClr val="FF3300"/>
                </a:solidFill>
                <a:latin typeface="宋体" panose="02010600030101010101" pitchFamily="2" charset="-122"/>
              </a:rPr>
              <a:t>全双工模式</a:t>
            </a:r>
            <a:r>
              <a:rPr lang="zh-CN" altLang="en-US" sz="2400" dirty="0">
                <a:latin typeface="宋体" panose="02010600030101010101" pitchFamily="2" charset="-122"/>
              </a:rPr>
              <a:t>；</a:t>
            </a:r>
            <a:endParaRPr lang="zh-CN" altLang="en-US" sz="2400" dirty="0">
              <a:latin typeface="宋体" panose="02010600030101010101" pitchFamily="2" charset="-122"/>
              <a:ea typeface="Arial Unicode MS" panose="020B0604020202020204" charset="-122"/>
            </a:endParaRPr>
          </a:p>
          <a:p>
            <a:pPr marL="901700" lvl="1" indent="-444500" algn="just" eaLnBrk="1" hangingPunct="1">
              <a:lnSpc>
                <a:spcPct val="120000"/>
              </a:lnSpc>
              <a:spcBef>
                <a:spcPts val="600"/>
              </a:spcBef>
            </a:pPr>
            <a:r>
              <a:rPr lang="zh-CN" altLang="en-US" sz="2400" dirty="0" smtClean="0">
                <a:latin typeface="宋体" panose="02010600030101010101" pitchFamily="2" charset="-122"/>
              </a:rPr>
              <a:t>由于</a:t>
            </a:r>
            <a:r>
              <a:rPr lang="zh-CN" altLang="en-US" sz="2400" dirty="0">
                <a:latin typeface="宋体" panose="02010600030101010101" pitchFamily="2" charset="-122"/>
              </a:rPr>
              <a:t>传输速率高，只能使用</a:t>
            </a:r>
            <a:r>
              <a:rPr lang="zh-CN" altLang="en-US" sz="2400" dirty="0">
                <a:solidFill>
                  <a:srgbClr val="FF3300"/>
                </a:solidFill>
                <a:latin typeface="宋体" panose="02010600030101010101" pitchFamily="2" charset="-122"/>
              </a:rPr>
              <a:t>光纤</a:t>
            </a:r>
            <a:r>
              <a:rPr lang="zh-CN" altLang="en-US" sz="2400" dirty="0">
                <a:latin typeface="宋体" panose="02010600030101010101" pitchFamily="2" charset="-122"/>
              </a:rPr>
              <a:t>作为传输介质；</a:t>
            </a:r>
            <a:endParaRPr lang="zh-CN" altLang="en-US" sz="2400" dirty="0">
              <a:latin typeface="宋体" panose="02010600030101010101" pitchFamily="2" charset="-122"/>
              <a:ea typeface="Arial Unicode MS" panose="020B0604020202020204" charset="-122"/>
            </a:endParaRPr>
          </a:p>
          <a:p>
            <a:pPr marL="901700" lvl="1" indent="-444500" algn="just" eaLnBrk="1" hangingPunct="1">
              <a:lnSpc>
                <a:spcPct val="120000"/>
              </a:lnSpc>
              <a:spcBef>
                <a:spcPts val="600"/>
              </a:spcBef>
            </a:pPr>
            <a:r>
              <a:rPr lang="zh-CN" altLang="en-US" sz="2400" dirty="0" smtClean="0">
                <a:solidFill>
                  <a:srgbClr val="FF3300"/>
                </a:solidFill>
                <a:latin typeface="宋体" panose="02010600030101010101" pitchFamily="2" charset="-122"/>
              </a:rPr>
              <a:t>不</a:t>
            </a:r>
            <a:r>
              <a:rPr lang="zh-CN" altLang="en-US" sz="2400" dirty="0">
                <a:solidFill>
                  <a:srgbClr val="FF3300"/>
                </a:solidFill>
                <a:latin typeface="宋体" panose="02010600030101010101" pitchFamily="2" charset="-122"/>
              </a:rPr>
              <a:t>采用</a:t>
            </a:r>
            <a:r>
              <a:rPr lang="zh-CN" altLang="en-US" sz="2400" dirty="0">
                <a:latin typeface="宋体" panose="02010600030101010101" pitchFamily="2" charset="-122"/>
              </a:rPr>
              <a:t>带冲突检测的载波监听多址访问协议（</a:t>
            </a:r>
            <a:r>
              <a:rPr lang="en-US" altLang="zh-CN" sz="2400" dirty="0">
                <a:latin typeface="宋体" panose="02010600030101010101" pitchFamily="2" charset="-122"/>
                <a:ea typeface="Arial Unicode MS" panose="020B0604020202020204" charset="-122"/>
              </a:rPr>
              <a:t>CSMA/CD</a:t>
            </a:r>
            <a:r>
              <a:rPr lang="zh-CN" altLang="en-US" sz="2400" dirty="0">
                <a:latin typeface="宋体" panose="02010600030101010101" pitchFamily="2" charset="-122"/>
              </a:rPr>
              <a:t>）协议；</a:t>
            </a:r>
            <a:endParaRPr lang="zh-CN" altLang="en-US" sz="2400" dirty="0">
              <a:latin typeface="宋体" panose="02010600030101010101" pitchFamily="2" charset="-122"/>
              <a:ea typeface="Arial Unicode MS" panose="020B0604020202020204" charset="-122"/>
            </a:endParaRPr>
          </a:p>
          <a:p>
            <a:pPr marL="901700" lvl="1" indent="-444500" algn="just" eaLnBrk="1" hangingPunct="1">
              <a:lnSpc>
                <a:spcPct val="120000"/>
              </a:lnSpc>
              <a:spcBef>
                <a:spcPts val="600"/>
              </a:spcBef>
            </a:pPr>
            <a:r>
              <a:rPr lang="zh-CN" altLang="en-US" sz="2400" dirty="0" smtClean="0">
                <a:latin typeface="宋体" panose="02010600030101010101" pitchFamily="2" charset="-122"/>
              </a:rPr>
              <a:t>使用</a:t>
            </a:r>
            <a:r>
              <a:rPr lang="en-US" altLang="zh-CN" sz="2400" dirty="0">
                <a:solidFill>
                  <a:srgbClr val="FF3300"/>
                </a:solidFill>
                <a:latin typeface="宋体" panose="02010600030101010101" pitchFamily="2" charset="-122"/>
                <a:ea typeface="Arial Unicode MS" panose="020B0604020202020204" charset="-122"/>
              </a:rPr>
              <a:t>64B/66B</a:t>
            </a:r>
            <a:r>
              <a:rPr lang="zh-CN" altLang="en-US" sz="2400" dirty="0">
                <a:solidFill>
                  <a:srgbClr val="FF3300"/>
                </a:solidFill>
                <a:latin typeface="宋体" panose="02010600030101010101" pitchFamily="2" charset="-122"/>
              </a:rPr>
              <a:t>和</a:t>
            </a:r>
            <a:r>
              <a:rPr lang="en-US" altLang="zh-CN" sz="2400" dirty="0">
                <a:solidFill>
                  <a:srgbClr val="FF3300"/>
                </a:solidFill>
                <a:latin typeface="宋体" panose="02010600030101010101" pitchFamily="2" charset="-122"/>
                <a:ea typeface="Arial Unicode MS" panose="020B0604020202020204" charset="-122"/>
              </a:rPr>
              <a:t>8B/10B</a:t>
            </a:r>
            <a:r>
              <a:rPr lang="zh-CN" altLang="en-US" sz="2400" dirty="0">
                <a:latin typeface="宋体" panose="02010600030101010101" pitchFamily="2" charset="-122"/>
              </a:rPr>
              <a:t>两种编码方式；</a:t>
            </a:r>
            <a:endParaRPr lang="zh-CN" altLang="en-US" sz="2400" dirty="0">
              <a:latin typeface="宋体" panose="02010600030101010101" pitchFamily="2" charset="-122"/>
              <a:ea typeface="Arial Unicode MS" panose="020B0604020202020204" charset="-122"/>
            </a:endParaRPr>
          </a:p>
          <a:p>
            <a:pPr marL="901700" lvl="1" indent="-444500" algn="just" eaLnBrk="1" hangingPunct="1">
              <a:lnSpc>
                <a:spcPct val="120000"/>
              </a:lnSpc>
              <a:spcBef>
                <a:spcPts val="600"/>
              </a:spcBef>
            </a:pPr>
            <a:r>
              <a:rPr lang="zh-CN" altLang="en-US" sz="2400" dirty="0" smtClean="0">
                <a:latin typeface="宋体" panose="02010600030101010101" pitchFamily="2" charset="-122"/>
              </a:rPr>
              <a:t>定义</a:t>
            </a:r>
            <a:r>
              <a:rPr lang="zh-CN" altLang="en-US" sz="2400" dirty="0">
                <a:latin typeface="宋体" panose="02010600030101010101" pitchFamily="2" charset="-122"/>
              </a:rPr>
              <a:t>了</a:t>
            </a:r>
            <a:r>
              <a:rPr lang="zh-CN" altLang="en-US" sz="2400" dirty="0">
                <a:solidFill>
                  <a:srgbClr val="FF3300"/>
                </a:solidFill>
                <a:latin typeface="宋体" panose="02010600030101010101" pitchFamily="2" charset="-122"/>
              </a:rPr>
              <a:t>两种物理层</a:t>
            </a:r>
            <a:r>
              <a:rPr lang="zh-CN" altLang="en-US" sz="2400" dirty="0">
                <a:latin typeface="宋体" panose="02010600030101010101" pitchFamily="2" charset="-122"/>
              </a:rPr>
              <a:t>，分别用于支持局域网和广域网。</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971600" y="390004"/>
            <a:ext cx="7772400" cy="542057"/>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b="0" i="0" u="none" strike="noStrike" kern="0" cap="none" spc="0" normalizeH="0" baseline="0" noProof="0" dirty="0" smtClean="0">
                <a:ln>
                  <a:noFill/>
                </a:ln>
                <a:effectLst/>
                <a:uLnTx/>
                <a:uFillTx/>
                <a:latin typeface="+mj-ea"/>
                <a:cs typeface="+mj-cs"/>
              </a:rPr>
              <a:t>40/100G </a:t>
            </a:r>
            <a:r>
              <a:rPr kumimoji="1" lang="zh-CN" altLang="en-US" b="0" i="0" u="none" strike="noStrike" kern="0" cap="none" spc="0" normalizeH="0" baseline="0" noProof="0" dirty="0" smtClean="0">
                <a:ln>
                  <a:noFill/>
                </a:ln>
                <a:effectLst/>
                <a:uLnTx/>
                <a:uFillTx/>
                <a:latin typeface="+mj-ea"/>
                <a:cs typeface="+mj-cs"/>
              </a:rPr>
              <a:t>以太网</a:t>
            </a:r>
          </a:p>
        </p:txBody>
      </p:sp>
      <p:sp>
        <p:nvSpPr>
          <p:cNvPr id="52226" name="Rectangle 3"/>
          <p:cNvSpPr>
            <a:spLocks noGrp="1"/>
          </p:cNvSpPr>
          <p:nvPr>
            <p:ph idx="1"/>
          </p:nvPr>
        </p:nvSpPr>
        <p:spPr>
          <a:xfrm>
            <a:off x="602030" y="1268760"/>
            <a:ext cx="8141970" cy="4773230"/>
          </a:xfrm>
        </p:spPr>
        <p:txBody>
          <a:bodyPr vert="horz" wrap="square" lIns="91440" tIns="45720" rIns="91440" bIns="45720" anchor="t">
            <a:spAutoFit/>
          </a:bodyPr>
          <a:lstStyle/>
          <a:p>
            <a:pPr algn="just" eaLnBrk="1" hangingPunct="1">
              <a:lnSpc>
                <a:spcPct val="120000"/>
              </a:lnSpc>
              <a:spcBef>
                <a:spcPts val="600"/>
              </a:spcBef>
              <a:buFont typeface="Wingdings" panose="05000000000000000000" charset="0"/>
              <a:buChar char="l"/>
            </a:pPr>
            <a:r>
              <a:rPr sz="2400" dirty="0">
                <a:latin typeface="宋体" panose="02010600030101010101" pitchFamily="2" charset="-122"/>
              </a:rPr>
              <a:t>2006年7月，IEEE802.3成立了高速研究小组（HSSG）来定义</a:t>
            </a:r>
            <a:r>
              <a:rPr sz="2400" dirty="0">
                <a:solidFill>
                  <a:srgbClr val="C00000"/>
                </a:solidFill>
                <a:latin typeface="宋体" panose="02010600030101010101" pitchFamily="2" charset="-122"/>
              </a:rPr>
              <a:t>100G比特以太网（GbE）标准</a:t>
            </a:r>
            <a:r>
              <a:rPr sz="2400" dirty="0">
                <a:latin typeface="宋体" panose="02010600030101010101" pitchFamily="2" charset="-122"/>
              </a:rPr>
              <a:t>，2007年12月，HSSG正式转变为</a:t>
            </a:r>
            <a:r>
              <a:rPr sz="2400" dirty="0">
                <a:solidFill>
                  <a:srgbClr val="C00000"/>
                </a:solidFill>
                <a:latin typeface="宋体" panose="02010600030101010101" pitchFamily="2" charset="-122"/>
              </a:rPr>
              <a:t>IEEE802.3ba</a:t>
            </a:r>
            <a:r>
              <a:rPr sz="2400" dirty="0">
                <a:latin typeface="宋体" panose="02010600030101010101" pitchFamily="2" charset="-122"/>
              </a:rPr>
              <a:t>特别工作小组，来制定在光纤和铜线上实现40 Gbps和100 Gbps数据速率的以太网标准。</a:t>
            </a:r>
          </a:p>
          <a:p>
            <a:pPr lvl="1" algn="just" eaLnBrk="1" hangingPunct="1">
              <a:lnSpc>
                <a:spcPct val="120000"/>
              </a:lnSpc>
              <a:spcBef>
                <a:spcPts val="600"/>
              </a:spcBef>
              <a:buFont typeface="Wingdings" panose="05000000000000000000" charset="0"/>
              <a:buChar char="ü"/>
            </a:pPr>
            <a:r>
              <a:rPr sz="2400" dirty="0">
                <a:latin typeface="宋体" panose="02010600030101010101" pitchFamily="2" charset="-122"/>
              </a:rPr>
              <a:t>100Gbps以太网适用于聚合及核心网络应用</a:t>
            </a:r>
          </a:p>
          <a:p>
            <a:pPr lvl="1" algn="just" eaLnBrk="1" hangingPunct="1">
              <a:lnSpc>
                <a:spcPct val="120000"/>
              </a:lnSpc>
              <a:spcBef>
                <a:spcPts val="600"/>
              </a:spcBef>
              <a:buFont typeface="Wingdings" panose="05000000000000000000" charset="0"/>
              <a:buChar char="ü"/>
            </a:pPr>
            <a:r>
              <a:rPr sz="2400" dirty="0">
                <a:latin typeface="宋体" panose="02010600030101010101" pitchFamily="2" charset="-122"/>
              </a:rPr>
              <a:t>40 Gbps以太网则适用于服务器和存储应用</a:t>
            </a:r>
          </a:p>
          <a:p>
            <a:pPr algn="just" eaLnBrk="1" hangingPunct="1">
              <a:lnSpc>
                <a:spcPct val="120000"/>
              </a:lnSpc>
              <a:spcBef>
                <a:spcPts val="600"/>
              </a:spcBef>
            </a:pPr>
            <a:r>
              <a:rPr sz="2400" dirty="0">
                <a:latin typeface="宋体" panose="02010600030101010101" pitchFamily="2" charset="-122"/>
              </a:rPr>
              <a:t>40G/100G以太网保留了早期以太网的一些规范，例如仍采用以太网MAC帧的格式，和10GE接口一样，仅支持全双工模式，支持光纤物理承载与数据传送方式等。</a:t>
            </a:r>
          </a:p>
          <a:p>
            <a:pPr algn="just" eaLnBrk="1" hangingPunct="1">
              <a:lnSpc>
                <a:spcPct val="120000"/>
              </a:lnSpc>
              <a:spcBef>
                <a:spcPts val="600"/>
              </a:spcBef>
            </a:pPr>
            <a:r>
              <a:rPr sz="2400" dirty="0" smtClean="0">
                <a:latin typeface="宋体" panose="02010600030101010101" pitchFamily="2" charset="-122"/>
                <a:sym typeface="+mn-ea"/>
              </a:rPr>
              <a:t>40G/100G</a:t>
            </a:r>
            <a:r>
              <a:rPr sz="2400" dirty="0" smtClean="0">
                <a:latin typeface="宋体" panose="02010600030101010101" pitchFamily="2" charset="-122"/>
              </a:rPr>
              <a:t>通过CGMII/</a:t>
            </a:r>
            <a:r>
              <a:rPr sz="2400" dirty="0" err="1" smtClean="0">
                <a:latin typeface="宋体" panose="02010600030101010101" pitchFamily="2" charset="-122"/>
              </a:rPr>
              <a:t>XLGMII接口与物理层实体相连</a:t>
            </a:r>
            <a:r>
              <a:rPr sz="2400" dirty="0">
                <a:latin typeface="宋体" panose="02010600030101010101" pitchFamily="2" charset="-122"/>
              </a:rPr>
              <a:t>。</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1259632" y="385763"/>
            <a:ext cx="7696200" cy="450850"/>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dirty="0" smtClean="0">
                <a:ln>
                  <a:noFill/>
                </a:ln>
                <a:effectLst/>
                <a:uLnTx/>
                <a:uFillTx/>
                <a:latin typeface="+mj-lt"/>
                <a:ea typeface="+mj-ea"/>
                <a:cs typeface="+mj-cs"/>
              </a:rPr>
              <a:t>网桥定义与特征</a:t>
            </a:r>
          </a:p>
        </p:txBody>
      </p:sp>
      <p:sp>
        <p:nvSpPr>
          <p:cNvPr id="81923" name="Rectangle 3"/>
          <p:cNvSpPr>
            <a:spLocks noGrp="1"/>
          </p:cNvSpPr>
          <p:nvPr>
            <p:ph idx="1"/>
          </p:nvPr>
        </p:nvSpPr>
        <p:spPr>
          <a:xfrm>
            <a:off x="755576" y="1124744"/>
            <a:ext cx="7615238" cy="5328592"/>
          </a:xfrm>
        </p:spPr>
        <p:txBody>
          <a:bodyPr vert="horz" wrap="square" lIns="91440" tIns="45720" rIns="91440" bIns="45720" anchor="t"/>
          <a:lstStyle/>
          <a:p>
            <a:pPr marL="609600" indent="-609600" eaLnBrk="1" hangingPunct="1">
              <a:spcBef>
                <a:spcPts val="600"/>
              </a:spcBef>
              <a:spcAft>
                <a:spcPts val="600"/>
              </a:spcAft>
            </a:pPr>
            <a:r>
              <a:rPr lang="zh-CN" altLang="en-US" sz="2800" dirty="0" smtClean="0">
                <a:solidFill>
                  <a:srgbClr val="FF3300"/>
                </a:solidFill>
                <a:latin typeface="+mj-ea"/>
                <a:ea typeface="+mj-ea"/>
              </a:rPr>
              <a:t>网桥</a:t>
            </a:r>
            <a:r>
              <a:rPr lang="zh-CN" altLang="en-US" sz="2800" dirty="0">
                <a:solidFill>
                  <a:srgbClr val="FF3300"/>
                </a:solidFill>
                <a:latin typeface="+mj-ea"/>
                <a:ea typeface="+mj-ea"/>
              </a:rPr>
              <a:t>（</a:t>
            </a:r>
            <a:r>
              <a:rPr lang="en-US" altLang="zh-CN" sz="2800" dirty="0">
                <a:solidFill>
                  <a:srgbClr val="FF3300"/>
                </a:solidFill>
                <a:latin typeface="+mj-ea"/>
                <a:ea typeface="+mj-ea"/>
              </a:rPr>
              <a:t>bridge</a:t>
            </a:r>
            <a:r>
              <a:rPr lang="zh-CN" altLang="en-US" sz="2800" dirty="0">
                <a:solidFill>
                  <a:srgbClr val="FF3300"/>
                </a:solidFill>
                <a:latin typeface="+mj-ea"/>
                <a:ea typeface="+mj-ea"/>
              </a:rPr>
              <a:t>）</a:t>
            </a:r>
            <a:r>
              <a:rPr lang="zh-CN" altLang="en-US" sz="2800" dirty="0">
                <a:latin typeface="+mj-ea"/>
                <a:ea typeface="+mj-ea"/>
              </a:rPr>
              <a:t>是工作在</a:t>
            </a:r>
            <a:r>
              <a:rPr lang="zh-CN" altLang="en-US" sz="2800" dirty="0">
                <a:solidFill>
                  <a:srgbClr val="FF3300"/>
                </a:solidFill>
                <a:latin typeface="+mj-ea"/>
                <a:ea typeface="+mj-ea"/>
              </a:rPr>
              <a:t>数据链路层</a:t>
            </a:r>
            <a:r>
              <a:rPr lang="zh-CN" altLang="en-US" sz="2800" dirty="0">
                <a:latin typeface="+mj-ea"/>
                <a:ea typeface="+mj-ea"/>
              </a:rPr>
              <a:t>的一种</a:t>
            </a:r>
            <a:r>
              <a:rPr lang="zh-CN" altLang="en-US" sz="2800" dirty="0">
                <a:solidFill>
                  <a:srgbClr val="FF3300"/>
                </a:solidFill>
                <a:latin typeface="+mj-ea"/>
                <a:ea typeface="+mj-ea"/>
              </a:rPr>
              <a:t>网络互连设备</a:t>
            </a:r>
            <a:r>
              <a:rPr lang="zh-CN" altLang="en-US" sz="2800" dirty="0">
                <a:latin typeface="+mj-ea"/>
                <a:ea typeface="+mj-ea"/>
              </a:rPr>
              <a:t>，它在互连的</a:t>
            </a:r>
            <a:r>
              <a:rPr lang="en-US" altLang="zh-CN" sz="2800" dirty="0">
                <a:solidFill>
                  <a:srgbClr val="FF3300"/>
                </a:solidFill>
                <a:latin typeface="+mj-ea"/>
                <a:ea typeface="+mj-ea"/>
              </a:rPr>
              <a:t>LAN</a:t>
            </a:r>
            <a:r>
              <a:rPr lang="zh-CN" altLang="en-US" sz="2800" dirty="0">
                <a:latin typeface="+mj-ea"/>
                <a:ea typeface="+mj-ea"/>
              </a:rPr>
              <a:t>之间实现</a:t>
            </a:r>
            <a:r>
              <a:rPr lang="zh-CN" altLang="en-US" sz="2800" dirty="0">
                <a:solidFill>
                  <a:srgbClr val="FF3300"/>
                </a:solidFill>
                <a:latin typeface="+mj-ea"/>
                <a:ea typeface="+mj-ea"/>
              </a:rPr>
              <a:t>帧的存储和转发</a:t>
            </a:r>
            <a:r>
              <a:rPr lang="zh-CN" altLang="en-US" sz="2800" dirty="0">
                <a:latin typeface="+mj-ea"/>
                <a:ea typeface="+mj-ea"/>
              </a:rPr>
              <a:t>。</a:t>
            </a:r>
          </a:p>
          <a:p>
            <a:pPr marL="609600" indent="-609600" eaLnBrk="1" hangingPunct="1">
              <a:lnSpc>
                <a:spcPct val="90000"/>
              </a:lnSpc>
            </a:pPr>
            <a:r>
              <a:rPr lang="zh-CN" altLang="en-US" sz="2800" dirty="0" smtClean="0">
                <a:latin typeface="+mj-ea"/>
                <a:ea typeface="+mj-ea"/>
              </a:rPr>
              <a:t>网桥特征</a:t>
            </a:r>
            <a:endParaRPr lang="zh-CN" altLang="en-US" sz="2800" dirty="0">
              <a:latin typeface="+mj-ea"/>
              <a:ea typeface="+mj-ea"/>
            </a:endParaRPr>
          </a:p>
          <a:p>
            <a:pPr marL="714375" lvl="1" indent="-450850" eaLnBrk="1" hangingPunct="1">
              <a:lnSpc>
                <a:spcPct val="90000"/>
              </a:lnSpc>
            </a:pPr>
            <a:r>
              <a:rPr lang="zh-CN" altLang="en-US" sz="2400" dirty="0">
                <a:latin typeface="宋体" panose="02010600030101010101" pitchFamily="2" charset="-122"/>
              </a:rPr>
              <a:t>网桥在数据链路层上实现</a:t>
            </a:r>
            <a:r>
              <a:rPr lang="zh-CN" altLang="en-US" sz="2400" dirty="0">
                <a:solidFill>
                  <a:srgbClr val="FF3300"/>
                </a:solidFill>
                <a:latin typeface="宋体" panose="02010600030101010101" pitchFamily="2" charset="-122"/>
              </a:rPr>
              <a:t>局域网互连</a:t>
            </a:r>
            <a:r>
              <a:rPr lang="zh-CN" altLang="en-US" sz="2400" dirty="0">
                <a:latin typeface="宋体" panose="02010600030101010101" pitchFamily="2" charset="-122"/>
              </a:rPr>
              <a:t>；</a:t>
            </a:r>
            <a:endParaRPr lang="zh-CN" altLang="en-US" sz="2400" dirty="0">
              <a:ea typeface="Arial Unicode MS" panose="020B0604020202020204" charset="-122"/>
            </a:endParaRPr>
          </a:p>
          <a:p>
            <a:pPr marL="714375" lvl="1" indent="-450850" eaLnBrk="1" hangingPunct="1">
              <a:lnSpc>
                <a:spcPct val="90000"/>
              </a:lnSpc>
            </a:pPr>
            <a:r>
              <a:rPr lang="zh-CN" altLang="en-US" sz="2400" dirty="0">
                <a:latin typeface="宋体" panose="02010600030101010101" pitchFamily="2" charset="-122"/>
              </a:rPr>
              <a:t>网桥能够互连两个采用不同</a:t>
            </a:r>
            <a:r>
              <a:rPr lang="zh-CN" altLang="en-US" sz="2400" dirty="0">
                <a:solidFill>
                  <a:srgbClr val="FF3300"/>
                </a:solidFill>
                <a:latin typeface="宋体" panose="02010600030101010101" pitchFamily="2" charset="-122"/>
              </a:rPr>
              <a:t>数据链路层</a:t>
            </a:r>
            <a:r>
              <a:rPr lang="zh-CN" altLang="en-US" sz="2400" dirty="0">
                <a:latin typeface="宋体" panose="02010600030101010101" pitchFamily="2" charset="-122"/>
              </a:rPr>
              <a:t>协议、不同</a:t>
            </a:r>
            <a:r>
              <a:rPr lang="zh-CN" altLang="en-US" sz="2400" dirty="0">
                <a:solidFill>
                  <a:srgbClr val="FF3300"/>
                </a:solidFill>
                <a:latin typeface="宋体" panose="02010600030101010101" pitchFamily="2" charset="-122"/>
              </a:rPr>
              <a:t>传输介质</a:t>
            </a:r>
            <a:r>
              <a:rPr lang="zh-CN" altLang="en-US" sz="2400" dirty="0">
                <a:latin typeface="宋体" panose="02010600030101010101" pitchFamily="2" charset="-122"/>
              </a:rPr>
              <a:t>与不同</a:t>
            </a:r>
            <a:r>
              <a:rPr lang="zh-CN" altLang="en-US" sz="2400" dirty="0">
                <a:solidFill>
                  <a:srgbClr val="FF3300"/>
                </a:solidFill>
                <a:latin typeface="宋体" panose="02010600030101010101" pitchFamily="2" charset="-122"/>
              </a:rPr>
              <a:t>传输速率</a:t>
            </a:r>
            <a:r>
              <a:rPr lang="zh-CN" altLang="en-US" sz="2400" dirty="0">
                <a:latin typeface="宋体" panose="02010600030101010101" pitchFamily="2" charset="-122"/>
              </a:rPr>
              <a:t>的网络；</a:t>
            </a:r>
            <a:endParaRPr lang="zh-CN" altLang="en-US" sz="2400" dirty="0">
              <a:ea typeface="Arial Unicode MS" panose="020B0604020202020204" charset="-122"/>
            </a:endParaRPr>
          </a:p>
          <a:p>
            <a:pPr marL="714375" lvl="1" indent="-450850" eaLnBrk="1" hangingPunct="1">
              <a:lnSpc>
                <a:spcPct val="90000"/>
              </a:lnSpc>
            </a:pPr>
            <a:r>
              <a:rPr lang="zh-CN" altLang="en-US" sz="2400" dirty="0">
                <a:latin typeface="宋体" panose="02010600030101010101" pitchFamily="2" charset="-122"/>
              </a:rPr>
              <a:t>网桥以</a:t>
            </a:r>
            <a:r>
              <a:rPr lang="zh-CN" altLang="en-US" sz="2400" dirty="0">
                <a:solidFill>
                  <a:srgbClr val="FF3300"/>
                </a:solidFill>
                <a:latin typeface="宋体" panose="02010600030101010101" pitchFamily="2" charset="-122"/>
              </a:rPr>
              <a:t>接收、存储、地址过滤与转发的</a:t>
            </a:r>
            <a:r>
              <a:rPr lang="zh-CN" altLang="en-US" sz="2400" dirty="0">
                <a:latin typeface="宋体" panose="02010600030101010101" pitchFamily="2" charset="-122"/>
              </a:rPr>
              <a:t>方式实现互连的网络之间的通信；</a:t>
            </a:r>
            <a:endParaRPr lang="zh-CN" altLang="en-US" sz="2400" dirty="0">
              <a:ea typeface="Arial Unicode MS" panose="020B0604020202020204" charset="-122"/>
            </a:endParaRPr>
          </a:p>
          <a:p>
            <a:pPr marL="714375" lvl="1" indent="-450850" eaLnBrk="1" hangingPunct="1">
              <a:lnSpc>
                <a:spcPct val="90000"/>
              </a:lnSpc>
            </a:pPr>
            <a:r>
              <a:rPr lang="zh-CN" altLang="en-US" sz="2400" dirty="0">
                <a:latin typeface="宋体" panose="02010600030101010101" pitchFamily="2" charset="-122"/>
              </a:rPr>
              <a:t>网桥需要互连的网络在数据链路层以上采用相同的协议；</a:t>
            </a:r>
          </a:p>
          <a:p>
            <a:pPr marL="714375" lvl="1" indent="-450850" eaLnBrk="1" hangingPunct="1">
              <a:lnSpc>
                <a:spcPct val="90000"/>
              </a:lnSpc>
            </a:pPr>
            <a:r>
              <a:rPr lang="zh-CN" altLang="en-US" sz="2400" dirty="0">
                <a:latin typeface="宋体" panose="02010600030101010101" pitchFamily="2" charset="-122"/>
              </a:rPr>
              <a:t>网桥可以分隔两个网络之间的</a:t>
            </a:r>
            <a:r>
              <a:rPr lang="zh-CN" altLang="en-US" sz="2400" dirty="0">
                <a:solidFill>
                  <a:srgbClr val="FF3300"/>
                </a:solidFill>
                <a:latin typeface="宋体" panose="02010600030101010101" pitchFamily="2" charset="-122"/>
              </a:rPr>
              <a:t>广播通信量</a:t>
            </a:r>
            <a:r>
              <a:rPr lang="zh-CN" altLang="en-US" sz="2400" dirty="0">
                <a:latin typeface="宋体" panose="02010600030101010101" pitchFamily="2" charset="-122"/>
              </a:rPr>
              <a:t>，有利于改善互连网络的性能与安全性。</a:t>
            </a:r>
            <a:r>
              <a:rPr lang="zh-CN" altLang="en-US" sz="24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fade">
                                      <p:cBhvr>
                                        <p:cTn id="7" dur="1000"/>
                                        <p:tgtEl>
                                          <p:spTgt spid="81923">
                                            <p:txEl>
                                              <p:pRg st="0" end="0"/>
                                            </p:txEl>
                                          </p:spTgt>
                                        </p:tgtEl>
                                      </p:cBhvr>
                                    </p:animEffect>
                                    <p:anim calcmode="lin" valueType="num">
                                      <p:cBhvr>
                                        <p:cTn id="8" dur="1000" fill="hold"/>
                                        <p:tgtEl>
                                          <p:spTgt spid="8192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1923">
                                            <p:txEl>
                                              <p:pRg st="1" end="1"/>
                                            </p:txEl>
                                          </p:spTgt>
                                        </p:tgtEl>
                                        <p:attrNameLst>
                                          <p:attrName>style.visibility</p:attrName>
                                        </p:attrNameLst>
                                      </p:cBhvr>
                                      <p:to>
                                        <p:strVal val="visible"/>
                                      </p:to>
                                    </p:set>
                                    <p:animEffect transition="in" filter="fade">
                                      <p:cBhvr>
                                        <p:cTn id="14" dur="1000"/>
                                        <p:tgtEl>
                                          <p:spTgt spid="81923">
                                            <p:txEl>
                                              <p:pRg st="1" end="1"/>
                                            </p:txEl>
                                          </p:spTgt>
                                        </p:tgtEl>
                                      </p:cBhvr>
                                    </p:animEffect>
                                    <p:anim calcmode="lin" valueType="num">
                                      <p:cBhvr>
                                        <p:cTn id="15" dur="1000" fill="hold"/>
                                        <p:tgtEl>
                                          <p:spTgt spid="8192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192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1923">
                                            <p:txEl>
                                              <p:pRg st="2" end="2"/>
                                            </p:txEl>
                                          </p:spTgt>
                                        </p:tgtEl>
                                        <p:attrNameLst>
                                          <p:attrName>style.visibility</p:attrName>
                                        </p:attrNameLst>
                                      </p:cBhvr>
                                      <p:to>
                                        <p:strVal val="visible"/>
                                      </p:to>
                                    </p:set>
                                    <p:animEffect transition="in" filter="fade">
                                      <p:cBhvr>
                                        <p:cTn id="19" dur="1000"/>
                                        <p:tgtEl>
                                          <p:spTgt spid="81923">
                                            <p:txEl>
                                              <p:pRg st="2" end="2"/>
                                            </p:txEl>
                                          </p:spTgt>
                                        </p:tgtEl>
                                      </p:cBhvr>
                                    </p:animEffect>
                                    <p:anim calcmode="lin" valueType="num">
                                      <p:cBhvr>
                                        <p:cTn id="20" dur="1000" fill="hold"/>
                                        <p:tgtEl>
                                          <p:spTgt spid="8192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8192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1923">
                                            <p:txEl>
                                              <p:pRg st="3" end="3"/>
                                            </p:txEl>
                                          </p:spTgt>
                                        </p:tgtEl>
                                        <p:attrNameLst>
                                          <p:attrName>style.visibility</p:attrName>
                                        </p:attrNameLst>
                                      </p:cBhvr>
                                      <p:to>
                                        <p:strVal val="visible"/>
                                      </p:to>
                                    </p:set>
                                    <p:animEffect transition="in" filter="fade">
                                      <p:cBhvr>
                                        <p:cTn id="24" dur="1000"/>
                                        <p:tgtEl>
                                          <p:spTgt spid="81923">
                                            <p:txEl>
                                              <p:pRg st="3" end="3"/>
                                            </p:txEl>
                                          </p:spTgt>
                                        </p:tgtEl>
                                      </p:cBhvr>
                                    </p:animEffect>
                                    <p:anim calcmode="lin" valueType="num">
                                      <p:cBhvr>
                                        <p:cTn id="25" dur="1000" fill="hold"/>
                                        <p:tgtEl>
                                          <p:spTgt spid="8192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8192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1923">
                                            <p:txEl>
                                              <p:pRg st="4" end="4"/>
                                            </p:txEl>
                                          </p:spTgt>
                                        </p:tgtEl>
                                        <p:attrNameLst>
                                          <p:attrName>style.visibility</p:attrName>
                                        </p:attrNameLst>
                                      </p:cBhvr>
                                      <p:to>
                                        <p:strVal val="visible"/>
                                      </p:to>
                                    </p:set>
                                    <p:animEffect transition="in" filter="fade">
                                      <p:cBhvr>
                                        <p:cTn id="29" dur="1000"/>
                                        <p:tgtEl>
                                          <p:spTgt spid="81923">
                                            <p:txEl>
                                              <p:pRg st="4" end="4"/>
                                            </p:txEl>
                                          </p:spTgt>
                                        </p:tgtEl>
                                      </p:cBhvr>
                                    </p:animEffect>
                                    <p:anim calcmode="lin" valueType="num">
                                      <p:cBhvr>
                                        <p:cTn id="30" dur="1000" fill="hold"/>
                                        <p:tgtEl>
                                          <p:spTgt spid="8192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8192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1923">
                                            <p:txEl>
                                              <p:pRg st="5" end="5"/>
                                            </p:txEl>
                                          </p:spTgt>
                                        </p:tgtEl>
                                        <p:attrNameLst>
                                          <p:attrName>style.visibility</p:attrName>
                                        </p:attrNameLst>
                                      </p:cBhvr>
                                      <p:to>
                                        <p:strVal val="visible"/>
                                      </p:to>
                                    </p:set>
                                    <p:animEffect transition="in" filter="fade">
                                      <p:cBhvr>
                                        <p:cTn id="34" dur="1000"/>
                                        <p:tgtEl>
                                          <p:spTgt spid="81923">
                                            <p:txEl>
                                              <p:pRg st="5" end="5"/>
                                            </p:txEl>
                                          </p:spTgt>
                                        </p:tgtEl>
                                      </p:cBhvr>
                                    </p:animEffect>
                                    <p:anim calcmode="lin" valueType="num">
                                      <p:cBhvr>
                                        <p:cTn id="35" dur="1000" fill="hold"/>
                                        <p:tgtEl>
                                          <p:spTgt spid="8192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8192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81923">
                                            <p:txEl>
                                              <p:pRg st="6" end="6"/>
                                            </p:txEl>
                                          </p:spTgt>
                                        </p:tgtEl>
                                        <p:attrNameLst>
                                          <p:attrName>style.visibility</p:attrName>
                                        </p:attrNameLst>
                                      </p:cBhvr>
                                      <p:to>
                                        <p:strVal val="visible"/>
                                      </p:to>
                                    </p:set>
                                    <p:animEffect transition="in" filter="fade">
                                      <p:cBhvr>
                                        <p:cTn id="39" dur="1000"/>
                                        <p:tgtEl>
                                          <p:spTgt spid="81923">
                                            <p:txEl>
                                              <p:pRg st="6" end="6"/>
                                            </p:txEl>
                                          </p:spTgt>
                                        </p:tgtEl>
                                      </p:cBhvr>
                                    </p:animEffect>
                                    <p:anim calcmode="lin" valueType="num">
                                      <p:cBhvr>
                                        <p:cTn id="40" dur="1000" fill="hold"/>
                                        <p:tgtEl>
                                          <p:spTgt spid="8192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8192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1447800" y="260350"/>
            <a:ext cx="7588696" cy="72072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dirty="0" smtClean="0">
                <a:ln>
                  <a:noFill/>
                </a:ln>
                <a:effectLst/>
                <a:uLnTx/>
                <a:uFillTx/>
                <a:latin typeface="+mj-ea"/>
                <a:cs typeface="+mj-cs"/>
              </a:rPr>
              <a:t>透明网桥</a:t>
            </a:r>
            <a:r>
              <a:rPr kumimoji="1" lang="en-US" altLang="zh-CN" sz="3200" b="0" i="0" u="none" strike="noStrike" kern="0" cap="none" spc="0" normalizeH="0" baseline="0" noProof="0" dirty="0" smtClean="0">
                <a:ln>
                  <a:noFill/>
                </a:ln>
                <a:effectLst/>
                <a:uLnTx/>
                <a:uFillTx/>
                <a:latin typeface="+mj-ea"/>
                <a:cs typeface="+mj-cs"/>
              </a:rPr>
              <a:t>/</a:t>
            </a:r>
            <a:r>
              <a:rPr kumimoji="1" lang="zh-CN" altLang="en-US" sz="3200" b="0" i="0" u="none" strike="noStrike" kern="0" cap="none" spc="0" normalizeH="0" baseline="0" noProof="0" dirty="0" smtClean="0">
                <a:ln>
                  <a:noFill/>
                </a:ln>
                <a:effectLst/>
                <a:uLnTx/>
                <a:uFillTx/>
                <a:latin typeface="+mj-ea"/>
                <a:cs typeface="+mj-cs"/>
              </a:rPr>
              <a:t>生成树网桥</a:t>
            </a:r>
          </a:p>
        </p:txBody>
      </p:sp>
      <p:sp>
        <p:nvSpPr>
          <p:cNvPr id="60419" name="Rectangle 3"/>
          <p:cNvSpPr>
            <a:spLocks noGrp="1"/>
          </p:cNvSpPr>
          <p:nvPr>
            <p:ph idx="1"/>
          </p:nvPr>
        </p:nvSpPr>
        <p:spPr>
          <a:xfrm>
            <a:off x="611560" y="1340768"/>
            <a:ext cx="8208912" cy="4784725"/>
          </a:xfrm>
        </p:spPr>
        <p:txBody>
          <a:bodyPr vert="horz" wrap="square" lIns="91440" tIns="45720" rIns="91440" bIns="45720" anchor="t"/>
          <a:lstStyle/>
          <a:p>
            <a:pPr eaLnBrk="1" hangingPunct="1">
              <a:lnSpc>
                <a:spcPct val="90000"/>
              </a:lnSpc>
            </a:pPr>
            <a:r>
              <a:rPr lang="zh-CN" altLang="en-US" sz="2800" dirty="0">
                <a:latin typeface="+mj-ea"/>
                <a:ea typeface="+mj-ea"/>
              </a:rPr>
              <a:t>工作</a:t>
            </a:r>
            <a:r>
              <a:rPr lang="zh-CN" altLang="en-US" sz="2800" dirty="0" smtClean="0">
                <a:latin typeface="+mj-ea"/>
                <a:ea typeface="+mj-ea"/>
              </a:rPr>
              <a:t>原理</a:t>
            </a:r>
            <a:endParaRPr lang="zh-CN" altLang="en-US" sz="2800" dirty="0">
              <a:latin typeface="+mj-ea"/>
              <a:ea typeface="+mj-ea"/>
            </a:endParaRPr>
          </a:p>
          <a:p>
            <a:pPr marL="714375" lvl="1" indent="-450850" eaLnBrk="1" hangingPunct="1">
              <a:lnSpc>
                <a:spcPct val="110000"/>
              </a:lnSpc>
              <a:spcBef>
                <a:spcPts val="600"/>
              </a:spcBef>
            </a:pPr>
            <a:r>
              <a:rPr lang="zh-CN" altLang="en-US" sz="2400" dirty="0">
                <a:latin typeface="+mn-ea"/>
              </a:rPr>
              <a:t>网桥工作在</a:t>
            </a:r>
            <a:r>
              <a:rPr lang="zh-CN" altLang="en-US" sz="2400" dirty="0">
                <a:solidFill>
                  <a:srgbClr val="FF3300"/>
                </a:solidFill>
                <a:latin typeface="+mn-ea"/>
              </a:rPr>
              <a:t>混杂（</a:t>
            </a:r>
            <a:r>
              <a:rPr lang="en-US" altLang="zh-CN" sz="2400" dirty="0">
                <a:solidFill>
                  <a:srgbClr val="FF3300"/>
                </a:solidFill>
                <a:latin typeface="+mn-ea"/>
              </a:rPr>
              <a:t>promiscuous</a:t>
            </a:r>
            <a:r>
              <a:rPr lang="zh-CN" altLang="en-US" sz="2400" dirty="0">
                <a:solidFill>
                  <a:srgbClr val="FF3300"/>
                </a:solidFill>
                <a:latin typeface="+mn-ea"/>
              </a:rPr>
              <a:t>）</a:t>
            </a:r>
            <a:r>
              <a:rPr lang="zh-CN" altLang="en-US" sz="2400" dirty="0">
                <a:latin typeface="+mn-ea"/>
              </a:rPr>
              <a:t>方式，接收所有的帧；</a:t>
            </a:r>
          </a:p>
          <a:p>
            <a:pPr marL="714375" lvl="1" indent="-450850" eaLnBrk="1" hangingPunct="1">
              <a:lnSpc>
                <a:spcPct val="110000"/>
              </a:lnSpc>
              <a:spcBef>
                <a:spcPts val="600"/>
              </a:spcBef>
            </a:pPr>
            <a:r>
              <a:rPr lang="zh-CN" altLang="en-US" sz="2400" dirty="0" smtClean="0">
                <a:latin typeface="+mn-ea"/>
              </a:rPr>
              <a:t>接收到帧</a:t>
            </a:r>
            <a:r>
              <a:rPr lang="zh-CN" altLang="en-US" sz="2400" dirty="0">
                <a:latin typeface="+mn-ea"/>
              </a:rPr>
              <a:t>后，通过查询</a:t>
            </a:r>
            <a:r>
              <a:rPr lang="zh-CN" altLang="en-US" sz="2400" dirty="0">
                <a:solidFill>
                  <a:srgbClr val="FF3300"/>
                </a:solidFill>
                <a:latin typeface="+mn-ea"/>
              </a:rPr>
              <a:t>地址</a:t>
            </a:r>
            <a:r>
              <a:rPr lang="en-US" altLang="zh-CN" sz="2400" dirty="0">
                <a:solidFill>
                  <a:srgbClr val="FF3300"/>
                </a:solidFill>
                <a:latin typeface="+mn-ea"/>
              </a:rPr>
              <a:t>/</a:t>
            </a:r>
            <a:r>
              <a:rPr lang="zh-CN" altLang="en-US" sz="2400" dirty="0">
                <a:solidFill>
                  <a:srgbClr val="FF3300"/>
                </a:solidFill>
                <a:latin typeface="+mn-ea"/>
              </a:rPr>
              <a:t>端口对应表</a:t>
            </a:r>
            <a:r>
              <a:rPr lang="zh-CN" altLang="en-US" sz="2400" dirty="0">
                <a:latin typeface="+mn-ea"/>
              </a:rPr>
              <a:t>来确定是丢弃还是转发；</a:t>
            </a:r>
          </a:p>
          <a:p>
            <a:pPr marL="714375" lvl="1" indent="-450850" eaLnBrk="1" hangingPunct="1">
              <a:lnSpc>
                <a:spcPct val="110000"/>
              </a:lnSpc>
              <a:spcBef>
                <a:spcPts val="600"/>
              </a:spcBef>
            </a:pPr>
            <a:r>
              <a:rPr lang="zh-CN" altLang="en-US" sz="2400" dirty="0">
                <a:latin typeface="+mn-ea"/>
              </a:rPr>
              <a:t>网桥刚启动时，</a:t>
            </a:r>
            <a:r>
              <a:rPr lang="zh-CN" altLang="en-US" sz="2400" dirty="0">
                <a:solidFill>
                  <a:schemeClr val="hlink"/>
                </a:solidFill>
                <a:latin typeface="+mn-ea"/>
              </a:rPr>
              <a:t>地址</a:t>
            </a:r>
            <a:r>
              <a:rPr lang="en-US" altLang="zh-CN" sz="2400" dirty="0">
                <a:solidFill>
                  <a:schemeClr val="hlink"/>
                </a:solidFill>
                <a:latin typeface="+mn-ea"/>
              </a:rPr>
              <a:t>/</a:t>
            </a:r>
            <a:r>
              <a:rPr lang="zh-CN" altLang="en-US" sz="2400" dirty="0">
                <a:solidFill>
                  <a:schemeClr val="hlink"/>
                </a:solidFill>
                <a:latin typeface="+mn-ea"/>
              </a:rPr>
              <a:t>端口对应表</a:t>
            </a:r>
            <a:r>
              <a:rPr lang="zh-CN" altLang="en-US" sz="2400" dirty="0">
                <a:latin typeface="+mn-ea"/>
              </a:rPr>
              <a:t>为空，采用</a:t>
            </a:r>
            <a:r>
              <a:rPr lang="zh-CN" altLang="en-US" sz="2400" dirty="0">
                <a:solidFill>
                  <a:srgbClr val="FF3300"/>
                </a:solidFill>
                <a:latin typeface="+mn-ea"/>
              </a:rPr>
              <a:t>洪泛（</a:t>
            </a:r>
            <a:r>
              <a:rPr lang="en-US" altLang="zh-CN" sz="2400" dirty="0">
                <a:solidFill>
                  <a:srgbClr val="FF3300"/>
                </a:solidFill>
                <a:latin typeface="+mn-ea"/>
              </a:rPr>
              <a:t>flooding</a:t>
            </a:r>
            <a:r>
              <a:rPr lang="zh-CN" altLang="en-US" sz="2400" dirty="0">
                <a:solidFill>
                  <a:srgbClr val="FF3300"/>
                </a:solidFill>
                <a:latin typeface="+mn-ea"/>
              </a:rPr>
              <a:t>）方法</a:t>
            </a:r>
            <a:r>
              <a:rPr lang="zh-CN" altLang="en-US" sz="2400" dirty="0">
                <a:latin typeface="+mn-ea"/>
              </a:rPr>
              <a:t>转发帧；</a:t>
            </a:r>
          </a:p>
          <a:p>
            <a:pPr marL="714375" lvl="1" indent="-450850" eaLnBrk="1" hangingPunct="1">
              <a:lnSpc>
                <a:spcPct val="110000"/>
              </a:lnSpc>
              <a:spcBef>
                <a:spcPts val="600"/>
              </a:spcBef>
            </a:pPr>
            <a:r>
              <a:rPr lang="zh-CN" altLang="en-US" sz="2400" dirty="0">
                <a:latin typeface="+mn-ea"/>
              </a:rPr>
              <a:t>在转发过程中采用逆向学习（</a:t>
            </a:r>
            <a:r>
              <a:rPr lang="en-US" altLang="zh-CN" sz="2400" dirty="0">
                <a:latin typeface="+mn-ea"/>
              </a:rPr>
              <a:t>backward learning</a:t>
            </a:r>
            <a:r>
              <a:rPr lang="zh-CN" altLang="en-US" sz="2400" dirty="0">
                <a:latin typeface="+mn-ea"/>
              </a:rPr>
              <a:t>）算法收集</a:t>
            </a:r>
            <a:r>
              <a:rPr lang="en-US" altLang="zh-CN" sz="2400" dirty="0">
                <a:latin typeface="+mn-ea"/>
              </a:rPr>
              <a:t>MAC</a:t>
            </a:r>
            <a:r>
              <a:rPr lang="zh-CN" altLang="en-US" sz="2400" dirty="0">
                <a:latin typeface="+mn-ea"/>
              </a:rPr>
              <a:t>地址。网桥通过分析帧的源</a:t>
            </a:r>
            <a:r>
              <a:rPr lang="en-US" altLang="zh-CN" sz="2400" dirty="0">
                <a:latin typeface="+mn-ea"/>
              </a:rPr>
              <a:t>MAC</a:t>
            </a:r>
            <a:r>
              <a:rPr lang="zh-CN" altLang="en-US" sz="2400" dirty="0">
                <a:latin typeface="+mn-ea"/>
              </a:rPr>
              <a:t>地址得到</a:t>
            </a:r>
            <a:r>
              <a:rPr lang="en-US" altLang="zh-CN" sz="2400" dirty="0">
                <a:latin typeface="+mn-ea"/>
              </a:rPr>
              <a:t>MAC</a:t>
            </a:r>
            <a:r>
              <a:rPr lang="zh-CN" altLang="en-US" sz="2400" dirty="0">
                <a:latin typeface="+mn-ea"/>
              </a:rPr>
              <a:t>地址与端口的对应关系，并写入地址</a:t>
            </a:r>
            <a:r>
              <a:rPr lang="en-US" altLang="zh-CN" sz="2400" dirty="0">
                <a:latin typeface="+mn-ea"/>
              </a:rPr>
              <a:t>/</a:t>
            </a:r>
            <a:r>
              <a:rPr lang="zh-CN" altLang="en-US" sz="2400" dirty="0">
                <a:latin typeface="+mn-ea"/>
              </a:rPr>
              <a:t>端口对应表；   </a:t>
            </a:r>
          </a:p>
          <a:p>
            <a:pPr marL="714375" lvl="1" indent="-450850" eaLnBrk="1" hangingPunct="1">
              <a:lnSpc>
                <a:spcPct val="110000"/>
              </a:lnSpc>
              <a:spcBef>
                <a:spcPts val="600"/>
              </a:spcBef>
            </a:pPr>
            <a:r>
              <a:rPr lang="zh-CN" altLang="en-US" sz="2400" dirty="0">
                <a:latin typeface="+mn-ea"/>
              </a:rPr>
              <a:t>网桥软件对地址</a:t>
            </a:r>
            <a:r>
              <a:rPr lang="en-US" altLang="zh-CN" sz="2400" dirty="0">
                <a:latin typeface="+mn-ea"/>
              </a:rPr>
              <a:t>/</a:t>
            </a:r>
            <a:r>
              <a:rPr lang="zh-CN" altLang="en-US" sz="2400" dirty="0">
                <a:latin typeface="+mn-ea"/>
              </a:rPr>
              <a:t>端口对应表进行不断的更新，并定时检查，删除在一段时间内没有更新的地址</a:t>
            </a:r>
            <a:r>
              <a:rPr lang="en-US" altLang="zh-CN" sz="2400" dirty="0">
                <a:latin typeface="+mn-ea"/>
              </a:rPr>
              <a:t>/</a:t>
            </a:r>
            <a:r>
              <a:rPr lang="zh-CN" altLang="en-US" sz="2400" dirty="0">
                <a:latin typeface="+mn-ea"/>
              </a:rPr>
              <a:t>端口项；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4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4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网桥工作流程</a:t>
            </a:r>
            <a:endParaRPr lang="zh-CN" altLang="en-US" dirty="0"/>
          </a:p>
        </p:txBody>
      </p:sp>
      <p:graphicFrame>
        <p:nvGraphicFramePr>
          <p:cNvPr id="5" name="对象 4"/>
          <p:cNvGraphicFramePr>
            <a:graphicFrameLocks noChangeAspect="1"/>
          </p:cNvGraphicFramePr>
          <p:nvPr/>
        </p:nvGraphicFramePr>
        <p:xfrm>
          <a:off x="1835696" y="1123060"/>
          <a:ext cx="4591680" cy="5722364"/>
        </p:xfrm>
        <a:graphic>
          <a:graphicData uri="http://schemas.openxmlformats.org/presentationml/2006/ole">
            <mc:AlternateContent xmlns:mc="http://schemas.openxmlformats.org/markup-compatibility/2006">
              <mc:Choice xmlns:v="urn:schemas-microsoft-com:vml" Requires="v">
                <p:oleObj spid="_x0000_s117794" name="Visio" r:id="rId4" imgW="3086100" imgH="3835400" progId="Visio.Drawing.15">
                  <p:embed/>
                </p:oleObj>
              </mc:Choice>
              <mc:Fallback>
                <p:oleObj name="Visio" r:id="rId4" imgW="3086100" imgH="383540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696" y="1123060"/>
                        <a:ext cx="4591680" cy="5722364"/>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以太网交换机</a:t>
            </a:r>
            <a:endParaRPr lang="zh-CN" altLang="en-US" dirty="0"/>
          </a:p>
        </p:txBody>
      </p:sp>
      <p:sp>
        <p:nvSpPr>
          <p:cNvPr id="3" name="内容占位符 2"/>
          <p:cNvSpPr>
            <a:spLocks noGrp="1"/>
          </p:cNvSpPr>
          <p:nvPr>
            <p:ph idx="1"/>
          </p:nvPr>
        </p:nvSpPr>
        <p:spPr>
          <a:xfrm>
            <a:off x="827584" y="1196752"/>
            <a:ext cx="7772400" cy="5112568"/>
          </a:xfrm>
        </p:spPr>
        <p:txBody>
          <a:bodyPr/>
          <a:lstStyle/>
          <a:p>
            <a:pPr>
              <a:lnSpc>
                <a:spcPct val="120000"/>
              </a:lnSpc>
              <a:spcBef>
                <a:spcPts val="600"/>
              </a:spcBef>
              <a:spcAft>
                <a:spcPts val="600"/>
              </a:spcAft>
            </a:pPr>
            <a:r>
              <a:rPr lang="zh-CN" altLang="zh-CN" sz="2800" dirty="0">
                <a:latin typeface="+mj-ea"/>
                <a:ea typeface="+mj-ea"/>
              </a:rPr>
              <a:t>以太网</a:t>
            </a:r>
            <a:r>
              <a:rPr lang="zh-CN" altLang="zh-CN" sz="2800" dirty="0" smtClean="0">
                <a:latin typeface="+mj-ea"/>
                <a:ea typeface="+mj-ea"/>
              </a:rPr>
              <a:t>交换机是</a:t>
            </a:r>
            <a:r>
              <a:rPr lang="zh-CN" altLang="zh-CN" sz="2800" dirty="0">
                <a:latin typeface="+mj-ea"/>
                <a:ea typeface="+mj-ea"/>
              </a:rPr>
              <a:t>在多端口网桥的基础</a:t>
            </a:r>
            <a:r>
              <a:rPr lang="zh-CN" altLang="zh-CN" sz="2800" dirty="0" smtClean="0">
                <a:latin typeface="+mj-ea"/>
                <a:ea typeface="+mj-ea"/>
              </a:rPr>
              <a:t>上发展</a:t>
            </a:r>
            <a:r>
              <a:rPr lang="zh-CN" altLang="zh-CN" sz="2800" dirty="0">
                <a:latin typeface="+mj-ea"/>
                <a:ea typeface="+mj-ea"/>
              </a:rPr>
              <a:t>起来的，是一种改进的局域网</a:t>
            </a:r>
            <a:r>
              <a:rPr lang="zh-CN" altLang="zh-CN" sz="2800" dirty="0" smtClean="0">
                <a:latin typeface="+mj-ea"/>
                <a:ea typeface="+mj-ea"/>
              </a:rPr>
              <a:t>桥</a:t>
            </a:r>
            <a:r>
              <a:rPr lang="zh-CN" altLang="en-US" sz="2800" dirty="0" smtClean="0">
                <a:latin typeface="+mj-ea"/>
                <a:ea typeface="+mj-ea"/>
              </a:rPr>
              <a:t>。</a:t>
            </a:r>
            <a:endParaRPr lang="en-US" altLang="zh-CN" sz="2800" dirty="0" smtClean="0">
              <a:latin typeface="+mj-ea"/>
              <a:ea typeface="+mj-ea"/>
            </a:endParaRPr>
          </a:p>
          <a:p>
            <a:pPr>
              <a:lnSpc>
                <a:spcPct val="120000"/>
              </a:lnSpc>
              <a:spcBef>
                <a:spcPts val="600"/>
              </a:spcBef>
              <a:spcAft>
                <a:spcPts val="600"/>
              </a:spcAft>
            </a:pPr>
            <a:r>
              <a:rPr lang="zh-CN" altLang="zh-CN" sz="2800" dirty="0">
                <a:latin typeface="+mj-ea"/>
                <a:ea typeface="+mj-ea"/>
              </a:rPr>
              <a:t>与传统的网桥相比</a:t>
            </a:r>
            <a:endParaRPr lang="en-US" altLang="zh-CN" sz="2800" dirty="0">
              <a:latin typeface="+mj-ea"/>
              <a:ea typeface="+mj-ea"/>
            </a:endParaRPr>
          </a:p>
          <a:p>
            <a:pPr lvl="1">
              <a:spcBef>
                <a:spcPts val="600"/>
              </a:spcBef>
            </a:pPr>
            <a:r>
              <a:rPr lang="zh-CN" altLang="zh-CN" sz="2400" dirty="0" smtClean="0"/>
              <a:t>能</a:t>
            </a:r>
            <a:r>
              <a:rPr lang="zh-CN" altLang="zh-CN" sz="2400" dirty="0"/>
              <a:t>提供更多的</a:t>
            </a:r>
            <a:r>
              <a:rPr lang="zh-CN" altLang="zh-CN" sz="2400" dirty="0" smtClean="0"/>
              <a:t>端口</a:t>
            </a:r>
            <a:r>
              <a:rPr lang="zh-CN" altLang="en-US" sz="2400" dirty="0" smtClean="0"/>
              <a:t>，直接连接计算机</a:t>
            </a:r>
            <a:endParaRPr lang="en-US" altLang="zh-CN" sz="2400" dirty="0" smtClean="0"/>
          </a:p>
          <a:p>
            <a:pPr lvl="1">
              <a:spcBef>
                <a:spcPts val="600"/>
              </a:spcBef>
            </a:pPr>
            <a:r>
              <a:rPr lang="zh-CN" altLang="zh-CN" sz="2400" dirty="0" smtClean="0"/>
              <a:t>大多采用基于硬件的转发机制</a:t>
            </a:r>
            <a:r>
              <a:rPr lang="zh-CN" altLang="en-US" sz="2400" dirty="0" smtClean="0"/>
              <a:t>，</a:t>
            </a:r>
            <a:r>
              <a:rPr lang="zh-CN" altLang="zh-CN" sz="2400" dirty="0" smtClean="0"/>
              <a:t>性能</a:t>
            </a:r>
            <a:r>
              <a:rPr lang="zh-CN" altLang="en-US" sz="2400" dirty="0" smtClean="0"/>
              <a:t>更好</a:t>
            </a:r>
            <a:endParaRPr lang="en-US" altLang="zh-CN" sz="2400" dirty="0" smtClean="0"/>
          </a:p>
          <a:p>
            <a:pPr lvl="1">
              <a:spcBef>
                <a:spcPts val="600"/>
              </a:spcBef>
            </a:pPr>
            <a:r>
              <a:rPr lang="zh-CN" altLang="zh-CN" sz="2400" dirty="0" smtClean="0"/>
              <a:t>一般</a:t>
            </a:r>
            <a:r>
              <a:rPr lang="zh-CN" altLang="en-US" sz="2400" dirty="0" smtClean="0"/>
              <a:t>用于</a:t>
            </a:r>
            <a:r>
              <a:rPr lang="zh-CN" altLang="zh-CN" sz="2400" dirty="0" smtClean="0"/>
              <a:t>连接</a:t>
            </a:r>
            <a:r>
              <a:rPr lang="zh-CN" altLang="zh-CN" sz="2400" dirty="0"/>
              <a:t>同种类型的</a:t>
            </a:r>
            <a:r>
              <a:rPr lang="zh-CN" altLang="zh-CN" sz="2400" dirty="0" smtClean="0"/>
              <a:t>局域网</a:t>
            </a:r>
            <a:endParaRPr lang="en-US" altLang="zh-CN" sz="2400" dirty="0" smtClean="0"/>
          </a:p>
          <a:p>
            <a:pPr>
              <a:lnSpc>
                <a:spcPct val="120000"/>
              </a:lnSpc>
              <a:spcBef>
                <a:spcPts val="600"/>
              </a:spcBef>
              <a:spcAft>
                <a:spcPts val="600"/>
              </a:spcAft>
            </a:pPr>
            <a:r>
              <a:rPr lang="zh-CN" altLang="en-US" sz="2800" dirty="0" smtClean="0">
                <a:latin typeface="+mj-ea"/>
              </a:rPr>
              <a:t>以太网交换机类型</a:t>
            </a:r>
            <a:endParaRPr lang="en-US" altLang="zh-CN" sz="2800" dirty="0">
              <a:latin typeface="+mj-ea"/>
            </a:endParaRPr>
          </a:p>
          <a:p>
            <a:pPr lvl="1">
              <a:lnSpc>
                <a:spcPct val="90000"/>
              </a:lnSpc>
              <a:spcBef>
                <a:spcPts val="600"/>
              </a:spcBef>
            </a:pPr>
            <a:r>
              <a:rPr lang="zh-CN" altLang="en-US" sz="2400" dirty="0"/>
              <a:t>存储转发式交换</a:t>
            </a:r>
          </a:p>
          <a:p>
            <a:pPr lvl="1">
              <a:lnSpc>
                <a:spcPct val="90000"/>
              </a:lnSpc>
              <a:spcBef>
                <a:spcPts val="600"/>
              </a:spcBef>
            </a:pPr>
            <a:r>
              <a:rPr lang="zh-CN" altLang="en-US" sz="2400" dirty="0"/>
              <a:t>直通式交换</a:t>
            </a:r>
          </a:p>
          <a:p>
            <a:pPr lvl="1">
              <a:lnSpc>
                <a:spcPct val="90000"/>
              </a:lnSpc>
              <a:spcBef>
                <a:spcPts val="600"/>
              </a:spcBef>
            </a:pPr>
            <a:r>
              <a:rPr lang="zh-CN" altLang="en-US" sz="2400" dirty="0"/>
              <a:t>碎片交换方式   </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1187624" y="251302"/>
            <a:ext cx="7772400" cy="586061"/>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mj-lt"/>
                <a:ea typeface="+mj-ea"/>
                <a:cs typeface="+mj-cs"/>
              </a:rPr>
              <a:t>虚拟局域网</a:t>
            </a:r>
            <a:r>
              <a:rPr kumimoji="1" lang="zh-CN" altLang="en-US" b="1" i="0" u="none" strike="noStrike" kern="0" cap="none" spc="0" normalizeH="0" baseline="0" noProof="0" dirty="0" smtClean="0">
                <a:ln>
                  <a:noFill/>
                </a:ln>
                <a:effectLst/>
                <a:uLnTx/>
                <a:uFillTx/>
                <a:latin typeface="+mj-lt"/>
                <a:ea typeface="+mj-ea"/>
                <a:cs typeface="+mj-cs"/>
              </a:rPr>
              <a:t> </a:t>
            </a:r>
          </a:p>
        </p:txBody>
      </p:sp>
      <p:sp>
        <p:nvSpPr>
          <p:cNvPr id="64514" name="Rectangle 3"/>
          <p:cNvSpPr>
            <a:spLocks noGrp="1"/>
          </p:cNvSpPr>
          <p:nvPr>
            <p:ph idx="1"/>
          </p:nvPr>
        </p:nvSpPr>
        <p:spPr>
          <a:xfrm>
            <a:off x="762000" y="1268760"/>
            <a:ext cx="8382000" cy="4607415"/>
          </a:xfrm>
        </p:spPr>
        <p:txBody>
          <a:bodyPr vert="horz" wrap="square" lIns="91440" tIns="45720" rIns="91440" bIns="45720" anchor="t">
            <a:spAutoFit/>
          </a:bodyPr>
          <a:lstStyle/>
          <a:p>
            <a:pPr marL="450850" indent="-450850" algn="just" eaLnBrk="1" hangingPunct="1">
              <a:spcBef>
                <a:spcPts val="600"/>
              </a:spcBef>
              <a:spcAft>
                <a:spcPts val="600"/>
              </a:spcAft>
            </a:pPr>
            <a:r>
              <a:rPr lang="zh-CN" altLang="en-US" sz="2800" dirty="0">
                <a:latin typeface="+mj-ea"/>
                <a:ea typeface="+mj-ea"/>
              </a:rPr>
              <a:t>虚拟</a:t>
            </a:r>
            <a:r>
              <a:rPr lang="zh-CN" altLang="en-US" sz="2800" dirty="0" smtClean="0">
                <a:latin typeface="+mj-ea"/>
                <a:ea typeface="+mj-ea"/>
              </a:rPr>
              <a:t>局域网定义</a:t>
            </a:r>
            <a:endParaRPr lang="en-US" altLang="zh-CN" sz="2800" dirty="0" smtClean="0">
              <a:latin typeface="+mj-ea"/>
              <a:ea typeface="+mj-ea"/>
            </a:endParaRPr>
          </a:p>
          <a:p>
            <a:pPr lvl="1" indent="-379730" algn="just" eaLnBrk="1" hangingPunct="1">
              <a:lnSpc>
                <a:spcPct val="120000"/>
              </a:lnSpc>
              <a:spcBef>
                <a:spcPts val="600"/>
              </a:spcBef>
              <a:spcAft>
                <a:spcPts val="600"/>
              </a:spcAft>
            </a:pPr>
            <a:r>
              <a:rPr lang="zh-CN" altLang="zh-CN" sz="2400" dirty="0"/>
              <a:t>在交换式局域网的基础上，采用网络管理软件构建的可跨越不同网段、不同网络的端到端的逻辑</a:t>
            </a:r>
            <a:r>
              <a:rPr lang="zh-CN" altLang="zh-CN" sz="2400" dirty="0" smtClean="0"/>
              <a:t>网络</a:t>
            </a:r>
            <a:endParaRPr lang="zh-CN" altLang="en-US" sz="2400" dirty="0">
              <a:solidFill>
                <a:srgbClr val="003399"/>
              </a:solidFill>
            </a:endParaRPr>
          </a:p>
          <a:p>
            <a:pPr marL="450850" indent="-450850" algn="just" eaLnBrk="1" hangingPunct="1">
              <a:spcBef>
                <a:spcPts val="600"/>
              </a:spcBef>
              <a:spcAft>
                <a:spcPts val="600"/>
              </a:spcAft>
            </a:pPr>
            <a:r>
              <a:rPr lang="zh-CN" altLang="en-US" sz="2800" dirty="0">
                <a:latin typeface="+mj-ea"/>
                <a:ea typeface="+mj-ea"/>
              </a:rPr>
              <a:t>虚拟局域网的优点</a:t>
            </a:r>
          </a:p>
          <a:p>
            <a:pPr lvl="1" indent="-379730" algn="just" eaLnBrk="1" hangingPunct="1">
              <a:lnSpc>
                <a:spcPct val="120000"/>
              </a:lnSpc>
              <a:spcBef>
                <a:spcPts val="600"/>
              </a:spcBef>
              <a:spcAft>
                <a:spcPts val="600"/>
              </a:spcAft>
            </a:pPr>
            <a:r>
              <a:rPr lang="zh-CN" altLang="en-US" sz="2400" dirty="0"/>
              <a:t> 网络设备的移动、添加和修改的管理开销减少 </a:t>
            </a:r>
          </a:p>
          <a:p>
            <a:pPr lvl="1" indent="-379730" algn="just" eaLnBrk="1" hangingPunct="1">
              <a:lnSpc>
                <a:spcPct val="120000"/>
              </a:lnSpc>
              <a:spcBef>
                <a:spcPts val="600"/>
              </a:spcBef>
              <a:spcAft>
                <a:spcPts val="600"/>
              </a:spcAft>
            </a:pPr>
            <a:r>
              <a:rPr lang="zh-CN" altLang="en-US" sz="2400" dirty="0"/>
              <a:t> 可以控制广播</a:t>
            </a:r>
            <a:r>
              <a:rPr lang="zh-CN" altLang="en-US" sz="2400" dirty="0" smtClean="0"/>
              <a:t>风暴</a:t>
            </a:r>
            <a:endParaRPr lang="zh-CN" altLang="en-US" sz="2400" dirty="0"/>
          </a:p>
          <a:p>
            <a:pPr lvl="1" indent="-379730" algn="just" eaLnBrk="1" hangingPunct="1">
              <a:lnSpc>
                <a:spcPct val="120000"/>
              </a:lnSpc>
              <a:spcBef>
                <a:spcPts val="600"/>
              </a:spcBef>
              <a:spcAft>
                <a:spcPts val="600"/>
              </a:spcAft>
            </a:pPr>
            <a:r>
              <a:rPr lang="zh-CN" altLang="en-US" sz="2400" dirty="0"/>
              <a:t>  可提高网络的安全性   </a:t>
            </a:r>
          </a:p>
          <a:p>
            <a:pPr algn="just" eaLnBrk="1" hangingPunct="1">
              <a:buNone/>
            </a:pPr>
            <a:endParaRPr lang="en-US" altLang="zh-CN" dirty="0">
              <a:solidFill>
                <a:srgbClr val="003399"/>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1042988" y="332656"/>
            <a:ext cx="7772400" cy="730697"/>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mj-lt"/>
                <a:ea typeface="+mj-ea"/>
                <a:cs typeface="+mj-cs"/>
              </a:rPr>
              <a:t>虚拟局域网</a:t>
            </a:r>
            <a:r>
              <a:rPr kumimoji="1" lang="zh-CN" altLang="en-US" b="1" i="0" u="none" strike="noStrike" kern="0" cap="none" spc="0" normalizeH="0" baseline="0" noProof="0" dirty="0" smtClean="0">
                <a:ln>
                  <a:noFill/>
                </a:ln>
                <a:effectLst/>
                <a:uLnTx/>
                <a:uFillTx/>
                <a:latin typeface="+mj-lt"/>
                <a:ea typeface="+mj-ea"/>
                <a:cs typeface="+mj-cs"/>
              </a:rPr>
              <a:t>划分方法</a:t>
            </a:r>
          </a:p>
        </p:txBody>
      </p:sp>
      <p:sp>
        <p:nvSpPr>
          <p:cNvPr id="65538" name="Rectangle 4"/>
          <p:cNvSpPr/>
          <p:nvPr/>
        </p:nvSpPr>
        <p:spPr>
          <a:xfrm>
            <a:off x="1115616" y="1340768"/>
            <a:ext cx="7057404" cy="3471720"/>
          </a:xfrm>
          <a:prstGeom prst="rect">
            <a:avLst/>
          </a:prstGeom>
          <a:noFill/>
          <a:ln w="9525">
            <a:noFill/>
          </a:ln>
        </p:spPr>
        <p:txBody>
          <a:bodyPr wrap="square" anchor="t">
            <a:spAutoFit/>
          </a:bodyPr>
          <a:lstStyle/>
          <a:p>
            <a:pPr marL="450850" indent="-450850" algn="just" eaLnBrk="1" hangingPunct="1">
              <a:spcBef>
                <a:spcPts val="600"/>
              </a:spcBef>
              <a:spcAft>
                <a:spcPts val="600"/>
              </a:spcAft>
              <a:buClr>
                <a:srgbClr val="3366FF"/>
              </a:buClr>
              <a:buFont typeface="Wingdings" panose="05000000000000000000" pitchFamily="2" charset="2"/>
              <a:buChar char="l"/>
            </a:pPr>
            <a:r>
              <a:rPr lang="en-US" altLang="zh-CN" dirty="0">
                <a:solidFill>
                  <a:schemeClr val="bg2"/>
                </a:solidFill>
                <a:latin typeface="+mj-ea"/>
                <a:ea typeface="+mj-ea"/>
              </a:rPr>
              <a:t> </a:t>
            </a:r>
            <a:r>
              <a:rPr lang="zh-CN" altLang="en-US" dirty="0">
                <a:solidFill>
                  <a:schemeClr val="bg2"/>
                </a:solidFill>
                <a:latin typeface="+mj-ea"/>
                <a:ea typeface="+mj-ea"/>
              </a:rPr>
              <a:t>基于端口的划分</a:t>
            </a:r>
          </a:p>
          <a:p>
            <a:pPr marL="742950" lvl="1" indent="-379730" algn="just" eaLnBrk="1" hangingPunct="1">
              <a:lnSpc>
                <a:spcPct val="120000"/>
              </a:lnSpc>
              <a:spcBef>
                <a:spcPts val="600"/>
              </a:spcBef>
              <a:spcAft>
                <a:spcPts val="600"/>
              </a:spcAft>
              <a:buClr>
                <a:srgbClr val="003399"/>
              </a:buClr>
              <a:buFont typeface="Wingdings" panose="05000000000000000000" pitchFamily="2" charset="2"/>
              <a:buChar char="ü"/>
            </a:pPr>
            <a:r>
              <a:rPr lang="zh-CN" altLang="en-US" sz="2400" dirty="0">
                <a:solidFill>
                  <a:srgbClr val="003399"/>
                </a:solidFill>
                <a:latin typeface="+mn-lt"/>
                <a:ea typeface="+mn-ea"/>
              </a:rPr>
              <a:t>单交换机端口定义</a:t>
            </a:r>
          </a:p>
          <a:p>
            <a:pPr marL="742950" lvl="1" indent="-379730" algn="just" eaLnBrk="1" hangingPunct="1">
              <a:lnSpc>
                <a:spcPct val="120000"/>
              </a:lnSpc>
              <a:spcBef>
                <a:spcPts val="600"/>
              </a:spcBef>
              <a:spcAft>
                <a:spcPts val="600"/>
              </a:spcAft>
              <a:buClr>
                <a:srgbClr val="003399"/>
              </a:buClr>
              <a:buFont typeface="Wingdings" panose="05000000000000000000" pitchFamily="2" charset="2"/>
              <a:buChar char="ü"/>
            </a:pPr>
            <a:r>
              <a:rPr lang="zh-CN" altLang="en-US" sz="2400" dirty="0">
                <a:solidFill>
                  <a:srgbClr val="003399"/>
                </a:solidFill>
                <a:latin typeface="+mn-lt"/>
                <a:ea typeface="+mn-ea"/>
              </a:rPr>
              <a:t>多交换机端口定义</a:t>
            </a:r>
          </a:p>
          <a:p>
            <a:pPr marL="450850" indent="-450850" algn="just" eaLnBrk="1" hangingPunct="1">
              <a:spcBef>
                <a:spcPts val="600"/>
              </a:spcBef>
              <a:spcAft>
                <a:spcPts val="600"/>
              </a:spcAft>
              <a:buClr>
                <a:srgbClr val="3366FF"/>
              </a:buClr>
              <a:buFont typeface="Wingdings" panose="05000000000000000000" pitchFamily="2" charset="2"/>
              <a:buChar char="l"/>
            </a:pPr>
            <a:r>
              <a:rPr lang="zh-CN" altLang="en-US" dirty="0">
                <a:solidFill>
                  <a:schemeClr val="bg2"/>
                </a:solidFill>
                <a:latin typeface="+mj-ea"/>
                <a:ea typeface="+mj-ea"/>
              </a:rPr>
              <a:t> 基于</a:t>
            </a:r>
            <a:r>
              <a:rPr lang="en-US" altLang="zh-CN" dirty="0">
                <a:solidFill>
                  <a:schemeClr val="bg2"/>
                </a:solidFill>
                <a:latin typeface="+mj-ea"/>
                <a:ea typeface="+mj-ea"/>
              </a:rPr>
              <a:t>MAC</a:t>
            </a:r>
            <a:r>
              <a:rPr lang="zh-CN" altLang="en-US" dirty="0">
                <a:solidFill>
                  <a:schemeClr val="bg2"/>
                </a:solidFill>
                <a:latin typeface="+mj-ea"/>
                <a:ea typeface="+mj-ea"/>
              </a:rPr>
              <a:t>地址的划分</a:t>
            </a:r>
          </a:p>
          <a:p>
            <a:pPr marL="450850" indent="-450850" algn="just" eaLnBrk="1" hangingPunct="1">
              <a:spcBef>
                <a:spcPts val="600"/>
              </a:spcBef>
              <a:spcAft>
                <a:spcPts val="600"/>
              </a:spcAft>
              <a:buClr>
                <a:srgbClr val="3366FF"/>
              </a:buClr>
              <a:buFont typeface="Wingdings" panose="05000000000000000000" pitchFamily="2" charset="2"/>
              <a:buChar char="l"/>
            </a:pPr>
            <a:r>
              <a:rPr lang="zh-CN" altLang="en-US" dirty="0">
                <a:solidFill>
                  <a:schemeClr val="bg2"/>
                </a:solidFill>
                <a:latin typeface="+mj-ea"/>
                <a:ea typeface="+mj-ea"/>
              </a:rPr>
              <a:t> 基于网络层的划分</a:t>
            </a:r>
          </a:p>
          <a:p>
            <a:pPr marL="450850" indent="-450850" algn="just" eaLnBrk="1" hangingPunct="1">
              <a:spcBef>
                <a:spcPts val="600"/>
              </a:spcBef>
              <a:spcAft>
                <a:spcPts val="600"/>
              </a:spcAft>
              <a:buClr>
                <a:srgbClr val="3366FF"/>
              </a:buClr>
              <a:buFont typeface="Wingdings" panose="05000000000000000000" pitchFamily="2" charset="2"/>
              <a:buChar char="l"/>
            </a:pPr>
            <a:r>
              <a:rPr lang="zh-CN" altLang="en-US" dirty="0">
                <a:solidFill>
                  <a:schemeClr val="bg2"/>
                </a:solidFill>
                <a:latin typeface="+mj-ea"/>
                <a:ea typeface="+mj-ea"/>
              </a:rPr>
              <a:t> 基于</a:t>
            </a:r>
            <a:r>
              <a:rPr lang="en-US" altLang="zh-CN" dirty="0">
                <a:solidFill>
                  <a:schemeClr val="bg2"/>
                </a:solidFill>
                <a:latin typeface="+mj-ea"/>
                <a:ea typeface="+mj-ea"/>
              </a:rPr>
              <a:t>IP</a:t>
            </a:r>
            <a:r>
              <a:rPr lang="zh-CN" altLang="en-US" dirty="0">
                <a:solidFill>
                  <a:schemeClr val="bg2"/>
                </a:solidFill>
                <a:latin typeface="+mj-ea"/>
                <a:ea typeface="+mj-ea"/>
              </a:rPr>
              <a:t>组播的划分</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1371600" y="177800"/>
            <a:ext cx="7592888" cy="874713"/>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zh-CN" b="0" i="0" u="none" strike="noStrike" kern="0" cap="none" spc="0" normalizeH="0" baseline="0" noProof="0" dirty="0" smtClean="0">
                <a:ln>
                  <a:noFill/>
                </a:ln>
                <a:effectLst/>
                <a:uLnTx/>
                <a:uFillTx/>
                <a:latin typeface="+mj-lt"/>
                <a:ea typeface="+mj-ea"/>
                <a:cs typeface="+mj-cs"/>
              </a:rPr>
              <a:t>单交换机端口定义</a:t>
            </a:r>
            <a:r>
              <a:rPr kumimoji="1" lang="en-US" altLang="zh-CN" b="0" i="0" u="none" strike="noStrike" kern="0" cap="none" spc="0" normalizeH="0" baseline="0" noProof="0" dirty="0" smtClean="0">
                <a:ln>
                  <a:noFill/>
                </a:ln>
                <a:effectLst/>
                <a:uLnTx/>
                <a:uFillTx/>
                <a:latin typeface="+mj-lt"/>
                <a:ea typeface="+mj-ea"/>
                <a:cs typeface="+mj-cs"/>
              </a:rPr>
              <a:t>VLAN</a:t>
            </a:r>
            <a:endParaRPr kumimoji="1" lang="zh-CN" altLang="en-US" b="1" i="0" u="none" strike="noStrike" kern="0" cap="none" spc="0" normalizeH="0" baseline="0" noProof="0" dirty="0" smtClean="0">
              <a:ln>
                <a:noFill/>
              </a:ln>
              <a:effectLst/>
              <a:uLnTx/>
              <a:uFillTx/>
              <a:latin typeface="+mj-lt"/>
              <a:ea typeface="+mj-ea"/>
              <a:cs typeface="+mj-cs"/>
            </a:endParaRPr>
          </a:p>
        </p:txBody>
      </p:sp>
      <p:sp>
        <p:nvSpPr>
          <p:cNvPr id="66562" name="Rectangle 2"/>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66563" name="Object 1"/>
          <p:cNvGraphicFramePr/>
          <p:nvPr/>
        </p:nvGraphicFramePr>
        <p:xfrm>
          <a:off x="611560" y="1556792"/>
          <a:ext cx="7724775" cy="3671887"/>
        </p:xfrm>
        <a:graphic>
          <a:graphicData uri="http://schemas.openxmlformats.org/presentationml/2006/ole">
            <mc:AlternateContent xmlns:mc="http://schemas.openxmlformats.org/markup-compatibility/2006">
              <mc:Choice xmlns:v="urn:schemas-microsoft-com:vml" Requires="v">
                <p:oleObj spid="_x0000_s118816" r:id="rId4" imgW="6553200" imgH="3098800" progId="Visio.Drawing.11">
                  <p:embed/>
                </p:oleObj>
              </mc:Choice>
              <mc:Fallback>
                <p:oleObj r:id="rId4" imgW="6553200" imgH="3098800" progId="Visio.Drawing.11">
                  <p:embed/>
                  <p:pic>
                    <p:nvPicPr>
                      <p:cNvPr id="0" name="Object 1"/>
                      <p:cNvPicPr/>
                      <p:nvPr/>
                    </p:nvPicPr>
                    <p:blipFill>
                      <a:blip r:embed="rId5"/>
                      <a:stretch>
                        <a:fillRect/>
                      </a:stretch>
                    </p:blipFill>
                    <p:spPr>
                      <a:xfrm>
                        <a:off x="611560" y="1556792"/>
                        <a:ext cx="7724775" cy="36718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1187624" y="332656"/>
            <a:ext cx="7772400" cy="658069"/>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smtClean="0">
                <a:ln>
                  <a:noFill/>
                </a:ln>
                <a:effectLst/>
                <a:uLnTx/>
                <a:uFillTx/>
                <a:latin typeface="+mj-lt"/>
                <a:ea typeface="+mj-ea"/>
                <a:cs typeface="+mj-cs"/>
              </a:rPr>
              <a:t>多</a:t>
            </a:r>
            <a:r>
              <a:rPr kumimoji="1" lang="zh-CN" altLang="zh-CN" b="0" i="0" u="none" strike="noStrike" kern="0" cap="none" spc="0" normalizeH="0" baseline="0" noProof="0" dirty="0" smtClean="0">
                <a:ln>
                  <a:noFill/>
                </a:ln>
                <a:effectLst/>
                <a:uLnTx/>
                <a:uFillTx/>
                <a:latin typeface="+mj-lt"/>
                <a:ea typeface="+mj-ea"/>
                <a:cs typeface="+mj-cs"/>
              </a:rPr>
              <a:t>交换机端口定义</a:t>
            </a:r>
            <a:r>
              <a:rPr kumimoji="1" lang="en-US" altLang="zh-CN" b="0" i="0" u="none" strike="noStrike" kern="0" cap="none" spc="0" normalizeH="0" baseline="0" noProof="0" dirty="0" smtClean="0">
                <a:ln>
                  <a:noFill/>
                </a:ln>
                <a:effectLst/>
                <a:uLnTx/>
                <a:uFillTx/>
                <a:latin typeface="+mj-lt"/>
                <a:ea typeface="+mj-ea"/>
                <a:cs typeface="+mj-cs"/>
              </a:rPr>
              <a:t>VLAN</a:t>
            </a:r>
            <a:endParaRPr kumimoji="1" lang="zh-CN" altLang="en-US" b="1" i="0" u="none" strike="noStrike" kern="0" cap="none" spc="0" normalizeH="0" baseline="0" noProof="0" dirty="0" smtClean="0">
              <a:ln>
                <a:noFill/>
              </a:ln>
              <a:effectLst/>
              <a:uLnTx/>
              <a:uFillTx/>
              <a:latin typeface="+mj-lt"/>
              <a:ea typeface="+mj-ea"/>
              <a:cs typeface="+mj-cs"/>
            </a:endParaRPr>
          </a:p>
        </p:txBody>
      </p:sp>
      <p:sp>
        <p:nvSpPr>
          <p:cNvPr id="67586" name="Rectangle 2"/>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sp>
        <p:nvSpPr>
          <p:cNvPr id="67587" name="Rectangle 4"/>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67588" name="Object 3"/>
          <p:cNvGraphicFramePr/>
          <p:nvPr/>
        </p:nvGraphicFramePr>
        <p:xfrm>
          <a:off x="484717" y="1700808"/>
          <a:ext cx="8496944" cy="2520280"/>
        </p:xfrm>
        <a:graphic>
          <a:graphicData uri="http://schemas.openxmlformats.org/presentationml/2006/ole">
            <mc:AlternateContent xmlns:mc="http://schemas.openxmlformats.org/markup-compatibility/2006">
              <mc:Choice xmlns:v="urn:schemas-microsoft-com:vml" Requires="v">
                <p:oleObj spid="_x0000_s119840" r:id="rId4" imgW="13182600" imgH="3098800" progId="Visio.Drawing.11">
                  <p:embed/>
                </p:oleObj>
              </mc:Choice>
              <mc:Fallback>
                <p:oleObj r:id="rId4" imgW="13182600" imgH="3098800" progId="Visio.Drawing.11">
                  <p:embed/>
                  <p:pic>
                    <p:nvPicPr>
                      <p:cNvPr id="0" name="Object 3"/>
                      <p:cNvPicPr/>
                      <p:nvPr/>
                    </p:nvPicPr>
                    <p:blipFill>
                      <a:blip r:embed="rId5"/>
                      <a:stretch>
                        <a:fillRect/>
                      </a:stretch>
                    </p:blipFill>
                    <p:spPr>
                      <a:xfrm>
                        <a:off x="484717" y="1700808"/>
                        <a:ext cx="8496944" cy="2520280"/>
                      </a:xfrm>
                      <a:prstGeom prst="rect">
                        <a:avLst/>
                      </a:prstGeom>
                      <a:noFill/>
                      <a:ln w="38100">
                        <a:noFill/>
                        <a:miter/>
                      </a:ln>
                    </p:spPr>
                  </p:pic>
                </p:oleObj>
              </mc:Fallback>
            </mc:AlternateContent>
          </a:graphicData>
        </a:graphic>
      </p:graphicFrame>
      <p:cxnSp>
        <p:nvCxnSpPr>
          <p:cNvPr id="6" name="直接连接符 5"/>
          <p:cNvCxnSpPr/>
          <p:nvPr/>
        </p:nvCxnSpPr>
        <p:spPr bwMode="auto">
          <a:xfrm>
            <a:off x="3953745" y="1988840"/>
            <a:ext cx="864096" cy="0"/>
          </a:xfrm>
          <a:prstGeom prst="line">
            <a:avLst/>
          </a:prstGeom>
          <a:noFill/>
          <a:ln w="57150">
            <a:solidFill>
              <a:srgbClr val="C00000"/>
            </a:solidFill>
          </a:ln>
        </p:spPr>
      </p:cxn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1259632" y="375071"/>
            <a:ext cx="7772400" cy="586681"/>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b="0" i="0" u="none" strike="noStrike" kern="0" cap="none" spc="0" normalizeH="0" baseline="0" noProof="0" dirty="0" smtClean="0">
                <a:ln>
                  <a:noFill/>
                </a:ln>
                <a:effectLst/>
                <a:uLnTx/>
                <a:uFillTx/>
                <a:latin typeface="+mj-lt"/>
                <a:ea typeface="+mj-ea"/>
                <a:cs typeface="+mj-cs"/>
              </a:rPr>
              <a:t>802.1Q </a:t>
            </a:r>
            <a:r>
              <a:rPr kumimoji="1" lang="zh-CN" altLang="en-US" b="0" i="0" u="none" strike="noStrike" kern="0" cap="none" spc="0" normalizeH="0" baseline="0" noProof="0" dirty="0" smtClean="0">
                <a:ln>
                  <a:noFill/>
                </a:ln>
                <a:effectLst/>
                <a:uLnTx/>
                <a:uFillTx/>
                <a:latin typeface="+mj-lt"/>
                <a:ea typeface="+mj-ea"/>
                <a:cs typeface="+mj-cs"/>
              </a:rPr>
              <a:t>帧格式</a:t>
            </a:r>
            <a:endParaRPr kumimoji="1" lang="zh-CN" altLang="en-US" b="1" i="0" u="none" strike="noStrike" kern="0" cap="none" spc="0" normalizeH="0" baseline="0" noProof="0" dirty="0" smtClean="0">
              <a:ln>
                <a:noFill/>
              </a:ln>
              <a:effectLst/>
              <a:uLnTx/>
              <a:uFillTx/>
              <a:latin typeface="+mj-lt"/>
              <a:ea typeface="+mj-ea"/>
              <a:cs typeface="+mj-cs"/>
            </a:endParaRPr>
          </a:p>
        </p:txBody>
      </p:sp>
      <p:sp>
        <p:nvSpPr>
          <p:cNvPr id="68610" name="Rectangle 2"/>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sp>
        <p:nvSpPr>
          <p:cNvPr id="68611" name="Rectangle 4"/>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3" name="对象 2"/>
          <p:cNvGraphicFramePr/>
          <p:nvPr/>
        </p:nvGraphicFramePr>
        <p:xfrm>
          <a:off x="899592" y="1305761"/>
          <a:ext cx="7416824" cy="4320480"/>
        </p:xfrm>
        <a:graphic>
          <a:graphicData uri="http://schemas.openxmlformats.org/presentationml/2006/ole">
            <mc:AlternateContent xmlns:mc="http://schemas.openxmlformats.org/markup-compatibility/2006">
              <mc:Choice xmlns:v="urn:schemas-microsoft-com:vml" Requires="v">
                <p:oleObj spid="_x0000_s120865" r:id="rId4" imgW="6410325" imgH="3457575" progId="Paint.Picture">
                  <p:embed/>
                </p:oleObj>
              </mc:Choice>
              <mc:Fallback>
                <p:oleObj r:id="rId4" imgW="6410325" imgH="3457575" progId="Paint.Picture">
                  <p:embed/>
                  <p:pic>
                    <p:nvPicPr>
                      <p:cNvPr id="0" name="对象 2"/>
                      <p:cNvPicPr/>
                      <p:nvPr/>
                    </p:nvPicPr>
                    <p:blipFill>
                      <a:blip r:embed="rId5"/>
                      <a:stretch>
                        <a:fillRect/>
                      </a:stretch>
                    </p:blipFill>
                    <p:spPr>
                      <a:xfrm>
                        <a:off x="899592" y="1305761"/>
                        <a:ext cx="7416824" cy="432048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1042988" y="365993"/>
            <a:ext cx="7772400" cy="542057"/>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b="0" i="0" u="none" strike="noStrike" kern="0" cap="none" spc="0" normalizeH="0" baseline="0" noProof="0" dirty="0" smtClean="0">
                <a:ln>
                  <a:noFill/>
                </a:ln>
                <a:effectLst/>
                <a:uLnTx/>
                <a:uFillTx/>
                <a:latin typeface="+mj-lt"/>
                <a:ea typeface="+mj-ea"/>
                <a:cs typeface="+mj-cs"/>
              </a:rPr>
              <a:t>6.8 </a:t>
            </a:r>
            <a:r>
              <a:rPr kumimoji="1" lang="zh-CN" altLang="en-US" b="0" i="0" u="none" strike="noStrike" kern="0" cap="none" spc="0" normalizeH="0" baseline="0" noProof="0" dirty="0" smtClean="0">
                <a:ln>
                  <a:noFill/>
                </a:ln>
                <a:effectLst/>
                <a:uLnTx/>
                <a:uFillTx/>
                <a:latin typeface="+mj-lt"/>
                <a:ea typeface="+mj-ea"/>
                <a:cs typeface="+mj-cs"/>
              </a:rPr>
              <a:t>无线局域网</a:t>
            </a:r>
            <a:endParaRPr kumimoji="1" lang="zh-CN" altLang="en-US" b="1" i="0" u="none" strike="noStrike" kern="0" cap="none" spc="0" normalizeH="0" baseline="0" noProof="0" dirty="0" smtClean="0">
              <a:ln>
                <a:noFill/>
              </a:ln>
              <a:effectLst/>
              <a:uLnTx/>
              <a:uFillTx/>
              <a:latin typeface="+mj-lt"/>
              <a:ea typeface="+mj-ea"/>
              <a:cs typeface="+mj-cs"/>
            </a:endParaRPr>
          </a:p>
        </p:txBody>
      </p:sp>
      <p:sp>
        <p:nvSpPr>
          <p:cNvPr id="69634" name="Rectangle 5"/>
          <p:cNvSpPr>
            <a:spLocks noGrp="1"/>
          </p:cNvSpPr>
          <p:nvPr>
            <p:ph idx="1"/>
          </p:nvPr>
        </p:nvSpPr>
        <p:spPr>
          <a:xfrm>
            <a:off x="1256470" y="1340768"/>
            <a:ext cx="7345436" cy="4182683"/>
          </a:xfrm>
        </p:spPr>
        <p:txBody>
          <a:bodyPr vert="horz" wrap="square" lIns="91440" tIns="45720" rIns="91440" bIns="45720" anchor="t">
            <a:spAutoFit/>
          </a:bodyPr>
          <a:lstStyle/>
          <a:p>
            <a:pPr algn="just" eaLnBrk="1" hangingPunct="1">
              <a:spcBef>
                <a:spcPts val="600"/>
              </a:spcBef>
              <a:spcAft>
                <a:spcPts val="600"/>
              </a:spcAft>
            </a:pPr>
            <a:r>
              <a:rPr lang="zh-CN" altLang="en-US" sz="2800" dirty="0">
                <a:latin typeface="+mj-ea"/>
                <a:ea typeface="+mj-ea"/>
              </a:rPr>
              <a:t>无线局域网的优点</a:t>
            </a:r>
          </a:p>
          <a:p>
            <a:pPr marL="1009650" lvl="1" indent="-609600" algn="just" eaLnBrk="1" hangingPunct="1">
              <a:lnSpc>
                <a:spcPct val="90000"/>
              </a:lnSpc>
            </a:pPr>
            <a:r>
              <a:rPr lang="zh-CN" altLang="en-US" sz="2400" dirty="0">
                <a:solidFill>
                  <a:srgbClr val="003399"/>
                </a:solidFill>
              </a:rPr>
              <a:t>灵活性和移动性</a:t>
            </a:r>
          </a:p>
          <a:p>
            <a:pPr marL="1009650" lvl="1" indent="-609600" algn="just" eaLnBrk="1" hangingPunct="1">
              <a:lnSpc>
                <a:spcPct val="90000"/>
              </a:lnSpc>
            </a:pPr>
            <a:r>
              <a:rPr lang="zh-CN" altLang="en-US" sz="2400" dirty="0">
                <a:solidFill>
                  <a:srgbClr val="003399"/>
                </a:solidFill>
              </a:rPr>
              <a:t>安装便捷</a:t>
            </a:r>
          </a:p>
          <a:p>
            <a:pPr marL="1009650" lvl="1" indent="-609600" algn="just" eaLnBrk="1" hangingPunct="1">
              <a:lnSpc>
                <a:spcPct val="90000"/>
              </a:lnSpc>
            </a:pPr>
            <a:r>
              <a:rPr lang="zh-CN" altLang="en-US" sz="2400" dirty="0">
                <a:solidFill>
                  <a:srgbClr val="003399"/>
                </a:solidFill>
              </a:rPr>
              <a:t>易于进行网络规划和调整</a:t>
            </a:r>
          </a:p>
          <a:p>
            <a:pPr marL="1009650" lvl="1" indent="-609600" algn="just" eaLnBrk="1" hangingPunct="1">
              <a:lnSpc>
                <a:spcPct val="90000"/>
              </a:lnSpc>
            </a:pPr>
            <a:r>
              <a:rPr lang="zh-CN" altLang="en-US" sz="2400" dirty="0">
                <a:solidFill>
                  <a:srgbClr val="003399"/>
                </a:solidFill>
              </a:rPr>
              <a:t>故障定位容易</a:t>
            </a:r>
          </a:p>
          <a:p>
            <a:pPr marL="1009650" lvl="1" indent="-609600" algn="just" eaLnBrk="1" hangingPunct="1">
              <a:lnSpc>
                <a:spcPct val="90000"/>
              </a:lnSpc>
            </a:pPr>
            <a:r>
              <a:rPr lang="zh-CN" altLang="en-US" sz="2400" dirty="0">
                <a:solidFill>
                  <a:srgbClr val="003399"/>
                </a:solidFill>
              </a:rPr>
              <a:t>易于扩展</a:t>
            </a:r>
          </a:p>
          <a:p>
            <a:pPr algn="just" eaLnBrk="1" hangingPunct="1">
              <a:spcBef>
                <a:spcPts val="1800"/>
              </a:spcBef>
              <a:spcAft>
                <a:spcPts val="600"/>
              </a:spcAft>
            </a:pPr>
            <a:r>
              <a:rPr lang="zh-CN" altLang="en-US" sz="2800" dirty="0">
                <a:latin typeface="+mj-ea"/>
                <a:ea typeface="+mj-ea"/>
              </a:rPr>
              <a:t>无线</a:t>
            </a:r>
            <a:r>
              <a:rPr lang="zh-CN" altLang="en-US" sz="2800" dirty="0" smtClean="0">
                <a:latin typeface="+mj-ea"/>
                <a:ea typeface="+mj-ea"/>
              </a:rPr>
              <a:t>局域网拓扑类型</a:t>
            </a:r>
            <a:endParaRPr lang="zh-CN" altLang="en-US" sz="2800" dirty="0">
              <a:latin typeface="+mj-ea"/>
              <a:ea typeface="+mj-ea"/>
            </a:endParaRPr>
          </a:p>
          <a:p>
            <a:pPr marL="1009650" lvl="1" indent="-609600" algn="just" eaLnBrk="1" hangingPunct="1">
              <a:lnSpc>
                <a:spcPct val="90000"/>
              </a:lnSpc>
            </a:pPr>
            <a:r>
              <a:rPr lang="zh-CN" altLang="en-US" sz="2400" dirty="0"/>
              <a:t>无中心拓扑</a:t>
            </a:r>
          </a:p>
          <a:p>
            <a:pPr marL="1009650" lvl="1" indent="-609600" algn="just" eaLnBrk="1" hangingPunct="1">
              <a:lnSpc>
                <a:spcPct val="90000"/>
              </a:lnSpc>
            </a:pPr>
            <a:r>
              <a:rPr lang="zh-CN" altLang="en-US" sz="2400" dirty="0"/>
              <a:t>有中心</a:t>
            </a:r>
            <a:r>
              <a:rPr lang="zh-CN" altLang="en-US" sz="2400" dirty="0" smtClean="0"/>
              <a:t>拓扑</a:t>
            </a:r>
            <a:endParaRPr lang="zh-CN" altLang="en-US" sz="2400"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IEEE802.11</a:t>
            </a:r>
            <a:r>
              <a:rPr lang="zh-CN" altLang="zh-CN" dirty="0"/>
              <a:t>标准系列</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42854996"/>
              </p:ext>
            </p:extLst>
          </p:nvPr>
        </p:nvGraphicFramePr>
        <p:xfrm>
          <a:off x="0" y="1412778"/>
          <a:ext cx="9144001" cy="5188675"/>
        </p:xfrm>
        <a:graphic>
          <a:graphicData uri="http://schemas.openxmlformats.org/drawingml/2006/table">
            <a:tbl>
              <a:tblPr firstRow="1" firstCol="1" bandRow="1">
                <a:tableStyleId>{5C22544A-7EE6-4342-B048-85BDC9FD1C3A}</a:tableStyleId>
              </a:tblPr>
              <a:tblGrid>
                <a:gridCol w="755576">
                  <a:extLst>
                    <a:ext uri="{9D8B030D-6E8A-4147-A177-3AD203B41FA5}">
                      <a16:colId xmlns:a16="http://schemas.microsoft.com/office/drawing/2014/main" val="20000"/>
                    </a:ext>
                  </a:extLst>
                </a:gridCol>
                <a:gridCol w="1047940">
                  <a:extLst>
                    <a:ext uri="{9D8B030D-6E8A-4147-A177-3AD203B41FA5}">
                      <a16:colId xmlns:a16="http://schemas.microsoft.com/office/drawing/2014/main" val="20001"/>
                    </a:ext>
                  </a:extLst>
                </a:gridCol>
                <a:gridCol w="799441">
                  <a:extLst>
                    <a:ext uri="{9D8B030D-6E8A-4147-A177-3AD203B41FA5}">
                      <a16:colId xmlns:a16="http://schemas.microsoft.com/office/drawing/2014/main" val="20002"/>
                    </a:ext>
                  </a:extLst>
                </a:gridCol>
                <a:gridCol w="1099572">
                  <a:extLst>
                    <a:ext uri="{9D8B030D-6E8A-4147-A177-3AD203B41FA5}">
                      <a16:colId xmlns:a16="http://schemas.microsoft.com/office/drawing/2014/main" val="20003"/>
                    </a:ext>
                  </a:extLst>
                </a:gridCol>
                <a:gridCol w="1301519">
                  <a:extLst>
                    <a:ext uri="{9D8B030D-6E8A-4147-A177-3AD203B41FA5}">
                      <a16:colId xmlns:a16="http://schemas.microsoft.com/office/drawing/2014/main" val="20004"/>
                    </a:ext>
                  </a:extLst>
                </a:gridCol>
                <a:gridCol w="1197756">
                  <a:extLst>
                    <a:ext uri="{9D8B030D-6E8A-4147-A177-3AD203B41FA5}">
                      <a16:colId xmlns:a16="http://schemas.microsoft.com/office/drawing/2014/main" val="20005"/>
                    </a:ext>
                  </a:extLst>
                </a:gridCol>
                <a:gridCol w="1524304">
                  <a:extLst>
                    <a:ext uri="{9D8B030D-6E8A-4147-A177-3AD203B41FA5}">
                      <a16:colId xmlns:a16="http://schemas.microsoft.com/office/drawing/2014/main" val="20006"/>
                    </a:ext>
                  </a:extLst>
                </a:gridCol>
                <a:gridCol w="1417893">
                  <a:extLst>
                    <a:ext uri="{9D8B030D-6E8A-4147-A177-3AD203B41FA5}">
                      <a16:colId xmlns:a16="http://schemas.microsoft.com/office/drawing/2014/main" val="20007"/>
                    </a:ext>
                  </a:extLst>
                </a:gridCol>
              </a:tblGrid>
              <a:tr h="525235">
                <a:tc>
                  <a:txBody>
                    <a:bodyPr/>
                    <a:lstStyle/>
                    <a:p>
                      <a:pPr algn="just">
                        <a:spcAft>
                          <a:spcPts val="0"/>
                        </a:spcAft>
                      </a:pPr>
                      <a:r>
                        <a:rPr lang="en-US" sz="1800" kern="100">
                          <a:effectLst/>
                        </a:rPr>
                        <a:t> </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dirty="0">
                          <a:solidFill>
                            <a:srgbClr val="FF0000"/>
                          </a:solidFill>
                          <a:effectLst/>
                          <a:latin typeface="+mj-lt"/>
                        </a:rPr>
                        <a:t>802.11</a:t>
                      </a:r>
                      <a:endParaRPr lang="zh-CN" sz="1800" kern="100" dirty="0">
                        <a:solidFill>
                          <a:srgbClr val="FF0000"/>
                        </a:solidFill>
                        <a:effectLst/>
                        <a:latin typeface="+mj-lt"/>
                        <a:ea typeface="宋体" panose="02010600030101010101" pitchFamily="2" charset="-122"/>
                      </a:endParaRPr>
                    </a:p>
                  </a:txBody>
                  <a:tcPr marL="68580" marR="68580" marT="0" marB="0" anchor="ctr"/>
                </a:tc>
                <a:tc>
                  <a:txBody>
                    <a:bodyPr/>
                    <a:lstStyle/>
                    <a:p>
                      <a:pPr algn="ctr">
                        <a:spcAft>
                          <a:spcPts val="0"/>
                        </a:spcAft>
                      </a:pPr>
                      <a:r>
                        <a:rPr lang="en-US" sz="1800" kern="100" dirty="0">
                          <a:solidFill>
                            <a:srgbClr val="FF0000"/>
                          </a:solidFill>
                          <a:effectLst/>
                          <a:latin typeface="+mj-lt"/>
                        </a:rPr>
                        <a:t>802.11a</a:t>
                      </a:r>
                      <a:endParaRPr lang="zh-CN" sz="1800" kern="100" dirty="0">
                        <a:solidFill>
                          <a:srgbClr val="FF0000"/>
                        </a:solidFill>
                        <a:effectLst/>
                        <a:latin typeface="+mj-lt"/>
                        <a:ea typeface="宋体" panose="02010600030101010101" pitchFamily="2" charset="-122"/>
                      </a:endParaRPr>
                    </a:p>
                  </a:txBody>
                  <a:tcPr marL="68580" marR="68580" marT="0" marB="0" anchor="ctr"/>
                </a:tc>
                <a:tc>
                  <a:txBody>
                    <a:bodyPr/>
                    <a:lstStyle/>
                    <a:p>
                      <a:pPr algn="ctr">
                        <a:spcAft>
                          <a:spcPts val="0"/>
                        </a:spcAft>
                      </a:pPr>
                      <a:r>
                        <a:rPr lang="en-US" sz="1800" kern="100" dirty="0">
                          <a:solidFill>
                            <a:srgbClr val="FF0000"/>
                          </a:solidFill>
                          <a:effectLst/>
                          <a:latin typeface="+mj-lt"/>
                        </a:rPr>
                        <a:t>802.11b</a:t>
                      </a:r>
                      <a:endParaRPr lang="zh-CN" sz="1800" kern="100" dirty="0">
                        <a:solidFill>
                          <a:srgbClr val="FF0000"/>
                        </a:solidFill>
                        <a:effectLst/>
                        <a:latin typeface="+mj-lt"/>
                        <a:ea typeface="宋体" panose="02010600030101010101" pitchFamily="2" charset="-122"/>
                      </a:endParaRPr>
                    </a:p>
                  </a:txBody>
                  <a:tcPr marL="68580" marR="68580" marT="0" marB="0" anchor="ctr"/>
                </a:tc>
                <a:tc>
                  <a:txBody>
                    <a:bodyPr/>
                    <a:lstStyle/>
                    <a:p>
                      <a:pPr algn="ctr">
                        <a:spcAft>
                          <a:spcPts val="0"/>
                        </a:spcAft>
                      </a:pPr>
                      <a:r>
                        <a:rPr lang="en-US" sz="1800" kern="100" dirty="0">
                          <a:solidFill>
                            <a:srgbClr val="FF0000"/>
                          </a:solidFill>
                          <a:effectLst/>
                          <a:latin typeface="+mj-lt"/>
                        </a:rPr>
                        <a:t>802.11g</a:t>
                      </a:r>
                      <a:endParaRPr lang="zh-CN" sz="1800" kern="100" dirty="0">
                        <a:solidFill>
                          <a:srgbClr val="FF0000"/>
                        </a:solidFill>
                        <a:effectLst/>
                        <a:latin typeface="+mj-lt"/>
                        <a:ea typeface="宋体" panose="02010600030101010101" pitchFamily="2" charset="-122"/>
                      </a:endParaRPr>
                    </a:p>
                  </a:txBody>
                  <a:tcPr marL="68580" marR="68580" marT="0" marB="0" anchor="ctr"/>
                </a:tc>
                <a:tc>
                  <a:txBody>
                    <a:bodyPr/>
                    <a:lstStyle/>
                    <a:p>
                      <a:pPr algn="ctr">
                        <a:spcAft>
                          <a:spcPts val="0"/>
                        </a:spcAft>
                      </a:pPr>
                      <a:r>
                        <a:rPr lang="en-US" sz="1800" kern="100" dirty="0">
                          <a:solidFill>
                            <a:srgbClr val="FF0000"/>
                          </a:solidFill>
                          <a:effectLst/>
                          <a:latin typeface="+mj-lt"/>
                        </a:rPr>
                        <a:t>802.11n</a:t>
                      </a:r>
                      <a:endParaRPr lang="zh-CN" sz="1800" kern="100" dirty="0">
                        <a:solidFill>
                          <a:srgbClr val="FF0000"/>
                        </a:solidFill>
                        <a:effectLst/>
                        <a:latin typeface="+mj-lt"/>
                        <a:ea typeface="宋体" panose="02010600030101010101" pitchFamily="2" charset="-122"/>
                      </a:endParaRPr>
                    </a:p>
                  </a:txBody>
                  <a:tcPr marL="68580" marR="68580" marT="0" marB="0" anchor="ctr"/>
                </a:tc>
                <a:tc>
                  <a:txBody>
                    <a:bodyPr/>
                    <a:lstStyle/>
                    <a:p>
                      <a:pPr algn="ctr">
                        <a:spcAft>
                          <a:spcPts val="0"/>
                        </a:spcAft>
                      </a:pPr>
                      <a:r>
                        <a:rPr lang="en-US" sz="1800" kern="100" dirty="0">
                          <a:solidFill>
                            <a:srgbClr val="FF0000"/>
                          </a:solidFill>
                          <a:effectLst/>
                          <a:latin typeface="+mj-lt"/>
                        </a:rPr>
                        <a:t>802.11ac</a:t>
                      </a:r>
                      <a:endParaRPr lang="zh-CN" sz="1800" kern="100" dirty="0">
                        <a:solidFill>
                          <a:srgbClr val="FF0000"/>
                        </a:solidFill>
                        <a:effectLst/>
                        <a:latin typeface="+mj-lt"/>
                        <a:ea typeface="宋体" panose="02010600030101010101" pitchFamily="2" charset="-122"/>
                      </a:endParaRPr>
                    </a:p>
                  </a:txBody>
                  <a:tcPr marL="68580" marR="68580" marT="0" marB="0" anchor="ctr"/>
                </a:tc>
                <a:tc>
                  <a:txBody>
                    <a:bodyPr/>
                    <a:lstStyle/>
                    <a:p>
                      <a:pPr algn="ctr">
                        <a:spcAft>
                          <a:spcPts val="0"/>
                        </a:spcAft>
                      </a:pPr>
                      <a:r>
                        <a:rPr lang="en-US" sz="1800" kern="100" dirty="0">
                          <a:solidFill>
                            <a:srgbClr val="FF0000"/>
                          </a:solidFill>
                          <a:effectLst/>
                          <a:latin typeface="+mj-lt"/>
                        </a:rPr>
                        <a:t>802,11ax</a:t>
                      </a:r>
                      <a:endParaRPr lang="zh-CN" sz="1800" kern="100" dirty="0">
                        <a:solidFill>
                          <a:srgbClr val="FF0000"/>
                        </a:solidFill>
                        <a:effectLst/>
                        <a:latin typeface="+mj-lt"/>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525235">
                <a:tc>
                  <a:txBody>
                    <a:bodyPr/>
                    <a:lstStyle/>
                    <a:p>
                      <a:pPr algn="just">
                        <a:spcAft>
                          <a:spcPts val="0"/>
                        </a:spcAft>
                      </a:pPr>
                      <a:r>
                        <a:rPr lang="zh-CN" sz="1800" kern="100">
                          <a:solidFill>
                            <a:srgbClr val="0070C0"/>
                          </a:solidFill>
                          <a:effectLst/>
                          <a:latin typeface="黑体" panose="02010609060101010101" pitchFamily="49" charset="-122"/>
                          <a:ea typeface="黑体" panose="02010609060101010101" pitchFamily="49" charset="-122"/>
                        </a:rPr>
                        <a:t>发布时间</a:t>
                      </a:r>
                    </a:p>
                  </a:txBody>
                  <a:tcPr marL="68580" marR="68580" marT="0" marB="0" anchor="ctr"/>
                </a:tc>
                <a:tc>
                  <a:txBody>
                    <a:bodyPr/>
                    <a:lstStyle/>
                    <a:p>
                      <a:pPr algn="ctr">
                        <a:spcAft>
                          <a:spcPts val="0"/>
                        </a:spcAft>
                      </a:pPr>
                      <a:r>
                        <a:rPr lang="en-US" sz="1800" kern="100">
                          <a:effectLst/>
                        </a:rPr>
                        <a:t>1997</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1999</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1999</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2003</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2009</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2013</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2016</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525235">
                <a:tc>
                  <a:txBody>
                    <a:bodyPr/>
                    <a:lstStyle/>
                    <a:p>
                      <a:pPr algn="just">
                        <a:spcAft>
                          <a:spcPts val="0"/>
                        </a:spcAft>
                      </a:pPr>
                      <a:r>
                        <a:rPr lang="zh-CN" sz="1800" kern="100">
                          <a:solidFill>
                            <a:srgbClr val="0070C0"/>
                          </a:solidFill>
                          <a:effectLst/>
                          <a:latin typeface="黑体" panose="02010609060101010101" pitchFamily="49" charset="-122"/>
                          <a:ea typeface="黑体" panose="02010609060101010101" pitchFamily="49" charset="-122"/>
                        </a:rPr>
                        <a:t>工作频段</a:t>
                      </a:r>
                    </a:p>
                  </a:txBody>
                  <a:tcPr marL="68580" marR="68580" marT="0" marB="0" anchor="ctr"/>
                </a:tc>
                <a:tc>
                  <a:txBody>
                    <a:bodyPr/>
                    <a:lstStyle/>
                    <a:p>
                      <a:pPr algn="ctr">
                        <a:spcAft>
                          <a:spcPts val="0"/>
                        </a:spcAft>
                      </a:pPr>
                      <a:r>
                        <a:rPr lang="en-US" sz="1800" kern="100">
                          <a:effectLst/>
                        </a:rPr>
                        <a:t>2.4GHz</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5 GHz</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2.4GHz</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2.4GHz</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2.4/5GHz</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5 GHz</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2.4/5GHz</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787852">
                <a:tc>
                  <a:txBody>
                    <a:bodyPr/>
                    <a:lstStyle/>
                    <a:p>
                      <a:pPr algn="just">
                        <a:spcAft>
                          <a:spcPts val="0"/>
                        </a:spcAft>
                      </a:pPr>
                      <a:r>
                        <a:rPr lang="zh-CN" sz="1800" kern="100">
                          <a:solidFill>
                            <a:srgbClr val="0070C0"/>
                          </a:solidFill>
                          <a:effectLst/>
                          <a:latin typeface="黑体" panose="02010609060101010101" pitchFamily="49" charset="-122"/>
                          <a:ea typeface="黑体" panose="02010609060101010101" pitchFamily="49" charset="-122"/>
                        </a:rPr>
                        <a:t>非重叠信道</a:t>
                      </a:r>
                    </a:p>
                  </a:txBody>
                  <a:tcPr marL="68580" marR="68580" marT="0" marB="0" anchor="ctr"/>
                </a:tc>
                <a:tc>
                  <a:txBody>
                    <a:bodyPr/>
                    <a:lstStyle/>
                    <a:p>
                      <a:pPr algn="ctr">
                        <a:spcAft>
                          <a:spcPts val="0"/>
                        </a:spcAft>
                      </a:pPr>
                      <a:r>
                        <a:rPr lang="en-US" sz="1800" kern="100">
                          <a:effectLst/>
                        </a:rPr>
                        <a:t>3</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13</a:t>
                      </a:r>
                      <a:endParaRPr lang="zh-CN" sz="1800" kern="100">
                        <a:effectLst/>
                      </a:endParaRPr>
                    </a:p>
                    <a:p>
                      <a:pPr algn="ctr">
                        <a:spcAft>
                          <a:spcPts val="0"/>
                        </a:spcAft>
                      </a:pPr>
                      <a:r>
                        <a:rPr lang="en-US" sz="1800" kern="100">
                          <a:effectLst/>
                        </a:rPr>
                        <a:t>(</a:t>
                      </a:r>
                      <a:r>
                        <a:rPr lang="zh-CN" sz="1800" kern="100">
                          <a:effectLst/>
                        </a:rPr>
                        <a:t>中国</a:t>
                      </a:r>
                      <a:r>
                        <a:rPr lang="en-US" sz="1800" kern="100">
                          <a:effectLst/>
                        </a:rPr>
                        <a:t>5</a:t>
                      </a:r>
                      <a:r>
                        <a:rPr lang="zh-CN" sz="1800" kern="100">
                          <a:effectLst/>
                        </a:rPr>
                        <a:t>个</a:t>
                      </a:r>
                      <a:r>
                        <a:rPr lang="en-US" sz="1800" kern="100">
                          <a:effectLst/>
                        </a:rPr>
                        <a:t>)</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3</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dirty="0">
                          <a:effectLst/>
                        </a:rPr>
                        <a:t>3</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2.4G 3</a:t>
                      </a:r>
                      <a:r>
                        <a:rPr lang="zh-CN" sz="1800" kern="100">
                          <a:effectLst/>
                        </a:rPr>
                        <a:t>个</a:t>
                      </a:r>
                    </a:p>
                    <a:p>
                      <a:pPr algn="ctr">
                        <a:spcAft>
                          <a:spcPts val="0"/>
                        </a:spcAft>
                      </a:pPr>
                      <a:r>
                        <a:rPr lang="en-US" sz="1800" kern="100">
                          <a:effectLst/>
                        </a:rPr>
                        <a:t>5G 13</a:t>
                      </a:r>
                      <a:r>
                        <a:rPr lang="zh-CN" sz="1800" kern="100">
                          <a:effectLst/>
                        </a:rPr>
                        <a:t>个</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13</a:t>
                      </a:r>
                      <a:endParaRPr lang="zh-CN" sz="1800" kern="100">
                        <a:effectLst/>
                      </a:endParaRPr>
                    </a:p>
                    <a:p>
                      <a:pPr algn="ctr">
                        <a:spcAft>
                          <a:spcPts val="0"/>
                        </a:spcAft>
                      </a:pPr>
                      <a:r>
                        <a:rPr lang="en-US" sz="1800" kern="100">
                          <a:effectLst/>
                        </a:rPr>
                        <a:t>(</a:t>
                      </a:r>
                      <a:r>
                        <a:rPr lang="zh-CN" sz="1800" kern="100">
                          <a:effectLst/>
                        </a:rPr>
                        <a:t>中国</a:t>
                      </a:r>
                      <a:r>
                        <a:rPr lang="en-US" sz="1800" kern="100">
                          <a:effectLst/>
                        </a:rPr>
                        <a:t>5</a:t>
                      </a:r>
                      <a:r>
                        <a:rPr lang="zh-CN" sz="1800" kern="100">
                          <a:effectLst/>
                        </a:rPr>
                        <a:t>个</a:t>
                      </a:r>
                      <a:r>
                        <a:rPr lang="en-US" sz="1800" kern="100">
                          <a:effectLst/>
                        </a:rPr>
                        <a:t>)</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13</a:t>
                      </a:r>
                      <a:endParaRPr lang="zh-CN" sz="1800" kern="100">
                        <a:effectLst/>
                      </a:endParaRPr>
                    </a:p>
                    <a:p>
                      <a:pPr algn="ctr">
                        <a:spcAft>
                          <a:spcPts val="0"/>
                        </a:spcAft>
                      </a:pPr>
                      <a:r>
                        <a:rPr lang="en-US" sz="1800" kern="100">
                          <a:effectLst/>
                        </a:rPr>
                        <a:t>(</a:t>
                      </a:r>
                      <a:r>
                        <a:rPr lang="zh-CN" sz="1800" kern="100">
                          <a:effectLst/>
                        </a:rPr>
                        <a:t>中国</a:t>
                      </a:r>
                      <a:r>
                        <a:rPr lang="en-US" sz="1800" kern="100">
                          <a:effectLst/>
                        </a:rPr>
                        <a:t>5</a:t>
                      </a:r>
                      <a:r>
                        <a:rPr lang="zh-CN" sz="1800" kern="100">
                          <a:effectLst/>
                        </a:rPr>
                        <a:t>个</a:t>
                      </a:r>
                      <a:r>
                        <a:rPr lang="en-US" sz="1800" kern="100">
                          <a:effectLst/>
                        </a:rPr>
                        <a:t>)</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525235">
                <a:tc>
                  <a:txBody>
                    <a:bodyPr/>
                    <a:lstStyle/>
                    <a:p>
                      <a:pPr algn="just">
                        <a:spcAft>
                          <a:spcPts val="0"/>
                        </a:spcAft>
                      </a:pPr>
                      <a:r>
                        <a:rPr lang="zh-CN" sz="1800" kern="100">
                          <a:solidFill>
                            <a:srgbClr val="0070C0"/>
                          </a:solidFill>
                          <a:effectLst/>
                          <a:latin typeface="黑体" panose="02010609060101010101" pitchFamily="49" charset="-122"/>
                          <a:ea typeface="黑体" panose="02010609060101010101" pitchFamily="49" charset="-122"/>
                        </a:rPr>
                        <a:t>调制方式</a:t>
                      </a:r>
                    </a:p>
                  </a:txBody>
                  <a:tcPr marL="68580" marR="68580" marT="0" marB="0" anchor="ctr"/>
                </a:tc>
                <a:tc>
                  <a:txBody>
                    <a:bodyPr/>
                    <a:lstStyle/>
                    <a:p>
                      <a:pPr algn="ctr">
                        <a:spcAft>
                          <a:spcPts val="0"/>
                        </a:spcAft>
                      </a:pPr>
                      <a:r>
                        <a:rPr lang="en-US" sz="1800" kern="100">
                          <a:effectLst/>
                        </a:rPr>
                        <a:t>FHSS/DSSS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OFDM</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CCK/DSSS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CCK/OFDM</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MIMO/OFDM</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MIMO/OFDM</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MIMO/OFDM</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525235">
                <a:tc>
                  <a:txBody>
                    <a:bodyPr/>
                    <a:lstStyle/>
                    <a:p>
                      <a:pPr algn="just">
                        <a:spcAft>
                          <a:spcPts val="0"/>
                        </a:spcAft>
                      </a:pPr>
                      <a:r>
                        <a:rPr lang="zh-CN" sz="1800" kern="100">
                          <a:solidFill>
                            <a:srgbClr val="0070C0"/>
                          </a:solidFill>
                          <a:effectLst/>
                          <a:latin typeface="黑体" panose="02010609060101010101" pitchFamily="49" charset="-122"/>
                          <a:ea typeface="黑体" panose="02010609060101010101" pitchFamily="49" charset="-122"/>
                        </a:rPr>
                        <a:t>理论速率</a:t>
                      </a:r>
                    </a:p>
                  </a:txBody>
                  <a:tcPr marL="68580" marR="68580" marT="0" marB="0" anchor="ctr"/>
                </a:tc>
                <a:tc>
                  <a:txBody>
                    <a:bodyPr/>
                    <a:lstStyle/>
                    <a:p>
                      <a:pPr algn="ctr">
                        <a:spcAft>
                          <a:spcPts val="0"/>
                        </a:spcAft>
                      </a:pPr>
                      <a:r>
                        <a:rPr lang="en-US" sz="1800" kern="100">
                          <a:effectLst/>
                        </a:rPr>
                        <a:t>2Mbps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54 Mbps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11 Mbps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54 Mbps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600 Mbps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3.47Gbps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9.6Gbps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525235">
                <a:tc>
                  <a:txBody>
                    <a:bodyPr/>
                    <a:lstStyle/>
                    <a:p>
                      <a:pPr algn="just">
                        <a:spcAft>
                          <a:spcPts val="0"/>
                        </a:spcAft>
                      </a:pPr>
                      <a:r>
                        <a:rPr lang="zh-CN" sz="1800" kern="100">
                          <a:solidFill>
                            <a:srgbClr val="0070C0"/>
                          </a:solidFill>
                          <a:effectLst/>
                          <a:latin typeface="黑体" panose="02010609060101010101" pitchFamily="49" charset="-122"/>
                          <a:ea typeface="黑体" panose="02010609060101010101" pitchFamily="49" charset="-122"/>
                        </a:rPr>
                        <a:t>实际速率</a:t>
                      </a:r>
                    </a:p>
                  </a:txBody>
                  <a:tcPr marL="68580" marR="68580" marT="0" marB="0" anchor="ctr"/>
                </a:tc>
                <a:tc>
                  <a:txBody>
                    <a:bodyPr/>
                    <a:lstStyle/>
                    <a:p>
                      <a:pPr algn="ctr">
                        <a:spcAft>
                          <a:spcPts val="0"/>
                        </a:spcAft>
                      </a:pPr>
                      <a:r>
                        <a:rPr lang="en-US" sz="1800" kern="100">
                          <a:effectLst/>
                        </a:rPr>
                        <a:t>1Mbps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22 Mbps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5 Mbps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22 Mbps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100 Mbps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2.2 Gbps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6Gbps</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525235">
                <a:tc>
                  <a:txBody>
                    <a:bodyPr/>
                    <a:lstStyle/>
                    <a:p>
                      <a:pPr algn="just">
                        <a:spcAft>
                          <a:spcPts val="0"/>
                        </a:spcAft>
                      </a:pPr>
                      <a:r>
                        <a:rPr lang="zh-CN" sz="1800" kern="100" dirty="0">
                          <a:solidFill>
                            <a:srgbClr val="0070C0"/>
                          </a:solidFill>
                          <a:effectLst/>
                          <a:latin typeface="黑体" panose="02010609060101010101" pitchFamily="49" charset="-122"/>
                          <a:ea typeface="黑体" panose="02010609060101010101" pitchFamily="49" charset="-122"/>
                        </a:rPr>
                        <a:t>兼容性</a:t>
                      </a:r>
                    </a:p>
                  </a:txBody>
                  <a:tcPr marL="68580" marR="68580" marT="0" marB="0" anchor="ctr"/>
                </a:tc>
                <a:tc>
                  <a:txBody>
                    <a:bodyPr/>
                    <a:lstStyle/>
                    <a:p>
                      <a:pPr algn="ctr">
                        <a:spcAft>
                          <a:spcPts val="0"/>
                        </a:spcAft>
                      </a:pPr>
                      <a:r>
                        <a:rPr lang="en-US" sz="1800" kern="100" dirty="0">
                          <a:effectLst/>
                        </a:rPr>
                        <a:t>-</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802.11b</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802.11a/b/g</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a:effectLst/>
                        </a:rPr>
                        <a:t>802.11a/n</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1800" kern="100" dirty="0">
                          <a:effectLst/>
                        </a:rPr>
                        <a:t>802.11</a:t>
                      </a:r>
                      <a:endParaRPr lang="zh-CN" sz="1800" kern="100" dirty="0">
                        <a:effectLst/>
                      </a:endParaRPr>
                    </a:p>
                    <a:p>
                      <a:pPr algn="ctr">
                        <a:spcAft>
                          <a:spcPts val="0"/>
                        </a:spcAft>
                      </a:pPr>
                      <a:r>
                        <a:rPr lang="en-US" sz="1800" kern="100" dirty="0">
                          <a:effectLst/>
                        </a:rPr>
                        <a:t>a/b/h/n/ac</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r h="525235">
                <a:tc>
                  <a:txBody>
                    <a:bodyPr/>
                    <a:lstStyle/>
                    <a:p>
                      <a:pPr algn="just">
                        <a:spcAft>
                          <a:spcPts val="0"/>
                        </a:spcAft>
                      </a:pPr>
                      <a:endParaRPr lang="zh-CN" sz="1800" kern="100" dirty="0">
                        <a:solidFill>
                          <a:srgbClr val="0070C0"/>
                        </a:solidFill>
                        <a:effectLst/>
                        <a:latin typeface="黑体" panose="02010609060101010101" pitchFamily="49" charset="-122"/>
                        <a:ea typeface="黑体" panose="02010609060101010101" pitchFamily="49" charset="-122"/>
                      </a:endParaRPr>
                    </a:p>
                  </a:txBody>
                  <a:tcPr marL="68580" marR="68580" marT="0" marB="0" anchor="ctr"/>
                </a:tc>
                <a:tc>
                  <a:txBody>
                    <a:bodyPr/>
                    <a:lstStyle/>
                    <a:p>
                      <a:pPr algn="ctr">
                        <a:spcAft>
                          <a:spcPts val="0"/>
                        </a:spcAft>
                      </a:pP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altLang="zh-CN" sz="1800" kern="100" dirty="0" smtClean="0">
                          <a:effectLst/>
                          <a:latin typeface="Times New Roman" panose="02020603050405020304" pitchFamily="18" charset="0"/>
                          <a:ea typeface="宋体" panose="02010600030101010101" pitchFamily="2" charset="-122"/>
                        </a:rPr>
                        <a:t>WiFi4</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kern="100" dirty="0" smtClean="0">
                          <a:effectLst/>
                          <a:latin typeface="Times New Roman" panose="02020603050405020304" pitchFamily="18" charset="0"/>
                          <a:ea typeface="宋体" panose="02010600030101010101" pitchFamily="2" charset="-122"/>
                        </a:rPr>
                        <a:t>WiFi5</a:t>
                      </a:r>
                      <a:endParaRPr lang="zh-CN" altLang="zh-CN" sz="1800" kern="100" dirty="0" smtClean="0">
                        <a:effectLst/>
                        <a:latin typeface="Times New Roman" panose="02020603050405020304" pitchFamily="18" charset="0"/>
                        <a:ea typeface="宋体" panose="02010600030101010101" pitchFamily="2" charset="-122"/>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kern="100" smtClean="0">
                          <a:effectLst/>
                          <a:latin typeface="Times New Roman" panose="02020603050405020304" pitchFamily="18" charset="0"/>
                          <a:ea typeface="宋体" panose="02010600030101010101" pitchFamily="2" charset="-122"/>
                        </a:rPr>
                        <a:t>WiFi6</a:t>
                      </a:r>
                      <a:endParaRPr lang="zh-CN" altLang="zh-CN" sz="1800" kern="100" dirty="0" smtClean="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580060229"/>
                  </a:ext>
                </a:extLst>
              </a:tr>
            </a:tbl>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IEEE </a:t>
            </a:r>
            <a:r>
              <a:rPr lang="en-US" altLang="zh-CN" dirty="0" smtClean="0"/>
              <a:t>802.11</a:t>
            </a:r>
            <a:r>
              <a:rPr lang="zh-CN" altLang="zh-CN" dirty="0" smtClean="0"/>
              <a:t>网络</a:t>
            </a:r>
            <a:r>
              <a:rPr lang="zh-CN" altLang="zh-CN" dirty="0"/>
              <a:t>模式</a:t>
            </a:r>
            <a:endParaRPr lang="zh-CN" altLang="en-US" dirty="0"/>
          </a:p>
        </p:txBody>
      </p:sp>
      <p:sp>
        <p:nvSpPr>
          <p:cNvPr id="3" name="内容占位符 2"/>
          <p:cNvSpPr>
            <a:spLocks noGrp="1"/>
          </p:cNvSpPr>
          <p:nvPr>
            <p:ph idx="1"/>
          </p:nvPr>
        </p:nvSpPr>
        <p:spPr>
          <a:xfrm>
            <a:off x="755576" y="1124917"/>
            <a:ext cx="7772400" cy="3239690"/>
          </a:xfrm>
        </p:spPr>
        <p:txBody>
          <a:bodyPr/>
          <a:lstStyle/>
          <a:p>
            <a:r>
              <a:rPr lang="zh-CN" altLang="zh-CN" sz="2800" dirty="0">
                <a:latin typeface="+mj-ea"/>
                <a:ea typeface="+mj-ea"/>
              </a:rPr>
              <a:t>独立基本服务集</a:t>
            </a:r>
            <a:r>
              <a:rPr lang="zh-CN" altLang="zh-CN" sz="2800" dirty="0" smtClean="0">
                <a:latin typeface="+mj-ea"/>
                <a:ea typeface="+mj-ea"/>
              </a:rPr>
              <a:t>网络</a:t>
            </a:r>
            <a:endParaRPr lang="en-US" altLang="zh-CN" sz="2800" dirty="0" smtClean="0">
              <a:latin typeface="+mj-ea"/>
              <a:ea typeface="+mj-ea"/>
            </a:endParaRPr>
          </a:p>
          <a:p>
            <a:pPr lvl="1"/>
            <a:r>
              <a:rPr lang="en-US" altLang="zh-CN" dirty="0" smtClean="0"/>
              <a:t>IBSS-Independent </a:t>
            </a:r>
            <a:r>
              <a:rPr lang="en-US" altLang="zh-CN" dirty="0"/>
              <a:t>Basic Service </a:t>
            </a:r>
            <a:r>
              <a:rPr lang="en-US" altLang="zh-CN" dirty="0" smtClean="0"/>
              <a:t>Set</a:t>
            </a:r>
          </a:p>
          <a:p>
            <a:r>
              <a:rPr lang="zh-CN" altLang="zh-CN" dirty="0" smtClean="0">
                <a:latin typeface="+mj-ea"/>
                <a:ea typeface="+mj-ea"/>
              </a:rPr>
              <a:t>基本</a:t>
            </a:r>
            <a:r>
              <a:rPr lang="zh-CN" altLang="zh-CN" dirty="0">
                <a:latin typeface="+mj-ea"/>
                <a:ea typeface="+mj-ea"/>
              </a:rPr>
              <a:t>服务集网络</a:t>
            </a:r>
            <a:endParaRPr lang="en-US" altLang="zh-CN" dirty="0">
              <a:latin typeface="+mj-ea"/>
              <a:ea typeface="+mj-ea"/>
            </a:endParaRPr>
          </a:p>
          <a:p>
            <a:pPr lvl="1"/>
            <a:r>
              <a:rPr lang="en-US" altLang="zh-CN" dirty="0"/>
              <a:t>BSS-Basic Service </a:t>
            </a:r>
            <a:r>
              <a:rPr lang="en-US" altLang="zh-CN" dirty="0" smtClean="0"/>
              <a:t>Set</a:t>
            </a:r>
          </a:p>
          <a:p>
            <a:r>
              <a:rPr lang="zh-CN" altLang="zh-CN" sz="2800" dirty="0" smtClean="0">
                <a:latin typeface="+mj-ea"/>
                <a:ea typeface="+mj-ea"/>
              </a:rPr>
              <a:t>扩展服务集网络</a:t>
            </a:r>
            <a:endParaRPr lang="en-US" altLang="zh-CN" sz="2800" dirty="0" smtClean="0">
              <a:latin typeface="+mj-ea"/>
              <a:ea typeface="+mj-ea"/>
            </a:endParaRPr>
          </a:p>
          <a:p>
            <a:pPr lvl="1"/>
            <a:r>
              <a:rPr lang="en-US" altLang="zh-CN" dirty="0" smtClean="0"/>
              <a:t>ESS-Extent </a:t>
            </a:r>
            <a:r>
              <a:rPr lang="en-US" altLang="zh-CN" dirty="0"/>
              <a:t>Service </a:t>
            </a:r>
            <a:r>
              <a:rPr lang="en-US" altLang="zh-CN" dirty="0" smtClean="0"/>
              <a:t>Set</a:t>
            </a:r>
            <a:endParaRPr lang="zh-CN" altLang="en-US" dirty="0"/>
          </a:p>
        </p:txBody>
      </p:sp>
      <p:pic>
        <p:nvPicPr>
          <p:cNvPr id="1228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4405987"/>
            <a:ext cx="7379055" cy="234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1238300" y="188640"/>
            <a:ext cx="7772400" cy="874713"/>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effectLst/>
                <a:uLnTx/>
                <a:uFillTx/>
                <a:latin typeface="+mj-lt"/>
                <a:ea typeface="+mj-ea"/>
                <a:cs typeface="+mj-cs"/>
              </a:rPr>
              <a:t>802.11 </a:t>
            </a:r>
            <a:r>
              <a:rPr kumimoji="1" lang="zh-CN" altLang="en-US" sz="3200" b="0" i="0" u="none" strike="noStrike" kern="0" cap="none" spc="0" normalizeH="0" baseline="0" noProof="0" dirty="0" smtClean="0">
                <a:ln>
                  <a:noFill/>
                </a:ln>
                <a:effectLst/>
                <a:uLnTx/>
                <a:uFillTx/>
                <a:latin typeface="+mj-lt"/>
                <a:ea typeface="+mj-ea"/>
                <a:cs typeface="+mj-cs"/>
              </a:rPr>
              <a:t>无线局域网</a:t>
            </a:r>
            <a:r>
              <a:rPr lang="zh-CN" altLang="en-US" kern="0" dirty="0" smtClean="0"/>
              <a:t>相关概念</a:t>
            </a:r>
            <a:endParaRPr kumimoji="1" lang="zh-CN" altLang="en-US" sz="3200" b="1" i="0" u="none" strike="noStrike" kern="0" cap="none" spc="0" normalizeH="0" baseline="0" noProof="0" dirty="0" smtClean="0">
              <a:ln>
                <a:noFill/>
              </a:ln>
              <a:effectLst/>
              <a:uLnTx/>
              <a:uFillTx/>
            </a:endParaRPr>
          </a:p>
        </p:txBody>
      </p:sp>
      <p:sp>
        <p:nvSpPr>
          <p:cNvPr id="71682" name="Rectangle 3"/>
          <p:cNvSpPr>
            <a:spLocks noGrp="1"/>
          </p:cNvSpPr>
          <p:nvPr>
            <p:ph idx="1"/>
          </p:nvPr>
        </p:nvSpPr>
        <p:spPr>
          <a:xfrm>
            <a:off x="467544" y="1196752"/>
            <a:ext cx="8305800" cy="4455066"/>
          </a:xfrm>
        </p:spPr>
        <p:txBody>
          <a:bodyPr vert="horz" wrap="square" lIns="91440" tIns="45720" rIns="91440" bIns="45720" anchor="t">
            <a:spAutoFit/>
          </a:bodyPr>
          <a:lstStyle/>
          <a:p>
            <a:pPr lvl="0">
              <a:spcBef>
                <a:spcPts val="900"/>
              </a:spcBef>
            </a:pPr>
            <a:r>
              <a:rPr lang="zh-CN" altLang="zh-CN" sz="1800" dirty="0"/>
              <a:t>接入点</a:t>
            </a:r>
            <a:r>
              <a:rPr lang="en-US" altLang="zh-CN" sz="1800" dirty="0"/>
              <a:t> (Access Point, AP)</a:t>
            </a:r>
            <a:r>
              <a:rPr lang="zh-CN" altLang="zh-CN" sz="1800" dirty="0" smtClean="0"/>
              <a:t>：通过</a:t>
            </a:r>
            <a:r>
              <a:rPr lang="zh-CN" altLang="zh-CN" sz="1800" dirty="0"/>
              <a:t>该节点</a:t>
            </a:r>
            <a:r>
              <a:rPr lang="zh-CN" altLang="zh-CN" sz="1800" dirty="0" smtClean="0"/>
              <a:t>，</a:t>
            </a:r>
            <a:r>
              <a:rPr lang="zh-CN" altLang="en-US" sz="1800" dirty="0" smtClean="0"/>
              <a:t>工作站</a:t>
            </a:r>
            <a:r>
              <a:rPr lang="zh-CN" altLang="zh-CN" sz="1800" dirty="0" smtClean="0"/>
              <a:t>节点可以通信</a:t>
            </a:r>
            <a:r>
              <a:rPr lang="zh-CN" altLang="zh-CN" sz="1800" dirty="0"/>
              <a:t>；</a:t>
            </a:r>
          </a:p>
          <a:p>
            <a:pPr lvl="0">
              <a:spcBef>
                <a:spcPts val="900"/>
              </a:spcBef>
            </a:pPr>
            <a:r>
              <a:rPr lang="zh-CN" altLang="zh-CN" sz="1800" dirty="0"/>
              <a:t>工作站</a:t>
            </a:r>
            <a:r>
              <a:rPr lang="en-US" altLang="zh-CN" sz="1800" dirty="0"/>
              <a:t> (Station, STA)</a:t>
            </a:r>
            <a:r>
              <a:rPr lang="zh-CN" altLang="zh-CN" sz="1800" dirty="0"/>
              <a:t>：连接到</a:t>
            </a:r>
            <a:r>
              <a:rPr lang="en-US" altLang="zh-CN" sz="1800" dirty="0"/>
              <a:t>IEEE 802.11</a:t>
            </a:r>
            <a:r>
              <a:rPr lang="zh-CN" altLang="zh-CN" sz="1800" dirty="0"/>
              <a:t>网络中的</a:t>
            </a:r>
            <a:r>
              <a:rPr lang="zh-CN" altLang="zh-CN" sz="1800" dirty="0" smtClean="0"/>
              <a:t>设备；</a:t>
            </a:r>
            <a:endParaRPr lang="zh-CN" altLang="zh-CN" sz="1800" dirty="0"/>
          </a:p>
          <a:p>
            <a:pPr lvl="0">
              <a:spcBef>
                <a:spcPts val="900"/>
              </a:spcBef>
            </a:pPr>
            <a:r>
              <a:rPr lang="zh-CN" altLang="zh-CN" sz="1800" dirty="0"/>
              <a:t>基本服务集</a:t>
            </a:r>
            <a:r>
              <a:rPr lang="en-US" altLang="zh-CN" sz="1800" dirty="0"/>
              <a:t>(Basic Service Set</a:t>
            </a:r>
            <a:r>
              <a:rPr lang="zh-CN" altLang="zh-CN" sz="1800" dirty="0"/>
              <a:t>，</a:t>
            </a:r>
            <a:r>
              <a:rPr lang="en-US" altLang="zh-CN" sz="1800" dirty="0"/>
              <a:t>BSS)</a:t>
            </a:r>
            <a:r>
              <a:rPr lang="zh-CN" altLang="zh-CN" sz="1800" dirty="0"/>
              <a:t>：不需要</a:t>
            </a:r>
            <a:r>
              <a:rPr lang="zh-CN" altLang="zh-CN" sz="1800" dirty="0" smtClean="0"/>
              <a:t>中间设备直接</a:t>
            </a:r>
            <a:r>
              <a:rPr lang="zh-CN" altLang="zh-CN" sz="1800" dirty="0"/>
              <a:t>通信的</a:t>
            </a:r>
            <a:r>
              <a:rPr lang="en-US" altLang="zh-CN" sz="1800" dirty="0" smtClean="0"/>
              <a:t>STA</a:t>
            </a:r>
            <a:r>
              <a:rPr lang="zh-CN" altLang="zh-CN" sz="1800" dirty="0" smtClean="0"/>
              <a:t>集合；</a:t>
            </a:r>
            <a:endParaRPr lang="zh-CN" altLang="zh-CN" sz="1800" dirty="0"/>
          </a:p>
          <a:p>
            <a:pPr lvl="0">
              <a:spcBef>
                <a:spcPts val="900"/>
              </a:spcBef>
            </a:pPr>
            <a:r>
              <a:rPr lang="zh-CN" altLang="zh-CN" sz="1800" dirty="0"/>
              <a:t>基本服务区</a:t>
            </a:r>
            <a:r>
              <a:rPr lang="en-US" altLang="zh-CN" sz="1800" dirty="0"/>
              <a:t>(Basic Service Area</a:t>
            </a:r>
            <a:r>
              <a:rPr lang="zh-CN" altLang="zh-CN" sz="1800" dirty="0"/>
              <a:t>，</a:t>
            </a:r>
            <a:r>
              <a:rPr lang="en-US" altLang="zh-CN" sz="1800" dirty="0"/>
              <a:t>BSA)</a:t>
            </a:r>
            <a:r>
              <a:rPr lang="zh-CN" altLang="zh-CN" sz="1800" dirty="0"/>
              <a:t>：</a:t>
            </a:r>
            <a:r>
              <a:rPr lang="en-US" altLang="zh-CN" sz="1800" dirty="0"/>
              <a:t>BSS</a:t>
            </a:r>
            <a:r>
              <a:rPr lang="zh-CN" altLang="zh-CN" sz="1800" dirty="0"/>
              <a:t>的覆盖范围称为基本</a:t>
            </a:r>
            <a:r>
              <a:rPr lang="zh-CN" altLang="zh-CN" sz="1800" dirty="0" smtClean="0"/>
              <a:t>服务区；</a:t>
            </a:r>
            <a:endParaRPr lang="zh-CN" altLang="zh-CN" sz="1800" dirty="0"/>
          </a:p>
          <a:p>
            <a:pPr lvl="0">
              <a:spcBef>
                <a:spcPts val="900"/>
              </a:spcBef>
            </a:pPr>
            <a:r>
              <a:rPr lang="zh-CN" altLang="zh-CN" sz="1800" dirty="0"/>
              <a:t>分布式系统</a:t>
            </a:r>
            <a:r>
              <a:rPr lang="en-US" altLang="zh-CN" sz="1800" dirty="0"/>
              <a:t> (Distributed System</a:t>
            </a:r>
            <a:r>
              <a:rPr lang="zh-CN" altLang="zh-CN" sz="1800" dirty="0"/>
              <a:t>，</a:t>
            </a:r>
            <a:r>
              <a:rPr lang="en-US" altLang="zh-CN" sz="1800" dirty="0"/>
              <a:t>DS)</a:t>
            </a:r>
            <a:r>
              <a:rPr lang="zh-CN" altLang="zh-CN" sz="1800" dirty="0" smtClean="0"/>
              <a:t>：将</a:t>
            </a:r>
            <a:r>
              <a:rPr lang="zh-CN" altLang="zh-CN" sz="1800" dirty="0"/>
              <a:t>数据帧转发到目标</a:t>
            </a:r>
            <a:r>
              <a:rPr lang="zh-CN" altLang="zh-CN" sz="1800" dirty="0" smtClean="0"/>
              <a:t>节点</a:t>
            </a:r>
            <a:r>
              <a:rPr lang="zh-CN" altLang="en-US" sz="1800" dirty="0" smtClean="0"/>
              <a:t>；</a:t>
            </a:r>
            <a:endParaRPr lang="zh-CN" altLang="zh-CN" sz="1800" dirty="0"/>
          </a:p>
          <a:p>
            <a:pPr lvl="0">
              <a:spcBef>
                <a:spcPts val="900"/>
              </a:spcBef>
            </a:pPr>
            <a:r>
              <a:rPr lang="zh-CN" altLang="zh-CN" sz="1800" dirty="0"/>
              <a:t>无线分布式系统</a:t>
            </a:r>
            <a:r>
              <a:rPr lang="en-US" altLang="zh-CN" sz="1800" dirty="0"/>
              <a:t>(Wireless Distribution System</a:t>
            </a:r>
            <a:r>
              <a:rPr lang="zh-CN" altLang="zh-CN" sz="1800" dirty="0"/>
              <a:t>，</a:t>
            </a:r>
            <a:r>
              <a:rPr lang="en-US" altLang="zh-CN" sz="1800" dirty="0"/>
              <a:t>WDS)</a:t>
            </a:r>
            <a:r>
              <a:rPr lang="zh-CN" altLang="zh-CN" sz="1800" dirty="0"/>
              <a:t>：用于在不同</a:t>
            </a:r>
            <a:r>
              <a:rPr lang="en-US" altLang="zh-CN" sz="1800" dirty="0"/>
              <a:t>802.11</a:t>
            </a:r>
            <a:r>
              <a:rPr lang="zh-CN" altLang="zh-CN" sz="1800" dirty="0"/>
              <a:t>网络间传递数据一种特殊</a:t>
            </a:r>
            <a:r>
              <a:rPr lang="en-US" altLang="zh-CN" sz="1800" dirty="0"/>
              <a:t>DS</a:t>
            </a:r>
            <a:r>
              <a:rPr lang="zh-CN" altLang="zh-CN" sz="1800" dirty="0"/>
              <a:t>，</a:t>
            </a:r>
            <a:r>
              <a:rPr lang="en-US" altLang="zh-CN" sz="1800" dirty="0"/>
              <a:t>AP</a:t>
            </a:r>
            <a:r>
              <a:rPr lang="zh-CN" altLang="zh-CN" sz="1800" dirty="0"/>
              <a:t>之间通过无线方式直接通信；</a:t>
            </a:r>
          </a:p>
          <a:p>
            <a:pPr lvl="0">
              <a:spcBef>
                <a:spcPts val="900"/>
              </a:spcBef>
            </a:pPr>
            <a:r>
              <a:rPr lang="zh-CN" altLang="zh-CN" sz="1800" dirty="0"/>
              <a:t>扩展服务集</a:t>
            </a:r>
            <a:r>
              <a:rPr lang="en-US" altLang="zh-CN" sz="1800" dirty="0"/>
              <a:t> (Extend Server Set</a:t>
            </a:r>
            <a:r>
              <a:rPr lang="zh-CN" altLang="zh-CN" sz="1800" dirty="0"/>
              <a:t>，</a:t>
            </a:r>
            <a:r>
              <a:rPr lang="en-US" altLang="zh-CN" sz="1800" dirty="0"/>
              <a:t>ESS)</a:t>
            </a:r>
            <a:r>
              <a:rPr lang="zh-CN" altLang="zh-CN" sz="1800" dirty="0"/>
              <a:t>：所有通过</a:t>
            </a:r>
            <a:r>
              <a:rPr lang="en-US" altLang="zh-CN" sz="1800" dirty="0"/>
              <a:t>DS</a:t>
            </a:r>
            <a:r>
              <a:rPr lang="zh-CN" altLang="zh-CN" sz="1800" dirty="0"/>
              <a:t>连接的</a:t>
            </a:r>
            <a:r>
              <a:rPr lang="en-US" altLang="zh-CN" sz="1800" dirty="0"/>
              <a:t>BSS</a:t>
            </a:r>
            <a:r>
              <a:rPr lang="zh-CN" altLang="zh-CN" sz="1800" dirty="0"/>
              <a:t>集合；</a:t>
            </a:r>
          </a:p>
          <a:p>
            <a:pPr lvl="0">
              <a:spcBef>
                <a:spcPts val="900"/>
              </a:spcBef>
            </a:pPr>
            <a:r>
              <a:rPr lang="zh-CN" altLang="zh-CN" sz="1800" dirty="0"/>
              <a:t>服务集标识</a:t>
            </a:r>
            <a:r>
              <a:rPr lang="en-US" altLang="zh-CN" sz="1800" dirty="0"/>
              <a:t> (Service Set Identifier</a:t>
            </a:r>
            <a:r>
              <a:rPr lang="zh-CN" altLang="zh-CN" sz="1800" dirty="0"/>
              <a:t>，</a:t>
            </a:r>
            <a:r>
              <a:rPr lang="en-US" altLang="zh-CN" sz="1800" dirty="0"/>
              <a:t>SSID)</a:t>
            </a:r>
            <a:r>
              <a:rPr lang="zh-CN" altLang="zh-CN" sz="1800" dirty="0"/>
              <a:t>：用来标识一个</a:t>
            </a:r>
            <a:r>
              <a:rPr lang="en-US" altLang="zh-CN" sz="1800" dirty="0"/>
              <a:t>802.11</a:t>
            </a:r>
            <a:r>
              <a:rPr lang="zh-CN" altLang="zh-CN" sz="1800" dirty="0"/>
              <a:t>无线网络；</a:t>
            </a:r>
          </a:p>
          <a:p>
            <a:pPr lvl="0">
              <a:spcBef>
                <a:spcPts val="900"/>
              </a:spcBef>
            </a:pPr>
            <a:r>
              <a:rPr lang="zh-CN" altLang="zh-CN" sz="1800" dirty="0"/>
              <a:t>基本服务集标识</a:t>
            </a:r>
            <a:r>
              <a:rPr lang="en-US" altLang="zh-CN" sz="1800" dirty="0"/>
              <a:t> (Basic Service Set Identifier</a:t>
            </a:r>
            <a:r>
              <a:rPr lang="zh-CN" altLang="zh-CN" sz="1800" dirty="0"/>
              <a:t>，</a:t>
            </a:r>
            <a:r>
              <a:rPr lang="en-US" altLang="zh-CN" sz="1800" dirty="0"/>
              <a:t>BSSID)</a:t>
            </a:r>
            <a:r>
              <a:rPr lang="zh-CN" altLang="zh-CN" sz="1800" dirty="0" smtClean="0"/>
              <a:t>：标识</a:t>
            </a:r>
            <a:r>
              <a:rPr lang="en-US" altLang="zh-CN" sz="1800" dirty="0"/>
              <a:t>AP</a:t>
            </a:r>
            <a:r>
              <a:rPr lang="zh-CN" altLang="zh-CN" sz="1800" dirty="0"/>
              <a:t>管理的</a:t>
            </a:r>
            <a:r>
              <a:rPr lang="en-US" altLang="zh-CN" sz="1800" dirty="0" smtClean="0"/>
              <a:t>BSS</a:t>
            </a:r>
            <a:r>
              <a:rPr lang="zh-CN" altLang="en-US" sz="1800" dirty="0"/>
              <a:t>；</a:t>
            </a:r>
            <a:endParaRPr lang="zh-CN" altLang="zh-CN" sz="1800" dirty="0"/>
          </a:p>
          <a:p>
            <a:pPr>
              <a:spcBef>
                <a:spcPts val="900"/>
              </a:spcBef>
            </a:pPr>
            <a:r>
              <a:rPr lang="zh-CN" altLang="zh-CN" sz="1800" dirty="0"/>
              <a:t>节点漫游（</a:t>
            </a:r>
            <a:r>
              <a:rPr lang="en-US" altLang="zh-CN" sz="1800" dirty="0"/>
              <a:t>Station Roaming</a:t>
            </a:r>
            <a:r>
              <a:rPr lang="zh-CN" altLang="zh-CN" sz="1800" dirty="0"/>
              <a:t>，</a:t>
            </a:r>
            <a:r>
              <a:rPr lang="en-US" altLang="zh-CN" sz="1800" dirty="0"/>
              <a:t>SR</a:t>
            </a:r>
            <a:r>
              <a:rPr lang="zh-CN" altLang="zh-CN" sz="1800" dirty="0"/>
              <a:t>）</a:t>
            </a:r>
            <a:r>
              <a:rPr lang="en-US" altLang="zh-CN" sz="1800" dirty="0"/>
              <a:t>:</a:t>
            </a:r>
            <a:r>
              <a:rPr lang="zh-CN" altLang="zh-CN" sz="1800" dirty="0"/>
              <a:t>又称为</a:t>
            </a:r>
            <a:r>
              <a:rPr lang="en-US" altLang="zh-CN" sz="1800" dirty="0"/>
              <a:t>BSS</a:t>
            </a:r>
            <a:r>
              <a:rPr lang="zh-CN" altLang="zh-CN" sz="1800" dirty="0"/>
              <a:t>切换（</a:t>
            </a:r>
            <a:r>
              <a:rPr lang="en-US" altLang="zh-CN" sz="1800" dirty="0"/>
              <a:t>BSS Transition</a:t>
            </a:r>
            <a:r>
              <a:rPr lang="zh-CN" altLang="zh-CN" sz="1800" dirty="0" smtClean="0"/>
              <a:t>），指</a:t>
            </a:r>
            <a:r>
              <a:rPr lang="en-US" altLang="zh-CN" sz="1800" dirty="0" smtClean="0"/>
              <a:t>STA</a:t>
            </a:r>
            <a:r>
              <a:rPr lang="zh-CN" altLang="zh-CN" sz="1800" dirty="0" smtClean="0"/>
              <a:t>从一个</a:t>
            </a:r>
            <a:r>
              <a:rPr lang="en-US" altLang="zh-CN" sz="1800" dirty="0" smtClean="0"/>
              <a:t>AP</a:t>
            </a:r>
            <a:r>
              <a:rPr lang="zh-CN" altLang="zh-CN" sz="1800" dirty="0" smtClean="0"/>
              <a:t>过渡到另一个</a:t>
            </a:r>
            <a:r>
              <a:rPr lang="en-US" altLang="zh-CN" sz="1800" dirty="0" smtClean="0"/>
              <a:t>AP</a:t>
            </a:r>
            <a:r>
              <a:rPr lang="zh-CN" altLang="zh-CN" sz="1800" dirty="0" smtClean="0"/>
              <a:t>并建立关联的过程。</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6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68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68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68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68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168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1238300" y="188640"/>
            <a:ext cx="7772400" cy="874713"/>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effectLst/>
                <a:uLnTx/>
                <a:uFillTx/>
                <a:latin typeface="+mj-lt"/>
                <a:ea typeface="+mj-ea"/>
                <a:cs typeface="+mj-cs"/>
              </a:rPr>
              <a:t>802.11 </a:t>
            </a:r>
            <a:r>
              <a:rPr kumimoji="1" lang="zh-CN" altLang="en-US" sz="3200" b="0" i="0" u="none" strike="noStrike" kern="0" cap="none" spc="0" normalizeH="0" baseline="0" noProof="0" dirty="0" smtClean="0">
                <a:ln>
                  <a:noFill/>
                </a:ln>
                <a:effectLst/>
                <a:uLnTx/>
                <a:uFillTx/>
                <a:latin typeface="+mj-lt"/>
                <a:ea typeface="+mj-ea"/>
                <a:cs typeface="+mj-cs"/>
              </a:rPr>
              <a:t>无线局域网</a:t>
            </a:r>
            <a:r>
              <a:rPr lang="zh-CN" altLang="en-US" kern="0" dirty="0" smtClean="0"/>
              <a:t>相关概念</a:t>
            </a:r>
            <a:endParaRPr kumimoji="1" lang="zh-CN" altLang="en-US" sz="3200" b="1" i="0" u="none" strike="noStrike" kern="0" cap="none" spc="0" normalizeH="0" baseline="0" noProof="0" dirty="0" smtClean="0">
              <a:ln>
                <a:noFill/>
              </a:ln>
              <a:effectLst/>
              <a:uLnTx/>
              <a:uFillTx/>
            </a:endParaRPr>
          </a:p>
        </p:txBody>
      </p:sp>
      <p:graphicFrame>
        <p:nvGraphicFramePr>
          <p:cNvPr id="71683" name="Object 5"/>
          <p:cNvGraphicFramePr/>
          <p:nvPr/>
        </p:nvGraphicFramePr>
        <p:xfrm>
          <a:off x="611560" y="1556792"/>
          <a:ext cx="8064896" cy="4176464"/>
        </p:xfrm>
        <a:graphic>
          <a:graphicData uri="http://schemas.openxmlformats.org/presentationml/2006/ole">
            <mc:AlternateContent xmlns:mc="http://schemas.openxmlformats.org/markup-compatibility/2006">
              <mc:Choice xmlns:v="urn:schemas-microsoft-com:vml" Requires="v">
                <p:oleObj spid="_x0000_s123935" r:id="rId4" imgW="4819650" imgH="2495550" progId="Paint.Picture">
                  <p:embed/>
                </p:oleObj>
              </mc:Choice>
              <mc:Fallback>
                <p:oleObj r:id="rId4" imgW="4819650" imgH="2495550" progId="Paint.Picture">
                  <p:embed/>
                  <p:pic>
                    <p:nvPicPr>
                      <p:cNvPr id="0" name="Object 5"/>
                      <p:cNvPicPr/>
                      <p:nvPr/>
                    </p:nvPicPr>
                    <p:blipFill>
                      <a:blip r:embed="rId5"/>
                      <a:stretch>
                        <a:fillRect/>
                      </a:stretch>
                    </p:blipFill>
                    <p:spPr>
                      <a:xfrm>
                        <a:off x="611560" y="1556792"/>
                        <a:ext cx="8064896" cy="4176464"/>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1187624" y="283825"/>
            <a:ext cx="7704856" cy="624895"/>
          </a:xfrm>
        </p:spPr>
        <p:txBody>
          <a:bodyPr vert="horz" wrap="square" lIns="92075" tIns="46038" rIns="92075" bIns="46038" numCol="1" anchor="ctr" anchorCtr="0" compatLnSpc="1"/>
          <a:lstStyle/>
          <a:p>
            <a:pPr marL="0" marR="0" lvl="0" indent="0"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effectLst/>
                <a:uLnTx/>
                <a:uFillTx/>
                <a:latin typeface="+mj-ea"/>
                <a:cs typeface="+mj-cs"/>
              </a:rPr>
              <a:t>802.11 </a:t>
            </a:r>
            <a:r>
              <a:rPr kumimoji="1" lang="zh-CN" altLang="en-US" sz="3200" b="0" i="0" u="none" strike="noStrike" kern="0" cap="none" spc="0" normalizeH="0" baseline="0" noProof="0" dirty="0" smtClean="0">
                <a:ln>
                  <a:noFill/>
                </a:ln>
                <a:effectLst/>
                <a:uLnTx/>
                <a:uFillTx/>
                <a:latin typeface="+mj-ea"/>
                <a:cs typeface="+mj-cs"/>
              </a:rPr>
              <a:t>体系结构</a:t>
            </a:r>
            <a:endParaRPr kumimoji="1" lang="zh-CN" altLang="en-US" sz="3200" b="1" i="0" u="none" strike="noStrike" kern="0" cap="none" spc="0" normalizeH="0" baseline="0" noProof="0" dirty="0" smtClean="0">
              <a:ln>
                <a:noFill/>
              </a:ln>
              <a:effectLst/>
              <a:uLnTx/>
              <a:uFillTx/>
              <a:latin typeface="+mj-ea"/>
              <a:cs typeface="+mj-cs"/>
            </a:endParaRPr>
          </a:p>
        </p:txBody>
      </p:sp>
      <p:graphicFrame>
        <p:nvGraphicFramePr>
          <p:cNvPr id="2" name="对象 -2147482601"/>
          <p:cNvGraphicFramePr>
            <a:graphicFrameLocks noChangeAspect="1"/>
          </p:cNvGraphicFramePr>
          <p:nvPr/>
        </p:nvGraphicFramePr>
        <p:xfrm>
          <a:off x="975995" y="1183640"/>
          <a:ext cx="7628453" cy="4404586"/>
        </p:xfrm>
        <a:graphic>
          <a:graphicData uri="http://schemas.openxmlformats.org/presentationml/2006/ole">
            <mc:AlternateContent xmlns:mc="http://schemas.openxmlformats.org/markup-compatibility/2006">
              <mc:Choice xmlns:v="urn:schemas-microsoft-com:vml" Requires="v">
                <p:oleObj spid="_x0000_s124958" r:id="rId4" imgW="3531235" imgH="2042795" progId="Visio.Drawing.11">
                  <p:embed/>
                </p:oleObj>
              </mc:Choice>
              <mc:Fallback>
                <p:oleObj r:id="rId4" imgW="3531235" imgH="2042795" progId="Visio.Drawing.11">
                  <p:embed/>
                  <p:pic>
                    <p:nvPicPr>
                      <p:cNvPr id="0" name="对象 -2147482601"/>
                      <p:cNvPicPr/>
                      <p:nvPr/>
                    </p:nvPicPr>
                    <p:blipFill>
                      <a:blip r:embed="rId5"/>
                      <a:stretch>
                        <a:fillRect/>
                      </a:stretch>
                    </p:blipFill>
                    <p:spPr>
                      <a:xfrm>
                        <a:off x="975995" y="1183640"/>
                        <a:ext cx="7628453" cy="4404586"/>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IEEE 802.11</a:t>
            </a:r>
            <a:r>
              <a:rPr lang="zh-CN" altLang="zh-CN" dirty="0"/>
              <a:t>的</a:t>
            </a:r>
            <a:r>
              <a:rPr lang="en-US" altLang="zh-CN" dirty="0" smtClean="0"/>
              <a:t>MAC</a:t>
            </a:r>
            <a:r>
              <a:rPr lang="zh-CN" altLang="en-US" dirty="0" smtClean="0"/>
              <a:t>子</a:t>
            </a:r>
            <a:r>
              <a:rPr lang="zh-CN" altLang="zh-CN" dirty="0" smtClean="0"/>
              <a:t>层</a:t>
            </a:r>
            <a:endParaRPr lang="zh-CN" altLang="en-US" dirty="0"/>
          </a:p>
        </p:txBody>
      </p:sp>
      <p:sp>
        <p:nvSpPr>
          <p:cNvPr id="3" name="内容占位符 2"/>
          <p:cNvSpPr>
            <a:spLocks noGrp="1"/>
          </p:cNvSpPr>
          <p:nvPr>
            <p:ph idx="1"/>
          </p:nvPr>
        </p:nvSpPr>
        <p:spPr>
          <a:xfrm>
            <a:off x="755650" y="1341438"/>
            <a:ext cx="7772400" cy="4895874"/>
          </a:xfrm>
        </p:spPr>
        <p:txBody>
          <a:bodyPr/>
          <a:lstStyle/>
          <a:p>
            <a:pPr>
              <a:spcBef>
                <a:spcPts val="600"/>
              </a:spcBef>
              <a:spcAft>
                <a:spcPts val="600"/>
              </a:spcAft>
            </a:pPr>
            <a:r>
              <a:rPr lang="zh-CN" altLang="zh-CN" sz="2800" dirty="0">
                <a:latin typeface="+mj-ea"/>
                <a:ea typeface="+mj-ea"/>
              </a:rPr>
              <a:t>分布协调功能</a:t>
            </a:r>
            <a:r>
              <a:rPr lang="zh-CN" altLang="zh-CN" sz="2800" dirty="0" smtClean="0">
                <a:latin typeface="+mj-ea"/>
                <a:ea typeface="+mj-ea"/>
              </a:rPr>
              <a:t>子层</a:t>
            </a:r>
            <a:endParaRPr lang="en-US" altLang="zh-CN" sz="2800" dirty="0" smtClean="0">
              <a:latin typeface="+mj-ea"/>
              <a:ea typeface="+mj-ea"/>
            </a:endParaRPr>
          </a:p>
          <a:p>
            <a:pPr lvl="1"/>
            <a:r>
              <a:rPr lang="en-US" altLang="zh-CN" sz="2400" dirty="0" smtClean="0">
                <a:latin typeface="+mj-lt"/>
                <a:ea typeface="+mj-ea"/>
              </a:rPr>
              <a:t>DCF—Distributed </a:t>
            </a:r>
            <a:r>
              <a:rPr lang="en-US" altLang="zh-CN" sz="2400" dirty="0">
                <a:latin typeface="+mj-lt"/>
                <a:ea typeface="+mj-ea"/>
              </a:rPr>
              <a:t>Coordination </a:t>
            </a:r>
            <a:r>
              <a:rPr lang="en-US" altLang="zh-CN" sz="2400" dirty="0" smtClean="0">
                <a:latin typeface="+mj-lt"/>
                <a:ea typeface="+mj-ea"/>
              </a:rPr>
              <a:t>Function</a:t>
            </a:r>
          </a:p>
          <a:p>
            <a:pPr lvl="1"/>
            <a:r>
              <a:rPr lang="zh-CN" altLang="zh-CN" sz="2400" dirty="0" smtClean="0"/>
              <a:t>数据传输的基本方式，作用于信道竞争期</a:t>
            </a:r>
            <a:endParaRPr lang="en-US" altLang="zh-CN" sz="2400" dirty="0" smtClean="0"/>
          </a:p>
          <a:p>
            <a:pPr lvl="1"/>
            <a:r>
              <a:rPr lang="zh-CN" altLang="zh-CN" sz="2400" dirty="0" smtClean="0"/>
              <a:t>保证每个节点使用</a:t>
            </a:r>
            <a:r>
              <a:rPr lang="en-US" altLang="zh-CN" sz="2400" dirty="0" smtClean="0"/>
              <a:t>CSMA</a:t>
            </a:r>
            <a:r>
              <a:rPr lang="zh-CN" altLang="zh-CN" sz="2400" dirty="0" smtClean="0"/>
              <a:t>算法来竞争信道的发送权，是必须的；</a:t>
            </a:r>
            <a:endParaRPr lang="en-US" altLang="zh-CN" sz="2400" dirty="0" smtClean="0"/>
          </a:p>
          <a:p>
            <a:pPr>
              <a:spcBef>
                <a:spcPts val="600"/>
              </a:spcBef>
              <a:spcAft>
                <a:spcPts val="600"/>
              </a:spcAft>
            </a:pPr>
            <a:r>
              <a:rPr lang="zh-CN" altLang="zh-CN" sz="2800" dirty="0">
                <a:latin typeface="+mj-ea"/>
                <a:ea typeface="+mj-ea"/>
              </a:rPr>
              <a:t>点协调功能子层</a:t>
            </a:r>
            <a:endParaRPr lang="en-US" altLang="zh-CN" sz="2800" dirty="0">
              <a:latin typeface="+mj-ea"/>
              <a:ea typeface="+mj-ea"/>
            </a:endParaRPr>
          </a:p>
          <a:p>
            <a:pPr lvl="1"/>
            <a:r>
              <a:rPr lang="en-US" altLang="zh-CN" sz="2400" dirty="0">
                <a:latin typeface="+mj-lt"/>
                <a:ea typeface="+mj-ea"/>
              </a:rPr>
              <a:t>PCF—Point Coordination </a:t>
            </a:r>
            <a:r>
              <a:rPr lang="en-US" altLang="zh-CN" sz="2400" dirty="0" smtClean="0">
                <a:latin typeface="+mj-lt"/>
                <a:ea typeface="+mj-ea"/>
              </a:rPr>
              <a:t>Function</a:t>
            </a:r>
          </a:p>
          <a:p>
            <a:pPr lvl="1"/>
            <a:r>
              <a:rPr lang="zh-CN" altLang="zh-CN" sz="2400" dirty="0" smtClean="0"/>
              <a:t>工作于非竞争期，使用集中控制接入算法</a:t>
            </a:r>
            <a:endParaRPr lang="en-US" altLang="zh-CN" sz="2400" dirty="0" smtClean="0"/>
          </a:p>
          <a:p>
            <a:pPr lvl="1"/>
            <a:r>
              <a:rPr lang="zh-CN" altLang="zh-CN" sz="2400" dirty="0" smtClean="0"/>
              <a:t>保证某些节点能优先使用信道</a:t>
            </a:r>
            <a:r>
              <a:rPr lang="zh-CN" altLang="en-US" sz="2400" dirty="0" smtClean="0"/>
              <a:t>，可选的</a:t>
            </a:r>
            <a:r>
              <a:rPr lang="zh-CN" altLang="zh-CN" sz="2400" dirty="0" smtClean="0"/>
              <a:t>。</a:t>
            </a:r>
            <a:endParaRPr lang="zh-CN" altLang="en-US" sz="2400" dirty="0" smtClean="0"/>
          </a:p>
          <a:p>
            <a:pPr>
              <a:spcBef>
                <a:spcPts val="600"/>
              </a:spcBef>
              <a:spcAft>
                <a:spcPts val="600"/>
              </a:spcAft>
            </a:pPr>
            <a:r>
              <a:rPr lang="en-US" altLang="zh-CN" sz="2800" dirty="0">
                <a:latin typeface="+mj-ea"/>
                <a:ea typeface="+mj-ea"/>
              </a:rPr>
              <a:t>DCF</a:t>
            </a:r>
            <a:r>
              <a:rPr lang="zh-CN" altLang="en-US" sz="2800" dirty="0">
                <a:latin typeface="+mj-ea"/>
                <a:ea typeface="+mj-ea"/>
              </a:rPr>
              <a:t>与</a:t>
            </a:r>
            <a:r>
              <a:rPr lang="en-US" altLang="zh-CN" sz="2800" dirty="0">
                <a:latin typeface="+mj-ea"/>
                <a:ea typeface="+mj-ea"/>
              </a:rPr>
              <a:t>PCF</a:t>
            </a:r>
            <a:r>
              <a:rPr lang="zh-CN" altLang="zh-CN" sz="2800" dirty="0">
                <a:latin typeface="+mj-ea"/>
                <a:ea typeface="+mj-ea"/>
              </a:rPr>
              <a:t>总是交替出现的</a:t>
            </a:r>
            <a:endParaRPr lang="zh-CN" altLang="en-US" sz="2800" dirty="0">
              <a:latin typeface="+mj-ea"/>
              <a:ea typeface="+mj-ea"/>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47800" y="260350"/>
            <a:ext cx="7444680" cy="720725"/>
          </a:xfrm>
        </p:spPr>
        <p:txBody>
          <a:bodyPr/>
          <a:lstStyle/>
          <a:p>
            <a:r>
              <a:rPr lang="en-US" altLang="zh-CN" dirty="0" smtClean="0"/>
              <a:t>CSMA/CA</a:t>
            </a:r>
            <a:r>
              <a:rPr lang="zh-CN" altLang="en-US" dirty="0" smtClean="0"/>
              <a:t>协议</a:t>
            </a:r>
            <a:endParaRPr lang="zh-CN" altLang="en-US" dirty="0"/>
          </a:p>
        </p:txBody>
      </p:sp>
      <p:sp>
        <p:nvSpPr>
          <p:cNvPr id="3" name="内容占位符 2"/>
          <p:cNvSpPr>
            <a:spLocks noGrp="1"/>
          </p:cNvSpPr>
          <p:nvPr>
            <p:ph idx="1"/>
          </p:nvPr>
        </p:nvSpPr>
        <p:spPr>
          <a:xfrm>
            <a:off x="755650" y="1341438"/>
            <a:ext cx="7772400" cy="4607842"/>
          </a:xfrm>
        </p:spPr>
        <p:txBody>
          <a:bodyPr/>
          <a:lstStyle/>
          <a:p>
            <a:pPr>
              <a:lnSpc>
                <a:spcPct val="120000"/>
              </a:lnSpc>
            </a:pPr>
            <a:r>
              <a:rPr lang="en-US" altLang="zh-CN" sz="2800" dirty="0" smtClean="0">
                <a:latin typeface="+mj-lt"/>
                <a:ea typeface="黑体" panose="02010609060101010101" pitchFamily="49" charset="-122"/>
              </a:rPr>
              <a:t>802.3</a:t>
            </a:r>
            <a:r>
              <a:rPr lang="zh-CN" altLang="zh-CN" sz="2800" dirty="0" smtClean="0">
                <a:latin typeface="+mj-lt"/>
                <a:ea typeface="黑体" panose="02010609060101010101" pitchFamily="49" charset="-122"/>
              </a:rPr>
              <a:t>采用</a:t>
            </a:r>
            <a:r>
              <a:rPr lang="en-US" altLang="zh-CN" sz="2800" dirty="0" smtClean="0">
                <a:latin typeface="+mj-lt"/>
                <a:ea typeface="黑体" panose="02010609060101010101" pitchFamily="49" charset="-122"/>
              </a:rPr>
              <a:t>CSMA/CD</a:t>
            </a:r>
            <a:r>
              <a:rPr lang="zh-CN" altLang="zh-CN" sz="2800" dirty="0" smtClean="0">
                <a:latin typeface="+mj-lt"/>
                <a:ea typeface="黑体" panose="02010609060101010101" pitchFamily="49" charset="-122"/>
              </a:rPr>
              <a:t>协议进行</a:t>
            </a:r>
            <a:r>
              <a:rPr lang="zh-CN" altLang="zh-CN" sz="2800" dirty="0">
                <a:latin typeface="+mj-lt"/>
                <a:ea typeface="黑体" panose="02010609060101010101" pitchFamily="49" charset="-122"/>
              </a:rPr>
              <a:t>共享信道的控制</a:t>
            </a:r>
            <a:r>
              <a:rPr lang="zh-CN" altLang="zh-CN" sz="2800" dirty="0" smtClean="0">
                <a:latin typeface="+mj-lt"/>
                <a:ea typeface="黑体" panose="02010609060101010101" pitchFamily="49" charset="-122"/>
              </a:rPr>
              <a:t>，</a:t>
            </a:r>
            <a:r>
              <a:rPr lang="en-US" altLang="zh-CN" sz="2800" dirty="0" smtClean="0">
                <a:latin typeface="+mj-lt"/>
                <a:ea typeface="黑体" panose="02010609060101010101" pitchFamily="49" charset="-122"/>
              </a:rPr>
              <a:t>IEEE 802.11</a:t>
            </a:r>
            <a:r>
              <a:rPr lang="zh-CN" altLang="en-US" sz="2800" dirty="0" smtClean="0">
                <a:latin typeface="+mj-lt"/>
                <a:ea typeface="黑体" panose="02010609060101010101" pitchFamily="49" charset="-122"/>
              </a:rPr>
              <a:t>采用</a:t>
            </a:r>
            <a:r>
              <a:rPr lang="en-US" altLang="zh-CN" sz="2800" dirty="0" smtClean="0">
                <a:latin typeface="+mj-lt"/>
                <a:ea typeface="黑体" panose="02010609060101010101" pitchFamily="49" charset="-122"/>
              </a:rPr>
              <a:t>CSMA/CA</a:t>
            </a:r>
            <a:r>
              <a:rPr lang="zh-CN" altLang="en-US" sz="2800" dirty="0" smtClean="0">
                <a:latin typeface="+mj-lt"/>
                <a:ea typeface="黑体" panose="02010609060101010101" pitchFamily="49" charset="-122"/>
              </a:rPr>
              <a:t>进行</a:t>
            </a:r>
            <a:r>
              <a:rPr lang="zh-CN" altLang="zh-CN" sz="2800" dirty="0" smtClean="0">
                <a:latin typeface="+mj-lt"/>
                <a:ea typeface="黑体" panose="02010609060101010101" pitchFamily="49" charset="-122"/>
              </a:rPr>
              <a:t>无线</a:t>
            </a:r>
            <a:r>
              <a:rPr lang="zh-CN" altLang="en-US" sz="2800" dirty="0" smtClean="0">
                <a:latin typeface="+mj-lt"/>
                <a:ea typeface="黑体" panose="02010609060101010101" pitchFamily="49" charset="-122"/>
              </a:rPr>
              <a:t>共享信道控制。</a:t>
            </a:r>
            <a:endParaRPr lang="en-US" altLang="zh-CN" dirty="0" smtClean="0"/>
          </a:p>
          <a:p>
            <a:pPr lvl="1">
              <a:lnSpc>
                <a:spcPct val="120000"/>
              </a:lnSpc>
              <a:spcBef>
                <a:spcPts val="600"/>
              </a:spcBef>
            </a:pPr>
            <a:r>
              <a:rPr lang="zh-CN" altLang="zh-CN" sz="2400" dirty="0" smtClean="0"/>
              <a:t>冲突</a:t>
            </a:r>
            <a:r>
              <a:rPr lang="zh-CN" altLang="en-US" sz="2400" dirty="0" smtClean="0"/>
              <a:t>检测要求</a:t>
            </a:r>
            <a:r>
              <a:rPr lang="zh-CN" altLang="zh-CN" sz="2400" dirty="0" smtClean="0"/>
              <a:t>无线</a:t>
            </a:r>
            <a:r>
              <a:rPr lang="zh-CN" altLang="zh-CN" sz="2400" dirty="0"/>
              <a:t>网卡必须</a:t>
            </a:r>
            <a:r>
              <a:rPr lang="zh-CN" altLang="zh-CN" sz="2400" dirty="0" smtClean="0"/>
              <a:t>能够</a:t>
            </a:r>
            <a:r>
              <a:rPr lang="zh-CN" altLang="en-US" sz="2400" dirty="0" smtClean="0"/>
              <a:t>同时收发信号</a:t>
            </a:r>
            <a:r>
              <a:rPr lang="zh-CN" altLang="zh-CN" sz="2400" dirty="0" smtClean="0"/>
              <a:t>，高频</a:t>
            </a:r>
            <a:r>
              <a:rPr lang="zh-CN" altLang="zh-CN" sz="2400" dirty="0"/>
              <a:t>无线</a:t>
            </a:r>
            <a:r>
              <a:rPr lang="zh-CN" altLang="zh-CN" sz="2400" dirty="0" smtClean="0"/>
              <a:t>电子电路</a:t>
            </a:r>
            <a:r>
              <a:rPr lang="zh-CN" altLang="en-US" sz="2400" dirty="0" smtClean="0"/>
              <a:t>难以实现；</a:t>
            </a:r>
            <a:endParaRPr lang="en-US" altLang="zh-CN" sz="2400" dirty="0" smtClean="0"/>
          </a:p>
          <a:p>
            <a:pPr lvl="1">
              <a:lnSpc>
                <a:spcPct val="120000"/>
              </a:lnSpc>
              <a:spcBef>
                <a:spcPts val="600"/>
              </a:spcBef>
            </a:pPr>
            <a:r>
              <a:rPr lang="zh-CN" altLang="zh-CN" sz="2400" dirty="0" smtClean="0"/>
              <a:t>无线</a:t>
            </a:r>
            <a:r>
              <a:rPr lang="zh-CN" altLang="zh-CN" sz="2400" dirty="0"/>
              <a:t>网络环境</a:t>
            </a:r>
            <a:r>
              <a:rPr lang="zh-CN" altLang="zh-CN" sz="2400" dirty="0" smtClean="0"/>
              <a:t>存在</a:t>
            </a:r>
            <a:r>
              <a:rPr lang="zh-CN" altLang="en-US" sz="2400" dirty="0" smtClean="0"/>
              <a:t>的</a:t>
            </a:r>
            <a:r>
              <a:rPr lang="zh-CN" altLang="zh-CN" sz="2400" dirty="0" smtClean="0"/>
              <a:t>隐藏</a:t>
            </a:r>
            <a:r>
              <a:rPr lang="zh-CN" altLang="zh-CN" sz="2400" dirty="0"/>
              <a:t>节点和暴露节点</a:t>
            </a:r>
            <a:r>
              <a:rPr lang="zh-CN" altLang="zh-CN" sz="2400" dirty="0" smtClean="0"/>
              <a:t>问题</a:t>
            </a:r>
            <a:r>
              <a:rPr lang="zh-CN" altLang="en-US" sz="2400" dirty="0" smtClean="0"/>
              <a:t>导致</a:t>
            </a:r>
            <a:r>
              <a:rPr lang="zh-CN" altLang="zh-CN" sz="2400" dirty="0" smtClean="0"/>
              <a:t>冲突检测</a:t>
            </a:r>
            <a:r>
              <a:rPr lang="zh-CN" altLang="en-US" sz="2400" dirty="0" smtClean="0"/>
              <a:t>困难</a:t>
            </a:r>
            <a:r>
              <a:rPr lang="zh-CN" altLang="zh-CN" sz="2400" dirty="0" smtClean="0"/>
              <a:t>；</a:t>
            </a:r>
            <a:endParaRPr lang="en-US" altLang="zh-CN" sz="2400" dirty="0" smtClean="0"/>
          </a:p>
          <a:p>
            <a:pPr lvl="1">
              <a:lnSpc>
                <a:spcPct val="120000"/>
              </a:lnSpc>
              <a:spcBef>
                <a:spcPts val="600"/>
              </a:spcBef>
            </a:pPr>
            <a:r>
              <a:rPr lang="zh-CN" altLang="zh-CN" sz="2400" dirty="0" smtClean="0"/>
              <a:t>无线</a:t>
            </a:r>
            <a:r>
              <a:rPr lang="zh-CN" altLang="zh-CN" sz="2400" dirty="0"/>
              <a:t>局域网中的节点间距可能很远，信号衰减可能造成其他节点无法检测到冲突。</a:t>
            </a:r>
          </a:p>
          <a:p>
            <a:pPr>
              <a:lnSpc>
                <a:spcPct val="120000"/>
              </a:lnSpc>
            </a:pPr>
            <a:endParaRPr lang="en-US" altLang="zh-CN" sz="2800" dirty="0" smtClean="0">
              <a:latin typeface="+mj-lt"/>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562610" y="1403985"/>
          <a:ext cx="8301990" cy="2752090"/>
        </p:xfrm>
        <a:graphic>
          <a:graphicData uri="http://schemas.openxmlformats.org/presentationml/2006/ole">
            <mc:AlternateContent xmlns:mc="http://schemas.openxmlformats.org/markup-compatibility/2006">
              <mc:Choice xmlns:v="urn:schemas-microsoft-com:vml" Requires="v">
                <p:oleObj spid="_x0000_s125983" r:id="rId4" imgW="6883400" imgH="2311400" progId="Visio.Drawing.11">
                  <p:embed/>
                </p:oleObj>
              </mc:Choice>
              <mc:Fallback>
                <p:oleObj r:id="rId4" imgW="6883400" imgH="2311400" progId="Visio.Drawing.11">
                  <p:embed/>
                  <p:pic>
                    <p:nvPicPr>
                      <p:cNvPr id="0" name="对象 3"/>
                      <p:cNvPicPr/>
                      <p:nvPr/>
                    </p:nvPicPr>
                    <p:blipFill>
                      <a:blip r:embed="rId5"/>
                      <a:stretch>
                        <a:fillRect/>
                      </a:stretch>
                    </p:blipFill>
                    <p:spPr>
                      <a:xfrm>
                        <a:off x="562610" y="1403985"/>
                        <a:ext cx="8301990" cy="2752090"/>
                      </a:xfrm>
                      <a:prstGeom prst="rect">
                        <a:avLst/>
                      </a:prstGeom>
                      <a:noFill/>
                      <a:ln w="38100">
                        <a:noFill/>
                        <a:miter/>
                      </a:ln>
                    </p:spPr>
                  </p:pic>
                </p:oleObj>
              </mc:Fallback>
            </mc:AlternateContent>
          </a:graphicData>
        </a:graphic>
      </p:graphicFrame>
      <p:sp>
        <p:nvSpPr>
          <p:cNvPr id="2" name="标题 1"/>
          <p:cNvSpPr>
            <a:spLocks noGrp="1"/>
          </p:cNvSpPr>
          <p:nvPr>
            <p:ph type="title"/>
          </p:nvPr>
        </p:nvSpPr>
        <p:spPr/>
        <p:txBody>
          <a:bodyPr/>
          <a:lstStyle/>
          <a:p>
            <a:r>
              <a:rPr lang="zh-CN" altLang="en-US" dirty="0" smtClean="0"/>
              <a:t>隐藏节点与暴露节点问题</a:t>
            </a:r>
            <a:endParaRPr lang="zh-CN" altLang="en-US" dirty="0"/>
          </a:p>
        </p:txBody>
      </p:sp>
      <p:sp>
        <p:nvSpPr>
          <p:cNvPr id="3" name="文本框 2"/>
          <p:cNvSpPr txBox="1"/>
          <p:nvPr/>
        </p:nvSpPr>
        <p:spPr>
          <a:xfrm>
            <a:off x="1041197" y="4156075"/>
            <a:ext cx="3672408" cy="1421928"/>
          </a:xfrm>
          <a:prstGeom prst="rect">
            <a:avLst/>
          </a:prstGeom>
          <a:noFill/>
        </p:spPr>
        <p:txBody>
          <a:bodyPr wrap="square" rtlCol="0">
            <a:spAutoFit/>
          </a:bodyPr>
          <a:lstStyle/>
          <a:p>
            <a:pPr algn="just">
              <a:lnSpc>
                <a:spcPct val="120000"/>
              </a:lnSpc>
            </a:pPr>
            <a:r>
              <a:rPr lang="en-US" altLang="zh-CN" sz="2400" dirty="0" smtClean="0">
                <a:solidFill>
                  <a:srgbClr val="0070C0"/>
                </a:solidFill>
              </a:rPr>
              <a:t>A</a:t>
            </a:r>
            <a:r>
              <a:rPr lang="zh-CN" altLang="en-US" sz="2400" dirty="0" smtClean="0">
                <a:solidFill>
                  <a:srgbClr val="0070C0"/>
                </a:solidFill>
              </a:rPr>
              <a:t>给</a:t>
            </a:r>
            <a:r>
              <a:rPr lang="en-US" altLang="zh-CN" sz="2400" dirty="0" smtClean="0">
                <a:solidFill>
                  <a:srgbClr val="0070C0"/>
                </a:solidFill>
              </a:rPr>
              <a:t>B</a:t>
            </a:r>
            <a:r>
              <a:rPr lang="zh-CN" altLang="en-US" sz="2400" dirty="0" smtClean="0">
                <a:solidFill>
                  <a:srgbClr val="0070C0"/>
                </a:solidFill>
              </a:rPr>
              <a:t>发送信号时，</a:t>
            </a:r>
            <a:r>
              <a:rPr lang="en-US" altLang="zh-CN" sz="2400" dirty="0" smtClean="0">
                <a:solidFill>
                  <a:srgbClr val="0070C0"/>
                </a:solidFill>
              </a:rPr>
              <a:t>C</a:t>
            </a:r>
            <a:r>
              <a:rPr lang="zh-CN" altLang="en-US" sz="2400" dirty="0" smtClean="0">
                <a:solidFill>
                  <a:srgbClr val="0070C0"/>
                </a:solidFill>
              </a:rPr>
              <a:t>看不到；此时</a:t>
            </a:r>
            <a:r>
              <a:rPr lang="en-US" altLang="zh-CN" sz="2400" dirty="0" smtClean="0">
                <a:solidFill>
                  <a:srgbClr val="0070C0"/>
                </a:solidFill>
              </a:rPr>
              <a:t>C</a:t>
            </a:r>
            <a:r>
              <a:rPr lang="zh-CN" altLang="en-US" sz="2400" dirty="0" smtClean="0">
                <a:solidFill>
                  <a:srgbClr val="0070C0"/>
                </a:solidFill>
              </a:rPr>
              <a:t>再给</a:t>
            </a:r>
            <a:r>
              <a:rPr lang="en-US" altLang="zh-CN" sz="2400" dirty="0" smtClean="0">
                <a:solidFill>
                  <a:srgbClr val="0070C0"/>
                </a:solidFill>
              </a:rPr>
              <a:t>B</a:t>
            </a:r>
            <a:r>
              <a:rPr lang="zh-CN" altLang="en-US" sz="2400" dirty="0" smtClean="0">
                <a:solidFill>
                  <a:srgbClr val="0070C0"/>
                </a:solidFill>
              </a:rPr>
              <a:t>发送信号，导致冲突。</a:t>
            </a:r>
            <a:endParaRPr lang="zh-CN" altLang="en-US" sz="2400" dirty="0">
              <a:solidFill>
                <a:srgbClr val="0070C0"/>
              </a:solidFill>
            </a:endParaRPr>
          </a:p>
        </p:txBody>
      </p:sp>
      <p:sp>
        <p:nvSpPr>
          <p:cNvPr id="7" name="文本框 6"/>
          <p:cNvSpPr txBox="1"/>
          <p:nvPr/>
        </p:nvSpPr>
        <p:spPr>
          <a:xfrm>
            <a:off x="5295900" y="4156075"/>
            <a:ext cx="3412256" cy="1421928"/>
          </a:xfrm>
          <a:prstGeom prst="rect">
            <a:avLst/>
          </a:prstGeom>
          <a:noFill/>
        </p:spPr>
        <p:txBody>
          <a:bodyPr wrap="square" rtlCol="0">
            <a:spAutoFit/>
          </a:bodyPr>
          <a:lstStyle/>
          <a:p>
            <a:pPr algn="just">
              <a:lnSpc>
                <a:spcPct val="120000"/>
              </a:lnSpc>
            </a:pPr>
            <a:r>
              <a:rPr lang="en-US" altLang="zh-CN" sz="2400" dirty="0" smtClean="0">
                <a:solidFill>
                  <a:srgbClr val="C00000"/>
                </a:solidFill>
              </a:rPr>
              <a:t>B</a:t>
            </a:r>
            <a:r>
              <a:rPr lang="zh-CN" altLang="en-US" sz="2400" dirty="0" smtClean="0">
                <a:solidFill>
                  <a:srgbClr val="C00000"/>
                </a:solidFill>
              </a:rPr>
              <a:t>给</a:t>
            </a:r>
            <a:r>
              <a:rPr lang="en-US" altLang="zh-CN" sz="2400" dirty="0" smtClean="0">
                <a:solidFill>
                  <a:srgbClr val="C00000"/>
                </a:solidFill>
              </a:rPr>
              <a:t>A</a:t>
            </a:r>
            <a:r>
              <a:rPr lang="zh-CN" altLang="en-US" sz="2400" dirty="0" smtClean="0">
                <a:solidFill>
                  <a:srgbClr val="C00000"/>
                </a:solidFill>
              </a:rPr>
              <a:t>发送信号时，</a:t>
            </a:r>
            <a:r>
              <a:rPr lang="en-US" altLang="zh-CN" sz="2400" dirty="0" smtClean="0">
                <a:solidFill>
                  <a:srgbClr val="C00000"/>
                </a:solidFill>
              </a:rPr>
              <a:t>C</a:t>
            </a:r>
            <a:r>
              <a:rPr lang="zh-CN" altLang="en-US" sz="2400" dirty="0" smtClean="0">
                <a:solidFill>
                  <a:srgbClr val="C00000"/>
                </a:solidFill>
              </a:rPr>
              <a:t>看到了；实际上此时</a:t>
            </a:r>
            <a:r>
              <a:rPr lang="en-US" altLang="zh-CN" sz="2400" dirty="0" smtClean="0">
                <a:solidFill>
                  <a:srgbClr val="C00000"/>
                </a:solidFill>
              </a:rPr>
              <a:t>C</a:t>
            </a:r>
            <a:r>
              <a:rPr lang="zh-CN" altLang="en-US" sz="2400" dirty="0" smtClean="0">
                <a:solidFill>
                  <a:srgbClr val="C00000"/>
                </a:solidFill>
              </a:rPr>
              <a:t>给</a:t>
            </a:r>
            <a:r>
              <a:rPr lang="en-US" altLang="zh-CN" sz="2400" dirty="0" smtClean="0">
                <a:solidFill>
                  <a:srgbClr val="C00000"/>
                </a:solidFill>
              </a:rPr>
              <a:t>D</a:t>
            </a:r>
            <a:r>
              <a:rPr lang="zh-CN" altLang="en-US" sz="2400" dirty="0" smtClean="0">
                <a:solidFill>
                  <a:srgbClr val="C00000"/>
                </a:solidFill>
              </a:rPr>
              <a:t>发送信号并不会冲突。</a:t>
            </a:r>
            <a:endParaRPr lang="zh-CN" altLang="en-US" sz="2400" dirty="0">
              <a:solidFill>
                <a:srgbClr val="C00000"/>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47800" y="260350"/>
            <a:ext cx="7588696" cy="720725"/>
          </a:xfrm>
        </p:spPr>
        <p:txBody>
          <a:bodyPr/>
          <a:lstStyle/>
          <a:p>
            <a:r>
              <a:rPr lang="en-US" altLang="zh-CN" dirty="0" smtClean="0"/>
              <a:t>CSMA/CA</a:t>
            </a:r>
            <a:r>
              <a:rPr lang="zh-CN" altLang="en-US" dirty="0" smtClean="0"/>
              <a:t>工作流程</a:t>
            </a:r>
            <a:endParaRPr lang="zh-CN" altLang="en-US" dirty="0"/>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a:xfrm>
            <a:off x="0" y="1628800"/>
            <a:ext cx="9144000" cy="4032448"/>
          </a:xfrm>
          <a:prstGeom prst="rect">
            <a:avLst/>
          </a:prstGeom>
          <a:noFill/>
          <a:ln>
            <a:noFill/>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虚拟载波侦听</a:t>
            </a:r>
            <a:endParaRPr lang="zh-CN" altLang="en-US" dirty="0"/>
          </a:p>
        </p:txBody>
      </p:sp>
      <p:sp>
        <p:nvSpPr>
          <p:cNvPr id="3" name="内容占位符 2"/>
          <p:cNvSpPr>
            <a:spLocks noGrp="1"/>
          </p:cNvSpPr>
          <p:nvPr>
            <p:ph idx="1"/>
          </p:nvPr>
        </p:nvSpPr>
        <p:spPr>
          <a:xfrm>
            <a:off x="755650" y="1341438"/>
            <a:ext cx="7772400" cy="4679850"/>
          </a:xfrm>
        </p:spPr>
        <p:txBody>
          <a:bodyPr/>
          <a:lstStyle/>
          <a:p>
            <a:pPr>
              <a:lnSpc>
                <a:spcPct val="110000"/>
              </a:lnSpc>
              <a:spcBef>
                <a:spcPts val="600"/>
              </a:spcBef>
            </a:pPr>
            <a:r>
              <a:rPr lang="zh-CN" altLang="zh-CN" sz="2800" dirty="0"/>
              <a:t>在发送者发送的</a:t>
            </a:r>
            <a:r>
              <a:rPr lang="en-US" altLang="zh-CN" sz="2800" dirty="0"/>
              <a:t>RTS</a:t>
            </a:r>
            <a:r>
              <a:rPr lang="zh-CN" altLang="zh-CN" sz="2800" dirty="0"/>
              <a:t>帧中包含</a:t>
            </a:r>
            <a:r>
              <a:rPr lang="zh-CN" altLang="zh-CN" sz="2800" dirty="0" smtClean="0"/>
              <a:t>了节点</a:t>
            </a:r>
            <a:r>
              <a:rPr lang="zh-CN" altLang="zh-CN" sz="2800" dirty="0"/>
              <a:t>发送数据所需要占用信道的</a:t>
            </a:r>
            <a:r>
              <a:rPr lang="zh-CN" altLang="zh-CN" sz="2800" dirty="0" smtClean="0"/>
              <a:t>时间</a:t>
            </a:r>
            <a:r>
              <a:rPr lang="zh-CN" altLang="en-US" sz="2800" dirty="0" smtClean="0"/>
              <a:t>；</a:t>
            </a:r>
            <a:endParaRPr lang="en-US" altLang="zh-CN" sz="2800" dirty="0" smtClean="0"/>
          </a:p>
          <a:p>
            <a:pPr>
              <a:lnSpc>
                <a:spcPct val="110000"/>
              </a:lnSpc>
              <a:spcBef>
                <a:spcPts val="600"/>
              </a:spcBef>
            </a:pPr>
            <a:r>
              <a:rPr lang="zh-CN" altLang="zh-CN" sz="2800" dirty="0" smtClean="0"/>
              <a:t>其他节点</a:t>
            </a:r>
            <a:r>
              <a:rPr lang="zh-CN" altLang="zh-CN" sz="2800" dirty="0"/>
              <a:t>根据</a:t>
            </a:r>
            <a:r>
              <a:rPr lang="zh-CN" altLang="zh-CN" sz="2800" dirty="0" smtClean="0"/>
              <a:t>这个</a:t>
            </a:r>
            <a:r>
              <a:rPr lang="zh-CN" altLang="en-US" sz="2800" dirty="0" smtClean="0"/>
              <a:t>占用信道时间</a:t>
            </a:r>
            <a:r>
              <a:rPr lang="zh-CN" altLang="zh-CN" sz="2800" dirty="0" smtClean="0"/>
              <a:t>信息</a:t>
            </a:r>
            <a:r>
              <a:rPr lang="zh-CN" altLang="zh-CN" sz="2800" dirty="0"/>
              <a:t>建立网络分配矢量</a:t>
            </a:r>
            <a:r>
              <a:rPr lang="zh-CN" altLang="zh-CN" sz="2800" dirty="0" smtClean="0"/>
              <a:t>（</a:t>
            </a:r>
            <a:r>
              <a:rPr lang="en-US" altLang="zh-CN" sz="2800" dirty="0" smtClean="0"/>
              <a:t>NAV—Network </a:t>
            </a:r>
            <a:r>
              <a:rPr lang="en-US" altLang="zh-CN" sz="2800" dirty="0"/>
              <a:t>Allocation </a:t>
            </a:r>
            <a:r>
              <a:rPr lang="en-US" altLang="zh-CN" sz="2800" dirty="0" smtClean="0"/>
              <a:t>Vector</a:t>
            </a:r>
            <a:r>
              <a:rPr lang="zh-CN" altLang="zh-CN" sz="2800" dirty="0" smtClean="0"/>
              <a:t>）</a:t>
            </a:r>
            <a:r>
              <a:rPr lang="zh-CN" altLang="zh-CN" sz="2800" dirty="0"/>
              <a:t>定时器</a:t>
            </a:r>
            <a:r>
              <a:rPr lang="zh-CN" altLang="zh-CN" sz="2800" dirty="0" smtClean="0"/>
              <a:t>，指示</a:t>
            </a:r>
            <a:r>
              <a:rPr lang="zh-CN" altLang="zh-CN" sz="2800" dirty="0"/>
              <a:t>在进行下次信道空闲检测前还需等待的</a:t>
            </a:r>
            <a:r>
              <a:rPr lang="zh-CN" altLang="zh-CN" sz="2800" dirty="0" smtClean="0"/>
              <a:t>时间</a:t>
            </a:r>
            <a:r>
              <a:rPr lang="zh-CN" altLang="en-US" sz="2800" dirty="0"/>
              <a:t>；</a:t>
            </a:r>
            <a:endParaRPr lang="en-US" altLang="zh-CN" sz="2800" dirty="0" smtClean="0"/>
          </a:p>
          <a:p>
            <a:pPr>
              <a:lnSpc>
                <a:spcPct val="110000"/>
              </a:lnSpc>
              <a:spcBef>
                <a:spcPts val="600"/>
              </a:spcBef>
            </a:pPr>
            <a:r>
              <a:rPr lang="zh-CN" altLang="zh-CN" sz="2800" dirty="0" smtClean="0"/>
              <a:t>虚拟载波侦听</a:t>
            </a:r>
            <a:r>
              <a:rPr lang="zh-CN" altLang="en-US" sz="2800" dirty="0" smtClean="0"/>
              <a:t>：</a:t>
            </a:r>
            <a:r>
              <a:rPr lang="en-US" altLang="zh-CN" sz="2800" dirty="0" smtClean="0"/>
              <a:t>NAV</a:t>
            </a:r>
            <a:r>
              <a:rPr lang="zh-CN" altLang="zh-CN" sz="2800" dirty="0" smtClean="0"/>
              <a:t>机制</a:t>
            </a:r>
            <a:r>
              <a:rPr lang="zh-CN" altLang="en-US" sz="2800" dirty="0" smtClean="0"/>
              <a:t>使得</a:t>
            </a:r>
            <a:r>
              <a:rPr lang="zh-CN" altLang="zh-CN" sz="2800" dirty="0" smtClean="0"/>
              <a:t>节点</a:t>
            </a:r>
            <a:r>
              <a:rPr lang="zh-CN" altLang="zh-CN" sz="2800" dirty="0"/>
              <a:t>不需要时刻监听无线信道</a:t>
            </a:r>
            <a:r>
              <a:rPr lang="zh-CN" altLang="zh-CN" sz="2800" dirty="0" smtClean="0"/>
              <a:t>状态却</a:t>
            </a:r>
            <a:r>
              <a:rPr lang="zh-CN" altLang="zh-CN" sz="2800" dirty="0"/>
              <a:t>可以确定信道何时变成</a:t>
            </a:r>
            <a:r>
              <a:rPr lang="zh-CN" altLang="zh-CN" sz="2800" dirty="0" smtClean="0"/>
              <a:t>空闲</a:t>
            </a:r>
            <a:r>
              <a:rPr lang="zh-CN" altLang="en-US" sz="2800" dirty="0" smtClean="0"/>
              <a:t>。</a:t>
            </a:r>
            <a:endParaRPr lang="zh-CN" altLang="en-US" sz="2800"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蓝牙网络</a:t>
            </a:r>
            <a:endParaRPr lang="zh-CN" altLang="en-US" dirty="0"/>
          </a:p>
        </p:txBody>
      </p:sp>
      <p:sp>
        <p:nvSpPr>
          <p:cNvPr id="3" name="内容占位符 2"/>
          <p:cNvSpPr>
            <a:spLocks noGrp="1"/>
          </p:cNvSpPr>
          <p:nvPr>
            <p:ph idx="1"/>
          </p:nvPr>
        </p:nvSpPr>
        <p:spPr/>
        <p:txBody>
          <a:bodyPr/>
          <a:lstStyle/>
          <a:p>
            <a:r>
              <a:rPr lang="zh-CN" altLang="zh-CN" sz="2800" dirty="0"/>
              <a:t>蓝</a:t>
            </a:r>
            <a:r>
              <a:rPr lang="zh-CN" altLang="zh-CN" sz="2800" dirty="0" smtClean="0"/>
              <a:t>牙</a:t>
            </a:r>
            <a:r>
              <a:rPr lang="zh-CN" altLang="en-US" sz="2800" dirty="0" smtClean="0"/>
              <a:t>技术适用于短距离无线通信，</a:t>
            </a:r>
            <a:r>
              <a:rPr lang="zh-CN" altLang="zh-CN" sz="2800" dirty="0" smtClean="0"/>
              <a:t>工作</a:t>
            </a:r>
            <a:r>
              <a:rPr lang="zh-CN" altLang="zh-CN" sz="2800" dirty="0"/>
              <a:t>于全球可用的</a:t>
            </a:r>
            <a:r>
              <a:rPr lang="en-US" altLang="zh-CN" sz="2800" dirty="0"/>
              <a:t>2.4GHz ISM</a:t>
            </a:r>
            <a:r>
              <a:rPr lang="zh-CN" altLang="zh-CN" sz="2800" dirty="0"/>
              <a:t>频段，</a:t>
            </a:r>
            <a:r>
              <a:rPr lang="zh-CN" altLang="zh-CN" sz="2800" dirty="0" smtClean="0"/>
              <a:t>采用跳</a:t>
            </a:r>
            <a:r>
              <a:rPr lang="zh-CN" altLang="zh-CN" sz="2800" dirty="0"/>
              <a:t>频</a:t>
            </a:r>
            <a:r>
              <a:rPr lang="zh-CN" altLang="zh-CN" sz="2800" dirty="0" smtClean="0"/>
              <a:t>技术</a:t>
            </a:r>
            <a:r>
              <a:rPr lang="zh-CN" altLang="en-US" sz="2800" dirty="0" smtClean="0"/>
              <a:t>，</a:t>
            </a:r>
            <a:r>
              <a:rPr lang="zh-CN" altLang="zh-CN" sz="2800" dirty="0" smtClean="0"/>
              <a:t>传输率</a:t>
            </a:r>
            <a:r>
              <a:rPr lang="zh-CN" altLang="zh-CN" sz="2800" dirty="0"/>
              <a:t>为</a:t>
            </a:r>
            <a:r>
              <a:rPr lang="en-US" altLang="zh-CN" sz="2800" dirty="0"/>
              <a:t>1Mbps</a:t>
            </a:r>
            <a:r>
              <a:rPr lang="zh-CN" altLang="zh-CN" sz="2800" dirty="0"/>
              <a:t>，采用时分双工（</a:t>
            </a:r>
            <a:r>
              <a:rPr lang="en-US" altLang="zh-CN" sz="2800" dirty="0"/>
              <a:t>TDD</a:t>
            </a:r>
            <a:r>
              <a:rPr lang="zh-CN" altLang="zh-CN" sz="2800" dirty="0"/>
              <a:t>）方案进行全双工通信</a:t>
            </a:r>
            <a:r>
              <a:rPr lang="zh-CN" altLang="zh-CN" sz="2800" dirty="0" smtClean="0"/>
              <a:t>。</a:t>
            </a:r>
            <a:endParaRPr lang="en-US" altLang="zh-CN" sz="2800" dirty="0" smtClean="0"/>
          </a:p>
          <a:p>
            <a:r>
              <a:rPr lang="zh-CN" altLang="en-US" sz="2800" dirty="0" smtClean="0"/>
              <a:t>蓝牙组网方式</a:t>
            </a:r>
            <a:endParaRPr lang="en-US" altLang="zh-CN" sz="2800" dirty="0" smtClean="0"/>
          </a:p>
          <a:p>
            <a:pPr lvl="1">
              <a:lnSpc>
                <a:spcPct val="120000"/>
              </a:lnSpc>
            </a:pPr>
            <a:r>
              <a:rPr lang="zh-CN" altLang="en-US" sz="2400" dirty="0" smtClean="0"/>
              <a:t>微微网</a:t>
            </a:r>
            <a:r>
              <a:rPr lang="zh-CN" altLang="zh-CN" dirty="0"/>
              <a:t>（</a:t>
            </a:r>
            <a:r>
              <a:rPr lang="en-US" altLang="zh-CN" dirty="0" err="1"/>
              <a:t>Piconet</a:t>
            </a:r>
            <a:r>
              <a:rPr lang="zh-CN" altLang="zh-CN" dirty="0"/>
              <a:t>）</a:t>
            </a:r>
            <a:r>
              <a:rPr lang="zh-CN" altLang="en-US" sz="2400" dirty="0" smtClean="0"/>
              <a:t>：以自组织组网方式（</a:t>
            </a:r>
            <a:r>
              <a:rPr lang="en-US" altLang="zh-CN" sz="2400" dirty="0" smtClean="0"/>
              <a:t>Ad Hoc</a:t>
            </a:r>
            <a:r>
              <a:rPr lang="zh-CN" altLang="en-US" sz="2400" dirty="0" smtClean="0"/>
              <a:t>）连接的一种微型网络，由</a:t>
            </a:r>
            <a:r>
              <a:rPr lang="en-US" altLang="zh-CN" sz="2400" dirty="0" smtClean="0"/>
              <a:t>1</a:t>
            </a:r>
            <a:r>
              <a:rPr lang="zh-CN" altLang="en-US" sz="2400" dirty="0" smtClean="0"/>
              <a:t>个主设备单元和最多</a:t>
            </a:r>
            <a:r>
              <a:rPr lang="en-US" altLang="zh-CN" sz="2400" dirty="0" smtClean="0"/>
              <a:t>7</a:t>
            </a:r>
            <a:r>
              <a:rPr lang="zh-CN" altLang="en-US" sz="2400" dirty="0" smtClean="0"/>
              <a:t>个从设备单元构成。</a:t>
            </a:r>
            <a:endParaRPr lang="en-US" altLang="zh-CN" sz="2400" dirty="0" smtClean="0"/>
          </a:p>
          <a:p>
            <a:pPr lvl="1">
              <a:lnSpc>
                <a:spcPct val="120000"/>
              </a:lnSpc>
            </a:pPr>
            <a:r>
              <a:rPr lang="zh-CN" altLang="zh-CN" sz="2400" dirty="0" smtClean="0"/>
              <a:t>散射网</a:t>
            </a:r>
            <a:r>
              <a:rPr lang="zh-CN" altLang="zh-CN" sz="2400" dirty="0"/>
              <a:t>（</a:t>
            </a:r>
            <a:r>
              <a:rPr lang="en-US" altLang="zh-CN" sz="2400" dirty="0" err="1"/>
              <a:t>Scatternet</a:t>
            </a:r>
            <a:r>
              <a:rPr lang="zh-CN" altLang="zh-CN" sz="2400" dirty="0"/>
              <a:t>）</a:t>
            </a:r>
            <a:r>
              <a:rPr lang="zh-CN" altLang="en-US" sz="2400" dirty="0" smtClean="0"/>
              <a:t>单个</a:t>
            </a:r>
            <a:r>
              <a:rPr lang="zh-CN" altLang="en-US" sz="2400" dirty="0"/>
              <a:t>微微</a:t>
            </a:r>
            <a:r>
              <a:rPr lang="zh-CN" altLang="en-US" sz="2400" dirty="0" smtClean="0"/>
              <a:t>网规模、距离都受限，</a:t>
            </a:r>
            <a:r>
              <a:rPr lang="zh-CN" altLang="zh-CN" sz="2400" dirty="0" smtClean="0"/>
              <a:t>多</a:t>
            </a:r>
            <a:r>
              <a:rPr lang="zh-CN" altLang="zh-CN" sz="2400" dirty="0"/>
              <a:t>个微微网互连在</a:t>
            </a:r>
            <a:r>
              <a:rPr lang="zh-CN" altLang="zh-CN" sz="2400" dirty="0" smtClean="0"/>
              <a:t>一起就</a:t>
            </a:r>
            <a:r>
              <a:rPr lang="zh-CN" altLang="zh-CN" sz="2400" dirty="0"/>
              <a:t>构成了蓝牙散射</a:t>
            </a:r>
            <a:r>
              <a:rPr lang="zh-CN" altLang="zh-CN" sz="2400" dirty="0" smtClean="0"/>
              <a:t>网</a:t>
            </a:r>
            <a:r>
              <a:rPr lang="zh-CN" altLang="en-US" sz="2400" dirty="0" smtClean="0"/>
              <a:t>。</a:t>
            </a:r>
            <a:endParaRPr lang="zh-CN" altLang="en-US" sz="2400"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蓝牙</a:t>
            </a:r>
            <a:r>
              <a:rPr lang="zh-CN" altLang="zh-CN" dirty="0" smtClean="0"/>
              <a:t>微微网和</a:t>
            </a:r>
            <a:r>
              <a:rPr lang="zh-CN" altLang="zh-CN" dirty="0"/>
              <a:t>散射网</a:t>
            </a:r>
            <a:endParaRPr lang="zh-CN" altLang="en-US" dirty="0"/>
          </a:p>
        </p:txBody>
      </p:sp>
      <p:grpSp>
        <p:nvGrpSpPr>
          <p:cNvPr id="8" name="组合 7"/>
          <p:cNvGrpSpPr/>
          <p:nvPr/>
        </p:nvGrpSpPr>
        <p:grpSpPr>
          <a:xfrm>
            <a:off x="2051720" y="1030398"/>
            <a:ext cx="5328592" cy="2484000"/>
            <a:chOff x="2051720" y="1030398"/>
            <a:chExt cx="5328592" cy="2484000"/>
          </a:xfrm>
        </p:grpSpPr>
        <p:sp>
          <p:nvSpPr>
            <p:cNvPr id="4" name="矩形 3"/>
            <p:cNvSpPr/>
            <p:nvPr/>
          </p:nvSpPr>
          <p:spPr bwMode="auto">
            <a:xfrm>
              <a:off x="2051720" y="1030398"/>
              <a:ext cx="5328592" cy="2484000"/>
            </a:xfrm>
            <a:prstGeom prst="rect">
              <a:avLst/>
            </a:prstGeom>
            <a:solidFill>
              <a:schemeClr val="tx2">
                <a:lumMod val="75000"/>
              </a:schemeClr>
            </a:solidFill>
            <a:ln>
              <a:noFill/>
            </a:ln>
          </p:spPr>
          <p:txBody>
            <a:bodyPr vert="horz" wrap="square" lIns="91440" tIns="45720" rIns="91440" bIns="45720" numCol="1" rtlCol="0" anchor="t" anchorCtr="0" compatLnSpc="1">
              <a:spAutoFit/>
            </a:bodyPr>
            <a:lstStyle/>
            <a:p>
              <a:pPr marL="342900" marR="0" indent="-342900" algn="r"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pPr>
              <a:endParaRPr kumimoji="1" lang="zh-CN" altLang="en-US" sz="2800" b="1"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endParaRPr>
            </a:p>
          </p:txBody>
        </p:sp>
        <p:graphicFrame>
          <p:nvGraphicFramePr>
            <p:cNvPr id="5" name="对象 4"/>
            <p:cNvGraphicFramePr>
              <a:graphicFrameLocks noChangeAspect="1"/>
            </p:cNvGraphicFramePr>
            <p:nvPr/>
          </p:nvGraphicFramePr>
          <p:xfrm>
            <a:off x="2339752" y="1124744"/>
            <a:ext cx="2404120" cy="2223081"/>
          </p:xfrm>
          <a:graphic>
            <a:graphicData uri="http://schemas.openxmlformats.org/presentationml/2006/ole">
              <mc:AlternateContent xmlns:mc="http://schemas.openxmlformats.org/markup-compatibility/2006">
                <mc:Choice xmlns:v="urn:schemas-microsoft-com:vml" Requires="v">
                  <p:oleObj spid="_x0000_s132126" name="Visio" r:id="rId4" imgW="1536700" imgH="1574800" progId="Visio.Drawing.15">
                    <p:embed/>
                  </p:oleObj>
                </mc:Choice>
                <mc:Fallback>
                  <p:oleObj name="Visio" r:id="rId4" imgW="1536700" imgH="1574800" progId="Visio.Drawing.15">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752" y="1124744"/>
                          <a:ext cx="2404120" cy="2223081"/>
                        </a:xfrm>
                        <a:prstGeom prst="rect">
                          <a:avLst/>
                        </a:prstGeom>
                        <a:noFill/>
                      </p:spPr>
                    </p:pic>
                  </p:oleObj>
                </mc:Fallback>
              </mc:AlternateContent>
            </a:graphicData>
          </a:graphic>
        </p:graphicFrame>
        <p:sp>
          <p:nvSpPr>
            <p:cNvPr id="3" name="椭圆形标注 2"/>
            <p:cNvSpPr/>
            <p:nvPr/>
          </p:nvSpPr>
          <p:spPr bwMode="auto">
            <a:xfrm>
              <a:off x="5364088" y="1312771"/>
              <a:ext cx="1584176" cy="649188"/>
            </a:xfrm>
            <a:prstGeom prst="wedgeEllipseCallout">
              <a:avLst>
                <a:gd name="adj1" fmla="val -92157"/>
                <a:gd name="adj2" fmla="val 14237"/>
              </a:avLst>
            </a:prstGeom>
            <a:noFill/>
            <a:ln>
              <a:solidFill>
                <a:srgbClr val="00B050"/>
              </a:solidFill>
            </a:ln>
          </p:spPr>
          <p:txBody>
            <a:bodyPr vert="horz" wrap="square" lIns="91440" tIns="45720" rIns="91440" bIns="45720" numCol="1" rtlCol="0" anchor="t" anchorCtr="0" compatLnSpc="1">
              <a:spAutoFit/>
            </a:bodyPr>
            <a:lstStyle/>
            <a:p>
              <a:pPr marR="0" algn="ctr" defTabSz="914400" rtl="0" eaLnBrk="1" fontAlgn="base" latinLnBrk="0" hangingPunct="1">
                <a:lnSpc>
                  <a:spcPct val="100000"/>
                </a:lnSpc>
                <a:spcBef>
                  <a:spcPct val="20000"/>
                </a:spcBef>
                <a:spcAft>
                  <a:spcPct val="0"/>
                </a:spcAft>
                <a:buClr>
                  <a:srgbClr val="3366FF"/>
                </a:buClr>
                <a:buSzTx/>
              </a:pPr>
              <a:r>
                <a:rPr kumimoji="1" lang="zh-CN" altLang="en-US" sz="2400" b="1" i="0" u="none" strike="noStrike" cap="none" normalizeH="0" baseline="0" dirty="0" smtClean="0">
                  <a:ln>
                    <a:noFill/>
                  </a:ln>
                  <a:solidFill>
                    <a:schemeClr val="accent2"/>
                  </a:solidFill>
                  <a:effectLst/>
                  <a:latin typeface="Times New Roman" panose="02020603050405020304" pitchFamily="18" charset="0"/>
                  <a:ea typeface="黑体" panose="02010609060101010101" pitchFamily="49" charset="-122"/>
                </a:rPr>
                <a:t>微微网</a:t>
              </a:r>
            </a:p>
          </p:txBody>
        </p:sp>
      </p:grpSp>
      <p:grpSp>
        <p:nvGrpSpPr>
          <p:cNvPr id="9" name="组合 8"/>
          <p:cNvGrpSpPr/>
          <p:nvPr/>
        </p:nvGrpSpPr>
        <p:grpSpPr>
          <a:xfrm>
            <a:off x="1420822" y="3645024"/>
            <a:ext cx="6535554" cy="2762692"/>
            <a:chOff x="1420822" y="3645024"/>
            <a:chExt cx="6535554" cy="2762692"/>
          </a:xfrm>
        </p:grpSpPr>
        <p:graphicFrame>
          <p:nvGraphicFramePr>
            <p:cNvPr id="7" name="对象 6"/>
            <p:cNvGraphicFramePr>
              <a:graphicFrameLocks noChangeAspect="1"/>
            </p:cNvGraphicFramePr>
            <p:nvPr/>
          </p:nvGraphicFramePr>
          <p:xfrm>
            <a:off x="1420822" y="3645024"/>
            <a:ext cx="5433595" cy="2762692"/>
          </p:xfrm>
          <a:graphic>
            <a:graphicData uri="http://schemas.openxmlformats.org/presentationml/2006/ole">
              <mc:AlternateContent xmlns:mc="http://schemas.openxmlformats.org/markup-compatibility/2006">
                <mc:Choice xmlns:v="urn:schemas-microsoft-com:vml" Requires="v">
                  <p:oleObj spid="_x0000_s132127" name="Visio" r:id="rId6" imgW="5499100" imgH="2552700" progId="Visio.Drawing.15">
                    <p:embed/>
                  </p:oleObj>
                </mc:Choice>
                <mc:Fallback>
                  <p:oleObj name="Visio" r:id="rId6" imgW="5499100" imgH="2552700" progId="Visio.Drawing.15">
                    <p:embed/>
                    <p:pic>
                      <p:nvPicPr>
                        <p:cNvPr id="7"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0822" y="3645024"/>
                          <a:ext cx="5433595" cy="2762692"/>
                        </a:xfrm>
                        <a:prstGeom prst="rect">
                          <a:avLst/>
                        </a:prstGeom>
                        <a:noFill/>
                      </p:spPr>
                    </p:pic>
                  </p:oleObj>
                </mc:Fallback>
              </mc:AlternateContent>
            </a:graphicData>
          </a:graphic>
        </p:graphicFrame>
        <p:sp>
          <p:nvSpPr>
            <p:cNvPr id="6" name="椭圆形标注 5"/>
            <p:cNvSpPr/>
            <p:nvPr/>
          </p:nvSpPr>
          <p:spPr bwMode="auto">
            <a:xfrm>
              <a:off x="6372200" y="3861048"/>
              <a:ext cx="1584176" cy="649188"/>
            </a:xfrm>
            <a:prstGeom prst="wedgeEllipseCallout">
              <a:avLst>
                <a:gd name="adj1" fmla="val -92157"/>
                <a:gd name="adj2" fmla="val 14237"/>
              </a:avLst>
            </a:prstGeom>
            <a:noFill/>
            <a:ln>
              <a:solidFill>
                <a:srgbClr val="FFC000"/>
              </a:solidFill>
            </a:ln>
          </p:spPr>
          <p:txBody>
            <a:bodyPr vert="horz" wrap="square" lIns="91440" tIns="45720" rIns="91440" bIns="45720" numCol="1" rtlCol="0" anchor="t" anchorCtr="0" compatLnSpc="1">
              <a:spAutoFit/>
            </a:bodyPr>
            <a:lstStyle/>
            <a:p>
              <a:pPr marR="0" algn="ctr" defTabSz="914400" rtl="0" eaLnBrk="1" fontAlgn="base" latinLnBrk="0" hangingPunct="1">
                <a:lnSpc>
                  <a:spcPct val="100000"/>
                </a:lnSpc>
                <a:spcBef>
                  <a:spcPct val="20000"/>
                </a:spcBef>
                <a:spcAft>
                  <a:spcPct val="0"/>
                </a:spcAft>
                <a:buClr>
                  <a:srgbClr val="3366FF"/>
                </a:buClr>
                <a:buSzTx/>
              </a:pPr>
              <a:r>
                <a:rPr kumimoji="1" lang="zh-CN" altLang="en-US" sz="2400" b="1" i="0" u="none" strike="noStrike" cap="none" normalizeH="0" baseline="0" dirty="0" smtClean="0">
                  <a:ln>
                    <a:noFill/>
                  </a:ln>
                  <a:solidFill>
                    <a:schemeClr val="accent2"/>
                  </a:solidFill>
                  <a:effectLst/>
                  <a:latin typeface="Times New Roman" panose="02020603050405020304" pitchFamily="18" charset="0"/>
                  <a:ea typeface="黑体" panose="02010609060101010101" pitchFamily="49" charset="-122"/>
                </a:rPr>
                <a:t>散射网</a:t>
              </a:r>
            </a:p>
          </p:txBody>
        </p:sp>
      </p:grpSp>
    </p:spTree>
    <p:extLst>
      <p:ext uri="{BB962C8B-B14F-4D97-AF65-F5344CB8AC3E}">
        <p14:creationId xmlns:p14="http://schemas.microsoft.com/office/powerpoint/2010/main" val="254099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p:cNvSpPr>
          <p:nvPr>
            <p:ph idx="1"/>
          </p:nvPr>
        </p:nvSpPr>
        <p:spPr>
          <a:xfrm>
            <a:off x="730696" y="1194083"/>
            <a:ext cx="8305800" cy="1274195"/>
          </a:xfrm>
        </p:spPr>
        <p:txBody>
          <a:bodyPr vert="horz" wrap="square" lIns="91440" tIns="45720" rIns="91440" bIns="45720" anchor="t">
            <a:spAutoFit/>
          </a:bodyPr>
          <a:lstStyle/>
          <a:p>
            <a:pPr marL="609600" indent="-609600" algn="just" eaLnBrk="1" hangingPunct="1"/>
            <a:r>
              <a:rPr lang="en-US" altLang="zh-CN" sz="2400" dirty="0" err="1"/>
              <a:t>Zigbee</a:t>
            </a:r>
            <a:r>
              <a:rPr lang="zh-CN" altLang="zh-CN" sz="2400" dirty="0"/>
              <a:t>是一种应用于短距离范围内，低传输速率的无线通信</a:t>
            </a:r>
            <a:r>
              <a:rPr lang="zh-CN" altLang="zh-CN" sz="2400" dirty="0" smtClean="0"/>
              <a:t>技术</a:t>
            </a:r>
            <a:r>
              <a:rPr lang="zh-CN" altLang="en-US" sz="2400" dirty="0" smtClean="0"/>
              <a:t>，对应于</a:t>
            </a:r>
            <a:r>
              <a:rPr lang="en-US" altLang="zh-CN" sz="2400" dirty="0"/>
              <a:t>IEEE </a:t>
            </a:r>
            <a:r>
              <a:rPr lang="en-US" altLang="zh-CN" sz="2400" smtClean="0"/>
              <a:t>802.15.4</a:t>
            </a:r>
            <a:r>
              <a:rPr lang="zh-CN" altLang="zh-CN" sz="2400" dirty="0" smtClean="0"/>
              <a:t>标准</a:t>
            </a:r>
            <a:r>
              <a:rPr lang="zh-CN" altLang="en-US" sz="2400" dirty="0" smtClean="0"/>
              <a:t>。</a:t>
            </a:r>
            <a:endParaRPr lang="en-US" altLang="zh-CN" sz="2400" dirty="0" smtClean="0"/>
          </a:p>
          <a:p>
            <a:pPr marL="609600" indent="-609600" algn="just" eaLnBrk="1" hangingPunct="1"/>
            <a:r>
              <a:rPr lang="zh-CN" altLang="en-US" sz="2400" dirty="0" smtClean="0"/>
              <a:t>构成：</a:t>
            </a:r>
            <a:r>
              <a:rPr lang="zh-CN" altLang="zh-CN" sz="2400" dirty="0"/>
              <a:t>协调器</a:t>
            </a:r>
            <a:r>
              <a:rPr lang="zh-CN" altLang="en-US" sz="2400" dirty="0" smtClean="0"/>
              <a:t>（只有一个）</a:t>
            </a:r>
            <a:r>
              <a:rPr lang="zh-CN" altLang="zh-CN" sz="2400" dirty="0"/>
              <a:t>、</a:t>
            </a:r>
            <a:r>
              <a:rPr lang="zh-CN" altLang="zh-CN" sz="2400" dirty="0" smtClean="0"/>
              <a:t>路由器</a:t>
            </a:r>
            <a:r>
              <a:rPr lang="zh-CN" altLang="en-US" sz="2400" dirty="0" smtClean="0"/>
              <a:t>、</a:t>
            </a:r>
            <a:r>
              <a:rPr lang="zh-CN" altLang="zh-CN" sz="2400" dirty="0" smtClean="0"/>
              <a:t>终端</a:t>
            </a:r>
            <a:r>
              <a:rPr lang="zh-CN" altLang="en-US" sz="2400" dirty="0" smtClean="0"/>
              <a:t>。</a:t>
            </a:r>
            <a:endParaRPr lang="zh-CN" altLang="en-US" sz="2400" dirty="0"/>
          </a:p>
        </p:txBody>
      </p:sp>
      <p:sp>
        <p:nvSpPr>
          <p:cNvPr id="80899" name="Rectangle 5"/>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80900" name="Object 4"/>
          <p:cNvGraphicFramePr/>
          <p:nvPr/>
        </p:nvGraphicFramePr>
        <p:xfrm>
          <a:off x="1175544" y="2681287"/>
          <a:ext cx="6792912" cy="4176713"/>
        </p:xfrm>
        <a:graphic>
          <a:graphicData uri="http://schemas.openxmlformats.org/presentationml/2006/ole">
            <mc:AlternateContent xmlns:mc="http://schemas.openxmlformats.org/markup-compatibility/2006">
              <mc:Choice xmlns:v="urn:schemas-microsoft-com:vml" Requires="v">
                <p:oleObj spid="_x0000_s131099" r:id="rId4" imgW="6280785" imgH="3874135" progId="Visio.Drawing.11">
                  <p:embed/>
                </p:oleObj>
              </mc:Choice>
              <mc:Fallback>
                <p:oleObj r:id="rId4" imgW="6280785" imgH="3874135" progId="Visio.Drawing.11">
                  <p:embed/>
                  <p:pic>
                    <p:nvPicPr>
                      <p:cNvPr id="0" name="Object 4"/>
                      <p:cNvPicPr/>
                      <p:nvPr/>
                    </p:nvPicPr>
                    <p:blipFill>
                      <a:blip r:embed="rId5"/>
                      <a:stretch>
                        <a:fillRect/>
                      </a:stretch>
                    </p:blipFill>
                    <p:spPr>
                      <a:xfrm>
                        <a:off x="1175544" y="2681287"/>
                        <a:ext cx="6792912" cy="4176713"/>
                      </a:xfrm>
                      <a:prstGeom prst="rect">
                        <a:avLst/>
                      </a:prstGeom>
                      <a:noFill/>
                      <a:ln w="38100">
                        <a:noFill/>
                        <a:miter/>
                      </a:ln>
                    </p:spPr>
                  </p:pic>
                </p:oleObj>
              </mc:Fallback>
            </mc:AlternateContent>
          </a:graphicData>
        </a:graphic>
      </p:graphicFrame>
      <p:sp>
        <p:nvSpPr>
          <p:cNvPr id="2" name="标题 1"/>
          <p:cNvSpPr>
            <a:spLocks noGrp="1"/>
          </p:cNvSpPr>
          <p:nvPr>
            <p:ph type="title"/>
          </p:nvPr>
        </p:nvSpPr>
        <p:spPr>
          <a:xfrm>
            <a:off x="1447800" y="260350"/>
            <a:ext cx="7588696" cy="720725"/>
          </a:xfrm>
        </p:spPr>
        <p:txBody>
          <a:bodyPr/>
          <a:lstStyle/>
          <a:p>
            <a:r>
              <a:rPr lang="en-US" altLang="zh-CN" dirty="0" smtClean="0"/>
              <a:t>ZigBee</a:t>
            </a:r>
            <a:r>
              <a:rPr lang="zh-CN" altLang="en-US" dirty="0" smtClean="0"/>
              <a:t>网络</a:t>
            </a:r>
            <a:endParaRPr lang="zh-CN" alt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47800" y="260350"/>
            <a:ext cx="7516688" cy="720725"/>
          </a:xfrm>
        </p:spPr>
        <p:txBody>
          <a:bodyPr/>
          <a:lstStyle/>
          <a:p>
            <a:r>
              <a:rPr lang="zh-CN" altLang="en-US" dirty="0" smtClean="0"/>
              <a:t>移动网络</a:t>
            </a:r>
            <a:endParaRPr lang="zh-CN" altLang="en-US" dirty="0"/>
          </a:p>
        </p:txBody>
      </p:sp>
      <p:sp>
        <p:nvSpPr>
          <p:cNvPr id="3" name="内容占位符 2"/>
          <p:cNvSpPr>
            <a:spLocks noGrp="1"/>
          </p:cNvSpPr>
          <p:nvPr>
            <p:ph idx="1"/>
          </p:nvPr>
        </p:nvSpPr>
        <p:spPr/>
        <p:txBody>
          <a:bodyPr/>
          <a:lstStyle/>
          <a:p>
            <a:r>
              <a:rPr lang="zh-CN" altLang="zh-CN" dirty="0"/>
              <a:t>移动网络（</a:t>
            </a:r>
            <a:r>
              <a:rPr lang="en-US" altLang="zh-CN" dirty="0"/>
              <a:t>mobile network</a:t>
            </a:r>
            <a:r>
              <a:rPr lang="zh-CN" altLang="zh-CN" dirty="0" smtClean="0"/>
              <a:t>）</a:t>
            </a:r>
            <a:r>
              <a:rPr lang="en-US" altLang="zh-CN" dirty="0" smtClean="0"/>
              <a:t>/</a:t>
            </a:r>
            <a:r>
              <a:rPr lang="zh-CN" altLang="zh-CN" dirty="0" smtClean="0"/>
              <a:t>蜂窝</a:t>
            </a:r>
            <a:r>
              <a:rPr lang="zh-CN" altLang="zh-CN" dirty="0"/>
              <a:t>网络（</a:t>
            </a:r>
            <a:r>
              <a:rPr lang="en-US" altLang="zh-CN" dirty="0"/>
              <a:t>cellular network</a:t>
            </a:r>
            <a:r>
              <a:rPr lang="zh-CN" altLang="zh-CN" dirty="0" smtClean="0"/>
              <a:t>）</a:t>
            </a:r>
            <a:endParaRPr lang="en-US" altLang="zh-CN" dirty="0" smtClean="0"/>
          </a:p>
          <a:p>
            <a:r>
              <a:rPr lang="zh-CN" altLang="zh-CN" dirty="0" smtClean="0"/>
              <a:t>是</a:t>
            </a:r>
            <a:r>
              <a:rPr lang="zh-CN" altLang="zh-CN" dirty="0"/>
              <a:t>一种</a:t>
            </a:r>
            <a:r>
              <a:rPr lang="en-US" altLang="zh-CN" dirty="0" err="1">
                <a:hlinkClick r:id="rId2"/>
              </a:rPr>
              <a:t>移动通信</a:t>
            </a:r>
            <a:r>
              <a:rPr lang="zh-CN" altLang="zh-CN" dirty="0"/>
              <a:t>硬件</a:t>
            </a:r>
            <a:r>
              <a:rPr lang="zh-CN" altLang="zh-CN" dirty="0" smtClean="0"/>
              <a:t>架构</a:t>
            </a:r>
            <a:r>
              <a:rPr lang="zh-CN" altLang="en-US" dirty="0" smtClean="0"/>
              <a:t>，</a:t>
            </a:r>
            <a:r>
              <a:rPr lang="zh-CN" altLang="zh-CN" dirty="0" smtClean="0"/>
              <a:t>利用</a:t>
            </a:r>
            <a:r>
              <a:rPr lang="zh-CN" altLang="zh-CN" dirty="0"/>
              <a:t>无线电波在空间传递</a:t>
            </a:r>
            <a:r>
              <a:rPr lang="zh-CN" altLang="zh-CN" dirty="0" smtClean="0"/>
              <a:t>信息</a:t>
            </a:r>
            <a:endParaRPr lang="en-US" altLang="zh-CN" dirty="0"/>
          </a:p>
          <a:p>
            <a:r>
              <a:rPr lang="zh-CN" altLang="en-US" dirty="0" smtClean="0"/>
              <a:t>分类：</a:t>
            </a:r>
            <a:r>
              <a:rPr lang="zh-CN" altLang="zh-CN" dirty="0"/>
              <a:t>模拟蜂窝网络和数字蜂窝</a:t>
            </a:r>
            <a:r>
              <a:rPr lang="zh-CN" altLang="zh-CN" dirty="0" smtClean="0"/>
              <a:t>网络</a:t>
            </a:r>
            <a:endParaRPr lang="en-US" altLang="zh-CN" dirty="0" smtClean="0"/>
          </a:p>
          <a:p>
            <a:r>
              <a:rPr lang="zh-CN" altLang="en-US" dirty="0" smtClean="0"/>
              <a:t>核心问题：</a:t>
            </a:r>
            <a:r>
              <a:rPr lang="zh-CN" altLang="zh-CN" dirty="0" smtClean="0"/>
              <a:t>有限可用</a:t>
            </a:r>
            <a:r>
              <a:rPr lang="zh-CN" altLang="zh-CN" dirty="0"/>
              <a:t>频率有秩序地提供</a:t>
            </a:r>
            <a:r>
              <a:rPr lang="zh-CN" altLang="zh-CN" dirty="0" smtClean="0"/>
              <a:t>给</a:t>
            </a:r>
            <a:r>
              <a:rPr lang="zh-CN" altLang="en-US" dirty="0" smtClean="0"/>
              <a:t>更多</a:t>
            </a:r>
            <a:r>
              <a:rPr lang="zh-CN" altLang="zh-CN" dirty="0" smtClean="0"/>
              <a:t>用户</a:t>
            </a:r>
            <a:r>
              <a:rPr lang="zh-CN" altLang="zh-CN" dirty="0"/>
              <a:t>使用而不相互</a:t>
            </a:r>
            <a:r>
              <a:rPr lang="zh-CN" altLang="zh-CN" dirty="0" smtClean="0"/>
              <a:t>干扰</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47800" y="260350"/>
            <a:ext cx="7516688" cy="720725"/>
          </a:xfrm>
        </p:spPr>
        <p:txBody>
          <a:bodyPr/>
          <a:lstStyle/>
          <a:p>
            <a:r>
              <a:rPr lang="zh-CN" altLang="en-US" dirty="0" smtClean="0"/>
              <a:t>移动网络基本结构</a:t>
            </a:r>
            <a:endParaRPr lang="zh-CN" altLang="en-US" dirty="0"/>
          </a:p>
        </p:txBody>
      </p:sp>
      <p:sp>
        <p:nvSpPr>
          <p:cNvPr id="3" name="内容占位符 2"/>
          <p:cNvSpPr>
            <a:spLocks noGrp="1"/>
          </p:cNvSpPr>
          <p:nvPr>
            <p:ph idx="1"/>
          </p:nvPr>
        </p:nvSpPr>
        <p:spPr>
          <a:xfrm>
            <a:off x="637918" y="4019605"/>
            <a:ext cx="7772400" cy="2721764"/>
          </a:xfrm>
        </p:spPr>
        <p:txBody>
          <a:bodyPr/>
          <a:lstStyle/>
          <a:p>
            <a:pPr lvl="0">
              <a:spcBef>
                <a:spcPts val="600"/>
              </a:spcBef>
            </a:pPr>
            <a:r>
              <a:rPr lang="zh-CN" altLang="zh-CN" sz="2200" dirty="0"/>
              <a:t>移动站点（</a:t>
            </a:r>
            <a:r>
              <a:rPr lang="en-US" altLang="zh-CN" sz="2200" dirty="0"/>
              <a:t>Mobile Station</a:t>
            </a:r>
            <a:r>
              <a:rPr lang="zh-CN" altLang="zh-CN" sz="2200" dirty="0"/>
              <a:t>，</a:t>
            </a:r>
            <a:r>
              <a:rPr lang="en-US" altLang="zh-CN" sz="2200" dirty="0"/>
              <a:t>MS</a:t>
            </a:r>
            <a:r>
              <a:rPr lang="zh-CN" altLang="zh-CN" sz="2200" dirty="0" smtClean="0"/>
              <a:t>）</a:t>
            </a:r>
            <a:r>
              <a:rPr lang="zh-CN" altLang="en-US" sz="2200" dirty="0" smtClean="0"/>
              <a:t>：即</a:t>
            </a:r>
            <a:r>
              <a:rPr lang="zh-CN" altLang="zh-CN" sz="2200" dirty="0" smtClean="0"/>
              <a:t>用户</a:t>
            </a:r>
            <a:r>
              <a:rPr lang="zh-CN" altLang="zh-CN" sz="2200" dirty="0"/>
              <a:t>设备，可以是车载台、便携台和</a:t>
            </a:r>
            <a:r>
              <a:rPr lang="zh-CN" altLang="zh-CN" sz="2200" dirty="0" smtClean="0"/>
              <a:t>手机</a:t>
            </a:r>
            <a:r>
              <a:rPr lang="zh-CN" altLang="en-US" sz="2200" dirty="0" smtClean="0"/>
              <a:t>等</a:t>
            </a:r>
            <a:endParaRPr lang="en-US" altLang="zh-CN" sz="2200" dirty="0" smtClean="0"/>
          </a:p>
          <a:p>
            <a:pPr lvl="0">
              <a:spcBef>
                <a:spcPts val="600"/>
              </a:spcBef>
            </a:pPr>
            <a:r>
              <a:rPr lang="zh-CN" altLang="zh-CN" sz="2200" dirty="0"/>
              <a:t>基站子系统（</a:t>
            </a:r>
            <a:r>
              <a:rPr lang="en-US" altLang="zh-CN" sz="2200" dirty="0"/>
              <a:t>Base Station System</a:t>
            </a:r>
            <a:r>
              <a:rPr lang="zh-CN" altLang="zh-CN" sz="2200" dirty="0"/>
              <a:t>，</a:t>
            </a:r>
            <a:r>
              <a:rPr lang="en-US" altLang="zh-CN" sz="2200" dirty="0"/>
              <a:t>BSS</a:t>
            </a:r>
            <a:r>
              <a:rPr lang="zh-CN" altLang="zh-CN" sz="2200" dirty="0" smtClean="0"/>
              <a:t>）</a:t>
            </a:r>
            <a:r>
              <a:rPr lang="zh-CN" altLang="en-US" sz="2200" dirty="0" smtClean="0"/>
              <a:t>：包括</a:t>
            </a:r>
            <a:r>
              <a:rPr lang="zh-CN" altLang="zh-CN" sz="2200" dirty="0" smtClean="0"/>
              <a:t>基</a:t>
            </a:r>
            <a:r>
              <a:rPr lang="zh-CN" altLang="zh-CN" sz="2200" dirty="0"/>
              <a:t>站收发台（</a:t>
            </a:r>
            <a:r>
              <a:rPr lang="en-US" altLang="zh-CN" sz="2200" dirty="0"/>
              <a:t>Base Transceiver Station</a:t>
            </a:r>
            <a:r>
              <a:rPr lang="zh-CN" altLang="zh-CN" sz="2200" dirty="0"/>
              <a:t>，</a:t>
            </a:r>
            <a:r>
              <a:rPr lang="en-US" altLang="zh-CN" sz="2200" dirty="0"/>
              <a:t>BTS</a:t>
            </a:r>
            <a:r>
              <a:rPr lang="zh-CN" altLang="zh-CN" sz="2200" dirty="0"/>
              <a:t>）</a:t>
            </a:r>
            <a:r>
              <a:rPr lang="zh-CN" altLang="zh-CN" sz="2200" dirty="0" smtClean="0"/>
              <a:t>和</a:t>
            </a:r>
            <a:r>
              <a:rPr lang="zh-CN" altLang="en-US" sz="2200" dirty="0" smtClean="0"/>
              <a:t>基站控制器</a:t>
            </a:r>
            <a:r>
              <a:rPr lang="zh-CN" altLang="zh-CN" sz="2200" dirty="0" smtClean="0"/>
              <a:t>（</a:t>
            </a:r>
            <a:r>
              <a:rPr lang="en-US" altLang="zh-CN" sz="2200" dirty="0"/>
              <a:t>Base Station Controller</a:t>
            </a:r>
            <a:r>
              <a:rPr lang="zh-CN" altLang="zh-CN" sz="2200" dirty="0"/>
              <a:t>，</a:t>
            </a:r>
            <a:r>
              <a:rPr lang="en-US" altLang="zh-CN" sz="2200" dirty="0"/>
              <a:t>BSC</a:t>
            </a:r>
            <a:r>
              <a:rPr lang="zh-CN" altLang="zh-CN" sz="2200" dirty="0" smtClean="0"/>
              <a:t>）</a:t>
            </a:r>
            <a:endParaRPr lang="en-US" altLang="zh-CN" sz="2200" dirty="0" smtClean="0"/>
          </a:p>
          <a:p>
            <a:pPr lvl="0">
              <a:spcBef>
                <a:spcPts val="600"/>
              </a:spcBef>
            </a:pPr>
            <a:r>
              <a:rPr lang="zh-CN" altLang="zh-CN" sz="2200" dirty="0" smtClean="0"/>
              <a:t>移动交换</a:t>
            </a:r>
            <a:r>
              <a:rPr lang="zh-CN" altLang="zh-CN" sz="2200" dirty="0"/>
              <a:t>中心（</a:t>
            </a:r>
            <a:r>
              <a:rPr lang="en-US" altLang="zh-CN" sz="2200" dirty="0"/>
              <a:t>Mobile </a:t>
            </a:r>
            <a:r>
              <a:rPr lang="en-US" altLang="zh-CN" sz="2200" dirty="0" smtClean="0"/>
              <a:t>Switching </a:t>
            </a:r>
            <a:r>
              <a:rPr lang="en-US" altLang="zh-CN" sz="2200" dirty="0"/>
              <a:t>Center</a:t>
            </a:r>
            <a:r>
              <a:rPr lang="zh-CN" altLang="zh-CN" sz="2200" dirty="0"/>
              <a:t>，</a:t>
            </a:r>
            <a:r>
              <a:rPr lang="en-US" altLang="zh-CN" sz="2200" dirty="0"/>
              <a:t>MSC</a:t>
            </a:r>
            <a:r>
              <a:rPr lang="zh-CN" altLang="zh-CN" sz="2200" dirty="0" smtClean="0"/>
              <a:t>）</a:t>
            </a:r>
            <a:r>
              <a:rPr lang="zh-CN" altLang="en-US" sz="2200" dirty="0" smtClean="0"/>
              <a:t>：提供网络系统管理功能</a:t>
            </a:r>
            <a:endParaRPr lang="zh-CN" altLang="en-US" sz="2200" dirty="0"/>
          </a:p>
        </p:txBody>
      </p:sp>
      <p:pic>
        <p:nvPicPr>
          <p:cNvPr id="5" name="图片 4"/>
          <p:cNvPicPr>
            <a:picLocks noChangeAspect="1"/>
          </p:cNvPicPr>
          <p:nvPr/>
        </p:nvPicPr>
        <p:blipFill>
          <a:blip r:embed="rId2"/>
          <a:stretch>
            <a:fillRect/>
          </a:stretch>
        </p:blipFill>
        <p:spPr>
          <a:xfrm>
            <a:off x="637918" y="1064764"/>
            <a:ext cx="8020050" cy="2743200"/>
          </a:xfrm>
          <a:prstGeom prst="rect">
            <a:avLst/>
          </a:prstGeom>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20dea899-0275-408e-8425-c025d7f3296c"/>
  <p:tag name="COMMONDATA" val="eyJoZGlkIjoiMTMzYjE4ODYyOGRkZGYyZWFlNTBhZWZiYTIxNDJlYmMifQ=="/>
</p:tagLst>
</file>

<file path=ppt/theme/theme1.xml><?xml version="1.0" encoding="utf-8"?>
<a:theme xmlns:a="http://schemas.openxmlformats.org/drawingml/2006/main" name="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spPr>
      <a:bodyPr vert="horz" wrap="none" lIns="91440" tIns="45720" rIns="91440" bIns="45720" numCol="1" anchor="t" anchorCtr="0" compatLnSpc="1">
        <a:spAutoFit/>
      </a:bodyPr>
      <a:lstStyle>
        <a:defPPr marL="342900" marR="0" indent="-342900" algn="r"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defRPr kumimoji="1" lang="zh-CN" altLang="en-US" sz="2800" b="1"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a:noFill/>
        </a:ln>
      </a:spPr>
      <a:bodyPr vert="horz" wrap="none" lIns="91440" tIns="45720" rIns="91440" bIns="45720" numCol="1" anchor="t" anchorCtr="0" compatLnSpc="1">
        <a:spAutoFit/>
      </a:bodyPr>
      <a:lstStyle>
        <a:defPPr marL="342900" marR="0" indent="-342900" algn="r" defTabSz="914400" rtl="0" eaLnBrk="1" fontAlgn="base" latinLnBrk="0" hangingPunct="1">
          <a:lnSpc>
            <a:spcPct val="100000"/>
          </a:lnSpc>
          <a:spcBef>
            <a:spcPct val="20000"/>
          </a:spcBef>
          <a:spcAft>
            <a:spcPct val="0"/>
          </a:spcAft>
          <a:buClr>
            <a:srgbClr val="3366FF"/>
          </a:buClr>
          <a:buSzTx/>
          <a:buFont typeface="Wingdings" panose="05000000000000000000" pitchFamily="2" charset="2"/>
          <a:buChar char="l"/>
          <a:defRPr kumimoji="1" lang="zh-CN" altLang="en-US" sz="2800" b="1" i="0" u="none" strike="noStrike" cap="none" normalizeH="0" baseline="0" smtClean="0">
            <a:ln>
              <a:noFill/>
            </a:ln>
            <a:solidFill>
              <a:schemeClr val="accent2"/>
            </a:solidFill>
            <a:effectLst/>
            <a:latin typeface="Times New Roman" panose="02020603050405020304" pitchFamily="18" charset="0"/>
            <a:ea typeface="黑体" panose="02010609060101010101" pitchFamily="49"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第1章 概述</Template>
  <TotalTime>2977</TotalTime>
  <Words>30124</Words>
  <Application>Microsoft Office PowerPoint</Application>
  <PresentationFormat>全屏显示(4:3)</PresentationFormat>
  <Paragraphs>1631</Paragraphs>
  <Slides>93</Slides>
  <Notes>88</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93</vt:i4>
      </vt:variant>
    </vt:vector>
  </HeadingPairs>
  <TitlesOfParts>
    <vt:vector size="114" baseType="lpstr">
      <vt:lpstr>Arial Unicode MS</vt:lpstr>
      <vt:lpstr>Monotype Sorts</vt:lpstr>
      <vt:lpstr>仿宋_GB2312</vt:lpstr>
      <vt:lpstr>黑体</vt:lpstr>
      <vt:lpstr>华文楷体</vt:lpstr>
      <vt:lpstr>华文中宋</vt:lpstr>
      <vt:lpstr>楷体_GB2312</vt:lpstr>
      <vt:lpstr>宋体</vt:lpstr>
      <vt:lpstr>Arial</vt:lpstr>
      <vt:lpstr>CordiaUPC</vt:lpstr>
      <vt:lpstr>Garamond</vt:lpstr>
      <vt:lpstr>Symbol</vt:lpstr>
      <vt:lpstr>Tahoma</vt:lpstr>
      <vt:lpstr>Times New Roman</vt:lpstr>
      <vt:lpstr>Wingdings</vt:lpstr>
      <vt:lpstr>Wingdings 2</vt:lpstr>
      <vt:lpstr>REREC模板（2004年2月）</vt:lpstr>
      <vt:lpstr>Image</vt:lpstr>
      <vt:lpstr>Visio</vt:lpstr>
      <vt:lpstr>Microsoft Visio 2003-2010 绘图</vt:lpstr>
      <vt:lpstr>Bitmap Image</vt:lpstr>
      <vt:lpstr>计算机网络</vt:lpstr>
      <vt:lpstr>第六章 数据链路控制</vt:lpstr>
      <vt:lpstr>6.1 数据链路层概述</vt:lpstr>
      <vt:lpstr>数据链路层定义</vt:lpstr>
      <vt:lpstr>数据链路层基本功能</vt:lpstr>
      <vt:lpstr>PowerPoint 演示文稿</vt:lpstr>
      <vt:lpstr>6.2 帧边界划分方法</vt:lpstr>
      <vt:lpstr>帧边界划分方法</vt:lpstr>
      <vt:lpstr>帧边界划分方法</vt:lpstr>
      <vt:lpstr>帧边界划分方法</vt:lpstr>
      <vt:lpstr>6.3 差错控制</vt:lpstr>
      <vt:lpstr>            差错控制方法</vt:lpstr>
      <vt:lpstr>纠错码和检错码</vt:lpstr>
      <vt:lpstr>海明码</vt:lpstr>
      <vt:lpstr>奇偶校验码</vt:lpstr>
      <vt:lpstr>循环冗余校验码 (CRC)</vt:lpstr>
      <vt:lpstr>PowerPoint 演示文稿</vt:lpstr>
      <vt:lpstr>PowerPoint 演示文稿</vt:lpstr>
      <vt:lpstr>检验和(checksum)算法</vt:lpstr>
      <vt:lpstr>6.4  流量控制</vt:lpstr>
      <vt:lpstr>单工停等协议</vt:lpstr>
      <vt:lpstr>PowerPoint 演示文稿</vt:lpstr>
      <vt:lpstr>单工停等协议（差错情况）</vt:lpstr>
      <vt:lpstr>PowerPoint 演示文稿</vt:lpstr>
      <vt:lpstr>连续ARQ协议 </vt:lpstr>
      <vt:lpstr>PowerPoint 演示文稿</vt:lpstr>
      <vt:lpstr>    滑动窗口协议</vt:lpstr>
      <vt:lpstr>接收窗口</vt:lpstr>
      <vt:lpstr>发送窗口</vt:lpstr>
      <vt:lpstr>接收窗口</vt:lpstr>
      <vt:lpstr>窗口大小与序号关系</vt:lpstr>
      <vt:lpstr>6.5 广播信道访问控制</vt:lpstr>
      <vt:lpstr>信道静态分配策略</vt:lpstr>
      <vt:lpstr>信道动态分配策略</vt:lpstr>
      <vt:lpstr>　令牌协议</vt:lpstr>
      <vt:lpstr>ALOHA协议</vt:lpstr>
      <vt:lpstr>PowerPoint 演示文稿</vt:lpstr>
      <vt:lpstr>载波监听多路访问协议CSMA</vt:lpstr>
      <vt:lpstr>1-坚持式CSMA</vt:lpstr>
      <vt:lpstr> 非坚持型CSMA</vt:lpstr>
      <vt:lpstr>p-坚持型CSMA</vt:lpstr>
      <vt:lpstr> 带冲突检测的载波监听多路访问协议</vt:lpstr>
      <vt:lpstr>6.6 点对点数据链路协议</vt:lpstr>
      <vt:lpstr>SLIP协议</vt:lpstr>
      <vt:lpstr>PPP协议</vt:lpstr>
      <vt:lpstr>PPP帧格式</vt:lpstr>
      <vt:lpstr>PPP工作状态迁移</vt:lpstr>
      <vt:lpstr>6.7 以太网</vt:lpstr>
      <vt:lpstr>局域网基本特征 </vt:lpstr>
      <vt:lpstr>PowerPoint 演示文稿</vt:lpstr>
      <vt:lpstr>IEEE 802标准间的关系</vt:lpstr>
      <vt:lpstr>IEEE802 数据链路层划分子层</vt:lpstr>
      <vt:lpstr>IEEE 802.3 和 Ethernet</vt:lpstr>
      <vt:lpstr>PowerPoint 演示文稿</vt:lpstr>
      <vt:lpstr>　传统以太网的介质访问控制方法 </vt:lpstr>
      <vt:lpstr>二进制指数退避算法</vt:lpstr>
      <vt:lpstr>　最短帧长制约</vt:lpstr>
      <vt:lpstr>　以太网的帧格式（1）</vt:lpstr>
      <vt:lpstr>　以太网的帧格式（2）</vt:lpstr>
      <vt:lpstr>快速以太网 </vt:lpstr>
      <vt:lpstr>传统以太网与快速以太网技术比较</vt:lpstr>
      <vt:lpstr>传统以太网与快速以太网MAC参数比较</vt:lpstr>
      <vt:lpstr>传统以太网与快速以太网物理规范比较</vt:lpstr>
      <vt:lpstr>千兆以太网</vt:lpstr>
      <vt:lpstr>千兆以太网改进技术（1）</vt:lpstr>
      <vt:lpstr>千兆以太网改进技术（2）</vt:lpstr>
      <vt:lpstr>10吉比特以太网 </vt:lpstr>
      <vt:lpstr>40/100G 以太网</vt:lpstr>
      <vt:lpstr>网桥定义与特征</vt:lpstr>
      <vt:lpstr>透明网桥/生成树网桥</vt:lpstr>
      <vt:lpstr>网桥工作流程</vt:lpstr>
      <vt:lpstr>以太网交换机</vt:lpstr>
      <vt:lpstr>虚拟局域网 </vt:lpstr>
      <vt:lpstr>虚拟局域网划分方法</vt:lpstr>
      <vt:lpstr>单交换机端口定义VLAN</vt:lpstr>
      <vt:lpstr>多交换机端口定义VLAN</vt:lpstr>
      <vt:lpstr>802.1Q 帧格式</vt:lpstr>
      <vt:lpstr>6.8 无线局域网</vt:lpstr>
      <vt:lpstr>IEEE802.11标准系列</vt:lpstr>
      <vt:lpstr>IEEE 802.11网络模式</vt:lpstr>
      <vt:lpstr>802.11 无线局域网相关概念</vt:lpstr>
      <vt:lpstr>802.11 无线局域网相关概念</vt:lpstr>
      <vt:lpstr>802.11 体系结构</vt:lpstr>
      <vt:lpstr>IEEE 802.11的MAC子层</vt:lpstr>
      <vt:lpstr>CSMA/CA协议</vt:lpstr>
      <vt:lpstr>隐藏节点与暴露节点问题</vt:lpstr>
      <vt:lpstr>CSMA/CA工作流程</vt:lpstr>
      <vt:lpstr>虚拟载波侦听</vt:lpstr>
      <vt:lpstr>蓝牙网络</vt:lpstr>
      <vt:lpstr>蓝牙微微网和散射网</vt:lpstr>
      <vt:lpstr>ZigBee网络</vt:lpstr>
      <vt:lpstr>移动网络</vt:lpstr>
      <vt:lpstr>移动网络基本结构</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第三章数据链路层</dc:title>
  <dc:creator>chenyan</dc:creator>
  <cp:lastModifiedBy>微软用户</cp:lastModifiedBy>
  <cp:revision>621</cp:revision>
  <dcterms:created xsi:type="dcterms:W3CDTF">1999-09-06T00:24:00Z</dcterms:created>
  <dcterms:modified xsi:type="dcterms:W3CDTF">2025-08-26T13:59:10Z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ED01D99656ED466BA98CED8A521F059C</vt:lpwstr>
  </property>
  <property fmtid="{D5CDD505-2E9C-101B-9397-08002B2CF9AE}" pid="3" name="KSOProductBuildVer">
    <vt:lpwstr>2052-11.1.0.13703</vt:lpwstr>
  </property>
</Properties>
</file>