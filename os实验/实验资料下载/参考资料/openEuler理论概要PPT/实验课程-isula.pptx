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841" r:id="rId4"/>
    <p:sldMasterId id="2147483825" r:id="rId5"/>
    <p:sldMasterId id="2147483848" r:id="rId6"/>
    <p:sldMasterId id="2147483867" r:id="rId7"/>
  </p:sldMasterIdLst>
  <p:notesMasterIdLst>
    <p:notesMasterId r:id="rId22"/>
  </p:notesMasterIdLst>
  <p:handoutMasterIdLst>
    <p:handoutMasterId r:id="rId23"/>
  </p:handoutMasterIdLst>
  <p:sldIdLst>
    <p:sldId id="288" r:id="rId8"/>
    <p:sldId id="261" r:id="rId9"/>
    <p:sldId id="260" r:id="rId10"/>
    <p:sldId id="293" r:id="rId11"/>
    <p:sldId id="294" r:id="rId12"/>
    <p:sldId id="287" r:id="rId13"/>
    <p:sldId id="295" r:id="rId14"/>
    <p:sldId id="291" r:id="rId15"/>
    <p:sldId id="277" r:id="rId16"/>
    <p:sldId id="278" r:id="rId17"/>
    <p:sldId id="296" r:id="rId18"/>
    <p:sldId id="282" r:id="rId19"/>
    <p:sldId id="265" r:id="rId20"/>
    <p:sldId id="290" r:id="rId21"/>
  </p:sldIdLst>
  <p:sldSz cx="12192000" cy="6858000"/>
  <p:notesSz cx="7010400" cy="9296400"/>
  <p:embeddedFontLst>
    <p:embeddedFont>
      <p:font typeface="Huawei Sans" panose="020C0503030203020204" pitchFamily="34" charset="0"/>
      <p:regular r:id="rId24"/>
      <p:bold r:id="rId25"/>
    </p:embeddedFont>
    <p:embeddedFont>
      <p:font typeface="微软雅黑" panose="020B0503020204020204" pitchFamily="34" charset="-122"/>
      <p:regular r:id="rId26"/>
      <p:bold r:id="rId27"/>
    </p:embeddedFont>
    <p:embeddedFont>
      <p:font typeface="微软雅黑" panose="020B0503020204020204" pitchFamily="34" charset="-122"/>
      <p:regular r:id="rId26"/>
      <p:bold r:id="rId27"/>
    </p:embeddedFont>
    <p:embeddedFont>
      <p:font typeface="方正兰亭黑简体" panose="02000000000000000000" pitchFamily="2" charset="-122"/>
      <p:regular r:id="rId28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404040"/>
    <a:srgbClr val="EBEBEB"/>
    <a:srgbClr val="151515"/>
    <a:srgbClr val="575756"/>
    <a:srgbClr val="FFFFFF"/>
    <a:srgbClr val="DD4654"/>
    <a:srgbClr val="F3D2D5"/>
    <a:srgbClr val="E6A8AD"/>
    <a:srgbClr val="E57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72" autoAdjust="0"/>
  </p:normalViewPr>
  <p:slideViewPr>
    <p:cSldViewPr snapToGrid="0" snapToObjects="1">
      <p:cViewPr varScale="1">
        <p:scale>
          <a:sx n="106" d="100"/>
          <a:sy n="106" d="100"/>
        </p:scale>
        <p:origin x="13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2640" y="6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10/23/2020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6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ontainers/runc/blob/master/NOTICE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422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49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319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3"/>
              </a:rPr>
              <a:t>https://github.com/opencontainers/runc/blob/master/NOTICE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07326F3-4732-B74B-9C70-D0992466E49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2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iSulad</a:t>
            </a:r>
            <a:r>
              <a:rPr lang="zh-CN" altLang="en-US" dirty="0" smtClean="0"/>
              <a:t>是一个轻量级容器引擎，采用</a:t>
            </a:r>
            <a:r>
              <a:rPr lang="en-US" altLang="zh-CN" dirty="0" smtClean="0"/>
              <a:t>C/C++</a:t>
            </a:r>
            <a:r>
              <a:rPr lang="zh-CN" altLang="en-US" dirty="0" smtClean="0"/>
              <a:t>语言实现，相比其它容器引擎，它的内存开销更小，并发性能更高；</a:t>
            </a:r>
          </a:p>
          <a:p>
            <a:r>
              <a:rPr lang="en-US" altLang="zh-CN" dirty="0" err="1" smtClean="0"/>
              <a:t>iSulad</a:t>
            </a:r>
            <a:r>
              <a:rPr lang="zh-CN" altLang="en-US" dirty="0" smtClean="0"/>
              <a:t>容器引擎主要包括以下几个模块：</a:t>
            </a:r>
          </a:p>
          <a:p>
            <a:pPr lvl="1"/>
            <a:r>
              <a:rPr lang="zh-CN" altLang="en-US" dirty="0" smtClean="0"/>
              <a:t>通信模块：支持</a:t>
            </a:r>
            <a:r>
              <a:rPr lang="en-US" altLang="zh-CN" dirty="0" err="1" smtClean="0"/>
              <a:t>gRPC</a:t>
            </a:r>
            <a:r>
              <a:rPr lang="en-US" altLang="zh-CN" dirty="0" smtClean="0"/>
              <a:t>/RESTFUL</a:t>
            </a:r>
            <a:r>
              <a:rPr lang="zh-CN" altLang="en-US" dirty="0" smtClean="0"/>
              <a:t>两种通信方式，提供对外通信的能力；</a:t>
            </a:r>
          </a:p>
          <a:p>
            <a:pPr lvl="1"/>
            <a:r>
              <a:rPr lang="zh-CN" altLang="en-US" dirty="0" smtClean="0"/>
              <a:t>镜像模块：支持</a:t>
            </a:r>
            <a:r>
              <a:rPr lang="en-US" altLang="zh-CN" dirty="0" smtClean="0"/>
              <a:t>OCI</a:t>
            </a:r>
            <a:r>
              <a:rPr lang="zh-CN" altLang="en-US" dirty="0" smtClean="0"/>
              <a:t>标准镜像，提供</a:t>
            </a:r>
            <a:r>
              <a:rPr lang="en-US" altLang="zh-CN" dirty="0" smtClean="0"/>
              <a:t>content/metadata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rootfs</a:t>
            </a:r>
            <a:r>
              <a:rPr lang="zh-CN" altLang="en-US" dirty="0" smtClean="0"/>
              <a:t>及</a:t>
            </a:r>
            <a:r>
              <a:rPr lang="en-US" altLang="zh-CN" dirty="0" smtClean="0"/>
              <a:t>snapshot</a:t>
            </a:r>
            <a:r>
              <a:rPr lang="zh-CN" altLang="en-US" dirty="0" smtClean="0"/>
              <a:t>管理能力；</a:t>
            </a:r>
          </a:p>
          <a:p>
            <a:pPr lvl="1"/>
            <a:r>
              <a:rPr lang="zh-CN" altLang="en-US" dirty="0" smtClean="0"/>
              <a:t>运行时模块：支持轻量级</a:t>
            </a:r>
            <a:r>
              <a:rPr lang="en-US" altLang="zh-CN" dirty="0" smtClean="0"/>
              <a:t>Runtime(</a:t>
            </a:r>
            <a:r>
              <a:rPr lang="en-US" altLang="zh-CN" dirty="0" err="1" smtClean="0"/>
              <a:t>lcr</a:t>
            </a:r>
            <a:r>
              <a:rPr lang="en-US" altLang="zh-CN" dirty="0" smtClean="0"/>
              <a:t>)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OCI</a:t>
            </a:r>
            <a:r>
              <a:rPr lang="zh-CN" altLang="en-US" dirty="0" smtClean="0"/>
              <a:t>标准的</a:t>
            </a:r>
            <a:r>
              <a:rPr lang="en-US" altLang="zh-CN" dirty="0" smtClean="0"/>
              <a:t>Runtime(</a:t>
            </a:r>
            <a:r>
              <a:rPr lang="en-US" altLang="zh-CN" dirty="0" err="1" smtClean="0"/>
              <a:t>runc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kata</a:t>
            </a:r>
            <a:r>
              <a:rPr lang="zh-CN" altLang="en-US" dirty="0" smtClean="0"/>
              <a:t>等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从接口划分：</a:t>
            </a:r>
          </a:p>
          <a:p>
            <a:pPr lvl="1"/>
            <a:r>
              <a:rPr lang="zh-CN" altLang="en-US" dirty="0" smtClean="0"/>
              <a:t>北向接口：提供</a:t>
            </a:r>
            <a:r>
              <a:rPr lang="en-US" altLang="zh-CN" dirty="0" smtClean="0"/>
              <a:t>CLI(Command Line Interface)</a:t>
            </a:r>
            <a:r>
              <a:rPr lang="zh-CN" altLang="en-US" dirty="0" smtClean="0"/>
              <a:t>接口和</a:t>
            </a:r>
            <a:r>
              <a:rPr lang="en-US" altLang="zh-CN" dirty="0" smtClean="0"/>
              <a:t>CRI</a:t>
            </a:r>
            <a:r>
              <a:rPr lang="zh-CN" altLang="en-US" dirty="0" smtClean="0"/>
              <a:t>接口；</a:t>
            </a:r>
          </a:p>
          <a:p>
            <a:pPr lvl="1"/>
            <a:r>
              <a:rPr lang="zh-CN" altLang="en-US" dirty="0" smtClean="0"/>
              <a:t>南向接口：提供统一的</a:t>
            </a:r>
            <a:r>
              <a:rPr lang="en-US" altLang="zh-CN" dirty="0" smtClean="0"/>
              <a:t>Runtime</a:t>
            </a:r>
            <a:r>
              <a:rPr lang="zh-CN" altLang="en-US" dirty="0" smtClean="0"/>
              <a:t>管理接口</a:t>
            </a:r>
            <a:r>
              <a:rPr lang="en-US" altLang="zh-CN" dirty="0" smtClean="0"/>
              <a:t>Plugin</a:t>
            </a:r>
            <a:r>
              <a:rPr lang="zh-CN" altLang="en-US" dirty="0" smtClean="0"/>
              <a:t>，支持</a:t>
            </a:r>
            <a:r>
              <a:rPr lang="en-US" altLang="zh-CN" dirty="0" err="1" smtClean="0"/>
              <a:t>lcr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OCI</a:t>
            </a:r>
            <a:r>
              <a:rPr lang="zh-CN" altLang="en-US" dirty="0" smtClean="0"/>
              <a:t>两种类型的</a:t>
            </a:r>
            <a:r>
              <a:rPr lang="en-US" altLang="zh-CN" dirty="0" smtClean="0"/>
              <a:t>Runtime</a:t>
            </a:r>
            <a:r>
              <a:rPr lang="zh-CN" altLang="en-US" dirty="0" smtClean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97450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521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Dockerfile</a:t>
            </a:r>
            <a:r>
              <a:rPr lang="zh-CN" altLang="en-US" dirty="0" smtClean="0"/>
              <a:t>语法：</a:t>
            </a:r>
            <a:r>
              <a:rPr lang="en-US" altLang="zh-CN" dirty="0" smtClean="0"/>
              <a:t>https://docs.docker.com/engine/reference/builder/</a:t>
            </a:r>
          </a:p>
          <a:p>
            <a:pPr lvl="1"/>
            <a:r>
              <a:rPr lang="en-US" altLang="zh-CN" dirty="0" smtClean="0"/>
              <a:t>FROM </a:t>
            </a:r>
            <a:r>
              <a:rPr lang="zh-CN" altLang="en-US" dirty="0" smtClean="0"/>
              <a:t>指令初始化新的构建阶段并为后续指令设置基础镜像</a:t>
            </a:r>
          </a:p>
          <a:p>
            <a:pPr lvl="1"/>
            <a:r>
              <a:rPr lang="en-US" altLang="zh-CN" dirty="0" smtClean="0"/>
              <a:t>RUN </a:t>
            </a:r>
            <a:r>
              <a:rPr lang="zh-CN" altLang="en-US" dirty="0" smtClean="0"/>
              <a:t>指令可以在当前镜像之上的一层执行任何命令并提交结果</a:t>
            </a:r>
          </a:p>
          <a:p>
            <a:pPr lvl="1"/>
            <a:r>
              <a:rPr lang="en-US" altLang="zh-CN" dirty="0" smtClean="0"/>
              <a:t>CMD </a:t>
            </a:r>
            <a:r>
              <a:rPr lang="zh-CN" altLang="en-US" dirty="0" smtClean="0"/>
              <a:t>的主要目的是为可执行容器提供默认值</a:t>
            </a:r>
          </a:p>
          <a:p>
            <a:pPr lvl="1"/>
            <a:r>
              <a:rPr lang="en-US" altLang="zh-CN" dirty="0" smtClean="0"/>
              <a:t>LABEL </a:t>
            </a:r>
            <a:r>
              <a:rPr lang="zh-CN" altLang="en-US" dirty="0" smtClean="0"/>
              <a:t>指令将元数据添加到镜像</a:t>
            </a:r>
          </a:p>
          <a:p>
            <a:pPr lvl="1"/>
            <a:r>
              <a:rPr lang="en-US" altLang="zh-CN" dirty="0" smtClean="0"/>
              <a:t>MAINTAINER </a:t>
            </a:r>
            <a:r>
              <a:rPr lang="zh-CN" altLang="en-US" dirty="0" smtClean="0"/>
              <a:t>指令设置生成镜像的 </a:t>
            </a:r>
            <a:r>
              <a:rPr lang="en-US" altLang="zh-CN" dirty="0" smtClean="0"/>
              <a:t>Author </a:t>
            </a:r>
            <a:r>
              <a:rPr lang="zh-CN" altLang="en-US" dirty="0" smtClean="0"/>
              <a:t>字段</a:t>
            </a:r>
          </a:p>
          <a:p>
            <a:pPr lvl="1"/>
            <a:r>
              <a:rPr lang="en-US" altLang="zh-CN" dirty="0" smtClean="0"/>
              <a:t>EXPOSE </a:t>
            </a:r>
            <a:r>
              <a:rPr lang="zh-CN" altLang="en-US" dirty="0" smtClean="0"/>
              <a:t>指令通知 </a:t>
            </a:r>
            <a:r>
              <a:rPr lang="en-US" altLang="zh-CN" dirty="0" smtClean="0"/>
              <a:t>Docker </a:t>
            </a:r>
            <a:r>
              <a:rPr lang="zh-CN" altLang="en-US" dirty="0" smtClean="0"/>
              <a:t>容器在运行时侦听指定的网络端口</a:t>
            </a:r>
          </a:p>
          <a:p>
            <a:pPr lvl="1"/>
            <a:r>
              <a:rPr lang="en-US" altLang="zh-CN" dirty="0" smtClean="0"/>
              <a:t>ENV </a:t>
            </a:r>
            <a:r>
              <a:rPr lang="zh-CN" altLang="en-US" dirty="0" smtClean="0"/>
              <a:t>指令将环境变量 </a:t>
            </a:r>
            <a:r>
              <a:rPr lang="en-US" altLang="zh-CN" dirty="0" smtClean="0"/>
              <a:t>&lt;key&gt; </a:t>
            </a:r>
            <a:r>
              <a:rPr lang="zh-CN" altLang="en-US" dirty="0" smtClean="0"/>
              <a:t>设置为值 </a:t>
            </a:r>
            <a:r>
              <a:rPr lang="en-US" altLang="zh-CN" dirty="0" smtClean="0"/>
              <a:t>&lt;value&gt;</a:t>
            </a:r>
          </a:p>
          <a:p>
            <a:pPr lvl="1"/>
            <a:r>
              <a:rPr lang="en-US" altLang="zh-CN" dirty="0" smtClean="0"/>
              <a:t>ADD </a:t>
            </a:r>
            <a:r>
              <a:rPr lang="zh-CN" altLang="en-US" dirty="0" smtClean="0"/>
              <a:t>指令从 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src</a:t>
            </a:r>
            <a:r>
              <a:rPr lang="en-US" altLang="zh-CN" dirty="0" smtClean="0"/>
              <a:t>&gt; </a:t>
            </a:r>
            <a:r>
              <a:rPr lang="zh-CN" altLang="en-US" dirty="0" smtClean="0"/>
              <a:t>复制文件，目录或远程 </a:t>
            </a:r>
            <a:r>
              <a:rPr lang="en-US" altLang="zh-CN" dirty="0" smtClean="0"/>
              <a:t>URL </a:t>
            </a:r>
            <a:r>
              <a:rPr lang="zh-CN" altLang="en-US" dirty="0" smtClean="0"/>
              <a:t>文件，并将它们添加到路径 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dest</a:t>
            </a:r>
            <a:r>
              <a:rPr lang="en-US" altLang="zh-CN" dirty="0" smtClean="0"/>
              <a:t>&gt; </a:t>
            </a:r>
            <a:r>
              <a:rPr lang="zh-CN" altLang="en-US" dirty="0" smtClean="0"/>
              <a:t>的镜像文件系统中</a:t>
            </a:r>
          </a:p>
          <a:p>
            <a:pPr lvl="1"/>
            <a:r>
              <a:rPr lang="en-US" altLang="zh-CN" dirty="0" smtClean="0"/>
              <a:t>COPY </a:t>
            </a:r>
            <a:r>
              <a:rPr lang="zh-CN" altLang="en-US" dirty="0" smtClean="0"/>
              <a:t>指令从 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src</a:t>
            </a:r>
            <a:r>
              <a:rPr lang="en-US" altLang="zh-CN" dirty="0" smtClean="0"/>
              <a:t>&gt; </a:t>
            </a:r>
            <a:r>
              <a:rPr lang="zh-CN" altLang="en-US" dirty="0" smtClean="0"/>
              <a:t>复制新文件，目录或远程 </a:t>
            </a:r>
            <a:r>
              <a:rPr lang="en-US" altLang="zh-CN" dirty="0" smtClean="0"/>
              <a:t>URL </a:t>
            </a:r>
            <a:r>
              <a:rPr lang="zh-CN" altLang="en-US" dirty="0" smtClean="0"/>
              <a:t>文件，并将它们添加到路径 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dest</a:t>
            </a:r>
            <a:r>
              <a:rPr lang="en-US" altLang="zh-CN" dirty="0" smtClean="0"/>
              <a:t>&gt; </a:t>
            </a:r>
            <a:r>
              <a:rPr lang="zh-CN" altLang="en-US" dirty="0" smtClean="0"/>
              <a:t>的镜像文件系统中</a:t>
            </a:r>
          </a:p>
          <a:p>
            <a:pPr lvl="1"/>
            <a:r>
              <a:rPr lang="en-US" altLang="zh-CN" dirty="0" smtClean="0"/>
              <a:t>ENTRYPOINT </a:t>
            </a:r>
            <a:r>
              <a:rPr lang="zh-CN" altLang="en-US" dirty="0" smtClean="0"/>
              <a:t>允许你配置一个可执行的容器</a:t>
            </a:r>
          </a:p>
          <a:p>
            <a:pPr lvl="1"/>
            <a:r>
              <a:rPr lang="en-US" altLang="zh-CN" dirty="0" smtClean="0"/>
              <a:t>VOLUME </a:t>
            </a:r>
            <a:r>
              <a:rPr lang="zh-CN" altLang="en-US" dirty="0" smtClean="0"/>
              <a:t>指令创建一个具有指定名称的挂载点，并将其标记为在本机主机或其它容器保存的外部挂载卷</a:t>
            </a:r>
          </a:p>
          <a:p>
            <a:pPr lvl="1"/>
            <a:r>
              <a:rPr lang="en-US" altLang="zh-CN" dirty="0" smtClean="0"/>
              <a:t>USER </a:t>
            </a:r>
            <a:r>
              <a:rPr lang="zh-CN" altLang="en-US" dirty="0" smtClean="0"/>
              <a:t>指令设置用户名（或</a:t>
            </a:r>
            <a:r>
              <a:rPr lang="en-US" altLang="zh-CN" dirty="0" smtClean="0"/>
              <a:t>UID</a:t>
            </a:r>
            <a:r>
              <a:rPr lang="zh-CN" altLang="en-US" dirty="0" smtClean="0"/>
              <a:t>）以及可选的用户组（或</a:t>
            </a:r>
            <a:r>
              <a:rPr lang="en-US" altLang="zh-CN" dirty="0" smtClean="0"/>
              <a:t>GID</a:t>
            </a:r>
            <a:r>
              <a:rPr lang="zh-CN" altLang="en-US" dirty="0" smtClean="0"/>
              <a:t>），以供在运行镜像时使用</a:t>
            </a:r>
          </a:p>
          <a:p>
            <a:pPr lvl="1"/>
            <a:r>
              <a:rPr lang="en-US" altLang="zh-CN" dirty="0" smtClean="0"/>
              <a:t>WORKDIR </a:t>
            </a:r>
            <a:r>
              <a:rPr lang="zh-CN" altLang="en-US" dirty="0" smtClean="0"/>
              <a:t>指令为 </a:t>
            </a:r>
            <a:r>
              <a:rPr lang="en-US" altLang="zh-CN" dirty="0" err="1" smtClean="0"/>
              <a:t>Dockerfile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中的任何 </a:t>
            </a:r>
            <a:r>
              <a:rPr lang="en-US" altLang="zh-CN" dirty="0" smtClean="0"/>
              <a:t>RUN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CMD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ENTRYPOINT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COPY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ADD </a:t>
            </a:r>
            <a:r>
              <a:rPr lang="zh-CN" altLang="en-US" dirty="0" smtClean="0"/>
              <a:t>指令设置工作目录</a:t>
            </a:r>
          </a:p>
          <a:p>
            <a:pPr lvl="1"/>
            <a:r>
              <a:rPr lang="en-US" altLang="zh-CN" dirty="0" smtClean="0"/>
              <a:t>ARG </a:t>
            </a:r>
            <a:r>
              <a:rPr lang="zh-CN" altLang="en-US" dirty="0" smtClean="0"/>
              <a:t>指令使用 </a:t>
            </a:r>
            <a:r>
              <a:rPr lang="en-US" altLang="zh-CN" dirty="0" smtClean="0"/>
              <a:t>--build-</a:t>
            </a:r>
            <a:r>
              <a:rPr lang="en-US" altLang="zh-CN" dirty="0" err="1" smtClean="0"/>
              <a:t>arg</a:t>
            </a:r>
            <a:r>
              <a:rPr lang="en-US" altLang="zh-CN" dirty="0" smtClean="0"/>
              <a:t> &lt;</a:t>
            </a:r>
            <a:r>
              <a:rPr lang="en-US" altLang="zh-CN" dirty="0" err="1" smtClean="0"/>
              <a:t>varname</a:t>
            </a:r>
            <a:r>
              <a:rPr lang="en-US" altLang="zh-CN" dirty="0" smtClean="0"/>
              <a:t>&gt;=&lt;value&gt; </a:t>
            </a:r>
            <a:r>
              <a:rPr lang="zh-CN" altLang="en-US" dirty="0" smtClean="0"/>
              <a:t>标记定义一个变量，用户可以使用 </a:t>
            </a:r>
            <a:r>
              <a:rPr lang="en-US" altLang="zh-CN" dirty="0" err="1" smtClean="0"/>
              <a:t>docker</a:t>
            </a:r>
            <a:r>
              <a:rPr lang="en-US" altLang="zh-CN" dirty="0" smtClean="0"/>
              <a:t> build </a:t>
            </a:r>
            <a:r>
              <a:rPr lang="zh-CN" altLang="en-US" dirty="0" smtClean="0"/>
              <a:t>命令在构建时将该变量传递给构建器</a:t>
            </a:r>
          </a:p>
          <a:p>
            <a:pPr lvl="1"/>
            <a:r>
              <a:rPr lang="en-US" altLang="zh-CN" dirty="0" smtClean="0"/>
              <a:t>ONBUILD </a:t>
            </a:r>
            <a:r>
              <a:rPr lang="zh-CN" altLang="en-US" dirty="0" smtClean="0"/>
              <a:t>当镜像用作另一个构建的基础时，</a:t>
            </a:r>
            <a:r>
              <a:rPr lang="en-US" altLang="zh-CN" dirty="0" smtClean="0"/>
              <a:t>ONBUILD </a:t>
            </a:r>
            <a:r>
              <a:rPr lang="zh-CN" altLang="en-US" dirty="0" smtClean="0"/>
              <a:t>指令向镜像添加将在稍后执行的触发器指令</a:t>
            </a:r>
          </a:p>
          <a:p>
            <a:pPr lvl="1"/>
            <a:r>
              <a:rPr lang="en-US" altLang="zh-CN" dirty="0" smtClean="0"/>
              <a:t>STOPSIGNAL </a:t>
            </a:r>
            <a:r>
              <a:rPr lang="zh-CN" altLang="en-US" dirty="0" smtClean="0"/>
              <a:t>指令设置发送到容器的系统信号，以退出容器</a:t>
            </a:r>
          </a:p>
          <a:p>
            <a:pPr lvl="1"/>
            <a:r>
              <a:rPr lang="en-US" altLang="zh-CN" dirty="0" smtClean="0"/>
              <a:t>HEALTHCHECK </a:t>
            </a:r>
            <a:r>
              <a:rPr lang="zh-CN" altLang="en-US" dirty="0" smtClean="0"/>
              <a:t>指令告诉 </a:t>
            </a:r>
            <a:r>
              <a:rPr lang="en-US" altLang="zh-CN" dirty="0" smtClean="0"/>
              <a:t>Docker </a:t>
            </a:r>
            <a:r>
              <a:rPr lang="zh-CN" altLang="en-US" dirty="0" smtClean="0"/>
              <a:t>如何测试容器以检查它是否仍在工作</a:t>
            </a:r>
          </a:p>
          <a:p>
            <a:pPr lvl="1"/>
            <a:r>
              <a:rPr lang="en-US" altLang="zh-CN" dirty="0" smtClean="0"/>
              <a:t>SHELL </a:t>
            </a:r>
            <a:r>
              <a:rPr lang="zh-CN" altLang="en-US" dirty="0" smtClean="0"/>
              <a:t>指令允许覆盖使用 </a:t>
            </a:r>
            <a:r>
              <a:rPr lang="en-US" altLang="zh-CN" dirty="0" smtClean="0"/>
              <a:t>shell </a:t>
            </a:r>
            <a:r>
              <a:rPr lang="zh-CN" altLang="en-US" dirty="0" smtClean="0"/>
              <a:t>形式命令的默认 </a:t>
            </a:r>
            <a:r>
              <a:rPr lang="en-US" altLang="zh-CN" dirty="0" smtClean="0"/>
              <a:t>shell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66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206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7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723461698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83460352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3782471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1707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655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55487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72913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  <p:sldLayoutId id="2147483872" r:id="rId6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Copyright©2020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openeuler/isula-build" TargetMode="Externa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iSulad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isula</a:t>
            </a:r>
            <a:r>
              <a:rPr lang="en-US" altLang="zh-CN" dirty="0" smtClean="0"/>
              <a:t>-build</a:t>
            </a:r>
            <a:r>
              <a:rPr lang="zh-CN" altLang="en-US" dirty="0" smtClean="0"/>
              <a:t>实验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8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介绍</a:t>
            </a:r>
            <a:r>
              <a:rPr lang="en-US" altLang="zh-CN" dirty="0" err="1" smtClean="0">
                <a:latin typeface="+mn-lt"/>
                <a:ea typeface="+mn-ea"/>
              </a:rPr>
              <a:t>iSulad</a:t>
            </a:r>
            <a:r>
              <a:rPr lang="zh-CN" altLang="en-US" dirty="0" smtClean="0">
                <a:latin typeface="+mn-ea"/>
                <a:ea typeface="+mn-ea"/>
              </a:rPr>
              <a:t>并运行容器</a:t>
            </a:r>
            <a:endParaRPr lang="zh-CN" altLang="en-US" dirty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lt"/>
                <a:ea typeface="+mn-ea"/>
              </a:rPr>
              <a:t>介绍</a:t>
            </a:r>
            <a:r>
              <a:rPr lang="en-US" altLang="zh-CN" dirty="0" err="1" smtClean="0">
                <a:latin typeface="+mn-lt"/>
                <a:ea typeface="+mn-ea"/>
              </a:rPr>
              <a:t>isula</a:t>
            </a:r>
            <a:r>
              <a:rPr lang="en-US" altLang="zh-CN" dirty="0" smtClean="0">
                <a:latin typeface="+mn-lt"/>
                <a:ea typeface="+mn-ea"/>
              </a:rPr>
              <a:t>-build</a:t>
            </a:r>
            <a:r>
              <a:rPr lang="zh-CN" altLang="en-US" dirty="0" smtClean="0">
                <a:latin typeface="+mn-lt"/>
                <a:ea typeface="+mn-ea"/>
              </a:rPr>
              <a:t>并</a:t>
            </a:r>
            <a:r>
              <a:rPr lang="zh-CN" altLang="en-US" dirty="0" smtClean="0">
                <a:latin typeface="+mn-ea"/>
                <a:ea typeface="+mn-ea"/>
              </a:rPr>
              <a:t>构建容器</a:t>
            </a:r>
            <a:r>
              <a:rPr lang="zh-CN" altLang="en-US" dirty="0">
                <a:latin typeface="+mn-ea"/>
                <a:ea typeface="+mn-ea"/>
              </a:rPr>
              <a:t>镜像</a:t>
            </a:r>
          </a:p>
        </p:txBody>
      </p:sp>
    </p:spTree>
    <p:extLst>
      <p:ext uri="{BB962C8B-B14F-4D97-AF65-F5344CB8AC3E}">
        <p14:creationId xmlns:p14="http://schemas.microsoft.com/office/powerpoint/2010/main" val="111272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容器运行引擎：</a:t>
            </a:r>
            <a:r>
              <a:rPr lang="en-US" altLang="zh-CN" dirty="0" err="1" smtClean="0"/>
              <a:t>iSulad</a:t>
            </a:r>
            <a:endParaRPr lang="en-US" altLang="zh-CN" dirty="0" smtClean="0"/>
          </a:p>
          <a:p>
            <a:r>
              <a:rPr lang="zh-CN" altLang="en-US" dirty="0" smtClean="0"/>
              <a:t>镜像构建工具：</a:t>
            </a:r>
            <a:r>
              <a:rPr lang="en-US" altLang="zh-CN" dirty="0" err="1" smtClean="0"/>
              <a:t>isula</a:t>
            </a:r>
            <a:r>
              <a:rPr lang="en-US" altLang="zh-CN" dirty="0" smtClean="0"/>
              <a:t>-build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66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容器基础设施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390724" y="1253191"/>
            <a:ext cx="9204997" cy="3154278"/>
            <a:chOff x="1949746" y="1104988"/>
            <a:chExt cx="9204997" cy="3154278"/>
          </a:xfrm>
        </p:grpSpPr>
        <p:cxnSp>
          <p:nvCxnSpPr>
            <p:cNvPr id="8" name="直接连接符 7"/>
            <p:cNvCxnSpPr/>
            <p:nvPr/>
          </p:nvCxnSpPr>
          <p:spPr>
            <a:xfrm flipV="1">
              <a:off x="1949746" y="3111625"/>
              <a:ext cx="9204997" cy="27748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1949746" y="1104988"/>
              <a:ext cx="9135694" cy="3154278"/>
              <a:chOff x="1949746" y="1104988"/>
              <a:chExt cx="9135694" cy="3154278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4142916" y="1104988"/>
                <a:ext cx="1139927" cy="276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zh-CN" altLang="en-US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构建</a:t>
                </a:r>
                <a:r>
                  <a:rPr kumimoji="1" lang="en-US" altLang="zh-CN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Build</a:t>
                </a:r>
                <a:endParaRPr kumimoji="1" lang="zh-CN" altLang="en-US" sz="17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6312891" y="1104988"/>
                <a:ext cx="992810" cy="276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分发</a:t>
                </a:r>
                <a:r>
                  <a:rPr kumimoji="1" lang="en-US" altLang="zh-CN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Ship</a:t>
                </a:r>
                <a:endParaRPr kumimoji="1" lang="zh-CN" altLang="en-US" sz="17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8446990" y="1104988"/>
                <a:ext cx="1139927" cy="276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</a:t>
                </a:r>
                <a:r>
                  <a:rPr kumimoji="1" lang="en-US" altLang="zh-CN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Run</a:t>
                </a:r>
                <a:endParaRPr kumimoji="1" lang="zh-CN" altLang="en-US" sz="1799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7724651" y="1536252"/>
                <a:ext cx="1367466" cy="215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面向单机开发</a:t>
                </a:r>
                <a:r>
                  <a:rPr kumimoji="1" lang="en-US" altLang="zh-CN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CLI</a:t>
                </a:r>
                <a:endParaRPr kumimoji="1" lang="zh-CN" altLang="en-US" sz="1399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106213" y="1536252"/>
                <a:ext cx="1979227" cy="215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面向</a:t>
                </a:r>
                <a:r>
                  <a:rPr kumimoji="1" lang="en-US" altLang="zh-CN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K8S</a:t>
                </a:r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集群</a:t>
                </a:r>
                <a:r>
                  <a:rPr kumimoji="1" lang="en-US" altLang="zh-CN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CRI</a:t>
                </a:r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对接</a:t>
                </a:r>
              </a:p>
            </p:txBody>
          </p:sp>
          <p:sp>
            <p:nvSpPr>
              <p:cNvPr id="51" name="右箭头 50"/>
              <p:cNvSpPr/>
              <p:nvPr/>
            </p:nvSpPr>
            <p:spPr>
              <a:xfrm>
                <a:off x="5318720" y="1104988"/>
                <a:ext cx="970534" cy="297713"/>
              </a:xfrm>
              <a:prstGeom prst="rightArrow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799" b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右箭头 51"/>
              <p:cNvSpPr/>
              <p:nvPr/>
            </p:nvSpPr>
            <p:spPr>
              <a:xfrm>
                <a:off x="7330869" y="1104988"/>
                <a:ext cx="1086093" cy="297713"/>
              </a:xfrm>
              <a:prstGeom prst="rightArrow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799" b="1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3495011" y="1536252"/>
                <a:ext cx="1367466" cy="215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面向单机开发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686228" y="1536252"/>
                <a:ext cx="1151550" cy="215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面向</a:t>
                </a:r>
                <a:r>
                  <a:rPr kumimoji="1" lang="en-US" altLang="zh-CN" sz="1399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CI/CD</a:t>
                </a:r>
                <a:endParaRPr kumimoji="1" lang="zh-CN" altLang="en-US" sz="1399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6289254" y="1954777"/>
                <a:ext cx="1072930" cy="9248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容器镜象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仓库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7802145" y="2807769"/>
                <a:ext cx="2787408" cy="251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runtime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7802145" y="1846377"/>
                <a:ext cx="1361858" cy="68373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容器引擎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636428" y="1954777"/>
                <a:ext cx="1044408" cy="9248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容器镜象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构建工具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7802145" y="2543145"/>
                <a:ext cx="2787408" cy="24793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monitor</a:t>
                </a:r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7876340" y="2065480"/>
                <a:ext cx="1223522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Docker</a:t>
                </a:r>
                <a:endPara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圆角矩形 57"/>
              <p:cNvSpPr/>
              <p:nvPr/>
            </p:nvSpPr>
            <p:spPr>
              <a:xfrm>
                <a:off x="7876340" y="2297909"/>
                <a:ext cx="1223522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Containerd</a:t>
                </a:r>
                <a:endPara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9227695" y="2065480"/>
                <a:ext cx="1361858" cy="46039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容器引擎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圆角矩形 60"/>
              <p:cNvSpPr/>
              <p:nvPr/>
            </p:nvSpPr>
            <p:spPr>
              <a:xfrm>
                <a:off x="9301890" y="2293676"/>
                <a:ext cx="1223522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Containerd</a:t>
                </a:r>
                <a:endPara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圆角矩形 61"/>
              <p:cNvSpPr/>
              <p:nvPr/>
            </p:nvSpPr>
            <p:spPr>
              <a:xfrm>
                <a:off x="8978848" y="2559304"/>
                <a:ext cx="1511410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Containerd</a:t>
                </a:r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-shim</a:t>
                </a: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8994802" y="2830330"/>
                <a:ext cx="1511410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runc</a:t>
                </a:r>
                <a:endParaRPr lang="en-US" altLang="zh-CN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3676652" y="2417192"/>
                <a:ext cx="983172" cy="3145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Docker</a:t>
                </a:r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build</a:t>
                </a: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4744528" y="1954777"/>
                <a:ext cx="1044408" cy="9248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容器镜象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构建工具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4784752" y="2417192"/>
                <a:ext cx="983172" cy="3145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Buildkit</a:t>
                </a:r>
                <a:endParaRPr lang="en-US" altLang="zh-CN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6330441" y="2420871"/>
                <a:ext cx="983172" cy="3145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Docker</a:t>
                </a:r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registry</a:t>
                </a: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3636427" y="3295004"/>
                <a:ext cx="2131496" cy="9248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容器镜象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构建工具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3676652" y="3757419"/>
                <a:ext cx="2091271" cy="3145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isula</a:t>
                </a:r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-build</a:t>
                </a: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7802145" y="4007456"/>
                <a:ext cx="2787408" cy="251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runtime</a:t>
                </a: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7802144" y="3250591"/>
                <a:ext cx="2787408" cy="47920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容器引擎</a:t>
                </a:r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7802145" y="3742831"/>
                <a:ext cx="2787408" cy="24793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zh-CN" alt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monitor</a:t>
                </a:r>
              </a:p>
            </p:txBody>
          </p:sp>
          <p:sp>
            <p:nvSpPr>
              <p:cNvPr id="200" name="圆角矩形 199"/>
              <p:cNvSpPr/>
              <p:nvPr/>
            </p:nvSpPr>
            <p:spPr>
              <a:xfrm>
                <a:off x="7881592" y="3497596"/>
                <a:ext cx="2662960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iSulad</a:t>
                </a:r>
                <a:endParaRPr lang="zh-CN" altLang="en-US" sz="120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圆角矩形 202"/>
              <p:cNvSpPr/>
              <p:nvPr/>
            </p:nvSpPr>
            <p:spPr>
              <a:xfrm>
                <a:off x="8978848" y="3758991"/>
                <a:ext cx="1511410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 err="1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Lxc</a:t>
                </a:r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-monitor</a:t>
                </a:r>
              </a:p>
            </p:txBody>
          </p:sp>
          <p:sp>
            <p:nvSpPr>
              <p:cNvPr id="204" name="圆角矩形 203"/>
              <p:cNvSpPr/>
              <p:nvPr/>
            </p:nvSpPr>
            <p:spPr>
              <a:xfrm>
                <a:off x="8978848" y="4030017"/>
                <a:ext cx="1511410" cy="21715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LCR</a:t>
                </a:r>
              </a:p>
            </p:txBody>
          </p:sp>
          <p:pic>
            <p:nvPicPr>
              <p:cNvPr id="215" name="图片 2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5510" y="2052334"/>
                <a:ext cx="882503" cy="758568"/>
              </a:xfrm>
              <a:prstGeom prst="rect">
                <a:avLst/>
              </a:prstGeom>
            </p:spPr>
          </p:pic>
          <p:sp>
            <p:nvSpPr>
              <p:cNvPr id="218" name="文本框 217"/>
              <p:cNvSpPr txBox="1"/>
              <p:nvPr/>
            </p:nvSpPr>
            <p:spPr>
              <a:xfrm>
                <a:off x="1949746" y="1315825"/>
                <a:ext cx="1139927" cy="2768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799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组件</a:t>
                </a:r>
              </a:p>
            </p:txBody>
          </p:sp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5510" y="3295004"/>
                <a:ext cx="907462" cy="924829"/>
              </a:xfrm>
              <a:prstGeom prst="rect">
                <a:avLst/>
              </a:prstGeom>
            </p:spPr>
          </p:pic>
        </p:grpSp>
      </p:grpSp>
      <p:sp>
        <p:nvSpPr>
          <p:cNvPr id="16" name="文本框 15"/>
          <p:cNvSpPr txBox="1"/>
          <p:nvPr/>
        </p:nvSpPr>
        <p:spPr>
          <a:xfrm>
            <a:off x="1283516" y="5050172"/>
            <a:ext cx="5211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构建侧（</a:t>
            </a:r>
            <a:r>
              <a:rPr lang="en-US" altLang="zh-CN" dirty="0" err="1" smtClean="0"/>
              <a:t>isula</a:t>
            </a:r>
            <a:r>
              <a:rPr lang="en-US" altLang="zh-CN" dirty="0" smtClean="0"/>
              <a:t>-build</a:t>
            </a:r>
            <a:r>
              <a:rPr lang="zh-CN" altLang="en-US" dirty="0" smtClean="0"/>
              <a:t>）与运行侧（</a:t>
            </a:r>
            <a:r>
              <a:rPr lang="en-US" altLang="zh-CN" dirty="0" err="1" smtClean="0"/>
              <a:t>iSulad</a:t>
            </a:r>
            <a:r>
              <a:rPr lang="zh-CN" altLang="en-US" dirty="0" smtClean="0"/>
              <a:t>）分离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24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+mn-lt"/>
              </a:rPr>
              <a:t>iSulad</a:t>
            </a:r>
            <a:r>
              <a:rPr lang="zh-CN" altLang="en-US" dirty="0" smtClean="0">
                <a:latin typeface="+mn-lt"/>
              </a:rPr>
              <a:t>：介绍与架构</a:t>
            </a:r>
            <a:endParaRPr lang="zh-CN" altLang="en-US" dirty="0">
              <a:latin typeface="+mn-lt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5526349" cy="4879805"/>
          </a:xfrm>
        </p:spPr>
        <p:txBody>
          <a:bodyPr/>
          <a:lstStyle/>
          <a:p>
            <a:r>
              <a:rPr lang="zh-CN" altLang="en-US" sz="2000" dirty="0" smtClean="0"/>
              <a:t>使用</a:t>
            </a:r>
            <a:r>
              <a:rPr lang="en-US" altLang="zh-CN" sz="2000" dirty="0" smtClean="0"/>
              <a:t>C/C++</a:t>
            </a:r>
            <a:r>
              <a:rPr lang="zh-CN" altLang="en-US" sz="2000" dirty="0" smtClean="0"/>
              <a:t>语言编写</a:t>
            </a:r>
            <a:endParaRPr lang="en-US" altLang="zh-CN" sz="2000" dirty="0" smtClean="0"/>
          </a:p>
          <a:p>
            <a:r>
              <a:rPr lang="zh-CN" altLang="en-US" sz="2000" dirty="0" smtClean="0"/>
              <a:t>提供</a:t>
            </a:r>
            <a:r>
              <a:rPr lang="en-US" altLang="zh-CN" sz="2000" dirty="0" smtClean="0"/>
              <a:t>CRI</a:t>
            </a:r>
            <a:r>
              <a:rPr lang="zh-CN" altLang="en-US" sz="2000" dirty="0" smtClean="0"/>
              <a:t>接口，对接</a:t>
            </a:r>
            <a:r>
              <a:rPr lang="en-US" altLang="zh-CN" sz="2000" dirty="0"/>
              <a:t>K</a:t>
            </a:r>
            <a:r>
              <a:rPr lang="en-US" altLang="zh-CN" sz="2000" dirty="0" smtClean="0"/>
              <a:t>8s</a:t>
            </a:r>
          </a:p>
          <a:p>
            <a:r>
              <a:rPr lang="zh-CN" altLang="en-US" sz="2000" dirty="0" smtClean="0"/>
              <a:t>支持</a:t>
            </a:r>
            <a:r>
              <a:rPr lang="en-US" altLang="zh-CN" sz="2000" dirty="0" smtClean="0"/>
              <a:t>OCI</a:t>
            </a:r>
            <a:r>
              <a:rPr lang="zh-CN" altLang="en-US" sz="2000" dirty="0" smtClean="0"/>
              <a:t>镜像，支持平滑替换</a:t>
            </a:r>
            <a:r>
              <a:rPr lang="en-US" altLang="zh-CN" sz="2000" dirty="0" smtClean="0"/>
              <a:t>Docker</a:t>
            </a:r>
          </a:p>
          <a:p>
            <a:r>
              <a:rPr lang="zh-CN" altLang="en-US" sz="2000" dirty="0" smtClean="0"/>
              <a:t>支持系统容器、安全容器等多种容器形态</a:t>
            </a:r>
            <a:endParaRPr lang="en-US" altLang="zh-CN" sz="2000" dirty="0" smtClean="0"/>
          </a:p>
          <a:p>
            <a:r>
              <a:rPr lang="zh-CN" altLang="en-US" sz="2000" dirty="0" smtClean="0"/>
              <a:t>提供便捷使用的命令行</a:t>
            </a:r>
            <a:endParaRPr lang="en-US" altLang="zh-CN" sz="2000" dirty="0" smtClean="0"/>
          </a:p>
          <a:p>
            <a:r>
              <a:rPr lang="zh-CN" altLang="en-US" sz="2000" dirty="0" smtClean="0"/>
              <a:t>提供插件化架构，可根据用户需要开发定制化插件</a:t>
            </a:r>
            <a:endParaRPr lang="zh-CN" altLang="en-US" sz="2000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50931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3" name="Picture 2" descr="https://gitee.com/lifeng2221dd1/wiki/raw/master/blog/blog-iSulad-Architecture-preview/arch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416" y="1047750"/>
            <a:ext cx="6186501" cy="51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62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iSulad</a:t>
            </a:r>
            <a:r>
              <a:rPr lang="zh-CN" altLang="en-US" dirty="0" smtClean="0"/>
              <a:t>：性能表现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00281" y="1544918"/>
            <a:ext cx="153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单次</a:t>
            </a:r>
            <a:r>
              <a:rPr lang="zh-CN" altLang="en-US" dirty="0" smtClean="0"/>
              <a:t>操作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51239" y="1557282"/>
            <a:ext cx="1989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并发操作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00281" y="1062464"/>
            <a:ext cx="594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测试环境：基于鲲鹏</a:t>
            </a:r>
            <a:r>
              <a:rPr lang="en-US" altLang="zh-CN" dirty="0" smtClean="0"/>
              <a:t>920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openEuler</a:t>
            </a:r>
            <a:r>
              <a:rPr lang="en-US" altLang="zh-CN" dirty="0" smtClean="0"/>
              <a:t> 20.03 </a:t>
            </a:r>
            <a:r>
              <a:rPr lang="zh-CN" altLang="en-US" dirty="0" smtClean="0"/>
              <a:t>进行测试</a:t>
            </a:r>
            <a:endParaRPr lang="en-US" altLang="zh-CN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1" y="1858598"/>
            <a:ext cx="5505450" cy="4248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39" y="1858598"/>
            <a:ext cx="5486400" cy="4248150"/>
          </a:xfrm>
          <a:prstGeom prst="rect">
            <a:avLst/>
          </a:prstGeom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74476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3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iSulad</a:t>
            </a:r>
            <a:r>
              <a:rPr lang="zh-CN" altLang="en-US" dirty="0" smtClean="0"/>
              <a:t>：实验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下面进行</a:t>
            </a:r>
            <a:r>
              <a:rPr lang="en-US" altLang="zh-CN" dirty="0" smtClean="0"/>
              <a:t>iSulad</a:t>
            </a:r>
            <a:r>
              <a:rPr lang="zh-CN" altLang="en-US" dirty="0" smtClean="0"/>
              <a:t>的实验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564153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17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isula-build</a:t>
            </a:r>
            <a:r>
              <a:rPr lang="zh-CN" altLang="en-US" dirty="0" smtClean="0"/>
              <a:t>：介绍与架构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isula</a:t>
            </a:r>
            <a:r>
              <a:rPr lang="en-US" altLang="zh-CN" dirty="0"/>
              <a:t>-build</a:t>
            </a:r>
            <a:r>
              <a:rPr lang="zh-CN" altLang="en-US" dirty="0"/>
              <a:t>是</a:t>
            </a:r>
            <a:r>
              <a:rPr lang="en-US" altLang="zh-CN" dirty="0" err="1"/>
              <a:t>iSula</a:t>
            </a:r>
            <a:r>
              <a:rPr lang="zh-CN" altLang="en-US" dirty="0"/>
              <a:t>容器团队推出的容器镜像构建工具，支持通过</a:t>
            </a:r>
            <a:r>
              <a:rPr lang="en-US" altLang="zh-CN" dirty="0" err="1"/>
              <a:t>Dockerfile</a:t>
            </a:r>
            <a:r>
              <a:rPr lang="zh-CN" altLang="en-US" dirty="0"/>
              <a:t>文件快速构建容器镜像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架构：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863" y="2092791"/>
            <a:ext cx="7544769" cy="4505149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401860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rgbClr val="C7000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72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方正兰亭黑简体" panose="02000000000000000000" pitchFamily="2" charset="-122"/>
              </a:rPr>
              <a:t>isula</a:t>
            </a:r>
            <a:r>
              <a:rPr lang="en-US" altLang="zh-CN" dirty="0">
                <a:latin typeface="方正兰亭黑简体" panose="02000000000000000000" pitchFamily="2" charset="-122"/>
              </a:rPr>
              <a:t>-build </a:t>
            </a:r>
            <a:r>
              <a:rPr lang="zh-CN" altLang="en-US" dirty="0">
                <a:latin typeface="方正兰亭黑简体" panose="02000000000000000000" pitchFamily="2" charset="-122"/>
              </a:rPr>
              <a:t>容器镜像管理指令</a:t>
            </a:r>
            <a:br>
              <a:rPr lang="zh-CN" altLang="en-US" dirty="0">
                <a:latin typeface="方正兰亭黑简体" panose="02000000000000000000" pitchFamily="2" charset="-122"/>
              </a:rPr>
            </a:b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600" dirty="0"/>
              <a:t>build</a:t>
            </a:r>
            <a:r>
              <a:rPr lang="zh-CN" altLang="en-US" sz="1600" dirty="0"/>
              <a:t>：容器镜像构建</a:t>
            </a:r>
            <a:endParaRPr lang="en-US" altLang="zh-CN" sz="1600" dirty="0"/>
          </a:p>
          <a:p>
            <a:pPr lvl="1"/>
            <a:r>
              <a:rPr lang="en-US" altLang="zh-CN" sz="1200" i="1" dirty="0" err="1"/>
              <a:t>ctr-img</a:t>
            </a:r>
            <a:r>
              <a:rPr lang="en-US" altLang="zh-CN" sz="1200" dirty="0"/>
              <a:t> for container image building</a:t>
            </a:r>
          </a:p>
          <a:p>
            <a:endParaRPr lang="en-US" altLang="zh-CN" sz="1600" dirty="0"/>
          </a:p>
          <a:p>
            <a:r>
              <a:rPr lang="en-US" altLang="zh-CN" sz="1600" dirty="0"/>
              <a:t>images</a:t>
            </a:r>
            <a:r>
              <a:rPr lang="zh-CN" altLang="en-US" sz="1600" dirty="0"/>
              <a:t>：查看本地持久化存储的容器镜像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import: </a:t>
            </a:r>
            <a:r>
              <a:rPr lang="zh-CN" altLang="en-US" sz="1600" dirty="0"/>
              <a:t>导入容器基础镜像</a:t>
            </a:r>
            <a:r>
              <a:rPr lang="en-US" altLang="zh-CN" sz="1600" dirty="0"/>
              <a:t>/</a:t>
            </a:r>
            <a:r>
              <a:rPr lang="en-US" altLang="zh-CN" sz="1600" dirty="0" err="1"/>
              <a:t>rootfs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load/save</a:t>
            </a:r>
            <a:r>
              <a:rPr lang="zh-CN" altLang="en-US" sz="1600" dirty="0"/>
              <a:t>：导入、导出容器层叠镜像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 err="1"/>
              <a:t>rm</a:t>
            </a:r>
            <a:r>
              <a:rPr lang="en-US" altLang="zh-CN" sz="1600" dirty="0"/>
              <a:t>: </a:t>
            </a:r>
            <a:r>
              <a:rPr lang="zh-CN" altLang="en-US" sz="1600" dirty="0"/>
              <a:t>删除本地持久化存储的容器镜像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tag: </a:t>
            </a:r>
            <a:r>
              <a:rPr lang="zh-CN" altLang="en-US" sz="1600" dirty="0"/>
              <a:t>为本地持久化的镜像打</a:t>
            </a:r>
            <a:r>
              <a:rPr lang="en-US" altLang="zh-CN" sz="1600" dirty="0"/>
              <a:t>tag</a:t>
            </a:r>
          </a:p>
          <a:p>
            <a:endParaRPr lang="zh-CN" altLang="en-US" sz="1600" dirty="0">
              <a:latin typeface="方正兰亭黑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014" y="1206053"/>
            <a:ext cx="6379258" cy="2665959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850467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rgbClr val="C7000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75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方正兰亭黑简体" panose="02000000000000000000" pitchFamily="2" charset="-122"/>
              </a:rPr>
              <a:t>isula</a:t>
            </a:r>
            <a:r>
              <a:rPr lang="en-US" altLang="zh-CN" dirty="0">
                <a:latin typeface="方正兰亭黑简体" panose="02000000000000000000" pitchFamily="2" charset="-122"/>
              </a:rPr>
              <a:t>-build </a:t>
            </a:r>
            <a:r>
              <a:rPr lang="zh-CN" altLang="en-US" dirty="0">
                <a:latin typeface="方正兰亭黑简体" panose="02000000000000000000" pitchFamily="2" charset="-122"/>
              </a:rPr>
              <a:t>容器镜像构建</a:t>
            </a:r>
            <a:br>
              <a:rPr lang="zh-CN" altLang="en-US" dirty="0">
                <a:latin typeface="方正兰亭黑简体" panose="02000000000000000000" pitchFamily="2" charset="-122"/>
              </a:rPr>
            </a:b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完全兼容</a:t>
            </a:r>
            <a:r>
              <a:rPr lang="en-US" altLang="zh-CN" sz="2000" dirty="0" err="1"/>
              <a:t>dockerfile</a:t>
            </a:r>
            <a:r>
              <a:rPr lang="zh-CN" altLang="en-US" sz="2000" dirty="0"/>
              <a:t>语法，含</a:t>
            </a:r>
            <a:r>
              <a:rPr lang="en-US" altLang="zh-CN" sz="2000" dirty="0"/>
              <a:t>multi-stage</a:t>
            </a:r>
            <a:r>
              <a:rPr lang="zh-CN" altLang="en-US" sz="2000" dirty="0"/>
              <a:t>构建</a:t>
            </a:r>
            <a:endParaRPr lang="en-US" altLang="zh-CN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快速构建：</a:t>
            </a:r>
            <a:endParaRPr lang="en-US" altLang="zh-CN" sz="2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/>
              <a:t>避免了频繁的容器调用与层</a:t>
            </a:r>
            <a:r>
              <a:rPr lang="zh-CN" altLang="en-US" sz="1800" dirty="0" smtClean="0"/>
              <a:t>切换</a:t>
            </a:r>
            <a:endParaRPr lang="en-US" altLang="zh-CN" sz="1800" dirty="0" smtClean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/>
              <a:t>更</a:t>
            </a:r>
            <a:r>
              <a:rPr lang="zh-CN" altLang="en-US" sz="1800" dirty="0" smtClean="0"/>
              <a:t>短的调用链</a:t>
            </a:r>
            <a:endParaRPr lang="en-US" altLang="zh-CN" sz="18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/>
              <a:t>Smart loading?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多种容器镜像导出方式</a:t>
            </a:r>
            <a:endParaRPr lang="en-US" altLang="zh-CN" sz="2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/>
              <a:t>容器引擎（</a:t>
            </a:r>
            <a:r>
              <a:rPr lang="en-US" altLang="zh-CN" sz="1800" dirty="0" err="1"/>
              <a:t>isulad</a:t>
            </a:r>
            <a:r>
              <a:rPr lang="en-US" altLang="zh-CN" sz="1800" dirty="0"/>
              <a:t>/</a:t>
            </a:r>
            <a:r>
              <a:rPr lang="en-US" altLang="zh-CN" sz="1800" dirty="0" err="1"/>
              <a:t>docker</a:t>
            </a:r>
            <a:r>
              <a:rPr lang="zh-CN" altLang="en-US" sz="1800" dirty="0"/>
              <a:t>）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/>
              <a:t>registry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/>
              <a:t>local </a:t>
            </a:r>
            <a:r>
              <a:rPr lang="en-US" altLang="zh-CN" sz="1800" dirty="0" err="1"/>
              <a:t>tarball</a:t>
            </a:r>
            <a:endParaRPr lang="en-US" altLang="zh-CN" sz="1800" dirty="0"/>
          </a:p>
          <a:p>
            <a:endParaRPr lang="zh-CN" altLang="en-US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662659" y="2903698"/>
            <a:ext cx="3418985" cy="2411277"/>
            <a:chOff x="2467054" y="1597898"/>
            <a:chExt cx="3418985" cy="2411277"/>
          </a:xfrm>
        </p:grpSpPr>
        <p:sp>
          <p:nvSpPr>
            <p:cNvPr id="28" name="矩形 27"/>
            <p:cNvSpPr/>
            <p:nvPr/>
          </p:nvSpPr>
          <p:spPr>
            <a:xfrm>
              <a:off x="2467054" y="1597898"/>
              <a:ext cx="914400" cy="3505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2471764" y="2103062"/>
              <a:ext cx="1587492" cy="3504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400" dirty="0" err="1" smtClean="0">
                  <a:solidFill>
                    <a:schemeClr val="tx1"/>
                  </a:solidFill>
                </a:rPr>
                <a:t>ontainerd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471764" y="1626546"/>
              <a:ext cx="1587492" cy="3170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</a:rPr>
                <a:t>Docker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直接箭头连接符 30"/>
            <p:cNvCxnSpPr>
              <a:stCxn id="30" idx="2"/>
              <a:endCxn id="29" idx="0"/>
            </p:cNvCxnSpPr>
            <p:nvPr/>
          </p:nvCxnSpPr>
          <p:spPr>
            <a:xfrm>
              <a:off x="3265510" y="1943569"/>
              <a:ext cx="0" cy="159493"/>
            </a:xfrm>
            <a:prstGeom prst="straightConnector1">
              <a:avLst/>
            </a:prstGeom>
            <a:ln>
              <a:solidFill>
                <a:srgbClr val="C700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4298547" y="2119771"/>
              <a:ext cx="1587492" cy="3170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</a:rPr>
                <a:t>isula-build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467054" y="2677025"/>
              <a:ext cx="1587492" cy="31702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400" dirty="0" err="1" smtClean="0">
                  <a:solidFill>
                    <a:schemeClr val="tx1"/>
                  </a:solidFill>
                </a:rPr>
                <a:t>ontainerd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-shim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057241" y="3143510"/>
              <a:ext cx="1575413" cy="3657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>
                  <a:solidFill>
                    <a:schemeClr val="tx1"/>
                  </a:solidFill>
                </a:rPr>
                <a:t>runc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直接箭头连接符 46"/>
            <p:cNvCxnSpPr>
              <a:endCxn id="34" idx="0"/>
            </p:cNvCxnSpPr>
            <p:nvPr/>
          </p:nvCxnSpPr>
          <p:spPr>
            <a:xfrm>
              <a:off x="3260800" y="2453505"/>
              <a:ext cx="0" cy="223520"/>
            </a:xfrm>
            <a:prstGeom prst="straightConnector1">
              <a:avLst/>
            </a:prstGeom>
            <a:ln>
              <a:solidFill>
                <a:srgbClr val="C700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34" idx="2"/>
              <a:endCxn id="36" idx="0"/>
            </p:cNvCxnSpPr>
            <p:nvPr/>
          </p:nvCxnSpPr>
          <p:spPr>
            <a:xfrm>
              <a:off x="3260800" y="2994048"/>
              <a:ext cx="584148" cy="149462"/>
            </a:xfrm>
            <a:prstGeom prst="straightConnector1">
              <a:avLst/>
            </a:prstGeom>
            <a:ln>
              <a:solidFill>
                <a:srgbClr val="C700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33" idx="2"/>
              <a:endCxn id="36" idx="0"/>
            </p:cNvCxnSpPr>
            <p:nvPr/>
          </p:nvCxnSpPr>
          <p:spPr>
            <a:xfrm flipH="1">
              <a:off x="3844948" y="2436794"/>
              <a:ext cx="1247345" cy="706716"/>
            </a:xfrm>
            <a:prstGeom prst="straightConnector1">
              <a:avLst/>
            </a:prstGeom>
            <a:ln>
              <a:solidFill>
                <a:srgbClr val="C700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/>
            <p:cNvSpPr/>
            <p:nvPr/>
          </p:nvSpPr>
          <p:spPr>
            <a:xfrm>
              <a:off x="3057241" y="3643415"/>
              <a:ext cx="1575413" cy="365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</a:rPr>
                <a:t>container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9" name="直接箭头连接符 68"/>
            <p:cNvCxnSpPr>
              <a:endCxn id="68" idx="0"/>
            </p:cNvCxnSpPr>
            <p:nvPr/>
          </p:nvCxnSpPr>
          <p:spPr>
            <a:xfrm>
              <a:off x="3844947" y="3511234"/>
              <a:ext cx="1" cy="132181"/>
            </a:xfrm>
            <a:prstGeom prst="straightConnector1">
              <a:avLst/>
            </a:prstGeom>
            <a:ln>
              <a:solidFill>
                <a:srgbClr val="C7000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>
          <a:xfrm>
            <a:off x="8268656" y="1705595"/>
            <a:ext cx="3929925" cy="4506401"/>
            <a:chOff x="857325" y="1368726"/>
            <a:chExt cx="3929925" cy="4506401"/>
          </a:xfrm>
        </p:grpSpPr>
        <p:grpSp>
          <p:nvGrpSpPr>
            <p:cNvPr id="95" name="组合 94"/>
            <p:cNvGrpSpPr/>
            <p:nvPr/>
          </p:nvGrpSpPr>
          <p:grpSpPr>
            <a:xfrm>
              <a:off x="857325" y="1368726"/>
              <a:ext cx="3929925" cy="4506401"/>
              <a:chOff x="2028542" y="1187799"/>
              <a:chExt cx="3929925" cy="4506401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2467054" y="1597898"/>
                <a:ext cx="914400" cy="3505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2028542" y="2174970"/>
                <a:ext cx="1587492" cy="45300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dirty="0" smtClean="0">
                    <a:solidFill>
                      <a:schemeClr val="tx1"/>
                    </a:solidFill>
                  </a:rPr>
                  <a:t>registry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2028542" y="1187799"/>
                <a:ext cx="1587492" cy="3170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dirty="0" smtClean="0">
                    <a:solidFill>
                      <a:schemeClr val="tx1"/>
                    </a:solidFill>
                  </a:rPr>
                  <a:t>isula-build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2" name="直接箭头连接符 101"/>
              <p:cNvCxnSpPr>
                <a:stCxn id="101" idx="2"/>
                <a:endCxn id="100" idx="0"/>
              </p:cNvCxnSpPr>
              <p:nvPr/>
            </p:nvCxnSpPr>
            <p:spPr>
              <a:xfrm>
                <a:off x="2822288" y="1504822"/>
                <a:ext cx="0" cy="670148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本框 102"/>
              <p:cNvSpPr txBox="1"/>
              <p:nvPr/>
            </p:nvSpPr>
            <p:spPr>
              <a:xfrm>
                <a:off x="2394068" y="1754156"/>
                <a:ext cx="53860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zh-CN" altLang="en-US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镜像转换</a:t>
                </a:r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4370975" y="3304904"/>
                <a:ext cx="1587492" cy="3170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</a:rPr>
                  <a:t>容器引擎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2028542" y="3619357"/>
                <a:ext cx="1587492" cy="31702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dirty="0" smtClean="0">
                    <a:solidFill>
                      <a:schemeClr val="tx1"/>
                    </a:solidFill>
                  </a:rPr>
                  <a:t>iSulad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6" name="直接箭头连接符 105"/>
              <p:cNvCxnSpPr>
                <a:stCxn id="105" idx="3"/>
                <a:endCxn id="110" idx="1"/>
              </p:cNvCxnSpPr>
              <p:nvPr/>
            </p:nvCxnSpPr>
            <p:spPr>
              <a:xfrm>
                <a:off x="3616034" y="3777869"/>
                <a:ext cx="736431" cy="496473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矩形 106"/>
              <p:cNvSpPr/>
              <p:nvPr/>
            </p:nvSpPr>
            <p:spPr>
              <a:xfrm>
                <a:off x="2984813" y="5328440"/>
                <a:ext cx="1575413" cy="3657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smtClean="0">
                    <a:solidFill>
                      <a:schemeClr val="tx1"/>
                    </a:solidFill>
                  </a:rPr>
                  <a:t>Linux Kernel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8" name="直接箭头连接符 107"/>
              <p:cNvCxnSpPr>
                <a:stCxn id="105" idx="2"/>
                <a:endCxn id="107" idx="0"/>
              </p:cNvCxnSpPr>
              <p:nvPr/>
            </p:nvCxnSpPr>
            <p:spPr>
              <a:xfrm>
                <a:off x="2822288" y="3936380"/>
                <a:ext cx="950232" cy="1392060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文本框 108"/>
              <p:cNvSpPr txBox="1"/>
              <p:nvPr/>
            </p:nvSpPr>
            <p:spPr>
              <a:xfrm>
                <a:off x="2968260" y="4582844"/>
                <a:ext cx="61875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/dev/fuse</a:t>
                </a:r>
                <a:endParaRPr kumimoji="1" lang="zh-CN" altLang="en-US" sz="105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4352465" y="4026968"/>
                <a:ext cx="1587492" cy="494747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dirty="0" smtClean="0">
                    <a:solidFill>
                      <a:schemeClr val="tx1"/>
                    </a:solidFill>
                  </a:rPr>
                  <a:t>APP &amp;</a:t>
                </a:r>
              </a:p>
              <a:p>
                <a:pPr algn="ctr"/>
                <a:r>
                  <a:rPr lang="en-US" altLang="zh-CN" sz="1400" dirty="0" err="1" smtClean="0">
                    <a:solidFill>
                      <a:schemeClr val="tx1"/>
                    </a:solidFill>
                  </a:rPr>
                  <a:t>rootfs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1" name="直接箭头连接符 110"/>
              <p:cNvCxnSpPr>
                <a:stCxn id="104" idx="1"/>
                <a:endCxn id="105" idx="3"/>
              </p:cNvCxnSpPr>
              <p:nvPr/>
            </p:nvCxnSpPr>
            <p:spPr>
              <a:xfrm flipH="1">
                <a:off x="3616034" y="3463416"/>
                <a:ext cx="754941" cy="314453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stCxn id="100" idx="2"/>
                <a:endCxn id="105" idx="0"/>
              </p:cNvCxnSpPr>
              <p:nvPr/>
            </p:nvCxnSpPr>
            <p:spPr>
              <a:xfrm>
                <a:off x="2822288" y="2627975"/>
                <a:ext cx="0" cy="991382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文本框 112"/>
              <p:cNvSpPr txBox="1"/>
              <p:nvPr/>
            </p:nvSpPr>
            <p:spPr>
              <a:xfrm>
                <a:off x="2822288" y="3058088"/>
                <a:ext cx="689291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10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  <a:r>
                  <a:rPr kumimoji="1" lang="en-US" altLang="zh-CN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 </a:t>
                </a:r>
                <a:r>
                  <a:rPr kumimoji="1" lang="zh-CN" altLang="en-US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用时下载</a:t>
                </a:r>
              </a:p>
            </p:txBody>
          </p:sp>
          <p:cxnSp>
            <p:nvCxnSpPr>
              <p:cNvPr id="114" name="直接箭头连接符 113"/>
              <p:cNvCxnSpPr>
                <a:stCxn id="110" idx="2"/>
                <a:endCxn id="107" idx="0"/>
              </p:cNvCxnSpPr>
              <p:nvPr/>
            </p:nvCxnSpPr>
            <p:spPr>
              <a:xfrm flipH="1">
                <a:off x="3772520" y="4521715"/>
                <a:ext cx="1373691" cy="806725"/>
              </a:xfrm>
              <a:prstGeom prst="straightConnector1">
                <a:avLst/>
              </a:prstGeom>
              <a:ln>
                <a:solidFill>
                  <a:srgbClr val="C7000B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本框 114"/>
              <p:cNvSpPr txBox="1"/>
              <p:nvPr/>
            </p:nvSpPr>
            <p:spPr>
              <a:xfrm>
                <a:off x="4172471" y="4754020"/>
                <a:ext cx="112370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3. POSIX </a:t>
                </a:r>
                <a:r>
                  <a:rPr kumimoji="1" lang="zh-CN" altLang="en-US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接口调用</a:t>
                </a: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>
                <a:off x="3616034" y="3388115"/>
                <a:ext cx="64921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1.</a:t>
                </a:r>
                <a:r>
                  <a:rPr kumimoji="1" lang="zh-CN" altLang="en-US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创建容器</a:t>
                </a: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3691397" y="3874682"/>
                <a:ext cx="78386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kumimoji="1" lang="en-US" altLang="zh-CN" sz="10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en-US" altLang="zh-CN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.</a:t>
                </a:r>
                <a:r>
                  <a:rPr kumimoji="1" lang="zh-CN" altLang="en-US" sz="1050" dirty="0" smtClean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创建挂载点</a:t>
                </a:r>
              </a:p>
            </p:txBody>
          </p:sp>
        </p:grpSp>
        <p:cxnSp>
          <p:nvCxnSpPr>
            <p:cNvPr id="96" name="直接连接符 95"/>
            <p:cNvCxnSpPr>
              <a:stCxn id="100" idx="3"/>
            </p:cNvCxnSpPr>
            <p:nvPr/>
          </p:nvCxnSpPr>
          <p:spPr>
            <a:xfrm flipV="1">
              <a:off x="2444817" y="2578443"/>
              <a:ext cx="2342433" cy="3957"/>
            </a:xfrm>
            <a:prstGeom prst="line">
              <a:avLst/>
            </a:prstGeom>
            <a:ln>
              <a:solidFill>
                <a:srgbClr val="C7000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/>
            <p:cNvSpPr txBox="1"/>
            <p:nvPr/>
          </p:nvSpPr>
          <p:spPr>
            <a:xfrm>
              <a:off x="4264196" y="2346067"/>
              <a:ext cx="403957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105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构建侧</a:t>
              </a: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264196" y="2650007"/>
              <a:ext cx="403957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105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运行</a:t>
              </a:r>
              <a:r>
                <a:rPr kumimoji="1" lang="zh-CN" altLang="en-US" sz="105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侧</a:t>
              </a:r>
            </a:p>
          </p:txBody>
        </p:sp>
      </p:grpSp>
      <p:sp>
        <p:nvSpPr>
          <p:cNvPr id="118" name="文本框 117"/>
          <p:cNvSpPr txBox="1"/>
          <p:nvPr/>
        </p:nvSpPr>
        <p:spPr>
          <a:xfrm>
            <a:off x="5816279" y="25241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调用链</a:t>
            </a:r>
            <a:endParaRPr lang="zh-CN" altLang="en-US" dirty="0"/>
          </a:p>
        </p:txBody>
      </p:sp>
      <p:sp>
        <p:nvSpPr>
          <p:cNvPr id="119" name="文本框 118"/>
          <p:cNvSpPr txBox="1"/>
          <p:nvPr/>
        </p:nvSpPr>
        <p:spPr>
          <a:xfrm>
            <a:off x="9624210" y="127621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Smart-loading</a:t>
            </a:r>
            <a:endParaRPr lang="zh-CN" altLang="en-US" dirty="0"/>
          </a:p>
        </p:txBody>
      </p:sp>
      <p:graphicFrame>
        <p:nvGraphicFramePr>
          <p:cNvPr id="120" name="表格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850467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rgbClr val="C7000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24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Isula-build</a:t>
            </a:r>
            <a:r>
              <a:rPr lang="zh-CN" altLang="en-US" dirty="0" smtClean="0"/>
              <a:t>：实验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下面进行</a:t>
            </a:r>
            <a:r>
              <a:rPr lang="en-US" altLang="zh-CN" dirty="0" smtClean="0"/>
              <a:t>isula-build</a:t>
            </a:r>
            <a:r>
              <a:rPr lang="zh-CN" altLang="en-US" dirty="0" smtClean="0"/>
              <a:t>的实验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37949"/>
              </p:ext>
            </p:extLst>
          </p:nvPr>
        </p:nvGraphicFramePr>
        <p:xfrm>
          <a:off x="9687208" y="-896"/>
          <a:ext cx="250900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501"/>
                <a:gridCol w="1254501"/>
              </a:tblGrid>
              <a:tr h="29328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iSulad</a:t>
                      </a:r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isula-build</a:t>
                      </a:r>
                      <a:endParaRPr lang="en-US" sz="1600" dirty="0"/>
                    </a:p>
                  </a:txBody>
                  <a:tcPr>
                    <a:solidFill>
                      <a:srgbClr val="C7000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56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>
                <a:latin typeface="方正兰亭黑简体" panose="02000000000000000000" pitchFamily="2" charset="-122"/>
              </a:rPr>
              <a:t>源码</a:t>
            </a:r>
            <a:r>
              <a:rPr lang="zh-CN" altLang="en-US" dirty="0">
                <a:latin typeface="方正兰亭黑简体" panose="02000000000000000000" pitchFamily="2" charset="-122"/>
              </a:rPr>
              <a:t>仓与手册</a:t>
            </a:r>
            <a:br>
              <a:rPr lang="zh-CN" altLang="en-US" dirty="0">
                <a:latin typeface="方正兰亭黑简体" panose="02000000000000000000" pitchFamily="2" charset="-122"/>
              </a:rPr>
            </a:b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源码仓：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https://gitee.com/openeuler/iSulad</a:t>
            </a:r>
          </a:p>
          <a:p>
            <a:pPr lvl="1"/>
            <a:r>
              <a:rPr lang="en-US" altLang="zh-CN" dirty="0" smtClean="0">
                <a:hlinkClick r:id="rId2"/>
              </a:rPr>
              <a:t>https</a:t>
            </a:r>
            <a:r>
              <a:rPr lang="en-US" altLang="zh-CN" dirty="0">
                <a:hlinkClick r:id="rId2"/>
              </a:rPr>
              <a:t>://gitee.com/openeuler/isula-build</a:t>
            </a:r>
            <a:endParaRPr lang="en-US" altLang="zh-CN" dirty="0"/>
          </a:p>
          <a:p>
            <a:r>
              <a:rPr lang="zh-CN" altLang="en-US" dirty="0" smtClean="0"/>
              <a:t>使用手册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 smtClean="0"/>
              <a:t>openeuler.org -&gt; </a:t>
            </a:r>
            <a:r>
              <a:rPr lang="zh-CN" altLang="en-US" dirty="0" smtClean="0"/>
              <a:t>文档 </a:t>
            </a:r>
            <a:r>
              <a:rPr lang="en-US" altLang="zh-CN" dirty="0" smtClean="0"/>
              <a:t>-&gt; </a:t>
            </a:r>
            <a:r>
              <a:rPr lang="zh-CN" altLang="en-US" dirty="0" smtClean="0"/>
              <a:t>容器用户指南</a:t>
            </a:r>
            <a:endParaRPr lang="en-US" altLang="zh-CN" dirty="0"/>
          </a:p>
          <a:p>
            <a:pPr lvl="1"/>
            <a:r>
              <a:rPr lang="zh-CN" altLang="en-US" dirty="0" smtClean="0"/>
              <a:t>项目源码里的：</a:t>
            </a:r>
            <a:r>
              <a:rPr lang="en-US" altLang="zh-CN" dirty="0" smtClean="0"/>
              <a:t>README.md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doc</a:t>
            </a:r>
            <a:r>
              <a:rPr lang="en-US" altLang="zh-CN" dirty="0"/>
              <a:t>/</a:t>
            </a:r>
            <a:endParaRPr lang="zh-CN" altLang="en-US" dirty="0"/>
          </a:p>
          <a:p>
            <a:endParaRPr lang="zh-CN" altLang="en-US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3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为什么</a:t>
            </a:r>
            <a:r>
              <a:rPr lang="en-US" altLang="zh-CN" dirty="0" err="1" smtClean="0"/>
              <a:t>isula</a:t>
            </a:r>
            <a:r>
              <a:rPr lang="en-US" altLang="zh-CN" dirty="0" smtClean="0"/>
              <a:t>-build</a:t>
            </a:r>
            <a:r>
              <a:rPr lang="zh-CN" altLang="en-US" dirty="0" smtClean="0"/>
              <a:t>的安装阶段也安装了 </a:t>
            </a:r>
            <a:r>
              <a:rPr lang="en-US" altLang="zh-CN" dirty="0" err="1"/>
              <a:t>docker</a:t>
            </a:r>
            <a:r>
              <a:rPr lang="en-US" altLang="zh-CN" dirty="0"/>
              <a:t>-engine </a:t>
            </a:r>
            <a:r>
              <a:rPr lang="zh-CN" altLang="en-US" dirty="0"/>
              <a:t>或 </a:t>
            </a:r>
            <a:r>
              <a:rPr lang="en-US" altLang="zh-CN" dirty="0" err="1"/>
              <a:t>docker-runc</a:t>
            </a:r>
            <a:r>
              <a:rPr lang="zh-CN" altLang="en-US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53009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68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0" ma:contentTypeDescription="Create a new document." ma:contentTypeScope="" ma:versionID="2405c1ce63a3409bcef189279c704b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A4E927-2E19-40DA-AC21-D3EBC4321306}">
  <ds:schemaRefs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BB0E4A-51FC-4B4D-8B7E-209EA6035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0C0B7D1-9D1B-4D75-900E-434169096B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2022</TotalTime>
  <Words>890</Words>
  <Application>Microsoft Office PowerPoint</Application>
  <PresentationFormat>宽屏</PresentationFormat>
  <Paragraphs>160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Huawei Sans</vt:lpstr>
      <vt:lpstr>.AppleSystemUIFont</vt:lpstr>
      <vt:lpstr>Wingdings</vt:lpstr>
      <vt:lpstr>微软雅黑</vt:lpstr>
      <vt:lpstr>微软雅黑</vt:lpstr>
      <vt:lpstr>Arial</vt:lpstr>
      <vt:lpstr>方正兰亭黑简体</vt:lpstr>
      <vt:lpstr>1_标题页模板</vt:lpstr>
      <vt:lpstr>2_功能页模板</vt:lpstr>
      <vt:lpstr>3_内容页模板</vt:lpstr>
      <vt:lpstr>4_感谢页模板</vt:lpstr>
      <vt:lpstr>iSulad和isula-build实验</vt:lpstr>
      <vt:lpstr>PowerPoint 演示文稿</vt:lpstr>
      <vt:lpstr>PowerPoint 演示文稿</vt:lpstr>
      <vt:lpstr>容器基础设施</vt:lpstr>
      <vt:lpstr>iSulad：介绍与架构</vt:lpstr>
      <vt:lpstr>iSulad：性能表现</vt:lpstr>
      <vt:lpstr>iSulad：实验</vt:lpstr>
      <vt:lpstr>isula-build：介绍与架构 </vt:lpstr>
      <vt:lpstr>isula-build 容器镜像管理指令 </vt:lpstr>
      <vt:lpstr>isula-build 容器镜像构建 </vt:lpstr>
      <vt:lpstr>Isula-build：实验</vt:lpstr>
      <vt:lpstr>源码仓与手册 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lujingxiao</cp:lastModifiedBy>
  <cp:revision>223</cp:revision>
  <cp:lastPrinted>2020-07-31T09:33:18Z</cp:lastPrinted>
  <dcterms:created xsi:type="dcterms:W3CDTF">2018-11-29T10:16:29Z</dcterms:created>
  <dcterms:modified xsi:type="dcterms:W3CDTF">2020-10-23T06:46:42Z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(3)QGrW3uZULKdM++QY7KDc9OSy0hKFZgb7Iz3I4wHD7+fwAiF+7buvslsy/2NXgSNWQ1O/l/0F
HyhF8BOkEQpykltnxzxM/qM4XZzYTYpuLuDrSFingC4nEKY4rRO/NfBCTQUgp2ROVAYdrl+D
RkBYd66h4LpXWIB26D4ET9+RHsDWXT3b7xTvm8ErJ7DuAslxDfMQqhEw426ghxz3AhW6wrK4
Y8aB4XYoM1iPuVuohw</vt:lpwstr>
  </property>
  <property fmtid="{D5CDD505-2E9C-101B-9397-08002B2CF9AE}" pid="3" name="_2015_ms_pID_7253431">
    <vt:lpwstr>pmh/TobnjWsxVVGLorXcfeWVApYOm9YiWZxpcciB3NwOhha06R+O2c
32ksTgRSjFq56HqGKe/d3ot9tS4kpWlJVh5zat6oUsr77Kw4+0dkBYXLl1L2ONh4SNQziuwC
1XuT5c6H2qWQ0Hy7ioTA8p2sGi2I/PG2iPq9dcTkHXCwXAqRnsDM3G73EuB4zqz3kbPaLao0
arNVxUqKXjqqzmw/kOcXiR340UvTjmxbnS79</vt:lpwstr>
  </property>
  <property fmtid="{D5CDD505-2E9C-101B-9397-08002B2CF9AE}" pid="4" name="_2015_ms_pID_7253432">
    <vt:lpwstr>VQ==</vt:lpwstr>
  </property>
  <property fmtid="{D5CDD505-2E9C-101B-9397-08002B2CF9AE}" pid="5" name="ContentTypeId">
    <vt:lpwstr>0x010100CC226774B8D87F4D92D9D1F6859ED44E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1594949096</vt:lpwstr>
  </property>
</Properties>
</file>