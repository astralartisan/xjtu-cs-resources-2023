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70"/>
  </p:notesMasterIdLst>
  <p:sldIdLst>
    <p:sldId id="256" r:id="rId2"/>
    <p:sldId id="257" r:id="rId3"/>
    <p:sldId id="258" r:id="rId4"/>
    <p:sldId id="259" r:id="rId5"/>
    <p:sldId id="260" r:id="rId6"/>
    <p:sldId id="261" r:id="rId7"/>
    <p:sldId id="262" r:id="rId8"/>
    <p:sldId id="263" r:id="rId9"/>
    <p:sldId id="419" r:id="rId10"/>
    <p:sldId id="418" r:id="rId11"/>
    <p:sldId id="417" r:id="rId12"/>
    <p:sldId id="268" r:id="rId13"/>
    <p:sldId id="420"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434" r:id="rId31"/>
    <p:sldId id="422" r:id="rId32"/>
    <p:sldId id="423" r:id="rId33"/>
    <p:sldId id="286" r:id="rId34"/>
    <p:sldId id="287" r:id="rId35"/>
    <p:sldId id="288" r:id="rId36"/>
    <p:sldId id="435" r:id="rId37"/>
    <p:sldId id="289" r:id="rId38"/>
    <p:sldId id="431" r:id="rId39"/>
    <p:sldId id="290" r:id="rId40"/>
    <p:sldId id="291" r:id="rId41"/>
    <p:sldId id="292" r:id="rId42"/>
    <p:sldId id="424" r:id="rId43"/>
    <p:sldId id="444" r:id="rId44"/>
    <p:sldId id="293" r:id="rId45"/>
    <p:sldId id="294" r:id="rId46"/>
    <p:sldId id="426" r:id="rId47"/>
    <p:sldId id="295" r:id="rId48"/>
    <p:sldId id="296" r:id="rId49"/>
    <p:sldId id="297" r:id="rId50"/>
    <p:sldId id="408" r:id="rId51"/>
    <p:sldId id="427" r:id="rId52"/>
    <p:sldId id="428" r:id="rId53"/>
    <p:sldId id="409" r:id="rId54"/>
    <p:sldId id="438" r:id="rId55"/>
    <p:sldId id="445" r:id="rId56"/>
    <p:sldId id="437" r:id="rId57"/>
    <p:sldId id="429" r:id="rId58"/>
    <p:sldId id="446" r:id="rId59"/>
    <p:sldId id="300" r:id="rId60"/>
    <p:sldId id="301" r:id="rId61"/>
    <p:sldId id="302" r:id="rId62"/>
    <p:sldId id="303" r:id="rId63"/>
    <p:sldId id="304" r:id="rId64"/>
    <p:sldId id="305" r:id="rId65"/>
    <p:sldId id="307" r:id="rId66"/>
    <p:sldId id="308" r:id="rId67"/>
    <p:sldId id="309" r:id="rId68"/>
    <p:sldId id="310" r:id="rId69"/>
    <p:sldId id="311" r:id="rId70"/>
    <p:sldId id="312" r:id="rId71"/>
    <p:sldId id="313" r:id="rId72"/>
    <p:sldId id="314" r:id="rId73"/>
    <p:sldId id="410" r:id="rId74"/>
    <p:sldId id="411" r:id="rId75"/>
    <p:sldId id="315" r:id="rId76"/>
    <p:sldId id="317" r:id="rId77"/>
    <p:sldId id="318" r:id="rId78"/>
    <p:sldId id="319" r:id="rId79"/>
    <p:sldId id="320" r:id="rId80"/>
    <p:sldId id="321" r:id="rId81"/>
    <p:sldId id="322" r:id="rId82"/>
    <p:sldId id="439" r:id="rId83"/>
    <p:sldId id="324" r:id="rId84"/>
    <p:sldId id="325" r:id="rId85"/>
    <p:sldId id="440" r:id="rId86"/>
    <p:sldId id="327" r:id="rId87"/>
    <p:sldId id="441" r:id="rId88"/>
    <p:sldId id="329" r:id="rId89"/>
    <p:sldId id="442" r:id="rId90"/>
    <p:sldId id="331" r:id="rId91"/>
    <p:sldId id="332" r:id="rId92"/>
    <p:sldId id="333" r:id="rId93"/>
    <p:sldId id="334" r:id="rId94"/>
    <p:sldId id="335" r:id="rId95"/>
    <p:sldId id="336" r:id="rId96"/>
    <p:sldId id="337" r:id="rId97"/>
    <p:sldId id="338" r:id="rId98"/>
    <p:sldId id="339" r:id="rId99"/>
    <p:sldId id="443" r:id="rId100"/>
    <p:sldId id="340" r:id="rId101"/>
    <p:sldId id="341" r:id="rId102"/>
    <p:sldId id="342" r:id="rId103"/>
    <p:sldId id="343" r:id="rId104"/>
    <p:sldId id="344" r:id="rId105"/>
    <p:sldId id="345" r:id="rId106"/>
    <p:sldId id="346" r:id="rId107"/>
    <p:sldId id="347" r:id="rId108"/>
    <p:sldId id="348" r:id="rId109"/>
    <p:sldId id="349" r:id="rId110"/>
    <p:sldId id="350" r:id="rId111"/>
    <p:sldId id="351" r:id="rId112"/>
    <p:sldId id="352" r:id="rId113"/>
    <p:sldId id="421" r:id="rId114"/>
    <p:sldId id="353" r:id="rId115"/>
    <p:sldId id="354" r:id="rId116"/>
    <p:sldId id="355" r:id="rId117"/>
    <p:sldId id="356" r:id="rId118"/>
    <p:sldId id="357" r:id="rId119"/>
    <p:sldId id="358" r:id="rId120"/>
    <p:sldId id="359" r:id="rId121"/>
    <p:sldId id="360" r:id="rId122"/>
    <p:sldId id="361" r:id="rId123"/>
    <p:sldId id="362" r:id="rId124"/>
    <p:sldId id="363" r:id="rId125"/>
    <p:sldId id="364" r:id="rId126"/>
    <p:sldId id="365" r:id="rId127"/>
    <p:sldId id="366" r:id="rId128"/>
    <p:sldId id="367" r:id="rId129"/>
    <p:sldId id="368" r:id="rId130"/>
    <p:sldId id="369" r:id="rId131"/>
    <p:sldId id="412" r:id="rId132"/>
    <p:sldId id="371" r:id="rId133"/>
    <p:sldId id="372" r:id="rId134"/>
    <p:sldId id="373" r:id="rId135"/>
    <p:sldId id="374" r:id="rId136"/>
    <p:sldId id="375" r:id="rId137"/>
    <p:sldId id="376" r:id="rId138"/>
    <p:sldId id="377" r:id="rId139"/>
    <p:sldId id="378" r:id="rId140"/>
    <p:sldId id="379" r:id="rId141"/>
    <p:sldId id="380" r:id="rId142"/>
    <p:sldId id="381" r:id="rId143"/>
    <p:sldId id="382" r:id="rId144"/>
    <p:sldId id="383" r:id="rId145"/>
    <p:sldId id="413" r:id="rId146"/>
    <p:sldId id="386" r:id="rId147"/>
    <p:sldId id="387" r:id="rId148"/>
    <p:sldId id="414" r:id="rId149"/>
    <p:sldId id="389" r:id="rId150"/>
    <p:sldId id="390" r:id="rId151"/>
    <p:sldId id="391" r:id="rId152"/>
    <p:sldId id="392" r:id="rId153"/>
    <p:sldId id="393" r:id="rId154"/>
    <p:sldId id="394" r:id="rId155"/>
    <p:sldId id="395" r:id="rId156"/>
    <p:sldId id="396" r:id="rId157"/>
    <p:sldId id="397" r:id="rId158"/>
    <p:sldId id="398" r:id="rId159"/>
    <p:sldId id="399" r:id="rId160"/>
    <p:sldId id="400" r:id="rId161"/>
    <p:sldId id="401" r:id="rId162"/>
    <p:sldId id="402" r:id="rId163"/>
    <p:sldId id="403" r:id="rId164"/>
    <p:sldId id="404" r:id="rId165"/>
    <p:sldId id="405" r:id="rId166"/>
    <p:sldId id="406" r:id="rId167"/>
    <p:sldId id="407" r:id="rId168"/>
    <p:sldId id="415" r:id="rId16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7" d="100"/>
          <a:sy n="97" d="100"/>
        </p:scale>
        <p:origin x="1292"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2024/11/4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64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2024/11/4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CE475632-B7DE-4367-8D94-F65220BCA26A}" type="datetime1">
              <a:rPr lang="zh-CN" altLang="en-US" smtClean="0">
                <a:solidFill>
                  <a:schemeClr val="bg1"/>
                </a:solidFill>
                <a:latin typeface="黑体" panose="02010609060101010101" pitchFamily="49" charset="-122"/>
                <a:ea typeface="黑体" panose="02010609060101010101" pitchFamily="49" charset="-122"/>
              </a:rPr>
              <a:pPr/>
              <a:t>2024/11/4</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2024/11/4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2024/11/4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2024/11/4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2024/11/4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2024/11/4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2024/11/4</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2024/11/4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2024/11/4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2024/11/4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2024/11/4</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5</a:t>
            </a:r>
            <a:r>
              <a:rPr lang="zh-CN" altLang="zh-CN" sz="4400" b="1" dirty="0"/>
              <a:t>章 树和二叉树</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427984" y="1484783"/>
            <a:ext cx="4736936" cy="4104457"/>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掌握一般树的定义与基本术语；</a:t>
            </a:r>
          </a:p>
          <a:p>
            <a:r>
              <a:rPr lang="en-US" altLang="zh-CN" sz="2000" dirty="0"/>
              <a:t>(2) </a:t>
            </a:r>
            <a:r>
              <a:rPr lang="zh-CN" altLang="zh-CN" sz="2000" dirty="0"/>
              <a:t>掌握二叉树的定义、性质及存储结构；</a:t>
            </a:r>
          </a:p>
          <a:p>
            <a:r>
              <a:rPr lang="en-US" altLang="zh-CN" sz="2000" dirty="0"/>
              <a:t>(3) </a:t>
            </a:r>
            <a:r>
              <a:rPr lang="zh-CN" altLang="zh-CN" sz="2000" dirty="0"/>
              <a:t>熟练掌握二叉树的遍历及递归和非递归的遍历算法；</a:t>
            </a:r>
          </a:p>
          <a:p>
            <a:r>
              <a:rPr lang="en-US" altLang="zh-CN" sz="2000" dirty="0"/>
              <a:t>(4) </a:t>
            </a:r>
            <a:r>
              <a:rPr lang="zh-CN" altLang="zh-CN" sz="2000" dirty="0"/>
              <a:t>进一步了解哈夫曼树、二叉查找树、平衡二叉树、堆与优先队列等二叉树的多种应用；</a:t>
            </a:r>
          </a:p>
          <a:p>
            <a:r>
              <a:rPr lang="en-US" altLang="zh-CN" sz="2000" dirty="0"/>
              <a:t>(5) </a:t>
            </a:r>
            <a:r>
              <a:rPr lang="zh-CN" altLang="zh-CN" sz="2000" dirty="0"/>
              <a:t>熟悉树的存储结构及树和森林与二叉树之间的转换方法，了解树和森林的遍历方法。</a:t>
            </a:r>
          </a:p>
          <a:p>
            <a:pPr algn="ctr"/>
            <a:endParaRPr lang="zh-CN" altLang="en-US" sz="2000" dirty="0"/>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2024/11/4</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5.1</a:t>
            </a:r>
            <a:r>
              <a:rPr lang="zh-CN" altLang="zh-CN" b="1" dirty="0"/>
              <a:t>树的定义与基本术语</a:t>
            </a:r>
            <a:endParaRPr lang="zh-CN" altLang="en-US" dirty="0"/>
          </a:p>
        </p:txBody>
      </p:sp>
      <p:sp>
        <p:nvSpPr>
          <p:cNvPr id="3" name="内容占位符 2"/>
          <p:cNvSpPr>
            <a:spLocks noGrp="1"/>
          </p:cNvSpPr>
          <p:nvPr>
            <p:ph idx="1"/>
          </p:nvPr>
        </p:nvSpPr>
        <p:spPr>
          <a:xfrm>
            <a:off x="611560" y="1628800"/>
            <a:ext cx="8208912" cy="4824536"/>
          </a:xfrm>
        </p:spPr>
        <p:txBody>
          <a:bodyPr>
            <a:normAutofit lnSpcReduction="10000"/>
          </a:bodyPr>
          <a:lstStyle/>
          <a:p>
            <a:r>
              <a:rPr lang="en-US" altLang="zh-CN" sz="2600" dirty="0"/>
              <a:t>5.1.1 </a:t>
            </a:r>
            <a:r>
              <a:rPr lang="zh-CN" altLang="zh-CN" sz="2600" dirty="0">
                <a:solidFill>
                  <a:srgbClr val="FF0000"/>
                </a:solidFill>
              </a:rPr>
              <a:t>树的定义</a:t>
            </a:r>
            <a:endParaRPr lang="en-US" altLang="zh-CN" sz="2600" dirty="0">
              <a:solidFill>
                <a:srgbClr val="FF0000"/>
              </a:solidFill>
            </a:endParaRPr>
          </a:p>
          <a:p>
            <a:r>
              <a:rPr lang="zh-CN" altLang="zh-CN" dirty="0">
                <a:solidFill>
                  <a:srgbClr val="FF0000"/>
                </a:solidFill>
              </a:rPr>
              <a:t>树</a:t>
            </a:r>
            <a:r>
              <a:rPr lang="en-US" altLang="zh-CN" dirty="0">
                <a:solidFill>
                  <a:srgbClr val="FF0000"/>
                </a:solidFill>
              </a:rPr>
              <a:t>T</a:t>
            </a:r>
            <a:r>
              <a:rPr lang="zh-CN" altLang="zh-CN" b="0" dirty="0"/>
              <a:t>是包含</a:t>
            </a:r>
            <a:r>
              <a:rPr lang="en-US" altLang="zh-CN" b="0" dirty="0"/>
              <a:t>n (n ≥ 0)</a:t>
            </a:r>
            <a:r>
              <a:rPr lang="zh-CN" altLang="zh-CN" b="0" dirty="0"/>
              <a:t>个结点的有限集合。</a:t>
            </a:r>
          </a:p>
          <a:p>
            <a:r>
              <a:rPr lang="en-US" altLang="zh-CN" b="0" dirty="0"/>
              <a:t>	</a:t>
            </a:r>
            <a:r>
              <a:rPr lang="zh-CN" altLang="zh-CN" b="0" dirty="0"/>
              <a:t>当</a:t>
            </a:r>
            <a:r>
              <a:rPr lang="en-US" altLang="zh-CN" b="0" dirty="0"/>
              <a:t>n = 0</a:t>
            </a:r>
            <a:r>
              <a:rPr lang="zh-CN" altLang="zh-CN" b="0" dirty="0"/>
              <a:t>时，树</a:t>
            </a:r>
            <a:r>
              <a:rPr lang="en-US" altLang="zh-CN" b="0" dirty="0"/>
              <a:t>T</a:t>
            </a:r>
            <a:r>
              <a:rPr lang="zh-CN" altLang="zh-CN" b="0" dirty="0"/>
              <a:t>为空树。</a:t>
            </a:r>
          </a:p>
          <a:p>
            <a:r>
              <a:rPr lang="en-US" altLang="zh-CN" b="0" dirty="0"/>
              <a:t>	</a:t>
            </a:r>
            <a:r>
              <a:rPr lang="zh-CN" altLang="zh-CN" b="0" dirty="0"/>
              <a:t>当</a:t>
            </a:r>
            <a:r>
              <a:rPr lang="en-US" altLang="zh-CN" b="0" dirty="0"/>
              <a:t>n &gt; 0</a:t>
            </a:r>
            <a:r>
              <a:rPr lang="zh-CN" altLang="zh-CN" b="0" dirty="0"/>
              <a:t>时，树</a:t>
            </a:r>
            <a:r>
              <a:rPr lang="en-US" altLang="zh-CN" b="0" dirty="0"/>
              <a:t>T</a:t>
            </a:r>
            <a:r>
              <a:rPr lang="zh-CN" altLang="zh-CN" b="0" dirty="0"/>
              <a:t>为非空树。在任意一棵非空树，都有：</a:t>
            </a:r>
          </a:p>
          <a:p>
            <a:pPr lvl="2"/>
            <a:r>
              <a:rPr lang="en-US" altLang="zh-CN" b="0" dirty="0"/>
              <a:t>(1) </a:t>
            </a:r>
            <a:r>
              <a:rPr lang="zh-CN" altLang="zh-CN" b="0" dirty="0"/>
              <a:t>有且仅有一个特定的结点</a:t>
            </a:r>
            <a:r>
              <a:rPr lang="en-US" altLang="zh-CN" b="0" dirty="0"/>
              <a:t>R</a:t>
            </a:r>
            <a:r>
              <a:rPr lang="zh-CN" altLang="zh-CN" b="0" dirty="0"/>
              <a:t>称为树</a:t>
            </a:r>
            <a:r>
              <a:rPr lang="en-US" altLang="zh-CN" b="0" dirty="0"/>
              <a:t>T</a:t>
            </a:r>
            <a:r>
              <a:rPr lang="zh-CN" altLang="zh-CN" b="0" dirty="0"/>
              <a:t>的根结点；</a:t>
            </a:r>
          </a:p>
          <a:p>
            <a:pPr lvl="2"/>
            <a:r>
              <a:rPr lang="en-US" altLang="zh-CN" b="0" dirty="0"/>
              <a:t>(2) </a:t>
            </a:r>
            <a:r>
              <a:rPr lang="zh-CN" altLang="zh-CN" b="0" dirty="0"/>
              <a:t>除根之外的其余结点可被分成</a:t>
            </a:r>
            <a:r>
              <a:rPr lang="en-US" altLang="zh-CN" b="0" dirty="0"/>
              <a:t>m</a:t>
            </a:r>
            <a:r>
              <a:rPr lang="zh-CN" altLang="zh-CN" b="0" dirty="0"/>
              <a:t>个</a:t>
            </a:r>
            <a:r>
              <a:rPr lang="en-US" altLang="zh-CN" b="0" dirty="0"/>
              <a:t>(m ≥ 0)</a:t>
            </a:r>
            <a:r>
              <a:rPr lang="zh-CN" altLang="zh-CN" b="0" dirty="0"/>
              <a:t>互不相交的有限集合</a:t>
            </a:r>
            <a:r>
              <a:rPr lang="en-US" altLang="zh-CN" b="0" dirty="0"/>
              <a:t>T</a:t>
            </a:r>
            <a:r>
              <a:rPr lang="en-US" altLang="zh-CN" b="0" baseline="-25000" dirty="0"/>
              <a:t>1</a:t>
            </a:r>
            <a:r>
              <a:rPr lang="zh-CN" altLang="zh-CN" b="0" dirty="0"/>
              <a:t>，</a:t>
            </a:r>
            <a:r>
              <a:rPr lang="en-US" altLang="zh-CN" b="0" dirty="0"/>
              <a:t>T</a:t>
            </a:r>
            <a:r>
              <a:rPr lang="en-US" altLang="zh-CN" b="0" baseline="-25000" dirty="0"/>
              <a:t>2</a:t>
            </a:r>
            <a:r>
              <a:rPr lang="zh-CN" altLang="zh-CN" b="0" dirty="0"/>
              <a:t>，</a:t>
            </a:r>
            <a:r>
              <a:rPr lang="en-US" altLang="zh-CN" b="0" dirty="0"/>
              <a:t>…</a:t>
            </a:r>
            <a:r>
              <a:rPr lang="zh-CN" altLang="zh-CN" b="0" dirty="0"/>
              <a:t>，</a:t>
            </a:r>
            <a:r>
              <a:rPr lang="en-US" altLang="zh-CN" b="0" dirty="0"/>
              <a:t>T</a:t>
            </a:r>
            <a:r>
              <a:rPr lang="en-US" altLang="zh-CN" b="0" baseline="-25000" dirty="0"/>
              <a:t>m</a:t>
            </a:r>
            <a:r>
              <a:rPr lang="zh-CN" altLang="zh-CN" b="0" dirty="0"/>
              <a:t>，其中每一个子集合本身也是一棵树，称为树</a:t>
            </a:r>
            <a:r>
              <a:rPr lang="en-US" altLang="zh-CN" b="0" dirty="0"/>
              <a:t>T</a:t>
            </a:r>
            <a:r>
              <a:rPr lang="zh-CN" altLang="zh-CN" b="0" dirty="0"/>
              <a:t>的子树，并且每个子树都有其对应的根结点分别为</a:t>
            </a:r>
            <a:r>
              <a:rPr lang="en-US" altLang="zh-CN" b="0" dirty="0"/>
              <a:t>R</a:t>
            </a:r>
            <a:r>
              <a:rPr lang="en-US" altLang="zh-CN" b="0" baseline="-25000" dirty="0"/>
              <a:t>1</a:t>
            </a:r>
            <a:r>
              <a:rPr lang="zh-CN" altLang="zh-CN" b="0" dirty="0"/>
              <a:t>，</a:t>
            </a:r>
            <a:r>
              <a:rPr lang="en-US" altLang="zh-CN" b="0" dirty="0"/>
              <a:t>R</a:t>
            </a:r>
            <a:r>
              <a:rPr lang="en-US" altLang="zh-CN" b="0" baseline="-25000" dirty="0"/>
              <a:t>2</a:t>
            </a:r>
            <a:r>
              <a:rPr lang="zh-CN" altLang="zh-CN" b="0" dirty="0"/>
              <a:t>，</a:t>
            </a:r>
            <a:r>
              <a:rPr lang="en-US" altLang="zh-CN" b="0" dirty="0"/>
              <a:t>…</a:t>
            </a:r>
            <a:r>
              <a:rPr lang="zh-CN" altLang="zh-CN" b="0" dirty="0"/>
              <a:t>，</a:t>
            </a:r>
            <a:r>
              <a:rPr lang="en-US" altLang="zh-CN" b="0" dirty="0"/>
              <a:t>R</a:t>
            </a:r>
            <a:r>
              <a:rPr lang="en-US" altLang="zh-CN" b="0" baseline="-25000" dirty="0"/>
              <a:t>m</a:t>
            </a:r>
            <a:r>
              <a:rPr lang="zh-CN" altLang="zh-CN" b="0" dirty="0"/>
              <a:t>，称为树根</a:t>
            </a:r>
            <a:r>
              <a:rPr lang="en-US" altLang="zh-CN" b="0" dirty="0"/>
              <a:t>R</a:t>
            </a:r>
            <a:r>
              <a:rPr lang="zh-CN" altLang="zh-CN" b="0" dirty="0"/>
              <a:t>的孩子。</a:t>
            </a:r>
            <a:endParaRPr lang="en-US" altLang="zh-CN" b="0" dirty="0"/>
          </a:p>
          <a:p>
            <a:pPr>
              <a:buFont typeface="Wingdings" panose="05000000000000000000" pitchFamily="2" charset="2"/>
              <a:buChar char="p"/>
            </a:pPr>
            <a:r>
              <a:rPr lang="zh-CN" altLang="zh-CN" dirty="0"/>
              <a:t>树的定义是一个</a:t>
            </a:r>
            <a:r>
              <a:rPr lang="zh-CN" altLang="zh-CN" dirty="0">
                <a:solidFill>
                  <a:srgbClr val="FF0000"/>
                </a:solidFill>
              </a:rPr>
              <a:t>递归定义</a:t>
            </a:r>
            <a:r>
              <a:rPr lang="zh-CN" altLang="en-US" dirty="0"/>
              <a:t>。</a:t>
            </a:r>
            <a:endParaRPr lang="zh-CN" altLang="zh-CN" b="0" dirty="0"/>
          </a:p>
          <a:p>
            <a:endParaRPr lang="zh-CN" altLang="en-US" dirty="0"/>
          </a:p>
        </p:txBody>
      </p:sp>
    </p:spTree>
    <p:extLst>
      <p:ext uri="{BB962C8B-B14F-4D97-AF65-F5344CB8AC3E}">
        <p14:creationId xmlns:p14="http://schemas.microsoft.com/office/powerpoint/2010/main" val="539862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980728"/>
            <a:ext cx="5584651" cy="3482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043608" y="4725144"/>
            <a:ext cx="7632848" cy="1421928"/>
          </a:xfrm>
          <a:prstGeom prst="rect">
            <a:avLst/>
          </a:prstGeom>
        </p:spPr>
        <p:txBody>
          <a:bodyPr wrap="square">
            <a:spAutoFit/>
          </a:bodyPr>
          <a:lstStyle/>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是只有一个根结点的树；</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是有</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个结点的树</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，其中结点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是树的根，除根结点之外，其余结点分成三个互不相交的集合：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 E, F, G, 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 H, J, K}</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都是以结点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为根的子树。这三棵子树本身也是一棵树</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11150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2103" y="-24"/>
            <a:ext cx="3721929" cy="1977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title"/>
          </p:nvPr>
        </p:nvSpPr>
        <p:spPr>
          <a:xfrm>
            <a:off x="827584" y="895707"/>
            <a:ext cx="4244482" cy="548640"/>
          </a:xfrm>
        </p:spPr>
        <p:txBody>
          <a:bodyPr/>
          <a:lstStyle/>
          <a:p>
            <a:r>
              <a:rPr lang="en-US" altLang="zh-CN" b="1" dirty="0"/>
              <a:t>5.1.2 </a:t>
            </a:r>
            <a:r>
              <a:rPr lang="zh-CN" altLang="zh-CN" b="1" dirty="0"/>
              <a:t>相关的基本术语</a:t>
            </a:r>
            <a:endParaRPr lang="zh-CN" altLang="en-US" dirty="0"/>
          </a:p>
        </p:txBody>
      </p:sp>
      <p:sp>
        <p:nvSpPr>
          <p:cNvPr id="3" name="内容占位符 2"/>
          <p:cNvSpPr>
            <a:spLocks noGrp="1"/>
          </p:cNvSpPr>
          <p:nvPr>
            <p:ph idx="1"/>
          </p:nvPr>
        </p:nvSpPr>
        <p:spPr>
          <a:xfrm>
            <a:off x="539552" y="1700808"/>
            <a:ext cx="8316416" cy="4464496"/>
          </a:xfrm>
        </p:spPr>
        <p:txBody>
          <a:bodyPr>
            <a:normAutofit/>
          </a:bodyPr>
          <a:lstStyle/>
          <a:p>
            <a:pPr marL="457200" indent="-457200"/>
            <a:r>
              <a:rPr lang="en-US" altLang="zh-CN" dirty="0"/>
              <a:t>(1) </a:t>
            </a:r>
            <a:r>
              <a:rPr lang="zh-CN" altLang="zh-CN" dirty="0">
                <a:solidFill>
                  <a:srgbClr val="FF0000"/>
                </a:solidFill>
              </a:rPr>
              <a:t>结点的度</a:t>
            </a:r>
            <a:r>
              <a:rPr lang="zh-CN" altLang="zh-CN" b="0" dirty="0"/>
              <a:t>：指结点所拥有的子树个数。</a:t>
            </a:r>
            <a:endParaRPr lang="en-US" altLang="zh-CN" b="0" dirty="0"/>
          </a:p>
          <a:p>
            <a:pPr marL="0" indent="0"/>
            <a:r>
              <a:rPr lang="en-US" altLang="zh-CN" b="0" dirty="0"/>
              <a:t>(2) </a:t>
            </a:r>
            <a:r>
              <a:rPr lang="zh-CN" altLang="zh-CN" dirty="0">
                <a:solidFill>
                  <a:srgbClr val="FF0000"/>
                </a:solidFill>
              </a:rPr>
              <a:t>树的度</a:t>
            </a:r>
            <a:r>
              <a:rPr lang="zh-CN" altLang="zh-CN" b="0" dirty="0"/>
              <a:t>：指树内各结点的度的最大值。</a:t>
            </a:r>
            <a:endParaRPr lang="en-US" altLang="zh-CN" b="0" dirty="0"/>
          </a:p>
          <a:p>
            <a:pPr marL="0" indent="0"/>
            <a:r>
              <a:rPr lang="en-US" altLang="zh-CN" b="0" dirty="0"/>
              <a:t>(3) </a:t>
            </a:r>
            <a:r>
              <a:rPr lang="zh-CN" altLang="zh-CN" dirty="0">
                <a:solidFill>
                  <a:srgbClr val="FF0000"/>
                </a:solidFill>
              </a:rPr>
              <a:t>叶子结点</a:t>
            </a:r>
            <a:r>
              <a:rPr lang="zh-CN" altLang="zh-CN" b="0" dirty="0"/>
              <a:t>：指度为</a:t>
            </a:r>
            <a:r>
              <a:rPr lang="en-US" altLang="zh-CN" b="0" dirty="0"/>
              <a:t>0</a:t>
            </a:r>
            <a:r>
              <a:rPr lang="zh-CN" altLang="zh-CN" b="0" dirty="0"/>
              <a:t>的结点，也称终结点。</a:t>
            </a:r>
            <a:endParaRPr lang="en-US" altLang="zh-CN" b="0" dirty="0"/>
          </a:p>
          <a:p>
            <a:pPr marL="0" indent="0"/>
            <a:r>
              <a:rPr lang="en-US" altLang="zh-CN" b="0" dirty="0"/>
              <a:t>(4) </a:t>
            </a:r>
            <a:r>
              <a:rPr lang="zh-CN" altLang="zh-CN" dirty="0">
                <a:solidFill>
                  <a:srgbClr val="FF0000"/>
                </a:solidFill>
              </a:rPr>
              <a:t>分支结点</a:t>
            </a:r>
            <a:r>
              <a:rPr lang="zh-CN" altLang="zh-CN" b="0" dirty="0"/>
              <a:t>：指度不为</a:t>
            </a:r>
            <a:r>
              <a:rPr lang="en-US" altLang="zh-CN" b="0" dirty="0"/>
              <a:t>0</a:t>
            </a:r>
            <a:r>
              <a:rPr lang="zh-CN" altLang="zh-CN" b="0" dirty="0"/>
              <a:t>的结点，又称非终结点或内部结点。</a:t>
            </a:r>
            <a:endParaRPr lang="en-US" altLang="zh-CN" b="0" dirty="0"/>
          </a:p>
          <a:p>
            <a:pPr marL="0" indent="0"/>
            <a:r>
              <a:rPr lang="en-US" altLang="zh-CN" b="0" dirty="0"/>
              <a:t>(5) </a:t>
            </a:r>
            <a:r>
              <a:rPr lang="zh-CN" altLang="zh-CN" dirty="0">
                <a:solidFill>
                  <a:srgbClr val="FF0000"/>
                </a:solidFill>
              </a:rPr>
              <a:t>孩子结点与双亲结点</a:t>
            </a:r>
            <a:r>
              <a:rPr lang="zh-CN" altLang="zh-CN" b="0" dirty="0"/>
              <a:t>：树中结点的子树的根称为</a:t>
            </a:r>
            <a:r>
              <a:rPr lang="zh-CN" altLang="en-US" b="0" dirty="0"/>
              <a:t>根</a:t>
            </a:r>
            <a:r>
              <a:rPr lang="zh-CN" altLang="zh-CN" b="0" dirty="0"/>
              <a:t>结点的孩子结点或子结点，而该结点又称为其孩子结点的双亲结点。</a:t>
            </a:r>
            <a:endParaRPr lang="en-US" altLang="zh-CN" b="0" dirty="0"/>
          </a:p>
          <a:p>
            <a:pPr marL="0" indent="0"/>
            <a:r>
              <a:rPr lang="en-US" altLang="zh-CN" b="0" dirty="0"/>
              <a:t>(6) </a:t>
            </a:r>
            <a:r>
              <a:rPr lang="zh-CN" altLang="zh-CN" dirty="0">
                <a:solidFill>
                  <a:srgbClr val="FF0000"/>
                </a:solidFill>
              </a:rPr>
              <a:t>兄弟</a:t>
            </a:r>
            <a:r>
              <a:rPr lang="zh-CN" altLang="zh-CN" b="0" dirty="0"/>
              <a:t>：同一个双亲的孩子之间互称兄弟结点。</a:t>
            </a:r>
            <a:endParaRPr lang="en-US" altLang="zh-CN" b="0" dirty="0"/>
          </a:p>
          <a:p>
            <a:pPr marL="0" indent="0"/>
            <a:r>
              <a:rPr lang="en-US" altLang="zh-CN" b="0" dirty="0"/>
              <a:t>(7) </a:t>
            </a:r>
            <a:r>
              <a:rPr lang="zh-CN" altLang="zh-CN" dirty="0">
                <a:solidFill>
                  <a:srgbClr val="FF0000"/>
                </a:solidFill>
              </a:rPr>
              <a:t>堂兄弟</a:t>
            </a:r>
            <a:r>
              <a:rPr lang="zh-CN" altLang="zh-CN" b="0" dirty="0"/>
              <a:t>：其双亲在同一层的结点之间互称堂兄弟。</a:t>
            </a:r>
            <a:endParaRPr lang="zh-CN" altLang="en-US" b="0" dirty="0"/>
          </a:p>
        </p:txBody>
      </p:sp>
    </p:spTree>
    <p:extLst>
      <p:ext uri="{BB962C8B-B14F-4D97-AF65-F5344CB8AC3E}">
        <p14:creationId xmlns:p14="http://schemas.microsoft.com/office/powerpoint/2010/main" val="3761376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96752"/>
            <a:ext cx="8136904" cy="4896544"/>
          </a:xfrm>
        </p:spPr>
        <p:txBody>
          <a:bodyPr>
            <a:normAutofit fontScale="92500"/>
          </a:bodyPr>
          <a:lstStyle/>
          <a:p>
            <a:r>
              <a:rPr lang="en-US" altLang="zh-CN" b="0" dirty="0"/>
              <a:t>(8) </a:t>
            </a:r>
            <a:r>
              <a:rPr lang="zh-CN" altLang="zh-CN" sz="2600" dirty="0">
                <a:solidFill>
                  <a:srgbClr val="FF0000"/>
                </a:solidFill>
              </a:rPr>
              <a:t>祖先</a:t>
            </a:r>
            <a:r>
              <a:rPr lang="zh-CN" altLang="zh-CN" b="0" dirty="0"/>
              <a:t>：一个结点的祖先是从根结点到该结点所经分支上的所有结点。</a:t>
            </a:r>
            <a:endParaRPr lang="en-US" altLang="zh-CN" b="0" dirty="0"/>
          </a:p>
          <a:p>
            <a:r>
              <a:rPr lang="en-US" altLang="zh-CN" b="0" dirty="0"/>
              <a:t>(9) </a:t>
            </a:r>
            <a:r>
              <a:rPr lang="zh-CN" altLang="zh-CN" sz="2600" dirty="0">
                <a:solidFill>
                  <a:srgbClr val="FF0000"/>
                </a:solidFill>
              </a:rPr>
              <a:t>子孙</a:t>
            </a:r>
            <a:r>
              <a:rPr lang="zh-CN" altLang="zh-CN" b="0" dirty="0"/>
              <a:t>：一个结点的子孙是以该结点为根的子树中的所有结点。</a:t>
            </a:r>
            <a:endParaRPr lang="en-US" altLang="zh-CN" b="0" dirty="0"/>
          </a:p>
          <a:p>
            <a:r>
              <a:rPr lang="en-US" altLang="zh-CN" b="0" dirty="0"/>
              <a:t>(10) </a:t>
            </a:r>
            <a:r>
              <a:rPr lang="zh-CN" altLang="zh-CN" sz="2600" dirty="0">
                <a:solidFill>
                  <a:srgbClr val="FF0000"/>
                </a:solidFill>
              </a:rPr>
              <a:t>结点的层次</a:t>
            </a:r>
            <a:r>
              <a:rPr lang="zh-CN" altLang="zh-CN" b="0" dirty="0"/>
              <a:t>：结点的层次从根开始算起，根结点的层次为</a:t>
            </a:r>
            <a:r>
              <a:rPr lang="en-US" altLang="zh-CN" b="0" dirty="0"/>
              <a:t>1</a:t>
            </a:r>
            <a:r>
              <a:rPr lang="zh-CN" altLang="zh-CN" b="0" dirty="0"/>
              <a:t>，其余结点的层次等于其双亲结点的层次加</a:t>
            </a:r>
            <a:r>
              <a:rPr lang="en-US" altLang="zh-CN" b="0" dirty="0"/>
              <a:t>1</a:t>
            </a:r>
            <a:r>
              <a:rPr lang="zh-CN" altLang="zh-CN" b="0" dirty="0"/>
              <a:t>。</a:t>
            </a:r>
            <a:endParaRPr lang="en-US" altLang="zh-CN" b="0" dirty="0"/>
          </a:p>
          <a:p>
            <a:r>
              <a:rPr lang="en-US" altLang="zh-CN" b="0" dirty="0"/>
              <a:t>(11) </a:t>
            </a:r>
            <a:r>
              <a:rPr lang="zh-CN" altLang="zh-CN" sz="2600" dirty="0">
                <a:solidFill>
                  <a:srgbClr val="FF0000"/>
                </a:solidFill>
              </a:rPr>
              <a:t>树的深度</a:t>
            </a:r>
            <a:r>
              <a:rPr lang="zh-CN" altLang="zh-CN" b="0" dirty="0"/>
              <a:t>：树中结点的最大层</a:t>
            </a:r>
            <a:r>
              <a:rPr lang="zh-CN" altLang="en-US" b="0" dirty="0"/>
              <a:t>号</a:t>
            </a:r>
            <a:r>
              <a:rPr lang="zh-CN" altLang="zh-CN" b="0" dirty="0"/>
              <a:t>称为树的深度</a:t>
            </a:r>
            <a:endParaRPr lang="en-US" altLang="zh-CN" b="0" dirty="0"/>
          </a:p>
          <a:p>
            <a:r>
              <a:rPr lang="en-US" altLang="zh-CN" b="0" dirty="0"/>
              <a:t>(12) </a:t>
            </a:r>
            <a:r>
              <a:rPr lang="zh-CN" altLang="en-US" dirty="0">
                <a:solidFill>
                  <a:srgbClr val="FF0000"/>
                </a:solidFill>
              </a:rPr>
              <a:t>树的</a:t>
            </a:r>
            <a:r>
              <a:rPr lang="zh-CN" altLang="zh-CN" dirty="0">
                <a:solidFill>
                  <a:srgbClr val="FF0000"/>
                </a:solidFill>
              </a:rPr>
              <a:t>高度</a:t>
            </a:r>
            <a:r>
              <a:rPr lang="zh-CN" altLang="en-US" b="0" dirty="0"/>
              <a:t>：树的总层数成为该树的高度</a:t>
            </a:r>
            <a:r>
              <a:rPr lang="zh-CN" altLang="zh-CN" b="0" dirty="0"/>
              <a:t>。</a:t>
            </a:r>
            <a:endParaRPr lang="en-US" altLang="zh-CN" b="0" dirty="0"/>
          </a:p>
          <a:p>
            <a:r>
              <a:rPr lang="en-US" altLang="zh-CN" b="0" dirty="0"/>
              <a:t>(13) </a:t>
            </a:r>
            <a:r>
              <a:rPr lang="zh-CN" altLang="zh-CN" sz="2600" dirty="0">
                <a:solidFill>
                  <a:srgbClr val="FF0000"/>
                </a:solidFill>
              </a:rPr>
              <a:t>有序树</a:t>
            </a:r>
            <a:r>
              <a:rPr lang="zh-CN" altLang="zh-CN" b="0" dirty="0"/>
              <a:t>：如果将树中每个结点的各子树看成是从左至右有顺序的</a:t>
            </a:r>
            <a:r>
              <a:rPr lang="en-US" altLang="zh-CN" b="0" dirty="0"/>
              <a:t>(</a:t>
            </a:r>
            <a:r>
              <a:rPr lang="zh-CN" altLang="zh-CN" b="0" dirty="0"/>
              <a:t>即不能互换</a:t>
            </a:r>
            <a:r>
              <a:rPr lang="en-US" altLang="zh-CN" b="0" dirty="0"/>
              <a:t>)</a:t>
            </a:r>
            <a:r>
              <a:rPr lang="zh-CN" altLang="zh-CN" b="0" dirty="0"/>
              <a:t>，则称该树为有序树。在有序树中，最左边的子树根称为第一个孩子，最右边的称为最后一个孩子。</a:t>
            </a:r>
            <a:endParaRPr lang="zh-CN" altLang="en-US" b="0" dirty="0"/>
          </a:p>
        </p:txBody>
      </p:sp>
    </p:spTree>
    <p:extLst>
      <p:ext uri="{BB962C8B-B14F-4D97-AF65-F5344CB8AC3E}">
        <p14:creationId xmlns:p14="http://schemas.microsoft.com/office/powerpoint/2010/main" val="4266691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3268155"/>
            <a:ext cx="8352928" cy="2753133"/>
          </a:xfrm>
        </p:spPr>
        <p:txBody>
          <a:bodyPr>
            <a:normAutofit/>
          </a:bodyPr>
          <a:lstStyle/>
          <a:p>
            <a:r>
              <a:rPr lang="en-US" altLang="zh-CN" b="0" dirty="0"/>
              <a:t>(14) </a:t>
            </a:r>
            <a:r>
              <a:rPr lang="zh-CN" altLang="zh-CN" dirty="0">
                <a:solidFill>
                  <a:srgbClr val="FF0000"/>
                </a:solidFill>
              </a:rPr>
              <a:t>无序树</a:t>
            </a:r>
            <a:r>
              <a:rPr lang="zh-CN" altLang="zh-CN" b="0" dirty="0"/>
              <a:t>：如果将树中每个结点的各子树看成是无顺序的</a:t>
            </a:r>
            <a:r>
              <a:rPr lang="en-US" altLang="zh-CN" b="0" dirty="0"/>
              <a:t>(</a:t>
            </a:r>
            <a:r>
              <a:rPr lang="zh-CN" altLang="zh-CN" b="0" dirty="0"/>
              <a:t>即可互换</a:t>
            </a:r>
            <a:r>
              <a:rPr lang="en-US" altLang="zh-CN" b="0" dirty="0"/>
              <a:t>)</a:t>
            </a:r>
            <a:r>
              <a:rPr lang="zh-CN" altLang="zh-CN" b="0" dirty="0"/>
              <a:t>，则称该树为无序树。</a:t>
            </a:r>
            <a:endParaRPr lang="en-US" altLang="zh-CN" b="0" dirty="0"/>
          </a:p>
          <a:p>
            <a:r>
              <a:rPr lang="en-US" altLang="zh-CN" b="0" dirty="0"/>
              <a:t>(15) </a:t>
            </a:r>
            <a:r>
              <a:rPr lang="zh-CN" altLang="zh-CN" dirty="0">
                <a:solidFill>
                  <a:srgbClr val="FF0000"/>
                </a:solidFill>
              </a:rPr>
              <a:t>森林</a:t>
            </a:r>
            <a:r>
              <a:rPr lang="zh-CN" altLang="zh-CN" b="0" dirty="0"/>
              <a:t>：是指</a:t>
            </a:r>
            <a:r>
              <a:rPr lang="en-US" altLang="zh-CN" b="0" dirty="0"/>
              <a:t>m(m ≥ 0)</a:t>
            </a:r>
            <a:r>
              <a:rPr lang="zh-CN" altLang="zh-CN" b="0" dirty="0"/>
              <a:t>棵互不相交的树的集合。</a:t>
            </a:r>
            <a:endParaRPr lang="en-US" altLang="zh-CN" b="0" dirty="0"/>
          </a:p>
          <a:p>
            <a:r>
              <a:rPr lang="en-US" altLang="zh-CN" b="0" dirty="0"/>
              <a:t>	</a:t>
            </a:r>
            <a:r>
              <a:rPr lang="zh-CN" altLang="en-US" b="0" dirty="0">
                <a:solidFill>
                  <a:srgbClr val="FF0000"/>
                </a:solidFill>
              </a:rPr>
              <a:t>注：</a:t>
            </a:r>
            <a:r>
              <a:rPr lang="zh-CN" altLang="zh-CN" b="0" dirty="0"/>
              <a:t>如果删去一棵树的根结点，剩余的子树就构成了森林；反之，加上一个结点作为树的根，森林就变成了一棵树。</a:t>
            </a:r>
            <a:endParaRPr lang="zh-CN" altLang="en-US" b="0"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620688"/>
            <a:ext cx="4982120" cy="2647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2177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5.2 </a:t>
            </a:r>
            <a:r>
              <a:rPr lang="zh-CN" altLang="zh-CN" b="1" dirty="0"/>
              <a:t>二叉树的定义、性质和存储结构</a:t>
            </a:r>
            <a:endParaRPr lang="zh-CN" altLang="en-US" dirty="0"/>
          </a:p>
        </p:txBody>
      </p:sp>
      <p:sp>
        <p:nvSpPr>
          <p:cNvPr id="3" name="内容占位符 2"/>
          <p:cNvSpPr>
            <a:spLocks noGrp="1"/>
          </p:cNvSpPr>
          <p:nvPr>
            <p:ph idx="1"/>
          </p:nvPr>
        </p:nvSpPr>
        <p:spPr>
          <a:xfrm>
            <a:off x="827584" y="1628800"/>
            <a:ext cx="7560840" cy="4514844"/>
          </a:xfrm>
        </p:spPr>
        <p:txBody>
          <a:bodyPr>
            <a:normAutofit fontScale="85000" lnSpcReduction="10000"/>
          </a:bodyPr>
          <a:lstStyle/>
          <a:p>
            <a:pPr>
              <a:lnSpc>
                <a:spcPct val="145000"/>
              </a:lnSpc>
            </a:pPr>
            <a:r>
              <a:rPr lang="zh-CN" altLang="zh-CN" dirty="0">
                <a:solidFill>
                  <a:srgbClr val="FF0000"/>
                </a:solidFill>
              </a:rPr>
              <a:t>二叉树</a:t>
            </a:r>
            <a:r>
              <a:rPr lang="en-US" altLang="zh-CN" dirty="0">
                <a:solidFill>
                  <a:srgbClr val="FF0000"/>
                </a:solidFill>
              </a:rPr>
              <a:t>T</a:t>
            </a:r>
            <a:r>
              <a:rPr lang="zh-CN" altLang="zh-CN" b="0" dirty="0"/>
              <a:t>是包含</a:t>
            </a:r>
            <a:r>
              <a:rPr lang="en-US" altLang="zh-CN" b="0" dirty="0"/>
              <a:t>n(n ≥ 0)</a:t>
            </a:r>
            <a:r>
              <a:rPr lang="zh-CN" altLang="zh-CN" b="0" dirty="0"/>
              <a:t>个结点的有限集合。</a:t>
            </a:r>
          </a:p>
          <a:p>
            <a:pPr>
              <a:lnSpc>
                <a:spcPct val="145000"/>
              </a:lnSpc>
            </a:pPr>
            <a:r>
              <a:rPr lang="en-US" altLang="zh-CN" b="0" dirty="0"/>
              <a:t>	</a:t>
            </a:r>
            <a:r>
              <a:rPr lang="zh-CN" altLang="zh-CN" b="0" dirty="0"/>
              <a:t>当</a:t>
            </a:r>
            <a:r>
              <a:rPr lang="en-US" altLang="zh-CN" b="0" dirty="0"/>
              <a:t>n = 0</a:t>
            </a:r>
            <a:r>
              <a:rPr lang="zh-CN" altLang="zh-CN" b="0" dirty="0"/>
              <a:t>时，二叉树</a:t>
            </a:r>
            <a:r>
              <a:rPr lang="en-US" altLang="zh-CN" b="0" dirty="0"/>
              <a:t>T</a:t>
            </a:r>
            <a:r>
              <a:rPr lang="zh-CN" altLang="zh-CN" b="0" dirty="0"/>
              <a:t>为空二叉树。</a:t>
            </a:r>
          </a:p>
          <a:p>
            <a:pPr>
              <a:lnSpc>
                <a:spcPct val="145000"/>
              </a:lnSpc>
            </a:pPr>
            <a:r>
              <a:rPr lang="en-US" altLang="zh-CN" b="0" dirty="0"/>
              <a:t>	</a:t>
            </a:r>
            <a:r>
              <a:rPr lang="zh-CN" altLang="zh-CN" b="0" dirty="0"/>
              <a:t>当</a:t>
            </a:r>
            <a:r>
              <a:rPr lang="en-US" altLang="zh-CN" b="0" dirty="0"/>
              <a:t>n &gt; 0</a:t>
            </a:r>
            <a:r>
              <a:rPr lang="zh-CN" altLang="zh-CN" b="0" dirty="0"/>
              <a:t>时，二叉树</a:t>
            </a:r>
            <a:r>
              <a:rPr lang="en-US" altLang="zh-CN" b="0" dirty="0"/>
              <a:t>T</a:t>
            </a:r>
            <a:r>
              <a:rPr lang="zh-CN" altLang="zh-CN" b="0" dirty="0"/>
              <a:t>为非空二叉树。</a:t>
            </a:r>
            <a:endParaRPr lang="en-US" altLang="zh-CN" b="0" dirty="0"/>
          </a:p>
          <a:p>
            <a:pPr>
              <a:lnSpc>
                <a:spcPct val="145000"/>
              </a:lnSpc>
            </a:pPr>
            <a:r>
              <a:rPr lang="en-US" altLang="zh-CN" b="0" dirty="0"/>
              <a:t>	</a:t>
            </a:r>
            <a:r>
              <a:rPr lang="zh-CN" altLang="zh-CN" b="0" dirty="0"/>
              <a:t>在任意一棵非空二叉树中，都有：</a:t>
            </a:r>
          </a:p>
          <a:p>
            <a:pPr lvl="3">
              <a:lnSpc>
                <a:spcPct val="145000"/>
              </a:lnSpc>
              <a:buNone/>
            </a:pPr>
            <a:r>
              <a:rPr lang="en-US" altLang="zh-CN" b="0" dirty="0"/>
              <a:t>(1) </a:t>
            </a:r>
            <a:r>
              <a:rPr lang="zh-CN" altLang="zh-CN" b="0" dirty="0"/>
              <a:t>有且仅有一个特定的结点</a:t>
            </a:r>
            <a:r>
              <a:rPr lang="en-US" altLang="zh-CN" b="0" dirty="0"/>
              <a:t>R</a:t>
            </a:r>
            <a:r>
              <a:rPr lang="zh-CN" altLang="zh-CN" b="0" dirty="0"/>
              <a:t>称为二叉树</a:t>
            </a:r>
            <a:r>
              <a:rPr lang="en-US" altLang="zh-CN" b="0" dirty="0"/>
              <a:t>T</a:t>
            </a:r>
            <a:r>
              <a:rPr lang="zh-CN" altLang="zh-CN" b="0" dirty="0"/>
              <a:t>的根结点；</a:t>
            </a:r>
          </a:p>
          <a:p>
            <a:pPr lvl="3">
              <a:lnSpc>
                <a:spcPct val="145000"/>
              </a:lnSpc>
              <a:buNone/>
            </a:pPr>
            <a:r>
              <a:rPr lang="en-US" altLang="zh-CN" b="0" dirty="0"/>
              <a:t>(2) </a:t>
            </a:r>
            <a:r>
              <a:rPr lang="zh-CN" altLang="zh-CN" b="0" dirty="0"/>
              <a:t>除根结点之外的其余结点被分成两个互不相交的有限集合</a:t>
            </a:r>
            <a:r>
              <a:rPr lang="en-US" altLang="zh-CN" b="0" dirty="0"/>
              <a:t>T</a:t>
            </a:r>
            <a:r>
              <a:rPr lang="en-US" altLang="zh-CN" b="0" baseline="-25000" dirty="0"/>
              <a:t>1</a:t>
            </a:r>
            <a:r>
              <a:rPr lang="zh-CN" altLang="zh-CN" b="0" dirty="0"/>
              <a:t>，</a:t>
            </a:r>
            <a:r>
              <a:rPr lang="en-US" altLang="zh-CN" b="0" dirty="0"/>
              <a:t>T</a:t>
            </a:r>
            <a:r>
              <a:rPr lang="en-US" altLang="zh-CN" b="0" baseline="-25000" dirty="0"/>
              <a:t>2</a:t>
            </a:r>
            <a:r>
              <a:rPr lang="zh-CN" altLang="zh-CN" b="0" dirty="0"/>
              <a:t>，其中集合</a:t>
            </a:r>
            <a:r>
              <a:rPr lang="en-US" altLang="zh-CN" b="0" dirty="0"/>
              <a:t>T</a:t>
            </a:r>
            <a:r>
              <a:rPr lang="en-US" altLang="zh-CN" b="0" baseline="-25000" dirty="0"/>
              <a:t>1</a:t>
            </a:r>
            <a:r>
              <a:rPr lang="zh-CN" altLang="zh-CN" b="0" dirty="0"/>
              <a:t>，</a:t>
            </a:r>
            <a:r>
              <a:rPr lang="en-US" altLang="zh-CN" b="0" dirty="0"/>
              <a:t>T</a:t>
            </a:r>
            <a:r>
              <a:rPr lang="en-US" altLang="zh-CN" b="0" baseline="-25000" dirty="0"/>
              <a:t>2</a:t>
            </a:r>
            <a:r>
              <a:rPr lang="zh-CN" altLang="zh-CN" b="0" dirty="0"/>
              <a:t>本身也是一棵二叉树，这两棵二叉树分别称为根结点</a:t>
            </a:r>
            <a:r>
              <a:rPr lang="en-US" altLang="zh-CN" b="0" dirty="0"/>
              <a:t>R</a:t>
            </a:r>
            <a:r>
              <a:rPr lang="zh-CN" altLang="zh-CN" b="0" dirty="0"/>
              <a:t>的左子树和右子树，并且这两棵子树的根分别称为二叉树根结点</a:t>
            </a:r>
            <a:r>
              <a:rPr lang="en-US" altLang="zh-CN" b="0" dirty="0"/>
              <a:t>R</a:t>
            </a:r>
            <a:r>
              <a:rPr lang="zh-CN" altLang="zh-CN" b="0" dirty="0"/>
              <a:t>的左孩子和右孩子结点。</a:t>
            </a:r>
          </a:p>
          <a:p>
            <a:endParaRPr lang="zh-CN" altLang="en-US" b="0" dirty="0"/>
          </a:p>
        </p:txBody>
      </p:sp>
    </p:spTree>
    <p:extLst>
      <p:ext uri="{BB962C8B-B14F-4D97-AF65-F5344CB8AC3E}">
        <p14:creationId xmlns:p14="http://schemas.microsoft.com/office/powerpoint/2010/main" val="1212272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0872" y="908721"/>
            <a:ext cx="7520940" cy="2088232"/>
          </a:xfrm>
        </p:spPr>
        <p:txBody>
          <a:bodyPr>
            <a:normAutofit lnSpcReduction="10000"/>
          </a:bodyPr>
          <a:lstStyle/>
          <a:p>
            <a:r>
              <a:rPr lang="en-US" altLang="zh-CN" sz="2000" b="0" dirty="0"/>
              <a:t>	</a:t>
            </a:r>
            <a:r>
              <a:rPr lang="zh-CN" altLang="zh-CN" sz="2000" b="0" dirty="0"/>
              <a:t>二叉树的定义也是一个</a:t>
            </a:r>
            <a:r>
              <a:rPr lang="zh-CN" altLang="zh-CN" sz="2000" b="0" dirty="0">
                <a:solidFill>
                  <a:srgbClr val="FF0000"/>
                </a:solidFill>
              </a:rPr>
              <a:t>递归的定义</a:t>
            </a:r>
            <a:endParaRPr lang="en-US" altLang="zh-CN" sz="2000" b="0" dirty="0">
              <a:solidFill>
                <a:srgbClr val="FF0000"/>
              </a:solidFill>
            </a:endParaRPr>
          </a:p>
          <a:p>
            <a:r>
              <a:rPr lang="en-US" altLang="zh-CN" sz="2000" b="0" dirty="0"/>
              <a:t>	</a:t>
            </a:r>
            <a:r>
              <a:rPr lang="zh-CN" altLang="en-US" sz="2000" dirty="0">
                <a:solidFill>
                  <a:srgbClr val="FF0000"/>
                </a:solidFill>
              </a:rPr>
              <a:t>注意：</a:t>
            </a:r>
            <a:r>
              <a:rPr lang="zh-CN" altLang="zh-CN" sz="2000" dirty="0">
                <a:solidFill>
                  <a:srgbClr val="0070C0"/>
                </a:solidFill>
              </a:rPr>
              <a:t>每个结点最多只能有两棵子树，并且有左右之分</a:t>
            </a:r>
            <a:r>
              <a:rPr lang="zh-CN" altLang="zh-CN" sz="2000" b="0" dirty="0"/>
              <a:t>，</a:t>
            </a:r>
            <a:r>
              <a:rPr lang="zh-CN" altLang="zh-CN" sz="2000" dirty="0">
                <a:solidFill>
                  <a:srgbClr val="0070C0"/>
                </a:solidFill>
              </a:rPr>
              <a:t>其次序不能任意颠倒，即使只有一棵子树，也要区分是左子树还是右子树。</a:t>
            </a:r>
            <a:endParaRPr lang="en-US" altLang="zh-CN" sz="2000" dirty="0">
              <a:solidFill>
                <a:srgbClr val="0070C0"/>
              </a:solidFill>
            </a:endParaRPr>
          </a:p>
          <a:p>
            <a:r>
              <a:rPr lang="en-US" altLang="zh-CN" sz="2000" b="0" dirty="0"/>
              <a:t>	</a:t>
            </a:r>
            <a:r>
              <a:rPr lang="zh-CN" altLang="zh-CN" sz="2000" b="0" dirty="0"/>
              <a:t>二叉树有五种基本形态</a:t>
            </a:r>
            <a:r>
              <a:rPr lang="zh-CN" altLang="en-US" sz="2000" b="0" dirty="0"/>
              <a:t>：</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2852937"/>
            <a:ext cx="6004346" cy="2801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内容占位符 2"/>
          <p:cNvSpPr txBox="1">
            <a:spLocks/>
          </p:cNvSpPr>
          <p:nvPr/>
        </p:nvSpPr>
        <p:spPr>
          <a:xfrm>
            <a:off x="3491880" y="188640"/>
            <a:ext cx="5544616" cy="57606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buFont typeface="Wingdings" panose="05000000000000000000" pitchFamily="2" charset="2"/>
              <a:buChar char="u"/>
            </a:pPr>
            <a:r>
              <a:rPr lang="zh-CN" altLang="zh-CN" b="0" dirty="0">
                <a:solidFill>
                  <a:srgbClr val="FF0000"/>
                </a:solidFill>
                <a:effectLst>
                  <a:outerShdw blurRad="38100" dist="38100" dir="2700000" algn="tl">
                    <a:srgbClr val="000000">
                      <a:alpha val="43137"/>
                    </a:srgbClr>
                  </a:outerShdw>
                </a:effectLst>
              </a:rPr>
              <a:t>树和二叉树是两种不同的数据结构。</a:t>
            </a:r>
          </a:p>
          <a:p>
            <a:endParaRPr lang="zh-CN" altLang="en-US" dirty="0"/>
          </a:p>
        </p:txBody>
      </p:sp>
      <p:sp>
        <p:nvSpPr>
          <p:cNvPr id="2" name="TextBox 1"/>
          <p:cNvSpPr txBox="1"/>
          <p:nvPr/>
        </p:nvSpPr>
        <p:spPr>
          <a:xfrm>
            <a:off x="1115616" y="5733256"/>
            <a:ext cx="6480720" cy="400110"/>
          </a:xfrm>
          <a:prstGeom prst="rect">
            <a:avLst/>
          </a:prstGeom>
          <a:noFill/>
        </p:spPr>
        <p:txBody>
          <a:bodyPr wrap="square" rtlCol="0">
            <a:spAutoFit/>
          </a:bodyPr>
          <a:lstStyle/>
          <a:p>
            <a:r>
              <a:rPr lang="zh-CN" altLang="en-US" sz="2000" dirty="0">
                <a:solidFill>
                  <a:srgbClr val="FF0000"/>
                </a:solidFill>
              </a:rPr>
              <a:t>思考题：请问具有</a:t>
            </a:r>
            <a:r>
              <a:rPr lang="en-US" altLang="zh-CN" sz="2000" dirty="0">
                <a:solidFill>
                  <a:srgbClr val="FF0000"/>
                </a:solidFill>
              </a:rPr>
              <a:t>3</a:t>
            </a:r>
            <a:r>
              <a:rPr lang="zh-CN" altLang="en-US" sz="2000" dirty="0">
                <a:solidFill>
                  <a:srgbClr val="FF0000"/>
                </a:solidFill>
              </a:rPr>
              <a:t>个结点的树和二叉树，各有几种形态？</a:t>
            </a:r>
          </a:p>
        </p:txBody>
      </p:sp>
    </p:spTree>
    <p:extLst>
      <p:ext uri="{BB962C8B-B14F-4D97-AF65-F5344CB8AC3E}">
        <p14:creationId xmlns:p14="http://schemas.microsoft.com/office/powerpoint/2010/main" val="275956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36712"/>
            <a:ext cx="7520940" cy="548640"/>
          </a:xfrm>
        </p:spPr>
        <p:txBody>
          <a:bodyPr/>
          <a:lstStyle/>
          <a:p>
            <a:r>
              <a:rPr lang="en-US" altLang="zh-CN" b="1" dirty="0"/>
              <a:t>5.2.2 </a:t>
            </a:r>
            <a:r>
              <a:rPr lang="zh-CN" altLang="zh-CN" b="1" dirty="0"/>
              <a:t>二叉树的主要性质</a:t>
            </a:r>
            <a:endParaRPr lang="zh-CN" altLang="en-US" dirty="0"/>
          </a:p>
        </p:txBody>
      </p:sp>
      <p:sp>
        <p:nvSpPr>
          <p:cNvPr id="3" name="内容占位符 2"/>
          <p:cNvSpPr>
            <a:spLocks noGrp="1"/>
          </p:cNvSpPr>
          <p:nvPr>
            <p:ph idx="1"/>
          </p:nvPr>
        </p:nvSpPr>
        <p:spPr>
          <a:xfrm>
            <a:off x="827584" y="1484784"/>
            <a:ext cx="8173572" cy="4824536"/>
          </a:xfrm>
        </p:spPr>
        <p:txBody>
          <a:bodyPr>
            <a:normAutofit lnSpcReduction="10000"/>
          </a:bodyPr>
          <a:lstStyle/>
          <a:p>
            <a:r>
              <a:rPr lang="zh-CN" altLang="zh-CN" dirty="0">
                <a:solidFill>
                  <a:srgbClr val="FF0000"/>
                </a:solidFill>
              </a:rPr>
              <a:t>性质</a:t>
            </a:r>
            <a:r>
              <a:rPr lang="en-US" altLang="zh-CN" dirty="0">
                <a:solidFill>
                  <a:srgbClr val="FF0000"/>
                </a:solidFill>
              </a:rPr>
              <a:t>1</a:t>
            </a:r>
            <a:r>
              <a:rPr lang="zh-CN" altLang="zh-CN" dirty="0">
                <a:solidFill>
                  <a:srgbClr val="FF0000"/>
                </a:solidFill>
              </a:rPr>
              <a:t>：在二叉树的第</a:t>
            </a:r>
            <a:r>
              <a:rPr lang="en-US" altLang="zh-CN" dirty="0" err="1">
                <a:solidFill>
                  <a:srgbClr val="FF0000"/>
                </a:solidFill>
              </a:rPr>
              <a:t>i</a:t>
            </a:r>
            <a:r>
              <a:rPr lang="zh-CN" altLang="zh-CN" dirty="0">
                <a:solidFill>
                  <a:srgbClr val="FF0000"/>
                </a:solidFill>
              </a:rPr>
              <a:t>层上至多有</a:t>
            </a:r>
            <a:r>
              <a:rPr lang="en-US" altLang="zh-CN" dirty="0">
                <a:solidFill>
                  <a:srgbClr val="FF0000"/>
                </a:solidFill>
              </a:rPr>
              <a:t>2</a:t>
            </a:r>
            <a:r>
              <a:rPr lang="en-US" altLang="zh-CN" baseline="30000" dirty="0">
                <a:solidFill>
                  <a:srgbClr val="FF0000"/>
                </a:solidFill>
              </a:rPr>
              <a:t>i-1</a:t>
            </a:r>
            <a:r>
              <a:rPr lang="zh-CN" altLang="zh-CN" dirty="0">
                <a:solidFill>
                  <a:srgbClr val="FF0000"/>
                </a:solidFill>
              </a:rPr>
              <a:t>个结点</a:t>
            </a:r>
            <a:r>
              <a:rPr lang="en-US" altLang="zh-CN" dirty="0">
                <a:solidFill>
                  <a:srgbClr val="FF0000"/>
                </a:solidFill>
              </a:rPr>
              <a:t>(i≥1)</a:t>
            </a:r>
            <a:r>
              <a:rPr lang="zh-CN" altLang="zh-CN" dirty="0">
                <a:solidFill>
                  <a:srgbClr val="FF0000"/>
                </a:solidFill>
              </a:rPr>
              <a:t>。</a:t>
            </a:r>
            <a:endParaRPr lang="en-US" altLang="zh-CN" dirty="0">
              <a:solidFill>
                <a:srgbClr val="FF0000"/>
              </a:solidFill>
            </a:endParaRPr>
          </a:p>
          <a:p>
            <a:r>
              <a:rPr lang="en-US" altLang="zh-CN" b="0" dirty="0"/>
              <a:t>		</a:t>
            </a:r>
            <a:r>
              <a:rPr lang="zh-CN" altLang="en-US" b="0" dirty="0"/>
              <a:t>归纳法可以证明之。</a:t>
            </a:r>
            <a:endParaRPr lang="en-US" altLang="zh-CN" b="0" dirty="0"/>
          </a:p>
          <a:p>
            <a:r>
              <a:rPr lang="zh-CN" altLang="zh-CN" dirty="0">
                <a:solidFill>
                  <a:srgbClr val="FF0000"/>
                </a:solidFill>
              </a:rPr>
              <a:t>性质</a:t>
            </a:r>
            <a:r>
              <a:rPr lang="en-US" altLang="zh-CN" dirty="0">
                <a:solidFill>
                  <a:srgbClr val="FF0000"/>
                </a:solidFill>
              </a:rPr>
              <a:t>2</a:t>
            </a:r>
            <a:r>
              <a:rPr lang="zh-CN" altLang="zh-CN" dirty="0">
                <a:solidFill>
                  <a:srgbClr val="FF0000"/>
                </a:solidFill>
              </a:rPr>
              <a:t>：</a:t>
            </a:r>
            <a:r>
              <a:rPr lang="zh-CN" altLang="en-US" dirty="0">
                <a:solidFill>
                  <a:srgbClr val="FF0000"/>
                </a:solidFill>
              </a:rPr>
              <a:t>高度</a:t>
            </a:r>
            <a:r>
              <a:rPr lang="zh-CN" altLang="zh-CN" dirty="0">
                <a:solidFill>
                  <a:srgbClr val="FF0000"/>
                </a:solidFill>
              </a:rPr>
              <a:t>为</a:t>
            </a:r>
            <a:r>
              <a:rPr lang="en-US" altLang="zh-CN" dirty="0">
                <a:solidFill>
                  <a:srgbClr val="FF0000"/>
                </a:solidFill>
              </a:rPr>
              <a:t>k</a:t>
            </a:r>
            <a:r>
              <a:rPr lang="zh-CN" altLang="zh-CN" dirty="0">
                <a:solidFill>
                  <a:srgbClr val="FF0000"/>
                </a:solidFill>
              </a:rPr>
              <a:t>的二叉树至多有</a:t>
            </a:r>
            <a:r>
              <a:rPr lang="en-US" altLang="zh-CN" dirty="0">
                <a:solidFill>
                  <a:srgbClr val="FF0000"/>
                </a:solidFill>
              </a:rPr>
              <a:t>2</a:t>
            </a:r>
            <a:r>
              <a:rPr lang="en-US" altLang="zh-CN" baseline="30000" dirty="0">
                <a:solidFill>
                  <a:srgbClr val="FF0000"/>
                </a:solidFill>
              </a:rPr>
              <a:t>k</a:t>
            </a:r>
            <a:r>
              <a:rPr lang="en-US" altLang="zh-CN" dirty="0">
                <a:solidFill>
                  <a:srgbClr val="FF0000"/>
                </a:solidFill>
              </a:rPr>
              <a:t>-1</a:t>
            </a:r>
            <a:r>
              <a:rPr lang="zh-CN" altLang="zh-CN" dirty="0">
                <a:solidFill>
                  <a:srgbClr val="FF0000"/>
                </a:solidFill>
              </a:rPr>
              <a:t>个结点</a:t>
            </a:r>
            <a:r>
              <a:rPr lang="en-US" altLang="zh-CN" dirty="0">
                <a:solidFill>
                  <a:srgbClr val="FF0000"/>
                </a:solidFill>
              </a:rPr>
              <a:t>(k≥1)</a:t>
            </a:r>
            <a:r>
              <a:rPr lang="zh-CN" altLang="zh-CN" dirty="0">
                <a:solidFill>
                  <a:srgbClr val="FF0000"/>
                </a:solidFill>
              </a:rPr>
              <a:t>。</a:t>
            </a:r>
            <a:endParaRPr lang="en-US" altLang="zh-CN" dirty="0">
              <a:solidFill>
                <a:srgbClr val="FF0000"/>
              </a:solidFill>
            </a:endParaRPr>
          </a:p>
          <a:p>
            <a:endParaRPr lang="en-US" altLang="zh-CN" b="0" dirty="0"/>
          </a:p>
          <a:p>
            <a:endParaRPr lang="en-US" altLang="zh-CN" b="0" dirty="0"/>
          </a:p>
          <a:p>
            <a:pPr>
              <a:lnSpc>
                <a:spcPct val="130000"/>
              </a:lnSpc>
            </a:pPr>
            <a:r>
              <a:rPr lang="zh-CN" altLang="zh-CN" dirty="0">
                <a:solidFill>
                  <a:srgbClr val="FF0000"/>
                </a:solidFill>
              </a:rPr>
              <a:t>性质</a:t>
            </a:r>
            <a:r>
              <a:rPr lang="en-US" altLang="zh-CN" dirty="0">
                <a:solidFill>
                  <a:srgbClr val="FF0000"/>
                </a:solidFill>
              </a:rPr>
              <a:t>3</a:t>
            </a:r>
            <a:r>
              <a:rPr lang="zh-CN" altLang="zh-CN" dirty="0">
                <a:solidFill>
                  <a:srgbClr val="FF0000"/>
                </a:solidFill>
              </a:rPr>
              <a:t>：对于任意一棵非空二叉树</a:t>
            </a:r>
            <a:r>
              <a:rPr lang="en-US" altLang="zh-CN" dirty="0">
                <a:solidFill>
                  <a:srgbClr val="FF0000"/>
                </a:solidFill>
              </a:rPr>
              <a:t>T</a:t>
            </a:r>
            <a:r>
              <a:rPr lang="zh-CN" altLang="zh-CN" dirty="0">
                <a:solidFill>
                  <a:srgbClr val="FF0000"/>
                </a:solidFill>
              </a:rPr>
              <a:t>，如果其叶子结点的个数为</a:t>
            </a:r>
            <a:r>
              <a:rPr lang="en-US" altLang="zh-CN" dirty="0">
                <a:solidFill>
                  <a:srgbClr val="FF0000"/>
                </a:solidFill>
              </a:rPr>
              <a:t>n</a:t>
            </a:r>
            <a:r>
              <a:rPr lang="en-US" altLang="zh-CN" baseline="-25000" dirty="0">
                <a:solidFill>
                  <a:srgbClr val="FF0000"/>
                </a:solidFill>
              </a:rPr>
              <a:t>0</a:t>
            </a:r>
            <a:r>
              <a:rPr lang="zh-CN" altLang="zh-CN" dirty="0">
                <a:solidFill>
                  <a:srgbClr val="FF0000"/>
                </a:solidFill>
              </a:rPr>
              <a:t>，度为</a:t>
            </a:r>
            <a:r>
              <a:rPr lang="en-US" altLang="zh-CN" dirty="0">
                <a:solidFill>
                  <a:srgbClr val="FF0000"/>
                </a:solidFill>
              </a:rPr>
              <a:t>2</a:t>
            </a:r>
            <a:r>
              <a:rPr lang="zh-CN" altLang="zh-CN" dirty="0">
                <a:solidFill>
                  <a:srgbClr val="FF0000"/>
                </a:solidFill>
              </a:rPr>
              <a:t>的结点数为</a:t>
            </a:r>
            <a:r>
              <a:rPr lang="en-US" altLang="zh-CN" dirty="0">
                <a:solidFill>
                  <a:srgbClr val="FF0000"/>
                </a:solidFill>
              </a:rPr>
              <a:t>n</a:t>
            </a:r>
            <a:r>
              <a:rPr lang="en-US" altLang="zh-CN" baseline="-25000" dirty="0">
                <a:solidFill>
                  <a:srgbClr val="FF0000"/>
                </a:solidFill>
              </a:rPr>
              <a:t>2</a:t>
            </a:r>
            <a:r>
              <a:rPr lang="zh-CN" altLang="zh-CN" dirty="0">
                <a:solidFill>
                  <a:srgbClr val="FF0000"/>
                </a:solidFill>
              </a:rPr>
              <a:t>，则有：</a:t>
            </a:r>
            <a:r>
              <a:rPr lang="en-US" altLang="zh-CN" dirty="0">
                <a:solidFill>
                  <a:srgbClr val="FF0000"/>
                </a:solidFill>
              </a:rPr>
              <a:t>n</a:t>
            </a:r>
            <a:r>
              <a:rPr lang="en-US" altLang="zh-CN" baseline="-25000" dirty="0">
                <a:solidFill>
                  <a:srgbClr val="FF0000"/>
                </a:solidFill>
              </a:rPr>
              <a:t>0</a:t>
            </a:r>
            <a:r>
              <a:rPr lang="en-US" altLang="zh-CN" dirty="0">
                <a:solidFill>
                  <a:srgbClr val="FF0000"/>
                </a:solidFill>
              </a:rPr>
              <a:t> = n</a:t>
            </a:r>
            <a:r>
              <a:rPr lang="en-US" altLang="zh-CN" baseline="-25000" dirty="0">
                <a:solidFill>
                  <a:srgbClr val="FF0000"/>
                </a:solidFill>
              </a:rPr>
              <a:t>2</a:t>
            </a:r>
            <a:r>
              <a:rPr lang="en-US" altLang="zh-CN" dirty="0">
                <a:solidFill>
                  <a:srgbClr val="FF0000"/>
                </a:solidFill>
              </a:rPr>
              <a:t> + 1</a:t>
            </a:r>
            <a:r>
              <a:rPr lang="zh-CN" altLang="zh-CN" dirty="0">
                <a:solidFill>
                  <a:srgbClr val="FF0000"/>
                </a:solidFill>
              </a:rPr>
              <a:t>。</a:t>
            </a:r>
          </a:p>
          <a:p>
            <a:pPr>
              <a:spcBef>
                <a:spcPts val="1200"/>
              </a:spcBef>
            </a:pPr>
            <a:r>
              <a:rPr lang="en-US" altLang="zh-CN" dirty="0"/>
              <a:t>	</a:t>
            </a:r>
            <a:r>
              <a:rPr lang="zh-CN" altLang="en-US" b="0" dirty="0"/>
              <a:t>由于存在：</a:t>
            </a:r>
            <a:r>
              <a:rPr lang="en-US" altLang="zh-CN" b="0" dirty="0"/>
              <a:t>	n = n</a:t>
            </a:r>
            <a:r>
              <a:rPr lang="en-US" altLang="zh-CN" b="0" baseline="-25000" dirty="0"/>
              <a:t>0</a:t>
            </a:r>
            <a:r>
              <a:rPr lang="en-US" altLang="zh-CN" b="0" dirty="0"/>
              <a:t>+n</a:t>
            </a:r>
            <a:r>
              <a:rPr lang="en-US" altLang="zh-CN" b="0" baseline="-25000" dirty="0"/>
              <a:t>1</a:t>
            </a:r>
            <a:r>
              <a:rPr lang="en-US" altLang="zh-CN" b="0" dirty="0"/>
              <a:t>+n</a:t>
            </a:r>
            <a:r>
              <a:rPr lang="en-US" altLang="zh-CN" b="0" baseline="-25000" dirty="0"/>
              <a:t>2</a:t>
            </a:r>
          </a:p>
          <a:p>
            <a:pPr>
              <a:spcBef>
                <a:spcPts val="0"/>
              </a:spcBef>
            </a:pPr>
            <a:r>
              <a:rPr lang="en-US" altLang="zh-CN" b="0" dirty="0"/>
              <a:t>			n = e+1</a:t>
            </a:r>
            <a:endParaRPr lang="en-US" altLang="zh-CN" b="0" baseline="-25000" dirty="0"/>
          </a:p>
          <a:p>
            <a:pPr>
              <a:spcBef>
                <a:spcPts val="0"/>
              </a:spcBef>
            </a:pPr>
            <a:r>
              <a:rPr lang="en-US" altLang="zh-CN" b="0" dirty="0"/>
              <a:t>			e = n</a:t>
            </a:r>
            <a:r>
              <a:rPr lang="en-US" altLang="zh-CN" b="0" baseline="-25000" dirty="0"/>
              <a:t>1</a:t>
            </a:r>
            <a:r>
              <a:rPr lang="en-US" altLang="zh-CN" b="0" dirty="0"/>
              <a:t>+2n</a:t>
            </a:r>
            <a:r>
              <a:rPr lang="en-US" altLang="zh-CN" b="0" baseline="-25000" dirty="0"/>
              <a:t>2</a:t>
            </a:r>
            <a:endParaRPr lang="zh-CN" altLang="en-US" b="0" baseline="-2500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7572396" y="642918"/>
            <a:ext cx="445559" cy="457200"/>
          </a:xfrm>
          <a:prstGeom prst="rect">
            <a:avLst/>
          </a:prstGeom>
        </p:spPr>
      </p:pic>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6436" name="Picture 4"/>
          <p:cNvPicPr>
            <a:picLocks noChangeAspect="1" noChangeArrowheads="1"/>
          </p:cNvPicPr>
          <p:nvPr/>
        </p:nvPicPr>
        <p:blipFill>
          <a:blip r:embed="rId3" cstate="print"/>
          <a:srcRect/>
          <a:stretch>
            <a:fillRect/>
          </a:stretch>
        </p:blipFill>
        <p:spPr bwMode="auto">
          <a:xfrm>
            <a:off x="1979712" y="2924944"/>
            <a:ext cx="5105400" cy="866775"/>
          </a:xfrm>
          <a:prstGeom prst="rect">
            <a:avLst/>
          </a:prstGeom>
          <a:noFill/>
          <a:ln w="9525">
            <a:noFill/>
            <a:miter lim="800000"/>
            <a:headEnd/>
            <a:tailEnd/>
          </a:ln>
          <a:effectLst/>
        </p:spPr>
      </p:pic>
    </p:spTree>
    <p:extLst>
      <p:ext uri="{BB962C8B-B14F-4D97-AF65-F5344CB8AC3E}">
        <p14:creationId xmlns:p14="http://schemas.microsoft.com/office/powerpoint/2010/main" val="2731846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8680" y="980729"/>
            <a:ext cx="7520940" cy="2519710"/>
          </a:xfrm>
        </p:spPr>
        <p:txBody>
          <a:bodyPr>
            <a:normAutofit fontScale="92500" lnSpcReduction="10000"/>
          </a:bodyPr>
          <a:lstStyle/>
          <a:p>
            <a:pPr>
              <a:buFont typeface="Wingdings" panose="05000000000000000000" pitchFamily="2" charset="2"/>
              <a:buChar char="u"/>
            </a:pPr>
            <a:r>
              <a:rPr lang="zh-CN" altLang="zh-CN" b="0" dirty="0"/>
              <a:t>满二叉树和完全二叉树是二叉树的两种特殊情形。</a:t>
            </a:r>
            <a:endParaRPr lang="en-US" altLang="zh-CN" b="0" dirty="0"/>
          </a:p>
          <a:p>
            <a:r>
              <a:rPr lang="en-US" altLang="zh-CN" b="0" dirty="0"/>
              <a:t>	</a:t>
            </a:r>
            <a:r>
              <a:rPr lang="zh-CN" altLang="zh-CN" dirty="0">
                <a:solidFill>
                  <a:srgbClr val="0000FF"/>
                </a:solidFill>
              </a:rPr>
              <a:t>一棵</a:t>
            </a:r>
            <a:r>
              <a:rPr lang="zh-CN" altLang="en-US" dirty="0">
                <a:solidFill>
                  <a:srgbClr val="0000FF"/>
                </a:solidFill>
              </a:rPr>
              <a:t>高度</a:t>
            </a:r>
            <a:r>
              <a:rPr lang="zh-CN" altLang="zh-CN" dirty="0">
                <a:solidFill>
                  <a:srgbClr val="0000FF"/>
                </a:solidFill>
              </a:rPr>
              <a:t>为</a:t>
            </a:r>
            <a:r>
              <a:rPr lang="en-US" altLang="zh-CN" dirty="0">
                <a:solidFill>
                  <a:srgbClr val="0000FF"/>
                </a:solidFill>
              </a:rPr>
              <a:t>k</a:t>
            </a:r>
            <a:r>
              <a:rPr lang="zh-CN" altLang="zh-CN" dirty="0">
                <a:solidFill>
                  <a:srgbClr val="0000FF"/>
                </a:solidFill>
              </a:rPr>
              <a:t>且有</a:t>
            </a:r>
            <a:r>
              <a:rPr lang="en-US" altLang="zh-CN" dirty="0">
                <a:solidFill>
                  <a:srgbClr val="0000FF"/>
                </a:solidFill>
              </a:rPr>
              <a:t>2</a:t>
            </a:r>
            <a:r>
              <a:rPr lang="en-US" altLang="zh-CN" baseline="30000" dirty="0">
                <a:solidFill>
                  <a:srgbClr val="0000FF"/>
                </a:solidFill>
              </a:rPr>
              <a:t>k</a:t>
            </a:r>
            <a:r>
              <a:rPr lang="en-US" altLang="zh-CN" dirty="0">
                <a:solidFill>
                  <a:srgbClr val="0000FF"/>
                </a:solidFill>
              </a:rPr>
              <a:t>-1</a:t>
            </a:r>
            <a:r>
              <a:rPr lang="zh-CN" altLang="zh-CN" dirty="0">
                <a:solidFill>
                  <a:srgbClr val="0000FF"/>
                </a:solidFill>
              </a:rPr>
              <a:t>个结点的二叉树称为</a:t>
            </a:r>
            <a:r>
              <a:rPr lang="zh-CN" altLang="zh-CN" dirty="0">
                <a:solidFill>
                  <a:srgbClr val="FF0000"/>
                </a:solidFill>
              </a:rPr>
              <a:t>满二叉树</a:t>
            </a:r>
            <a:r>
              <a:rPr lang="zh-CN" altLang="zh-CN" b="0" dirty="0"/>
              <a:t>。</a:t>
            </a:r>
            <a:endParaRPr lang="en-US" altLang="zh-CN" b="0" dirty="0"/>
          </a:p>
          <a:p>
            <a:pPr lvl="3">
              <a:buFont typeface="Arial" pitchFamily="34" charset="0"/>
              <a:buChar char="•"/>
            </a:pPr>
            <a:r>
              <a:rPr lang="zh-CN" altLang="zh-CN" b="0" dirty="0"/>
              <a:t>满二叉树中每一层上的结点数都达到最大值</a:t>
            </a:r>
            <a:r>
              <a:rPr lang="zh-CN" altLang="en-US" b="0" dirty="0"/>
              <a:t>；</a:t>
            </a:r>
            <a:endParaRPr lang="en-US" altLang="zh-CN" b="0" dirty="0"/>
          </a:p>
          <a:p>
            <a:pPr lvl="3">
              <a:buFont typeface="Arial" pitchFamily="34" charset="0"/>
              <a:buChar char="•"/>
            </a:pPr>
            <a:r>
              <a:rPr lang="zh-CN" altLang="zh-CN" b="0" dirty="0"/>
              <a:t>满二叉树中不存在度数为</a:t>
            </a:r>
            <a:r>
              <a:rPr lang="en-US" altLang="zh-CN" b="0" dirty="0"/>
              <a:t>1</a:t>
            </a:r>
            <a:r>
              <a:rPr lang="zh-CN" altLang="zh-CN" b="0" dirty="0"/>
              <a:t>的结点</a:t>
            </a:r>
            <a:r>
              <a:rPr lang="zh-CN" altLang="en-US" b="0" dirty="0"/>
              <a:t>；</a:t>
            </a:r>
            <a:endParaRPr lang="en-US" altLang="zh-CN" b="0" dirty="0"/>
          </a:p>
          <a:p>
            <a:pPr lvl="3">
              <a:buFont typeface="Arial" pitchFamily="34" charset="0"/>
              <a:buChar char="•"/>
            </a:pPr>
            <a:r>
              <a:rPr lang="zh-CN" altLang="zh-CN" b="0" dirty="0"/>
              <a:t>每个分支结点均有两棵高度相同的子树，且</a:t>
            </a:r>
            <a:r>
              <a:rPr lang="zh-CN" altLang="en-US" b="0" dirty="0"/>
              <a:t>叶子</a:t>
            </a:r>
            <a:r>
              <a:rPr lang="zh-CN" altLang="zh-CN" b="0" dirty="0"/>
              <a:t>都在最下一层上。</a:t>
            </a:r>
            <a:endParaRPr lang="zh-CN" altLang="en-US" b="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74332" y="3212976"/>
            <a:ext cx="4369668" cy="2789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79512" y="3645024"/>
            <a:ext cx="4606802" cy="1862048"/>
          </a:xfrm>
          <a:prstGeom prst="rect">
            <a:avLst/>
          </a:prstGeom>
        </p:spPr>
        <p:txBody>
          <a:bodyPr wrap="square">
            <a:spAutoFit/>
          </a:bodyPr>
          <a:lstStyle/>
          <a:p>
            <a:pPr>
              <a:spcBef>
                <a:spcPts val="600"/>
              </a:spcBef>
              <a:buFont typeface="Arial"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按照从左到右、从上到下的顺序进行编号，称该编号序列为二叉树的层序编号。</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buFont typeface="Arial"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对</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高度</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为</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的满二叉树的结点层序编号是从</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k</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- 2</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进行连续编号。</a:t>
            </a: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01217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7704856" cy="3579849"/>
          </a:xfrm>
        </p:spPr>
        <p:txBody>
          <a:bodyPr>
            <a:normAutofit/>
          </a:bodyPr>
          <a:lstStyle/>
          <a:p>
            <a:pPr>
              <a:buFont typeface="Arial" panose="020B0604020202020204" pitchFamily="34" charset="0"/>
              <a:buChar char="•"/>
            </a:pPr>
            <a:r>
              <a:rPr lang="zh-CN" altLang="zh-CN" sz="2200" dirty="0">
                <a:solidFill>
                  <a:srgbClr val="0000FF"/>
                </a:solidFill>
              </a:rPr>
              <a:t>一棵二叉树每个结点的层序编号与对应位置的满二叉树层序编号完全一致，则称其为</a:t>
            </a:r>
            <a:r>
              <a:rPr lang="zh-CN" altLang="zh-CN" sz="2200" dirty="0">
                <a:solidFill>
                  <a:srgbClr val="FF0000"/>
                </a:solidFill>
              </a:rPr>
              <a:t>完全二叉树</a:t>
            </a:r>
            <a:r>
              <a:rPr lang="zh-CN" altLang="zh-CN" sz="2200" b="0" dirty="0"/>
              <a:t>。</a:t>
            </a:r>
            <a:endParaRPr lang="en-US" altLang="zh-CN" sz="2200" b="0" dirty="0"/>
          </a:p>
          <a:p>
            <a:pPr>
              <a:buFont typeface="Arial" panose="020B0604020202020204" pitchFamily="34" charset="0"/>
              <a:buChar char="•"/>
            </a:pPr>
            <a:r>
              <a:rPr lang="zh-CN" altLang="zh-CN" sz="2200" b="0" dirty="0"/>
              <a:t>假设从满二叉树中连续删除</a:t>
            </a:r>
            <a:r>
              <a:rPr lang="en-US" altLang="zh-CN" sz="2200" b="0" dirty="0"/>
              <a:t>m</a:t>
            </a:r>
            <a:r>
              <a:rPr lang="zh-CN" altLang="zh-CN" sz="2200" b="0" dirty="0"/>
              <a:t>个元素，其层序编号为</a:t>
            </a:r>
            <a:r>
              <a:rPr lang="en-US" altLang="zh-CN" sz="2200" b="0" dirty="0"/>
              <a:t>2</a:t>
            </a:r>
            <a:r>
              <a:rPr lang="en-US" altLang="zh-CN" sz="2200" b="0" baseline="30000" dirty="0"/>
              <a:t>k</a:t>
            </a:r>
            <a:r>
              <a:rPr lang="en-US" altLang="zh-CN" sz="2200" b="0" dirty="0"/>
              <a:t> -1-i (1 ≤ </a:t>
            </a:r>
            <a:r>
              <a:rPr lang="en-US" altLang="zh-CN" sz="2200" b="0" dirty="0" err="1"/>
              <a:t>i</a:t>
            </a:r>
            <a:r>
              <a:rPr lang="en-US" altLang="zh-CN" sz="2200" b="0" dirty="0"/>
              <a:t> ≤ m)</a:t>
            </a:r>
            <a:r>
              <a:rPr lang="zh-CN" altLang="zh-CN" sz="2200" b="0" dirty="0"/>
              <a:t>，所得到二叉树也被称为完全二叉树。</a:t>
            </a:r>
            <a:endParaRPr lang="en-US" altLang="zh-CN" sz="2200" b="0" dirty="0"/>
          </a:p>
          <a:p>
            <a:pPr>
              <a:buFont typeface="Arial" panose="020B0604020202020204" pitchFamily="34" charset="0"/>
              <a:buChar char="•"/>
            </a:pPr>
            <a:r>
              <a:rPr lang="zh-CN" altLang="zh-CN" sz="2200" b="0" dirty="0"/>
              <a:t>在一棵完全二叉树中至多只有最下面两层上的结点的度数可以小于</a:t>
            </a:r>
            <a:r>
              <a:rPr lang="en-US" altLang="zh-CN" sz="2200" b="0" dirty="0"/>
              <a:t>2</a:t>
            </a:r>
            <a:r>
              <a:rPr lang="zh-CN" altLang="zh-CN" sz="2200" b="0" dirty="0"/>
              <a:t>，并且最下一层的结点都集中在该层最左边的若干位置上。</a:t>
            </a:r>
            <a:endParaRPr lang="zh-CN" altLang="en-US" sz="2200" b="0"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9792" y="3717032"/>
            <a:ext cx="3744416" cy="2564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342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8280920" cy="3024335"/>
          </a:xfrm>
        </p:spPr>
        <p:txBody>
          <a:bodyPr>
            <a:normAutofit/>
          </a:bodyPr>
          <a:lstStyle/>
          <a:p>
            <a:r>
              <a:rPr lang="en-US" altLang="zh-CN" dirty="0">
                <a:sym typeface="Webdings"/>
              </a:rPr>
              <a:t></a:t>
            </a:r>
            <a:r>
              <a:rPr lang="zh-CN" altLang="zh-CN" dirty="0">
                <a:solidFill>
                  <a:srgbClr val="0000FF"/>
                </a:solidFill>
              </a:rPr>
              <a:t>结论：满二叉树是完全二叉树，但完全二叉树不一定是满二叉树。</a:t>
            </a:r>
            <a:r>
              <a:rPr lang="zh-CN" altLang="en-US" dirty="0">
                <a:solidFill>
                  <a:srgbClr val="0000FF"/>
                </a:solidFill>
              </a:rPr>
              <a:t>换句话说，满二叉树是完全二叉树的特殊情况。</a:t>
            </a:r>
            <a:endParaRPr lang="en-US" altLang="zh-CN" dirty="0">
              <a:solidFill>
                <a:srgbClr val="0000FF"/>
              </a:solidFill>
            </a:endParaRPr>
          </a:p>
          <a:p>
            <a:r>
              <a:rPr lang="en-US" altLang="zh-CN" b="0" dirty="0"/>
              <a:t>	</a:t>
            </a:r>
            <a:r>
              <a:rPr lang="zh-CN" altLang="zh-CN" b="0" dirty="0"/>
              <a:t>在完全二叉树的最下一层上，从最右边开始连续删去若干结点后得到的二叉树仍然是一棵完全二叉树。</a:t>
            </a:r>
            <a:endParaRPr lang="en-US" altLang="zh-CN" b="0" dirty="0"/>
          </a:p>
          <a:p>
            <a:r>
              <a:rPr lang="en-US" altLang="zh-CN" b="0" dirty="0"/>
              <a:t>	</a:t>
            </a:r>
            <a:r>
              <a:rPr lang="zh-CN" altLang="zh-CN" b="0" dirty="0"/>
              <a:t>在完全二叉树中，若某个结点没有左孩子，则它一定没有右孩子。</a:t>
            </a:r>
          </a:p>
          <a:p>
            <a:endParaRPr lang="zh-CN" altLang="zh-CN" dirty="0"/>
          </a:p>
          <a:p>
            <a:endParaRPr lang="zh-CN" altLang="en-US" dirty="0"/>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3042" y="3902036"/>
            <a:ext cx="6500858" cy="2332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2997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980728"/>
            <a:ext cx="7992888" cy="5162916"/>
          </a:xfrm>
        </p:spPr>
        <p:txBody>
          <a:bodyPr>
            <a:normAutofit/>
          </a:bodyPr>
          <a:lstStyle/>
          <a:p>
            <a:r>
              <a:rPr lang="zh-CN" altLang="en-US" dirty="0">
                <a:solidFill>
                  <a:srgbClr val="FF0000"/>
                </a:solidFill>
              </a:rPr>
              <a:t>性质</a:t>
            </a:r>
            <a:r>
              <a:rPr lang="en-US" dirty="0">
                <a:solidFill>
                  <a:srgbClr val="FF0000"/>
                </a:solidFill>
              </a:rPr>
              <a:t>4</a:t>
            </a:r>
            <a:r>
              <a:rPr lang="zh-CN" altLang="en-US" dirty="0">
                <a:solidFill>
                  <a:srgbClr val="FF0000"/>
                </a:solidFill>
              </a:rPr>
              <a:t>：具有</a:t>
            </a:r>
            <a:r>
              <a:rPr lang="en-US" dirty="0">
                <a:solidFill>
                  <a:srgbClr val="FF0000"/>
                </a:solidFill>
              </a:rPr>
              <a:t>n</a:t>
            </a:r>
            <a:r>
              <a:rPr lang="zh-CN" altLang="en-US" dirty="0">
                <a:solidFill>
                  <a:srgbClr val="FF0000"/>
                </a:solidFill>
              </a:rPr>
              <a:t>个结点的完全二叉树的高度</a:t>
            </a:r>
            <a:r>
              <a:rPr lang="en-US" altLang="zh-CN" dirty="0">
                <a:solidFill>
                  <a:srgbClr val="FF0000"/>
                </a:solidFill>
              </a:rPr>
              <a:t>k=</a:t>
            </a:r>
            <a:r>
              <a:rPr lang="zh-CN" altLang="en-US" dirty="0">
                <a:solidFill>
                  <a:srgbClr val="FF0000"/>
                </a:solidFill>
              </a:rPr>
              <a:t> </a:t>
            </a:r>
            <a:r>
              <a:rPr lang="zh-CN" altLang="en-US" dirty="0">
                <a:solidFill>
                  <a:srgbClr val="FF0000"/>
                </a:solidFill>
                <a:latin typeface="Lucida Sans Unicode"/>
                <a:cs typeface="Lucida Sans Unicode"/>
              </a:rPr>
              <a:t>⌊</a:t>
            </a:r>
            <a:r>
              <a:rPr lang="en-US" altLang="zh-CN" dirty="0">
                <a:solidFill>
                  <a:srgbClr val="FF0000"/>
                </a:solidFill>
              </a:rPr>
              <a:t>log</a:t>
            </a:r>
            <a:r>
              <a:rPr lang="zh-CN" altLang="en-US" dirty="0">
                <a:solidFill>
                  <a:srgbClr val="FF0000"/>
                </a:solidFill>
              </a:rPr>
              <a:t> </a:t>
            </a:r>
            <a:r>
              <a:rPr lang="en-US" altLang="zh-CN" baseline="-25000" dirty="0">
                <a:solidFill>
                  <a:srgbClr val="FF0000"/>
                </a:solidFill>
              </a:rPr>
              <a:t>2</a:t>
            </a:r>
            <a:r>
              <a:rPr lang="en-US" altLang="zh-CN" dirty="0">
                <a:solidFill>
                  <a:srgbClr val="FF0000"/>
                </a:solidFill>
              </a:rPr>
              <a:t>n</a:t>
            </a:r>
            <a:r>
              <a:rPr lang="en-US" altLang="zh-CN" dirty="0">
                <a:solidFill>
                  <a:srgbClr val="FF0000"/>
                </a:solidFill>
                <a:latin typeface="Lucida Sans Unicode"/>
                <a:cs typeface="Lucida Sans Unicode"/>
              </a:rPr>
              <a:t>⌋+1</a:t>
            </a:r>
            <a:r>
              <a:rPr lang="zh-CN" altLang="en-US" dirty="0">
                <a:solidFill>
                  <a:srgbClr val="FF0000"/>
                </a:solidFill>
              </a:rPr>
              <a:t>。</a:t>
            </a:r>
            <a:endParaRPr lang="en-US" altLang="zh-CN" dirty="0">
              <a:solidFill>
                <a:srgbClr val="FF0000"/>
              </a:solidFill>
            </a:endParaRPr>
          </a:p>
          <a:p>
            <a:r>
              <a:rPr lang="zh-CN" altLang="en-US" dirty="0">
                <a:solidFill>
                  <a:srgbClr val="FF0000"/>
                </a:solidFill>
              </a:rPr>
              <a:t>性质</a:t>
            </a:r>
            <a:r>
              <a:rPr lang="en-US" dirty="0">
                <a:solidFill>
                  <a:srgbClr val="FF0000"/>
                </a:solidFill>
              </a:rPr>
              <a:t>5</a:t>
            </a:r>
            <a:r>
              <a:rPr lang="zh-CN" altLang="en-US" dirty="0">
                <a:solidFill>
                  <a:srgbClr val="FF0000"/>
                </a:solidFill>
              </a:rPr>
              <a:t>*：</a:t>
            </a:r>
            <a:r>
              <a:rPr lang="zh-CN" altLang="en-US" dirty="0"/>
              <a:t>如果对一棵有</a:t>
            </a:r>
            <a:r>
              <a:rPr lang="en-US" dirty="0"/>
              <a:t>n</a:t>
            </a:r>
            <a:r>
              <a:rPr lang="zh-CN" altLang="en-US" dirty="0"/>
              <a:t>个结点的完全二叉树</a:t>
            </a:r>
            <a:r>
              <a:rPr lang="en-US" altLang="zh-CN" dirty="0"/>
              <a:t>(</a:t>
            </a:r>
            <a:r>
              <a:rPr lang="zh-CN" altLang="en-US" dirty="0"/>
              <a:t>其高度为</a:t>
            </a:r>
            <a:r>
              <a:rPr lang="en-US" altLang="zh-CN" dirty="0"/>
              <a:t>h)</a:t>
            </a:r>
            <a:r>
              <a:rPr lang="zh-CN" altLang="en-US" dirty="0"/>
              <a:t>的结点按层序编号</a:t>
            </a:r>
            <a:r>
              <a:rPr lang="en-US" altLang="zh-CN" dirty="0"/>
              <a:t>(</a:t>
            </a:r>
            <a:r>
              <a:rPr lang="zh-CN" altLang="en-US" dirty="0"/>
              <a:t>从第</a:t>
            </a:r>
            <a:r>
              <a:rPr lang="en-US" dirty="0"/>
              <a:t>1</a:t>
            </a:r>
            <a:r>
              <a:rPr lang="zh-CN" altLang="en-US" dirty="0"/>
              <a:t>层到第</a:t>
            </a:r>
            <a:r>
              <a:rPr lang="en-US" altLang="zh-CN" dirty="0"/>
              <a:t>h</a:t>
            </a:r>
            <a:r>
              <a:rPr lang="zh-CN" altLang="en-US" dirty="0"/>
              <a:t>层，每层从左到右</a:t>
            </a:r>
            <a:r>
              <a:rPr lang="en-US" altLang="zh-CN" dirty="0"/>
              <a:t>)</a:t>
            </a:r>
            <a:r>
              <a:rPr lang="zh-CN" altLang="en-US" dirty="0"/>
              <a:t>，则对任一结点</a:t>
            </a:r>
            <a:r>
              <a:rPr lang="en-US" dirty="0" err="1"/>
              <a:t>i</a:t>
            </a:r>
            <a:r>
              <a:rPr lang="en-US" dirty="0"/>
              <a:t>(0 ≤ </a:t>
            </a:r>
            <a:r>
              <a:rPr lang="en-US" dirty="0" err="1"/>
              <a:t>i</a:t>
            </a:r>
            <a:r>
              <a:rPr lang="en-US" dirty="0"/>
              <a:t> ≤ n-1)</a:t>
            </a:r>
            <a:r>
              <a:rPr lang="zh-CN" altLang="en-US" dirty="0"/>
              <a:t>，有：</a:t>
            </a:r>
          </a:p>
          <a:p>
            <a:r>
              <a:rPr lang="en-US" sz="2200" b="0" dirty="0"/>
              <a:t>	</a:t>
            </a:r>
            <a:r>
              <a:rPr lang="en-US" sz="2200" dirty="0"/>
              <a:t>(1) </a:t>
            </a:r>
            <a:r>
              <a:rPr lang="zh-CN" altLang="en-US" sz="2200" dirty="0"/>
              <a:t>如果</a:t>
            </a:r>
            <a:r>
              <a:rPr lang="en-US" sz="2200" dirty="0" err="1"/>
              <a:t>i</a:t>
            </a:r>
            <a:r>
              <a:rPr lang="en-US" sz="2200" dirty="0"/>
              <a:t> = 0</a:t>
            </a:r>
            <a:r>
              <a:rPr lang="zh-CN" altLang="en-US" sz="2200" dirty="0"/>
              <a:t>，则结点</a:t>
            </a:r>
            <a:r>
              <a:rPr lang="en-US" sz="2200" dirty="0" err="1"/>
              <a:t>i</a:t>
            </a:r>
            <a:r>
              <a:rPr lang="zh-CN" altLang="en-US" sz="2200" dirty="0"/>
              <a:t>是二叉树的根，无双亲结点；</a:t>
            </a:r>
            <a:endParaRPr lang="en-US" altLang="zh-CN" sz="2200" dirty="0"/>
          </a:p>
          <a:p>
            <a:r>
              <a:rPr lang="en-US" altLang="zh-CN" sz="2200" dirty="0"/>
              <a:t>          </a:t>
            </a:r>
            <a:r>
              <a:rPr lang="zh-CN" altLang="en-US" sz="2200" dirty="0"/>
              <a:t>如果</a:t>
            </a:r>
            <a:r>
              <a:rPr lang="en-US" sz="2200" dirty="0" err="1"/>
              <a:t>i</a:t>
            </a:r>
            <a:r>
              <a:rPr lang="en-US" sz="2200" dirty="0"/>
              <a:t> &gt; 0</a:t>
            </a:r>
            <a:r>
              <a:rPr lang="zh-CN" altLang="en-US" sz="2200" dirty="0"/>
              <a:t>，则其双亲</a:t>
            </a:r>
            <a:r>
              <a:rPr lang="en-US" sz="2200" dirty="0"/>
              <a:t>PARENT(</a:t>
            </a:r>
            <a:r>
              <a:rPr lang="en-US" sz="2200" dirty="0" err="1"/>
              <a:t>i</a:t>
            </a:r>
            <a:r>
              <a:rPr lang="en-US" sz="2200" dirty="0"/>
              <a:t>)</a:t>
            </a:r>
            <a:r>
              <a:rPr lang="zh-CN" altLang="en-US" sz="2200" dirty="0"/>
              <a:t>是结点</a:t>
            </a:r>
            <a:r>
              <a:rPr lang="zh-CN" altLang="en-US" sz="2200" dirty="0">
                <a:latin typeface="Lucida Sans Unicode"/>
                <a:cs typeface="Lucida Sans Unicode"/>
              </a:rPr>
              <a:t>⌊</a:t>
            </a:r>
            <a:r>
              <a:rPr lang="en-US" altLang="zh-CN" sz="2200" dirty="0"/>
              <a:t>(i-1)/2</a:t>
            </a:r>
            <a:r>
              <a:rPr lang="en-US" altLang="zh-CN" sz="2200" dirty="0">
                <a:latin typeface="Lucida Sans Unicode"/>
                <a:cs typeface="Lucida Sans Unicode"/>
              </a:rPr>
              <a:t>⌋</a:t>
            </a:r>
            <a:r>
              <a:rPr lang="zh-CN" altLang="en-US" sz="2200" baseline="-25000" dirty="0"/>
              <a:t>下取整</a:t>
            </a:r>
            <a:r>
              <a:rPr lang="zh-CN" altLang="en-US" sz="2200" dirty="0"/>
              <a:t> 。</a:t>
            </a:r>
          </a:p>
          <a:p>
            <a:r>
              <a:rPr lang="en-US" sz="2200" dirty="0"/>
              <a:t>	(2) </a:t>
            </a:r>
            <a:r>
              <a:rPr lang="zh-CN" altLang="en-US" sz="2200" dirty="0"/>
              <a:t>如果</a:t>
            </a:r>
            <a:r>
              <a:rPr lang="en-US" sz="2200" dirty="0"/>
              <a:t>2i+1 ≥ n</a:t>
            </a:r>
            <a:r>
              <a:rPr lang="zh-CN" altLang="en-US" sz="2200" dirty="0"/>
              <a:t>，则结点</a:t>
            </a:r>
            <a:r>
              <a:rPr lang="en-US" sz="2200" dirty="0" err="1"/>
              <a:t>i</a:t>
            </a:r>
            <a:r>
              <a:rPr lang="zh-CN" altLang="en-US" sz="2200" dirty="0"/>
              <a:t>无左孩子</a:t>
            </a:r>
            <a:r>
              <a:rPr lang="en-US" altLang="zh-CN" sz="2200" dirty="0"/>
              <a:t>(</a:t>
            </a:r>
            <a:r>
              <a:rPr lang="zh-CN" altLang="en-US" sz="2200" dirty="0"/>
              <a:t>结点</a:t>
            </a:r>
            <a:r>
              <a:rPr lang="en-US" sz="2200" dirty="0" err="1"/>
              <a:t>i</a:t>
            </a:r>
            <a:r>
              <a:rPr lang="zh-CN" altLang="en-US" sz="2200" dirty="0"/>
              <a:t>为叶子结点</a:t>
            </a:r>
            <a:r>
              <a:rPr lang="en-US" altLang="zh-CN" sz="2200" dirty="0"/>
              <a:t>)</a:t>
            </a:r>
            <a:r>
              <a:rPr lang="zh-CN" altLang="en-US" sz="2200" dirty="0"/>
              <a:t>；</a:t>
            </a:r>
            <a:endParaRPr lang="en-US" altLang="zh-CN" sz="2200" dirty="0"/>
          </a:p>
          <a:p>
            <a:r>
              <a:rPr lang="en-US" altLang="zh-CN" sz="2200" dirty="0"/>
              <a:t>           </a:t>
            </a:r>
            <a:r>
              <a:rPr lang="zh-CN" altLang="en-US" sz="2200" dirty="0"/>
              <a:t>否则，其左孩子</a:t>
            </a:r>
            <a:r>
              <a:rPr lang="en-US" sz="2200" dirty="0"/>
              <a:t>LCHILD(</a:t>
            </a:r>
            <a:r>
              <a:rPr lang="en-US" sz="2200" dirty="0" err="1"/>
              <a:t>i</a:t>
            </a:r>
            <a:r>
              <a:rPr lang="en-US" sz="2200" dirty="0"/>
              <a:t>)</a:t>
            </a:r>
            <a:r>
              <a:rPr lang="zh-CN" altLang="en-US" sz="2200" dirty="0"/>
              <a:t>是结点</a:t>
            </a:r>
            <a:r>
              <a:rPr lang="en-US" sz="2200" dirty="0"/>
              <a:t>2i+1</a:t>
            </a:r>
            <a:r>
              <a:rPr lang="zh-CN" altLang="en-US" sz="2200" dirty="0"/>
              <a:t>。</a:t>
            </a:r>
          </a:p>
          <a:p>
            <a:r>
              <a:rPr lang="en-US" sz="2200" dirty="0"/>
              <a:t>	(3) </a:t>
            </a:r>
            <a:r>
              <a:rPr lang="zh-CN" altLang="en-US" sz="2200" dirty="0"/>
              <a:t>如果</a:t>
            </a:r>
            <a:r>
              <a:rPr lang="en-US" sz="2200" dirty="0"/>
              <a:t>2i + 2 ≥ n</a:t>
            </a:r>
            <a:r>
              <a:rPr lang="zh-CN" altLang="en-US" sz="2200" dirty="0"/>
              <a:t>，则结点</a:t>
            </a:r>
            <a:r>
              <a:rPr lang="en-US" sz="2200" dirty="0" err="1"/>
              <a:t>i</a:t>
            </a:r>
            <a:r>
              <a:rPr lang="zh-CN" altLang="en-US" sz="2200" dirty="0"/>
              <a:t>无右孩子</a:t>
            </a:r>
            <a:endParaRPr lang="en-US" altLang="zh-CN" sz="2200" dirty="0"/>
          </a:p>
          <a:p>
            <a:r>
              <a:rPr lang="en-US" altLang="zh-CN" sz="2200" dirty="0"/>
              <a:t>	      </a:t>
            </a:r>
            <a:r>
              <a:rPr lang="zh-CN" altLang="en-US" sz="2200" dirty="0"/>
              <a:t>否则其右孩子</a:t>
            </a:r>
            <a:r>
              <a:rPr lang="en-US" sz="2200" dirty="0"/>
              <a:t>RCHILD(</a:t>
            </a:r>
            <a:r>
              <a:rPr lang="en-US" sz="2200" dirty="0" err="1"/>
              <a:t>i</a:t>
            </a:r>
            <a:r>
              <a:rPr lang="en-US" sz="2200" dirty="0"/>
              <a:t>)</a:t>
            </a:r>
            <a:r>
              <a:rPr lang="zh-CN" altLang="en-US" sz="2200" dirty="0"/>
              <a:t>是结点</a:t>
            </a:r>
            <a:r>
              <a:rPr lang="en-US" sz="2200" dirty="0"/>
              <a:t>2i+2</a:t>
            </a:r>
            <a:r>
              <a:rPr lang="zh-CN" altLang="en-US" sz="2200" dirty="0"/>
              <a:t>。</a:t>
            </a:r>
          </a:p>
          <a:p>
            <a:endParaRPr lang="zh-CN" altLang="en-US" b="0" dirty="0"/>
          </a:p>
        </p:txBody>
      </p:sp>
      <p:sp>
        <p:nvSpPr>
          <p:cNvPr id="18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3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2"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3" name="Rectangle 11"/>
          <p:cNvSpPr>
            <a:spLocks noChangeArrowheads="1"/>
          </p:cNvSpPr>
          <p:nvPr/>
        </p:nvSpPr>
        <p:spPr bwMode="auto">
          <a:xfrm>
            <a:off x="0" y="6175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nvGrpSpPr>
          <p:cNvPr id="2" name="Group 12"/>
          <p:cNvGrpSpPr>
            <a:grpSpLocks/>
          </p:cNvGrpSpPr>
          <p:nvPr/>
        </p:nvGrpSpPr>
        <p:grpSpPr bwMode="auto">
          <a:xfrm>
            <a:off x="6948264" y="4509120"/>
            <a:ext cx="1872208" cy="1590477"/>
            <a:chOff x="2984" y="1679"/>
            <a:chExt cx="1996" cy="1599"/>
          </a:xfrm>
        </p:grpSpPr>
        <p:sp>
          <p:nvSpPr>
            <p:cNvPr id="18445" name="Oval 13"/>
            <p:cNvSpPr>
              <a:spLocks noChangeArrowheads="1"/>
            </p:cNvSpPr>
            <p:nvPr/>
          </p:nvSpPr>
          <p:spPr bwMode="auto">
            <a:xfrm>
              <a:off x="3620" y="1679"/>
              <a:ext cx="899" cy="50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46" name="Text Box 14"/>
            <p:cNvSpPr txBox="1">
              <a:spLocks noChangeArrowheads="1"/>
            </p:cNvSpPr>
            <p:nvPr/>
          </p:nvSpPr>
          <p:spPr bwMode="auto">
            <a:xfrm>
              <a:off x="3599" y="1772"/>
              <a:ext cx="1151" cy="4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fontAlgn="base">
                <a:spcBef>
                  <a:spcPct val="0"/>
                </a:spcBef>
                <a:spcAft>
                  <a:spcPct val="0"/>
                </a:spcAft>
              </a:pPr>
              <a:r>
                <a:rPr lang="zh-CN" altLang="en-US" sz="1600" dirty="0">
                  <a:latin typeface="Lucida Sans Unicode"/>
                  <a:cs typeface="Lucida Sans Unicode"/>
                </a:rPr>
                <a:t>⌊</a:t>
              </a: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(i-1)/2</a:t>
              </a:r>
              <a:r>
                <a:rPr lang="en-US" altLang="zh-CN" sz="1600" dirty="0">
                  <a:latin typeface="Lucida Sans Unicode"/>
                  <a:cs typeface="Lucida Sans Unicode"/>
                </a:rPr>
                <a:t>⌋</a:t>
              </a:r>
              <a:endParaRPr kumimoji="0" lang="zh-CN"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p:txBody>
        </p:sp>
        <p:sp>
          <p:nvSpPr>
            <p:cNvPr id="18447" name="Oval 15"/>
            <p:cNvSpPr>
              <a:spLocks noChangeArrowheads="1"/>
            </p:cNvSpPr>
            <p:nvPr/>
          </p:nvSpPr>
          <p:spPr bwMode="auto">
            <a:xfrm>
              <a:off x="2984" y="2833"/>
              <a:ext cx="668" cy="44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48" name="Text Box 16"/>
            <p:cNvSpPr txBox="1">
              <a:spLocks noChangeArrowheads="1"/>
            </p:cNvSpPr>
            <p:nvPr/>
          </p:nvSpPr>
          <p:spPr bwMode="auto">
            <a:xfrm>
              <a:off x="2996" y="2833"/>
              <a:ext cx="712" cy="4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2i+1</a:t>
              </a:r>
              <a:endParaRPr kumimoji="0" lang="zh-CN"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p:txBody>
        </p:sp>
        <p:sp>
          <p:nvSpPr>
            <p:cNvPr id="18449" name="Oval 17"/>
            <p:cNvSpPr>
              <a:spLocks noChangeArrowheads="1"/>
            </p:cNvSpPr>
            <p:nvPr/>
          </p:nvSpPr>
          <p:spPr bwMode="auto">
            <a:xfrm>
              <a:off x="4294" y="2825"/>
              <a:ext cx="686" cy="42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50" name="Text Box 18"/>
            <p:cNvSpPr txBox="1">
              <a:spLocks noChangeArrowheads="1"/>
            </p:cNvSpPr>
            <p:nvPr/>
          </p:nvSpPr>
          <p:spPr bwMode="auto">
            <a:xfrm>
              <a:off x="4294" y="2825"/>
              <a:ext cx="686" cy="4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2i+2</a:t>
              </a:r>
              <a:endParaRPr kumimoji="0" lang="zh-CN"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p:txBody>
        </p:sp>
        <p:sp>
          <p:nvSpPr>
            <p:cNvPr id="18451" name="Oval 19"/>
            <p:cNvSpPr>
              <a:spLocks noChangeArrowheads="1"/>
            </p:cNvSpPr>
            <p:nvPr/>
          </p:nvSpPr>
          <p:spPr bwMode="auto">
            <a:xfrm>
              <a:off x="3819" y="2395"/>
              <a:ext cx="398" cy="44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52" name="Text Box 20"/>
            <p:cNvSpPr txBox="1">
              <a:spLocks noChangeArrowheads="1"/>
            </p:cNvSpPr>
            <p:nvPr/>
          </p:nvSpPr>
          <p:spPr bwMode="auto">
            <a:xfrm>
              <a:off x="3959" y="2451"/>
              <a:ext cx="199" cy="37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zh-CN"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p:txBody>
        </p:sp>
        <p:cxnSp>
          <p:nvCxnSpPr>
            <p:cNvPr id="18453" name="AutoShape 21"/>
            <p:cNvCxnSpPr>
              <a:cxnSpLocks noChangeShapeType="1"/>
            </p:cNvCxnSpPr>
            <p:nvPr/>
          </p:nvCxnSpPr>
          <p:spPr bwMode="auto">
            <a:xfrm>
              <a:off x="4018" y="2220"/>
              <a:ext cx="0" cy="175"/>
            </a:xfrm>
            <a:prstGeom prst="straightConnector1">
              <a:avLst/>
            </a:prstGeom>
            <a:noFill/>
            <a:ln w="9525">
              <a:solidFill>
                <a:srgbClr val="000000"/>
              </a:solidFill>
              <a:round/>
              <a:headEnd/>
              <a:tailEnd/>
            </a:ln>
          </p:spPr>
        </p:cxnSp>
        <p:cxnSp>
          <p:nvCxnSpPr>
            <p:cNvPr id="18454" name="AutoShape 22"/>
            <p:cNvCxnSpPr>
              <a:cxnSpLocks noChangeShapeType="1"/>
            </p:cNvCxnSpPr>
            <p:nvPr/>
          </p:nvCxnSpPr>
          <p:spPr bwMode="auto">
            <a:xfrm flipV="1">
              <a:off x="3580" y="2705"/>
              <a:ext cx="239" cy="231"/>
            </a:xfrm>
            <a:prstGeom prst="straightConnector1">
              <a:avLst/>
            </a:prstGeom>
            <a:noFill/>
            <a:ln w="9525">
              <a:solidFill>
                <a:srgbClr val="000000"/>
              </a:solidFill>
              <a:round/>
              <a:headEnd/>
              <a:tailEnd/>
            </a:ln>
          </p:spPr>
        </p:cxnSp>
        <p:cxnSp>
          <p:nvCxnSpPr>
            <p:cNvPr id="18455" name="AutoShape 23"/>
            <p:cNvCxnSpPr>
              <a:cxnSpLocks noChangeShapeType="1"/>
            </p:cNvCxnSpPr>
            <p:nvPr/>
          </p:nvCxnSpPr>
          <p:spPr bwMode="auto">
            <a:xfrm flipH="1" flipV="1">
              <a:off x="4217" y="2705"/>
              <a:ext cx="239" cy="135"/>
            </a:xfrm>
            <a:prstGeom prst="straightConnector1">
              <a:avLst/>
            </a:prstGeom>
            <a:noFill/>
            <a:ln w="9525">
              <a:solidFill>
                <a:srgbClr val="000000"/>
              </a:solidFill>
              <a:round/>
              <a:headEnd/>
              <a:tailEnd/>
            </a:ln>
          </p:spPr>
        </p:cxnSp>
      </p:grpSp>
    </p:spTree>
    <p:extLst>
      <p:ext uri="{BB962C8B-B14F-4D97-AF65-F5344CB8AC3E}">
        <p14:creationId xmlns:p14="http://schemas.microsoft.com/office/powerpoint/2010/main" val="1288079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5.2.3 </a:t>
            </a:r>
            <a:r>
              <a:rPr lang="zh-CN" altLang="zh-CN" b="1" dirty="0"/>
              <a:t>二叉树的存储结构</a:t>
            </a:r>
            <a:endParaRPr lang="zh-CN" altLang="en-US" dirty="0"/>
          </a:p>
        </p:txBody>
      </p:sp>
      <p:sp>
        <p:nvSpPr>
          <p:cNvPr id="3" name="内容占位符 2"/>
          <p:cNvSpPr>
            <a:spLocks noGrp="1"/>
          </p:cNvSpPr>
          <p:nvPr>
            <p:ph idx="1"/>
          </p:nvPr>
        </p:nvSpPr>
        <p:spPr/>
        <p:txBody>
          <a:bodyPr/>
          <a:lstStyle/>
          <a:p>
            <a:r>
              <a:rPr lang="en-US" altLang="zh-CN" dirty="0"/>
              <a:t>1. </a:t>
            </a:r>
            <a:r>
              <a:rPr lang="zh-CN" altLang="zh-CN" dirty="0">
                <a:solidFill>
                  <a:srgbClr val="FF0000"/>
                </a:solidFill>
              </a:rPr>
              <a:t>顺序存储结构</a:t>
            </a:r>
          </a:p>
          <a:p>
            <a:r>
              <a:rPr lang="en-US" altLang="zh-CN" b="0" dirty="0"/>
              <a:t>		</a:t>
            </a:r>
            <a:r>
              <a:rPr lang="zh-CN" altLang="zh-CN" b="0" dirty="0"/>
              <a:t>顺序存储结构就是将二叉树中的所有结点按照一定的次序存储到一组地址连续的存储单元中。</a:t>
            </a:r>
            <a:endParaRPr lang="en-US" altLang="zh-CN" b="0" dirty="0"/>
          </a:p>
          <a:p>
            <a:r>
              <a:rPr lang="en-US" altLang="zh-CN" b="0" dirty="0"/>
              <a:t>		</a:t>
            </a:r>
            <a:r>
              <a:rPr lang="zh-CN" altLang="zh-CN" b="0" dirty="0"/>
              <a:t>必须把二叉树中的所有结点安排成一个适当的线性序列，使得结点在这个序列中的相互位置能反映出结点之间的逻辑关系。</a:t>
            </a:r>
          </a:p>
          <a:p>
            <a:endParaRPr lang="zh-CN" altLang="en-US" dirty="0"/>
          </a:p>
        </p:txBody>
      </p:sp>
    </p:spTree>
    <p:extLst>
      <p:ext uri="{BB962C8B-B14F-4D97-AF65-F5344CB8AC3E}">
        <p14:creationId xmlns:p14="http://schemas.microsoft.com/office/powerpoint/2010/main" val="3293605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676456" cy="2250522"/>
          </a:xfrm>
        </p:spPr>
        <p:txBody>
          <a:bodyPr>
            <a:normAutofit/>
          </a:bodyPr>
          <a:lstStyle/>
          <a:p>
            <a:pPr>
              <a:buFont typeface="Wingdings" panose="05000000000000000000" pitchFamily="2" charset="2"/>
              <a:buChar char="u"/>
            </a:pPr>
            <a:r>
              <a:rPr lang="zh-CN" altLang="zh-CN" b="0" dirty="0"/>
              <a:t>对于完全二叉树</a:t>
            </a:r>
            <a:endParaRPr lang="en-US" altLang="zh-CN" b="0" dirty="0"/>
          </a:p>
          <a:p>
            <a:pPr lvl="2">
              <a:buFont typeface="Arial" pitchFamily="34" charset="0"/>
              <a:buChar char="•"/>
            </a:pPr>
            <a:r>
              <a:rPr lang="zh-CN" altLang="zh-CN" sz="2200" b="0" dirty="0"/>
              <a:t>完全二叉树中结点的编号完全反映了结点之间的逻辑关系</a:t>
            </a:r>
            <a:r>
              <a:rPr lang="en-US" altLang="zh-CN" sz="2200" b="0" dirty="0"/>
              <a:t>(</a:t>
            </a:r>
            <a:r>
              <a:rPr lang="zh-CN" altLang="en-US" sz="2200" b="0" dirty="0"/>
              <a:t>性质</a:t>
            </a:r>
            <a:r>
              <a:rPr lang="en-US" altLang="zh-CN" sz="2200" b="0" dirty="0"/>
              <a:t>5)</a:t>
            </a:r>
            <a:r>
              <a:rPr lang="zh-CN" altLang="zh-CN" sz="2200" b="0" dirty="0"/>
              <a:t>。</a:t>
            </a:r>
            <a:endParaRPr lang="en-US" altLang="zh-CN" sz="2200" b="0" dirty="0"/>
          </a:p>
          <a:p>
            <a:pPr lvl="2">
              <a:buFont typeface="Arial" pitchFamily="34" charset="0"/>
              <a:buChar char="•"/>
            </a:pPr>
            <a:r>
              <a:rPr lang="zh-CN" altLang="zh-CN" sz="2200" b="0" dirty="0"/>
              <a:t>将完全二叉树上编号为</a:t>
            </a:r>
            <a:r>
              <a:rPr lang="en-US" altLang="zh-CN" sz="2200" b="0" dirty="0" err="1"/>
              <a:t>i</a:t>
            </a:r>
            <a:r>
              <a:rPr lang="zh-CN" altLang="zh-CN" sz="2200" b="0" dirty="0"/>
              <a:t>的结点存储在一维数组中下标为</a:t>
            </a:r>
            <a:r>
              <a:rPr lang="en-US" altLang="zh-CN" sz="2200" b="0" dirty="0" err="1"/>
              <a:t>i</a:t>
            </a:r>
            <a:r>
              <a:rPr lang="zh-CN" altLang="zh-CN" sz="2200" b="0" dirty="0"/>
              <a:t>的分量中。</a:t>
            </a:r>
            <a:endParaRPr lang="en-US" altLang="zh-CN" sz="2200" b="0" dirty="0"/>
          </a:p>
          <a:p>
            <a:pPr lvl="2">
              <a:buFont typeface="Arial" pitchFamily="34" charset="0"/>
              <a:buChar char="•"/>
            </a:pPr>
            <a:r>
              <a:rPr lang="zh-CN" altLang="zh-CN" sz="2200" b="0" dirty="0"/>
              <a:t>如图</a:t>
            </a:r>
            <a:r>
              <a:rPr lang="en-US" altLang="zh-CN" sz="2200" b="0" dirty="0"/>
              <a:t>5-6(b)</a:t>
            </a:r>
            <a:r>
              <a:rPr lang="zh-CN" altLang="zh-CN" sz="2200" b="0" dirty="0"/>
              <a:t>为图</a:t>
            </a:r>
            <a:r>
              <a:rPr lang="en-US" altLang="zh-CN" sz="2200" b="0" dirty="0"/>
              <a:t>5-6(a)</a:t>
            </a:r>
            <a:r>
              <a:rPr lang="zh-CN" altLang="zh-CN" sz="2200" b="0" dirty="0"/>
              <a:t>所示完全二叉树</a:t>
            </a:r>
            <a:r>
              <a:rPr lang="en-US" altLang="zh-CN" sz="2200" b="0" dirty="0"/>
              <a:t>T</a:t>
            </a:r>
            <a:r>
              <a:rPr lang="en-US" altLang="zh-CN" sz="2200" b="0" baseline="-25000" dirty="0"/>
              <a:t>1</a:t>
            </a:r>
            <a:r>
              <a:rPr lang="zh-CN" altLang="zh-CN" sz="2200" b="0" dirty="0"/>
              <a:t>的顺序存储结构。</a:t>
            </a:r>
            <a:endParaRPr lang="zh-CN" altLang="en-US" sz="2200"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0232" y="3071810"/>
            <a:ext cx="4752528" cy="3034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4059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24744"/>
            <a:ext cx="7520940" cy="3579849"/>
          </a:xfrm>
        </p:spPr>
        <p:txBody>
          <a:bodyPr>
            <a:normAutofit fontScale="92500"/>
          </a:bodyPr>
          <a:lstStyle/>
          <a:p>
            <a:pPr>
              <a:buFont typeface="Wingdings" panose="05000000000000000000" pitchFamily="2" charset="2"/>
              <a:buChar char="u"/>
            </a:pPr>
            <a:r>
              <a:rPr lang="zh-CN" altLang="zh-CN" dirty="0"/>
              <a:t>对于一般二叉树，</a:t>
            </a:r>
            <a:endParaRPr lang="en-US" altLang="zh-CN" dirty="0"/>
          </a:p>
          <a:p>
            <a:pPr lvl="2">
              <a:spcBef>
                <a:spcPts val="600"/>
              </a:spcBef>
              <a:buFont typeface="Arial" pitchFamily="34" charset="0"/>
              <a:buChar char="•"/>
            </a:pPr>
            <a:r>
              <a:rPr lang="zh-CN" altLang="zh-CN" b="0" dirty="0">
                <a:solidFill>
                  <a:srgbClr val="FF0000"/>
                </a:solidFill>
              </a:rPr>
              <a:t>按照完全二叉树的形式存储树中的结点</a:t>
            </a:r>
            <a:r>
              <a:rPr lang="zh-CN" altLang="zh-CN" b="0" dirty="0"/>
              <a:t>，即通过添加一些不存在的</a:t>
            </a:r>
            <a:r>
              <a:rPr lang="en-US" altLang="zh-CN" b="0" dirty="0"/>
              <a:t>“</a:t>
            </a:r>
            <a:r>
              <a:rPr lang="zh-CN" altLang="zh-CN" b="0" dirty="0"/>
              <a:t>空结点</a:t>
            </a:r>
            <a:r>
              <a:rPr lang="en-US" altLang="zh-CN" b="0" dirty="0"/>
              <a:t>”</a:t>
            </a:r>
            <a:r>
              <a:rPr lang="zh-CN" altLang="zh-CN" b="0" dirty="0"/>
              <a:t>，使之成为一棵完全二叉树。</a:t>
            </a:r>
            <a:endParaRPr lang="en-US" altLang="zh-CN" b="0" dirty="0"/>
          </a:p>
          <a:p>
            <a:pPr lvl="2">
              <a:spcBef>
                <a:spcPts val="600"/>
              </a:spcBef>
              <a:buFont typeface="Arial" pitchFamily="34" charset="0"/>
              <a:buChar char="•"/>
            </a:pPr>
            <a:r>
              <a:rPr lang="zh-CN" altLang="zh-CN" b="0" dirty="0"/>
              <a:t>将二叉树的每一个结点与完全二叉树上的结点相对应，存储在一维数组的相应分量中。</a:t>
            </a:r>
            <a:endParaRPr lang="en-US" altLang="zh-CN" b="0" dirty="0"/>
          </a:p>
          <a:p>
            <a:pPr lvl="2">
              <a:spcBef>
                <a:spcPts val="600"/>
              </a:spcBef>
              <a:buFont typeface="Arial" pitchFamily="34" charset="0"/>
              <a:buChar char="•"/>
            </a:pPr>
            <a:r>
              <a:rPr lang="zh-CN" altLang="zh-CN" b="0" dirty="0"/>
              <a:t>如图</a:t>
            </a:r>
            <a:r>
              <a:rPr lang="en-US" altLang="zh-CN" b="0" dirty="0"/>
              <a:t>5-7(b)</a:t>
            </a:r>
            <a:r>
              <a:rPr lang="zh-CN" altLang="zh-CN" b="0" dirty="0"/>
              <a:t>为图</a:t>
            </a:r>
            <a:r>
              <a:rPr lang="en-US" altLang="zh-CN" b="0" dirty="0"/>
              <a:t>5-7(a)</a:t>
            </a:r>
            <a:r>
              <a:rPr lang="zh-CN" altLang="zh-CN" b="0" dirty="0"/>
              <a:t>的一般二叉树</a:t>
            </a:r>
            <a:r>
              <a:rPr lang="en-US" altLang="zh-CN" b="0" dirty="0"/>
              <a:t>T</a:t>
            </a:r>
            <a:r>
              <a:rPr lang="en-US" altLang="zh-CN" b="0" baseline="-25000" dirty="0"/>
              <a:t>2</a:t>
            </a:r>
            <a:r>
              <a:rPr lang="zh-CN" altLang="zh-CN" b="0" dirty="0"/>
              <a:t>改造后的完全二叉树，图</a:t>
            </a:r>
            <a:r>
              <a:rPr lang="en-US" altLang="zh-CN" b="0" dirty="0"/>
              <a:t>5-7(c)</a:t>
            </a:r>
            <a:r>
              <a:rPr lang="zh-CN" altLang="zh-CN" b="0" dirty="0"/>
              <a:t>为改造后的二叉树的顺序存储结构，图中以</a:t>
            </a:r>
            <a:r>
              <a:rPr lang="en-US" altLang="zh-CN" b="0" dirty="0"/>
              <a:t>"Φ"</a:t>
            </a:r>
            <a:r>
              <a:rPr lang="zh-CN" altLang="zh-CN" b="0" dirty="0"/>
              <a:t>表示不存在此结点。</a:t>
            </a:r>
          </a:p>
          <a:p>
            <a:endParaRPr lang="zh-CN" altLang="en-US" dirty="0"/>
          </a:p>
        </p:txBody>
      </p:sp>
    </p:spTree>
    <p:extLst>
      <p:ext uri="{BB962C8B-B14F-4D97-AF65-F5344CB8AC3E}">
        <p14:creationId xmlns:p14="http://schemas.microsoft.com/office/powerpoint/2010/main" val="740242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18069" y="836712"/>
            <a:ext cx="6051877"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115616" y="5486727"/>
            <a:ext cx="7704856" cy="707886"/>
          </a:xfrm>
          <a:prstGeom prst="rect">
            <a:avLst/>
          </a:prstGeom>
        </p:spPr>
        <p:txBody>
          <a:bodyPr wrap="square">
            <a:spAutoFit/>
          </a:bodyPr>
          <a:lstStyle/>
          <a:p>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在最坏的情况下，一个深度为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且只有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个结点的单支树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树中不存在度为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的结点</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却需要长度为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k</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的一维数组。</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70179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7904" y="836712"/>
            <a:ext cx="7788552" cy="3744416"/>
          </a:xfrm>
        </p:spPr>
        <p:txBody>
          <a:bodyPr>
            <a:normAutofit lnSpcReduction="10000"/>
          </a:bodyPr>
          <a:lstStyle/>
          <a:p>
            <a:r>
              <a:rPr lang="en-US" altLang="zh-CN" dirty="0"/>
              <a:t>2. </a:t>
            </a:r>
            <a:r>
              <a:rPr lang="zh-CN" altLang="zh-CN" dirty="0">
                <a:solidFill>
                  <a:srgbClr val="FF0000"/>
                </a:solidFill>
              </a:rPr>
              <a:t>链式存储结构</a:t>
            </a:r>
          </a:p>
          <a:p>
            <a:pPr>
              <a:buFont typeface="Arial" panose="020B0604020202020204" pitchFamily="34" charset="0"/>
              <a:buChar char="•"/>
            </a:pPr>
            <a:r>
              <a:rPr lang="zh-CN" altLang="zh-CN" b="0" dirty="0"/>
              <a:t>链式存储结构可以解决一般二叉树采用顺序存储结构时造成的空间浪费问题。</a:t>
            </a:r>
            <a:endParaRPr lang="en-US" altLang="zh-CN" b="0" dirty="0"/>
          </a:p>
          <a:p>
            <a:pPr>
              <a:buFont typeface="Arial" panose="020B0604020202020204" pitchFamily="34" charset="0"/>
              <a:buChar char="•"/>
            </a:pPr>
            <a:r>
              <a:rPr lang="zh-CN" altLang="zh-CN" b="0" dirty="0"/>
              <a:t>所谓链式存储方式，是指二叉树的各结点随机的存储在内存空间中，结点之间的关系用指针表示。</a:t>
            </a:r>
            <a:endParaRPr lang="en-US" altLang="zh-CN" b="0" dirty="0"/>
          </a:p>
          <a:p>
            <a:pPr>
              <a:buFont typeface="Arial" panose="020B0604020202020204" pitchFamily="34" charset="0"/>
              <a:buChar char="•"/>
            </a:pPr>
            <a:r>
              <a:rPr lang="zh-CN" altLang="zh-CN" b="0" dirty="0"/>
              <a:t>表示二叉树的链表中的结点至少</a:t>
            </a:r>
            <a:r>
              <a:rPr lang="zh-CN" altLang="zh-CN" dirty="0">
                <a:solidFill>
                  <a:srgbClr val="FF0000"/>
                </a:solidFill>
              </a:rPr>
              <a:t>包含三个域：数据域和左、右指针域</a:t>
            </a:r>
            <a:r>
              <a:rPr lang="zh-CN" altLang="en-US" dirty="0">
                <a:solidFill>
                  <a:srgbClr val="FF0000"/>
                </a:solidFill>
              </a:rPr>
              <a:t>。</a:t>
            </a:r>
            <a:endParaRPr lang="en-US" altLang="zh-CN" b="0" dirty="0"/>
          </a:p>
          <a:p>
            <a:pPr>
              <a:buFont typeface="Arial" panose="020B0604020202020204" pitchFamily="34" charset="0"/>
              <a:buChar char="•"/>
            </a:pPr>
            <a:r>
              <a:rPr lang="zh-CN" altLang="en-US" dirty="0">
                <a:solidFill>
                  <a:srgbClr val="FF0000"/>
                </a:solidFill>
              </a:rPr>
              <a:t>二叉链表</a:t>
            </a:r>
            <a:r>
              <a:rPr lang="zh-CN" altLang="en-US" b="0" dirty="0"/>
              <a:t>存储</a:t>
            </a:r>
            <a:r>
              <a:rPr lang="zh-CN" altLang="zh-CN" b="0" dirty="0"/>
              <a:t>如图</a:t>
            </a:r>
            <a:r>
              <a:rPr lang="en-US" altLang="zh-CN" b="0" dirty="0"/>
              <a:t>5-8(a)</a:t>
            </a:r>
            <a:r>
              <a:rPr lang="zh-CN" altLang="en-US" b="0" dirty="0"/>
              <a:t>，</a:t>
            </a:r>
            <a:r>
              <a:rPr lang="zh-CN" altLang="en-US" dirty="0">
                <a:solidFill>
                  <a:srgbClr val="FF0000"/>
                </a:solidFill>
              </a:rPr>
              <a:t>三叉链表</a:t>
            </a:r>
            <a:r>
              <a:rPr lang="zh-CN" altLang="en-US" b="0" dirty="0"/>
              <a:t>存储如图</a:t>
            </a:r>
            <a:r>
              <a:rPr lang="en-US" altLang="zh-CN" b="0" dirty="0"/>
              <a:t>5-8(b)</a:t>
            </a:r>
            <a:r>
              <a:rPr lang="zh-CN" altLang="en-US" b="0" dirty="0"/>
              <a:t>。</a:t>
            </a: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4725144"/>
            <a:ext cx="692150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953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124744"/>
            <a:ext cx="7520940" cy="3579849"/>
          </a:xfrm>
        </p:spPr>
        <p:txBody>
          <a:bodyPr/>
          <a:lstStyle/>
          <a:p>
            <a:r>
              <a:rPr lang="zh-CN" altLang="zh-CN" dirty="0"/>
              <a:t>如图</a:t>
            </a:r>
            <a:r>
              <a:rPr lang="en-US" altLang="zh-CN" dirty="0"/>
              <a:t>5-9</a:t>
            </a:r>
            <a:r>
              <a:rPr lang="zh-CN" altLang="zh-CN" dirty="0"/>
              <a:t>所示为单支树的二叉链表。</a:t>
            </a:r>
            <a:endParaRPr lang="zh-CN" altLang="en-US"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1988840"/>
            <a:ext cx="5505450" cy="364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7633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2643203"/>
            <a:ext cx="3888432" cy="3357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0159" y="2595980"/>
            <a:ext cx="4364511" cy="3833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1489" name="Picture 1"/>
          <p:cNvPicPr>
            <a:picLocks noChangeAspect="1" noChangeArrowheads="1"/>
          </p:cNvPicPr>
          <p:nvPr/>
        </p:nvPicPr>
        <p:blipFill>
          <a:blip r:embed="rId4" cstate="print"/>
          <a:srcRect/>
          <a:stretch>
            <a:fillRect/>
          </a:stretch>
        </p:blipFill>
        <p:spPr bwMode="auto">
          <a:xfrm>
            <a:off x="3357553" y="500042"/>
            <a:ext cx="2639959" cy="2143140"/>
          </a:xfrm>
          <a:prstGeom prst="rect">
            <a:avLst/>
          </a:prstGeom>
          <a:noFill/>
          <a:ln w="9525">
            <a:noFill/>
            <a:miter lim="800000"/>
            <a:headEnd/>
            <a:tailEnd/>
          </a:ln>
          <a:effectLst/>
        </p:spPr>
      </p:pic>
    </p:spTree>
    <p:extLst>
      <p:ext uri="{BB962C8B-B14F-4D97-AF65-F5344CB8AC3E}">
        <p14:creationId xmlns:p14="http://schemas.microsoft.com/office/powerpoint/2010/main" val="1295777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4896544"/>
          </a:xfrm>
        </p:spPr>
        <p:txBody>
          <a:bodyPr>
            <a:normAutofit/>
          </a:bodyPr>
          <a:lstStyle/>
          <a:p>
            <a:r>
              <a:rPr lang="en-US" altLang="zh-CN" sz="2000" b="0" dirty="0"/>
              <a:t>	</a:t>
            </a:r>
            <a:r>
              <a:rPr lang="zh-CN" altLang="zh-CN" sz="2000" b="0" dirty="0"/>
              <a:t>在二叉树的链式存储结构中，通常采用二叉链表来存储，二叉树的二叉链表存储结构的形式可描述如下：</a:t>
            </a:r>
          </a:p>
          <a:p>
            <a:r>
              <a:rPr lang="zh-CN" altLang="zh-CN" sz="2000" dirty="0"/>
              <a:t>算法</a:t>
            </a:r>
            <a:r>
              <a:rPr lang="en-US" altLang="zh-CN" sz="2000" dirty="0"/>
              <a:t>5.1</a:t>
            </a:r>
            <a:r>
              <a:rPr lang="zh-CN" altLang="zh-CN" sz="2000" dirty="0"/>
              <a:t>：二叉树的</a:t>
            </a:r>
            <a:r>
              <a:rPr lang="zh-CN" altLang="zh-CN" sz="2000" dirty="0">
                <a:solidFill>
                  <a:srgbClr val="FF0000"/>
                </a:solidFill>
              </a:rPr>
              <a:t>结点类</a:t>
            </a:r>
            <a:r>
              <a:rPr lang="zh-CN" altLang="zh-CN" sz="2000" dirty="0"/>
              <a:t>的声明</a:t>
            </a:r>
          </a:p>
          <a:p>
            <a:r>
              <a:rPr lang="en-US" altLang="zh-CN" sz="2000" b="0" dirty="0"/>
              <a:t>template &lt;class T&gt;</a:t>
            </a:r>
            <a:endParaRPr lang="zh-CN" altLang="zh-CN" sz="2000" b="0" dirty="0"/>
          </a:p>
          <a:p>
            <a:r>
              <a:rPr lang="en-US" altLang="zh-CN" sz="2000" b="0" dirty="0"/>
              <a:t>class </a:t>
            </a:r>
            <a:r>
              <a:rPr lang="en-US" altLang="zh-CN" sz="2000" b="0" dirty="0" err="1"/>
              <a:t>BinaryTreeNode</a:t>
            </a:r>
            <a:r>
              <a:rPr lang="en-US" altLang="zh-CN" sz="2000" b="0" dirty="0"/>
              <a:t>{</a:t>
            </a:r>
            <a:endParaRPr lang="zh-CN" altLang="zh-CN" sz="2000" b="0" dirty="0"/>
          </a:p>
          <a:p>
            <a:r>
              <a:rPr lang="en-US" altLang="zh-CN" sz="2000" b="0" dirty="0"/>
              <a:t>private:</a:t>
            </a:r>
            <a:endParaRPr lang="zh-CN" altLang="zh-CN" sz="2000" b="0" dirty="0"/>
          </a:p>
          <a:p>
            <a:r>
              <a:rPr lang="en-US" altLang="zh-CN" sz="2000" b="0" dirty="0"/>
              <a:t>    	T data;           			//</a:t>
            </a:r>
            <a:r>
              <a:rPr lang="zh-CN" altLang="zh-CN" sz="2000" b="0" dirty="0"/>
              <a:t>二叉树结点数据域</a:t>
            </a:r>
          </a:p>
          <a:p>
            <a:r>
              <a:rPr lang="en-US" altLang="zh-CN" sz="2000" b="0" dirty="0"/>
              <a:t>    	</a:t>
            </a:r>
            <a:r>
              <a:rPr lang="en-US" altLang="zh-CN" sz="2000" b="0" dirty="0" err="1"/>
              <a:t>BinaryTreeNode</a:t>
            </a:r>
            <a:r>
              <a:rPr lang="en-US" altLang="zh-CN" sz="2000" b="0" dirty="0"/>
              <a:t>&lt;T&gt;*  left; 	//</a:t>
            </a:r>
            <a:r>
              <a:rPr lang="zh-CN" altLang="zh-CN" sz="2000" b="0" dirty="0"/>
              <a:t>二叉树结点指向左子树的指针</a:t>
            </a:r>
          </a:p>
          <a:p>
            <a:r>
              <a:rPr lang="en-US" altLang="zh-CN" sz="2000" b="0" dirty="0"/>
              <a:t>	</a:t>
            </a:r>
            <a:r>
              <a:rPr lang="en-US" altLang="zh-CN" sz="2000" b="0" dirty="0" err="1"/>
              <a:t>BinaryTreeNode</a:t>
            </a:r>
            <a:r>
              <a:rPr lang="en-US" altLang="zh-CN" sz="2000" b="0" dirty="0"/>
              <a:t>&lt;T&gt;*  right; 	//</a:t>
            </a:r>
            <a:r>
              <a:rPr lang="zh-CN" altLang="zh-CN" sz="2000" b="0" dirty="0"/>
              <a:t>二叉树结点指向左子树的指针</a:t>
            </a:r>
          </a:p>
        </p:txBody>
      </p:sp>
    </p:spTree>
    <p:extLst>
      <p:ext uri="{BB962C8B-B14F-4D97-AF65-F5344CB8AC3E}">
        <p14:creationId xmlns:p14="http://schemas.microsoft.com/office/powerpoint/2010/main" val="3079132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764704"/>
            <a:ext cx="8280920" cy="5521816"/>
          </a:xfrm>
        </p:spPr>
        <p:txBody>
          <a:bodyPr>
            <a:noAutofit/>
          </a:bodyPr>
          <a:lstStyle/>
          <a:p>
            <a:pPr>
              <a:lnSpc>
                <a:spcPct val="130000"/>
              </a:lnSpc>
              <a:spcBef>
                <a:spcPts val="0"/>
              </a:spcBef>
            </a:pPr>
            <a:r>
              <a:rPr lang="en-US" altLang="zh-CN" sz="1800" b="0" dirty="0"/>
              <a:t>public:</a:t>
            </a:r>
            <a:endParaRPr lang="zh-CN" altLang="zh-CN" sz="1800" b="0" dirty="0"/>
          </a:p>
          <a:p>
            <a:pPr>
              <a:lnSpc>
                <a:spcPct val="130000"/>
              </a:lnSpc>
              <a:spcBef>
                <a:spcPts val="0"/>
              </a:spcBef>
            </a:pPr>
            <a:r>
              <a:rPr lang="en-US" altLang="zh-CN" sz="1800" b="0" dirty="0"/>
              <a:t>	</a:t>
            </a:r>
            <a:r>
              <a:rPr lang="en-US" altLang="zh-CN" sz="1800" b="0" dirty="0" err="1"/>
              <a:t>BinaryTreeNode</a:t>
            </a:r>
            <a:r>
              <a:rPr lang="en-US" altLang="zh-CN" sz="1800" b="0" dirty="0"/>
              <a:t>(); 	                   //</a:t>
            </a:r>
            <a:r>
              <a:rPr lang="zh-CN" altLang="zh-CN" sz="1800" b="0" dirty="0"/>
              <a:t>缺省构造函数</a:t>
            </a:r>
          </a:p>
          <a:p>
            <a:pPr>
              <a:lnSpc>
                <a:spcPct val="130000"/>
              </a:lnSpc>
              <a:spcBef>
                <a:spcPts val="0"/>
              </a:spcBef>
            </a:pPr>
            <a:r>
              <a:rPr lang="en-US" altLang="zh-CN" sz="1800" b="0" dirty="0"/>
              <a:t>	</a:t>
            </a:r>
            <a:r>
              <a:rPr lang="en-US" altLang="zh-CN" sz="1800" b="0" dirty="0" err="1"/>
              <a:t>BinaryTreeNode</a:t>
            </a:r>
            <a:r>
              <a:rPr lang="en-US" altLang="zh-CN" sz="1800" b="0" dirty="0"/>
              <a:t>(const T&amp; </a:t>
            </a:r>
            <a:r>
              <a:rPr lang="en-US" altLang="zh-CN" sz="1800" b="0" dirty="0" err="1"/>
              <a:t>elem</a:t>
            </a:r>
            <a:r>
              <a:rPr lang="en-US" altLang="zh-CN" sz="1800" b="0" dirty="0"/>
              <a:t>);	//</a:t>
            </a:r>
            <a:r>
              <a:rPr lang="zh-CN" altLang="zh-CN" sz="1800" b="0" dirty="0"/>
              <a:t>给定数据的构造函数</a:t>
            </a:r>
          </a:p>
          <a:p>
            <a:pPr>
              <a:lnSpc>
                <a:spcPct val="130000"/>
              </a:lnSpc>
              <a:spcBef>
                <a:spcPts val="0"/>
              </a:spcBef>
            </a:pPr>
            <a:r>
              <a:rPr lang="en-US" altLang="zh-CN" sz="1800" b="0" dirty="0"/>
              <a:t>	</a:t>
            </a:r>
            <a:r>
              <a:rPr lang="en-US" altLang="zh-CN" sz="1800" b="0" dirty="0" err="1"/>
              <a:t>BinaryTreeNode</a:t>
            </a:r>
            <a:r>
              <a:rPr lang="en-US" altLang="zh-CN" sz="1800" b="0" dirty="0"/>
              <a:t>(const T&amp; </a:t>
            </a:r>
            <a:r>
              <a:rPr lang="en-US" altLang="zh-CN" sz="1800" b="0" dirty="0" err="1"/>
              <a:t>elem</a:t>
            </a:r>
            <a:r>
              <a:rPr lang="en-US" altLang="zh-CN" sz="1800" b="0" dirty="0"/>
              <a:t>, </a:t>
            </a:r>
            <a:r>
              <a:rPr lang="en-US" altLang="zh-CN" sz="1800" b="0" dirty="0" err="1"/>
              <a:t>BinaryTreeNode</a:t>
            </a:r>
            <a:r>
              <a:rPr lang="en-US" altLang="zh-CN" sz="1800" b="0" dirty="0"/>
              <a:t>&lt;T&gt;* l, </a:t>
            </a:r>
            <a:r>
              <a:rPr lang="en-US" altLang="zh-CN" sz="1800" b="0" dirty="0" err="1"/>
              <a:t>BinaryTreeNode</a:t>
            </a:r>
            <a:r>
              <a:rPr lang="en-US" altLang="zh-CN" sz="1800" b="0" dirty="0"/>
              <a:t>&lt;T&gt;* r);</a:t>
            </a:r>
            <a:endParaRPr lang="zh-CN" altLang="zh-CN" sz="1800" b="0" dirty="0"/>
          </a:p>
          <a:p>
            <a:pPr>
              <a:lnSpc>
                <a:spcPct val="130000"/>
              </a:lnSpc>
              <a:spcBef>
                <a:spcPts val="0"/>
              </a:spcBef>
            </a:pPr>
            <a:r>
              <a:rPr lang="en-US" altLang="zh-CN" sz="1800" b="0" dirty="0"/>
              <a:t>		//</a:t>
            </a:r>
            <a:r>
              <a:rPr lang="zh-CN" altLang="zh-CN" sz="1800" b="0" dirty="0"/>
              <a:t>给定数据的左右指针的构造函数</a:t>
            </a:r>
          </a:p>
          <a:p>
            <a:pPr>
              <a:lnSpc>
                <a:spcPct val="130000"/>
              </a:lnSpc>
              <a:spcBef>
                <a:spcPts val="0"/>
              </a:spcBef>
            </a:pPr>
            <a:r>
              <a:rPr lang="en-US" altLang="zh-CN" sz="1800" b="0" dirty="0"/>
              <a:t>	~</a:t>
            </a:r>
            <a:r>
              <a:rPr lang="en-US" altLang="zh-CN" sz="1800" b="0" dirty="0" err="1"/>
              <a:t>BinaryTreeNode</a:t>
            </a:r>
            <a:r>
              <a:rPr lang="en-US" altLang="zh-CN" sz="1800" b="0" dirty="0"/>
              <a:t>(){};</a:t>
            </a:r>
            <a:endParaRPr lang="zh-CN" altLang="zh-CN" sz="1800" b="0" dirty="0"/>
          </a:p>
          <a:p>
            <a:pPr>
              <a:lnSpc>
                <a:spcPct val="130000"/>
              </a:lnSpc>
              <a:spcBef>
                <a:spcPts val="0"/>
              </a:spcBef>
            </a:pPr>
            <a:r>
              <a:rPr lang="en-US" altLang="zh-CN" sz="1800" b="0" dirty="0"/>
              <a:t>	T value() const;				//</a:t>
            </a:r>
            <a:r>
              <a:rPr lang="zh-CN" altLang="zh-CN" sz="1800" b="0" dirty="0"/>
              <a:t>返回当前结点的数据</a:t>
            </a:r>
          </a:p>
          <a:p>
            <a:pPr>
              <a:lnSpc>
                <a:spcPct val="130000"/>
              </a:lnSpc>
              <a:spcBef>
                <a:spcPts val="0"/>
              </a:spcBef>
            </a:pPr>
            <a:r>
              <a:rPr lang="en-US" altLang="zh-CN" sz="1800" b="0" dirty="0"/>
              <a:t>	</a:t>
            </a:r>
            <a:r>
              <a:rPr lang="en-US" altLang="zh-CN" sz="1800" b="0" dirty="0" err="1"/>
              <a:t>BinaryTreeNode</a:t>
            </a:r>
            <a:r>
              <a:rPr lang="en-US" altLang="zh-CN" sz="1800" b="0" dirty="0"/>
              <a:t>&lt;T&gt;*  </a:t>
            </a:r>
            <a:r>
              <a:rPr lang="en-US" altLang="zh-CN" sz="1800" b="0" dirty="0" err="1"/>
              <a:t>leftchild</a:t>
            </a:r>
            <a:r>
              <a:rPr lang="en-US" altLang="zh-CN" sz="1800" b="0" dirty="0"/>
              <a:t>() const;	//</a:t>
            </a:r>
            <a:r>
              <a:rPr lang="zh-CN" altLang="zh-CN" sz="1800" b="0" dirty="0"/>
              <a:t>返回当前结点指向左子树的指针</a:t>
            </a:r>
          </a:p>
          <a:p>
            <a:pPr>
              <a:lnSpc>
                <a:spcPct val="130000"/>
              </a:lnSpc>
              <a:spcBef>
                <a:spcPts val="0"/>
              </a:spcBef>
            </a:pPr>
            <a:r>
              <a:rPr lang="en-US" altLang="zh-CN" sz="1800" b="0" dirty="0"/>
              <a:t>	</a:t>
            </a:r>
            <a:r>
              <a:rPr lang="en-US" altLang="zh-CN" sz="1800" b="0" dirty="0" err="1"/>
              <a:t>BinaryTreeNode</a:t>
            </a:r>
            <a:r>
              <a:rPr lang="en-US" altLang="zh-CN" sz="1800" b="0" dirty="0"/>
              <a:t>&lt;T&gt;*  </a:t>
            </a:r>
            <a:r>
              <a:rPr lang="en-US" altLang="zh-CN" sz="1800" b="0" dirty="0" err="1"/>
              <a:t>rightchild</a:t>
            </a:r>
            <a:r>
              <a:rPr lang="en-US" altLang="zh-CN" sz="1800" b="0" dirty="0"/>
              <a:t>() const;	//</a:t>
            </a:r>
            <a:r>
              <a:rPr lang="zh-CN" altLang="zh-CN" sz="1800" b="0" dirty="0"/>
              <a:t>返回当前结点指向右子树的指针</a:t>
            </a:r>
          </a:p>
          <a:p>
            <a:pPr>
              <a:lnSpc>
                <a:spcPct val="130000"/>
              </a:lnSpc>
              <a:spcBef>
                <a:spcPts val="0"/>
              </a:spcBef>
            </a:pPr>
            <a:r>
              <a:rPr lang="en-US" altLang="zh-CN" sz="1800" b="0" dirty="0"/>
              <a:t>	void  </a:t>
            </a:r>
            <a:r>
              <a:rPr lang="en-US" altLang="zh-CN" sz="1800" b="0" dirty="0" err="1"/>
              <a:t>setLeftchild</a:t>
            </a:r>
            <a:r>
              <a:rPr lang="en-US" altLang="zh-CN" sz="1800" b="0" dirty="0"/>
              <a:t>(</a:t>
            </a:r>
            <a:r>
              <a:rPr lang="en-US" altLang="zh-CN" sz="1800" b="0" dirty="0" err="1"/>
              <a:t>BinaryTreeNode</a:t>
            </a:r>
            <a:r>
              <a:rPr lang="en-US" altLang="zh-CN" sz="1800" b="0" dirty="0"/>
              <a:t>&lt;T&gt;*);	//</a:t>
            </a:r>
            <a:r>
              <a:rPr lang="zh-CN" altLang="zh-CN" sz="1800" b="0" dirty="0"/>
              <a:t>设置当前结点的左子树</a:t>
            </a:r>
          </a:p>
          <a:p>
            <a:pPr>
              <a:lnSpc>
                <a:spcPct val="130000"/>
              </a:lnSpc>
              <a:spcBef>
                <a:spcPts val="0"/>
              </a:spcBef>
            </a:pPr>
            <a:r>
              <a:rPr lang="en-US" altLang="zh-CN" sz="1800" b="0" dirty="0"/>
              <a:t>	void  </a:t>
            </a:r>
            <a:r>
              <a:rPr lang="en-US" altLang="zh-CN" sz="1800" b="0" dirty="0" err="1"/>
              <a:t>setRightchild</a:t>
            </a:r>
            <a:r>
              <a:rPr lang="en-US" altLang="zh-CN" sz="1800" b="0" dirty="0"/>
              <a:t>(</a:t>
            </a:r>
            <a:r>
              <a:rPr lang="en-US" altLang="zh-CN" sz="1800" b="0" dirty="0" err="1"/>
              <a:t>BinaryTreeNode</a:t>
            </a:r>
            <a:r>
              <a:rPr lang="en-US" altLang="zh-CN" sz="1800" b="0" dirty="0"/>
              <a:t>&lt;T&gt;*);	//</a:t>
            </a:r>
            <a:r>
              <a:rPr lang="zh-CN" altLang="zh-CN" sz="1800" b="0" dirty="0"/>
              <a:t>设置当前结点的右子树</a:t>
            </a:r>
          </a:p>
          <a:p>
            <a:pPr>
              <a:lnSpc>
                <a:spcPct val="130000"/>
              </a:lnSpc>
              <a:spcBef>
                <a:spcPts val="0"/>
              </a:spcBef>
            </a:pPr>
            <a:r>
              <a:rPr lang="en-US" altLang="zh-CN" sz="1800" b="0" dirty="0"/>
              <a:t>	void  </a:t>
            </a:r>
            <a:r>
              <a:rPr lang="en-US" altLang="zh-CN" sz="1800" b="0" dirty="0" err="1"/>
              <a:t>setValue</a:t>
            </a:r>
            <a:r>
              <a:rPr lang="en-US" altLang="zh-CN" sz="1800" b="0" dirty="0"/>
              <a:t>(const T&amp; </a:t>
            </a:r>
            <a:r>
              <a:rPr lang="en-US" altLang="zh-CN" sz="1800" b="0" dirty="0" err="1"/>
              <a:t>val</a:t>
            </a:r>
            <a:r>
              <a:rPr lang="en-US" altLang="zh-CN" sz="1800" b="0" dirty="0"/>
              <a:t>);		//</a:t>
            </a:r>
            <a:r>
              <a:rPr lang="zh-CN" altLang="zh-CN" sz="1800" b="0" dirty="0"/>
              <a:t>设置当前结点的数据域</a:t>
            </a:r>
          </a:p>
          <a:p>
            <a:pPr>
              <a:lnSpc>
                <a:spcPct val="130000"/>
              </a:lnSpc>
              <a:spcBef>
                <a:spcPts val="0"/>
              </a:spcBef>
            </a:pPr>
            <a:r>
              <a:rPr lang="en-US" altLang="zh-CN" sz="1800" b="0" dirty="0"/>
              <a:t>	</a:t>
            </a:r>
            <a:r>
              <a:rPr lang="en-US" altLang="zh-CN" sz="1800" b="0" dirty="0" err="1"/>
              <a:t>bool</a:t>
            </a:r>
            <a:r>
              <a:rPr lang="en-US" altLang="zh-CN" sz="1800" b="0" dirty="0"/>
              <a:t>  </a:t>
            </a:r>
            <a:r>
              <a:rPr lang="en-US" altLang="zh-CN" sz="1800" b="0" dirty="0" err="1"/>
              <a:t>isLeaf</a:t>
            </a:r>
            <a:r>
              <a:rPr lang="en-US" altLang="zh-CN" sz="1800" b="0" dirty="0"/>
              <a:t>() const;		//</a:t>
            </a:r>
            <a:r>
              <a:rPr lang="zh-CN" altLang="zh-CN" sz="1800" b="0" dirty="0"/>
              <a:t>判定当前结点是否为叶结点</a:t>
            </a:r>
            <a:r>
              <a:rPr lang="en-US" altLang="zh-CN" sz="1800" b="0" dirty="0"/>
              <a:t>,</a:t>
            </a:r>
            <a:r>
              <a:rPr lang="zh-CN" altLang="zh-CN" sz="1800" b="0" dirty="0"/>
              <a:t>若是返回</a:t>
            </a:r>
            <a:r>
              <a:rPr lang="en-US" altLang="zh-CN" sz="1800" b="0" dirty="0"/>
              <a:t>true</a:t>
            </a:r>
            <a:endParaRPr lang="zh-CN" altLang="zh-CN" sz="1800" b="0" dirty="0"/>
          </a:p>
          <a:p>
            <a:pPr>
              <a:lnSpc>
                <a:spcPct val="130000"/>
              </a:lnSpc>
              <a:spcBef>
                <a:spcPts val="0"/>
              </a:spcBef>
            </a:pPr>
            <a:r>
              <a:rPr lang="en-US" altLang="zh-CN" sz="1800" b="0" dirty="0"/>
              <a:t>};</a:t>
            </a:r>
            <a:endParaRPr lang="zh-CN" altLang="zh-CN" sz="1800" b="0" dirty="0"/>
          </a:p>
        </p:txBody>
      </p:sp>
    </p:spTree>
    <p:extLst>
      <p:ext uri="{BB962C8B-B14F-4D97-AF65-F5344CB8AC3E}">
        <p14:creationId xmlns:p14="http://schemas.microsoft.com/office/powerpoint/2010/main" val="1645763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856984" cy="5472608"/>
          </a:xfrm>
        </p:spPr>
        <p:txBody>
          <a:bodyPr>
            <a:noAutofit/>
          </a:bodyPr>
          <a:lstStyle/>
          <a:p>
            <a:pPr>
              <a:lnSpc>
                <a:spcPct val="110000"/>
              </a:lnSpc>
              <a:spcBef>
                <a:spcPts val="0"/>
              </a:spcBef>
            </a:pPr>
            <a:r>
              <a:rPr lang="zh-CN" altLang="zh-CN" sz="2000" dirty="0"/>
              <a:t>算法</a:t>
            </a:r>
            <a:r>
              <a:rPr lang="en-US" altLang="zh-CN" sz="2000" dirty="0"/>
              <a:t>5.2</a:t>
            </a:r>
            <a:r>
              <a:rPr lang="zh-CN" altLang="zh-CN" sz="2000" dirty="0"/>
              <a:t>：</a:t>
            </a:r>
            <a:r>
              <a:rPr lang="zh-CN" altLang="zh-CN" sz="2000" dirty="0">
                <a:solidFill>
                  <a:srgbClr val="FF0000"/>
                </a:solidFill>
              </a:rPr>
              <a:t>二叉树类</a:t>
            </a:r>
            <a:r>
              <a:rPr lang="zh-CN" altLang="zh-CN" sz="2000" dirty="0"/>
              <a:t>定义：</a:t>
            </a:r>
          </a:p>
          <a:p>
            <a:pPr>
              <a:lnSpc>
                <a:spcPct val="110000"/>
              </a:lnSpc>
              <a:spcBef>
                <a:spcPts val="0"/>
              </a:spcBef>
            </a:pPr>
            <a:r>
              <a:rPr lang="en-US" altLang="zh-CN" sz="2000" b="0" dirty="0"/>
              <a:t>template &lt;class T&gt;</a:t>
            </a:r>
            <a:endParaRPr lang="zh-CN" altLang="zh-CN" sz="2000" b="0" dirty="0"/>
          </a:p>
          <a:p>
            <a:pPr>
              <a:lnSpc>
                <a:spcPct val="110000"/>
              </a:lnSpc>
              <a:spcBef>
                <a:spcPts val="0"/>
              </a:spcBef>
            </a:pPr>
            <a:r>
              <a:rPr lang="en-US" altLang="zh-CN" sz="2000" b="0" dirty="0"/>
              <a:t>class </a:t>
            </a:r>
            <a:r>
              <a:rPr lang="en-US" altLang="zh-CN" sz="2000" b="0" dirty="0" err="1"/>
              <a:t>BinaryTree</a:t>
            </a:r>
            <a:r>
              <a:rPr lang="en-US" altLang="zh-CN" sz="2000" b="0" dirty="0"/>
              <a:t>{</a:t>
            </a:r>
            <a:endParaRPr lang="zh-CN" altLang="zh-CN" sz="2000" b="0" dirty="0"/>
          </a:p>
          <a:p>
            <a:pPr>
              <a:lnSpc>
                <a:spcPct val="110000"/>
              </a:lnSpc>
              <a:spcBef>
                <a:spcPts val="0"/>
              </a:spcBef>
            </a:pPr>
            <a:r>
              <a:rPr lang="en-US" altLang="zh-CN" sz="2000" b="0" dirty="0"/>
              <a:t>protected:</a:t>
            </a:r>
            <a:endParaRPr lang="zh-CN" altLang="zh-CN" sz="2000" b="0" dirty="0"/>
          </a:p>
          <a:p>
            <a:pPr>
              <a:lnSpc>
                <a:spcPct val="110000"/>
              </a:lnSpc>
              <a:spcBef>
                <a:spcPts val="0"/>
              </a:spcBef>
            </a:pPr>
            <a:r>
              <a:rPr lang="en-US" altLang="zh-CN" sz="2000" b="0" dirty="0"/>
              <a:t>    </a:t>
            </a:r>
            <a:r>
              <a:rPr lang="en-US" altLang="zh-CN" sz="2000" b="0" dirty="0" err="1"/>
              <a:t>BinaryTreeNode</a:t>
            </a:r>
            <a:r>
              <a:rPr lang="en-US" altLang="zh-CN" sz="2000" b="0" dirty="0"/>
              <a:t>&lt;T&gt;* root;        			//</a:t>
            </a:r>
            <a:r>
              <a:rPr lang="zh-CN" altLang="zh-CN" sz="2000" b="0" dirty="0"/>
              <a:t>二叉树根结点指针</a:t>
            </a:r>
          </a:p>
          <a:p>
            <a:pPr>
              <a:lnSpc>
                <a:spcPct val="110000"/>
              </a:lnSpc>
              <a:spcBef>
                <a:spcPts val="0"/>
              </a:spcBef>
            </a:pPr>
            <a:r>
              <a:rPr lang="en-US" altLang="zh-CN" sz="2000" b="0" dirty="0"/>
              <a:t>public:</a:t>
            </a:r>
            <a:endParaRPr lang="zh-CN" altLang="zh-CN" sz="2000" b="0" dirty="0"/>
          </a:p>
          <a:p>
            <a:pPr>
              <a:lnSpc>
                <a:spcPct val="110000"/>
              </a:lnSpc>
              <a:spcBef>
                <a:spcPts val="0"/>
              </a:spcBef>
            </a:pPr>
            <a:r>
              <a:rPr lang="en-US" altLang="zh-CN" sz="2000" b="0" dirty="0"/>
              <a:t>    </a:t>
            </a:r>
            <a:r>
              <a:rPr lang="en-US" altLang="zh-CN" sz="2000" b="0" dirty="0" err="1"/>
              <a:t>BinaryTree</a:t>
            </a:r>
            <a:r>
              <a:rPr lang="en-US" altLang="zh-CN" sz="2000" b="0" dirty="0"/>
              <a:t>() {root = NULL;} 			//</a:t>
            </a:r>
            <a:r>
              <a:rPr lang="zh-CN" altLang="zh-CN" sz="2000" b="0" dirty="0"/>
              <a:t>构造函数</a:t>
            </a:r>
          </a:p>
          <a:p>
            <a:pPr>
              <a:lnSpc>
                <a:spcPct val="110000"/>
              </a:lnSpc>
              <a:spcBef>
                <a:spcPts val="0"/>
              </a:spcBef>
            </a:pPr>
            <a:r>
              <a:rPr lang="en-US" altLang="zh-CN" sz="2000" b="0" dirty="0"/>
              <a:t>    </a:t>
            </a:r>
            <a:r>
              <a:rPr lang="en-US" altLang="zh-CN" sz="2000" b="0" dirty="0" err="1"/>
              <a:t>BinaryTree</a:t>
            </a:r>
            <a:r>
              <a:rPr lang="en-US" altLang="zh-CN" sz="2000" b="0" dirty="0"/>
              <a:t>(</a:t>
            </a:r>
            <a:r>
              <a:rPr lang="en-US" altLang="zh-CN" sz="2000" b="0" dirty="0" err="1"/>
              <a:t>BinaryTreeNode</a:t>
            </a:r>
            <a:r>
              <a:rPr lang="en-US" altLang="zh-CN" sz="2000" b="0" dirty="0"/>
              <a:t>&lt;T&gt;* r) {root = r;}</a:t>
            </a:r>
            <a:endParaRPr lang="zh-CN" altLang="zh-CN" sz="2000" b="0" dirty="0"/>
          </a:p>
          <a:p>
            <a:pPr>
              <a:lnSpc>
                <a:spcPct val="110000"/>
              </a:lnSpc>
              <a:spcBef>
                <a:spcPts val="0"/>
              </a:spcBef>
            </a:pPr>
            <a:r>
              <a:rPr lang="en-US" altLang="zh-CN" sz="2000" b="0" dirty="0"/>
              <a:t>    ~</a:t>
            </a:r>
            <a:r>
              <a:rPr lang="en-US" altLang="zh-CN" sz="2000" b="0" dirty="0" err="1"/>
              <a:t>BinaryTree</a:t>
            </a:r>
            <a:r>
              <a:rPr lang="en-US" altLang="zh-CN" sz="2000" b="0" dirty="0"/>
              <a:t>() { </a:t>
            </a:r>
            <a:r>
              <a:rPr lang="en-US" altLang="zh-CN" sz="2000" b="0" dirty="0" err="1"/>
              <a:t>DeleteBinaryTree</a:t>
            </a:r>
            <a:r>
              <a:rPr lang="en-US" altLang="zh-CN" sz="2000" b="0" dirty="0"/>
              <a:t>(root); };    	//</a:t>
            </a:r>
            <a:r>
              <a:rPr lang="zh-CN" altLang="zh-CN" sz="2000" b="0" dirty="0"/>
              <a:t>析构函数</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err="1"/>
              <a:t>isEmpty</a:t>
            </a:r>
            <a:r>
              <a:rPr lang="en-US" altLang="zh-CN" sz="2000" b="0" dirty="0"/>
              <a:t>() { return root==NULL; };  		//</a:t>
            </a:r>
            <a:r>
              <a:rPr lang="zh-CN" altLang="zh-CN" sz="2000" b="0" dirty="0"/>
              <a:t>判断二叉树是否为空树</a:t>
            </a:r>
          </a:p>
          <a:p>
            <a:pPr>
              <a:lnSpc>
                <a:spcPct val="110000"/>
              </a:lnSpc>
              <a:spcBef>
                <a:spcPts val="0"/>
              </a:spcBef>
            </a:pPr>
            <a:r>
              <a:rPr lang="en-US" altLang="zh-CN" sz="2000" b="0" dirty="0"/>
              <a:t>    void visit(</a:t>
            </a:r>
            <a:r>
              <a:rPr lang="en-US" altLang="zh-CN" sz="2000" b="0" dirty="0" err="1"/>
              <a:t>BinaryTree</a:t>
            </a:r>
            <a:r>
              <a:rPr lang="en-US" altLang="zh-CN" sz="2000" b="0" dirty="0"/>
              <a:t>&lt;T&gt;&amp; </a:t>
            </a:r>
            <a:r>
              <a:rPr lang="en-US" altLang="zh-CN" sz="2000" b="0" dirty="0" err="1"/>
              <a:t>curr</a:t>
            </a:r>
            <a:r>
              <a:rPr lang="en-US" altLang="zh-CN" sz="2000" b="0" dirty="0"/>
              <a:t>){</a:t>
            </a:r>
            <a:r>
              <a:rPr lang="en-US" altLang="zh-CN" sz="2000" b="0" dirty="0" err="1"/>
              <a:t>cout</a:t>
            </a:r>
            <a:r>
              <a:rPr lang="en-US" altLang="zh-CN" sz="2000" b="0" dirty="0"/>
              <a:t> &lt;&lt;</a:t>
            </a:r>
            <a:r>
              <a:rPr lang="en-US" altLang="zh-CN" sz="2000" b="0" dirty="0" err="1"/>
              <a:t>curr</a:t>
            </a:r>
            <a:r>
              <a:rPr lang="en-US" altLang="zh-CN" sz="2000" b="0" dirty="0"/>
              <a:t>-&gt;data &lt;&lt; " ";} //</a:t>
            </a:r>
            <a:r>
              <a:rPr lang="zh-CN" altLang="zh-CN" sz="2000" b="0" dirty="0"/>
              <a:t>访问当前结点</a:t>
            </a:r>
          </a:p>
          <a:p>
            <a:pPr>
              <a:lnSpc>
                <a:spcPct val="110000"/>
              </a:lnSpc>
              <a:spcBef>
                <a:spcPts val="0"/>
              </a:spcBef>
            </a:pPr>
            <a:r>
              <a:rPr lang="en-US" altLang="zh-CN" sz="2000" b="0" dirty="0"/>
              <a:t>    </a:t>
            </a:r>
            <a:r>
              <a:rPr lang="en-US" altLang="zh-CN" sz="2000" b="0" dirty="0" err="1"/>
              <a:t>BinaryTreeNode</a:t>
            </a:r>
            <a:r>
              <a:rPr lang="en-US" altLang="zh-CN" sz="2000" b="0" dirty="0"/>
              <a:t>&lt;T&gt;*&amp; Root() {return root;};   	//</a:t>
            </a:r>
            <a:r>
              <a:rPr lang="zh-CN" altLang="zh-CN" sz="2000" b="0" dirty="0"/>
              <a:t>返回二叉树的根结点</a:t>
            </a:r>
          </a:p>
          <a:p>
            <a:pPr>
              <a:lnSpc>
                <a:spcPct val="110000"/>
              </a:lnSpc>
              <a:spcBef>
                <a:spcPts val="0"/>
              </a:spcBef>
            </a:pPr>
            <a:r>
              <a:rPr lang="en-US" altLang="zh-CN" sz="2000" b="0" dirty="0"/>
              <a:t>    void </a:t>
            </a:r>
            <a:r>
              <a:rPr lang="en-US" altLang="zh-CN" sz="2000" b="0" dirty="0" err="1"/>
              <a:t>CreateTree</a:t>
            </a:r>
            <a:r>
              <a:rPr lang="en-US" altLang="zh-CN" sz="2000" b="0" dirty="0"/>
              <a:t>(const T&amp; data, </a:t>
            </a:r>
            <a:r>
              <a:rPr lang="en-US" altLang="zh-CN" sz="2000" b="0" dirty="0" err="1"/>
              <a:t>BinaryTreeNode</a:t>
            </a:r>
            <a:r>
              <a:rPr lang="en-US" altLang="zh-CN" sz="2000" b="0" dirty="0"/>
              <a:t>&lt;T&gt;* left-tree, </a:t>
            </a:r>
            <a:r>
              <a:rPr lang="en-US" altLang="zh-CN" sz="2000" b="0" dirty="0" err="1"/>
              <a:t>BinaryTreeNode</a:t>
            </a:r>
            <a:r>
              <a:rPr lang="en-US" altLang="zh-CN" sz="2000" b="0" dirty="0"/>
              <a:t>&lt;T&gt;* right-tree);</a:t>
            </a:r>
          </a:p>
          <a:p>
            <a:pPr>
              <a:lnSpc>
                <a:spcPct val="110000"/>
              </a:lnSpc>
              <a:spcBef>
                <a:spcPts val="0"/>
              </a:spcBef>
            </a:pPr>
            <a:r>
              <a:rPr lang="en-US" altLang="zh-CN" sz="2000" b="0" dirty="0"/>
              <a:t>	//</a:t>
            </a:r>
            <a:r>
              <a:rPr lang="zh-CN" altLang="zh-CN" sz="2000" b="0" dirty="0"/>
              <a:t>以</a:t>
            </a:r>
            <a:r>
              <a:rPr lang="en-US" altLang="zh-CN" sz="2000" b="0" dirty="0"/>
              <a:t>data</a:t>
            </a:r>
            <a:r>
              <a:rPr lang="zh-CN" altLang="zh-CN" sz="2000" b="0" dirty="0"/>
              <a:t>作为根结点，</a:t>
            </a:r>
            <a:r>
              <a:rPr lang="en-US" altLang="zh-CN" sz="2000" b="0" dirty="0" err="1"/>
              <a:t>ltree</a:t>
            </a:r>
            <a:r>
              <a:rPr lang="zh-CN" altLang="zh-CN" sz="2000" b="0" dirty="0"/>
              <a:t>作为树的左子树，</a:t>
            </a:r>
            <a:r>
              <a:rPr lang="en-US" altLang="zh-CN" sz="2000" b="0" dirty="0" err="1"/>
              <a:t>rtree</a:t>
            </a:r>
            <a:r>
              <a:rPr lang="zh-CN" altLang="zh-CN" sz="2000" b="0" dirty="0"/>
              <a:t>作为树的右子树，构造一棵新二叉树</a:t>
            </a:r>
            <a:r>
              <a:rPr lang="en-US" altLang="zh-CN" sz="2000" b="0" dirty="0"/>
              <a:t> </a:t>
            </a:r>
            <a:endParaRPr lang="zh-CN" altLang="zh-CN" sz="2000" b="0" dirty="0"/>
          </a:p>
        </p:txBody>
      </p:sp>
    </p:spTree>
    <p:extLst>
      <p:ext uri="{BB962C8B-B14F-4D97-AF65-F5344CB8AC3E}">
        <p14:creationId xmlns:p14="http://schemas.microsoft.com/office/powerpoint/2010/main" val="1174285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8"/>
            <a:ext cx="8964488" cy="5544616"/>
          </a:xfrm>
        </p:spPr>
        <p:txBody>
          <a:bodyPr>
            <a:noAutofit/>
          </a:bodyPr>
          <a:lstStyle/>
          <a:p>
            <a:pPr>
              <a:spcBef>
                <a:spcPts val="600"/>
              </a:spcBef>
            </a:pPr>
            <a:r>
              <a:rPr lang="en-US" altLang="zh-CN" sz="2000" b="0" dirty="0"/>
              <a:t>	void </a:t>
            </a:r>
            <a:r>
              <a:rPr lang="en-US" altLang="zh-CN" sz="2000" b="0" dirty="0" err="1"/>
              <a:t>CreateTree</a:t>
            </a:r>
            <a:r>
              <a:rPr lang="en-US" altLang="zh-CN" sz="2000" b="0" dirty="0"/>
              <a:t>(</a:t>
            </a:r>
            <a:r>
              <a:rPr lang="en-US" altLang="zh-CN" sz="2000" b="0" dirty="0" err="1"/>
              <a:t>BinaryTreeNode</a:t>
            </a:r>
            <a:r>
              <a:rPr lang="en-US" altLang="zh-CN" sz="2000" b="0" dirty="0"/>
              <a:t>&lt;T&gt; *&amp;r); //</a:t>
            </a:r>
            <a:r>
              <a:rPr lang="zh-CN" altLang="zh-CN" sz="2000" b="0" dirty="0"/>
              <a:t>根据先序遍历序列构造二叉树</a:t>
            </a:r>
          </a:p>
          <a:p>
            <a:pPr>
              <a:spcBef>
                <a:spcPts val="600"/>
              </a:spcBef>
            </a:pPr>
            <a:r>
              <a:rPr lang="en-US" altLang="zh-CN" sz="2000" b="0" dirty="0"/>
              <a:t>	void </a:t>
            </a:r>
            <a:r>
              <a:rPr lang="en-US" altLang="zh-CN" sz="2000" b="0" dirty="0" err="1"/>
              <a:t>DeleteBinaryTree</a:t>
            </a:r>
            <a:r>
              <a:rPr lang="en-US" altLang="zh-CN" sz="2000" b="0" dirty="0"/>
              <a:t>(</a:t>
            </a:r>
            <a:r>
              <a:rPr lang="en-US" altLang="zh-CN" sz="2000" b="0" dirty="0" err="1"/>
              <a:t>BinaryTreeNode</a:t>
            </a:r>
            <a:r>
              <a:rPr lang="en-US" altLang="zh-CN" sz="2000" b="0" dirty="0"/>
              <a:t>&lt;T&gt;* root); //</a:t>
            </a:r>
            <a:r>
              <a:rPr lang="zh-CN" altLang="zh-CN" sz="2000" b="0" dirty="0"/>
              <a:t>删除二叉树</a:t>
            </a:r>
            <a:r>
              <a:rPr lang="zh-CN" altLang="en-US" sz="2000" b="0" dirty="0"/>
              <a:t>及其</a:t>
            </a:r>
            <a:r>
              <a:rPr lang="zh-CN" altLang="zh-CN" sz="2000" b="0" dirty="0"/>
              <a:t>子树</a:t>
            </a:r>
          </a:p>
          <a:p>
            <a:pPr>
              <a:spcBef>
                <a:spcPts val="600"/>
              </a:spcBef>
            </a:pPr>
            <a:r>
              <a:rPr lang="en-US" altLang="zh-CN" sz="2000" b="0" dirty="0"/>
              <a:t>	void </a:t>
            </a:r>
            <a:r>
              <a:rPr lang="en-US" altLang="zh-CN" sz="2000" b="0" dirty="0" err="1"/>
              <a:t>PreOrder</a:t>
            </a:r>
            <a:r>
              <a:rPr lang="en-US" altLang="zh-CN" sz="2000" b="0" dirty="0"/>
              <a:t>(</a:t>
            </a:r>
            <a:r>
              <a:rPr lang="en-US" altLang="zh-CN" sz="2000" b="0" dirty="0" err="1"/>
              <a:t>BinaryTreeNode</a:t>
            </a:r>
            <a:r>
              <a:rPr lang="en-US" altLang="zh-CN" sz="2000" b="0" dirty="0"/>
              <a:t>&lt;T&gt;* root); 	//</a:t>
            </a:r>
            <a:r>
              <a:rPr lang="zh-CN" altLang="zh-CN" sz="2000" b="0" dirty="0"/>
              <a:t>前序遍历二叉树或其子树</a:t>
            </a:r>
          </a:p>
          <a:p>
            <a:pPr>
              <a:spcBef>
                <a:spcPts val="600"/>
              </a:spcBef>
            </a:pPr>
            <a:r>
              <a:rPr lang="en-US" altLang="zh-CN" sz="2000" b="0" dirty="0"/>
              <a:t>	void </a:t>
            </a:r>
            <a:r>
              <a:rPr lang="en-US" altLang="zh-CN" sz="2000" b="0" dirty="0" err="1"/>
              <a:t>InOrder</a:t>
            </a:r>
            <a:r>
              <a:rPr lang="en-US" altLang="zh-CN" sz="2000" b="0" dirty="0"/>
              <a:t>(</a:t>
            </a:r>
            <a:r>
              <a:rPr lang="en-US" altLang="zh-CN" sz="2000" b="0" dirty="0" err="1"/>
              <a:t>BinaryTreeNode</a:t>
            </a:r>
            <a:r>
              <a:rPr lang="en-US" altLang="zh-CN" sz="2000" b="0" dirty="0"/>
              <a:t>&lt;T&gt;* root); 	//</a:t>
            </a:r>
            <a:r>
              <a:rPr lang="zh-CN" altLang="zh-CN" sz="2000" b="0" dirty="0"/>
              <a:t>中序遍历二叉树或其子树</a:t>
            </a:r>
          </a:p>
          <a:p>
            <a:pPr>
              <a:spcBef>
                <a:spcPts val="600"/>
              </a:spcBef>
            </a:pPr>
            <a:r>
              <a:rPr lang="en-US" altLang="zh-CN" sz="2000" b="0" dirty="0"/>
              <a:t>	void </a:t>
            </a:r>
            <a:r>
              <a:rPr lang="en-US" altLang="zh-CN" sz="2000" b="0" dirty="0" err="1"/>
              <a:t>PostOrder</a:t>
            </a:r>
            <a:r>
              <a:rPr lang="en-US" altLang="zh-CN" sz="2000" b="0" dirty="0"/>
              <a:t>(</a:t>
            </a:r>
            <a:r>
              <a:rPr lang="en-US" altLang="zh-CN" sz="2000" b="0" dirty="0" err="1"/>
              <a:t>BinaryTreeNode</a:t>
            </a:r>
            <a:r>
              <a:rPr lang="en-US" altLang="zh-CN" sz="2000" b="0" dirty="0"/>
              <a:t>&lt;T&gt;* root); 	//</a:t>
            </a:r>
            <a:r>
              <a:rPr lang="zh-CN" altLang="zh-CN" sz="2000" b="0" dirty="0"/>
              <a:t>后序遍历二叉树或其子树</a:t>
            </a:r>
          </a:p>
          <a:p>
            <a:pPr>
              <a:spcBef>
                <a:spcPts val="600"/>
              </a:spcBef>
            </a:pPr>
            <a:r>
              <a:rPr lang="en-US" altLang="zh-CN" sz="2000" b="0" dirty="0"/>
              <a:t>	void </a:t>
            </a:r>
            <a:r>
              <a:rPr lang="en-US" altLang="zh-CN" sz="2000" b="0" dirty="0" err="1"/>
              <a:t>PreOrderWithoutRecusion</a:t>
            </a:r>
            <a:r>
              <a:rPr lang="en-US" altLang="zh-CN" sz="2000" b="0" dirty="0"/>
              <a:t>(</a:t>
            </a:r>
            <a:r>
              <a:rPr lang="en-US" altLang="zh-CN" sz="2000" b="0" dirty="0" err="1"/>
              <a:t>BinaryTreeNode</a:t>
            </a:r>
            <a:r>
              <a:rPr lang="en-US" altLang="zh-CN" sz="2000" b="0" dirty="0"/>
              <a:t>&lt;T&gt;* root);//</a:t>
            </a:r>
            <a:r>
              <a:rPr lang="zh-CN" altLang="zh-CN" sz="2000" b="0" dirty="0"/>
              <a:t>非递归前序遍历</a:t>
            </a:r>
          </a:p>
          <a:p>
            <a:pPr>
              <a:spcBef>
                <a:spcPts val="600"/>
              </a:spcBef>
            </a:pPr>
            <a:r>
              <a:rPr lang="en-US" altLang="zh-CN" sz="2000" b="0" dirty="0"/>
              <a:t>	void </a:t>
            </a:r>
            <a:r>
              <a:rPr lang="en-US" altLang="zh-CN" sz="2000" b="0" dirty="0" err="1"/>
              <a:t>InOrderWithoutRecusion</a:t>
            </a:r>
            <a:r>
              <a:rPr lang="en-US" altLang="zh-CN" sz="2000" b="0" dirty="0"/>
              <a:t>(</a:t>
            </a:r>
            <a:r>
              <a:rPr lang="en-US" altLang="zh-CN" sz="2000" b="0" dirty="0" err="1"/>
              <a:t>BinaryTreeNode</a:t>
            </a:r>
            <a:r>
              <a:rPr lang="en-US" altLang="zh-CN" sz="2000" b="0" dirty="0"/>
              <a:t>&lt;T&gt;* root); //</a:t>
            </a:r>
            <a:r>
              <a:rPr lang="zh-CN" altLang="zh-CN" sz="2000" b="0" dirty="0"/>
              <a:t>非递归中序遍历</a:t>
            </a:r>
          </a:p>
          <a:p>
            <a:pPr>
              <a:spcBef>
                <a:spcPts val="600"/>
              </a:spcBef>
            </a:pPr>
            <a:r>
              <a:rPr lang="en-US" altLang="zh-CN" sz="2000" b="0" dirty="0"/>
              <a:t>	void </a:t>
            </a:r>
            <a:r>
              <a:rPr lang="en-US" altLang="zh-CN" sz="2000" b="0" dirty="0" err="1"/>
              <a:t>PostOrderWithoutRecusion</a:t>
            </a:r>
            <a:r>
              <a:rPr lang="en-US" altLang="zh-CN" sz="2000" b="0" dirty="0"/>
              <a:t>(</a:t>
            </a:r>
            <a:r>
              <a:rPr lang="en-US" altLang="zh-CN" sz="2000" b="0" dirty="0" err="1"/>
              <a:t>BinaryTreeNode</a:t>
            </a:r>
            <a:r>
              <a:rPr lang="en-US" altLang="zh-CN" sz="2000" b="0" dirty="0"/>
              <a:t>&lt;T&gt;* root);//</a:t>
            </a:r>
            <a:r>
              <a:rPr lang="zh-CN" altLang="zh-CN" sz="2000" b="0" dirty="0"/>
              <a:t>非递归后序遍历</a:t>
            </a:r>
          </a:p>
          <a:p>
            <a:pPr>
              <a:spcBef>
                <a:spcPts val="600"/>
              </a:spcBef>
            </a:pPr>
            <a:r>
              <a:rPr lang="en-US" altLang="zh-CN" sz="2000" b="0" dirty="0"/>
              <a:t>	void </a:t>
            </a:r>
            <a:r>
              <a:rPr lang="en-US" altLang="zh-CN" sz="2000" b="0" dirty="0" err="1"/>
              <a:t>LevelOrder</a:t>
            </a:r>
            <a:r>
              <a:rPr lang="en-US" altLang="zh-CN" sz="2000" b="0" dirty="0"/>
              <a:t>(</a:t>
            </a:r>
            <a:r>
              <a:rPr lang="en-US" altLang="zh-CN" sz="2000" b="0" dirty="0" err="1"/>
              <a:t>BinaryTreeNode</a:t>
            </a:r>
            <a:r>
              <a:rPr lang="en-US" altLang="zh-CN" sz="2000" b="0" dirty="0"/>
              <a:t>&lt;T&gt;* root);	 //</a:t>
            </a:r>
            <a:r>
              <a:rPr lang="zh-CN" altLang="zh-CN" sz="2000" b="0" dirty="0"/>
              <a:t>按层次遍历二叉树或其子树</a:t>
            </a:r>
          </a:p>
          <a:p>
            <a:pPr>
              <a:spcBef>
                <a:spcPts val="600"/>
              </a:spcBef>
            </a:pPr>
            <a:r>
              <a:rPr lang="en-US" altLang="zh-CN" sz="2000" b="0" dirty="0"/>
              <a:t>};</a:t>
            </a:r>
            <a:endParaRPr lang="zh-CN" altLang="zh-CN" sz="2000" b="0" dirty="0"/>
          </a:p>
          <a:p>
            <a:pPr>
              <a:spcBef>
                <a:spcPts val="600"/>
              </a:spcBef>
            </a:pPr>
            <a:endParaRPr lang="zh-CN" altLang="en-US" sz="2000" dirty="0"/>
          </a:p>
        </p:txBody>
      </p:sp>
    </p:spTree>
    <p:extLst>
      <p:ext uri="{BB962C8B-B14F-4D97-AF65-F5344CB8AC3E}">
        <p14:creationId xmlns:p14="http://schemas.microsoft.com/office/powerpoint/2010/main" val="3865861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 </a:t>
            </a:r>
            <a:r>
              <a:rPr lang="zh-CN" altLang="zh-CN" b="1" dirty="0"/>
              <a:t>二叉树的遍历</a:t>
            </a:r>
            <a:endParaRPr lang="zh-CN" altLang="en-US" dirty="0"/>
          </a:p>
        </p:txBody>
      </p:sp>
      <p:sp>
        <p:nvSpPr>
          <p:cNvPr id="3" name="内容占位符 2"/>
          <p:cNvSpPr>
            <a:spLocks noGrp="1"/>
          </p:cNvSpPr>
          <p:nvPr>
            <p:ph idx="1"/>
          </p:nvPr>
        </p:nvSpPr>
        <p:spPr>
          <a:xfrm>
            <a:off x="827584" y="1556792"/>
            <a:ext cx="7520940" cy="4752528"/>
          </a:xfrm>
        </p:spPr>
        <p:txBody>
          <a:bodyPr>
            <a:normAutofit fontScale="92500" lnSpcReduction="10000"/>
          </a:bodyPr>
          <a:lstStyle/>
          <a:p>
            <a:pPr>
              <a:buFont typeface="Arial" panose="020B0604020202020204" pitchFamily="34" charset="0"/>
              <a:buChar char="•"/>
            </a:pPr>
            <a:r>
              <a:rPr lang="zh-CN" altLang="zh-CN" b="0" dirty="0"/>
              <a:t>由二叉树的递归定义可知，一棵非空的二叉树是由三个基本部分组成：根结点，左子树和右子树。</a:t>
            </a:r>
            <a:endParaRPr lang="en-US" altLang="zh-CN" b="0" dirty="0"/>
          </a:p>
          <a:p>
            <a:pPr>
              <a:buFont typeface="Arial" panose="020B0604020202020204" pitchFamily="34" charset="0"/>
              <a:buChar char="•"/>
            </a:pPr>
            <a:r>
              <a:rPr lang="zh-CN" altLang="zh-CN" b="0" dirty="0"/>
              <a:t>假设以</a:t>
            </a:r>
            <a:r>
              <a:rPr lang="en-US" altLang="zh-CN" b="0" dirty="0">
                <a:solidFill>
                  <a:srgbClr val="FF0000"/>
                </a:solidFill>
              </a:rPr>
              <a:t>D</a:t>
            </a:r>
            <a:r>
              <a:rPr lang="zh-CN" altLang="zh-CN" b="0" dirty="0">
                <a:solidFill>
                  <a:srgbClr val="FF0000"/>
                </a:solidFill>
              </a:rPr>
              <a:t>、</a:t>
            </a:r>
            <a:r>
              <a:rPr lang="en-US" altLang="zh-CN" b="0" dirty="0">
                <a:solidFill>
                  <a:srgbClr val="FF0000"/>
                </a:solidFill>
              </a:rPr>
              <a:t>L</a:t>
            </a:r>
            <a:r>
              <a:rPr lang="zh-CN" altLang="zh-CN" b="0" dirty="0">
                <a:solidFill>
                  <a:srgbClr val="FF0000"/>
                </a:solidFill>
              </a:rPr>
              <a:t>、</a:t>
            </a:r>
            <a:r>
              <a:rPr lang="en-US" altLang="zh-CN" b="0" dirty="0">
                <a:solidFill>
                  <a:srgbClr val="FF0000"/>
                </a:solidFill>
              </a:rPr>
              <a:t>R</a:t>
            </a:r>
            <a:r>
              <a:rPr lang="zh-CN" altLang="zh-CN" b="0" dirty="0">
                <a:solidFill>
                  <a:srgbClr val="FF0000"/>
                </a:solidFill>
              </a:rPr>
              <a:t>分别表示</a:t>
            </a:r>
            <a:r>
              <a:rPr lang="zh-CN" altLang="zh-CN" b="0" dirty="0"/>
              <a:t>访问根结点</a:t>
            </a:r>
            <a:r>
              <a:rPr lang="zh-CN" altLang="en-US" b="0" dirty="0"/>
              <a:t>、</a:t>
            </a:r>
            <a:r>
              <a:rPr lang="zh-CN" altLang="zh-CN" b="0" dirty="0"/>
              <a:t>遍历左子树</a:t>
            </a:r>
            <a:r>
              <a:rPr lang="zh-CN" altLang="en-US" b="0" dirty="0"/>
              <a:t>、</a:t>
            </a:r>
            <a:r>
              <a:rPr lang="zh-CN" altLang="zh-CN" b="0" dirty="0"/>
              <a:t>遍历右子树，那么就会有六种遍历方案：</a:t>
            </a:r>
            <a:r>
              <a:rPr lang="en-US" altLang="zh-CN" b="0" dirty="0">
                <a:solidFill>
                  <a:srgbClr val="FF0000"/>
                </a:solidFill>
              </a:rPr>
              <a:t>DLR</a:t>
            </a:r>
            <a:r>
              <a:rPr lang="zh-CN" altLang="zh-CN" b="0" dirty="0">
                <a:solidFill>
                  <a:srgbClr val="FF0000"/>
                </a:solidFill>
              </a:rPr>
              <a:t>、</a:t>
            </a:r>
            <a:r>
              <a:rPr lang="en-US" altLang="zh-CN" b="0" dirty="0">
                <a:solidFill>
                  <a:srgbClr val="FF0000"/>
                </a:solidFill>
              </a:rPr>
              <a:t>LDR</a:t>
            </a:r>
            <a:r>
              <a:rPr lang="zh-CN" altLang="zh-CN" b="0" dirty="0">
                <a:solidFill>
                  <a:srgbClr val="FF0000"/>
                </a:solidFill>
              </a:rPr>
              <a:t>、</a:t>
            </a:r>
            <a:r>
              <a:rPr lang="en-US" altLang="zh-CN" b="0" dirty="0">
                <a:solidFill>
                  <a:srgbClr val="FF0000"/>
                </a:solidFill>
              </a:rPr>
              <a:t>LRD</a:t>
            </a:r>
            <a:r>
              <a:rPr lang="zh-CN" altLang="zh-CN" b="0" dirty="0">
                <a:solidFill>
                  <a:srgbClr val="FF0000"/>
                </a:solidFill>
              </a:rPr>
              <a:t>、</a:t>
            </a:r>
            <a:r>
              <a:rPr lang="en-US" altLang="zh-CN" b="0" dirty="0">
                <a:solidFill>
                  <a:srgbClr val="FF0000"/>
                </a:solidFill>
              </a:rPr>
              <a:t>DRL</a:t>
            </a:r>
            <a:r>
              <a:rPr lang="zh-CN" altLang="zh-CN" b="0" dirty="0">
                <a:solidFill>
                  <a:srgbClr val="FF0000"/>
                </a:solidFill>
              </a:rPr>
              <a:t>、</a:t>
            </a:r>
            <a:r>
              <a:rPr lang="en-US" altLang="zh-CN" b="0" dirty="0">
                <a:solidFill>
                  <a:srgbClr val="FF0000"/>
                </a:solidFill>
              </a:rPr>
              <a:t>RDL</a:t>
            </a:r>
            <a:r>
              <a:rPr lang="zh-CN" altLang="zh-CN" b="0" dirty="0">
                <a:solidFill>
                  <a:srgbClr val="FF0000"/>
                </a:solidFill>
              </a:rPr>
              <a:t>、</a:t>
            </a:r>
            <a:r>
              <a:rPr lang="en-US" altLang="zh-CN" b="0" dirty="0">
                <a:solidFill>
                  <a:srgbClr val="FF0000"/>
                </a:solidFill>
              </a:rPr>
              <a:t>RLD</a:t>
            </a:r>
            <a:r>
              <a:rPr lang="zh-CN" altLang="zh-CN" b="0" dirty="0"/>
              <a:t>。</a:t>
            </a:r>
            <a:endParaRPr lang="en-US" altLang="zh-CN" b="0" dirty="0"/>
          </a:p>
          <a:p>
            <a:pPr>
              <a:buFont typeface="Arial" panose="020B0604020202020204" pitchFamily="34" charset="0"/>
              <a:buChar char="•"/>
            </a:pPr>
            <a:r>
              <a:rPr lang="zh-CN" altLang="zh-CN" b="0" dirty="0"/>
              <a:t>经常用到的次序总是先左</a:t>
            </a:r>
            <a:r>
              <a:rPr lang="en-US" altLang="zh-CN" b="0" dirty="0"/>
              <a:t>(L)</a:t>
            </a:r>
            <a:r>
              <a:rPr lang="zh-CN" altLang="zh-CN" b="0" dirty="0"/>
              <a:t>后右</a:t>
            </a:r>
            <a:r>
              <a:rPr lang="en-US" altLang="zh-CN" b="0" dirty="0"/>
              <a:t>(R)</a:t>
            </a:r>
            <a:r>
              <a:rPr lang="zh-CN" altLang="zh-CN" b="0" dirty="0"/>
              <a:t>，再把根结点穿插于其中，就构成了</a:t>
            </a:r>
            <a:r>
              <a:rPr lang="zh-CN" altLang="zh-CN" b="0" dirty="0">
                <a:solidFill>
                  <a:srgbClr val="FF0000"/>
                </a:solidFill>
              </a:rPr>
              <a:t>常见的三种遍历</a:t>
            </a:r>
            <a:r>
              <a:rPr lang="zh-CN" altLang="en-US" b="0" dirty="0">
                <a:solidFill>
                  <a:srgbClr val="FF0000"/>
                </a:solidFill>
              </a:rPr>
              <a:t>：</a:t>
            </a:r>
            <a:endParaRPr lang="en-US" altLang="zh-CN" b="0" dirty="0">
              <a:solidFill>
                <a:srgbClr val="FF0000"/>
              </a:solidFill>
            </a:endParaRPr>
          </a:p>
          <a:p>
            <a:pPr lvl="3">
              <a:buFont typeface="Arial" panose="020B0604020202020204" pitchFamily="34" charset="0"/>
              <a:buChar char="•"/>
            </a:pPr>
            <a:r>
              <a:rPr lang="zh-CN" altLang="zh-CN" b="0" dirty="0">
                <a:solidFill>
                  <a:srgbClr val="FF0000"/>
                </a:solidFill>
              </a:rPr>
              <a:t>先序</a:t>
            </a:r>
            <a:r>
              <a:rPr lang="en-US" altLang="zh-CN" b="0" dirty="0">
                <a:solidFill>
                  <a:srgbClr val="FF0000"/>
                </a:solidFill>
              </a:rPr>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遍历</a:t>
            </a:r>
            <a:r>
              <a:rPr lang="en-US" altLang="zh-CN" b="0" dirty="0">
                <a:solidFill>
                  <a:srgbClr val="FF0000"/>
                </a:solidFill>
              </a:rPr>
              <a:t> </a:t>
            </a:r>
            <a:r>
              <a:rPr lang="en-US" altLang="zh-CN" b="0" dirty="0"/>
              <a:t>(Preorder Traversal)</a:t>
            </a:r>
            <a:r>
              <a:rPr lang="zh-CN" altLang="en-US" b="0" dirty="0"/>
              <a:t>；</a:t>
            </a:r>
            <a:endParaRPr lang="en-US" altLang="zh-CN" b="0" dirty="0"/>
          </a:p>
          <a:p>
            <a:pPr lvl="3">
              <a:buFont typeface="Arial" panose="020B0604020202020204" pitchFamily="34" charset="0"/>
              <a:buChar char="•"/>
            </a:pPr>
            <a:r>
              <a:rPr lang="zh-CN" altLang="zh-CN" b="0" dirty="0">
                <a:solidFill>
                  <a:srgbClr val="FF0000"/>
                </a:solidFill>
              </a:rPr>
              <a:t>中序</a:t>
            </a:r>
            <a:r>
              <a:rPr lang="en-US" altLang="zh-CN" b="0" dirty="0">
                <a:solidFill>
                  <a:srgbClr val="FF0000"/>
                </a:solidFill>
              </a:rPr>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遍历</a:t>
            </a:r>
            <a:r>
              <a:rPr lang="en-US" altLang="zh-CN" b="0" dirty="0">
                <a:solidFill>
                  <a:srgbClr val="FF0000"/>
                </a:solidFill>
              </a:rPr>
              <a:t> </a:t>
            </a:r>
            <a:r>
              <a:rPr lang="en-US" altLang="zh-CN" b="0" dirty="0"/>
              <a:t>(</a:t>
            </a:r>
            <a:r>
              <a:rPr lang="en-US" altLang="zh-CN" b="0" dirty="0" err="1"/>
              <a:t>Inorder</a:t>
            </a:r>
            <a:r>
              <a:rPr lang="en-US" altLang="zh-CN" b="0" dirty="0"/>
              <a:t> Traversal)</a:t>
            </a:r>
            <a:r>
              <a:rPr lang="zh-CN" altLang="en-US" b="0" dirty="0"/>
              <a:t>；</a:t>
            </a:r>
            <a:endParaRPr lang="en-US" altLang="zh-CN" b="0" dirty="0"/>
          </a:p>
          <a:p>
            <a:pPr lvl="3">
              <a:buFont typeface="Arial" panose="020B0604020202020204" pitchFamily="34" charset="0"/>
              <a:buChar char="•"/>
            </a:pPr>
            <a:r>
              <a:rPr lang="zh-CN" altLang="zh-CN" b="0" dirty="0">
                <a:solidFill>
                  <a:srgbClr val="FF0000"/>
                </a:solidFill>
              </a:rPr>
              <a:t>后序</a:t>
            </a:r>
            <a:r>
              <a:rPr lang="en-US" altLang="zh-CN" b="0" dirty="0">
                <a:solidFill>
                  <a:srgbClr val="FF0000"/>
                </a:solidFill>
              </a:rPr>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遍历</a:t>
            </a:r>
            <a:r>
              <a:rPr lang="en-US" altLang="zh-CN" b="0" dirty="0">
                <a:solidFill>
                  <a:srgbClr val="FF0000"/>
                </a:solidFill>
              </a:rPr>
              <a:t> </a:t>
            </a:r>
            <a:r>
              <a:rPr lang="en-US" altLang="zh-CN" b="0" dirty="0"/>
              <a:t>(</a:t>
            </a:r>
            <a:r>
              <a:rPr lang="en-US" altLang="zh-CN" b="0" dirty="0" err="1"/>
              <a:t>Postorder</a:t>
            </a:r>
            <a:r>
              <a:rPr lang="en-US" altLang="zh-CN" b="0" dirty="0"/>
              <a:t> Traversal)</a:t>
            </a:r>
            <a:r>
              <a:rPr lang="zh-CN" altLang="zh-CN" b="0" dirty="0"/>
              <a:t>。</a:t>
            </a:r>
            <a:endParaRPr lang="en-US" altLang="zh-CN" b="0" dirty="0"/>
          </a:p>
          <a:p>
            <a:pPr>
              <a:buFont typeface="Arial" panose="020B0604020202020204" pitchFamily="34" charset="0"/>
              <a:buChar char="•"/>
            </a:pPr>
            <a:r>
              <a:rPr lang="zh-CN" altLang="zh-CN" b="0" dirty="0"/>
              <a:t>遍历的次序不同，导致结果不同。</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7715272" y="500042"/>
            <a:ext cx="539750" cy="547511"/>
          </a:xfrm>
          <a:prstGeom prst="rect">
            <a:avLst/>
          </a:prstGeom>
        </p:spPr>
      </p:pic>
    </p:spTree>
    <p:extLst>
      <p:ext uri="{BB962C8B-B14F-4D97-AF65-F5344CB8AC3E}">
        <p14:creationId xmlns:p14="http://schemas.microsoft.com/office/powerpoint/2010/main" val="1513347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5.3.1 </a:t>
            </a:r>
            <a:r>
              <a:rPr lang="zh-CN" altLang="zh-CN" b="1" dirty="0"/>
              <a:t>二叉树的先序遍历</a:t>
            </a:r>
            <a:endParaRPr lang="zh-CN" altLang="en-US" dirty="0"/>
          </a:p>
        </p:txBody>
      </p:sp>
      <p:sp>
        <p:nvSpPr>
          <p:cNvPr id="3" name="内容占位符 2"/>
          <p:cNvSpPr>
            <a:spLocks noGrp="1"/>
          </p:cNvSpPr>
          <p:nvPr>
            <p:ph idx="1"/>
          </p:nvPr>
        </p:nvSpPr>
        <p:spPr>
          <a:xfrm>
            <a:off x="395536" y="1628800"/>
            <a:ext cx="8496944" cy="4320480"/>
          </a:xfrm>
        </p:spPr>
        <p:txBody>
          <a:bodyPr>
            <a:normAutofit/>
          </a:bodyPr>
          <a:lstStyle/>
          <a:p>
            <a:r>
              <a:rPr lang="zh-CN" altLang="zh-CN" b="0" dirty="0">
                <a:solidFill>
                  <a:srgbClr val="FF0000"/>
                </a:solidFill>
              </a:rPr>
              <a:t>先序遍历算法的递归定义如下</a:t>
            </a:r>
            <a:r>
              <a:rPr lang="zh-CN" altLang="zh-CN" b="0" dirty="0"/>
              <a:t>：</a:t>
            </a:r>
          </a:p>
          <a:p>
            <a:r>
              <a:rPr lang="en-US" altLang="zh-CN" b="0" dirty="0"/>
              <a:t>	</a:t>
            </a:r>
            <a:r>
              <a:rPr lang="zh-CN" altLang="zh-CN" b="0" dirty="0"/>
              <a:t>若二叉树为空，则遍历结束；</a:t>
            </a:r>
            <a:endParaRPr lang="en-US" altLang="zh-CN" b="0" dirty="0"/>
          </a:p>
          <a:p>
            <a:r>
              <a:rPr lang="en-US" altLang="zh-CN" b="0" dirty="0"/>
              <a:t>	</a:t>
            </a:r>
            <a:r>
              <a:rPr lang="zh-CN" altLang="zh-CN" b="0" dirty="0"/>
              <a:t>否则：</a:t>
            </a:r>
          </a:p>
          <a:p>
            <a:r>
              <a:rPr lang="en-US" altLang="zh-CN" b="0" dirty="0"/>
              <a:t>		(1) </a:t>
            </a:r>
            <a:r>
              <a:rPr lang="zh-CN" altLang="zh-CN" b="0" dirty="0"/>
              <a:t>访问根结点；</a:t>
            </a:r>
          </a:p>
          <a:p>
            <a:r>
              <a:rPr lang="en-US" altLang="zh-CN" b="0" dirty="0"/>
              <a:t>		(2) </a:t>
            </a:r>
            <a:r>
              <a:rPr lang="zh-CN" altLang="zh-CN" b="0" dirty="0"/>
              <a:t>先序遍历左子树；</a:t>
            </a:r>
          </a:p>
          <a:p>
            <a:r>
              <a:rPr lang="en-US" altLang="zh-CN" b="0" dirty="0"/>
              <a:t>		(3) </a:t>
            </a:r>
            <a:r>
              <a:rPr lang="zh-CN" altLang="zh-CN" b="0" dirty="0"/>
              <a:t>先序遍历右子树。</a:t>
            </a:r>
            <a:endParaRPr lang="en-US" altLang="zh-CN" b="0" dirty="0"/>
          </a:p>
          <a:p>
            <a:endParaRPr lang="zh-CN" altLang="zh-CN" b="0" dirty="0"/>
          </a:p>
          <a:p>
            <a:r>
              <a:rPr lang="en-US" altLang="zh-CN" b="0" dirty="0"/>
              <a:t>	</a:t>
            </a:r>
            <a:r>
              <a:rPr lang="zh-CN" altLang="zh-CN" b="0" dirty="0"/>
              <a:t>即，按照</a:t>
            </a:r>
            <a:r>
              <a:rPr lang="en-US" altLang="zh-CN" b="0" dirty="0"/>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右子树</a:t>
            </a:r>
            <a:r>
              <a:rPr lang="en-US" altLang="zh-CN" b="0" dirty="0"/>
              <a:t>”</a:t>
            </a:r>
            <a:r>
              <a:rPr lang="zh-CN" altLang="zh-CN" b="0" dirty="0"/>
              <a:t>的次序递归地遍历二叉树。</a:t>
            </a:r>
          </a:p>
        </p:txBody>
      </p:sp>
    </p:spTree>
    <p:extLst>
      <p:ext uri="{BB962C8B-B14F-4D97-AF65-F5344CB8AC3E}">
        <p14:creationId xmlns:p14="http://schemas.microsoft.com/office/powerpoint/2010/main" val="2786051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4824536"/>
          </a:xfrm>
        </p:spPr>
        <p:txBody>
          <a:bodyPr>
            <a:normAutofit fontScale="92500"/>
          </a:bodyPr>
          <a:lstStyle/>
          <a:p>
            <a:r>
              <a:rPr lang="zh-CN" altLang="zh-CN" dirty="0"/>
              <a:t>算法</a:t>
            </a:r>
            <a:r>
              <a:rPr lang="en-US" altLang="zh-CN" dirty="0"/>
              <a:t>5.3</a:t>
            </a:r>
            <a:r>
              <a:rPr lang="zh-CN" altLang="zh-CN" dirty="0"/>
              <a:t>：</a:t>
            </a:r>
            <a:r>
              <a:rPr lang="zh-CN" altLang="zh-CN" dirty="0">
                <a:solidFill>
                  <a:srgbClr val="FF0000"/>
                </a:solidFill>
              </a:rPr>
              <a:t>先序遍历二叉树的递归算法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a:t>PreOrder</a:t>
            </a:r>
            <a:r>
              <a:rPr lang="en-US" altLang="zh-CN" b="0" dirty="0"/>
              <a:t>(</a:t>
            </a:r>
            <a:r>
              <a:rPr lang="en-US" altLang="zh-CN" b="0" dirty="0" err="1"/>
              <a:t>BinaryTreeNode</a:t>
            </a:r>
            <a:r>
              <a:rPr lang="en-US" altLang="zh-CN" b="0" dirty="0"/>
              <a:t>&lt;T&gt;* root){</a:t>
            </a:r>
            <a:endParaRPr lang="zh-CN" altLang="zh-CN" b="0" dirty="0"/>
          </a:p>
          <a:p>
            <a:r>
              <a:rPr lang="en-US" altLang="zh-CN" b="0" dirty="0"/>
              <a:t>    if (root == NULL)  return;</a:t>
            </a:r>
            <a:endParaRPr lang="zh-CN" altLang="zh-CN" b="0" dirty="0"/>
          </a:p>
          <a:p>
            <a:r>
              <a:rPr lang="en-US" altLang="zh-CN" b="0" dirty="0"/>
              <a:t>    visit(root-&gt;value());			//</a:t>
            </a:r>
            <a:r>
              <a:rPr lang="zh-CN" altLang="zh-CN" b="0" dirty="0"/>
              <a:t>访问根结点</a:t>
            </a:r>
          </a:p>
          <a:p>
            <a:r>
              <a:rPr lang="en-US" altLang="zh-CN" b="0" dirty="0"/>
              <a:t>    </a:t>
            </a:r>
            <a:r>
              <a:rPr lang="en-US" altLang="zh-CN" b="0" dirty="0" err="1"/>
              <a:t>PreOrder</a:t>
            </a:r>
            <a:r>
              <a:rPr lang="en-US" altLang="zh-CN" b="0" dirty="0"/>
              <a:t>(root-&gt;</a:t>
            </a:r>
            <a:r>
              <a:rPr lang="en-US" altLang="zh-CN" b="0" dirty="0" err="1"/>
              <a:t>leftchild</a:t>
            </a:r>
            <a:r>
              <a:rPr lang="en-US" altLang="zh-CN" b="0" dirty="0"/>
              <a:t>());		//</a:t>
            </a:r>
            <a:r>
              <a:rPr lang="zh-CN" altLang="zh-CN" b="0" dirty="0"/>
              <a:t>先序遍历左子树</a:t>
            </a:r>
          </a:p>
          <a:p>
            <a:r>
              <a:rPr lang="en-US" altLang="zh-CN" b="0" dirty="0"/>
              <a:t>    </a:t>
            </a:r>
            <a:r>
              <a:rPr lang="en-US" altLang="zh-CN" b="0" dirty="0" err="1"/>
              <a:t>PreOrder</a:t>
            </a:r>
            <a:r>
              <a:rPr lang="en-US" altLang="zh-CN" b="0" dirty="0"/>
              <a:t>(root-&gt;</a:t>
            </a:r>
            <a:r>
              <a:rPr lang="en-US" altLang="zh-CN" b="0" dirty="0" err="1"/>
              <a:t>rightchild</a:t>
            </a:r>
            <a:r>
              <a:rPr lang="en-US" altLang="zh-CN" b="0" dirty="0"/>
              <a:t>());		//</a:t>
            </a:r>
            <a:r>
              <a:rPr lang="zh-CN" altLang="zh-CN" b="0" dirty="0"/>
              <a:t>先序遍历右子树</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4140708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1484784"/>
            <a:ext cx="4239863" cy="3091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475656" y="5085184"/>
            <a:ext cx="5328592" cy="1015663"/>
          </a:xfrm>
          <a:prstGeom prst="rect">
            <a:avLst/>
          </a:prstGeom>
        </p:spPr>
        <p:txBody>
          <a:bodyPr wrap="square">
            <a:spAutoFit/>
          </a:bodyPr>
          <a:lstStyle/>
          <a:p>
            <a:pPr>
              <a:lnSpc>
                <a:spcPct val="15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所示二叉树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的先序遍历序列为：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ABDECFHIGJ</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2040" y="1340768"/>
            <a:ext cx="3961010" cy="3017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0402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2060848"/>
            <a:ext cx="7344816" cy="3579849"/>
          </a:xfrm>
        </p:spPr>
        <p:txBody>
          <a:bodyPr>
            <a:normAutofit/>
          </a:bodyPr>
          <a:lstStyle/>
          <a:p>
            <a:pPr>
              <a:buFont typeface="Arial" panose="020B0604020202020204" pitchFamily="34" charset="0"/>
              <a:buChar char="•"/>
            </a:pPr>
            <a:r>
              <a:rPr lang="zh-CN" altLang="zh-CN" b="0" dirty="0"/>
              <a:t>将递归算法改写为非递归算法，需要设置一个堆栈，用以保存结点指针。</a:t>
            </a:r>
            <a:endParaRPr lang="en-US" altLang="zh-CN" b="0" dirty="0"/>
          </a:p>
          <a:p>
            <a:pPr>
              <a:buFont typeface="Arial" panose="020B0604020202020204" pitchFamily="34" charset="0"/>
              <a:buChar char="•"/>
            </a:pPr>
            <a:r>
              <a:rPr lang="zh-CN" altLang="zh-CN" b="0" dirty="0"/>
              <a:t>保存结点的目的有两个：</a:t>
            </a:r>
            <a:endParaRPr lang="en-US" altLang="zh-CN" b="0" dirty="0"/>
          </a:p>
          <a:p>
            <a:r>
              <a:rPr lang="zh-CN" altLang="zh-CN" b="0" dirty="0"/>
              <a:t>①访问该结点；</a:t>
            </a:r>
            <a:endParaRPr lang="en-US" altLang="zh-CN" b="0" dirty="0"/>
          </a:p>
          <a:p>
            <a:r>
              <a:rPr lang="zh-CN" altLang="zh-CN" b="0" dirty="0"/>
              <a:t>②获得该结点的左右子树，当该结点的左子树遍历完后能够回溯，然后遍历其右子树。</a:t>
            </a:r>
            <a:endParaRPr lang="zh-CN" altLang="en-US" b="0" dirty="0"/>
          </a:p>
        </p:txBody>
      </p:sp>
      <p:sp>
        <p:nvSpPr>
          <p:cNvPr id="5" name="内容占位符 2"/>
          <p:cNvSpPr txBox="1">
            <a:spLocks/>
          </p:cNvSpPr>
          <p:nvPr/>
        </p:nvSpPr>
        <p:spPr>
          <a:xfrm>
            <a:off x="1109880" y="908720"/>
            <a:ext cx="6912768" cy="936104"/>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r>
              <a:rPr lang="zh-CN" altLang="en-US" sz="3200" dirty="0">
                <a:solidFill>
                  <a:srgbClr val="0000FF"/>
                </a:solidFill>
              </a:rPr>
              <a:t>二叉树遍历的</a:t>
            </a:r>
            <a:r>
              <a:rPr lang="zh-CN" altLang="zh-CN" sz="3200" dirty="0">
                <a:solidFill>
                  <a:srgbClr val="0000FF"/>
                </a:solidFill>
              </a:rPr>
              <a:t>非递归算法</a:t>
            </a:r>
            <a:r>
              <a:rPr lang="zh-CN" altLang="en-US" sz="3200" dirty="0">
                <a:solidFill>
                  <a:srgbClr val="0000FF"/>
                </a:solidFill>
              </a:rPr>
              <a:t>：</a:t>
            </a:r>
            <a:endParaRPr lang="en-US" altLang="zh-CN" sz="3200" dirty="0">
              <a:solidFill>
                <a:srgbClr val="0000FF"/>
              </a:solidFill>
            </a:endParaRPr>
          </a:p>
        </p:txBody>
      </p:sp>
    </p:spTree>
    <p:extLst>
      <p:ext uri="{BB962C8B-B14F-4D97-AF65-F5344CB8AC3E}">
        <p14:creationId xmlns:p14="http://schemas.microsoft.com/office/powerpoint/2010/main" val="223441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71472" y="1571612"/>
            <a:ext cx="8280920" cy="3600986"/>
          </a:xfrm>
          <a:prstGeom prst="rect">
            <a:avLst/>
          </a:prstGeom>
        </p:spPr>
        <p:txBody>
          <a:bodyPr wrap="square">
            <a:spAutoFit/>
          </a:bodyPr>
          <a:lstStyle/>
          <a:p>
            <a:r>
              <a:rPr lang="zh-CN" altLang="en-US" sz="2800" dirty="0">
                <a:solidFill>
                  <a:srgbClr val="0000FF"/>
                </a:solidFill>
                <a:latin typeface="+mn-ea"/>
              </a:rPr>
              <a:t>二叉树先遍历的</a:t>
            </a:r>
            <a:r>
              <a:rPr lang="zh-CN" altLang="zh-CN" sz="2800" dirty="0">
                <a:solidFill>
                  <a:srgbClr val="0000FF"/>
                </a:solidFill>
                <a:latin typeface="+mn-ea"/>
              </a:rPr>
              <a:t>非递归算法</a:t>
            </a:r>
            <a:r>
              <a:rPr lang="zh-CN" altLang="en-US" sz="2800" dirty="0">
                <a:solidFill>
                  <a:srgbClr val="0000FF"/>
                </a:solidFill>
                <a:latin typeface="+mn-ea"/>
              </a:rPr>
              <a:t>思想：</a:t>
            </a:r>
            <a:endParaRPr lang="en-US" altLang="zh-CN" sz="2800" dirty="0">
              <a:solidFill>
                <a:srgbClr val="0000FF"/>
              </a:solidFill>
              <a:latin typeface="+mn-ea"/>
            </a:endParaRPr>
          </a:p>
          <a:p>
            <a:endParaRPr lang="en-US" altLang="zh-CN" sz="2000" dirty="0">
              <a:solidFill>
                <a:srgbClr val="0000FF"/>
              </a:solidFill>
            </a:endParaRPr>
          </a:p>
          <a:p>
            <a:pPr>
              <a:buClr>
                <a:schemeClr val="folHlink"/>
              </a:buClr>
              <a:buSzPct val="85000"/>
            </a:pPr>
            <a:r>
              <a:rPr kumimoji="1" lang="zh-CN" altLang="en-US" b="1" dirty="0">
                <a:solidFill>
                  <a:srgbClr val="FF0066"/>
                </a:solidFill>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1</a:t>
            </a:r>
            <a:r>
              <a:rPr kumimoji="1" lang="zh-CN" altLang="en-US" sz="2000" dirty="0">
                <a:solidFill>
                  <a:schemeClr val="accent3">
                    <a:lumMod val="75000"/>
                  </a:schemeClr>
                </a:solidFill>
                <a:latin typeface="黑体" pitchFamily="49" charset="-122"/>
                <a:ea typeface="黑体" pitchFamily="49" charset="-122"/>
              </a:rPr>
              <a:t>：将栈置空，同时将二叉树的根结点</a:t>
            </a:r>
            <a:r>
              <a:rPr kumimoji="1" lang="en-US" altLang="zh-CN" sz="2000" dirty="0">
                <a:solidFill>
                  <a:schemeClr val="accent3">
                    <a:lumMod val="75000"/>
                  </a:schemeClr>
                </a:solidFill>
                <a:latin typeface="黑体" pitchFamily="49" charset="-122"/>
                <a:ea typeface="黑体" pitchFamily="49" charset="-122"/>
              </a:rPr>
              <a:t>BT</a:t>
            </a:r>
            <a:r>
              <a:rPr kumimoji="1" lang="zh-CN" altLang="en-US" sz="2000" dirty="0">
                <a:solidFill>
                  <a:schemeClr val="accent3">
                    <a:lumMod val="75000"/>
                  </a:schemeClr>
                </a:solidFill>
                <a:latin typeface="黑体" pitchFamily="49" charset="-122"/>
                <a:ea typeface="黑体" pitchFamily="49" charset="-122"/>
              </a:rPr>
              <a:t>赋值给指针变量</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2</a:t>
            </a:r>
            <a:r>
              <a:rPr kumimoji="1" lang="zh-CN" altLang="en-US" sz="2000" dirty="0">
                <a:solidFill>
                  <a:schemeClr val="accent3">
                    <a:lumMod val="75000"/>
                  </a:schemeClr>
                </a:solidFill>
                <a:latin typeface="黑体" pitchFamily="49" charset="-122"/>
                <a:ea typeface="黑体" pitchFamily="49" charset="-122"/>
              </a:rPr>
              <a:t>：若</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不空，访问结点</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，并将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入栈，然后将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指向</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结点的左孩子结          点，如此重复进行，直到</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为空为止。</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3</a:t>
            </a:r>
            <a:r>
              <a:rPr kumimoji="1" lang="zh-CN" altLang="en-US" sz="2000" dirty="0">
                <a:solidFill>
                  <a:schemeClr val="accent3">
                    <a:lumMod val="75000"/>
                  </a:schemeClr>
                </a:solidFill>
                <a:latin typeface="黑体" pitchFamily="49" charset="-122"/>
                <a:ea typeface="黑体" pitchFamily="49" charset="-122"/>
              </a:rPr>
              <a:t>：如果栈不空，从栈中弹出元素指针变量</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 并将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指向</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结点的右孩子结点。</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4</a:t>
            </a:r>
            <a:r>
              <a:rPr kumimoji="1" lang="zh-CN" altLang="en-US" sz="2000" dirty="0">
                <a:solidFill>
                  <a:schemeClr val="accent3">
                    <a:lumMod val="75000"/>
                  </a:schemeClr>
                </a:solidFill>
                <a:latin typeface="黑体" pitchFamily="49" charset="-122"/>
                <a:ea typeface="黑体" pitchFamily="49" charset="-122"/>
              </a:rPr>
              <a:t>：重复</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2</a:t>
            </a:r>
            <a:r>
              <a:rPr kumimoji="1" lang="zh-CN" altLang="en-US" sz="2000" dirty="0">
                <a:solidFill>
                  <a:schemeClr val="accent3">
                    <a:lumMod val="75000"/>
                  </a:schemeClr>
                </a:solidFill>
                <a:latin typeface="黑体" pitchFamily="49" charset="-122"/>
                <a:ea typeface="黑体" pitchFamily="49" charset="-122"/>
              </a:rPr>
              <a:t>和</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3</a:t>
            </a:r>
            <a:r>
              <a:rPr kumimoji="1" lang="zh-CN" altLang="en-US" sz="2000" dirty="0">
                <a:solidFill>
                  <a:schemeClr val="accent3">
                    <a:lumMod val="75000"/>
                  </a:schemeClr>
                </a:solidFill>
                <a:latin typeface="黑体" pitchFamily="49" charset="-122"/>
                <a:ea typeface="黑体" pitchFamily="49" charset="-122"/>
              </a:rPr>
              <a:t>，直到</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为空和栈也为空为止。</a:t>
            </a:r>
            <a:endParaRPr lang="zh-CN" altLang="en-US" sz="2000" dirty="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8" y="896685"/>
            <a:ext cx="8280920" cy="5509200"/>
          </a:xfrm>
          <a:prstGeom prst="rect">
            <a:avLst/>
          </a:prstGeom>
        </p:spPr>
        <p:txBody>
          <a:bodyPr wrap="square">
            <a:spAutoFit/>
          </a:bodyPr>
          <a:lstStyle/>
          <a:p>
            <a:pPr>
              <a:lnSpc>
                <a:spcPct val="110000"/>
              </a:lnSpc>
            </a:pP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5.4</a:t>
            </a: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先序遍历二叉树的</a:t>
            </a:r>
            <a:r>
              <a:rPr lang="zh-CN"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非递归算法</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template&lt;class T&gt;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void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PreOrderWithoutRecusion</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&lt;T&gt; * root){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stack&lt;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 &gt;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tStack</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 pointer = root; </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while(!</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tStack.empty</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pointer){</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if (pointer){</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visit(pointer-&gt;value());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访问当前结点</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tStack.push</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(pointer);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当前结点地址入栈</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pointer = pointer-&gt;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leftchild</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当前链接结构指向左孩子</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else{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左子树访问完毕，转向访问右子树</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pointer =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tStack.top</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当前链接结构指向栈顶的元素</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tStack.pop();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栈顶元素出栈</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pointer = pointer-&gt;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rightchild</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20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20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20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20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2000"/>
                                        <p:tgtEl>
                                          <p:spTgt spid="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15" end="15"/>
                                            </p:txEl>
                                          </p:spTgt>
                                        </p:tgtEl>
                                        <p:attrNameLst>
                                          <p:attrName>style.visibility</p:attrName>
                                        </p:attrNameLst>
                                      </p:cBhvr>
                                      <p:to>
                                        <p:strVal val="visible"/>
                                      </p:to>
                                    </p:set>
                                    <p:animEffect transition="in" filter="fade">
                                      <p:cBhvr>
                                        <p:cTn id="82" dur="20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8" y="692696"/>
            <a:ext cx="8280920" cy="5632311"/>
          </a:xfrm>
          <a:prstGeom prst="rect">
            <a:avLst/>
          </a:prstGeom>
        </p:spPr>
        <p:txBody>
          <a:bodyPr wrap="square">
            <a:spAutoFit/>
          </a:bodyPr>
          <a:lstStyle/>
          <a:p>
            <a:r>
              <a:rPr kumimoji="1" lang="zh-CN" altLang="en-US" sz="2000" dirty="0"/>
              <a:t>为了更加直观地看出前序算法的时间复杂度，将</a:t>
            </a:r>
            <a:r>
              <a:rPr kumimoji="1" lang="zh-CN" altLang="en-US" sz="2000" i="1" u="sng" dirty="0">
                <a:solidFill>
                  <a:srgbClr val="FF0066"/>
                </a:solidFill>
              </a:rPr>
              <a:t>算法</a:t>
            </a:r>
            <a:r>
              <a:rPr kumimoji="1" lang="zh-CN" altLang="en-US" sz="2000" dirty="0"/>
              <a:t>书写为</a:t>
            </a:r>
            <a:r>
              <a:rPr kumimoji="1" lang="zh-CN" altLang="en-US" sz="2000" b="1" dirty="0">
                <a:solidFill>
                  <a:srgbClr val="FF0066"/>
                </a:solidFill>
              </a:rPr>
              <a:t>：</a:t>
            </a:r>
          </a:p>
          <a:p>
            <a:r>
              <a:rPr kumimoji="1" lang="zh-CN" altLang="en-US" b="1" dirty="0">
                <a:solidFill>
                  <a:srgbClr val="FF0066"/>
                </a:solidFill>
              </a:rPr>
              <a:t>  </a:t>
            </a:r>
            <a:r>
              <a:rPr kumimoji="1" lang="en-US" altLang="zh-CN" sz="2000" dirty="0" err="1">
                <a:latin typeface="宋体" charset="-122"/>
                <a:ea typeface="宋体" charset="-122"/>
              </a:rPr>
              <a:t>int</a:t>
            </a:r>
            <a:r>
              <a:rPr kumimoji="1" lang="en-US" altLang="zh-CN" sz="2000" dirty="0">
                <a:latin typeface="宋体" charset="-122"/>
                <a:ea typeface="宋体" charset="-122"/>
              </a:rPr>
              <a:t>   </a:t>
            </a:r>
            <a:r>
              <a:rPr kumimoji="1" lang="en-US" altLang="zh-CN" sz="2000" dirty="0" err="1">
                <a:latin typeface="宋体" charset="-122"/>
                <a:ea typeface="宋体" charset="-122"/>
              </a:rPr>
              <a:t>NonPreOrderBtree</a:t>
            </a:r>
            <a:r>
              <a:rPr kumimoji="1" lang="en-US" altLang="zh-CN" sz="2000" dirty="0">
                <a:latin typeface="宋体" charset="-122"/>
                <a:ea typeface="宋体" charset="-122"/>
              </a:rPr>
              <a:t>(</a:t>
            </a:r>
            <a:r>
              <a:rPr kumimoji="1" lang="en-US" altLang="zh-CN" sz="2000" dirty="0" err="1">
                <a:latin typeface="宋体" charset="-122"/>
                <a:ea typeface="宋体" charset="-122"/>
              </a:rPr>
              <a:t>BTree</a:t>
            </a:r>
            <a:r>
              <a:rPr kumimoji="1" lang="en-US" altLang="zh-CN" sz="2000" dirty="0">
                <a:latin typeface="宋体" charset="-122"/>
                <a:ea typeface="宋体" charset="-122"/>
              </a:rPr>
              <a:t> *BT)</a:t>
            </a:r>
          </a:p>
          <a:p>
            <a:r>
              <a:rPr kumimoji="1" lang="en-US" altLang="zh-CN" sz="2000" dirty="0">
                <a:latin typeface="宋体" charset="-122"/>
                <a:ea typeface="宋体" charset="-122"/>
              </a:rPr>
              <a:t>  { top= 0</a:t>
            </a:r>
            <a:r>
              <a:rPr kumimoji="1" lang="zh-CN" altLang="en-US" sz="2000" dirty="0">
                <a:latin typeface="宋体" charset="-122"/>
                <a:ea typeface="宋体" charset="-122"/>
              </a:rPr>
              <a:t>；</a:t>
            </a:r>
            <a:r>
              <a:rPr kumimoji="1" lang="en-US" altLang="zh-CN" sz="2000" dirty="0">
                <a:latin typeface="宋体" charset="-122"/>
                <a:ea typeface="宋体" charset="-122"/>
              </a:rPr>
              <a:t>p = BT</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a:latin typeface="宋体" charset="-122"/>
                <a:ea typeface="宋体" charset="-122"/>
              </a:rPr>
              <a:t>if(p ≠ NULL){</a:t>
            </a:r>
          </a:p>
          <a:p>
            <a:r>
              <a:rPr kumimoji="1" lang="en-US" altLang="zh-CN" sz="2000" dirty="0">
                <a:latin typeface="宋体" charset="-122"/>
                <a:ea typeface="宋体" charset="-122"/>
              </a:rPr>
              <a:t>       top++</a:t>
            </a:r>
            <a:r>
              <a:rPr kumimoji="1" lang="zh-CN" altLang="en-US" sz="2000" dirty="0">
                <a:latin typeface="宋体" charset="-122"/>
                <a:ea typeface="宋体" charset="-122"/>
              </a:rPr>
              <a:t>；</a:t>
            </a:r>
            <a:r>
              <a:rPr kumimoji="1" lang="en-US" altLang="zh-CN" sz="2000" dirty="0">
                <a:latin typeface="宋体" charset="-122"/>
                <a:ea typeface="宋体" charset="-122"/>
              </a:rPr>
              <a:t>S[top] = p</a:t>
            </a:r>
            <a:r>
              <a:rPr kumimoji="1" lang="zh-CN" altLang="en-US" sz="2000" dirty="0">
                <a:latin typeface="宋体" charset="-122"/>
                <a:ea typeface="宋体" charset="-122"/>
              </a:rPr>
              <a:t>；          </a:t>
            </a:r>
            <a:r>
              <a:rPr kumimoji="1" lang="en-US" altLang="zh-CN" sz="2000" dirty="0"/>
              <a:t>//</a:t>
            </a:r>
            <a:r>
              <a:rPr kumimoji="1" lang="zh-CN" altLang="en-US" sz="2000" dirty="0"/>
              <a:t>树根进栈</a:t>
            </a:r>
          </a:p>
          <a:p>
            <a:r>
              <a:rPr kumimoji="1" lang="zh-CN" altLang="en-US" sz="2000" dirty="0">
                <a:latin typeface="宋体" charset="-122"/>
                <a:ea typeface="宋体" charset="-122"/>
              </a:rPr>
              <a:t>       </a:t>
            </a:r>
            <a:r>
              <a:rPr kumimoji="1" lang="en-US" altLang="zh-CN" sz="2000" dirty="0">
                <a:latin typeface="宋体" charset="-122"/>
                <a:ea typeface="宋体" charset="-122"/>
              </a:rPr>
              <a:t>While(top &gt; 0){</a:t>
            </a:r>
          </a:p>
          <a:p>
            <a:r>
              <a:rPr kumimoji="1" lang="en-US" altLang="zh-CN" sz="2000" dirty="0">
                <a:latin typeface="宋体" charset="-122"/>
                <a:ea typeface="宋体" charset="-122"/>
              </a:rPr>
              <a:t>           P = S[top]</a:t>
            </a:r>
            <a:r>
              <a:rPr kumimoji="1" lang="zh-CN" altLang="en-US" sz="2000" dirty="0">
                <a:latin typeface="宋体" charset="-122"/>
                <a:ea typeface="宋体" charset="-122"/>
              </a:rPr>
              <a:t>；</a:t>
            </a:r>
            <a:r>
              <a:rPr kumimoji="1" lang="en-US" altLang="zh-CN" sz="2000" dirty="0">
                <a:latin typeface="宋体" charset="-122"/>
                <a:ea typeface="宋体" charset="-122"/>
              </a:rPr>
              <a:t>top--</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err="1">
                <a:latin typeface="宋体" charset="-122"/>
                <a:ea typeface="宋体" charset="-122"/>
              </a:rPr>
              <a:t>printf</a:t>
            </a:r>
            <a:r>
              <a:rPr kumimoji="1" lang="en-US" altLang="zh-CN" sz="2000" dirty="0">
                <a:latin typeface="宋体" charset="-122"/>
                <a:ea typeface="宋体" charset="-122"/>
              </a:rPr>
              <a:t>(p-&gt;data)</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a:latin typeface="宋体" charset="-122"/>
                <a:ea typeface="宋体" charset="-122"/>
              </a:rPr>
              <a:t>if(p-&gt;</a:t>
            </a:r>
            <a:r>
              <a:rPr kumimoji="1" lang="en-US" altLang="zh-CN" sz="2000" dirty="0" err="1">
                <a:latin typeface="宋体" charset="-122"/>
                <a:ea typeface="宋体" charset="-122"/>
              </a:rPr>
              <a:t>RChild</a:t>
            </a:r>
            <a:r>
              <a:rPr kumimoji="1" lang="en-US" altLang="zh-CN" sz="2000" dirty="0">
                <a:latin typeface="宋体" charset="-122"/>
                <a:ea typeface="宋体" charset="-122"/>
              </a:rPr>
              <a:t> ≠ NULL){   </a:t>
            </a:r>
            <a:r>
              <a:rPr kumimoji="1" lang="en-US" altLang="zh-CN" sz="2000" dirty="0"/>
              <a:t>//</a:t>
            </a:r>
            <a:r>
              <a:rPr kumimoji="1" lang="zh-CN" altLang="en-US" sz="2000" dirty="0"/>
              <a:t>右子树进栈</a:t>
            </a:r>
          </a:p>
          <a:p>
            <a:r>
              <a:rPr kumimoji="1" lang="zh-CN" altLang="en-US" sz="2000" dirty="0">
                <a:latin typeface="宋体" charset="-122"/>
                <a:ea typeface="宋体" charset="-122"/>
              </a:rPr>
              <a:t>               </a:t>
            </a:r>
            <a:r>
              <a:rPr kumimoji="1" lang="en-US" altLang="zh-CN" sz="2000" dirty="0">
                <a:latin typeface="宋体" charset="-122"/>
                <a:ea typeface="宋体" charset="-122"/>
              </a:rPr>
              <a:t>top++</a:t>
            </a:r>
            <a:r>
              <a:rPr kumimoji="1" lang="zh-CN" altLang="en-US" sz="2000" dirty="0">
                <a:latin typeface="宋体" charset="-122"/>
                <a:ea typeface="宋体" charset="-122"/>
              </a:rPr>
              <a:t>；</a:t>
            </a:r>
            <a:r>
              <a:rPr kumimoji="1" lang="en-US" altLang="zh-CN" sz="2000" dirty="0">
                <a:latin typeface="宋体" charset="-122"/>
                <a:ea typeface="宋体" charset="-122"/>
              </a:rPr>
              <a:t>s[top] = p-&gt;</a:t>
            </a:r>
            <a:r>
              <a:rPr kumimoji="1" lang="en-US" altLang="zh-CN" sz="2000" dirty="0" err="1">
                <a:latin typeface="宋体" charset="-122"/>
                <a:ea typeface="宋体" charset="-122"/>
              </a:rPr>
              <a:t>RChild</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a:latin typeface="宋体" charset="-122"/>
                <a:ea typeface="宋体" charset="-122"/>
              </a:rPr>
              <a:t>}</a:t>
            </a:r>
          </a:p>
          <a:p>
            <a:r>
              <a:rPr kumimoji="1" lang="en-US" altLang="zh-CN" sz="2000" dirty="0">
                <a:latin typeface="宋体" charset="-122"/>
                <a:ea typeface="宋体" charset="-122"/>
              </a:rPr>
              <a:t>           if(p-&gt;</a:t>
            </a:r>
            <a:r>
              <a:rPr kumimoji="1" lang="en-US" altLang="zh-CN" sz="2000" dirty="0" err="1">
                <a:latin typeface="宋体" charset="-122"/>
                <a:ea typeface="宋体" charset="-122"/>
              </a:rPr>
              <a:t>LChild</a:t>
            </a:r>
            <a:r>
              <a:rPr kumimoji="1" lang="en-US" altLang="zh-CN" sz="2000" dirty="0">
                <a:latin typeface="宋体" charset="-122"/>
                <a:ea typeface="宋体" charset="-122"/>
              </a:rPr>
              <a:t> ≠ NULL){   </a:t>
            </a:r>
            <a:r>
              <a:rPr kumimoji="1" lang="en-US" altLang="zh-CN" sz="2000" dirty="0"/>
              <a:t>//</a:t>
            </a:r>
            <a:r>
              <a:rPr kumimoji="1" lang="zh-CN" altLang="en-US" sz="2000" dirty="0"/>
              <a:t>左子树进栈</a:t>
            </a:r>
          </a:p>
          <a:p>
            <a:r>
              <a:rPr kumimoji="1" lang="zh-CN" altLang="en-US" sz="2000" dirty="0">
                <a:latin typeface="宋体" charset="-122"/>
                <a:ea typeface="宋体" charset="-122"/>
              </a:rPr>
              <a:t>               </a:t>
            </a:r>
            <a:r>
              <a:rPr kumimoji="1" lang="en-US" altLang="zh-CN" sz="2000" dirty="0">
                <a:latin typeface="宋体" charset="-122"/>
                <a:ea typeface="宋体" charset="-122"/>
              </a:rPr>
              <a:t>top++</a:t>
            </a:r>
            <a:r>
              <a:rPr kumimoji="1" lang="zh-CN" altLang="en-US" sz="2000" dirty="0">
                <a:latin typeface="宋体" charset="-122"/>
                <a:ea typeface="宋体" charset="-122"/>
              </a:rPr>
              <a:t>；</a:t>
            </a:r>
            <a:r>
              <a:rPr kumimoji="1" lang="en-US" altLang="zh-CN" sz="2000" dirty="0">
                <a:latin typeface="宋体" charset="-122"/>
                <a:ea typeface="宋体" charset="-122"/>
              </a:rPr>
              <a:t>s[top] = p-&gt;</a:t>
            </a:r>
            <a:r>
              <a:rPr kumimoji="1" lang="en-US" altLang="zh-CN" sz="2000" dirty="0" err="1">
                <a:latin typeface="宋体" charset="-122"/>
                <a:ea typeface="宋体" charset="-122"/>
              </a:rPr>
              <a:t>LChild</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a:latin typeface="宋体" charset="-122"/>
                <a:ea typeface="宋体" charset="-122"/>
              </a:rPr>
              <a:t>}</a:t>
            </a:r>
          </a:p>
          <a:p>
            <a:r>
              <a:rPr kumimoji="1" lang="en-US" altLang="zh-CN" sz="2000" dirty="0">
                <a:latin typeface="宋体" charset="-122"/>
                <a:ea typeface="宋体" charset="-122"/>
              </a:rPr>
              <a:t>       }</a:t>
            </a:r>
          </a:p>
          <a:p>
            <a:r>
              <a:rPr kumimoji="1" lang="en-US" altLang="zh-CN" sz="2000" dirty="0">
                <a:latin typeface="宋体" charset="-122"/>
                <a:ea typeface="宋体" charset="-122"/>
              </a:rPr>
              <a:t>    }</a:t>
            </a:r>
          </a:p>
          <a:p>
            <a:r>
              <a:rPr kumimoji="1" lang="en-US" altLang="zh-CN" sz="2000" dirty="0">
                <a:latin typeface="宋体" charset="-122"/>
                <a:ea typeface="宋体" charset="-122"/>
              </a:rPr>
              <a:t>    return(0)</a:t>
            </a:r>
            <a:r>
              <a:rPr kumimoji="1" lang="zh-CN" altLang="en-US" sz="2000" dirty="0">
                <a:latin typeface="宋体" charset="-122"/>
                <a:ea typeface="宋体" charset="-122"/>
              </a:rPr>
              <a:t>；</a:t>
            </a:r>
          </a:p>
          <a:p>
            <a:r>
              <a:rPr kumimoji="1" lang="zh-CN" altLang="en-US" sz="2000" dirty="0">
                <a:latin typeface="宋体" charset="-122"/>
                <a:ea typeface="宋体" charset="-122"/>
              </a:rPr>
              <a:t>  </a:t>
            </a:r>
            <a:r>
              <a:rPr kumimoji="1" lang="en-US" altLang="zh-CN" sz="2000" dirty="0">
                <a:latin typeface="宋体" charset="-122"/>
                <a:ea typeface="宋体" charset="-122"/>
              </a:rPr>
              <a:t>}</a:t>
            </a:r>
          </a:p>
        </p:txBody>
      </p:sp>
    </p:spTree>
    <p:extLst>
      <p:ext uri="{BB962C8B-B14F-4D97-AF65-F5344CB8AC3E}">
        <p14:creationId xmlns:p14="http://schemas.microsoft.com/office/powerpoint/2010/main"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20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20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20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20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2000"/>
                                        <p:tgtEl>
                                          <p:spTgt spid="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15" end="15"/>
                                            </p:txEl>
                                          </p:spTgt>
                                        </p:tgtEl>
                                        <p:attrNameLst>
                                          <p:attrName>style.visibility</p:attrName>
                                        </p:attrNameLst>
                                      </p:cBhvr>
                                      <p:to>
                                        <p:strVal val="visible"/>
                                      </p:to>
                                    </p:set>
                                    <p:animEffect transition="in" filter="fade">
                                      <p:cBhvr>
                                        <p:cTn id="82" dur="2000"/>
                                        <p:tgtEl>
                                          <p:spTgt spid="4">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16" end="16"/>
                                            </p:txEl>
                                          </p:spTgt>
                                        </p:tgtEl>
                                        <p:attrNameLst>
                                          <p:attrName>style.visibility</p:attrName>
                                        </p:attrNameLst>
                                      </p:cBhvr>
                                      <p:to>
                                        <p:strVal val="visible"/>
                                      </p:to>
                                    </p:set>
                                    <p:animEffect transition="in" filter="fade">
                                      <p:cBhvr>
                                        <p:cTn id="87" dur="2000"/>
                                        <p:tgtEl>
                                          <p:spTgt spid="4">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17" end="17"/>
                                            </p:txEl>
                                          </p:spTgt>
                                        </p:tgtEl>
                                        <p:attrNameLst>
                                          <p:attrName>style.visibility</p:attrName>
                                        </p:attrNameLst>
                                      </p:cBhvr>
                                      <p:to>
                                        <p:strVal val="visible"/>
                                      </p:to>
                                    </p:set>
                                    <p:animEffect transition="in" filter="fade">
                                      <p:cBhvr>
                                        <p:cTn id="92" dur="20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5.3.2 </a:t>
            </a:r>
            <a:r>
              <a:rPr lang="zh-CN" altLang="zh-CN" b="1" dirty="0"/>
              <a:t>二叉树的中序遍历</a:t>
            </a:r>
            <a:endParaRPr lang="zh-CN" altLang="en-US" dirty="0"/>
          </a:p>
        </p:txBody>
      </p:sp>
      <p:sp>
        <p:nvSpPr>
          <p:cNvPr id="3" name="内容占位符 2"/>
          <p:cNvSpPr>
            <a:spLocks noGrp="1"/>
          </p:cNvSpPr>
          <p:nvPr>
            <p:ph idx="1"/>
          </p:nvPr>
        </p:nvSpPr>
        <p:spPr>
          <a:xfrm>
            <a:off x="755576" y="1628800"/>
            <a:ext cx="8280920" cy="4536504"/>
          </a:xfrm>
        </p:spPr>
        <p:txBody>
          <a:bodyPr>
            <a:normAutofit/>
          </a:bodyPr>
          <a:lstStyle/>
          <a:p>
            <a:r>
              <a:rPr lang="zh-CN" altLang="zh-CN" dirty="0">
                <a:solidFill>
                  <a:srgbClr val="FF0000"/>
                </a:solidFill>
              </a:rPr>
              <a:t>中序遍历的递归定义如下</a:t>
            </a:r>
            <a:r>
              <a:rPr lang="zh-CN" altLang="zh-CN" b="0" dirty="0"/>
              <a:t>：</a:t>
            </a:r>
          </a:p>
          <a:p>
            <a:r>
              <a:rPr lang="en-US" altLang="zh-CN" b="0" dirty="0"/>
              <a:t>	</a:t>
            </a:r>
            <a:r>
              <a:rPr lang="zh-CN" altLang="zh-CN" b="0" dirty="0"/>
              <a:t>若二叉树为空，则遍历结束；</a:t>
            </a:r>
            <a:endParaRPr lang="en-US" altLang="zh-CN" b="0" dirty="0"/>
          </a:p>
          <a:p>
            <a:r>
              <a:rPr lang="en-US" altLang="zh-CN" b="0" dirty="0"/>
              <a:t>	</a:t>
            </a:r>
            <a:r>
              <a:rPr lang="zh-CN" altLang="zh-CN" b="0" dirty="0"/>
              <a:t>否则：</a:t>
            </a:r>
          </a:p>
          <a:p>
            <a:r>
              <a:rPr lang="en-US" altLang="zh-CN" b="0" dirty="0"/>
              <a:t>		(1) </a:t>
            </a:r>
            <a:r>
              <a:rPr lang="zh-CN" altLang="zh-CN" b="0" dirty="0"/>
              <a:t>中序遍历左子树；</a:t>
            </a:r>
          </a:p>
          <a:p>
            <a:r>
              <a:rPr lang="en-US" altLang="zh-CN" b="0" dirty="0"/>
              <a:t>		(2) </a:t>
            </a:r>
            <a:r>
              <a:rPr lang="zh-CN" altLang="zh-CN" b="0" dirty="0"/>
              <a:t>访问根结点；</a:t>
            </a:r>
          </a:p>
          <a:p>
            <a:r>
              <a:rPr lang="en-US" altLang="zh-CN" b="0" dirty="0"/>
              <a:t>		(3) </a:t>
            </a:r>
            <a:r>
              <a:rPr lang="zh-CN" altLang="zh-CN" b="0" dirty="0"/>
              <a:t>中序遍历右子树。</a:t>
            </a:r>
            <a:endParaRPr lang="en-US" altLang="zh-CN" b="0" dirty="0"/>
          </a:p>
          <a:p>
            <a:r>
              <a:rPr lang="en-US" altLang="zh-CN" b="0" dirty="0"/>
              <a:t>	</a:t>
            </a:r>
            <a:endParaRPr lang="zh-CN" altLang="zh-CN" b="0" dirty="0"/>
          </a:p>
          <a:p>
            <a:r>
              <a:rPr lang="en-US" altLang="zh-CN" b="0" dirty="0"/>
              <a:t>	</a:t>
            </a:r>
            <a:r>
              <a:rPr lang="zh-CN" altLang="zh-CN" b="0" dirty="0"/>
              <a:t>即，按照</a:t>
            </a:r>
            <a:r>
              <a:rPr lang="en-US" altLang="zh-CN" b="0" dirty="0"/>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右子树</a:t>
            </a:r>
            <a:r>
              <a:rPr lang="en-US" altLang="zh-CN" b="0" dirty="0"/>
              <a:t>”</a:t>
            </a:r>
            <a:r>
              <a:rPr lang="zh-CN" altLang="zh-CN" b="0" dirty="0"/>
              <a:t>的次序递归的遍历二叉树。</a:t>
            </a:r>
          </a:p>
        </p:txBody>
      </p:sp>
    </p:spTree>
    <p:extLst>
      <p:ext uri="{BB962C8B-B14F-4D97-AF65-F5344CB8AC3E}">
        <p14:creationId xmlns:p14="http://schemas.microsoft.com/office/powerpoint/2010/main" val="2738027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4083905"/>
          </a:xfrm>
        </p:spPr>
        <p:txBody>
          <a:bodyPr>
            <a:normAutofit fontScale="92500"/>
          </a:bodyPr>
          <a:lstStyle/>
          <a:p>
            <a:r>
              <a:rPr lang="zh-CN" altLang="zh-CN" dirty="0"/>
              <a:t>算法</a:t>
            </a:r>
            <a:r>
              <a:rPr lang="en-US" altLang="zh-CN" dirty="0"/>
              <a:t>5.5</a:t>
            </a:r>
            <a:r>
              <a:rPr lang="zh-CN" altLang="zh-CN" dirty="0"/>
              <a:t>：</a:t>
            </a:r>
            <a:r>
              <a:rPr lang="zh-CN" altLang="zh-CN" dirty="0">
                <a:solidFill>
                  <a:srgbClr val="FF0000"/>
                </a:solidFill>
              </a:rPr>
              <a:t>中序遍历二叉树的递归算法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a:t>InOrder</a:t>
            </a:r>
            <a:r>
              <a:rPr lang="en-US" altLang="zh-CN" b="0" dirty="0"/>
              <a:t>(</a:t>
            </a:r>
            <a:r>
              <a:rPr lang="en-US" altLang="zh-CN" b="0" dirty="0" err="1"/>
              <a:t>BinaryTreeNode</a:t>
            </a:r>
            <a:r>
              <a:rPr lang="en-US" altLang="zh-CN" b="0" dirty="0"/>
              <a:t>&lt;T&gt;* root){</a:t>
            </a:r>
            <a:endParaRPr lang="zh-CN" altLang="zh-CN" b="0" dirty="0"/>
          </a:p>
          <a:p>
            <a:r>
              <a:rPr lang="en-US" altLang="zh-CN" b="0" dirty="0"/>
              <a:t>    if (root == NULL) return;</a:t>
            </a:r>
            <a:endParaRPr lang="zh-CN" altLang="zh-CN" b="0" dirty="0"/>
          </a:p>
          <a:p>
            <a:r>
              <a:rPr lang="en-US" altLang="zh-CN" b="0" dirty="0"/>
              <a:t>    </a:t>
            </a:r>
            <a:r>
              <a:rPr lang="en-US" altLang="zh-CN" b="0" dirty="0" err="1"/>
              <a:t>InOrder</a:t>
            </a:r>
            <a:r>
              <a:rPr lang="en-US" altLang="zh-CN" b="0" dirty="0"/>
              <a:t>(root-&gt;</a:t>
            </a:r>
            <a:r>
              <a:rPr lang="en-US" altLang="zh-CN" b="0" dirty="0" err="1"/>
              <a:t>leftchild</a:t>
            </a:r>
            <a:r>
              <a:rPr lang="en-US" altLang="zh-CN" b="0" dirty="0"/>
              <a:t>());		//</a:t>
            </a:r>
            <a:r>
              <a:rPr lang="zh-CN" altLang="zh-CN" b="0" dirty="0"/>
              <a:t>中序遍历左子树</a:t>
            </a:r>
          </a:p>
          <a:p>
            <a:r>
              <a:rPr lang="en-US" altLang="zh-CN" b="0" dirty="0"/>
              <a:t>    visit(root-&gt;value());			//</a:t>
            </a:r>
            <a:r>
              <a:rPr lang="zh-CN" altLang="zh-CN" b="0" dirty="0"/>
              <a:t>访问根结点</a:t>
            </a:r>
          </a:p>
          <a:p>
            <a:r>
              <a:rPr lang="en-US" altLang="zh-CN" b="0" dirty="0"/>
              <a:t>    </a:t>
            </a:r>
            <a:r>
              <a:rPr lang="en-US" altLang="zh-CN" b="0" dirty="0" err="1"/>
              <a:t>InOrder</a:t>
            </a:r>
            <a:r>
              <a:rPr lang="en-US" altLang="zh-CN" b="0" dirty="0"/>
              <a:t>(root-&gt;</a:t>
            </a:r>
            <a:r>
              <a:rPr lang="en-US" altLang="zh-CN" b="0" dirty="0" err="1"/>
              <a:t>rightchild</a:t>
            </a:r>
            <a:r>
              <a:rPr lang="en-US" altLang="zh-CN" b="0" dirty="0"/>
              <a:t>());		//</a:t>
            </a:r>
            <a:r>
              <a:rPr lang="zh-CN" altLang="zh-CN" b="0" dirty="0"/>
              <a:t>中序遍历右子树</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487715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4725144"/>
            <a:ext cx="7520940" cy="1340768"/>
          </a:xfrm>
        </p:spPr>
        <p:txBody>
          <a:bodyPr/>
          <a:lstStyle/>
          <a:p>
            <a:r>
              <a:rPr lang="zh-CN" altLang="zh-CN" b="0" dirty="0"/>
              <a:t>如图</a:t>
            </a:r>
            <a:r>
              <a:rPr lang="en-US" altLang="zh-CN" b="0" dirty="0"/>
              <a:t>5-13</a:t>
            </a:r>
            <a:r>
              <a:rPr lang="zh-CN" altLang="zh-CN" b="0" dirty="0"/>
              <a:t>所示二叉树</a:t>
            </a:r>
            <a:r>
              <a:rPr lang="en-US" altLang="zh-CN" b="0" dirty="0"/>
              <a:t>T</a:t>
            </a:r>
            <a:r>
              <a:rPr lang="en-US" altLang="zh-CN" b="0" baseline="-25000" dirty="0"/>
              <a:t>4</a:t>
            </a:r>
            <a:r>
              <a:rPr lang="zh-CN" altLang="zh-CN" b="0" dirty="0"/>
              <a:t>的中序遍历序列为：</a:t>
            </a:r>
            <a:r>
              <a:rPr lang="en-US" altLang="zh-CN" b="0" dirty="0"/>
              <a:t>DBAGEHCF</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836712"/>
            <a:ext cx="3638550" cy="349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8765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8596" y="1357298"/>
            <a:ext cx="8280920" cy="3724096"/>
          </a:xfrm>
          <a:prstGeom prst="rect">
            <a:avLst/>
          </a:prstGeom>
        </p:spPr>
        <p:txBody>
          <a:bodyPr wrap="square">
            <a:spAutoFit/>
          </a:bodyPr>
          <a:lstStyle/>
          <a:p>
            <a:r>
              <a:rPr lang="zh-CN" altLang="en-US" sz="2800" dirty="0">
                <a:solidFill>
                  <a:srgbClr val="0000FF"/>
                </a:solidFill>
                <a:latin typeface="+mn-ea"/>
              </a:rPr>
              <a:t>二叉树中遍历的</a:t>
            </a:r>
            <a:r>
              <a:rPr lang="zh-CN" altLang="zh-CN" sz="2800" dirty="0">
                <a:solidFill>
                  <a:srgbClr val="0000FF"/>
                </a:solidFill>
                <a:latin typeface="+mn-ea"/>
              </a:rPr>
              <a:t>非递归算法</a:t>
            </a:r>
            <a:r>
              <a:rPr lang="zh-CN" altLang="en-US" sz="2800" dirty="0">
                <a:solidFill>
                  <a:srgbClr val="0000FF"/>
                </a:solidFill>
                <a:latin typeface="+mn-ea"/>
              </a:rPr>
              <a:t>：</a:t>
            </a:r>
            <a:endParaRPr lang="en-US" altLang="zh-CN" sz="2800" dirty="0">
              <a:solidFill>
                <a:srgbClr val="0000FF"/>
              </a:solidFill>
              <a:latin typeface="+mn-ea"/>
            </a:endParaRPr>
          </a:p>
          <a:p>
            <a:endParaRPr lang="en-US" altLang="zh-CN" sz="2800" dirty="0">
              <a:solidFill>
                <a:srgbClr val="0000FF"/>
              </a:solidFill>
              <a:latin typeface="黑体" pitchFamily="49" charset="-122"/>
              <a:ea typeface="黑体" pitchFamily="49" charset="-122"/>
            </a:endParaRPr>
          </a:p>
          <a:p>
            <a:pPr>
              <a:buClr>
                <a:schemeClr val="folHlink"/>
              </a:buClr>
              <a:buSzPct val="85000"/>
            </a:pPr>
            <a:r>
              <a:rPr kumimoji="1" lang="zh-CN" altLang="en-US" sz="2000" b="1"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1</a:t>
            </a:r>
            <a:r>
              <a:rPr kumimoji="1" lang="zh-CN" altLang="en-US" sz="2000" dirty="0">
                <a:solidFill>
                  <a:schemeClr val="accent3">
                    <a:lumMod val="75000"/>
                  </a:schemeClr>
                </a:solidFill>
                <a:latin typeface="黑体" pitchFamily="49" charset="-122"/>
                <a:ea typeface="黑体" pitchFamily="49" charset="-122"/>
              </a:rPr>
              <a:t>：将栈置空，同时将二叉树的根结点</a:t>
            </a:r>
            <a:r>
              <a:rPr kumimoji="1" lang="en-US" altLang="zh-CN" sz="2000" dirty="0">
                <a:solidFill>
                  <a:schemeClr val="accent3">
                    <a:lumMod val="75000"/>
                  </a:schemeClr>
                </a:solidFill>
                <a:latin typeface="黑体" pitchFamily="49" charset="-122"/>
                <a:ea typeface="黑体" pitchFamily="49" charset="-122"/>
              </a:rPr>
              <a:t>BT</a:t>
            </a:r>
            <a:r>
              <a:rPr kumimoji="1" lang="zh-CN" altLang="en-US" sz="2000" dirty="0">
                <a:solidFill>
                  <a:schemeClr val="accent3">
                    <a:lumMod val="75000"/>
                  </a:schemeClr>
                </a:solidFill>
                <a:latin typeface="黑体" pitchFamily="49" charset="-122"/>
                <a:ea typeface="黑体" pitchFamily="49" charset="-122"/>
              </a:rPr>
              <a:t>赋值给指针变量</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2</a:t>
            </a:r>
            <a:r>
              <a:rPr kumimoji="1" lang="zh-CN" altLang="en-US" sz="2000" dirty="0">
                <a:solidFill>
                  <a:schemeClr val="accent3">
                    <a:lumMod val="75000"/>
                  </a:schemeClr>
                </a:solidFill>
                <a:latin typeface="黑体" pitchFamily="49" charset="-122"/>
                <a:ea typeface="黑体" pitchFamily="49" charset="-122"/>
              </a:rPr>
              <a:t>：若</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不空，将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入栈，然后将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指向</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结点的左孩子结点。如此重复进行，直到</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为空为止。</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3</a:t>
            </a:r>
            <a:r>
              <a:rPr kumimoji="1" lang="zh-CN" altLang="en-US" sz="2000" dirty="0">
                <a:solidFill>
                  <a:schemeClr val="accent3">
                    <a:lumMod val="75000"/>
                  </a:schemeClr>
                </a:solidFill>
                <a:latin typeface="黑体" pitchFamily="49" charset="-122"/>
                <a:ea typeface="黑体" pitchFamily="49" charset="-122"/>
              </a:rPr>
              <a:t>：如果栈不空，从栈中弹出元素指针变量</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，访问结点</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，并将</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指向</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结点的右孩子结点。</a:t>
            </a:r>
          </a:p>
          <a:p>
            <a:pPr>
              <a:buClr>
                <a:schemeClr val="folHlink"/>
              </a:buClr>
              <a:buSzPct val="85000"/>
            </a:pPr>
            <a:endParaRPr kumimoji="1" lang="zh-CN" altLang="en-US" sz="2000" dirty="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a:solidFill>
                  <a:schemeClr val="accent3">
                    <a:lumMod val="75000"/>
                  </a:schemeClr>
                </a:solidFill>
                <a:latin typeface="黑体" pitchFamily="49" charset="-122"/>
                <a:ea typeface="黑体" pitchFamily="49" charset="-122"/>
              </a:rPr>
              <a:t>   </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4</a:t>
            </a:r>
            <a:r>
              <a:rPr kumimoji="1" lang="zh-CN" altLang="en-US" sz="2000" dirty="0">
                <a:solidFill>
                  <a:schemeClr val="accent3">
                    <a:lumMod val="75000"/>
                  </a:schemeClr>
                </a:solidFill>
                <a:latin typeface="黑体" pitchFamily="49" charset="-122"/>
                <a:ea typeface="黑体" pitchFamily="49" charset="-122"/>
              </a:rPr>
              <a:t>：重复执行</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2</a:t>
            </a:r>
            <a:r>
              <a:rPr kumimoji="1" lang="zh-CN" altLang="en-US" sz="2000" dirty="0">
                <a:solidFill>
                  <a:schemeClr val="accent3">
                    <a:lumMod val="75000"/>
                  </a:schemeClr>
                </a:solidFill>
                <a:latin typeface="黑体" pitchFamily="49" charset="-122"/>
                <a:ea typeface="黑体" pitchFamily="49" charset="-122"/>
              </a:rPr>
              <a:t>和</a:t>
            </a:r>
            <a:r>
              <a:rPr kumimoji="1" lang="en-US" altLang="zh-CN" sz="2000" dirty="0">
                <a:solidFill>
                  <a:schemeClr val="accent3">
                    <a:lumMod val="75000"/>
                  </a:schemeClr>
                </a:solidFill>
                <a:latin typeface="黑体" pitchFamily="49" charset="-122"/>
                <a:ea typeface="黑体" pitchFamily="49" charset="-122"/>
              </a:rPr>
              <a:t>S</a:t>
            </a:r>
            <a:r>
              <a:rPr kumimoji="1" lang="en-US" altLang="zh-CN" sz="2000" baseline="-25000" dirty="0">
                <a:solidFill>
                  <a:schemeClr val="accent3">
                    <a:lumMod val="75000"/>
                  </a:schemeClr>
                </a:solidFill>
                <a:latin typeface="黑体" pitchFamily="49" charset="-122"/>
                <a:ea typeface="黑体" pitchFamily="49" charset="-122"/>
              </a:rPr>
              <a:t>3</a:t>
            </a:r>
            <a:r>
              <a:rPr kumimoji="1" lang="zh-CN" altLang="en-US" sz="2000" dirty="0">
                <a:solidFill>
                  <a:schemeClr val="accent3">
                    <a:lumMod val="75000"/>
                  </a:schemeClr>
                </a:solidFill>
                <a:latin typeface="黑体" pitchFamily="49" charset="-122"/>
                <a:ea typeface="黑体" pitchFamily="49" charset="-122"/>
              </a:rPr>
              <a:t>，直到</a:t>
            </a:r>
            <a:r>
              <a:rPr kumimoji="1" lang="en-US" altLang="zh-CN" sz="2000" dirty="0">
                <a:solidFill>
                  <a:schemeClr val="accent3">
                    <a:lumMod val="75000"/>
                  </a:schemeClr>
                </a:solidFill>
                <a:latin typeface="黑体" pitchFamily="49" charset="-122"/>
                <a:ea typeface="黑体" pitchFamily="49" charset="-122"/>
              </a:rPr>
              <a:t>p</a:t>
            </a:r>
            <a:r>
              <a:rPr kumimoji="1" lang="zh-CN" altLang="en-US" sz="2000" dirty="0">
                <a:solidFill>
                  <a:schemeClr val="accent3">
                    <a:lumMod val="75000"/>
                  </a:schemeClr>
                </a:solidFill>
                <a:latin typeface="黑体" pitchFamily="49" charset="-122"/>
                <a:ea typeface="黑体" pitchFamily="49" charset="-122"/>
              </a:rPr>
              <a:t>为空和栈也为空为止。</a:t>
            </a:r>
            <a:endParaRPr lang="zh-CN" altLang="en-US" sz="2000" dirty="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692696"/>
            <a:ext cx="7958118" cy="5616624"/>
          </a:xfrm>
        </p:spPr>
        <p:txBody>
          <a:bodyPr>
            <a:noAutofit/>
          </a:bodyPr>
          <a:lstStyle/>
          <a:p>
            <a:pPr>
              <a:spcBef>
                <a:spcPts val="0"/>
              </a:spcBef>
            </a:pPr>
            <a:r>
              <a:rPr lang="zh-CN" altLang="zh-CN" sz="1800" dirty="0"/>
              <a:t>算法</a:t>
            </a:r>
            <a:r>
              <a:rPr lang="en-US" altLang="zh-CN" sz="1800" dirty="0"/>
              <a:t>5.6</a:t>
            </a:r>
            <a:r>
              <a:rPr lang="zh-CN" altLang="zh-CN" sz="1800" dirty="0"/>
              <a:t>：</a:t>
            </a:r>
            <a:r>
              <a:rPr lang="zh-CN" altLang="zh-CN" sz="1800" dirty="0">
                <a:solidFill>
                  <a:srgbClr val="FF0000"/>
                </a:solidFill>
              </a:rPr>
              <a:t>中序遍历二叉树的非递归算法</a:t>
            </a:r>
          </a:p>
          <a:p>
            <a:pPr>
              <a:spcBef>
                <a:spcPts val="0"/>
              </a:spcBef>
            </a:pPr>
            <a:r>
              <a:rPr lang="en-US" altLang="zh-CN" sz="1800" b="0" dirty="0"/>
              <a:t>template&lt;class T&gt;</a:t>
            </a:r>
            <a:endParaRPr lang="zh-CN" altLang="zh-CN" sz="1800" b="0" dirty="0"/>
          </a:p>
          <a:p>
            <a:pPr>
              <a:spcBef>
                <a:spcPts val="0"/>
              </a:spcBef>
            </a:pPr>
            <a:r>
              <a:rPr lang="en-US" altLang="zh-CN" sz="1800" b="0" dirty="0"/>
              <a:t>void </a:t>
            </a:r>
            <a:r>
              <a:rPr lang="en-US" altLang="zh-CN" sz="1800" b="0" dirty="0" err="1"/>
              <a:t>BinaryTree</a:t>
            </a:r>
            <a:r>
              <a:rPr lang="en-US" altLang="zh-CN" sz="1800" b="0" dirty="0"/>
              <a:t>&lt;T&gt;::</a:t>
            </a:r>
            <a:r>
              <a:rPr lang="en-US" altLang="zh-CN" sz="1800" b="0" dirty="0" err="1"/>
              <a:t>InOrderWithoutRecusion</a:t>
            </a:r>
            <a:r>
              <a:rPr lang="en-US" altLang="zh-CN" sz="1800" b="0" dirty="0"/>
              <a:t>(</a:t>
            </a:r>
            <a:r>
              <a:rPr lang="en-US" altLang="zh-CN" sz="1800" b="0" dirty="0" err="1"/>
              <a:t>BinaryTreeNode</a:t>
            </a:r>
            <a:r>
              <a:rPr lang="en-US" altLang="zh-CN" sz="1800" b="0" dirty="0"/>
              <a:t>&lt;T&gt;* root){</a:t>
            </a:r>
            <a:endParaRPr lang="zh-CN" altLang="zh-CN" sz="1800" b="0" dirty="0"/>
          </a:p>
          <a:p>
            <a:pPr>
              <a:spcBef>
                <a:spcPts val="0"/>
              </a:spcBef>
            </a:pPr>
            <a:r>
              <a:rPr lang="en-US" altLang="zh-CN" sz="1800" b="0" dirty="0"/>
              <a:t>	stack&lt;</a:t>
            </a:r>
            <a:r>
              <a:rPr lang="en-US" altLang="zh-CN" sz="1800" b="0" dirty="0" err="1"/>
              <a:t>BinaryTreeNode</a:t>
            </a:r>
            <a:r>
              <a:rPr lang="en-US" altLang="zh-CN" sz="1800" b="0" dirty="0"/>
              <a:t>&lt;T&gt;* &gt; </a:t>
            </a:r>
            <a:r>
              <a:rPr lang="en-US" altLang="zh-CN" sz="1800" b="0" dirty="0" err="1"/>
              <a:t>tStack</a:t>
            </a:r>
            <a:r>
              <a:rPr lang="en-US" altLang="zh-CN" sz="1800" b="0" dirty="0"/>
              <a:t>;</a:t>
            </a:r>
            <a:endParaRPr lang="zh-CN" altLang="zh-CN" sz="1800" b="0" dirty="0"/>
          </a:p>
          <a:p>
            <a:pPr>
              <a:spcBef>
                <a:spcPts val="0"/>
              </a:spcBef>
            </a:pPr>
            <a:r>
              <a:rPr lang="en-US" altLang="zh-CN" sz="1800" b="0" dirty="0"/>
              <a:t>    	</a:t>
            </a:r>
            <a:r>
              <a:rPr lang="en-US" altLang="zh-CN" sz="1800" b="0" dirty="0" err="1"/>
              <a:t>BinaryTreeNode</a:t>
            </a:r>
            <a:r>
              <a:rPr lang="en-US" altLang="zh-CN" sz="1800" b="0" dirty="0"/>
              <a:t>&lt;T&gt;* pointer = root;</a:t>
            </a:r>
            <a:endParaRPr lang="zh-CN" altLang="zh-CN" sz="1800" b="0" dirty="0"/>
          </a:p>
          <a:p>
            <a:pPr>
              <a:spcBef>
                <a:spcPts val="0"/>
              </a:spcBef>
            </a:pPr>
            <a:r>
              <a:rPr lang="en-US" altLang="zh-CN" sz="1800" b="0" dirty="0"/>
              <a:t>    	while(!</a:t>
            </a:r>
            <a:r>
              <a:rPr lang="en-US" altLang="zh-CN" sz="1800" b="0" dirty="0" err="1"/>
              <a:t>tStack.empty</a:t>
            </a:r>
            <a:r>
              <a:rPr lang="en-US" altLang="zh-CN" sz="1800" b="0" dirty="0"/>
              <a:t>() || pointer){</a:t>
            </a:r>
            <a:endParaRPr lang="zh-CN" altLang="zh-CN" sz="1800" b="0" dirty="0"/>
          </a:p>
          <a:p>
            <a:pPr>
              <a:spcBef>
                <a:spcPts val="0"/>
              </a:spcBef>
            </a:pPr>
            <a:r>
              <a:rPr lang="en-US" altLang="zh-CN" sz="1800" b="0" dirty="0"/>
              <a:t>		if (pointer){</a:t>
            </a:r>
            <a:endParaRPr lang="zh-CN" altLang="zh-CN" sz="1800" b="0" dirty="0"/>
          </a:p>
          <a:p>
            <a:pPr>
              <a:spcBef>
                <a:spcPts val="0"/>
              </a:spcBef>
            </a:pPr>
            <a:r>
              <a:rPr lang="en-US" altLang="zh-CN" sz="1800" b="0" dirty="0"/>
              <a:t>            	       </a:t>
            </a:r>
            <a:r>
              <a:rPr lang="en-US" altLang="zh-CN" sz="1800" b="0" dirty="0" err="1"/>
              <a:t>tStack.push</a:t>
            </a:r>
            <a:r>
              <a:rPr lang="en-US" altLang="zh-CN" sz="1800" b="0" dirty="0"/>
              <a:t>(pointer);                     //</a:t>
            </a:r>
            <a:r>
              <a:rPr lang="zh-CN" altLang="zh-CN" sz="1800" b="0" dirty="0"/>
              <a:t>当前结点地址入栈</a:t>
            </a:r>
          </a:p>
          <a:p>
            <a:pPr>
              <a:spcBef>
                <a:spcPts val="0"/>
              </a:spcBef>
            </a:pPr>
            <a:r>
              <a:rPr lang="en-US" altLang="zh-CN" sz="1800" b="0" dirty="0"/>
              <a:t>            	       pointer = pointer-&gt;</a:t>
            </a:r>
            <a:r>
              <a:rPr lang="en-US" altLang="zh-CN" sz="1800" b="0" dirty="0" err="1"/>
              <a:t>leftchild</a:t>
            </a:r>
            <a:r>
              <a:rPr lang="en-US" altLang="zh-CN" sz="1800" b="0" dirty="0"/>
              <a:t>();       //</a:t>
            </a:r>
            <a:r>
              <a:rPr lang="zh-CN" altLang="zh-CN" sz="1800" b="0" dirty="0"/>
              <a:t>当前链接结构指向左孩子</a:t>
            </a:r>
          </a:p>
          <a:p>
            <a:pPr>
              <a:spcBef>
                <a:spcPts val="0"/>
              </a:spcBef>
            </a:pPr>
            <a:r>
              <a:rPr lang="en-US" altLang="zh-CN" sz="1800" b="0" dirty="0"/>
              <a:t>         	} else{                                                   //</a:t>
            </a:r>
            <a:r>
              <a:rPr lang="zh-CN" altLang="zh-CN" sz="1400" b="0" dirty="0"/>
              <a:t>左子树访问完毕，转向访问右子树</a:t>
            </a:r>
          </a:p>
          <a:p>
            <a:pPr>
              <a:spcBef>
                <a:spcPts val="0"/>
              </a:spcBef>
            </a:pPr>
            <a:r>
              <a:rPr lang="en-US" altLang="zh-CN" sz="1800" b="0" dirty="0"/>
              <a:t>            	       pointer = </a:t>
            </a:r>
            <a:r>
              <a:rPr lang="en-US" altLang="zh-CN" sz="1800" b="0" dirty="0" err="1"/>
              <a:t>tStack.top</a:t>
            </a:r>
            <a:r>
              <a:rPr lang="en-US" altLang="zh-CN" sz="1800" b="0" dirty="0"/>
              <a:t>();                   //</a:t>
            </a:r>
            <a:r>
              <a:rPr lang="zh-CN" altLang="zh-CN" sz="1800" b="0" dirty="0"/>
              <a:t>当前链接结构指向栈顶的元素</a:t>
            </a:r>
          </a:p>
          <a:p>
            <a:pPr>
              <a:spcBef>
                <a:spcPts val="0"/>
              </a:spcBef>
            </a:pPr>
            <a:r>
              <a:rPr lang="en-US" altLang="zh-CN" sz="1800" b="0" dirty="0"/>
              <a:t> 		       tStack.pop();                                  //</a:t>
            </a:r>
            <a:r>
              <a:rPr lang="zh-CN" altLang="zh-CN" sz="1800" b="0" dirty="0"/>
              <a:t>栈顶元素出栈</a:t>
            </a:r>
            <a:endParaRPr lang="en-US" altLang="zh-CN" sz="1800" b="0" dirty="0"/>
          </a:p>
          <a:p>
            <a:pPr>
              <a:spcBef>
                <a:spcPts val="0"/>
              </a:spcBef>
            </a:pPr>
            <a:r>
              <a:rPr lang="en-US" altLang="zh-CN" sz="1800" b="0" dirty="0"/>
              <a:t>		        visit(pointer-&gt;value());                 //</a:t>
            </a:r>
            <a:r>
              <a:rPr lang="zh-CN" altLang="zh-CN" sz="1800" b="0" dirty="0"/>
              <a:t>访问当前结点</a:t>
            </a:r>
          </a:p>
          <a:p>
            <a:pPr>
              <a:spcBef>
                <a:spcPts val="0"/>
              </a:spcBef>
            </a:pPr>
            <a:r>
              <a:rPr lang="en-US" altLang="zh-CN" sz="1800" b="0" dirty="0"/>
              <a:t>            	       pointer = pointer-&gt;</a:t>
            </a:r>
            <a:r>
              <a:rPr lang="en-US" altLang="zh-CN" sz="1800" b="0" dirty="0" err="1"/>
              <a:t>rightchild</a:t>
            </a:r>
            <a:r>
              <a:rPr lang="en-US" altLang="zh-CN" sz="1800" b="0" dirty="0"/>
              <a:t>();     //</a:t>
            </a:r>
            <a:r>
              <a:rPr lang="zh-CN" altLang="zh-CN" sz="1800" b="0" dirty="0"/>
              <a:t>指向右孩子</a:t>
            </a:r>
          </a:p>
          <a:p>
            <a:pPr>
              <a:spcBef>
                <a:spcPts val="0"/>
              </a:spcBef>
            </a:pPr>
            <a:r>
              <a:rPr lang="en-US" altLang="zh-CN" sz="1800" b="0" dirty="0"/>
              <a:t>		}</a:t>
            </a:r>
            <a:endParaRPr lang="zh-CN" altLang="zh-CN" sz="1800" b="0" dirty="0"/>
          </a:p>
          <a:p>
            <a:pPr>
              <a:spcBef>
                <a:spcPts val="0"/>
              </a:spcBef>
            </a:pPr>
            <a:r>
              <a:rPr lang="en-US" altLang="zh-CN" sz="1800" b="0" dirty="0"/>
              <a:t>    	}</a:t>
            </a:r>
            <a:endParaRPr lang="zh-CN" altLang="zh-CN" sz="1800" b="0" dirty="0"/>
          </a:p>
          <a:p>
            <a:pPr>
              <a:spcBef>
                <a:spcPts val="0"/>
              </a:spcBef>
            </a:pPr>
            <a:r>
              <a:rPr lang="en-US" altLang="zh-CN" sz="1800" b="0" dirty="0"/>
              <a:t>}</a:t>
            </a:r>
            <a:endParaRPr lang="zh-CN" altLang="zh-CN" sz="1800" b="0" dirty="0"/>
          </a:p>
        </p:txBody>
      </p:sp>
    </p:spTree>
    <p:extLst>
      <p:ext uri="{BB962C8B-B14F-4D97-AF65-F5344CB8AC3E}">
        <p14:creationId xmlns:p14="http://schemas.microsoft.com/office/powerpoint/2010/main" val="208047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4348" y="785794"/>
            <a:ext cx="7429552" cy="5500726"/>
          </a:xfrm>
        </p:spPr>
        <p:txBody>
          <a:bodyPr>
            <a:noAutofit/>
          </a:bodyPr>
          <a:lstStyle/>
          <a:p>
            <a:pPr>
              <a:lnSpc>
                <a:spcPts val="1400"/>
              </a:lnSpc>
            </a:pPr>
            <a:r>
              <a:rPr kumimoji="1" lang="zh-CN" altLang="en-US" sz="2000" b="0" dirty="0">
                <a:latin typeface="黑体" pitchFamily="49" charset="-122"/>
                <a:ea typeface="黑体" pitchFamily="49" charset="-122"/>
              </a:rPr>
              <a:t>为了更加直观地看出中序算法的时间复杂度，将</a:t>
            </a:r>
            <a:r>
              <a:rPr kumimoji="1" lang="zh-CN" altLang="en-US" sz="2000" b="0" i="1" u="sng" dirty="0">
                <a:solidFill>
                  <a:srgbClr val="FF0066"/>
                </a:solidFill>
                <a:latin typeface="黑体" pitchFamily="49" charset="-122"/>
                <a:ea typeface="黑体" pitchFamily="49" charset="-122"/>
              </a:rPr>
              <a:t>算法</a:t>
            </a:r>
            <a:r>
              <a:rPr kumimoji="1" lang="zh-CN" altLang="en-US" sz="2000" b="0" dirty="0">
                <a:latin typeface="黑体" pitchFamily="49" charset="-122"/>
                <a:ea typeface="黑体" pitchFamily="49" charset="-122"/>
              </a:rPr>
              <a:t>书写为</a:t>
            </a:r>
            <a:r>
              <a:rPr kumimoji="1" lang="zh-CN" altLang="en-US" sz="2000" b="0" dirty="0">
                <a:solidFill>
                  <a:srgbClr val="FF0066"/>
                </a:solidFill>
                <a:latin typeface="黑体" pitchFamily="49" charset="-122"/>
                <a:ea typeface="黑体" pitchFamily="49" charset="-122"/>
              </a:rPr>
              <a:t>：</a:t>
            </a:r>
          </a:p>
          <a:p>
            <a:pPr>
              <a:lnSpc>
                <a:spcPts val="1400"/>
              </a:lnSpc>
            </a:pPr>
            <a:r>
              <a:rPr kumimoji="1" lang="zh-CN" altLang="en-US" sz="2000" b="0" dirty="0">
                <a:solidFill>
                  <a:srgbClr val="FF0066"/>
                </a:solidFill>
                <a:latin typeface="黑体" pitchFamily="49" charset="-122"/>
                <a:ea typeface="黑体" pitchFamily="49" charset="-122"/>
              </a:rPr>
              <a:t>  </a:t>
            </a:r>
            <a:r>
              <a:rPr kumimoji="1" lang="en-US" altLang="zh-CN" sz="1600" b="0" dirty="0" err="1">
                <a:latin typeface="黑体" pitchFamily="49" charset="-122"/>
                <a:ea typeface="黑体" pitchFamily="49" charset="-122"/>
              </a:rPr>
              <a:t>int</a:t>
            </a:r>
            <a:r>
              <a:rPr kumimoji="1" lang="en-US" altLang="zh-CN" sz="1600" b="0" dirty="0">
                <a:latin typeface="黑体" pitchFamily="49" charset="-122"/>
                <a:ea typeface="黑体" pitchFamily="49" charset="-122"/>
              </a:rPr>
              <a:t>   </a:t>
            </a:r>
            <a:r>
              <a:rPr kumimoji="1" lang="en-US" altLang="zh-CN" sz="1600" b="0" dirty="0" err="1">
                <a:latin typeface="黑体" pitchFamily="49" charset="-122"/>
                <a:ea typeface="黑体" pitchFamily="49" charset="-122"/>
              </a:rPr>
              <a:t>NonInOrderBtree</a:t>
            </a:r>
            <a:r>
              <a:rPr kumimoji="1" lang="en-US" altLang="zh-CN" sz="1600" b="0" dirty="0">
                <a:latin typeface="黑体" pitchFamily="49" charset="-122"/>
                <a:ea typeface="黑体" pitchFamily="49" charset="-122"/>
              </a:rPr>
              <a:t>(</a:t>
            </a:r>
            <a:r>
              <a:rPr kumimoji="1" lang="en-US" altLang="zh-CN" sz="1600" b="0" dirty="0" err="1">
                <a:latin typeface="黑体" pitchFamily="49" charset="-122"/>
                <a:ea typeface="黑体" pitchFamily="49" charset="-122"/>
              </a:rPr>
              <a:t>BTree</a:t>
            </a:r>
            <a:r>
              <a:rPr kumimoji="1" lang="en-US" altLang="zh-CN" sz="1600" b="0" dirty="0">
                <a:latin typeface="黑体" pitchFamily="49" charset="-122"/>
                <a:ea typeface="黑体" pitchFamily="49" charset="-122"/>
              </a:rPr>
              <a:t> *BT)</a:t>
            </a:r>
          </a:p>
          <a:p>
            <a:pPr>
              <a:lnSpc>
                <a:spcPts val="1400"/>
              </a:lnSpc>
            </a:pPr>
            <a:r>
              <a:rPr kumimoji="1" lang="en-US" altLang="zh-CN" sz="1600" b="0" dirty="0">
                <a:latin typeface="黑体" pitchFamily="49" charset="-122"/>
                <a:ea typeface="黑体" pitchFamily="49" charset="-122"/>
              </a:rPr>
              <a:t>  { top= 0</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p = BT</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if(p ≠ NULL){</a:t>
            </a:r>
          </a:p>
          <a:p>
            <a:pPr>
              <a:lnSpc>
                <a:spcPts val="1400"/>
              </a:lnSpc>
            </a:pPr>
            <a:r>
              <a:rPr kumimoji="1" lang="en-US" altLang="zh-CN" sz="1600" b="0" dirty="0">
                <a:latin typeface="黑体" pitchFamily="49" charset="-122"/>
                <a:ea typeface="黑体" pitchFamily="49" charset="-122"/>
              </a:rPr>
              <a:t>       top++</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S[top] = (p, 0)</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While(top &gt; 0){</a:t>
            </a:r>
          </a:p>
          <a:p>
            <a:pPr>
              <a:lnSpc>
                <a:spcPts val="1400"/>
              </a:lnSpc>
            </a:pPr>
            <a:r>
              <a:rPr kumimoji="1" lang="en-US" altLang="zh-CN" sz="1600" b="0" dirty="0">
                <a:latin typeface="黑体" pitchFamily="49" charset="-122"/>
                <a:ea typeface="黑体" pitchFamily="49" charset="-122"/>
              </a:rPr>
              <a:t>           P = S[top--]</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a:t>
            </a:r>
            <a:r>
              <a:rPr kumimoji="1" lang="en-US" altLang="zh-CN" sz="1600" b="0" dirty="0" err="1">
                <a:latin typeface="黑体" pitchFamily="49" charset="-122"/>
                <a:ea typeface="黑体" pitchFamily="49" charset="-122"/>
              </a:rPr>
              <a:t>p.mark</a:t>
            </a:r>
            <a:r>
              <a:rPr kumimoji="1" lang="en-US" altLang="zh-CN" sz="1600" b="0" dirty="0">
                <a:latin typeface="黑体" pitchFamily="49" charset="-122"/>
                <a:ea typeface="黑体" pitchFamily="49" charset="-122"/>
              </a:rPr>
              <a:t> = 0){</a:t>
            </a:r>
          </a:p>
          <a:p>
            <a:pPr>
              <a:lnSpc>
                <a:spcPts val="1400"/>
              </a:lnSpc>
            </a:pPr>
            <a:r>
              <a:rPr kumimoji="1" lang="en-US" altLang="zh-CN" sz="1600" b="0" dirty="0">
                <a:latin typeface="黑体" pitchFamily="49" charset="-122"/>
                <a:ea typeface="黑体" pitchFamily="49" charset="-122"/>
              </a:rPr>
              <a:t>               if(p-&gt;</a:t>
            </a:r>
            <a:r>
              <a:rPr kumimoji="1" lang="en-US" altLang="zh-CN" sz="1600" b="0" dirty="0" err="1">
                <a:latin typeface="黑体" pitchFamily="49" charset="-122"/>
                <a:ea typeface="黑体" pitchFamily="49" charset="-122"/>
              </a:rPr>
              <a:t>RChild</a:t>
            </a:r>
            <a:r>
              <a:rPr kumimoji="1" lang="en-US" altLang="zh-CN" sz="1600" b="0" dirty="0">
                <a:latin typeface="黑体" pitchFamily="49" charset="-122"/>
                <a:ea typeface="黑体" pitchFamily="49" charset="-122"/>
              </a:rPr>
              <a:t> ≠ NULL){   //</a:t>
            </a:r>
            <a:r>
              <a:rPr kumimoji="1" lang="zh-CN" altLang="en-US" sz="1600" b="0" dirty="0">
                <a:latin typeface="黑体" pitchFamily="49" charset="-122"/>
                <a:ea typeface="黑体" pitchFamily="49" charset="-122"/>
              </a:rPr>
              <a:t>右子树进栈</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top++</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s[top] = (p-&gt;</a:t>
            </a:r>
            <a:r>
              <a:rPr kumimoji="1" lang="en-US" altLang="zh-CN" sz="1600" b="0" dirty="0" err="1">
                <a:latin typeface="黑体" pitchFamily="49" charset="-122"/>
                <a:ea typeface="黑体" pitchFamily="49" charset="-122"/>
              </a:rPr>
              <a:t>Rchild</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0)</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a:p>
            <a:pPr>
              <a:lnSpc>
                <a:spcPts val="1400"/>
              </a:lnSpc>
            </a:pPr>
            <a:r>
              <a:rPr kumimoji="1" lang="en-US" altLang="zh-CN" sz="1600" b="0" dirty="0">
                <a:latin typeface="黑体" pitchFamily="49" charset="-122"/>
                <a:ea typeface="黑体" pitchFamily="49" charset="-122"/>
              </a:rPr>
              <a:t>               top++</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s[top] = (p</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1)</a:t>
            </a:r>
            <a:r>
              <a:rPr kumimoji="1" lang="zh-CN" altLang="en-US" sz="1600" b="0" dirty="0">
                <a:latin typeface="黑体" pitchFamily="49" charset="-122"/>
                <a:ea typeface="黑体" pitchFamily="49" charset="-122"/>
              </a:rPr>
              <a:t>；               </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if(p-&gt;</a:t>
            </a:r>
            <a:r>
              <a:rPr kumimoji="1" lang="en-US" altLang="zh-CN" sz="1600" b="0" dirty="0" err="1">
                <a:latin typeface="黑体" pitchFamily="49" charset="-122"/>
                <a:ea typeface="黑体" pitchFamily="49" charset="-122"/>
              </a:rPr>
              <a:t>LChild</a:t>
            </a:r>
            <a:r>
              <a:rPr kumimoji="1" lang="en-US" altLang="zh-CN" sz="1600" b="0" dirty="0">
                <a:latin typeface="黑体" pitchFamily="49" charset="-122"/>
                <a:ea typeface="黑体" pitchFamily="49" charset="-122"/>
              </a:rPr>
              <a:t> ≠ NULL){   //</a:t>
            </a:r>
            <a:r>
              <a:rPr kumimoji="1" lang="zh-CN" altLang="en-US" sz="1600" b="0" dirty="0">
                <a:latin typeface="黑体" pitchFamily="49" charset="-122"/>
                <a:ea typeface="黑体" pitchFamily="49" charset="-122"/>
              </a:rPr>
              <a:t>左子树进栈</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top++</a:t>
            </a: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s[top] = (p-&gt;</a:t>
            </a:r>
            <a:r>
              <a:rPr kumimoji="1" lang="en-US" altLang="zh-CN" sz="1600" b="0" dirty="0" err="1">
                <a:latin typeface="黑体" pitchFamily="49" charset="-122"/>
                <a:ea typeface="黑体" pitchFamily="49" charset="-122"/>
              </a:rPr>
              <a:t>Lchild</a:t>
            </a:r>
            <a:r>
              <a:rPr kumimoji="1" lang="en-US" altLang="zh-CN" sz="1600" b="0" dirty="0">
                <a:latin typeface="黑体" pitchFamily="49" charset="-122"/>
                <a:ea typeface="黑体" pitchFamily="49" charset="-122"/>
              </a:rPr>
              <a:t>, 0)</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a:p>
            <a:pPr>
              <a:lnSpc>
                <a:spcPts val="1400"/>
              </a:lnSpc>
            </a:pPr>
            <a:r>
              <a:rPr kumimoji="1" lang="en-US" altLang="zh-CN" sz="1600" b="0" dirty="0">
                <a:latin typeface="黑体" pitchFamily="49" charset="-122"/>
                <a:ea typeface="黑体" pitchFamily="49" charset="-122"/>
              </a:rPr>
              <a:t>           }else </a:t>
            </a:r>
            <a:r>
              <a:rPr kumimoji="1" lang="en-US" altLang="zh-CN" sz="1600" b="0" dirty="0" err="1">
                <a:latin typeface="黑体" pitchFamily="49" charset="-122"/>
                <a:ea typeface="黑体" pitchFamily="49" charset="-122"/>
              </a:rPr>
              <a:t>printf</a:t>
            </a:r>
            <a:r>
              <a:rPr kumimoji="1" lang="en-US" altLang="zh-CN" sz="1600" b="0" dirty="0">
                <a:latin typeface="黑体" pitchFamily="49" charset="-122"/>
                <a:ea typeface="黑体" pitchFamily="49" charset="-122"/>
              </a:rPr>
              <a:t>(p-&gt;data)</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a:p>
            <a:pPr>
              <a:lnSpc>
                <a:spcPts val="1400"/>
              </a:lnSpc>
            </a:pPr>
            <a:r>
              <a:rPr kumimoji="1" lang="en-US" altLang="zh-CN" sz="1600" b="0" dirty="0">
                <a:latin typeface="黑体" pitchFamily="49" charset="-122"/>
                <a:ea typeface="黑体" pitchFamily="49" charset="-122"/>
              </a:rPr>
              <a:t>    }</a:t>
            </a:r>
          </a:p>
          <a:p>
            <a:pPr>
              <a:lnSpc>
                <a:spcPts val="1400"/>
              </a:lnSpc>
            </a:pPr>
            <a:r>
              <a:rPr kumimoji="1" lang="en-US" altLang="zh-CN" sz="1600" b="0" dirty="0">
                <a:latin typeface="黑体" pitchFamily="49" charset="-122"/>
                <a:ea typeface="黑体" pitchFamily="49" charset="-122"/>
              </a:rPr>
              <a:t>    return(0)</a:t>
            </a:r>
            <a:r>
              <a:rPr kumimoji="1" lang="zh-CN" altLang="en-US" sz="1600" b="0" dirty="0">
                <a:latin typeface="黑体" pitchFamily="49" charset="-122"/>
                <a:ea typeface="黑体" pitchFamily="49" charset="-122"/>
              </a:rPr>
              <a:t>；</a:t>
            </a:r>
          </a:p>
          <a:p>
            <a:pPr>
              <a:lnSpc>
                <a:spcPts val="14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p:txBody>
      </p:sp>
    </p:spTree>
    <p:extLst>
      <p:ext uri="{BB962C8B-B14F-4D97-AF65-F5344CB8AC3E}">
        <p14:creationId xmlns:p14="http://schemas.microsoft.com/office/powerpoint/2010/main" val="208047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5.3.3 </a:t>
            </a:r>
            <a:r>
              <a:rPr lang="zh-CN" altLang="zh-CN" b="1" dirty="0"/>
              <a:t>二叉树的后序遍历</a:t>
            </a:r>
            <a:endParaRPr lang="zh-CN" altLang="en-US" dirty="0"/>
          </a:p>
        </p:txBody>
      </p:sp>
      <p:sp>
        <p:nvSpPr>
          <p:cNvPr id="3" name="内容占位符 2"/>
          <p:cNvSpPr>
            <a:spLocks noGrp="1"/>
          </p:cNvSpPr>
          <p:nvPr>
            <p:ph idx="1"/>
          </p:nvPr>
        </p:nvSpPr>
        <p:spPr>
          <a:xfrm>
            <a:off x="827584" y="1628800"/>
            <a:ext cx="8136904" cy="4443406"/>
          </a:xfrm>
        </p:spPr>
        <p:txBody>
          <a:bodyPr>
            <a:normAutofit/>
          </a:bodyPr>
          <a:lstStyle/>
          <a:p>
            <a:r>
              <a:rPr lang="zh-CN" altLang="zh-CN" dirty="0">
                <a:solidFill>
                  <a:srgbClr val="FF0000"/>
                </a:solidFill>
              </a:rPr>
              <a:t>后序遍历的递归定义如下：</a:t>
            </a:r>
          </a:p>
          <a:p>
            <a:r>
              <a:rPr lang="en-US" altLang="zh-CN" b="0" dirty="0"/>
              <a:t>	</a:t>
            </a:r>
            <a:r>
              <a:rPr lang="zh-CN" altLang="zh-CN" b="0" dirty="0"/>
              <a:t>若二叉树为空，则遍历结束；</a:t>
            </a:r>
            <a:endParaRPr lang="en-US" altLang="zh-CN" b="0" dirty="0"/>
          </a:p>
          <a:p>
            <a:r>
              <a:rPr lang="en-US" altLang="zh-CN" b="0" dirty="0"/>
              <a:t>	</a:t>
            </a:r>
            <a:r>
              <a:rPr lang="zh-CN" altLang="zh-CN" b="0" dirty="0"/>
              <a:t>否则：</a:t>
            </a:r>
          </a:p>
          <a:p>
            <a:r>
              <a:rPr lang="en-US" altLang="zh-CN" b="0" dirty="0"/>
              <a:t>		(1) </a:t>
            </a:r>
            <a:r>
              <a:rPr lang="zh-CN" altLang="zh-CN" b="0" dirty="0"/>
              <a:t>后序遍历左子树；</a:t>
            </a:r>
          </a:p>
          <a:p>
            <a:r>
              <a:rPr lang="en-US" altLang="zh-CN" b="0" dirty="0"/>
              <a:t>		(2) </a:t>
            </a:r>
            <a:r>
              <a:rPr lang="zh-CN" altLang="zh-CN" b="0" dirty="0"/>
              <a:t>后序遍历右子树；</a:t>
            </a:r>
          </a:p>
          <a:p>
            <a:r>
              <a:rPr lang="en-US" altLang="zh-CN" b="0" dirty="0"/>
              <a:t>		(3) </a:t>
            </a:r>
            <a:r>
              <a:rPr lang="zh-CN" altLang="zh-CN" b="0" dirty="0"/>
              <a:t>访问根结点。</a:t>
            </a:r>
          </a:p>
          <a:p>
            <a:endParaRPr lang="en-US" altLang="zh-CN" b="0" dirty="0"/>
          </a:p>
          <a:p>
            <a:r>
              <a:rPr lang="en-US" altLang="zh-CN" b="0" dirty="0"/>
              <a:t>	</a:t>
            </a:r>
            <a:r>
              <a:rPr lang="zh-CN" altLang="zh-CN" b="0" dirty="0"/>
              <a:t>即，按照</a:t>
            </a:r>
            <a:r>
              <a:rPr lang="en-US" altLang="zh-CN" b="0" dirty="0"/>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右子树</a:t>
            </a:r>
            <a:r>
              <a:rPr lang="en-US" altLang="zh-CN" b="0" dirty="0">
                <a:solidFill>
                  <a:srgbClr val="FF0000"/>
                </a:solidFill>
              </a:rPr>
              <a:t>—</a:t>
            </a:r>
            <a:r>
              <a:rPr lang="zh-CN" altLang="zh-CN" b="0" dirty="0">
                <a:solidFill>
                  <a:srgbClr val="FF0000"/>
                </a:solidFill>
              </a:rPr>
              <a:t>根</a:t>
            </a:r>
            <a:r>
              <a:rPr lang="en-US" altLang="zh-CN" b="0" dirty="0"/>
              <a:t>”</a:t>
            </a:r>
            <a:r>
              <a:rPr lang="zh-CN" altLang="zh-CN" b="0" dirty="0"/>
              <a:t>的次序递归的遍历二叉树。</a:t>
            </a:r>
          </a:p>
        </p:txBody>
      </p:sp>
    </p:spTree>
    <p:extLst>
      <p:ext uri="{BB962C8B-B14F-4D97-AF65-F5344CB8AC3E}">
        <p14:creationId xmlns:p14="http://schemas.microsoft.com/office/powerpoint/2010/main" val="507978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96544"/>
          </a:xfrm>
        </p:spPr>
        <p:txBody>
          <a:bodyPr>
            <a:normAutofit fontScale="92500"/>
          </a:bodyPr>
          <a:lstStyle/>
          <a:p>
            <a:r>
              <a:rPr lang="en-US" altLang="zh-CN" dirty="0"/>
              <a:t>	</a:t>
            </a:r>
            <a:r>
              <a:rPr lang="zh-CN" altLang="zh-CN" dirty="0"/>
              <a:t>后序遍历二叉树的递归算法描述如下：</a:t>
            </a:r>
          </a:p>
          <a:p>
            <a:r>
              <a:rPr lang="en-US" altLang="zh-CN" dirty="0"/>
              <a:t>	</a:t>
            </a:r>
            <a:r>
              <a:rPr lang="zh-CN" altLang="zh-CN" dirty="0"/>
              <a:t>算法</a:t>
            </a:r>
            <a:r>
              <a:rPr lang="en-US" altLang="zh-CN" dirty="0"/>
              <a:t>5.7</a:t>
            </a:r>
            <a:r>
              <a:rPr lang="zh-CN" altLang="zh-CN" dirty="0"/>
              <a:t>：</a:t>
            </a:r>
            <a:r>
              <a:rPr lang="zh-CN" altLang="zh-CN" dirty="0">
                <a:solidFill>
                  <a:srgbClr val="FF0000"/>
                </a:solidFill>
              </a:rPr>
              <a:t>后序遍历二叉树的递归算法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a:t>PostOrder</a:t>
            </a:r>
            <a:r>
              <a:rPr lang="en-US" altLang="zh-CN" b="0" dirty="0"/>
              <a:t>(</a:t>
            </a:r>
            <a:r>
              <a:rPr lang="en-US" altLang="zh-CN" b="0" dirty="0" err="1"/>
              <a:t>BinaryTreeNode</a:t>
            </a:r>
            <a:r>
              <a:rPr lang="en-US" altLang="zh-CN" b="0" dirty="0"/>
              <a:t>&lt;T&gt;* root){</a:t>
            </a:r>
            <a:endParaRPr lang="zh-CN" altLang="zh-CN" b="0" dirty="0"/>
          </a:p>
          <a:p>
            <a:r>
              <a:rPr lang="en-US" altLang="zh-CN" b="0" dirty="0"/>
              <a:t>    if (root == NULL) return;</a:t>
            </a:r>
            <a:endParaRPr lang="zh-CN" altLang="zh-CN" b="0" dirty="0"/>
          </a:p>
          <a:p>
            <a:r>
              <a:rPr lang="en-US" altLang="zh-CN" b="0" dirty="0"/>
              <a:t>    </a:t>
            </a:r>
            <a:r>
              <a:rPr lang="en-US" altLang="zh-CN" b="0" dirty="0" err="1"/>
              <a:t>PostOrder</a:t>
            </a:r>
            <a:r>
              <a:rPr lang="en-US" altLang="zh-CN" b="0" dirty="0"/>
              <a:t>(root-&gt;</a:t>
            </a:r>
            <a:r>
              <a:rPr lang="en-US" altLang="zh-CN" b="0" dirty="0" err="1"/>
              <a:t>leftchild</a:t>
            </a:r>
            <a:r>
              <a:rPr lang="en-US" altLang="zh-CN" b="0" dirty="0"/>
              <a:t>());		//</a:t>
            </a:r>
            <a:r>
              <a:rPr lang="zh-CN" altLang="zh-CN" b="0" dirty="0"/>
              <a:t>后序遍历左子树</a:t>
            </a:r>
          </a:p>
          <a:p>
            <a:r>
              <a:rPr lang="en-US" altLang="zh-CN" b="0" dirty="0"/>
              <a:t>    </a:t>
            </a:r>
            <a:r>
              <a:rPr lang="en-US" altLang="zh-CN" b="0" dirty="0" err="1"/>
              <a:t>PostOrder</a:t>
            </a:r>
            <a:r>
              <a:rPr lang="en-US" altLang="zh-CN" b="0" dirty="0"/>
              <a:t>(root-&gt;</a:t>
            </a:r>
            <a:r>
              <a:rPr lang="en-US" altLang="zh-CN" b="0" dirty="0" err="1"/>
              <a:t>rightchild</a:t>
            </a:r>
            <a:r>
              <a:rPr lang="en-US" altLang="zh-CN" b="0" dirty="0"/>
              <a:t>());		//</a:t>
            </a:r>
            <a:r>
              <a:rPr lang="zh-CN" altLang="zh-CN" b="0" dirty="0"/>
              <a:t>后序遍历右子树</a:t>
            </a:r>
          </a:p>
          <a:p>
            <a:r>
              <a:rPr lang="en-US" altLang="zh-CN" b="0" dirty="0"/>
              <a:t>    visit(root-&gt;value());			//</a:t>
            </a:r>
            <a:r>
              <a:rPr lang="zh-CN" altLang="zh-CN" b="0" dirty="0"/>
              <a:t>访问根结点</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2996218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5085184"/>
            <a:ext cx="7520940" cy="1131577"/>
          </a:xfrm>
        </p:spPr>
        <p:txBody>
          <a:bodyPr/>
          <a:lstStyle/>
          <a:p>
            <a:r>
              <a:rPr lang="zh-CN" altLang="zh-CN" dirty="0"/>
              <a:t>如图</a:t>
            </a:r>
            <a:r>
              <a:rPr lang="en-US" altLang="zh-CN" dirty="0"/>
              <a:t>5-14</a:t>
            </a:r>
            <a:r>
              <a:rPr lang="zh-CN" altLang="zh-CN" dirty="0"/>
              <a:t>所示二叉树</a:t>
            </a:r>
            <a:r>
              <a:rPr lang="en-US" altLang="zh-CN" dirty="0"/>
              <a:t>T</a:t>
            </a:r>
            <a:r>
              <a:rPr lang="en-US" altLang="zh-CN" baseline="-25000" dirty="0"/>
              <a:t>5</a:t>
            </a:r>
            <a:r>
              <a:rPr lang="zh-CN" altLang="zh-CN" dirty="0"/>
              <a:t>的后序遍历序列为：</a:t>
            </a:r>
            <a:r>
              <a:rPr lang="en-US" altLang="zh-CN" dirty="0"/>
              <a:t>DBGEHFCA</a:t>
            </a:r>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1052736"/>
            <a:ext cx="4104456" cy="3587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85491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lnSpcReduction="10000"/>
          </a:bodyPr>
          <a:lstStyle/>
          <a:p>
            <a:pPr>
              <a:buClr>
                <a:schemeClr val="folHlink"/>
              </a:buClr>
              <a:buSzPct val="85000"/>
            </a:pPr>
            <a:r>
              <a:rPr kumimoji="1" lang="zh-CN" altLang="en-US" sz="3000" b="0" dirty="0">
                <a:solidFill>
                  <a:srgbClr val="FF0000"/>
                </a:solidFill>
                <a:latin typeface="+mn-ea"/>
                <a:ea typeface="+mn-ea"/>
              </a:rPr>
              <a:t>后序编历的非递归思想的具体步骤是：</a:t>
            </a:r>
          </a:p>
          <a:p>
            <a:pPr>
              <a:spcBef>
                <a:spcPct val="50000"/>
              </a:spcBef>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1</a:t>
            </a:r>
            <a:r>
              <a:rPr kumimoji="1" lang="zh-CN" altLang="en-US" b="0" dirty="0">
                <a:solidFill>
                  <a:schemeClr val="accent3">
                    <a:lumMod val="75000"/>
                  </a:schemeClr>
                </a:solidFill>
                <a:latin typeface="黑体" pitchFamily="49" charset="-122"/>
                <a:ea typeface="黑体" pitchFamily="49" charset="-122"/>
              </a:rPr>
              <a:t>：将栈置空，同时将二叉树的根结点</a:t>
            </a:r>
            <a:r>
              <a:rPr kumimoji="1" lang="en-US" altLang="zh-CN" b="0" dirty="0">
                <a:solidFill>
                  <a:schemeClr val="accent3">
                    <a:lumMod val="75000"/>
                  </a:schemeClr>
                </a:solidFill>
                <a:latin typeface="黑体" pitchFamily="49" charset="-122"/>
                <a:ea typeface="黑体" pitchFamily="49" charset="-122"/>
              </a:rPr>
              <a:t>BT</a:t>
            </a:r>
            <a:r>
              <a:rPr kumimoji="1" lang="zh-CN" altLang="en-US" b="0" dirty="0">
                <a:solidFill>
                  <a:schemeClr val="accent3">
                    <a:lumMod val="75000"/>
                  </a:schemeClr>
                </a:solidFill>
                <a:latin typeface="黑体" pitchFamily="49" charset="-122"/>
                <a:ea typeface="黑体" pitchFamily="49" charset="-122"/>
              </a:rPr>
              <a:t>赋值给指针变量</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a:t>
            </a:r>
          </a:p>
          <a:p>
            <a:pPr>
              <a:spcBef>
                <a:spcPct val="50000"/>
              </a:spcBef>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2</a:t>
            </a:r>
            <a:r>
              <a:rPr kumimoji="1" lang="zh-CN" altLang="en-US" b="0" dirty="0">
                <a:solidFill>
                  <a:schemeClr val="accent3">
                    <a:lumMod val="75000"/>
                  </a:schemeClr>
                </a:solidFill>
                <a:latin typeface="黑体" pitchFamily="49" charset="-122"/>
                <a:ea typeface="黑体" pitchFamily="49" charset="-122"/>
              </a:rPr>
              <a:t>：如果</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不空，将</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入栈，进栈标志置成第一次，再将</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指向</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结点的左孩子结点。如此重复进行，直到</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为空为止。</a:t>
            </a:r>
            <a:endParaRPr kumimoji="1" lang="en-US" altLang="zh-CN" b="0" dirty="0">
              <a:solidFill>
                <a:schemeClr val="accent3">
                  <a:lumMod val="75000"/>
                </a:schemeClr>
              </a:solidFill>
              <a:latin typeface="黑体" pitchFamily="49" charset="-122"/>
              <a:ea typeface="黑体" pitchFamily="49" charset="-122"/>
            </a:endParaRPr>
          </a:p>
          <a:p>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3</a:t>
            </a:r>
            <a:r>
              <a:rPr kumimoji="1" lang="zh-CN" altLang="en-US" b="0" dirty="0">
                <a:solidFill>
                  <a:schemeClr val="accent3">
                    <a:lumMod val="75000"/>
                  </a:schemeClr>
                </a:solidFill>
                <a:latin typeface="黑体" pitchFamily="49" charset="-122"/>
                <a:ea typeface="黑体" pitchFamily="49" charset="-122"/>
              </a:rPr>
              <a:t>：若栈不空，从栈中弹出元素赋给指针变量</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，如果</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所指的结点是第一次进栈，则将结点</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进栈，将进栈标志置成第二次，再将</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指向</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结点的右孩子结点；否则访问结点</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a:t>
            </a:r>
            <a:r>
              <a:rPr kumimoji="1" lang="zh-CN" altLang="en-US" b="0" dirty="0">
                <a:solidFill>
                  <a:srgbClr val="FF0000"/>
                </a:solidFill>
                <a:latin typeface="黑体" pitchFamily="49" charset="-122"/>
                <a:ea typeface="黑体" pitchFamily="49" charset="-122"/>
              </a:rPr>
              <a:t>同时，将</a:t>
            </a:r>
            <a:r>
              <a:rPr kumimoji="1" lang="en-US" altLang="zh-CN" b="0" dirty="0">
                <a:solidFill>
                  <a:srgbClr val="FF0000"/>
                </a:solidFill>
                <a:latin typeface="黑体" pitchFamily="49" charset="-122"/>
                <a:ea typeface="黑体" pitchFamily="49" charset="-122"/>
              </a:rPr>
              <a:t>p</a:t>
            </a:r>
            <a:r>
              <a:rPr kumimoji="1" lang="zh-CN" altLang="en-US" b="0" dirty="0">
                <a:solidFill>
                  <a:srgbClr val="FF0000"/>
                </a:solidFill>
                <a:latin typeface="黑体" pitchFamily="49" charset="-122"/>
                <a:ea typeface="黑体" pitchFamily="49" charset="-122"/>
              </a:rPr>
              <a:t>强行置空。</a:t>
            </a:r>
            <a:endParaRPr kumimoji="1" lang="en-US" altLang="zh-CN" b="0" dirty="0">
              <a:solidFill>
                <a:srgbClr val="FF0000"/>
              </a:solidFill>
              <a:latin typeface="黑体" pitchFamily="49" charset="-122"/>
              <a:ea typeface="黑体" pitchFamily="49" charset="-122"/>
            </a:endParaRPr>
          </a:p>
          <a:p>
            <a:pPr>
              <a:buClr>
                <a:schemeClr val="folHlink"/>
              </a:buClr>
              <a:buSzPct val="85000"/>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4</a:t>
            </a:r>
            <a:r>
              <a:rPr kumimoji="1" lang="zh-CN" altLang="en-US" b="0" dirty="0">
                <a:solidFill>
                  <a:schemeClr val="accent3">
                    <a:lumMod val="75000"/>
                  </a:schemeClr>
                </a:solidFill>
                <a:latin typeface="黑体" pitchFamily="49" charset="-122"/>
                <a:ea typeface="黑体" pitchFamily="49" charset="-122"/>
              </a:rPr>
              <a:t>：重复执行</a:t>
            </a: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2</a:t>
            </a:r>
            <a:r>
              <a:rPr kumimoji="1" lang="zh-CN" altLang="en-US" b="0" dirty="0">
                <a:solidFill>
                  <a:schemeClr val="accent3">
                    <a:lumMod val="75000"/>
                  </a:schemeClr>
                </a:solidFill>
                <a:latin typeface="黑体" pitchFamily="49" charset="-122"/>
                <a:ea typeface="黑体" pitchFamily="49" charset="-122"/>
              </a:rPr>
              <a:t>和</a:t>
            </a: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3</a:t>
            </a:r>
            <a:r>
              <a:rPr kumimoji="1" lang="zh-CN" altLang="en-US" b="0" dirty="0">
                <a:solidFill>
                  <a:schemeClr val="accent3">
                    <a:lumMod val="75000"/>
                  </a:schemeClr>
                </a:solidFill>
                <a:latin typeface="黑体" pitchFamily="49" charset="-122"/>
                <a:ea typeface="黑体" pitchFamily="49" charset="-122"/>
              </a:rPr>
              <a:t>，直到</a:t>
            </a:r>
            <a:r>
              <a:rPr kumimoji="1" lang="en-US" altLang="zh-CN" b="0" dirty="0">
                <a:solidFill>
                  <a:schemeClr val="accent3">
                    <a:lumMod val="75000"/>
                  </a:schemeClr>
                </a:solidFill>
                <a:latin typeface="黑体" pitchFamily="49" charset="-122"/>
                <a:ea typeface="黑体" pitchFamily="49" charset="-122"/>
              </a:rPr>
              <a:t>p</a:t>
            </a:r>
            <a:r>
              <a:rPr kumimoji="1" lang="zh-CN" altLang="en-US" b="0" dirty="0">
                <a:solidFill>
                  <a:schemeClr val="accent3">
                    <a:lumMod val="75000"/>
                  </a:schemeClr>
                </a:solidFill>
                <a:latin typeface="黑体" pitchFamily="49" charset="-122"/>
                <a:ea typeface="黑体" pitchFamily="49" charset="-122"/>
              </a:rPr>
              <a:t>为空和栈也为空为止。</a:t>
            </a:r>
            <a:endParaRPr lang="zh-CN" altLang="en-US" dirty="0">
              <a:solidFill>
                <a:schemeClr val="accent3">
                  <a:lumMod val="75000"/>
                </a:schemeClr>
              </a:solidFill>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42918"/>
            <a:ext cx="7992888" cy="5857916"/>
          </a:xfrm>
        </p:spPr>
        <p:txBody>
          <a:bodyPr>
            <a:noAutofit/>
          </a:bodyPr>
          <a:lstStyle/>
          <a:p>
            <a:pPr lvl="1">
              <a:buNone/>
            </a:pPr>
            <a:r>
              <a:rPr kumimoji="1" lang="en-US" altLang="zh-CN" sz="1400" b="0" dirty="0" err="1">
                <a:latin typeface="+mj-ea"/>
                <a:ea typeface="+mj-ea"/>
              </a:rPr>
              <a:t>int</a:t>
            </a:r>
            <a:r>
              <a:rPr kumimoji="1" lang="en-US" altLang="zh-CN" sz="1400" b="0" dirty="0">
                <a:latin typeface="+mj-ea"/>
                <a:ea typeface="+mj-ea"/>
              </a:rPr>
              <a:t>    </a:t>
            </a:r>
            <a:r>
              <a:rPr kumimoji="1" lang="en-US" altLang="zh-CN" sz="1400" b="0" dirty="0" err="1">
                <a:latin typeface="+mj-ea"/>
                <a:ea typeface="+mj-ea"/>
              </a:rPr>
              <a:t>NonPostOrderTraverseBTree</a:t>
            </a:r>
            <a:r>
              <a:rPr kumimoji="1" lang="en-US" altLang="zh-CN" sz="1400" b="0" dirty="0">
                <a:latin typeface="+mj-ea"/>
                <a:ea typeface="+mj-ea"/>
              </a:rPr>
              <a:t>(</a:t>
            </a:r>
            <a:r>
              <a:rPr kumimoji="1" lang="en-US" altLang="zh-CN" sz="1400" b="0" dirty="0" err="1">
                <a:latin typeface="+mj-ea"/>
                <a:ea typeface="+mj-ea"/>
              </a:rPr>
              <a:t>BTree</a:t>
            </a:r>
            <a:r>
              <a:rPr kumimoji="1" lang="en-US" altLang="zh-CN" sz="1400" b="0" dirty="0">
                <a:latin typeface="+mj-ea"/>
                <a:ea typeface="+mj-ea"/>
              </a:rPr>
              <a:t> *BT)</a:t>
            </a:r>
            <a:r>
              <a:rPr kumimoji="1" lang="zh-CN" altLang="en-US" sz="1400" b="0" dirty="0">
                <a:latin typeface="+mj-ea"/>
                <a:ea typeface="+mj-ea"/>
              </a:rPr>
              <a:t>；</a:t>
            </a:r>
          </a:p>
          <a:p>
            <a:pPr lvl="1">
              <a:buNone/>
            </a:pPr>
            <a:r>
              <a:rPr kumimoji="1" lang="en-US" altLang="zh-CN" sz="1400" b="0" dirty="0">
                <a:latin typeface="+mj-ea"/>
                <a:ea typeface="+mj-ea"/>
              </a:rPr>
              <a:t>{ </a:t>
            </a:r>
            <a:r>
              <a:rPr kumimoji="1" lang="en-US" altLang="zh-CN" sz="1400" b="0" dirty="0" err="1">
                <a:latin typeface="+mj-ea"/>
                <a:ea typeface="+mj-ea"/>
              </a:rPr>
              <a:t>int</a:t>
            </a:r>
            <a:r>
              <a:rPr kumimoji="1" lang="en-US" altLang="zh-CN" sz="1400" b="0" dirty="0">
                <a:latin typeface="+mj-ea"/>
                <a:ea typeface="+mj-ea"/>
              </a:rPr>
              <a:t>     </a:t>
            </a:r>
            <a:r>
              <a:rPr kumimoji="1" lang="en-US" altLang="zh-CN" sz="1400" b="0" dirty="0" err="1">
                <a:latin typeface="+mj-ea"/>
                <a:ea typeface="+mj-ea"/>
              </a:rPr>
              <a:t>InitialStack</a:t>
            </a:r>
            <a:r>
              <a:rPr kumimoji="1" lang="en-US" altLang="zh-CN" sz="1400" dirty="0">
                <a:latin typeface="+mj-ea"/>
                <a:ea typeface="+mj-ea"/>
              </a:rPr>
              <a:t>(S);</a:t>
            </a:r>
            <a:r>
              <a:rPr kumimoji="1" lang="en-US" altLang="zh-CN" sz="1400" b="0" dirty="0">
                <a:latin typeface="+mj-ea"/>
                <a:ea typeface="+mj-ea"/>
              </a:rPr>
              <a:t>  p = BT</a:t>
            </a:r>
            <a:r>
              <a:rPr kumimoji="1" lang="zh-CN" altLang="en-US" sz="1400" b="0" dirty="0">
                <a:latin typeface="+mj-ea"/>
                <a:ea typeface="+mj-ea"/>
              </a:rPr>
              <a:t>；</a:t>
            </a:r>
          </a:p>
          <a:p>
            <a:pPr lvl="1">
              <a:buNone/>
            </a:pPr>
            <a:r>
              <a:rPr kumimoji="1" lang="zh-CN" altLang="en-US" sz="1400" b="0" dirty="0">
                <a:latin typeface="+mj-ea"/>
                <a:ea typeface="+mj-ea"/>
              </a:rPr>
              <a:t>  </a:t>
            </a:r>
            <a:r>
              <a:rPr kumimoji="1" lang="en-US" altLang="zh-CN" sz="1600" b="0" dirty="0">
                <a:latin typeface="+mj-ea"/>
                <a:ea typeface="+mj-ea"/>
              </a:rPr>
              <a:t>while((p </a:t>
            </a:r>
            <a:r>
              <a:rPr kumimoji="1" lang="en-US" altLang="zh-CN" sz="1600" dirty="0">
                <a:latin typeface="+mj-ea"/>
                <a:ea typeface="+mj-ea"/>
              </a:rPr>
              <a:t>≠</a:t>
            </a:r>
            <a:r>
              <a:rPr kumimoji="1" lang="en-US" altLang="zh-CN" sz="1600" b="0" dirty="0">
                <a:latin typeface="+mj-ea"/>
                <a:ea typeface="+mj-ea"/>
              </a:rPr>
              <a:t> NULL) or (!Empty(S))){</a:t>
            </a:r>
          </a:p>
          <a:p>
            <a:pPr lvl="1">
              <a:buNone/>
            </a:pPr>
            <a:r>
              <a:rPr kumimoji="1" lang="en-US" altLang="zh-CN" sz="1600" b="0" dirty="0">
                <a:latin typeface="+mj-ea"/>
                <a:ea typeface="+mj-ea"/>
              </a:rPr>
              <a:t>      while(p </a:t>
            </a:r>
            <a:r>
              <a:rPr kumimoji="1" lang="en-US" altLang="zh-CN" sz="1600" dirty="0">
                <a:latin typeface="+mj-ea"/>
                <a:ea typeface="+mj-ea"/>
              </a:rPr>
              <a:t>≠</a:t>
            </a:r>
            <a:r>
              <a:rPr kumimoji="1" lang="en-US" altLang="zh-CN" sz="1600" b="0" dirty="0">
                <a:latin typeface="+mj-ea"/>
                <a:ea typeface="+mj-ea"/>
              </a:rPr>
              <a:t> NULL){</a:t>
            </a:r>
          </a:p>
          <a:p>
            <a:pPr lvl="1">
              <a:buNone/>
            </a:pPr>
            <a:r>
              <a:rPr kumimoji="1" lang="en-US" altLang="zh-CN" sz="1600" b="0" dirty="0">
                <a:latin typeface="+mj-ea"/>
                <a:ea typeface="+mj-ea"/>
              </a:rPr>
              <a:t>          P</a:t>
            </a:r>
            <a:r>
              <a:rPr kumimoji="1" lang="en-US" altLang="zh-CN" sz="1600" dirty="0">
                <a:latin typeface="+mj-ea"/>
                <a:ea typeface="+mj-ea"/>
              </a:rPr>
              <a:t>ush(S, p, 1)</a:t>
            </a:r>
            <a:r>
              <a:rPr kumimoji="1" lang="zh-CN" altLang="en-US" sz="1600" b="0" dirty="0">
                <a:latin typeface="+mj-ea"/>
                <a:ea typeface="+mj-ea"/>
              </a:rPr>
              <a:t>；                            </a:t>
            </a:r>
            <a:r>
              <a:rPr kumimoji="1" lang="en-US" altLang="zh-CN" sz="1600" b="0" dirty="0">
                <a:latin typeface="+mj-ea"/>
                <a:ea typeface="+mj-ea"/>
              </a:rPr>
              <a:t>// </a:t>
            </a:r>
            <a:r>
              <a:rPr kumimoji="1" lang="zh-CN" altLang="en-US" sz="1600" b="0" dirty="0">
                <a:latin typeface="+mj-ea"/>
                <a:ea typeface="+mj-ea"/>
              </a:rPr>
              <a:t>将结点</a:t>
            </a:r>
            <a:r>
              <a:rPr kumimoji="1" lang="en-US" altLang="zh-CN" sz="1600" b="0" dirty="0">
                <a:latin typeface="+mj-ea"/>
                <a:ea typeface="+mj-ea"/>
              </a:rPr>
              <a:t>p</a:t>
            </a:r>
            <a:r>
              <a:rPr kumimoji="1" lang="zh-CN" altLang="en-US" sz="1600" b="0" dirty="0">
                <a:latin typeface="+mj-ea"/>
                <a:ea typeface="+mj-ea"/>
              </a:rPr>
              <a:t>第一次进栈</a:t>
            </a:r>
            <a:endParaRPr kumimoji="1" lang="en-US" altLang="zh-CN" sz="1600" b="0" dirty="0">
              <a:latin typeface="+mj-ea"/>
              <a:ea typeface="+mj-ea"/>
            </a:endParaRPr>
          </a:p>
          <a:p>
            <a:pPr lvl="1">
              <a:buNone/>
            </a:pPr>
            <a:r>
              <a:rPr kumimoji="1" lang="zh-CN" altLang="en-US" sz="1600" b="0" dirty="0">
                <a:latin typeface="+mj-ea"/>
                <a:ea typeface="+mj-ea"/>
              </a:rPr>
              <a:t>          </a:t>
            </a:r>
            <a:r>
              <a:rPr kumimoji="1" lang="en-US" altLang="zh-CN" sz="1600" b="0" dirty="0">
                <a:latin typeface="+mj-ea"/>
                <a:ea typeface="+mj-ea"/>
              </a:rPr>
              <a:t>p = p-&gt;</a:t>
            </a:r>
            <a:r>
              <a:rPr kumimoji="1" lang="en-US" altLang="zh-CN" sz="1600" b="0" dirty="0" err="1">
                <a:latin typeface="+mj-ea"/>
                <a:ea typeface="+mj-ea"/>
              </a:rPr>
              <a:t>LChild</a:t>
            </a:r>
            <a:r>
              <a:rPr kumimoji="1" lang="zh-CN" altLang="en-US" sz="1600" b="0" dirty="0">
                <a:latin typeface="+mj-ea"/>
                <a:ea typeface="+mj-ea"/>
              </a:rPr>
              <a:t>；</a:t>
            </a:r>
          </a:p>
          <a:p>
            <a:pPr lvl="1">
              <a:buNone/>
            </a:pPr>
            <a:r>
              <a:rPr kumimoji="1" lang="zh-CN" altLang="en-US" sz="1600" b="0" dirty="0">
                <a:latin typeface="+mj-ea"/>
                <a:ea typeface="+mj-ea"/>
              </a:rPr>
              <a:t>      </a:t>
            </a:r>
            <a:r>
              <a:rPr kumimoji="1" lang="en-US" altLang="zh-CN" sz="1600" b="0" dirty="0">
                <a:latin typeface="+mj-ea"/>
                <a:ea typeface="+mj-ea"/>
              </a:rPr>
              <a:t>}</a:t>
            </a:r>
          </a:p>
          <a:p>
            <a:pPr lvl="1">
              <a:buNone/>
            </a:pPr>
            <a:r>
              <a:rPr kumimoji="1" lang="en-US" altLang="zh-CN" sz="1600" b="0" dirty="0">
                <a:latin typeface="+mj-ea"/>
                <a:ea typeface="+mj-ea"/>
              </a:rPr>
              <a:t>      if</a:t>
            </a:r>
            <a:r>
              <a:rPr kumimoji="1" lang="en-US" altLang="zh-CN" sz="1600" dirty="0">
                <a:latin typeface="+mj-ea"/>
                <a:ea typeface="+mj-ea"/>
              </a:rPr>
              <a:t>(!Empty(S)</a:t>
            </a:r>
            <a:r>
              <a:rPr kumimoji="1" lang="en-US" altLang="zh-CN" sz="1600" b="0" dirty="0">
                <a:latin typeface="+mj-ea"/>
                <a:ea typeface="+mj-ea"/>
              </a:rPr>
              <a:t>{</a:t>
            </a:r>
          </a:p>
          <a:p>
            <a:pPr lvl="1">
              <a:buNone/>
            </a:pPr>
            <a:r>
              <a:rPr kumimoji="1" lang="en-US" altLang="zh-CN" sz="1600" b="0" dirty="0">
                <a:latin typeface="+mj-ea"/>
                <a:ea typeface="+mj-ea"/>
              </a:rPr>
              <a:t>          p = Pop(S)</a:t>
            </a:r>
            <a:r>
              <a:rPr kumimoji="1" lang="zh-CN" altLang="en-US" sz="1600" b="0" dirty="0">
                <a:latin typeface="+mj-ea"/>
                <a:ea typeface="+mj-ea"/>
              </a:rPr>
              <a:t>；</a:t>
            </a:r>
            <a:endParaRPr kumimoji="1" lang="en-US" altLang="zh-CN" sz="1600" b="0" dirty="0">
              <a:latin typeface="+mj-ea"/>
              <a:ea typeface="+mj-ea"/>
            </a:endParaRPr>
          </a:p>
          <a:p>
            <a:pPr lvl="1">
              <a:buNone/>
            </a:pPr>
            <a:r>
              <a:rPr kumimoji="1" lang="en-US" altLang="zh-CN" sz="1600" b="0" dirty="0">
                <a:latin typeface="+mj-ea"/>
                <a:ea typeface="+mj-ea"/>
              </a:rPr>
              <a:t>          if(p-&gt;mark = 1){</a:t>
            </a:r>
          </a:p>
          <a:p>
            <a:pPr lvl="1">
              <a:buNone/>
            </a:pPr>
            <a:r>
              <a:rPr kumimoji="1" lang="en-US" altLang="zh-CN" sz="1600" b="0" dirty="0">
                <a:latin typeface="+mj-ea"/>
                <a:ea typeface="+mj-ea"/>
              </a:rPr>
              <a:t>              </a:t>
            </a:r>
            <a:r>
              <a:rPr kumimoji="1" lang="en-US" altLang="zh-CN" sz="1600" dirty="0">
                <a:latin typeface="+mj-ea"/>
                <a:ea typeface="+mj-ea"/>
              </a:rPr>
              <a:t>Push(S, p, 2)</a:t>
            </a:r>
            <a:r>
              <a:rPr kumimoji="1" lang="zh-CN" altLang="en-US" sz="1600" dirty="0">
                <a:latin typeface="+mj-ea"/>
                <a:ea typeface="+mj-ea"/>
              </a:rPr>
              <a:t>；                        </a:t>
            </a:r>
            <a:r>
              <a:rPr kumimoji="1" lang="en-US" altLang="zh-CN" sz="1600" dirty="0">
                <a:latin typeface="+mj-ea"/>
                <a:ea typeface="+mj-ea"/>
              </a:rPr>
              <a:t>// </a:t>
            </a:r>
            <a:r>
              <a:rPr kumimoji="1" lang="zh-CN" altLang="en-US" sz="1600" dirty="0">
                <a:latin typeface="+mj-ea"/>
                <a:ea typeface="+mj-ea"/>
              </a:rPr>
              <a:t>将结点</a:t>
            </a:r>
            <a:r>
              <a:rPr kumimoji="1" lang="en-US" altLang="zh-CN" sz="1600" dirty="0">
                <a:latin typeface="+mj-ea"/>
                <a:ea typeface="+mj-ea"/>
              </a:rPr>
              <a:t>p</a:t>
            </a:r>
            <a:r>
              <a:rPr kumimoji="1" lang="zh-CN" altLang="en-US" sz="1600" dirty="0">
                <a:latin typeface="+mj-ea"/>
                <a:ea typeface="+mj-ea"/>
              </a:rPr>
              <a:t>第二次进栈</a:t>
            </a:r>
            <a:endParaRPr kumimoji="1" lang="en-US" altLang="zh-CN" sz="1600" dirty="0">
              <a:latin typeface="+mj-ea"/>
              <a:ea typeface="+mj-ea"/>
            </a:endParaRPr>
          </a:p>
          <a:p>
            <a:pPr lvl="1">
              <a:buNone/>
            </a:pPr>
            <a:r>
              <a:rPr kumimoji="1" lang="en-US" altLang="zh-CN" sz="1600" b="0" dirty="0">
                <a:latin typeface="+mj-ea"/>
                <a:ea typeface="+mj-ea"/>
              </a:rPr>
              <a:t>              p = p-&gt;</a:t>
            </a:r>
            <a:r>
              <a:rPr kumimoji="1" lang="en-US" altLang="zh-CN" sz="1600" b="0" dirty="0" err="1">
                <a:latin typeface="+mj-ea"/>
                <a:ea typeface="+mj-ea"/>
              </a:rPr>
              <a:t>RChild</a:t>
            </a:r>
            <a:r>
              <a:rPr kumimoji="1" lang="zh-CN" altLang="en-US" sz="1600" b="0" dirty="0">
                <a:latin typeface="+mj-ea"/>
                <a:ea typeface="+mj-ea"/>
              </a:rPr>
              <a:t>；</a:t>
            </a:r>
          </a:p>
          <a:p>
            <a:pPr lvl="1">
              <a:buNone/>
            </a:pPr>
            <a:r>
              <a:rPr kumimoji="1" lang="zh-CN" altLang="en-US" sz="1600" b="0" dirty="0">
                <a:latin typeface="+mj-ea"/>
                <a:ea typeface="+mj-ea"/>
              </a:rPr>
              <a:t>          </a:t>
            </a:r>
            <a:r>
              <a:rPr kumimoji="1" lang="en-US" altLang="zh-CN" sz="1600" b="0" dirty="0">
                <a:latin typeface="+mj-ea"/>
                <a:ea typeface="+mj-ea"/>
              </a:rPr>
              <a:t>}else{ </a:t>
            </a:r>
            <a:r>
              <a:rPr kumimoji="1" lang="en-US" altLang="zh-CN" sz="1600" b="0" dirty="0" err="1">
                <a:latin typeface="+mj-ea"/>
                <a:ea typeface="+mj-ea"/>
              </a:rPr>
              <a:t>printf</a:t>
            </a:r>
            <a:r>
              <a:rPr kumimoji="1" lang="en-US" altLang="zh-CN" sz="1600" b="0" dirty="0">
                <a:latin typeface="+mj-ea"/>
                <a:ea typeface="+mj-ea"/>
              </a:rPr>
              <a:t>(p-&gt;data)</a:t>
            </a:r>
            <a:r>
              <a:rPr kumimoji="1" lang="zh-CN" altLang="en-US" sz="1600" b="0" dirty="0">
                <a:latin typeface="+mj-ea"/>
                <a:ea typeface="+mj-ea"/>
              </a:rPr>
              <a:t>；</a:t>
            </a:r>
            <a:r>
              <a:rPr kumimoji="1" lang="en-US" altLang="zh-CN" sz="1600" b="0" dirty="0">
                <a:latin typeface="+mj-ea"/>
                <a:ea typeface="+mj-ea"/>
              </a:rPr>
              <a:t>p = NULL</a:t>
            </a:r>
            <a:r>
              <a:rPr kumimoji="1" lang="zh-CN" altLang="en-US" sz="1600" b="0" dirty="0">
                <a:latin typeface="+mj-ea"/>
                <a:ea typeface="+mj-ea"/>
              </a:rPr>
              <a:t>；</a:t>
            </a:r>
          </a:p>
          <a:p>
            <a:pPr lvl="1">
              <a:buNone/>
            </a:pPr>
            <a:r>
              <a:rPr kumimoji="1" lang="zh-CN" altLang="en-US" sz="1600" b="0" dirty="0">
                <a:latin typeface="+mj-ea"/>
                <a:ea typeface="+mj-ea"/>
              </a:rPr>
              <a:t>          </a:t>
            </a:r>
            <a:r>
              <a:rPr kumimoji="1" lang="en-US" altLang="zh-CN" sz="1600" b="0" dirty="0">
                <a:latin typeface="+mj-ea"/>
                <a:ea typeface="+mj-ea"/>
              </a:rPr>
              <a:t>}</a:t>
            </a:r>
          </a:p>
          <a:p>
            <a:pPr lvl="1">
              <a:buNone/>
            </a:pPr>
            <a:r>
              <a:rPr kumimoji="1" lang="en-US" altLang="zh-CN" sz="1600" b="0" dirty="0">
                <a:latin typeface="+mj-ea"/>
                <a:ea typeface="+mj-ea"/>
              </a:rPr>
              <a:t>      }</a:t>
            </a:r>
          </a:p>
          <a:p>
            <a:pPr lvl="1">
              <a:buNone/>
            </a:pPr>
            <a:r>
              <a:rPr kumimoji="1" lang="en-US" altLang="zh-CN" sz="1600" b="0" dirty="0">
                <a:latin typeface="+mj-ea"/>
                <a:ea typeface="+mj-ea"/>
              </a:rPr>
              <a:t>  }</a:t>
            </a:r>
          </a:p>
          <a:p>
            <a:pPr lvl="1">
              <a:buNone/>
            </a:pPr>
            <a:r>
              <a:rPr kumimoji="1" lang="en-US" altLang="zh-CN" sz="1600" b="0" dirty="0">
                <a:latin typeface="+mj-ea"/>
                <a:ea typeface="+mj-ea"/>
              </a:rPr>
              <a:t>  return(0)</a:t>
            </a:r>
            <a:r>
              <a:rPr kumimoji="1" lang="zh-CN" altLang="en-US" sz="1600" b="0" dirty="0">
                <a:latin typeface="+mj-ea"/>
                <a:ea typeface="+mj-ea"/>
              </a:rPr>
              <a:t>；</a:t>
            </a:r>
          </a:p>
          <a:p>
            <a:pPr lvl="1">
              <a:buNone/>
            </a:pPr>
            <a:r>
              <a:rPr kumimoji="1" lang="en-US" altLang="zh-CN" sz="1600" b="0" dirty="0">
                <a:latin typeface="+mj-ea"/>
                <a:ea typeface="+mj-ea"/>
              </a:rPr>
              <a:t>} </a:t>
            </a:r>
          </a:p>
          <a:p>
            <a:pPr lvl="1">
              <a:buNone/>
            </a:pPr>
            <a:endParaRPr lang="zh-CN" altLang="en-US" sz="1400" b="0" dirty="0"/>
          </a:p>
        </p:txBody>
      </p:sp>
    </p:spTree>
    <p:extLst>
      <p:ext uri="{BB962C8B-B14F-4D97-AF65-F5344CB8AC3E}">
        <p14:creationId xmlns:p14="http://schemas.microsoft.com/office/powerpoint/2010/main" val="3490437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520940" cy="5184576"/>
          </a:xfrm>
        </p:spPr>
        <p:txBody>
          <a:bodyPr>
            <a:normAutofit fontScale="70000" lnSpcReduction="20000"/>
          </a:bodyPr>
          <a:lstStyle/>
          <a:p>
            <a:r>
              <a:rPr lang="zh-CN" altLang="zh-CN" dirty="0"/>
              <a:t>算法</a:t>
            </a:r>
            <a:r>
              <a:rPr lang="en-US" altLang="zh-CN" dirty="0"/>
              <a:t>5.8</a:t>
            </a:r>
            <a:r>
              <a:rPr lang="zh-CN" altLang="zh-CN" dirty="0"/>
              <a:t>：</a:t>
            </a:r>
            <a:r>
              <a:rPr lang="zh-CN" altLang="zh-CN" dirty="0">
                <a:solidFill>
                  <a:srgbClr val="FF0000"/>
                </a:solidFill>
              </a:rPr>
              <a:t>后序遍历二叉树的非递归算法</a:t>
            </a:r>
          </a:p>
          <a:p>
            <a:r>
              <a:rPr lang="en-US" altLang="zh-CN" b="0" dirty="0" err="1"/>
              <a:t>enum</a:t>
            </a:r>
            <a:r>
              <a:rPr lang="en-US" altLang="zh-CN" b="0" dirty="0"/>
              <a:t> Tag{L, R};</a:t>
            </a:r>
            <a:endParaRPr lang="zh-CN" altLang="zh-CN" b="0" dirty="0"/>
          </a:p>
          <a:p>
            <a:r>
              <a:rPr lang="en-US" altLang="zh-CN" b="0" dirty="0"/>
              <a:t>template &lt;class T&gt;</a:t>
            </a:r>
            <a:endParaRPr lang="zh-CN" altLang="zh-CN" b="0" dirty="0"/>
          </a:p>
          <a:p>
            <a:r>
              <a:rPr lang="en-US" altLang="zh-CN" b="0" dirty="0"/>
              <a:t>class </a:t>
            </a:r>
            <a:r>
              <a:rPr lang="en-US" altLang="zh-CN" b="0" dirty="0" err="1"/>
              <a:t>StackNode</a:t>
            </a:r>
            <a:r>
              <a:rPr lang="en-US" altLang="zh-CN" b="0" dirty="0"/>
              <a:t>{</a:t>
            </a:r>
            <a:endParaRPr lang="zh-CN" altLang="zh-CN" b="0" dirty="0"/>
          </a:p>
          <a:p>
            <a:r>
              <a:rPr lang="en-US" altLang="zh-CN" b="0" dirty="0"/>
              <a:t>public:</a:t>
            </a:r>
            <a:endParaRPr lang="zh-CN" altLang="zh-CN" b="0" dirty="0"/>
          </a:p>
          <a:p>
            <a:r>
              <a:rPr lang="en-US" altLang="zh-CN" b="0" dirty="0"/>
              <a:t>    </a:t>
            </a:r>
            <a:r>
              <a:rPr lang="en-US" altLang="zh-CN" b="0" dirty="0" err="1"/>
              <a:t>BinaryTreeNode</a:t>
            </a:r>
            <a:r>
              <a:rPr lang="en-US" altLang="zh-CN" b="0" dirty="0"/>
              <a:t>&lt;T&gt;* pointer;</a:t>
            </a:r>
            <a:endParaRPr lang="zh-CN" altLang="zh-CN" b="0" dirty="0"/>
          </a:p>
          <a:p>
            <a:r>
              <a:rPr lang="en-US" altLang="zh-CN" b="0" dirty="0"/>
              <a:t>    Tag </a:t>
            </a:r>
            <a:r>
              <a:rPr lang="en-US" altLang="zh-CN" b="0" dirty="0" err="1"/>
              <a:t>tag</a:t>
            </a:r>
            <a:r>
              <a:rPr lang="en-US" altLang="zh-CN" b="0" dirty="0"/>
              <a:t>;</a:t>
            </a:r>
            <a:endParaRPr lang="zh-CN" altLang="zh-CN" b="0" dirty="0"/>
          </a:p>
          <a:p>
            <a:r>
              <a:rPr lang="en-US" altLang="zh-CN" b="0" dirty="0"/>
              <a:t>};</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a:t>PostOrderWithoutRecusion</a:t>
            </a:r>
            <a:r>
              <a:rPr lang="en-US" altLang="zh-CN" b="0" dirty="0"/>
              <a:t>(</a:t>
            </a:r>
            <a:r>
              <a:rPr lang="en-US" altLang="zh-CN" b="0" dirty="0" err="1"/>
              <a:t>BinaryTreeNode</a:t>
            </a:r>
            <a:r>
              <a:rPr lang="en-US" altLang="zh-CN" b="0" dirty="0"/>
              <a:t>&lt;T&gt;* root){</a:t>
            </a:r>
            <a:endParaRPr lang="zh-CN" altLang="zh-CN" b="0" dirty="0"/>
          </a:p>
          <a:p>
            <a:r>
              <a:rPr lang="en-US" altLang="zh-CN" b="0" dirty="0"/>
              <a:t>	stack&lt;</a:t>
            </a:r>
            <a:r>
              <a:rPr lang="en-US" altLang="zh-CN" b="0" dirty="0" err="1"/>
              <a:t>StackNode</a:t>
            </a:r>
            <a:r>
              <a:rPr lang="en-US" altLang="zh-CN" b="0" dirty="0"/>
              <a:t>&lt;T&gt; &gt;  </a:t>
            </a:r>
            <a:r>
              <a:rPr lang="en-US" altLang="zh-CN" b="0" dirty="0" err="1"/>
              <a:t>tStack</a:t>
            </a:r>
            <a:r>
              <a:rPr lang="en-US" altLang="zh-CN" b="0" dirty="0"/>
              <a:t>;</a:t>
            </a:r>
            <a:endParaRPr lang="zh-CN" altLang="zh-CN" b="0" dirty="0"/>
          </a:p>
          <a:p>
            <a:r>
              <a:rPr lang="en-US" altLang="zh-CN" b="0" dirty="0"/>
              <a:t>	</a:t>
            </a:r>
            <a:r>
              <a:rPr lang="en-US" altLang="zh-CN" b="0" dirty="0" err="1"/>
              <a:t>StackNode</a:t>
            </a:r>
            <a:r>
              <a:rPr lang="en-US" altLang="zh-CN" b="0" dirty="0"/>
              <a:t>&lt;T&gt;  Node;</a:t>
            </a:r>
            <a:endParaRPr lang="zh-CN" altLang="zh-CN" b="0" dirty="0"/>
          </a:p>
          <a:p>
            <a:r>
              <a:rPr lang="en-US" altLang="zh-CN" b="0" dirty="0"/>
              <a:t>	</a:t>
            </a:r>
            <a:r>
              <a:rPr lang="en-US" altLang="zh-CN" b="0" dirty="0" err="1"/>
              <a:t>BinaryTreeNode</a:t>
            </a:r>
            <a:r>
              <a:rPr lang="en-US" altLang="zh-CN" b="0" dirty="0"/>
              <a:t>&lt;T&gt;*  pointer = root;</a:t>
            </a:r>
            <a:endParaRPr lang="zh-CN" altLang="zh-CN" b="0" dirty="0"/>
          </a:p>
        </p:txBody>
      </p:sp>
    </p:spTree>
    <p:extLst>
      <p:ext uri="{BB962C8B-B14F-4D97-AF65-F5344CB8AC3E}">
        <p14:creationId xmlns:p14="http://schemas.microsoft.com/office/powerpoint/2010/main" val="1929728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692696"/>
            <a:ext cx="8352928" cy="5544616"/>
          </a:xfrm>
        </p:spPr>
        <p:txBody>
          <a:bodyPr>
            <a:noAutofit/>
          </a:bodyPr>
          <a:lstStyle/>
          <a:p>
            <a:pPr>
              <a:lnSpc>
                <a:spcPct val="100000"/>
              </a:lnSpc>
              <a:spcBef>
                <a:spcPts val="0"/>
              </a:spcBef>
            </a:pPr>
            <a:r>
              <a:rPr lang="en-US" altLang="zh-CN" sz="1800" b="0" dirty="0"/>
              <a:t>	do{</a:t>
            </a:r>
            <a:endParaRPr lang="zh-CN" altLang="zh-CN" sz="1800" b="0" dirty="0"/>
          </a:p>
          <a:p>
            <a:pPr>
              <a:lnSpc>
                <a:spcPct val="100000"/>
              </a:lnSpc>
              <a:spcBef>
                <a:spcPts val="0"/>
              </a:spcBef>
            </a:pPr>
            <a:r>
              <a:rPr lang="en-US" altLang="zh-CN" sz="1800" b="0" dirty="0"/>
              <a:t>		while (pointer != NULL){      //</a:t>
            </a:r>
            <a:r>
              <a:rPr lang="zh-CN" altLang="zh-CN" sz="1800" b="0" dirty="0"/>
              <a:t>将左子树中的结点加</a:t>
            </a:r>
            <a:r>
              <a:rPr lang="en-US" altLang="zh-CN" sz="1800" b="0" dirty="0"/>
              <a:t>Tag=L</a:t>
            </a:r>
            <a:r>
              <a:rPr lang="zh-CN" altLang="zh-CN" sz="1800" b="0" dirty="0"/>
              <a:t>后压入栈中</a:t>
            </a:r>
          </a:p>
          <a:p>
            <a:pPr>
              <a:lnSpc>
                <a:spcPct val="100000"/>
              </a:lnSpc>
              <a:spcBef>
                <a:spcPts val="0"/>
              </a:spcBef>
            </a:pPr>
            <a:r>
              <a:rPr lang="en-US" altLang="zh-CN" sz="1800" b="0" dirty="0"/>
              <a:t>			</a:t>
            </a:r>
            <a:r>
              <a:rPr lang="en-US" altLang="zh-CN" sz="1800" b="0" dirty="0" err="1"/>
              <a:t>Node.pointer</a:t>
            </a:r>
            <a:r>
              <a:rPr lang="en-US" altLang="zh-CN" sz="1800" b="0" dirty="0"/>
              <a:t> = pointer;</a:t>
            </a:r>
            <a:endParaRPr lang="zh-CN" altLang="zh-CN" sz="1800" b="0" dirty="0"/>
          </a:p>
          <a:p>
            <a:pPr>
              <a:lnSpc>
                <a:spcPct val="100000"/>
              </a:lnSpc>
              <a:spcBef>
                <a:spcPts val="0"/>
              </a:spcBef>
            </a:pPr>
            <a:r>
              <a:rPr lang="en-US" altLang="zh-CN" sz="1800" b="0" dirty="0"/>
              <a:t>			</a:t>
            </a:r>
            <a:r>
              <a:rPr lang="en-US" altLang="zh-CN" sz="1800" b="0" dirty="0" err="1"/>
              <a:t>Node.tag</a:t>
            </a:r>
            <a:r>
              <a:rPr lang="en-US" altLang="zh-CN" sz="1800" b="0" dirty="0"/>
              <a:t> = L;</a:t>
            </a:r>
            <a:endParaRPr lang="zh-CN" altLang="zh-CN" sz="1800" b="0" dirty="0"/>
          </a:p>
          <a:p>
            <a:pPr>
              <a:lnSpc>
                <a:spcPct val="100000"/>
              </a:lnSpc>
              <a:spcBef>
                <a:spcPts val="0"/>
              </a:spcBef>
            </a:pPr>
            <a:r>
              <a:rPr lang="en-US" altLang="zh-CN" sz="1800" b="0" dirty="0"/>
              <a:t>			</a:t>
            </a:r>
            <a:r>
              <a:rPr lang="en-US" altLang="zh-CN" sz="1800" b="0" dirty="0" err="1"/>
              <a:t>tStack.push</a:t>
            </a:r>
            <a:r>
              <a:rPr lang="en-US" altLang="zh-CN" sz="1800" b="0" dirty="0"/>
              <a:t>(Node);</a:t>
            </a:r>
            <a:endParaRPr lang="zh-CN" altLang="zh-CN" sz="1800" b="0" dirty="0"/>
          </a:p>
          <a:p>
            <a:pPr>
              <a:lnSpc>
                <a:spcPct val="100000"/>
              </a:lnSpc>
              <a:spcBef>
                <a:spcPts val="0"/>
              </a:spcBef>
            </a:pPr>
            <a:r>
              <a:rPr lang="en-US" altLang="zh-CN" sz="1800" b="0" dirty="0"/>
              <a:t>			pointer = pointer-&gt;</a:t>
            </a:r>
            <a:r>
              <a:rPr lang="en-US" altLang="zh-CN" sz="1800" b="0" dirty="0" err="1"/>
              <a:t>leftchild</a:t>
            </a:r>
            <a:r>
              <a:rPr lang="en-US" altLang="zh-CN" sz="1800" b="0" dirty="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Node = </a:t>
            </a:r>
            <a:r>
              <a:rPr lang="en-US" altLang="zh-CN" sz="1800" b="0" dirty="0" err="1"/>
              <a:t>tStack.top</a:t>
            </a:r>
            <a:r>
              <a:rPr lang="en-US" altLang="zh-CN" sz="1800" b="0" dirty="0"/>
              <a:t>();	          //</a:t>
            </a:r>
            <a:r>
              <a:rPr lang="zh-CN" altLang="zh-CN" sz="1800" b="0" dirty="0"/>
              <a:t>栈顶元素出栈</a:t>
            </a:r>
          </a:p>
          <a:p>
            <a:pPr>
              <a:lnSpc>
                <a:spcPct val="100000"/>
              </a:lnSpc>
              <a:spcBef>
                <a:spcPts val="0"/>
              </a:spcBef>
            </a:pPr>
            <a:r>
              <a:rPr lang="en-US" altLang="zh-CN" sz="1800" b="0" dirty="0"/>
              <a:t>		tStack.pop();</a:t>
            </a:r>
            <a:endParaRPr lang="zh-CN" altLang="zh-CN" sz="1800" b="0" dirty="0"/>
          </a:p>
          <a:p>
            <a:pPr>
              <a:lnSpc>
                <a:spcPct val="100000"/>
              </a:lnSpc>
              <a:spcBef>
                <a:spcPts val="0"/>
              </a:spcBef>
            </a:pPr>
            <a:r>
              <a:rPr lang="en-US" altLang="zh-CN" sz="1800" b="0" dirty="0"/>
              <a:t>		pointer = </a:t>
            </a:r>
            <a:r>
              <a:rPr lang="en-US" altLang="zh-CN" sz="1800" b="0" dirty="0" err="1"/>
              <a:t>Node.pointer</a:t>
            </a:r>
            <a:r>
              <a:rPr lang="en-US" altLang="zh-CN" sz="1800" b="0" dirty="0"/>
              <a:t>;</a:t>
            </a:r>
            <a:endParaRPr lang="zh-CN" altLang="zh-CN" sz="1800" b="0" dirty="0"/>
          </a:p>
          <a:p>
            <a:pPr>
              <a:lnSpc>
                <a:spcPct val="100000"/>
              </a:lnSpc>
              <a:spcBef>
                <a:spcPts val="0"/>
              </a:spcBef>
            </a:pPr>
            <a:r>
              <a:rPr lang="en-US" altLang="zh-CN" sz="1800" b="0" dirty="0"/>
              <a:t>		if ( Node.tag == R ){	         //</a:t>
            </a:r>
            <a:r>
              <a:rPr lang="zh-CN" altLang="zh-CN" sz="1800" b="0" dirty="0"/>
              <a:t>如果从右子树回来</a:t>
            </a:r>
          </a:p>
          <a:p>
            <a:pPr>
              <a:lnSpc>
                <a:spcPct val="100000"/>
              </a:lnSpc>
              <a:spcBef>
                <a:spcPts val="0"/>
              </a:spcBef>
            </a:pPr>
            <a:r>
              <a:rPr lang="en-US" altLang="zh-CN" sz="1800" b="0" dirty="0"/>
              <a:t>			</a:t>
            </a:r>
            <a:r>
              <a:rPr lang="en-US" altLang="zh-CN" sz="1800" dirty="0"/>
              <a:t>visit(pointer-&gt;value());  </a:t>
            </a:r>
            <a:r>
              <a:rPr lang="en-US" altLang="zh-CN" sz="1800" b="0" dirty="0"/>
              <a:t>//</a:t>
            </a:r>
            <a:r>
              <a:rPr lang="zh-CN" altLang="zh-CN" sz="1800" b="0" dirty="0"/>
              <a:t>访问当前结点</a:t>
            </a:r>
          </a:p>
          <a:p>
            <a:pPr>
              <a:lnSpc>
                <a:spcPct val="100000"/>
              </a:lnSpc>
              <a:spcBef>
                <a:spcPts val="0"/>
              </a:spcBef>
            </a:pPr>
            <a:r>
              <a:rPr lang="en-US" altLang="zh-CN" sz="1800" b="0" dirty="0"/>
              <a:t>			pointer = NULL;	         //</a:t>
            </a:r>
            <a:r>
              <a:rPr lang="zh-CN" altLang="zh-CN" sz="1800" b="0" dirty="0"/>
              <a:t>置</a:t>
            </a:r>
            <a:r>
              <a:rPr lang="en-US" altLang="zh-CN" sz="1800" b="0" dirty="0"/>
              <a:t>pointer</a:t>
            </a:r>
            <a:r>
              <a:rPr lang="zh-CN" altLang="zh-CN" sz="1800" b="0" dirty="0"/>
              <a:t>为空，以继续弹栈</a:t>
            </a:r>
          </a:p>
          <a:p>
            <a:pPr>
              <a:lnSpc>
                <a:spcPct val="100000"/>
              </a:lnSpc>
              <a:spcBef>
                <a:spcPts val="0"/>
              </a:spcBef>
            </a:pPr>
            <a:r>
              <a:rPr lang="en-US" altLang="zh-CN" sz="1800" b="0" dirty="0"/>
              <a:t>		} else {			         //</a:t>
            </a:r>
            <a:r>
              <a:rPr lang="zh-CN" altLang="zh-CN" sz="1800" b="0" dirty="0"/>
              <a:t>如果从左子树回来</a:t>
            </a:r>
            <a:r>
              <a:rPr lang="zh-CN" altLang="en-US" sz="1800" b="0" dirty="0"/>
              <a:t>，</a:t>
            </a:r>
            <a:r>
              <a:rPr lang="en-US" altLang="zh-CN" sz="1800" b="0" dirty="0"/>
              <a:t>Node.tag=L</a:t>
            </a:r>
            <a:endParaRPr lang="zh-CN" altLang="zh-CN" sz="1800" b="0" dirty="0"/>
          </a:p>
          <a:p>
            <a:pPr>
              <a:lnSpc>
                <a:spcPct val="100000"/>
              </a:lnSpc>
              <a:spcBef>
                <a:spcPts val="0"/>
              </a:spcBef>
            </a:pPr>
            <a:r>
              <a:rPr lang="en-US" altLang="zh-CN" sz="1800" b="0" dirty="0"/>
              <a:t>			Node.tag = R;	         //</a:t>
            </a:r>
            <a:r>
              <a:rPr lang="zh-CN" altLang="zh-CN" sz="1800" b="0" dirty="0"/>
              <a:t>标志域置为</a:t>
            </a:r>
            <a:r>
              <a:rPr lang="en-US" altLang="zh-CN" sz="1800" b="0" dirty="0"/>
              <a:t>R</a:t>
            </a:r>
            <a:r>
              <a:rPr lang="zh-CN" altLang="zh-CN" sz="1800" b="0" dirty="0"/>
              <a:t>，进入右子树</a:t>
            </a:r>
          </a:p>
          <a:p>
            <a:pPr>
              <a:lnSpc>
                <a:spcPct val="100000"/>
              </a:lnSpc>
              <a:spcBef>
                <a:spcPts val="0"/>
              </a:spcBef>
            </a:pPr>
            <a:r>
              <a:rPr lang="en-US" altLang="zh-CN" sz="1800" b="0" dirty="0"/>
              <a:t>			</a:t>
            </a:r>
            <a:r>
              <a:rPr lang="en-US" altLang="zh-CN" sz="1800" b="0" dirty="0" err="1"/>
              <a:t>tStack.push</a:t>
            </a:r>
            <a:r>
              <a:rPr lang="en-US" altLang="zh-CN" sz="1800" b="0" dirty="0"/>
              <a:t>(Node);</a:t>
            </a:r>
            <a:endParaRPr lang="zh-CN" altLang="zh-CN" sz="1800" b="0" dirty="0"/>
          </a:p>
          <a:p>
            <a:pPr>
              <a:lnSpc>
                <a:spcPct val="100000"/>
              </a:lnSpc>
              <a:spcBef>
                <a:spcPts val="0"/>
              </a:spcBef>
            </a:pPr>
            <a:r>
              <a:rPr lang="en-US" altLang="zh-CN" sz="1800" b="0" dirty="0"/>
              <a:t>			pointer = pointer-&gt;</a:t>
            </a:r>
            <a:r>
              <a:rPr lang="en-US" altLang="zh-CN" sz="1800" b="0" dirty="0" err="1"/>
              <a:t>rightchild</a:t>
            </a:r>
            <a:r>
              <a:rPr lang="en-US" altLang="zh-CN" sz="1800" b="0" dirty="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}while (!</a:t>
            </a:r>
            <a:r>
              <a:rPr lang="en-US" altLang="zh-CN" sz="1800" b="0" dirty="0" err="1"/>
              <a:t>tStack.empty</a:t>
            </a:r>
            <a:r>
              <a:rPr lang="en-US" altLang="zh-CN" sz="1800" b="0" dirty="0"/>
              <a:t>() || pointer);</a:t>
            </a:r>
            <a:endParaRPr lang="zh-CN" altLang="zh-CN" sz="1800" b="0" dirty="0"/>
          </a:p>
          <a:p>
            <a:pPr>
              <a:lnSpc>
                <a:spcPct val="100000"/>
              </a:lnSpc>
              <a:spcBef>
                <a:spcPts val="0"/>
              </a:spcBef>
            </a:pPr>
            <a:r>
              <a:rPr lang="en-US" altLang="zh-CN" sz="1800" b="0" dirty="0"/>
              <a:t>}</a:t>
            </a:r>
            <a:endParaRPr lang="zh-CN" altLang="zh-CN" sz="1800" b="0" dirty="0"/>
          </a:p>
        </p:txBody>
      </p:sp>
    </p:spTree>
    <p:extLst>
      <p:ext uri="{BB962C8B-B14F-4D97-AF65-F5344CB8AC3E}">
        <p14:creationId xmlns:p14="http://schemas.microsoft.com/office/powerpoint/2010/main" val="407831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571480"/>
            <a:ext cx="7388324" cy="5929354"/>
          </a:xfrm>
        </p:spPr>
        <p:txBody>
          <a:bodyPr>
            <a:noAutofit/>
          </a:bodyPr>
          <a:lstStyle/>
          <a:p>
            <a:r>
              <a:rPr kumimoji="1" lang="zh-CN" altLang="en-US" sz="2000" b="0" dirty="0">
                <a:latin typeface="+mn-ea"/>
                <a:ea typeface="+mn-ea"/>
              </a:rPr>
              <a:t>为了更加直观地看出后序算法的时间复杂度，将</a:t>
            </a:r>
            <a:r>
              <a:rPr kumimoji="1" lang="zh-CN" altLang="en-US" sz="2000" b="0" i="1" u="sng" dirty="0">
                <a:solidFill>
                  <a:srgbClr val="FF0066"/>
                </a:solidFill>
                <a:latin typeface="+mn-ea"/>
                <a:ea typeface="+mn-ea"/>
              </a:rPr>
              <a:t>算法</a:t>
            </a:r>
            <a:r>
              <a:rPr kumimoji="1" lang="zh-CN" altLang="en-US" sz="2000" b="0" dirty="0">
                <a:latin typeface="+mn-ea"/>
                <a:ea typeface="+mn-ea"/>
              </a:rPr>
              <a:t>书写为</a:t>
            </a:r>
            <a:r>
              <a:rPr kumimoji="1" lang="zh-CN" altLang="en-US" sz="2000" b="0" dirty="0">
                <a:solidFill>
                  <a:srgbClr val="FF0066"/>
                </a:solidFill>
                <a:latin typeface="+mn-ea"/>
                <a:ea typeface="+mn-ea"/>
              </a:rPr>
              <a:t>：</a:t>
            </a:r>
            <a:endParaRPr kumimoji="1" lang="en-US" altLang="zh-CN" sz="2000" b="0" dirty="0">
              <a:latin typeface="+mn-ea"/>
              <a:ea typeface="+mn-ea"/>
            </a:endParaRPr>
          </a:p>
          <a:p>
            <a:pPr>
              <a:lnSpc>
                <a:spcPct val="100000"/>
              </a:lnSpc>
            </a:pPr>
            <a:r>
              <a:rPr kumimoji="1" lang="en-US" altLang="zh-CN" sz="1600" b="0" dirty="0" err="1">
                <a:latin typeface="黑体" pitchFamily="49" charset="-122"/>
                <a:ea typeface="黑体" pitchFamily="49" charset="-122"/>
              </a:rPr>
              <a:t>int</a:t>
            </a:r>
            <a:r>
              <a:rPr kumimoji="1" lang="en-US" altLang="zh-CN" sz="1600" b="0" dirty="0">
                <a:latin typeface="黑体" pitchFamily="49" charset="-122"/>
                <a:ea typeface="黑体" pitchFamily="49" charset="-122"/>
              </a:rPr>
              <a:t>   </a:t>
            </a:r>
            <a:r>
              <a:rPr kumimoji="1" lang="en-US" altLang="zh-CN" sz="1600" b="0" dirty="0" err="1">
                <a:latin typeface="黑体" pitchFamily="49" charset="-122"/>
                <a:ea typeface="黑体" pitchFamily="49" charset="-122"/>
              </a:rPr>
              <a:t>NonPostOrderBtree</a:t>
            </a:r>
            <a:r>
              <a:rPr kumimoji="1" lang="en-US" altLang="zh-CN" sz="1600" b="0" dirty="0">
                <a:latin typeface="黑体" pitchFamily="49" charset="-122"/>
                <a:ea typeface="黑体" pitchFamily="49" charset="-122"/>
              </a:rPr>
              <a:t>(</a:t>
            </a:r>
            <a:r>
              <a:rPr kumimoji="1" lang="en-US" altLang="zh-CN" sz="1600" b="0" dirty="0" err="1">
                <a:latin typeface="黑体" pitchFamily="49" charset="-122"/>
                <a:ea typeface="黑体" pitchFamily="49" charset="-122"/>
              </a:rPr>
              <a:t>BTree</a:t>
            </a:r>
            <a:r>
              <a:rPr kumimoji="1" lang="en-US" altLang="zh-CN" sz="1600" b="0" dirty="0">
                <a:latin typeface="黑体" pitchFamily="49" charset="-122"/>
                <a:ea typeface="黑体" pitchFamily="49" charset="-122"/>
              </a:rPr>
              <a:t> *BT)</a:t>
            </a:r>
          </a:p>
          <a:p>
            <a:pPr>
              <a:lnSpc>
                <a:spcPct val="100000"/>
              </a:lnSpc>
            </a:pPr>
            <a:r>
              <a:rPr kumimoji="1" lang="en-US" altLang="zh-CN" sz="1600" b="0" dirty="0">
                <a:latin typeface="黑体" pitchFamily="49" charset="-122"/>
                <a:ea typeface="黑体" pitchFamily="49" charset="-122"/>
              </a:rPr>
              <a:t>  { </a:t>
            </a:r>
            <a:r>
              <a:rPr kumimoji="1" lang="en-US" altLang="zh-CN" sz="1600" b="0" dirty="0" err="1">
                <a:latin typeface="黑体" pitchFamily="49" charset="-122"/>
                <a:ea typeface="黑体" pitchFamily="49" charset="-122"/>
              </a:rPr>
              <a:t>setnull</a:t>
            </a:r>
            <a:r>
              <a:rPr kumimoji="1" lang="en-US" altLang="zh-CN" sz="1600" b="0" dirty="0">
                <a:latin typeface="黑体" pitchFamily="49" charset="-122"/>
                <a:ea typeface="黑体" pitchFamily="49" charset="-122"/>
              </a:rPr>
              <a:t>(s)</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p = BT</a:t>
            </a:r>
            <a:r>
              <a:rPr kumimoji="1" lang="zh-CN" altLang="en-US" sz="1600" b="0" dirty="0">
                <a:latin typeface="黑体" pitchFamily="49" charset="-122"/>
                <a:ea typeface="黑体" pitchFamily="49" charset="-122"/>
              </a:rPr>
              <a:t>；</a:t>
            </a: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if(p = NULL) return(-1);</a:t>
            </a:r>
          </a:p>
          <a:p>
            <a:pPr>
              <a:lnSpc>
                <a:spcPct val="100000"/>
              </a:lnSpc>
            </a:pPr>
            <a:r>
              <a:rPr kumimoji="1" lang="en-US" altLang="zh-CN" sz="1600" b="0" dirty="0">
                <a:latin typeface="黑体" pitchFamily="49" charset="-122"/>
                <a:ea typeface="黑体" pitchFamily="49" charset="-122"/>
              </a:rPr>
              <a:t>    push(s, p, 0);</a:t>
            </a:r>
            <a:endParaRPr kumimoji="1" lang="zh-CN" altLang="en-US" sz="1600" b="0" dirty="0">
              <a:latin typeface="黑体" pitchFamily="49" charset="-122"/>
              <a:ea typeface="黑体" pitchFamily="49" charset="-122"/>
            </a:endParaRP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While(!empty(s){</a:t>
            </a:r>
          </a:p>
          <a:p>
            <a:pPr>
              <a:lnSpc>
                <a:spcPct val="100000"/>
              </a:lnSpc>
            </a:pPr>
            <a:r>
              <a:rPr kumimoji="1" lang="en-US" altLang="zh-CN" sz="1600" b="0" dirty="0">
                <a:latin typeface="黑体" pitchFamily="49" charset="-122"/>
                <a:ea typeface="黑体" pitchFamily="49" charset="-122"/>
              </a:rPr>
              <a:t>       p = pop(s);</a:t>
            </a:r>
            <a:endParaRPr kumimoji="1" lang="zh-CN" altLang="en-US" sz="1600" b="0" dirty="0">
              <a:latin typeface="黑体" pitchFamily="49" charset="-122"/>
              <a:ea typeface="黑体" pitchFamily="49" charset="-122"/>
            </a:endParaRP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a:t>
            </a:r>
            <a:r>
              <a:rPr kumimoji="1" lang="en-US" altLang="zh-CN" sz="1600" b="0" dirty="0" err="1">
                <a:latin typeface="黑体" pitchFamily="49" charset="-122"/>
                <a:ea typeface="黑体" pitchFamily="49" charset="-122"/>
              </a:rPr>
              <a:t>p.mark</a:t>
            </a:r>
            <a:r>
              <a:rPr kumimoji="1" lang="en-US" altLang="zh-CN" sz="1600" b="0" dirty="0">
                <a:latin typeface="黑体" pitchFamily="49" charset="-122"/>
                <a:ea typeface="黑体" pitchFamily="49" charset="-122"/>
              </a:rPr>
              <a:t> = 0){</a:t>
            </a:r>
          </a:p>
          <a:p>
            <a:pPr>
              <a:lnSpc>
                <a:spcPct val="100000"/>
              </a:lnSpc>
            </a:pPr>
            <a:r>
              <a:rPr kumimoji="1" lang="en-US" altLang="zh-CN" sz="1600" b="0" dirty="0">
                <a:latin typeface="黑体" pitchFamily="49" charset="-122"/>
                <a:ea typeface="黑体" pitchFamily="49" charset="-122"/>
              </a:rPr>
              <a:t>           push(s, p, 1)</a:t>
            </a:r>
            <a:r>
              <a:rPr kumimoji="1" lang="zh-CN" altLang="en-US" sz="1600" b="0" dirty="0">
                <a:latin typeface="黑体" pitchFamily="49" charset="-122"/>
                <a:ea typeface="黑体" pitchFamily="49" charset="-122"/>
              </a:rPr>
              <a:t>；</a:t>
            </a: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if(p-&gt;</a:t>
            </a:r>
            <a:r>
              <a:rPr kumimoji="1" lang="en-US" altLang="zh-CN" sz="1600" b="0" dirty="0" err="1">
                <a:latin typeface="黑体" pitchFamily="49" charset="-122"/>
                <a:ea typeface="黑体" pitchFamily="49" charset="-122"/>
              </a:rPr>
              <a:t>LChild</a:t>
            </a:r>
            <a:r>
              <a:rPr kumimoji="1" lang="en-US" altLang="zh-CN" sz="1600" b="0" dirty="0">
                <a:latin typeface="黑体" pitchFamily="49" charset="-122"/>
                <a:ea typeface="黑体" pitchFamily="49" charset="-122"/>
              </a:rPr>
              <a:t> ≠ NULL) push(s, p-&gt;</a:t>
            </a:r>
            <a:r>
              <a:rPr kumimoji="1" lang="en-US" altLang="zh-CN" sz="1600" b="0" dirty="0" err="1">
                <a:latin typeface="黑体" pitchFamily="49" charset="-122"/>
                <a:ea typeface="黑体" pitchFamily="49" charset="-122"/>
              </a:rPr>
              <a:t>Lch</a:t>
            </a:r>
            <a:r>
              <a:rPr kumimoji="1" lang="en-US" altLang="zh-CN" sz="1600" b="0" dirty="0">
                <a:latin typeface="黑体" pitchFamily="49" charset="-122"/>
                <a:ea typeface="黑体" pitchFamily="49" charset="-122"/>
              </a:rPr>
              <a:t>, 0)</a:t>
            </a:r>
            <a:r>
              <a:rPr kumimoji="1" lang="zh-CN" altLang="en-US" sz="1600" b="0" dirty="0">
                <a:latin typeface="黑体" pitchFamily="49" charset="-122"/>
                <a:ea typeface="黑体" pitchFamily="49" charset="-122"/>
              </a:rPr>
              <a:t>；</a:t>
            </a:r>
            <a:r>
              <a:rPr kumimoji="1" lang="en-US" altLang="zh-CN" sz="1600" b="0" dirty="0">
                <a:latin typeface="黑体" pitchFamily="49" charset="-122"/>
                <a:ea typeface="黑体" pitchFamily="49" charset="-122"/>
              </a:rPr>
              <a:t>  //</a:t>
            </a:r>
            <a:r>
              <a:rPr kumimoji="1" lang="zh-CN" altLang="en-US" sz="1600" b="0" dirty="0">
                <a:latin typeface="黑体" pitchFamily="49" charset="-122"/>
                <a:ea typeface="黑体" pitchFamily="49" charset="-122"/>
              </a:rPr>
              <a:t>左子树进栈</a:t>
            </a:r>
          </a:p>
          <a:p>
            <a:pPr>
              <a:lnSpc>
                <a:spcPct val="100000"/>
              </a:lnSpc>
            </a:pPr>
            <a:r>
              <a:rPr kumimoji="1" lang="en-US" altLang="zh-CN" sz="1600" b="0" dirty="0">
                <a:latin typeface="黑体" pitchFamily="49" charset="-122"/>
                <a:ea typeface="黑体" pitchFamily="49" charset="-122"/>
              </a:rPr>
              <a:t>       }else if( </a:t>
            </a:r>
            <a:r>
              <a:rPr kumimoji="1" lang="en-US" altLang="zh-CN" sz="1600" b="0" dirty="0" err="1">
                <a:latin typeface="黑体" pitchFamily="49" charset="-122"/>
                <a:ea typeface="黑体" pitchFamily="49" charset="-122"/>
              </a:rPr>
              <a:t>p.mark</a:t>
            </a:r>
            <a:r>
              <a:rPr kumimoji="1" lang="en-US" altLang="zh-CN" sz="1600" b="0" dirty="0">
                <a:latin typeface="黑体" pitchFamily="49" charset="-122"/>
                <a:ea typeface="黑体" pitchFamily="49" charset="-122"/>
              </a:rPr>
              <a:t> = 1){</a:t>
            </a:r>
          </a:p>
          <a:p>
            <a:pPr>
              <a:lnSpc>
                <a:spcPct val="100000"/>
              </a:lnSpc>
            </a:pPr>
            <a:r>
              <a:rPr kumimoji="1" lang="en-US" altLang="zh-CN" sz="1600" b="0" dirty="0">
                <a:latin typeface="黑体" pitchFamily="49" charset="-122"/>
                <a:ea typeface="黑体" pitchFamily="49" charset="-122"/>
              </a:rPr>
              <a:t>	       push(s, p, 2)</a:t>
            </a:r>
            <a:r>
              <a:rPr kumimoji="1" lang="zh-CN" altLang="en-US" sz="1600" b="0" dirty="0">
                <a:latin typeface="黑体" pitchFamily="49" charset="-122"/>
                <a:ea typeface="黑体" pitchFamily="49" charset="-122"/>
              </a:rPr>
              <a:t>；</a:t>
            </a:r>
          </a:p>
          <a:p>
            <a:pPr>
              <a:lnSpc>
                <a:spcPct val="100000"/>
              </a:lnSpc>
            </a:pPr>
            <a:r>
              <a:rPr kumimoji="1" lang="en-US" altLang="zh-CN" sz="1600" b="0" dirty="0">
                <a:latin typeface="黑体" pitchFamily="49" charset="-122"/>
                <a:ea typeface="黑体" pitchFamily="49" charset="-122"/>
              </a:rPr>
              <a:t>          if(p-&gt;</a:t>
            </a:r>
            <a:r>
              <a:rPr kumimoji="1" lang="en-US" altLang="zh-CN" sz="1600" b="0" dirty="0" err="1">
                <a:latin typeface="黑体" pitchFamily="49" charset="-122"/>
                <a:ea typeface="黑体" pitchFamily="49" charset="-122"/>
              </a:rPr>
              <a:t>RChild</a:t>
            </a:r>
            <a:r>
              <a:rPr kumimoji="1" lang="en-US" altLang="zh-CN" sz="1600" b="0" dirty="0">
                <a:latin typeface="黑体" pitchFamily="49" charset="-122"/>
                <a:ea typeface="黑体" pitchFamily="49" charset="-122"/>
              </a:rPr>
              <a:t> ≠ NULL) push(s, p-&gt;</a:t>
            </a:r>
            <a:r>
              <a:rPr kumimoji="1" lang="en-US" altLang="zh-CN" sz="1600" b="0" dirty="0" err="1">
                <a:latin typeface="黑体" pitchFamily="49" charset="-122"/>
                <a:ea typeface="黑体" pitchFamily="49" charset="-122"/>
              </a:rPr>
              <a:t>Rch</a:t>
            </a:r>
            <a:r>
              <a:rPr kumimoji="1" lang="en-US" altLang="zh-CN" sz="1600" b="0" dirty="0">
                <a:latin typeface="黑体" pitchFamily="49" charset="-122"/>
                <a:ea typeface="黑体" pitchFamily="49" charset="-122"/>
              </a:rPr>
              <a:t>, 0);   //</a:t>
            </a:r>
            <a:r>
              <a:rPr kumimoji="1" lang="zh-CN" altLang="en-US" sz="1600" b="0" dirty="0">
                <a:latin typeface="黑体" pitchFamily="49" charset="-122"/>
                <a:ea typeface="黑体" pitchFamily="49" charset="-122"/>
              </a:rPr>
              <a:t>右子树进栈</a:t>
            </a:r>
          </a:p>
          <a:p>
            <a:pPr>
              <a:lnSpc>
                <a:spcPct val="100000"/>
              </a:lnSpc>
            </a:pPr>
            <a:r>
              <a:rPr kumimoji="1" lang="en-US" altLang="zh-CN" sz="1600" b="0" dirty="0">
                <a:latin typeface="黑体" pitchFamily="49" charset="-122"/>
                <a:ea typeface="黑体" pitchFamily="49" charset="-122"/>
              </a:rPr>
              <a:t>       }else </a:t>
            </a:r>
            <a:r>
              <a:rPr kumimoji="1" lang="en-US" altLang="zh-CN" sz="1600" b="0" dirty="0" err="1">
                <a:latin typeface="黑体" pitchFamily="49" charset="-122"/>
                <a:ea typeface="黑体" pitchFamily="49" charset="-122"/>
              </a:rPr>
              <a:t>printf</a:t>
            </a:r>
            <a:r>
              <a:rPr kumimoji="1" lang="en-US" altLang="zh-CN" sz="1600" b="0" dirty="0">
                <a:latin typeface="黑体" pitchFamily="49" charset="-122"/>
                <a:ea typeface="黑体" pitchFamily="49" charset="-122"/>
              </a:rPr>
              <a:t>(p-&gt;data)</a:t>
            </a:r>
            <a:r>
              <a:rPr kumimoji="1" lang="zh-CN" altLang="en-US" sz="1600" b="0" dirty="0">
                <a:latin typeface="黑体" pitchFamily="49" charset="-122"/>
                <a:ea typeface="黑体" pitchFamily="49" charset="-122"/>
              </a:rPr>
              <a:t>；</a:t>
            </a: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a:p>
            <a:pPr>
              <a:lnSpc>
                <a:spcPct val="100000"/>
              </a:lnSpc>
            </a:pPr>
            <a:r>
              <a:rPr kumimoji="1" lang="en-US" altLang="zh-CN" sz="1600" b="0" dirty="0">
                <a:latin typeface="黑体" pitchFamily="49" charset="-122"/>
                <a:ea typeface="黑体" pitchFamily="49" charset="-122"/>
              </a:rPr>
              <a:t>    return(0)</a:t>
            </a:r>
            <a:r>
              <a:rPr kumimoji="1" lang="zh-CN" altLang="en-US" sz="1600" b="0" dirty="0">
                <a:latin typeface="黑体" pitchFamily="49" charset="-122"/>
                <a:ea typeface="黑体" pitchFamily="49" charset="-122"/>
              </a:rPr>
              <a:t>；</a:t>
            </a:r>
          </a:p>
          <a:p>
            <a:pPr>
              <a:lnSpc>
                <a:spcPct val="100000"/>
              </a:lnSpc>
            </a:pPr>
            <a:r>
              <a:rPr kumimoji="1" lang="zh-CN" altLang="en-US" sz="1600" b="0" dirty="0">
                <a:latin typeface="黑体" pitchFamily="49" charset="-122"/>
                <a:ea typeface="黑体" pitchFamily="49" charset="-122"/>
              </a:rPr>
              <a:t> </a:t>
            </a:r>
            <a:r>
              <a:rPr kumimoji="1" lang="en-US" altLang="zh-CN" sz="1600" b="0" dirty="0">
                <a:latin typeface="黑体" pitchFamily="49" charset="-122"/>
                <a:ea typeface="黑体" pitchFamily="49" charset="-122"/>
              </a:rPr>
              <a:t>}</a:t>
            </a:r>
          </a:p>
        </p:txBody>
      </p:sp>
    </p:spTree>
    <p:extLst>
      <p:ext uri="{BB962C8B-B14F-4D97-AF65-F5344CB8AC3E}">
        <p14:creationId xmlns:p14="http://schemas.microsoft.com/office/powerpoint/2010/main" val="407831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7"/>
            <a:ext cx="7992888" cy="2160240"/>
          </a:xfrm>
        </p:spPr>
        <p:txBody>
          <a:bodyPr/>
          <a:lstStyle/>
          <a:p>
            <a:r>
              <a:rPr lang="zh-CN" altLang="zh-CN" b="0" dirty="0">
                <a:solidFill>
                  <a:srgbClr val="FF0000"/>
                </a:solidFill>
              </a:rPr>
              <a:t>二叉树的遍历算法与表达式的表示法</a:t>
            </a:r>
            <a:r>
              <a:rPr lang="zh-CN" altLang="zh-CN" b="0" dirty="0"/>
              <a:t>之间有着密切的联系。</a:t>
            </a:r>
            <a:endParaRPr lang="en-US" altLang="zh-CN" b="0" dirty="0"/>
          </a:p>
          <a:p>
            <a:pPr>
              <a:buFont typeface="Arial" panose="020B0604020202020204" pitchFamily="34" charset="0"/>
              <a:buChar char="•"/>
            </a:pPr>
            <a:r>
              <a:rPr lang="zh-CN" altLang="zh-CN" b="0" dirty="0"/>
              <a:t>先序遍历序列为：</a:t>
            </a:r>
            <a:r>
              <a:rPr lang="en-US" altLang="zh-CN" b="0" dirty="0"/>
              <a:t>-*A+*BCD/EF(</a:t>
            </a:r>
            <a:r>
              <a:rPr lang="zh-CN" altLang="zh-CN" b="0" dirty="0"/>
              <a:t>波兰式</a:t>
            </a:r>
            <a:r>
              <a:rPr lang="en-US" altLang="zh-CN" b="0" dirty="0"/>
              <a:t>)</a:t>
            </a:r>
          </a:p>
          <a:p>
            <a:pPr>
              <a:buFont typeface="Arial" panose="020B0604020202020204" pitchFamily="34" charset="0"/>
              <a:buChar char="•"/>
            </a:pPr>
            <a:r>
              <a:rPr lang="zh-CN" altLang="zh-CN" b="0" dirty="0"/>
              <a:t>中序遍历序列为：</a:t>
            </a:r>
            <a:r>
              <a:rPr lang="en-US" altLang="zh-CN" b="0" dirty="0"/>
              <a:t>A*B*C+D-E/F (</a:t>
            </a:r>
            <a:r>
              <a:rPr lang="zh-CN" altLang="en-US" b="0" dirty="0"/>
              <a:t>一般表示</a:t>
            </a:r>
            <a:r>
              <a:rPr lang="en-US" altLang="zh-CN" b="0" dirty="0"/>
              <a:t>)</a:t>
            </a:r>
          </a:p>
          <a:p>
            <a:pPr>
              <a:buFont typeface="Arial" panose="020B0604020202020204" pitchFamily="34" charset="0"/>
              <a:buChar char="•"/>
            </a:pPr>
            <a:r>
              <a:rPr lang="zh-CN" altLang="zh-CN" b="0" dirty="0"/>
              <a:t>后序遍历序列：</a:t>
            </a:r>
            <a:r>
              <a:rPr lang="en-US" altLang="zh-CN" b="0" dirty="0"/>
              <a:t>ABC*D+*EF/-(</a:t>
            </a:r>
            <a:r>
              <a:rPr lang="zh-CN" altLang="zh-CN" b="0" dirty="0"/>
              <a:t>逆波兰式</a:t>
            </a:r>
            <a:r>
              <a:rPr lang="en-US" altLang="zh-CN" b="0" dirty="0"/>
              <a:t>)</a:t>
            </a:r>
            <a:endParaRPr lang="zh-CN" altLang="en-US"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752" y="3429000"/>
            <a:ext cx="3672408" cy="2565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0437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3538" y="853061"/>
            <a:ext cx="8008942" cy="2791963"/>
          </a:xfrm>
        </p:spPr>
        <p:txBody>
          <a:bodyPr>
            <a:normAutofit lnSpcReduction="10000"/>
          </a:bodyPr>
          <a:lstStyle/>
          <a:p>
            <a:r>
              <a:rPr lang="en-US" altLang="zh-CN" b="0" dirty="0"/>
              <a:t>	</a:t>
            </a:r>
            <a:r>
              <a:rPr lang="zh-CN" altLang="en-US" sz="2800" dirty="0">
                <a:solidFill>
                  <a:srgbClr val="FF0000"/>
                </a:solidFill>
              </a:rPr>
              <a:t>二叉树构造算法：</a:t>
            </a:r>
            <a:r>
              <a:rPr lang="zh-CN" altLang="zh-CN" dirty="0"/>
              <a:t>根据二叉树先序遍历序列构造二叉链表存储算法</a:t>
            </a:r>
            <a:r>
              <a:rPr lang="zh-CN" altLang="en-US" dirty="0"/>
              <a:t>。</a:t>
            </a:r>
            <a:endParaRPr lang="en-US" altLang="zh-CN" dirty="0"/>
          </a:p>
          <a:p>
            <a:r>
              <a:rPr lang="en-US" altLang="zh-CN" b="0" dirty="0"/>
              <a:t>	</a:t>
            </a:r>
            <a:r>
              <a:rPr lang="zh-CN" altLang="zh-CN" b="0" dirty="0"/>
              <a:t>算法的输入</a:t>
            </a:r>
            <a:r>
              <a:rPr lang="zh-CN" altLang="en-US" b="0" dirty="0"/>
              <a:t>：</a:t>
            </a:r>
            <a:r>
              <a:rPr lang="zh-CN" altLang="zh-CN" b="0" dirty="0"/>
              <a:t>二叉树的先序遍历序列，但是输入中必须加入空结点以表示空指针的位置，如图</a:t>
            </a:r>
            <a:r>
              <a:rPr lang="en-US" altLang="zh-CN" b="0" dirty="0"/>
              <a:t>5-16</a:t>
            </a:r>
            <a:r>
              <a:rPr lang="zh-CN" altLang="zh-CN" b="0" dirty="0"/>
              <a:t>所示二叉树</a:t>
            </a:r>
            <a:r>
              <a:rPr lang="en-US" altLang="zh-CN" b="0" dirty="0"/>
              <a:t>T</a:t>
            </a:r>
            <a:r>
              <a:rPr lang="en-US" altLang="zh-CN" b="0" baseline="-25000" dirty="0"/>
              <a:t>6</a:t>
            </a:r>
            <a:r>
              <a:rPr lang="zh-CN" altLang="zh-CN" b="0" dirty="0"/>
              <a:t>，其输入的先序遍历序列为：</a:t>
            </a:r>
            <a:r>
              <a:rPr lang="en-US" altLang="zh-CN" b="0" dirty="0"/>
              <a:t>ABD##E##CFH##I##G##</a:t>
            </a:r>
            <a:endParaRPr lang="zh-CN" altLang="zh-CN" b="0" dirty="0"/>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3645024"/>
            <a:ext cx="3024336" cy="2515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75910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12568"/>
          </a:xfrm>
        </p:spPr>
        <p:txBody>
          <a:bodyPr>
            <a:normAutofit fontScale="85000" lnSpcReduction="20000"/>
          </a:bodyPr>
          <a:lstStyle/>
          <a:p>
            <a:r>
              <a:rPr lang="en-US" altLang="zh-CN" dirty="0"/>
              <a:t>	</a:t>
            </a:r>
            <a:r>
              <a:rPr lang="zh-CN" altLang="zh-CN" dirty="0"/>
              <a:t>算法</a:t>
            </a:r>
            <a:r>
              <a:rPr lang="en-US" altLang="zh-CN" dirty="0"/>
              <a:t>5.10</a:t>
            </a:r>
            <a:r>
              <a:rPr lang="zh-CN" altLang="zh-CN" dirty="0"/>
              <a:t>：</a:t>
            </a:r>
            <a:r>
              <a:rPr lang="zh-CN" altLang="zh-CN" dirty="0">
                <a:solidFill>
                  <a:srgbClr val="FF0000"/>
                </a:solidFill>
              </a:rPr>
              <a:t>二叉树的</a:t>
            </a:r>
            <a:r>
              <a:rPr lang="zh-CN" altLang="en-US" dirty="0">
                <a:solidFill>
                  <a:srgbClr val="FF0000"/>
                </a:solidFill>
              </a:rPr>
              <a:t>构造</a:t>
            </a:r>
            <a:r>
              <a:rPr lang="zh-CN" altLang="zh-CN" dirty="0">
                <a:solidFill>
                  <a:srgbClr val="FF0000"/>
                </a:solidFill>
              </a:rPr>
              <a:t>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a:t>CreateTree</a:t>
            </a:r>
            <a:r>
              <a:rPr lang="en-US" altLang="zh-CN" b="0" dirty="0"/>
              <a:t>(</a:t>
            </a:r>
            <a:r>
              <a:rPr lang="en-US" altLang="zh-CN" b="0" dirty="0" err="1"/>
              <a:t>BinaryTreeNode</a:t>
            </a:r>
            <a:r>
              <a:rPr lang="en-US" altLang="zh-CN" b="0" dirty="0"/>
              <a:t>&lt;T&gt; * &amp;r){</a:t>
            </a:r>
            <a:endParaRPr lang="zh-CN" altLang="zh-CN" b="0" dirty="0"/>
          </a:p>
          <a:p>
            <a:r>
              <a:rPr lang="en-US" altLang="zh-CN" b="0" dirty="0"/>
              <a:t>    </a:t>
            </a:r>
            <a:r>
              <a:rPr lang="en-US" altLang="zh-CN" b="0" dirty="0" err="1"/>
              <a:t>int</a:t>
            </a:r>
            <a:r>
              <a:rPr lang="en-US" altLang="zh-CN" b="0" dirty="0"/>
              <a:t> </a:t>
            </a:r>
            <a:r>
              <a:rPr lang="en-US" altLang="zh-CN" b="0" dirty="0" err="1"/>
              <a:t>ch</a:t>
            </a:r>
            <a:r>
              <a:rPr lang="en-US" altLang="zh-CN" b="0" dirty="0"/>
              <a:t>;</a:t>
            </a:r>
            <a:endParaRPr lang="zh-CN" altLang="zh-CN" b="0" dirty="0"/>
          </a:p>
          <a:p>
            <a:r>
              <a:rPr lang="en-US" altLang="zh-CN" b="0" dirty="0"/>
              <a:t>    </a:t>
            </a:r>
            <a:r>
              <a:rPr lang="en-US" altLang="zh-CN" b="0" dirty="0" err="1"/>
              <a:t>cin</a:t>
            </a:r>
            <a:r>
              <a:rPr lang="en-US" altLang="zh-CN" b="0" dirty="0"/>
              <a:t> &gt;&gt; </a:t>
            </a:r>
            <a:r>
              <a:rPr lang="en-US" altLang="zh-CN" b="0" dirty="0" err="1"/>
              <a:t>ch</a:t>
            </a:r>
            <a:r>
              <a:rPr lang="en-US" altLang="zh-CN" b="0" dirty="0"/>
              <a:t>;</a:t>
            </a:r>
            <a:endParaRPr lang="zh-CN" altLang="zh-CN" b="0" dirty="0"/>
          </a:p>
          <a:p>
            <a:r>
              <a:rPr lang="en-US" altLang="zh-CN" b="0" dirty="0"/>
              <a:t>    if (</a:t>
            </a:r>
            <a:r>
              <a:rPr lang="en-US" altLang="zh-CN" b="0" dirty="0" err="1"/>
              <a:t>ch</a:t>
            </a:r>
            <a:r>
              <a:rPr lang="en-US" altLang="zh-CN" b="0" dirty="0"/>
              <a:t> == '#') r = NULL;</a:t>
            </a:r>
            <a:endParaRPr lang="zh-CN" altLang="zh-CN" b="0" dirty="0"/>
          </a:p>
          <a:p>
            <a:r>
              <a:rPr lang="en-US" altLang="zh-CN" b="0" dirty="0"/>
              <a:t>    else{	  //</a:t>
            </a:r>
            <a:r>
              <a:rPr lang="zh-CN" altLang="zh-CN" b="0" dirty="0"/>
              <a:t>读入非空</a:t>
            </a:r>
            <a:r>
              <a:rPr lang="zh-CN" altLang="en-US" b="0" dirty="0"/>
              <a:t>符号</a:t>
            </a:r>
            <a:endParaRPr lang="zh-CN" altLang="zh-CN" b="0" dirty="0"/>
          </a:p>
          <a:p>
            <a:r>
              <a:rPr lang="en-US" altLang="zh-CN" b="0" dirty="0"/>
              <a:t>        r = new </a:t>
            </a:r>
            <a:r>
              <a:rPr lang="en-US" altLang="zh-CN" b="0" dirty="0" err="1"/>
              <a:t>BinaryTreeNode</a:t>
            </a:r>
            <a:r>
              <a:rPr lang="en-US" altLang="zh-CN" b="0" dirty="0"/>
              <a:t>&lt;T&gt;(</a:t>
            </a:r>
            <a:r>
              <a:rPr lang="en-US" altLang="zh-CN" b="0" dirty="0" err="1"/>
              <a:t>ch</a:t>
            </a:r>
            <a:r>
              <a:rPr lang="en-US" altLang="zh-CN" b="0" dirty="0"/>
              <a:t>);		//</a:t>
            </a:r>
            <a:r>
              <a:rPr lang="zh-CN" altLang="zh-CN" b="0" dirty="0"/>
              <a:t>生成结点</a:t>
            </a:r>
          </a:p>
          <a:p>
            <a:r>
              <a:rPr lang="en-US" altLang="zh-CN" b="0" dirty="0"/>
              <a:t>        </a:t>
            </a:r>
            <a:r>
              <a:rPr lang="en-US" altLang="zh-CN" b="0" dirty="0" err="1"/>
              <a:t>CreateTree</a:t>
            </a:r>
            <a:r>
              <a:rPr lang="en-US" altLang="zh-CN" b="0" dirty="0"/>
              <a:t>(r-&gt;left);				//</a:t>
            </a:r>
            <a:r>
              <a:rPr lang="zh-CN" altLang="zh-CN" b="0" dirty="0"/>
              <a:t>构造左子树</a:t>
            </a:r>
          </a:p>
          <a:p>
            <a:r>
              <a:rPr lang="en-US" altLang="zh-CN" b="0" dirty="0"/>
              <a:t>        </a:t>
            </a:r>
            <a:r>
              <a:rPr lang="en-US" altLang="zh-CN" b="0" dirty="0" err="1"/>
              <a:t>CreateTree</a:t>
            </a:r>
            <a:r>
              <a:rPr lang="en-US" altLang="zh-CN" b="0" dirty="0"/>
              <a:t>(r-&gt;right);				//</a:t>
            </a:r>
            <a:r>
              <a:rPr lang="zh-CN" altLang="zh-CN" b="0" dirty="0"/>
              <a:t>构造右子树</a:t>
            </a:r>
          </a:p>
          <a:p>
            <a:r>
              <a:rPr lang="en-US" altLang="zh-CN" b="0" dirty="0"/>
              <a:t>    }</a:t>
            </a:r>
            <a:endParaRPr lang="zh-CN" altLang="zh-CN" b="0" dirty="0"/>
          </a:p>
          <a:p>
            <a:r>
              <a:rPr lang="en-US" altLang="zh-CN" b="0" dirty="0"/>
              <a:t>}</a:t>
            </a:r>
            <a:endParaRPr lang="zh-CN" altLang="zh-CN" b="0" dirty="0"/>
          </a:p>
          <a:p>
            <a:endParaRPr lang="zh-CN" altLang="en-US" dirty="0"/>
          </a:p>
        </p:txBody>
      </p:sp>
      <p:sp>
        <p:nvSpPr>
          <p:cNvPr id="2" name="矩形 1"/>
          <p:cNvSpPr/>
          <p:nvPr/>
        </p:nvSpPr>
        <p:spPr>
          <a:xfrm>
            <a:off x="4644008" y="188640"/>
            <a:ext cx="4234776" cy="707886"/>
          </a:xfrm>
          <a:prstGeom prst="rect">
            <a:avLst/>
          </a:prstGeom>
        </p:spPr>
        <p:txBody>
          <a:bodyPr wrap="square">
            <a:spAutoFit/>
          </a:bodyPr>
          <a:lstStyle/>
          <a:p>
            <a:r>
              <a:rPr lang="zh-CN" altLang="en-US" sz="2000" dirty="0">
                <a:solidFill>
                  <a:srgbClr val="0000FF"/>
                </a:solidFill>
                <a:latin typeface="Times New Roman" pitchFamily="18" charset="0"/>
                <a:ea typeface="楷体" pitchFamily="49" charset="-122"/>
                <a:cs typeface="Times New Roman" pitchFamily="18" charset="0"/>
              </a:rPr>
              <a:t>例如，</a:t>
            </a:r>
            <a:r>
              <a:rPr lang="zh-CN" altLang="zh-CN" sz="2000" dirty="0">
                <a:solidFill>
                  <a:srgbClr val="0000FF"/>
                </a:solidFill>
                <a:latin typeface="Times New Roman" pitchFamily="18" charset="0"/>
                <a:ea typeface="楷体" pitchFamily="49" charset="-122"/>
                <a:cs typeface="Times New Roman" pitchFamily="18" charset="0"/>
              </a:rPr>
              <a:t>输入的先序遍历序列为：</a:t>
            </a:r>
            <a:r>
              <a:rPr lang="en-US" altLang="zh-CN" sz="2000" dirty="0">
                <a:solidFill>
                  <a:srgbClr val="0000FF"/>
                </a:solidFill>
                <a:latin typeface="Times New Roman" pitchFamily="18" charset="0"/>
                <a:ea typeface="楷体" pitchFamily="49" charset="-122"/>
                <a:cs typeface="Times New Roman" pitchFamily="18" charset="0"/>
              </a:rPr>
              <a:t>     </a:t>
            </a:r>
          </a:p>
          <a:p>
            <a:r>
              <a:rPr lang="en-US" altLang="zh-CN" sz="2000" dirty="0">
                <a:latin typeface="Times New Roman" pitchFamily="18" charset="0"/>
                <a:ea typeface="楷体" pitchFamily="49" charset="-122"/>
                <a:cs typeface="Times New Roman" pitchFamily="18" charset="0"/>
              </a:rPr>
              <a:t>            ABD##E##CFH##I##G##</a:t>
            </a:r>
            <a:endParaRPr lang="zh-CN" altLang="en-US" sz="2000"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2417932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14423"/>
            <a:ext cx="7520940" cy="1782529"/>
          </a:xfrm>
        </p:spPr>
        <p:txBody>
          <a:bodyPr/>
          <a:lstStyle/>
          <a:p>
            <a:r>
              <a:rPr lang="en-US" altLang="zh-CN" dirty="0"/>
              <a:t>	</a:t>
            </a:r>
            <a:r>
              <a:rPr lang="zh-CN" altLang="en-US" dirty="0">
                <a:solidFill>
                  <a:srgbClr val="FF0000"/>
                </a:solidFill>
              </a:rPr>
              <a:t>逐层遍历二叉树</a:t>
            </a:r>
            <a:r>
              <a:rPr lang="zh-CN" altLang="en-US" dirty="0"/>
              <a:t>：</a:t>
            </a:r>
            <a:endParaRPr lang="en-US" altLang="zh-CN" dirty="0"/>
          </a:p>
          <a:p>
            <a:r>
              <a:rPr lang="en-US" altLang="zh-CN" b="0" dirty="0"/>
              <a:t>	</a:t>
            </a:r>
            <a:r>
              <a:rPr lang="zh-CN" altLang="en-US" b="0" dirty="0"/>
              <a:t>按照从顶层到底层的次序访问树中结点，在同一层中，从左到右依次访问。</a:t>
            </a:r>
          </a:p>
        </p:txBody>
      </p:sp>
      <p:sp>
        <p:nvSpPr>
          <p:cNvPr id="168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8961" name="Object 1"/>
          <p:cNvGraphicFramePr>
            <a:graphicFrameLocks noChangeAspect="1"/>
          </p:cNvGraphicFramePr>
          <p:nvPr/>
        </p:nvGraphicFramePr>
        <p:xfrm>
          <a:off x="928661" y="3214686"/>
          <a:ext cx="3015665" cy="2500330"/>
        </p:xfrm>
        <a:graphic>
          <a:graphicData uri="http://schemas.openxmlformats.org/presentationml/2006/ole">
            <mc:AlternateContent xmlns:mc="http://schemas.openxmlformats.org/markup-compatibility/2006">
              <mc:Choice xmlns:v="urn:schemas-microsoft-com:vml" Requires="v">
                <p:oleObj spid="_x0000_s168983" r:id="rId2" imgW="1934723" imgH="1617183" progId="">
                  <p:embed/>
                </p:oleObj>
              </mc:Choice>
              <mc:Fallback>
                <p:oleObj r:id="rId2" imgW="1934723" imgH="1617183" progId="">
                  <p:embed/>
                  <p:pic>
                    <p:nvPicPr>
                      <p:cNvPr id="0"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61" y="3214686"/>
                        <a:ext cx="3015665" cy="2500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4357686" y="4286256"/>
            <a:ext cx="3587842" cy="830997"/>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逐层遍历得到的序列为：</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en-US" sz="2400" b="1" dirty="0">
                <a:latin typeface="Times New Roman" panose="02020603050405020304" pitchFamily="18" charset="0"/>
                <a:ea typeface="楷体" panose="02010609060101010101" pitchFamily="49" charset="-122"/>
                <a:cs typeface="Times New Roman" panose="02020603050405020304" pitchFamily="18" charset="0"/>
              </a:rPr>
              <a:t>ABCDEFGHI</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980728"/>
            <a:ext cx="8001056" cy="4896544"/>
          </a:xfrm>
        </p:spPr>
        <p:txBody>
          <a:bodyPr>
            <a:normAutofit fontScale="25000" lnSpcReduction="20000"/>
          </a:bodyPr>
          <a:lstStyle/>
          <a:p>
            <a:r>
              <a:rPr lang="en-US" altLang="zh-CN" sz="11200" b="0" dirty="0">
                <a:latin typeface="+mn-ea"/>
                <a:ea typeface="+mn-ea"/>
              </a:rPr>
              <a:t>	</a:t>
            </a:r>
            <a:r>
              <a:rPr kumimoji="1" lang="zh-CN" altLang="en-US" sz="11200" b="0" dirty="0">
                <a:solidFill>
                  <a:srgbClr val="FF0066"/>
                </a:solidFill>
                <a:latin typeface="+mn-ea"/>
                <a:ea typeface="+mn-ea"/>
              </a:rPr>
              <a:t>二叉树的层次遍历思想：</a:t>
            </a:r>
            <a:endParaRPr kumimoji="1" lang="zh-CN" altLang="en-US" sz="11200" b="0" dirty="0">
              <a:latin typeface="+mn-ea"/>
              <a:ea typeface="+mn-ea"/>
            </a:endParaRPr>
          </a:p>
          <a:p>
            <a:r>
              <a:rPr kumimoji="1" lang="zh-CN" altLang="en-US" sz="8000" dirty="0">
                <a:latin typeface="楷体_GB2312" pitchFamily="49" charset="-122"/>
                <a:ea typeface="楷体_GB2312" pitchFamily="49" charset="-122"/>
              </a:rPr>
              <a:t>       </a:t>
            </a:r>
            <a:r>
              <a:rPr kumimoji="1" lang="zh-CN" altLang="en-US" sz="8000" b="0" dirty="0">
                <a:solidFill>
                  <a:schemeClr val="accent6"/>
                </a:solidFill>
                <a:latin typeface="黑体" pitchFamily="49" charset="-122"/>
                <a:ea typeface="黑体" pitchFamily="49" charset="-122"/>
              </a:rPr>
              <a:t>由二叉树的按层次遍历的定义可知，对一层结点访问完后，再按照它们的访问次序对各结点的左孩子和右孩子进行顺序访问，就完成了对下一层结点的访问。所以，在对二叉树进行按层次遍历时，需要设置一个队列结构来存取正在访问层次的上一层结点。具体的步骤是：</a:t>
            </a:r>
          </a:p>
          <a:p>
            <a:endParaRPr kumimoji="1" lang="zh-CN" altLang="en-US" sz="8000" dirty="0">
              <a:latin typeface="楷体_GB2312" pitchFamily="49" charset="-122"/>
              <a:ea typeface="楷体_GB2312" pitchFamily="49" charset="-122"/>
            </a:endParaRPr>
          </a:p>
          <a:p>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1</a:t>
            </a:r>
            <a:r>
              <a:rPr kumimoji="1" lang="zh-CN" altLang="en-US" sz="8000" b="0" dirty="0">
                <a:solidFill>
                  <a:schemeClr val="accent3">
                    <a:lumMod val="75000"/>
                  </a:schemeClr>
                </a:solidFill>
                <a:latin typeface="黑体" pitchFamily="49" charset="-122"/>
                <a:ea typeface="黑体" pitchFamily="49" charset="-122"/>
              </a:rPr>
              <a:t>：将队列置空，从二叉树的根结点开始，将其入队列。 </a:t>
            </a:r>
          </a:p>
          <a:p>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2</a:t>
            </a:r>
            <a:r>
              <a:rPr kumimoji="1" lang="zh-CN" altLang="en-US" sz="8000" b="0" dirty="0">
                <a:solidFill>
                  <a:schemeClr val="accent3">
                    <a:lumMod val="75000"/>
                  </a:schemeClr>
                </a:solidFill>
                <a:latin typeface="黑体" pitchFamily="49" charset="-122"/>
                <a:ea typeface="黑体" pitchFamily="49" charset="-122"/>
              </a:rPr>
              <a:t>：从队列中取出一个元素，每取出一个元素就访问该元素所指结点；</a:t>
            </a:r>
          </a:p>
          <a:p>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3</a:t>
            </a:r>
            <a:r>
              <a:rPr kumimoji="1" lang="zh-CN" altLang="en-US" sz="8000" b="0" dirty="0">
                <a:solidFill>
                  <a:schemeClr val="accent3">
                    <a:lumMod val="75000"/>
                  </a:schemeClr>
                </a:solidFill>
                <a:latin typeface="黑体" pitchFamily="49" charset="-122"/>
                <a:ea typeface="黑体" pitchFamily="49" charset="-122"/>
              </a:rPr>
              <a:t>：若该元素所指结点的左、右孩子结点非空，则将该元素所指结点的左、右孩子结点入队列。</a:t>
            </a:r>
          </a:p>
          <a:p>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4</a:t>
            </a:r>
            <a:r>
              <a:rPr kumimoji="1" lang="zh-CN" altLang="en-US" sz="8000" b="0" dirty="0">
                <a:solidFill>
                  <a:schemeClr val="accent3">
                    <a:lumMod val="75000"/>
                  </a:schemeClr>
                </a:solidFill>
                <a:latin typeface="黑体" pitchFamily="49" charset="-122"/>
                <a:ea typeface="黑体" pitchFamily="49" charset="-122"/>
              </a:rPr>
              <a:t>：重复执行</a:t>
            </a:r>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2</a:t>
            </a:r>
            <a:r>
              <a:rPr kumimoji="1" lang="zh-CN" altLang="en-US" sz="8000" b="0" dirty="0">
                <a:solidFill>
                  <a:schemeClr val="accent3">
                    <a:lumMod val="75000"/>
                  </a:schemeClr>
                </a:solidFill>
                <a:latin typeface="黑体" pitchFamily="49" charset="-122"/>
                <a:ea typeface="黑体" pitchFamily="49" charset="-122"/>
              </a:rPr>
              <a:t>和</a:t>
            </a:r>
            <a:r>
              <a:rPr kumimoji="1" lang="en-US" altLang="zh-CN" sz="8000" b="0" dirty="0">
                <a:solidFill>
                  <a:schemeClr val="accent3">
                    <a:lumMod val="75000"/>
                  </a:schemeClr>
                </a:solidFill>
                <a:latin typeface="黑体" pitchFamily="49" charset="-122"/>
                <a:ea typeface="黑体" pitchFamily="49" charset="-122"/>
              </a:rPr>
              <a:t>S</a:t>
            </a:r>
            <a:r>
              <a:rPr kumimoji="1" lang="en-US" altLang="zh-CN" sz="8000" b="0" baseline="-25000" dirty="0">
                <a:solidFill>
                  <a:schemeClr val="accent3">
                    <a:lumMod val="75000"/>
                  </a:schemeClr>
                </a:solidFill>
                <a:latin typeface="黑体" pitchFamily="49" charset="-122"/>
                <a:ea typeface="黑体" pitchFamily="49" charset="-122"/>
              </a:rPr>
              <a:t>3</a:t>
            </a:r>
            <a:r>
              <a:rPr kumimoji="1" lang="zh-CN" altLang="en-US" sz="8000" b="0" dirty="0">
                <a:solidFill>
                  <a:schemeClr val="accent3">
                    <a:lumMod val="75000"/>
                  </a:schemeClr>
                </a:solidFill>
                <a:latin typeface="黑体" pitchFamily="49" charset="-122"/>
                <a:ea typeface="黑体" pitchFamily="49" charset="-122"/>
              </a:rPr>
              <a:t>，直到队列为空为止。</a:t>
            </a:r>
            <a:endParaRPr kumimoji="1" lang="en-US" altLang="zh-CN" sz="8000" b="0" dirty="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8064896" cy="5810418"/>
          </a:xfrm>
        </p:spPr>
        <p:txBody>
          <a:bodyPr>
            <a:noAutofit/>
          </a:bodyPr>
          <a:lstStyle/>
          <a:p>
            <a:pPr>
              <a:spcBef>
                <a:spcPts val="0"/>
              </a:spcBef>
            </a:pPr>
            <a:r>
              <a:rPr lang="zh-CN" altLang="zh-CN" sz="2000" dirty="0"/>
              <a:t>算法</a:t>
            </a:r>
            <a:r>
              <a:rPr lang="en-US" altLang="zh-CN" sz="2000" dirty="0"/>
              <a:t>5.11</a:t>
            </a:r>
            <a:r>
              <a:rPr lang="zh-CN" altLang="zh-CN" sz="2000" dirty="0"/>
              <a:t>：</a:t>
            </a:r>
            <a:r>
              <a:rPr lang="zh-CN" altLang="zh-CN" sz="2000" dirty="0">
                <a:solidFill>
                  <a:srgbClr val="FF0000"/>
                </a:solidFill>
              </a:rPr>
              <a:t>逐层遍历二叉树</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BinaryTree</a:t>
            </a:r>
            <a:r>
              <a:rPr lang="en-US" altLang="zh-CN" sz="2000" b="0" dirty="0"/>
              <a:t>&lt;T&gt;::</a:t>
            </a:r>
            <a:r>
              <a:rPr lang="en-US" altLang="zh-CN" sz="2000" b="0" dirty="0" err="1"/>
              <a:t>LevelOrder</a:t>
            </a:r>
            <a:r>
              <a:rPr lang="en-US" altLang="zh-CN" sz="2000" b="0" dirty="0"/>
              <a:t>(</a:t>
            </a:r>
            <a:r>
              <a:rPr lang="en-US" altLang="zh-CN" sz="2000" b="0" dirty="0" err="1"/>
              <a:t>BinaryTreeNode</a:t>
            </a:r>
            <a:r>
              <a:rPr lang="en-US" altLang="zh-CN" sz="2000" b="0" dirty="0"/>
              <a:t>&lt;T&gt; *root){</a:t>
            </a:r>
            <a:endParaRPr lang="zh-CN" altLang="zh-CN" sz="2000" b="0" dirty="0"/>
          </a:p>
          <a:p>
            <a:pPr>
              <a:spcBef>
                <a:spcPts val="0"/>
              </a:spcBef>
            </a:pPr>
            <a:r>
              <a:rPr lang="en-US" altLang="zh-CN" sz="2000" b="0" dirty="0"/>
              <a:t>    	queue&lt;</a:t>
            </a:r>
            <a:r>
              <a:rPr lang="en-US" altLang="zh-CN" sz="2000" b="0" dirty="0" err="1"/>
              <a:t>BinaryTreeNode</a:t>
            </a:r>
            <a:r>
              <a:rPr lang="en-US" altLang="zh-CN" sz="2000" b="0" dirty="0"/>
              <a:t>&lt;T&gt;* &gt; </a:t>
            </a:r>
            <a:r>
              <a:rPr lang="en-US" altLang="zh-CN" sz="2000" b="0" dirty="0" err="1"/>
              <a:t>tQueue</a:t>
            </a:r>
            <a:r>
              <a:rPr lang="en-US" altLang="zh-CN" sz="2000" b="0" dirty="0"/>
              <a:t>;</a:t>
            </a:r>
            <a:endParaRPr lang="zh-CN" altLang="zh-CN" sz="2000" b="0" dirty="0"/>
          </a:p>
          <a:p>
            <a:pPr>
              <a:spcBef>
                <a:spcPts val="0"/>
              </a:spcBef>
            </a:pPr>
            <a:r>
              <a:rPr lang="en-US" altLang="zh-CN" sz="2000" b="0" dirty="0"/>
              <a:t>    	</a:t>
            </a:r>
            <a:r>
              <a:rPr lang="en-US" altLang="zh-CN" sz="2000" b="0" dirty="0" err="1"/>
              <a:t>BinaryTreeNode</a:t>
            </a:r>
            <a:r>
              <a:rPr lang="en-US" altLang="zh-CN" sz="2000" b="0" dirty="0"/>
              <a:t>&lt;T&gt; *pointer = root;</a:t>
            </a:r>
            <a:endParaRPr lang="zh-CN" altLang="zh-CN" sz="2000" b="0" dirty="0"/>
          </a:p>
          <a:p>
            <a:pPr>
              <a:spcBef>
                <a:spcPts val="0"/>
              </a:spcBef>
            </a:pPr>
            <a:r>
              <a:rPr lang="en-US" altLang="zh-CN" sz="2000" b="0" dirty="0"/>
              <a:t>    	if (pointer) </a:t>
            </a:r>
            <a:r>
              <a:rPr lang="en-US" altLang="zh-CN" sz="2000" b="0" dirty="0" err="1"/>
              <a:t>tQueue.enqueue</a:t>
            </a:r>
            <a:r>
              <a:rPr lang="en-US" altLang="zh-CN" sz="2000" b="0" dirty="0"/>
              <a:t>(pointer);       //</a:t>
            </a:r>
            <a:r>
              <a:rPr lang="zh-CN" altLang="zh-CN" sz="2000" b="0" dirty="0"/>
              <a:t>根结点入队列</a:t>
            </a:r>
          </a:p>
          <a:p>
            <a:pPr>
              <a:spcBef>
                <a:spcPts val="0"/>
              </a:spcBef>
            </a:pPr>
            <a:r>
              <a:rPr lang="en-US" altLang="zh-CN" sz="2000" b="0" dirty="0"/>
              <a:t>    	while (!</a:t>
            </a:r>
            <a:r>
              <a:rPr lang="en-US" altLang="zh-CN" sz="2000" b="0" dirty="0" err="1"/>
              <a:t>tQueue.empty</a:t>
            </a:r>
            <a:r>
              <a:rPr lang="en-US" altLang="zh-CN" sz="2000" b="0" dirty="0"/>
              <a:t>()){</a:t>
            </a:r>
            <a:endParaRPr lang="zh-CN" altLang="zh-CN" sz="2000" b="0" dirty="0"/>
          </a:p>
          <a:p>
            <a:pPr>
              <a:spcBef>
                <a:spcPts val="0"/>
              </a:spcBef>
            </a:pPr>
            <a:r>
              <a:rPr lang="en-US" altLang="zh-CN" sz="2000" b="0" dirty="0"/>
              <a:t>        	pointer = </a:t>
            </a:r>
            <a:r>
              <a:rPr lang="en-US" altLang="zh-CN" sz="2000" b="0" dirty="0" err="1"/>
              <a:t>tQueue.dequeue</a:t>
            </a:r>
            <a:r>
              <a:rPr lang="en-US" altLang="zh-CN" sz="2000" b="0" dirty="0"/>
              <a:t>();          	//</a:t>
            </a:r>
            <a:r>
              <a:rPr lang="zh-CN" altLang="en-US" sz="2000" b="0" dirty="0"/>
              <a:t>出队列，</a:t>
            </a:r>
            <a:r>
              <a:rPr lang="zh-CN" altLang="zh-CN" sz="2000" b="0" dirty="0"/>
              <a:t>获得队列首结点</a:t>
            </a:r>
          </a:p>
          <a:p>
            <a:pPr>
              <a:spcBef>
                <a:spcPts val="0"/>
              </a:spcBef>
            </a:pPr>
            <a:r>
              <a:rPr lang="en-US" altLang="zh-CN" sz="2000" b="0" dirty="0"/>
              <a:t>		visit(pointer-&gt;value());             	//</a:t>
            </a:r>
            <a:r>
              <a:rPr lang="zh-CN" altLang="zh-CN" sz="2000" b="0" dirty="0"/>
              <a:t>访问当前结点</a:t>
            </a:r>
          </a:p>
          <a:p>
            <a:pPr>
              <a:spcBef>
                <a:spcPts val="0"/>
              </a:spcBef>
            </a:pPr>
            <a:r>
              <a:rPr lang="en-US" altLang="zh-CN" sz="2000" b="0" dirty="0"/>
              <a:t>        	if (pointer-&gt;</a:t>
            </a:r>
            <a:r>
              <a:rPr lang="en-US" altLang="zh-CN" sz="2000" b="0" dirty="0" err="1"/>
              <a:t>leftchild</a:t>
            </a:r>
            <a:r>
              <a:rPr lang="en-US" altLang="zh-CN" sz="2000" b="0" dirty="0"/>
              <a:t>() != NULL) </a:t>
            </a:r>
            <a:endParaRPr lang="zh-CN" altLang="zh-CN" sz="2000" b="0" dirty="0"/>
          </a:p>
          <a:p>
            <a:pPr>
              <a:spcBef>
                <a:spcPts val="0"/>
              </a:spcBef>
            </a:pPr>
            <a:r>
              <a:rPr lang="en-US" altLang="zh-CN" sz="2000" b="0" dirty="0"/>
              <a:t>	               </a:t>
            </a:r>
            <a:r>
              <a:rPr lang="en-US" altLang="zh-CN" sz="2000" b="0" dirty="0" err="1"/>
              <a:t>tQueue.enqueue</a:t>
            </a:r>
            <a:r>
              <a:rPr lang="en-US" altLang="zh-CN" sz="2000" b="0" dirty="0"/>
              <a:t>(pointer-&gt;</a:t>
            </a:r>
            <a:r>
              <a:rPr lang="en-US" altLang="zh-CN" sz="2000" b="0" dirty="0" err="1"/>
              <a:t>leftchild</a:t>
            </a:r>
            <a:r>
              <a:rPr lang="en-US" altLang="zh-CN" sz="2000" b="0" dirty="0"/>
              <a:t>());     //</a:t>
            </a:r>
            <a:r>
              <a:rPr lang="zh-CN" altLang="zh-CN" sz="2000" b="0" dirty="0"/>
              <a:t>左子树入队列</a:t>
            </a:r>
          </a:p>
          <a:p>
            <a:pPr>
              <a:spcBef>
                <a:spcPts val="0"/>
              </a:spcBef>
            </a:pPr>
            <a:r>
              <a:rPr lang="en-US" altLang="zh-CN" sz="2000" b="0" dirty="0"/>
              <a:t>        	if (pointer-&gt;</a:t>
            </a:r>
            <a:r>
              <a:rPr lang="en-US" altLang="zh-CN" sz="2000" b="0" dirty="0" err="1"/>
              <a:t>rightchild</a:t>
            </a:r>
            <a:r>
              <a:rPr lang="en-US" altLang="zh-CN" sz="2000" b="0" dirty="0"/>
              <a:t>() != NULL)</a:t>
            </a:r>
            <a:endParaRPr lang="zh-CN" altLang="zh-CN" sz="2000" b="0" dirty="0"/>
          </a:p>
          <a:p>
            <a:pPr>
              <a:spcBef>
                <a:spcPts val="0"/>
              </a:spcBef>
            </a:pPr>
            <a:r>
              <a:rPr lang="en-US" altLang="zh-CN" sz="2000" b="0" dirty="0"/>
              <a:t>     	       	      </a:t>
            </a:r>
            <a:r>
              <a:rPr lang="en-US" altLang="zh-CN" sz="2000" b="0" dirty="0" err="1"/>
              <a:t>tQueue.enqueue</a:t>
            </a:r>
            <a:r>
              <a:rPr lang="en-US" altLang="zh-CN" sz="2000" b="0" dirty="0"/>
              <a:t>(pointer-&gt;</a:t>
            </a:r>
            <a:r>
              <a:rPr lang="en-US" altLang="zh-CN" sz="2000" b="0" dirty="0" err="1"/>
              <a:t>rightchild</a:t>
            </a:r>
            <a:r>
              <a:rPr lang="en-US" altLang="zh-CN" sz="2000" b="0" dirty="0"/>
              <a:t>());  //</a:t>
            </a:r>
            <a:r>
              <a:rPr lang="zh-CN" altLang="zh-CN" sz="2000" b="0" dirty="0"/>
              <a:t>右子树入队列</a:t>
            </a:r>
          </a:p>
          <a:p>
            <a:pPr>
              <a:spcBef>
                <a:spcPts val="0"/>
              </a:spcBef>
            </a:pPr>
            <a:r>
              <a:rPr lang="en-US" altLang="zh-CN" sz="2000" b="0" dirty="0"/>
              <a:t>    	}</a:t>
            </a:r>
            <a:endParaRPr lang="zh-CN" altLang="zh-CN" sz="2000" b="0" dirty="0"/>
          </a:p>
          <a:p>
            <a:pPr>
              <a:spcBef>
                <a:spcPts val="0"/>
              </a:spcBef>
            </a:pPr>
            <a:r>
              <a:rPr lang="en-US" altLang="zh-CN" sz="2000" b="0" dirty="0"/>
              <a:t>}</a:t>
            </a:r>
            <a:endParaRPr lang="zh-CN" altLang="zh-CN" sz="2000" b="0" dirty="0"/>
          </a:p>
        </p:txBody>
      </p:sp>
    </p:spTree>
    <p:extLst>
      <p:ext uri="{BB962C8B-B14F-4D97-AF65-F5344CB8AC3E}">
        <p14:creationId xmlns:p14="http://schemas.microsoft.com/office/powerpoint/2010/main" val="351602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r>
              <a:rPr lang="zh-CN" altLang="en-US" dirty="0">
                <a:solidFill>
                  <a:srgbClr val="FF0000"/>
                </a:solidFill>
              </a:rPr>
              <a:t>二叉树遍历算法的复杂度分析</a:t>
            </a:r>
            <a:r>
              <a:rPr lang="zh-CN" altLang="en-US" b="0" dirty="0"/>
              <a:t>：</a:t>
            </a:r>
            <a:endParaRPr lang="en-US" altLang="zh-CN" b="0" dirty="0"/>
          </a:p>
          <a:p>
            <a:pPr>
              <a:buFont typeface="Arial" pitchFamily="34" charset="0"/>
              <a:buChar char="•"/>
            </a:pPr>
            <a:r>
              <a:rPr lang="zh-CN" altLang="en-US" b="0" dirty="0"/>
              <a:t>对于有</a:t>
            </a:r>
            <a:r>
              <a:rPr lang="en-US" b="0" dirty="0"/>
              <a:t>n</a:t>
            </a:r>
            <a:r>
              <a:rPr lang="zh-CN" altLang="en-US" b="0" dirty="0"/>
              <a:t>个结点的二叉树，这四种遍历算法的时间复杂度都为</a:t>
            </a:r>
            <a:r>
              <a:rPr lang="en-US" altLang="zh-CN" b="0" dirty="0"/>
              <a:t>O(n)</a:t>
            </a:r>
            <a:r>
              <a:rPr lang="zh-CN" altLang="en-US" b="0" dirty="0"/>
              <a:t>。</a:t>
            </a:r>
            <a:endParaRPr lang="en-US" altLang="zh-CN" b="0" dirty="0"/>
          </a:p>
          <a:p>
            <a:pPr>
              <a:buFont typeface="Arial" pitchFamily="34" charset="0"/>
              <a:buChar char="•"/>
            </a:pPr>
            <a:r>
              <a:rPr lang="zh-CN" altLang="en-US" b="0" dirty="0"/>
              <a:t>所需要的辅助空间为遍历过程中栈的最大容量，即树的高度，</a:t>
            </a:r>
            <a:r>
              <a:rPr lang="en-US" altLang="zh-CN" b="0" dirty="0"/>
              <a:t>k=log</a:t>
            </a:r>
            <a:r>
              <a:rPr lang="en-US" altLang="zh-CN" b="0" baseline="-25000" dirty="0"/>
              <a:t>2</a:t>
            </a:r>
            <a:r>
              <a:rPr lang="en-US" altLang="zh-CN" b="0" baseline="30000" dirty="0"/>
              <a:t>n</a:t>
            </a:r>
            <a:r>
              <a:rPr lang="en-US" altLang="zh-CN" b="0" dirty="0"/>
              <a:t>+1</a:t>
            </a:r>
            <a:r>
              <a:rPr lang="zh-CN" altLang="en-US" b="0" dirty="0"/>
              <a:t>，</a:t>
            </a:r>
            <a:r>
              <a:rPr lang="en-US" altLang="zh-CN" b="0" dirty="0"/>
              <a:t>O(</a:t>
            </a:r>
            <a:r>
              <a:rPr lang="en-US" altLang="zh-CN" b="0" dirty="0" err="1"/>
              <a:t>log</a:t>
            </a:r>
            <a:r>
              <a:rPr lang="en-US" altLang="zh-CN" b="0" baseline="30000" dirty="0" err="1"/>
              <a:t>n</a:t>
            </a:r>
            <a:r>
              <a:rPr lang="en-US" altLang="zh-CN" b="0" dirty="0"/>
              <a:t>)</a:t>
            </a:r>
            <a:r>
              <a:rPr lang="zh-CN" altLang="en-US" b="0" dirty="0"/>
              <a:t>。</a:t>
            </a:r>
            <a:endParaRPr lang="en-US" altLang="zh-CN" b="0" dirty="0"/>
          </a:p>
          <a:p>
            <a:pPr>
              <a:buFont typeface="Arial" pitchFamily="34" charset="0"/>
              <a:buChar char="•"/>
            </a:pPr>
            <a:r>
              <a:rPr lang="zh-CN" altLang="en-US" b="0" dirty="0"/>
              <a:t>最坏情况下具有</a:t>
            </a:r>
            <a:r>
              <a:rPr lang="en-US" b="0" dirty="0"/>
              <a:t>n</a:t>
            </a:r>
            <a:r>
              <a:rPr lang="zh-CN" altLang="en-US" b="0" dirty="0"/>
              <a:t>个结点的二叉树高度为</a:t>
            </a:r>
            <a:r>
              <a:rPr lang="en-US" b="0" dirty="0"/>
              <a:t>n</a:t>
            </a:r>
            <a:r>
              <a:rPr lang="zh-CN" altLang="en-US" b="0" dirty="0"/>
              <a:t>，则所需要的空间复杂度为</a:t>
            </a:r>
            <a:r>
              <a:rPr lang="en-US" altLang="zh-CN" b="0" dirty="0"/>
              <a:t>O(n) </a:t>
            </a:r>
            <a:r>
              <a:rPr lang="zh-CN" altLang="en-US" b="0"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96544"/>
          </a:xfrm>
        </p:spPr>
        <p:txBody>
          <a:bodyPr>
            <a:normAutofit fontScale="77500" lnSpcReduction="20000"/>
          </a:bodyPr>
          <a:lstStyle/>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1</a:t>
            </a:r>
            <a:r>
              <a:rPr kumimoji="1" lang="zh-CN" altLang="en-US" sz="2200" b="0" dirty="0">
                <a:solidFill>
                  <a:schemeClr val="accent3">
                    <a:lumMod val="50000"/>
                  </a:schemeClr>
                </a:solidFill>
                <a:latin typeface="黑体" pitchFamily="49" charset="-122"/>
                <a:ea typeface="黑体" pitchFamily="49" charset="-122"/>
              </a:rPr>
              <a:t>：对于给定一棵二叉树</a:t>
            </a:r>
            <a:r>
              <a:rPr kumimoji="1" lang="en-US" altLang="zh-CN" sz="2200" b="0" dirty="0">
                <a:solidFill>
                  <a:schemeClr val="accent3">
                    <a:lumMod val="50000"/>
                  </a:schemeClr>
                </a:solidFill>
                <a:latin typeface="黑体" pitchFamily="49" charset="-122"/>
                <a:ea typeface="黑体" pitchFamily="49" charset="-122"/>
              </a:rPr>
              <a:t>BT</a:t>
            </a:r>
            <a:r>
              <a:rPr kumimoji="1" lang="zh-CN" altLang="en-US" sz="2200" b="0" dirty="0">
                <a:solidFill>
                  <a:schemeClr val="accent3">
                    <a:lumMod val="50000"/>
                  </a:schemeClr>
                </a:solidFill>
                <a:latin typeface="黑体" pitchFamily="49" charset="-122"/>
                <a:ea typeface="黑体" pitchFamily="49" charset="-122"/>
              </a:rPr>
              <a:t>，它的前序遍历序列、中序遍历序列、后序遍历序列以及层序遍历序列是唯一的。</a:t>
            </a:r>
            <a:endParaRPr kumimoji="1" lang="en-US" altLang="zh-CN" sz="2200" b="0" dirty="0">
              <a:solidFill>
                <a:schemeClr val="accent3">
                  <a:lumMod val="50000"/>
                </a:schemeClr>
              </a:solidFill>
              <a:latin typeface="黑体" pitchFamily="49" charset="-122"/>
              <a:ea typeface="黑体" pitchFamily="49" charset="-122"/>
            </a:endParaRPr>
          </a:p>
          <a:p>
            <a:endParaRPr kumimoji="1" lang="en-US" altLang="zh-CN" sz="2200" b="0" dirty="0">
              <a:solidFill>
                <a:schemeClr val="accent3">
                  <a:lumMod val="50000"/>
                </a:schemeClr>
              </a:solidFill>
              <a:latin typeface="黑体" pitchFamily="49" charset="-122"/>
              <a:ea typeface="黑体" pitchFamily="49" charset="-122"/>
            </a:endParaRPr>
          </a:p>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2</a:t>
            </a:r>
            <a:r>
              <a:rPr kumimoji="1" lang="zh-CN" altLang="en-US" sz="2200" b="0" dirty="0">
                <a:solidFill>
                  <a:schemeClr val="accent3">
                    <a:lumMod val="50000"/>
                  </a:schemeClr>
                </a:solidFill>
                <a:latin typeface="黑体" pitchFamily="49" charset="-122"/>
                <a:ea typeface="黑体" pitchFamily="49" charset="-122"/>
              </a:rPr>
              <a:t>：通过一棵二叉树的前序遍历序列和中序遍历序列，能够构造出唯一的一棵二叉树</a:t>
            </a:r>
            <a:r>
              <a:rPr kumimoji="1" lang="en-US" altLang="zh-CN" sz="2200" b="0" dirty="0">
                <a:solidFill>
                  <a:schemeClr val="accent3">
                    <a:lumMod val="50000"/>
                  </a:schemeClr>
                </a:solidFill>
                <a:latin typeface="黑体" pitchFamily="49" charset="-122"/>
                <a:ea typeface="黑体" pitchFamily="49" charset="-122"/>
              </a:rPr>
              <a:t>BT</a:t>
            </a:r>
            <a:r>
              <a:rPr kumimoji="1" lang="zh-CN" altLang="en-US" sz="2200" b="0" dirty="0">
                <a:solidFill>
                  <a:schemeClr val="accent3">
                    <a:lumMod val="50000"/>
                  </a:schemeClr>
                </a:solidFill>
                <a:latin typeface="黑体" pitchFamily="49" charset="-122"/>
                <a:ea typeface="黑体" pitchFamily="49" charset="-122"/>
              </a:rPr>
              <a:t>。</a:t>
            </a:r>
            <a:endParaRPr kumimoji="1" lang="en-US" altLang="zh-CN" sz="2200" b="0" dirty="0">
              <a:solidFill>
                <a:schemeClr val="accent3">
                  <a:lumMod val="50000"/>
                </a:schemeClr>
              </a:solidFill>
              <a:latin typeface="黑体" pitchFamily="49" charset="-122"/>
              <a:ea typeface="黑体" pitchFamily="49" charset="-122"/>
            </a:endParaRPr>
          </a:p>
          <a:p>
            <a:endParaRPr kumimoji="1" lang="en-US" altLang="zh-CN" sz="2200" b="0" dirty="0">
              <a:solidFill>
                <a:schemeClr val="accent3">
                  <a:lumMod val="50000"/>
                </a:schemeClr>
              </a:solidFill>
              <a:latin typeface="黑体" pitchFamily="49" charset="-122"/>
              <a:ea typeface="黑体" pitchFamily="49" charset="-122"/>
            </a:endParaRPr>
          </a:p>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3</a:t>
            </a:r>
            <a:r>
              <a:rPr kumimoji="1" lang="zh-CN" altLang="en-US" sz="2200" b="0" dirty="0">
                <a:solidFill>
                  <a:schemeClr val="accent3">
                    <a:lumMod val="50000"/>
                  </a:schemeClr>
                </a:solidFill>
                <a:latin typeface="黑体" pitchFamily="49" charset="-122"/>
                <a:ea typeface="黑体" pitchFamily="49" charset="-122"/>
              </a:rPr>
              <a:t>：由一棵二叉树的后序遍历序列和中序遍历序列能够构造出唯一的一棵二叉树。</a:t>
            </a:r>
            <a:endParaRPr kumimoji="1" lang="en-US" altLang="zh-CN" sz="2200" b="0" dirty="0">
              <a:solidFill>
                <a:schemeClr val="accent3">
                  <a:lumMod val="50000"/>
                </a:schemeClr>
              </a:solidFill>
              <a:latin typeface="黑体" pitchFamily="49" charset="-122"/>
              <a:ea typeface="黑体" pitchFamily="49" charset="-122"/>
            </a:endParaRPr>
          </a:p>
          <a:p>
            <a:endParaRPr kumimoji="1" lang="zh-CN" altLang="en-US" sz="2200" b="0" dirty="0">
              <a:solidFill>
                <a:schemeClr val="accent3">
                  <a:lumMod val="50000"/>
                </a:schemeClr>
              </a:solidFill>
              <a:latin typeface="黑体" pitchFamily="49" charset="-122"/>
              <a:ea typeface="黑体" pitchFamily="49" charset="-122"/>
            </a:endParaRPr>
          </a:p>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4</a:t>
            </a:r>
            <a:r>
              <a:rPr kumimoji="1" lang="zh-CN" altLang="en-US" sz="2200" b="0" dirty="0">
                <a:solidFill>
                  <a:schemeClr val="accent3">
                    <a:lumMod val="50000"/>
                  </a:schemeClr>
                </a:solidFill>
                <a:latin typeface="黑体" pitchFamily="49" charset="-122"/>
                <a:ea typeface="黑体" pitchFamily="49" charset="-122"/>
              </a:rPr>
              <a:t>：由一棵二叉树的前序遍历序列和后序遍历序列构造的二叉树不唯一。 </a:t>
            </a:r>
            <a:endParaRPr kumimoji="1" lang="en-US" altLang="zh-CN" sz="2200" b="0" dirty="0">
              <a:solidFill>
                <a:schemeClr val="accent3">
                  <a:lumMod val="50000"/>
                </a:schemeClr>
              </a:solidFill>
              <a:latin typeface="黑体" pitchFamily="49" charset="-122"/>
              <a:ea typeface="黑体" pitchFamily="49" charset="-122"/>
            </a:endParaRPr>
          </a:p>
          <a:p>
            <a:endParaRPr kumimoji="1" lang="en-US" altLang="zh-CN" sz="2200" b="0" dirty="0">
              <a:solidFill>
                <a:schemeClr val="accent3">
                  <a:lumMod val="50000"/>
                </a:schemeClr>
              </a:solidFill>
              <a:latin typeface="黑体" pitchFamily="49" charset="-122"/>
              <a:ea typeface="黑体" pitchFamily="49" charset="-122"/>
            </a:endParaRPr>
          </a:p>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5</a:t>
            </a:r>
            <a:r>
              <a:rPr kumimoji="1" lang="zh-CN" altLang="en-US" sz="2200" b="0" dirty="0">
                <a:solidFill>
                  <a:schemeClr val="accent3">
                    <a:lumMod val="50000"/>
                  </a:schemeClr>
                </a:solidFill>
                <a:latin typeface="黑体" pitchFamily="49" charset="-122"/>
                <a:ea typeface="黑体" pitchFamily="49" charset="-122"/>
              </a:rPr>
              <a:t>：一棵二叉树的前序遍历序列和中序遍历序列以及后序遍历序列中，叶子结点的相对位置不会发生变化。</a:t>
            </a:r>
            <a:endParaRPr kumimoji="1" lang="en-US" altLang="zh-CN" sz="2200" b="0" dirty="0">
              <a:solidFill>
                <a:schemeClr val="accent3">
                  <a:lumMod val="50000"/>
                </a:schemeClr>
              </a:solidFill>
              <a:latin typeface="黑体" pitchFamily="49" charset="-122"/>
              <a:ea typeface="黑体" pitchFamily="49" charset="-122"/>
            </a:endParaRPr>
          </a:p>
          <a:p>
            <a:endParaRPr kumimoji="1" lang="zh-CN" altLang="en-US" sz="2200" b="0" dirty="0">
              <a:solidFill>
                <a:schemeClr val="accent3">
                  <a:lumMod val="50000"/>
                </a:schemeClr>
              </a:solidFill>
              <a:latin typeface="黑体" pitchFamily="49" charset="-122"/>
              <a:ea typeface="黑体" pitchFamily="49" charset="-122"/>
            </a:endParaRPr>
          </a:p>
          <a:p>
            <a:endParaRPr kumimoji="1" lang="zh-CN" altLang="en-US" sz="7200" dirty="0">
              <a:latin typeface="楷体_GB2312" pitchFamily="49" charset="-122"/>
              <a:ea typeface="楷体_GB2312" pitchFamily="49" charset="-122"/>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14356"/>
            <a:ext cx="7520940" cy="5500726"/>
          </a:xfrm>
        </p:spPr>
        <p:txBody>
          <a:bodyPr>
            <a:normAutofit fontScale="40000" lnSpcReduction="20000"/>
          </a:bodyPr>
          <a:lstStyle/>
          <a:p>
            <a:r>
              <a:rPr lang="zh-CN" altLang="en-US" sz="4000" dirty="0">
                <a:solidFill>
                  <a:schemeClr val="folHlink"/>
                </a:solidFill>
                <a:latin typeface="+mj-ea"/>
                <a:ea typeface="+mj-ea"/>
              </a:rPr>
              <a:t>性质</a:t>
            </a:r>
            <a:r>
              <a:rPr lang="en-US" altLang="zh-CN" sz="4000" dirty="0">
                <a:solidFill>
                  <a:schemeClr val="folHlink"/>
                </a:solidFill>
                <a:latin typeface="+mj-ea"/>
                <a:ea typeface="+mj-ea"/>
              </a:rPr>
              <a:t>7</a:t>
            </a:r>
            <a:r>
              <a:rPr kumimoji="1" lang="zh-CN" altLang="en-US" sz="4000" dirty="0">
                <a:solidFill>
                  <a:schemeClr val="folHlink"/>
                </a:solidFill>
                <a:latin typeface="+mj-ea"/>
                <a:ea typeface="+mj-ea"/>
              </a:rPr>
              <a:t>：通过一棵二叉树的前序遍历序列和中序遍历序列，能够构造出唯一的一棵二叉树</a:t>
            </a:r>
            <a:r>
              <a:rPr kumimoji="1" lang="en-US" altLang="zh-CN" sz="4000" dirty="0">
                <a:solidFill>
                  <a:schemeClr val="folHlink"/>
                </a:solidFill>
                <a:latin typeface="+mj-ea"/>
                <a:ea typeface="+mj-ea"/>
              </a:rPr>
              <a:t>BT</a:t>
            </a:r>
            <a:r>
              <a:rPr kumimoji="1" lang="zh-CN" altLang="en-US" sz="4000" dirty="0">
                <a:solidFill>
                  <a:schemeClr val="folHlink"/>
                </a:solidFill>
                <a:latin typeface="+mj-ea"/>
                <a:ea typeface="+mj-ea"/>
              </a:rPr>
              <a:t>。</a:t>
            </a:r>
            <a:r>
              <a:rPr kumimoji="1" lang="en-US" altLang="zh-CN" sz="4000" b="0" dirty="0">
                <a:latin typeface="黑体" pitchFamily="49" charset="-122"/>
                <a:ea typeface="黑体" pitchFamily="49" charset="-122"/>
              </a:rPr>
              <a:t>(</a:t>
            </a:r>
            <a:r>
              <a:rPr kumimoji="1" lang="zh-CN" altLang="en-US" sz="4000" b="0" dirty="0">
                <a:latin typeface="黑体" pitchFamily="49" charset="-122"/>
                <a:ea typeface="黑体" pitchFamily="49" charset="-122"/>
              </a:rPr>
              <a:t>采用数学归纳法</a:t>
            </a:r>
            <a:r>
              <a:rPr kumimoji="1" lang="en-US" altLang="zh-CN" sz="4000" b="0" dirty="0">
                <a:latin typeface="黑体" pitchFamily="49" charset="-122"/>
                <a:ea typeface="黑体" pitchFamily="49" charset="-122"/>
              </a:rPr>
              <a:t>)</a:t>
            </a:r>
          </a:p>
          <a:p>
            <a:r>
              <a:rPr kumimoji="1" lang="en-US" altLang="zh-CN" sz="3400" dirty="0">
                <a:solidFill>
                  <a:schemeClr val="folHlink"/>
                </a:solidFill>
                <a:latin typeface="+mj-ea"/>
                <a:ea typeface="+mj-ea"/>
              </a:rPr>
              <a:t> </a:t>
            </a:r>
            <a:r>
              <a:rPr kumimoji="1" lang="zh-CN" altLang="en-US" sz="3400" b="0" dirty="0">
                <a:latin typeface="+mj-ea"/>
                <a:ea typeface="+mj-ea"/>
              </a:rPr>
              <a:t>证明：当</a:t>
            </a:r>
            <a:r>
              <a:rPr kumimoji="1" lang="en-US" altLang="zh-CN" sz="3400" b="0" dirty="0">
                <a:latin typeface="+mj-ea"/>
                <a:ea typeface="+mj-ea"/>
              </a:rPr>
              <a:t>n=1</a:t>
            </a:r>
            <a:r>
              <a:rPr kumimoji="1" lang="zh-CN" altLang="en-US" sz="3400" b="0" dirty="0">
                <a:latin typeface="+mj-ea"/>
                <a:ea typeface="+mj-ea"/>
              </a:rPr>
              <a:t>时，前序遍历序列和中序遍历序列都只有一个元素且相同，这个元素即为二叉树中</a:t>
            </a:r>
            <a:r>
              <a:rPr kumimoji="1" lang="en-US" altLang="zh-CN" sz="3400" b="0" dirty="0">
                <a:latin typeface="+mj-ea"/>
                <a:ea typeface="+mj-ea"/>
              </a:rPr>
              <a:t>T</a:t>
            </a:r>
            <a:r>
              <a:rPr kumimoji="1" lang="zh-CN" altLang="en-US" sz="3400" b="0" dirty="0">
                <a:latin typeface="+mj-ea"/>
                <a:ea typeface="+mj-ea"/>
              </a:rPr>
              <a:t>的根结点，结论成立。</a:t>
            </a:r>
          </a:p>
          <a:p>
            <a:r>
              <a:rPr kumimoji="1" lang="zh-CN" altLang="en-US" sz="3400" b="0" dirty="0">
                <a:latin typeface="+mj-ea"/>
                <a:ea typeface="+mj-ea"/>
              </a:rPr>
              <a:t>    假设</a:t>
            </a:r>
            <a:r>
              <a:rPr kumimoji="1" lang="en-US" altLang="zh-CN" sz="3400" b="0" dirty="0">
                <a:latin typeface="+mj-ea"/>
                <a:ea typeface="+mj-ea"/>
              </a:rPr>
              <a:t>n≤m-1</a:t>
            </a:r>
            <a:r>
              <a:rPr kumimoji="1" lang="zh-CN" altLang="en-US" sz="3400" b="0" dirty="0">
                <a:latin typeface="+mj-ea"/>
                <a:ea typeface="+mj-ea"/>
              </a:rPr>
              <a:t>时，命题成立，那么现在证明</a:t>
            </a:r>
            <a:r>
              <a:rPr kumimoji="1" lang="en-US" altLang="zh-CN" sz="3400" b="0" dirty="0">
                <a:latin typeface="+mj-ea"/>
                <a:ea typeface="+mj-ea"/>
              </a:rPr>
              <a:t>n=m</a:t>
            </a:r>
            <a:r>
              <a:rPr kumimoji="1" lang="zh-CN" altLang="en-US" sz="3400" b="0" dirty="0">
                <a:latin typeface="+mj-ea"/>
                <a:ea typeface="+mj-ea"/>
              </a:rPr>
              <a:t>时命题成立。</a:t>
            </a:r>
          </a:p>
          <a:p>
            <a:r>
              <a:rPr kumimoji="1" lang="zh-CN" altLang="en-US" sz="3400" b="0" dirty="0">
                <a:latin typeface="+mj-ea"/>
                <a:ea typeface="+mj-ea"/>
              </a:rPr>
              <a:t>    设前序遍历序列为：</a:t>
            </a:r>
            <a:r>
              <a:rPr kumimoji="1" lang="en-US" altLang="zh-CN" sz="3400" b="0" dirty="0">
                <a:latin typeface="+mj-ea"/>
                <a:ea typeface="+mj-ea"/>
              </a:rPr>
              <a:t>a</a:t>
            </a:r>
            <a:r>
              <a:rPr kumimoji="1" lang="en-US" altLang="zh-CN" sz="3400" b="0" baseline="-25000" dirty="0">
                <a:latin typeface="+mj-ea"/>
                <a:ea typeface="+mj-ea"/>
              </a:rPr>
              <a:t>1</a:t>
            </a:r>
            <a:r>
              <a:rPr kumimoji="1" lang="en-US" altLang="zh-CN" sz="3400" b="0" dirty="0">
                <a:latin typeface="+mj-ea"/>
                <a:ea typeface="+mj-ea"/>
              </a:rPr>
              <a:t>,a</a:t>
            </a:r>
            <a:r>
              <a:rPr kumimoji="1" lang="en-US" altLang="zh-CN" sz="3400" b="0" baseline="-25000" dirty="0">
                <a:latin typeface="+mj-ea"/>
                <a:ea typeface="+mj-ea"/>
              </a:rPr>
              <a:t>2</a:t>
            </a:r>
            <a:r>
              <a:rPr kumimoji="1" lang="en-US" altLang="zh-CN" sz="3400" b="0" dirty="0">
                <a:latin typeface="+mj-ea"/>
                <a:ea typeface="+mj-ea"/>
              </a:rPr>
              <a:t>,…a</a:t>
            </a:r>
            <a:r>
              <a:rPr kumimoji="1" lang="en-US" altLang="zh-CN" sz="3400" b="0" baseline="-25000" dirty="0">
                <a:latin typeface="+mj-ea"/>
                <a:ea typeface="+mj-ea"/>
              </a:rPr>
              <a:t>m</a:t>
            </a:r>
            <a:r>
              <a:rPr kumimoji="1" lang="zh-CN" altLang="en-US" sz="3400" b="0" dirty="0">
                <a:latin typeface="+mj-ea"/>
                <a:ea typeface="+mj-ea"/>
              </a:rPr>
              <a:t>，中序遍历序列为：</a:t>
            </a:r>
            <a:r>
              <a:rPr kumimoji="1" lang="en-US" altLang="zh-CN" sz="3400" b="0" dirty="0">
                <a:latin typeface="+mj-ea"/>
                <a:ea typeface="+mj-ea"/>
              </a:rPr>
              <a:t>b</a:t>
            </a:r>
            <a:r>
              <a:rPr kumimoji="1" lang="en-US" altLang="zh-CN" sz="3400" b="0" baseline="-25000" dirty="0">
                <a:latin typeface="+mj-ea"/>
                <a:ea typeface="+mj-ea"/>
              </a:rPr>
              <a:t>1</a:t>
            </a:r>
            <a:r>
              <a:rPr kumimoji="1" lang="en-US" altLang="zh-CN" sz="3400" b="0" dirty="0">
                <a:latin typeface="+mj-ea"/>
                <a:ea typeface="+mj-ea"/>
              </a:rPr>
              <a:t>,b</a:t>
            </a:r>
            <a:r>
              <a:rPr kumimoji="1" lang="en-US" altLang="zh-CN" sz="3400" b="0" baseline="-25000" dirty="0">
                <a:latin typeface="+mj-ea"/>
                <a:ea typeface="+mj-ea"/>
              </a:rPr>
              <a:t>2</a:t>
            </a:r>
            <a:r>
              <a:rPr kumimoji="1" lang="en-US" altLang="zh-CN" sz="3400" b="0" dirty="0">
                <a:latin typeface="+mj-ea"/>
                <a:ea typeface="+mj-ea"/>
              </a:rPr>
              <a:t>,…</a:t>
            </a:r>
            <a:r>
              <a:rPr kumimoji="1" lang="en-US" altLang="zh-CN" sz="3400" b="0" dirty="0" err="1">
                <a:latin typeface="+mj-ea"/>
                <a:ea typeface="+mj-ea"/>
              </a:rPr>
              <a:t>b</a:t>
            </a:r>
            <a:r>
              <a:rPr kumimoji="1" lang="en-US" altLang="zh-CN" sz="3400" b="0" baseline="-25000" dirty="0" err="1">
                <a:latin typeface="+mj-ea"/>
                <a:ea typeface="+mj-ea"/>
              </a:rPr>
              <a:t>m</a:t>
            </a:r>
            <a:r>
              <a:rPr kumimoji="1" lang="en-US" altLang="zh-CN" sz="3400" b="0" dirty="0">
                <a:latin typeface="+mj-ea"/>
                <a:ea typeface="+mj-ea"/>
              </a:rPr>
              <a:t> </a:t>
            </a:r>
            <a:r>
              <a:rPr kumimoji="1" lang="zh-CN" altLang="en-US" sz="3400" b="0" dirty="0">
                <a:latin typeface="+mj-ea"/>
                <a:ea typeface="+mj-ea"/>
              </a:rPr>
              <a:t>。</a:t>
            </a:r>
          </a:p>
          <a:p>
            <a:r>
              <a:rPr kumimoji="1" lang="zh-CN" altLang="en-US" sz="3400" b="0" dirty="0">
                <a:latin typeface="+mj-ea"/>
                <a:ea typeface="+mj-ea"/>
              </a:rPr>
              <a:t>              由于前序遍历定义可知，</a:t>
            </a:r>
            <a:r>
              <a:rPr kumimoji="1" lang="en-US" altLang="zh-CN" sz="3400" b="0" dirty="0">
                <a:latin typeface="+mj-ea"/>
                <a:ea typeface="+mj-ea"/>
              </a:rPr>
              <a:t>a</a:t>
            </a:r>
            <a:r>
              <a:rPr kumimoji="1" lang="en-US" altLang="zh-CN" sz="3400" b="0" baseline="-25000" dirty="0">
                <a:latin typeface="+mj-ea"/>
                <a:ea typeface="+mj-ea"/>
              </a:rPr>
              <a:t>1</a:t>
            </a:r>
            <a:r>
              <a:rPr kumimoji="1" lang="zh-CN" altLang="en-US" sz="3400" b="0" dirty="0">
                <a:latin typeface="+mj-ea"/>
                <a:ea typeface="+mj-ea"/>
              </a:rPr>
              <a:t>是二叉树根结点。又由于中序遍历序列是由中序遍历二叉树所得，则在中序遍历序列中必定存在一个与</a:t>
            </a:r>
            <a:r>
              <a:rPr kumimoji="1" lang="en-US" altLang="zh-CN" sz="3400" b="0" dirty="0">
                <a:latin typeface="+mj-ea"/>
                <a:ea typeface="+mj-ea"/>
              </a:rPr>
              <a:t>a</a:t>
            </a:r>
            <a:r>
              <a:rPr kumimoji="1" lang="en-US" altLang="zh-CN" sz="3400" b="0" baseline="-25000" dirty="0">
                <a:latin typeface="+mj-ea"/>
                <a:ea typeface="+mj-ea"/>
              </a:rPr>
              <a:t>1</a:t>
            </a:r>
            <a:r>
              <a:rPr kumimoji="1" lang="zh-CN" altLang="en-US" sz="3400" b="0" dirty="0">
                <a:latin typeface="+mj-ea"/>
                <a:ea typeface="+mj-ea"/>
              </a:rPr>
              <a:t>相等的元素，假设该元素为</a:t>
            </a:r>
            <a:r>
              <a:rPr kumimoji="1" lang="en-US" altLang="zh-CN" sz="3400" b="0" dirty="0" err="1">
                <a:latin typeface="+mj-ea"/>
                <a:ea typeface="+mj-ea"/>
              </a:rPr>
              <a:t>b</a:t>
            </a:r>
            <a:r>
              <a:rPr kumimoji="1" lang="en-US" altLang="zh-CN" sz="3400" b="0" baseline="-25000" dirty="0" err="1">
                <a:latin typeface="+mj-ea"/>
                <a:ea typeface="+mj-ea"/>
              </a:rPr>
              <a:t>j</a:t>
            </a:r>
            <a:r>
              <a:rPr kumimoji="1" lang="zh-CN" altLang="en-US" sz="3400" b="0" dirty="0">
                <a:latin typeface="+mj-ea"/>
                <a:ea typeface="+mj-ea"/>
              </a:rPr>
              <a:t>。那么，由中序遍历的定义，</a:t>
            </a:r>
            <a:r>
              <a:rPr kumimoji="1" lang="en-US" altLang="zh-CN" sz="3400" b="0" dirty="0">
                <a:latin typeface="+mj-ea"/>
                <a:ea typeface="+mj-ea"/>
              </a:rPr>
              <a:t>b</a:t>
            </a:r>
            <a:r>
              <a:rPr kumimoji="1" lang="en-US" altLang="zh-CN" sz="3400" b="0" baseline="-25000" dirty="0">
                <a:latin typeface="+mj-ea"/>
                <a:ea typeface="+mj-ea"/>
              </a:rPr>
              <a:t>1</a:t>
            </a:r>
            <a:r>
              <a:rPr kumimoji="1" lang="en-US" altLang="zh-CN" sz="3400" b="0" dirty="0">
                <a:latin typeface="+mj-ea"/>
                <a:ea typeface="+mj-ea"/>
              </a:rPr>
              <a:t>,b</a:t>
            </a:r>
            <a:r>
              <a:rPr kumimoji="1" lang="en-US" altLang="zh-CN" sz="3400" b="0" baseline="-25000" dirty="0">
                <a:latin typeface="+mj-ea"/>
                <a:ea typeface="+mj-ea"/>
              </a:rPr>
              <a:t>2</a:t>
            </a:r>
            <a:r>
              <a:rPr kumimoji="1" lang="en-US" altLang="zh-CN" sz="3400" b="0" dirty="0">
                <a:latin typeface="+mj-ea"/>
                <a:ea typeface="+mj-ea"/>
              </a:rPr>
              <a:t>,…b</a:t>
            </a:r>
            <a:r>
              <a:rPr kumimoji="1" lang="en-US" altLang="zh-CN" sz="3400" b="0" baseline="-25000" dirty="0">
                <a:latin typeface="+mj-ea"/>
                <a:ea typeface="+mj-ea"/>
              </a:rPr>
              <a:t>j-1</a:t>
            </a:r>
            <a:r>
              <a:rPr kumimoji="1" lang="zh-CN" altLang="en-US" sz="3400" b="0" dirty="0">
                <a:latin typeface="+mj-ea"/>
                <a:ea typeface="+mj-ea"/>
              </a:rPr>
              <a:t>为二叉树根结点的左子树的中序遍历序列，</a:t>
            </a:r>
            <a:r>
              <a:rPr kumimoji="1" lang="en-US" altLang="zh-CN" sz="3400" b="0" dirty="0">
                <a:latin typeface="+mj-ea"/>
                <a:ea typeface="+mj-ea"/>
              </a:rPr>
              <a:t>b</a:t>
            </a:r>
            <a:r>
              <a:rPr kumimoji="1" lang="en-US" altLang="zh-CN" sz="3400" b="0" baseline="-25000" dirty="0">
                <a:latin typeface="+mj-ea"/>
                <a:ea typeface="+mj-ea"/>
              </a:rPr>
              <a:t>j+1</a:t>
            </a:r>
            <a:r>
              <a:rPr kumimoji="1" lang="en-US" altLang="zh-CN" sz="3400" b="0" dirty="0">
                <a:latin typeface="+mj-ea"/>
                <a:ea typeface="+mj-ea"/>
              </a:rPr>
              <a:t>,b</a:t>
            </a:r>
            <a:r>
              <a:rPr kumimoji="1" lang="en-US" altLang="zh-CN" sz="3400" b="0" baseline="-25000" dirty="0">
                <a:latin typeface="+mj-ea"/>
                <a:ea typeface="+mj-ea"/>
              </a:rPr>
              <a:t>j+2</a:t>
            </a:r>
            <a:r>
              <a:rPr kumimoji="1" lang="en-US" altLang="zh-CN" sz="3400" b="0" dirty="0">
                <a:latin typeface="+mj-ea"/>
                <a:ea typeface="+mj-ea"/>
              </a:rPr>
              <a:t>,…</a:t>
            </a:r>
            <a:r>
              <a:rPr kumimoji="1" lang="en-US" altLang="zh-CN" sz="3400" b="0" dirty="0" err="1">
                <a:latin typeface="+mj-ea"/>
                <a:ea typeface="+mj-ea"/>
              </a:rPr>
              <a:t>b</a:t>
            </a:r>
            <a:r>
              <a:rPr kumimoji="1" lang="en-US" altLang="zh-CN" sz="3400" b="0" baseline="-25000" dirty="0" err="1">
                <a:latin typeface="+mj-ea"/>
                <a:ea typeface="+mj-ea"/>
              </a:rPr>
              <a:t>m</a:t>
            </a:r>
            <a:r>
              <a:rPr kumimoji="1" lang="zh-CN" altLang="en-US" sz="3400" b="0" dirty="0">
                <a:latin typeface="+mj-ea"/>
                <a:ea typeface="+mj-ea"/>
              </a:rPr>
              <a:t>为二叉树根结点的右子树的中序遍历序列。</a:t>
            </a:r>
          </a:p>
          <a:p>
            <a:r>
              <a:rPr kumimoji="1" lang="zh-CN" altLang="en-US" sz="3400" b="0" dirty="0">
                <a:latin typeface="+mj-ea"/>
                <a:ea typeface="+mj-ea"/>
              </a:rPr>
              <a:t>            若</a:t>
            </a:r>
            <a:r>
              <a:rPr kumimoji="1" lang="en-US" altLang="zh-CN" sz="3400" b="0" dirty="0">
                <a:latin typeface="+mj-ea"/>
                <a:ea typeface="+mj-ea"/>
              </a:rPr>
              <a:t>j=1,</a:t>
            </a:r>
            <a:r>
              <a:rPr kumimoji="1" lang="zh-CN" altLang="en-US" sz="3400" b="0" dirty="0">
                <a:latin typeface="+mj-ea"/>
                <a:ea typeface="+mj-ea"/>
              </a:rPr>
              <a:t>即</a:t>
            </a:r>
            <a:r>
              <a:rPr kumimoji="1" lang="en-US" altLang="zh-CN" sz="3400" b="0" dirty="0">
                <a:latin typeface="+mj-ea"/>
                <a:ea typeface="+mj-ea"/>
              </a:rPr>
              <a:t>b</a:t>
            </a:r>
            <a:r>
              <a:rPr kumimoji="1" lang="en-US" altLang="zh-CN" sz="3400" b="0" baseline="-25000" dirty="0">
                <a:latin typeface="+mj-ea"/>
                <a:ea typeface="+mj-ea"/>
              </a:rPr>
              <a:t>i</a:t>
            </a:r>
            <a:r>
              <a:rPr kumimoji="1" lang="zh-CN" altLang="en-US" sz="3400" b="0" dirty="0">
                <a:latin typeface="+mj-ea"/>
                <a:ea typeface="+mj-ea"/>
              </a:rPr>
              <a:t>为根结点，此时二叉树的左子树为空，那么，</a:t>
            </a:r>
            <a:r>
              <a:rPr kumimoji="1" lang="en-US" altLang="zh-CN" sz="3400" b="0" dirty="0">
                <a:latin typeface="+mj-ea"/>
                <a:ea typeface="+mj-ea"/>
              </a:rPr>
              <a:t>a</a:t>
            </a:r>
            <a:r>
              <a:rPr kumimoji="1" lang="en-US" altLang="zh-CN" sz="3400" b="0" baseline="-25000" dirty="0">
                <a:latin typeface="+mj-ea"/>
                <a:ea typeface="+mj-ea"/>
              </a:rPr>
              <a:t>2</a:t>
            </a:r>
            <a:r>
              <a:rPr kumimoji="1" lang="en-US" altLang="zh-CN" sz="3400" b="0" dirty="0">
                <a:latin typeface="+mj-ea"/>
                <a:ea typeface="+mj-ea"/>
              </a:rPr>
              <a:t>,a</a:t>
            </a:r>
            <a:r>
              <a:rPr kumimoji="1" lang="en-US" altLang="zh-CN" sz="3400" b="0" baseline="-25000" dirty="0">
                <a:latin typeface="+mj-ea"/>
                <a:ea typeface="+mj-ea"/>
              </a:rPr>
              <a:t>3</a:t>
            </a:r>
            <a:r>
              <a:rPr kumimoji="1" lang="en-US" altLang="zh-CN" sz="3400" b="0" dirty="0">
                <a:latin typeface="+mj-ea"/>
                <a:ea typeface="+mj-ea"/>
              </a:rPr>
              <a:t>,…a</a:t>
            </a:r>
            <a:r>
              <a:rPr kumimoji="1" lang="en-US" altLang="zh-CN" sz="3400" b="0" baseline="-25000" dirty="0">
                <a:latin typeface="+mj-ea"/>
                <a:ea typeface="+mj-ea"/>
              </a:rPr>
              <a:t>m</a:t>
            </a:r>
            <a:r>
              <a:rPr kumimoji="1" lang="zh-CN" altLang="en-US" sz="3400" b="0" dirty="0">
                <a:latin typeface="+mj-ea"/>
                <a:ea typeface="+mj-ea"/>
              </a:rPr>
              <a:t>为右子树的前序遍历序列，</a:t>
            </a:r>
            <a:r>
              <a:rPr kumimoji="1" lang="en-US" altLang="zh-CN" sz="3400" b="0" dirty="0">
                <a:latin typeface="+mj-ea"/>
                <a:ea typeface="+mj-ea"/>
              </a:rPr>
              <a:t>b</a:t>
            </a:r>
            <a:r>
              <a:rPr kumimoji="1" lang="en-US" altLang="zh-CN" sz="3400" b="0" baseline="-25000" dirty="0">
                <a:latin typeface="+mj-ea"/>
                <a:ea typeface="+mj-ea"/>
              </a:rPr>
              <a:t>2</a:t>
            </a:r>
            <a:r>
              <a:rPr kumimoji="1" lang="en-US" altLang="zh-CN" sz="3400" b="0" dirty="0">
                <a:latin typeface="+mj-ea"/>
                <a:ea typeface="+mj-ea"/>
              </a:rPr>
              <a:t>,b</a:t>
            </a:r>
            <a:r>
              <a:rPr kumimoji="1" lang="en-US" altLang="zh-CN" sz="3400" b="0" baseline="-25000" dirty="0">
                <a:latin typeface="+mj-ea"/>
                <a:ea typeface="+mj-ea"/>
              </a:rPr>
              <a:t>3</a:t>
            </a:r>
            <a:r>
              <a:rPr kumimoji="1" lang="en-US" altLang="zh-CN" sz="3400" b="0" dirty="0">
                <a:latin typeface="+mj-ea"/>
                <a:ea typeface="+mj-ea"/>
              </a:rPr>
              <a:t>,…</a:t>
            </a:r>
            <a:r>
              <a:rPr kumimoji="1" lang="en-US" altLang="zh-CN" sz="3400" b="0" dirty="0" err="1">
                <a:latin typeface="+mj-ea"/>
                <a:ea typeface="+mj-ea"/>
              </a:rPr>
              <a:t>b</a:t>
            </a:r>
            <a:r>
              <a:rPr kumimoji="1" lang="en-US" altLang="zh-CN" sz="3400" b="0" baseline="-25000" dirty="0" err="1">
                <a:latin typeface="+mj-ea"/>
                <a:ea typeface="+mj-ea"/>
              </a:rPr>
              <a:t>m</a:t>
            </a:r>
            <a:r>
              <a:rPr kumimoji="1" lang="zh-CN" altLang="en-US" sz="3400" b="0" dirty="0">
                <a:latin typeface="+mj-ea"/>
                <a:ea typeface="+mj-ea"/>
              </a:rPr>
              <a:t>为右子树的中序遍历序列。而右子树的结点数为</a:t>
            </a:r>
            <a:r>
              <a:rPr kumimoji="1" lang="en-US" altLang="zh-CN" sz="3400" b="0" dirty="0">
                <a:latin typeface="+mj-ea"/>
                <a:ea typeface="+mj-ea"/>
              </a:rPr>
              <a:t>m-1</a:t>
            </a:r>
            <a:r>
              <a:rPr kumimoji="1" lang="zh-CN" altLang="en-US" sz="3400" b="0" dirty="0">
                <a:latin typeface="+mj-ea"/>
                <a:ea typeface="+mj-ea"/>
              </a:rPr>
              <a:t>个，由归纳假设，这两个序列唯一确定了右子树，所以也就唯一确定了二叉树。</a:t>
            </a:r>
          </a:p>
          <a:p>
            <a:r>
              <a:rPr kumimoji="1" lang="zh-CN" altLang="en-US" sz="3400" b="0" dirty="0">
                <a:latin typeface="+mj-ea"/>
                <a:ea typeface="+mj-ea"/>
              </a:rPr>
              <a:t>            若</a:t>
            </a:r>
            <a:r>
              <a:rPr kumimoji="1" lang="en-US" altLang="zh-CN" sz="3400" b="0" dirty="0">
                <a:latin typeface="+mj-ea"/>
                <a:ea typeface="+mj-ea"/>
              </a:rPr>
              <a:t>j=m,</a:t>
            </a:r>
            <a:r>
              <a:rPr kumimoji="1" lang="zh-CN" altLang="en-US" sz="3400" b="0" dirty="0">
                <a:latin typeface="+mj-ea"/>
                <a:ea typeface="+mj-ea"/>
              </a:rPr>
              <a:t>即</a:t>
            </a:r>
            <a:r>
              <a:rPr kumimoji="1" lang="en-US" altLang="zh-CN" sz="3400" b="0" dirty="0" err="1">
                <a:latin typeface="+mj-ea"/>
                <a:ea typeface="+mj-ea"/>
              </a:rPr>
              <a:t>b</a:t>
            </a:r>
            <a:r>
              <a:rPr kumimoji="1" lang="en-US" altLang="zh-CN" sz="3400" b="0" baseline="-25000" dirty="0" err="1">
                <a:latin typeface="+mj-ea"/>
                <a:ea typeface="+mj-ea"/>
              </a:rPr>
              <a:t>m</a:t>
            </a:r>
            <a:r>
              <a:rPr kumimoji="1" lang="zh-CN" altLang="en-US" sz="3400" b="0" dirty="0">
                <a:latin typeface="+mj-ea"/>
                <a:ea typeface="+mj-ea"/>
              </a:rPr>
              <a:t>为根结点，此时二叉树的右子树为空，那么，</a:t>
            </a:r>
            <a:r>
              <a:rPr kumimoji="1" lang="en-US" altLang="zh-CN" sz="3400" b="0" dirty="0">
                <a:latin typeface="+mj-ea"/>
                <a:ea typeface="+mj-ea"/>
              </a:rPr>
              <a:t>a</a:t>
            </a:r>
            <a:r>
              <a:rPr kumimoji="1" lang="en-US" altLang="zh-CN" sz="3400" b="0" baseline="-25000" dirty="0">
                <a:latin typeface="+mj-ea"/>
                <a:ea typeface="+mj-ea"/>
              </a:rPr>
              <a:t>1</a:t>
            </a:r>
            <a:r>
              <a:rPr kumimoji="1" lang="en-US" altLang="zh-CN" sz="3400" b="0" dirty="0">
                <a:latin typeface="+mj-ea"/>
                <a:ea typeface="+mj-ea"/>
              </a:rPr>
              <a:t>,a</a:t>
            </a:r>
            <a:r>
              <a:rPr kumimoji="1" lang="en-US" altLang="zh-CN" sz="3400" b="0" baseline="-25000" dirty="0">
                <a:latin typeface="+mj-ea"/>
                <a:ea typeface="+mj-ea"/>
              </a:rPr>
              <a:t>2</a:t>
            </a:r>
            <a:r>
              <a:rPr kumimoji="1" lang="en-US" altLang="zh-CN" sz="3400" b="0" dirty="0">
                <a:latin typeface="+mj-ea"/>
                <a:ea typeface="+mj-ea"/>
              </a:rPr>
              <a:t>,…a</a:t>
            </a:r>
            <a:r>
              <a:rPr kumimoji="1" lang="en-US" altLang="zh-CN" sz="3400" b="0" baseline="-25000" dirty="0">
                <a:latin typeface="+mj-ea"/>
                <a:ea typeface="+mj-ea"/>
              </a:rPr>
              <a:t>m-1</a:t>
            </a:r>
            <a:r>
              <a:rPr kumimoji="1" lang="zh-CN" altLang="en-US" sz="3400" b="0" dirty="0">
                <a:latin typeface="+mj-ea"/>
                <a:ea typeface="+mj-ea"/>
              </a:rPr>
              <a:t>为左子树的前序遍历序列，</a:t>
            </a:r>
            <a:r>
              <a:rPr kumimoji="1" lang="en-US" altLang="zh-CN" sz="3400" b="0" dirty="0">
                <a:latin typeface="+mj-ea"/>
                <a:ea typeface="+mj-ea"/>
              </a:rPr>
              <a:t>b</a:t>
            </a:r>
            <a:r>
              <a:rPr kumimoji="1" lang="en-US" altLang="zh-CN" sz="3400" b="0" baseline="-25000" dirty="0">
                <a:latin typeface="+mj-ea"/>
                <a:ea typeface="+mj-ea"/>
              </a:rPr>
              <a:t>1</a:t>
            </a:r>
            <a:r>
              <a:rPr kumimoji="1" lang="en-US" altLang="zh-CN" sz="3400" b="0" dirty="0">
                <a:latin typeface="+mj-ea"/>
                <a:ea typeface="+mj-ea"/>
              </a:rPr>
              <a:t>,b</a:t>
            </a:r>
            <a:r>
              <a:rPr kumimoji="1" lang="en-US" altLang="zh-CN" sz="3400" b="0" baseline="-25000" dirty="0">
                <a:latin typeface="+mj-ea"/>
                <a:ea typeface="+mj-ea"/>
              </a:rPr>
              <a:t>2</a:t>
            </a:r>
            <a:r>
              <a:rPr kumimoji="1" lang="en-US" altLang="zh-CN" sz="3400" b="0" dirty="0">
                <a:latin typeface="+mj-ea"/>
                <a:ea typeface="+mj-ea"/>
              </a:rPr>
              <a:t>,…b</a:t>
            </a:r>
            <a:r>
              <a:rPr kumimoji="1" lang="en-US" altLang="zh-CN" sz="3400" b="0" baseline="-25000" dirty="0">
                <a:latin typeface="+mj-ea"/>
                <a:ea typeface="+mj-ea"/>
              </a:rPr>
              <a:t>m-1</a:t>
            </a:r>
            <a:r>
              <a:rPr kumimoji="1" lang="zh-CN" altLang="en-US" sz="3400" b="0" dirty="0">
                <a:latin typeface="+mj-ea"/>
                <a:ea typeface="+mj-ea"/>
              </a:rPr>
              <a:t>为左子树的中序遍历序列。而左子树的结点数</a:t>
            </a:r>
            <a:r>
              <a:rPr kumimoji="1" lang="en-US" altLang="zh-CN" sz="3400" b="0" dirty="0">
                <a:latin typeface="+mj-ea"/>
                <a:ea typeface="+mj-ea"/>
              </a:rPr>
              <a:t>m-1</a:t>
            </a:r>
            <a:r>
              <a:rPr kumimoji="1" lang="zh-CN" altLang="en-US" sz="3400" b="0" dirty="0">
                <a:latin typeface="+mj-ea"/>
                <a:ea typeface="+mj-ea"/>
              </a:rPr>
              <a:t>为，由归纳假设，这两个序列唯一确定了左子树，所以也就唯一确定了二叉树。</a:t>
            </a:r>
          </a:p>
          <a:p>
            <a:r>
              <a:rPr kumimoji="1" lang="zh-CN" altLang="en-US" sz="3400" b="0" dirty="0">
                <a:latin typeface="+mj-ea"/>
                <a:ea typeface="+mj-ea"/>
              </a:rPr>
              <a:t>             若</a:t>
            </a:r>
            <a:r>
              <a:rPr kumimoji="1" lang="en-US" altLang="zh-CN" sz="3400" b="0" dirty="0">
                <a:latin typeface="+mj-ea"/>
                <a:ea typeface="+mj-ea"/>
              </a:rPr>
              <a:t>1&lt;j&lt;m,</a:t>
            </a:r>
            <a:r>
              <a:rPr kumimoji="1" lang="zh-CN" altLang="en-US" sz="3400" b="0" dirty="0">
                <a:latin typeface="+mj-ea"/>
                <a:ea typeface="+mj-ea"/>
              </a:rPr>
              <a:t>那么，前序子序列和中序子序列唯一确定了二叉树的左子树，而前序子序列和中序子序列唯一确定了二叉树的右子树，所以唯一的根极其唯一的左、右子树也就唯一确定了二叉树。</a:t>
            </a:r>
          </a:p>
          <a:p>
            <a:r>
              <a:rPr kumimoji="1" lang="zh-CN" altLang="en-US" sz="3400" b="0" dirty="0">
                <a:latin typeface="+mj-ea"/>
                <a:ea typeface="+mj-ea"/>
              </a:rPr>
              <a:t>    故命题成立。</a:t>
            </a: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305660"/>
          </a:xfrm>
        </p:spPr>
        <p:txBody>
          <a:bodyPr>
            <a:normAutofit fontScale="25000" lnSpcReduction="20000"/>
          </a:bodyPr>
          <a:lstStyle/>
          <a:p>
            <a:r>
              <a:rPr lang="en-US" altLang="zh-CN" sz="11200" b="0" dirty="0">
                <a:solidFill>
                  <a:srgbClr val="FF3399"/>
                </a:solidFill>
                <a:latin typeface="+mn-ea"/>
                <a:ea typeface="+mn-ea"/>
              </a:rPr>
              <a:t>	</a:t>
            </a:r>
            <a:r>
              <a:rPr lang="zh-CN" altLang="en-US" sz="11200" b="0" dirty="0">
                <a:solidFill>
                  <a:srgbClr val="FF3399"/>
                </a:solidFill>
                <a:latin typeface="+mn-ea"/>
                <a:ea typeface="+mn-ea"/>
              </a:rPr>
              <a:t>二叉树的三叉链表存储遍历的思想为：</a:t>
            </a:r>
            <a:endParaRPr kumimoji="1" lang="zh-CN" altLang="en-US" sz="11200" b="0" dirty="0">
              <a:solidFill>
                <a:srgbClr val="FF3399"/>
              </a:solidFill>
              <a:latin typeface="+mn-ea"/>
              <a:ea typeface="+mn-ea"/>
            </a:endParaRPr>
          </a:p>
          <a:p>
            <a:r>
              <a:rPr kumimoji="1" lang="zh-CN" altLang="en-US" sz="8000" dirty="0">
                <a:latin typeface="楷体_GB2312" pitchFamily="49" charset="-122"/>
                <a:ea typeface="楷体_GB2312" pitchFamily="49" charset="-122"/>
              </a:rPr>
              <a:t>       </a:t>
            </a:r>
            <a:r>
              <a:rPr kumimoji="1" lang="zh-CN" altLang="en-US" sz="8000" b="0" dirty="0">
                <a:solidFill>
                  <a:schemeClr val="accent6"/>
                </a:solidFill>
                <a:latin typeface="黑体" pitchFamily="49" charset="-122"/>
                <a:ea typeface="黑体" pitchFamily="49" charset="-122"/>
              </a:rPr>
              <a:t>可以根据二叉树三叉链表存储的定义可知，对每一结点设置一个状态，初始状态为</a:t>
            </a:r>
            <a:r>
              <a:rPr kumimoji="1" lang="en-US" altLang="zh-CN" sz="8000" b="0" dirty="0">
                <a:solidFill>
                  <a:schemeClr val="accent6"/>
                </a:solidFill>
                <a:latin typeface="黑体" pitchFamily="49" charset="-122"/>
                <a:ea typeface="黑体" pitchFamily="49" charset="-122"/>
              </a:rPr>
              <a:t>0</a:t>
            </a:r>
            <a:r>
              <a:rPr kumimoji="1" lang="zh-CN" altLang="en-US" sz="8000" b="0" dirty="0">
                <a:solidFill>
                  <a:schemeClr val="accent6"/>
                </a:solidFill>
                <a:latin typeface="黑体" pitchFamily="49" charset="-122"/>
                <a:ea typeface="黑体" pitchFamily="49" charset="-122"/>
              </a:rPr>
              <a:t>。以前序为例：</a:t>
            </a:r>
          </a:p>
          <a:p>
            <a:endParaRPr kumimoji="1" lang="zh-CN" altLang="en-US" sz="8000" dirty="0">
              <a:latin typeface="楷体_GB2312" pitchFamily="49" charset="-122"/>
              <a:ea typeface="楷体_GB2312" pitchFamily="49" charset="-122"/>
            </a:endParaRPr>
          </a:p>
          <a:p>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1</a:t>
            </a:r>
            <a:r>
              <a:rPr kumimoji="1" lang="zh-CN" altLang="en-US" sz="8000" b="0" dirty="0">
                <a:solidFill>
                  <a:srgbClr val="00B0F0"/>
                </a:solidFill>
                <a:latin typeface="黑体" pitchFamily="49" charset="-122"/>
                <a:ea typeface="黑体" pitchFamily="49" charset="-122"/>
              </a:rPr>
              <a:t>：将二叉树的树根赋给指针</a:t>
            </a:r>
            <a:r>
              <a:rPr kumimoji="1" lang="en-US" altLang="zh-CN" sz="8000" b="0" dirty="0">
                <a:solidFill>
                  <a:srgbClr val="00B0F0"/>
                </a:solidFill>
                <a:latin typeface="黑体" pitchFamily="49" charset="-122"/>
                <a:ea typeface="黑体" pitchFamily="49" charset="-122"/>
              </a:rPr>
              <a:t>p;</a:t>
            </a:r>
          </a:p>
          <a:p>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2</a:t>
            </a:r>
            <a:r>
              <a:rPr kumimoji="1" lang="zh-CN" altLang="en-US" sz="8000" b="0" dirty="0">
                <a:solidFill>
                  <a:srgbClr val="00B0F0"/>
                </a:solidFill>
                <a:latin typeface="黑体" pitchFamily="49" charset="-122"/>
                <a:ea typeface="黑体" pitchFamily="49" charset="-122"/>
              </a:rPr>
              <a:t>：如果</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的标识为</a:t>
            </a:r>
            <a:r>
              <a:rPr kumimoji="1" lang="en-US" altLang="zh-CN" sz="8000" b="0" dirty="0">
                <a:solidFill>
                  <a:srgbClr val="00B0F0"/>
                </a:solidFill>
                <a:latin typeface="黑体" pitchFamily="49" charset="-122"/>
                <a:ea typeface="黑体" pitchFamily="49" charset="-122"/>
              </a:rPr>
              <a:t>0</a:t>
            </a:r>
            <a:r>
              <a:rPr kumimoji="1" lang="zh-CN" altLang="en-US" sz="8000" b="0" dirty="0">
                <a:solidFill>
                  <a:srgbClr val="00B0F0"/>
                </a:solidFill>
                <a:latin typeface="黑体" pitchFamily="49" charset="-122"/>
                <a:ea typeface="黑体" pitchFamily="49" charset="-122"/>
              </a:rPr>
              <a:t>，则访问结点</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；将</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的标识置</a:t>
            </a:r>
            <a:r>
              <a:rPr kumimoji="1" lang="en-US" altLang="zh-CN" sz="8000" b="0" dirty="0">
                <a:solidFill>
                  <a:srgbClr val="00B0F0"/>
                </a:solidFill>
                <a:latin typeface="黑体" pitchFamily="49" charset="-122"/>
                <a:ea typeface="黑体" pitchFamily="49" charset="-122"/>
              </a:rPr>
              <a:t>1</a:t>
            </a:r>
            <a:r>
              <a:rPr kumimoji="1" lang="zh-CN" altLang="en-US" sz="8000" b="0" dirty="0">
                <a:solidFill>
                  <a:srgbClr val="00B0F0"/>
                </a:solidFill>
                <a:latin typeface="黑体" pitchFamily="49" charset="-122"/>
                <a:ea typeface="黑体" pitchFamily="49" charset="-122"/>
              </a:rPr>
              <a:t>；如果</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的左子树不空，则</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指向</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的左子树；</a:t>
            </a:r>
          </a:p>
          <a:p>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3</a:t>
            </a:r>
            <a:r>
              <a:rPr kumimoji="1" lang="zh-CN" altLang="en-US" sz="8000" b="0" dirty="0">
                <a:solidFill>
                  <a:srgbClr val="00B0F0"/>
                </a:solidFill>
                <a:latin typeface="黑体" pitchFamily="49" charset="-122"/>
                <a:ea typeface="黑体" pitchFamily="49" charset="-122"/>
              </a:rPr>
              <a:t>：如果</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的标识为</a:t>
            </a:r>
            <a:r>
              <a:rPr kumimoji="1" lang="en-US" altLang="zh-CN" sz="8000" b="0" dirty="0">
                <a:solidFill>
                  <a:srgbClr val="00B0F0"/>
                </a:solidFill>
                <a:latin typeface="黑体" pitchFamily="49" charset="-122"/>
                <a:ea typeface="黑体" pitchFamily="49" charset="-122"/>
              </a:rPr>
              <a:t>1</a:t>
            </a:r>
            <a:r>
              <a:rPr kumimoji="1" lang="zh-CN" altLang="en-US" sz="8000" b="0" dirty="0">
                <a:solidFill>
                  <a:srgbClr val="00B0F0"/>
                </a:solidFill>
                <a:latin typeface="黑体" pitchFamily="49" charset="-122"/>
                <a:ea typeface="黑体" pitchFamily="49" charset="-122"/>
              </a:rPr>
              <a:t>，则将</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的标识置</a:t>
            </a:r>
            <a:r>
              <a:rPr kumimoji="1" lang="en-US" altLang="zh-CN" sz="8000" b="0" dirty="0">
                <a:solidFill>
                  <a:srgbClr val="00B0F0"/>
                </a:solidFill>
                <a:latin typeface="黑体" pitchFamily="49" charset="-122"/>
                <a:ea typeface="黑体" pitchFamily="49" charset="-122"/>
              </a:rPr>
              <a:t>2</a:t>
            </a:r>
            <a:r>
              <a:rPr kumimoji="1" lang="zh-CN" altLang="en-US" sz="8000" b="0" dirty="0">
                <a:solidFill>
                  <a:srgbClr val="00B0F0"/>
                </a:solidFill>
                <a:latin typeface="黑体" pitchFamily="49" charset="-122"/>
                <a:ea typeface="黑体" pitchFamily="49" charset="-122"/>
              </a:rPr>
              <a:t>；如果</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的右子树不空，则</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指向</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的右子树；</a:t>
            </a:r>
            <a:endParaRPr kumimoji="1" lang="en-US" altLang="zh-CN" sz="8000" b="0" dirty="0">
              <a:solidFill>
                <a:srgbClr val="00B0F0"/>
              </a:solidFill>
              <a:latin typeface="黑体" pitchFamily="49" charset="-122"/>
              <a:ea typeface="黑体" pitchFamily="49" charset="-122"/>
            </a:endParaRPr>
          </a:p>
          <a:p>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4</a:t>
            </a:r>
            <a:r>
              <a:rPr kumimoji="1" lang="zh-CN" altLang="en-US" sz="8000" b="0" dirty="0">
                <a:solidFill>
                  <a:srgbClr val="00B0F0"/>
                </a:solidFill>
                <a:latin typeface="黑体" pitchFamily="49" charset="-122"/>
                <a:ea typeface="黑体" pitchFamily="49" charset="-122"/>
              </a:rPr>
              <a:t>：如果</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的标识为</a:t>
            </a:r>
            <a:r>
              <a:rPr kumimoji="1" lang="en-US" altLang="zh-CN" sz="8000" b="0" dirty="0">
                <a:solidFill>
                  <a:srgbClr val="00B0F0"/>
                </a:solidFill>
                <a:latin typeface="黑体" pitchFamily="49" charset="-122"/>
                <a:ea typeface="黑体" pitchFamily="49" charset="-122"/>
              </a:rPr>
              <a:t>2</a:t>
            </a:r>
            <a:r>
              <a:rPr kumimoji="1" lang="zh-CN" altLang="en-US" sz="8000" b="0" dirty="0">
                <a:solidFill>
                  <a:srgbClr val="00B0F0"/>
                </a:solidFill>
                <a:latin typeface="黑体" pitchFamily="49" charset="-122"/>
                <a:ea typeface="黑体" pitchFamily="49" charset="-122"/>
              </a:rPr>
              <a:t>，则将</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的标识置</a:t>
            </a:r>
            <a:r>
              <a:rPr kumimoji="1" lang="en-US" altLang="zh-CN" sz="8000" b="0" dirty="0">
                <a:solidFill>
                  <a:srgbClr val="00B0F0"/>
                </a:solidFill>
                <a:latin typeface="黑体" pitchFamily="49" charset="-122"/>
                <a:ea typeface="黑体" pitchFamily="49" charset="-122"/>
              </a:rPr>
              <a:t>0</a:t>
            </a:r>
            <a:r>
              <a:rPr kumimoji="1" lang="zh-CN" altLang="en-US" sz="8000" b="0" dirty="0">
                <a:solidFill>
                  <a:srgbClr val="00B0F0"/>
                </a:solidFill>
                <a:latin typeface="黑体" pitchFamily="49" charset="-122"/>
                <a:ea typeface="黑体" pitchFamily="49" charset="-122"/>
              </a:rPr>
              <a:t>；</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指向</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的双亲；</a:t>
            </a:r>
            <a:endParaRPr kumimoji="1" lang="en-US" altLang="zh-CN" sz="8000" b="0" dirty="0">
              <a:solidFill>
                <a:srgbClr val="00B0F0"/>
              </a:solidFill>
              <a:latin typeface="黑体" pitchFamily="49" charset="-122"/>
              <a:ea typeface="黑体" pitchFamily="49" charset="-122"/>
            </a:endParaRPr>
          </a:p>
          <a:p>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5</a:t>
            </a:r>
            <a:r>
              <a:rPr kumimoji="1" lang="zh-CN" altLang="en-US" sz="8000" b="0" dirty="0">
                <a:solidFill>
                  <a:srgbClr val="00B0F0"/>
                </a:solidFill>
                <a:latin typeface="黑体" pitchFamily="49" charset="-122"/>
                <a:ea typeface="黑体" pitchFamily="49" charset="-122"/>
              </a:rPr>
              <a:t>：重复执行</a:t>
            </a:r>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2</a:t>
            </a:r>
            <a:r>
              <a:rPr kumimoji="1" lang="zh-CN" altLang="en-US" sz="8000" b="0" dirty="0">
                <a:solidFill>
                  <a:srgbClr val="00B0F0"/>
                </a:solidFill>
                <a:latin typeface="黑体" pitchFamily="49" charset="-122"/>
                <a:ea typeface="黑体" pitchFamily="49" charset="-122"/>
              </a:rPr>
              <a:t>、</a:t>
            </a:r>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3</a:t>
            </a:r>
            <a:r>
              <a:rPr kumimoji="1" lang="zh-CN" altLang="en-US" sz="8000" b="0" dirty="0">
                <a:solidFill>
                  <a:srgbClr val="00B0F0"/>
                </a:solidFill>
                <a:latin typeface="黑体" pitchFamily="49" charset="-122"/>
                <a:ea typeface="黑体" pitchFamily="49" charset="-122"/>
              </a:rPr>
              <a:t>和</a:t>
            </a:r>
            <a:r>
              <a:rPr kumimoji="1" lang="en-US" altLang="zh-CN" sz="8000" b="0" dirty="0">
                <a:solidFill>
                  <a:srgbClr val="00B0F0"/>
                </a:solidFill>
                <a:latin typeface="黑体" pitchFamily="49" charset="-122"/>
                <a:ea typeface="黑体" pitchFamily="49" charset="-122"/>
              </a:rPr>
              <a:t>S</a:t>
            </a:r>
            <a:r>
              <a:rPr kumimoji="1" lang="en-US" altLang="zh-CN" sz="8000" b="0" baseline="-25000" dirty="0">
                <a:solidFill>
                  <a:srgbClr val="00B0F0"/>
                </a:solidFill>
                <a:latin typeface="黑体" pitchFamily="49" charset="-122"/>
                <a:ea typeface="黑体" pitchFamily="49" charset="-122"/>
              </a:rPr>
              <a:t>4</a:t>
            </a:r>
            <a:r>
              <a:rPr kumimoji="1" lang="zh-CN" altLang="en-US" sz="8000" b="0" dirty="0">
                <a:solidFill>
                  <a:srgbClr val="00B0F0"/>
                </a:solidFill>
                <a:latin typeface="黑体" pitchFamily="49" charset="-122"/>
                <a:ea typeface="黑体" pitchFamily="49" charset="-122"/>
              </a:rPr>
              <a:t>，直到</a:t>
            </a:r>
            <a:r>
              <a:rPr kumimoji="1" lang="en-US" altLang="zh-CN" sz="8000" b="0" dirty="0">
                <a:solidFill>
                  <a:srgbClr val="00B0F0"/>
                </a:solidFill>
                <a:latin typeface="黑体" pitchFamily="49" charset="-122"/>
                <a:ea typeface="黑体" pitchFamily="49" charset="-122"/>
              </a:rPr>
              <a:t>p</a:t>
            </a:r>
            <a:r>
              <a:rPr kumimoji="1" lang="zh-CN" altLang="en-US" sz="8000" b="0" dirty="0">
                <a:solidFill>
                  <a:srgbClr val="00B0F0"/>
                </a:solidFill>
                <a:latin typeface="黑体" pitchFamily="49" charset="-122"/>
                <a:ea typeface="黑体" pitchFamily="49" charset="-122"/>
              </a:rPr>
              <a:t>为空。</a:t>
            </a:r>
            <a:endParaRPr kumimoji="1" lang="en-US" altLang="zh-CN" sz="8000" b="0" dirty="0">
              <a:solidFill>
                <a:srgbClr val="00B0F0"/>
              </a:solidFill>
              <a:latin typeface="黑体" pitchFamily="49" charset="-122"/>
              <a:ea typeface="黑体" pitchFamily="49" charset="-122"/>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8064896" cy="5594394"/>
          </a:xfrm>
        </p:spPr>
        <p:txBody>
          <a:bodyPr>
            <a:noAutofit/>
          </a:bodyPr>
          <a:lstStyle/>
          <a:p>
            <a:pPr>
              <a:lnSpc>
                <a:spcPts val="1800"/>
              </a:lnSpc>
              <a:spcBef>
                <a:spcPts val="0"/>
              </a:spcBef>
            </a:pPr>
            <a:r>
              <a:rPr lang="zh-CN" altLang="en-US" sz="2800" b="0" dirty="0">
                <a:solidFill>
                  <a:srgbClr val="FF0000"/>
                </a:solidFill>
                <a:latin typeface="+mn-ea"/>
                <a:ea typeface="+mn-ea"/>
              </a:rPr>
              <a:t>二叉树三叉链表存储的前序</a:t>
            </a:r>
            <a:r>
              <a:rPr lang="zh-CN" altLang="zh-CN" sz="2800" b="0" dirty="0">
                <a:solidFill>
                  <a:srgbClr val="FF0000"/>
                </a:solidFill>
                <a:latin typeface="+mn-ea"/>
                <a:ea typeface="+mn-ea"/>
              </a:rPr>
              <a:t>遍历</a:t>
            </a:r>
            <a:r>
              <a:rPr lang="zh-CN" altLang="en-US" sz="2800" b="0" dirty="0">
                <a:solidFill>
                  <a:srgbClr val="FF0000"/>
                </a:solidFill>
                <a:latin typeface="+mn-ea"/>
                <a:ea typeface="+mn-ea"/>
              </a:rPr>
              <a:t>算法为：</a:t>
            </a:r>
            <a:endParaRPr lang="en-US" altLang="zh-CN" sz="2800" b="0" dirty="0">
              <a:solidFill>
                <a:srgbClr val="FF0000"/>
              </a:solidFill>
              <a:latin typeface="+mn-ea"/>
              <a:ea typeface="+mn-ea"/>
            </a:endParaRPr>
          </a:p>
          <a:p>
            <a:pPr>
              <a:lnSpc>
                <a:spcPts val="1800"/>
              </a:lnSpc>
              <a:spcBef>
                <a:spcPts val="0"/>
              </a:spcBef>
            </a:pPr>
            <a:endParaRPr kumimoji="1" lang="en-US" altLang="zh-CN" sz="2000" b="0" dirty="0">
              <a:solidFill>
                <a:srgbClr val="FF0000"/>
              </a:solidFill>
              <a:latin typeface="黑体" pitchFamily="2" charset="-122"/>
              <a:ea typeface="黑体" pitchFamily="2" charset="-122"/>
            </a:endParaRPr>
          </a:p>
          <a:p>
            <a:pPr>
              <a:lnSpc>
                <a:spcPts val="1800"/>
              </a:lnSpc>
              <a:spcBef>
                <a:spcPts val="0"/>
              </a:spcBef>
            </a:pPr>
            <a:r>
              <a:rPr kumimoji="1" lang="en-US" altLang="zh-CN" sz="2000" dirty="0" err="1">
                <a:solidFill>
                  <a:schemeClr val="accent3">
                    <a:lumMod val="75000"/>
                  </a:schemeClr>
                </a:solidFill>
                <a:latin typeface="宋体" pitchFamily="2" charset="-122"/>
                <a:ea typeface="宋体" pitchFamily="2" charset="-122"/>
              </a:rPr>
              <a:t>int</a:t>
            </a:r>
            <a:r>
              <a:rPr kumimoji="1" lang="en-US" altLang="zh-CN" sz="2000" dirty="0">
                <a:solidFill>
                  <a:schemeClr val="accent3">
                    <a:lumMod val="75000"/>
                  </a:schemeClr>
                </a:solidFill>
                <a:latin typeface="宋体" pitchFamily="2" charset="-122"/>
                <a:ea typeface="宋体" pitchFamily="2" charset="-122"/>
              </a:rPr>
              <a:t>  </a:t>
            </a:r>
            <a:r>
              <a:rPr kumimoji="1" lang="en-US" altLang="zh-CN" sz="2000" dirty="0" err="1">
                <a:solidFill>
                  <a:schemeClr val="accent3">
                    <a:lumMod val="75000"/>
                  </a:schemeClr>
                </a:solidFill>
                <a:latin typeface="宋体" pitchFamily="2" charset="-122"/>
                <a:ea typeface="宋体" pitchFamily="2" charset="-122"/>
              </a:rPr>
              <a:t>PreorderBTree</a:t>
            </a:r>
            <a:r>
              <a:rPr kumimoji="1" lang="en-US" altLang="zh-CN" sz="2000" dirty="0">
                <a:solidFill>
                  <a:schemeClr val="accent3">
                    <a:lumMod val="75000"/>
                  </a:schemeClr>
                </a:solidFill>
                <a:latin typeface="宋体" pitchFamily="2" charset="-122"/>
                <a:ea typeface="宋体" pitchFamily="2" charset="-122"/>
              </a:rPr>
              <a:t>(</a:t>
            </a:r>
            <a:r>
              <a:rPr kumimoji="1" lang="en-US" altLang="zh-CN" sz="2000" dirty="0" err="1">
                <a:solidFill>
                  <a:schemeClr val="accent3">
                    <a:lumMod val="75000"/>
                  </a:schemeClr>
                </a:solidFill>
                <a:latin typeface="宋体" pitchFamily="2" charset="-122"/>
                <a:ea typeface="宋体" pitchFamily="2" charset="-122"/>
              </a:rPr>
              <a:t>BTTree</a:t>
            </a:r>
            <a:r>
              <a:rPr kumimoji="1" lang="en-US" altLang="zh-CN" sz="2000" dirty="0">
                <a:solidFill>
                  <a:schemeClr val="accent3">
                    <a:lumMod val="75000"/>
                  </a:schemeClr>
                </a:solidFill>
                <a:latin typeface="宋体" pitchFamily="2" charset="-122"/>
                <a:ea typeface="宋体" pitchFamily="2" charset="-122"/>
              </a:rPr>
              <a:t> *BT)</a:t>
            </a:r>
          </a:p>
          <a:p>
            <a:pPr>
              <a:lnSpc>
                <a:spcPts val="1800"/>
              </a:lnSpc>
            </a:pPr>
            <a:r>
              <a:rPr kumimoji="1" lang="en-US" altLang="zh-CN" sz="2000" dirty="0">
                <a:solidFill>
                  <a:schemeClr val="accent3">
                    <a:lumMod val="75000"/>
                  </a:schemeClr>
                </a:solidFill>
                <a:latin typeface="宋体" pitchFamily="2" charset="-122"/>
                <a:ea typeface="宋体" pitchFamily="2" charset="-122"/>
              </a:rPr>
              <a:t>{ p = BT</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zh-CN" altLang="en-US" sz="2000" dirty="0">
                <a:solidFill>
                  <a:schemeClr val="accent3">
                    <a:lumMod val="75000"/>
                  </a:schemeClr>
                </a:solidFill>
                <a:latin typeface="宋体" pitchFamily="2" charset="-122"/>
                <a:ea typeface="宋体" pitchFamily="2" charset="-122"/>
              </a:rPr>
              <a:t>  </a:t>
            </a:r>
            <a:r>
              <a:rPr kumimoji="1" lang="en-US" altLang="zh-CN" sz="2000" dirty="0">
                <a:solidFill>
                  <a:schemeClr val="accent3">
                    <a:lumMod val="75000"/>
                  </a:schemeClr>
                </a:solidFill>
                <a:latin typeface="宋体" pitchFamily="2" charset="-122"/>
                <a:ea typeface="宋体" pitchFamily="2" charset="-122"/>
              </a:rPr>
              <a:t>while(p ≠ NULL){</a:t>
            </a:r>
          </a:p>
          <a:p>
            <a:pPr>
              <a:lnSpc>
                <a:spcPts val="1800"/>
              </a:lnSpc>
            </a:pPr>
            <a:r>
              <a:rPr kumimoji="1" lang="en-US" altLang="zh-CN" sz="2000" dirty="0">
                <a:solidFill>
                  <a:schemeClr val="accent3">
                    <a:lumMod val="75000"/>
                  </a:schemeClr>
                </a:solidFill>
                <a:latin typeface="宋体" pitchFamily="2" charset="-122"/>
                <a:ea typeface="宋体" pitchFamily="2" charset="-122"/>
              </a:rPr>
              <a:t>      if(p-&gt;tag = 0){</a:t>
            </a:r>
          </a:p>
          <a:p>
            <a:pPr>
              <a:lnSpc>
                <a:spcPts val="1800"/>
              </a:lnSpc>
            </a:pPr>
            <a:r>
              <a:rPr kumimoji="1" lang="en-US" altLang="zh-CN" sz="2000" dirty="0">
                <a:solidFill>
                  <a:schemeClr val="accent3">
                    <a:lumMod val="75000"/>
                  </a:schemeClr>
                </a:solidFill>
                <a:latin typeface="宋体" pitchFamily="2" charset="-122"/>
                <a:ea typeface="宋体" pitchFamily="2" charset="-122"/>
              </a:rPr>
              <a:t>	        </a:t>
            </a:r>
            <a:r>
              <a:rPr kumimoji="1" lang="en-US" altLang="zh-CN" sz="2000" dirty="0" err="1">
                <a:solidFill>
                  <a:schemeClr val="accent3">
                    <a:lumMod val="75000"/>
                  </a:schemeClr>
                </a:solidFill>
                <a:latin typeface="宋体" pitchFamily="2" charset="-122"/>
                <a:ea typeface="宋体" pitchFamily="2" charset="-122"/>
              </a:rPr>
              <a:t>printf</a:t>
            </a:r>
            <a:r>
              <a:rPr kumimoji="1" lang="en-US" altLang="zh-CN" sz="2000" dirty="0">
                <a:solidFill>
                  <a:schemeClr val="accent3">
                    <a:lumMod val="75000"/>
                  </a:schemeClr>
                </a:solidFill>
                <a:latin typeface="宋体" pitchFamily="2" charset="-122"/>
                <a:ea typeface="宋体" pitchFamily="2" charset="-122"/>
              </a:rPr>
              <a:t>(p-&gt;data)</a:t>
            </a:r>
            <a:r>
              <a:rPr kumimoji="1" lang="zh-CN" altLang="en-US" sz="2000" dirty="0">
                <a:solidFill>
                  <a:schemeClr val="accent3">
                    <a:lumMod val="75000"/>
                  </a:schemeClr>
                </a:solidFill>
                <a:latin typeface="宋体" pitchFamily="2" charset="-122"/>
                <a:ea typeface="宋体" pitchFamily="2" charset="-122"/>
              </a:rPr>
              <a:t>；</a:t>
            </a:r>
            <a:r>
              <a:rPr kumimoji="1" lang="en-US" altLang="zh-CN" sz="2000" dirty="0">
                <a:solidFill>
                  <a:schemeClr val="accent3">
                    <a:lumMod val="75000"/>
                  </a:schemeClr>
                </a:solidFill>
                <a:latin typeface="宋体" pitchFamily="2" charset="-122"/>
                <a:ea typeface="宋体" pitchFamily="2" charset="-122"/>
              </a:rPr>
              <a:t>p-&gt;tag = 1</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zh-CN" altLang="en-US" sz="2000" dirty="0">
                <a:solidFill>
                  <a:schemeClr val="accent3">
                    <a:lumMod val="75000"/>
                  </a:schemeClr>
                </a:solidFill>
                <a:latin typeface="宋体" pitchFamily="2" charset="-122"/>
                <a:ea typeface="宋体" pitchFamily="2" charset="-122"/>
              </a:rPr>
              <a:t>	        </a:t>
            </a:r>
            <a:r>
              <a:rPr kumimoji="1" lang="en-US" altLang="zh-CN" sz="2000" dirty="0">
                <a:solidFill>
                  <a:schemeClr val="accent3">
                    <a:lumMod val="75000"/>
                  </a:schemeClr>
                </a:solidFill>
                <a:latin typeface="宋体" pitchFamily="2" charset="-122"/>
                <a:ea typeface="宋体" pitchFamily="2" charset="-122"/>
              </a:rPr>
              <a:t>if(p-&gt;</a:t>
            </a:r>
            <a:r>
              <a:rPr kumimoji="1" lang="en-US" altLang="zh-CN" sz="2000" dirty="0" err="1">
                <a:solidFill>
                  <a:schemeClr val="accent3">
                    <a:lumMod val="75000"/>
                  </a:schemeClr>
                </a:solidFill>
                <a:latin typeface="宋体" pitchFamily="2" charset="-122"/>
                <a:ea typeface="宋体" pitchFamily="2" charset="-122"/>
              </a:rPr>
              <a:t>LChild</a:t>
            </a:r>
            <a:r>
              <a:rPr kumimoji="1" lang="en-US" altLang="zh-CN" sz="2000" dirty="0">
                <a:solidFill>
                  <a:schemeClr val="accent3">
                    <a:lumMod val="75000"/>
                  </a:schemeClr>
                </a:solidFill>
                <a:latin typeface="宋体" pitchFamily="2" charset="-122"/>
                <a:ea typeface="宋体" pitchFamily="2" charset="-122"/>
              </a:rPr>
              <a:t> ≠ NULL) p = p-&gt;</a:t>
            </a:r>
            <a:r>
              <a:rPr kumimoji="1" lang="en-US" altLang="zh-CN" sz="2000" dirty="0" err="1">
                <a:solidFill>
                  <a:schemeClr val="accent3">
                    <a:lumMod val="75000"/>
                  </a:schemeClr>
                </a:solidFill>
                <a:latin typeface="宋体" pitchFamily="2" charset="-122"/>
                <a:ea typeface="宋体" pitchFamily="2" charset="-122"/>
              </a:rPr>
              <a:t>LChild</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zh-CN" altLang="en-US" sz="2000" dirty="0">
                <a:solidFill>
                  <a:schemeClr val="accent3">
                    <a:lumMod val="75000"/>
                  </a:schemeClr>
                </a:solidFill>
                <a:latin typeface="宋体" pitchFamily="2" charset="-122"/>
                <a:ea typeface="宋体" pitchFamily="2" charset="-122"/>
              </a:rPr>
              <a:t>      </a:t>
            </a:r>
            <a:r>
              <a:rPr kumimoji="1" lang="en-US" altLang="zh-CN" sz="2000" dirty="0">
                <a:solidFill>
                  <a:schemeClr val="accent3">
                    <a:lumMod val="75000"/>
                  </a:schemeClr>
                </a:solidFill>
                <a:latin typeface="宋体" pitchFamily="2" charset="-122"/>
                <a:ea typeface="宋体" pitchFamily="2" charset="-122"/>
              </a:rPr>
              <a:t>}else if(p-&gt;tag = 1){</a:t>
            </a:r>
          </a:p>
          <a:p>
            <a:pPr>
              <a:lnSpc>
                <a:spcPts val="1800"/>
              </a:lnSpc>
            </a:pPr>
            <a:r>
              <a:rPr kumimoji="1" lang="en-US" altLang="zh-CN" sz="2000" dirty="0">
                <a:solidFill>
                  <a:schemeClr val="accent3">
                    <a:lumMod val="75000"/>
                  </a:schemeClr>
                </a:solidFill>
                <a:latin typeface="宋体" pitchFamily="2" charset="-122"/>
                <a:ea typeface="宋体" pitchFamily="2" charset="-122"/>
              </a:rPr>
              <a:t>	        p-&gt;tag = 2</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zh-CN" altLang="en-US" sz="2000" dirty="0">
                <a:solidFill>
                  <a:schemeClr val="accent3">
                    <a:lumMod val="75000"/>
                  </a:schemeClr>
                </a:solidFill>
                <a:latin typeface="宋体" pitchFamily="2" charset="-122"/>
                <a:ea typeface="宋体" pitchFamily="2" charset="-122"/>
              </a:rPr>
              <a:t>	        </a:t>
            </a:r>
            <a:r>
              <a:rPr kumimoji="1" lang="en-US" altLang="zh-CN" sz="2000" dirty="0">
                <a:solidFill>
                  <a:schemeClr val="accent3">
                    <a:lumMod val="75000"/>
                  </a:schemeClr>
                </a:solidFill>
                <a:latin typeface="宋体" pitchFamily="2" charset="-122"/>
                <a:ea typeface="宋体" pitchFamily="2" charset="-122"/>
              </a:rPr>
              <a:t>if(p-&gt;</a:t>
            </a:r>
            <a:r>
              <a:rPr kumimoji="1" lang="en-US" altLang="zh-CN" sz="2000" dirty="0" err="1">
                <a:solidFill>
                  <a:schemeClr val="accent3">
                    <a:lumMod val="75000"/>
                  </a:schemeClr>
                </a:solidFill>
                <a:latin typeface="宋体" pitchFamily="2" charset="-122"/>
                <a:ea typeface="宋体" pitchFamily="2" charset="-122"/>
              </a:rPr>
              <a:t>RChild</a:t>
            </a:r>
            <a:r>
              <a:rPr kumimoji="1" lang="en-US" altLang="zh-CN" sz="2000" dirty="0">
                <a:solidFill>
                  <a:schemeClr val="accent3">
                    <a:lumMod val="75000"/>
                  </a:schemeClr>
                </a:solidFill>
                <a:latin typeface="宋体" pitchFamily="2" charset="-122"/>
                <a:ea typeface="宋体" pitchFamily="2" charset="-122"/>
              </a:rPr>
              <a:t> ≠ NULL) p = p-&gt;</a:t>
            </a:r>
            <a:r>
              <a:rPr kumimoji="1" lang="en-US" altLang="zh-CN" sz="2000" dirty="0" err="1">
                <a:solidFill>
                  <a:schemeClr val="accent3">
                    <a:lumMod val="75000"/>
                  </a:schemeClr>
                </a:solidFill>
                <a:latin typeface="宋体" pitchFamily="2" charset="-122"/>
                <a:ea typeface="宋体" pitchFamily="2" charset="-122"/>
              </a:rPr>
              <a:t>RChild</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zh-CN" altLang="en-US" sz="2000" dirty="0">
                <a:solidFill>
                  <a:schemeClr val="accent3">
                    <a:lumMod val="75000"/>
                  </a:schemeClr>
                </a:solidFill>
                <a:latin typeface="宋体" pitchFamily="2" charset="-122"/>
                <a:ea typeface="宋体" pitchFamily="2" charset="-122"/>
              </a:rPr>
              <a:t>      </a:t>
            </a:r>
            <a:r>
              <a:rPr kumimoji="1" lang="en-US" altLang="zh-CN" sz="2000" dirty="0">
                <a:solidFill>
                  <a:schemeClr val="accent3">
                    <a:lumMod val="75000"/>
                  </a:schemeClr>
                </a:solidFill>
                <a:latin typeface="宋体" pitchFamily="2" charset="-122"/>
                <a:ea typeface="宋体" pitchFamily="2" charset="-122"/>
              </a:rPr>
              <a:t>}else{ </a:t>
            </a:r>
          </a:p>
          <a:p>
            <a:pPr>
              <a:lnSpc>
                <a:spcPts val="1800"/>
              </a:lnSpc>
            </a:pPr>
            <a:r>
              <a:rPr kumimoji="1" lang="en-US" altLang="zh-CN" sz="2000" dirty="0">
                <a:solidFill>
                  <a:schemeClr val="accent3">
                    <a:lumMod val="75000"/>
                  </a:schemeClr>
                </a:solidFill>
                <a:latin typeface="宋体" pitchFamily="2" charset="-122"/>
                <a:ea typeface="宋体" pitchFamily="2" charset="-122"/>
              </a:rPr>
              <a:t>           p-&gt;tag = 0</a:t>
            </a:r>
            <a:r>
              <a:rPr kumimoji="1" lang="zh-CN" altLang="en-US" sz="2000" dirty="0">
                <a:solidFill>
                  <a:schemeClr val="accent3">
                    <a:lumMod val="75000"/>
                  </a:schemeClr>
                </a:solidFill>
                <a:latin typeface="宋体" pitchFamily="2" charset="-122"/>
                <a:ea typeface="宋体" pitchFamily="2" charset="-122"/>
              </a:rPr>
              <a:t>；</a:t>
            </a:r>
            <a:endParaRPr kumimoji="1" lang="en-US" altLang="zh-CN" sz="2000" dirty="0">
              <a:solidFill>
                <a:schemeClr val="accent3">
                  <a:lumMod val="75000"/>
                </a:schemeClr>
              </a:solidFill>
              <a:latin typeface="宋体" pitchFamily="2" charset="-122"/>
              <a:ea typeface="宋体" pitchFamily="2" charset="-122"/>
            </a:endParaRPr>
          </a:p>
          <a:p>
            <a:pPr>
              <a:lnSpc>
                <a:spcPts val="1800"/>
              </a:lnSpc>
            </a:pPr>
            <a:r>
              <a:rPr kumimoji="1" lang="en-US" altLang="zh-CN" sz="2000" dirty="0">
                <a:solidFill>
                  <a:schemeClr val="accent3">
                    <a:lumMod val="75000"/>
                  </a:schemeClr>
                </a:solidFill>
                <a:latin typeface="宋体" pitchFamily="2" charset="-122"/>
                <a:ea typeface="宋体" pitchFamily="2" charset="-122"/>
              </a:rPr>
              <a:t>           p = p-&gt;Parent</a:t>
            </a:r>
            <a:r>
              <a:rPr kumimoji="1" lang="zh-CN" altLang="en-US" sz="2000" dirty="0">
                <a:solidFill>
                  <a:schemeClr val="accent3">
                    <a:lumMod val="75000"/>
                  </a:schemeClr>
                </a:solidFill>
                <a:latin typeface="宋体" pitchFamily="2" charset="-122"/>
                <a:ea typeface="宋体" pitchFamily="2" charset="-122"/>
              </a:rPr>
              <a:t>；</a:t>
            </a:r>
            <a:endParaRPr kumimoji="1" lang="en-US" altLang="zh-CN" sz="2000" dirty="0">
              <a:solidFill>
                <a:schemeClr val="accent3">
                  <a:lumMod val="75000"/>
                </a:schemeClr>
              </a:solidFill>
              <a:latin typeface="宋体" pitchFamily="2" charset="-122"/>
              <a:ea typeface="宋体" pitchFamily="2" charset="-122"/>
            </a:endParaRPr>
          </a:p>
          <a:p>
            <a:pPr>
              <a:lnSpc>
                <a:spcPts val="1800"/>
              </a:lnSpc>
            </a:pPr>
            <a:r>
              <a:rPr kumimoji="1" lang="en-US" altLang="zh-CN" sz="2000" dirty="0">
                <a:solidFill>
                  <a:schemeClr val="accent3">
                    <a:lumMod val="75000"/>
                  </a:schemeClr>
                </a:solidFill>
                <a:latin typeface="宋体" pitchFamily="2" charset="-122"/>
                <a:ea typeface="宋体" pitchFamily="2" charset="-122"/>
              </a:rPr>
              <a:t>      }</a:t>
            </a:r>
          </a:p>
          <a:p>
            <a:pPr>
              <a:lnSpc>
                <a:spcPts val="1800"/>
              </a:lnSpc>
            </a:pPr>
            <a:r>
              <a:rPr kumimoji="1" lang="en-US" altLang="zh-CN" sz="2000" dirty="0">
                <a:solidFill>
                  <a:schemeClr val="accent3">
                    <a:lumMod val="75000"/>
                  </a:schemeClr>
                </a:solidFill>
                <a:latin typeface="宋体" pitchFamily="2" charset="-122"/>
                <a:ea typeface="宋体" pitchFamily="2" charset="-122"/>
              </a:rPr>
              <a:t>  }</a:t>
            </a:r>
          </a:p>
          <a:p>
            <a:pPr>
              <a:lnSpc>
                <a:spcPts val="1800"/>
              </a:lnSpc>
            </a:pPr>
            <a:r>
              <a:rPr kumimoji="1" lang="en-US" altLang="zh-CN" sz="2000" dirty="0">
                <a:solidFill>
                  <a:schemeClr val="accent3">
                    <a:lumMod val="75000"/>
                  </a:schemeClr>
                </a:solidFill>
                <a:latin typeface="宋体" pitchFamily="2" charset="-122"/>
                <a:ea typeface="宋体" pitchFamily="2" charset="-122"/>
              </a:rPr>
              <a:t>  return(0)</a:t>
            </a:r>
            <a:r>
              <a:rPr kumimoji="1" lang="zh-CN" altLang="en-US" sz="2000" dirty="0">
                <a:solidFill>
                  <a:schemeClr val="accent3">
                    <a:lumMod val="75000"/>
                  </a:schemeClr>
                </a:solidFill>
                <a:latin typeface="宋体" pitchFamily="2" charset="-122"/>
                <a:ea typeface="宋体" pitchFamily="2" charset="-122"/>
              </a:rPr>
              <a:t>；</a:t>
            </a:r>
          </a:p>
          <a:p>
            <a:pPr>
              <a:lnSpc>
                <a:spcPts val="1800"/>
              </a:lnSpc>
            </a:pPr>
            <a:r>
              <a:rPr kumimoji="1" lang="en-US" altLang="zh-CN" sz="2000" dirty="0">
                <a:solidFill>
                  <a:schemeClr val="accent3">
                    <a:lumMod val="75000"/>
                  </a:schemeClr>
                </a:solidFill>
                <a:latin typeface="宋体" pitchFamily="2" charset="-122"/>
                <a:ea typeface="宋体" pitchFamily="2" charset="-122"/>
              </a:rPr>
              <a:t>}</a:t>
            </a:r>
          </a:p>
        </p:txBody>
      </p:sp>
    </p:spTree>
    <p:extLst>
      <p:ext uri="{BB962C8B-B14F-4D97-AF65-F5344CB8AC3E}">
        <p14:creationId xmlns:p14="http://schemas.microsoft.com/office/powerpoint/2010/main" val="351602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20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20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fade">
                                      <p:cBhvr>
                                        <p:cTn id="77" dur="20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fade">
                                      <p:cBhvr>
                                        <p:cTn id="82" dur="20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animEffect transition="in" filter="fade">
                                      <p:cBhvr>
                                        <p:cTn id="87" dur="20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7520940" cy="2500330"/>
          </a:xfrm>
        </p:spPr>
        <p:txBody>
          <a:bodyPr>
            <a:normAutofit/>
          </a:bodyPr>
          <a:lstStyle/>
          <a:p>
            <a:r>
              <a:rPr lang="zh-CN" altLang="en-US" sz="2200" b="0" dirty="0">
                <a:solidFill>
                  <a:schemeClr val="accent3">
                    <a:lumMod val="50000"/>
                  </a:schemeClr>
                </a:solidFill>
                <a:latin typeface="黑体" pitchFamily="49" charset="-122"/>
                <a:ea typeface="黑体" pitchFamily="49" charset="-122"/>
              </a:rPr>
              <a:t>性质</a:t>
            </a:r>
            <a:r>
              <a:rPr lang="en-US" altLang="zh-CN" sz="2200" b="0" dirty="0">
                <a:solidFill>
                  <a:schemeClr val="accent3">
                    <a:lumMod val="50000"/>
                  </a:schemeClr>
                </a:solidFill>
                <a:latin typeface="黑体" pitchFamily="49" charset="-122"/>
                <a:ea typeface="黑体" pitchFamily="49" charset="-122"/>
              </a:rPr>
              <a:t>6</a:t>
            </a:r>
            <a:r>
              <a:rPr kumimoji="1" lang="zh-CN" altLang="en-US" sz="2200" b="0" dirty="0">
                <a:solidFill>
                  <a:schemeClr val="accent3">
                    <a:lumMod val="50000"/>
                  </a:schemeClr>
                </a:solidFill>
                <a:latin typeface="黑体" pitchFamily="49" charset="-122"/>
                <a:ea typeface="黑体" pitchFamily="49" charset="-122"/>
              </a:rPr>
              <a:t>：</a:t>
            </a:r>
            <a:r>
              <a:rPr kumimoji="1" lang="zh-CN" altLang="en-US" b="0" dirty="0">
                <a:solidFill>
                  <a:schemeClr val="folHlink"/>
                </a:solidFill>
                <a:latin typeface="黑体" pitchFamily="49" charset="-122"/>
                <a:ea typeface="黑体" pitchFamily="49" charset="-122"/>
              </a:rPr>
              <a:t>任何包含</a:t>
            </a:r>
            <a:r>
              <a:rPr kumimoji="1" lang="en-US" altLang="zh-CN" b="0" dirty="0">
                <a:solidFill>
                  <a:schemeClr val="folHlink"/>
                </a:solidFill>
                <a:latin typeface="黑体" pitchFamily="49" charset="-122"/>
                <a:ea typeface="黑体" pitchFamily="49" charset="-122"/>
              </a:rPr>
              <a:t>n</a:t>
            </a:r>
            <a:r>
              <a:rPr kumimoji="1" lang="zh-CN" altLang="en-US" b="0" dirty="0">
                <a:solidFill>
                  <a:schemeClr val="folHlink"/>
                </a:solidFill>
                <a:latin typeface="黑体" pitchFamily="49" charset="-122"/>
                <a:ea typeface="黑体" pitchFamily="49" charset="-122"/>
              </a:rPr>
              <a:t>个结点的二叉树，采用二叉链表表示，有</a:t>
            </a:r>
            <a:r>
              <a:rPr kumimoji="1" lang="en-US" altLang="zh-CN" b="0" dirty="0">
                <a:solidFill>
                  <a:schemeClr val="folHlink"/>
                </a:solidFill>
                <a:latin typeface="黑体" pitchFamily="49" charset="-122"/>
                <a:ea typeface="黑体" pitchFamily="49" charset="-122"/>
              </a:rPr>
              <a:t>2n</a:t>
            </a:r>
            <a:r>
              <a:rPr kumimoji="1" lang="zh-CN" altLang="en-US" b="0" dirty="0">
                <a:solidFill>
                  <a:schemeClr val="folHlink"/>
                </a:solidFill>
                <a:latin typeface="黑体" pitchFamily="49" charset="-122"/>
                <a:ea typeface="黑体" pitchFamily="49" charset="-122"/>
              </a:rPr>
              <a:t>个指针域，其中，只有</a:t>
            </a:r>
            <a:r>
              <a:rPr kumimoji="1" lang="en-US" altLang="zh-CN" b="0" dirty="0">
                <a:solidFill>
                  <a:schemeClr val="folHlink"/>
                </a:solidFill>
                <a:latin typeface="黑体" pitchFamily="49" charset="-122"/>
                <a:ea typeface="黑体" pitchFamily="49" charset="-122"/>
              </a:rPr>
              <a:t>n-1</a:t>
            </a:r>
            <a:r>
              <a:rPr kumimoji="1" lang="zh-CN" altLang="en-US" b="0" dirty="0">
                <a:solidFill>
                  <a:schemeClr val="folHlink"/>
                </a:solidFill>
                <a:latin typeface="黑体" pitchFamily="49" charset="-122"/>
                <a:ea typeface="黑体" pitchFamily="49" charset="-122"/>
              </a:rPr>
              <a:t>个指针用来指示结点的左、右孩子结点，其余的</a:t>
            </a:r>
            <a:r>
              <a:rPr kumimoji="1" lang="en-US" altLang="zh-CN" b="0" dirty="0">
                <a:solidFill>
                  <a:schemeClr val="folHlink"/>
                </a:solidFill>
                <a:latin typeface="黑体" pitchFamily="49" charset="-122"/>
                <a:ea typeface="黑体" pitchFamily="49" charset="-122"/>
              </a:rPr>
              <a:t>n+1</a:t>
            </a:r>
            <a:r>
              <a:rPr kumimoji="1" lang="zh-CN" altLang="en-US" b="0" dirty="0">
                <a:solidFill>
                  <a:schemeClr val="folHlink"/>
                </a:solidFill>
                <a:latin typeface="黑体" pitchFamily="49" charset="-122"/>
                <a:ea typeface="黑体" pitchFamily="49" charset="-122"/>
              </a:rPr>
              <a:t>个指针域为空。</a:t>
            </a:r>
            <a:endParaRPr kumimoji="1" lang="en-US" altLang="zh-CN" b="0" dirty="0">
              <a:solidFill>
                <a:schemeClr val="folHlink"/>
              </a:solidFill>
              <a:latin typeface="黑体" pitchFamily="49" charset="-122"/>
              <a:ea typeface="黑体" pitchFamily="49" charset="-122"/>
            </a:endParaRPr>
          </a:p>
          <a:p>
            <a:r>
              <a:rPr kumimoji="1" lang="zh-CN" altLang="en-US" b="0" dirty="0">
                <a:solidFill>
                  <a:schemeClr val="folHlink"/>
                </a:solidFill>
                <a:latin typeface="黑体" pitchFamily="49" charset="-122"/>
                <a:ea typeface="黑体" pitchFamily="49" charset="-122"/>
              </a:rPr>
              <a:t>利用这些空的指针就可以形成新的被称之为新的线索二叉树</a:t>
            </a:r>
            <a:r>
              <a:rPr kumimoji="1" lang="en-US" altLang="zh-CN" b="0" dirty="0">
                <a:solidFill>
                  <a:schemeClr val="folHlink"/>
                </a:solidFill>
                <a:latin typeface="黑体" pitchFamily="49" charset="-122"/>
                <a:ea typeface="黑体" pitchFamily="49" charset="-122"/>
              </a:rPr>
              <a:t>(Thread Binary Tree)</a:t>
            </a:r>
          </a:p>
          <a:p>
            <a:endParaRPr kumimoji="1" lang="zh-CN" altLang="en-US" b="0" dirty="0">
              <a:solidFill>
                <a:schemeClr val="folHlink"/>
              </a:solidFill>
              <a:latin typeface="黑体" pitchFamily="49" charset="-122"/>
              <a:ea typeface="黑体" pitchFamily="49" charset="-122"/>
            </a:endParaRPr>
          </a:p>
        </p:txBody>
      </p:sp>
      <p:grpSp>
        <p:nvGrpSpPr>
          <p:cNvPr id="4" name="Group 75"/>
          <p:cNvGrpSpPr>
            <a:grpSpLocks/>
          </p:cNvGrpSpPr>
          <p:nvPr/>
        </p:nvGrpSpPr>
        <p:grpSpPr bwMode="auto">
          <a:xfrm>
            <a:off x="928662" y="3714752"/>
            <a:ext cx="7286676" cy="2357430"/>
            <a:chOff x="336" y="864"/>
            <a:chExt cx="5088" cy="2160"/>
          </a:xfrm>
        </p:grpSpPr>
        <p:sp>
          <p:nvSpPr>
            <p:cNvPr id="5" name="Rectangle 5"/>
            <p:cNvSpPr>
              <a:spLocks noChangeArrowheads="1"/>
            </p:cNvSpPr>
            <p:nvPr/>
          </p:nvSpPr>
          <p:spPr bwMode="auto">
            <a:xfrm>
              <a:off x="336" y="2672"/>
              <a:ext cx="1481" cy="194"/>
            </a:xfrm>
            <a:prstGeom prst="rect">
              <a:avLst/>
            </a:prstGeom>
            <a:noFill/>
            <a:ln w="9525">
              <a:noFill/>
              <a:miter lim="800000"/>
              <a:headEnd/>
              <a:tailEnd/>
            </a:ln>
          </p:spPr>
          <p:txBody>
            <a:bodyPr lIns="0" tIns="0" rIns="0" bIns="0"/>
            <a:lstStyle/>
            <a:p>
              <a:pPr algn="ctr"/>
              <a:r>
                <a:rPr lang="en-US" altLang="zh-CN" sz="1400" dirty="0">
                  <a:latin typeface="黑体" pitchFamily="49" charset="-122"/>
                  <a:ea typeface="黑体" pitchFamily="49" charset="-122"/>
                </a:rPr>
                <a:t>(a)</a:t>
              </a:r>
              <a:r>
                <a:rPr lang="zh-CN" altLang="en-US" sz="1400" dirty="0">
                  <a:latin typeface="黑体" pitchFamily="49" charset="-122"/>
                  <a:ea typeface="黑体" pitchFamily="49" charset="-122"/>
                </a:rPr>
                <a:t>中序线索二叉树</a:t>
              </a:r>
            </a:p>
          </p:txBody>
        </p:sp>
        <p:sp>
          <p:nvSpPr>
            <p:cNvPr id="6" name="Rectangle 6"/>
            <p:cNvSpPr>
              <a:spLocks noChangeArrowheads="1"/>
            </p:cNvSpPr>
            <p:nvPr/>
          </p:nvSpPr>
          <p:spPr bwMode="auto">
            <a:xfrm>
              <a:off x="1593" y="864"/>
              <a:ext cx="118" cy="208"/>
            </a:xfrm>
            <a:prstGeom prst="rect">
              <a:avLst/>
            </a:prstGeom>
            <a:noFill/>
            <a:ln w="9525">
              <a:noFill/>
              <a:miter lim="800000"/>
              <a:headEnd/>
              <a:tailEnd/>
            </a:ln>
          </p:spPr>
          <p:txBody>
            <a:bodyPr lIns="0" tIns="0" rIns="0" bIns="0"/>
            <a:lstStyle/>
            <a:p>
              <a:pPr algn="ctr"/>
              <a:r>
                <a:rPr lang="en-US" altLang="zh-CN"/>
                <a:t>T</a:t>
              </a:r>
            </a:p>
          </p:txBody>
        </p:sp>
        <p:sp>
          <p:nvSpPr>
            <p:cNvPr id="7" name="Line 7"/>
            <p:cNvSpPr>
              <a:spLocks noChangeShapeType="1"/>
            </p:cNvSpPr>
            <p:nvPr/>
          </p:nvSpPr>
          <p:spPr bwMode="auto">
            <a:xfrm flipH="1">
              <a:off x="1417" y="1072"/>
              <a:ext cx="294" cy="0"/>
            </a:xfrm>
            <a:prstGeom prst="line">
              <a:avLst/>
            </a:prstGeom>
            <a:noFill/>
            <a:ln w="9525">
              <a:solidFill>
                <a:srgbClr val="000000"/>
              </a:solidFill>
              <a:round/>
              <a:headEnd/>
              <a:tailEnd type="triangle" w="sm" len="sm"/>
            </a:ln>
          </p:spPr>
          <p:txBody>
            <a:bodyPr/>
            <a:lstStyle/>
            <a:p>
              <a:endParaRPr lang="zh-CN" altLang="en-US"/>
            </a:p>
          </p:txBody>
        </p:sp>
        <p:sp>
          <p:nvSpPr>
            <p:cNvPr id="8" name="Oval 8"/>
            <p:cNvSpPr>
              <a:spLocks noChangeArrowheads="1"/>
            </p:cNvSpPr>
            <p:nvPr/>
          </p:nvSpPr>
          <p:spPr bwMode="auto">
            <a:xfrm>
              <a:off x="1243" y="938"/>
              <a:ext cx="176" cy="209"/>
            </a:xfrm>
            <a:prstGeom prst="ellipse">
              <a:avLst/>
            </a:prstGeom>
            <a:noFill/>
            <a:ln w="9525">
              <a:solidFill>
                <a:srgbClr val="000000"/>
              </a:solidFill>
              <a:round/>
              <a:headEnd/>
              <a:tailEnd/>
            </a:ln>
          </p:spPr>
          <p:txBody>
            <a:bodyPr lIns="0" tIns="0" rIns="0" bIns="0"/>
            <a:lstStyle/>
            <a:p>
              <a:pPr algn="ctr"/>
              <a:r>
                <a:rPr lang="en-US" altLang="zh-CN" dirty="0"/>
                <a:t>A</a:t>
              </a:r>
            </a:p>
          </p:txBody>
        </p:sp>
        <p:sp>
          <p:nvSpPr>
            <p:cNvPr id="9" name="Oval 9"/>
            <p:cNvSpPr>
              <a:spLocks noChangeArrowheads="1"/>
            </p:cNvSpPr>
            <p:nvPr/>
          </p:nvSpPr>
          <p:spPr bwMode="auto">
            <a:xfrm>
              <a:off x="949" y="1564"/>
              <a:ext cx="176" cy="208"/>
            </a:xfrm>
            <a:prstGeom prst="ellipse">
              <a:avLst/>
            </a:prstGeom>
            <a:noFill/>
            <a:ln w="9525">
              <a:solidFill>
                <a:srgbClr val="000000"/>
              </a:solidFill>
              <a:round/>
              <a:headEnd/>
              <a:tailEnd/>
            </a:ln>
          </p:spPr>
          <p:txBody>
            <a:bodyPr lIns="0" tIns="0" rIns="0" bIns="0"/>
            <a:lstStyle/>
            <a:p>
              <a:pPr algn="ctr"/>
              <a:r>
                <a:rPr lang="en-US" altLang="zh-CN" dirty="0"/>
                <a:t>B</a:t>
              </a:r>
            </a:p>
          </p:txBody>
        </p:sp>
        <p:sp>
          <p:nvSpPr>
            <p:cNvPr id="10" name="Oval 10"/>
            <p:cNvSpPr>
              <a:spLocks noChangeArrowheads="1"/>
            </p:cNvSpPr>
            <p:nvPr/>
          </p:nvSpPr>
          <p:spPr bwMode="auto">
            <a:xfrm>
              <a:off x="1595" y="1564"/>
              <a:ext cx="177" cy="208"/>
            </a:xfrm>
            <a:prstGeom prst="ellipse">
              <a:avLst/>
            </a:prstGeom>
            <a:noFill/>
            <a:ln w="9525">
              <a:solidFill>
                <a:srgbClr val="000000"/>
              </a:solidFill>
              <a:round/>
              <a:headEnd/>
              <a:tailEnd/>
            </a:ln>
          </p:spPr>
          <p:txBody>
            <a:bodyPr lIns="0" tIns="0" rIns="0" bIns="0"/>
            <a:lstStyle/>
            <a:p>
              <a:pPr algn="ctr"/>
              <a:r>
                <a:rPr lang="en-US" altLang="zh-CN"/>
                <a:t>C</a:t>
              </a:r>
            </a:p>
          </p:txBody>
        </p:sp>
        <p:sp>
          <p:nvSpPr>
            <p:cNvPr id="11" name="Oval 11"/>
            <p:cNvSpPr>
              <a:spLocks noChangeArrowheads="1"/>
            </p:cNvSpPr>
            <p:nvPr/>
          </p:nvSpPr>
          <p:spPr bwMode="auto">
            <a:xfrm>
              <a:off x="1184" y="2190"/>
              <a:ext cx="176" cy="208"/>
            </a:xfrm>
            <a:prstGeom prst="ellipse">
              <a:avLst/>
            </a:prstGeom>
            <a:noFill/>
            <a:ln w="9525">
              <a:solidFill>
                <a:srgbClr val="000000"/>
              </a:solidFill>
              <a:round/>
              <a:headEnd/>
              <a:tailEnd/>
            </a:ln>
          </p:spPr>
          <p:txBody>
            <a:bodyPr lIns="0" tIns="0" rIns="0" bIns="0"/>
            <a:lstStyle/>
            <a:p>
              <a:pPr algn="ctr"/>
              <a:r>
                <a:rPr lang="en-US" altLang="zh-CN"/>
                <a:t>E</a:t>
              </a:r>
            </a:p>
          </p:txBody>
        </p:sp>
        <p:sp>
          <p:nvSpPr>
            <p:cNvPr id="12" name="Oval 12"/>
            <p:cNvSpPr>
              <a:spLocks noChangeArrowheads="1"/>
            </p:cNvSpPr>
            <p:nvPr/>
          </p:nvSpPr>
          <p:spPr bwMode="auto">
            <a:xfrm>
              <a:off x="714" y="2190"/>
              <a:ext cx="176" cy="208"/>
            </a:xfrm>
            <a:prstGeom prst="ellipse">
              <a:avLst/>
            </a:prstGeom>
            <a:noFill/>
            <a:ln w="9525">
              <a:solidFill>
                <a:srgbClr val="000000"/>
              </a:solidFill>
              <a:round/>
              <a:headEnd/>
              <a:tailEnd/>
            </a:ln>
          </p:spPr>
          <p:txBody>
            <a:bodyPr lIns="0" tIns="0" rIns="0" bIns="0"/>
            <a:lstStyle/>
            <a:p>
              <a:pPr algn="ctr"/>
              <a:r>
                <a:rPr lang="en-US" altLang="zh-CN"/>
                <a:t>D</a:t>
              </a:r>
            </a:p>
          </p:txBody>
        </p:sp>
        <p:sp>
          <p:nvSpPr>
            <p:cNvPr id="13" name="Line 13"/>
            <p:cNvSpPr>
              <a:spLocks noChangeShapeType="1"/>
            </p:cNvSpPr>
            <p:nvPr/>
          </p:nvSpPr>
          <p:spPr bwMode="auto">
            <a:xfrm flipH="1">
              <a:off x="1066" y="1147"/>
              <a:ext cx="236" cy="417"/>
            </a:xfrm>
            <a:prstGeom prst="line">
              <a:avLst/>
            </a:prstGeom>
            <a:noFill/>
            <a:ln w="9525">
              <a:solidFill>
                <a:srgbClr val="000000"/>
              </a:solidFill>
              <a:round/>
              <a:headEnd/>
              <a:tailEnd/>
            </a:ln>
          </p:spPr>
          <p:txBody>
            <a:bodyPr/>
            <a:lstStyle/>
            <a:p>
              <a:endParaRPr lang="zh-CN" altLang="en-US"/>
            </a:p>
          </p:txBody>
        </p:sp>
        <p:sp>
          <p:nvSpPr>
            <p:cNvPr id="14" name="Line 14"/>
            <p:cNvSpPr>
              <a:spLocks noChangeShapeType="1"/>
            </p:cNvSpPr>
            <p:nvPr/>
          </p:nvSpPr>
          <p:spPr bwMode="auto">
            <a:xfrm>
              <a:off x="1419" y="1147"/>
              <a:ext cx="235" cy="417"/>
            </a:xfrm>
            <a:prstGeom prst="line">
              <a:avLst/>
            </a:prstGeom>
            <a:noFill/>
            <a:ln w="9525">
              <a:solidFill>
                <a:srgbClr val="000000"/>
              </a:solidFill>
              <a:round/>
              <a:headEnd/>
              <a:tailEnd/>
            </a:ln>
          </p:spPr>
          <p:txBody>
            <a:bodyPr/>
            <a:lstStyle/>
            <a:p>
              <a:endParaRPr lang="zh-CN" altLang="en-US"/>
            </a:p>
          </p:txBody>
        </p:sp>
        <p:sp>
          <p:nvSpPr>
            <p:cNvPr id="15" name="Line 15"/>
            <p:cNvSpPr>
              <a:spLocks noChangeShapeType="1"/>
            </p:cNvSpPr>
            <p:nvPr/>
          </p:nvSpPr>
          <p:spPr bwMode="auto">
            <a:xfrm flipH="1">
              <a:off x="831" y="1772"/>
              <a:ext cx="177" cy="418"/>
            </a:xfrm>
            <a:prstGeom prst="line">
              <a:avLst/>
            </a:prstGeom>
            <a:noFill/>
            <a:ln w="9525">
              <a:solidFill>
                <a:srgbClr val="000000"/>
              </a:solidFill>
              <a:round/>
              <a:headEnd/>
              <a:tailEnd/>
            </a:ln>
          </p:spPr>
          <p:txBody>
            <a:bodyPr/>
            <a:lstStyle/>
            <a:p>
              <a:endParaRPr lang="zh-CN" altLang="en-US"/>
            </a:p>
          </p:txBody>
        </p:sp>
        <p:sp>
          <p:nvSpPr>
            <p:cNvPr id="16" name="Line 16"/>
            <p:cNvSpPr>
              <a:spLocks noChangeShapeType="1"/>
            </p:cNvSpPr>
            <p:nvPr/>
          </p:nvSpPr>
          <p:spPr bwMode="auto">
            <a:xfrm>
              <a:off x="1066" y="1772"/>
              <a:ext cx="177" cy="418"/>
            </a:xfrm>
            <a:prstGeom prst="line">
              <a:avLst/>
            </a:prstGeom>
            <a:noFill/>
            <a:ln w="9525">
              <a:solidFill>
                <a:srgbClr val="000000"/>
              </a:solidFill>
              <a:round/>
              <a:headEnd/>
              <a:tailEnd/>
            </a:ln>
          </p:spPr>
          <p:txBody>
            <a:bodyPr/>
            <a:lstStyle/>
            <a:p>
              <a:endParaRPr lang="zh-CN" altLang="en-US"/>
            </a:p>
          </p:txBody>
        </p:sp>
        <p:sp>
          <p:nvSpPr>
            <p:cNvPr id="17" name="Line 17"/>
            <p:cNvSpPr>
              <a:spLocks noChangeShapeType="1"/>
            </p:cNvSpPr>
            <p:nvPr/>
          </p:nvSpPr>
          <p:spPr bwMode="auto">
            <a:xfrm flipV="1">
              <a:off x="612" y="2190"/>
              <a:ext cx="0" cy="208"/>
            </a:xfrm>
            <a:prstGeom prst="line">
              <a:avLst/>
            </a:prstGeom>
            <a:noFill/>
            <a:ln w="9525">
              <a:solidFill>
                <a:srgbClr val="000000"/>
              </a:solidFill>
              <a:prstDash val="dash"/>
              <a:round/>
              <a:headEnd/>
              <a:tailEnd type="triangle" w="sm" len="sm"/>
            </a:ln>
          </p:spPr>
          <p:txBody>
            <a:bodyPr/>
            <a:lstStyle/>
            <a:p>
              <a:endParaRPr lang="zh-CN" altLang="en-US"/>
            </a:p>
          </p:txBody>
        </p:sp>
        <p:sp>
          <p:nvSpPr>
            <p:cNvPr id="18" name="Freeform 18"/>
            <p:cNvSpPr>
              <a:spLocks/>
            </p:cNvSpPr>
            <p:nvPr/>
          </p:nvSpPr>
          <p:spPr bwMode="auto">
            <a:xfrm>
              <a:off x="612" y="2398"/>
              <a:ext cx="219" cy="208"/>
            </a:xfrm>
            <a:custGeom>
              <a:avLst/>
              <a:gdLst>
                <a:gd name="T0" fmla="*/ 152 w 315"/>
                <a:gd name="T1" fmla="*/ 0 h 285"/>
                <a:gd name="T2" fmla="*/ 102 w 315"/>
                <a:gd name="T3" fmla="*/ 152 h 285"/>
                <a:gd name="T4" fmla="*/ 0 w 315"/>
                <a:gd name="T5" fmla="*/ 0 h 285"/>
                <a:gd name="T6" fmla="*/ 0 60000 65536"/>
                <a:gd name="T7" fmla="*/ 0 60000 65536"/>
                <a:gd name="T8" fmla="*/ 0 60000 65536"/>
                <a:gd name="T9" fmla="*/ 0 w 315"/>
                <a:gd name="T10" fmla="*/ 0 h 285"/>
                <a:gd name="T11" fmla="*/ 315 w 315"/>
                <a:gd name="T12" fmla="*/ 285 h 285"/>
              </a:gdLst>
              <a:ahLst/>
              <a:cxnLst>
                <a:cxn ang="T6">
                  <a:pos x="T0" y="T1"/>
                </a:cxn>
                <a:cxn ang="T7">
                  <a:pos x="T2" y="T3"/>
                </a:cxn>
                <a:cxn ang="T8">
                  <a:pos x="T4" y="T5"/>
                </a:cxn>
              </a:cxnLst>
              <a:rect l="T9" t="T10" r="T11" b="T12"/>
              <a:pathLst>
                <a:path w="315" h="285">
                  <a:moveTo>
                    <a:pt x="315" y="0"/>
                  </a:moveTo>
                  <a:cubicBezTo>
                    <a:pt x="288" y="142"/>
                    <a:pt x="262" y="285"/>
                    <a:pt x="210" y="285"/>
                  </a:cubicBezTo>
                  <a:cubicBezTo>
                    <a:pt x="158" y="285"/>
                    <a:pt x="35" y="47"/>
                    <a:pt x="0" y="0"/>
                  </a:cubicBezTo>
                </a:path>
              </a:pathLst>
            </a:custGeom>
            <a:noFill/>
            <a:ln w="9525">
              <a:solidFill>
                <a:srgbClr val="000000"/>
              </a:solidFill>
              <a:prstDash val="dash"/>
              <a:round/>
              <a:headEnd/>
              <a:tailEnd/>
            </a:ln>
          </p:spPr>
          <p:txBody>
            <a:bodyPr/>
            <a:lstStyle/>
            <a:p>
              <a:endParaRPr lang="zh-CN" altLang="en-US"/>
            </a:p>
          </p:txBody>
        </p:sp>
        <p:sp>
          <p:nvSpPr>
            <p:cNvPr id="19" name="Rectangle 19"/>
            <p:cNvSpPr>
              <a:spLocks noChangeArrowheads="1"/>
            </p:cNvSpPr>
            <p:nvPr/>
          </p:nvSpPr>
          <p:spPr bwMode="auto">
            <a:xfrm>
              <a:off x="386" y="1980"/>
              <a:ext cx="371" cy="210"/>
            </a:xfrm>
            <a:prstGeom prst="rect">
              <a:avLst/>
            </a:prstGeom>
            <a:noFill/>
            <a:ln w="9525">
              <a:noFill/>
              <a:miter lim="800000"/>
              <a:headEnd/>
              <a:tailEnd/>
            </a:ln>
          </p:spPr>
          <p:txBody>
            <a:bodyPr lIns="0" tIns="0" rIns="0" bIns="0"/>
            <a:lstStyle/>
            <a:p>
              <a:pPr algn="ctr"/>
              <a:r>
                <a:rPr lang="en-US" altLang="zh-CN"/>
                <a:t>NULL</a:t>
              </a:r>
            </a:p>
          </p:txBody>
        </p:sp>
        <p:sp>
          <p:nvSpPr>
            <p:cNvPr id="20" name="Rectangle 20"/>
            <p:cNvSpPr>
              <a:spLocks noChangeArrowheads="1"/>
            </p:cNvSpPr>
            <p:nvPr/>
          </p:nvSpPr>
          <p:spPr bwMode="auto">
            <a:xfrm>
              <a:off x="1727" y="1199"/>
              <a:ext cx="372" cy="286"/>
            </a:xfrm>
            <a:prstGeom prst="rect">
              <a:avLst/>
            </a:prstGeom>
            <a:noFill/>
            <a:ln w="9525">
              <a:noFill/>
              <a:miter lim="800000"/>
              <a:headEnd/>
              <a:tailEnd/>
            </a:ln>
          </p:spPr>
          <p:txBody>
            <a:bodyPr lIns="0" tIns="0" rIns="0" bIns="0"/>
            <a:lstStyle/>
            <a:p>
              <a:pPr algn="ctr"/>
              <a:r>
                <a:rPr lang="en-US" altLang="zh-CN"/>
                <a:t>NULL</a:t>
              </a:r>
            </a:p>
          </p:txBody>
        </p:sp>
        <p:sp>
          <p:nvSpPr>
            <p:cNvPr id="21" name="Freeform 21"/>
            <p:cNvSpPr>
              <a:spLocks/>
            </p:cNvSpPr>
            <p:nvPr/>
          </p:nvSpPr>
          <p:spPr bwMode="auto">
            <a:xfrm>
              <a:off x="821" y="2231"/>
              <a:ext cx="126" cy="299"/>
            </a:xfrm>
            <a:custGeom>
              <a:avLst/>
              <a:gdLst>
                <a:gd name="T0" fmla="*/ 0 w 225"/>
                <a:gd name="T1" fmla="*/ 129 h 408"/>
                <a:gd name="T2" fmla="*/ 30 w 225"/>
                <a:gd name="T3" fmla="*/ 206 h 408"/>
                <a:gd name="T4" fmla="*/ 57 w 225"/>
                <a:gd name="T5" fmla="*/ 219 h 408"/>
                <a:gd name="T6" fmla="*/ 60 w 225"/>
                <a:gd name="T7" fmla="*/ 0 h 408"/>
                <a:gd name="T8" fmla="*/ 0 60000 65536"/>
                <a:gd name="T9" fmla="*/ 0 60000 65536"/>
                <a:gd name="T10" fmla="*/ 0 60000 65536"/>
                <a:gd name="T11" fmla="*/ 0 60000 65536"/>
                <a:gd name="T12" fmla="*/ 0 w 225"/>
                <a:gd name="T13" fmla="*/ 0 h 408"/>
                <a:gd name="T14" fmla="*/ 225 w 225"/>
                <a:gd name="T15" fmla="*/ 408 h 408"/>
              </a:gdLst>
              <a:ahLst/>
              <a:cxnLst>
                <a:cxn ang="T8">
                  <a:pos x="T0" y="T1"/>
                </a:cxn>
                <a:cxn ang="T9">
                  <a:pos x="T2" y="T3"/>
                </a:cxn>
                <a:cxn ang="T10">
                  <a:pos x="T4" y="T5"/>
                </a:cxn>
                <a:cxn ang="T11">
                  <a:pos x="T6" y="T7"/>
                </a:cxn>
              </a:cxnLst>
              <a:rect l="T12" t="T13" r="T14" b="T15"/>
              <a:pathLst>
                <a:path w="225" h="408">
                  <a:moveTo>
                    <a:pt x="0" y="240"/>
                  </a:moveTo>
                  <a:cubicBezTo>
                    <a:pt x="16" y="288"/>
                    <a:pt x="48" y="357"/>
                    <a:pt x="96" y="384"/>
                  </a:cubicBezTo>
                  <a:cubicBezTo>
                    <a:pt x="121" y="398"/>
                    <a:pt x="152" y="399"/>
                    <a:pt x="180" y="408"/>
                  </a:cubicBezTo>
                  <a:cubicBezTo>
                    <a:pt x="225" y="274"/>
                    <a:pt x="192" y="140"/>
                    <a:pt x="192" y="0"/>
                  </a:cubicBezTo>
                </a:path>
              </a:pathLst>
            </a:custGeom>
            <a:noFill/>
            <a:ln w="9525">
              <a:solidFill>
                <a:srgbClr val="000000"/>
              </a:solidFill>
              <a:prstDash val="dash"/>
              <a:round/>
              <a:headEnd/>
              <a:tailEnd/>
            </a:ln>
          </p:spPr>
          <p:txBody>
            <a:bodyPr/>
            <a:lstStyle/>
            <a:p>
              <a:endParaRPr lang="zh-CN" altLang="en-US"/>
            </a:p>
          </p:txBody>
        </p:sp>
        <p:sp>
          <p:nvSpPr>
            <p:cNvPr id="22" name="Line 22"/>
            <p:cNvSpPr>
              <a:spLocks noChangeShapeType="1"/>
            </p:cNvSpPr>
            <p:nvPr/>
          </p:nvSpPr>
          <p:spPr bwMode="auto">
            <a:xfrm flipV="1">
              <a:off x="949" y="1772"/>
              <a:ext cx="59" cy="418"/>
            </a:xfrm>
            <a:prstGeom prst="line">
              <a:avLst/>
            </a:prstGeom>
            <a:noFill/>
            <a:ln w="9525">
              <a:solidFill>
                <a:srgbClr val="000000"/>
              </a:solidFill>
              <a:prstDash val="dash"/>
              <a:round/>
              <a:headEnd/>
              <a:tailEnd type="triangle" w="sm" len="sm"/>
            </a:ln>
          </p:spPr>
          <p:txBody>
            <a:bodyPr/>
            <a:lstStyle/>
            <a:p>
              <a:endParaRPr lang="zh-CN" altLang="en-US"/>
            </a:p>
          </p:txBody>
        </p:sp>
        <p:sp>
          <p:nvSpPr>
            <p:cNvPr id="23" name="Line 23"/>
            <p:cNvSpPr>
              <a:spLocks noChangeShapeType="1"/>
            </p:cNvSpPr>
            <p:nvPr/>
          </p:nvSpPr>
          <p:spPr bwMode="auto">
            <a:xfrm flipH="1" flipV="1">
              <a:off x="1066" y="1772"/>
              <a:ext cx="59" cy="418"/>
            </a:xfrm>
            <a:prstGeom prst="line">
              <a:avLst/>
            </a:prstGeom>
            <a:noFill/>
            <a:ln w="9525">
              <a:solidFill>
                <a:srgbClr val="000000"/>
              </a:solidFill>
              <a:prstDash val="dash"/>
              <a:round/>
              <a:headEnd/>
              <a:tailEnd type="triangle" w="sm" len="sm"/>
            </a:ln>
          </p:spPr>
          <p:txBody>
            <a:bodyPr/>
            <a:lstStyle/>
            <a:p>
              <a:endParaRPr lang="zh-CN" altLang="en-US"/>
            </a:p>
          </p:txBody>
        </p:sp>
        <p:sp>
          <p:nvSpPr>
            <p:cNvPr id="24" name="Freeform 24"/>
            <p:cNvSpPr>
              <a:spLocks/>
            </p:cNvSpPr>
            <p:nvPr/>
          </p:nvSpPr>
          <p:spPr bwMode="auto">
            <a:xfrm>
              <a:off x="1122" y="2214"/>
              <a:ext cx="182" cy="329"/>
            </a:xfrm>
            <a:custGeom>
              <a:avLst/>
              <a:gdLst>
                <a:gd name="T0" fmla="*/ 99 w 324"/>
                <a:gd name="T1" fmla="*/ 141 h 450"/>
                <a:gd name="T2" fmla="*/ 80 w 324"/>
                <a:gd name="T3" fmla="*/ 238 h 450"/>
                <a:gd name="T4" fmla="*/ 43 w 324"/>
                <a:gd name="T5" fmla="*/ 231 h 450"/>
                <a:gd name="T6" fmla="*/ 50 w 324"/>
                <a:gd name="T7" fmla="*/ 212 h 450"/>
                <a:gd name="T8" fmla="*/ 39 w 324"/>
                <a:gd name="T9" fmla="*/ 199 h 450"/>
                <a:gd name="T10" fmla="*/ 16 w 324"/>
                <a:gd name="T11" fmla="*/ 128 h 450"/>
                <a:gd name="T12" fmla="*/ 4 w 324"/>
                <a:gd name="T13" fmla="*/ 7 h 450"/>
                <a:gd name="T14" fmla="*/ 1 w 32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50"/>
                <a:gd name="T26" fmla="*/ 324 w 32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50">
                  <a:moveTo>
                    <a:pt x="315" y="264"/>
                  </a:moveTo>
                  <a:cubicBezTo>
                    <a:pt x="306" y="353"/>
                    <a:pt x="324" y="398"/>
                    <a:pt x="255" y="444"/>
                  </a:cubicBezTo>
                  <a:cubicBezTo>
                    <a:pt x="215" y="440"/>
                    <a:pt x="171" y="450"/>
                    <a:pt x="135" y="432"/>
                  </a:cubicBezTo>
                  <a:cubicBezTo>
                    <a:pt x="122" y="426"/>
                    <a:pt x="162" y="410"/>
                    <a:pt x="159" y="396"/>
                  </a:cubicBezTo>
                  <a:cubicBezTo>
                    <a:pt x="156" y="382"/>
                    <a:pt x="135" y="380"/>
                    <a:pt x="123" y="372"/>
                  </a:cubicBezTo>
                  <a:cubicBezTo>
                    <a:pt x="89" y="321"/>
                    <a:pt x="91" y="293"/>
                    <a:pt x="51" y="240"/>
                  </a:cubicBezTo>
                  <a:cubicBezTo>
                    <a:pt x="0" y="88"/>
                    <a:pt x="50" y="256"/>
                    <a:pt x="15" y="12"/>
                  </a:cubicBezTo>
                  <a:cubicBezTo>
                    <a:pt x="14" y="6"/>
                    <a:pt x="7" y="4"/>
                    <a:pt x="3" y="0"/>
                  </a:cubicBezTo>
                </a:path>
              </a:pathLst>
            </a:custGeom>
            <a:noFill/>
            <a:ln w="9525">
              <a:solidFill>
                <a:srgbClr val="000000"/>
              </a:solidFill>
              <a:prstDash val="dash"/>
              <a:round/>
              <a:headEnd/>
              <a:tailEnd/>
            </a:ln>
          </p:spPr>
          <p:txBody>
            <a:bodyPr/>
            <a:lstStyle/>
            <a:p>
              <a:endParaRPr lang="zh-CN" altLang="en-US"/>
            </a:p>
          </p:txBody>
        </p:sp>
        <p:sp>
          <p:nvSpPr>
            <p:cNvPr id="25" name="Freeform 25"/>
            <p:cNvSpPr>
              <a:spLocks/>
            </p:cNvSpPr>
            <p:nvPr/>
          </p:nvSpPr>
          <p:spPr bwMode="auto">
            <a:xfrm>
              <a:off x="1302" y="1562"/>
              <a:ext cx="114" cy="861"/>
            </a:xfrm>
            <a:custGeom>
              <a:avLst/>
              <a:gdLst>
                <a:gd name="T0" fmla="*/ 15 w 204"/>
                <a:gd name="T1" fmla="*/ 584 h 1177"/>
                <a:gd name="T2" fmla="*/ 19 w 204"/>
                <a:gd name="T3" fmla="*/ 604 h 1177"/>
                <a:gd name="T4" fmla="*/ 41 w 204"/>
                <a:gd name="T5" fmla="*/ 629 h 1177"/>
                <a:gd name="T6" fmla="*/ 56 w 204"/>
                <a:gd name="T7" fmla="*/ 623 h 1177"/>
                <a:gd name="T8" fmla="*/ 64 w 204"/>
                <a:gd name="T9" fmla="*/ 584 h 1177"/>
                <a:gd name="T10" fmla="*/ 41 w 204"/>
                <a:gd name="T11" fmla="*/ 315 h 1177"/>
                <a:gd name="T12" fmla="*/ 0 w 204"/>
                <a:gd name="T13" fmla="*/ 129 h 1177"/>
                <a:gd name="T14" fmla="*/ 4 w 204"/>
                <a:gd name="T15" fmla="*/ 0 h 1177"/>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1177"/>
                <a:gd name="T26" fmla="*/ 204 w 204"/>
                <a:gd name="T27" fmla="*/ 1177 h 1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1177">
                  <a:moveTo>
                    <a:pt x="48" y="1092"/>
                  </a:moveTo>
                  <a:cubicBezTo>
                    <a:pt x="52" y="1104"/>
                    <a:pt x="51" y="1119"/>
                    <a:pt x="60" y="1128"/>
                  </a:cubicBezTo>
                  <a:cubicBezTo>
                    <a:pt x="80" y="1148"/>
                    <a:pt x="132" y="1176"/>
                    <a:pt x="132" y="1176"/>
                  </a:cubicBezTo>
                  <a:cubicBezTo>
                    <a:pt x="148" y="1172"/>
                    <a:pt x="169" y="1177"/>
                    <a:pt x="180" y="1164"/>
                  </a:cubicBezTo>
                  <a:cubicBezTo>
                    <a:pt x="196" y="1145"/>
                    <a:pt x="204" y="1092"/>
                    <a:pt x="204" y="1092"/>
                  </a:cubicBezTo>
                  <a:cubicBezTo>
                    <a:pt x="194" y="918"/>
                    <a:pt x="182" y="754"/>
                    <a:pt x="132" y="588"/>
                  </a:cubicBezTo>
                  <a:cubicBezTo>
                    <a:pt x="96" y="467"/>
                    <a:pt x="25" y="363"/>
                    <a:pt x="0" y="240"/>
                  </a:cubicBezTo>
                  <a:cubicBezTo>
                    <a:pt x="4" y="160"/>
                    <a:pt x="12" y="0"/>
                    <a:pt x="12" y="0"/>
                  </a:cubicBezTo>
                </a:path>
              </a:pathLst>
            </a:custGeom>
            <a:noFill/>
            <a:ln w="9525">
              <a:solidFill>
                <a:srgbClr val="000000"/>
              </a:solidFill>
              <a:prstDash val="dashDot"/>
              <a:round/>
              <a:headEnd/>
              <a:tailEnd/>
            </a:ln>
          </p:spPr>
          <p:txBody>
            <a:bodyPr/>
            <a:lstStyle/>
            <a:p>
              <a:endParaRPr lang="zh-CN" altLang="en-US"/>
            </a:p>
          </p:txBody>
        </p:sp>
        <p:sp>
          <p:nvSpPr>
            <p:cNvPr id="26" name="Line 26"/>
            <p:cNvSpPr>
              <a:spLocks noChangeShapeType="1"/>
            </p:cNvSpPr>
            <p:nvPr/>
          </p:nvSpPr>
          <p:spPr bwMode="auto">
            <a:xfrm flipV="1">
              <a:off x="1302" y="1147"/>
              <a:ext cx="0" cy="417"/>
            </a:xfrm>
            <a:prstGeom prst="line">
              <a:avLst/>
            </a:prstGeom>
            <a:noFill/>
            <a:ln w="9525">
              <a:solidFill>
                <a:srgbClr val="000000"/>
              </a:solidFill>
              <a:prstDash val="dash"/>
              <a:round/>
              <a:headEnd/>
              <a:tailEnd type="triangle" w="sm" len="sm"/>
            </a:ln>
          </p:spPr>
          <p:txBody>
            <a:bodyPr/>
            <a:lstStyle/>
            <a:p>
              <a:endParaRPr lang="zh-CN" altLang="en-US"/>
            </a:p>
          </p:txBody>
        </p:sp>
        <p:sp>
          <p:nvSpPr>
            <p:cNvPr id="27" name="Line 27"/>
            <p:cNvSpPr>
              <a:spLocks noChangeShapeType="1"/>
            </p:cNvSpPr>
            <p:nvPr/>
          </p:nvSpPr>
          <p:spPr bwMode="auto">
            <a:xfrm flipH="1" flipV="1">
              <a:off x="1360" y="1147"/>
              <a:ext cx="59" cy="208"/>
            </a:xfrm>
            <a:prstGeom prst="line">
              <a:avLst/>
            </a:prstGeom>
            <a:noFill/>
            <a:ln w="9525">
              <a:solidFill>
                <a:srgbClr val="000000"/>
              </a:solidFill>
              <a:prstDash val="dash"/>
              <a:round/>
              <a:headEnd/>
              <a:tailEnd type="triangle" w="sm" len="sm"/>
            </a:ln>
          </p:spPr>
          <p:txBody>
            <a:bodyPr/>
            <a:lstStyle/>
            <a:p>
              <a:endParaRPr lang="zh-CN" altLang="en-US"/>
            </a:p>
          </p:txBody>
        </p:sp>
        <p:sp>
          <p:nvSpPr>
            <p:cNvPr id="28" name="Freeform 28"/>
            <p:cNvSpPr>
              <a:spLocks/>
            </p:cNvSpPr>
            <p:nvPr/>
          </p:nvSpPr>
          <p:spPr bwMode="auto">
            <a:xfrm>
              <a:off x="1418" y="1371"/>
              <a:ext cx="268" cy="508"/>
            </a:xfrm>
            <a:custGeom>
              <a:avLst/>
              <a:gdLst>
                <a:gd name="T0" fmla="*/ 150 w 480"/>
                <a:gd name="T1" fmla="*/ 301 h 696"/>
                <a:gd name="T2" fmla="*/ 119 w 480"/>
                <a:gd name="T3" fmla="*/ 371 h 696"/>
                <a:gd name="T4" fmla="*/ 86 w 480"/>
                <a:gd name="T5" fmla="*/ 364 h 696"/>
                <a:gd name="T6" fmla="*/ 64 w 480"/>
                <a:gd name="T7" fmla="*/ 352 h 696"/>
                <a:gd name="T8" fmla="*/ 52 w 480"/>
                <a:gd name="T9" fmla="*/ 345 h 696"/>
                <a:gd name="T10" fmla="*/ 30 w 480"/>
                <a:gd name="T11" fmla="*/ 230 h 696"/>
                <a:gd name="T12" fmla="*/ 15 w 480"/>
                <a:gd name="T13" fmla="*/ 102 h 696"/>
                <a:gd name="T14" fmla="*/ 0 w 480"/>
                <a:gd name="T15" fmla="*/ 0 h 69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696"/>
                <a:gd name="T26" fmla="*/ 480 w 480"/>
                <a:gd name="T27" fmla="*/ 696 h 6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696">
                  <a:moveTo>
                    <a:pt x="480" y="564"/>
                  </a:moveTo>
                  <a:cubicBezTo>
                    <a:pt x="463" y="649"/>
                    <a:pt x="470" y="667"/>
                    <a:pt x="384" y="696"/>
                  </a:cubicBezTo>
                  <a:cubicBezTo>
                    <a:pt x="348" y="692"/>
                    <a:pt x="312" y="691"/>
                    <a:pt x="276" y="684"/>
                  </a:cubicBezTo>
                  <a:cubicBezTo>
                    <a:pt x="251" y="679"/>
                    <a:pt x="228" y="668"/>
                    <a:pt x="204" y="660"/>
                  </a:cubicBezTo>
                  <a:cubicBezTo>
                    <a:pt x="192" y="656"/>
                    <a:pt x="168" y="648"/>
                    <a:pt x="168" y="648"/>
                  </a:cubicBezTo>
                  <a:cubicBezTo>
                    <a:pt x="144" y="576"/>
                    <a:pt x="120" y="504"/>
                    <a:pt x="96" y="432"/>
                  </a:cubicBezTo>
                  <a:cubicBezTo>
                    <a:pt x="70" y="355"/>
                    <a:pt x="68" y="271"/>
                    <a:pt x="48" y="192"/>
                  </a:cubicBezTo>
                  <a:cubicBezTo>
                    <a:pt x="32" y="129"/>
                    <a:pt x="0" y="66"/>
                    <a:pt x="0" y="0"/>
                  </a:cubicBezTo>
                </a:path>
              </a:pathLst>
            </a:custGeom>
            <a:noFill/>
            <a:ln w="9525">
              <a:solidFill>
                <a:srgbClr val="000000"/>
              </a:solidFill>
              <a:prstDash val="dashDot"/>
              <a:round/>
              <a:headEnd/>
              <a:tailEnd/>
            </a:ln>
          </p:spPr>
          <p:txBody>
            <a:bodyPr/>
            <a:lstStyle/>
            <a:p>
              <a:endParaRPr lang="zh-CN" altLang="en-US"/>
            </a:p>
          </p:txBody>
        </p:sp>
        <p:sp>
          <p:nvSpPr>
            <p:cNvPr id="29" name="Line 29"/>
            <p:cNvSpPr>
              <a:spLocks noChangeShapeType="1"/>
            </p:cNvSpPr>
            <p:nvPr/>
          </p:nvSpPr>
          <p:spPr bwMode="auto">
            <a:xfrm flipV="1">
              <a:off x="1887" y="1355"/>
              <a:ext cx="0" cy="209"/>
            </a:xfrm>
            <a:prstGeom prst="line">
              <a:avLst/>
            </a:prstGeom>
            <a:noFill/>
            <a:ln w="9525">
              <a:solidFill>
                <a:srgbClr val="000000"/>
              </a:solidFill>
              <a:prstDash val="dash"/>
              <a:round/>
              <a:headEnd/>
              <a:tailEnd type="triangle" w="sm" len="sm"/>
            </a:ln>
          </p:spPr>
          <p:txBody>
            <a:bodyPr/>
            <a:lstStyle/>
            <a:p>
              <a:endParaRPr lang="zh-CN" altLang="en-US"/>
            </a:p>
          </p:txBody>
        </p:sp>
        <p:sp>
          <p:nvSpPr>
            <p:cNvPr id="30" name="Freeform 30"/>
            <p:cNvSpPr>
              <a:spLocks/>
            </p:cNvSpPr>
            <p:nvPr/>
          </p:nvSpPr>
          <p:spPr bwMode="auto">
            <a:xfrm>
              <a:off x="1707" y="1608"/>
              <a:ext cx="188" cy="253"/>
            </a:xfrm>
            <a:custGeom>
              <a:avLst/>
              <a:gdLst>
                <a:gd name="T0" fmla="*/ 0 w 336"/>
                <a:gd name="T1" fmla="*/ 116 h 346"/>
                <a:gd name="T2" fmla="*/ 37 w 336"/>
                <a:gd name="T3" fmla="*/ 180 h 346"/>
                <a:gd name="T4" fmla="*/ 90 w 336"/>
                <a:gd name="T5" fmla="*/ 160 h 346"/>
                <a:gd name="T6" fmla="*/ 105 w 336"/>
                <a:gd name="T7" fmla="*/ 102 h 346"/>
                <a:gd name="T8" fmla="*/ 101 w 336"/>
                <a:gd name="T9" fmla="*/ 0 h 346"/>
                <a:gd name="T10" fmla="*/ 0 60000 65536"/>
                <a:gd name="T11" fmla="*/ 0 60000 65536"/>
                <a:gd name="T12" fmla="*/ 0 60000 65536"/>
                <a:gd name="T13" fmla="*/ 0 60000 65536"/>
                <a:gd name="T14" fmla="*/ 0 60000 65536"/>
                <a:gd name="T15" fmla="*/ 0 w 336"/>
                <a:gd name="T16" fmla="*/ 0 h 346"/>
                <a:gd name="T17" fmla="*/ 336 w 336"/>
                <a:gd name="T18" fmla="*/ 346 h 346"/>
              </a:gdLst>
              <a:ahLst/>
              <a:cxnLst>
                <a:cxn ang="T10">
                  <a:pos x="T0" y="T1"/>
                </a:cxn>
                <a:cxn ang="T11">
                  <a:pos x="T2" y="T3"/>
                </a:cxn>
                <a:cxn ang="T12">
                  <a:pos x="T4" y="T5"/>
                </a:cxn>
                <a:cxn ang="T13">
                  <a:pos x="T6" y="T7"/>
                </a:cxn>
                <a:cxn ang="T14">
                  <a:pos x="T8" y="T9"/>
                </a:cxn>
              </a:cxnLst>
              <a:rect l="T15" t="T16" r="T17" b="T18"/>
              <a:pathLst>
                <a:path w="336" h="346">
                  <a:moveTo>
                    <a:pt x="0" y="216"/>
                  </a:moveTo>
                  <a:cubicBezTo>
                    <a:pt x="37" y="272"/>
                    <a:pt x="55" y="314"/>
                    <a:pt x="120" y="336"/>
                  </a:cubicBezTo>
                  <a:cubicBezTo>
                    <a:pt x="185" y="330"/>
                    <a:pt x="242" y="346"/>
                    <a:pt x="288" y="300"/>
                  </a:cubicBezTo>
                  <a:cubicBezTo>
                    <a:pt x="316" y="272"/>
                    <a:pt x="336" y="192"/>
                    <a:pt x="336" y="192"/>
                  </a:cubicBezTo>
                  <a:cubicBezTo>
                    <a:pt x="323" y="24"/>
                    <a:pt x="324" y="88"/>
                    <a:pt x="324" y="0"/>
                  </a:cubicBezTo>
                </a:path>
              </a:pathLst>
            </a:custGeom>
            <a:noFill/>
            <a:ln w="9525">
              <a:solidFill>
                <a:srgbClr val="000000"/>
              </a:solidFill>
              <a:prstDash val="dash"/>
              <a:round/>
              <a:headEnd/>
              <a:tailEnd/>
            </a:ln>
          </p:spPr>
          <p:txBody>
            <a:bodyPr/>
            <a:lstStyle/>
            <a:p>
              <a:endParaRPr lang="zh-CN" altLang="en-US"/>
            </a:p>
          </p:txBody>
        </p:sp>
        <p:sp>
          <p:nvSpPr>
            <p:cNvPr id="31" name="Rectangle 31"/>
            <p:cNvSpPr>
              <a:spLocks noChangeArrowheads="1"/>
            </p:cNvSpPr>
            <p:nvPr/>
          </p:nvSpPr>
          <p:spPr bwMode="auto">
            <a:xfrm>
              <a:off x="4870" y="916"/>
              <a:ext cx="146" cy="234"/>
            </a:xfrm>
            <a:prstGeom prst="rect">
              <a:avLst/>
            </a:prstGeom>
            <a:noFill/>
            <a:ln w="9525">
              <a:noFill/>
              <a:miter lim="800000"/>
              <a:headEnd/>
              <a:tailEnd/>
            </a:ln>
          </p:spPr>
          <p:txBody>
            <a:bodyPr lIns="0" tIns="0" rIns="0" bIns="0"/>
            <a:lstStyle/>
            <a:p>
              <a:pPr algn="ctr"/>
              <a:r>
                <a:rPr lang="en-US" altLang="zh-CN"/>
                <a:t>T</a:t>
              </a:r>
            </a:p>
          </p:txBody>
        </p:sp>
        <p:sp>
          <p:nvSpPr>
            <p:cNvPr id="32" name="Line 32"/>
            <p:cNvSpPr>
              <a:spLocks noChangeShapeType="1"/>
            </p:cNvSpPr>
            <p:nvPr/>
          </p:nvSpPr>
          <p:spPr bwMode="auto">
            <a:xfrm flipH="1">
              <a:off x="4506" y="1178"/>
              <a:ext cx="364" cy="0"/>
            </a:xfrm>
            <a:prstGeom prst="line">
              <a:avLst/>
            </a:prstGeom>
            <a:noFill/>
            <a:ln w="9525">
              <a:solidFill>
                <a:srgbClr val="000000"/>
              </a:solidFill>
              <a:round/>
              <a:headEnd/>
              <a:tailEnd type="triangle" w="sm" len="sm"/>
            </a:ln>
          </p:spPr>
          <p:txBody>
            <a:bodyPr/>
            <a:lstStyle/>
            <a:p>
              <a:endParaRPr lang="zh-CN" altLang="en-US"/>
            </a:p>
          </p:txBody>
        </p:sp>
        <p:sp>
          <p:nvSpPr>
            <p:cNvPr id="33" name="Rectangle 34"/>
            <p:cNvSpPr>
              <a:spLocks noChangeArrowheads="1"/>
            </p:cNvSpPr>
            <p:nvPr/>
          </p:nvSpPr>
          <p:spPr bwMode="auto">
            <a:xfrm>
              <a:off x="3472" y="1007"/>
              <a:ext cx="257" cy="282"/>
            </a:xfrm>
            <a:prstGeom prst="rect">
              <a:avLst/>
            </a:prstGeom>
            <a:noFill/>
            <a:ln w="9525">
              <a:solidFill>
                <a:srgbClr val="000000"/>
              </a:solidFill>
              <a:miter lim="800000"/>
              <a:headEnd/>
              <a:tailEnd/>
            </a:ln>
          </p:spPr>
          <p:txBody>
            <a:bodyPr/>
            <a:lstStyle/>
            <a:p>
              <a:pPr algn="ctr"/>
              <a:endParaRPr lang="zh-CN" altLang="zh-CN"/>
            </a:p>
          </p:txBody>
        </p:sp>
        <p:sp>
          <p:nvSpPr>
            <p:cNvPr id="34" name="Rectangle 35"/>
            <p:cNvSpPr>
              <a:spLocks noChangeArrowheads="1"/>
            </p:cNvSpPr>
            <p:nvPr/>
          </p:nvSpPr>
          <p:spPr bwMode="auto">
            <a:xfrm>
              <a:off x="3215" y="1007"/>
              <a:ext cx="257" cy="282"/>
            </a:xfrm>
            <a:prstGeom prst="rect">
              <a:avLst/>
            </a:prstGeom>
            <a:noFill/>
            <a:ln w="9525">
              <a:solidFill>
                <a:srgbClr val="000000"/>
              </a:solidFill>
              <a:miter lim="800000"/>
              <a:headEnd/>
              <a:tailEnd/>
            </a:ln>
          </p:spPr>
          <p:txBody>
            <a:bodyPr/>
            <a:lstStyle/>
            <a:p>
              <a:pPr algn="ctr"/>
              <a:r>
                <a:rPr lang="en-US" altLang="zh-CN"/>
                <a:t>0</a:t>
              </a:r>
            </a:p>
          </p:txBody>
        </p:sp>
        <p:sp>
          <p:nvSpPr>
            <p:cNvPr id="35" name="Rectangle 36"/>
            <p:cNvSpPr>
              <a:spLocks noChangeArrowheads="1"/>
            </p:cNvSpPr>
            <p:nvPr/>
          </p:nvSpPr>
          <p:spPr bwMode="auto">
            <a:xfrm>
              <a:off x="3729" y="1007"/>
              <a:ext cx="256" cy="282"/>
            </a:xfrm>
            <a:prstGeom prst="rect">
              <a:avLst/>
            </a:prstGeom>
            <a:noFill/>
            <a:ln w="9525">
              <a:solidFill>
                <a:srgbClr val="000000"/>
              </a:solidFill>
              <a:miter lim="800000"/>
              <a:headEnd/>
              <a:tailEnd/>
            </a:ln>
          </p:spPr>
          <p:txBody>
            <a:bodyPr/>
            <a:lstStyle/>
            <a:p>
              <a:pPr algn="ctr"/>
              <a:r>
                <a:rPr lang="en-US" altLang="zh-CN"/>
                <a:t>A</a:t>
              </a:r>
            </a:p>
          </p:txBody>
        </p:sp>
        <p:sp>
          <p:nvSpPr>
            <p:cNvPr id="36" name="Rectangle 37"/>
            <p:cNvSpPr>
              <a:spLocks noChangeArrowheads="1"/>
            </p:cNvSpPr>
            <p:nvPr/>
          </p:nvSpPr>
          <p:spPr bwMode="auto">
            <a:xfrm>
              <a:off x="3985" y="1007"/>
              <a:ext cx="257" cy="282"/>
            </a:xfrm>
            <a:prstGeom prst="rect">
              <a:avLst/>
            </a:prstGeom>
            <a:noFill/>
            <a:ln w="9525">
              <a:solidFill>
                <a:srgbClr val="000000"/>
              </a:solidFill>
              <a:miter lim="800000"/>
              <a:headEnd/>
              <a:tailEnd/>
            </a:ln>
          </p:spPr>
          <p:txBody>
            <a:bodyPr/>
            <a:lstStyle/>
            <a:p>
              <a:pPr algn="ctr"/>
              <a:endParaRPr lang="zh-CN" altLang="zh-CN"/>
            </a:p>
          </p:txBody>
        </p:sp>
        <p:sp>
          <p:nvSpPr>
            <p:cNvPr id="37" name="Rectangle 38"/>
            <p:cNvSpPr>
              <a:spLocks noChangeArrowheads="1"/>
            </p:cNvSpPr>
            <p:nvPr/>
          </p:nvSpPr>
          <p:spPr bwMode="auto">
            <a:xfrm>
              <a:off x="4242" y="1007"/>
              <a:ext cx="257" cy="282"/>
            </a:xfrm>
            <a:prstGeom prst="rect">
              <a:avLst/>
            </a:prstGeom>
            <a:noFill/>
            <a:ln w="9525">
              <a:solidFill>
                <a:srgbClr val="000000"/>
              </a:solidFill>
              <a:miter lim="800000"/>
              <a:headEnd/>
              <a:tailEnd/>
            </a:ln>
          </p:spPr>
          <p:txBody>
            <a:bodyPr/>
            <a:lstStyle/>
            <a:p>
              <a:pPr algn="ctr"/>
              <a:r>
                <a:rPr lang="en-US" altLang="zh-CN"/>
                <a:t>0</a:t>
              </a:r>
            </a:p>
          </p:txBody>
        </p:sp>
        <p:sp>
          <p:nvSpPr>
            <p:cNvPr id="38" name="Rectangle 40"/>
            <p:cNvSpPr>
              <a:spLocks noChangeArrowheads="1"/>
            </p:cNvSpPr>
            <p:nvPr/>
          </p:nvSpPr>
          <p:spPr bwMode="auto">
            <a:xfrm>
              <a:off x="2856"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39" name="Rectangle 41"/>
            <p:cNvSpPr>
              <a:spLocks noChangeArrowheads="1"/>
            </p:cNvSpPr>
            <p:nvPr/>
          </p:nvSpPr>
          <p:spPr bwMode="auto">
            <a:xfrm>
              <a:off x="2599" y="1572"/>
              <a:ext cx="257" cy="284"/>
            </a:xfrm>
            <a:prstGeom prst="rect">
              <a:avLst/>
            </a:prstGeom>
            <a:noFill/>
            <a:ln w="9525">
              <a:solidFill>
                <a:srgbClr val="000000"/>
              </a:solidFill>
              <a:miter lim="800000"/>
              <a:headEnd/>
              <a:tailEnd/>
            </a:ln>
          </p:spPr>
          <p:txBody>
            <a:bodyPr/>
            <a:lstStyle/>
            <a:p>
              <a:pPr algn="ctr"/>
              <a:r>
                <a:rPr lang="en-US" altLang="zh-CN"/>
                <a:t>0</a:t>
              </a:r>
            </a:p>
          </p:txBody>
        </p:sp>
        <p:sp>
          <p:nvSpPr>
            <p:cNvPr id="40" name="Rectangle 42"/>
            <p:cNvSpPr>
              <a:spLocks noChangeArrowheads="1"/>
            </p:cNvSpPr>
            <p:nvPr/>
          </p:nvSpPr>
          <p:spPr bwMode="auto">
            <a:xfrm>
              <a:off x="3113" y="1572"/>
              <a:ext cx="256" cy="284"/>
            </a:xfrm>
            <a:prstGeom prst="rect">
              <a:avLst/>
            </a:prstGeom>
            <a:noFill/>
            <a:ln w="9525">
              <a:solidFill>
                <a:srgbClr val="000000"/>
              </a:solidFill>
              <a:miter lim="800000"/>
              <a:headEnd/>
              <a:tailEnd/>
            </a:ln>
          </p:spPr>
          <p:txBody>
            <a:bodyPr/>
            <a:lstStyle/>
            <a:p>
              <a:pPr algn="ctr"/>
              <a:r>
                <a:rPr lang="en-US" altLang="zh-CN"/>
                <a:t>B</a:t>
              </a:r>
            </a:p>
          </p:txBody>
        </p:sp>
        <p:sp>
          <p:nvSpPr>
            <p:cNvPr id="41" name="Rectangle 43"/>
            <p:cNvSpPr>
              <a:spLocks noChangeArrowheads="1"/>
            </p:cNvSpPr>
            <p:nvPr/>
          </p:nvSpPr>
          <p:spPr bwMode="auto">
            <a:xfrm>
              <a:off x="3369"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42" name="Rectangle 44"/>
            <p:cNvSpPr>
              <a:spLocks noChangeArrowheads="1"/>
            </p:cNvSpPr>
            <p:nvPr/>
          </p:nvSpPr>
          <p:spPr bwMode="auto">
            <a:xfrm>
              <a:off x="3626" y="1572"/>
              <a:ext cx="257" cy="284"/>
            </a:xfrm>
            <a:prstGeom prst="rect">
              <a:avLst/>
            </a:prstGeom>
            <a:noFill/>
            <a:ln w="9525">
              <a:solidFill>
                <a:srgbClr val="000000"/>
              </a:solidFill>
              <a:miter lim="800000"/>
              <a:headEnd/>
              <a:tailEnd/>
            </a:ln>
          </p:spPr>
          <p:txBody>
            <a:bodyPr/>
            <a:lstStyle/>
            <a:p>
              <a:pPr algn="ctr"/>
              <a:r>
                <a:rPr lang="en-US" altLang="zh-CN"/>
                <a:t>0</a:t>
              </a:r>
            </a:p>
          </p:txBody>
        </p:sp>
        <p:sp>
          <p:nvSpPr>
            <p:cNvPr id="43" name="Rectangle 46"/>
            <p:cNvSpPr>
              <a:spLocks noChangeArrowheads="1"/>
            </p:cNvSpPr>
            <p:nvPr/>
          </p:nvSpPr>
          <p:spPr bwMode="auto">
            <a:xfrm>
              <a:off x="4396"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44" name="Rectangle 47"/>
            <p:cNvSpPr>
              <a:spLocks noChangeArrowheads="1"/>
            </p:cNvSpPr>
            <p:nvPr/>
          </p:nvSpPr>
          <p:spPr bwMode="auto">
            <a:xfrm>
              <a:off x="4139" y="1572"/>
              <a:ext cx="257" cy="284"/>
            </a:xfrm>
            <a:prstGeom prst="rect">
              <a:avLst/>
            </a:prstGeom>
            <a:noFill/>
            <a:ln w="9525">
              <a:solidFill>
                <a:srgbClr val="000000"/>
              </a:solidFill>
              <a:miter lim="800000"/>
              <a:headEnd/>
              <a:tailEnd/>
            </a:ln>
          </p:spPr>
          <p:txBody>
            <a:bodyPr/>
            <a:lstStyle/>
            <a:p>
              <a:pPr algn="ctr"/>
              <a:r>
                <a:rPr lang="en-US" altLang="zh-CN"/>
                <a:t>1</a:t>
              </a:r>
            </a:p>
          </p:txBody>
        </p:sp>
        <p:sp>
          <p:nvSpPr>
            <p:cNvPr id="45" name="Rectangle 48"/>
            <p:cNvSpPr>
              <a:spLocks noChangeArrowheads="1"/>
            </p:cNvSpPr>
            <p:nvPr/>
          </p:nvSpPr>
          <p:spPr bwMode="auto">
            <a:xfrm>
              <a:off x="4653" y="1572"/>
              <a:ext cx="257" cy="284"/>
            </a:xfrm>
            <a:prstGeom prst="rect">
              <a:avLst/>
            </a:prstGeom>
            <a:noFill/>
            <a:ln w="9525">
              <a:solidFill>
                <a:srgbClr val="000000"/>
              </a:solidFill>
              <a:miter lim="800000"/>
              <a:headEnd/>
              <a:tailEnd/>
            </a:ln>
          </p:spPr>
          <p:txBody>
            <a:bodyPr/>
            <a:lstStyle/>
            <a:p>
              <a:pPr algn="ctr"/>
              <a:r>
                <a:rPr lang="en-US" altLang="zh-CN"/>
                <a:t>C</a:t>
              </a:r>
            </a:p>
          </p:txBody>
        </p:sp>
        <p:sp>
          <p:nvSpPr>
            <p:cNvPr id="46" name="Rectangle 49"/>
            <p:cNvSpPr>
              <a:spLocks noChangeArrowheads="1"/>
            </p:cNvSpPr>
            <p:nvPr/>
          </p:nvSpPr>
          <p:spPr bwMode="auto">
            <a:xfrm>
              <a:off x="4910" y="1572"/>
              <a:ext cx="257" cy="284"/>
            </a:xfrm>
            <a:prstGeom prst="rect">
              <a:avLst/>
            </a:prstGeom>
            <a:noFill/>
            <a:ln w="9525">
              <a:solidFill>
                <a:srgbClr val="000000"/>
              </a:solidFill>
              <a:miter lim="800000"/>
              <a:headEnd/>
              <a:tailEnd/>
            </a:ln>
          </p:spPr>
          <p:txBody>
            <a:bodyPr/>
            <a:lstStyle/>
            <a:p>
              <a:pPr algn="just"/>
              <a:r>
                <a:rPr lang="en-US" altLang="zh-CN">
                  <a:latin typeface="Times New Roman" pitchFamily="18" charset="0"/>
                </a:rPr>
                <a:t>∧</a:t>
              </a:r>
              <a:endParaRPr lang="en-US" altLang="zh-CN"/>
            </a:p>
          </p:txBody>
        </p:sp>
        <p:sp>
          <p:nvSpPr>
            <p:cNvPr id="47" name="Rectangle 50"/>
            <p:cNvSpPr>
              <a:spLocks noChangeArrowheads="1"/>
            </p:cNvSpPr>
            <p:nvPr/>
          </p:nvSpPr>
          <p:spPr bwMode="auto">
            <a:xfrm>
              <a:off x="5167" y="1572"/>
              <a:ext cx="257" cy="284"/>
            </a:xfrm>
            <a:prstGeom prst="rect">
              <a:avLst/>
            </a:prstGeom>
            <a:noFill/>
            <a:ln w="9525">
              <a:solidFill>
                <a:srgbClr val="000000"/>
              </a:solidFill>
              <a:miter lim="800000"/>
              <a:headEnd/>
              <a:tailEnd/>
            </a:ln>
          </p:spPr>
          <p:txBody>
            <a:bodyPr/>
            <a:lstStyle/>
            <a:p>
              <a:pPr algn="ctr"/>
              <a:r>
                <a:rPr lang="en-US" altLang="zh-CN"/>
                <a:t>1</a:t>
              </a:r>
            </a:p>
          </p:txBody>
        </p:sp>
        <p:sp>
          <p:nvSpPr>
            <p:cNvPr id="48" name="Line 51"/>
            <p:cNvSpPr>
              <a:spLocks noChangeShapeType="1"/>
            </p:cNvSpPr>
            <p:nvPr/>
          </p:nvSpPr>
          <p:spPr bwMode="auto">
            <a:xfrm>
              <a:off x="4087" y="1148"/>
              <a:ext cx="257" cy="424"/>
            </a:xfrm>
            <a:prstGeom prst="line">
              <a:avLst/>
            </a:prstGeom>
            <a:noFill/>
            <a:ln w="9525">
              <a:solidFill>
                <a:srgbClr val="000000"/>
              </a:solidFill>
              <a:round/>
              <a:headEnd/>
              <a:tailEnd type="triangle" w="sm" len="sm"/>
            </a:ln>
          </p:spPr>
          <p:txBody>
            <a:bodyPr/>
            <a:lstStyle/>
            <a:p>
              <a:endParaRPr lang="zh-CN" altLang="en-US"/>
            </a:p>
          </p:txBody>
        </p:sp>
        <p:sp>
          <p:nvSpPr>
            <p:cNvPr id="49" name="Line 52"/>
            <p:cNvSpPr>
              <a:spLocks noChangeShapeType="1"/>
            </p:cNvSpPr>
            <p:nvPr/>
          </p:nvSpPr>
          <p:spPr bwMode="auto">
            <a:xfrm flipH="1">
              <a:off x="3472" y="1148"/>
              <a:ext cx="154" cy="424"/>
            </a:xfrm>
            <a:prstGeom prst="line">
              <a:avLst/>
            </a:prstGeom>
            <a:noFill/>
            <a:ln w="9525">
              <a:solidFill>
                <a:srgbClr val="000000"/>
              </a:solidFill>
              <a:round/>
              <a:headEnd/>
              <a:tailEnd type="triangle" w="sm" len="sm"/>
            </a:ln>
          </p:spPr>
          <p:txBody>
            <a:bodyPr/>
            <a:lstStyle/>
            <a:p>
              <a:endParaRPr lang="zh-CN" altLang="en-US"/>
            </a:p>
          </p:txBody>
        </p:sp>
        <p:sp>
          <p:nvSpPr>
            <p:cNvPr id="50" name="Line 53"/>
            <p:cNvSpPr>
              <a:spLocks noChangeShapeType="1"/>
            </p:cNvSpPr>
            <p:nvPr/>
          </p:nvSpPr>
          <p:spPr bwMode="auto">
            <a:xfrm flipH="1" flipV="1">
              <a:off x="4397" y="1289"/>
              <a:ext cx="154" cy="424"/>
            </a:xfrm>
            <a:prstGeom prst="line">
              <a:avLst/>
            </a:prstGeom>
            <a:noFill/>
            <a:ln w="9525">
              <a:solidFill>
                <a:srgbClr val="000000"/>
              </a:solidFill>
              <a:prstDash val="dash"/>
              <a:round/>
              <a:headEnd/>
              <a:tailEnd type="triangle" w="sm" len="sm"/>
            </a:ln>
          </p:spPr>
          <p:txBody>
            <a:bodyPr/>
            <a:lstStyle/>
            <a:p>
              <a:endParaRPr lang="zh-CN" altLang="en-US"/>
            </a:p>
          </p:txBody>
        </p:sp>
        <p:sp>
          <p:nvSpPr>
            <p:cNvPr id="51" name="Rectangle 55"/>
            <p:cNvSpPr>
              <a:spLocks noChangeArrowheads="1"/>
            </p:cNvSpPr>
            <p:nvPr/>
          </p:nvSpPr>
          <p:spPr bwMode="auto">
            <a:xfrm>
              <a:off x="2393" y="2138"/>
              <a:ext cx="257" cy="283"/>
            </a:xfrm>
            <a:prstGeom prst="rect">
              <a:avLst/>
            </a:prstGeom>
            <a:noFill/>
            <a:ln w="9525">
              <a:solidFill>
                <a:srgbClr val="000000"/>
              </a:solidFill>
              <a:miter lim="800000"/>
              <a:headEnd/>
              <a:tailEnd/>
            </a:ln>
          </p:spPr>
          <p:txBody>
            <a:bodyPr/>
            <a:lstStyle/>
            <a:p>
              <a:pPr algn="ctr"/>
              <a:r>
                <a:rPr lang="en-US" altLang="zh-CN">
                  <a:latin typeface="Times New Roman" pitchFamily="18" charset="0"/>
                </a:rPr>
                <a:t>∧</a:t>
              </a:r>
              <a:endParaRPr lang="en-US" altLang="zh-CN"/>
            </a:p>
          </p:txBody>
        </p:sp>
        <p:sp>
          <p:nvSpPr>
            <p:cNvPr id="52" name="Rectangle 56"/>
            <p:cNvSpPr>
              <a:spLocks noChangeArrowheads="1"/>
            </p:cNvSpPr>
            <p:nvPr/>
          </p:nvSpPr>
          <p:spPr bwMode="auto">
            <a:xfrm>
              <a:off x="2136"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3" name="Rectangle 57"/>
            <p:cNvSpPr>
              <a:spLocks noChangeArrowheads="1"/>
            </p:cNvSpPr>
            <p:nvPr/>
          </p:nvSpPr>
          <p:spPr bwMode="auto">
            <a:xfrm>
              <a:off x="2650" y="2138"/>
              <a:ext cx="256" cy="283"/>
            </a:xfrm>
            <a:prstGeom prst="rect">
              <a:avLst/>
            </a:prstGeom>
            <a:noFill/>
            <a:ln w="9525">
              <a:solidFill>
                <a:srgbClr val="000000"/>
              </a:solidFill>
              <a:miter lim="800000"/>
              <a:headEnd/>
              <a:tailEnd/>
            </a:ln>
          </p:spPr>
          <p:txBody>
            <a:bodyPr/>
            <a:lstStyle/>
            <a:p>
              <a:pPr algn="ctr"/>
              <a:r>
                <a:rPr lang="en-US" altLang="zh-CN"/>
                <a:t>D</a:t>
              </a:r>
            </a:p>
          </p:txBody>
        </p:sp>
        <p:sp>
          <p:nvSpPr>
            <p:cNvPr id="54" name="Rectangle 58"/>
            <p:cNvSpPr>
              <a:spLocks noChangeArrowheads="1"/>
            </p:cNvSpPr>
            <p:nvPr/>
          </p:nvSpPr>
          <p:spPr bwMode="auto">
            <a:xfrm>
              <a:off x="2906" y="2138"/>
              <a:ext cx="257" cy="283"/>
            </a:xfrm>
            <a:prstGeom prst="rect">
              <a:avLst/>
            </a:prstGeom>
            <a:noFill/>
            <a:ln w="9525">
              <a:solidFill>
                <a:srgbClr val="000000"/>
              </a:solidFill>
              <a:miter lim="800000"/>
              <a:headEnd/>
              <a:tailEnd/>
            </a:ln>
          </p:spPr>
          <p:txBody>
            <a:bodyPr/>
            <a:lstStyle/>
            <a:p>
              <a:pPr algn="ctr"/>
              <a:endParaRPr lang="zh-CN" altLang="zh-CN"/>
            </a:p>
          </p:txBody>
        </p:sp>
        <p:sp>
          <p:nvSpPr>
            <p:cNvPr id="55" name="Rectangle 59"/>
            <p:cNvSpPr>
              <a:spLocks noChangeArrowheads="1"/>
            </p:cNvSpPr>
            <p:nvPr/>
          </p:nvSpPr>
          <p:spPr bwMode="auto">
            <a:xfrm>
              <a:off x="3163"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6" name="Rectangle 61"/>
            <p:cNvSpPr>
              <a:spLocks noChangeArrowheads="1"/>
            </p:cNvSpPr>
            <p:nvPr/>
          </p:nvSpPr>
          <p:spPr bwMode="auto">
            <a:xfrm>
              <a:off x="3935" y="2138"/>
              <a:ext cx="256" cy="283"/>
            </a:xfrm>
            <a:prstGeom prst="rect">
              <a:avLst/>
            </a:prstGeom>
            <a:noFill/>
            <a:ln w="9525">
              <a:solidFill>
                <a:srgbClr val="000000"/>
              </a:solidFill>
              <a:miter lim="800000"/>
              <a:headEnd/>
              <a:tailEnd/>
            </a:ln>
          </p:spPr>
          <p:txBody>
            <a:bodyPr/>
            <a:lstStyle/>
            <a:p>
              <a:pPr algn="ctr"/>
              <a:endParaRPr lang="zh-CN" altLang="zh-CN"/>
            </a:p>
          </p:txBody>
        </p:sp>
        <p:sp>
          <p:nvSpPr>
            <p:cNvPr id="57" name="Rectangle 62"/>
            <p:cNvSpPr>
              <a:spLocks noChangeArrowheads="1"/>
            </p:cNvSpPr>
            <p:nvPr/>
          </p:nvSpPr>
          <p:spPr bwMode="auto">
            <a:xfrm>
              <a:off x="3678"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8" name="Rectangle 63"/>
            <p:cNvSpPr>
              <a:spLocks noChangeArrowheads="1"/>
            </p:cNvSpPr>
            <p:nvPr/>
          </p:nvSpPr>
          <p:spPr bwMode="auto">
            <a:xfrm>
              <a:off x="4191" y="2138"/>
              <a:ext cx="257" cy="283"/>
            </a:xfrm>
            <a:prstGeom prst="rect">
              <a:avLst/>
            </a:prstGeom>
            <a:noFill/>
            <a:ln w="9525">
              <a:solidFill>
                <a:srgbClr val="000000"/>
              </a:solidFill>
              <a:miter lim="800000"/>
              <a:headEnd/>
              <a:tailEnd/>
            </a:ln>
          </p:spPr>
          <p:txBody>
            <a:bodyPr/>
            <a:lstStyle/>
            <a:p>
              <a:pPr algn="ctr"/>
              <a:r>
                <a:rPr lang="en-US" altLang="zh-CN"/>
                <a:t>E</a:t>
              </a:r>
            </a:p>
          </p:txBody>
        </p:sp>
        <p:sp>
          <p:nvSpPr>
            <p:cNvPr id="59" name="Rectangle 64"/>
            <p:cNvSpPr>
              <a:spLocks noChangeArrowheads="1"/>
            </p:cNvSpPr>
            <p:nvPr/>
          </p:nvSpPr>
          <p:spPr bwMode="auto">
            <a:xfrm>
              <a:off x="4448" y="2138"/>
              <a:ext cx="256" cy="283"/>
            </a:xfrm>
            <a:prstGeom prst="rect">
              <a:avLst/>
            </a:prstGeom>
            <a:noFill/>
            <a:ln w="9525">
              <a:solidFill>
                <a:srgbClr val="000000"/>
              </a:solidFill>
              <a:miter lim="800000"/>
              <a:headEnd/>
              <a:tailEnd/>
            </a:ln>
          </p:spPr>
          <p:txBody>
            <a:bodyPr/>
            <a:lstStyle/>
            <a:p>
              <a:pPr algn="ctr"/>
              <a:endParaRPr lang="zh-CN" altLang="zh-CN"/>
            </a:p>
          </p:txBody>
        </p:sp>
        <p:sp>
          <p:nvSpPr>
            <p:cNvPr id="60" name="Rectangle 65"/>
            <p:cNvSpPr>
              <a:spLocks noChangeArrowheads="1"/>
            </p:cNvSpPr>
            <p:nvPr/>
          </p:nvSpPr>
          <p:spPr bwMode="auto">
            <a:xfrm>
              <a:off x="4704"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61" name="Line 66"/>
            <p:cNvSpPr>
              <a:spLocks noChangeShapeType="1"/>
            </p:cNvSpPr>
            <p:nvPr/>
          </p:nvSpPr>
          <p:spPr bwMode="auto">
            <a:xfrm flipH="1">
              <a:off x="2805" y="1713"/>
              <a:ext cx="206" cy="425"/>
            </a:xfrm>
            <a:prstGeom prst="line">
              <a:avLst/>
            </a:prstGeom>
            <a:noFill/>
            <a:ln w="9525">
              <a:solidFill>
                <a:srgbClr val="000000"/>
              </a:solidFill>
              <a:round/>
              <a:headEnd/>
              <a:tailEnd type="triangle" w="sm" len="sm"/>
            </a:ln>
          </p:spPr>
          <p:txBody>
            <a:bodyPr/>
            <a:lstStyle/>
            <a:p>
              <a:endParaRPr lang="zh-CN" altLang="en-US"/>
            </a:p>
          </p:txBody>
        </p:sp>
        <p:sp>
          <p:nvSpPr>
            <p:cNvPr id="62" name="Line 67"/>
            <p:cNvSpPr>
              <a:spLocks noChangeShapeType="1"/>
            </p:cNvSpPr>
            <p:nvPr/>
          </p:nvSpPr>
          <p:spPr bwMode="auto">
            <a:xfrm>
              <a:off x="3523" y="1713"/>
              <a:ext cx="206" cy="425"/>
            </a:xfrm>
            <a:prstGeom prst="line">
              <a:avLst/>
            </a:prstGeom>
            <a:noFill/>
            <a:ln w="9525">
              <a:solidFill>
                <a:srgbClr val="000000"/>
              </a:solidFill>
              <a:round/>
              <a:headEnd/>
              <a:tailEnd type="triangle" w="sm" len="sm"/>
            </a:ln>
          </p:spPr>
          <p:txBody>
            <a:bodyPr/>
            <a:lstStyle/>
            <a:p>
              <a:endParaRPr lang="zh-CN" altLang="en-US"/>
            </a:p>
          </p:txBody>
        </p:sp>
        <p:sp>
          <p:nvSpPr>
            <p:cNvPr id="63" name="Line 68"/>
            <p:cNvSpPr>
              <a:spLocks noChangeShapeType="1"/>
            </p:cNvSpPr>
            <p:nvPr/>
          </p:nvSpPr>
          <p:spPr bwMode="auto">
            <a:xfrm flipV="1">
              <a:off x="3061" y="1856"/>
              <a:ext cx="154" cy="423"/>
            </a:xfrm>
            <a:prstGeom prst="line">
              <a:avLst/>
            </a:prstGeom>
            <a:noFill/>
            <a:ln w="9525">
              <a:solidFill>
                <a:srgbClr val="000000"/>
              </a:solidFill>
              <a:prstDash val="dash"/>
              <a:round/>
              <a:headEnd/>
              <a:tailEnd type="triangle" w="sm" len="sm"/>
            </a:ln>
          </p:spPr>
          <p:txBody>
            <a:bodyPr/>
            <a:lstStyle/>
            <a:p>
              <a:endParaRPr lang="zh-CN" altLang="en-US"/>
            </a:p>
          </p:txBody>
        </p:sp>
        <p:sp>
          <p:nvSpPr>
            <p:cNvPr id="64" name="Line 69"/>
            <p:cNvSpPr>
              <a:spLocks noChangeShapeType="1"/>
            </p:cNvSpPr>
            <p:nvPr/>
          </p:nvSpPr>
          <p:spPr bwMode="auto">
            <a:xfrm flipH="1" flipV="1">
              <a:off x="3780" y="1856"/>
              <a:ext cx="308" cy="423"/>
            </a:xfrm>
            <a:prstGeom prst="line">
              <a:avLst/>
            </a:prstGeom>
            <a:noFill/>
            <a:ln w="9525">
              <a:solidFill>
                <a:srgbClr val="000000"/>
              </a:solidFill>
              <a:prstDash val="dash"/>
              <a:round/>
              <a:headEnd/>
              <a:tailEnd type="triangle" w="sm" len="sm"/>
            </a:ln>
          </p:spPr>
          <p:txBody>
            <a:bodyPr/>
            <a:lstStyle/>
            <a:p>
              <a:endParaRPr lang="zh-CN" altLang="en-US"/>
            </a:p>
          </p:txBody>
        </p:sp>
        <p:sp>
          <p:nvSpPr>
            <p:cNvPr id="65" name="Freeform 70"/>
            <p:cNvSpPr>
              <a:spLocks/>
            </p:cNvSpPr>
            <p:nvPr/>
          </p:nvSpPr>
          <p:spPr bwMode="auto">
            <a:xfrm>
              <a:off x="4037" y="1713"/>
              <a:ext cx="523" cy="549"/>
            </a:xfrm>
            <a:custGeom>
              <a:avLst/>
              <a:gdLst>
                <a:gd name="T0" fmla="*/ 242 w 1130"/>
                <a:gd name="T1" fmla="*/ 310 h 972"/>
                <a:gd name="T2" fmla="*/ 239 w 1130"/>
                <a:gd name="T3" fmla="*/ 199 h 972"/>
                <a:gd name="T4" fmla="*/ 237 w 1130"/>
                <a:gd name="T5" fmla="*/ 188 h 972"/>
                <a:gd name="T6" fmla="*/ 211 w 1130"/>
                <a:gd name="T7" fmla="*/ 176 h 972"/>
                <a:gd name="T8" fmla="*/ 116 w 1130"/>
                <a:gd name="T9" fmla="*/ 146 h 972"/>
                <a:gd name="T10" fmla="*/ 49 w 1130"/>
                <a:gd name="T11" fmla="*/ 138 h 972"/>
                <a:gd name="T12" fmla="*/ 39 w 1130"/>
                <a:gd name="T13" fmla="*/ 134 h 972"/>
                <a:gd name="T14" fmla="*/ 31 w 1130"/>
                <a:gd name="T15" fmla="*/ 119 h 972"/>
                <a:gd name="T16" fmla="*/ 13 w 1130"/>
                <a:gd name="T17" fmla="*/ 99 h 972"/>
                <a:gd name="T18" fmla="*/ 6 w 1130"/>
                <a:gd name="T19" fmla="*/ 0 h 9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30"/>
                <a:gd name="T31" fmla="*/ 0 h 972"/>
                <a:gd name="T32" fmla="*/ 1130 w 1130"/>
                <a:gd name="T33" fmla="*/ 972 h 9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30" h="972">
                  <a:moveTo>
                    <a:pt x="1130" y="972"/>
                  </a:moveTo>
                  <a:cubicBezTo>
                    <a:pt x="1126" y="856"/>
                    <a:pt x="1125" y="740"/>
                    <a:pt x="1118" y="624"/>
                  </a:cubicBezTo>
                  <a:cubicBezTo>
                    <a:pt x="1117" y="611"/>
                    <a:pt x="1115" y="597"/>
                    <a:pt x="1106" y="588"/>
                  </a:cubicBezTo>
                  <a:cubicBezTo>
                    <a:pt x="1076" y="558"/>
                    <a:pt x="1021" y="560"/>
                    <a:pt x="986" y="552"/>
                  </a:cubicBezTo>
                  <a:cubicBezTo>
                    <a:pt x="838" y="519"/>
                    <a:pt x="691" y="486"/>
                    <a:pt x="542" y="456"/>
                  </a:cubicBezTo>
                  <a:cubicBezTo>
                    <a:pt x="484" y="475"/>
                    <a:pt x="287" y="437"/>
                    <a:pt x="230" y="432"/>
                  </a:cubicBezTo>
                  <a:cubicBezTo>
                    <a:pt x="214" y="428"/>
                    <a:pt x="195" y="430"/>
                    <a:pt x="182" y="420"/>
                  </a:cubicBezTo>
                  <a:cubicBezTo>
                    <a:pt x="166" y="408"/>
                    <a:pt x="160" y="386"/>
                    <a:pt x="146" y="372"/>
                  </a:cubicBezTo>
                  <a:cubicBezTo>
                    <a:pt x="131" y="357"/>
                    <a:pt x="82" y="326"/>
                    <a:pt x="62" y="312"/>
                  </a:cubicBezTo>
                  <a:cubicBezTo>
                    <a:pt x="0" y="219"/>
                    <a:pt x="26" y="116"/>
                    <a:pt x="26" y="0"/>
                  </a:cubicBezTo>
                </a:path>
              </a:pathLst>
            </a:custGeom>
            <a:noFill/>
            <a:ln w="9525">
              <a:solidFill>
                <a:srgbClr val="000000"/>
              </a:solidFill>
              <a:prstDash val="dash"/>
              <a:round/>
              <a:headEnd/>
              <a:tailEnd/>
            </a:ln>
          </p:spPr>
          <p:txBody>
            <a:bodyPr/>
            <a:lstStyle/>
            <a:p>
              <a:endParaRPr lang="zh-CN" altLang="en-US"/>
            </a:p>
          </p:txBody>
        </p:sp>
        <p:sp>
          <p:nvSpPr>
            <p:cNvPr id="66" name="Line 71"/>
            <p:cNvSpPr>
              <a:spLocks noChangeShapeType="1"/>
            </p:cNvSpPr>
            <p:nvPr/>
          </p:nvSpPr>
          <p:spPr bwMode="auto">
            <a:xfrm flipH="1" flipV="1">
              <a:off x="3935" y="1289"/>
              <a:ext cx="102" cy="424"/>
            </a:xfrm>
            <a:prstGeom prst="line">
              <a:avLst/>
            </a:prstGeom>
            <a:noFill/>
            <a:ln w="9525">
              <a:solidFill>
                <a:srgbClr val="000000"/>
              </a:solidFill>
              <a:prstDash val="dash"/>
              <a:round/>
              <a:headEnd/>
              <a:tailEnd type="triangle" w="sm" len="sm"/>
            </a:ln>
          </p:spPr>
          <p:txBody>
            <a:bodyPr/>
            <a:lstStyle/>
            <a:p>
              <a:endParaRPr lang="zh-CN" altLang="en-US"/>
            </a:p>
          </p:txBody>
        </p:sp>
        <p:sp>
          <p:nvSpPr>
            <p:cNvPr id="67" name="Rectangle 72"/>
            <p:cNvSpPr>
              <a:spLocks noChangeArrowheads="1"/>
            </p:cNvSpPr>
            <p:nvPr/>
          </p:nvSpPr>
          <p:spPr bwMode="auto">
            <a:xfrm>
              <a:off x="2936" y="2500"/>
              <a:ext cx="1609" cy="190"/>
            </a:xfrm>
            <a:prstGeom prst="rect">
              <a:avLst/>
            </a:prstGeom>
            <a:noFill/>
            <a:ln w="9525">
              <a:noFill/>
              <a:miter lim="800000"/>
              <a:headEnd/>
              <a:tailEnd/>
            </a:ln>
          </p:spPr>
          <p:txBody>
            <a:bodyPr lIns="0" tIns="0" rIns="0" bIns="0"/>
            <a:lstStyle/>
            <a:p>
              <a:pPr algn="ctr"/>
              <a:r>
                <a:rPr lang="en-US" altLang="zh-CN" sz="1400" dirty="0">
                  <a:latin typeface="黑体" pitchFamily="49" charset="-122"/>
                  <a:ea typeface="黑体" pitchFamily="49" charset="-122"/>
                </a:rPr>
                <a:t>(b) </a:t>
              </a:r>
              <a:r>
                <a:rPr lang="zh-CN" altLang="en-US" sz="1400" dirty="0">
                  <a:latin typeface="黑体" pitchFamily="49" charset="-122"/>
                  <a:ea typeface="黑体" pitchFamily="49" charset="-122"/>
                </a:rPr>
                <a:t>中序线索链表</a:t>
              </a:r>
            </a:p>
          </p:txBody>
        </p:sp>
        <p:sp>
          <p:nvSpPr>
            <p:cNvPr id="68" name="Rectangle 73"/>
            <p:cNvSpPr>
              <a:spLocks noChangeArrowheads="1"/>
            </p:cNvSpPr>
            <p:nvPr/>
          </p:nvSpPr>
          <p:spPr bwMode="auto">
            <a:xfrm>
              <a:off x="2099" y="2791"/>
              <a:ext cx="2588" cy="233"/>
            </a:xfrm>
            <a:prstGeom prst="rect">
              <a:avLst/>
            </a:prstGeom>
            <a:noFill/>
            <a:ln w="9525">
              <a:noFill/>
              <a:miter lim="800000"/>
              <a:headEnd/>
              <a:tailEnd/>
            </a:ln>
          </p:spPr>
          <p:txBody>
            <a:bodyPr lIns="0" tIns="0" rIns="0" bIns="0"/>
            <a:lstStyle/>
            <a:p>
              <a:pPr algn="ctr"/>
              <a:r>
                <a:rPr lang="zh-CN" altLang="en-US" sz="1400" dirty="0">
                  <a:latin typeface="黑体" pitchFamily="49" charset="-122"/>
                  <a:ea typeface="黑体" pitchFamily="49" charset="-122"/>
                </a:rPr>
                <a:t>中序线索二叉树及其存储结构示例</a:t>
              </a:r>
            </a:p>
          </p:txBody>
        </p:sp>
      </p:gr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 </a:t>
            </a:r>
            <a:r>
              <a:rPr lang="zh-CN" altLang="zh-CN" b="1" dirty="0"/>
              <a:t>二叉树应用</a:t>
            </a:r>
            <a:r>
              <a:rPr lang="en-US" altLang="zh-CN" b="1" dirty="0"/>
              <a:t>1</a:t>
            </a:r>
            <a:r>
              <a:rPr lang="zh-CN" altLang="zh-CN" b="1" dirty="0"/>
              <a:t>：哈夫曼树</a:t>
            </a:r>
            <a:endParaRPr lang="zh-CN" altLang="en-US" dirty="0"/>
          </a:p>
        </p:txBody>
      </p:sp>
      <p:sp>
        <p:nvSpPr>
          <p:cNvPr id="3" name="内容占位符 2"/>
          <p:cNvSpPr>
            <a:spLocks noGrp="1"/>
          </p:cNvSpPr>
          <p:nvPr>
            <p:ph idx="1"/>
          </p:nvPr>
        </p:nvSpPr>
        <p:spPr/>
        <p:txBody>
          <a:bodyPr/>
          <a:lstStyle/>
          <a:p>
            <a:r>
              <a:rPr lang="zh-CN" altLang="zh-CN" dirty="0">
                <a:solidFill>
                  <a:srgbClr val="FF0000"/>
                </a:solidFill>
              </a:rPr>
              <a:t>哈夫曼</a:t>
            </a:r>
            <a:r>
              <a:rPr lang="en-US" altLang="zh-CN" dirty="0">
                <a:solidFill>
                  <a:srgbClr val="FF0000"/>
                </a:solidFill>
              </a:rPr>
              <a:t>(Huffman)</a:t>
            </a:r>
            <a:r>
              <a:rPr lang="zh-CN" altLang="zh-CN" dirty="0">
                <a:solidFill>
                  <a:srgbClr val="FF0000"/>
                </a:solidFill>
              </a:rPr>
              <a:t>树</a:t>
            </a:r>
            <a:r>
              <a:rPr lang="zh-CN" altLang="zh-CN" b="0" dirty="0"/>
              <a:t>又称</a:t>
            </a:r>
            <a:r>
              <a:rPr lang="zh-CN" altLang="zh-CN" dirty="0">
                <a:solidFill>
                  <a:srgbClr val="FF0000"/>
                </a:solidFill>
              </a:rPr>
              <a:t>最优二叉树</a:t>
            </a:r>
            <a:r>
              <a:rPr lang="zh-CN" altLang="zh-CN" b="0" dirty="0"/>
              <a:t>，</a:t>
            </a:r>
            <a:endParaRPr lang="en-US" altLang="zh-CN" b="0" dirty="0"/>
          </a:p>
          <a:p>
            <a:r>
              <a:rPr lang="zh-CN" altLang="zh-CN" b="0" dirty="0"/>
              <a:t>由</a:t>
            </a:r>
            <a:r>
              <a:rPr lang="en-US" altLang="zh-CN" b="0" dirty="0"/>
              <a:t>Huffman</a:t>
            </a:r>
            <a:r>
              <a:rPr lang="zh-CN" altLang="zh-CN" b="0" dirty="0"/>
              <a:t>在</a:t>
            </a:r>
            <a:r>
              <a:rPr lang="en-US" altLang="zh-CN" b="0" dirty="0"/>
              <a:t>1952</a:t>
            </a:r>
            <a:r>
              <a:rPr lang="zh-CN" altLang="zh-CN" b="0" dirty="0"/>
              <a:t>年提出，是带权路径长度最短的树</a:t>
            </a:r>
            <a:r>
              <a:rPr lang="zh-CN" altLang="en-US" b="0" dirty="0"/>
              <a:t>。</a:t>
            </a:r>
          </a:p>
        </p:txBody>
      </p:sp>
      <p:sp>
        <p:nvSpPr>
          <p:cNvPr id="4" name="矩形 3"/>
          <p:cNvSpPr/>
          <p:nvPr/>
        </p:nvSpPr>
        <p:spPr>
          <a:xfrm>
            <a:off x="971600" y="3284984"/>
            <a:ext cx="7776864" cy="1477328"/>
          </a:xfrm>
          <a:prstGeom prst="rect">
            <a:avLst/>
          </a:prstGeom>
        </p:spPr>
        <p:txBody>
          <a:bodyPr wrap="square">
            <a:spAutoFit/>
          </a:bodyPr>
          <a:lstStyle/>
          <a:p>
            <a:pPr>
              <a:lnSpc>
                <a:spcPct val="150000"/>
              </a:lnSpc>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哈夫曼树定义：</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假设有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个结点，每个结点的权值分别为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，构造一棵以这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个结点为叶子结点的二叉树，则其中</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带权路径长度</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WPL</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最小的二叉树称为哈夫曼树或最优二叉树</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217176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5.4.1 </a:t>
            </a:r>
            <a:r>
              <a:rPr lang="zh-CN" altLang="zh-CN" b="1" dirty="0"/>
              <a:t>哈夫曼树的构造</a:t>
            </a:r>
            <a:endParaRPr lang="zh-CN" altLang="en-US" dirty="0"/>
          </a:p>
        </p:txBody>
      </p:sp>
      <p:sp>
        <p:nvSpPr>
          <p:cNvPr id="3" name="内容占位符 2"/>
          <p:cNvSpPr>
            <a:spLocks noGrp="1"/>
          </p:cNvSpPr>
          <p:nvPr>
            <p:ph idx="1"/>
          </p:nvPr>
        </p:nvSpPr>
        <p:spPr>
          <a:xfrm>
            <a:off x="357158" y="1714488"/>
            <a:ext cx="7000924" cy="4104456"/>
          </a:xfrm>
        </p:spPr>
        <p:txBody>
          <a:bodyPr>
            <a:normAutofit fontScale="92500" lnSpcReduction="10000"/>
          </a:bodyPr>
          <a:lstStyle/>
          <a:p>
            <a:r>
              <a:rPr lang="en-US" altLang="zh-CN" b="0" dirty="0"/>
              <a:t>	1. </a:t>
            </a:r>
            <a:r>
              <a:rPr lang="zh-CN" altLang="zh-CN" b="0" dirty="0"/>
              <a:t>相关术语：</a:t>
            </a:r>
          </a:p>
          <a:p>
            <a:r>
              <a:rPr lang="en-US" altLang="zh-CN" b="0" dirty="0"/>
              <a:t>	(1) </a:t>
            </a:r>
            <a:r>
              <a:rPr lang="zh-CN" altLang="zh-CN" dirty="0">
                <a:solidFill>
                  <a:srgbClr val="FF0000"/>
                </a:solidFill>
              </a:rPr>
              <a:t>路径：</a:t>
            </a:r>
            <a:r>
              <a:rPr lang="zh-CN" altLang="zh-CN" b="0" dirty="0"/>
              <a:t>从树中一个结点到另一个结点之间的分支构成这两个结点间的路径。</a:t>
            </a:r>
            <a:endParaRPr lang="en-US" altLang="zh-CN" b="0" dirty="0"/>
          </a:p>
          <a:p>
            <a:r>
              <a:rPr lang="en-US" altLang="zh-CN" b="0" dirty="0"/>
              <a:t>		</a:t>
            </a:r>
            <a:r>
              <a:rPr lang="zh-CN" altLang="zh-CN" sz="2200" b="0" dirty="0"/>
              <a:t>二叉树</a:t>
            </a:r>
            <a:r>
              <a:rPr lang="en-US" altLang="zh-CN" sz="2200" b="0" dirty="0"/>
              <a:t>T</a:t>
            </a:r>
            <a:r>
              <a:rPr lang="en-US" altLang="zh-CN" sz="2200" b="0" baseline="-25000" dirty="0"/>
              <a:t>7</a:t>
            </a:r>
            <a:r>
              <a:rPr lang="zh-CN" altLang="zh-CN" sz="2200" b="0" dirty="0"/>
              <a:t>，从结点</a:t>
            </a:r>
            <a:r>
              <a:rPr lang="en-US" altLang="zh-CN" sz="2200" b="0" dirty="0"/>
              <a:t>A</a:t>
            </a:r>
            <a:r>
              <a:rPr lang="zh-CN" altLang="zh-CN" sz="2200" b="0" dirty="0"/>
              <a:t>到结点</a:t>
            </a:r>
            <a:r>
              <a:rPr lang="en-US" altLang="zh-CN" sz="2200" b="0" dirty="0"/>
              <a:t>F</a:t>
            </a:r>
            <a:r>
              <a:rPr lang="zh-CN" altLang="zh-CN" sz="2200" b="0" dirty="0"/>
              <a:t>的路径为：</a:t>
            </a:r>
            <a:r>
              <a:rPr lang="en-US" altLang="zh-CN" sz="2200" b="0" dirty="0"/>
              <a:t>A→B→D→F</a:t>
            </a:r>
            <a:r>
              <a:rPr lang="zh-CN" altLang="zh-CN" sz="2200" b="0" dirty="0"/>
              <a:t>。</a:t>
            </a:r>
          </a:p>
          <a:p>
            <a:r>
              <a:rPr lang="en-US" altLang="zh-CN" b="0" dirty="0"/>
              <a:t>	(2) </a:t>
            </a:r>
            <a:r>
              <a:rPr lang="zh-CN" altLang="zh-CN" dirty="0">
                <a:solidFill>
                  <a:srgbClr val="FF0000"/>
                </a:solidFill>
              </a:rPr>
              <a:t>路径长度</a:t>
            </a:r>
            <a:r>
              <a:rPr lang="zh-CN" altLang="zh-CN" b="0" dirty="0">
                <a:solidFill>
                  <a:srgbClr val="FF0000"/>
                </a:solidFill>
              </a:rPr>
              <a:t>：</a:t>
            </a:r>
            <a:r>
              <a:rPr lang="zh-CN" altLang="zh-CN" b="0" dirty="0"/>
              <a:t>路径上的分支数称为路径长度。</a:t>
            </a:r>
            <a:r>
              <a:rPr lang="en-US" altLang="zh-CN" b="0" dirty="0"/>
              <a:t>(</a:t>
            </a:r>
            <a:r>
              <a:rPr lang="zh-CN" altLang="en-US" b="0" dirty="0"/>
              <a:t>边数</a:t>
            </a:r>
            <a:r>
              <a:rPr lang="en-US" altLang="zh-CN" b="0" dirty="0"/>
              <a:t>)</a:t>
            </a:r>
          </a:p>
          <a:p>
            <a:r>
              <a:rPr lang="en-US" altLang="zh-CN" b="0" dirty="0"/>
              <a:t>		</a:t>
            </a:r>
            <a:r>
              <a:rPr lang="zh-CN" altLang="zh-CN" b="0" dirty="0"/>
              <a:t>结点</a:t>
            </a:r>
            <a:r>
              <a:rPr lang="en-US" altLang="zh-CN" b="0" dirty="0"/>
              <a:t>A</a:t>
            </a:r>
            <a:r>
              <a:rPr lang="zh-CN" altLang="zh-CN" b="0" dirty="0"/>
              <a:t>到结点</a:t>
            </a:r>
            <a:r>
              <a:rPr lang="en-US" altLang="zh-CN" b="0" dirty="0"/>
              <a:t>F</a:t>
            </a:r>
            <a:r>
              <a:rPr lang="zh-CN" altLang="zh-CN" b="0" dirty="0"/>
              <a:t>的路径长度为</a:t>
            </a:r>
            <a:r>
              <a:rPr lang="en-US" altLang="zh-CN" b="0" dirty="0"/>
              <a:t>3</a:t>
            </a:r>
            <a:r>
              <a:rPr lang="zh-CN" altLang="zh-CN" b="0" dirty="0"/>
              <a:t>。</a:t>
            </a:r>
          </a:p>
          <a:p>
            <a:r>
              <a:rPr lang="en-US" altLang="zh-CN" b="0" dirty="0"/>
              <a:t>	(3) </a:t>
            </a:r>
            <a:r>
              <a:rPr lang="zh-CN" altLang="zh-CN" dirty="0">
                <a:solidFill>
                  <a:srgbClr val="FF0000"/>
                </a:solidFill>
              </a:rPr>
              <a:t>树的路径长度</a:t>
            </a:r>
            <a:r>
              <a:rPr lang="zh-CN" altLang="zh-CN" b="0" dirty="0"/>
              <a:t>：从树的根结点到每个</a:t>
            </a:r>
            <a:r>
              <a:rPr lang="zh-CN" altLang="en-US" b="0" dirty="0"/>
              <a:t>叶子</a:t>
            </a:r>
            <a:r>
              <a:rPr lang="zh-CN" altLang="zh-CN" b="0" dirty="0"/>
              <a:t>结点的路径长度之和称为树的路径长度。</a:t>
            </a:r>
            <a:endParaRPr lang="en-US" altLang="zh-CN" b="0" dirty="0"/>
          </a:p>
          <a:p>
            <a:r>
              <a:rPr lang="en-US" altLang="zh-CN" b="0" dirty="0"/>
              <a:t>		</a:t>
            </a:r>
            <a:r>
              <a:rPr lang="zh-CN" altLang="zh-CN" b="0" dirty="0"/>
              <a:t>该树的路径长度为</a:t>
            </a:r>
            <a:r>
              <a:rPr lang="en-US" altLang="zh-CN" b="0" dirty="0"/>
              <a:t>2+3+3+1=9</a:t>
            </a:r>
            <a:r>
              <a:rPr lang="zh-CN" altLang="zh-CN" b="0" dirty="0"/>
              <a:t>。</a:t>
            </a:r>
            <a:endParaRPr lang="zh-CN" altLang="en-US"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288" y="4005064"/>
            <a:ext cx="1945926" cy="2260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84088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85720" y="1071546"/>
            <a:ext cx="6286544" cy="4357718"/>
          </a:xfrm>
        </p:spPr>
        <p:txBody>
          <a:bodyPr>
            <a:normAutofit lnSpcReduction="10000"/>
          </a:bodyPr>
          <a:lstStyle/>
          <a:p>
            <a:r>
              <a:rPr lang="en-US" sz="2200" b="0" dirty="0"/>
              <a:t>	(4) </a:t>
            </a:r>
            <a:r>
              <a:rPr lang="zh-CN" altLang="en-US" sz="2200" dirty="0">
                <a:solidFill>
                  <a:srgbClr val="FF0000"/>
                </a:solidFill>
              </a:rPr>
              <a:t>叶子的带权路径长度：</a:t>
            </a:r>
            <a:r>
              <a:rPr lang="zh-CN" altLang="en-US" sz="2200" b="0" dirty="0"/>
              <a:t>从该叶结点到树的根结点的路径长度与该结点的权的乘积称为该结点的带权路径长度。</a:t>
            </a:r>
            <a:endParaRPr lang="en-US" altLang="zh-CN" sz="2200" b="0" dirty="0"/>
          </a:p>
          <a:p>
            <a:r>
              <a:rPr lang="en-US" altLang="zh-CN" sz="2200" b="0" dirty="0"/>
              <a:t>		</a:t>
            </a:r>
            <a:r>
              <a:rPr lang="zh-CN" altLang="en-US" sz="2000" b="0" dirty="0"/>
              <a:t>叶子结点</a:t>
            </a:r>
            <a:r>
              <a:rPr lang="en-US" sz="2000" b="0" dirty="0"/>
              <a:t>G</a:t>
            </a:r>
            <a:r>
              <a:rPr lang="zh-CN" altLang="en-US" sz="2000" b="0" dirty="0"/>
              <a:t>的带权路径长度为：</a:t>
            </a:r>
            <a:r>
              <a:rPr lang="en-US" sz="2000" b="0" dirty="0"/>
              <a:t>3*5=15</a:t>
            </a:r>
            <a:r>
              <a:rPr lang="zh-CN" altLang="en-US" sz="2000" b="0" dirty="0"/>
              <a:t>。</a:t>
            </a:r>
          </a:p>
          <a:p>
            <a:r>
              <a:rPr lang="en-US" sz="2200" b="0" dirty="0"/>
              <a:t>	(5) </a:t>
            </a:r>
            <a:r>
              <a:rPr lang="zh-CN" altLang="en-US" sz="2200" dirty="0">
                <a:solidFill>
                  <a:srgbClr val="FF0000"/>
                </a:solidFill>
              </a:rPr>
              <a:t>树的带权路径长度：</a:t>
            </a:r>
            <a:r>
              <a:rPr lang="zh-CN" altLang="en-US" sz="2200" b="0" dirty="0"/>
              <a:t>树中所有叶子结点的带权路径长度之和为树的带权路径长度，记作：</a:t>
            </a:r>
            <a:endParaRPr lang="en-US" altLang="zh-CN" sz="2200" b="0" dirty="0"/>
          </a:p>
          <a:p>
            <a:endParaRPr lang="en-US" altLang="zh-CN" sz="2200" b="0" dirty="0"/>
          </a:p>
          <a:p>
            <a:endParaRPr lang="en-US" altLang="zh-CN" sz="2200" b="0" dirty="0"/>
          </a:p>
          <a:p>
            <a:r>
              <a:rPr lang="zh-CN" altLang="en-US" sz="2000" dirty="0"/>
              <a:t>   图中</a:t>
            </a:r>
            <a:r>
              <a:rPr lang="zh-CN" altLang="en-US" sz="2000" b="0" dirty="0"/>
              <a:t>树的带权路径长度：</a:t>
            </a:r>
            <a:endParaRPr lang="en-US" altLang="zh-CN" sz="2000" b="0" dirty="0"/>
          </a:p>
          <a:p>
            <a:r>
              <a:rPr lang="en-US" sz="2000" b="0" i="1" dirty="0"/>
              <a:t>           WPL</a:t>
            </a:r>
            <a:r>
              <a:rPr lang="en-US" sz="2000" b="0" dirty="0"/>
              <a:t>=2*2+4*3+5*3+7*1=38</a:t>
            </a:r>
            <a:endParaRPr lang="zh-CN" altLang="en-US" sz="2000" b="0" dirty="0"/>
          </a:p>
          <a:p>
            <a:endParaRPr lang="zh-CN" altLang="en-US" sz="2200" b="0" dirty="0"/>
          </a:p>
          <a:p>
            <a:endParaRPr lang="zh-CN" altLang="en-US"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72264" y="2000240"/>
            <a:ext cx="2160240" cy="2509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85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8547" name="Rectangle 3"/>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pic>
        <p:nvPicPr>
          <p:cNvPr id="108548" name="Picture 4"/>
          <p:cNvPicPr>
            <a:picLocks noChangeAspect="1" noChangeArrowheads="1"/>
          </p:cNvPicPr>
          <p:nvPr/>
        </p:nvPicPr>
        <p:blipFill>
          <a:blip r:embed="rId3" cstate="print"/>
          <a:srcRect/>
          <a:stretch>
            <a:fillRect/>
          </a:stretch>
        </p:blipFill>
        <p:spPr bwMode="auto">
          <a:xfrm>
            <a:off x="2786050" y="3571876"/>
            <a:ext cx="2040543" cy="1071570"/>
          </a:xfrm>
          <a:prstGeom prst="rect">
            <a:avLst/>
          </a:prstGeom>
          <a:noFill/>
          <a:ln w="9525">
            <a:noFill/>
            <a:miter lim="800000"/>
            <a:headEnd/>
            <a:tailEnd/>
          </a:ln>
          <a:effectLst/>
        </p:spPr>
      </p:pic>
    </p:spTree>
    <p:extLst>
      <p:ext uri="{BB962C8B-B14F-4D97-AF65-F5344CB8AC3E}">
        <p14:creationId xmlns:p14="http://schemas.microsoft.com/office/powerpoint/2010/main" val="40203364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4143380"/>
            <a:ext cx="7988526" cy="2164800"/>
          </a:xfrm>
        </p:spPr>
        <p:txBody>
          <a:bodyPr>
            <a:normAutofit fontScale="77500" lnSpcReduction="20000"/>
          </a:bodyPr>
          <a:lstStyle/>
          <a:p>
            <a:r>
              <a:rPr lang="zh-CN" altLang="zh-CN" b="0" dirty="0"/>
              <a:t>它们的带权路径长度分别为：</a:t>
            </a:r>
          </a:p>
          <a:p>
            <a:r>
              <a:rPr lang="en-US" altLang="zh-CN" b="0" dirty="0"/>
              <a:t>	(a) </a:t>
            </a:r>
            <a:r>
              <a:rPr lang="en-US" altLang="zh-CN" b="0" i="1" dirty="0"/>
              <a:t>WPL</a:t>
            </a:r>
            <a:r>
              <a:rPr lang="en-US" altLang="zh-CN" b="0" dirty="0"/>
              <a:t> = 8×2 + 3×2 + 4×2 + 6×2 = 42</a:t>
            </a:r>
            <a:endParaRPr lang="zh-CN" altLang="zh-CN" b="0" dirty="0"/>
          </a:p>
          <a:p>
            <a:r>
              <a:rPr lang="en-US" altLang="zh-CN" b="0" dirty="0"/>
              <a:t>	(b)</a:t>
            </a:r>
            <a:r>
              <a:rPr lang="en-US" altLang="zh-CN" b="0" i="1" dirty="0"/>
              <a:t> WPL</a:t>
            </a:r>
            <a:r>
              <a:rPr lang="en-US" altLang="zh-CN" b="0" dirty="0"/>
              <a:t> = 8×2 + 3×1 + 4×3 + 6×3 = 49</a:t>
            </a:r>
            <a:endParaRPr lang="zh-CN" altLang="zh-CN" b="0" dirty="0"/>
          </a:p>
          <a:p>
            <a:r>
              <a:rPr lang="en-US" altLang="zh-CN" b="0" dirty="0"/>
              <a:t>	(c)</a:t>
            </a:r>
            <a:r>
              <a:rPr lang="en-US" altLang="zh-CN" b="0" i="1" dirty="0"/>
              <a:t> WPL</a:t>
            </a:r>
            <a:r>
              <a:rPr lang="en-US" altLang="zh-CN" b="0" dirty="0"/>
              <a:t> = 8×1 + 3×3 + 4×3 + 6×2 = 41</a:t>
            </a:r>
            <a:endParaRPr lang="zh-CN" altLang="zh-CN" b="0" dirty="0"/>
          </a:p>
          <a:p>
            <a:r>
              <a:rPr lang="en-US" altLang="zh-CN" b="0" dirty="0"/>
              <a:t>	</a:t>
            </a:r>
            <a:r>
              <a:rPr lang="zh-CN" altLang="zh-CN" b="0" dirty="0"/>
              <a:t>其中，</a:t>
            </a:r>
            <a:r>
              <a:rPr lang="en-US" altLang="zh-CN" b="0" dirty="0"/>
              <a:t>5-18(c)</a:t>
            </a:r>
            <a:r>
              <a:rPr lang="zh-CN" altLang="zh-CN" b="0" dirty="0"/>
              <a:t>所示二叉树的</a:t>
            </a:r>
            <a:r>
              <a:rPr lang="en-US" altLang="zh-CN" b="0" i="1" dirty="0"/>
              <a:t>WPL</a:t>
            </a:r>
            <a:r>
              <a:rPr lang="zh-CN" altLang="zh-CN" b="0" dirty="0"/>
              <a:t>值最小，可以证明，它就是哈夫曼树。</a:t>
            </a:r>
            <a:endParaRPr lang="zh-CN" altLang="en-US" b="0" dirty="0"/>
          </a:p>
        </p:txBody>
      </p:sp>
      <p:sp>
        <p:nvSpPr>
          <p:cNvPr id="4" name="矩形 3"/>
          <p:cNvSpPr/>
          <p:nvPr/>
        </p:nvSpPr>
        <p:spPr>
          <a:xfrm>
            <a:off x="928662" y="857232"/>
            <a:ext cx="7929618" cy="1477328"/>
          </a:xfrm>
          <a:prstGeom prst="rect">
            <a:avLst/>
          </a:prstGeom>
        </p:spPr>
        <p:txBody>
          <a:bodyPr wrap="square">
            <a:spAutoFit/>
          </a:bodyPr>
          <a:lstStyle/>
          <a:p>
            <a:pPr>
              <a:lnSpc>
                <a:spcPct val="15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(6) </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哈夫曼树：</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假设有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个结点，每个结点的权值分别为</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，构造一棵以这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个结点为叶子结点的二叉树，则其中</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带权路径长度</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WPL</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最小的二叉树称为哈夫曼树或最优二叉树</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p:txBody>
      </p:sp>
      <p:pic>
        <p:nvPicPr>
          <p:cNvPr id="107522" name="Picture 2"/>
          <p:cNvPicPr>
            <a:picLocks noChangeAspect="1" noChangeArrowheads="1"/>
          </p:cNvPicPr>
          <p:nvPr/>
        </p:nvPicPr>
        <p:blipFill>
          <a:blip r:embed="rId2" cstate="print"/>
          <a:srcRect/>
          <a:stretch>
            <a:fillRect/>
          </a:stretch>
        </p:blipFill>
        <p:spPr bwMode="auto">
          <a:xfrm>
            <a:off x="3707904" y="2357430"/>
            <a:ext cx="4701996" cy="1928826"/>
          </a:xfrm>
          <a:prstGeom prst="rect">
            <a:avLst/>
          </a:prstGeom>
          <a:noFill/>
          <a:ln w="9525">
            <a:noFill/>
            <a:miter lim="800000"/>
            <a:headEnd/>
            <a:tailEnd/>
          </a:ln>
          <a:effectLst/>
        </p:spPr>
      </p:pic>
    </p:spTree>
    <p:extLst>
      <p:ext uri="{BB962C8B-B14F-4D97-AF65-F5344CB8AC3E}">
        <p14:creationId xmlns:p14="http://schemas.microsoft.com/office/powerpoint/2010/main" val="14743529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692696"/>
            <a:ext cx="7520940" cy="1296143"/>
          </a:xfrm>
        </p:spPr>
        <p:txBody>
          <a:bodyPr/>
          <a:lstStyle/>
          <a:p>
            <a:r>
              <a:rPr lang="en-US" altLang="zh-CN" sz="2000" dirty="0">
                <a:sym typeface="Wingdings 2"/>
              </a:rPr>
              <a:t></a:t>
            </a:r>
            <a:r>
              <a:rPr lang="zh-CN" altLang="zh-CN" sz="2000" dirty="0">
                <a:solidFill>
                  <a:srgbClr val="FF0000"/>
                </a:solidFill>
              </a:rPr>
              <a:t>构造哈夫曼树的基本思想：</a:t>
            </a:r>
            <a:br>
              <a:rPr lang="zh-CN" altLang="zh-CN" sz="2000" dirty="0"/>
            </a:br>
            <a:r>
              <a:rPr lang="zh-CN" altLang="zh-CN" sz="2000" dirty="0">
                <a:latin typeface="楷体" pitchFamily="49" charset="-122"/>
                <a:ea typeface="楷体" pitchFamily="49" charset="-122"/>
              </a:rPr>
              <a:t>让权值越大的叶子结点离根结点的距离越近，而权值越小的叶子结点离根结点的距离越远。</a:t>
            </a:r>
            <a:endParaRPr lang="zh-CN" altLang="en-US" dirty="0">
              <a:latin typeface="楷体" pitchFamily="49" charset="-122"/>
              <a:ea typeface="楷体" pitchFamily="49" charset="-122"/>
            </a:endParaRPr>
          </a:p>
        </p:txBody>
      </p:sp>
      <p:sp>
        <p:nvSpPr>
          <p:cNvPr id="4" name="内容占位符 3"/>
          <p:cNvSpPr>
            <a:spLocks noGrp="1"/>
          </p:cNvSpPr>
          <p:nvPr>
            <p:ph idx="1"/>
          </p:nvPr>
        </p:nvSpPr>
        <p:spPr>
          <a:xfrm>
            <a:off x="714348" y="2000240"/>
            <a:ext cx="8322148" cy="4214842"/>
          </a:xfrm>
        </p:spPr>
        <p:txBody>
          <a:bodyPr>
            <a:normAutofit fontScale="85000" lnSpcReduction="20000"/>
          </a:bodyPr>
          <a:lstStyle/>
          <a:p>
            <a:r>
              <a:rPr lang="en-US" sz="2600" dirty="0"/>
              <a:t>2. </a:t>
            </a:r>
            <a:r>
              <a:rPr lang="zh-CN" altLang="en-US" sz="2600" dirty="0"/>
              <a:t>哈夫曼树的构造过程</a:t>
            </a:r>
            <a:endParaRPr lang="en-US" altLang="zh-CN" sz="2600" dirty="0"/>
          </a:p>
          <a:p>
            <a:r>
              <a:rPr lang="zh-CN" altLang="en-US" dirty="0">
                <a:solidFill>
                  <a:srgbClr val="FF0000"/>
                </a:solidFill>
              </a:rPr>
              <a:t>基本算法如下：</a:t>
            </a:r>
            <a:endParaRPr lang="en-US" altLang="zh-CN" dirty="0">
              <a:solidFill>
                <a:srgbClr val="FF0000"/>
              </a:solidFill>
            </a:endParaRPr>
          </a:p>
          <a:p>
            <a:r>
              <a:rPr lang="en-US" b="0" dirty="0"/>
              <a:t>(1) </a:t>
            </a:r>
            <a:r>
              <a:rPr lang="zh-CN" altLang="en-US" b="0" dirty="0"/>
              <a:t>由给定的</a:t>
            </a:r>
            <a:r>
              <a:rPr lang="en-US" b="0" dirty="0"/>
              <a:t>n</a:t>
            </a:r>
            <a:r>
              <a:rPr lang="zh-CN" altLang="en-US" b="0" dirty="0"/>
              <a:t>个权值</a:t>
            </a:r>
            <a:r>
              <a:rPr lang="en-US" b="0" dirty="0"/>
              <a:t>{</a:t>
            </a:r>
            <a:r>
              <a:rPr lang="en-US" b="0" i="1" dirty="0"/>
              <a:t>w</a:t>
            </a:r>
            <a:r>
              <a:rPr lang="en-US" b="0" i="1" baseline="-25000" dirty="0"/>
              <a:t>1</a:t>
            </a:r>
            <a:r>
              <a:rPr lang="en-US" b="0" i="1" dirty="0"/>
              <a:t>, w</a:t>
            </a:r>
            <a:r>
              <a:rPr lang="en-US" b="0" i="1" baseline="-25000" dirty="0"/>
              <a:t>2</a:t>
            </a:r>
            <a:r>
              <a:rPr lang="en-US" b="0" i="1" dirty="0"/>
              <a:t>, …, </a:t>
            </a:r>
            <a:r>
              <a:rPr lang="en-US" b="0" i="1" dirty="0" err="1"/>
              <a:t>w</a:t>
            </a:r>
            <a:r>
              <a:rPr lang="en-US" b="0" i="1" baseline="-25000" dirty="0" err="1"/>
              <a:t>n</a:t>
            </a:r>
            <a:r>
              <a:rPr lang="en-US" b="0" dirty="0"/>
              <a:t>}</a:t>
            </a:r>
            <a:r>
              <a:rPr lang="zh-CN" altLang="en-US" b="0" dirty="0"/>
              <a:t>构成有</a:t>
            </a:r>
            <a:r>
              <a:rPr lang="en-US" b="0" dirty="0"/>
              <a:t>n</a:t>
            </a:r>
            <a:r>
              <a:rPr lang="zh-CN" altLang="en-US" b="0" dirty="0"/>
              <a:t>棵二叉树的森林，其中每棵二叉树分别都是只含有一个带权为</a:t>
            </a:r>
            <a:r>
              <a:rPr lang="en-US" altLang="zh-CN" b="0" i="1" dirty="0" err="1"/>
              <a:t>w</a:t>
            </a:r>
            <a:r>
              <a:rPr lang="en-US" altLang="zh-CN" b="0" i="1" baseline="-25000" dirty="0" err="1"/>
              <a:t>i</a:t>
            </a:r>
            <a:r>
              <a:rPr lang="zh-CN" altLang="en-US" b="0" dirty="0"/>
              <a:t>的单根结点，其左右子树均为空。</a:t>
            </a:r>
          </a:p>
          <a:p>
            <a:r>
              <a:rPr lang="en-US" b="0" dirty="0"/>
              <a:t>(2) </a:t>
            </a:r>
            <a:r>
              <a:rPr lang="zh-CN" altLang="en-US" b="0" dirty="0"/>
              <a:t>在森林中选取根结点的权值最小的两棵二叉树，分别作为左右子树构造一棵新的二叉树，新的二叉树的根结点的权值为其左右子树上根结点的权值之和。</a:t>
            </a:r>
          </a:p>
          <a:p>
            <a:r>
              <a:rPr lang="en-US" b="0" dirty="0"/>
              <a:t>(3) </a:t>
            </a:r>
            <a:r>
              <a:rPr lang="zh-CN" altLang="en-US" b="0" dirty="0"/>
              <a:t>从森林中删除</a:t>
            </a:r>
            <a:r>
              <a:rPr lang="en-US" b="0" dirty="0"/>
              <a:t>(2)</a:t>
            </a:r>
            <a:r>
              <a:rPr lang="zh-CN" altLang="en-US" b="0" dirty="0"/>
              <a:t>中选取的两棵树，同时将新得到的二叉树加入到森林中，此时森林中还有</a:t>
            </a:r>
            <a:r>
              <a:rPr lang="en-US" b="0" dirty="0"/>
              <a:t>n-1</a:t>
            </a:r>
            <a:r>
              <a:rPr lang="zh-CN" altLang="en-US" b="0" dirty="0"/>
              <a:t>棵树。</a:t>
            </a:r>
          </a:p>
          <a:p>
            <a:r>
              <a:rPr lang="en-US" b="0" dirty="0"/>
              <a:t>(4) </a:t>
            </a:r>
            <a:r>
              <a:rPr lang="zh-CN" altLang="en-US" b="0" dirty="0"/>
              <a:t>重复步骤</a:t>
            </a:r>
            <a:r>
              <a:rPr lang="en-US" b="0" dirty="0"/>
              <a:t>(2)</a:t>
            </a:r>
            <a:r>
              <a:rPr lang="zh-CN" altLang="en-US" b="0" dirty="0"/>
              <a:t>和</a:t>
            </a:r>
            <a:r>
              <a:rPr lang="en-US" b="0" dirty="0"/>
              <a:t>(3)</a:t>
            </a:r>
            <a:r>
              <a:rPr lang="zh-CN" altLang="en-US" b="0" dirty="0"/>
              <a:t>，直到森林中只剩一棵树为止，该树即为所求得的哈夫曼树。</a:t>
            </a:r>
            <a:endParaRPr lang="zh-CN" altLang="en-US" dirty="0"/>
          </a:p>
          <a:p>
            <a:endParaRPr lang="zh-CN" altLang="en-US" dirty="0"/>
          </a:p>
        </p:txBody>
      </p:sp>
      <p:pic>
        <p:nvPicPr>
          <p:cNvPr id="6" name="图片 5"/>
          <p:cNvPicPr/>
          <p:nvPr/>
        </p:nvPicPr>
        <p:blipFill>
          <a:blip r:embed="rId2" cstate="print">
            <a:extLst>
              <a:ext uri="{28A0092B-C50C-407E-A947-70E740481C1C}">
                <a14:useLocalDpi xmlns:a14="http://schemas.microsoft.com/office/drawing/2010/main" val="0"/>
              </a:ext>
            </a:extLst>
          </a:blip>
          <a:stretch>
            <a:fillRect/>
          </a:stretch>
        </p:blipFill>
        <p:spPr>
          <a:xfrm>
            <a:off x="8143900" y="357166"/>
            <a:ext cx="469900" cy="469900"/>
          </a:xfrm>
          <a:prstGeom prst="rect">
            <a:avLst/>
          </a:prstGeom>
        </p:spPr>
      </p:pic>
    </p:spTree>
    <p:extLst>
      <p:ext uri="{BB962C8B-B14F-4D97-AF65-F5344CB8AC3E}">
        <p14:creationId xmlns:p14="http://schemas.microsoft.com/office/powerpoint/2010/main" val="29735041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240" y="285728"/>
            <a:ext cx="5463488" cy="1143008"/>
          </a:xfrm>
        </p:spPr>
        <p:txBody>
          <a:bodyPr>
            <a:normAutofit/>
          </a:bodyPr>
          <a:lstStyle/>
          <a:p>
            <a:r>
              <a:rPr lang="en-US" altLang="zh-CN" sz="2200" b="0" dirty="0"/>
              <a:t>【</a:t>
            </a:r>
            <a:r>
              <a:rPr lang="zh-CN" altLang="en-US" sz="2200" b="0" dirty="0"/>
              <a:t>例</a:t>
            </a:r>
            <a:r>
              <a:rPr lang="en-US" altLang="zh-CN" sz="2200" b="0" dirty="0"/>
              <a:t>】</a:t>
            </a:r>
            <a:r>
              <a:rPr lang="zh-CN" altLang="zh-CN" sz="2200" b="0" dirty="0"/>
              <a:t>给定一组字符</a:t>
            </a:r>
            <a:r>
              <a:rPr lang="zh-CN" altLang="en-US" sz="2200" b="0" dirty="0"/>
              <a:t>：</a:t>
            </a:r>
            <a:r>
              <a:rPr lang="en-US" altLang="zh-CN" sz="2200" b="0" dirty="0"/>
              <a:t> {A, B, E, P, X, Z}</a:t>
            </a:r>
            <a:r>
              <a:rPr lang="zh-CN" altLang="en-US" sz="2200" b="0" dirty="0"/>
              <a:t>，</a:t>
            </a:r>
            <a:endParaRPr lang="en-US" altLang="zh-CN" sz="2200" b="0" dirty="0"/>
          </a:p>
          <a:p>
            <a:r>
              <a:rPr lang="en-US" altLang="zh-CN" sz="2200" b="0" dirty="0"/>
              <a:t>           </a:t>
            </a:r>
            <a:r>
              <a:rPr lang="zh-CN" altLang="zh-CN" sz="2200" b="0" dirty="0"/>
              <a:t>对应的权重</a:t>
            </a:r>
            <a:r>
              <a:rPr lang="zh-CN" altLang="en-US" sz="2200" b="0" dirty="0"/>
              <a:t>：</a:t>
            </a:r>
            <a:r>
              <a:rPr lang="en-US" altLang="zh-CN" sz="2200" b="0" dirty="0"/>
              <a:t> {32, 10, 110, 24, 32, 2}</a:t>
            </a:r>
            <a:endParaRPr lang="zh-CN" altLang="en-US" sz="2200" b="0" dirty="0"/>
          </a:p>
        </p:txBody>
      </p:sp>
      <p:pic>
        <p:nvPicPr>
          <p:cNvPr id="194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596" y="1428736"/>
            <a:ext cx="4071966" cy="47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6314" y="1571612"/>
            <a:ext cx="4214842" cy="4518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3324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318728" cy="4227921"/>
          </a:xfrm>
        </p:spPr>
        <p:txBody>
          <a:bodyPr/>
          <a:lstStyle/>
          <a:p>
            <a:r>
              <a:rPr lang="en-US" altLang="zh-CN" dirty="0"/>
              <a:t>	</a:t>
            </a:r>
            <a:r>
              <a:rPr lang="zh-CN" altLang="en-US" dirty="0">
                <a:solidFill>
                  <a:srgbClr val="FF0000"/>
                </a:solidFill>
              </a:rPr>
              <a:t>注意：</a:t>
            </a:r>
            <a:r>
              <a:rPr lang="en-US" altLang="zh-CN" b="0" dirty="0"/>
              <a:t>n</a:t>
            </a:r>
            <a:r>
              <a:rPr lang="zh-CN" altLang="zh-CN" b="0" dirty="0"/>
              <a:t>个叶子结点构成的</a:t>
            </a:r>
            <a:r>
              <a:rPr lang="zh-CN" altLang="zh-CN" b="0" dirty="0">
                <a:solidFill>
                  <a:srgbClr val="FF0000"/>
                </a:solidFill>
              </a:rPr>
              <a:t>哈夫曼树</a:t>
            </a:r>
            <a:r>
              <a:rPr lang="zh-CN" altLang="zh-CN" b="0" dirty="0"/>
              <a:t>的带权路径长度是确定的，但树形是不唯一的，因为将森林中两棵权值最小的子树合并时，哪棵做左子树，哪棵做右子树并不严格限制。</a:t>
            </a:r>
            <a:endParaRPr lang="en-US" altLang="zh-CN" b="0" dirty="0"/>
          </a:p>
          <a:p>
            <a:r>
              <a:rPr lang="en-US" altLang="zh-CN" b="0" dirty="0"/>
              <a:t>	</a:t>
            </a:r>
            <a:r>
              <a:rPr lang="zh-CN" altLang="zh-CN" b="0" dirty="0"/>
              <a:t>如图</a:t>
            </a:r>
            <a:r>
              <a:rPr lang="en-US" altLang="zh-CN" b="0" dirty="0"/>
              <a:t>5-20</a:t>
            </a:r>
            <a:r>
              <a:rPr lang="zh-CN" altLang="zh-CN" b="0" dirty="0"/>
              <a:t>所示的哈夫曼树与图</a:t>
            </a:r>
            <a:r>
              <a:rPr lang="en-US" altLang="zh-CN" b="0" dirty="0"/>
              <a:t>5-19</a:t>
            </a:r>
            <a:r>
              <a:rPr lang="zh-CN" altLang="zh-CN" b="0" dirty="0"/>
              <a:t>步骤</a:t>
            </a:r>
            <a:r>
              <a:rPr lang="en-US" altLang="zh-CN" b="0" dirty="0"/>
              <a:t>6</a:t>
            </a:r>
            <a:r>
              <a:rPr lang="zh-CN" altLang="zh-CN" b="0" dirty="0"/>
              <a:t>中所示的哈夫曼树具有相同的带权路径长度，但它们的树形不一样。</a:t>
            </a:r>
          </a:p>
          <a:p>
            <a:endParaRPr lang="zh-CN" altLang="en-US" b="0"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356992"/>
            <a:ext cx="3369741" cy="29279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33072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968552"/>
          </a:xfrm>
        </p:spPr>
        <p:txBody>
          <a:bodyPr>
            <a:normAutofit fontScale="92500" lnSpcReduction="10000"/>
          </a:bodyPr>
          <a:lstStyle/>
          <a:p>
            <a:r>
              <a:rPr lang="en-US" altLang="zh-CN" dirty="0"/>
              <a:t>3. </a:t>
            </a:r>
            <a:r>
              <a:rPr lang="zh-CN" altLang="zh-CN" dirty="0"/>
              <a:t>哈夫曼树的具体实现</a:t>
            </a:r>
          </a:p>
          <a:p>
            <a:r>
              <a:rPr lang="zh-CN" altLang="zh-CN" b="0" dirty="0"/>
              <a:t>算法</a:t>
            </a:r>
            <a:r>
              <a:rPr lang="en-US" altLang="zh-CN" b="0" dirty="0"/>
              <a:t>5.12</a:t>
            </a:r>
            <a:r>
              <a:rPr lang="zh-CN" altLang="zh-CN" b="0" dirty="0"/>
              <a:t>：哈夫曼树</a:t>
            </a:r>
            <a:r>
              <a:rPr lang="zh-CN" altLang="zh-CN" dirty="0">
                <a:solidFill>
                  <a:srgbClr val="FF0000"/>
                </a:solidFill>
              </a:rPr>
              <a:t>结点类</a:t>
            </a:r>
            <a:r>
              <a:rPr lang="zh-CN" altLang="zh-CN" b="0" dirty="0"/>
              <a:t>的定义</a:t>
            </a:r>
          </a:p>
          <a:p>
            <a:r>
              <a:rPr lang="en-US" altLang="zh-CN" b="0" dirty="0"/>
              <a:t>template&lt;class T&gt;</a:t>
            </a:r>
            <a:endParaRPr lang="zh-CN" altLang="zh-CN" b="0" dirty="0"/>
          </a:p>
          <a:p>
            <a:r>
              <a:rPr lang="en-US" altLang="zh-CN" b="0" dirty="0"/>
              <a:t>class </a:t>
            </a:r>
            <a:r>
              <a:rPr lang="en-US" altLang="zh-CN" b="0" dirty="0" err="1"/>
              <a:t>HuffmanTreeNode</a:t>
            </a:r>
            <a:r>
              <a:rPr lang="en-US" altLang="zh-CN" b="0" dirty="0"/>
              <a:t>{</a:t>
            </a:r>
            <a:endParaRPr lang="zh-CN" altLang="zh-CN" b="0" dirty="0"/>
          </a:p>
          <a:p>
            <a:r>
              <a:rPr lang="en-US" altLang="zh-CN" b="0" dirty="0"/>
              <a:t>    friend class </a:t>
            </a:r>
            <a:r>
              <a:rPr lang="en-US" altLang="zh-CN" b="0" dirty="0" err="1"/>
              <a:t>HuffmanTree</a:t>
            </a:r>
            <a:r>
              <a:rPr lang="en-US" altLang="zh-CN" b="0" dirty="0"/>
              <a:t>&lt;T&gt;;</a:t>
            </a:r>
            <a:endParaRPr lang="zh-CN" altLang="zh-CN" b="0" dirty="0"/>
          </a:p>
          <a:p>
            <a:r>
              <a:rPr lang="en-US" altLang="zh-CN" b="0" dirty="0"/>
              <a:t>private:</a:t>
            </a:r>
            <a:endParaRPr lang="zh-CN" altLang="zh-CN" b="0" dirty="0"/>
          </a:p>
          <a:p>
            <a:r>
              <a:rPr lang="en-US" altLang="zh-CN" b="0" dirty="0"/>
              <a:t>    </a:t>
            </a:r>
            <a:r>
              <a:rPr lang="en-US" altLang="zh-CN" b="0" dirty="0" err="1"/>
              <a:t>HuffmanTreeNode</a:t>
            </a:r>
            <a:r>
              <a:rPr lang="en-US" altLang="zh-CN" b="0" dirty="0"/>
              <a:t>&lt;T&gt; *left;</a:t>
            </a:r>
            <a:endParaRPr lang="zh-CN" altLang="zh-CN" b="0" dirty="0"/>
          </a:p>
          <a:p>
            <a:r>
              <a:rPr lang="en-US" altLang="zh-CN" b="0" dirty="0"/>
              <a:t>    </a:t>
            </a:r>
            <a:r>
              <a:rPr lang="en-US" altLang="zh-CN" b="0" dirty="0" err="1"/>
              <a:t>HuffmanTreeNode</a:t>
            </a:r>
            <a:r>
              <a:rPr lang="en-US" altLang="zh-CN" b="0" dirty="0"/>
              <a:t>&lt;T&gt; *right;</a:t>
            </a:r>
            <a:endParaRPr lang="zh-CN" altLang="zh-CN" b="0" dirty="0"/>
          </a:p>
          <a:p>
            <a:r>
              <a:rPr lang="en-US" altLang="zh-CN" b="0" dirty="0"/>
              <a:t>    </a:t>
            </a:r>
            <a:r>
              <a:rPr lang="en-US" altLang="zh-CN" b="0" dirty="0" err="1"/>
              <a:t>int</a:t>
            </a:r>
            <a:r>
              <a:rPr lang="en-US" altLang="zh-CN" b="0" dirty="0"/>
              <a:t> </a:t>
            </a:r>
            <a:r>
              <a:rPr lang="en-US" altLang="zh-CN" b="0" dirty="0" err="1"/>
              <a:t>wgt</a:t>
            </a:r>
            <a:r>
              <a:rPr lang="en-US" altLang="zh-CN" b="0" dirty="0"/>
              <a:t>;</a:t>
            </a:r>
            <a:endParaRPr lang="zh-CN" altLang="zh-CN" b="0" dirty="0"/>
          </a:p>
          <a:p>
            <a:r>
              <a:rPr lang="en-US" altLang="zh-CN" b="0" dirty="0"/>
              <a:t>    T </a:t>
            </a:r>
            <a:r>
              <a:rPr lang="en-US" altLang="zh-CN" b="0" dirty="0" err="1"/>
              <a:t>elem</a:t>
            </a:r>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3063180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12568"/>
          </a:xfrm>
        </p:spPr>
        <p:txBody>
          <a:bodyPr>
            <a:normAutofit fontScale="77500" lnSpcReduction="20000"/>
          </a:bodyPr>
          <a:lstStyle/>
          <a:p>
            <a:r>
              <a:rPr lang="en-US" altLang="zh-CN" b="0" dirty="0"/>
              <a:t>public:</a:t>
            </a:r>
            <a:endParaRPr lang="zh-CN" altLang="zh-CN" b="0" dirty="0"/>
          </a:p>
          <a:p>
            <a:r>
              <a:rPr lang="en-US" altLang="zh-CN" b="0" dirty="0"/>
              <a:t>    </a:t>
            </a:r>
            <a:r>
              <a:rPr lang="en-US" altLang="zh-CN" b="0" dirty="0" err="1"/>
              <a:t>HuffmanTreeNode</a:t>
            </a:r>
            <a:r>
              <a:rPr lang="en-US" altLang="zh-CN" b="0" dirty="0"/>
              <a:t>() {left = right = NULL; </a:t>
            </a:r>
            <a:r>
              <a:rPr lang="en-US" altLang="zh-CN" b="0" dirty="0" err="1"/>
              <a:t>wgt</a:t>
            </a:r>
            <a:r>
              <a:rPr lang="en-US" altLang="zh-CN" b="0" dirty="0"/>
              <a:t> = 0;};</a:t>
            </a:r>
            <a:endParaRPr lang="zh-CN" altLang="zh-CN" b="0" dirty="0"/>
          </a:p>
          <a:p>
            <a:r>
              <a:rPr lang="en-US" altLang="zh-CN" b="0" dirty="0"/>
              <a:t>    </a:t>
            </a:r>
            <a:r>
              <a:rPr lang="en-US" altLang="zh-CN" b="0" dirty="0" err="1"/>
              <a:t>HuffmanTreeNode</a:t>
            </a:r>
            <a:r>
              <a:rPr lang="en-US" altLang="zh-CN" b="0" dirty="0"/>
              <a:t>(</a:t>
            </a:r>
            <a:r>
              <a:rPr lang="en-US" altLang="zh-CN" b="0" dirty="0" err="1"/>
              <a:t>HuffmanTreeNode</a:t>
            </a:r>
            <a:r>
              <a:rPr lang="en-US" altLang="zh-CN" b="0" dirty="0"/>
              <a:t>&lt;T&gt; *l, </a:t>
            </a:r>
            <a:r>
              <a:rPr lang="en-US" altLang="zh-CN" b="0" dirty="0" err="1"/>
              <a:t>HuffmanTreeNode</a:t>
            </a:r>
            <a:r>
              <a:rPr lang="en-US" altLang="zh-CN" b="0" dirty="0"/>
              <a:t>&lt;T&gt; *r, </a:t>
            </a:r>
            <a:r>
              <a:rPr lang="en-US" altLang="zh-CN" b="0" dirty="0" err="1"/>
              <a:t>int</a:t>
            </a:r>
            <a:r>
              <a:rPr lang="en-US" altLang="zh-CN" b="0" dirty="0"/>
              <a:t> weight, T element);</a:t>
            </a:r>
            <a:endParaRPr lang="zh-CN" altLang="zh-CN" b="0" dirty="0"/>
          </a:p>
          <a:p>
            <a:r>
              <a:rPr lang="en-US" altLang="zh-CN" b="0" dirty="0"/>
              <a:t>    ~</a:t>
            </a:r>
            <a:r>
              <a:rPr lang="en-US" altLang="zh-CN" b="0" dirty="0" err="1"/>
              <a:t>HuffmanTreeNode</a:t>
            </a:r>
            <a:r>
              <a:rPr lang="en-US" altLang="zh-CN" b="0" dirty="0"/>
              <a:t>();</a:t>
            </a:r>
            <a:endParaRPr lang="zh-CN" altLang="zh-CN" b="0" dirty="0"/>
          </a:p>
          <a:p>
            <a:r>
              <a:rPr lang="en-US" altLang="zh-CN" b="0" dirty="0"/>
              <a:t>    </a:t>
            </a:r>
            <a:r>
              <a:rPr lang="en-US" altLang="zh-CN" b="0" dirty="0" err="1"/>
              <a:t>int</a:t>
            </a:r>
            <a:r>
              <a:rPr lang="en-US" altLang="zh-CN" b="0" dirty="0"/>
              <a:t> weight() {return </a:t>
            </a:r>
            <a:r>
              <a:rPr lang="en-US" altLang="zh-CN" b="0" dirty="0" err="1"/>
              <a:t>wgt</a:t>
            </a:r>
            <a:r>
              <a:rPr lang="en-US" altLang="zh-CN" b="0" dirty="0"/>
              <a:t>;};</a:t>
            </a:r>
            <a:endParaRPr lang="zh-CN" altLang="zh-CN" b="0" dirty="0"/>
          </a:p>
          <a:p>
            <a:r>
              <a:rPr lang="en-US" altLang="zh-CN" b="0" dirty="0"/>
              <a:t>    T&amp; element() {return </a:t>
            </a:r>
            <a:r>
              <a:rPr lang="en-US" altLang="zh-CN" b="0" dirty="0" err="1"/>
              <a:t>elem</a:t>
            </a:r>
            <a:r>
              <a:rPr lang="en-US" altLang="zh-CN" b="0" dirty="0"/>
              <a:t>;};</a:t>
            </a:r>
            <a:endParaRPr lang="zh-CN" altLang="zh-CN" b="0" dirty="0"/>
          </a:p>
          <a:p>
            <a:r>
              <a:rPr lang="en-US" altLang="zh-CN" b="0" dirty="0"/>
              <a:t>    </a:t>
            </a:r>
            <a:r>
              <a:rPr lang="en-US" altLang="zh-CN" b="0" dirty="0" err="1"/>
              <a:t>bool</a:t>
            </a:r>
            <a:r>
              <a:rPr lang="en-US" altLang="zh-CN" b="0" dirty="0"/>
              <a:t> </a:t>
            </a:r>
            <a:r>
              <a:rPr lang="en-US" altLang="zh-CN" b="0" dirty="0" err="1"/>
              <a:t>isLeaf</a:t>
            </a:r>
            <a:r>
              <a:rPr lang="en-US" altLang="zh-CN" b="0" dirty="0"/>
              <a:t>(){return !left &amp;&amp; !right;};</a:t>
            </a:r>
            <a:endParaRPr lang="zh-CN" altLang="zh-CN" b="0" dirty="0"/>
          </a:p>
          <a:p>
            <a:r>
              <a:rPr lang="en-US" altLang="zh-CN" b="0" dirty="0"/>
              <a:t>    void </a:t>
            </a:r>
            <a:r>
              <a:rPr lang="en-US" altLang="zh-CN" b="0" dirty="0" err="1"/>
              <a:t>setLeft</a:t>
            </a:r>
            <a:r>
              <a:rPr lang="en-US" altLang="zh-CN" b="0" dirty="0"/>
              <a:t>(</a:t>
            </a:r>
            <a:r>
              <a:rPr lang="en-US" altLang="zh-CN" b="0" dirty="0" err="1"/>
              <a:t>HuffmanTreeNode</a:t>
            </a:r>
            <a:r>
              <a:rPr lang="en-US" altLang="zh-CN" b="0" dirty="0"/>
              <a:t>&lt;T&gt; *b){left = b;};</a:t>
            </a:r>
            <a:endParaRPr lang="zh-CN" altLang="zh-CN" b="0" dirty="0"/>
          </a:p>
          <a:p>
            <a:r>
              <a:rPr lang="en-US" altLang="zh-CN" b="0" dirty="0"/>
              <a:t>    void </a:t>
            </a:r>
            <a:r>
              <a:rPr lang="en-US" altLang="zh-CN" b="0" dirty="0" err="1"/>
              <a:t>setRight</a:t>
            </a:r>
            <a:r>
              <a:rPr lang="en-US" altLang="zh-CN" b="0" dirty="0"/>
              <a:t>(</a:t>
            </a:r>
            <a:r>
              <a:rPr lang="en-US" altLang="zh-CN" b="0" dirty="0" err="1"/>
              <a:t>HuffmanTreeNode</a:t>
            </a:r>
            <a:r>
              <a:rPr lang="en-US" altLang="zh-CN" b="0" dirty="0"/>
              <a:t>&lt;T&gt; *b){right = b;};</a:t>
            </a:r>
            <a:endParaRPr lang="zh-CN" altLang="zh-CN" b="0" dirty="0"/>
          </a:p>
          <a:p>
            <a:r>
              <a:rPr lang="en-US" altLang="zh-CN" b="0" dirty="0"/>
              <a:t>    </a:t>
            </a:r>
            <a:r>
              <a:rPr lang="en-US" altLang="zh-CN" b="0" dirty="0" err="1"/>
              <a:t>HuffmanTreeNode</a:t>
            </a:r>
            <a:r>
              <a:rPr lang="en-US" altLang="zh-CN" b="0" dirty="0"/>
              <a:t>&lt;T&gt;* Left() const {return left;};</a:t>
            </a:r>
            <a:endParaRPr lang="zh-CN" altLang="zh-CN" b="0" dirty="0"/>
          </a:p>
          <a:p>
            <a:r>
              <a:rPr lang="en-US" altLang="zh-CN" b="0" dirty="0"/>
              <a:t>    </a:t>
            </a:r>
            <a:r>
              <a:rPr lang="en-US" altLang="zh-CN" b="0" dirty="0" err="1"/>
              <a:t>HuffmanTreeNode</a:t>
            </a:r>
            <a:r>
              <a:rPr lang="en-US" altLang="zh-CN" b="0" dirty="0"/>
              <a:t>&lt;T&gt;* Right() const {return right;};</a:t>
            </a:r>
            <a:endParaRPr lang="zh-CN" altLang="zh-CN" b="0" dirty="0"/>
          </a:p>
          <a:p>
            <a:r>
              <a:rPr lang="en-US" altLang="zh-CN" b="0" dirty="0"/>
              <a:t>};</a:t>
            </a:r>
            <a:endParaRPr lang="zh-CN" altLang="zh-CN" b="0" dirty="0"/>
          </a:p>
        </p:txBody>
      </p:sp>
    </p:spTree>
    <p:extLst>
      <p:ext uri="{BB962C8B-B14F-4D97-AF65-F5344CB8AC3E}">
        <p14:creationId xmlns:p14="http://schemas.microsoft.com/office/powerpoint/2010/main" val="3747730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848872" cy="5256584"/>
          </a:xfrm>
        </p:spPr>
        <p:txBody>
          <a:bodyPr>
            <a:normAutofit fontScale="70000" lnSpcReduction="20000"/>
          </a:bodyPr>
          <a:lstStyle/>
          <a:p>
            <a:r>
              <a:rPr lang="zh-CN" altLang="zh-CN" b="0" dirty="0"/>
              <a:t>算法</a:t>
            </a:r>
            <a:r>
              <a:rPr lang="en-US" altLang="zh-CN" b="0" dirty="0"/>
              <a:t>5.13</a:t>
            </a:r>
            <a:r>
              <a:rPr lang="zh-CN" altLang="zh-CN" b="0" dirty="0"/>
              <a:t>：哈夫曼</a:t>
            </a:r>
            <a:r>
              <a:rPr lang="zh-CN" altLang="zh-CN" dirty="0">
                <a:solidFill>
                  <a:srgbClr val="FF0000"/>
                </a:solidFill>
              </a:rPr>
              <a:t>树类</a:t>
            </a:r>
            <a:r>
              <a:rPr lang="zh-CN" altLang="zh-CN" b="0" dirty="0"/>
              <a:t>的定义</a:t>
            </a:r>
          </a:p>
          <a:p>
            <a:r>
              <a:rPr lang="en-US" altLang="zh-CN" b="0" dirty="0"/>
              <a:t>template&lt;class T&gt;</a:t>
            </a:r>
            <a:endParaRPr lang="zh-CN" altLang="zh-CN" b="0" dirty="0"/>
          </a:p>
          <a:p>
            <a:r>
              <a:rPr lang="en-US" altLang="zh-CN" b="0" dirty="0"/>
              <a:t>class </a:t>
            </a:r>
            <a:r>
              <a:rPr lang="en-US" altLang="zh-CN" b="0" dirty="0" err="1"/>
              <a:t>HuffmanTree</a:t>
            </a:r>
            <a:r>
              <a:rPr lang="en-US" altLang="zh-CN" b="0" dirty="0"/>
              <a:t>{</a:t>
            </a:r>
            <a:endParaRPr lang="zh-CN" altLang="zh-CN" b="0" dirty="0"/>
          </a:p>
          <a:p>
            <a:r>
              <a:rPr lang="en-US" altLang="zh-CN" b="0" dirty="0"/>
              <a:t>private:</a:t>
            </a:r>
            <a:endParaRPr lang="zh-CN" altLang="zh-CN" b="0" dirty="0"/>
          </a:p>
          <a:p>
            <a:r>
              <a:rPr lang="en-US" altLang="zh-CN" b="0" dirty="0"/>
              <a:t>    </a:t>
            </a:r>
            <a:r>
              <a:rPr lang="en-US" altLang="zh-CN" b="0" dirty="0" err="1"/>
              <a:t>HuffmanTreeNode</a:t>
            </a:r>
            <a:r>
              <a:rPr lang="en-US" altLang="zh-CN" b="0" dirty="0"/>
              <a:t>&lt;T&gt; *root;     	//</a:t>
            </a:r>
            <a:r>
              <a:rPr lang="en-US" altLang="zh-CN" b="0" dirty="0" err="1"/>
              <a:t>HuffmanTree</a:t>
            </a:r>
            <a:r>
              <a:rPr lang="zh-CN" altLang="zh-CN" b="0" dirty="0"/>
              <a:t>的树根</a:t>
            </a:r>
          </a:p>
          <a:p>
            <a:r>
              <a:rPr lang="en-US" altLang="zh-CN" b="0" dirty="0"/>
              <a:t>public:</a:t>
            </a:r>
            <a:endParaRPr lang="zh-CN" altLang="zh-CN" b="0" dirty="0"/>
          </a:p>
          <a:p>
            <a:r>
              <a:rPr lang="en-US" altLang="zh-CN" b="0" dirty="0"/>
              <a:t>    </a:t>
            </a:r>
            <a:r>
              <a:rPr lang="en-US" altLang="zh-CN" b="0" dirty="0" err="1"/>
              <a:t>HuffmanTree</a:t>
            </a:r>
            <a:r>
              <a:rPr lang="en-US" altLang="zh-CN" b="0" dirty="0"/>
              <a:t>(){root = NULL;};</a:t>
            </a:r>
            <a:endParaRPr lang="zh-CN" altLang="zh-CN" b="0" dirty="0"/>
          </a:p>
          <a:p>
            <a:r>
              <a:rPr lang="en-US" altLang="zh-CN" b="0" dirty="0"/>
              <a:t>    </a:t>
            </a:r>
            <a:r>
              <a:rPr lang="en-US" altLang="zh-CN" b="0" dirty="0" err="1"/>
              <a:t>HuffmanTree</a:t>
            </a:r>
            <a:r>
              <a:rPr lang="en-US" altLang="zh-CN" b="0" dirty="0"/>
              <a:t>(T element,  </a:t>
            </a:r>
            <a:r>
              <a:rPr lang="en-US" altLang="zh-CN" b="0" dirty="0" err="1"/>
              <a:t>int</a:t>
            </a:r>
            <a:r>
              <a:rPr lang="en-US" altLang="zh-CN" b="0" dirty="0"/>
              <a:t> weight);</a:t>
            </a:r>
            <a:endParaRPr lang="zh-CN" altLang="zh-CN" b="0" dirty="0"/>
          </a:p>
          <a:p>
            <a:r>
              <a:rPr lang="en-US" altLang="zh-CN" b="0" dirty="0"/>
              <a:t>    </a:t>
            </a:r>
            <a:r>
              <a:rPr lang="en-US" altLang="zh-CN" b="0" dirty="0" err="1"/>
              <a:t>HuffmanTree</a:t>
            </a:r>
            <a:r>
              <a:rPr lang="en-US" altLang="zh-CN" b="0" dirty="0"/>
              <a:t>(</a:t>
            </a:r>
            <a:r>
              <a:rPr lang="en-US" altLang="zh-CN" b="0" dirty="0" err="1"/>
              <a:t>HuffmanTree</a:t>
            </a:r>
            <a:r>
              <a:rPr lang="en-US" altLang="zh-CN" b="0" dirty="0"/>
              <a:t>&lt;T&gt; *l, </a:t>
            </a:r>
            <a:r>
              <a:rPr lang="en-US" altLang="zh-CN" b="0" dirty="0" err="1"/>
              <a:t>HuffmanTree</a:t>
            </a:r>
            <a:r>
              <a:rPr lang="en-US" altLang="zh-CN" b="0" dirty="0"/>
              <a:t>&lt;T&gt; *r, </a:t>
            </a:r>
            <a:r>
              <a:rPr lang="en-US" altLang="zh-CN" b="0" dirty="0" err="1"/>
              <a:t>int</a:t>
            </a:r>
            <a:r>
              <a:rPr lang="en-US" altLang="zh-CN" b="0" dirty="0"/>
              <a:t> weight);</a:t>
            </a:r>
            <a:endParaRPr lang="zh-CN" altLang="zh-CN" b="0" dirty="0"/>
          </a:p>
          <a:p>
            <a:r>
              <a:rPr lang="en-US" altLang="zh-CN" b="0" dirty="0"/>
              <a:t>    void </a:t>
            </a:r>
            <a:r>
              <a:rPr lang="en-US" altLang="zh-CN" b="0" dirty="0" err="1"/>
              <a:t>DeleteTree</a:t>
            </a:r>
            <a:r>
              <a:rPr lang="en-US" altLang="zh-CN" b="0" dirty="0"/>
              <a:t>(</a:t>
            </a:r>
            <a:r>
              <a:rPr lang="en-US" altLang="zh-CN" b="0" dirty="0" err="1"/>
              <a:t>HuffmanTreeNode</a:t>
            </a:r>
            <a:r>
              <a:rPr lang="en-US" altLang="zh-CN" b="0" dirty="0"/>
              <a:t>&lt;T&gt; *root);    	//</a:t>
            </a:r>
            <a:r>
              <a:rPr lang="zh-CN" altLang="zh-CN" b="0" dirty="0"/>
              <a:t>删除</a:t>
            </a:r>
            <a:r>
              <a:rPr lang="en-US" altLang="zh-CN" b="0" dirty="0"/>
              <a:t>Huffman</a:t>
            </a:r>
            <a:r>
              <a:rPr lang="zh-CN" altLang="zh-CN" b="0" dirty="0"/>
              <a:t>树或其子树</a:t>
            </a:r>
          </a:p>
          <a:p>
            <a:r>
              <a:rPr lang="en-US" altLang="zh-CN" b="0" dirty="0"/>
              <a:t>    ~</a:t>
            </a:r>
            <a:r>
              <a:rPr lang="en-US" altLang="zh-CN" b="0" dirty="0" err="1"/>
              <a:t>HuffmanTree</a:t>
            </a:r>
            <a:r>
              <a:rPr lang="en-US" altLang="zh-CN" b="0" dirty="0"/>
              <a:t>(){ </a:t>
            </a:r>
            <a:r>
              <a:rPr lang="en-US" altLang="zh-CN" b="0" dirty="0" err="1"/>
              <a:t>DeleteTree</a:t>
            </a:r>
            <a:r>
              <a:rPr lang="en-US" altLang="zh-CN" b="0" dirty="0"/>
              <a:t>(root); };		//</a:t>
            </a:r>
            <a:r>
              <a:rPr lang="zh-CN" altLang="zh-CN" b="0" dirty="0"/>
              <a:t>析构函数</a:t>
            </a:r>
          </a:p>
          <a:p>
            <a:r>
              <a:rPr lang="en-US" altLang="zh-CN" b="0" dirty="0"/>
              <a:t>    </a:t>
            </a:r>
            <a:r>
              <a:rPr lang="en-US" altLang="zh-CN" b="0" dirty="0" err="1"/>
              <a:t>HuffmanTreeNode</a:t>
            </a:r>
            <a:r>
              <a:rPr lang="en-US" altLang="zh-CN" b="0" dirty="0"/>
              <a:t>&lt;T&gt;* Root() {return root;}</a:t>
            </a:r>
            <a:endParaRPr lang="zh-CN" altLang="zh-CN" b="0" dirty="0"/>
          </a:p>
          <a:p>
            <a:r>
              <a:rPr lang="en-US" altLang="zh-CN" b="0" dirty="0"/>
              <a:t>    </a:t>
            </a:r>
            <a:r>
              <a:rPr lang="en-US" altLang="zh-CN" b="0" dirty="0" err="1"/>
              <a:t>int</a:t>
            </a:r>
            <a:r>
              <a:rPr lang="en-US" altLang="zh-CN" b="0" dirty="0"/>
              <a:t> weight() {return root-&gt;</a:t>
            </a:r>
            <a:r>
              <a:rPr lang="en-US" altLang="zh-CN" b="0" dirty="0" err="1"/>
              <a:t>wgt</a:t>
            </a:r>
            <a:r>
              <a:rPr lang="en-US" altLang="zh-CN" b="0" dirty="0"/>
              <a: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31626677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32440" cy="5112568"/>
          </a:xfrm>
        </p:spPr>
        <p:txBody>
          <a:bodyPr>
            <a:noAutofit/>
          </a:bodyPr>
          <a:lstStyle/>
          <a:p>
            <a:pPr>
              <a:lnSpc>
                <a:spcPct val="110000"/>
              </a:lnSpc>
              <a:spcBef>
                <a:spcPts val="0"/>
              </a:spcBef>
            </a:pPr>
            <a:r>
              <a:rPr lang="zh-CN" altLang="zh-CN" dirty="0"/>
              <a:t>算法</a:t>
            </a:r>
            <a:r>
              <a:rPr lang="en-US" altLang="zh-CN" dirty="0"/>
              <a:t>5.14</a:t>
            </a:r>
            <a:r>
              <a:rPr lang="zh-CN" altLang="zh-CN" dirty="0"/>
              <a:t>：哈夫曼树构造的实现</a:t>
            </a:r>
          </a:p>
          <a:p>
            <a:pPr>
              <a:lnSpc>
                <a:spcPct val="110000"/>
              </a:lnSpc>
              <a:spcBef>
                <a:spcPts val="0"/>
              </a:spcBef>
            </a:pPr>
            <a:r>
              <a:rPr lang="en-US" altLang="zh-CN" b="0" dirty="0"/>
              <a:t>//</a:t>
            </a:r>
            <a:r>
              <a:rPr lang="zh-CN" altLang="zh-CN" b="0" dirty="0">
                <a:solidFill>
                  <a:srgbClr val="FF0000"/>
                </a:solidFill>
              </a:rPr>
              <a:t>构造哈夫曼树：</a:t>
            </a:r>
            <a:r>
              <a:rPr lang="en-US" altLang="zh-CN" b="0" dirty="0"/>
              <a:t>element</a:t>
            </a:r>
            <a:r>
              <a:rPr lang="zh-CN" altLang="zh-CN" b="0" dirty="0"/>
              <a:t>数据存储字符，</a:t>
            </a:r>
            <a:r>
              <a:rPr lang="en-US" altLang="zh-CN" b="0" dirty="0"/>
              <a:t>weight</a:t>
            </a:r>
            <a:r>
              <a:rPr lang="zh-CN" altLang="zh-CN" b="0" dirty="0"/>
              <a:t>数组存储对应权值，</a:t>
            </a:r>
            <a:r>
              <a:rPr lang="en-US" altLang="zh-CN" b="0" dirty="0"/>
              <a:t>n</a:t>
            </a:r>
            <a:r>
              <a:rPr lang="zh-CN" altLang="zh-CN" b="0" dirty="0"/>
              <a:t>是数据长度</a:t>
            </a:r>
          </a:p>
          <a:p>
            <a:pPr>
              <a:lnSpc>
                <a:spcPct val="110000"/>
              </a:lnSpc>
              <a:spcBef>
                <a:spcPts val="0"/>
              </a:spcBef>
            </a:pPr>
            <a:r>
              <a:rPr lang="en-US" altLang="zh-CN" b="0" dirty="0"/>
              <a:t>template&lt;class T&gt;</a:t>
            </a:r>
            <a:endParaRPr lang="zh-CN" altLang="zh-CN" b="0" dirty="0"/>
          </a:p>
          <a:p>
            <a:pPr>
              <a:lnSpc>
                <a:spcPct val="110000"/>
              </a:lnSpc>
              <a:spcBef>
                <a:spcPts val="0"/>
              </a:spcBef>
            </a:pPr>
            <a:r>
              <a:rPr lang="en-US" altLang="zh-CN" b="0" dirty="0" err="1"/>
              <a:t>HuffmanTree</a:t>
            </a:r>
            <a:r>
              <a:rPr lang="en-US" altLang="zh-CN" b="0" dirty="0"/>
              <a:t>&lt;T&gt;* </a:t>
            </a:r>
            <a:r>
              <a:rPr lang="en-US" altLang="zh-CN" b="0" dirty="0" err="1"/>
              <a:t>BuildHuffTree</a:t>
            </a:r>
            <a:r>
              <a:rPr lang="en-US" altLang="zh-CN" b="0" dirty="0"/>
              <a:t>(T element[], </a:t>
            </a:r>
            <a:r>
              <a:rPr lang="en-US" altLang="zh-CN" b="0" dirty="0" err="1"/>
              <a:t>int</a:t>
            </a:r>
            <a:r>
              <a:rPr lang="en-US" altLang="zh-CN" b="0" dirty="0"/>
              <a:t> weight[], </a:t>
            </a:r>
            <a:r>
              <a:rPr lang="en-US" altLang="zh-CN" b="0" dirty="0" err="1"/>
              <a:t>int</a:t>
            </a:r>
            <a:r>
              <a:rPr lang="en-US" altLang="zh-CN" b="0" dirty="0"/>
              <a:t> n){</a:t>
            </a:r>
            <a:endParaRPr lang="zh-CN" altLang="zh-CN" b="0" dirty="0"/>
          </a:p>
          <a:p>
            <a:pPr>
              <a:lnSpc>
                <a:spcPct val="110000"/>
              </a:lnSpc>
              <a:spcBef>
                <a:spcPts val="0"/>
              </a:spcBef>
            </a:pPr>
            <a:r>
              <a:rPr lang="en-US" altLang="zh-CN" b="0" dirty="0"/>
              <a:t>    	</a:t>
            </a:r>
            <a:r>
              <a:rPr lang="en-US" altLang="zh-CN" b="0" dirty="0" err="1"/>
              <a:t>Priority_queue</a:t>
            </a:r>
            <a:r>
              <a:rPr lang="en-US" altLang="zh-CN" b="0" dirty="0"/>
              <a:t>&lt;</a:t>
            </a:r>
            <a:r>
              <a:rPr lang="en-US" altLang="zh-CN" b="0" dirty="0" err="1"/>
              <a:t>HuffmanTree</a:t>
            </a:r>
            <a:r>
              <a:rPr lang="en-US" altLang="zh-CN" b="0" dirty="0"/>
              <a:t>&lt;T&gt;</a:t>
            </a:r>
            <a:r>
              <a:rPr lang="zh-CN" altLang="en-US" b="0" dirty="0"/>
              <a:t>*</a:t>
            </a:r>
            <a:r>
              <a:rPr lang="en-US" altLang="zh-CN" b="0" dirty="0"/>
              <a:t>&gt; </a:t>
            </a:r>
            <a:r>
              <a:rPr lang="en-US" altLang="zh-CN" b="0" dirty="0" err="1"/>
              <a:t>QHTree</a:t>
            </a:r>
            <a:r>
              <a:rPr lang="en-US" altLang="zh-CN" b="0" dirty="0"/>
              <a:t>;</a:t>
            </a:r>
          </a:p>
          <a:p>
            <a:pPr>
              <a:lnSpc>
                <a:spcPct val="110000"/>
              </a:lnSpc>
              <a:spcBef>
                <a:spcPts val="0"/>
              </a:spcBef>
            </a:pPr>
            <a:r>
              <a:rPr lang="en-US" altLang="zh-CN" b="0" dirty="0"/>
              <a:t>	</a:t>
            </a:r>
            <a:r>
              <a:rPr lang="en-US" altLang="zh-CN" b="0" dirty="0" err="1"/>
              <a:t>HuffmanTree</a:t>
            </a:r>
            <a:r>
              <a:rPr lang="en-US" altLang="zh-CN" b="0" dirty="0"/>
              <a:t>&lt;T&gt; *</a:t>
            </a:r>
            <a:r>
              <a:rPr lang="en-US" altLang="zh-CN" b="0" dirty="0" err="1"/>
              <a:t>lc</a:t>
            </a:r>
            <a:r>
              <a:rPr lang="en-US" altLang="zh-CN" b="0" dirty="0"/>
              <a:t>, *</a:t>
            </a:r>
            <a:r>
              <a:rPr lang="en-US" altLang="zh-CN" b="0" dirty="0" err="1"/>
              <a:t>rc</a:t>
            </a:r>
            <a:r>
              <a:rPr lang="en-US" altLang="zh-CN" b="0" dirty="0"/>
              <a:t>, *p;</a:t>
            </a:r>
            <a:endParaRPr lang="zh-CN" altLang="zh-CN" b="0" dirty="0"/>
          </a:p>
          <a:p>
            <a:pPr>
              <a:lnSpc>
                <a:spcPct val="110000"/>
              </a:lnSpc>
              <a:spcBef>
                <a:spcPts val="0"/>
              </a:spcBef>
            </a:pPr>
            <a:r>
              <a:rPr lang="en-US" altLang="zh-CN" b="0" dirty="0"/>
              <a:t>    	//</a:t>
            </a:r>
            <a:r>
              <a:rPr lang="zh-CN" altLang="zh-CN" b="0" dirty="0"/>
              <a:t>初始化</a:t>
            </a:r>
            <a:r>
              <a:rPr lang="zh-CN" altLang="en-US" b="0" dirty="0"/>
              <a:t>：建立</a:t>
            </a:r>
            <a:r>
              <a:rPr lang="en-US" altLang="zh-CN" b="0" dirty="0"/>
              <a:t>n</a:t>
            </a:r>
            <a:r>
              <a:rPr lang="zh-CN" altLang="en-US" b="0" dirty="0"/>
              <a:t>棵单根树</a:t>
            </a:r>
            <a:endParaRPr lang="zh-CN" altLang="zh-CN" b="0" dirty="0"/>
          </a:p>
          <a:p>
            <a:pPr>
              <a:lnSpc>
                <a:spcPct val="110000"/>
              </a:lnSpc>
              <a:spcBef>
                <a:spcPts val="0"/>
              </a:spcBef>
            </a:pPr>
            <a:r>
              <a:rPr lang="en-US" altLang="zh-CN" b="0" dirty="0"/>
              <a:t>    	for (</a:t>
            </a:r>
            <a:r>
              <a:rPr lang="en-US" altLang="zh-CN" b="0" dirty="0" err="1"/>
              <a:t>int</a:t>
            </a:r>
            <a:r>
              <a:rPr lang="en-US" altLang="zh-CN" b="0" dirty="0"/>
              <a:t> i = 0; i &lt; n; </a:t>
            </a:r>
            <a:r>
              <a:rPr lang="en-US" altLang="zh-CN" b="0" dirty="0" err="1"/>
              <a:t>i</a:t>
            </a:r>
            <a:r>
              <a:rPr lang="en-US" altLang="zh-CN" b="0" dirty="0"/>
              <a:t>++)</a:t>
            </a:r>
            <a:endParaRPr lang="zh-CN" altLang="zh-CN" b="0" dirty="0"/>
          </a:p>
          <a:p>
            <a:pPr>
              <a:lnSpc>
                <a:spcPct val="110000"/>
              </a:lnSpc>
              <a:spcBef>
                <a:spcPts val="0"/>
              </a:spcBef>
            </a:pPr>
            <a:r>
              <a:rPr lang="en-US" altLang="zh-CN" b="0" dirty="0"/>
              <a:t>        	</a:t>
            </a:r>
            <a:r>
              <a:rPr lang="en-US" altLang="zh-CN" b="0" dirty="0" err="1"/>
              <a:t>QHTree.push</a:t>
            </a:r>
            <a:r>
              <a:rPr lang="en-US" altLang="zh-CN" b="0" dirty="0"/>
              <a:t>(new </a:t>
            </a:r>
            <a:r>
              <a:rPr lang="en-US" altLang="zh-CN" b="0" dirty="0" err="1"/>
              <a:t>HuffmanTree</a:t>
            </a:r>
            <a:r>
              <a:rPr lang="en-US" altLang="zh-CN" b="0" dirty="0"/>
              <a:t>&lt;T&gt;(element[</a:t>
            </a:r>
            <a:r>
              <a:rPr lang="en-US" altLang="zh-CN" b="0" dirty="0" err="1"/>
              <a:t>i</a:t>
            </a:r>
            <a:r>
              <a:rPr lang="en-US" altLang="zh-CN" b="0" dirty="0"/>
              <a:t>],weight[</a:t>
            </a:r>
            <a:r>
              <a:rPr lang="en-US" altLang="zh-CN" b="0" dirty="0" err="1"/>
              <a:t>i</a:t>
            </a:r>
            <a:r>
              <a:rPr lang="en-US" altLang="zh-CN" b="0" dirty="0"/>
              <a:t>]));</a:t>
            </a:r>
            <a:endParaRPr lang="zh-CN" altLang="zh-CN" b="0" dirty="0"/>
          </a:p>
        </p:txBody>
      </p:sp>
    </p:spTree>
    <p:extLst>
      <p:ext uri="{BB962C8B-B14F-4D97-AF65-F5344CB8AC3E}">
        <p14:creationId xmlns:p14="http://schemas.microsoft.com/office/powerpoint/2010/main" val="34348452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412776"/>
            <a:ext cx="8712968" cy="4464496"/>
          </a:xfrm>
        </p:spPr>
        <p:txBody>
          <a:bodyPr>
            <a:normAutofit/>
          </a:bodyPr>
          <a:lstStyle/>
          <a:p>
            <a:pPr>
              <a:spcBef>
                <a:spcPts val="0"/>
              </a:spcBef>
            </a:pPr>
            <a:r>
              <a:rPr lang="en-US" altLang="zh-CN" b="0" dirty="0"/>
              <a:t>//</a:t>
            </a:r>
            <a:r>
              <a:rPr lang="zh-CN" altLang="zh-CN" b="0" dirty="0"/>
              <a:t>构造哈夫曼树</a:t>
            </a:r>
          </a:p>
          <a:p>
            <a:pPr>
              <a:spcBef>
                <a:spcPts val="0"/>
              </a:spcBef>
            </a:pPr>
            <a:r>
              <a:rPr lang="en-US" altLang="zh-CN" b="0" dirty="0"/>
              <a:t>    while (</a:t>
            </a:r>
            <a:r>
              <a:rPr lang="en-US" altLang="zh-CN" b="0" dirty="0" err="1"/>
              <a:t>QHTree.size</a:t>
            </a:r>
            <a:r>
              <a:rPr lang="en-US" altLang="zh-CN" b="0" dirty="0"/>
              <a:t>() &gt; 1){</a:t>
            </a:r>
            <a:endParaRPr lang="zh-CN" altLang="zh-CN" b="0" dirty="0"/>
          </a:p>
          <a:p>
            <a:pPr>
              <a:spcBef>
                <a:spcPts val="0"/>
              </a:spcBef>
            </a:pPr>
            <a:r>
              <a:rPr lang="en-US" altLang="zh-CN" b="0" dirty="0"/>
              <a:t>        	</a:t>
            </a:r>
            <a:r>
              <a:rPr lang="en-US" altLang="zh-CN" b="0" dirty="0" err="1"/>
              <a:t>rc</a:t>
            </a:r>
            <a:r>
              <a:rPr lang="en-US" altLang="zh-CN" b="0" dirty="0"/>
              <a:t> = </a:t>
            </a:r>
            <a:r>
              <a:rPr lang="en-US" altLang="zh-CN" b="0" dirty="0" err="1"/>
              <a:t>QHTree.top</a:t>
            </a:r>
            <a:r>
              <a:rPr lang="en-US" altLang="zh-CN" b="0" dirty="0"/>
              <a:t>();     	QHTree.pop(); //</a:t>
            </a:r>
            <a:r>
              <a:rPr lang="zh-CN" altLang="en-US" b="0" dirty="0"/>
              <a:t>取出权值最小树</a:t>
            </a:r>
            <a:endParaRPr lang="zh-CN" altLang="zh-CN" b="0" dirty="0"/>
          </a:p>
          <a:p>
            <a:pPr>
              <a:spcBef>
                <a:spcPts val="0"/>
              </a:spcBef>
            </a:pPr>
            <a:r>
              <a:rPr lang="en-US" altLang="zh-CN" b="0" dirty="0"/>
              <a:t>        	</a:t>
            </a:r>
            <a:r>
              <a:rPr lang="en-US" altLang="zh-CN" b="0" dirty="0" err="1"/>
              <a:t>lc</a:t>
            </a:r>
            <a:r>
              <a:rPr lang="en-US" altLang="zh-CN" b="0" dirty="0"/>
              <a:t> = </a:t>
            </a:r>
            <a:r>
              <a:rPr lang="en-US" altLang="zh-CN" b="0" dirty="0" err="1"/>
              <a:t>QHTree.top</a:t>
            </a:r>
            <a:r>
              <a:rPr lang="en-US" altLang="zh-CN" b="0" dirty="0"/>
              <a:t>();      	QHTree.pop(); //</a:t>
            </a:r>
            <a:r>
              <a:rPr lang="zh-CN" altLang="en-US" b="0" dirty="0"/>
              <a:t>取值权值第二小树</a:t>
            </a:r>
            <a:endParaRPr lang="zh-CN" altLang="zh-CN" b="0" dirty="0"/>
          </a:p>
          <a:p>
            <a:pPr>
              <a:spcBef>
                <a:spcPts val="0"/>
              </a:spcBef>
            </a:pPr>
            <a:r>
              <a:rPr lang="en-US" altLang="zh-CN" b="0" dirty="0"/>
              <a:t>		p = new </a:t>
            </a:r>
            <a:r>
              <a:rPr lang="en-US" altLang="zh-CN" b="0" dirty="0" err="1"/>
              <a:t>HuffmanTree</a:t>
            </a:r>
            <a:r>
              <a:rPr lang="en-US" altLang="zh-CN" b="0" dirty="0"/>
              <a:t>&lt;T&gt;(</a:t>
            </a:r>
            <a:r>
              <a:rPr lang="en-US" altLang="zh-CN" b="0" dirty="0" err="1"/>
              <a:t>lc,rc,lc</a:t>
            </a:r>
            <a:r>
              <a:rPr lang="en-US" altLang="zh-CN" b="0" dirty="0"/>
              <a:t>-&gt;weight()+</a:t>
            </a:r>
            <a:r>
              <a:rPr lang="en-US" altLang="zh-CN" b="0" dirty="0" err="1"/>
              <a:t>rc</a:t>
            </a:r>
            <a:r>
              <a:rPr lang="en-US" altLang="zh-CN" b="0" dirty="0"/>
              <a:t>-&gt;weight());</a:t>
            </a:r>
            <a:endParaRPr lang="zh-CN" altLang="zh-CN" b="0" dirty="0"/>
          </a:p>
          <a:p>
            <a:pPr>
              <a:spcBef>
                <a:spcPts val="0"/>
              </a:spcBef>
            </a:pPr>
            <a:r>
              <a:rPr lang="en-US" altLang="zh-CN" b="0" dirty="0"/>
              <a:t>        	</a:t>
            </a:r>
            <a:r>
              <a:rPr lang="en-US" altLang="zh-CN" b="0" dirty="0" err="1"/>
              <a:t>QHTree.push</a:t>
            </a:r>
            <a:r>
              <a:rPr lang="en-US" altLang="zh-CN" b="0" dirty="0"/>
              <a:t>(p);  //</a:t>
            </a:r>
            <a:r>
              <a:rPr lang="zh-CN" altLang="en-US" b="0" dirty="0"/>
              <a:t>合并两棵最小树后加入优先队列</a:t>
            </a:r>
            <a:endParaRPr lang="zh-CN" altLang="zh-CN" b="0" dirty="0"/>
          </a:p>
          <a:p>
            <a:pPr>
              <a:spcBef>
                <a:spcPts val="0"/>
              </a:spcBef>
            </a:pPr>
            <a:r>
              <a:rPr lang="en-US" altLang="zh-CN" b="0" dirty="0"/>
              <a:t>    }</a:t>
            </a:r>
            <a:endParaRPr lang="zh-CN" altLang="zh-CN" b="0" dirty="0"/>
          </a:p>
          <a:p>
            <a:pPr>
              <a:spcBef>
                <a:spcPts val="0"/>
              </a:spcBef>
            </a:pPr>
            <a:r>
              <a:rPr lang="en-US" altLang="zh-CN" b="0" dirty="0"/>
              <a:t>    return </a:t>
            </a:r>
            <a:r>
              <a:rPr lang="en-US" altLang="zh-CN" b="0" dirty="0" err="1"/>
              <a:t>QHTree.top</a:t>
            </a:r>
            <a:r>
              <a:rPr lang="en-US" altLang="zh-CN" b="0" dirty="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484082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5.4.2 </a:t>
            </a:r>
            <a:r>
              <a:rPr lang="zh-CN" altLang="zh-CN" b="1" dirty="0"/>
              <a:t>哈夫曼编码</a:t>
            </a:r>
            <a:endParaRPr lang="zh-CN" altLang="en-US" dirty="0"/>
          </a:p>
        </p:txBody>
      </p:sp>
      <p:sp>
        <p:nvSpPr>
          <p:cNvPr id="3" name="内容占位符 2"/>
          <p:cNvSpPr>
            <a:spLocks noGrp="1"/>
          </p:cNvSpPr>
          <p:nvPr>
            <p:ph idx="1"/>
          </p:nvPr>
        </p:nvSpPr>
        <p:spPr>
          <a:xfrm>
            <a:off x="428596" y="1628800"/>
            <a:ext cx="8429684" cy="4586282"/>
          </a:xfrm>
        </p:spPr>
        <p:txBody>
          <a:bodyPr>
            <a:normAutofit/>
          </a:bodyPr>
          <a:lstStyle/>
          <a:p>
            <a:pPr>
              <a:spcBef>
                <a:spcPts val="600"/>
              </a:spcBef>
              <a:buFont typeface="Arial" panose="020B0604020202020204" pitchFamily="34" charset="0"/>
              <a:buChar char="•"/>
            </a:pPr>
            <a:r>
              <a:rPr lang="zh-CN" altLang="zh-CN" b="0" dirty="0">
                <a:solidFill>
                  <a:srgbClr val="FF0000"/>
                </a:solidFill>
              </a:rPr>
              <a:t>哈夫曼树可以用来设计二进制的前缀编码</a:t>
            </a:r>
            <a:r>
              <a:rPr lang="zh-CN" altLang="zh-CN" b="0" dirty="0"/>
              <a:t>，既满足前缀编码的条件，译码时不会产生二义性，又能保证报文的总编码长度最短。</a:t>
            </a:r>
            <a:endParaRPr lang="en-US" altLang="zh-CN" b="0" dirty="0"/>
          </a:p>
          <a:p>
            <a:pPr>
              <a:spcBef>
                <a:spcPts val="600"/>
              </a:spcBef>
              <a:buFont typeface="Arial" panose="020B0604020202020204" pitchFamily="34" charset="0"/>
              <a:buChar char="•"/>
            </a:pPr>
            <a:r>
              <a:rPr lang="zh-CN" altLang="zh-CN" dirty="0"/>
              <a:t>具体做法为：</a:t>
            </a:r>
            <a:endParaRPr lang="en-US" altLang="zh-CN" dirty="0"/>
          </a:p>
          <a:p>
            <a:pPr lvl="2">
              <a:spcBef>
                <a:spcPts val="600"/>
              </a:spcBef>
              <a:buFont typeface="Wingdings" pitchFamily="2" charset="2"/>
              <a:buChar char="ü"/>
            </a:pPr>
            <a:r>
              <a:rPr lang="zh-CN" altLang="zh-CN" b="0" dirty="0"/>
              <a:t>首先将字符集中的每个字符的使用频率作为权值构造一棵哈夫曼树；</a:t>
            </a:r>
            <a:endParaRPr lang="en-US" altLang="zh-CN" b="0" dirty="0"/>
          </a:p>
          <a:p>
            <a:pPr lvl="2">
              <a:spcBef>
                <a:spcPts val="600"/>
              </a:spcBef>
              <a:buFont typeface="Wingdings" pitchFamily="2" charset="2"/>
              <a:buChar char="ü"/>
            </a:pPr>
            <a:r>
              <a:rPr lang="zh-CN" altLang="zh-CN" b="0" dirty="0"/>
              <a:t>从根结点开始，分别把</a:t>
            </a:r>
            <a:r>
              <a:rPr lang="en-US" altLang="zh-CN" b="0" dirty="0"/>
              <a:t>‘0’</a:t>
            </a:r>
            <a:r>
              <a:rPr lang="zh-CN" altLang="zh-CN" b="0" dirty="0"/>
              <a:t>或</a:t>
            </a:r>
            <a:r>
              <a:rPr lang="en-US" altLang="zh-CN" b="0" dirty="0"/>
              <a:t>‘1’</a:t>
            </a:r>
            <a:r>
              <a:rPr lang="zh-CN" altLang="zh-CN" b="0" dirty="0"/>
              <a:t>标于树的每条边上</a:t>
            </a:r>
            <a:endParaRPr lang="en-US" altLang="zh-CN" b="0" dirty="0"/>
          </a:p>
          <a:p>
            <a:pPr lvl="2">
              <a:spcBef>
                <a:spcPts val="600"/>
              </a:spcBef>
              <a:buFont typeface="Wingdings" pitchFamily="2" charset="2"/>
              <a:buChar char="ü"/>
            </a:pPr>
            <a:r>
              <a:rPr lang="en-US" altLang="zh-CN" b="0" dirty="0"/>
              <a:t>‘0’</a:t>
            </a:r>
            <a:r>
              <a:rPr lang="zh-CN" altLang="zh-CN" b="0" dirty="0"/>
              <a:t>对应于连接左孩子的边，</a:t>
            </a:r>
            <a:r>
              <a:rPr lang="en-US" altLang="zh-CN" b="0" dirty="0"/>
              <a:t>‘1’</a:t>
            </a:r>
            <a:r>
              <a:rPr lang="zh-CN" altLang="zh-CN" b="0" dirty="0"/>
              <a:t>对应于连接右孩子的边</a:t>
            </a:r>
            <a:endParaRPr lang="en-US" altLang="zh-CN" b="0" dirty="0"/>
          </a:p>
          <a:p>
            <a:pPr lvl="2">
              <a:spcBef>
                <a:spcPts val="600"/>
              </a:spcBef>
              <a:buFont typeface="Wingdings" pitchFamily="2" charset="2"/>
              <a:buChar char="ü"/>
            </a:pPr>
            <a:r>
              <a:rPr lang="zh-CN" altLang="en-US" dirty="0"/>
              <a:t>从根到叶子的路径上‘</a:t>
            </a:r>
            <a:r>
              <a:rPr lang="en-US" altLang="zh-CN" dirty="0"/>
              <a:t>0</a:t>
            </a:r>
            <a:r>
              <a:rPr lang="zh-CN" altLang="en-US" dirty="0"/>
              <a:t>’‘</a:t>
            </a:r>
            <a:r>
              <a:rPr lang="en-US" altLang="zh-CN" dirty="0"/>
              <a:t>1</a:t>
            </a:r>
            <a:r>
              <a:rPr lang="zh-CN" altLang="en-US" dirty="0"/>
              <a:t>’串即为该叶子哈夫曼编码</a:t>
            </a:r>
            <a:endParaRPr lang="en-US" altLang="zh-CN" b="0" dirty="0"/>
          </a:p>
        </p:txBody>
      </p:sp>
    </p:spTree>
    <p:extLst>
      <p:ext uri="{BB962C8B-B14F-4D97-AF65-F5344CB8AC3E}">
        <p14:creationId xmlns:p14="http://schemas.microsoft.com/office/powerpoint/2010/main" val="42443050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43372" y="1714488"/>
            <a:ext cx="4752528" cy="3033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282" y="1412776"/>
            <a:ext cx="3788719" cy="34449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5882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659479"/>
            <a:ext cx="8249570" cy="3769653"/>
          </a:xfrm>
        </p:spPr>
        <p:txBody>
          <a:bodyPr>
            <a:normAutofit/>
          </a:bodyPr>
          <a:lstStyle/>
          <a:p>
            <a:r>
              <a:rPr lang="en-US" altLang="zh-CN" b="0" dirty="0"/>
              <a:t>	</a:t>
            </a:r>
            <a:r>
              <a:rPr lang="en-US" altLang="zh-CN" dirty="0">
                <a:solidFill>
                  <a:srgbClr val="FF0000"/>
                </a:solidFill>
              </a:rPr>
              <a:t>【</a:t>
            </a:r>
            <a:r>
              <a:rPr lang="zh-CN" altLang="en-US" dirty="0">
                <a:solidFill>
                  <a:srgbClr val="FF0000"/>
                </a:solidFill>
              </a:rPr>
              <a:t>例子</a:t>
            </a:r>
            <a:r>
              <a:rPr lang="en-US" altLang="zh-CN" dirty="0">
                <a:solidFill>
                  <a:srgbClr val="FF0000"/>
                </a:solidFill>
              </a:rPr>
              <a:t>1】</a:t>
            </a:r>
            <a:r>
              <a:rPr lang="zh-CN" altLang="en-US" dirty="0">
                <a:solidFill>
                  <a:srgbClr val="FF0000"/>
                </a:solidFill>
              </a:rPr>
              <a:t>：</a:t>
            </a:r>
            <a:endParaRPr lang="en-US" altLang="zh-CN" dirty="0">
              <a:solidFill>
                <a:srgbClr val="FF0000"/>
              </a:solidFill>
            </a:endParaRPr>
          </a:p>
          <a:p>
            <a:r>
              <a:rPr lang="en-US" altLang="zh-CN" b="0" dirty="0">
                <a:solidFill>
                  <a:srgbClr val="FF0000"/>
                </a:solidFill>
              </a:rPr>
              <a:t>		</a:t>
            </a:r>
            <a:r>
              <a:rPr lang="zh-CN" altLang="en-US" b="0" dirty="0"/>
              <a:t>给定一段报文：</a:t>
            </a:r>
            <a:r>
              <a:rPr lang="en-US" b="0" dirty="0"/>
              <a:t>CASATTAASCATSAAAS</a:t>
            </a:r>
            <a:r>
              <a:rPr lang="zh-CN" altLang="en-US" b="0" dirty="0"/>
              <a:t>，字符集合是</a:t>
            </a:r>
            <a:r>
              <a:rPr lang="en-US" b="0" dirty="0"/>
              <a:t>{C, A, S, T}</a:t>
            </a:r>
            <a:r>
              <a:rPr lang="zh-CN" altLang="en-US" b="0" dirty="0"/>
              <a:t>，各个字符出现的频率</a:t>
            </a:r>
            <a:r>
              <a:rPr lang="en-US" altLang="zh-CN" b="0" dirty="0"/>
              <a:t>(</a:t>
            </a:r>
            <a:r>
              <a:rPr lang="zh-CN" altLang="en-US" b="0" dirty="0"/>
              <a:t>次数</a:t>
            </a:r>
            <a:r>
              <a:rPr lang="en-US" altLang="zh-CN" b="0" dirty="0"/>
              <a:t>)</a:t>
            </a:r>
            <a:r>
              <a:rPr lang="zh-CN" altLang="en-US" b="0" dirty="0"/>
              <a:t>是</a:t>
            </a:r>
            <a:r>
              <a:rPr lang="en-US" b="0" dirty="0"/>
              <a:t>W = {2, 8, 4, 3}</a:t>
            </a:r>
            <a:r>
              <a:rPr lang="zh-CN" altLang="en-US" b="0" dirty="0"/>
              <a:t>。两种编码方式：</a:t>
            </a:r>
            <a:endParaRPr lang="en-US" altLang="zh-CN" b="0" dirty="0"/>
          </a:p>
          <a:p>
            <a:r>
              <a:rPr lang="en-US" altLang="zh-CN" dirty="0"/>
              <a:t>	</a:t>
            </a:r>
            <a:r>
              <a:rPr lang="zh-CN" altLang="en-US" dirty="0">
                <a:solidFill>
                  <a:srgbClr val="FF0000"/>
                </a:solidFill>
              </a:rPr>
              <a:t>第一种编码方式是等长编码</a:t>
            </a:r>
            <a:r>
              <a:rPr lang="zh-CN" altLang="en-US" dirty="0"/>
              <a:t>，</a:t>
            </a:r>
            <a:r>
              <a:rPr lang="zh-CN" altLang="en-US" b="0" dirty="0"/>
              <a:t>它也是最简单的二进制编码方式，等长编码的每个字符的编码长度都相同</a:t>
            </a:r>
            <a:r>
              <a:rPr lang="en-US" altLang="zh-CN" b="0" dirty="0"/>
              <a:t>(</a:t>
            </a:r>
            <a:r>
              <a:rPr lang="zh-CN" altLang="en-US" b="0" dirty="0"/>
              <a:t>编码长度就是每个编码所含的二进制位数</a:t>
            </a:r>
            <a:r>
              <a:rPr lang="en-US" altLang="zh-CN" b="0" dirty="0"/>
              <a:t>)</a:t>
            </a:r>
            <a:r>
              <a:rPr lang="zh-CN" altLang="en-US" b="0" dirty="0"/>
              <a:t>，表示</a:t>
            </a:r>
            <a:r>
              <a:rPr lang="en-US" b="0" dirty="0"/>
              <a:t>n</a:t>
            </a:r>
            <a:r>
              <a:rPr lang="zh-CN" altLang="en-US" b="0" dirty="0"/>
              <a:t>个不同字符需要位。</a:t>
            </a:r>
            <a:r>
              <a:rPr lang="en-US" altLang="zh-CN" b="0" dirty="0"/>
              <a:t>WPL=2*2+8*2+4*2+3*2=34</a:t>
            </a:r>
            <a:endParaRPr lang="zh-CN" altLang="en-US" b="0" dirty="0"/>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2036827079"/>
              </p:ext>
            </p:extLst>
          </p:nvPr>
        </p:nvGraphicFramePr>
        <p:xfrm>
          <a:off x="3000364" y="4509120"/>
          <a:ext cx="4143404" cy="1727888"/>
        </p:xfrm>
        <a:graphic>
          <a:graphicData uri="http://schemas.openxmlformats.org/presentationml/2006/ole">
            <mc:AlternateContent xmlns:mc="http://schemas.openxmlformats.org/markup-compatibility/2006">
              <mc:Choice xmlns:v="urn:schemas-microsoft-com:vml" Requires="v">
                <p:oleObj spid="_x0000_s171030" r:id="rId2" imgW="3109609" imgH="1315528" progId="">
                  <p:embed/>
                </p:oleObj>
              </mc:Choice>
              <mc:Fallback>
                <p:oleObj r:id="rId2" imgW="3109609" imgH="1315528" progId="">
                  <p:embed/>
                  <p:pic>
                    <p:nvPicPr>
                      <p:cNvPr id="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64" y="4509120"/>
                        <a:ext cx="4143404" cy="172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1071546"/>
            <a:ext cx="8163882" cy="3579849"/>
          </a:xfrm>
        </p:spPr>
        <p:txBody>
          <a:bodyPr/>
          <a:lstStyle/>
          <a:p>
            <a:r>
              <a:rPr lang="en-US" altLang="zh-CN" b="0" dirty="0"/>
              <a:t>	</a:t>
            </a:r>
            <a:r>
              <a:rPr lang="zh-CN" altLang="en-US" dirty="0">
                <a:solidFill>
                  <a:srgbClr val="FF0000"/>
                </a:solidFill>
              </a:rPr>
              <a:t>第二种编码方式为不等长编码</a:t>
            </a:r>
            <a:r>
              <a:rPr lang="zh-CN" altLang="en-US" dirty="0"/>
              <a:t>。</a:t>
            </a:r>
            <a:r>
              <a:rPr lang="zh-CN" altLang="en-US" b="0" dirty="0"/>
              <a:t>若报文中可能出现</a:t>
            </a:r>
            <a:r>
              <a:rPr lang="en-US" b="0" dirty="0"/>
              <a:t>26</a:t>
            </a:r>
            <a:r>
              <a:rPr lang="zh-CN" altLang="en-US" b="0" dirty="0"/>
              <a:t>个不同字符，则等长编码的长度为</a:t>
            </a:r>
            <a:r>
              <a:rPr lang="en-US" b="0" dirty="0"/>
              <a:t>5</a:t>
            </a:r>
            <a:r>
              <a:rPr lang="zh-CN" altLang="en-US" b="0" dirty="0"/>
              <a:t>。在实际应用当中，各个字符的出现频率或使用次数是不相同的，因此，在传送报文时，为了使编码长度尽可能的短，可以将每个字符的编码设计为不等长的，使用频率高的字符分配一个相对较短的编码，使用频率较低的字符分配一个较长的编码，以优化整个报文的编码长度。</a:t>
            </a:r>
          </a:p>
        </p:txBody>
      </p:sp>
      <p:sp>
        <p:nvSpPr>
          <p:cNvPr id="1720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4" name="组合 33"/>
          <p:cNvGrpSpPr/>
          <p:nvPr/>
        </p:nvGrpSpPr>
        <p:grpSpPr>
          <a:xfrm>
            <a:off x="2000232" y="4429132"/>
            <a:ext cx="2000264" cy="1726654"/>
            <a:chOff x="142844" y="4572008"/>
            <a:chExt cx="2000264" cy="1726654"/>
          </a:xfrm>
        </p:grpSpPr>
        <p:sp>
          <p:nvSpPr>
            <p:cNvPr id="5" name="椭圆 4"/>
            <p:cNvSpPr/>
            <p:nvPr/>
          </p:nvSpPr>
          <p:spPr>
            <a:xfrm>
              <a:off x="1643042" y="492919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42976" y="457200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85786" y="5000636"/>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214414" y="5429264"/>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00034" y="5500702"/>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42844" y="600076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57224" y="5929330"/>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7" idx="5"/>
              <a:endCxn id="5" idx="1"/>
            </p:cNvCxnSpPr>
            <p:nvPr/>
          </p:nvCxnSpPr>
          <p:spPr>
            <a:xfrm rot="16200000" flipH="1">
              <a:off x="1529757" y="4794989"/>
              <a:ext cx="155132" cy="1969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6200000" flipH="1">
              <a:off x="1163900" y="5265464"/>
              <a:ext cx="155132" cy="1969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0" idx="5"/>
            </p:cNvCxnSpPr>
            <p:nvPr/>
          </p:nvCxnSpPr>
          <p:spPr>
            <a:xfrm rot="16200000" flipH="1">
              <a:off x="861558" y="5748939"/>
              <a:ext cx="196979" cy="1883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7" idx="3"/>
              <a:endCxn id="8" idx="0"/>
            </p:cNvCxnSpPr>
            <p:nvPr/>
          </p:nvCxnSpPr>
          <p:spPr>
            <a:xfrm rot="5400000">
              <a:off x="1010563" y="4805451"/>
              <a:ext cx="184723" cy="2056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10" idx="0"/>
            </p:cNvCxnSpPr>
            <p:nvPr/>
          </p:nvCxnSpPr>
          <p:spPr>
            <a:xfrm rot="5400000">
              <a:off x="714348" y="5286388"/>
              <a:ext cx="214314" cy="21431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a:off x="428596" y="5786454"/>
              <a:ext cx="214314" cy="21431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643042" y="4937951"/>
              <a:ext cx="500066" cy="338554"/>
            </a:xfrm>
            <a:prstGeom prst="rect">
              <a:avLst/>
            </a:prstGeom>
            <a:noFill/>
          </p:spPr>
          <p:txBody>
            <a:bodyPr wrap="square" rtlCol="0">
              <a:spAutoFit/>
            </a:bodyPr>
            <a:lstStyle/>
            <a:p>
              <a:r>
                <a:rPr lang="en-US" altLang="zh-CN" sz="1600" dirty="0"/>
                <a:t>A:8</a:t>
              </a:r>
              <a:endParaRPr lang="zh-CN" altLang="en-US" sz="1600" dirty="0"/>
            </a:p>
          </p:txBody>
        </p:sp>
        <p:sp>
          <p:nvSpPr>
            <p:cNvPr id="25" name="TextBox 24"/>
            <p:cNvSpPr txBox="1"/>
            <p:nvPr/>
          </p:nvSpPr>
          <p:spPr>
            <a:xfrm>
              <a:off x="1214414" y="5357826"/>
              <a:ext cx="571504" cy="369332"/>
            </a:xfrm>
            <a:prstGeom prst="rect">
              <a:avLst/>
            </a:prstGeom>
            <a:noFill/>
          </p:spPr>
          <p:txBody>
            <a:bodyPr wrap="square" rtlCol="0">
              <a:spAutoFit/>
            </a:bodyPr>
            <a:lstStyle/>
            <a:p>
              <a:r>
                <a:rPr lang="en-US" altLang="zh-CN" dirty="0"/>
                <a:t>S:4</a:t>
              </a:r>
              <a:endParaRPr lang="zh-CN" altLang="en-US" dirty="0"/>
            </a:p>
          </p:txBody>
        </p:sp>
        <p:sp>
          <p:nvSpPr>
            <p:cNvPr id="26" name="TextBox 25"/>
            <p:cNvSpPr txBox="1"/>
            <p:nvPr/>
          </p:nvSpPr>
          <p:spPr>
            <a:xfrm>
              <a:off x="857224" y="5857892"/>
              <a:ext cx="642942" cy="369332"/>
            </a:xfrm>
            <a:prstGeom prst="rect">
              <a:avLst/>
            </a:prstGeom>
            <a:noFill/>
          </p:spPr>
          <p:txBody>
            <a:bodyPr wrap="square" rtlCol="0">
              <a:spAutoFit/>
            </a:bodyPr>
            <a:lstStyle/>
            <a:p>
              <a:r>
                <a:rPr lang="en-US" altLang="zh-CN" dirty="0"/>
                <a:t>C:2</a:t>
              </a:r>
              <a:endParaRPr lang="zh-CN" altLang="en-US" dirty="0"/>
            </a:p>
          </p:txBody>
        </p:sp>
        <p:sp>
          <p:nvSpPr>
            <p:cNvPr id="27" name="TextBox 26"/>
            <p:cNvSpPr txBox="1"/>
            <p:nvPr/>
          </p:nvSpPr>
          <p:spPr>
            <a:xfrm>
              <a:off x="142844" y="5929330"/>
              <a:ext cx="571504" cy="369332"/>
            </a:xfrm>
            <a:prstGeom prst="rect">
              <a:avLst/>
            </a:prstGeom>
            <a:noFill/>
          </p:spPr>
          <p:txBody>
            <a:bodyPr wrap="square" rtlCol="0">
              <a:spAutoFit/>
            </a:bodyPr>
            <a:lstStyle/>
            <a:p>
              <a:r>
                <a:rPr lang="en-US" altLang="zh-CN" dirty="0"/>
                <a:t>T:3</a:t>
              </a:r>
              <a:endParaRPr lang="zh-CN" altLang="en-US" dirty="0"/>
            </a:p>
          </p:txBody>
        </p:sp>
        <p:sp>
          <p:nvSpPr>
            <p:cNvPr id="28" name="TextBox 27"/>
            <p:cNvSpPr txBox="1"/>
            <p:nvPr/>
          </p:nvSpPr>
          <p:spPr>
            <a:xfrm>
              <a:off x="857224" y="4714884"/>
              <a:ext cx="285752" cy="307777"/>
            </a:xfrm>
            <a:prstGeom prst="rect">
              <a:avLst/>
            </a:prstGeom>
            <a:noFill/>
          </p:spPr>
          <p:txBody>
            <a:bodyPr wrap="square" rtlCol="0">
              <a:spAutoFit/>
            </a:bodyPr>
            <a:lstStyle/>
            <a:p>
              <a:r>
                <a:rPr lang="en-US" altLang="zh-CN" sz="1400" dirty="0"/>
                <a:t>0</a:t>
              </a:r>
              <a:endParaRPr lang="zh-CN" altLang="en-US" sz="1400" dirty="0"/>
            </a:p>
          </p:txBody>
        </p:sp>
        <p:sp>
          <p:nvSpPr>
            <p:cNvPr id="29" name="TextBox 28"/>
            <p:cNvSpPr txBox="1"/>
            <p:nvPr/>
          </p:nvSpPr>
          <p:spPr>
            <a:xfrm>
              <a:off x="571472" y="5143512"/>
              <a:ext cx="285752" cy="307777"/>
            </a:xfrm>
            <a:prstGeom prst="rect">
              <a:avLst/>
            </a:prstGeom>
            <a:noFill/>
          </p:spPr>
          <p:txBody>
            <a:bodyPr wrap="square" rtlCol="0">
              <a:spAutoFit/>
            </a:bodyPr>
            <a:lstStyle/>
            <a:p>
              <a:r>
                <a:rPr lang="en-US" altLang="zh-CN" sz="1400" dirty="0"/>
                <a:t>0</a:t>
              </a:r>
              <a:endParaRPr lang="zh-CN" altLang="en-US" sz="1400" dirty="0"/>
            </a:p>
          </p:txBody>
        </p:sp>
        <p:sp>
          <p:nvSpPr>
            <p:cNvPr id="30" name="TextBox 29"/>
            <p:cNvSpPr txBox="1"/>
            <p:nvPr/>
          </p:nvSpPr>
          <p:spPr>
            <a:xfrm>
              <a:off x="285720" y="5692991"/>
              <a:ext cx="285752" cy="307777"/>
            </a:xfrm>
            <a:prstGeom prst="rect">
              <a:avLst/>
            </a:prstGeom>
            <a:noFill/>
          </p:spPr>
          <p:txBody>
            <a:bodyPr wrap="square" rtlCol="0">
              <a:spAutoFit/>
            </a:bodyPr>
            <a:lstStyle/>
            <a:p>
              <a:r>
                <a:rPr lang="en-US" altLang="zh-CN" sz="1400" dirty="0"/>
                <a:t>0</a:t>
              </a:r>
              <a:endParaRPr lang="zh-CN" altLang="en-US" sz="1400" dirty="0"/>
            </a:p>
          </p:txBody>
        </p:sp>
        <p:sp>
          <p:nvSpPr>
            <p:cNvPr id="31" name="TextBox 30"/>
            <p:cNvSpPr txBox="1"/>
            <p:nvPr/>
          </p:nvSpPr>
          <p:spPr>
            <a:xfrm>
              <a:off x="1571604" y="4643446"/>
              <a:ext cx="285752" cy="307777"/>
            </a:xfrm>
            <a:prstGeom prst="rect">
              <a:avLst/>
            </a:prstGeom>
            <a:noFill/>
          </p:spPr>
          <p:txBody>
            <a:bodyPr wrap="square" rtlCol="0">
              <a:spAutoFit/>
            </a:bodyPr>
            <a:lstStyle/>
            <a:p>
              <a:r>
                <a:rPr lang="en-US" altLang="zh-CN" sz="1400" dirty="0"/>
                <a:t>1</a:t>
              </a:r>
              <a:endParaRPr lang="zh-CN" altLang="en-US" sz="1400" dirty="0"/>
            </a:p>
          </p:txBody>
        </p:sp>
        <p:sp>
          <p:nvSpPr>
            <p:cNvPr id="32" name="TextBox 31"/>
            <p:cNvSpPr txBox="1"/>
            <p:nvPr/>
          </p:nvSpPr>
          <p:spPr>
            <a:xfrm>
              <a:off x="1214414" y="5143512"/>
              <a:ext cx="285752" cy="307777"/>
            </a:xfrm>
            <a:prstGeom prst="rect">
              <a:avLst/>
            </a:prstGeom>
            <a:noFill/>
          </p:spPr>
          <p:txBody>
            <a:bodyPr wrap="square" rtlCol="0">
              <a:spAutoFit/>
            </a:bodyPr>
            <a:lstStyle/>
            <a:p>
              <a:r>
                <a:rPr lang="en-US" altLang="zh-CN" sz="1400" dirty="0"/>
                <a:t>1</a:t>
              </a:r>
              <a:endParaRPr lang="zh-CN" altLang="en-US" sz="1400" dirty="0"/>
            </a:p>
          </p:txBody>
        </p:sp>
        <p:sp>
          <p:nvSpPr>
            <p:cNvPr id="33" name="TextBox 32"/>
            <p:cNvSpPr txBox="1"/>
            <p:nvPr/>
          </p:nvSpPr>
          <p:spPr>
            <a:xfrm>
              <a:off x="857224" y="5572140"/>
              <a:ext cx="285752" cy="307777"/>
            </a:xfrm>
            <a:prstGeom prst="rect">
              <a:avLst/>
            </a:prstGeom>
            <a:noFill/>
          </p:spPr>
          <p:txBody>
            <a:bodyPr wrap="square" rtlCol="0">
              <a:spAutoFit/>
            </a:bodyPr>
            <a:lstStyle/>
            <a:p>
              <a:r>
                <a:rPr lang="en-US" altLang="zh-CN" sz="1400" dirty="0"/>
                <a:t>1</a:t>
              </a:r>
              <a:endParaRPr lang="zh-CN" altLang="en-US" sz="1400" dirty="0"/>
            </a:p>
          </p:txBody>
        </p:sp>
      </p:grpSp>
      <p:sp>
        <p:nvSpPr>
          <p:cNvPr id="35" name="TextBox 34"/>
          <p:cNvSpPr txBox="1"/>
          <p:nvPr/>
        </p:nvSpPr>
        <p:spPr>
          <a:xfrm>
            <a:off x="4929190" y="4572008"/>
            <a:ext cx="4000528" cy="1631216"/>
          </a:xfrm>
          <a:prstGeom prst="rect">
            <a:avLst/>
          </a:prstGeom>
          <a:noFill/>
        </p:spPr>
        <p:txBody>
          <a:bodyPr wrap="square" rtlCol="0">
            <a:spAutoFit/>
          </a:bodyPr>
          <a:lstStyle/>
          <a:p>
            <a:r>
              <a:rPr lang="en-US" altLang="zh-CN" sz="2000" dirty="0">
                <a:latin typeface="Times New Roman" pitchFamily="18" charset="0"/>
                <a:cs typeface="Times New Roman" pitchFamily="18" charset="0"/>
              </a:rPr>
              <a:t>C(2): 001</a:t>
            </a:r>
          </a:p>
          <a:p>
            <a:r>
              <a:rPr lang="en-US" altLang="zh-CN" sz="2000" dirty="0">
                <a:latin typeface="Times New Roman" pitchFamily="18" charset="0"/>
                <a:cs typeface="Times New Roman" pitchFamily="18" charset="0"/>
              </a:rPr>
              <a:t>A(8): 1</a:t>
            </a:r>
          </a:p>
          <a:p>
            <a:r>
              <a:rPr lang="en-US" altLang="zh-CN" sz="2000" dirty="0">
                <a:latin typeface="Times New Roman" pitchFamily="18" charset="0"/>
                <a:cs typeface="Times New Roman" pitchFamily="18" charset="0"/>
              </a:rPr>
              <a:t>S(4): 01</a:t>
            </a:r>
          </a:p>
          <a:p>
            <a:r>
              <a:rPr lang="en-US" altLang="zh-CN" sz="2000" dirty="0">
                <a:latin typeface="Times New Roman" pitchFamily="18" charset="0"/>
                <a:cs typeface="Times New Roman" pitchFamily="18" charset="0"/>
              </a:rPr>
              <a:t>T(3): 000</a:t>
            </a:r>
          </a:p>
          <a:p>
            <a:r>
              <a:rPr lang="en-US" altLang="zh-CN" sz="2000" dirty="0">
                <a:latin typeface="Times New Roman" pitchFamily="18" charset="0"/>
                <a:cs typeface="Times New Roman" pitchFamily="18" charset="0"/>
              </a:rPr>
              <a:t>WPL=2*3+8*1+4*2+3*3=31</a:t>
            </a:r>
            <a:endParaRPr lang="zh-CN" altLang="en-US" sz="2000"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764704"/>
            <a:ext cx="7520940" cy="5400600"/>
          </a:xfrm>
        </p:spPr>
        <p:txBody>
          <a:bodyPr>
            <a:normAutofit fontScale="85000" lnSpcReduction="20000"/>
          </a:bodyPr>
          <a:lstStyle/>
          <a:p>
            <a:pPr>
              <a:spcBef>
                <a:spcPts val="0"/>
              </a:spcBef>
            </a:pPr>
            <a:r>
              <a:rPr lang="zh-CN" altLang="zh-CN" dirty="0"/>
              <a:t>算法</a:t>
            </a:r>
            <a:r>
              <a:rPr lang="en-US" altLang="zh-CN" dirty="0"/>
              <a:t>5.15</a:t>
            </a:r>
            <a:r>
              <a:rPr lang="zh-CN" altLang="zh-CN" dirty="0"/>
              <a:t>：哈夫曼</a:t>
            </a:r>
            <a:r>
              <a:rPr lang="zh-CN" altLang="zh-CN" dirty="0">
                <a:solidFill>
                  <a:srgbClr val="FF0000"/>
                </a:solidFill>
              </a:rPr>
              <a:t>编码</a:t>
            </a:r>
            <a:r>
              <a:rPr lang="zh-CN" altLang="zh-CN" dirty="0"/>
              <a:t>的实现</a:t>
            </a:r>
          </a:p>
          <a:p>
            <a:pPr>
              <a:spcBef>
                <a:spcPts val="0"/>
              </a:spcBef>
            </a:pPr>
            <a:r>
              <a:rPr lang="en-US" altLang="zh-CN" b="0" dirty="0" err="1"/>
              <a:t>typedef</a:t>
            </a:r>
            <a:r>
              <a:rPr lang="en-US" altLang="zh-CN" b="0" dirty="0"/>
              <a:t> vector&lt;bool&gt; </a:t>
            </a:r>
            <a:r>
              <a:rPr lang="en-US" altLang="zh-CN" b="0" dirty="0" err="1"/>
              <a:t>Huff_Code</a:t>
            </a:r>
            <a:r>
              <a:rPr lang="en-US" altLang="zh-CN" b="0" dirty="0"/>
              <a:t>;	//8 bit code of one char</a:t>
            </a:r>
            <a:endParaRPr lang="zh-CN" altLang="zh-CN" b="0" dirty="0"/>
          </a:p>
          <a:p>
            <a:pPr>
              <a:spcBef>
                <a:spcPts val="0"/>
              </a:spcBef>
            </a:pPr>
            <a:r>
              <a:rPr lang="en-US" altLang="zh-CN" b="0" dirty="0"/>
              <a:t>map&lt;char, </a:t>
            </a:r>
            <a:r>
              <a:rPr lang="en-US" altLang="zh-CN" b="0" dirty="0" err="1"/>
              <a:t>Huff_Code</a:t>
            </a:r>
            <a:r>
              <a:rPr lang="en-US" altLang="zh-CN" b="0" dirty="0"/>
              <a:t>&gt; </a:t>
            </a:r>
            <a:r>
              <a:rPr lang="en-US" altLang="zh-CN" b="0" dirty="0" err="1"/>
              <a:t>Huff_Dic</a:t>
            </a:r>
            <a:r>
              <a:rPr lang="en-US" altLang="zh-CN" b="0" dirty="0"/>
              <a:t>;	//Huffman code dictionary</a:t>
            </a:r>
            <a:endParaRPr lang="zh-CN" altLang="zh-CN" b="0" dirty="0"/>
          </a:p>
          <a:p>
            <a:pPr>
              <a:spcBef>
                <a:spcPts val="0"/>
              </a:spcBef>
            </a:pPr>
            <a:r>
              <a:rPr lang="en-US" altLang="zh-CN" b="0" dirty="0"/>
              <a:t>//</a:t>
            </a:r>
            <a:r>
              <a:rPr lang="zh-CN" altLang="zh-CN" b="0" dirty="0"/>
              <a:t>哈夫曼编码</a:t>
            </a:r>
          </a:p>
          <a:p>
            <a:pPr>
              <a:spcBef>
                <a:spcPts val="0"/>
              </a:spcBef>
            </a:pPr>
            <a:r>
              <a:rPr lang="en-US" altLang="zh-CN" b="0" dirty="0"/>
              <a:t>template&lt;class T&gt;</a:t>
            </a:r>
            <a:endParaRPr lang="zh-CN" altLang="zh-CN" b="0" dirty="0"/>
          </a:p>
          <a:p>
            <a:pPr>
              <a:spcBef>
                <a:spcPts val="0"/>
              </a:spcBef>
            </a:pPr>
            <a:r>
              <a:rPr lang="en-US" altLang="zh-CN" b="0" dirty="0"/>
              <a:t>void </a:t>
            </a:r>
            <a:r>
              <a:rPr lang="en-US" altLang="zh-CN" b="0" dirty="0" err="1"/>
              <a:t>Huffman_Code</a:t>
            </a:r>
            <a:r>
              <a:rPr lang="en-US" altLang="zh-CN" b="0" dirty="0"/>
              <a:t>(</a:t>
            </a:r>
            <a:r>
              <a:rPr lang="en-US" altLang="zh-CN" b="0" dirty="0" err="1"/>
              <a:t>HuffmanTreeNode</a:t>
            </a:r>
            <a:r>
              <a:rPr lang="en-US" altLang="zh-CN" b="0" dirty="0"/>
              <a:t>&lt;T&gt; *r, </a:t>
            </a:r>
            <a:r>
              <a:rPr lang="en-US" altLang="zh-CN" b="0" dirty="0" err="1"/>
              <a:t>Huff_Code</a:t>
            </a:r>
            <a:r>
              <a:rPr lang="en-US" altLang="zh-CN" b="0" dirty="0"/>
              <a:t> </a:t>
            </a:r>
            <a:r>
              <a:rPr lang="en-US" altLang="zh-CN" b="0" dirty="0" err="1"/>
              <a:t>curcode</a:t>
            </a:r>
            <a:r>
              <a:rPr lang="en-US" altLang="zh-CN" b="0" dirty="0"/>
              <a:t>){</a:t>
            </a:r>
            <a:endParaRPr lang="zh-CN" altLang="zh-CN" b="0" dirty="0"/>
          </a:p>
          <a:p>
            <a:pPr>
              <a:spcBef>
                <a:spcPts val="0"/>
              </a:spcBef>
            </a:pPr>
            <a:r>
              <a:rPr lang="en-US" altLang="zh-CN" b="0" dirty="0"/>
              <a:t>    if (r-&gt;</a:t>
            </a:r>
            <a:r>
              <a:rPr lang="en-US" altLang="zh-CN" b="0" dirty="0" err="1"/>
              <a:t>isLeaf</a:t>
            </a:r>
            <a:r>
              <a:rPr lang="en-US" altLang="zh-CN" b="0" dirty="0"/>
              <a:t>()){</a:t>
            </a:r>
            <a:endParaRPr lang="zh-CN" altLang="zh-CN" b="0" dirty="0"/>
          </a:p>
          <a:p>
            <a:pPr>
              <a:spcBef>
                <a:spcPts val="0"/>
              </a:spcBef>
            </a:pPr>
            <a:r>
              <a:rPr lang="en-US" altLang="zh-CN" b="0" dirty="0"/>
              <a:t>        </a:t>
            </a:r>
            <a:r>
              <a:rPr lang="en-US" altLang="zh-CN" b="0" dirty="0" err="1"/>
              <a:t>Huff_Dic</a:t>
            </a:r>
            <a:r>
              <a:rPr lang="en-US" altLang="zh-CN" b="0" dirty="0"/>
              <a:t>[r-&gt;element()] = </a:t>
            </a:r>
            <a:r>
              <a:rPr lang="en-US" altLang="zh-CN" b="0" dirty="0" err="1"/>
              <a:t>curcode</a:t>
            </a:r>
            <a:r>
              <a:rPr lang="en-US" altLang="zh-CN" b="0" dirty="0"/>
              <a:t>;</a:t>
            </a:r>
            <a:endParaRPr lang="zh-CN" altLang="zh-CN" b="0" dirty="0"/>
          </a:p>
          <a:p>
            <a:pPr>
              <a:spcBef>
                <a:spcPts val="0"/>
              </a:spcBef>
            </a:pPr>
            <a:r>
              <a:rPr lang="en-US" altLang="zh-CN" b="0" dirty="0"/>
              <a:t>        return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Huff_Code</a:t>
            </a:r>
            <a:r>
              <a:rPr lang="en-US" altLang="zh-CN" b="0" dirty="0"/>
              <a:t> </a:t>
            </a:r>
            <a:r>
              <a:rPr lang="en-US" altLang="zh-CN" b="0" dirty="0" err="1"/>
              <a:t>lcode</a:t>
            </a:r>
            <a:r>
              <a:rPr lang="en-US" altLang="zh-CN" b="0" dirty="0"/>
              <a:t> = </a:t>
            </a:r>
            <a:r>
              <a:rPr lang="en-US" altLang="zh-CN" b="0" dirty="0" err="1"/>
              <a:t>curcode</a:t>
            </a:r>
            <a:r>
              <a:rPr lang="en-US" altLang="zh-CN" b="0" dirty="0"/>
              <a:t>;</a:t>
            </a:r>
            <a:endParaRPr lang="zh-CN" altLang="zh-CN" b="0" dirty="0"/>
          </a:p>
          <a:p>
            <a:pPr>
              <a:spcBef>
                <a:spcPts val="0"/>
              </a:spcBef>
            </a:pPr>
            <a:r>
              <a:rPr lang="en-US" altLang="zh-CN" b="0" dirty="0"/>
              <a:t>    </a:t>
            </a:r>
            <a:r>
              <a:rPr lang="en-US" altLang="zh-CN" b="0" dirty="0" err="1"/>
              <a:t>Huff_Code</a:t>
            </a:r>
            <a:r>
              <a:rPr lang="en-US" altLang="zh-CN" b="0" dirty="0"/>
              <a:t> </a:t>
            </a:r>
            <a:r>
              <a:rPr lang="en-US" altLang="zh-CN" b="0" dirty="0" err="1"/>
              <a:t>rcode</a:t>
            </a:r>
            <a:r>
              <a:rPr lang="en-US" altLang="zh-CN" b="0" dirty="0"/>
              <a:t> = </a:t>
            </a:r>
            <a:r>
              <a:rPr lang="en-US" altLang="zh-CN" b="0" dirty="0" err="1"/>
              <a:t>curcode</a:t>
            </a:r>
            <a:r>
              <a:rPr lang="en-US" altLang="zh-CN" b="0" dirty="0"/>
              <a:t>;</a:t>
            </a:r>
            <a:endParaRPr lang="zh-CN" altLang="zh-CN" b="0" dirty="0"/>
          </a:p>
          <a:p>
            <a:pPr>
              <a:spcBef>
                <a:spcPts val="0"/>
              </a:spcBef>
            </a:pPr>
            <a:r>
              <a:rPr lang="en-US" altLang="zh-CN" b="0" dirty="0"/>
              <a:t>    </a:t>
            </a:r>
            <a:r>
              <a:rPr lang="en-US" altLang="zh-CN" b="0" dirty="0" err="1"/>
              <a:t>lcode.push_back</a:t>
            </a:r>
            <a:r>
              <a:rPr lang="en-US" altLang="zh-CN" b="0" dirty="0"/>
              <a:t>(false);</a:t>
            </a:r>
            <a:endParaRPr lang="zh-CN" altLang="zh-CN" b="0" dirty="0"/>
          </a:p>
          <a:p>
            <a:pPr>
              <a:spcBef>
                <a:spcPts val="0"/>
              </a:spcBef>
            </a:pPr>
            <a:r>
              <a:rPr lang="en-US" altLang="zh-CN" b="0" dirty="0"/>
              <a:t>    </a:t>
            </a:r>
            <a:r>
              <a:rPr lang="en-US" altLang="zh-CN" b="0" dirty="0" err="1"/>
              <a:t>rcode.push_back</a:t>
            </a:r>
            <a:r>
              <a:rPr lang="en-US" altLang="zh-CN" b="0" dirty="0"/>
              <a:t>(true);</a:t>
            </a:r>
            <a:endParaRPr lang="zh-CN" altLang="zh-CN" b="0" dirty="0"/>
          </a:p>
          <a:p>
            <a:pPr>
              <a:spcBef>
                <a:spcPts val="0"/>
              </a:spcBef>
            </a:pPr>
            <a:r>
              <a:rPr lang="en-US" altLang="zh-CN" b="0" dirty="0"/>
              <a:t>    </a:t>
            </a:r>
            <a:r>
              <a:rPr lang="en-US" altLang="zh-CN" b="0" dirty="0" err="1"/>
              <a:t>Huffman_Code</a:t>
            </a:r>
            <a:r>
              <a:rPr lang="en-US" altLang="zh-CN" b="0" dirty="0"/>
              <a:t>(r-&gt;Left(), </a:t>
            </a:r>
            <a:r>
              <a:rPr lang="en-US" altLang="zh-CN" b="0" dirty="0" err="1"/>
              <a:t>lcode</a:t>
            </a:r>
            <a:r>
              <a:rPr lang="en-US" altLang="zh-CN" b="0" dirty="0"/>
              <a:t>);</a:t>
            </a:r>
            <a:endParaRPr lang="zh-CN" altLang="zh-CN" b="0" dirty="0"/>
          </a:p>
          <a:p>
            <a:pPr>
              <a:spcBef>
                <a:spcPts val="0"/>
              </a:spcBef>
            </a:pPr>
            <a:r>
              <a:rPr lang="en-US" altLang="zh-CN" b="0" dirty="0"/>
              <a:t>    </a:t>
            </a:r>
            <a:r>
              <a:rPr lang="en-US" altLang="zh-CN" b="0" dirty="0" err="1"/>
              <a:t>Huffman_Code</a:t>
            </a:r>
            <a:r>
              <a:rPr lang="en-US" altLang="zh-CN" b="0" dirty="0"/>
              <a:t>(r-&gt;Right(), </a:t>
            </a:r>
            <a:r>
              <a:rPr lang="en-US" altLang="zh-CN" b="0" dirty="0" err="1"/>
              <a:t>rcode</a:t>
            </a:r>
            <a:r>
              <a:rPr lang="en-US" altLang="zh-CN" b="0" dirty="0"/>
              <a:t>);</a:t>
            </a:r>
            <a:endParaRPr lang="zh-CN" altLang="zh-CN" b="0" dirty="0"/>
          </a:p>
          <a:p>
            <a:pPr>
              <a:spcBef>
                <a:spcPts val="0"/>
              </a:spcBef>
            </a:pPr>
            <a:r>
              <a:rPr lang="en-US" altLang="zh-CN" b="0" dirty="0"/>
              <a:t>}</a:t>
            </a:r>
            <a:endParaRPr lang="zh-CN" altLang="zh-CN" b="0" dirty="0"/>
          </a:p>
        </p:txBody>
      </p:sp>
    </p:spTree>
    <p:extLst>
      <p:ext uri="{BB962C8B-B14F-4D97-AF65-F5344CB8AC3E}">
        <p14:creationId xmlns:p14="http://schemas.microsoft.com/office/powerpoint/2010/main" val="2012135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08721"/>
            <a:ext cx="8175282" cy="2880320"/>
          </a:xfrm>
        </p:spPr>
        <p:txBody>
          <a:bodyPr/>
          <a:lstStyle/>
          <a:p>
            <a:r>
              <a:rPr lang="en-US" altLang="zh-CN" b="0" dirty="0"/>
              <a:t>	</a:t>
            </a:r>
            <a:r>
              <a:rPr lang="en-US" altLang="zh-CN" b="0" dirty="0">
                <a:solidFill>
                  <a:srgbClr val="FF0000"/>
                </a:solidFill>
              </a:rPr>
              <a:t>【</a:t>
            </a:r>
            <a:r>
              <a:rPr lang="zh-CN" altLang="en-US" dirty="0">
                <a:solidFill>
                  <a:srgbClr val="FF0000"/>
                </a:solidFill>
              </a:rPr>
              <a:t>例子</a:t>
            </a:r>
            <a:r>
              <a:rPr lang="en-US" altLang="zh-CN" dirty="0">
                <a:solidFill>
                  <a:srgbClr val="FF0000"/>
                </a:solidFill>
              </a:rPr>
              <a:t>2</a:t>
            </a:r>
            <a:r>
              <a:rPr lang="en-US" altLang="zh-CN" b="0" dirty="0">
                <a:solidFill>
                  <a:srgbClr val="FF0000"/>
                </a:solidFill>
              </a:rPr>
              <a:t>】</a:t>
            </a:r>
            <a:r>
              <a:rPr lang="zh-CN" altLang="en-US" dirty="0">
                <a:solidFill>
                  <a:srgbClr val="FF0000"/>
                </a:solidFill>
              </a:rPr>
              <a:t>：</a:t>
            </a:r>
            <a:r>
              <a:rPr lang="zh-CN" altLang="zh-CN" b="0" dirty="0"/>
              <a:t>在解决某些判定问题时，利用哈夫曼树可以得到最佳判定算法，一个典型的例子就是将学生百分成绩按分数段分级，由于在实际情况下，学生成绩的等级分布并不是均匀的，因此判定过程的表示也可能不同，判定过程可以用图</a:t>
            </a:r>
            <a:r>
              <a:rPr lang="en-US" altLang="zh-CN" b="0" dirty="0"/>
              <a:t>5-23</a:t>
            </a:r>
            <a:r>
              <a:rPr lang="zh-CN" altLang="zh-CN" b="0" dirty="0"/>
              <a:t>所示的判定树来表示，</a:t>
            </a:r>
            <a:r>
              <a:rPr lang="en-US" altLang="zh-CN" b="0" dirty="0"/>
              <a:t>(a)</a:t>
            </a:r>
            <a:r>
              <a:rPr lang="zh-CN" altLang="zh-CN" b="0" dirty="0"/>
              <a:t>和</a:t>
            </a:r>
            <a:r>
              <a:rPr lang="en-US" altLang="zh-CN" b="0" dirty="0"/>
              <a:t>(b)</a:t>
            </a:r>
            <a:r>
              <a:rPr lang="zh-CN" altLang="zh-CN" b="0" dirty="0"/>
              <a:t>分别为不及格</a:t>
            </a:r>
            <a:r>
              <a:rPr lang="en-US" altLang="zh-CN" b="0" dirty="0"/>
              <a:t>(&lt;60) </a:t>
            </a:r>
            <a:r>
              <a:rPr lang="zh-CN" altLang="zh-CN" b="0" dirty="0"/>
              <a:t>学生和</a:t>
            </a:r>
            <a:r>
              <a:rPr lang="en-US" altLang="zh-CN" b="0" dirty="0"/>
              <a:t>70</a:t>
            </a:r>
            <a:r>
              <a:rPr lang="zh-CN" altLang="zh-CN" b="0" dirty="0"/>
              <a:t>～</a:t>
            </a:r>
            <a:r>
              <a:rPr lang="en-US" altLang="zh-CN" b="0" dirty="0"/>
              <a:t>80</a:t>
            </a:r>
            <a:r>
              <a:rPr lang="zh-CN" altLang="zh-CN" b="0" dirty="0"/>
              <a:t>分学生最多的情况下的判定树。</a:t>
            </a:r>
            <a:endParaRPr lang="zh-CN" altLang="en-US" b="0"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3843228"/>
            <a:ext cx="2925688" cy="2102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3789040"/>
            <a:ext cx="3995340" cy="2134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419872" y="5946066"/>
            <a:ext cx="2608406" cy="369332"/>
          </a:xfrm>
          <a:prstGeom prst="rect">
            <a:avLst/>
          </a:prstGeom>
        </p:spPr>
        <p:txBody>
          <a:bodyPr wrap="non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5-23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判定过程示意图</a:t>
            </a:r>
          </a:p>
        </p:txBody>
      </p:sp>
    </p:spTree>
    <p:extLst>
      <p:ext uri="{BB962C8B-B14F-4D97-AF65-F5344CB8AC3E}">
        <p14:creationId xmlns:p14="http://schemas.microsoft.com/office/powerpoint/2010/main" val="1422796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5.5 </a:t>
            </a:r>
            <a:r>
              <a:rPr lang="zh-CN" altLang="zh-CN" b="1" dirty="0"/>
              <a:t>二叉树应用</a:t>
            </a:r>
            <a:r>
              <a:rPr lang="en-US" altLang="zh-CN" b="1" dirty="0"/>
              <a:t>2</a:t>
            </a:r>
            <a:r>
              <a:rPr lang="zh-CN" altLang="zh-CN" b="1" dirty="0"/>
              <a:t>：</a:t>
            </a:r>
            <a:r>
              <a:rPr lang="zh-CN" altLang="zh-CN" b="1" dirty="0">
                <a:solidFill>
                  <a:srgbClr val="FF0000"/>
                </a:solidFill>
              </a:rPr>
              <a:t>二叉查找树</a:t>
            </a:r>
            <a:endParaRPr lang="zh-CN" altLang="en-US" dirty="0">
              <a:solidFill>
                <a:srgbClr val="FF0000"/>
              </a:solidFill>
            </a:endParaRPr>
          </a:p>
        </p:txBody>
      </p:sp>
      <p:sp>
        <p:nvSpPr>
          <p:cNvPr id="3" name="内容占位符 2"/>
          <p:cNvSpPr>
            <a:spLocks noGrp="1"/>
          </p:cNvSpPr>
          <p:nvPr>
            <p:ph idx="1"/>
          </p:nvPr>
        </p:nvSpPr>
        <p:spPr>
          <a:xfrm>
            <a:off x="395536" y="1628801"/>
            <a:ext cx="8496944" cy="3240360"/>
          </a:xfrm>
        </p:spPr>
        <p:txBody>
          <a:bodyPr/>
          <a:lstStyle/>
          <a:p>
            <a:r>
              <a:rPr lang="en-US" altLang="zh-CN" b="0" dirty="0"/>
              <a:t>	</a:t>
            </a:r>
            <a:r>
              <a:rPr lang="zh-CN" altLang="zh-CN" b="0" dirty="0">
                <a:solidFill>
                  <a:srgbClr val="FF0000"/>
                </a:solidFill>
              </a:rPr>
              <a:t>二叉查找树</a:t>
            </a:r>
            <a:r>
              <a:rPr lang="zh-CN" altLang="zh-CN" b="0" dirty="0"/>
              <a:t>是经过一定地组织形成的有特定结构特征的二叉树，支持各种动态集合操作</a:t>
            </a:r>
            <a:r>
              <a:rPr lang="en-US" altLang="zh-CN" b="0" dirty="0"/>
              <a:t>(</a:t>
            </a:r>
            <a:r>
              <a:rPr lang="zh-CN" altLang="zh-CN" b="0" dirty="0"/>
              <a:t>如插入、删除等</a:t>
            </a:r>
            <a:r>
              <a:rPr lang="en-US" altLang="zh-CN" b="0" dirty="0"/>
              <a:t>)</a:t>
            </a:r>
            <a:r>
              <a:rPr lang="zh-CN" altLang="zh-CN" b="0" dirty="0"/>
              <a:t>。这些操作的时间复杂度与树的高度成正比。</a:t>
            </a:r>
            <a:endParaRPr lang="en-US" altLang="zh-CN" b="0" dirty="0"/>
          </a:p>
          <a:p>
            <a:r>
              <a:rPr lang="en-US" altLang="zh-CN" b="0" dirty="0"/>
              <a:t>	</a:t>
            </a:r>
            <a:r>
              <a:rPr lang="zh-CN" altLang="en-US" b="0" dirty="0"/>
              <a:t>平均</a:t>
            </a:r>
            <a:r>
              <a:rPr lang="zh-CN" altLang="zh-CN" b="0" dirty="0"/>
              <a:t>时间复杂度为</a:t>
            </a:r>
            <a:r>
              <a:rPr lang="zh-CN" altLang="en-US" b="0" dirty="0"/>
              <a:t>：</a:t>
            </a:r>
            <a:r>
              <a:rPr lang="en-US" altLang="zh-CN" b="0" dirty="0"/>
              <a:t>O(log</a:t>
            </a:r>
            <a:r>
              <a:rPr lang="en-US" altLang="zh-CN" b="0" baseline="-25000" dirty="0"/>
              <a:t>2</a:t>
            </a:r>
            <a:r>
              <a:rPr lang="en-US" altLang="zh-CN" b="0" dirty="0"/>
              <a:t>n)</a:t>
            </a:r>
          </a:p>
          <a:p>
            <a:r>
              <a:rPr lang="en-US" altLang="zh-CN" b="0" dirty="0"/>
              <a:t>	</a:t>
            </a:r>
            <a:r>
              <a:rPr lang="zh-CN" altLang="zh-CN" b="0" dirty="0"/>
              <a:t>最坏情况下</a:t>
            </a:r>
            <a:r>
              <a:rPr lang="en-US" altLang="zh-CN" b="0" dirty="0"/>
              <a:t>(</a:t>
            </a:r>
            <a:r>
              <a:rPr lang="zh-CN" altLang="zh-CN" b="0" dirty="0"/>
              <a:t>单支树</a:t>
            </a:r>
            <a:r>
              <a:rPr lang="en-US" altLang="zh-CN" b="0" dirty="0"/>
              <a:t>)</a:t>
            </a:r>
            <a:r>
              <a:rPr lang="zh-CN" altLang="zh-CN" b="0" dirty="0"/>
              <a:t>，最坏时间复杂度将变为</a:t>
            </a:r>
            <a:r>
              <a:rPr lang="zh-CN" altLang="en-US" b="0" dirty="0"/>
              <a:t>：</a:t>
            </a:r>
            <a:r>
              <a:rPr lang="en-US" altLang="zh-CN" b="0" dirty="0"/>
              <a:t>O(n)</a:t>
            </a:r>
            <a:endParaRPr lang="zh-CN" altLang="en-US" b="0" dirty="0"/>
          </a:p>
        </p:txBody>
      </p:sp>
      <p:sp>
        <p:nvSpPr>
          <p:cNvPr id="4" name="矩形 3"/>
          <p:cNvSpPr/>
          <p:nvPr/>
        </p:nvSpPr>
        <p:spPr>
          <a:xfrm>
            <a:off x="683568" y="4869160"/>
            <a:ext cx="7632848" cy="1200329"/>
          </a:xfrm>
          <a:prstGeom prst="rect">
            <a:avLst/>
          </a:prstGeom>
        </p:spPr>
        <p:txBody>
          <a:bodyPr wrap="square">
            <a:spAutoFit/>
          </a:bodyPr>
          <a:lstStyle/>
          <a:p>
            <a:r>
              <a:rPr lang="en-US" altLang="zh-CN" sz="2400" b="1" dirty="0">
                <a:sym typeface="Wingdings 2"/>
              </a:rPr>
              <a:t></a:t>
            </a:r>
            <a:r>
              <a:rPr lang="zh-CN" altLang="zh-CN" sz="2400" dirty="0"/>
              <a:t>应用：</a:t>
            </a:r>
            <a:r>
              <a:rPr lang="zh-CN" altLang="zh-CN" sz="2400" dirty="0">
                <a:solidFill>
                  <a:srgbClr val="FF0000"/>
                </a:solidFill>
              </a:rPr>
              <a:t>快速访问数据，建立索引</a:t>
            </a:r>
          </a:p>
          <a:p>
            <a:r>
              <a:rPr lang="zh-CN" altLang="en-US" sz="2400" dirty="0"/>
              <a:t>原理</a:t>
            </a:r>
            <a:r>
              <a:rPr lang="zh-CN" altLang="zh-CN" sz="2400" dirty="0"/>
              <a:t>：假设希望存储包含多个域的数据元素，其中的一个域被指定为关键值，搜索就是基于该关键值进行的。</a:t>
            </a:r>
          </a:p>
        </p:txBody>
      </p:sp>
    </p:spTree>
    <p:extLst>
      <p:ext uri="{BB962C8B-B14F-4D97-AF65-F5344CB8AC3E}">
        <p14:creationId xmlns:p14="http://schemas.microsoft.com/office/powerpoint/2010/main" val="29793589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olidFill>
                  <a:schemeClr val="accent3">
                    <a:lumMod val="75000"/>
                  </a:schemeClr>
                </a:solidFill>
              </a:rPr>
              <a:t>5.5.1</a:t>
            </a:r>
            <a:r>
              <a:rPr lang="zh-CN" altLang="zh-CN" b="1" dirty="0">
                <a:solidFill>
                  <a:schemeClr val="accent3">
                    <a:lumMod val="75000"/>
                  </a:schemeClr>
                </a:solidFill>
              </a:rPr>
              <a:t>二叉查找树的定义</a:t>
            </a:r>
            <a:endParaRPr lang="zh-CN" altLang="en-US" dirty="0">
              <a:solidFill>
                <a:schemeClr val="accent3">
                  <a:lumMod val="75000"/>
                </a:schemeClr>
              </a:solidFill>
            </a:endParaRPr>
          </a:p>
        </p:txBody>
      </p:sp>
      <p:sp>
        <p:nvSpPr>
          <p:cNvPr id="3" name="内容占位符 2"/>
          <p:cNvSpPr>
            <a:spLocks noGrp="1"/>
          </p:cNvSpPr>
          <p:nvPr>
            <p:ph idx="1"/>
          </p:nvPr>
        </p:nvSpPr>
        <p:spPr>
          <a:xfrm>
            <a:off x="827584" y="1628800"/>
            <a:ext cx="7776864" cy="4657720"/>
          </a:xfrm>
        </p:spPr>
        <p:txBody>
          <a:bodyPr>
            <a:normAutofit lnSpcReduction="10000"/>
          </a:bodyPr>
          <a:lstStyle/>
          <a:p>
            <a:r>
              <a:rPr lang="en-US" altLang="zh-CN" b="0" dirty="0"/>
              <a:t>	</a:t>
            </a:r>
            <a:r>
              <a:rPr lang="zh-CN" altLang="zh-CN" dirty="0">
                <a:solidFill>
                  <a:srgbClr val="FF0000"/>
                </a:solidFill>
              </a:rPr>
              <a:t>二叉查找树</a:t>
            </a:r>
            <a:r>
              <a:rPr lang="en-US" altLang="zh-CN" dirty="0">
                <a:solidFill>
                  <a:srgbClr val="FF0000"/>
                </a:solidFill>
              </a:rPr>
              <a:t>(Binary Search Tree, BST)</a:t>
            </a:r>
            <a:r>
              <a:rPr lang="zh-CN" altLang="zh-CN" b="0" dirty="0"/>
              <a:t>，又称</a:t>
            </a:r>
            <a:r>
              <a:rPr lang="zh-CN" altLang="zh-CN" b="0" dirty="0">
                <a:solidFill>
                  <a:srgbClr val="FF0000"/>
                </a:solidFill>
              </a:rPr>
              <a:t>二叉搜索树</a:t>
            </a:r>
            <a:r>
              <a:rPr lang="zh-CN" altLang="zh-CN" b="0" dirty="0"/>
              <a:t>。其定义如下：</a:t>
            </a:r>
          </a:p>
          <a:p>
            <a:pPr marL="342900" lvl="4" indent="-342900">
              <a:spcBef>
                <a:spcPts val="800"/>
              </a:spcBef>
              <a:buClrTx/>
              <a:buNone/>
            </a:pPr>
            <a:r>
              <a:rPr lang="en-US" altLang="zh-CN" b="0" dirty="0"/>
              <a:t>	</a:t>
            </a:r>
            <a:r>
              <a:rPr lang="zh-CN" altLang="zh-CN" dirty="0"/>
              <a:t>二叉查找树或者是一棵空树，或者是每个结点具有一个关键值，其</a:t>
            </a:r>
            <a:r>
              <a:rPr lang="zh-CN" altLang="zh-CN" b="1" dirty="0">
                <a:solidFill>
                  <a:srgbClr val="FF0000"/>
                </a:solidFill>
              </a:rPr>
              <a:t>满足以下性质</a:t>
            </a:r>
            <a:r>
              <a:rPr lang="zh-CN" altLang="zh-CN" dirty="0"/>
              <a:t>：</a:t>
            </a:r>
          </a:p>
          <a:p>
            <a:pPr lvl="4"/>
            <a:r>
              <a:rPr lang="en-US" altLang="zh-CN" b="1" dirty="0">
                <a:solidFill>
                  <a:srgbClr val="0000FF"/>
                </a:solidFill>
              </a:rPr>
              <a:t>	(1) </a:t>
            </a:r>
            <a:r>
              <a:rPr lang="zh-CN" altLang="zh-CN" b="1" dirty="0">
                <a:solidFill>
                  <a:srgbClr val="0000FF"/>
                </a:solidFill>
              </a:rPr>
              <a:t>若左子树非空，则</a:t>
            </a:r>
            <a:r>
              <a:rPr lang="zh-CN" altLang="en-US" b="1" dirty="0">
                <a:solidFill>
                  <a:srgbClr val="0000FF"/>
                </a:solidFill>
              </a:rPr>
              <a:t>左孩子结点的关键字值</a:t>
            </a:r>
            <a:r>
              <a:rPr lang="zh-CN" altLang="zh-CN" b="1" dirty="0">
                <a:solidFill>
                  <a:srgbClr val="0000FF"/>
                </a:solidFill>
              </a:rPr>
              <a:t>小于其根结点的值；</a:t>
            </a:r>
            <a:r>
              <a:rPr lang="en-US" altLang="zh-CN" b="1" dirty="0">
                <a:solidFill>
                  <a:srgbClr val="0000FF"/>
                </a:solidFill>
              </a:rPr>
              <a:t>(</a:t>
            </a:r>
            <a:r>
              <a:rPr lang="en-US" altLang="zh-CN" b="1" dirty="0" err="1">
                <a:solidFill>
                  <a:srgbClr val="0000FF"/>
                </a:solidFill>
              </a:rPr>
              <a:t>left.Key</a:t>
            </a:r>
            <a:r>
              <a:rPr lang="en-US" altLang="zh-CN" b="1" dirty="0">
                <a:solidFill>
                  <a:srgbClr val="0000FF"/>
                </a:solidFill>
              </a:rPr>
              <a:t>&lt;Key) </a:t>
            </a:r>
            <a:endParaRPr lang="zh-CN" altLang="zh-CN" b="1" dirty="0">
              <a:solidFill>
                <a:srgbClr val="0000FF"/>
              </a:solidFill>
            </a:endParaRPr>
          </a:p>
          <a:p>
            <a:pPr lvl="4"/>
            <a:r>
              <a:rPr lang="en-US" altLang="zh-CN" b="1" dirty="0">
                <a:solidFill>
                  <a:srgbClr val="0000FF"/>
                </a:solidFill>
              </a:rPr>
              <a:t>	(2) </a:t>
            </a:r>
            <a:r>
              <a:rPr lang="zh-CN" altLang="zh-CN" b="1" dirty="0">
                <a:solidFill>
                  <a:srgbClr val="0000FF"/>
                </a:solidFill>
              </a:rPr>
              <a:t>若右子树非空，则右</a:t>
            </a:r>
            <a:r>
              <a:rPr lang="zh-CN" altLang="en-US" b="1" dirty="0">
                <a:solidFill>
                  <a:srgbClr val="0000FF"/>
                </a:solidFill>
              </a:rPr>
              <a:t>孩子</a:t>
            </a:r>
            <a:r>
              <a:rPr lang="zh-CN" altLang="zh-CN" b="1" dirty="0">
                <a:solidFill>
                  <a:srgbClr val="0000FF"/>
                </a:solidFill>
              </a:rPr>
              <a:t>结点的</a:t>
            </a:r>
            <a:r>
              <a:rPr lang="zh-CN" altLang="en-US" b="1" dirty="0">
                <a:solidFill>
                  <a:srgbClr val="0000FF"/>
                </a:solidFill>
              </a:rPr>
              <a:t>关键字</a:t>
            </a:r>
            <a:r>
              <a:rPr lang="zh-CN" altLang="zh-CN" b="1" dirty="0">
                <a:solidFill>
                  <a:srgbClr val="0000FF"/>
                </a:solidFill>
              </a:rPr>
              <a:t>值大于其根结点的值；</a:t>
            </a:r>
            <a:r>
              <a:rPr lang="en-US" altLang="zh-CN" b="1" dirty="0">
                <a:solidFill>
                  <a:srgbClr val="0000FF"/>
                </a:solidFill>
              </a:rPr>
              <a:t>(</a:t>
            </a:r>
            <a:r>
              <a:rPr lang="en-US" altLang="zh-CN" b="1" dirty="0" err="1">
                <a:solidFill>
                  <a:srgbClr val="0000FF"/>
                </a:solidFill>
              </a:rPr>
              <a:t>right.Key</a:t>
            </a:r>
            <a:r>
              <a:rPr lang="en-US" altLang="zh-CN" b="1" dirty="0">
                <a:solidFill>
                  <a:srgbClr val="0000FF"/>
                </a:solidFill>
              </a:rPr>
              <a:t>&gt;Key)</a:t>
            </a:r>
            <a:endParaRPr lang="zh-CN" altLang="zh-CN" b="1" dirty="0">
              <a:solidFill>
                <a:srgbClr val="0000FF"/>
              </a:solidFill>
            </a:endParaRPr>
          </a:p>
          <a:p>
            <a:pPr lvl="4"/>
            <a:r>
              <a:rPr lang="en-US" altLang="zh-CN" b="1" dirty="0">
                <a:solidFill>
                  <a:srgbClr val="0000FF"/>
                </a:solidFill>
              </a:rPr>
              <a:t>	(3) </a:t>
            </a:r>
            <a:r>
              <a:rPr lang="zh-CN" altLang="zh-CN" b="1" dirty="0">
                <a:solidFill>
                  <a:srgbClr val="0000FF"/>
                </a:solidFill>
              </a:rPr>
              <a:t>左、右子树均是二叉查找树。</a:t>
            </a:r>
            <a:endParaRPr lang="en-US" altLang="zh-CN" b="1" dirty="0">
              <a:solidFill>
                <a:srgbClr val="0000FF"/>
              </a:solidFill>
            </a:endParaRPr>
          </a:p>
          <a:p>
            <a:pPr marL="342900" lvl="4" indent="-342900">
              <a:spcBef>
                <a:spcPts val="800"/>
              </a:spcBef>
              <a:buClrTx/>
              <a:buNone/>
            </a:pPr>
            <a:r>
              <a:rPr lang="en-US" altLang="zh-CN" dirty="0"/>
              <a:t>	</a:t>
            </a:r>
            <a:r>
              <a:rPr lang="zh-CN" altLang="en-US" dirty="0"/>
              <a:t>注意：</a:t>
            </a:r>
            <a:r>
              <a:rPr lang="zh-CN" altLang="zh-CN" dirty="0"/>
              <a:t>二叉查找树的定义也是一个递归的定义</a:t>
            </a:r>
            <a:endParaRPr lang="en-US" altLang="zh-CN" b="0" dirty="0"/>
          </a:p>
        </p:txBody>
      </p:sp>
    </p:spTree>
    <p:extLst>
      <p:ext uri="{BB962C8B-B14F-4D97-AF65-F5344CB8AC3E}">
        <p14:creationId xmlns:p14="http://schemas.microsoft.com/office/powerpoint/2010/main" val="16222605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9"/>
            <a:ext cx="7520940" cy="2019644"/>
          </a:xfrm>
        </p:spPr>
        <p:txBody>
          <a:bodyPr>
            <a:normAutofit/>
          </a:bodyPr>
          <a:lstStyle/>
          <a:p>
            <a:r>
              <a:rPr lang="zh-CN" altLang="zh-CN" sz="2200" b="0" dirty="0"/>
              <a:t>图</a:t>
            </a:r>
            <a:r>
              <a:rPr lang="en-US" altLang="zh-CN" sz="2200" b="0" dirty="0"/>
              <a:t>5-24</a:t>
            </a:r>
            <a:r>
              <a:rPr lang="zh-CN" altLang="zh-CN" sz="2200" b="0" dirty="0"/>
              <a:t>给出了一组对应数值的两颗二叉查找树，</a:t>
            </a:r>
            <a:endParaRPr lang="en-US" altLang="zh-CN" sz="2200" b="0" dirty="0"/>
          </a:p>
          <a:p>
            <a:pPr>
              <a:buFont typeface="Arial" panose="020B0604020202020204" pitchFamily="34" charset="0"/>
              <a:buChar char="•"/>
            </a:pPr>
            <a:r>
              <a:rPr lang="en-US" altLang="zh-CN" sz="2200" b="0" dirty="0"/>
              <a:t>(a)</a:t>
            </a:r>
            <a:r>
              <a:rPr lang="zh-CN" altLang="en-US" sz="2200" b="0" dirty="0"/>
              <a:t>为</a:t>
            </a:r>
            <a:r>
              <a:rPr lang="en-US" altLang="zh-CN" sz="2200" b="0" dirty="0"/>
              <a:t>(35, 23, 54, 7, 3, 40, 32, 100)</a:t>
            </a:r>
            <a:r>
              <a:rPr lang="zh-CN" altLang="en-US" sz="2200" b="0" dirty="0"/>
              <a:t>；</a:t>
            </a:r>
            <a:endParaRPr lang="en-US" altLang="zh-CN" sz="2200" b="0" dirty="0"/>
          </a:p>
          <a:p>
            <a:pPr>
              <a:buFont typeface="Arial" panose="020B0604020202020204" pitchFamily="34" charset="0"/>
              <a:buChar char="•"/>
            </a:pPr>
            <a:r>
              <a:rPr lang="en-US" altLang="zh-CN" sz="2200" b="0" dirty="0"/>
              <a:t>(b)</a:t>
            </a:r>
            <a:r>
              <a:rPr lang="zh-CN" altLang="zh-CN" sz="2200" b="0" dirty="0"/>
              <a:t>为</a:t>
            </a:r>
            <a:r>
              <a:rPr lang="en-US" altLang="zh-CN" sz="2200" b="0" dirty="0"/>
              <a:t>(100, 54, 7, 3, 32, 35, 23, 40)</a:t>
            </a:r>
            <a:r>
              <a:rPr lang="zh-CN" altLang="en-US" sz="2200" b="0" dirty="0"/>
              <a:t>；</a:t>
            </a:r>
            <a:endParaRPr lang="en-US" altLang="zh-CN" sz="2200" b="0" dirty="0"/>
          </a:p>
          <a:p>
            <a:r>
              <a:rPr lang="zh-CN" altLang="zh-CN" sz="2200" b="0" dirty="0"/>
              <a:t>两种顺序插入各结点得到的二叉查找树。</a:t>
            </a:r>
            <a:endParaRPr lang="en-US" altLang="zh-CN" sz="2200" b="0" dirty="0"/>
          </a:p>
          <a:p>
            <a:endParaRPr lang="zh-CN" altLang="en-US" b="0" dirty="0"/>
          </a:p>
        </p:txBody>
      </p:sp>
      <p:pic>
        <p:nvPicPr>
          <p:cNvPr id="2457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3108" y="3286124"/>
            <a:ext cx="4572031" cy="2682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10705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920880" cy="5256584"/>
          </a:xfrm>
        </p:spPr>
        <p:txBody>
          <a:bodyPr>
            <a:normAutofit/>
          </a:bodyPr>
          <a:lstStyle/>
          <a:p>
            <a:pPr>
              <a:lnSpc>
                <a:spcPct val="150000"/>
              </a:lnSpc>
              <a:buFont typeface="Arial" panose="020B0604020202020204" pitchFamily="34" charset="0"/>
              <a:buChar char="•"/>
            </a:pPr>
            <a:r>
              <a:rPr lang="zh-CN" altLang="zh-CN" b="0" dirty="0"/>
              <a:t>同一组数值由于插入顺序的不同可以对应多个不同的二叉查找树，而这些二叉查找树的共同特点</a:t>
            </a:r>
            <a:r>
              <a:rPr lang="zh-CN" altLang="en-US" b="0" dirty="0"/>
              <a:t>：</a:t>
            </a:r>
            <a:endParaRPr lang="en-US" altLang="zh-CN" b="0" dirty="0"/>
          </a:p>
          <a:p>
            <a:pPr marL="0" indent="0">
              <a:lnSpc>
                <a:spcPct val="150000"/>
              </a:lnSpc>
            </a:pPr>
            <a:r>
              <a:rPr lang="en-US" altLang="zh-CN" b="0" dirty="0">
                <a:solidFill>
                  <a:srgbClr val="FF0000"/>
                </a:solidFill>
              </a:rPr>
              <a:t>	</a:t>
            </a:r>
            <a:r>
              <a:rPr lang="zh-CN" altLang="zh-CN" sz="2800" dirty="0">
                <a:solidFill>
                  <a:srgbClr val="FF0000"/>
                </a:solidFill>
              </a:rPr>
              <a:t>对该树</a:t>
            </a:r>
            <a:r>
              <a:rPr lang="zh-CN" altLang="zh-CN" sz="2800" u="sng" dirty="0">
                <a:solidFill>
                  <a:srgbClr val="FF0000"/>
                </a:solidFill>
              </a:rPr>
              <a:t>中序遍历</a:t>
            </a:r>
            <a:r>
              <a:rPr lang="zh-CN" altLang="zh-CN" sz="2800" dirty="0">
                <a:solidFill>
                  <a:srgbClr val="FF0000"/>
                </a:solidFill>
              </a:rPr>
              <a:t>会得到一个递增的有序序列。</a:t>
            </a:r>
            <a:endParaRPr lang="en-US" altLang="zh-CN" sz="2800" dirty="0">
              <a:solidFill>
                <a:srgbClr val="FF0000"/>
              </a:solidFill>
            </a:endParaRPr>
          </a:p>
          <a:p>
            <a:pPr>
              <a:lnSpc>
                <a:spcPct val="150000"/>
              </a:lnSpc>
              <a:buFont typeface="Arial" panose="020B0604020202020204" pitchFamily="34" charset="0"/>
              <a:buChar char="•"/>
            </a:pPr>
            <a:r>
              <a:rPr lang="zh-CN" altLang="zh-CN" b="0" dirty="0"/>
              <a:t>图</a:t>
            </a:r>
            <a:r>
              <a:rPr lang="en-US" altLang="zh-CN" b="0" dirty="0"/>
              <a:t>5-24</a:t>
            </a:r>
            <a:r>
              <a:rPr lang="zh-CN" altLang="zh-CN" b="0" dirty="0"/>
              <a:t>所示的两棵二叉查找树按照中序遍历得到的有序序列均为：</a:t>
            </a:r>
            <a:r>
              <a:rPr lang="en-US" altLang="zh-CN" b="0" dirty="0"/>
              <a:t>3, 7, 23, 32, 35, 40, 54, 100</a:t>
            </a:r>
            <a:r>
              <a:rPr lang="zh-CN" altLang="zh-CN" b="0" dirty="0"/>
              <a:t>。</a:t>
            </a:r>
            <a:endParaRPr lang="en-US" altLang="zh-CN" b="0" dirty="0"/>
          </a:p>
          <a:p>
            <a:r>
              <a:rPr lang="zh-CN" altLang="zh-CN" dirty="0"/>
              <a:t>★注：</a:t>
            </a:r>
            <a:r>
              <a:rPr lang="zh-CN" altLang="zh-CN" dirty="0">
                <a:solidFill>
                  <a:srgbClr val="FF0000"/>
                </a:solidFill>
              </a:rPr>
              <a:t>二叉查找树与二叉排序树的区别：</a:t>
            </a:r>
          </a:p>
          <a:p>
            <a:r>
              <a:rPr lang="en-US" altLang="zh-CN" dirty="0"/>
              <a:t>	</a:t>
            </a:r>
            <a:r>
              <a:rPr lang="zh-CN" altLang="zh-CN" dirty="0"/>
              <a:t>二叉查找树中不存在关键值相等的结点，而二叉排序树中允许存在关键值相等的结点，并习惯将相等的结点放在其右子树中。</a:t>
            </a:r>
          </a:p>
        </p:txBody>
      </p:sp>
    </p:spTree>
    <p:extLst>
      <p:ext uri="{BB962C8B-B14F-4D97-AF65-F5344CB8AC3E}">
        <p14:creationId xmlns:p14="http://schemas.microsoft.com/office/powerpoint/2010/main" val="566556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968552"/>
          </a:xfrm>
        </p:spPr>
        <p:txBody>
          <a:bodyPr>
            <a:normAutofit fontScale="92500" lnSpcReduction="20000"/>
          </a:bodyPr>
          <a:lstStyle/>
          <a:p>
            <a:r>
              <a:rPr lang="zh-CN" altLang="zh-CN" dirty="0"/>
              <a:t>算法</a:t>
            </a:r>
            <a:r>
              <a:rPr lang="en-US" altLang="zh-CN" dirty="0"/>
              <a:t>5.16</a:t>
            </a:r>
            <a:r>
              <a:rPr lang="zh-CN" altLang="zh-CN" dirty="0"/>
              <a:t>：二叉查找树的声明</a:t>
            </a:r>
          </a:p>
          <a:p>
            <a:r>
              <a:rPr lang="en-US" altLang="zh-CN" b="0" dirty="0"/>
              <a:t>template &lt;class T&gt;</a:t>
            </a:r>
            <a:endParaRPr lang="zh-CN" altLang="zh-CN" b="0" dirty="0"/>
          </a:p>
          <a:p>
            <a:r>
              <a:rPr lang="en-US" altLang="zh-CN" b="0" dirty="0"/>
              <a:t>class </a:t>
            </a:r>
            <a:r>
              <a:rPr lang="en-US" altLang="zh-CN" b="0" dirty="0" err="1"/>
              <a:t>BinarySearchTree:public</a:t>
            </a:r>
            <a:r>
              <a:rPr lang="en-US" altLang="zh-CN" b="0" dirty="0"/>
              <a:t> </a:t>
            </a:r>
            <a:r>
              <a:rPr lang="en-US" altLang="zh-CN" b="0" dirty="0" err="1"/>
              <a:t>BinaryTree</a:t>
            </a:r>
            <a:r>
              <a:rPr lang="en-US" altLang="zh-CN" b="0" dirty="0"/>
              <a:t>&lt;T&gt;{</a:t>
            </a:r>
            <a:endParaRPr lang="zh-CN" altLang="zh-CN" b="0" dirty="0"/>
          </a:p>
          <a:p>
            <a:r>
              <a:rPr lang="en-US" altLang="zh-CN" b="0" dirty="0"/>
              <a:t>public:</a:t>
            </a:r>
            <a:endParaRPr lang="zh-CN" altLang="zh-CN" b="0" dirty="0"/>
          </a:p>
          <a:p>
            <a:r>
              <a:rPr lang="en-US" altLang="zh-CN" b="0" dirty="0"/>
              <a:t>    </a:t>
            </a:r>
            <a:r>
              <a:rPr lang="en-US" altLang="zh-CN" b="0" dirty="0" err="1"/>
              <a:t>BinarySearchTree</a:t>
            </a:r>
            <a:r>
              <a:rPr lang="en-US" altLang="zh-CN" b="0" dirty="0"/>
              <a:t>(){};</a:t>
            </a:r>
            <a:endParaRPr lang="zh-CN" altLang="zh-CN" b="0" dirty="0"/>
          </a:p>
          <a:p>
            <a:r>
              <a:rPr lang="en-US" altLang="zh-CN" b="0" dirty="0"/>
              <a:t>    ~</a:t>
            </a:r>
            <a:r>
              <a:rPr lang="en-US" altLang="zh-CN" b="0" dirty="0" err="1"/>
              <a:t>BinarySearchTree</a:t>
            </a:r>
            <a:r>
              <a:rPr lang="en-US" altLang="zh-CN" b="0" dirty="0"/>
              <a:t>(){};</a:t>
            </a:r>
            <a:endParaRPr lang="zh-CN" altLang="zh-CN" b="0" dirty="0"/>
          </a:p>
          <a:p>
            <a:r>
              <a:rPr lang="en-US" altLang="zh-CN" b="0" dirty="0"/>
              <a:t>    </a:t>
            </a:r>
            <a:r>
              <a:rPr lang="en-US" altLang="zh-CN" b="0" dirty="0" err="1"/>
              <a:t>BinaryTreeNode</a:t>
            </a:r>
            <a:r>
              <a:rPr lang="en-US" altLang="zh-CN" b="0" dirty="0"/>
              <a:t>&lt;T&gt;* Search(</a:t>
            </a:r>
            <a:r>
              <a:rPr lang="en-US" altLang="zh-CN" b="0" dirty="0" err="1"/>
              <a:t>BinaryTreeNode</a:t>
            </a:r>
            <a:r>
              <a:rPr lang="en-US" altLang="zh-CN" b="0" dirty="0"/>
              <a:t>&lt;T&gt;* </a:t>
            </a:r>
            <a:r>
              <a:rPr lang="en-US" altLang="zh-CN" b="0" dirty="0" err="1"/>
              <a:t>subroot</a:t>
            </a:r>
            <a:r>
              <a:rPr lang="en-US" altLang="zh-CN" b="0" dirty="0"/>
              <a:t>, const T  &amp; k);</a:t>
            </a:r>
            <a:endParaRPr lang="zh-CN" altLang="zh-CN" b="0" dirty="0"/>
          </a:p>
          <a:p>
            <a:r>
              <a:rPr lang="en-US" altLang="zh-CN" b="0" dirty="0"/>
              <a:t>    void Insert(</a:t>
            </a:r>
            <a:r>
              <a:rPr lang="en-US" altLang="zh-CN" b="0" dirty="0" err="1"/>
              <a:t>BinaryTreeNode</a:t>
            </a:r>
            <a:r>
              <a:rPr lang="en-US" altLang="zh-CN" b="0" dirty="0"/>
              <a:t>&lt;T&gt; *&amp;root, const T&amp; k);</a:t>
            </a:r>
            <a:endParaRPr lang="zh-CN" altLang="zh-CN" b="0" dirty="0"/>
          </a:p>
          <a:p>
            <a:r>
              <a:rPr lang="en-US" altLang="zh-CN" b="0" dirty="0"/>
              <a:t>    </a:t>
            </a:r>
            <a:r>
              <a:rPr lang="en-US" altLang="zh-CN" b="0" dirty="0" err="1"/>
              <a:t>bool</a:t>
            </a:r>
            <a:r>
              <a:rPr lang="en-US" altLang="zh-CN" b="0" dirty="0"/>
              <a:t> Delete(</a:t>
            </a:r>
            <a:r>
              <a:rPr lang="en-US" altLang="zh-CN" b="0" dirty="0" err="1"/>
              <a:t>BinaryTreeNode</a:t>
            </a:r>
            <a:r>
              <a:rPr lang="en-US" altLang="zh-CN" b="0" dirty="0"/>
              <a:t>&lt;T&gt; *&amp;root, const T&amp; k);</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31404817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fontScale="85000" lnSpcReduction="20000"/>
          </a:bodyPr>
          <a:lstStyle/>
          <a:p>
            <a:pPr>
              <a:buClr>
                <a:schemeClr val="folHlink"/>
              </a:buClr>
              <a:buSzPct val="85000"/>
            </a:pPr>
            <a:r>
              <a:rPr lang="en-US" altLang="zh-CN" sz="3000" b="0" dirty="0">
                <a:solidFill>
                  <a:schemeClr val="accent3">
                    <a:lumMod val="75000"/>
                  </a:schemeClr>
                </a:solidFill>
                <a:latin typeface="黑体" pitchFamily="49" charset="-122"/>
                <a:ea typeface="黑体" pitchFamily="49" charset="-122"/>
              </a:rPr>
              <a:t>5.5.2 </a:t>
            </a:r>
            <a:r>
              <a:rPr lang="zh-CN" altLang="zh-CN" sz="3000" b="0" dirty="0">
                <a:solidFill>
                  <a:schemeClr val="accent3">
                    <a:lumMod val="75000"/>
                  </a:schemeClr>
                </a:solidFill>
                <a:latin typeface="黑体" pitchFamily="49" charset="-122"/>
                <a:ea typeface="黑体" pitchFamily="49" charset="-122"/>
              </a:rPr>
              <a:t>二叉查找树的查找</a:t>
            </a:r>
            <a:endParaRPr lang="en-US" altLang="zh-CN" sz="3000" b="0" dirty="0">
              <a:solidFill>
                <a:schemeClr val="accent3">
                  <a:lumMod val="75000"/>
                </a:schemeClr>
              </a:solidFill>
              <a:latin typeface="黑体" pitchFamily="49" charset="-122"/>
              <a:ea typeface="黑体" pitchFamily="49" charset="-122"/>
            </a:endParaRPr>
          </a:p>
          <a:p>
            <a:pPr>
              <a:buClr>
                <a:schemeClr val="folHlink"/>
              </a:buClr>
              <a:buSzPct val="85000"/>
            </a:pPr>
            <a:r>
              <a:rPr lang="en-US" altLang="zh-CN" b="0" dirty="0"/>
              <a:t>       </a:t>
            </a:r>
            <a:r>
              <a:rPr lang="zh-CN" altLang="zh-CN" b="0" dirty="0"/>
              <a:t>假设查找关键值为</a:t>
            </a:r>
            <a:r>
              <a:rPr lang="en-US" altLang="zh-CN" b="0" dirty="0"/>
              <a:t>k</a:t>
            </a:r>
            <a:r>
              <a:rPr lang="zh-CN" altLang="zh-CN" b="0" dirty="0"/>
              <a:t>的元素，</a:t>
            </a:r>
            <a:r>
              <a:rPr lang="zh-CN" altLang="zh-CN" dirty="0">
                <a:solidFill>
                  <a:srgbClr val="FF0000"/>
                </a:solidFill>
              </a:rPr>
              <a:t>二叉查找树的查找方法为：</a:t>
            </a:r>
          </a:p>
          <a:p>
            <a:pPr>
              <a:spcBef>
                <a:spcPct val="50000"/>
              </a:spcBef>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1</a:t>
            </a:r>
            <a:r>
              <a:rPr kumimoji="1" lang="zh-CN" altLang="en-US" b="0" dirty="0">
                <a:solidFill>
                  <a:schemeClr val="accent3">
                    <a:lumMod val="75000"/>
                  </a:schemeClr>
                </a:solidFill>
                <a:latin typeface="黑体" pitchFamily="49" charset="-122"/>
                <a:ea typeface="黑体" pitchFamily="49" charset="-122"/>
              </a:rPr>
              <a:t>：</a:t>
            </a:r>
            <a:r>
              <a:rPr lang="zh-CN" altLang="zh-CN" b="0" dirty="0"/>
              <a:t>从根结点开始，将给定的值</a:t>
            </a:r>
            <a:r>
              <a:rPr lang="en-US" altLang="zh-CN" b="0" dirty="0"/>
              <a:t>k</a:t>
            </a:r>
            <a:r>
              <a:rPr lang="zh-CN" altLang="zh-CN" b="0" dirty="0"/>
              <a:t>与根结点的关键值比较。</a:t>
            </a:r>
            <a:r>
              <a:rPr lang="zh-CN" altLang="zh-CN" b="0" dirty="0">
                <a:solidFill>
                  <a:srgbClr val="FF0000"/>
                </a:solidFill>
              </a:rPr>
              <a:t>若相等，则查找成功</a:t>
            </a:r>
            <a:r>
              <a:rPr lang="zh-CN" altLang="zh-CN" b="0" dirty="0"/>
              <a:t>，否则必须查找树的更深一层</a:t>
            </a:r>
            <a:r>
              <a:rPr lang="zh-CN" altLang="en-US" b="0" dirty="0"/>
              <a:t>；</a:t>
            </a:r>
            <a:endParaRPr kumimoji="1" lang="zh-CN" altLang="en-US" b="0" dirty="0">
              <a:solidFill>
                <a:schemeClr val="accent3">
                  <a:lumMod val="75000"/>
                </a:schemeClr>
              </a:solidFill>
              <a:latin typeface="黑体" pitchFamily="49" charset="-122"/>
              <a:ea typeface="黑体" pitchFamily="49" charset="-122"/>
            </a:endParaRPr>
          </a:p>
          <a:p>
            <a:pPr>
              <a:spcBef>
                <a:spcPct val="50000"/>
              </a:spcBef>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2</a:t>
            </a:r>
            <a:r>
              <a:rPr kumimoji="1" lang="zh-CN" altLang="en-US" b="0" dirty="0">
                <a:solidFill>
                  <a:schemeClr val="accent3">
                    <a:lumMod val="75000"/>
                  </a:schemeClr>
                </a:solidFill>
                <a:latin typeface="黑体" pitchFamily="49" charset="-122"/>
                <a:ea typeface="黑体" pitchFamily="49" charset="-122"/>
              </a:rPr>
              <a:t>：</a:t>
            </a:r>
            <a:r>
              <a:rPr lang="zh-CN" altLang="zh-CN" b="0" dirty="0">
                <a:solidFill>
                  <a:srgbClr val="FF0000"/>
                </a:solidFill>
              </a:rPr>
              <a:t>如果</a:t>
            </a:r>
            <a:r>
              <a:rPr lang="en-US" altLang="zh-CN" b="0" dirty="0">
                <a:solidFill>
                  <a:srgbClr val="FF0000"/>
                </a:solidFill>
              </a:rPr>
              <a:t>k</a:t>
            </a:r>
            <a:r>
              <a:rPr lang="zh-CN" altLang="zh-CN" b="0" dirty="0">
                <a:solidFill>
                  <a:srgbClr val="FF0000"/>
                </a:solidFill>
              </a:rPr>
              <a:t>值小于根结点的值，则只需查找该结点的左子树</a:t>
            </a:r>
            <a:r>
              <a:rPr lang="zh-CN" altLang="zh-CN" b="0" dirty="0"/>
              <a:t>；</a:t>
            </a:r>
            <a:endParaRPr kumimoji="1" lang="en-US" altLang="zh-CN" b="0" dirty="0">
              <a:solidFill>
                <a:schemeClr val="accent3">
                  <a:lumMod val="75000"/>
                </a:schemeClr>
              </a:solidFill>
              <a:latin typeface="黑体" pitchFamily="49" charset="-122"/>
              <a:ea typeface="黑体" pitchFamily="49" charset="-122"/>
            </a:endParaRPr>
          </a:p>
          <a:p>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3</a:t>
            </a:r>
            <a:r>
              <a:rPr kumimoji="1" lang="zh-CN" altLang="en-US" b="0" dirty="0">
                <a:solidFill>
                  <a:schemeClr val="accent3">
                    <a:lumMod val="75000"/>
                  </a:schemeClr>
                </a:solidFill>
                <a:latin typeface="黑体" pitchFamily="49" charset="-122"/>
                <a:ea typeface="黑体" pitchFamily="49" charset="-122"/>
              </a:rPr>
              <a:t>：</a:t>
            </a:r>
            <a:r>
              <a:rPr lang="zh-CN" altLang="zh-CN" b="0" dirty="0">
                <a:solidFill>
                  <a:srgbClr val="FF0000"/>
                </a:solidFill>
              </a:rPr>
              <a:t>如果</a:t>
            </a:r>
            <a:r>
              <a:rPr lang="en-US" altLang="zh-CN" b="0" dirty="0">
                <a:solidFill>
                  <a:srgbClr val="FF0000"/>
                </a:solidFill>
              </a:rPr>
              <a:t>k</a:t>
            </a:r>
            <a:r>
              <a:rPr lang="zh-CN" altLang="zh-CN" b="0" dirty="0">
                <a:solidFill>
                  <a:srgbClr val="FF0000"/>
                </a:solidFill>
              </a:rPr>
              <a:t>值大于根结点的值，则只需查找该结点的右子树</a:t>
            </a:r>
            <a:r>
              <a:rPr lang="zh-CN" altLang="zh-CN" b="0" dirty="0"/>
              <a:t>。</a:t>
            </a:r>
            <a:endParaRPr kumimoji="1" lang="en-US" altLang="zh-CN" b="0" dirty="0">
              <a:solidFill>
                <a:srgbClr val="FF0000"/>
              </a:solidFill>
              <a:latin typeface="黑体" pitchFamily="49" charset="-122"/>
              <a:ea typeface="黑体" pitchFamily="49" charset="-122"/>
            </a:endParaRPr>
          </a:p>
          <a:p>
            <a:pPr>
              <a:buClr>
                <a:schemeClr val="folHlink"/>
              </a:buClr>
              <a:buSzPct val="85000"/>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4</a:t>
            </a:r>
            <a:r>
              <a:rPr kumimoji="1" lang="zh-CN" altLang="en-US" b="0" dirty="0">
                <a:solidFill>
                  <a:schemeClr val="accent3">
                    <a:lumMod val="75000"/>
                  </a:schemeClr>
                </a:solidFill>
                <a:latin typeface="黑体" pitchFamily="49" charset="-122"/>
                <a:ea typeface="黑体" pitchFamily="49" charset="-122"/>
              </a:rPr>
              <a:t>：</a:t>
            </a:r>
            <a:r>
              <a:rPr lang="zh-CN" altLang="zh-CN" b="0" dirty="0"/>
              <a:t>该过程将一直持续到找到</a:t>
            </a:r>
            <a:r>
              <a:rPr lang="en-US" altLang="zh-CN" b="0" dirty="0"/>
              <a:t>k</a:t>
            </a:r>
            <a:r>
              <a:rPr lang="zh-CN" altLang="zh-CN" b="0" dirty="0"/>
              <a:t>或者遇到叶子结点为止，如果遇到叶子结点仍没有找到</a:t>
            </a:r>
            <a:r>
              <a:rPr lang="en-US" altLang="zh-CN" b="0" dirty="0"/>
              <a:t>k</a:t>
            </a:r>
            <a:r>
              <a:rPr lang="zh-CN" altLang="zh-CN" b="0" dirty="0"/>
              <a:t>，则</a:t>
            </a:r>
            <a:r>
              <a:rPr lang="en-US" altLang="zh-CN" b="0" dirty="0"/>
              <a:t>k</a:t>
            </a:r>
            <a:r>
              <a:rPr lang="zh-CN" altLang="zh-CN" b="0" dirty="0"/>
              <a:t>不在该二叉查找树中。</a:t>
            </a:r>
            <a:endParaRPr lang="en-US" altLang="zh-CN" b="0" dirty="0"/>
          </a:p>
          <a:p>
            <a:pPr>
              <a:buClr>
                <a:schemeClr val="folHlink"/>
              </a:buClr>
              <a:buSzPct val="85000"/>
            </a:pPr>
            <a:endParaRPr lang="en-US" altLang="zh-CN" dirty="0"/>
          </a:p>
          <a:p>
            <a:pPr>
              <a:buClr>
                <a:schemeClr val="folHlink"/>
              </a:buClr>
              <a:buSzPct val="85000"/>
            </a:pPr>
            <a:r>
              <a:rPr lang="en-US" altLang="zh-CN" dirty="0"/>
              <a:t>           </a:t>
            </a:r>
            <a:r>
              <a:rPr lang="zh-CN" altLang="zh-CN" b="0" dirty="0">
                <a:solidFill>
                  <a:srgbClr val="FF0000"/>
                </a:solidFill>
              </a:rPr>
              <a:t>从上述查找方法可知，二叉查找树的高效率表现在其只需要查找两棵子树之一。</a:t>
            </a:r>
            <a:endParaRPr lang="zh-CN" altLang="en-US" b="0"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a:p>
            <a:pPr>
              <a:buClr>
                <a:schemeClr val="folHlink"/>
              </a:buClr>
              <a:buSzPct val="85000"/>
            </a:pPr>
            <a:endParaRPr lang="zh-CN" altLang="en-US" dirty="0">
              <a:solidFill>
                <a:schemeClr val="accent3">
                  <a:lumMod val="75000"/>
                </a:schemeClr>
              </a:solidFill>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zh-CN" altLang="zh-CN" b="0" dirty="0"/>
              <a:t>图</a:t>
            </a:r>
            <a:r>
              <a:rPr lang="en-US" altLang="zh-CN" b="0" dirty="0"/>
              <a:t>5-25(a)</a:t>
            </a:r>
            <a:r>
              <a:rPr lang="zh-CN" altLang="zh-CN" b="0" dirty="0"/>
              <a:t>给出了在二叉查找树中查找关键值</a:t>
            </a:r>
            <a:r>
              <a:rPr lang="en-US" altLang="zh-CN" b="0" dirty="0"/>
              <a:t>k</a:t>
            </a:r>
            <a:r>
              <a:rPr lang="zh-CN" altLang="zh-CN" b="0" dirty="0"/>
              <a:t>等于</a:t>
            </a:r>
            <a:r>
              <a:rPr lang="en-US" altLang="zh-CN" b="0" dirty="0"/>
              <a:t>40</a:t>
            </a:r>
            <a:r>
              <a:rPr lang="zh-CN" altLang="zh-CN" b="0" dirty="0"/>
              <a:t>的结点的查找路径。</a:t>
            </a:r>
            <a:endParaRPr lang="zh-CN" altLang="en-US" b="0" dirty="0"/>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2147122"/>
            <a:ext cx="6821388" cy="3410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40502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328592"/>
          </a:xfrm>
        </p:spPr>
        <p:txBody>
          <a:bodyPr>
            <a:normAutofit fontScale="92500" lnSpcReduction="10000"/>
          </a:bodyPr>
          <a:lstStyle/>
          <a:p>
            <a:pPr>
              <a:spcBef>
                <a:spcPts val="0"/>
              </a:spcBef>
            </a:pPr>
            <a:r>
              <a:rPr lang="en-US" altLang="zh-CN" dirty="0"/>
              <a:t>	</a:t>
            </a:r>
            <a:r>
              <a:rPr lang="zh-CN" altLang="zh-CN" dirty="0">
                <a:solidFill>
                  <a:srgbClr val="FF0000"/>
                </a:solidFill>
              </a:rPr>
              <a:t>查找过程的算法</a:t>
            </a:r>
            <a:r>
              <a:rPr lang="zh-CN" altLang="zh-CN" dirty="0"/>
              <a:t>实现如下：</a:t>
            </a:r>
          </a:p>
          <a:p>
            <a:pPr>
              <a:spcBef>
                <a:spcPts val="0"/>
              </a:spcBef>
            </a:pPr>
            <a:r>
              <a:rPr lang="en-US" altLang="zh-CN" b="0" dirty="0"/>
              <a:t>1)</a:t>
            </a:r>
            <a:r>
              <a:rPr lang="zh-CN" altLang="zh-CN" b="0" dirty="0"/>
              <a:t>递归算法的实现</a:t>
            </a:r>
          </a:p>
          <a:p>
            <a:pPr>
              <a:spcBef>
                <a:spcPts val="0"/>
              </a:spcBef>
            </a:pPr>
            <a:r>
              <a:rPr lang="en-US" altLang="zh-CN" b="0" dirty="0"/>
              <a:t>	</a:t>
            </a:r>
            <a:r>
              <a:rPr lang="zh-CN" altLang="zh-CN" b="0" dirty="0"/>
              <a:t>算法</a:t>
            </a:r>
            <a:r>
              <a:rPr lang="en-US" altLang="zh-CN" b="0" dirty="0"/>
              <a:t>5.17</a:t>
            </a:r>
            <a:r>
              <a:rPr lang="zh-CN" altLang="zh-CN" b="0" dirty="0"/>
              <a:t>：二叉查找树递归算法</a:t>
            </a:r>
          </a:p>
          <a:p>
            <a:pPr>
              <a:spcBef>
                <a:spcPts val="0"/>
              </a:spcBef>
            </a:pPr>
            <a:r>
              <a:rPr lang="en-US" altLang="zh-CN" b="0" dirty="0"/>
              <a:t>template&lt;class T&gt;</a:t>
            </a:r>
            <a:endParaRPr lang="zh-CN" altLang="zh-CN" b="0" dirty="0"/>
          </a:p>
          <a:p>
            <a:pPr>
              <a:spcBef>
                <a:spcPts val="0"/>
              </a:spcBef>
            </a:pPr>
            <a:r>
              <a:rPr lang="en-US" altLang="zh-CN" b="0" dirty="0" err="1"/>
              <a:t>BinaryTreeNode</a:t>
            </a:r>
            <a:r>
              <a:rPr lang="en-US" altLang="zh-CN" b="0" dirty="0"/>
              <a:t>&lt;T&gt;* </a:t>
            </a:r>
            <a:r>
              <a:rPr lang="en-US" altLang="zh-CN" b="0" dirty="0" err="1"/>
              <a:t>BinarySearchTree</a:t>
            </a:r>
            <a:r>
              <a:rPr lang="en-US" altLang="zh-CN" b="0" dirty="0"/>
              <a:t>&lt;T&gt;::Search(</a:t>
            </a:r>
            <a:r>
              <a:rPr lang="en-US" altLang="zh-CN" b="0" dirty="0" err="1"/>
              <a:t>BinaryTreeNode</a:t>
            </a:r>
            <a:r>
              <a:rPr lang="en-US" altLang="zh-CN" b="0" dirty="0"/>
              <a:t>&lt;T&gt;* </a:t>
            </a:r>
            <a:r>
              <a:rPr lang="en-US" altLang="zh-CN" b="0" dirty="0" err="1"/>
              <a:t>subroot</a:t>
            </a:r>
            <a:r>
              <a:rPr lang="en-US" altLang="zh-CN" b="0" dirty="0"/>
              <a:t>, const T&amp; k){</a:t>
            </a:r>
            <a:endParaRPr lang="zh-CN" altLang="zh-CN" b="0" dirty="0"/>
          </a:p>
          <a:p>
            <a:pPr>
              <a:spcBef>
                <a:spcPts val="0"/>
              </a:spcBef>
            </a:pPr>
            <a:r>
              <a:rPr lang="en-US" altLang="zh-CN" b="0" dirty="0"/>
              <a:t>    if (</a:t>
            </a:r>
            <a:r>
              <a:rPr lang="en-US" altLang="zh-CN" b="0" dirty="0" err="1"/>
              <a:t>subroot</a:t>
            </a:r>
            <a:r>
              <a:rPr lang="en-US" altLang="zh-CN" b="0" dirty="0"/>
              <a:t> == NULL) return NULL;</a:t>
            </a:r>
            <a:endParaRPr lang="zh-CN" altLang="zh-CN" b="0" dirty="0"/>
          </a:p>
          <a:p>
            <a:pPr>
              <a:spcBef>
                <a:spcPts val="0"/>
              </a:spcBef>
            </a:pPr>
            <a:r>
              <a:rPr lang="en-US" altLang="zh-CN" b="0" dirty="0"/>
              <a:t>    else if (k &gt; </a:t>
            </a:r>
            <a:r>
              <a:rPr lang="en-US" altLang="zh-CN" b="0" dirty="0" err="1"/>
              <a:t>subroot</a:t>
            </a:r>
            <a:r>
              <a:rPr lang="en-US" altLang="zh-CN" b="0" dirty="0"/>
              <a:t>-&gt;value())</a:t>
            </a:r>
            <a:endParaRPr lang="zh-CN" altLang="zh-CN" b="0" dirty="0"/>
          </a:p>
          <a:p>
            <a:pPr>
              <a:spcBef>
                <a:spcPts val="0"/>
              </a:spcBef>
            </a:pPr>
            <a:r>
              <a:rPr lang="en-US" altLang="zh-CN" b="0" dirty="0"/>
              <a:t>        return Search(</a:t>
            </a:r>
            <a:r>
              <a:rPr lang="en-US" altLang="zh-CN" b="0" dirty="0" err="1"/>
              <a:t>subroot</a:t>
            </a:r>
            <a:r>
              <a:rPr lang="en-US" altLang="zh-CN" b="0" dirty="0"/>
              <a:t>-&gt;right, k);	//</a:t>
            </a:r>
            <a:r>
              <a:rPr lang="zh-CN" altLang="zh-CN" b="0" dirty="0"/>
              <a:t>递归查找右子树</a:t>
            </a:r>
          </a:p>
          <a:p>
            <a:pPr>
              <a:spcBef>
                <a:spcPts val="0"/>
              </a:spcBef>
            </a:pPr>
            <a:r>
              <a:rPr lang="en-US" altLang="zh-CN" b="0" dirty="0"/>
              <a:t>    else if (k &lt; </a:t>
            </a:r>
            <a:r>
              <a:rPr lang="en-US" altLang="zh-CN" b="0" dirty="0" err="1"/>
              <a:t>subroot</a:t>
            </a:r>
            <a:r>
              <a:rPr lang="en-US" altLang="zh-CN" b="0" dirty="0"/>
              <a:t>-&gt;value())</a:t>
            </a:r>
            <a:endParaRPr lang="zh-CN" altLang="zh-CN" b="0" dirty="0"/>
          </a:p>
          <a:p>
            <a:pPr>
              <a:spcBef>
                <a:spcPts val="0"/>
              </a:spcBef>
            </a:pPr>
            <a:r>
              <a:rPr lang="en-US" altLang="zh-CN" b="0" dirty="0"/>
              <a:t>        return Search(</a:t>
            </a:r>
            <a:r>
              <a:rPr lang="en-US" altLang="zh-CN" b="0" dirty="0" err="1"/>
              <a:t>subroot</a:t>
            </a:r>
            <a:r>
              <a:rPr lang="en-US" altLang="zh-CN" b="0" dirty="0"/>
              <a:t>-&gt;left, k);	//</a:t>
            </a:r>
            <a:r>
              <a:rPr lang="zh-CN" altLang="zh-CN" b="0" dirty="0"/>
              <a:t>递归查找左子树</a:t>
            </a:r>
          </a:p>
          <a:p>
            <a:pPr>
              <a:spcBef>
                <a:spcPts val="0"/>
              </a:spcBef>
            </a:pPr>
            <a:r>
              <a:rPr lang="en-US" altLang="zh-CN" b="0" dirty="0"/>
              <a:t>    else  return </a:t>
            </a:r>
            <a:r>
              <a:rPr lang="en-US" altLang="zh-CN" b="0" dirty="0" err="1"/>
              <a:t>subroot</a:t>
            </a:r>
            <a:r>
              <a:rPr lang="en-US" altLang="zh-CN" b="0" dirty="0"/>
              <a:t>;			//</a:t>
            </a:r>
            <a:r>
              <a:rPr lang="zh-CN" altLang="en-US" b="0" dirty="0"/>
              <a:t>相等则查找成功</a:t>
            </a:r>
            <a:endParaRPr lang="zh-CN" altLang="zh-CN" b="0" dirty="0"/>
          </a:p>
          <a:p>
            <a:pPr>
              <a:spcBef>
                <a:spcPts val="0"/>
              </a:spcBef>
            </a:pPr>
            <a:r>
              <a:rPr lang="en-US" altLang="zh-CN" b="0" dirty="0"/>
              <a:t>}</a:t>
            </a:r>
            <a:endParaRPr lang="zh-CN" altLang="zh-CN" b="0" dirty="0"/>
          </a:p>
        </p:txBody>
      </p:sp>
    </p:spTree>
    <p:extLst>
      <p:ext uri="{BB962C8B-B14F-4D97-AF65-F5344CB8AC3E}">
        <p14:creationId xmlns:p14="http://schemas.microsoft.com/office/powerpoint/2010/main" val="41004989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5091478"/>
          </a:xfrm>
        </p:spPr>
        <p:txBody>
          <a:bodyPr>
            <a:normAutofit fontScale="32500" lnSpcReduction="20000"/>
          </a:bodyPr>
          <a:lstStyle/>
          <a:p>
            <a:pPr>
              <a:buClr>
                <a:schemeClr val="folHlink"/>
              </a:buClr>
              <a:buSzPct val="85000"/>
            </a:pPr>
            <a:r>
              <a:rPr lang="zh-CN" altLang="zh-CN" sz="8600" b="0" dirty="0"/>
              <a:t>算法</a:t>
            </a:r>
            <a:r>
              <a:rPr lang="en-US" altLang="zh-CN" sz="8600" b="0" dirty="0"/>
              <a:t>5.18</a:t>
            </a:r>
            <a:r>
              <a:rPr lang="zh-CN" altLang="zh-CN" sz="8600" b="0" dirty="0"/>
              <a:t>：二叉查找树非递归算法</a:t>
            </a:r>
            <a:endParaRPr lang="en-US" altLang="zh-CN" sz="8600" b="0" dirty="0"/>
          </a:p>
          <a:p>
            <a:pPr>
              <a:buClr>
                <a:schemeClr val="folHlink"/>
              </a:buClr>
              <a:buSzPct val="85000"/>
            </a:pPr>
            <a:r>
              <a:rPr lang="en-US" altLang="zh-CN" sz="4900" b="0" dirty="0">
                <a:latin typeface="黑体" pitchFamily="49" charset="-122"/>
                <a:ea typeface="黑体" pitchFamily="49" charset="-122"/>
              </a:rPr>
              <a:t>   template&lt;class T&gt;</a:t>
            </a:r>
            <a:endParaRPr lang="zh-CN" altLang="zh-CN" sz="4900" b="0" dirty="0">
              <a:latin typeface="黑体" pitchFamily="49" charset="-122"/>
              <a:ea typeface="黑体" pitchFamily="49" charset="-122"/>
            </a:endParaRPr>
          </a:p>
          <a:p>
            <a:pPr>
              <a:buClr>
                <a:schemeClr val="folHlink"/>
              </a:buClr>
              <a:buSzPct val="85000"/>
            </a:pPr>
            <a:r>
              <a:rPr lang="en-US" altLang="zh-CN" sz="4900" b="0" dirty="0">
                <a:latin typeface="黑体" pitchFamily="49" charset="-122"/>
                <a:ea typeface="黑体" pitchFamily="49" charset="-122"/>
              </a:rPr>
              <a:t>   </a:t>
            </a:r>
            <a:r>
              <a:rPr lang="en-US" altLang="zh-CN" sz="4900" b="0" dirty="0" err="1">
                <a:latin typeface="黑体" pitchFamily="49" charset="-122"/>
                <a:ea typeface="黑体" pitchFamily="49" charset="-122"/>
              </a:rPr>
              <a:t>BinaryTreeNode</a:t>
            </a:r>
            <a:r>
              <a:rPr lang="en-US" altLang="zh-CN" sz="4900" b="0" dirty="0">
                <a:latin typeface="黑体" pitchFamily="49" charset="-122"/>
                <a:ea typeface="黑体" pitchFamily="49" charset="-122"/>
              </a:rPr>
              <a:t>&lt;T&gt;* </a:t>
            </a:r>
            <a:r>
              <a:rPr lang="en-US" altLang="zh-CN" sz="4900" b="0" dirty="0" err="1">
                <a:latin typeface="黑体" pitchFamily="49" charset="-122"/>
                <a:ea typeface="黑体" pitchFamily="49" charset="-122"/>
              </a:rPr>
              <a:t>BinarySearchTree</a:t>
            </a:r>
            <a:r>
              <a:rPr lang="en-US" altLang="zh-CN" sz="4900" b="0" dirty="0">
                <a:latin typeface="黑体" pitchFamily="49" charset="-122"/>
                <a:ea typeface="黑体" pitchFamily="49" charset="-122"/>
              </a:rPr>
              <a:t>&lt;T&gt;::</a:t>
            </a:r>
          </a:p>
          <a:p>
            <a:pPr>
              <a:buClr>
                <a:schemeClr val="folHlink"/>
              </a:buClr>
              <a:buSzPct val="85000"/>
            </a:pPr>
            <a:r>
              <a:rPr lang="en-US" altLang="zh-CN" sz="4900" b="0" dirty="0">
                <a:latin typeface="黑体" pitchFamily="49" charset="-122"/>
                <a:ea typeface="黑体" pitchFamily="49" charset="-122"/>
              </a:rPr>
              <a:t>   Search(</a:t>
            </a:r>
            <a:r>
              <a:rPr lang="en-US" altLang="zh-CN" sz="4900" b="0" dirty="0" err="1">
                <a:latin typeface="黑体" pitchFamily="49" charset="-122"/>
                <a:ea typeface="黑体" pitchFamily="49" charset="-122"/>
              </a:rPr>
              <a:t>BinaryTreeNode</a:t>
            </a:r>
            <a:r>
              <a:rPr lang="en-US" altLang="zh-CN" sz="4900" b="0" dirty="0">
                <a:latin typeface="黑体" pitchFamily="49" charset="-122"/>
                <a:ea typeface="黑体" pitchFamily="49" charset="-122"/>
              </a:rPr>
              <a:t>&lt;T&gt;* </a:t>
            </a:r>
            <a:r>
              <a:rPr lang="en-US" altLang="zh-CN" sz="4900" b="0" dirty="0" err="1">
                <a:latin typeface="黑体" pitchFamily="49" charset="-122"/>
                <a:ea typeface="黑体" pitchFamily="49" charset="-122"/>
              </a:rPr>
              <a:t>subroot</a:t>
            </a:r>
            <a:r>
              <a:rPr lang="en-US" altLang="zh-CN" sz="4900" b="0" dirty="0">
                <a:latin typeface="黑体" pitchFamily="49" charset="-122"/>
                <a:ea typeface="黑体" pitchFamily="49" charset="-122"/>
              </a:rPr>
              <a:t>, const T&amp; k){</a:t>
            </a:r>
          </a:p>
          <a:p>
            <a:pPr>
              <a:buClr>
                <a:schemeClr val="folHlink"/>
              </a:buClr>
              <a:buSzPct val="85000"/>
            </a:pPr>
            <a:r>
              <a:rPr lang="en-US" altLang="zh-CN" sz="4900" b="0" dirty="0">
                <a:latin typeface="黑体" pitchFamily="49" charset="-122"/>
                <a:ea typeface="黑体" pitchFamily="49" charset="-122"/>
              </a:rPr>
              <a:t>      </a:t>
            </a:r>
            <a:r>
              <a:rPr lang="en-US" altLang="zh-CN" sz="4900" b="0" dirty="0" err="1">
                <a:latin typeface="黑体" pitchFamily="49" charset="-122"/>
                <a:ea typeface="黑体" pitchFamily="49" charset="-122"/>
              </a:rPr>
              <a:t>BinaryTreeNode</a:t>
            </a:r>
            <a:r>
              <a:rPr lang="en-US" altLang="zh-CN" sz="4900" b="0" dirty="0">
                <a:latin typeface="黑体" pitchFamily="49" charset="-122"/>
                <a:ea typeface="黑体" pitchFamily="49" charset="-122"/>
              </a:rPr>
              <a:t>&lt;T&gt;* p = </a:t>
            </a:r>
            <a:r>
              <a:rPr lang="en-US" altLang="zh-CN" sz="4900" b="0" dirty="0" err="1">
                <a:latin typeface="黑体" pitchFamily="49" charset="-122"/>
                <a:ea typeface="黑体" pitchFamily="49" charset="-122"/>
              </a:rPr>
              <a:t>subroot</a:t>
            </a:r>
            <a:r>
              <a:rPr lang="en-US" altLang="zh-CN" sz="4900" b="0" dirty="0">
                <a:latin typeface="黑体" pitchFamily="49" charset="-122"/>
                <a:ea typeface="黑体" pitchFamily="49" charset="-122"/>
              </a:rPr>
              <a:t>;</a:t>
            </a:r>
          </a:p>
          <a:p>
            <a:pPr>
              <a:buClr>
                <a:schemeClr val="folHlink"/>
              </a:buClr>
              <a:buSzPct val="85000"/>
            </a:pPr>
            <a:r>
              <a:rPr lang="en-US" altLang="zh-CN" sz="4900" b="0" dirty="0">
                <a:latin typeface="黑体" pitchFamily="49" charset="-122"/>
                <a:ea typeface="黑体" pitchFamily="49" charset="-122"/>
              </a:rPr>
              <a:t>      while (p != NULL){</a:t>
            </a:r>
          </a:p>
          <a:p>
            <a:pPr>
              <a:buClr>
                <a:schemeClr val="folHlink"/>
              </a:buClr>
              <a:buSzPct val="85000"/>
            </a:pPr>
            <a:r>
              <a:rPr lang="en-US" altLang="zh-CN" sz="4900" b="0" dirty="0">
                <a:latin typeface="黑体" pitchFamily="49" charset="-122"/>
                <a:ea typeface="黑体" pitchFamily="49" charset="-122"/>
              </a:rPr>
              <a:t>         if (k &gt; p-&gt;value())		//</a:t>
            </a:r>
            <a:r>
              <a:rPr lang="zh-CN" altLang="zh-CN" sz="4900" b="0" dirty="0">
                <a:latin typeface="黑体" pitchFamily="49" charset="-122"/>
                <a:ea typeface="黑体" pitchFamily="49" charset="-122"/>
              </a:rPr>
              <a:t>查找右子树</a:t>
            </a:r>
            <a:endParaRPr lang="en-US" altLang="zh-CN" sz="4900" b="0" dirty="0">
              <a:latin typeface="黑体" pitchFamily="49" charset="-122"/>
              <a:ea typeface="黑体" pitchFamily="49" charset="-122"/>
            </a:endParaRPr>
          </a:p>
          <a:p>
            <a:pPr>
              <a:buClr>
                <a:schemeClr val="folHlink"/>
              </a:buClr>
              <a:buSzPct val="85000"/>
            </a:pPr>
            <a:r>
              <a:rPr lang="en-US" altLang="zh-CN" sz="4900" b="0" dirty="0">
                <a:latin typeface="黑体" pitchFamily="49" charset="-122"/>
                <a:ea typeface="黑体" pitchFamily="49" charset="-122"/>
              </a:rPr>
              <a:t>               p = p-&gt;</a:t>
            </a:r>
            <a:r>
              <a:rPr lang="en-US" altLang="zh-CN" sz="4900" b="0" dirty="0" err="1">
                <a:latin typeface="黑体" pitchFamily="49" charset="-122"/>
                <a:ea typeface="黑体" pitchFamily="49" charset="-122"/>
              </a:rPr>
              <a:t>rightchild</a:t>
            </a:r>
            <a:r>
              <a:rPr lang="en-US" altLang="zh-CN" sz="4900" b="0" dirty="0">
                <a:latin typeface="黑体" pitchFamily="49" charset="-122"/>
                <a:ea typeface="黑体" pitchFamily="49" charset="-122"/>
              </a:rPr>
              <a:t>();</a:t>
            </a:r>
          </a:p>
          <a:p>
            <a:pPr>
              <a:buClr>
                <a:schemeClr val="folHlink"/>
              </a:buClr>
              <a:buSzPct val="85000"/>
            </a:pPr>
            <a:r>
              <a:rPr lang="en-US" altLang="zh-CN" sz="4900" b="0" dirty="0">
                <a:latin typeface="黑体" pitchFamily="49" charset="-122"/>
                <a:ea typeface="黑体" pitchFamily="49" charset="-122"/>
              </a:rPr>
              <a:t>         else if (k &lt; p-&gt;value())		//</a:t>
            </a:r>
            <a:r>
              <a:rPr lang="zh-CN" altLang="zh-CN" sz="4900" b="0" dirty="0">
                <a:latin typeface="黑体" pitchFamily="49" charset="-122"/>
                <a:ea typeface="黑体" pitchFamily="49" charset="-122"/>
              </a:rPr>
              <a:t>查找左子树</a:t>
            </a:r>
            <a:endParaRPr lang="en-US" altLang="zh-CN" sz="4900" b="0" dirty="0">
              <a:latin typeface="黑体" pitchFamily="49" charset="-122"/>
              <a:ea typeface="黑体" pitchFamily="49" charset="-122"/>
            </a:endParaRPr>
          </a:p>
          <a:p>
            <a:pPr>
              <a:buClr>
                <a:schemeClr val="folHlink"/>
              </a:buClr>
              <a:buSzPct val="85000"/>
            </a:pPr>
            <a:r>
              <a:rPr lang="en-US" altLang="zh-CN" sz="4900" b="0" dirty="0">
                <a:latin typeface="黑体" pitchFamily="49" charset="-122"/>
                <a:ea typeface="黑体" pitchFamily="49" charset="-122"/>
              </a:rPr>
              <a:t>               p = p-&gt;</a:t>
            </a:r>
            <a:r>
              <a:rPr lang="en-US" altLang="zh-CN" sz="4900" b="0" dirty="0" err="1">
                <a:latin typeface="黑体" pitchFamily="49" charset="-122"/>
                <a:ea typeface="黑体" pitchFamily="49" charset="-122"/>
              </a:rPr>
              <a:t>leftchild</a:t>
            </a:r>
            <a:r>
              <a:rPr lang="en-US" altLang="zh-CN" sz="4900" b="0" dirty="0">
                <a:latin typeface="黑体" pitchFamily="49" charset="-122"/>
                <a:ea typeface="黑体" pitchFamily="49" charset="-122"/>
              </a:rPr>
              <a:t>();</a:t>
            </a:r>
          </a:p>
          <a:p>
            <a:pPr>
              <a:buClr>
                <a:schemeClr val="folHlink"/>
              </a:buClr>
              <a:buSzPct val="85000"/>
            </a:pPr>
            <a:r>
              <a:rPr lang="en-US" altLang="zh-CN" sz="4900" b="0" dirty="0">
                <a:latin typeface="黑体" pitchFamily="49" charset="-122"/>
                <a:ea typeface="黑体" pitchFamily="49" charset="-122"/>
              </a:rPr>
              <a:t>         else return p;	              	//</a:t>
            </a:r>
            <a:r>
              <a:rPr lang="zh-CN" altLang="en-US" sz="4900" b="0" dirty="0">
                <a:latin typeface="黑体" pitchFamily="49" charset="-122"/>
                <a:ea typeface="黑体" pitchFamily="49" charset="-122"/>
              </a:rPr>
              <a:t>查找成功</a:t>
            </a:r>
            <a:endParaRPr lang="en-US" altLang="zh-CN" sz="4900" b="0" dirty="0">
              <a:latin typeface="黑体" pitchFamily="49" charset="-122"/>
              <a:ea typeface="黑体" pitchFamily="49" charset="-122"/>
            </a:endParaRPr>
          </a:p>
          <a:p>
            <a:pPr>
              <a:buClr>
                <a:schemeClr val="folHlink"/>
              </a:buClr>
              <a:buSzPct val="85000"/>
            </a:pPr>
            <a:r>
              <a:rPr lang="en-US" altLang="zh-CN" sz="4900" b="0" dirty="0">
                <a:latin typeface="黑体" pitchFamily="49" charset="-122"/>
                <a:ea typeface="黑体" pitchFamily="49" charset="-122"/>
              </a:rPr>
              <a:t>      }</a:t>
            </a:r>
          </a:p>
          <a:p>
            <a:pPr>
              <a:buClr>
                <a:schemeClr val="folHlink"/>
              </a:buClr>
              <a:buSzPct val="85000"/>
            </a:pPr>
            <a:r>
              <a:rPr lang="en-US" altLang="zh-CN" sz="4900" b="0" dirty="0">
                <a:latin typeface="黑体" pitchFamily="49" charset="-122"/>
                <a:ea typeface="黑体" pitchFamily="49" charset="-122"/>
              </a:rPr>
              <a:t>      return NULL;</a:t>
            </a:r>
          </a:p>
          <a:p>
            <a:pPr>
              <a:buClr>
                <a:schemeClr val="folHlink"/>
              </a:buClr>
              <a:buSzPct val="85000"/>
            </a:pPr>
            <a:r>
              <a:rPr lang="en-US" altLang="zh-CN" sz="4900" b="0" dirty="0">
                <a:latin typeface="黑体" pitchFamily="49" charset="-122"/>
                <a:ea typeface="黑体" pitchFamily="49" charset="-122"/>
              </a:rPr>
              <a:t>   }</a:t>
            </a: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785786" y="1142984"/>
            <a:ext cx="7858180" cy="5072098"/>
          </a:xfrm>
        </p:spPr>
        <p:txBody>
          <a:bodyPr>
            <a:normAutofit fontScale="85000" lnSpcReduction="20000"/>
          </a:bodyPr>
          <a:lstStyle/>
          <a:p>
            <a:r>
              <a:rPr lang="zh-CN" altLang="en-US" b="0" dirty="0"/>
              <a:t>图</a:t>
            </a:r>
            <a:r>
              <a:rPr lang="en-US" b="0" dirty="0"/>
              <a:t>5-24(a)</a:t>
            </a:r>
            <a:r>
              <a:rPr lang="zh-CN" altLang="en-US" b="0" dirty="0"/>
              <a:t>的平均查找长度</a:t>
            </a:r>
            <a:r>
              <a:rPr lang="en-US" b="0" dirty="0"/>
              <a:t>ASL</a:t>
            </a:r>
            <a:r>
              <a:rPr lang="zh-CN" altLang="en-US" b="0" dirty="0"/>
              <a:t>为：</a:t>
            </a:r>
            <a:endParaRPr lang="en-US" altLang="zh-CN" b="0" dirty="0"/>
          </a:p>
          <a:p>
            <a:endParaRPr lang="en-US" altLang="zh-CN" b="0" dirty="0"/>
          </a:p>
          <a:p>
            <a:endParaRPr lang="en-US" altLang="zh-CN" b="0" dirty="0"/>
          </a:p>
          <a:p>
            <a:r>
              <a:rPr lang="zh-CN" altLang="en-US" b="0" dirty="0"/>
              <a:t>图</a:t>
            </a:r>
            <a:r>
              <a:rPr lang="en-US" b="0" dirty="0"/>
              <a:t>5-24(b)</a:t>
            </a:r>
            <a:r>
              <a:rPr lang="zh-CN" altLang="en-US" b="0" dirty="0"/>
              <a:t>的平均查找长度</a:t>
            </a:r>
            <a:r>
              <a:rPr lang="en-US" b="0" dirty="0"/>
              <a:t>ASL</a:t>
            </a:r>
            <a:r>
              <a:rPr lang="zh-CN" altLang="en-US" b="0" dirty="0"/>
              <a:t>为：</a:t>
            </a:r>
          </a:p>
          <a:p>
            <a:endParaRPr lang="en-US" altLang="zh-CN" dirty="0"/>
          </a:p>
          <a:p>
            <a:endParaRPr lang="en-US" altLang="zh-CN" dirty="0"/>
          </a:p>
          <a:p>
            <a:r>
              <a:rPr lang="zh-CN" altLang="en-US" dirty="0">
                <a:solidFill>
                  <a:srgbClr val="FF0000"/>
                </a:solidFill>
              </a:rPr>
              <a:t>结论：</a:t>
            </a:r>
          </a:p>
          <a:p>
            <a:r>
              <a:rPr lang="en-US" b="0" dirty="0"/>
              <a:t>(1) </a:t>
            </a:r>
            <a:r>
              <a:rPr lang="zh-CN" altLang="en-US" b="0" dirty="0"/>
              <a:t>在</a:t>
            </a:r>
            <a:r>
              <a:rPr lang="en-US" b="0" dirty="0"/>
              <a:t>BST</a:t>
            </a:r>
            <a:r>
              <a:rPr lang="zh-CN" altLang="en-US" b="0" dirty="0"/>
              <a:t>树中查找次数最长的值</a:t>
            </a:r>
            <a:r>
              <a:rPr lang="en-US" b="0" dirty="0"/>
              <a:t> = </a:t>
            </a:r>
            <a:r>
              <a:rPr lang="zh-CN" altLang="en-US" b="0" dirty="0"/>
              <a:t>树的高度；</a:t>
            </a:r>
          </a:p>
          <a:p>
            <a:r>
              <a:rPr lang="en-US" b="0" dirty="0"/>
              <a:t>(2) </a:t>
            </a:r>
            <a:r>
              <a:rPr lang="zh-CN" altLang="en-US" b="0" dirty="0"/>
              <a:t>理想情况：二叉查找树比较平衡，查找时的平均查找长度与二叉树的深度有关，复杂度为</a:t>
            </a:r>
            <a:r>
              <a:rPr lang="en-US" b="0" dirty="0"/>
              <a:t>O( </a:t>
            </a:r>
            <a:r>
              <a:rPr lang="en-US" altLang="zh-CN" b="0" dirty="0"/>
              <a:t>log(</a:t>
            </a:r>
            <a:r>
              <a:rPr lang="en-US" b="0" dirty="0"/>
              <a:t>n) );</a:t>
            </a:r>
            <a:endParaRPr lang="zh-CN" altLang="en-US" b="0" dirty="0"/>
          </a:p>
          <a:p>
            <a:r>
              <a:rPr lang="en-US" b="0" dirty="0"/>
              <a:t>(3) </a:t>
            </a:r>
            <a:r>
              <a:rPr lang="zh-CN" altLang="en-US" b="0" dirty="0"/>
              <a:t>最坏情况：二叉查找树是按照数值递增或递减的顺序依次插入而生成的，是一棵深度等于结点个数</a:t>
            </a:r>
            <a:r>
              <a:rPr lang="en-US" b="0" dirty="0"/>
              <a:t>n</a:t>
            </a:r>
            <a:r>
              <a:rPr lang="zh-CN" altLang="en-US" b="0" dirty="0"/>
              <a:t>的单支树，其平均查找长度为</a:t>
            </a:r>
            <a:r>
              <a:rPr lang="en-US" b="0" dirty="0"/>
              <a:t>(n+1)/2</a:t>
            </a:r>
            <a:r>
              <a:rPr lang="zh-CN" altLang="en-US" b="0" dirty="0"/>
              <a:t>，复杂度为</a:t>
            </a:r>
            <a:r>
              <a:rPr lang="en-US" b="0" dirty="0"/>
              <a:t>O(n)</a:t>
            </a:r>
            <a:r>
              <a:rPr lang="zh-CN" altLang="en-US" b="0" dirty="0"/>
              <a:t>。</a:t>
            </a:r>
          </a:p>
          <a:p>
            <a:endParaRPr lang="zh-CN" altLang="en-US" dirty="0"/>
          </a:p>
        </p:txBody>
      </p:sp>
      <p:pic>
        <p:nvPicPr>
          <p:cNvPr id="82945" name="Picture 1"/>
          <p:cNvPicPr>
            <a:picLocks noChangeAspect="1" noChangeArrowheads="1"/>
          </p:cNvPicPr>
          <p:nvPr/>
        </p:nvPicPr>
        <p:blipFill>
          <a:blip r:embed="rId2" cstate="print"/>
          <a:srcRect/>
          <a:stretch>
            <a:fillRect/>
          </a:stretch>
        </p:blipFill>
        <p:spPr bwMode="auto">
          <a:xfrm>
            <a:off x="1967086" y="1714897"/>
            <a:ext cx="3829050" cy="561975"/>
          </a:xfrm>
          <a:prstGeom prst="rect">
            <a:avLst/>
          </a:prstGeom>
          <a:noFill/>
          <a:ln w="9525">
            <a:noFill/>
            <a:miter lim="800000"/>
            <a:headEnd/>
            <a:tailEnd/>
          </a:ln>
          <a:effectLst/>
        </p:spPr>
      </p:pic>
      <p:pic>
        <p:nvPicPr>
          <p:cNvPr id="82946" name="Picture 2"/>
          <p:cNvPicPr>
            <a:picLocks noChangeAspect="1" noChangeArrowheads="1"/>
          </p:cNvPicPr>
          <p:nvPr/>
        </p:nvPicPr>
        <p:blipFill>
          <a:blip r:embed="rId3" cstate="print"/>
          <a:srcRect/>
          <a:stretch>
            <a:fillRect/>
          </a:stretch>
        </p:blipFill>
        <p:spPr bwMode="auto">
          <a:xfrm>
            <a:off x="1857356" y="2948558"/>
            <a:ext cx="5353050" cy="552450"/>
          </a:xfrm>
          <a:prstGeom prst="rect">
            <a:avLst/>
          </a:prstGeom>
          <a:noFill/>
          <a:ln w="9525">
            <a:noFill/>
            <a:miter lim="800000"/>
            <a:headEnd/>
            <a:tailEnd/>
          </a:ln>
          <a:effectLst/>
        </p:spPr>
      </p:pic>
    </p:spTree>
    <p:extLst>
      <p:ext uri="{BB962C8B-B14F-4D97-AF65-F5344CB8AC3E}">
        <p14:creationId xmlns:p14="http://schemas.microsoft.com/office/powerpoint/2010/main" val="13669238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fontScale="92500" lnSpcReduction="10000"/>
          </a:bodyPr>
          <a:lstStyle/>
          <a:p>
            <a:pPr>
              <a:buClr>
                <a:schemeClr val="folHlink"/>
              </a:buClr>
              <a:buSzPct val="85000"/>
            </a:pPr>
            <a:r>
              <a:rPr lang="en-US" altLang="zh-CN" sz="2600" b="0" dirty="0">
                <a:solidFill>
                  <a:schemeClr val="accent3">
                    <a:lumMod val="75000"/>
                  </a:schemeClr>
                </a:solidFill>
                <a:latin typeface="黑体" pitchFamily="49" charset="-122"/>
                <a:ea typeface="黑体" pitchFamily="49" charset="-122"/>
              </a:rPr>
              <a:t>5.5.3 </a:t>
            </a:r>
            <a:r>
              <a:rPr lang="zh-CN" altLang="zh-CN" sz="2600" b="0" dirty="0">
                <a:solidFill>
                  <a:schemeClr val="accent3">
                    <a:lumMod val="75000"/>
                  </a:schemeClr>
                </a:solidFill>
                <a:latin typeface="黑体" pitchFamily="49" charset="-122"/>
                <a:ea typeface="黑体" pitchFamily="49" charset="-122"/>
              </a:rPr>
              <a:t>二叉查找树的插入</a:t>
            </a:r>
            <a:endParaRPr lang="en-US" altLang="zh-CN" sz="2600" b="0" dirty="0">
              <a:solidFill>
                <a:schemeClr val="accent3">
                  <a:lumMod val="75000"/>
                </a:schemeClr>
              </a:solidFill>
              <a:latin typeface="黑体" pitchFamily="49" charset="-122"/>
              <a:ea typeface="黑体" pitchFamily="49" charset="-122"/>
            </a:endParaRPr>
          </a:p>
          <a:p>
            <a:pPr>
              <a:buClr>
                <a:schemeClr val="folHlink"/>
              </a:buClr>
              <a:buSzPct val="85000"/>
            </a:pPr>
            <a:r>
              <a:rPr lang="en-US" altLang="zh-CN" b="0" dirty="0"/>
              <a:t>             </a:t>
            </a:r>
            <a:r>
              <a:rPr lang="zh-CN" altLang="zh-CN" b="0" dirty="0"/>
              <a:t>要在二叉查找树中插入一个关键值为</a:t>
            </a:r>
            <a:r>
              <a:rPr lang="en-US" altLang="zh-CN" b="0" dirty="0"/>
              <a:t>k</a:t>
            </a:r>
            <a:r>
              <a:rPr lang="zh-CN" altLang="zh-CN" b="0" dirty="0"/>
              <a:t>的新结点，需定位其在树中的位置</a:t>
            </a:r>
            <a:r>
              <a:rPr lang="zh-CN" altLang="en-US" b="0" dirty="0"/>
              <a:t>，</a:t>
            </a:r>
            <a:r>
              <a:rPr lang="zh-CN" altLang="zh-CN" b="0" dirty="0"/>
              <a:t>即实现对二叉查找树的搜索，并且必须保证插入后的树仍满足</a:t>
            </a:r>
            <a:r>
              <a:rPr lang="en-US" altLang="zh-CN" b="0" dirty="0"/>
              <a:t>BST</a:t>
            </a:r>
            <a:r>
              <a:rPr lang="zh-CN" altLang="zh-CN" b="0" dirty="0"/>
              <a:t>的性质。</a:t>
            </a:r>
            <a:r>
              <a:rPr lang="zh-CN" altLang="zh-CN" dirty="0">
                <a:solidFill>
                  <a:srgbClr val="FF0000"/>
                </a:solidFill>
              </a:rPr>
              <a:t>其插入过程为：</a:t>
            </a:r>
            <a:endParaRPr lang="en-US" altLang="zh-CN" dirty="0">
              <a:solidFill>
                <a:srgbClr val="FF0000"/>
              </a:solidFill>
            </a:endParaRPr>
          </a:p>
          <a:p>
            <a:pPr>
              <a:buClr>
                <a:schemeClr val="folHlink"/>
              </a:buClr>
              <a:buSzPct val="85000"/>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1</a:t>
            </a:r>
            <a:r>
              <a:rPr kumimoji="1" lang="zh-CN" altLang="en-US" b="0" dirty="0">
                <a:solidFill>
                  <a:schemeClr val="accent3">
                    <a:lumMod val="75000"/>
                  </a:schemeClr>
                </a:solidFill>
                <a:latin typeface="黑体" pitchFamily="49" charset="-122"/>
                <a:ea typeface="黑体" pitchFamily="49" charset="-122"/>
              </a:rPr>
              <a:t>：</a:t>
            </a:r>
            <a:r>
              <a:rPr lang="zh-CN" altLang="zh-CN" b="0" dirty="0">
                <a:solidFill>
                  <a:srgbClr val="FF0000"/>
                </a:solidFill>
              </a:rPr>
              <a:t>若二叉树为空，则生成一个值为</a:t>
            </a:r>
            <a:r>
              <a:rPr lang="en-US" altLang="zh-CN" b="0" dirty="0">
                <a:solidFill>
                  <a:srgbClr val="FF0000"/>
                </a:solidFill>
              </a:rPr>
              <a:t>k</a:t>
            </a:r>
            <a:r>
              <a:rPr lang="zh-CN" altLang="zh-CN" b="0" dirty="0">
                <a:solidFill>
                  <a:srgbClr val="FF0000"/>
                </a:solidFill>
              </a:rPr>
              <a:t>的新结点</a:t>
            </a:r>
            <a:r>
              <a:rPr lang="zh-CN" altLang="zh-CN" b="0" dirty="0"/>
              <a:t>，并令其为二叉查找树的根；</a:t>
            </a:r>
            <a:endParaRPr lang="en-US" altLang="zh-CN" b="0" dirty="0"/>
          </a:p>
          <a:p>
            <a:pPr>
              <a:spcBef>
                <a:spcPct val="50000"/>
              </a:spcBef>
            </a:pPr>
            <a:r>
              <a:rPr kumimoji="1" lang="en-US" altLang="zh-CN" b="0" dirty="0">
                <a:solidFill>
                  <a:schemeClr val="accent3">
                    <a:lumMod val="75000"/>
                  </a:schemeClr>
                </a:solidFill>
                <a:latin typeface="黑体" pitchFamily="49" charset="-122"/>
                <a:ea typeface="黑体" pitchFamily="49" charset="-122"/>
              </a:rPr>
              <a:t>S</a:t>
            </a:r>
            <a:r>
              <a:rPr kumimoji="1" lang="en-US" altLang="zh-CN" b="0" baseline="-25000" dirty="0">
                <a:solidFill>
                  <a:schemeClr val="accent3">
                    <a:lumMod val="75000"/>
                  </a:schemeClr>
                </a:solidFill>
                <a:latin typeface="黑体" pitchFamily="49" charset="-122"/>
                <a:ea typeface="黑体" pitchFamily="49" charset="-122"/>
              </a:rPr>
              <a:t>2</a:t>
            </a:r>
            <a:r>
              <a:rPr kumimoji="1" lang="zh-CN" altLang="en-US" b="0" dirty="0">
                <a:solidFill>
                  <a:schemeClr val="accent3">
                    <a:lumMod val="75000"/>
                  </a:schemeClr>
                </a:solidFill>
                <a:latin typeface="黑体" pitchFamily="49" charset="-122"/>
                <a:ea typeface="黑体" pitchFamily="49" charset="-122"/>
              </a:rPr>
              <a:t>：</a:t>
            </a:r>
            <a:r>
              <a:rPr lang="zh-CN" altLang="zh-CN" b="0" dirty="0">
                <a:solidFill>
                  <a:srgbClr val="FF0000"/>
                </a:solidFill>
              </a:rPr>
              <a:t>若二叉树非空，则将关键值</a:t>
            </a:r>
            <a:r>
              <a:rPr lang="en-US" altLang="zh-CN" b="0" dirty="0">
                <a:solidFill>
                  <a:srgbClr val="FF0000"/>
                </a:solidFill>
              </a:rPr>
              <a:t>k</a:t>
            </a:r>
            <a:r>
              <a:rPr lang="zh-CN" altLang="zh-CN" b="0" dirty="0">
                <a:solidFill>
                  <a:srgbClr val="FF0000"/>
                </a:solidFill>
              </a:rPr>
              <a:t>与根的关键值比较</a:t>
            </a:r>
            <a:r>
              <a:rPr lang="zh-CN" altLang="zh-CN" b="0" dirty="0"/>
              <a:t>，若相等，则说明树中已有关键值</a:t>
            </a:r>
            <a:r>
              <a:rPr lang="en-US" altLang="zh-CN" b="0" dirty="0"/>
              <a:t>k</a:t>
            </a:r>
            <a:r>
              <a:rPr lang="zh-CN" altLang="zh-CN" b="0" dirty="0"/>
              <a:t>的结点，无需插入；</a:t>
            </a:r>
            <a:r>
              <a:rPr lang="zh-CN" altLang="zh-CN" b="0" dirty="0">
                <a:solidFill>
                  <a:srgbClr val="FF0000"/>
                </a:solidFill>
              </a:rPr>
              <a:t>若</a:t>
            </a:r>
            <a:r>
              <a:rPr lang="en-US" altLang="zh-CN" b="0" dirty="0">
                <a:solidFill>
                  <a:srgbClr val="FF0000"/>
                </a:solidFill>
              </a:rPr>
              <a:t>k</a:t>
            </a:r>
            <a:r>
              <a:rPr lang="zh-CN" altLang="zh-CN" b="0" dirty="0">
                <a:solidFill>
                  <a:srgbClr val="FF0000"/>
                </a:solidFill>
              </a:rPr>
              <a:t>小于根结点的关键值，则将</a:t>
            </a:r>
            <a:r>
              <a:rPr lang="en-US" altLang="zh-CN" b="0" dirty="0">
                <a:solidFill>
                  <a:srgbClr val="FF0000"/>
                </a:solidFill>
              </a:rPr>
              <a:t>k</a:t>
            </a:r>
            <a:r>
              <a:rPr lang="zh-CN" altLang="zh-CN" b="0" dirty="0">
                <a:solidFill>
                  <a:srgbClr val="FF0000"/>
                </a:solidFill>
              </a:rPr>
              <a:t>插入到其左子树中，否则插入到其右子树中</a:t>
            </a:r>
            <a:r>
              <a:rPr lang="zh-CN" altLang="zh-CN" b="0" dirty="0"/>
              <a:t>。</a:t>
            </a:r>
            <a:endParaRPr kumimoji="1" lang="en-US" altLang="zh-CN" b="0" dirty="0">
              <a:solidFill>
                <a:schemeClr val="accent3">
                  <a:lumMod val="75000"/>
                </a:schemeClr>
              </a:solidFill>
              <a:latin typeface="黑体" pitchFamily="49" charset="-122"/>
              <a:ea typeface="黑体" pitchFamily="49" charset="-122"/>
            </a:endParaRPr>
          </a:p>
          <a:p>
            <a:pPr>
              <a:buClr>
                <a:schemeClr val="folHlink"/>
              </a:buClr>
              <a:buSzPct val="85000"/>
            </a:pPr>
            <a:r>
              <a:rPr lang="en-US" altLang="zh-CN" dirty="0"/>
              <a:t>           </a:t>
            </a:r>
            <a:r>
              <a:rPr lang="en-US" altLang="zh-CN" dirty="0">
                <a:sym typeface="Webdings"/>
              </a:rPr>
              <a:t></a:t>
            </a:r>
            <a:r>
              <a:rPr lang="zh-CN" altLang="zh-CN" dirty="0">
                <a:solidFill>
                  <a:srgbClr val="FF0000"/>
                </a:solidFill>
              </a:rPr>
              <a:t>结论：</a:t>
            </a:r>
            <a:r>
              <a:rPr lang="zh-CN" altLang="en-US" dirty="0"/>
              <a:t>新</a:t>
            </a:r>
            <a:r>
              <a:rPr lang="zh-CN" altLang="zh-CN" dirty="0"/>
              <a:t>插入的</a:t>
            </a:r>
            <a:r>
              <a:rPr lang="zh-CN" altLang="en-US" dirty="0"/>
              <a:t>结点</a:t>
            </a:r>
            <a:r>
              <a:rPr lang="zh-CN" altLang="zh-CN" dirty="0"/>
              <a:t>一定为叶子结点。</a:t>
            </a:r>
          </a:p>
          <a:p>
            <a:pPr>
              <a:buClr>
                <a:schemeClr val="folHlink"/>
              </a:buClr>
              <a:buSzPct val="85000"/>
            </a:pPr>
            <a:endParaRPr lang="zh-CN" altLang="en-US" b="0"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a:p>
            <a:pPr>
              <a:buClr>
                <a:schemeClr val="folHlink"/>
              </a:buClr>
              <a:buSzPct val="85000"/>
            </a:pPr>
            <a:endParaRPr lang="zh-CN" altLang="en-US" dirty="0">
              <a:solidFill>
                <a:schemeClr val="accent3">
                  <a:lumMod val="75000"/>
                </a:schemeClr>
              </a:solidFill>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424936" cy="5544616"/>
          </a:xfrm>
        </p:spPr>
        <p:txBody>
          <a:bodyPr>
            <a:noAutofit/>
          </a:bodyPr>
          <a:lstStyle/>
          <a:p>
            <a:pPr>
              <a:spcBef>
                <a:spcPts val="0"/>
              </a:spcBef>
            </a:pPr>
            <a:r>
              <a:rPr lang="zh-CN" altLang="zh-CN" sz="2000" dirty="0">
                <a:solidFill>
                  <a:srgbClr val="FF0000"/>
                </a:solidFill>
              </a:rPr>
              <a:t>插入算法</a:t>
            </a:r>
            <a:r>
              <a:rPr lang="zh-CN" altLang="zh-CN" sz="2000" dirty="0"/>
              <a:t>实现如下：</a:t>
            </a:r>
          </a:p>
          <a:p>
            <a:pPr>
              <a:spcBef>
                <a:spcPts val="0"/>
              </a:spcBef>
            </a:pPr>
            <a:r>
              <a:rPr lang="en-US" altLang="zh-CN" sz="2000" dirty="0"/>
              <a:t>1)</a:t>
            </a:r>
            <a:r>
              <a:rPr lang="zh-CN" altLang="zh-CN" sz="2000" dirty="0">
                <a:solidFill>
                  <a:srgbClr val="FF0000"/>
                </a:solidFill>
              </a:rPr>
              <a:t>递归算法</a:t>
            </a:r>
            <a:r>
              <a:rPr lang="zh-CN" altLang="zh-CN" sz="2000" dirty="0"/>
              <a:t>的实现</a:t>
            </a:r>
          </a:p>
          <a:p>
            <a:pPr>
              <a:spcBef>
                <a:spcPts val="0"/>
              </a:spcBef>
            </a:pPr>
            <a:r>
              <a:rPr lang="en-US" altLang="zh-CN" sz="2000" b="0" dirty="0"/>
              <a:t>	</a:t>
            </a:r>
            <a:r>
              <a:rPr lang="zh-CN" altLang="zh-CN" sz="2000" b="0" dirty="0"/>
              <a:t>算法</a:t>
            </a:r>
            <a:r>
              <a:rPr lang="en-US" altLang="zh-CN" sz="2000" b="0" dirty="0"/>
              <a:t>5.19</a:t>
            </a:r>
            <a:r>
              <a:rPr lang="zh-CN" altLang="zh-CN" sz="2000" b="0" dirty="0"/>
              <a:t>：二叉查找树的</a:t>
            </a:r>
            <a:r>
              <a:rPr lang="zh-CN" altLang="zh-CN" sz="2000" dirty="0">
                <a:solidFill>
                  <a:srgbClr val="FF0000"/>
                </a:solidFill>
              </a:rPr>
              <a:t>插入递归算法</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BinarySearchTree</a:t>
            </a:r>
            <a:r>
              <a:rPr lang="en-US" altLang="zh-CN" sz="2000" b="0" dirty="0"/>
              <a:t>&lt;T&gt;::Insert(</a:t>
            </a:r>
            <a:r>
              <a:rPr lang="en-US" altLang="zh-CN" sz="2000" b="0" dirty="0" err="1"/>
              <a:t>BinaryTreeNode</a:t>
            </a:r>
            <a:r>
              <a:rPr lang="en-US" altLang="zh-CN" sz="2000" b="0" dirty="0"/>
              <a:t>&lt;T&gt; *&amp;root, const T&amp; k){</a:t>
            </a:r>
            <a:endParaRPr lang="zh-CN" altLang="zh-CN" sz="2000" b="0" dirty="0"/>
          </a:p>
          <a:p>
            <a:pPr>
              <a:spcBef>
                <a:spcPts val="0"/>
              </a:spcBef>
            </a:pPr>
            <a:r>
              <a:rPr lang="en-US" altLang="zh-CN" sz="2000" b="0" dirty="0"/>
              <a:t>    if (root == NULL){</a:t>
            </a:r>
            <a:endParaRPr lang="zh-CN" altLang="zh-CN" sz="2000" b="0" dirty="0"/>
          </a:p>
          <a:p>
            <a:pPr>
              <a:spcBef>
                <a:spcPts val="0"/>
              </a:spcBef>
            </a:pPr>
            <a:r>
              <a:rPr lang="en-US" altLang="zh-CN" sz="2000" b="0" dirty="0"/>
              <a:t>        root = new </a:t>
            </a:r>
            <a:r>
              <a:rPr lang="en-US" altLang="zh-CN" sz="2000" b="0" dirty="0" err="1"/>
              <a:t>BinaryTreeNode</a:t>
            </a:r>
            <a:r>
              <a:rPr lang="en-US" altLang="zh-CN" sz="2000" b="0" dirty="0"/>
              <a:t>&lt;T&gt;(k);</a:t>
            </a:r>
            <a:endParaRPr lang="zh-CN" altLang="zh-CN" sz="2000" b="0" dirty="0"/>
          </a:p>
          <a:p>
            <a:pPr>
              <a:spcBef>
                <a:spcPts val="0"/>
              </a:spcBef>
            </a:pPr>
            <a:r>
              <a:rPr lang="en-US" altLang="zh-CN" sz="2000" b="0" dirty="0"/>
              <a:t>        return;</a:t>
            </a:r>
            <a:endParaRPr lang="zh-CN" altLang="zh-CN" sz="2000" b="0" dirty="0"/>
          </a:p>
          <a:p>
            <a:pPr>
              <a:spcBef>
                <a:spcPts val="0"/>
              </a:spcBef>
            </a:pPr>
            <a:r>
              <a:rPr lang="en-US" altLang="zh-CN" sz="2000" b="0" dirty="0"/>
              <a:t>    } else{</a:t>
            </a:r>
            <a:endParaRPr lang="zh-CN" altLang="zh-CN" sz="2000" b="0" dirty="0"/>
          </a:p>
          <a:p>
            <a:pPr>
              <a:spcBef>
                <a:spcPts val="0"/>
              </a:spcBef>
            </a:pPr>
            <a:r>
              <a:rPr lang="en-US" altLang="zh-CN" sz="2000" b="0" dirty="0"/>
              <a:t>        if (k == root-&gt;value()) return ; 	//</a:t>
            </a:r>
            <a:r>
              <a:rPr lang="zh-CN" altLang="zh-CN" sz="2000" b="0" dirty="0"/>
              <a:t>树中已有关键值为</a:t>
            </a:r>
            <a:r>
              <a:rPr lang="en-US" altLang="zh-CN" sz="2000" b="0" dirty="0"/>
              <a:t>k</a:t>
            </a:r>
            <a:r>
              <a:rPr lang="zh-CN" altLang="zh-CN" sz="2000" b="0" dirty="0"/>
              <a:t>的结点，无需插入</a:t>
            </a:r>
          </a:p>
          <a:p>
            <a:pPr>
              <a:spcBef>
                <a:spcPts val="0"/>
              </a:spcBef>
            </a:pPr>
            <a:r>
              <a:rPr lang="en-US" altLang="zh-CN" sz="2000" b="0" dirty="0"/>
              <a:t>        else if (k &lt; root-&gt;value())</a:t>
            </a:r>
            <a:endParaRPr lang="zh-CN" altLang="zh-CN" sz="2000" b="0" dirty="0"/>
          </a:p>
          <a:p>
            <a:pPr>
              <a:spcBef>
                <a:spcPts val="0"/>
              </a:spcBef>
            </a:pPr>
            <a:r>
              <a:rPr lang="en-US" altLang="zh-CN" sz="2000" b="0" dirty="0"/>
              <a:t>            Insert(root-&gt;left, k);</a:t>
            </a:r>
            <a:endParaRPr lang="zh-CN" altLang="zh-CN" sz="2000" b="0" dirty="0"/>
          </a:p>
          <a:p>
            <a:pPr>
              <a:spcBef>
                <a:spcPts val="0"/>
              </a:spcBef>
            </a:pPr>
            <a:r>
              <a:rPr lang="en-US" altLang="zh-CN" sz="2000" b="0" dirty="0"/>
              <a:t>        else  Insert(root-&gt;right, k);</a:t>
            </a:r>
            <a:endParaRPr lang="zh-CN" altLang="zh-CN" sz="2000" b="0" dirty="0"/>
          </a:p>
          <a:p>
            <a:pPr>
              <a:spcBef>
                <a:spcPts val="0"/>
              </a:spcBef>
            </a:pPr>
            <a:r>
              <a:rPr lang="en-US" altLang="zh-CN" sz="2000" b="0" dirty="0"/>
              <a:t>    }</a:t>
            </a:r>
            <a:endParaRPr lang="zh-CN" altLang="zh-CN" sz="2000" b="0" dirty="0"/>
          </a:p>
          <a:p>
            <a:pPr>
              <a:spcBef>
                <a:spcPts val="0"/>
              </a:spcBef>
            </a:pPr>
            <a:r>
              <a:rPr lang="en-US" altLang="zh-CN" sz="2000" b="0" dirty="0"/>
              <a:t>}</a:t>
            </a:r>
            <a:endParaRPr lang="zh-CN" altLang="zh-CN" sz="2000" b="0" dirty="0"/>
          </a:p>
        </p:txBody>
      </p:sp>
    </p:spTree>
    <p:extLst>
      <p:ext uri="{BB962C8B-B14F-4D97-AF65-F5344CB8AC3E}">
        <p14:creationId xmlns:p14="http://schemas.microsoft.com/office/powerpoint/2010/main" val="39039188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5377230"/>
          </a:xfrm>
        </p:spPr>
        <p:txBody>
          <a:bodyPr>
            <a:normAutofit fontScale="25000" lnSpcReduction="20000"/>
          </a:bodyPr>
          <a:lstStyle/>
          <a:p>
            <a:pPr>
              <a:spcBef>
                <a:spcPts val="0"/>
              </a:spcBef>
            </a:pPr>
            <a:r>
              <a:rPr lang="en-US" altLang="zh-CN" sz="9600" dirty="0"/>
              <a:t>2)</a:t>
            </a:r>
            <a:r>
              <a:rPr lang="zh-CN" altLang="zh-CN" sz="9600" dirty="0">
                <a:solidFill>
                  <a:srgbClr val="FF0000"/>
                </a:solidFill>
              </a:rPr>
              <a:t>非递归算法</a:t>
            </a:r>
            <a:r>
              <a:rPr lang="zh-CN" altLang="zh-CN" sz="9600" dirty="0"/>
              <a:t>的实现</a:t>
            </a:r>
          </a:p>
          <a:p>
            <a:pPr>
              <a:spcBef>
                <a:spcPts val="0"/>
              </a:spcBef>
            </a:pPr>
            <a:r>
              <a:rPr lang="en-US" altLang="zh-CN" sz="3200" b="0" dirty="0"/>
              <a:t>	</a:t>
            </a:r>
            <a:r>
              <a:rPr lang="zh-CN" altLang="zh-CN" sz="9600" b="0" dirty="0"/>
              <a:t>算法</a:t>
            </a:r>
            <a:r>
              <a:rPr lang="en-US" altLang="zh-CN" sz="9600" b="0" dirty="0"/>
              <a:t>5.20</a:t>
            </a:r>
            <a:r>
              <a:rPr lang="zh-CN" altLang="zh-CN" sz="9600" b="0" dirty="0"/>
              <a:t>：二叉查找树的</a:t>
            </a:r>
            <a:r>
              <a:rPr lang="zh-CN" altLang="zh-CN" sz="9600" dirty="0">
                <a:solidFill>
                  <a:srgbClr val="FF0000"/>
                </a:solidFill>
              </a:rPr>
              <a:t>插入非递归算法</a:t>
            </a:r>
            <a:endParaRPr lang="en-US" altLang="zh-CN" sz="9600" dirty="0">
              <a:solidFill>
                <a:srgbClr val="FF0000"/>
              </a:solidFill>
            </a:endParaRPr>
          </a:p>
          <a:p>
            <a:pPr>
              <a:spcBef>
                <a:spcPts val="0"/>
              </a:spcBef>
            </a:pPr>
            <a:r>
              <a:rPr lang="en-US" altLang="zh-CN" sz="7200" b="0" dirty="0">
                <a:latin typeface="黑体" pitchFamily="49" charset="-122"/>
                <a:ea typeface="黑体" pitchFamily="49" charset="-122"/>
              </a:rPr>
              <a:t>template&lt;class T&gt;</a:t>
            </a:r>
            <a:endParaRPr lang="zh-CN" altLang="zh-CN" sz="7200" b="0" dirty="0">
              <a:latin typeface="黑体" pitchFamily="49" charset="-122"/>
              <a:ea typeface="黑体" pitchFamily="49" charset="-122"/>
            </a:endParaRPr>
          </a:p>
          <a:p>
            <a:pPr>
              <a:buClr>
                <a:schemeClr val="folHlink"/>
              </a:buClr>
              <a:buSzPct val="85000"/>
            </a:pPr>
            <a:r>
              <a:rPr lang="en-US" altLang="zh-CN" sz="6400" b="0" dirty="0">
                <a:latin typeface="黑体" pitchFamily="49" charset="-122"/>
                <a:ea typeface="黑体" pitchFamily="49" charset="-122"/>
              </a:rPr>
              <a:t>void </a:t>
            </a:r>
            <a:r>
              <a:rPr lang="en-US" altLang="zh-CN" sz="6400" b="0" dirty="0" err="1">
                <a:latin typeface="黑体" pitchFamily="49" charset="-122"/>
                <a:ea typeface="黑体" pitchFamily="49" charset="-122"/>
              </a:rPr>
              <a:t>BinarySearchTree</a:t>
            </a:r>
            <a:r>
              <a:rPr lang="en-US" altLang="zh-CN" sz="6400" b="0" dirty="0">
                <a:latin typeface="黑体" pitchFamily="49" charset="-122"/>
                <a:ea typeface="黑体" pitchFamily="49" charset="-122"/>
              </a:rPr>
              <a:t>&lt;T&gt;::Insert(</a:t>
            </a:r>
            <a:r>
              <a:rPr lang="en-US" altLang="zh-CN" sz="6400" b="0" dirty="0" err="1">
                <a:latin typeface="黑体" pitchFamily="49" charset="-122"/>
                <a:ea typeface="黑体" pitchFamily="49" charset="-122"/>
              </a:rPr>
              <a:t>BinaryTreeNode</a:t>
            </a:r>
            <a:r>
              <a:rPr lang="en-US" altLang="zh-CN" sz="6400" b="0" dirty="0">
                <a:latin typeface="黑体" pitchFamily="49" charset="-122"/>
                <a:ea typeface="黑体" pitchFamily="49" charset="-122"/>
              </a:rPr>
              <a:t>&lt;T&gt; *&amp;root, const T&amp; k){</a:t>
            </a:r>
            <a:endParaRPr lang="zh-CN" altLang="zh-CN" sz="6400" b="0" dirty="0">
              <a:latin typeface="黑体" pitchFamily="49" charset="-122"/>
              <a:ea typeface="黑体" pitchFamily="49" charset="-122"/>
            </a:endParaRPr>
          </a:p>
          <a:p>
            <a:pPr>
              <a:spcBef>
                <a:spcPts val="0"/>
              </a:spcBef>
            </a:pPr>
            <a:r>
              <a:rPr lang="en-US" altLang="zh-CN" sz="6400" b="0" dirty="0"/>
              <a:t>      if (root == NULL){</a:t>
            </a:r>
            <a:endParaRPr lang="zh-CN" altLang="zh-CN" sz="6400" b="0" dirty="0"/>
          </a:p>
          <a:p>
            <a:pPr>
              <a:spcBef>
                <a:spcPts val="0"/>
              </a:spcBef>
            </a:pPr>
            <a:r>
              <a:rPr lang="en-US" altLang="zh-CN" sz="6400" b="0" dirty="0"/>
              <a:t>		root = new </a:t>
            </a:r>
            <a:r>
              <a:rPr lang="en-US" altLang="zh-CN" sz="6400" b="0" dirty="0" err="1"/>
              <a:t>BinaryTreeNode</a:t>
            </a:r>
            <a:r>
              <a:rPr lang="en-US" altLang="zh-CN" sz="6400" b="0" dirty="0"/>
              <a:t>&lt;T&gt;(k);</a:t>
            </a:r>
            <a:endParaRPr lang="zh-CN" altLang="zh-CN" sz="6400" b="0" dirty="0"/>
          </a:p>
          <a:p>
            <a:pPr>
              <a:spcBef>
                <a:spcPts val="0"/>
              </a:spcBef>
            </a:pPr>
            <a:r>
              <a:rPr lang="en-US" altLang="zh-CN" sz="6400" b="0" dirty="0"/>
              <a:t>		return ;</a:t>
            </a:r>
            <a:endParaRPr lang="zh-CN" altLang="zh-CN" sz="6400" b="0" dirty="0"/>
          </a:p>
          <a:p>
            <a:pPr>
              <a:spcBef>
                <a:spcPts val="0"/>
              </a:spcBef>
            </a:pPr>
            <a:r>
              <a:rPr lang="en-US" altLang="zh-CN" sz="6400" b="0" dirty="0"/>
              <a:t>	}</a:t>
            </a:r>
            <a:endParaRPr lang="zh-CN" altLang="zh-CN" sz="6400" b="0" dirty="0"/>
          </a:p>
          <a:p>
            <a:pPr>
              <a:spcBef>
                <a:spcPts val="0"/>
              </a:spcBef>
            </a:pPr>
            <a:r>
              <a:rPr lang="en-US" altLang="zh-CN" sz="6400" b="0" dirty="0"/>
              <a:t>      </a:t>
            </a:r>
            <a:r>
              <a:rPr lang="en-US" altLang="zh-CN" sz="6400" b="0" dirty="0" err="1"/>
              <a:t>BinaryTreeNode</a:t>
            </a:r>
            <a:r>
              <a:rPr lang="en-US" altLang="zh-CN" sz="6400" b="0" dirty="0"/>
              <a:t>&lt;T&gt; *p = root, *q, *s;</a:t>
            </a:r>
            <a:endParaRPr lang="zh-CN" altLang="zh-CN" sz="6400" b="0" dirty="0"/>
          </a:p>
          <a:p>
            <a:pPr>
              <a:spcBef>
                <a:spcPts val="0"/>
              </a:spcBef>
            </a:pPr>
            <a:r>
              <a:rPr lang="en-US" altLang="zh-CN" sz="6400" b="0" dirty="0"/>
              <a:t>	q = NULL;s = new </a:t>
            </a:r>
            <a:r>
              <a:rPr lang="en-US" altLang="zh-CN" sz="6400" b="0" dirty="0" err="1"/>
              <a:t>BinaryTreeNode</a:t>
            </a:r>
            <a:r>
              <a:rPr lang="en-US" altLang="zh-CN" sz="6400" b="0" dirty="0"/>
              <a:t>&lt;T&gt;(k);</a:t>
            </a:r>
          </a:p>
          <a:p>
            <a:pPr>
              <a:spcBef>
                <a:spcPts val="0"/>
              </a:spcBef>
            </a:pPr>
            <a:r>
              <a:rPr lang="en-US" altLang="zh-CN" sz="6400" b="0" dirty="0"/>
              <a:t>      while (p != NULL){</a:t>
            </a:r>
          </a:p>
          <a:p>
            <a:pPr>
              <a:spcBef>
                <a:spcPts val="0"/>
              </a:spcBef>
            </a:pPr>
            <a:r>
              <a:rPr lang="en-US" altLang="zh-CN" sz="6400" b="0" dirty="0">
                <a:latin typeface="黑体" pitchFamily="49" charset="-122"/>
                <a:ea typeface="黑体" pitchFamily="49" charset="-122"/>
              </a:rPr>
              <a:t>       </a:t>
            </a:r>
            <a:r>
              <a:rPr lang="en-US" altLang="zh-CN" sz="6400" b="0" dirty="0"/>
              <a:t>q = p;</a:t>
            </a:r>
          </a:p>
          <a:p>
            <a:pPr>
              <a:spcBef>
                <a:spcPts val="0"/>
              </a:spcBef>
            </a:pPr>
            <a:r>
              <a:rPr lang="en-US" altLang="zh-CN" sz="6400" b="0" dirty="0"/>
              <a:t>               if (k &gt; q-&gt;value())  p = p-&gt;right;</a:t>
            </a:r>
          </a:p>
          <a:p>
            <a:pPr>
              <a:spcBef>
                <a:spcPts val="0"/>
              </a:spcBef>
            </a:pPr>
            <a:r>
              <a:rPr lang="en-US" altLang="zh-CN" sz="6400" b="0" dirty="0"/>
              <a:t>               else  p = p-&gt;left;</a:t>
            </a:r>
          </a:p>
          <a:p>
            <a:pPr>
              <a:spcBef>
                <a:spcPts val="0"/>
              </a:spcBef>
            </a:pPr>
            <a:r>
              <a:rPr lang="en-US" altLang="zh-CN" sz="6400" b="0" dirty="0"/>
              <a:t>       }</a:t>
            </a:r>
          </a:p>
          <a:p>
            <a:pPr>
              <a:spcBef>
                <a:spcPts val="0"/>
              </a:spcBef>
            </a:pPr>
            <a:r>
              <a:rPr lang="en-US" altLang="zh-CN" sz="6400" b="0" dirty="0"/>
              <a:t>     if (k &lt; q-&gt;value())  q-&gt;left = s;</a:t>
            </a:r>
          </a:p>
          <a:p>
            <a:pPr>
              <a:spcBef>
                <a:spcPts val="0"/>
              </a:spcBef>
            </a:pPr>
            <a:r>
              <a:rPr lang="en-US" altLang="zh-CN" sz="6400" b="0" dirty="0"/>
              <a:t>     else  q-&gt;right = s;</a:t>
            </a:r>
          </a:p>
          <a:p>
            <a:pPr>
              <a:spcBef>
                <a:spcPts val="0"/>
              </a:spcBef>
            </a:pPr>
            <a:r>
              <a:rPr lang="en-US" altLang="zh-CN" sz="6400" b="0" dirty="0"/>
              <a:t>     return ;</a:t>
            </a:r>
          </a:p>
          <a:p>
            <a:pPr>
              <a:spcBef>
                <a:spcPts val="0"/>
              </a:spcBef>
            </a:pPr>
            <a:r>
              <a:rPr lang="en-US" altLang="zh-CN" sz="6400" b="0" dirty="0"/>
              <a:t>}</a:t>
            </a:r>
            <a:endParaRPr lang="en-US" altLang="zh-CN" sz="6400" b="0" dirty="0">
              <a:latin typeface="黑体" pitchFamily="49" charset="-122"/>
              <a:ea typeface="黑体" pitchFamily="49" charset="-122"/>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520940" cy="1375562"/>
          </a:xfrm>
        </p:spPr>
        <p:txBody>
          <a:bodyPr>
            <a:normAutofit lnSpcReduction="10000"/>
          </a:bodyPr>
          <a:lstStyle/>
          <a:p>
            <a:r>
              <a:rPr lang="zh-CN" altLang="en-US" b="0" dirty="0"/>
              <a:t>例子：</a:t>
            </a:r>
            <a:r>
              <a:rPr lang="zh-CN" altLang="zh-CN" b="0" dirty="0"/>
              <a:t>通过二叉查找树的插入可构建二叉查找树，一组关键值</a:t>
            </a:r>
            <a:r>
              <a:rPr lang="en-US" altLang="zh-CN" b="0" dirty="0"/>
              <a:t>(4, 6, 3, 9, 7, 1)</a:t>
            </a:r>
            <a:r>
              <a:rPr lang="zh-CN" altLang="zh-CN" b="0" dirty="0"/>
              <a:t>，从空树开始，逐个插入结点，生成一棵二叉查找树的过程如图</a:t>
            </a:r>
            <a:r>
              <a:rPr lang="en-US" altLang="zh-CN" b="0" dirty="0"/>
              <a:t>5-26</a:t>
            </a:r>
            <a:r>
              <a:rPr lang="zh-CN" altLang="zh-CN" b="0" dirty="0"/>
              <a:t>所示。</a:t>
            </a:r>
            <a:r>
              <a:rPr lang="en-US" altLang="zh-CN" b="0" dirty="0"/>
              <a:t>  </a:t>
            </a:r>
            <a:endParaRPr lang="zh-CN" altLang="zh-CN" b="0" dirty="0"/>
          </a:p>
          <a:p>
            <a:endParaRPr lang="zh-CN" altLang="en-US" dirty="0"/>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780928"/>
            <a:ext cx="6083399" cy="3326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51875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664956" cy="3579849"/>
          </a:xfrm>
        </p:spPr>
        <p:txBody>
          <a:bodyPr/>
          <a:lstStyle/>
          <a:p>
            <a:r>
              <a:rPr lang="en-US" altLang="zh-CN" b="0" dirty="0"/>
              <a:t>	</a:t>
            </a:r>
            <a:r>
              <a:rPr lang="zh-CN" altLang="zh-CN" b="0" dirty="0"/>
              <a:t>由于同一组关键字按照不同的顺序插入时得到不同的二叉查找树，因此有两种极端情况，如下图</a:t>
            </a:r>
            <a:r>
              <a:rPr lang="en-US" altLang="zh-CN" b="0" dirty="0"/>
              <a:t>5-27</a:t>
            </a:r>
            <a:r>
              <a:rPr lang="zh-CN" altLang="zh-CN" b="0" dirty="0"/>
              <a:t>所示，</a:t>
            </a:r>
            <a:r>
              <a:rPr lang="en-US" altLang="zh-CN" b="0" dirty="0"/>
              <a:t>(a)</a:t>
            </a:r>
            <a:r>
              <a:rPr lang="zh-CN" altLang="zh-CN" b="0" dirty="0"/>
              <a:t>插入顺序完全有序，相当于一个线性表，</a:t>
            </a:r>
            <a:r>
              <a:rPr lang="en-US" altLang="zh-CN" b="0" dirty="0"/>
              <a:t>(b)</a:t>
            </a:r>
            <a:r>
              <a:rPr lang="zh-CN" altLang="zh-CN" b="0" dirty="0"/>
              <a:t>插入顺序部分有序。</a:t>
            </a:r>
          </a:p>
          <a:p>
            <a:endParaRPr lang="zh-CN" altLang="en-US" b="0" dirty="0"/>
          </a:p>
        </p:txBody>
      </p:sp>
      <p:pic>
        <p:nvPicPr>
          <p:cNvPr id="276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2708920"/>
            <a:ext cx="5184576" cy="2854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83568" y="5846591"/>
            <a:ext cx="7848872" cy="369332"/>
          </a:xfrm>
          <a:prstGeom prst="rect">
            <a:avLst/>
          </a:prstGeom>
        </p:spPr>
        <p:txBody>
          <a:bodyPr wrap="square">
            <a:spAutoFit/>
          </a:bodyPr>
          <a:lstStyle/>
          <a:p>
            <a:r>
              <a:rPr lang="en-US" altLang="zh-CN" dirty="0">
                <a:sym typeface="Webdings"/>
              </a:rPr>
              <a:t></a:t>
            </a:r>
            <a:r>
              <a:rPr lang="zh-CN" altLang="zh-CN" dirty="0"/>
              <a:t>结论：插入后形成的二叉查找树的好坏，取决于插入的关键字的顺序。</a:t>
            </a:r>
          </a:p>
        </p:txBody>
      </p:sp>
    </p:spTree>
    <p:extLst>
      <p:ext uri="{BB962C8B-B14F-4D97-AF65-F5344CB8AC3E}">
        <p14:creationId xmlns:p14="http://schemas.microsoft.com/office/powerpoint/2010/main" val="110907067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3">
                    <a:lumMod val="75000"/>
                  </a:schemeClr>
                </a:solidFill>
              </a:rPr>
              <a:t>5.5.4 </a:t>
            </a:r>
            <a:r>
              <a:rPr lang="zh-CN" altLang="zh-CN" dirty="0">
                <a:solidFill>
                  <a:schemeClr val="accent3">
                    <a:lumMod val="75000"/>
                  </a:schemeClr>
                </a:solidFill>
              </a:rPr>
              <a:t>二叉查找树的删除</a:t>
            </a:r>
            <a:endParaRPr lang="zh-CN" altLang="en-US" dirty="0">
              <a:solidFill>
                <a:schemeClr val="accent3">
                  <a:lumMod val="75000"/>
                </a:schemeClr>
              </a:solidFill>
            </a:endParaRPr>
          </a:p>
        </p:txBody>
      </p:sp>
      <p:sp>
        <p:nvSpPr>
          <p:cNvPr id="3" name="内容占位符 2"/>
          <p:cNvSpPr>
            <a:spLocks noGrp="1"/>
          </p:cNvSpPr>
          <p:nvPr>
            <p:ph idx="1"/>
          </p:nvPr>
        </p:nvSpPr>
        <p:spPr>
          <a:xfrm>
            <a:off x="827584" y="1628800"/>
            <a:ext cx="8136904" cy="3579849"/>
          </a:xfrm>
        </p:spPr>
        <p:txBody>
          <a:bodyPr>
            <a:normAutofit/>
          </a:bodyPr>
          <a:lstStyle/>
          <a:p>
            <a:pPr marL="457200" indent="-457200">
              <a:buAutoNum type="arabicParenBoth"/>
            </a:pPr>
            <a:r>
              <a:rPr lang="zh-CN" altLang="zh-CN" sz="2200" dirty="0">
                <a:solidFill>
                  <a:srgbClr val="FF0000"/>
                </a:solidFill>
              </a:rPr>
              <a:t>若结点</a:t>
            </a:r>
            <a:r>
              <a:rPr lang="en-US" altLang="zh-CN" sz="2200" dirty="0">
                <a:solidFill>
                  <a:srgbClr val="FF0000"/>
                </a:solidFill>
              </a:rPr>
              <a:t>k</a:t>
            </a:r>
            <a:r>
              <a:rPr lang="zh-CN" altLang="zh-CN" sz="2200" dirty="0">
                <a:solidFill>
                  <a:srgbClr val="FF0000"/>
                </a:solidFill>
              </a:rPr>
              <a:t>为叶子结点</a:t>
            </a:r>
            <a:r>
              <a:rPr lang="zh-CN" altLang="zh-CN" sz="2200" b="0" dirty="0"/>
              <a:t>，由于删去叶子结点不会破坏整棵树的结构，因此只需将</a:t>
            </a:r>
            <a:r>
              <a:rPr lang="en-US" altLang="zh-CN" sz="2200" b="0" dirty="0"/>
              <a:t>k</a:t>
            </a:r>
            <a:r>
              <a:rPr lang="zh-CN" altLang="zh-CN" sz="2200" b="0" dirty="0"/>
              <a:t>的双亲结点指向它的指针置空，然后删除结点</a:t>
            </a:r>
            <a:r>
              <a:rPr lang="en-US" altLang="zh-CN" sz="2200" b="0" dirty="0"/>
              <a:t>k</a:t>
            </a:r>
            <a:r>
              <a:rPr lang="zh-CN" altLang="zh-CN" sz="2200" b="0" dirty="0"/>
              <a:t>即可</a:t>
            </a:r>
            <a:r>
              <a:rPr lang="zh-CN" altLang="en-US" sz="2200" b="0" dirty="0"/>
              <a:t>；</a:t>
            </a:r>
            <a:endParaRPr lang="en-US" altLang="zh-CN" sz="2200" b="0" dirty="0"/>
          </a:p>
          <a:p>
            <a:pPr marL="457200" indent="-457200"/>
            <a:r>
              <a:rPr lang="en-US" altLang="zh-CN" sz="2200" b="0" dirty="0"/>
              <a:t>	</a:t>
            </a:r>
            <a:r>
              <a:rPr lang="zh-CN" altLang="zh-CN" sz="2200" b="0" dirty="0"/>
              <a:t>如图</a:t>
            </a:r>
            <a:r>
              <a:rPr lang="en-US" altLang="zh-CN" sz="2200" b="0" dirty="0"/>
              <a:t>5-29</a:t>
            </a:r>
            <a:r>
              <a:rPr lang="zh-CN" altLang="zh-CN" sz="2200" b="0" dirty="0"/>
              <a:t>为图</a:t>
            </a:r>
            <a:r>
              <a:rPr lang="en-US" altLang="zh-CN" sz="2200" b="0" dirty="0"/>
              <a:t>5-28</a:t>
            </a:r>
            <a:r>
              <a:rPr lang="zh-CN" altLang="zh-CN" sz="2200" b="0" dirty="0"/>
              <a:t>二叉查找树</a:t>
            </a:r>
            <a:r>
              <a:rPr lang="en-US" altLang="zh-CN" sz="2200" b="0" dirty="0"/>
              <a:t>T</a:t>
            </a:r>
            <a:r>
              <a:rPr lang="en-US" altLang="zh-CN" sz="2200" b="0" baseline="-25000" dirty="0"/>
              <a:t>8</a:t>
            </a:r>
            <a:r>
              <a:rPr lang="zh-CN" altLang="zh-CN" sz="2200" b="0" dirty="0"/>
              <a:t>删除关键值为</a:t>
            </a:r>
            <a:r>
              <a:rPr lang="en-US" altLang="zh-CN" sz="2200" b="0" dirty="0"/>
              <a:t>40</a:t>
            </a:r>
            <a:r>
              <a:rPr lang="zh-CN" altLang="zh-CN" sz="2200" b="0" dirty="0"/>
              <a:t>的结点后得到的二叉查找树。</a:t>
            </a:r>
          </a:p>
          <a:p>
            <a:endParaRPr lang="zh-CN" altLang="en-US" sz="2200" dirty="0"/>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3042" y="3857628"/>
            <a:ext cx="6254278" cy="2460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val="0"/>
              </a:ext>
            </a:extLst>
          </a:blip>
          <a:stretch>
            <a:fillRect/>
          </a:stretch>
        </p:blipFill>
        <p:spPr>
          <a:xfrm>
            <a:off x="8143900" y="428604"/>
            <a:ext cx="474345" cy="476250"/>
          </a:xfrm>
          <a:prstGeom prst="rect">
            <a:avLst/>
          </a:prstGeom>
        </p:spPr>
      </p:pic>
    </p:spTree>
    <p:extLst>
      <p:ext uri="{BB962C8B-B14F-4D97-AF65-F5344CB8AC3E}">
        <p14:creationId xmlns:p14="http://schemas.microsoft.com/office/powerpoint/2010/main" val="37139651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7"/>
            <a:ext cx="7992888" cy="2448272"/>
          </a:xfrm>
        </p:spPr>
        <p:txBody>
          <a:bodyPr>
            <a:normAutofit/>
          </a:bodyPr>
          <a:lstStyle/>
          <a:p>
            <a:r>
              <a:rPr lang="en-US" altLang="zh-CN" dirty="0"/>
              <a:t>	</a:t>
            </a:r>
            <a:r>
              <a:rPr lang="en-US" altLang="zh-CN" b="0" dirty="0"/>
              <a:t>(2) </a:t>
            </a:r>
            <a:r>
              <a:rPr lang="zh-CN" altLang="zh-CN" dirty="0">
                <a:solidFill>
                  <a:srgbClr val="FF0000"/>
                </a:solidFill>
              </a:rPr>
              <a:t>若结点</a:t>
            </a:r>
            <a:r>
              <a:rPr lang="en-US" altLang="zh-CN" dirty="0">
                <a:solidFill>
                  <a:srgbClr val="FF0000"/>
                </a:solidFill>
              </a:rPr>
              <a:t>k</a:t>
            </a:r>
            <a:r>
              <a:rPr lang="zh-CN" altLang="zh-CN" dirty="0">
                <a:solidFill>
                  <a:srgbClr val="FF0000"/>
                </a:solidFill>
              </a:rPr>
              <a:t>只有左子树</a:t>
            </a:r>
            <a:r>
              <a:rPr lang="en-US" altLang="zh-CN" dirty="0">
                <a:solidFill>
                  <a:srgbClr val="FF0000"/>
                </a:solidFill>
              </a:rPr>
              <a:t>(</a:t>
            </a:r>
            <a:r>
              <a:rPr lang="zh-CN" altLang="zh-CN" dirty="0">
                <a:solidFill>
                  <a:srgbClr val="FF0000"/>
                </a:solidFill>
              </a:rPr>
              <a:t>或右子树</a:t>
            </a:r>
            <a:r>
              <a:rPr lang="en-US" altLang="zh-CN" dirty="0">
                <a:solidFill>
                  <a:srgbClr val="FF0000"/>
                </a:solidFill>
              </a:rPr>
              <a:t>)</a:t>
            </a:r>
            <a:r>
              <a:rPr lang="zh-CN" altLang="zh-CN" dirty="0">
                <a:solidFill>
                  <a:srgbClr val="FF0000"/>
                </a:solidFill>
              </a:rPr>
              <a:t>，</a:t>
            </a:r>
            <a:r>
              <a:rPr lang="zh-CN" altLang="zh-CN" b="0" dirty="0"/>
              <a:t>此时可以直接用</a:t>
            </a:r>
            <a:r>
              <a:rPr lang="en-US" altLang="zh-CN" b="0" dirty="0"/>
              <a:t>k</a:t>
            </a:r>
            <a:r>
              <a:rPr lang="zh-CN" altLang="zh-CN" b="0" dirty="0"/>
              <a:t>的左子树</a:t>
            </a:r>
            <a:r>
              <a:rPr lang="en-US" altLang="zh-CN" b="0" dirty="0"/>
              <a:t>(</a:t>
            </a:r>
            <a:r>
              <a:rPr lang="zh-CN" altLang="zh-CN" b="0" dirty="0"/>
              <a:t>或右子树</a:t>
            </a:r>
            <a:r>
              <a:rPr lang="en-US" altLang="zh-CN" b="0" dirty="0"/>
              <a:t>)</a:t>
            </a:r>
            <a:r>
              <a:rPr lang="zh-CN" altLang="zh-CN" b="0" dirty="0"/>
              <a:t>取代</a:t>
            </a:r>
            <a:r>
              <a:rPr lang="en-US" altLang="zh-CN" b="0" dirty="0"/>
              <a:t>k</a:t>
            </a:r>
            <a:r>
              <a:rPr lang="zh-CN" altLang="zh-CN" b="0" dirty="0"/>
              <a:t>的位置，将</a:t>
            </a:r>
            <a:r>
              <a:rPr lang="en-US" altLang="zh-CN" b="0" dirty="0"/>
              <a:t>k</a:t>
            </a:r>
            <a:r>
              <a:rPr lang="zh-CN" altLang="zh-CN" b="0" dirty="0"/>
              <a:t>的双亲结点指向</a:t>
            </a:r>
            <a:r>
              <a:rPr lang="en-US" altLang="zh-CN" b="0" dirty="0"/>
              <a:t>k</a:t>
            </a:r>
            <a:r>
              <a:rPr lang="zh-CN" altLang="zh-CN" b="0" dirty="0"/>
              <a:t>的左子树</a:t>
            </a:r>
            <a:r>
              <a:rPr lang="en-US" altLang="zh-CN" b="0" dirty="0"/>
              <a:t>(</a:t>
            </a:r>
            <a:r>
              <a:rPr lang="zh-CN" altLang="zh-CN" b="0" dirty="0"/>
              <a:t>或右子树</a:t>
            </a:r>
            <a:r>
              <a:rPr lang="en-US" altLang="zh-CN" b="0" dirty="0"/>
              <a:t>)</a:t>
            </a:r>
            <a:r>
              <a:rPr lang="zh-CN" altLang="zh-CN" b="0" dirty="0"/>
              <a:t>即可</a:t>
            </a:r>
            <a:r>
              <a:rPr lang="zh-CN" altLang="en-US" b="0" dirty="0"/>
              <a:t>；</a:t>
            </a:r>
            <a:endParaRPr lang="en-US" altLang="zh-CN" b="0" dirty="0"/>
          </a:p>
          <a:p>
            <a:r>
              <a:rPr lang="en-US" altLang="zh-CN" b="0" dirty="0"/>
              <a:t>	</a:t>
            </a:r>
            <a:r>
              <a:rPr lang="zh-CN" altLang="zh-CN" b="0" dirty="0"/>
              <a:t>如图</a:t>
            </a:r>
            <a:r>
              <a:rPr lang="en-US" altLang="zh-CN" b="0" dirty="0"/>
              <a:t>5-30</a:t>
            </a:r>
            <a:r>
              <a:rPr lang="zh-CN" altLang="zh-CN" b="0" dirty="0"/>
              <a:t>为图</a:t>
            </a:r>
            <a:r>
              <a:rPr lang="en-US" altLang="zh-CN" b="0" dirty="0"/>
              <a:t>5-28</a:t>
            </a:r>
            <a:r>
              <a:rPr lang="zh-CN" altLang="zh-CN" b="0" dirty="0"/>
              <a:t>删除关键值为</a:t>
            </a:r>
            <a:r>
              <a:rPr lang="en-US" altLang="zh-CN" b="0" dirty="0"/>
              <a:t>7</a:t>
            </a:r>
            <a:r>
              <a:rPr lang="zh-CN" altLang="zh-CN" b="0" dirty="0"/>
              <a:t>的结点后得到的二叉查找树。显然该修改也不会破坏二叉查找树的特性。</a:t>
            </a:r>
            <a:endParaRPr lang="en-US" altLang="zh-CN" b="0" dirty="0"/>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128" y="3571876"/>
            <a:ext cx="3143272" cy="2535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右箭头 1"/>
          <p:cNvSpPr/>
          <p:nvPr/>
        </p:nvSpPr>
        <p:spPr>
          <a:xfrm>
            <a:off x="4139952" y="4581128"/>
            <a:ext cx="889176" cy="1294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3379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3544436"/>
            <a:ext cx="2733208" cy="240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58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9"/>
            <a:ext cx="7920880" cy="2736304"/>
          </a:xfrm>
        </p:spPr>
        <p:txBody>
          <a:bodyPr/>
          <a:lstStyle/>
          <a:p>
            <a:r>
              <a:rPr lang="en-US" altLang="zh-CN" dirty="0"/>
              <a:t>(3)</a:t>
            </a:r>
            <a:r>
              <a:rPr lang="zh-CN" altLang="zh-CN" dirty="0">
                <a:solidFill>
                  <a:srgbClr val="FF0000"/>
                </a:solidFill>
              </a:rPr>
              <a:t>若结点</a:t>
            </a:r>
            <a:r>
              <a:rPr lang="en-US" altLang="zh-CN" dirty="0">
                <a:solidFill>
                  <a:srgbClr val="FF0000"/>
                </a:solidFill>
              </a:rPr>
              <a:t>k</a:t>
            </a:r>
            <a:r>
              <a:rPr lang="zh-CN" altLang="zh-CN" dirty="0">
                <a:solidFill>
                  <a:srgbClr val="FF0000"/>
                </a:solidFill>
              </a:rPr>
              <a:t>的左子树和右子树均不为空</a:t>
            </a:r>
            <a:r>
              <a:rPr lang="zh-CN" altLang="zh-CN" b="0" dirty="0"/>
              <a:t>，即</a:t>
            </a:r>
            <a:r>
              <a:rPr lang="en-US" altLang="zh-CN" b="0" dirty="0"/>
              <a:t>K</a:t>
            </a:r>
            <a:r>
              <a:rPr lang="zh-CN" altLang="zh-CN" b="0" dirty="0"/>
              <a:t>为树的内部结点。为保证二叉查找树的特性，可将该元素替换为中序遍历所得的前驱或后继结点，即它的左子树中的最大元素或右子树中的最小元素。</a:t>
            </a:r>
            <a:endParaRPr lang="en-US" altLang="zh-CN" b="0" dirty="0"/>
          </a:p>
          <a:p>
            <a:r>
              <a:rPr lang="en-US" altLang="zh-CN" b="0" dirty="0"/>
              <a:t>	</a:t>
            </a:r>
            <a:r>
              <a:rPr lang="zh-CN" altLang="zh-CN" b="0" dirty="0"/>
              <a:t>如要删除图</a:t>
            </a:r>
            <a:r>
              <a:rPr lang="en-US" altLang="zh-CN" b="0" dirty="0"/>
              <a:t>5-28</a:t>
            </a:r>
            <a:r>
              <a:rPr lang="zh-CN" altLang="zh-CN" b="0" dirty="0"/>
              <a:t>中关键值为</a:t>
            </a:r>
            <a:r>
              <a:rPr lang="en-US" altLang="zh-CN" b="0" dirty="0"/>
              <a:t>35</a:t>
            </a:r>
            <a:r>
              <a:rPr lang="zh-CN" altLang="zh-CN" b="0" dirty="0"/>
              <a:t>的结点</a:t>
            </a:r>
            <a:r>
              <a:rPr lang="zh-CN" altLang="en-US" b="0" dirty="0"/>
              <a:t>。</a:t>
            </a:r>
          </a:p>
        </p:txBody>
      </p:sp>
      <p:pic>
        <p:nvPicPr>
          <p:cNvPr id="307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3538626"/>
            <a:ext cx="6094384" cy="2698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40278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5472608"/>
          </a:xfrm>
        </p:spPr>
        <p:txBody>
          <a:bodyPr>
            <a:normAutofit fontScale="70000" lnSpcReduction="20000"/>
          </a:bodyPr>
          <a:lstStyle/>
          <a:p>
            <a:r>
              <a:rPr lang="zh-CN" altLang="zh-CN" sz="2900" dirty="0">
                <a:solidFill>
                  <a:srgbClr val="FF0000"/>
                </a:solidFill>
              </a:rPr>
              <a:t>仔细分析上述三种情况会发现</a:t>
            </a:r>
            <a:r>
              <a:rPr lang="zh-CN" altLang="en-US" sz="2900" b="0" dirty="0"/>
              <a:t>：</a:t>
            </a:r>
            <a:endParaRPr lang="en-US" altLang="zh-CN" sz="2900" b="0" dirty="0"/>
          </a:p>
          <a:p>
            <a:pPr>
              <a:buFont typeface="Arial" panose="020B0604020202020204" pitchFamily="34" charset="0"/>
              <a:buChar char="•"/>
            </a:pPr>
            <a:r>
              <a:rPr lang="zh-CN" altLang="zh-CN" sz="2900" b="0" dirty="0"/>
              <a:t>情况</a:t>
            </a:r>
            <a:r>
              <a:rPr lang="en-US" altLang="zh-CN" sz="2900" b="0" dirty="0"/>
              <a:t>(1)</a:t>
            </a:r>
            <a:r>
              <a:rPr lang="zh-CN" altLang="zh-CN" sz="2900" b="0" dirty="0"/>
              <a:t>和情况</a:t>
            </a:r>
            <a:r>
              <a:rPr lang="en-US" altLang="zh-CN" sz="2900" b="0" dirty="0"/>
              <a:t>(3)</a:t>
            </a:r>
            <a:r>
              <a:rPr lang="zh-CN" altLang="zh-CN" sz="2900" b="0" dirty="0"/>
              <a:t>可以统一到情况</a:t>
            </a:r>
            <a:r>
              <a:rPr lang="en-US" altLang="zh-CN" sz="2900" b="0" dirty="0"/>
              <a:t>(2)</a:t>
            </a:r>
            <a:r>
              <a:rPr lang="zh-CN" altLang="zh-CN" sz="2900" b="0" dirty="0"/>
              <a:t>，</a:t>
            </a:r>
            <a:endParaRPr lang="en-US" altLang="zh-CN" sz="2900" b="0" dirty="0"/>
          </a:p>
          <a:p>
            <a:pPr>
              <a:buFont typeface="Arial" panose="020B0604020202020204" pitchFamily="34" charset="0"/>
              <a:buChar char="•"/>
            </a:pPr>
            <a:r>
              <a:rPr lang="zh-CN" altLang="zh-CN" sz="2900" b="0" dirty="0"/>
              <a:t>情况</a:t>
            </a:r>
            <a:r>
              <a:rPr lang="en-US" altLang="zh-CN" sz="2900" b="0" dirty="0"/>
              <a:t>(1)</a:t>
            </a:r>
            <a:r>
              <a:rPr lang="zh-CN" altLang="zh-CN" sz="2900" b="0" dirty="0"/>
              <a:t>是情况</a:t>
            </a:r>
            <a:r>
              <a:rPr lang="en-US" altLang="zh-CN" sz="2900" b="0" dirty="0"/>
              <a:t>(2)</a:t>
            </a:r>
            <a:r>
              <a:rPr lang="zh-CN" altLang="zh-CN" sz="2900" b="0" dirty="0"/>
              <a:t>的特例，</a:t>
            </a:r>
            <a:endParaRPr lang="en-US" altLang="zh-CN" sz="2900" b="0" dirty="0"/>
          </a:p>
          <a:p>
            <a:pPr>
              <a:buFont typeface="Arial" panose="020B0604020202020204" pitchFamily="34" charset="0"/>
              <a:buChar char="•"/>
            </a:pPr>
            <a:r>
              <a:rPr lang="zh-CN" altLang="zh-CN" sz="2900" b="0" dirty="0"/>
              <a:t>情况</a:t>
            </a:r>
            <a:r>
              <a:rPr lang="en-US" altLang="zh-CN" sz="2900" b="0" dirty="0"/>
              <a:t>(3)</a:t>
            </a:r>
            <a:r>
              <a:rPr lang="zh-CN" altLang="zh-CN" sz="2900" b="0" dirty="0"/>
              <a:t>可以转化为情况</a:t>
            </a:r>
            <a:r>
              <a:rPr lang="en-US" altLang="zh-CN" sz="2900" b="0" dirty="0"/>
              <a:t>(2)</a:t>
            </a:r>
            <a:r>
              <a:rPr lang="zh-CN" altLang="zh-CN" sz="2900" b="0" dirty="0"/>
              <a:t>。</a:t>
            </a:r>
            <a:endParaRPr lang="en-US" altLang="zh-CN" sz="2900" b="0" dirty="0"/>
          </a:p>
          <a:p>
            <a:pPr>
              <a:buFont typeface="Arial" panose="020B0604020202020204" pitchFamily="34" charset="0"/>
              <a:buChar char="•"/>
            </a:pPr>
            <a:endParaRPr lang="en-US" altLang="zh-CN" b="0" dirty="0"/>
          </a:p>
          <a:p>
            <a:r>
              <a:rPr lang="zh-CN" altLang="zh-CN" dirty="0"/>
              <a:t>算法</a:t>
            </a:r>
            <a:r>
              <a:rPr lang="en-US" altLang="zh-CN" dirty="0"/>
              <a:t>5.21</a:t>
            </a:r>
            <a:r>
              <a:rPr lang="zh-CN" altLang="zh-CN" dirty="0"/>
              <a:t>：二叉查找树的删除操作</a:t>
            </a:r>
          </a:p>
          <a:p>
            <a:r>
              <a:rPr lang="en-US" altLang="zh-CN" b="0" dirty="0"/>
              <a:t>template&lt;class T&gt;</a:t>
            </a:r>
            <a:endParaRPr lang="zh-CN" altLang="zh-CN" b="0" dirty="0"/>
          </a:p>
          <a:p>
            <a:r>
              <a:rPr lang="en-US" altLang="zh-CN" b="0" dirty="0"/>
              <a:t>bool </a:t>
            </a:r>
            <a:r>
              <a:rPr lang="en-US" altLang="zh-CN" b="0" dirty="0" err="1"/>
              <a:t>BinarySearchTree</a:t>
            </a:r>
            <a:r>
              <a:rPr lang="en-US" altLang="zh-CN" b="0" dirty="0"/>
              <a:t>&lt;T&gt;::Delete(</a:t>
            </a:r>
            <a:r>
              <a:rPr lang="en-US" altLang="zh-CN" b="0" dirty="0" err="1"/>
              <a:t>BinaryTreeNode</a:t>
            </a:r>
            <a:r>
              <a:rPr lang="en-US" altLang="zh-CN" b="0" dirty="0"/>
              <a:t>&lt;T&gt; *&amp;root, const T&amp; k){</a:t>
            </a:r>
            <a:endParaRPr lang="zh-CN" altLang="zh-CN" b="0" dirty="0"/>
          </a:p>
          <a:p>
            <a:r>
              <a:rPr lang="en-US" altLang="zh-CN" b="0" dirty="0" err="1"/>
              <a:t>BinaryTreeNode</a:t>
            </a:r>
            <a:r>
              <a:rPr lang="en-US" altLang="zh-CN" b="0" dirty="0"/>
              <a:t>&lt;T&gt; *pointer = Search(</a:t>
            </a:r>
            <a:r>
              <a:rPr lang="en-US" altLang="zh-CN" b="0" dirty="0" err="1"/>
              <a:t>root,k</a:t>
            </a:r>
            <a:r>
              <a:rPr lang="en-US" altLang="zh-CN" b="0" dirty="0"/>
              <a:t>);</a:t>
            </a:r>
            <a:endParaRPr lang="zh-CN" altLang="zh-CN" b="0" dirty="0"/>
          </a:p>
          <a:p>
            <a:r>
              <a:rPr lang="en-US" altLang="zh-CN" b="0" dirty="0"/>
              <a:t>    if (pointer == NULL)  return false;	//</a:t>
            </a:r>
            <a:r>
              <a:rPr lang="zh-CN" altLang="zh-CN" b="0" dirty="0"/>
              <a:t>未找到关键值为</a:t>
            </a:r>
            <a:r>
              <a:rPr lang="en-US" altLang="zh-CN" b="0" dirty="0"/>
              <a:t>k</a:t>
            </a:r>
            <a:r>
              <a:rPr lang="zh-CN" altLang="zh-CN" b="0" dirty="0"/>
              <a:t>的结点</a:t>
            </a:r>
          </a:p>
          <a:p>
            <a:r>
              <a:rPr lang="en-US" altLang="zh-CN" b="0" dirty="0"/>
              <a:t>    </a:t>
            </a:r>
            <a:r>
              <a:rPr lang="en-US" altLang="zh-CN" b="0" dirty="0" err="1"/>
              <a:t>BinaryTreeNode</a:t>
            </a:r>
            <a:r>
              <a:rPr lang="en-US" altLang="zh-CN" b="0" dirty="0"/>
              <a:t>&lt;T&gt; *child, *parent = </a:t>
            </a:r>
            <a:r>
              <a:rPr lang="en-US" altLang="zh-CN" b="0" dirty="0" err="1"/>
              <a:t>BinaryTree</a:t>
            </a:r>
            <a:r>
              <a:rPr lang="en-US" altLang="zh-CN" b="0" dirty="0"/>
              <a:t>&lt;T&gt;::Parent(pointer);</a:t>
            </a:r>
            <a:endParaRPr lang="zh-CN" altLang="zh-CN" b="0" dirty="0"/>
          </a:p>
          <a:p>
            <a:r>
              <a:rPr lang="en-US" altLang="zh-CN" b="0" dirty="0"/>
              <a:t>    </a:t>
            </a:r>
            <a:r>
              <a:rPr lang="en-US" altLang="zh-CN" b="0" dirty="0" err="1"/>
              <a:t>BinaryTreeNode</a:t>
            </a:r>
            <a:r>
              <a:rPr lang="en-US" altLang="zh-CN" b="0" dirty="0"/>
              <a:t>&lt;T&gt; *</a:t>
            </a:r>
            <a:r>
              <a:rPr lang="en-US" altLang="zh-CN" b="0" dirty="0" err="1"/>
              <a:t>ptr</a:t>
            </a:r>
            <a:r>
              <a:rPr lang="en-US" altLang="zh-CN" b="0" dirty="0"/>
              <a:t> = pointer;   	//</a:t>
            </a:r>
            <a:r>
              <a:rPr lang="en-US" altLang="zh-CN" b="0" dirty="0" err="1"/>
              <a:t>ptr</a:t>
            </a:r>
            <a:r>
              <a:rPr lang="zh-CN" altLang="zh-CN" b="0" dirty="0"/>
              <a:t>记录被删除结点</a:t>
            </a:r>
            <a:r>
              <a:rPr lang="en-US" altLang="zh-CN" b="0" dirty="0"/>
              <a:t>pointer</a:t>
            </a:r>
            <a:endParaRPr lang="zh-CN" altLang="zh-CN" b="0" dirty="0"/>
          </a:p>
          <a:p>
            <a:r>
              <a:rPr lang="en-US" altLang="zh-CN" b="0" dirty="0"/>
              <a:t>    if (pointer-&gt;left &amp;&amp; pointer-&gt;right){    //</a:t>
            </a:r>
            <a:r>
              <a:rPr lang="zh-CN" altLang="zh-CN" b="0" dirty="0"/>
              <a:t>若</a:t>
            </a:r>
            <a:r>
              <a:rPr lang="en-US" altLang="zh-CN" b="0" dirty="0"/>
              <a:t>pointer</a:t>
            </a:r>
            <a:r>
              <a:rPr lang="zh-CN" altLang="zh-CN" b="0" dirty="0"/>
              <a:t>的左右子树均非空</a:t>
            </a:r>
          </a:p>
          <a:p>
            <a:pPr>
              <a:buFont typeface="Arial" panose="020B0604020202020204" pitchFamily="34" charset="0"/>
              <a:buChar char="•"/>
            </a:pPr>
            <a:endParaRPr lang="zh-CN" altLang="en-US" b="0" dirty="0"/>
          </a:p>
        </p:txBody>
      </p:sp>
    </p:spTree>
    <p:extLst>
      <p:ext uri="{BB962C8B-B14F-4D97-AF65-F5344CB8AC3E}">
        <p14:creationId xmlns:p14="http://schemas.microsoft.com/office/powerpoint/2010/main" val="3187927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normAutofit lnSpcReduction="10000"/>
          </a:bodyPr>
          <a:lstStyle/>
          <a:p>
            <a:r>
              <a:rPr lang="en-US" altLang="zh-CN" dirty="0"/>
              <a:t> </a:t>
            </a:r>
            <a:r>
              <a:rPr lang="en-US" altLang="zh-CN" b="0" dirty="0"/>
              <a:t>//</a:t>
            </a:r>
            <a:r>
              <a:rPr lang="zh-CN" altLang="zh-CN" b="0" dirty="0"/>
              <a:t>找到右子树中的最小值</a:t>
            </a:r>
            <a:r>
              <a:rPr lang="en-US" altLang="zh-CN" b="0" dirty="0"/>
              <a:t>,</a:t>
            </a:r>
            <a:r>
              <a:rPr lang="zh-CN" altLang="zh-CN" b="0" dirty="0"/>
              <a:t>将情况</a:t>
            </a:r>
            <a:r>
              <a:rPr lang="en-US" altLang="zh-CN" b="0" dirty="0"/>
              <a:t>(3)</a:t>
            </a:r>
            <a:r>
              <a:rPr lang="zh-CN" altLang="zh-CN" b="0" dirty="0"/>
              <a:t>转化为情况</a:t>
            </a:r>
            <a:r>
              <a:rPr lang="en-US" altLang="zh-CN" b="0" dirty="0"/>
              <a:t>(2)</a:t>
            </a:r>
            <a:endParaRPr lang="zh-CN" altLang="zh-CN" b="0" dirty="0"/>
          </a:p>
          <a:p>
            <a:r>
              <a:rPr lang="en-US" altLang="zh-CN" b="0" dirty="0"/>
              <a:t>        parent = pointer;</a:t>
            </a:r>
            <a:endParaRPr lang="zh-CN" altLang="zh-CN" b="0" dirty="0"/>
          </a:p>
          <a:p>
            <a:r>
              <a:rPr lang="en-US" altLang="zh-CN" b="0" dirty="0"/>
              <a:t>        pointer = pointer-&gt;right;</a:t>
            </a:r>
            <a:endParaRPr lang="zh-CN" altLang="zh-CN" b="0" dirty="0"/>
          </a:p>
          <a:p>
            <a:r>
              <a:rPr lang="en-US" altLang="zh-CN" b="0" dirty="0"/>
              <a:t>        while (pointer-&gt;left){</a:t>
            </a:r>
            <a:endParaRPr lang="zh-CN" altLang="zh-CN" b="0" dirty="0"/>
          </a:p>
          <a:p>
            <a:r>
              <a:rPr lang="en-US" altLang="zh-CN" b="0" dirty="0"/>
              <a:t>            parent = pointer;</a:t>
            </a:r>
            <a:endParaRPr lang="zh-CN" altLang="zh-CN" b="0" dirty="0"/>
          </a:p>
          <a:p>
            <a:r>
              <a:rPr lang="en-US" altLang="zh-CN" b="0" dirty="0"/>
              <a:t>            pointer = pointer-&gt;left;</a:t>
            </a:r>
            <a:endParaRPr lang="zh-CN" altLang="zh-CN" b="0" dirty="0"/>
          </a:p>
          <a:p>
            <a:r>
              <a:rPr lang="en-US" altLang="zh-CN" b="0" dirty="0"/>
              <a:t>        }</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val="1456262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040560"/>
          </a:xfrm>
        </p:spPr>
        <p:txBody>
          <a:bodyPr>
            <a:normAutofit fontScale="92500" lnSpcReduction="10000"/>
          </a:bodyPr>
          <a:lstStyle/>
          <a:p>
            <a:r>
              <a:rPr lang="en-US" altLang="zh-CN" b="0" dirty="0"/>
              <a:t> //</a:t>
            </a:r>
            <a:r>
              <a:rPr lang="zh-CN" altLang="zh-CN" b="0" dirty="0"/>
              <a:t>若是情况</a:t>
            </a:r>
            <a:r>
              <a:rPr lang="en-US" altLang="zh-CN" b="0" dirty="0"/>
              <a:t>(2),</a:t>
            </a:r>
            <a:r>
              <a:rPr lang="zh-CN" altLang="zh-CN" b="0" dirty="0"/>
              <a:t>则</a:t>
            </a:r>
            <a:r>
              <a:rPr lang="en-US" altLang="zh-CN" b="0" dirty="0"/>
              <a:t>child</a:t>
            </a:r>
            <a:r>
              <a:rPr lang="zh-CN" altLang="zh-CN" b="0" dirty="0"/>
              <a:t>非空；否则</a:t>
            </a:r>
            <a:r>
              <a:rPr lang="en-US" altLang="zh-CN" b="0" dirty="0"/>
              <a:t>child</a:t>
            </a:r>
            <a:r>
              <a:rPr lang="zh-CN" altLang="zh-CN" b="0" dirty="0"/>
              <a:t>为空</a:t>
            </a:r>
          </a:p>
          <a:p>
            <a:r>
              <a:rPr lang="en-US" altLang="zh-CN" b="0" dirty="0"/>
              <a:t>    child = (pointer-&gt;left) ? pointer-&gt;left : pointer-&gt;right;</a:t>
            </a:r>
            <a:endParaRPr lang="zh-CN" altLang="zh-CN" b="0" dirty="0"/>
          </a:p>
          <a:p>
            <a:r>
              <a:rPr lang="en-US" altLang="zh-CN" b="0" dirty="0"/>
              <a:t>    if (!parent)  root = child;    //</a:t>
            </a:r>
            <a:r>
              <a:rPr lang="zh-CN" altLang="zh-CN" b="0" dirty="0"/>
              <a:t>若双亲为空，说明</a:t>
            </a:r>
            <a:r>
              <a:rPr lang="en-US" altLang="zh-CN" b="0" dirty="0"/>
              <a:t>p</a:t>
            </a:r>
            <a:r>
              <a:rPr lang="zh-CN" altLang="zh-CN" b="0" dirty="0"/>
              <a:t>为根</a:t>
            </a:r>
          </a:p>
          <a:p>
            <a:r>
              <a:rPr lang="en-US" altLang="zh-CN" b="0" dirty="0"/>
              <a:t>    else{</a:t>
            </a:r>
            <a:endParaRPr lang="zh-CN" altLang="zh-CN" b="0" dirty="0"/>
          </a:p>
          <a:p>
            <a:r>
              <a:rPr lang="en-US" altLang="zh-CN" b="0" dirty="0"/>
              <a:t>        if (parent-&gt;left == pointer)  parent-&gt;left = child;  //pointer</a:t>
            </a:r>
            <a:r>
              <a:rPr lang="zh-CN" altLang="zh-CN" b="0" dirty="0"/>
              <a:t>是双亲结点的左孩子</a:t>
            </a:r>
          </a:p>
          <a:p>
            <a:r>
              <a:rPr lang="en-US" altLang="zh-CN" b="0" dirty="0"/>
              <a:t>        else   parent-&gt;right = child;</a:t>
            </a:r>
            <a:endParaRPr lang="zh-CN" altLang="zh-CN" b="0" dirty="0"/>
          </a:p>
          <a:p>
            <a:r>
              <a:rPr lang="en-US" altLang="zh-CN" b="0" dirty="0"/>
              <a:t>    }</a:t>
            </a:r>
            <a:endParaRPr lang="zh-CN" altLang="zh-CN" b="0" dirty="0"/>
          </a:p>
          <a:p>
            <a:r>
              <a:rPr lang="en-US" altLang="zh-CN" b="0" dirty="0"/>
              <a:t>    if (</a:t>
            </a:r>
            <a:r>
              <a:rPr lang="en-US" altLang="zh-CN" b="0" dirty="0" err="1"/>
              <a:t>ptr</a:t>
            </a:r>
            <a:r>
              <a:rPr lang="en-US" altLang="zh-CN" b="0" dirty="0"/>
              <a:t> != pointer)  </a:t>
            </a:r>
            <a:r>
              <a:rPr lang="en-US" altLang="zh-CN" b="0" dirty="0" err="1"/>
              <a:t>ptr</a:t>
            </a:r>
            <a:r>
              <a:rPr lang="en-US" altLang="zh-CN" b="0" dirty="0"/>
              <a:t>-&gt;data = pointer-&gt;data;	 //</a:t>
            </a:r>
            <a:r>
              <a:rPr lang="zh-CN" altLang="zh-CN" b="0" dirty="0"/>
              <a:t>情况</a:t>
            </a:r>
            <a:r>
              <a:rPr lang="en-US" altLang="zh-CN" b="0" dirty="0"/>
              <a:t>(3)</a:t>
            </a:r>
            <a:endParaRPr lang="zh-CN" altLang="zh-CN" b="0" dirty="0"/>
          </a:p>
          <a:p>
            <a:r>
              <a:rPr lang="en-US" altLang="zh-CN" b="0" dirty="0"/>
              <a:t>    return true;</a:t>
            </a:r>
            <a:endParaRPr lang="zh-CN" altLang="zh-CN" b="0" dirty="0"/>
          </a:p>
          <a:p>
            <a:r>
              <a:rPr lang="en-US" altLang="zh-CN" b="0" dirty="0"/>
              <a:t>}</a:t>
            </a:r>
            <a:endParaRPr lang="zh-CN" altLang="en-US" b="0" dirty="0"/>
          </a:p>
        </p:txBody>
      </p:sp>
    </p:spTree>
    <p:extLst>
      <p:ext uri="{BB962C8B-B14F-4D97-AF65-F5344CB8AC3E}">
        <p14:creationId xmlns:p14="http://schemas.microsoft.com/office/powerpoint/2010/main" val="16478064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424936" cy="4227921"/>
          </a:xfrm>
        </p:spPr>
        <p:txBody>
          <a:bodyPr/>
          <a:lstStyle/>
          <a:p>
            <a:r>
              <a:rPr lang="en-US" altLang="zh-CN" b="0" dirty="0"/>
              <a:t>	</a:t>
            </a:r>
            <a:r>
              <a:rPr lang="zh-CN" altLang="zh-CN" b="0" dirty="0"/>
              <a:t>除了替换方法完成删除操作之外，还可采用</a:t>
            </a:r>
            <a:r>
              <a:rPr lang="zh-CN" altLang="zh-CN" dirty="0">
                <a:solidFill>
                  <a:srgbClr val="FF0000"/>
                </a:solidFill>
              </a:rPr>
              <a:t>截枝方法</a:t>
            </a:r>
            <a:r>
              <a:rPr lang="zh-CN" altLang="zh-CN" b="0" dirty="0"/>
              <a:t>实现删除操作。把删除结点的左子树挂到右子树中最小元素后面，成为它的左子树；或把删除结点的右子树挂到左子树中最大元素的后面，使其成为它的右子树，如下图</a:t>
            </a:r>
            <a:r>
              <a:rPr lang="en-US" altLang="zh-CN" b="0" dirty="0"/>
              <a:t>5-32</a:t>
            </a:r>
            <a:r>
              <a:rPr lang="zh-CN" altLang="zh-CN" b="0" dirty="0"/>
              <a:t>所示。截枝方法可能会大幅改变树的形状，从而影响查找速度。</a:t>
            </a:r>
          </a:p>
          <a:p>
            <a:endParaRPr lang="zh-CN" altLang="en-US" b="0" dirty="0"/>
          </a:p>
        </p:txBody>
      </p:sp>
      <p:pic>
        <p:nvPicPr>
          <p:cNvPr id="317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3356992"/>
            <a:ext cx="5484246"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84617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42918"/>
            <a:ext cx="8072494" cy="5786478"/>
          </a:xfrm>
        </p:spPr>
        <p:txBody>
          <a:bodyPr>
            <a:normAutofit fontScale="25000" lnSpcReduction="20000"/>
          </a:bodyPr>
          <a:lstStyle/>
          <a:p>
            <a:pPr>
              <a:spcBef>
                <a:spcPts val="0"/>
              </a:spcBef>
            </a:pPr>
            <a:r>
              <a:rPr lang="zh-CN" altLang="zh-CN" sz="9600" b="0" dirty="0">
                <a:solidFill>
                  <a:srgbClr val="FF0000"/>
                </a:solidFill>
                <a:latin typeface="+mn-ea"/>
                <a:ea typeface="+mn-ea"/>
              </a:rPr>
              <a:t>删除操作</a:t>
            </a:r>
            <a:r>
              <a:rPr lang="zh-CN" altLang="en-US" sz="9600" b="0" dirty="0">
                <a:solidFill>
                  <a:srgbClr val="FF0000"/>
                </a:solidFill>
                <a:latin typeface="+mn-ea"/>
                <a:ea typeface="+mn-ea"/>
              </a:rPr>
              <a:t>的实现</a:t>
            </a:r>
            <a:endParaRPr lang="en-US" altLang="zh-CN" sz="9600" b="0" dirty="0">
              <a:solidFill>
                <a:srgbClr val="FF0000"/>
              </a:solidFill>
              <a:latin typeface="+mn-ea"/>
              <a:ea typeface="+mn-ea"/>
            </a:endParaRPr>
          </a:p>
          <a:p>
            <a:pPr>
              <a:spcBef>
                <a:spcPts val="0"/>
              </a:spcBef>
            </a:pPr>
            <a:r>
              <a:rPr kumimoji="1" lang="en-US" altLang="zh-CN" sz="6400" b="0" dirty="0" err="1">
                <a:latin typeface="黑体" pitchFamily="49" charset="-122"/>
                <a:ea typeface="黑体" pitchFamily="49" charset="-122"/>
              </a:rPr>
              <a:t>BTree</a:t>
            </a:r>
            <a:r>
              <a:rPr kumimoji="1" lang="en-US" altLang="zh-CN" sz="6400" b="0" dirty="0">
                <a:latin typeface="黑体" pitchFamily="49" charset="-122"/>
                <a:ea typeface="黑体" pitchFamily="49" charset="-122"/>
              </a:rPr>
              <a:t>   *</a:t>
            </a:r>
            <a:r>
              <a:rPr kumimoji="1" lang="en-US" altLang="zh-CN" sz="6400" b="0" dirty="0" err="1">
                <a:latin typeface="黑体" pitchFamily="49" charset="-122"/>
                <a:ea typeface="黑体" pitchFamily="49" charset="-122"/>
              </a:rPr>
              <a:t>DeleteNodeBST</a:t>
            </a:r>
            <a:r>
              <a:rPr kumimoji="1" lang="en-US" altLang="zh-CN" sz="6400" b="0" dirty="0">
                <a:latin typeface="黑体" pitchFamily="49" charset="-122"/>
                <a:ea typeface="黑体" pitchFamily="49" charset="-122"/>
              </a:rPr>
              <a:t>(</a:t>
            </a:r>
            <a:r>
              <a:rPr kumimoji="1" lang="en-US" altLang="zh-CN" sz="6400" b="0" dirty="0" err="1">
                <a:latin typeface="黑体" pitchFamily="49" charset="-122"/>
                <a:ea typeface="黑体" pitchFamily="49" charset="-122"/>
              </a:rPr>
              <a:t>BTree</a:t>
            </a:r>
            <a:r>
              <a:rPr kumimoji="1" lang="en-US" altLang="zh-CN" sz="6400" b="0" dirty="0">
                <a:latin typeface="黑体" pitchFamily="49" charset="-122"/>
                <a:ea typeface="黑体" pitchFamily="49" charset="-122"/>
              </a:rPr>
              <a:t> *BST</a:t>
            </a:r>
            <a:r>
              <a:rPr kumimoji="1" lang="zh-CN" altLang="en-US" sz="6400" b="0" dirty="0">
                <a:latin typeface="黑体" pitchFamily="49" charset="-122"/>
                <a:ea typeface="黑体" pitchFamily="49" charset="-122"/>
              </a:rPr>
              <a:t>，</a:t>
            </a:r>
            <a:r>
              <a:rPr kumimoji="1" lang="en-US" altLang="zh-CN" sz="6400" b="0" dirty="0" err="1">
                <a:latin typeface="黑体" pitchFamily="49" charset="-122"/>
                <a:ea typeface="黑体" pitchFamily="49" charset="-122"/>
              </a:rPr>
              <a:t>BTree</a:t>
            </a:r>
            <a:r>
              <a:rPr kumimoji="1" lang="en-US" altLang="zh-CN" sz="6400" b="0" dirty="0">
                <a:latin typeface="黑体" pitchFamily="49" charset="-122"/>
                <a:ea typeface="黑体" pitchFamily="49" charset="-122"/>
              </a:rPr>
              <a:t> *p)</a:t>
            </a:r>
          </a:p>
          <a:p>
            <a:pPr>
              <a:spcBef>
                <a:spcPts val="0"/>
              </a:spcBef>
            </a:pPr>
            <a:r>
              <a:rPr kumimoji="1" lang="en-US" altLang="zh-CN" sz="6400" b="0" dirty="0">
                <a:latin typeface="黑体" pitchFamily="49" charset="-122"/>
                <a:ea typeface="黑体" pitchFamily="49" charset="-122"/>
              </a:rPr>
              <a:t>{ </a:t>
            </a:r>
            <a:r>
              <a:rPr kumimoji="1" lang="en-US" altLang="zh-CN" sz="6400" b="0" dirty="0" err="1">
                <a:latin typeface="黑体" pitchFamily="49" charset="-122"/>
                <a:ea typeface="黑体" pitchFamily="49" charset="-122"/>
              </a:rPr>
              <a:t>BTree</a:t>
            </a:r>
            <a:r>
              <a:rPr kumimoji="1" lang="en-US" altLang="zh-CN" sz="6400" b="0" dirty="0">
                <a:latin typeface="黑体" pitchFamily="49" charset="-122"/>
                <a:ea typeface="黑体" pitchFamily="49" charset="-122"/>
              </a:rPr>
              <a:t> *f = parent(p);</a:t>
            </a:r>
          </a:p>
          <a:p>
            <a:pPr>
              <a:spcBef>
                <a:spcPts val="0"/>
              </a:spcBef>
            </a:pPr>
            <a:r>
              <a:rPr kumimoji="1" lang="en-US" altLang="zh-CN" sz="6400" b="0" dirty="0">
                <a:latin typeface="黑体" pitchFamily="49" charset="-122"/>
                <a:ea typeface="黑体" pitchFamily="49" charset="-122"/>
              </a:rPr>
              <a:t>  if(p-&gt;</a:t>
            </a:r>
            <a:r>
              <a:rPr kumimoji="1" lang="en-US" altLang="zh-CN" sz="6400" b="0" dirty="0" err="1">
                <a:latin typeface="黑体" pitchFamily="49" charset="-122"/>
                <a:ea typeface="黑体" pitchFamily="49" charset="-122"/>
              </a:rPr>
              <a:t>lefp</a:t>
            </a:r>
            <a:r>
              <a:rPr kumimoji="1" lang="en-US" altLang="zh-CN" sz="6400" b="0" dirty="0">
                <a:latin typeface="黑体" pitchFamily="49" charset="-122"/>
                <a:ea typeface="黑体" pitchFamily="49" charset="-122"/>
              </a:rPr>
              <a:t> = NULL)      s = p-&gt;right;</a:t>
            </a:r>
            <a:r>
              <a:rPr kumimoji="1" lang="zh-CN" altLang="en-US" sz="6400" b="0" dirty="0">
                <a:latin typeface="黑体" pitchFamily="49" charset="-122"/>
                <a:ea typeface="黑体" pitchFamily="49" charset="-122"/>
              </a:rPr>
              <a:t>         </a:t>
            </a:r>
            <a:r>
              <a:rPr kumimoji="1" lang="en-US" altLang="zh-CN" sz="6400" b="0" dirty="0">
                <a:latin typeface="黑体" pitchFamily="49" charset="-122"/>
                <a:ea typeface="黑体" pitchFamily="49" charset="-122"/>
              </a:rPr>
              <a:t>// </a:t>
            </a:r>
            <a:r>
              <a:rPr kumimoji="1" lang="zh-CN" altLang="en-US" sz="6400" b="0" dirty="0">
                <a:latin typeface="黑体" pitchFamily="49" charset="-122"/>
                <a:ea typeface="黑体" pitchFamily="49" charset="-122"/>
              </a:rPr>
              <a:t>无左子树</a:t>
            </a:r>
            <a:r>
              <a:rPr kumimoji="1" lang="en-US" altLang="zh-CN" sz="6400" b="0" dirty="0">
                <a:latin typeface="黑体" pitchFamily="49" charset="-122"/>
                <a:ea typeface="黑体" pitchFamily="49" charset="-122"/>
              </a:rPr>
              <a:t> </a:t>
            </a:r>
          </a:p>
          <a:p>
            <a:pPr>
              <a:spcBef>
                <a:spcPts val="0"/>
              </a:spcBef>
            </a:pPr>
            <a:r>
              <a:rPr kumimoji="1" lang="en-US" altLang="zh-CN" sz="6400" b="0" dirty="0">
                <a:latin typeface="黑体" pitchFamily="49" charset="-122"/>
                <a:ea typeface="黑体" pitchFamily="49" charset="-122"/>
              </a:rPr>
              <a:t>  </a:t>
            </a:r>
            <a:r>
              <a:rPr kumimoji="1" lang="en-US" altLang="zh-CN" sz="6400" b="0" dirty="0" err="1">
                <a:latin typeface="黑体" pitchFamily="49" charset="-122"/>
                <a:ea typeface="黑体" pitchFamily="49" charset="-122"/>
              </a:rPr>
              <a:t>elseif</a:t>
            </a:r>
            <a:r>
              <a:rPr kumimoji="1" lang="en-US" altLang="zh-CN" sz="6400" b="0" dirty="0">
                <a:latin typeface="黑体" pitchFamily="49" charset="-122"/>
                <a:ea typeface="黑体" pitchFamily="49" charset="-122"/>
              </a:rPr>
              <a:t>(p-&gt;right = NULL) s = p-&gt;left;</a:t>
            </a:r>
            <a:r>
              <a:rPr kumimoji="1" lang="zh-CN" altLang="en-US" sz="6400" b="0" dirty="0">
                <a:latin typeface="黑体" pitchFamily="49" charset="-122"/>
                <a:ea typeface="黑体" pitchFamily="49" charset="-122"/>
              </a:rPr>
              <a:t>          </a:t>
            </a:r>
            <a:r>
              <a:rPr kumimoji="1" lang="en-US" altLang="zh-CN" sz="6400" b="0" dirty="0">
                <a:latin typeface="黑体" pitchFamily="49" charset="-122"/>
                <a:ea typeface="黑体" pitchFamily="49" charset="-122"/>
              </a:rPr>
              <a:t>// </a:t>
            </a:r>
            <a:r>
              <a:rPr kumimoji="1" lang="zh-CN" altLang="en-US" sz="6400" b="0" dirty="0">
                <a:latin typeface="黑体" pitchFamily="49" charset="-122"/>
                <a:ea typeface="黑体" pitchFamily="49" charset="-122"/>
              </a:rPr>
              <a:t>无右子树</a:t>
            </a:r>
            <a:endParaRPr kumimoji="1" lang="en-US" altLang="zh-CN" sz="6400" b="0" dirty="0">
              <a:latin typeface="黑体" pitchFamily="49" charset="-122"/>
              <a:ea typeface="黑体" pitchFamily="49" charset="-122"/>
            </a:endParaRPr>
          </a:p>
          <a:p>
            <a:pPr>
              <a:spcBef>
                <a:spcPts val="0"/>
              </a:spcBef>
            </a:pPr>
            <a:r>
              <a:rPr kumimoji="1" lang="en-US" altLang="zh-CN" sz="6400" b="0" dirty="0">
                <a:latin typeface="黑体" pitchFamily="49" charset="-122"/>
                <a:ea typeface="黑体" pitchFamily="49" charset="-122"/>
              </a:rPr>
              <a:t>  else{ q = p</a:t>
            </a:r>
            <a:r>
              <a:rPr kumimoji="1" lang="zh-CN" altLang="en-US" sz="6400" b="0" dirty="0">
                <a:latin typeface="黑体" pitchFamily="49" charset="-122"/>
                <a:ea typeface="黑体" pitchFamily="49" charset="-122"/>
              </a:rPr>
              <a:t>；</a:t>
            </a:r>
            <a:r>
              <a:rPr kumimoji="1" lang="en-US" altLang="zh-CN" sz="6400" b="0" dirty="0">
                <a:latin typeface="黑体" pitchFamily="49" charset="-122"/>
                <a:ea typeface="黑体" pitchFamily="49" charset="-122"/>
              </a:rPr>
              <a:t>s = p-&gt;left;</a:t>
            </a:r>
          </a:p>
          <a:p>
            <a:pPr>
              <a:spcBef>
                <a:spcPts val="0"/>
              </a:spcBef>
            </a:pPr>
            <a:r>
              <a:rPr kumimoji="1" lang="zh-CN" altLang="en-US" sz="6400" b="0" dirty="0">
                <a:latin typeface="黑体" pitchFamily="49" charset="-122"/>
                <a:ea typeface="黑体" pitchFamily="49" charset="-122"/>
              </a:rPr>
              <a:t>      </a:t>
            </a:r>
            <a:r>
              <a:rPr kumimoji="1" lang="en-US" altLang="zh-CN" sz="6400" b="0" dirty="0">
                <a:latin typeface="黑体" pitchFamily="49" charset="-122"/>
                <a:ea typeface="黑体" pitchFamily="49" charset="-122"/>
              </a:rPr>
              <a:t>while(s-&gt; right </a:t>
            </a:r>
            <a:r>
              <a:rPr kumimoji="1" lang="en-US" altLang="zh-CN" sz="6600" b="0" dirty="0">
                <a:latin typeface="黑体" pitchFamily="49" charset="-122"/>
                <a:ea typeface="黑体" pitchFamily="49" charset="-122"/>
              </a:rPr>
              <a:t>≠</a:t>
            </a:r>
            <a:r>
              <a:rPr kumimoji="1" lang="en-US" altLang="zh-CN" sz="6400" b="0" dirty="0">
                <a:latin typeface="黑体" pitchFamily="49" charset="-122"/>
                <a:ea typeface="黑体" pitchFamily="49" charset="-122"/>
              </a:rPr>
              <a:t> NULL){</a:t>
            </a:r>
          </a:p>
          <a:p>
            <a:pPr>
              <a:spcBef>
                <a:spcPts val="0"/>
              </a:spcBef>
            </a:pPr>
            <a:r>
              <a:rPr kumimoji="1" lang="en-US" altLang="zh-CN" sz="6400" b="0" dirty="0">
                <a:latin typeface="黑体" pitchFamily="49" charset="-122"/>
                <a:ea typeface="黑体" pitchFamily="49" charset="-122"/>
              </a:rPr>
              <a:t>          q = s;</a:t>
            </a:r>
          </a:p>
          <a:p>
            <a:pPr>
              <a:spcBef>
                <a:spcPts val="0"/>
              </a:spcBef>
            </a:pPr>
            <a:r>
              <a:rPr kumimoji="1" lang="en-US" altLang="zh-CN" sz="6400" b="0" dirty="0">
                <a:latin typeface="黑体" pitchFamily="49" charset="-122"/>
                <a:ea typeface="黑体" pitchFamily="49" charset="-122"/>
              </a:rPr>
              <a:t>          s = s-&gt;right;</a:t>
            </a:r>
          </a:p>
          <a:p>
            <a:pPr>
              <a:spcBef>
                <a:spcPts val="0"/>
              </a:spcBef>
            </a:pPr>
            <a:r>
              <a:rPr kumimoji="1" lang="en-US" altLang="zh-CN" sz="6400" b="0" dirty="0">
                <a:latin typeface="黑体" pitchFamily="49" charset="-122"/>
                <a:ea typeface="黑体" pitchFamily="49" charset="-122"/>
              </a:rPr>
              <a:t>      }</a:t>
            </a:r>
          </a:p>
          <a:p>
            <a:pPr>
              <a:spcBef>
                <a:spcPts val="0"/>
              </a:spcBef>
            </a:pPr>
            <a:r>
              <a:rPr kumimoji="1" lang="en-US" altLang="zh-CN" sz="6400" b="0" dirty="0">
                <a:latin typeface="黑体" pitchFamily="49" charset="-122"/>
                <a:ea typeface="黑体" pitchFamily="49" charset="-122"/>
              </a:rPr>
              <a:t>      if(q = p) q-&gt;left  = s-&gt;left;</a:t>
            </a:r>
          </a:p>
          <a:p>
            <a:pPr>
              <a:spcBef>
                <a:spcPts val="0"/>
              </a:spcBef>
            </a:pPr>
            <a:r>
              <a:rPr kumimoji="1" lang="zh-CN" altLang="en-US" sz="6400" b="0" dirty="0">
                <a:latin typeface="黑体" pitchFamily="49" charset="-122"/>
                <a:ea typeface="黑体" pitchFamily="49" charset="-122"/>
              </a:rPr>
              <a:t>      </a:t>
            </a:r>
            <a:r>
              <a:rPr kumimoji="1" lang="en-US" altLang="zh-CN" sz="6400" b="0" dirty="0">
                <a:latin typeface="黑体" pitchFamily="49" charset="-122"/>
                <a:ea typeface="黑体" pitchFamily="49" charset="-122"/>
              </a:rPr>
              <a:t>else      q-&gt;right = s-&gt;left;</a:t>
            </a:r>
          </a:p>
          <a:p>
            <a:pPr>
              <a:spcBef>
                <a:spcPts val="0"/>
              </a:spcBef>
            </a:pPr>
            <a:r>
              <a:rPr kumimoji="1" lang="en-US" altLang="zh-CN" sz="6400" b="0" dirty="0">
                <a:latin typeface="黑体" pitchFamily="49" charset="-122"/>
                <a:ea typeface="黑体" pitchFamily="49" charset="-122"/>
              </a:rPr>
              <a:t>      p-&gt;data = s-&gt;data;</a:t>
            </a:r>
          </a:p>
          <a:p>
            <a:pPr>
              <a:spcBef>
                <a:spcPts val="0"/>
              </a:spcBef>
            </a:pPr>
            <a:r>
              <a:rPr kumimoji="1" lang="en-US" altLang="zh-CN" sz="6400" b="0" dirty="0">
                <a:latin typeface="黑体" pitchFamily="49" charset="-122"/>
                <a:ea typeface="黑体" pitchFamily="49" charset="-122"/>
              </a:rPr>
              <a:t>      free(s);</a:t>
            </a:r>
          </a:p>
          <a:p>
            <a:pPr>
              <a:spcBef>
                <a:spcPts val="0"/>
              </a:spcBef>
            </a:pPr>
            <a:r>
              <a:rPr kumimoji="1" lang="en-US" altLang="zh-CN" sz="6400" b="0" dirty="0">
                <a:latin typeface="黑体" pitchFamily="49" charset="-122"/>
                <a:ea typeface="黑体" pitchFamily="49" charset="-122"/>
              </a:rPr>
              <a:t>      return(BST);</a:t>
            </a:r>
          </a:p>
          <a:p>
            <a:pPr>
              <a:spcBef>
                <a:spcPts val="0"/>
              </a:spcBef>
            </a:pPr>
            <a:r>
              <a:rPr kumimoji="1" lang="en-US" altLang="zh-CN" sz="6400" b="0" dirty="0">
                <a:latin typeface="黑体" pitchFamily="49" charset="-122"/>
                <a:ea typeface="黑体" pitchFamily="49" charset="-122"/>
              </a:rPr>
              <a:t>  }</a:t>
            </a:r>
          </a:p>
          <a:p>
            <a:pPr>
              <a:spcBef>
                <a:spcPts val="0"/>
              </a:spcBef>
            </a:pPr>
            <a:r>
              <a:rPr kumimoji="1" lang="en-US" altLang="zh-CN" sz="6400" b="0" dirty="0">
                <a:latin typeface="黑体" pitchFamily="49" charset="-122"/>
                <a:ea typeface="黑体" pitchFamily="49" charset="-122"/>
              </a:rPr>
              <a:t>  if(f = NULL) BST = s;</a:t>
            </a:r>
          </a:p>
          <a:p>
            <a:pPr>
              <a:spcBef>
                <a:spcPts val="0"/>
              </a:spcBef>
            </a:pPr>
            <a:r>
              <a:rPr kumimoji="1" lang="en-US" altLang="zh-CN" sz="6400" b="0" dirty="0">
                <a:latin typeface="黑体" pitchFamily="49" charset="-122"/>
                <a:ea typeface="黑体" pitchFamily="49" charset="-122"/>
              </a:rPr>
              <a:t>  </a:t>
            </a:r>
            <a:r>
              <a:rPr kumimoji="1" lang="en-US" altLang="zh-CN" sz="6400" b="0" dirty="0" err="1">
                <a:latin typeface="黑体" pitchFamily="49" charset="-122"/>
                <a:ea typeface="黑体" pitchFamily="49" charset="-122"/>
              </a:rPr>
              <a:t>elseif</a:t>
            </a:r>
            <a:r>
              <a:rPr kumimoji="1" lang="en-US" altLang="zh-CN" sz="6400" b="0" dirty="0">
                <a:latin typeface="黑体" pitchFamily="49" charset="-122"/>
                <a:ea typeface="黑体" pitchFamily="49" charset="-122"/>
              </a:rPr>
              <a:t>( f-&gt;left = p) f-&gt;left = s;</a:t>
            </a:r>
          </a:p>
          <a:p>
            <a:pPr>
              <a:spcBef>
                <a:spcPts val="0"/>
              </a:spcBef>
            </a:pPr>
            <a:r>
              <a:rPr kumimoji="1" lang="en-US" altLang="zh-CN" sz="6400" b="0" dirty="0">
                <a:latin typeface="黑体" pitchFamily="49" charset="-122"/>
                <a:ea typeface="黑体" pitchFamily="49" charset="-122"/>
              </a:rPr>
              <a:t>  else f-&gt;right = s</a:t>
            </a:r>
            <a:r>
              <a:rPr kumimoji="1" lang="zh-CN" altLang="en-US" sz="6400" b="0" dirty="0">
                <a:latin typeface="黑体" pitchFamily="49" charset="-122"/>
                <a:ea typeface="黑体" pitchFamily="49" charset="-122"/>
              </a:rPr>
              <a:t>；</a:t>
            </a:r>
            <a:endParaRPr kumimoji="1" lang="en-US" altLang="zh-CN" sz="6400" b="0" dirty="0">
              <a:latin typeface="黑体" pitchFamily="49" charset="-122"/>
              <a:ea typeface="黑体" pitchFamily="49" charset="-122"/>
            </a:endParaRPr>
          </a:p>
          <a:p>
            <a:pPr>
              <a:spcBef>
                <a:spcPts val="0"/>
              </a:spcBef>
            </a:pPr>
            <a:r>
              <a:rPr kumimoji="1" lang="en-US" altLang="zh-CN" sz="6400" b="0" dirty="0">
                <a:latin typeface="黑体" pitchFamily="49" charset="-122"/>
                <a:ea typeface="黑体" pitchFamily="49" charset="-122"/>
              </a:rPr>
              <a:t>  free(p);</a:t>
            </a:r>
          </a:p>
          <a:p>
            <a:pPr>
              <a:spcBef>
                <a:spcPts val="0"/>
              </a:spcBef>
            </a:pPr>
            <a:r>
              <a:rPr kumimoji="1" lang="en-US" altLang="zh-CN" sz="6400" b="0" dirty="0">
                <a:latin typeface="黑体" pitchFamily="49" charset="-122"/>
                <a:ea typeface="黑体" pitchFamily="49" charset="-122"/>
              </a:rPr>
              <a:t> }</a:t>
            </a:r>
          </a:p>
          <a:p>
            <a:pPr>
              <a:spcBef>
                <a:spcPts val="0"/>
              </a:spcBef>
            </a:pPr>
            <a:r>
              <a:rPr kumimoji="1" lang="en-US" altLang="zh-CN" sz="6400" b="0" dirty="0">
                <a:latin typeface="黑体" pitchFamily="49" charset="-122"/>
                <a:ea typeface="黑体" pitchFamily="49" charset="-122"/>
              </a:rPr>
              <a:t> return(BST);</a:t>
            </a:r>
          </a:p>
          <a:p>
            <a:pPr>
              <a:spcBef>
                <a:spcPts val="0"/>
              </a:spcBef>
            </a:pPr>
            <a:r>
              <a:rPr kumimoji="1" lang="en-US" altLang="zh-CN" sz="6400" b="0" dirty="0">
                <a:latin typeface="黑体" pitchFamily="49" charset="-122"/>
                <a:ea typeface="黑体" pitchFamily="49" charset="-122"/>
              </a:rPr>
              <a:t>}</a:t>
            </a:r>
            <a:endParaRPr lang="en-US" altLang="zh-CN" sz="6400" b="0" dirty="0">
              <a:latin typeface="黑体" pitchFamily="49" charset="-122"/>
              <a:ea typeface="黑体" pitchFamily="49" charset="-122"/>
            </a:endParaRPr>
          </a:p>
        </p:txBody>
      </p:sp>
    </p:spTree>
    <p:extLst>
      <p:ext uri="{BB962C8B-B14F-4D97-AF65-F5344CB8AC3E}">
        <p14:creationId xmlns:p14="http://schemas.microsoft.com/office/powerpoint/2010/main"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
                                            <p:txEl>
                                              <p:pRg st="20" end="20"/>
                                            </p:txEl>
                                          </p:spTgt>
                                        </p:tgtEl>
                                        <p:attrNameLst>
                                          <p:attrName>style.visibility</p:attrName>
                                        </p:attrNameLst>
                                      </p:cBhvr>
                                      <p:to>
                                        <p:strVal val="visible"/>
                                      </p:to>
                                    </p:set>
                                    <p:animEffect transition="in" filter="fade">
                                      <p:cBhvr>
                                        <p:cTn id="107" dur="2000"/>
                                        <p:tgtEl>
                                          <p:spTgt spid="3">
                                            <p:txEl>
                                              <p:pRg st="20" end="2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
                                            <p:txEl>
                                              <p:pRg st="21" end="21"/>
                                            </p:txEl>
                                          </p:spTgt>
                                        </p:tgtEl>
                                        <p:attrNameLst>
                                          <p:attrName>style.visibility</p:attrName>
                                        </p:attrNameLst>
                                      </p:cBhvr>
                                      <p:to>
                                        <p:strVal val="visible"/>
                                      </p:to>
                                    </p:set>
                                    <p:animEffect transition="in" filter="fade">
                                      <p:cBhvr>
                                        <p:cTn id="112" dur="2000"/>
                                        <p:tgtEl>
                                          <p:spTgt spid="3">
                                            <p:txEl>
                                              <p:pRg st="21" end="2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
                                            <p:txEl>
                                              <p:pRg st="22" end="22"/>
                                            </p:txEl>
                                          </p:spTgt>
                                        </p:tgtEl>
                                        <p:attrNameLst>
                                          <p:attrName>style.visibility</p:attrName>
                                        </p:attrNameLst>
                                      </p:cBhvr>
                                      <p:to>
                                        <p:strVal val="visible"/>
                                      </p:to>
                                    </p:set>
                                    <p:animEffect transition="in" filter="fade">
                                      <p:cBhvr>
                                        <p:cTn id="117" dur="2000"/>
                                        <p:tgtEl>
                                          <p:spTgt spid="3">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20688"/>
            <a:ext cx="8136904" cy="5688632"/>
          </a:xfrm>
        </p:spPr>
        <p:txBody>
          <a:bodyPr>
            <a:noAutofit/>
          </a:bodyPr>
          <a:lstStyle/>
          <a:p>
            <a:pPr>
              <a:lnSpc>
                <a:spcPct val="110000"/>
              </a:lnSpc>
              <a:spcBef>
                <a:spcPts val="0"/>
              </a:spcBef>
            </a:pPr>
            <a:r>
              <a:rPr lang="zh-CN" altLang="zh-CN" b="0" dirty="0">
                <a:solidFill>
                  <a:srgbClr val="FF0000"/>
                </a:solidFill>
                <a:latin typeface="+mn-ea"/>
                <a:ea typeface="+mn-ea"/>
              </a:rPr>
              <a:t>算法</a:t>
            </a:r>
            <a:r>
              <a:rPr lang="en-US" altLang="zh-CN" b="0" dirty="0">
                <a:solidFill>
                  <a:srgbClr val="FF0000"/>
                </a:solidFill>
                <a:latin typeface="+mn-ea"/>
                <a:ea typeface="+mn-ea"/>
              </a:rPr>
              <a:t>5.22</a:t>
            </a:r>
            <a:r>
              <a:rPr lang="zh-CN" altLang="zh-CN" b="0" dirty="0">
                <a:solidFill>
                  <a:srgbClr val="FF0000"/>
                </a:solidFill>
                <a:latin typeface="+mn-ea"/>
                <a:ea typeface="+mn-ea"/>
              </a:rPr>
              <a:t>：截枝方法完成删除操作</a:t>
            </a:r>
          </a:p>
          <a:p>
            <a:pPr>
              <a:lnSpc>
                <a:spcPct val="110000"/>
              </a:lnSpc>
              <a:spcBef>
                <a:spcPts val="0"/>
              </a:spcBef>
            </a:pPr>
            <a:r>
              <a:rPr lang="en-US" altLang="zh-CN" sz="1800" b="0" dirty="0"/>
              <a:t>template&lt;class T&gt;</a:t>
            </a:r>
            <a:endParaRPr lang="zh-CN" altLang="zh-CN" sz="1800" b="0" dirty="0"/>
          </a:p>
          <a:p>
            <a:pPr>
              <a:lnSpc>
                <a:spcPct val="110000"/>
              </a:lnSpc>
              <a:spcBef>
                <a:spcPts val="0"/>
              </a:spcBef>
            </a:pPr>
            <a:r>
              <a:rPr lang="en-US" altLang="zh-CN" sz="1800" b="0" dirty="0"/>
              <a:t>bool </a:t>
            </a:r>
            <a:r>
              <a:rPr lang="en-US" altLang="zh-CN" sz="1800" b="0" dirty="0" err="1"/>
              <a:t>BinarySearchTree</a:t>
            </a:r>
            <a:r>
              <a:rPr lang="en-US" altLang="zh-CN" sz="1800" b="0" dirty="0"/>
              <a:t>&lt;T&gt;::Delete(</a:t>
            </a:r>
            <a:r>
              <a:rPr lang="en-US" altLang="zh-CN" sz="1800" b="0" dirty="0" err="1"/>
              <a:t>BinaryTreeNode</a:t>
            </a:r>
            <a:r>
              <a:rPr lang="en-US" altLang="zh-CN" sz="1800" b="0" dirty="0"/>
              <a:t>&lt;T&gt; *&amp;root, const T&amp; k){</a:t>
            </a:r>
            <a:endParaRPr lang="zh-CN" altLang="zh-CN" sz="1800" b="0" dirty="0"/>
          </a:p>
          <a:p>
            <a:pPr>
              <a:lnSpc>
                <a:spcPct val="110000"/>
              </a:lnSpc>
              <a:spcBef>
                <a:spcPts val="0"/>
              </a:spcBef>
            </a:pPr>
            <a:r>
              <a:rPr lang="en-US" altLang="zh-CN" sz="1800" b="0" dirty="0"/>
              <a:t>	</a:t>
            </a:r>
            <a:r>
              <a:rPr lang="en-US" altLang="zh-CN" sz="1800" b="0" dirty="0" err="1"/>
              <a:t>BinaryTreeNode</a:t>
            </a:r>
            <a:r>
              <a:rPr lang="en-US" altLang="zh-CN" sz="1800" b="0" dirty="0"/>
              <a:t>&lt;T&gt; *p, *parent, *</a:t>
            </a:r>
            <a:r>
              <a:rPr lang="en-US" altLang="zh-CN" sz="1800" b="0" dirty="0" err="1"/>
              <a:t>ptr</a:t>
            </a:r>
            <a:r>
              <a:rPr lang="en-US" altLang="zh-CN" sz="1800" b="0" dirty="0"/>
              <a:t>, *pointer = Search(</a:t>
            </a:r>
            <a:r>
              <a:rPr lang="en-US" altLang="zh-CN" sz="1800" b="0" dirty="0" err="1"/>
              <a:t>root,k</a:t>
            </a:r>
            <a:r>
              <a:rPr lang="en-US" altLang="zh-CN" sz="1800" b="0" dirty="0"/>
              <a:t>);</a:t>
            </a:r>
            <a:endParaRPr lang="zh-CN" altLang="zh-CN" sz="1800" b="0" dirty="0"/>
          </a:p>
          <a:p>
            <a:pPr>
              <a:lnSpc>
                <a:spcPct val="110000"/>
              </a:lnSpc>
              <a:spcBef>
                <a:spcPts val="0"/>
              </a:spcBef>
            </a:pPr>
            <a:r>
              <a:rPr lang="en-US" altLang="zh-CN" sz="1800" b="0" dirty="0"/>
              <a:t>	if (pointer == NULL)  return false; 	//</a:t>
            </a:r>
            <a:r>
              <a:rPr lang="zh-CN" altLang="zh-CN" sz="1800" b="0" dirty="0"/>
              <a:t>未找到关键值为</a:t>
            </a:r>
            <a:r>
              <a:rPr lang="en-US" altLang="zh-CN" sz="1800" b="0" dirty="0"/>
              <a:t>k</a:t>
            </a:r>
            <a:r>
              <a:rPr lang="zh-CN" altLang="zh-CN" sz="1800" b="0" dirty="0"/>
              <a:t>的结点</a:t>
            </a:r>
            <a:endParaRPr lang="en-US" altLang="zh-CN" sz="1800" b="0" dirty="0"/>
          </a:p>
          <a:p>
            <a:pPr>
              <a:lnSpc>
                <a:spcPct val="110000"/>
              </a:lnSpc>
              <a:spcBef>
                <a:spcPts val="0"/>
              </a:spcBef>
            </a:pPr>
            <a:r>
              <a:rPr lang="en-US" altLang="zh-CN" sz="1800" b="0" dirty="0"/>
              <a:t>	</a:t>
            </a:r>
            <a:r>
              <a:rPr lang="en-US" altLang="zh-CN" sz="1800" b="0" dirty="0" err="1"/>
              <a:t>ptr</a:t>
            </a:r>
            <a:r>
              <a:rPr lang="en-US" altLang="zh-CN" sz="1800" b="0" dirty="0"/>
              <a:t> = pointer; parent = </a:t>
            </a:r>
            <a:r>
              <a:rPr lang="en-US" altLang="zh-CN" sz="1800" b="0" dirty="0" err="1"/>
              <a:t>BinaryTree</a:t>
            </a:r>
            <a:r>
              <a:rPr lang="en-US" altLang="zh-CN" sz="1800" b="0" dirty="0"/>
              <a:t>&lt;T&gt;::Parent(pointer); //</a:t>
            </a:r>
            <a:r>
              <a:rPr lang="en-US" altLang="zh-CN" sz="1800" b="0" dirty="0" err="1"/>
              <a:t>ptr</a:t>
            </a:r>
            <a:r>
              <a:rPr lang="zh-CN" altLang="en-US" sz="1800" b="0" dirty="0"/>
              <a:t>记住被删除结点</a:t>
            </a:r>
            <a:endParaRPr lang="zh-CN" altLang="zh-CN" sz="1800" b="0" dirty="0"/>
          </a:p>
          <a:p>
            <a:pPr>
              <a:lnSpc>
                <a:spcPct val="110000"/>
              </a:lnSpc>
              <a:spcBef>
                <a:spcPts val="0"/>
              </a:spcBef>
            </a:pPr>
            <a:r>
              <a:rPr lang="en-US" altLang="zh-CN" sz="1800" b="0" dirty="0"/>
              <a:t>	if (pointer-&gt;left == NULL)          pointer = pointer-&gt;right;</a:t>
            </a:r>
            <a:endParaRPr lang="zh-CN" altLang="zh-CN" sz="1800" b="0" dirty="0"/>
          </a:p>
          <a:p>
            <a:pPr>
              <a:lnSpc>
                <a:spcPct val="110000"/>
              </a:lnSpc>
              <a:spcBef>
                <a:spcPts val="0"/>
              </a:spcBef>
            </a:pPr>
            <a:r>
              <a:rPr lang="en-US" altLang="zh-CN" sz="1800" b="0" dirty="0"/>
              <a:t>	else if (pointer-&gt;right == NULL) pointer = pointer-&gt;left;</a:t>
            </a:r>
            <a:endParaRPr lang="zh-CN" altLang="zh-CN" sz="1800" b="0" dirty="0"/>
          </a:p>
          <a:p>
            <a:pPr>
              <a:lnSpc>
                <a:spcPct val="110000"/>
              </a:lnSpc>
              <a:spcBef>
                <a:spcPts val="0"/>
              </a:spcBef>
            </a:pPr>
            <a:r>
              <a:rPr lang="en-US" altLang="zh-CN" sz="1800" b="0" dirty="0"/>
              <a:t>	else{	p = pointer-&gt;right; </a:t>
            </a:r>
          </a:p>
          <a:p>
            <a:pPr>
              <a:lnSpc>
                <a:spcPct val="110000"/>
              </a:lnSpc>
              <a:spcBef>
                <a:spcPts val="0"/>
              </a:spcBef>
            </a:pPr>
            <a:r>
              <a:rPr lang="en-US" altLang="zh-CN" sz="1800" b="0" dirty="0"/>
              <a:t>		while (p-&gt;left != NULL) p = p-&gt;left;</a:t>
            </a:r>
            <a:endParaRPr lang="zh-CN" altLang="zh-CN" sz="1800" b="0" dirty="0"/>
          </a:p>
          <a:p>
            <a:pPr>
              <a:lnSpc>
                <a:spcPct val="110000"/>
              </a:lnSpc>
              <a:spcBef>
                <a:spcPts val="0"/>
              </a:spcBef>
            </a:pPr>
            <a:r>
              <a:rPr lang="en-US" altLang="zh-CN" sz="1800" b="0" dirty="0"/>
              <a:t>		p-&gt;left = pointer-&gt;left; </a:t>
            </a:r>
          </a:p>
          <a:p>
            <a:pPr>
              <a:lnSpc>
                <a:spcPct val="110000"/>
              </a:lnSpc>
              <a:spcBef>
                <a:spcPts val="0"/>
              </a:spcBef>
            </a:pPr>
            <a:r>
              <a:rPr lang="en-US" altLang="zh-CN" sz="1800" b="0" dirty="0"/>
              <a:t>		pointer = pointer-&gt;right;</a:t>
            </a:r>
          </a:p>
          <a:p>
            <a:pPr>
              <a:lnSpc>
                <a:spcPct val="110000"/>
              </a:lnSpc>
              <a:spcBef>
                <a:spcPts val="0"/>
              </a:spcBef>
            </a:pPr>
            <a:r>
              <a:rPr lang="en-US" altLang="zh-CN" sz="1800" b="0" dirty="0"/>
              <a:t>	}</a:t>
            </a:r>
            <a:endParaRPr lang="zh-CN" altLang="zh-CN" sz="1800" b="0" dirty="0"/>
          </a:p>
          <a:p>
            <a:pPr>
              <a:lnSpc>
                <a:spcPct val="110000"/>
              </a:lnSpc>
              <a:spcBef>
                <a:spcPts val="0"/>
              </a:spcBef>
            </a:pPr>
            <a:r>
              <a:rPr lang="en-US" altLang="zh-CN" sz="1800" b="0" dirty="0"/>
              <a:t>	if (parent == NULL) root = pointer; </a:t>
            </a:r>
            <a:endParaRPr lang="zh-CN" altLang="zh-CN" sz="1800" b="0" dirty="0"/>
          </a:p>
          <a:p>
            <a:pPr>
              <a:lnSpc>
                <a:spcPct val="110000"/>
              </a:lnSpc>
              <a:spcBef>
                <a:spcPts val="0"/>
              </a:spcBef>
            </a:pPr>
            <a:r>
              <a:rPr lang="en-US" altLang="zh-CN" sz="1800" b="0" dirty="0"/>
              <a:t>	else if (</a:t>
            </a:r>
            <a:r>
              <a:rPr lang="en-US" altLang="zh-CN" sz="1800" b="0" dirty="0" err="1"/>
              <a:t>ptr</a:t>
            </a:r>
            <a:r>
              <a:rPr lang="en-US" altLang="zh-CN" sz="1800" b="0" dirty="0"/>
              <a:t>==parent-&gt;left) parent-&gt;left = pointer;</a:t>
            </a:r>
          </a:p>
          <a:p>
            <a:pPr>
              <a:lnSpc>
                <a:spcPct val="110000"/>
              </a:lnSpc>
              <a:spcBef>
                <a:spcPts val="0"/>
              </a:spcBef>
            </a:pPr>
            <a:r>
              <a:rPr lang="en-US" altLang="zh-CN" sz="1800" b="0" dirty="0"/>
              <a:t>	else parent-&gt;right = pointer;</a:t>
            </a:r>
          </a:p>
          <a:p>
            <a:pPr>
              <a:lnSpc>
                <a:spcPct val="110000"/>
              </a:lnSpc>
              <a:spcBef>
                <a:spcPts val="0"/>
              </a:spcBef>
            </a:pPr>
            <a:r>
              <a:rPr lang="en-US" altLang="zh-CN" sz="1800" b="0" dirty="0"/>
              <a:t>	delete </a:t>
            </a:r>
            <a:r>
              <a:rPr lang="en-US" altLang="zh-CN" sz="1800" b="0" dirty="0" err="1"/>
              <a:t>ptr</a:t>
            </a:r>
            <a:r>
              <a:rPr lang="en-US" altLang="zh-CN" sz="1800" b="0" dirty="0"/>
              <a:t>;</a:t>
            </a:r>
            <a:endParaRPr lang="zh-CN" altLang="zh-CN" sz="1800" b="0" dirty="0"/>
          </a:p>
          <a:p>
            <a:pPr>
              <a:lnSpc>
                <a:spcPct val="110000"/>
              </a:lnSpc>
              <a:spcBef>
                <a:spcPts val="0"/>
              </a:spcBef>
            </a:pPr>
            <a:r>
              <a:rPr lang="en-US" altLang="zh-CN" sz="1800" b="0" dirty="0"/>
              <a:t>	return true;</a:t>
            </a:r>
            <a:endParaRPr lang="zh-CN" altLang="zh-CN" sz="1800" b="0" dirty="0"/>
          </a:p>
          <a:p>
            <a:pPr>
              <a:lnSpc>
                <a:spcPct val="110000"/>
              </a:lnSpc>
              <a:spcBef>
                <a:spcPts val="0"/>
              </a:spcBef>
            </a:pPr>
            <a:r>
              <a:rPr lang="en-US" altLang="zh-CN" sz="1800" b="0" dirty="0"/>
              <a:t>}</a:t>
            </a:r>
            <a:endParaRPr lang="zh-CN" altLang="zh-CN" sz="1800" b="0" dirty="0"/>
          </a:p>
        </p:txBody>
      </p:sp>
    </p:spTree>
    <p:extLst>
      <p:ext uri="{BB962C8B-B14F-4D97-AF65-F5344CB8AC3E}">
        <p14:creationId xmlns:p14="http://schemas.microsoft.com/office/powerpoint/2010/main" val="5263478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ym typeface="Webdings"/>
              </a:rPr>
              <a:t></a:t>
            </a:r>
            <a:r>
              <a:rPr lang="zh-CN" altLang="zh-CN" dirty="0">
                <a:solidFill>
                  <a:srgbClr val="FF0000"/>
                </a:solidFill>
              </a:rPr>
              <a:t>结论：</a:t>
            </a:r>
            <a:r>
              <a:rPr lang="en-US" altLang="zh-CN" dirty="0"/>
              <a:t>(</a:t>
            </a:r>
            <a:r>
              <a:rPr lang="zh-CN" altLang="zh-CN" dirty="0"/>
              <a:t>具有</a:t>
            </a:r>
            <a:r>
              <a:rPr lang="en-US" altLang="zh-CN" dirty="0"/>
              <a:t>n</a:t>
            </a:r>
            <a:r>
              <a:rPr lang="zh-CN" altLang="zh-CN" dirty="0"/>
              <a:t>个结点的</a:t>
            </a:r>
            <a:r>
              <a:rPr lang="en-US" altLang="zh-CN" dirty="0"/>
              <a:t>BST</a:t>
            </a:r>
            <a:r>
              <a:rPr lang="zh-CN" altLang="zh-CN" dirty="0"/>
              <a:t>树</a:t>
            </a:r>
            <a:r>
              <a:rPr lang="en-US" altLang="zh-CN" dirty="0"/>
              <a:t>)</a:t>
            </a:r>
            <a:endParaRPr lang="zh-CN" altLang="zh-CN" dirty="0"/>
          </a:p>
          <a:p>
            <a:r>
              <a:rPr lang="en-US" altLang="zh-CN" dirty="0"/>
              <a:t>	</a:t>
            </a:r>
            <a:r>
              <a:rPr lang="en-US" altLang="zh-CN" b="0" dirty="0"/>
              <a:t>(1) BST</a:t>
            </a:r>
            <a:r>
              <a:rPr lang="zh-CN" altLang="zh-CN" b="0" dirty="0"/>
              <a:t>树的查找代价：至少为</a:t>
            </a:r>
            <a:r>
              <a:rPr lang="en-US" altLang="zh-CN" b="0" dirty="0"/>
              <a:t>log</a:t>
            </a:r>
            <a:r>
              <a:rPr lang="en-US" altLang="zh-CN" b="0" baseline="-25000" dirty="0"/>
              <a:t>2</a:t>
            </a:r>
            <a:r>
              <a:rPr lang="en-US" altLang="zh-CN" b="0" dirty="0"/>
              <a:t>n</a:t>
            </a:r>
            <a:r>
              <a:rPr lang="zh-CN" altLang="zh-CN" b="0" dirty="0"/>
              <a:t>；平均查找代价为</a:t>
            </a:r>
            <a:r>
              <a:rPr lang="en-US" altLang="zh-CN" b="0" dirty="0"/>
              <a:t>O(log</a:t>
            </a:r>
            <a:r>
              <a:rPr lang="en-US" altLang="zh-CN" b="0" baseline="-25000" dirty="0"/>
              <a:t>2</a:t>
            </a:r>
            <a:r>
              <a:rPr lang="en-US" altLang="zh-CN" b="0" i="1" dirty="0"/>
              <a:t>n</a:t>
            </a:r>
            <a:r>
              <a:rPr lang="en-US" altLang="zh-CN" b="0" dirty="0"/>
              <a:t>)</a:t>
            </a:r>
            <a:r>
              <a:rPr lang="zh-CN" altLang="zh-CN" b="0" dirty="0"/>
              <a:t>。</a:t>
            </a:r>
          </a:p>
          <a:p>
            <a:r>
              <a:rPr lang="en-US" altLang="zh-CN" b="0" dirty="0"/>
              <a:t>	(2) BST</a:t>
            </a:r>
            <a:r>
              <a:rPr lang="zh-CN" altLang="zh-CN" b="0" dirty="0"/>
              <a:t>树的插入代价：与查找代价相同，平均插入代价为</a:t>
            </a:r>
            <a:r>
              <a:rPr lang="en-US" altLang="zh-CN" b="0" dirty="0"/>
              <a:t>O(log</a:t>
            </a:r>
            <a:r>
              <a:rPr lang="en-US" altLang="zh-CN" b="0" baseline="-25000" dirty="0"/>
              <a:t>2</a:t>
            </a:r>
            <a:r>
              <a:rPr lang="en-US" altLang="zh-CN" b="0" i="1" dirty="0"/>
              <a:t>n</a:t>
            </a:r>
            <a:r>
              <a:rPr lang="en-US" altLang="zh-CN" b="0" dirty="0"/>
              <a:t>)</a:t>
            </a:r>
            <a:r>
              <a:rPr lang="zh-CN" altLang="zh-CN" b="0" dirty="0"/>
              <a:t>。</a:t>
            </a:r>
          </a:p>
          <a:p>
            <a:r>
              <a:rPr lang="en-US" altLang="zh-CN" b="0" dirty="0"/>
              <a:t>	(3) BST</a:t>
            </a:r>
            <a:r>
              <a:rPr lang="zh-CN" altLang="zh-CN" b="0" dirty="0"/>
              <a:t>树的删除代价：也同查找代价相同，平均删除代价为</a:t>
            </a:r>
            <a:r>
              <a:rPr lang="en-US" altLang="zh-CN" b="0" dirty="0"/>
              <a:t>O(log</a:t>
            </a:r>
            <a:r>
              <a:rPr lang="en-US" altLang="zh-CN" b="0" baseline="-25000" dirty="0"/>
              <a:t>2</a:t>
            </a:r>
            <a:r>
              <a:rPr lang="en-US" altLang="zh-CN" b="0" i="1" dirty="0"/>
              <a:t>n</a:t>
            </a:r>
            <a:r>
              <a:rPr lang="en-US" altLang="zh-CN" b="0" dirty="0"/>
              <a:t>)</a:t>
            </a:r>
            <a:r>
              <a:rPr lang="zh-CN" altLang="zh-CN" b="0" dirty="0"/>
              <a:t>。</a:t>
            </a:r>
          </a:p>
          <a:p>
            <a:endParaRPr lang="zh-CN" altLang="en-US" dirty="0"/>
          </a:p>
        </p:txBody>
      </p:sp>
    </p:spTree>
    <p:extLst>
      <p:ext uri="{BB962C8B-B14F-4D97-AF65-F5344CB8AC3E}">
        <p14:creationId xmlns:p14="http://schemas.microsoft.com/office/powerpoint/2010/main" val="25760211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 </a:t>
            </a:r>
            <a:r>
              <a:rPr lang="zh-CN" altLang="zh-CN" b="1" dirty="0"/>
              <a:t>二叉树应用</a:t>
            </a:r>
            <a:r>
              <a:rPr lang="en-US" altLang="zh-CN" b="1" dirty="0"/>
              <a:t>3</a:t>
            </a:r>
            <a:r>
              <a:rPr lang="zh-CN" altLang="zh-CN" b="1" dirty="0"/>
              <a:t>：平衡二叉树</a:t>
            </a:r>
            <a:endParaRPr lang="zh-CN" altLang="en-US" dirty="0"/>
          </a:p>
        </p:txBody>
      </p:sp>
      <p:sp>
        <p:nvSpPr>
          <p:cNvPr id="3" name="内容占位符 2"/>
          <p:cNvSpPr>
            <a:spLocks noGrp="1"/>
          </p:cNvSpPr>
          <p:nvPr>
            <p:ph idx="1"/>
          </p:nvPr>
        </p:nvSpPr>
        <p:spPr>
          <a:xfrm>
            <a:off x="827584" y="1628800"/>
            <a:ext cx="7520940" cy="4248472"/>
          </a:xfrm>
        </p:spPr>
        <p:txBody>
          <a:bodyPr/>
          <a:lstStyle/>
          <a:p>
            <a:r>
              <a:rPr lang="en-US" altLang="zh-CN" dirty="0"/>
              <a:t>5.6.1 </a:t>
            </a:r>
            <a:r>
              <a:rPr lang="zh-CN" altLang="zh-CN" dirty="0"/>
              <a:t>平衡二叉树的定义</a:t>
            </a:r>
          </a:p>
          <a:p>
            <a:r>
              <a:rPr lang="en-US" altLang="zh-CN" b="0" dirty="0"/>
              <a:t>	</a:t>
            </a:r>
            <a:r>
              <a:rPr lang="zh-CN" altLang="zh-CN" b="0" dirty="0">
                <a:solidFill>
                  <a:srgbClr val="FF0000"/>
                </a:solidFill>
              </a:rPr>
              <a:t>平衡二叉树</a:t>
            </a:r>
            <a:r>
              <a:rPr lang="en-US" altLang="zh-CN" b="0" dirty="0">
                <a:solidFill>
                  <a:srgbClr val="FF0000"/>
                </a:solidFill>
              </a:rPr>
              <a:t>(Balanced Binary Tree)</a:t>
            </a:r>
            <a:r>
              <a:rPr lang="zh-CN" altLang="zh-CN" b="0" dirty="0">
                <a:solidFill>
                  <a:srgbClr val="FF0000"/>
                </a:solidFill>
              </a:rPr>
              <a:t> 又称为</a:t>
            </a:r>
            <a:r>
              <a:rPr lang="en-US" altLang="zh-CN" b="0" dirty="0">
                <a:solidFill>
                  <a:srgbClr val="FF0000"/>
                </a:solidFill>
              </a:rPr>
              <a:t>AVL</a:t>
            </a:r>
            <a:r>
              <a:rPr lang="zh-CN" altLang="zh-CN" b="0" dirty="0">
                <a:solidFill>
                  <a:srgbClr val="FF0000"/>
                </a:solidFill>
              </a:rPr>
              <a:t>树。</a:t>
            </a:r>
            <a:endParaRPr lang="en-US" altLang="zh-CN" b="0" dirty="0">
              <a:solidFill>
                <a:srgbClr val="FF0000"/>
              </a:solidFill>
            </a:endParaRPr>
          </a:p>
          <a:p>
            <a:r>
              <a:rPr lang="en-US" altLang="zh-CN" b="0" dirty="0"/>
              <a:t>	</a:t>
            </a:r>
            <a:r>
              <a:rPr lang="zh-CN" altLang="zh-CN" b="0" dirty="0"/>
              <a:t>如果将二叉树上的结点的</a:t>
            </a:r>
            <a:r>
              <a:rPr lang="zh-CN" altLang="zh-CN" dirty="0">
                <a:solidFill>
                  <a:srgbClr val="FF0000"/>
                </a:solidFill>
              </a:rPr>
              <a:t>平衡因子</a:t>
            </a:r>
            <a:r>
              <a:rPr lang="en-US" altLang="zh-CN" dirty="0">
                <a:solidFill>
                  <a:srgbClr val="FF0000"/>
                </a:solidFill>
              </a:rPr>
              <a:t>BF</a:t>
            </a:r>
            <a:r>
              <a:rPr lang="en-US" altLang="zh-CN" b="0" dirty="0"/>
              <a:t>(Balance Factor)</a:t>
            </a:r>
            <a:r>
              <a:rPr lang="zh-CN" altLang="zh-CN" b="0" dirty="0"/>
              <a:t>定义为该结点的左子树的深度减去它的右子树的深度，</a:t>
            </a:r>
            <a:r>
              <a:rPr lang="en-US" altLang="zh-CN" b="0" dirty="0"/>
              <a:t>BF()</a:t>
            </a:r>
            <a:r>
              <a:rPr lang="zh-CN" altLang="zh-CN" b="0" dirty="0"/>
              <a:t>表示为：</a:t>
            </a:r>
          </a:p>
          <a:p>
            <a:r>
              <a:rPr lang="en-US" altLang="zh-CN" b="0" i="1" dirty="0"/>
              <a:t>		</a:t>
            </a:r>
            <a:r>
              <a:rPr lang="en-US" altLang="zh-CN" i="1" dirty="0"/>
              <a:t>BF</a:t>
            </a:r>
            <a:r>
              <a:rPr lang="en-US" altLang="zh-CN" dirty="0"/>
              <a:t>(A) = </a:t>
            </a:r>
            <a:r>
              <a:rPr lang="en-US" altLang="zh-CN" i="1" dirty="0"/>
              <a:t>h</a:t>
            </a:r>
            <a:r>
              <a:rPr lang="en-US" altLang="zh-CN" dirty="0"/>
              <a:t>(</a:t>
            </a:r>
            <a:r>
              <a:rPr lang="en-US" altLang="zh-CN" dirty="0" err="1"/>
              <a:t>A.left</a:t>
            </a:r>
            <a:r>
              <a:rPr lang="en-US" altLang="zh-CN" dirty="0"/>
              <a:t>()) – </a:t>
            </a:r>
            <a:r>
              <a:rPr lang="en-US" altLang="zh-CN" i="1" dirty="0"/>
              <a:t>h</a:t>
            </a:r>
            <a:r>
              <a:rPr lang="en-US" altLang="zh-CN" dirty="0"/>
              <a:t>(</a:t>
            </a:r>
            <a:r>
              <a:rPr lang="en-US" altLang="zh-CN" dirty="0" err="1"/>
              <a:t>A.right</a:t>
            </a:r>
            <a:r>
              <a:rPr lang="en-US" altLang="zh-CN" dirty="0"/>
              <a:t>())</a:t>
            </a:r>
            <a:endParaRPr lang="zh-CN" altLang="zh-CN" dirty="0"/>
          </a:p>
          <a:p>
            <a:endParaRPr lang="zh-CN" altLang="en-US" dirty="0"/>
          </a:p>
        </p:txBody>
      </p:sp>
    </p:spTree>
    <p:extLst>
      <p:ext uri="{BB962C8B-B14F-4D97-AF65-F5344CB8AC3E}">
        <p14:creationId xmlns:p14="http://schemas.microsoft.com/office/powerpoint/2010/main" val="34925032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285860"/>
            <a:ext cx="8572528" cy="4446826"/>
          </a:xfrm>
        </p:spPr>
        <p:txBody>
          <a:bodyPr>
            <a:normAutofit/>
          </a:bodyPr>
          <a:lstStyle/>
          <a:p>
            <a:pPr>
              <a:lnSpc>
                <a:spcPct val="130000"/>
              </a:lnSpc>
              <a:buFont typeface="Arial" panose="020B0604020202020204" pitchFamily="34" charset="0"/>
              <a:buChar char="•"/>
            </a:pPr>
            <a:r>
              <a:rPr lang="zh-CN" altLang="zh-CN" dirty="0">
                <a:solidFill>
                  <a:srgbClr val="FF0000"/>
                </a:solidFill>
              </a:rPr>
              <a:t>平衡二叉树定义</a:t>
            </a:r>
            <a:r>
              <a:rPr lang="zh-CN" altLang="zh-CN" b="0" dirty="0"/>
              <a:t>如下：</a:t>
            </a:r>
          </a:p>
          <a:p>
            <a:pPr marL="0" indent="0">
              <a:lnSpc>
                <a:spcPct val="130000"/>
              </a:lnSpc>
            </a:pPr>
            <a:r>
              <a:rPr lang="zh-CN" altLang="zh-CN" b="0" dirty="0"/>
              <a:t>平衡二叉树或者是一棵空树，或者是满足以下性质的二叉树：</a:t>
            </a:r>
          </a:p>
          <a:p>
            <a:pPr marL="0" indent="0">
              <a:lnSpc>
                <a:spcPct val="130000"/>
              </a:lnSpc>
            </a:pPr>
            <a:r>
              <a:rPr lang="en-US" altLang="zh-CN" b="0" dirty="0"/>
              <a:t>       </a:t>
            </a:r>
            <a:r>
              <a:rPr lang="en-US" altLang="zh-CN" sz="2200" b="0" dirty="0"/>
              <a:t>(1) </a:t>
            </a:r>
            <a:r>
              <a:rPr lang="zh-CN" altLang="zh-CN" sz="2200" b="0" dirty="0"/>
              <a:t>左子树和右子树的深度之差的绝对值不超过</a:t>
            </a:r>
            <a:r>
              <a:rPr lang="en-US" altLang="zh-CN" sz="2200" b="0" dirty="0"/>
              <a:t>1</a:t>
            </a:r>
            <a:r>
              <a:rPr lang="zh-CN" altLang="zh-CN" sz="2200" b="0" dirty="0"/>
              <a:t>，即</a:t>
            </a:r>
            <a:r>
              <a:rPr lang="en-US" altLang="zh-CN" sz="2200" b="0" dirty="0"/>
              <a:t>| </a:t>
            </a:r>
            <a:r>
              <a:rPr lang="en-US" altLang="zh-CN" sz="2200" b="0" i="1" dirty="0"/>
              <a:t>BF(A) </a:t>
            </a:r>
            <a:r>
              <a:rPr lang="en-US" altLang="zh-CN" sz="2200" b="0" dirty="0"/>
              <a:t>| </a:t>
            </a:r>
            <a:r>
              <a:rPr lang="en-US" altLang="zh-CN" sz="2200" b="0" dirty="0">
                <a:sym typeface="Symbol"/>
              </a:rPr>
              <a:t></a:t>
            </a:r>
            <a:r>
              <a:rPr lang="en-US" altLang="zh-CN" sz="2200" b="0" dirty="0"/>
              <a:t> 1</a:t>
            </a:r>
            <a:r>
              <a:rPr lang="zh-CN" altLang="zh-CN" sz="2200" b="0" dirty="0"/>
              <a:t>；</a:t>
            </a:r>
          </a:p>
          <a:p>
            <a:pPr marL="0" indent="0">
              <a:lnSpc>
                <a:spcPct val="130000"/>
              </a:lnSpc>
            </a:pPr>
            <a:r>
              <a:rPr lang="en-US" altLang="zh-CN" sz="2200" b="0" dirty="0"/>
              <a:t>        (2) </a:t>
            </a:r>
            <a:r>
              <a:rPr lang="zh-CN" altLang="zh-CN" sz="2200" b="0" dirty="0"/>
              <a:t>左子树和右子树都是一棵平衡二叉树，满足递归的定义。</a:t>
            </a:r>
            <a:endParaRPr lang="en-US" altLang="zh-CN" sz="2200" b="0" dirty="0"/>
          </a:p>
          <a:p>
            <a:pPr marL="0" indent="0">
              <a:lnSpc>
                <a:spcPct val="130000"/>
              </a:lnSpc>
            </a:pPr>
            <a:endParaRPr lang="zh-CN" altLang="zh-CN" sz="2200" b="0" dirty="0"/>
          </a:p>
          <a:p>
            <a:pPr>
              <a:lnSpc>
                <a:spcPct val="130000"/>
              </a:lnSpc>
              <a:buFont typeface="Arial" panose="020B0604020202020204" pitchFamily="34" charset="0"/>
              <a:buChar char="•"/>
            </a:pPr>
            <a:r>
              <a:rPr lang="zh-CN" altLang="zh-CN" b="0" dirty="0"/>
              <a:t>平衡二叉树上所有结点的平衡因子只可能是</a:t>
            </a:r>
            <a:r>
              <a:rPr lang="en-US" altLang="zh-CN" b="0" dirty="0"/>
              <a:t>-1</a:t>
            </a:r>
            <a:r>
              <a:rPr lang="zh-CN" altLang="zh-CN" b="0" dirty="0"/>
              <a:t>、</a:t>
            </a:r>
            <a:r>
              <a:rPr lang="en-US" altLang="zh-CN" b="0" dirty="0"/>
              <a:t>0</a:t>
            </a:r>
            <a:r>
              <a:rPr lang="zh-CN" altLang="zh-CN" b="0" dirty="0"/>
              <a:t>和</a:t>
            </a:r>
            <a:r>
              <a:rPr lang="en-US" altLang="zh-CN" b="0" dirty="0"/>
              <a:t>1</a:t>
            </a:r>
            <a:r>
              <a:rPr lang="zh-CN" altLang="zh-CN" b="0" dirty="0"/>
              <a:t>。</a:t>
            </a:r>
            <a:endParaRPr lang="en-US" altLang="zh-CN" b="0" dirty="0"/>
          </a:p>
          <a:p>
            <a:pPr>
              <a:lnSpc>
                <a:spcPct val="130000"/>
              </a:lnSpc>
              <a:buFont typeface="Arial" panose="020B0604020202020204" pitchFamily="34" charset="0"/>
              <a:buChar char="•"/>
            </a:pPr>
            <a:r>
              <a:rPr lang="zh-CN" altLang="zh-CN" b="0" dirty="0"/>
              <a:t>只要二叉树上有一个结点的平衡因子的绝对值大于</a:t>
            </a:r>
            <a:r>
              <a:rPr lang="en-US" altLang="zh-CN" b="0" dirty="0"/>
              <a:t>1</a:t>
            </a:r>
            <a:r>
              <a:rPr lang="zh-CN" altLang="zh-CN" b="0" dirty="0"/>
              <a:t>，则该二叉树就不是平衡二叉树。</a:t>
            </a:r>
            <a:endParaRPr lang="zh-CN" altLang="en-US" b="0" dirty="0"/>
          </a:p>
        </p:txBody>
      </p:sp>
    </p:spTree>
    <p:extLst>
      <p:ext uri="{BB962C8B-B14F-4D97-AF65-F5344CB8AC3E}">
        <p14:creationId xmlns:p14="http://schemas.microsoft.com/office/powerpoint/2010/main" val="3104131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764704"/>
            <a:ext cx="5526376" cy="26825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537" name="Rectangle 1"/>
          <p:cNvSpPr>
            <a:spLocks noChangeArrowheads="1"/>
          </p:cNvSpPr>
          <p:nvPr/>
        </p:nvSpPr>
        <p:spPr bwMode="auto">
          <a:xfrm>
            <a:off x="428596" y="3714753"/>
            <a:ext cx="8215370" cy="2723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ts val="600"/>
              </a:spcBef>
              <a:spcAft>
                <a:spcPct val="0"/>
              </a:spcAft>
              <a:buClrTx/>
              <a:buSzTx/>
              <a:buFont typeface="Arial" pitchFamily="34" charset="0"/>
              <a:buChar char="•"/>
              <a:tabLst/>
            </a:pPr>
            <a:r>
              <a:rPr lang="zh-CN" altLang="zh-CN" sz="2400" dirty="0">
                <a:latin typeface="Times New Roman" pitchFamily="18" charset="0"/>
                <a:ea typeface="楷体" pitchFamily="49" charset="-122"/>
                <a:cs typeface="Times New Roman" pitchFamily="18" charset="0"/>
              </a:rPr>
              <a:t>图</a:t>
            </a:r>
            <a:r>
              <a:rPr lang="en-US" altLang="zh-CN" sz="2400" dirty="0">
                <a:latin typeface="Times New Roman" pitchFamily="18" charset="0"/>
                <a:ea typeface="楷体" pitchFamily="49" charset="-122"/>
                <a:cs typeface="Times New Roman" pitchFamily="18" charset="0"/>
              </a:rPr>
              <a:t>5-33(b)</a:t>
            </a:r>
            <a:r>
              <a:rPr lang="zh-CN" altLang="en-US" sz="2400" dirty="0">
                <a:latin typeface="Times New Roman" pitchFamily="18" charset="0"/>
                <a:ea typeface="楷体" pitchFamily="49" charset="-122"/>
                <a:cs typeface="Times New Roman" pitchFamily="18" charset="0"/>
              </a:rPr>
              <a:t>不是平衡二叉树，结点中的值为结点的平衡因子。</a:t>
            </a:r>
            <a:endParaRPr lang="en-US" altLang="zh-CN" sz="2400" dirty="0">
              <a:latin typeface="Times New Roman" pitchFamily="18" charset="0"/>
              <a:ea typeface="楷体" pitchFamily="49" charset="-122"/>
              <a:cs typeface="Times New Roman" pitchFamily="18" charset="0"/>
            </a:endParaRPr>
          </a:p>
          <a:p>
            <a:pPr lvl="0" fontAlgn="base">
              <a:lnSpc>
                <a:spcPct val="130000"/>
              </a:lnSpc>
              <a:spcBef>
                <a:spcPts val="600"/>
              </a:spcBef>
              <a:spcAft>
                <a:spcPct val="0"/>
              </a:spcAft>
              <a:buFont typeface="Arial" pitchFamily="34" charset="0"/>
              <a:buChar char="•"/>
            </a:pPr>
            <a:r>
              <a:rPr lang="zh-CN" altLang="en-US" sz="2400" b="1" dirty="0">
                <a:solidFill>
                  <a:srgbClr val="FF0000"/>
                </a:solidFill>
                <a:latin typeface="Times New Roman" pitchFamily="18" charset="0"/>
                <a:ea typeface="楷体" pitchFamily="49" charset="-122"/>
                <a:cs typeface="Times New Roman" pitchFamily="18" charset="0"/>
              </a:rPr>
              <a:t>结论：</a:t>
            </a:r>
            <a:r>
              <a:rPr lang="zh-CN" altLang="en-US" sz="2400" dirty="0">
                <a:latin typeface="Times New Roman" pitchFamily="18" charset="0"/>
                <a:ea typeface="楷体" pitchFamily="49" charset="-122"/>
                <a:cs typeface="Times New Roman" pitchFamily="18" charset="0"/>
              </a:rPr>
              <a:t>具有</a:t>
            </a:r>
            <a:r>
              <a:rPr lang="en-US" altLang="en-US" sz="2400" dirty="0">
                <a:latin typeface="Times New Roman" pitchFamily="18" charset="0"/>
                <a:ea typeface="楷体" pitchFamily="49" charset="-122"/>
                <a:cs typeface="Times New Roman" pitchFamily="18" charset="0"/>
              </a:rPr>
              <a:t>n</a:t>
            </a:r>
            <a:r>
              <a:rPr lang="zh-CN" altLang="en-US" sz="2400" dirty="0">
                <a:latin typeface="Times New Roman" pitchFamily="18" charset="0"/>
                <a:ea typeface="楷体" pitchFamily="49" charset="-122"/>
                <a:cs typeface="Times New Roman" pitchFamily="18" charset="0"/>
              </a:rPr>
              <a:t>个结点的</a:t>
            </a:r>
            <a:r>
              <a:rPr lang="en-US" altLang="en-US" sz="2400" dirty="0">
                <a:latin typeface="Times New Roman" pitchFamily="18" charset="0"/>
                <a:ea typeface="楷体" pitchFamily="49" charset="-122"/>
                <a:cs typeface="Times New Roman" pitchFamily="18" charset="0"/>
              </a:rPr>
              <a:t>AVL</a:t>
            </a:r>
            <a:r>
              <a:rPr lang="zh-CN" altLang="en-US" sz="2400" dirty="0">
                <a:latin typeface="Times New Roman" pitchFamily="18" charset="0"/>
                <a:ea typeface="楷体" pitchFamily="49" charset="-122"/>
                <a:cs typeface="Times New Roman" pitchFamily="18" charset="0"/>
              </a:rPr>
              <a:t>树，其深度最大值为</a:t>
            </a:r>
            <a:r>
              <a:rPr lang="en-US" altLang="en-US" sz="2400" dirty="0">
                <a:latin typeface="Times New Roman" pitchFamily="18" charset="0"/>
                <a:ea typeface="楷体" pitchFamily="49" charset="-122"/>
                <a:cs typeface="Times New Roman" pitchFamily="18" charset="0"/>
              </a:rPr>
              <a:t>1.44log(n)</a:t>
            </a:r>
            <a:r>
              <a:rPr lang="zh-CN" altLang="en-US" sz="2400" dirty="0">
                <a:latin typeface="Times New Roman" pitchFamily="18" charset="0"/>
                <a:ea typeface="楷体" pitchFamily="49" charset="-122"/>
                <a:cs typeface="Times New Roman" pitchFamily="18" charset="0"/>
              </a:rPr>
              <a:t>，而通常情况接近于</a:t>
            </a:r>
            <a:r>
              <a:rPr lang="en-US" altLang="en-US" sz="2400" dirty="0">
                <a:latin typeface="Times New Roman" pitchFamily="18" charset="0"/>
                <a:ea typeface="楷体" pitchFamily="49" charset="-122"/>
                <a:cs typeface="Times New Roman" pitchFamily="18" charset="0"/>
              </a:rPr>
              <a:t>log(n)</a:t>
            </a:r>
            <a:r>
              <a:rPr lang="zh-CN" altLang="en-US" sz="2400" dirty="0">
                <a:latin typeface="Times New Roman" pitchFamily="18" charset="0"/>
                <a:ea typeface="楷体" pitchFamily="49" charset="-122"/>
                <a:cs typeface="Times New Roman" pitchFamily="18" charset="0"/>
              </a:rPr>
              <a:t>。</a:t>
            </a:r>
            <a:endParaRPr lang="en-US" altLang="zh-CN" sz="2400" dirty="0">
              <a:latin typeface="Times New Roman" pitchFamily="18" charset="0"/>
              <a:ea typeface="楷体" pitchFamily="49" charset="-122"/>
              <a:cs typeface="Times New Roman" pitchFamily="18" charset="0"/>
            </a:endParaRPr>
          </a:p>
          <a:p>
            <a:pPr fontAlgn="base">
              <a:lnSpc>
                <a:spcPct val="130000"/>
              </a:lnSpc>
              <a:spcBef>
                <a:spcPts val="600"/>
              </a:spcBef>
              <a:spcAft>
                <a:spcPct val="0"/>
              </a:spcAft>
              <a:buFont typeface="Arial" pitchFamily="34" charset="0"/>
              <a:buChar char="•"/>
            </a:pPr>
            <a:r>
              <a:rPr lang="zh-CN" altLang="en-US" sz="2400" dirty="0">
                <a:latin typeface="Times New Roman" pitchFamily="18" charset="0"/>
                <a:ea typeface="楷体" pitchFamily="49" charset="-122"/>
                <a:cs typeface="Times New Roman" pitchFamily="18" charset="0"/>
              </a:rPr>
              <a:t>平衡二叉树查找的平均时间复杂度为</a:t>
            </a:r>
            <a:r>
              <a:rPr lang="en-US" sz="2400" dirty="0">
                <a:latin typeface="Times New Roman" pitchFamily="18" charset="0"/>
                <a:ea typeface="楷体" pitchFamily="49" charset="-122"/>
                <a:cs typeface="Times New Roman" pitchFamily="18" charset="0"/>
              </a:rPr>
              <a:t>O(log</a:t>
            </a:r>
            <a:r>
              <a:rPr lang="en-US" sz="2400" baseline="-25000" dirty="0">
                <a:latin typeface="Times New Roman" pitchFamily="18" charset="0"/>
                <a:ea typeface="楷体" pitchFamily="49" charset="-122"/>
                <a:cs typeface="Times New Roman" pitchFamily="18" charset="0"/>
              </a:rPr>
              <a:t>2</a:t>
            </a:r>
            <a:r>
              <a:rPr lang="en-US" sz="2400" dirty="0">
                <a:latin typeface="Times New Roman" pitchFamily="18" charset="0"/>
                <a:ea typeface="楷体" pitchFamily="49" charset="-122"/>
                <a:cs typeface="Times New Roman" pitchFamily="18" charset="0"/>
              </a:rPr>
              <a:t>n)</a:t>
            </a:r>
            <a:r>
              <a:rPr lang="zh-CN" altLang="en-US" sz="2400" dirty="0">
                <a:latin typeface="Times New Roman" pitchFamily="18" charset="0"/>
                <a:ea typeface="楷体" pitchFamily="49" charset="-122"/>
                <a:cs typeface="Times New Roman" pitchFamily="18" charset="0"/>
              </a:rPr>
              <a:t>。</a:t>
            </a:r>
          </a:p>
          <a:p>
            <a:pPr lvl="0" fontAlgn="base">
              <a:lnSpc>
                <a:spcPct val="130000"/>
              </a:lnSpc>
              <a:spcBef>
                <a:spcPts val="600"/>
              </a:spcBef>
              <a:spcAft>
                <a:spcPct val="0"/>
              </a:spcAft>
            </a:pPr>
            <a:endParaRPr lang="zh-CN" altLang="en-US" sz="2400"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3780469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5.6.2 </a:t>
            </a:r>
            <a:r>
              <a:rPr lang="zh-CN" altLang="zh-CN" b="1" dirty="0"/>
              <a:t>平衡化旋转</a:t>
            </a:r>
            <a:endParaRPr lang="zh-CN" altLang="en-US" dirty="0"/>
          </a:p>
        </p:txBody>
      </p:sp>
      <p:sp>
        <p:nvSpPr>
          <p:cNvPr id="3" name="内容占位符 2"/>
          <p:cNvSpPr>
            <a:spLocks noGrp="1"/>
          </p:cNvSpPr>
          <p:nvPr>
            <p:ph idx="1"/>
          </p:nvPr>
        </p:nvSpPr>
        <p:spPr>
          <a:xfrm>
            <a:off x="827584" y="1628801"/>
            <a:ext cx="7520940" cy="3014646"/>
          </a:xfrm>
        </p:spPr>
        <p:txBody>
          <a:bodyPr/>
          <a:lstStyle/>
          <a:p>
            <a:pPr>
              <a:buFont typeface="Arial" panose="020B0604020202020204" pitchFamily="34" charset="0"/>
              <a:buChar char="•"/>
            </a:pPr>
            <a:r>
              <a:rPr lang="zh-CN" altLang="zh-CN" b="0" dirty="0"/>
              <a:t>一般来说，结点的</a:t>
            </a:r>
            <a:r>
              <a:rPr lang="zh-CN" altLang="zh-CN" b="0" dirty="0">
                <a:solidFill>
                  <a:srgbClr val="FF0000"/>
                </a:solidFill>
              </a:rPr>
              <a:t>插入和删除操作可能会影响到平衡二叉树的平衡性</a:t>
            </a:r>
            <a:r>
              <a:rPr lang="zh-CN" altLang="zh-CN" b="0" dirty="0"/>
              <a:t>。</a:t>
            </a:r>
            <a:endParaRPr lang="en-US" altLang="zh-CN" b="0" dirty="0"/>
          </a:p>
          <a:p>
            <a:pPr>
              <a:buFont typeface="Arial" panose="020B0604020202020204" pitchFamily="34" charset="0"/>
              <a:buChar char="•"/>
            </a:pPr>
            <a:r>
              <a:rPr lang="zh-CN" altLang="zh-CN" b="0" dirty="0"/>
              <a:t>通过对树进行简单的修改来保持树的平衡性，称其为</a:t>
            </a:r>
            <a:r>
              <a:rPr lang="zh-CN" altLang="zh-CN" b="0" dirty="0">
                <a:solidFill>
                  <a:srgbClr val="FF0000"/>
                </a:solidFill>
              </a:rPr>
              <a:t>平衡化旋转</a:t>
            </a:r>
            <a:r>
              <a:rPr lang="zh-CN" altLang="zh-CN" b="0" dirty="0"/>
              <a:t>。</a:t>
            </a:r>
            <a:endParaRPr lang="en-US" altLang="zh-CN" b="0" dirty="0"/>
          </a:p>
          <a:p>
            <a:pPr>
              <a:buFont typeface="Arial" panose="020B0604020202020204" pitchFamily="34" charset="0"/>
              <a:buChar char="•"/>
            </a:pPr>
            <a:r>
              <a:rPr lang="zh-CN" altLang="zh-CN" b="0" dirty="0">
                <a:solidFill>
                  <a:srgbClr val="FF0000"/>
                </a:solidFill>
              </a:rPr>
              <a:t>平衡化旋转是从离插入或删除结点位置最近的失衡结点的位置开始调整</a:t>
            </a:r>
            <a:r>
              <a:rPr lang="zh-CN" altLang="zh-CN" b="0" dirty="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357166"/>
            <a:ext cx="444500" cy="444500"/>
          </a:xfrm>
          <a:prstGeom prst="rect">
            <a:avLst/>
          </a:prstGeom>
        </p:spPr>
      </p:pic>
    </p:spTree>
    <p:extLst>
      <p:ext uri="{BB962C8B-B14F-4D97-AF65-F5344CB8AC3E}">
        <p14:creationId xmlns:p14="http://schemas.microsoft.com/office/powerpoint/2010/main" val="22465612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08720"/>
            <a:ext cx="8429684" cy="5520676"/>
          </a:xfrm>
        </p:spPr>
        <p:txBody>
          <a:bodyPr>
            <a:normAutofit fontScale="92500" lnSpcReduction="10000"/>
          </a:bodyPr>
          <a:lstStyle/>
          <a:p>
            <a:r>
              <a:rPr lang="en-US" altLang="zh-CN" b="0" dirty="0"/>
              <a:t>	</a:t>
            </a:r>
            <a:r>
              <a:rPr lang="zh-CN" altLang="zh-CN" b="0" dirty="0"/>
              <a:t>一般情况下，假设由于在平衡二叉树上插入结点而</a:t>
            </a:r>
            <a:r>
              <a:rPr lang="zh-CN" altLang="zh-CN" b="0" dirty="0">
                <a:solidFill>
                  <a:srgbClr val="FF0000"/>
                </a:solidFill>
              </a:rPr>
              <a:t>失去平衡的最小子树的根结点的指针为</a:t>
            </a:r>
            <a:r>
              <a:rPr lang="en-US" altLang="zh-CN" b="0" dirty="0">
                <a:solidFill>
                  <a:srgbClr val="FF0000"/>
                </a:solidFill>
              </a:rPr>
              <a:t>A</a:t>
            </a:r>
            <a:r>
              <a:rPr lang="en-US" altLang="zh-CN" b="0" dirty="0"/>
              <a:t>(</a:t>
            </a:r>
            <a:r>
              <a:rPr lang="zh-CN" altLang="zh-CN" b="0" dirty="0"/>
              <a:t>即</a:t>
            </a:r>
            <a:r>
              <a:rPr lang="en-US" altLang="zh-CN" b="0" dirty="0"/>
              <a:t>A</a:t>
            </a:r>
            <a:r>
              <a:rPr lang="zh-CN" altLang="zh-CN" b="0" dirty="0"/>
              <a:t>是离插入结点位置最近，且平衡因子绝对值超过</a:t>
            </a:r>
            <a:r>
              <a:rPr lang="en-US" altLang="zh-CN" b="0" dirty="0"/>
              <a:t>1</a:t>
            </a:r>
            <a:r>
              <a:rPr lang="zh-CN" altLang="zh-CN" b="0" dirty="0"/>
              <a:t>的祖先结点</a:t>
            </a:r>
            <a:r>
              <a:rPr lang="en-US" altLang="zh-CN" b="0" dirty="0"/>
              <a:t>)</a:t>
            </a:r>
            <a:r>
              <a:rPr lang="zh-CN" altLang="zh-CN" b="0" dirty="0"/>
              <a:t>，通常不平衡的状态有两种：</a:t>
            </a:r>
            <a:endParaRPr lang="en-US" altLang="zh-CN" b="0" dirty="0"/>
          </a:p>
          <a:p>
            <a:r>
              <a:rPr lang="en-US" altLang="zh-CN" b="0" dirty="0"/>
              <a:t>		</a:t>
            </a:r>
            <a:r>
              <a:rPr lang="zh-CN" altLang="zh-CN" b="0" dirty="0"/>
              <a:t>①</a:t>
            </a:r>
            <a:r>
              <a:rPr lang="zh-CN" altLang="zh-CN" b="0" dirty="0">
                <a:solidFill>
                  <a:srgbClr val="FF0000"/>
                </a:solidFill>
              </a:rPr>
              <a:t>左高</a:t>
            </a:r>
            <a:r>
              <a:rPr lang="zh-CN" altLang="zh-CN" b="0" dirty="0"/>
              <a:t>：左子树左高和右子树左高；</a:t>
            </a:r>
            <a:endParaRPr lang="en-US" altLang="zh-CN" b="0" dirty="0"/>
          </a:p>
          <a:p>
            <a:r>
              <a:rPr lang="en-US" altLang="zh-CN" b="0" dirty="0"/>
              <a:t>		</a:t>
            </a:r>
            <a:r>
              <a:rPr lang="zh-CN" altLang="zh-CN" b="0" dirty="0"/>
              <a:t>②</a:t>
            </a:r>
            <a:r>
              <a:rPr lang="zh-CN" altLang="zh-CN" b="0" dirty="0">
                <a:solidFill>
                  <a:srgbClr val="FF0000"/>
                </a:solidFill>
              </a:rPr>
              <a:t>右高</a:t>
            </a:r>
            <a:r>
              <a:rPr lang="zh-CN" altLang="zh-CN" b="0" dirty="0"/>
              <a:t>：左子树右高和右子树右高</a:t>
            </a:r>
            <a:r>
              <a:rPr lang="zh-CN" altLang="en-US" b="0" dirty="0"/>
              <a:t>。</a:t>
            </a:r>
            <a:endParaRPr lang="en-US" altLang="zh-CN" b="0" dirty="0"/>
          </a:p>
          <a:p>
            <a:r>
              <a:rPr lang="en-US" altLang="zh-CN" dirty="0"/>
              <a:t>	</a:t>
            </a:r>
            <a:r>
              <a:rPr lang="zh-CN" altLang="zh-CN" dirty="0"/>
              <a:t>不平衡可能出现在下面</a:t>
            </a:r>
            <a:r>
              <a:rPr lang="zh-CN" altLang="zh-CN" dirty="0">
                <a:solidFill>
                  <a:srgbClr val="FF0000"/>
                </a:solidFill>
              </a:rPr>
              <a:t>四种情况：</a:t>
            </a:r>
          </a:p>
          <a:p>
            <a:r>
              <a:rPr lang="en-US" altLang="zh-CN" b="0" dirty="0"/>
              <a:t>	(1) </a:t>
            </a:r>
            <a:r>
              <a:rPr lang="zh-CN" altLang="zh-CN" b="0" dirty="0"/>
              <a:t>在</a:t>
            </a:r>
            <a:r>
              <a:rPr lang="en-US" altLang="zh-CN" b="0" dirty="0"/>
              <a:t>A</a:t>
            </a:r>
            <a:r>
              <a:rPr lang="zh-CN" altLang="zh-CN" b="0" dirty="0"/>
              <a:t>的左孩子的左子树上插入结点；</a:t>
            </a:r>
          </a:p>
          <a:p>
            <a:r>
              <a:rPr lang="en-US" altLang="zh-CN" b="0" dirty="0"/>
              <a:t>	(2) </a:t>
            </a:r>
            <a:r>
              <a:rPr lang="zh-CN" altLang="zh-CN" b="0" dirty="0"/>
              <a:t>在</a:t>
            </a:r>
            <a:r>
              <a:rPr lang="en-US" altLang="zh-CN" b="0" dirty="0"/>
              <a:t>A</a:t>
            </a:r>
            <a:r>
              <a:rPr lang="zh-CN" altLang="zh-CN" b="0" dirty="0"/>
              <a:t>的右孩子的右子树上插入结点；</a:t>
            </a:r>
          </a:p>
          <a:p>
            <a:r>
              <a:rPr lang="en-US" altLang="zh-CN" b="0" dirty="0"/>
              <a:t>	(3) </a:t>
            </a:r>
            <a:r>
              <a:rPr lang="zh-CN" altLang="zh-CN" b="0" dirty="0"/>
              <a:t>在</a:t>
            </a:r>
            <a:r>
              <a:rPr lang="en-US" altLang="zh-CN" b="0" dirty="0"/>
              <a:t>A</a:t>
            </a:r>
            <a:r>
              <a:rPr lang="zh-CN" altLang="zh-CN" b="0" dirty="0"/>
              <a:t>的左孩子的右子树上插入结点；</a:t>
            </a:r>
          </a:p>
          <a:p>
            <a:r>
              <a:rPr lang="en-US" altLang="zh-CN" b="0" dirty="0"/>
              <a:t>	(4) </a:t>
            </a:r>
            <a:r>
              <a:rPr lang="zh-CN" altLang="zh-CN" b="0" dirty="0"/>
              <a:t>在</a:t>
            </a:r>
            <a:r>
              <a:rPr lang="en-US" altLang="zh-CN" b="0" dirty="0"/>
              <a:t>A</a:t>
            </a:r>
            <a:r>
              <a:rPr lang="zh-CN" altLang="zh-CN" b="0" dirty="0"/>
              <a:t>的右孩子的左子树上插入结点。</a:t>
            </a:r>
          </a:p>
          <a:p>
            <a:r>
              <a:rPr lang="en-US" altLang="zh-CN" b="0" dirty="0"/>
              <a:t>	</a:t>
            </a:r>
            <a:r>
              <a:rPr lang="zh-CN" altLang="zh-CN" b="0" dirty="0"/>
              <a:t>其中，</a:t>
            </a:r>
            <a:r>
              <a:rPr lang="en-US" altLang="zh-CN" b="0" dirty="0"/>
              <a:t>(1)</a:t>
            </a:r>
            <a:r>
              <a:rPr lang="zh-CN" altLang="zh-CN" b="0" dirty="0"/>
              <a:t>和</a:t>
            </a:r>
            <a:r>
              <a:rPr lang="en-US" altLang="zh-CN" b="0" dirty="0"/>
              <a:t>(4)</a:t>
            </a:r>
            <a:r>
              <a:rPr lang="zh-CN" altLang="zh-CN" b="0" dirty="0"/>
              <a:t>为左高情况，</a:t>
            </a:r>
            <a:r>
              <a:rPr lang="en-US" altLang="zh-CN" b="0" dirty="0"/>
              <a:t>(2)</a:t>
            </a:r>
            <a:r>
              <a:rPr lang="zh-CN" altLang="zh-CN" b="0" dirty="0"/>
              <a:t>和</a:t>
            </a:r>
            <a:r>
              <a:rPr lang="en-US" altLang="zh-CN" b="0" dirty="0"/>
              <a:t>(3)</a:t>
            </a:r>
            <a:r>
              <a:rPr lang="zh-CN" altLang="zh-CN" b="0" dirty="0"/>
              <a:t>为右高情况。因此，相应的</a:t>
            </a:r>
            <a:r>
              <a:rPr lang="zh-CN" altLang="zh-CN" b="0" dirty="0">
                <a:solidFill>
                  <a:srgbClr val="FF0000"/>
                </a:solidFill>
              </a:rPr>
              <a:t>失去平衡后进行调整的规律可以归纳为下面四种情况。</a:t>
            </a:r>
          </a:p>
          <a:p>
            <a:endParaRPr lang="zh-CN" altLang="en-US" dirty="0"/>
          </a:p>
        </p:txBody>
      </p:sp>
    </p:spTree>
    <p:extLst>
      <p:ext uri="{BB962C8B-B14F-4D97-AF65-F5344CB8AC3E}">
        <p14:creationId xmlns:p14="http://schemas.microsoft.com/office/powerpoint/2010/main" val="26473066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pPr marL="457200" indent="-457200">
              <a:buAutoNum type="arabicPeriod"/>
            </a:pPr>
            <a:r>
              <a:rPr lang="en-US" altLang="zh-CN" dirty="0">
                <a:solidFill>
                  <a:srgbClr val="FF0000"/>
                </a:solidFill>
              </a:rPr>
              <a:t>LL</a:t>
            </a:r>
            <a:r>
              <a:rPr lang="zh-CN" altLang="zh-CN" dirty="0">
                <a:solidFill>
                  <a:srgbClr val="FF0000"/>
                </a:solidFill>
              </a:rPr>
              <a:t>型平衡旋转法</a:t>
            </a:r>
            <a:endParaRPr lang="en-US" altLang="zh-CN" dirty="0">
              <a:solidFill>
                <a:srgbClr val="FF0000"/>
              </a:solidFill>
            </a:endParaRPr>
          </a:p>
          <a:p>
            <a:pPr>
              <a:buFont typeface="Arial" panose="020B0604020202020204" pitchFamily="34" charset="0"/>
              <a:buChar char="•"/>
            </a:pPr>
            <a:r>
              <a:rPr lang="en-US" altLang="zh-CN" b="0" dirty="0"/>
              <a:t>LL</a:t>
            </a:r>
            <a:r>
              <a:rPr lang="zh-CN" altLang="zh-CN" b="0" dirty="0"/>
              <a:t>型是左子树左高的情况，这种情况是由于在结点</a:t>
            </a:r>
            <a:r>
              <a:rPr lang="en-US" altLang="zh-CN" b="0" dirty="0"/>
              <a:t>A</a:t>
            </a:r>
            <a:r>
              <a:rPr lang="zh-CN" altLang="zh-CN" b="0" dirty="0"/>
              <a:t>的左孩子的左子树上插入结点，结点</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从而使得以结点</a:t>
            </a:r>
            <a:r>
              <a:rPr lang="en-US" altLang="zh-CN" b="0" dirty="0"/>
              <a:t>A</a:t>
            </a:r>
            <a:r>
              <a:rPr lang="zh-CN" altLang="zh-CN" b="0" dirty="0"/>
              <a:t>为根的子树失去平衡。</a:t>
            </a:r>
            <a:endParaRPr lang="en-US" altLang="zh-CN" b="0" dirty="0"/>
          </a:p>
          <a:p>
            <a:pPr>
              <a:buFont typeface="Arial" panose="020B0604020202020204" pitchFamily="34" charset="0"/>
              <a:buChar char="•"/>
            </a:pPr>
            <a:r>
              <a:rPr lang="zh-CN" altLang="zh-CN" b="0" dirty="0"/>
              <a:t>此种情况下平衡化旋转的</a:t>
            </a:r>
            <a:r>
              <a:rPr lang="zh-CN" altLang="zh-CN" dirty="0">
                <a:solidFill>
                  <a:srgbClr val="FF0000"/>
                </a:solidFill>
              </a:rPr>
              <a:t>方法是进行一次顺时针旋转操作</a:t>
            </a:r>
            <a:r>
              <a:rPr lang="zh-CN" altLang="en-US" dirty="0">
                <a:solidFill>
                  <a:srgbClr val="FF0000"/>
                </a:solidFill>
              </a:rPr>
              <a:t>。</a:t>
            </a:r>
            <a:r>
              <a:rPr lang="zh-CN" altLang="zh-CN" b="0" dirty="0"/>
              <a:t>即将</a:t>
            </a:r>
            <a:r>
              <a:rPr lang="en-US" altLang="zh-CN" b="0" dirty="0"/>
              <a:t>A</a:t>
            </a:r>
            <a:r>
              <a:rPr lang="zh-CN" altLang="zh-CN" b="0" dirty="0"/>
              <a:t>的左孩子</a:t>
            </a:r>
            <a:r>
              <a:rPr lang="en-US" altLang="zh-CN" b="0" dirty="0"/>
              <a:t>B</a:t>
            </a:r>
            <a:r>
              <a:rPr lang="zh-CN" altLang="zh-CN" b="0" dirty="0"/>
              <a:t>向右上旋转代替</a:t>
            </a:r>
            <a:r>
              <a:rPr lang="en-US" altLang="zh-CN" b="0" dirty="0"/>
              <a:t>A</a:t>
            </a:r>
            <a:r>
              <a:rPr lang="zh-CN" altLang="zh-CN" b="0" dirty="0"/>
              <a:t>作为根结点，</a:t>
            </a:r>
            <a:r>
              <a:rPr lang="en-US" altLang="zh-CN" b="0" dirty="0"/>
              <a:t>A</a:t>
            </a:r>
            <a:r>
              <a:rPr lang="zh-CN" altLang="zh-CN" b="0" dirty="0"/>
              <a:t>向右下旋转成为</a:t>
            </a:r>
            <a:r>
              <a:rPr lang="en-US" altLang="zh-CN" b="0" dirty="0"/>
              <a:t>B</a:t>
            </a:r>
            <a:r>
              <a:rPr lang="zh-CN" altLang="zh-CN" b="0" dirty="0"/>
              <a:t>的右子树的根结点，而原来</a:t>
            </a:r>
            <a:r>
              <a:rPr lang="en-US" altLang="zh-CN" b="0" dirty="0"/>
              <a:t>B</a:t>
            </a:r>
            <a:r>
              <a:rPr lang="zh-CN" altLang="zh-CN" b="0" dirty="0"/>
              <a:t>的右子树则变成</a:t>
            </a:r>
            <a:r>
              <a:rPr lang="en-US" altLang="zh-CN" b="0" dirty="0"/>
              <a:t>A</a:t>
            </a:r>
            <a:r>
              <a:rPr lang="zh-CN" altLang="zh-CN" b="0" dirty="0"/>
              <a:t>的左子树，如图</a:t>
            </a:r>
            <a:r>
              <a:rPr lang="en-US" altLang="zh-CN" b="0" dirty="0"/>
              <a:t>5-34</a:t>
            </a:r>
            <a:r>
              <a:rPr lang="zh-CN" altLang="zh-CN" b="0" dirty="0"/>
              <a:t>所示。</a:t>
            </a:r>
            <a:endParaRPr lang="en-US" altLang="zh-CN" b="0" dirty="0"/>
          </a:p>
        </p:txBody>
      </p:sp>
    </p:spTree>
    <p:extLst>
      <p:ext uri="{BB962C8B-B14F-4D97-AF65-F5344CB8AC3E}">
        <p14:creationId xmlns:p14="http://schemas.microsoft.com/office/powerpoint/2010/main" val="1103549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196752"/>
            <a:ext cx="7623838" cy="4238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34909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3579849"/>
          </a:xfrm>
        </p:spPr>
        <p:txBody>
          <a:bodyPr>
            <a:normAutofit lnSpcReduction="10000"/>
          </a:bodyPr>
          <a:lstStyle/>
          <a:p>
            <a:r>
              <a:rPr lang="en-US" altLang="zh-CN" dirty="0"/>
              <a:t>2. </a:t>
            </a:r>
            <a:r>
              <a:rPr lang="en-US" altLang="zh-CN" dirty="0">
                <a:solidFill>
                  <a:srgbClr val="FF0000"/>
                </a:solidFill>
              </a:rPr>
              <a:t>RR</a:t>
            </a:r>
            <a:r>
              <a:rPr lang="zh-CN" altLang="zh-CN" dirty="0">
                <a:solidFill>
                  <a:srgbClr val="FF0000"/>
                </a:solidFill>
              </a:rPr>
              <a:t>型平衡旋转法</a:t>
            </a:r>
          </a:p>
          <a:p>
            <a:pPr>
              <a:buFont typeface="Arial" panose="020B0604020202020204" pitchFamily="34" charset="0"/>
              <a:buChar char="•"/>
            </a:pPr>
            <a:r>
              <a:rPr lang="zh-CN" altLang="zh-CN" b="0" dirty="0"/>
              <a:t>在结点</a:t>
            </a:r>
            <a:r>
              <a:rPr lang="en-US" altLang="zh-CN" b="0" dirty="0"/>
              <a:t>A</a:t>
            </a:r>
            <a:r>
              <a:rPr lang="zh-CN" altLang="zh-CN" b="0" dirty="0"/>
              <a:t>的右孩子的右子树上插入结点，结点</a:t>
            </a:r>
            <a:r>
              <a:rPr lang="en-US" altLang="zh-CN" b="0" dirty="0"/>
              <a:t>A</a:t>
            </a:r>
            <a:r>
              <a:rPr lang="zh-CN" altLang="zh-CN" b="0" dirty="0"/>
              <a:t>的平衡因子由</a:t>
            </a:r>
            <a:r>
              <a:rPr lang="en-US" altLang="zh-CN" b="0" dirty="0"/>
              <a:t>-1</a:t>
            </a:r>
            <a:r>
              <a:rPr lang="zh-CN" altLang="zh-CN" b="0" dirty="0"/>
              <a:t>减至</a:t>
            </a:r>
            <a:r>
              <a:rPr lang="en-US" altLang="zh-CN" b="0" dirty="0"/>
              <a:t>-2</a:t>
            </a:r>
            <a:r>
              <a:rPr lang="zh-CN" altLang="zh-CN" b="0" dirty="0"/>
              <a:t>，致使结点</a:t>
            </a:r>
            <a:r>
              <a:rPr lang="en-US" altLang="zh-CN" b="0" dirty="0"/>
              <a:t>A</a:t>
            </a:r>
            <a:r>
              <a:rPr lang="zh-CN" altLang="zh-CN" b="0" dirty="0"/>
              <a:t>失去平衡，因此</a:t>
            </a:r>
            <a:r>
              <a:rPr lang="en-US" altLang="zh-CN" b="0" dirty="0"/>
              <a:t>RR</a:t>
            </a:r>
            <a:r>
              <a:rPr lang="zh-CN" altLang="zh-CN" b="0" dirty="0"/>
              <a:t>型属于右子树右高。</a:t>
            </a:r>
            <a:endParaRPr lang="en-US" altLang="zh-CN" b="0" dirty="0"/>
          </a:p>
          <a:p>
            <a:pPr>
              <a:buFont typeface="Arial" panose="020B0604020202020204" pitchFamily="34" charset="0"/>
              <a:buChar char="•"/>
            </a:pPr>
            <a:r>
              <a:rPr lang="zh-CN" altLang="zh-CN" b="0" dirty="0"/>
              <a:t>此时</a:t>
            </a:r>
            <a:r>
              <a:rPr lang="en-US" altLang="zh-CN" b="0" dirty="0"/>
              <a:t>RR</a:t>
            </a:r>
            <a:r>
              <a:rPr lang="zh-CN" altLang="zh-CN" b="0" dirty="0"/>
              <a:t>平衡化旋转的</a:t>
            </a:r>
            <a:r>
              <a:rPr lang="zh-CN" altLang="zh-CN" dirty="0">
                <a:solidFill>
                  <a:srgbClr val="FF0000"/>
                </a:solidFill>
              </a:rPr>
              <a:t>方法是进行一次逆时针旋转操作</a:t>
            </a:r>
            <a:r>
              <a:rPr lang="zh-CN" altLang="en-US" dirty="0">
                <a:solidFill>
                  <a:srgbClr val="FF0000"/>
                </a:solidFill>
              </a:rPr>
              <a:t>。</a:t>
            </a:r>
            <a:r>
              <a:rPr lang="zh-CN" altLang="zh-CN" b="0" dirty="0"/>
              <a:t>即将</a:t>
            </a:r>
            <a:r>
              <a:rPr lang="en-US" altLang="zh-CN" b="0" dirty="0"/>
              <a:t>A</a:t>
            </a:r>
            <a:r>
              <a:rPr lang="zh-CN" altLang="zh-CN" b="0" dirty="0"/>
              <a:t>的右孩子</a:t>
            </a:r>
            <a:r>
              <a:rPr lang="en-US" altLang="zh-CN" b="0" dirty="0"/>
              <a:t>B</a:t>
            </a:r>
            <a:r>
              <a:rPr lang="zh-CN" altLang="zh-CN" b="0" dirty="0"/>
              <a:t>向左上旋转代替</a:t>
            </a:r>
            <a:r>
              <a:rPr lang="en-US" altLang="zh-CN" b="0" dirty="0"/>
              <a:t>A</a:t>
            </a:r>
            <a:r>
              <a:rPr lang="zh-CN" altLang="zh-CN" b="0" dirty="0"/>
              <a:t>作为根结点，</a:t>
            </a:r>
            <a:r>
              <a:rPr lang="en-US" altLang="zh-CN" b="0" dirty="0"/>
              <a:t>A</a:t>
            </a:r>
            <a:r>
              <a:rPr lang="zh-CN" altLang="zh-CN" b="0" dirty="0"/>
              <a:t>向左下旋转成为</a:t>
            </a:r>
            <a:r>
              <a:rPr lang="en-US" altLang="zh-CN" b="0" dirty="0"/>
              <a:t>B</a:t>
            </a:r>
            <a:r>
              <a:rPr lang="zh-CN" altLang="zh-CN" b="0" dirty="0"/>
              <a:t>的左子树的根结点，而原来</a:t>
            </a:r>
            <a:r>
              <a:rPr lang="en-US" altLang="zh-CN" b="0" dirty="0"/>
              <a:t>B</a:t>
            </a:r>
            <a:r>
              <a:rPr lang="zh-CN" altLang="zh-CN" b="0" dirty="0"/>
              <a:t>的左子树则变成</a:t>
            </a:r>
            <a:r>
              <a:rPr lang="en-US" altLang="zh-CN" b="0" dirty="0"/>
              <a:t>A</a:t>
            </a:r>
            <a:r>
              <a:rPr lang="zh-CN" altLang="zh-CN" b="0" dirty="0"/>
              <a:t>的右子树，如图</a:t>
            </a:r>
            <a:r>
              <a:rPr lang="en-US" altLang="zh-CN" b="0" dirty="0"/>
              <a:t>5-35</a:t>
            </a:r>
            <a:r>
              <a:rPr lang="zh-CN" altLang="zh-CN" b="0" dirty="0"/>
              <a:t>所示。</a:t>
            </a:r>
            <a:endParaRPr lang="zh-CN" altLang="en-US" b="0" dirty="0"/>
          </a:p>
        </p:txBody>
      </p:sp>
    </p:spTree>
    <p:extLst>
      <p:ext uri="{BB962C8B-B14F-4D97-AF65-F5344CB8AC3E}">
        <p14:creationId xmlns:p14="http://schemas.microsoft.com/office/powerpoint/2010/main" val="17337566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340768"/>
            <a:ext cx="7390655"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57835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776864" cy="5112568"/>
          </a:xfrm>
        </p:spPr>
        <p:txBody>
          <a:bodyPr>
            <a:normAutofit/>
          </a:bodyPr>
          <a:lstStyle/>
          <a:p>
            <a:r>
              <a:rPr lang="en-US" altLang="zh-CN" dirty="0"/>
              <a:t>3. </a:t>
            </a:r>
            <a:r>
              <a:rPr lang="en-US" altLang="zh-CN" dirty="0">
                <a:solidFill>
                  <a:srgbClr val="FF0000"/>
                </a:solidFill>
              </a:rPr>
              <a:t>LR</a:t>
            </a:r>
            <a:r>
              <a:rPr lang="zh-CN" altLang="zh-CN" dirty="0">
                <a:solidFill>
                  <a:srgbClr val="FF0000"/>
                </a:solidFill>
              </a:rPr>
              <a:t>型平衡旋转法</a:t>
            </a:r>
          </a:p>
          <a:p>
            <a:pPr>
              <a:buFont typeface="Arial" panose="020B0604020202020204" pitchFamily="34" charset="0"/>
              <a:buChar char="•"/>
            </a:pPr>
            <a:r>
              <a:rPr lang="en-US" altLang="zh-CN" b="0" dirty="0"/>
              <a:t>LR</a:t>
            </a:r>
            <a:r>
              <a:rPr lang="zh-CN" altLang="zh-CN" b="0" dirty="0"/>
              <a:t>型为左子树右高，这种情况是由于在结点</a:t>
            </a:r>
            <a:r>
              <a:rPr lang="en-US" altLang="zh-CN" b="0" dirty="0"/>
              <a:t>A</a:t>
            </a:r>
            <a:r>
              <a:rPr lang="zh-CN" altLang="zh-CN" b="0" dirty="0"/>
              <a:t>的左孩子的右子树上插入结点，使</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而使以结点</a:t>
            </a:r>
            <a:r>
              <a:rPr lang="en-US" altLang="zh-CN" b="0" dirty="0"/>
              <a:t>A</a:t>
            </a:r>
            <a:r>
              <a:rPr lang="zh-CN" altLang="zh-CN" b="0" dirty="0"/>
              <a:t>为根的子树失去平衡。</a:t>
            </a:r>
            <a:endParaRPr lang="en-US" altLang="zh-CN" b="0" dirty="0"/>
          </a:p>
          <a:p>
            <a:pPr>
              <a:buFont typeface="Arial" panose="020B0604020202020204" pitchFamily="34" charset="0"/>
              <a:buChar char="•"/>
            </a:pPr>
            <a:r>
              <a:rPr lang="zh-CN" altLang="zh-CN" b="0" dirty="0"/>
              <a:t>设</a:t>
            </a:r>
            <a:r>
              <a:rPr lang="en-US" altLang="zh-CN" b="0" dirty="0"/>
              <a:t>B</a:t>
            </a:r>
            <a:r>
              <a:rPr lang="zh-CN" altLang="zh-CN" b="0" dirty="0"/>
              <a:t>为</a:t>
            </a:r>
            <a:r>
              <a:rPr lang="en-US" altLang="zh-CN" b="0" dirty="0"/>
              <a:t>A</a:t>
            </a:r>
            <a:r>
              <a:rPr lang="zh-CN" altLang="zh-CN" b="0" dirty="0"/>
              <a:t>的左孩子，</a:t>
            </a:r>
            <a:r>
              <a:rPr lang="en-US" altLang="zh-CN" b="0" dirty="0"/>
              <a:t>C</a:t>
            </a:r>
            <a:r>
              <a:rPr lang="zh-CN" altLang="zh-CN" b="0" dirty="0"/>
              <a:t>为</a:t>
            </a:r>
            <a:r>
              <a:rPr lang="en-US" altLang="zh-CN" b="0" dirty="0"/>
              <a:t>B</a:t>
            </a:r>
            <a:r>
              <a:rPr lang="zh-CN" altLang="zh-CN" b="0" dirty="0"/>
              <a:t>的右孩子。</a:t>
            </a:r>
            <a:endParaRPr lang="en-US" altLang="zh-CN" b="0" dirty="0"/>
          </a:p>
          <a:p>
            <a:pPr>
              <a:buFont typeface="Arial" panose="020B0604020202020204" pitchFamily="34" charset="0"/>
              <a:buChar char="•"/>
            </a:pPr>
            <a:r>
              <a:rPr lang="zh-CN" altLang="zh-CN" b="0" dirty="0"/>
              <a:t>在插入结点前</a:t>
            </a:r>
            <a:r>
              <a:rPr lang="en-US" altLang="zh-CN" b="0" dirty="0"/>
              <a:t>C</a:t>
            </a:r>
            <a:r>
              <a:rPr lang="zh-CN" altLang="zh-CN" b="0" dirty="0"/>
              <a:t>的平衡因子只能是</a:t>
            </a:r>
            <a:r>
              <a:rPr lang="en-US" altLang="zh-CN" b="0" dirty="0"/>
              <a:t>0</a:t>
            </a:r>
            <a:r>
              <a:rPr lang="zh-CN" altLang="zh-CN" b="0" dirty="0"/>
              <a:t>，否则</a:t>
            </a:r>
            <a:r>
              <a:rPr lang="en-US" altLang="zh-CN" b="0" dirty="0"/>
              <a:t>C</a:t>
            </a:r>
            <a:r>
              <a:rPr lang="zh-CN" altLang="zh-CN" b="0" dirty="0"/>
              <a:t>会失去平衡或者</a:t>
            </a:r>
            <a:r>
              <a:rPr lang="en-US" altLang="zh-CN" b="0" dirty="0"/>
              <a:t>C</a:t>
            </a:r>
            <a:r>
              <a:rPr lang="zh-CN" altLang="zh-CN" b="0" dirty="0"/>
              <a:t>的深度不发生变化。而插入后</a:t>
            </a:r>
            <a:r>
              <a:rPr lang="en-US" altLang="zh-CN" b="0" dirty="0"/>
              <a:t>C</a:t>
            </a:r>
            <a:r>
              <a:rPr lang="zh-CN" altLang="zh-CN" b="0" dirty="0"/>
              <a:t>的平衡因子的</a:t>
            </a:r>
            <a:r>
              <a:rPr lang="zh-CN" altLang="zh-CN" dirty="0">
                <a:solidFill>
                  <a:srgbClr val="FF0000"/>
                </a:solidFill>
              </a:rPr>
              <a:t>变化有下列三种情况：</a:t>
            </a:r>
            <a:endParaRPr lang="zh-CN" altLang="en-US" dirty="0">
              <a:solidFill>
                <a:srgbClr val="FF0000"/>
              </a:solidFill>
            </a:endParaRPr>
          </a:p>
        </p:txBody>
      </p:sp>
    </p:spTree>
    <p:extLst>
      <p:ext uri="{BB962C8B-B14F-4D97-AF65-F5344CB8AC3E}">
        <p14:creationId xmlns:p14="http://schemas.microsoft.com/office/powerpoint/2010/main" val="29738916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400600"/>
          </a:xfrm>
        </p:spPr>
        <p:txBody>
          <a:bodyPr>
            <a:normAutofit fontScale="92500"/>
          </a:bodyPr>
          <a:lstStyle/>
          <a:p>
            <a:r>
              <a:rPr lang="en-US" altLang="zh-CN" b="0" dirty="0"/>
              <a:t>(1) </a:t>
            </a:r>
            <a:r>
              <a:rPr lang="zh-CN" altLang="zh-CN" b="0" dirty="0"/>
              <a:t>插入后</a:t>
            </a:r>
            <a:r>
              <a:rPr lang="en-US" altLang="zh-CN" b="0" dirty="0"/>
              <a:t>C</a:t>
            </a:r>
            <a:r>
              <a:rPr lang="zh-CN" altLang="zh-CN" b="0" dirty="0"/>
              <a:t>的平衡因子为</a:t>
            </a:r>
            <a:r>
              <a:rPr lang="en-US" altLang="zh-CN" b="0" dirty="0"/>
              <a:t>1</a:t>
            </a:r>
            <a:r>
              <a:rPr lang="zh-CN" altLang="zh-CN" b="0" dirty="0"/>
              <a:t>，即在</a:t>
            </a:r>
            <a:r>
              <a:rPr lang="en-US" altLang="zh-CN" b="0" dirty="0"/>
              <a:t>C</a:t>
            </a:r>
            <a:r>
              <a:rPr lang="zh-CN" altLang="zh-CN" b="0" dirty="0"/>
              <a:t>的左子树上插入。设此时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h-1</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a:t>
            </a:r>
            <a:r>
              <a:rPr lang="zh-CN" altLang="zh-CN" b="0" dirty="0"/>
              <a:t>。</a:t>
            </a:r>
          </a:p>
          <a:p>
            <a:r>
              <a:rPr lang="en-US" altLang="zh-CN" b="0" dirty="0"/>
              <a:t>(2) </a:t>
            </a:r>
            <a:r>
              <a:rPr lang="zh-CN" altLang="zh-CN" b="0" dirty="0"/>
              <a:t>插入后</a:t>
            </a:r>
            <a:r>
              <a:rPr lang="en-US" altLang="zh-CN" b="0" dirty="0"/>
              <a:t>C</a:t>
            </a:r>
            <a:r>
              <a:rPr lang="zh-CN" altLang="zh-CN" b="0" dirty="0"/>
              <a:t>的平衡因子为</a:t>
            </a:r>
            <a:r>
              <a:rPr lang="en-US" altLang="zh-CN" b="0" dirty="0"/>
              <a:t>-1</a:t>
            </a:r>
            <a:r>
              <a:rPr lang="zh-CN" altLang="zh-CN" b="0" dirty="0"/>
              <a:t>，即在</a:t>
            </a:r>
            <a:r>
              <a:rPr lang="en-US" altLang="zh-CN" b="0" dirty="0"/>
              <a:t>C</a:t>
            </a:r>
            <a:r>
              <a:rPr lang="zh-CN" altLang="zh-CN" b="0" dirty="0"/>
              <a:t>的右子树上插入。设此时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h+1</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h+1</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h+1</a:t>
            </a:r>
            <a:r>
              <a:rPr lang="zh-CN" altLang="zh-CN" b="0" dirty="0"/>
              <a:t>。</a:t>
            </a:r>
          </a:p>
          <a:p>
            <a:r>
              <a:rPr lang="en-US" altLang="zh-CN" b="0" dirty="0"/>
              <a:t>(3) </a:t>
            </a:r>
            <a:r>
              <a:rPr lang="zh-CN" altLang="zh-CN" b="0" dirty="0"/>
              <a:t>插入后</a:t>
            </a:r>
            <a:r>
              <a:rPr lang="en-US" altLang="zh-CN" b="0" dirty="0"/>
              <a:t>C</a:t>
            </a:r>
            <a:r>
              <a:rPr lang="zh-CN" altLang="zh-CN" b="0" dirty="0"/>
              <a:t>的平衡因子为</a:t>
            </a:r>
            <a:r>
              <a:rPr lang="en-US" altLang="zh-CN" b="0" dirty="0"/>
              <a:t>0</a:t>
            </a:r>
            <a:r>
              <a:rPr lang="zh-CN" altLang="zh-CN" b="0" dirty="0"/>
              <a:t>，即</a:t>
            </a:r>
            <a:r>
              <a:rPr lang="en-US" altLang="zh-CN" b="0" dirty="0"/>
              <a:t>C</a:t>
            </a:r>
            <a:r>
              <a:rPr lang="zh-CN" altLang="zh-CN" b="0" dirty="0"/>
              <a:t>本身就是插入结点。设此时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a:t>
            </a:r>
            <a:r>
              <a:rPr lang="zh-CN" altLang="zh-CN" b="0" dirty="0"/>
              <a:t>。</a:t>
            </a:r>
          </a:p>
          <a:p>
            <a:endParaRPr lang="zh-CN" altLang="en-US" dirty="0"/>
          </a:p>
        </p:txBody>
      </p:sp>
    </p:spTree>
    <p:extLst>
      <p:ext uri="{BB962C8B-B14F-4D97-AF65-F5344CB8AC3E}">
        <p14:creationId xmlns:p14="http://schemas.microsoft.com/office/powerpoint/2010/main" val="34515553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2689" name="Object 1"/>
          <p:cNvGraphicFramePr>
            <a:graphicFrameLocks noChangeAspect="1"/>
          </p:cNvGraphicFramePr>
          <p:nvPr>
            <p:extLst>
              <p:ext uri="{D42A27DB-BD31-4B8C-83A1-F6EECF244321}">
                <p14:modId xmlns:p14="http://schemas.microsoft.com/office/powerpoint/2010/main" val="3573521241"/>
              </p:ext>
            </p:extLst>
          </p:nvPr>
        </p:nvGraphicFramePr>
        <p:xfrm>
          <a:off x="483674" y="2690336"/>
          <a:ext cx="8176652" cy="3643338"/>
        </p:xfrm>
        <a:graphic>
          <a:graphicData uri="http://schemas.openxmlformats.org/presentationml/2006/ole">
            <mc:AlternateContent xmlns:mc="http://schemas.openxmlformats.org/markup-compatibility/2006">
              <mc:Choice xmlns:v="urn:schemas-microsoft-com:vml" Requires="v">
                <p:oleObj spid="_x0000_s242713" r:id="rId2" imgW="4783847" imgH="2131803" progId="">
                  <p:embed/>
                </p:oleObj>
              </mc:Choice>
              <mc:Fallback>
                <p:oleObj r:id="rId2" imgW="4783847" imgH="2131803" progId="">
                  <p:embed/>
                  <p:pic>
                    <p:nvPicPr>
                      <p:cNvPr id="0"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674" y="2690336"/>
                        <a:ext cx="8176652" cy="3643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1331640" y="692696"/>
            <a:ext cx="7056784" cy="1569660"/>
          </a:xfrm>
          <a:prstGeom prst="rect">
            <a:avLst/>
          </a:prstGeom>
        </p:spPr>
        <p:txBody>
          <a:bodyPr wrap="square">
            <a:spAutoFit/>
          </a:bodyPr>
          <a:lstStyle/>
          <a:p>
            <a:pPr>
              <a:buFont typeface="Arial" panose="020B0604020202020204" pitchFamily="34" charset="0"/>
              <a:buChar char="•"/>
            </a:pPr>
            <a:r>
              <a:rPr lang="zh-CN" altLang="zh-CN" sz="2400" dirty="0">
                <a:latin typeface="楷体" pitchFamily="49" charset="-122"/>
                <a:ea typeface="楷体" pitchFamily="49" charset="-122"/>
              </a:rPr>
              <a:t>此时</a:t>
            </a:r>
            <a:r>
              <a:rPr lang="en-US" altLang="zh-CN" sz="2400" b="1" dirty="0">
                <a:solidFill>
                  <a:srgbClr val="0000FF"/>
                </a:solidFill>
                <a:latin typeface="楷体" pitchFamily="49" charset="-122"/>
                <a:ea typeface="楷体" pitchFamily="49" charset="-122"/>
              </a:rPr>
              <a:t>LR</a:t>
            </a:r>
            <a:r>
              <a:rPr lang="zh-CN" altLang="en-US" sz="2400" b="1" dirty="0">
                <a:solidFill>
                  <a:srgbClr val="0000FF"/>
                </a:solidFill>
                <a:latin typeface="楷体" pitchFamily="49" charset="-122"/>
                <a:ea typeface="楷体" pitchFamily="49" charset="-122"/>
              </a:rPr>
              <a:t>型</a:t>
            </a:r>
            <a:r>
              <a:rPr lang="zh-CN" altLang="zh-CN" sz="2400" b="1" dirty="0">
                <a:solidFill>
                  <a:srgbClr val="0000FF"/>
                </a:solidFill>
                <a:latin typeface="楷体" pitchFamily="49" charset="-122"/>
                <a:ea typeface="楷体" pitchFamily="49" charset="-122"/>
              </a:rPr>
              <a:t>平衡化旋转的方法</a:t>
            </a:r>
            <a:r>
              <a:rPr lang="zh-CN" altLang="en-US" sz="2400" b="1" dirty="0">
                <a:solidFill>
                  <a:srgbClr val="0000FF"/>
                </a:solidFill>
                <a:latin typeface="楷体" pitchFamily="49" charset="-122"/>
                <a:ea typeface="楷体" pitchFamily="49" charset="-122"/>
              </a:rPr>
              <a:t>：</a:t>
            </a:r>
            <a:r>
              <a:rPr lang="zh-CN" altLang="en-US" sz="2400" dirty="0">
                <a:solidFill>
                  <a:srgbClr val="FF0000"/>
                </a:solidFill>
                <a:latin typeface="楷体" pitchFamily="49" charset="-122"/>
                <a:ea typeface="楷体" pitchFamily="49" charset="-122"/>
              </a:rPr>
              <a:t>先对左孩子</a:t>
            </a:r>
            <a:r>
              <a:rPr lang="zh-CN" altLang="zh-CN" sz="2400" dirty="0">
                <a:solidFill>
                  <a:srgbClr val="FF0000"/>
                </a:solidFill>
                <a:latin typeface="楷体" pitchFamily="49" charset="-122"/>
                <a:ea typeface="楷体" pitchFamily="49" charset="-122"/>
              </a:rPr>
              <a:t>进行一次逆时针</a:t>
            </a:r>
            <a:r>
              <a:rPr lang="zh-CN" altLang="en-US" sz="2400" dirty="0">
                <a:solidFill>
                  <a:srgbClr val="FF0000"/>
                </a:solidFill>
                <a:latin typeface="楷体" pitchFamily="49" charset="-122"/>
                <a:ea typeface="楷体" pitchFamily="49" charset="-122"/>
              </a:rPr>
              <a:t>左</a:t>
            </a:r>
            <a:r>
              <a:rPr lang="zh-CN" altLang="zh-CN" sz="2400" dirty="0">
                <a:solidFill>
                  <a:srgbClr val="FF0000"/>
                </a:solidFill>
                <a:latin typeface="楷体" pitchFamily="49" charset="-122"/>
                <a:ea typeface="楷体" pitchFamily="49" charset="-122"/>
              </a:rPr>
              <a:t>旋转</a:t>
            </a:r>
            <a:r>
              <a:rPr lang="en-US" altLang="zh-CN" sz="2400" dirty="0">
                <a:solidFill>
                  <a:srgbClr val="FF0000"/>
                </a:solidFill>
                <a:latin typeface="楷体" pitchFamily="49" charset="-122"/>
                <a:ea typeface="楷体" pitchFamily="49" charset="-122"/>
              </a:rPr>
              <a:t>;</a:t>
            </a:r>
            <a:r>
              <a:rPr lang="zh-CN" altLang="en-US" sz="2400" dirty="0">
                <a:solidFill>
                  <a:srgbClr val="FF0000"/>
                </a:solidFill>
                <a:latin typeface="楷体" pitchFamily="49" charset="-122"/>
                <a:ea typeface="楷体" pitchFamily="49" charset="-122"/>
              </a:rPr>
              <a:t>再对失衡点进行一次顺时针的右旋转。</a:t>
            </a:r>
            <a:endParaRPr lang="en-US" altLang="zh-CN" sz="2400" dirty="0">
              <a:solidFill>
                <a:srgbClr val="FF0000"/>
              </a:solidFill>
              <a:latin typeface="楷体" pitchFamily="49" charset="-122"/>
              <a:ea typeface="楷体" pitchFamily="49" charset="-122"/>
            </a:endParaRPr>
          </a:p>
          <a:p>
            <a:pPr>
              <a:buFont typeface="Arial" panose="020B0604020202020204" pitchFamily="34" charset="0"/>
              <a:buChar char="•"/>
            </a:pPr>
            <a:r>
              <a:rPr lang="zh-CN" altLang="zh-CN" sz="2400" dirty="0">
                <a:latin typeface="楷体" pitchFamily="49" charset="-122"/>
                <a:ea typeface="楷体" pitchFamily="49" charset="-122"/>
              </a:rPr>
              <a:t>即</a:t>
            </a:r>
            <a:r>
              <a:rPr lang="zh-CN" altLang="en-US" sz="2400" dirty="0">
                <a:latin typeface="楷体" pitchFamily="49" charset="-122"/>
                <a:ea typeface="楷体" pitchFamily="49" charset="-122"/>
              </a:rPr>
              <a:t>先</a:t>
            </a:r>
            <a:r>
              <a:rPr lang="zh-CN" altLang="zh-CN" sz="2400" dirty="0">
                <a:latin typeface="楷体" pitchFamily="49" charset="-122"/>
                <a:ea typeface="楷体" pitchFamily="49" charset="-122"/>
              </a:rPr>
              <a:t>将</a:t>
            </a:r>
            <a:r>
              <a:rPr lang="en-US" altLang="zh-CN" sz="2400" dirty="0">
                <a:latin typeface="楷体" pitchFamily="49" charset="-122"/>
                <a:ea typeface="楷体" pitchFamily="49" charset="-122"/>
              </a:rPr>
              <a:t>A</a:t>
            </a:r>
            <a:r>
              <a:rPr lang="zh-CN" altLang="zh-CN" sz="2400" dirty="0">
                <a:latin typeface="楷体" pitchFamily="49" charset="-122"/>
                <a:ea typeface="楷体" pitchFamily="49" charset="-122"/>
              </a:rPr>
              <a:t>的</a:t>
            </a:r>
            <a:r>
              <a:rPr lang="zh-CN" altLang="en-US" sz="2400" dirty="0">
                <a:latin typeface="楷体" pitchFamily="49" charset="-122"/>
                <a:ea typeface="楷体" pitchFamily="49" charset="-122"/>
              </a:rPr>
              <a:t>左</a:t>
            </a:r>
            <a:r>
              <a:rPr lang="zh-CN" altLang="zh-CN" sz="2400" dirty="0">
                <a:latin typeface="楷体" pitchFamily="49" charset="-122"/>
                <a:ea typeface="楷体" pitchFamily="49" charset="-122"/>
              </a:rPr>
              <a:t>孩子</a:t>
            </a:r>
            <a:r>
              <a:rPr lang="en-US" altLang="zh-CN" sz="2400" dirty="0">
                <a:latin typeface="楷体" pitchFamily="49" charset="-122"/>
                <a:ea typeface="楷体" pitchFamily="49" charset="-122"/>
              </a:rPr>
              <a:t>B</a:t>
            </a:r>
            <a:r>
              <a:rPr lang="zh-CN" altLang="en-US" sz="2400" dirty="0">
                <a:latin typeface="楷体" pitchFamily="49" charset="-122"/>
                <a:ea typeface="楷体" pitchFamily="49" charset="-122"/>
              </a:rPr>
              <a:t>和</a:t>
            </a:r>
            <a:r>
              <a:rPr lang="en-US" altLang="zh-CN" sz="2400" dirty="0">
                <a:latin typeface="楷体" pitchFamily="49" charset="-122"/>
                <a:ea typeface="楷体" pitchFamily="49" charset="-122"/>
              </a:rPr>
              <a:t>B</a:t>
            </a:r>
            <a:r>
              <a:rPr lang="zh-CN" altLang="en-US" sz="2400" dirty="0">
                <a:latin typeface="楷体" pitchFamily="49" charset="-122"/>
                <a:ea typeface="楷体" pitchFamily="49" charset="-122"/>
              </a:rPr>
              <a:t>的右孩子</a:t>
            </a:r>
            <a:r>
              <a:rPr lang="en-US" altLang="zh-CN" sz="2400" dirty="0">
                <a:latin typeface="楷体" pitchFamily="49" charset="-122"/>
                <a:ea typeface="楷体" pitchFamily="49" charset="-122"/>
              </a:rPr>
              <a:t>C</a:t>
            </a:r>
            <a:r>
              <a:rPr lang="zh-CN" altLang="zh-CN" sz="2400" dirty="0">
                <a:latin typeface="楷体" pitchFamily="49" charset="-122"/>
                <a:ea typeface="楷体" pitchFamily="49" charset="-122"/>
              </a:rPr>
              <a:t>向旋转</a:t>
            </a:r>
            <a:r>
              <a:rPr lang="zh-CN" altLang="en-US" sz="2400" dirty="0">
                <a:latin typeface="楷体" pitchFamily="49" charset="-122"/>
                <a:ea typeface="楷体" pitchFamily="49" charset="-122"/>
              </a:rPr>
              <a:t>①</a:t>
            </a:r>
            <a:r>
              <a:rPr lang="en-US" altLang="zh-CN" sz="2400" dirty="0">
                <a:latin typeface="楷体" pitchFamily="49" charset="-122"/>
                <a:ea typeface="楷体" pitchFamily="49" charset="-122"/>
              </a:rPr>
              <a:t>;</a:t>
            </a:r>
            <a:r>
              <a:rPr lang="zh-CN" altLang="en-US" sz="2400" dirty="0">
                <a:latin typeface="楷体" pitchFamily="49" charset="-122"/>
                <a:ea typeface="楷体" pitchFamily="49" charset="-122"/>
              </a:rPr>
              <a:t>再对失衡点</a:t>
            </a:r>
            <a:r>
              <a:rPr lang="en-US" altLang="zh-CN" sz="2400" dirty="0">
                <a:latin typeface="楷体" pitchFamily="49" charset="-122"/>
                <a:ea typeface="楷体" pitchFamily="49" charset="-122"/>
              </a:rPr>
              <a:t>A</a:t>
            </a:r>
            <a:r>
              <a:rPr lang="zh-CN" altLang="en-US" sz="2400" dirty="0">
                <a:latin typeface="楷体" pitchFamily="49" charset="-122"/>
                <a:ea typeface="楷体" pitchFamily="49" charset="-122"/>
              </a:rPr>
              <a:t>和新的左孩子</a:t>
            </a:r>
            <a:r>
              <a:rPr lang="en-US" altLang="zh-CN" sz="2400" dirty="0">
                <a:latin typeface="楷体" pitchFamily="49" charset="-122"/>
                <a:ea typeface="楷体" pitchFamily="49" charset="-122"/>
              </a:rPr>
              <a:t>C</a:t>
            </a:r>
            <a:r>
              <a:rPr lang="zh-CN" altLang="en-US" sz="2400" dirty="0">
                <a:latin typeface="楷体" pitchFamily="49" charset="-122"/>
                <a:ea typeface="楷体" pitchFamily="49" charset="-122"/>
              </a:rPr>
              <a:t>向右旋转②。</a:t>
            </a:r>
            <a:r>
              <a:rPr lang="zh-CN" altLang="zh-CN" sz="2400" dirty="0">
                <a:latin typeface="楷体" pitchFamily="49" charset="-122"/>
                <a:ea typeface="楷体" pitchFamily="49" charset="-122"/>
              </a:rPr>
              <a:t>如图所示。</a:t>
            </a:r>
            <a:endParaRPr lang="zh-CN" altLang="en-US" sz="2400" dirty="0">
              <a:latin typeface="楷体" pitchFamily="49" charset="-122"/>
              <a:ea typeface="楷体" pitchFamily="49"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743804" cy="2592288"/>
          </a:xfrm>
        </p:spPr>
        <p:txBody>
          <a:bodyPr/>
          <a:lstStyle/>
          <a:p>
            <a:r>
              <a:rPr lang="en-US" altLang="zh-CN" dirty="0"/>
              <a:t>4. </a:t>
            </a:r>
            <a:r>
              <a:rPr lang="en-US" altLang="zh-CN" dirty="0">
                <a:solidFill>
                  <a:srgbClr val="FF0000"/>
                </a:solidFill>
              </a:rPr>
              <a:t>RL</a:t>
            </a:r>
            <a:r>
              <a:rPr lang="zh-CN" altLang="zh-CN" dirty="0">
                <a:solidFill>
                  <a:srgbClr val="FF0000"/>
                </a:solidFill>
              </a:rPr>
              <a:t>型平衡旋转法</a:t>
            </a:r>
          </a:p>
          <a:p>
            <a:r>
              <a:rPr lang="en-US" altLang="zh-CN" dirty="0"/>
              <a:t>	</a:t>
            </a:r>
            <a:r>
              <a:rPr lang="en-US" altLang="zh-CN" b="0" dirty="0"/>
              <a:t>RL</a:t>
            </a:r>
            <a:r>
              <a:rPr lang="zh-CN" altLang="zh-CN" b="0" dirty="0"/>
              <a:t>型为右子树左高情况，这种情况是由于在结点</a:t>
            </a:r>
            <a:r>
              <a:rPr lang="en-US" altLang="zh-CN" b="0" dirty="0"/>
              <a:t>A</a:t>
            </a:r>
            <a:r>
              <a:rPr lang="zh-CN" altLang="zh-CN" b="0" dirty="0"/>
              <a:t>的右孩子的左子树上插入结点，使</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而使以结点</a:t>
            </a:r>
            <a:r>
              <a:rPr lang="en-US" altLang="zh-CN" b="0" dirty="0"/>
              <a:t>A</a:t>
            </a:r>
            <a:r>
              <a:rPr lang="zh-CN" altLang="zh-CN" b="0" dirty="0"/>
              <a:t>为根的子树失去平衡。这种情况与</a:t>
            </a:r>
            <a:r>
              <a:rPr lang="en-US" altLang="zh-CN" b="0" dirty="0"/>
              <a:t>LR</a:t>
            </a:r>
            <a:r>
              <a:rPr lang="zh-CN" altLang="zh-CN" b="0" dirty="0"/>
              <a:t>型旋转情况是对称的。</a:t>
            </a:r>
            <a:endParaRPr lang="zh-CN" altLang="en-US" b="0" dirty="0"/>
          </a:p>
        </p:txBody>
      </p:sp>
      <p:sp>
        <p:nvSpPr>
          <p:cNvPr id="3368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36897" name="Object 1"/>
          <p:cNvGraphicFramePr>
            <a:graphicFrameLocks noChangeAspect="1"/>
          </p:cNvGraphicFramePr>
          <p:nvPr/>
        </p:nvGraphicFramePr>
        <p:xfrm>
          <a:off x="1571604" y="3286124"/>
          <a:ext cx="6715172" cy="2966923"/>
        </p:xfrm>
        <a:graphic>
          <a:graphicData uri="http://schemas.openxmlformats.org/presentationml/2006/ole">
            <mc:AlternateContent xmlns:mc="http://schemas.openxmlformats.org/markup-compatibility/2006">
              <mc:Choice xmlns:v="urn:schemas-microsoft-com:vml" Requires="v">
                <p:oleObj spid="_x0000_s336918" r:id="rId2" imgW="4901660" imgH="2159030" progId="">
                  <p:embed/>
                </p:oleObj>
              </mc:Choice>
              <mc:Fallback>
                <p:oleObj r:id="rId2" imgW="4901660" imgH="2159030" progId="">
                  <p:embed/>
                  <p:pic>
                    <p:nvPicPr>
                      <p:cNvPr id="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04" y="3286124"/>
                        <a:ext cx="6715172" cy="29669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60075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184576"/>
          </a:xfrm>
        </p:spPr>
        <p:txBody>
          <a:bodyPr>
            <a:normAutofit fontScale="92500"/>
          </a:bodyPr>
          <a:lstStyle/>
          <a:p>
            <a:r>
              <a:rPr lang="en-US" altLang="zh-CN" b="0" dirty="0"/>
              <a:t>	</a:t>
            </a:r>
            <a:r>
              <a:rPr lang="zh-CN" altLang="zh-CN" b="0" dirty="0"/>
              <a:t>下面依据前面三种情况来分析一下旋转后各个结点的平衡因子的情况：</a:t>
            </a:r>
          </a:p>
          <a:p>
            <a:r>
              <a:rPr lang="en-US" altLang="zh-CN" b="0" dirty="0"/>
              <a:t>	(1) </a:t>
            </a:r>
            <a:r>
              <a:rPr lang="zh-CN" altLang="zh-CN" b="0" dirty="0"/>
              <a:t>若旋转前</a:t>
            </a:r>
            <a:r>
              <a:rPr lang="en-US" altLang="zh-CN" b="0" dirty="0"/>
              <a:t>C</a:t>
            </a:r>
            <a:r>
              <a:rPr lang="zh-CN" altLang="zh-CN" b="0" dirty="0"/>
              <a:t>的平衡因子为</a:t>
            </a:r>
            <a:r>
              <a:rPr lang="en-US" altLang="zh-CN" b="0" dirty="0"/>
              <a:t>1</a:t>
            </a:r>
            <a:r>
              <a:rPr lang="zh-CN" altLang="zh-CN" b="0" dirty="0"/>
              <a:t>，则旋转后</a:t>
            </a:r>
            <a:r>
              <a:rPr lang="en-US" altLang="zh-CN" b="0" dirty="0"/>
              <a:t>A</a:t>
            </a:r>
            <a:r>
              <a:rPr lang="zh-CN" altLang="zh-CN" b="0" dirty="0"/>
              <a:t>的左子树没有变化，右子树是</a:t>
            </a:r>
            <a:r>
              <a:rPr lang="en-US" altLang="zh-CN" b="0" dirty="0"/>
              <a:t>C</a:t>
            </a:r>
            <a:r>
              <a:rPr lang="zh-CN" altLang="zh-CN" b="0" dirty="0"/>
              <a:t>原来的左子树，故</a:t>
            </a:r>
            <a:r>
              <a:rPr lang="en-US" altLang="zh-CN" b="0" dirty="0"/>
              <a:t>A</a:t>
            </a:r>
            <a:r>
              <a:rPr lang="zh-CN" altLang="zh-CN" b="0" dirty="0"/>
              <a:t>的平衡因子为</a:t>
            </a:r>
            <a:r>
              <a:rPr lang="en-US" altLang="zh-CN" b="0" dirty="0"/>
              <a:t>0</a:t>
            </a:r>
            <a:r>
              <a:rPr lang="zh-CN" altLang="zh-CN" b="0" dirty="0"/>
              <a:t>；</a:t>
            </a:r>
            <a:r>
              <a:rPr lang="en-US" altLang="zh-CN" b="0" dirty="0"/>
              <a:t>B</a:t>
            </a:r>
            <a:r>
              <a:rPr lang="zh-CN" altLang="zh-CN" b="0" dirty="0"/>
              <a:t>的右子树没有变化，左子树变为</a:t>
            </a:r>
            <a:r>
              <a:rPr lang="en-US" altLang="zh-CN" b="0" dirty="0"/>
              <a:t>C</a:t>
            </a:r>
            <a:r>
              <a:rPr lang="zh-CN" altLang="zh-CN" b="0" dirty="0"/>
              <a:t>原来的右子树，故</a:t>
            </a:r>
            <a:r>
              <a:rPr lang="en-US" altLang="zh-CN" b="0" dirty="0"/>
              <a:t>B</a:t>
            </a:r>
            <a:r>
              <a:rPr lang="zh-CN" altLang="zh-CN" b="0" dirty="0"/>
              <a:t>的平衡因子为</a:t>
            </a:r>
            <a:r>
              <a:rPr lang="en-US" altLang="zh-CN" b="0" dirty="0"/>
              <a:t>-1</a:t>
            </a:r>
            <a:r>
              <a:rPr lang="zh-CN" altLang="zh-CN" b="0" dirty="0"/>
              <a:t>；</a:t>
            </a:r>
            <a:r>
              <a:rPr lang="en-US" altLang="zh-CN" b="0" dirty="0"/>
              <a:t>C</a:t>
            </a:r>
            <a:r>
              <a:rPr lang="zh-CN" altLang="zh-CN" b="0" dirty="0"/>
              <a:t>的左右子树分别是以</a:t>
            </a:r>
            <a:r>
              <a:rPr lang="en-US" altLang="zh-CN" b="0" dirty="0"/>
              <a:t>A</a:t>
            </a:r>
            <a:r>
              <a:rPr lang="zh-CN" altLang="zh-CN" b="0" dirty="0"/>
              <a:t>和</a:t>
            </a:r>
            <a:r>
              <a:rPr lang="en-US" altLang="zh-CN" b="0" dirty="0"/>
              <a:t>B</a:t>
            </a:r>
            <a:r>
              <a:rPr lang="zh-CN" altLang="zh-CN" b="0" dirty="0"/>
              <a:t>为根的子树，因为</a:t>
            </a:r>
            <a:r>
              <a:rPr lang="en-US" altLang="zh-CN" b="0" dirty="0"/>
              <a:t>A</a:t>
            </a:r>
            <a:r>
              <a:rPr lang="zh-CN" altLang="zh-CN" b="0" dirty="0"/>
              <a:t>子树和</a:t>
            </a:r>
            <a:r>
              <a:rPr lang="en-US" altLang="zh-CN" b="0" dirty="0"/>
              <a:t>B</a:t>
            </a:r>
            <a:r>
              <a:rPr lang="zh-CN" altLang="zh-CN" b="0" dirty="0"/>
              <a:t>子树的深度均为</a:t>
            </a:r>
            <a:r>
              <a:rPr lang="en-US" altLang="zh-CN" b="0" dirty="0"/>
              <a:t>h+1</a:t>
            </a:r>
            <a:r>
              <a:rPr lang="zh-CN" altLang="zh-CN" b="0" dirty="0"/>
              <a:t>，故</a:t>
            </a:r>
            <a:r>
              <a:rPr lang="en-US" altLang="zh-CN" b="0" dirty="0"/>
              <a:t>C</a:t>
            </a:r>
            <a:r>
              <a:rPr lang="zh-CN" altLang="zh-CN" b="0" dirty="0"/>
              <a:t>的平衡因子为</a:t>
            </a:r>
            <a:r>
              <a:rPr lang="en-US" altLang="zh-CN" b="0" dirty="0"/>
              <a:t>0</a:t>
            </a:r>
            <a:r>
              <a:rPr lang="zh-CN" altLang="zh-CN" b="0" dirty="0"/>
              <a:t>。</a:t>
            </a:r>
          </a:p>
          <a:p>
            <a:r>
              <a:rPr lang="en-US" altLang="zh-CN" b="0" dirty="0"/>
              <a:t>	(2) </a:t>
            </a:r>
            <a:r>
              <a:rPr lang="zh-CN" altLang="zh-CN" b="0" dirty="0"/>
              <a:t>若旋转前</a:t>
            </a:r>
            <a:r>
              <a:rPr lang="en-US" altLang="zh-CN" b="0" dirty="0"/>
              <a:t>C</a:t>
            </a:r>
            <a:r>
              <a:rPr lang="zh-CN" altLang="zh-CN" b="0" dirty="0"/>
              <a:t>的平衡因子为</a:t>
            </a:r>
            <a:r>
              <a:rPr lang="en-US" altLang="zh-CN" b="0" dirty="0"/>
              <a:t>-1</a:t>
            </a:r>
            <a:r>
              <a:rPr lang="zh-CN" altLang="zh-CN" b="0" dirty="0"/>
              <a:t>，同理，可以求出旋转后</a:t>
            </a:r>
            <a:r>
              <a:rPr lang="en-US" altLang="zh-CN" b="0" dirty="0"/>
              <a:t>A</a:t>
            </a:r>
            <a:r>
              <a:rPr lang="zh-CN" altLang="zh-CN" b="0" dirty="0"/>
              <a:t>的平衡因子为</a:t>
            </a:r>
            <a:r>
              <a:rPr lang="en-US" altLang="zh-CN" b="0" dirty="0"/>
              <a:t>1</a:t>
            </a:r>
            <a:r>
              <a:rPr lang="zh-CN" altLang="zh-CN" b="0" dirty="0"/>
              <a:t>，</a:t>
            </a:r>
            <a:r>
              <a:rPr lang="en-US" altLang="zh-CN" b="0" dirty="0"/>
              <a:t>B</a:t>
            </a:r>
            <a:r>
              <a:rPr lang="zh-CN" altLang="zh-CN" b="0" dirty="0"/>
              <a:t>的平衡因子为</a:t>
            </a:r>
            <a:r>
              <a:rPr lang="en-US" altLang="zh-CN" b="0" dirty="0"/>
              <a:t>0</a:t>
            </a:r>
            <a:r>
              <a:rPr lang="zh-CN" altLang="zh-CN" b="0" dirty="0"/>
              <a:t>，</a:t>
            </a:r>
            <a:r>
              <a:rPr lang="en-US" altLang="zh-CN" b="0" dirty="0"/>
              <a:t>C</a:t>
            </a:r>
            <a:r>
              <a:rPr lang="zh-CN" altLang="zh-CN" b="0" dirty="0"/>
              <a:t>的平衡因子为</a:t>
            </a:r>
            <a:r>
              <a:rPr lang="en-US" altLang="zh-CN" b="0" dirty="0"/>
              <a:t>0</a:t>
            </a:r>
            <a:r>
              <a:rPr lang="zh-CN" altLang="zh-CN" b="0" dirty="0"/>
              <a:t>。</a:t>
            </a:r>
          </a:p>
          <a:p>
            <a:r>
              <a:rPr lang="en-US" altLang="zh-CN" b="0" dirty="0"/>
              <a:t>	(3) </a:t>
            </a:r>
            <a:r>
              <a:rPr lang="zh-CN" altLang="zh-CN" b="0" dirty="0"/>
              <a:t>若旋转前</a:t>
            </a:r>
            <a:r>
              <a:rPr lang="en-US" altLang="zh-CN" b="0" dirty="0"/>
              <a:t>C</a:t>
            </a:r>
            <a:r>
              <a:rPr lang="zh-CN" altLang="zh-CN" b="0" dirty="0"/>
              <a:t>的平衡因子为</a:t>
            </a:r>
            <a:r>
              <a:rPr lang="en-US" altLang="zh-CN" b="0" dirty="0"/>
              <a:t>0</a:t>
            </a:r>
            <a:r>
              <a:rPr lang="zh-CN" altLang="zh-CN" b="0" dirty="0"/>
              <a:t>，同理，根据前面求出的各子树的深度可以求出旋转后</a:t>
            </a:r>
            <a:r>
              <a:rPr lang="en-US" altLang="zh-CN" b="0" dirty="0"/>
              <a:t>A</a:t>
            </a:r>
            <a:r>
              <a:rPr lang="zh-CN" altLang="zh-CN" b="0" dirty="0"/>
              <a:t>、</a:t>
            </a:r>
            <a:r>
              <a:rPr lang="en-US" altLang="zh-CN" b="0" dirty="0"/>
              <a:t>B</a:t>
            </a:r>
            <a:r>
              <a:rPr lang="zh-CN" altLang="zh-CN" b="0" dirty="0"/>
              <a:t>、</a:t>
            </a:r>
            <a:r>
              <a:rPr lang="en-US" altLang="zh-CN" b="0" dirty="0"/>
              <a:t>C</a:t>
            </a:r>
            <a:r>
              <a:rPr lang="zh-CN" altLang="zh-CN" b="0" dirty="0"/>
              <a:t>的平衡因子均为</a:t>
            </a:r>
            <a:r>
              <a:rPr lang="en-US" altLang="zh-CN" b="0" dirty="0"/>
              <a:t>0</a:t>
            </a:r>
            <a:r>
              <a:rPr lang="zh-CN" altLang="zh-CN" b="0" dirty="0"/>
              <a:t>。</a:t>
            </a:r>
          </a:p>
          <a:p>
            <a:endParaRPr lang="zh-CN" altLang="en-US" b="0" dirty="0"/>
          </a:p>
        </p:txBody>
      </p:sp>
    </p:spTree>
    <p:extLst>
      <p:ext uri="{BB962C8B-B14F-4D97-AF65-F5344CB8AC3E}">
        <p14:creationId xmlns:p14="http://schemas.microsoft.com/office/powerpoint/2010/main" val="9429328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137253"/>
            <a:ext cx="8519542"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3277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5.6.3 </a:t>
            </a:r>
            <a:r>
              <a:rPr lang="zh-CN" altLang="zh-CN" b="1" dirty="0"/>
              <a:t>平衡二叉树的插入</a:t>
            </a:r>
            <a:endParaRPr lang="zh-CN" altLang="en-US" dirty="0"/>
          </a:p>
        </p:txBody>
      </p:sp>
      <p:sp>
        <p:nvSpPr>
          <p:cNvPr id="3" name="内容占位符 2"/>
          <p:cNvSpPr>
            <a:spLocks noGrp="1"/>
          </p:cNvSpPr>
          <p:nvPr>
            <p:ph idx="1"/>
          </p:nvPr>
        </p:nvSpPr>
        <p:spPr>
          <a:xfrm>
            <a:off x="323528" y="1628800"/>
            <a:ext cx="8136904" cy="3579849"/>
          </a:xfrm>
        </p:spPr>
        <p:txBody>
          <a:bodyPr/>
          <a:lstStyle/>
          <a:p>
            <a:r>
              <a:rPr lang="en-US" altLang="zh-CN" b="0" dirty="0"/>
              <a:t>	</a:t>
            </a:r>
            <a:r>
              <a:rPr lang="zh-CN" altLang="zh-CN" b="0" dirty="0"/>
              <a:t>如图</a:t>
            </a:r>
            <a:r>
              <a:rPr lang="en-US" altLang="zh-CN" b="0" dirty="0"/>
              <a:t>5-38</a:t>
            </a:r>
            <a:r>
              <a:rPr lang="zh-CN" altLang="zh-CN" b="0" dirty="0"/>
              <a:t>所示，按照关键值序列</a:t>
            </a:r>
            <a:r>
              <a:rPr lang="en-US" altLang="zh-CN" b="0" dirty="0"/>
              <a:t>(3, 10, 24, 65, 32)</a:t>
            </a:r>
            <a:r>
              <a:rPr lang="zh-CN" altLang="zh-CN" b="0" dirty="0"/>
              <a:t>依次插入结点构造平衡二叉树。</a:t>
            </a:r>
            <a:endParaRPr lang="zh-CN" altLang="en-US" b="0" dirty="0"/>
          </a:p>
        </p:txBody>
      </p:sp>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2492896"/>
            <a:ext cx="5035874"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25883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848872" cy="5112568"/>
          </a:xfrm>
        </p:spPr>
        <p:txBody>
          <a:bodyPr>
            <a:normAutofit/>
          </a:bodyPr>
          <a:lstStyle/>
          <a:p>
            <a:r>
              <a:rPr lang="en-US" altLang="zh-CN" b="0" dirty="0"/>
              <a:t>	</a:t>
            </a:r>
            <a:r>
              <a:rPr lang="zh-CN" altLang="zh-CN" b="0" dirty="0"/>
              <a:t>在平衡二叉树上插入结点的大致步骤如下：</a:t>
            </a:r>
          </a:p>
          <a:p>
            <a:r>
              <a:rPr lang="en-US" altLang="zh-CN" b="0" dirty="0"/>
              <a:t>	(1) </a:t>
            </a:r>
            <a:r>
              <a:rPr lang="zh-CN" altLang="zh-CN" b="0" dirty="0"/>
              <a:t>按照二叉查找树的插入方法，找到插入新元素的位置</a:t>
            </a:r>
            <a:r>
              <a:rPr lang="zh-CN" altLang="en-US" b="0" dirty="0"/>
              <a:t>。</a:t>
            </a:r>
            <a:endParaRPr lang="en-US" altLang="zh-CN" b="0" dirty="0"/>
          </a:p>
          <a:p>
            <a:r>
              <a:rPr lang="en-US" altLang="zh-CN" b="0" dirty="0"/>
              <a:t>	(2) </a:t>
            </a:r>
            <a:r>
              <a:rPr lang="zh-CN" altLang="zh-CN" b="0" dirty="0"/>
              <a:t>修改从新插入结点</a:t>
            </a:r>
            <a:r>
              <a:rPr lang="zh-CN" altLang="en-US" b="0" dirty="0"/>
              <a:t>到根结点</a:t>
            </a:r>
            <a:r>
              <a:rPr lang="zh-CN" altLang="zh-CN" b="0" dirty="0"/>
              <a:t>路径上的所有</a:t>
            </a:r>
            <a:r>
              <a:rPr lang="zh-CN" altLang="en-US" b="0" dirty="0"/>
              <a:t>祖先</a:t>
            </a:r>
            <a:r>
              <a:rPr lang="zh-CN" altLang="zh-CN" b="0" dirty="0"/>
              <a:t>结点的平衡因子。</a:t>
            </a:r>
          </a:p>
          <a:p>
            <a:r>
              <a:rPr lang="en-US" altLang="zh-CN" b="0" dirty="0"/>
              <a:t>	(3) </a:t>
            </a:r>
            <a:r>
              <a:rPr lang="zh-CN" altLang="zh-CN" b="0" dirty="0"/>
              <a:t>判断是否产生不平衡，若</a:t>
            </a:r>
            <a:r>
              <a:rPr lang="en-US" altLang="zh-CN" b="0" dirty="0"/>
              <a:t>A</a:t>
            </a:r>
            <a:r>
              <a:rPr lang="zh-CN" altLang="en-US" b="0" dirty="0"/>
              <a:t>结点</a:t>
            </a:r>
            <a:r>
              <a:rPr lang="zh-CN" altLang="zh-CN" b="0" dirty="0"/>
              <a:t>不平衡，则确定</a:t>
            </a:r>
            <a:r>
              <a:rPr lang="en-US" altLang="zh-CN" b="0" dirty="0"/>
              <a:t>A</a:t>
            </a:r>
            <a:r>
              <a:rPr lang="zh-CN" altLang="zh-CN" b="0" dirty="0"/>
              <a:t>的不平衡类型并执行相应的旋转处理，根据旋转需要修改相应的平衡因子。</a:t>
            </a:r>
            <a:r>
              <a:rPr lang="zh-CN" altLang="en-US" b="0" dirty="0"/>
              <a:t>然后，插入过程结束。</a:t>
            </a:r>
            <a:endParaRPr lang="en-US" altLang="zh-CN" b="0" dirty="0"/>
          </a:p>
          <a:p>
            <a:r>
              <a:rPr lang="en-US" altLang="zh-CN" b="0" dirty="0"/>
              <a:t>	(4) </a:t>
            </a:r>
            <a:r>
              <a:rPr lang="zh-CN" altLang="en-US" b="0" dirty="0"/>
              <a:t>若逆向到根结点均未发现不平衡，则插入结束。</a:t>
            </a:r>
            <a:endParaRPr lang="zh-CN" altLang="zh-CN" b="0" dirty="0"/>
          </a:p>
          <a:p>
            <a:endParaRPr lang="zh-CN" altLang="en-US" b="0" dirty="0"/>
          </a:p>
        </p:txBody>
      </p:sp>
    </p:spTree>
    <p:extLst>
      <p:ext uri="{BB962C8B-B14F-4D97-AF65-F5344CB8AC3E}">
        <p14:creationId xmlns:p14="http://schemas.microsoft.com/office/powerpoint/2010/main" val="9452077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5.6.4 </a:t>
            </a:r>
            <a:r>
              <a:rPr lang="zh-CN" altLang="zh-CN" b="1" dirty="0"/>
              <a:t>平衡二叉树的删除</a:t>
            </a:r>
            <a:endParaRPr lang="zh-CN" altLang="en-US" dirty="0"/>
          </a:p>
        </p:txBody>
      </p:sp>
      <p:sp>
        <p:nvSpPr>
          <p:cNvPr id="3" name="内容占位符 2"/>
          <p:cNvSpPr>
            <a:spLocks noGrp="1"/>
          </p:cNvSpPr>
          <p:nvPr>
            <p:ph idx="1"/>
          </p:nvPr>
        </p:nvSpPr>
        <p:spPr>
          <a:xfrm>
            <a:off x="785786" y="1428736"/>
            <a:ext cx="7562738" cy="4808576"/>
          </a:xfrm>
        </p:spPr>
        <p:txBody>
          <a:bodyPr>
            <a:normAutofit fontScale="92500" lnSpcReduction="20000"/>
          </a:bodyPr>
          <a:lstStyle/>
          <a:p>
            <a:r>
              <a:rPr lang="zh-CN" altLang="zh-CN" dirty="0">
                <a:solidFill>
                  <a:srgbClr val="FF0000"/>
                </a:solidFill>
              </a:rPr>
              <a:t>基本思想：</a:t>
            </a:r>
          </a:p>
          <a:p>
            <a:r>
              <a:rPr lang="en-US" altLang="zh-CN" b="0" dirty="0"/>
              <a:t>	(1) </a:t>
            </a:r>
            <a:r>
              <a:rPr lang="zh-CN" altLang="zh-CN" b="0" dirty="0"/>
              <a:t>使用二叉查找树</a:t>
            </a:r>
            <a:r>
              <a:rPr lang="zh-CN" altLang="en-US" b="0" dirty="0"/>
              <a:t>的</a:t>
            </a:r>
            <a:r>
              <a:rPr lang="zh-CN" altLang="zh-CN" b="0" dirty="0"/>
              <a:t>删除操作</a:t>
            </a:r>
            <a:r>
              <a:rPr lang="zh-CN" altLang="zh-CN" dirty="0"/>
              <a:t>找到要删除的结点并删除</a:t>
            </a:r>
            <a:r>
              <a:rPr lang="zh-CN" altLang="zh-CN" b="0" dirty="0"/>
              <a:t>；</a:t>
            </a:r>
          </a:p>
          <a:p>
            <a:r>
              <a:rPr lang="en-US" altLang="zh-CN" b="0" dirty="0"/>
              <a:t>	(2) </a:t>
            </a:r>
            <a:r>
              <a:rPr lang="zh-CN" altLang="zh-CN" b="0" dirty="0"/>
              <a:t>沿被删除结点的</a:t>
            </a:r>
            <a:r>
              <a:rPr lang="zh-CN" altLang="en-US" b="0" dirty="0"/>
              <a:t>双亲结点</a:t>
            </a:r>
            <a:r>
              <a:rPr lang="zh-CN" altLang="zh-CN" b="0" dirty="0"/>
              <a:t>到根结点的路径逐层向上回溯，并</a:t>
            </a:r>
            <a:r>
              <a:rPr lang="zh-CN" altLang="zh-CN" dirty="0"/>
              <a:t>追踪平衡因子的变化</a:t>
            </a:r>
            <a:r>
              <a:rPr lang="zh-CN" altLang="zh-CN" b="0" dirty="0"/>
              <a:t>；</a:t>
            </a:r>
          </a:p>
          <a:p>
            <a:r>
              <a:rPr lang="en-US" altLang="zh-CN" b="0" dirty="0"/>
              <a:t>	(3) </a:t>
            </a:r>
            <a:r>
              <a:rPr lang="zh-CN" altLang="zh-CN" b="0" dirty="0"/>
              <a:t>回溯过程中，一旦发现被删除结点的某个祖先失衡，就要应用平衡化旋转以恢复平衡性</a:t>
            </a:r>
            <a:r>
              <a:rPr lang="zh-CN" altLang="en-US" b="0" dirty="0"/>
              <a:t>。即</a:t>
            </a:r>
            <a:r>
              <a:rPr lang="zh-CN" altLang="en-US" dirty="0">
                <a:solidFill>
                  <a:srgbClr val="0000FF"/>
                </a:solidFill>
              </a:rPr>
              <a:t>左子树删除要调整右子树，右子树删除要调整左子树</a:t>
            </a:r>
            <a:r>
              <a:rPr lang="zh-CN" altLang="en-US" b="0" dirty="0"/>
              <a:t>。</a:t>
            </a:r>
            <a:endParaRPr lang="zh-CN" altLang="zh-CN" b="0" dirty="0"/>
          </a:p>
          <a:p>
            <a:r>
              <a:rPr lang="en-US" altLang="zh-CN" b="0" dirty="0"/>
              <a:t>	(4) </a:t>
            </a:r>
            <a:r>
              <a:rPr lang="zh-CN" altLang="en-US" b="0" dirty="0"/>
              <a:t>继续逆向到根调整平衡因子，</a:t>
            </a:r>
            <a:r>
              <a:rPr lang="zh-CN" altLang="en-US" dirty="0"/>
              <a:t>若未发现失衡结点</a:t>
            </a:r>
            <a:r>
              <a:rPr lang="zh-CN" altLang="zh-CN" dirty="0"/>
              <a:t>，</a:t>
            </a:r>
            <a:r>
              <a:rPr lang="zh-CN" altLang="en-US" dirty="0"/>
              <a:t>则结束删除算法</a:t>
            </a:r>
            <a:r>
              <a:rPr lang="zh-CN" altLang="zh-CN" dirty="0"/>
              <a:t>。</a:t>
            </a:r>
          </a:p>
          <a:p>
            <a:r>
              <a:rPr lang="en-US" altLang="zh-CN" dirty="0">
                <a:sym typeface="Webdings"/>
              </a:rPr>
              <a:t></a:t>
            </a:r>
            <a:r>
              <a:rPr lang="zh-CN" altLang="zh-CN" dirty="0">
                <a:solidFill>
                  <a:srgbClr val="FF0000"/>
                </a:solidFill>
              </a:rPr>
              <a:t>结论：</a:t>
            </a:r>
          </a:p>
          <a:p>
            <a:r>
              <a:rPr lang="en-US" altLang="zh-CN" dirty="0"/>
              <a:t>	</a:t>
            </a:r>
            <a:r>
              <a:rPr lang="zh-CN" altLang="zh-CN" dirty="0"/>
              <a:t>在平衡二叉树上删除一个结点后，为了恢复平衡性可能需要多次平衡化旋转处理。</a:t>
            </a:r>
          </a:p>
        </p:txBody>
      </p:sp>
    </p:spTree>
    <p:extLst>
      <p:ext uri="{BB962C8B-B14F-4D97-AF65-F5344CB8AC3E}">
        <p14:creationId xmlns:p14="http://schemas.microsoft.com/office/powerpoint/2010/main" val="3373991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30559"/>
            <a:ext cx="7520940" cy="1008112"/>
          </a:xfrm>
        </p:spPr>
        <p:txBody>
          <a:bodyPr/>
          <a:lstStyle/>
          <a:p>
            <a:r>
              <a:rPr lang="en-US" altLang="zh-CN" b="0" dirty="0"/>
              <a:t>	</a:t>
            </a:r>
            <a:r>
              <a:rPr lang="zh-CN" altLang="zh-CN" b="0" dirty="0"/>
              <a:t>图</a:t>
            </a:r>
            <a:r>
              <a:rPr lang="en-US" altLang="zh-CN" b="0" dirty="0"/>
              <a:t>5-39</a:t>
            </a:r>
            <a:r>
              <a:rPr lang="zh-CN" altLang="zh-CN" b="0" dirty="0"/>
              <a:t>为在图</a:t>
            </a:r>
            <a:r>
              <a:rPr lang="en-US" altLang="zh-CN" b="0" dirty="0"/>
              <a:t>5-39(a)</a:t>
            </a:r>
            <a:r>
              <a:rPr lang="zh-CN" altLang="zh-CN" b="0" dirty="0"/>
              <a:t>所示平衡二叉树上删除关键值为</a:t>
            </a:r>
            <a:r>
              <a:rPr lang="en-US" altLang="zh-CN" b="0" dirty="0"/>
              <a:t>25</a:t>
            </a:r>
            <a:r>
              <a:rPr lang="zh-CN" altLang="zh-CN" b="0" dirty="0"/>
              <a:t>的结点的过程：</a:t>
            </a:r>
            <a:endParaRPr lang="zh-CN" altLang="en-US" b="0" dirty="0"/>
          </a:p>
        </p:txBody>
      </p:sp>
      <p:pic>
        <p:nvPicPr>
          <p:cNvPr id="389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5984" y="1785926"/>
            <a:ext cx="5276638" cy="4023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42853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968552"/>
          </a:xfrm>
        </p:spPr>
        <p:txBody>
          <a:bodyPr>
            <a:normAutofit/>
          </a:bodyPr>
          <a:lstStyle/>
          <a:p>
            <a:r>
              <a:rPr lang="en-US" altLang="zh-CN" b="0" dirty="0"/>
              <a:t>	</a:t>
            </a:r>
            <a:r>
              <a:rPr lang="zh-CN" altLang="zh-CN" b="0" dirty="0"/>
              <a:t>从左子树删除和右子树删除是对称的，设</a:t>
            </a:r>
            <a:r>
              <a:rPr lang="en-US" altLang="zh-CN" b="0" dirty="0"/>
              <a:t>B</a:t>
            </a:r>
            <a:r>
              <a:rPr lang="zh-CN" altLang="zh-CN" b="0" dirty="0"/>
              <a:t>为</a:t>
            </a:r>
            <a:r>
              <a:rPr lang="en-US" altLang="zh-CN" b="0" dirty="0"/>
              <a:t>A</a:t>
            </a:r>
            <a:r>
              <a:rPr lang="zh-CN" altLang="zh-CN" b="0" dirty="0"/>
              <a:t>的右孩子，以从结点</a:t>
            </a:r>
            <a:r>
              <a:rPr lang="en-US" altLang="zh-CN" b="0" dirty="0"/>
              <a:t>A</a:t>
            </a:r>
            <a:r>
              <a:rPr lang="zh-CN" altLang="zh-CN" b="0" dirty="0"/>
              <a:t>的</a:t>
            </a:r>
            <a:r>
              <a:rPr lang="zh-CN" altLang="zh-CN" dirty="0"/>
              <a:t>左子树删除结点导致其左子树高度降低</a:t>
            </a:r>
            <a:r>
              <a:rPr lang="zh-CN" altLang="zh-CN" b="0" dirty="0"/>
              <a:t>为例，分为以下</a:t>
            </a:r>
            <a:r>
              <a:rPr lang="zh-CN" altLang="zh-CN" dirty="0">
                <a:solidFill>
                  <a:srgbClr val="FF0000"/>
                </a:solidFill>
              </a:rPr>
              <a:t>三种情况进行分析：</a:t>
            </a:r>
          </a:p>
          <a:p>
            <a:r>
              <a:rPr lang="en-US" altLang="zh-CN" b="0" dirty="0">
                <a:solidFill>
                  <a:srgbClr val="FF0000"/>
                </a:solidFill>
              </a:rPr>
              <a:t>1. A</a:t>
            </a:r>
            <a:r>
              <a:rPr lang="zh-CN" altLang="zh-CN" b="0" dirty="0">
                <a:solidFill>
                  <a:srgbClr val="FF0000"/>
                </a:solidFill>
              </a:rPr>
              <a:t>的右子树右高情况，即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-1</a:t>
            </a:r>
            <a:r>
              <a:rPr lang="zh-CN" altLang="zh-CN" b="0" dirty="0">
                <a:solidFill>
                  <a:srgbClr val="FF0000"/>
                </a:solidFill>
              </a:rPr>
              <a:t>。</a:t>
            </a:r>
            <a:r>
              <a:rPr lang="zh-CN" altLang="zh-CN" b="0" dirty="0"/>
              <a:t>在结点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，从而使得以结点</a:t>
            </a:r>
            <a:r>
              <a:rPr lang="en-US" altLang="zh-CN" b="0" dirty="0"/>
              <a:t>A</a:t>
            </a:r>
            <a:r>
              <a:rPr lang="zh-CN" altLang="zh-CN" b="0" dirty="0"/>
              <a:t>为根的子树失去平衡。这种情况下只需要进行一次逆时针旋转即可，旋转后结点</a:t>
            </a:r>
            <a:r>
              <a:rPr lang="en-US" altLang="zh-CN" b="0" dirty="0"/>
              <a:t>A</a:t>
            </a:r>
            <a:r>
              <a:rPr lang="zh-CN" altLang="zh-CN" b="0" dirty="0"/>
              <a:t>和</a:t>
            </a:r>
            <a:r>
              <a:rPr lang="en-US" altLang="zh-CN" b="0" dirty="0"/>
              <a:t>B</a:t>
            </a:r>
            <a:r>
              <a:rPr lang="zh-CN" altLang="zh-CN" b="0" dirty="0"/>
              <a:t>的平衡因子均变为</a:t>
            </a:r>
            <a:r>
              <a:rPr lang="en-US" altLang="zh-CN" b="0" dirty="0"/>
              <a:t>0</a:t>
            </a:r>
            <a:r>
              <a:rPr lang="zh-CN" altLang="zh-CN" b="0" dirty="0"/>
              <a:t>，其他结点的平衡因子不变，如图</a:t>
            </a:r>
            <a:r>
              <a:rPr lang="en-US" altLang="zh-CN" b="0" dirty="0"/>
              <a:t>5-40</a:t>
            </a:r>
            <a:r>
              <a:rPr lang="zh-CN" altLang="zh-CN" b="0" dirty="0"/>
              <a:t>所示。</a:t>
            </a:r>
          </a:p>
          <a:p>
            <a:endParaRPr lang="zh-CN" altLang="en-US" b="0" dirty="0"/>
          </a:p>
        </p:txBody>
      </p:sp>
    </p:spTree>
    <p:extLst>
      <p:ext uri="{BB962C8B-B14F-4D97-AF65-F5344CB8AC3E}">
        <p14:creationId xmlns:p14="http://schemas.microsoft.com/office/powerpoint/2010/main" val="11257478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1484784"/>
            <a:ext cx="7953375" cy="425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05112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a:solidFill>
                  <a:srgbClr val="FF0000"/>
                </a:solidFill>
              </a:rPr>
              <a:t>2. A</a:t>
            </a:r>
            <a:r>
              <a:rPr lang="zh-CN" altLang="zh-CN" b="0" dirty="0">
                <a:solidFill>
                  <a:srgbClr val="FF0000"/>
                </a:solidFill>
              </a:rPr>
              <a:t>的右子树等高情况，即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0</a:t>
            </a:r>
            <a:r>
              <a:rPr lang="zh-CN" altLang="zh-CN" b="0" dirty="0">
                <a:solidFill>
                  <a:srgbClr val="FF0000"/>
                </a:solidFill>
              </a:rPr>
              <a:t>。</a:t>
            </a:r>
            <a:r>
              <a:rPr lang="zh-CN" altLang="zh-CN" b="0" dirty="0"/>
              <a:t>在结点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，以结点</a:t>
            </a:r>
            <a:r>
              <a:rPr lang="en-US" altLang="zh-CN" b="0" dirty="0"/>
              <a:t>A</a:t>
            </a:r>
            <a:r>
              <a:rPr lang="zh-CN" altLang="zh-CN" b="0" dirty="0"/>
              <a:t>为根的子树失去平衡。这种情况与右子树右高情况类似，只需进行一次逆时针旋转即可，旋转后结点</a:t>
            </a:r>
            <a:r>
              <a:rPr lang="en-US" altLang="zh-CN" b="0" dirty="0"/>
              <a:t>A</a:t>
            </a:r>
            <a:r>
              <a:rPr lang="zh-CN" altLang="zh-CN" b="0" dirty="0"/>
              <a:t>的平衡因子变为</a:t>
            </a:r>
            <a:r>
              <a:rPr lang="en-US" altLang="zh-CN" b="0" dirty="0"/>
              <a:t>-1</a:t>
            </a:r>
            <a:r>
              <a:rPr lang="zh-CN" altLang="zh-CN" b="0" dirty="0"/>
              <a:t>，其右孩子</a:t>
            </a:r>
            <a:r>
              <a:rPr lang="en-US" altLang="zh-CN" b="0" dirty="0"/>
              <a:t>B</a:t>
            </a:r>
            <a:r>
              <a:rPr lang="zh-CN" altLang="zh-CN" b="0" dirty="0"/>
              <a:t>的平衡因子变为</a:t>
            </a:r>
            <a:r>
              <a:rPr lang="en-US" altLang="zh-CN" b="0" dirty="0"/>
              <a:t>1</a:t>
            </a:r>
            <a:r>
              <a:rPr lang="zh-CN" altLang="zh-CN" b="0" dirty="0"/>
              <a:t>，其他结点的平衡因子不变，如图</a:t>
            </a:r>
            <a:r>
              <a:rPr lang="en-US" altLang="zh-CN" b="0" dirty="0"/>
              <a:t>5-41</a:t>
            </a:r>
            <a:r>
              <a:rPr lang="zh-CN" altLang="zh-CN" b="0" dirty="0"/>
              <a:t>所示。</a:t>
            </a:r>
            <a:endParaRPr lang="zh-CN" altLang="en-US" b="0" dirty="0"/>
          </a:p>
        </p:txBody>
      </p:sp>
    </p:spTree>
    <p:extLst>
      <p:ext uri="{BB962C8B-B14F-4D97-AF65-F5344CB8AC3E}">
        <p14:creationId xmlns:p14="http://schemas.microsoft.com/office/powerpoint/2010/main" val="138627764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8163" y="1281113"/>
            <a:ext cx="8067675" cy="429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15087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632848" cy="4248472"/>
          </a:xfrm>
        </p:spPr>
        <p:txBody>
          <a:bodyPr>
            <a:normAutofit fontScale="92500" lnSpcReduction="10000"/>
          </a:bodyPr>
          <a:lstStyle/>
          <a:p>
            <a:r>
              <a:rPr lang="en-US" altLang="zh-CN" b="0" dirty="0">
                <a:solidFill>
                  <a:srgbClr val="FF0000"/>
                </a:solidFill>
              </a:rPr>
              <a:t>3. A</a:t>
            </a:r>
            <a:r>
              <a:rPr lang="zh-CN" altLang="zh-CN" b="0" dirty="0">
                <a:solidFill>
                  <a:srgbClr val="FF0000"/>
                </a:solidFill>
              </a:rPr>
              <a:t>的右子树左高情况，即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1</a:t>
            </a:r>
            <a:r>
              <a:rPr lang="zh-CN" altLang="zh-CN" b="0" dirty="0">
                <a:solidFill>
                  <a:srgbClr val="FF0000"/>
                </a:solidFill>
              </a:rPr>
              <a:t>。</a:t>
            </a:r>
            <a:endParaRPr lang="en-US" altLang="zh-CN" b="0" dirty="0">
              <a:solidFill>
                <a:srgbClr val="FF0000"/>
              </a:solidFill>
            </a:endParaRPr>
          </a:p>
          <a:p>
            <a:r>
              <a:rPr lang="en-US" altLang="zh-CN" b="0" dirty="0">
                <a:solidFill>
                  <a:srgbClr val="FF0000"/>
                </a:solidFill>
              </a:rPr>
              <a:t>      	</a:t>
            </a:r>
            <a:r>
              <a:rPr lang="zh-CN" altLang="zh-CN" b="0" dirty="0"/>
              <a:t>在结点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，以结点</a:t>
            </a:r>
            <a:r>
              <a:rPr lang="en-US" altLang="zh-CN" b="0" dirty="0"/>
              <a:t>A</a:t>
            </a:r>
            <a:r>
              <a:rPr lang="zh-CN" altLang="zh-CN" b="0" dirty="0"/>
              <a:t>为根的子树失去平衡。这种情况需要做两次旋转，先将以</a:t>
            </a:r>
            <a:r>
              <a:rPr lang="en-US" altLang="zh-CN" b="0" dirty="0"/>
              <a:t>B</a:t>
            </a:r>
            <a:r>
              <a:rPr lang="zh-CN" altLang="zh-CN" b="0" dirty="0"/>
              <a:t>为根的子树顺时针旋转为以</a:t>
            </a:r>
            <a:r>
              <a:rPr lang="en-US" altLang="zh-CN" b="0" dirty="0"/>
              <a:t>C</a:t>
            </a:r>
            <a:r>
              <a:rPr lang="zh-CN" altLang="zh-CN" b="0" dirty="0"/>
              <a:t>为根，再以</a:t>
            </a:r>
            <a:r>
              <a:rPr lang="en-US" altLang="zh-CN" b="0" dirty="0"/>
              <a:t>A</a:t>
            </a:r>
            <a:r>
              <a:rPr lang="zh-CN" altLang="zh-CN" b="0" dirty="0"/>
              <a:t>进行一次逆时针旋转。需要注意的是，这种情况下</a:t>
            </a:r>
            <a:r>
              <a:rPr lang="en-US" altLang="zh-CN" b="0" dirty="0"/>
              <a:t>B</a:t>
            </a:r>
            <a:r>
              <a:rPr lang="zh-CN" altLang="zh-CN" b="0" dirty="0"/>
              <a:t>的左孩子</a:t>
            </a:r>
            <a:r>
              <a:rPr lang="en-US" altLang="zh-CN" b="0" dirty="0"/>
              <a:t>C</a:t>
            </a:r>
            <a:r>
              <a:rPr lang="zh-CN" altLang="zh-CN" b="0" dirty="0"/>
              <a:t>有三种可能的平衡因子：</a:t>
            </a:r>
            <a:r>
              <a:rPr lang="en-US" altLang="zh-CN" b="0" dirty="0"/>
              <a:t>1</a:t>
            </a:r>
            <a:r>
              <a:rPr lang="zh-CN" altLang="zh-CN" b="0" dirty="0"/>
              <a:t>，</a:t>
            </a:r>
            <a:r>
              <a:rPr lang="en-US" altLang="zh-CN" b="0" dirty="0"/>
              <a:t>-1</a:t>
            </a:r>
            <a:r>
              <a:rPr lang="zh-CN" altLang="zh-CN" b="0" dirty="0"/>
              <a:t>和</a:t>
            </a:r>
            <a:r>
              <a:rPr lang="en-US" altLang="zh-CN" b="0" dirty="0"/>
              <a:t>0</a:t>
            </a:r>
            <a:r>
              <a:rPr lang="zh-CN" altLang="zh-CN" b="0" dirty="0"/>
              <a:t>。</a:t>
            </a:r>
          </a:p>
          <a:p>
            <a:r>
              <a:rPr lang="en-US" altLang="zh-CN" b="0" dirty="0"/>
              <a:t>		</a:t>
            </a:r>
            <a:r>
              <a:rPr lang="zh-CN" altLang="zh-CN" b="0" dirty="0"/>
              <a:t>当</a:t>
            </a:r>
            <a:r>
              <a:rPr lang="en-US" altLang="zh-CN" b="0" dirty="0"/>
              <a:t>C</a:t>
            </a:r>
            <a:r>
              <a:rPr lang="zh-CN" altLang="zh-CN" b="0" dirty="0"/>
              <a:t>的平衡因子为</a:t>
            </a:r>
            <a:r>
              <a:rPr lang="en-US" altLang="zh-CN" b="0" dirty="0"/>
              <a:t>1</a:t>
            </a:r>
            <a:r>
              <a:rPr lang="zh-CN" altLang="zh-CN" b="0" dirty="0"/>
              <a:t>时，经过旋转处理后结点</a:t>
            </a:r>
            <a:r>
              <a:rPr lang="en-US" altLang="zh-CN" b="0" dirty="0"/>
              <a:t>A</a:t>
            </a:r>
            <a:r>
              <a:rPr lang="zh-CN" altLang="zh-CN" b="0" dirty="0"/>
              <a:t>的平衡因子变为</a:t>
            </a:r>
            <a:r>
              <a:rPr lang="en-US" altLang="zh-CN" b="0" dirty="0"/>
              <a:t>0</a:t>
            </a:r>
            <a:r>
              <a:rPr lang="zh-CN" altLang="zh-CN" b="0" dirty="0"/>
              <a:t>，其右孩子</a:t>
            </a:r>
            <a:r>
              <a:rPr lang="en-US" altLang="zh-CN" b="0" dirty="0"/>
              <a:t>B</a:t>
            </a:r>
            <a:r>
              <a:rPr lang="zh-CN" altLang="zh-CN" b="0" dirty="0"/>
              <a:t>的平衡因子变为</a:t>
            </a:r>
            <a:r>
              <a:rPr lang="en-US" altLang="zh-CN" b="0" dirty="0"/>
              <a:t>-1</a:t>
            </a:r>
            <a:r>
              <a:rPr lang="zh-CN" altLang="zh-CN" b="0" dirty="0"/>
              <a:t>，</a:t>
            </a:r>
            <a:r>
              <a:rPr lang="en-US" altLang="zh-CN" b="0" dirty="0"/>
              <a:t>C</a:t>
            </a:r>
            <a:r>
              <a:rPr lang="zh-CN" altLang="zh-CN" b="0" dirty="0"/>
              <a:t>的平衡因子变为</a:t>
            </a:r>
            <a:r>
              <a:rPr lang="en-US" altLang="zh-CN" b="0" dirty="0"/>
              <a:t>0</a:t>
            </a:r>
            <a:r>
              <a:rPr lang="zh-CN" altLang="zh-CN" b="0" dirty="0"/>
              <a:t>，如图</a:t>
            </a:r>
            <a:r>
              <a:rPr lang="en-US" altLang="zh-CN" b="0" dirty="0"/>
              <a:t>5-42</a:t>
            </a:r>
            <a:r>
              <a:rPr lang="zh-CN" altLang="zh-CN" b="0" dirty="0"/>
              <a:t>所示。</a:t>
            </a:r>
            <a:endParaRPr lang="zh-CN" altLang="en-US" b="0" dirty="0"/>
          </a:p>
        </p:txBody>
      </p:sp>
    </p:spTree>
    <p:extLst>
      <p:ext uri="{BB962C8B-B14F-4D97-AF65-F5344CB8AC3E}">
        <p14:creationId xmlns:p14="http://schemas.microsoft.com/office/powerpoint/2010/main" val="32766136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1412776"/>
            <a:ext cx="8028895" cy="3966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83169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8"/>
            <a:ext cx="7520940" cy="3579849"/>
          </a:xfrm>
        </p:spPr>
        <p:txBody>
          <a:bodyPr/>
          <a:lstStyle/>
          <a:p>
            <a:r>
              <a:rPr lang="en-US" altLang="zh-CN" b="0" dirty="0"/>
              <a:t>	</a:t>
            </a:r>
            <a:r>
              <a:rPr lang="zh-CN" altLang="zh-CN" b="0" dirty="0"/>
              <a:t>当</a:t>
            </a:r>
            <a:r>
              <a:rPr lang="en-US" altLang="zh-CN" b="0" dirty="0"/>
              <a:t>C</a:t>
            </a:r>
            <a:r>
              <a:rPr lang="zh-CN" altLang="zh-CN" b="0" dirty="0"/>
              <a:t>的平衡因子为</a:t>
            </a:r>
            <a:r>
              <a:rPr lang="en-US" altLang="zh-CN" b="0" dirty="0"/>
              <a:t>-1</a:t>
            </a:r>
            <a:r>
              <a:rPr lang="zh-CN" altLang="zh-CN" b="0" dirty="0"/>
              <a:t>时，经过旋转处理后结点</a:t>
            </a:r>
            <a:r>
              <a:rPr lang="en-US" altLang="zh-CN" b="0" dirty="0"/>
              <a:t>A</a:t>
            </a:r>
            <a:r>
              <a:rPr lang="zh-CN" altLang="zh-CN" b="0" dirty="0"/>
              <a:t>的平衡因子变为</a:t>
            </a:r>
            <a:r>
              <a:rPr lang="en-US" altLang="zh-CN" b="0" dirty="0"/>
              <a:t>1</a:t>
            </a:r>
            <a:r>
              <a:rPr lang="zh-CN" altLang="zh-CN" b="0" dirty="0"/>
              <a:t>，其右孩子</a:t>
            </a:r>
            <a:r>
              <a:rPr lang="en-US" altLang="zh-CN" b="0" dirty="0"/>
              <a:t>B</a:t>
            </a:r>
            <a:r>
              <a:rPr lang="zh-CN" altLang="zh-CN" b="0" dirty="0"/>
              <a:t>的平衡因子变为</a:t>
            </a:r>
            <a:r>
              <a:rPr lang="en-US" altLang="zh-CN" b="0" dirty="0"/>
              <a:t>0</a:t>
            </a:r>
            <a:r>
              <a:rPr lang="zh-CN" altLang="zh-CN" b="0" dirty="0"/>
              <a:t>，</a:t>
            </a:r>
            <a:r>
              <a:rPr lang="en-US" altLang="zh-CN" b="0" dirty="0"/>
              <a:t>C</a:t>
            </a:r>
            <a:r>
              <a:rPr lang="zh-CN" altLang="zh-CN" b="0" dirty="0"/>
              <a:t>的平衡因子变为</a:t>
            </a:r>
            <a:r>
              <a:rPr lang="en-US" altLang="zh-CN" b="0" dirty="0"/>
              <a:t>0</a:t>
            </a:r>
            <a:r>
              <a:rPr lang="zh-CN" altLang="zh-CN" b="0" dirty="0"/>
              <a:t>，如图</a:t>
            </a:r>
            <a:r>
              <a:rPr lang="en-US" altLang="zh-CN" b="0" dirty="0"/>
              <a:t>5-43</a:t>
            </a:r>
            <a:r>
              <a:rPr lang="zh-CN" altLang="zh-CN" b="0" dirty="0"/>
              <a:t>所示。</a:t>
            </a:r>
          </a:p>
          <a:p>
            <a:endParaRPr lang="zh-CN" altLang="en-US"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2485729"/>
            <a:ext cx="6984776" cy="3453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9439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r>
              <a:rPr lang="en-US" altLang="zh-CN" b="0" dirty="0"/>
              <a:t>	</a:t>
            </a:r>
            <a:r>
              <a:rPr lang="zh-CN" altLang="zh-CN" b="0" dirty="0"/>
              <a:t>当</a:t>
            </a:r>
            <a:r>
              <a:rPr lang="en-US" altLang="zh-CN" b="0" dirty="0"/>
              <a:t>C</a:t>
            </a:r>
            <a:r>
              <a:rPr lang="zh-CN" altLang="zh-CN" b="0" dirty="0"/>
              <a:t>的平衡因子为</a:t>
            </a:r>
            <a:r>
              <a:rPr lang="en-US" altLang="zh-CN" b="0" dirty="0"/>
              <a:t>0</a:t>
            </a:r>
            <a:r>
              <a:rPr lang="zh-CN" altLang="zh-CN" b="0" dirty="0"/>
              <a:t>时，经过旋转处理后结点</a:t>
            </a:r>
            <a:r>
              <a:rPr lang="en-US" altLang="zh-CN" b="0" dirty="0"/>
              <a:t>A</a:t>
            </a:r>
            <a:r>
              <a:rPr lang="zh-CN" altLang="zh-CN" b="0" dirty="0"/>
              <a:t>、</a:t>
            </a:r>
            <a:r>
              <a:rPr lang="en-US" altLang="zh-CN" b="0" dirty="0"/>
              <a:t>B</a:t>
            </a:r>
            <a:r>
              <a:rPr lang="zh-CN" altLang="zh-CN" b="0" dirty="0"/>
              <a:t>和</a:t>
            </a:r>
            <a:r>
              <a:rPr lang="en-US" altLang="zh-CN" b="0" dirty="0"/>
              <a:t>C</a:t>
            </a:r>
            <a:r>
              <a:rPr lang="zh-CN" altLang="zh-CN" b="0" dirty="0"/>
              <a:t>的平衡因子都变为</a:t>
            </a:r>
            <a:r>
              <a:rPr lang="en-US" altLang="zh-CN" b="0" dirty="0"/>
              <a:t>0</a:t>
            </a:r>
            <a:r>
              <a:rPr lang="zh-CN" altLang="zh-CN" b="0" dirty="0"/>
              <a:t>，如图</a:t>
            </a:r>
            <a:r>
              <a:rPr lang="en-US" altLang="zh-CN" b="0" dirty="0"/>
              <a:t>5-44</a:t>
            </a:r>
            <a:r>
              <a:rPr lang="zh-CN" altLang="zh-CN" b="0" dirty="0"/>
              <a:t>所示。</a:t>
            </a:r>
          </a:p>
          <a:p>
            <a:endParaRPr lang="zh-CN" altLang="en-US" dirty="0"/>
          </a:p>
        </p:txBody>
      </p:sp>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2060848"/>
            <a:ext cx="7503961"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164559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5.7 </a:t>
            </a:r>
            <a:r>
              <a:rPr lang="zh-CN" altLang="zh-CN" b="1" dirty="0"/>
              <a:t>二叉树应用</a:t>
            </a:r>
            <a:r>
              <a:rPr lang="en-US" altLang="zh-CN" b="1" dirty="0"/>
              <a:t>4</a:t>
            </a:r>
            <a:r>
              <a:rPr lang="zh-CN" altLang="zh-CN" b="1" dirty="0"/>
              <a:t>：堆与优先队列</a:t>
            </a:r>
            <a:endParaRPr lang="zh-CN" altLang="en-US" dirty="0"/>
          </a:p>
        </p:txBody>
      </p:sp>
      <p:sp>
        <p:nvSpPr>
          <p:cNvPr id="3" name="内容占位符 2"/>
          <p:cNvSpPr>
            <a:spLocks noGrp="1"/>
          </p:cNvSpPr>
          <p:nvPr>
            <p:ph idx="1"/>
          </p:nvPr>
        </p:nvSpPr>
        <p:spPr>
          <a:xfrm>
            <a:off x="539552" y="1628800"/>
            <a:ext cx="8424936" cy="4680520"/>
          </a:xfrm>
        </p:spPr>
        <p:txBody>
          <a:bodyPr>
            <a:normAutofit fontScale="92500" lnSpcReduction="10000"/>
          </a:bodyPr>
          <a:lstStyle/>
          <a:p>
            <a:r>
              <a:rPr lang="en-US" altLang="zh-CN" dirty="0"/>
              <a:t>5.7.1 </a:t>
            </a:r>
            <a:r>
              <a:rPr lang="zh-CN" altLang="zh-CN" dirty="0">
                <a:solidFill>
                  <a:srgbClr val="FF0000"/>
                </a:solidFill>
              </a:rPr>
              <a:t>堆与优先队列的定义与实现</a:t>
            </a:r>
            <a:endParaRPr lang="en-US" altLang="zh-CN" dirty="0">
              <a:solidFill>
                <a:srgbClr val="FF0000"/>
              </a:solidFill>
            </a:endParaRPr>
          </a:p>
          <a:p>
            <a:r>
              <a:rPr lang="en-US" altLang="zh-CN" dirty="0"/>
              <a:t>	</a:t>
            </a:r>
            <a:r>
              <a:rPr lang="zh-CN" altLang="zh-CN" b="0" dirty="0"/>
              <a:t>假定每个对象都包含一个关键值，称为对象的优先级，</a:t>
            </a:r>
            <a:r>
              <a:rPr lang="zh-CN" altLang="zh-CN" b="0" dirty="0">
                <a:solidFill>
                  <a:srgbClr val="FF0000"/>
                </a:solidFill>
              </a:rPr>
              <a:t>按照优先级或重要性来组织的对象被称为</a:t>
            </a:r>
            <a:r>
              <a:rPr lang="zh-CN" altLang="zh-CN" dirty="0">
                <a:solidFill>
                  <a:srgbClr val="FF0000"/>
                </a:solidFill>
              </a:rPr>
              <a:t>优先队列</a:t>
            </a:r>
            <a:r>
              <a:rPr lang="en-US" altLang="zh-CN" b="0" dirty="0"/>
              <a:t>(Priority Queue)</a:t>
            </a:r>
            <a:r>
              <a:rPr lang="zh-CN" altLang="zh-CN" b="0" dirty="0"/>
              <a:t>。</a:t>
            </a:r>
            <a:endParaRPr lang="en-US" altLang="zh-CN" b="0" dirty="0"/>
          </a:p>
          <a:p>
            <a:r>
              <a:rPr lang="en-US" altLang="zh-CN" b="0" dirty="0"/>
              <a:t>	</a:t>
            </a:r>
            <a:r>
              <a:rPr lang="zh-CN" altLang="zh-CN" b="0" dirty="0"/>
              <a:t>优先队列可以通过几种已经介绍过的数据结构实现：</a:t>
            </a:r>
          </a:p>
          <a:p>
            <a:r>
              <a:rPr lang="en-US" altLang="zh-CN" b="0" dirty="0"/>
              <a:t>	(1) </a:t>
            </a:r>
            <a:r>
              <a:rPr lang="zh-CN" altLang="zh-CN" b="0" dirty="0"/>
              <a:t>使用有序链表，插入时</a:t>
            </a:r>
            <a:r>
              <a:rPr lang="zh-CN" altLang="en-US" b="0" dirty="0"/>
              <a:t>找到合适位置，</a:t>
            </a:r>
            <a:r>
              <a:rPr lang="zh-CN" altLang="zh-CN" b="0" dirty="0"/>
              <a:t>时间代价为</a:t>
            </a:r>
            <a:r>
              <a:rPr lang="en-US" altLang="zh-CN" b="0" dirty="0"/>
              <a:t>O(n)</a:t>
            </a:r>
            <a:r>
              <a:rPr lang="zh-CN" altLang="en-US" b="0" dirty="0"/>
              <a:t>；</a:t>
            </a:r>
            <a:r>
              <a:rPr lang="zh-CN" altLang="zh-CN" b="0" dirty="0"/>
              <a:t>删除元素时代价为</a:t>
            </a:r>
            <a:r>
              <a:rPr lang="en-US" altLang="zh-CN" b="0" dirty="0"/>
              <a:t>O(1)</a:t>
            </a:r>
            <a:r>
              <a:rPr lang="zh-CN" altLang="zh-CN" b="0" dirty="0"/>
              <a:t>。</a:t>
            </a:r>
          </a:p>
          <a:p>
            <a:r>
              <a:rPr lang="en-US" altLang="zh-CN" b="0" dirty="0"/>
              <a:t>	(2) </a:t>
            </a:r>
            <a:r>
              <a:rPr lang="zh-CN" altLang="zh-CN" b="0" dirty="0"/>
              <a:t>使用简单链表，在表头进行插入，时间代价为</a:t>
            </a:r>
            <a:r>
              <a:rPr lang="en-US" altLang="zh-CN" b="0" dirty="0"/>
              <a:t>O(1)</a:t>
            </a:r>
            <a:r>
              <a:rPr lang="zh-CN" altLang="en-US" b="0" dirty="0"/>
              <a:t>；</a:t>
            </a:r>
            <a:r>
              <a:rPr lang="zh-CN" altLang="zh-CN" b="0" dirty="0"/>
              <a:t>删除元素时</a:t>
            </a:r>
            <a:r>
              <a:rPr lang="zh-CN" altLang="en-US" b="0" dirty="0"/>
              <a:t>找到最小值</a:t>
            </a:r>
            <a:r>
              <a:rPr lang="zh-CN" altLang="zh-CN" b="0" dirty="0"/>
              <a:t>需遍历该链表，需</a:t>
            </a:r>
            <a:r>
              <a:rPr lang="en-US" altLang="zh-CN" b="0" dirty="0"/>
              <a:t>O(n)</a:t>
            </a:r>
            <a:r>
              <a:rPr lang="zh-CN" altLang="zh-CN" b="0" dirty="0"/>
              <a:t>花费时间。</a:t>
            </a:r>
          </a:p>
          <a:p>
            <a:r>
              <a:rPr lang="en-US" altLang="zh-CN" b="0" dirty="0"/>
              <a:t>	(3) </a:t>
            </a:r>
            <a:r>
              <a:rPr lang="zh-CN" altLang="zh-CN" b="0" dirty="0"/>
              <a:t>使用二叉查找树，平均情况下插入和删除操作的时间代价均为</a:t>
            </a:r>
            <a:r>
              <a:rPr lang="en-US" altLang="zh-CN" b="0" dirty="0"/>
              <a:t>O(</a:t>
            </a:r>
            <a:r>
              <a:rPr lang="en-US" altLang="zh-CN" b="0" dirty="0" err="1"/>
              <a:t>logn</a:t>
            </a:r>
            <a:r>
              <a:rPr lang="en-US" altLang="zh-CN" b="0" dirty="0"/>
              <a:t>)</a:t>
            </a:r>
            <a:r>
              <a:rPr lang="zh-CN" altLang="zh-CN" b="0" dirty="0"/>
              <a:t>。但是由于插入和删除操作可能导致二叉查找树失去平衡，这将导致二叉查找树的性能变得很差。</a:t>
            </a:r>
          </a:p>
        </p:txBody>
      </p:sp>
    </p:spTree>
    <p:extLst>
      <p:ext uri="{BB962C8B-B14F-4D97-AF65-F5344CB8AC3E}">
        <p14:creationId xmlns:p14="http://schemas.microsoft.com/office/powerpoint/2010/main" val="8339303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920880" cy="4660570"/>
          </a:xfrm>
        </p:spPr>
        <p:txBody>
          <a:bodyPr>
            <a:normAutofit fontScale="92500"/>
          </a:bodyPr>
          <a:lstStyle/>
          <a:p>
            <a:r>
              <a:rPr lang="zh-CN" altLang="en-US" dirty="0">
                <a:solidFill>
                  <a:srgbClr val="0000FF"/>
                </a:solidFill>
              </a:rPr>
              <a:t>优先队列的存储实现</a:t>
            </a:r>
            <a:r>
              <a:rPr lang="en-US" altLang="zh-CN" dirty="0">
                <a:solidFill>
                  <a:srgbClr val="0000FF"/>
                </a:solidFill>
              </a:rPr>
              <a:t>---</a:t>
            </a:r>
            <a:r>
              <a:rPr lang="zh-CN" altLang="en-US" dirty="0">
                <a:solidFill>
                  <a:srgbClr val="0000FF"/>
                </a:solidFill>
              </a:rPr>
              <a:t>堆</a:t>
            </a:r>
            <a:r>
              <a:rPr lang="zh-CN" altLang="en-US" b="0" dirty="0"/>
              <a:t>：</a:t>
            </a:r>
            <a:endParaRPr lang="en-US" altLang="zh-CN" b="0" dirty="0"/>
          </a:p>
          <a:p>
            <a:r>
              <a:rPr lang="en-US" altLang="zh-CN" b="0" dirty="0"/>
              <a:t>	</a:t>
            </a:r>
            <a:r>
              <a:rPr lang="zh-CN" altLang="zh-CN" b="0" dirty="0"/>
              <a:t>为了保证较高的操作效率，提出一种新的数据结构</a:t>
            </a:r>
            <a:r>
              <a:rPr lang="en-US" altLang="zh-CN" b="0" dirty="0"/>
              <a:t>——</a:t>
            </a:r>
            <a:r>
              <a:rPr lang="zh-CN" altLang="zh-CN" dirty="0">
                <a:solidFill>
                  <a:srgbClr val="FF0000"/>
                </a:solidFill>
              </a:rPr>
              <a:t>堆</a:t>
            </a:r>
            <a:r>
              <a:rPr lang="en-US" altLang="zh-CN" dirty="0">
                <a:solidFill>
                  <a:srgbClr val="FF0000"/>
                </a:solidFill>
              </a:rPr>
              <a:t>(Heap)</a:t>
            </a:r>
            <a:r>
              <a:rPr lang="zh-CN" altLang="zh-CN" b="0" dirty="0"/>
              <a:t>。</a:t>
            </a:r>
            <a:endParaRPr lang="en-US" altLang="zh-CN" b="0" dirty="0"/>
          </a:p>
          <a:p>
            <a:r>
              <a:rPr lang="en-US" altLang="zh-CN" b="0" dirty="0"/>
              <a:t>	</a:t>
            </a:r>
            <a:r>
              <a:rPr lang="zh-CN" altLang="en-US" dirty="0">
                <a:solidFill>
                  <a:srgbClr val="FF0000"/>
                </a:solidFill>
              </a:rPr>
              <a:t>堆的</a:t>
            </a:r>
            <a:r>
              <a:rPr lang="zh-CN" altLang="zh-CN" dirty="0">
                <a:solidFill>
                  <a:srgbClr val="FF0000"/>
                </a:solidFill>
              </a:rPr>
              <a:t>定义如下</a:t>
            </a:r>
            <a:r>
              <a:rPr lang="zh-CN" altLang="zh-CN" dirty="0"/>
              <a:t>：</a:t>
            </a:r>
          </a:p>
          <a:p>
            <a:r>
              <a:rPr lang="en-US" altLang="zh-CN" b="0" dirty="0"/>
              <a:t>	(1) </a:t>
            </a:r>
            <a:r>
              <a:rPr lang="zh-CN" altLang="zh-CN" b="0" dirty="0">
                <a:solidFill>
                  <a:srgbClr val="FF0000"/>
                </a:solidFill>
              </a:rPr>
              <a:t>堆</a:t>
            </a:r>
            <a:r>
              <a:rPr lang="zh-CN" altLang="en-US" b="0" dirty="0">
                <a:solidFill>
                  <a:srgbClr val="FF0000"/>
                </a:solidFill>
              </a:rPr>
              <a:t>不</a:t>
            </a:r>
            <a:r>
              <a:rPr lang="zh-CN" altLang="zh-CN" b="0" dirty="0">
                <a:solidFill>
                  <a:srgbClr val="FF0000"/>
                </a:solidFill>
              </a:rPr>
              <a:t>是一棵</a:t>
            </a:r>
            <a:r>
              <a:rPr lang="zh-CN" altLang="zh-CN" b="0">
                <a:solidFill>
                  <a:srgbClr val="FF0000"/>
                </a:solidFill>
              </a:rPr>
              <a:t>完全二叉树</a:t>
            </a:r>
            <a:r>
              <a:rPr lang="zh-CN" altLang="en-US" b="0">
                <a:solidFill>
                  <a:srgbClr val="FF0000"/>
                </a:solidFill>
              </a:rPr>
              <a:t>，是一个满足如下条件的数组</a:t>
            </a:r>
            <a:r>
              <a:rPr lang="zh-CN" altLang="zh-CN" b="0"/>
              <a:t>；</a:t>
            </a:r>
            <a:endParaRPr lang="zh-CN" altLang="zh-CN" b="0" dirty="0"/>
          </a:p>
          <a:p>
            <a:r>
              <a:rPr lang="en-US" altLang="zh-CN" b="0" dirty="0"/>
              <a:t>	(2) </a:t>
            </a:r>
            <a:r>
              <a:rPr lang="zh-CN" altLang="zh-CN" b="0" dirty="0"/>
              <a:t>在一个堆中，</a:t>
            </a:r>
            <a:r>
              <a:rPr lang="zh-CN" altLang="zh-CN" b="0" dirty="0">
                <a:solidFill>
                  <a:srgbClr val="FF0000"/>
                </a:solidFill>
              </a:rPr>
              <a:t>对于任意一个非终结点</a:t>
            </a:r>
            <a:r>
              <a:rPr lang="en-US" altLang="zh-CN" b="0" dirty="0">
                <a:solidFill>
                  <a:srgbClr val="FF0000"/>
                </a:solidFill>
              </a:rPr>
              <a:t>A</a:t>
            </a:r>
            <a:r>
              <a:rPr lang="zh-CN" altLang="zh-CN" b="0" dirty="0">
                <a:solidFill>
                  <a:srgbClr val="FF0000"/>
                </a:solidFill>
              </a:rPr>
              <a:t>，</a:t>
            </a:r>
            <a:r>
              <a:rPr lang="en-US" altLang="zh-CN" b="0" dirty="0">
                <a:solidFill>
                  <a:srgbClr val="FF0000"/>
                </a:solidFill>
              </a:rPr>
              <a:t>A</a:t>
            </a:r>
            <a:r>
              <a:rPr lang="zh-CN" altLang="zh-CN" b="0" dirty="0">
                <a:solidFill>
                  <a:srgbClr val="FF0000"/>
                </a:solidFill>
              </a:rPr>
              <a:t>的关键值大于等于</a:t>
            </a:r>
            <a:r>
              <a:rPr lang="en-US" altLang="zh-CN" b="0" dirty="0">
                <a:solidFill>
                  <a:srgbClr val="FF0000"/>
                </a:solidFill>
              </a:rPr>
              <a:t>(</a:t>
            </a:r>
            <a:r>
              <a:rPr lang="zh-CN" altLang="zh-CN" b="0" dirty="0">
                <a:solidFill>
                  <a:srgbClr val="FF0000"/>
                </a:solidFill>
              </a:rPr>
              <a:t>或小于等于</a:t>
            </a:r>
            <a:r>
              <a:rPr lang="en-US" altLang="zh-CN" b="0" dirty="0">
                <a:solidFill>
                  <a:srgbClr val="FF0000"/>
                </a:solidFill>
              </a:rPr>
              <a:t>)</a:t>
            </a:r>
            <a:r>
              <a:rPr lang="zh-CN" altLang="zh-CN" b="0" dirty="0">
                <a:solidFill>
                  <a:srgbClr val="FF0000"/>
                </a:solidFill>
              </a:rPr>
              <a:t>其任意一个</a:t>
            </a:r>
            <a:r>
              <a:rPr lang="zh-CN" altLang="en-US" b="0" dirty="0">
                <a:solidFill>
                  <a:srgbClr val="FF0000"/>
                </a:solidFill>
              </a:rPr>
              <a:t>孩子</a:t>
            </a:r>
            <a:r>
              <a:rPr lang="zh-CN" altLang="zh-CN" b="0" dirty="0">
                <a:solidFill>
                  <a:srgbClr val="FF0000"/>
                </a:solidFill>
              </a:rPr>
              <a:t>结点的关键值。</a:t>
            </a:r>
          </a:p>
          <a:p>
            <a:r>
              <a:rPr lang="en-US" altLang="zh-CN" dirty="0"/>
              <a:t>	</a:t>
            </a:r>
          </a:p>
          <a:p>
            <a:r>
              <a:rPr lang="zh-CN" altLang="en-US" dirty="0"/>
              <a:t>注：堆分为大顶堆和小顶堆。</a:t>
            </a:r>
          </a:p>
        </p:txBody>
      </p:sp>
    </p:spTree>
    <p:extLst>
      <p:ext uri="{BB962C8B-B14F-4D97-AF65-F5344CB8AC3E}">
        <p14:creationId xmlns:p14="http://schemas.microsoft.com/office/powerpoint/2010/main" val="42919027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00109"/>
            <a:ext cx="8030696" cy="3571900"/>
          </a:xfrm>
        </p:spPr>
        <p:txBody>
          <a:bodyPr/>
          <a:lstStyle/>
          <a:p>
            <a:r>
              <a:rPr lang="zh-CN" altLang="en-US" dirty="0">
                <a:solidFill>
                  <a:srgbClr val="FF0000"/>
                </a:solidFill>
              </a:rPr>
              <a:t>有两种不同的堆：大顶堆</a:t>
            </a:r>
            <a:r>
              <a:rPr lang="en-US" dirty="0">
                <a:solidFill>
                  <a:srgbClr val="FF0000"/>
                </a:solidFill>
              </a:rPr>
              <a:t>(Max-Heap)</a:t>
            </a:r>
            <a:r>
              <a:rPr lang="zh-CN" altLang="en-US" dirty="0">
                <a:solidFill>
                  <a:srgbClr val="FF0000"/>
                </a:solidFill>
              </a:rPr>
              <a:t>和小顶堆</a:t>
            </a:r>
            <a:r>
              <a:rPr lang="en-US" dirty="0">
                <a:solidFill>
                  <a:srgbClr val="FF0000"/>
                </a:solidFill>
              </a:rPr>
              <a:t>(Min-Heap)</a:t>
            </a:r>
            <a:r>
              <a:rPr lang="zh-CN" altLang="en-US" dirty="0"/>
              <a:t>。</a:t>
            </a:r>
            <a:endParaRPr lang="en-US" altLang="zh-CN" dirty="0"/>
          </a:p>
          <a:p>
            <a:pPr>
              <a:buFont typeface="Arial" pitchFamily="34" charset="0"/>
              <a:buChar char="•"/>
            </a:pPr>
            <a:r>
              <a:rPr lang="zh-CN" altLang="en-US" dirty="0">
                <a:solidFill>
                  <a:srgbClr val="FF0000"/>
                </a:solidFill>
              </a:rPr>
              <a:t>大顶堆</a:t>
            </a:r>
            <a:r>
              <a:rPr lang="zh-CN" altLang="en-US" b="0" dirty="0"/>
              <a:t>中的每一个非终结点</a:t>
            </a:r>
            <a:r>
              <a:rPr lang="en-US" b="0" dirty="0"/>
              <a:t>A</a:t>
            </a:r>
            <a:r>
              <a:rPr lang="zh-CN" altLang="en-US" b="0" dirty="0"/>
              <a:t>的关键值都大于或等于其任意一个子结点的关键值：</a:t>
            </a:r>
            <a:endParaRPr lang="en-US" altLang="zh-CN" b="0" dirty="0"/>
          </a:p>
          <a:p>
            <a:pPr>
              <a:buFont typeface="Arial" pitchFamily="34" charset="0"/>
              <a:buChar char="•"/>
            </a:pPr>
            <a:endParaRPr lang="en-US" altLang="zh-CN" b="0" dirty="0"/>
          </a:p>
          <a:p>
            <a:endParaRPr lang="en-US" altLang="zh-CN" b="0" dirty="0"/>
          </a:p>
          <a:p>
            <a:pPr>
              <a:buFont typeface="Arial" pitchFamily="34" charset="0"/>
              <a:buChar char="•"/>
            </a:pPr>
            <a:r>
              <a:rPr lang="zh-CN" altLang="en-US" dirty="0">
                <a:solidFill>
                  <a:srgbClr val="FF0000"/>
                </a:solidFill>
              </a:rPr>
              <a:t>小顶堆</a:t>
            </a:r>
            <a:r>
              <a:rPr lang="zh-CN" altLang="en-US" b="0" dirty="0"/>
              <a:t>中的每一个非终结点</a:t>
            </a:r>
            <a:r>
              <a:rPr lang="en-US" b="0" dirty="0"/>
              <a:t>A</a:t>
            </a:r>
            <a:r>
              <a:rPr lang="zh-CN" altLang="en-US" b="0" dirty="0"/>
              <a:t>的关键值都小于或等于其任意一个子结点的关键值：</a:t>
            </a:r>
          </a:p>
          <a:p>
            <a:endParaRPr lang="zh-CN" altLang="en-US" dirty="0"/>
          </a:p>
          <a:p>
            <a:endParaRPr lang="zh-CN" altLang="en-US" dirty="0"/>
          </a:p>
        </p:txBody>
      </p:sp>
      <p:pic>
        <p:nvPicPr>
          <p:cNvPr id="173058" name="Picture 2"/>
          <p:cNvPicPr>
            <a:picLocks noChangeAspect="1" noChangeArrowheads="1"/>
          </p:cNvPicPr>
          <p:nvPr/>
        </p:nvPicPr>
        <p:blipFill>
          <a:blip r:embed="rId2" cstate="print"/>
          <a:srcRect/>
          <a:stretch>
            <a:fillRect/>
          </a:stretch>
        </p:blipFill>
        <p:spPr bwMode="auto">
          <a:xfrm>
            <a:off x="2928926" y="2643182"/>
            <a:ext cx="3483793" cy="785818"/>
          </a:xfrm>
          <a:prstGeom prst="rect">
            <a:avLst/>
          </a:prstGeom>
          <a:noFill/>
          <a:ln w="9525">
            <a:noFill/>
            <a:miter lim="800000"/>
            <a:headEnd/>
            <a:tailEnd/>
          </a:ln>
          <a:effectLst/>
        </p:spPr>
      </p:pic>
      <p:pic>
        <p:nvPicPr>
          <p:cNvPr id="173059" name="Picture 3"/>
          <p:cNvPicPr>
            <a:picLocks noChangeAspect="1" noChangeArrowheads="1"/>
          </p:cNvPicPr>
          <p:nvPr/>
        </p:nvPicPr>
        <p:blipFill>
          <a:blip r:embed="rId3" cstate="print"/>
          <a:srcRect/>
          <a:stretch>
            <a:fillRect/>
          </a:stretch>
        </p:blipFill>
        <p:spPr bwMode="auto">
          <a:xfrm>
            <a:off x="3000364" y="4714884"/>
            <a:ext cx="3143273" cy="696010"/>
          </a:xfrm>
          <a:prstGeom prst="rect">
            <a:avLst/>
          </a:prstGeom>
          <a:noFill/>
          <a:ln w="9525">
            <a:noFill/>
            <a:miter lim="800000"/>
            <a:headEnd/>
            <a:tailEnd/>
          </a:ln>
          <a:effec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20688"/>
            <a:ext cx="7992888" cy="1944216"/>
          </a:xfrm>
        </p:spPr>
        <p:txBody>
          <a:bodyPr>
            <a:normAutofit fontScale="92500" lnSpcReduction="20000"/>
          </a:bodyPr>
          <a:lstStyle/>
          <a:p>
            <a:r>
              <a:rPr lang="en-US" altLang="zh-CN" b="0" dirty="0"/>
              <a:t>	</a:t>
            </a:r>
            <a:r>
              <a:rPr lang="zh-CN" altLang="zh-CN" dirty="0">
                <a:solidFill>
                  <a:srgbClr val="0000FF"/>
                </a:solidFill>
              </a:rPr>
              <a:t>堆是一棵完全二叉树，所以可以直接用一个数组来表示</a:t>
            </a:r>
            <a:r>
              <a:rPr lang="zh-CN" altLang="zh-CN" b="0" dirty="0"/>
              <a:t>，不需要使用指针。如图</a:t>
            </a:r>
            <a:r>
              <a:rPr lang="en-US" altLang="zh-CN" b="0" dirty="0"/>
              <a:t>5-45(b)</a:t>
            </a:r>
            <a:r>
              <a:rPr lang="zh-CN" altLang="zh-CN" b="0" dirty="0"/>
              <a:t>为大顶堆</a:t>
            </a:r>
            <a:r>
              <a:rPr lang="en-US" altLang="zh-CN" b="0" dirty="0"/>
              <a:t>5-45(a)</a:t>
            </a:r>
            <a:r>
              <a:rPr lang="zh-CN" altLang="zh-CN" b="0" dirty="0"/>
              <a:t>的数组实现。</a:t>
            </a:r>
            <a:endParaRPr lang="en-US" altLang="zh-CN" b="0" dirty="0"/>
          </a:p>
          <a:p>
            <a:r>
              <a:rPr lang="en-US" altLang="zh-CN" b="0" dirty="0"/>
              <a:t>		</a:t>
            </a:r>
            <a:r>
              <a:rPr lang="zh-CN" altLang="en-US" b="0" dirty="0"/>
              <a:t>堆中元素满足完全二叉树的性质</a:t>
            </a:r>
            <a:r>
              <a:rPr lang="en-US" altLang="zh-CN" b="0" dirty="0"/>
              <a:t>5</a:t>
            </a:r>
            <a:r>
              <a:rPr lang="zh-CN" altLang="en-US" b="0" dirty="0"/>
              <a:t>。</a:t>
            </a:r>
            <a:r>
              <a:rPr lang="zh-CN" altLang="zh-CN" b="0" dirty="0"/>
              <a:t>如果一个结点在数组中的位置为</a:t>
            </a:r>
            <a:r>
              <a:rPr lang="en-US" altLang="zh-CN" b="0" dirty="0"/>
              <a:t>k</a:t>
            </a:r>
            <a:r>
              <a:rPr lang="zh-CN" altLang="zh-CN" b="0" dirty="0"/>
              <a:t>，则其左孩子的位置为</a:t>
            </a:r>
            <a:r>
              <a:rPr lang="en-US" altLang="zh-CN" b="0" dirty="0"/>
              <a:t>2k+1</a:t>
            </a:r>
            <a:r>
              <a:rPr lang="zh-CN" altLang="zh-CN" b="0" dirty="0"/>
              <a:t>，其右孩子的位置为</a:t>
            </a:r>
            <a:r>
              <a:rPr lang="en-US" altLang="zh-CN" b="0" dirty="0"/>
              <a:t>2k+2</a:t>
            </a:r>
            <a:r>
              <a:rPr lang="zh-CN" altLang="zh-CN" b="0" dirty="0"/>
              <a:t>，而其双亲结点的位置为</a:t>
            </a:r>
            <a:r>
              <a:rPr lang="zh-CN" altLang="en-US" b="0" dirty="0">
                <a:latin typeface="Cambria Math"/>
              </a:rPr>
              <a:t>⌊</a:t>
            </a:r>
            <a:r>
              <a:rPr lang="en-US" altLang="zh-CN" b="0" dirty="0"/>
              <a:t>(k-1)/2</a:t>
            </a:r>
            <a:r>
              <a:rPr lang="zh-CN" altLang="en-US" b="0" dirty="0">
                <a:latin typeface="Cambria Math"/>
              </a:rPr>
              <a:t>⌋</a:t>
            </a:r>
            <a:r>
              <a:rPr lang="zh-CN" altLang="zh-CN" b="0" dirty="0"/>
              <a:t>。</a:t>
            </a:r>
          </a:p>
          <a:p>
            <a:endParaRPr lang="zh-CN" altLang="en-US" b="0"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4480" y="2857496"/>
            <a:ext cx="5399726" cy="2914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447591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632848" cy="5472608"/>
          </a:xfrm>
        </p:spPr>
        <p:txBody>
          <a:bodyPr>
            <a:normAutofit fontScale="85000" lnSpcReduction="20000"/>
          </a:bodyPr>
          <a:lstStyle/>
          <a:p>
            <a:r>
              <a:rPr lang="zh-CN" altLang="zh-CN" dirty="0"/>
              <a:t>算法</a:t>
            </a:r>
            <a:r>
              <a:rPr lang="en-US" altLang="zh-CN" dirty="0"/>
              <a:t>5.23</a:t>
            </a:r>
            <a:r>
              <a:rPr lang="zh-CN" altLang="zh-CN" dirty="0"/>
              <a:t>：</a:t>
            </a:r>
            <a:r>
              <a:rPr lang="zh-CN" altLang="zh-CN" dirty="0">
                <a:solidFill>
                  <a:srgbClr val="0000FF"/>
                </a:solidFill>
              </a:rPr>
              <a:t>大顶堆的类</a:t>
            </a:r>
            <a:r>
              <a:rPr lang="zh-CN" altLang="zh-CN" dirty="0"/>
              <a:t>定义</a:t>
            </a:r>
          </a:p>
          <a:p>
            <a:r>
              <a:rPr lang="en-US" altLang="zh-CN" b="0" dirty="0"/>
              <a:t>template &lt;class T&gt;</a:t>
            </a:r>
            <a:endParaRPr lang="zh-CN" altLang="zh-CN" b="0" dirty="0"/>
          </a:p>
          <a:p>
            <a:r>
              <a:rPr lang="en-US" altLang="zh-CN" b="0" dirty="0"/>
              <a:t>class </a:t>
            </a:r>
            <a:r>
              <a:rPr lang="en-US" altLang="zh-CN" b="0" dirty="0" err="1"/>
              <a:t>MaxHeap</a:t>
            </a:r>
            <a:r>
              <a:rPr lang="en-US" altLang="zh-CN" b="0" dirty="0"/>
              <a:t>{</a:t>
            </a:r>
            <a:endParaRPr lang="zh-CN" altLang="zh-CN" b="0" dirty="0"/>
          </a:p>
          <a:p>
            <a:r>
              <a:rPr lang="en-US" altLang="zh-CN" b="0" dirty="0"/>
              <a:t>private:</a:t>
            </a:r>
            <a:endParaRPr lang="zh-CN" altLang="zh-CN" b="0" dirty="0"/>
          </a:p>
          <a:p>
            <a:r>
              <a:rPr lang="en-US" altLang="zh-CN" b="0" dirty="0"/>
              <a:t>	T* Heap;	//</a:t>
            </a:r>
            <a:r>
              <a:rPr lang="zh-CN" altLang="en-US" b="0" dirty="0"/>
              <a:t>堆的顺序存储区</a:t>
            </a:r>
            <a:endParaRPr lang="zh-CN" altLang="zh-CN" b="0" dirty="0"/>
          </a:p>
          <a:p>
            <a:r>
              <a:rPr lang="en-US" altLang="zh-CN" b="0" dirty="0"/>
              <a:t>	</a:t>
            </a:r>
            <a:r>
              <a:rPr lang="en-US" altLang="zh-CN" b="0" dirty="0" err="1"/>
              <a:t>int</a:t>
            </a:r>
            <a:r>
              <a:rPr lang="en-US" altLang="zh-CN" b="0" dirty="0"/>
              <a:t> n;		//</a:t>
            </a:r>
            <a:r>
              <a:rPr lang="zh-CN" altLang="zh-CN" b="0" dirty="0"/>
              <a:t>堆中元素的数目</a:t>
            </a:r>
          </a:p>
          <a:p>
            <a:r>
              <a:rPr lang="en-US" altLang="zh-CN" b="0" dirty="0"/>
              <a:t>	</a:t>
            </a:r>
            <a:r>
              <a:rPr lang="en-US" altLang="zh-CN" b="0" dirty="0" err="1"/>
              <a:t>int</a:t>
            </a:r>
            <a:r>
              <a:rPr lang="en-US" altLang="zh-CN" b="0" dirty="0"/>
              <a:t> </a:t>
            </a:r>
            <a:r>
              <a:rPr lang="en-US" altLang="zh-CN" b="0" dirty="0" err="1"/>
              <a:t>maxsize</a:t>
            </a:r>
            <a:r>
              <a:rPr lang="en-US" altLang="zh-CN" b="0" dirty="0"/>
              <a:t>;	//</a:t>
            </a:r>
            <a:r>
              <a:rPr lang="zh-CN" altLang="zh-CN" b="0" dirty="0"/>
              <a:t>堆能包含的最大元素数目</a:t>
            </a:r>
          </a:p>
          <a:p>
            <a:r>
              <a:rPr lang="en-US" altLang="zh-CN" b="0" dirty="0"/>
              <a:t>public:</a:t>
            </a:r>
            <a:endParaRPr lang="zh-CN" altLang="zh-CN" b="0" dirty="0"/>
          </a:p>
          <a:p>
            <a:r>
              <a:rPr lang="en-US" altLang="zh-CN" b="0" dirty="0"/>
              <a:t>	</a:t>
            </a:r>
            <a:r>
              <a:rPr lang="en-US" altLang="zh-CN" b="0" dirty="0" err="1"/>
              <a:t>MaxHeap</a:t>
            </a:r>
            <a:r>
              <a:rPr lang="en-US" altLang="zh-CN" b="0" dirty="0"/>
              <a:t>(T * &amp;h, </a:t>
            </a:r>
            <a:r>
              <a:rPr lang="en-US" altLang="zh-CN" b="0" dirty="0" err="1"/>
              <a:t>int</a:t>
            </a:r>
            <a:r>
              <a:rPr lang="en-US" altLang="zh-CN" b="0" dirty="0"/>
              <a:t> num, </a:t>
            </a:r>
            <a:r>
              <a:rPr lang="en-US" altLang="zh-CN" b="0" dirty="0" err="1"/>
              <a:t>int</a:t>
            </a:r>
            <a:r>
              <a:rPr lang="en-US" altLang="zh-CN" b="0" dirty="0"/>
              <a:t> max){</a:t>
            </a:r>
            <a:endParaRPr lang="zh-CN" altLang="zh-CN" b="0" dirty="0"/>
          </a:p>
          <a:p>
            <a:r>
              <a:rPr lang="en-US" altLang="zh-CN" b="0" dirty="0"/>
              <a:t>		Heap = h; n = </a:t>
            </a:r>
            <a:r>
              <a:rPr lang="en-US" altLang="zh-CN" b="0" dirty="0" err="1"/>
              <a:t>num</a:t>
            </a:r>
            <a:r>
              <a:rPr lang="en-US" altLang="zh-CN" b="0" dirty="0"/>
              <a:t>; </a:t>
            </a:r>
            <a:r>
              <a:rPr lang="en-US" altLang="zh-CN" b="0" dirty="0" err="1"/>
              <a:t>maxsize</a:t>
            </a:r>
            <a:r>
              <a:rPr lang="en-US" altLang="zh-CN" b="0" dirty="0"/>
              <a:t> = max; </a:t>
            </a:r>
          </a:p>
          <a:p>
            <a:r>
              <a:rPr lang="en-US" altLang="zh-CN" b="0" dirty="0"/>
              <a:t>		</a:t>
            </a:r>
            <a:r>
              <a:rPr lang="en-US" altLang="zh-CN" b="0" dirty="0" err="1"/>
              <a:t>BuildHeap</a:t>
            </a:r>
            <a:r>
              <a:rPr lang="en-US" altLang="zh-CN" b="0" dirty="0"/>
              <a:t>();</a:t>
            </a:r>
            <a:endParaRPr lang="zh-CN" altLang="zh-CN" b="0" dirty="0"/>
          </a:p>
          <a:p>
            <a:r>
              <a:rPr lang="en-US" altLang="zh-CN" b="0" dirty="0"/>
              <a:t>	}</a:t>
            </a:r>
            <a:endParaRPr lang="zh-CN" altLang="zh-CN" b="0" dirty="0"/>
          </a:p>
          <a:p>
            <a:r>
              <a:rPr lang="en-US" altLang="zh-CN" b="0" dirty="0"/>
              <a:t>	~</a:t>
            </a:r>
            <a:r>
              <a:rPr lang="en-US" altLang="zh-CN" b="0" dirty="0" err="1"/>
              <a:t>MaxHeap</a:t>
            </a:r>
            <a:r>
              <a:rPr lang="en-US" altLang="zh-CN" b="0" dirty="0"/>
              <a:t>(){};</a:t>
            </a:r>
            <a:endParaRPr lang="zh-CN" altLang="zh-CN" b="0" dirty="0"/>
          </a:p>
        </p:txBody>
      </p:sp>
    </p:spTree>
    <p:extLst>
      <p:ext uri="{BB962C8B-B14F-4D97-AF65-F5344CB8AC3E}">
        <p14:creationId xmlns:p14="http://schemas.microsoft.com/office/powerpoint/2010/main" val="95822649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040560"/>
          </a:xfrm>
        </p:spPr>
        <p:txBody>
          <a:bodyPr>
            <a:normAutofit fontScale="85000" lnSpcReduction="10000"/>
          </a:bodyPr>
          <a:lstStyle/>
          <a:p>
            <a:r>
              <a:rPr lang="en-US" altLang="zh-CN" b="0" dirty="0"/>
              <a:t>	</a:t>
            </a:r>
            <a:r>
              <a:rPr lang="en-US" altLang="zh-CN" b="0" dirty="0" err="1"/>
              <a:t>int</a:t>
            </a:r>
            <a:r>
              <a:rPr lang="en-US" altLang="zh-CN" b="0" dirty="0"/>
              <a:t> </a:t>
            </a:r>
            <a:r>
              <a:rPr lang="en-US" altLang="zh-CN" b="0" dirty="0" err="1"/>
              <a:t>heapsize</a:t>
            </a:r>
            <a:r>
              <a:rPr lang="en-US" altLang="zh-CN" b="0" dirty="0"/>
              <a:t>();			//</a:t>
            </a:r>
            <a:r>
              <a:rPr lang="zh-CN" altLang="en-US" b="0" dirty="0"/>
              <a:t>返回堆中元素个数</a:t>
            </a:r>
            <a:endParaRPr lang="zh-CN" altLang="zh-CN" b="0" dirty="0"/>
          </a:p>
          <a:p>
            <a:r>
              <a:rPr lang="en-US" altLang="zh-CN" b="0" dirty="0"/>
              <a:t>	</a:t>
            </a:r>
            <a:r>
              <a:rPr lang="en-US" altLang="zh-CN" b="0" dirty="0" err="1"/>
              <a:t>bool</a:t>
            </a:r>
            <a:r>
              <a:rPr lang="en-US" altLang="zh-CN" b="0" dirty="0"/>
              <a:t> </a:t>
            </a:r>
            <a:r>
              <a:rPr lang="en-US" altLang="zh-CN" b="0" dirty="0" err="1"/>
              <a:t>isLeaf</a:t>
            </a:r>
            <a:r>
              <a:rPr lang="en-US" altLang="zh-CN" b="0" dirty="0"/>
              <a:t>(</a:t>
            </a:r>
            <a:r>
              <a:rPr lang="en-US" altLang="zh-CN" b="0" dirty="0" err="1"/>
              <a:t>int</a:t>
            </a:r>
            <a:r>
              <a:rPr lang="en-US" altLang="zh-CN" b="0" dirty="0"/>
              <a:t> pos);		//</a:t>
            </a:r>
            <a:r>
              <a:rPr lang="zh-CN" altLang="zh-CN" b="0" dirty="0"/>
              <a:t>如果是叶子结点，返回</a:t>
            </a:r>
            <a:r>
              <a:rPr lang="en-US" altLang="zh-CN" b="0" dirty="0"/>
              <a:t>TRUE</a:t>
            </a:r>
            <a:endParaRPr lang="zh-CN" altLang="zh-CN" b="0" dirty="0"/>
          </a:p>
          <a:p>
            <a:r>
              <a:rPr lang="en-US" altLang="zh-CN" b="0" dirty="0"/>
              <a:t>	</a:t>
            </a:r>
            <a:r>
              <a:rPr lang="en-US" altLang="zh-CN" b="0" dirty="0" err="1"/>
              <a:t>int</a:t>
            </a:r>
            <a:r>
              <a:rPr lang="en-US" altLang="zh-CN" b="0" dirty="0"/>
              <a:t> </a:t>
            </a:r>
            <a:r>
              <a:rPr lang="en-US" altLang="zh-CN" b="0" dirty="0" err="1"/>
              <a:t>leftchild</a:t>
            </a:r>
            <a:r>
              <a:rPr lang="en-US" altLang="zh-CN" b="0" dirty="0"/>
              <a:t>(</a:t>
            </a:r>
            <a:r>
              <a:rPr lang="en-US" altLang="zh-CN" b="0" dirty="0" err="1"/>
              <a:t>int</a:t>
            </a:r>
            <a:r>
              <a:rPr lang="en-US" altLang="zh-CN" b="0" dirty="0"/>
              <a:t> pos);		//</a:t>
            </a:r>
            <a:r>
              <a:rPr lang="zh-CN" altLang="zh-CN" b="0" dirty="0"/>
              <a:t>返回左孩子位置</a:t>
            </a:r>
          </a:p>
          <a:p>
            <a:r>
              <a:rPr lang="en-US" altLang="zh-CN" b="0" dirty="0"/>
              <a:t>	</a:t>
            </a:r>
            <a:r>
              <a:rPr lang="en-US" altLang="zh-CN" b="0" dirty="0" err="1"/>
              <a:t>int</a:t>
            </a:r>
            <a:r>
              <a:rPr lang="en-US" altLang="zh-CN" b="0" dirty="0"/>
              <a:t> </a:t>
            </a:r>
            <a:r>
              <a:rPr lang="en-US" altLang="zh-CN" b="0" dirty="0" err="1"/>
              <a:t>rightchild</a:t>
            </a:r>
            <a:r>
              <a:rPr lang="en-US" altLang="zh-CN" b="0" dirty="0"/>
              <a:t>(</a:t>
            </a:r>
            <a:r>
              <a:rPr lang="en-US" altLang="zh-CN" b="0" dirty="0" err="1"/>
              <a:t>int</a:t>
            </a:r>
            <a:r>
              <a:rPr lang="en-US" altLang="zh-CN" b="0" dirty="0"/>
              <a:t> pos);		//</a:t>
            </a:r>
            <a:r>
              <a:rPr lang="zh-CN" altLang="zh-CN" b="0" dirty="0"/>
              <a:t>返回右孩子位置</a:t>
            </a:r>
          </a:p>
          <a:p>
            <a:r>
              <a:rPr lang="en-US" altLang="zh-CN" b="0" dirty="0"/>
              <a:t>	</a:t>
            </a:r>
            <a:r>
              <a:rPr lang="en-US" altLang="zh-CN" b="0" dirty="0" err="1"/>
              <a:t>int</a:t>
            </a:r>
            <a:r>
              <a:rPr lang="en-US" altLang="zh-CN" b="0" dirty="0"/>
              <a:t> parent(</a:t>
            </a:r>
            <a:r>
              <a:rPr lang="en-US" altLang="zh-CN" b="0" dirty="0" err="1"/>
              <a:t>int</a:t>
            </a:r>
            <a:r>
              <a:rPr lang="en-US" altLang="zh-CN" b="0" dirty="0"/>
              <a:t> pos);		//</a:t>
            </a:r>
            <a:r>
              <a:rPr lang="zh-CN" altLang="zh-CN" b="0" dirty="0"/>
              <a:t>返回双亲结点位置</a:t>
            </a:r>
          </a:p>
          <a:p>
            <a:r>
              <a:rPr lang="en-US" altLang="zh-CN" b="0" dirty="0"/>
              <a:t>	void </a:t>
            </a:r>
            <a:r>
              <a:rPr lang="en-US" altLang="zh-CN" b="0" dirty="0" err="1"/>
              <a:t>BuildHeap</a:t>
            </a:r>
            <a:r>
              <a:rPr lang="en-US" altLang="zh-CN" b="0" dirty="0"/>
              <a:t>();		//</a:t>
            </a:r>
            <a:r>
              <a:rPr lang="zh-CN" altLang="zh-CN" b="0" dirty="0">
                <a:solidFill>
                  <a:srgbClr val="FF0000"/>
                </a:solidFill>
              </a:rPr>
              <a:t>建堆</a:t>
            </a:r>
          </a:p>
          <a:p>
            <a:r>
              <a:rPr lang="en-US" altLang="zh-CN" b="0" dirty="0"/>
              <a:t>	void </a:t>
            </a:r>
            <a:r>
              <a:rPr lang="en-US" altLang="zh-CN" b="0" dirty="0" err="1"/>
              <a:t>SiftDown</a:t>
            </a:r>
            <a:r>
              <a:rPr lang="en-US" altLang="zh-CN" b="0" dirty="0"/>
              <a:t>(</a:t>
            </a:r>
            <a:r>
              <a:rPr lang="en-US" altLang="zh-CN" b="0" dirty="0" err="1"/>
              <a:t>int</a:t>
            </a:r>
            <a:r>
              <a:rPr lang="en-US" altLang="zh-CN" b="0" dirty="0"/>
              <a:t> pos);	//</a:t>
            </a:r>
            <a:r>
              <a:rPr lang="zh-CN" altLang="zh-CN" b="0" dirty="0">
                <a:solidFill>
                  <a:srgbClr val="FF0000"/>
                </a:solidFill>
              </a:rPr>
              <a:t>筛选法调整</a:t>
            </a:r>
          </a:p>
          <a:p>
            <a:r>
              <a:rPr lang="en-US" altLang="zh-CN" b="0" dirty="0"/>
              <a:t>	</a:t>
            </a:r>
            <a:r>
              <a:rPr lang="en-US" altLang="zh-CN" b="0" dirty="0" err="1"/>
              <a:t>bool</a:t>
            </a:r>
            <a:r>
              <a:rPr lang="en-US" altLang="zh-CN" b="0" dirty="0"/>
              <a:t> Insert(const T&amp; </a:t>
            </a:r>
            <a:r>
              <a:rPr lang="en-US" altLang="zh-CN" b="0" dirty="0" err="1"/>
              <a:t>newKey</a:t>
            </a:r>
            <a:r>
              <a:rPr lang="en-US" altLang="zh-CN" b="0" dirty="0"/>
              <a:t>);	//</a:t>
            </a:r>
            <a:r>
              <a:rPr lang="zh-CN" altLang="zh-CN" b="0" dirty="0">
                <a:solidFill>
                  <a:srgbClr val="FF0000"/>
                </a:solidFill>
              </a:rPr>
              <a:t>向堆中插入一个新元素</a:t>
            </a:r>
          </a:p>
          <a:p>
            <a:r>
              <a:rPr lang="en-US" altLang="zh-CN" b="0" dirty="0"/>
              <a:t>	T&amp; </a:t>
            </a:r>
            <a:r>
              <a:rPr lang="en-US" altLang="zh-CN" b="0" dirty="0" err="1"/>
              <a:t>RemoveMax</a:t>
            </a:r>
            <a:r>
              <a:rPr lang="en-US" altLang="zh-CN" b="0" dirty="0"/>
              <a:t>();		//</a:t>
            </a:r>
            <a:r>
              <a:rPr lang="zh-CN" altLang="zh-CN" b="0" dirty="0">
                <a:solidFill>
                  <a:srgbClr val="FF0000"/>
                </a:solidFill>
              </a:rPr>
              <a:t>删除关键值最大的元素</a:t>
            </a:r>
          </a:p>
          <a:p>
            <a:r>
              <a:rPr lang="en-US" altLang="zh-CN" b="0" dirty="0"/>
              <a:t>	</a:t>
            </a:r>
            <a:r>
              <a:rPr lang="en-US" altLang="zh-CN" b="0" dirty="0" err="1"/>
              <a:t>bool</a:t>
            </a:r>
            <a:r>
              <a:rPr lang="en-US" altLang="zh-CN" b="0" dirty="0"/>
              <a:t> Remove(</a:t>
            </a:r>
            <a:r>
              <a:rPr lang="en-US" altLang="zh-CN" b="0" dirty="0" err="1"/>
              <a:t>int</a:t>
            </a:r>
            <a:r>
              <a:rPr lang="en-US" altLang="zh-CN" b="0" dirty="0"/>
              <a:t> pos, T&amp; node);	//</a:t>
            </a:r>
            <a:r>
              <a:rPr lang="zh-CN" altLang="zh-CN" b="0" dirty="0"/>
              <a:t>删除给定下标的元素</a:t>
            </a:r>
          </a:p>
          <a:p>
            <a:r>
              <a:rPr lang="en-US" altLang="zh-CN" b="0" dirty="0"/>
              <a:t>};</a:t>
            </a:r>
            <a:endParaRPr lang="zh-CN" altLang="zh-CN" b="0" dirty="0"/>
          </a:p>
          <a:p>
            <a:endParaRPr lang="zh-CN" altLang="en-US" b="0" dirty="0"/>
          </a:p>
        </p:txBody>
      </p:sp>
    </p:spTree>
    <p:extLst>
      <p:ext uri="{BB962C8B-B14F-4D97-AF65-F5344CB8AC3E}">
        <p14:creationId xmlns:p14="http://schemas.microsoft.com/office/powerpoint/2010/main" val="13294878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5.7.2 </a:t>
            </a:r>
            <a:r>
              <a:rPr lang="zh-CN" altLang="zh-CN" b="1" dirty="0"/>
              <a:t>堆的插入和堆顶删除</a:t>
            </a:r>
            <a:endParaRPr lang="zh-CN" altLang="en-US" dirty="0"/>
          </a:p>
        </p:txBody>
      </p:sp>
      <p:sp>
        <p:nvSpPr>
          <p:cNvPr id="3" name="内容占位符 2"/>
          <p:cNvSpPr>
            <a:spLocks noGrp="1"/>
          </p:cNvSpPr>
          <p:nvPr>
            <p:ph idx="1"/>
          </p:nvPr>
        </p:nvSpPr>
        <p:spPr/>
        <p:txBody>
          <a:bodyPr/>
          <a:lstStyle/>
          <a:p>
            <a:r>
              <a:rPr lang="en-US" altLang="zh-CN" b="0" dirty="0"/>
              <a:t>	</a:t>
            </a:r>
            <a:r>
              <a:rPr lang="zh-CN" altLang="zh-CN" b="0" dirty="0"/>
              <a:t>在有</a:t>
            </a:r>
            <a:r>
              <a:rPr lang="en-US" altLang="zh-CN" b="0" dirty="0"/>
              <a:t>n</a:t>
            </a:r>
            <a:r>
              <a:rPr lang="zh-CN" altLang="zh-CN" b="0" dirty="0"/>
              <a:t>个元素的堆中</a:t>
            </a:r>
            <a:r>
              <a:rPr lang="zh-CN" altLang="zh-CN" dirty="0">
                <a:solidFill>
                  <a:srgbClr val="FF0000"/>
                </a:solidFill>
              </a:rPr>
              <a:t>插入一个新元素需要两步</a:t>
            </a:r>
            <a:r>
              <a:rPr lang="zh-CN" altLang="zh-CN" b="0" dirty="0"/>
              <a:t>：</a:t>
            </a:r>
          </a:p>
          <a:p>
            <a:r>
              <a:rPr lang="en-US" altLang="zh-CN" b="0" dirty="0"/>
              <a:t>	(1) </a:t>
            </a:r>
            <a:r>
              <a:rPr lang="zh-CN" altLang="zh-CN" b="0" dirty="0"/>
              <a:t>将该元素插入到数组的末尾位置</a:t>
            </a:r>
            <a:r>
              <a:rPr lang="en-US" altLang="zh-CN" b="0" dirty="0"/>
              <a:t>n</a:t>
            </a:r>
            <a:r>
              <a:rPr lang="zh-CN" altLang="zh-CN" b="0" dirty="0"/>
              <a:t>处；</a:t>
            </a:r>
          </a:p>
          <a:p>
            <a:r>
              <a:rPr lang="en-US" altLang="zh-CN" b="0" dirty="0"/>
              <a:t>	(2) </a:t>
            </a:r>
            <a:r>
              <a:rPr lang="zh-CN" altLang="zh-CN" b="0" dirty="0"/>
              <a:t>插入之后该元素很可能不在正确的位置，需要与其双亲结点进行比较，并将该元素移动到正确的位置。</a:t>
            </a:r>
          </a:p>
          <a:p>
            <a:endParaRPr lang="zh-CN" altLang="en-US" dirty="0"/>
          </a:p>
        </p:txBody>
      </p:sp>
    </p:spTree>
    <p:extLst>
      <p:ext uri="{BB962C8B-B14F-4D97-AF65-F5344CB8AC3E}">
        <p14:creationId xmlns:p14="http://schemas.microsoft.com/office/powerpoint/2010/main" val="301587129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34792"/>
          </a:xfrm>
        </p:spPr>
        <p:txBody>
          <a:bodyPr>
            <a:normAutofit/>
          </a:bodyPr>
          <a:lstStyle/>
          <a:p>
            <a:pPr>
              <a:lnSpc>
                <a:spcPct val="160000"/>
              </a:lnSpc>
              <a:buFont typeface="Arial" panose="020B0604020202020204" pitchFamily="34" charset="0"/>
              <a:buChar char="•"/>
            </a:pPr>
            <a:r>
              <a:rPr lang="zh-CN" altLang="zh-CN" b="0" dirty="0"/>
              <a:t>对于一个大顶堆，如果该元素的关键值小于或等于其双亲结点的关键值，说明此时该元素已经位于正确的位置，插入成功；如果该元素的关键值大于其双亲结点的关键值，则交换两个元素的位置，持续上述过程直到该元素位于正确位置。</a:t>
            </a:r>
            <a:endParaRPr lang="en-US" altLang="zh-CN" b="0" dirty="0"/>
          </a:p>
          <a:p>
            <a:pPr>
              <a:lnSpc>
                <a:spcPct val="160000"/>
              </a:lnSpc>
              <a:buFont typeface="Arial" panose="020B0604020202020204" pitchFamily="34" charset="0"/>
              <a:buChar char="•"/>
            </a:pPr>
            <a:r>
              <a:rPr lang="zh-CN" altLang="zh-CN" b="0" dirty="0"/>
              <a:t>如图</a:t>
            </a:r>
            <a:r>
              <a:rPr lang="en-US" altLang="zh-CN" b="0" dirty="0"/>
              <a:t>5-46</a:t>
            </a:r>
            <a:r>
              <a:rPr lang="zh-CN" altLang="zh-CN" b="0" dirty="0"/>
              <a:t>所示，在</a:t>
            </a:r>
            <a:r>
              <a:rPr lang="en-US" altLang="zh-CN" b="0" dirty="0"/>
              <a:t>5-46(a)</a:t>
            </a:r>
            <a:r>
              <a:rPr lang="zh-CN" altLang="zh-CN" b="0" dirty="0"/>
              <a:t>中的大顶堆中插入关键值为</a:t>
            </a:r>
            <a:r>
              <a:rPr lang="en-US" altLang="zh-CN" b="0" dirty="0"/>
              <a:t>12</a:t>
            </a:r>
            <a:r>
              <a:rPr lang="zh-CN" altLang="zh-CN" b="0" dirty="0"/>
              <a:t>的元素</a:t>
            </a:r>
            <a:endParaRPr lang="zh-CN" altLang="en-US" b="0" dirty="0"/>
          </a:p>
        </p:txBody>
      </p:sp>
    </p:spTree>
    <p:extLst>
      <p:ext uri="{BB962C8B-B14F-4D97-AF65-F5344CB8AC3E}">
        <p14:creationId xmlns:p14="http://schemas.microsoft.com/office/powerpoint/2010/main" val="209829518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412776"/>
            <a:ext cx="8758791"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57006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256584"/>
          </a:xfrm>
        </p:spPr>
        <p:txBody>
          <a:bodyPr>
            <a:normAutofit fontScale="92500" lnSpcReduction="10000"/>
          </a:bodyPr>
          <a:lstStyle/>
          <a:p>
            <a:pPr>
              <a:spcBef>
                <a:spcPts val="0"/>
              </a:spcBef>
            </a:pPr>
            <a:r>
              <a:rPr lang="zh-CN" altLang="zh-CN" dirty="0"/>
              <a:t>向大顶堆中插入一个新元素的算法如下：</a:t>
            </a:r>
          </a:p>
          <a:p>
            <a:pPr>
              <a:spcBef>
                <a:spcPts val="0"/>
              </a:spcBef>
            </a:pPr>
            <a:r>
              <a:rPr lang="zh-CN" altLang="zh-CN" dirty="0"/>
              <a:t>算法</a:t>
            </a:r>
            <a:r>
              <a:rPr lang="en-US" altLang="zh-CN" dirty="0"/>
              <a:t>5.24</a:t>
            </a:r>
            <a:r>
              <a:rPr lang="zh-CN" altLang="zh-CN" dirty="0"/>
              <a:t>：向大顶堆中插入一个新元素</a:t>
            </a:r>
          </a:p>
          <a:p>
            <a:pPr>
              <a:spcBef>
                <a:spcPts val="0"/>
              </a:spcBef>
            </a:pPr>
            <a:r>
              <a:rPr lang="en-US" altLang="zh-CN" b="0" dirty="0"/>
              <a:t>template&lt;class T&gt;</a:t>
            </a:r>
            <a:endParaRPr lang="zh-CN" altLang="zh-CN" b="0" dirty="0"/>
          </a:p>
          <a:p>
            <a:pPr>
              <a:spcBef>
                <a:spcPts val="0"/>
              </a:spcBef>
            </a:pPr>
            <a:r>
              <a:rPr lang="en-US" altLang="zh-CN" b="0" dirty="0"/>
              <a:t>bool </a:t>
            </a:r>
            <a:r>
              <a:rPr lang="en-US" altLang="zh-CN" b="0" dirty="0" err="1"/>
              <a:t>MaxHeap</a:t>
            </a:r>
            <a:r>
              <a:rPr lang="en-US" altLang="zh-CN" b="0" dirty="0"/>
              <a:t>&lt;T&gt;::Insert(const T&amp; </a:t>
            </a:r>
            <a:r>
              <a:rPr lang="en-US" altLang="zh-CN" b="0" dirty="0" err="1"/>
              <a:t>newKey</a:t>
            </a:r>
            <a:r>
              <a:rPr lang="en-US" altLang="zh-CN" b="0" dirty="0"/>
              <a:t>){</a:t>
            </a:r>
            <a:endParaRPr lang="zh-CN" altLang="zh-CN" b="0" dirty="0"/>
          </a:p>
          <a:p>
            <a:pPr>
              <a:spcBef>
                <a:spcPts val="0"/>
              </a:spcBef>
            </a:pPr>
            <a:r>
              <a:rPr lang="en-US" altLang="zh-CN" b="0" dirty="0"/>
              <a:t>	if (n == </a:t>
            </a:r>
            <a:r>
              <a:rPr lang="en-US" altLang="zh-CN" b="0" dirty="0" err="1"/>
              <a:t>maxsize</a:t>
            </a:r>
            <a:r>
              <a:rPr lang="en-US" altLang="zh-CN" b="0" dirty="0"/>
              <a:t>) return false;	//</a:t>
            </a:r>
            <a:r>
              <a:rPr lang="zh-CN" altLang="zh-CN" b="0" dirty="0"/>
              <a:t>堆已满</a:t>
            </a:r>
          </a:p>
          <a:p>
            <a:pPr>
              <a:spcBef>
                <a:spcPts val="0"/>
              </a:spcBef>
            </a:pPr>
            <a:r>
              <a:rPr lang="en-US" altLang="zh-CN" b="0" dirty="0"/>
              <a:t>	</a:t>
            </a:r>
            <a:r>
              <a:rPr lang="en-US" altLang="zh-CN" b="0" dirty="0" err="1"/>
              <a:t>int</a:t>
            </a:r>
            <a:r>
              <a:rPr lang="en-US" altLang="zh-CN" b="0" dirty="0"/>
              <a:t> </a:t>
            </a:r>
            <a:r>
              <a:rPr lang="en-US" altLang="zh-CN" b="0" dirty="0" err="1"/>
              <a:t>curr</a:t>
            </a:r>
            <a:r>
              <a:rPr lang="en-US" altLang="zh-CN" b="0" dirty="0"/>
              <a:t> = n++, p = parent(</a:t>
            </a:r>
            <a:r>
              <a:rPr lang="en-US" altLang="zh-CN" b="0" dirty="0" err="1"/>
              <a:t>curr</a:t>
            </a:r>
            <a:r>
              <a:rPr lang="en-US" altLang="zh-CN" b="0" dirty="0"/>
              <a:t>);</a:t>
            </a:r>
            <a:endParaRPr lang="zh-CN" altLang="zh-CN" b="0" dirty="0"/>
          </a:p>
          <a:p>
            <a:pPr>
              <a:spcBef>
                <a:spcPts val="0"/>
              </a:spcBef>
            </a:pPr>
            <a:r>
              <a:rPr lang="en-US" altLang="zh-CN" b="0" dirty="0"/>
              <a:t>	Heap[</a:t>
            </a:r>
            <a:r>
              <a:rPr lang="en-US" altLang="zh-CN" b="0" dirty="0" err="1"/>
              <a:t>curr</a:t>
            </a:r>
            <a:r>
              <a:rPr lang="en-US" altLang="zh-CN" b="0" dirty="0"/>
              <a:t>] = </a:t>
            </a:r>
            <a:r>
              <a:rPr lang="en-US" altLang="zh-CN" b="0" dirty="0" err="1"/>
              <a:t>newKey</a:t>
            </a:r>
            <a:r>
              <a:rPr lang="en-US" altLang="zh-CN" b="0" dirty="0"/>
              <a:t>;</a:t>
            </a:r>
            <a:endParaRPr lang="zh-CN" altLang="zh-CN" b="0" dirty="0"/>
          </a:p>
          <a:p>
            <a:pPr>
              <a:spcBef>
                <a:spcPts val="0"/>
              </a:spcBef>
            </a:pPr>
            <a:r>
              <a:rPr lang="en-US" altLang="zh-CN" b="0" dirty="0"/>
              <a:t>	while (</a:t>
            </a:r>
            <a:r>
              <a:rPr lang="en-US" altLang="zh-CN" b="0" dirty="0" err="1"/>
              <a:t>curr</a:t>
            </a:r>
            <a:r>
              <a:rPr lang="en-US" altLang="zh-CN" b="0" dirty="0"/>
              <a:t> != 0 &amp;&amp; (Heap[p] &lt; </a:t>
            </a:r>
            <a:r>
              <a:rPr lang="en-US" altLang="zh-CN" b="0" dirty="0" err="1"/>
              <a:t>newKey</a:t>
            </a:r>
            <a:r>
              <a:rPr lang="en-US" altLang="zh-CN" b="0" dirty="0"/>
              <a:t>)){</a:t>
            </a:r>
            <a:endParaRPr lang="zh-CN" altLang="zh-CN" b="0" dirty="0"/>
          </a:p>
          <a:p>
            <a:pPr>
              <a:spcBef>
                <a:spcPts val="0"/>
              </a:spcBef>
            </a:pPr>
            <a:r>
              <a:rPr lang="en-US" altLang="zh-CN" b="0" dirty="0"/>
              <a:t>		swap(Heap[p], Heap[</a:t>
            </a:r>
            <a:r>
              <a:rPr lang="en-US" altLang="zh-CN" b="0" dirty="0" err="1"/>
              <a:t>curr</a:t>
            </a:r>
            <a:r>
              <a:rPr lang="en-US" altLang="zh-CN" b="0" dirty="0"/>
              <a:t>]);  	//</a:t>
            </a:r>
            <a:r>
              <a:rPr lang="en-US" altLang="zh-CN" b="0" dirty="0" err="1"/>
              <a:t>curr</a:t>
            </a:r>
            <a:r>
              <a:rPr lang="zh-CN" altLang="zh-CN" b="0" dirty="0"/>
              <a:t>与其双亲结点交换</a:t>
            </a:r>
          </a:p>
          <a:p>
            <a:pPr>
              <a:spcBef>
                <a:spcPts val="0"/>
              </a:spcBef>
            </a:pPr>
            <a:r>
              <a:rPr lang="en-US" altLang="zh-CN" b="0" dirty="0"/>
              <a:t>		</a:t>
            </a:r>
            <a:r>
              <a:rPr lang="en-US" altLang="zh-CN" b="0" dirty="0" err="1"/>
              <a:t>curr</a:t>
            </a:r>
            <a:r>
              <a:rPr lang="en-US" altLang="zh-CN" b="0" dirty="0"/>
              <a:t> = p;</a:t>
            </a:r>
            <a:endParaRPr lang="zh-CN" altLang="zh-CN" b="0" dirty="0"/>
          </a:p>
          <a:p>
            <a:pPr>
              <a:spcBef>
                <a:spcPts val="0"/>
              </a:spcBef>
            </a:pPr>
            <a:r>
              <a:rPr lang="en-US" altLang="zh-CN" b="0" dirty="0"/>
              <a:t>		p = parent(</a:t>
            </a:r>
            <a:r>
              <a:rPr lang="en-US" altLang="zh-CN" b="0" dirty="0" err="1"/>
              <a:t>curr</a:t>
            </a:r>
            <a:r>
              <a:rPr lang="en-US" altLang="zh-CN" b="0" dirty="0"/>
              <a:t>);</a:t>
            </a:r>
            <a:endParaRPr lang="zh-CN" altLang="zh-CN" b="0" dirty="0"/>
          </a:p>
          <a:p>
            <a:pPr>
              <a:spcBef>
                <a:spcPts val="0"/>
              </a:spcBef>
            </a:pPr>
            <a:r>
              <a:rPr lang="en-US" altLang="zh-CN" b="0" dirty="0"/>
              <a:t>	}</a:t>
            </a:r>
            <a:endParaRPr lang="zh-CN" altLang="zh-CN" b="0" dirty="0"/>
          </a:p>
          <a:p>
            <a:pPr>
              <a:spcBef>
                <a:spcPts val="0"/>
              </a:spcBef>
            </a:pPr>
            <a:r>
              <a:rPr lang="en-US" altLang="zh-CN" b="0" dirty="0"/>
              <a:t>	return true;</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19955932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608512"/>
          </a:xfrm>
        </p:spPr>
        <p:txBody>
          <a:bodyPr>
            <a:normAutofit/>
          </a:bodyPr>
          <a:lstStyle/>
          <a:p>
            <a:pPr>
              <a:buFont typeface="Arial" panose="020B0604020202020204" pitchFamily="34" charset="0"/>
              <a:buChar char="•"/>
            </a:pPr>
            <a:r>
              <a:rPr lang="zh-CN" altLang="zh-CN" b="0" dirty="0"/>
              <a:t>实现向堆中插入一个新元素的操作之后，就可以按照把元素一个接一个插入堆中的方法来建堆。</a:t>
            </a:r>
            <a:endParaRPr lang="en-US" altLang="zh-CN" b="0" dirty="0"/>
          </a:p>
          <a:p>
            <a:pPr>
              <a:buFont typeface="Arial" panose="020B0604020202020204" pitchFamily="34" charset="0"/>
              <a:buChar char="•"/>
            </a:pPr>
            <a:r>
              <a:rPr lang="zh-CN" altLang="zh-CN" b="0" dirty="0"/>
              <a:t>但是最坏情况下，插入一个新元素的值可能要从树的最底层一直交换到顶端，这种插入的时间代价为</a:t>
            </a:r>
            <a:r>
              <a:rPr lang="en-US" altLang="zh-CN" b="0" dirty="0"/>
              <a:t>O(</a:t>
            </a:r>
            <a:r>
              <a:rPr lang="en-US" altLang="zh-CN" b="0" dirty="0" err="1"/>
              <a:t>logn</a:t>
            </a:r>
            <a:r>
              <a:rPr lang="en-US" altLang="zh-CN" b="0" dirty="0"/>
              <a:t>)</a:t>
            </a:r>
            <a:r>
              <a:rPr lang="zh-CN" altLang="en-US" b="0" dirty="0"/>
              <a:t>。</a:t>
            </a:r>
            <a:r>
              <a:rPr lang="zh-CN" altLang="zh-CN" b="0" dirty="0"/>
              <a:t>插入</a:t>
            </a:r>
            <a:r>
              <a:rPr lang="en-US" altLang="zh-CN" b="0" dirty="0"/>
              <a:t>n</a:t>
            </a:r>
            <a:r>
              <a:rPr lang="zh-CN" altLang="zh-CN" b="0" dirty="0"/>
              <a:t>个元素的时间代价就为</a:t>
            </a:r>
            <a:r>
              <a:rPr lang="en-US" altLang="zh-CN" b="0" dirty="0"/>
              <a:t>O(</a:t>
            </a:r>
            <a:r>
              <a:rPr lang="en-US" altLang="zh-CN" b="0" dirty="0" err="1"/>
              <a:t>nlogn</a:t>
            </a:r>
            <a:r>
              <a:rPr lang="en-US" altLang="zh-CN" b="0" dirty="0"/>
              <a:t>)</a:t>
            </a:r>
            <a:r>
              <a:rPr lang="zh-CN" altLang="zh-CN" b="0" dirty="0"/>
              <a:t>。</a:t>
            </a:r>
            <a:endParaRPr lang="en-US" altLang="zh-CN" b="0" dirty="0"/>
          </a:p>
          <a:p>
            <a:pPr>
              <a:buFont typeface="Arial" panose="020B0604020202020204" pitchFamily="34" charset="0"/>
              <a:buChar char="•"/>
            </a:pPr>
            <a:r>
              <a:rPr lang="zh-CN" altLang="zh-CN" b="0" dirty="0"/>
              <a:t>如果在建堆时全部</a:t>
            </a:r>
            <a:r>
              <a:rPr lang="en-US" altLang="zh-CN" b="0" dirty="0"/>
              <a:t>n</a:t>
            </a:r>
            <a:r>
              <a:rPr lang="zh-CN" altLang="zh-CN" b="0" dirty="0"/>
              <a:t>个关键值都已知，可以使用筛选法</a:t>
            </a:r>
            <a:r>
              <a:rPr lang="en-US" altLang="zh-CN" b="0" dirty="0"/>
              <a:t>(Sifting)</a:t>
            </a:r>
            <a:r>
              <a:rPr lang="zh-CN" altLang="zh-CN" b="0" dirty="0"/>
              <a:t>更高效的建堆。</a:t>
            </a:r>
            <a:endParaRPr lang="zh-CN" altLang="en-US" b="0" dirty="0"/>
          </a:p>
        </p:txBody>
      </p:sp>
    </p:spTree>
    <p:extLst>
      <p:ext uri="{BB962C8B-B14F-4D97-AF65-F5344CB8AC3E}">
        <p14:creationId xmlns:p14="http://schemas.microsoft.com/office/powerpoint/2010/main" val="39234912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1"/>
            <a:ext cx="8208912" cy="2376264"/>
          </a:xfrm>
        </p:spPr>
        <p:txBody>
          <a:bodyPr/>
          <a:lstStyle/>
          <a:p>
            <a:pPr>
              <a:lnSpc>
                <a:spcPct val="100000"/>
              </a:lnSpc>
              <a:spcBef>
                <a:spcPts val="0"/>
              </a:spcBef>
            </a:pPr>
            <a:r>
              <a:rPr lang="en-US" altLang="zh-CN" b="0" dirty="0"/>
              <a:t>	</a:t>
            </a:r>
            <a:r>
              <a:rPr lang="zh-CN" altLang="zh-CN" b="0" dirty="0"/>
              <a:t>对于一个给定的结点</a:t>
            </a:r>
            <a:r>
              <a:rPr lang="en-US" altLang="zh-CN" b="0" dirty="0"/>
              <a:t>R</a:t>
            </a:r>
            <a:r>
              <a:rPr lang="zh-CN" altLang="zh-CN" b="0" dirty="0"/>
              <a:t>，如果它的左子树和右子树都已经是堆，则可以通过将结点</a:t>
            </a:r>
            <a:r>
              <a:rPr lang="en-US" altLang="zh-CN" b="0" dirty="0"/>
              <a:t>R</a:t>
            </a:r>
            <a:r>
              <a:rPr lang="zh-CN" altLang="zh-CN" b="0" dirty="0"/>
              <a:t>中的关键值向下筛选的方法将</a:t>
            </a:r>
            <a:r>
              <a:rPr lang="zh-CN" altLang="en-US" b="0" dirty="0"/>
              <a:t>以</a:t>
            </a:r>
            <a:r>
              <a:rPr lang="en-US" altLang="zh-CN" b="0" dirty="0"/>
              <a:t>R</a:t>
            </a:r>
            <a:r>
              <a:rPr lang="zh-CN" altLang="en-US" b="0" dirty="0"/>
              <a:t>为</a:t>
            </a:r>
            <a:r>
              <a:rPr lang="zh-CN" altLang="zh-CN" b="0" dirty="0"/>
              <a:t>根的树调整为堆。</a:t>
            </a:r>
            <a:endParaRPr lang="en-US" altLang="zh-CN" b="0" dirty="0"/>
          </a:p>
          <a:p>
            <a:pPr>
              <a:lnSpc>
                <a:spcPct val="100000"/>
              </a:lnSpc>
              <a:spcBef>
                <a:spcPts val="0"/>
              </a:spcBef>
            </a:pPr>
            <a:r>
              <a:rPr lang="en-US" altLang="zh-CN" b="0" dirty="0"/>
              <a:t>		</a:t>
            </a:r>
            <a:r>
              <a:rPr lang="zh-CN" altLang="zh-CN" b="0" dirty="0"/>
              <a:t>如图</a:t>
            </a:r>
            <a:r>
              <a:rPr lang="en-US" altLang="zh-CN" b="0" dirty="0"/>
              <a:t>5-47</a:t>
            </a:r>
            <a:r>
              <a:rPr lang="zh-CN" altLang="zh-CN" b="0" dirty="0"/>
              <a:t>所示，对于结点</a:t>
            </a:r>
            <a:r>
              <a:rPr lang="en-US" altLang="zh-CN" b="0" dirty="0"/>
              <a:t>3</a:t>
            </a:r>
            <a:r>
              <a:rPr lang="zh-CN" altLang="zh-CN" b="0" dirty="0"/>
              <a:t>，其左右子树均已成大顶堆，只需将结点</a:t>
            </a:r>
            <a:r>
              <a:rPr lang="en-US" altLang="zh-CN" b="0" dirty="0"/>
              <a:t>3</a:t>
            </a:r>
            <a:r>
              <a:rPr lang="zh-CN" altLang="zh-CN" b="0" dirty="0"/>
              <a:t>通过</a:t>
            </a:r>
            <a:r>
              <a:rPr lang="en-US" altLang="zh-CN" b="0" dirty="0"/>
              <a:t>3</a:t>
            </a:r>
            <a:r>
              <a:rPr lang="zh-CN" altLang="zh-CN" b="0" dirty="0"/>
              <a:t>次向下筛选，即可将初始根结点为</a:t>
            </a:r>
            <a:r>
              <a:rPr lang="en-US" altLang="zh-CN" b="0" dirty="0"/>
              <a:t>3</a:t>
            </a:r>
            <a:r>
              <a:rPr lang="zh-CN" altLang="zh-CN" b="0" dirty="0"/>
              <a:t>的树调整为大顶堆。</a:t>
            </a:r>
          </a:p>
          <a:p>
            <a:pPr>
              <a:lnSpc>
                <a:spcPct val="100000"/>
              </a:lnSpc>
              <a:spcBef>
                <a:spcPts val="0"/>
              </a:spcBef>
            </a:pPr>
            <a:endParaRPr lang="zh-CN" altLang="en-US" dirty="0"/>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1666" y="3212976"/>
            <a:ext cx="5400600" cy="3074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16481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dirty="0">
                <a:solidFill>
                  <a:srgbClr val="FF0000"/>
                </a:solidFill>
              </a:rPr>
              <a:t>筛选法建堆的步骤：</a:t>
            </a:r>
          </a:p>
          <a:p>
            <a:r>
              <a:rPr lang="en-US" altLang="zh-CN" b="0" dirty="0"/>
              <a:t>	(1) </a:t>
            </a:r>
            <a:r>
              <a:rPr lang="zh-CN" altLang="zh-CN" b="0" dirty="0"/>
              <a:t>将所有</a:t>
            </a:r>
            <a:r>
              <a:rPr lang="en-US" altLang="zh-CN" b="0" dirty="0"/>
              <a:t>n</a:t>
            </a:r>
            <a:r>
              <a:rPr lang="zh-CN" altLang="zh-CN" b="0" dirty="0"/>
              <a:t>个已知的关键值保存到数组中，此时形成</a:t>
            </a:r>
            <a:r>
              <a:rPr lang="zh-CN" altLang="en-US" b="0" dirty="0"/>
              <a:t>也许</a:t>
            </a:r>
            <a:r>
              <a:rPr lang="zh-CN" altLang="zh-CN" b="0" dirty="0"/>
              <a:t>不满足堆特性的完全二叉树；</a:t>
            </a:r>
          </a:p>
          <a:p>
            <a:r>
              <a:rPr lang="en-US" altLang="zh-CN" b="0" dirty="0"/>
              <a:t>	(2) </a:t>
            </a:r>
            <a:r>
              <a:rPr lang="zh-CN" altLang="zh-CN" b="0" dirty="0">
                <a:solidFill>
                  <a:srgbClr val="FF0000"/>
                </a:solidFill>
              </a:rPr>
              <a:t>从最后一个内部结点</a:t>
            </a:r>
            <a:r>
              <a:rPr lang="en-US" altLang="zh-CN" b="0" dirty="0"/>
              <a:t>(</a:t>
            </a:r>
            <a:r>
              <a:rPr lang="zh-CN" altLang="zh-CN" b="0" dirty="0"/>
              <a:t>该结点位于完全二叉树的倒数第二层，在数组中的位置为</a:t>
            </a:r>
            <a:r>
              <a:rPr lang="zh-CN" altLang="en-US" b="0" dirty="0">
                <a:latin typeface="Cambria Math"/>
              </a:rPr>
              <a:t>⌊</a:t>
            </a:r>
            <a:r>
              <a:rPr lang="en-US" altLang="zh-CN" b="0" dirty="0"/>
              <a:t>n/2</a:t>
            </a:r>
            <a:r>
              <a:rPr lang="zh-CN" altLang="en-US" b="0" dirty="0">
                <a:latin typeface="Cambria Math"/>
              </a:rPr>
              <a:t>⌋</a:t>
            </a:r>
            <a:r>
              <a:rPr lang="en-US" altLang="zh-CN" b="0" dirty="0"/>
              <a:t>-1)</a:t>
            </a:r>
            <a:r>
              <a:rPr lang="zh-CN" altLang="zh-CN" b="0" dirty="0">
                <a:solidFill>
                  <a:srgbClr val="FF0000"/>
                </a:solidFill>
              </a:rPr>
              <a:t>开始，用筛选法从右至左从下到上依次调整每个内部节点，直到到达根结点，整棵完全二叉树就成为一个堆</a:t>
            </a:r>
            <a:r>
              <a:rPr lang="zh-CN" altLang="zh-CN" b="0" dirty="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001024" y="571480"/>
            <a:ext cx="420337" cy="421574"/>
          </a:xfrm>
          <a:prstGeom prst="rect">
            <a:avLst/>
          </a:prstGeom>
        </p:spPr>
      </p:pic>
    </p:spTree>
    <p:extLst>
      <p:ext uri="{BB962C8B-B14F-4D97-AF65-F5344CB8AC3E}">
        <p14:creationId xmlns:p14="http://schemas.microsoft.com/office/powerpoint/2010/main" val="6731814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en-US" altLang="zh-CN" b="0" dirty="0"/>
              <a:t>	</a:t>
            </a:r>
            <a:r>
              <a:rPr lang="zh-CN" altLang="zh-CN" b="0" dirty="0"/>
              <a:t>为给定一组关键值</a:t>
            </a:r>
            <a:r>
              <a:rPr lang="en-US" altLang="zh-CN" b="0" dirty="0"/>
              <a:t>{14, 16, 21, 18, 30, 35}</a:t>
            </a:r>
            <a:r>
              <a:rPr lang="zh-CN" altLang="zh-CN" b="0" dirty="0"/>
              <a:t>建大顶堆的过程如图</a:t>
            </a:r>
            <a:r>
              <a:rPr lang="en-US" altLang="zh-CN" b="0" dirty="0"/>
              <a:t>5-48</a:t>
            </a:r>
            <a:r>
              <a:rPr lang="zh-CN" altLang="zh-CN" b="0" dirty="0"/>
              <a:t>所示。</a:t>
            </a:r>
          </a:p>
          <a:p>
            <a:endParaRPr lang="zh-CN" altLang="en-US" b="0" dirty="0"/>
          </a:p>
        </p:txBody>
      </p:sp>
      <p:pic>
        <p:nvPicPr>
          <p:cNvPr id="481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988840"/>
            <a:ext cx="7047130"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55133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3579849"/>
          </a:xfrm>
        </p:spPr>
        <p:txBody>
          <a:bodyPr>
            <a:normAutofit fontScale="92500" lnSpcReduction="20000"/>
          </a:bodyPr>
          <a:lstStyle/>
          <a:p>
            <a:r>
              <a:rPr lang="zh-CN" altLang="zh-CN" dirty="0"/>
              <a:t>筛选法建堆的算法实现如下：</a:t>
            </a:r>
          </a:p>
          <a:p>
            <a:r>
              <a:rPr lang="zh-CN" altLang="zh-CN" dirty="0"/>
              <a:t>算法</a:t>
            </a:r>
            <a:r>
              <a:rPr lang="en-US" altLang="zh-CN" dirty="0"/>
              <a:t>5.25</a:t>
            </a:r>
            <a:r>
              <a:rPr lang="zh-CN" altLang="zh-CN" dirty="0"/>
              <a:t>：筛选法建堆</a:t>
            </a:r>
          </a:p>
          <a:p>
            <a:r>
              <a:rPr lang="en-US" altLang="zh-CN" b="0" dirty="0"/>
              <a:t>template&lt;class T&gt;</a:t>
            </a:r>
            <a:endParaRPr lang="zh-CN" altLang="zh-CN" b="0" dirty="0"/>
          </a:p>
          <a:p>
            <a:r>
              <a:rPr lang="en-US" altLang="zh-CN" b="0" dirty="0"/>
              <a:t>void </a:t>
            </a:r>
            <a:r>
              <a:rPr lang="en-US" altLang="zh-CN" b="0" dirty="0" err="1"/>
              <a:t>MaxHeap</a:t>
            </a:r>
            <a:r>
              <a:rPr lang="en-US" altLang="zh-CN" b="0" dirty="0"/>
              <a:t>&lt;T&gt;::</a:t>
            </a:r>
            <a:r>
              <a:rPr lang="en-US" altLang="zh-CN" b="0" dirty="0" err="1"/>
              <a:t>BuildHeap</a:t>
            </a:r>
            <a:r>
              <a:rPr lang="en-US" altLang="zh-CN" b="0" dirty="0"/>
              <a:t>(){</a:t>
            </a:r>
            <a:endParaRPr lang="zh-CN" altLang="zh-CN" b="0" dirty="0"/>
          </a:p>
          <a:p>
            <a:r>
              <a:rPr lang="en-US" altLang="zh-CN" b="0" dirty="0"/>
              <a:t>	for (</a:t>
            </a:r>
            <a:r>
              <a:rPr lang="en-US" altLang="zh-CN" b="0" dirty="0" err="1"/>
              <a:t>int</a:t>
            </a:r>
            <a:r>
              <a:rPr lang="en-US" altLang="zh-CN" b="0" dirty="0"/>
              <a:t> </a:t>
            </a:r>
            <a:r>
              <a:rPr lang="en-US" altLang="zh-CN" b="0" dirty="0" err="1"/>
              <a:t>i</a:t>
            </a:r>
            <a:r>
              <a:rPr lang="en-US" altLang="zh-CN" b="0" dirty="0"/>
              <a:t> = n/2-1; </a:t>
            </a:r>
            <a:r>
              <a:rPr lang="en-US" altLang="zh-CN" b="0" dirty="0" err="1"/>
              <a:t>i</a:t>
            </a:r>
            <a:r>
              <a:rPr lang="en-US" altLang="zh-CN" b="0" dirty="0"/>
              <a:t> &gt;= 0; </a:t>
            </a:r>
            <a:r>
              <a:rPr lang="en-US" altLang="zh-CN" b="0" dirty="0" err="1"/>
              <a:t>i</a:t>
            </a:r>
            <a:r>
              <a:rPr lang="en-US" altLang="zh-CN" b="0" dirty="0"/>
              <a:t>--)</a:t>
            </a:r>
            <a:endParaRPr lang="zh-CN" altLang="zh-CN" b="0" dirty="0"/>
          </a:p>
          <a:p>
            <a:r>
              <a:rPr lang="en-US" altLang="zh-CN" b="0" dirty="0"/>
              <a:t>		</a:t>
            </a:r>
            <a:r>
              <a:rPr lang="en-US" altLang="zh-CN" b="0" dirty="0" err="1"/>
              <a:t>SiftDown</a:t>
            </a:r>
            <a:r>
              <a:rPr lang="en-US" altLang="zh-CN" b="0" dirty="0"/>
              <a:t>(</a:t>
            </a:r>
            <a:r>
              <a:rPr lang="en-US" altLang="zh-CN" b="0" dirty="0" err="1"/>
              <a:t>i</a:t>
            </a:r>
            <a:r>
              <a:rPr lang="en-US" altLang="zh-CN" b="0" dirty="0"/>
              <a:t>);</a:t>
            </a:r>
            <a:endParaRPr lang="zh-CN" altLang="zh-CN" b="0" dirty="0"/>
          </a:p>
          <a:p>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353335606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84576"/>
          </a:xfrm>
        </p:spPr>
        <p:txBody>
          <a:bodyPr>
            <a:noAutofit/>
          </a:bodyPr>
          <a:lstStyle/>
          <a:p>
            <a:pPr>
              <a:spcBef>
                <a:spcPts val="0"/>
              </a:spcBef>
            </a:pPr>
            <a:r>
              <a:rPr lang="zh-CN" altLang="zh-CN" sz="2000" dirty="0"/>
              <a:t>算法</a:t>
            </a:r>
            <a:r>
              <a:rPr lang="en-US" altLang="zh-CN" sz="2000" dirty="0"/>
              <a:t>5.26</a:t>
            </a:r>
            <a:r>
              <a:rPr lang="zh-CN" altLang="zh-CN" sz="2000" dirty="0"/>
              <a:t>：筛选法调整</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MaxHeap</a:t>
            </a:r>
            <a:r>
              <a:rPr lang="en-US" altLang="zh-CN" sz="2000" b="0" dirty="0"/>
              <a:t>&lt;T&gt;::</a:t>
            </a:r>
            <a:r>
              <a:rPr lang="en-US" altLang="zh-CN" sz="2000" b="0" dirty="0" err="1"/>
              <a:t>SiftDown</a:t>
            </a:r>
            <a:r>
              <a:rPr lang="en-US" altLang="zh-CN" sz="2000" b="0" dirty="0"/>
              <a:t>(</a:t>
            </a:r>
            <a:r>
              <a:rPr lang="en-US" altLang="zh-CN" sz="2000" b="0" dirty="0" err="1"/>
              <a:t>int</a:t>
            </a:r>
            <a:r>
              <a:rPr lang="en-US" altLang="zh-CN" sz="2000" b="0" dirty="0"/>
              <a:t> pos){</a:t>
            </a:r>
            <a:endParaRPr lang="zh-CN" altLang="zh-CN" sz="2000" b="0" dirty="0"/>
          </a:p>
          <a:p>
            <a:pPr>
              <a:spcBef>
                <a:spcPts val="0"/>
              </a:spcBef>
            </a:pPr>
            <a:r>
              <a:rPr lang="en-US" altLang="zh-CN" sz="2000" b="0" dirty="0"/>
              <a:t>	if (pos &lt; 0 || pos &gt;= n) </a:t>
            </a:r>
            <a:r>
              <a:rPr lang="en-US" altLang="zh-CN" sz="2000" b="0" dirty="0" err="1"/>
              <a:t>cout</a:t>
            </a:r>
            <a:r>
              <a:rPr lang="en-US" altLang="zh-CN" sz="2000" b="0" dirty="0"/>
              <a:t> &lt;&lt; "Heap is null or full!" &lt;&lt; </a:t>
            </a:r>
            <a:r>
              <a:rPr lang="en-US" altLang="zh-CN" sz="2000" b="0" dirty="0" err="1"/>
              <a:t>endl</a:t>
            </a:r>
            <a:r>
              <a:rPr lang="en-US" altLang="zh-CN" sz="2000" b="0" dirty="0"/>
              <a:t>;</a:t>
            </a:r>
            <a:endParaRPr lang="zh-CN" altLang="zh-CN" sz="2000" b="0" dirty="0"/>
          </a:p>
          <a:p>
            <a:pPr>
              <a:spcBef>
                <a:spcPts val="0"/>
              </a:spcBef>
            </a:pPr>
            <a:r>
              <a:rPr lang="en-US" altLang="zh-CN" sz="2000" b="0" dirty="0"/>
              <a:t>	T temp = Heap[</a:t>
            </a:r>
            <a:r>
              <a:rPr lang="en-US" altLang="zh-CN" sz="2000" b="0" dirty="0" err="1"/>
              <a:t>pos</a:t>
            </a:r>
            <a:r>
              <a:rPr lang="en-US" altLang="zh-CN" sz="2000" b="0" dirty="0"/>
              <a:t>];</a:t>
            </a:r>
            <a:endParaRPr lang="zh-CN" altLang="zh-CN" sz="2000" b="0" dirty="0"/>
          </a:p>
          <a:p>
            <a:pPr>
              <a:spcBef>
                <a:spcPts val="0"/>
              </a:spcBef>
            </a:pPr>
            <a:r>
              <a:rPr lang="en-US" altLang="zh-CN" sz="2000" b="0" dirty="0"/>
              <a:t>	while (!</a:t>
            </a:r>
            <a:r>
              <a:rPr lang="en-US" altLang="zh-CN" sz="2000" b="0" dirty="0" err="1"/>
              <a:t>isLeaf</a:t>
            </a:r>
            <a:r>
              <a:rPr lang="en-US" altLang="zh-CN" sz="2000" b="0" dirty="0"/>
              <a:t>(pos)){</a:t>
            </a:r>
            <a:endParaRPr lang="zh-CN" altLang="zh-CN" sz="2000" b="0" dirty="0"/>
          </a:p>
          <a:p>
            <a:pPr>
              <a:spcBef>
                <a:spcPts val="0"/>
              </a:spcBef>
            </a:pPr>
            <a:r>
              <a:rPr lang="en-US" altLang="zh-CN" sz="2000" b="0" dirty="0"/>
              <a:t>		</a:t>
            </a:r>
            <a:r>
              <a:rPr lang="en-US" altLang="zh-CN" sz="2000" b="0" dirty="0" err="1"/>
              <a:t>int</a:t>
            </a:r>
            <a:r>
              <a:rPr lang="en-US" altLang="zh-CN" sz="2000" b="0" dirty="0"/>
              <a:t> </a:t>
            </a:r>
            <a:r>
              <a:rPr lang="en-US" altLang="zh-CN" sz="2000" b="0" dirty="0" err="1"/>
              <a:t>lc</a:t>
            </a:r>
            <a:r>
              <a:rPr lang="en-US" altLang="zh-CN" sz="2000" b="0" dirty="0"/>
              <a:t> = </a:t>
            </a:r>
            <a:r>
              <a:rPr lang="en-US" altLang="zh-CN" sz="2000" b="0" dirty="0" err="1"/>
              <a:t>leftchild</a:t>
            </a:r>
            <a:r>
              <a:rPr lang="en-US" altLang="zh-CN" sz="2000" b="0" dirty="0"/>
              <a:t>(pos);</a:t>
            </a:r>
            <a:endParaRPr lang="zh-CN" altLang="zh-CN" sz="2000" b="0" dirty="0"/>
          </a:p>
          <a:p>
            <a:pPr>
              <a:spcBef>
                <a:spcPts val="0"/>
              </a:spcBef>
            </a:pPr>
            <a:r>
              <a:rPr lang="en-US" altLang="zh-CN" sz="2000" b="0" dirty="0"/>
              <a:t>		if ((</a:t>
            </a:r>
            <a:r>
              <a:rPr lang="en-US" altLang="zh-CN" sz="2000" b="0" dirty="0" err="1"/>
              <a:t>lc</a:t>
            </a:r>
            <a:r>
              <a:rPr lang="en-US" altLang="zh-CN" sz="2000" b="0" dirty="0"/>
              <a:t> &lt; n-1) &amp;&amp; Heap[</a:t>
            </a:r>
            <a:r>
              <a:rPr lang="en-US" altLang="zh-CN" sz="2000" b="0" dirty="0" err="1"/>
              <a:t>lc</a:t>
            </a:r>
            <a:r>
              <a:rPr lang="en-US" altLang="zh-CN" sz="2000" b="0" dirty="0"/>
              <a:t>] &lt; Heap[lc+1])  </a:t>
            </a:r>
            <a:r>
              <a:rPr lang="en-US" altLang="zh-CN" sz="2000" b="0" dirty="0" err="1"/>
              <a:t>lc</a:t>
            </a:r>
            <a:r>
              <a:rPr lang="en-US" altLang="zh-CN" sz="2000" b="0" dirty="0"/>
              <a:t>++;</a:t>
            </a:r>
            <a:endParaRPr lang="zh-CN" altLang="zh-CN" sz="2000" b="0" dirty="0"/>
          </a:p>
          <a:p>
            <a:pPr>
              <a:spcBef>
                <a:spcPts val="0"/>
              </a:spcBef>
            </a:pPr>
            <a:r>
              <a:rPr lang="en-US" altLang="zh-CN" sz="2000" b="0" dirty="0"/>
              <a:t>		if (temp &gt;= Heap[</a:t>
            </a:r>
            <a:r>
              <a:rPr lang="en-US" altLang="zh-CN" sz="2000" b="0" dirty="0" err="1"/>
              <a:t>lc</a:t>
            </a:r>
            <a:r>
              <a:rPr lang="en-US" altLang="zh-CN" sz="2000" b="0" dirty="0"/>
              <a:t>]) break;</a:t>
            </a:r>
            <a:endParaRPr lang="zh-CN" altLang="zh-CN" sz="2000" b="0" dirty="0"/>
          </a:p>
          <a:p>
            <a:pPr>
              <a:spcBef>
                <a:spcPts val="0"/>
              </a:spcBef>
            </a:pPr>
            <a:r>
              <a:rPr lang="en-US" altLang="zh-CN" sz="2000" b="0" dirty="0"/>
              <a:t>		Heap[</a:t>
            </a:r>
            <a:r>
              <a:rPr lang="en-US" altLang="zh-CN" sz="2000" b="0" dirty="0" err="1"/>
              <a:t>pos</a:t>
            </a:r>
            <a:r>
              <a:rPr lang="en-US" altLang="zh-CN" sz="2000" b="0" dirty="0"/>
              <a:t>] = Heap[</a:t>
            </a:r>
            <a:r>
              <a:rPr lang="en-US" altLang="zh-CN" sz="2000" b="0" dirty="0" err="1"/>
              <a:t>lc</a:t>
            </a:r>
            <a:r>
              <a:rPr lang="en-US" altLang="zh-CN" sz="2000" b="0" dirty="0"/>
              <a:t>];</a:t>
            </a:r>
            <a:endParaRPr lang="zh-CN" altLang="zh-CN" sz="2000" b="0" dirty="0"/>
          </a:p>
          <a:p>
            <a:pPr>
              <a:spcBef>
                <a:spcPts val="0"/>
              </a:spcBef>
            </a:pPr>
            <a:r>
              <a:rPr lang="en-US" altLang="zh-CN" sz="2000" b="0" dirty="0"/>
              <a:t>		</a:t>
            </a:r>
            <a:r>
              <a:rPr lang="en-US" altLang="zh-CN" sz="2000" b="0" dirty="0" err="1"/>
              <a:t>pos</a:t>
            </a:r>
            <a:r>
              <a:rPr lang="en-US" altLang="zh-CN" sz="2000" b="0" dirty="0"/>
              <a:t> = </a:t>
            </a:r>
            <a:r>
              <a:rPr lang="en-US" altLang="zh-CN" sz="2000" b="0" dirty="0" err="1"/>
              <a:t>lc</a:t>
            </a:r>
            <a:r>
              <a:rPr lang="en-US" altLang="zh-CN" sz="2000" b="0" dirty="0"/>
              <a:t>;</a:t>
            </a:r>
            <a:endParaRPr lang="zh-CN" altLang="zh-CN" sz="2000" b="0" dirty="0"/>
          </a:p>
          <a:p>
            <a:pPr>
              <a:spcBef>
                <a:spcPts val="0"/>
              </a:spcBef>
            </a:pPr>
            <a:r>
              <a:rPr lang="en-US" altLang="zh-CN" sz="2000" b="0" dirty="0"/>
              <a:t>	}</a:t>
            </a:r>
            <a:endParaRPr lang="zh-CN" altLang="zh-CN" sz="2000" b="0" dirty="0"/>
          </a:p>
          <a:p>
            <a:pPr>
              <a:spcBef>
                <a:spcPts val="0"/>
              </a:spcBef>
            </a:pPr>
            <a:r>
              <a:rPr lang="en-US" altLang="zh-CN" sz="2000" b="0" dirty="0"/>
              <a:t>	Heap[</a:t>
            </a:r>
            <a:r>
              <a:rPr lang="en-US" altLang="zh-CN" sz="2000" b="0" dirty="0" err="1"/>
              <a:t>pos</a:t>
            </a:r>
            <a:r>
              <a:rPr lang="en-US" altLang="zh-CN" sz="2000" b="0" dirty="0"/>
              <a:t>] = temp;</a:t>
            </a:r>
            <a:endParaRPr lang="zh-CN" altLang="zh-CN" sz="2000" b="0" dirty="0"/>
          </a:p>
          <a:p>
            <a:pPr>
              <a:spcBef>
                <a:spcPts val="0"/>
              </a:spcBef>
            </a:pPr>
            <a:r>
              <a:rPr lang="en-US" altLang="zh-CN" sz="2000" b="0" dirty="0"/>
              <a:t>}</a:t>
            </a:r>
            <a:endParaRPr lang="zh-CN" altLang="zh-CN" sz="2000" b="0" dirty="0"/>
          </a:p>
        </p:txBody>
      </p:sp>
    </p:spTree>
    <p:extLst>
      <p:ext uri="{BB962C8B-B14F-4D97-AF65-F5344CB8AC3E}">
        <p14:creationId xmlns:p14="http://schemas.microsoft.com/office/powerpoint/2010/main" val="253158802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1071546"/>
            <a:ext cx="7520940" cy="3579849"/>
          </a:xfrm>
        </p:spPr>
        <p:txBody>
          <a:bodyPr/>
          <a:lstStyle/>
          <a:p>
            <a:r>
              <a:rPr lang="en-US" altLang="zh-CN" b="0" dirty="0"/>
              <a:t>	</a:t>
            </a:r>
            <a:r>
              <a:rPr lang="zh-CN" altLang="en-US" b="0" dirty="0"/>
              <a:t>具有</a:t>
            </a:r>
            <a:r>
              <a:rPr lang="en-US" b="0" dirty="0"/>
              <a:t>n</a:t>
            </a:r>
            <a:r>
              <a:rPr lang="zh-CN" altLang="en-US" b="0" dirty="0"/>
              <a:t>个结点的完全二叉树的深度为，筛选法调整堆的算法</a:t>
            </a:r>
            <a:r>
              <a:rPr lang="en-US" b="0" dirty="0" err="1"/>
              <a:t>SiftDown</a:t>
            </a:r>
            <a:r>
              <a:rPr lang="zh-CN" altLang="en-US" b="0" dirty="0"/>
              <a:t>的最大代价是结点向下移至树的最底层</a:t>
            </a:r>
            <a:r>
              <a:rPr lang="en-US" altLang="zh-CN" b="0" dirty="0"/>
              <a:t>(</a:t>
            </a:r>
            <a:r>
              <a:rPr lang="zh-CN" altLang="en-US" b="0" dirty="0"/>
              <a:t>即叶子结点层</a:t>
            </a:r>
            <a:r>
              <a:rPr lang="en-US" altLang="zh-CN" b="0" dirty="0"/>
              <a:t>)</a:t>
            </a:r>
            <a:r>
              <a:rPr lang="zh-CN" altLang="en-US" b="0" dirty="0"/>
              <a:t>的层数，因此最坏情况下代价为</a:t>
            </a:r>
            <a:r>
              <a:rPr lang="en-US" b="0" dirty="0"/>
              <a:t>O(</a:t>
            </a:r>
            <a:r>
              <a:rPr lang="en-US" b="0" dirty="0" err="1"/>
              <a:t>logn</a:t>
            </a:r>
            <a:r>
              <a:rPr lang="en-US" b="0" dirty="0"/>
              <a:t>)</a:t>
            </a:r>
            <a:r>
              <a:rPr lang="zh-CN" altLang="en-US" b="0" dirty="0"/>
              <a:t>，其中有</a:t>
            </a:r>
            <a:r>
              <a:rPr lang="en-US" b="0" dirty="0"/>
              <a:t>2log(n)</a:t>
            </a:r>
            <a:r>
              <a:rPr lang="zh-CN" altLang="en-US" b="0" dirty="0"/>
              <a:t>次比较和</a:t>
            </a:r>
            <a:r>
              <a:rPr lang="en-US" b="0" dirty="0"/>
              <a:t>log(n)</a:t>
            </a:r>
            <a:r>
              <a:rPr lang="zh-CN" altLang="en-US" b="0" dirty="0"/>
              <a:t>次移动。</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662" y="3286124"/>
            <a:ext cx="7072362" cy="2865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920880" cy="3579849"/>
          </a:xfrm>
        </p:spPr>
        <p:txBody>
          <a:bodyPr/>
          <a:lstStyle/>
          <a:p>
            <a:pPr>
              <a:buFont typeface="Arial" panose="020B0604020202020204" pitchFamily="34" charset="0"/>
              <a:buChar char="•"/>
            </a:pPr>
            <a:r>
              <a:rPr lang="zh-CN" altLang="zh-CN" b="0" dirty="0"/>
              <a:t>堆还有一个基本操作</a:t>
            </a:r>
            <a:r>
              <a:rPr lang="en-US" altLang="zh-CN" b="0" dirty="0"/>
              <a:t>——</a:t>
            </a:r>
            <a:r>
              <a:rPr lang="zh-CN" altLang="zh-CN" b="0" dirty="0"/>
              <a:t>删除堆的根结点，即删除堆中最大</a:t>
            </a:r>
            <a:r>
              <a:rPr lang="en-US" altLang="zh-CN" b="0" dirty="0"/>
              <a:t>(</a:t>
            </a:r>
            <a:r>
              <a:rPr lang="zh-CN" altLang="zh-CN" b="0" dirty="0"/>
              <a:t>或最小</a:t>
            </a:r>
            <a:r>
              <a:rPr lang="en-US" altLang="zh-CN" b="0" dirty="0"/>
              <a:t>)</a:t>
            </a:r>
            <a:r>
              <a:rPr lang="zh-CN" altLang="zh-CN" b="0" dirty="0"/>
              <a:t>的关键值结点。</a:t>
            </a:r>
            <a:endParaRPr lang="en-US" altLang="zh-CN" b="0" dirty="0"/>
          </a:p>
          <a:p>
            <a:pPr>
              <a:buFont typeface="Arial" panose="020B0604020202020204" pitchFamily="34" charset="0"/>
              <a:buChar char="•"/>
            </a:pPr>
            <a:r>
              <a:rPr lang="zh-CN" altLang="zh-CN" b="0" dirty="0"/>
              <a:t>删除结点后堆的特性可以通过筛选法调整算法</a:t>
            </a:r>
            <a:r>
              <a:rPr lang="en-US" altLang="zh-CN" b="0" dirty="0" err="1"/>
              <a:t>SiftDown</a:t>
            </a:r>
            <a:r>
              <a:rPr lang="zh-CN" altLang="zh-CN" b="0" dirty="0"/>
              <a:t>来保持。</a:t>
            </a:r>
            <a:r>
              <a:rPr lang="en-US" altLang="zh-CN" b="0" dirty="0"/>
              <a:t>(</a:t>
            </a:r>
            <a:r>
              <a:rPr lang="zh-CN" altLang="en-US" dirty="0">
                <a:solidFill>
                  <a:srgbClr val="0000FF"/>
                </a:solidFill>
              </a:rPr>
              <a:t>用最后一个元素替代对顶元素</a:t>
            </a:r>
            <a:r>
              <a:rPr lang="en-US" altLang="zh-CN" b="0" dirty="0"/>
              <a:t>)</a:t>
            </a:r>
          </a:p>
          <a:p>
            <a:pPr>
              <a:buFont typeface="Arial" panose="020B0604020202020204" pitchFamily="34" charset="0"/>
              <a:buChar char="•"/>
            </a:pPr>
            <a:r>
              <a:rPr lang="zh-CN" altLang="zh-CN" b="0" dirty="0"/>
              <a:t>如图</a:t>
            </a:r>
            <a:r>
              <a:rPr lang="en-US" altLang="zh-CN" b="0" dirty="0"/>
              <a:t>5-50</a:t>
            </a:r>
            <a:r>
              <a:rPr lang="zh-CN" altLang="zh-CN" b="0" dirty="0"/>
              <a:t>所示为删除大顶堆中的最大关键值</a:t>
            </a:r>
            <a:r>
              <a:rPr lang="en-US" altLang="zh-CN" b="0" dirty="0"/>
              <a:t>38</a:t>
            </a:r>
            <a:r>
              <a:rPr lang="zh-CN" altLang="zh-CN" b="0" dirty="0"/>
              <a:t>的过程。</a:t>
            </a:r>
          </a:p>
          <a:p>
            <a:endParaRPr lang="zh-CN" altLang="en-US" dirty="0"/>
          </a:p>
        </p:txBody>
      </p:sp>
    </p:spTree>
    <p:extLst>
      <p:ext uri="{BB962C8B-B14F-4D97-AF65-F5344CB8AC3E}">
        <p14:creationId xmlns:p14="http://schemas.microsoft.com/office/powerpoint/2010/main" val="996307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39454" y="1052736"/>
            <a:ext cx="7661783" cy="4968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038466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00108"/>
            <a:ext cx="8064896" cy="5357850"/>
          </a:xfrm>
        </p:spPr>
        <p:txBody>
          <a:bodyPr>
            <a:normAutofit fontScale="85000" lnSpcReduction="20000"/>
          </a:bodyPr>
          <a:lstStyle/>
          <a:p>
            <a:r>
              <a:rPr lang="en-US" altLang="zh-CN" dirty="0"/>
              <a:t>	</a:t>
            </a:r>
            <a:r>
              <a:rPr lang="zh-CN" altLang="en-US" dirty="0"/>
              <a:t>删除大顶堆中最大关键值元素的算法实现如下：</a:t>
            </a:r>
          </a:p>
          <a:p>
            <a:r>
              <a:rPr lang="en-US" dirty="0"/>
              <a:t>	</a:t>
            </a:r>
            <a:r>
              <a:rPr lang="zh-CN" altLang="en-US" dirty="0"/>
              <a:t>算法</a:t>
            </a:r>
            <a:r>
              <a:rPr lang="en-US" dirty="0"/>
              <a:t>5.27 </a:t>
            </a:r>
            <a:r>
              <a:rPr lang="zh-CN" altLang="en-US" dirty="0"/>
              <a:t>删除大顶堆中最大关键值元素的算法</a:t>
            </a:r>
          </a:p>
          <a:p>
            <a:pPr lvl="3">
              <a:buNone/>
            </a:pPr>
            <a:r>
              <a:rPr lang="en-US" dirty="0"/>
              <a:t>template&lt;class T&gt;</a:t>
            </a:r>
            <a:endParaRPr lang="zh-CN" altLang="en-US" dirty="0"/>
          </a:p>
          <a:p>
            <a:pPr lvl="3">
              <a:buNone/>
            </a:pPr>
            <a:r>
              <a:rPr lang="en-US" dirty="0"/>
              <a:t>T&amp; </a:t>
            </a:r>
            <a:r>
              <a:rPr lang="en-US" dirty="0" err="1"/>
              <a:t>MaxHeap</a:t>
            </a:r>
            <a:r>
              <a:rPr lang="en-US" dirty="0"/>
              <a:t>&lt;T&gt;::</a:t>
            </a:r>
            <a:r>
              <a:rPr lang="en-US" dirty="0" err="1"/>
              <a:t>RemoveMax</a:t>
            </a:r>
            <a:r>
              <a:rPr lang="en-US" dirty="0"/>
              <a:t>(){</a:t>
            </a:r>
            <a:endParaRPr lang="zh-CN" altLang="en-US" dirty="0"/>
          </a:p>
          <a:p>
            <a:pPr lvl="3">
              <a:buNone/>
            </a:pPr>
            <a:r>
              <a:rPr lang="en-US" dirty="0"/>
              <a:t>		if (n == 0)	</a:t>
            </a:r>
            <a:r>
              <a:rPr lang="en-US" dirty="0" err="1"/>
              <a:t>cout</a:t>
            </a:r>
            <a:r>
              <a:rPr lang="en-US" dirty="0"/>
              <a:t> &lt;&lt; "Removing from empty Heap!" &lt;&lt; </a:t>
            </a:r>
            <a:r>
              <a:rPr lang="en-US" dirty="0" err="1"/>
              <a:t>endl</a:t>
            </a:r>
            <a:r>
              <a:rPr lang="en-US" dirty="0"/>
              <a:t>;</a:t>
            </a:r>
            <a:endParaRPr lang="zh-CN" altLang="en-US" dirty="0"/>
          </a:p>
          <a:p>
            <a:pPr lvl="3">
              <a:buNone/>
            </a:pPr>
            <a:r>
              <a:rPr lang="en-US" dirty="0"/>
              <a:t>		T temp = Heap[0];</a:t>
            </a:r>
            <a:endParaRPr lang="zh-CN" altLang="en-US" dirty="0"/>
          </a:p>
          <a:p>
            <a:pPr lvl="3">
              <a:buNone/>
            </a:pPr>
            <a:r>
              <a:rPr lang="en-US" dirty="0"/>
              <a:t>		if (--n != 0){</a:t>
            </a:r>
            <a:endParaRPr lang="zh-CN" altLang="en-US" dirty="0"/>
          </a:p>
          <a:p>
            <a:pPr lvl="3">
              <a:buNone/>
            </a:pPr>
            <a:r>
              <a:rPr lang="en-US" dirty="0"/>
              <a:t>			Heap[0] = Heap[n];</a:t>
            </a:r>
            <a:endParaRPr lang="zh-CN" altLang="en-US" dirty="0"/>
          </a:p>
          <a:p>
            <a:pPr lvl="3">
              <a:buNone/>
            </a:pPr>
            <a:r>
              <a:rPr lang="en-US" dirty="0"/>
              <a:t>			</a:t>
            </a:r>
            <a:r>
              <a:rPr lang="en-US" dirty="0" err="1"/>
              <a:t>SiftDown</a:t>
            </a:r>
            <a:r>
              <a:rPr lang="en-US" dirty="0"/>
              <a:t>(0);</a:t>
            </a:r>
            <a:endParaRPr lang="zh-CN" altLang="en-US" dirty="0"/>
          </a:p>
          <a:p>
            <a:pPr lvl="3">
              <a:buNone/>
            </a:pPr>
            <a:r>
              <a:rPr lang="en-US" dirty="0"/>
              <a:t>		}</a:t>
            </a:r>
            <a:endParaRPr lang="zh-CN" altLang="en-US" dirty="0"/>
          </a:p>
          <a:p>
            <a:pPr lvl="3">
              <a:buNone/>
            </a:pPr>
            <a:r>
              <a:rPr lang="en-US" dirty="0"/>
              <a:t>		return temp;</a:t>
            </a:r>
            <a:endParaRPr lang="zh-CN" altLang="en-US" dirty="0"/>
          </a:p>
          <a:p>
            <a:pPr lvl="3">
              <a:buNone/>
            </a:pPr>
            <a:r>
              <a:rPr lang="en-US" dirty="0"/>
              <a:t>}</a:t>
            </a:r>
          </a:p>
          <a:p>
            <a:pPr lvl="3">
              <a:buNone/>
            </a:pPr>
            <a:endParaRPr lang="en-US" dirty="0"/>
          </a:p>
          <a:p>
            <a:pPr lvl="3">
              <a:buNone/>
            </a:pPr>
            <a:r>
              <a:rPr lang="zh-CN" altLang="en-US" dirty="0"/>
              <a:t>注意：在一个有</a:t>
            </a:r>
            <a:r>
              <a:rPr lang="en-US" dirty="0"/>
              <a:t>n</a:t>
            </a:r>
            <a:r>
              <a:rPr lang="zh-CN" altLang="en-US" dirty="0"/>
              <a:t>个结点的堆中，删除根结点后需要向下调整层，故删除最大关键值元素的操作的代价为</a:t>
            </a:r>
            <a:r>
              <a:rPr lang="en-US" dirty="0"/>
              <a:t>O(</a:t>
            </a:r>
            <a:r>
              <a:rPr lang="en-US" dirty="0" err="1"/>
              <a:t>logn</a:t>
            </a:r>
            <a:r>
              <a:rPr lang="en-US" dirty="0"/>
              <a:t>)</a:t>
            </a:r>
            <a:r>
              <a:rPr lang="zh-CN" altLang="en-US" dirty="0"/>
              <a:t>。</a:t>
            </a:r>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5.8 </a:t>
            </a:r>
            <a:r>
              <a:rPr lang="zh-CN" altLang="zh-CN" b="1" dirty="0"/>
              <a:t>树与森林</a:t>
            </a:r>
            <a:endParaRPr lang="zh-CN" altLang="en-US" dirty="0"/>
          </a:p>
        </p:txBody>
      </p:sp>
      <p:sp>
        <p:nvSpPr>
          <p:cNvPr id="3" name="内容占位符 2"/>
          <p:cNvSpPr>
            <a:spLocks noGrp="1"/>
          </p:cNvSpPr>
          <p:nvPr>
            <p:ph idx="1"/>
          </p:nvPr>
        </p:nvSpPr>
        <p:spPr>
          <a:xfrm>
            <a:off x="827584" y="1628801"/>
            <a:ext cx="7520940" cy="2952328"/>
          </a:xfrm>
        </p:spPr>
        <p:txBody>
          <a:bodyPr/>
          <a:lstStyle/>
          <a:p>
            <a:r>
              <a:rPr lang="en-US" altLang="zh-CN" dirty="0"/>
              <a:t>5.8.1 </a:t>
            </a:r>
            <a:r>
              <a:rPr lang="zh-CN" altLang="zh-CN" dirty="0">
                <a:solidFill>
                  <a:srgbClr val="FF0000"/>
                </a:solidFill>
              </a:rPr>
              <a:t>树的存储结构</a:t>
            </a:r>
            <a:endParaRPr lang="en-US" altLang="zh-CN" dirty="0">
              <a:solidFill>
                <a:srgbClr val="FF0000"/>
              </a:solidFill>
            </a:endParaRPr>
          </a:p>
          <a:p>
            <a:r>
              <a:rPr lang="en-US" altLang="zh-CN" dirty="0"/>
              <a:t>1</a:t>
            </a:r>
            <a:r>
              <a:rPr lang="zh-CN" altLang="zh-CN" dirty="0"/>
              <a:t>．</a:t>
            </a:r>
            <a:r>
              <a:rPr lang="zh-CN" altLang="zh-CN" dirty="0">
                <a:solidFill>
                  <a:srgbClr val="FF0000"/>
                </a:solidFill>
              </a:rPr>
              <a:t>双亲表示法</a:t>
            </a:r>
          </a:p>
          <a:p>
            <a:r>
              <a:rPr lang="en-US" altLang="zh-CN" dirty="0"/>
              <a:t>	</a:t>
            </a:r>
            <a:r>
              <a:rPr lang="zh-CN" altLang="zh-CN" b="0" dirty="0"/>
              <a:t>在树中，除了根结点没有双亲结点外，其余的结点都有唯一的一个双亲结点。在每个结点中附设一个指向其双亲结点的指针来唯一地表示一棵树，其结点结构图如图</a:t>
            </a:r>
            <a:r>
              <a:rPr lang="en-US" altLang="zh-CN" b="0" dirty="0"/>
              <a:t>5-51</a:t>
            </a:r>
            <a:r>
              <a:rPr lang="zh-CN" altLang="zh-CN" b="0" dirty="0"/>
              <a:t>所示。</a:t>
            </a:r>
          </a:p>
          <a:p>
            <a:endParaRPr lang="zh-CN" altLang="en-US" dirty="0"/>
          </a:p>
        </p:txBody>
      </p:sp>
      <p:pic>
        <p:nvPicPr>
          <p:cNvPr id="512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042" y="4581128"/>
            <a:ext cx="4505325" cy="153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673278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r>
              <a:rPr lang="en-US" altLang="zh-CN" b="0" dirty="0"/>
              <a:t>	</a:t>
            </a:r>
            <a:r>
              <a:rPr lang="zh-CN" altLang="zh-CN" b="0" dirty="0"/>
              <a:t>如图</a:t>
            </a:r>
            <a:r>
              <a:rPr lang="en-US" altLang="zh-CN" b="0" dirty="0"/>
              <a:t>5-52(a)</a:t>
            </a:r>
            <a:r>
              <a:rPr lang="zh-CN" altLang="zh-CN" b="0" dirty="0"/>
              <a:t>所示树</a:t>
            </a:r>
            <a:r>
              <a:rPr lang="en-US" altLang="zh-CN" b="0" dirty="0"/>
              <a:t>T</a:t>
            </a:r>
            <a:r>
              <a:rPr lang="en-US" altLang="zh-CN" b="0" baseline="-25000" dirty="0"/>
              <a:t>9</a:t>
            </a:r>
            <a:r>
              <a:rPr lang="zh-CN" altLang="zh-CN" b="0" dirty="0"/>
              <a:t>的存储结构如图</a:t>
            </a:r>
            <a:r>
              <a:rPr lang="en-US" altLang="zh-CN" b="0" dirty="0"/>
              <a:t>5-52(b)</a:t>
            </a:r>
            <a:r>
              <a:rPr lang="zh-CN" altLang="zh-CN" b="0" dirty="0"/>
              <a:t>所示。为简明起见，将父指针表示为双亲结点在数组中位置的下标，注意根结点</a:t>
            </a:r>
            <a:r>
              <a:rPr lang="en-US" altLang="zh-CN" b="0" dirty="0"/>
              <a:t>A</a:t>
            </a:r>
            <a:r>
              <a:rPr lang="zh-CN" altLang="zh-CN" b="0" dirty="0"/>
              <a:t>无双亲，设其</a:t>
            </a:r>
            <a:r>
              <a:rPr lang="en-US" altLang="zh-CN" b="0" dirty="0"/>
              <a:t>parent</a:t>
            </a:r>
            <a:r>
              <a:rPr lang="zh-CN" altLang="zh-CN" b="0" dirty="0"/>
              <a:t>的值为</a:t>
            </a:r>
            <a:r>
              <a:rPr lang="en-US" altLang="zh-CN" b="0" dirty="0"/>
              <a:t>-1</a:t>
            </a:r>
            <a:r>
              <a:rPr lang="zh-CN" altLang="zh-CN" b="0" dirty="0"/>
              <a:t>。</a:t>
            </a:r>
            <a:endParaRPr lang="zh-CN" altLang="en-US" b="0" dirty="0"/>
          </a:p>
        </p:txBody>
      </p:sp>
      <p:pic>
        <p:nvPicPr>
          <p:cNvPr id="522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348880"/>
            <a:ext cx="5544616" cy="3190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043541" y="5661248"/>
            <a:ext cx="7416824" cy="646331"/>
          </a:xfrm>
          <a:prstGeom prst="rect">
            <a:avLst/>
          </a:prstGeom>
        </p:spPr>
        <p:txBody>
          <a:bodyPr wrap="square">
            <a:spAutoFit/>
          </a:bodyPr>
          <a:lstStyle/>
          <a:p>
            <a:r>
              <a:rPr lang="zh-CN" altLang="zh-CN" dirty="0"/>
              <a:t>双亲表示法是实现树的最简单方法，使用这种方法在寻找树中某一结点的双亲时只需要</a:t>
            </a:r>
            <a:r>
              <a:rPr lang="en-US" altLang="zh-CN" dirty="0"/>
              <a:t>O(1)</a:t>
            </a:r>
            <a:r>
              <a:rPr lang="zh-CN" altLang="zh-CN" dirty="0"/>
              <a:t>时间</a:t>
            </a:r>
            <a:endParaRPr lang="zh-CN" altLang="en-US" dirty="0"/>
          </a:p>
        </p:txBody>
      </p:sp>
    </p:spTree>
    <p:extLst>
      <p:ext uri="{BB962C8B-B14F-4D97-AF65-F5344CB8AC3E}">
        <p14:creationId xmlns:p14="http://schemas.microsoft.com/office/powerpoint/2010/main" val="130384244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3579849"/>
          </a:xfrm>
        </p:spPr>
        <p:txBody>
          <a:bodyPr/>
          <a:lstStyle/>
          <a:p>
            <a:r>
              <a:rPr lang="en-US" altLang="zh-CN" dirty="0"/>
              <a:t>2. </a:t>
            </a:r>
            <a:r>
              <a:rPr lang="zh-CN" altLang="zh-CN" dirty="0">
                <a:solidFill>
                  <a:srgbClr val="FF0000"/>
                </a:solidFill>
              </a:rPr>
              <a:t>孩子表示法</a:t>
            </a:r>
          </a:p>
          <a:p>
            <a:r>
              <a:rPr lang="en-US" altLang="zh-CN" b="0" dirty="0"/>
              <a:t>	</a:t>
            </a:r>
            <a:r>
              <a:rPr lang="zh-CN" altLang="zh-CN" b="0" dirty="0"/>
              <a:t>树中的每个结点可能有多个孩子，所以可以对树中的每个结点用一个包含结点本身数据的数据域和多个指向该结点孩子的指针域来表示一棵树，各指针域反映了树中结点与结点之间的关系。其结点结构图如图</a:t>
            </a:r>
            <a:r>
              <a:rPr lang="en-US" altLang="zh-CN" b="0" dirty="0"/>
              <a:t>5-53</a:t>
            </a:r>
            <a:r>
              <a:rPr lang="zh-CN" altLang="zh-CN" b="0" dirty="0"/>
              <a:t>所示，其中</a:t>
            </a:r>
            <a:r>
              <a:rPr lang="en-US" altLang="zh-CN" b="0" dirty="0"/>
              <a:t>n</a:t>
            </a:r>
            <a:r>
              <a:rPr lang="zh-CN" altLang="zh-CN" b="0" dirty="0"/>
              <a:t>为树的度。</a:t>
            </a:r>
          </a:p>
          <a:p>
            <a:endParaRPr lang="zh-CN" altLang="en-US" dirty="0"/>
          </a:p>
        </p:txBody>
      </p:sp>
      <p:pic>
        <p:nvPicPr>
          <p:cNvPr id="532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4053871"/>
            <a:ext cx="7178948" cy="1423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888816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zh-CN" altLang="zh-CN" b="0" dirty="0"/>
              <a:t>图</a:t>
            </a:r>
            <a:r>
              <a:rPr lang="en-US" altLang="zh-CN" b="0" dirty="0"/>
              <a:t>5-54</a:t>
            </a:r>
            <a:r>
              <a:rPr lang="zh-CN" altLang="zh-CN" b="0" dirty="0"/>
              <a:t>为图</a:t>
            </a:r>
            <a:r>
              <a:rPr lang="en-US" altLang="zh-CN" b="0" dirty="0"/>
              <a:t>5-52(a)</a:t>
            </a:r>
            <a:r>
              <a:rPr lang="zh-CN" altLang="zh-CN" b="0" dirty="0"/>
              <a:t>所示的树的孩子表示法的结构图。</a:t>
            </a:r>
            <a:endParaRPr lang="zh-CN" altLang="en-US" b="0" dirty="0"/>
          </a:p>
        </p:txBody>
      </p:sp>
      <p:pic>
        <p:nvPicPr>
          <p:cNvPr id="542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1485" y="1844824"/>
            <a:ext cx="6525011"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2204864"/>
            <a:ext cx="2456414"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67571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8"/>
            <a:ext cx="8064896" cy="3579849"/>
          </a:xfrm>
        </p:spPr>
        <p:txBody>
          <a:bodyPr/>
          <a:lstStyle/>
          <a:p>
            <a:r>
              <a:rPr lang="en-US" altLang="zh-CN" b="0" dirty="0"/>
              <a:t>	</a:t>
            </a:r>
            <a:r>
              <a:rPr lang="zh-CN" altLang="zh-CN" b="0" dirty="0"/>
              <a:t>比较好的方法是将每个结点的孩子结点按照从左到右的顺序以单链表的形式存储起来，每个结点包含一个结点数据域以及一个指向子结点链表的指针。图</a:t>
            </a:r>
            <a:r>
              <a:rPr lang="en-US" altLang="zh-CN" b="0" dirty="0"/>
              <a:t>5-55</a:t>
            </a:r>
            <a:r>
              <a:rPr lang="zh-CN" altLang="zh-CN" b="0" dirty="0"/>
              <a:t>为图</a:t>
            </a:r>
            <a:r>
              <a:rPr lang="en-US" altLang="zh-CN" b="0" dirty="0"/>
              <a:t>5-52(a)</a:t>
            </a:r>
            <a:r>
              <a:rPr lang="zh-CN" altLang="zh-CN" b="0" dirty="0"/>
              <a:t>所示的树的孩子表示法的链表存储结构。</a:t>
            </a:r>
            <a:endParaRPr lang="zh-CN" altLang="en-US" b="0" dirty="0"/>
          </a:p>
        </p:txBody>
      </p:sp>
      <p:pic>
        <p:nvPicPr>
          <p:cNvPr id="552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9912" y="2911222"/>
            <a:ext cx="4464496" cy="3285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3140968"/>
            <a:ext cx="2456414"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79338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9510" y="836712"/>
            <a:ext cx="7776864" cy="3579849"/>
          </a:xfrm>
        </p:spPr>
        <p:txBody>
          <a:bodyPr/>
          <a:lstStyle/>
          <a:p>
            <a:r>
              <a:rPr lang="en-US" altLang="zh-CN" b="0" dirty="0"/>
              <a:t>	</a:t>
            </a:r>
            <a:r>
              <a:rPr lang="zh-CN" altLang="zh-CN" b="0" dirty="0"/>
              <a:t>与双亲表示法相反，孩子表示法在实现涉及孩子结点及其子孙的操作中较为方便，但不便于实现与双亲有关的运算。我们可以将双亲表示法和孩子表示法结合起来，形成双亲孩子表示法。图</a:t>
            </a:r>
            <a:r>
              <a:rPr lang="en-US" altLang="zh-CN" b="0" dirty="0"/>
              <a:t>5-56</a:t>
            </a:r>
            <a:r>
              <a:rPr lang="zh-CN" altLang="zh-CN" b="0" dirty="0"/>
              <a:t>为图</a:t>
            </a:r>
            <a:r>
              <a:rPr lang="en-US" altLang="zh-CN" b="0" dirty="0"/>
              <a:t>5-52(a)</a:t>
            </a:r>
            <a:r>
              <a:rPr lang="zh-CN" altLang="zh-CN" b="0" dirty="0"/>
              <a:t>所示的树的双亲孩子表示法的链表存储结构。</a:t>
            </a:r>
          </a:p>
          <a:p>
            <a:endParaRPr lang="zh-CN" altLang="en-US" dirty="0"/>
          </a:p>
        </p:txBody>
      </p:sp>
      <p:pic>
        <p:nvPicPr>
          <p:cNvPr id="563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2084" y="3212976"/>
            <a:ext cx="3872284" cy="3100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008" y="3645024"/>
            <a:ext cx="2456414"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88585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en-US" altLang="zh-CN" dirty="0"/>
              <a:t>3. </a:t>
            </a:r>
            <a:r>
              <a:rPr lang="zh-CN" altLang="zh-CN" dirty="0">
                <a:solidFill>
                  <a:srgbClr val="FF0000"/>
                </a:solidFill>
              </a:rPr>
              <a:t>左孩子</a:t>
            </a:r>
            <a:r>
              <a:rPr lang="en-US" altLang="zh-CN" dirty="0">
                <a:solidFill>
                  <a:srgbClr val="FF0000"/>
                </a:solidFill>
              </a:rPr>
              <a:t>/</a:t>
            </a:r>
            <a:r>
              <a:rPr lang="zh-CN" altLang="zh-CN" dirty="0">
                <a:solidFill>
                  <a:srgbClr val="FF0000"/>
                </a:solidFill>
              </a:rPr>
              <a:t>右兄弟表示法</a:t>
            </a:r>
          </a:p>
          <a:p>
            <a:r>
              <a:rPr lang="en-US" altLang="zh-CN" dirty="0"/>
              <a:t>	</a:t>
            </a:r>
            <a:r>
              <a:rPr lang="zh-CN" altLang="zh-CN" b="0" dirty="0"/>
              <a:t>将每个结点用一个包含该结点的数据域、一个指向该结点最左孩子结点的指针域和右兄弟结点的指针域来表示，其结点结构图如图</a:t>
            </a:r>
            <a:r>
              <a:rPr lang="en-US" altLang="zh-CN" b="0" dirty="0"/>
              <a:t>5-57</a:t>
            </a:r>
            <a:r>
              <a:rPr lang="zh-CN" altLang="zh-CN" b="0" dirty="0"/>
              <a:t>所示。</a:t>
            </a:r>
          </a:p>
          <a:p>
            <a:endParaRPr lang="zh-CN" altLang="en-US" dirty="0"/>
          </a:p>
        </p:txBody>
      </p:sp>
      <p:pic>
        <p:nvPicPr>
          <p:cNvPr id="573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0712" y="3429000"/>
            <a:ext cx="5362575" cy="141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225644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052736"/>
            <a:ext cx="7520940" cy="3579849"/>
          </a:xfrm>
        </p:spPr>
        <p:txBody>
          <a:bodyPr/>
          <a:lstStyle/>
          <a:p>
            <a:r>
              <a:rPr lang="en-US" altLang="zh-CN" b="0" dirty="0"/>
              <a:t>	</a:t>
            </a:r>
            <a:r>
              <a:rPr lang="zh-CN" altLang="zh-CN" b="0" dirty="0"/>
              <a:t>图</a:t>
            </a:r>
            <a:r>
              <a:rPr lang="en-US" altLang="zh-CN" b="0" dirty="0"/>
              <a:t>5-58</a:t>
            </a:r>
            <a:r>
              <a:rPr lang="zh-CN" altLang="zh-CN" b="0" dirty="0"/>
              <a:t>为图</a:t>
            </a:r>
            <a:r>
              <a:rPr lang="en-US" altLang="zh-CN" b="0" dirty="0"/>
              <a:t>5-52(a)</a:t>
            </a:r>
            <a:r>
              <a:rPr lang="zh-CN" altLang="zh-CN" b="0" dirty="0"/>
              <a:t>所示的树的左孩子</a:t>
            </a:r>
            <a:r>
              <a:rPr lang="en-US" altLang="zh-CN" b="0" dirty="0"/>
              <a:t>/</a:t>
            </a:r>
            <a:r>
              <a:rPr lang="zh-CN" altLang="zh-CN" b="0" dirty="0"/>
              <a:t>右兄弟表示法的链表存储结构。</a:t>
            </a:r>
            <a:endParaRPr lang="zh-CN" altLang="en-US" b="0" dirty="0"/>
          </a:p>
        </p:txBody>
      </p:sp>
      <p:pic>
        <p:nvPicPr>
          <p:cNvPr id="583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58666" y="2125138"/>
            <a:ext cx="4985742" cy="3841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0" y="2780928"/>
            <a:ext cx="2456414"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681328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5.8.2 </a:t>
            </a:r>
            <a:r>
              <a:rPr lang="zh-CN" altLang="zh-CN" b="1" dirty="0"/>
              <a:t>树、森林与二叉树的转换</a:t>
            </a:r>
            <a:endParaRPr lang="zh-CN" altLang="en-US" dirty="0"/>
          </a:p>
        </p:txBody>
      </p:sp>
      <p:sp>
        <p:nvSpPr>
          <p:cNvPr id="3" name="内容占位符 2"/>
          <p:cNvSpPr>
            <a:spLocks noGrp="1"/>
          </p:cNvSpPr>
          <p:nvPr>
            <p:ph idx="1"/>
          </p:nvPr>
        </p:nvSpPr>
        <p:spPr/>
        <p:txBody>
          <a:bodyPr/>
          <a:lstStyle/>
          <a:p>
            <a:r>
              <a:rPr lang="en-US" altLang="zh-CN" dirty="0"/>
              <a:t>1. </a:t>
            </a:r>
            <a:r>
              <a:rPr lang="zh-CN" altLang="zh-CN" dirty="0">
                <a:solidFill>
                  <a:srgbClr val="FF0000"/>
                </a:solidFill>
              </a:rPr>
              <a:t>树转换为二叉树</a:t>
            </a:r>
          </a:p>
          <a:p>
            <a:r>
              <a:rPr lang="zh-CN" altLang="zh-CN" b="0" dirty="0"/>
              <a:t>转换方法如下：</a:t>
            </a:r>
          </a:p>
          <a:p>
            <a:r>
              <a:rPr lang="en-US" altLang="zh-CN" b="0" dirty="0"/>
              <a:t>	1)</a:t>
            </a:r>
            <a:r>
              <a:rPr lang="zh-CN" altLang="zh-CN" b="0" dirty="0"/>
              <a:t>在所有兄弟结点之间加一条线；</a:t>
            </a:r>
          </a:p>
          <a:p>
            <a:r>
              <a:rPr lang="en-US" altLang="zh-CN" b="0" dirty="0"/>
              <a:t>	2)</a:t>
            </a:r>
            <a:r>
              <a:rPr lang="zh-CN" altLang="zh-CN" b="0" dirty="0"/>
              <a:t>对树中的每个结点，只保留它与最左边孩子的连线，删除该结点与其他孩子的连线；</a:t>
            </a:r>
          </a:p>
          <a:p>
            <a:r>
              <a:rPr lang="en-US" altLang="zh-CN" b="0" dirty="0"/>
              <a:t>	3)</a:t>
            </a:r>
            <a:r>
              <a:rPr lang="zh-CN" altLang="zh-CN" b="0" dirty="0"/>
              <a:t>以树根为轴心，对结点进行旋转处理即可得到相应的二叉树。</a:t>
            </a:r>
          </a:p>
          <a:p>
            <a:endParaRPr lang="zh-CN" altLang="en-US" dirty="0"/>
          </a:p>
        </p:txBody>
      </p:sp>
    </p:spTree>
    <p:extLst>
      <p:ext uri="{BB962C8B-B14F-4D97-AF65-F5344CB8AC3E}">
        <p14:creationId xmlns:p14="http://schemas.microsoft.com/office/powerpoint/2010/main" val="21672894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24744"/>
            <a:ext cx="7920880" cy="3579849"/>
          </a:xfrm>
        </p:spPr>
        <p:txBody>
          <a:bodyPr/>
          <a:lstStyle/>
          <a:p>
            <a:r>
              <a:rPr lang="zh-CN" altLang="zh-CN" b="0" dirty="0"/>
              <a:t>如图</a:t>
            </a:r>
            <a:r>
              <a:rPr lang="en-US" altLang="zh-CN" b="0" dirty="0"/>
              <a:t>5-59</a:t>
            </a:r>
            <a:r>
              <a:rPr lang="zh-CN" altLang="zh-CN" b="0" dirty="0"/>
              <a:t>所示为将图</a:t>
            </a:r>
            <a:r>
              <a:rPr lang="en-US" altLang="zh-CN" b="0" dirty="0"/>
              <a:t>5-59(a)</a:t>
            </a:r>
            <a:r>
              <a:rPr lang="zh-CN" altLang="zh-CN" b="0" dirty="0"/>
              <a:t>的一般树转换为二叉树的过程。</a:t>
            </a:r>
            <a:endParaRPr lang="zh-CN" altLang="en-US" b="0" dirty="0"/>
          </a:p>
        </p:txBody>
      </p:sp>
      <p:pic>
        <p:nvPicPr>
          <p:cNvPr id="593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2204864"/>
            <a:ext cx="7586811" cy="3500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213425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011897"/>
          </a:xfrm>
        </p:spPr>
        <p:txBody>
          <a:bodyPr/>
          <a:lstStyle/>
          <a:p>
            <a:r>
              <a:rPr lang="en-US" altLang="zh-CN" dirty="0"/>
              <a:t>2</a:t>
            </a:r>
            <a:r>
              <a:rPr lang="zh-CN" altLang="zh-CN" dirty="0"/>
              <a:t>． </a:t>
            </a:r>
            <a:r>
              <a:rPr lang="zh-CN" altLang="zh-CN" dirty="0">
                <a:solidFill>
                  <a:srgbClr val="FF0000"/>
                </a:solidFill>
              </a:rPr>
              <a:t>森林转换为二叉树</a:t>
            </a:r>
          </a:p>
          <a:p>
            <a:r>
              <a:rPr lang="zh-CN" altLang="zh-CN" b="0" dirty="0"/>
              <a:t>转换方法如下：</a:t>
            </a:r>
          </a:p>
          <a:p>
            <a:r>
              <a:rPr lang="en-US" altLang="zh-CN" b="0" dirty="0"/>
              <a:t>	1)</a:t>
            </a:r>
            <a:r>
              <a:rPr lang="zh-CN" altLang="zh-CN" b="0" dirty="0"/>
              <a:t>将森林中的每棵树转换为二叉树；</a:t>
            </a:r>
          </a:p>
          <a:p>
            <a:r>
              <a:rPr lang="en-US" altLang="zh-CN" b="0" dirty="0"/>
              <a:t>	2)</a:t>
            </a:r>
            <a:r>
              <a:rPr lang="zh-CN" altLang="zh-CN" b="0" dirty="0"/>
              <a:t>从第一棵二叉树开始，依次将森林中的后一棵二叉树的根结点作为前一棵二叉树根结点的右孩子连接在一起；</a:t>
            </a:r>
          </a:p>
          <a:p>
            <a:r>
              <a:rPr lang="en-US" altLang="zh-CN" b="0" dirty="0"/>
              <a:t>	3)</a:t>
            </a:r>
            <a:r>
              <a:rPr lang="zh-CN" altLang="zh-CN" b="0" dirty="0"/>
              <a:t>以第一棵二叉树的树根为轴心，对结点进行旋转处理即可得到相应的二叉树。</a:t>
            </a:r>
          </a:p>
          <a:p>
            <a:endParaRPr lang="zh-CN" altLang="en-US" dirty="0"/>
          </a:p>
        </p:txBody>
      </p:sp>
    </p:spTree>
    <p:extLst>
      <p:ext uri="{BB962C8B-B14F-4D97-AF65-F5344CB8AC3E}">
        <p14:creationId xmlns:p14="http://schemas.microsoft.com/office/powerpoint/2010/main" val="160508918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b="0" dirty="0"/>
              <a:t>如图</a:t>
            </a:r>
            <a:r>
              <a:rPr lang="en-US" altLang="zh-CN" b="0" dirty="0"/>
              <a:t>5-60</a:t>
            </a:r>
            <a:r>
              <a:rPr lang="zh-CN" altLang="zh-CN" b="0" dirty="0"/>
              <a:t>所示为将图</a:t>
            </a:r>
            <a:r>
              <a:rPr lang="en-US" altLang="zh-CN" b="0" dirty="0"/>
              <a:t>5-60(a)</a:t>
            </a:r>
            <a:r>
              <a:rPr lang="zh-CN" altLang="zh-CN" b="0" dirty="0"/>
              <a:t>的森林转换为二叉树的过程。</a:t>
            </a:r>
            <a:endParaRPr lang="zh-CN" altLang="en-US" b="0" dirty="0"/>
          </a:p>
        </p:txBody>
      </p:sp>
      <p:pic>
        <p:nvPicPr>
          <p:cNvPr id="3379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9675" y="1857375"/>
            <a:ext cx="6724650"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059368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520940" cy="4752528"/>
          </a:xfrm>
        </p:spPr>
        <p:txBody>
          <a:bodyPr>
            <a:normAutofit fontScale="92500"/>
          </a:bodyPr>
          <a:lstStyle/>
          <a:p>
            <a:r>
              <a:rPr lang="en-US" altLang="zh-CN" dirty="0"/>
              <a:t>3. </a:t>
            </a:r>
            <a:r>
              <a:rPr lang="zh-CN" altLang="zh-CN" dirty="0">
                <a:solidFill>
                  <a:srgbClr val="FF0000"/>
                </a:solidFill>
              </a:rPr>
              <a:t>二叉树转换为树或森林</a:t>
            </a:r>
          </a:p>
          <a:p>
            <a:r>
              <a:rPr lang="zh-CN" altLang="zh-CN" b="0" dirty="0"/>
              <a:t>转换步骤如下：</a:t>
            </a:r>
          </a:p>
          <a:p>
            <a:r>
              <a:rPr lang="en-US" altLang="zh-CN" b="0" dirty="0"/>
              <a:t>	(1) </a:t>
            </a:r>
            <a:r>
              <a:rPr lang="zh-CN" altLang="zh-CN" b="0" dirty="0"/>
              <a:t>若二叉树的树根结点存在右子树，先将其与右子树的连线删除，得到分离的二叉树；</a:t>
            </a:r>
          </a:p>
          <a:p>
            <a:r>
              <a:rPr lang="en-US" altLang="zh-CN" b="0" dirty="0"/>
              <a:t>	(2) </a:t>
            </a:r>
            <a:r>
              <a:rPr lang="zh-CN" altLang="zh-CN" b="0" dirty="0"/>
              <a:t>将分离后的二叉树按照以下步骤转换为树：若某结点的左孩子存在，将左孩子的右孩子，右孩子的右孩子</a:t>
            </a:r>
            <a:r>
              <a:rPr lang="en-US" altLang="zh-CN" b="0" dirty="0"/>
              <a:t>……</a:t>
            </a:r>
            <a:r>
              <a:rPr lang="zh-CN" altLang="zh-CN" b="0" dirty="0"/>
              <a:t>都作为该结点的孩子结点用线连接起来，然后删除掉原二叉树中所有结点与其右孩子的连线即可；</a:t>
            </a:r>
          </a:p>
          <a:p>
            <a:r>
              <a:rPr lang="en-US" altLang="zh-CN" b="0" dirty="0"/>
              <a:t>	(3) </a:t>
            </a:r>
            <a:r>
              <a:rPr lang="zh-CN" altLang="zh-CN" b="0" dirty="0"/>
              <a:t>整理</a:t>
            </a:r>
            <a:r>
              <a:rPr lang="en-US" altLang="zh-CN" b="0" dirty="0"/>
              <a:t>(2)</a:t>
            </a:r>
            <a:r>
              <a:rPr lang="zh-CN" altLang="zh-CN" b="0" dirty="0"/>
              <a:t>得到的树即可得到二叉树转换后的树或森林。</a:t>
            </a:r>
          </a:p>
          <a:p>
            <a:endParaRPr lang="zh-CN" altLang="en-US" dirty="0"/>
          </a:p>
        </p:txBody>
      </p:sp>
    </p:spTree>
    <p:extLst>
      <p:ext uri="{BB962C8B-B14F-4D97-AF65-F5344CB8AC3E}">
        <p14:creationId xmlns:p14="http://schemas.microsoft.com/office/powerpoint/2010/main" val="29481227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dirty="0"/>
              <a:t>如图</a:t>
            </a:r>
            <a:r>
              <a:rPr lang="en-US" altLang="zh-CN" dirty="0"/>
              <a:t>5-61</a:t>
            </a:r>
            <a:r>
              <a:rPr lang="zh-CN" altLang="zh-CN" dirty="0"/>
              <a:t>为二叉树转换为森林的过程。</a:t>
            </a:r>
            <a:endParaRPr lang="zh-CN" altLang="en-US" dirty="0"/>
          </a:p>
        </p:txBody>
      </p:sp>
      <p:pic>
        <p:nvPicPr>
          <p:cNvPr id="3389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3388" y="1739999"/>
            <a:ext cx="8277225"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81865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5.8.3 </a:t>
            </a:r>
            <a:r>
              <a:rPr lang="zh-CN" altLang="zh-CN" b="1" dirty="0"/>
              <a:t>树与森林的遍历</a:t>
            </a:r>
            <a:endParaRPr lang="zh-CN" altLang="en-US" dirty="0"/>
          </a:p>
        </p:txBody>
      </p:sp>
      <p:sp>
        <p:nvSpPr>
          <p:cNvPr id="3" name="内容占位符 2"/>
          <p:cNvSpPr>
            <a:spLocks noGrp="1"/>
          </p:cNvSpPr>
          <p:nvPr>
            <p:ph idx="1"/>
          </p:nvPr>
        </p:nvSpPr>
        <p:spPr/>
        <p:txBody>
          <a:bodyPr/>
          <a:lstStyle/>
          <a:p>
            <a:r>
              <a:rPr lang="en-US" altLang="zh-CN" b="0" dirty="0"/>
              <a:t>	</a:t>
            </a:r>
            <a:r>
              <a:rPr lang="zh-CN" altLang="zh-CN" b="0" dirty="0">
                <a:solidFill>
                  <a:srgbClr val="FF0000"/>
                </a:solidFill>
              </a:rPr>
              <a:t>树有两种遍历方法：先根遍历和后根遍历</a:t>
            </a:r>
            <a:r>
              <a:rPr lang="zh-CN" altLang="zh-CN" b="0" dirty="0"/>
              <a:t>。设树</a:t>
            </a:r>
            <a:r>
              <a:rPr lang="en-US" altLang="zh-CN" b="0" dirty="0"/>
              <a:t>T</a:t>
            </a:r>
            <a:r>
              <a:rPr lang="zh-CN" altLang="zh-CN" b="0" dirty="0"/>
              <a:t>如图</a:t>
            </a:r>
            <a:r>
              <a:rPr lang="en-US" altLang="zh-CN" b="0" dirty="0"/>
              <a:t>5-62</a:t>
            </a:r>
            <a:r>
              <a:rPr lang="zh-CN" altLang="zh-CN" b="0" dirty="0"/>
              <a:t>所示，结点</a:t>
            </a:r>
            <a:r>
              <a:rPr lang="en-US" altLang="zh-CN" b="0" dirty="0"/>
              <a:t>R</a:t>
            </a:r>
            <a:r>
              <a:rPr lang="zh-CN" altLang="zh-CN" b="0" dirty="0"/>
              <a:t>是根，根的子树从左到右依次为</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。树的两种遍历方法的定义如下：</a:t>
            </a:r>
            <a:endParaRPr lang="zh-CN" altLang="en-US" b="0" dirty="0"/>
          </a:p>
        </p:txBody>
      </p:sp>
      <p:pic>
        <p:nvPicPr>
          <p:cNvPr id="624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4137" y="3429000"/>
            <a:ext cx="3895725"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val="0"/>
              </a:ext>
            </a:extLst>
          </a:blip>
          <a:stretch>
            <a:fillRect/>
          </a:stretch>
        </p:blipFill>
        <p:spPr>
          <a:xfrm>
            <a:off x="8001024" y="357166"/>
            <a:ext cx="521277" cy="522515"/>
          </a:xfrm>
          <a:prstGeom prst="rect">
            <a:avLst/>
          </a:prstGeom>
        </p:spPr>
      </p:pic>
    </p:spTree>
    <p:extLst>
      <p:ext uri="{BB962C8B-B14F-4D97-AF65-F5344CB8AC3E}">
        <p14:creationId xmlns:p14="http://schemas.microsoft.com/office/powerpoint/2010/main" val="91666082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776864" cy="4608512"/>
          </a:xfrm>
        </p:spPr>
        <p:txBody>
          <a:bodyPr>
            <a:normAutofit/>
          </a:bodyPr>
          <a:lstStyle/>
          <a:p>
            <a:r>
              <a:rPr lang="en-US" altLang="zh-CN" b="0" dirty="0"/>
              <a:t>(1) </a:t>
            </a:r>
            <a:r>
              <a:rPr lang="zh-CN" altLang="zh-CN" b="0" dirty="0">
                <a:solidFill>
                  <a:srgbClr val="FF0000"/>
                </a:solidFill>
              </a:rPr>
              <a:t>先根</a:t>
            </a:r>
            <a:r>
              <a:rPr lang="en-US" altLang="zh-CN" b="0" dirty="0">
                <a:solidFill>
                  <a:srgbClr val="FF0000"/>
                </a:solidFill>
              </a:rPr>
              <a:t>(</a:t>
            </a:r>
            <a:r>
              <a:rPr lang="zh-CN" altLang="zh-CN" b="0" dirty="0">
                <a:solidFill>
                  <a:srgbClr val="FF0000"/>
                </a:solidFill>
              </a:rPr>
              <a:t>序</a:t>
            </a:r>
            <a:r>
              <a:rPr lang="en-US" altLang="zh-CN" b="0" dirty="0">
                <a:solidFill>
                  <a:srgbClr val="FF0000"/>
                </a:solidFill>
              </a:rPr>
              <a:t>)</a:t>
            </a:r>
            <a:r>
              <a:rPr lang="zh-CN" altLang="zh-CN" b="0" dirty="0">
                <a:solidFill>
                  <a:srgbClr val="FF0000"/>
                </a:solidFill>
              </a:rPr>
              <a:t>遍历树</a:t>
            </a:r>
          </a:p>
          <a:p>
            <a:r>
              <a:rPr lang="en-US" altLang="zh-CN" b="0" dirty="0"/>
              <a:t>		</a:t>
            </a:r>
            <a:r>
              <a:rPr lang="zh-CN" altLang="zh-CN" b="0" dirty="0"/>
              <a:t>若树</a:t>
            </a:r>
            <a:r>
              <a:rPr lang="en-US" altLang="zh-CN" b="0" dirty="0"/>
              <a:t>T</a:t>
            </a:r>
            <a:r>
              <a:rPr lang="zh-CN" altLang="zh-CN" b="0" dirty="0"/>
              <a:t>非空，则：</a:t>
            </a:r>
          </a:p>
          <a:p>
            <a:r>
              <a:rPr lang="en-US" altLang="zh-CN" b="0" dirty="0"/>
              <a:t>		</a:t>
            </a:r>
            <a:r>
              <a:rPr lang="zh-CN" altLang="zh-CN" b="0" dirty="0"/>
              <a:t>①访问根结点</a:t>
            </a:r>
            <a:r>
              <a:rPr lang="en-US" altLang="zh-CN" b="0" dirty="0"/>
              <a:t>R</a:t>
            </a:r>
            <a:r>
              <a:rPr lang="zh-CN" altLang="zh-CN" b="0" dirty="0"/>
              <a:t>；</a:t>
            </a:r>
          </a:p>
          <a:p>
            <a:r>
              <a:rPr lang="zh-CN" altLang="zh-CN" b="0" dirty="0"/>
              <a:t>　</a:t>
            </a:r>
            <a:r>
              <a:rPr lang="en-US" altLang="zh-CN" b="0" dirty="0"/>
              <a:t>		</a:t>
            </a:r>
            <a:r>
              <a:rPr lang="zh-CN" altLang="zh-CN" b="0" dirty="0"/>
              <a:t>②依次先根遍历根</a:t>
            </a:r>
            <a:r>
              <a:rPr lang="en-US" altLang="zh-CN" b="0" dirty="0"/>
              <a:t>R</a:t>
            </a:r>
            <a:r>
              <a:rPr lang="zh-CN" altLang="zh-CN" b="0" dirty="0"/>
              <a:t>的各子树</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a:t>
            </a:r>
          </a:p>
          <a:p>
            <a:r>
              <a:rPr lang="en-US" altLang="zh-CN" b="0" dirty="0"/>
              <a:t>(2</a:t>
            </a:r>
            <a:r>
              <a:rPr lang="en-US" altLang="zh-CN" b="0" dirty="0">
                <a:solidFill>
                  <a:srgbClr val="FF0000"/>
                </a:solidFill>
              </a:rPr>
              <a:t>) </a:t>
            </a:r>
            <a:r>
              <a:rPr lang="zh-CN" altLang="zh-CN" b="0" dirty="0">
                <a:solidFill>
                  <a:srgbClr val="FF0000"/>
                </a:solidFill>
              </a:rPr>
              <a:t>后根</a:t>
            </a:r>
            <a:r>
              <a:rPr lang="en-US" altLang="zh-CN" b="0" dirty="0">
                <a:solidFill>
                  <a:srgbClr val="FF0000"/>
                </a:solidFill>
              </a:rPr>
              <a:t>(</a:t>
            </a:r>
            <a:r>
              <a:rPr lang="zh-CN" altLang="zh-CN" b="0" dirty="0">
                <a:solidFill>
                  <a:srgbClr val="FF0000"/>
                </a:solidFill>
              </a:rPr>
              <a:t>序</a:t>
            </a:r>
            <a:r>
              <a:rPr lang="en-US" altLang="zh-CN" b="0" dirty="0">
                <a:solidFill>
                  <a:srgbClr val="FF0000"/>
                </a:solidFill>
              </a:rPr>
              <a:t>)</a:t>
            </a:r>
            <a:r>
              <a:rPr lang="zh-CN" altLang="zh-CN" b="0" dirty="0">
                <a:solidFill>
                  <a:srgbClr val="FF0000"/>
                </a:solidFill>
              </a:rPr>
              <a:t>遍历树</a:t>
            </a:r>
          </a:p>
          <a:p>
            <a:r>
              <a:rPr lang="en-US" altLang="zh-CN" b="0" dirty="0"/>
              <a:t>		</a:t>
            </a:r>
            <a:r>
              <a:rPr lang="zh-CN" altLang="zh-CN" b="0" dirty="0"/>
              <a:t>若树</a:t>
            </a:r>
            <a:r>
              <a:rPr lang="en-US" altLang="zh-CN" b="0" dirty="0"/>
              <a:t>T</a:t>
            </a:r>
            <a:r>
              <a:rPr lang="zh-CN" altLang="zh-CN" b="0" dirty="0"/>
              <a:t>非空，则：</a:t>
            </a:r>
          </a:p>
          <a:p>
            <a:r>
              <a:rPr lang="zh-CN" altLang="zh-CN" b="0" dirty="0"/>
              <a:t>　</a:t>
            </a:r>
            <a:r>
              <a:rPr lang="en-US" altLang="zh-CN" b="0" dirty="0"/>
              <a:t>		</a:t>
            </a:r>
            <a:r>
              <a:rPr lang="zh-CN" altLang="zh-CN" b="0" dirty="0"/>
              <a:t>①依次后根遍历根</a:t>
            </a:r>
            <a:r>
              <a:rPr lang="en-US" altLang="zh-CN" b="0" dirty="0"/>
              <a:t>T</a:t>
            </a:r>
            <a:r>
              <a:rPr lang="zh-CN" altLang="zh-CN" b="0" dirty="0"/>
              <a:t>的各子树</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a:t>
            </a:r>
          </a:p>
          <a:p>
            <a:r>
              <a:rPr lang="zh-CN" altLang="zh-CN" b="0" dirty="0"/>
              <a:t>　</a:t>
            </a:r>
            <a:r>
              <a:rPr lang="en-US" altLang="zh-CN" b="0" dirty="0"/>
              <a:t>		</a:t>
            </a:r>
            <a:r>
              <a:rPr lang="zh-CN" altLang="zh-CN" b="0" dirty="0"/>
              <a:t>②访问根结点</a:t>
            </a:r>
            <a:r>
              <a:rPr lang="en-US" altLang="zh-CN" b="0" dirty="0"/>
              <a:t>R</a:t>
            </a:r>
            <a:r>
              <a:rPr lang="zh-CN" altLang="zh-CN" b="0" dirty="0"/>
              <a:t>。</a:t>
            </a:r>
          </a:p>
          <a:p>
            <a:endParaRPr lang="zh-CN" altLang="en-US" dirty="0"/>
          </a:p>
        </p:txBody>
      </p:sp>
    </p:spTree>
    <p:extLst>
      <p:ext uri="{BB962C8B-B14F-4D97-AF65-F5344CB8AC3E}">
        <p14:creationId xmlns:p14="http://schemas.microsoft.com/office/powerpoint/2010/main" val="203551762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15572" y="916149"/>
            <a:ext cx="7804899" cy="1792771"/>
          </a:xfrm>
        </p:spPr>
        <p:txBody>
          <a:bodyPr/>
          <a:lstStyle/>
          <a:p>
            <a:r>
              <a:rPr lang="zh-CN" altLang="zh-CN" b="0" dirty="0"/>
              <a:t>对图</a:t>
            </a:r>
            <a:r>
              <a:rPr lang="en-US" altLang="zh-CN" b="0" dirty="0"/>
              <a:t>5-59(a)</a:t>
            </a:r>
            <a:r>
              <a:rPr lang="zh-CN" altLang="zh-CN" b="0" dirty="0"/>
              <a:t>所示的树进行先根遍历和后根遍历，</a:t>
            </a:r>
            <a:endParaRPr lang="en-US" altLang="zh-CN" b="0" dirty="0"/>
          </a:p>
          <a:p>
            <a:r>
              <a:rPr lang="zh-CN" altLang="zh-CN" b="0" dirty="0"/>
              <a:t>先根遍历序列</a:t>
            </a:r>
            <a:r>
              <a:rPr lang="zh-CN" altLang="en-US" b="0" dirty="0"/>
              <a:t>：</a:t>
            </a:r>
            <a:r>
              <a:rPr lang="en-US" altLang="zh-CN" b="0" dirty="0"/>
              <a:t>ABEFGHICD</a:t>
            </a:r>
          </a:p>
          <a:p>
            <a:r>
              <a:rPr lang="zh-CN" altLang="zh-CN" b="0" dirty="0"/>
              <a:t>后根遍历序列：</a:t>
            </a:r>
            <a:r>
              <a:rPr lang="en-US" altLang="zh-CN" b="0" dirty="0"/>
              <a:t>EGHIFBCDA</a:t>
            </a:r>
          </a:p>
          <a:p>
            <a:endParaRPr lang="zh-CN" altLang="en-US" dirty="0"/>
          </a:p>
        </p:txBody>
      </p:sp>
      <p:pic>
        <p:nvPicPr>
          <p:cNvPr id="634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9792" y="2564904"/>
            <a:ext cx="3312368" cy="3627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211067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980728"/>
            <a:ext cx="8313028" cy="3579849"/>
          </a:xfrm>
        </p:spPr>
        <p:txBody>
          <a:bodyPr/>
          <a:lstStyle/>
          <a:p>
            <a:r>
              <a:rPr lang="zh-CN" altLang="zh-CN" b="0" dirty="0"/>
              <a:t>对图</a:t>
            </a:r>
            <a:r>
              <a:rPr lang="en-US" altLang="zh-CN" b="0" dirty="0"/>
              <a:t>5-59(a)</a:t>
            </a:r>
            <a:r>
              <a:rPr lang="zh-CN" altLang="zh-CN" b="0" dirty="0"/>
              <a:t>所示的树转换后对应的二叉树如图</a:t>
            </a:r>
            <a:r>
              <a:rPr lang="en-US" altLang="zh-CN" b="0" dirty="0"/>
              <a:t>5-59(c)</a:t>
            </a:r>
            <a:r>
              <a:rPr lang="zh-CN" altLang="zh-CN" b="0" dirty="0"/>
              <a:t>进行</a:t>
            </a:r>
            <a:r>
              <a:rPr lang="zh-CN" altLang="en-US" b="0" dirty="0"/>
              <a:t>，</a:t>
            </a:r>
            <a:endParaRPr lang="en-US" altLang="zh-CN" b="0" dirty="0"/>
          </a:p>
          <a:p>
            <a:r>
              <a:rPr lang="zh-CN" altLang="zh-CN" b="0" dirty="0"/>
              <a:t>先序遍历</a:t>
            </a:r>
            <a:r>
              <a:rPr lang="zh-CN" altLang="en-US" b="0" dirty="0"/>
              <a:t>：</a:t>
            </a:r>
            <a:r>
              <a:rPr lang="en-US" altLang="zh-CN" b="0" dirty="0"/>
              <a:t>ABEFGHICD</a:t>
            </a:r>
          </a:p>
          <a:p>
            <a:r>
              <a:rPr lang="zh-CN" altLang="zh-CN" b="0" dirty="0"/>
              <a:t>中序遍历</a:t>
            </a:r>
            <a:r>
              <a:rPr lang="zh-CN" altLang="en-US" b="0" dirty="0"/>
              <a:t>：</a:t>
            </a:r>
            <a:r>
              <a:rPr lang="en-US" altLang="zh-CN" b="0" dirty="0"/>
              <a:t>EGHIFBCDA</a:t>
            </a:r>
          </a:p>
          <a:p>
            <a:r>
              <a:rPr lang="zh-CN" altLang="zh-CN" b="0" dirty="0">
                <a:solidFill>
                  <a:schemeClr val="tx2">
                    <a:lumMod val="60000"/>
                    <a:lumOff val="40000"/>
                  </a:schemeClr>
                </a:solidFill>
              </a:rPr>
              <a:t>后序遍历</a:t>
            </a:r>
            <a:r>
              <a:rPr lang="zh-CN" altLang="en-US" b="0" dirty="0">
                <a:solidFill>
                  <a:schemeClr val="tx2">
                    <a:lumMod val="60000"/>
                    <a:lumOff val="40000"/>
                  </a:schemeClr>
                </a:solidFill>
              </a:rPr>
              <a:t>：</a:t>
            </a:r>
            <a:r>
              <a:rPr lang="en-US" altLang="zh-CN" b="0" dirty="0">
                <a:solidFill>
                  <a:schemeClr val="tx2">
                    <a:lumMod val="60000"/>
                    <a:lumOff val="40000"/>
                  </a:schemeClr>
                </a:solidFill>
              </a:rPr>
              <a:t>IHGFEDCBA</a:t>
            </a:r>
            <a:endParaRPr lang="zh-CN" altLang="zh-CN" b="0" dirty="0">
              <a:solidFill>
                <a:schemeClr val="tx2">
                  <a:lumMod val="60000"/>
                  <a:lumOff val="40000"/>
                </a:schemeClr>
              </a:solidFill>
            </a:endParaRPr>
          </a:p>
          <a:p>
            <a:endParaRPr lang="zh-CN" altLang="en-US" dirty="0"/>
          </a:p>
        </p:txBody>
      </p:sp>
      <p:pic>
        <p:nvPicPr>
          <p:cNvPr id="645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56176" y="1772816"/>
            <a:ext cx="2808312" cy="44708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79512" y="4964975"/>
            <a:ext cx="6336704" cy="1200329"/>
          </a:xfrm>
          <a:prstGeom prst="rect">
            <a:avLst/>
          </a:prstGeom>
          <a:ln w="12700">
            <a:solidFill>
              <a:schemeClr val="tx1"/>
            </a:solidFill>
          </a:ln>
        </p:spPr>
        <p:txBody>
          <a:bodyPr wrap="square">
            <a:spAutoFit/>
          </a:bodyPr>
          <a:lstStyle/>
          <a:p>
            <a:r>
              <a:rPr lang="zh-CN" altLang="zh-CN" sz="2400" dirty="0">
                <a:latin typeface="Times New Roman" pitchFamily="18" charset="0"/>
                <a:ea typeface="楷体" pitchFamily="49" charset="-122"/>
                <a:cs typeface="Times New Roman" pitchFamily="18" charset="0"/>
              </a:rPr>
              <a:t>对图</a:t>
            </a:r>
            <a:r>
              <a:rPr lang="en-US" altLang="zh-CN" sz="2400" dirty="0">
                <a:latin typeface="Times New Roman" pitchFamily="18" charset="0"/>
                <a:ea typeface="楷体" pitchFamily="49" charset="-122"/>
                <a:cs typeface="Times New Roman" pitchFamily="18" charset="0"/>
              </a:rPr>
              <a:t>5-59(a)</a:t>
            </a:r>
            <a:r>
              <a:rPr lang="zh-CN" altLang="zh-CN" sz="2400" dirty="0">
                <a:latin typeface="Times New Roman" pitchFamily="18" charset="0"/>
                <a:ea typeface="楷体" pitchFamily="49" charset="-122"/>
                <a:cs typeface="Times New Roman" pitchFamily="18" charset="0"/>
              </a:rPr>
              <a:t>所示的树进行先根遍历和后根遍历</a:t>
            </a:r>
            <a:r>
              <a:rPr lang="zh-CN" altLang="en-US" sz="2400" dirty="0">
                <a:latin typeface="Times New Roman" pitchFamily="18" charset="0"/>
                <a:ea typeface="楷体" pitchFamily="49" charset="-122"/>
                <a:cs typeface="Times New Roman" pitchFamily="18" charset="0"/>
              </a:rPr>
              <a:t>：</a:t>
            </a:r>
            <a:endParaRPr lang="en-US" altLang="zh-CN" sz="2400" dirty="0">
              <a:latin typeface="Times New Roman" pitchFamily="18" charset="0"/>
              <a:ea typeface="楷体" pitchFamily="49" charset="-122"/>
              <a:cs typeface="Times New Roman" pitchFamily="18" charset="0"/>
            </a:endParaRPr>
          </a:p>
          <a:p>
            <a:r>
              <a:rPr lang="zh-CN" altLang="zh-CN" sz="2400" dirty="0">
                <a:latin typeface="Times New Roman" pitchFamily="18" charset="0"/>
                <a:ea typeface="楷体" pitchFamily="49" charset="-122"/>
                <a:cs typeface="Times New Roman" pitchFamily="18" charset="0"/>
              </a:rPr>
              <a:t>先根遍历序列</a:t>
            </a:r>
            <a:r>
              <a:rPr lang="zh-CN" altLang="en-US" sz="2400" dirty="0">
                <a:latin typeface="Times New Roman" pitchFamily="18" charset="0"/>
                <a:ea typeface="楷体" pitchFamily="49" charset="-122"/>
                <a:cs typeface="Times New Roman" pitchFamily="18" charset="0"/>
              </a:rPr>
              <a:t>：</a:t>
            </a:r>
            <a:r>
              <a:rPr lang="en-US" altLang="zh-CN" sz="2400" dirty="0">
                <a:latin typeface="Times New Roman" pitchFamily="18" charset="0"/>
                <a:ea typeface="楷体" pitchFamily="49" charset="-122"/>
                <a:cs typeface="Times New Roman" pitchFamily="18" charset="0"/>
              </a:rPr>
              <a:t>ABEFGHICD</a:t>
            </a:r>
          </a:p>
          <a:p>
            <a:r>
              <a:rPr lang="zh-CN" altLang="zh-CN" sz="2400" dirty="0">
                <a:latin typeface="Times New Roman" pitchFamily="18" charset="0"/>
                <a:ea typeface="楷体" pitchFamily="49" charset="-122"/>
                <a:cs typeface="Times New Roman" pitchFamily="18" charset="0"/>
              </a:rPr>
              <a:t>后根遍历序列：</a:t>
            </a:r>
            <a:r>
              <a:rPr lang="en-US" altLang="zh-CN" sz="2400" dirty="0">
                <a:latin typeface="Times New Roman" pitchFamily="18" charset="0"/>
                <a:ea typeface="楷体" pitchFamily="49" charset="-122"/>
                <a:cs typeface="Times New Roman" pitchFamily="18" charset="0"/>
              </a:rPr>
              <a:t>EGHIFBCDA</a:t>
            </a:r>
          </a:p>
        </p:txBody>
      </p:sp>
    </p:spTree>
    <p:extLst>
      <p:ext uri="{BB962C8B-B14F-4D97-AF65-F5344CB8AC3E}">
        <p14:creationId xmlns:p14="http://schemas.microsoft.com/office/powerpoint/2010/main" val="10793477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400600"/>
          </a:xfrm>
        </p:spPr>
        <p:txBody>
          <a:bodyPr>
            <a:normAutofit fontScale="92500"/>
          </a:bodyPr>
          <a:lstStyle/>
          <a:p>
            <a:r>
              <a:rPr lang="zh-CN" altLang="zh-CN" b="0" dirty="0">
                <a:solidFill>
                  <a:srgbClr val="FF0000"/>
                </a:solidFill>
              </a:rPr>
              <a:t>森林的遍历定义如下</a:t>
            </a:r>
            <a:r>
              <a:rPr lang="zh-CN" altLang="zh-CN" b="0" dirty="0"/>
              <a:t>：</a:t>
            </a:r>
          </a:p>
          <a:p>
            <a:r>
              <a:rPr lang="en-US" altLang="zh-CN" b="0" dirty="0"/>
              <a:t>	(1) </a:t>
            </a:r>
            <a:r>
              <a:rPr lang="zh-CN" altLang="zh-CN" b="0" dirty="0">
                <a:solidFill>
                  <a:srgbClr val="FF0000"/>
                </a:solidFill>
              </a:rPr>
              <a:t>先根</a:t>
            </a:r>
            <a:r>
              <a:rPr lang="en-US" altLang="zh-CN" b="0" dirty="0">
                <a:solidFill>
                  <a:srgbClr val="FF0000"/>
                </a:solidFill>
              </a:rPr>
              <a:t>(</a:t>
            </a:r>
            <a:r>
              <a:rPr lang="zh-CN" altLang="zh-CN" b="0" dirty="0">
                <a:solidFill>
                  <a:srgbClr val="FF0000"/>
                </a:solidFill>
              </a:rPr>
              <a:t>序</a:t>
            </a:r>
            <a:r>
              <a:rPr lang="en-US" altLang="zh-CN" b="0" dirty="0">
                <a:solidFill>
                  <a:srgbClr val="FF0000"/>
                </a:solidFill>
              </a:rPr>
              <a:t>)</a:t>
            </a:r>
            <a:r>
              <a:rPr lang="zh-CN" altLang="zh-CN" b="0" dirty="0">
                <a:solidFill>
                  <a:srgbClr val="FF0000"/>
                </a:solidFill>
              </a:rPr>
              <a:t>遍历森林</a:t>
            </a:r>
          </a:p>
          <a:p>
            <a:r>
              <a:rPr lang="en-US" altLang="zh-CN" b="0" dirty="0"/>
              <a:t>		</a:t>
            </a:r>
            <a:r>
              <a:rPr lang="zh-CN" altLang="zh-CN" b="0" dirty="0"/>
              <a:t>若森林非空，则：</a:t>
            </a:r>
          </a:p>
          <a:p>
            <a:r>
              <a:rPr lang="en-US" altLang="zh-CN" b="0" dirty="0"/>
              <a:t>		</a:t>
            </a:r>
            <a:r>
              <a:rPr lang="zh-CN" altLang="zh-CN" b="0" dirty="0"/>
              <a:t>①访问森林中第一棵树的根结点；</a:t>
            </a:r>
          </a:p>
          <a:p>
            <a:r>
              <a:rPr lang="zh-CN" altLang="zh-CN" b="0" dirty="0"/>
              <a:t>　</a:t>
            </a:r>
            <a:r>
              <a:rPr lang="en-US" altLang="zh-CN" b="0" dirty="0"/>
              <a:t>		</a:t>
            </a:r>
            <a:r>
              <a:rPr lang="zh-CN" altLang="zh-CN" b="0" dirty="0"/>
              <a:t>②先根遍历第一棵树中的子树森林；</a:t>
            </a:r>
          </a:p>
          <a:p>
            <a:r>
              <a:rPr lang="en-US" altLang="zh-CN" b="0" dirty="0"/>
              <a:t>		</a:t>
            </a:r>
            <a:r>
              <a:rPr lang="zh-CN" altLang="zh-CN" b="0" dirty="0"/>
              <a:t>③先根遍历除去第一棵树之后剩余的树构成的森林。</a:t>
            </a:r>
          </a:p>
          <a:p>
            <a:r>
              <a:rPr lang="en-US" altLang="zh-CN" b="0" dirty="0"/>
              <a:t>	(2) </a:t>
            </a:r>
            <a:r>
              <a:rPr lang="zh-CN" altLang="zh-CN" b="0" dirty="0">
                <a:solidFill>
                  <a:srgbClr val="FF0000"/>
                </a:solidFill>
              </a:rPr>
              <a:t>中根</a:t>
            </a:r>
            <a:r>
              <a:rPr lang="en-US" altLang="zh-CN" b="0" dirty="0">
                <a:solidFill>
                  <a:srgbClr val="FF0000"/>
                </a:solidFill>
              </a:rPr>
              <a:t>(</a:t>
            </a:r>
            <a:r>
              <a:rPr lang="zh-CN" altLang="zh-CN" b="0" dirty="0">
                <a:solidFill>
                  <a:srgbClr val="FF0000"/>
                </a:solidFill>
              </a:rPr>
              <a:t>序</a:t>
            </a:r>
            <a:r>
              <a:rPr lang="en-US" altLang="zh-CN" b="0" dirty="0">
                <a:solidFill>
                  <a:srgbClr val="FF0000"/>
                </a:solidFill>
              </a:rPr>
              <a:t>)</a:t>
            </a:r>
            <a:r>
              <a:rPr lang="zh-CN" altLang="zh-CN" b="0" dirty="0">
                <a:solidFill>
                  <a:srgbClr val="FF0000"/>
                </a:solidFill>
              </a:rPr>
              <a:t>遍历森林</a:t>
            </a:r>
          </a:p>
          <a:p>
            <a:r>
              <a:rPr lang="en-US" altLang="zh-CN" b="0" dirty="0"/>
              <a:t>		</a:t>
            </a:r>
            <a:r>
              <a:rPr lang="zh-CN" altLang="zh-CN" b="0" dirty="0"/>
              <a:t>①中根遍历森林中第一棵树的根结点的子树森林；</a:t>
            </a:r>
          </a:p>
          <a:p>
            <a:r>
              <a:rPr lang="zh-CN" altLang="zh-CN" b="0" dirty="0"/>
              <a:t>　</a:t>
            </a:r>
            <a:r>
              <a:rPr lang="en-US" altLang="zh-CN" b="0" dirty="0"/>
              <a:t>		</a:t>
            </a:r>
            <a:r>
              <a:rPr lang="zh-CN" altLang="zh-CN" b="0" dirty="0"/>
              <a:t>②访问森林中第一棵树的根结点；</a:t>
            </a:r>
          </a:p>
          <a:p>
            <a:r>
              <a:rPr lang="en-US" altLang="zh-CN" b="0" dirty="0"/>
              <a:t>		</a:t>
            </a:r>
            <a:r>
              <a:rPr lang="zh-CN" altLang="zh-CN" b="0" dirty="0"/>
              <a:t>③中根遍历除去第一棵树之后剩余的树构成的森林。</a:t>
            </a:r>
          </a:p>
          <a:p>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428604"/>
            <a:ext cx="429260" cy="427512"/>
          </a:xfrm>
          <a:prstGeom prst="rect">
            <a:avLst/>
          </a:prstGeom>
        </p:spPr>
      </p:pic>
    </p:spTree>
    <p:extLst>
      <p:ext uri="{BB962C8B-B14F-4D97-AF65-F5344CB8AC3E}">
        <p14:creationId xmlns:p14="http://schemas.microsoft.com/office/powerpoint/2010/main" val="341159247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ChangeArrowheads="1"/>
          </p:cNvSpPr>
          <p:nvPr/>
        </p:nvSpPr>
        <p:spPr bwMode="auto">
          <a:xfrm>
            <a:off x="1000100" y="3571876"/>
            <a:ext cx="7143800" cy="242220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30000"/>
              </a:lnSpc>
              <a:spcBef>
                <a:spcPts val="600"/>
              </a:spcBef>
              <a:spcAft>
                <a:spcPct val="0"/>
              </a:spcAft>
            </a:pPr>
            <a:r>
              <a:rPr lang="zh-CN" altLang="zh-CN" sz="2200" b="1" dirty="0">
                <a:latin typeface="Times New Roman" panose="02020603050405020304" pitchFamily="18" charset="0"/>
                <a:ea typeface="楷体" panose="02010609060101010101" pitchFamily="49" charset="-122"/>
                <a:cs typeface="Times New Roman" panose="02020603050405020304" pitchFamily="18" charset="0"/>
              </a:rPr>
              <a:t>森林</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先根遍历</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ABCDEFGIJ</a:t>
            </a:r>
          </a:p>
          <a:p>
            <a:pPr lvl="0" fontAlgn="base">
              <a:lnSpc>
                <a:spcPct val="130000"/>
              </a:lnSpc>
              <a:spcBef>
                <a:spcPts val="600"/>
              </a:spcBef>
              <a:spcAft>
                <a:spcPct val="0"/>
              </a:spcAft>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中根遍历</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BCDAFEHJIG</a:t>
            </a:r>
          </a:p>
          <a:p>
            <a:pPr lvl="0" fontAlgn="base">
              <a:lnSpc>
                <a:spcPct val="130000"/>
              </a:lnSpc>
              <a:spcBef>
                <a:spcPts val="600"/>
              </a:spcBef>
              <a:spcAft>
                <a:spcPct val="0"/>
              </a:spcAft>
            </a:pP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森林转换后对应的二叉树：</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先序遍历：</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ABCDEFGHIJ</a:t>
            </a:r>
          </a:p>
          <a:p>
            <a:pPr lvl="0" fontAlgn="base">
              <a:lnSpc>
                <a:spcPct val="130000"/>
              </a:lnSpc>
              <a:spcBef>
                <a:spcPts val="600"/>
              </a:spcBef>
              <a:spcAft>
                <a:spcPct val="0"/>
              </a:spcAft>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中序遍历：</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BCDAFEHJIG</a:t>
            </a:r>
          </a:p>
          <a:p>
            <a:pPr lvl="0" fontAlgn="base">
              <a:spcBef>
                <a:spcPct val="0"/>
              </a:spcBef>
              <a:spcAft>
                <a:spcPct val="0"/>
              </a:spcAft>
            </a:pP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399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8250" y="764704"/>
            <a:ext cx="666750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4250</TotalTime>
  <Words>17093</Words>
  <Application>Microsoft Office PowerPoint</Application>
  <PresentationFormat>全屏显示(4:3)</PresentationFormat>
  <Paragraphs>1099</Paragraphs>
  <Slides>168</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0</vt:i4>
      </vt:variant>
      <vt:variant>
        <vt:lpstr>幻灯片标题</vt:lpstr>
      </vt:variant>
      <vt:variant>
        <vt:i4>168</vt:i4>
      </vt:variant>
    </vt:vector>
  </HeadingPairs>
  <TitlesOfParts>
    <vt:vector size="186" baseType="lpstr">
      <vt:lpstr>方正舒体</vt:lpstr>
      <vt:lpstr>黑体</vt:lpstr>
      <vt:lpstr>华文行楷</vt:lpstr>
      <vt:lpstr>楷体</vt:lpstr>
      <vt:lpstr>楷体_GB2312</vt:lpstr>
      <vt:lpstr>宋体</vt:lpstr>
      <vt:lpstr>Arial</vt:lpstr>
      <vt:lpstr>Calibri</vt:lpstr>
      <vt:lpstr>Cambria Math</vt:lpstr>
      <vt:lpstr>Franklin Gothic Book</vt:lpstr>
      <vt:lpstr>Franklin Gothic Medium</vt:lpstr>
      <vt:lpstr>Lucida Sans Unicode</vt:lpstr>
      <vt:lpstr>Symbol</vt:lpstr>
      <vt:lpstr>Times New Roman</vt:lpstr>
      <vt:lpstr>Webdings</vt:lpstr>
      <vt:lpstr>Wingdings</vt:lpstr>
      <vt:lpstr>Wingdings 2</vt:lpstr>
      <vt:lpstr>角度</vt:lpstr>
      <vt:lpstr>第5章 树和二叉树</vt:lpstr>
      <vt:lpstr>5.1树的定义与基本术语</vt:lpstr>
      <vt:lpstr>PowerPoint 演示文稿</vt:lpstr>
      <vt:lpstr>5.1.2 相关的基本术语</vt:lpstr>
      <vt:lpstr>PowerPoint 演示文稿</vt:lpstr>
      <vt:lpstr>PowerPoint 演示文稿</vt:lpstr>
      <vt:lpstr>5.2 二叉树的定义、性质和存储结构</vt:lpstr>
      <vt:lpstr>PowerPoint 演示文稿</vt:lpstr>
      <vt:lpstr>5.2.2 二叉树的主要性质</vt:lpstr>
      <vt:lpstr>PowerPoint 演示文稿</vt:lpstr>
      <vt:lpstr>PowerPoint 演示文稿</vt:lpstr>
      <vt:lpstr>PowerPoint 演示文稿</vt:lpstr>
      <vt:lpstr>PowerPoint 演示文稿</vt:lpstr>
      <vt:lpstr>5.2.3 二叉树的存储结构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 二叉树的遍历</vt:lpstr>
      <vt:lpstr>5.3.1 二叉树的先序遍历</vt:lpstr>
      <vt:lpstr>PowerPoint 演示文稿</vt:lpstr>
      <vt:lpstr>PowerPoint 演示文稿</vt:lpstr>
      <vt:lpstr>PowerPoint 演示文稿</vt:lpstr>
      <vt:lpstr>PowerPoint 演示文稿</vt:lpstr>
      <vt:lpstr>PowerPoint 演示文稿</vt:lpstr>
      <vt:lpstr>PowerPoint 演示文稿</vt:lpstr>
      <vt:lpstr>5.3.2 二叉树的中序遍历</vt:lpstr>
      <vt:lpstr>PowerPoint 演示文稿</vt:lpstr>
      <vt:lpstr>PowerPoint 演示文稿</vt:lpstr>
      <vt:lpstr>PowerPoint 演示文稿</vt:lpstr>
      <vt:lpstr>PowerPoint 演示文稿</vt:lpstr>
      <vt:lpstr>PowerPoint 演示文稿</vt:lpstr>
      <vt:lpstr>5.3.3 二叉树的后序遍历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二叉树应用1：哈夫曼树</vt:lpstr>
      <vt:lpstr>5.4.1 哈夫曼树的构造</vt:lpstr>
      <vt:lpstr>PowerPoint 演示文稿</vt:lpstr>
      <vt:lpstr>PowerPoint 演示文稿</vt:lpstr>
      <vt:lpstr>构造哈夫曼树的基本思想： 让权值越大的叶子结点离根结点的距离越近，而权值越小的叶子结点离根结点的距离越远。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5.4.2 哈夫曼编码</vt:lpstr>
      <vt:lpstr>PowerPoint 演示文稿</vt:lpstr>
      <vt:lpstr>PowerPoint 演示文稿</vt:lpstr>
      <vt:lpstr>PowerPoint 演示文稿</vt:lpstr>
      <vt:lpstr>PowerPoint 演示文稿</vt:lpstr>
      <vt:lpstr>PowerPoint 演示文稿</vt:lpstr>
      <vt:lpstr>5.5 二叉树应用2：二叉查找树</vt:lpstr>
      <vt:lpstr>5.5.1二叉查找树的定义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5.5.4 二叉查找树的删除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 二叉树应用3：平衡二叉树</vt:lpstr>
      <vt:lpstr>PowerPoint 演示文稿</vt:lpstr>
      <vt:lpstr>PowerPoint 演示文稿</vt:lpstr>
      <vt:lpstr>5.6.2 平衡化旋转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5.6.3 平衡二叉树的插入</vt:lpstr>
      <vt:lpstr>PowerPoint 演示文稿</vt:lpstr>
      <vt:lpstr>5.6.4 平衡二叉树的删除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5.7 二叉树应用4：堆与优先队列</vt:lpstr>
      <vt:lpstr>PowerPoint 演示文稿</vt:lpstr>
      <vt:lpstr>PowerPoint 演示文稿</vt:lpstr>
      <vt:lpstr>PowerPoint 演示文稿</vt:lpstr>
      <vt:lpstr>PowerPoint 演示文稿</vt:lpstr>
      <vt:lpstr>PowerPoint 演示文稿</vt:lpstr>
      <vt:lpstr>5.7.2 堆的插入和堆顶删除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5.8 树与森林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5.8.2 树、森林与二叉树的转换</vt:lpstr>
      <vt:lpstr>PowerPoint 演示文稿</vt:lpstr>
      <vt:lpstr>PowerPoint 演示文稿</vt:lpstr>
      <vt:lpstr>PowerPoint 演示文稿</vt:lpstr>
      <vt:lpstr>PowerPoint 演示文稿</vt:lpstr>
      <vt:lpstr>PowerPoint 演示文稿</vt:lpstr>
      <vt:lpstr>5.8.3 树与森林的遍历</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钊源 张</cp:lastModifiedBy>
  <cp:revision>508</cp:revision>
  <dcterms:created xsi:type="dcterms:W3CDTF">2016-02-05T07:36:15Z</dcterms:created>
  <dcterms:modified xsi:type="dcterms:W3CDTF">2024-11-04T07:30:26Z</dcterms:modified>
</cp:coreProperties>
</file>