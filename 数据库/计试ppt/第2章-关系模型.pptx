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63" r:id="rId5"/>
    <p:sldId id="264" r:id="rId6"/>
    <p:sldId id="265" r:id="rId7"/>
    <p:sldId id="266" r:id="rId8"/>
    <p:sldId id="267" r:id="rId9"/>
    <p:sldId id="268" r:id="rId10"/>
    <p:sldId id="269" r:id="rId11"/>
    <p:sldId id="270" r:id="rId12"/>
    <p:sldId id="272" r:id="rId13"/>
    <p:sldId id="273" r:id="rId14"/>
    <p:sldId id="271" r:id="rId15"/>
    <p:sldId id="274" r:id="rId16"/>
    <p:sldId id="275" r:id="rId17"/>
    <p:sldId id="276" r:id="rId18"/>
    <p:sldId id="277" r:id="rId19"/>
    <p:sldId id="278" r:id="rId20"/>
    <p:sldId id="279"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7" r:id="rId37"/>
    <p:sldId id="298" r:id="rId38"/>
    <p:sldId id="299" r:id="rId39"/>
    <p:sldId id="300" r:id="rId40"/>
    <p:sldId id="301" r:id="rId41"/>
    <p:sldId id="302" r:id="rId42"/>
    <p:sldId id="303" r:id="rId43"/>
    <p:sldId id="304" r:id="rId44"/>
    <p:sldId id="296" r:id="rId45"/>
    <p:sldId id="305" r:id="rId46"/>
    <p:sldId id="311" r:id="rId47"/>
    <p:sldId id="312" r:id="rId48"/>
    <p:sldId id="315" r:id="rId49"/>
    <p:sldId id="316" r:id="rId50"/>
    <p:sldId id="306" r:id="rId51"/>
    <p:sldId id="307" r:id="rId52"/>
    <p:sldId id="308" r:id="rId53"/>
    <p:sldId id="309" r:id="rId54"/>
    <p:sldId id="317" r:id="rId55"/>
    <p:sldId id="318" r:id="rId56"/>
    <p:sldId id="319" r:id="rId57"/>
    <p:sldId id="320" r:id="rId58"/>
    <p:sldId id="321" r:id="rId59"/>
    <p:sldId id="322" r:id="rId60"/>
    <p:sldId id="324" r:id="rId61"/>
    <p:sldId id="325" r:id="rId62"/>
    <p:sldId id="326" r:id="rId63"/>
    <p:sldId id="323" r:id="rId64"/>
    <p:sldId id="310" r:id="rId65"/>
    <p:sldId id="327" r:id="rId66"/>
    <p:sldId id="328" r:id="rId67"/>
    <p:sldId id="329" r:id="rId68"/>
    <p:sldId id="330" r:id="rId69"/>
    <p:sldId id="331" r:id="rId70"/>
    <p:sldId id="333" r:id="rId71"/>
    <p:sldId id="334" r:id="rId72"/>
    <p:sldId id="335" r:id="rId73"/>
    <p:sldId id="336" r:id="rId74"/>
    <p:sldId id="332" r:id="rId75"/>
    <p:sldId id="337" r:id="rId76"/>
    <p:sldId id="338" r:id="rId77"/>
    <p:sldId id="339" r:id="rId78"/>
    <p:sldId id="340" r:id="rId79"/>
    <p:sldId id="341" r:id="rId80"/>
    <p:sldId id="342" r:id="rId81"/>
    <p:sldId id="343" r:id="rId82"/>
    <p:sldId id="344" r:id="rId8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32" autoAdjust="0"/>
    <p:restoredTop sz="94421" autoAdjust="0"/>
  </p:normalViewPr>
  <p:slideViewPr>
    <p:cSldViewPr snapToGrid="0">
      <p:cViewPr varScale="1">
        <p:scale>
          <a:sx n="85" d="100"/>
          <a:sy n="85" d="100"/>
        </p:scale>
        <p:origin x="120" y="1722"/>
      </p:cViewPr>
      <p:guideLst/>
    </p:cSldViewPr>
  </p:slideViewPr>
  <p:outlineViewPr>
    <p:cViewPr>
      <p:scale>
        <a:sx n="33" d="100"/>
        <a:sy n="33" d="100"/>
      </p:scale>
      <p:origin x="0" y="-2207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6" Type="http://schemas.openxmlformats.org/officeDocument/2006/relationships/tableStyles" Target="tableStyles.xml"/><Relationship Id="rId85" Type="http://schemas.openxmlformats.org/officeDocument/2006/relationships/viewProps" Target="viewProps.xml"/><Relationship Id="rId84" Type="http://schemas.openxmlformats.org/officeDocument/2006/relationships/presProps" Target="presProps.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50B64F-FD8B-3F4E-B770-881CBF8AF594}"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05B2D4-4121-E746-8724-2F5AD4F820A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页">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normAutofit/>
          </a:bodyPr>
          <a:lstStyle>
            <a:lvl1pPr algn="ctr">
              <a:defRPr sz="6000">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b="0" i="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4" name="日期占位符 3"/>
          <p:cNvSpPr>
            <a:spLocks noGrp="1"/>
          </p:cNvSpPr>
          <p:nvPr>
            <p:ph type="dt" sz="half" idx="10"/>
          </p:nvPr>
        </p:nvSpPr>
        <p:spPr/>
        <p:txBody>
          <a:bodyPr/>
          <a:lstStyle>
            <a:lvl1pPr>
              <a:defRPr>
                <a:latin typeface="黑体" panose="02010609060101010101" pitchFamily="49" charset="-122"/>
                <a:ea typeface="黑体" panose="02010609060101010101" pitchFamily="49" charset="-122"/>
              </a:defRPr>
            </a:lvl1pPr>
          </a:lstStyle>
          <a:p>
            <a:fld id="{7B2AEECA-C3C8-1244-98CC-025D6DAAF97C}"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1995959" y="1219202"/>
            <a:ext cx="8200082" cy="4957760"/>
          </a:xfrm>
        </p:spPr>
        <p:txBody>
          <a:bodyPr>
            <a:normAutofit/>
          </a:bodyPr>
          <a:lstStyle>
            <a:lvl1pPr marL="0" indent="0">
              <a:lnSpc>
                <a:spcPct val="200000"/>
              </a:lnSpc>
              <a:buFont typeface="Wingdings" panose="05000000000000000000" pitchFamily="2" charset="2"/>
              <a:buNone/>
              <a:defRPr sz="2800" b="0"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en-US" altLang="zh-CN" dirty="0"/>
              <a:t>1.1</a:t>
            </a:r>
            <a:r>
              <a:rPr lang="zh-CN" altLang="en-US" dirty="0"/>
              <a:t> 目录</a:t>
            </a:r>
            <a:r>
              <a:rPr lang="en-US" altLang="zh-CN" dirty="0"/>
              <a:t>1</a:t>
            </a:r>
            <a:endParaRPr lang="en-US" altLang="zh-CN" dirty="0"/>
          </a:p>
          <a:p>
            <a:pPr lvl="0"/>
            <a:r>
              <a:rPr lang="en-US" altLang="zh-CN" dirty="0"/>
              <a:t>1.2</a:t>
            </a:r>
            <a:r>
              <a:rPr lang="zh-CN" altLang="en-US" dirty="0"/>
              <a:t> 目录</a:t>
            </a:r>
            <a:r>
              <a:rPr lang="en-US" altLang="zh-CN" dirty="0"/>
              <a:t>2</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07AFB82E-7069-BD4E-96F2-53BDFC0AAE44}"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正文_单栏">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97163" y="1219203"/>
            <a:ext cx="11453091" cy="4957760"/>
          </a:xfrm>
        </p:spPr>
        <p:txBody>
          <a:bodyPr/>
          <a:lstStyle>
            <a:lvl1pPr marL="228600" indent="-228600" algn="just">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gn="just">
              <a:lnSpc>
                <a:spcPct val="120000"/>
              </a:lnSpc>
              <a:defRPr b="0" i="0">
                <a:latin typeface="微软雅黑" panose="020B0503020204020204" pitchFamily="34" charset="-122"/>
                <a:ea typeface="微软雅黑" panose="020B0503020204020204" pitchFamily="34" charset="-122"/>
              </a:defRPr>
            </a:lvl2pPr>
            <a:lvl3pPr algn="just">
              <a:lnSpc>
                <a:spcPct val="120000"/>
              </a:lnSpc>
              <a:defRPr b="0" i="0">
                <a:latin typeface="微软雅黑" panose="020B0503020204020204" pitchFamily="34" charset="-122"/>
                <a:ea typeface="微软雅黑" panose="020B0503020204020204" pitchFamily="34" charset="-122"/>
              </a:defRPr>
            </a:lvl3pPr>
            <a:lvl4pPr algn="just">
              <a:lnSpc>
                <a:spcPct val="120000"/>
              </a:lnSpc>
              <a:defRPr b="0" i="0">
                <a:latin typeface="微软雅黑" panose="020B0503020204020204" pitchFamily="34" charset="-122"/>
                <a:ea typeface="微软雅黑" panose="020B0503020204020204" pitchFamily="34" charset="-122"/>
              </a:defRPr>
            </a:lvl4pPr>
            <a:lvl5pPr algn="just">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8118BE18-7306-3643-B1E0-A687D3D01200}"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正文_双栏">
    <p:spTree>
      <p:nvGrpSpPr>
        <p:cNvPr id="1" name=""/>
        <p:cNvGrpSpPr/>
        <p:nvPr/>
      </p:nvGrpSpPr>
      <p:grpSpPr>
        <a:xfrm>
          <a:off x="0" y="0"/>
          <a:ext cx="0" cy="0"/>
          <a:chOff x="0" y="0"/>
          <a:chExt cx="0" cy="0"/>
        </a:xfrm>
      </p:grpSpPr>
      <p:sp>
        <p:nvSpPr>
          <p:cNvPr id="3" name="内容占位符 2"/>
          <p:cNvSpPr>
            <a:spLocks noGrp="1"/>
          </p:cNvSpPr>
          <p:nvPr>
            <p:ph sz="half" idx="1" hasCustomPrompt="1"/>
          </p:nvPr>
        </p:nvSpPr>
        <p:spPr>
          <a:xfrm>
            <a:off x="367147"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11" name="页脚占位符 4"/>
          <p:cNvSpPr>
            <a:spLocks noGrp="1"/>
          </p:cNvSpPr>
          <p:nvPr>
            <p:ph type="ftr" sz="quarter" idx="11"/>
          </p:nvPr>
        </p:nvSpPr>
        <p:spPr>
          <a:xfrm>
            <a:off x="4038600" y="6356350"/>
            <a:ext cx="4114800" cy="365125"/>
          </a:xfrm>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12"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6"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内容占位符 2"/>
          <p:cNvSpPr>
            <a:spLocks noGrp="1"/>
          </p:cNvSpPr>
          <p:nvPr>
            <p:ph sz="half" idx="13" hasCustomPrompt="1"/>
          </p:nvPr>
        </p:nvSpPr>
        <p:spPr>
          <a:xfrm>
            <a:off x="6262255"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图片">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2564091" y="2309567"/>
            <a:ext cx="7239785" cy="355148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文本占位符 3"/>
          <p:cNvSpPr>
            <a:spLocks noGrp="1"/>
          </p:cNvSpPr>
          <p:nvPr>
            <p:ph type="body" sz="quarter" idx="14" hasCustomPrompt="1"/>
          </p:nvPr>
        </p:nvSpPr>
        <p:spPr>
          <a:xfrm>
            <a:off x="5232448" y="5899150"/>
            <a:ext cx="1177779" cy="36512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0" i="0">
                <a:latin typeface="微软雅黑" panose="020B0503020204020204" pitchFamily="34" charset="-122"/>
                <a:ea typeface="微软雅黑" panose="020B0503020204020204" pitchFamily="34" charset="-122"/>
              </a:defRPr>
            </a:lvl1pPr>
          </a:lstStyle>
          <a:p>
            <a:pPr lvl="0"/>
            <a:r>
              <a:rPr kumimoji="1" lang="zh-CN" altLang="en-US" dirty="0"/>
              <a:t>图</a:t>
            </a:r>
            <a:r>
              <a:rPr kumimoji="1" lang="en-GB" altLang="zh-CN" dirty="0" err="1"/>
              <a:t>x.x</a:t>
            </a:r>
            <a:r>
              <a:rPr kumimoji="1" lang="en-GB" altLang="zh-CN" dirty="0"/>
              <a:t> </a:t>
            </a:r>
            <a:endParaRPr kumimoji="1" lang="en-GB" altLang="zh-CN" dirty="0"/>
          </a:p>
          <a:p>
            <a:pPr lvl="0"/>
            <a:endParaRPr kumimoji="1" lang="zh-CN" altLang="en-US" dirty="0"/>
          </a:p>
        </p:txBody>
      </p:sp>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8"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5"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表格">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12" name="文本框 11"/>
          <p:cNvSpPr txBox="1"/>
          <p:nvPr userDrawn="1"/>
        </p:nvSpPr>
        <p:spPr>
          <a:xfrm>
            <a:off x="5676654" y="5192412"/>
            <a:ext cx="838691" cy="400110"/>
          </a:xfrm>
          <a:prstGeom prst="rect">
            <a:avLst/>
          </a:prstGeom>
          <a:noFill/>
        </p:spPr>
        <p:txBody>
          <a:bodyPr wrap="none" rtlCol="0">
            <a:spAutoFit/>
          </a:bodyPr>
          <a:lstStyle/>
          <a:p>
            <a:r>
              <a:rPr kumimoji="1" lang="zh-CN" altLang="en-US" sz="2000" b="0" i="0" dirty="0">
                <a:latin typeface="微软雅黑" panose="020B0503020204020204" pitchFamily="34" charset="-122"/>
                <a:ea typeface="微软雅黑" panose="020B0503020204020204" pitchFamily="34" charset="-122"/>
              </a:rPr>
              <a:t>表</a:t>
            </a:r>
            <a:r>
              <a:rPr kumimoji="1" lang="en-US" altLang="zh-CN" sz="2000" b="0" i="0" dirty="0" err="1">
                <a:latin typeface="微软雅黑" panose="020B0503020204020204" pitchFamily="34" charset="-122"/>
                <a:ea typeface="微软雅黑" panose="020B0503020204020204" pitchFamily="34" charset="-122"/>
              </a:rPr>
              <a:t>x.x</a:t>
            </a:r>
            <a:r>
              <a:rPr kumimoji="1" lang="en-US" altLang="zh-CN" sz="2000" b="0" i="0" dirty="0">
                <a:latin typeface="微软雅黑" panose="020B0503020204020204" pitchFamily="34" charset="-122"/>
                <a:ea typeface="微软雅黑" panose="020B0503020204020204" pitchFamily="34" charset="-122"/>
              </a:rPr>
              <a:t> </a:t>
            </a:r>
            <a:endParaRPr kumimoji="1" lang="zh-CN" altLang="en-US" sz="2000" b="0" i="0" dirty="0">
              <a:latin typeface="微软雅黑" panose="020B0503020204020204" pitchFamily="34" charset="-122"/>
              <a:ea typeface="微软雅黑" panose="020B0503020204020204" pitchFamily="34" charset="-122"/>
            </a:endParaRPr>
          </a:p>
        </p:txBody>
      </p:sp>
      <p:graphicFrame>
        <p:nvGraphicFramePr>
          <p:cNvPr id="14" name="表格 13"/>
          <p:cNvGraphicFramePr>
            <a:graphicFrameLocks noGrp="1"/>
          </p:cNvGraphicFramePr>
          <p:nvPr userDrawn="1"/>
        </p:nvGraphicFramePr>
        <p:xfrm>
          <a:off x="2209800" y="3473310"/>
          <a:ext cx="8128000" cy="1584960"/>
        </p:xfrm>
        <a:graphic>
          <a:graphicData uri="http://schemas.openxmlformats.org/drawingml/2006/table">
            <a:tbl>
              <a:tblPr firstRow="1" bandRow="1">
                <a:tableStyleId>{5A111915-BE36-4E01-A7E5-04B1672EAD32}</a:tableStyleId>
              </a:tblPr>
              <a:tblGrid>
                <a:gridCol w="1625600"/>
                <a:gridCol w="1625600"/>
                <a:gridCol w="1625600"/>
                <a:gridCol w="1625600"/>
                <a:gridCol w="1625600"/>
              </a:tblGrid>
              <a:tr h="370840">
                <a:tc>
                  <a:txBody>
                    <a:bodyPr/>
                    <a:lstStyle/>
                    <a:p>
                      <a:pPr algn="ctr"/>
                      <a:r>
                        <a:rPr lang="zh-CN" altLang="en-US" sz="2000" b="0" i="0" dirty="0">
                          <a:solidFill>
                            <a:schemeClr val="tx1"/>
                          </a:solidFill>
                          <a:latin typeface="微软雅黑" panose="020B0503020204020204" pitchFamily="34" charset="-122"/>
                          <a:ea typeface="微软雅黑" panose="020B0503020204020204" pitchFamily="34" charset="-122"/>
                        </a:rPr>
                        <a:t>表格</a:t>
                      </a:r>
                      <a:endParaRPr lang="zh-CN" altLang="en-US" sz="2000" b="0" i="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3"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4"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A0ED15-8309-5642-9A4C-6A3002950670}"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891F7F-8655-44AE-A6FF-53AD9F2B6B8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3.xml"/><Relationship Id="rId2" Type="http://schemas.openxmlformats.org/officeDocument/2006/relationships/image" Target="../media/image2.e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image" Target="../media/image17.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2.png"/><Relationship Id="rId1" Type="http://schemas.openxmlformats.org/officeDocument/2006/relationships/image" Target="../media/image21.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5.png"/></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3.xml"/><Relationship Id="rId7" Type="http://schemas.openxmlformats.org/officeDocument/2006/relationships/image" Target="../media/image37.png"/><Relationship Id="rId6" Type="http://schemas.openxmlformats.org/officeDocument/2006/relationships/oleObject" Target="../embeddings/oleObject4.bin"/><Relationship Id="rId5" Type="http://schemas.openxmlformats.org/officeDocument/2006/relationships/image" Target="../media/image36.png"/><Relationship Id="rId4" Type="http://schemas.openxmlformats.org/officeDocument/2006/relationships/oleObject" Target="../embeddings/oleObject3.bin"/><Relationship Id="rId3" Type="http://schemas.openxmlformats.org/officeDocument/2006/relationships/image" Target="../media/image35.png"/><Relationship Id="rId2" Type="http://schemas.openxmlformats.org/officeDocument/2006/relationships/oleObject" Target="../embeddings/oleObject2.bin"/><Relationship Id="rId1" Type="http://schemas.openxmlformats.org/officeDocument/2006/relationships/image" Target="../media/image3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27.png"/><Relationship Id="rId1" Type="http://schemas.openxmlformats.org/officeDocument/2006/relationships/image" Target="../media/image2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1.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3.png"/><Relationship Id="rId1" Type="http://schemas.openxmlformats.org/officeDocument/2006/relationships/image" Target="../media/image42.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5.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6.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7.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9.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2.png"/><Relationship Id="rId1" Type="http://schemas.openxmlformats.org/officeDocument/2006/relationships/image" Target="../media/image51.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3.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4.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5.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6.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7.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8.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9.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0.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1.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2.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4.png"/><Relationship Id="rId1" Type="http://schemas.openxmlformats.org/officeDocument/2006/relationships/image" Target="../media/image63.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6000" b="1" dirty="0"/>
              <a:t>第</a:t>
            </a:r>
            <a:r>
              <a:rPr lang="en-US" altLang="zh-CN" b="1" dirty="0"/>
              <a:t>2</a:t>
            </a:r>
            <a:r>
              <a:rPr lang="zh-CN" altLang="en-US" sz="6000" b="1" dirty="0"/>
              <a:t>章 关系模型</a:t>
            </a:r>
            <a:endParaRPr lang="zh-CN" altLang="en-US" dirty="0">
              <a:highlight>
                <a:srgbClr val="FFFF00"/>
              </a:highlight>
            </a:endParaRPr>
          </a:p>
        </p:txBody>
      </p:sp>
      <p:sp>
        <p:nvSpPr>
          <p:cNvPr id="3" name="副标题 2"/>
          <p:cNvSpPr>
            <a:spLocks noGrp="1"/>
          </p:cNvSpPr>
          <p:nvPr>
            <p:ph type="subTitle" idx="1"/>
          </p:nvPr>
        </p:nvSpPr>
        <p:spPr>
          <a:xfrm>
            <a:off x="1524000" y="4079875"/>
            <a:ext cx="9144000" cy="1655762"/>
          </a:xfrm>
        </p:spPr>
        <p:txBody>
          <a:bodyPr/>
          <a:lstStyle/>
          <a:p>
            <a:pPr>
              <a:lnSpc>
                <a:spcPct val="150000"/>
              </a:lnSpc>
            </a:pPr>
            <a:r>
              <a:rPr lang="zh-CN" altLang="en-US" dirty="0"/>
              <a:t>西安交通大学计算机科学与技术学院</a:t>
            </a:r>
            <a:r>
              <a:rPr lang="en-US" altLang="zh-CN" dirty="0"/>
              <a:t>	</a:t>
            </a:r>
            <a:r>
              <a:rPr lang="zh-CN" altLang="en-US" dirty="0"/>
              <a:t>任雪斌</a:t>
            </a:r>
            <a:endParaRPr lang="en-US" altLang="zh-CN" dirty="0"/>
          </a:p>
          <a:p>
            <a:pPr>
              <a:lnSpc>
                <a:spcPct val="150000"/>
              </a:lnSpc>
            </a:pPr>
            <a:r>
              <a:rPr lang="en-US" altLang="zh-CN" dirty="0" err="1"/>
              <a:t>xuebinren@mail.xjtu.edu.cn</a:t>
            </a:r>
            <a:endParaRPr lang="en-US" altLang="zh-CN" dirty="0"/>
          </a:p>
          <a:p>
            <a:endParaRPr lang="zh-CN" altLang="en-US" dirty="0"/>
          </a:p>
        </p:txBody>
      </p:sp>
      <p:sp>
        <p:nvSpPr>
          <p:cNvPr id="5" name="灯片编号占位符 4"/>
          <p:cNvSpPr>
            <a:spLocks noGrp="1"/>
          </p:cNvSpPr>
          <p:nvPr>
            <p:ph type="sldNum" sz="quarter" idx="12"/>
          </p:nvPr>
        </p:nvSpPr>
        <p:spPr/>
        <p:txBody>
          <a:bodyPr/>
          <a:lstStyle/>
          <a:p>
            <a:fld id="{FB891F7F-8655-44AE-A6FF-53AD9F2B6B87}"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7172" y="179243"/>
            <a:ext cx="10697497" cy="590931"/>
          </a:xfrm>
        </p:spPr>
        <p:txBody>
          <a:bodyPr/>
          <a:lstStyle/>
          <a:p>
            <a:r>
              <a:rPr kumimoji="1" lang="zh-CN" altLang="en-US" dirty="0"/>
              <a:t>目录</a:t>
            </a:r>
            <a:endParaRPr kumimoji="1" lang="zh-CN" altLang="en-US" dirty="0"/>
          </a:p>
        </p:txBody>
      </p:sp>
      <p:sp>
        <p:nvSpPr>
          <p:cNvPr id="3" name="内容占位符 2"/>
          <p:cNvSpPr>
            <a:spLocks noGrp="1"/>
          </p:cNvSpPr>
          <p:nvPr>
            <p:ph idx="1"/>
          </p:nvPr>
        </p:nvSpPr>
        <p:spPr/>
        <p:txBody>
          <a:bodyPr>
            <a:normAutofit/>
          </a:bodyPr>
          <a:lstStyle/>
          <a:p>
            <a:pPr>
              <a:lnSpc>
                <a:spcPct val="150000"/>
              </a:lnSpc>
            </a:pPr>
            <a:r>
              <a:rPr kumimoji="1" lang="en-US" altLang="zh-CN" dirty="0"/>
              <a:t>2.1 </a:t>
            </a:r>
            <a:r>
              <a:rPr kumimoji="1" lang="zh-CN" altLang="en-US" dirty="0"/>
              <a:t>基本概念</a:t>
            </a:r>
            <a:endParaRPr kumimoji="1" lang="en-US" altLang="zh-CN" dirty="0">
              <a:highlight>
                <a:srgbClr val="FFFF00"/>
              </a:highlight>
            </a:endParaRPr>
          </a:p>
          <a:p>
            <a:pPr>
              <a:lnSpc>
                <a:spcPct val="150000"/>
              </a:lnSpc>
            </a:pPr>
            <a:r>
              <a:rPr kumimoji="1" lang="en-US" altLang="zh-CN" dirty="0"/>
              <a:t>2.2 </a:t>
            </a:r>
            <a:r>
              <a:rPr kumimoji="1" lang="zh-CN" altLang="en-US" dirty="0"/>
              <a:t>关系代数</a:t>
            </a:r>
            <a:endParaRPr kumimoji="1" lang="en-US" altLang="zh-CN" dirty="0"/>
          </a:p>
          <a:p>
            <a:pPr>
              <a:lnSpc>
                <a:spcPct val="150000"/>
              </a:lnSpc>
            </a:pPr>
            <a:r>
              <a:rPr kumimoji="1" lang="en-US" altLang="zh-CN" dirty="0"/>
              <a:t>2.3 </a:t>
            </a:r>
            <a:r>
              <a:rPr kumimoji="1" lang="zh-CN" altLang="en-US" dirty="0"/>
              <a:t>关系演算</a:t>
            </a:r>
            <a:endParaRPr kumimoji="1" lang="en-US" altLang="zh-CN" dirty="0"/>
          </a:p>
        </p:txBody>
      </p:sp>
      <p:sp>
        <p:nvSpPr>
          <p:cNvPr id="5" name="灯片编号占位符 4"/>
          <p:cNvSpPr>
            <a:spLocks noGrp="1"/>
          </p:cNvSpPr>
          <p:nvPr>
            <p:ph type="sldNum" sz="quarter" idx="12"/>
          </p:nvPr>
        </p:nvSpPr>
        <p:spPr/>
        <p:txBody>
          <a:bodyPr/>
          <a:lstStyle/>
          <a:p>
            <a:fld id="{FB891F7F-8655-44AE-A6FF-53AD9F2B6B87}"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85000" lnSpcReduction="20000"/>
          </a:bodyPr>
          <a:lstStyle/>
          <a:p>
            <a:r>
              <a:rPr lang="zh-CN" altLang="en-US" dirty="0"/>
              <a:t>关系模型的基本概念</a:t>
            </a:r>
            <a:endParaRPr lang="en-US" altLang="zh-CN" dirty="0"/>
          </a:p>
          <a:p>
            <a:pPr lvl="1"/>
            <a:r>
              <a:rPr lang="zh-CN" altLang="en-US" dirty="0"/>
              <a:t>关系模型是以集合论中的关系</a:t>
            </a:r>
            <a:r>
              <a:rPr lang="en-US" altLang="zh-CN" dirty="0"/>
              <a:t>(relation)</a:t>
            </a:r>
            <a:r>
              <a:rPr lang="zh-CN" altLang="en-US" dirty="0"/>
              <a:t>概念为基础发展起来的数据模型。关系模型理论由</a:t>
            </a:r>
            <a:r>
              <a:rPr lang="en-US" altLang="zh-CN" dirty="0"/>
              <a:t>IBM</a:t>
            </a:r>
            <a:r>
              <a:rPr lang="zh-CN" altLang="en-US" dirty="0"/>
              <a:t>公司</a:t>
            </a:r>
            <a:r>
              <a:rPr lang="en-US" altLang="zh-CN" dirty="0"/>
              <a:t>San Jose</a:t>
            </a:r>
            <a:r>
              <a:rPr lang="zh-CN" altLang="en-US" dirty="0"/>
              <a:t>研究实验室</a:t>
            </a:r>
            <a:r>
              <a:rPr lang="en-US" altLang="zh-CN" dirty="0" err="1"/>
              <a:t>E.F.Codd</a:t>
            </a:r>
            <a:r>
              <a:rPr lang="zh-CN" altLang="en-US" dirty="0"/>
              <a:t>率先提出</a:t>
            </a:r>
            <a:r>
              <a:rPr lang="en-US" altLang="zh-CN" dirty="0"/>
              <a:t>《Communication of the ACM》 “A Relational Model of Data for Large Shared Data Banks” </a:t>
            </a:r>
            <a:endParaRPr lang="en-US" altLang="zh-CN" dirty="0"/>
          </a:p>
          <a:p>
            <a:pPr lvl="1"/>
            <a:r>
              <a:rPr lang="zh-CN" altLang="en-US" dirty="0"/>
              <a:t>早期代表系统</a:t>
            </a:r>
            <a:endParaRPr lang="en-US" altLang="zh-CN" dirty="0"/>
          </a:p>
          <a:p>
            <a:pPr lvl="2"/>
            <a:r>
              <a:rPr lang="pl-PL" altLang="zh-CN" dirty="0"/>
              <a:t>System R</a:t>
            </a:r>
            <a:r>
              <a:rPr lang="zh-CN" altLang="pl-PL" dirty="0"/>
              <a:t>：由</a:t>
            </a:r>
            <a:r>
              <a:rPr lang="pl-PL" altLang="zh-CN" dirty="0"/>
              <a:t>IBM</a:t>
            </a:r>
            <a:r>
              <a:rPr lang="zh-CN" altLang="pl-PL" dirty="0"/>
              <a:t>研制</a:t>
            </a:r>
            <a:endParaRPr lang="zh-CN" altLang="pl-PL" dirty="0"/>
          </a:p>
          <a:p>
            <a:pPr lvl="2"/>
            <a:r>
              <a:rPr lang="en-US" altLang="zh-CN" dirty="0"/>
              <a:t>INGRES</a:t>
            </a:r>
            <a:r>
              <a:rPr lang="zh-CN" altLang="en-US" dirty="0"/>
              <a:t>：由加州</a:t>
            </a:r>
            <a:r>
              <a:rPr lang="en-US" altLang="zh-CN" dirty="0"/>
              <a:t>Berkeley</a:t>
            </a:r>
            <a:r>
              <a:rPr lang="zh-CN" altLang="en-US" dirty="0"/>
              <a:t>分校研制</a:t>
            </a:r>
            <a:endParaRPr lang="en-US" altLang="zh-CN" dirty="0"/>
          </a:p>
          <a:p>
            <a:pPr lvl="1"/>
            <a:r>
              <a:rPr lang="zh-CN" altLang="en-US" dirty="0"/>
              <a:t>目前主流的关系数据库管理系统软件产品包括</a:t>
            </a:r>
            <a:r>
              <a:rPr lang="en-US" altLang="zh-CN" dirty="0"/>
              <a:t>:</a:t>
            </a:r>
            <a:endParaRPr lang="en-US" altLang="zh-CN" dirty="0"/>
          </a:p>
          <a:p>
            <a:pPr lvl="2"/>
            <a:r>
              <a:rPr lang="en-US" altLang="zh-CN" dirty="0"/>
              <a:t>Oracle</a:t>
            </a:r>
            <a:r>
              <a:rPr lang="zh-CN" altLang="en-US" dirty="0"/>
              <a:t>， </a:t>
            </a:r>
            <a:r>
              <a:rPr lang="en-US" altLang="zh-CN" dirty="0"/>
              <a:t>IBM DB2 UDB</a:t>
            </a:r>
            <a:r>
              <a:rPr lang="zh-CN" altLang="en-US" dirty="0"/>
              <a:t>， </a:t>
            </a:r>
            <a:r>
              <a:rPr lang="en-US" altLang="zh-CN" dirty="0"/>
              <a:t>MS SQL Server</a:t>
            </a:r>
            <a:endParaRPr lang="en-US" altLang="zh-CN" dirty="0"/>
          </a:p>
          <a:p>
            <a:pPr lvl="2"/>
            <a:r>
              <a:rPr lang="en-US" altLang="zh-CN" dirty="0"/>
              <a:t>Sybase</a:t>
            </a:r>
            <a:r>
              <a:rPr lang="zh-CN" altLang="en-US" dirty="0"/>
              <a:t>， </a:t>
            </a:r>
            <a:r>
              <a:rPr lang="en-US" altLang="zh-CN" dirty="0"/>
              <a:t>Informix</a:t>
            </a:r>
            <a:endParaRPr lang="en-US" altLang="zh-CN" dirty="0"/>
          </a:p>
          <a:p>
            <a:pPr lvl="2"/>
            <a:r>
              <a:rPr lang="en-US" altLang="zh-CN" dirty="0"/>
              <a:t>PostgreSQL</a:t>
            </a:r>
            <a:endParaRPr lang="en-US" altLang="zh-CN" dirty="0"/>
          </a:p>
          <a:p>
            <a:pPr lvl="2"/>
            <a:r>
              <a:rPr lang="en-US" altLang="zh-CN" dirty="0"/>
              <a:t>MySQL</a:t>
            </a:r>
            <a:endParaRPr lang="en-US" altLang="zh-CN" dirty="0"/>
          </a:p>
          <a:p>
            <a:pPr lvl="2"/>
            <a:r>
              <a:rPr lang="en-US" altLang="zh-CN" dirty="0"/>
              <a:t>Access</a:t>
            </a:r>
            <a:endParaRPr lang="en-US" altLang="zh-CN" dirty="0"/>
          </a:p>
          <a:p>
            <a:pPr lvl="2"/>
            <a:r>
              <a:rPr lang="en-US" altLang="zh-CN" dirty="0" err="1"/>
              <a:t>GBase</a:t>
            </a:r>
            <a:r>
              <a:rPr lang="zh-CN" altLang="en-US" dirty="0"/>
              <a:t>，</a:t>
            </a:r>
            <a:r>
              <a:rPr lang="en-US" altLang="zh-CN" dirty="0" err="1"/>
              <a:t>Kingbase</a:t>
            </a:r>
            <a:r>
              <a:rPr lang="zh-CN" altLang="en-US" dirty="0"/>
              <a:t>，</a:t>
            </a:r>
            <a:r>
              <a:rPr lang="en-US" altLang="zh-CN" dirty="0" err="1"/>
              <a:t>OpenBASE</a:t>
            </a:r>
            <a:r>
              <a:rPr lang="zh-CN" altLang="en-US" dirty="0"/>
              <a:t>，</a:t>
            </a:r>
            <a:r>
              <a:rPr lang="en-US" altLang="zh-CN" dirty="0"/>
              <a:t>DM7…</a:t>
            </a: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关系模型的直观表示</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
        <p:nvSpPr>
          <p:cNvPr id="6" name="Text Box 4"/>
          <p:cNvSpPr txBox="1">
            <a:spLocks noChangeArrowheads="1"/>
          </p:cNvSpPr>
          <p:nvPr/>
        </p:nvSpPr>
        <p:spPr bwMode="auto">
          <a:xfrm>
            <a:off x="2856484" y="2363788"/>
            <a:ext cx="793750" cy="45720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2400">
                <a:latin typeface="Times New Roman" panose="02020603050405020304" pitchFamily="18" charset="0"/>
              </a:rPr>
              <a:t>主键</a:t>
            </a:r>
            <a:endParaRPr kumimoji="1" lang="zh-CN" altLang="en-US" sz="2400">
              <a:latin typeface="Times New Roman" panose="02020603050405020304" pitchFamily="18" charset="0"/>
            </a:endParaRPr>
          </a:p>
        </p:txBody>
      </p:sp>
      <p:sp>
        <p:nvSpPr>
          <p:cNvPr id="7" name="Line 5"/>
          <p:cNvSpPr>
            <a:spLocks noChangeShapeType="1"/>
          </p:cNvSpPr>
          <p:nvPr/>
        </p:nvSpPr>
        <p:spPr bwMode="auto">
          <a:xfrm>
            <a:off x="3300984" y="2835275"/>
            <a:ext cx="76200" cy="3810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4977384" y="1692275"/>
            <a:ext cx="766763" cy="381000"/>
          </a:xfrm>
          <a:prstGeom prst="rect">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2400">
                <a:latin typeface="Times New Roman" panose="02020603050405020304" pitchFamily="18" charset="0"/>
              </a:rPr>
              <a:t>整数</a:t>
            </a:r>
            <a:endParaRPr kumimoji="1" lang="zh-CN" altLang="en-US" sz="2400">
              <a:latin typeface="Times New Roman" panose="02020603050405020304" pitchFamily="18" charset="0"/>
            </a:endParaRPr>
          </a:p>
        </p:txBody>
      </p:sp>
      <p:sp>
        <p:nvSpPr>
          <p:cNvPr id="9" name="Rectangle 7"/>
          <p:cNvSpPr>
            <a:spLocks noChangeArrowheads="1"/>
          </p:cNvSpPr>
          <p:nvPr/>
        </p:nvSpPr>
        <p:spPr bwMode="auto">
          <a:xfrm>
            <a:off x="4901184" y="2225675"/>
            <a:ext cx="914400" cy="381000"/>
          </a:xfrm>
          <a:prstGeom prst="rect">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2400">
                <a:latin typeface="Times New Roman" panose="02020603050405020304" pitchFamily="18" charset="0"/>
              </a:rPr>
              <a:t>字符串</a:t>
            </a:r>
            <a:endParaRPr kumimoji="1" lang="zh-CN" altLang="en-US" sz="2400">
              <a:latin typeface="Times New Roman" panose="02020603050405020304" pitchFamily="18" charset="0"/>
            </a:endParaRPr>
          </a:p>
        </p:txBody>
      </p:sp>
      <p:sp>
        <p:nvSpPr>
          <p:cNvPr id="10" name="Rectangle 8"/>
          <p:cNvSpPr>
            <a:spLocks noChangeArrowheads="1"/>
          </p:cNvSpPr>
          <p:nvPr/>
        </p:nvSpPr>
        <p:spPr bwMode="auto">
          <a:xfrm>
            <a:off x="4901184" y="2759075"/>
            <a:ext cx="1447800" cy="304800"/>
          </a:xfrm>
          <a:prstGeom prst="rect">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1,2,3,4,5</a:t>
            </a:r>
            <a:endParaRPr kumimoji="1" lang="en-US" altLang="zh-CN" sz="2400">
              <a:latin typeface="Times New Roman" panose="02020603050405020304" pitchFamily="18" charset="0"/>
            </a:endParaRPr>
          </a:p>
        </p:txBody>
      </p:sp>
      <p:sp>
        <p:nvSpPr>
          <p:cNvPr id="11" name="Line 9"/>
          <p:cNvSpPr>
            <a:spLocks noChangeShapeType="1"/>
          </p:cNvSpPr>
          <p:nvPr/>
        </p:nvSpPr>
        <p:spPr bwMode="auto">
          <a:xfrm flipH="1">
            <a:off x="3870897" y="1920875"/>
            <a:ext cx="1106487" cy="131286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0"/>
          <p:cNvSpPr>
            <a:spLocks noChangeShapeType="1"/>
          </p:cNvSpPr>
          <p:nvPr/>
        </p:nvSpPr>
        <p:spPr bwMode="auto">
          <a:xfrm flipH="1">
            <a:off x="4443984" y="2454275"/>
            <a:ext cx="457200" cy="7620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1"/>
          <p:cNvSpPr>
            <a:spLocks noChangeShapeType="1"/>
          </p:cNvSpPr>
          <p:nvPr/>
        </p:nvSpPr>
        <p:spPr bwMode="auto">
          <a:xfrm>
            <a:off x="6348984" y="2911475"/>
            <a:ext cx="2209800" cy="3048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AutoShape 12"/>
          <p:cNvSpPr/>
          <p:nvPr/>
        </p:nvSpPr>
        <p:spPr bwMode="auto">
          <a:xfrm>
            <a:off x="6501384" y="1768475"/>
            <a:ext cx="76200" cy="990600"/>
          </a:xfrm>
          <a:prstGeom prst="rightBrace">
            <a:avLst>
              <a:gd name="adj1" fmla="val 108333"/>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5" name="Text Box 13"/>
          <p:cNvSpPr txBox="1">
            <a:spLocks noChangeArrowheads="1"/>
          </p:cNvSpPr>
          <p:nvPr/>
        </p:nvSpPr>
        <p:spPr bwMode="auto">
          <a:xfrm>
            <a:off x="6485509" y="207327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2400">
                <a:latin typeface="Times New Roman" panose="02020603050405020304" pitchFamily="18" charset="0"/>
              </a:rPr>
              <a:t>域</a:t>
            </a:r>
            <a:endParaRPr kumimoji="1" lang="zh-CN" altLang="en-US" sz="2400">
              <a:latin typeface="Times New Roman" panose="02020603050405020304" pitchFamily="18" charset="0"/>
            </a:endParaRPr>
          </a:p>
        </p:txBody>
      </p:sp>
      <p:sp>
        <p:nvSpPr>
          <p:cNvPr id="16" name="Text Box 14"/>
          <p:cNvSpPr txBox="1">
            <a:spLocks noChangeArrowheads="1"/>
          </p:cNvSpPr>
          <p:nvPr/>
        </p:nvSpPr>
        <p:spPr bwMode="auto">
          <a:xfrm>
            <a:off x="8787384" y="2606675"/>
            <a:ext cx="1098550" cy="45720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2400">
                <a:latin typeface="Times New Roman" panose="02020603050405020304" pitchFamily="18" charset="0"/>
              </a:rPr>
              <a:t>属性名</a:t>
            </a:r>
            <a:endParaRPr kumimoji="1" lang="zh-CN" altLang="en-US" sz="2400">
              <a:latin typeface="Times New Roman" panose="02020603050405020304" pitchFamily="18" charset="0"/>
            </a:endParaRPr>
          </a:p>
        </p:txBody>
      </p:sp>
      <p:sp>
        <p:nvSpPr>
          <p:cNvPr id="17" name="Line 15"/>
          <p:cNvSpPr>
            <a:spLocks noChangeShapeType="1"/>
          </p:cNvSpPr>
          <p:nvPr/>
        </p:nvSpPr>
        <p:spPr bwMode="auto">
          <a:xfrm flipH="1">
            <a:off x="9092184" y="2987675"/>
            <a:ext cx="152400" cy="2286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Text Box 16"/>
          <p:cNvSpPr txBox="1">
            <a:spLocks noChangeArrowheads="1"/>
          </p:cNvSpPr>
          <p:nvPr/>
        </p:nvSpPr>
        <p:spPr bwMode="auto">
          <a:xfrm>
            <a:off x="9579547" y="3606800"/>
            <a:ext cx="549275" cy="1209675"/>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2400">
                <a:latin typeface="Times New Roman" panose="02020603050405020304" pitchFamily="18" charset="0"/>
              </a:rPr>
              <a:t>元组</a:t>
            </a:r>
            <a:r>
              <a:rPr kumimoji="1" lang="en-US" altLang="zh-CN" sz="2400">
                <a:latin typeface="Times New Roman" panose="02020603050405020304" pitchFamily="18" charset="0"/>
              </a:rPr>
              <a:t>(</a:t>
            </a:r>
            <a:r>
              <a:rPr kumimoji="1" lang="zh-CN" altLang="en-US" sz="2400">
                <a:latin typeface="Times New Roman" panose="02020603050405020304" pitchFamily="18" charset="0"/>
              </a:rPr>
              <a:t>行</a:t>
            </a:r>
            <a:r>
              <a:rPr kumimoji="1" lang="en-US" altLang="zh-CN" sz="2400">
                <a:latin typeface="Times New Roman" panose="02020603050405020304" pitchFamily="18" charset="0"/>
              </a:rPr>
              <a:t>)</a:t>
            </a:r>
            <a:endParaRPr kumimoji="1" lang="en-US" altLang="zh-CN" sz="2400">
              <a:latin typeface="Times New Roman" panose="02020603050405020304" pitchFamily="18" charset="0"/>
            </a:endParaRPr>
          </a:p>
        </p:txBody>
      </p:sp>
      <p:sp>
        <p:nvSpPr>
          <p:cNvPr id="19" name="Line 17"/>
          <p:cNvSpPr>
            <a:spLocks noChangeShapeType="1"/>
          </p:cNvSpPr>
          <p:nvPr/>
        </p:nvSpPr>
        <p:spPr bwMode="auto">
          <a:xfrm flipH="1" flipV="1">
            <a:off x="9168384" y="3825875"/>
            <a:ext cx="533400" cy="762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8"/>
          <p:cNvSpPr>
            <a:spLocks noChangeShapeType="1"/>
          </p:cNvSpPr>
          <p:nvPr/>
        </p:nvSpPr>
        <p:spPr bwMode="auto">
          <a:xfrm flipH="1">
            <a:off x="9168384" y="4130675"/>
            <a:ext cx="533400" cy="762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9"/>
          <p:cNvSpPr>
            <a:spLocks noChangeShapeType="1"/>
          </p:cNvSpPr>
          <p:nvPr/>
        </p:nvSpPr>
        <p:spPr bwMode="auto">
          <a:xfrm flipH="1">
            <a:off x="9168384" y="4359275"/>
            <a:ext cx="533400" cy="8382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Text Box 20"/>
          <p:cNvSpPr txBox="1">
            <a:spLocks noChangeArrowheads="1"/>
          </p:cNvSpPr>
          <p:nvPr/>
        </p:nvSpPr>
        <p:spPr bwMode="auto">
          <a:xfrm>
            <a:off x="2111947" y="3978275"/>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2400">
                <a:latin typeface="Times New Roman" panose="02020603050405020304" pitchFamily="18" charset="0"/>
              </a:rPr>
              <a:t>关系</a:t>
            </a:r>
            <a:endParaRPr kumimoji="1" lang="zh-CN" altLang="en-US" sz="2400">
              <a:latin typeface="Times New Roman" panose="02020603050405020304" pitchFamily="18" charset="0"/>
            </a:endParaRPr>
          </a:p>
        </p:txBody>
      </p:sp>
      <p:sp>
        <p:nvSpPr>
          <p:cNvPr id="23" name="AutoShape 21"/>
          <p:cNvSpPr/>
          <p:nvPr/>
        </p:nvSpPr>
        <p:spPr bwMode="auto">
          <a:xfrm>
            <a:off x="2538984" y="3521075"/>
            <a:ext cx="228600" cy="1676400"/>
          </a:xfrm>
          <a:prstGeom prst="leftBrace">
            <a:avLst>
              <a:gd name="adj1" fmla="val 61111"/>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4" name="Text Box 22"/>
          <p:cNvSpPr txBox="1">
            <a:spLocks noChangeArrowheads="1"/>
          </p:cNvSpPr>
          <p:nvPr/>
        </p:nvSpPr>
        <p:spPr bwMode="auto">
          <a:xfrm>
            <a:off x="5952109" y="5654675"/>
            <a:ext cx="1098550" cy="45720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2400">
                <a:latin typeface="Times New Roman" panose="02020603050405020304" pitchFamily="18" charset="0"/>
              </a:rPr>
              <a:t>属性列</a:t>
            </a:r>
            <a:endParaRPr kumimoji="1" lang="zh-CN" altLang="en-US" sz="2400">
              <a:latin typeface="Times New Roman" panose="02020603050405020304" pitchFamily="18" charset="0"/>
            </a:endParaRPr>
          </a:p>
        </p:txBody>
      </p:sp>
      <p:sp>
        <p:nvSpPr>
          <p:cNvPr id="25" name="Line 23"/>
          <p:cNvSpPr>
            <a:spLocks noChangeShapeType="1"/>
          </p:cNvSpPr>
          <p:nvPr/>
        </p:nvSpPr>
        <p:spPr bwMode="auto">
          <a:xfrm flipH="1" flipV="1">
            <a:off x="5815584" y="5426075"/>
            <a:ext cx="457200" cy="3810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4"/>
          <p:cNvSpPr>
            <a:spLocks noChangeShapeType="1"/>
          </p:cNvSpPr>
          <p:nvPr/>
        </p:nvSpPr>
        <p:spPr bwMode="auto">
          <a:xfrm flipV="1">
            <a:off x="6501384" y="5426075"/>
            <a:ext cx="76200" cy="3048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5"/>
          <p:cNvSpPr>
            <a:spLocks noChangeShapeType="1"/>
          </p:cNvSpPr>
          <p:nvPr/>
        </p:nvSpPr>
        <p:spPr bwMode="auto">
          <a:xfrm flipV="1">
            <a:off x="6806184" y="5426075"/>
            <a:ext cx="762000" cy="3048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Text Box 26"/>
          <p:cNvSpPr txBox="1">
            <a:spLocks noChangeArrowheads="1"/>
          </p:cNvSpPr>
          <p:nvPr/>
        </p:nvSpPr>
        <p:spPr bwMode="auto">
          <a:xfrm>
            <a:off x="2291334" y="6035675"/>
            <a:ext cx="55943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400">
                <a:solidFill>
                  <a:schemeClr val="bg2"/>
                </a:solidFill>
                <a:latin typeface="Times New Roman" panose="02020603050405020304" pitchFamily="18" charset="0"/>
              </a:rPr>
              <a:t>关系名：学生登记表</a:t>
            </a:r>
            <a:endParaRPr kumimoji="1" lang="zh-CN" altLang="en-US" sz="2400">
              <a:solidFill>
                <a:schemeClr val="bg2"/>
              </a:solidFill>
              <a:latin typeface="Times New Roman" panose="02020603050405020304" pitchFamily="18" charset="0"/>
            </a:endParaRPr>
          </a:p>
          <a:p>
            <a:pPr eaLnBrk="1" hangingPunct="1">
              <a:spcBef>
                <a:spcPct val="0"/>
              </a:spcBef>
              <a:buFontTx/>
              <a:buNone/>
            </a:pPr>
            <a:r>
              <a:rPr kumimoji="1" lang="zh-CN" altLang="en-US" sz="2400">
                <a:latin typeface="Times New Roman" panose="02020603050405020304" pitchFamily="18" charset="0"/>
              </a:rPr>
              <a:t>关系模式：学生（学号，姓名，年龄</a:t>
            </a:r>
            <a:r>
              <a:rPr kumimoji="1" lang="en-US" altLang="zh-CN" sz="2400">
                <a:latin typeface="Times New Roman" panose="02020603050405020304" pitchFamily="18" charset="0"/>
              </a:rPr>
              <a:t>...</a:t>
            </a:r>
            <a:r>
              <a:rPr kumimoji="1" lang="zh-CN" altLang="en-US" sz="2400">
                <a:latin typeface="Times New Roman" panose="02020603050405020304" pitchFamily="18" charset="0"/>
              </a:rPr>
              <a:t>）</a:t>
            </a:r>
            <a:endParaRPr kumimoji="1" lang="zh-CN" altLang="zh-CN" sz="2400">
              <a:latin typeface="Times New Roman" panose="02020603050405020304" pitchFamily="18" charset="0"/>
            </a:endParaRPr>
          </a:p>
        </p:txBody>
      </p:sp>
      <p:graphicFrame>
        <p:nvGraphicFramePr>
          <p:cNvPr id="29" name="Object 27"/>
          <p:cNvGraphicFramePr>
            <a:graphicFrameLocks noChangeAspect="1"/>
          </p:cNvGraphicFramePr>
          <p:nvPr/>
        </p:nvGraphicFramePr>
        <p:xfrm>
          <a:off x="3007297" y="3233738"/>
          <a:ext cx="7380287" cy="3392487"/>
        </p:xfrm>
        <a:graphic>
          <a:graphicData uri="http://schemas.openxmlformats.org/presentationml/2006/ole">
            <mc:AlternateContent xmlns:mc="http://schemas.openxmlformats.org/markup-compatibility/2006">
              <mc:Choice xmlns:v="urn:schemas-microsoft-com:vml" Requires="v">
                <p:oleObj spid="_x0000_s0" name="文档" r:id="rId1" imgW="7908290" imgH="4121785" progId="Word.Document.8">
                  <p:embed/>
                </p:oleObj>
              </mc:Choice>
              <mc:Fallback>
                <p:oleObj name="文档" r:id="rId1" imgW="7908290" imgH="4121785" progId="Word.Document.8">
                  <p:embed/>
                  <p:pic>
                    <p:nvPicPr>
                      <p:cNvPr id="0" name="Object 27"/>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7297" y="3233738"/>
                        <a:ext cx="7380287" cy="339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关系的定义</a:t>
            </a:r>
            <a:endParaRPr lang="en-US" altLang="zh-CN" dirty="0"/>
          </a:p>
          <a:p>
            <a:pPr lvl="1"/>
            <a:r>
              <a:rPr lang="zh-CN" altLang="en-US" dirty="0">
                <a:solidFill>
                  <a:srgbClr val="C00000"/>
                </a:solidFill>
              </a:rPr>
              <a:t>定义</a:t>
            </a:r>
            <a:r>
              <a:rPr lang="en-US" altLang="zh-CN" dirty="0">
                <a:solidFill>
                  <a:srgbClr val="C00000"/>
                </a:solidFill>
              </a:rPr>
              <a:t>2.1</a:t>
            </a:r>
            <a:r>
              <a:rPr lang="zh-CN" altLang="en-US" dirty="0">
                <a:solidFill>
                  <a:srgbClr val="C00000"/>
                </a:solidFill>
              </a:rPr>
              <a:t>：</a:t>
            </a:r>
            <a:r>
              <a:rPr lang="zh-CN" altLang="en-US" dirty="0">
                <a:solidFill>
                  <a:schemeClr val="accent2">
                    <a:lumMod val="75000"/>
                  </a:schemeClr>
                </a:solidFill>
              </a:rPr>
              <a:t>域</a:t>
            </a:r>
            <a:r>
              <a:rPr lang="en-US" altLang="zh-CN" dirty="0"/>
              <a:t>(domain)</a:t>
            </a:r>
            <a:r>
              <a:rPr lang="zh-CN" altLang="en-US" dirty="0"/>
              <a:t>是一组值的集合，同一个域中的所有值均应具有相同的数据类型</a:t>
            </a:r>
            <a:endParaRPr lang="en-US" altLang="zh-CN" dirty="0"/>
          </a:p>
          <a:p>
            <a:pPr lvl="1"/>
            <a:r>
              <a:rPr lang="zh-CN" altLang="en-US" i="1" dirty="0"/>
              <a:t>例</a:t>
            </a:r>
            <a:r>
              <a:rPr lang="en-US" altLang="zh-CN" i="1" dirty="0"/>
              <a:t>2-1</a:t>
            </a:r>
            <a:r>
              <a:rPr lang="zh-CN" altLang="en-US" i="1" dirty="0"/>
              <a:t>： </a:t>
            </a:r>
            <a:r>
              <a:rPr lang="en-US" altLang="zh-CN" i="1" dirty="0"/>
              <a:t>D1={</a:t>
            </a:r>
            <a:r>
              <a:rPr lang="zh-CN" altLang="en-US" i="1" dirty="0"/>
              <a:t>袁玲，吴丹，刘杰</a:t>
            </a:r>
            <a:r>
              <a:rPr lang="en-US" altLang="zh-CN" i="1" dirty="0"/>
              <a:t>} D2={</a:t>
            </a:r>
            <a:r>
              <a:rPr lang="zh-CN" altLang="en-US" i="1" dirty="0"/>
              <a:t>男，女</a:t>
            </a:r>
            <a:r>
              <a:rPr lang="en-US" altLang="zh-CN" i="1" dirty="0"/>
              <a:t>} D3={18,19} </a:t>
            </a:r>
            <a:endParaRPr lang="en-US" altLang="zh-CN" i="1" dirty="0"/>
          </a:p>
          <a:p>
            <a:pPr lvl="1"/>
            <a:r>
              <a:rPr lang="zh-CN" altLang="en-US" dirty="0"/>
              <a:t>其中：</a:t>
            </a:r>
            <a:r>
              <a:rPr lang="en-US" altLang="zh-CN" dirty="0"/>
              <a:t>D1(</a:t>
            </a:r>
            <a:r>
              <a:rPr lang="zh-CN" altLang="en-US" dirty="0"/>
              <a:t>姓名</a:t>
            </a:r>
            <a:r>
              <a:rPr lang="en-US" altLang="zh-CN" dirty="0"/>
              <a:t>)</a:t>
            </a:r>
            <a:r>
              <a:rPr lang="zh-CN" altLang="en-US" dirty="0"/>
              <a:t>、</a:t>
            </a:r>
            <a:r>
              <a:rPr lang="en-US" altLang="zh-CN" dirty="0"/>
              <a:t>D2(</a:t>
            </a:r>
            <a:r>
              <a:rPr lang="zh-CN" altLang="en-US" dirty="0"/>
              <a:t>性别</a:t>
            </a:r>
            <a:r>
              <a:rPr lang="en-US" altLang="zh-CN" dirty="0"/>
              <a:t>)</a:t>
            </a:r>
            <a:r>
              <a:rPr lang="zh-CN" altLang="en-US" dirty="0"/>
              <a:t>和</a:t>
            </a:r>
            <a:r>
              <a:rPr lang="en-US" altLang="zh-CN" dirty="0"/>
              <a:t>D3(</a:t>
            </a:r>
            <a:r>
              <a:rPr lang="zh-CN" altLang="en-US" dirty="0"/>
              <a:t>年龄</a:t>
            </a:r>
            <a:r>
              <a:rPr lang="en-US" altLang="zh-CN" dirty="0"/>
              <a:t>)</a:t>
            </a:r>
            <a:r>
              <a:rPr lang="zh-CN" altLang="en-US" dirty="0"/>
              <a:t>为域名，分别表示“人员”关系中姓名、性别和年龄的可取值范围</a:t>
            </a:r>
            <a:endParaRPr lang="zh-CN" altLang="en-US" dirty="0"/>
          </a:p>
          <a:p>
            <a:pPr lvl="1"/>
            <a:r>
              <a:rPr lang="en-US" altLang="zh-CN" dirty="0"/>
              <a:t>D1</a:t>
            </a:r>
            <a:r>
              <a:rPr lang="zh-CN" altLang="en-US" dirty="0"/>
              <a:t>的基数</a:t>
            </a:r>
            <a:r>
              <a:rPr lang="en-US" altLang="zh-CN" dirty="0"/>
              <a:t>m1=3</a:t>
            </a:r>
            <a:r>
              <a:rPr lang="zh-CN" altLang="en-US" dirty="0"/>
              <a:t>，</a:t>
            </a:r>
            <a:r>
              <a:rPr lang="en-US" altLang="zh-CN" dirty="0"/>
              <a:t>D2</a:t>
            </a:r>
            <a:r>
              <a:rPr lang="zh-CN" altLang="en-US" dirty="0"/>
              <a:t>的基数</a:t>
            </a:r>
            <a:r>
              <a:rPr lang="en-US" altLang="zh-CN" dirty="0"/>
              <a:t>m2=2</a:t>
            </a:r>
            <a:r>
              <a:rPr lang="zh-CN" altLang="en-US" dirty="0"/>
              <a:t>，</a:t>
            </a:r>
            <a:r>
              <a:rPr lang="en-US" altLang="zh-CN" dirty="0"/>
              <a:t>D3</a:t>
            </a:r>
            <a:r>
              <a:rPr lang="zh-CN" altLang="en-US" dirty="0"/>
              <a:t>的基数</a:t>
            </a:r>
            <a:r>
              <a:rPr lang="en-US" altLang="zh-CN" dirty="0"/>
              <a:t>m3=2</a:t>
            </a:r>
            <a:endParaRPr lang="en-US" altLang="zh-CN" dirty="0"/>
          </a:p>
          <a:p>
            <a:pPr lvl="1"/>
            <a:r>
              <a:rPr lang="zh-CN" altLang="en-US" dirty="0"/>
              <a:t>域中元素一般无排列次序，如：</a:t>
            </a:r>
            <a:r>
              <a:rPr lang="en-US" altLang="zh-CN" dirty="0"/>
              <a:t>D2={</a:t>
            </a:r>
            <a:r>
              <a:rPr lang="zh-CN" altLang="en-US" dirty="0"/>
              <a:t>男，女</a:t>
            </a:r>
            <a:r>
              <a:rPr lang="en-US" altLang="zh-CN" dirty="0"/>
              <a:t>}={</a:t>
            </a:r>
            <a:r>
              <a:rPr lang="zh-CN" altLang="en-US" dirty="0"/>
              <a:t>女，男</a:t>
            </a:r>
            <a:r>
              <a:rPr lang="en-US" altLang="zh-CN" dirty="0"/>
              <a:t>}</a:t>
            </a:r>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关系的定义</a:t>
                </a:r>
                <a:endParaRPr lang="en-US" altLang="zh-CN" dirty="0"/>
              </a:p>
              <a:p>
                <a:pPr lvl="1"/>
                <a:r>
                  <a:rPr lang="zh-CN" altLang="en-US" dirty="0">
                    <a:solidFill>
                      <a:srgbClr val="C00000"/>
                    </a:solidFill>
                  </a:rPr>
                  <a:t>定义</a:t>
                </a:r>
                <a:r>
                  <a:rPr lang="en-US" altLang="zh-CN" dirty="0">
                    <a:solidFill>
                      <a:srgbClr val="C00000"/>
                    </a:solidFill>
                  </a:rPr>
                  <a:t>2.2</a:t>
                </a:r>
                <a:r>
                  <a:rPr lang="zh-CN" altLang="en-US" dirty="0">
                    <a:solidFill>
                      <a:srgbClr val="C00000"/>
                    </a:solidFill>
                  </a:rPr>
                  <a:t>：</a:t>
                </a:r>
                <a:r>
                  <a:rPr lang="zh-CN" altLang="en-US" dirty="0"/>
                  <a:t>域</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𝑛</m:t>
                        </m:r>
                      </m:sub>
                    </m:sSub>
                  </m:oMath>
                </a14:m>
                <a:r>
                  <a:rPr lang="zh-CN" altLang="en-US" dirty="0"/>
                  <a:t>上的</a:t>
                </a:r>
                <a:r>
                  <a:rPr lang="zh-CN" altLang="en-US" dirty="0">
                    <a:solidFill>
                      <a:schemeClr val="accent2">
                        <a:lumMod val="75000"/>
                      </a:schemeClr>
                    </a:solidFill>
                  </a:rPr>
                  <a:t>笛卡儿积</a:t>
                </a:r>
                <a:r>
                  <a:rPr lang="en-US" altLang="zh-CN" dirty="0"/>
                  <a:t>(Cartesian product)</a:t>
                </a:r>
                <a:r>
                  <a:rPr lang="zh-CN" altLang="en-US" dirty="0"/>
                  <a:t>是一个集合：</a:t>
                </a:r>
                <a:br>
                  <a:rPr lang="en-US" altLang="zh-CN" dirty="0"/>
                </a:b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1</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𝐷</m:t>
                          </m:r>
                        </m:e>
                        <m:sub>
                          <m:r>
                            <a:rPr lang="en-US" altLang="zh-CN" b="0" i="1" smtClean="0">
                              <a:latin typeface="Cambria Math" panose="02040503050406030204" pitchFamily="18" charset="0"/>
                              <a:ea typeface="Cambria Math" panose="02040503050406030204" pitchFamily="18" charset="0"/>
                            </a:rPr>
                            <m:t>2</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𝐷</m:t>
                          </m:r>
                        </m:e>
                        <m:sub>
                          <m:r>
                            <a:rPr lang="en-US" altLang="zh-CN" b="0" i="1" smtClean="0">
                              <a:latin typeface="Cambria Math" panose="02040503050406030204" pitchFamily="18" charset="0"/>
                              <a:ea typeface="Cambria Math" panose="02040503050406030204" pitchFamily="18" charset="0"/>
                            </a:rPr>
                            <m:t>𝑛</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𝑑</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𝑑</m:t>
                          </m:r>
                        </m:e>
                        <m:sub>
                          <m:r>
                            <a:rPr lang="en-US" altLang="zh-CN" b="0" i="1" smtClean="0">
                              <a:latin typeface="Cambria Math" panose="02040503050406030204" pitchFamily="18" charset="0"/>
                              <a:ea typeface="Cambria Math" panose="02040503050406030204" pitchFamily="18" charset="0"/>
                            </a:rPr>
                            <m:t>2</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𝑑</m:t>
                          </m:r>
                        </m:e>
                        <m:sub>
                          <m:r>
                            <a:rPr lang="en-US" altLang="zh-CN" b="0" i="1" smtClean="0">
                              <a:latin typeface="Cambria Math" panose="02040503050406030204" pitchFamily="18" charset="0"/>
                              <a:ea typeface="Cambria Math" panose="02040503050406030204" pitchFamily="18" charset="0"/>
                            </a:rPr>
                            <m:t>𝑛</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𝑑</m:t>
                          </m:r>
                        </m:e>
                        <m:sub>
                          <m:r>
                            <a:rPr lang="en-US" altLang="zh-CN" b="0" i="1" smtClean="0">
                              <a:latin typeface="Cambria Math" panose="02040503050406030204" pitchFamily="18" charset="0"/>
                              <a:ea typeface="Cambria Math" panose="02040503050406030204" pitchFamily="18" charset="0"/>
                            </a:rPr>
                            <m:t>𝑖</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𝐷</m:t>
                          </m:r>
                        </m:e>
                        <m:sub>
                          <m:r>
                            <a:rPr lang="en-US" altLang="zh-CN" b="0" i="1" smtClean="0">
                              <a:latin typeface="Cambria Math" panose="02040503050406030204" pitchFamily="18" charset="0"/>
                              <a:ea typeface="Cambria Math" panose="02040503050406030204" pitchFamily="18" charset="0"/>
                            </a:rPr>
                            <m:t>𝑖</m:t>
                          </m:r>
                        </m:sub>
                      </m:sSub>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m:t>
                      </m:r>
                    </m:oMath>
                  </m:oMathPara>
                </a14:m>
                <a:endParaRPr lang="zh-CN" altLang="en-US" dirty="0"/>
              </a:p>
              <a:p>
                <a:pPr lvl="1"/>
                <a:r>
                  <a:rPr lang="zh-CN" altLang="en-US" dirty="0"/>
                  <a:t>其中允许</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𝑗</m:t>
                        </m:r>
                      </m:sub>
                    </m:sSub>
                  </m:oMath>
                </a14:m>
                <a:r>
                  <a:rPr lang="zh-CN" altLang="en-US" dirty="0"/>
                  <a:t>且</a:t>
                </a:r>
                <a14:m>
                  <m:oMath xmlns:m="http://schemas.openxmlformats.org/officeDocument/2006/math">
                    <m:r>
                      <a:rPr lang="en-US" altLang="zh-CN" b="0" i="1" dirty="0" smtClean="0">
                        <a:latin typeface="Cambria Math" panose="02040503050406030204" pitchFamily="18" charset="0"/>
                      </a:rPr>
                      <m:t>𝑖</m:t>
                    </m:r>
                    <m:r>
                      <a:rPr lang="zh-CN" altLang="en-US" i="1" dirty="0" smtClean="0">
                        <a:latin typeface="Cambria Math" panose="02040503050406030204" pitchFamily="18" charset="0"/>
                      </a:rPr>
                      <m:t>≠</m:t>
                    </m:r>
                    <m:r>
                      <a:rPr lang="en-US" altLang="zh-CN" b="0" i="1" dirty="0" smtClean="0">
                        <a:latin typeface="Cambria Math" panose="02040503050406030204" pitchFamily="18" charset="0"/>
                      </a:rPr>
                      <m:t>𝑗</m:t>
                    </m:r>
                  </m:oMath>
                </a14:m>
                <a:r>
                  <a:rPr lang="zh-CN" altLang="en-US" dirty="0"/>
                  <a:t>，将该集合中的每一个元素</a:t>
                </a:r>
                <a14:m>
                  <m:oMath xmlns:m="http://schemas.openxmlformats.org/officeDocument/2006/math">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𝑑</m:t>
                        </m:r>
                      </m:e>
                      <m:sub>
                        <m:r>
                          <a:rPr lang="en-US" altLang="zh-CN" i="1" dirty="0" smtClean="0">
                            <a:latin typeface="Cambria Math" panose="02040503050406030204" pitchFamily="18" charset="0"/>
                          </a:rPr>
                          <m:t>1</m:t>
                        </m:r>
                      </m:sub>
                    </m:sSub>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𝑑</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err="1" smtClean="0">
                            <a:latin typeface="Cambria Math" panose="02040503050406030204" pitchFamily="18" charset="0"/>
                          </a:rPr>
                          <m:t>𝑑</m:t>
                        </m:r>
                      </m:e>
                      <m:sub>
                        <m:r>
                          <a:rPr lang="en-US" altLang="zh-CN" i="1" dirty="0" err="1" smtClean="0">
                            <a:latin typeface="Cambria Math" panose="02040503050406030204" pitchFamily="18" charset="0"/>
                          </a:rPr>
                          <m:t>𝑛</m:t>
                        </m:r>
                      </m:sub>
                    </m:sSub>
                    <m:r>
                      <a:rPr lang="en-US" altLang="zh-CN" i="1" dirty="0" smtClean="0">
                        <a:latin typeface="Cambria Math" panose="02040503050406030204" pitchFamily="18" charset="0"/>
                      </a:rPr>
                      <m:t>)</m:t>
                    </m:r>
                  </m:oMath>
                </a14:m>
                <a:r>
                  <a:rPr lang="zh-CN" altLang="en-US" dirty="0"/>
                  <a:t>称为一个</a:t>
                </a:r>
                <a:r>
                  <a:rPr lang="zh-CN" altLang="en-US" dirty="0">
                    <a:solidFill>
                      <a:schemeClr val="accent2">
                        <a:lumMod val="75000"/>
                      </a:schemeClr>
                    </a:solidFill>
                  </a:rPr>
                  <a:t>元组</a:t>
                </a:r>
                <a:r>
                  <a:rPr lang="en-US" altLang="zh-CN" dirty="0"/>
                  <a:t>(tuple)</a:t>
                </a:r>
                <a:r>
                  <a:rPr lang="zh-CN" altLang="en-US" dirty="0"/>
                  <a:t>，元组中的每一个值</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𝑑</m:t>
                        </m:r>
                      </m:e>
                      <m:sub>
                        <m:r>
                          <a:rPr lang="en-US" altLang="zh-CN" i="1" dirty="0" smtClean="0">
                            <a:latin typeface="Cambria Math" panose="02040503050406030204" pitchFamily="18" charset="0"/>
                          </a:rPr>
                          <m:t>𝑖</m:t>
                        </m:r>
                      </m:sub>
                    </m:sSub>
                  </m:oMath>
                </a14:m>
                <a:r>
                  <a:rPr lang="zh-CN" altLang="en-US" dirty="0"/>
                  <a:t>称为一个</a:t>
                </a:r>
                <a:r>
                  <a:rPr lang="zh-CN" altLang="en-US" dirty="0">
                    <a:solidFill>
                      <a:schemeClr val="accent2">
                        <a:lumMod val="75000"/>
                      </a:schemeClr>
                    </a:solidFill>
                  </a:rPr>
                  <a:t>分量</a:t>
                </a:r>
                <a:r>
                  <a:rPr lang="en-US" altLang="zh-CN" dirty="0"/>
                  <a:t>(component)</a:t>
                </a:r>
                <a:r>
                  <a:rPr lang="zh-CN" altLang="en-US" dirty="0"/>
                  <a:t>，有</a:t>
                </a:r>
                <a:r>
                  <a:rPr lang="en-US" altLang="zh-CN" dirty="0"/>
                  <a:t>n</a:t>
                </a:r>
                <a:r>
                  <a:rPr lang="zh-CN" altLang="en-US" dirty="0"/>
                  <a:t>个分量的元组称为</a:t>
                </a:r>
                <a:r>
                  <a:rPr lang="en-US" altLang="zh-CN" dirty="0"/>
                  <a:t>n</a:t>
                </a:r>
                <a:r>
                  <a:rPr lang="zh-CN" altLang="en-US" dirty="0"/>
                  <a:t>元组</a:t>
                </a:r>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5440111" cy="4957760"/>
          </a:xfrm>
        </p:spPr>
        <p:txBody>
          <a:bodyPr/>
          <a:lstStyle/>
          <a:p>
            <a:r>
              <a:rPr lang="zh-CN" altLang="en-US" dirty="0"/>
              <a:t>关系的定义</a:t>
            </a:r>
            <a:endParaRPr lang="en-US" altLang="zh-CN" dirty="0"/>
          </a:p>
          <a:p>
            <a:pPr lvl="1"/>
            <a:r>
              <a:rPr lang="zh-CN" altLang="en-US" i="1" dirty="0"/>
              <a:t>例</a:t>
            </a:r>
            <a:r>
              <a:rPr lang="en-US" altLang="zh-CN" i="1" dirty="0"/>
              <a:t>2-2: </a:t>
            </a:r>
            <a:r>
              <a:rPr lang="zh-CN" altLang="en-US" i="1" dirty="0"/>
              <a:t>已知三个域： </a:t>
            </a:r>
            <a:r>
              <a:rPr lang="en-US" altLang="zh-CN" i="1" dirty="0"/>
              <a:t>D1={</a:t>
            </a:r>
            <a:r>
              <a:rPr lang="zh-CN" altLang="en-US" i="1" dirty="0"/>
              <a:t>袁玲，吴丹，刘杰</a:t>
            </a:r>
            <a:r>
              <a:rPr lang="en-US" altLang="zh-CN" i="1" dirty="0"/>
              <a:t>} D2={</a:t>
            </a:r>
            <a:r>
              <a:rPr lang="zh-CN" altLang="en-US" i="1" dirty="0"/>
              <a:t>男，女</a:t>
            </a:r>
            <a:r>
              <a:rPr lang="en-US" altLang="zh-CN" i="1" dirty="0"/>
              <a:t>} D3={18,19} </a:t>
            </a:r>
            <a:endParaRPr lang="en-US" altLang="zh-CN" i="1" dirty="0"/>
          </a:p>
          <a:p>
            <a:pPr lvl="1"/>
            <a:r>
              <a:rPr lang="zh-CN" altLang="en-US" dirty="0"/>
              <a:t>则</a:t>
            </a:r>
            <a:r>
              <a:rPr lang="en-US" altLang="zh-CN" dirty="0"/>
              <a:t>D1</a:t>
            </a:r>
            <a:r>
              <a:rPr lang="zh-CN" altLang="en-US" dirty="0"/>
              <a:t>、</a:t>
            </a:r>
            <a:r>
              <a:rPr lang="en-US" altLang="zh-CN" dirty="0"/>
              <a:t>D2</a:t>
            </a:r>
            <a:r>
              <a:rPr lang="zh-CN" altLang="en-US" dirty="0"/>
              <a:t>和</a:t>
            </a:r>
            <a:r>
              <a:rPr lang="en-US" altLang="zh-CN" dirty="0"/>
              <a:t>D3</a:t>
            </a:r>
            <a:r>
              <a:rPr lang="zh-CN" altLang="en-US" dirty="0"/>
              <a:t>的笛卡尔积可以表示成一张二维表，如表</a:t>
            </a:r>
            <a:r>
              <a:rPr lang="en-US" altLang="zh-CN" dirty="0"/>
              <a:t>2-1</a:t>
            </a:r>
            <a:r>
              <a:rPr lang="zh-CN" altLang="en-US" dirty="0"/>
              <a:t>所示。 </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graphicFrame>
        <p:nvGraphicFramePr>
          <p:cNvPr id="6" name="Group 4"/>
          <p:cNvGraphicFramePr>
            <a:graphicFrameLocks noGrp="1"/>
          </p:cNvGraphicFramePr>
          <p:nvPr/>
        </p:nvGraphicFramePr>
        <p:xfrm>
          <a:off x="6536661" y="1443037"/>
          <a:ext cx="4787012" cy="4819539"/>
        </p:xfrm>
        <a:graphic>
          <a:graphicData uri="http://schemas.openxmlformats.org/drawingml/2006/table">
            <a:tbl>
              <a:tblPr/>
              <a:tblGrid>
                <a:gridCol w="1595671"/>
                <a:gridCol w="1595670"/>
                <a:gridCol w="1595671"/>
              </a:tblGrid>
              <a:tr h="37151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1" i="1" u="none" strike="noStrike" cap="none" normalizeH="0" baseline="0">
                          <a:ln>
                            <a:noFill/>
                          </a:ln>
                          <a:solidFill>
                            <a:schemeClr val="tx1"/>
                          </a:solidFill>
                          <a:effectLst/>
                          <a:latin typeface="宋体" panose="02010600030101010101" pitchFamily="2" charset="-122"/>
                          <a:ea typeface="宋体" panose="02010600030101010101" pitchFamily="2" charset="-122"/>
                        </a:rPr>
                        <a:t>D</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a:t>
                      </a:r>
                      <a:endPar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1" i="1" u="none" strike="noStrike" cap="none" normalizeH="0" baseline="0">
                          <a:ln>
                            <a:noFill/>
                          </a:ln>
                          <a:solidFill>
                            <a:schemeClr val="tx1"/>
                          </a:solidFill>
                          <a:effectLst/>
                          <a:latin typeface="宋体" panose="02010600030101010101" pitchFamily="2" charset="-122"/>
                          <a:ea typeface="宋体" panose="02010600030101010101" pitchFamily="2" charset="-122"/>
                        </a:rPr>
                        <a:t>D</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2</a:t>
                      </a:r>
                      <a:endPar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1" i="1" u="none" strike="noStrike" cap="none" normalizeH="0" baseline="0">
                          <a:ln>
                            <a:noFill/>
                          </a:ln>
                          <a:solidFill>
                            <a:schemeClr val="tx1"/>
                          </a:solidFill>
                          <a:effectLst/>
                          <a:latin typeface="宋体" panose="02010600030101010101" pitchFamily="2" charset="-122"/>
                          <a:ea typeface="宋体" panose="02010600030101010101" pitchFamily="2" charset="-122"/>
                        </a:rPr>
                        <a:t>D</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3</a:t>
                      </a:r>
                      <a:endPar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2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袁玲</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男</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18</a:t>
                      </a:r>
                      <a:endPar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51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袁玲</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男</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19</a:t>
                      </a:r>
                      <a:endPar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2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袁玲</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女</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18</a:t>
                      </a:r>
                      <a:endPar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51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袁玲</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女</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19</a:t>
                      </a:r>
                      <a:endPar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2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吴丹</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男</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18</a:t>
                      </a:r>
                      <a:endPar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51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吴丹</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男</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19</a:t>
                      </a:r>
                      <a:endPar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2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吴丹</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女</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18</a:t>
                      </a:r>
                      <a:endPar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51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吴丹</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女</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19</a:t>
                      </a:r>
                      <a:endPar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2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刘杰</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男</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18</a:t>
                      </a:r>
                      <a:endPar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2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刘杰</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男</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19</a:t>
                      </a:r>
                      <a:endPar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51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刘杰</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女</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18</a:t>
                      </a:r>
                      <a:endPar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51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刘杰</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女</a:t>
                      </a:r>
                      <a:endPar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19</a:t>
                      </a:r>
                      <a:endPar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关系的定义</a:t>
            </a:r>
            <a:endParaRPr lang="en-US" altLang="zh-CN" dirty="0"/>
          </a:p>
          <a:p>
            <a:pPr lvl="1"/>
            <a:r>
              <a:rPr lang="zh-CN" altLang="en-US" dirty="0"/>
              <a:t>该笛卡尔积的基数为</a:t>
            </a:r>
            <a:r>
              <a:rPr lang="en-US" altLang="zh-CN" dirty="0"/>
              <a:t>3×2×2=12</a:t>
            </a:r>
            <a:r>
              <a:rPr lang="zh-CN" altLang="en-US" dirty="0"/>
              <a:t>，即共有</a:t>
            </a:r>
            <a:r>
              <a:rPr lang="en-US" altLang="zh-CN" dirty="0"/>
              <a:t>12</a:t>
            </a:r>
            <a:r>
              <a:rPr lang="zh-CN" altLang="en-US" dirty="0"/>
              <a:t>个元组，</a:t>
            </a:r>
            <a:r>
              <a:rPr lang="en-US" altLang="zh-CN" dirty="0"/>
              <a:t>(</a:t>
            </a:r>
            <a:r>
              <a:rPr lang="zh-CN" altLang="en-US" dirty="0"/>
              <a:t>袁玲、男、</a:t>
            </a:r>
            <a:r>
              <a:rPr lang="en-US" altLang="zh-CN" dirty="0"/>
              <a:t>18)</a:t>
            </a:r>
            <a:r>
              <a:rPr lang="zh-CN" altLang="en-US" dirty="0"/>
              <a:t>和</a:t>
            </a:r>
            <a:r>
              <a:rPr lang="en-US" altLang="zh-CN" dirty="0"/>
              <a:t>(</a:t>
            </a:r>
            <a:r>
              <a:rPr lang="zh-CN" altLang="en-US" dirty="0"/>
              <a:t>吴丹、女、</a:t>
            </a:r>
            <a:r>
              <a:rPr lang="en-US" altLang="zh-CN" dirty="0"/>
              <a:t>19)</a:t>
            </a:r>
            <a:r>
              <a:rPr lang="zh-CN" altLang="en-US" dirty="0"/>
              <a:t>就是元组，“袁玲”、“女”、“吴丹”、“</a:t>
            </a:r>
            <a:r>
              <a:rPr lang="en-US" altLang="zh-CN" dirty="0"/>
              <a:t>19”</a:t>
            </a:r>
            <a:r>
              <a:rPr lang="zh-CN" altLang="en-US" dirty="0"/>
              <a:t>就是分量。 </a:t>
            </a:r>
            <a:endParaRPr lang="zh-CN" altLang="en-US" dirty="0"/>
          </a:p>
          <a:p>
            <a:pPr lvl="1"/>
            <a:r>
              <a:rPr lang="zh-CN" altLang="en-US" dirty="0"/>
              <a:t>有时一个</a:t>
            </a:r>
            <a:r>
              <a:rPr lang="zh-CN" altLang="en-US" dirty="0">
                <a:solidFill>
                  <a:schemeClr val="accent2">
                    <a:lumMod val="75000"/>
                  </a:schemeClr>
                </a:solidFill>
              </a:rPr>
              <a:t>元组</a:t>
            </a:r>
            <a:r>
              <a:rPr lang="zh-CN" altLang="en-US" dirty="0"/>
              <a:t>也被称为一条</a:t>
            </a:r>
            <a:r>
              <a:rPr lang="zh-CN" altLang="en-US" dirty="0">
                <a:solidFill>
                  <a:schemeClr val="accent2">
                    <a:lumMod val="75000"/>
                  </a:schemeClr>
                </a:solidFill>
              </a:rPr>
              <a:t>记录</a:t>
            </a:r>
            <a:r>
              <a:rPr lang="zh-CN" altLang="en-US" dirty="0"/>
              <a:t> </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关系的定义</a:t>
                </a:r>
                <a:endParaRPr lang="en-US" altLang="zh-CN" dirty="0"/>
              </a:p>
              <a:p>
                <a:pPr lvl="1"/>
                <a:r>
                  <a:rPr lang="zh-CN" altLang="en-US" dirty="0">
                    <a:solidFill>
                      <a:srgbClr val="C00000"/>
                    </a:solidFill>
                  </a:rPr>
                  <a:t>定义</a:t>
                </a:r>
                <a:r>
                  <a:rPr lang="en-US" altLang="zh-CN" dirty="0">
                    <a:solidFill>
                      <a:srgbClr val="C00000"/>
                    </a:solidFill>
                  </a:rPr>
                  <a:t>2.3</a:t>
                </a:r>
                <a:r>
                  <a:rPr lang="zh-CN" altLang="en-US" dirty="0"/>
                  <a:t>：</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𝐷</m:t>
                        </m:r>
                      </m:e>
                      <m:sub>
                        <m:r>
                          <a:rPr lang="en-US" altLang="zh-CN" i="1" dirty="0" smtClean="0">
                            <a:latin typeface="Cambria Math" panose="02040503050406030204" pitchFamily="18" charset="0"/>
                          </a:rPr>
                          <m:t>1</m:t>
                        </m:r>
                      </m:sub>
                    </m:sSub>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𝐷</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err="1" smtClean="0">
                            <a:latin typeface="Cambria Math" panose="02040503050406030204" pitchFamily="18" charset="0"/>
                          </a:rPr>
                          <m:t>𝐷</m:t>
                        </m:r>
                      </m:e>
                      <m:sub>
                        <m:r>
                          <a:rPr lang="en-US" altLang="zh-CN" i="1" dirty="0" err="1" smtClean="0">
                            <a:latin typeface="Cambria Math" panose="02040503050406030204" pitchFamily="18" charset="0"/>
                          </a:rPr>
                          <m:t>𝑛</m:t>
                        </m:r>
                      </m:sub>
                    </m:sSub>
                  </m:oMath>
                </a14:m>
                <a:r>
                  <a:rPr lang="zh-CN" altLang="en-US" dirty="0"/>
                  <a:t>上的任意一个子集均是定义在域</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𝐷</m:t>
                        </m:r>
                      </m:e>
                      <m:sub>
                        <m:r>
                          <a:rPr lang="en-US" altLang="zh-CN" i="1"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𝐷</m:t>
                        </m:r>
                      </m:e>
                      <m:sub>
                        <m:r>
                          <a:rPr lang="en-US" altLang="zh-CN" i="1" dirty="0" smtClean="0">
                            <a:latin typeface="Cambria Math" panose="02040503050406030204" pitchFamily="18" charset="0"/>
                          </a:rPr>
                          <m:t>2</m:t>
                        </m:r>
                      </m:sub>
                    </m:sSub>
                    <m:r>
                      <a:rPr lang="en-US" altLang="zh-CN" b="0" i="1" dirty="0" smtClean="0">
                        <a:latin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err="1" smtClean="0">
                            <a:latin typeface="Cambria Math" panose="02040503050406030204" pitchFamily="18" charset="0"/>
                          </a:rPr>
                          <m:t>𝐷</m:t>
                        </m:r>
                      </m:e>
                      <m:sub>
                        <m:r>
                          <a:rPr lang="en-US" altLang="zh-CN" i="1" dirty="0" err="1" smtClean="0">
                            <a:latin typeface="Cambria Math" panose="02040503050406030204" pitchFamily="18" charset="0"/>
                          </a:rPr>
                          <m:t>𝑛</m:t>
                        </m:r>
                      </m:sub>
                    </m:sSub>
                  </m:oMath>
                </a14:m>
                <a:r>
                  <a:rPr lang="zh-CN" altLang="en-US" dirty="0"/>
                  <a:t>上的一个</a:t>
                </a:r>
                <a:r>
                  <a:rPr lang="zh-CN" altLang="en-US" dirty="0">
                    <a:solidFill>
                      <a:schemeClr val="accent2">
                        <a:lumMod val="75000"/>
                      </a:schemeClr>
                    </a:solidFill>
                  </a:rPr>
                  <a:t>关系</a:t>
                </a:r>
                <a:r>
                  <a:rPr lang="en-US" altLang="zh-CN" dirty="0"/>
                  <a:t>(relation)</a:t>
                </a:r>
                <a:r>
                  <a:rPr lang="zh-CN" altLang="en-US" dirty="0"/>
                  <a:t>，记为</a:t>
                </a:r>
                <a:r>
                  <a:rPr lang="en-US" altLang="zh-CN" dirty="0"/>
                  <a:t>R</a:t>
                </a:r>
                <a:endParaRPr lang="en-US" altLang="zh-CN" dirty="0"/>
              </a:p>
              <a:p>
                <a:pPr lvl="1"/>
                <a:r>
                  <a:rPr lang="zh-CN" altLang="en-US" dirty="0"/>
                  <a:t>由</a:t>
                </a:r>
                <a:r>
                  <a:rPr lang="en-US" altLang="zh-CN" dirty="0"/>
                  <a:t>n</a:t>
                </a:r>
                <a:r>
                  <a:rPr lang="zh-CN" altLang="en-US" dirty="0"/>
                  <a:t>个域构成的关系通常称为</a:t>
                </a:r>
                <a:r>
                  <a:rPr lang="en-US" altLang="zh-CN" dirty="0">
                    <a:solidFill>
                      <a:schemeClr val="accent2">
                        <a:lumMod val="75000"/>
                      </a:schemeClr>
                    </a:solidFill>
                  </a:rPr>
                  <a:t>n</a:t>
                </a:r>
                <a:r>
                  <a:rPr lang="zh-CN" altLang="en-US" dirty="0">
                    <a:solidFill>
                      <a:schemeClr val="accent2">
                        <a:lumMod val="75000"/>
                      </a:schemeClr>
                    </a:solidFill>
                  </a:rPr>
                  <a:t>元关系</a:t>
                </a:r>
                <a:r>
                  <a:rPr lang="zh-CN" altLang="en-US" dirty="0"/>
                  <a:t>，关系中的每个元素即是这个关系的元组</a:t>
                </a:r>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graphicFrame>
        <p:nvGraphicFramePr>
          <p:cNvPr id="6" name="Group 45"/>
          <p:cNvGraphicFramePr/>
          <p:nvPr/>
        </p:nvGraphicFramePr>
        <p:xfrm>
          <a:off x="4572960" y="3698083"/>
          <a:ext cx="2827338" cy="2019300"/>
        </p:xfrm>
        <a:graphic>
          <a:graphicData uri="http://schemas.openxmlformats.org/drawingml/2006/table">
            <a:tbl>
              <a:tblPr/>
              <a:tblGrid>
                <a:gridCol w="1008063"/>
                <a:gridCol w="936625"/>
                <a:gridCol w="882650"/>
              </a:tblGrid>
              <a:tr h="4333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姓名</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性别</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年龄</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24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袁玲</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男</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18</a:t>
                      </a:r>
                      <a:endParaRPr kumimoji="0" lang="en-US" altLang="zh-CN" sz="2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吴丹</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女</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19</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刘杰</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男</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18</a:t>
                      </a:r>
                      <a:endParaRPr kumimoji="0" lang="en-US" altLang="zh-CN"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关系的定义</a:t>
                </a:r>
                <a:endParaRPr lang="en-US" altLang="zh-CN" dirty="0"/>
              </a:p>
              <a:p>
                <a:pPr lvl="1"/>
                <a:r>
                  <a:rPr lang="zh-CN" altLang="en-US" dirty="0"/>
                  <a:t>由于域可以相同，为了加以区分，必须为每列起一个名字，称为</a:t>
                </a:r>
                <a:r>
                  <a:rPr lang="zh-CN" altLang="en-US" dirty="0">
                    <a:solidFill>
                      <a:schemeClr val="accent2">
                        <a:lumMod val="75000"/>
                      </a:schemeClr>
                    </a:solidFill>
                  </a:rPr>
                  <a:t>属性</a:t>
                </a:r>
                <a:r>
                  <a:rPr lang="en-US" altLang="zh-CN" dirty="0"/>
                  <a:t>(Attribute)</a:t>
                </a:r>
                <a:endParaRPr lang="en-US" altLang="zh-CN" dirty="0"/>
              </a:p>
              <a:p>
                <a:pPr lvl="1"/>
                <a:r>
                  <a:rPr lang="zh-CN" altLang="en-US" dirty="0">
                    <a:solidFill>
                      <a:srgbClr val="C00000"/>
                    </a:solidFill>
                  </a:rPr>
                  <a:t>定义</a:t>
                </a:r>
                <a:r>
                  <a:rPr lang="en-US" altLang="zh-CN" dirty="0">
                    <a:solidFill>
                      <a:srgbClr val="C00000"/>
                    </a:solidFill>
                  </a:rPr>
                  <a:t>2.4</a:t>
                </a:r>
                <a:r>
                  <a:rPr lang="zh-CN" altLang="en-US" dirty="0">
                    <a:solidFill>
                      <a:srgbClr val="C00000"/>
                    </a:solidFill>
                  </a:rPr>
                  <a:t>：</a:t>
                </a:r>
                <a:r>
                  <a:rPr lang="zh-CN" altLang="en-US" dirty="0"/>
                  <a:t>为关系的每个列所起的名字称为关系的</a:t>
                </a:r>
                <a:r>
                  <a:rPr lang="zh-CN" altLang="en-US" dirty="0">
                    <a:solidFill>
                      <a:schemeClr val="accent2">
                        <a:lumMod val="75000"/>
                      </a:schemeClr>
                    </a:solidFill>
                  </a:rPr>
                  <a:t>属性</a:t>
                </a:r>
                <a:r>
                  <a:rPr lang="zh-CN" altLang="en-US" dirty="0"/>
                  <a:t>，一般可表示为</a:t>
                </a:r>
                <a14:m>
                  <m:oMath xmlns:m="http://schemas.openxmlformats.org/officeDocument/2006/math">
                    <m:r>
                      <a:rPr lang="en-US" altLang="zh-CN" i="1" dirty="0" smtClean="0">
                        <a:latin typeface="Cambria Math" panose="02040503050406030204" pitchFamily="18" charset="0"/>
                      </a:rPr>
                      <m:t>𝐴</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𝐵</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𝐶</m:t>
                    </m:r>
                    <m:r>
                      <a:rPr lang="en-US" altLang="zh-CN" i="1" dirty="0" smtClean="0">
                        <a:latin typeface="Cambria Math" panose="02040503050406030204" pitchFamily="18" charset="0"/>
                        <a:ea typeface="Cambria Math" panose="02040503050406030204" pitchFamily="18" charset="0"/>
                      </a:rPr>
                      <m:t>⋯</m:t>
                    </m:r>
                  </m:oMath>
                </a14:m>
                <a:endParaRPr lang="en-US" altLang="zh-CN" dirty="0"/>
              </a:p>
              <a:p>
                <a:pPr lvl="1"/>
                <a:r>
                  <a:rPr lang="en-US" altLang="zh-CN" dirty="0"/>
                  <a:t>n</a:t>
                </a:r>
                <a:r>
                  <a:rPr lang="zh-CN" altLang="en-US" dirty="0"/>
                  <a:t>元关系必有</a:t>
                </a:r>
                <a:r>
                  <a:rPr lang="en-US" altLang="zh-CN" dirty="0"/>
                  <a:t>n</a:t>
                </a:r>
                <a:r>
                  <a:rPr lang="zh-CN" altLang="en-US" dirty="0"/>
                  <a:t>个属性，表的任意一列对应一个属性，属性的名称称为“属性名”，具体元组的属性取值称为“属性值”</a:t>
                </a:r>
                <a:endParaRPr lang="zh-CN" altLang="en-US" dirty="0"/>
              </a:p>
              <a:p>
                <a:pPr lvl="1"/>
                <a:r>
                  <a:rPr lang="zh-CN" altLang="en-US" i="1" dirty="0"/>
                  <a:t>例：学生关系有学号、姓名、性别、系名、年龄等属性</a:t>
                </a:r>
                <a:endParaRPr lang="zh-CN" altLang="en-US" i="1"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关系的定义</a:t>
            </a:r>
            <a:endParaRPr lang="en-US" altLang="zh-CN" dirty="0"/>
          </a:p>
          <a:p>
            <a:pPr lvl="1"/>
            <a:r>
              <a:rPr lang="zh-CN" altLang="en-US" dirty="0">
                <a:solidFill>
                  <a:srgbClr val="C00000"/>
                </a:solidFill>
              </a:rPr>
              <a:t>定义</a:t>
            </a:r>
            <a:r>
              <a:rPr lang="en-US" altLang="zh-CN" dirty="0">
                <a:solidFill>
                  <a:srgbClr val="C00000"/>
                </a:solidFill>
              </a:rPr>
              <a:t>2.5</a:t>
            </a:r>
            <a:r>
              <a:rPr lang="zh-CN" altLang="en-US" dirty="0">
                <a:solidFill>
                  <a:srgbClr val="C00000"/>
                </a:solidFill>
              </a:rPr>
              <a:t>：</a:t>
            </a:r>
            <a:r>
              <a:rPr lang="zh-CN" altLang="en-US" dirty="0"/>
              <a:t>如果一个关系中的某个属性或属性集能够唯一的确定一个元组，则称该属性（集）是这个关系上的</a:t>
            </a:r>
            <a:r>
              <a:rPr lang="zh-CN" altLang="en-US" dirty="0">
                <a:solidFill>
                  <a:schemeClr val="accent2">
                    <a:lumMod val="75000"/>
                  </a:schemeClr>
                </a:solidFill>
              </a:rPr>
              <a:t>超键</a:t>
            </a:r>
            <a:r>
              <a:rPr lang="zh-CN" altLang="en-US" dirty="0"/>
              <a:t>（</a:t>
            </a:r>
            <a:r>
              <a:rPr lang="en-US" altLang="zh-CN" dirty="0"/>
              <a:t>super key</a:t>
            </a:r>
            <a:r>
              <a:rPr lang="zh-CN" altLang="en-US" dirty="0"/>
              <a:t>，</a:t>
            </a:r>
            <a:r>
              <a:rPr lang="en-US" altLang="zh-CN" dirty="0"/>
              <a:t>SK</a:t>
            </a:r>
            <a:r>
              <a:rPr lang="zh-CN" altLang="en-US" dirty="0"/>
              <a:t>）；如果将超键中的任一属性去掉后剩余的属性集不能唯一标识一个元组，则称该属性集是关系上的</a:t>
            </a:r>
            <a:r>
              <a:rPr lang="zh-CN" altLang="en-US" dirty="0">
                <a:solidFill>
                  <a:schemeClr val="accent2">
                    <a:lumMod val="75000"/>
                  </a:schemeClr>
                </a:solidFill>
              </a:rPr>
              <a:t>候选键</a:t>
            </a:r>
            <a:r>
              <a:rPr lang="zh-CN" altLang="en-US" dirty="0"/>
              <a:t>（</a:t>
            </a:r>
            <a:r>
              <a:rPr lang="en-US" altLang="zh-CN" dirty="0"/>
              <a:t>candidate key</a:t>
            </a:r>
            <a:r>
              <a:rPr lang="zh-CN" altLang="en-US" dirty="0"/>
              <a:t>，</a:t>
            </a:r>
            <a:r>
              <a:rPr lang="en-US" altLang="zh-CN" dirty="0"/>
              <a:t>CK</a:t>
            </a:r>
            <a:r>
              <a:rPr lang="zh-CN" altLang="en-US" dirty="0"/>
              <a:t>）；通常从候选键中选择一个使用，这个候选键称为关系的</a:t>
            </a:r>
            <a:r>
              <a:rPr lang="zh-CN" altLang="en-US" dirty="0">
                <a:solidFill>
                  <a:schemeClr val="accent2">
                    <a:lumMod val="75000"/>
                  </a:schemeClr>
                </a:solidFill>
              </a:rPr>
              <a:t>主键</a:t>
            </a:r>
            <a:r>
              <a:rPr lang="zh-CN" altLang="en-US" dirty="0"/>
              <a:t>（</a:t>
            </a:r>
            <a:r>
              <a:rPr lang="en-US" altLang="zh-CN" dirty="0"/>
              <a:t>primary key</a:t>
            </a:r>
            <a:r>
              <a:rPr lang="zh-CN" altLang="en-US" dirty="0"/>
              <a:t>，</a:t>
            </a:r>
            <a:r>
              <a:rPr lang="en-US" altLang="zh-CN" dirty="0"/>
              <a:t>PK</a:t>
            </a:r>
            <a:r>
              <a:rPr lang="zh-CN" altLang="en-US" dirty="0"/>
              <a:t>）</a:t>
            </a:r>
            <a:endParaRPr lang="zh-CN" altLang="en-US" dirty="0"/>
          </a:p>
          <a:p>
            <a:pPr lvl="1"/>
            <a:r>
              <a:rPr lang="zh-CN" altLang="en-US" i="1" dirty="0"/>
              <a:t>例 学生（学号</a:t>
            </a:r>
            <a:r>
              <a:rPr lang="en-US" altLang="zh-CN" i="1" dirty="0"/>
              <a:t>,</a:t>
            </a:r>
            <a:r>
              <a:rPr lang="zh-CN" altLang="en-US" i="1" dirty="0"/>
              <a:t>姓名</a:t>
            </a:r>
            <a:r>
              <a:rPr lang="en-US" altLang="zh-CN" i="1" dirty="0"/>
              <a:t>,</a:t>
            </a:r>
            <a:r>
              <a:rPr lang="zh-CN" altLang="en-US" i="1" dirty="0"/>
              <a:t>性别</a:t>
            </a:r>
            <a:r>
              <a:rPr lang="en-US" altLang="zh-CN" i="1" dirty="0"/>
              <a:t>,</a:t>
            </a:r>
            <a:r>
              <a:rPr lang="zh-CN" altLang="en-US" i="1" dirty="0"/>
              <a:t>系名</a:t>
            </a:r>
            <a:r>
              <a:rPr lang="en-US" altLang="zh-CN" i="1" dirty="0"/>
              <a:t>,</a:t>
            </a:r>
            <a:r>
              <a:rPr lang="zh-CN" altLang="en-US" i="1" dirty="0"/>
              <a:t>年龄</a:t>
            </a:r>
            <a:r>
              <a:rPr lang="en-US" altLang="zh-CN" i="1" dirty="0"/>
              <a:t>,……</a:t>
            </a:r>
            <a:r>
              <a:rPr lang="zh-CN" altLang="en-US" i="1" dirty="0"/>
              <a:t>）</a:t>
            </a:r>
            <a:endParaRPr lang="zh-CN" altLang="en-US" i="1"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关系的定义</a:t>
            </a:r>
            <a:endParaRPr lang="en-US" altLang="zh-CN" dirty="0"/>
          </a:p>
          <a:p>
            <a:pPr lvl="1"/>
            <a:r>
              <a:rPr lang="zh-CN" altLang="en-US" dirty="0"/>
              <a:t>（学号</a:t>
            </a:r>
            <a:r>
              <a:rPr lang="en-US" altLang="zh-CN" dirty="0"/>
              <a:t>,</a:t>
            </a:r>
            <a:r>
              <a:rPr lang="zh-CN" altLang="en-US" dirty="0"/>
              <a:t>姓名）  超键</a:t>
            </a:r>
            <a:endParaRPr lang="zh-CN" altLang="en-US" dirty="0"/>
          </a:p>
          <a:p>
            <a:pPr marL="457200" lvl="1" indent="0">
              <a:buNone/>
            </a:pPr>
            <a:r>
              <a:rPr lang="zh-CN" altLang="en-US" dirty="0"/>
              <a:t>      学号  候选键 主键</a:t>
            </a:r>
            <a:endParaRPr lang="zh-CN" altLang="en-US" dirty="0"/>
          </a:p>
          <a:p>
            <a:pPr lvl="1"/>
            <a:r>
              <a:rPr lang="zh-CN" altLang="en-US" dirty="0">
                <a:solidFill>
                  <a:schemeClr val="accent2">
                    <a:lumMod val="75000"/>
                  </a:schemeClr>
                </a:solidFill>
              </a:rPr>
              <a:t>一般情况下，如不加特别说明，键即指主键。</a:t>
            </a:r>
            <a:r>
              <a:rPr lang="zh-CN" altLang="en-US" dirty="0"/>
              <a:t>如果关系</a:t>
            </a:r>
            <a:r>
              <a:rPr lang="en-US" altLang="zh-CN" dirty="0"/>
              <a:t>R1</a:t>
            </a:r>
            <a:r>
              <a:rPr lang="zh-CN" altLang="en-US" dirty="0"/>
              <a:t>中的某个属性集是另外一个关系</a:t>
            </a:r>
            <a:r>
              <a:rPr lang="en-US" altLang="zh-CN" dirty="0"/>
              <a:t>R2</a:t>
            </a:r>
            <a:r>
              <a:rPr lang="zh-CN" altLang="en-US" dirty="0"/>
              <a:t>的候选键，那么该属性集对于关系</a:t>
            </a:r>
            <a:r>
              <a:rPr lang="en-US" altLang="zh-CN" dirty="0"/>
              <a:t>R1</a:t>
            </a:r>
            <a:r>
              <a:rPr lang="zh-CN" altLang="en-US" dirty="0"/>
              <a:t>而言是它的</a:t>
            </a:r>
            <a:r>
              <a:rPr lang="zh-CN" altLang="en-US" dirty="0">
                <a:solidFill>
                  <a:schemeClr val="accent2">
                    <a:lumMod val="75000"/>
                  </a:schemeClr>
                </a:solidFill>
              </a:rPr>
              <a:t>外键</a:t>
            </a:r>
            <a:r>
              <a:rPr lang="zh-CN" altLang="en-US" dirty="0"/>
              <a:t>（</a:t>
            </a:r>
            <a:r>
              <a:rPr lang="en-US" altLang="zh-CN" dirty="0"/>
              <a:t>foreign key</a:t>
            </a:r>
            <a:r>
              <a:rPr lang="zh-CN" altLang="en-US" dirty="0"/>
              <a:t>，</a:t>
            </a:r>
            <a:r>
              <a:rPr lang="en-US" altLang="zh-CN" dirty="0"/>
              <a:t>FK</a:t>
            </a:r>
            <a:r>
              <a:rPr lang="zh-CN" altLang="en-US" dirty="0"/>
              <a:t>）</a:t>
            </a:r>
            <a:endParaRPr lang="zh-CN" altLang="en-US" dirty="0"/>
          </a:p>
          <a:p>
            <a:pPr lvl="1"/>
            <a:r>
              <a:rPr lang="zh-CN" altLang="en-US" i="1" dirty="0"/>
              <a:t>例   学生表 </a:t>
            </a:r>
            <a:r>
              <a:rPr lang="en-US" altLang="zh-CN" i="1" dirty="0"/>
              <a:t>(</a:t>
            </a:r>
            <a:r>
              <a:rPr lang="zh-CN" altLang="en-US" i="1" dirty="0"/>
              <a:t>学号，姓名，年龄</a:t>
            </a:r>
            <a:r>
              <a:rPr lang="en-US" altLang="zh-CN" i="1" dirty="0"/>
              <a:t>,……)</a:t>
            </a:r>
            <a:endParaRPr lang="en-US" altLang="zh-CN" i="1" dirty="0"/>
          </a:p>
          <a:p>
            <a:pPr marL="457200" lvl="1" indent="0">
              <a:buNone/>
            </a:pPr>
            <a:r>
              <a:rPr lang="en-US" altLang="zh-CN" i="1" dirty="0"/>
              <a:t>	   </a:t>
            </a:r>
            <a:r>
              <a:rPr lang="zh-CN" altLang="en-US" i="1" dirty="0"/>
              <a:t>课程表 </a:t>
            </a:r>
            <a:r>
              <a:rPr lang="en-US" altLang="zh-CN" i="1" dirty="0"/>
              <a:t>(</a:t>
            </a:r>
            <a:r>
              <a:rPr lang="zh-CN" altLang="en-US" i="1" dirty="0"/>
              <a:t>课程号，课程名，学分</a:t>
            </a:r>
            <a:r>
              <a:rPr lang="en-US" altLang="zh-CN" i="1" dirty="0"/>
              <a:t>,……)</a:t>
            </a:r>
            <a:endParaRPr lang="en-US" altLang="zh-CN" i="1" dirty="0"/>
          </a:p>
          <a:p>
            <a:pPr marL="457200" lvl="1" indent="0">
              <a:buNone/>
            </a:pPr>
            <a:r>
              <a:rPr lang="en-US" altLang="zh-CN" i="1" dirty="0"/>
              <a:t>        </a:t>
            </a:r>
            <a:r>
              <a:rPr lang="zh-CN" altLang="en-US" i="1" dirty="0"/>
              <a:t>选课表 </a:t>
            </a:r>
            <a:r>
              <a:rPr lang="en-US" altLang="zh-CN" i="1" dirty="0"/>
              <a:t>(</a:t>
            </a:r>
            <a:r>
              <a:rPr lang="zh-CN" altLang="en-US" i="1" dirty="0"/>
              <a:t>学号，课程号，成绩</a:t>
            </a:r>
            <a:r>
              <a:rPr lang="en-US" altLang="zh-CN" i="1" dirty="0"/>
              <a:t>,……)</a:t>
            </a:r>
            <a:endParaRPr lang="en-US" altLang="zh-CN" i="1"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关系模式</a:t>
                </a:r>
                <a:endParaRPr lang="en-US" altLang="zh-CN" dirty="0"/>
              </a:p>
              <a:p>
                <a:pPr lvl="1"/>
                <a:r>
                  <a:rPr lang="zh-CN" altLang="en-US" dirty="0">
                    <a:solidFill>
                      <a:srgbClr val="C00000"/>
                    </a:solidFill>
                  </a:rPr>
                  <a:t>定义</a:t>
                </a:r>
                <a:r>
                  <a:rPr lang="en-US" altLang="zh-CN" dirty="0">
                    <a:solidFill>
                      <a:srgbClr val="C00000"/>
                    </a:solidFill>
                  </a:rPr>
                  <a:t>2.6</a:t>
                </a:r>
                <a:r>
                  <a:rPr lang="zh-CN" altLang="en-US" dirty="0">
                    <a:solidFill>
                      <a:srgbClr val="C00000"/>
                    </a:solidFill>
                  </a:rPr>
                  <a:t>：</a:t>
                </a:r>
                <a:r>
                  <a:rPr lang="zh-CN" altLang="en-US" dirty="0"/>
                  <a:t>关系模式（</a:t>
                </a:r>
                <a:r>
                  <a:rPr lang="en-US" altLang="zh-CN" dirty="0"/>
                  <a:t>relation schema</a:t>
                </a:r>
                <a:r>
                  <a:rPr lang="zh-CN" altLang="en-US" dirty="0"/>
                  <a:t>）是对关系的型的描述，可以表示为：</a:t>
                </a:r>
                <a:br>
                  <a:rPr lang="en-US" altLang="zh-CN" dirty="0"/>
                </a:b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𝑅</m:t>
                      </m:r>
                      <m:r>
                        <a:rPr lang="en-US" altLang="zh-CN" b="0" i="1" smtClean="0">
                          <a:latin typeface="Cambria Math" panose="02040503050406030204" pitchFamily="18" charset="0"/>
                        </a:rPr>
                        <m:t>(</m:t>
                      </m:r>
                      <m:r>
                        <a:rPr lang="en-US" altLang="zh-CN" b="0" i="1" smtClean="0">
                          <a:latin typeface="Cambria Math" panose="02040503050406030204" pitchFamily="18" charset="0"/>
                        </a:rPr>
                        <m:t>𝑈</m:t>
                      </m:r>
                      <m:r>
                        <a:rPr lang="en-US" altLang="zh-CN" b="0" i="1" smtClean="0">
                          <a:latin typeface="Cambria Math" panose="02040503050406030204" pitchFamily="18" charset="0"/>
                        </a:rPr>
                        <m:t>,</m:t>
                      </m:r>
                      <m:r>
                        <a:rPr lang="en-US" altLang="zh-CN" b="0" i="1" smtClean="0">
                          <a:latin typeface="Cambria Math" panose="02040503050406030204" pitchFamily="18" charset="0"/>
                        </a:rPr>
                        <m:t>𝐷</m:t>
                      </m:r>
                      <m:r>
                        <a:rPr lang="en-US" altLang="zh-CN" b="0" i="1" smtClean="0">
                          <a:latin typeface="Cambria Math" panose="02040503050406030204" pitchFamily="18" charset="0"/>
                        </a:rPr>
                        <m:t>,</m:t>
                      </m:r>
                      <m:r>
                        <a:rPr lang="en-US" altLang="zh-CN" b="0" i="1" smtClean="0">
                          <a:latin typeface="Cambria Math" panose="02040503050406030204" pitchFamily="18" charset="0"/>
                        </a:rPr>
                        <m:t>𝐷𝑂𝑀</m:t>
                      </m:r>
                      <m:r>
                        <a:rPr lang="en-US" altLang="zh-CN" b="0" i="1" smtClean="0">
                          <a:latin typeface="Cambria Math" panose="02040503050406030204" pitchFamily="18" charset="0"/>
                        </a:rPr>
                        <m:t>,</m:t>
                      </m:r>
                      <m:r>
                        <a:rPr lang="en-US" altLang="zh-CN" b="0" i="1" smtClean="0">
                          <a:latin typeface="Cambria Math" panose="02040503050406030204" pitchFamily="18" charset="0"/>
                        </a:rPr>
                        <m:t>𝐼</m:t>
                      </m:r>
                      <m:r>
                        <a:rPr lang="en-US" altLang="zh-CN" b="0" i="1" smtClean="0">
                          <a:latin typeface="Cambria Math" panose="02040503050406030204" pitchFamily="18" charset="0"/>
                        </a:rPr>
                        <m:t>,</m:t>
                      </m:r>
                      <m:r>
                        <a:rPr lang="en-US" altLang="zh-CN" b="0" i="1" smtClean="0">
                          <a:latin typeface="Cambria Math" panose="02040503050406030204" pitchFamily="18" charset="0"/>
                        </a:rPr>
                        <m:t>𝐹</m:t>
                      </m:r>
                      <m:r>
                        <a:rPr lang="en-US" altLang="zh-CN" b="0" i="1" smtClean="0">
                          <a:latin typeface="Cambria Math" panose="02040503050406030204" pitchFamily="18" charset="0"/>
                        </a:rPr>
                        <m:t>)</m:t>
                      </m:r>
                    </m:oMath>
                  </m:oMathPara>
                </a14:m>
                <a:endParaRPr lang="en-US" altLang="zh-CN" dirty="0"/>
              </a:p>
              <a:p>
                <a:pPr lvl="1"/>
                <a:r>
                  <a:rPr lang="zh-CN" altLang="en-US" dirty="0"/>
                  <a:t>其中，</a:t>
                </a:r>
                <a:r>
                  <a:rPr lang="en-US" altLang="zh-CN" dirty="0"/>
                  <a:t>U</a:t>
                </a:r>
                <a:r>
                  <a:rPr lang="zh-CN" altLang="en-US" dirty="0"/>
                  <a:t>是</a:t>
                </a:r>
                <a:r>
                  <a:rPr lang="en-US" altLang="zh-CN" dirty="0"/>
                  <a:t>R</a:t>
                </a:r>
                <a:r>
                  <a:rPr lang="zh-CN" altLang="en-US" dirty="0"/>
                  <a:t>的属性集合</a:t>
                </a:r>
                <a14:m>
                  <m:oMath xmlns:m="http://schemas.openxmlformats.org/officeDocument/2006/math">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𝐴</m:t>
                        </m:r>
                      </m:e>
                      <m:sub>
                        <m:r>
                          <a:rPr lang="en-US" altLang="zh-CN" i="1"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𝐴</m:t>
                        </m:r>
                      </m:e>
                      <m:sub>
                        <m:r>
                          <a:rPr lang="en-US" altLang="zh-CN" i="1" dirty="0" smtClean="0">
                            <a:latin typeface="Cambria Math" panose="02040503050406030204" pitchFamily="18" charset="0"/>
                          </a:rPr>
                          <m:t>2</m:t>
                        </m:r>
                      </m:sub>
                    </m:sSub>
                    <m:r>
                      <a:rPr lang="en-US" altLang="zh-CN" b="0" i="1" dirty="0" smtClean="0">
                        <a:latin typeface="Cambria Math" panose="02040503050406030204" pitchFamily="18" charset="0"/>
                      </a:rPr>
                      <m:t>,</m:t>
                    </m:r>
                    <m:r>
                      <a:rPr lang="en-US" altLang="zh-CN" i="1" dirty="0" smtClean="0">
                        <a:latin typeface="Cambria Math" panose="02040503050406030204" pitchFamily="18" charset="0"/>
                      </a:rPr>
                      <m:t>…</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𝐴</m:t>
                        </m:r>
                      </m:e>
                      <m:sub>
                        <m:r>
                          <a:rPr lang="en-US" altLang="zh-CN" i="1" dirty="0" smtClean="0">
                            <a:latin typeface="Cambria Math" panose="02040503050406030204" pitchFamily="18" charset="0"/>
                          </a:rPr>
                          <m:t>𝑛</m:t>
                        </m:r>
                      </m:sub>
                    </m:sSub>
                    <m:r>
                      <a:rPr lang="en-US" altLang="zh-CN" i="1" dirty="0" smtClean="0">
                        <a:latin typeface="Cambria Math" panose="02040503050406030204" pitchFamily="18" charset="0"/>
                      </a:rPr>
                      <m:t>}</m:t>
                    </m:r>
                  </m:oMath>
                </a14:m>
                <a:r>
                  <a:rPr lang="zh-CN" altLang="en-US" dirty="0"/>
                  <a:t>，</a:t>
                </a:r>
                <a:r>
                  <a:rPr lang="en-US" altLang="zh-CN" dirty="0"/>
                  <a:t>D</a:t>
                </a:r>
                <a:r>
                  <a:rPr lang="zh-CN" altLang="en-US" dirty="0"/>
                  <a:t>是属性的取值范围，即域的集合</a:t>
                </a:r>
                <a14:m>
                  <m:oMath xmlns:m="http://schemas.openxmlformats.org/officeDocument/2006/math">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𝐷</m:t>
                        </m:r>
                      </m:e>
                      <m:sub>
                        <m:r>
                          <a:rPr lang="en-US" altLang="zh-CN" i="1"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𝐷</m:t>
                        </m:r>
                      </m:e>
                      <m:sub>
                        <m:r>
                          <a:rPr lang="en-US" altLang="zh-CN" i="1" dirty="0" smtClean="0">
                            <a:latin typeface="Cambria Math" panose="02040503050406030204" pitchFamily="18" charset="0"/>
                          </a:rPr>
                          <m:t>2</m:t>
                        </m:r>
                      </m:sub>
                    </m:sSub>
                    <m:r>
                      <a:rPr lang="en-US" altLang="zh-CN" b="0" i="1" dirty="0" smtClean="0">
                        <a:latin typeface="Cambria Math" panose="02040503050406030204" pitchFamily="18" charset="0"/>
                      </a:rPr>
                      <m:t>,</m:t>
                    </m:r>
                    <m:r>
                      <a:rPr lang="en-US" altLang="zh-CN" i="1" dirty="0" smtClean="0">
                        <a:latin typeface="Cambria Math" panose="02040503050406030204" pitchFamily="18" charset="0"/>
                      </a:rPr>
                      <m:t>…</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err="1" smtClean="0">
                            <a:latin typeface="Cambria Math" panose="02040503050406030204" pitchFamily="18" charset="0"/>
                          </a:rPr>
                          <m:t>𝐷</m:t>
                        </m:r>
                      </m:e>
                      <m:sub>
                        <m:r>
                          <a:rPr lang="en-US" altLang="zh-CN" i="1" dirty="0" err="1" smtClean="0">
                            <a:latin typeface="Cambria Math" panose="02040503050406030204" pitchFamily="18" charset="0"/>
                          </a:rPr>
                          <m:t>𝑛</m:t>
                        </m:r>
                      </m:sub>
                    </m:sSub>
                    <m:r>
                      <a:rPr lang="en-US" altLang="zh-CN" i="1" dirty="0" smtClean="0">
                        <a:latin typeface="Cambria Math" panose="02040503050406030204" pitchFamily="18" charset="0"/>
                      </a:rPr>
                      <m:t>}</m:t>
                    </m:r>
                  </m:oMath>
                </a14:m>
                <a:r>
                  <a:rPr lang="zh-CN" altLang="en-US" dirty="0"/>
                  <a:t>，</a:t>
                </a:r>
                <a14:m>
                  <m:oMath xmlns:m="http://schemas.openxmlformats.org/officeDocument/2006/math">
                    <m:r>
                      <a:rPr lang="en-US" altLang="zh-CN" i="1" dirty="0" smtClean="0">
                        <a:latin typeface="Cambria Math" panose="02040503050406030204" pitchFamily="18" charset="0"/>
                      </a:rPr>
                      <m:t>𝐷𝑂𝑀</m:t>
                    </m:r>
                  </m:oMath>
                </a14:m>
                <a:r>
                  <a:rPr lang="zh-CN" altLang="en-US" dirty="0"/>
                  <a:t>是</a:t>
                </a:r>
                <a14:m>
                  <m:oMath xmlns:m="http://schemas.openxmlformats.org/officeDocument/2006/math">
                    <m:r>
                      <a:rPr lang="en-US" altLang="zh-CN" i="1" dirty="0" smtClean="0">
                        <a:latin typeface="Cambria Math" panose="02040503050406030204" pitchFamily="18" charset="0"/>
                      </a:rPr>
                      <m:t>𝑈</m:t>
                    </m:r>
                  </m:oMath>
                </a14:m>
                <a:r>
                  <a:rPr lang="zh-CN" altLang="en-US" dirty="0"/>
                  <a:t>到</a:t>
                </a:r>
                <a14:m>
                  <m:oMath xmlns:m="http://schemas.openxmlformats.org/officeDocument/2006/math">
                    <m:r>
                      <a:rPr lang="en-US" altLang="zh-CN" i="1" dirty="0" smtClean="0">
                        <a:latin typeface="Cambria Math" panose="02040503050406030204" pitchFamily="18" charset="0"/>
                      </a:rPr>
                      <m:t>𝐷</m:t>
                    </m:r>
                  </m:oMath>
                </a14:m>
                <a:r>
                  <a:rPr lang="zh-CN" altLang="en-US" dirty="0"/>
                  <a:t>的映射集合</a:t>
                </a:r>
                <a14:m>
                  <m:oMath xmlns:m="http://schemas.openxmlformats.org/officeDocument/2006/math">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𝐴</m:t>
                        </m:r>
                      </m:e>
                      <m:sub>
                        <m:r>
                          <a:rPr lang="en-US" altLang="zh-CN" i="1" dirty="0" smtClean="0">
                            <a:latin typeface="Cambria Math" panose="02040503050406030204" pitchFamily="18" charset="0"/>
                          </a:rPr>
                          <m:t>1</m:t>
                        </m:r>
                      </m:sub>
                    </m:sSub>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𝐷</m:t>
                        </m:r>
                      </m:e>
                      <m:sub>
                        <m:r>
                          <a:rPr lang="en-US" altLang="zh-CN" i="1"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𝐴</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𝐷</m:t>
                        </m:r>
                      </m:e>
                      <m:sub>
                        <m:r>
                          <a:rPr lang="en-US" altLang="zh-CN" i="1" dirty="0" smtClean="0">
                            <a:latin typeface="Cambria Math" panose="02040503050406030204" pitchFamily="18" charset="0"/>
                          </a:rPr>
                          <m:t>2</m:t>
                        </m:r>
                      </m:sub>
                    </m:sSub>
                    <m:r>
                      <a:rPr lang="en-US" altLang="zh-CN" b="0" i="1" dirty="0" smtClean="0">
                        <a:latin typeface="Cambria Math" panose="02040503050406030204" pitchFamily="18" charset="0"/>
                      </a:rPr>
                      <m:t>,</m:t>
                    </m:r>
                    <m:r>
                      <a:rPr lang="en-US" altLang="zh-CN" i="1" dirty="0" smtClean="0">
                        <a:latin typeface="Cambria Math" panose="02040503050406030204" pitchFamily="18" charset="0"/>
                      </a:rPr>
                      <m:t>…</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𝐴</m:t>
                        </m:r>
                      </m:e>
                      <m:sub>
                        <m:r>
                          <a:rPr lang="en-US" altLang="zh-CN" i="1" dirty="0" smtClean="0">
                            <a:latin typeface="Cambria Math" panose="02040503050406030204" pitchFamily="18" charset="0"/>
                          </a:rPr>
                          <m:t>𝑛</m:t>
                        </m:r>
                      </m:sub>
                    </m:sSub>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𝐷</m:t>
                        </m:r>
                      </m:e>
                      <m:sub>
                        <m:r>
                          <a:rPr lang="en-US" altLang="zh-CN" i="1" dirty="0" smtClean="0">
                            <a:latin typeface="Cambria Math" panose="02040503050406030204" pitchFamily="18" charset="0"/>
                          </a:rPr>
                          <m:t>𝑛</m:t>
                        </m:r>
                      </m:sub>
                    </m:sSub>
                    <m:r>
                      <a:rPr lang="en-US" altLang="zh-CN" i="1" dirty="0" smtClean="0">
                        <a:latin typeface="Cambria Math" panose="02040503050406030204" pitchFamily="18" charset="0"/>
                      </a:rPr>
                      <m:t>}</m:t>
                    </m:r>
                  </m:oMath>
                </a14:m>
                <a:r>
                  <a:rPr lang="zh-CN" altLang="en-US" dirty="0"/>
                  <a:t>，</a:t>
                </a:r>
                <a:r>
                  <a:rPr lang="en-US" altLang="zh-CN" dirty="0"/>
                  <a:t>I</a:t>
                </a:r>
                <a:r>
                  <a:rPr lang="zh-CN" altLang="en-US" dirty="0"/>
                  <a:t>是完整性约束规则集，</a:t>
                </a:r>
                <a14:m>
                  <m:oMath xmlns:m="http://schemas.openxmlformats.org/officeDocument/2006/math">
                    <m:r>
                      <a:rPr lang="en-US" altLang="zh-CN" i="1" dirty="0" smtClean="0">
                        <a:latin typeface="Cambria Math" panose="02040503050406030204" pitchFamily="18" charset="0"/>
                      </a:rPr>
                      <m:t>𝐹</m:t>
                    </m:r>
                  </m:oMath>
                </a14:m>
                <a:r>
                  <a:rPr lang="zh-CN" altLang="en-US" dirty="0"/>
                  <a:t>是函数依赖集合</a:t>
                </a:r>
                <a:endParaRPr lang="zh-CN" altLang="en-US" dirty="0"/>
              </a:p>
              <a:p>
                <a:pPr lvl="1"/>
                <a:r>
                  <a:rPr lang="zh-CN" altLang="en-US" dirty="0"/>
                  <a:t>习惯上将关系模式简记为</a:t>
                </a:r>
                <a14:m>
                  <m:oMath xmlns:m="http://schemas.openxmlformats.org/officeDocument/2006/math">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𝐴</m:t>
                        </m:r>
                      </m:e>
                      <m:sub>
                        <m:r>
                          <a:rPr lang="en-US" altLang="zh-CN" i="1" dirty="0" smtClean="0">
                            <a:latin typeface="Cambria Math" panose="02040503050406030204" pitchFamily="18" charset="0"/>
                          </a:rPr>
                          <m:t>1</m:t>
                        </m:r>
                      </m:sub>
                    </m:sSub>
                    <m:r>
                      <a:rPr lang="zh-CN" altLang="en-US"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𝐷</m:t>
                        </m:r>
                      </m:e>
                      <m:sub>
                        <m:r>
                          <a:rPr lang="en-US" altLang="zh-CN" i="1" dirty="0" smtClean="0">
                            <a:latin typeface="Cambria Math" panose="02040503050406030204" pitchFamily="18" charset="0"/>
                          </a:rPr>
                          <m:t>1</m:t>
                        </m:r>
                      </m:sub>
                    </m:sSub>
                    <m:r>
                      <a:rPr lang="zh-CN" altLang="en-US"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𝐴</m:t>
                        </m:r>
                      </m:e>
                      <m:sub>
                        <m:r>
                          <a:rPr lang="en-US" altLang="zh-CN" i="1" dirty="0" smtClean="0">
                            <a:latin typeface="Cambria Math" panose="02040503050406030204" pitchFamily="18" charset="0"/>
                          </a:rPr>
                          <m:t>2</m:t>
                        </m:r>
                      </m:sub>
                    </m:sSub>
                    <m:r>
                      <a:rPr lang="zh-CN" altLang="en-US"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𝐷</m:t>
                        </m:r>
                      </m:e>
                      <m:sub>
                        <m:r>
                          <a:rPr lang="en-US" altLang="zh-CN" i="1" dirty="0" smtClean="0">
                            <a:latin typeface="Cambria Math" panose="02040503050406030204" pitchFamily="18" charset="0"/>
                          </a:rPr>
                          <m:t>2</m:t>
                        </m:r>
                      </m:sub>
                    </m:sSub>
                    <m:r>
                      <a:rPr lang="zh-CN" altLang="en-US" i="1" dirty="0" smtClean="0">
                        <a:latin typeface="Cambria Math" panose="02040503050406030204" pitchFamily="18" charset="0"/>
                      </a:rPr>
                      <m:t>，</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𝐴</m:t>
                        </m:r>
                      </m:e>
                      <m:sub>
                        <m:r>
                          <a:rPr lang="en-US" altLang="zh-CN" i="1" dirty="0" smtClean="0">
                            <a:latin typeface="Cambria Math" panose="02040503050406030204" pitchFamily="18" charset="0"/>
                          </a:rPr>
                          <m:t>𝑛</m:t>
                        </m:r>
                      </m:sub>
                    </m:sSub>
                    <m:r>
                      <a:rPr lang="zh-CN" altLang="en-US"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err="1" smtClean="0">
                            <a:latin typeface="Cambria Math" panose="02040503050406030204" pitchFamily="18" charset="0"/>
                          </a:rPr>
                          <m:t>𝐷</m:t>
                        </m:r>
                      </m:e>
                      <m:sub>
                        <m:r>
                          <a:rPr lang="en-US" altLang="zh-CN" i="1" dirty="0" err="1" smtClean="0">
                            <a:latin typeface="Cambria Math" panose="02040503050406030204" pitchFamily="18" charset="0"/>
                          </a:rPr>
                          <m:t>𝑛</m:t>
                        </m:r>
                      </m:sub>
                    </m:sSub>
                    <m:r>
                      <a:rPr lang="en-US" altLang="zh-CN" i="1" dirty="0" smtClean="0">
                        <a:latin typeface="Cambria Math" panose="02040503050406030204" pitchFamily="18" charset="0"/>
                      </a:rPr>
                      <m:t>)</m:t>
                    </m:r>
                  </m:oMath>
                </a14:m>
                <a:r>
                  <a:rPr lang="zh-CN" altLang="en-US" dirty="0"/>
                  <a:t>或者</a:t>
                </a:r>
                <a14:m>
                  <m:oMath xmlns:m="http://schemas.openxmlformats.org/officeDocument/2006/math">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𝐴</m:t>
                        </m:r>
                      </m:e>
                      <m:sub>
                        <m:r>
                          <a:rPr lang="en-US" altLang="zh-CN" i="1"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𝐴</m:t>
                        </m:r>
                      </m:e>
                      <m:sub>
                        <m:r>
                          <a:rPr lang="en-US" altLang="zh-CN" i="1" dirty="0" smtClean="0">
                            <a:latin typeface="Cambria Math" panose="02040503050406030204" pitchFamily="18" charset="0"/>
                          </a:rPr>
                          <m:t>2</m:t>
                        </m:r>
                      </m:sub>
                    </m:sSub>
                    <m:r>
                      <a:rPr lang="en-US" altLang="zh-CN" b="0" i="1" dirty="0" smtClean="0">
                        <a:latin typeface="Cambria Math" panose="02040503050406030204" pitchFamily="18" charset="0"/>
                      </a:rPr>
                      <m:t>,</m:t>
                    </m:r>
                    <m:r>
                      <a:rPr lang="en-US" altLang="zh-CN" i="1" dirty="0" smtClean="0">
                        <a:latin typeface="Cambria Math" panose="02040503050406030204" pitchFamily="18" charset="0"/>
                      </a:rPr>
                      <m:t>…</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𝐴</m:t>
                        </m:r>
                      </m:e>
                      <m:sub>
                        <m:r>
                          <a:rPr lang="en-US" altLang="zh-CN" i="1" dirty="0" smtClean="0">
                            <a:latin typeface="Cambria Math" panose="02040503050406030204" pitchFamily="18" charset="0"/>
                          </a:rPr>
                          <m:t>𝑛</m:t>
                        </m:r>
                      </m:sub>
                    </m:sSub>
                    <m:r>
                      <a:rPr lang="en-US" altLang="zh-CN" i="1" dirty="0" smtClean="0">
                        <a:latin typeface="Cambria Math" panose="02040503050406030204" pitchFamily="18" charset="0"/>
                      </a:rPr>
                      <m:t>)</m:t>
                    </m:r>
                  </m:oMath>
                </a14:m>
                <a:endParaRPr lang="en-US" altLang="zh-CN"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关系模式</a:t>
                </a:r>
                <a:endParaRPr lang="en-US" altLang="zh-CN" dirty="0"/>
              </a:p>
              <a:p>
                <a:pPr lvl="1"/>
                <a:r>
                  <a:rPr lang="zh-CN" altLang="en-US" dirty="0"/>
                  <a:t>关系模式可以表示为：</a:t>
                </a:r>
                <a14:m>
                  <m:oMath xmlns:m="http://schemas.openxmlformats.org/officeDocument/2006/math">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𝑈</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𝐷</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𝐷𝑂𝑀</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𝐼</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𝐹</m:t>
                    </m:r>
                    <m:r>
                      <a:rPr lang="en-US" altLang="zh-CN" i="1" dirty="0" smtClean="0">
                        <a:latin typeface="Cambria Math" panose="02040503050406030204" pitchFamily="18" charset="0"/>
                      </a:rPr>
                      <m:t>) </m:t>
                    </m:r>
                  </m:oMath>
                </a14:m>
                <a:endParaRPr lang="en-US" altLang="zh-CN" dirty="0"/>
              </a:p>
              <a:p>
                <a:pPr lvl="1"/>
                <a:r>
                  <a:rPr lang="zh-CN" altLang="en-US" i="1" dirty="0"/>
                  <a:t>例子：有一个关系模式为：</a:t>
                </a:r>
                <a14:m>
                  <m:oMath xmlns:m="http://schemas.openxmlformats.org/officeDocument/2006/math">
                    <m:r>
                      <a:rPr lang="en-US" altLang="zh-CN" i="1" dirty="0" smtClean="0">
                        <a:latin typeface="Cambria Math" panose="02040503050406030204" pitchFamily="18" charset="0"/>
                      </a:rPr>
                      <m:t>𝑆𝑇𝑈𝐷𝐸𝑁𝑇</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𝑈</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𝐷</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𝐷𝑂𝑀</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𝐼</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𝐹</m:t>
                    </m:r>
                    <m:r>
                      <a:rPr lang="en-US" altLang="zh-CN" i="1" dirty="0" smtClean="0">
                        <a:latin typeface="Cambria Math" panose="02040503050406030204" pitchFamily="18" charset="0"/>
                      </a:rPr>
                      <m:t>)</m:t>
                    </m:r>
                  </m:oMath>
                </a14:m>
                <a:endParaRPr lang="en-US" altLang="zh-CN" i="1" dirty="0"/>
              </a:p>
              <a:p>
                <a:pPr lvl="2"/>
                <a:r>
                  <a:rPr lang="zh-CN" altLang="en-US" i="1" dirty="0"/>
                  <a:t>属性集合 </a:t>
                </a:r>
                <a14:m>
                  <m:oMath xmlns:m="http://schemas.openxmlformats.org/officeDocument/2006/math">
                    <m:r>
                      <a:rPr lang="en-US" altLang="zh-CN" i="1" dirty="0" smtClean="0">
                        <a:latin typeface="Cambria Math" panose="02040503050406030204" pitchFamily="18" charset="0"/>
                      </a:rPr>
                      <m:t>𝑈</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𝑠𝑛𝑜</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𝑛𝑎𝑚𝑒</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𝑎𝑔𝑒</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　</m:t>
                    </m:r>
                  </m:oMath>
                </a14:m>
                <a:r>
                  <a:rPr lang="zh-CN" altLang="en-US" i="1" dirty="0"/>
                  <a:t>　</a:t>
                </a:r>
                <a:r>
                  <a:rPr lang="en-US" altLang="zh-CN" i="1" dirty="0"/>
                  <a:t>//</a:t>
                </a:r>
                <a:r>
                  <a:rPr lang="zh-CN" altLang="en-US" i="1" dirty="0"/>
                  <a:t>理解为表的字段集合</a:t>
                </a:r>
                <a:endParaRPr lang="zh-CN" altLang="en-US" i="1" dirty="0"/>
              </a:p>
              <a:p>
                <a:pPr lvl="2"/>
                <a:r>
                  <a:rPr lang="zh-CN" altLang="en-US" i="1" dirty="0"/>
                  <a:t>域集合</a:t>
                </a:r>
                <a14:m>
                  <m:oMath xmlns:m="http://schemas.openxmlformats.org/officeDocument/2006/math">
                    <m:r>
                      <a:rPr lang="en-US" altLang="zh-CN" b="0" i="1" dirty="0" smtClean="0">
                        <a:latin typeface="Cambria Math" panose="02040503050406030204" pitchFamily="18" charset="0"/>
                      </a:rPr>
                      <m:t> </m:t>
                    </m:r>
                    <m:r>
                      <a:rPr lang="en-US" altLang="zh-CN" i="1" dirty="0" smtClean="0">
                        <a:latin typeface="Cambria Math" panose="02040503050406030204" pitchFamily="18" charset="0"/>
                      </a:rPr>
                      <m:t>𝐷</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𝑐ℎ𝑎𝑟</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𝑖𝑛𝑡</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　</m:t>
                    </m:r>
                  </m:oMath>
                </a14:m>
                <a:r>
                  <a:rPr lang="zh-CN" altLang="en-US" i="1" dirty="0"/>
                  <a:t>　</a:t>
                </a:r>
                <a:r>
                  <a:rPr lang="en-US" altLang="zh-CN" i="1" dirty="0"/>
                  <a:t>// </a:t>
                </a:r>
                <a:r>
                  <a:rPr lang="zh-CN" altLang="en-US" i="1" dirty="0"/>
                  <a:t>理解为表中字段的类型集合</a:t>
                </a:r>
                <a:endParaRPr lang="zh-CN" altLang="en-US" i="1" dirty="0"/>
              </a:p>
              <a:p>
                <a:pPr lvl="2"/>
                <a:r>
                  <a:rPr lang="zh-CN" altLang="en-US" i="1" dirty="0"/>
                  <a:t>属性到域的映射集合</a:t>
                </a:r>
                <a14:m>
                  <m:oMath xmlns:m="http://schemas.openxmlformats.org/officeDocument/2006/math">
                    <m:r>
                      <a:rPr lang="en-US" altLang="zh-CN" b="0" i="1" dirty="0" smtClean="0">
                        <a:latin typeface="Cambria Math" panose="02040503050406030204" pitchFamily="18" charset="0"/>
                      </a:rPr>
                      <m:t> </m:t>
                    </m:r>
                    <m:r>
                      <a:rPr lang="en-US" altLang="zh-CN" i="1" dirty="0" smtClean="0">
                        <a:latin typeface="Cambria Math" panose="02040503050406030204" pitchFamily="18" charset="0"/>
                      </a:rPr>
                      <m:t>𝐷𝑂𝑀</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𝑑𝑜𝑚</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𝑠𝑛𝑜</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𝑑𝑜𝑚</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𝑛𝑎𝑚𝑒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𝑐ℎ𝑎𝑟</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𝑑𝑜𝑚</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𝑎𝑔𝑒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𝑖𝑛𝑡</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　</m:t>
                    </m:r>
                  </m:oMath>
                </a14:m>
                <a:r>
                  <a:rPr lang="zh-CN" altLang="en-US" i="1" dirty="0"/>
                  <a:t>　</a:t>
                </a:r>
                <a:r>
                  <a:rPr lang="en-US" altLang="zh-CN" i="1" dirty="0"/>
                  <a:t>// </a:t>
                </a:r>
                <a:r>
                  <a:rPr lang="zh-CN" altLang="en-US" i="1" dirty="0"/>
                  <a:t>理解为每个字段具体的取值</a:t>
                </a:r>
                <a:endParaRPr lang="zh-CN" altLang="en-US" i="1" dirty="0"/>
              </a:p>
              <a:p>
                <a:pPr lvl="2"/>
                <a:r>
                  <a:rPr lang="zh-CN" altLang="en-US" i="1" dirty="0"/>
                  <a:t>完整性约束集合 </a:t>
                </a:r>
                <a14:m>
                  <m:oMath xmlns:m="http://schemas.openxmlformats.org/officeDocument/2006/math">
                    <m:r>
                      <a:rPr lang="en-US" altLang="zh-CN" i="1" dirty="0" smtClean="0">
                        <a:latin typeface="Cambria Math" panose="02040503050406030204" pitchFamily="18" charset="0"/>
                      </a:rPr>
                      <m:t>𝐼</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𝑠𝑛𝑜</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𝑁𝑢𝑙𝑙</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𝐼𝑠𝑈𝑛𝑖𝑞𝑢𝑒</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𝑠𝑛𝑜</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𝑇𝑟𝑢𝑒</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18</m:t>
                    </m:r>
                    <m:r>
                      <a:rPr lang="en-US" altLang="zh-CN" i="1" dirty="0" smtClean="0">
                        <a:latin typeface="Cambria Math" panose="02040503050406030204" pitchFamily="18" charset="0"/>
                      </a:rPr>
                      <m:t>&lt;=</m:t>
                    </m:r>
                    <m:r>
                      <a:rPr lang="en-US" altLang="zh-CN" i="1" dirty="0" smtClean="0">
                        <a:latin typeface="Cambria Math" panose="02040503050406030204" pitchFamily="18" charset="0"/>
                      </a:rPr>
                      <m:t>𝑎𝑔𝑒</m:t>
                    </m:r>
                    <m:r>
                      <a:rPr lang="en-US" altLang="zh-CN" i="1" dirty="0" smtClean="0">
                        <a:latin typeface="Cambria Math" panose="02040503050406030204" pitchFamily="18" charset="0"/>
                      </a:rPr>
                      <m:t>&lt;=</m:t>
                    </m:r>
                    <m:r>
                      <a:rPr lang="en-US" altLang="zh-CN" i="1" dirty="0" smtClean="0">
                        <a:latin typeface="Cambria Math" panose="02040503050406030204" pitchFamily="18" charset="0"/>
                      </a:rPr>
                      <m:t>22</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　</m:t>
                    </m:r>
                  </m:oMath>
                </a14:m>
                <a:r>
                  <a:rPr lang="zh-CN" altLang="en-US" i="1" dirty="0"/>
                  <a:t>　</a:t>
                </a:r>
                <a:r>
                  <a:rPr lang="en-US" altLang="zh-CN" i="1" dirty="0"/>
                  <a:t>// </a:t>
                </a:r>
                <a:r>
                  <a:rPr lang="zh-CN" altLang="en-US" i="1" dirty="0"/>
                  <a:t>理解为表字段取值的限制</a:t>
                </a:r>
                <a:endParaRPr lang="zh-CN" altLang="en-US" i="1" dirty="0"/>
              </a:p>
              <a:p>
                <a:pPr lvl="2"/>
                <a:r>
                  <a:rPr lang="zh-CN" altLang="en-US" i="1" dirty="0"/>
                  <a:t>函数依赖集合</a:t>
                </a:r>
                <a14:m>
                  <m:oMath xmlns:m="http://schemas.openxmlformats.org/officeDocument/2006/math">
                    <m:r>
                      <a:rPr lang="en-US" altLang="zh-CN" b="0" i="1" dirty="0" smtClean="0">
                        <a:latin typeface="Cambria Math" panose="02040503050406030204" pitchFamily="18" charset="0"/>
                      </a:rPr>
                      <m:t> </m:t>
                    </m:r>
                    <m:r>
                      <a:rPr lang="en-US" altLang="zh-CN" i="1" dirty="0" smtClean="0">
                        <a:latin typeface="Cambria Math" panose="02040503050406030204" pitchFamily="18" charset="0"/>
                      </a:rPr>
                      <m:t>𝐹</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𝑠𝑛𝑜</m:t>
                    </m:r>
                    <m:r>
                      <a:rPr lang="en-US" altLang="zh-CN" i="1" dirty="0" smtClean="0">
                        <a:latin typeface="Cambria Math" panose="02040503050406030204" pitchFamily="18" charset="0"/>
                      </a:rPr>
                      <m:t>−−&gt;</m:t>
                    </m:r>
                    <m:r>
                      <a:rPr lang="en-US" altLang="zh-CN" i="1" dirty="0" smtClean="0">
                        <a:latin typeface="Cambria Math" panose="02040503050406030204" pitchFamily="18" charset="0"/>
                      </a:rPr>
                      <m:t>𝑛𝑎𝑚𝑒</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𝑠𝑛𝑜</m:t>
                    </m:r>
                    <m:r>
                      <a:rPr lang="en-US" altLang="zh-CN" i="1" dirty="0" smtClean="0">
                        <a:latin typeface="Cambria Math" panose="02040503050406030204" pitchFamily="18" charset="0"/>
                      </a:rPr>
                      <m:t>−−&gt;</m:t>
                    </m:r>
                    <m:r>
                      <a:rPr lang="en-US" altLang="zh-CN" i="1" dirty="0" smtClean="0">
                        <a:latin typeface="Cambria Math" panose="02040503050406030204" pitchFamily="18" charset="0"/>
                      </a:rPr>
                      <m:t>𝑎𝑔𝑒</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　　</m:t>
                    </m:r>
                  </m:oMath>
                </a14:m>
                <a:r>
                  <a:rPr lang="en-US" altLang="zh-CN" i="1" dirty="0"/>
                  <a:t>// </a:t>
                </a:r>
                <a:r>
                  <a:rPr lang="zh-CN" altLang="en-US" i="1" dirty="0"/>
                  <a:t>理解为表字段的关系</a:t>
                </a:r>
                <a:endParaRPr lang="zh-CN" altLang="en-US" i="1"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关系模式与关系</a:t>
            </a:r>
            <a:endParaRPr lang="en-US" altLang="zh-CN" dirty="0"/>
          </a:p>
          <a:p>
            <a:pPr lvl="1"/>
            <a:r>
              <a:rPr lang="zh-CN" altLang="en-US" dirty="0"/>
              <a:t>关系可看作是关系模式在某一时刻的状态或内容，也就是说，关系模式是型，关系是值</a:t>
            </a:r>
            <a:endParaRPr lang="zh-CN" altLang="en-US" dirty="0"/>
          </a:p>
          <a:p>
            <a:pPr lvl="1"/>
            <a:r>
              <a:rPr lang="zh-CN" altLang="en-US" dirty="0"/>
              <a:t>关系模式是</a:t>
            </a:r>
            <a:r>
              <a:rPr lang="zh-CN" altLang="en-US" u="sng" dirty="0"/>
              <a:t>静态</a:t>
            </a:r>
            <a:r>
              <a:rPr lang="zh-CN" altLang="en-US" dirty="0"/>
              <a:t>的、稳定的，而关系是</a:t>
            </a:r>
            <a:r>
              <a:rPr lang="zh-CN" altLang="en-US" u="sng" dirty="0"/>
              <a:t>动态</a:t>
            </a:r>
            <a:r>
              <a:rPr lang="zh-CN" altLang="en-US" dirty="0"/>
              <a:t>的、随时间不断变化的，因为关系操作在不断地更新着数据库中的数据 </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zh-CN" altLang="en-US" dirty="0"/>
              <a:t>关系的特征</a:t>
            </a:r>
            <a:endParaRPr lang="en-US" altLang="zh-CN" dirty="0"/>
          </a:p>
          <a:p>
            <a:pPr lvl="1"/>
            <a:r>
              <a:rPr lang="zh-CN" altLang="en-US" dirty="0"/>
              <a:t>关系中不允许出现相同的元组（</a:t>
            </a:r>
            <a:r>
              <a:rPr lang="zh-CN" altLang="en-US" u="sng" dirty="0"/>
              <a:t>元组不重复</a:t>
            </a:r>
            <a:r>
              <a:rPr lang="zh-CN" altLang="en-US" dirty="0"/>
              <a:t>） </a:t>
            </a:r>
            <a:endParaRPr lang="en-US" altLang="zh-CN" dirty="0"/>
          </a:p>
          <a:p>
            <a:pPr lvl="1"/>
            <a:r>
              <a:rPr lang="zh-CN" altLang="en-US" dirty="0"/>
              <a:t>关系中各个属性必须有不同的名字，不同的属性可来自同一个域，即他们的分量可以取自同一个域（</a:t>
            </a:r>
            <a:r>
              <a:rPr lang="zh-CN" altLang="en-US" u="sng" dirty="0"/>
              <a:t>属性不重复</a:t>
            </a:r>
            <a:r>
              <a:rPr lang="zh-CN" altLang="en-US" dirty="0"/>
              <a:t>）</a:t>
            </a:r>
            <a:endParaRPr lang="zh-CN" altLang="en-US" dirty="0"/>
          </a:p>
          <a:p>
            <a:pPr lvl="1"/>
            <a:r>
              <a:rPr lang="zh-CN" altLang="en-US" dirty="0"/>
              <a:t>关系中元组的顺序</a:t>
            </a:r>
            <a:r>
              <a:rPr lang="en-US" altLang="zh-CN" dirty="0"/>
              <a:t>(</a:t>
            </a:r>
            <a:r>
              <a:rPr lang="zh-CN" altLang="en-US" dirty="0"/>
              <a:t>即行序</a:t>
            </a:r>
            <a:r>
              <a:rPr lang="en-US" altLang="zh-CN" dirty="0"/>
              <a:t>)</a:t>
            </a:r>
            <a:r>
              <a:rPr lang="zh-CN" altLang="en-US" dirty="0"/>
              <a:t>是无关紧要的，在一个关系中可以任意交换两行的次序（</a:t>
            </a:r>
            <a:r>
              <a:rPr lang="zh-CN" altLang="en-US" u="sng" dirty="0"/>
              <a:t>元组间无序）</a:t>
            </a:r>
            <a:endParaRPr lang="zh-CN" altLang="en-US" u="sng" dirty="0"/>
          </a:p>
          <a:p>
            <a:pPr lvl="1"/>
            <a:r>
              <a:rPr lang="zh-CN" altLang="en-US" dirty="0"/>
              <a:t>关系中属性的顺序是无关紧要的，即属性的顺序可以任意交换（</a:t>
            </a:r>
            <a:r>
              <a:rPr lang="zh-CN" altLang="en-US" u="sng" dirty="0"/>
              <a:t>属性间无序</a:t>
            </a:r>
            <a:r>
              <a:rPr lang="zh-CN" altLang="en-US" dirty="0"/>
              <a:t>）</a:t>
            </a:r>
            <a:endParaRPr lang="en-US" altLang="zh-CN" dirty="0"/>
          </a:p>
          <a:p>
            <a:pPr lvl="1"/>
            <a:r>
              <a:rPr lang="zh-CN" altLang="en-US" dirty="0"/>
              <a:t>同一属性名下的各个属性值必须来自同一个域，是同一类型的数据。</a:t>
            </a:r>
            <a:endParaRPr lang="zh-CN" altLang="en-US" dirty="0"/>
          </a:p>
          <a:p>
            <a:pPr lvl="1"/>
            <a:r>
              <a:rPr lang="zh-CN" altLang="en-US" dirty="0"/>
              <a:t>关系中每个分量必须是不可分的数据项，或者说所有</a:t>
            </a:r>
            <a:r>
              <a:rPr lang="zh-CN" altLang="en-US" dirty="0">
                <a:solidFill>
                  <a:schemeClr val="accent2">
                    <a:lumMod val="75000"/>
                  </a:schemeClr>
                </a:solidFill>
              </a:rPr>
              <a:t>属性值都是原子的</a:t>
            </a:r>
            <a:r>
              <a:rPr lang="zh-CN" altLang="en-US" dirty="0"/>
              <a:t>，是一个确定的值，而不是值的集合，即不可“表中有表” 。属性值可以为</a:t>
            </a:r>
            <a:r>
              <a:rPr lang="zh-CN" altLang="en-US" dirty="0">
                <a:solidFill>
                  <a:schemeClr val="accent2">
                    <a:lumMod val="75000"/>
                  </a:schemeClr>
                </a:solidFill>
              </a:rPr>
              <a:t>空值</a:t>
            </a:r>
            <a:r>
              <a:rPr lang="zh-CN" altLang="en-US" dirty="0"/>
              <a:t>，表示“未知”或“不可使用”。</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关系的类型</a:t>
            </a:r>
            <a:endParaRPr lang="en-US" altLang="zh-CN" dirty="0"/>
          </a:p>
          <a:p>
            <a:pPr lvl="1"/>
            <a:r>
              <a:rPr lang="zh-CN" altLang="en-US" dirty="0"/>
              <a:t>在关系数据库中，关系有以下三种类型： </a:t>
            </a:r>
            <a:endParaRPr lang="zh-CN" altLang="en-US" dirty="0"/>
          </a:p>
          <a:p>
            <a:pPr lvl="2"/>
            <a:r>
              <a:rPr lang="zh-CN" altLang="en-US" dirty="0"/>
              <a:t>基本表：实际存在的表，对应实际存储数据的逻辑表示</a:t>
            </a:r>
            <a:endParaRPr lang="zh-CN" altLang="en-US" dirty="0"/>
          </a:p>
          <a:p>
            <a:pPr lvl="2"/>
            <a:r>
              <a:rPr lang="zh-CN" altLang="en-US" dirty="0">
                <a:solidFill>
                  <a:schemeClr val="accent2">
                    <a:lumMod val="75000"/>
                  </a:schemeClr>
                </a:solidFill>
              </a:rPr>
              <a:t>查询表：对基表查询得到的结果表 </a:t>
            </a:r>
            <a:endParaRPr lang="en-US" altLang="zh-CN" dirty="0">
              <a:solidFill>
                <a:schemeClr val="accent2">
                  <a:lumMod val="75000"/>
                </a:schemeClr>
              </a:solidFill>
            </a:endParaRPr>
          </a:p>
          <a:p>
            <a:pPr lvl="2"/>
            <a:r>
              <a:rPr lang="zh-CN" altLang="en-US" dirty="0"/>
              <a:t>视图：从基本表或其他视图中导出的表 </a:t>
            </a:r>
            <a:endParaRPr lang="zh-CN" altLang="en-US" dirty="0"/>
          </a:p>
          <a:p>
            <a:pPr lvl="2"/>
            <a:endParaRPr lang="en-US" altLang="zh-CN" dirty="0"/>
          </a:p>
          <a:p>
            <a:pPr lvl="2"/>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关系数据库</a:t>
            </a:r>
            <a:endParaRPr lang="en-US" altLang="zh-CN" dirty="0"/>
          </a:p>
          <a:p>
            <a:pPr lvl="1"/>
            <a:r>
              <a:rPr lang="zh-CN" altLang="en-US" dirty="0"/>
              <a:t>在一个给定的应用领域中，所有关系的集合构成一个关系数据库</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关系数据库的型与值</a:t>
            </a:r>
            <a:endParaRPr lang="en-US" altLang="zh-CN" dirty="0"/>
          </a:p>
          <a:p>
            <a:pPr lvl="1"/>
            <a:r>
              <a:rPr lang="zh-CN" altLang="en-US" u="sng" dirty="0"/>
              <a:t>关系数据库的型</a:t>
            </a:r>
            <a:r>
              <a:rPr lang="en-US" altLang="zh-CN" dirty="0"/>
              <a:t>: </a:t>
            </a:r>
            <a:r>
              <a:rPr lang="zh-CN" altLang="en-US" dirty="0"/>
              <a:t>关系数据库模式，对关系数据库的描述。</a:t>
            </a:r>
            <a:endParaRPr lang="en-US" altLang="zh-CN" dirty="0"/>
          </a:p>
          <a:p>
            <a:pPr lvl="1"/>
            <a:r>
              <a:rPr lang="zh-CN" altLang="en-US" u="sng" dirty="0"/>
              <a:t>关系数据库模式包括</a:t>
            </a:r>
            <a:r>
              <a:rPr lang="zh-CN" altLang="en-US" dirty="0"/>
              <a:t>：</a:t>
            </a:r>
            <a:endParaRPr lang="en-US" altLang="zh-CN" dirty="0"/>
          </a:p>
          <a:p>
            <a:pPr lvl="2"/>
            <a:r>
              <a:rPr lang="zh-CN" altLang="en-US" dirty="0"/>
              <a:t>若干域的定义</a:t>
            </a:r>
            <a:endParaRPr lang="zh-CN" altLang="en-US" dirty="0"/>
          </a:p>
          <a:p>
            <a:pPr lvl="2"/>
            <a:r>
              <a:rPr lang="zh-CN" altLang="en-US" dirty="0"/>
              <a:t>在这些域上定义的若干关系模式</a:t>
            </a:r>
            <a:endParaRPr lang="en-US" altLang="zh-CN" dirty="0"/>
          </a:p>
          <a:p>
            <a:pPr lvl="1"/>
            <a:r>
              <a:rPr lang="zh-CN" altLang="en-US" u="sng" dirty="0"/>
              <a:t>关系数据库的值</a:t>
            </a:r>
            <a:r>
              <a:rPr lang="en-US" altLang="zh-CN" dirty="0"/>
              <a:t>: </a:t>
            </a:r>
            <a:r>
              <a:rPr lang="zh-CN" altLang="en-US" dirty="0"/>
              <a:t>关系模式在某一时刻对应的关系的集合，简称为关系数据库</a:t>
            </a:r>
            <a:endParaRPr lang="zh-CN" altLang="en-US" dirty="0"/>
          </a:p>
          <a:p>
            <a:pPr lvl="1"/>
            <a:endParaRPr lang="zh-CN" altLang="en-US" dirty="0"/>
          </a:p>
          <a:p>
            <a:pPr lvl="1"/>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关系的完整性</a:t>
            </a:r>
            <a:endParaRPr lang="en-US" altLang="zh-CN" dirty="0"/>
          </a:p>
          <a:p>
            <a:pPr lvl="1"/>
            <a:r>
              <a:rPr lang="zh-CN" altLang="en-US" dirty="0"/>
              <a:t>关系模型的完整性（</a:t>
            </a:r>
            <a:r>
              <a:rPr lang="en-US" altLang="zh-CN" dirty="0"/>
              <a:t>integrity</a:t>
            </a:r>
            <a:r>
              <a:rPr lang="zh-CN" altLang="en-US" dirty="0"/>
              <a:t>）规则是为了保证数据的正确性和相容性而在关系上施加的约束条件</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关系的完整性</a:t>
            </a:r>
            <a:endParaRPr lang="en-US" altLang="zh-CN" dirty="0"/>
          </a:p>
          <a:p>
            <a:pPr lvl="1"/>
            <a:r>
              <a:rPr lang="zh-CN" altLang="en-US" dirty="0"/>
              <a:t>域完整性约束</a:t>
            </a:r>
            <a:endParaRPr lang="en-US" altLang="zh-CN" dirty="0"/>
          </a:p>
          <a:p>
            <a:pPr lvl="2"/>
            <a:r>
              <a:rPr lang="zh-CN" altLang="en-US" dirty="0"/>
              <a:t>元组分量在某个属性上的取值应在其值域之内；元组是否能在某个属性上取空值</a:t>
            </a:r>
            <a:r>
              <a:rPr lang="en-US" altLang="zh-CN" dirty="0"/>
              <a:t>null</a:t>
            </a:r>
            <a:r>
              <a:rPr lang="zh-CN" altLang="en-US" dirty="0"/>
              <a:t>，由该属性的语义决定</a:t>
            </a:r>
            <a:endParaRPr lang="en-US" altLang="zh-CN" dirty="0"/>
          </a:p>
          <a:p>
            <a:pPr lvl="1"/>
            <a:r>
              <a:rPr lang="zh-CN" altLang="en-US" dirty="0"/>
              <a:t>实体完整性约束</a:t>
            </a:r>
            <a:endParaRPr lang="en-US" altLang="zh-CN" dirty="0"/>
          </a:p>
          <a:p>
            <a:pPr lvl="2"/>
            <a:r>
              <a:rPr lang="zh-CN" altLang="en-US" dirty="0"/>
              <a:t>元组在键上的取值不可重复，且不能为</a:t>
            </a:r>
            <a:r>
              <a:rPr lang="en-US" altLang="zh-CN" dirty="0"/>
              <a:t>null</a:t>
            </a:r>
            <a:endParaRPr lang="en-US" altLang="zh-CN" dirty="0"/>
          </a:p>
          <a:p>
            <a:pPr lvl="2"/>
            <a:r>
              <a:rPr lang="zh-CN" altLang="en-US" dirty="0"/>
              <a:t>按照键的定义，如果不同的元组在键上取相同值或空值，则将无法区分两个不同的元组</a:t>
            </a:r>
            <a:endParaRPr lang="zh-CN" altLang="en-US" dirty="0"/>
          </a:p>
          <a:p>
            <a:pPr lvl="2"/>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关系的完整性</a:t>
            </a:r>
            <a:endParaRPr lang="en-US" altLang="zh-CN" dirty="0"/>
          </a:p>
          <a:p>
            <a:pPr lvl="1"/>
            <a:r>
              <a:rPr lang="zh-CN" altLang="en-US" dirty="0"/>
              <a:t>参照完整性约束</a:t>
            </a:r>
            <a:endParaRPr lang="en-US" altLang="zh-CN" dirty="0"/>
          </a:p>
          <a:p>
            <a:pPr lvl="2"/>
            <a:r>
              <a:rPr lang="zh-CN" altLang="en-US" dirty="0"/>
              <a:t>属性集</a:t>
            </a:r>
            <a:r>
              <a:rPr lang="en-US" altLang="zh-CN" dirty="0"/>
              <a:t>FK</a:t>
            </a:r>
            <a:r>
              <a:rPr lang="zh-CN" altLang="en-US" dirty="0"/>
              <a:t>是关系</a:t>
            </a:r>
            <a:r>
              <a:rPr lang="en-US" altLang="zh-CN" dirty="0"/>
              <a:t>R</a:t>
            </a:r>
            <a:r>
              <a:rPr lang="zh-CN" altLang="en-US" dirty="0"/>
              <a:t>上的外键，属性集</a:t>
            </a:r>
            <a:r>
              <a:rPr lang="en-US" altLang="zh-CN" dirty="0"/>
              <a:t>CK</a:t>
            </a:r>
            <a:r>
              <a:rPr lang="zh-CN" altLang="en-US" dirty="0"/>
              <a:t>是关系</a:t>
            </a:r>
            <a:r>
              <a:rPr lang="en-US" altLang="zh-CN" dirty="0"/>
              <a:t>S</a:t>
            </a:r>
            <a:r>
              <a:rPr lang="zh-CN" altLang="en-US" dirty="0"/>
              <a:t>上的候选键，</a:t>
            </a:r>
            <a:r>
              <a:rPr lang="en-US" altLang="zh-CN" dirty="0"/>
              <a:t>FK</a:t>
            </a:r>
            <a:r>
              <a:rPr lang="zh-CN" altLang="en-US" dirty="0"/>
              <a:t>引用</a:t>
            </a:r>
            <a:r>
              <a:rPr lang="en-US" altLang="zh-CN" dirty="0"/>
              <a:t>CK</a:t>
            </a:r>
            <a:r>
              <a:rPr lang="zh-CN" altLang="en-US" dirty="0"/>
              <a:t>，</a:t>
            </a:r>
            <a:r>
              <a:rPr lang="en-US" altLang="zh-CN" dirty="0"/>
              <a:t>R</a:t>
            </a:r>
            <a:r>
              <a:rPr lang="zh-CN" altLang="en-US" dirty="0"/>
              <a:t>和</a:t>
            </a:r>
            <a:r>
              <a:rPr lang="en-US" altLang="zh-CN" dirty="0"/>
              <a:t>S</a:t>
            </a:r>
            <a:r>
              <a:rPr lang="zh-CN" altLang="en-US" dirty="0"/>
              <a:t>可以是不同的关系，也可以是相同的关系。</a:t>
            </a:r>
            <a:endParaRPr lang="zh-CN" altLang="en-US" dirty="0"/>
          </a:p>
          <a:p>
            <a:pPr lvl="2"/>
            <a:r>
              <a:rPr lang="zh-CN" altLang="en-US" dirty="0"/>
              <a:t>参照完整性约束要求</a:t>
            </a:r>
            <a:r>
              <a:rPr lang="en-US" altLang="zh-CN" dirty="0"/>
              <a:t>R</a:t>
            </a:r>
            <a:r>
              <a:rPr lang="zh-CN" altLang="en-US" dirty="0"/>
              <a:t>上的元组</a:t>
            </a:r>
            <a:r>
              <a:rPr lang="en-US" altLang="zh-CN" dirty="0"/>
              <a:t>t</a:t>
            </a:r>
            <a:r>
              <a:rPr lang="zh-CN" altLang="en-US" dirty="0"/>
              <a:t>在</a:t>
            </a:r>
            <a:r>
              <a:rPr lang="en-US" altLang="zh-CN" dirty="0"/>
              <a:t>FK</a:t>
            </a:r>
            <a:r>
              <a:rPr lang="zh-CN" altLang="en-US" dirty="0"/>
              <a:t>属性上的取值</a:t>
            </a:r>
            <a:r>
              <a:rPr lang="en-US" altLang="zh-CN" dirty="0"/>
              <a:t>t[FK]</a:t>
            </a:r>
            <a:r>
              <a:rPr lang="zh-CN" altLang="en-US" dirty="0"/>
              <a:t>必须是如下两种情况之一：</a:t>
            </a:r>
            <a:endParaRPr lang="zh-CN" altLang="en-US" dirty="0"/>
          </a:p>
          <a:p>
            <a:pPr lvl="3"/>
            <a:r>
              <a:rPr lang="zh-CN" altLang="en-US" dirty="0"/>
              <a:t>等于关系</a:t>
            </a:r>
            <a:r>
              <a:rPr lang="en-US" altLang="zh-CN" dirty="0"/>
              <a:t>S</a:t>
            </a:r>
            <a:r>
              <a:rPr lang="zh-CN" altLang="en-US" dirty="0"/>
              <a:t>中某个元组在候选键</a:t>
            </a:r>
            <a:r>
              <a:rPr lang="en-US" altLang="zh-CN" dirty="0"/>
              <a:t>CK</a:t>
            </a:r>
            <a:r>
              <a:rPr lang="zh-CN" altLang="en-US" dirty="0"/>
              <a:t>上的值</a:t>
            </a:r>
            <a:endParaRPr lang="zh-CN" altLang="en-US" dirty="0"/>
          </a:p>
          <a:p>
            <a:pPr lvl="3"/>
            <a:r>
              <a:rPr lang="zh-CN" altLang="en-US" dirty="0"/>
              <a:t>取空值</a:t>
            </a:r>
            <a:r>
              <a:rPr lang="en-US" altLang="zh-CN" dirty="0"/>
              <a:t>null</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关系的完整性</a:t>
            </a:r>
            <a:endParaRPr lang="en-US" altLang="zh-CN" dirty="0"/>
          </a:p>
          <a:p>
            <a:pPr lvl="1"/>
            <a:r>
              <a:rPr lang="zh-CN" altLang="en-US" dirty="0"/>
              <a:t>用户定义的完整性约束</a:t>
            </a:r>
            <a:endParaRPr lang="en-US" altLang="zh-CN" dirty="0"/>
          </a:p>
          <a:p>
            <a:pPr lvl="2"/>
            <a:r>
              <a:rPr lang="zh-CN" altLang="en-US" dirty="0"/>
              <a:t>用户定义的完整性是针对某一具体关系数据库的约束条件，它反映某一具体应用所涉及的数据必须满足的语义要求</a:t>
            </a:r>
            <a:endParaRPr lang="zh-CN" altLang="en-US" dirty="0"/>
          </a:p>
          <a:p>
            <a:pPr lvl="2"/>
            <a:r>
              <a:rPr lang="zh-CN" altLang="en-US" dirty="0"/>
              <a:t>关系模型应提供定义和检验这类完整性的机制，以便用统一的系统的方法处理它们，而不要由应用程序承担这一功能</a:t>
            </a:r>
            <a:endParaRPr lang="zh-CN" altLang="en-US" dirty="0"/>
          </a:p>
          <a:p>
            <a:pPr lvl="2"/>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关系模型 </a:t>
            </a:r>
            <a:endParaRPr lang="en-US" altLang="zh-CN" dirty="0"/>
          </a:p>
          <a:p>
            <a:pPr lvl="1"/>
            <a:r>
              <a:rPr lang="zh-CN" altLang="en-US" dirty="0"/>
              <a:t>关系模型</a:t>
            </a:r>
            <a:r>
              <a:rPr lang="en-US" altLang="zh-CN" dirty="0"/>
              <a:t>(Relation Model)</a:t>
            </a:r>
            <a:r>
              <a:rPr lang="zh-CN" altLang="en-US" dirty="0"/>
              <a:t>由一组相互联系的关系组成，是用二维表结构来表示实体与实体间的联系的模型 </a:t>
            </a:r>
            <a:endParaRPr lang="zh-CN" altLang="en-US" dirty="0"/>
          </a:p>
          <a:p>
            <a:pPr lvl="1"/>
            <a:r>
              <a:rPr lang="zh-CN" altLang="en-US" dirty="0"/>
              <a:t>关系模型由关系数据结构、关系操作集合、关系完整性约束三部分组成，如图所示：</a:t>
            </a:r>
            <a:endParaRPr lang="zh-CN" altLang="en-US" dirty="0"/>
          </a:p>
          <a:p>
            <a:pPr marL="457200" lvl="1" indent="0">
              <a:buNone/>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grpSp>
        <p:nvGrpSpPr>
          <p:cNvPr id="44" name="Group 4"/>
          <p:cNvGrpSpPr/>
          <p:nvPr/>
        </p:nvGrpSpPr>
        <p:grpSpPr bwMode="auto">
          <a:xfrm>
            <a:off x="8327794" y="4612944"/>
            <a:ext cx="2736850" cy="358775"/>
            <a:chOff x="1882" y="1979"/>
            <a:chExt cx="1286" cy="226"/>
          </a:xfrm>
        </p:grpSpPr>
        <p:sp>
          <p:nvSpPr>
            <p:cNvPr id="45" name="Rectangle 5"/>
            <p:cNvSpPr>
              <a:spLocks noChangeArrowheads="1"/>
            </p:cNvSpPr>
            <p:nvPr/>
          </p:nvSpPr>
          <p:spPr bwMode="auto">
            <a:xfrm>
              <a:off x="1882" y="1979"/>
              <a:ext cx="1134"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46" name="Text Box 6"/>
            <p:cNvSpPr txBox="1">
              <a:spLocks noChangeArrowheads="1"/>
            </p:cNvSpPr>
            <p:nvPr/>
          </p:nvSpPr>
          <p:spPr bwMode="auto">
            <a:xfrm>
              <a:off x="2044" y="1979"/>
              <a:ext cx="112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1">
                  <a:solidFill>
                    <a:schemeClr val="tx2"/>
                  </a:solidFill>
                  <a:latin typeface="Arial" panose="020B0604020202020204" pitchFamily="34" charset="0"/>
                </a:rPr>
                <a:t>关系完整性约束</a:t>
              </a:r>
              <a:endParaRPr lang="zh-CN" altLang="en-US" sz="1600" b="1">
                <a:solidFill>
                  <a:schemeClr val="tx2"/>
                </a:solidFill>
                <a:latin typeface="Arial" panose="020B0604020202020204" pitchFamily="34" charset="0"/>
              </a:endParaRPr>
            </a:p>
          </p:txBody>
        </p:sp>
      </p:grpSp>
      <p:grpSp>
        <p:nvGrpSpPr>
          <p:cNvPr id="47" name="Group 7"/>
          <p:cNvGrpSpPr/>
          <p:nvPr/>
        </p:nvGrpSpPr>
        <p:grpSpPr bwMode="auto">
          <a:xfrm>
            <a:off x="2063519" y="3676319"/>
            <a:ext cx="7416800" cy="2446338"/>
            <a:chOff x="113" y="1979"/>
            <a:chExt cx="4672" cy="1541"/>
          </a:xfrm>
        </p:grpSpPr>
        <p:grpSp>
          <p:nvGrpSpPr>
            <p:cNvPr id="48" name="Group 8"/>
            <p:cNvGrpSpPr/>
            <p:nvPr/>
          </p:nvGrpSpPr>
          <p:grpSpPr bwMode="auto">
            <a:xfrm>
              <a:off x="2200" y="1979"/>
              <a:ext cx="1134" cy="227"/>
              <a:chOff x="1882" y="1979"/>
              <a:chExt cx="1134" cy="227"/>
            </a:xfrm>
          </p:grpSpPr>
          <p:sp>
            <p:nvSpPr>
              <p:cNvPr id="82" name="Rectangle 9"/>
              <p:cNvSpPr>
                <a:spLocks noChangeArrowheads="1"/>
              </p:cNvSpPr>
              <p:nvPr/>
            </p:nvSpPr>
            <p:spPr bwMode="auto">
              <a:xfrm>
                <a:off x="1882" y="1979"/>
                <a:ext cx="1134"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3" name="Text Box 10"/>
              <p:cNvSpPr txBox="1">
                <a:spLocks noChangeArrowheads="1"/>
              </p:cNvSpPr>
              <p:nvPr/>
            </p:nvSpPr>
            <p:spPr bwMode="auto">
              <a:xfrm>
                <a:off x="2044" y="1994"/>
                <a:ext cx="76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1">
                    <a:solidFill>
                      <a:schemeClr val="tx2"/>
                    </a:solidFill>
                    <a:latin typeface="Arial" panose="020B0604020202020204" pitchFamily="34" charset="0"/>
                  </a:rPr>
                  <a:t>关系数据库</a:t>
                </a:r>
                <a:endParaRPr lang="zh-CN" altLang="en-US" sz="1600" b="1">
                  <a:solidFill>
                    <a:schemeClr val="tx2"/>
                  </a:solidFill>
                  <a:latin typeface="Arial" panose="020B0604020202020204" pitchFamily="34" charset="0"/>
                </a:endParaRPr>
              </a:p>
            </p:txBody>
          </p:sp>
        </p:grpSp>
        <p:grpSp>
          <p:nvGrpSpPr>
            <p:cNvPr id="49" name="Group 11"/>
            <p:cNvGrpSpPr/>
            <p:nvPr/>
          </p:nvGrpSpPr>
          <p:grpSpPr bwMode="auto">
            <a:xfrm>
              <a:off x="385" y="2568"/>
              <a:ext cx="1315" cy="226"/>
              <a:chOff x="1882" y="1979"/>
              <a:chExt cx="1142" cy="226"/>
            </a:xfrm>
          </p:grpSpPr>
          <p:sp>
            <p:nvSpPr>
              <p:cNvPr id="80" name="Rectangle 12"/>
              <p:cNvSpPr>
                <a:spLocks noChangeArrowheads="1"/>
              </p:cNvSpPr>
              <p:nvPr/>
            </p:nvSpPr>
            <p:spPr bwMode="auto">
              <a:xfrm>
                <a:off x="1882" y="1979"/>
                <a:ext cx="1134"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1" name="Text Box 13"/>
              <p:cNvSpPr txBox="1">
                <a:spLocks noChangeArrowheads="1"/>
              </p:cNvSpPr>
              <p:nvPr/>
            </p:nvSpPr>
            <p:spPr bwMode="auto">
              <a:xfrm>
                <a:off x="2044" y="1979"/>
                <a:ext cx="9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1">
                    <a:solidFill>
                      <a:schemeClr val="tx2"/>
                    </a:solidFill>
                    <a:latin typeface="Arial" panose="020B0604020202020204" pitchFamily="34" charset="0"/>
                  </a:rPr>
                  <a:t>关系数据结构</a:t>
                </a:r>
                <a:endParaRPr lang="zh-CN" altLang="en-US" sz="1600" b="1">
                  <a:solidFill>
                    <a:schemeClr val="tx2"/>
                  </a:solidFill>
                  <a:latin typeface="Arial" panose="020B0604020202020204" pitchFamily="34" charset="0"/>
                </a:endParaRPr>
              </a:p>
            </p:txBody>
          </p:sp>
        </p:grpSp>
        <p:grpSp>
          <p:nvGrpSpPr>
            <p:cNvPr id="50" name="Group 14"/>
            <p:cNvGrpSpPr/>
            <p:nvPr/>
          </p:nvGrpSpPr>
          <p:grpSpPr bwMode="auto">
            <a:xfrm>
              <a:off x="2336" y="2569"/>
              <a:ext cx="1270" cy="226"/>
              <a:chOff x="1882" y="1979"/>
              <a:chExt cx="1142" cy="226"/>
            </a:xfrm>
          </p:grpSpPr>
          <p:sp>
            <p:nvSpPr>
              <p:cNvPr id="78" name="Rectangle 15"/>
              <p:cNvSpPr>
                <a:spLocks noChangeArrowheads="1"/>
              </p:cNvSpPr>
              <p:nvPr/>
            </p:nvSpPr>
            <p:spPr bwMode="auto">
              <a:xfrm>
                <a:off x="1882" y="1979"/>
                <a:ext cx="1134"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9" name="Text Box 16"/>
              <p:cNvSpPr txBox="1">
                <a:spLocks noChangeArrowheads="1"/>
              </p:cNvSpPr>
              <p:nvPr/>
            </p:nvSpPr>
            <p:spPr bwMode="auto">
              <a:xfrm>
                <a:off x="2044" y="1979"/>
                <a:ext cx="9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1">
                    <a:solidFill>
                      <a:schemeClr val="tx2"/>
                    </a:solidFill>
                    <a:latin typeface="Arial" panose="020B0604020202020204" pitchFamily="34" charset="0"/>
                  </a:rPr>
                  <a:t>关系操作集合</a:t>
                </a:r>
                <a:endParaRPr lang="zh-CN" altLang="en-US" sz="1600" b="1">
                  <a:solidFill>
                    <a:schemeClr val="tx2"/>
                  </a:solidFill>
                  <a:latin typeface="Arial" panose="020B0604020202020204" pitchFamily="34" charset="0"/>
                </a:endParaRPr>
              </a:p>
            </p:txBody>
          </p:sp>
        </p:grpSp>
        <p:grpSp>
          <p:nvGrpSpPr>
            <p:cNvPr id="51" name="Group 17"/>
            <p:cNvGrpSpPr/>
            <p:nvPr/>
          </p:nvGrpSpPr>
          <p:grpSpPr bwMode="auto">
            <a:xfrm>
              <a:off x="113" y="3294"/>
              <a:ext cx="1271" cy="226"/>
              <a:chOff x="158" y="2931"/>
              <a:chExt cx="1271" cy="226"/>
            </a:xfrm>
          </p:grpSpPr>
          <p:sp>
            <p:nvSpPr>
              <p:cNvPr id="76" name="Rectangle 18"/>
              <p:cNvSpPr>
                <a:spLocks noChangeArrowheads="1"/>
              </p:cNvSpPr>
              <p:nvPr/>
            </p:nvSpPr>
            <p:spPr bwMode="auto">
              <a:xfrm>
                <a:off x="158" y="2931"/>
                <a:ext cx="1089"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7" name="Text Box 19"/>
              <p:cNvSpPr txBox="1">
                <a:spLocks noChangeArrowheads="1"/>
              </p:cNvSpPr>
              <p:nvPr/>
            </p:nvSpPr>
            <p:spPr bwMode="auto">
              <a:xfrm>
                <a:off x="158" y="2931"/>
                <a:ext cx="127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1">
                    <a:solidFill>
                      <a:schemeClr val="tx2"/>
                    </a:solidFill>
                    <a:latin typeface="Arial" panose="020B0604020202020204" pitchFamily="34" charset="0"/>
                  </a:rPr>
                  <a:t>域</a:t>
                </a:r>
                <a:r>
                  <a:rPr lang="en-US" altLang="zh-CN" sz="1600" b="1">
                    <a:solidFill>
                      <a:schemeClr val="tx2"/>
                    </a:solidFill>
                    <a:latin typeface="Arial" panose="020B0604020202020204" pitchFamily="34" charset="0"/>
                  </a:rPr>
                  <a:t>-</a:t>
                </a:r>
                <a:r>
                  <a:rPr lang="zh-CN" altLang="en-US" sz="1600" b="1">
                    <a:solidFill>
                      <a:schemeClr val="tx2"/>
                    </a:solidFill>
                    <a:latin typeface="Arial" panose="020B0604020202020204" pitchFamily="34" charset="0"/>
                  </a:rPr>
                  <a:t>笛卡尔积</a:t>
                </a:r>
                <a:r>
                  <a:rPr lang="en-US" altLang="zh-CN" sz="1600" b="1">
                    <a:solidFill>
                      <a:schemeClr val="tx2"/>
                    </a:solidFill>
                    <a:latin typeface="Arial" panose="020B0604020202020204" pitchFamily="34" charset="0"/>
                  </a:rPr>
                  <a:t>-</a:t>
                </a:r>
                <a:r>
                  <a:rPr lang="zh-CN" altLang="en-US" sz="1600" b="1">
                    <a:solidFill>
                      <a:schemeClr val="tx2"/>
                    </a:solidFill>
                    <a:latin typeface="Arial" panose="020B0604020202020204" pitchFamily="34" charset="0"/>
                  </a:rPr>
                  <a:t>关系</a:t>
                </a:r>
                <a:endParaRPr lang="zh-CN" altLang="en-US" sz="1800" b="1">
                  <a:solidFill>
                    <a:schemeClr val="tx2"/>
                  </a:solidFill>
                  <a:latin typeface="Arial" panose="020B0604020202020204" pitchFamily="34" charset="0"/>
                </a:endParaRPr>
              </a:p>
            </p:txBody>
          </p:sp>
        </p:grpSp>
        <p:grpSp>
          <p:nvGrpSpPr>
            <p:cNvPr id="52" name="Group 20"/>
            <p:cNvGrpSpPr/>
            <p:nvPr/>
          </p:nvGrpSpPr>
          <p:grpSpPr bwMode="auto">
            <a:xfrm>
              <a:off x="1292" y="3294"/>
              <a:ext cx="736" cy="226"/>
              <a:chOff x="1429" y="3113"/>
              <a:chExt cx="736" cy="226"/>
            </a:xfrm>
          </p:grpSpPr>
          <p:sp>
            <p:nvSpPr>
              <p:cNvPr id="74" name="Rectangle 21"/>
              <p:cNvSpPr>
                <a:spLocks noChangeArrowheads="1"/>
              </p:cNvSpPr>
              <p:nvPr/>
            </p:nvSpPr>
            <p:spPr bwMode="auto">
              <a:xfrm>
                <a:off x="1429" y="3113"/>
                <a:ext cx="680"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5" name="Text Box 22"/>
              <p:cNvSpPr txBox="1">
                <a:spLocks noChangeArrowheads="1"/>
              </p:cNvSpPr>
              <p:nvPr/>
            </p:nvSpPr>
            <p:spPr bwMode="auto">
              <a:xfrm>
                <a:off x="1474" y="3113"/>
                <a:ext cx="69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1">
                    <a:solidFill>
                      <a:schemeClr val="tx2"/>
                    </a:solidFill>
                    <a:latin typeface="Arial" panose="020B0604020202020204" pitchFamily="34" charset="0"/>
                  </a:rPr>
                  <a:t>关系模式</a:t>
                </a:r>
                <a:endParaRPr lang="zh-CN" altLang="en-US" sz="1600" b="1">
                  <a:solidFill>
                    <a:schemeClr val="tx2"/>
                  </a:solidFill>
                  <a:latin typeface="Arial" panose="020B0604020202020204" pitchFamily="34" charset="0"/>
                </a:endParaRPr>
              </a:p>
            </p:txBody>
          </p:sp>
        </p:grpSp>
        <p:grpSp>
          <p:nvGrpSpPr>
            <p:cNvPr id="53" name="Group 23"/>
            <p:cNvGrpSpPr/>
            <p:nvPr/>
          </p:nvGrpSpPr>
          <p:grpSpPr bwMode="auto">
            <a:xfrm>
              <a:off x="2336" y="3294"/>
              <a:ext cx="736" cy="226"/>
              <a:chOff x="1429" y="3113"/>
              <a:chExt cx="736" cy="226"/>
            </a:xfrm>
          </p:grpSpPr>
          <p:sp>
            <p:nvSpPr>
              <p:cNvPr id="72" name="Rectangle 24"/>
              <p:cNvSpPr>
                <a:spLocks noChangeArrowheads="1"/>
              </p:cNvSpPr>
              <p:nvPr/>
            </p:nvSpPr>
            <p:spPr bwMode="auto">
              <a:xfrm>
                <a:off x="1429" y="3113"/>
                <a:ext cx="680"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3" name="Text Box 25"/>
              <p:cNvSpPr txBox="1">
                <a:spLocks noChangeArrowheads="1"/>
              </p:cNvSpPr>
              <p:nvPr/>
            </p:nvSpPr>
            <p:spPr bwMode="auto">
              <a:xfrm>
                <a:off x="1474" y="3113"/>
                <a:ext cx="69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1">
                    <a:solidFill>
                      <a:schemeClr val="tx2"/>
                    </a:solidFill>
                    <a:latin typeface="Arial" panose="020B0604020202020204" pitchFamily="34" charset="0"/>
                  </a:rPr>
                  <a:t>关系代数</a:t>
                </a:r>
                <a:endParaRPr lang="zh-CN" altLang="en-US" sz="1600" b="1">
                  <a:solidFill>
                    <a:schemeClr val="tx2"/>
                  </a:solidFill>
                  <a:latin typeface="Arial" panose="020B0604020202020204" pitchFamily="34" charset="0"/>
                </a:endParaRPr>
              </a:p>
            </p:txBody>
          </p:sp>
        </p:grpSp>
        <p:grpSp>
          <p:nvGrpSpPr>
            <p:cNvPr id="54" name="Group 26"/>
            <p:cNvGrpSpPr/>
            <p:nvPr/>
          </p:nvGrpSpPr>
          <p:grpSpPr bwMode="auto">
            <a:xfrm>
              <a:off x="3187" y="3294"/>
              <a:ext cx="736" cy="226"/>
              <a:chOff x="1429" y="3113"/>
              <a:chExt cx="736" cy="226"/>
            </a:xfrm>
          </p:grpSpPr>
          <p:sp>
            <p:nvSpPr>
              <p:cNvPr id="70" name="Rectangle 27"/>
              <p:cNvSpPr>
                <a:spLocks noChangeArrowheads="1"/>
              </p:cNvSpPr>
              <p:nvPr/>
            </p:nvSpPr>
            <p:spPr bwMode="auto">
              <a:xfrm>
                <a:off x="1429" y="3113"/>
                <a:ext cx="680"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1" name="Text Box 28"/>
              <p:cNvSpPr txBox="1">
                <a:spLocks noChangeArrowheads="1"/>
              </p:cNvSpPr>
              <p:nvPr/>
            </p:nvSpPr>
            <p:spPr bwMode="auto">
              <a:xfrm>
                <a:off x="1474" y="3113"/>
                <a:ext cx="69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1">
                    <a:solidFill>
                      <a:schemeClr val="tx2"/>
                    </a:solidFill>
                    <a:latin typeface="Arial" panose="020B0604020202020204" pitchFamily="34" charset="0"/>
                  </a:rPr>
                  <a:t>关系演算</a:t>
                </a:r>
                <a:endParaRPr lang="zh-CN" altLang="en-US" sz="1600" b="1">
                  <a:solidFill>
                    <a:schemeClr val="tx2"/>
                  </a:solidFill>
                  <a:latin typeface="Arial" panose="020B0604020202020204" pitchFamily="34" charset="0"/>
                </a:endParaRPr>
              </a:p>
            </p:txBody>
          </p:sp>
        </p:grpSp>
        <p:grpSp>
          <p:nvGrpSpPr>
            <p:cNvPr id="55" name="Group 29"/>
            <p:cNvGrpSpPr/>
            <p:nvPr/>
          </p:nvGrpSpPr>
          <p:grpSpPr bwMode="auto">
            <a:xfrm>
              <a:off x="4049" y="3294"/>
              <a:ext cx="736" cy="226"/>
              <a:chOff x="1429" y="3113"/>
              <a:chExt cx="736" cy="226"/>
            </a:xfrm>
          </p:grpSpPr>
          <p:sp>
            <p:nvSpPr>
              <p:cNvPr id="68" name="Rectangle 30"/>
              <p:cNvSpPr>
                <a:spLocks noChangeArrowheads="1"/>
              </p:cNvSpPr>
              <p:nvPr/>
            </p:nvSpPr>
            <p:spPr bwMode="auto">
              <a:xfrm>
                <a:off x="1429" y="3113"/>
                <a:ext cx="680"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69" name="Text Box 31"/>
              <p:cNvSpPr txBox="1">
                <a:spLocks noChangeArrowheads="1"/>
              </p:cNvSpPr>
              <p:nvPr/>
            </p:nvSpPr>
            <p:spPr bwMode="auto">
              <a:xfrm>
                <a:off x="1474" y="3113"/>
                <a:ext cx="69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1">
                    <a:solidFill>
                      <a:schemeClr val="tx2"/>
                    </a:solidFill>
                    <a:latin typeface="Arial" panose="020B0604020202020204" pitchFamily="34" charset="0"/>
                  </a:rPr>
                  <a:t>关系逻辑</a:t>
                </a:r>
                <a:endParaRPr lang="zh-CN" altLang="en-US" sz="1600" b="1">
                  <a:solidFill>
                    <a:schemeClr val="tx2"/>
                  </a:solidFill>
                  <a:latin typeface="Arial" panose="020B0604020202020204" pitchFamily="34" charset="0"/>
                </a:endParaRPr>
              </a:p>
            </p:txBody>
          </p:sp>
        </p:grpSp>
        <p:sp>
          <p:nvSpPr>
            <p:cNvPr id="56" name="Line 32"/>
            <p:cNvSpPr>
              <a:spLocks noChangeShapeType="1"/>
            </p:cNvSpPr>
            <p:nvPr/>
          </p:nvSpPr>
          <p:spPr bwMode="auto">
            <a:xfrm>
              <a:off x="1065" y="2387"/>
              <a:ext cx="358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Line 33"/>
            <p:cNvSpPr>
              <a:spLocks noChangeShapeType="1"/>
            </p:cNvSpPr>
            <p:nvPr/>
          </p:nvSpPr>
          <p:spPr bwMode="auto">
            <a:xfrm>
              <a:off x="1066" y="2387"/>
              <a:ext cx="0" cy="181"/>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34"/>
            <p:cNvSpPr>
              <a:spLocks noChangeShapeType="1"/>
            </p:cNvSpPr>
            <p:nvPr/>
          </p:nvSpPr>
          <p:spPr bwMode="auto">
            <a:xfrm>
              <a:off x="4649" y="2387"/>
              <a:ext cx="0" cy="181"/>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35"/>
            <p:cNvSpPr>
              <a:spLocks noChangeShapeType="1"/>
            </p:cNvSpPr>
            <p:nvPr/>
          </p:nvSpPr>
          <p:spPr bwMode="auto">
            <a:xfrm>
              <a:off x="2971" y="2387"/>
              <a:ext cx="0" cy="181"/>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36"/>
            <p:cNvSpPr>
              <a:spLocks noChangeShapeType="1"/>
            </p:cNvSpPr>
            <p:nvPr/>
          </p:nvSpPr>
          <p:spPr bwMode="auto">
            <a:xfrm>
              <a:off x="2744" y="2205"/>
              <a:ext cx="0" cy="18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 name="Line 37"/>
            <p:cNvSpPr>
              <a:spLocks noChangeShapeType="1"/>
            </p:cNvSpPr>
            <p:nvPr/>
          </p:nvSpPr>
          <p:spPr bwMode="auto">
            <a:xfrm>
              <a:off x="1565" y="2795"/>
              <a:ext cx="0" cy="499"/>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62" name="AutoShape 38"/>
            <p:cNvCxnSpPr>
              <a:cxnSpLocks noChangeShapeType="1"/>
              <a:endCxn id="77" idx="0"/>
            </p:cNvCxnSpPr>
            <p:nvPr/>
          </p:nvCxnSpPr>
          <p:spPr bwMode="auto">
            <a:xfrm rot="10800000" flipV="1">
              <a:off x="749" y="3022"/>
              <a:ext cx="814" cy="272"/>
            </a:xfrm>
            <a:prstGeom prst="bentConnector2">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 name="Line 39"/>
            <p:cNvSpPr>
              <a:spLocks noChangeShapeType="1"/>
            </p:cNvSpPr>
            <p:nvPr/>
          </p:nvSpPr>
          <p:spPr bwMode="auto">
            <a:xfrm>
              <a:off x="2789" y="3022"/>
              <a:ext cx="158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 name="Line 40"/>
            <p:cNvSpPr>
              <a:spLocks noChangeShapeType="1"/>
            </p:cNvSpPr>
            <p:nvPr/>
          </p:nvSpPr>
          <p:spPr bwMode="auto">
            <a:xfrm>
              <a:off x="2789" y="3022"/>
              <a:ext cx="0" cy="27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41"/>
            <p:cNvSpPr>
              <a:spLocks noChangeShapeType="1"/>
            </p:cNvSpPr>
            <p:nvPr/>
          </p:nvSpPr>
          <p:spPr bwMode="auto">
            <a:xfrm>
              <a:off x="3515" y="3022"/>
              <a:ext cx="0" cy="27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Line 42"/>
            <p:cNvSpPr>
              <a:spLocks noChangeShapeType="1"/>
            </p:cNvSpPr>
            <p:nvPr/>
          </p:nvSpPr>
          <p:spPr bwMode="auto">
            <a:xfrm>
              <a:off x="4377" y="3022"/>
              <a:ext cx="0" cy="27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43"/>
            <p:cNvSpPr>
              <a:spLocks noChangeShapeType="1"/>
            </p:cNvSpPr>
            <p:nvPr/>
          </p:nvSpPr>
          <p:spPr bwMode="auto">
            <a:xfrm>
              <a:off x="3152" y="2795"/>
              <a:ext cx="0" cy="227"/>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4" name="Rectangle 44"/>
          <p:cNvSpPr>
            <a:spLocks noChangeArrowheads="1"/>
          </p:cNvSpPr>
          <p:nvPr/>
        </p:nvSpPr>
        <p:spPr bwMode="auto">
          <a:xfrm>
            <a:off x="5160731" y="6268707"/>
            <a:ext cx="2336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ts val="700"/>
              </a:spcBef>
              <a:spcAft>
                <a:spcPts val="800"/>
              </a:spcAft>
              <a:buFontTx/>
              <a:buNone/>
            </a:pPr>
            <a:r>
              <a:rPr lang="zh-CN" altLang="en-US" sz="1600" b="1">
                <a:solidFill>
                  <a:srgbClr val="DF3DEB"/>
                </a:solidFill>
                <a:latin typeface="Arial" panose="020B0604020202020204" pitchFamily="34" charset="0"/>
              </a:rPr>
              <a:t>图</a:t>
            </a:r>
            <a:r>
              <a:rPr lang="en-US" altLang="zh-CN" sz="1600" b="1">
                <a:solidFill>
                  <a:srgbClr val="DF3DEB"/>
                </a:solidFill>
                <a:latin typeface="Arial" panose="020B0604020202020204" pitchFamily="34" charset="0"/>
              </a:rPr>
              <a:t> </a:t>
            </a:r>
            <a:r>
              <a:rPr lang="zh-CN" altLang="en-US" sz="1600" b="1">
                <a:solidFill>
                  <a:srgbClr val="DF3DEB"/>
                </a:solidFill>
                <a:latin typeface="Arial" panose="020B0604020202020204" pitchFamily="34" charset="0"/>
              </a:rPr>
              <a:t>关系模型的组成部分</a:t>
            </a:r>
            <a:r>
              <a:rPr lang="zh-CN" altLang="en-US" sz="1800" b="1">
                <a:solidFill>
                  <a:srgbClr val="DF3DEB"/>
                </a:solidFill>
                <a:latin typeface="Arial" panose="020B0604020202020204" pitchFamily="34" charset="0"/>
              </a:rPr>
              <a:t> </a:t>
            </a:r>
            <a:endParaRPr lang="zh-CN" altLang="en-US" sz="1800" b="1">
              <a:solidFill>
                <a:srgbClr val="DF3DEB"/>
              </a:solidFill>
              <a:latin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关系模型</a:t>
            </a:r>
            <a:endParaRPr lang="en-US" altLang="zh-CN" dirty="0"/>
          </a:p>
          <a:p>
            <a:pPr lvl="1"/>
            <a:r>
              <a:rPr lang="zh-CN" altLang="en-US" dirty="0">
                <a:solidFill>
                  <a:srgbClr val="C00000"/>
                </a:solidFill>
              </a:rPr>
              <a:t>关系操作集合</a:t>
            </a:r>
            <a:r>
              <a:rPr lang="zh-CN" altLang="en-US" dirty="0"/>
              <a:t>是指关系模型提供的一组完备的高级关系运算，这些关系运算支持对数据库的各种操作。关系运算通常分成关系代数和关系演算</a:t>
            </a:r>
            <a:endParaRPr lang="zh-CN" altLang="en-US" dirty="0"/>
          </a:p>
          <a:p>
            <a:pPr lvl="1"/>
            <a:r>
              <a:rPr lang="zh-CN" altLang="en-US" dirty="0"/>
              <a:t>为简化分析，有时候也使用简化的关系模型，如图所示</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
        <p:nvSpPr>
          <p:cNvPr id="6" name="Rectangle 5"/>
          <p:cNvSpPr>
            <a:spLocks noChangeArrowheads="1"/>
          </p:cNvSpPr>
          <p:nvPr/>
        </p:nvSpPr>
        <p:spPr bwMode="auto">
          <a:xfrm>
            <a:off x="4902587" y="6298869"/>
            <a:ext cx="19446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1">
                <a:latin typeface="Arial" panose="020B0604020202020204" pitchFamily="34" charset="0"/>
              </a:rPr>
              <a:t>图</a:t>
            </a:r>
            <a:r>
              <a:rPr lang="en-US" altLang="zh-CN" sz="1600" b="1">
                <a:latin typeface="Arial" panose="020B0604020202020204" pitchFamily="34" charset="0"/>
              </a:rPr>
              <a:t> </a:t>
            </a:r>
            <a:r>
              <a:rPr lang="zh-CN" altLang="en-US" sz="1600" b="1">
                <a:latin typeface="Arial" panose="020B0604020202020204" pitchFamily="34" charset="0"/>
              </a:rPr>
              <a:t>简化的关系模型</a:t>
            </a:r>
            <a:endParaRPr lang="zh-CN" altLang="en-US" sz="1600" b="1">
              <a:latin typeface="Arial" panose="020B0604020202020204" pitchFamily="34" charset="0"/>
            </a:endParaRPr>
          </a:p>
        </p:txBody>
      </p:sp>
      <p:grpSp>
        <p:nvGrpSpPr>
          <p:cNvPr id="7" name="Group 6"/>
          <p:cNvGrpSpPr/>
          <p:nvPr/>
        </p:nvGrpSpPr>
        <p:grpSpPr bwMode="auto">
          <a:xfrm>
            <a:off x="4253300" y="3635044"/>
            <a:ext cx="1439862" cy="720725"/>
            <a:chOff x="1474" y="2976"/>
            <a:chExt cx="907" cy="454"/>
          </a:xfrm>
        </p:grpSpPr>
        <p:sp>
          <p:nvSpPr>
            <p:cNvPr id="8" name="Rectangle 7"/>
            <p:cNvSpPr>
              <a:spLocks noChangeArrowheads="1"/>
            </p:cNvSpPr>
            <p:nvPr/>
          </p:nvSpPr>
          <p:spPr bwMode="auto">
            <a:xfrm>
              <a:off x="1474" y="2976"/>
              <a:ext cx="862" cy="45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 name="Rectangle 8"/>
            <p:cNvSpPr>
              <a:spLocks noChangeArrowheads="1"/>
            </p:cNvSpPr>
            <p:nvPr/>
          </p:nvSpPr>
          <p:spPr bwMode="auto">
            <a:xfrm>
              <a:off x="1474" y="3022"/>
              <a:ext cx="907"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1">
                  <a:latin typeface="Arial" panose="020B0604020202020204" pitchFamily="34" charset="0"/>
                </a:rPr>
                <a:t>数据定义语言    （</a:t>
              </a:r>
              <a:r>
                <a:rPr lang="en-US" altLang="zh-CN" sz="1600" b="1">
                  <a:latin typeface="Arial" panose="020B0604020202020204" pitchFamily="34" charset="0"/>
                </a:rPr>
                <a:t>DDL</a:t>
              </a:r>
              <a:r>
                <a:rPr lang="zh-CN" altLang="en-US" sz="1600" b="1">
                  <a:latin typeface="Arial" panose="020B0604020202020204" pitchFamily="34" charset="0"/>
                </a:rPr>
                <a:t>）</a:t>
              </a:r>
              <a:endParaRPr lang="zh-CN" altLang="en-US" sz="1600" b="1">
                <a:latin typeface="Arial" panose="020B0604020202020204" pitchFamily="34" charset="0"/>
              </a:endParaRPr>
            </a:p>
          </p:txBody>
        </p:sp>
      </p:grpSp>
      <p:grpSp>
        <p:nvGrpSpPr>
          <p:cNvPr id="10" name="Group 9"/>
          <p:cNvGrpSpPr/>
          <p:nvPr/>
        </p:nvGrpSpPr>
        <p:grpSpPr bwMode="auto">
          <a:xfrm>
            <a:off x="6342450" y="3635044"/>
            <a:ext cx="1552575" cy="720725"/>
            <a:chOff x="2154" y="2750"/>
            <a:chExt cx="978" cy="454"/>
          </a:xfrm>
        </p:grpSpPr>
        <p:sp>
          <p:nvSpPr>
            <p:cNvPr id="11" name="Rectangle 10"/>
            <p:cNvSpPr>
              <a:spLocks noChangeArrowheads="1"/>
            </p:cNvSpPr>
            <p:nvPr/>
          </p:nvSpPr>
          <p:spPr bwMode="auto">
            <a:xfrm>
              <a:off x="2154" y="2750"/>
              <a:ext cx="862" cy="45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2" name="Rectangle 11"/>
            <p:cNvSpPr>
              <a:spLocks noChangeArrowheads="1"/>
            </p:cNvSpPr>
            <p:nvPr/>
          </p:nvSpPr>
          <p:spPr bwMode="auto">
            <a:xfrm>
              <a:off x="2154" y="2795"/>
              <a:ext cx="978"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1">
                  <a:latin typeface="Arial" panose="020B0604020202020204" pitchFamily="34" charset="0"/>
                </a:rPr>
                <a:t>数据操纵语言（</a:t>
              </a:r>
              <a:r>
                <a:rPr lang="en-US" altLang="zh-CN" sz="1600" b="1">
                  <a:latin typeface="Arial" panose="020B0604020202020204" pitchFamily="34" charset="0"/>
                </a:rPr>
                <a:t>DML</a:t>
              </a:r>
              <a:r>
                <a:rPr lang="zh-CN" altLang="en-US" sz="1600" b="1">
                  <a:latin typeface="Arial" panose="020B0604020202020204" pitchFamily="34" charset="0"/>
                </a:rPr>
                <a:t>）</a:t>
              </a:r>
              <a:endParaRPr lang="zh-CN" altLang="en-US" sz="1600" b="1">
                <a:latin typeface="Arial" panose="020B0604020202020204" pitchFamily="34" charset="0"/>
              </a:endParaRPr>
            </a:p>
          </p:txBody>
        </p:sp>
      </p:grpSp>
      <p:grpSp>
        <p:nvGrpSpPr>
          <p:cNvPr id="13" name="Group 12"/>
          <p:cNvGrpSpPr/>
          <p:nvPr/>
        </p:nvGrpSpPr>
        <p:grpSpPr bwMode="auto">
          <a:xfrm>
            <a:off x="8430012" y="3635044"/>
            <a:ext cx="1439863" cy="720725"/>
            <a:chOff x="3833" y="2931"/>
            <a:chExt cx="907" cy="454"/>
          </a:xfrm>
        </p:grpSpPr>
        <p:sp>
          <p:nvSpPr>
            <p:cNvPr id="14" name="Rectangle 13"/>
            <p:cNvSpPr>
              <a:spLocks noChangeArrowheads="1"/>
            </p:cNvSpPr>
            <p:nvPr/>
          </p:nvSpPr>
          <p:spPr bwMode="auto">
            <a:xfrm>
              <a:off x="3833" y="2931"/>
              <a:ext cx="862" cy="45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5" name="Rectangle 14"/>
            <p:cNvSpPr>
              <a:spLocks noChangeArrowheads="1"/>
            </p:cNvSpPr>
            <p:nvPr/>
          </p:nvSpPr>
          <p:spPr bwMode="auto">
            <a:xfrm>
              <a:off x="3833" y="2976"/>
              <a:ext cx="907"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1">
                  <a:latin typeface="Arial" panose="020B0604020202020204" pitchFamily="34" charset="0"/>
                </a:rPr>
                <a:t>数据控制语言（</a:t>
              </a:r>
              <a:r>
                <a:rPr lang="en-US" altLang="zh-CN" sz="1600" b="1">
                  <a:latin typeface="Arial" panose="020B0604020202020204" pitchFamily="34" charset="0"/>
                </a:rPr>
                <a:t>DCL</a:t>
              </a:r>
              <a:r>
                <a:rPr lang="zh-CN" altLang="en-US" sz="1600" b="1">
                  <a:latin typeface="Arial" panose="020B0604020202020204" pitchFamily="34" charset="0"/>
                </a:rPr>
                <a:t>）</a:t>
              </a:r>
              <a:endParaRPr lang="zh-CN" altLang="en-US" sz="1600" b="1">
                <a:latin typeface="Arial" panose="020B0604020202020204" pitchFamily="34" charset="0"/>
              </a:endParaRPr>
            </a:p>
          </p:txBody>
        </p:sp>
      </p:grpSp>
      <p:grpSp>
        <p:nvGrpSpPr>
          <p:cNvPr id="16" name="Group 15"/>
          <p:cNvGrpSpPr/>
          <p:nvPr/>
        </p:nvGrpSpPr>
        <p:grpSpPr bwMode="auto">
          <a:xfrm>
            <a:off x="2094300" y="3635044"/>
            <a:ext cx="1439862" cy="720725"/>
            <a:chOff x="1474" y="2976"/>
            <a:chExt cx="907" cy="454"/>
          </a:xfrm>
        </p:grpSpPr>
        <p:sp>
          <p:nvSpPr>
            <p:cNvPr id="17" name="Rectangle 16"/>
            <p:cNvSpPr>
              <a:spLocks noChangeArrowheads="1"/>
            </p:cNvSpPr>
            <p:nvPr/>
          </p:nvSpPr>
          <p:spPr bwMode="auto">
            <a:xfrm>
              <a:off x="1474" y="2976"/>
              <a:ext cx="862" cy="45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 name="Rectangle 17"/>
            <p:cNvSpPr>
              <a:spLocks noChangeArrowheads="1"/>
            </p:cNvSpPr>
            <p:nvPr/>
          </p:nvSpPr>
          <p:spPr bwMode="auto">
            <a:xfrm>
              <a:off x="1474" y="3022"/>
              <a:ext cx="907"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1">
                  <a:latin typeface="Arial" panose="020B0604020202020204" pitchFamily="34" charset="0"/>
                </a:rPr>
                <a:t>基本表、关系模式</a:t>
              </a:r>
              <a:endParaRPr lang="zh-CN" altLang="en-US" sz="1600" b="1">
                <a:latin typeface="Arial" panose="020B0604020202020204" pitchFamily="34" charset="0"/>
              </a:endParaRPr>
            </a:p>
          </p:txBody>
        </p:sp>
      </p:grpSp>
      <p:grpSp>
        <p:nvGrpSpPr>
          <p:cNvPr id="19" name="Group 18"/>
          <p:cNvGrpSpPr/>
          <p:nvPr/>
        </p:nvGrpSpPr>
        <p:grpSpPr bwMode="auto">
          <a:xfrm>
            <a:off x="2094300" y="4932031"/>
            <a:ext cx="1552575" cy="720725"/>
            <a:chOff x="2154" y="2750"/>
            <a:chExt cx="978" cy="454"/>
          </a:xfrm>
        </p:grpSpPr>
        <p:sp>
          <p:nvSpPr>
            <p:cNvPr id="20" name="Rectangle 19"/>
            <p:cNvSpPr>
              <a:spLocks noChangeArrowheads="1"/>
            </p:cNvSpPr>
            <p:nvPr/>
          </p:nvSpPr>
          <p:spPr bwMode="auto">
            <a:xfrm>
              <a:off x="2154" y="2750"/>
              <a:ext cx="862" cy="45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1" name="Rectangle 20"/>
            <p:cNvSpPr>
              <a:spLocks noChangeArrowheads="1"/>
            </p:cNvSpPr>
            <p:nvPr/>
          </p:nvSpPr>
          <p:spPr bwMode="auto">
            <a:xfrm>
              <a:off x="2154" y="2795"/>
              <a:ext cx="978"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1">
                  <a:latin typeface="Arial" panose="020B0604020202020204" pitchFamily="34" charset="0"/>
                </a:rPr>
                <a:t>提供数据的存放格式</a:t>
              </a:r>
              <a:endParaRPr lang="zh-CN" altLang="en-US" sz="1600" b="1">
                <a:latin typeface="Arial" panose="020B0604020202020204" pitchFamily="34" charset="0"/>
              </a:endParaRPr>
            </a:p>
          </p:txBody>
        </p:sp>
      </p:grpSp>
      <p:grpSp>
        <p:nvGrpSpPr>
          <p:cNvPr id="22" name="Group 21"/>
          <p:cNvGrpSpPr/>
          <p:nvPr/>
        </p:nvGrpSpPr>
        <p:grpSpPr bwMode="auto">
          <a:xfrm>
            <a:off x="4037400" y="4932031"/>
            <a:ext cx="1800225" cy="1223963"/>
            <a:chOff x="3243" y="3022"/>
            <a:chExt cx="1134" cy="771"/>
          </a:xfrm>
        </p:grpSpPr>
        <p:sp>
          <p:nvSpPr>
            <p:cNvPr id="23" name="Rectangle 22"/>
            <p:cNvSpPr>
              <a:spLocks noChangeArrowheads="1"/>
            </p:cNvSpPr>
            <p:nvPr/>
          </p:nvSpPr>
          <p:spPr bwMode="auto">
            <a:xfrm>
              <a:off x="3243" y="3022"/>
              <a:ext cx="1043" cy="77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4" name="Rectangle 23"/>
            <p:cNvSpPr>
              <a:spLocks noChangeArrowheads="1"/>
            </p:cNvSpPr>
            <p:nvPr/>
          </p:nvSpPr>
          <p:spPr bwMode="auto">
            <a:xfrm>
              <a:off x="3243" y="3158"/>
              <a:ext cx="1134"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1">
                  <a:latin typeface="Arial" panose="020B0604020202020204" pitchFamily="34" charset="0"/>
                </a:rPr>
                <a:t>提供数据库、表结构的定义、数据完整性</a:t>
              </a:r>
              <a:endParaRPr lang="zh-CN" altLang="en-US" sz="1600" b="1">
                <a:latin typeface="Arial" panose="020B0604020202020204" pitchFamily="34" charset="0"/>
              </a:endParaRPr>
            </a:p>
          </p:txBody>
        </p:sp>
      </p:grpSp>
      <p:grpSp>
        <p:nvGrpSpPr>
          <p:cNvPr id="25" name="Group 24"/>
          <p:cNvGrpSpPr/>
          <p:nvPr/>
        </p:nvGrpSpPr>
        <p:grpSpPr bwMode="auto">
          <a:xfrm>
            <a:off x="6269425" y="4932031"/>
            <a:ext cx="1655762" cy="1223963"/>
            <a:chOff x="3243" y="3022"/>
            <a:chExt cx="1134" cy="771"/>
          </a:xfrm>
        </p:grpSpPr>
        <p:sp>
          <p:nvSpPr>
            <p:cNvPr id="26" name="Rectangle 25"/>
            <p:cNvSpPr>
              <a:spLocks noChangeArrowheads="1"/>
            </p:cNvSpPr>
            <p:nvPr/>
          </p:nvSpPr>
          <p:spPr bwMode="auto">
            <a:xfrm>
              <a:off x="3243" y="3022"/>
              <a:ext cx="1043" cy="77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 name="Rectangle 26"/>
            <p:cNvSpPr>
              <a:spLocks noChangeArrowheads="1"/>
            </p:cNvSpPr>
            <p:nvPr/>
          </p:nvSpPr>
          <p:spPr bwMode="auto">
            <a:xfrm>
              <a:off x="3243" y="3158"/>
              <a:ext cx="1134"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1">
                  <a:latin typeface="Arial" panose="020B0604020202020204" pitchFamily="34" charset="0"/>
                </a:rPr>
                <a:t>提供对数据库、表结构的查询、修改等操作</a:t>
              </a:r>
              <a:endParaRPr lang="zh-CN" altLang="en-US" sz="1600" b="1">
                <a:latin typeface="Arial" panose="020B0604020202020204" pitchFamily="34" charset="0"/>
              </a:endParaRPr>
            </a:p>
          </p:txBody>
        </p:sp>
      </p:grpSp>
      <p:grpSp>
        <p:nvGrpSpPr>
          <p:cNvPr id="28" name="Group 27"/>
          <p:cNvGrpSpPr/>
          <p:nvPr/>
        </p:nvGrpSpPr>
        <p:grpSpPr bwMode="auto">
          <a:xfrm>
            <a:off x="8214112" y="4932031"/>
            <a:ext cx="1655763" cy="1223963"/>
            <a:chOff x="3243" y="3022"/>
            <a:chExt cx="1134" cy="771"/>
          </a:xfrm>
        </p:grpSpPr>
        <p:sp>
          <p:nvSpPr>
            <p:cNvPr id="29" name="Rectangle 28"/>
            <p:cNvSpPr>
              <a:spLocks noChangeArrowheads="1"/>
            </p:cNvSpPr>
            <p:nvPr/>
          </p:nvSpPr>
          <p:spPr bwMode="auto">
            <a:xfrm>
              <a:off x="3243" y="3022"/>
              <a:ext cx="1043" cy="77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 name="Rectangle 29"/>
            <p:cNvSpPr>
              <a:spLocks noChangeArrowheads="1"/>
            </p:cNvSpPr>
            <p:nvPr/>
          </p:nvSpPr>
          <p:spPr bwMode="auto">
            <a:xfrm>
              <a:off x="3243" y="3158"/>
              <a:ext cx="1134"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1">
                  <a:latin typeface="Arial" panose="020B0604020202020204" pitchFamily="34" charset="0"/>
                </a:rPr>
                <a:t>提供对数据库、表结构的授权等安全操作</a:t>
              </a:r>
              <a:endParaRPr lang="zh-CN" altLang="en-US" sz="1600" b="1">
                <a:latin typeface="Arial" panose="020B0604020202020204" pitchFamily="34" charset="0"/>
              </a:endParaRPr>
            </a:p>
          </p:txBody>
        </p:sp>
      </p:grpSp>
      <p:sp>
        <p:nvSpPr>
          <p:cNvPr id="31" name="Line 30"/>
          <p:cNvSpPr>
            <a:spLocks noChangeShapeType="1"/>
          </p:cNvSpPr>
          <p:nvPr/>
        </p:nvSpPr>
        <p:spPr bwMode="auto">
          <a:xfrm>
            <a:off x="2668975" y="4355769"/>
            <a:ext cx="0" cy="57626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31"/>
          <p:cNvSpPr>
            <a:spLocks noChangeShapeType="1"/>
          </p:cNvSpPr>
          <p:nvPr/>
        </p:nvSpPr>
        <p:spPr bwMode="auto">
          <a:xfrm>
            <a:off x="4902587" y="4355769"/>
            <a:ext cx="0" cy="57626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32"/>
          <p:cNvSpPr>
            <a:spLocks noChangeShapeType="1"/>
          </p:cNvSpPr>
          <p:nvPr/>
        </p:nvSpPr>
        <p:spPr bwMode="auto">
          <a:xfrm>
            <a:off x="7061587" y="4355769"/>
            <a:ext cx="0" cy="57626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33"/>
          <p:cNvSpPr>
            <a:spLocks noChangeShapeType="1"/>
          </p:cNvSpPr>
          <p:nvPr/>
        </p:nvSpPr>
        <p:spPr bwMode="auto">
          <a:xfrm>
            <a:off x="9077712" y="4355769"/>
            <a:ext cx="0" cy="57626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Text Box 34"/>
          <p:cNvSpPr txBox="1">
            <a:spLocks noChangeArrowheads="1"/>
          </p:cNvSpPr>
          <p:nvPr/>
        </p:nvSpPr>
        <p:spPr bwMode="auto">
          <a:xfrm>
            <a:off x="3657987" y="3798556"/>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800" b="1">
                <a:latin typeface="Arial" panose="020B0604020202020204" pitchFamily="34" charset="0"/>
              </a:rPr>
              <a:t>＋</a:t>
            </a:r>
            <a:endParaRPr lang="zh-CN" altLang="en-US" sz="1800" b="1">
              <a:latin typeface="Arial" panose="020B0604020202020204" pitchFamily="34" charset="0"/>
            </a:endParaRPr>
          </a:p>
        </p:txBody>
      </p:sp>
      <p:sp>
        <p:nvSpPr>
          <p:cNvPr id="36" name="Text Box 35"/>
          <p:cNvSpPr txBox="1">
            <a:spLocks noChangeArrowheads="1"/>
          </p:cNvSpPr>
          <p:nvPr/>
        </p:nvSpPr>
        <p:spPr bwMode="auto">
          <a:xfrm>
            <a:off x="5766187" y="3779506"/>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800" b="1">
                <a:latin typeface="Arial" panose="020B0604020202020204" pitchFamily="34" charset="0"/>
              </a:rPr>
              <a:t>＋</a:t>
            </a:r>
            <a:endParaRPr lang="zh-CN" altLang="en-US" sz="1800" b="1">
              <a:latin typeface="Arial" panose="020B0604020202020204" pitchFamily="34" charset="0"/>
            </a:endParaRPr>
          </a:p>
        </p:txBody>
      </p:sp>
      <p:sp>
        <p:nvSpPr>
          <p:cNvPr id="37" name="Text Box 36"/>
          <p:cNvSpPr txBox="1">
            <a:spLocks noChangeArrowheads="1"/>
          </p:cNvSpPr>
          <p:nvPr/>
        </p:nvSpPr>
        <p:spPr bwMode="auto">
          <a:xfrm>
            <a:off x="7853750" y="3779506"/>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800" b="1">
                <a:latin typeface="Arial" panose="020B0604020202020204" pitchFamily="34" charset="0"/>
              </a:rPr>
              <a:t>＋</a:t>
            </a:r>
            <a:endParaRPr lang="zh-CN" altLang="en-US" sz="1800" b="1">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关系模型的优点</a:t>
            </a:r>
            <a:endParaRPr lang="en-US" altLang="zh-CN" dirty="0"/>
          </a:p>
          <a:p>
            <a:pPr lvl="1"/>
            <a:r>
              <a:rPr lang="zh-CN" altLang="en-US" dirty="0"/>
              <a:t>与其它数据模型相比，关系模型突出的优点如下：</a:t>
            </a:r>
            <a:endParaRPr lang="zh-CN" altLang="en-US" dirty="0"/>
          </a:p>
          <a:p>
            <a:pPr lvl="2"/>
            <a:r>
              <a:rPr lang="zh-CN" altLang="en-US" dirty="0"/>
              <a:t>关系模型提供单一的数据结构形式，具有高度的简明性和精确性</a:t>
            </a:r>
            <a:endParaRPr lang="zh-CN" altLang="en-US" dirty="0"/>
          </a:p>
          <a:p>
            <a:pPr lvl="2"/>
            <a:r>
              <a:rPr lang="zh-CN" altLang="en-US" dirty="0"/>
              <a:t>关系模型的逻辑结构和相应的操作完全独立于数据存储方式，具有高度的数据独立性</a:t>
            </a:r>
            <a:endParaRPr lang="zh-CN" altLang="en-US" dirty="0"/>
          </a:p>
          <a:p>
            <a:pPr lvl="2"/>
            <a:r>
              <a:rPr lang="zh-CN" altLang="en-US" dirty="0"/>
              <a:t>关系模型使数据库的研究建立在比较坚实的数学基础上</a:t>
            </a:r>
            <a:endParaRPr lang="zh-CN" altLang="en-US" dirty="0"/>
          </a:p>
          <a:p>
            <a:pPr lvl="2"/>
            <a:r>
              <a:rPr lang="zh-CN" altLang="en-US" dirty="0"/>
              <a:t>关系数据库语言与一阶谓词逻辑的固有内在联系，为以关系数据库为基础的推理系统和知识库系统的研究提供了方便</a:t>
            </a:r>
            <a:endParaRPr lang="zh-CN" altLang="en-US" dirty="0"/>
          </a:p>
          <a:p>
            <a:pPr lvl="2"/>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2.1 </a:t>
            </a:r>
            <a:r>
              <a:rPr lang="zh-CN" altLang="en-US" dirty="0"/>
              <a:t>基本概念</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关系代数的介绍</a:t>
            </a:r>
            <a:endParaRPr lang="en-US" altLang="zh-CN" dirty="0"/>
          </a:p>
          <a:p>
            <a:pPr lvl="1"/>
            <a:r>
              <a:rPr lang="zh-CN" altLang="en-US" dirty="0"/>
              <a:t>关系运算是关系数据库的数学基础，分为关系代数和关系演算两大类</a:t>
            </a:r>
            <a:endParaRPr lang="zh-CN" altLang="en-US" dirty="0"/>
          </a:p>
          <a:p>
            <a:pPr lvl="1"/>
            <a:r>
              <a:rPr lang="zh-CN" altLang="en-US" dirty="0"/>
              <a:t>关系代数中运算对象是关系，运算结果也是关系，运算符包括四类： </a:t>
            </a:r>
            <a:endParaRPr lang="zh-CN" altLang="en-US" dirty="0"/>
          </a:p>
          <a:p>
            <a:pPr lvl="2"/>
            <a:r>
              <a:rPr lang="zh-CN" altLang="en-US" dirty="0"/>
              <a:t>集合运算符：∪</a:t>
            </a:r>
            <a:r>
              <a:rPr lang="en-US" altLang="zh-CN" dirty="0"/>
              <a:t>(</a:t>
            </a:r>
            <a:r>
              <a:rPr lang="zh-CN" altLang="en-US" dirty="0"/>
              <a:t>并</a:t>
            </a:r>
            <a:r>
              <a:rPr lang="en-US" altLang="zh-CN" dirty="0"/>
              <a:t>)</a:t>
            </a:r>
            <a:r>
              <a:rPr lang="zh-CN" altLang="en-US" dirty="0"/>
              <a:t>，</a:t>
            </a:r>
            <a:r>
              <a:rPr lang="en-US" altLang="zh-CN" dirty="0"/>
              <a:t>-(</a:t>
            </a:r>
            <a:r>
              <a:rPr lang="zh-CN" altLang="en-US" dirty="0"/>
              <a:t>差</a:t>
            </a:r>
            <a:r>
              <a:rPr lang="en-US" altLang="zh-CN" dirty="0"/>
              <a:t>)</a:t>
            </a:r>
            <a:r>
              <a:rPr lang="zh-CN" altLang="en-US" dirty="0"/>
              <a:t>，∩</a:t>
            </a:r>
            <a:r>
              <a:rPr lang="en-US" altLang="zh-CN" dirty="0"/>
              <a:t>(</a:t>
            </a:r>
            <a:r>
              <a:rPr lang="zh-CN" altLang="en-US" dirty="0"/>
              <a:t>交</a:t>
            </a:r>
            <a:r>
              <a:rPr lang="en-US" altLang="zh-CN" dirty="0"/>
              <a:t>)</a:t>
            </a:r>
            <a:r>
              <a:rPr lang="zh-CN" altLang="en-US" dirty="0"/>
              <a:t>，</a:t>
            </a:r>
            <a:r>
              <a:rPr lang="en-US" altLang="zh-CN" dirty="0"/>
              <a:t>×(</a:t>
            </a:r>
            <a:r>
              <a:rPr lang="zh-CN" altLang="en-US" dirty="0"/>
              <a:t>广义笛卡尔积</a:t>
            </a:r>
            <a:r>
              <a:rPr lang="en-US" altLang="zh-CN" dirty="0"/>
              <a:t>) </a:t>
            </a:r>
            <a:endParaRPr lang="en-US" altLang="zh-CN" dirty="0"/>
          </a:p>
          <a:p>
            <a:pPr lvl="2"/>
            <a:r>
              <a:rPr lang="zh-CN" altLang="en-US" dirty="0"/>
              <a:t>专门的关系运算符：</a:t>
            </a:r>
            <a:r>
              <a:rPr lang="en-US" altLang="zh-CN" dirty="0"/>
              <a:t>σ(</a:t>
            </a:r>
            <a:r>
              <a:rPr lang="zh-CN" altLang="en-US" dirty="0"/>
              <a:t>选择</a:t>
            </a:r>
            <a:r>
              <a:rPr lang="en-US" altLang="zh-CN" dirty="0"/>
              <a:t>)</a:t>
            </a:r>
            <a:r>
              <a:rPr lang="zh-CN" altLang="en-US" dirty="0"/>
              <a:t>，</a:t>
            </a:r>
            <a:r>
              <a:rPr lang="en-US" altLang="zh-CN" dirty="0"/>
              <a:t>π(</a:t>
            </a:r>
            <a:r>
              <a:rPr lang="zh-CN" altLang="en-US" dirty="0"/>
              <a:t>投影</a:t>
            </a:r>
            <a:r>
              <a:rPr lang="en-US" altLang="zh-CN" dirty="0"/>
              <a:t>)</a:t>
            </a:r>
            <a:r>
              <a:rPr lang="zh-CN" altLang="en-US" dirty="0"/>
              <a:t>，⋈</a:t>
            </a:r>
            <a:r>
              <a:rPr lang="en-US" altLang="zh-CN" dirty="0"/>
              <a:t>(</a:t>
            </a:r>
            <a:r>
              <a:rPr lang="zh-CN" altLang="en-US" dirty="0"/>
              <a:t>连接</a:t>
            </a:r>
            <a:r>
              <a:rPr lang="en-US" altLang="zh-CN" dirty="0"/>
              <a:t>)</a:t>
            </a:r>
            <a:r>
              <a:rPr lang="zh-CN" altLang="en-US" dirty="0"/>
              <a:t>，</a:t>
            </a:r>
            <a:r>
              <a:rPr lang="en-US" altLang="zh-CN" dirty="0"/>
              <a:t>÷(</a:t>
            </a:r>
            <a:r>
              <a:rPr lang="zh-CN" altLang="en-US" dirty="0"/>
              <a:t>除</a:t>
            </a:r>
            <a:r>
              <a:rPr lang="en-US" altLang="zh-CN" dirty="0"/>
              <a:t>) </a:t>
            </a:r>
            <a:endParaRPr lang="en-US" altLang="zh-CN" dirty="0"/>
          </a:p>
          <a:p>
            <a:pPr lvl="2"/>
            <a:r>
              <a:rPr lang="zh-CN" altLang="en-US" dirty="0"/>
              <a:t>算术比较符：</a:t>
            </a:r>
            <a:r>
              <a:rPr lang="en-US" altLang="zh-CN" dirty="0"/>
              <a:t>&gt;(</a:t>
            </a:r>
            <a:r>
              <a:rPr lang="zh-CN" altLang="en-US" dirty="0"/>
              <a:t>大于</a:t>
            </a:r>
            <a:r>
              <a:rPr lang="en-US" altLang="zh-CN" dirty="0"/>
              <a:t>)</a:t>
            </a:r>
            <a:r>
              <a:rPr lang="zh-CN" altLang="en-US" dirty="0"/>
              <a:t>，≥</a:t>
            </a:r>
            <a:r>
              <a:rPr lang="en-US" altLang="zh-CN" dirty="0"/>
              <a:t>(</a:t>
            </a:r>
            <a:r>
              <a:rPr lang="zh-CN" altLang="en-US" dirty="0"/>
              <a:t>大于等于</a:t>
            </a:r>
            <a:r>
              <a:rPr lang="en-US" altLang="zh-CN" dirty="0"/>
              <a:t>)</a:t>
            </a:r>
            <a:r>
              <a:rPr lang="zh-CN" altLang="en-US" dirty="0"/>
              <a:t>，</a:t>
            </a:r>
            <a:r>
              <a:rPr lang="en-US" altLang="zh-CN" dirty="0"/>
              <a:t>&lt;(</a:t>
            </a:r>
            <a:r>
              <a:rPr lang="zh-CN" altLang="en-US" dirty="0"/>
              <a:t>小于</a:t>
            </a:r>
            <a:r>
              <a:rPr lang="en-US" altLang="zh-CN" dirty="0"/>
              <a:t>)</a:t>
            </a:r>
            <a:r>
              <a:rPr lang="zh-CN" altLang="en-US" dirty="0"/>
              <a:t>，≤</a:t>
            </a:r>
            <a:r>
              <a:rPr lang="en-US" altLang="zh-CN" dirty="0"/>
              <a:t>(</a:t>
            </a:r>
            <a:r>
              <a:rPr lang="zh-CN" altLang="en-US" dirty="0"/>
              <a:t>小于等于</a:t>
            </a:r>
            <a:r>
              <a:rPr lang="en-US" altLang="zh-CN" dirty="0"/>
              <a:t>)</a:t>
            </a:r>
            <a:r>
              <a:rPr lang="zh-CN" altLang="en-US" dirty="0"/>
              <a:t>，</a:t>
            </a:r>
            <a:r>
              <a:rPr lang="en-US" altLang="zh-CN" dirty="0"/>
              <a:t>=(</a:t>
            </a:r>
            <a:r>
              <a:rPr lang="zh-CN" altLang="en-US" dirty="0"/>
              <a:t>等于</a:t>
            </a:r>
            <a:r>
              <a:rPr lang="en-US" altLang="zh-CN" dirty="0"/>
              <a:t>)</a:t>
            </a:r>
            <a:r>
              <a:rPr lang="zh-CN" altLang="en-US" dirty="0"/>
              <a:t>，≠</a:t>
            </a:r>
            <a:r>
              <a:rPr lang="en-US" altLang="zh-CN" dirty="0"/>
              <a:t>(</a:t>
            </a:r>
            <a:r>
              <a:rPr lang="zh-CN" altLang="en-US" dirty="0"/>
              <a:t>不等于</a:t>
            </a:r>
            <a:r>
              <a:rPr lang="en-US" altLang="zh-CN" dirty="0"/>
              <a:t>) </a:t>
            </a:r>
            <a:endParaRPr lang="en-US" altLang="zh-CN" dirty="0"/>
          </a:p>
          <a:p>
            <a:pPr lvl="2"/>
            <a:r>
              <a:rPr lang="zh-CN" altLang="en-US" dirty="0"/>
              <a:t>逻辑运算符：∧</a:t>
            </a:r>
            <a:r>
              <a:rPr lang="en-US" altLang="zh-CN" dirty="0"/>
              <a:t>(</a:t>
            </a:r>
            <a:r>
              <a:rPr lang="zh-CN" altLang="en-US" dirty="0"/>
              <a:t>与</a:t>
            </a:r>
            <a:r>
              <a:rPr lang="en-US" altLang="zh-CN" dirty="0"/>
              <a:t>),∨(</a:t>
            </a:r>
            <a:r>
              <a:rPr lang="zh-CN" altLang="en-US" dirty="0"/>
              <a:t>或</a:t>
            </a:r>
            <a:r>
              <a:rPr lang="en-US" altLang="zh-CN" dirty="0"/>
              <a:t>),┐(</a:t>
            </a:r>
            <a:r>
              <a:rPr lang="zh-CN" altLang="en-US" dirty="0"/>
              <a:t>非</a:t>
            </a:r>
            <a:r>
              <a:rPr lang="en-US" altLang="zh-CN" dirty="0"/>
              <a:t>) </a:t>
            </a:r>
            <a:endParaRPr lang="en-US" altLang="zh-CN" dirty="0"/>
          </a:p>
          <a:p>
            <a:pPr lvl="2"/>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传统的集合运算</a:t>
                </a:r>
                <a:endParaRPr lang="en-US" altLang="zh-CN" dirty="0"/>
              </a:p>
              <a:p>
                <a:pPr lvl="1"/>
                <a:r>
                  <a:rPr lang="zh-CN" altLang="en-US" dirty="0"/>
                  <a:t>并（</a:t>
                </a:r>
                <a:r>
                  <a:rPr lang="en-US" altLang="zh-CN" dirty="0"/>
                  <a:t>union</a:t>
                </a:r>
                <a:r>
                  <a:rPr lang="zh-CN" altLang="en-US" dirty="0"/>
                  <a:t>）</a:t>
                </a:r>
                <a:endParaRPr lang="zh-CN" altLang="en-US" dirty="0"/>
              </a:p>
              <a:p>
                <a:pPr lvl="2"/>
                <a:r>
                  <a:rPr lang="en-US" altLang="zh-CN" dirty="0"/>
                  <a:t>R</a:t>
                </a:r>
                <a:r>
                  <a:rPr lang="zh-CN" altLang="en-US" dirty="0"/>
                  <a:t>、</a:t>
                </a:r>
                <a:r>
                  <a:rPr lang="en-US" altLang="zh-CN" dirty="0"/>
                  <a:t>S</a:t>
                </a:r>
                <a:r>
                  <a:rPr lang="zh-CN" altLang="en-US" dirty="0"/>
                  <a:t>都是</a:t>
                </a:r>
                <a:r>
                  <a:rPr lang="en-US" altLang="zh-CN" dirty="0"/>
                  <a:t>n</a:t>
                </a:r>
                <a:r>
                  <a:rPr lang="zh-CN" altLang="en-US" dirty="0"/>
                  <a:t>元关系，且各自的对应属性具有相同的域，则关系</a:t>
                </a:r>
                <a:r>
                  <a:rPr lang="en-US" altLang="zh-CN" dirty="0"/>
                  <a:t>R</a:t>
                </a:r>
                <a:r>
                  <a:rPr lang="zh-CN" altLang="en-US" dirty="0"/>
                  <a:t>和</a:t>
                </a:r>
                <a:r>
                  <a:rPr lang="en-US" altLang="zh-CN" dirty="0"/>
                  <a:t>S</a:t>
                </a:r>
                <a:r>
                  <a:rPr lang="zh-CN" altLang="en-US" dirty="0"/>
                  <a:t>并的结果</a:t>
                </a:r>
                <a:r>
                  <a:rPr lang="en-US" altLang="zh-CN" dirty="0"/>
                  <a:t>R∪S</a:t>
                </a:r>
                <a:r>
                  <a:rPr lang="zh-CN" altLang="en-US" dirty="0"/>
                  <a:t>仍为</a:t>
                </a:r>
                <a:r>
                  <a:rPr lang="en-US" altLang="zh-CN" dirty="0"/>
                  <a:t>n</a:t>
                </a:r>
                <a:r>
                  <a:rPr lang="zh-CN" altLang="en-US" dirty="0"/>
                  <a:t>元关系，表示为：</a:t>
                </a:r>
                <a:endParaRPr lang="en-US" altLang="zh-CN" dirty="0"/>
              </a:p>
              <a:p>
                <a:pPr marL="914400" lvl="2"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𝑅</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𝑡</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𝑡</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𝑡</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oMath>
                  </m:oMathPara>
                </a14:m>
                <a:endParaRPr lang="zh-CN" altLang="en-US" dirty="0"/>
              </a:p>
              <a:p>
                <a:pPr lvl="2"/>
                <a:r>
                  <a:rPr lang="zh-CN" altLang="en-US" dirty="0"/>
                  <a:t>满足并运算要求的两个关系是“</a:t>
                </a:r>
                <a:r>
                  <a:rPr lang="zh-CN" altLang="en-US" dirty="0">
                    <a:solidFill>
                      <a:srgbClr val="C00000"/>
                    </a:solidFill>
                  </a:rPr>
                  <a:t>并兼容</a:t>
                </a:r>
                <a:r>
                  <a:rPr lang="zh-CN" altLang="en-US" dirty="0"/>
                  <a:t>”的</a:t>
                </a:r>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grpSp>
        <p:nvGrpSpPr>
          <p:cNvPr id="6" name="Group 14"/>
          <p:cNvGrpSpPr/>
          <p:nvPr/>
        </p:nvGrpSpPr>
        <p:grpSpPr bwMode="auto">
          <a:xfrm>
            <a:off x="3952008" y="4229836"/>
            <a:ext cx="4343400" cy="1643062"/>
            <a:chOff x="1369" y="2819"/>
            <a:chExt cx="2736" cy="1035"/>
          </a:xfrm>
        </p:grpSpPr>
        <p:sp>
          <p:nvSpPr>
            <p:cNvPr id="7" name="Rectangle 5"/>
            <p:cNvSpPr>
              <a:spLocks noChangeArrowheads="1"/>
            </p:cNvSpPr>
            <p:nvPr/>
          </p:nvSpPr>
          <p:spPr bwMode="auto">
            <a:xfrm>
              <a:off x="1601" y="2894"/>
              <a:ext cx="747" cy="28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 name="Rectangle 6"/>
            <p:cNvSpPr>
              <a:spLocks noChangeArrowheads="1"/>
            </p:cNvSpPr>
            <p:nvPr/>
          </p:nvSpPr>
          <p:spPr bwMode="auto">
            <a:xfrm>
              <a:off x="1601" y="3406"/>
              <a:ext cx="747" cy="448"/>
            </a:xfrm>
            <a:prstGeom prst="rect">
              <a:avLst/>
            </a:prstGeom>
            <a:solidFill>
              <a:srgbClr val="CC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 name="Rectangle 7"/>
            <p:cNvSpPr>
              <a:spLocks noChangeArrowheads="1"/>
            </p:cNvSpPr>
            <p:nvPr/>
          </p:nvSpPr>
          <p:spPr bwMode="auto">
            <a:xfrm>
              <a:off x="3358" y="3022"/>
              <a:ext cx="747" cy="289"/>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 name="Rectangle 8"/>
            <p:cNvSpPr>
              <a:spLocks noChangeArrowheads="1"/>
            </p:cNvSpPr>
            <p:nvPr/>
          </p:nvSpPr>
          <p:spPr bwMode="auto">
            <a:xfrm>
              <a:off x="3358" y="3311"/>
              <a:ext cx="747" cy="448"/>
            </a:xfrm>
            <a:prstGeom prst="rect">
              <a:avLst/>
            </a:prstGeom>
            <a:solidFill>
              <a:srgbClr val="CC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1" name="AutoShape 9"/>
            <p:cNvSpPr>
              <a:spLocks noChangeArrowheads="1"/>
            </p:cNvSpPr>
            <p:nvPr/>
          </p:nvSpPr>
          <p:spPr bwMode="auto">
            <a:xfrm>
              <a:off x="2523" y="3278"/>
              <a:ext cx="660" cy="96"/>
            </a:xfrm>
            <a:prstGeom prst="rightArrow">
              <a:avLst>
                <a:gd name="adj1" fmla="val 50000"/>
                <a:gd name="adj2" fmla="val 171875"/>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2" name="Text Box 10"/>
            <p:cNvSpPr txBox="1">
              <a:spLocks noChangeArrowheads="1"/>
            </p:cNvSpPr>
            <p:nvPr/>
          </p:nvSpPr>
          <p:spPr bwMode="auto">
            <a:xfrm>
              <a:off x="1369" y="2862"/>
              <a:ext cx="22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a:latin typeface="Arial" panose="020B0604020202020204" pitchFamily="34" charset="0"/>
                </a:rPr>
                <a:t>R</a:t>
              </a:r>
              <a:endParaRPr lang="en-US" altLang="zh-CN" sz="2000" b="1">
                <a:latin typeface="Arial" panose="020B0604020202020204" pitchFamily="34" charset="0"/>
              </a:endParaRPr>
            </a:p>
          </p:txBody>
        </p:sp>
        <p:sp>
          <p:nvSpPr>
            <p:cNvPr id="13" name="Text Box 11"/>
            <p:cNvSpPr txBox="1">
              <a:spLocks noChangeArrowheads="1"/>
            </p:cNvSpPr>
            <p:nvPr/>
          </p:nvSpPr>
          <p:spPr bwMode="auto">
            <a:xfrm>
              <a:off x="1382" y="3374"/>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a:latin typeface="Arial" panose="020B0604020202020204" pitchFamily="34" charset="0"/>
                </a:rPr>
                <a:t>S</a:t>
              </a:r>
              <a:endParaRPr lang="en-US" altLang="zh-CN" sz="2000" b="1">
                <a:latin typeface="Arial" panose="020B0604020202020204" pitchFamily="34" charset="0"/>
              </a:endParaRPr>
            </a:p>
          </p:txBody>
        </p:sp>
        <p:sp>
          <p:nvSpPr>
            <p:cNvPr id="14" name="Text Box 12"/>
            <p:cNvSpPr txBox="1">
              <a:spLocks noChangeArrowheads="1"/>
            </p:cNvSpPr>
            <p:nvPr/>
          </p:nvSpPr>
          <p:spPr bwMode="auto">
            <a:xfrm>
              <a:off x="2648" y="3044"/>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2400" b="1">
                  <a:latin typeface="Times New Roman" panose="02020603050405020304" pitchFamily="18" charset="0"/>
                </a:rPr>
                <a:t>∪</a:t>
              </a:r>
              <a:endParaRPr lang="zh-CN" altLang="en-US" sz="2400" b="1">
                <a:latin typeface="Times New Roman" panose="02020603050405020304" pitchFamily="18" charset="0"/>
              </a:endParaRPr>
            </a:p>
          </p:txBody>
        </p:sp>
        <p:sp>
          <p:nvSpPr>
            <p:cNvPr id="15" name="Rectangle 13"/>
            <p:cNvSpPr>
              <a:spLocks noChangeArrowheads="1"/>
            </p:cNvSpPr>
            <p:nvPr/>
          </p:nvSpPr>
          <p:spPr bwMode="auto">
            <a:xfrm>
              <a:off x="3490" y="2819"/>
              <a:ext cx="5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a:latin typeface="Arial" panose="020B0604020202020204" pitchFamily="34" charset="0"/>
                </a:rPr>
                <a:t>R∪S</a:t>
              </a:r>
              <a:endParaRPr lang="en-US" altLang="zh-CN" sz="2000" b="1">
                <a:latin typeface="Arial" panose="020B0604020202020204" pitchFamily="34" charset="0"/>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传统的集合运算</a:t>
                </a:r>
                <a:endParaRPr lang="en-US" altLang="zh-CN" dirty="0"/>
              </a:p>
              <a:p>
                <a:pPr lvl="1"/>
                <a:r>
                  <a:rPr lang="zh-CN" altLang="en-US" dirty="0"/>
                  <a:t>差（</a:t>
                </a:r>
                <a:r>
                  <a:rPr lang="en-US" altLang="zh-CN" dirty="0"/>
                  <a:t>difference</a:t>
                </a:r>
                <a:r>
                  <a:rPr lang="zh-CN" altLang="en-US" dirty="0"/>
                  <a:t>）</a:t>
                </a:r>
                <a:endParaRPr lang="zh-CN" altLang="en-US" dirty="0"/>
              </a:p>
              <a:p>
                <a:pPr lvl="2"/>
                <a:r>
                  <a:rPr lang="en-US" altLang="zh-CN" dirty="0"/>
                  <a:t>R</a:t>
                </a:r>
                <a:r>
                  <a:rPr lang="zh-CN" altLang="en-US" dirty="0"/>
                  <a:t>和</a:t>
                </a:r>
                <a:r>
                  <a:rPr lang="en-US" altLang="zh-CN" dirty="0"/>
                  <a:t>S</a:t>
                </a:r>
                <a:r>
                  <a:rPr lang="zh-CN" altLang="en-US" dirty="0"/>
                  <a:t>是并兼容的</a:t>
                </a:r>
                <a:r>
                  <a:rPr lang="en-US" altLang="zh-CN" dirty="0"/>
                  <a:t>n</a:t>
                </a:r>
                <a:r>
                  <a:rPr lang="zh-CN" altLang="en-US" dirty="0"/>
                  <a:t>元关系，</a:t>
                </a:r>
                <a:r>
                  <a:rPr lang="en-US" altLang="zh-CN" dirty="0"/>
                  <a:t>R</a:t>
                </a:r>
                <a:r>
                  <a:rPr lang="zh-CN" altLang="en-US" dirty="0"/>
                  <a:t>与</a:t>
                </a:r>
                <a:r>
                  <a:rPr lang="en-US" altLang="zh-CN" dirty="0"/>
                  <a:t>S</a:t>
                </a:r>
                <a:r>
                  <a:rPr lang="zh-CN" altLang="en-US" dirty="0"/>
                  <a:t>的差</a:t>
                </a:r>
                <a:r>
                  <a:rPr lang="en-US" altLang="zh-CN" dirty="0"/>
                  <a:t>R</a:t>
                </a:r>
                <a:r>
                  <a:rPr lang="zh-CN" altLang="en-US" dirty="0"/>
                  <a:t>－</a:t>
                </a:r>
                <a:r>
                  <a:rPr lang="en-US" altLang="zh-CN" dirty="0"/>
                  <a:t>S</a:t>
                </a:r>
                <a:r>
                  <a:rPr lang="zh-CN" altLang="en-US" dirty="0"/>
                  <a:t>仍为</a:t>
                </a:r>
                <a:r>
                  <a:rPr lang="en-US" altLang="zh-CN" dirty="0"/>
                  <a:t>n</a:t>
                </a:r>
                <a:r>
                  <a:rPr lang="zh-CN" altLang="en-US" dirty="0"/>
                  <a:t>元关系，表示为：</a:t>
                </a:r>
                <a14:m>
                  <m:oMath xmlns:m="http://schemas.openxmlformats.org/officeDocument/2006/math">
                    <m:r>
                      <a:rPr lang="en-US" altLang="zh-CN" i="1" dirty="0" smtClean="0">
                        <a:latin typeface="Cambria Math" panose="02040503050406030204" pitchFamily="18" charset="0"/>
                      </a:rPr>
                      <m:t>𝑅</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𝑆</m:t>
                    </m:r>
                    <m:r>
                      <a:rPr lang="zh-CN" altLang="en-US" i="1" dirty="0" smtClean="0">
                        <a:latin typeface="Cambria Math" panose="02040503050406030204" pitchFamily="18" charset="0"/>
                      </a:rPr>
                      <m:t>＝</m:t>
                    </m:r>
                    <m:d>
                      <m:dPr>
                        <m:begChr m:val="{"/>
                        <m:endChr m:val="|"/>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𝑡</m:t>
                        </m:r>
                      </m:e>
                    </m:d>
                    <m:r>
                      <a:rPr lang="en-US" altLang="zh-CN" i="1" dirty="0" err="1" smtClean="0">
                        <a:latin typeface="Cambria Math" panose="02040503050406030204" pitchFamily="18" charset="0"/>
                      </a:rPr>
                      <m:t>𝑡</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𝑅</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𝑡</m:t>
                    </m:r>
                    <m:r>
                      <a:rPr lang="en-US" altLang="zh-CN" b="0" i="1" dirty="0" smtClean="0">
                        <a:latin typeface="Cambria Math" panose="02040503050406030204" pitchFamily="18" charset="0"/>
                      </a:rPr>
                      <m:t>∉</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  </m:t>
                    </m:r>
                  </m:oMath>
                </a14:m>
                <a:r>
                  <a:rPr lang="zh-CN" altLang="en-US" dirty="0"/>
                  <a:t>即</a:t>
                </a:r>
                <a:r>
                  <a:rPr lang="en-US" altLang="zh-CN" dirty="0"/>
                  <a:t>R</a:t>
                </a:r>
                <a:r>
                  <a:rPr lang="zh-CN" altLang="en-US" dirty="0"/>
                  <a:t>－</a:t>
                </a:r>
                <a:r>
                  <a:rPr lang="en-US" altLang="zh-CN" dirty="0"/>
                  <a:t>S</a:t>
                </a:r>
                <a:r>
                  <a:rPr lang="zh-CN" altLang="en-US" dirty="0"/>
                  <a:t>由那些仅出现在</a:t>
                </a:r>
                <a:r>
                  <a:rPr lang="en-US" altLang="zh-CN" dirty="0"/>
                  <a:t>R</a:t>
                </a:r>
                <a:r>
                  <a:rPr lang="zh-CN" altLang="en-US" dirty="0"/>
                  <a:t>中且不出现在</a:t>
                </a:r>
                <a:r>
                  <a:rPr lang="en-US" altLang="zh-CN" dirty="0"/>
                  <a:t>S</a:t>
                </a:r>
                <a:r>
                  <a:rPr lang="zh-CN" altLang="en-US" dirty="0"/>
                  <a:t>中的元组构成</a:t>
                </a:r>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grpSp>
        <p:nvGrpSpPr>
          <p:cNvPr id="6" name="Group 11"/>
          <p:cNvGrpSpPr/>
          <p:nvPr/>
        </p:nvGrpSpPr>
        <p:grpSpPr bwMode="auto">
          <a:xfrm>
            <a:off x="3304308" y="3320508"/>
            <a:ext cx="5638800" cy="2597150"/>
            <a:chOff x="735" y="2202"/>
            <a:chExt cx="3552" cy="1636"/>
          </a:xfrm>
        </p:grpSpPr>
        <p:sp>
          <p:nvSpPr>
            <p:cNvPr id="7" name="Rectangle 12"/>
            <p:cNvSpPr>
              <a:spLocks noChangeArrowheads="1"/>
            </p:cNvSpPr>
            <p:nvPr/>
          </p:nvSpPr>
          <p:spPr bwMode="auto">
            <a:xfrm>
              <a:off x="1020" y="2251"/>
              <a:ext cx="953" cy="1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 name="Rectangle 13"/>
            <p:cNvSpPr>
              <a:spLocks noChangeArrowheads="1"/>
            </p:cNvSpPr>
            <p:nvPr/>
          </p:nvSpPr>
          <p:spPr bwMode="auto">
            <a:xfrm>
              <a:off x="1020" y="3158"/>
              <a:ext cx="953" cy="680"/>
            </a:xfrm>
            <a:prstGeom prst="rect">
              <a:avLst/>
            </a:prstGeom>
            <a:solidFill>
              <a:srgbClr val="CC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 name="Rectangle 14"/>
            <p:cNvSpPr>
              <a:spLocks noChangeArrowheads="1"/>
            </p:cNvSpPr>
            <p:nvPr/>
          </p:nvSpPr>
          <p:spPr bwMode="auto">
            <a:xfrm>
              <a:off x="1020" y="2387"/>
              <a:ext cx="953" cy="136"/>
            </a:xfrm>
            <a:prstGeom prst="rect">
              <a:avLst/>
            </a:prstGeom>
            <a:solidFill>
              <a:srgbClr val="CC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 name="Rectangle 15"/>
            <p:cNvSpPr>
              <a:spLocks noChangeArrowheads="1"/>
            </p:cNvSpPr>
            <p:nvPr/>
          </p:nvSpPr>
          <p:spPr bwMode="auto">
            <a:xfrm>
              <a:off x="1020" y="2523"/>
              <a:ext cx="953" cy="1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1" name="Rectangle 16"/>
            <p:cNvSpPr>
              <a:spLocks noChangeArrowheads="1"/>
            </p:cNvSpPr>
            <p:nvPr/>
          </p:nvSpPr>
          <p:spPr bwMode="auto">
            <a:xfrm>
              <a:off x="1020" y="2659"/>
              <a:ext cx="953" cy="1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2" name="Rectangle 17"/>
            <p:cNvSpPr>
              <a:spLocks noChangeArrowheads="1"/>
            </p:cNvSpPr>
            <p:nvPr/>
          </p:nvSpPr>
          <p:spPr bwMode="auto">
            <a:xfrm>
              <a:off x="1020" y="2795"/>
              <a:ext cx="953" cy="136"/>
            </a:xfrm>
            <a:prstGeom prst="rect">
              <a:avLst/>
            </a:prstGeom>
            <a:solidFill>
              <a:srgbClr val="CC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3" name="Line 18"/>
            <p:cNvSpPr>
              <a:spLocks noChangeShapeType="1"/>
            </p:cNvSpPr>
            <p:nvPr/>
          </p:nvSpPr>
          <p:spPr bwMode="auto">
            <a:xfrm>
              <a:off x="1020" y="3294"/>
              <a:ext cx="95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9"/>
            <p:cNvSpPr>
              <a:spLocks noChangeShapeType="1"/>
            </p:cNvSpPr>
            <p:nvPr/>
          </p:nvSpPr>
          <p:spPr bwMode="auto">
            <a:xfrm>
              <a:off x="1020" y="3430"/>
              <a:ext cx="95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20"/>
            <p:cNvSpPr>
              <a:spLocks noChangeShapeType="1"/>
            </p:cNvSpPr>
            <p:nvPr/>
          </p:nvSpPr>
          <p:spPr bwMode="auto">
            <a:xfrm>
              <a:off x="1020" y="3566"/>
              <a:ext cx="95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Text Box 21"/>
            <p:cNvSpPr txBox="1">
              <a:spLocks noChangeArrowheads="1"/>
            </p:cNvSpPr>
            <p:nvPr/>
          </p:nvSpPr>
          <p:spPr bwMode="auto">
            <a:xfrm>
              <a:off x="735" y="2202"/>
              <a:ext cx="2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a:latin typeface="Arial" panose="020B0604020202020204" pitchFamily="34" charset="0"/>
                </a:rPr>
                <a:t>R</a:t>
              </a:r>
              <a:endParaRPr lang="en-US" altLang="zh-CN" sz="2000" b="1">
                <a:latin typeface="Arial" panose="020B0604020202020204" pitchFamily="34" charset="0"/>
              </a:endParaRPr>
            </a:p>
          </p:txBody>
        </p:sp>
        <p:sp>
          <p:nvSpPr>
            <p:cNvPr id="17" name="Text Box 22"/>
            <p:cNvSpPr txBox="1">
              <a:spLocks noChangeArrowheads="1"/>
            </p:cNvSpPr>
            <p:nvPr/>
          </p:nvSpPr>
          <p:spPr bwMode="auto">
            <a:xfrm>
              <a:off x="748" y="3158"/>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a:latin typeface="Arial" panose="020B0604020202020204" pitchFamily="34" charset="0"/>
                </a:rPr>
                <a:t>S</a:t>
              </a:r>
              <a:endParaRPr lang="en-US" altLang="zh-CN" sz="2000" b="1">
                <a:latin typeface="Arial" panose="020B0604020202020204" pitchFamily="34" charset="0"/>
              </a:endParaRPr>
            </a:p>
          </p:txBody>
        </p:sp>
        <p:sp>
          <p:nvSpPr>
            <p:cNvPr id="18" name="Line 23"/>
            <p:cNvSpPr>
              <a:spLocks noChangeShapeType="1"/>
            </p:cNvSpPr>
            <p:nvPr/>
          </p:nvSpPr>
          <p:spPr bwMode="auto">
            <a:xfrm>
              <a:off x="1020" y="3702"/>
              <a:ext cx="95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AutoShape 24"/>
            <p:cNvSpPr>
              <a:spLocks noChangeArrowheads="1"/>
            </p:cNvSpPr>
            <p:nvPr/>
          </p:nvSpPr>
          <p:spPr bwMode="auto">
            <a:xfrm>
              <a:off x="2336" y="2976"/>
              <a:ext cx="681" cy="137"/>
            </a:xfrm>
            <a:prstGeom prst="rightArrow">
              <a:avLst>
                <a:gd name="adj1" fmla="val 50000"/>
                <a:gd name="adj2" fmla="val 124270"/>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0" name="Text Box 25"/>
            <p:cNvSpPr txBox="1">
              <a:spLocks noChangeArrowheads="1"/>
            </p:cNvSpPr>
            <p:nvPr/>
          </p:nvSpPr>
          <p:spPr bwMode="auto">
            <a:xfrm>
              <a:off x="2473" y="2704"/>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2400" b="1">
                  <a:latin typeface="Arial" panose="020B0604020202020204" pitchFamily="34" charset="0"/>
                </a:rPr>
                <a:t>－</a:t>
              </a:r>
              <a:endParaRPr lang="zh-CN" altLang="en-US" sz="2400" b="1">
                <a:latin typeface="Arial" panose="020B0604020202020204" pitchFamily="34" charset="0"/>
              </a:endParaRPr>
            </a:p>
          </p:txBody>
        </p:sp>
        <p:sp>
          <p:nvSpPr>
            <p:cNvPr id="21" name="Rectangle 26"/>
            <p:cNvSpPr>
              <a:spLocks noChangeArrowheads="1"/>
            </p:cNvSpPr>
            <p:nvPr/>
          </p:nvSpPr>
          <p:spPr bwMode="auto">
            <a:xfrm>
              <a:off x="3334" y="2785"/>
              <a:ext cx="953" cy="55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2" name="Line 27"/>
            <p:cNvSpPr>
              <a:spLocks noChangeShapeType="1"/>
            </p:cNvSpPr>
            <p:nvPr/>
          </p:nvSpPr>
          <p:spPr bwMode="auto">
            <a:xfrm>
              <a:off x="3334" y="2921"/>
              <a:ext cx="95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28"/>
            <p:cNvSpPr>
              <a:spLocks noChangeShapeType="1"/>
            </p:cNvSpPr>
            <p:nvPr/>
          </p:nvSpPr>
          <p:spPr bwMode="auto">
            <a:xfrm>
              <a:off x="3334" y="3057"/>
              <a:ext cx="95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Text Box 29"/>
            <p:cNvSpPr txBox="1">
              <a:spLocks noChangeArrowheads="1"/>
            </p:cNvSpPr>
            <p:nvPr/>
          </p:nvSpPr>
          <p:spPr bwMode="auto">
            <a:xfrm>
              <a:off x="3470" y="2432"/>
              <a:ext cx="6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a:latin typeface="Arial" panose="020B0604020202020204" pitchFamily="34" charset="0"/>
                </a:rPr>
                <a:t>R </a:t>
              </a:r>
              <a:r>
                <a:rPr lang="zh-CN" altLang="en-US" sz="2400" b="1">
                  <a:latin typeface="Arial" panose="020B0604020202020204" pitchFamily="34" charset="0"/>
                </a:rPr>
                <a:t>－</a:t>
              </a:r>
              <a:r>
                <a:rPr lang="zh-CN" altLang="en-US" sz="2000" b="1">
                  <a:latin typeface="Arial" panose="020B0604020202020204" pitchFamily="34" charset="0"/>
                </a:rPr>
                <a:t> </a:t>
              </a:r>
              <a:r>
                <a:rPr lang="en-US" altLang="zh-CN" sz="2000" b="1">
                  <a:latin typeface="Arial" panose="020B0604020202020204" pitchFamily="34" charset="0"/>
                </a:rPr>
                <a:t>S</a:t>
              </a:r>
              <a:endParaRPr lang="en-US" altLang="zh-CN" sz="2000" b="1">
                <a:latin typeface="Arial" panose="020B0604020202020204" pitchFamily="34" charset="0"/>
              </a:endParaRPr>
            </a:p>
          </p:txBody>
        </p:sp>
        <p:sp>
          <p:nvSpPr>
            <p:cNvPr id="25" name="Rectangle 30"/>
            <p:cNvSpPr>
              <a:spLocks noChangeArrowheads="1"/>
            </p:cNvSpPr>
            <p:nvPr/>
          </p:nvSpPr>
          <p:spPr bwMode="auto">
            <a:xfrm>
              <a:off x="1020" y="2931"/>
              <a:ext cx="953" cy="1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6" name="Line 31"/>
            <p:cNvSpPr>
              <a:spLocks noChangeShapeType="1"/>
            </p:cNvSpPr>
            <p:nvPr/>
          </p:nvSpPr>
          <p:spPr bwMode="auto">
            <a:xfrm>
              <a:off x="3334" y="3203"/>
              <a:ext cx="95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传统的集合运算</a:t>
                </a:r>
                <a:endParaRPr lang="en-US" altLang="zh-CN" dirty="0"/>
              </a:p>
              <a:p>
                <a:pPr lvl="1"/>
                <a:r>
                  <a:rPr lang="zh-CN" altLang="en-US" dirty="0"/>
                  <a:t>交（</a:t>
                </a:r>
                <a:r>
                  <a:rPr lang="en-US" altLang="zh-CN" dirty="0"/>
                  <a:t>intersection</a:t>
                </a:r>
                <a:r>
                  <a:rPr lang="zh-CN" altLang="en-US" dirty="0"/>
                  <a:t>）</a:t>
                </a:r>
                <a:endParaRPr lang="en-US" altLang="zh-CN" dirty="0"/>
              </a:p>
              <a:p>
                <a:pPr lvl="2"/>
                <a:r>
                  <a:rPr lang="en-US" altLang="zh-CN" dirty="0"/>
                  <a:t>R</a:t>
                </a:r>
                <a:r>
                  <a:rPr lang="zh-CN" altLang="en-US" dirty="0"/>
                  <a:t>和</a:t>
                </a:r>
                <a:r>
                  <a:rPr lang="en-US" altLang="zh-CN" dirty="0"/>
                  <a:t>S</a:t>
                </a:r>
                <a:r>
                  <a:rPr lang="zh-CN" altLang="en-US" dirty="0"/>
                  <a:t>是并兼容的</a:t>
                </a:r>
                <a:r>
                  <a:rPr lang="en-US" altLang="zh-CN" dirty="0"/>
                  <a:t>n</a:t>
                </a:r>
                <a:r>
                  <a:rPr lang="zh-CN" altLang="en-US" dirty="0"/>
                  <a:t>元关系，</a:t>
                </a:r>
                <a:r>
                  <a:rPr lang="en-US" altLang="zh-CN" dirty="0"/>
                  <a:t>R</a:t>
                </a:r>
                <a:r>
                  <a:rPr lang="zh-CN" altLang="en-US" dirty="0"/>
                  <a:t>与</a:t>
                </a:r>
                <a:r>
                  <a:rPr lang="en-US" altLang="zh-CN" dirty="0"/>
                  <a:t>S</a:t>
                </a:r>
                <a:r>
                  <a:rPr lang="zh-CN" altLang="en-US" dirty="0"/>
                  <a:t>的交</a:t>
                </a:r>
                <a14:m>
                  <m:oMath xmlns:m="http://schemas.openxmlformats.org/officeDocument/2006/math">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𝑆</m:t>
                    </m:r>
                  </m:oMath>
                </a14:m>
                <a:r>
                  <a:rPr lang="zh-CN" altLang="en-US" dirty="0"/>
                  <a:t>仍为</a:t>
                </a:r>
                <a:r>
                  <a:rPr lang="en-US" altLang="zh-CN" dirty="0"/>
                  <a:t>n</a:t>
                </a:r>
                <a:r>
                  <a:rPr lang="zh-CN" altLang="en-US" dirty="0"/>
                  <a:t>元关系，表示为：</a:t>
                </a:r>
                <a14:m>
                  <m:oMath xmlns:m="http://schemas.openxmlformats.org/officeDocument/2006/math">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𝑆</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 </m:t>
                    </m:r>
                    <m:r>
                      <a:rPr lang="en-US" altLang="zh-CN" i="1" dirty="0" err="1" smtClean="0">
                        <a:latin typeface="Cambria Math" panose="02040503050406030204" pitchFamily="18" charset="0"/>
                      </a:rPr>
                      <m:t>𝑡</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𝑅</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𝑡</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𝑆</m:t>
                    </m:r>
                    <m:r>
                      <a:rPr lang="en-US" altLang="zh-CN" i="1" dirty="0" smtClean="0">
                        <a:latin typeface="Cambria Math" panose="02040503050406030204" pitchFamily="18" charset="0"/>
                      </a:rPr>
                      <m:t>}  </m:t>
                    </m:r>
                  </m:oMath>
                </a14:m>
                <a:r>
                  <a:rPr lang="zh-CN" altLang="en-US" dirty="0"/>
                  <a:t>即</a:t>
                </a:r>
                <a14:m>
                  <m:oMath xmlns:m="http://schemas.openxmlformats.org/officeDocument/2006/math">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𝑆</m:t>
                    </m:r>
                  </m:oMath>
                </a14:m>
                <a:r>
                  <a:rPr lang="zh-CN" altLang="en-US" dirty="0"/>
                  <a:t>由那些既在</a:t>
                </a:r>
                <a:r>
                  <a:rPr lang="en-US" altLang="zh-CN" dirty="0"/>
                  <a:t>R</a:t>
                </a:r>
                <a:r>
                  <a:rPr lang="zh-CN" altLang="en-US" dirty="0"/>
                  <a:t>中出现又在</a:t>
                </a:r>
                <a:r>
                  <a:rPr lang="en-US" altLang="zh-CN" dirty="0"/>
                  <a:t>S</a:t>
                </a:r>
                <a:r>
                  <a:rPr lang="zh-CN" altLang="en-US" dirty="0"/>
                  <a:t>中出现的元组构成</a:t>
                </a:r>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grpSp>
        <p:nvGrpSpPr>
          <p:cNvPr id="6" name="Group 9"/>
          <p:cNvGrpSpPr/>
          <p:nvPr/>
        </p:nvGrpSpPr>
        <p:grpSpPr bwMode="auto">
          <a:xfrm>
            <a:off x="3276600" y="3637757"/>
            <a:ext cx="5638800" cy="1752600"/>
            <a:chOff x="1066" y="2795"/>
            <a:chExt cx="3356" cy="952"/>
          </a:xfrm>
        </p:grpSpPr>
        <p:sp>
          <p:nvSpPr>
            <p:cNvPr id="7" name="Rectangle 10"/>
            <p:cNvSpPr>
              <a:spLocks noChangeArrowheads="1"/>
            </p:cNvSpPr>
            <p:nvPr/>
          </p:nvSpPr>
          <p:spPr bwMode="auto">
            <a:xfrm>
              <a:off x="1111" y="3067"/>
              <a:ext cx="680" cy="1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 name="Rectangle 11"/>
            <p:cNvSpPr>
              <a:spLocks noChangeArrowheads="1"/>
            </p:cNvSpPr>
            <p:nvPr/>
          </p:nvSpPr>
          <p:spPr bwMode="auto">
            <a:xfrm>
              <a:off x="1111" y="3203"/>
              <a:ext cx="680" cy="13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 name="Rectangle 12"/>
            <p:cNvSpPr>
              <a:spLocks noChangeArrowheads="1"/>
            </p:cNvSpPr>
            <p:nvPr/>
          </p:nvSpPr>
          <p:spPr bwMode="auto">
            <a:xfrm>
              <a:off x="1111" y="3339"/>
              <a:ext cx="680" cy="136"/>
            </a:xfrm>
            <a:prstGeom prst="rect">
              <a:avLst/>
            </a:prstGeom>
            <a:solidFill>
              <a:srgbClr val="CC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 name="Text Box 13"/>
            <p:cNvSpPr txBox="1">
              <a:spLocks noChangeArrowheads="1"/>
            </p:cNvSpPr>
            <p:nvPr/>
          </p:nvSpPr>
          <p:spPr bwMode="auto">
            <a:xfrm>
              <a:off x="1066" y="2795"/>
              <a:ext cx="219" cy="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a:latin typeface="Arial" panose="020B0604020202020204" pitchFamily="34" charset="0"/>
                </a:rPr>
                <a:t>R</a:t>
              </a:r>
              <a:endParaRPr lang="en-US" altLang="zh-CN" sz="2000" b="1">
                <a:latin typeface="Arial" panose="020B0604020202020204" pitchFamily="34" charset="0"/>
              </a:endParaRPr>
            </a:p>
          </p:txBody>
        </p:sp>
        <p:sp>
          <p:nvSpPr>
            <p:cNvPr id="11" name="Text Box 14"/>
            <p:cNvSpPr txBox="1">
              <a:spLocks noChangeArrowheads="1"/>
            </p:cNvSpPr>
            <p:nvPr/>
          </p:nvSpPr>
          <p:spPr bwMode="auto">
            <a:xfrm>
              <a:off x="1927" y="2795"/>
              <a:ext cx="210" cy="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a:latin typeface="Arial" panose="020B0604020202020204" pitchFamily="34" charset="0"/>
                </a:rPr>
                <a:t>S</a:t>
              </a:r>
              <a:endParaRPr lang="en-US" altLang="zh-CN" sz="2000" b="1">
                <a:latin typeface="Arial" panose="020B0604020202020204" pitchFamily="34" charset="0"/>
              </a:endParaRPr>
            </a:p>
          </p:txBody>
        </p:sp>
        <p:sp>
          <p:nvSpPr>
            <p:cNvPr id="12" name="Rectangle 15"/>
            <p:cNvSpPr>
              <a:spLocks noChangeArrowheads="1"/>
            </p:cNvSpPr>
            <p:nvPr/>
          </p:nvSpPr>
          <p:spPr bwMode="auto">
            <a:xfrm>
              <a:off x="1111" y="3475"/>
              <a:ext cx="680" cy="136"/>
            </a:xfrm>
            <a:prstGeom prst="rect">
              <a:avLst/>
            </a:prstGeom>
            <a:solidFill>
              <a:srgbClr val="FF99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3" name="Rectangle 16"/>
            <p:cNvSpPr>
              <a:spLocks noChangeArrowheads="1"/>
            </p:cNvSpPr>
            <p:nvPr/>
          </p:nvSpPr>
          <p:spPr bwMode="auto">
            <a:xfrm>
              <a:off x="1927" y="3067"/>
              <a:ext cx="680" cy="136"/>
            </a:xfrm>
            <a:prstGeom prst="rect">
              <a:avLst/>
            </a:prstGeom>
            <a:solidFill>
              <a:srgbClr val="008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4" name="Rectangle 17"/>
            <p:cNvSpPr>
              <a:spLocks noChangeArrowheads="1"/>
            </p:cNvSpPr>
            <p:nvPr/>
          </p:nvSpPr>
          <p:spPr bwMode="auto">
            <a:xfrm>
              <a:off x="1927" y="3203"/>
              <a:ext cx="680" cy="136"/>
            </a:xfrm>
            <a:prstGeom prst="rect">
              <a:avLst/>
            </a:prstGeom>
            <a:solidFill>
              <a:srgbClr val="80008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5" name="Rectangle 18"/>
            <p:cNvSpPr>
              <a:spLocks noChangeArrowheads="1"/>
            </p:cNvSpPr>
            <p:nvPr/>
          </p:nvSpPr>
          <p:spPr bwMode="auto">
            <a:xfrm>
              <a:off x="1927" y="3339"/>
              <a:ext cx="680" cy="13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6" name="Rectangle 19"/>
            <p:cNvSpPr>
              <a:spLocks noChangeArrowheads="1"/>
            </p:cNvSpPr>
            <p:nvPr/>
          </p:nvSpPr>
          <p:spPr bwMode="auto">
            <a:xfrm>
              <a:off x="1111" y="3611"/>
              <a:ext cx="680" cy="136"/>
            </a:xfrm>
            <a:prstGeom prst="rect">
              <a:avLst/>
            </a:prstGeom>
            <a:solidFill>
              <a:srgbClr val="CC0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7" name="Rectangle 20"/>
            <p:cNvSpPr>
              <a:spLocks noChangeArrowheads="1"/>
            </p:cNvSpPr>
            <p:nvPr/>
          </p:nvSpPr>
          <p:spPr bwMode="auto">
            <a:xfrm>
              <a:off x="1927" y="3475"/>
              <a:ext cx="680" cy="136"/>
            </a:xfrm>
            <a:prstGeom prst="rect">
              <a:avLst/>
            </a:prstGeom>
            <a:solidFill>
              <a:srgbClr val="CC0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 name="AutoShape 21"/>
            <p:cNvSpPr>
              <a:spLocks noChangeArrowheads="1"/>
            </p:cNvSpPr>
            <p:nvPr/>
          </p:nvSpPr>
          <p:spPr bwMode="auto">
            <a:xfrm>
              <a:off x="2880" y="3283"/>
              <a:ext cx="681" cy="137"/>
            </a:xfrm>
            <a:prstGeom prst="rightArrow">
              <a:avLst>
                <a:gd name="adj1" fmla="val 50000"/>
                <a:gd name="adj2" fmla="val 124270"/>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9" name="Text Box 22"/>
            <p:cNvSpPr txBox="1">
              <a:spLocks noChangeArrowheads="1"/>
            </p:cNvSpPr>
            <p:nvPr/>
          </p:nvSpPr>
          <p:spPr bwMode="auto">
            <a:xfrm>
              <a:off x="2880" y="3022"/>
              <a:ext cx="586"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zh-CN" sz="2000" b="1">
                  <a:latin typeface="Arial" panose="020B0604020202020204" pitchFamily="34" charset="0"/>
                </a:rPr>
                <a:t>R</a:t>
              </a:r>
              <a:r>
                <a:rPr lang="zh-CN" altLang="zh-CN" sz="2000">
                  <a:latin typeface="Arial" panose="020B0604020202020204" pitchFamily="34" charset="0"/>
                </a:rPr>
                <a:t> </a:t>
              </a:r>
              <a:r>
                <a:rPr lang="en-US" altLang="zh-CN" sz="2400" b="1">
                  <a:latin typeface="Arial" panose="020B0604020202020204" pitchFamily="34" charset="0"/>
                </a:rPr>
                <a:t>∩</a:t>
              </a:r>
              <a:r>
                <a:rPr lang="zh-CN" altLang="zh-CN" sz="2000" b="1">
                  <a:latin typeface="Arial" panose="020B0604020202020204" pitchFamily="34" charset="0"/>
                </a:rPr>
                <a:t> S</a:t>
              </a:r>
              <a:endParaRPr lang="en-US" altLang="zh-CN" sz="2000" b="1">
                <a:latin typeface="Arial" panose="020B0604020202020204" pitchFamily="34" charset="0"/>
              </a:endParaRPr>
            </a:p>
          </p:txBody>
        </p:sp>
        <p:sp>
          <p:nvSpPr>
            <p:cNvPr id="20" name="Rectangle 23"/>
            <p:cNvSpPr>
              <a:spLocks noChangeArrowheads="1"/>
            </p:cNvSpPr>
            <p:nvPr/>
          </p:nvSpPr>
          <p:spPr bwMode="auto">
            <a:xfrm>
              <a:off x="3742" y="3112"/>
              <a:ext cx="680" cy="13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1" name="Rectangle 24"/>
            <p:cNvSpPr>
              <a:spLocks noChangeArrowheads="1"/>
            </p:cNvSpPr>
            <p:nvPr/>
          </p:nvSpPr>
          <p:spPr bwMode="auto">
            <a:xfrm>
              <a:off x="3742" y="3248"/>
              <a:ext cx="680" cy="136"/>
            </a:xfrm>
            <a:prstGeom prst="rect">
              <a:avLst/>
            </a:prstGeom>
            <a:solidFill>
              <a:srgbClr val="CC0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传统的集合运算</a:t>
                </a:r>
                <a:endParaRPr lang="en-US" altLang="zh-CN" dirty="0"/>
              </a:p>
              <a:p>
                <a:pPr lvl="1"/>
                <a:r>
                  <a:rPr lang="zh-CN" altLang="en-US" dirty="0"/>
                  <a:t>笛卡儿积（</a:t>
                </a:r>
                <a:r>
                  <a:rPr lang="en-US" altLang="zh-CN" dirty="0"/>
                  <a:t>Cartesian product</a:t>
                </a:r>
                <a:r>
                  <a:rPr lang="zh-CN" altLang="en-US" dirty="0"/>
                  <a:t>）</a:t>
                </a:r>
                <a:endParaRPr lang="zh-CN" altLang="en-US" dirty="0"/>
              </a:p>
              <a:p>
                <a:pPr lvl="2"/>
                <a:r>
                  <a:rPr lang="en-US" altLang="zh-CN" dirty="0"/>
                  <a:t>m</a:t>
                </a:r>
                <a:r>
                  <a:rPr lang="zh-CN" altLang="en-US" dirty="0"/>
                  <a:t>元关系</a:t>
                </a:r>
                <a:r>
                  <a:rPr lang="en-US" altLang="zh-CN" dirty="0"/>
                  <a:t>R</a:t>
                </a:r>
                <a:r>
                  <a:rPr lang="zh-CN" altLang="en-US" dirty="0"/>
                  <a:t>与</a:t>
                </a:r>
                <a:r>
                  <a:rPr lang="en-US" altLang="zh-CN" dirty="0"/>
                  <a:t>n</a:t>
                </a:r>
                <a:r>
                  <a:rPr lang="zh-CN" altLang="en-US" dirty="0"/>
                  <a:t>元关系</a:t>
                </a:r>
                <a:r>
                  <a:rPr lang="en-US" altLang="zh-CN" dirty="0"/>
                  <a:t>S</a:t>
                </a:r>
                <a:r>
                  <a:rPr lang="zh-CN" altLang="en-US" dirty="0"/>
                  <a:t>的笛卡儿积是</a:t>
                </a:r>
                <a14:m>
                  <m:oMath xmlns:m="http://schemas.openxmlformats.org/officeDocument/2006/math">
                    <m:r>
                      <a:rPr lang="zh-CN" altLang="en-US" i="1" dirty="0" smtClean="0">
                        <a:latin typeface="Cambria Math" panose="02040503050406030204" pitchFamily="18" charset="0"/>
                      </a:rPr>
                      <m:t>（</m:t>
                    </m:r>
                    <m:r>
                      <a:rPr lang="en-US" altLang="zh-CN" i="1" dirty="0" smtClean="0">
                        <a:latin typeface="Cambria Math" panose="02040503050406030204" pitchFamily="18" charset="0"/>
                      </a:rPr>
                      <m:t>𝑚</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𝑛</m:t>
                    </m:r>
                    <m:r>
                      <a:rPr lang="zh-CN" altLang="en-US" i="1" dirty="0" smtClean="0">
                        <a:latin typeface="Cambria Math" panose="02040503050406030204" pitchFamily="18" charset="0"/>
                      </a:rPr>
                      <m:t>）</m:t>
                    </m:r>
                  </m:oMath>
                </a14:m>
                <a:r>
                  <a:rPr lang="zh-CN" altLang="en-US" dirty="0"/>
                  <a:t>元关系，且每个元组的前</a:t>
                </a:r>
                <a:r>
                  <a:rPr lang="en-US" altLang="zh-CN" dirty="0"/>
                  <a:t>m</a:t>
                </a:r>
                <a:r>
                  <a:rPr lang="zh-CN" altLang="en-US" dirty="0"/>
                  <a:t>个分量是</a:t>
                </a:r>
                <a:r>
                  <a:rPr lang="en-US" altLang="zh-CN" dirty="0"/>
                  <a:t>R</a:t>
                </a:r>
                <a:r>
                  <a:rPr lang="zh-CN" altLang="en-US" dirty="0"/>
                  <a:t>的一个元组，后</a:t>
                </a:r>
                <a:r>
                  <a:rPr lang="en-US" altLang="zh-CN" dirty="0"/>
                  <a:t>n</a:t>
                </a:r>
                <a:r>
                  <a:rPr lang="zh-CN" altLang="en-US" dirty="0"/>
                  <a:t>个分量是</a:t>
                </a:r>
                <a:r>
                  <a:rPr lang="en-US" altLang="zh-CN" dirty="0"/>
                  <a:t>S</a:t>
                </a:r>
                <a:r>
                  <a:rPr lang="zh-CN" altLang="en-US" dirty="0"/>
                  <a:t>的一个元组，可以表示为：</a:t>
                </a:r>
                <a:endParaRPr lang="en-US" altLang="zh-CN" dirty="0"/>
              </a:p>
              <a:p>
                <a:pPr marL="914400" lvl="2" indent="0">
                  <a:buNone/>
                </a:pPr>
                <a14:m>
                  <m:oMathPara xmlns:m="http://schemas.openxmlformats.org/officeDocument/2006/math">
                    <m:oMathParaPr>
                      <m:jc m:val="centerGroup"/>
                    </m:oMathParaPr>
                    <m:oMath xmlns:m="http://schemas.openxmlformats.org/officeDocument/2006/math">
                      <m:r>
                        <a:rPr lang="pt-BR" altLang="zh-CN" i="1">
                          <a:latin typeface="Cambria Math" panose="02040503050406030204" pitchFamily="18" charset="0"/>
                        </a:rPr>
                        <m:t>𝑅</m:t>
                      </m:r>
                      <m:r>
                        <a:rPr lang="pt-BR" altLang="zh-CN" i="1">
                          <a:latin typeface="Cambria Math" panose="02040503050406030204" pitchFamily="18" charset="0"/>
                        </a:rPr>
                        <m:t>×</m:t>
                      </m:r>
                      <m:r>
                        <a:rPr lang="pt-BR" altLang="zh-CN" i="1">
                          <a:latin typeface="Cambria Math" panose="02040503050406030204" pitchFamily="18" charset="0"/>
                        </a:rPr>
                        <m:t>𝑆</m:t>
                      </m:r>
                      <m:r>
                        <a:rPr lang="zh-CN" altLang="pt-BR" i="1">
                          <a:latin typeface="Cambria Math" panose="02040503050406030204" pitchFamily="18" charset="0"/>
                        </a:rPr>
                        <m:t>＝</m:t>
                      </m:r>
                      <m:r>
                        <a:rPr lang="pt-BR" altLang="zh-CN" i="1">
                          <a:latin typeface="Cambria Math" panose="02040503050406030204" pitchFamily="18" charset="0"/>
                        </a:rPr>
                        <m:t>{</m:t>
                      </m:r>
                      <m:r>
                        <a:rPr lang="pt-BR" altLang="zh-CN" i="1">
                          <a:latin typeface="Cambria Math" panose="02040503050406030204" pitchFamily="18" charset="0"/>
                        </a:rPr>
                        <m:t>𝑡</m:t>
                      </m:r>
                      <m:r>
                        <a:rPr lang="pt-BR" altLang="zh-CN" i="1">
                          <a:latin typeface="Cambria Math" panose="02040503050406030204" pitchFamily="18" charset="0"/>
                        </a:rPr>
                        <m:t>(</m:t>
                      </m:r>
                      <m:r>
                        <a:rPr lang="pt-BR" altLang="zh-CN" i="1">
                          <a:latin typeface="Cambria Math" panose="02040503050406030204" pitchFamily="18" charset="0"/>
                        </a:rPr>
                        <m:t>𝑚</m:t>
                      </m:r>
                      <m:r>
                        <a:rPr lang="pt-BR" altLang="zh-CN" i="1">
                          <a:latin typeface="Cambria Math" panose="02040503050406030204" pitchFamily="18" charset="0"/>
                        </a:rPr>
                        <m:t>+</m:t>
                      </m:r>
                      <m:r>
                        <a:rPr lang="pt-BR" altLang="zh-CN" i="1">
                          <a:latin typeface="Cambria Math" panose="02040503050406030204" pitchFamily="18" charset="0"/>
                        </a:rPr>
                        <m:t>𝑛</m:t>
                      </m:r>
                      <m:r>
                        <a:rPr lang="pt-BR" altLang="zh-CN" i="1">
                          <a:latin typeface="Cambria Math" panose="02040503050406030204" pitchFamily="18" charset="0"/>
                        </a:rPr>
                        <m:t>) | </m:t>
                      </m:r>
                      <m:r>
                        <a:rPr lang="pt-BR" altLang="zh-CN" i="1">
                          <a:latin typeface="Cambria Math" panose="02040503050406030204" pitchFamily="18" charset="0"/>
                        </a:rPr>
                        <m:t>𝑡</m:t>
                      </m:r>
                      <m:r>
                        <a:rPr lang="pt-BR" altLang="zh-CN" i="1">
                          <a:latin typeface="Cambria Math" panose="02040503050406030204" pitchFamily="18" charset="0"/>
                        </a:rPr>
                        <m:t>(</m:t>
                      </m:r>
                      <m:r>
                        <a:rPr lang="pt-BR" altLang="zh-CN" i="1">
                          <a:latin typeface="Cambria Math" panose="02040503050406030204" pitchFamily="18" charset="0"/>
                        </a:rPr>
                        <m:t>𝑚</m:t>
                      </m:r>
                      <m:r>
                        <a:rPr lang="pt-BR" altLang="zh-CN" i="1">
                          <a:latin typeface="Cambria Math" panose="02040503050406030204" pitchFamily="18" charset="0"/>
                        </a:rPr>
                        <m:t>)∈</m:t>
                      </m:r>
                      <m:r>
                        <a:rPr lang="pt-BR" altLang="zh-CN" i="1">
                          <a:latin typeface="Cambria Math" panose="02040503050406030204" pitchFamily="18" charset="0"/>
                        </a:rPr>
                        <m:t>𝑅</m:t>
                      </m:r>
                      <m:r>
                        <a:rPr lang="pt-BR" altLang="zh-CN" i="1">
                          <a:latin typeface="Cambria Math" panose="02040503050406030204" pitchFamily="18" charset="0"/>
                        </a:rPr>
                        <m:t>∧</m:t>
                      </m:r>
                      <m:r>
                        <a:rPr lang="pt-BR" altLang="zh-CN" i="1">
                          <a:latin typeface="Cambria Math" panose="02040503050406030204" pitchFamily="18" charset="0"/>
                        </a:rPr>
                        <m:t>𝑡</m:t>
                      </m:r>
                      <m:r>
                        <a:rPr lang="pt-BR" altLang="zh-CN" i="1">
                          <a:latin typeface="Cambria Math" panose="02040503050406030204" pitchFamily="18" charset="0"/>
                        </a:rPr>
                        <m:t>(</m:t>
                      </m:r>
                      <m:r>
                        <a:rPr lang="pt-BR" altLang="zh-CN" i="1">
                          <a:latin typeface="Cambria Math" panose="02040503050406030204" pitchFamily="18" charset="0"/>
                        </a:rPr>
                        <m:t>𝑛</m:t>
                      </m:r>
                      <m:r>
                        <a:rPr lang="pt-BR" altLang="zh-CN" i="1">
                          <a:latin typeface="Cambria Math" panose="02040503050406030204" pitchFamily="18" charset="0"/>
                        </a:rPr>
                        <m:t>)∈</m:t>
                      </m:r>
                      <m:r>
                        <a:rPr lang="pt-BR" altLang="zh-CN" i="1">
                          <a:latin typeface="Cambria Math" panose="02040503050406030204" pitchFamily="18" charset="0"/>
                        </a:rPr>
                        <m:t>𝑆</m:t>
                      </m:r>
                      <m:r>
                        <a:rPr lang="pt-BR" altLang="zh-CN" i="1">
                          <a:latin typeface="Cambria Math" panose="02040503050406030204" pitchFamily="18" charset="0"/>
                        </a:rPr>
                        <m:t>}</m:t>
                      </m:r>
                    </m:oMath>
                  </m:oMathPara>
                </a14:m>
                <a:endParaRPr lang="en-US" altLang="zh-CN" dirty="0"/>
              </a:p>
              <a:p>
                <a:pPr lvl="2"/>
                <a:r>
                  <a:rPr lang="zh-CN" altLang="en-US" dirty="0"/>
                  <a:t>如果</a:t>
                </a:r>
                <a:r>
                  <a:rPr lang="en-US" altLang="zh-CN" dirty="0"/>
                  <a:t>R</a:t>
                </a:r>
                <a:r>
                  <a:rPr lang="zh-CN" altLang="en-US" dirty="0"/>
                  <a:t>中共有</a:t>
                </a:r>
                <a:r>
                  <a:rPr lang="en-US" altLang="zh-CN" dirty="0" err="1"/>
                  <a:t>i</a:t>
                </a:r>
                <a:r>
                  <a:rPr lang="zh-CN" altLang="en-US" dirty="0"/>
                  <a:t>个元组，</a:t>
                </a:r>
                <a:r>
                  <a:rPr lang="en-US" altLang="zh-CN" dirty="0"/>
                  <a:t>S</a:t>
                </a:r>
                <a:r>
                  <a:rPr lang="zh-CN" altLang="en-US" dirty="0"/>
                  <a:t>中共有</a:t>
                </a:r>
                <a:r>
                  <a:rPr lang="en-US" altLang="zh-CN" dirty="0"/>
                  <a:t>j</a:t>
                </a:r>
                <a:r>
                  <a:rPr lang="zh-CN" altLang="en-US" dirty="0"/>
                  <a:t>个元组，则</a:t>
                </a:r>
                <a14:m>
                  <m:oMath xmlns:m="http://schemas.openxmlformats.org/officeDocument/2006/math">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𝑆</m:t>
                    </m:r>
                  </m:oMath>
                </a14:m>
                <a:r>
                  <a:rPr lang="zh-CN" altLang="en-US" dirty="0"/>
                  <a:t>一定有</a:t>
                </a:r>
                <a14:m>
                  <m:oMath xmlns:m="http://schemas.openxmlformats.org/officeDocument/2006/math">
                    <m:r>
                      <a:rPr lang="en-US" altLang="zh-CN" i="1" dirty="0" smtClean="0">
                        <a:latin typeface="Cambria Math" panose="02040503050406030204" pitchFamily="18" charset="0"/>
                      </a:rPr>
                      <m:t>𝑖</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𝑗</m:t>
                    </m:r>
                  </m:oMath>
                </a14:m>
                <a:r>
                  <a:rPr lang="zh-CN" altLang="en-US" dirty="0"/>
                  <a:t>个元组</a:t>
                </a:r>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grpSp>
        <p:nvGrpSpPr>
          <p:cNvPr id="6" name="Group 11"/>
          <p:cNvGrpSpPr/>
          <p:nvPr/>
        </p:nvGrpSpPr>
        <p:grpSpPr bwMode="auto">
          <a:xfrm>
            <a:off x="2603500" y="4107559"/>
            <a:ext cx="6985000" cy="1944687"/>
            <a:chOff x="476" y="2568"/>
            <a:chExt cx="4400" cy="1225"/>
          </a:xfrm>
        </p:grpSpPr>
        <p:sp>
          <p:nvSpPr>
            <p:cNvPr id="7" name="Rectangle 12"/>
            <p:cNvSpPr>
              <a:spLocks noChangeArrowheads="1"/>
            </p:cNvSpPr>
            <p:nvPr/>
          </p:nvSpPr>
          <p:spPr bwMode="auto">
            <a:xfrm>
              <a:off x="476" y="2931"/>
              <a:ext cx="680" cy="1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 name="Rectangle 13"/>
            <p:cNvSpPr>
              <a:spLocks noChangeArrowheads="1"/>
            </p:cNvSpPr>
            <p:nvPr/>
          </p:nvSpPr>
          <p:spPr bwMode="auto">
            <a:xfrm>
              <a:off x="476" y="3067"/>
              <a:ext cx="680" cy="13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9" name="Rectangle 14"/>
            <p:cNvSpPr>
              <a:spLocks noChangeArrowheads="1"/>
            </p:cNvSpPr>
            <p:nvPr/>
          </p:nvSpPr>
          <p:spPr bwMode="auto">
            <a:xfrm>
              <a:off x="476" y="3203"/>
              <a:ext cx="680" cy="136"/>
            </a:xfrm>
            <a:prstGeom prst="rect">
              <a:avLst/>
            </a:prstGeom>
            <a:solidFill>
              <a:srgbClr val="CC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0" name="Rectangle 15"/>
            <p:cNvSpPr>
              <a:spLocks noChangeArrowheads="1"/>
            </p:cNvSpPr>
            <p:nvPr/>
          </p:nvSpPr>
          <p:spPr bwMode="auto">
            <a:xfrm>
              <a:off x="3288" y="2568"/>
              <a:ext cx="680" cy="1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1" name="Rectangle 16"/>
            <p:cNvSpPr>
              <a:spLocks noChangeArrowheads="1"/>
            </p:cNvSpPr>
            <p:nvPr/>
          </p:nvSpPr>
          <p:spPr bwMode="auto">
            <a:xfrm>
              <a:off x="3288" y="2976"/>
              <a:ext cx="680" cy="13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2" name="Rectangle 17"/>
            <p:cNvSpPr>
              <a:spLocks noChangeArrowheads="1"/>
            </p:cNvSpPr>
            <p:nvPr/>
          </p:nvSpPr>
          <p:spPr bwMode="auto">
            <a:xfrm>
              <a:off x="3288" y="3385"/>
              <a:ext cx="680" cy="136"/>
            </a:xfrm>
            <a:prstGeom prst="rect">
              <a:avLst/>
            </a:prstGeom>
            <a:solidFill>
              <a:srgbClr val="CC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3" name="AutoShape 18"/>
            <p:cNvSpPr>
              <a:spLocks noChangeArrowheads="1"/>
            </p:cNvSpPr>
            <p:nvPr/>
          </p:nvSpPr>
          <p:spPr bwMode="auto">
            <a:xfrm>
              <a:off x="2381" y="3112"/>
              <a:ext cx="681" cy="137"/>
            </a:xfrm>
            <a:prstGeom prst="rightArrow">
              <a:avLst>
                <a:gd name="adj1" fmla="val 50000"/>
                <a:gd name="adj2" fmla="val 124270"/>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4" name="Text Box 19"/>
            <p:cNvSpPr txBox="1">
              <a:spLocks noChangeArrowheads="1"/>
            </p:cNvSpPr>
            <p:nvPr/>
          </p:nvSpPr>
          <p:spPr bwMode="auto">
            <a:xfrm>
              <a:off x="2381" y="2886"/>
              <a:ext cx="5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zh-CN" sz="2000" b="1">
                  <a:latin typeface="Arial" panose="020B0604020202020204" pitchFamily="34" charset="0"/>
                </a:rPr>
                <a:t>R</a:t>
              </a:r>
              <a:r>
                <a:rPr lang="zh-CN" altLang="zh-CN" sz="2000">
                  <a:latin typeface="Arial" panose="020B0604020202020204" pitchFamily="34" charset="0"/>
                </a:rPr>
                <a:t> </a:t>
              </a:r>
              <a:r>
                <a:rPr lang="zh-CN" altLang="zh-CN" sz="2000" b="1">
                  <a:latin typeface="Arial" panose="020B0604020202020204" pitchFamily="34" charset="0"/>
                </a:rPr>
                <a:t>× S</a:t>
              </a:r>
              <a:endParaRPr lang="en-US" altLang="zh-CN" sz="2000" b="1">
                <a:latin typeface="Arial" panose="020B0604020202020204" pitchFamily="34" charset="0"/>
              </a:endParaRPr>
            </a:p>
          </p:txBody>
        </p:sp>
        <p:sp>
          <p:nvSpPr>
            <p:cNvPr id="15" name="Rectangle 20"/>
            <p:cNvSpPr>
              <a:spLocks noChangeArrowheads="1"/>
            </p:cNvSpPr>
            <p:nvPr/>
          </p:nvSpPr>
          <p:spPr bwMode="auto">
            <a:xfrm>
              <a:off x="3288" y="2704"/>
              <a:ext cx="680" cy="1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6" name="Rectangle 21"/>
            <p:cNvSpPr>
              <a:spLocks noChangeArrowheads="1"/>
            </p:cNvSpPr>
            <p:nvPr/>
          </p:nvSpPr>
          <p:spPr bwMode="auto">
            <a:xfrm>
              <a:off x="3288" y="2840"/>
              <a:ext cx="680" cy="1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7" name="Rectangle 22"/>
            <p:cNvSpPr>
              <a:spLocks noChangeArrowheads="1"/>
            </p:cNvSpPr>
            <p:nvPr/>
          </p:nvSpPr>
          <p:spPr bwMode="auto">
            <a:xfrm>
              <a:off x="3288" y="3112"/>
              <a:ext cx="680" cy="13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8" name="Rectangle 23"/>
            <p:cNvSpPr>
              <a:spLocks noChangeArrowheads="1"/>
            </p:cNvSpPr>
            <p:nvPr/>
          </p:nvSpPr>
          <p:spPr bwMode="auto">
            <a:xfrm>
              <a:off x="3288" y="3249"/>
              <a:ext cx="680" cy="13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9" name="Rectangle 24"/>
            <p:cNvSpPr>
              <a:spLocks noChangeArrowheads="1"/>
            </p:cNvSpPr>
            <p:nvPr/>
          </p:nvSpPr>
          <p:spPr bwMode="auto">
            <a:xfrm>
              <a:off x="3288" y="3521"/>
              <a:ext cx="680" cy="136"/>
            </a:xfrm>
            <a:prstGeom prst="rect">
              <a:avLst/>
            </a:prstGeom>
            <a:solidFill>
              <a:srgbClr val="CC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0" name="Rectangle 25"/>
            <p:cNvSpPr>
              <a:spLocks noChangeArrowheads="1"/>
            </p:cNvSpPr>
            <p:nvPr/>
          </p:nvSpPr>
          <p:spPr bwMode="auto">
            <a:xfrm>
              <a:off x="3288" y="3657"/>
              <a:ext cx="680" cy="136"/>
            </a:xfrm>
            <a:prstGeom prst="rect">
              <a:avLst/>
            </a:prstGeom>
            <a:solidFill>
              <a:srgbClr val="CC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1" name="Rectangle 26"/>
            <p:cNvSpPr>
              <a:spLocks noChangeArrowheads="1"/>
            </p:cNvSpPr>
            <p:nvPr/>
          </p:nvSpPr>
          <p:spPr bwMode="auto">
            <a:xfrm>
              <a:off x="1338" y="3067"/>
              <a:ext cx="907" cy="136"/>
            </a:xfrm>
            <a:prstGeom prst="rect">
              <a:avLst/>
            </a:prstGeom>
            <a:solidFill>
              <a:srgbClr val="C0C0C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2" name="Rectangle 27"/>
            <p:cNvSpPr>
              <a:spLocks noChangeArrowheads="1"/>
            </p:cNvSpPr>
            <p:nvPr/>
          </p:nvSpPr>
          <p:spPr bwMode="auto">
            <a:xfrm>
              <a:off x="1338" y="2931"/>
              <a:ext cx="907" cy="136"/>
            </a:xfrm>
            <a:prstGeom prst="rect">
              <a:avLst/>
            </a:prstGeom>
            <a:solidFill>
              <a:srgbClr val="FF99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3" name="Rectangle 28"/>
            <p:cNvSpPr>
              <a:spLocks noChangeArrowheads="1"/>
            </p:cNvSpPr>
            <p:nvPr/>
          </p:nvSpPr>
          <p:spPr bwMode="auto">
            <a:xfrm>
              <a:off x="1338" y="3203"/>
              <a:ext cx="907" cy="136"/>
            </a:xfrm>
            <a:prstGeom prst="rect">
              <a:avLst/>
            </a:prstGeom>
            <a:solidFill>
              <a:srgbClr val="CC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4" name="Rectangle 29"/>
            <p:cNvSpPr>
              <a:spLocks noChangeArrowheads="1"/>
            </p:cNvSpPr>
            <p:nvPr/>
          </p:nvSpPr>
          <p:spPr bwMode="auto">
            <a:xfrm>
              <a:off x="3969" y="2704"/>
              <a:ext cx="907" cy="136"/>
            </a:xfrm>
            <a:prstGeom prst="rect">
              <a:avLst/>
            </a:prstGeom>
            <a:solidFill>
              <a:srgbClr val="C0C0C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5" name="Rectangle 30"/>
            <p:cNvSpPr>
              <a:spLocks noChangeArrowheads="1"/>
            </p:cNvSpPr>
            <p:nvPr/>
          </p:nvSpPr>
          <p:spPr bwMode="auto">
            <a:xfrm>
              <a:off x="3969" y="2568"/>
              <a:ext cx="907" cy="136"/>
            </a:xfrm>
            <a:prstGeom prst="rect">
              <a:avLst/>
            </a:prstGeom>
            <a:solidFill>
              <a:srgbClr val="FF99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6" name="Rectangle 31"/>
            <p:cNvSpPr>
              <a:spLocks noChangeArrowheads="1"/>
            </p:cNvSpPr>
            <p:nvPr/>
          </p:nvSpPr>
          <p:spPr bwMode="auto">
            <a:xfrm>
              <a:off x="3969" y="2840"/>
              <a:ext cx="907" cy="136"/>
            </a:xfrm>
            <a:prstGeom prst="rect">
              <a:avLst/>
            </a:prstGeom>
            <a:solidFill>
              <a:srgbClr val="CC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7" name="Rectangle 32"/>
            <p:cNvSpPr>
              <a:spLocks noChangeArrowheads="1"/>
            </p:cNvSpPr>
            <p:nvPr/>
          </p:nvSpPr>
          <p:spPr bwMode="auto">
            <a:xfrm>
              <a:off x="3969" y="3112"/>
              <a:ext cx="907" cy="136"/>
            </a:xfrm>
            <a:prstGeom prst="rect">
              <a:avLst/>
            </a:prstGeom>
            <a:solidFill>
              <a:srgbClr val="C0C0C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8" name="Rectangle 33"/>
            <p:cNvSpPr>
              <a:spLocks noChangeArrowheads="1"/>
            </p:cNvSpPr>
            <p:nvPr/>
          </p:nvSpPr>
          <p:spPr bwMode="auto">
            <a:xfrm>
              <a:off x="3969" y="2976"/>
              <a:ext cx="907" cy="136"/>
            </a:xfrm>
            <a:prstGeom prst="rect">
              <a:avLst/>
            </a:prstGeom>
            <a:solidFill>
              <a:srgbClr val="FF99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29" name="Rectangle 34"/>
            <p:cNvSpPr>
              <a:spLocks noChangeArrowheads="1"/>
            </p:cNvSpPr>
            <p:nvPr/>
          </p:nvSpPr>
          <p:spPr bwMode="auto">
            <a:xfrm>
              <a:off x="3969" y="3248"/>
              <a:ext cx="907" cy="136"/>
            </a:xfrm>
            <a:prstGeom prst="rect">
              <a:avLst/>
            </a:prstGeom>
            <a:solidFill>
              <a:srgbClr val="CC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0" name="Rectangle 35"/>
            <p:cNvSpPr>
              <a:spLocks noChangeArrowheads="1"/>
            </p:cNvSpPr>
            <p:nvPr/>
          </p:nvSpPr>
          <p:spPr bwMode="auto">
            <a:xfrm>
              <a:off x="3969" y="3521"/>
              <a:ext cx="907" cy="136"/>
            </a:xfrm>
            <a:prstGeom prst="rect">
              <a:avLst/>
            </a:prstGeom>
            <a:solidFill>
              <a:srgbClr val="C0C0C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1" name="Rectangle 36"/>
            <p:cNvSpPr>
              <a:spLocks noChangeArrowheads="1"/>
            </p:cNvSpPr>
            <p:nvPr/>
          </p:nvSpPr>
          <p:spPr bwMode="auto">
            <a:xfrm>
              <a:off x="3969" y="3385"/>
              <a:ext cx="907" cy="136"/>
            </a:xfrm>
            <a:prstGeom prst="rect">
              <a:avLst/>
            </a:prstGeom>
            <a:solidFill>
              <a:srgbClr val="FF99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2" name="Rectangle 37"/>
            <p:cNvSpPr>
              <a:spLocks noChangeArrowheads="1"/>
            </p:cNvSpPr>
            <p:nvPr/>
          </p:nvSpPr>
          <p:spPr bwMode="auto">
            <a:xfrm>
              <a:off x="3969" y="3657"/>
              <a:ext cx="907" cy="136"/>
            </a:xfrm>
            <a:prstGeom prst="rect">
              <a:avLst/>
            </a:prstGeom>
            <a:solidFill>
              <a:srgbClr val="CC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33" name="Text Box 38"/>
            <p:cNvSpPr txBox="1">
              <a:spLocks noChangeArrowheads="1"/>
            </p:cNvSpPr>
            <p:nvPr/>
          </p:nvSpPr>
          <p:spPr bwMode="auto">
            <a:xfrm>
              <a:off x="521" y="2659"/>
              <a:ext cx="2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a:latin typeface="Arial" panose="020B0604020202020204" pitchFamily="34" charset="0"/>
                </a:rPr>
                <a:t>R</a:t>
              </a:r>
              <a:endParaRPr lang="en-US" altLang="zh-CN" sz="2000" b="1">
                <a:latin typeface="Arial" panose="020B0604020202020204" pitchFamily="34" charset="0"/>
              </a:endParaRPr>
            </a:p>
          </p:txBody>
        </p:sp>
        <p:sp>
          <p:nvSpPr>
            <p:cNvPr id="34" name="Text Box 39"/>
            <p:cNvSpPr txBox="1">
              <a:spLocks noChangeArrowheads="1"/>
            </p:cNvSpPr>
            <p:nvPr/>
          </p:nvSpPr>
          <p:spPr bwMode="auto">
            <a:xfrm>
              <a:off x="1383" y="2659"/>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a:latin typeface="Arial" panose="020B0604020202020204" pitchFamily="34" charset="0"/>
                </a:rPr>
                <a:t>S</a:t>
              </a:r>
              <a:endParaRPr lang="en-US" altLang="zh-CN" sz="2000" b="1">
                <a:latin typeface="Arial" panose="020B0604020202020204" pitchFamily="34" charset="0"/>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传统的集合运算</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graphicFrame>
        <p:nvGraphicFramePr>
          <p:cNvPr id="6" name="Group 254"/>
          <p:cNvGraphicFramePr>
            <a:graphicFrameLocks noGrp="1"/>
          </p:cNvGraphicFramePr>
          <p:nvPr/>
        </p:nvGraphicFramePr>
        <p:xfrm>
          <a:off x="3070220" y="1917777"/>
          <a:ext cx="2520950" cy="1401816"/>
        </p:xfrm>
        <a:graphic>
          <a:graphicData uri="http://schemas.openxmlformats.org/drawingml/2006/table">
            <a:tbl>
              <a:tblPr/>
              <a:tblGrid>
                <a:gridCol w="858838"/>
                <a:gridCol w="796925"/>
                <a:gridCol w="865187"/>
              </a:tblGrid>
              <a:tr h="39609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66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g</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e</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h</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f</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i</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7" name="Group 170"/>
          <p:cNvGraphicFramePr>
            <a:graphicFrameLocks noGrp="1"/>
          </p:cNvGraphicFramePr>
          <p:nvPr/>
        </p:nvGraphicFramePr>
        <p:xfrm>
          <a:off x="6670670" y="1917777"/>
          <a:ext cx="2447925" cy="1401816"/>
        </p:xfrm>
        <a:graphic>
          <a:graphicData uri="http://schemas.openxmlformats.org/drawingml/2006/table">
            <a:tbl>
              <a:tblPr/>
              <a:tblGrid>
                <a:gridCol w="835025"/>
                <a:gridCol w="773113"/>
                <a:gridCol w="839787"/>
              </a:tblGrid>
              <a:tr h="39609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66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j</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m</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n</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l</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p</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mc:Choice xmlns:a14="http://schemas.microsoft.com/office/drawing/2010/main" Requires="a14">
          <p:sp>
            <p:nvSpPr>
              <p:cNvPr id="8" name="Rectangle 167"/>
              <p:cNvSpPr>
                <a:spLocks noChangeArrowheads="1"/>
              </p:cNvSpPr>
              <p:nvPr/>
            </p:nvSpPr>
            <p:spPr bwMode="auto">
              <a:xfrm>
                <a:off x="3214683" y="3429077"/>
                <a:ext cx="20875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8448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800" dirty="0">
                    <a:latin typeface="Arial" panose="020B0604020202020204" pitchFamily="34" charset="0"/>
                  </a:rPr>
                  <a:t>(a</a:t>
                </a:r>
                <a14:m>
                  <m:oMath xmlns:m="http://schemas.openxmlformats.org/officeDocument/2006/math">
                    <m:r>
                      <a:rPr lang="en-US" altLang="zh-CN" sz="1800" i="1" dirty="0" smtClean="0">
                        <a:latin typeface="Cambria Math" panose="02040503050406030204" pitchFamily="18" charset="0"/>
                      </a:rPr>
                      <m:t>) </m:t>
                    </m:r>
                    <m:r>
                      <a:rPr lang="en-US" altLang="zh-CN" sz="1800" i="1" dirty="0" smtClean="0">
                        <a:latin typeface="Cambria Math" panose="02040503050406030204" pitchFamily="18" charset="0"/>
                      </a:rPr>
                      <m:t>𝑅</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𝐴</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𝐵</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𝐶</m:t>
                    </m:r>
                    <m:r>
                      <a:rPr lang="en-US" altLang="zh-CN" sz="1800" i="1" dirty="0" smtClean="0">
                        <a:latin typeface="Cambria Math" panose="02040503050406030204" pitchFamily="18" charset="0"/>
                      </a:rPr>
                      <m:t>)</m:t>
                    </m:r>
                  </m:oMath>
                </a14:m>
                <a:endParaRPr lang="en-US" altLang="zh-CN" sz="1800" dirty="0">
                  <a:latin typeface="Arial" panose="020B0604020202020204" pitchFamily="34" charset="0"/>
                </a:endParaRPr>
              </a:p>
            </p:txBody>
          </p:sp>
        </mc:Choice>
        <mc:Fallback>
          <p:sp>
            <p:nvSpPr>
              <p:cNvPr id="8" name="Rectangle 167"/>
              <p:cNvSpPr>
                <a:spLocks noRot="1" noChangeAspect="1" noMove="1" noResize="1" noEditPoints="1" noAdjustHandles="1" noChangeArrowheads="1" noChangeShapeType="1" noTextEdit="1"/>
              </p:cNvSpPr>
              <p:nvPr/>
            </p:nvSpPr>
            <p:spPr bwMode="auto">
              <a:xfrm>
                <a:off x="3214683" y="3429077"/>
                <a:ext cx="2087562" cy="366713"/>
              </a:xfrm>
              <a:prstGeom prst="rect">
                <a:avLst/>
              </a:prstGeom>
              <a:blipFill rotWithShape="1">
                <a:blip r:embed="rId1"/>
                <a:stretch>
                  <a:fillRect l="-15" t="-21" r="30" b="10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Rectangle 171"/>
              <p:cNvSpPr>
                <a:spLocks noChangeArrowheads="1"/>
              </p:cNvSpPr>
              <p:nvPr/>
            </p:nvSpPr>
            <p:spPr bwMode="auto">
              <a:xfrm>
                <a:off x="6816720" y="3444952"/>
                <a:ext cx="19431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8448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800" dirty="0">
                    <a:latin typeface="Arial" panose="020B0604020202020204" pitchFamily="34" charset="0"/>
                  </a:rPr>
                  <a:t>(b) </a:t>
                </a:r>
                <a14:m>
                  <m:oMath xmlns:m="http://schemas.openxmlformats.org/officeDocument/2006/math">
                    <m:r>
                      <a:rPr lang="en-US" altLang="zh-CN" sz="1800" i="1" dirty="0" smtClean="0">
                        <a:latin typeface="Cambria Math" panose="02040503050406030204" pitchFamily="18" charset="0"/>
                      </a:rPr>
                      <m:t>𝑆</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𝐴</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𝐵</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𝐶</m:t>
                    </m:r>
                    <m:r>
                      <a:rPr lang="en-US" altLang="zh-CN" sz="1800" i="1" dirty="0" smtClean="0">
                        <a:latin typeface="Cambria Math" panose="02040503050406030204" pitchFamily="18" charset="0"/>
                      </a:rPr>
                      <m:t>)</m:t>
                    </m:r>
                  </m:oMath>
                </a14:m>
                <a:endParaRPr lang="en-US" altLang="zh-CN" sz="1800" dirty="0">
                  <a:latin typeface="Arial" panose="020B0604020202020204" pitchFamily="34" charset="0"/>
                </a:endParaRPr>
              </a:p>
            </p:txBody>
          </p:sp>
        </mc:Choice>
        <mc:Fallback>
          <p:sp>
            <p:nvSpPr>
              <p:cNvPr id="9" name="Rectangle 171"/>
              <p:cNvSpPr>
                <a:spLocks noRot="1" noChangeAspect="1" noMove="1" noResize="1" noEditPoints="1" noAdjustHandles="1" noChangeArrowheads="1" noChangeShapeType="1" noTextEdit="1"/>
              </p:cNvSpPr>
              <p:nvPr/>
            </p:nvSpPr>
            <p:spPr bwMode="auto">
              <a:xfrm>
                <a:off x="6816720" y="3444952"/>
                <a:ext cx="1943100" cy="366713"/>
              </a:xfrm>
              <a:prstGeom prst="rect">
                <a:avLst/>
              </a:prstGeom>
              <a:blipFill rotWithShape="1">
                <a:blip r:embed="rId2"/>
                <a:stretch>
                  <a:fillRect l="-32" t="-21" r="32" b="10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aphicFrame>
        <p:nvGraphicFramePr>
          <p:cNvPr id="10" name="Group 255"/>
          <p:cNvGraphicFramePr>
            <a:graphicFrameLocks noGrp="1"/>
          </p:cNvGraphicFramePr>
          <p:nvPr/>
        </p:nvGraphicFramePr>
        <p:xfrm>
          <a:off x="2925758" y="4033915"/>
          <a:ext cx="2160587" cy="2011456"/>
        </p:xfrm>
        <a:graphic>
          <a:graphicData uri="http://schemas.openxmlformats.org/drawingml/2006/table">
            <a:tbl>
              <a:tblPr/>
              <a:tblGrid>
                <a:gridCol w="695325"/>
                <a:gridCol w="728662"/>
                <a:gridCol w="736600"/>
              </a:tblGrid>
              <a:tr h="396112">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1525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g</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j</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m</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e</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h</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n</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f</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i</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l</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p</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mc:Choice xmlns:a14="http://schemas.microsoft.com/office/drawing/2010/main" Requires="a14">
          <p:sp>
            <p:nvSpPr>
              <p:cNvPr id="11" name="Rectangle 257"/>
              <p:cNvSpPr>
                <a:spLocks noChangeArrowheads="1"/>
              </p:cNvSpPr>
              <p:nvPr/>
            </p:nvSpPr>
            <p:spPr bwMode="auto">
              <a:xfrm>
                <a:off x="3502020" y="6180215"/>
                <a:ext cx="1136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800" dirty="0">
                    <a:latin typeface="Arial" panose="020B0604020202020204" pitchFamily="34" charset="0"/>
                    <a:cs typeface="Times New Roman" panose="02020603050405020304" pitchFamily="18" charset="0"/>
                  </a:rPr>
                  <a:t>(a)</a:t>
                </a:r>
                <a14:m>
                  <m:oMath xmlns:m="http://schemas.openxmlformats.org/officeDocument/2006/math">
                    <m:r>
                      <a:rPr lang="en-US" altLang="zh-CN" sz="1800" i="1" dirty="0" smtClean="0">
                        <a:latin typeface="Cambria Math" panose="02040503050406030204" pitchFamily="18" charset="0"/>
                        <a:cs typeface="Times New Roman" panose="02020603050405020304" pitchFamily="18" charset="0"/>
                      </a:rPr>
                      <m:t>𝑅</m:t>
                    </m:r>
                    <m:r>
                      <a:rPr lang="en-US" altLang="zh-CN" sz="1800" i="1" dirty="0" smtClean="0">
                        <a:latin typeface="Cambria Math" panose="02040503050406030204" pitchFamily="18" charset="0"/>
                        <a:cs typeface="Times New Roman" panose="02020603050405020304" pitchFamily="18" charset="0"/>
                      </a:rPr>
                      <m:t>∪</m:t>
                    </m:r>
                    <m:r>
                      <a:rPr lang="en-US" altLang="zh-CN" sz="1800" i="1" dirty="0" smtClean="0">
                        <a:latin typeface="Cambria Math" panose="02040503050406030204" pitchFamily="18" charset="0"/>
                        <a:cs typeface="Times New Roman" panose="02020603050405020304" pitchFamily="18" charset="0"/>
                      </a:rPr>
                      <m:t>𝑆</m:t>
                    </m:r>
                    <m:r>
                      <a:rPr lang="en-US" altLang="zh-CN" sz="1800" i="1" dirty="0" smtClean="0">
                        <a:latin typeface="Cambria Math" panose="02040503050406030204" pitchFamily="18" charset="0"/>
                        <a:cs typeface="Times New Roman" panose="02020603050405020304" pitchFamily="18" charset="0"/>
                      </a:rPr>
                      <m:t>  </m:t>
                    </m:r>
                  </m:oMath>
                </a14:m>
                <a:endParaRPr lang="en-US" altLang="zh-CN" sz="1800" dirty="0">
                  <a:latin typeface="Arial" panose="020B0604020202020204" pitchFamily="34" charset="0"/>
                  <a:cs typeface="Times New Roman" panose="02020603050405020304" pitchFamily="18" charset="0"/>
                </a:endParaRPr>
              </a:p>
            </p:txBody>
          </p:sp>
        </mc:Choice>
        <mc:Fallback>
          <p:sp>
            <p:nvSpPr>
              <p:cNvPr id="11" name="Rectangle 257"/>
              <p:cNvSpPr>
                <a:spLocks noRot="1" noChangeAspect="1" noMove="1" noResize="1" noEditPoints="1" noAdjustHandles="1" noChangeArrowheads="1" noChangeShapeType="1" noTextEdit="1"/>
              </p:cNvSpPr>
              <p:nvPr/>
            </p:nvSpPr>
            <p:spPr bwMode="auto">
              <a:xfrm>
                <a:off x="3502020" y="6180215"/>
                <a:ext cx="1136650" cy="366712"/>
              </a:xfrm>
              <a:prstGeom prst="rect">
                <a:avLst/>
              </a:prstGeom>
              <a:blipFill rotWithShape="1">
                <a:blip r:embed="rId3"/>
                <a:stretch>
                  <a:fillRect l="-55" t="-108" r="55" b="2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aphicFrame>
        <p:nvGraphicFramePr>
          <p:cNvPr id="12" name="Group 338"/>
          <p:cNvGraphicFramePr>
            <a:graphicFrameLocks noGrp="1"/>
          </p:cNvGraphicFramePr>
          <p:nvPr/>
        </p:nvGraphicFramePr>
        <p:xfrm>
          <a:off x="5751508" y="4099002"/>
          <a:ext cx="1350962" cy="1096992"/>
        </p:xfrm>
        <a:graphic>
          <a:graphicData uri="http://schemas.openxmlformats.org/drawingml/2006/table">
            <a:tbl>
              <a:tblPr/>
              <a:tblGrid>
                <a:gridCol w="434975"/>
                <a:gridCol w="455612"/>
                <a:gridCol w="460375"/>
              </a:tblGrid>
              <a:tr h="396086">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0877">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g</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e</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h</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f</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i</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mc:Choice xmlns:a14="http://schemas.microsoft.com/office/drawing/2010/main" Requires="a14">
          <p:sp>
            <p:nvSpPr>
              <p:cNvPr id="13" name="Rectangle 339"/>
              <p:cNvSpPr>
                <a:spLocks noChangeArrowheads="1"/>
              </p:cNvSpPr>
              <p:nvPr/>
            </p:nvSpPr>
            <p:spPr bwMode="auto">
              <a:xfrm>
                <a:off x="5862632" y="6172994"/>
                <a:ext cx="1136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800" dirty="0">
                    <a:latin typeface="Arial" panose="020B0604020202020204" pitchFamily="34" charset="0"/>
                  </a:rPr>
                  <a:t> </a:t>
                </a:r>
                <a:r>
                  <a:rPr lang="en-US" altLang="zh-CN" sz="1800" dirty="0">
                    <a:latin typeface="Arial" panose="020B0604020202020204" pitchFamily="34" charset="0"/>
                  </a:rPr>
                  <a:t>(b)</a:t>
                </a:r>
                <a14:m>
                  <m:oMath xmlns:m="http://schemas.openxmlformats.org/officeDocument/2006/math">
                    <m:r>
                      <a:rPr lang="en-US" altLang="zh-CN" sz="1800" i="1" dirty="0" smtClean="0">
                        <a:latin typeface="Cambria Math" panose="02040503050406030204" pitchFamily="18" charset="0"/>
                      </a:rPr>
                      <m:t>𝑅</m:t>
                    </m:r>
                    <m:r>
                      <a:rPr lang="zh-CN" altLang="en-US" sz="1800" i="1" dirty="0">
                        <a:latin typeface="Cambria Math" panose="02040503050406030204" pitchFamily="18" charset="0"/>
                      </a:rPr>
                      <m:t>－</m:t>
                    </m:r>
                    <m:r>
                      <a:rPr lang="en-US" altLang="zh-CN" sz="1800" i="1" dirty="0">
                        <a:latin typeface="Cambria Math" panose="02040503050406030204" pitchFamily="18" charset="0"/>
                      </a:rPr>
                      <m:t>𝑆</m:t>
                    </m:r>
                  </m:oMath>
                </a14:m>
                <a:r>
                  <a:rPr lang="en-US" altLang="zh-CN" sz="1800" dirty="0">
                    <a:latin typeface="Arial" panose="020B0604020202020204" pitchFamily="34" charset="0"/>
                  </a:rPr>
                  <a:t> </a:t>
                </a:r>
                <a:endParaRPr lang="en-US" altLang="zh-CN" sz="1800" dirty="0">
                  <a:latin typeface="Arial" panose="020B0604020202020204" pitchFamily="34" charset="0"/>
                </a:endParaRPr>
              </a:p>
            </p:txBody>
          </p:sp>
        </mc:Choice>
        <mc:Fallback>
          <p:sp>
            <p:nvSpPr>
              <p:cNvPr id="13" name="Rectangle 339"/>
              <p:cNvSpPr>
                <a:spLocks noRot="1" noChangeAspect="1" noMove="1" noResize="1" noEditPoints="1" noAdjustHandles="1" noChangeArrowheads="1" noChangeShapeType="1" noTextEdit="1"/>
              </p:cNvSpPr>
              <p:nvPr/>
            </p:nvSpPr>
            <p:spPr bwMode="auto">
              <a:xfrm>
                <a:off x="5862632" y="6172994"/>
                <a:ext cx="1136650" cy="366712"/>
              </a:xfrm>
              <a:prstGeom prst="rect">
                <a:avLst/>
              </a:prstGeom>
              <a:blipFill rotWithShape="1">
                <a:blip r:embed="rId4"/>
                <a:stretch>
                  <a:fillRect l="-27" t="-43" r="27" b="13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aphicFrame>
        <p:nvGraphicFramePr>
          <p:cNvPr id="14" name="Group 420"/>
          <p:cNvGraphicFramePr>
            <a:graphicFrameLocks noGrp="1"/>
          </p:cNvGraphicFramePr>
          <p:nvPr/>
        </p:nvGraphicFramePr>
        <p:xfrm>
          <a:off x="7985120" y="4099002"/>
          <a:ext cx="1350963" cy="792172"/>
        </p:xfrm>
        <a:graphic>
          <a:graphicData uri="http://schemas.openxmlformats.org/drawingml/2006/table">
            <a:tbl>
              <a:tblPr/>
              <a:tblGrid>
                <a:gridCol w="434975"/>
                <a:gridCol w="455613"/>
                <a:gridCol w="460375"/>
              </a:tblGrid>
              <a:tr h="39608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3" marB="4564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3" marB="4564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3" marB="4564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08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3" marB="4564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3" marB="4564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3" marB="4564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mc:Choice xmlns:a14="http://schemas.microsoft.com/office/drawing/2010/main" Requires="a14">
          <p:sp>
            <p:nvSpPr>
              <p:cNvPr id="15" name="Rectangle 421"/>
              <p:cNvSpPr>
                <a:spLocks noChangeArrowheads="1"/>
              </p:cNvSpPr>
              <p:nvPr/>
            </p:nvSpPr>
            <p:spPr bwMode="auto">
              <a:xfrm>
                <a:off x="7894633" y="6180215"/>
                <a:ext cx="1314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800" dirty="0">
                    <a:latin typeface="Arial" panose="020B0604020202020204" pitchFamily="34" charset="0"/>
                  </a:rPr>
                  <a:t>    </a:t>
                </a:r>
                <a:r>
                  <a:rPr lang="en-US" altLang="zh-CN" sz="1800" dirty="0">
                    <a:latin typeface="Arial" panose="020B0604020202020204" pitchFamily="34" charset="0"/>
                  </a:rPr>
                  <a:t>(c)</a:t>
                </a:r>
                <a14:m>
                  <m:oMath xmlns:m="http://schemas.openxmlformats.org/officeDocument/2006/math">
                    <m:r>
                      <a:rPr lang="en-US" altLang="zh-CN" sz="1800" i="1" dirty="0" smtClean="0">
                        <a:latin typeface="Cambria Math" panose="02040503050406030204" pitchFamily="18" charset="0"/>
                      </a:rPr>
                      <m:t>𝑅</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𝑆</m:t>
                    </m:r>
                    <m:r>
                      <a:rPr lang="en-US" altLang="zh-CN" sz="1800" i="1" dirty="0" smtClean="0">
                        <a:latin typeface="Cambria Math" panose="02040503050406030204" pitchFamily="18" charset="0"/>
                      </a:rPr>
                      <m:t> </m:t>
                    </m:r>
                  </m:oMath>
                </a14:m>
                <a:endParaRPr lang="en-US" altLang="zh-CN" sz="1800" dirty="0">
                  <a:latin typeface="Arial" panose="020B0604020202020204" pitchFamily="34" charset="0"/>
                </a:endParaRPr>
              </a:p>
            </p:txBody>
          </p:sp>
        </mc:Choice>
        <mc:Fallback>
          <p:sp>
            <p:nvSpPr>
              <p:cNvPr id="15" name="Rectangle 421"/>
              <p:cNvSpPr>
                <a:spLocks noRot="1" noChangeAspect="1" noMove="1" noResize="1" noEditPoints="1" noAdjustHandles="1" noChangeArrowheads="1" noChangeShapeType="1" noTextEdit="1"/>
              </p:cNvSpPr>
              <p:nvPr/>
            </p:nvSpPr>
            <p:spPr bwMode="auto">
              <a:xfrm>
                <a:off x="7894633" y="6180215"/>
                <a:ext cx="1314450" cy="366712"/>
              </a:xfrm>
              <a:prstGeom prst="rect">
                <a:avLst/>
              </a:prstGeom>
              <a:blipFill rotWithShape="1">
                <a:blip r:embed="rId5"/>
                <a:stretch>
                  <a:fillRect l="-24" t="-108" r="24" b="2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传统的集合运算</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graphicFrame>
        <p:nvGraphicFramePr>
          <p:cNvPr id="6" name="Group 6"/>
          <p:cNvGraphicFramePr>
            <a:graphicFrameLocks noGrp="1"/>
          </p:cNvGraphicFramePr>
          <p:nvPr/>
        </p:nvGraphicFramePr>
        <p:xfrm>
          <a:off x="3013656" y="2164846"/>
          <a:ext cx="2520950" cy="1401816"/>
        </p:xfrm>
        <a:graphic>
          <a:graphicData uri="http://schemas.openxmlformats.org/drawingml/2006/table">
            <a:tbl>
              <a:tblPr/>
              <a:tblGrid>
                <a:gridCol w="858837"/>
                <a:gridCol w="796925"/>
                <a:gridCol w="865188"/>
              </a:tblGrid>
              <a:tr h="39609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66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g</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e</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h</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f</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I</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7" name="Group 233"/>
          <p:cNvGraphicFramePr>
            <a:graphicFrameLocks noGrp="1"/>
          </p:cNvGraphicFramePr>
          <p:nvPr/>
        </p:nvGraphicFramePr>
        <p:xfrm>
          <a:off x="3013656" y="4419096"/>
          <a:ext cx="2447925" cy="1401816"/>
        </p:xfrm>
        <a:graphic>
          <a:graphicData uri="http://schemas.openxmlformats.org/drawingml/2006/table">
            <a:tbl>
              <a:tblPr/>
              <a:tblGrid>
                <a:gridCol w="835025"/>
                <a:gridCol w="820737"/>
                <a:gridCol w="792163"/>
              </a:tblGrid>
              <a:tr h="39609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66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j</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m</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n</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l</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p</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mc:Choice xmlns:a14="http://schemas.microsoft.com/office/drawing/2010/main" Requires="a14">
          <p:sp>
            <p:nvSpPr>
              <p:cNvPr id="8" name="Rectangle 34"/>
              <p:cNvSpPr>
                <a:spLocks noChangeArrowheads="1"/>
              </p:cNvSpPr>
              <p:nvPr/>
            </p:nvSpPr>
            <p:spPr bwMode="auto">
              <a:xfrm>
                <a:off x="3231143" y="3676146"/>
                <a:ext cx="20875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8448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800" dirty="0">
                    <a:latin typeface="Arial" panose="020B0604020202020204" pitchFamily="34" charset="0"/>
                  </a:rPr>
                  <a:t>(a) </a:t>
                </a:r>
                <a14:m>
                  <m:oMath xmlns:m="http://schemas.openxmlformats.org/officeDocument/2006/math">
                    <m:r>
                      <a:rPr lang="en-US" altLang="zh-CN" sz="1800" i="1" dirty="0" smtClean="0">
                        <a:latin typeface="Cambria Math" panose="02040503050406030204" pitchFamily="18" charset="0"/>
                      </a:rPr>
                      <m:t>𝑅</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𝐴</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𝐵</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𝐶</m:t>
                    </m:r>
                    <m:r>
                      <a:rPr lang="en-US" altLang="zh-CN" sz="1800" i="1" dirty="0" smtClean="0">
                        <a:latin typeface="Cambria Math" panose="02040503050406030204" pitchFamily="18" charset="0"/>
                      </a:rPr>
                      <m:t>)</m:t>
                    </m:r>
                  </m:oMath>
                </a14:m>
                <a:endParaRPr lang="en-US" altLang="zh-CN" sz="1800" dirty="0">
                  <a:latin typeface="Arial" panose="020B0604020202020204" pitchFamily="34" charset="0"/>
                </a:endParaRPr>
              </a:p>
            </p:txBody>
          </p:sp>
        </mc:Choice>
        <mc:Fallback>
          <p:sp>
            <p:nvSpPr>
              <p:cNvPr id="8" name="Rectangle 34"/>
              <p:cNvSpPr>
                <a:spLocks noRot="1" noChangeAspect="1" noMove="1" noResize="1" noEditPoints="1" noAdjustHandles="1" noChangeArrowheads="1" noChangeShapeType="1" noTextEdit="1"/>
              </p:cNvSpPr>
              <p:nvPr/>
            </p:nvSpPr>
            <p:spPr bwMode="auto">
              <a:xfrm>
                <a:off x="3231143" y="3676146"/>
                <a:ext cx="2087563" cy="366713"/>
              </a:xfrm>
              <a:prstGeom prst="rect">
                <a:avLst/>
              </a:prstGeom>
              <a:blipFill rotWithShape="1">
                <a:blip r:embed="rId1"/>
                <a:stretch>
                  <a:fillRect l="-13" t="-36" r="28" b="12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Rectangle 35"/>
              <p:cNvSpPr>
                <a:spLocks noChangeArrowheads="1"/>
              </p:cNvSpPr>
              <p:nvPr/>
            </p:nvSpPr>
            <p:spPr bwMode="auto">
              <a:xfrm>
                <a:off x="3231143" y="5930396"/>
                <a:ext cx="19431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8448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800" dirty="0">
                    <a:latin typeface="Arial" panose="020B0604020202020204" pitchFamily="34" charset="0"/>
                  </a:rPr>
                  <a:t>(b) </a:t>
                </a:r>
                <a14:m>
                  <m:oMath xmlns:m="http://schemas.openxmlformats.org/officeDocument/2006/math">
                    <m:r>
                      <a:rPr lang="en-US" altLang="zh-CN" sz="1800" i="1" dirty="0" smtClean="0">
                        <a:latin typeface="Cambria Math" panose="02040503050406030204" pitchFamily="18" charset="0"/>
                      </a:rPr>
                      <m:t>𝑆</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𝐴</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𝐵</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𝐶</m:t>
                    </m:r>
                    <m:r>
                      <a:rPr lang="en-US" altLang="zh-CN" sz="1800" i="1" dirty="0" smtClean="0">
                        <a:latin typeface="Cambria Math" panose="02040503050406030204" pitchFamily="18" charset="0"/>
                      </a:rPr>
                      <m:t>)</m:t>
                    </m:r>
                  </m:oMath>
                </a14:m>
                <a:endParaRPr lang="en-US" altLang="zh-CN" sz="1800" dirty="0">
                  <a:latin typeface="Arial" panose="020B0604020202020204" pitchFamily="34" charset="0"/>
                </a:endParaRPr>
              </a:p>
            </p:txBody>
          </p:sp>
        </mc:Choice>
        <mc:Fallback>
          <p:sp>
            <p:nvSpPr>
              <p:cNvPr id="9" name="Rectangle 35"/>
              <p:cNvSpPr>
                <a:spLocks noRot="1" noChangeAspect="1" noMove="1" noResize="1" noEditPoints="1" noAdjustHandles="1" noChangeArrowheads="1" noChangeShapeType="1" noTextEdit="1"/>
              </p:cNvSpPr>
              <p:nvPr/>
            </p:nvSpPr>
            <p:spPr bwMode="auto">
              <a:xfrm>
                <a:off x="3231143" y="5930396"/>
                <a:ext cx="1943100" cy="366713"/>
              </a:xfrm>
              <a:prstGeom prst="rect">
                <a:avLst/>
              </a:prstGeom>
              <a:blipFill rotWithShape="1">
                <a:blip r:embed="rId2"/>
                <a:stretch>
                  <a:fillRect l="-14" t="-36" r="14" b="12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Rectangle 65"/>
              <p:cNvSpPr>
                <a:spLocks noChangeArrowheads="1"/>
              </p:cNvSpPr>
              <p:nvPr/>
            </p:nvSpPr>
            <p:spPr bwMode="auto">
              <a:xfrm>
                <a:off x="7406268" y="5563684"/>
                <a:ext cx="1136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800" dirty="0">
                    <a:latin typeface="Arial" panose="020B0604020202020204" pitchFamily="34" charset="0"/>
                  </a:rPr>
                  <a:t> </a:t>
                </a:r>
                <a:r>
                  <a:rPr lang="en-US" altLang="zh-CN" sz="1800" dirty="0">
                    <a:latin typeface="Arial" panose="020B0604020202020204" pitchFamily="34" charset="0"/>
                  </a:rPr>
                  <a:t>(d)</a:t>
                </a:r>
                <a14:m>
                  <m:oMath xmlns:m="http://schemas.openxmlformats.org/officeDocument/2006/math">
                    <m:r>
                      <a:rPr lang="en-US" altLang="zh-CN" sz="1800" i="1" dirty="0" smtClean="0">
                        <a:latin typeface="Cambria Math" panose="02040503050406030204" pitchFamily="18" charset="0"/>
                      </a:rPr>
                      <m:t>𝑅</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𝑆</m:t>
                    </m:r>
                    <m:r>
                      <a:rPr lang="en-US" altLang="zh-CN" sz="1800" i="1" dirty="0" smtClean="0">
                        <a:latin typeface="Cambria Math" panose="02040503050406030204" pitchFamily="18" charset="0"/>
                      </a:rPr>
                      <m:t> </m:t>
                    </m:r>
                  </m:oMath>
                </a14:m>
                <a:endParaRPr lang="en-US" altLang="zh-CN" sz="1800" dirty="0">
                  <a:latin typeface="Arial" panose="020B0604020202020204" pitchFamily="34" charset="0"/>
                </a:endParaRPr>
              </a:p>
            </p:txBody>
          </p:sp>
        </mc:Choice>
        <mc:Fallback>
          <p:sp>
            <p:nvSpPr>
              <p:cNvPr id="10" name="Rectangle 65"/>
              <p:cNvSpPr>
                <a:spLocks noRot="1" noChangeAspect="1" noMove="1" noResize="1" noEditPoints="1" noAdjustHandles="1" noChangeArrowheads="1" noChangeShapeType="1" noTextEdit="1"/>
              </p:cNvSpPr>
              <p:nvPr/>
            </p:nvSpPr>
            <p:spPr bwMode="auto">
              <a:xfrm>
                <a:off x="7406268" y="5563684"/>
                <a:ext cx="1136650" cy="366712"/>
              </a:xfrm>
              <a:prstGeom prst="rect">
                <a:avLst/>
              </a:prstGeom>
              <a:blipFill rotWithShape="1">
                <a:blip r:embed="rId3"/>
                <a:stretch>
                  <a:fillRect l="-23" t="-122" r="23" b="3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aphicFrame>
        <p:nvGraphicFramePr>
          <p:cNvPr id="11" name="Group 232"/>
          <p:cNvGraphicFramePr>
            <a:graphicFrameLocks noGrp="1"/>
          </p:cNvGraphicFramePr>
          <p:nvPr/>
        </p:nvGraphicFramePr>
        <p:xfrm>
          <a:off x="6471231" y="2198184"/>
          <a:ext cx="3028950" cy="3230712"/>
        </p:xfrm>
        <a:graphic>
          <a:graphicData uri="http://schemas.openxmlformats.org/drawingml/2006/table">
            <a:tbl>
              <a:tblPr/>
              <a:tblGrid>
                <a:gridCol w="504825"/>
                <a:gridCol w="504825"/>
                <a:gridCol w="504825"/>
                <a:gridCol w="504825"/>
                <a:gridCol w="504825"/>
                <a:gridCol w="504825"/>
              </a:tblGrid>
              <a:tr h="396141">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78" marB="4567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78" marB="4567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78" marB="4567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78" marB="4567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78" marB="4567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rgbClr val="FF66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78" marB="4567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834421">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g</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g</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g</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78" marB="4567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e</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e</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e</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h</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h</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h</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78" marB="4567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f</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f</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f</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i</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i</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I</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78" marB="4567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j</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m</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j</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m</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j</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m</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78" marB="4567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n</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n</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k</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n</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78" marB="4567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l</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p</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l</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p</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l</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p</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78" marB="4567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专门的关系运算</a:t>
                </a:r>
                <a:endParaRPr lang="en-US" altLang="zh-CN" dirty="0"/>
              </a:p>
              <a:p>
                <a:pPr lvl="1"/>
                <a:r>
                  <a:rPr lang="zh-CN" altLang="en-US" dirty="0"/>
                  <a:t>选择（</a:t>
                </a:r>
                <a:r>
                  <a:rPr lang="en-US" altLang="zh-CN" dirty="0"/>
                  <a:t>selection</a:t>
                </a:r>
                <a:r>
                  <a:rPr lang="zh-CN" altLang="en-US" dirty="0"/>
                  <a:t>）</a:t>
                </a:r>
                <a:endParaRPr lang="en-US" altLang="zh-CN" dirty="0"/>
              </a:p>
              <a:p>
                <a:pPr marL="914400" lvl="2" indent="0">
                  <a:buNone/>
                </a:pPr>
                <a14:m>
                  <m:oMathPara xmlns:m="http://schemas.openxmlformats.org/officeDocument/2006/math">
                    <m:oMathParaPr>
                      <m:jc m:val="centerGroup"/>
                    </m:oMathParaPr>
                    <m:oMath xmlns:m="http://schemas.openxmlformats.org/officeDocument/2006/math">
                      <m:r>
                        <a:rPr lang="el-GR" altLang="zh-CN" i="1">
                          <a:latin typeface="Cambria Math" panose="02040503050406030204" pitchFamily="18" charset="0"/>
                        </a:rPr>
                        <m:t>𝜎</m:t>
                      </m:r>
                      <m:r>
                        <a:rPr lang="en-US" altLang="zh-CN" i="1">
                          <a:latin typeface="Cambria Math" panose="02040503050406030204" pitchFamily="18" charset="0"/>
                        </a:rPr>
                        <m:t>𝐹</m:t>
                      </m:r>
                      <m:r>
                        <a:rPr lang="en-US" altLang="zh-CN" i="1">
                          <a:latin typeface="Cambria Math" panose="02040503050406030204" pitchFamily="18" charset="0"/>
                        </a:rPr>
                        <m:t>(</m:t>
                      </m:r>
                      <m:r>
                        <a:rPr lang="en-US" altLang="zh-CN" i="1">
                          <a:latin typeface="Cambria Math" panose="02040503050406030204" pitchFamily="18" charset="0"/>
                        </a:rPr>
                        <m:t>𝑅</m:t>
                      </m:r>
                      <m:r>
                        <a:rPr lang="en-US" altLang="zh-CN" i="1">
                          <a:latin typeface="Cambria Math" panose="02040503050406030204" pitchFamily="18" charset="0"/>
                        </a:rPr>
                        <m:t>)</m:t>
                      </m:r>
                      <m:r>
                        <a:rPr lang="zh-CN" altLang="en-US" i="1">
                          <a:latin typeface="Cambria Math" panose="02040503050406030204" pitchFamily="18" charset="0"/>
                        </a:rPr>
                        <m:t>＝</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 </m:t>
                      </m:r>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𝑅</m:t>
                      </m:r>
                      <m:r>
                        <a:rPr lang="en-US" altLang="zh-CN" i="1">
                          <a:latin typeface="Cambria Math" panose="02040503050406030204" pitchFamily="18" charset="0"/>
                        </a:rPr>
                        <m:t>∧</m:t>
                      </m:r>
                      <m:r>
                        <a:rPr lang="en-US" altLang="zh-CN" i="1">
                          <a:latin typeface="Cambria Math" panose="02040503050406030204" pitchFamily="18" charset="0"/>
                        </a:rPr>
                        <m:t>𝐹</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𝑡𝑟𝑢𝑒</m:t>
                      </m:r>
                      <m:r>
                        <a:rPr lang="en-US" altLang="zh-CN" i="1">
                          <a:latin typeface="Cambria Math" panose="02040503050406030204" pitchFamily="18" charset="0"/>
                        </a:rPr>
                        <m:t>}</m:t>
                      </m:r>
                    </m:oMath>
                  </m:oMathPara>
                </a14:m>
                <a:endParaRPr lang="en-US" altLang="zh-CN" dirty="0"/>
              </a:p>
              <a:p>
                <a:pPr lvl="2"/>
                <a:r>
                  <a:rPr lang="zh-CN" altLang="en-US" dirty="0"/>
                  <a:t>其中</a:t>
                </a:r>
                <a:r>
                  <a:rPr lang="en-US" altLang="zh-CN" dirty="0"/>
                  <a:t>σ</a:t>
                </a:r>
                <a:r>
                  <a:rPr lang="zh-CN" altLang="en-US" dirty="0"/>
                  <a:t>是选择算符，表示进行选择运算，</a:t>
                </a:r>
                <a:r>
                  <a:rPr lang="en-US" altLang="zh-CN" dirty="0"/>
                  <a:t>F</a:t>
                </a:r>
                <a:r>
                  <a:rPr lang="zh-CN" altLang="en-US" dirty="0"/>
                  <a:t>是选择条件，最简单的选择条件形如</a:t>
                </a:r>
                <a14:m>
                  <m:oMath xmlns:m="http://schemas.openxmlformats.org/officeDocument/2006/math">
                    <m:r>
                      <a:rPr lang="en-US" altLang="zh-CN" i="1" dirty="0" smtClean="0">
                        <a:latin typeface="Cambria Math" panose="02040503050406030204" pitchFamily="18" charset="0"/>
                      </a:rPr>
                      <m:t>𝑋</m:t>
                    </m:r>
                    <m:r>
                      <a:rPr lang="en-US" altLang="zh-CN" i="1" dirty="0" smtClean="0">
                        <a:latin typeface="Cambria Math" panose="02040503050406030204" pitchFamily="18" charset="0"/>
                      </a:rPr>
                      <m:t>𝜃</m:t>
                    </m:r>
                    <m:r>
                      <a:rPr lang="en-US" altLang="zh-CN" i="1" dirty="0" smtClean="0">
                        <a:latin typeface="Cambria Math" panose="02040503050406030204" pitchFamily="18" charset="0"/>
                      </a:rPr>
                      <m:t>𝑌</m:t>
                    </m:r>
                  </m:oMath>
                </a14:m>
                <a:r>
                  <a:rPr lang="zh-CN" altLang="en-US" dirty="0"/>
                  <a:t>或者</a:t>
                </a:r>
                <a14:m>
                  <m:oMath xmlns:m="http://schemas.openxmlformats.org/officeDocument/2006/math">
                    <m:r>
                      <a:rPr lang="en-US" altLang="zh-CN" i="1" dirty="0" smtClean="0">
                        <a:latin typeface="Cambria Math" panose="02040503050406030204" pitchFamily="18" charset="0"/>
                      </a:rPr>
                      <m:t>𝑋</m:t>
                    </m:r>
                    <m:r>
                      <a:rPr lang="en-US" altLang="zh-CN" i="1" dirty="0" smtClean="0">
                        <a:latin typeface="Cambria Math" panose="02040503050406030204" pitchFamily="18" charset="0"/>
                      </a:rPr>
                      <m:t>𝜃</m:t>
                    </m:r>
                    <m:r>
                      <a:rPr lang="en-US" altLang="zh-CN" i="1" dirty="0" smtClean="0">
                        <a:latin typeface="Cambria Math" panose="02040503050406030204" pitchFamily="18" charset="0"/>
                      </a:rPr>
                      <m:t>𝑐</m:t>
                    </m:r>
                  </m:oMath>
                </a14:m>
                <a:r>
                  <a:rPr lang="zh-CN" altLang="en-US" dirty="0"/>
                  <a:t>，</a:t>
                </a:r>
                <a:r>
                  <a:rPr lang="en-US" altLang="zh-CN" dirty="0"/>
                  <a:t>X</a:t>
                </a:r>
                <a:r>
                  <a:rPr lang="zh-CN" altLang="en-US" dirty="0"/>
                  <a:t>，</a:t>
                </a:r>
                <a:r>
                  <a:rPr lang="en-US" altLang="zh-CN" dirty="0"/>
                  <a:t>Y</a:t>
                </a:r>
                <a:r>
                  <a:rPr lang="zh-CN" altLang="en-US" dirty="0"/>
                  <a:t>是属性名，</a:t>
                </a:r>
                <a:r>
                  <a:rPr lang="en-US" altLang="zh-CN" dirty="0"/>
                  <a:t>c</a:t>
                </a:r>
                <a:r>
                  <a:rPr lang="zh-CN" altLang="en-US" dirty="0"/>
                  <a:t>是常量，</a:t>
                </a:r>
                <a:r>
                  <a:rPr lang="en-US" altLang="zh-CN" dirty="0"/>
                  <a:t>θ</a:t>
                </a:r>
                <a:r>
                  <a:rPr lang="zh-CN" altLang="en-US" dirty="0"/>
                  <a:t>是算术比较运算符，包括＞，≥，＜，≤，＝，≠等。可以由简单的选择条件通过逻辑运算符构成更为复杂的条件，逻辑运算符包括∧，∨和</a:t>
                </a:r>
                <a:r>
                  <a:rPr lang="en-US" altLang="zh-CN" dirty="0"/>
                  <a:t>﹁</a:t>
                </a:r>
                <a:r>
                  <a:rPr lang="zh-CN" altLang="en-US" dirty="0"/>
                  <a:t>。</a:t>
                </a:r>
                <a:endParaRPr lang="zh-CN" altLang="en-US" dirty="0"/>
              </a:p>
              <a:p>
                <a:pPr lvl="2"/>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894"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专门的关系运算</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
        <p:nvSpPr>
          <p:cNvPr id="8" name="Text Box 4"/>
          <p:cNvSpPr txBox="1">
            <a:spLocks noChangeArrowheads="1"/>
          </p:cNvSpPr>
          <p:nvPr/>
        </p:nvSpPr>
        <p:spPr bwMode="auto">
          <a:xfrm>
            <a:off x="3191309" y="1974850"/>
            <a:ext cx="21732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35000"/>
              </a:spcBef>
              <a:buClr>
                <a:schemeClr val="tx2"/>
              </a:buClr>
              <a:buSzPct val="90000"/>
              <a:buFont typeface="Monotype Sorts"/>
              <a:buChar char="n"/>
            </a:pPr>
            <a:r>
              <a:rPr kumimoji="1" lang="en-US" altLang="zh-CN" sz="2400" dirty="0">
                <a:latin typeface="Helvetica" panose="020B0604020202020204" pitchFamily="34" charset="0"/>
              </a:rPr>
              <a:t>Relation r</a:t>
            </a:r>
            <a:endParaRPr kumimoji="1" lang="en-US" altLang="zh-CN" sz="2400" dirty="0">
              <a:latin typeface="Helvetica" panose="020B0604020202020204" pitchFamily="34" charset="0"/>
            </a:endParaRPr>
          </a:p>
        </p:txBody>
      </p:sp>
      <p:grpSp>
        <p:nvGrpSpPr>
          <p:cNvPr id="9" name="Group 5"/>
          <p:cNvGrpSpPr/>
          <p:nvPr/>
        </p:nvGrpSpPr>
        <p:grpSpPr bwMode="auto">
          <a:xfrm>
            <a:off x="5821797" y="1746250"/>
            <a:ext cx="1828800" cy="457200"/>
            <a:chOff x="2208" y="760"/>
            <a:chExt cx="1152" cy="288"/>
          </a:xfrm>
        </p:grpSpPr>
        <p:sp>
          <p:nvSpPr>
            <p:cNvPr id="10" name="Rectangle 6"/>
            <p:cNvSpPr>
              <a:spLocks noChangeArrowheads="1"/>
            </p:cNvSpPr>
            <p:nvPr/>
          </p:nvSpPr>
          <p:spPr bwMode="auto">
            <a:xfrm>
              <a:off x="2208" y="760"/>
              <a:ext cx="288" cy="28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A</a:t>
              </a:r>
              <a:endParaRPr lang="en-US" altLang="zh-CN" sz="1800" i="1">
                <a:latin typeface="Helvetica" panose="020B0604020202020204" pitchFamily="34" charset="0"/>
              </a:endParaRPr>
            </a:p>
          </p:txBody>
        </p:sp>
        <p:sp>
          <p:nvSpPr>
            <p:cNvPr id="11" name="Rectangle 7"/>
            <p:cNvSpPr>
              <a:spLocks noChangeArrowheads="1"/>
            </p:cNvSpPr>
            <p:nvPr/>
          </p:nvSpPr>
          <p:spPr bwMode="auto">
            <a:xfrm>
              <a:off x="2496" y="760"/>
              <a:ext cx="288" cy="28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B</a:t>
              </a:r>
              <a:endParaRPr lang="en-US" altLang="zh-CN" sz="1800" i="1">
                <a:latin typeface="Helvetica" panose="020B0604020202020204" pitchFamily="34" charset="0"/>
              </a:endParaRPr>
            </a:p>
          </p:txBody>
        </p:sp>
        <p:sp>
          <p:nvSpPr>
            <p:cNvPr id="12" name="Rectangle 8"/>
            <p:cNvSpPr>
              <a:spLocks noChangeArrowheads="1"/>
            </p:cNvSpPr>
            <p:nvPr/>
          </p:nvSpPr>
          <p:spPr bwMode="auto">
            <a:xfrm>
              <a:off x="2784" y="760"/>
              <a:ext cx="288" cy="28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C</a:t>
              </a:r>
              <a:endParaRPr lang="en-US" altLang="zh-CN" sz="1800" i="1">
                <a:latin typeface="Helvetica" panose="020B0604020202020204" pitchFamily="34" charset="0"/>
              </a:endParaRPr>
            </a:p>
          </p:txBody>
        </p:sp>
        <p:sp>
          <p:nvSpPr>
            <p:cNvPr id="13" name="Rectangle 9"/>
            <p:cNvSpPr>
              <a:spLocks noChangeArrowheads="1"/>
            </p:cNvSpPr>
            <p:nvPr/>
          </p:nvSpPr>
          <p:spPr bwMode="auto">
            <a:xfrm>
              <a:off x="3072" y="760"/>
              <a:ext cx="288" cy="28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D</a:t>
              </a:r>
              <a:endParaRPr lang="en-US" altLang="zh-CN" sz="1800" i="1">
                <a:latin typeface="Helvetica" panose="020B0604020202020204" pitchFamily="34" charset="0"/>
              </a:endParaRPr>
            </a:p>
          </p:txBody>
        </p:sp>
      </p:grpSp>
      <mc:AlternateContent xmlns:mc="http://schemas.openxmlformats.org/markup-compatibility/2006">
        <mc:Choice xmlns:a14="http://schemas.microsoft.com/office/drawing/2010/main" Requires="a14">
          <p:sp>
            <p:nvSpPr>
              <p:cNvPr id="14" name="Text Box 10"/>
              <p:cNvSpPr txBox="1">
                <a:spLocks noChangeArrowheads="1"/>
              </p:cNvSpPr>
              <p:nvPr/>
            </p:nvSpPr>
            <p:spPr bwMode="auto">
              <a:xfrm>
                <a:off x="3110347" y="4499918"/>
                <a:ext cx="2330450"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30505" indent="-230505">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marL="0" indent="0" algn="ctr">
                  <a:spcBef>
                    <a:spcPct val="50000"/>
                  </a:spcBef>
                  <a:buClr>
                    <a:schemeClr val="tx2"/>
                  </a:buClr>
                  <a:buNone/>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sym typeface="Symbol" panose="05050102010706020507" pitchFamily="18" charset="2"/>
                            </a:rPr>
                          </m:ctrlPr>
                        </m:sSubPr>
                        <m:e>
                          <m:r>
                            <a:rPr lang="zh-CN" altLang="en-US" sz="2400" i="1" smtClean="0">
                              <a:latin typeface="Cambria Math" panose="02040503050406030204" pitchFamily="18" charset="0"/>
                              <a:sym typeface="Symbol" panose="05050102010706020507" pitchFamily="18" charset="2"/>
                            </a:rPr>
                            <m:t>𝜎</m:t>
                          </m:r>
                        </m:e>
                        <m:sub>
                          <m:r>
                            <a:rPr lang="en-US" altLang="zh-CN" sz="2400" b="0" i="1" smtClean="0">
                              <a:latin typeface="Cambria Math" panose="02040503050406030204" pitchFamily="18" charset="0"/>
                              <a:sym typeface="Symbol" panose="05050102010706020507" pitchFamily="18" charset="2"/>
                            </a:rPr>
                            <m:t>𝐴</m:t>
                          </m:r>
                          <m:r>
                            <a:rPr lang="en-US" altLang="zh-CN" sz="2400" b="0" i="1" smtClean="0">
                              <a:latin typeface="Cambria Math" panose="02040503050406030204" pitchFamily="18" charset="0"/>
                              <a:sym typeface="Symbol" panose="05050102010706020507" pitchFamily="18" charset="2"/>
                            </a:rPr>
                            <m:t>=</m:t>
                          </m:r>
                          <m:r>
                            <a:rPr lang="en-US" altLang="zh-CN" sz="2400" b="0" i="1" smtClean="0">
                              <a:latin typeface="Cambria Math" panose="02040503050406030204" pitchFamily="18" charset="0"/>
                              <a:sym typeface="Symbol" panose="05050102010706020507" pitchFamily="18" charset="2"/>
                            </a:rPr>
                            <m:t>𝐵</m:t>
                          </m:r>
                          <m:r>
                            <a:rPr lang="en-US" altLang="zh-CN" sz="2400" b="0" i="1" smtClean="0">
                              <a:latin typeface="Cambria Math" panose="02040503050406030204" pitchFamily="18" charset="0"/>
                              <a:ea typeface="Cambria Math" panose="02040503050406030204" pitchFamily="18" charset="0"/>
                              <a:sym typeface="Symbol" panose="05050102010706020507" pitchFamily="18" charset="2"/>
                            </a:rPr>
                            <m:t>⋀</m:t>
                          </m:r>
                          <m:r>
                            <a:rPr lang="en-US" altLang="zh-CN" sz="2400" b="0" i="1" smtClean="0">
                              <a:latin typeface="Cambria Math" panose="02040503050406030204" pitchFamily="18" charset="0"/>
                              <a:ea typeface="Cambria Math" panose="02040503050406030204" pitchFamily="18" charset="0"/>
                              <a:sym typeface="Symbol" panose="05050102010706020507" pitchFamily="18" charset="2"/>
                            </a:rPr>
                            <m:t>𝐷</m:t>
                          </m:r>
                          <m:r>
                            <a:rPr lang="en-US" altLang="zh-CN" sz="2400" b="0" i="1" smtClean="0">
                              <a:latin typeface="Cambria Math" panose="02040503050406030204" pitchFamily="18" charset="0"/>
                              <a:ea typeface="Cambria Math" panose="02040503050406030204" pitchFamily="18" charset="0"/>
                              <a:sym typeface="Symbol" panose="05050102010706020507" pitchFamily="18" charset="2"/>
                            </a:rPr>
                            <m:t>&gt;</m:t>
                          </m:r>
                          <m:r>
                            <a:rPr lang="en-US" altLang="zh-CN" sz="2400" b="0" i="1" smtClean="0">
                              <a:latin typeface="Cambria Math" panose="02040503050406030204" pitchFamily="18" charset="0"/>
                              <a:ea typeface="Cambria Math" panose="02040503050406030204" pitchFamily="18" charset="0"/>
                              <a:sym typeface="Symbol" panose="05050102010706020507" pitchFamily="18" charset="2"/>
                            </a:rPr>
                            <m:t>5</m:t>
                          </m:r>
                        </m:sub>
                      </m:sSub>
                      <m:r>
                        <a:rPr lang="en-US" altLang="zh-CN" sz="2400" b="0" i="1" smtClean="0">
                          <a:latin typeface="Cambria Math" panose="02040503050406030204" pitchFamily="18" charset="0"/>
                          <a:sym typeface="Symbol" panose="05050102010706020507" pitchFamily="18" charset="2"/>
                        </a:rPr>
                        <m:t>(</m:t>
                      </m:r>
                      <m:r>
                        <a:rPr lang="en-US" altLang="zh-CN" sz="2400" b="0" i="1" smtClean="0">
                          <a:latin typeface="Cambria Math" panose="02040503050406030204" pitchFamily="18" charset="0"/>
                          <a:sym typeface="Symbol" panose="05050102010706020507" pitchFamily="18" charset="2"/>
                        </a:rPr>
                        <m:t>𝑟</m:t>
                      </m:r>
                      <m:r>
                        <a:rPr lang="en-US" altLang="zh-CN" sz="2400" b="0" i="1" smtClean="0">
                          <a:latin typeface="Cambria Math" panose="02040503050406030204" pitchFamily="18" charset="0"/>
                          <a:sym typeface="Symbol" panose="05050102010706020507" pitchFamily="18" charset="2"/>
                        </a:rPr>
                        <m:t>)</m:t>
                      </m:r>
                    </m:oMath>
                  </m:oMathPara>
                </a14:m>
                <a:endParaRPr lang="en-US" altLang="zh-CN" sz="2400" dirty="0">
                  <a:latin typeface="Helvetica" panose="020B0604020202020204" pitchFamily="34" charset="0"/>
                </a:endParaRPr>
              </a:p>
            </p:txBody>
          </p:sp>
        </mc:Choice>
        <mc:Fallback>
          <p:sp>
            <p:nvSpPr>
              <p:cNvPr id="14" name="Text Box 10"/>
              <p:cNvSpPr txBox="1">
                <a:spLocks noRot="1" noChangeAspect="1" noMove="1" noResize="1" noEditPoints="1" noAdjustHandles="1" noChangeArrowheads="1" noChangeShapeType="1" noTextEdit="1"/>
              </p:cNvSpPr>
              <p:nvPr/>
            </p:nvSpPr>
            <p:spPr bwMode="auto">
              <a:xfrm>
                <a:off x="3110347" y="4499918"/>
                <a:ext cx="2330450" cy="461665"/>
              </a:xfrm>
              <a:prstGeom prst="rect">
                <a:avLst/>
              </a:prstGeom>
              <a:blipFill rotWithShape="1">
                <a:blip r:embed="rId1"/>
                <a:stretch>
                  <a:fillRect l="-5" t="-67" r="5" b="71"/>
                </a:stretch>
              </a:blip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15" name="Group 11"/>
          <p:cNvGrpSpPr/>
          <p:nvPr/>
        </p:nvGrpSpPr>
        <p:grpSpPr bwMode="auto">
          <a:xfrm>
            <a:off x="5897997" y="4870450"/>
            <a:ext cx="1828800" cy="457200"/>
            <a:chOff x="2256" y="2728"/>
            <a:chExt cx="1152" cy="288"/>
          </a:xfrm>
        </p:grpSpPr>
        <p:sp>
          <p:nvSpPr>
            <p:cNvPr id="16" name="Rectangle 12"/>
            <p:cNvSpPr>
              <a:spLocks noChangeArrowheads="1"/>
            </p:cNvSpPr>
            <p:nvPr/>
          </p:nvSpPr>
          <p:spPr bwMode="auto">
            <a:xfrm>
              <a:off x="2256" y="2728"/>
              <a:ext cx="288" cy="28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A</a:t>
              </a:r>
              <a:endParaRPr lang="en-US" altLang="zh-CN" sz="1800" i="1">
                <a:latin typeface="Helvetica" panose="020B0604020202020204" pitchFamily="34" charset="0"/>
              </a:endParaRPr>
            </a:p>
          </p:txBody>
        </p:sp>
        <p:sp>
          <p:nvSpPr>
            <p:cNvPr id="17" name="Rectangle 13"/>
            <p:cNvSpPr>
              <a:spLocks noChangeArrowheads="1"/>
            </p:cNvSpPr>
            <p:nvPr/>
          </p:nvSpPr>
          <p:spPr bwMode="auto">
            <a:xfrm>
              <a:off x="2544" y="2728"/>
              <a:ext cx="288" cy="28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B</a:t>
              </a:r>
              <a:endParaRPr lang="en-US" altLang="zh-CN" sz="1800" i="1">
                <a:latin typeface="Helvetica" panose="020B0604020202020204" pitchFamily="34" charset="0"/>
              </a:endParaRPr>
            </a:p>
          </p:txBody>
        </p:sp>
        <p:sp>
          <p:nvSpPr>
            <p:cNvPr id="18" name="Rectangle 14"/>
            <p:cNvSpPr>
              <a:spLocks noChangeArrowheads="1"/>
            </p:cNvSpPr>
            <p:nvPr/>
          </p:nvSpPr>
          <p:spPr bwMode="auto">
            <a:xfrm>
              <a:off x="2832" y="2728"/>
              <a:ext cx="288" cy="28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C</a:t>
              </a:r>
              <a:endParaRPr lang="en-US" altLang="zh-CN" sz="1800" i="1">
                <a:latin typeface="Helvetica" panose="020B0604020202020204" pitchFamily="34" charset="0"/>
              </a:endParaRPr>
            </a:p>
          </p:txBody>
        </p:sp>
        <p:sp>
          <p:nvSpPr>
            <p:cNvPr id="19" name="Rectangle 15"/>
            <p:cNvSpPr>
              <a:spLocks noChangeArrowheads="1"/>
            </p:cNvSpPr>
            <p:nvPr/>
          </p:nvSpPr>
          <p:spPr bwMode="auto">
            <a:xfrm>
              <a:off x="3120" y="2728"/>
              <a:ext cx="288" cy="28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D</a:t>
              </a:r>
              <a:endParaRPr lang="en-US" altLang="zh-CN" sz="1800" i="1">
                <a:latin typeface="Helvetica" panose="020B0604020202020204" pitchFamily="34" charset="0"/>
              </a:endParaRPr>
            </a:p>
          </p:txBody>
        </p:sp>
      </p:grpSp>
      <p:grpSp>
        <p:nvGrpSpPr>
          <p:cNvPr id="20" name="Group 16"/>
          <p:cNvGrpSpPr/>
          <p:nvPr/>
        </p:nvGrpSpPr>
        <p:grpSpPr bwMode="auto">
          <a:xfrm>
            <a:off x="5910697" y="5441950"/>
            <a:ext cx="1828800" cy="914400"/>
            <a:chOff x="2264" y="3088"/>
            <a:chExt cx="1152" cy="576"/>
          </a:xfrm>
        </p:grpSpPr>
        <p:sp>
          <p:nvSpPr>
            <p:cNvPr id="21" name="Rectangle 17"/>
            <p:cNvSpPr>
              <a:spLocks noChangeArrowheads="1"/>
            </p:cNvSpPr>
            <p:nvPr/>
          </p:nvSpPr>
          <p:spPr bwMode="auto">
            <a:xfrm>
              <a:off x="2264" y="3088"/>
              <a:ext cx="288" cy="57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endParaRPr lang="zh-CN" altLang="en-US" sz="1800" i="1">
                <a:latin typeface="Helvetica" panose="020B0604020202020204" pitchFamily="34" charset="0"/>
                <a:sym typeface="Symbol" panose="05050102010706020507" pitchFamily="18" charset="2"/>
              </a:endParaRPr>
            </a:p>
          </p:txBody>
        </p:sp>
        <p:sp>
          <p:nvSpPr>
            <p:cNvPr id="22" name="Rectangle 18"/>
            <p:cNvSpPr>
              <a:spLocks noChangeArrowheads="1"/>
            </p:cNvSpPr>
            <p:nvPr/>
          </p:nvSpPr>
          <p:spPr bwMode="auto">
            <a:xfrm>
              <a:off x="2552" y="3088"/>
              <a:ext cx="288" cy="57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endParaRPr lang="zh-CN" altLang="en-US" sz="1800" i="1">
                <a:latin typeface="Helvetica" panose="020B0604020202020204" pitchFamily="34" charset="0"/>
                <a:sym typeface="Symbol" panose="05050102010706020507" pitchFamily="18" charset="2"/>
              </a:endParaRPr>
            </a:p>
          </p:txBody>
        </p:sp>
        <p:sp>
          <p:nvSpPr>
            <p:cNvPr id="23" name="Rectangle 19"/>
            <p:cNvSpPr>
              <a:spLocks noChangeArrowheads="1"/>
            </p:cNvSpPr>
            <p:nvPr/>
          </p:nvSpPr>
          <p:spPr bwMode="auto">
            <a:xfrm>
              <a:off x="2840" y="3088"/>
              <a:ext cx="288" cy="57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endParaRPr lang="en-US" altLang="zh-CN" sz="1800" i="1">
                <a:latin typeface="Helvetica" panose="020B0604020202020204" pitchFamily="34" charset="0"/>
                <a:sym typeface="Symbol" panose="05050102010706020507" pitchFamily="18" charset="2"/>
              </a:endParaRPr>
            </a:p>
          </p:txBody>
        </p:sp>
        <p:sp>
          <p:nvSpPr>
            <p:cNvPr id="24" name="Rectangle 20"/>
            <p:cNvSpPr>
              <a:spLocks noChangeArrowheads="1"/>
            </p:cNvSpPr>
            <p:nvPr/>
          </p:nvSpPr>
          <p:spPr bwMode="auto">
            <a:xfrm>
              <a:off x="3128" y="3088"/>
              <a:ext cx="288" cy="57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endParaRPr lang="en-US" altLang="zh-CN" sz="1800" i="1">
                <a:latin typeface="Helvetica" panose="020B0604020202020204" pitchFamily="34" charset="0"/>
                <a:sym typeface="Symbol" panose="05050102010706020507" pitchFamily="18" charset="2"/>
              </a:endParaRPr>
            </a:p>
          </p:txBody>
        </p:sp>
      </p:grpSp>
      <p:grpSp>
        <p:nvGrpSpPr>
          <p:cNvPr id="25" name="Group 21"/>
          <p:cNvGrpSpPr/>
          <p:nvPr/>
        </p:nvGrpSpPr>
        <p:grpSpPr bwMode="auto">
          <a:xfrm>
            <a:off x="5821797" y="2292350"/>
            <a:ext cx="1828800" cy="1676400"/>
            <a:chOff x="2208" y="1104"/>
            <a:chExt cx="1152" cy="1056"/>
          </a:xfrm>
        </p:grpSpPr>
        <p:sp>
          <p:nvSpPr>
            <p:cNvPr id="26" name="Rectangle 22"/>
            <p:cNvSpPr>
              <a:spLocks noChangeArrowheads="1"/>
            </p:cNvSpPr>
            <p:nvPr/>
          </p:nvSpPr>
          <p:spPr bwMode="auto">
            <a:xfrm>
              <a:off x="2208" y="1104"/>
              <a:ext cx="288" cy="10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endParaRPr lang="zh-CN" altLang="en-US" sz="1800" i="1">
                <a:latin typeface="Helvetica" panose="020B0604020202020204" pitchFamily="34" charset="0"/>
                <a:sym typeface="Symbol" panose="05050102010706020507" pitchFamily="18" charset="2"/>
              </a:endParaRPr>
            </a:p>
          </p:txBody>
        </p:sp>
        <p:sp>
          <p:nvSpPr>
            <p:cNvPr id="27" name="Rectangle 23"/>
            <p:cNvSpPr>
              <a:spLocks noChangeArrowheads="1"/>
            </p:cNvSpPr>
            <p:nvPr/>
          </p:nvSpPr>
          <p:spPr bwMode="auto">
            <a:xfrm>
              <a:off x="2496" y="1104"/>
              <a:ext cx="288" cy="10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endParaRPr lang="zh-CN" altLang="en-US" sz="1800" i="1">
                <a:latin typeface="Helvetica" panose="020B0604020202020204" pitchFamily="34" charset="0"/>
                <a:sym typeface="Symbol" panose="05050102010706020507" pitchFamily="18" charset="2"/>
              </a:endParaRPr>
            </a:p>
          </p:txBody>
        </p:sp>
        <p:sp>
          <p:nvSpPr>
            <p:cNvPr id="28" name="Rectangle 24"/>
            <p:cNvSpPr>
              <a:spLocks noChangeArrowheads="1"/>
            </p:cNvSpPr>
            <p:nvPr/>
          </p:nvSpPr>
          <p:spPr bwMode="auto">
            <a:xfrm>
              <a:off x="2784" y="1104"/>
              <a:ext cx="288" cy="10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endParaRPr lang="en-US" altLang="zh-CN" sz="1800" i="1">
                <a:latin typeface="Helvetica" panose="020B0604020202020204" pitchFamily="34" charset="0"/>
                <a:sym typeface="Symbol" panose="05050102010706020507" pitchFamily="18" charset="2"/>
              </a:endParaRPr>
            </a:p>
          </p:txBody>
        </p:sp>
        <p:sp>
          <p:nvSpPr>
            <p:cNvPr id="29" name="Rectangle 25"/>
            <p:cNvSpPr>
              <a:spLocks noChangeArrowheads="1"/>
            </p:cNvSpPr>
            <p:nvPr/>
          </p:nvSpPr>
          <p:spPr bwMode="auto">
            <a:xfrm>
              <a:off x="3072" y="1104"/>
              <a:ext cx="288" cy="10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endParaRPr lang="en-US" altLang="zh-CN" sz="1800" i="1">
                <a:latin typeface="Helvetica" panose="020B0604020202020204" pitchFamily="34" charset="0"/>
                <a:sym typeface="Symbol" panose="05050102010706020507" pitchFamily="18" charset="2"/>
              </a:endParaRPr>
            </a:p>
          </p:txBody>
        </p:sp>
      </p:grpSp>
      <p:sp>
        <p:nvSpPr>
          <p:cNvPr id="30" name="Text Box 26"/>
          <p:cNvSpPr txBox="1">
            <a:spLocks noChangeArrowheads="1"/>
          </p:cNvSpPr>
          <p:nvPr/>
        </p:nvSpPr>
        <p:spPr bwMode="auto">
          <a:xfrm>
            <a:off x="5669397" y="2244725"/>
            <a:ext cx="21336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r>
              <a:rPr lang="zh-CN" altLang="en-US" sz="1800" i="1">
                <a:latin typeface="Helvetica" panose="020B0604020202020204" pitchFamily="34" charset="0"/>
                <a:sym typeface="Symbol" panose="05050102010706020507" pitchFamily="18" charset="2"/>
              </a:rPr>
              <a:t>          </a:t>
            </a:r>
            <a:r>
              <a:rPr lang="en-US" altLang="zh-CN" sz="1800" i="1">
                <a:latin typeface="Helvetica" panose="020B0604020202020204" pitchFamily="34" charset="0"/>
                <a:sym typeface="Symbol" panose="05050102010706020507" pitchFamily="18" charset="2"/>
              </a:rPr>
              <a:t>1     7</a:t>
            </a:r>
            <a:endParaRPr lang="zh-CN" altLang="en-US" sz="1800" i="1">
              <a:latin typeface="Helvetica" panose="020B0604020202020204" pitchFamily="34" charset="0"/>
              <a:sym typeface="Symbol" panose="05050102010706020507" pitchFamily="18" charset="2"/>
            </a:endParaRPr>
          </a:p>
        </p:txBody>
      </p:sp>
      <p:sp>
        <p:nvSpPr>
          <p:cNvPr id="31" name="Text Box 27"/>
          <p:cNvSpPr txBox="1">
            <a:spLocks noChangeArrowheads="1"/>
          </p:cNvSpPr>
          <p:nvPr/>
        </p:nvSpPr>
        <p:spPr bwMode="auto">
          <a:xfrm>
            <a:off x="5669397" y="2638425"/>
            <a:ext cx="21336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r>
              <a:rPr lang="zh-CN" altLang="en-US" sz="1800" i="1">
                <a:latin typeface="Helvetica" panose="020B0604020202020204" pitchFamily="34" charset="0"/>
                <a:sym typeface="Symbol" panose="05050102010706020507" pitchFamily="18" charset="2"/>
              </a:rPr>
              <a:t>           </a:t>
            </a:r>
            <a:r>
              <a:rPr lang="en-US" altLang="zh-CN" sz="1800" i="1">
                <a:latin typeface="Helvetica" panose="020B0604020202020204" pitchFamily="34" charset="0"/>
                <a:sym typeface="Symbol" panose="05050102010706020507" pitchFamily="18" charset="2"/>
              </a:rPr>
              <a:t>5     7</a:t>
            </a:r>
            <a:endParaRPr lang="zh-CN" altLang="en-US" sz="1800" i="1">
              <a:latin typeface="Helvetica" panose="020B0604020202020204" pitchFamily="34" charset="0"/>
              <a:sym typeface="Symbol" panose="05050102010706020507" pitchFamily="18" charset="2"/>
            </a:endParaRPr>
          </a:p>
        </p:txBody>
      </p:sp>
      <p:sp>
        <p:nvSpPr>
          <p:cNvPr id="32" name="Text Box 28"/>
          <p:cNvSpPr txBox="1">
            <a:spLocks noChangeArrowheads="1"/>
          </p:cNvSpPr>
          <p:nvPr/>
        </p:nvSpPr>
        <p:spPr bwMode="auto">
          <a:xfrm>
            <a:off x="5669397" y="3044825"/>
            <a:ext cx="21336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r>
              <a:rPr lang="zh-CN" altLang="en-US" sz="1800" i="1">
                <a:latin typeface="Helvetica" panose="020B0604020202020204" pitchFamily="34" charset="0"/>
                <a:sym typeface="Symbol" panose="05050102010706020507" pitchFamily="18" charset="2"/>
              </a:rPr>
              <a:t>          </a:t>
            </a:r>
            <a:r>
              <a:rPr lang="en-US" altLang="zh-CN" sz="1800" i="1">
                <a:latin typeface="Helvetica" panose="020B0604020202020204" pitchFamily="34" charset="0"/>
                <a:sym typeface="Symbol" panose="05050102010706020507" pitchFamily="18" charset="2"/>
              </a:rPr>
              <a:t>12    3</a:t>
            </a:r>
            <a:endParaRPr lang="zh-CN" altLang="en-US" sz="1800" i="1">
              <a:latin typeface="Helvetica" panose="020B0604020202020204" pitchFamily="34" charset="0"/>
              <a:sym typeface="Symbol" panose="05050102010706020507" pitchFamily="18" charset="2"/>
            </a:endParaRPr>
          </a:p>
        </p:txBody>
      </p:sp>
      <p:sp>
        <p:nvSpPr>
          <p:cNvPr id="33" name="Text Box 29"/>
          <p:cNvSpPr txBox="1">
            <a:spLocks noChangeArrowheads="1"/>
          </p:cNvSpPr>
          <p:nvPr/>
        </p:nvSpPr>
        <p:spPr bwMode="auto">
          <a:xfrm>
            <a:off x="5682097" y="3460750"/>
            <a:ext cx="21336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r>
              <a:rPr lang="zh-CN" altLang="en-US" sz="1800" i="1">
                <a:latin typeface="Helvetica" panose="020B0604020202020204" pitchFamily="34" charset="0"/>
                <a:sym typeface="Symbol" panose="05050102010706020507" pitchFamily="18" charset="2"/>
              </a:rPr>
              <a:t>          </a:t>
            </a:r>
            <a:r>
              <a:rPr lang="en-US" altLang="zh-CN" sz="1800" i="1">
                <a:latin typeface="Helvetica" panose="020B0604020202020204" pitchFamily="34" charset="0"/>
                <a:sym typeface="Symbol" panose="05050102010706020507" pitchFamily="18" charset="2"/>
              </a:rPr>
              <a:t>23   10</a:t>
            </a:r>
            <a:endParaRPr lang="zh-CN" altLang="en-US" sz="1800" i="1">
              <a:latin typeface="Helvetica" panose="020B0604020202020204" pitchFamily="34" charset="0"/>
              <a:sym typeface="Symbol" panose="05050102010706020507" pitchFamily="18" charset="2"/>
            </a:endParaRPr>
          </a:p>
        </p:txBody>
      </p:sp>
      <p:sp>
        <p:nvSpPr>
          <p:cNvPr id="34" name="Rectangle 30"/>
          <p:cNvSpPr>
            <a:spLocks noChangeArrowheads="1"/>
          </p:cNvSpPr>
          <p:nvPr/>
        </p:nvSpPr>
        <p:spPr bwMode="auto">
          <a:xfrm>
            <a:off x="6086909" y="2741613"/>
            <a:ext cx="4206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1800" b="1">
                <a:solidFill>
                  <a:srgbClr val="FF0000"/>
                </a:solidFill>
              </a:rPr>
              <a:t>≠</a:t>
            </a:r>
            <a:r>
              <a:rPr lang="zh-CN" altLang="en-US" sz="1100">
                <a:latin typeface="Helvetica" panose="020B0604020202020204" pitchFamily="34" charset="0"/>
              </a:rPr>
              <a:t> </a:t>
            </a:r>
            <a:endParaRPr lang="zh-CN" altLang="en-US" sz="2400">
              <a:latin typeface="Times New Roman" panose="02020603050405020304" pitchFamily="18" charset="0"/>
            </a:endParaRPr>
          </a:p>
        </p:txBody>
      </p:sp>
      <p:sp>
        <p:nvSpPr>
          <p:cNvPr id="35" name="Rectangle 31"/>
          <p:cNvSpPr>
            <a:spLocks noChangeArrowheads="1"/>
          </p:cNvSpPr>
          <p:nvPr/>
        </p:nvSpPr>
        <p:spPr bwMode="auto">
          <a:xfrm>
            <a:off x="6126597" y="2368550"/>
            <a:ext cx="381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1800" b="1">
                <a:solidFill>
                  <a:srgbClr val="FF0000"/>
                </a:solidFill>
                <a:sym typeface="Symbol" panose="05050102010706020507" pitchFamily="18" charset="2"/>
              </a:rPr>
              <a:t>=</a:t>
            </a:r>
            <a:endParaRPr lang="zh-CN" altLang="en-US" sz="2400" baseline="-25000">
              <a:latin typeface="Helvetica" panose="020B0604020202020204" pitchFamily="34" charset="0"/>
              <a:sym typeface="Symbol" panose="05050102010706020507" pitchFamily="18" charset="2"/>
            </a:endParaRPr>
          </a:p>
        </p:txBody>
      </p:sp>
      <p:sp>
        <p:nvSpPr>
          <p:cNvPr id="36" name="Rectangle 32"/>
          <p:cNvSpPr>
            <a:spLocks noChangeArrowheads="1"/>
          </p:cNvSpPr>
          <p:nvPr/>
        </p:nvSpPr>
        <p:spPr bwMode="auto">
          <a:xfrm>
            <a:off x="6126597" y="3144838"/>
            <a:ext cx="381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1800" b="1">
                <a:solidFill>
                  <a:srgbClr val="FF0000"/>
                </a:solidFill>
                <a:sym typeface="Symbol" panose="05050102010706020507" pitchFamily="18" charset="2"/>
              </a:rPr>
              <a:t>=</a:t>
            </a:r>
            <a:endParaRPr lang="zh-CN" altLang="en-US" sz="2400" baseline="-25000">
              <a:latin typeface="Helvetica" panose="020B0604020202020204" pitchFamily="34" charset="0"/>
              <a:sym typeface="Symbol" panose="05050102010706020507" pitchFamily="18" charset="2"/>
            </a:endParaRPr>
          </a:p>
        </p:txBody>
      </p:sp>
      <p:sp>
        <p:nvSpPr>
          <p:cNvPr id="37" name="Rectangle 33"/>
          <p:cNvSpPr>
            <a:spLocks noChangeArrowheads="1"/>
          </p:cNvSpPr>
          <p:nvPr/>
        </p:nvSpPr>
        <p:spPr bwMode="auto">
          <a:xfrm>
            <a:off x="6126597" y="3587750"/>
            <a:ext cx="381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1800" b="1">
                <a:solidFill>
                  <a:srgbClr val="FF0000"/>
                </a:solidFill>
                <a:sym typeface="Symbol" panose="05050102010706020507" pitchFamily="18" charset="2"/>
              </a:rPr>
              <a:t>=</a:t>
            </a:r>
            <a:endParaRPr lang="zh-CN" altLang="en-US" sz="2400" baseline="-25000">
              <a:latin typeface="Helvetica" panose="020B0604020202020204" pitchFamily="34" charset="0"/>
              <a:sym typeface="Symbol" panose="05050102010706020507" pitchFamily="18" charset="2"/>
            </a:endParaRPr>
          </a:p>
        </p:txBody>
      </p:sp>
      <p:sp>
        <p:nvSpPr>
          <p:cNvPr id="38" name="Rectangle 34"/>
          <p:cNvSpPr>
            <a:spLocks noChangeArrowheads="1"/>
          </p:cNvSpPr>
          <p:nvPr/>
        </p:nvSpPr>
        <p:spPr bwMode="auto">
          <a:xfrm>
            <a:off x="7498197" y="2292350"/>
            <a:ext cx="533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400" baseline="-25000">
                <a:solidFill>
                  <a:srgbClr val="FF0000"/>
                </a:solidFill>
                <a:latin typeface="Helvetica" panose="020B0604020202020204" pitchFamily="34" charset="0"/>
                <a:sym typeface="Symbol" panose="05050102010706020507" pitchFamily="18" charset="2"/>
              </a:rPr>
              <a:t>&gt;5</a:t>
            </a:r>
            <a:endParaRPr lang="zh-CN" altLang="en-US" sz="2400" baseline="-25000">
              <a:solidFill>
                <a:srgbClr val="FF0000"/>
              </a:solidFill>
              <a:latin typeface="Helvetica" panose="020B0604020202020204" pitchFamily="34" charset="0"/>
              <a:sym typeface="Symbol" panose="05050102010706020507" pitchFamily="18" charset="2"/>
            </a:endParaRPr>
          </a:p>
        </p:txBody>
      </p:sp>
      <p:sp>
        <p:nvSpPr>
          <p:cNvPr id="39" name="Rectangle 35"/>
          <p:cNvSpPr>
            <a:spLocks noChangeArrowheads="1"/>
          </p:cNvSpPr>
          <p:nvPr/>
        </p:nvSpPr>
        <p:spPr bwMode="auto">
          <a:xfrm>
            <a:off x="7498197" y="2717800"/>
            <a:ext cx="533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400" baseline="-25000">
                <a:solidFill>
                  <a:srgbClr val="FF0000"/>
                </a:solidFill>
                <a:latin typeface="Helvetica" panose="020B0604020202020204" pitchFamily="34" charset="0"/>
                <a:sym typeface="Symbol" panose="05050102010706020507" pitchFamily="18" charset="2"/>
              </a:rPr>
              <a:t>&gt;5</a:t>
            </a:r>
            <a:endParaRPr lang="zh-CN" altLang="en-US" sz="2400" baseline="-25000">
              <a:solidFill>
                <a:srgbClr val="FF0000"/>
              </a:solidFill>
              <a:latin typeface="Helvetica" panose="020B0604020202020204" pitchFamily="34" charset="0"/>
              <a:sym typeface="Symbol" panose="05050102010706020507" pitchFamily="18" charset="2"/>
            </a:endParaRPr>
          </a:p>
        </p:txBody>
      </p:sp>
      <p:sp>
        <p:nvSpPr>
          <p:cNvPr id="40" name="Rectangle 36"/>
          <p:cNvSpPr>
            <a:spLocks noChangeArrowheads="1"/>
          </p:cNvSpPr>
          <p:nvPr/>
        </p:nvSpPr>
        <p:spPr bwMode="auto">
          <a:xfrm>
            <a:off x="7498197" y="3530600"/>
            <a:ext cx="533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400" baseline="-25000">
                <a:solidFill>
                  <a:srgbClr val="FF0000"/>
                </a:solidFill>
                <a:latin typeface="Helvetica" panose="020B0604020202020204" pitchFamily="34" charset="0"/>
                <a:sym typeface="Symbol" panose="05050102010706020507" pitchFamily="18" charset="2"/>
              </a:rPr>
              <a:t>&gt;5</a:t>
            </a:r>
            <a:endParaRPr lang="zh-CN" altLang="en-US" sz="2400" baseline="-25000">
              <a:solidFill>
                <a:srgbClr val="FF0000"/>
              </a:solidFill>
              <a:latin typeface="Helvetica" panose="020B0604020202020204" pitchFamily="34" charset="0"/>
              <a:sym typeface="Symbol" panose="05050102010706020507" pitchFamily="18" charset="2"/>
            </a:endParaRPr>
          </a:p>
        </p:txBody>
      </p:sp>
      <p:sp>
        <p:nvSpPr>
          <p:cNvPr id="41" name="Rectangle 37"/>
          <p:cNvSpPr>
            <a:spLocks noChangeArrowheads="1"/>
          </p:cNvSpPr>
          <p:nvPr/>
        </p:nvSpPr>
        <p:spPr bwMode="auto">
          <a:xfrm>
            <a:off x="7441047" y="3101975"/>
            <a:ext cx="5143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2000" b="1" baseline="-25000">
                <a:solidFill>
                  <a:srgbClr val="FF0000"/>
                </a:solidFill>
                <a:latin typeface="Helvetica" panose="020B0604020202020204" pitchFamily="34" charset="0"/>
              </a:rPr>
              <a:t>≤</a:t>
            </a:r>
            <a:r>
              <a:rPr lang="zh-CN" altLang="en-US" sz="2400" baseline="-25000">
                <a:solidFill>
                  <a:srgbClr val="FF0000"/>
                </a:solidFill>
                <a:latin typeface="Helvetica" panose="020B0604020202020204" pitchFamily="34" charset="0"/>
              </a:rPr>
              <a:t>5 </a:t>
            </a:r>
            <a:endParaRPr lang="zh-CN" altLang="en-US" sz="2400" baseline="-25000">
              <a:solidFill>
                <a:srgbClr val="FF0000"/>
              </a:solidFill>
              <a:latin typeface="Helvetica" panose="020B0604020202020204" pitchFamily="34" charset="0"/>
            </a:endParaRPr>
          </a:p>
        </p:txBody>
      </p:sp>
      <p:sp>
        <p:nvSpPr>
          <p:cNvPr id="42" name="Text Box 38"/>
          <p:cNvSpPr txBox="1">
            <a:spLocks noChangeArrowheads="1"/>
          </p:cNvSpPr>
          <p:nvPr/>
        </p:nvSpPr>
        <p:spPr bwMode="auto">
          <a:xfrm>
            <a:off x="5745597" y="5368925"/>
            <a:ext cx="21336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r>
              <a:rPr lang="zh-CN" altLang="en-US" sz="1800" i="1">
                <a:latin typeface="Helvetica" panose="020B0604020202020204" pitchFamily="34" charset="0"/>
                <a:sym typeface="Symbol" panose="05050102010706020507" pitchFamily="18" charset="2"/>
              </a:rPr>
              <a:t>          </a:t>
            </a:r>
            <a:r>
              <a:rPr lang="en-US" altLang="zh-CN" sz="1800" i="1">
                <a:latin typeface="Helvetica" panose="020B0604020202020204" pitchFamily="34" charset="0"/>
                <a:sym typeface="Symbol" panose="05050102010706020507" pitchFamily="18" charset="2"/>
              </a:rPr>
              <a:t>1     7</a:t>
            </a:r>
            <a:endParaRPr lang="zh-CN" altLang="en-US" sz="1800" i="1">
              <a:latin typeface="Helvetica" panose="020B0604020202020204" pitchFamily="34" charset="0"/>
              <a:sym typeface="Symbol" panose="05050102010706020507" pitchFamily="18" charset="2"/>
            </a:endParaRPr>
          </a:p>
        </p:txBody>
      </p:sp>
      <p:sp>
        <p:nvSpPr>
          <p:cNvPr id="43" name="Text Box 39"/>
          <p:cNvSpPr txBox="1">
            <a:spLocks noChangeArrowheads="1"/>
          </p:cNvSpPr>
          <p:nvPr/>
        </p:nvSpPr>
        <p:spPr bwMode="auto">
          <a:xfrm>
            <a:off x="5783697" y="5749925"/>
            <a:ext cx="21336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r>
              <a:rPr lang="zh-CN" altLang="en-US" sz="1800" i="1">
                <a:latin typeface="Helvetica" panose="020B0604020202020204" pitchFamily="34" charset="0"/>
                <a:sym typeface="Symbol" panose="05050102010706020507" pitchFamily="18" charset="2"/>
              </a:rPr>
              <a:t>          </a:t>
            </a:r>
            <a:r>
              <a:rPr lang="en-US" altLang="zh-CN" sz="1800" i="1">
                <a:latin typeface="Helvetica" panose="020B0604020202020204" pitchFamily="34" charset="0"/>
                <a:sym typeface="Symbol" panose="05050102010706020507" pitchFamily="18" charset="2"/>
              </a:rPr>
              <a:t>23   10</a:t>
            </a:r>
            <a:endParaRPr lang="zh-CN" altLang="en-US" sz="1800" i="1">
              <a:latin typeface="Helvetica" panose="020B0604020202020204" pitchFamily="34" charset="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8"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ppt_x</p:attrName>
                                        </p:attrNameLst>
                                      </p:cBhvr>
                                      <p:tavLst>
                                        <p:tav tm="0">
                                          <p:val>
                                            <p:strVal val="#ppt_x-#ppt_w/2"/>
                                          </p:val>
                                        </p:tav>
                                        <p:tav tm="100000">
                                          <p:val>
                                            <p:strVal val="#ppt_x"/>
                                          </p:val>
                                        </p:tav>
                                      </p:tavLst>
                                    </p:anim>
                                    <p:anim calcmode="lin" valueType="num">
                                      <p:cBhvr>
                                        <p:cTn id="14" dur="500" fill="hold"/>
                                        <p:tgtEl>
                                          <p:spTgt spid="9"/>
                                        </p:tgtEl>
                                        <p:attrNameLst>
                                          <p:attrName>ppt_y</p:attrName>
                                        </p:attrNameLst>
                                      </p:cBhvr>
                                      <p:tavLst>
                                        <p:tav tm="0">
                                          <p:val>
                                            <p:strVal val="#ppt_y"/>
                                          </p:val>
                                        </p:tav>
                                        <p:tav tm="100000">
                                          <p:val>
                                            <p:strVal val="#ppt_y"/>
                                          </p:val>
                                        </p:tav>
                                      </p:tavLst>
                                    </p:anim>
                                    <p:anim calcmode="lin" valueType="num">
                                      <p:cBhvr>
                                        <p:cTn id="15" dur="500" fill="hold"/>
                                        <p:tgtEl>
                                          <p:spTgt spid="9"/>
                                        </p:tgtEl>
                                        <p:attrNameLst>
                                          <p:attrName>ppt_w</p:attrName>
                                        </p:attrNameLst>
                                      </p:cBhvr>
                                      <p:tavLst>
                                        <p:tav tm="0">
                                          <p:val>
                                            <p:fltVal val="0"/>
                                          </p:val>
                                        </p:tav>
                                        <p:tav tm="100000">
                                          <p:val>
                                            <p:strVal val="#ppt_w"/>
                                          </p:val>
                                        </p:tav>
                                      </p:tavLst>
                                    </p:anim>
                                    <p:anim calcmode="lin" valueType="num">
                                      <p:cBhvr>
                                        <p:cTn id="16"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dissolv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15" presetClass="entr" presetSubtype="0"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anim calcmode="lin" valueType="num">
                                      <p:cBhvr>
                                        <p:cTn id="26" dur="1000" fill="hold"/>
                                        <p:tgtEl>
                                          <p:spTgt spid="30"/>
                                        </p:tgtEl>
                                        <p:attrNameLst>
                                          <p:attrName>ppt_w</p:attrName>
                                        </p:attrNameLst>
                                      </p:cBhvr>
                                      <p:tavLst>
                                        <p:tav tm="0">
                                          <p:val>
                                            <p:fltVal val="0"/>
                                          </p:val>
                                        </p:tav>
                                        <p:tav tm="100000">
                                          <p:val>
                                            <p:strVal val="#ppt_w"/>
                                          </p:val>
                                        </p:tav>
                                      </p:tavLst>
                                    </p:anim>
                                    <p:anim calcmode="lin" valueType="num">
                                      <p:cBhvr>
                                        <p:cTn id="27" dur="1000" fill="hold"/>
                                        <p:tgtEl>
                                          <p:spTgt spid="30"/>
                                        </p:tgtEl>
                                        <p:attrNameLst>
                                          <p:attrName>ppt_h</p:attrName>
                                        </p:attrNameLst>
                                      </p:cBhvr>
                                      <p:tavLst>
                                        <p:tav tm="0">
                                          <p:val>
                                            <p:fltVal val="0"/>
                                          </p:val>
                                        </p:tav>
                                        <p:tav tm="100000">
                                          <p:val>
                                            <p:strVal val="#ppt_h"/>
                                          </p:val>
                                        </p:tav>
                                      </p:tavLst>
                                    </p:anim>
                                    <p:anim calcmode="lin" valueType="num">
                                      <p:cBhvr>
                                        <p:cTn id="28" dur="1000" fill="hold"/>
                                        <p:tgtEl>
                                          <p:spTgt spid="30"/>
                                        </p:tgtEl>
                                        <p:attrNameLst>
                                          <p:attrName>ppt_x</p:attrName>
                                        </p:attrNameLst>
                                      </p:cBhvr>
                                      <p:tavLst>
                                        <p:tav tm="0" fmla="#ppt_x+(cos(-2*pi*(1-$))*-#ppt_x-sin(-2*pi*(1-$))*(1-#ppt_y))*(1-$)">
                                          <p:val>
                                            <p:fltVal val="0"/>
                                          </p:val>
                                        </p:tav>
                                        <p:tav tm="100000">
                                          <p:val>
                                            <p:fltVal val="1"/>
                                          </p:val>
                                        </p:tav>
                                      </p:tavLst>
                                    </p:anim>
                                    <p:anim calcmode="lin" valueType="num">
                                      <p:cBhvr>
                                        <p:cTn id="29" dur="1000" fill="hold"/>
                                        <p:tgtEl>
                                          <p:spTgt spid="30"/>
                                        </p:tgtEl>
                                        <p:attrNameLst>
                                          <p:attrName>ppt_y</p:attrName>
                                        </p:attrNameLst>
                                      </p:cBhvr>
                                      <p:tavLst>
                                        <p:tav tm="0" fmla="#ppt_y+(sin(-2*pi*(1-$))*-#ppt_x+cos(-2*pi*(1-$))*(1-#ppt_y))*(1-$)">
                                          <p:val>
                                            <p:fltVal val="0"/>
                                          </p:val>
                                        </p:tav>
                                        <p:tav tm="100000">
                                          <p:val>
                                            <p:fltVal val="1"/>
                                          </p:val>
                                        </p:tav>
                                      </p:tavLst>
                                    </p:anim>
                                  </p:childTnLst>
                                </p:cTn>
                              </p:par>
                            </p:childTnLst>
                          </p:cTn>
                        </p:par>
                        <p:par>
                          <p:cTn id="30" fill="hold">
                            <p:stCondLst>
                              <p:cond delay="1000"/>
                            </p:stCondLst>
                            <p:childTnLst>
                              <p:par>
                                <p:cTn id="31" presetID="15" presetClass="entr" presetSubtype="0" fill="hold" grpId="0" nodeType="afterEffect">
                                  <p:stCondLst>
                                    <p:cond delay="0"/>
                                  </p:stCondLst>
                                  <p:childTnLst>
                                    <p:set>
                                      <p:cBhvr>
                                        <p:cTn id="32" dur="1" fill="hold">
                                          <p:stCondLst>
                                            <p:cond delay="0"/>
                                          </p:stCondLst>
                                        </p:cTn>
                                        <p:tgtEl>
                                          <p:spTgt spid="31"/>
                                        </p:tgtEl>
                                        <p:attrNameLst>
                                          <p:attrName>style.visibility</p:attrName>
                                        </p:attrNameLst>
                                      </p:cBhvr>
                                      <p:to>
                                        <p:strVal val="visible"/>
                                      </p:to>
                                    </p:set>
                                    <p:anim calcmode="lin" valueType="num">
                                      <p:cBhvr>
                                        <p:cTn id="33" dur="1000" fill="hold"/>
                                        <p:tgtEl>
                                          <p:spTgt spid="31"/>
                                        </p:tgtEl>
                                        <p:attrNameLst>
                                          <p:attrName>ppt_w</p:attrName>
                                        </p:attrNameLst>
                                      </p:cBhvr>
                                      <p:tavLst>
                                        <p:tav tm="0">
                                          <p:val>
                                            <p:fltVal val="0"/>
                                          </p:val>
                                        </p:tav>
                                        <p:tav tm="100000">
                                          <p:val>
                                            <p:strVal val="#ppt_w"/>
                                          </p:val>
                                        </p:tav>
                                      </p:tavLst>
                                    </p:anim>
                                    <p:anim calcmode="lin" valueType="num">
                                      <p:cBhvr>
                                        <p:cTn id="34" dur="1000" fill="hold"/>
                                        <p:tgtEl>
                                          <p:spTgt spid="31"/>
                                        </p:tgtEl>
                                        <p:attrNameLst>
                                          <p:attrName>ppt_h</p:attrName>
                                        </p:attrNameLst>
                                      </p:cBhvr>
                                      <p:tavLst>
                                        <p:tav tm="0">
                                          <p:val>
                                            <p:fltVal val="0"/>
                                          </p:val>
                                        </p:tav>
                                        <p:tav tm="100000">
                                          <p:val>
                                            <p:strVal val="#ppt_h"/>
                                          </p:val>
                                        </p:tav>
                                      </p:tavLst>
                                    </p:anim>
                                    <p:anim calcmode="lin" valueType="num">
                                      <p:cBhvr>
                                        <p:cTn id="35" dur="1000" fill="hold"/>
                                        <p:tgtEl>
                                          <p:spTgt spid="31"/>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31"/>
                                        </p:tgtEl>
                                        <p:attrNameLst>
                                          <p:attrName>ppt_y</p:attrName>
                                        </p:attrNameLst>
                                      </p:cBhvr>
                                      <p:tavLst>
                                        <p:tav tm="0" fmla="#ppt_y+(sin(-2*pi*(1-$))*-#ppt_x+cos(-2*pi*(1-$))*(1-#ppt_y))*(1-$)">
                                          <p:val>
                                            <p:fltVal val="0"/>
                                          </p:val>
                                        </p:tav>
                                        <p:tav tm="100000">
                                          <p:val>
                                            <p:fltVal val="1"/>
                                          </p:val>
                                        </p:tav>
                                      </p:tavLst>
                                    </p:anim>
                                  </p:childTnLst>
                                </p:cTn>
                              </p:par>
                            </p:childTnLst>
                          </p:cTn>
                        </p:par>
                        <p:par>
                          <p:cTn id="37" fill="hold">
                            <p:stCondLst>
                              <p:cond delay="2000"/>
                            </p:stCondLst>
                            <p:childTnLst>
                              <p:par>
                                <p:cTn id="38" presetID="15" presetClass="entr" presetSubtype="0" fill="hold" grpId="0" nodeType="afterEffect">
                                  <p:stCondLst>
                                    <p:cond delay="0"/>
                                  </p:stCondLst>
                                  <p:childTnLst>
                                    <p:set>
                                      <p:cBhvr>
                                        <p:cTn id="39" dur="1" fill="hold">
                                          <p:stCondLst>
                                            <p:cond delay="0"/>
                                          </p:stCondLst>
                                        </p:cTn>
                                        <p:tgtEl>
                                          <p:spTgt spid="32"/>
                                        </p:tgtEl>
                                        <p:attrNameLst>
                                          <p:attrName>style.visibility</p:attrName>
                                        </p:attrNameLst>
                                      </p:cBhvr>
                                      <p:to>
                                        <p:strVal val="visible"/>
                                      </p:to>
                                    </p:set>
                                    <p:anim calcmode="lin" valueType="num">
                                      <p:cBhvr>
                                        <p:cTn id="40" dur="1000" fill="hold"/>
                                        <p:tgtEl>
                                          <p:spTgt spid="32"/>
                                        </p:tgtEl>
                                        <p:attrNameLst>
                                          <p:attrName>ppt_w</p:attrName>
                                        </p:attrNameLst>
                                      </p:cBhvr>
                                      <p:tavLst>
                                        <p:tav tm="0">
                                          <p:val>
                                            <p:fltVal val="0"/>
                                          </p:val>
                                        </p:tav>
                                        <p:tav tm="100000">
                                          <p:val>
                                            <p:strVal val="#ppt_w"/>
                                          </p:val>
                                        </p:tav>
                                      </p:tavLst>
                                    </p:anim>
                                    <p:anim calcmode="lin" valueType="num">
                                      <p:cBhvr>
                                        <p:cTn id="41" dur="1000" fill="hold"/>
                                        <p:tgtEl>
                                          <p:spTgt spid="32"/>
                                        </p:tgtEl>
                                        <p:attrNameLst>
                                          <p:attrName>ppt_h</p:attrName>
                                        </p:attrNameLst>
                                      </p:cBhvr>
                                      <p:tavLst>
                                        <p:tav tm="0">
                                          <p:val>
                                            <p:fltVal val="0"/>
                                          </p:val>
                                        </p:tav>
                                        <p:tav tm="100000">
                                          <p:val>
                                            <p:strVal val="#ppt_h"/>
                                          </p:val>
                                        </p:tav>
                                      </p:tavLst>
                                    </p:anim>
                                    <p:anim calcmode="lin" valueType="num">
                                      <p:cBhvr>
                                        <p:cTn id="42" dur="1000" fill="hold"/>
                                        <p:tgtEl>
                                          <p:spTgt spid="32"/>
                                        </p:tgtEl>
                                        <p:attrNameLst>
                                          <p:attrName>ppt_x</p:attrName>
                                        </p:attrNameLst>
                                      </p:cBhvr>
                                      <p:tavLst>
                                        <p:tav tm="0" fmla="#ppt_x+(cos(-2*pi*(1-$))*-#ppt_x-sin(-2*pi*(1-$))*(1-#ppt_y))*(1-$)">
                                          <p:val>
                                            <p:fltVal val="0"/>
                                          </p:val>
                                        </p:tav>
                                        <p:tav tm="100000">
                                          <p:val>
                                            <p:fltVal val="1"/>
                                          </p:val>
                                        </p:tav>
                                      </p:tavLst>
                                    </p:anim>
                                    <p:anim calcmode="lin" valueType="num">
                                      <p:cBhvr>
                                        <p:cTn id="43" dur="1000" fill="hold"/>
                                        <p:tgtEl>
                                          <p:spTgt spid="32"/>
                                        </p:tgtEl>
                                        <p:attrNameLst>
                                          <p:attrName>ppt_y</p:attrName>
                                        </p:attrNameLst>
                                      </p:cBhvr>
                                      <p:tavLst>
                                        <p:tav tm="0" fmla="#ppt_y+(sin(-2*pi*(1-$))*-#ppt_x+cos(-2*pi*(1-$))*(1-#ppt_y))*(1-$)">
                                          <p:val>
                                            <p:fltVal val="0"/>
                                          </p:val>
                                        </p:tav>
                                        <p:tav tm="100000">
                                          <p:val>
                                            <p:fltVal val="1"/>
                                          </p:val>
                                        </p:tav>
                                      </p:tavLst>
                                    </p:anim>
                                  </p:childTnLst>
                                </p:cTn>
                              </p:par>
                            </p:childTnLst>
                          </p:cTn>
                        </p:par>
                        <p:par>
                          <p:cTn id="44" fill="hold">
                            <p:stCondLst>
                              <p:cond delay="3000"/>
                            </p:stCondLst>
                            <p:childTnLst>
                              <p:par>
                                <p:cTn id="45" presetID="15" presetClass="entr" presetSubtype="0" fill="hold" grpId="0" nodeType="afterEffect">
                                  <p:stCondLst>
                                    <p:cond delay="0"/>
                                  </p:stCondLst>
                                  <p:childTnLst>
                                    <p:set>
                                      <p:cBhvr>
                                        <p:cTn id="46" dur="1" fill="hold">
                                          <p:stCondLst>
                                            <p:cond delay="0"/>
                                          </p:stCondLst>
                                        </p:cTn>
                                        <p:tgtEl>
                                          <p:spTgt spid="33"/>
                                        </p:tgtEl>
                                        <p:attrNameLst>
                                          <p:attrName>style.visibility</p:attrName>
                                        </p:attrNameLst>
                                      </p:cBhvr>
                                      <p:to>
                                        <p:strVal val="visible"/>
                                      </p:to>
                                    </p:set>
                                    <p:anim calcmode="lin" valueType="num">
                                      <p:cBhvr>
                                        <p:cTn id="47" dur="1000" fill="hold"/>
                                        <p:tgtEl>
                                          <p:spTgt spid="33"/>
                                        </p:tgtEl>
                                        <p:attrNameLst>
                                          <p:attrName>ppt_w</p:attrName>
                                        </p:attrNameLst>
                                      </p:cBhvr>
                                      <p:tavLst>
                                        <p:tav tm="0">
                                          <p:val>
                                            <p:fltVal val="0"/>
                                          </p:val>
                                        </p:tav>
                                        <p:tav tm="100000">
                                          <p:val>
                                            <p:strVal val="#ppt_w"/>
                                          </p:val>
                                        </p:tav>
                                      </p:tavLst>
                                    </p:anim>
                                    <p:anim calcmode="lin" valueType="num">
                                      <p:cBhvr>
                                        <p:cTn id="48" dur="1000" fill="hold"/>
                                        <p:tgtEl>
                                          <p:spTgt spid="33"/>
                                        </p:tgtEl>
                                        <p:attrNameLst>
                                          <p:attrName>ppt_h</p:attrName>
                                        </p:attrNameLst>
                                      </p:cBhvr>
                                      <p:tavLst>
                                        <p:tav tm="0">
                                          <p:val>
                                            <p:fltVal val="0"/>
                                          </p:val>
                                        </p:tav>
                                        <p:tav tm="100000">
                                          <p:val>
                                            <p:strVal val="#ppt_h"/>
                                          </p:val>
                                        </p:tav>
                                      </p:tavLst>
                                    </p:anim>
                                    <p:anim calcmode="lin" valueType="num">
                                      <p:cBhvr>
                                        <p:cTn id="49" dur="1000" fill="hold"/>
                                        <p:tgtEl>
                                          <p:spTgt spid="33"/>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3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dissolve">
                                      <p:cBhvr>
                                        <p:cTn id="55" dur="500"/>
                                        <p:tgtEl>
                                          <p:spTgt spid="14"/>
                                        </p:tgtEl>
                                      </p:cBhvr>
                                    </p:animEffect>
                                  </p:childTnLst>
                                </p:cTn>
                              </p:par>
                            </p:childTnLst>
                          </p:cTn>
                        </p:par>
                      </p:childTnLst>
                    </p:cTn>
                  </p:par>
                  <p:par>
                    <p:cTn id="56" fill="hold">
                      <p:stCondLst>
                        <p:cond delay="indefinite"/>
                      </p:stCondLst>
                      <p:childTnLst>
                        <p:par>
                          <p:cTn id="57" fill="hold">
                            <p:stCondLst>
                              <p:cond delay="0"/>
                            </p:stCondLst>
                            <p:childTnLst>
                              <p:par>
                                <p:cTn id="58" presetID="17" presetClass="entr" presetSubtype="2" fill="hold" nodeType="clickEffect">
                                  <p:stCondLst>
                                    <p:cond delay="0"/>
                                  </p:stCondLst>
                                  <p:childTnLst>
                                    <p:set>
                                      <p:cBhvr>
                                        <p:cTn id="59" dur="1" fill="hold">
                                          <p:stCondLst>
                                            <p:cond delay="0"/>
                                          </p:stCondLst>
                                        </p:cTn>
                                        <p:tgtEl>
                                          <p:spTgt spid="15"/>
                                        </p:tgtEl>
                                        <p:attrNameLst>
                                          <p:attrName>style.visibility</p:attrName>
                                        </p:attrNameLst>
                                      </p:cBhvr>
                                      <p:to>
                                        <p:strVal val="visible"/>
                                      </p:to>
                                    </p:set>
                                    <p:anim calcmode="lin" valueType="num">
                                      <p:cBhvr>
                                        <p:cTn id="60" dur="500" fill="hold"/>
                                        <p:tgtEl>
                                          <p:spTgt spid="15"/>
                                        </p:tgtEl>
                                        <p:attrNameLst>
                                          <p:attrName>ppt_x</p:attrName>
                                        </p:attrNameLst>
                                      </p:cBhvr>
                                      <p:tavLst>
                                        <p:tav tm="0">
                                          <p:val>
                                            <p:strVal val="#ppt_x+#ppt_w/2"/>
                                          </p:val>
                                        </p:tav>
                                        <p:tav tm="100000">
                                          <p:val>
                                            <p:strVal val="#ppt_x"/>
                                          </p:val>
                                        </p:tav>
                                      </p:tavLst>
                                    </p:anim>
                                    <p:anim calcmode="lin" valueType="num">
                                      <p:cBhvr>
                                        <p:cTn id="61" dur="500" fill="hold"/>
                                        <p:tgtEl>
                                          <p:spTgt spid="15"/>
                                        </p:tgtEl>
                                        <p:attrNameLst>
                                          <p:attrName>ppt_y</p:attrName>
                                        </p:attrNameLst>
                                      </p:cBhvr>
                                      <p:tavLst>
                                        <p:tav tm="0">
                                          <p:val>
                                            <p:strVal val="#ppt_y"/>
                                          </p:val>
                                        </p:tav>
                                        <p:tav tm="100000">
                                          <p:val>
                                            <p:strVal val="#ppt_y"/>
                                          </p:val>
                                        </p:tav>
                                      </p:tavLst>
                                    </p:anim>
                                    <p:anim calcmode="lin" valueType="num">
                                      <p:cBhvr>
                                        <p:cTn id="62" dur="500" fill="hold"/>
                                        <p:tgtEl>
                                          <p:spTgt spid="15"/>
                                        </p:tgtEl>
                                        <p:attrNameLst>
                                          <p:attrName>ppt_w</p:attrName>
                                        </p:attrNameLst>
                                      </p:cBhvr>
                                      <p:tavLst>
                                        <p:tav tm="0">
                                          <p:val>
                                            <p:fltVal val="0"/>
                                          </p:val>
                                        </p:tav>
                                        <p:tav tm="100000">
                                          <p:val>
                                            <p:strVal val="#ppt_w"/>
                                          </p:val>
                                        </p:tav>
                                      </p:tavLst>
                                    </p:anim>
                                    <p:anim calcmode="lin" valueType="num">
                                      <p:cBhvr>
                                        <p:cTn id="63" dur="500" fill="hold"/>
                                        <p:tgtEl>
                                          <p:spTgt spid="15"/>
                                        </p:tgtEl>
                                        <p:attrNameLst>
                                          <p:attrName>ppt_h</p:attrName>
                                        </p:attrNameLst>
                                      </p:cBhvr>
                                      <p:tavLst>
                                        <p:tav tm="0">
                                          <p:val>
                                            <p:strVal val="#ppt_h"/>
                                          </p:val>
                                        </p:tav>
                                        <p:tav tm="100000">
                                          <p:val>
                                            <p:strVal val="#ppt_h"/>
                                          </p:val>
                                        </p:tav>
                                      </p:tavLst>
                                    </p:anim>
                                  </p:childTnLst>
                                </p:cTn>
                              </p:par>
                            </p:childTnLst>
                          </p:cTn>
                        </p:par>
                        <p:par>
                          <p:cTn id="64" fill="hold">
                            <p:stCondLst>
                              <p:cond delay="500"/>
                            </p:stCondLst>
                            <p:childTnLst>
                              <p:par>
                                <p:cTn id="65" presetID="9" presetClass="entr" presetSubtype="0" fill="hold" nodeType="after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dissolve">
                                      <p:cBhvr>
                                        <p:cTn id="67" dur="500"/>
                                        <p:tgtEl>
                                          <p:spTgt spid="20"/>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9" fill="hold" grpId="0" nodeType="clickEffect">
                                  <p:stCondLst>
                                    <p:cond delay="0"/>
                                  </p:stCondLst>
                                  <p:childTnLst>
                                    <p:set>
                                      <p:cBhvr>
                                        <p:cTn id="71" dur="1" fill="hold">
                                          <p:stCondLst>
                                            <p:cond delay="0"/>
                                          </p:stCondLst>
                                        </p:cTn>
                                        <p:tgtEl>
                                          <p:spTgt spid="35"/>
                                        </p:tgtEl>
                                        <p:attrNameLst>
                                          <p:attrName>style.visibility</p:attrName>
                                        </p:attrNameLst>
                                      </p:cBhvr>
                                      <p:to>
                                        <p:strVal val="visible"/>
                                      </p:to>
                                    </p:set>
                                    <p:anim calcmode="lin" valueType="num">
                                      <p:cBhvr additive="base">
                                        <p:cTn id="72" dur="500" fill="hold"/>
                                        <p:tgtEl>
                                          <p:spTgt spid="35"/>
                                        </p:tgtEl>
                                        <p:attrNameLst>
                                          <p:attrName>ppt_x</p:attrName>
                                        </p:attrNameLst>
                                      </p:cBhvr>
                                      <p:tavLst>
                                        <p:tav tm="0">
                                          <p:val>
                                            <p:strVal val="0-#ppt_w/2"/>
                                          </p:val>
                                        </p:tav>
                                        <p:tav tm="100000">
                                          <p:val>
                                            <p:strVal val="#ppt_x"/>
                                          </p:val>
                                        </p:tav>
                                      </p:tavLst>
                                    </p:anim>
                                    <p:anim calcmode="lin" valueType="num">
                                      <p:cBhvr additive="base">
                                        <p:cTn id="73" dur="500" fill="hold"/>
                                        <p:tgtEl>
                                          <p:spTgt spid="35"/>
                                        </p:tgtEl>
                                        <p:attrNameLst>
                                          <p:attrName>ppt_y</p:attrName>
                                        </p:attrNameLst>
                                      </p:cBhvr>
                                      <p:tavLst>
                                        <p:tav tm="0">
                                          <p:val>
                                            <p:strVal val="0-#ppt_h/2"/>
                                          </p:val>
                                        </p:tav>
                                        <p:tav tm="100000">
                                          <p:val>
                                            <p:strVal val="#ppt_y"/>
                                          </p:val>
                                        </p:tav>
                                      </p:tavLst>
                                    </p:anim>
                                  </p:childTnLst>
                                </p:cTn>
                              </p:par>
                            </p:childTnLst>
                          </p:cTn>
                        </p:par>
                        <p:par>
                          <p:cTn id="74" fill="hold">
                            <p:stCondLst>
                              <p:cond delay="500"/>
                            </p:stCondLst>
                            <p:childTnLst>
                              <p:par>
                                <p:cTn id="75" presetID="2" presetClass="entr" presetSubtype="3" fill="hold" grpId="0" nodeType="afterEffect">
                                  <p:stCondLst>
                                    <p:cond delay="0"/>
                                  </p:stCondLst>
                                  <p:childTnLst>
                                    <p:set>
                                      <p:cBhvr>
                                        <p:cTn id="76" dur="1" fill="hold">
                                          <p:stCondLst>
                                            <p:cond delay="0"/>
                                          </p:stCondLst>
                                        </p:cTn>
                                        <p:tgtEl>
                                          <p:spTgt spid="38"/>
                                        </p:tgtEl>
                                        <p:attrNameLst>
                                          <p:attrName>style.visibility</p:attrName>
                                        </p:attrNameLst>
                                      </p:cBhvr>
                                      <p:to>
                                        <p:strVal val="visible"/>
                                      </p:to>
                                    </p:set>
                                    <p:anim calcmode="lin" valueType="num">
                                      <p:cBhvr additive="base">
                                        <p:cTn id="77" dur="500" fill="hold"/>
                                        <p:tgtEl>
                                          <p:spTgt spid="38"/>
                                        </p:tgtEl>
                                        <p:attrNameLst>
                                          <p:attrName>ppt_x</p:attrName>
                                        </p:attrNameLst>
                                      </p:cBhvr>
                                      <p:tavLst>
                                        <p:tav tm="0">
                                          <p:val>
                                            <p:strVal val="1+#ppt_w/2"/>
                                          </p:val>
                                        </p:tav>
                                        <p:tav tm="100000">
                                          <p:val>
                                            <p:strVal val="#ppt_x"/>
                                          </p:val>
                                        </p:tav>
                                      </p:tavLst>
                                    </p:anim>
                                    <p:anim calcmode="lin" valueType="num">
                                      <p:cBhvr additive="base">
                                        <p:cTn id="78" dur="500" fill="hold"/>
                                        <p:tgtEl>
                                          <p:spTgt spid="38"/>
                                        </p:tgtEl>
                                        <p:attrNameLst>
                                          <p:attrName>ppt_y</p:attrName>
                                        </p:attrNameLst>
                                      </p:cBhvr>
                                      <p:tavLst>
                                        <p:tav tm="0">
                                          <p:val>
                                            <p:strVal val="0-#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15" presetClass="entr" presetSubtype="0" fill="hold" grpId="0" nodeType="clickEffect">
                                  <p:stCondLst>
                                    <p:cond delay="0"/>
                                  </p:stCondLst>
                                  <p:childTnLst>
                                    <p:set>
                                      <p:cBhvr>
                                        <p:cTn id="82" dur="1" fill="hold">
                                          <p:stCondLst>
                                            <p:cond delay="0"/>
                                          </p:stCondLst>
                                        </p:cTn>
                                        <p:tgtEl>
                                          <p:spTgt spid="42"/>
                                        </p:tgtEl>
                                        <p:attrNameLst>
                                          <p:attrName>style.visibility</p:attrName>
                                        </p:attrNameLst>
                                      </p:cBhvr>
                                      <p:to>
                                        <p:strVal val="visible"/>
                                      </p:to>
                                    </p:set>
                                    <p:anim calcmode="lin" valueType="num">
                                      <p:cBhvr>
                                        <p:cTn id="83" dur="1000" fill="hold"/>
                                        <p:tgtEl>
                                          <p:spTgt spid="42"/>
                                        </p:tgtEl>
                                        <p:attrNameLst>
                                          <p:attrName>ppt_w</p:attrName>
                                        </p:attrNameLst>
                                      </p:cBhvr>
                                      <p:tavLst>
                                        <p:tav tm="0">
                                          <p:val>
                                            <p:fltVal val="0"/>
                                          </p:val>
                                        </p:tav>
                                        <p:tav tm="100000">
                                          <p:val>
                                            <p:strVal val="#ppt_w"/>
                                          </p:val>
                                        </p:tav>
                                      </p:tavLst>
                                    </p:anim>
                                    <p:anim calcmode="lin" valueType="num">
                                      <p:cBhvr>
                                        <p:cTn id="84" dur="1000" fill="hold"/>
                                        <p:tgtEl>
                                          <p:spTgt spid="42"/>
                                        </p:tgtEl>
                                        <p:attrNameLst>
                                          <p:attrName>ppt_h</p:attrName>
                                        </p:attrNameLst>
                                      </p:cBhvr>
                                      <p:tavLst>
                                        <p:tav tm="0">
                                          <p:val>
                                            <p:fltVal val="0"/>
                                          </p:val>
                                        </p:tav>
                                        <p:tav tm="100000">
                                          <p:val>
                                            <p:strVal val="#ppt_h"/>
                                          </p:val>
                                        </p:tav>
                                      </p:tavLst>
                                    </p:anim>
                                    <p:anim calcmode="lin" valueType="num">
                                      <p:cBhvr>
                                        <p:cTn id="85" dur="1000" fill="hold"/>
                                        <p:tgtEl>
                                          <p:spTgt spid="42"/>
                                        </p:tgtEl>
                                        <p:attrNameLst>
                                          <p:attrName>ppt_x</p:attrName>
                                        </p:attrNameLst>
                                      </p:cBhvr>
                                      <p:tavLst>
                                        <p:tav tm="0" fmla="#ppt_x+(cos(-2*pi*(1-$))*-#ppt_x-sin(-2*pi*(1-$))*(1-#ppt_y))*(1-$)">
                                          <p:val>
                                            <p:fltVal val="0"/>
                                          </p:val>
                                        </p:tav>
                                        <p:tav tm="100000">
                                          <p:val>
                                            <p:fltVal val="1"/>
                                          </p:val>
                                        </p:tav>
                                      </p:tavLst>
                                    </p:anim>
                                    <p:anim calcmode="lin" valueType="num">
                                      <p:cBhvr>
                                        <p:cTn id="86" dur="1000" fill="hold"/>
                                        <p:tgtEl>
                                          <p:spTgt spid="4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9" fill="hold" grpId="0" nodeType="clickEffect">
                                  <p:stCondLst>
                                    <p:cond delay="0"/>
                                  </p:stCondLst>
                                  <p:childTnLst>
                                    <p:set>
                                      <p:cBhvr>
                                        <p:cTn id="90" dur="1" fill="hold">
                                          <p:stCondLst>
                                            <p:cond delay="0"/>
                                          </p:stCondLst>
                                        </p:cTn>
                                        <p:tgtEl>
                                          <p:spTgt spid="34"/>
                                        </p:tgtEl>
                                        <p:attrNameLst>
                                          <p:attrName>style.visibility</p:attrName>
                                        </p:attrNameLst>
                                      </p:cBhvr>
                                      <p:to>
                                        <p:strVal val="visible"/>
                                      </p:to>
                                    </p:set>
                                    <p:anim calcmode="lin" valueType="num">
                                      <p:cBhvr additive="base">
                                        <p:cTn id="91" dur="500" fill="hold"/>
                                        <p:tgtEl>
                                          <p:spTgt spid="34"/>
                                        </p:tgtEl>
                                        <p:attrNameLst>
                                          <p:attrName>ppt_x</p:attrName>
                                        </p:attrNameLst>
                                      </p:cBhvr>
                                      <p:tavLst>
                                        <p:tav tm="0">
                                          <p:val>
                                            <p:strVal val="0-#ppt_w/2"/>
                                          </p:val>
                                        </p:tav>
                                        <p:tav tm="100000">
                                          <p:val>
                                            <p:strVal val="#ppt_x"/>
                                          </p:val>
                                        </p:tav>
                                      </p:tavLst>
                                    </p:anim>
                                    <p:anim calcmode="lin" valueType="num">
                                      <p:cBhvr additive="base">
                                        <p:cTn id="92" dur="500" fill="hold"/>
                                        <p:tgtEl>
                                          <p:spTgt spid="34"/>
                                        </p:tgtEl>
                                        <p:attrNameLst>
                                          <p:attrName>ppt_y</p:attrName>
                                        </p:attrNameLst>
                                      </p:cBhvr>
                                      <p:tavLst>
                                        <p:tav tm="0">
                                          <p:val>
                                            <p:strVal val="0-#ppt_h/2"/>
                                          </p:val>
                                        </p:tav>
                                        <p:tav tm="100000">
                                          <p:val>
                                            <p:strVal val="#ppt_y"/>
                                          </p:val>
                                        </p:tav>
                                      </p:tavLst>
                                    </p:anim>
                                  </p:childTnLst>
                                </p:cTn>
                              </p:par>
                            </p:childTnLst>
                          </p:cTn>
                        </p:par>
                        <p:par>
                          <p:cTn id="93" fill="hold">
                            <p:stCondLst>
                              <p:cond delay="500"/>
                            </p:stCondLst>
                            <p:childTnLst>
                              <p:par>
                                <p:cTn id="94" presetID="2" presetClass="entr" presetSubtype="3" fill="hold" grpId="0" nodeType="afterEffect">
                                  <p:stCondLst>
                                    <p:cond delay="0"/>
                                  </p:stCondLst>
                                  <p:childTnLst>
                                    <p:set>
                                      <p:cBhvr>
                                        <p:cTn id="95" dur="1" fill="hold">
                                          <p:stCondLst>
                                            <p:cond delay="0"/>
                                          </p:stCondLst>
                                        </p:cTn>
                                        <p:tgtEl>
                                          <p:spTgt spid="39"/>
                                        </p:tgtEl>
                                        <p:attrNameLst>
                                          <p:attrName>style.visibility</p:attrName>
                                        </p:attrNameLst>
                                      </p:cBhvr>
                                      <p:to>
                                        <p:strVal val="visible"/>
                                      </p:to>
                                    </p:set>
                                    <p:anim calcmode="lin" valueType="num">
                                      <p:cBhvr additive="base">
                                        <p:cTn id="96" dur="500" fill="hold"/>
                                        <p:tgtEl>
                                          <p:spTgt spid="39"/>
                                        </p:tgtEl>
                                        <p:attrNameLst>
                                          <p:attrName>ppt_x</p:attrName>
                                        </p:attrNameLst>
                                      </p:cBhvr>
                                      <p:tavLst>
                                        <p:tav tm="0">
                                          <p:val>
                                            <p:strVal val="1+#ppt_w/2"/>
                                          </p:val>
                                        </p:tav>
                                        <p:tav tm="100000">
                                          <p:val>
                                            <p:strVal val="#ppt_x"/>
                                          </p:val>
                                        </p:tav>
                                      </p:tavLst>
                                    </p:anim>
                                    <p:anim calcmode="lin" valueType="num">
                                      <p:cBhvr additive="base">
                                        <p:cTn id="97" dur="500" fill="hold"/>
                                        <p:tgtEl>
                                          <p:spTgt spid="39"/>
                                        </p:tgtEl>
                                        <p:attrNameLst>
                                          <p:attrName>ppt_y</p:attrName>
                                        </p:attrNameLst>
                                      </p:cBhvr>
                                      <p:tavLst>
                                        <p:tav tm="0">
                                          <p:val>
                                            <p:strVal val="0-#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12" fill="hold" grpId="0" nodeType="clickEffect">
                                  <p:stCondLst>
                                    <p:cond delay="0"/>
                                  </p:stCondLst>
                                  <p:childTnLst>
                                    <p:set>
                                      <p:cBhvr>
                                        <p:cTn id="101" dur="1" fill="hold">
                                          <p:stCondLst>
                                            <p:cond delay="0"/>
                                          </p:stCondLst>
                                        </p:cTn>
                                        <p:tgtEl>
                                          <p:spTgt spid="36"/>
                                        </p:tgtEl>
                                        <p:attrNameLst>
                                          <p:attrName>style.visibility</p:attrName>
                                        </p:attrNameLst>
                                      </p:cBhvr>
                                      <p:to>
                                        <p:strVal val="visible"/>
                                      </p:to>
                                    </p:set>
                                    <p:anim calcmode="lin" valueType="num">
                                      <p:cBhvr additive="base">
                                        <p:cTn id="102" dur="500" fill="hold"/>
                                        <p:tgtEl>
                                          <p:spTgt spid="36"/>
                                        </p:tgtEl>
                                        <p:attrNameLst>
                                          <p:attrName>ppt_x</p:attrName>
                                        </p:attrNameLst>
                                      </p:cBhvr>
                                      <p:tavLst>
                                        <p:tav tm="0">
                                          <p:val>
                                            <p:strVal val="0-#ppt_w/2"/>
                                          </p:val>
                                        </p:tav>
                                        <p:tav tm="100000">
                                          <p:val>
                                            <p:strVal val="#ppt_x"/>
                                          </p:val>
                                        </p:tav>
                                      </p:tavLst>
                                    </p:anim>
                                    <p:anim calcmode="lin" valueType="num">
                                      <p:cBhvr additive="base">
                                        <p:cTn id="103" dur="500" fill="hold"/>
                                        <p:tgtEl>
                                          <p:spTgt spid="36"/>
                                        </p:tgtEl>
                                        <p:attrNameLst>
                                          <p:attrName>ppt_y</p:attrName>
                                        </p:attrNameLst>
                                      </p:cBhvr>
                                      <p:tavLst>
                                        <p:tav tm="0">
                                          <p:val>
                                            <p:strVal val="1+#ppt_h/2"/>
                                          </p:val>
                                        </p:tav>
                                        <p:tav tm="100000">
                                          <p:val>
                                            <p:strVal val="#ppt_y"/>
                                          </p:val>
                                        </p:tav>
                                      </p:tavLst>
                                    </p:anim>
                                  </p:childTnLst>
                                </p:cTn>
                              </p:par>
                            </p:childTnLst>
                          </p:cTn>
                        </p:par>
                        <p:par>
                          <p:cTn id="104" fill="hold">
                            <p:stCondLst>
                              <p:cond delay="500"/>
                            </p:stCondLst>
                            <p:childTnLst>
                              <p:par>
                                <p:cTn id="105" presetID="2" presetClass="entr" presetSubtype="6" fill="hold" grpId="0" nodeType="afterEffect">
                                  <p:stCondLst>
                                    <p:cond delay="0"/>
                                  </p:stCondLst>
                                  <p:childTnLst>
                                    <p:set>
                                      <p:cBhvr>
                                        <p:cTn id="106" dur="1" fill="hold">
                                          <p:stCondLst>
                                            <p:cond delay="0"/>
                                          </p:stCondLst>
                                        </p:cTn>
                                        <p:tgtEl>
                                          <p:spTgt spid="41"/>
                                        </p:tgtEl>
                                        <p:attrNameLst>
                                          <p:attrName>style.visibility</p:attrName>
                                        </p:attrNameLst>
                                      </p:cBhvr>
                                      <p:to>
                                        <p:strVal val="visible"/>
                                      </p:to>
                                    </p:set>
                                    <p:anim calcmode="lin" valueType="num">
                                      <p:cBhvr additive="base">
                                        <p:cTn id="107" dur="500" fill="hold"/>
                                        <p:tgtEl>
                                          <p:spTgt spid="41"/>
                                        </p:tgtEl>
                                        <p:attrNameLst>
                                          <p:attrName>ppt_x</p:attrName>
                                        </p:attrNameLst>
                                      </p:cBhvr>
                                      <p:tavLst>
                                        <p:tav tm="0">
                                          <p:val>
                                            <p:strVal val="1+#ppt_w/2"/>
                                          </p:val>
                                        </p:tav>
                                        <p:tav tm="100000">
                                          <p:val>
                                            <p:strVal val="#ppt_x"/>
                                          </p:val>
                                        </p:tav>
                                      </p:tavLst>
                                    </p:anim>
                                    <p:anim calcmode="lin" valueType="num">
                                      <p:cBhvr additive="base">
                                        <p:cTn id="10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 presetClass="entr" presetSubtype="12" fill="hold" grpId="0" nodeType="clickEffect">
                                  <p:stCondLst>
                                    <p:cond delay="0"/>
                                  </p:stCondLst>
                                  <p:childTnLst>
                                    <p:set>
                                      <p:cBhvr>
                                        <p:cTn id="112" dur="1" fill="hold">
                                          <p:stCondLst>
                                            <p:cond delay="0"/>
                                          </p:stCondLst>
                                        </p:cTn>
                                        <p:tgtEl>
                                          <p:spTgt spid="37"/>
                                        </p:tgtEl>
                                        <p:attrNameLst>
                                          <p:attrName>style.visibility</p:attrName>
                                        </p:attrNameLst>
                                      </p:cBhvr>
                                      <p:to>
                                        <p:strVal val="visible"/>
                                      </p:to>
                                    </p:set>
                                    <p:anim calcmode="lin" valueType="num">
                                      <p:cBhvr additive="base">
                                        <p:cTn id="113" dur="500" fill="hold"/>
                                        <p:tgtEl>
                                          <p:spTgt spid="37"/>
                                        </p:tgtEl>
                                        <p:attrNameLst>
                                          <p:attrName>ppt_x</p:attrName>
                                        </p:attrNameLst>
                                      </p:cBhvr>
                                      <p:tavLst>
                                        <p:tav tm="0">
                                          <p:val>
                                            <p:strVal val="0-#ppt_w/2"/>
                                          </p:val>
                                        </p:tav>
                                        <p:tav tm="100000">
                                          <p:val>
                                            <p:strVal val="#ppt_x"/>
                                          </p:val>
                                        </p:tav>
                                      </p:tavLst>
                                    </p:anim>
                                    <p:anim calcmode="lin" valueType="num">
                                      <p:cBhvr additive="base">
                                        <p:cTn id="114" dur="500" fill="hold"/>
                                        <p:tgtEl>
                                          <p:spTgt spid="37"/>
                                        </p:tgtEl>
                                        <p:attrNameLst>
                                          <p:attrName>ppt_y</p:attrName>
                                        </p:attrNameLst>
                                      </p:cBhvr>
                                      <p:tavLst>
                                        <p:tav tm="0">
                                          <p:val>
                                            <p:strVal val="1+#ppt_h/2"/>
                                          </p:val>
                                        </p:tav>
                                        <p:tav tm="100000">
                                          <p:val>
                                            <p:strVal val="#ppt_y"/>
                                          </p:val>
                                        </p:tav>
                                      </p:tavLst>
                                    </p:anim>
                                  </p:childTnLst>
                                </p:cTn>
                              </p:par>
                            </p:childTnLst>
                          </p:cTn>
                        </p:par>
                        <p:par>
                          <p:cTn id="115" fill="hold">
                            <p:stCondLst>
                              <p:cond delay="500"/>
                            </p:stCondLst>
                            <p:childTnLst>
                              <p:par>
                                <p:cTn id="116" presetID="2" presetClass="entr" presetSubtype="6" fill="hold" grpId="0" nodeType="afterEffect">
                                  <p:stCondLst>
                                    <p:cond delay="0"/>
                                  </p:stCondLst>
                                  <p:childTnLst>
                                    <p:set>
                                      <p:cBhvr>
                                        <p:cTn id="117" dur="1" fill="hold">
                                          <p:stCondLst>
                                            <p:cond delay="0"/>
                                          </p:stCondLst>
                                        </p:cTn>
                                        <p:tgtEl>
                                          <p:spTgt spid="40"/>
                                        </p:tgtEl>
                                        <p:attrNameLst>
                                          <p:attrName>style.visibility</p:attrName>
                                        </p:attrNameLst>
                                      </p:cBhvr>
                                      <p:to>
                                        <p:strVal val="visible"/>
                                      </p:to>
                                    </p:set>
                                    <p:anim calcmode="lin" valueType="num">
                                      <p:cBhvr additive="base">
                                        <p:cTn id="118" dur="500" fill="hold"/>
                                        <p:tgtEl>
                                          <p:spTgt spid="40"/>
                                        </p:tgtEl>
                                        <p:attrNameLst>
                                          <p:attrName>ppt_x</p:attrName>
                                        </p:attrNameLst>
                                      </p:cBhvr>
                                      <p:tavLst>
                                        <p:tav tm="0">
                                          <p:val>
                                            <p:strVal val="1+#ppt_w/2"/>
                                          </p:val>
                                        </p:tav>
                                        <p:tav tm="100000">
                                          <p:val>
                                            <p:strVal val="#ppt_x"/>
                                          </p:val>
                                        </p:tav>
                                      </p:tavLst>
                                    </p:anim>
                                    <p:anim calcmode="lin" valueType="num">
                                      <p:cBhvr additive="base">
                                        <p:cTn id="119"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15" presetClass="entr" presetSubtype="0" fill="hold" grpId="0" nodeType="clickEffect">
                                  <p:stCondLst>
                                    <p:cond delay="0"/>
                                  </p:stCondLst>
                                  <p:childTnLst>
                                    <p:set>
                                      <p:cBhvr>
                                        <p:cTn id="123" dur="1" fill="hold">
                                          <p:stCondLst>
                                            <p:cond delay="0"/>
                                          </p:stCondLst>
                                        </p:cTn>
                                        <p:tgtEl>
                                          <p:spTgt spid="43"/>
                                        </p:tgtEl>
                                        <p:attrNameLst>
                                          <p:attrName>style.visibility</p:attrName>
                                        </p:attrNameLst>
                                      </p:cBhvr>
                                      <p:to>
                                        <p:strVal val="visible"/>
                                      </p:to>
                                    </p:set>
                                    <p:anim calcmode="lin" valueType="num">
                                      <p:cBhvr>
                                        <p:cTn id="124" dur="1000" fill="hold"/>
                                        <p:tgtEl>
                                          <p:spTgt spid="43"/>
                                        </p:tgtEl>
                                        <p:attrNameLst>
                                          <p:attrName>ppt_w</p:attrName>
                                        </p:attrNameLst>
                                      </p:cBhvr>
                                      <p:tavLst>
                                        <p:tav tm="0">
                                          <p:val>
                                            <p:fltVal val="0"/>
                                          </p:val>
                                        </p:tav>
                                        <p:tav tm="100000">
                                          <p:val>
                                            <p:strVal val="#ppt_w"/>
                                          </p:val>
                                        </p:tav>
                                      </p:tavLst>
                                    </p:anim>
                                    <p:anim calcmode="lin" valueType="num">
                                      <p:cBhvr>
                                        <p:cTn id="125" dur="1000" fill="hold"/>
                                        <p:tgtEl>
                                          <p:spTgt spid="43"/>
                                        </p:tgtEl>
                                        <p:attrNameLst>
                                          <p:attrName>ppt_h</p:attrName>
                                        </p:attrNameLst>
                                      </p:cBhvr>
                                      <p:tavLst>
                                        <p:tav tm="0">
                                          <p:val>
                                            <p:fltVal val="0"/>
                                          </p:val>
                                        </p:tav>
                                        <p:tav tm="100000">
                                          <p:val>
                                            <p:strVal val="#ppt_h"/>
                                          </p:val>
                                        </p:tav>
                                      </p:tavLst>
                                    </p:anim>
                                    <p:anim calcmode="lin" valueType="num">
                                      <p:cBhvr>
                                        <p:cTn id="126" dur="1000" fill="hold"/>
                                        <p:tgtEl>
                                          <p:spTgt spid="43"/>
                                        </p:tgtEl>
                                        <p:attrNameLst>
                                          <p:attrName>ppt_x</p:attrName>
                                        </p:attrNameLst>
                                      </p:cBhvr>
                                      <p:tavLst>
                                        <p:tav tm="0" fmla="#ppt_x+(cos(-2*pi*(1-$))*-#ppt_x-sin(-2*pi*(1-$))*(1-#ppt_y))*(1-$)">
                                          <p:val>
                                            <p:fltVal val="0"/>
                                          </p:val>
                                        </p:tav>
                                        <p:tav tm="100000">
                                          <p:val>
                                            <p:fltVal val="1"/>
                                          </p:val>
                                        </p:tav>
                                      </p:tavLst>
                                    </p:anim>
                                    <p:anim calcmode="lin" valueType="num">
                                      <p:cBhvr>
                                        <p:cTn id="127" dur="1000" fill="hold"/>
                                        <p:tgtEl>
                                          <p:spTgt spid="43"/>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14" grpId="0" autoUpdateAnimBg="0"/>
      <p:bldP spid="30" grpId="0" autoUpdateAnimBg="0"/>
      <p:bldP spid="31" grpId="0" autoUpdateAnimBg="0"/>
      <p:bldP spid="32" grpId="0" autoUpdateAnimBg="0"/>
      <p:bldP spid="33" grpId="0" autoUpdateAnimBg="0"/>
      <p:bldP spid="34" grpId="0" autoUpdateAnimBg="0"/>
      <p:bldP spid="35" grpId="0" autoUpdateAnimBg="0"/>
      <p:bldP spid="36" grpId="0" autoUpdateAnimBg="0"/>
      <p:bldP spid="37" grpId="0" autoUpdateAnimBg="0"/>
      <p:bldP spid="38" grpId="0" autoUpdateAnimBg="0"/>
      <p:bldP spid="39" grpId="0" autoUpdateAnimBg="0"/>
      <p:bldP spid="40" grpId="0" autoUpdateAnimBg="0"/>
      <p:bldP spid="41" grpId="0" autoUpdateAnimBg="0"/>
      <p:bldP spid="42" grpId="0" autoUpdateAnimBg="0"/>
      <p:bldP spid="43"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专门的关系运算</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graphicFrame>
        <p:nvGraphicFramePr>
          <p:cNvPr id="6" name="Group 148"/>
          <p:cNvGraphicFramePr>
            <a:graphicFrameLocks noGrp="1"/>
          </p:cNvGraphicFramePr>
          <p:nvPr/>
        </p:nvGraphicFramePr>
        <p:xfrm>
          <a:off x="5635857" y="2034478"/>
          <a:ext cx="1325563" cy="2011456"/>
        </p:xfrm>
        <a:graphic>
          <a:graphicData uri="http://schemas.openxmlformats.org/drawingml/2006/table">
            <a:tbl>
              <a:tblPr/>
              <a:tblGrid>
                <a:gridCol w="427038"/>
                <a:gridCol w="446087"/>
                <a:gridCol w="452438"/>
              </a:tblGrid>
              <a:tr h="39611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15251">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c5</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7" name="Group 149"/>
          <p:cNvGraphicFramePr>
            <a:graphicFrameLocks noGrp="1"/>
          </p:cNvGraphicFramePr>
          <p:nvPr/>
        </p:nvGraphicFramePr>
        <p:xfrm>
          <a:off x="3302232" y="3950591"/>
          <a:ext cx="1325563" cy="1401816"/>
        </p:xfrm>
        <a:graphic>
          <a:graphicData uri="http://schemas.openxmlformats.org/drawingml/2006/table">
            <a:tbl>
              <a:tblPr/>
              <a:tblGrid>
                <a:gridCol w="427038"/>
                <a:gridCol w="446087"/>
                <a:gridCol w="452438"/>
              </a:tblGrid>
              <a:tr h="39609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66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8" name="Group 151"/>
          <p:cNvGraphicFramePr>
            <a:graphicFrameLocks noGrp="1"/>
          </p:cNvGraphicFramePr>
          <p:nvPr/>
        </p:nvGraphicFramePr>
        <p:xfrm>
          <a:off x="7925032" y="4037903"/>
          <a:ext cx="1325563" cy="1096992"/>
        </p:xfrm>
        <a:graphic>
          <a:graphicData uri="http://schemas.openxmlformats.org/drawingml/2006/table">
            <a:tbl>
              <a:tblPr/>
              <a:tblGrid>
                <a:gridCol w="427038"/>
                <a:gridCol w="446087"/>
                <a:gridCol w="452438"/>
              </a:tblGrid>
              <a:tr h="39608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087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mc:Choice xmlns:a14="http://schemas.microsoft.com/office/drawing/2010/main" Requires="a14">
          <p:sp>
            <p:nvSpPr>
              <p:cNvPr id="9" name="Rectangle 155"/>
              <p:cNvSpPr>
                <a:spLocks noChangeArrowheads="1"/>
              </p:cNvSpPr>
              <p:nvPr/>
            </p:nvSpPr>
            <p:spPr bwMode="auto">
              <a:xfrm>
                <a:off x="7586911" y="5394319"/>
                <a:ext cx="230018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800" dirty="0">
                    <a:latin typeface="Arial" panose="020B0604020202020204" pitchFamily="34" charset="0"/>
                  </a:rPr>
                  <a:t>(c)</a:t>
                </a:r>
                <a:r>
                  <a:rPr lang="en-US" altLang="zh-CN" dirty="0">
                    <a:latin typeface="Arial" panose="020B0604020202020204" pitchFamily="34" charset="0"/>
                  </a:rPr>
                  <a:t> </a:t>
                </a:r>
                <a14:m>
                  <m:oMath xmlns:m="http://schemas.openxmlformats.org/officeDocument/2006/math">
                    <m:sSub>
                      <m:sSubPr>
                        <m:ctrlPr>
                          <a:rPr lang="en-US" altLang="zh-CN" sz="1800" i="1" smtClean="0">
                            <a:latin typeface="Cambria Math" panose="02040503050406030204" pitchFamily="18" charset="0"/>
                          </a:rPr>
                        </m:ctrlPr>
                      </m:sSubPr>
                      <m:e>
                        <m:r>
                          <a:rPr lang="zh-CN" altLang="en-US" sz="1800" i="1" smtClean="0">
                            <a:latin typeface="Cambria Math" panose="02040503050406030204" pitchFamily="18" charset="0"/>
                          </a:rPr>
                          <m:t>𝜎</m:t>
                        </m:r>
                      </m:e>
                      <m:sub>
                        <m:r>
                          <a:rPr lang="en-US" altLang="zh-CN" sz="1800" b="0" i="1" smtClean="0">
                            <a:latin typeface="Cambria Math" panose="02040503050406030204" pitchFamily="18" charset="0"/>
                          </a:rPr>
                          <m:t>𝐴</m:t>
                        </m:r>
                        <m:sSup>
                          <m:sSupPr>
                            <m:ctrlPr>
                              <a:rPr lang="en-US" altLang="zh-CN" sz="1800" b="0" i="1" smtClean="0">
                                <a:latin typeface="Cambria Math" panose="02040503050406030204" pitchFamily="18" charset="0"/>
                              </a:rPr>
                            </m:ctrlPr>
                          </m:sSupPr>
                          <m:e>
                            <m:r>
                              <a:rPr lang="en-US" altLang="zh-CN" sz="1800" b="0" i="1" smtClean="0">
                                <a:latin typeface="Cambria Math" panose="02040503050406030204" pitchFamily="18" charset="0"/>
                              </a:rPr>
                              <m:t>&gt;</m:t>
                            </m:r>
                          </m:e>
                          <m:sup>
                            <m:r>
                              <a:rPr lang="en-US" altLang="zh-CN" sz="1800" b="0" i="1" smtClean="0">
                                <a:latin typeface="Cambria Math" panose="02040503050406030204" pitchFamily="18" charset="0"/>
                              </a:rPr>
                              <m:t>′</m:t>
                            </m:r>
                          </m:sup>
                        </m:sSup>
                        <m:r>
                          <a:rPr lang="en-US" altLang="zh-CN" sz="1800" b="0" i="1" smtClean="0">
                            <a:latin typeface="Cambria Math" panose="02040503050406030204" pitchFamily="18" charset="0"/>
                          </a:rPr>
                          <m:t>𝑎</m:t>
                        </m:r>
                        <m:sSup>
                          <m:sSupPr>
                            <m:ctrlPr>
                              <a:rPr lang="en-US" altLang="zh-CN" sz="1800" b="0" i="1" smtClean="0">
                                <a:latin typeface="Cambria Math" panose="02040503050406030204" pitchFamily="18" charset="0"/>
                              </a:rPr>
                            </m:ctrlPr>
                          </m:sSupPr>
                          <m:e>
                            <m:r>
                              <a:rPr lang="en-US" altLang="zh-CN" sz="1800" b="0" i="1" smtClean="0">
                                <a:latin typeface="Cambria Math" panose="02040503050406030204" pitchFamily="18" charset="0"/>
                              </a:rPr>
                              <m:t>1</m:t>
                            </m:r>
                          </m:e>
                          <m:sup>
                            <m:r>
                              <a:rPr lang="en-US" altLang="zh-CN" sz="1800" b="0" i="1" smtClean="0">
                                <a:latin typeface="Cambria Math" panose="02040503050406030204" pitchFamily="18" charset="0"/>
                              </a:rPr>
                              <m:t>′</m:t>
                            </m:r>
                          </m:sup>
                        </m:sSup>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𝐶</m:t>
                        </m:r>
                        <m:sSup>
                          <m:sSupPr>
                            <m:ctrlPr>
                              <a:rPr lang="en-US" altLang="zh-CN" sz="1800" b="0" i="1" smtClean="0">
                                <a:latin typeface="Cambria Math" panose="02040503050406030204" pitchFamily="18" charset="0"/>
                                <a:ea typeface="Cambria Math" panose="02040503050406030204" pitchFamily="18" charset="0"/>
                              </a:rPr>
                            </m:ctrlPr>
                          </m:sSupPr>
                          <m:e>
                            <m:r>
                              <a:rPr lang="en-US" altLang="zh-CN" sz="1800" b="0" i="1" smtClean="0">
                                <a:latin typeface="Cambria Math" panose="02040503050406030204" pitchFamily="18" charset="0"/>
                                <a:ea typeface="Cambria Math" panose="02040503050406030204" pitchFamily="18" charset="0"/>
                              </a:rPr>
                              <m:t>=</m:t>
                            </m:r>
                          </m:e>
                          <m:sup>
                            <m:r>
                              <a:rPr lang="en-US" altLang="zh-CN" sz="1800" b="0" i="1" smtClean="0">
                                <a:latin typeface="Cambria Math" panose="02040503050406030204" pitchFamily="18" charset="0"/>
                                <a:ea typeface="Cambria Math" panose="02040503050406030204" pitchFamily="18" charset="0"/>
                              </a:rPr>
                              <m:t>′</m:t>
                            </m:r>
                          </m:sup>
                        </m:sSup>
                        <m:r>
                          <a:rPr lang="en-US" altLang="zh-CN" sz="1800" b="0" i="1" smtClean="0">
                            <a:latin typeface="Cambria Math" panose="02040503050406030204" pitchFamily="18" charset="0"/>
                            <a:ea typeface="Cambria Math" panose="02040503050406030204" pitchFamily="18" charset="0"/>
                          </a:rPr>
                          <m:t>𝑐</m:t>
                        </m:r>
                        <m:sSup>
                          <m:sSupPr>
                            <m:ctrlPr>
                              <a:rPr lang="en-US" altLang="zh-CN" sz="1800" b="0" i="1" smtClean="0">
                                <a:latin typeface="Cambria Math" panose="02040503050406030204" pitchFamily="18" charset="0"/>
                                <a:ea typeface="Cambria Math" panose="02040503050406030204" pitchFamily="18" charset="0"/>
                              </a:rPr>
                            </m:ctrlPr>
                          </m:sSupPr>
                          <m:e>
                            <m:r>
                              <a:rPr lang="en-US" altLang="zh-CN" sz="1800" b="0" i="1" smtClean="0">
                                <a:latin typeface="Cambria Math" panose="02040503050406030204" pitchFamily="18" charset="0"/>
                                <a:ea typeface="Cambria Math" panose="02040503050406030204" pitchFamily="18" charset="0"/>
                              </a:rPr>
                              <m:t>3</m:t>
                            </m:r>
                          </m:e>
                          <m:sup>
                            <m:r>
                              <a:rPr lang="en-US" altLang="zh-CN" sz="1800" b="0" i="1" smtClean="0">
                                <a:latin typeface="Cambria Math" panose="02040503050406030204" pitchFamily="18" charset="0"/>
                                <a:ea typeface="Cambria Math" panose="02040503050406030204" pitchFamily="18" charset="0"/>
                              </a:rPr>
                              <m:t>′</m:t>
                            </m:r>
                          </m:sup>
                        </m:sSup>
                        <m:r>
                          <a:rPr lang="en-US" altLang="zh-CN" sz="1800" b="0" i="1" smtClean="0">
                            <a:latin typeface="Cambria Math" panose="02040503050406030204" pitchFamily="18" charset="0"/>
                            <a:ea typeface="Cambria Math" panose="02040503050406030204" pitchFamily="18" charset="0"/>
                          </a:rPr>
                          <m:t> </m:t>
                        </m:r>
                      </m:sub>
                    </m:sSub>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𝑅</m:t>
                    </m:r>
                    <m:r>
                      <a:rPr lang="en-US" altLang="zh-CN" sz="1800" b="0" i="1" smtClean="0">
                        <a:latin typeface="Cambria Math" panose="02040503050406030204" pitchFamily="18" charset="0"/>
                      </a:rPr>
                      <m:t>)</m:t>
                    </m:r>
                  </m:oMath>
                </a14:m>
                <a:endParaRPr lang="en-US" altLang="zh-CN" sz="1800" dirty="0">
                  <a:latin typeface="Arial" panose="020B0604020202020204" pitchFamily="34" charset="0"/>
                </a:endParaRPr>
              </a:p>
            </p:txBody>
          </p:sp>
        </mc:Choice>
        <mc:Fallback>
          <p:sp>
            <p:nvSpPr>
              <p:cNvPr id="9" name="Rectangle 155"/>
              <p:cNvSpPr>
                <a:spLocks noRot="1" noChangeAspect="1" noMove="1" noResize="1" noEditPoints="1" noAdjustHandles="1" noChangeArrowheads="1" noChangeShapeType="1" noTextEdit="1"/>
              </p:cNvSpPr>
              <p:nvPr/>
            </p:nvSpPr>
            <p:spPr bwMode="auto">
              <a:xfrm>
                <a:off x="7586911" y="5394319"/>
                <a:ext cx="2300181" cy="523220"/>
              </a:xfrm>
              <a:prstGeom prst="rect">
                <a:avLst/>
              </a:prstGeom>
              <a:blipFill rotWithShape="1">
                <a:blip r:embed="rId1"/>
                <a:stretch>
                  <a:fillRect l="-25" t="-120" r="6" b="11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0" name="Text Box 159"/>
          <p:cNvSpPr txBox="1">
            <a:spLocks noChangeArrowheads="1"/>
          </p:cNvSpPr>
          <p:nvPr/>
        </p:nvSpPr>
        <p:spPr bwMode="auto">
          <a:xfrm>
            <a:off x="5721582" y="4223641"/>
            <a:ext cx="1085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800" dirty="0">
                <a:latin typeface="Arial" panose="020B0604020202020204" pitchFamily="34" charset="0"/>
              </a:rPr>
              <a:t>(a)</a:t>
            </a:r>
            <a:r>
              <a:rPr lang="zh-CN" altLang="en-US" sz="1800" dirty="0">
                <a:latin typeface="Arial" panose="020B0604020202020204" pitchFamily="34" charset="0"/>
              </a:rPr>
              <a:t>关系</a:t>
            </a:r>
            <a:r>
              <a:rPr lang="en-US" altLang="zh-CN" sz="1800" dirty="0">
                <a:latin typeface="Arial" panose="020B0604020202020204" pitchFamily="34" charset="0"/>
              </a:rPr>
              <a:t>R</a:t>
            </a:r>
            <a:endParaRPr lang="zh-CN" altLang="en-US" sz="1800" dirty="0">
              <a:latin typeface="Arial" panose="020B0604020202020204" pitchFamily="34" charset="0"/>
            </a:endParaRPr>
          </a:p>
        </p:txBody>
      </p:sp>
      <mc:AlternateContent xmlns:mc="http://schemas.openxmlformats.org/markup-compatibility/2006">
        <mc:Choice xmlns:a14="http://schemas.microsoft.com/office/drawing/2010/main" Requires="a14">
          <p:sp>
            <p:nvSpPr>
              <p:cNvPr id="11" name="Text Box 160"/>
              <p:cNvSpPr txBox="1">
                <a:spLocks noChangeArrowheads="1"/>
              </p:cNvSpPr>
              <p:nvPr/>
            </p:nvSpPr>
            <p:spPr bwMode="auto">
              <a:xfrm>
                <a:off x="2121132" y="5434903"/>
                <a:ext cx="3744913" cy="486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lnSpc>
                    <a:spcPct val="80000"/>
                  </a:lnSpc>
                  <a:spcBef>
                    <a:spcPct val="0"/>
                  </a:spcBef>
                  <a:buFontTx/>
                  <a:buNone/>
                </a:pPr>
                <a:r>
                  <a:rPr lang="en-US" altLang="zh-CN" sz="1800" dirty="0">
                    <a:latin typeface="Arial" panose="020B0604020202020204" pitchFamily="34" charset="0"/>
                  </a:rPr>
                  <a:t>(b)</a:t>
                </a:r>
                <a:r>
                  <a:rPr lang="en-US" altLang="zh-CN" sz="3200" dirty="0">
                    <a:latin typeface="Arial" panose="020B0604020202020204" pitchFamily="34" charset="0"/>
                  </a:rPr>
                  <a:t> </a:t>
                </a:r>
                <a14:m>
                  <m:oMath xmlns:m="http://schemas.openxmlformats.org/officeDocument/2006/math">
                    <m:sSub>
                      <m:sSubPr>
                        <m:ctrlPr>
                          <a:rPr lang="en-US" altLang="zh-CN" sz="1800" i="1" smtClean="0">
                            <a:latin typeface="Cambria Math" panose="02040503050406030204" pitchFamily="18" charset="0"/>
                          </a:rPr>
                        </m:ctrlPr>
                      </m:sSubPr>
                      <m:e>
                        <m:r>
                          <a:rPr lang="zh-CN" altLang="en-US" sz="1800" i="1" smtClean="0">
                            <a:latin typeface="Cambria Math" panose="02040503050406030204" pitchFamily="18" charset="0"/>
                          </a:rPr>
                          <m:t>𝜎</m:t>
                        </m:r>
                      </m:e>
                      <m:sub>
                        <m:r>
                          <a:rPr lang="en-US" altLang="zh-CN" sz="1800" b="0" i="1" smtClean="0">
                            <a:latin typeface="Cambria Math" panose="02040503050406030204" pitchFamily="18" charset="0"/>
                          </a:rPr>
                          <m:t>𝐴</m:t>
                        </m:r>
                        <m:sSup>
                          <m:sSupPr>
                            <m:ctrlPr>
                              <a:rPr lang="en-US" altLang="zh-CN" sz="1800" b="0" i="1" smtClean="0">
                                <a:latin typeface="Cambria Math" panose="02040503050406030204" pitchFamily="18" charset="0"/>
                              </a:rPr>
                            </m:ctrlPr>
                          </m:sSupPr>
                          <m:e>
                            <m:r>
                              <a:rPr lang="en-US" altLang="zh-CN" sz="1800" b="0" i="1" smtClean="0">
                                <a:latin typeface="Cambria Math" panose="02040503050406030204" pitchFamily="18" charset="0"/>
                              </a:rPr>
                              <m:t>=</m:t>
                            </m:r>
                          </m:e>
                          <m:sup>
                            <m:r>
                              <a:rPr lang="en-US" altLang="zh-CN" sz="1800" b="0" i="1" smtClean="0">
                                <a:latin typeface="Cambria Math" panose="02040503050406030204" pitchFamily="18" charset="0"/>
                              </a:rPr>
                              <m:t>′</m:t>
                            </m:r>
                          </m:sup>
                        </m:sSup>
                        <m:r>
                          <a:rPr lang="en-US" altLang="zh-CN" sz="1800" b="0" i="1" smtClean="0">
                            <a:latin typeface="Cambria Math" panose="02040503050406030204" pitchFamily="18" charset="0"/>
                          </a:rPr>
                          <m:t>𝑎</m:t>
                        </m:r>
                        <m:sSup>
                          <m:sSupPr>
                            <m:ctrlPr>
                              <a:rPr lang="en-US" altLang="zh-CN" sz="1800" b="0" i="1" smtClean="0">
                                <a:latin typeface="Cambria Math" panose="02040503050406030204" pitchFamily="18" charset="0"/>
                              </a:rPr>
                            </m:ctrlPr>
                          </m:sSupPr>
                          <m:e>
                            <m:r>
                              <a:rPr lang="en-US" altLang="zh-CN" sz="1800" b="0" i="1" smtClean="0">
                                <a:latin typeface="Cambria Math" panose="02040503050406030204" pitchFamily="18" charset="0"/>
                              </a:rPr>
                              <m:t>1</m:t>
                            </m:r>
                          </m:e>
                          <m:sup>
                            <m:r>
                              <a:rPr lang="en-US" altLang="zh-CN" sz="1800" b="0" i="1" smtClean="0">
                                <a:latin typeface="Cambria Math" panose="02040503050406030204" pitchFamily="18" charset="0"/>
                              </a:rPr>
                              <m:t>′</m:t>
                            </m:r>
                          </m:sup>
                        </m:sSup>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𝐵</m:t>
                        </m:r>
                        <m:sSup>
                          <m:sSupPr>
                            <m:ctrlPr>
                              <a:rPr lang="en-US" altLang="zh-CN" sz="1800" b="0" i="1" smtClean="0">
                                <a:latin typeface="Cambria Math" panose="02040503050406030204" pitchFamily="18" charset="0"/>
                                <a:ea typeface="Cambria Math" panose="02040503050406030204" pitchFamily="18" charset="0"/>
                              </a:rPr>
                            </m:ctrlPr>
                          </m:sSupPr>
                          <m:e>
                            <m:r>
                              <a:rPr lang="en-US" altLang="zh-CN" sz="1800" b="0" i="1" smtClean="0">
                                <a:latin typeface="Cambria Math" panose="02040503050406030204" pitchFamily="18" charset="0"/>
                                <a:ea typeface="Cambria Math" panose="02040503050406030204" pitchFamily="18" charset="0"/>
                              </a:rPr>
                              <m:t>=</m:t>
                            </m:r>
                          </m:e>
                          <m:sup>
                            <m:r>
                              <a:rPr lang="en-US" altLang="zh-CN" sz="1800" b="0" i="1" smtClean="0">
                                <a:latin typeface="Cambria Math" panose="02040503050406030204" pitchFamily="18" charset="0"/>
                                <a:ea typeface="Cambria Math" panose="02040503050406030204" pitchFamily="18" charset="0"/>
                              </a:rPr>
                              <m:t>′</m:t>
                            </m:r>
                          </m:sup>
                        </m:sSup>
                        <m:r>
                          <a:rPr lang="en-US" altLang="zh-CN" sz="1800" b="0" i="1" smtClean="0">
                            <a:latin typeface="Cambria Math" panose="02040503050406030204" pitchFamily="18" charset="0"/>
                            <a:ea typeface="Cambria Math" panose="02040503050406030204" pitchFamily="18" charset="0"/>
                          </a:rPr>
                          <m:t>𝑏</m:t>
                        </m:r>
                        <m:sSup>
                          <m:sSupPr>
                            <m:ctrlPr>
                              <a:rPr lang="en-US" altLang="zh-CN" sz="1800" b="0" i="1" smtClean="0">
                                <a:latin typeface="Cambria Math" panose="02040503050406030204" pitchFamily="18" charset="0"/>
                                <a:ea typeface="Cambria Math" panose="02040503050406030204" pitchFamily="18" charset="0"/>
                              </a:rPr>
                            </m:ctrlPr>
                          </m:sSupPr>
                          <m:e>
                            <m:r>
                              <a:rPr lang="en-US" altLang="zh-CN" sz="1800" b="0" i="1" smtClean="0">
                                <a:latin typeface="Cambria Math" panose="02040503050406030204" pitchFamily="18" charset="0"/>
                                <a:ea typeface="Cambria Math" panose="02040503050406030204" pitchFamily="18" charset="0"/>
                              </a:rPr>
                              <m:t>3</m:t>
                            </m:r>
                          </m:e>
                          <m:sup>
                            <m:r>
                              <a:rPr lang="en-US" altLang="zh-CN" sz="1800" b="0" i="1" smtClean="0">
                                <a:latin typeface="Cambria Math" panose="02040503050406030204" pitchFamily="18" charset="0"/>
                                <a:ea typeface="Cambria Math" panose="02040503050406030204" pitchFamily="18" charset="0"/>
                              </a:rPr>
                              <m:t>′</m:t>
                            </m:r>
                          </m:sup>
                        </m:sSup>
                      </m:sub>
                    </m:sSub>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𝑅</m:t>
                    </m:r>
                    <m:r>
                      <a:rPr lang="en-US" altLang="zh-CN" sz="1800" b="0" i="1" smtClean="0">
                        <a:latin typeface="Cambria Math" panose="02040503050406030204" pitchFamily="18" charset="0"/>
                      </a:rPr>
                      <m:t>)</m:t>
                    </m:r>
                  </m:oMath>
                </a14:m>
                <a:endParaRPr lang="zh-CN" altLang="en-US" sz="2000" dirty="0">
                  <a:latin typeface="Arial" panose="020B0604020202020204" pitchFamily="34" charset="0"/>
                </a:endParaRPr>
              </a:p>
            </p:txBody>
          </p:sp>
        </mc:Choice>
        <mc:Fallback>
          <p:sp>
            <p:nvSpPr>
              <p:cNvPr id="11" name="Text Box 160"/>
              <p:cNvSpPr txBox="1">
                <a:spLocks noRot="1" noChangeAspect="1" noMove="1" noResize="1" noEditPoints="1" noAdjustHandles="1" noChangeArrowheads="1" noChangeShapeType="1" noTextEdit="1"/>
              </p:cNvSpPr>
              <p:nvPr/>
            </p:nvSpPr>
            <p:spPr bwMode="auto">
              <a:xfrm>
                <a:off x="2121132" y="5434903"/>
                <a:ext cx="3744913" cy="486287"/>
              </a:xfrm>
              <a:prstGeom prst="rect">
                <a:avLst/>
              </a:prstGeom>
              <a:blipFill rotWithShape="1">
                <a:blip r:embed="rId2"/>
                <a:stretch>
                  <a:fillRect l="-6" t="-3774" r="15" b="9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专门的关系运算</a:t>
                </a:r>
                <a:endParaRPr lang="en-US" altLang="zh-CN" dirty="0"/>
              </a:p>
              <a:p>
                <a:pPr lvl="1"/>
                <a:r>
                  <a:rPr lang="zh-CN" altLang="en-US" dirty="0"/>
                  <a:t>投影（</a:t>
                </a:r>
                <a:r>
                  <a:rPr lang="en-US" altLang="zh-CN" dirty="0"/>
                  <a:t>projection</a:t>
                </a:r>
                <a:r>
                  <a:rPr lang="zh-CN" altLang="en-US" dirty="0"/>
                  <a:t>）</a:t>
                </a:r>
                <a:endParaRPr lang="zh-CN" altLang="en-US" dirty="0"/>
              </a:p>
              <a:p>
                <a:pPr marL="914400" lvl="2" indent="0" algn="ctr">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 </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rPr>
                        <m:t>}</m:t>
                      </m:r>
                    </m:oMath>
                  </m:oMathPara>
                </a14:m>
                <a:endParaRPr lang="en-US" altLang="zh-CN" dirty="0"/>
              </a:p>
              <a:p>
                <a:pPr lvl="2"/>
                <a:r>
                  <a:rPr lang="zh-CN" altLang="en-US" dirty="0"/>
                  <a:t>其中，</a:t>
                </a:r>
                <a:r>
                  <a:rPr lang="en-US" altLang="zh-CN" dirty="0"/>
                  <a:t>X</a:t>
                </a:r>
                <a:r>
                  <a:rPr lang="zh-CN" altLang="en-US" dirty="0"/>
                  <a:t>是关系</a:t>
                </a:r>
                <a:r>
                  <a:rPr lang="en-US" altLang="zh-CN" dirty="0"/>
                  <a:t>R</a:t>
                </a:r>
                <a:r>
                  <a:rPr lang="zh-CN" altLang="en-US" dirty="0"/>
                  <a:t>的一个属性子集，</a:t>
                </a:r>
                <a:r>
                  <a:rPr lang="en-US" altLang="zh-CN" dirty="0"/>
                  <a:t>t[X]</a:t>
                </a:r>
                <a:r>
                  <a:rPr lang="zh-CN" altLang="en-US" dirty="0"/>
                  <a:t>表示关系</a:t>
                </a:r>
                <a:r>
                  <a:rPr lang="en-US" altLang="zh-CN" dirty="0"/>
                  <a:t>R</a:t>
                </a:r>
                <a:r>
                  <a:rPr lang="zh-CN" altLang="en-US" dirty="0"/>
                  <a:t>上的元组</a:t>
                </a:r>
                <a:r>
                  <a:rPr lang="en-US" altLang="zh-CN" dirty="0"/>
                  <a:t>t</a:t>
                </a:r>
                <a:r>
                  <a:rPr lang="zh-CN" altLang="en-US" dirty="0"/>
                  <a:t>在属性子集</a:t>
                </a:r>
                <a:r>
                  <a:rPr lang="en-US" altLang="zh-CN" dirty="0"/>
                  <a:t>X</a:t>
                </a:r>
                <a:r>
                  <a:rPr lang="zh-CN" altLang="en-US" dirty="0"/>
                  <a:t>上的分量</a:t>
                </a:r>
                <a:endParaRPr lang="zh-CN" altLang="en-US" dirty="0"/>
              </a:p>
              <a:p>
                <a:pPr lvl="2"/>
                <a:r>
                  <a:rPr lang="zh-CN" altLang="en-US" dirty="0"/>
                  <a:t>由于关系的属性间是无序的，因此</a:t>
                </a:r>
                <a:r>
                  <a:rPr lang="en-US" altLang="zh-CN" dirty="0"/>
                  <a:t>X</a:t>
                </a:r>
                <a:r>
                  <a:rPr lang="zh-CN" altLang="en-US" dirty="0"/>
                  <a:t>中的属性顺序可以和它们在</a:t>
                </a:r>
                <a:r>
                  <a:rPr lang="en-US" altLang="zh-CN" dirty="0"/>
                  <a:t>R</a:t>
                </a:r>
                <a:r>
                  <a:rPr lang="zh-CN" altLang="en-US" dirty="0"/>
                  <a:t>中的出现顺序不一致。此外，需要注意的是因为关系中不允许有重复元组，因此在投影后需要将可能出现的重复元组进行</a:t>
                </a:r>
                <a:r>
                  <a:rPr lang="zh-CN" altLang="en-US" dirty="0">
                    <a:solidFill>
                      <a:srgbClr val="C00000"/>
                    </a:solidFill>
                  </a:rPr>
                  <a:t>合并</a:t>
                </a:r>
                <a:endParaRPr lang="zh-CN" altLang="en-US" dirty="0">
                  <a:solidFill>
                    <a:srgbClr val="C00000"/>
                  </a:solidFill>
                </a:endParaRPr>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专门的关系运算</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
        <p:nvSpPr>
          <p:cNvPr id="6" name="Rectangle 4"/>
          <p:cNvSpPr>
            <a:spLocks noChangeArrowheads="1"/>
          </p:cNvSpPr>
          <p:nvPr/>
        </p:nvSpPr>
        <p:spPr bwMode="auto">
          <a:xfrm>
            <a:off x="4183024" y="1868488"/>
            <a:ext cx="2020888" cy="496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marL="0" indent="0" eaLnBrk="1" hangingPunct="1">
              <a:buNone/>
            </a:pPr>
            <a:r>
              <a:rPr lang="en-US" altLang="zh-CN" sz="2400" dirty="0">
                <a:latin typeface="Helvetica" panose="020B0604020202020204" pitchFamily="34" charset="0"/>
              </a:rPr>
              <a:t>Relation</a:t>
            </a:r>
            <a:r>
              <a:rPr lang="en-US" altLang="zh-CN" sz="2400" i="1" dirty="0">
                <a:latin typeface="Helvetica" panose="020B0604020202020204" pitchFamily="34" charset="0"/>
              </a:rPr>
              <a:t> r </a:t>
            </a:r>
            <a:r>
              <a:rPr lang="en-US" altLang="zh-CN" sz="2400" dirty="0">
                <a:latin typeface="Helvetica" panose="020B0604020202020204" pitchFamily="34" charset="0"/>
              </a:rPr>
              <a:t>:</a:t>
            </a:r>
            <a:endParaRPr lang="en-US" altLang="zh-CN" sz="2400" dirty="0">
              <a:latin typeface="Helvetica" panose="020B0604020202020204" pitchFamily="34" charset="0"/>
            </a:endParaRPr>
          </a:p>
        </p:txBody>
      </p:sp>
      <p:grpSp>
        <p:nvGrpSpPr>
          <p:cNvPr id="7" name="Group 5"/>
          <p:cNvGrpSpPr/>
          <p:nvPr/>
        </p:nvGrpSpPr>
        <p:grpSpPr bwMode="auto">
          <a:xfrm>
            <a:off x="6457912" y="1755775"/>
            <a:ext cx="1371600" cy="2209800"/>
            <a:chOff x="1936" y="960"/>
            <a:chExt cx="864" cy="1392"/>
          </a:xfrm>
        </p:grpSpPr>
        <p:grpSp>
          <p:nvGrpSpPr>
            <p:cNvPr id="8" name="Group 6"/>
            <p:cNvGrpSpPr/>
            <p:nvPr/>
          </p:nvGrpSpPr>
          <p:grpSpPr bwMode="auto">
            <a:xfrm>
              <a:off x="1936" y="960"/>
              <a:ext cx="864" cy="1392"/>
              <a:chOff x="1936" y="960"/>
              <a:chExt cx="864" cy="1392"/>
            </a:xfrm>
          </p:grpSpPr>
          <p:sp>
            <p:nvSpPr>
              <p:cNvPr id="10" name="Rectangle 7"/>
              <p:cNvSpPr>
                <a:spLocks noChangeArrowheads="1"/>
              </p:cNvSpPr>
              <p:nvPr/>
            </p:nvSpPr>
            <p:spPr bwMode="auto">
              <a:xfrm>
                <a:off x="1936" y="1296"/>
                <a:ext cx="288" cy="10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lnSpc>
                    <a:spcPct val="150000"/>
                  </a:lnSpc>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lnSpc>
                    <a:spcPct val="150000"/>
                  </a:lnSpc>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lnSpc>
                    <a:spcPct val="150000"/>
                  </a:lnSpc>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grpSp>
            <p:nvGrpSpPr>
              <p:cNvPr id="11" name="Group 8"/>
              <p:cNvGrpSpPr/>
              <p:nvPr/>
            </p:nvGrpSpPr>
            <p:grpSpPr bwMode="auto">
              <a:xfrm>
                <a:off x="1936" y="960"/>
                <a:ext cx="864" cy="1392"/>
                <a:chOff x="1936" y="960"/>
                <a:chExt cx="864" cy="1392"/>
              </a:xfrm>
            </p:grpSpPr>
            <p:sp>
              <p:nvSpPr>
                <p:cNvPr id="12" name="Rectangle 9"/>
                <p:cNvSpPr>
                  <a:spLocks noChangeArrowheads="1"/>
                </p:cNvSpPr>
                <p:nvPr/>
              </p:nvSpPr>
              <p:spPr bwMode="auto">
                <a:xfrm>
                  <a:off x="2512" y="960"/>
                  <a:ext cx="288" cy="28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C</a:t>
                  </a:r>
                  <a:endParaRPr lang="en-US" altLang="zh-CN" sz="1800" i="1">
                    <a:latin typeface="Helvetica" panose="020B0604020202020204" pitchFamily="34" charset="0"/>
                  </a:endParaRPr>
                </a:p>
              </p:txBody>
            </p:sp>
            <p:grpSp>
              <p:nvGrpSpPr>
                <p:cNvPr id="13" name="Group 10"/>
                <p:cNvGrpSpPr/>
                <p:nvPr/>
              </p:nvGrpSpPr>
              <p:grpSpPr bwMode="auto">
                <a:xfrm>
                  <a:off x="1936" y="960"/>
                  <a:ext cx="576" cy="1392"/>
                  <a:chOff x="1936" y="960"/>
                  <a:chExt cx="576" cy="1392"/>
                </a:xfrm>
              </p:grpSpPr>
              <p:sp>
                <p:nvSpPr>
                  <p:cNvPr id="14" name="Rectangle 11"/>
                  <p:cNvSpPr>
                    <a:spLocks noChangeArrowheads="1"/>
                  </p:cNvSpPr>
                  <p:nvPr/>
                </p:nvSpPr>
                <p:spPr bwMode="auto">
                  <a:xfrm>
                    <a:off x="1936" y="960"/>
                    <a:ext cx="288" cy="28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A</a:t>
                    </a:r>
                    <a:endParaRPr lang="en-US" altLang="zh-CN" sz="1800" i="1">
                      <a:latin typeface="Helvetica" panose="020B0604020202020204" pitchFamily="34" charset="0"/>
                    </a:endParaRPr>
                  </a:p>
                </p:txBody>
              </p:sp>
              <p:grpSp>
                <p:nvGrpSpPr>
                  <p:cNvPr id="15" name="Group 12"/>
                  <p:cNvGrpSpPr/>
                  <p:nvPr/>
                </p:nvGrpSpPr>
                <p:grpSpPr bwMode="auto">
                  <a:xfrm>
                    <a:off x="2224" y="960"/>
                    <a:ext cx="288" cy="1392"/>
                    <a:chOff x="2224" y="960"/>
                    <a:chExt cx="288" cy="1392"/>
                  </a:xfrm>
                </p:grpSpPr>
                <p:sp>
                  <p:nvSpPr>
                    <p:cNvPr id="16" name="Rectangle 13"/>
                    <p:cNvSpPr>
                      <a:spLocks noChangeArrowheads="1"/>
                    </p:cNvSpPr>
                    <p:nvPr/>
                  </p:nvSpPr>
                  <p:spPr bwMode="auto">
                    <a:xfrm>
                      <a:off x="2224" y="960"/>
                      <a:ext cx="288" cy="28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B</a:t>
                      </a:r>
                      <a:endParaRPr lang="en-US" altLang="zh-CN" sz="1800" i="1">
                        <a:latin typeface="Helvetica" panose="020B0604020202020204" pitchFamily="34" charset="0"/>
                      </a:endParaRPr>
                    </a:p>
                  </p:txBody>
                </p:sp>
                <p:sp>
                  <p:nvSpPr>
                    <p:cNvPr id="17" name="Rectangle 14"/>
                    <p:cNvSpPr>
                      <a:spLocks noChangeArrowheads="1"/>
                    </p:cNvSpPr>
                    <p:nvPr/>
                  </p:nvSpPr>
                  <p:spPr bwMode="auto">
                    <a:xfrm>
                      <a:off x="2224" y="1296"/>
                      <a:ext cx="288" cy="10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r>
                        <a:rPr lang="en-US" altLang="zh-CN" sz="1800" i="1">
                          <a:latin typeface="Helvetica" panose="020B0604020202020204" pitchFamily="34" charset="0"/>
                          <a:sym typeface="Symbol" panose="05050102010706020507" pitchFamily="18" charset="2"/>
                        </a:rPr>
                        <a:t>10</a:t>
                      </a:r>
                      <a:endParaRPr lang="en-US" altLang="zh-CN" sz="1800" i="1">
                        <a:latin typeface="Helvetica" panose="020B0604020202020204" pitchFamily="34" charset="0"/>
                        <a:sym typeface="Symbol" panose="05050102010706020507" pitchFamily="18" charset="2"/>
                      </a:endParaRPr>
                    </a:p>
                    <a:p>
                      <a:pPr algn="ctr">
                        <a:lnSpc>
                          <a:spcPct val="150000"/>
                        </a:lnSpc>
                        <a:spcBef>
                          <a:spcPct val="0"/>
                        </a:spcBef>
                        <a:buFontTx/>
                        <a:buNone/>
                      </a:pPr>
                      <a:r>
                        <a:rPr lang="en-US" altLang="zh-CN" sz="1800" i="1">
                          <a:latin typeface="Helvetica" panose="020B0604020202020204" pitchFamily="34" charset="0"/>
                          <a:sym typeface="Symbol" panose="05050102010706020507" pitchFamily="18" charset="2"/>
                        </a:rPr>
                        <a:t>20</a:t>
                      </a:r>
                      <a:endParaRPr lang="en-US" altLang="zh-CN" sz="1800" i="1">
                        <a:latin typeface="Helvetica" panose="020B0604020202020204" pitchFamily="34" charset="0"/>
                        <a:sym typeface="Symbol" panose="05050102010706020507" pitchFamily="18" charset="2"/>
                      </a:endParaRPr>
                    </a:p>
                    <a:p>
                      <a:pPr algn="ctr">
                        <a:lnSpc>
                          <a:spcPct val="150000"/>
                        </a:lnSpc>
                        <a:spcBef>
                          <a:spcPct val="0"/>
                        </a:spcBef>
                        <a:buFontTx/>
                        <a:buNone/>
                      </a:pPr>
                      <a:r>
                        <a:rPr lang="en-US" altLang="zh-CN" sz="1800" i="1">
                          <a:latin typeface="Helvetica" panose="020B0604020202020204" pitchFamily="34" charset="0"/>
                          <a:sym typeface="Symbol" panose="05050102010706020507" pitchFamily="18" charset="2"/>
                        </a:rPr>
                        <a:t>30</a:t>
                      </a:r>
                      <a:endParaRPr lang="en-US" altLang="zh-CN" sz="1800" i="1">
                        <a:latin typeface="Helvetica" panose="020B0604020202020204" pitchFamily="34" charset="0"/>
                        <a:sym typeface="Symbol" panose="05050102010706020507" pitchFamily="18" charset="2"/>
                      </a:endParaRPr>
                    </a:p>
                    <a:p>
                      <a:pPr algn="ctr">
                        <a:lnSpc>
                          <a:spcPct val="150000"/>
                        </a:lnSpc>
                        <a:spcBef>
                          <a:spcPct val="0"/>
                        </a:spcBef>
                        <a:buFontTx/>
                        <a:buNone/>
                      </a:pPr>
                      <a:r>
                        <a:rPr lang="en-US" altLang="zh-CN" sz="1800" i="1">
                          <a:latin typeface="Helvetica" panose="020B0604020202020204" pitchFamily="34" charset="0"/>
                          <a:sym typeface="Symbol" panose="05050102010706020507" pitchFamily="18" charset="2"/>
                        </a:rPr>
                        <a:t>40</a:t>
                      </a:r>
                      <a:endParaRPr lang="en-US" altLang="zh-CN" sz="1800" i="1">
                        <a:latin typeface="Helvetica" panose="020B0604020202020204" pitchFamily="34" charset="0"/>
                        <a:sym typeface="Symbol" panose="05050102010706020507" pitchFamily="18" charset="2"/>
                      </a:endParaRPr>
                    </a:p>
                  </p:txBody>
                </p:sp>
              </p:grpSp>
            </p:grpSp>
          </p:grpSp>
        </p:grpSp>
        <p:sp>
          <p:nvSpPr>
            <p:cNvPr id="9" name="Rectangle 15"/>
            <p:cNvSpPr>
              <a:spLocks noChangeArrowheads="1"/>
            </p:cNvSpPr>
            <p:nvPr/>
          </p:nvSpPr>
          <p:spPr bwMode="auto">
            <a:xfrm>
              <a:off x="2512" y="1296"/>
              <a:ext cx="288" cy="10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lnSpc>
                  <a:spcPct val="150000"/>
                </a:lnSpc>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lnSpc>
                  <a:spcPct val="150000"/>
                </a:lnSpc>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lnSpc>
                  <a:spcPct val="150000"/>
                </a:lnSpc>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p:txBody>
        </p:sp>
      </p:grpSp>
      <p:grpSp>
        <p:nvGrpSpPr>
          <p:cNvPr id="18" name="Group 16"/>
          <p:cNvGrpSpPr/>
          <p:nvPr/>
        </p:nvGrpSpPr>
        <p:grpSpPr bwMode="auto">
          <a:xfrm>
            <a:off x="5924512" y="4511675"/>
            <a:ext cx="457200" cy="2209800"/>
            <a:chOff x="1600" y="2696"/>
            <a:chExt cx="288" cy="1392"/>
          </a:xfrm>
        </p:grpSpPr>
        <p:sp>
          <p:nvSpPr>
            <p:cNvPr id="19" name="Rectangle 17"/>
            <p:cNvSpPr>
              <a:spLocks noChangeArrowheads="1"/>
            </p:cNvSpPr>
            <p:nvPr/>
          </p:nvSpPr>
          <p:spPr bwMode="auto">
            <a:xfrm>
              <a:off x="1600" y="2696"/>
              <a:ext cx="288" cy="28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A</a:t>
              </a:r>
              <a:endParaRPr lang="en-US" altLang="zh-CN" sz="1800" i="1">
                <a:latin typeface="Helvetica" panose="020B0604020202020204" pitchFamily="34" charset="0"/>
              </a:endParaRPr>
            </a:p>
          </p:txBody>
        </p:sp>
        <p:sp>
          <p:nvSpPr>
            <p:cNvPr id="20" name="Rectangle 18"/>
            <p:cNvSpPr>
              <a:spLocks noChangeArrowheads="1"/>
            </p:cNvSpPr>
            <p:nvPr/>
          </p:nvSpPr>
          <p:spPr bwMode="auto">
            <a:xfrm>
              <a:off x="1600" y="3032"/>
              <a:ext cx="288" cy="10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lnSpc>
                  <a:spcPct val="150000"/>
                </a:lnSpc>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lnSpc>
                  <a:spcPct val="150000"/>
                </a:lnSpc>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lnSpc>
                  <a:spcPct val="150000"/>
                </a:lnSpc>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grpSp>
      <p:grpSp>
        <p:nvGrpSpPr>
          <p:cNvPr id="21" name="Group 19"/>
          <p:cNvGrpSpPr/>
          <p:nvPr/>
        </p:nvGrpSpPr>
        <p:grpSpPr bwMode="auto">
          <a:xfrm>
            <a:off x="6381712" y="4511675"/>
            <a:ext cx="457200" cy="2209800"/>
            <a:chOff x="1888" y="2696"/>
            <a:chExt cx="288" cy="1392"/>
          </a:xfrm>
        </p:grpSpPr>
        <p:sp>
          <p:nvSpPr>
            <p:cNvPr id="22" name="Rectangle 20"/>
            <p:cNvSpPr>
              <a:spLocks noChangeArrowheads="1"/>
            </p:cNvSpPr>
            <p:nvPr/>
          </p:nvSpPr>
          <p:spPr bwMode="auto">
            <a:xfrm>
              <a:off x="1888" y="2696"/>
              <a:ext cx="288" cy="28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C</a:t>
              </a:r>
              <a:endParaRPr lang="en-US" altLang="zh-CN" sz="1800" i="1">
                <a:latin typeface="Helvetica" panose="020B0604020202020204" pitchFamily="34" charset="0"/>
              </a:endParaRPr>
            </a:p>
          </p:txBody>
        </p:sp>
        <p:sp>
          <p:nvSpPr>
            <p:cNvPr id="23" name="Rectangle 21"/>
            <p:cNvSpPr>
              <a:spLocks noChangeArrowheads="1"/>
            </p:cNvSpPr>
            <p:nvPr/>
          </p:nvSpPr>
          <p:spPr bwMode="auto">
            <a:xfrm>
              <a:off x="1888" y="3032"/>
              <a:ext cx="288" cy="10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lnSpc>
                  <a:spcPct val="150000"/>
                </a:lnSpc>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lnSpc>
                  <a:spcPct val="150000"/>
                </a:lnSpc>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lnSpc>
                  <a:spcPct val="150000"/>
                </a:lnSpc>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p:txBody>
        </p:sp>
      </p:grpSp>
      <p:sp>
        <p:nvSpPr>
          <p:cNvPr id="24" name="Text Box 22"/>
          <p:cNvSpPr txBox="1">
            <a:spLocks noChangeArrowheads="1"/>
          </p:cNvSpPr>
          <p:nvPr/>
        </p:nvSpPr>
        <p:spPr bwMode="auto">
          <a:xfrm>
            <a:off x="6991312" y="5502275"/>
            <a:ext cx="317500" cy="3667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800">
                <a:latin typeface="Helvetica" panose="020B0604020202020204" pitchFamily="34" charset="0"/>
              </a:rPr>
              <a:t>=</a:t>
            </a:r>
            <a:endParaRPr lang="en-US" altLang="zh-CN" sz="1800">
              <a:latin typeface="Helvetica" panose="020B0604020202020204" pitchFamily="34" charset="0"/>
            </a:endParaRPr>
          </a:p>
        </p:txBody>
      </p:sp>
      <p:grpSp>
        <p:nvGrpSpPr>
          <p:cNvPr id="25" name="Group 23"/>
          <p:cNvGrpSpPr/>
          <p:nvPr/>
        </p:nvGrpSpPr>
        <p:grpSpPr bwMode="auto">
          <a:xfrm>
            <a:off x="7448512" y="4511675"/>
            <a:ext cx="914400" cy="1752600"/>
            <a:chOff x="2560" y="2696"/>
            <a:chExt cx="576" cy="1104"/>
          </a:xfrm>
        </p:grpSpPr>
        <p:sp>
          <p:nvSpPr>
            <p:cNvPr id="26" name="Rectangle 24"/>
            <p:cNvSpPr>
              <a:spLocks noChangeArrowheads="1"/>
            </p:cNvSpPr>
            <p:nvPr/>
          </p:nvSpPr>
          <p:spPr bwMode="auto">
            <a:xfrm>
              <a:off x="2560" y="2696"/>
              <a:ext cx="288" cy="28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A</a:t>
              </a:r>
              <a:endParaRPr lang="en-US" altLang="zh-CN" sz="1800" i="1">
                <a:latin typeface="Helvetica" panose="020B0604020202020204" pitchFamily="34" charset="0"/>
              </a:endParaRPr>
            </a:p>
          </p:txBody>
        </p:sp>
        <p:sp>
          <p:nvSpPr>
            <p:cNvPr id="27" name="Rectangle 25"/>
            <p:cNvSpPr>
              <a:spLocks noChangeArrowheads="1"/>
            </p:cNvSpPr>
            <p:nvPr/>
          </p:nvSpPr>
          <p:spPr bwMode="auto">
            <a:xfrm>
              <a:off x="2848" y="2696"/>
              <a:ext cx="288" cy="28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C</a:t>
              </a:r>
              <a:endParaRPr lang="en-US" altLang="zh-CN" sz="1800" i="1">
                <a:latin typeface="Helvetica" panose="020B0604020202020204" pitchFamily="34" charset="0"/>
              </a:endParaRPr>
            </a:p>
          </p:txBody>
        </p:sp>
        <p:sp>
          <p:nvSpPr>
            <p:cNvPr id="28" name="Rectangle 26"/>
            <p:cNvSpPr>
              <a:spLocks noChangeArrowheads="1"/>
            </p:cNvSpPr>
            <p:nvPr/>
          </p:nvSpPr>
          <p:spPr bwMode="auto">
            <a:xfrm>
              <a:off x="2560" y="3032"/>
              <a:ext cx="288" cy="76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lnSpc>
                  <a:spcPct val="150000"/>
                </a:lnSpc>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lnSpc>
                  <a:spcPct val="150000"/>
                </a:lnSpc>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29" name="Rectangle 27"/>
            <p:cNvSpPr>
              <a:spLocks noChangeArrowheads="1"/>
            </p:cNvSpPr>
            <p:nvPr/>
          </p:nvSpPr>
          <p:spPr bwMode="auto">
            <a:xfrm>
              <a:off x="2848" y="3032"/>
              <a:ext cx="288" cy="76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lnSpc>
                  <a:spcPct val="150000"/>
                </a:lnSpc>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lnSpc>
                  <a:spcPct val="150000"/>
                </a:lnSpc>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p:txBody>
        </p:sp>
      </p:grpSp>
      <p:sp>
        <p:nvSpPr>
          <p:cNvPr id="30" name="Rectangle 28"/>
          <p:cNvSpPr>
            <a:spLocks noChangeArrowheads="1"/>
          </p:cNvSpPr>
          <p:nvPr/>
        </p:nvSpPr>
        <p:spPr bwMode="auto">
          <a:xfrm>
            <a:off x="4183024" y="4524375"/>
            <a:ext cx="1411288" cy="736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2400" dirty="0">
                <a:latin typeface="Times New Roman" panose="02020603050405020304" pitchFamily="18" charset="0"/>
                <a:sym typeface="Symbol" panose="05050102010706020507" pitchFamily="18" charset="2"/>
              </a:rPr>
              <a:t></a:t>
            </a:r>
            <a:r>
              <a:rPr lang="en-US" altLang="zh-CN" sz="2400" baseline="-25000" dirty="0">
                <a:latin typeface="Times New Roman" panose="02020603050405020304" pitchFamily="18" charset="0"/>
              </a:rPr>
              <a:t>A,C</a:t>
            </a:r>
            <a:r>
              <a:rPr lang="en-US" altLang="zh-CN" sz="2400" dirty="0">
                <a:latin typeface="Times New Roman" panose="02020603050405020304" pitchFamily="18" charset="0"/>
              </a:rPr>
              <a:t> (</a:t>
            </a:r>
            <a:r>
              <a:rPr lang="en-US" altLang="zh-CN" sz="2400" i="1" dirty="0">
                <a:latin typeface="Times New Roman" panose="02020603050405020304" pitchFamily="18" charset="0"/>
              </a:rPr>
              <a:t>r</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p:txBody>
      </p:sp>
      <p:grpSp>
        <p:nvGrpSpPr>
          <p:cNvPr id="31" name="Group 29"/>
          <p:cNvGrpSpPr/>
          <p:nvPr/>
        </p:nvGrpSpPr>
        <p:grpSpPr bwMode="auto">
          <a:xfrm>
            <a:off x="6457912" y="1755775"/>
            <a:ext cx="457200" cy="2209800"/>
            <a:chOff x="1936" y="960"/>
            <a:chExt cx="288" cy="1392"/>
          </a:xfrm>
        </p:grpSpPr>
        <p:sp>
          <p:nvSpPr>
            <p:cNvPr id="32" name="Rectangle 30"/>
            <p:cNvSpPr>
              <a:spLocks noChangeArrowheads="1"/>
            </p:cNvSpPr>
            <p:nvPr/>
          </p:nvSpPr>
          <p:spPr bwMode="auto">
            <a:xfrm>
              <a:off x="1936" y="1296"/>
              <a:ext cx="288" cy="10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r>
                <a:rPr lang="zh-CN" altLang="en-US" sz="1800" i="1">
                  <a:solidFill>
                    <a:srgbClr val="FF3399"/>
                  </a:solidFill>
                  <a:latin typeface="Helvetica" panose="020B0604020202020204" pitchFamily="34" charset="0"/>
                  <a:sym typeface="Symbol" panose="05050102010706020507" pitchFamily="18" charset="2"/>
                </a:rPr>
                <a:t></a:t>
              </a:r>
              <a:endParaRPr lang="zh-CN" altLang="en-US" sz="1800" i="1">
                <a:solidFill>
                  <a:srgbClr val="FF3399"/>
                </a:solidFill>
                <a:latin typeface="Helvetica" panose="020B0604020202020204" pitchFamily="34" charset="0"/>
                <a:sym typeface="Symbol" panose="05050102010706020507" pitchFamily="18" charset="2"/>
              </a:endParaRPr>
            </a:p>
            <a:p>
              <a:pPr algn="ctr">
                <a:lnSpc>
                  <a:spcPct val="150000"/>
                </a:lnSpc>
                <a:spcBef>
                  <a:spcPct val="0"/>
                </a:spcBef>
                <a:buFontTx/>
                <a:buNone/>
              </a:pPr>
              <a:r>
                <a:rPr lang="zh-CN" altLang="en-US" sz="1800" i="1">
                  <a:solidFill>
                    <a:srgbClr val="FF3399"/>
                  </a:solidFill>
                  <a:latin typeface="Helvetica" panose="020B0604020202020204" pitchFamily="34" charset="0"/>
                  <a:sym typeface="Symbol" panose="05050102010706020507" pitchFamily="18" charset="2"/>
                </a:rPr>
                <a:t></a:t>
              </a:r>
              <a:endParaRPr lang="zh-CN" altLang="en-US" sz="1800" i="1">
                <a:solidFill>
                  <a:srgbClr val="FF3399"/>
                </a:solidFill>
                <a:latin typeface="Helvetica" panose="020B0604020202020204" pitchFamily="34" charset="0"/>
                <a:sym typeface="Symbol" panose="05050102010706020507" pitchFamily="18" charset="2"/>
              </a:endParaRPr>
            </a:p>
            <a:p>
              <a:pPr algn="ctr">
                <a:lnSpc>
                  <a:spcPct val="150000"/>
                </a:lnSpc>
                <a:spcBef>
                  <a:spcPct val="0"/>
                </a:spcBef>
                <a:buFontTx/>
                <a:buNone/>
              </a:pPr>
              <a:r>
                <a:rPr lang="zh-CN" altLang="en-US" sz="1800" i="1">
                  <a:solidFill>
                    <a:srgbClr val="FF3399"/>
                  </a:solidFill>
                  <a:latin typeface="Helvetica" panose="020B0604020202020204" pitchFamily="34" charset="0"/>
                  <a:sym typeface="Symbol" panose="05050102010706020507" pitchFamily="18" charset="2"/>
                </a:rPr>
                <a:t></a:t>
              </a:r>
              <a:endParaRPr lang="zh-CN" altLang="en-US" sz="1800" i="1">
                <a:solidFill>
                  <a:srgbClr val="FF3399"/>
                </a:solidFill>
                <a:latin typeface="Helvetica" panose="020B0604020202020204" pitchFamily="34" charset="0"/>
                <a:sym typeface="Symbol" panose="05050102010706020507" pitchFamily="18" charset="2"/>
              </a:endParaRPr>
            </a:p>
            <a:p>
              <a:pPr algn="ctr">
                <a:lnSpc>
                  <a:spcPct val="150000"/>
                </a:lnSpc>
                <a:spcBef>
                  <a:spcPct val="0"/>
                </a:spcBef>
                <a:buFontTx/>
                <a:buNone/>
              </a:pPr>
              <a:r>
                <a:rPr lang="zh-CN" altLang="en-US" sz="1800" i="1">
                  <a:solidFill>
                    <a:srgbClr val="FF3399"/>
                  </a:solidFill>
                  <a:latin typeface="Helvetica" panose="020B0604020202020204" pitchFamily="34" charset="0"/>
                  <a:sym typeface="Symbol" panose="05050102010706020507" pitchFamily="18" charset="2"/>
                </a:rPr>
                <a:t></a:t>
              </a:r>
              <a:endParaRPr lang="zh-CN" altLang="en-US" sz="1800" i="1">
                <a:solidFill>
                  <a:srgbClr val="FF3399"/>
                </a:solidFill>
                <a:latin typeface="Helvetica" panose="020B0604020202020204" pitchFamily="34" charset="0"/>
                <a:sym typeface="Symbol" panose="05050102010706020507" pitchFamily="18" charset="2"/>
              </a:endParaRPr>
            </a:p>
          </p:txBody>
        </p:sp>
        <p:sp>
          <p:nvSpPr>
            <p:cNvPr id="33" name="Rectangle 31"/>
            <p:cNvSpPr>
              <a:spLocks noChangeArrowheads="1"/>
            </p:cNvSpPr>
            <p:nvPr/>
          </p:nvSpPr>
          <p:spPr bwMode="auto">
            <a:xfrm>
              <a:off x="1936" y="960"/>
              <a:ext cx="288" cy="28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solidFill>
                    <a:srgbClr val="FF3399"/>
                  </a:solidFill>
                  <a:latin typeface="Helvetica" panose="020B0604020202020204" pitchFamily="34" charset="0"/>
                </a:rPr>
                <a:t>A</a:t>
              </a:r>
              <a:endParaRPr lang="en-US" altLang="zh-CN" sz="1800" i="1">
                <a:solidFill>
                  <a:srgbClr val="FF3399"/>
                </a:solidFill>
                <a:latin typeface="Helvetica" panose="020B0604020202020204" pitchFamily="34" charset="0"/>
              </a:endParaRPr>
            </a:p>
          </p:txBody>
        </p:sp>
      </p:grpSp>
      <p:grpSp>
        <p:nvGrpSpPr>
          <p:cNvPr id="34" name="Group 32"/>
          <p:cNvGrpSpPr/>
          <p:nvPr/>
        </p:nvGrpSpPr>
        <p:grpSpPr bwMode="auto">
          <a:xfrm>
            <a:off x="7372312" y="1755775"/>
            <a:ext cx="457200" cy="2209800"/>
            <a:chOff x="2512" y="960"/>
            <a:chExt cx="288" cy="1392"/>
          </a:xfrm>
        </p:grpSpPr>
        <p:sp>
          <p:nvSpPr>
            <p:cNvPr id="35" name="Rectangle 33"/>
            <p:cNvSpPr>
              <a:spLocks noChangeArrowheads="1"/>
            </p:cNvSpPr>
            <p:nvPr/>
          </p:nvSpPr>
          <p:spPr bwMode="auto">
            <a:xfrm>
              <a:off x="2512" y="1296"/>
              <a:ext cx="288" cy="105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50000"/>
                </a:lnSpc>
                <a:spcBef>
                  <a:spcPct val="0"/>
                </a:spcBef>
                <a:buFontTx/>
                <a:buNone/>
              </a:pPr>
              <a:r>
                <a:rPr lang="en-US" altLang="zh-CN" sz="1800" i="1">
                  <a:solidFill>
                    <a:srgbClr val="FF3399"/>
                  </a:solidFill>
                  <a:latin typeface="Helvetica" panose="020B0604020202020204" pitchFamily="34" charset="0"/>
                  <a:sym typeface="Symbol" panose="05050102010706020507" pitchFamily="18" charset="2"/>
                </a:rPr>
                <a:t>1</a:t>
              </a:r>
              <a:endParaRPr lang="en-US" altLang="zh-CN" sz="1800" i="1">
                <a:solidFill>
                  <a:srgbClr val="FF3399"/>
                </a:solidFill>
                <a:latin typeface="Helvetica" panose="020B0604020202020204" pitchFamily="34" charset="0"/>
                <a:sym typeface="Symbol" panose="05050102010706020507" pitchFamily="18" charset="2"/>
              </a:endParaRPr>
            </a:p>
            <a:p>
              <a:pPr algn="ctr">
                <a:lnSpc>
                  <a:spcPct val="150000"/>
                </a:lnSpc>
                <a:spcBef>
                  <a:spcPct val="0"/>
                </a:spcBef>
                <a:buFontTx/>
                <a:buNone/>
              </a:pPr>
              <a:r>
                <a:rPr lang="en-US" altLang="zh-CN" sz="1800" i="1">
                  <a:solidFill>
                    <a:srgbClr val="FF3399"/>
                  </a:solidFill>
                  <a:latin typeface="Helvetica" panose="020B0604020202020204" pitchFamily="34" charset="0"/>
                  <a:sym typeface="Symbol" panose="05050102010706020507" pitchFamily="18" charset="2"/>
                </a:rPr>
                <a:t>1</a:t>
              </a:r>
              <a:endParaRPr lang="en-US" altLang="zh-CN" sz="1800" i="1">
                <a:solidFill>
                  <a:srgbClr val="FF3399"/>
                </a:solidFill>
                <a:latin typeface="Helvetica" panose="020B0604020202020204" pitchFamily="34" charset="0"/>
                <a:sym typeface="Symbol" panose="05050102010706020507" pitchFamily="18" charset="2"/>
              </a:endParaRPr>
            </a:p>
            <a:p>
              <a:pPr algn="ctr">
                <a:lnSpc>
                  <a:spcPct val="150000"/>
                </a:lnSpc>
                <a:spcBef>
                  <a:spcPct val="0"/>
                </a:spcBef>
                <a:buFontTx/>
                <a:buNone/>
              </a:pPr>
              <a:r>
                <a:rPr lang="en-US" altLang="zh-CN" sz="1800" i="1">
                  <a:solidFill>
                    <a:srgbClr val="FF3399"/>
                  </a:solidFill>
                  <a:latin typeface="Helvetica" panose="020B0604020202020204" pitchFamily="34" charset="0"/>
                  <a:sym typeface="Symbol" panose="05050102010706020507" pitchFamily="18" charset="2"/>
                </a:rPr>
                <a:t>1</a:t>
              </a:r>
              <a:endParaRPr lang="en-US" altLang="zh-CN" sz="1800" i="1">
                <a:solidFill>
                  <a:srgbClr val="FF3399"/>
                </a:solidFill>
                <a:latin typeface="Helvetica" panose="020B0604020202020204" pitchFamily="34" charset="0"/>
                <a:sym typeface="Symbol" panose="05050102010706020507" pitchFamily="18" charset="2"/>
              </a:endParaRPr>
            </a:p>
            <a:p>
              <a:pPr algn="ctr">
                <a:lnSpc>
                  <a:spcPct val="150000"/>
                </a:lnSpc>
                <a:spcBef>
                  <a:spcPct val="0"/>
                </a:spcBef>
                <a:buFontTx/>
                <a:buNone/>
              </a:pPr>
              <a:r>
                <a:rPr lang="en-US" altLang="zh-CN" sz="1800" i="1">
                  <a:solidFill>
                    <a:srgbClr val="FF3399"/>
                  </a:solidFill>
                  <a:latin typeface="Helvetica" panose="020B0604020202020204" pitchFamily="34" charset="0"/>
                  <a:sym typeface="Symbol" panose="05050102010706020507" pitchFamily="18" charset="2"/>
                </a:rPr>
                <a:t>2</a:t>
              </a:r>
              <a:endParaRPr lang="en-US" altLang="zh-CN" sz="1800" i="1">
                <a:solidFill>
                  <a:srgbClr val="FF3399"/>
                </a:solidFill>
                <a:latin typeface="Helvetica" panose="020B0604020202020204" pitchFamily="34" charset="0"/>
                <a:sym typeface="Symbol" panose="05050102010706020507" pitchFamily="18" charset="2"/>
              </a:endParaRPr>
            </a:p>
          </p:txBody>
        </p:sp>
        <p:sp>
          <p:nvSpPr>
            <p:cNvPr id="36" name="Rectangle 34"/>
            <p:cNvSpPr>
              <a:spLocks noChangeArrowheads="1"/>
            </p:cNvSpPr>
            <p:nvPr/>
          </p:nvSpPr>
          <p:spPr bwMode="auto">
            <a:xfrm>
              <a:off x="2512" y="960"/>
              <a:ext cx="288" cy="28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solidFill>
                    <a:srgbClr val="FF3399"/>
                  </a:solidFill>
                  <a:latin typeface="Helvetica" panose="020B0604020202020204" pitchFamily="34" charset="0"/>
                </a:rPr>
                <a:t>C</a:t>
              </a:r>
              <a:endParaRPr lang="en-US" altLang="zh-CN" sz="1800" i="1">
                <a:solidFill>
                  <a:srgbClr val="FF3399"/>
                </a:solidFill>
                <a:latin typeface="Helvetica"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5"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ppt_w</p:attrName>
                                        </p:attrNameLst>
                                      </p:cBhvr>
                                      <p:tavLst>
                                        <p:tav tm="0">
                                          <p:val>
                                            <p:fltVal val="0"/>
                                          </p:val>
                                        </p:tav>
                                        <p:tav tm="100000">
                                          <p:val>
                                            <p:strVal val="#ppt_w"/>
                                          </p:val>
                                        </p:tav>
                                      </p:tavLst>
                                    </p:anim>
                                    <p:anim calcmode="lin" valueType="num">
                                      <p:cBhvr>
                                        <p:cTn id="13" dur="1000" fill="hold"/>
                                        <p:tgtEl>
                                          <p:spTgt spid="7"/>
                                        </p:tgtEl>
                                        <p:attrNameLst>
                                          <p:attrName>ppt_h</p:attrName>
                                        </p:attrNameLst>
                                      </p:cBhvr>
                                      <p:tavLst>
                                        <p:tav tm="0">
                                          <p:val>
                                            <p:fltVal val="0"/>
                                          </p:val>
                                        </p:tav>
                                        <p:tav tm="100000">
                                          <p:val>
                                            <p:strVal val="#ppt_h"/>
                                          </p:val>
                                        </p:tav>
                                      </p:tavLst>
                                    </p:anim>
                                    <p:anim calcmode="lin" valueType="num">
                                      <p:cBhvr>
                                        <p:cTn id="14"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2" fill="hold" grpId="0" nodeType="clickEffect">
                                  <p:stCondLst>
                                    <p:cond delay="0"/>
                                  </p:stCondLst>
                                  <p:childTnLst>
                                    <p:set>
                                      <p:cBhvr>
                                        <p:cTn id="19" dur="1" fill="hold">
                                          <p:stCondLst>
                                            <p:cond delay="0"/>
                                          </p:stCondLst>
                                        </p:cTn>
                                        <p:tgtEl>
                                          <p:spTgt spid="30"/>
                                        </p:tgtEl>
                                        <p:attrNameLst>
                                          <p:attrName>style.visibility</p:attrName>
                                        </p:attrNameLst>
                                      </p:cBhvr>
                                      <p:to>
                                        <p:strVal val="visible"/>
                                      </p:to>
                                    </p:set>
                                    <p:anim calcmode="lin" valueType="num">
                                      <p:cBhvr>
                                        <p:cTn id="20" dur="500" fill="hold"/>
                                        <p:tgtEl>
                                          <p:spTgt spid="30"/>
                                        </p:tgtEl>
                                        <p:attrNameLst>
                                          <p:attrName>ppt_x</p:attrName>
                                        </p:attrNameLst>
                                      </p:cBhvr>
                                      <p:tavLst>
                                        <p:tav tm="0">
                                          <p:val>
                                            <p:strVal val="#ppt_x+#ppt_w/2"/>
                                          </p:val>
                                        </p:tav>
                                        <p:tav tm="100000">
                                          <p:val>
                                            <p:strVal val="#ppt_x"/>
                                          </p:val>
                                        </p:tav>
                                      </p:tavLst>
                                    </p:anim>
                                    <p:anim calcmode="lin" valueType="num">
                                      <p:cBhvr>
                                        <p:cTn id="21" dur="500" fill="hold"/>
                                        <p:tgtEl>
                                          <p:spTgt spid="30"/>
                                        </p:tgtEl>
                                        <p:attrNameLst>
                                          <p:attrName>ppt_y</p:attrName>
                                        </p:attrNameLst>
                                      </p:cBhvr>
                                      <p:tavLst>
                                        <p:tav tm="0">
                                          <p:val>
                                            <p:strVal val="#ppt_y"/>
                                          </p:val>
                                        </p:tav>
                                        <p:tav tm="100000">
                                          <p:val>
                                            <p:strVal val="#ppt_y"/>
                                          </p:val>
                                        </p:tav>
                                      </p:tavLst>
                                    </p:anim>
                                    <p:anim calcmode="lin" valueType="num">
                                      <p:cBhvr>
                                        <p:cTn id="22" dur="500" fill="hold"/>
                                        <p:tgtEl>
                                          <p:spTgt spid="30"/>
                                        </p:tgtEl>
                                        <p:attrNameLst>
                                          <p:attrName>ppt_w</p:attrName>
                                        </p:attrNameLst>
                                      </p:cBhvr>
                                      <p:tavLst>
                                        <p:tav tm="0">
                                          <p:val>
                                            <p:fltVal val="0"/>
                                          </p:val>
                                        </p:tav>
                                        <p:tav tm="100000">
                                          <p:val>
                                            <p:strVal val="#ppt_w"/>
                                          </p:val>
                                        </p:tav>
                                      </p:tavLst>
                                    </p:anim>
                                    <p:anim calcmode="lin" valueType="num">
                                      <p:cBhvr>
                                        <p:cTn id="23" dur="500" fill="hold"/>
                                        <p:tgtEl>
                                          <p:spTgt spid="30"/>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dissolve">
                                      <p:cBhvr>
                                        <p:cTn id="28" dur="500"/>
                                        <p:tgtEl>
                                          <p:spTgt spid="31"/>
                                        </p:tgtEl>
                                      </p:cBhvr>
                                    </p:animEffect>
                                  </p:childTnLst>
                                </p:cTn>
                              </p:par>
                            </p:childTnLst>
                          </p:cTn>
                        </p:par>
                        <p:par>
                          <p:cTn id="29" fill="hold">
                            <p:stCondLst>
                              <p:cond delay="500"/>
                            </p:stCondLst>
                            <p:childTnLst>
                              <p:par>
                                <p:cTn id="30" presetID="9" presetClass="entr" presetSubtype="0" fill="hold" nodeType="after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dissolve">
                                      <p:cBhvr>
                                        <p:cTn id="32" dur="5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barn(inVertical)">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barn(inVertical)">
                                      <p:cBhvr>
                                        <p:cTn id="42" dur="5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dissolve">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15" presetClass="entr" presetSubtype="0" fill="hold" nodeType="clickEffect">
                                  <p:stCondLst>
                                    <p:cond delay="0"/>
                                  </p:stCondLst>
                                  <p:childTnLst>
                                    <p:set>
                                      <p:cBhvr>
                                        <p:cTn id="51" dur="1" fill="hold">
                                          <p:stCondLst>
                                            <p:cond delay="0"/>
                                          </p:stCondLst>
                                        </p:cTn>
                                        <p:tgtEl>
                                          <p:spTgt spid="25"/>
                                        </p:tgtEl>
                                        <p:attrNameLst>
                                          <p:attrName>style.visibility</p:attrName>
                                        </p:attrNameLst>
                                      </p:cBhvr>
                                      <p:to>
                                        <p:strVal val="visible"/>
                                      </p:to>
                                    </p:set>
                                    <p:anim calcmode="lin" valueType="num">
                                      <p:cBhvr>
                                        <p:cTn id="52" dur="1000" fill="hold"/>
                                        <p:tgtEl>
                                          <p:spTgt spid="25"/>
                                        </p:tgtEl>
                                        <p:attrNameLst>
                                          <p:attrName>ppt_w</p:attrName>
                                        </p:attrNameLst>
                                      </p:cBhvr>
                                      <p:tavLst>
                                        <p:tav tm="0">
                                          <p:val>
                                            <p:fltVal val="0"/>
                                          </p:val>
                                        </p:tav>
                                        <p:tav tm="100000">
                                          <p:val>
                                            <p:strVal val="#ppt_w"/>
                                          </p:val>
                                        </p:tav>
                                      </p:tavLst>
                                    </p:anim>
                                    <p:anim calcmode="lin" valueType="num">
                                      <p:cBhvr>
                                        <p:cTn id="53" dur="1000" fill="hold"/>
                                        <p:tgtEl>
                                          <p:spTgt spid="25"/>
                                        </p:tgtEl>
                                        <p:attrNameLst>
                                          <p:attrName>ppt_h</p:attrName>
                                        </p:attrNameLst>
                                      </p:cBhvr>
                                      <p:tavLst>
                                        <p:tav tm="0">
                                          <p:val>
                                            <p:fltVal val="0"/>
                                          </p:val>
                                        </p:tav>
                                        <p:tav tm="100000">
                                          <p:val>
                                            <p:strVal val="#ppt_h"/>
                                          </p:val>
                                        </p:tav>
                                      </p:tavLst>
                                    </p:anim>
                                    <p:anim calcmode="lin" valueType="num">
                                      <p:cBhvr>
                                        <p:cTn id="54" dur="1000" fill="hold"/>
                                        <p:tgtEl>
                                          <p:spTgt spid="25"/>
                                        </p:tgtEl>
                                        <p:attrNameLst>
                                          <p:attrName>ppt_x</p:attrName>
                                        </p:attrNameLst>
                                      </p:cBhvr>
                                      <p:tavLst>
                                        <p:tav tm="0" fmla="#ppt_x+(cos(-2*pi*(1-$))*-#ppt_x-sin(-2*pi*(1-$))*(1-#ppt_y))*(1-$)">
                                          <p:val>
                                            <p:fltVal val="0"/>
                                          </p:val>
                                        </p:tav>
                                        <p:tav tm="100000">
                                          <p:val>
                                            <p:fltVal val="1"/>
                                          </p:val>
                                        </p:tav>
                                      </p:tavLst>
                                    </p:anim>
                                    <p:anim calcmode="lin" valueType="num">
                                      <p:cBhvr>
                                        <p:cTn id="55" dur="1000" fill="hold"/>
                                        <p:tgtEl>
                                          <p:spTgt spid="2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build="p"/>
      <p:bldP spid="24" grpId="0" animBg="1" autoUpdateAnimBg="0"/>
      <p:bldP spid="30"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专门的关系运算</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graphicFrame>
        <p:nvGraphicFramePr>
          <p:cNvPr id="6" name="Group 8"/>
          <p:cNvGraphicFramePr>
            <a:graphicFrameLocks noGrp="1"/>
          </p:cNvGraphicFramePr>
          <p:nvPr/>
        </p:nvGraphicFramePr>
        <p:xfrm>
          <a:off x="2184129" y="2308961"/>
          <a:ext cx="1325562" cy="2011456"/>
        </p:xfrm>
        <a:graphic>
          <a:graphicData uri="http://schemas.openxmlformats.org/drawingml/2006/table">
            <a:tbl>
              <a:tblPr/>
              <a:tblGrid>
                <a:gridCol w="427037"/>
                <a:gridCol w="446088"/>
                <a:gridCol w="452437"/>
              </a:tblGrid>
              <a:tr h="39611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152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c5</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7" name="Text Box 51"/>
          <p:cNvSpPr txBox="1">
            <a:spLocks noChangeArrowheads="1"/>
          </p:cNvSpPr>
          <p:nvPr/>
        </p:nvSpPr>
        <p:spPr bwMode="auto">
          <a:xfrm>
            <a:off x="2627041" y="4498123"/>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800" dirty="0">
                <a:latin typeface="Arial" panose="020B0604020202020204" pitchFamily="34" charset="0"/>
              </a:rPr>
              <a:t>R</a:t>
            </a:r>
            <a:endParaRPr lang="zh-CN" altLang="en-US" sz="1800" dirty="0">
              <a:latin typeface="Arial" panose="020B0604020202020204" pitchFamily="34" charset="0"/>
            </a:endParaRPr>
          </a:p>
        </p:txBody>
      </p:sp>
      <p:graphicFrame>
        <p:nvGraphicFramePr>
          <p:cNvPr id="8" name="Group 152"/>
          <p:cNvGraphicFramePr>
            <a:graphicFrameLocks noGrp="1"/>
          </p:cNvGraphicFramePr>
          <p:nvPr/>
        </p:nvGraphicFramePr>
        <p:xfrm>
          <a:off x="4647929" y="2272448"/>
          <a:ext cx="1160462" cy="2011456"/>
        </p:xfrm>
        <a:graphic>
          <a:graphicData uri="http://schemas.openxmlformats.org/drawingml/2006/table">
            <a:tbl>
              <a:tblPr/>
              <a:tblGrid>
                <a:gridCol w="493712"/>
                <a:gridCol w="666750"/>
              </a:tblGrid>
              <a:tr h="39611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15251">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9" name="Group 150"/>
          <p:cNvGraphicFramePr>
            <a:graphicFrameLocks noGrp="1"/>
          </p:cNvGraphicFramePr>
          <p:nvPr/>
        </p:nvGraphicFramePr>
        <p:xfrm>
          <a:off x="6816454" y="2272448"/>
          <a:ext cx="696912" cy="1706640"/>
        </p:xfrm>
        <a:graphic>
          <a:graphicData uri="http://schemas.openxmlformats.org/drawingml/2006/table">
            <a:tbl>
              <a:tblPr/>
              <a:tblGrid>
                <a:gridCol w="696912"/>
              </a:tblGrid>
              <a:tr h="39610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31045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10" name="Group 155"/>
          <p:cNvGraphicFramePr>
            <a:graphicFrameLocks noGrp="1"/>
          </p:cNvGraphicFramePr>
          <p:nvPr/>
        </p:nvGraphicFramePr>
        <p:xfrm>
          <a:off x="8449991" y="2278798"/>
          <a:ext cx="1079500" cy="2011456"/>
        </p:xfrm>
        <a:graphic>
          <a:graphicData uri="http://schemas.openxmlformats.org/drawingml/2006/table">
            <a:tbl>
              <a:tblPr/>
              <a:tblGrid>
                <a:gridCol w="504825"/>
                <a:gridCol w="574675"/>
              </a:tblGrid>
              <a:tr h="39611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15251">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c5</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4" marB="4566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1" name="Text Box 153"/>
          <p:cNvSpPr txBox="1">
            <a:spLocks noChangeArrowheads="1"/>
          </p:cNvSpPr>
          <p:nvPr/>
        </p:nvSpPr>
        <p:spPr bwMode="auto">
          <a:xfrm>
            <a:off x="4643166" y="4642586"/>
            <a:ext cx="14029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800" dirty="0">
                <a:latin typeface="Arial" panose="020B0604020202020204" pitchFamily="34" charset="0"/>
              </a:rPr>
              <a:t>(a) </a:t>
            </a:r>
            <a:r>
              <a:rPr lang="en-US" altLang="zh-CN" sz="1800" dirty="0"/>
              <a:t>Π</a:t>
            </a:r>
            <a:r>
              <a:rPr lang="en-US" altLang="zh-CN" sz="1800" baseline="-25000" dirty="0">
                <a:latin typeface="Arial" panose="020B0604020202020204" pitchFamily="34" charset="0"/>
                <a:cs typeface="Arial" panose="020B0604020202020204" pitchFamily="34" charset="0"/>
              </a:rPr>
              <a:t>A,B</a:t>
            </a:r>
            <a:r>
              <a:rPr lang="en-US" altLang="zh-CN" sz="1800" dirty="0">
                <a:latin typeface="Arial" panose="020B0604020202020204" pitchFamily="34" charset="0"/>
                <a:cs typeface="Arial" panose="020B0604020202020204" pitchFamily="34" charset="0"/>
              </a:rPr>
              <a:t>(R) </a:t>
            </a:r>
            <a:endParaRPr lang="zh-CN" altLang="en-US" sz="1800" dirty="0">
              <a:latin typeface="Arial" panose="020B0604020202020204" pitchFamily="34" charset="0"/>
              <a:cs typeface="Arial" panose="020B0604020202020204" pitchFamily="34" charset="0"/>
            </a:endParaRPr>
          </a:p>
        </p:txBody>
      </p:sp>
      <p:sp>
        <p:nvSpPr>
          <p:cNvPr id="12" name="Text Box 156"/>
          <p:cNvSpPr txBox="1">
            <a:spLocks noChangeArrowheads="1"/>
          </p:cNvSpPr>
          <p:nvPr/>
        </p:nvSpPr>
        <p:spPr bwMode="auto">
          <a:xfrm>
            <a:off x="8240441" y="4648936"/>
            <a:ext cx="1314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800" dirty="0">
                <a:latin typeface="Arial" panose="020B0604020202020204" pitchFamily="34" charset="0"/>
              </a:rPr>
              <a:t>(c)</a:t>
            </a:r>
            <a:r>
              <a:rPr lang="en-US" altLang="zh-CN" sz="1800" dirty="0"/>
              <a:t>Π</a:t>
            </a:r>
            <a:r>
              <a:rPr lang="en-US" altLang="zh-CN" sz="1800" baseline="-25000" dirty="0">
                <a:latin typeface="Arial" panose="020B0604020202020204" pitchFamily="34" charset="0"/>
              </a:rPr>
              <a:t>B,C</a:t>
            </a:r>
            <a:r>
              <a:rPr lang="en-US" altLang="zh-CN" sz="1800" dirty="0">
                <a:latin typeface="Arial" panose="020B0604020202020204" pitchFamily="34" charset="0"/>
              </a:rPr>
              <a:t>(R) </a:t>
            </a:r>
            <a:endParaRPr lang="zh-CN" altLang="en-US" sz="1800" dirty="0">
              <a:latin typeface="Arial" panose="020B0604020202020204" pitchFamily="34" charset="0"/>
            </a:endParaRPr>
          </a:p>
        </p:txBody>
      </p:sp>
      <p:sp>
        <p:nvSpPr>
          <p:cNvPr id="13" name="Text Box 157"/>
          <p:cNvSpPr txBox="1">
            <a:spLocks noChangeArrowheads="1"/>
          </p:cNvSpPr>
          <p:nvPr/>
        </p:nvSpPr>
        <p:spPr bwMode="auto">
          <a:xfrm>
            <a:off x="6368779" y="4642586"/>
            <a:ext cx="1238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800" dirty="0">
                <a:latin typeface="Arial" panose="020B0604020202020204" pitchFamily="34" charset="0"/>
              </a:rPr>
              <a:t>(b) </a:t>
            </a:r>
            <a:r>
              <a:rPr lang="en-US" altLang="zh-CN" sz="1800" dirty="0"/>
              <a:t>Π</a:t>
            </a:r>
            <a:r>
              <a:rPr lang="en-US" altLang="zh-CN" sz="1800" baseline="-25000" dirty="0">
                <a:latin typeface="Arial" panose="020B0604020202020204" pitchFamily="34" charset="0"/>
              </a:rPr>
              <a:t>A</a:t>
            </a:r>
            <a:r>
              <a:rPr lang="en-US" altLang="zh-CN" sz="1800" dirty="0">
                <a:latin typeface="Arial" panose="020B0604020202020204" pitchFamily="34" charset="0"/>
              </a:rPr>
              <a:t>(R) </a:t>
            </a:r>
            <a:endParaRPr lang="zh-CN" altLang="en-US" sz="1800" dirty="0">
              <a:latin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专门的关系运算</a:t>
                </a:r>
                <a:endParaRPr lang="en-US" altLang="zh-CN" dirty="0"/>
              </a:p>
              <a:p>
                <a:pPr lvl="1"/>
                <a:r>
                  <a:rPr lang="zh-CN" altLang="en-US" dirty="0"/>
                  <a:t>连接（</a:t>
                </a:r>
                <a:r>
                  <a:rPr lang="en-US" altLang="zh-CN" dirty="0"/>
                  <a:t>join</a:t>
                </a:r>
                <a:r>
                  <a:rPr lang="zh-CN" altLang="en-US" dirty="0"/>
                  <a:t>）</a:t>
                </a:r>
                <a:endParaRPr lang="zh-CN" altLang="en-US" dirty="0"/>
              </a:p>
              <a:p>
                <a:pPr lvl="2"/>
                <a:r>
                  <a:rPr lang="zh-CN" altLang="en-US" dirty="0"/>
                  <a:t>连接连接是笛卡儿积和选择的复合运算，可以表示为：</a:t>
                </a:r>
                <a:endParaRPr lang="en-US" altLang="zh-CN" dirty="0"/>
              </a:p>
              <a:p>
                <a:pPr marL="914400" lvl="2"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𝑅</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m:t>
                          </m:r>
                        </m:e>
                        <m:sub>
                          <m:r>
                            <a:rPr lang="en-US" altLang="zh-CN" b="0" i="1" smtClean="0">
                              <a:latin typeface="Cambria Math" panose="02040503050406030204" pitchFamily="18" charset="0"/>
                            </a:rPr>
                            <m:t>𝐴</m:t>
                          </m:r>
                          <m:r>
                            <a:rPr lang="en-US" altLang="zh-CN" b="0" i="1" smtClean="0">
                              <a:latin typeface="Cambria Math" panose="02040503050406030204" pitchFamily="18" charset="0"/>
                            </a:rPr>
                            <m:t>𝜃</m:t>
                          </m:r>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𝑆</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m:rPr>
                              <m:sty m:val="p"/>
                            </m:rPr>
                            <a:rPr lang="en-US" altLang="zh-CN" i="1">
                              <a:latin typeface="Cambria Math" panose="02040503050406030204" pitchFamily="18" charset="0"/>
                            </a:rPr>
                            <m:t>r</m:t>
                          </m:r>
                          <m:r>
                            <a:rPr lang="en-US" altLang="zh-CN" b="0" i="1" smtClean="0">
                              <a:latin typeface="Cambria Math" panose="02040503050406030204" pitchFamily="18" charset="0"/>
                            </a:rPr>
                            <m:t>𝑠</m:t>
                          </m:r>
                        </m:e>
                        <m:e>
                          <m:r>
                            <a:rPr lang="en-US" altLang="zh-CN" b="0" i="1" smtClean="0">
                              <a:latin typeface="Cambria Math" panose="02040503050406030204" pitchFamily="18" charset="0"/>
                            </a:rPr>
                            <m:t>𝑟</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𝑠</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𝑟</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𝐴</m:t>
                              </m:r>
                            </m:e>
                          </m:d>
                          <m:r>
                            <a:rPr lang="en-US" altLang="zh-CN" b="0" i="1" smtClean="0">
                              <a:latin typeface="Cambria Math" panose="02040503050406030204" pitchFamily="18" charset="0"/>
                              <a:ea typeface="Cambria Math" panose="02040503050406030204" pitchFamily="18" charset="0"/>
                            </a:rPr>
                            <m:t>𝜃</m:t>
                          </m:r>
                          <m:r>
                            <a:rPr lang="en-US" altLang="zh-CN" b="0" i="1" smtClean="0">
                              <a:latin typeface="Cambria Math" panose="02040503050406030204" pitchFamily="18" charset="0"/>
                              <a:ea typeface="Cambria Math" panose="02040503050406030204" pitchFamily="18" charset="0"/>
                            </a:rPr>
                            <m:t>𝑆</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𝐵</m:t>
                              </m:r>
                            </m:e>
                          </m:d>
                        </m:e>
                      </m:d>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zh-CN" altLang="en-US" b="0" i="1" smtClean="0">
                              <a:latin typeface="Cambria Math" panose="02040503050406030204" pitchFamily="18" charset="0"/>
                              <a:ea typeface="Cambria Math" panose="02040503050406030204" pitchFamily="18" charset="0"/>
                            </a:rPr>
                            <m:t>𝜎</m:t>
                          </m:r>
                        </m:e>
                        <m:sub>
                          <m:r>
                            <a:rPr lang="en-US" altLang="zh-CN" b="0" i="1" smtClean="0">
                              <a:latin typeface="Cambria Math" panose="02040503050406030204" pitchFamily="18" charset="0"/>
                              <a:ea typeface="Cambria Math" panose="02040503050406030204" pitchFamily="18" charset="0"/>
                            </a:rPr>
                            <m:t>𝐴</m:t>
                          </m:r>
                          <m:r>
                            <a:rPr lang="en-US" altLang="zh-CN" b="0" i="1" smtClean="0">
                              <a:latin typeface="Cambria Math" panose="02040503050406030204" pitchFamily="18" charset="0"/>
                              <a:ea typeface="Cambria Math" panose="02040503050406030204" pitchFamily="18" charset="0"/>
                            </a:rPr>
                            <m:t>𝜃</m:t>
                          </m:r>
                          <m:r>
                            <a:rPr lang="en-US" altLang="zh-CN" b="0" i="1" smtClean="0">
                              <a:latin typeface="Cambria Math" panose="02040503050406030204" pitchFamily="18" charset="0"/>
                              <a:ea typeface="Cambria Math" panose="02040503050406030204" pitchFamily="18" charset="0"/>
                            </a:rPr>
                            <m:t>𝐵</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oMath>
                  </m:oMathPara>
                </a14:m>
                <a:endParaRPr lang="en-US" altLang="zh-CN" dirty="0"/>
              </a:p>
              <a:p>
                <a:pPr lvl="2"/>
                <a:r>
                  <a:rPr lang="zh-CN" altLang="en-US" dirty="0"/>
                  <a:t>其中，⋈是连接运算符，</a:t>
                </a:r>
                <a14:m>
                  <m:oMath xmlns:m="http://schemas.openxmlformats.org/officeDocument/2006/math">
                    <m:r>
                      <a:rPr lang="en-US" altLang="zh-CN" i="1" dirty="0" smtClean="0">
                        <a:latin typeface="Cambria Math" panose="02040503050406030204" pitchFamily="18" charset="0"/>
                      </a:rPr>
                      <m:t>𝐴</m:t>
                    </m:r>
                    <m:r>
                      <a:rPr lang="en-US" altLang="zh-CN" i="1" dirty="0" smtClean="0">
                        <a:latin typeface="Cambria Math" panose="02040503050406030204" pitchFamily="18" charset="0"/>
                      </a:rPr>
                      <m:t>𝜃</m:t>
                    </m:r>
                    <m:r>
                      <a:rPr lang="en-US" altLang="zh-CN" i="1" dirty="0" smtClean="0">
                        <a:latin typeface="Cambria Math" panose="02040503050406030204" pitchFamily="18" charset="0"/>
                      </a:rPr>
                      <m:t>𝐵</m:t>
                    </m:r>
                  </m:oMath>
                </a14:m>
                <a:r>
                  <a:rPr lang="zh-CN" altLang="en-US" dirty="0"/>
                  <a:t>是连接条件，</a:t>
                </a:r>
                <a14:m>
                  <m:oMath xmlns:m="http://schemas.openxmlformats.org/officeDocument/2006/math">
                    <m:r>
                      <a:rPr lang="en-US" altLang="zh-CN" i="1" dirty="0" smtClean="0">
                        <a:latin typeface="Cambria Math" panose="02040503050406030204" pitchFamily="18" charset="0"/>
                      </a:rPr>
                      <m:t>𝜃</m:t>
                    </m:r>
                  </m:oMath>
                </a14:m>
                <a:r>
                  <a:rPr lang="zh-CN" altLang="en-US" dirty="0"/>
                  <a:t>是算术比较运算符。</a:t>
                </a:r>
                <a14:m>
                  <m:oMath xmlns:m="http://schemas.openxmlformats.org/officeDocument/2006/math">
                    <m:r>
                      <a:rPr lang="en-US" altLang="zh-CN" i="1" dirty="0" smtClean="0">
                        <a:latin typeface="Cambria Math" panose="02040503050406030204" pitchFamily="18" charset="0"/>
                      </a:rPr>
                      <m:t>𝑅</m:t>
                    </m:r>
                    <m:sSub>
                      <m:sSubPr>
                        <m:ctrlPr>
                          <a:rPr lang="en-US" altLang="zh-CN" b="0" i="1" dirty="0" smtClean="0">
                            <a:latin typeface="Cambria Math" panose="02040503050406030204" pitchFamily="18" charset="0"/>
                          </a:rPr>
                        </m:ctrlPr>
                      </m:sSubPr>
                      <m:e>
                        <m:r>
                          <a:rPr lang="en-US" altLang="zh-CN" i="1" dirty="0">
                            <a:latin typeface="Cambria Math" panose="02040503050406030204" pitchFamily="18" charset="0"/>
                          </a:rPr>
                          <m:t>⋈</m:t>
                        </m:r>
                      </m:e>
                      <m:sub>
                        <m:r>
                          <a:rPr lang="en-US" altLang="zh-CN" i="1" dirty="0">
                            <a:latin typeface="Cambria Math" panose="02040503050406030204" pitchFamily="18" charset="0"/>
                          </a:rPr>
                          <m:t>𝐴</m:t>
                        </m:r>
                        <m:r>
                          <a:rPr lang="en-US" altLang="zh-CN" i="1" dirty="0">
                            <a:latin typeface="Cambria Math" panose="02040503050406030204" pitchFamily="18" charset="0"/>
                          </a:rPr>
                          <m:t>𝜃</m:t>
                        </m:r>
                        <m:r>
                          <a:rPr lang="en-US" altLang="zh-CN" i="1" dirty="0">
                            <a:latin typeface="Cambria Math" panose="02040503050406030204" pitchFamily="18" charset="0"/>
                          </a:rPr>
                          <m:t>𝐵</m:t>
                        </m:r>
                      </m:sub>
                    </m:sSub>
                    <m:r>
                      <a:rPr lang="en-US" altLang="zh-CN" b="0" i="1" dirty="0" smtClean="0">
                        <a:latin typeface="Cambria Math" panose="02040503050406030204" pitchFamily="18" charset="0"/>
                      </a:rPr>
                      <m:t>𝑆</m:t>
                    </m:r>
                  </m:oMath>
                </a14:m>
                <a:r>
                  <a:rPr lang="zh-CN" altLang="en-US" dirty="0"/>
                  <a:t> 表示将关系</a:t>
                </a:r>
                <a:r>
                  <a:rPr lang="en-US" altLang="zh-CN" dirty="0"/>
                  <a:t>R</a:t>
                </a:r>
                <a:r>
                  <a:rPr lang="zh-CN" altLang="en-US" dirty="0"/>
                  <a:t>和</a:t>
                </a:r>
                <a:r>
                  <a:rPr lang="en-US" altLang="zh-CN" dirty="0"/>
                  <a:t>S</a:t>
                </a:r>
                <a:r>
                  <a:rPr lang="zh-CN" altLang="en-US" dirty="0"/>
                  <a:t>在各自的属性</a:t>
                </a:r>
                <a:r>
                  <a:rPr lang="en-US" altLang="zh-CN" dirty="0"/>
                  <a:t>A</a:t>
                </a:r>
                <a:r>
                  <a:rPr lang="zh-CN" altLang="en-US" dirty="0"/>
                  <a:t>，</a:t>
                </a:r>
                <a:r>
                  <a:rPr lang="en-US" altLang="zh-CN" dirty="0"/>
                  <a:t>B</a:t>
                </a:r>
                <a:r>
                  <a:rPr lang="zh-CN" altLang="en-US" dirty="0"/>
                  <a:t>上满足</a:t>
                </a:r>
                <a14:m>
                  <m:oMath xmlns:m="http://schemas.openxmlformats.org/officeDocument/2006/math">
                    <m:r>
                      <a:rPr lang="en-US" altLang="zh-CN" i="1" dirty="0" smtClean="0">
                        <a:latin typeface="Cambria Math" panose="02040503050406030204" pitchFamily="18" charset="0"/>
                      </a:rPr>
                      <m:t>𝜃</m:t>
                    </m:r>
                  </m:oMath>
                </a14:m>
                <a:r>
                  <a:rPr lang="zh-CN" altLang="en-US" dirty="0"/>
                  <a:t>条件的元组连接起来。</a:t>
                </a:r>
                <a14:m>
                  <m:oMath xmlns:m="http://schemas.openxmlformats.org/officeDocument/2006/math">
                    <m:r>
                      <a:rPr lang="en-US" altLang="zh-CN" i="1" dirty="0" smtClean="0">
                        <a:latin typeface="Cambria Math" panose="02040503050406030204" pitchFamily="18" charset="0"/>
                      </a:rPr>
                      <m:t>𝜃</m:t>
                    </m:r>
                  </m:oMath>
                </a14:m>
                <a:r>
                  <a:rPr lang="zh-CN" altLang="en-US" dirty="0"/>
                  <a:t>条件可以有多个，它们之间用逻辑算符连接。这样的连接一般被称为“</a:t>
                </a:r>
                <a14:m>
                  <m:oMath xmlns:m="http://schemas.openxmlformats.org/officeDocument/2006/math">
                    <m:r>
                      <a:rPr lang="en-US" altLang="zh-CN" i="1" dirty="0" smtClean="0">
                        <a:latin typeface="Cambria Math" panose="02040503050406030204" pitchFamily="18" charset="0"/>
                      </a:rPr>
                      <m:t>𝜃</m:t>
                    </m:r>
                  </m:oMath>
                </a14:m>
                <a:r>
                  <a:rPr lang="zh-CN" altLang="en-US" dirty="0"/>
                  <a:t>连接”。特别的，如果</a:t>
                </a:r>
                <a14:m>
                  <m:oMath xmlns:m="http://schemas.openxmlformats.org/officeDocument/2006/math">
                    <m:r>
                      <a:rPr lang="en-US" altLang="zh-CN" i="1" dirty="0" smtClean="0">
                        <a:latin typeface="Cambria Math" panose="02040503050406030204" pitchFamily="18" charset="0"/>
                      </a:rPr>
                      <m:t>𝜃</m:t>
                    </m:r>
                  </m:oMath>
                </a14:m>
                <a:r>
                  <a:rPr lang="zh-CN" altLang="en-US" dirty="0"/>
                  <a:t>是“等于”比较，称这样的连接运算是“等连接”或“等值连接”</a:t>
                </a:r>
                <a:endParaRPr lang="zh-CN" altLang="en-US" dirty="0"/>
              </a:p>
              <a:p>
                <a:pPr lvl="2"/>
                <a:endParaRPr lang="zh-CN" altLang="en-US" dirty="0"/>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专门的关系运算</a:t>
                </a:r>
                <a:endParaRPr lang="en-US" altLang="zh-CN" dirty="0"/>
              </a:p>
              <a:p>
                <a:pPr lvl="1"/>
                <a:r>
                  <a:rPr lang="zh-CN" altLang="en-US" dirty="0"/>
                  <a:t>连接（</a:t>
                </a:r>
                <a:r>
                  <a:rPr lang="en-US" altLang="zh-CN" dirty="0"/>
                  <a:t>join</a:t>
                </a:r>
                <a:r>
                  <a:rPr lang="zh-CN" altLang="en-US" dirty="0"/>
                  <a:t>）</a:t>
                </a:r>
                <a:endParaRPr lang="en-US" altLang="zh-CN" dirty="0"/>
              </a:p>
              <a:p>
                <a:pPr lvl="2"/>
                <a:r>
                  <a:rPr lang="zh-CN" altLang="en-US" dirty="0"/>
                  <a:t>自然连接</a:t>
                </a:r>
                <a:endParaRPr lang="en-US" altLang="zh-CN" dirty="0"/>
              </a:p>
              <a:p>
                <a:pPr lvl="3"/>
                <a:r>
                  <a:rPr lang="zh-CN" altLang="en-US" dirty="0"/>
                  <a:t>消除了重复属性的等值连接，称为“自然连接”。表示如下：</a:t>
                </a:r>
                <a:endParaRPr lang="en-US" altLang="zh-CN" dirty="0"/>
              </a:p>
              <a:p>
                <a:pPr marL="1371600" lvl="3"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𝑅</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𝜋</m:t>
                          </m:r>
                        </m:e>
                        <m:sub>
                          <m:r>
                            <a:rPr lang="en-US" altLang="zh-CN" b="0" i="1" smtClean="0">
                              <a:latin typeface="Cambria Math" panose="02040503050406030204" pitchFamily="18" charset="0"/>
                              <a:ea typeface="Cambria Math" panose="02040503050406030204" pitchFamily="18" charset="0"/>
                            </a:rPr>
                            <m:t>𝐴𝑡𝑡𝑟</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𝑅</m:t>
                              </m:r>
                            </m:e>
                          </m:d>
                          <m:r>
                            <a:rPr lang="en-US" altLang="zh-CN" i="1">
                              <a:latin typeface="Cambria Math" panose="02040503050406030204" pitchFamily="18" charset="0"/>
                              <a:ea typeface="Cambria Math" panose="02040503050406030204" pitchFamily="18" charset="0"/>
                            </a:rPr>
                            <m:t>∪</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𝐴𝑡𝑡𝑟</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𝑆</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𝐴</m:t>
                              </m:r>
                            </m:e>
                          </m:d>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zh-CN" altLang="en-US" b="0" i="1" smtClean="0">
                              <a:latin typeface="Cambria Math" panose="02040503050406030204" pitchFamily="18" charset="0"/>
                              <a:ea typeface="Cambria Math" panose="02040503050406030204" pitchFamily="18" charset="0"/>
                            </a:rPr>
                            <m:t>𝜎</m:t>
                          </m:r>
                        </m:e>
                        <m:sub>
                          <m:r>
                            <a:rPr lang="en-US" altLang="zh-CN" b="0" i="1" smtClean="0">
                              <a:latin typeface="Cambria Math" panose="02040503050406030204" pitchFamily="18" charset="0"/>
                              <a:ea typeface="Cambria Math" panose="02040503050406030204" pitchFamily="18" charset="0"/>
                            </a:rPr>
                            <m:t>𝑅</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𝐴</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𝐴</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oMath>
                  </m:oMathPara>
                </a14:m>
                <a:endParaRPr lang="zh-CN" altLang="en-US" dirty="0"/>
              </a:p>
              <a:p>
                <a:pPr lvl="3"/>
                <a:r>
                  <a:rPr lang="zh-CN" altLang="en-US" dirty="0"/>
                  <a:t>其中</a:t>
                </a:r>
                <a14:m>
                  <m:oMath xmlns:m="http://schemas.openxmlformats.org/officeDocument/2006/math">
                    <m:r>
                      <a:rPr lang="en-US" altLang="zh-CN" i="1" dirty="0" smtClean="0">
                        <a:latin typeface="Cambria Math" panose="02040503050406030204" pitchFamily="18" charset="0"/>
                      </a:rPr>
                      <m:t>𝐴𝑡𝑡𝑟</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oMath>
                </a14:m>
                <a:r>
                  <a:rPr lang="zh-CN" altLang="en-US" dirty="0"/>
                  <a:t>是关系</a:t>
                </a:r>
                <a:r>
                  <a:rPr lang="en-US" altLang="zh-CN" dirty="0"/>
                  <a:t>R</a:t>
                </a:r>
                <a:r>
                  <a:rPr lang="zh-CN" altLang="en-US" dirty="0"/>
                  <a:t>的属性全集</a:t>
                </a:r>
                <a:endParaRPr lang="zh-CN" altLang="en-US" dirty="0"/>
              </a:p>
              <a:p>
                <a:pPr lvl="3"/>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专门的关系运算</a:t>
            </a:r>
            <a:endParaRPr lang="en-US" altLang="zh-CN" dirty="0"/>
          </a:p>
          <a:p>
            <a:pPr lvl="1"/>
            <a:r>
              <a:rPr lang="zh-CN" altLang="en-US" dirty="0"/>
              <a:t>连接（</a:t>
            </a:r>
            <a:r>
              <a:rPr lang="en-US" altLang="zh-CN" dirty="0"/>
              <a:t>join</a:t>
            </a:r>
            <a:r>
              <a:rPr lang="zh-CN" altLang="en-US" dirty="0"/>
              <a:t>）</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graphicFrame>
        <p:nvGraphicFramePr>
          <p:cNvPr id="6" name="Group 88"/>
          <p:cNvGraphicFramePr>
            <a:graphicFrameLocks noGrp="1"/>
          </p:cNvGraphicFramePr>
          <p:nvPr/>
        </p:nvGraphicFramePr>
        <p:xfrm>
          <a:off x="4921245" y="2692400"/>
          <a:ext cx="2762250" cy="850900"/>
        </p:xfrm>
        <a:graphic>
          <a:graphicData uri="http://schemas.openxmlformats.org/drawingml/2006/table">
            <a:tbl>
              <a:tblPr/>
              <a:tblGrid>
                <a:gridCol w="1666875"/>
                <a:gridCol w="1095375"/>
              </a:tblGrid>
              <a:tr h="85090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bl>
          </a:graphicData>
        </a:graphic>
      </p:graphicFrame>
      <p:graphicFrame>
        <p:nvGraphicFramePr>
          <p:cNvPr id="7" name="Group 255"/>
          <p:cNvGraphicFramePr>
            <a:graphicFrameLocks noGrp="1"/>
          </p:cNvGraphicFramePr>
          <p:nvPr/>
        </p:nvGraphicFramePr>
        <p:xfrm>
          <a:off x="3854445" y="2397125"/>
          <a:ext cx="1655763" cy="1401816"/>
        </p:xfrm>
        <a:graphic>
          <a:graphicData uri="http://schemas.openxmlformats.org/drawingml/2006/table">
            <a:tbl>
              <a:tblPr/>
              <a:tblGrid>
                <a:gridCol w="574675"/>
                <a:gridCol w="517525"/>
                <a:gridCol w="563563"/>
              </a:tblGrid>
              <a:tr h="39609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66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7</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5</a:t>
                      </a:r>
                      <a:endPar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8</a:t>
                      </a:r>
                      <a:endPar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9</a:t>
                      </a:r>
                      <a:endPar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8" name="Group 95"/>
          <p:cNvGraphicFramePr>
            <a:graphicFrameLocks noGrp="1"/>
          </p:cNvGraphicFramePr>
          <p:nvPr/>
        </p:nvGraphicFramePr>
        <p:xfrm>
          <a:off x="7534270" y="2478088"/>
          <a:ext cx="1069975" cy="1096992"/>
        </p:xfrm>
        <a:graphic>
          <a:graphicData uri="http://schemas.openxmlformats.org/drawingml/2006/table">
            <a:tbl>
              <a:tblPr/>
              <a:tblGrid>
                <a:gridCol w="555625"/>
                <a:gridCol w="514350"/>
              </a:tblGrid>
              <a:tr h="39608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087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7</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mc:Choice xmlns:a14="http://schemas.microsoft.com/office/drawing/2010/main" Requires="a14">
          <p:sp>
            <p:nvSpPr>
              <p:cNvPr id="9" name="Text Box 96"/>
              <p:cNvSpPr txBox="1">
                <a:spLocks noChangeArrowheads="1"/>
              </p:cNvSpPr>
              <p:nvPr/>
            </p:nvSpPr>
            <p:spPr bwMode="auto">
              <a:xfrm>
                <a:off x="4399732" y="3842570"/>
                <a:ext cx="4029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𝑅</m:t>
                      </m:r>
                    </m:oMath>
                  </m:oMathPara>
                </a14:m>
                <a:endParaRPr lang="en-US" altLang="zh-CN" sz="1800" dirty="0">
                  <a:latin typeface="Arial" panose="020B0604020202020204" pitchFamily="34" charset="0"/>
                </a:endParaRPr>
              </a:p>
            </p:txBody>
          </p:sp>
        </mc:Choice>
        <mc:Fallback>
          <p:sp>
            <p:nvSpPr>
              <p:cNvPr id="9" name="Text Box 96"/>
              <p:cNvSpPr txBox="1">
                <a:spLocks noRot="1" noChangeAspect="1" noMove="1" noResize="1" noEditPoints="1" noAdjustHandles="1" noChangeArrowheads="1" noChangeShapeType="1" noTextEdit="1"/>
              </p:cNvSpPr>
              <p:nvPr/>
            </p:nvSpPr>
            <p:spPr bwMode="auto">
              <a:xfrm>
                <a:off x="4399732" y="3842570"/>
                <a:ext cx="402994" cy="369332"/>
              </a:xfrm>
              <a:prstGeom prst="rect">
                <a:avLst/>
              </a:prstGeom>
              <a:blipFill rotWithShape="1">
                <a:blip r:embed="rId1"/>
                <a:stretch>
                  <a:fillRect l="-112" t="-50" r="55" b="15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Text Box 97"/>
              <p:cNvSpPr txBox="1">
                <a:spLocks noChangeArrowheads="1"/>
              </p:cNvSpPr>
              <p:nvPr/>
            </p:nvSpPr>
            <p:spPr bwMode="auto">
              <a:xfrm>
                <a:off x="7885108" y="3627438"/>
                <a:ext cx="3751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𝑆</m:t>
                      </m:r>
                    </m:oMath>
                  </m:oMathPara>
                </a14:m>
                <a:endParaRPr lang="en-US" altLang="zh-CN" sz="1800" dirty="0">
                  <a:latin typeface="Arial" panose="020B0604020202020204" pitchFamily="34" charset="0"/>
                </a:endParaRPr>
              </a:p>
            </p:txBody>
          </p:sp>
        </mc:Choice>
        <mc:Fallback>
          <p:sp>
            <p:nvSpPr>
              <p:cNvPr id="10" name="Text Box 97"/>
              <p:cNvSpPr txBox="1">
                <a:spLocks noRot="1" noChangeAspect="1" noMove="1" noResize="1" noEditPoints="1" noAdjustHandles="1" noChangeArrowheads="1" noChangeShapeType="1" noTextEdit="1"/>
              </p:cNvSpPr>
              <p:nvPr/>
            </p:nvSpPr>
            <p:spPr bwMode="auto">
              <a:xfrm>
                <a:off x="7885108" y="3627438"/>
                <a:ext cx="375103" cy="369332"/>
              </a:xfrm>
              <a:prstGeom prst="rect">
                <a:avLst/>
              </a:prstGeom>
              <a:blipFill rotWithShape="1">
                <a:blip r:embed="rId2"/>
                <a:stretch>
                  <a:fillRect l="-83" t="-86" r="35" b="2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aphicFrame>
        <p:nvGraphicFramePr>
          <p:cNvPr id="11" name="Group 242"/>
          <p:cNvGraphicFramePr>
            <a:graphicFrameLocks noGrp="1"/>
          </p:cNvGraphicFramePr>
          <p:nvPr/>
        </p:nvGraphicFramePr>
        <p:xfrm>
          <a:off x="3717920" y="4457700"/>
          <a:ext cx="1900238" cy="1401816"/>
        </p:xfrm>
        <a:graphic>
          <a:graphicData uri="http://schemas.openxmlformats.org/drawingml/2006/table">
            <a:tbl>
              <a:tblPr/>
              <a:tblGrid>
                <a:gridCol w="387350"/>
                <a:gridCol w="366713"/>
                <a:gridCol w="406400"/>
                <a:gridCol w="379412"/>
                <a:gridCol w="360363"/>
              </a:tblGrid>
              <a:tr h="39609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66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5</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7</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7</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12" name="Group 243"/>
          <p:cNvGraphicFramePr>
            <a:graphicFrameLocks noGrp="1"/>
          </p:cNvGraphicFramePr>
          <p:nvPr/>
        </p:nvGraphicFramePr>
        <p:xfrm>
          <a:off x="7280270" y="4743450"/>
          <a:ext cx="1685925" cy="1098550"/>
        </p:xfrm>
        <a:graphic>
          <a:graphicData uri="http://schemas.openxmlformats.org/drawingml/2006/table">
            <a:tbl>
              <a:tblPr/>
              <a:tblGrid>
                <a:gridCol w="334963"/>
                <a:gridCol w="338137"/>
                <a:gridCol w="336550"/>
                <a:gridCol w="338138"/>
                <a:gridCol w="338137"/>
              </a:tblGrid>
              <a:tr h="39668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53" marB="4575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53" marB="4575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53" marB="4575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53" marB="4575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53" marB="4575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186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753" marB="4575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753" marB="4575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753" marB="4575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7</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753" marB="4575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753" marB="4575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mc:Choice xmlns:a14="http://schemas.microsoft.com/office/drawing/2010/main" Requires="a14">
          <p:sp>
            <p:nvSpPr>
              <p:cNvPr id="13" name="Text Box 247"/>
              <p:cNvSpPr txBox="1">
                <a:spLocks noChangeArrowheads="1"/>
              </p:cNvSpPr>
              <p:nvPr/>
            </p:nvSpPr>
            <p:spPr bwMode="auto">
              <a:xfrm>
                <a:off x="3962395" y="5989638"/>
                <a:ext cx="12239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800" dirty="0">
                    <a:latin typeface="Arial" panose="020B0604020202020204" pitchFamily="34" charset="0"/>
                  </a:rPr>
                  <a:t> </a:t>
                </a:r>
                <a14:m>
                  <m:oMath xmlns:m="http://schemas.openxmlformats.org/officeDocument/2006/math">
                    <m:r>
                      <a:rPr lang="en-US" altLang="zh-CN" sz="1800" b="0" i="1" smtClean="0">
                        <a:latin typeface="Cambria Math" panose="02040503050406030204" pitchFamily="18" charset="0"/>
                      </a:rPr>
                      <m:t>𝑅</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ea typeface="Cambria Math" panose="02040503050406030204" pitchFamily="18" charset="0"/>
                          </a:rPr>
                          <m:t>⋈</m:t>
                        </m:r>
                      </m:e>
                      <m:sub>
                        <m:r>
                          <a:rPr lang="en-US" altLang="zh-CN" sz="1800" b="0" i="1" smtClean="0">
                            <a:latin typeface="Cambria Math" panose="02040503050406030204" pitchFamily="18" charset="0"/>
                          </a:rPr>
                          <m:t>𝐵</m:t>
                        </m:r>
                        <m:r>
                          <a:rPr lang="en-US" altLang="zh-CN" sz="1800" b="0" i="1" smtClean="0">
                            <a:latin typeface="Cambria Math" panose="02040503050406030204" pitchFamily="18" charset="0"/>
                          </a:rPr>
                          <m:t>&lt;</m:t>
                        </m:r>
                        <m:r>
                          <a:rPr lang="en-US" altLang="zh-CN" sz="1800" b="0" i="1" smtClean="0">
                            <a:latin typeface="Cambria Math" panose="02040503050406030204" pitchFamily="18" charset="0"/>
                          </a:rPr>
                          <m:t>𝐷</m:t>
                        </m:r>
                      </m:sub>
                    </m:sSub>
                    <m:r>
                      <a:rPr lang="en-US" altLang="zh-CN" sz="1800" b="0" i="1" smtClean="0">
                        <a:latin typeface="Cambria Math" panose="02040503050406030204" pitchFamily="18" charset="0"/>
                      </a:rPr>
                      <m:t>𝑆</m:t>
                    </m:r>
                  </m:oMath>
                </a14:m>
                <a:endParaRPr lang="zh-CN" altLang="en-US" sz="1800" dirty="0">
                  <a:latin typeface="Arial" panose="020B0604020202020204" pitchFamily="34" charset="0"/>
                </a:endParaRPr>
              </a:p>
            </p:txBody>
          </p:sp>
        </mc:Choice>
        <mc:Fallback>
          <p:sp>
            <p:nvSpPr>
              <p:cNvPr id="13" name="Text Box 247"/>
              <p:cNvSpPr txBox="1">
                <a:spLocks noRot="1" noChangeAspect="1" noMove="1" noResize="1" noEditPoints="1" noAdjustHandles="1" noChangeArrowheads="1" noChangeShapeType="1" noTextEdit="1"/>
              </p:cNvSpPr>
              <p:nvPr/>
            </p:nvSpPr>
            <p:spPr bwMode="auto">
              <a:xfrm>
                <a:off x="3962395" y="5989638"/>
                <a:ext cx="1223925" cy="369332"/>
              </a:xfrm>
              <a:prstGeom prst="rect">
                <a:avLst/>
              </a:prstGeom>
              <a:blipFill rotWithShape="1">
                <a:blip r:embed="rId3"/>
                <a:stretch>
                  <a:fillRect l="-51" t="-86" r="22" b="2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Text Box 252"/>
              <p:cNvSpPr txBox="1">
                <a:spLocks noChangeArrowheads="1"/>
              </p:cNvSpPr>
              <p:nvPr/>
            </p:nvSpPr>
            <p:spPr bwMode="auto">
              <a:xfrm>
                <a:off x="7379921" y="5975113"/>
                <a:ext cx="16834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14:m>
                  <m:oMathPara xmlns:m="http://schemas.openxmlformats.org/officeDocument/2006/math">
                    <m:oMathParaPr>
                      <m:jc m:val="centerGroup"/>
                    </m:oMathParaPr>
                    <m:oMath xmlns:m="http://schemas.openxmlformats.org/officeDocument/2006/math">
                      <m:r>
                        <a:rPr lang="en-US" altLang="zh-CN" sz="1800" b="0" i="1" smtClean="0">
                          <a:latin typeface="Cambria Math" panose="02040503050406030204" pitchFamily="18" charset="0"/>
                        </a:rPr>
                        <m:t>𝑅</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ea typeface="Cambria Math" panose="02040503050406030204" pitchFamily="18" charset="0"/>
                            </a:rPr>
                            <m:t>⋈</m:t>
                          </m:r>
                        </m:e>
                        <m:sub>
                          <m:r>
                            <a:rPr lang="en-US" altLang="zh-CN" sz="1800" b="0" i="1" smtClean="0">
                              <a:latin typeface="Cambria Math" panose="02040503050406030204" pitchFamily="18" charset="0"/>
                            </a:rPr>
                            <m:t>𝐵</m:t>
                          </m:r>
                          <m:r>
                            <a:rPr lang="en-US" altLang="zh-CN" sz="1800" b="0" i="1" smtClean="0">
                              <a:latin typeface="Cambria Math" panose="02040503050406030204" pitchFamily="18" charset="0"/>
                            </a:rPr>
                            <m:t>&lt;</m:t>
                          </m:r>
                          <m:r>
                            <a:rPr lang="en-US" altLang="zh-CN" sz="1800" b="0" i="1" smtClean="0">
                              <a:latin typeface="Cambria Math" panose="02040503050406030204" pitchFamily="18" charset="0"/>
                            </a:rPr>
                            <m:t>𝐷</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𝐶</m:t>
                          </m:r>
                          <m:r>
                            <a:rPr lang="en-US" altLang="zh-CN" sz="1800" b="0" i="1" smtClean="0">
                              <a:latin typeface="Cambria Math" panose="02040503050406030204" pitchFamily="18" charset="0"/>
                              <a:ea typeface="Cambria Math" panose="02040503050406030204" pitchFamily="18" charset="0"/>
                            </a:rPr>
                            <m:t>&lt;</m:t>
                          </m:r>
                          <m:r>
                            <a:rPr lang="en-US" altLang="zh-CN" sz="1800" b="0" i="1" smtClean="0">
                              <a:latin typeface="Cambria Math" panose="02040503050406030204" pitchFamily="18" charset="0"/>
                              <a:ea typeface="Cambria Math" panose="02040503050406030204" pitchFamily="18" charset="0"/>
                            </a:rPr>
                            <m:t>𝐸</m:t>
                          </m:r>
                        </m:sub>
                      </m:sSub>
                      <m:r>
                        <a:rPr lang="en-US" altLang="zh-CN" sz="1800" b="0" i="1" smtClean="0">
                          <a:latin typeface="Cambria Math" panose="02040503050406030204" pitchFamily="18" charset="0"/>
                        </a:rPr>
                        <m:t>𝑆</m:t>
                      </m:r>
                    </m:oMath>
                  </m:oMathPara>
                </a14:m>
                <a:endParaRPr lang="zh-CN" altLang="en-US" sz="1800" dirty="0">
                  <a:latin typeface="Arial" panose="020B0604020202020204" pitchFamily="34" charset="0"/>
                </a:endParaRPr>
              </a:p>
            </p:txBody>
          </p:sp>
        </mc:Choice>
        <mc:Fallback>
          <p:sp>
            <p:nvSpPr>
              <p:cNvPr id="15" name="Text Box 252"/>
              <p:cNvSpPr txBox="1">
                <a:spLocks noRot="1" noChangeAspect="1" noMove="1" noResize="1" noEditPoints="1" noAdjustHandles="1" noChangeArrowheads="1" noChangeShapeType="1" noTextEdit="1"/>
              </p:cNvSpPr>
              <p:nvPr/>
            </p:nvSpPr>
            <p:spPr bwMode="auto">
              <a:xfrm>
                <a:off x="7379921" y="5975113"/>
                <a:ext cx="1683474" cy="369332"/>
              </a:xfrm>
              <a:prstGeom prst="rect">
                <a:avLst/>
              </a:prstGeom>
              <a:blipFill rotWithShape="1">
                <a:blip r:embed="rId4"/>
                <a:stretch>
                  <a:fillRect l="-35" t="-108" r="2" b="4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专门的关系运算</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
        <p:nvSpPr>
          <p:cNvPr id="6" name="Rectangle 4"/>
          <p:cNvSpPr>
            <a:spLocks noChangeArrowheads="1"/>
          </p:cNvSpPr>
          <p:nvPr/>
        </p:nvSpPr>
        <p:spPr bwMode="auto">
          <a:xfrm>
            <a:off x="2571171" y="1528763"/>
            <a:ext cx="6843713" cy="382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r>
              <a:rPr lang="en-US" altLang="zh-CN" dirty="0"/>
              <a:t>Relations r, s:</a:t>
            </a:r>
            <a:endParaRPr lang="en-US" altLang="zh-CN" dirty="0"/>
          </a:p>
        </p:txBody>
      </p:sp>
      <p:grpSp>
        <p:nvGrpSpPr>
          <p:cNvPr id="7" name="Group 5"/>
          <p:cNvGrpSpPr/>
          <p:nvPr/>
        </p:nvGrpSpPr>
        <p:grpSpPr bwMode="auto">
          <a:xfrm>
            <a:off x="3485571" y="2138363"/>
            <a:ext cx="1828800" cy="533400"/>
            <a:chOff x="1056" y="1056"/>
            <a:chExt cx="1152" cy="336"/>
          </a:xfrm>
        </p:grpSpPr>
        <p:sp>
          <p:nvSpPr>
            <p:cNvPr id="8" name="Rectangle 6"/>
            <p:cNvSpPr>
              <a:spLocks noChangeArrowheads="1"/>
            </p:cNvSpPr>
            <p:nvPr/>
          </p:nvSpPr>
          <p:spPr bwMode="auto">
            <a:xfrm>
              <a:off x="1056"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A</a:t>
              </a:r>
              <a:endParaRPr lang="en-US" altLang="zh-CN" sz="1800" i="1">
                <a:latin typeface="Helvetica" panose="020B0604020202020204" pitchFamily="34" charset="0"/>
              </a:endParaRPr>
            </a:p>
          </p:txBody>
        </p:sp>
        <p:sp>
          <p:nvSpPr>
            <p:cNvPr id="9" name="Rectangle 7"/>
            <p:cNvSpPr>
              <a:spLocks noChangeArrowheads="1"/>
            </p:cNvSpPr>
            <p:nvPr/>
          </p:nvSpPr>
          <p:spPr bwMode="auto">
            <a:xfrm>
              <a:off x="1344"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B</a:t>
              </a:r>
              <a:endParaRPr lang="en-US" altLang="zh-CN" sz="1800" i="1">
                <a:latin typeface="Helvetica" panose="020B0604020202020204" pitchFamily="34" charset="0"/>
              </a:endParaRPr>
            </a:p>
          </p:txBody>
        </p:sp>
        <p:sp>
          <p:nvSpPr>
            <p:cNvPr id="10" name="Rectangle 8"/>
            <p:cNvSpPr>
              <a:spLocks noChangeArrowheads="1"/>
            </p:cNvSpPr>
            <p:nvPr/>
          </p:nvSpPr>
          <p:spPr bwMode="auto">
            <a:xfrm>
              <a:off x="1632"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C</a:t>
              </a:r>
              <a:endParaRPr lang="en-US" altLang="zh-CN" sz="1800" i="1">
                <a:latin typeface="Helvetica" panose="020B0604020202020204" pitchFamily="34" charset="0"/>
              </a:endParaRPr>
            </a:p>
          </p:txBody>
        </p:sp>
        <p:sp>
          <p:nvSpPr>
            <p:cNvPr id="11" name="Rectangle 9"/>
            <p:cNvSpPr>
              <a:spLocks noChangeArrowheads="1"/>
            </p:cNvSpPr>
            <p:nvPr/>
          </p:nvSpPr>
          <p:spPr bwMode="auto">
            <a:xfrm>
              <a:off x="1920"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D</a:t>
              </a:r>
              <a:endParaRPr lang="en-US" altLang="zh-CN" sz="1800" i="1">
                <a:latin typeface="Helvetica" panose="020B0604020202020204" pitchFamily="34" charset="0"/>
              </a:endParaRPr>
            </a:p>
          </p:txBody>
        </p:sp>
      </p:grpSp>
      <p:grpSp>
        <p:nvGrpSpPr>
          <p:cNvPr id="12" name="Group 10"/>
          <p:cNvGrpSpPr/>
          <p:nvPr/>
        </p:nvGrpSpPr>
        <p:grpSpPr bwMode="auto">
          <a:xfrm>
            <a:off x="3485571" y="2747963"/>
            <a:ext cx="1828800" cy="1371600"/>
            <a:chOff x="1056" y="1440"/>
            <a:chExt cx="1152" cy="864"/>
          </a:xfrm>
        </p:grpSpPr>
        <p:sp>
          <p:nvSpPr>
            <p:cNvPr id="13" name="Rectangle 11"/>
            <p:cNvSpPr>
              <a:spLocks noChangeArrowheads="1"/>
            </p:cNvSpPr>
            <p:nvPr/>
          </p:nvSpPr>
          <p:spPr bwMode="auto">
            <a:xfrm>
              <a:off x="1056"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14" name="Rectangle 12"/>
            <p:cNvSpPr>
              <a:spLocks noChangeArrowheads="1"/>
            </p:cNvSpPr>
            <p:nvPr/>
          </p:nvSpPr>
          <p:spPr bwMode="auto">
            <a:xfrm>
              <a:off x="1344"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4</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p:txBody>
        </p:sp>
        <p:sp>
          <p:nvSpPr>
            <p:cNvPr id="15" name="Rectangle 13"/>
            <p:cNvSpPr>
              <a:spLocks noChangeArrowheads="1"/>
            </p:cNvSpPr>
            <p:nvPr/>
          </p:nvSpPr>
          <p:spPr bwMode="auto">
            <a:xfrm>
              <a:off x="1632"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16" name="Rectangle 14"/>
            <p:cNvSpPr>
              <a:spLocks noChangeArrowheads="1"/>
            </p:cNvSpPr>
            <p:nvPr/>
          </p:nvSpPr>
          <p:spPr bwMode="auto">
            <a:xfrm>
              <a:off x="1920"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p:txBody>
        </p:sp>
      </p:grpSp>
      <p:grpSp>
        <p:nvGrpSpPr>
          <p:cNvPr id="17" name="Group 15"/>
          <p:cNvGrpSpPr/>
          <p:nvPr/>
        </p:nvGrpSpPr>
        <p:grpSpPr bwMode="auto">
          <a:xfrm>
            <a:off x="6990771" y="2062163"/>
            <a:ext cx="1371600" cy="533400"/>
            <a:chOff x="3264" y="1008"/>
            <a:chExt cx="864" cy="336"/>
          </a:xfrm>
        </p:grpSpPr>
        <p:sp>
          <p:nvSpPr>
            <p:cNvPr id="18" name="Rectangle 16"/>
            <p:cNvSpPr>
              <a:spLocks noChangeArrowheads="1"/>
            </p:cNvSpPr>
            <p:nvPr/>
          </p:nvSpPr>
          <p:spPr bwMode="auto">
            <a:xfrm>
              <a:off x="3264" y="1008"/>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B</a:t>
              </a:r>
              <a:endParaRPr lang="en-US" altLang="zh-CN" sz="1800" i="1">
                <a:latin typeface="Helvetica" panose="020B0604020202020204" pitchFamily="34" charset="0"/>
              </a:endParaRPr>
            </a:p>
          </p:txBody>
        </p:sp>
        <p:sp>
          <p:nvSpPr>
            <p:cNvPr id="19" name="Rectangle 17"/>
            <p:cNvSpPr>
              <a:spLocks noChangeArrowheads="1"/>
            </p:cNvSpPr>
            <p:nvPr/>
          </p:nvSpPr>
          <p:spPr bwMode="auto">
            <a:xfrm>
              <a:off x="3552" y="1008"/>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D</a:t>
              </a:r>
              <a:endParaRPr lang="en-US" altLang="zh-CN" sz="1800" i="1">
                <a:latin typeface="Helvetica" panose="020B0604020202020204" pitchFamily="34" charset="0"/>
              </a:endParaRPr>
            </a:p>
          </p:txBody>
        </p:sp>
        <p:sp>
          <p:nvSpPr>
            <p:cNvPr id="20" name="Rectangle 18"/>
            <p:cNvSpPr>
              <a:spLocks noChangeArrowheads="1"/>
            </p:cNvSpPr>
            <p:nvPr/>
          </p:nvSpPr>
          <p:spPr bwMode="auto">
            <a:xfrm>
              <a:off x="3840" y="1008"/>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E</a:t>
              </a:r>
              <a:endParaRPr lang="en-US" altLang="zh-CN" sz="1800" i="1">
                <a:latin typeface="Helvetica" panose="020B0604020202020204" pitchFamily="34" charset="0"/>
              </a:endParaRPr>
            </a:p>
          </p:txBody>
        </p:sp>
      </p:grpSp>
      <p:grpSp>
        <p:nvGrpSpPr>
          <p:cNvPr id="21" name="Group 19"/>
          <p:cNvGrpSpPr/>
          <p:nvPr/>
        </p:nvGrpSpPr>
        <p:grpSpPr bwMode="auto">
          <a:xfrm>
            <a:off x="6990771" y="2671763"/>
            <a:ext cx="1371600" cy="1447800"/>
            <a:chOff x="3264" y="1392"/>
            <a:chExt cx="864" cy="912"/>
          </a:xfrm>
        </p:grpSpPr>
        <p:sp>
          <p:nvSpPr>
            <p:cNvPr id="22" name="Rectangle 20"/>
            <p:cNvSpPr>
              <a:spLocks noChangeArrowheads="1"/>
            </p:cNvSpPr>
            <p:nvPr/>
          </p:nvSpPr>
          <p:spPr bwMode="auto">
            <a:xfrm>
              <a:off x="3264" y="1392"/>
              <a:ext cx="288" cy="91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3</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3</a:t>
              </a:r>
              <a:endParaRPr lang="en-US" altLang="zh-CN" sz="1800" i="1">
                <a:latin typeface="Helvetica" panose="020B0604020202020204" pitchFamily="34" charset="0"/>
                <a:sym typeface="Symbol" panose="05050102010706020507" pitchFamily="18" charset="2"/>
              </a:endParaRPr>
            </a:p>
          </p:txBody>
        </p:sp>
        <p:sp>
          <p:nvSpPr>
            <p:cNvPr id="23" name="Rectangle 21"/>
            <p:cNvSpPr>
              <a:spLocks noChangeArrowheads="1"/>
            </p:cNvSpPr>
            <p:nvPr/>
          </p:nvSpPr>
          <p:spPr bwMode="auto">
            <a:xfrm>
              <a:off x="3552" y="1392"/>
              <a:ext cx="288" cy="91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p:txBody>
        </p:sp>
        <p:sp>
          <p:nvSpPr>
            <p:cNvPr id="24" name="Rectangle 22"/>
            <p:cNvSpPr>
              <a:spLocks noChangeArrowheads="1"/>
            </p:cNvSpPr>
            <p:nvPr/>
          </p:nvSpPr>
          <p:spPr bwMode="auto">
            <a:xfrm>
              <a:off x="3840" y="1392"/>
              <a:ext cx="288" cy="91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b="1"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Arial" panose="020B0604020202020204" pitchFamily="34" charset="0"/>
                  <a:sym typeface="Symbol" panose="05050102010706020507" pitchFamily="18" charset="2"/>
                </a:rPr>
                <a:t>ε</a:t>
              </a:r>
              <a:endParaRPr lang="zh-CN" altLang="en-US" sz="1800" i="1">
                <a:latin typeface="Arial" panose="020B0604020202020204" pitchFamily="34" charset="0"/>
                <a:sym typeface="Symbol" panose="05050102010706020507" pitchFamily="18" charset="2"/>
              </a:endParaRPr>
            </a:p>
          </p:txBody>
        </p:sp>
      </p:grpSp>
      <p:sp>
        <p:nvSpPr>
          <p:cNvPr id="25" name="Text Box 23"/>
          <p:cNvSpPr txBox="1">
            <a:spLocks noChangeArrowheads="1"/>
          </p:cNvSpPr>
          <p:nvPr/>
        </p:nvSpPr>
        <p:spPr bwMode="auto">
          <a:xfrm>
            <a:off x="4171371" y="4119563"/>
            <a:ext cx="2603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800" i="1">
                <a:latin typeface="Helvetica" panose="020B0604020202020204" pitchFamily="34" charset="0"/>
              </a:rPr>
              <a:t>r</a:t>
            </a:r>
            <a:endParaRPr lang="en-US" altLang="zh-CN" sz="1800" i="1">
              <a:latin typeface="Helvetica" panose="020B0604020202020204" pitchFamily="34" charset="0"/>
            </a:endParaRPr>
          </a:p>
        </p:txBody>
      </p:sp>
      <p:grpSp>
        <p:nvGrpSpPr>
          <p:cNvPr id="26" name="Group 24"/>
          <p:cNvGrpSpPr/>
          <p:nvPr/>
        </p:nvGrpSpPr>
        <p:grpSpPr bwMode="auto">
          <a:xfrm>
            <a:off x="5161971" y="4802188"/>
            <a:ext cx="2176463" cy="496887"/>
            <a:chOff x="2112" y="2734"/>
            <a:chExt cx="1371" cy="313"/>
          </a:xfrm>
        </p:grpSpPr>
        <p:sp>
          <p:nvSpPr>
            <p:cNvPr id="27" name="Rectangle 25"/>
            <p:cNvSpPr>
              <a:spLocks noChangeArrowheads="1"/>
            </p:cNvSpPr>
            <p:nvPr/>
          </p:nvSpPr>
          <p:spPr bwMode="auto">
            <a:xfrm>
              <a:off x="2112"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A</a:t>
              </a:r>
              <a:endParaRPr lang="en-US" altLang="zh-CN" sz="1800" i="1">
                <a:latin typeface="Helvetica" panose="020B0604020202020204" pitchFamily="34" charset="0"/>
              </a:endParaRPr>
            </a:p>
          </p:txBody>
        </p:sp>
        <p:sp>
          <p:nvSpPr>
            <p:cNvPr id="28" name="Rectangle 26"/>
            <p:cNvSpPr>
              <a:spLocks noChangeArrowheads="1"/>
            </p:cNvSpPr>
            <p:nvPr/>
          </p:nvSpPr>
          <p:spPr bwMode="auto">
            <a:xfrm>
              <a:off x="2386"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B</a:t>
              </a:r>
              <a:endParaRPr lang="en-US" altLang="zh-CN" sz="1800" i="1">
                <a:latin typeface="Helvetica" panose="020B0604020202020204" pitchFamily="34" charset="0"/>
              </a:endParaRPr>
            </a:p>
          </p:txBody>
        </p:sp>
        <p:sp>
          <p:nvSpPr>
            <p:cNvPr id="29" name="Rectangle 27"/>
            <p:cNvSpPr>
              <a:spLocks noChangeArrowheads="1"/>
            </p:cNvSpPr>
            <p:nvPr/>
          </p:nvSpPr>
          <p:spPr bwMode="auto">
            <a:xfrm>
              <a:off x="2660" y="2734"/>
              <a:ext cx="275"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C</a:t>
              </a:r>
              <a:endParaRPr lang="en-US" altLang="zh-CN" sz="1800" i="1">
                <a:latin typeface="Helvetica" panose="020B0604020202020204" pitchFamily="34" charset="0"/>
              </a:endParaRPr>
            </a:p>
          </p:txBody>
        </p:sp>
        <p:sp>
          <p:nvSpPr>
            <p:cNvPr id="30" name="Rectangle 28"/>
            <p:cNvSpPr>
              <a:spLocks noChangeArrowheads="1"/>
            </p:cNvSpPr>
            <p:nvPr/>
          </p:nvSpPr>
          <p:spPr bwMode="auto">
            <a:xfrm>
              <a:off x="2935"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D</a:t>
              </a:r>
              <a:endParaRPr lang="en-US" altLang="zh-CN" sz="1800" i="1">
                <a:latin typeface="Helvetica" panose="020B0604020202020204" pitchFamily="34" charset="0"/>
              </a:endParaRPr>
            </a:p>
          </p:txBody>
        </p:sp>
        <p:sp>
          <p:nvSpPr>
            <p:cNvPr id="31" name="Rectangle 29"/>
            <p:cNvSpPr>
              <a:spLocks noChangeArrowheads="1"/>
            </p:cNvSpPr>
            <p:nvPr/>
          </p:nvSpPr>
          <p:spPr bwMode="auto">
            <a:xfrm>
              <a:off x="3209"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E</a:t>
              </a:r>
              <a:endParaRPr lang="en-US" altLang="zh-CN" sz="1800" i="1">
                <a:latin typeface="Helvetica" panose="020B0604020202020204" pitchFamily="34" charset="0"/>
              </a:endParaRPr>
            </a:p>
          </p:txBody>
        </p:sp>
      </p:grpSp>
      <p:grpSp>
        <p:nvGrpSpPr>
          <p:cNvPr id="32" name="Group 30"/>
          <p:cNvGrpSpPr/>
          <p:nvPr/>
        </p:nvGrpSpPr>
        <p:grpSpPr bwMode="auto">
          <a:xfrm>
            <a:off x="5161971" y="5370513"/>
            <a:ext cx="2176463" cy="1350962"/>
            <a:chOff x="2112" y="3092"/>
            <a:chExt cx="1371" cy="851"/>
          </a:xfrm>
        </p:grpSpPr>
        <p:sp>
          <p:nvSpPr>
            <p:cNvPr id="33" name="Rectangle 31"/>
            <p:cNvSpPr>
              <a:spLocks noChangeArrowheads="1"/>
            </p:cNvSpPr>
            <p:nvPr/>
          </p:nvSpPr>
          <p:spPr bwMode="auto">
            <a:xfrm>
              <a:off x="2112"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34" name="Rectangle 32"/>
            <p:cNvSpPr>
              <a:spLocks noChangeArrowheads="1"/>
            </p:cNvSpPr>
            <p:nvPr/>
          </p:nvSpPr>
          <p:spPr bwMode="auto">
            <a:xfrm>
              <a:off x="2386"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p:txBody>
        </p:sp>
        <p:sp>
          <p:nvSpPr>
            <p:cNvPr id="35" name="Rectangle 33"/>
            <p:cNvSpPr>
              <a:spLocks noChangeArrowheads="1"/>
            </p:cNvSpPr>
            <p:nvPr/>
          </p:nvSpPr>
          <p:spPr bwMode="auto">
            <a:xfrm>
              <a:off x="2660" y="3092"/>
              <a:ext cx="275"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36" name="Rectangle 34"/>
            <p:cNvSpPr>
              <a:spLocks noChangeArrowheads="1"/>
            </p:cNvSpPr>
            <p:nvPr/>
          </p:nvSpPr>
          <p:spPr bwMode="auto">
            <a:xfrm>
              <a:off x="2935"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p:txBody>
        </p:sp>
        <p:sp>
          <p:nvSpPr>
            <p:cNvPr id="37" name="Rectangle 35"/>
            <p:cNvSpPr>
              <a:spLocks noChangeArrowheads="1"/>
            </p:cNvSpPr>
            <p:nvPr/>
          </p:nvSpPr>
          <p:spPr bwMode="auto">
            <a:xfrm>
              <a:off x="3209"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grpSp>
      <p:sp>
        <p:nvSpPr>
          <p:cNvPr id="38" name="Text Box 36"/>
          <p:cNvSpPr txBox="1">
            <a:spLocks noChangeArrowheads="1"/>
          </p:cNvSpPr>
          <p:nvPr/>
        </p:nvSpPr>
        <p:spPr bwMode="auto">
          <a:xfrm>
            <a:off x="7524171" y="4119563"/>
            <a:ext cx="2984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800" i="1">
                <a:latin typeface="Helvetica" panose="020B0604020202020204" pitchFamily="34" charset="0"/>
              </a:rPr>
              <a:t>s</a:t>
            </a:r>
            <a:endParaRPr lang="en-US" altLang="zh-CN" sz="1800" i="1">
              <a:latin typeface="Helvetica" panose="020B0604020202020204" pitchFamily="34" charset="0"/>
            </a:endParaRPr>
          </a:p>
        </p:txBody>
      </p:sp>
      <p:grpSp>
        <p:nvGrpSpPr>
          <p:cNvPr id="40" name="Group 38"/>
          <p:cNvGrpSpPr/>
          <p:nvPr/>
        </p:nvGrpSpPr>
        <p:grpSpPr bwMode="auto">
          <a:xfrm>
            <a:off x="2628321" y="4703763"/>
            <a:ext cx="7029450" cy="409575"/>
            <a:chOff x="288" y="2688"/>
            <a:chExt cx="4428" cy="258"/>
          </a:xfrm>
        </p:grpSpPr>
        <p:sp>
          <p:nvSpPr>
            <p:cNvPr id="42" name="Rectangle 39"/>
            <p:cNvSpPr>
              <a:spLocks noChangeArrowheads="1"/>
            </p:cNvSpPr>
            <p:nvPr/>
          </p:nvSpPr>
          <p:spPr bwMode="auto">
            <a:xfrm>
              <a:off x="288" y="2688"/>
              <a:ext cx="4428"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35000"/>
                </a:spcBef>
                <a:buClr>
                  <a:schemeClr val="tx2"/>
                </a:buClr>
                <a:buSzPct val="90000"/>
                <a:buFont typeface="Monotype Sorts"/>
                <a:buChar char="n"/>
              </a:pPr>
              <a:endParaRPr kumimoji="1" lang="en-US" altLang="zh-CN" sz="1800" dirty="0">
                <a:latin typeface="Helvetica" panose="020B0604020202020204" pitchFamily="34" charset="0"/>
              </a:endParaRPr>
            </a:p>
          </p:txBody>
        </p:sp>
        <p:sp>
          <p:nvSpPr>
            <p:cNvPr id="43" name="AutoShape 40"/>
            <p:cNvSpPr>
              <a:spLocks noChangeArrowheads="1"/>
            </p:cNvSpPr>
            <p:nvPr/>
          </p:nvSpPr>
          <p:spPr bwMode="auto">
            <a:xfrm rot="16200000" flipV="1">
              <a:off x="470" y="2784"/>
              <a:ext cx="96" cy="96"/>
            </a:xfrm>
            <a:prstGeom prst="flowChartCollat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44" name="Group 42"/>
          <p:cNvGrpSpPr/>
          <p:nvPr/>
        </p:nvGrpSpPr>
        <p:grpSpPr bwMode="auto">
          <a:xfrm>
            <a:off x="4247571" y="2900363"/>
            <a:ext cx="2971800" cy="2514600"/>
            <a:chOff x="1536" y="1536"/>
            <a:chExt cx="1872" cy="1584"/>
          </a:xfrm>
        </p:grpSpPr>
        <p:sp>
          <p:nvSpPr>
            <p:cNvPr id="45" name="Line 43"/>
            <p:cNvSpPr>
              <a:spLocks noChangeShapeType="1"/>
            </p:cNvSpPr>
            <p:nvPr/>
          </p:nvSpPr>
          <p:spPr bwMode="auto">
            <a:xfrm flipH="1" flipV="1">
              <a:off x="1536" y="1584"/>
              <a:ext cx="1008" cy="153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6" name="Line 44"/>
            <p:cNvSpPr>
              <a:spLocks noChangeShapeType="1"/>
            </p:cNvSpPr>
            <p:nvPr/>
          </p:nvSpPr>
          <p:spPr bwMode="auto">
            <a:xfrm flipV="1">
              <a:off x="2544" y="1536"/>
              <a:ext cx="864" cy="158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7" name="Group 45"/>
          <p:cNvGrpSpPr/>
          <p:nvPr/>
        </p:nvGrpSpPr>
        <p:grpSpPr bwMode="auto">
          <a:xfrm>
            <a:off x="5161971" y="2900363"/>
            <a:ext cx="2438400" cy="2514600"/>
            <a:chOff x="2112" y="1536"/>
            <a:chExt cx="1536" cy="1584"/>
          </a:xfrm>
        </p:grpSpPr>
        <p:sp>
          <p:nvSpPr>
            <p:cNvPr id="48" name="Line 46"/>
            <p:cNvSpPr>
              <a:spLocks noChangeShapeType="1"/>
            </p:cNvSpPr>
            <p:nvPr/>
          </p:nvSpPr>
          <p:spPr bwMode="auto">
            <a:xfrm flipH="1" flipV="1">
              <a:off x="2112" y="1568"/>
              <a:ext cx="960" cy="153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 name="Line 47"/>
            <p:cNvSpPr>
              <a:spLocks noChangeShapeType="1"/>
            </p:cNvSpPr>
            <p:nvPr/>
          </p:nvSpPr>
          <p:spPr bwMode="auto">
            <a:xfrm flipV="1">
              <a:off x="3072" y="1536"/>
              <a:ext cx="576" cy="158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mc:AlternateContent xmlns:mc="http://schemas.openxmlformats.org/markup-compatibility/2006">
        <mc:Choice xmlns:a14="http://schemas.microsoft.com/office/drawing/2010/main" Requires="a14">
          <p:sp>
            <p:nvSpPr>
              <p:cNvPr id="50" name="文本框 49"/>
              <p:cNvSpPr txBox="1"/>
              <p:nvPr/>
            </p:nvSpPr>
            <p:spPr>
              <a:xfrm>
                <a:off x="3749043" y="5227657"/>
                <a:ext cx="786369"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sty m:val="p"/>
                        </m:rPr>
                        <a:rPr lang="en-US" altLang="zh-CN" sz="2400">
                          <a:latin typeface="Cambria Math" panose="02040503050406030204" pitchFamily="18" charset="0"/>
                          <a:ea typeface="Cambria Math" panose="02040503050406030204" pitchFamily="18" charset="0"/>
                        </a:rPr>
                        <m:t>r</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𝑠</m:t>
                      </m:r>
                    </m:oMath>
                  </m:oMathPara>
                </a14:m>
                <a:endParaRPr lang="zh-CN" altLang="en-US" sz="2400" dirty="0"/>
              </a:p>
            </p:txBody>
          </p:sp>
        </mc:Choice>
        <mc:Fallback>
          <p:sp>
            <p:nvSpPr>
              <p:cNvPr id="50" name="文本框 49"/>
              <p:cNvSpPr txBox="1">
                <a:spLocks noRot="1" noChangeAspect="1" noMove="1" noResize="1" noEditPoints="1" noAdjustHandles="1" noChangeArrowheads="1" noChangeShapeType="1" noTextEdit="1"/>
              </p:cNvSpPr>
              <p:nvPr/>
            </p:nvSpPr>
            <p:spPr>
              <a:xfrm>
                <a:off x="3749043" y="5227657"/>
                <a:ext cx="786369" cy="369332"/>
              </a:xfrm>
              <a:prstGeom prst="rect">
                <a:avLst/>
              </a:prstGeom>
              <a:blipFill rotWithShape="1">
                <a:blip r:embed="rId1"/>
                <a:stretch>
                  <a:fillRect t="-91" r="-10871" b="2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5"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ppt_w</p:attrName>
                                        </p:attrNameLst>
                                      </p:cBhvr>
                                      <p:tavLst>
                                        <p:tav tm="0">
                                          <p:val>
                                            <p:fltVal val="0"/>
                                          </p:val>
                                        </p:tav>
                                        <p:tav tm="100000">
                                          <p:val>
                                            <p:strVal val="#ppt_w"/>
                                          </p:val>
                                        </p:tav>
                                      </p:tavLst>
                                    </p:anim>
                                    <p:anim calcmode="lin" valueType="num">
                                      <p:cBhvr>
                                        <p:cTn id="14" dur="1000" fill="hold"/>
                                        <p:tgtEl>
                                          <p:spTgt spid="7"/>
                                        </p:tgtEl>
                                        <p:attrNameLst>
                                          <p:attrName>ppt_h</p:attrName>
                                        </p:attrNameLst>
                                      </p:cBhvr>
                                      <p:tavLst>
                                        <p:tav tm="0">
                                          <p:val>
                                            <p:fltVal val="0"/>
                                          </p:val>
                                        </p:tav>
                                        <p:tav tm="100000">
                                          <p:val>
                                            <p:strVal val="#ppt_h"/>
                                          </p:val>
                                        </p:tav>
                                      </p:tavLst>
                                    </p:anim>
                                    <p:anim calcmode="lin" valueType="num">
                                      <p:cBhvr>
                                        <p:cTn id="15"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par>
                          <p:cTn id="17" fill="hold">
                            <p:stCondLst>
                              <p:cond delay="1000"/>
                            </p:stCondLst>
                            <p:childTnLst>
                              <p:par>
                                <p:cTn id="18" presetID="17" presetClass="entr" presetSubtype="2"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500" fill="hold"/>
                                        <p:tgtEl>
                                          <p:spTgt spid="12"/>
                                        </p:tgtEl>
                                        <p:attrNameLst>
                                          <p:attrName>ppt_x</p:attrName>
                                        </p:attrNameLst>
                                      </p:cBhvr>
                                      <p:tavLst>
                                        <p:tav tm="0">
                                          <p:val>
                                            <p:strVal val="#ppt_x+#ppt_w/2"/>
                                          </p:val>
                                        </p:tav>
                                        <p:tav tm="100000">
                                          <p:val>
                                            <p:strVal val="#ppt_x"/>
                                          </p:val>
                                        </p:tav>
                                      </p:tavLst>
                                    </p:anim>
                                    <p:anim calcmode="lin" valueType="num">
                                      <p:cBhvr>
                                        <p:cTn id="21" dur="500" fill="hold"/>
                                        <p:tgtEl>
                                          <p:spTgt spid="12"/>
                                        </p:tgtEl>
                                        <p:attrNameLst>
                                          <p:attrName>ppt_y</p:attrName>
                                        </p:attrNameLst>
                                      </p:cBhvr>
                                      <p:tavLst>
                                        <p:tav tm="0">
                                          <p:val>
                                            <p:strVal val="#ppt_y"/>
                                          </p:val>
                                        </p:tav>
                                        <p:tav tm="100000">
                                          <p:val>
                                            <p:strVal val="#ppt_y"/>
                                          </p:val>
                                        </p:tav>
                                      </p:tavLst>
                                    </p:anim>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strVal val="#ppt_h"/>
                                          </p:val>
                                        </p:tav>
                                        <p:tav tm="100000">
                                          <p:val>
                                            <p:strVal val="#ppt_h"/>
                                          </p:val>
                                        </p:tav>
                                      </p:tavLst>
                                    </p:anim>
                                  </p:childTnLst>
                                </p:cTn>
                              </p:par>
                            </p:childTnLst>
                          </p:cTn>
                        </p:par>
                        <p:par>
                          <p:cTn id="24" fill="hold">
                            <p:stCondLst>
                              <p:cond delay="1500"/>
                            </p:stCondLst>
                            <p:childTnLst>
                              <p:par>
                                <p:cTn id="25" presetID="9" presetClass="entr" presetSubtype="0"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dissolve">
                                      <p:cBhvr>
                                        <p:cTn id="27" dur="500"/>
                                        <p:tgtEl>
                                          <p:spTgt spid="25"/>
                                        </p:tgtEl>
                                      </p:cBhvr>
                                    </p:animEffect>
                                  </p:childTnLst>
                                </p:cTn>
                              </p:par>
                            </p:childTnLst>
                          </p:cTn>
                        </p:par>
                        <p:par>
                          <p:cTn id="28" fill="hold">
                            <p:stCondLst>
                              <p:cond delay="2000"/>
                            </p:stCondLst>
                            <p:childTnLst>
                              <p:par>
                                <p:cTn id="29" presetID="15" presetClass="entr" presetSubtype="0" fill="hold" nodeType="after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1000" fill="hold"/>
                                        <p:tgtEl>
                                          <p:spTgt spid="17"/>
                                        </p:tgtEl>
                                        <p:attrNameLst>
                                          <p:attrName>ppt_w</p:attrName>
                                        </p:attrNameLst>
                                      </p:cBhvr>
                                      <p:tavLst>
                                        <p:tav tm="0">
                                          <p:val>
                                            <p:fltVal val="0"/>
                                          </p:val>
                                        </p:tav>
                                        <p:tav tm="100000">
                                          <p:val>
                                            <p:strVal val="#ppt_w"/>
                                          </p:val>
                                        </p:tav>
                                      </p:tavLst>
                                    </p:anim>
                                    <p:anim calcmode="lin" valueType="num">
                                      <p:cBhvr>
                                        <p:cTn id="32" dur="1000" fill="hold"/>
                                        <p:tgtEl>
                                          <p:spTgt spid="17"/>
                                        </p:tgtEl>
                                        <p:attrNameLst>
                                          <p:attrName>ppt_h</p:attrName>
                                        </p:attrNameLst>
                                      </p:cBhvr>
                                      <p:tavLst>
                                        <p:tav tm="0">
                                          <p:val>
                                            <p:fltVal val="0"/>
                                          </p:val>
                                        </p:tav>
                                        <p:tav tm="100000">
                                          <p:val>
                                            <p:strVal val="#ppt_h"/>
                                          </p:val>
                                        </p:tav>
                                      </p:tavLst>
                                    </p:anim>
                                    <p:anim calcmode="lin" valueType="num">
                                      <p:cBhvr>
                                        <p:cTn id="33" dur="1000" fill="hold"/>
                                        <p:tgtEl>
                                          <p:spTgt spid="17"/>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17"/>
                                        </p:tgtEl>
                                        <p:attrNameLst>
                                          <p:attrName>ppt_y</p:attrName>
                                        </p:attrNameLst>
                                      </p:cBhvr>
                                      <p:tavLst>
                                        <p:tav tm="0" fmla="#ppt_y+(sin(-2*pi*(1-$))*-#ppt_x+cos(-2*pi*(1-$))*(1-#ppt_y))*(1-$)">
                                          <p:val>
                                            <p:fltVal val="0"/>
                                          </p:val>
                                        </p:tav>
                                        <p:tav tm="100000">
                                          <p:val>
                                            <p:fltVal val="1"/>
                                          </p:val>
                                        </p:tav>
                                      </p:tavLst>
                                    </p:anim>
                                  </p:childTnLst>
                                </p:cTn>
                              </p:par>
                            </p:childTnLst>
                          </p:cTn>
                        </p:par>
                        <p:par>
                          <p:cTn id="35" fill="hold">
                            <p:stCondLst>
                              <p:cond delay="3000"/>
                            </p:stCondLst>
                            <p:childTnLst>
                              <p:par>
                                <p:cTn id="36" presetID="16" presetClass="entr" presetSubtype="21" fill="hold" nodeType="after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arn(inVertical)">
                                      <p:cBhvr>
                                        <p:cTn id="38" dur="500"/>
                                        <p:tgtEl>
                                          <p:spTgt spid="21"/>
                                        </p:tgtEl>
                                      </p:cBhvr>
                                    </p:animEffect>
                                  </p:childTnLst>
                                </p:cTn>
                              </p:par>
                            </p:childTnLst>
                          </p:cTn>
                        </p:par>
                        <p:par>
                          <p:cTn id="39" fill="hold">
                            <p:stCondLst>
                              <p:cond delay="3500"/>
                            </p:stCondLst>
                            <p:childTnLst>
                              <p:par>
                                <p:cTn id="40" presetID="9" presetClass="entr" presetSubtype="0" fill="hold" grpId="0"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dissolve">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15" presetClass="entr" presetSubtype="0"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p:cTn id="47" dur="1000" fill="hold"/>
                                        <p:tgtEl>
                                          <p:spTgt spid="26"/>
                                        </p:tgtEl>
                                        <p:attrNameLst>
                                          <p:attrName>ppt_w</p:attrName>
                                        </p:attrNameLst>
                                      </p:cBhvr>
                                      <p:tavLst>
                                        <p:tav tm="0">
                                          <p:val>
                                            <p:fltVal val="0"/>
                                          </p:val>
                                        </p:tav>
                                        <p:tav tm="100000">
                                          <p:val>
                                            <p:strVal val="#ppt_w"/>
                                          </p:val>
                                        </p:tav>
                                      </p:tavLst>
                                    </p:anim>
                                    <p:anim calcmode="lin" valueType="num">
                                      <p:cBhvr>
                                        <p:cTn id="48" dur="1000" fill="hold"/>
                                        <p:tgtEl>
                                          <p:spTgt spid="26"/>
                                        </p:tgtEl>
                                        <p:attrNameLst>
                                          <p:attrName>ppt_h</p:attrName>
                                        </p:attrNameLst>
                                      </p:cBhvr>
                                      <p:tavLst>
                                        <p:tav tm="0">
                                          <p:val>
                                            <p:fltVal val="0"/>
                                          </p:val>
                                        </p:tav>
                                        <p:tav tm="100000">
                                          <p:val>
                                            <p:strVal val="#ppt_h"/>
                                          </p:val>
                                        </p:tav>
                                      </p:tavLst>
                                    </p:anim>
                                    <p:anim calcmode="lin" valueType="num">
                                      <p:cBhvr>
                                        <p:cTn id="49" dur="1000" fill="hold"/>
                                        <p:tgtEl>
                                          <p:spTgt spid="26"/>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2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1" fill="hold">
                      <p:stCondLst>
                        <p:cond delay="indefinite"/>
                      </p:stCondLst>
                      <p:childTnLst>
                        <p:par>
                          <p:cTn id="52" fill="hold">
                            <p:stCondLst>
                              <p:cond delay="0"/>
                            </p:stCondLst>
                            <p:childTnLst>
                              <p:par>
                                <p:cTn id="53" presetID="15" presetClass="entr" presetSubtype="0"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anim calcmode="lin" valueType="num">
                                      <p:cBhvr>
                                        <p:cTn id="55" dur="1000" fill="hold"/>
                                        <p:tgtEl>
                                          <p:spTgt spid="32"/>
                                        </p:tgtEl>
                                        <p:attrNameLst>
                                          <p:attrName>ppt_w</p:attrName>
                                        </p:attrNameLst>
                                      </p:cBhvr>
                                      <p:tavLst>
                                        <p:tav tm="0">
                                          <p:val>
                                            <p:fltVal val="0"/>
                                          </p:val>
                                        </p:tav>
                                        <p:tav tm="100000">
                                          <p:val>
                                            <p:strVal val="#ppt_w"/>
                                          </p:val>
                                        </p:tav>
                                      </p:tavLst>
                                    </p:anim>
                                    <p:anim calcmode="lin" valueType="num">
                                      <p:cBhvr>
                                        <p:cTn id="56" dur="1000" fill="hold"/>
                                        <p:tgtEl>
                                          <p:spTgt spid="32"/>
                                        </p:tgtEl>
                                        <p:attrNameLst>
                                          <p:attrName>ppt_h</p:attrName>
                                        </p:attrNameLst>
                                      </p:cBhvr>
                                      <p:tavLst>
                                        <p:tav tm="0">
                                          <p:val>
                                            <p:fltVal val="0"/>
                                          </p:val>
                                        </p:tav>
                                        <p:tav tm="100000">
                                          <p:val>
                                            <p:strVal val="#ppt_h"/>
                                          </p:val>
                                        </p:tav>
                                      </p:tavLst>
                                    </p:anim>
                                    <p:anim calcmode="lin" valueType="num">
                                      <p:cBhvr>
                                        <p:cTn id="57" dur="1000" fill="hold"/>
                                        <p:tgtEl>
                                          <p:spTgt spid="32"/>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3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wipe(down)">
                                      <p:cBhvr>
                                        <p:cTn id="63" dur="500"/>
                                        <p:tgtEl>
                                          <p:spTgt spid="44"/>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47"/>
                                        </p:tgtEl>
                                        <p:attrNameLst>
                                          <p:attrName>style.visibility</p:attrName>
                                        </p:attrNameLst>
                                      </p:cBhvr>
                                      <p:to>
                                        <p:strVal val="visible"/>
                                      </p:to>
                                    </p:set>
                                    <p:animEffect transition="in" filter="wipe(down)">
                                      <p:cBhvr>
                                        <p:cTn id="68"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build="p"/>
      <p:bldP spid="25" grpId="0" autoUpdateAnimBg="0"/>
      <p:bldP spid="38"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专门的关系运算</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
        <p:nvSpPr>
          <p:cNvPr id="6" name="Rectangle 4"/>
          <p:cNvSpPr>
            <a:spLocks noChangeArrowheads="1"/>
          </p:cNvSpPr>
          <p:nvPr/>
        </p:nvSpPr>
        <p:spPr bwMode="auto">
          <a:xfrm>
            <a:off x="2571171" y="1528763"/>
            <a:ext cx="6843713" cy="382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r>
              <a:rPr lang="en-US" altLang="zh-CN" dirty="0"/>
              <a:t>Relations r, s:</a:t>
            </a:r>
            <a:endParaRPr lang="en-US" altLang="zh-CN" dirty="0"/>
          </a:p>
        </p:txBody>
      </p:sp>
      <p:grpSp>
        <p:nvGrpSpPr>
          <p:cNvPr id="7" name="Group 5"/>
          <p:cNvGrpSpPr/>
          <p:nvPr/>
        </p:nvGrpSpPr>
        <p:grpSpPr bwMode="auto">
          <a:xfrm>
            <a:off x="3485571" y="2138363"/>
            <a:ext cx="1828800" cy="533400"/>
            <a:chOff x="1056" y="1056"/>
            <a:chExt cx="1152" cy="336"/>
          </a:xfrm>
        </p:grpSpPr>
        <p:sp>
          <p:nvSpPr>
            <p:cNvPr id="8" name="Rectangle 6"/>
            <p:cNvSpPr>
              <a:spLocks noChangeArrowheads="1"/>
            </p:cNvSpPr>
            <p:nvPr/>
          </p:nvSpPr>
          <p:spPr bwMode="auto">
            <a:xfrm>
              <a:off x="1056"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A</a:t>
              </a:r>
              <a:endParaRPr lang="en-US" altLang="zh-CN" sz="1800" i="1">
                <a:latin typeface="Helvetica" panose="020B0604020202020204" pitchFamily="34" charset="0"/>
              </a:endParaRPr>
            </a:p>
          </p:txBody>
        </p:sp>
        <p:sp>
          <p:nvSpPr>
            <p:cNvPr id="9" name="Rectangle 7"/>
            <p:cNvSpPr>
              <a:spLocks noChangeArrowheads="1"/>
            </p:cNvSpPr>
            <p:nvPr/>
          </p:nvSpPr>
          <p:spPr bwMode="auto">
            <a:xfrm>
              <a:off x="1344"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B</a:t>
              </a:r>
              <a:endParaRPr lang="en-US" altLang="zh-CN" sz="1800" i="1">
                <a:latin typeface="Helvetica" panose="020B0604020202020204" pitchFamily="34" charset="0"/>
              </a:endParaRPr>
            </a:p>
          </p:txBody>
        </p:sp>
        <p:sp>
          <p:nvSpPr>
            <p:cNvPr id="10" name="Rectangle 8"/>
            <p:cNvSpPr>
              <a:spLocks noChangeArrowheads="1"/>
            </p:cNvSpPr>
            <p:nvPr/>
          </p:nvSpPr>
          <p:spPr bwMode="auto">
            <a:xfrm>
              <a:off x="1632"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C</a:t>
              </a:r>
              <a:endParaRPr lang="en-US" altLang="zh-CN" sz="1800" i="1">
                <a:latin typeface="Helvetica" panose="020B0604020202020204" pitchFamily="34" charset="0"/>
              </a:endParaRPr>
            </a:p>
          </p:txBody>
        </p:sp>
        <p:sp>
          <p:nvSpPr>
            <p:cNvPr id="11" name="Rectangle 9"/>
            <p:cNvSpPr>
              <a:spLocks noChangeArrowheads="1"/>
            </p:cNvSpPr>
            <p:nvPr/>
          </p:nvSpPr>
          <p:spPr bwMode="auto">
            <a:xfrm>
              <a:off x="1920"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D</a:t>
              </a:r>
              <a:endParaRPr lang="en-US" altLang="zh-CN" sz="1800" i="1">
                <a:latin typeface="Helvetica" panose="020B0604020202020204" pitchFamily="34" charset="0"/>
              </a:endParaRPr>
            </a:p>
          </p:txBody>
        </p:sp>
      </p:grpSp>
      <p:grpSp>
        <p:nvGrpSpPr>
          <p:cNvPr id="12" name="Group 10"/>
          <p:cNvGrpSpPr/>
          <p:nvPr/>
        </p:nvGrpSpPr>
        <p:grpSpPr bwMode="auto">
          <a:xfrm>
            <a:off x="3485571" y="2747963"/>
            <a:ext cx="1828800" cy="1371600"/>
            <a:chOff x="1056" y="1440"/>
            <a:chExt cx="1152" cy="864"/>
          </a:xfrm>
        </p:grpSpPr>
        <p:sp>
          <p:nvSpPr>
            <p:cNvPr id="13" name="Rectangle 11"/>
            <p:cNvSpPr>
              <a:spLocks noChangeArrowheads="1"/>
            </p:cNvSpPr>
            <p:nvPr/>
          </p:nvSpPr>
          <p:spPr bwMode="auto">
            <a:xfrm>
              <a:off x="1056"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14" name="Rectangle 12"/>
            <p:cNvSpPr>
              <a:spLocks noChangeArrowheads="1"/>
            </p:cNvSpPr>
            <p:nvPr/>
          </p:nvSpPr>
          <p:spPr bwMode="auto">
            <a:xfrm>
              <a:off x="1344"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4</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p:txBody>
        </p:sp>
        <p:sp>
          <p:nvSpPr>
            <p:cNvPr id="15" name="Rectangle 13"/>
            <p:cNvSpPr>
              <a:spLocks noChangeArrowheads="1"/>
            </p:cNvSpPr>
            <p:nvPr/>
          </p:nvSpPr>
          <p:spPr bwMode="auto">
            <a:xfrm>
              <a:off x="1632"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16" name="Rectangle 14"/>
            <p:cNvSpPr>
              <a:spLocks noChangeArrowheads="1"/>
            </p:cNvSpPr>
            <p:nvPr/>
          </p:nvSpPr>
          <p:spPr bwMode="auto">
            <a:xfrm>
              <a:off x="1920"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p:txBody>
        </p:sp>
      </p:grpSp>
      <p:grpSp>
        <p:nvGrpSpPr>
          <p:cNvPr id="17" name="Group 15"/>
          <p:cNvGrpSpPr/>
          <p:nvPr/>
        </p:nvGrpSpPr>
        <p:grpSpPr bwMode="auto">
          <a:xfrm>
            <a:off x="6990771" y="2062163"/>
            <a:ext cx="1371600" cy="533400"/>
            <a:chOff x="3264" y="1008"/>
            <a:chExt cx="864" cy="336"/>
          </a:xfrm>
        </p:grpSpPr>
        <p:sp>
          <p:nvSpPr>
            <p:cNvPr id="18" name="Rectangle 16"/>
            <p:cNvSpPr>
              <a:spLocks noChangeArrowheads="1"/>
            </p:cNvSpPr>
            <p:nvPr/>
          </p:nvSpPr>
          <p:spPr bwMode="auto">
            <a:xfrm>
              <a:off x="3264" y="1008"/>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B</a:t>
              </a:r>
              <a:endParaRPr lang="en-US" altLang="zh-CN" sz="1800" i="1">
                <a:latin typeface="Helvetica" panose="020B0604020202020204" pitchFamily="34" charset="0"/>
              </a:endParaRPr>
            </a:p>
          </p:txBody>
        </p:sp>
        <p:sp>
          <p:nvSpPr>
            <p:cNvPr id="19" name="Rectangle 17"/>
            <p:cNvSpPr>
              <a:spLocks noChangeArrowheads="1"/>
            </p:cNvSpPr>
            <p:nvPr/>
          </p:nvSpPr>
          <p:spPr bwMode="auto">
            <a:xfrm>
              <a:off x="3552" y="1008"/>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D</a:t>
              </a:r>
              <a:endParaRPr lang="en-US" altLang="zh-CN" sz="1800" i="1">
                <a:latin typeface="Helvetica" panose="020B0604020202020204" pitchFamily="34" charset="0"/>
              </a:endParaRPr>
            </a:p>
          </p:txBody>
        </p:sp>
        <p:sp>
          <p:nvSpPr>
            <p:cNvPr id="20" name="Rectangle 18"/>
            <p:cNvSpPr>
              <a:spLocks noChangeArrowheads="1"/>
            </p:cNvSpPr>
            <p:nvPr/>
          </p:nvSpPr>
          <p:spPr bwMode="auto">
            <a:xfrm>
              <a:off x="3840" y="1008"/>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E</a:t>
              </a:r>
              <a:endParaRPr lang="en-US" altLang="zh-CN" sz="1800" i="1">
                <a:latin typeface="Helvetica" panose="020B0604020202020204" pitchFamily="34" charset="0"/>
              </a:endParaRPr>
            </a:p>
          </p:txBody>
        </p:sp>
      </p:grpSp>
      <p:grpSp>
        <p:nvGrpSpPr>
          <p:cNvPr id="21" name="Group 19"/>
          <p:cNvGrpSpPr/>
          <p:nvPr/>
        </p:nvGrpSpPr>
        <p:grpSpPr bwMode="auto">
          <a:xfrm>
            <a:off x="6990771" y="2671763"/>
            <a:ext cx="1371600" cy="1447800"/>
            <a:chOff x="3264" y="1392"/>
            <a:chExt cx="864" cy="912"/>
          </a:xfrm>
        </p:grpSpPr>
        <p:sp>
          <p:nvSpPr>
            <p:cNvPr id="22" name="Rectangle 20"/>
            <p:cNvSpPr>
              <a:spLocks noChangeArrowheads="1"/>
            </p:cNvSpPr>
            <p:nvPr/>
          </p:nvSpPr>
          <p:spPr bwMode="auto">
            <a:xfrm>
              <a:off x="3264" y="1392"/>
              <a:ext cx="288" cy="91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3</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3</a:t>
              </a:r>
              <a:endParaRPr lang="en-US" altLang="zh-CN" sz="1800" i="1">
                <a:latin typeface="Helvetica" panose="020B0604020202020204" pitchFamily="34" charset="0"/>
                <a:sym typeface="Symbol" panose="05050102010706020507" pitchFamily="18" charset="2"/>
              </a:endParaRPr>
            </a:p>
          </p:txBody>
        </p:sp>
        <p:sp>
          <p:nvSpPr>
            <p:cNvPr id="23" name="Rectangle 21"/>
            <p:cNvSpPr>
              <a:spLocks noChangeArrowheads="1"/>
            </p:cNvSpPr>
            <p:nvPr/>
          </p:nvSpPr>
          <p:spPr bwMode="auto">
            <a:xfrm>
              <a:off x="3552" y="1392"/>
              <a:ext cx="288" cy="91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p:txBody>
        </p:sp>
        <p:sp>
          <p:nvSpPr>
            <p:cNvPr id="24" name="Rectangle 22"/>
            <p:cNvSpPr>
              <a:spLocks noChangeArrowheads="1"/>
            </p:cNvSpPr>
            <p:nvPr/>
          </p:nvSpPr>
          <p:spPr bwMode="auto">
            <a:xfrm>
              <a:off x="3840" y="1392"/>
              <a:ext cx="288" cy="91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b="1"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Arial" panose="020B0604020202020204" pitchFamily="34" charset="0"/>
                  <a:sym typeface="Symbol" panose="05050102010706020507" pitchFamily="18" charset="2"/>
                </a:rPr>
                <a:t>ε</a:t>
              </a:r>
              <a:endParaRPr lang="zh-CN" altLang="en-US" sz="1800" i="1">
                <a:latin typeface="Arial" panose="020B0604020202020204" pitchFamily="34" charset="0"/>
                <a:sym typeface="Symbol" panose="05050102010706020507" pitchFamily="18" charset="2"/>
              </a:endParaRPr>
            </a:p>
          </p:txBody>
        </p:sp>
      </p:grpSp>
      <p:sp>
        <p:nvSpPr>
          <p:cNvPr id="25" name="Text Box 23"/>
          <p:cNvSpPr txBox="1">
            <a:spLocks noChangeArrowheads="1"/>
          </p:cNvSpPr>
          <p:nvPr/>
        </p:nvSpPr>
        <p:spPr bwMode="auto">
          <a:xfrm>
            <a:off x="4171371" y="4119563"/>
            <a:ext cx="2603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800" i="1">
                <a:latin typeface="Helvetica" panose="020B0604020202020204" pitchFamily="34" charset="0"/>
              </a:rPr>
              <a:t>r</a:t>
            </a:r>
            <a:endParaRPr lang="en-US" altLang="zh-CN" sz="1800" i="1">
              <a:latin typeface="Helvetica" panose="020B0604020202020204" pitchFamily="34" charset="0"/>
            </a:endParaRPr>
          </a:p>
        </p:txBody>
      </p:sp>
      <p:grpSp>
        <p:nvGrpSpPr>
          <p:cNvPr id="26" name="Group 24"/>
          <p:cNvGrpSpPr/>
          <p:nvPr/>
        </p:nvGrpSpPr>
        <p:grpSpPr bwMode="auto">
          <a:xfrm>
            <a:off x="5161971" y="4802188"/>
            <a:ext cx="2176463" cy="496887"/>
            <a:chOff x="2112" y="2734"/>
            <a:chExt cx="1371" cy="313"/>
          </a:xfrm>
        </p:grpSpPr>
        <p:sp>
          <p:nvSpPr>
            <p:cNvPr id="27" name="Rectangle 25"/>
            <p:cNvSpPr>
              <a:spLocks noChangeArrowheads="1"/>
            </p:cNvSpPr>
            <p:nvPr/>
          </p:nvSpPr>
          <p:spPr bwMode="auto">
            <a:xfrm>
              <a:off x="2112"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A</a:t>
              </a:r>
              <a:endParaRPr lang="en-US" altLang="zh-CN" sz="1800" i="1">
                <a:latin typeface="Helvetica" panose="020B0604020202020204" pitchFamily="34" charset="0"/>
              </a:endParaRPr>
            </a:p>
          </p:txBody>
        </p:sp>
        <p:sp>
          <p:nvSpPr>
            <p:cNvPr id="28" name="Rectangle 26"/>
            <p:cNvSpPr>
              <a:spLocks noChangeArrowheads="1"/>
            </p:cNvSpPr>
            <p:nvPr/>
          </p:nvSpPr>
          <p:spPr bwMode="auto">
            <a:xfrm>
              <a:off x="2386"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B</a:t>
              </a:r>
              <a:endParaRPr lang="en-US" altLang="zh-CN" sz="1800" i="1">
                <a:latin typeface="Helvetica" panose="020B0604020202020204" pitchFamily="34" charset="0"/>
              </a:endParaRPr>
            </a:p>
          </p:txBody>
        </p:sp>
        <p:sp>
          <p:nvSpPr>
            <p:cNvPr id="29" name="Rectangle 27"/>
            <p:cNvSpPr>
              <a:spLocks noChangeArrowheads="1"/>
            </p:cNvSpPr>
            <p:nvPr/>
          </p:nvSpPr>
          <p:spPr bwMode="auto">
            <a:xfrm>
              <a:off x="2660" y="2734"/>
              <a:ext cx="275"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C</a:t>
              </a:r>
              <a:endParaRPr lang="en-US" altLang="zh-CN" sz="1800" i="1">
                <a:latin typeface="Helvetica" panose="020B0604020202020204" pitchFamily="34" charset="0"/>
              </a:endParaRPr>
            </a:p>
          </p:txBody>
        </p:sp>
        <p:sp>
          <p:nvSpPr>
            <p:cNvPr id="30" name="Rectangle 28"/>
            <p:cNvSpPr>
              <a:spLocks noChangeArrowheads="1"/>
            </p:cNvSpPr>
            <p:nvPr/>
          </p:nvSpPr>
          <p:spPr bwMode="auto">
            <a:xfrm>
              <a:off x="2935"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D</a:t>
              </a:r>
              <a:endParaRPr lang="en-US" altLang="zh-CN" sz="1800" i="1">
                <a:latin typeface="Helvetica" panose="020B0604020202020204" pitchFamily="34" charset="0"/>
              </a:endParaRPr>
            </a:p>
          </p:txBody>
        </p:sp>
        <p:sp>
          <p:nvSpPr>
            <p:cNvPr id="31" name="Rectangle 29"/>
            <p:cNvSpPr>
              <a:spLocks noChangeArrowheads="1"/>
            </p:cNvSpPr>
            <p:nvPr/>
          </p:nvSpPr>
          <p:spPr bwMode="auto">
            <a:xfrm>
              <a:off x="3209"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E</a:t>
              </a:r>
              <a:endParaRPr lang="en-US" altLang="zh-CN" sz="1800" i="1">
                <a:latin typeface="Helvetica" panose="020B0604020202020204" pitchFamily="34" charset="0"/>
              </a:endParaRPr>
            </a:p>
          </p:txBody>
        </p:sp>
      </p:grpSp>
      <p:grpSp>
        <p:nvGrpSpPr>
          <p:cNvPr id="32" name="Group 30"/>
          <p:cNvGrpSpPr/>
          <p:nvPr/>
        </p:nvGrpSpPr>
        <p:grpSpPr bwMode="auto">
          <a:xfrm>
            <a:off x="5161971" y="5370513"/>
            <a:ext cx="2176463" cy="1350962"/>
            <a:chOff x="2112" y="3092"/>
            <a:chExt cx="1371" cy="851"/>
          </a:xfrm>
        </p:grpSpPr>
        <p:sp>
          <p:nvSpPr>
            <p:cNvPr id="33" name="Rectangle 31"/>
            <p:cNvSpPr>
              <a:spLocks noChangeArrowheads="1"/>
            </p:cNvSpPr>
            <p:nvPr/>
          </p:nvSpPr>
          <p:spPr bwMode="auto">
            <a:xfrm>
              <a:off x="2112"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34" name="Rectangle 32"/>
            <p:cNvSpPr>
              <a:spLocks noChangeArrowheads="1"/>
            </p:cNvSpPr>
            <p:nvPr/>
          </p:nvSpPr>
          <p:spPr bwMode="auto">
            <a:xfrm>
              <a:off x="2386"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p:txBody>
        </p:sp>
        <p:sp>
          <p:nvSpPr>
            <p:cNvPr id="35" name="Rectangle 33"/>
            <p:cNvSpPr>
              <a:spLocks noChangeArrowheads="1"/>
            </p:cNvSpPr>
            <p:nvPr/>
          </p:nvSpPr>
          <p:spPr bwMode="auto">
            <a:xfrm>
              <a:off x="2660" y="3092"/>
              <a:ext cx="275"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36" name="Rectangle 34"/>
            <p:cNvSpPr>
              <a:spLocks noChangeArrowheads="1"/>
            </p:cNvSpPr>
            <p:nvPr/>
          </p:nvSpPr>
          <p:spPr bwMode="auto">
            <a:xfrm>
              <a:off x="2935"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p:txBody>
        </p:sp>
        <p:sp>
          <p:nvSpPr>
            <p:cNvPr id="37" name="Rectangle 35"/>
            <p:cNvSpPr>
              <a:spLocks noChangeArrowheads="1"/>
            </p:cNvSpPr>
            <p:nvPr/>
          </p:nvSpPr>
          <p:spPr bwMode="auto">
            <a:xfrm>
              <a:off x="3209"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grpSp>
      <p:sp>
        <p:nvSpPr>
          <p:cNvPr id="38" name="Text Box 36"/>
          <p:cNvSpPr txBox="1">
            <a:spLocks noChangeArrowheads="1"/>
          </p:cNvSpPr>
          <p:nvPr/>
        </p:nvSpPr>
        <p:spPr bwMode="auto">
          <a:xfrm>
            <a:off x="7524171" y="4119563"/>
            <a:ext cx="2984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800" i="1">
                <a:latin typeface="Helvetica" panose="020B0604020202020204" pitchFamily="34" charset="0"/>
              </a:rPr>
              <a:t>s</a:t>
            </a:r>
            <a:endParaRPr lang="en-US" altLang="zh-CN" sz="1800" i="1">
              <a:latin typeface="Helvetica" panose="020B0604020202020204" pitchFamily="34" charset="0"/>
            </a:endParaRPr>
          </a:p>
        </p:txBody>
      </p:sp>
      <p:grpSp>
        <p:nvGrpSpPr>
          <p:cNvPr id="40" name="Group 38"/>
          <p:cNvGrpSpPr/>
          <p:nvPr/>
        </p:nvGrpSpPr>
        <p:grpSpPr bwMode="auto">
          <a:xfrm>
            <a:off x="2628321" y="4703763"/>
            <a:ext cx="7029450" cy="409575"/>
            <a:chOff x="288" y="2688"/>
            <a:chExt cx="4428" cy="258"/>
          </a:xfrm>
        </p:grpSpPr>
        <p:sp>
          <p:nvSpPr>
            <p:cNvPr id="42" name="Rectangle 39"/>
            <p:cNvSpPr>
              <a:spLocks noChangeArrowheads="1"/>
            </p:cNvSpPr>
            <p:nvPr/>
          </p:nvSpPr>
          <p:spPr bwMode="auto">
            <a:xfrm>
              <a:off x="288" y="2688"/>
              <a:ext cx="4428"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35000"/>
                </a:spcBef>
                <a:buClr>
                  <a:schemeClr val="tx2"/>
                </a:buClr>
                <a:buSzPct val="90000"/>
                <a:buFont typeface="Monotype Sorts"/>
                <a:buChar char="n"/>
              </a:pPr>
              <a:endParaRPr kumimoji="1" lang="en-US" altLang="zh-CN" sz="1800" dirty="0">
                <a:latin typeface="Helvetica" panose="020B0604020202020204" pitchFamily="34" charset="0"/>
              </a:endParaRPr>
            </a:p>
          </p:txBody>
        </p:sp>
        <p:sp>
          <p:nvSpPr>
            <p:cNvPr id="43" name="AutoShape 40"/>
            <p:cNvSpPr>
              <a:spLocks noChangeArrowheads="1"/>
            </p:cNvSpPr>
            <p:nvPr/>
          </p:nvSpPr>
          <p:spPr bwMode="auto">
            <a:xfrm rot="16200000" flipV="1">
              <a:off x="470" y="2784"/>
              <a:ext cx="96" cy="96"/>
            </a:xfrm>
            <a:prstGeom prst="flowChartCollat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44" name="Group 42"/>
          <p:cNvGrpSpPr/>
          <p:nvPr/>
        </p:nvGrpSpPr>
        <p:grpSpPr bwMode="auto">
          <a:xfrm>
            <a:off x="4247571" y="2976563"/>
            <a:ext cx="2971800" cy="2692400"/>
            <a:chOff x="1536" y="1584"/>
            <a:chExt cx="1872" cy="1696"/>
          </a:xfrm>
        </p:grpSpPr>
        <p:sp>
          <p:nvSpPr>
            <p:cNvPr id="45" name="Line 43"/>
            <p:cNvSpPr>
              <a:spLocks noChangeShapeType="1"/>
            </p:cNvSpPr>
            <p:nvPr/>
          </p:nvSpPr>
          <p:spPr bwMode="auto">
            <a:xfrm flipH="1" flipV="1">
              <a:off x="1536" y="1584"/>
              <a:ext cx="956" cy="169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6" name="Line 44"/>
            <p:cNvSpPr>
              <a:spLocks noChangeShapeType="1"/>
            </p:cNvSpPr>
            <p:nvPr/>
          </p:nvSpPr>
          <p:spPr bwMode="auto">
            <a:xfrm flipV="1">
              <a:off x="2578" y="1869"/>
              <a:ext cx="830" cy="1411"/>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7" name="Group 45"/>
          <p:cNvGrpSpPr/>
          <p:nvPr/>
        </p:nvGrpSpPr>
        <p:grpSpPr bwMode="auto">
          <a:xfrm>
            <a:off x="5161971" y="2951163"/>
            <a:ext cx="2393950" cy="2814638"/>
            <a:chOff x="2112" y="1568"/>
            <a:chExt cx="1508" cy="1773"/>
          </a:xfrm>
        </p:grpSpPr>
        <p:sp>
          <p:nvSpPr>
            <p:cNvPr id="48" name="Line 46"/>
            <p:cNvSpPr>
              <a:spLocks noChangeShapeType="1"/>
            </p:cNvSpPr>
            <p:nvPr/>
          </p:nvSpPr>
          <p:spPr bwMode="auto">
            <a:xfrm flipH="1" flipV="1">
              <a:off x="2112" y="1568"/>
              <a:ext cx="932" cy="1773"/>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 name="Line 47"/>
            <p:cNvSpPr>
              <a:spLocks noChangeShapeType="1"/>
            </p:cNvSpPr>
            <p:nvPr/>
          </p:nvSpPr>
          <p:spPr bwMode="auto">
            <a:xfrm flipV="1">
              <a:off x="3123" y="1898"/>
              <a:ext cx="497" cy="1411"/>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mc:AlternateContent xmlns:mc="http://schemas.openxmlformats.org/markup-compatibility/2006">
        <mc:Choice xmlns:a14="http://schemas.microsoft.com/office/drawing/2010/main" Requires="a14">
          <p:sp>
            <p:nvSpPr>
              <p:cNvPr id="50" name="文本框 49"/>
              <p:cNvSpPr txBox="1"/>
              <p:nvPr/>
            </p:nvSpPr>
            <p:spPr>
              <a:xfrm>
                <a:off x="3749043" y="5227657"/>
                <a:ext cx="786369"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sty m:val="p"/>
                        </m:rPr>
                        <a:rPr lang="en-US" altLang="zh-CN" sz="2400">
                          <a:latin typeface="Cambria Math" panose="02040503050406030204" pitchFamily="18" charset="0"/>
                          <a:ea typeface="Cambria Math" panose="02040503050406030204" pitchFamily="18" charset="0"/>
                        </a:rPr>
                        <m:t>r</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𝑠</m:t>
                      </m:r>
                    </m:oMath>
                  </m:oMathPara>
                </a14:m>
                <a:endParaRPr lang="zh-CN" altLang="en-US" sz="2400" dirty="0"/>
              </a:p>
            </p:txBody>
          </p:sp>
        </mc:Choice>
        <mc:Fallback>
          <p:sp>
            <p:nvSpPr>
              <p:cNvPr id="50" name="文本框 49"/>
              <p:cNvSpPr txBox="1">
                <a:spLocks noRot="1" noChangeAspect="1" noMove="1" noResize="1" noEditPoints="1" noAdjustHandles="1" noChangeArrowheads="1" noChangeShapeType="1" noTextEdit="1"/>
              </p:cNvSpPr>
              <p:nvPr/>
            </p:nvSpPr>
            <p:spPr>
              <a:xfrm>
                <a:off x="3749043" y="5227657"/>
                <a:ext cx="786369" cy="369332"/>
              </a:xfrm>
              <a:prstGeom prst="rect">
                <a:avLst/>
              </a:prstGeom>
              <a:blipFill rotWithShape="1">
                <a:blip r:embed="rId1"/>
                <a:stretch>
                  <a:fillRect t="-91" r="-10871" b="2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5"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ppt_w</p:attrName>
                                        </p:attrNameLst>
                                      </p:cBhvr>
                                      <p:tavLst>
                                        <p:tav tm="0">
                                          <p:val>
                                            <p:fltVal val="0"/>
                                          </p:val>
                                        </p:tav>
                                        <p:tav tm="100000">
                                          <p:val>
                                            <p:strVal val="#ppt_w"/>
                                          </p:val>
                                        </p:tav>
                                      </p:tavLst>
                                    </p:anim>
                                    <p:anim calcmode="lin" valueType="num">
                                      <p:cBhvr>
                                        <p:cTn id="14" dur="1000" fill="hold"/>
                                        <p:tgtEl>
                                          <p:spTgt spid="7"/>
                                        </p:tgtEl>
                                        <p:attrNameLst>
                                          <p:attrName>ppt_h</p:attrName>
                                        </p:attrNameLst>
                                      </p:cBhvr>
                                      <p:tavLst>
                                        <p:tav tm="0">
                                          <p:val>
                                            <p:fltVal val="0"/>
                                          </p:val>
                                        </p:tav>
                                        <p:tav tm="100000">
                                          <p:val>
                                            <p:strVal val="#ppt_h"/>
                                          </p:val>
                                        </p:tav>
                                      </p:tavLst>
                                    </p:anim>
                                    <p:anim calcmode="lin" valueType="num">
                                      <p:cBhvr>
                                        <p:cTn id="15"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par>
                          <p:cTn id="17" fill="hold">
                            <p:stCondLst>
                              <p:cond delay="1000"/>
                            </p:stCondLst>
                            <p:childTnLst>
                              <p:par>
                                <p:cTn id="18" presetID="17" presetClass="entr" presetSubtype="2"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500" fill="hold"/>
                                        <p:tgtEl>
                                          <p:spTgt spid="12"/>
                                        </p:tgtEl>
                                        <p:attrNameLst>
                                          <p:attrName>ppt_x</p:attrName>
                                        </p:attrNameLst>
                                      </p:cBhvr>
                                      <p:tavLst>
                                        <p:tav tm="0">
                                          <p:val>
                                            <p:strVal val="#ppt_x+#ppt_w/2"/>
                                          </p:val>
                                        </p:tav>
                                        <p:tav tm="100000">
                                          <p:val>
                                            <p:strVal val="#ppt_x"/>
                                          </p:val>
                                        </p:tav>
                                      </p:tavLst>
                                    </p:anim>
                                    <p:anim calcmode="lin" valueType="num">
                                      <p:cBhvr>
                                        <p:cTn id="21" dur="500" fill="hold"/>
                                        <p:tgtEl>
                                          <p:spTgt spid="12"/>
                                        </p:tgtEl>
                                        <p:attrNameLst>
                                          <p:attrName>ppt_y</p:attrName>
                                        </p:attrNameLst>
                                      </p:cBhvr>
                                      <p:tavLst>
                                        <p:tav tm="0">
                                          <p:val>
                                            <p:strVal val="#ppt_y"/>
                                          </p:val>
                                        </p:tav>
                                        <p:tav tm="100000">
                                          <p:val>
                                            <p:strVal val="#ppt_y"/>
                                          </p:val>
                                        </p:tav>
                                      </p:tavLst>
                                    </p:anim>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strVal val="#ppt_h"/>
                                          </p:val>
                                        </p:tav>
                                        <p:tav tm="100000">
                                          <p:val>
                                            <p:strVal val="#ppt_h"/>
                                          </p:val>
                                        </p:tav>
                                      </p:tavLst>
                                    </p:anim>
                                  </p:childTnLst>
                                </p:cTn>
                              </p:par>
                            </p:childTnLst>
                          </p:cTn>
                        </p:par>
                        <p:par>
                          <p:cTn id="24" fill="hold">
                            <p:stCondLst>
                              <p:cond delay="1500"/>
                            </p:stCondLst>
                            <p:childTnLst>
                              <p:par>
                                <p:cTn id="25" presetID="9" presetClass="entr" presetSubtype="0"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dissolve">
                                      <p:cBhvr>
                                        <p:cTn id="27" dur="500"/>
                                        <p:tgtEl>
                                          <p:spTgt spid="25"/>
                                        </p:tgtEl>
                                      </p:cBhvr>
                                    </p:animEffect>
                                  </p:childTnLst>
                                </p:cTn>
                              </p:par>
                            </p:childTnLst>
                          </p:cTn>
                        </p:par>
                        <p:par>
                          <p:cTn id="28" fill="hold">
                            <p:stCondLst>
                              <p:cond delay="2000"/>
                            </p:stCondLst>
                            <p:childTnLst>
                              <p:par>
                                <p:cTn id="29" presetID="15" presetClass="entr" presetSubtype="0" fill="hold" nodeType="after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1000" fill="hold"/>
                                        <p:tgtEl>
                                          <p:spTgt spid="17"/>
                                        </p:tgtEl>
                                        <p:attrNameLst>
                                          <p:attrName>ppt_w</p:attrName>
                                        </p:attrNameLst>
                                      </p:cBhvr>
                                      <p:tavLst>
                                        <p:tav tm="0">
                                          <p:val>
                                            <p:fltVal val="0"/>
                                          </p:val>
                                        </p:tav>
                                        <p:tav tm="100000">
                                          <p:val>
                                            <p:strVal val="#ppt_w"/>
                                          </p:val>
                                        </p:tav>
                                      </p:tavLst>
                                    </p:anim>
                                    <p:anim calcmode="lin" valueType="num">
                                      <p:cBhvr>
                                        <p:cTn id="32" dur="1000" fill="hold"/>
                                        <p:tgtEl>
                                          <p:spTgt spid="17"/>
                                        </p:tgtEl>
                                        <p:attrNameLst>
                                          <p:attrName>ppt_h</p:attrName>
                                        </p:attrNameLst>
                                      </p:cBhvr>
                                      <p:tavLst>
                                        <p:tav tm="0">
                                          <p:val>
                                            <p:fltVal val="0"/>
                                          </p:val>
                                        </p:tav>
                                        <p:tav tm="100000">
                                          <p:val>
                                            <p:strVal val="#ppt_h"/>
                                          </p:val>
                                        </p:tav>
                                      </p:tavLst>
                                    </p:anim>
                                    <p:anim calcmode="lin" valueType="num">
                                      <p:cBhvr>
                                        <p:cTn id="33" dur="1000" fill="hold"/>
                                        <p:tgtEl>
                                          <p:spTgt spid="17"/>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17"/>
                                        </p:tgtEl>
                                        <p:attrNameLst>
                                          <p:attrName>ppt_y</p:attrName>
                                        </p:attrNameLst>
                                      </p:cBhvr>
                                      <p:tavLst>
                                        <p:tav tm="0" fmla="#ppt_y+(sin(-2*pi*(1-$))*-#ppt_x+cos(-2*pi*(1-$))*(1-#ppt_y))*(1-$)">
                                          <p:val>
                                            <p:fltVal val="0"/>
                                          </p:val>
                                        </p:tav>
                                        <p:tav tm="100000">
                                          <p:val>
                                            <p:fltVal val="1"/>
                                          </p:val>
                                        </p:tav>
                                      </p:tavLst>
                                    </p:anim>
                                  </p:childTnLst>
                                </p:cTn>
                              </p:par>
                            </p:childTnLst>
                          </p:cTn>
                        </p:par>
                        <p:par>
                          <p:cTn id="35" fill="hold">
                            <p:stCondLst>
                              <p:cond delay="3000"/>
                            </p:stCondLst>
                            <p:childTnLst>
                              <p:par>
                                <p:cTn id="36" presetID="16" presetClass="entr" presetSubtype="21" fill="hold" nodeType="after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arn(inVertical)">
                                      <p:cBhvr>
                                        <p:cTn id="38" dur="500"/>
                                        <p:tgtEl>
                                          <p:spTgt spid="21"/>
                                        </p:tgtEl>
                                      </p:cBhvr>
                                    </p:animEffect>
                                  </p:childTnLst>
                                </p:cTn>
                              </p:par>
                            </p:childTnLst>
                          </p:cTn>
                        </p:par>
                        <p:par>
                          <p:cTn id="39" fill="hold">
                            <p:stCondLst>
                              <p:cond delay="3500"/>
                            </p:stCondLst>
                            <p:childTnLst>
                              <p:par>
                                <p:cTn id="40" presetID="9" presetClass="entr" presetSubtype="0" fill="hold" grpId="0"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dissolve">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15" presetClass="entr" presetSubtype="0"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p:cTn id="47" dur="1000" fill="hold"/>
                                        <p:tgtEl>
                                          <p:spTgt spid="26"/>
                                        </p:tgtEl>
                                        <p:attrNameLst>
                                          <p:attrName>ppt_w</p:attrName>
                                        </p:attrNameLst>
                                      </p:cBhvr>
                                      <p:tavLst>
                                        <p:tav tm="0">
                                          <p:val>
                                            <p:fltVal val="0"/>
                                          </p:val>
                                        </p:tav>
                                        <p:tav tm="100000">
                                          <p:val>
                                            <p:strVal val="#ppt_w"/>
                                          </p:val>
                                        </p:tav>
                                      </p:tavLst>
                                    </p:anim>
                                    <p:anim calcmode="lin" valueType="num">
                                      <p:cBhvr>
                                        <p:cTn id="48" dur="1000" fill="hold"/>
                                        <p:tgtEl>
                                          <p:spTgt spid="26"/>
                                        </p:tgtEl>
                                        <p:attrNameLst>
                                          <p:attrName>ppt_h</p:attrName>
                                        </p:attrNameLst>
                                      </p:cBhvr>
                                      <p:tavLst>
                                        <p:tav tm="0">
                                          <p:val>
                                            <p:fltVal val="0"/>
                                          </p:val>
                                        </p:tav>
                                        <p:tav tm="100000">
                                          <p:val>
                                            <p:strVal val="#ppt_h"/>
                                          </p:val>
                                        </p:tav>
                                      </p:tavLst>
                                    </p:anim>
                                    <p:anim calcmode="lin" valueType="num">
                                      <p:cBhvr>
                                        <p:cTn id="49" dur="1000" fill="hold"/>
                                        <p:tgtEl>
                                          <p:spTgt spid="26"/>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2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1" fill="hold">
                      <p:stCondLst>
                        <p:cond delay="indefinite"/>
                      </p:stCondLst>
                      <p:childTnLst>
                        <p:par>
                          <p:cTn id="52" fill="hold">
                            <p:stCondLst>
                              <p:cond delay="0"/>
                            </p:stCondLst>
                            <p:childTnLst>
                              <p:par>
                                <p:cTn id="53" presetID="15" presetClass="entr" presetSubtype="0"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anim calcmode="lin" valueType="num">
                                      <p:cBhvr>
                                        <p:cTn id="55" dur="1000" fill="hold"/>
                                        <p:tgtEl>
                                          <p:spTgt spid="32"/>
                                        </p:tgtEl>
                                        <p:attrNameLst>
                                          <p:attrName>ppt_w</p:attrName>
                                        </p:attrNameLst>
                                      </p:cBhvr>
                                      <p:tavLst>
                                        <p:tav tm="0">
                                          <p:val>
                                            <p:fltVal val="0"/>
                                          </p:val>
                                        </p:tav>
                                        <p:tav tm="100000">
                                          <p:val>
                                            <p:strVal val="#ppt_w"/>
                                          </p:val>
                                        </p:tav>
                                      </p:tavLst>
                                    </p:anim>
                                    <p:anim calcmode="lin" valueType="num">
                                      <p:cBhvr>
                                        <p:cTn id="56" dur="1000" fill="hold"/>
                                        <p:tgtEl>
                                          <p:spTgt spid="32"/>
                                        </p:tgtEl>
                                        <p:attrNameLst>
                                          <p:attrName>ppt_h</p:attrName>
                                        </p:attrNameLst>
                                      </p:cBhvr>
                                      <p:tavLst>
                                        <p:tav tm="0">
                                          <p:val>
                                            <p:fltVal val="0"/>
                                          </p:val>
                                        </p:tav>
                                        <p:tav tm="100000">
                                          <p:val>
                                            <p:strVal val="#ppt_h"/>
                                          </p:val>
                                        </p:tav>
                                      </p:tavLst>
                                    </p:anim>
                                    <p:anim calcmode="lin" valueType="num">
                                      <p:cBhvr>
                                        <p:cTn id="57" dur="1000" fill="hold"/>
                                        <p:tgtEl>
                                          <p:spTgt spid="32"/>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3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wipe(down)">
                                      <p:cBhvr>
                                        <p:cTn id="63" dur="500"/>
                                        <p:tgtEl>
                                          <p:spTgt spid="44"/>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47"/>
                                        </p:tgtEl>
                                        <p:attrNameLst>
                                          <p:attrName>style.visibility</p:attrName>
                                        </p:attrNameLst>
                                      </p:cBhvr>
                                      <p:to>
                                        <p:strVal val="visible"/>
                                      </p:to>
                                    </p:set>
                                    <p:animEffect transition="in" filter="wipe(down)">
                                      <p:cBhvr>
                                        <p:cTn id="68"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build="p"/>
      <p:bldP spid="25" grpId="0" autoUpdateAnimBg="0"/>
      <p:bldP spid="38"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专门的关系运算</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
        <p:nvSpPr>
          <p:cNvPr id="6" name="Rectangle 4"/>
          <p:cNvSpPr>
            <a:spLocks noChangeArrowheads="1"/>
          </p:cNvSpPr>
          <p:nvPr/>
        </p:nvSpPr>
        <p:spPr bwMode="auto">
          <a:xfrm>
            <a:off x="2571171" y="1528763"/>
            <a:ext cx="6843713" cy="382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r>
              <a:rPr lang="en-US" altLang="zh-CN" dirty="0"/>
              <a:t>Relations r, s:</a:t>
            </a:r>
            <a:endParaRPr lang="en-US" altLang="zh-CN" dirty="0"/>
          </a:p>
        </p:txBody>
      </p:sp>
      <p:grpSp>
        <p:nvGrpSpPr>
          <p:cNvPr id="7" name="Group 5"/>
          <p:cNvGrpSpPr/>
          <p:nvPr/>
        </p:nvGrpSpPr>
        <p:grpSpPr bwMode="auto">
          <a:xfrm>
            <a:off x="3485571" y="2138363"/>
            <a:ext cx="1828800" cy="533400"/>
            <a:chOff x="1056" y="1056"/>
            <a:chExt cx="1152" cy="336"/>
          </a:xfrm>
        </p:grpSpPr>
        <p:sp>
          <p:nvSpPr>
            <p:cNvPr id="8" name="Rectangle 6"/>
            <p:cNvSpPr>
              <a:spLocks noChangeArrowheads="1"/>
            </p:cNvSpPr>
            <p:nvPr/>
          </p:nvSpPr>
          <p:spPr bwMode="auto">
            <a:xfrm>
              <a:off x="1056"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A</a:t>
              </a:r>
              <a:endParaRPr lang="en-US" altLang="zh-CN" sz="1800" i="1">
                <a:latin typeface="Helvetica" panose="020B0604020202020204" pitchFamily="34" charset="0"/>
              </a:endParaRPr>
            </a:p>
          </p:txBody>
        </p:sp>
        <p:sp>
          <p:nvSpPr>
            <p:cNvPr id="9" name="Rectangle 7"/>
            <p:cNvSpPr>
              <a:spLocks noChangeArrowheads="1"/>
            </p:cNvSpPr>
            <p:nvPr/>
          </p:nvSpPr>
          <p:spPr bwMode="auto">
            <a:xfrm>
              <a:off x="1344"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B</a:t>
              </a:r>
              <a:endParaRPr lang="en-US" altLang="zh-CN" sz="1800" i="1">
                <a:latin typeface="Helvetica" panose="020B0604020202020204" pitchFamily="34" charset="0"/>
              </a:endParaRPr>
            </a:p>
          </p:txBody>
        </p:sp>
        <p:sp>
          <p:nvSpPr>
            <p:cNvPr id="10" name="Rectangle 8"/>
            <p:cNvSpPr>
              <a:spLocks noChangeArrowheads="1"/>
            </p:cNvSpPr>
            <p:nvPr/>
          </p:nvSpPr>
          <p:spPr bwMode="auto">
            <a:xfrm>
              <a:off x="1632"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C</a:t>
              </a:r>
              <a:endParaRPr lang="en-US" altLang="zh-CN" sz="1800" i="1">
                <a:latin typeface="Helvetica" panose="020B0604020202020204" pitchFamily="34" charset="0"/>
              </a:endParaRPr>
            </a:p>
          </p:txBody>
        </p:sp>
        <p:sp>
          <p:nvSpPr>
            <p:cNvPr id="11" name="Rectangle 9"/>
            <p:cNvSpPr>
              <a:spLocks noChangeArrowheads="1"/>
            </p:cNvSpPr>
            <p:nvPr/>
          </p:nvSpPr>
          <p:spPr bwMode="auto">
            <a:xfrm>
              <a:off x="1920"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D</a:t>
              </a:r>
              <a:endParaRPr lang="en-US" altLang="zh-CN" sz="1800" i="1">
                <a:latin typeface="Helvetica" panose="020B0604020202020204" pitchFamily="34" charset="0"/>
              </a:endParaRPr>
            </a:p>
          </p:txBody>
        </p:sp>
      </p:grpSp>
      <p:grpSp>
        <p:nvGrpSpPr>
          <p:cNvPr id="12" name="Group 10"/>
          <p:cNvGrpSpPr/>
          <p:nvPr/>
        </p:nvGrpSpPr>
        <p:grpSpPr bwMode="auto">
          <a:xfrm>
            <a:off x="3485571" y="2747963"/>
            <a:ext cx="1828800" cy="1371600"/>
            <a:chOff x="1056" y="1440"/>
            <a:chExt cx="1152" cy="864"/>
          </a:xfrm>
        </p:grpSpPr>
        <p:sp>
          <p:nvSpPr>
            <p:cNvPr id="13" name="Rectangle 11"/>
            <p:cNvSpPr>
              <a:spLocks noChangeArrowheads="1"/>
            </p:cNvSpPr>
            <p:nvPr/>
          </p:nvSpPr>
          <p:spPr bwMode="auto">
            <a:xfrm>
              <a:off x="1056"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14" name="Rectangle 12"/>
            <p:cNvSpPr>
              <a:spLocks noChangeArrowheads="1"/>
            </p:cNvSpPr>
            <p:nvPr/>
          </p:nvSpPr>
          <p:spPr bwMode="auto">
            <a:xfrm>
              <a:off x="1344"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4</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p:txBody>
        </p:sp>
        <p:sp>
          <p:nvSpPr>
            <p:cNvPr id="15" name="Rectangle 13"/>
            <p:cNvSpPr>
              <a:spLocks noChangeArrowheads="1"/>
            </p:cNvSpPr>
            <p:nvPr/>
          </p:nvSpPr>
          <p:spPr bwMode="auto">
            <a:xfrm>
              <a:off x="1632"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16" name="Rectangle 14"/>
            <p:cNvSpPr>
              <a:spLocks noChangeArrowheads="1"/>
            </p:cNvSpPr>
            <p:nvPr/>
          </p:nvSpPr>
          <p:spPr bwMode="auto">
            <a:xfrm>
              <a:off x="1920"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p:txBody>
        </p:sp>
      </p:grpSp>
      <p:grpSp>
        <p:nvGrpSpPr>
          <p:cNvPr id="17" name="Group 15"/>
          <p:cNvGrpSpPr/>
          <p:nvPr/>
        </p:nvGrpSpPr>
        <p:grpSpPr bwMode="auto">
          <a:xfrm>
            <a:off x="6990771" y="2062163"/>
            <a:ext cx="1371600" cy="533400"/>
            <a:chOff x="3264" y="1008"/>
            <a:chExt cx="864" cy="336"/>
          </a:xfrm>
        </p:grpSpPr>
        <p:sp>
          <p:nvSpPr>
            <p:cNvPr id="18" name="Rectangle 16"/>
            <p:cNvSpPr>
              <a:spLocks noChangeArrowheads="1"/>
            </p:cNvSpPr>
            <p:nvPr/>
          </p:nvSpPr>
          <p:spPr bwMode="auto">
            <a:xfrm>
              <a:off x="3264" y="1008"/>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B</a:t>
              </a:r>
              <a:endParaRPr lang="en-US" altLang="zh-CN" sz="1800" i="1">
                <a:latin typeface="Helvetica" panose="020B0604020202020204" pitchFamily="34" charset="0"/>
              </a:endParaRPr>
            </a:p>
          </p:txBody>
        </p:sp>
        <p:sp>
          <p:nvSpPr>
            <p:cNvPr id="19" name="Rectangle 17"/>
            <p:cNvSpPr>
              <a:spLocks noChangeArrowheads="1"/>
            </p:cNvSpPr>
            <p:nvPr/>
          </p:nvSpPr>
          <p:spPr bwMode="auto">
            <a:xfrm>
              <a:off x="3552" y="1008"/>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D</a:t>
              </a:r>
              <a:endParaRPr lang="en-US" altLang="zh-CN" sz="1800" i="1">
                <a:latin typeface="Helvetica" panose="020B0604020202020204" pitchFamily="34" charset="0"/>
              </a:endParaRPr>
            </a:p>
          </p:txBody>
        </p:sp>
        <p:sp>
          <p:nvSpPr>
            <p:cNvPr id="20" name="Rectangle 18"/>
            <p:cNvSpPr>
              <a:spLocks noChangeArrowheads="1"/>
            </p:cNvSpPr>
            <p:nvPr/>
          </p:nvSpPr>
          <p:spPr bwMode="auto">
            <a:xfrm>
              <a:off x="3840" y="1008"/>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E</a:t>
              </a:r>
              <a:endParaRPr lang="en-US" altLang="zh-CN" sz="1800" i="1">
                <a:latin typeface="Helvetica" panose="020B0604020202020204" pitchFamily="34" charset="0"/>
              </a:endParaRPr>
            </a:p>
          </p:txBody>
        </p:sp>
      </p:grpSp>
      <p:grpSp>
        <p:nvGrpSpPr>
          <p:cNvPr id="21" name="Group 19"/>
          <p:cNvGrpSpPr/>
          <p:nvPr/>
        </p:nvGrpSpPr>
        <p:grpSpPr bwMode="auto">
          <a:xfrm>
            <a:off x="6990771" y="2671763"/>
            <a:ext cx="1371600" cy="1447800"/>
            <a:chOff x="3264" y="1392"/>
            <a:chExt cx="864" cy="912"/>
          </a:xfrm>
        </p:grpSpPr>
        <p:sp>
          <p:nvSpPr>
            <p:cNvPr id="22" name="Rectangle 20"/>
            <p:cNvSpPr>
              <a:spLocks noChangeArrowheads="1"/>
            </p:cNvSpPr>
            <p:nvPr/>
          </p:nvSpPr>
          <p:spPr bwMode="auto">
            <a:xfrm>
              <a:off x="3264" y="1392"/>
              <a:ext cx="288" cy="91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3</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3</a:t>
              </a:r>
              <a:endParaRPr lang="en-US" altLang="zh-CN" sz="1800" i="1">
                <a:latin typeface="Helvetica" panose="020B0604020202020204" pitchFamily="34" charset="0"/>
                <a:sym typeface="Symbol" panose="05050102010706020507" pitchFamily="18" charset="2"/>
              </a:endParaRPr>
            </a:p>
          </p:txBody>
        </p:sp>
        <p:sp>
          <p:nvSpPr>
            <p:cNvPr id="23" name="Rectangle 21"/>
            <p:cNvSpPr>
              <a:spLocks noChangeArrowheads="1"/>
            </p:cNvSpPr>
            <p:nvPr/>
          </p:nvSpPr>
          <p:spPr bwMode="auto">
            <a:xfrm>
              <a:off x="3552" y="1392"/>
              <a:ext cx="288" cy="91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p:txBody>
        </p:sp>
        <p:sp>
          <p:nvSpPr>
            <p:cNvPr id="24" name="Rectangle 22"/>
            <p:cNvSpPr>
              <a:spLocks noChangeArrowheads="1"/>
            </p:cNvSpPr>
            <p:nvPr/>
          </p:nvSpPr>
          <p:spPr bwMode="auto">
            <a:xfrm>
              <a:off x="3840" y="1392"/>
              <a:ext cx="288" cy="91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b="1"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Arial" panose="020B0604020202020204" pitchFamily="34" charset="0"/>
                  <a:sym typeface="Symbol" panose="05050102010706020507" pitchFamily="18" charset="2"/>
                </a:rPr>
                <a:t>ε</a:t>
              </a:r>
              <a:endParaRPr lang="zh-CN" altLang="en-US" sz="1800" i="1">
                <a:latin typeface="Arial" panose="020B0604020202020204" pitchFamily="34" charset="0"/>
                <a:sym typeface="Symbol" panose="05050102010706020507" pitchFamily="18" charset="2"/>
              </a:endParaRPr>
            </a:p>
          </p:txBody>
        </p:sp>
      </p:grpSp>
      <p:sp>
        <p:nvSpPr>
          <p:cNvPr id="25" name="Text Box 23"/>
          <p:cNvSpPr txBox="1">
            <a:spLocks noChangeArrowheads="1"/>
          </p:cNvSpPr>
          <p:nvPr/>
        </p:nvSpPr>
        <p:spPr bwMode="auto">
          <a:xfrm>
            <a:off x="4171371" y="4119563"/>
            <a:ext cx="2603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800" i="1">
                <a:latin typeface="Helvetica" panose="020B0604020202020204" pitchFamily="34" charset="0"/>
              </a:rPr>
              <a:t>r</a:t>
            </a:r>
            <a:endParaRPr lang="en-US" altLang="zh-CN" sz="1800" i="1">
              <a:latin typeface="Helvetica" panose="020B0604020202020204" pitchFamily="34" charset="0"/>
            </a:endParaRPr>
          </a:p>
        </p:txBody>
      </p:sp>
      <p:grpSp>
        <p:nvGrpSpPr>
          <p:cNvPr id="26" name="Group 24"/>
          <p:cNvGrpSpPr/>
          <p:nvPr/>
        </p:nvGrpSpPr>
        <p:grpSpPr bwMode="auto">
          <a:xfrm>
            <a:off x="5161971" y="4802188"/>
            <a:ext cx="2176463" cy="496887"/>
            <a:chOff x="2112" y="2734"/>
            <a:chExt cx="1371" cy="313"/>
          </a:xfrm>
        </p:grpSpPr>
        <p:sp>
          <p:nvSpPr>
            <p:cNvPr id="27" name="Rectangle 25"/>
            <p:cNvSpPr>
              <a:spLocks noChangeArrowheads="1"/>
            </p:cNvSpPr>
            <p:nvPr/>
          </p:nvSpPr>
          <p:spPr bwMode="auto">
            <a:xfrm>
              <a:off x="2112"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A</a:t>
              </a:r>
              <a:endParaRPr lang="en-US" altLang="zh-CN" sz="1800" i="1">
                <a:latin typeface="Helvetica" panose="020B0604020202020204" pitchFamily="34" charset="0"/>
              </a:endParaRPr>
            </a:p>
          </p:txBody>
        </p:sp>
        <p:sp>
          <p:nvSpPr>
            <p:cNvPr id="28" name="Rectangle 26"/>
            <p:cNvSpPr>
              <a:spLocks noChangeArrowheads="1"/>
            </p:cNvSpPr>
            <p:nvPr/>
          </p:nvSpPr>
          <p:spPr bwMode="auto">
            <a:xfrm>
              <a:off x="2386"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B</a:t>
              </a:r>
              <a:endParaRPr lang="en-US" altLang="zh-CN" sz="1800" i="1">
                <a:latin typeface="Helvetica" panose="020B0604020202020204" pitchFamily="34" charset="0"/>
              </a:endParaRPr>
            </a:p>
          </p:txBody>
        </p:sp>
        <p:sp>
          <p:nvSpPr>
            <p:cNvPr id="29" name="Rectangle 27"/>
            <p:cNvSpPr>
              <a:spLocks noChangeArrowheads="1"/>
            </p:cNvSpPr>
            <p:nvPr/>
          </p:nvSpPr>
          <p:spPr bwMode="auto">
            <a:xfrm>
              <a:off x="2660" y="2734"/>
              <a:ext cx="275"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C</a:t>
              </a:r>
              <a:endParaRPr lang="en-US" altLang="zh-CN" sz="1800" i="1">
                <a:latin typeface="Helvetica" panose="020B0604020202020204" pitchFamily="34" charset="0"/>
              </a:endParaRPr>
            </a:p>
          </p:txBody>
        </p:sp>
        <p:sp>
          <p:nvSpPr>
            <p:cNvPr id="30" name="Rectangle 28"/>
            <p:cNvSpPr>
              <a:spLocks noChangeArrowheads="1"/>
            </p:cNvSpPr>
            <p:nvPr/>
          </p:nvSpPr>
          <p:spPr bwMode="auto">
            <a:xfrm>
              <a:off x="2935"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D</a:t>
              </a:r>
              <a:endParaRPr lang="en-US" altLang="zh-CN" sz="1800" i="1">
                <a:latin typeface="Helvetica" panose="020B0604020202020204" pitchFamily="34" charset="0"/>
              </a:endParaRPr>
            </a:p>
          </p:txBody>
        </p:sp>
        <p:sp>
          <p:nvSpPr>
            <p:cNvPr id="31" name="Rectangle 29"/>
            <p:cNvSpPr>
              <a:spLocks noChangeArrowheads="1"/>
            </p:cNvSpPr>
            <p:nvPr/>
          </p:nvSpPr>
          <p:spPr bwMode="auto">
            <a:xfrm>
              <a:off x="3209"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E</a:t>
              </a:r>
              <a:endParaRPr lang="en-US" altLang="zh-CN" sz="1800" i="1">
                <a:latin typeface="Helvetica" panose="020B0604020202020204" pitchFamily="34" charset="0"/>
              </a:endParaRPr>
            </a:p>
          </p:txBody>
        </p:sp>
      </p:grpSp>
      <p:grpSp>
        <p:nvGrpSpPr>
          <p:cNvPr id="32" name="Group 30"/>
          <p:cNvGrpSpPr/>
          <p:nvPr/>
        </p:nvGrpSpPr>
        <p:grpSpPr bwMode="auto">
          <a:xfrm>
            <a:off x="5161971" y="5370513"/>
            <a:ext cx="2176463" cy="1350962"/>
            <a:chOff x="2112" y="3092"/>
            <a:chExt cx="1371" cy="851"/>
          </a:xfrm>
        </p:grpSpPr>
        <p:sp>
          <p:nvSpPr>
            <p:cNvPr id="33" name="Rectangle 31"/>
            <p:cNvSpPr>
              <a:spLocks noChangeArrowheads="1"/>
            </p:cNvSpPr>
            <p:nvPr/>
          </p:nvSpPr>
          <p:spPr bwMode="auto">
            <a:xfrm>
              <a:off x="2112"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34" name="Rectangle 32"/>
            <p:cNvSpPr>
              <a:spLocks noChangeArrowheads="1"/>
            </p:cNvSpPr>
            <p:nvPr/>
          </p:nvSpPr>
          <p:spPr bwMode="auto">
            <a:xfrm>
              <a:off x="2386"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p:txBody>
        </p:sp>
        <p:sp>
          <p:nvSpPr>
            <p:cNvPr id="35" name="Rectangle 33"/>
            <p:cNvSpPr>
              <a:spLocks noChangeArrowheads="1"/>
            </p:cNvSpPr>
            <p:nvPr/>
          </p:nvSpPr>
          <p:spPr bwMode="auto">
            <a:xfrm>
              <a:off x="2660" y="3092"/>
              <a:ext cx="275"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36" name="Rectangle 34"/>
            <p:cNvSpPr>
              <a:spLocks noChangeArrowheads="1"/>
            </p:cNvSpPr>
            <p:nvPr/>
          </p:nvSpPr>
          <p:spPr bwMode="auto">
            <a:xfrm>
              <a:off x="2935"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p:txBody>
        </p:sp>
        <p:sp>
          <p:nvSpPr>
            <p:cNvPr id="37" name="Rectangle 35"/>
            <p:cNvSpPr>
              <a:spLocks noChangeArrowheads="1"/>
            </p:cNvSpPr>
            <p:nvPr/>
          </p:nvSpPr>
          <p:spPr bwMode="auto">
            <a:xfrm>
              <a:off x="3209"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grpSp>
      <p:sp>
        <p:nvSpPr>
          <p:cNvPr id="38" name="Text Box 36"/>
          <p:cNvSpPr txBox="1">
            <a:spLocks noChangeArrowheads="1"/>
          </p:cNvSpPr>
          <p:nvPr/>
        </p:nvSpPr>
        <p:spPr bwMode="auto">
          <a:xfrm>
            <a:off x="7524171" y="4119563"/>
            <a:ext cx="2984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800" i="1">
                <a:latin typeface="Helvetica" panose="020B0604020202020204" pitchFamily="34" charset="0"/>
              </a:rPr>
              <a:t>s</a:t>
            </a:r>
            <a:endParaRPr lang="en-US" altLang="zh-CN" sz="1800" i="1">
              <a:latin typeface="Helvetica" panose="020B0604020202020204" pitchFamily="34" charset="0"/>
            </a:endParaRPr>
          </a:p>
        </p:txBody>
      </p:sp>
      <p:grpSp>
        <p:nvGrpSpPr>
          <p:cNvPr id="40" name="Group 38"/>
          <p:cNvGrpSpPr/>
          <p:nvPr/>
        </p:nvGrpSpPr>
        <p:grpSpPr bwMode="auto">
          <a:xfrm>
            <a:off x="2628321" y="4703763"/>
            <a:ext cx="7029450" cy="409575"/>
            <a:chOff x="288" y="2688"/>
            <a:chExt cx="4428" cy="258"/>
          </a:xfrm>
        </p:grpSpPr>
        <p:sp>
          <p:nvSpPr>
            <p:cNvPr id="42" name="Rectangle 39"/>
            <p:cNvSpPr>
              <a:spLocks noChangeArrowheads="1"/>
            </p:cNvSpPr>
            <p:nvPr/>
          </p:nvSpPr>
          <p:spPr bwMode="auto">
            <a:xfrm>
              <a:off x="288" y="2688"/>
              <a:ext cx="4428"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35000"/>
                </a:spcBef>
                <a:buClr>
                  <a:schemeClr val="tx2"/>
                </a:buClr>
                <a:buSzPct val="90000"/>
                <a:buFont typeface="Monotype Sorts"/>
                <a:buChar char="n"/>
              </a:pPr>
              <a:endParaRPr kumimoji="1" lang="en-US" altLang="zh-CN" sz="1800" dirty="0">
                <a:latin typeface="Helvetica" panose="020B0604020202020204" pitchFamily="34" charset="0"/>
              </a:endParaRPr>
            </a:p>
          </p:txBody>
        </p:sp>
        <p:sp>
          <p:nvSpPr>
            <p:cNvPr id="43" name="AutoShape 40"/>
            <p:cNvSpPr>
              <a:spLocks noChangeArrowheads="1"/>
            </p:cNvSpPr>
            <p:nvPr/>
          </p:nvSpPr>
          <p:spPr bwMode="auto">
            <a:xfrm rot="16200000" flipV="1">
              <a:off x="470" y="2784"/>
              <a:ext cx="96" cy="96"/>
            </a:xfrm>
            <a:prstGeom prst="flowChartCollat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44" name="Group 42"/>
          <p:cNvGrpSpPr/>
          <p:nvPr/>
        </p:nvGrpSpPr>
        <p:grpSpPr bwMode="auto">
          <a:xfrm>
            <a:off x="4247571" y="2954852"/>
            <a:ext cx="2927350" cy="3090351"/>
            <a:chOff x="1536" y="1572"/>
            <a:chExt cx="1844" cy="1708"/>
          </a:xfrm>
        </p:grpSpPr>
        <p:sp>
          <p:nvSpPr>
            <p:cNvPr id="45" name="Line 43"/>
            <p:cNvSpPr>
              <a:spLocks noChangeShapeType="1"/>
            </p:cNvSpPr>
            <p:nvPr/>
          </p:nvSpPr>
          <p:spPr bwMode="auto">
            <a:xfrm flipH="1" flipV="1">
              <a:off x="1536" y="1990"/>
              <a:ext cx="956" cy="129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6" name="Line 44"/>
            <p:cNvSpPr>
              <a:spLocks noChangeShapeType="1"/>
            </p:cNvSpPr>
            <p:nvPr/>
          </p:nvSpPr>
          <p:spPr bwMode="auto">
            <a:xfrm flipV="1">
              <a:off x="2578" y="1572"/>
              <a:ext cx="802" cy="170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7" name="Group 45"/>
          <p:cNvGrpSpPr/>
          <p:nvPr/>
        </p:nvGrpSpPr>
        <p:grpSpPr bwMode="auto">
          <a:xfrm>
            <a:off x="5161971" y="2954339"/>
            <a:ext cx="2447925" cy="3090863"/>
            <a:chOff x="2112" y="1394"/>
            <a:chExt cx="1542" cy="1947"/>
          </a:xfrm>
        </p:grpSpPr>
        <p:sp>
          <p:nvSpPr>
            <p:cNvPr id="48" name="Line 46"/>
            <p:cNvSpPr>
              <a:spLocks noChangeShapeType="1"/>
            </p:cNvSpPr>
            <p:nvPr/>
          </p:nvSpPr>
          <p:spPr bwMode="auto">
            <a:xfrm flipH="1" flipV="1">
              <a:off x="2112" y="1930"/>
              <a:ext cx="932" cy="1411"/>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 name="Line 47"/>
            <p:cNvSpPr>
              <a:spLocks noChangeShapeType="1"/>
            </p:cNvSpPr>
            <p:nvPr/>
          </p:nvSpPr>
          <p:spPr bwMode="auto">
            <a:xfrm flipV="1">
              <a:off x="3123" y="1394"/>
              <a:ext cx="531" cy="191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mc:AlternateContent xmlns:mc="http://schemas.openxmlformats.org/markup-compatibility/2006">
        <mc:Choice xmlns:a14="http://schemas.microsoft.com/office/drawing/2010/main" Requires="a14">
          <p:sp>
            <p:nvSpPr>
              <p:cNvPr id="50" name="文本框 49"/>
              <p:cNvSpPr txBox="1"/>
              <p:nvPr/>
            </p:nvSpPr>
            <p:spPr>
              <a:xfrm>
                <a:off x="3749043" y="5227657"/>
                <a:ext cx="786369"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sty m:val="p"/>
                        </m:rPr>
                        <a:rPr lang="en-US" altLang="zh-CN" sz="2400">
                          <a:latin typeface="Cambria Math" panose="02040503050406030204" pitchFamily="18" charset="0"/>
                          <a:ea typeface="Cambria Math" panose="02040503050406030204" pitchFamily="18" charset="0"/>
                        </a:rPr>
                        <m:t>r</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𝑠</m:t>
                      </m:r>
                    </m:oMath>
                  </m:oMathPara>
                </a14:m>
                <a:endParaRPr lang="zh-CN" altLang="en-US" sz="2400" dirty="0"/>
              </a:p>
            </p:txBody>
          </p:sp>
        </mc:Choice>
        <mc:Fallback>
          <p:sp>
            <p:nvSpPr>
              <p:cNvPr id="50" name="文本框 49"/>
              <p:cNvSpPr txBox="1">
                <a:spLocks noRot="1" noChangeAspect="1" noMove="1" noResize="1" noEditPoints="1" noAdjustHandles="1" noChangeArrowheads="1" noChangeShapeType="1" noTextEdit="1"/>
              </p:cNvSpPr>
              <p:nvPr/>
            </p:nvSpPr>
            <p:spPr>
              <a:xfrm>
                <a:off x="3749043" y="5227657"/>
                <a:ext cx="786369" cy="369332"/>
              </a:xfrm>
              <a:prstGeom prst="rect">
                <a:avLst/>
              </a:prstGeom>
              <a:blipFill rotWithShape="1">
                <a:blip r:embed="rId1"/>
                <a:stretch>
                  <a:fillRect t="-91" r="-10871" b="2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5"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ppt_w</p:attrName>
                                        </p:attrNameLst>
                                      </p:cBhvr>
                                      <p:tavLst>
                                        <p:tav tm="0">
                                          <p:val>
                                            <p:fltVal val="0"/>
                                          </p:val>
                                        </p:tav>
                                        <p:tav tm="100000">
                                          <p:val>
                                            <p:strVal val="#ppt_w"/>
                                          </p:val>
                                        </p:tav>
                                      </p:tavLst>
                                    </p:anim>
                                    <p:anim calcmode="lin" valueType="num">
                                      <p:cBhvr>
                                        <p:cTn id="14" dur="1000" fill="hold"/>
                                        <p:tgtEl>
                                          <p:spTgt spid="7"/>
                                        </p:tgtEl>
                                        <p:attrNameLst>
                                          <p:attrName>ppt_h</p:attrName>
                                        </p:attrNameLst>
                                      </p:cBhvr>
                                      <p:tavLst>
                                        <p:tav tm="0">
                                          <p:val>
                                            <p:fltVal val="0"/>
                                          </p:val>
                                        </p:tav>
                                        <p:tav tm="100000">
                                          <p:val>
                                            <p:strVal val="#ppt_h"/>
                                          </p:val>
                                        </p:tav>
                                      </p:tavLst>
                                    </p:anim>
                                    <p:anim calcmode="lin" valueType="num">
                                      <p:cBhvr>
                                        <p:cTn id="15"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par>
                          <p:cTn id="17" fill="hold">
                            <p:stCondLst>
                              <p:cond delay="1000"/>
                            </p:stCondLst>
                            <p:childTnLst>
                              <p:par>
                                <p:cTn id="18" presetID="17" presetClass="entr" presetSubtype="2"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500" fill="hold"/>
                                        <p:tgtEl>
                                          <p:spTgt spid="12"/>
                                        </p:tgtEl>
                                        <p:attrNameLst>
                                          <p:attrName>ppt_x</p:attrName>
                                        </p:attrNameLst>
                                      </p:cBhvr>
                                      <p:tavLst>
                                        <p:tav tm="0">
                                          <p:val>
                                            <p:strVal val="#ppt_x+#ppt_w/2"/>
                                          </p:val>
                                        </p:tav>
                                        <p:tav tm="100000">
                                          <p:val>
                                            <p:strVal val="#ppt_x"/>
                                          </p:val>
                                        </p:tav>
                                      </p:tavLst>
                                    </p:anim>
                                    <p:anim calcmode="lin" valueType="num">
                                      <p:cBhvr>
                                        <p:cTn id="21" dur="500" fill="hold"/>
                                        <p:tgtEl>
                                          <p:spTgt spid="12"/>
                                        </p:tgtEl>
                                        <p:attrNameLst>
                                          <p:attrName>ppt_y</p:attrName>
                                        </p:attrNameLst>
                                      </p:cBhvr>
                                      <p:tavLst>
                                        <p:tav tm="0">
                                          <p:val>
                                            <p:strVal val="#ppt_y"/>
                                          </p:val>
                                        </p:tav>
                                        <p:tav tm="100000">
                                          <p:val>
                                            <p:strVal val="#ppt_y"/>
                                          </p:val>
                                        </p:tav>
                                      </p:tavLst>
                                    </p:anim>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strVal val="#ppt_h"/>
                                          </p:val>
                                        </p:tav>
                                        <p:tav tm="100000">
                                          <p:val>
                                            <p:strVal val="#ppt_h"/>
                                          </p:val>
                                        </p:tav>
                                      </p:tavLst>
                                    </p:anim>
                                  </p:childTnLst>
                                </p:cTn>
                              </p:par>
                            </p:childTnLst>
                          </p:cTn>
                        </p:par>
                        <p:par>
                          <p:cTn id="24" fill="hold">
                            <p:stCondLst>
                              <p:cond delay="1500"/>
                            </p:stCondLst>
                            <p:childTnLst>
                              <p:par>
                                <p:cTn id="25" presetID="9" presetClass="entr" presetSubtype="0"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dissolve">
                                      <p:cBhvr>
                                        <p:cTn id="27" dur="500"/>
                                        <p:tgtEl>
                                          <p:spTgt spid="25"/>
                                        </p:tgtEl>
                                      </p:cBhvr>
                                    </p:animEffect>
                                  </p:childTnLst>
                                </p:cTn>
                              </p:par>
                            </p:childTnLst>
                          </p:cTn>
                        </p:par>
                        <p:par>
                          <p:cTn id="28" fill="hold">
                            <p:stCondLst>
                              <p:cond delay="2000"/>
                            </p:stCondLst>
                            <p:childTnLst>
                              <p:par>
                                <p:cTn id="29" presetID="15" presetClass="entr" presetSubtype="0" fill="hold" nodeType="after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1000" fill="hold"/>
                                        <p:tgtEl>
                                          <p:spTgt spid="17"/>
                                        </p:tgtEl>
                                        <p:attrNameLst>
                                          <p:attrName>ppt_w</p:attrName>
                                        </p:attrNameLst>
                                      </p:cBhvr>
                                      <p:tavLst>
                                        <p:tav tm="0">
                                          <p:val>
                                            <p:fltVal val="0"/>
                                          </p:val>
                                        </p:tav>
                                        <p:tav tm="100000">
                                          <p:val>
                                            <p:strVal val="#ppt_w"/>
                                          </p:val>
                                        </p:tav>
                                      </p:tavLst>
                                    </p:anim>
                                    <p:anim calcmode="lin" valueType="num">
                                      <p:cBhvr>
                                        <p:cTn id="32" dur="1000" fill="hold"/>
                                        <p:tgtEl>
                                          <p:spTgt spid="17"/>
                                        </p:tgtEl>
                                        <p:attrNameLst>
                                          <p:attrName>ppt_h</p:attrName>
                                        </p:attrNameLst>
                                      </p:cBhvr>
                                      <p:tavLst>
                                        <p:tav tm="0">
                                          <p:val>
                                            <p:fltVal val="0"/>
                                          </p:val>
                                        </p:tav>
                                        <p:tav tm="100000">
                                          <p:val>
                                            <p:strVal val="#ppt_h"/>
                                          </p:val>
                                        </p:tav>
                                      </p:tavLst>
                                    </p:anim>
                                    <p:anim calcmode="lin" valueType="num">
                                      <p:cBhvr>
                                        <p:cTn id="33" dur="1000" fill="hold"/>
                                        <p:tgtEl>
                                          <p:spTgt spid="17"/>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17"/>
                                        </p:tgtEl>
                                        <p:attrNameLst>
                                          <p:attrName>ppt_y</p:attrName>
                                        </p:attrNameLst>
                                      </p:cBhvr>
                                      <p:tavLst>
                                        <p:tav tm="0" fmla="#ppt_y+(sin(-2*pi*(1-$))*-#ppt_x+cos(-2*pi*(1-$))*(1-#ppt_y))*(1-$)">
                                          <p:val>
                                            <p:fltVal val="0"/>
                                          </p:val>
                                        </p:tav>
                                        <p:tav tm="100000">
                                          <p:val>
                                            <p:fltVal val="1"/>
                                          </p:val>
                                        </p:tav>
                                      </p:tavLst>
                                    </p:anim>
                                  </p:childTnLst>
                                </p:cTn>
                              </p:par>
                            </p:childTnLst>
                          </p:cTn>
                        </p:par>
                        <p:par>
                          <p:cTn id="35" fill="hold">
                            <p:stCondLst>
                              <p:cond delay="3000"/>
                            </p:stCondLst>
                            <p:childTnLst>
                              <p:par>
                                <p:cTn id="36" presetID="16" presetClass="entr" presetSubtype="21" fill="hold" nodeType="after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arn(inVertical)">
                                      <p:cBhvr>
                                        <p:cTn id="38" dur="500"/>
                                        <p:tgtEl>
                                          <p:spTgt spid="21"/>
                                        </p:tgtEl>
                                      </p:cBhvr>
                                    </p:animEffect>
                                  </p:childTnLst>
                                </p:cTn>
                              </p:par>
                            </p:childTnLst>
                          </p:cTn>
                        </p:par>
                        <p:par>
                          <p:cTn id="39" fill="hold">
                            <p:stCondLst>
                              <p:cond delay="3500"/>
                            </p:stCondLst>
                            <p:childTnLst>
                              <p:par>
                                <p:cTn id="40" presetID="9" presetClass="entr" presetSubtype="0" fill="hold" grpId="0"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dissolve">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15" presetClass="entr" presetSubtype="0"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p:cTn id="47" dur="1000" fill="hold"/>
                                        <p:tgtEl>
                                          <p:spTgt spid="26"/>
                                        </p:tgtEl>
                                        <p:attrNameLst>
                                          <p:attrName>ppt_w</p:attrName>
                                        </p:attrNameLst>
                                      </p:cBhvr>
                                      <p:tavLst>
                                        <p:tav tm="0">
                                          <p:val>
                                            <p:fltVal val="0"/>
                                          </p:val>
                                        </p:tav>
                                        <p:tav tm="100000">
                                          <p:val>
                                            <p:strVal val="#ppt_w"/>
                                          </p:val>
                                        </p:tav>
                                      </p:tavLst>
                                    </p:anim>
                                    <p:anim calcmode="lin" valueType="num">
                                      <p:cBhvr>
                                        <p:cTn id="48" dur="1000" fill="hold"/>
                                        <p:tgtEl>
                                          <p:spTgt spid="26"/>
                                        </p:tgtEl>
                                        <p:attrNameLst>
                                          <p:attrName>ppt_h</p:attrName>
                                        </p:attrNameLst>
                                      </p:cBhvr>
                                      <p:tavLst>
                                        <p:tav tm="0">
                                          <p:val>
                                            <p:fltVal val="0"/>
                                          </p:val>
                                        </p:tav>
                                        <p:tav tm="100000">
                                          <p:val>
                                            <p:strVal val="#ppt_h"/>
                                          </p:val>
                                        </p:tav>
                                      </p:tavLst>
                                    </p:anim>
                                    <p:anim calcmode="lin" valueType="num">
                                      <p:cBhvr>
                                        <p:cTn id="49" dur="1000" fill="hold"/>
                                        <p:tgtEl>
                                          <p:spTgt spid="26"/>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2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1" fill="hold">
                      <p:stCondLst>
                        <p:cond delay="indefinite"/>
                      </p:stCondLst>
                      <p:childTnLst>
                        <p:par>
                          <p:cTn id="52" fill="hold">
                            <p:stCondLst>
                              <p:cond delay="0"/>
                            </p:stCondLst>
                            <p:childTnLst>
                              <p:par>
                                <p:cTn id="53" presetID="15" presetClass="entr" presetSubtype="0"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anim calcmode="lin" valueType="num">
                                      <p:cBhvr>
                                        <p:cTn id="55" dur="1000" fill="hold"/>
                                        <p:tgtEl>
                                          <p:spTgt spid="32"/>
                                        </p:tgtEl>
                                        <p:attrNameLst>
                                          <p:attrName>ppt_w</p:attrName>
                                        </p:attrNameLst>
                                      </p:cBhvr>
                                      <p:tavLst>
                                        <p:tav tm="0">
                                          <p:val>
                                            <p:fltVal val="0"/>
                                          </p:val>
                                        </p:tav>
                                        <p:tav tm="100000">
                                          <p:val>
                                            <p:strVal val="#ppt_w"/>
                                          </p:val>
                                        </p:tav>
                                      </p:tavLst>
                                    </p:anim>
                                    <p:anim calcmode="lin" valueType="num">
                                      <p:cBhvr>
                                        <p:cTn id="56" dur="1000" fill="hold"/>
                                        <p:tgtEl>
                                          <p:spTgt spid="32"/>
                                        </p:tgtEl>
                                        <p:attrNameLst>
                                          <p:attrName>ppt_h</p:attrName>
                                        </p:attrNameLst>
                                      </p:cBhvr>
                                      <p:tavLst>
                                        <p:tav tm="0">
                                          <p:val>
                                            <p:fltVal val="0"/>
                                          </p:val>
                                        </p:tav>
                                        <p:tav tm="100000">
                                          <p:val>
                                            <p:strVal val="#ppt_h"/>
                                          </p:val>
                                        </p:tav>
                                      </p:tavLst>
                                    </p:anim>
                                    <p:anim calcmode="lin" valueType="num">
                                      <p:cBhvr>
                                        <p:cTn id="57" dur="1000" fill="hold"/>
                                        <p:tgtEl>
                                          <p:spTgt spid="32"/>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3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wipe(down)">
                                      <p:cBhvr>
                                        <p:cTn id="63" dur="500"/>
                                        <p:tgtEl>
                                          <p:spTgt spid="44"/>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47"/>
                                        </p:tgtEl>
                                        <p:attrNameLst>
                                          <p:attrName>style.visibility</p:attrName>
                                        </p:attrNameLst>
                                      </p:cBhvr>
                                      <p:to>
                                        <p:strVal val="visible"/>
                                      </p:to>
                                    </p:set>
                                    <p:animEffect transition="in" filter="wipe(down)">
                                      <p:cBhvr>
                                        <p:cTn id="68"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build="p"/>
      <p:bldP spid="25" grpId="0" autoUpdateAnimBg="0"/>
      <p:bldP spid="38"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专门的关系运算</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
        <p:nvSpPr>
          <p:cNvPr id="6" name="Rectangle 4"/>
          <p:cNvSpPr>
            <a:spLocks noChangeArrowheads="1"/>
          </p:cNvSpPr>
          <p:nvPr/>
        </p:nvSpPr>
        <p:spPr bwMode="auto">
          <a:xfrm>
            <a:off x="2571171" y="1528763"/>
            <a:ext cx="6843713" cy="382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r>
              <a:rPr lang="en-US" altLang="zh-CN" dirty="0"/>
              <a:t>Relations r, s:</a:t>
            </a:r>
            <a:endParaRPr lang="en-US" altLang="zh-CN" dirty="0"/>
          </a:p>
        </p:txBody>
      </p:sp>
      <p:grpSp>
        <p:nvGrpSpPr>
          <p:cNvPr id="7" name="Group 5"/>
          <p:cNvGrpSpPr/>
          <p:nvPr/>
        </p:nvGrpSpPr>
        <p:grpSpPr bwMode="auto">
          <a:xfrm>
            <a:off x="3485571" y="2138363"/>
            <a:ext cx="1828800" cy="533400"/>
            <a:chOff x="1056" y="1056"/>
            <a:chExt cx="1152" cy="336"/>
          </a:xfrm>
        </p:grpSpPr>
        <p:sp>
          <p:nvSpPr>
            <p:cNvPr id="8" name="Rectangle 6"/>
            <p:cNvSpPr>
              <a:spLocks noChangeArrowheads="1"/>
            </p:cNvSpPr>
            <p:nvPr/>
          </p:nvSpPr>
          <p:spPr bwMode="auto">
            <a:xfrm>
              <a:off x="1056"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A</a:t>
              </a:r>
              <a:endParaRPr lang="en-US" altLang="zh-CN" sz="1800" i="1">
                <a:latin typeface="Helvetica" panose="020B0604020202020204" pitchFamily="34" charset="0"/>
              </a:endParaRPr>
            </a:p>
          </p:txBody>
        </p:sp>
        <p:sp>
          <p:nvSpPr>
            <p:cNvPr id="9" name="Rectangle 7"/>
            <p:cNvSpPr>
              <a:spLocks noChangeArrowheads="1"/>
            </p:cNvSpPr>
            <p:nvPr/>
          </p:nvSpPr>
          <p:spPr bwMode="auto">
            <a:xfrm>
              <a:off x="1344"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B</a:t>
              </a:r>
              <a:endParaRPr lang="en-US" altLang="zh-CN" sz="1800" i="1">
                <a:latin typeface="Helvetica" panose="020B0604020202020204" pitchFamily="34" charset="0"/>
              </a:endParaRPr>
            </a:p>
          </p:txBody>
        </p:sp>
        <p:sp>
          <p:nvSpPr>
            <p:cNvPr id="10" name="Rectangle 8"/>
            <p:cNvSpPr>
              <a:spLocks noChangeArrowheads="1"/>
            </p:cNvSpPr>
            <p:nvPr/>
          </p:nvSpPr>
          <p:spPr bwMode="auto">
            <a:xfrm>
              <a:off x="1632"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C</a:t>
              </a:r>
              <a:endParaRPr lang="en-US" altLang="zh-CN" sz="1800" i="1">
                <a:latin typeface="Helvetica" panose="020B0604020202020204" pitchFamily="34" charset="0"/>
              </a:endParaRPr>
            </a:p>
          </p:txBody>
        </p:sp>
        <p:sp>
          <p:nvSpPr>
            <p:cNvPr id="11" name="Rectangle 9"/>
            <p:cNvSpPr>
              <a:spLocks noChangeArrowheads="1"/>
            </p:cNvSpPr>
            <p:nvPr/>
          </p:nvSpPr>
          <p:spPr bwMode="auto">
            <a:xfrm>
              <a:off x="1920"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D</a:t>
              </a:r>
              <a:endParaRPr lang="en-US" altLang="zh-CN" sz="1800" i="1">
                <a:latin typeface="Helvetica" panose="020B0604020202020204" pitchFamily="34" charset="0"/>
              </a:endParaRPr>
            </a:p>
          </p:txBody>
        </p:sp>
      </p:grpSp>
      <p:grpSp>
        <p:nvGrpSpPr>
          <p:cNvPr id="12" name="Group 10"/>
          <p:cNvGrpSpPr/>
          <p:nvPr/>
        </p:nvGrpSpPr>
        <p:grpSpPr bwMode="auto">
          <a:xfrm>
            <a:off x="3485571" y="2747963"/>
            <a:ext cx="1828800" cy="1371600"/>
            <a:chOff x="1056" y="1440"/>
            <a:chExt cx="1152" cy="864"/>
          </a:xfrm>
        </p:grpSpPr>
        <p:sp>
          <p:nvSpPr>
            <p:cNvPr id="13" name="Rectangle 11"/>
            <p:cNvSpPr>
              <a:spLocks noChangeArrowheads="1"/>
            </p:cNvSpPr>
            <p:nvPr/>
          </p:nvSpPr>
          <p:spPr bwMode="auto">
            <a:xfrm>
              <a:off x="1056"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14" name="Rectangle 12"/>
            <p:cNvSpPr>
              <a:spLocks noChangeArrowheads="1"/>
            </p:cNvSpPr>
            <p:nvPr/>
          </p:nvSpPr>
          <p:spPr bwMode="auto">
            <a:xfrm>
              <a:off x="1344"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4</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p:txBody>
        </p:sp>
        <p:sp>
          <p:nvSpPr>
            <p:cNvPr id="15" name="Rectangle 13"/>
            <p:cNvSpPr>
              <a:spLocks noChangeArrowheads="1"/>
            </p:cNvSpPr>
            <p:nvPr/>
          </p:nvSpPr>
          <p:spPr bwMode="auto">
            <a:xfrm>
              <a:off x="1632"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16" name="Rectangle 14"/>
            <p:cNvSpPr>
              <a:spLocks noChangeArrowheads="1"/>
            </p:cNvSpPr>
            <p:nvPr/>
          </p:nvSpPr>
          <p:spPr bwMode="auto">
            <a:xfrm>
              <a:off x="1920"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p:txBody>
        </p:sp>
      </p:grpSp>
      <p:grpSp>
        <p:nvGrpSpPr>
          <p:cNvPr id="17" name="Group 15"/>
          <p:cNvGrpSpPr/>
          <p:nvPr/>
        </p:nvGrpSpPr>
        <p:grpSpPr bwMode="auto">
          <a:xfrm>
            <a:off x="6990771" y="2062163"/>
            <a:ext cx="1371600" cy="533400"/>
            <a:chOff x="3264" y="1008"/>
            <a:chExt cx="864" cy="336"/>
          </a:xfrm>
        </p:grpSpPr>
        <p:sp>
          <p:nvSpPr>
            <p:cNvPr id="18" name="Rectangle 16"/>
            <p:cNvSpPr>
              <a:spLocks noChangeArrowheads="1"/>
            </p:cNvSpPr>
            <p:nvPr/>
          </p:nvSpPr>
          <p:spPr bwMode="auto">
            <a:xfrm>
              <a:off x="3264" y="1008"/>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B</a:t>
              </a:r>
              <a:endParaRPr lang="en-US" altLang="zh-CN" sz="1800" i="1">
                <a:latin typeface="Helvetica" panose="020B0604020202020204" pitchFamily="34" charset="0"/>
              </a:endParaRPr>
            </a:p>
          </p:txBody>
        </p:sp>
        <p:sp>
          <p:nvSpPr>
            <p:cNvPr id="19" name="Rectangle 17"/>
            <p:cNvSpPr>
              <a:spLocks noChangeArrowheads="1"/>
            </p:cNvSpPr>
            <p:nvPr/>
          </p:nvSpPr>
          <p:spPr bwMode="auto">
            <a:xfrm>
              <a:off x="3552" y="1008"/>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D</a:t>
              </a:r>
              <a:endParaRPr lang="en-US" altLang="zh-CN" sz="1800" i="1">
                <a:latin typeface="Helvetica" panose="020B0604020202020204" pitchFamily="34" charset="0"/>
              </a:endParaRPr>
            </a:p>
          </p:txBody>
        </p:sp>
        <p:sp>
          <p:nvSpPr>
            <p:cNvPr id="20" name="Rectangle 18"/>
            <p:cNvSpPr>
              <a:spLocks noChangeArrowheads="1"/>
            </p:cNvSpPr>
            <p:nvPr/>
          </p:nvSpPr>
          <p:spPr bwMode="auto">
            <a:xfrm>
              <a:off x="3840" y="1008"/>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E</a:t>
              </a:r>
              <a:endParaRPr lang="en-US" altLang="zh-CN" sz="1800" i="1">
                <a:latin typeface="Helvetica" panose="020B0604020202020204" pitchFamily="34" charset="0"/>
              </a:endParaRPr>
            </a:p>
          </p:txBody>
        </p:sp>
      </p:grpSp>
      <p:grpSp>
        <p:nvGrpSpPr>
          <p:cNvPr id="21" name="Group 19"/>
          <p:cNvGrpSpPr/>
          <p:nvPr/>
        </p:nvGrpSpPr>
        <p:grpSpPr bwMode="auto">
          <a:xfrm>
            <a:off x="6990771" y="2671763"/>
            <a:ext cx="1371600" cy="1447800"/>
            <a:chOff x="3264" y="1392"/>
            <a:chExt cx="864" cy="912"/>
          </a:xfrm>
        </p:grpSpPr>
        <p:sp>
          <p:nvSpPr>
            <p:cNvPr id="22" name="Rectangle 20"/>
            <p:cNvSpPr>
              <a:spLocks noChangeArrowheads="1"/>
            </p:cNvSpPr>
            <p:nvPr/>
          </p:nvSpPr>
          <p:spPr bwMode="auto">
            <a:xfrm>
              <a:off x="3264" y="1392"/>
              <a:ext cx="288" cy="91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3</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3</a:t>
              </a:r>
              <a:endParaRPr lang="en-US" altLang="zh-CN" sz="1800" i="1">
                <a:latin typeface="Helvetica" panose="020B0604020202020204" pitchFamily="34" charset="0"/>
                <a:sym typeface="Symbol" panose="05050102010706020507" pitchFamily="18" charset="2"/>
              </a:endParaRPr>
            </a:p>
          </p:txBody>
        </p:sp>
        <p:sp>
          <p:nvSpPr>
            <p:cNvPr id="23" name="Rectangle 21"/>
            <p:cNvSpPr>
              <a:spLocks noChangeArrowheads="1"/>
            </p:cNvSpPr>
            <p:nvPr/>
          </p:nvSpPr>
          <p:spPr bwMode="auto">
            <a:xfrm>
              <a:off x="3552" y="1392"/>
              <a:ext cx="288" cy="91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p:txBody>
        </p:sp>
        <p:sp>
          <p:nvSpPr>
            <p:cNvPr id="24" name="Rectangle 22"/>
            <p:cNvSpPr>
              <a:spLocks noChangeArrowheads="1"/>
            </p:cNvSpPr>
            <p:nvPr/>
          </p:nvSpPr>
          <p:spPr bwMode="auto">
            <a:xfrm>
              <a:off x="3840" y="1392"/>
              <a:ext cx="288" cy="91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b="1"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Arial" panose="020B0604020202020204" pitchFamily="34" charset="0"/>
                  <a:sym typeface="Symbol" panose="05050102010706020507" pitchFamily="18" charset="2"/>
                </a:rPr>
                <a:t>ε</a:t>
              </a:r>
              <a:endParaRPr lang="zh-CN" altLang="en-US" sz="1800" i="1">
                <a:latin typeface="Arial" panose="020B0604020202020204" pitchFamily="34" charset="0"/>
                <a:sym typeface="Symbol" panose="05050102010706020507" pitchFamily="18" charset="2"/>
              </a:endParaRPr>
            </a:p>
          </p:txBody>
        </p:sp>
      </p:grpSp>
      <p:sp>
        <p:nvSpPr>
          <p:cNvPr id="25" name="Text Box 23"/>
          <p:cNvSpPr txBox="1">
            <a:spLocks noChangeArrowheads="1"/>
          </p:cNvSpPr>
          <p:nvPr/>
        </p:nvSpPr>
        <p:spPr bwMode="auto">
          <a:xfrm>
            <a:off x="4171371" y="4119563"/>
            <a:ext cx="2603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800" i="1">
                <a:latin typeface="Helvetica" panose="020B0604020202020204" pitchFamily="34" charset="0"/>
              </a:rPr>
              <a:t>r</a:t>
            </a:r>
            <a:endParaRPr lang="en-US" altLang="zh-CN" sz="1800" i="1">
              <a:latin typeface="Helvetica" panose="020B0604020202020204" pitchFamily="34" charset="0"/>
            </a:endParaRPr>
          </a:p>
        </p:txBody>
      </p:sp>
      <p:grpSp>
        <p:nvGrpSpPr>
          <p:cNvPr id="26" name="Group 24"/>
          <p:cNvGrpSpPr/>
          <p:nvPr/>
        </p:nvGrpSpPr>
        <p:grpSpPr bwMode="auto">
          <a:xfrm>
            <a:off x="5161971" y="4802188"/>
            <a:ext cx="2176463" cy="496887"/>
            <a:chOff x="2112" y="2734"/>
            <a:chExt cx="1371" cy="313"/>
          </a:xfrm>
        </p:grpSpPr>
        <p:sp>
          <p:nvSpPr>
            <p:cNvPr id="27" name="Rectangle 25"/>
            <p:cNvSpPr>
              <a:spLocks noChangeArrowheads="1"/>
            </p:cNvSpPr>
            <p:nvPr/>
          </p:nvSpPr>
          <p:spPr bwMode="auto">
            <a:xfrm>
              <a:off x="2112"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A</a:t>
              </a:r>
              <a:endParaRPr lang="en-US" altLang="zh-CN" sz="1800" i="1">
                <a:latin typeface="Helvetica" panose="020B0604020202020204" pitchFamily="34" charset="0"/>
              </a:endParaRPr>
            </a:p>
          </p:txBody>
        </p:sp>
        <p:sp>
          <p:nvSpPr>
            <p:cNvPr id="28" name="Rectangle 26"/>
            <p:cNvSpPr>
              <a:spLocks noChangeArrowheads="1"/>
            </p:cNvSpPr>
            <p:nvPr/>
          </p:nvSpPr>
          <p:spPr bwMode="auto">
            <a:xfrm>
              <a:off x="2386"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B</a:t>
              </a:r>
              <a:endParaRPr lang="en-US" altLang="zh-CN" sz="1800" i="1">
                <a:latin typeface="Helvetica" panose="020B0604020202020204" pitchFamily="34" charset="0"/>
              </a:endParaRPr>
            </a:p>
          </p:txBody>
        </p:sp>
        <p:sp>
          <p:nvSpPr>
            <p:cNvPr id="29" name="Rectangle 27"/>
            <p:cNvSpPr>
              <a:spLocks noChangeArrowheads="1"/>
            </p:cNvSpPr>
            <p:nvPr/>
          </p:nvSpPr>
          <p:spPr bwMode="auto">
            <a:xfrm>
              <a:off x="2660" y="2734"/>
              <a:ext cx="275"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C</a:t>
              </a:r>
              <a:endParaRPr lang="en-US" altLang="zh-CN" sz="1800" i="1">
                <a:latin typeface="Helvetica" panose="020B0604020202020204" pitchFamily="34" charset="0"/>
              </a:endParaRPr>
            </a:p>
          </p:txBody>
        </p:sp>
        <p:sp>
          <p:nvSpPr>
            <p:cNvPr id="30" name="Rectangle 28"/>
            <p:cNvSpPr>
              <a:spLocks noChangeArrowheads="1"/>
            </p:cNvSpPr>
            <p:nvPr/>
          </p:nvSpPr>
          <p:spPr bwMode="auto">
            <a:xfrm>
              <a:off x="2935"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D</a:t>
              </a:r>
              <a:endParaRPr lang="en-US" altLang="zh-CN" sz="1800" i="1">
                <a:latin typeface="Helvetica" panose="020B0604020202020204" pitchFamily="34" charset="0"/>
              </a:endParaRPr>
            </a:p>
          </p:txBody>
        </p:sp>
        <p:sp>
          <p:nvSpPr>
            <p:cNvPr id="31" name="Rectangle 29"/>
            <p:cNvSpPr>
              <a:spLocks noChangeArrowheads="1"/>
            </p:cNvSpPr>
            <p:nvPr/>
          </p:nvSpPr>
          <p:spPr bwMode="auto">
            <a:xfrm>
              <a:off x="3209"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E</a:t>
              </a:r>
              <a:endParaRPr lang="en-US" altLang="zh-CN" sz="1800" i="1">
                <a:latin typeface="Helvetica" panose="020B0604020202020204" pitchFamily="34" charset="0"/>
              </a:endParaRPr>
            </a:p>
          </p:txBody>
        </p:sp>
      </p:grpSp>
      <p:grpSp>
        <p:nvGrpSpPr>
          <p:cNvPr id="32" name="Group 30"/>
          <p:cNvGrpSpPr/>
          <p:nvPr/>
        </p:nvGrpSpPr>
        <p:grpSpPr bwMode="auto">
          <a:xfrm>
            <a:off x="5161971" y="5370513"/>
            <a:ext cx="2176463" cy="1350962"/>
            <a:chOff x="2112" y="3092"/>
            <a:chExt cx="1371" cy="851"/>
          </a:xfrm>
        </p:grpSpPr>
        <p:sp>
          <p:nvSpPr>
            <p:cNvPr id="33" name="Rectangle 31"/>
            <p:cNvSpPr>
              <a:spLocks noChangeArrowheads="1"/>
            </p:cNvSpPr>
            <p:nvPr/>
          </p:nvSpPr>
          <p:spPr bwMode="auto">
            <a:xfrm>
              <a:off x="2112"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34" name="Rectangle 32"/>
            <p:cNvSpPr>
              <a:spLocks noChangeArrowheads="1"/>
            </p:cNvSpPr>
            <p:nvPr/>
          </p:nvSpPr>
          <p:spPr bwMode="auto">
            <a:xfrm>
              <a:off x="2386"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p:txBody>
        </p:sp>
        <p:sp>
          <p:nvSpPr>
            <p:cNvPr id="35" name="Rectangle 33"/>
            <p:cNvSpPr>
              <a:spLocks noChangeArrowheads="1"/>
            </p:cNvSpPr>
            <p:nvPr/>
          </p:nvSpPr>
          <p:spPr bwMode="auto">
            <a:xfrm>
              <a:off x="2660" y="3092"/>
              <a:ext cx="275"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36" name="Rectangle 34"/>
            <p:cNvSpPr>
              <a:spLocks noChangeArrowheads="1"/>
            </p:cNvSpPr>
            <p:nvPr/>
          </p:nvSpPr>
          <p:spPr bwMode="auto">
            <a:xfrm>
              <a:off x="2935"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p:txBody>
        </p:sp>
        <p:sp>
          <p:nvSpPr>
            <p:cNvPr id="37" name="Rectangle 35"/>
            <p:cNvSpPr>
              <a:spLocks noChangeArrowheads="1"/>
            </p:cNvSpPr>
            <p:nvPr/>
          </p:nvSpPr>
          <p:spPr bwMode="auto">
            <a:xfrm>
              <a:off x="3209"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grpSp>
      <p:sp>
        <p:nvSpPr>
          <p:cNvPr id="38" name="Text Box 36"/>
          <p:cNvSpPr txBox="1">
            <a:spLocks noChangeArrowheads="1"/>
          </p:cNvSpPr>
          <p:nvPr/>
        </p:nvSpPr>
        <p:spPr bwMode="auto">
          <a:xfrm>
            <a:off x="7524171" y="4119563"/>
            <a:ext cx="2984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800" i="1">
                <a:latin typeface="Helvetica" panose="020B0604020202020204" pitchFamily="34" charset="0"/>
              </a:rPr>
              <a:t>s</a:t>
            </a:r>
            <a:endParaRPr lang="en-US" altLang="zh-CN" sz="1800" i="1">
              <a:latin typeface="Helvetica" panose="020B0604020202020204" pitchFamily="34" charset="0"/>
            </a:endParaRPr>
          </a:p>
        </p:txBody>
      </p:sp>
      <p:grpSp>
        <p:nvGrpSpPr>
          <p:cNvPr id="40" name="Group 38"/>
          <p:cNvGrpSpPr/>
          <p:nvPr/>
        </p:nvGrpSpPr>
        <p:grpSpPr bwMode="auto">
          <a:xfrm>
            <a:off x="2628321" y="4703763"/>
            <a:ext cx="7029450" cy="409575"/>
            <a:chOff x="288" y="2688"/>
            <a:chExt cx="4428" cy="258"/>
          </a:xfrm>
        </p:grpSpPr>
        <p:sp>
          <p:nvSpPr>
            <p:cNvPr id="42" name="Rectangle 39"/>
            <p:cNvSpPr>
              <a:spLocks noChangeArrowheads="1"/>
            </p:cNvSpPr>
            <p:nvPr/>
          </p:nvSpPr>
          <p:spPr bwMode="auto">
            <a:xfrm>
              <a:off x="288" y="2688"/>
              <a:ext cx="4428"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35000"/>
                </a:spcBef>
                <a:buClr>
                  <a:schemeClr val="tx2"/>
                </a:buClr>
                <a:buSzPct val="90000"/>
                <a:buFont typeface="Monotype Sorts"/>
                <a:buChar char="n"/>
              </a:pPr>
              <a:endParaRPr kumimoji="1" lang="en-US" altLang="zh-CN" sz="1800" dirty="0">
                <a:latin typeface="Helvetica" panose="020B0604020202020204" pitchFamily="34" charset="0"/>
              </a:endParaRPr>
            </a:p>
          </p:txBody>
        </p:sp>
        <p:sp>
          <p:nvSpPr>
            <p:cNvPr id="43" name="AutoShape 40"/>
            <p:cNvSpPr>
              <a:spLocks noChangeArrowheads="1"/>
            </p:cNvSpPr>
            <p:nvPr/>
          </p:nvSpPr>
          <p:spPr bwMode="auto">
            <a:xfrm rot="16200000" flipV="1">
              <a:off x="470" y="2784"/>
              <a:ext cx="96" cy="96"/>
            </a:xfrm>
            <a:prstGeom prst="flowChartCollat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44" name="Group 42"/>
          <p:cNvGrpSpPr/>
          <p:nvPr/>
        </p:nvGrpSpPr>
        <p:grpSpPr bwMode="auto">
          <a:xfrm>
            <a:off x="4247571" y="3428899"/>
            <a:ext cx="2905125" cy="2898561"/>
            <a:chOff x="1536" y="1834"/>
            <a:chExt cx="1830" cy="1602"/>
          </a:xfrm>
        </p:grpSpPr>
        <p:sp>
          <p:nvSpPr>
            <p:cNvPr id="45" name="Line 43"/>
            <p:cNvSpPr>
              <a:spLocks noChangeShapeType="1"/>
            </p:cNvSpPr>
            <p:nvPr/>
          </p:nvSpPr>
          <p:spPr bwMode="auto">
            <a:xfrm flipH="1" flipV="1">
              <a:off x="1536" y="1990"/>
              <a:ext cx="949" cy="144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6" name="Line 44"/>
            <p:cNvSpPr>
              <a:spLocks noChangeShapeType="1"/>
            </p:cNvSpPr>
            <p:nvPr/>
          </p:nvSpPr>
          <p:spPr bwMode="auto">
            <a:xfrm flipV="1">
              <a:off x="2578" y="1834"/>
              <a:ext cx="788" cy="155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7" name="Group 45"/>
          <p:cNvGrpSpPr/>
          <p:nvPr/>
        </p:nvGrpSpPr>
        <p:grpSpPr bwMode="auto">
          <a:xfrm>
            <a:off x="5161972" y="3429001"/>
            <a:ext cx="2382838" cy="2819400"/>
            <a:chOff x="2112" y="1693"/>
            <a:chExt cx="1501" cy="1776"/>
          </a:xfrm>
        </p:grpSpPr>
        <p:sp>
          <p:nvSpPr>
            <p:cNvPr id="48" name="Line 46"/>
            <p:cNvSpPr>
              <a:spLocks noChangeShapeType="1"/>
            </p:cNvSpPr>
            <p:nvPr/>
          </p:nvSpPr>
          <p:spPr bwMode="auto">
            <a:xfrm flipH="1" flipV="1">
              <a:off x="2112" y="1930"/>
              <a:ext cx="918" cy="1539"/>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 name="Line 47"/>
            <p:cNvSpPr>
              <a:spLocks noChangeShapeType="1"/>
            </p:cNvSpPr>
            <p:nvPr/>
          </p:nvSpPr>
          <p:spPr bwMode="auto">
            <a:xfrm flipV="1">
              <a:off x="3103" y="1693"/>
              <a:ext cx="510" cy="177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mc:AlternateContent xmlns:mc="http://schemas.openxmlformats.org/markup-compatibility/2006">
        <mc:Choice xmlns:a14="http://schemas.microsoft.com/office/drawing/2010/main" Requires="a14">
          <p:sp>
            <p:nvSpPr>
              <p:cNvPr id="50" name="文本框 49"/>
              <p:cNvSpPr txBox="1"/>
              <p:nvPr/>
            </p:nvSpPr>
            <p:spPr>
              <a:xfrm>
                <a:off x="3749043" y="5227657"/>
                <a:ext cx="786369"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sty m:val="p"/>
                        </m:rPr>
                        <a:rPr lang="en-US" altLang="zh-CN" sz="2400">
                          <a:latin typeface="Cambria Math" panose="02040503050406030204" pitchFamily="18" charset="0"/>
                          <a:ea typeface="Cambria Math" panose="02040503050406030204" pitchFamily="18" charset="0"/>
                        </a:rPr>
                        <m:t>r</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𝑠</m:t>
                      </m:r>
                    </m:oMath>
                  </m:oMathPara>
                </a14:m>
                <a:endParaRPr lang="zh-CN" altLang="en-US" sz="2400" dirty="0"/>
              </a:p>
            </p:txBody>
          </p:sp>
        </mc:Choice>
        <mc:Fallback>
          <p:sp>
            <p:nvSpPr>
              <p:cNvPr id="50" name="文本框 49"/>
              <p:cNvSpPr txBox="1">
                <a:spLocks noRot="1" noChangeAspect="1" noMove="1" noResize="1" noEditPoints="1" noAdjustHandles="1" noChangeArrowheads="1" noChangeShapeType="1" noTextEdit="1"/>
              </p:cNvSpPr>
              <p:nvPr/>
            </p:nvSpPr>
            <p:spPr>
              <a:xfrm>
                <a:off x="3749043" y="5227657"/>
                <a:ext cx="786369" cy="369332"/>
              </a:xfrm>
              <a:prstGeom prst="rect">
                <a:avLst/>
              </a:prstGeom>
              <a:blipFill rotWithShape="1">
                <a:blip r:embed="rId1"/>
                <a:stretch>
                  <a:fillRect t="-91" r="-10871" b="2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5"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ppt_w</p:attrName>
                                        </p:attrNameLst>
                                      </p:cBhvr>
                                      <p:tavLst>
                                        <p:tav tm="0">
                                          <p:val>
                                            <p:fltVal val="0"/>
                                          </p:val>
                                        </p:tav>
                                        <p:tav tm="100000">
                                          <p:val>
                                            <p:strVal val="#ppt_w"/>
                                          </p:val>
                                        </p:tav>
                                      </p:tavLst>
                                    </p:anim>
                                    <p:anim calcmode="lin" valueType="num">
                                      <p:cBhvr>
                                        <p:cTn id="14" dur="1000" fill="hold"/>
                                        <p:tgtEl>
                                          <p:spTgt spid="7"/>
                                        </p:tgtEl>
                                        <p:attrNameLst>
                                          <p:attrName>ppt_h</p:attrName>
                                        </p:attrNameLst>
                                      </p:cBhvr>
                                      <p:tavLst>
                                        <p:tav tm="0">
                                          <p:val>
                                            <p:fltVal val="0"/>
                                          </p:val>
                                        </p:tav>
                                        <p:tav tm="100000">
                                          <p:val>
                                            <p:strVal val="#ppt_h"/>
                                          </p:val>
                                        </p:tav>
                                      </p:tavLst>
                                    </p:anim>
                                    <p:anim calcmode="lin" valueType="num">
                                      <p:cBhvr>
                                        <p:cTn id="15"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par>
                          <p:cTn id="17" fill="hold">
                            <p:stCondLst>
                              <p:cond delay="1000"/>
                            </p:stCondLst>
                            <p:childTnLst>
                              <p:par>
                                <p:cTn id="18" presetID="17" presetClass="entr" presetSubtype="2"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500" fill="hold"/>
                                        <p:tgtEl>
                                          <p:spTgt spid="12"/>
                                        </p:tgtEl>
                                        <p:attrNameLst>
                                          <p:attrName>ppt_x</p:attrName>
                                        </p:attrNameLst>
                                      </p:cBhvr>
                                      <p:tavLst>
                                        <p:tav tm="0">
                                          <p:val>
                                            <p:strVal val="#ppt_x+#ppt_w/2"/>
                                          </p:val>
                                        </p:tav>
                                        <p:tav tm="100000">
                                          <p:val>
                                            <p:strVal val="#ppt_x"/>
                                          </p:val>
                                        </p:tav>
                                      </p:tavLst>
                                    </p:anim>
                                    <p:anim calcmode="lin" valueType="num">
                                      <p:cBhvr>
                                        <p:cTn id="21" dur="500" fill="hold"/>
                                        <p:tgtEl>
                                          <p:spTgt spid="12"/>
                                        </p:tgtEl>
                                        <p:attrNameLst>
                                          <p:attrName>ppt_y</p:attrName>
                                        </p:attrNameLst>
                                      </p:cBhvr>
                                      <p:tavLst>
                                        <p:tav tm="0">
                                          <p:val>
                                            <p:strVal val="#ppt_y"/>
                                          </p:val>
                                        </p:tav>
                                        <p:tav tm="100000">
                                          <p:val>
                                            <p:strVal val="#ppt_y"/>
                                          </p:val>
                                        </p:tav>
                                      </p:tavLst>
                                    </p:anim>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strVal val="#ppt_h"/>
                                          </p:val>
                                        </p:tav>
                                        <p:tav tm="100000">
                                          <p:val>
                                            <p:strVal val="#ppt_h"/>
                                          </p:val>
                                        </p:tav>
                                      </p:tavLst>
                                    </p:anim>
                                  </p:childTnLst>
                                </p:cTn>
                              </p:par>
                            </p:childTnLst>
                          </p:cTn>
                        </p:par>
                        <p:par>
                          <p:cTn id="24" fill="hold">
                            <p:stCondLst>
                              <p:cond delay="1500"/>
                            </p:stCondLst>
                            <p:childTnLst>
                              <p:par>
                                <p:cTn id="25" presetID="9" presetClass="entr" presetSubtype="0"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dissolve">
                                      <p:cBhvr>
                                        <p:cTn id="27" dur="500"/>
                                        <p:tgtEl>
                                          <p:spTgt spid="25"/>
                                        </p:tgtEl>
                                      </p:cBhvr>
                                    </p:animEffect>
                                  </p:childTnLst>
                                </p:cTn>
                              </p:par>
                            </p:childTnLst>
                          </p:cTn>
                        </p:par>
                        <p:par>
                          <p:cTn id="28" fill="hold">
                            <p:stCondLst>
                              <p:cond delay="2000"/>
                            </p:stCondLst>
                            <p:childTnLst>
                              <p:par>
                                <p:cTn id="29" presetID="15" presetClass="entr" presetSubtype="0" fill="hold" nodeType="after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1000" fill="hold"/>
                                        <p:tgtEl>
                                          <p:spTgt spid="17"/>
                                        </p:tgtEl>
                                        <p:attrNameLst>
                                          <p:attrName>ppt_w</p:attrName>
                                        </p:attrNameLst>
                                      </p:cBhvr>
                                      <p:tavLst>
                                        <p:tav tm="0">
                                          <p:val>
                                            <p:fltVal val="0"/>
                                          </p:val>
                                        </p:tav>
                                        <p:tav tm="100000">
                                          <p:val>
                                            <p:strVal val="#ppt_w"/>
                                          </p:val>
                                        </p:tav>
                                      </p:tavLst>
                                    </p:anim>
                                    <p:anim calcmode="lin" valueType="num">
                                      <p:cBhvr>
                                        <p:cTn id="32" dur="1000" fill="hold"/>
                                        <p:tgtEl>
                                          <p:spTgt spid="17"/>
                                        </p:tgtEl>
                                        <p:attrNameLst>
                                          <p:attrName>ppt_h</p:attrName>
                                        </p:attrNameLst>
                                      </p:cBhvr>
                                      <p:tavLst>
                                        <p:tav tm="0">
                                          <p:val>
                                            <p:fltVal val="0"/>
                                          </p:val>
                                        </p:tav>
                                        <p:tav tm="100000">
                                          <p:val>
                                            <p:strVal val="#ppt_h"/>
                                          </p:val>
                                        </p:tav>
                                      </p:tavLst>
                                    </p:anim>
                                    <p:anim calcmode="lin" valueType="num">
                                      <p:cBhvr>
                                        <p:cTn id="33" dur="1000" fill="hold"/>
                                        <p:tgtEl>
                                          <p:spTgt spid="17"/>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17"/>
                                        </p:tgtEl>
                                        <p:attrNameLst>
                                          <p:attrName>ppt_y</p:attrName>
                                        </p:attrNameLst>
                                      </p:cBhvr>
                                      <p:tavLst>
                                        <p:tav tm="0" fmla="#ppt_y+(sin(-2*pi*(1-$))*-#ppt_x+cos(-2*pi*(1-$))*(1-#ppt_y))*(1-$)">
                                          <p:val>
                                            <p:fltVal val="0"/>
                                          </p:val>
                                        </p:tav>
                                        <p:tav tm="100000">
                                          <p:val>
                                            <p:fltVal val="1"/>
                                          </p:val>
                                        </p:tav>
                                      </p:tavLst>
                                    </p:anim>
                                  </p:childTnLst>
                                </p:cTn>
                              </p:par>
                            </p:childTnLst>
                          </p:cTn>
                        </p:par>
                        <p:par>
                          <p:cTn id="35" fill="hold">
                            <p:stCondLst>
                              <p:cond delay="3000"/>
                            </p:stCondLst>
                            <p:childTnLst>
                              <p:par>
                                <p:cTn id="36" presetID="16" presetClass="entr" presetSubtype="21" fill="hold" nodeType="after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arn(inVertical)">
                                      <p:cBhvr>
                                        <p:cTn id="38" dur="500"/>
                                        <p:tgtEl>
                                          <p:spTgt spid="21"/>
                                        </p:tgtEl>
                                      </p:cBhvr>
                                    </p:animEffect>
                                  </p:childTnLst>
                                </p:cTn>
                              </p:par>
                            </p:childTnLst>
                          </p:cTn>
                        </p:par>
                        <p:par>
                          <p:cTn id="39" fill="hold">
                            <p:stCondLst>
                              <p:cond delay="3500"/>
                            </p:stCondLst>
                            <p:childTnLst>
                              <p:par>
                                <p:cTn id="40" presetID="9" presetClass="entr" presetSubtype="0" fill="hold" grpId="0"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dissolve">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15" presetClass="entr" presetSubtype="0"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p:cTn id="47" dur="1000" fill="hold"/>
                                        <p:tgtEl>
                                          <p:spTgt spid="26"/>
                                        </p:tgtEl>
                                        <p:attrNameLst>
                                          <p:attrName>ppt_w</p:attrName>
                                        </p:attrNameLst>
                                      </p:cBhvr>
                                      <p:tavLst>
                                        <p:tav tm="0">
                                          <p:val>
                                            <p:fltVal val="0"/>
                                          </p:val>
                                        </p:tav>
                                        <p:tav tm="100000">
                                          <p:val>
                                            <p:strVal val="#ppt_w"/>
                                          </p:val>
                                        </p:tav>
                                      </p:tavLst>
                                    </p:anim>
                                    <p:anim calcmode="lin" valueType="num">
                                      <p:cBhvr>
                                        <p:cTn id="48" dur="1000" fill="hold"/>
                                        <p:tgtEl>
                                          <p:spTgt spid="26"/>
                                        </p:tgtEl>
                                        <p:attrNameLst>
                                          <p:attrName>ppt_h</p:attrName>
                                        </p:attrNameLst>
                                      </p:cBhvr>
                                      <p:tavLst>
                                        <p:tav tm="0">
                                          <p:val>
                                            <p:fltVal val="0"/>
                                          </p:val>
                                        </p:tav>
                                        <p:tav tm="100000">
                                          <p:val>
                                            <p:strVal val="#ppt_h"/>
                                          </p:val>
                                        </p:tav>
                                      </p:tavLst>
                                    </p:anim>
                                    <p:anim calcmode="lin" valueType="num">
                                      <p:cBhvr>
                                        <p:cTn id="49" dur="1000" fill="hold"/>
                                        <p:tgtEl>
                                          <p:spTgt spid="26"/>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2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1" fill="hold">
                      <p:stCondLst>
                        <p:cond delay="indefinite"/>
                      </p:stCondLst>
                      <p:childTnLst>
                        <p:par>
                          <p:cTn id="52" fill="hold">
                            <p:stCondLst>
                              <p:cond delay="0"/>
                            </p:stCondLst>
                            <p:childTnLst>
                              <p:par>
                                <p:cTn id="53" presetID="15" presetClass="entr" presetSubtype="0"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anim calcmode="lin" valueType="num">
                                      <p:cBhvr>
                                        <p:cTn id="55" dur="1000" fill="hold"/>
                                        <p:tgtEl>
                                          <p:spTgt spid="32"/>
                                        </p:tgtEl>
                                        <p:attrNameLst>
                                          <p:attrName>ppt_w</p:attrName>
                                        </p:attrNameLst>
                                      </p:cBhvr>
                                      <p:tavLst>
                                        <p:tav tm="0">
                                          <p:val>
                                            <p:fltVal val="0"/>
                                          </p:val>
                                        </p:tav>
                                        <p:tav tm="100000">
                                          <p:val>
                                            <p:strVal val="#ppt_w"/>
                                          </p:val>
                                        </p:tav>
                                      </p:tavLst>
                                    </p:anim>
                                    <p:anim calcmode="lin" valueType="num">
                                      <p:cBhvr>
                                        <p:cTn id="56" dur="1000" fill="hold"/>
                                        <p:tgtEl>
                                          <p:spTgt spid="32"/>
                                        </p:tgtEl>
                                        <p:attrNameLst>
                                          <p:attrName>ppt_h</p:attrName>
                                        </p:attrNameLst>
                                      </p:cBhvr>
                                      <p:tavLst>
                                        <p:tav tm="0">
                                          <p:val>
                                            <p:fltVal val="0"/>
                                          </p:val>
                                        </p:tav>
                                        <p:tav tm="100000">
                                          <p:val>
                                            <p:strVal val="#ppt_h"/>
                                          </p:val>
                                        </p:tav>
                                      </p:tavLst>
                                    </p:anim>
                                    <p:anim calcmode="lin" valueType="num">
                                      <p:cBhvr>
                                        <p:cTn id="57" dur="1000" fill="hold"/>
                                        <p:tgtEl>
                                          <p:spTgt spid="32"/>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3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wipe(down)">
                                      <p:cBhvr>
                                        <p:cTn id="63" dur="500"/>
                                        <p:tgtEl>
                                          <p:spTgt spid="44"/>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47"/>
                                        </p:tgtEl>
                                        <p:attrNameLst>
                                          <p:attrName>style.visibility</p:attrName>
                                        </p:attrNameLst>
                                      </p:cBhvr>
                                      <p:to>
                                        <p:strVal val="visible"/>
                                      </p:to>
                                    </p:set>
                                    <p:animEffect transition="in" filter="wipe(down)">
                                      <p:cBhvr>
                                        <p:cTn id="68"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build="p"/>
      <p:bldP spid="25" grpId="0" autoUpdateAnimBg="0"/>
      <p:bldP spid="38"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专门的关系运算</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
        <p:nvSpPr>
          <p:cNvPr id="6" name="Rectangle 4"/>
          <p:cNvSpPr>
            <a:spLocks noChangeArrowheads="1"/>
          </p:cNvSpPr>
          <p:nvPr/>
        </p:nvSpPr>
        <p:spPr bwMode="auto">
          <a:xfrm>
            <a:off x="2571171" y="1528763"/>
            <a:ext cx="6843713" cy="382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r>
              <a:rPr lang="en-US" altLang="zh-CN" dirty="0"/>
              <a:t>Relations r, s:</a:t>
            </a:r>
            <a:endParaRPr lang="en-US" altLang="zh-CN" dirty="0"/>
          </a:p>
        </p:txBody>
      </p:sp>
      <p:grpSp>
        <p:nvGrpSpPr>
          <p:cNvPr id="7" name="Group 5"/>
          <p:cNvGrpSpPr/>
          <p:nvPr/>
        </p:nvGrpSpPr>
        <p:grpSpPr bwMode="auto">
          <a:xfrm>
            <a:off x="3485571" y="2138363"/>
            <a:ext cx="1828800" cy="533400"/>
            <a:chOff x="1056" y="1056"/>
            <a:chExt cx="1152" cy="336"/>
          </a:xfrm>
        </p:grpSpPr>
        <p:sp>
          <p:nvSpPr>
            <p:cNvPr id="8" name="Rectangle 6"/>
            <p:cNvSpPr>
              <a:spLocks noChangeArrowheads="1"/>
            </p:cNvSpPr>
            <p:nvPr/>
          </p:nvSpPr>
          <p:spPr bwMode="auto">
            <a:xfrm>
              <a:off x="1056"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A</a:t>
              </a:r>
              <a:endParaRPr lang="en-US" altLang="zh-CN" sz="1800" i="1">
                <a:latin typeface="Helvetica" panose="020B0604020202020204" pitchFamily="34" charset="0"/>
              </a:endParaRPr>
            </a:p>
          </p:txBody>
        </p:sp>
        <p:sp>
          <p:nvSpPr>
            <p:cNvPr id="9" name="Rectangle 7"/>
            <p:cNvSpPr>
              <a:spLocks noChangeArrowheads="1"/>
            </p:cNvSpPr>
            <p:nvPr/>
          </p:nvSpPr>
          <p:spPr bwMode="auto">
            <a:xfrm>
              <a:off x="1344"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B</a:t>
              </a:r>
              <a:endParaRPr lang="en-US" altLang="zh-CN" sz="1800" i="1">
                <a:latin typeface="Helvetica" panose="020B0604020202020204" pitchFamily="34" charset="0"/>
              </a:endParaRPr>
            </a:p>
          </p:txBody>
        </p:sp>
        <p:sp>
          <p:nvSpPr>
            <p:cNvPr id="10" name="Rectangle 8"/>
            <p:cNvSpPr>
              <a:spLocks noChangeArrowheads="1"/>
            </p:cNvSpPr>
            <p:nvPr/>
          </p:nvSpPr>
          <p:spPr bwMode="auto">
            <a:xfrm>
              <a:off x="1632"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C</a:t>
              </a:r>
              <a:endParaRPr lang="en-US" altLang="zh-CN" sz="1800" i="1">
                <a:latin typeface="Helvetica" panose="020B0604020202020204" pitchFamily="34" charset="0"/>
              </a:endParaRPr>
            </a:p>
          </p:txBody>
        </p:sp>
        <p:sp>
          <p:nvSpPr>
            <p:cNvPr id="11" name="Rectangle 9"/>
            <p:cNvSpPr>
              <a:spLocks noChangeArrowheads="1"/>
            </p:cNvSpPr>
            <p:nvPr/>
          </p:nvSpPr>
          <p:spPr bwMode="auto">
            <a:xfrm>
              <a:off x="1920" y="1056"/>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D</a:t>
              </a:r>
              <a:endParaRPr lang="en-US" altLang="zh-CN" sz="1800" i="1">
                <a:latin typeface="Helvetica" panose="020B0604020202020204" pitchFamily="34" charset="0"/>
              </a:endParaRPr>
            </a:p>
          </p:txBody>
        </p:sp>
      </p:grpSp>
      <p:grpSp>
        <p:nvGrpSpPr>
          <p:cNvPr id="12" name="Group 10"/>
          <p:cNvGrpSpPr/>
          <p:nvPr/>
        </p:nvGrpSpPr>
        <p:grpSpPr bwMode="auto">
          <a:xfrm>
            <a:off x="3485571" y="2747963"/>
            <a:ext cx="1828800" cy="1371600"/>
            <a:chOff x="1056" y="1440"/>
            <a:chExt cx="1152" cy="864"/>
          </a:xfrm>
        </p:grpSpPr>
        <p:sp>
          <p:nvSpPr>
            <p:cNvPr id="13" name="Rectangle 11"/>
            <p:cNvSpPr>
              <a:spLocks noChangeArrowheads="1"/>
            </p:cNvSpPr>
            <p:nvPr/>
          </p:nvSpPr>
          <p:spPr bwMode="auto">
            <a:xfrm>
              <a:off x="1056"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14" name="Rectangle 12"/>
            <p:cNvSpPr>
              <a:spLocks noChangeArrowheads="1"/>
            </p:cNvSpPr>
            <p:nvPr/>
          </p:nvSpPr>
          <p:spPr bwMode="auto">
            <a:xfrm>
              <a:off x="1344"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4</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p:txBody>
        </p:sp>
        <p:sp>
          <p:nvSpPr>
            <p:cNvPr id="15" name="Rectangle 13"/>
            <p:cNvSpPr>
              <a:spLocks noChangeArrowheads="1"/>
            </p:cNvSpPr>
            <p:nvPr/>
          </p:nvSpPr>
          <p:spPr bwMode="auto">
            <a:xfrm>
              <a:off x="1632"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16" name="Rectangle 14"/>
            <p:cNvSpPr>
              <a:spLocks noChangeArrowheads="1"/>
            </p:cNvSpPr>
            <p:nvPr/>
          </p:nvSpPr>
          <p:spPr bwMode="auto">
            <a:xfrm>
              <a:off x="1920" y="1440"/>
              <a:ext cx="288" cy="86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p:txBody>
        </p:sp>
      </p:grpSp>
      <p:grpSp>
        <p:nvGrpSpPr>
          <p:cNvPr id="17" name="Group 15"/>
          <p:cNvGrpSpPr/>
          <p:nvPr/>
        </p:nvGrpSpPr>
        <p:grpSpPr bwMode="auto">
          <a:xfrm>
            <a:off x="6990771" y="2062163"/>
            <a:ext cx="1371600" cy="533400"/>
            <a:chOff x="3264" y="1008"/>
            <a:chExt cx="864" cy="336"/>
          </a:xfrm>
        </p:grpSpPr>
        <p:sp>
          <p:nvSpPr>
            <p:cNvPr id="18" name="Rectangle 16"/>
            <p:cNvSpPr>
              <a:spLocks noChangeArrowheads="1"/>
            </p:cNvSpPr>
            <p:nvPr/>
          </p:nvSpPr>
          <p:spPr bwMode="auto">
            <a:xfrm>
              <a:off x="3264" y="1008"/>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B</a:t>
              </a:r>
              <a:endParaRPr lang="en-US" altLang="zh-CN" sz="1800" i="1">
                <a:latin typeface="Helvetica" panose="020B0604020202020204" pitchFamily="34" charset="0"/>
              </a:endParaRPr>
            </a:p>
          </p:txBody>
        </p:sp>
        <p:sp>
          <p:nvSpPr>
            <p:cNvPr id="19" name="Rectangle 17"/>
            <p:cNvSpPr>
              <a:spLocks noChangeArrowheads="1"/>
            </p:cNvSpPr>
            <p:nvPr/>
          </p:nvSpPr>
          <p:spPr bwMode="auto">
            <a:xfrm>
              <a:off x="3552" y="1008"/>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D</a:t>
              </a:r>
              <a:endParaRPr lang="en-US" altLang="zh-CN" sz="1800" i="1">
                <a:latin typeface="Helvetica" panose="020B0604020202020204" pitchFamily="34" charset="0"/>
              </a:endParaRPr>
            </a:p>
          </p:txBody>
        </p:sp>
        <p:sp>
          <p:nvSpPr>
            <p:cNvPr id="20" name="Rectangle 18"/>
            <p:cNvSpPr>
              <a:spLocks noChangeArrowheads="1"/>
            </p:cNvSpPr>
            <p:nvPr/>
          </p:nvSpPr>
          <p:spPr bwMode="auto">
            <a:xfrm>
              <a:off x="3840" y="1008"/>
              <a:ext cx="288"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E</a:t>
              </a:r>
              <a:endParaRPr lang="en-US" altLang="zh-CN" sz="1800" i="1">
                <a:latin typeface="Helvetica" panose="020B0604020202020204" pitchFamily="34" charset="0"/>
              </a:endParaRPr>
            </a:p>
          </p:txBody>
        </p:sp>
      </p:grpSp>
      <p:grpSp>
        <p:nvGrpSpPr>
          <p:cNvPr id="21" name="Group 19"/>
          <p:cNvGrpSpPr/>
          <p:nvPr/>
        </p:nvGrpSpPr>
        <p:grpSpPr bwMode="auto">
          <a:xfrm>
            <a:off x="6990771" y="2671763"/>
            <a:ext cx="1371600" cy="1447800"/>
            <a:chOff x="3264" y="1392"/>
            <a:chExt cx="864" cy="912"/>
          </a:xfrm>
        </p:grpSpPr>
        <p:sp>
          <p:nvSpPr>
            <p:cNvPr id="22" name="Rectangle 20"/>
            <p:cNvSpPr>
              <a:spLocks noChangeArrowheads="1"/>
            </p:cNvSpPr>
            <p:nvPr/>
          </p:nvSpPr>
          <p:spPr bwMode="auto">
            <a:xfrm>
              <a:off x="3264" y="1392"/>
              <a:ext cx="288" cy="91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3</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3</a:t>
              </a:r>
              <a:endParaRPr lang="en-US" altLang="zh-CN" sz="1800" i="1">
                <a:latin typeface="Helvetica" panose="020B0604020202020204" pitchFamily="34" charset="0"/>
                <a:sym typeface="Symbol" panose="05050102010706020507" pitchFamily="18" charset="2"/>
              </a:endParaRPr>
            </a:p>
          </p:txBody>
        </p:sp>
        <p:sp>
          <p:nvSpPr>
            <p:cNvPr id="23" name="Rectangle 21"/>
            <p:cNvSpPr>
              <a:spLocks noChangeArrowheads="1"/>
            </p:cNvSpPr>
            <p:nvPr/>
          </p:nvSpPr>
          <p:spPr bwMode="auto">
            <a:xfrm>
              <a:off x="3552" y="1392"/>
              <a:ext cx="288" cy="91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p:txBody>
        </p:sp>
        <p:sp>
          <p:nvSpPr>
            <p:cNvPr id="24" name="Rectangle 22"/>
            <p:cNvSpPr>
              <a:spLocks noChangeArrowheads="1"/>
            </p:cNvSpPr>
            <p:nvPr/>
          </p:nvSpPr>
          <p:spPr bwMode="auto">
            <a:xfrm>
              <a:off x="3840" y="1392"/>
              <a:ext cx="288" cy="91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b="1"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Arial" panose="020B0604020202020204" pitchFamily="34" charset="0"/>
                  <a:sym typeface="Symbol" panose="05050102010706020507" pitchFamily="18" charset="2"/>
                </a:rPr>
                <a:t>ε</a:t>
              </a:r>
              <a:endParaRPr lang="zh-CN" altLang="en-US" sz="1800" i="1">
                <a:latin typeface="Arial" panose="020B0604020202020204" pitchFamily="34" charset="0"/>
                <a:sym typeface="Symbol" panose="05050102010706020507" pitchFamily="18" charset="2"/>
              </a:endParaRPr>
            </a:p>
          </p:txBody>
        </p:sp>
      </p:grpSp>
      <p:sp>
        <p:nvSpPr>
          <p:cNvPr id="25" name="Text Box 23"/>
          <p:cNvSpPr txBox="1">
            <a:spLocks noChangeArrowheads="1"/>
          </p:cNvSpPr>
          <p:nvPr/>
        </p:nvSpPr>
        <p:spPr bwMode="auto">
          <a:xfrm>
            <a:off x="4171371" y="4119563"/>
            <a:ext cx="2603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800" i="1">
                <a:latin typeface="Helvetica" panose="020B0604020202020204" pitchFamily="34" charset="0"/>
              </a:rPr>
              <a:t>r</a:t>
            </a:r>
            <a:endParaRPr lang="en-US" altLang="zh-CN" sz="1800" i="1">
              <a:latin typeface="Helvetica" panose="020B0604020202020204" pitchFamily="34" charset="0"/>
            </a:endParaRPr>
          </a:p>
        </p:txBody>
      </p:sp>
      <p:grpSp>
        <p:nvGrpSpPr>
          <p:cNvPr id="26" name="Group 24"/>
          <p:cNvGrpSpPr/>
          <p:nvPr/>
        </p:nvGrpSpPr>
        <p:grpSpPr bwMode="auto">
          <a:xfrm>
            <a:off x="5161971" y="4802188"/>
            <a:ext cx="2176463" cy="496887"/>
            <a:chOff x="2112" y="2734"/>
            <a:chExt cx="1371" cy="313"/>
          </a:xfrm>
        </p:grpSpPr>
        <p:sp>
          <p:nvSpPr>
            <p:cNvPr id="27" name="Rectangle 25"/>
            <p:cNvSpPr>
              <a:spLocks noChangeArrowheads="1"/>
            </p:cNvSpPr>
            <p:nvPr/>
          </p:nvSpPr>
          <p:spPr bwMode="auto">
            <a:xfrm>
              <a:off x="2112"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A</a:t>
              </a:r>
              <a:endParaRPr lang="en-US" altLang="zh-CN" sz="1800" i="1">
                <a:latin typeface="Helvetica" panose="020B0604020202020204" pitchFamily="34" charset="0"/>
              </a:endParaRPr>
            </a:p>
          </p:txBody>
        </p:sp>
        <p:sp>
          <p:nvSpPr>
            <p:cNvPr id="28" name="Rectangle 26"/>
            <p:cNvSpPr>
              <a:spLocks noChangeArrowheads="1"/>
            </p:cNvSpPr>
            <p:nvPr/>
          </p:nvSpPr>
          <p:spPr bwMode="auto">
            <a:xfrm>
              <a:off x="2386"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B</a:t>
              </a:r>
              <a:endParaRPr lang="en-US" altLang="zh-CN" sz="1800" i="1">
                <a:latin typeface="Helvetica" panose="020B0604020202020204" pitchFamily="34" charset="0"/>
              </a:endParaRPr>
            </a:p>
          </p:txBody>
        </p:sp>
        <p:sp>
          <p:nvSpPr>
            <p:cNvPr id="29" name="Rectangle 27"/>
            <p:cNvSpPr>
              <a:spLocks noChangeArrowheads="1"/>
            </p:cNvSpPr>
            <p:nvPr/>
          </p:nvSpPr>
          <p:spPr bwMode="auto">
            <a:xfrm>
              <a:off x="2660" y="2734"/>
              <a:ext cx="275"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C</a:t>
              </a:r>
              <a:endParaRPr lang="en-US" altLang="zh-CN" sz="1800" i="1">
                <a:latin typeface="Helvetica" panose="020B0604020202020204" pitchFamily="34" charset="0"/>
              </a:endParaRPr>
            </a:p>
          </p:txBody>
        </p:sp>
        <p:sp>
          <p:nvSpPr>
            <p:cNvPr id="30" name="Rectangle 28"/>
            <p:cNvSpPr>
              <a:spLocks noChangeArrowheads="1"/>
            </p:cNvSpPr>
            <p:nvPr/>
          </p:nvSpPr>
          <p:spPr bwMode="auto">
            <a:xfrm>
              <a:off x="2935"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D</a:t>
              </a:r>
              <a:endParaRPr lang="en-US" altLang="zh-CN" sz="1800" i="1">
                <a:latin typeface="Helvetica" panose="020B0604020202020204" pitchFamily="34" charset="0"/>
              </a:endParaRPr>
            </a:p>
          </p:txBody>
        </p:sp>
        <p:sp>
          <p:nvSpPr>
            <p:cNvPr id="31" name="Rectangle 29"/>
            <p:cNvSpPr>
              <a:spLocks noChangeArrowheads="1"/>
            </p:cNvSpPr>
            <p:nvPr/>
          </p:nvSpPr>
          <p:spPr bwMode="auto">
            <a:xfrm>
              <a:off x="3209" y="2734"/>
              <a:ext cx="274" cy="31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rPr>
                <a:t>E</a:t>
              </a:r>
              <a:endParaRPr lang="en-US" altLang="zh-CN" sz="1800" i="1">
                <a:latin typeface="Helvetica" panose="020B0604020202020204" pitchFamily="34" charset="0"/>
              </a:endParaRPr>
            </a:p>
          </p:txBody>
        </p:sp>
      </p:grpSp>
      <p:grpSp>
        <p:nvGrpSpPr>
          <p:cNvPr id="32" name="Group 30"/>
          <p:cNvGrpSpPr/>
          <p:nvPr/>
        </p:nvGrpSpPr>
        <p:grpSpPr bwMode="auto">
          <a:xfrm>
            <a:off x="5161971" y="5370513"/>
            <a:ext cx="2176463" cy="1350962"/>
            <a:chOff x="2112" y="3092"/>
            <a:chExt cx="1371" cy="851"/>
          </a:xfrm>
        </p:grpSpPr>
        <p:sp>
          <p:nvSpPr>
            <p:cNvPr id="33" name="Rectangle 31"/>
            <p:cNvSpPr>
              <a:spLocks noChangeArrowheads="1"/>
            </p:cNvSpPr>
            <p:nvPr/>
          </p:nvSpPr>
          <p:spPr bwMode="auto">
            <a:xfrm>
              <a:off x="2112"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34" name="Rectangle 32"/>
            <p:cNvSpPr>
              <a:spLocks noChangeArrowheads="1"/>
            </p:cNvSpPr>
            <p:nvPr/>
          </p:nvSpPr>
          <p:spPr bwMode="auto">
            <a:xfrm>
              <a:off x="2386"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1</a:t>
              </a:r>
              <a:endParaRPr lang="en-US" altLang="zh-CN" sz="1800" i="1">
                <a:latin typeface="Helvetica" panose="020B0604020202020204" pitchFamily="34" charset="0"/>
                <a:sym typeface="Symbol" panose="05050102010706020507" pitchFamily="18" charset="2"/>
              </a:endParaRPr>
            </a:p>
            <a:p>
              <a:pPr algn="ctr">
                <a:spcBef>
                  <a:spcPct val="0"/>
                </a:spcBef>
                <a:buFontTx/>
                <a:buNone/>
              </a:pPr>
              <a:r>
                <a:rPr lang="en-US" altLang="zh-CN" sz="1800" i="1">
                  <a:latin typeface="Helvetica" panose="020B0604020202020204" pitchFamily="34" charset="0"/>
                  <a:sym typeface="Symbol" panose="05050102010706020507" pitchFamily="18" charset="2"/>
                </a:rPr>
                <a:t>2</a:t>
              </a:r>
              <a:endParaRPr lang="en-US" altLang="zh-CN" sz="1800" i="1">
                <a:latin typeface="Helvetica" panose="020B0604020202020204" pitchFamily="34" charset="0"/>
                <a:sym typeface="Symbol" panose="05050102010706020507" pitchFamily="18" charset="2"/>
              </a:endParaRPr>
            </a:p>
          </p:txBody>
        </p:sp>
        <p:sp>
          <p:nvSpPr>
            <p:cNvPr id="35" name="Rectangle 33"/>
            <p:cNvSpPr>
              <a:spLocks noChangeArrowheads="1"/>
            </p:cNvSpPr>
            <p:nvPr/>
          </p:nvSpPr>
          <p:spPr bwMode="auto">
            <a:xfrm>
              <a:off x="2660" y="3092"/>
              <a:ext cx="275"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sp>
          <p:nvSpPr>
            <p:cNvPr id="36" name="Rectangle 34"/>
            <p:cNvSpPr>
              <a:spLocks noChangeArrowheads="1"/>
            </p:cNvSpPr>
            <p:nvPr/>
          </p:nvSpPr>
          <p:spPr bwMode="auto">
            <a:xfrm>
              <a:off x="2935"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a</a:t>
              </a:r>
              <a:endParaRPr lang="en-US" altLang="zh-CN" sz="1800">
                <a:latin typeface="Helvetica" panose="020B0604020202020204" pitchFamily="34" charset="0"/>
                <a:sym typeface="Symbol" panose="05050102010706020507" pitchFamily="18" charset="2"/>
              </a:endParaRPr>
            </a:p>
            <a:p>
              <a:pPr algn="ctr">
                <a:spcBef>
                  <a:spcPct val="0"/>
                </a:spcBef>
                <a:buFontTx/>
                <a:buNone/>
              </a:pPr>
              <a:r>
                <a:rPr lang="en-US" altLang="zh-CN" sz="1800">
                  <a:latin typeface="Helvetica" panose="020B0604020202020204" pitchFamily="34" charset="0"/>
                  <a:sym typeface="Symbol" panose="05050102010706020507" pitchFamily="18" charset="2"/>
                </a:rPr>
                <a:t>b</a:t>
              </a:r>
              <a:endParaRPr lang="en-US" altLang="zh-CN" sz="1800">
                <a:latin typeface="Helvetica" panose="020B0604020202020204" pitchFamily="34" charset="0"/>
                <a:sym typeface="Symbol" panose="05050102010706020507" pitchFamily="18" charset="2"/>
              </a:endParaRPr>
            </a:p>
          </p:txBody>
        </p:sp>
        <p:sp>
          <p:nvSpPr>
            <p:cNvPr id="37" name="Rectangle 35"/>
            <p:cNvSpPr>
              <a:spLocks noChangeArrowheads="1"/>
            </p:cNvSpPr>
            <p:nvPr/>
          </p:nvSpPr>
          <p:spPr bwMode="auto">
            <a:xfrm>
              <a:off x="3209" y="3092"/>
              <a:ext cx="274" cy="85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a:p>
              <a:pPr algn="ctr">
                <a:spcBef>
                  <a:spcPct val="0"/>
                </a:spcBef>
                <a:buFontTx/>
                <a:buNone/>
              </a:pPr>
              <a:r>
                <a:rPr lang="zh-CN" altLang="en-US" sz="1800" i="1">
                  <a:latin typeface="Helvetica" panose="020B0604020202020204" pitchFamily="34" charset="0"/>
                  <a:sym typeface="Symbol" panose="05050102010706020507" pitchFamily="18" charset="2"/>
                </a:rPr>
                <a:t></a:t>
              </a:r>
              <a:endParaRPr lang="zh-CN" altLang="en-US" sz="1800" i="1">
                <a:latin typeface="Helvetica" panose="020B0604020202020204" pitchFamily="34" charset="0"/>
                <a:sym typeface="Symbol" panose="05050102010706020507" pitchFamily="18" charset="2"/>
              </a:endParaRPr>
            </a:p>
          </p:txBody>
        </p:sp>
      </p:grpSp>
      <p:sp>
        <p:nvSpPr>
          <p:cNvPr id="38" name="Text Box 36"/>
          <p:cNvSpPr txBox="1">
            <a:spLocks noChangeArrowheads="1"/>
          </p:cNvSpPr>
          <p:nvPr/>
        </p:nvSpPr>
        <p:spPr bwMode="auto">
          <a:xfrm>
            <a:off x="7524171" y="4119563"/>
            <a:ext cx="2984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800" i="1">
                <a:latin typeface="Helvetica" panose="020B0604020202020204" pitchFamily="34" charset="0"/>
              </a:rPr>
              <a:t>s</a:t>
            </a:r>
            <a:endParaRPr lang="en-US" altLang="zh-CN" sz="1800" i="1">
              <a:latin typeface="Helvetica" panose="020B0604020202020204" pitchFamily="34" charset="0"/>
            </a:endParaRPr>
          </a:p>
        </p:txBody>
      </p:sp>
      <p:grpSp>
        <p:nvGrpSpPr>
          <p:cNvPr id="40" name="Group 38"/>
          <p:cNvGrpSpPr/>
          <p:nvPr/>
        </p:nvGrpSpPr>
        <p:grpSpPr bwMode="auto">
          <a:xfrm>
            <a:off x="2628321" y="4703763"/>
            <a:ext cx="7029450" cy="409575"/>
            <a:chOff x="288" y="2688"/>
            <a:chExt cx="4428" cy="258"/>
          </a:xfrm>
        </p:grpSpPr>
        <p:sp>
          <p:nvSpPr>
            <p:cNvPr id="42" name="Rectangle 39"/>
            <p:cNvSpPr>
              <a:spLocks noChangeArrowheads="1"/>
            </p:cNvSpPr>
            <p:nvPr/>
          </p:nvSpPr>
          <p:spPr bwMode="auto">
            <a:xfrm>
              <a:off x="288" y="2688"/>
              <a:ext cx="4428"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35000"/>
                </a:spcBef>
                <a:buClr>
                  <a:schemeClr val="tx2"/>
                </a:buClr>
                <a:buSzPct val="90000"/>
                <a:buFont typeface="Monotype Sorts"/>
                <a:buChar char="n"/>
              </a:pPr>
              <a:endParaRPr kumimoji="1" lang="en-US" altLang="zh-CN" sz="1800" dirty="0">
                <a:latin typeface="Helvetica" panose="020B0604020202020204" pitchFamily="34" charset="0"/>
              </a:endParaRPr>
            </a:p>
          </p:txBody>
        </p:sp>
        <p:sp>
          <p:nvSpPr>
            <p:cNvPr id="43" name="AutoShape 40"/>
            <p:cNvSpPr>
              <a:spLocks noChangeArrowheads="1"/>
            </p:cNvSpPr>
            <p:nvPr/>
          </p:nvSpPr>
          <p:spPr bwMode="auto">
            <a:xfrm rot="16200000" flipV="1">
              <a:off x="470" y="2784"/>
              <a:ext cx="96" cy="96"/>
            </a:xfrm>
            <a:prstGeom prst="flowChartCollat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44" name="Group 42"/>
          <p:cNvGrpSpPr/>
          <p:nvPr/>
        </p:nvGrpSpPr>
        <p:grpSpPr bwMode="auto">
          <a:xfrm>
            <a:off x="4270369" y="3736045"/>
            <a:ext cx="2905125" cy="2898561"/>
            <a:chOff x="1536" y="1834"/>
            <a:chExt cx="1830" cy="1602"/>
          </a:xfrm>
        </p:grpSpPr>
        <p:sp>
          <p:nvSpPr>
            <p:cNvPr id="45" name="Line 43"/>
            <p:cNvSpPr>
              <a:spLocks noChangeShapeType="1"/>
            </p:cNvSpPr>
            <p:nvPr/>
          </p:nvSpPr>
          <p:spPr bwMode="auto">
            <a:xfrm flipH="1" flipV="1">
              <a:off x="1536" y="1990"/>
              <a:ext cx="949" cy="144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6" name="Line 44"/>
            <p:cNvSpPr>
              <a:spLocks noChangeShapeType="1"/>
            </p:cNvSpPr>
            <p:nvPr/>
          </p:nvSpPr>
          <p:spPr bwMode="auto">
            <a:xfrm flipV="1">
              <a:off x="2578" y="1834"/>
              <a:ext cx="788" cy="155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7" name="Group 45"/>
          <p:cNvGrpSpPr/>
          <p:nvPr/>
        </p:nvGrpSpPr>
        <p:grpSpPr bwMode="auto">
          <a:xfrm>
            <a:off x="5174230" y="3698083"/>
            <a:ext cx="2382838" cy="2819400"/>
            <a:chOff x="2112" y="1693"/>
            <a:chExt cx="1501" cy="1776"/>
          </a:xfrm>
        </p:grpSpPr>
        <p:sp>
          <p:nvSpPr>
            <p:cNvPr id="48" name="Line 46"/>
            <p:cNvSpPr>
              <a:spLocks noChangeShapeType="1"/>
            </p:cNvSpPr>
            <p:nvPr/>
          </p:nvSpPr>
          <p:spPr bwMode="auto">
            <a:xfrm flipH="1" flipV="1">
              <a:off x="2112" y="1930"/>
              <a:ext cx="918" cy="1539"/>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 name="Line 47"/>
            <p:cNvSpPr>
              <a:spLocks noChangeShapeType="1"/>
            </p:cNvSpPr>
            <p:nvPr/>
          </p:nvSpPr>
          <p:spPr bwMode="auto">
            <a:xfrm flipV="1">
              <a:off x="3103" y="1693"/>
              <a:ext cx="510" cy="177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mc:AlternateContent xmlns:mc="http://schemas.openxmlformats.org/markup-compatibility/2006">
        <mc:Choice xmlns:a14="http://schemas.microsoft.com/office/drawing/2010/main" Requires="a14">
          <p:sp>
            <p:nvSpPr>
              <p:cNvPr id="50" name="文本框 49"/>
              <p:cNvSpPr txBox="1"/>
              <p:nvPr/>
            </p:nvSpPr>
            <p:spPr>
              <a:xfrm>
                <a:off x="3749043" y="5227657"/>
                <a:ext cx="786369"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sty m:val="p"/>
                        </m:rPr>
                        <a:rPr lang="en-US" altLang="zh-CN" sz="2400">
                          <a:latin typeface="Cambria Math" panose="02040503050406030204" pitchFamily="18" charset="0"/>
                          <a:ea typeface="Cambria Math" panose="02040503050406030204" pitchFamily="18" charset="0"/>
                        </a:rPr>
                        <m:t>r</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𝑠</m:t>
                      </m:r>
                    </m:oMath>
                  </m:oMathPara>
                </a14:m>
                <a:endParaRPr lang="zh-CN" altLang="en-US" sz="2400" dirty="0"/>
              </a:p>
            </p:txBody>
          </p:sp>
        </mc:Choice>
        <mc:Fallback>
          <p:sp>
            <p:nvSpPr>
              <p:cNvPr id="50" name="文本框 49"/>
              <p:cNvSpPr txBox="1">
                <a:spLocks noRot="1" noChangeAspect="1" noMove="1" noResize="1" noEditPoints="1" noAdjustHandles="1" noChangeArrowheads="1" noChangeShapeType="1" noTextEdit="1"/>
              </p:cNvSpPr>
              <p:nvPr/>
            </p:nvSpPr>
            <p:spPr>
              <a:xfrm>
                <a:off x="3749043" y="5227657"/>
                <a:ext cx="786369" cy="369332"/>
              </a:xfrm>
              <a:prstGeom prst="rect">
                <a:avLst/>
              </a:prstGeom>
              <a:blipFill rotWithShape="1">
                <a:blip r:embed="rId1"/>
                <a:stretch>
                  <a:fillRect t="-91" r="-10871" b="2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5"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ppt_w</p:attrName>
                                        </p:attrNameLst>
                                      </p:cBhvr>
                                      <p:tavLst>
                                        <p:tav tm="0">
                                          <p:val>
                                            <p:fltVal val="0"/>
                                          </p:val>
                                        </p:tav>
                                        <p:tav tm="100000">
                                          <p:val>
                                            <p:strVal val="#ppt_w"/>
                                          </p:val>
                                        </p:tav>
                                      </p:tavLst>
                                    </p:anim>
                                    <p:anim calcmode="lin" valueType="num">
                                      <p:cBhvr>
                                        <p:cTn id="14" dur="1000" fill="hold"/>
                                        <p:tgtEl>
                                          <p:spTgt spid="7"/>
                                        </p:tgtEl>
                                        <p:attrNameLst>
                                          <p:attrName>ppt_h</p:attrName>
                                        </p:attrNameLst>
                                      </p:cBhvr>
                                      <p:tavLst>
                                        <p:tav tm="0">
                                          <p:val>
                                            <p:fltVal val="0"/>
                                          </p:val>
                                        </p:tav>
                                        <p:tav tm="100000">
                                          <p:val>
                                            <p:strVal val="#ppt_h"/>
                                          </p:val>
                                        </p:tav>
                                      </p:tavLst>
                                    </p:anim>
                                    <p:anim calcmode="lin" valueType="num">
                                      <p:cBhvr>
                                        <p:cTn id="15"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par>
                          <p:cTn id="17" fill="hold">
                            <p:stCondLst>
                              <p:cond delay="1000"/>
                            </p:stCondLst>
                            <p:childTnLst>
                              <p:par>
                                <p:cTn id="18" presetID="17" presetClass="entr" presetSubtype="2"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500" fill="hold"/>
                                        <p:tgtEl>
                                          <p:spTgt spid="12"/>
                                        </p:tgtEl>
                                        <p:attrNameLst>
                                          <p:attrName>ppt_x</p:attrName>
                                        </p:attrNameLst>
                                      </p:cBhvr>
                                      <p:tavLst>
                                        <p:tav tm="0">
                                          <p:val>
                                            <p:strVal val="#ppt_x+#ppt_w/2"/>
                                          </p:val>
                                        </p:tav>
                                        <p:tav tm="100000">
                                          <p:val>
                                            <p:strVal val="#ppt_x"/>
                                          </p:val>
                                        </p:tav>
                                      </p:tavLst>
                                    </p:anim>
                                    <p:anim calcmode="lin" valueType="num">
                                      <p:cBhvr>
                                        <p:cTn id="21" dur="500" fill="hold"/>
                                        <p:tgtEl>
                                          <p:spTgt spid="12"/>
                                        </p:tgtEl>
                                        <p:attrNameLst>
                                          <p:attrName>ppt_y</p:attrName>
                                        </p:attrNameLst>
                                      </p:cBhvr>
                                      <p:tavLst>
                                        <p:tav tm="0">
                                          <p:val>
                                            <p:strVal val="#ppt_y"/>
                                          </p:val>
                                        </p:tav>
                                        <p:tav tm="100000">
                                          <p:val>
                                            <p:strVal val="#ppt_y"/>
                                          </p:val>
                                        </p:tav>
                                      </p:tavLst>
                                    </p:anim>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strVal val="#ppt_h"/>
                                          </p:val>
                                        </p:tav>
                                        <p:tav tm="100000">
                                          <p:val>
                                            <p:strVal val="#ppt_h"/>
                                          </p:val>
                                        </p:tav>
                                      </p:tavLst>
                                    </p:anim>
                                  </p:childTnLst>
                                </p:cTn>
                              </p:par>
                            </p:childTnLst>
                          </p:cTn>
                        </p:par>
                        <p:par>
                          <p:cTn id="24" fill="hold">
                            <p:stCondLst>
                              <p:cond delay="1500"/>
                            </p:stCondLst>
                            <p:childTnLst>
                              <p:par>
                                <p:cTn id="25" presetID="9" presetClass="entr" presetSubtype="0"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dissolve">
                                      <p:cBhvr>
                                        <p:cTn id="27" dur="500"/>
                                        <p:tgtEl>
                                          <p:spTgt spid="25"/>
                                        </p:tgtEl>
                                      </p:cBhvr>
                                    </p:animEffect>
                                  </p:childTnLst>
                                </p:cTn>
                              </p:par>
                            </p:childTnLst>
                          </p:cTn>
                        </p:par>
                        <p:par>
                          <p:cTn id="28" fill="hold">
                            <p:stCondLst>
                              <p:cond delay="2000"/>
                            </p:stCondLst>
                            <p:childTnLst>
                              <p:par>
                                <p:cTn id="29" presetID="15" presetClass="entr" presetSubtype="0" fill="hold" nodeType="after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1000" fill="hold"/>
                                        <p:tgtEl>
                                          <p:spTgt spid="17"/>
                                        </p:tgtEl>
                                        <p:attrNameLst>
                                          <p:attrName>ppt_w</p:attrName>
                                        </p:attrNameLst>
                                      </p:cBhvr>
                                      <p:tavLst>
                                        <p:tav tm="0">
                                          <p:val>
                                            <p:fltVal val="0"/>
                                          </p:val>
                                        </p:tav>
                                        <p:tav tm="100000">
                                          <p:val>
                                            <p:strVal val="#ppt_w"/>
                                          </p:val>
                                        </p:tav>
                                      </p:tavLst>
                                    </p:anim>
                                    <p:anim calcmode="lin" valueType="num">
                                      <p:cBhvr>
                                        <p:cTn id="32" dur="1000" fill="hold"/>
                                        <p:tgtEl>
                                          <p:spTgt spid="17"/>
                                        </p:tgtEl>
                                        <p:attrNameLst>
                                          <p:attrName>ppt_h</p:attrName>
                                        </p:attrNameLst>
                                      </p:cBhvr>
                                      <p:tavLst>
                                        <p:tav tm="0">
                                          <p:val>
                                            <p:fltVal val="0"/>
                                          </p:val>
                                        </p:tav>
                                        <p:tav tm="100000">
                                          <p:val>
                                            <p:strVal val="#ppt_h"/>
                                          </p:val>
                                        </p:tav>
                                      </p:tavLst>
                                    </p:anim>
                                    <p:anim calcmode="lin" valueType="num">
                                      <p:cBhvr>
                                        <p:cTn id="33" dur="1000" fill="hold"/>
                                        <p:tgtEl>
                                          <p:spTgt spid="17"/>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17"/>
                                        </p:tgtEl>
                                        <p:attrNameLst>
                                          <p:attrName>ppt_y</p:attrName>
                                        </p:attrNameLst>
                                      </p:cBhvr>
                                      <p:tavLst>
                                        <p:tav tm="0" fmla="#ppt_y+(sin(-2*pi*(1-$))*-#ppt_x+cos(-2*pi*(1-$))*(1-#ppt_y))*(1-$)">
                                          <p:val>
                                            <p:fltVal val="0"/>
                                          </p:val>
                                        </p:tav>
                                        <p:tav tm="100000">
                                          <p:val>
                                            <p:fltVal val="1"/>
                                          </p:val>
                                        </p:tav>
                                      </p:tavLst>
                                    </p:anim>
                                  </p:childTnLst>
                                </p:cTn>
                              </p:par>
                            </p:childTnLst>
                          </p:cTn>
                        </p:par>
                        <p:par>
                          <p:cTn id="35" fill="hold">
                            <p:stCondLst>
                              <p:cond delay="3000"/>
                            </p:stCondLst>
                            <p:childTnLst>
                              <p:par>
                                <p:cTn id="36" presetID="16" presetClass="entr" presetSubtype="21" fill="hold" nodeType="after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arn(inVertical)">
                                      <p:cBhvr>
                                        <p:cTn id="38" dur="500"/>
                                        <p:tgtEl>
                                          <p:spTgt spid="21"/>
                                        </p:tgtEl>
                                      </p:cBhvr>
                                    </p:animEffect>
                                  </p:childTnLst>
                                </p:cTn>
                              </p:par>
                            </p:childTnLst>
                          </p:cTn>
                        </p:par>
                        <p:par>
                          <p:cTn id="39" fill="hold">
                            <p:stCondLst>
                              <p:cond delay="3500"/>
                            </p:stCondLst>
                            <p:childTnLst>
                              <p:par>
                                <p:cTn id="40" presetID="9" presetClass="entr" presetSubtype="0" fill="hold" grpId="0"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dissolve">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15" presetClass="entr" presetSubtype="0"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p:cTn id="47" dur="1000" fill="hold"/>
                                        <p:tgtEl>
                                          <p:spTgt spid="26"/>
                                        </p:tgtEl>
                                        <p:attrNameLst>
                                          <p:attrName>ppt_w</p:attrName>
                                        </p:attrNameLst>
                                      </p:cBhvr>
                                      <p:tavLst>
                                        <p:tav tm="0">
                                          <p:val>
                                            <p:fltVal val="0"/>
                                          </p:val>
                                        </p:tav>
                                        <p:tav tm="100000">
                                          <p:val>
                                            <p:strVal val="#ppt_w"/>
                                          </p:val>
                                        </p:tav>
                                      </p:tavLst>
                                    </p:anim>
                                    <p:anim calcmode="lin" valueType="num">
                                      <p:cBhvr>
                                        <p:cTn id="48" dur="1000" fill="hold"/>
                                        <p:tgtEl>
                                          <p:spTgt spid="26"/>
                                        </p:tgtEl>
                                        <p:attrNameLst>
                                          <p:attrName>ppt_h</p:attrName>
                                        </p:attrNameLst>
                                      </p:cBhvr>
                                      <p:tavLst>
                                        <p:tav tm="0">
                                          <p:val>
                                            <p:fltVal val="0"/>
                                          </p:val>
                                        </p:tav>
                                        <p:tav tm="100000">
                                          <p:val>
                                            <p:strVal val="#ppt_h"/>
                                          </p:val>
                                        </p:tav>
                                      </p:tavLst>
                                    </p:anim>
                                    <p:anim calcmode="lin" valueType="num">
                                      <p:cBhvr>
                                        <p:cTn id="49" dur="1000" fill="hold"/>
                                        <p:tgtEl>
                                          <p:spTgt spid="26"/>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2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1" fill="hold">
                      <p:stCondLst>
                        <p:cond delay="indefinite"/>
                      </p:stCondLst>
                      <p:childTnLst>
                        <p:par>
                          <p:cTn id="52" fill="hold">
                            <p:stCondLst>
                              <p:cond delay="0"/>
                            </p:stCondLst>
                            <p:childTnLst>
                              <p:par>
                                <p:cTn id="53" presetID="15" presetClass="entr" presetSubtype="0"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anim calcmode="lin" valueType="num">
                                      <p:cBhvr>
                                        <p:cTn id="55" dur="1000" fill="hold"/>
                                        <p:tgtEl>
                                          <p:spTgt spid="32"/>
                                        </p:tgtEl>
                                        <p:attrNameLst>
                                          <p:attrName>ppt_w</p:attrName>
                                        </p:attrNameLst>
                                      </p:cBhvr>
                                      <p:tavLst>
                                        <p:tav tm="0">
                                          <p:val>
                                            <p:fltVal val="0"/>
                                          </p:val>
                                        </p:tav>
                                        <p:tav tm="100000">
                                          <p:val>
                                            <p:strVal val="#ppt_w"/>
                                          </p:val>
                                        </p:tav>
                                      </p:tavLst>
                                    </p:anim>
                                    <p:anim calcmode="lin" valueType="num">
                                      <p:cBhvr>
                                        <p:cTn id="56" dur="1000" fill="hold"/>
                                        <p:tgtEl>
                                          <p:spTgt spid="32"/>
                                        </p:tgtEl>
                                        <p:attrNameLst>
                                          <p:attrName>ppt_h</p:attrName>
                                        </p:attrNameLst>
                                      </p:cBhvr>
                                      <p:tavLst>
                                        <p:tav tm="0">
                                          <p:val>
                                            <p:fltVal val="0"/>
                                          </p:val>
                                        </p:tav>
                                        <p:tav tm="100000">
                                          <p:val>
                                            <p:strVal val="#ppt_h"/>
                                          </p:val>
                                        </p:tav>
                                      </p:tavLst>
                                    </p:anim>
                                    <p:anim calcmode="lin" valueType="num">
                                      <p:cBhvr>
                                        <p:cTn id="57" dur="1000" fill="hold"/>
                                        <p:tgtEl>
                                          <p:spTgt spid="32"/>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3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wipe(down)">
                                      <p:cBhvr>
                                        <p:cTn id="63" dur="500"/>
                                        <p:tgtEl>
                                          <p:spTgt spid="44"/>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47"/>
                                        </p:tgtEl>
                                        <p:attrNameLst>
                                          <p:attrName>style.visibility</p:attrName>
                                        </p:attrNameLst>
                                      </p:cBhvr>
                                      <p:to>
                                        <p:strVal val="visible"/>
                                      </p:to>
                                    </p:set>
                                    <p:animEffect transition="in" filter="wipe(down)">
                                      <p:cBhvr>
                                        <p:cTn id="68"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build="p"/>
      <p:bldP spid="25" grpId="0" autoUpdateAnimBg="0"/>
      <p:bldP spid="38"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专门的关系运算</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graphicFrame>
        <p:nvGraphicFramePr>
          <p:cNvPr id="50" name="Group 193"/>
          <p:cNvGraphicFramePr>
            <a:graphicFrameLocks noGrp="1"/>
          </p:cNvGraphicFramePr>
          <p:nvPr/>
        </p:nvGraphicFramePr>
        <p:xfrm>
          <a:off x="2543369" y="2034400"/>
          <a:ext cx="1296987" cy="2133602"/>
        </p:xfrm>
        <a:graphic>
          <a:graphicData uri="http://schemas.openxmlformats.org/drawingml/2006/table">
            <a:tbl>
              <a:tblPr/>
              <a:tblGrid>
                <a:gridCol w="431800"/>
                <a:gridCol w="431800"/>
                <a:gridCol w="433387"/>
              </a:tblGrid>
              <a:tr h="427038">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16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1" lang="en-US" altLang="zh-CN" sz="16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1" lang="en-US" altLang="zh-CN" sz="16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7038">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5450">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7038">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7038">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b4</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51" name="Group 219"/>
          <p:cNvGraphicFramePr>
            <a:graphicFrameLocks noGrp="1"/>
          </p:cNvGraphicFramePr>
          <p:nvPr/>
        </p:nvGraphicFramePr>
        <p:xfrm>
          <a:off x="4415031" y="2034400"/>
          <a:ext cx="1008063" cy="2190750"/>
        </p:xfrm>
        <a:graphic>
          <a:graphicData uri="http://schemas.openxmlformats.org/drawingml/2006/table">
            <a:tbl>
              <a:tblPr/>
              <a:tblGrid>
                <a:gridCol w="504825"/>
                <a:gridCol w="503238"/>
              </a:tblGrid>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1" lang="en-US" altLang="zh-CN" sz="16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1" lang="en-US" altLang="zh-CN" sz="16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b5</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52" name="Text Box 242"/>
          <p:cNvSpPr txBox="1">
            <a:spLocks noChangeArrowheads="1"/>
          </p:cNvSpPr>
          <p:nvPr/>
        </p:nvSpPr>
        <p:spPr bwMode="auto">
          <a:xfrm>
            <a:off x="2163956" y="1958200"/>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a:latin typeface="Arial" panose="020B0604020202020204" pitchFamily="34" charset="0"/>
              </a:rPr>
              <a:t>R</a:t>
            </a:r>
            <a:endParaRPr lang="en-US" altLang="zh-CN" sz="2000" b="1">
              <a:latin typeface="Arial" panose="020B0604020202020204" pitchFamily="34" charset="0"/>
            </a:endParaRPr>
          </a:p>
        </p:txBody>
      </p:sp>
      <p:sp>
        <p:nvSpPr>
          <p:cNvPr id="53" name="Text Box 243"/>
          <p:cNvSpPr txBox="1">
            <a:spLocks noChangeArrowheads="1"/>
          </p:cNvSpPr>
          <p:nvPr/>
        </p:nvSpPr>
        <p:spPr bwMode="auto">
          <a:xfrm>
            <a:off x="4054669" y="1962963"/>
            <a:ext cx="3540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a:latin typeface="Arial" panose="020B0604020202020204" pitchFamily="34" charset="0"/>
              </a:rPr>
              <a:t>S</a:t>
            </a:r>
            <a:endParaRPr lang="en-US" altLang="zh-CN" sz="2000" b="1">
              <a:latin typeface="Arial" panose="020B0604020202020204" pitchFamily="34" charset="0"/>
            </a:endParaRPr>
          </a:p>
        </p:txBody>
      </p:sp>
      <mc:AlternateContent xmlns:mc="http://schemas.openxmlformats.org/markup-compatibility/2006">
        <mc:Choice xmlns:a14="http://schemas.microsoft.com/office/drawing/2010/main" Requires="a14">
          <p:sp>
            <p:nvSpPr>
              <p:cNvPr id="54" name="Text Box 244"/>
              <p:cNvSpPr txBox="1">
                <a:spLocks noChangeArrowheads="1"/>
              </p:cNvSpPr>
              <p:nvPr/>
            </p:nvSpPr>
            <p:spPr bwMode="auto">
              <a:xfrm>
                <a:off x="5854894" y="2078850"/>
                <a:ext cx="13236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14:m>
                  <m:oMathPara xmlns:m="http://schemas.openxmlformats.org/officeDocument/2006/math">
                    <m:oMathParaPr>
                      <m:jc m:val="centerGroup"/>
                    </m:oMathParaPr>
                    <m:oMath xmlns:m="http://schemas.openxmlformats.org/officeDocument/2006/math">
                      <m:r>
                        <a:rPr lang="en-US" altLang="zh-CN" sz="2000" b="1" i="1" smtClean="0">
                          <a:solidFill>
                            <a:srgbClr val="2A2A82"/>
                          </a:solidFill>
                          <a:latin typeface="Cambria Math" panose="02040503050406030204" pitchFamily="18" charset="0"/>
                        </a:rPr>
                        <m:t>𝑹</m:t>
                      </m:r>
                      <m:sSub>
                        <m:sSubPr>
                          <m:ctrlPr>
                            <a:rPr lang="en-US" altLang="zh-CN" sz="2000" b="1" i="1" smtClean="0">
                              <a:solidFill>
                                <a:srgbClr val="2A2A82"/>
                              </a:solidFill>
                              <a:latin typeface="Cambria Math" panose="02040503050406030204" pitchFamily="18" charset="0"/>
                            </a:rPr>
                          </m:ctrlPr>
                        </m:sSubPr>
                        <m:e>
                          <m:r>
                            <a:rPr lang="en-US" altLang="zh-CN" sz="2000" b="1" i="1" smtClean="0">
                              <a:solidFill>
                                <a:srgbClr val="2A2A82"/>
                              </a:solidFill>
                              <a:latin typeface="Cambria Math" panose="02040503050406030204" pitchFamily="18" charset="0"/>
                              <a:ea typeface="Cambria Math" panose="02040503050406030204" pitchFamily="18" charset="0"/>
                            </a:rPr>
                            <m:t>⋈</m:t>
                          </m:r>
                        </m:e>
                        <m:sub>
                          <m:r>
                            <a:rPr lang="en-US" altLang="zh-CN" sz="2000" b="1" i="1" smtClean="0">
                              <a:solidFill>
                                <a:srgbClr val="2A2A82"/>
                              </a:solidFill>
                              <a:latin typeface="Cambria Math" panose="02040503050406030204" pitchFamily="18" charset="0"/>
                            </a:rPr>
                            <m:t>𝑪</m:t>
                          </m:r>
                          <m:r>
                            <a:rPr lang="en-US" altLang="zh-CN" sz="2000" b="1" i="1" smtClean="0">
                              <a:solidFill>
                                <a:srgbClr val="2A2A82"/>
                              </a:solidFill>
                              <a:latin typeface="Cambria Math" panose="02040503050406030204" pitchFamily="18" charset="0"/>
                            </a:rPr>
                            <m:t>&lt;</m:t>
                          </m:r>
                          <m:r>
                            <a:rPr lang="en-US" altLang="zh-CN" sz="2000" b="1" i="1" smtClean="0">
                              <a:solidFill>
                                <a:srgbClr val="2A2A82"/>
                              </a:solidFill>
                              <a:latin typeface="Cambria Math" panose="02040503050406030204" pitchFamily="18" charset="0"/>
                            </a:rPr>
                            <m:t>𝑬</m:t>
                          </m:r>
                        </m:sub>
                      </m:sSub>
                      <m:r>
                        <a:rPr lang="en-US" altLang="zh-CN" sz="2000" b="1" i="1" smtClean="0">
                          <a:solidFill>
                            <a:srgbClr val="2A2A82"/>
                          </a:solidFill>
                          <a:latin typeface="Cambria Math" panose="02040503050406030204" pitchFamily="18" charset="0"/>
                        </a:rPr>
                        <m:t>𝑺</m:t>
                      </m:r>
                    </m:oMath>
                  </m:oMathPara>
                </a14:m>
                <a:endParaRPr lang="en-US" altLang="zh-CN" sz="2000" b="1" dirty="0">
                  <a:solidFill>
                    <a:srgbClr val="2A2A82"/>
                  </a:solidFill>
                  <a:latin typeface="Arial" panose="020B0604020202020204" pitchFamily="34" charset="0"/>
                </a:endParaRPr>
              </a:p>
            </p:txBody>
          </p:sp>
        </mc:Choice>
        <mc:Fallback>
          <p:sp>
            <p:nvSpPr>
              <p:cNvPr id="54" name="Text Box 244"/>
              <p:cNvSpPr txBox="1">
                <a:spLocks noRot="1" noChangeAspect="1" noMove="1" noResize="1" noEditPoints="1" noAdjustHandles="1" noChangeArrowheads="1" noChangeShapeType="1" noTextEdit="1"/>
              </p:cNvSpPr>
              <p:nvPr/>
            </p:nvSpPr>
            <p:spPr bwMode="auto">
              <a:xfrm>
                <a:off x="5854894" y="2078850"/>
                <a:ext cx="1323632" cy="400110"/>
              </a:xfrm>
              <a:prstGeom prst="rect">
                <a:avLst/>
              </a:prstGeom>
              <a:blipFill rotWithShape="1">
                <a:blip r:embed="rId1"/>
                <a:stretch>
                  <a:fillRect l="-15" t="-124" r="37" b="13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aphicFrame>
        <p:nvGraphicFramePr>
          <p:cNvPr id="55" name="Group 245"/>
          <p:cNvGraphicFramePr>
            <a:graphicFrameLocks noGrp="1"/>
          </p:cNvGraphicFramePr>
          <p:nvPr/>
        </p:nvGraphicFramePr>
        <p:xfrm>
          <a:off x="7223319" y="2034400"/>
          <a:ext cx="2444750" cy="2190750"/>
        </p:xfrm>
        <a:graphic>
          <a:graphicData uri="http://schemas.openxmlformats.org/drawingml/2006/table">
            <a:tbl>
              <a:tblPr/>
              <a:tblGrid>
                <a:gridCol w="431800"/>
                <a:gridCol w="576262"/>
                <a:gridCol w="431800"/>
                <a:gridCol w="576263"/>
                <a:gridCol w="428625"/>
              </a:tblGrid>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16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R.B</a:t>
                      </a:r>
                      <a:endParaRPr kumimoji="1" lang="en-US" altLang="zh-CN" sz="16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1" lang="en-US" altLang="zh-CN" sz="16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S.B</a:t>
                      </a:r>
                      <a:endParaRPr kumimoji="1" lang="en-US" altLang="zh-CN" sz="16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1" lang="en-US" altLang="zh-CN" sz="16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1" name="AutoShape 294"/>
          <p:cNvSpPr>
            <a:spLocks noChangeArrowheads="1"/>
          </p:cNvSpPr>
          <p:nvPr/>
        </p:nvSpPr>
        <p:spPr bwMode="auto">
          <a:xfrm>
            <a:off x="5567556" y="2899588"/>
            <a:ext cx="1511300" cy="215900"/>
          </a:xfrm>
          <a:prstGeom prst="rightArrow">
            <a:avLst>
              <a:gd name="adj1" fmla="val 50000"/>
              <a:gd name="adj2" fmla="val 175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mc:AlternateContent xmlns:mc="http://schemas.openxmlformats.org/markup-compatibility/2006">
        <mc:Choice xmlns:a14="http://schemas.microsoft.com/office/drawing/2010/main" Requires="a14">
          <p:sp>
            <p:nvSpPr>
              <p:cNvPr id="62" name="Text Box 295"/>
              <p:cNvSpPr txBox="1">
                <a:spLocks noChangeArrowheads="1"/>
              </p:cNvSpPr>
              <p:nvPr/>
            </p:nvSpPr>
            <p:spPr bwMode="auto">
              <a:xfrm>
                <a:off x="5576811" y="4957346"/>
                <a:ext cx="16634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14:m>
                  <m:oMathPara xmlns:m="http://schemas.openxmlformats.org/officeDocument/2006/math">
                    <m:oMathParaPr>
                      <m:jc m:val="centerGroup"/>
                    </m:oMathParaPr>
                    <m:oMath xmlns:m="http://schemas.openxmlformats.org/officeDocument/2006/math">
                      <m:sSub>
                        <m:sSubPr>
                          <m:ctrlPr>
                            <a:rPr lang="en-US" altLang="zh-CN" sz="2000" b="1" i="1" smtClean="0">
                              <a:solidFill>
                                <a:srgbClr val="2A2A82"/>
                              </a:solidFill>
                              <a:latin typeface="Cambria Math" panose="02040503050406030204" pitchFamily="18" charset="0"/>
                            </a:rPr>
                          </m:ctrlPr>
                        </m:sSubPr>
                        <m:e>
                          <m:r>
                            <a:rPr lang="en-US" altLang="zh-CN" sz="2000" b="1" i="1" smtClean="0">
                              <a:solidFill>
                                <a:srgbClr val="2A2A82"/>
                              </a:solidFill>
                              <a:latin typeface="Cambria Math" panose="02040503050406030204" pitchFamily="18" charset="0"/>
                            </a:rPr>
                            <m:t>𝑹</m:t>
                          </m:r>
                          <m:r>
                            <a:rPr lang="en-US" altLang="zh-CN" sz="2000" b="1" i="1" smtClean="0">
                              <a:solidFill>
                                <a:srgbClr val="2A2A82"/>
                              </a:solidFill>
                              <a:latin typeface="Cambria Math" panose="02040503050406030204" pitchFamily="18" charset="0"/>
                              <a:ea typeface="Cambria Math" panose="02040503050406030204" pitchFamily="18" charset="0"/>
                            </a:rPr>
                            <m:t>⋈</m:t>
                          </m:r>
                        </m:e>
                        <m:sub>
                          <m:r>
                            <a:rPr lang="en-US" altLang="zh-CN" sz="2000" b="1" i="1" smtClean="0">
                              <a:solidFill>
                                <a:srgbClr val="2A2A82"/>
                              </a:solidFill>
                              <a:latin typeface="Cambria Math" panose="02040503050406030204" pitchFamily="18" charset="0"/>
                            </a:rPr>
                            <m:t>𝑹</m:t>
                          </m:r>
                          <m:r>
                            <a:rPr lang="en-US" altLang="zh-CN" sz="2000" b="1" i="1" smtClean="0">
                              <a:solidFill>
                                <a:srgbClr val="2A2A82"/>
                              </a:solidFill>
                              <a:latin typeface="Cambria Math" panose="02040503050406030204" pitchFamily="18" charset="0"/>
                            </a:rPr>
                            <m:t>.</m:t>
                          </m:r>
                          <m:r>
                            <a:rPr lang="en-US" altLang="zh-CN" sz="2000" b="1" i="1" smtClean="0">
                              <a:solidFill>
                                <a:srgbClr val="2A2A82"/>
                              </a:solidFill>
                              <a:latin typeface="Cambria Math" panose="02040503050406030204" pitchFamily="18" charset="0"/>
                            </a:rPr>
                            <m:t>𝑩</m:t>
                          </m:r>
                          <m:r>
                            <a:rPr lang="en-US" altLang="zh-CN" sz="2000" b="1" i="1" smtClean="0">
                              <a:solidFill>
                                <a:srgbClr val="2A2A82"/>
                              </a:solidFill>
                              <a:latin typeface="Cambria Math" panose="02040503050406030204" pitchFamily="18" charset="0"/>
                            </a:rPr>
                            <m:t>=</m:t>
                          </m:r>
                          <m:r>
                            <a:rPr lang="en-US" altLang="zh-CN" sz="2000" b="1" i="1" smtClean="0">
                              <a:solidFill>
                                <a:srgbClr val="2A2A82"/>
                              </a:solidFill>
                              <a:latin typeface="Cambria Math" panose="02040503050406030204" pitchFamily="18" charset="0"/>
                            </a:rPr>
                            <m:t>𝑺</m:t>
                          </m:r>
                          <m:r>
                            <a:rPr lang="en-US" altLang="zh-CN" sz="2000" b="1" i="1" smtClean="0">
                              <a:solidFill>
                                <a:srgbClr val="2A2A82"/>
                              </a:solidFill>
                              <a:latin typeface="Cambria Math" panose="02040503050406030204" pitchFamily="18" charset="0"/>
                            </a:rPr>
                            <m:t>.</m:t>
                          </m:r>
                          <m:r>
                            <a:rPr lang="en-US" altLang="zh-CN" sz="2000" b="1" i="1" smtClean="0">
                              <a:solidFill>
                                <a:srgbClr val="2A2A82"/>
                              </a:solidFill>
                              <a:latin typeface="Cambria Math" panose="02040503050406030204" pitchFamily="18" charset="0"/>
                            </a:rPr>
                            <m:t>𝑩</m:t>
                          </m:r>
                        </m:sub>
                      </m:sSub>
                      <m:r>
                        <a:rPr lang="en-US" altLang="zh-CN" sz="2000" b="1" i="1" smtClean="0">
                          <a:solidFill>
                            <a:srgbClr val="2A2A82"/>
                          </a:solidFill>
                          <a:latin typeface="Cambria Math" panose="02040503050406030204" pitchFamily="18" charset="0"/>
                        </a:rPr>
                        <m:t>𝑺</m:t>
                      </m:r>
                    </m:oMath>
                  </m:oMathPara>
                </a14:m>
                <a:endParaRPr lang="en-US" altLang="zh-CN" sz="2000" b="1" dirty="0">
                  <a:solidFill>
                    <a:srgbClr val="2A2A82"/>
                  </a:solidFill>
                  <a:latin typeface="Arial" panose="020B0604020202020204" pitchFamily="34" charset="0"/>
                </a:endParaRPr>
              </a:p>
            </p:txBody>
          </p:sp>
        </mc:Choice>
        <mc:Fallback>
          <p:sp>
            <p:nvSpPr>
              <p:cNvPr id="62" name="Text Box 295"/>
              <p:cNvSpPr txBox="1">
                <a:spLocks noRot="1" noChangeAspect="1" noMove="1" noResize="1" noEditPoints="1" noAdjustHandles="1" noChangeArrowheads="1" noChangeShapeType="1" noTextEdit="1"/>
              </p:cNvSpPr>
              <p:nvPr/>
            </p:nvSpPr>
            <p:spPr bwMode="auto">
              <a:xfrm>
                <a:off x="5576811" y="4957346"/>
                <a:ext cx="1663469" cy="400110"/>
              </a:xfrm>
              <a:prstGeom prst="rect">
                <a:avLst/>
              </a:prstGeom>
              <a:blipFill rotWithShape="1">
                <a:blip r:embed="rId2"/>
                <a:stretch>
                  <a:fillRect l="-14" t="-134" r="1" b="14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aphicFrame>
        <p:nvGraphicFramePr>
          <p:cNvPr id="63" name="Group 296"/>
          <p:cNvGraphicFramePr>
            <a:graphicFrameLocks noGrp="1"/>
          </p:cNvGraphicFramePr>
          <p:nvPr/>
        </p:nvGraphicFramePr>
        <p:xfrm>
          <a:off x="7223319" y="4555350"/>
          <a:ext cx="2447925" cy="1825625"/>
        </p:xfrm>
        <a:graphic>
          <a:graphicData uri="http://schemas.openxmlformats.org/drawingml/2006/table">
            <a:tbl>
              <a:tblPr/>
              <a:tblGrid>
                <a:gridCol w="431800"/>
                <a:gridCol w="576262"/>
                <a:gridCol w="431800"/>
                <a:gridCol w="576263"/>
                <a:gridCol w="431800"/>
              </a:tblGrid>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16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R.B</a:t>
                      </a:r>
                      <a:endParaRPr kumimoji="1" lang="en-US" altLang="zh-CN" sz="16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1" lang="en-US" altLang="zh-CN" sz="16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S.B</a:t>
                      </a:r>
                      <a:endParaRPr kumimoji="1" lang="en-US" altLang="zh-CN" sz="16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1" lang="en-US" altLang="zh-CN" sz="16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4" name="AutoShape 334"/>
          <p:cNvSpPr>
            <a:spLocks noChangeArrowheads="1"/>
          </p:cNvSpPr>
          <p:nvPr/>
        </p:nvSpPr>
        <p:spPr bwMode="auto">
          <a:xfrm rot="5400000">
            <a:off x="2075850" y="4303732"/>
            <a:ext cx="719137" cy="6477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5" name="Group 335"/>
          <p:cNvGraphicFramePr>
            <a:graphicFrameLocks noGrp="1"/>
          </p:cNvGraphicFramePr>
          <p:nvPr/>
        </p:nvGraphicFramePr>
        <p:xfrm>
          <a:off x="2830706" y="4699813"/>
          <a:ext cx="1944688" cy="1825625"/>
        </p:xfrm>
        <a:graphic>
          <a:graphicData uri="http://schemas.openxmlformats.org/drawingml/2006/table">
            <a:tbl>
              <a:tblPr/>
              <a:tblGrid>
                <a:gridCol w="504825"/>
                <a:gridCol w="503238"/>
                <a:gridCol w="503237"/>
                <a:gridCol w="433388"/>
              </a:tblGrid>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16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1" lang="en-US" altLang="zh-CN" sz="16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1" lang="en-US" altLang="zh-CN" sz="16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1" lang="en-US" altLang="zh-CN" sz="16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125">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6" name="AutoShape 367"/>
          <p:cNvSpPr>
            <a:spLocks noChangeArrowheads="1"/>
          </p:cNvSpPr>
          <p:nvPr/>
        </p:nvSpPr>
        <p:spPr bwMode="auto">
          <a:xfrm rot="5400000">
            <a:off x="5100037" y="4303732"/>
            <a:ext cx="719137" cy="6477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mc:AlternateContent xmlns:mc="http://schemas.openxmlformats.org/markup-compatibility/2006">
        <mc:Choice xmlns:a14="http://schemas.microsoft.com/office/drawing/2010/main" Requires="a14">
          <p:sp>
            <p:nvSpPr>
              <p:cNvPr id="67" name="Text Box 368"/>
              <p:cNvSpPr txBox="1">
                <a:spLocks noChangeArrowheads="1"/>
              </p:cNvSpPr>
              <p:nvPr/>
            </p:nvSpPr>
            <p:spPr bwMode="auto">
              <a:xfrm>
                <a:off x="2830706" y="4225150"/>
                <a:ext cx="11525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14:m>
                  <m:oMathPara xmlns:m="http://schemas.openxmlformats.org/officeDocument/2006/math">
                    <m:oMathParaPr>
                      <m:jc m:val="centerGroup"/>
                    </m:oMathParaPr>
                    <m:oMath xmlns:m="http://schemas.openxmlformats.org/officeDocument/2006/math">
                      <m:r>
                        <a:rPr lang="en-US" altLang="zh-CN" sz="2000" b="1" i="1" smtClean="0">
                          <a:solidFill>
                            <a:srgbClr val="2A2A82"/>
                          </a:solidFill>
                          <a:latin typeface="Cambria Math" panose="02040503050406030204" pitchFamily="18" charset="0"/>
                        </a:rPr>
                        <m:t>𝑹</m:t>
                      </m:r>
                      <m:r>
                        <a:rPr lang="en-US" altLang="zh-CN" sz="2000" b="1" i="1" smtClean="0">
                          <a:solidFill>
                            <a:srgbClr val="2A2A82"/>
                          </a:solidFill>
                          <a:latin typeface="Cambria Math" panose="02040503050406030204" pitchFamily="18" charset="0"/>
                          <a:ea typeface="Cambria Math" panose="02040503050406030204" pitchFamily="18" charset="0"/>
                        </a:rPr>
                        <m:t>⋈</m:t>
                      </m:r>
                      <m:r>
                        <a:rPr lang="en-US" altLang="zh-CN" sz="2000" b="1" i="1" smtClean="0">
                          <a:solidFill>
                            <a:srgbClr val="2A2A82"/>
                          </a:solidFill>
                          <a:latin typeface="Cambria Math" panose="02040503050406030204" pitchFamily="18" charset="0"/>
                          <a:ea typeface="Cambria Math" panose="02040503050406030204" pitchFamily="18" charset="0"/>
                        </a:rPr>
                        <m:t>𝑺</m:t>
                      </m:r>
                    </m:oMath>
                  </m:oMathPara>
                </a14:m>
                <a:endParaRPr lang="en-US" altLang="zh-CN" sz="2000" b="1" dirty="0">
                  <a:solidFill>
                    <a:srgbClr val="2A2A82"/>
                  </a:solidFill>
                  <a:latin typeface="Times New Roman" panose="02020603050405020304" pitchFamily="18" charset="0"/>
                </a:endParaRPr>
              </a:p>
            </p:txBody>
          </p:sp>
        </mc:Choice>
        <mc:Fallback>
          <p:sp>
            <p:nvSpPr>
              <p:cNvPr id="67" name="Text Box 368"/>
              <p:cNvSpPr txBox="1">
                <a:spLocks noRot="1" noChangeAspect="1" noMove="1" noResize="1" noEditPoints="1" noAdjustHandles="1" noChangeArrowheads="1" noChangeShapeType="1" noTextEdit="1"/>
              </p:cNvSpPr>
              <p:nvPr/>
            </p:nvSpPr>
            <p:spPr bwMode="auto">
              <a:xfrm>
                <a:off x="2830706" y="4225150"/>
                <a:ext cx="1152525" cy="400110"/>
              </a:xfrm>
              <a:prstGeom prst="rect">
                <a:avLst/>
              </a:prstGeom>
              <a:blipFill rotWithShape="1">
                <a:blip r:embed="rId3"/>
                <a:stretch>
                  <a:fillRect l="-44" t="-124" r="44" b="13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checkerboard(across)">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checkerboard(across)">
                                      <p:cBhvr>
                                        <p:cTn id="12" dur="500"/>
                                        <p:tgtEl>
                                          <p:spTgt spid="6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checkerboard(across)">
                                      <p:cBhvr>
                                        <p:cTn id="17"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专门的关系运算</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
        <p:nvSpPr>
          <p:cNvPr id="6" name="Rectangle 73"/>
          <p:cNvSpPr>
            <a:spLocks noChangeArrowheads="1"/>
          </p:cNvSpPr>
          <p:nvPr/>
        </p:nvSpPr>
        <p:spPr bwMode="auto">
          <a:xfrm>
            <a:off x="2309193" y="2090002"/>
            <a:ext cx="7010400" cy="1905000"/>
          </a:xfrm>
          <a:prstGeom prst="rect">
            <a:avLst/>
          </a:prstGeom>
          <a:solidFill>
            <a:schemeClr val="accent1"/>
          </a:solidFill>
          <a:ln w="38100" cmpd="dbl">
            <a:solidFill>
              <a:srgbClr val="CC99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60000"/>
              </a:spcBef>
              <a:buClr>
                <a:schemeClr val="tx2"/>
              </a:buClr>
              <a:buSzPct val="90000"/>
              <a:buFont typeface="Wingdings" panose="05000000000000000000" pitchFamily="2" charset="2"/>
              <a:buChar char="n"/>
            </a:pPr>
            <a:r>
              <a:rPr lang="en-US" altLang="zh-CN" sz="2400" dirty="0">
                <a:latin typeface="Helvetica" panose="020B0604020202020204" pitchFamily="34" charset="0"/>
              </a:rPr>
              <a:t>Relation schema</a:t>
            </a:r>
            <a:endParaRPr lang="en-US" altLang="zh-CN" sz="2400" dirty="0">
              <a:latin typeface="Helvetica" panose="020B0604020202020204" pitchFamily="34" charset="0"/>
            </a:endParaRPr>
          </a:p>
          <a:p>
            <a:pPr lvl="1" eaLnBrk="1" hangingPunct="1">
              <a:lnSpc>
                <a:spcPct val="130000"/>
              </a:lnSpc>
              <a:spcBef>
                <a:spcPct val="5000"/>
              </a:spcBef>
              <a:buClr>
                <a:schemeClr val="hlink"/>
              </a:buClr>
              <a:buSzPct val="80000"/>
              <a:buFont typeface="Wingdings" panose="05000000000000000000" pitchFamily="2" charset="2"/>
              <a:buChar char="n"/>
            </a:pPr>
            <a:r>
              <a:rPr lang="en-US" altLang="zh-CN" sz="2000" i="1" dirty="0">
                <a:latin typeface="Helvetica" panose="020B0604020202020204" pitchFamily="34" charset="0"/>
                <a:ea typeface="黑体" panose="02010609060101010101" pitchFamily="49" charset="-122"/>
              </a:rPr>
              <a:t>Student</a:t>
            </a:r>
            <a:r>
              <a:rPr lang="en-US" altLang="zh-CN" sz="2000" dirty="0">
                <a:latin typeface="Helvetica" panose="020B0604020202020204" pitchFamily="34" charset="0"/>
                <a:ea typeface="黑体" panose="02010609060101010101" pitchFamily="49" charset="-122"/>
              </a:rPr>
              <a:t> (</a:t>
            </a:r>
            <a:r>
              <a:rPr lang="en-US" altLang="zh-CN" sz="2000" b="1" i="1" u="sng" dirty="0" err="1">
                <a:solidFill>
                  <a:srgbClr val="008000"/>
                </a:solidFill>
                <a:latin typeface="Helvetica" panose="020B0604020202020204" pitchFamily="34" charset="0"/>
                <a:ea typeface="黑体" panose="02010609060101010101" pitchFamily="49" charset="-122"/>
              </a:rPr>
              <a:t>sno</a:t>
            </a:r>
            <a:r>
              <a:rPr lang="en-US" altLang="zh-CN" sz="2000" dirty="0">
                <a:latin typeface="Helvetica" panose="020B0604020202020204" pitchFamily="34" charset="0"/>
                <a:ea typeface="黑体" panose="02010609060101010101" pitchFamily="49" charset="-122"/>
              </a:rPr>
              <a:t>, name, sex, age)</a:t>
            </a:r>
            <a:endParaRPr lang="en-US" altLang="zh-CN" sz="2000" dirty="0">
              <a:latin typeface="Helvetica" panose="020B0604020202020204" pitchFamily="34" charset="0"/>
              <a:ea typeface="黑体" panose="02010609060101010101" pitchFamily="49" charset="-122"/>
            </a:endParaRPr>
          </a:p>
          <a:p>
            <a:pPr lvl="1" eaLnBrk="1" hangingPunct="1">
              <a:lnSpc>
                <a:spcPct val="130000"/>
              </a:lnSpc>
              <a:spcBef>
                <a:spcPct val="5000"/>
              </a:spcBef>
              <a:buClr>
                <a:schemeClr val="hlink"/>
              </a:buClr>
              <a:buSzPct val="80000"/>
              <a:buFont typeface="Wingdings" panose="05000000000000000000" pitchFamily="2" charset="2"/>
              <a:buChar char="n"/>
            </a:pPr>
            <a:r>
              <a:rPr lang="en-US" altLang="zh-CN" sz="2000" i="1" dirty="0">
                <a:latin typeface="Helvetica" panose="020B0604020202020204" pitchFamily="34" charset="0"/>
                <a:ea typeface="黑体" panose="02010609060101010101" pitchFamily="49" charset="-122"/>
              </a:rPr>
              <a:t>Course</a:t>
            </a:r>
            <a:r>
              <a:rPr lang="en-US" altLang="zh-CN" sz="2000" dirty="0">
                <a:latin typeface="Helvetica" panose="020B0604020202020204" pitchFamily="34" charset="0"/>
                <a:ea typeface="黑体" panose="02010609060101010101" pitchFamily="49" charset="-122"/>
              </a:rPr>
              <a:t>  (</a:t>
            </a:r>
            <a:r>
              <a:rPr lang="en-US" altLang="zh-CN" sz="2000" b="1" i="1" u="sng" dirty="0" err="1">
                <a:solidFill>
                  <a:srgbClr val="0033CC"/>
                </a:solidFill>
                <a:latin typeface="Helvetica" panose="020B0604020202020204" pitchFamily="34" charset="0"/>
                <a:ea typeface="黑体" panose="02010609060101010101" pitchFamily="49" charset="-122"/>
              </a:rPr>
              <a:t>cno</a:t>
            </a:r>
            <a:r>
              <a:rPr lang="en-US" altLang="zh-CN" sz="2000" dirty="0">
                <a:latin typeface="Helvetica" panose="020B0604020202020204" pitchFamily="34" charset="0"/>
                <a:ea typeface="黑体" panose="02010609060101010101" pitchFamily="49" charset="-122"/>
              </a:rPr>
              <a:t>, </a:t>
            </a:r>
            <a:r>
              <a:rPr lang="en-US" altLang="zh-CN" sz="2000" dirty="0" err="1">
                <a:latin typeface="Helvetica" panose="020B0604020202020204" pitchFamily="34" charset="0"/>
                <a:ea typeface="黑体" panose="02010609060101010101" pitchFamily="49" charset="-122"/>
              </a:rPr>
              <a:t>cname</a:t>
            </a:r>
            <a:r>
              <a:rPr lang="en-US" altLang="zh-CN" sz="2000" dirty="0">
                <a:latin typeface="Helvetica" panose="020B0604020202020204" pitchFamily="34" charset="0"/>
                <a:ea typeface="黑体" panose="02010609060101010101" pitchFamily="49" charset="-122"/>
              </a:rPr>
              <a:t>, credit)</a:t>
            </a:r>
            <a:endParaRPr lang="en-US" altLang="zh-CN" sz="2000" dirty="0">
              <a:latin typeface="Helvetica" panose="020B0604020202020204" pitchFamily="34" charset="0"/>
              <a:ea typeface="黑体" panose="02010609060101010101" pitchFamily="49" charset="-122"/>
            </a:endParaRPr>
          </a:p>
          <a:p>
            <a:pPr lvl="1" eaLnBrk="1" hangingPunct="1">
              <a:lnSpc>
                <a:spcPct val="130000"/>
              </a:lnSpc>
              <a:spcBef>
                <a:spcPct val="5000"/>
              </a:spcBef>
              <a:buClr>
                <a:schemeClr val="hlink"/>
              </a:buClr>
              <a:buSzPct val="80000"/>
              <a:buFont typeface="Wingdings" panose="05000000000000000000" pitchFamily="2" charset="2"/>
              <a:buChar char="n"/>
            </a:pPr>
            <a:r>
              <a:rPr lang="en-US" altLang="zh-CN" sz="2000" i="1" dirty="0">
                <a:latin typeface="Helvetica" panose="020B0604020202020204" pitchFamily="34" charset="0"/>
                <a:ea typeface="黑体" panose="02010609060101010101" pitchFamily="49" charset="-122"/>
              </a:rPr>
              <a:t>SC</a:t>
            </a:r>
            <a:r>
              <a:rPr lang="en-US" altLang="zh-CN" sz="2000" dirty="0">
                <a:latin typeface="Helvetica" panose="020B0604020202020204" pitchFamily="34" charset="0"/>
                <a:ea typeface="黑体" panose="02010609060101010101" pitchFamily="49" charset="-122"/>
              </a:rPr>
              <a:t> (</a:t>
            </a:r>
            <a:r>
              <a:rPr lang="en-US" altLang="zh-CN" sz="2000" b="1" i="1" u="sng" dirty="0" err="1">
                <a:solidFill>
                  <a:srgbClr val="008000"/>
                </a:solidFill>
                <a:latin typeface="Helvetica" panose="020B0604020202020204" pitchFamily="34" charset="0"/>
                <a:ea typeface="黑体" panose="02010609060101010101" pitchFamily="49" charset="-122"/>
              </a:rPr>
              <a:t>sno</a:t>
            </a:r>
            <a:r>
              <a:rPr lang="en-US" altLang="zh-CN" sz="2000" u="sng" dirty="0">
                <a:latin typeface="Helvetica" panose="020B0604020202020204" pitchFamily="34" charset="0"/>
                <a:ea typeface="黑体" panose="02010609060101010101" pitchFamily="49" charset="-122"/>
              </a:rPr>
              <a:t>, </a:t>
            </a:r>
            <a:r>
              <a:rPr lang="en-US" altLang="zh-CN" sz="2000" b="1" i="1" u="sng" dirty="0" err="1">
                <a:solidFill>
                  <a:srgbClr val="0033CC"/>
                </a:solidFill>
                <a:latin typeface="Helvetica" panose="020B0604020202020204" pitchFamily="34" charset="0"/>
                <a:ea typeface="黑体" panose="02010609060101010101" pitchFamily="49" charset="-122"/>
              </a:rPr>
              <a:t>cno</a:t>
            </a:r>
            <a:r>
              <a:rPr lang="en-US" altLang="zh-CN" sz="2000" dirty="0">
                <a:latin typeface="Helvetica" panose="020B0604020202020204" pitchFamily="34" charset="0"/>
                <a:ea typeface="黑体" panose="02010609060101010101" pitchFamily="49" charset="-122"/>
              </a:rPr>
              <a:t>, grade)</a:t>
            </a:r>
            <a:endParaRPr lang="zh-CN" altLang="en-US" sz="2000" dirty="0">
              <a:latin typeface="Helvetica" panose="020B060402020202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专门的关系运算</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
        <p:nvSpPr>
          <p:cNvPr id="39" name="Rectangle 73"/>
          <p:cNvSpPr>
            <a:spLocks noChangeArrowheads="1"/>
          </p:cNvSpPr>
          <p:nvPr/>
        </p:nvSpPr>
        <p:spPr bwMode="auto">
          <a:xfrm>
            <a:off x="2957947" y="4791075"/>
            <a:ext cx="7010400" cy="1905000"/>
          </a:xfrm>
          <a:prstGeom prst="rect">
            <a:avLst/>
          </a:prstGeom>
          <a:solidFill>
            <a:schemeClr val="accent1"/>
          </a:solidFill>
          <a:ln w="38100" cmpd="dbl">
            <a:solidFill>
              <a:srgbClr val="CC99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60000"/>
              </a:spcBef>
              <a:buClr>
                <a:schemeClr val="tx2"/>
              </a:buClr>
              <a:buSzPct val="90000"/>
              <a:buFont typeface="Wingdings" panose="05000000000000000000" pitchFamily="2" charset="2"/>
              <a:buChar char="n"/>
            </a:pPr>
            <a:r>
              <a:rPr lang="en-US" altLang="zh-CN" sz="2400">
                <a:latin typeface="Helvetica" panose="020B0604020202020204" pitchFamily="34" charset="0"/>
              </a:rPr>
              <a:t>Relation schema</a:t>
            </a:r>
            <a:endParaRPr lang="en-US" altLang="zh-CN" sz="2400">
              <a:latin typeface="Helvetica" panose="020B0604020202020204" pitchFamily="34" charset="0"/>
            </a:endParaRPr>
          </a:p>
          <a:p>
            <a:pPr lvl="1" eaLnBrk="1" hangingPunct="1">
              <a:lnSpc>
                <a:spcPct val="130000"/>
              </a:lnSpc>
              <a:spcBef>
                <a:spcPct val="5000"/>
              </a:spcBef>
              <a:buClr>
                <a:schemeClr val="hlink"/>
              </a:buClr>
              <a:buSzPct val="80000"/>
              <a:buFont typeface="Wingdings" panose="05000000000000000000" pitchFamily="2" charset="2"/>
              <a:buChar char="n"/>
            </a:pPr>
            <a:r>
              <a:rPr lang="en-US" altLang="zh-CN" sz="2000" i="1">
                <a:latin typeface="Helvetica" panose="020B0604020202020204" pitchFamily="34" charset="0"/>
                <a:ea typeface="黑体" panose="02010609060101010101" pitchFamily="49" charset="-122"/>
              </a:rPr>
              <a:t>Student</a:t>
            </a:r>
            <a:r>
              <a:rPr lang="en-US" altLang="zh-CN" sz="2000">
                <a:latin typeface="Helvetica" panose="020B0604020202020204" pitchFamily="34" charset="0"/>
                <a:ea typeface="黑体" panose="02010609060101010101" pitchFamily="49" charset="-122"/>
              </a:rPr>
              <a:t> (</a:t>
            </a:r>
            <a:r>
              <a:rPr lang="en-US" altLang="zh-CN" sz="2000" b="1" i="1" u="sng">
                <a:solidFill>
                  <a:srgbClr val="008000"/>
                </a:solidFill>
                <a:latin typeface="Helvetica" panose="020B0604020202020204" pitchFamily="34" charset="0"/>
                <a:ea typeface="黑体" panose="02010609060101010101" pitchFamily="49" charset="-122"/>
              </a:rPr>
              <a:t>sno</a:t>
            </a:r>
            <a:r>
              <a:rPr lang="en-US" altLang="zh-CN" sz="2000">
                <a:latin typeface="Helvetica" panose="020B0604020202020204" pitchFamily="34" charset="0"/>
                <a:ea typeface="黑体" panose="02010609060101010101" pitchFamily="49" charset="-122"/>
              </a:rPr>
              <a:t>, name, sex, age)</a:t>
            </a:r>
            <a:endParaRPr lang="en-US" altLang="zh-CN" sz="2000">
              <a:latin typeface="Helvetica" panose="020B0604020202020204" pitchFamily="34" charset="0"/>
              <a:ea typeface="黑体" panose="02010609060101010101" pitchFamily="49" charset="-122"/>
            </a:endParaRPr>
          </a:p>
          <a:p>
            <a:pPr lvl="1" eaLnBrk="1" hangingPunct="1">
              <a:lnSpc>
                <a:spcPct val="130000"/>
              </a:lnSpc>
              <a:spcBef>
                <a:spcPct val="5000"/>
              </a:spcBef>
              <a:buClr>
                <a:schemeClr val="hlink"/>
              </a:buClr>
              <a:buSzPct val="80000"/>
              <a:buFont typeface="Wingdings" panose="05000000000000000000" pitchFamily="2" charset="2"/>
              <a:buChar char="n"/>
            </a:pPr>
            <a:r>
              <a:rPr lang="en-US" altLang="zh-CN" sz="2000" i="1">
                <a:latin typeface="Helvetica" panose="020B0604020202020204" pitchFamily="34" charset="0"/>
                <a:ea typeface="黑体" panose="02010609060101010101" pitchFamily="49" charset="-122"/>
              </a:rPr>
              <a:t>Course</a:t>
            </a:r>
            <a:r>
              <a:rPr lang="en-US" altLang="zh-CN" sz="2000">
                <a:latin typeface="Helvetica" panose="020B0604020202020204" pitchFamily="34" charset="0"/>
                <a:ea typeface="黑体" panose="02010609060101010101" pitchFamily="49" charset="-122"/>
              </a:rPr>
              <a:t>  (</a:t>
            </a:r>
            <a:r>
              <a:rPr lang="en-US" altLang="zh-CN" sz="2000" b="1" i="1" u="sng">
                <a:solidFill>
                  <a:srgbClr val="0033CC"/>
                </a:solidFill>
                <a:latin typeface="Helvetica" panose="020B0604020202020204" pitchFamily="34" charset="0"/>
                <a:ea typeface="黑体" panose="02010609060101010101" pitchFamily="49" charset="-122"/>
              </a:rPr>
              <a:t>cno</a:t>
            </a:r>
            <a:r>
              <a:rPr lang="en-US" altLang="zh-CN" sz="2000">
                <a:latin typeface="Helvetica" panose="020B0604020202020204" pitchFamily="34" charset="0"/>
                <a:ea typeface="黑体" panose="02010609060101010101" pitchFamily="49" charset="-122"/>
              </a:rPr>
              <a:t>, cname, credit)</a:t>
            </a:r>
            <a:endParaRPr lang="en-US" altLang="zh-CN" sz="2000">
              <a:latin typeface="Helvetica" panose="020B0604020202020204" pitchFamily="34" charset="0"/>
              <a:ea typeface="黑体" panose="02010609060101010101" pitchFamily="49" charset="-122"/>
            </a:endParaRPr>
          </a:p>
          <a:p>
            <a:pPr lvl="1" eaLnBrk="1" hangingPunct="1">
              <a:lnSpc>
                <a:spcPct val="130000"/>
              </a:lnSpc>
              <a:spcBef>
                <a:spcPct val="5000"/>
              </a:spcBef>
              <a:buClr>
                <a:schemeClr val="hlink"/>
              </a:buClr>
              <a:buSzPct val="80000"/>
              <a:buFont typeface="Wingdings" panose="05000000000000000000" pitchFamily="2" charset="2"/>
              <a:buChar char="n"/>
            </a:pPr>
            <a:r>
              <a:rPr lang="en-US" altLang="zh-CN" sz="2000" i="1">
                <a:latin typeface="Helvetica" panose="020B0604020202020204" pitchFamily="34" charset="0"/>
                <a:ea typeface="黑体" panose="02010609060101010101" pitchFamily="49" charset="-122"/>
              </a:rPr>
              <a:t>SC</a:t>
            </a:r>
            <a:r>
              <a:rPr lang="en-US" altLang="zh-CN" sz="2000">
                <a:latin typeface="Helvetica" panose="020B0604020202020204" pitchFamily="34" charset="0"/>
                <a:ea typeface="黑体" panose="02010609060101010101" pitchFamily="49" charset="-122"/>
              </a:rPr>
              <a:t> (</a:t>
            </a:r>
            <a:r>
              <a:rPr lang="en-US" altLang="zh-CN" sz="2000" b="1" i="1" u="sng">
                <a:solidFill>
                  <a:srgbClr val="008000"/>
                </a:solidFill>
                <a:latin typeface="Helvetica" panose="020B0604020202020204" pitchFamily="34" charset="0"/>
                <a:ea typeface="黑体" panose="02010609060101010101" pitchFamily="49" charset="-122"/>
              </a:rPr>
              <a:t>sno</a:t>
            </a:r>
            <a:r>
              <a:rPr lang="en-US" altLang="zh-CN" sz="2000" u="sng">
                <a:latin typeface="Helvetica" panose="020B0604020202020204" pitchFamily="34" charset="0"/>
                <a:ea typeface="黑体" panose="02010609060101010101" pitchFamily="49" charset="-122"/>
              </a:rPr>
              <a:t>, </a:t>
            </a:r>
            <a:r>
              <a:rPr lang="en-US" altLang="zh-CN" sz="2000" b="1" i="1" u="sng">
                <a:solidFill>
                  <a:srgbClr val="0033CC"/>
                </a:solidFill>
                <a:latin typeface="Helvetica" panose="020B0604020202020204" pitchFamily="34" charset="0"/>
                <a:ea typeface="黑体" panose="02010609060101010101" pitchFamily="49" charset="-122"/>
              </a:rPr>
              <a:t>cno</a:t>
            </a:r>
            <a:r>
              <a:rPr lang="en-US" altLang="zh-CN" sz="2000">
                <a:latin typeface="Helvetica" panose="020B0604020202020204" pitchFamily="34" charset="0"/>
                <a:ea typeface="黑体" panose="02010609060101010101" pitchFamily="49" charset="-122"/>
              </a:rPr>
              <a:t>, grade)</a:t>
            </a:r>
            <a:endParaRPr lang="zh-CN" altLang="en-US" sz="2000">
              <a:latin typeface="Helvetica" panose="020B0604020202020204" pitchFamily="34" charset="0"/>
            </a:endParaRPr>
          </a:p>
        </p:txBody>
      </p:sp>
      <p:pic>
        <p:nvPicPr>
          <p:cNvPr id="40" name="Picture 3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10347" y="4816475"/>
            <a:ext cx="63246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 name="Group 42"/>
          <p:cNvGrpSpPr/>
          <p:nvPr/>
        </p:nvGrpSpPr>
        <p:grpSpPr bwMode="auto">
          <a:xfrm>
            <a:off x="2424547" y="1293813"/>
            <a:ext cx="8763000" cy="3505200"/>
            <a:chOff x="144" y="768"/>
            <a:chExt cx="5520" cy="2208"/>
          </a:xfrm>
        </p:grpSpPr>
        <p:graphicFrame>
          <p:nvGraphicFramePr>
            <p:cNvPr id="42" name="Object 43"/>
            <p:cNvGraphicFramePr>
              <a:graphicFrameLocks noChangeAspect="1"/>
            </p:cNvGraphicFramePr>
            <p:nvPr/>
          </p:nvGraphicFramePr>
          <p:xfrm>
            <a:off x="144" y="1008"/>
            <a:ext cx="2064" cy="1914"/>
          </p:xfrm>
          <a:graphic>
            <a:graphicData uri="http://schemas.openxmlformats.org/presentationml/2006/ole">
              <mc:AlternateContent xmlns:mc="http://schemas.openxmlformats.org/markup-compatibility/2006">
                <mc:Choice xmlns:v="urn:schemas-microsoft-com:vml" Requires="v">
                  <p:oleObj spid="_x0000_s0" name="位图图像" r:id="rId2" imgW="2847975" imgH="2733675" progId="Paint.Picture">
                    <p:embed/>
                  </p:oleObj>
                </mc:Choice>
                <mc:Fallback>
                  <p:oleObj name="位图图像" r:id="rId2" imgW="2847975" imgH="2733675" progId="Paint.Picture">
                    <p:embed/>
                    <p:pic>
                      <p:nvPicPr>
                        <p:cNvPr id="0" name="Object 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 y="1008"/>
                          <a:ext cx="2064" cy="19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 name="Object 44"/>
            <p:cNvGraphicFramePr>
              <a:graphicFrameLocks noChangeAspect="1"/>
            </p:cNvGraphicFramePr>
            <p:nvPr/>
          </p:nvGraphicFramePr>
          <p:xfrm>
            <a:off x="3984" y="1248"/>
            <a:ext cx="1680" cy="1392"/>
          </p:xfrm>
          <a:graphic>
            <a:graphicData uri="http://schemas.openxmlformats.org/presentationml/2006/ole">
              <mc:AlternateContent xmlns:mc="http://schemas.openxmlformats.org/markup-compatibility/2006">
                <mc:Choice xmlns:v="urn:schemas-microsoft-com:vml" Requires="v">
                  <p:oleObj spid="_x0000_s6" name="位图图像" r:id="rId4" imgW="2438400" imgH="1828800" progId="Paint.Picture">
                    <p:embed/>
                  </p:oleObj>
                </mc:Choice>
                <mc:Fallback>
                  <p:oleObj name="位图图像" r:id="rId4" imgW="2438400" imgH="1828800" progId="Paint.Picture">
                    <p:embed/>
                    <p:pic>
                      <p:nvPicPr>
                        <p:cNvPr id="0" name="Object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4" y="1248"/>
                          <a:ext cx="1680" cy="13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 name="Object 45"/>
            <p:cNvGraphicFramePr>
              <a:graphicFrameLocks noChangeAspect="1"/>
            </p:cNvGraphicFramePr>
            <p:nvPr/>
          </p:nvGraphicFramePr>
          <p:xfrm>
            <a:off x="2496" y="960"/>
            <a:ext cx="1230" cy="2016"/>
          </p:xfrm>
          <a:graphic>
            <a:graphicData uri="http://schemas.openxmlformats.org/presentationml/2006/ole">
              <mc:AlternateContent xmlns:mc="http://schemas.openxmlformats.org/markup-compatibility/2006">
                <mc:Choice xmlns:v="urn:schemas-microsoft-com:vml" Requires="v">
                  <p:oleObj spid="_x0000_s7" name="位图图像" r:id="rId6" imgW="1952625" imgH="3200400" progId="Paint.Picture">
                    <p:embed/>
                  </p:oleObj>
                </mc:Choice>
                <mc:Fallback>
                  <p:oleObj name="位图图像" r:id="rId6" imgW="1952625" imgH="3200400" progId="Paint.Picture">
                    <p:embed/>
                    <p:pic>
                      <p:nvPicPr>
                        <p:cNvPr id="0" name="Object 4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6" y="960"/>
                          <a:ext cx="1230" cy="20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 name="Text Box 46"/>
            <p:cNvSpPr txBox="1">
              <a:spLocks noChangeArrowheads="1"/>
            </p:cNvSpPr>
            <p:nvPr/>
          </p:nvSpPr>
          <p:spPr bwMode="auto">
            <a:xfrm>
              <a:off x="624" y="816"/>
              <a:ext cx="1104"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2000" b="1" i="1">
                  <a:latin typeface="Helvetica" panose="020B0604020202020204" pitchFamily="34" charset="0"/>
                </a:rPr>
                <a:t>Student</a:t>
              </a:r>
              <a:endParaRPr lang="en-US" altLang="zh-CN" sz="2000" b="1" i="1">
                <a:latin typeface="Helvetica" panose="020B0604020202020204" pitchFamily="34" charset="0"/>
              </a:endParaRPr>
            </a:p>
          </p:txBody>
        </p:sp>
        <p:sp>
          <p:nvSpPr>
            <p:cNvPr id="46" name="Text Box 47"/>
            <p:cNvSpPr txBox="1">
              <a:spLocks noChangeArrowheads="1"/>
            </p:cNvSpPr>
            <p:nvPr/>
          </p:nvSpPr>
          <p:spPr bwMode="auto">
            <a:xfrm>
              <a:off x="4224" y="960"/>
              <a:ext cx="1104"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2000" b="1" i="1">
                  <a:latin typeface="Helvetica" panose="020B0604020202020204" pitchFamily="34" charset="0"/>
                </a:rPr>
                <a:t>Course</a:t>
              </a:r>
              <a:endParaRPr lang="en-US" altLang="zh-CN" sz="2000" b="1" i="1">
                <a:latin typeface="Helvetica" panose="020B0604020202020204" pitchFamily="34" charset="0"/>
              </a:endParaRPr>
            </a:p>
          </p:txBody>
        </p:sp>
        <p:sp>
          <p:nvSpPr>
            <p:cNvPr id="47" name="Text Box 48"/>
            <p:cNvSpPr txBox="1">
              <a:spLocks noChangeArrowheads="1"/>
            </p:cNvSpPr>
            <p:nvPr/>
          </p:nvSpPr>
          <p:spPr bwMode="auto">
            <a:xfrm>
              <a:off x="2544" y="768"/>
              <a:ext cx="1104"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2000" b="1" i="1">
                  <a:latin typeface="Helvetica" panose="020B0604020202020204" pitchFamily="34" charset="0"/>
                </a:rPr>
                <a:t>SC</a:t>
              </a:r>
              <a:endParaRPr lang="en-US" altLang="zh-CN" sz="2000" b="1" i="1">
                <a:latin typeface="Helvetica" panose="020B0604020202020204" pitchFamily="34" charset="0"/>
              </a:endParaRPr>
            </a:p>
          </p:txBody>
        </p:sp>
      </p:grpSp>
      <p:grpSp>
        <p:nvGrpSpPr>
          <p:cNvPr id="48" name="Group 49"/>
          <p:cNvGrpSpPr/>
          <p:nvPr/>
        </p:nvGrpSpPr>
        <p:grpSpPr bwMode="auto">
          <a:xfrm>
            <a:off x="5548747" y="2416175"/>
            <a:ext cx="762000" cy="914400"/>
            <a:chOff x="2112" y="1392"/>
            <a:chExt cx="480" cy="576"/>
          </a:xfrm>
        </p:grpSpPr>
        <p:sp>
          <p:nvSpPr>
            <p:cNvPr id="49" name="Line 50"/>
            <p:cNvSpPr>
              <a:spLocks noChangeShapeType="1"/>
            </p:cNvSpPr>
            <p:nvPr/>
          </p:nvSpPr>
          <p:spPr bwMode="auto">
            <a:xfrm flipH="1">
              <a:off x="2160" y="1392"/>
              <a:ext cx="384" cy="9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51"/>
            <p:cNvSpPr>
              <a:spLocks noChangeShapeType="1"/>
            </p:cNvSpPr>
            <p:nvPr/>
          </p:nvSpPr>
          <p:spPr bwMode="auto">
            <a:xfrm flipH="1" flipV="1">
              <a:off x="2208" y="1536"/>
              <a:ext cx="384" cy="14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52"/>
            <p:cNvSpPr>
              <a:spLocks noChangeShapeType="1"/>
            </p:cNvSpPr>
            <p:nvPr/>
          </p:nvSpPr>
          <p:spPr bwMode="auto">
            <a:xfrm flipH="1" flipV="1">
              <a:off x="2112" y="1536"/>
              <a:ext cx="480" cy="43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2" name="Group 53"/>
          <p:cNvGrpSpPr/>
          <p:nvPr/>
        </p:nvGrpSpPr>
        <p:grpSpPr bwMode="auto">
          <a:xfrm>
            <a:off x="5548747" y="3101975"/>
            <a:ext cx="762000" cy="1066800"/>
            <a:chOff x="2112" y="1824"/>
            <a:chExt cx="480" cy="672"/>
          </a:xfrm>
        </p:grpSpPr>
        <p:sp>
          <p:nvSpPr>
            <p:cNvPr id="53" name="Line 54"/>
            <p:cNvSpPr>
              <a:spLocks noChangeShapeType="1"/>
            </p:cNvSpPr>
            <p:nvPr/>
          </p:nvSpPr>
          <p:spPr bwMode="auto">
            <a:xfrm flipH="1" flipV="1">
              <a:off x="2112" y="1824"/>
              <a:ext cx="480" cy="43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55"/>
            <p:cNvSpPr>
              <a:spLocks noChangeShapeType="1"/>
            </p:cNvSpPr>
            <p:nvPr/>
          </p:nvSpPr>
          <p:spPr bwMode="auto">
            <a:xfrm flipH="1" flipV="1">
              <a:off x="2112" y="1872"/>
              <a:ext cx="480" cy="62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5" name="Line 56"/>
          <p:cNvSpPr>
            <a:spLocks noChangeShapeType="1"/>
          </p:cNvSpPr>
          <p:nvPr/>
        </p:nvSpPr>
        <p:spPr bwMode="auto">
          <a:xfrm flipH="1" flipV="1">
            <a:off x="5548747" y="3635375"/>
            <a:ext cx="762000" cy="990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6" name="Group 57"/>
          <p:cNvGrpSpPr/>
          <p:nvPr/>
        </p:nvGrpSpPr>
        <p:grpSpPr bwMode="auto">
          <a:xfrm>
            <a:off x="7225147" y="2416175"/>
            <a:ext cx="1524000" cy="2209800"/>
            <a:chOff x="3168" y="1392"/>
            <a:chExt cx="960" cy="1392"/>
          </a:xfrm>
        </p:grpSpPr>
        <p:sp>
          <p:nvSpPr>
            <p:cNvPr id="57" name="Line 58"/>
            <p:cNvSpPr>
              <a:spLocks noChangeShapeType="1"/>
            </p:cNvSpPr>
            <p:nvPr/>
          </p:nvSpPr>
          <p:spPr bwMode="auto">
            <a:xfrm>
              <a:off x="3216" y="1392"/>
              <a:ext cx="864" cy="33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59"/>
            <p:cNvSpPr>
              <a:spLocks noChangeShapeType="1"/>
            </p:cNvSpPr>
            <p:nvPr/>
          </p:nvSpPr>
          <p:spPr bwMode="auto">
            <a:xfrm flipV="1">
              <a:off x="3168" y="1776"/>
              <a:ext cx="912" cy="48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60"/>
            <p:cNvSpPr>
              <a:spLocks noChangeShapeType="1"/>
            </p:cNvSpPr>
            <p:nvPr/>
          </p:nvSpPr>
          <p:spPr bwMode="auto">
            <a:xfrm flipV="1">
              <a:off x="3168" y="1824"/>
              <a:ext cx="960" cy="96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0" name="Group 61"/>
          <p:cNvGrpSpPr/>
          <p:nvPr/>
        </p:nvGrpSpPr>
        <p:grpSpPr bwMode="auto">
          <a:xfrm>
            <a:off x="7301347" y="2873375"/>
            <a:ext cx="1447800" cy="1295400"/>
            <a:chOff x="3216" y="1680"/>
            <a:chExt cx="912" cy="816"/>
          </a:xfrm>
        </p:grpSpPr>
        <p:sp>
          <p:nvSpPr>
            <p:cNvPr id="61" name="Line 62"/>
            <p:cNvSpPr>
              <a:spLocks noChangeShapeType="1"/>
            </p:cNvSpPr>
            <p:nvPr/>
          </p:nvSpPr>
          <p:spPr bwMode="auto">
            <a:xfrm>
              <a:off x="3216" y="1680"/>
              <a:ext cx="912" cy="43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63"/>
            <p:cNvSpPr>
              <a:spLocks noChangeShapeType="1"/>
            </p:cNvSpPr>
            <p:nvPr/>
          </p:nvSpPr>
          <p:spPr bwMode="auto">
            <a:xfrm flipV="1">
              <a:off x="3216" y="2112"/>
              <a:ext cx="864" cy="38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3" name="Line 64"/>
          <p:cNvSpPr>
            <a:spLocks noChangeShapeType="1"/>
          </p:cNvSpPr>
          <p:nvPr/>
        </p:nvSpPr>
        <p:spPr bwMode="auto">
          <a:xfrm>
            <a:off x="7225147" y="3330575"/>
            <a:ext cx="1524000" cy="762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4" name="Group 65"/>
          <p:cNvGrpSpPr/>
          <p:nvPr/>
        </p:nvGrpSpPr>
        <p:grpSpPr bwMode="auto">
          <a:xfrm>
            <a:off x="2564247" y="1425575"/>
            <a:ext cx="4229100" cy="825500"/>
            <a:chOff x="232" y="768"/>
            <a:chExt cx="2664" cy="520"/>
          </a:xfrm>
        </p:grpSpPr>
        <p:sp>
          <p:nvSpPr>
            <p:cNvPr id="65" name="Oval 66"/>
            <p:cNvSpPr>
              <a:spLocks noChangeArrowheads="1"/>
            </p:cNvSpPr>
            <p:nvPr/>
          </p:nvSpPr>
          <p:spPr bwMode="auto">
            <a:xfrm>
              <a:off x="2464" y="1040"/>
              <a:ext cx="432" cy="192"/>
            </a:xfrm>
            <a:prstGeom prst="ellipse">
              <a:avLst/>
            </a:prstGeom>
            <a:noFill/>
            <a:ln w="31750">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66" name="Oval 67"/>
            <p:cNvSpPr>
              <a:spLocks noChangeArrowheads="1"/>
            </p:cNvSpPr>
            <p:nvPr/>
          </p:nvSpPr>
          <p:spPr bwMode="auto">
            <a:xfrm>
              <a:off x="232" y="1096"/>
              <a:ext cx="432" cy="192"/>
            </a:xfrm>
            <a:prstGeom prst="ellipse">
              <a:avLst/>
            </a:prstGeom>
            <a:noFill/>
            <a:ln w="31750">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67" name="Freeform 68"/>
            <p:cNvSpPr/>
            <p:nvPr/>
          </p:nvSpPr>
          <p:spPr bwMode="auto">
            <a:xfrm>
              <a:off x="528" y="768"/>
              <a:ext cx="2064" cy="336"/>
            </a:xfrm>
            <a:custGeom>
              <a:avLst/>
              <a:gdLst>
                <a:gd name="T0" fmla="*/ 2064 w 2064"/>
                <a:gd name="T1" fmla="*/ 288 h 336"/>
                <a:gd name="T2" fmla="*/ 1440 w 2064"/>
                <a:gd name="T3" fmla="*/ 144 h 336"/>
                <a:gd name="T4" fmla="*/ 912 w 2064"/>
                <a:gd name="T5" fmla="*/ 48 h 336"/>
                <a:gd name="T6" fmla="*/ 384 w 2064"/>
                <a:gd name="T7" fmla="*/ 48 h 336"/>
                <a:gd name="T8" fmla="*/ 0 w 2064"/>
                <a:gd name="T9" fmla="*/ 336 h 3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64" h="336">
                  <a:moveTo>
                    <a:pt x="2064" y="288"/>
                  </a:moveTo>
                  <a:cubicBezTo>
                    <a:pt x="1848" y="236"/>
                    <a:pt x="1632" y="184"/>
                    <a:pt x="1440" y="144"/>
                  </a:cubicBezTo>
                  <a:cubicBezTo>
                    <a:pt x="1248" y="104"/>
                    <a:pt x="1088" y="64"/>
                    <a:pt x="912" y="48"/>
                  </a:cubicBezTo>
                  <a:cubicBezTo>
                    <a:pt x="736" y="32"/>
                    <a:pt x="536" y="0"/>
                    <a:pt x="384" y="48"/>
                  </a:cubicBezTo>
                  <a:cubicBezTo>
                    <a:pt x="232" y="96"/>
                    <a:pt x="64" y="288"/>
                    <a:pt x="0" y="336"/>
                  </a:cubicBezTo>
                </a:path>
              </a:pathLst>
            </a:custGeom>
            <a:noFill/>
            <a:ln w="25400" cap="flat" cmpd="sng">
              <a:solidFill>
                <a:srgbClr val="FF0000"/>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8" name="Group 69"/>
          <p:cNvGrpSpPr/>
          <p:nvPr/>
        </p:nvGrpSpPr>
        <p:grpSpPr bwMode="auto">
          <a:xfrm>
            <a:off x="6729847" y="1628775"/>
            <a:ext cx="2489200" cy="1016000"/>
            <a:chOff x="2856" y="896"/>
            <a:chExt cx="1568" cy="640"/>
          </a:xfrm>
        </p:grpSpPr>
        <p:sp>
          <p:nvSpPr>
            <p:cNvPr id="69" name="Oval 70"/>
            <p:cNvSpPr>
              <a:spLocks noChangeArrowheads="1"/>
            </p:cNvSpPr>
            <p:nvPr/>
          </p:nvSpPr>
          <p:spPr bwMode="auto">
            <a:xfrm>
              <a:off x="2856" y="1040"/>
              <a:ext cx="432" cy="192"/>
            </a:xfrm>
            <a:prstGeom prst="ellipse">
              <a:avLst/>
            </a:prstGeom>
            <a:noFill/>
            <a:ln w="31750">
              <a:solidFill>
                <a:srgbClr val="FF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0" name="Oval 71"/>
            <p:cNvSpPr>
              <a:spLocks noChangeArrowheads="1"/>
            </p:cNvSpPr>
            <p:nvPr/>
          </p:nvSpPr>
          <p:spPr bwMode="auto">
            <a:xfrm>
              <a:off x="3992" y="1344"/>
              <a:ext cx="432" cy="192"/>
            </a:xfrm>
            <a:prstGeom prst="ellipse">
              <a:avLst/>
            </a:prstGeom>
            <a:noFill/>
            <a:ln w="31750">
              <a:solidFill>
                <a:srgbClr val="FF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1" name="Freeform 72"/>
            <p:cNvSpPr/>
            <p:nvPr/>
          </p:nvSpPr>
          <p:spPr bwMode="auto">
            <a:xfrm>
              <a:off x="3120" y="896"/>
              <a:ext cx="1008" cy="448"/>
            </a:xfrm>
            <a:custGeom>
              <a:avLst/>
              <a:gdLst>
                <a:gd name="T0" fmla="*/ 0 w 1008"/>
                <a:gd name="T1" fmla="*/ 160 h 448"/>
                <a:gd name="T2" fmla="*/ 432 w 1008"/>
                <a:gd name="T3" fmla="*/ 16 h 448"/>
                <a:gd name="T4" fmla="*/ 672 w 1008"/>
                <a:gd name="T5" fmla="*/ 64 h 448"/>
                <a:gd name="T6" fmla="*/ 912 w 1008"/>
                <a:gd name="T7" fmla="*/ 304 h 448"/>
                <a:gd name="T8" fmla="*/ 1008 w 1008"/>
                <a:gd name="T9" fmla="*/ 448 h 4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8" h="448">
                  <a:moveTo>
                    <a:pt x="0" y="160"/>
                  </a:moveTo>
                  <a:cubicBezTo>
                    <a:pt x="160" y="96"/>
                    <a:pt x="320" y="32"/>
                    <a:pt x="432" y="16"/>
                  </a:cubicBezTo>
                  <a:cubicBezTo>
                    <a:pt x="544" y="0"/>
                    <a:pt x="592" y="16"/>
                    <a:pt x="672" y="64"/>
                  </a:cubicBezTo>
                  <a:cubicBezTo>
                    <a:pt x="752" y="112"/>
                    <a:pt x="856" y="240"/>
                    <a:pt x="912" y="304"/>
                  </a:cubicBezTo>
                  <a:cubicBezTo>
                    <a:pt x="968" y="368"/>
                    <a:pt x="992" y="424"/>
                    <a:pt x="1008" y="448"/>
                  </a:cubicBezTo>
                </a:path>
              </a:pathLst>
            </a:custGeom>
            <a:noFill/>
            <a:ln w="25400" cap="flat" cmpd="sng">
              <a:solidFill>
                <a:srgbClr val="FF00FF"/>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blinds(horizontal)">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wipe(right)">
                                      <p:cBhvr>
                                        <p:cTn id="12" dur="500"/>
                                        <p:tgtEl>
                                          <p:spTgt spid="6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48"/>
                                        </p:tgtEl>
                                        <p:attrNameLst>
                                          <p:attrName>style.visibility</p:attrName>
                                        </p:attrNameLst>
                                      </p:cBhvr>
                                      <p:to>
                                        <p:strVal val="visible"/>
                                      </p:to>
                                    </p:set>
                                    <p:animEffect transition="in" filter="wipe(right)">
                                      <p:cBhvr>
                                        <p:cTn id="17" dur="500"/>
                                        <p:tgtEl>
                                          <p:spTgt spid="4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wipe(right)">
                                      <p:cBhvr>
                                        <p:cTn id="22" dur="500"/>
                                        <p:tgtEl>
                                          <p:spTgt spid="5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wipe(right)">
                                      <p:cBhvr>
                                        <p:cTn id="27" dur="5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8"/>
                                        </p:tgtEl>
                                        <p:attrNameLst>
                                          <p:attrName>style.visibility</p:attrName>
                                        </p:attrNameLst>
                                      </p:cBhvr>
                                      <p:to>
                                        <p:strVal val="visible"/>
                                      </p:to>
                                    </p:set>
                                    <p:animEffect transition="in" filter="wipe(left)">
                                      <p:cBhvr>
                                        <p:cTn id="32" dur="500"/>
                                        <p:tgtEl>
                                          <p:spTgt spid="6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6"/>
                                        </p:tgtEl>
                                        <p:attrNameLst>
                                          <p:attrName>style.visibility</p:attrName>
                                        </p:attrNameLst>
                                      </p:cBhvr>
                                      <p:to>
                                        <p:strVal val="visible"/>
                                      </p:to>
                                    </p:set>
                                    <p:animEffect transition="in" filter="wipe(left)">
                                      <p:cBhvr>
                                        <p:cTn id="37" dur="500"/>
                                        <p:tgtEl>
                                          <p:spTgt spid="5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60"/>
                                        </p:tgtEl>
                                        <p:attrNameLst>
                                          <p:attrName>style.visibility</p:attrName>
                                        </p:attrNameLst>
                                      </p:cBhvr>
                                      <p:to>
                                        <p:strVal val="visible"/>
                                      </p:to>
                                    </p:set>
                                    <p:animEffect transition="in" filter="wipe(left)">
                                      <p:cBhvr>
                                        <p:cTn id="42" dur="500"/>
                                        <p:tgtEl>
                                          <p:spTgt spid="6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3"/>
                                        </p:tgtEl>
                                        <p:attrNameLst>
                                          <p:attrName>style.visibility</p:attrName>
                                        </p:attrNameLst>
                                      </p:cBhvr>
                                      <p:to>
                                        <p:strVal val="visible"/>
                                      </p:to>
                                    </p:set>
                                    <p:animEffect transition="in" filter="wipe(left)">
                                      <p:cBhvr>
                                        <p:cTn id="47" dur="500"/>
                                        <p:tgtEl>
                                          <p:spTgt spid="6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wipe(down)">
                                      <p:cBhvr>
                                        <p:cTn id="52" dur="500"/>
                                        <p:tgtEl>
                                          <p:spTgt spid="40"/>
                                        </p:tgtEl>
                                      </p:cBhvr>
                                    </p:animEffect>
                                  </p:childTnLst>
                                </p:cTn>
                              </p:par>
                              <p:par>
                                <p:cTn id="53" presetID="1" presetClass="exit" presetSubtype="0" fill="hold" grpId="1" nodeType="withEffect">
                                  <p:stCondLst>
                                    <p:cond delay="0"/>
                                  </p:stCondLst>
                                  <p:childTnLst>
                                    <p:set>
                                      <p:cBhvr>
                                        <p:cTn id="54" dur="1" fill="hold">
                                          <p:stCondLst>
                                            <p:cond delay="0"/>
                                          </p:stCondLst>
                                        </p:cTn>
                                        <p:tgtEl>
                                          <p:spTgt spid="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39" grpId="1"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专门的关系运算</a:t>
            </a:r>
            <a:endParaRPr lang="en-US" altLang="zh-CN" dirty="0"/>
          </a:p>
          <a:p>
            <a:pPr lvl="1"/>
            <a:r>
              <a:rPr lang="zh-CN" altLang="en-US" dirty="0"/>
              <a:t>连接（</a:t>
            </a:r>
            <a:r>
              <a:rPr lang="en-US" altLang="zh-CN" dirty="0"/>
              <a:t>join</a:t>
            </a:r>
            <a:r>
              <a:rPr lang="zh-CN" altLang="en-US" dirty="0"/>
              <a:t>）</a:t>
            </a:r>
            <a:endParaRPr lang="zh-CN" altLang="en-US" dirty="0"/>
          </a:p>
          <a:p>
            <a:pPr lvl="2"/>
            <a:r>
              <a:rPr lang="zh-CN" altLang="en-US" dirty="0"/>
              <a:t>外连接</a:t>
            </a:r>
            <a:endParaRPr lang="en-US" altLang="zh-CN" dirty="0"/>
          </a:p>
          <a:p>
            <a:pPr lvl="3"/>
            <a:r>
              <a:rPr lang="zh-CN" altLang="en-US" dirty="0"/>
              <a:t>外连接将不满足连接条件的元组仍然保留在结果关系中，并在缺失属性上取</a:t>
            </a:r>
            <a:r>
              <a:rPr lang="en-US" altLang="zh-CN" dirty="0"/>
              <a:t>null</a:t>
            </a:r>
            <a:r>
              <a:rPr lang="zh-CN" altLang="en-US" dirty="0"/>
              <a:t>。根据保留元组的不同，外连接又分为左外连接，右外连接，全外连接</a:t>
            </a:r>
            <a:endParaRPr lang="zh-CN" altLang="en-US" dirty="0"/>
          </a:p>
          <a:p>
            <a:pPr lvl="3"/>
            <a:endParaRPr lang="zh-CN" altLang="en-US" dirty="0"/>
          </a:p>
          <a:p>
            <a:pPr lvl="2"/>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专门的关系运算</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graphicFrame>
        <p:nvGraphicFramePr>
          <p:cNvPr id="6" name="Group 12"/>
          <p:cNvGraphicFramePr>
            <a:graphicFrameLocks noGrp="1"/>
          </p:cNvGraphicFramePr>
          <p:nvPr/>
        </p:nvGraphicFramePr>
        <p:xfrm>
          <a:off x="4122428" y="2135033"/>
          <a:ext cx="1325562" cy="1401816"/>
        </p:xfrm>
        <a:graphic>
          <a:graphicData uri="http://schemas.openxmlformats.org/drawingml/2006/table">
            <a:tbl>
              <a:tblPr/>
              <a:tblGrid>
                <a:gridCol w="427037"/>
                <a:gridCol w="446088"/>
                <a:gridCol w="452437"/>
              </a:tblGrid>
              <a:tr h="396094">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66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7" name="Group 234"/>
          <p:cNvGraphicFramePr>
            <a:graphicFrameLocks noGrp="1"/>
          </p:cNvGraphicFramePr>
          <p:nvPr/>
        </p:nvGraphicFramePr>
        <p:xfrm>
          <a:off x="6832290" y="2171545"/>
          <a:ext cx="1639888" cy="1441450"/>
        </p:xfrm>
        <a:graphic>
          <a:graphicData uri="http://schemas.openxmlformats.org/drawingml/2006/table">
            <a:tbl>
              <a:tblPr/>
              <a:tblGrid>
                <a:gridCol w="528638"/>
                <a:gridCol w="552450"/>
                <a:gridCol w="558800"/>
              </a:tblGrid>
              <a:tr h="39641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4503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mc:Choice xmlns:a14="http://schemas.microsoft.com/office/drawing/2010/main" Requires="a14">
          <p:sp>
            <p:nvSpPr>
              <p:cNvPr id="8" name="Text Box 57"/>
              <p:cNvSpPr txBox="1">
                <a:spLocks noChangeArrowheads="1"/>
              </p:cNvSpPr>
              <p:nvPr/>
            </p:nvSpPr>
            <p:spPr bwMode="auto">
              <a:xfrm>
                <a:off x="4522478" y="3489170"/>
                <a:ext cx="4029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𝑅</m:t>
                      </m:r>
                    </m:oMath>
                  </m:oMathPara>
                </a14:m>
                <a:endParaRPr lang="en-US" altLang="zh-CN" sz="1800" dirty="0">
                  <a:latin typeface="Arial" panose="020B0604020202020204" pitchFamily="34" charset="0"/>
                </a:endParaRPr>
              </a:p>
            </p:txBody>
          </p:sp>
        </mc:Choice>
        <mc:Fallback>
          <p:sp>
            <p:nvSpPr>
              <p:cNvPr id="8" name="Text Box 57"/>
              <p:cNvSpPr txBox="1">
                <a:spLocks noRot="1" noChangeAspect="1" noMove="1" noResize="1" noEditPoints="1" noAdjustHandles="1" noChangeArrowheads="1" noChangeShapeType="1" noTextEdit="1"/>
              </p:cNvSpPr>
              <p:nvPr/>
            </p:nvSpPr>
            <p:spPr bwMode="auto">
              <a:xfrm>
                <a:off x="4522478" y="3489170"/>
                <a:ext cx="402994" cy="369332"/>
              </a:xfrm>
              <a:prstGeom prst="rect">
                <a:avLst/>
              </a:prstGeom>
              <a:blipFill rotWithShape="1">
                <a:blip r:embed="rId1"/>
                <a:stretch>
                  <a:fillRect l="-2" t="-130" r="102" b="6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Text Box 58"/>
              <p:cNvSpPr txBox="1">
                <a:spLocks noChangeArrowheads="1"/>
              </p:cNvSpPr>
              <p:nvPr/>
            </p:nvSpPr>
            <p:spPr bwMode="auto">
              <a:xfrm>
                <a:off x="7408553" y="3568545"/>
                <a:ext cx="3751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𝑆</m:t>
                      </m:r>
                    </m:oMath>
                  </m:oMathPara>
                </a14:m>
                <a:endParaRPr lang="en-US" altLang="zh-CN" sz="1800" dirty="0">
                  <a:latin typeface="Arial" panose="020B0604020202020204" pitchFamily="34" charset="0"/>
                </a:endParaRPr>
              </a:p>
            </p:txBody>
          </p:sp>
        </mc:Choice>
        <mc:Fallback>
          <p:sp>
            <p:nvSpPr>
              <p:cNvPr id="9" name="Text Box 58"/>
              <p:cNvSpPr txBox="1">
                <a:spLocks noRot="1" noChangeAspect="1" noMove="1" noResize="1" noEditPoints="1" noAdjustHandles="1" noChangeArrowheads="1" noChangeShapeType="1" noTextEdit="1"/>
              </p:cNvSpPr>
              <p:nvPr/>
            </p:nvSpPr>
            <p:spPr bwMode="auto">
              <a:xfrm>
                <a:off x="7408553" y="3568545"/>
                <a:ext cx="375103" cy="369332"/>
              </a:xfrm>
              <a:prstGeom prst="rect">
                <a:avLst/>
              </a:prstGeom>
              <a:blipFill rotWithShape="1">
                <a:blip r:embed="rId2"/>
                <a:stretch>
                  <a:fillRect l="-2" t="-130" r="123" b="6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aphicFrame>
        <p:nvGraphicFramePr>
          <p:cNvPr id="10" name="Group 242"/>
          <p:cNvGraphicFramePr>
            <a:graphicFrameLocks noGrp="1"/>
          </p:cNvGraphicFramePr>
          <p:nvPr/>
        </p:nvGraphicFramePr>
        <p:xfrm>
          <a:off x="2134878" y="3903508"/>
          <a:ext cx="2525712" cy="1401816"/>
        </p:xfrm>
        <a:graphic>
          <a:graphicData uri="http://schemas.openxmlformats.org/drawingml/2006/table">
            <a:tbl>
              <a:tblPr/>
              <a:tblGrid>
                <a:gridCol w="633412"/>
                <a:gridCol w="647700"/>
                <a:gridCol w="661988"/>
                <a:gridCol w="582612"/>
              </a:tblGrid>
              <a:tr h="39609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66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null</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11" name="Group 243"/>
          <p:cNvGraphicFramePr>
            <a:graphicFrameLocks noGrp="1"/>
          </p:cNvGraphicFramePr>
          <p:nvPr/>
        </p:nvGraphicFramePr>
        <p:xfrm>
          <a:off x="4922528" y="3935258"/>
          <a:ext cx="2541587" cy="1401816"/>
        </p:xfrm>
        <a:graphic>
          <a:graphicData uri="http://schemas.openxmlformats.org/drawingml/2006/table">
            <a:tbl>
              <a:tblPr/>
              <a:tblGrid>
                <a:gridCol w="617537"/>
                <a:gridCol w="620713"/>
                <a:gridCol w="649287"/>
                <a:gridCol w="654050"/>
              </a:tblGrid>
              <a:tr h="39609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66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null</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12" name="Group 246"/>
          <p:cNvGraphicFramePr>
            <a:graphicFrameLocks noGrp="1"/>
          </p:cNvGraphicFramePr>
          <p:nvPr/>
        </p:nvGraphicFramePr>
        <p:xfrm>
          <a:off x="7751453" y="3863820"/>
          <a:ext cx="2808287" cy="1706640"/>
        </p:xfrm>
        <a:graphic>
          <a:graphicData uri="http://schemas.openxmlformats.org/drawingml/2006/table">
            <a:tbl>
              <a:tblPr/>
              <a:tblGrid>
                <a:gridCol w="706437"/>
                <a:gridCol w="736600"/>
                <a:gridCol w="731838"/>
                <a:gridCol w="633412"/>
              </a:tblGrid>
              <a:tr h="39610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31045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null</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null</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mc:Choice xmlns:a14="http://schemas.microsoft.com/office/drawing/2010/main" Requires="a14">
          <p:sp>
            <p:nvSpPr>
              <p:cNvPr id="13" name="Text Box 247"/>
              <p:cNvSpPr txBox="1">
                <a:spLocks noChangeArrowheads="1"/>
              </p:cNvSpPr>
              <p:nvPr/>
            </p:nvSpPr>
            <p:spPr bwMode="auto">
              <a:xfrm>
                <a:off x="2927040" y="5448145"/>
                <a:ext cx="8098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14:m>
                  <m:oMath xmlns:m="http://schemas.openxmlformats.org/officeDocument/2006/math">
                    <m:r>
                      <a:rPr lang="en-US" altLang="zh-CN" sz="1800" i="1" dirty="0" smtClean="0">
                        <a:latin typeface="Cambria Math" panose="02040503050406030204" pitchFamily="18" charset="0"/>
                      </a:rPr>
                      <m:t>𝑅</m:t>
                    </m:r>
                  </m:oMath>
                </a14:m>
                <a:r>
                  <a:rPr lang="en-US" altLang="zh-CN" sz="1800" dirty="0">
                    <a:latin typeface="Arial" panose="020B0604020202020204" pitchFamily="34" charset="0"/>
                  </a:rPr>
                  <a:t>*</a:t>
                </a:r>
                <a14:m>
                  <m:oMath xmlns:m="http://schemas.openxmlformats.org/officeDocument/2006/math">
                    <m:r>
                      <a:rPr lang="en-US" altLang="zh-CN" sz="180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𝑆</m:t>
                    </m:r>
                  </m:oMath>
                </a14:m>
                <a:endParaRPr lang="en-US" altLang="zh-CN" sz="1800" dirty="0">
                  <a:latin typeface="Arial" panose="020B0604020202020204" pitchFamily="34" charset="0"/>
                </a:endParaRPr>
              </a:p>
            </p:txBody>
          </p:sp>
        </mc:Choice>
        <mc:Fallback>
          <p:sp>
            <p:nvSpPr>
              <p:cNvPr id="13" name="Text Box 247"/>
              <p:cNvSpPr txBox="1">
                <a:spLocks noRot="1" noChangeAspect="1" noMove="1" noResize="1" noEditPoints="1" noAdjustHandles="1" noChangeArrowheads="1" noChangeShapeType="1" noTextEdit="1"/>
              </p:cNvSpPr>
              <p:nvPr/>
            </p:nvSpPr>
            <p:spPr bwMode="auto">
              <a:xfrm>
                <a:off x="2927040" y="5448145"/>
                <a:ext cx="809837" cy="369332"/>
              </a:xfrm>
              <a:prstGeom prst="rect">
                <a:avLst/>
              </a:prstGeom>
              <a:blipFill rotWithShape="1">
                <a:blip r:embed="rId3"/>
                <a:stretch>
                  <a:fillRect l="-40" t="-130" r="66" b="6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Text Box 249"/>
              <p:cNvSpPr txBox="1">
                <a:spLocks noChangeArrowheads="1"/>
              </p:cNvSpPr>
              <p:nvPr/>
            </p:nvSpPr>
            <p:spPr bwMode="auto">
              <a:xfrm>
                <a:off x="5590865" y="5519583"/>
                <a:ext cx="8098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14:m>
                  <m:oMath xmlns:m="http://schemas.openxmlformats.org/officeDocument/2006/math">
                    <m:r>
                      <a:rPr lang="en-US" altLang="zh-CN" sz="1800" i="1" dirty="0" smtClean="0">
                        <a:latin typeface="Cambria Math" panose="02040503050406030204" pitchFamily="18" charset="0"/>
                      </a:rPr>
                      <m:t>𝑅</m:t>
                    </m:r>
                    <m:r>
                      <a:rPr lang="en-US" altLang="zh-CN" sz="1800" i="1" dirty="0" smtClean="0">
                        <a:latin typeface="Cambria Math" panose="02040503050406030204" pitchFamily="18" charset="0"/>
                        <a:ea typeface="Cambria Math" panose="02040503050406030204" pitchFamily="18" charset="0"/>
                      </a:rPr>
                      <m:t>⋈</m:t>
                    </m:r>
                  </m:oMath>
                </a14:m>
                <a:r>
                  <a:rPr lang="en-US" altLang="zh-CN" sz="1800" dirty="0">
                    <a:latin typeface="Arial" panose="020B0604020202020204" pitchFamily="34" charset="0"/>
                  </a:rPr>
                  <a:t>*</a:t>
                </a:r>
                <a14:m>
                  <m:oMath xmlns:m="http://schemas.openxmlformats.org/officeDocument/2006/math">
                    <m:r>
                      <a:rPr lang="en-US" altLang="zh-CN" sz="1800" i="1" dirty="0" smtClean="0">
                        <a:latin typeface="Cambria Math" panose="02040503050406030204" pitchFamily="18" charset="0"/>
                      </a:rPr>
                      <m:t>𝑆</m:t>
                    </m:r>
                  </m:oMath>
                </a14:m>
                <a:endParaRPr lang="en-US" altLang="zh-CN" sz="1800" dirty="0">
                  <a:latin typeface="Arial" panose="020B0604020202020204" pitchFamily="34" charset="0"/>
                </a:endParaRPr>
              </a:p>
            </p:txBody>
          </p:sp>
        </mc:Choice>
        <mc:Fallback>
          <p:sp>
            <p:nvSpPr>
              <p:cNvPr id="15" name="Text Box 249"/>
              <p:cNvSpPr txBox="1">
                <a:spLocks noRot="1" noChangeAspect="1" noMove="1" noResize="1" noEditPoints="1" noAdjustHandles="1" noChangeArrowheads="1" noChangeShapeType="1" noTextEdit="1"/>
              </p:cNvSpPr>
              <p:nvPr/>
            </p:nvSpPr>
            <p:spPr bwMode="auto">
              <a:xfrm>
                <a:off x="5590865" y="5519583"/>
                <a:ext cx="809837" cy="369332"/>
              </a:xfrm>
              <a:prstGeom prst="rect">
                <a:avLst/>
              </a:prstGeom>
              <a:blipFill rotWithShape="1">
                <a:blip r:embed="rId4"/>
                <a:stretch>
                  <a:fillRect l="-40" t="-44" r="66" b="15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Text Box 251"/>
              <p:cNvSpPr txBox="1">
                <a:spLocks noChangeArrowheads="1"/>
              </p:cNvSpPr>
              <p:nvPr/>
            </p:nvSpPr>
            <p:spPr bwMode="auto">
              <a:xfrm>
                <a:off x="8643628" y="5664045"/>
                <a:ext cx="83548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14:m>
                  <m:oMath xmlns:m="http://schemas.openxmlformats.org/officeDocument/2006/math">
                    <m:r>
                      <a:rPr lang="en-US" altLang="zh-CN" sz="1800" i="1" dirty="0" smtClean="0">
                        <a:latin typeface="Cambria Math" panose="02040503050406030204" pitchFamily="18" charset="0"/>
                      </a:rPr>
                      <m:t>𝑅</m:t>
                    </m:r>
                  </m:oMath>
                </a14:m>
                <a:r>
                  <a:rPr lang="en-US" altLang="zh-CN" sz="1800" dirty="0">
                    <a:latin typeface="Arial" panose="020B0604020202020204" pitchFamily="34" charset="0"/>
                  </a:rPr>
                  <a:t>*</a:t>
                </a:r>
                <a14:m>
                  <m:oMath xmlns:m="http://schemas.openxmlformats.org/officeDocument/2006/math">
                    <m:r>
                      <a:rPr lang="en-US" altLang="zh-CN" sz="1800" i="1" smtClean="0">
                        <a:latin typeface="Cambria Math" panose="02040503050406030204" pitchFamily="18" charset="0"/>
                        <a:ea typeface="Cambria Math" panose="02040503050406030204" pitchFamily="18" charset="0"/>
                      </a:rPr>
                      <m:t>⋈</m:t>
                    </m:r>
                  </m:oMath>
                </a14:m>
                <a:r>
                  <a:rPr lang="en-US" altLang="zh-CN" sz="1800" dirty="0">
                    <a:latin typeface="Arial" panose="020B0604020202020204" pitchFamily="34" charset="0"/>
                  </a:rPr>
                  <a:t>*</a:t>
                </a:r>
                <a14:m>
                  <m:oMath xmlns:m="http://schemas.openxmlformats.org/officeDocument/2006/math">
                    <m:r>
                      <a:rPr lang="en-US" altLang="zh-CN" sz="1800" i="1" dirty="0" smtClean="0">
                        <a:latin typeface="Cambria Math" panose="02040503050406030204" pitchFamily="18" charset="0"/>
                      </a:rPr>
                      <m:t>𝑆</m:t>
                    </m:r>
                  </m:oMath>
                </a14:m>
                <a:endParaRPr lang="en-US" altLang="zh-CN" sz="1800" dirty="0">
                  <a:latin typeface="Arial" panose="020B0604020202020204" pitchFamily="34" charset="0"/>
                </a:endParaRPr>
              </a:p>
            </p:txBody>
          </p:sp>
        </mc:Choice>
        <mc:Fallback>
          <p:sp>
            <p:nvSpPr>
              <p:cNvPr id="17" name="Text Box 251"/>
              <p:cNvSpPr txBox="1">
                <a:spLocks noRot="1" noChangeAspect="1" noMove="1" noResize="1" noEditPoints="1" noAdjustHandles="1" noChangeArrowheads="1" noChangeShapeType="1" noTextEdit="1"/>
              </p:cNvSpPr>
              <p:nvPr/>
            </p:nvSpPr>
            <p:spPr bwMode="auto">
              <a:xfrm>
                <a:off x="8643628" y="5664045"/>
                <a:ext cx="835485" cy="369332"/>
              </a:xfrm>
              <a:prstGeom prst="rect">
                <a:avLst/>
              </a:prstGeom>
              <a:blipFill rotWithShape="1">
                <a:blip r:embed="rId5"/>
                <a:stretch>
                  <a:fillRect l="-1" t="-130" r="56" b="6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专门的关系运算</a:t>
            </a:r>
            <a:endParaRPr lang="en-US" altLang="zh-CN" dirty="0"/>
          </a:p>
          <a:p>
            <a:pPr lvl="1"/>
            <a:r>
              <a:rPr lang="en-US" altLang="zh-CN" dirty="0"/>
              <a:t>Course  (</a:t>
            </a:r>
            <a:r>
              <a:rPr lang="en-US" altLang="zh-CN" dirty="0" err="1"/>
              <a:t>cno</a:t>
            </a:r>
            <a:r>
              <a:rPr lang="en-US" altLang="zh-CN" dirty="0"/>
              <a:t>, </a:t>
            </a:r>
            <a:r>
              <a:rPr lang="en-US" altLang="zh-CN" dirty="0" err="1"/>
              <a:t>cname</a:t>
            </a:r>
            <a:r>
              <a:rPr lang="en-US" altLang="zh-CN" dirty="0"/>
              <a:t>, credit, </a:t>
            </a:r>
            <a:r>
              <a:rPr lang="en-US" altLang="zh-CN" dirty="0" err="1"/>
              <a:t>pcno</a:t>
            </a:r>
            <a:r>
              <a:rPr lang="en-US" altLang="zh-CN" dirty="0"/>
              <a:t>)</a:t>
            </a:r>
            <a:endParaRPr lang="en-US" altLang="zh-CN" dirty="0"/>
          </a:p>
          <a:p>
            <a:pPr lvl="1"/>
            <a:r>
              <a:rPr lang="zh-CN" altLang="en-US" dirty="0"/>
              <a:t>列出所有课程名及先修课程名</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专门的关系运算</a:t>
                </a:r>
                <a:endParaRPr lang="en-US" altLang="zh-CN" dirty="0"/>
              </a:p>
              <a:p>
                <a:pPr lvl="1"/>
                <a:r>
                  <a:rPr lang="zh-CN" altLang="en-US" dirty="0"/>
                  <a:t>连接（</a:t>
                </a:r>
                <a:r>
                  <a:rPr lang="en-US" altLang="zh-CN" dirty="0"/>
                  <a:t>join</a:t>
                </a:r>
                <a:r>
                  <a:rPr lang="zh-CN" altLang="en-US" dirty="0"/>
                  <a:t>）</a:t>
                </a:r>
                <a:endParaRPr lang="zh-CN" altLang="en-US" dirty="0"/>
              </a:p>
              <a:p>
                <a:pPr lvl="1"/>
                <a:r>
                  <a:rPr lang="zh-CN" altLang="en-US" dirty="0"/>
                  <a:t>半连接</a:t>
                </a:r>
                <a:endParaRPr lang="en-US" altLang="zh-CN" dirty="0"/>
              </a:p>
              <a:p>
                <a:pPr lvl="2"/>
                <a:r>
                  <a:rPr lang="en-US" altLang="zh-CN" dirty="0"/>
                  <a:t>R</a:t>
                </a:r>
                <a:r>
                  <a:rPr lang="zh-CN" altLang="en-US" dirty="0"/>
                  <a:t>和</a:t>
                </a:r>
                <a:r>
                  <a:rPr lang="en-US" altLang="zh-CN" dirty="0"/>
                  <a:t>S</a:t>
                </a:r>
                <a:r>
                  <a:rPr lang="zh-CN" altLang="en-US" dirty="0"/>
                  <a:t>的半连接是将其自然连接的结果在</a:t>
                </a:r>
                <a:r>
                  <a:rPr lang="en-US" altLang="zh-CN" dirty="0"/>
                  <a:t>R</a:t>
                </a:r>
                <a:r>
                  <a:rPr lang="zh-CN" altLang="en-US" dirty="0"/>
                  <a:t>的属性集上投影，可以表示为：</a:t>
                </a:r>
                <a:endParaRPr lang="en-US" altLang="zh-CN" dirty="0"/>
              </a:p>
              <a:p>
                <a:pPr marL="914400" lvl="2"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𝑅</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𝜋</m:t>
                          </m:r>
                        </m:e>
                        <m:sub>
                          <m:r>
                            <a:rPr lang="en-US" altLang="zh-CN" b="0" i="1" smtClean="0">
                              <a:latin typeface="Cambria Math" panose="02040503050406030204" pitchFamily="18" charset="0"/>
                              <a:ea typeface="Cambria Math" panose="02040503050406030204" pitchFamily="18" charset="0"/>
                            </a:rPr>
                            <m:t>𝑅</m:t>
                          </m:r>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𝑅</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e>
                      </m:d>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𝜋</m:t>
                          </m:r>
                        </m:e>
                        <m:sub>
                          <m:r>
                            <a:rPr lang="en-US" altLang="zh-CN" b="0" i="1" smtClean="0">
                              <a:latin typeface="Cambria Math" panose="02040503050406030204" pitchFamily="18" charset="0"/>
                              <a:ea typeface="Cambria Math" panose="02040503050406030204" pitchFamily="18" charset="0"/>
                            </a:rPr>
                            <m:t>𝑆</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oMath>
                  </m:oMathPara>
                </a14:m>
                <a:endParaRPr lang="zh-CN" altLang="en-US" dirty="0"/>
              </a:p>
              <a:p>
                <a:pPr lvl="1"/>
                <a:r>
                  <a:rPr lang="zh-CN" altLang="en-US" dirty="0"/>
                  <a:t>半连接</a:t>
                </a:r>
                <a:r>
                  <a:rPr lang="zh-CN" altLang="en-US" dirty="0">
                    <a:solidFill>
                      <a:srgbClr val="C00000"/>
                    </a:solidFill>
                  </a:rPr>
                  <a:t>不</a:t>
                </a:r>
                <a:r>
                  <a:rPr lang="zh-CN" altLang="en-US" dirty="0"/>
                  <a:t>具有交换率</a:t>
                </a:r>
                <a:endParaRPr lang="zh-CN" altLang="en-US" dirty="0"/>
              </a:p>
              <a:p>
                <a:pPr lvl="1"/>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专门的关系运算</a:t>
            </a:r>
            <a:endParaRPr lang="en-US" altLang="zh-CN" dirty="0"/>
          </a:p>
          <a:p>
            <a:pPr lvl="1"/>
            <a:r>
              <a:rPr lang="zh-CN" altLang="en-US" dirty="0"/>
              <a:t>连接（</a:t>
            </a:r>
            <a:r>
              <a:rPr lang="en-US" altLang="zh-CN" dirty="0"/>
              <a:t>join</a:t>
            </a:r>
            <a:r>
              <a:rPr lang="zh-CN" altLang="en-US" dirty="0"/>
              <a:t>）</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
        <p:nvSpPr>
          <p:cNvPr id="6" name="Text Box 57"/>
          <p:cNvSpPr txBox="1">
            <a:spLocks noChangeArrowheads="1"/>
          </p:cNvSpPr>
          <p:nvPr/>
        </p:nvSpPr>
        <p:spPr bwMode="auto">
          <a:xfrm>
            <a:off x="4460643" y="4146550"/>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800">
                <a:latin typeface="Arial" panose="020B0604020202020204" pitchFamily="34" charset="0"/>
              </a:rPr>
              <a:t>R</a:t>
            </a:r>
            <a:endParaRPr lang="en-US" altLang="zh-CN" sz="1800">
              <a:latin typeface="Arial" panose="020B0604020202020204" pitchFamily="34" charset="0"/>
            </a:endParaRPr>
          </a:p>
        </p:txBody>
      </p:sp>
      <p:graphicFrame>
        <p:nvGraphicFramePr>
          <p:cNvPr id="7" name="Group 156"/>
          <p:cNvGraphicFramePr>
            <a:graphicFrameLocks noGrp="1"/>
          </p:cNvGraphicFramePr>
          <p:nvPr/>
        </p:nvGraphicFramePr>
        <p:xfrm>
          <a:off x="3885968" y="2432050"/>
          <a:ext cx="1641475" cy="1706640"/>
        </p:xfrm>
        <a:graphic>
          <a:graphicData uri="http://schemas.openxmlformats.org/drawingml/2006/table">
            <a:tbl>
              <a:tblPr/>
              <a:tblGrid>
                <a:gridCol w="560388"/>
                <a:gridCol w="517525"/>
                <a:gridCol w="563562"/>
              </a:tblGrid>
              <a:tr h="39610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31045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8" name="Group 157"/>
          <p:cNvGraphicFramePr>
            <a:graphicFrameLocks noGrp="1"/>
          </p:cNvGraphicFramePr>
          <p:nvPr/>
        </p:nvGraphicFramePr>
        <p:xfrm>
          <a:off x="6924443" y="2460625"/>
          <a:ext cx="1641475" cy="1706640"/>
        </p:xfrm>
        <a:graphic>
          <a:graphicData uri="http://schemas.openxmlformats.org/drawingml/2006/table">
            <a:tbl>
              <a:tblPr/>
              <a:tblGrid>
                <a:gridCol w="560388"/>
                <a:gridCol w="517525"/>
                <a:gridCol w="563562"/>
              </a:tblGrid>
              <a:tr h="39610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31045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0" marB="4566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9" name="Text Box 159"/>
          <p:cNvSpPr txBox="1">
            <a:spLocks noChangeArrowheads="1"/>
          </p:cNvSpPr>
          <p:nvPr/>
        </p:nvSpPr>
        <p:spPr bwMode="auto">
          <a:xfrm>
            <a:off x="7568968" y="4144963"/>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800">
                <a:latin typeface="Arial" panose="020B0604020202020204" pitchFamily="34" charset="0"/>
              </a:rPr>
              <a:t>S</a:t>
            </a:r>
            <a:endParaRPr lang="en-US" altLang="zh-CN" sz="1800">
              <a:latin typeface="Arial" panose="020B0604020202020204" pitchFamily="34" charset="0"/>
            </a:endParaRPr>
          </a:p>
        </p:txBody>
      </p:sp>
      <p:graphicFrame>
        <p:nvGraphicFramePr>
          <p:cNvPr id="10" name="Group 255"/>
          <p:cNvGraphicFramePr>
            <a:graphicFrameLocks noGrp="1"/>
          </p:cNvGraphicFramePr>
          <p:nvPr/>
        </p:nvGraphicFramePr>
        <p:xfrm>
          <a:off x="3841518" y="4548188"/>
          <a:ext cx="1641475" cy="1401816"/>
        </p:xfrm>
        <a:graphic>
          <a:graphicData uri="http://schemas.openxmlformats.org/drawingml/2006/table">
            <a:tbl>
              <a:tblPr/>
              <a:tblGrid>
                <a:gridCol w="560388"/>
                <a:gridCol w="517525"/>
                <a:gridCol w="563562"/>
              </a:tblGrid>
              <a:tr h="39609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66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11" name="Group 256"/>
          <p:cNvGraphicFramePr>
            <a:graphicFrameLocks noGrp="1"/>
          </p:cNvGraphicFramePr>
          <p:nvPr/>
        </p:nvGraphicFramePr>
        <p:xfrm>
          <a:off x="6881581" y="4581525"/>
          <a:ext cx="1641475" cy="1401816"/>
        </p:xfrm>
        <a:graphic>
          <a:graphicData uri="http://schemas.openxmlformats.org/drawingml/2006/table">
            <a:tbl>
              <a:tblPr/>
              <a:tblGrid>
                <a:gridCol w="560387"/>
                <a:gridCol w="517525"/>
                <a:gridCol w="563563"/>
              </a:tblGrid>
              <a:tr h="39609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66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mc:Choice xmlns:a14="http://schemas.microsoft.com/office/drawing/2010/main" Requires="a14">
          <p:sp>
            <p:nvSpPr>
              <p:cNvPr id="12" name="Text Box 257"/>
              <p:cNvSpPr txBox="1">
                <a:spLocks noChangeArrowheads="1"/>
              </p:cNvSpPr>
              <p:nvPr/>
            </p:nvSpPr>
            <p:spPr bwMode="auto">
              <a:xfrm>
                <a:off x="4176481" y="5988050"/>
                <a:ext cx="8754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𝑅</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𝑆</m:t>
                      </m:r>
                    </m:oMath>
                  </m:oMathPara>
                </a14:m>
                <a:endParaRPr lang="en-US" altLang="zh-CN" sz="2000" dirty="0">
                  <a:latin typeface="Arial" panose="020B0604020202020204" pitchFamily="34" charset="0"/>
                </a:endParaRPr>
              </a:p>
            </p:txBody>
          </p:sp>
        </mc:Choice>
        <mc:Fallback>
          <p:sp>
            <p:nvSpPr>
              <p:cNvPr id="12" name="Text Box 257"/>
              <p:cNvSpPr txBox="1">
                <a:spLocks noRot="1" noChangeAspect="1" noMove="1" noResize="1" noEditPoints="1" noAdjustHandles="1" noChangeArrowheads="1" noChangeShapeType="1" noTextEdit="1"/>
              </p:cNvSpPr>
              <p:nvPr/>
            </p:nvSpPr>
            <p:spPr bwMode="auto">
              <a:xfrm>
                <a:off x="4176481" y="5988050"/>
                <a:ext cx="875431" cy="400110"/>
              </a:xfrm>
              <a:prstGeom prst="rect">
                <a:avLst/>
              </a:prstGeom>
              <a:blipFill rotWithShape="1">
                <a:blip r:embed="rId1"/>
                <a:stretch>
                  <a:fillRect l="-10" r="56" b="1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Text Box 263"/>
              <p:cNvSpPr txBox="1">
                <a:spLocks noChangeArrowheads="1"/>
              </p:cNvSpPr>
              <p:nvPr/>
            </p:nvSpPr>
            <p:spPr bwMode="auto">
              <a:xfrm>
                <a:off x="7187968" y="5989638"/>
                <a:ext cx="8754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𝑆</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𝑅</m:t>
                      </m:r>
                    </m:oMath>
                  </m:oMathPara>
                </a14:m>
                <a:endParaRPr lang="en-US" altLang="zh-CN" sz="2000" dirty="0">
                  <a:latin typeface="Arial" panose="020B0604020202020204" pitchFamily="34" charset="0"/>
                </a:endParaRPr>
              </a:p>
            </p:txBody>
          </p:sp>
        </mc:Choice>
        <mc:Fallback>
          <p:sp>
            <p:nvSpPr>
              <p:cNvPr id="14" name="Text Box 263"/>
              <p:cNvSpPr txBox="1">
                <a:spLocks noRot="1" noChangeAspect="1" noMove="1" noResize="1" noEditPoints="1" noAdjustHandles="1" noChangeArrowheads="1" noChangeShapeType="1" noTextEdit="1"/>
              </p:cNvSpPr>
              <p:nvPr/>
            </p:nvSpPr>
            <p:spPr bwMode="auto">
              <a:xfrm>
                <a:off x="7187968" y="5989638"/>
                <a:ext cx="875431" cy="400110"/>
              </a:xfrm>
              <a:prstGeom prst="rect">
                <a:avLst/>
              </a:prstGeom>
              <a:blipFill rotWithShape="1">
                <a:blip r:embed="rId2"/>
                <a:stretch>
                  <a:fillRect l="-46" t="-79" r="19" b="9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专门的关系运算</a:t>
                </a:r>
                <a:endParaRPr lang="en-US" altLang="zh-CN" dirty="0"/>
              </a:p>
              <a:p>
                <a:pPr lvl="1"/>
                <a:r>
                  <a:rPr lang="zh-CN" altLang="en-US" dirty="0"/>
                  <a:t>除（</a:t>
                </a:r>
                <a:r>
                  <a:rPr lang="en-US" altLang="zh-CN" dirty="0" err="1"/>
                  <a:t>Divison</a:t>
                </a:r>
                <a:r>
                  <a:rPr lang="zh-CN" altLang="en-US" dirty="0"/>
                  <a:t>）</a:t>
                </a:r>
                <a:endParaRPr lang="zh-CN" altLang="en-US" dirty="0"/>
              </a:p>
              <a:p>
                <a:pPr lvl="2"/>
                <a:r>
                  <a:rPr lang="zh-CN" altLang="en-US" dirty="0"/>
                  <a:t>给定两个关系</a:t>
                </a:r>
                <a:r>
                  <a:rPr lang="en-US" altLang="zh-CN" dirty="0"/>
                  <a:t>R(X</a:t>
                </a:r>
                <a:r>
                  <a:rPr lang="zh-CN" altLang="en-US" dirty="0"/>
                  <a:t>，</a:t>
                </a:r>
                <a:r>
                  <a:rPr lang="en-US" altLang="zh-CN" dirty="0">
                    <a:highlight>
                      <a:srgbClr val="FFFF00"/>
                    </a:highlight>
                  </a:rPr>
                  <a:t>Y</a:t>
                </a:r>
                <a:r>
                  <a:rPr lang="en-US" altLang="zh-CN" dirty="0"/>
                  <a:t>)</a:t>
                </a:r>
                <a:r>
                  <a:rPr lang="zh-CN" altLang="en-US" dirty="0"/>
                  <a:t>，</a:t>
                </a:r>
                <a:r>
                  <a:rPr lang="en-US" altLang="zh-CN" dirty="0"/>
                  <a:t>S(</a:t>
                </a:r>
                <a:r>
                  <a:rPr lang="en-US" altLang="zh-CN" dirty="0">
                    <a:highlight>
                      <a:srgbClr val="FFFF00"/>
                    </a:highlight>
                  </a:rPr>
                  <a:t>Y</a:t>
                </a:r>
                <a:r>
                  <a:rPr lang="zh-CN" altLang="en-US" dirty="0"/>
                  <a:t>，</a:t>
                </a:r>
                <a:r>
                  <a:rPr lang="en-US" altLang="zh-CN" dirty="0"/>
                  <a:t>Z)</a:t>
                </a:r>
                <a:r>
                  <a:rPr lang="zh-CN" altLang="en-US" dirty="0"/>
                  <a:t>，其中</a:t>
                </a:r>
                <a:r>
                  <a:rPr lang="en-US" altLang="zh-CN" dirty="0"/>
                  <a:t>X</a:t>
                </a:r>
                <a:r>
                  <a:rPr lang="zh-CN" altLang="en-US" dirty="0"/>
                  <a:t>，</a:t>
                </a:r>
                <a:r>
                  <a:rPr lang="en-US" altLang="zh-CN" dirty="0"/>
                  <a:t>Y</a:t>
                </a:r>
                <a:r>
                  <a:rPr lang="zh-CN" altLang="en-US" dirty="0"/>
                  <a:t>均是属性的集合。设</a:t>
                </a:r>
                <a:r>
                  <a:rPr lang="en-US" altLang="zh-CN" dirty="0"/>
                  <a:t>T(X)</a:t>
                </a:r>
                <a:r>
                  <a:rPr lang="zh-CN" altLang="en-US" dirty="0"/>
                  <a:t>＝</a:t>
                </a:r>
                <a:r>
                  <a:rPr lang="en-US" altLang="zh-CN" dirty="0"/>
                  <a:t>R(X</a:t>
                </a:r>
                <a:r>
                  <a:rPr lang="zh-CN" altLang="en-US" dirty="0"/>
                  <a:t>，</a:t>
                </a:r>
                <a:r>
                  <a:rPr lang="en-US" altLang="zh-CN" dirty="0">
                    <a:highlight>
                      <a:srgbClr val="FFFF00"/>
                    </a:highlight>
                  </a:rPr>
                  <a:t>Y</a:t>
                </a:r>
                <a:r>
                  <a:rPr lang="en-US" altLang="zh-CN" dirty="0"/>
                  <a:t>)÷S(</a:t>
                </a:r>
                <a:r>
                  <a:rPr lang="en-US" altLang="zh-CN" dirty="0">
                    <a:highlight>
                      <a:srgbClr val="FFFF00"/>
                    </a:highlight>
                  </a:rPr>
                  <a:t>Y</a:t>
                </a:r>
                <a:r>
                  <a:rPr lang="en-US" altLang="zh-CN" dirty="0"/>
                  <a:t>,Z)</a:t>
                </a:r>
                <a:r>
                  <a:rPr lang="zh-CN" altLang="en-US" dirty="0"/>
                  <a:t>表示</a:t>
                </a:r>
                <a:r>
                  <a:rPr lang="en-US" altLang="zh-CN" dirty="0"/>
                  <a:t>R</a:t>
                </a:r>
                <a:r>
                  <a:rPr lang="zh-CN" altLang="en-US" dirty="0"/>
                  <a:t>与</a:t>
                </a:r>
                <a:r>
                  <a:rPr lang="en-US" altLang="zh-CN" dirty="0"/>
                  <a:t>S</a:t>
                </a:r>
                <a:r>
                  <a:rPr lang="zh-CN" altLang="en-US" dirty="0"/>
                  <a:t>除运算的结果，</a:t>
                </a:r>
                <a:r>
                  <a:rPr lang="en-US" altLang="zh-CN" dirty="0"/>
                  <a:t>÷</a:t>
                </a:r>
                <a:r>
                  <a:rPr lang="zh-CN" altLang="en-US" dirty="0"/>
                  <a:t>是除运算的算符，结果关系</a:t>
                </a:r>
                <a:r>
                  <a:rPr lang="en-US" altLang="zh-CN" dirty="0"/>
                  <a:t>T</a:t>
                </a:r>
                <a:r>
                  <a:rPr lang="zh-CN" altLang="en-US" dirty="0"/>
                  <a:t>的属性集由</a:t>
                </a:r>
                <a:r>
                  <a:rPr lang="en-US" altLang="zh-CN" dirty="0"/>
                  <a:t>X</a:t>
                </a:r>
                <a:r>
                  <a:rPr lang="zh-CN" altLang="en-US" dirty="0"/>
                  <a:t>构成，则</a:t>
                </a:r>
                <a:r>
                  <a:rPr lang="en-US" altLang="zh-CN" dirty="0"/>
                  <a:t>T</a:t>
                </a:r>
                <a:r>
                  <a:rPr lang="zh-CN" altLang="en-US" dirty="0"/>
                  <a:t>与</a:t>
                </a:r>
                <a:r>
                  <a:rPr lang="en-US" altLang="zh-CN" dirty="0"/>
                  <a:t>S</a:t>
                </a:r>
                <a:r>
                  <a:rPr lang="zh-CN" altLang="en-US" dirty="0"/>
                  <a:t>的笛卡儿积必定是</a:t>
                </a:r>
                <a:r>
                  <a:rPr lang="en-US" altLang="zh-CN" dirty="0"/>
                  <a:t>R</a:t>
                </a:r>
                <a:r>
                  <a:rPr lang="zh-CN" altLang="en-US" dirty="0"/>
                  <a:t>的一个子集。</a:t>
                </a:r>
                <a:r>
                  <a:rPr lang="en-US" altLang="zh-CN" dirty="0"/>
                  <a:t>R÷S</a:t>
                </a:r>
                <a:r>
                  <a:rPr lang="zh-CN" altLang="en-US" dirty="0"/>
                  <a:t>可表示如下：</a:t>
                </a:r>
                <a:endParaRPr lang="en-US" altLang="zh-CN" dirty="0"/>
              </a:p>
              <a:p>
                <a:pPr marL="914400" lvl="2"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𝑇</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e>
                        <m:e>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m:t>
                              </m:r>
                            </m:e>
                            <m:sub>
                              <m:r>
                                <a:rPr lang="en-US" altLang="zh-CN" b="0" i="1" smtClean="0">
                                  <a:latin typeface="Cambria Math" panose="02040503050406030204" pitchFamily="18" charset="0"/>
                                  <a:ea typeface="Cambria Math" panose="02040503050406030204" pitchFamily="18" charset="0"/>
                                </a:rPr>
                                <m:t>𝑠</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𝑡</m:t>
                          </m:r>
                          <m:sSub>
                            <m:sSubPr>
                              <m:ctrlPr>
                                <a:rPr lang="en-US" altLang="zh-CN" b="0" i="1" smtClean="0">
                                  <a:latin typeface="Cambria Math" panose="02040503050406030204" pitchFamily="18" charset="0"/>
                                  <a:ea typeface="Cambria Math" panose="02040503050406030204" pitchFamily="18" charset="0"/>
                                </a:rPr>
                              </m:ctrlPr>
                            </m:sSubPr>
                            <m:e>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𝑋</m:t>
                                  </m:r>
                                </m:e>
                              </m:d>
                            </m:e>
                            <m:sub>
                              <m:r>
                                <a:rPr lang="en-US" altLang="zh-CN" b="0" i="1" smtClean="0">
                                  <a:latin typeface="Cambria Math" panose="02040503050406030204" pitchFamily="18" charset="0"/>
                                  <a:ea typeface="Cambria Math" panose="02040503050406030204" pitchFamily="18" charset="0"/>
                                </a:rPr>
                                <m:t>𝑠</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e>
                      </m:d>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𝜋</m:t>
                          </m:r>
                        </m:e>
                        <m:sub>
                          <m:r>
                            <a:rPr lang="en-US" altLang="zh-CN" b="0" i="1" smtClean="0">
                              <a:latin typeface="Cambria Math" panose="02040503050406030204" pitchFamily="18" charset="0"/>
                              <a:ea typeface="Cambria Math" panose="02040503050406030204" pitchFamily="18" charset="0"/>
                            </a:rPr>
                            <m:t>𝑋</m:t>
                          </m:r>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𝑅</m:t>
                          </m:r>
                        </m:e>
                      </m:d>
                      <m:r>
                        <a:rPr lang="en-US" altLang="zh-CN" b="0"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𝜋</m:t>
                          </m:r>
                        </m:e>
                        <m:sub>
                          <m:r>
                            <a:rPr lang="en-US" altLang="zh-CN" i="1">
                              <a:latin typeface="Cambria Math" panose="02040503050406030204" pitchFamily="18" charset="0"/>
                              <a:ea typeface="Cambria Math" panose="02040503050406030204" pitchFamily="18" charset="0"/>
                            </a:rPr>
                            <m:t>𝑋</m:t>
                          </m:r>
                        </m:sub>
                      </m:sSub>
                      <m:r>
                        <a:rPr lang="en-US" altLang="zh-CN" b="0" i="1" smtClean="0">
                          <a:latin typeface="Cambria Math" panose="02040503050406030204" pitchFamily="18" charset="0"/>
                          <a:ea typeface="Cambria Math" panose="02040503050406030204" pitchFamily="18" charset="0"/>
                        </a:rPr>
                        <m:t>(</m:t>
                      </m:r>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𝜋</m:t>
                              </m:r>
                            </m:e>
                            <m:sub>
                              <m:r>
                                <a:rPr lang="en-US" altLang="zh-CN" i="1">
                                  <a:latin typeface="Cambria Math" panose="02040503050406030204" pitchFamily="18" charset="0"/>
                                  <a:ea typeface="Cambria Math" panose="02040503050406030204" pitchFamily="18" charset="0"/>
                                </a:rPr>
                                <m:t>𝑋</m:t>
                              </m:r>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𝑅</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r>
                        <a:rPr lang="en-US" altLang="zh-CN" b="0" i="1" smtClean="0">
                          <a:latin typeface="Cambria Math" panose="02040503050406030204" pitchFamily="18" charset="0"/>
                          <a:ea typeface="Cambria Math" panose="02040503050406030204" pitchFamily="18" charset="0"/>
                        </a:rPr>
                        <m:t>)</m:t>
                      </m:r>
                    </m:oMath>
                  </m:oMathPara>
                </a14:m>
                <a:endParaRPr lang="en-US" altLang="zh-CN" dirty="0"/>
              </a:p>
              <a:p>
                <a:pPr lvl="2"/>
                <a:r>
                  <a:rPr lang="zh-CN" altLang="en-US" dirty="0"/>
                  <a:t>式中</a:t>
                </a:r>
                <a:r>
                  <a:rPr lang="en-US" altLang="zh-CN" dirty="0"/>
                  <a:t>t[X]s</a:t>
                </a:r>
                <a:r>
                  <a:rPr lang="zh-CN" altLang="en-US" dirty="0"/>
                  <a:t>表示由元组</a:t>
                </a:r>
                <a:r>
                  <a:rPr lang="en-US" altLang="zh-CN" dirty="0"/>
                  <a:t>t</a:t>
                </a:r>
                <a:r>
                  <a:rPr lang="zh-CN" altLang="en-US" dirty="0"/>
                  <a:t>在属性子集</a:t>
                </a:r>
                <a:r>
                  <a:rPr lang="en-US" altLang="zh-CN" dirty="0"/>
                  <a:t>X</a:t>
                </a:r>
                <a:r>
                  <a:rPr lang="zh-CN" altLang="en-US" dirty="0"/>
                  <a:t>上的分量同关系</a:t>
                </a:r>
                <a:r>
                  <a:rPr lang="en-US" altLang="zh-CN" dirty="0"/>
                  <a:t>S</a:t>
                </a:r>
                <a:r>
                  <a:rPr lang="zh-CN" altLang="en-US" dirty="0"/>
                  <a:t>的元组</a:t>
                </a:r>
                <a:r>
                  <a:rPr lang="en-US" altLang="zh-CN" dirty="0"/>
                  <a:t>s</a:t>
                </a:r>
                <a:r>
                  <a:rPr lang="zh-CN" altLang="en-US" dirty="0"/>
                  <a:t>构成的新元组</a:t>
                </a:r>
                <a:endParaRPr lang="zh-CN" altLang="en-US" dirty="0"/>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专门的关系运算</a:t>
            </a:r>
            <a:endParaRPr lang="en-US" altLang="zh-CN" dirty="0"/>
          </a:p>
          <a:p>
            <a:pPr lvl="1"/>
            <a:r>
              <a:rPr lang="zh-CN" altLang="en-US" dirty="0"/>
              <a:t>除（</a:t>
            </a:r>
            <a:r>
              <a:rPr lang="en-US" altLang="zh-CN" dirty="0" err="1"/>
              <a:t>Divison</a:t>
            </a:r>
            <a:r>
              <a:rPr lang="zh-CN" altLang="en-US" dirty="0"/>
              <a:t>）</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
        <p:nvSpPr>
          <p:cNvPr id="6" name="Text Box 12"/>
          <p:cNvSpPr txBox="1">
            <a:spLocks noChangeArrowheads="1"/>
          </p:cNvSpPr>
          <p:nvPr/>
        </p:nvSpPr>
        <p:spPr bwMode="auto">
          <a:xfrm>
            <a:off x="3567995" y="5096052"/>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800">
                <a:latin typeface="Arial" panose="020B0604020202020204" pitchFamily="34" charset="0"/>
              </a:rPr>
              <a:t>R</a:t>
            </a:r>
            <a:endParaRPr lang="en-US" altLang="zh-CN" sz="1800">
              <a:latin typeface="Arial" panose="020B0604020202020204" pitchFamily="34" charset="0"/>
            </a:endParaRPr>
          </a:p>
        </p:txBody>
      </p:sp>
      <p:graphicFrame>
        <p:nvGraphicFramePr>
          <p:cNvPr id="7" name="Group 206"/>
          <p:cNvGraphicFramePr>
            <a:graphicFrameLocks noGrp="1"/>
          </p:cNvGraphicFramePr>
          <p:nvPr/>
        </p:nvGraphicFramePr>
        <p:xfrm>
          <a:off x="2691695" y="2575102"/>
          <a:ext cx="2233613" cy="2316272"/>
        </p:xfrm>
        <a:graphic>
          <a:graphicData uri="http://schemas.openxmlformats.org/drawingml/2006/table">
            <a:tbl>
              <a:tblPr/>
              <a:tblGrid>
                <a:gridCol w="560388"/>
                <a:gridCol w="573087"/>
                <a:gridCol w="582613"/>
                <a:gridCol w="517525"/>
              </a:tblGrid>
              <a:tr h="39612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8" marB="4566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8" marB="4566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8" marB="4566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68" marB="4566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2004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a1</a:t>
                      </a:r>
                      <a:endParaRPr kumimoji="0" lang="en-US" altLang="zh-CN" sz="2000" b="0" i="0" u="none" strike="noStrike" cap="none" normalizeH="0" baseline="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a1</a:t>
                      </a:r>
                      <a:endParaRPr kumimoji="0" lang="en-US" altLang="zh-CN" sz="2000" b="0" i="0" u="none" strike="noStrike" cap="none" normalizeH="0" baseline="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a1</a:t>
                      </a:r>
                      <a:endParaRPr kumimoji="0" lang="en-US" altLang="zh-CN" sz="2000" b="0" i="0" u="none" strike="noStrike" cap="none" normalizeH="0" baseline="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339966"/>
                          </a:solidFill>
                          <a:effectLst/>
                          <a:latin typeface="Times New Roman" panose="02020603050405020304" pitchFamily="18" charset="0"/>
                          <a:ea typeface="黑体" panose="02010609060101010101" pitchFamily="49" charset="-122"/>
                          <a:cs typeface="Times New Roman" panose="02020603050405020304" pitchFamily="18" charset="0"/>
                        </a:rPr>
                        <a:t>a2</a:t>
                      </a:r>
                      <a:endParaRPr kumimoji="0" lang="en-US" altLang="zh-CN" sz="2000" b="0" i="0" u="none" strike="noStrike" cap="none" normalizeH="0" baseline="0">
                        <a:ln>
                          <a:noFill/>
                        </a:ln>
                        <a:solidFill>
                          <a:srgbClr val="339966"/>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66CC"/>
                          </a:solidFill>
                          <a:effectLst/>
                          <a:latin typeface="Times New Roman" panose="02020603050405020304" pitchFamily="18" charset="0"/>
                          <a:ea typeface="黑体" panose="02010609060101010101" pitchFamily="49" charset="-122"/>
                          <a:cs typeface="Times New Roman" panose="02020603050405020304" pitchFamily="18" charset="0"/>
                        </a:rPr>
                        <a:t>a3</a:t>
                      </a:r>
                      <a:endParaRPr kumimoji="0" lang="en-US" altLang="zh-CN" sz="2000" b="0" i="0" u="none" strike="noStrike" cap="none" normalizeH="0" baseline="0">
                        <a:ln>
                          <a:noFill/>
                        </a:ln>
                        <a:solidFill>
                          <a:srgbClr val="0066CC"/>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66CC"/>
                          </a:solidFill>
                          <a:effectLst/>
                          <a:latin typeface="Times New Roman" panose="02020603050405020304" pitchFamily="18" charset="0"/>
                          <a:ea typeface="黑体" panose="02010609060101010101" pitchFamily="49" charset="-122"/>
                          <a:cs typeface="Times New Roman" panose="02020603050405020304" pitchFamily="18" charset="0"/>
                        </a:rPr>
                        <a:t>a3</a:t>
                      </a:r>
                      <a:endParaRPr kumimoji="0" lang="en-US" altLang="zh-CN" sz="2000" b="0" i="0" u="none" strike="noStrike" cap="none" normalizeH="0" baseline="0">
                        <a:ln>
                          <a:noFill/>
                        </a:ln>
                        <a:solidFill>
                          <a:srgbClr val="0066CC"/>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8" marB="4566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339966"/>
                          </a:solidFill>
                          <a:effectLst/>
                          <a:latin typeface="Times New Roman" panose="02020603050405020304" pitchFamily="18" charset="0"/>
                          <a:ea typeface="黑体" panose="02010609060101010101" pitchFamily="49" charset="-122"/>
                          <a:cs typeface="Times New Roman" panose="02020603050405020304" pitchFamily="18" charset="0"/>
                        </a:rPr>
                        <a:t>b2</a:t>
                      </a:r>
                      <a:endParaRPr kumimoji="0" lang="en-US" altLang="zh-CN" sz="2000" b="0" i="0" u="none" strike="noStrike" cap="none" normalizeH="0" baseline="0">
                        <a:ln>
                          <a:noFill/>
                        </a:ln>
                        <a:solidFill>
                          <a:srgbClr val="339966"/>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66CC"/>
                          </a:solidFill>
                          <a:effectLst/>
                          <a:latin typeface="Times New Roman" panose="02020603050405020304" pitchFamily="18" charset="0"/>
                          <a:ea typeface="黑体" panose="02010609060101010101" pitchFamily="49" charset="-122"/>
                          <a:cs typeface="Times New Roman" panose="02020603050405020304" pitchFamily="18" charset="0"/>
                        </a:rPr>
                        <a:t>b3</a:t>
                      </a:r>
                      <a:endParaRPr kumimoji="0" lang="en-US" altLang="zh-CN" sz="2000" b="0" i="0" u="none" strike="noStrike" cap="none" normalizeH="0" baseline="0">
                        <a:ln>
                          <a:noFill/>
                        </a:ln>
                        <a:solidFill>
                          <a:srgbClr val="0066CC"/>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66CC"/>
                          </a:solidFill>
                          <a:effectLst/>
                          <a:latin typeface="Times New Roman" panose="02020603050405020304" pitchFamily="18" charset="0"/>
                          <a:ea typeface="黑体" panose="02010609060101010101" pitchFamily="49" charset="-122"/>
                          <a:cs typeface="Times New Roman" panose="02020603050405020304" pitchFamily="18" charset="0"/>
                        </a:rPr>
                        <a:t>b3</a:t>
                      </a:r>
                      <a:endParaRPr kumimoji="0" lang="en-US" altLang="zh-CN" sz="2000" b="0" i="0" u="none" strike="noStrike" cap="none" normalizeH="0" baseline="0">
                        <a:ln>
                          <a:noFill/>
                        </a:ln>
                        <a:solidFill>
                          <a:srgbClr val="0066CC"/>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8" marB="4566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8" marB="4566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68" marB="4566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8" name="Group 207"/>
          <p:cNvGraphicFramePr>
            <a:graphicFrameLocks noGrp="1"/>
          </p:cNvGraphicFramePr>
          <p:nvPr/>
        </p:nvGraphicFramePr>
        <p:xfrm>
          <a:off x="5574595" y="2598914"/>
          <a:ext cx="1223963" cy="1096992"/>
        </p:xfrm>
        <a:graphic>
          <a:graphicData uri="http://schemas.openxmlformats.org/drawingml/2006/table">
            <a:tbl>
              <a:tblPr/>
              <a:tblGrid>
                <a:gridCol w="609600"/>
                <a:gridCol w="614363"/>
              </a:tblGrid>
              <a:tr h="39608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087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c3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d3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9" name="Group 209"/>
          <p:cNvGraphicFramePr>
            <a:graphicFrameLocks noGrp="1"/>
          </p:cNvGraphicFramePr>
          <p:nvPr/>
        </p:nvGraphicFramePr>
        <p:xfrm>
          <a:off x="7806620" y="2646539"/>
          <a:ext cx="1152525" cy="1096992"/>
        </p:xfrm>
        <a:graphic>
          <a:graphicData uri="http://schemas.openxmlformats.org/drawingml/2006/table">
            <a:tbl>
              <a:tblPr/>
              <a:tblGrid>
                <a:gridCol w="528638"/>
                <a:gridCol w="623887"/>
              </a:tblGrid>
              <a:tr h="39608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087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a3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b3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0" name="Text Box 208"/>
          <p:cNvSpPr txBox="1">
            <a:spLocks noChangeArrowheads="1"/>
          </p:cNvSpPr>
          <p:nvPr/>
        </p:nvSpPr>
        <p:spPr bwMode="auto">
          <a:xfrm>
            <a:off x="5933370" y="5089702"/>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800">
                <a:latin typeface="Arial" panose="020B0604020202020204" pitchFamily="34" charset="0"/>
              </a:rPr>
              <a:t>S</a:t>
            </a:r>
            <a:endParaRPr lang="en-US" altLang="zh-CN" sz="1800">
              <a:latin typeface="Arial" panose="020B0604020202020204" pitchFamily="34" charset="0"/>
            </a:endParaRPr>
          </a:p>
        </p:txBody>
      </p:sp>
      <p:sp>
        <p:nvSpPr>
          <p:cNvPr id="11" name="Text Box 210"/>
          <p:cNvSpPr txBox="1">
            <a:spLocks noChangeArrowheads="1"/>
          </p:cNvSpPr>
          <p:nvPr/>
        </p:nvSpPr>
        <p:spPr bwMode="auto">
          <a:xfrm>
            <a:off x="8046333" y="5096052"/>
            <a:ext cx="730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800">
                <a:latin typeface="Arial" panose="020B0604020202020204" pitchFamily="34" charset="0"/>
              </a:rPr>
              <a:t>R÷S</a:t>
            </a:r>
            <a:endParaRPr lang="en-US" altLang="zh-CN" sz="1800">
              <a:latin typeface="Arial" panose="020B060402020202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4" y="1219203"/>
            <a:ext cx="7027140" cy="4957760"/>
          </a:xfrm>
        </p:spPr>
        <p:txBody>
          <a:bodyPr>
            <a:normAutofit/>
          </a:bodyPr>
          <a:lstStyle/>
          <a:p>
            <a:r>
              <a:rPr lang="zh-CN" altLang="en-US" dirty="0"/>
              <a:t>专门的关系运算</a:t>
            </a:r>
            <a:endParaRPr lang="en-US" altLang="zh-CN" dirty="0"/>
          </a:p>
          <a:p>
            <a:pPr lvl="1"/>
            <a:r>
              <a:rPr lang="zh-CN" altLang="en-US" dirty="0"/>
              <a:t>除（</a:t>
            </a:r>
            <a:r>
              <a:rPr lang="en-US" altLang="zh-CN" dirty="0" err="1"/>
              <a:t>Divison</a:t>
            </a:r>
            <a:r>
              <a:rPr lang="zh-CN" altLang="en-US" dirty="0"/>
              <a:t>）</a:t>
            </a:r>
            <a:endParaRPr lang="zh-CN" altLang="en-US" dirty="0"/>
          </a:p>
          <a:p>
            <a:pPr lvl="2"/>
            <a:r>
              <a:rPr lang="zh-CN" altLang="en-US" dirty="0"/>
              <a:t>在关系</a:t>
            </a:r>
            <a:r>
              <a:rPr lang="en-US" altLang="zh-CN" dirty="0"/>
              <a:t>R</a:t>
            </a:r>
            <a:r>
              <a:rPr lang="zh-CN" altLang="en-US" dirty="0"/>
              <a:t>中，</a:t>
            </a:r>
            <a:r>
              <a:rPr lang="en-US" altLang="zh-CN" dirty="0"/>
              <a:t>A</a:t>
            </a:r>
            <a:r>
              <a:rPr lang="zh-CN" altLang="en-US" dirty="0"/>
              <a:t>属性可以取</a:t>
            </a:r>
            <a:r>
              <a:rPr lang="en-US" altLang="zh-CN" dirty="0"/>
              <a:t>{a1, a2,a3,a4}</a:t>
            </a:r>
            <a:r>
              <a:rPr lang="zh-CN" altLang="en-US" dirty="0"/>
              <a:t>。</a:t>
            </a:r>
            <a:endParaRPr lang="zh-CN" altLang="en-US" dirty="0"/>
          </a:p>
          <a:p>
            <a:pPr lvl="3"/>
            <a:r>
              <a:rPr lang="en-US" altLang="zh-CN" dirty="0"/>
              <a:t>a1</a:t>
            </a:r>
            <a:r>
              <a:rPr lang="zh-CN" altLang="en-US" dirty="0"/>
              <a:t>的象集为</a:t>
            </a:r>
            <a:r>
              <a:rPr lang="en-US" altLang="zh-CN" dirty="0"/>
              <a:t>{(b1,c2),(b2,c3),(b2,c1)}</a:t>
            </a:r>
            <a:endParaRPr lang="en-US" altLang="zh-CN" dirty="0"/>
          </a:p>
          <a:p>
            <a:pPr lvl="3"/>
            <a:r>
              <a:rPr lang="en-US" altLang="zh-CN" dirty="0"/>
              <a:t>a2</a:t>
            </a:r>
            <a:r>
              <a:rPr lang="zh-CN" altLang="en-US" dirty="0"/>
              <a:t>的象集为</a:t>
            </a:r>
            <a:r>
              <a:rPr lang="en-US" altLang="zh-CN" dirty="0"/>
              <a:t>{(b3,c7),(b2,c3)}</a:t>
            </a:r>
            <a:endParaRPr lang="en-US" altLang="zh-CN" dirty="0"/>
          </a:p>
          <a:p>
            <a:pPr lvl="3"/>
            <a:r>
              <a:rPr lang="en-US" altLang="zh-CN" dirty="0"/>
              <a:t>a3</a:t>
            </a:r>
            <a:r>
              <a:rPr lang="zh-CN" altLang="en-US" dirty="0"/>
              <a:t>的象集为</a:t>
            </a:r>
            <a:r>
              <a:rPr lang="en-US" altLang="zh-CN" dirty="0"/>
              <a:t>{(b4,c6)}</a:t>
            </a:r>
            <a:endParaRPr lang="en-US" altLang="zh-CN" dirty="0"/>
          </a:p>
          <a:p>
            <a:pPr lvl="3"/>
            <a:r>
              <a:rPr lang="en-US" altLang="zh-CN" dirty="0"/>
              <a:t>a4</a:t>
            </a:r>
            <a:r>
              <a:rPr lang="zh-CN" altLang="en-US" dirty="0"/>
              <a:t>的象集为</a:t>
            </a:r>
            <a:r>
              <a:rPr lang="en-US" altLang="zh-CN" dirty="0"/>
              <a:t>{(b6,c6)}</a:t>
            </a:r>
            <a:endParaRPr lang="en-US" altLang="zh-CN" dirty="0"/>
          </a:p>
          <a:p>
            <a:pPr lvl="2"/>
            <a:r>
              <a:rPr lang="en-US" altLang="zh-CN" dirty="0"/>
              <a:t>S</a:t>
            </a:r>
            <a:r>
              <a:rPr lang="zh-CN" altLang="en-US" dirty="0"/>
              <a:t>在</a:t>
            </a:r>
            <a:r>
              <a:rPr lang="en-US" altLang="zh-CN" dirty="0"/>
              <a:t>(B,C)</a:t>
            </a:r>
            <a:r>
              <a:rPr lang="zh-CN" altLang="en-US" dirty="0"/>
              <a:t>上的投影为： </a:t>
            </a:r>
            <a:r>
              <a:rPr lang="en-US" altLang="zh-CN" dirty="0"/>
              <a:t>{(b1,c2),(b2,c3),(b2,c1)}</a:t>
            </a:r>
            <a:endParaRPr lang="en-US" altLang="zh-CN" dirty="0"/>
          </a:p>
          <a:p>
            <a:pPr lvl="2"/>
            <a:r>
              <a:rPr lang="zh-CN" altLang="en-US" dirty="0"/>
              <a:t>显然，只有</a:t>
            </a:r>
            <a:r>
              <a:rPr lang="en-US" altLang="zh-CN" dirty="0"/>
              <a:t>a1</a:t>
            </a:r>
            <a:r>
              <a:rPr lang="zh-CN" altLang="en-US" dirty="0"/>
              <a:t>的象集包含了</a:t>
            </a:r>
            <a:r>
              <a:rPr lang="en-US" altLang="zh-CN" dirty="0"/>
              <a:t>S</a:t>
            </a:r>
            <a:r>
              <a:rPr lang="zh-CN" altLang="en-US" dirty="0"/>
              <a:t>在</a:t>
            </a:r>
            <a:r>
              <a:rPr lang="en-US" altLang="zh-CN" dirty="0"/>
              <a:t>(B,C)</a:t>
            </a:r>
            <a:r>
              <a:rPr lang="zh-CN" altLang="en-US" dirty="0"/>
              <a:t>属性组上的投影，所以</a:t>
            </a:r>
            <a:r>
              <a:rPr lang="en-US" altLang="zh-CN" dirty="0"/>
              <a:t>R÷S={a1} </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graphicFrame>
        <p:nvGraphicFramePr>
          <p:cNvPr id="6" name="Group 5"/>
          <p:cNvGraphicFramePr>
            <a:graphicFrameLocks noGrp="1"/>
          </p:cNvGraphicFramePr>
          <p:nvPr/>
        </p:nvGraphicFramePr>
        <p:xfrm>
          <a:off x="8000567" y="1827259"/>
          <a:ext cx="2376488" cy="2619375"/>
        </p:xfrm>
        <a:graphic>
          <a:graphicData uri="http://schemas.openxmlformats.org/drawingml/2006/table">
            <a:tbl>
              <a:tblPr/>
              <a:tblGrid>
                <a:gridCol w="725488"/>
                <a:gridCol w="758825"/>
                <a:gridCol w="892175"/>
              </a:tblGrid>
              <a:tr h="395288">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3399"/>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8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1" lang="en-US" altLang="zh-CN" sz="18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6AB0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8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1" lang="en-US" altLang="zh-CN" sz="18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6AB01"/>
                    </a:solidFill>
                  </a:tcPr>
                </a:tc>
              </a:tr>
              <a:tr h="2224087">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endPar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a2</a:t>
                      </a:r>
                      <a:endPar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a3</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a4</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a2</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b1</a:t>
                      </a:r>
                      <a:endPar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b4</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b6</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c2</a:t>
                      </a:r>
                      <a:endPar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c7</a:t>
                      </a:r>
                      <a:endPar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c6</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c3</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c6</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c3</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7" name="Group 19"/>
          <p:cNvGraphicFramePr>
            <a:graphicFrameLocks noGrp="1"/>
          </p:cNvGraphicFramePr>
          <p:nvPr/>
        </p:nvGraphicFramePr>
        <p:xfrm>
          <a:off x="8072005" y="4851446"/>
          <a:ext cx="2376487" cy="1436688"/>
        </p:xfrm>
        <a:graphic>
          <a:graphicData uri="http://schemas.openxmlformats.org/drawingml/2006/table">
            <a:tbl>
              <a:tblPr/>
              <a:tblGrid>
                <a:gridCol w="742950"/>
                <a:gridCol w="750887"/>
                <a:gridCol w="882650"/>
              </a:tblGrid>
              <a:tr h="431800">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8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1" lang="en-US" altLang="zh-CN" sz="18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6AB0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8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1" lang="en-US" altLang="zh-CN" sz="1800" b="1" i="0" u="none" strike="noStrike" cap="none" normalizeH="0" baseline="0">
                        <a:ln>
                          <a:noFill/>
                        </a:ln>
                        <a:solidFill>
                          <a:srgbClr val="CC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6AB0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4888">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b1</a:t>
                      </a:r>
                      <a:endPar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c2</a:t>
                      </a:r>
                      <a:endPar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c3</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d1</a:t>
                      </a:r>
                      <a:endPar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d1</a:t>
                      </a:r>
                      <a:endPar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d2</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8" name="Text Box 33"/>
          <p:cNvSpPr txBox="1">
            <a:spLocks noChangeArrowheads="1"/>
          </p:cNvSpPr>
          <p:nvPr/>
        </p:nvSpPr>
        <p:spPr bwMode="auto">
          <a:xfrm>
            <a:off x="8719705" y="4419646"/>
            <a:ext cx="1081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2000" b="1">
                <a:latin typeface="Arial" panose="020B0604020202020204" pitchFamily="34" charset="0"/>
              </a:rPr>
              <a:t>关系</a:t>
            </a:r>
            <a:r>
              <a:rPr lang="en-US" altLang="zh-CN" sz="2000" b="1">
                <a:latin typeface="Arial" panose="020B0604020202020204" pitchFamily="34" charset="0"/>
              </a:rPr>
              <a:t>R</a:t>
            </a:r>
            <a:endParaRPr lang="en-US" altLang="zh-CN" sz="2000" b="1">
              <a:latin typeface="Arial" panose="020B0604020202020204" pitchFamily="34" charset="0"/>
            </a:endParaRPr>
          </a:p>
        </p:txBody>
      </p:sp>
      <p:sp>
        <p:nvSpPr>
          <p:cNvPr id="9" name="Text Box 34"/>
          <p:cNvSpPr txBox="1">
            <a:spLocks noChangeArrowheads="1"/>
          </p:cNvSpPr>
          <p:nvPr/>
        </p:nvSpPr>
        <p:spPr bwMode="auto">
          <a:xfrm>
            <a:off x="8721292" y="6291309"/>
            <a:ext cx="1081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2000" b="1">
                <a:latin typeface="Arial" panose="020B0604020202020204" pitchFamily="34" charset="0"/>
              </a:rPr>
              <a:t>关系</a:t>
            </a:r>
            <a:r>
              <a:rPr lang="en-US" altLang="zh-CN" sz="2000" b="1">
                <a:latin typeface="Arial" panose="020B0604020202020204" pitchFamily="34" charset="0"/>
              </a:rPr>
              <a:t>S</a:t>
            </a:r>
            <a:endParaRPr lang="en-US" altLang="zh-CN" sz="2000" b="1">
              <a:latin typeface="Arial" panose="020B0604020202020204" pitchFamily="34" charset="0"/>
            </a:endParaRPr>
          </a:p>
        </p:txBody>
      </p:sp>
      <p:graphicFrame>
        <p:nvGraphicFramePr>
          <p:cNvPr id="10" name="Group 35"/>
          <p:cNvGraphicFramePr>
            <a:graphicFrameLocks noGrp="1"/>
          </p:cNvGraphicFramePr>
          <p:nvPr/>
        </p:nvGraphicFramePr>
        <p:xfrm>
          <a:off x="10640580" y="2584496"/>
          <a:ext cx="511175" cy="995363"/>
        </p:xfrm>
        <a:graphic>
          <a:graphicData uri="http://schemas.openxmlformats.org/drawingml/2006/table">
            <a:tbl>
              <a:tblPr/>
              <a:tblGrid>
                <a:gridCol w="511175"/>
              </a:tblGrid>
              <a:tr h="498475">
                <a:tc>
                  <a:txBody>
                    <a:bodyPr/>
                    <a:lstStyle/>
                    <a:p>
                      <a:pPr marL="0" marR="0" lvl="0" indent="0" algn="l" defTabSz="914400" rtl="0" eaLnBrk="1" fontAlgn="base" latinLnBrk="0" hangingPunct="1">
                        <a:lnSpc>
                          <a:spcPct val="100000"/>
                        </a:lnSpc>
                        <a:spcBef>
                          <a:spcPct val="0"/>
                        </a:spcBef>
                        <a:spcAft>
                          <a:spcPct val="0"/>
                        </a:spcAft>
                        <a:buClr>
                          <a:schemeClr val="bg1"/>
                        </a:buClr>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3399"/>
                    </a:solidFill>
                  </a:tcPr>
                </a:tc>
              </a:tr>
              <a:tr h="496888">
                <a:tc>
                  <a:txBody>
                    <a:bodyPr/>
                    <a:lstStyle/>
                    <a:p>
                      <a:pPr marL="0" marR="0" lvl="0" indent="0" algn="l" defTabSz="914400" rtl="0" eaLnBrk="1" fontAlgn="base" latinLnBrk="0" hangingPunct="1">
                        <a:lnSpc>
                          <a:spcPct val="100000"/>
                        </a:lnSpc>
                        <a:spcBef>
                          <a:spcPct val="0"/>
                        </a:spcBef>
                        <a:spcAft>
                          <a:spcPct val="0"/>
                        </a:spcAft>
                        <a:buClr>
                          <a:schemeClr val="bg1"/>
                        </a:buClr>
                        <a:buSzTx/>
                        <a:buFontTx/>
                        <a:buNone/>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1" name="Text Box 43"/>
          <p:cNvSpPr txBox="1">
            <a:spLocks noChangeArrowheads="1"/>
          </p:cNvSpPr>
          <p:nvPr/>
        </p:nvSpPr>
        <p:spPr bwMode="auto">
          <a:xfrm>
            <a:off x="10592955" y="4132309"/>
            <a:ext cx="1081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a:latin typeface="Arial" panose="020B0604020202020204" pitchFamily="34" charset="0"/>
              </a:rPr>
              <a:t>R÷S</a:t>
            </a:r>
            <a:endParaRPr lang="en-US" altLang="zh-CN" sz="2000" b="1">
              <a:latin typeface="Arial" panose="020B0604020202020204" pitchFamily="34" charset="0"/>
            </a:endParaRPr>
          </a:p>
        </p:txBody>
      </p:sp>
      <p:sp>
        <p:nvSpPr>
          <p:cNvPr id="12" name="AutoShape 44"/>
          <p:cNvSpPr>
            <a:spLocks noChangeArrowheads="1"/>
          </p:cNvSpPr>
          <p:nvPr/>
        </p:nvSpPr>
        <p:spPr bwMode="auto">
          <a:xfrm>
            <a:off x="7640205" y="1395459"/>
            <a:ext cx="1295400" cy="360362"/>
          </a:xfrm>
          <a:prstGeom prst="wedgeRectCallout">
            <a:avLst>
              <a:gd name="adj1" fmla="val 3801"/>
              <a:gd name="adj2" fmla="val 97579"/>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2000" b="1">
                <a:latin typeface="Arial" panose="020B0604020202020204" pitchFamily="34" charset="0"/>
              </a:rPr>
              <a:t>结果属性</a:t>
            </a:r>
            <a:endParaRPr lang="zh-CN" altLang="en-US" sz="2000" b="1">
              <a:latin typeface="Arial" panose="020B0604020202020204" pitchFamily="34" charset="0"/>
            </a:endParaRPr>
          </a:p>
        </p:txBody>
      </p:sp>
      <p:sp>
        <p:nvSpPr>
          <p:cNvPr id="13" name="AutoShape 45"/>
          <p:cNvSpPr>
            <a:spLocks noChangeArrowheads="1"/>
          </p:cNvSpPr>
          <p:nvPr/>
        </p:nvSpPr>
        <p:spPr bwMode="auto">
          <a:xfrm>
            <a:off x="9081655" y="1395459"/>
            <a:ext cx="1295400" cy="360362"/>
          </a:xfrm>
          <a:prstGeom prst="wedgeRectCallout">
            <a:avLst>
              <a:gd name="adj1" fmla="val -44852"/>
              <a:gd name="adj2" fmla="val 98458"/>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endParaRPr lang="zh-CN" altLang="en-US" sz="2000" b="1">
              <a:latin typeface="Arial" panose="020B0604020202020204" pitchFamily="34" charset="0"/>
            </a:endParaRPr>
          </a:p>
        </p:txBody>
      </p:sp>
      <p:sp>
        <p:nvSpPr>
          <p:cNvPr id="14" name="AutoShape 46"/>
          <p:cNvSpPr>
            <a:spLocks noChangeArrowheads="1"/>
          </p:cNvSpPr>
          <p:nvPr/>
        </p:nvSpPr>
        <p:spPr bwMode="auto">
          <a:xfrm>
            <a:off x="9081655" y="1395459"/>
            <a:ext cx="1295400" cy="360362"/>
          </a:xfrm>
          <a:prstGeom prst="wedgeRectCallout">
            <a:avLst>
              <a:gd name="adj1" fmla="val 18505"/>
              <a:gd name="adj2" fmla="val 94051"/>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2000" b="1">
                <a:latin typeface="Arial" panose="020B0604020202020204" pitchFamily="34" charset="0"/>
              </a:rPr>
              <a:t>象集属性</a:t>
            </a:r>
            <a:endParaRPr lang="zh-CN" altLang="en-US" sz="2000" b="1">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xEl>
                                              <p:charRg st="4294967295" end="4294967295"/>
                                            </p:txEl>
                                          </p:spTgt>
                                        </p:tgtEl>
                                        <p:attrNameLst>
                                          <p:attrName>style.visibility</p:attrName>
                                        </p:attrNameLst>
                                      </p:cBhvr>
                                      <p:to>
                                        <p:strVal val="visible"/>
                                      </p:to>
                                    </p:set>
                                    <p:anim calcmode="lin" valueType="num">
                                      <p:cBhvr additive="base">
                                        <p:cTn id="7" dur="500" fill="hold"/>
                                        <p:tgtEl>
                                          <p:spTgt spid="12">
                                            <p:txEl>
                                              <p:charRg st="4294967295" end="429496729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
                                            <p:txEl>
                                              <p:charRg st="4294967295" end="4294967295"/>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nodePh="1">
                                  <p:stCondLst>
                                    <p:cond delay="0"/>
                                  </p:stCondLst>
                                  <p:endCondLst>
                                    <p:cond evt="begin" delay="0">
                                      <p:tn val="11"/>
                                    </p:cond>
                                  </p:endCondLst>
                                  <p:childTnLst>
                                    <p:set>
                                      <p:cBhvr>
                                        <p:cTn id="12" dur="1" fill="hold">
                                          <p:stCondLst>
                                            <p:cond delay="0"/>
                                          </p:stCondLst>
                                        </p:cTn>
                                        <p:tgtEl>
                                          <p:spTgt spid="13">
                                            <p:txEl>
                                              <p:charRg st="4294967295" end="4294967295"/>
                                            </p:txEl>
                                          </p:spTgt>
                                        </p:tgtEl>
                                        <p:attrNameLst>
                                          <p:attrName>style.visibility</p:attrName>
                                        </p:attrNameLst>
                                      </p:cBhvr>
                                      <p:to>
                                        <p:strVal val="visible"/>
                                      </p:to>
                                    </p:set>
                                    <p:anim calcmode="lin" valueType="num">
                                      <p:cBhvr additive="base">
                                        <p:cTn id="13" dur="500" fill="hold"/>
                                        <p:tgtEl>
                                          <p:spTgt spid="13">
                                            <p:txEl>
                                              <p:charRg st="4294967295" end="429496729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charRg st="4294967295" end="4294967295"/>
                                            </p:txEl>
                                          </p:spTgt>
                                        </p:tgtEl>
                                        <p:attrNameLst>
                                          <p:attrName>ppt_y</p:attrName>
                                        </p:attrNameLst>
                                      </p:cBhvr>
                                      <p:tavLst>
                                        <p:tav tm="0">
                                          <p:val>
                                            <p:strVal val="0-#ppt_h/2"/>
                                          </p:val>
                                        </p:tav>
                                        <p:tav tm="100000">
                                          <p:val>
                                            <p:strVal val="#ppt_y"/>
                                          </p:val>
                                        </p:tav>
                                      </p:tavLst>
                                    </p:anim>
                                  </p:childTnLst>
                                </p:cTn>
                              </p:par>
                            </p:childTnLst>
                          </p:cTn>
                        </p:par>
                        <p:par>
                          <p:cTn id="15" fill="hold">
                            <p:stCondLst>
                              <p:cond delay="500"/>
                            </p:stCondLst>
                            <p:childTnLst>
                              <p:par>
                                <p:cTn id="16" presetID="2" presetClass="entr" presetSubtype="1" fill="hold" grpId="0" nodeType="afterEffect">
                                  <p:stCondLst>
                                    <p:cond delay="0"/>
                                  </p:stCondLst>
                                  <p:childTnLst>
                                    <p:set>
                                      <p:cBhvr>
                                        <p:cTn id="17" dur="1" fill="hold">
                                          <p:stCondLst>
                                            <p:cond delay="0"/>
                                          </p:stCondLst>
                                        </p:cTn>
                                        <p:tgtEl>
                                          <p:spTgt spid="14">
                                            <p:txEl>
                                              <p:charRg st="4294967295" end="4294967295"/>
                                            </p:txEl>
                                          </p:spTgt>
                                        </p:tgtEl>
                                        <p:attrNameLst>
                                          <p:attrName>style.visibility</p:attrName>
                                        </p:attrNameLst>
                                      </p:cBhvr>
                                      <p:to>
                                        <p:strVal val="visible"/>
                                      </p:to>
                                    </p:set>
                                    <p:anim calcmode="lin" valueType="num">
                                      <p:cBhvr additive="base">
                                        <p:cTn id="18" dur="500" fill="hold"/>
                                        <p:tgtEl>
                                          <p:spTgt spid="14">
                                            <p:txEl>
                                              <p:charRg st="4294967295" end="4294967295"/>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4">
                                            <p:txEl>
                                              <p:charRg st="4294967295" end="4294967295"/>
                                            </p:txEl>
                                          </p:spTgt>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checkerboard(across)">
                                      <p:cBhvr>
                                        <p:cTn id="24" dur="500"/>
                                        <p:tgtEl>
                                          <p:spTgt spid="10"/>
                                        </p:tgtEl>
                                      </p:cBhvr>
                                    </p:animEffect>
                                  </p:childTnLst>
                                </p:cTn>
                              </p:par>
                            </p:childTnLst>
                          </p:cTn>
                        </p:par>
                        <p:par>
                          <p:cTn id="25" fill="hold">
                            <p:stCondLst>
                              <p:cond delay="500"/>
                            </p:stCondLst>
                            <p:childTnLst>
                              <p:par>
                                <p:cTn id="26" presetID="5" presetClass="entr" presetSubtype="1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checkerboard(across)">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P spid="12" grpId="0" autoUpdateAnimBg="0"/>
      <p:bldP spid="13" grpId="0" autoUpdateAnimBg="0"/>
      <p:bldP spid="14"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关系运算</a:t>
                </a:r>
                <a:endParaRPr lang="en-US" altLang="zh-CN" dirty="0"/>
              </a:p>
              <a:p>
                <a:pPr lvl="1"/>
                <a:r>
                  <a:rPr lang="zh-CN" altLang="en-US" dirty="0"/>
                  <a:t>最小完备集，如 </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𝜎</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𝜋</m:t>
                    </m:r>
                    <m:r>
                      <a:rPr lang="en-US" altLang="zh-CN" b="0" i="1" smtClean="0">
                        <a:latin typeface="Cambria Math" panose="02040503050406030204" pitchFamily="18" charset="0"/>
                      </a:rPr>
                      <m:t>}</m:t>
                    </m:r>
                  </m:oMath>
                </a14:m>
                <a:endParaRPr lang="en-US" altLang="zh-CN" dirty="0"/>
              </a:p>
              <a:p>
                <a:pPr lvl="1"/>
                <a:r>
                  <a:rPr lang="zh-CN" altLang="en-US" dirty="0"/>
                  <a:t>最小完备集不是唯一的</a:t>
                </a:r>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关系代数查询实例</a:t>
                </a:r>
                <a:endParaRPr lang="en-US" altLang="zh-CN" dirty="0"/>
              </a:p>
              <a:p>
                <a:pPr lvl="1"/>
                <a:r>
                  <a:rPr lang="en-US" altLang="zh-CN" dirty="0"/>
                  <a:t> Student(S#</a:t>
                </a:r>
                <a:r>
                  <a:rPr lang="zh-CN" altLang="en-US" dirty="0"/>
                  <a:t>，</a:t>
                </a:r>
                <a:r>
                  <a:rPr lang="en-US" altLang="zh-CN" dirty="0"/>
                  <a:t>Class</a:t>
                </a:r>
                <a:r>
                  <a:rPr lang="zh-CN" altLang="en-US" dirty="0"/>
                  <a:t>，</a:t>
                </a:r>
                <a:r>
                  <a:rPr lang="en-US" altLang="zh-CN" dirty="0" err="1"/>
                  <a:t>Sname</a:t>
                </a:r>
                <a:r>
                  <a:rPr lang="zh-CN" altLang="en-US" dirty="0"/>
                  <a:t>，</a:t>
                </a:r>
                <a:r>
                  <a:rPr lang="en-US" altLang="zh-CN" dirty="0"/>
                  <a:t>Sex</a:t>
                </a:r>
                <a:r>
                  <a:rPr lang="zh-CN" altLang="en-US" dirty="0"/>
                  <a:t>，</a:t>
                </a:r>
                <a:r>
                  <a:rPr lang="en-US" altLang="zh-CN" dirty="0"/>
                  <a:t>Age)</a:t>
                </a:r>
                <a:endParaRPr lang="en-US" altLang="zh-CN" dirty="0"/>
              </a:p>
              <a:p>
                <a:pPr lvl="1"/>
                <a:r>
                  <a:rPr lang="en-US" altLang="zh-CN" dirty="0"/>
                  <a:t>  Course</a:t>
                </a:r>
                <a:r>
                  <a:rPr lang="zh-CN" altLang="en-US" dirty="0"/>
                  <a:t>（</a:t>
                </a:r>
                <a:r>
                  <a:rPr lang="en-US" altLang="zh-CN" dirty="0"/>
                  <a:t>C#</a:t>
                </a:r>
                <a:r>
                  <a:rPr lang="zh-CN" altLang="en-US" dirty="0"/>
                  <a:t>，</a:t>
                </a:r>
                <a:r>
                  <a:rPr lang="en-US" altLang="zh-CN" dirty="0" err="1"/>
                  <a:t>Cname</a:t>
                </a:r>
                <a:r>
                  <a:rPr lang="zh-CN" altLang="en-US" dirty="0"/>
                  <a:t>，</a:t>
                </a:r>
                <a:r>
                  <a:rPr lang="en-US" altLang="zh-CN" dirty="0"/>
                  <a:t>Teacher</a:t>
                </a:r>
                <a:r>
                  <a:rPr lang="zh-CN" altLang="en-US" dirty="0"/>
                  <a:t>）</a:t>
                </a:r>
                <a:endParaRPr lang="zh-CN" altLang="en-US" dirty="0"/>
              </a:p>
              <a:p>
                <a:pPr lvl="1"/>
                <a:r>
                  <a:rPr lang="zh-CN" altLang="en-US" dirty="0"/>
                  <a:t>  </a:t>
                </a:r>
                <a:r>
                  <a:rPr lang="en-US" altLang="zh-CN" dirty="0"/>
                  <a:t>SC</a:t>
                </a:r>
                <a:r>
                  <a:rPr lang="zh-CN" altLang="en-US" dirty="0"/>
                  <a:t>（</a:t>
                </a:r>
                <a:r>
                  <a:rPr lang="en-US" altLang="zh-CN" dirty="0"/>
                  <a:t>S#</a:t>
                </a:r>
                <a:r>
                  <a:rPr lang="zh-CN" altLang="en-US" dirty="0"/>
                  <a:t>，</a:t>
                </a:r>
                <a:r>
                  <a:rPr lang="en-US" altLang="zh-CN" dirty="0"/>
                  <a:t>C#</a:t>
                </a:r>
                <a:r>
                  <a:rPr lang="zh-CN" altLang="en-US" dirty="0"/>
                  <a:t>，</a:t>
                </a:r>
                <a:r>
                  <a:rPr lang="en-US" altLang="zh-CN" dirty="0"/>
                  <a:t>Grade</a:t>
                </a:r>
                <a:r>
                  <a:rPr lang="zh-CN" altLang="en-US" dirty="0"/>
                  <a:t>）</a:t>
                </a:r>
                <a:endParaRPr lang="en-US" altLang="zh-CN" dirty="0"/>
              </a:p>
              <a:p>
                <a:pPr lvl="1"/>
                <a:r>
                  <a:rPr lang="zh-CN" altLang="en-US" i="1" dirty="0"/>
                  <a:t>例</a:t>
                </a:r>
                <a:r>
                  <a:rPr lang="en-US" altLang="zh-CN" i="1" dirty="0"/>
                  <a:t>2.1.</a:t>
                </a:r>
                <a:r>
                  <a:rPr lang="zh-CN" altLang="en-US" i="1" dirty="0"/>
                  <a:t>王老师开设课程的编号及课程名：</a:t>
                </a:r>
                <a:endParaRPr lang="zh-CN" altLang="en-US" i="1" dirty="0"/>
              </a:p>
              <a:p>
                <a:pPr marL="457200" lvl="1"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𝐶</m:t>
                          </m:r>
                          <m:r>
                            <a:rPr lang="en-US" altLang="zh-CN" b="0" i="1" smtClean="0">
                              <a:latin typeface="Cambria Math" panose="02040503050406030204" pitchFamily="18" charset="0"/>
                            </a:rPr>
                            <m:t>#,</m:t>
                          </m:r>
                          <m:r>
                            <a:rPr lang="en-US" altLang="zh-CN" b="0" i="1" smtClean="0">
                              <a:latin typeface="Cambria Math" panose="02040503050406030204" pitchFamily="18" charset="0"/>
                            </a:rPr>
                            <m:t>𝐶𝑛𝑎𝑚𝑒</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𝑇𝑒𝑎𝑐ℎ𝑒𝑟</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m:t>
                              </m:r>
                            </m:sup>
                          </m:sSup>
                          <m:sSup>
                            <m:sSupPr>
                              <m:ctrlPr>
                                <a:rPr lang="en-US" altLang="zh-CN" b="0" i="1" smtClean="0">
                                  <a:latin typeface="Cambria Math" panose="02040503050406030204" pitchFamily="18" charset="0"/>
                                </a:rPr>
                              </m:ctrlPr>
                            </m:sSupPr>
                            <m:e>
                              <m:r>
                                <a:rPr lang="zh-CN" altLang="en-US" i="1">
                                  <a:latin typeface="Cambria Math" panose="02040503050406030204" pitchFamily="18" charset="0"/>
                                </a:rPr>
                                <m:t>王</m:t>
                              </m:r>
                            </m:e>
                            <m:sup>
                              <m:r>
                                <a:rPr lang="en-US" altLang="zh-CN" b="0" i="1" smtClean="0">
                                  <a:latin typeface="Cambria Math" panose="02040503050406030204" pitchFamily="18" charset="0"/>
                                </a:rPr>
                                <m:t>′</m:t>
                              </m:r>
                            </m:sup>
                          </m:sSup>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𝐶𝑜𝑢𝑟𝑠𝑒</m:t>
                      </m:r>
                      <m:r>
                        <a:rPr lang="en-US" altLang="zh-CN" b="0" i="1" smtClean="0">
                          <a:latin typeface="Cambria Math" panose="02040503050406030204" pitchFamily="18" charset="0"/>
                        </a:rPr>
                        <m:t>))</m:t>
                      </m:r>
                    </m:oMath>
                  </m:oMathPara>
                </a14:m>
                <a:endParaRPr lang="en-US" altLang="zh-CN" dirty="0"/>
              </a:p>
              <a:p>
                <a:pPr lvl="1"/>
                <a:r>
                  <a:rPr lang="zh-CN" altLang="en-US" i="1" dirty="0"/>
                  <a:t>例</a:t>
                </a:r>
                <a:r>
                  <a:rPr lang="en-US" altLang="zh-CN" i="1" dirty="0"/>
                  <a:t>2.2. </a:t>
                </a:r>
                <a:r>
                  <a:rPr lang="zh-CN" altLang="en-US" i="1" dirty="0"/>
                  <a:t>至少选修了一门王老师所开设课程的学生学号：</a:t>
                </a:r>
                <a:endParaRPr lang="en-US" altLang="zh-CN" i="1" dirty="0"/>
              </a:p>
              <a:p>
                <a:pPr marL="457200" lvl="1"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𝑆</m:t>
                          </m:r>
                          <m:r>
                            <a:rPr lang="en-US" altLang="zh-CN" b="0" i="1" smtClean="0">
                              <a:latin typeface="Cambria Math" panose="02040503050406030204" pitchFamily="18" charset="0"/>
                            </a:rPr>
                            <m:t>#</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𝑇𝑒𝑎𝑐ℎ𝑒𝑟</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m:t>
                              </m:r>
                            </m:sup>
                          </m:sSup>
                          <m:sSup>
                            <m:sSupPr>
                              <m:ctrlPr>
                                <a:rPr lang="en-US" altLang="zh-CN" b="0" i="1" smtClean="0">
                                  <a:latin typeface="Cambria Math" panose="02040503050406030204" pitchFamily="18" charset="0"/>
                                </a:rPr>
                              </m:ctrlPr>
                            </m:sSupPr>
                            <m:e>
                              <m:r>
                                <a:rPr lang="zh-CN" altLang="en-US" i="1">
                                  <a:latin typeface="Cambria Math" panose="02040503050406030204" pitchFamily="18" charset="0"/>
                                </a:rPr>
                                <m:t>王</m:t>
                              </m:r>
                            </m:e>
                            <m:sup>
                              <m:r>
                                <a:rPr lang="en-US" altLang="zh-CN" b="0" i="1" smtClean="0">
                                  <a:latin typeface="Cambria Math" panose="02040503050406030204" pitchFamily="18" charset="0"/>
                                </a:rPr>
                                <m:t>′</m:t>
                              </m:r>
                            </m:sup>
                          </m:sSup>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𝑆𝐶</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𝐶𝑜𝑢𝑟𝑠𝑒</m:t>
                          </m:r>
                        </m:e>
                      </m:d>
                      <m:r>
                        <a:rPr lang="en-US" altLang="zh-CN" b="0" i="1" smtClean="0">
                          <a:latin typeface="Cambria Math" panose="02040503050406030204" pitchFamily="18" charset="0"/>
                          <a:ea typeface="Cambria Math" panose="02040503050406030204" pitchFamily="18" charset="0"/>
                        </a:rPr>
                        <m:t>)</m:t>
                      </m:r>
                    </m:oMath>
                  </m:oMathPara>
                </a14:m>
                <a:endParaRPr lang="en-US" altLang="zh-CN" i="1" dirty="0"/>
              </a:p>
              <a:p>
                <a:pPr marL="457200" lvl="1"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𝑆</m:t>
                          </m:r>
                          <m:r>
                            <a:rPr lang="en-US" altLang="zh-CN" b="0" i="1" smtClean="0">
                              <a:latin typeface="Cambria Math" panose="02040503050406030204" pitchFamily="18" charset="0"/>
                            </a:rPr>
                            <m:t>#</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𝑆𝐶</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𝜋</m:t>
                          </m:r>
                        </m:e>
                        <m:sub>
                          <m:r>
                            <a:rPr lang="en-US" altLang="zh-CN" b="0" i="1" smtClean="0">
                              <a:latin typeface="Cambria Math" panose="02040503050406030204" pitchFamily="18" charset="0"/>
                              <a:ea typeface="Cambria Math" panose="02040503050406030204" pitchFamily="18" charset="0"/>
                            </a:rPr>
                            <m:t>𝐶</m:t>
                          </m:r>
                          <m:r>
                            <a:rPr lang="en-US" altLang="zh-CN" b="0" i="1" smtClean="0">
                              <a:latin typeface="Cambria Math" panose="02040503050406030204" pitchFamily="18" charset="0"/>
                              <a:ea typeface="Cambria Math" panose="02040503050406030204" pitchFamily="18" charset="0"/>
                            </a:rPr>
                            <m:t>#</m:t>
                          </m:r>
                        </m:sub>
                      </m:sSub>
                      <m:r>
                        <a:rPr lang="en-US" altLang="zh-CN" b="0"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𝜎</m:t>
                          </m:r>
                        </m:e>
                        <m:sub>
                          <m:r>
                            <a:rPr lang="en-US" altLang="zh-CN" i="1">
                              <a:latin typeface="Cambria Math" panose="02040503050406030204" pitchFamily="18" charset="0"/>
                            </a:rPr>
                            <m:t>𝑇𝑒𝑎𝑐ℎ𝑒𝑟</m:t>
                          </m:r>
                          <m:sSup>
                            <m:sSupPr>
                              <m:ctrlPr>
                                <a:rPr lang="en-US" altLang="zh-CN" i="1">
                                  <a:latin typeface="Cambria Math" panose="02040503050406030204" pitchFamily="18" charset="0"/>
                                </a:rPr>
                              </m:ctrlPr>
                            </m:sSupPr>
                            <m:e>
                              <m:r>
                                <a:rPr lang="en-US" altLang="zh-CN" i="1">
                                  <a:latin typeface="Cambria Math" panose="02040503050406030204" pitchFamily="18" charset="0"/>
                                </a:rPr>
                                <m:t>=</m:t>
                              </m:r>
                            </m:e>
                            <m:sup>
                              <m:r>
                                <a:rPr lang="en-US" altLang="zh-CN" i="1">
                                  <a:latin typeface="Cambria Math" panose="02040503050406030204" pitchFamily="18" charset="0"/>
                                </a:rPr>
                                <m:t>′</m:t>
                              </m:r>
                            </m:sup>
                          </m:sSup>
                          <m:sSup>
                            <m:sSupPr>
                              <m:ctrlPr>
                                <a:rPr lang="en-US" altLang="zh-CN" i="1">
                                  <a:latin typeface="Cambria Math" panose="02040503050406030204" pitchFamily="18" charset="0"/>
                                </a:rPr>
                              </m:ctrlPr>
                            </m:sSupPr>
                            <m:e>
                              <m:r>
                                <a:rPr lang="zh-CN" altLang="en-US" i="1">
                                  <a:latin typeface="Cambria Math" panose="02040503050406030204" pitchFamily="18" charset="0"/>
                                </a:rPr>
                                <m:t>王</m:t>
                              </m:r>
                            </m:e>
                            <m:sup>
                              <m:r>
                                <a:rPr lang="en-US" altLang="zh-CN" i="1">
                                  <a:latin typeface="Cambria Math" panose="02040503050406030204" pitchFamily="18" charset="0"/>
                                </a:rPr>
                                <m:t>′</m:t>
                              </m:r>
                            </m:sup>
                          </m:sSup>
                        </m:sub>
                      </m:sSub>
                      <m:r>
                        <a:rPr lang="en-US" altLang="zh-CN" i="1">
                          <a:latin typeface="Cambria Math" panose="02040503050406030204" pitchFamily="18" charset="0"/>
                        </a:rPr>
                        <m:t>(</m:t>
                      </m:r>
                      <m:r>
                        <a:rPr lang="en-US" altLang="zh-CN" i="1">
                          <a:latin typeface="Cambria Math" panose="02040503050406030204" pitchFamily="18" charset="0"/>
                        </a:rPr>
                        <m:t>𝐶𝑜𝑢𝑟𝑠𝑒</m:t>
                      </m:r>
                      <m:r>
                        <a:rPr lang="en-US" altLang="zh-CN" i="1">
                          <a:latin typeface="Cambria Math" panose="02040503050406030204" pitchFamily="18" charset="0"/>
                        </a:rPr>
                        <m:t>))</m:t>
                      </m:r>
                    </m:oMath>
                  </m:oMathPara>
                </a14:m>
                <a:endParaRPr lang="zh-CN" altLang="en-US" i="1" dirty="0"/>
              </a:p>
              <a:p>
                <a:pPr lvl="1"/>
                <a:endParaRPr lang="en-US" altLang="zh-CN"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994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关系代数查询实例</a:t>
                </a:r>
                <a:endParaRPr lang="en-US" altLang="zh-CN" dirty="0"/>
              </a:p>
              <a:p>
                <a:pPr lvl="1"/>
                <a:r>
                  <a:rPr lang="zh-CN" altLang="en-US" i="1" dirty="0"/>
                  <a:t>例</a:t>
                </a:r>
                <a:r>
                  <a:rPr lang="en-US" altLang="zh-CN" i="1" dirty="0"/>
                  <a:t>2.3.</a:t>
                </a:r>
                <a:r>
                  <a:rPr lang="zh-CN" altLang="en-US" i="1" dirty="0"/>
                  <a:t>李同学未选课程的编号：</a:t>
                </a:r>
                <a:endParaRPr lang="en-US" altLang="zh-CN" i="1" dirty="0"/>
              </a:p>
              <a:p>
                <a:pPr marL="457200" lvl="1"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𝐶</m:t>
                          </m:r>
                          <m:r>
                            <a:rPr lang="en-US" altLang="zh-CN" b="0" i="1" smtClean="0">
                              <a:latin typeface="Cambria Math" panose="02040503050406030204" pitchFamily="18" charset="0"/>
                            </a:rPr>
                            <m:t>#</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𝐶𝑜𝑢𝑟𝑠𝑒</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𝐶</m:t>
                          </m:r>
                          <m:r>
                            <a:rPr lang="en-US" altLang="zh-CN" b="0" i="1" smtClean="0">
                              <a:latin typeface="Cambria Math" panose="02040503050406030204" pitchFamily="18" charset="0"/>
                            </a:rPr>
                            <m:t>#</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𝑆𝑛𝑎𝑚𝑒</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m:t>
                              </m:r>
                            </m:sup>
                          </m:sSup>
                          <m:sSup>
                            <m:sSupPr>
                              <m:ctrlPr>
                                <a:rPr lang="en-US" altLang="zh-CN" b="0" i="1" smtClean="0">
                                  <a:latin typeface="Cambria Math" panose="02040503050406030204" pitchFamily="18" charset="0"/>
                                </a:rPr>
                              </m:ctrlPr>
                            </m:sSupPr>
                            <m:e>
                              <m:r>
                                <a:rPr lang="zh-CN" altLang="en-US" i="1">
                                  <a:latin typeface="Cambria Math" panose="02040503050406030204" pitchFamily="18" charset="0"/>
                                </a:rPr>
                                <m:t>李</m:t>
                              </m:r>
                            </m:e>
                            <m:sup>
                              <m:r>
                                <a:rPr lang="en-US" altLang="zh-CN" b="0" i="1" smtClean="0">
                                  <a:latin typeface="Cambria Math" panose="02040503050406030204" pitchFamily="18" charset="0"/>
                                </a:rPr>
                                <m:t>′</m:t>
                              </m:r>
                            </m:sup>
                          </m:sSup>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𝑆𝑡𝑢𝑑𝑒𝑛𝑡</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𝑆𝐶</m:t>
                      </m:r>
                      <m:r>
                        <a:rPr lang="en-US" altLang="zh-CN" b="0" i="1" smtClean="0">
                          <a:latin typeface="Cambria Math" panose="02040503050406030204" pitchFamily="18" charset="0"/>
                          <a:ea typeface="Cambria Math" panose="02040503050406030204" pitchFamily="18" charset="0"/>
                        </a:rPr>
                        <m:t>))</m:t>
                      </m:r>
                    </m:oMath>
                  </m:oMathPara>
                </a14:m>
                <a:endParaRPr lang="en-US" altLang="zh-CN" dirty="0"/>
              </a:p>
              <a:p>
                <a:pPr marL="457200" lvl="1"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𝐶</m:t>
                          </m:r>
                          <m:r>
                            <a:rPr lang="en-US" altLang="zh-CN" b="0" i="1" smtClean="0">
                              <a:latin typeface="Cambria Math" panose="02040503050406030204" pitchFamily="18" charset="0"/>
                            </a:rPr>
                            <m:t>#</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𝐶𝑜𝑢𝑟𝑠𝑒</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𝐶</m:t>
                          </m:r>
                          <m:r>
                            <a:rPr lang="en-US" altLang="zh-CN" b="0" i="1" smtClean="0">
                              <a:latin typeface="Cambria Math" panose="02040503050406030204" pitchFamily="18" charset="0"/>
                            </a:rPr>
                            <m:t>#</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𝑆𝑛𝑎𝑚𝑒</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m:t>
                              </m:r>
                            </m:sup>
                          </m:sSup>
                          <m:sSup>
                            <m:sSupPr>
                              <m:ctrlPr>
                                <a:rPr lang="en-US" altLang="zh-CN" b="0" i="1" smtClean="0">
                                  <a:latin typeface="Cambria Math" panose="02040503050406030204" pitchFamily="18" charset="0"/>
                                </a:rPr>
                              </m:ctrlPr>
                            </m:sSupPr>
                            <m:e>
                              <m:r>
                                <a:rPr lang="zh-CN" altLang="en-US" i="1">
                                  <a:latin typeface="Cambria Math" panose="02040503050406030204" pitchFamily="18" charset="0"/>
                                </a:rPr>
                                <m:t>李</m:t>
                              </m:r>
                            </m:e>
                            <m:sup>
                              <m:r>
                                <a:rPr lang="en-US" altLang="zh-CN" b="0" i="1" smtClean="0">
                                  <a:latin typeface="Cambria Math" panose="02040503050406030204" pitchFamily="18" charset="0"/>
                                </a:rPr>
                                <m:t>′</m:t>
                              </m:r>
                            </m:sup>
                          </m:sSup>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𝑆𝑡𝑢𝑑𝑒𝑛𝑡</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𝑆𝐶</m:t>
                      </m:r>
                      <m:r>
                        <a:rPr lang="en-US" altLang="zh-CN" b="0" i="1" smtClean="0">
                          <a:latin typeface="Cambria Math" panose="02040503050406030204" pitchFamily="18" charset="0"/>
                          <a:ea typeface="Cambria Math" panose="02040503050406030204" pitchFamily="18" charset="0"/>
                        </a:rPr>
                        <m:t>)</m:t>
                      </m:r>
                    </m:oMath>
                  </m:oMathPara>
                </a14:m>
                <a:endParaRPr lang="zh-CN" altLang="en-US" dirty="0"/>
              </a:p>
              <a:p>
                <a:pPr lvl="1"/>
                <a:r>
                  <a:rPr lang="zh-CN" altLang="en-US" i="1" dirty="0"/>
                  <a:t>例</a:t>
                </a:r>
                <a:r>
                  <a:rPr lang="en-US" altLang="zh-CN" i="1" dirty="0"/>
                  <a:t>2.4.</a:t>
                </a:r>
                <a:r>
                  <a:rPr lang="zh-CN" altLang="en-US" i="1" dirty="0"/>
                  <a:t>至少选修了两门课程的学生学号：</a:t>
                </a:r>
                <a:endParaRPr lang="en-US" altLang="zh-CN" i="1" dirty="0"/>
              </a:p>
              <a:p>
                <a:pPr marL="457200" lvl="1"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4</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2</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5</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𝑆𝐶</m:t>
                      </m:r>
                      <m:r>
                        <a:rPr lang="en-US" altLang="zh-CN" b="0" i="1" smtClean="0">
                          <a:latin typeface="Cambria Math" panose="02040503050406030204" pitchFamily="18" charset="0"/>
                        </a:rPr>
                        <m:t>×</m:t>
                      </m:r>
                      <m:r>
                        <a:rPr lang="en-US" altLang="zh-CN" b="0" i="1" smtClean="0">
                          <a:latin typeface="Cambria Math" panose="02040503050406030204" pitchFamily="18" charset="0"/>
                        </a:rPr>
                        <m:t>𝑆𝐶</m:t>
                      </m:r>
                      <m:r>
                        <a:rPr lang="en-US" altLang="zh-CN" b="0" i="1" smtClean="0">
                          <a:latin typeface="Cambria Math" panose="02040503050406030204" pitchFamily="18" charset="0"/>
                        </a:rPr>
                        <m:t>))</m:t>
                      </m:r>
                    </m:oMath>
                  </m:oMathPara>
                </a14:m>
                <a:endParaRPr lang="zh-CN" altLang="en-US" dirty="0"/>
              </a:p>
              <a:p>
                <a:pPr lvl="1"/>
                <a:r>
                  <a:rPr lang="zh-CN" altLang="en-US" i="1" dirty="0"/>
                  <a:t>例</a:t>
                </a:r>
                <a:r>
                  <a:rPr lang="en-US" altLang="zh-CN" i="1" dirty="0"/>
                  <a:t>2.5.</a:t>
                </a:r>
                <a:r>
                  <a:rPr lang="zh-CN" altLang="en-US" i="1" dirty="0"/>
                  <a:t>全部学生均选修了的课程编号及名称：</a:t>
                </a:r>
                <a:endParaRPr lang="en-US" altLang="zh-CN" i="1" dirty="0"/>
              </a:p>
              <a:p>
                <a:pPr marL="457200" lvl="1"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𝐶</m:t>
                          </m:r>
                          <m:r>
                            <a:rPr lang="en-US" altLang="zh-CN" b="0" i="1" smtClean="0">
                              <a:latin typeface="Cambria Math" panose="02040503050406030204" pitchFamily="18" charset="0"/>
                            </a:rPr>
                            <m:t>#,</m:t>
                          </m:r>
                          <m:r>
                            <a:rPr lang="en-US" altLang="zh-CN" b="0" i="1" smtClean="0">
                              <a:latin typeface="Cambria Math" panose="02040503050406030204" pitchFamily="18" charset="0"/>
                            </a:rPr>
                            <m:t>𝐶𝑛𝑎𝑚𝑒</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𝐶𝑜𝑢𝑟𝑠𝑒</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𝜋</m:t>
                          </m:r>
                        </m:e>
                        <m:sub>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𝐶</m:t>
                          </m:r>
                          <m:r>
                            <a:rPr lang="en-US" altLang="zh-CN" b="0" i="1" smtClean="0">
                              <a:latin typeface="Cambria Math" panose="02040503050406030204" pitchFamily="18" charset="0"/>
                              <a:ea typeface="Cambria Math" panose="02040503050406030204" pitchFamily="18" charset="0"/>
                            </a:rPr>
                            <m:t>#</m:t>
                          </m:r>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𝑆𝐶</m:t>
                          </m:r>
                        </m:e>
                      </m:d>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𝜋</m:t>
                          </m:r>
                        </m:e>
                        <m:sub>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𝑠𝑡𝑢𝑑𝑒𝑛𝑡</m:t>
                          </m:r>
                        </m:e>
                      </m:d>
                      <m:r>
                        <a:rPr lang="en-US" altLang="zh-CN" b="0" i="1" smtClean="0">
                          <a:latin typeface="Cambria Math" panose="02040503050406030204" pitchFamily="18" charset="0"/>
                          <a:ea typeface="Cambria Math" panose="02040503050406030204" pitchFamily="18" charset="0"/>
                        </a:rPr>
                        <m:t>)</m:t>
                      </m:r>
                    </m:oMath>
                  </m:oMathPara>
                </a14:m>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关系代数查询实例</a:t>
                </a:r>
                <a:endParaRPr lang="en-US" altLang="zh-CN" dirty="0"/>
              </a:p>
              <a:p>
                <a:pPr lvl="1"/>
                <a:r>
                  <a:rPr lang="zh-CN" altLang="en-US" i="1" dirty="0"/>
                  <a:t>例：检索选修课程名为</a:t>
                </a:r>
                <a:r>
                  <a:rPr lang="en-US" altLang="zh-CN" i="1" dirty="0" err="1"/>
                  <a:t>Maths</a:t>
                </a:r>
                <a:r>
                  <a:rPr lang="zh-CN" altLang="en-US" i="1" dirty="0"/>
                  <a:t>的学生学号与姓名</a:t>
                </a:r>
                <a:endParaRPr lang="en-US" altLang="zh-CN" i="1" dirty="0"/>
              </a:p>
              <a:p>
                <a:pPr marL="457200" lvl="1"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𝑆</m:t>
                          </m:r>
                          <m:r>
                            <a:rPr lang="en-US" altLang="zh-CN" b="0" i="1" smtClean="0">
                              <a:latin typeface="Cambria Math" panose="02040503050406030204" pitchFamily="18" charset="0"/>
                            </a:rPr>
                            <m:t>#,</m:t>
                          </m:r>
                          <m:r>
                            <a:rPr lang="en-US" altLang="zh-CN" b="0" i="1" smtClean="0">
                              <a:latin typeface="Cambria Math" panose="02040503050406030204" pitchFamily="18" charset="0"/>
                            </a:rPr>
                            <m:t>𝑆𝑛𝑎𝑚𝑒</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𝐶𝑛𝑎𝑚𝑒</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𝑀𝑎𝑡ℎ</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m:t>
                              </m:r>
                            </m:sup>
                          </m:sSup>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𝑆𝐶</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𝐶</m:t>
                      </m:r>
                      <m:r>
                        <a:rPr lang="en-US" altLang="zh-CN" b="0" i="1" smtClean="0">
                          <a:latin typeface="Cambria Math" panose="02040503050406030204" pitchFamily="18" charset="0"/>
                        </a:rPr>
                        <m:t>))</m:t>
                      </m:r>
                    </m:oMath>
                  </m:oMathPara>
                </a14:m>
                <a:endParaRPr lang="zh-CN" altLang="en-US" dirty="0"/>
              </a:p>
              <a:p>
                <a:pPr lvl="1"/>
                <a:r>
                  <a:rPr lang="zh-CN" altLang="en-US" i="1" dirty="0"/>
                  <a:t>例：检索选修课程号为</a:t>
                </a:r>
                <a:r>
                  <a:rPr lang="en-US" altLang="zh-CN" i="1" dirty="0"/>
                  <a:t>C2</a:t>
                </a:r>
                <a:r>
                  <a:rPr lang="zh-CN" altLang="en-US" i="1" dirty="0"/>
                  <a:t>或</a:t>
                </a:r>
                <a:r>
                  <a:rPr lang="en-US" altLang="zh-CN" i="1" dirty="0"/>
                  <a:t>C4</a:t>
                </a:r>
                <a:r>
                  <a:rPr lang="zh-CN" altLang="en-US" i="1" dirty="0"/>
                  <a:t>的学生学号</a:t>
                </a:r>
                <a:endParaRPr lang="en-US" altLang="zh-CN" i="1" dirty="0"/>
              </a:p>
              <a:p>
                <a:pPr marL="457200" lvl="1"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𝑆</m:t>
                          </m:r>
                          <m:r>
                            <a:rPr lang="en-US" altLang="zh-CN" b="0" i="1" smtClean="0">
                              <a:latin typeface="Cambria Math" panose="02040503050406030204" pitchFamily="18" charset="0"/>
                            </a:rPr>
                            <m:t>#</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𝐶</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𝐶</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𝐶</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m:t>
                              </m:r>
                            </m:e>
                            <m:sup>
                              <m:r>
                                <a:rPr lang="en-US" altLang="zh-CN" b="0" i="1" smtClean="0">
                                  <a:latin typeface="Cambria Math" panose="02040503050406030204" pitchFamily="18" charset="0"/>
                                  <a:ea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𝐶</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4</m:t>
                              </m:r>
                            </m:e>
                            <m:sup>
                              <m:r>
                                <a:rPr lang="en-US" altLang="zh-CN" b="0" i="1" smtClean="0">
                                  <a:latin typeface="Cambria Math" panose="02040503050406030204" pitchFamily="18" charset="0"/>
                                  <a:ea typeface="Cambria Math" panose="02040503050406030204" pitchFamily="18" charset="0"/>
                                </a:rPr>
                                <m:t>′</m:t>
                              </m:r>
                            </m:sup>
                          </m:sSup>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𝑆𝐶</m:t>
                      </m:r>
                      <m:r>
                        <a:rPr lang="en-US" altLang="zh-CN" b="0" i="1" smtClean="0">
                          <a:latin typeface="Cambria Math" panose="02040503050406030204" pitchFamily="18" charset="0"/>
                        </a:rPr>
                        <m:t>))</m:t>
                      </m:r>
                    </m:oMath>
                  </m:oMathPara>
                </a14:m>
                <a:endParaRPr lang="zh-CN" altLang="en-US" dirty="0"/>
              </a:p>
              <a:p>
                <a:pPr lvl="1"/>
                <a:r>
                  <a:rPr lang="zh-CN" altLang="en-US" i="1" dirty="0"/>
                  <a:t>例：检索至少选修课程号为</a:t>
                </a:r>
                <a:r>
                  <a:rPr lang="en-US" altLang="zh-CN" i="1" dirty="0"/>
                  <a:t>C2</a:t>
                </a:r>
                <a:r>
                  <a:rPr lang="zh-CN" altLang="en-US" i="1" dirty="0"/>
                  <a:t>和</a:t>
                </a:r>
                <a:r>
                  <a:rPr lang="en-US" altLang="zh-CN" i="1" dirty="0"/>
                  <a:t>C4</a:t>
                </a:r>
                <a:r>
                  <a:rPr lang="zh-CN" altLang="en-US" i="1" dirty="0"/>
                  <a:t>的学生学号</a:t>
                </a:r>
                <a:endParaRPr lang="zh-CN" altLang="en-US" i="1" dirty="0"/>
              </a:p>
              <a:p>
                <a:pPr marL="457200" lvl="1"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𝑆</m:t>
                          </m:r>
                          <m:r>
                            <a:rPr lang="en-US" altLang="zh-CN" b="0" i="1" smtClean="0">
                              <a:latin typeface="Cambria Math" panose="02040503050406030204" pitchFamily="18" charset="0"/>
                            </a:rPr>
                            <m:t>#</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4</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2</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m:t>
                              </m:r>
                            </m:e>
                            <m:sup>
                              <m:r>
                                <a:rPr lang="en-US" altLang="zh-CN" b="0" i="1" smtClean="0">
                                  <a:latin typeface="Cambria Math" panose="02040503050406030204" pitchFamily="18" charset="0"/>
                                  <a:ea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𝐶</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2</m:t>
                              </m:r>
                            </m:e>
                            <m:sup>
                              <m:r>
                                <a:rPr lang="en-US" altLang="zh-CN" b="0" i="1" smtClean="0">
                                  <a:latin typeface="Cambria Math" panose="02040503050406030204" pitchFamily="18" charset="0"/>
                                  <a:ea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5</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m:t>
                              </m:r>
                            </m:e>
                            <m:sup>
                              <m:r>
                                <a:rPr lang="en-US" altLang="zh-CN" b="0" i="1" smtClean="0">
                                  <a:latin typeface="Cambria Math" panose="02040503050406030204" pitchFamily="18" charset="0"/>
                                  <a:ea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𝐶</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4</m:t>
                              </m:r>
                            </m:e>
                            <m:sup>
                              <m:r>
                                <a:rPr lang="en-US" altLang="zh-CN" b="0" i="1" smtClean="0">
                                  <a:latin typeface="Cambria Math" panose="02040503050406030204" pitchFamily="18" charset="0"/>
                                  <a:ea typeface="Cambria Math" panose="02040503050406030204" pitchFamily="18" charset="0"/>
                                </a:rPr>
                                <m:t>′</m:t>
                              </m:r>
                            </m:sup>
                          </m:sSup>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𝑆𝐶</m:t>
                      </m:r>
                      <m:r>
                        <a:rPr lang="en-US" altLang="zh-CN" b="0" i="1" smtClean="0">
                          <a:latin typeface="Cambria Math" panose="02040503050406030204" pitchFamily="18" charset="0"/>
                        </a:rPr>
                        <m:t>×</m:t>
                      </m:r>
                      <m:r>
                        <a:rPr lang="en-US" altLang="zh-CN" b="0" i="1" smtClean="0">
                          <a:latin typeface="Cambria Math" panose="02040503050406030204" pitchFamily="18" charset="0"/>
                        </a:rPr>
                        <m:t>𝑆𝐶</m:t>
                      </m:r>
                      <m:r>
                        <a:rPr lang="en-US" altLang="zh-CN" b="0" i="1" smtClean="0">
                          <a:latin typeface="Cambria Math" panose="02040503050406030204" pitchFamily="18" charset="0"/>
                        </a:rPr>
                        <m:t>))</m:t>
                      </m:r>
                    </m:oMath>
                  </m:oMathPara>
                </a14:m>
                <a:endParaRPr lang="en-US" altLang="zh-CN" dirty="0"/>
              </a:p>
              <a:p>
                <a:pPr lvl="2"/>
                <a:r>
                  <a:rPr lang="zh-CN" altLang="en-US" i="1" dirty="0"/>
                  <a:t>这里</a:t>
                </a:r>
                <a:r>
                  <a:rPr lang="en-US" altLang="zh-CN" i="1" dirty="0"/>
                  <a:t>(SC×SC)</a:t>
                </a:r>
                <a:r>
                  <a:rPr lang="zh-CN" altLang="en-US" i="1" dirty="0"/>
                  <a:t>表示关系</a:t>
                </a:r>
                <a:r>
                  <a:rPr lang="en-US" altLang="zh-CN" i="1" dirty="0"/>
                  <a:t>SC</a:t>
                </a:r>
                <a:r>
                  <a:rPr lang="zh-CN" altLang="en-US" i="1" dirty="0"/>
                  <a:t>自身相乘的笛卡儿积操作。</a:t>
                </a:r>
                <a:endParaRPr lang="en-US" altLang="zh-CN" i="1"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2.2 </a:t>
            </a:r>
            <a:r>
              <a:rPr lang="zh-CN" altLang="en-US" dirty="0"/>
              <a:t>关系代数</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关系演算的定义</a:t>
            </a:r>
            <a:endParaRPr lang="en-US" altLang="zh-CN" dirty="0"/>
          </a:p>
          <a:p>
            <a:pPr lvl="1"/>
            <a:r>
              <a:rPr lang="zh-CN" altLang="en-US" dirty="0"/>
              <a:t>关系演算</a:t>
            </a:r>
            <a:endParaRPr lang="en-US" altLang="zh-CN" dirty="0"/>
          </a:p>
          <a:p>
            <a:pPr lvl="2"/>
            <a:r>
              <a:rPr lang="zh-CN" altLang="en-US" dirty="0"/>
              <a:t>以</a:t>
            </a:r>
            <a:r>
              <a:rPr lang="zh-CN" altLang="en-US" dirty="0">
                <a:solidFill>
                  <a:srgbClr val="C00000"/>
                </a:solidFill>
              </a:rPr>
              <a:t>数理逻辑</a:t>
            </a:r>
            <a:r>
              <a:rPr lang="zh-CN" altLang="en-US" dirty="0"/>
              <a:t>中的谓词演算为基础</a:t>
            </a:r>
            <a:endParaRPr lang="zh-CN" altLang="en-US" dirty="0"/>
          </a:p>
          <a:p>
            <a:pPr lvl="1"/>
            <a:r>
              <a:rPr lang="zh-CN" altLang="en-US" dirty="0"/>
              <a:t>按谓词变元不同 进行分类</a:t>
            </a:r>
            <a:endParaRPr lang="zh-CN" altLang="en-US" dirty="0"/>
          </a:p>
          <a:p>
            <a:pPr lvl="2"/>
            <a:r>
              <a:rPr lang="zh-CN" altLang="en-US" dirty="0"/>
              <a:t>元组关系演算：</a:t>
            </a:r>
            <a:endParaRPr lang="en-US" altLang="zh-CN" dirty="0"/>
          </a:p>
          <a:p>
            <a:pPr marL="914400" lvl="2" indent="0">
              <a:buNone/>
            </a:pPr>
            <a:r>
              <a:rPr lang="en-US" altLang="zh-CN" dirty="0"/>
              <a:t>	</a:t>
            </a:r>
            <a:r>
              <a:rPr lang="zh-CN" altLang="en-US" dirty="0"/>
              <a:t>以</a:t>
            </a:r>
            <a:r>
              <a:rPr lang="zh-CN" altLang="en-US" dirty="0">
                <a:solidFill>
                  <a:srgbClr val="C00000"/>
                </a:solidFill>
              </a:rPr>
              <a:t>元组变量</a:t>
            </a:r>
            <a:r>
              <a:rPr lang="zh-CN" altLang="en-US" dirty="0"/>
              <a:t>作为谓词变元的基本对象</a:t>
            </a:r>
            <a:endParaRPr lang="zh-CN" altLang="en-US" dirty="0"/>
          </a:p>
          <a:p>
            <a:pPr lvl="2"/>
            <a:r>
              <a:rPr lang="zh-CN" altLang="en-US" dirty="0"/>
              <a:t>域关系演算：</a:t>
            </a:r>
            <a:endParaRPr lang="en-US" altLang="zh-CN" dirty="0"/>
          </a:p>
          <a:p>
            <a:pPr marL="914400" lvl="2" indent="0">
              <a:buNone/>
            </a:pPr>
            <a:r>
              <a:rPr lang="en-US" altLang="zh-CN" dirty="0"/>
              <a:t>	</a:t>
            </a:r>
            <a:r>
              <a:rPr lang="zh-CN" altLang="en-US" dirty="0"/>
              <a:t>以</a:t>
            </a:r>
            <a:r>
              <a:rPr lang="zh-CN" altLang="en-US" dirty="0">
                <a:solidFill>
                  <a:srgbClr val="C00000"/>
                </a:solidFill>
              </a:rPr>
              <a:t>域变量</a:t>
            </a:r>
            <a:r>
              <a:rPr lang="zh-CN" altLang="en-US" dirty="0"/>
              <a:t>作为谓词变元的基本对象</a:t>
            </a:r>
            <a:endParaRPr lang="zh-CN" altLang="en-US" dirty="0"/>
          </a:p>
          <a:p>
            <a:pPr lvl="2"/>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2.3 </a:t>
            </a:r>
            <a:r>
              <a:rPr lang="zh-CN" altLang="en-US" dirty="0"/>
              <a:t>关系演算</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元组关系演算</a:t>
                </a:r>
                <a:endParaRPr lang="en-US" altLang="zh-CN" dirty="0"/>
              </a:p>
              <a:p>
                <a:pPr lvl="1"/>
                <a:r>
                  <a:rPr lang="zh-CN" altLang="en-US" dirty="0"/>
                  <a:t>元组关系演算表达式的一般形式是</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oMath>
                </a14:m>
                <a:r>
                  <a:rPr lang="zh-CN" altLang="en-US" dirty="0"/>
                  <a:t>，其中</a:t>
                </a:r>
                <a14:m>
                  <m:oMath xmlns:m="http://schemas.openxmlformats.org/officeDocument/2006/math">
                    <m:r>
                      <a:rPr lang="en-US" altLang="zh-CN" i="1" dirty="0" smtClean="0">
                        <a:latin typeface="Cambria Math" panose="02040503050406030204" pitchFamily="18" charset="0"/>
                      </a:rPr>
                      <m:t>𝑡</m:t>
                    </m:r>
                  </m:oMath>
                </a14:m>
                <a:r>
                  <a:rPr lang="zh-CN" altLang="en-US" dirty="0"/>
                  <a:t>是元组变量，</a:t>
                </a:r>
                <a14:m>
                  <m:oMath xmlns:m="http://schemas.openxmlformats.org/officeDocument/2006/math">
                    <m:r>
                      <a:rPr lang="en-US" altLang="zh-CN" i="1" dirty="0" smtClean="0">
                        <a:latin typeface="Cambria Math" panose="02040503050406030204" pitchFamily="18" charset="0"/>
                      </a:rPr>
                      <m:t>𝑃</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oMath>
                </a14:m>
                <a:r>
                  <a:rPr lang="zh-CN" altLang="en-US" dirty="0"/>
                  <a:t>是元组关系演算公式，一般由原子公式构成</a:t>
                </a:r>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2.3 </a:t>
            </a:r>
            <a:r>
              <a:rPr lang="zh-CN" altLang="en-US" dirty="0"/>
              <a:t>关系演算</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元组关系演算</a:t>
                </a:r>
                <a:endParaRPr lang="en-US" altLang="zh-CN" dirty="0"/>
              </a:p>
              <a:p>
                <a:pPr lvl="1"/>
                <a:r>
                  <a:rPr lang="zh-CN" altLang="en-US" dirty="0"/>
                  <a:t>原子公式有以下的三种形式：</a:t>
                </a:r>
                <a:endParaRPr lang="en-US" altLang="zh-CN" dirty="0"/>
              </a:p>
              <a:p>
                <a:pPr lvl="2"/>
                <a14:m>
                  <m:oMath xmlns:m="http://schemas.openxmlformats.org/officeDocument/2006/math">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oMath>
                </a14:m>
                <a:r>
                  <a:rPr lang="zh-CN" altLang="en-US" dirty="0"/>
                  <a:t>，</a:t>
                </a:r>
                <a14:m>
                  <m:oMath xmlns:m="http://schemas.openxmlformats.org/officeDocument/2006/math">
                    <m:r>
                      <a:rPr lang="en-US" altLang="zh-CN" i="1" dirty="0" smtClean="0">
                        <a:latin typeface="Cambria Math" panose="02040503050406030204" pitchFamily="18" charset="0"/>
                      </a:rPr>
                      <m:t>𝑡</m:t>
                    </m:r>
                  </m:oMath>
                </a14:m>
                <a:r>
                  <a:rPr lang="zh-CN" altLang="en-US" dirty="0"/>
                  <a:t>是元组变量，</a:t>
                </a:r>
                <a14:m>
                  <m:oMath xmlns:m="http://schemas.openxmlformats.org/officeDocument/2006/math">
                    <m:r>
                      <a:rPr lang="en-US" altLang="zh-CN" i="1" dirty="0" smtClean="0">
                        <a:latin typeface="Cambria Math" panose="02040503050406030204" pitchFamily="18" charset="0"/>
                      </a:rPr>
                      <m:t>𝑅</m:t>
                    </m:r>
                  </m:oMath>
                </a14:m>
                <a:r>
                  <a:rPr lang="zh-CN" altLang="en-US" dirty="0"/>
                  <a:t>是关系，</a:t>
                </a:r>
                <a14:m>
                  <m:oMath xmlns:m="http://schemas.openxmlformats.org/officeDocument/2006/math">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oMath>
                </a14:m>
                <a:r>
                  <a:rPr lang="zh-CN" altLang="en-US" dirty="0"/>
                  <a:t>表示</a:t>
                </a:r>
                <a14:m>
                  <m:oMath xmlns:m="http://schemas.openxmlformats.org/officeDocument/2006/math">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𝑅</m:t>
                    </m:r>
                  </m:oMath>
                </a14:m>
                <a:r>
                  <a:rPr lang="zh-CN" altLang="en-US" dirty="0"/>
                  <a:t>，即</a:t>
                </a:r>
                <a14:m>
                  <m:oMath xmlns:m="http://schemas.openxmlformats.org/officeDocument/2006/math">
                    <m:r>
                      <a:rPr lang="en-US" altLang="zh-CN" i="1" dirty="0" smtClean="0">
                        <a:latin typeface="Cambria Math" panose="02040503050406030204" pitchFamily="18" charset="0"/>
                      </a:rPr>
                      <m:t>𝑡</m:t>
                    </m:r>
                  </m:oMath>
                </a14:m>
                <a:r>
                  <a:rPr lang="zh-CN" altLang="en-US" dirty="0"/>
                  <a:t>是</a:t>
                </a:r>
                <a14:m>
                  <m:oMath xmlns:m="http://schemas.openxmlformats.org/officeDocument/2006/math">
                    <m:r>
                      <a:rPr lang="en-US" altLang="zh-CN" i="1" dirty="0" smtClean="0">
                        <a:latin typeface="Cambria Math" panose="02040503050406030204" pitchFamily="18" charset="0"/>
                      </a:rPr>
                      <m:t>𝑅</m:t>
                    </m:r>
                  </m:oMath>
                </a14:m>
                <a:r>
                  <a:rPr lang="zh-CN" altLang="en-US" dirty="0"/>
                  <a:t>的一个元组； </a:t>
                </a:r>
                <a:endParaRPr lang="en-US" altLang="zh-CN" dirty="0"/>
              </a:p>
              <a:p>
                <a:pPr lvl="2"/>
                <a14:m>
                  <m:oMath xmlns:m="http://schemas.openxmlformats.org/officeDocument/2006/math">
                    <m:r>
                      <a:rPr lang="en-US" altLang="zh-CN" i="1" dirty="0" smtClean="0">
                        <a:latin typeface="Cambria Math" panose="02040503050406030204" pitchFamily="18" charset="0"/>
                      </a:rPr>
                      <m:t>𝑠</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𝑖</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𝜃</m:t>
                    </m:r>
                    <m:r>
                      <a:rPr lang="en-US" altLang="zh-CN" i="1" dirty="0" err="1" smtClean="0">
                        <a:latin typeface="Cambria Math" panose="02040503050406030204" pitchFamily="18" charset="0"/>
                      </a:rPr>
                      <m:t>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𝑗</m:t>
                    </m:r>
                    <m:r>
                      <a:rPr lang="en-US" altLang="zh-CN" i="1" dirty="0" smtClean="0">
                        <a:latin typeface="Cambria Math" panose="02040503050406030204" pitchFamily="18" charset="0"/>
                      </a:rPr>
                      <m:t>]</m:t>
                    </m:r>
                  </m:oMath>
                </a14:m>
                <a:r>
                  <a:rPr lang="zh-CN" altLang="en-US" dirty="0"/>
                  <a:t>，</a:t>
                </a:r>
                <a:r>
                  <a:rPr lang="en-US" altLang="zh-CN" dirty="0"/>
                  <a:t>s</a:t>
                </a:r>
                <a:r>
                  <a:rPr lang="zh-CN" altLang="en-US" dirty="0"/>
                  <a:t>和</a:t>
                </a:r>
                <a:r>
                  <a:rPr lang="en-US" altLang="zh-CN" dirty="0"/>
                  <a:t>t</a:t>
                </a:r>
                <a:r>
                  <a:rPr lang="zh-CN" altLang="en-US" dirty="0"/>
                  <a:t>都是元组变量，</a:t>
                </a:r>
                <a14:m>
                  <m:oMath xmlns:m="http://schemas.openxmlformats.org/officeDocument/2006/math">
                    <m:r>
                      <a:rPr lang="en-US" altLang="zh-CN" i="1" dirty="0" smtClean="0">
                        <a:latin typeface="Cambria Math" panose="02040503050406030204" pitchFamily="18" charset="0"/>
                      </a:rPr>
                      <m:t>𝑠</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𝑖</m:t>
                    </m:r>
                    <m:r>
                      <a:rPr lang="en-US" altLang="zh-CN" i="1" dirty="0" smtClean="0">
                        <a:latin typeface="Cambria Math" panose="02040503050406030204" pitchFamily="18" charset="0"/>
                      </a:rPr>
                      <m:t>]</m:t>
                    </m:r>
                  </m:oMath>
                </a14:m>
                <a:r>
                  <a:rPr lang="zh-CN" altLang="en-US" dirty="0"/>
                  <a:t>表示元组</a:t>
                </a:r>
                <a:r>
                  <a:rPr lang="en-US" altLang="zh-CN" dirty="0"/>
                  <a:t>s</a:t>
                </a:r>
                <a:r>
                  <a:rPr lang="zh-CN" altLang="en-US" dirty="0"/>
                  <a:t>的第</a:t>
                </a:r>
                <a:r>
                  <a:rPr lang="en-US" altLang="zh-CN" dirty="0" err="1"/>
                  <a:t>i</a:t>
                </a:r>
                <a:r>
                  <a:rPr lang="zh-CN" altLang="en-US" dirty="0"/>
                  <a:t>个分量，</a:t>
                </a:r>
                <a14:m>
                  <m:oMath xmlns:m="http://schemas.openxmlformats.org/officeDocument/2006/math">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𝑗</m:t>
                    </m:r>
                    <m:r>
                      <a:rPr lang="en-US" altLang="zh-CN" i="1" dirty="0" smtClean="0">
                        <a:latin typeface="Cambria Math" panose="02040503050406030204" pitchFamily="18" charset="0"/>
                      </a:rPr>
                      <m:t>]</m:t>
                    </m:r>
                  </m:oMath>
                </a14:m>
                <a:r>
                  <a:rPr lang="zh-CN" altLang="en-US" dirty="0"/>
                  <a:t>表示</a:t>
                </a:r>
                <a:r>
                  <a:rPr lang="en-US" altLang="zh-CN" dirty="0"/>
                  <a:t>t</a:t>
                </a:r>
                <a:r>
                  <a:rPr lang="zh-CN" altLang="en-US" dirty="0"/>
                  <a:t>的第</a:t>
                </a:r>
                <a14:m>
                  <m:oMath xmlns:m="http://schemas.openxmlformats.org/officeDocument/2006/math">
                    <m:r>
                      <a:rPr lang="en-US" altLang="zh-CN" i="1" dirty="0" smtClean="0">
                        <a:latin typeface="Cambria Math" panose="02040503050406030204" pitchFamily="18" charset="0"/>
                      </a:rPr>
                      <m:t>𝑗</m:t>
                    </m:r>
                  </m:oMath>
                </a14:m>
                <a:r>
                  <a:rPr lang="zh-CN" altLang="en-US" dirty="0"/>
                  <a:t>个分量，</a:t>
                </a:r>
                <a14:m>
                  <m:oMath xmlns:m="http://schemas.openxmlformats.org/officeDocument/2006/math">
                    <m:r>
                      <a:rPr lang="en-US" altLang="zh-CN" i="1" dirty="0" smtClean="0">
                        <a:latin typeface="Cambria Math" panose="02040503050406030204" pitchFamily="18" charset="0"/>
                      </a:rPr>
                      <m:t>𝜃</m:t>
                    </m:r>
                  </m:oMath>
                </a14:m>
                <a:r>
                  <a:rPr lang="zh-CN" altLang="en-US" dirty="0"/>
                  <a:t>是算术比较运算符。</a:t>
                </a:r>
                <a14:m>
                  <m:oMath xmlns:m="http://schemas.openxmlformats.org/officeDocument/2006/math">
                    <m:r>
                      <a:rPr lang="en-US" altLang="zh-CN" i="1" dirty="0" smtClean="0">
                        <a:latin typeface="Cambria Math" panose="02040503050406030204" pitchFamily="18" charset="0"/>
                      </a:rPr>
                      <m:t>𝑠</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𝑖</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𝜃</m:t>
                    </m:r>
                    <m:r>
                      <a:rPr lang="en-US" altLang="zh-CN" i="1" dirty="0" err="1" smtClean="0">
                        <a:latin typeface="Cambria Math" panose="02040503050406030204" pitchFamily="18" charset="0"/>
                      </a:rPr>
                      <m:t>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𝑗</m:t>
                    </m:r>
                    <m:r>
                      <a:rPr lang="en-US" altLang="zh-CN" i="1" dirty="0" smtClean="0">
                        <a:latin typeface="Cambria Math" panose="02040503050406030204" pitchFamily="18" charset="0"/>
                      </a:rPr>
                      <m:t>]</m:t>
                    </m:r>
                  </m:oMath>
                </a14:m>
                <a:r>
                  <a:rPr lang="zh-CN" altLang="en-US" dirty="0"/>
                  <a:t>表示</a:t>
                </a:r>
                <a14:m>
                  <m:oMath xmlns:m="http://schemas.openxmlformats.org/officeDocument/2006/math">
                    <m:r>
                      <a:rPr lang="en-US" altLang="zh-CN" i="1" dirty="0" smtClean="0">
                        <a:latin typeface="Cambria Math" panose="02040503050406030204" pitchFamily="18" charset="0"/>
                      </a:rPr>
                      <m:t>𝑠</m:t>
                    </m:r>
                  </m:oMath>
                </a14:m>
                <a:r>
                  <a:rPr lang="zh-CN" altLang="en-US" dirty="0"/>
                  <a:t>的第</a:t>
                </a:r>
                <a14:m>
                  <m:oMath xmlns:m="http://schemas.openxmlformats.org/officeDocument/2006/math">
                    <m:r>
                      <a:rPr lang="en-US" altLang="zh-CN" i="1" dirty="0" smtClean="0">
                        <a:latin typeface="Cambria Math" panose="02040503050406030204" pitchFamily="18" charset="0"/>
                      </a:rPr>
                      <m:t>𝑖</m:t>
                    </m:r>
                  </m:oMath>
                </a14:m>
                <a:r>
                  <a:rPr lang="zh-CN" altLang="en-US" dirty="0"/>
                  <a:t>个分量和</a:t>
                </a:r>
                <a:r>
                  <a:rPr lang="en-US" altLang="zh-CN" dirty="0"/>
                  <a:t>t</a:t>
                </a:r>
                <a:r>
                  <a:rPr lang="zh-CN" altLang="en-US" dirty="0"/>
                  <a:t>的第</a:t>
                </a:r>
                <a14:m>
                  <m:oMath xmlns:m="http://schemas.openxmlformats.org/officeDocument/2006/math">
                    <m:r>
                      <a:rPr lang="en-US" altLang="zh-CN" i="1" dirty="0" smtClean="0">
                        <a:latin typeface="Cambria Math" panose="02040503050406030204" pitchFamily="18" charset="0"/>
                      </a:rPr>
                      <m:t>𝑗</m:t>
                    </m:r>
                  </m:oMath>
                </a14:m>
                <a:r>
                  <a:rPr lang="zh-CN" altLang="en-US" dirty="0"/>
                  <a:t>个分量满足</a:t>
                </a:r>
                <a14:m>
                  <m:oMath xmlns:m="http://schemas.openxmlformats.org/officeDocument/2006/math">
                    <m:r>
                      <a:rPr lang="en-US" altLang="zh-CN" i="1" dirty="0" smtClean="0">
                        <a:latin typeface="Cambria Math" panose="02040503050406030204" pitchFamily="18" charset="0"/>
                      </a:rPr>
                      <m:t>𝜃</m:t>
                    </m:r>
                  </m:oMath>
                </a14:m>
                <a:r>
                  <a:rPr lang="zh-CN" altLang="en-US" dirty="0"/>
                  <a:t>比较关系。</a:t>
                </a:r>
                <a:endParaRPr lang="zh-CN" altLang="en-US" dirty="0"/>
              </a:p>
              <a:p>
                <a:pPr lvl="2"/>
                <a14:m>
                  <m:oMath xmlns:m="http://schemas.openxmlformats.org/officeDocument/2006/math">
                    <m:r>
                      <a:rPr lang="en-US" altLang="zh-CN" i="1" dirty="0" smtClean="0">
                        <a:latin typeface="Cambria Math" panose="02040503050406030204" pitchFamily="18" charset="0"/>
                      </a:rPr>
                      <m:t>𝑠</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𝑖</m:t>
                    </m:r>
                    <m:r>
                      <a:rPr lang="en-US" altLang="zh-CN" i="1" dirty="0" smtClean="0">
                        <a:latin typeface="Cambria Math" panose="02040503050406030204" pitchFamily="18" charset="0"/>
                      </a:rPr>
                      <m:t>]</m:t>
                    </m:r>
                    <m:r>
                      <a:rPr lang="el-GR" altLang="zh-CN" i="1" dirty="0" smtClean="0">
                        <a:latin typeface="Cambria Math" panose="02040503050406030204" pitchFamily="18" charset="0"/>
                      </a:rPr>
                      <m:t>𝜃</m:t>
                    </m:r>
                    <m:r>
                      <a:rPr lang="en-US" altLang="zh-CN" i="1" dirty="0" smtClean="0">
                        <a:latin typeface="Cambria Math" panose="02040503050406030204" pitchFamily="18" charset="0"/>
                      </a:rPr>
                      <m:t>𝑐</m:t>
                    </m:r>
                  </m:oMath>
                </a14:m>
                <a:r>
                  <a:rPr lang="zh-CN" altLang="en-US" dirty="0"/>
                  <a:t>或</a:t>
                </a:r>
                <a14:m>
                  <m:oMath xmlns:m="http://schemas.openxmlformats.org/officeDocument/2006/math">
                    <m:r>
                      <a:rPr lang="en-US" altLang="zh-CN" i="1" dirty="0" smtClean="0">
                        <a:latin typeface="Cambria Math" panose="02040503050406030204" pitchFamily="18" charset="0"/>
                      </a:rPr>
                      <m:t>𝑐</m:t>
                    </m:r>
                    <m:r>
                      <a:rPr lang="el-GR" altLang="zh-CN" i="1" dirty="0" smtClean="0">
                        <a:latin typeface="Cambria Math" panose="02040503050406030204" pitchFamily="18" charset="0"/>
                      </a:rPr>
                      <m:t>𝜃</m:t>
                    </m:r>
                    <m:r>
                      <a:rPr lang="en-US" altLang="zh-CN" i="1" dirty="0" smtClean="0">
                        <a:latin typeface="Cambria Math" panose="02040503050406030204" pitchFamily="18" charset="0"/>
                      </a:rPr>
                      <m:t>𝑠</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𝑖</m:t>
                    </m:r>
                    <m:r>
                      <a:rPr lang="en-US" altLang="zh-CN" i="1" dirty="0" smtClean="0">
                        <a:latin typeface="Cambria Math" panose="02040503050406030204" pitchFamily="18" charset="0"/>
                      </a:rPr>
                      <m:t>]</m:t>
                    </m:r>
                  </m:oMath>
                </a14:m>
                <a:r>
                  <a:rPr lang="zh-CN" altLang="en-US" dirty="0"/>
                  <a:t>，</a:t>
                </a:r>
                <a14:m>
                  <m:oMath xmlns:m="http://schemas.openxmlformats.org/officeDocument/2006/math">
                    <m:r>
                      <a:rPr lang="en-US" altLang="zh-CN" i="1" dirty="0" smtClean="0">
                        <a:latin typeface="Cambria Math" panose="02040503050406030204" pitchFamily="18" charset="0"/>
                      </a:rPr>
                      <m:t>𝑐</m:t>
                    </m:r>
                  </m:oMath>
                </a14:m>
                <a:r>
                  <a:rPr lang="zh-CN" altLang="en-US" dirty="0"/>
                  <a:t>是常量，</a:t>
                </a:r>
                <a14:m>
                  <m:oMath xmlns:m="http://schemas.openxmlformats.org/officeDocument/2006/math">
                    <m:r>
                      <a:rPr lang="en-US" altLang="zh-CN" i="1" dirty="0" smtClean="0">
                        <a:latin typeface="Cambria Math" panose="02040503050406030204" pitchFamily="18" charset="0"/>
                      </a:rPr>
                      <m:t>𝑠</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𝑖</m:t>
                    </m:r>
                    <m:r>
                      <a:rPr lang="en-US" altLang="zh-CN" i="1" dirty="0" smtClean="0">
                        <a:latin typeface="Cambria Math" panose="02040503050406030204" pitchFamily="18" charset="0"/>
                      </a:rPr>
                      <m:t>]</m:t>
                    </m:r>
                    <m:r>
                      <a:rPr lang="el-GR" altLang="zh-CN" i="1" dirty="0" smtClean="0">
                        <a:latin typeface="Cambria Math" panose="02040503050406030204" pitchFamily="18" charset="0"/>
                      </a:rPr>
                      <m:t>𝜃</m:t>
                    </m:r>
                    <m:r>
                      <a:rPr lang="en-US" altLang="zh-CN" i="1" dirty="0" smtClean="0">
                        <a:latin typeface="Cambria Math" panose="02040503050406030204" pitchFamily="18" charset="0"/>
                      </a:rPr>
                      <m:t>𝑐</m:t>
                    </m:r>
                  </m:oMath>
                </a14:m>
                <a:r>
                  <a:rPr lang="zh-CN" altLang="en-US" dirty="0"/>
                  <a:t>表示元组</a:t>
                </a:r>
                <a14:m>
                  <m:oMath xmlns:m="http://schemas.openxmlformats.org/officeDocument/2006/math">
                    <m:r>
                      <a:rPr lang="en-US" altLang="zh-CN" i="1" dirty="0" smtClean="0">
                        <a:latin typeface="Cambria Math" panose="02040503050406030204" pitchFamily="18" charset="0"/>
                      </a:rPr>
                      <m:t>𝑠</m:t>
                    </m:r>
                  </m:oMath>
                </a14:m>
                <a:r>
                  <a:rPr lang="zh-CN" altLang="en-US" dirty="0"/>
                  <a:t>的第</a:t>
                </a:r>
                <a14:m>
                  <m:oMath xmlns:m="http://schemas.openxmlformats.org/officeDocument/2006/math">
                    <m:r>
                      <a:rPr lang="en-US" altLang="zh-CN" i="1" dirty="0" smtClean="0">
                        <a:latin typeface="Cambria Math" panose="02040503050406030204" pitchFamily="18" charset="0"/>
                      </a:rPr>
                      <m:t>𝑖</m:t>
                    </m:r>
                  </m:oMath>
                </a14:m>
                <a:r>
                  <a:rPr lang="zh-CN" altLang="en-US" dirty="0"/>
                  <a:t>个分量和常量</a:t>
                </a:r>
                <a14:m>
                  <m:oMath xmlns:m="http://schemas.openxmlformats.org/officeDocument/2006/math">
                    <m:r>
                      <a:rPr lang="en-US" altLang="zh-CN" i="1" dirty="0" smtClean="0">
                        <a:latin typeface="Cambria Math" panose="02040503050406030204" pitchFamily="18" charset="0"/>
                      </a:rPr>
                      <m:t>𝑐</m:t>
                    </m:r>
                  </m:oMath>
                </a14:m>
                <a:r>
                  <a:rPr lang="zh-CN" altLang="en-US" dirty="0"/>
                  <a:t>满足</a:t>
                </a:r>
                <a14:m>
                  <m:oMath xmlns:m="http://schemas.openxmlformats.org/officeDocument/2006/math">
                    <m:r>
                      <a:rPr lang="el-GR" altLang="zh-CN" i="1" dirty="0" smtClean="0">
                        <a:latin typeface="Cambria Math" panose="02040503050406030204" pitchFamily="18" charset="0"/>
                      </a:rPr>
                      <m:t>𝜃</m:t>
                    </m:r>
                  </m:oMath>
                </a14:m>
                <a:r>
                  <a:rPr lang="zh-CN" altLang="en-US" dirty="0"/>
                  <a:t>这样的比较关系。</a:t>
                </a:r>
                <a:endParaRPr lang="zh-CN" altLang="en-US" dirty="0"/>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2.3 </a:t>
            </a:r>
            <a:r>
              <a:rPr lang="zh-CN" altLang="en-US" dirty="0"/>
              <a:t>关系演算</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元组关系演算</a:t>
            </a:r>
            <a:endParaRPr lang="en-US" altLang="zh-CN" dirty="0"/>
          </a:p>
          <a:p>
            <a:pPr lvl="1"/>
            <a:r>
              <a:rPr lang="zh-CN" altLang="en-US" dirty="0"/>
              <a:t>在原子公式的基础上可以通过以下递归定义构成元组关系演算公式：</a:t>
            </a:r>
            <a:endParaRPr lang="zh-CN" altLang="en-US" dirty="0"/>
          </a:p>
          <a:p>
            <a:pPr lvl="2"/>
            <a:r>
              <a:rPr lang="zh-CN" altLang="en-US" dirty="0"/>
              <a:t>原子公式也是公式；</a:t>
            </a:r>
            <a:endParaRPr lang="zh-CN" altLang="en-US" dirty="0"/>
          </a:p>
          <a:p>
            <a:pPr lvl="2"/>
            <a:r>
              <a:rPr lang="zh-CN" altLang="en-US" dirty="0"/>
              <a:t>如果</a:t>
            </a:r>
            <a:r>
              <a:rPr lang="en-US" altLang="zh-CN" dirty="0"/>
              <a:t>P1</a:t>
            </a:r>
            <a:r>
              <a:rPr lang="zh-CN" altLang="en-US" dirty="0"/>
              <a:t>，</a:t>
            </a:r>
            <a:r>
              <a:rPr lang="en-US" altLang="zh-CN" dirty="0"/>
              <a:t>P2</a:t>
            </a:r>
            <a:r>
              <a:rPr lang="zh-CN" altLang="en-US" dirty="0"/>
              <a:t>是公式，则</a:t>
            </a:r>
            <a:r>
              <a:rPr lang="en-US" altLang="zh-CN" dirty="0"/>
              <a:t>P1∧P2</a:t>
            </a:r>
            <a:r>
              <a:rPr lang="zh-CN" altLang="en-US" dirty="0"/>
              <a:t>，</a:t>
            </a:r>
            <a:r>
              <a:rPr lang="en-US" altLang="zh-CN" dirty="0"/>
              <a:t>P1∨P2</a:t>
            </a:r>
            <a:r>
              <a:rPr lang="zh-CN" altLang="en-US" dirty="0"/>
              <a:t>，  </a:t>
            </a:r>
            <a:r>
              <a:rPr lang="en-US" altLang="zh-CN" dirty="0"/>
              <a:t>P1</a:t>
            </a:r>
            <a:r>
              <a:rPr lang="zh-CN" altLang="en-US" dirty="0"/>
              <a:t>也是公式，分别表示：</a:t>
            </a:r>
            <a:endParaRPr lang="en-US" altLang="zh-CN" dirty="0"/>
          </a:p>
          <a:p>
            <a:pPr marL="914400" lvl="2" indent="0">
              <a:buNone/>
            </a:pPr>
            <a:r>
              <a:rPr lang="zh-CN" altLang="en-US" dirty="0"/>
              <a:t>   如果</a:t>
            </a:r>
            <a:r>
              <a:rPr lang="en-US" altLang="zh-CN" dirty="0"/>
              <a:t>P1</a:t>
            </a:r>
            <a:r>
              <a:rPr lang="zh-CN" altLang="en-US" dirty="0"/>
              <a:t>，</a:t>
            </a:r>
            <a:r>
              <a:rPr lang="en-US" altLang="zh-CN" dirty="0"/>
              <a:t>P2</a:t>
            </a:r>
            <a:r>
              <a:rPr lang="zh-CN" altLang="en-US" dirty="0"/>
              <a:t>同时为真，则</a:t>
            </a:r>
            <a:r>
              <a:rPr lang="en-US" altLang="zh-CN" dirty="0"/>
              <a:t>P1∧P2</a:t>
            </a:r>
            <a:r>
              <a:rPr lang="zh-CN" altLang="en-US" dirty="0"/>
              <a:t>为真，否则</a:t>
            </a:r>
            <a:r>
              <a:rPr lang="en-US" altLang="zh-CN" dirty="0"/>
              <a:t>P1∧P2</a:t>
            </a:r>
            <a:r>
              <a:rPr lang="zh-CN" altLang="en-US" dirty="0"/>
              <a:t>为假；</a:t>
            </a:r>
            <a:endParaRPr lang="zh-CN" altLang="en-US" dirty="0"/>
          </a:p>
          <a:p>
            <a:pPr marL="914400" lvl="2" indent="0">
              <a:buNone/>
            </a:pPr>
            <a:r>
              <a:rPr lang="zh-CN" altLang="en-US" dirty="0"/>
              <a:t>   如果</a:t>
            </a:r>
            <a:r>
              <a:rPr lang="en-US" altLang="zh-CN" dirty="0"/>
              <a:t>P1</a:t>
            </a:r>
            <a:r>
              <a:rPr lang="zh-CN" altLang="en-US" dirty="0"/>
              <a:t>，</a:t>
            </a:r>
            <a:r>
              <a:rPr lang="en-US" altLang="zh-CN" dirty="0"/>
              <a:t>P2</a:t>
            </a:r>
            <a:r>
              <a:rPr lang="zh-CN" altLang="en-US" dirty="0"/>
              <a:t>中至少有一个为真，则</a:t>
            </a:r>
            <a:r>
              <a:rPr lang="en-US" altLang="zh-CN" dirty="0"/>
              <a:t>P1∨P2</a:t>
            </a:r>
            <a:r>
              <a:rPr lang="zh-CN" altLang="en-US" dirty="0"/>
              <a:t>为真，否则</a:t>
            </a:r>
            <a:r>
              <a:rPr lang="en-US" altLang="zh-CN" dirty="0"/>
              <a:t>P1∨P2</a:t>
            </a:r>
            <a:r>
              <a:rPr lang="zh-CN" altLang="en-US" dirty="0"/>
              <a:t>为假；</a:t>
            </a:r>
            <a:endParaRPr lang="zh-CN" altLang="en-US" dirty="0"/>
          </a:p>
          <a:p>
            <a:pPr marL="914400" lvl="2" indent="0">
              <a:buNone/>
            </a:pPr>
            <a:r>
              <a:rPr lang="zh-CN" altLang="en-US" dirty="0"/>
              <a:t>   如果</a:t>
            </a:r>
            <a:r>
              <a:rPr lang="en-US" altLang="zh-CN" dirty="0"/>
              <a:t>P1</a:t>
            </a:r>
            <a:r>
              <a:rPr lang="zh-CN" altLang="en-US" dirty="0"/>
              <a:t>为真，则   </a:t>
            </a:r>
            <a:r>
              <a:rPr lang="en-US" altLang="zh-CN" dirty="0"/>
              <a:t>P1</a:t>
            </a:r>
            <a:r>
              <a:rPr lang="zh-CN" altLang="en-US" dirty="0"/>
              <a:t>为假，如果</a:t>
            </a:r>
            <a:r>
              <a:rPr lang="en-US" altLang="zh-CN" dirty="0"/>
              <a:t>P1</a:t>
            </a:r>
            <a:r>
              <a:rPr lang="zh-CN" altLang="en-US" dirty="0"/>
              <a:t>为假，则   </a:t>
            </a:r>
            <a:r>
              <a:rPr lang="en-US" altLang="zh-CN" dirty="0"/>
              <a:t>P1</a:t>
            </a:r>
            <a:r>
              <a:rPr lang="zh-CN" altLang="en-US" dirty="0"/>
              <a:t>为真；</a:t>
            </a:r>
            <a:endParaRPr lang="en-US" altLang="zh-CN" dirty="0"/>
          </a:p>
          <a:p>
            <a:pPr lvl="2"/>
            <a:r>
              <a:rPr lang="zh-CN" altLang="en-US" dirty="0"/>
              <a:t>如果</a:t>
            </a:r>
            <a:r>
              <a:rPr lang="en-US" altLang="zh-CN" dirty="0"/>
              <a:t>P</a:t>
            </a:r>
            <a:r>
              <a:rPr lang="zh-CN" altLang="en-US" dirty="0"/>
              <a:t>是公式，则∃</a:t>
            </a:r>
            <a:r>
              <a:rPr lang="en-US" altLang="zh-CN" dirty="0"/>
              <a:t>t(P)</a:t>
            </a:r>
            <a:r>
              <a:rPr lang="zh-CN" altLang="en-US" dirty="0"/>
              <a:t>也是公式。 ∃是存在量词符号，∃</a:t>
            </a:r>
            <a:r>
              <a:rPr lang="en-US" altLang="zh-CN" dirty="0"/>
              <a:t>t(P)</a:t>
            </a:r>
            <a:r>
              <a:rPr lang="zh-CN" altLang="en-US" dirty="0"/>
              <a:t>表示当至少存在一个</a:t>
            </a:r>
            <a:r>
              <a:rPr lang="en-US" altLang="zh-CN" dirty="0"/>
              <a:t>t</a:t>
            </a:r>
            <a:r>
              <a:rPr lang="zh-CN" altLang="en-US" dirty="0"/>
              <a:t>使得</a:t>
            </a:r>
            <a:r>
              <a:rPr lang="en-US" altLang="zh-CN" dirty="0"/>
              <a:t>P</a:t>
            </a:r>
            <a:r>
              <a:rPr lang="zh-CN" altLang="en-US" dirty="0"/>
              <a:t>为真，则 ∃</a:t>
            </a:r>
            <a:r>
              <a:rPr lang="en-US" altLang="zh-CN" dirty="0"/>
              <a:t>t(P)</a:t>
            </a:r>
            <a:r>
              <a:rPr lang="zh-CN" altLang="en-US" dirty="0"/>
              <a:t>为真，否则为假；</a:t>
            </a:r>
            <a:endParaRPr lang="en-US" altLang="zh-CN" dirty="0"/>
          </a:p>
          <a:p>
            <a:pPr lvl="2"/>
            <a:r>
              <a:rPr lang="zh-CN" altLang="en-US" dirty="0"/>
              <a:t>如果</a:t>
            </a:r>
            <a:r>
              <a:rPr lang="en-US" altLang="zh-CN" dirty="0"/>
              <a:t>P</a:t>
            </a:r>
            <a:r>
              <a:rPr lang="zh-CN" altLang="en-US" dirty="0"/>
              <a:t>是公式，则 ∀</a:t>
            </a:r>
            <a:r>
              <a:rPr lang="en-US" altLang="zh-CN" dirty="0"/>
              <a:t>t(P)</a:t>
            </a:r>
            <a:r>
              <a:rPr lang="zh-CN" altLang="en-US" dirty="0"/>
              <a:t>也是公式。∀是全称量词符号，∀</a:t>
            </a:r>
            <a:r>
              <a:rPr lang="en-US" altLang="zh-CN" dirty="0"/>
              <a:t>t(P)</a:t>
            </a:r>
            <a:r>
              <a:rPr lang="zh-CN" altLang="en-US" dirty="0"/>
              <a:t>表示如果所有的</a:t>
            </a:r>
            <a:r>
              <a:rPr lang="en-US" altLang="zh-CN" dirty="0"/>
              <a:t>t</a:t>
            </a:r>
            <a:r>
              <a:rPr lang="zh-CN" altLang="en-US" dirty="0"/>
              <a:t>都使</a:t>
            </a:r>
            <a:r>
              <a:rPr lang="en-US" altLang="zh-CN" dirty="0"/>
              <a:t>P</a:t>
            </a:r>
            <a:r>
              <a:rPr lang="zh-CN" altLang="en-US" dirty="0"/>
              <a:t>为真，则 ∀</a:t>
            </a:r>
            <a:r>
              <a:rPr lang="en-US" altLang="zh-CN" dirty="0"/>
              <a:t>t(P)</a:t>
            </a:r>
            <a:r>
              <a:rPr lang="zh-CN" altLang="en-US" dirty="0"/>
              <a:t>为真，否则为假；</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2.3 </a:t>
            </a:r>
            <a:r>
              <a:rPr lang="zh-CN" altLang="en-US" dirty="0"/>
              <a:t>关系演算</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元组关系演算</a:t>
            </a:r>
            <a:endParaRPr lang="en-US" altLang="zh-CN" dirty="0"/>
          </a:p>
          <a:p>
            <a:pPr lvl="1"/>
            <a:r>
              <a:rPr lang="zh-CN" altLang="en-US" dirty="0"/>
              <a:t>在元组关系演算公式中，各类算符优先级为：</a:t>
            </a:r>
            <a:endParaRPr lang="en-US" altLang="zh-CN" dirty="0"/>
          </a:p>
          <a:p>
            <a:pPr lvl="2"/>
            <a:r>
              <a:rPr lang="zh-CN" altLang="en-US" dirty="0"/>
              <a:t>算术比较运算符优先级最高；</a:t>
            </a:r>
            <a:endParaRPr lang="zh-CN" altLang="en-US" dirty="0"/>
          </a:p>
          <a:p>
            <a:pPr lvl="2"/>
            <a:r>
              <a:rPr lang="zh-CN" altLang="en-US" dirty="0"/>
              <a:t>量词∃和∀优先级其次，且∃的优先级高于∀；</a:t>
            </a:r>
            <a:endParaRPr lang="zh-CN" altLang="en-US" dirty="0"/>
          </a:p>
          <a:p>
            <a:pPr lvl="2"/>
            <a:r>
              <a:rPr lang="zh-CN" altLang="en-US" dirty="0"/>
              <a:t>逻辑运算符优先级最低，且┐的优先级高于∧，∧的优先级高于∨；</a:t>
            </a:r>
            <a:endParaRPr lang="zh-CN" altLang="en-US" dirty="0"/>
          </a:p>
          <a:p>
            <a:pPr lvl="2"/>
            <a:r>
              <a:rPr lang="zh-CN" altLang="en-US" dirty="0"/>
              <a:t>括号可以改变算符的优先级，加括号时，括号内算符优先，同一括号内算符优先级遵循上述各项。</a:t>
            </a:r>
            <a:endParaRPr lang="en-US" altLang="zh-CN" dirty="0"/>
          </a:p>
          <a:p>
            <a:pPr lvl="1"/>
            <a:r>
              <a:rPr lang="zh-CN" altLang="en-US" dirty="0"/>
              <a:t>有限次使用上述规则得到的即是元组关系演算公式，除此之外的构成形式不是元组关系演算公式</a:t>
            </a:r>
            <a:endParaRPr lang="zh-CN" altLang="en-US" dirty="0"/>
          </a:p>
          <a:p>
            <a:pPr lvl="2"/>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2.3 </a:t>
            </a:r>
            <a:r>
              <a:rPr lang="zh-CN" altLang="en-US" dirty="0"/>
              <a:t>关系演算</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元组关系演算</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2.3 </a:t>
            </a:r>
            <a:r>
              <a:rPr lang="zh-CN" altLang="en-US" dirty="0"/>
              <a:t>关系演算</a:t>
            </a:r>
            <a:endParaRPr lang="zh-CN" altLang="en-US" dirty="0"/>
          </a:p>
        </p:txBody>
      </p:sp>
      <p:sp>
        <p:nvSpPr>
          <p:cNvPr id="6" name="Rectangle 6"/>
          <p:cNvSpPr>
            <a:spLocks noChangeArrowheads="1"/>
          </p:cNvSpPr>
          <p:nvPr/>
        </p:nvSpPr>
        <p:spPr bwMode="auto">
          <a:xfrm>
            <a:off x="1522407" y="37258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7" name="Rectangle 7"/>
          <p:cNvSpPr>
            <a:spLocks noChangeArrowheads="1"/>
          </p:cNvSpPr>
          <p:nvPr/>
        </p:nvSpPr>
        <p:spPr bwMode="auto">
          <a:xfrm>
            <a:off x="1522407" y="3702051"/>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8" name="Rectangle 8"/>
          <p:cNvSpPr>
            <a:spLocks noChangeArrowheads="1"/>
          </p:cNvSpPr>
          <p:nvPr/>
        </p:nvSpPr>
        <p:spPr bwMode="auto">
          <a:xfrm>
            <a:off x="1522407" y="3702051"/>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9" name="Group 9"/>
          <p:cNvGraphicFramePr>
            <a:graphicFrameLocks noGrp="1"/>
          </p:cNvGraphicFramePr>
          <p:nvPr/>
        </p:nvGraphicFramePr>
        <p:xfrm>
          <a:off x="3790945" y="2270126"/>
          <a:ext cx="1655762" cy="1401816"/>
        </p:xfrm>
        <a:graphic>
          <a:graphicData uri="http://schemas.openxmlformats.org/drawingml/2006/table">
            <a:tbl>
              <a:tblPr/>
              <a:tblGrid>
                <a:gridCol w="574675"/>
                <a:gridCol w="517525"/>
                <a:gridCol w="563562"/>
              </a:tblGrid>
              <a:tr h="39609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66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7</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5</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8</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9</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10" name="Group 23"/>
          <p:cNvGraphicFramePr>
            <a:graphicFrameLocks noGrp="1"/>
          </p:cNvGraphicFramePr>
          <p:nvPr/>
        </p:nvGraphicFramePr>
        <p:xfrm>
          <a:off x="7031032" y="2270126"/>
          <a:ext cx="1069975" cy="1096992"/>
        </p:xfrm>
        <a:graphic>
          <a:graphicData uri="http://schemas.openxmlformats.org/drawingml/2006/table">
            <a:tbl>
              <a:tblPr/>
              <a:tblGrid>
                <a:gridCol w="555625"/>
                <a:gridCol w="514350"/>
              </a:tblGrid>
              <a:tr h="39608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087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7</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1" name="Text Box 34"/>
          <p:cNvSpPr txBox="1">
            <a:spLocks noChangeArrowheads="1"/>
          </p:cNvSpPr>
          <p:nvPr/>
        </p:nvSpPr>
        <p:spPr bwMode="auto">
          <a:xfrm>
            <a:off x="4319582" y="3711576"/>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800">
                <a:latin typeface="Arial" panose="020B0604020202020204" pitchFamily="34" charset="0"/>
              </a:rPr>
              <a:t>R</a:t>
            </a:r>
            <a:endParaRPr lang="en-US" altLang="zh-CN" sz="1800">
              <a:latin typeface="Arial" panose="020B0604020202020204" pitchFamily="34" charset="0"/>
            </a:endParaRPr>
          </a:p>
        </p:txBody>
      </p:sp>
      <p:sp>
        <p:nvSpPr>
          <p:cNvPr id="12" name="Text Box 35"/>
          <p:cNvSpPr txBox="1">
            <a:spLocks noChangeArrowheads="1"/>
          </p:cNvSpPr>
          <p:nvPr/>
        </p:nvSpPr>
        <p:spPr bwMode="auto">
          <a:xfrm>
            <a:off x="7381870" y="3421063"/>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800">
                <a:latin typeface="Arial" panose="020B0604020202020204" pitchFamily="34" charset="0"/>
              </a:rPr>
              <a:t>S</a:t>
            </a:r>
            <a:endParaRPr lang="en-US" altLang="zh-CN" sz="1800">
              <a:latin typeface="Arial" panose="020B0604020202020204" pitchFamily="34" charset="0"/>
            </a:endParaRPr>
          </a:p>
        </p:txBody>
      </p:sp>
      <p:graphicFrame>
        <p:nvGraphicFramePr>
          <p:cNvPr id="13" name="Group 197"/>
          <p:cNvGraphicFramePr>
            <a:graphicFrameLocks noGrp="1"/>
          </p:cNvGraphicFramePr>
          <p:nvPr/>
        </p:nvGraphicFramePr>
        <p:xfrm>
          <a:off x="3141657" y="4357688"/>
          <a:ext cx="1666875" cy="1096992"/>
        </p:xfrm>
        <a:graphic>
          <a:graphicData uri="http://schemas.openxmlformats.org/drawingml/2006/table">
            <a:tbl>
              <a:tblPr/>
              <a:tblGrid>
                <a:gridCol w="568325"/>
                <a:gridCol w="527050"/>
                <a:gridCol w="571500"/>
              </a:tblGrid>
              <a:tr h="396086">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0877">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7</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5</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8</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9</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14" name="Group 207"/>
          <p:cNvGraphicFramePr>
            <a:graphicFrameLocks noGrp="1"/>
          </p:cNvGraphicFramePr>
          <p:nvPr/>
        </p:nvGraphicFramePr>
        <p:xfrm>
          <a:off x="7454895" y="4181476"/>
          <a:ext cx="1663700" cy="1401816"/>
        </p:xfrm>
        <a:graphic>
          <a:graphicData uri="http://schemas.openxmlformats.org/drawingml/2006/table">
            <a:tbl>
              <a:tblPr/>
              <a:tblGrid>
                <a:gridCol w="568325"/>
                <a:gridCol w="550862"/>
                <a:gridCol w="544513"/>
              </a:tblGrid>
              <a:tr h="39609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66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5</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mc:Choice xmlns:a14="http://schemas.microsoft.com/office/drawing/2010/main" Requires="a14">
          <p:sp>
            <p:nvSpPr>
              <p:cNvPr id="15" name="Text Box 204"/>
              <p:cNvSpPr txBox="1">
                <a:spLocks noChangeArrowheads="1"/>
              </p:cNvSpPr>
              <p:nvPr/>
            </p:nvSpPr>
            <p:spPr bwMode="auto">
              <a:xfrm>
                <a:off x="2199867" y="5806042"/>
                <a:ext cx="42394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𝑅</m:t>
                      </m:r>
                      <m:r>
                        <a:rPr lang="en-US" altLang="zh-CN" sz="1800" i="1" dirty="0" smtClean="0">
                          <a:latin typeface="Cambria Math" panose="02040503050406030204" pitchFamily="18" charset="0"/>
                        </a:rPr>
                        <m:t>1</m:t>
                      </m:r>
                      <m:r>
                        <a:rPr lang="zh-CN" altLang="en-US" sz="1800" i="1" dirty="0">
                          <a:latin typeface="Cambria Math" panose="02040503050406030204" pitchFamily="18" charset="0"/>
                        </a:rPr>
                        <m:t>＝</m:t>
                      </m:r>
                      <m:r>
                        <a:rPr lang="en-US" altLang="zh-CN" sz="1800" i="1" dirty="0">
                          <a:latin typeface="Cambria Math" panose="02040503050406030204" pitchFamily="18" charset="0"/>
                        </a:rPr>
                        <m:t>{</m:t>
                      </m:r>
                      <m:r>
                        <a:rPr lang="en-US" altLang="zh-CN" sz="1800" i="1" dirty="0">
                          <a:latin typeface="Cambria Math" panose="02040503050406030204" pitchFamily="18" charset="0"/>
                        </a:rPr>
                        <m:t>𝑡</m:t>
                      </m:r>
                      <m:r>
                        <a:rPr lang="en-US" altLang="zh-CN" sz="1800" i="1" dirty="0">
                          <a:latin typeface="Cambria Math" panose="02040503050406030204" pitchFamily="18" charset="0"/>
                        </a:rPr>
                        <m:t>|(</m:t>
                      </m:r>
                      <m:r>
                        <a:rPr lang="en-US" altLang="en-US" sz="1800" b="1" i="1" dirty="0">
                          <a:latin typeface="Cambria Math" panose="02040503050406030204" pitchFamily="18" charset="0"/>
                        </a:rPr>
                        <m:t>∃</m:t>
                      </m:r>
                      <m:r>
                        <a:rPr lang="en-US" altLang="zh-CN" sz="1800" i="1" dirty="0">
                          <a:latin typeface="Cambria Math" panose="02040503050406030204" pitchFamily="18" charset="0"/>
                        </a:rPr>
                        <m:t>𝑢</m:t>
                      </m:r>
                      <m:r>
                        <a:rPr lang="en-US" altLang="zh-CN" sz="1800" i="1" dirty="0">
                          <a:latin typeface="Cambria Math" panose="02040503050406030204" pitchFamily="18" charset="0"/>
                        </a:rPr>
                        <m:t>)(</m:t>
                      </m:r>
                      <m:r>
                        <a:rPr lang="en-US" altLang="zh-CN" sz="1800" i="1" dirty="0">
                          <a:latin typeface="Cambria Math" panose="02040503050406030204" pitchFamily="18" charset="0"/>
                        </a:rPr>
                        <m:t>𝑅</m:t>
                      </m:r>
                      <m:r>
                        <a:rPr lang="en-US" altLang="zh-CN" sz="1800" i="1" dirty="0">
                          <a:latin typeface="Cambria Math" panose="02040503050406030204" pitchFamily="18" charset="0"/>
                        </a:rPr>
                        <m:t>(</m:t>
                      </m:r>
                      <m:r>
                        <a:rPr lang="en-US" altLang="zh-CN" sz="1800" i="1" dirty="0">
                          <a:latin typeface="Cambria Math" panose="02040503050406030204" pitchFamily="18" charset="0"/>
                        </a:rPr>
                        <m:t>𝑡</m:t>
                      </m:r>
                      <m:r>
                        <a:rPr lang="en-US" altLang="zh-CN" sz="1800" i="1" dirty="0">
                          <a:latin typeface="Cambria Math" panose="02040503050406030204" pitchFamily="18" charset="0"/>
                        </a:rPr>
                        <m:t>)∧</m:t>
                      </m:r>
                      <m:r>
                        <a:rPr lang="en-US" altLang="zh-CN" sz="1800" i="1" dirty="0">
                          <a:latin typeface="Cambria Math" panose="02040503050406030204" pitchFamily="18" charset="0"/>
                        </a:rPr>
                        <m:t>𝑆</m:t>
                      </m:r>
                      <m:r>
                        <a:rPr lang="en-US" altLang="zh-CN" sz="1800" i="1" dirty="0">
                          <a:latin typeface="Cambria Math" panose="02040503050406030204" pitchFamily="18" charset="0"/>
                        </a:rPr>
                        <m:t>(</m:t>
                      </m:r>
                      <m:r>
                        <a:rPr lang="en-US" altLang="zh-CN" sz="1800" i="1" dirty="0">
                          <a:latin typeface="Cambria Math" panose="02040503050406030204" pitchFamily="18" charset="0"/>
                        </a:rPr>
                        <m:t>𝑢</m:t>
                      </m:r>
                      <m:r>
                        <a:rPr lang="en-US" altLang="zh-CN" sz="1800" i="1" dirty="0">
                          <a:latin typeface="Cambria Math" panose="02040503050406030204" pitchFamily="18" charset="0"/>
                        </a:rPr>
                        <m:t>)∧</m:t>
                      </m:r>
                      <m:r>
                        <a:rPr lang="en-US" altLang="zh-CN" sz="1800" i="1" dirty="0">
                          <a:latin typeface="Cambria Math" panose="02040503050406030204" pitchFamily="18" charset="0"/>
                        </a:rPr>
                        <m:t>𝑡</m:t>
                      </m:r>
                      <m:r>
                        <a:rPr lang="en-US" altLang="zh-CN" sz="1800" i="1" dirty="0">
                          <a:latin typeface="Cambria Math" panose="02040503050406030204" pitchFamily="18" charset="0"/>
                        </a:rPr>
                        <m:t>[</m:t>
                      </m:r>
                      <m:r>
                        <a:rPr lang="en-US" altLang="zh-CN" sz="1800" i="1" dirty="0">
                          <a:latin typeface="Cambria Math" panose="02040503050406030204" pitchFamily="18" charset="0"/>
                        </a:rPr>
                        <m:t>3</m:t>
                      </m:r>
                      <m:r>
                        <a:rPr lang="en-US" altLang="zh-CN" sz="1800" i="1" dirty="0">
                          <a:latin typeface="Cambria Math" panose="02040503050406030204" pitchFamily="18" charset="0"/>
                        </a:rPr>
                        <m:t>]</m:t>
                      </m:r>
                      <m:r>
                        <a:rPr lang="zh-CN" altLang="en-US" sz="1800" i="1" dirty="0">
                          <a:latin typeface="Cambria Math" panose="02040503050406030204" pitchFamily="18" charset="0"/>
                        </a:rPr>
                        <m:t>＞</m:t>
                      </m:r>
                      <m:r>
                        <a:rPr lang="en-US" altLang="zh-CN" sz="1800" i="1" dirty="0">
                          <a:latin typeface="Cambria Math" panose="02040503050406030204" pitchFamily="18" charset="0"/>
                        </a:rPr>
                        <m:t>𝑢</m:t>
                      </m:r>
                      <m:r>
                        <a:rPr lang="en-US" altLang="zh-CN" sz="1800" i="1" dirty="0">
                          <a:latin typeface="Cambria Math" panose="02040503050406030204" pitchFamily="18" charset="0"/>
                        </a:rPr>
                        <m:t>[</m:t>
                      </m:r>
                      <m:r>
                        <a:rPr lang="en-US" altLang="zh-CN" sz="1800" i="1" dirty="0">
                          <a:latin typeface="Cambria Math" panose="02040503050406030204" pitchFamily="18" charset="0"/>
                        </a:rPr>
                        <m:t>1</m:t>
                      </m:r>
                      <m:r>
                        <a:rPr lang="en-US" altLang="zh-CN" sz="1800" i="1" dirty="0">
                          <a:latin typeface="Cambria Math" panose="02040503050406030204" pitchFamily="18" charset="0"/>
                        </a:rPr>
                        <m:t>])} </m:t>
                      </m:r>
                    </m:oMath>
                  </m:oMathPara>
                </a14:m>
                <a:endParaRPr lang="zh-CN" altLang="en-US" sz="1800" dirty="0">
                  <a:latin typeface="Arial" panose="020B0604020202020204" pitchFamily="34" charset="0"/>
                </a:endParaRPr>
              </a:p>
            </p:txBody>
          </p:sp>
        </mc:Choice>
        <mc:Fallback>
          <p:sp>
            <p:nvSpPr>
              <p:cNvPr id="15" name="Text Box 204"/>
              <p:cNvSpPr txBox="1">
                <a:spLocks noRot="1" noChangeAspect="1" noMove="1" noResize="1" noEditPoints="1" noAdjustHandles="1" noChangeArrowheads="1" noChangeShapeType="1" noTextEdit="1"/>
              </p:cNvSpPr>
              <p:nvPr/>
            </p:nvSpPr>
            <p:spPr bwMode="auto">
              <a:xfrm>
                <a:off x="2199867" y="5806042"/>
                <a:ext cx="4239430" cy="369332"/>
              </a:xfrm>
              <a:prstGeom prst="rect">
                <a:avLst/>
              </a:prstGeom>
              <a:blipFill rotWithShape="1">
                <a:blip r:embed="rId1"/>
                <a:stretch>
                  <a:fillRect l="-5" t="-64" r="9" b="17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Text Box 206"/>
              <p:cNvSpPr txBox="1">
                <a:spLocks noChangeArrowheads="1"/>
              </p:cNvSpPr>
              <p:nvPr/>
            </p:nvSpPr>
            <p:spPr bwMode="auto">
              <a:xfrm>
                <a:off x="6290023" y="5762679"/>
                <a:ext cx="458337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𝑅</m:t>
                      </m:r>
                      <m:r>
                        <a:rPr lang="en-US" altLang="zh-CN" sz="1800" i="1" dirty="0" smtClean="0">
                          <a:latin typeface="Cambria Math" panose="02040503050406030204" pitchFamily="18" charset="0"/>
                        </a:rPr>
                        <m:t>2</m:t>
                      </m:r>
                      <m:r>
                        <a:rPr lang="zh-CN" altLang="en-US" sz="1800" i="1" dirty="0" smtClean="0">
                          <a:latin typeface="Cambria Math" panose="02040503050406030204" pitchFamily="18" charset="0"/>
                        </a:rPr>
                        <m:t>＝</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𝑡</m:t>
                      </m:r>
                      <m:r>
                        <a:rPr lang="en-US" altLang="zh-CN" sz="1800" i="1" dirty="0" smtClean="0">
                          <a:latin typeface="Cambria Math" panose="02040503050406030204" pitchFamily="18" charset="0"/>
                        </a:rPr>
                        <m:t>|(</m:t>
                      </m:r>
                      <m:r>
                        <a:rPr lang="en-US" altLang="zh-CN" sz="1800" b="1" i="1" dirty="0" smtClean="0">
                          <a:latin typeface="Cambria Math" panose="02040503050406030204" pitchFamily="18" charset="0"/>
                        </a:rPr>
                        <m:t>∃</m:t>
                      </m:r>
                      <m:r>
                        <a:rPr lang="en-US" altLang="zh-CN" sz="1800" i="1" dirty="0" smtClean="0">
                          <a:latin typeface="Cambria Math" panose="02040503050406030204" pitchFamily="18" charset="0"/>
                        </a:rPr>
                        <m:t>𝑢</m:t>
                      </m:r>
                      <m:r>
                        <a:rPr lang="en-US" altLang="zh-CN" sz="1800" i="1" dirty="0" smtClean="0">
                          <a:latin typeface="Cambria Math" panose="02040503050406030204" pitchFamily="18" charset="0"/>
                        </a:rPr>
                        <m:t>)(</m:t>
                      </m:r>
                      <m:r>
                        <a:rPr lang="en-US" altLang="zh-CN" sz="1800" b="1" i="1" dirty="0" smtClean="0">
                          <a:latin typeface="Cambria Math" panose="02040503050406030204" pitchFamily="18" charset="0"/>
                        </a:rPr>
                        <m:t>∃</m:t>
                      </m:r>
                      <m:r>
                        <a:rPr lang="en-US" altLang="zh-CN" sz="1800" i="1" dirty="0" smtClean="0">
                          <a:latin typeface="Cambria Math" panose="02040503050406030204" pitchFamily="18" charset="0"/>
                        </a:rPr>
                        <m:t>𝑣</m:t>
                      </m:r>
                      <m:r>
                        <a:rPr lang="en-US" altLang="zh-CN" sz="1800" i="1" dirty="0" smtClean="0">
                          <a:latin typeface="Cambria Math" panose="02040503050406030204" pitchFamily="18" charset="0"/>
                        </a:rPr>
                        <m:t>)( </m:t>
                      </m:r>
                      <m:r>
                        <a:rPr lang="en-US" altLang="zh-CN" sz="1800" i="1" dirty="0" smtClean="0">
                          <a:latin typeface="Cambria Math" panose="02040503050406030204" pitchFamily="18" charset="0"/>
                        </a:rPr>
                        <m:t>𝑅</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𝑢</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𝑆</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𝑣</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𝑢</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2</m:t>
                      </m:r>
                      <m:r>
                        <a:rPr lang="en-US" altLang="zh-CN" sz="1800" i="1" dirty="0" smtClean="0">
                          <a:latin typeface="Cambria Math" panose="02040503050406030204" pitchFamily="18" charset="0"/>
                        </a:rPr>
                        <m:t>]</m:t>
                      </m:r>
                      <m:r>
                        <a:rPr lang="zh-CN" altLang="en-US" sz="1800" i="1" dirty="0" smtClean="0">
                          <a:latin typeface="Cambria Math" panose="02040503050406030204" pitchFamily="18" charset="0"/>
                        </a:rPr>
                        <m:t>＜</m:t>
                      </m:r>
                      <m:r>
                        <a:rPr lang="en-US" altLang="zh-CN" sz="1800" i="1" dirty="0" smtClean="0">
                          <a:latin typeface="Cambria Math" panose="02040503050406030204" pitchFamily="18" charset="0"/>
                        </a:rPr>
                        <m:t>𝑣</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1</m:t>
                      </m:r>
                      <m:r>
                        <a:rPr lang="en-US" altLang="zh-CN" sz="1800" i="1" dirty="0" smtClean="0">
                          <a:latin typeface="Cambria Math" panose="02040503050406030204" pitchFamily="18" charset="0"/>
                        </a:rPr>
                        <m:t>]</m:t>
                      </m:r>
                    </m:oMath>
                  </m:oMathPara>
                </a14:m>
                <a:endParaRPr lang="en-US" altLang="zh-CN" sz="1800" dirty="0">
                  <a:latin typeface="Arial" panose="020B0604020202020204" pitchFamily="34" charset="0"/>
                </a:endParaRPr>
              </a:p>
              <a:p>
                <a:pPr eaLnBrk="1" hangingPunct="1">
                  <a:spcBef>
                    <a:spcPct val="0"/>
                  </a:spcBef>
                  <a:buFontTx/>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 </m:t>
                      </m:r>
                      <m:r>
                        <a:rPr lang="en-US" altLang="zh-CN" sz="1800" i="1" dirty="0" smtClean="0">
                          <a:latin typeface="Cambria Math" panose="02040503050406030204" pitchFamily="18" charset="0"/>
                        </a:rPr>
                        <m:t>𝑡</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1</m:t>
                      </m:r>
                      <m:r>
                        <a:rPr lang="en-US" altLang="zh-CN" sz="1800" i="1" dirty="0" smtClean="0">
                          <a:latin typeface="Cambria Math" panose="02040503050406030204" pitchFamily="18" charset="0"/>
                        </a:rPr>
                        <m:t>]</m:t>
                      </m:r>
                      <m:r>
                        <a:rPr lang="zh-CN" altLang="en-US" sz="1800" i="1" dirty="0" smtClean="0">
                          <a:latin typeface="Cambria Math" panose="02040503050406030204" pitchFamily="18" charset="0"/>
                        </a:rPr>
                        <m:t>＝</m:t>
                      </m:r>
                      <m:r>
                        <a:rPr lang="en-US" altLang="zh-CN" sz="1800" i="1" dirty="0" smtClean="0">
                          <a:latin typeface="Cambria Math" panose="02040503050406030204" pitchFamily="18" charset="0"/>
                        </a:rPr>
                        <m:t>𝑢</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1</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𝑡</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2</m:t>
                      </m:r>
                      <m:r>
                        <a:rPr lang="en-US" altLang="zh-CN" sz="1800" i="1" dirty="0" smtClean="0">
                          <a:latin typeface="Cambria Math" panose="02040503050406030204" pitchFamily="18" charset="0"/>
                        </a:rPr>
                        <m:t>]</m:t>
                      </m:r>
                      <m:r>
                        <a:rPr lang="zh-CN" altLang="en-US" sz="1800" i="1" dirty="0" smtClean="0">
                          <a:latin typeface="Cambria Math" panose="02040503050406030204" pitchFamily="18" charset="0"/>
                        </a:rPr>
                        <m:t>＝</m:t>
                      </m:r>
                      <m:r>
                        <a:rPr lang="en-US" altLang="zh-CN" sz="1800" i="1" dirty="0" smtClean="0">
                          <a:latin typeface="Cambria Math" panose="02040503050406030204" pitchFamily="18" charset="0"/>
                        </a:rPr>
                        <m:t>𝑢</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2</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𝑡</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3</m:t>
                      </m:r>
                      <m:r>
                        <a:rPr lang="en-US" altLang="zh-CN" sz="1800" i="1" dirty="0" smtClean="0">
                          <a:latin typeface="Cambria Math" panose="02040503050406030204" pitchFamily="18" charset="0"/>
                        </a:rPr>
                        <m:t>]</m:t>
                      </m:r>
                      <m:r>
                        <a:rPr lang="zh-CN" altLang="en-US" sz="1800" i="1" dirty="0" smtClean="0">
                          <a:latin typeface="Cambria Math" panose="02040503050406030204" pitchFamily="18" charset="0"/>
                        </a:rPr>
                        <m:t>＝</m:t>
                      </m:r>
                      <m:r>
                        <a:rPr lang="en-US" altLang="zh-CN" sz="1800" i="1" dirty="0" smtClean="0">
                          <a:latin typeface="Cambria Math" panose="02040503050406030204" pitchFamily="18" charset="0"/>
                        </a:rPr>
                        <m:t>𝑣</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2</m:t>
                      </m:r>
                      <m:r>
                        <a:rPr lang="en-US" altLang="zh-CN" sz="1800" i="1" dirty="0" smtClean="0">
                          <a:latin typeface="Cambria Math" panose="02040503050406030204" pitchFamily="18" charset="0"/>
                        </a:rPr>
                        <m:t>])}</m:t>
                      </m:r>
                    </m:oMath>
                  </m:oMathPara>
                </a14:m>
                <a:endParaRPr lang="zh-CN" altLang="en-US" sz="1800" dirty="0">
                  <a:latin typeface="Arial" panose="020B0604020202020204" pitchFamily="34" charset="0"/>
                </a:endParaRPr>
              </a:p>
            </p:txBody>
          </p:sp>
        </mc:Choice>
        <mc:Fallback>
          <p:sp>
            <p:nvSpPr>
              <p:cNvPr id="16" name="Text Box 206"/>
              <p:cNvSpPr txBox="1">
                <a:spLocks noRot="1" noChangeAspect="1" noMove="1" noResize="1" noEditPoints="1" noAdjustHandles="1" noChangeArrowheads="1" noChangeShapeType="1" noTextEdit="1"/>
              </p:cNvSpPr>
              <p:nvPr/>
            </p:nvSpPr>
            <p:spPr bwMode="auto">
              <a:xfrm>
                <a:off x="6290023" y="5762679"/>
                <a:ext cx="4583371" cy="646331"/>
              </a:xfrm>
              <a:prstGeom prst="rect">
                <a:avLst/>
              </a:prstGeom>
              <a:blipFill rotWithShape="1">
                <a:blip r:embed="rId2"/>
                <a:stretch>
                  <a:fillRect l="-8" t="-8" r="6" b="9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元组关系演算</a:t>
                </a:r>
                <a:endParaRPr lang="en-US" altLang="zh-CN" dirty="0"/>
              </a:p>
              <a:p>
                <a:pPr lvl="1"/>
                <a:r>
                  <a:rPr lang="zh-CN" altLang="en-US" dirty="0"/>
                  <a:t>基本关系代数运算的元组关系演算等价表示：</a:t>
                </a:r>
                <a:endParaRPr lang="zh-CN" altLang="en-US" dirty="0"/>
              </a:p>
              <a:p>
                <a:pPr lvl="2"/>
                <a14:m>
                  <m:oMath xmlns:m="http://schemas.openxmlformats.org/officeDocument/2006/math">
                    <m:r>
                      <a:rPr lang="zh-CN" altLang="en-US" i="1" smtClean="0">
                        <a:latin typeface="Cambria Math" panose="02040503050406030204" pitchFamily="18" charset="0"/>
                      </a:rPr>
                      <m:t>∪</m:t>
                    </m:r>
                  </m:oMath>
                </a14:m>
                <a:endParaRPr lang="en-US" altLang="zh-CN" dirty="0"/>
              </a:p>
              <a:p>
                <a:pPr marL="1371600" lvl="3"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𝑅</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𝑡</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𝑡</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𝑡</m:t>
                          </m:r>
                        </m:e>
                      </m:d>
                      <m:r>
                        <a:rPr lang="en-US" altLang="zh-CN" b="0" i="1" smtClean="0">
                          <a:latin typeface="Cambria Math" panose="02040503050406030204" pitchFamily="18" charset="0"/>
                          <a:ea typeface="Cambria Math" panose="02040503050406030204" pitchFamily="18" charset="0"/>
                        </a:rPr>
                        <m:t>}</m:t>
                      </m:r>
                    </m:oMath>
                  </m:oMathPara>
                </a14:m>
                <a:endParaRPr lang="en-US" altLang="zh-CN" dirty="0"/>
              </a:p>
              <a:p>
                <a:pPr lvl="2"/>
                <a14:m>
                  <m:oMath xmlns:m="http://schemas.openxmlformats.org/officeDocument/2006/math">
                    <m:r>
                      <a:rPr lang="en-US" altLang="zh-CN" b="0" i="1" smtClean="0">
                        <a:latin typeface="Cambria Math" panose="02040503050406030204" pitchFamily="18" charset="0"/>
                      </a:rPr>
                      <m:t>−</m:t>
                    </m:r>
                  </m:oMath>
                </a14:m>
                <a:endParaRPr lang="en-US" altLang="zh-CN" b="0" dirty="0"/>
              </a:p>
              <a:p>
                <a:pPr marL="1371600" lvl="3"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𝑅</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i="1" dirty="0" smtClean="0">
                          <a:latin typeface="Lucida Sans Unicode" panose="020B0602030504020204" pitchFamily="34" charset="0"/>
                          <a:ea typeface="黑体" panose="02010609060101010101" pitchFamily="49" charset="-122"/>
                          <a:cs typeface="Lucida Sans Unicode" panose="020B0602030504020204" pitchFamily="34" charset="0"/>
                        </a:rPr>
                        <m:t> </m:t>
                      </m:r>
                      <m:r>
                        <a:rPr lang="en-US" altLang="zh-CN" b="0" i="1" smtClean="0">
                          <a:latin typeface="Cambria Math" panose="02040503050406030204" pitchFamily="18" charset="0"/>
                          <a:ea typeface="Cambria Math" panose="02040503050406030204" pitchFamily="18" charset="0"/>
                        </a:rPr>
                        <m:t>∧</m:t>
                      </m:r>
                      <m:r>
                        <m:rPr>
                          <m:nor/>
                        </m:rPr>
                        <a:rPr lang="en-US" altLang="zh-CN" dirty="0">
                          <a:latin typeface="Lucida Sans Unicode" panose="020B0602030504020204" pitchFamily="34" charset="0"/>
                          <a:ea typeface="黑体" panose="02010609060101010101" pitchFamily="49" charset="-122"/>
                          <a:cs typeface="Lucida Sans Unicode" panose="020B0602030504020204" pitchFamily="34" charset="0"/>
                        </a:rPr>
                        <m:t>┑</m:t>
                      </m:r>
                      <m:r>
                        <m:rPr>
                          <m:nor/>
                        </m:rPr>
                        <a:rPr lang="en-US" altLang="zh-CN" b="0" i="0" dirty="0" smtClean="0">
                          <a:latin typeface="Lucida Sans Unicode" panose="020B0602030504020204" pitchFamily="34" charset="0"/>
                          <a:ea typeface="黑体" panose="02010609060101010101" pitchFamily="49" charset="-122"/>
                          <a:cs typeface="Lucida Sans Unicode" panose="020B0602030504020204" pitchFamily="34" charset="0"/>
                        </a:rPr>
                        <m:t>S</m:t>
                      </m:r>
                      <m:r>
                        <m:rPr>
                          <m:nor/>
                        </m:rPr>
                        <a:rPr lang="en-US" altLang="zh-CN" b="0" i="0" dirty="0" smtClean="0">
                          <a:latin typeface="Lucida Sans Unicode" panose="020B0602030504020204" pitchFamily="34" charset="0"/>
                          <a:ea typeface="黑体" panose="02010609060101010101" pitchFamily="49" charset="-122"/>
                          <a:cs typeface="Lucida Sans Unicode" panose="020B0602030504020204" pitchFamily="34" charset="0"/>
                        </a:rPr>
                        <m:t>(</m:t>
                      </m:r>
                      <m:r>
                        <m:rPr>
                          <m:nor/>
                        </m:rPr>
                        <a:rPr lang="en-US" altLang="zh-CN" b="0" i="0" dirty="0" smtClean="0">
                          <a:latin typeface="Lucida Sans Unicode" panose="020B0602030504020204" pitchFamily="34" charset="0"/>
                          <a:ea typeface="黑体" panose="02010609060101010101" pitchFamily="49" charset="-122"/>
                          <a:cs typeface="Lucida Sans Unicode" panose="020B0602030504020204" pitchFamily="34" charset="0"/>
                        </a:rPr>
                        <m:t>t</m:t>
                      </m:r>
                      <m:r>
                        <m:rPr>
                          <m:nor/>
                        </m:rPr>
                        <a:rPr lang="en-US" altLang="zh-CN" b="0" i="0" dirty="0" smtClean="0">
                          <a:latin typeface="Lucida Sans Unicode" panose="020B0602030504020204" pitchFamily="34" charset="0"/>
                          <a:ea typeface="黑体" panose="02010609060101010101" pitchFamily="49" charset="-122"/>
                          <a:cs typeface="Lucida Sans Unicode" panose="020B0602030504020204" pitchFamily="34" charset="0"/>
                        </a:rPr>
                        <m:t>)}</m:t>
                      </m:r>
                    </m:oMath>
                  </m:oMathPara>
                </a14:m>
                <a:endParaRPr lang="en-US" altLang="zh-CN" dirty="0"/>
              </a:p>
              <a:p>
                <a:pPr lvl="2"/>
                <a14:m>
                  <m:oMath xmlns:m="http://schemas.openxmlformats.org/officeDocument/2006/math">
                    <m:r>
                      <a:rPr lang="en-US" altLang="zh-CN" b="0" i="1" smtClean="0">
                        <a:latin typeface="Cambria Math" panose="02040503050406030204" pitchFamily="18" charset="0"/>
                      </a:rPr>
                      <m:t>×</m:t>
                    </m:r>
                  </m:oMath>
                </a14:m>
                <a:endParaRPr lang="en-US" altLang="zh-CN" b="0" dirty="0"/>
              </a:p>
              <a:p>
                <a:pPr marL="1371600" lvl="3"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𝑅</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𝑡</m:t>
                          </m:r>
                        </m:e>
                        <m:sup>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𝑚</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e>
                          </m:d>
                        </m:sup>
                      </m:sSup>
                      <m:r>
                        <a:rPr lang="en-US" altLang="zh-CN" b="0" i="1" smtClean="0">
                          <a:latin typeface="Cambria Math" panose="02040503050406030204" pitchFamily="18" charset="0"/>
                        </a:rPr>
                        <m:t>|</m:t>
                      </m:r>
                      <m:r>
                        <m:rPr>
                          <m:nor/>
                        </m:rPr>
                        <a:rPr lang="en-US" altLang="zh-CN" b="0" i="0" smtClean="0">
                          <a:latin typeface="Cambria Math" panose="02040503050406030204" pitchFamily="18" charset="0"/>
                        </a:rPr>
                        <m:t>(</m:t>
                      </m:r>
                      <m:r>
                        <m:rPr>
                          <m:nor/>
                        </m:rPr>
                        <a:rPr lang="en-US" altLang="en-US" dirty="0" smtClean="0">
                          <a:latin typeface="Cambria Math" panose="02040503050406030204" pitchFamily="18" charset="0"/>
                        </a:rPr>
                        <m:t>∃</m:t>
                      </m:r>
                      <m:sSup>
                        <m:sSupPr>
                          <m:ctrlPr>
                            <a:rPr lang="en-US" altLang="en-US" i="1" dirty="0" smtClean="0">
                              <a:latin typeface="Cambria Math" panose="02040503050406030204" pitchFamily="18" charset="0"/>
                            </a:rPr>
                          </m:ctrlPr>
                        </m:sSupPr>
                        <m:e>
                          <m:r>
                            <a:rPr lang="en-US" altLang="en-US" b="0" i="1" dirty="0" smtClean="0">
                              <a:latin typeface="Cambria Math" panose="02040503050406030204" pitchFamily="18" charset="0"/>
                            </a:rPr>
                            <m:t>𝑢</m:t>
                          </m:r>
                        </m:e>
                        <m:sup>
                          <m:d>
                            <m:dPr>
                              <m:ctrlPr>
                                <a:rPr lang="en-US" altLang="en-US" b="0" i="1" dirty="0" smtClean="0">
                                  <a:latin typeface="Cambria Math" panose="02040503050406030204" pitchFamily="18" charset="0"/>
                                </a:rPr>
                              </m:ctrlPr>
                            </m:dPr>
                            <m:e>
                              <m:r>
                                <a:rPr lang="en-US" altLang="en-US" b="0" i="1" dirty="0" smtClean="0">
                                  <a:latin typeface="Cambria Math" panose="02040503050406030204" pitchFamily="18" charset="0"/>
                                </a:rPr>
                                <m:t>𝑚</m:t>
                              </m:r>
                            </m:e>
                          </m:d>
                        </m:sup>
                      </m:sSup>
                      <m:r>
                        <a:rPr lang="en-US" altLang="en-US" b="0" i="1" dirty="0" smtClean="0">
                          <a:latin typeface="Cambria Math" panose="02040503050406030204" pitchFamily="18" charset="0"/>
                        </a:rPr>
                        <m:t>)(</m:t>
                      </m:r>
                      <m:r>
                        <m:rPr>
                          <m:nor/>
                        </m:rPr>
                        <a:rPr lang="en-US" altLang="en-US" dirty="0">
                          <a:latin typeface="Cambria Math" panose="02040503050406030204" pitchFamily="18" charset="0"/>
                        </a:rPr>
                        <m:t>∃</m:t>
                      </m:r>
                      <m:sSup>
                        <m:sSupPr>
                          <m:ctrlPr>
                            <a:rPr lang="en-US" altLang="en-US" i="1" dirty="0" smtClean="0">
                              <a:latin typeface="Cambria Math" panose="02040503050406030204" pitchFamily="18" charset="0"/>
                            </a:rPr>
                          </m:ctrlPr>
                        </m:sSupPr>
                        <m:e>
                          <m:r>
                            <a:rPr lang="en-US" altLang="en-US" b="0" i="1" dirty="0" smtClean="0">
                              <a:latin typeface="Cambria Math" panose="02040503050406030204" pitchFamily="18" charset="0"/>
                            </a:rPr>
                            <m:t>𝑢</m:t>
                          </m:r>
                        </m:e>
                        <m:sup>
                          <m:d>
                            <m:dPr>
                              <m:ctrlPr>
                                <a:rPr lang="en-US" altLang="en-US" b="0" i="1" dirty="0" smtClean="0">
                                  <a:latin typeface="Cambria Math" panose="02040503050406030204" pitchFamily="18" charset="0"/>
                                </a:rPr>
                              </m:ctrlPr>
                            </m:dPr>
                            <m:e>
                              <m:r>
                                <a:rPr lang="en-US" altLang="en-US" b="0" i="1" dirty="0" smtClean="0">
                                  <a:latin typeface="Cambria Math" panose="02040503050406030204" pitchFamily="18" charset="0"/>
                                </a:rPr>
                                <m:t>𝑛</m:t>
                              </m:r>
                            </m:e>
                          </m:d>
                        </m:sup>
                      </m:sSup>
                      <m:r>
                        <a:rPr lang="en-US" altLang="en-US" b="0" i="1" dirty="0" smtClean="0">
                          <a:latin typeface="Cambria Math" panose="02040503050406030204" pitchFamily="18" charset="0"/>
                        </a:rPr>
                        <m:t>)(</m:t>
                      </m:r>
                      <m:r>
                        <a:rPr lang="en-US" altLang="en-US" b="0" i="1" dirty="0" smtClean="0">
                          <a:latin typeface="Cambria Math" panose="02040503050406030204" pitchFamily="18" charset="0"/>
                        </a:rPr>
                        <m:t>𝑅</m:t>
                      </m:r>
                      <m:d>
                        <m:dPr>
                          <m:ctrlPr>
                            <a:rPr lang="en-US" altLang="en-US" b="0" i="1" dirty="0" smtClean="0">
                              <a:latin typeface="Cambria Math" panose="02040503050406030204" pitchFamily="18" charset="0"/>
                            </a:rPr>
                          </m:ctrlPr>
                        </m:dPr>
                        <m:e>
                          <m:r>
                            <a:rPr lang="en-US" altLang="en-US" b="0" i="1" dirty="0" smtClean="0">
                              <a:latin typeface="Cambria Math" panose="02040503050406030204" pitchFamily="18" charset="0"/>
                            </a:rPr>
                            <m:t>𝑢</m:t>
                          </m:r>
                        </m:e>
                      </m:d>
                      <m:r>
                        <a:rPr lang="en-US" altLang="en-US" b="0" i="1" dirty="0" smtClean="0">
                          <a:latin typeface="Cambria Math" panose="02040503050406030204" pitchFamily="18" charset="0"/>
                          <a:ea typeface="Cambria Math" panose="02040503050406030204" pitchFamily="18" charset="0"/>
                        </a:rPr>
                        <m:t>∧</m:t>
                      </m:r>
                      <m:r>
                        <a:rPr lang="en-US" altLang="en-US" b="0" i="1" dirty="0" smtClean="0">
                          <a:latin typeface="Cambria Math" panose="02040503050406030204" pitchFamily="18" charset="0"/>
                          <a:ea typeface="Cambria Math" panose="02040503050406030204" pitchFamily="18" charset="0"/>
                        </a:rPr>
                        <m:t>𝑆</m:t>
                      </m:r>
                      <m:d>
                        <m:dPr>
                          <m:ctrlPr>
                            <a:rPr lang="en-US" altLang="en-US" b="0" i="1" dirty="0" smtClean="0">
                              <a:latin typeface="Cambria Math" panose="02040503050406030204" pitchFamily="18" charset="0"/>
                              <a:ea typeface="Cambria Math" panose="02040503050406030204" pitchFamily="18" charset="0"/>
                            </a:rPr>
                          </m:ctrlPr>
                        </m:dPr>
                        <m:e>
                          <m:r>
                            <a:rPr lang="en-US" altLang="en-US" b="0" i="1" dirty="0" smtClean="0">
                              <a:latin typeface="Cambria Math" panose="02040503050406030204" pitchFamily="18" charset="0"/>
                              <a:ea typeface="Cambria Math" panose="02040503050406030204" pitchFamily="18" charset="0"/>
                            </a:rPr>
                            <m:t>𝑣</m:t>
                          </m:r>
                        </m:e>
                      </m:d>
                      <m:r>
                        <a:rPr lang="en-US" altLang="en-US" b="0" i="1" dirty="0" smtClean="0">
                          <a:latin typeface="Cambria Math" panose="02040503050406030204" pitchFamily="18" charset="0"/>
                          <a:ea typeface="Cambria Math" panose="02040503050406030204" pitchFamily="18" charset="0"/>
                        </a:rPr>
                        <m:t>∧</m:t>
                      </m:r>
                      <m:r>
                        <a:rPr lang="en-US" altLang="en-US" b="0" i="1" dirty="0" smtClean="0">
                          <a:latin typeface="Cambria Math" panose="02040503050406030204" pitchFamily="18" charset="0"/>
                          <a:ea typeface="Cambria Math" panose="02040503050406030204" pitchFamily="18" charset="0"/>
                        </a:rPr>
                        <m:t>𝑡</m:t>
                      </m:r>
                      <m:d>
                        <m:dPr>
                          <m:begChr m:val="["/>
                          <m:endChr m:val="]"/>
                          <m:ctrlPr>
                            <a:rPr lang="en-US" altLang="en-US" b="0" i="1" dirty="0" smtClean="0">
                              <a:latin typeface="Cambria Math" panose="02040503050406030204" pitchFamily="18" charset="0"/>
                              <a:ea typeface="Cambria Math" panose="02040503050406030204" pitchFamily="18" charset="0"/>
                            </a:rPr>
                          </m:ctrlPr>
                        </m:dPr>
                        <m:e>
                          <m:r>
                            <a:rPr lang="en-US" altLang="en-US" b="0" i="1" dirty="0" smtClean="0">
                              <a:latin typeface="Cambria Math" panose="02040503050406030204" pitchFamily="18" charset="0"/>
                              <a:ea typeface="Cambria Math" panose="02040503050406030204" pitchFamily="18" charset="0"/>
                            </a:rPr>
                            <m:t>1</m:t>
                          </m:r>
                        </m:e>
                      </m:d>
                      <m:r>
                        <a:rPr lang="en-US" altLang="en-US" b="0" i="1" dirty="0" smtClean="0">
                          <a:latin typeface="Cambria Math" panose="02040503050406030204" pitchFamily="18" charset="0"/>
                          <a:ea typeface="Cambria Math" panose="02040503050406030204" pitchFamily="18" charset="0"/>
                        </a:rPr>
                        <m:t>=</m:t>
                      </m:r>
                    </m:oMath>
                  </m:oMathPara>
                </a14:m>
                <a:endParaRPr lang="en-US" altLang="zh-CN" dirty="0"/>
              </a:p>
              <a:p>
                <a:pPr marL="1371600" lvl="3"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𝑢</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𝑡</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𝑚</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𝑢</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𝑚</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𝑡</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𝑚</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𝑣</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1</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𝑡</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𝑚</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𝑛</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𝑢</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m:t>
                      </m:r>
                    </m:oMath>
                  </m:oMathPara>
                </a14:m>
                <a:endParaRPr lang="en-US" altLang="zh-CN" dirty="0"/>
              </a:p>
              <a:p>
                <a:pPr marL="1371600" lvl="3" indent="0">
                  <a:buNone/>
                </a:pPr>
                <a:r>
                  <a:rPr lang="en-US" altLang="zh-CN" dirty="0"/>
                  <a:t>		</a:t>
                </a:r>
                <a:r>
                  <a:rPr lang="zh-CN" altLang="en-US" dirty="0"/>
                  <a:t>其中</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𝑡</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sup>
                    </m:sSup>
                  </m:oMath>
                </a14:m>
                <a:r>
                  <a:rPr lang="zh-CN" altLang="en-US" dirty="0"/>
                  <a:t>表示</a:t>
                </a:r>
                <a14:m>
                  <m:oMath xmlns:m="http://schemas.openxmlformats.org/officeDocument/2006/math">
                    <m:r>
                      <a:rPr lang="en-US" altLang="zh-CN" i="1" dirty="0" smtClean="0">
                        <a:latin typeface="Cambria Math" panose="02040503050406030204" pitchFamily="18" charset="0"/>
                      </a:rPr>
                      <m:t>𝑡</m:t>
                    </m:r>
                  </m:oMath>
                </a14:m>
                <a:r>
                  <a:rPr lang="zh-CN" altLang="en-US" dirty="0"/>
                  <a:t>是</a:t>
                </a:r>
                <a14:m>
                  <m:oMath xmlns:m="http://schemas.openxmlformats.org/officeDocument/2006/math">
                    <m:r>
                      <a:rPr lang="en-US" altLang="zh-CN" i="1" dirty="0" smtClean="0">
                        <a:latin typeface="Cambria Math" panose="02040503050406030204" pitchFamily="18" charset="0"/>
                      </a:rPr>
                      <m:t>𝑚</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𝑛</m:t>
                    </m:r>
                  </m:oMath>
                </a14:m>
                <a:r>
                  <a:rPr lang="zh-CN" altLang="en-US" dirty="0"/>
                  <a:t>元关系的元组。</a:t>
                </a:r>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2.3 </a:t>
            </a:r>
            <a:r>
              <a:rPr lang="zh-CN" altLang="en-US" dirty="0"/>
              <a:t>关系演算</a:t>
            </a: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元组关系演算</a:t>
                </a:r>
                <a:endParaRPr lang="en-US" altLang="zh-CN" dirty="0"/>
              </a:p>
              <a:p>
                <a:pPr lvl="1"/>
                <a:r>
                  <a:rPr lang="zh-CN" altLang="en-US" dirty="0"/>
                  <a:t>基本关系代数运算的元组关系演算等价表示：</a:t>
                </a:r>
                <a:endParaRPr lang="zh-CN" altLang="en-US" dirty="0"/>
              </a:p>
              <a:p>
                <a:pPr lvl="2"/>
                <a14:m>
                  <m:oMath xmlns:m="http://schemas.openxmlformats.org/officeDocument/2006/math">
                    <m:r>
                      <a:rPr lang="en-US" altLang="zh-CN" b="0" i="1" smtClean="0">
                        <a:latin typeface="Cambria Math" panose="02040503050406030204" pitchFamily="18" charset="0"/>
                      </a:rPr>
                      <m:t>𝜎</m:t>
                    </m:r>
                  </m:oMath>
                </a14:m>
                <a:endParaRPr lang="en-US" altLang="zh-CN" dirty="0"/>
              </a:p>
              <a:p>
                <a:pPr lvl="3"/>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𝐹</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𝐹</m:t>
                        </m:r>
                      </m:e>
                      <m:sup>
                        <m:r>
                          <a:rPr lang="en-US" altLang="zh-CN" b="0" i="1" smtClean="0">
                            <a:latin typeface="Cambria Math" panose="02040503050406030204" pitchFamily="18" charset="0"/>
                            <a:ea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m:t>
                    </m:r>
                  </m:oMath>
                </a14:m>
                <a:r>
                  <a:rPr lang="zh-CN" altLang="en-US" dirty="0"/>
                  <a:t> ，其中</a:t>
                </a:r>
                <a14:m>
                  <m:oMath xmlns:m="http://schemas.openxmlformats.org/officeDocument/2006/math">
                    <m:r>
                      <a:rPr lang="en-US" altLang="zh-CN" b="0" i="1" smtClean="0">
                        <a:latin typeface="Cambria Math" panose="02040503050406030204" pitchFamily="18" charset="0"/>
                      </a:rPr>
                      <m:t>𝐹</m:t>
                    </m:r>
                    <m:r>
                      <a:rPr lang="en-US" altLang="zh-CN" b="0" i="1" smtClean="0">
                        <a:latin typeface="Cambria Math" panose="02040503050406030204" pitchFamily="18" charset="0"/>
                      </a:rPr>
                      <m:t>′</m:t>
                    </m:r>
                  </m:oMath>
                </a14:m>
                <a:r>
                  <a:rPr lang="zh-CN" altLang="en-US" dirty="0"/>
                  <a:t>是选择条件</a:t>
                </a:r>
                <a14:m>
                  <m:oMath xmlns:m="http://schemas.openxmlformats.org/officeDocument/2006/math">
                    <m:r>
                      <a:rPr lang="en-US" altLang="zh-CN" i="1" dirty="0" smtClean="0">
                        <a:latin typeface="Cambria Math" panose="02040503050406030204" pitchFamily="18" charset="0"/>
                      </a:rPr>
                      <m:t>𝐹</m:t>
                    </m:r>
                  </m:oMath>
                </a14:m>
                <a:r>
                  <a:rPr lang="zh-CN" altLang="en-US" dirty="0"/>
                  <a:t>在元组关系演算中的等价表示。</a:t>
                </a:r>
                <a:endParaRPr lang="en-US" altLang="zh-CN" dirty="0"/>
              </a:p>
              <a:p>
                <a:pPr lvl="2"/>
                <a14:m>
                  <m:oMath xmlns:m="http://schemas.openxmlformats.org/officeDocument/2006/math">
                    <m:r>
                      <a:rPr lang="en-US" altLang="zh-CN" b="0" i="1" smtClean="0">
                        <a:latin typeface="Cambria Math" panose="02040503050406030204" pitchFamily="18" charset="0"/>
                      </a:rPr>
                      <m:t>𝜋</m:t>
                    </m:r>
                  </m:oMath>
                </a14:m>
                <a:endParaRPr lang="en-US" altLang="zh-CN" dirty="0"/>
              </a:p>
              <a:p>
                <a:pPr marL="1371600" lvl="3"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2</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𝑖𝑘</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𝑡</m:t>
                          </m:r>
                        </m:e>
                        <m:sup>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𝑘</m:t>
                              </m:r>
                            </m:e>
                          </m:d>
                        </m:sup>
                      </m:sSup>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𝑢</m:t>
                          </m:r>
                        </m:e>
                      </m:d>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𝑅</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𝑢</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𝑡</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1</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𝑢</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1</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𝑡</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𝑘</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𝑢</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𝑖𝑘</m:t>
                              </m:r>
                            </m:e>
                          </m:d>
                        </m:e>
                      </m:d>
                      <m:r>
                        <a:rPr lang="en-US" altLang="zh-CN" b="0" i="1"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2.3 </a:t>
            </a:r>
            <a:r>
              <a:rPr lang="zh-CN" altLang="en-US" dirty="0"/>
              <a:t>关系演算</a:t>
            </a:r>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元组关系演算</a:t>
                </a:r>
                <a:endParaRPr lang="en-US" altLang="zh-CN" dirty="0"/>
              </a:p>
              <a:p>
                <a:pPr lvl="1"/>
                <a:r>
                  <a:rPr lang="zh-CN" altLang="en-US" dirty="0"/>
                  <a:t>不产生</a:t>
                </a:r>
                <a:r>
                  <a:rPr lang="zh-CN" altLang="en-US" dirty="0">
                    <a:solidFill>
                      <a:srgbClr val="C00000"/>
                    </a:solidFill>
                  </a:rPr>
                  <a:t>无限关系</a:t>
                </a:r>
                <a:r>
                  <a:rPr lang="zh-CN" altLang="en-US" dirty="0"/>
                  <a:t>和</a:t>
                </a:r>
                <a:r>
                  <a:rPr lang="zh-CN" altLang="en-US" dirty="0">
                    <a:solidFill>
                      <a:srgbClr val="C00000"/>
                    </a:solidFill>
                  </a:rPr>
                  <a:t>无穷验证</a:t>
                </a:r>
                <a:r>
                  <a:rPr lang="zh-CN" altLang="en-US" dirty="0"/>
                  <a:t>的表达式称为安全表达式，为了保证运算的安全性而采取的限制措施称为安全约束</a:t>
                </a:r>
                <a:endParaRPr lang="zh-CN" altLang="en-US" dirty="0"/>
              </a:p>
              <a:p>
                <a:pPr lvl="2"/>
                <a:r>
                  <a:rPr lang="zh-CN" altLang="en-US" dirty="0"/>
                  <a:t>不安全表达式</a:t>
                </a:r>
                <a:endParaRPr lang="en-US" altLang="zh-CN" dirty="0"/>
              </a:p>
              <a:p>
                <a:pPr marL="1371600" lvl="3"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𝐸𝑚𝑝𝑙𝑜𝑦𝑒𝑒</m:t>
                          </m:r>
                        </m:e>
                      </m:d>
                      <m:r>
                        <a:rPr lang="en-US" altLang="zh-CN" b="0" i="1" smtClean="0">
                          <a:latin typeface="Cambria Math" panose="02040503050406030204" pitchFamily="18" charset="0"/>
                        </a:rPr>
                        <m:t>}</m:t>
                      </m:r>
                    </m:oMath>
                  </m:oMathPara>
                </a14:m>
                <a:endParaRPr lang="en-US" altLang="zh-CN" dirty="0"/>
              </a:p>
              <a:p>
                <a:pPr lvl="3"/>
                <a:r>
                  <a:rPr lang="zh-CN" altLang="en-US" dirty="0"/>
                  <a:t>问题：若未限定域，结果可能是所有不属于 </a:t>
                </a:r>
                <a:r>
                  <a:rPr lang="en-US" altLang="zh-CN" dirty="0"/>
                  <a:t>Employee </a:t>
                </a:r>
                <a:r>
                  <a:rPr lang="zh-CN" altLang="en-US" dirty="0"/>
                  <a:t>的元组，导致无限结果。</a:t>
                </a:r>
                <a:endParaRPr lang="zh-CN" altLang="en-US" dirty="0"/>
              </a:p>
              <a:p>
                <a:pPr lvl="2"/>
                <a:r>
                  <a:rPr lang="zh-CN" altLang="en-US" dirty="0"/>
                  <a:t>安全表达式</a:t>
                </a:r>
                <a:endParaRPr lang="en-US" altLang="zh-CN" dirty="0"/>
              </a:p>
              <a:p>
                <a:pPr marL="1371600" lvl="3"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𝐸𝑚𝑝𝑙𝑜𝑦𝑒𝑒</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𝑡</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𝑠𝑎𝑙𝑎𝑟𝑦</m:t>
                      </m:r>
                      <m:r>
                        <a:rPr lang="en-US" altLang="zh-CN" b="0" i="1" smtClean="0">
                          <a:latin typeface="Cambria Math" panose="02040503050406030204" pitchFamily="18" charset="0"/>
                          <a:ea typeface="Cambria Math" panose="02040503050406030204" pitchFamily="18" charset="0"/>
                        </a:rPr>
                        <m:t>&gt;</m:t>
                      </m:r>
                      <m:r>
                        <a:rPr lang="en-US" altLang="zh-CN" b="0" i="1" smtClean="0">
                          <a:latin typeface="Cambria Math" panose="02040503050406030204" pitchFamily="18" charset="0"/>
                          <a:ea typeface="Cambria Math" panose="02040503050406030204" pitchFamily="18" charset="0"/>
                        </a:rPr>
                        <m:t>5000</m:t>
                      </m:r>
                      <m:r>
                        <a:rPr lang="en-US" altLang="zh-CN" b="0" i="1" smtClean="0">
                          <a:latin typeface="Cambria Math" panose="02040503050406030204" pitchFamily="18" charset="0"/>
                          <a:ea typeface="Cambria Math" panose="02040503050406030204" pitchFamily="18" charset="0"/>
                        </a:rPr>
                        <m:t>}</m:t>
                      </m:r>
                    </m:oMath>
                  </m:oMathPara>
                </a14:m>
                <a:endParaRPr lang="en-US" altLang="zh-CN" dirty="0"/>
              </a:p>
              <a:p>
                <a:pPr lvl="3"/>
                <a:r>
                  <a:rPr lang="zh-CN" altLang="en-US" dirty="0"/>
                  <a:t>原因：</a:t>
                </a:r>
                <a:r>
                  <a:rPr lang="en-US" altLang="zh-CN" dirty="0"/>
                  <a:t>t </a:t>
                </a:r>
                <a:r>
                  <a:rPr lang="zh-CN" altLang="en-US" dirty="0"/>
                  <a:t>被显式限制在有限的 </a:t>
                </a:r>
                <a:r>
                  <a:rPr lang="en-US" altLang="zh-CN" dirty="0"/>
                  <a:t>Employee </a:t>
                </a:r>
                <a:r>
                  <a:rPr lang="zh-CN" altLang="en-US" dirty="0"/>
                  <a:t>关系中。</a:t>
                </a:r>
                <a:endParaRPr lang="en-US" altLang="zh-CN" dirty="0"/>
              </a:p>
              <a:p>
                <a:pPr marL="1371600" lvl="3"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𝑠</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𝑆𝑡𝑢𝑑𝑒𝑛𝑡</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𝑠</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𝑔𝑟𝑎𝑑𝑒</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m:t>
                          </m:r>
                        </m:e>
                        <m:sup>
                          <m:r>
                            <a:rPr lang="en-US" altLang="zh-CN" b="0" i="1" smtClean="0">
                              <a:latin typeface="Cambria Math" panose="02040503050406030204" pitchFamily="18" charset="0"/>
                              <a:ea typeface="Cambria Math" panose="02040503050406030204" pitchFamily="18" charset="0"/>
                            </a:rPr>
                            <m:t>′</m:t>
                          </m:r>
                        </m:sup>
                      </m:sSup>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𝐴</m:t>
                          </m:r>
                        </m:e>
                        <m:sup>
                          <m:r>
                            <a:rPr lang="en-US" altLang="zh-CN" b="0" i="1" smtClean="0">
                              <a:latin typeface="Cambria Math" panose="02040503050406030204" pitchFamily="18" charset="0"/>
                              <a:ea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𝑡</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𝑛𝑎𝑚𝑒</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𝑠</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𝑛𝑎𝑚𝑒</m:t>
                      </m:r>
                      <m:r>
                        <a:rPr lang="en-US" altLang="zh-CN" b="0" i="1" smtClean="0">
                          <a:latin typeface="Cambria Math" panose="02040503050406030204" pitchFamily="18" charset="0"/>
                          <a:ea typeface="Cambria Math" panose="02040503050406030204" pitchFamily="18" charset="0"/>
                        </a:rPr>
                        <m:t>)}</m:t>
                      </m:r>
                    </m:oMath>
                  </m:oMathPara>
                </a14:m>
                <a:endParaRPr lang="zh-CN" altLang="en-US" dirty="0"/>
              </a:p>
              <a:p>
                <a:pPr lvl="3"/>
                <a:r>
                  <a:rPr lang="zh-CN" altLang="en-US" dirty="0"/>
                  <a:t>原因：存在量词 ∃</a:t>
                </a:r>
                <a:r>
                  <a:rPr lang="en-US" altLang="zh-CN" dirty="0"/>
                  <a:t>s </a:t>
                </a:r>
                <a:r>
                  <a:rPr lang="zh-CN" altLang="en-US" dirty="0"/>
                  <a:t>被限定在 </a:t>
                </a:r>
                <a:r>
                  <a:rPr lang="en-US" altLang="zh-CN" dirty="0"/>
                  <a:t>Student </a:t>
                </a:r>
                <a:r>
                  <a:rPr lang="zh-CN" altLang="en-US" dirty="0"/>
                  <a:t>关系中，结果仅涉及有限元组。</a:t>
                </a:r>
                <a:endParaRPr lang="zh-CN" altLang="en-US" dirty="0"/>
              </a:p>
              <a:p>
                <a:pPr lvl="3"/>
                <a:endParaRPr lang="zh-CN" altLang="en-US" dirty="0"/>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7768"/>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2.3 </a:t>
            </a:r>
            <a:r>
              <a:rPr lang="zh-CN" altLang="en-US" dirty="0"/>
              <a:t>关系演算</a:t>
            </a:r>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元组关系演算</a:t>
                </a:r>
                <a:endParaRPr lang="en-US" altLang="zh-CN" dirty="0"/>
              </a:p>
              <a:p>
                <a:pPr lvl="1"/>
                <a:r>
                  <a:rPr lang="zh-CN" altLang="en-US" dirty="0"/>
                  <a:t>不产生</a:t>
                </a:r>
                <a:r>
                  <a:rPr lang="zh-CN" altLang="en-US" dirty="0">
                    <a:solidFill>
                      <a:srgbClr val="C00000"/>
                    </a:solidFill>
                  </a:rPr>
                  <a:t>无限关系</a:t>
                </a:r>
                <a:r>
                  <a:rPr lang="zh-CN" altLang="en-US" dirty="0"/>
                  <a:t>和</a:t>
                </a:r>
                <a:r>
                  <a:rPr lang="zh-CN" altLang="en-US" dirty="0">
                    <a:solidFill>
                      <a:srgbClr val="C00000"/>
                    </a:solidFill>
                  </a:rPr>
                  <a:t>无穷验证</a:t>
                </a:r>
                <a:r>
                  <a:rPr lang="zh-CN" altLang="en-US" dirty="0"/>
                  <a:t>的表达式称为安全表达式，为了保证运算的安全性而采取的限制措施称为安全约束</a:t>
                </a:r>
                <a:endParaRPr lang="en-US" altLang="zh-CN" dirty="0"/>
              </a:p>
              <a:p>
                <a:pPr lvl="2"/>
                <a:r>
                  <a:rPr lang="zh-CN" altLang="en-US" dirty="0"/>
                  <a:t>安全约束有限集合</a:t>
                </a:r>
                <a:r>
                  <a:rPr lang="en-US" altLang="zh-CN" dirty="0"/>
                  <a:t>DOM</a:t>
                </a:r>
                <a:endParaRPr lang="en-US" altLang="zh-CN" dirty="0"/>
              </a:p>
              <a:p>
                <a:pPr lvl="3"/>
                <a14:m>
                  <m:oMath xmlns:m="http://schemas.openxmlformats.org/officeDocument/2006/math">
                    <m:r>
                      <a:rPr lang="en-US" altLang="zh-CN" b="0" i="1" smtClean="0">
                        <a:latin typeface="Cambria Math" panose="02040503050406030204" pitchFamily="18" charset="0"/>
                      </a:rPr>
                      <m:t>𝐷𝑂𝑀</m:t>
                    </m:r>
                    <m:r>
                      <a:rPr lang="en-US" altLang="zh-CN" b="0" i="1" smtClean="0">
                        <a:latin typeface="Cambria Math" panose="02040503050406030204" pitchFamily="18" charset="0"/>
                      </a:rPr>
                      <m:t>(</m:t>
                    </m:r>
                    <m:r>
                      <m:rPr>
                        <m:sty m:val="p"/>
                      </m:rPr>
                      <a:rPr lang="el-GR" altLang="zh-CN" b="0" i="1" smtClean="0">
                        <a:latin typeface="Cambria Math" panose="02040503050406030204" pitchFamily="18" charset="0"/>
                        <a:ea typeface="Cambria Math" panose="02040503050406030204" pitchFamily="18" charset="0"/>
                      </a:rPr>
                      <m:t>Ψ</m:t>
                    </m:r>
                    <m:r>
                      <a:rPr lang="en-US" altLang="zh-CN" b="0" i="1" smtClean="0">
                        <a:latin typeface="Cambria Math" panose="02040503050406030204" pitchFamily="18" charset="0"/>
                        <a:ea typeface="Cambria Math" panose="02040503050406030204" pitchFamily="18" charset="0"/>
                      </a:rPr>
                      <m:t>)</m:t>
                    </m:r>
                  </m:oMath>
                </a14:m>
                <a:r>
                  <a:rPr lang="zh-CN" altLang="en-US" dirty="0"/>
                  <a:t>是一个有限集合，其中的每个符号要么是</a:t>
                </a:r>
                <a14:m>
                  <m:oMath xmlns:m="http://schemas.openxmlformats.org/officeDocument/2006/math">
                    <m:r>
                      <m:rPr>
                        <m:sty m:val="p"/>
                      </m:rPr>
                      <a:rPr lang="el-GR" altLang="zh-CN" i="1">
                        <a:latin typeface="Cambria Math" panose="02040503050406030204" pitchFamily="18" charset="0"/>
                        <a:ea typeface="Cambria Math" panose="02040503050406030204" pitchFamily="18" charset="0"/>
                      </a:rPr>
                      <m:t>Ψ</m:t>
                    </m:r>
                  </m:oMath>
                </a14:m>
                <a:r>
                  <a:rPr lang="zh-CN" altLang="en-US" dirty="0"/>
                  <a:t>中明显出现的符号，要么是出现在</a:t>
                </a:r>
                <a14:m>
                  <m:oMath xmlns:m="http://schemas.openxmlformats.org/officeDocument/2006/math">
                    <m:r>
                      <m:rPr>
                        <m:sty m:val="p"/>
                      </m:rPr>
                      <a:rPr lang="el-GR" altLang="zh-CN" i="1">
                        <a:latin typeface="Cambria Math" panose="02040503050406030204" pitchFamily="18" charset="0"/>
                        <a:ea typeface="Cambria Math" panose="02040503050406030204" pitchFamily="18" charset="0"/>
                      </a:rPr>
                      <m:t>Ψ</m:t>
                    </m:r>
                  </m:oMath>
                </a14:m>
                <a:r>
                  <a:rPr lang="zh-CN" altLang="en-US" dirty="0"/>
                  <a:t>中的某个关系</a:t>
                </a:r>
                <a:r>
                  <a:rPr lang="en-US" altLang="zh-CN" dirty="0"/>
                  <a:t>R</a:t>
                </a:r>
                <a:r>
                  <a:rPr lang="zh-CN" altLang="en-US" dirty="0"/>
                  <a:t>的某元组的分量。 </a:t>
                </a:r>
                <a:endParaRPr lang="zh-CN" altLang="en-US" dirty="0"/>
              </a:p>
              <a:p>
                <a:pPr lvl="3"/>
                <a14:m>
                  <m:oMath xmlns:m="http://schemas.openxmlformats.org/officeDocument/2006/math">
                    <m:r>
                      <a:rPr lang="en-US" altLang="zh-CN" i="1" dirty="0" smtClean="0">
                        <a:latin typeface="Cambria Math" panose="02040503050406030204" pitchFamily="18" charset="0"/>
                      </a:rPr>
                      <m:t>𝐷𝑂𝑀</m:t>
                    </m:r>
                  </m:oMath>
                </a14:m>
                <a:r>
                  <a:rPr lang="zh-CN" altLang="en-US" dirty="0"/>
                  <a:t>主要用于约束</a:t>
                </a:r>
                <a14:m>
                  <m:oMath xmlns:m="http://schemas.openxmlformats.org/officeDocument/2006/math">
                    <m:r>
                      <m:rPr>
                        <m:sty m:val="p"/>
                      </m:rPr>
                      <a:rPr lang="el-GR" altLang="zh-CN" b="0" i="1" smtClean="0">
                        <a:latin typeface="Cambria Math" panose="02040503050406030204" pitchFamily="18" charset="0"/>
                        <a:ea typeface="Cambria Math" panose="02040503050406030204" pitchFamily="18" charset="0"/>
                      </a:rPr>
                      <m:t>Ψ</m:t>
                    </m:r>
                  </m:oMath>
                </a14:m>
                <a:r>
                  <a:rPr lang="zh-CN" altLang="en-US" dirty="0"/>
                  <a:t>中一些谓词的计算范围，它不必是最小集合。</a:t>
                </a:r>
                <a:endParaRPr lang="en-US" altLang="zh-CN" dirty="0"/>
              </a:p>
              <a:p>
                <a:pPr lvl="2"/>
                <a:r>
                  <a:rPr lang="zh-CN" altLang="en-US" i="1" dirty="0"/>
                  <a:t>例如，下图关系</a:t>
                </a:r>
                <a:r>
                  <a:rPr lang="en-US" altLang="zh-CN" i="1" dirty="0"/>
                  <a:t>R</a:t>
                </a:r>
                <a:r>
                  <a:rPr lang="zh-CN" altLang="en-US" i="1" dirty="0"/>
                  <a:t>，令</a:t>
                </a:r>
                <a14:m>
                  <m:oMath xmlns:m="http://schemas.openxmlformats.org/officeDocument/2006/math">
                    <m:r>
                      <a:rPr lang="en-US" altLang="zh-CN" i="1" dirty="0" smtClean="0">
                        <a:latin typeface="Cambria Math" panose="02040503050406030204" pitchFamily="18" charset="0"/>
                      </a:rPr>
                      <m:t>𝑆</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r>
                      <m:rPr>
                        <m:nor/>
                      </m:rPr>
                      <a:rPr lang="en-US" altLang="zh-CN" b="1" dirty="0">
                        <a:solidFill>
                          <a:srgbClr val="000000"/>
                        </a:solidFill>
                        <a:latin typeface="Times New Roman" panose="02020603050405020304" pitchFamily="18" charset="0"/>
                        <a:sym typeface="Symbol" panose="05050102010706020507" pitchFamily="18" charset="2"/>
                      </a:rPr>
                      <m:t></m:t>
                    </m:r>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oMath>
                </a14:m>
                <a:r>
                  <a:rPr lang="zh-CN" altLang="en-US" i="1" dirty="0"/>
                  <a:t>，则</a:t>
                </a:r>
                <a:r>
                  <a:rPr lang="en-US" altLang="zh-CN" i="1" dirty="0"/>
                  <a:t>S</a:t>
                </a:r>
                <a:r>
                  <a:rPr lang="zh-CN" altLang="en-US" i="1" dirty="0"/>
                  <a:t>可能是无限关系，定义一个安全域 </a:t>
                </a:r>
                <a:endParaRPr lang="en-US" altLang="zh-CN" i="1" dirty="0"/>
              </a:p>
              <a:p>
                <a:pPr marL="1371600" lvl="3"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𝐷𝑂𝑀</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𝐴</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𝜋</m:t>
                          </m:r>
                        </m:e>
                        <m:sub>
                          <m:r>
                            <a:rPr lang="en-US" altLang="zh-CN" b="0" i="1" smtClean="0">
                              <a:latin typeface="Cambria Math" panose="02040503050406030204" pitchFamily="18" charset="0"/>
                              <a:ea typeface="Cambria Math" panose="02040503050406030204" pitchFamily="18" charset="0"/>
                            </a:rPr>
                            <m:t>𝐵</m:t>
                          </m:r>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𝑅</m:t>
                          </m:r>
                        </m:e>
                      </m:d>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𝜋</m:t>
                          </m:r>
                        </m:e>
                        <m:sub>
                          <m:r>
                            <a:rPr lang="en-US" altLang="zh-CN" b="0" i="1" smtClean="0">
                              <a:latin typeface="Cambria Math" panose="02040503050406030204" pitchFamily="18" charset="0"/>
                              <a:ea typeface="Cambria Math" panose="02040503050406030204" pitchFamily="18" charset="0"/>
                            </a:rPr>
                            <m:t>𝐶</m:t>
                          </m:r>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𝑅</m:t>
                          </m:r>
                        </m:e>
                      </m:d>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𝑎</m:t>
                          </m:r>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𝑎</m:t>
                          </m:r>
                          <m:r>
                            <a:rPr lang="en-US" altLang="zh-CN" b="0" i="1" smtClean="0">
                              <a:latin typeface="Cambria Math" panose="02040503050406030204" pitchFamily="18" charset="0"/>
                              <a:ea typeface="Cambria Math" panose="02040503050406030204" pitchFamily="18" charset="0"/>
                            </a:rPr>
                            <m:t>2</m:t>
                          </m:r>
                        </m:e>
                      </m:d>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𝑏</m:t>
                          </m:r>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𝑏</m:t>
                          </m:r>
                          <m:r>
                            <a:rPr lang="en-US" altLang="zh-CN" b="0" i="1" smtClean="0">
                              <a:latin typeface="Cambria Math" panose="02040503050406030204" pitchFamily="18" charset="0"/>
                              <a:ea typeface="Cambria Math" panose="02040503050406030204" pitchFamily="18" charset="0"/>
                            </a:rPr>
                            <m:t>2</m:t>
                          </m:r>
                        </m:e>
                      </m:d>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𝑐</m:t>
                          </m:r>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𝑐</m:t>
                          </m:r>
                          <m:r>
                            <a:rPr lang="en-US" altLang="zh-CN" b="0" i="1" smtClean="0">
                              <a:latin typeface="Cambria Math" panose="02040503050406030204" pitchFamily="18" charset="0"/>
                              <a:ea typeface="Cambria Math" panose="02040503050406030204" pitchFamily="18" charset="0"/>
                            </a:rPr>
                            <m:t>2</m:t>
                          </m:r>
                        </m:e>
                      </m:d>
                      <m:r>
                        <a:rPr lang="en-US" altLang="zh-CN" b="0" i="1" smtClean="0">
                          <a:latin typeface="Cambria Math" panose="02040503050406030204" pitchFamily="18" charset="0"/>
                          <a:ea typeface="Cambria Math" panose="02040503050406030204" pitchFamily="18" charset="0"/>
                        </a:rPr>
                        <m:t>}</m:t>
                      </m:r>
                    </m:oMath>
                  </m:oMathPara>
                </a14:m>
                <a:endParaRPr lang="zh-CN" altLang="en-US" i="1" dirty="0"/>
              </a:p>
              <a:p>
                <a:pPr lvl="2"/>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2.3 </a:t>
            </a:r>
            <a:r>
              <a:rPr lang="zh-CN" altLang="en-US" dirty="0"/>
              <a:t>关系演算</a:t>
            </a:r>
            <a:endParaRPr lang="zh-CN" altLang="en-US" dirty="0"/>
          </a:p>
        </p:txBody>
      </p:sp>
      <p:graphicFrame>
        <p:nvGraphicFramePr>
          <p:cNvPr id="6" name="表格 5"/>
          <p:cNvGraphicFramePr>
            <a:graphicFrameLocks noGrp="1"/>
          </p:cNvGraphicFramePr>
          <p:nvPr/>
        </p:nvGraphicFramePr>
        <p:xfrm>
          <a:off x="4473789" y="5243512"/>
          <a:ext cx="2873376" cy="1112838"/>
        </p:xfrm>
        <a:graphic>
          <a:graphicData uri="http://schemas.openxmlformats.org/drawingml/2006/table">
            <a:tbl>
              <a:tblPr firstRow="1" bandRow="1">
                <a:tableStyleId>{5940675A-B579-460E-94D1-54222C63F5DA}</a:tableStyleId>
              </a:tblPr>
              <a:tblGrid>
                <a:gridCol w="957792"/>
                <a:gridCol w="957792"/>
                <a:gridCol w="957792"/>
              </a:tblGrid>
              <a:tr h="370946">
                <a:tc>
                  <a:txBody>
                    <a:bodyPr/>
                    <a:lstStyle/>
                    <a:p>
                      <a:r>
                        <a:rPr lang="en-US" altLang="zh-CN" sz="1800" dirty="0"/>
                        <a:t>A</a:t>
                      </a:r>
                      <a:endParaRPr lang="zh-CN" altLang="en-US" sz="1800" dirty="0"/>
                    </a:p>
                  </a:txBody>
                  <a:tcPr marL="91426" marR="91426" marT="45733" marB="45733"/>
                </a:tc>
                <a:tc>
                  <a:txBody>
                    <a:bodyPr/>
                    <a:lstStyle/>
                    <a:p>
                      <a:r>
                        <a:rPr lang="en-US" altLang="zh-CN" sz="1800" dirty="0"/>
                        <a:t>B</a:t>
                      </a:r>
                      <a:endParaRPr lang="zh-CN" altLang="en-US" sz="1800" dirty="0"/>
                    </a:p>
                  </a:txBody>
                  <a:tcPr marL="91426" marR="91426" marT="45733" marB="45733"/>
                </a:tc>
                <a:tc>
                  <a:txBody>
                    <a:bodyPr/>
                    <a:lstStyle/>
                    <a:p>
                      <a:r>
                        <a:rPr lang="en-US" altLang="zh-CN" sz="1800" dirty="0"/>
                        <a:t>C</a:t>
                      </a:r>
                      <a:endParaRPr lang="zh-CN" altLang="en-US" sz="1800" dirty="0"/>
                    </a:p>
                  </a:txBody>
                  <a:tcPr marL="91426" marR="91426" marT="45733" marB="45733"/>
                </a:tc>
              </a:tr>
              <a:tr h="370946">
                <a:tc>
                  <a:txBody>
                    <a:bodyPr/>
                    <a:lstStyle/>
                    <a:p>
                      <a:r>
                        <a:rPr lang="en-US" altLang="zh-CN" sz="1800" dirty="0"/>
                        <a:t>a1</a:t>
                      </a:r>
                      <a:endParaRPr lang="zh-CN" altLang="en-US" sz="1800" dirty="0"/>
                    </a:p>
                  </a:txBody>
                  <a:tcPr marL="91426" marR="91426" marT="45733" marB="45733"/>
                </a:tc>
                <a:tc>
                  <a:txBody>
                    <a:bodyPr/>
                    <a:lstStyle/>
                    <a:p>
                      <a:r>
                        <a:rPr lang="en-US" altLang="zh-CN" sz="1800" dirty="0"/>
                        <a:t>b1</a:t>
                      </a:r>
                      <a:endParaRPr lang="zh-CN" altLang="en-US" sz="1800" dirty="0"/>
                    </a:p>
                  </a:txBody>
                  <a:tcPr marL="91426" marR="91426" marT="45733" marB="45733"/>
                </a:tc>
                <a:tc>
                  <a:txBody>
                    <a:bodyPr/>
                    <a:lstStyle/>
                    <a:p>
                      <a:r>
                        <a:rPr lang="en-US" altLang="zh-CN" sz="1800" dirty="0"/>
                        <a:t>c1</a:t>
                      </a:r>
                      <a:endParaRPr lang="zh-CN" altLang="en-US" sz="1800" dirty="0"/>
                    </a:p>
                  </a:txBody>
                  <a:tcPr marL="91426" marR="91426" marT="45733" marB="45733"/>
                </a:tc>
              </a:tr>
              <a:tr h="370946">
                <a:tc>
                  <a:txBody>
                    <a:bodyPr/>
                    <a:lstStyle/>
                    <a:p>
                      <a:r>
                        <a:rPr lang="en-US" altLang="zh-CN" sz="1800" dirty="0"/>
                        <a:t>a2</a:t>
                      </a:r>
                      <a:endParaRPr lang="zh-CN" altLang="en-US" sz="1800" dirty="0"/>
                    </a:p>
                  </a:txBody>
                  <a:tcPr marL="91426" marR="91426" marT="45733" marB="45733"/>
                </a:tc>
                <a:tc>
                  <a:txBody>
                    <a:bodyPr/>
                    <a:lstStyle/>
                    <a:p>
                      <a:r>
                        <a:rPr lang="en-US" altLang="zh-CN" sz="1800" dirty="0"/>
                        <a:t>b2</a:t>
                      </a:r>
                      <a:endParaRPr lang="zh-CN" altLang="en-US" sz="1800" dirty="0"/>
                    </a:p>
                  </a:txBody>
                  <a:tcPr marL="91426" marR="91426" marT="45733" marB="45733"/>
                </a:tc>
                <a:tc>
                  <a:txBody>
                    <a:bodyPr/>
                    <a:lstStyle/>
                    <a:p>
                      <a:r>
                        <a:rPr lang="en-US" altLang="zh-CN" sz="1800" dirty="0"/>
                        <a:t>c2</a:t>
                      </a:r>
                      <a:endParaRPr lang="zh-CN" altLang="en-US" sz="1800" dirty="0"/>
                    </a:p>
                  </a:txBody>
                  <a:tcPr marL="91426" marR="91426" marT="45733" marB="45733"/>
                </a:tc>
              </a:tr>
            </a:tbl>
          </a:graphicData>
        </a:graphic>
      </p:graphicFrame>
      <p:sp>
        <p:nvSpPr>
          <p:cNvPr id="7" name="矩形 6"/>
          <p:cNvSpPr>
            <a:spLocks noChangeArrowheads="1"/>
          </p:cNvSpPr>
          <p:nvPr/>
        </p:nvSpPr>
        <p:spPr bwMode="auto">
          <a:xfrm>
            <a:off x="3806158" y="5407815"/>
            <a:ext cx="4079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400" b="1" dirty="0">
                <a:solidFill>
                  <a:srgbClr val="FF0066"/>
                </a:solidFill>
                <a:latin typeface="Arial" panose="020B0604020202020204" pitchFamily="34" charset="0"/>
                <a:ea typeface="华文新魏" panose="02010800040101010101" pitchFamily="2" charset="-122"/>
                <a:sym typeface="Symbol" panose="05050102010706020507" pitchFamily="18" charset="2"/>
              </a:rPr>
              <a:t>R</a:t>
            </a:r>
            <a:endParaRPr lang="zh-CN" altLang="en-US" sz="2400" dirty="0">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元组关系演算</a:t>
                </a:r>
                <a:endParaRPr lang="en-US" altLang="zh-CN" dirty="0"/>
              </a:p>
              <a:p>
                <a:pPr lvl="1"/>
                <a:r>
                  <a:rPr lang="zh-CN" altLang="en-US" dirty="0"/>
                  <a:t>安全表达式的构造</a:t>
                </a:r>
                <a:endParaRPr lang="zh-CN" altLang="en-US" dirty="0"/>
              </a:p>
              <a:p>
                <a:pPr lvl="2"/>
                <a:r>
                  <a:rPr lang="zh-CN" altLang="en-US" dirty="0"/>
                  <a:t>规则</a:t>
                </a:r>
                <a:r>
                  <a:rPr lang="en-US" altLang="zh-CN" dirty="0"/>
                  <a:t>1</a:t>
                </a:r>
                <a:r>
                  <a:rPr lang="zh-CN" altLang="en-US" dirty="0"/>
                  <a:t>：所有自由变量必须被显式约束</a:t>
                </a:r>
                <a:endParaRPr lang="zh-CN" altLang="en-US" dirty="0"/>
              </a:p>
              <a:p>
                <a:pPr lvl="3"/>
                <a:r>
                  <a:rPr lang="zh-CN" altLang="en-US" dirty="0"/>
                  <a:t>例如，</a:t>
                </a:r>
                <a14:m>
                  <m:oMath xmlns:m="http://schemas.openxmlformats.org/officeDocument/2006/math">
                    <m:r>
                      <a:rPr lang="en-US" altLang="zh-CN" i="1" dirty="0" smtClean="0">
                        <a:latin typeface="Cambria Math" panose="02040503050406030204" pitchFamily="18" charset="0"/>
                      </a:rPr>
                      <m:t>{ </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𝑅</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 } </m:t>
                    </m:r>
                  </m:oMath>
                </a14:m>
                <a:r>
                  <a:rPr lang="zh-CN" altLang="en-US" dirty="0"/>
                  <a:t>是安全的，因为 </a:t>
                </a:r>
                <a:r>
                  <a:rPr lang="en-US" altLang="zh-CN" dirty="0"/>
                  <a:t>t </a:t>
                </a:r>
                <a:r>
                  <a:rPr lang="zh-CN" altLang="en-US" dirty="0"/>
                  <a:t>被限制在有限的关系 </a:t>
                </a:r>
                <a:r>
                  <a:rPr lang="en-US" altLang="zh-CN" dirty="0"/>
                  <a:t>R </a:t>
                </a:r>
                <a:r>
                  <a:rPr lang="zh-CN" altLang="en-US" dirty="0"/>
                  <a:t>中。</a:t>
                </a:r>
                <a:endParaRPr lang="en-US" altLang="zh-CN" dirty="0"/>
              </a:p>
              <a:p>
                <a:pPr lvl="2"/>
                <a:r>
                  <a:rPr lang="zh-CN" altLang="en-US" dirty="0"/>
                  <a:t>规则</a:t>
                </a:r>
                <a:r>
                  <a:rPr lang="en-US" altLang="zh-CN" dirty="0"/>
                  <a:t>2</a:t>
                </a:r>
                <a:r>
                  <a:rPr lang="zh-CN" altLang="en-US" dirty="0"/>
                  <a:t>：量词必须限定在有限范围内</a:t>
                </a:r>
                <a:endParaRPr lang="en-US" altLang="zh-CN" dirty="0"/>
              </a:p>
              <a:p>
                <a:pPr lvl="3"/>
                <a:r>
                  <a:rPr lang="zh-CN" altLang="en-US" dirty="0"/>
                  <a:t>存在量词</a:t>
                </a:r>
                <a14:m>
                  <m:oMath xmlns:m="http://schemas.openxmlformats.org/officeDocument/2006/math">
                    <m:r>
                      <a:rPr lang="zh-CN" altLang="en-US" i="1" dirty="0" smtClean="0">
                        <a:latin typeface="Cambria Math" panose="02040503050406030204" pitchFamily="18" charset="0"/>
                      </a:rPr>
                      <m:t>（</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m:t>
                    </m:r>
                  </m:oMath>
                </a14:m>
                <a:r>
                  <a:rPr lang="zh-CN" altLang="en-US" dirty="0"/>
                  <a:t>：应写</a:t>
                </a:r>
                <a14:m>
                  <m:oMath xmlns:m="http://schemas.openxmlformats.org/officeDocument/2006/math">
                    <m:r>
                      <a:rPr lang="zh-CN" altLang="en-US" i="1" dirty="0" smtClean="0">
                        <a:latin typeface="Cambria Math" panose="02040503050406030204" pitchFamily="18" charset="0"/>
                      </a:rPr>
                      <m:t>成</m:t>
                    </m:r>
                    <m:r>
                      <a:rPr lang="zh-CN" altLang="en-US" i="1" dirty="0" smtClean="0">
                        <a:latin typeface="Cambria Math" panose="02040503050406030204" pitchFamily="18" charset="0"/>
                      </a:rPr>
                      <m:t> ∃</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oMath>
                </a14:m>
                <a:r>
                  <a:rPr lang="zh-CN" altLang="en-US" dirty="0"/>
                  <a:t>，而非 </a:t>
                </a:r>
                <a14:m>
                  <m:oMath xmlns:m="http://schemas.openxmlformats.org/officeDocument/2006/math">
                    <m:r>
                      <a:rPr lang="zh-CN" altLang="en-US"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oMath>
                </a14:m>
                <a:r>
                  <a:rPr lang="zh-CN" altLang="en-US" dirty="0"/>
                  <a:t>。</a:t>
                </a:r>
                <a:endParaRPr lang="zh-CN" altLang="en-US" dirty="0"/>
              </a:p>
              <a:p>
                <a:pPr lvl="3"/>
                <a:r>
                  <a:rPr lang="zh-CN" altLang="en-US" dirty="0"/>
                  <a:t>全称量词</a:t>
                </a:r>
                <a14:m>
                  <m:oMath xmlns:m="http://schemas.openxmlformats.org/officeDocument/2006/math">
                    <m:r>
                      <a:rPr lang="zh-CN" altLang="en-US" i="1" dirty="0" smtClean="0">
                        <a:latin typeface="Cambria Math" panose="02040503050406030204" pitchFamily="18" charset="0"/>
                      </a:rPr>
                      <m:t>（</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m:t>
                    </m:r>
                  </m:oMath>
                </a14:m>
                <a:r>
                  <a:rPr lang="zh-CN" altLang="en-US" dirty="0"/>
                  <a:t>：同理，需限定范围，如 </a:t>
                </a:r>
                <a14:m>
                  <m:oMath xmlns:m="http://schemas.openxmlformats.org/officeDocument/2006/math">
                    <m:r>
                      <a:rPr lang="zh-CN" altLang="en-US"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oMath>
                </a14:m>
                <a:r>
                  <a:rPr lang="zh-CN" altLang="en-US" dirty="0"/>
                  <a:t>。</a:t>
                </a:r>
                <a:endParaRPr lang="zh-CN" altLang="en-US" dirty="0"/>
              </a:p>
              <a:p>
                <a:pPr lvl="2"/>
                <a:r>
                  <a:rPr lang="zh-CN" altLang="en-US" dirty="0"/>
                  <a:t>规则</a:t>
                </a:r>
                <a:r>
                  <a:rPr lang="en-US" altLang="zh-CN" dirty="0"/>
                  <a:t>3</a:t>
                </a:r>
                <a:r>
                  <a:rPr lang="zh-CN" altLang="en-US" dirty="0"/>
                  <a:t>：否定必须作用在有限集合上</a:t>
                </a:r>
                <a:endParaRPr lang="en-US" altLang="zh-CN" dirty="0"/>
              </a:p>
              <a:p>
                <a:pPr lvl="3"/>
                <a:r>
                  <a:rPr lang="zh-CN" altLang="en-US" dirty="0"/>
                  <a:t>例如，</a:t>
                </a:r>
                <a14:m>
                  <m:oMath xmlns:m="http://schemas.openxmlformats.org/officeDocument/2006/math">
                    <m:r>
                      <a:rPr lang="en-US" altLang="zh-CN" i="1" dirty="0" smtClean="0">
                        <a:latin typeface="Cambria Math" panose="02040503050406030204" pitchFamily="18" charset="0"/>
                      </a:rPr>
                      <m:t>{ </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𝑅</m:t>
                    </m:r>
                    <m:r>
                      <a:rPr lang="en-US" altLang="zh-CN" i="1" dirty="0" smtClean="0">
                        <a:latin typeface="Cambria Math" panose="02040503050406030204" pitchFamily="18" charset="0"/>
                      </a:rPr>
                      <m:t> ∧ ¬(</m:t>
                    </m:r>
                    <m:r>
                      <a:rPr lang="en-US" altLang="zh-CN" i="1" dirty="0" err="1" smtClean="0">
                        <a:latin typeface="Cambria Math" panose="02040503050406030204" pitchFamily="18" charset="0"/>
                      </a:rPr>
                      <m:t>𝑡</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𝑎𝑔𝑒</m:t>
                    </m:r>
                    <m:r>
                      <a:rPr lang="en-US" altLang="zh-CN" i="1" dirty="0" smtClean="0">
                        <a:latin typeface="Cambria Math" panose="02040503050406030204" pitchFamily="18" charset="0"/>
                      </a:rPr>
                      <m:t> &lt; </m:t>
                    </m:r>
                    <m:r>
                      <a:rPr lang="en-US" altLang="zh-CN" i="1" dirty="0" smtClean="0">
                        <a:latin typeface="Cambria Math" panose="02040503050406030204" pitchFamily="18" charset="0"/>
                      </a:rPr>
                      <m:t>18</m:t>
                    </m:r>
                    <m:r>
                      <a:rPr lang="en-US" altLang="zh-CN" i="1" dirty="0" smtClean="0">
                        <a:latin typeface="Cambria Math" panose="02040503050406030204" pitchFamily="18" charset="0"/>
                      </a:rPr>
                      <m:t>) } </m:t>
                    </m:r>
                  </m:oMath>
                </a14:m>
                <a:r>
                  <a:rPr lang="zh-CN" altLang="en-US" dirty="0"/>
                  <a:t>是安全的，因为 </a:t>
                </a:r>
                <a:r>
                  <a:rPr lang="en-US" altLang="zh-CN" dirty="0"/>
                  <a:t>t </a:t>
                </a:r>
                <a:r>
                  <a:rPr lang="zh-CN" altLang="en-US" dirty="0"/>
                  <a:t>被约束在有限的关系</a:t>
                </a:r>
                <a:r>
                  <a:rPr lang="en-US" altLang="zh-CN" dirty="0"/>
                  <a:t>R </a:t>
                </a:r>
                <a:r>
                  <a:rPr lang="zh-CN" altLang="en-US" dirty="0"/>
                  <a:t>中，否定操作仅在有限范围内生效。</a:t>
                </a:r>
                <a:endParaRPr lang="zh-CN" altLang="en-US" dirty="0"/>
              </a:p>
              <a:p>
                <a:pPr lvl="3"/>
                <a:endParaRPr lang="zh-CN" altLang="en-US" dirty="0"/>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708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2.3 </a:t>
            </a:r>
            <a:r>
              <a:rPr lang="zh-CN" altLang="en-US" dirty="0"/>
              <a:t>关系演算</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元组关系演算</a:t>
                </a:r>
                <a:endParaRPr lang="en-US" altLang="zh-CN" dirty="0"/>
              </a:p>
              <a:p>
                <a:pPr lvl="1"/>
                <a:r>
                  <a:rPr lang="zh-CN" altLang="en-US" dirty="0"/>
                  <a:t>安全表达式的构造</a:t>
                </a:r>
                <a:endParaRPr lang="zh-CN" altLang="en-US" dirty="0"/>
              </a:p>
              <a:p>
                <a:pPr lvl="2"/>
                <a:r>
                  <a:rPr lang="zh-CN" altLang="en-US" i="1" dirty="0"/>
                  <a:t>例</a:t>
                </a:r>
                <a:r>
                  <a:rPr lang="en-US" altLang="zh-CN" i="1" dirty="0"/>
                  <a:t>2.6. </a:t>
                </a:r>
                <a:r>
                  <a:rPr lang="zh-CN" altLang="en-US" i="1" dirty="0"/>
                  <a:t>查询“离散数学”课程的编号及任课教师</a:t>
                </a:r>
                <a:endParaRPr lang="en-US" altLang="zh-CN" i="1" dirty="0"/>
              </a:p>
              <a:p>
                <a:pPr marL="914400" lvl="2" indent="0">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𝑅</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𝑢</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𝐶𝑜𝑢𝑟𝑠𝑒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𝑢</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𝑢</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2</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离散数学</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   </m:t>
                      </m:r>
                      <m:r>
                        <a:rPr lang="en-US" altLang="zh-CN" i="1" dirty="0" smtClean="0">
                          <a:latin typeface="Cambria Math" panose="02040503050406030204" pitchFamily="18" charset="0"/>
                        </a:rPr>
                        <m:t>𝑢</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2</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𝑢</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3</m:t>
                      </m:r>
                      <m:r>
                        <a:rPr lang="en-US" altLang="zh-CN" i="1" dirty="0" smtClean="0">
                          <a:latin typeface="Cambria Math" panose="02040503050406030204" pitchFamily="18" charset="0"/>
                        </a:rPr>
                        <m:t>])}</m:t>
                      </m:r>
                    </m:oMath>
                  </m:oMathPara>
                </a14:m>
                <a:endParaRPr lang="en-US" altLang="zh-CN" dirty="0"/>
              </a:p>
              <a:p>
                <a:pPr lvl="2"/>
                <a:r>
                  <a:rPr lang="zh-CN" altLang="en-US" i="1" dirty="0"/>
                  <a:t>例</a:t>
                </a:r>
                <a:r>
                  <a:rPr lang="en-US" altLang="zh-CN" i="1" dirty="0"/>
                  <a:t>2.7. </a:t>
                </a:r>
                <a:r>
                  <a:rPr lang="zh-CN" altLang="en-US" i="1" dirty="0"/>
                  <a:t>选修了’数据结构’的学生学号及姓名</a:t>
                </a:r>
                <a:endParaRPr lang="en-US" altLang="zh-CN" i="1" dirty="0"/>
              </a:p>
              <a:p>
                <a:pPr marL="914400" lvl="2" indent="0">
                  <a:buNone/>
                </a:pPr>
                <a:r>
                  <a:rPr lang="en-US" altLang="zh-CN" dirty="0"/>
                  <a:t>	</a:t>
                </a:r>
                <a14:m>
                  <m:oMath xmlns:m="http://schemas.openxmlformats.org/officeDocument/2006/math">
                    <m:r>
                      <a:rPr lang="en-US" altLang="zh-CN" i="1" dirty="0" smtClean="0">
                        <a:latin typeface="Cambria Math" panose="02040503050406030204" pitchFamily="18" charset="0"/>
                      </a:rPr>
                      <m:t>𝑅</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𝑢</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𝑤</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𝑆𝑡𝑢𝑑𝑒𝑛𝑡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𝑢</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𝑆𝐶</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𝐶𝑜𝑢𝑟𝑠𝑒</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𝑤</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𝑢</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oMath>
                </a14:m>
                <a:endParaRPr lang="en-US" altLang="zh-CN" i="1" dirty="0">
                  <a:latin typeface="Cambria Math" panose="02040503050406030204" pitchFamily="18" charset="0"/>
                </a:endParaRPr>
              </a:p>
              <a:p>
                <a:pPr marL="914400" lvl="2" indent="0">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𝑣</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2</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𝑤</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𝑤</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2</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数据结构</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𝑢</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2</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𝑢</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3</m:t>
                      </m:r>
                      <m:r>
                        <a:rPr lang="en-US" altLang="zh-CN" i="1" dirty="0" smtClean="0">
                          <a:latin typeface="Cambria Math" panose="02040503050406030204" pitchFamily="18" charset="0"/>
                        </a:rPr>
                        <m:t>])}</m:t>
                      </m:r>
                    </m:oMath>
                  </m:oMathPara>
                </a14:m>
                <a:endParaRPr lang="zh-CN" altLang="en-US" dirty="0"/>
              </a:p>
              <a:p>
                <a:pPr lvl="2"/>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2.3 </a:t>
            </a:r>
            <a:r>
              <a:rPr lang="zh-CN" altLang="en-US" dirty="0"/>
              <a:t>关系演算</a:t>
            </a: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元组关系演算</a:t>
                </a:r>
                <a:endParaRPr lang="en-US" altLang="zh-CN" dirty="0"/>
              </a:p>
              <a:p>
                <a:pPr lvl="1"/>
                <a:r>
                  <a:rPr lang="zh-CN" altLang="en-US" dirty="0"/>
                  <a:t>安全表达式的构造</a:t>
                </a:r>
                <a:endParaRPr lang="en-US" altLang="zh-CN" dirty="0"/>
              </a:p>
              <a:p>
                <a:pPr lvl="2"/>
                <a:r>
                  <a:rPr lang="zh-CN" altLang="en-US" dirty="0"/>
                  <a:t>例：检索选修课程号为</a:t>
                </a:r>
                <a:r>
                  <a:rPr lang="en-US" altLang="zh-CN" dirty="0"/>
                  <a:t>C2</a:t>
                </a:r>
                <a:r>
                  <a:rPr lang="zh-CN" altLang="en-US" dirty="0"/>
                  <a:t>或</a:t>
                </a:r>
                <a:r>
                  <a:rPr lang="en-US" altLang="zh-CN" dirty="0"/>
                  <a:t>C4</a:t>
                </a:r>
                <a:r>
                  <a:rPr lang="zh-CN" altLang="en-US" dirty="0"/>
                  <a:t>的学生学号</a:t>
                </a:r>
                <a:endParaRPr lang="en-US" altLang="zh-CN" dirty="0"/>
              </a:p>
              <a:p>
                <a:pPr marL="1371600" lvl="3" indent="0">
                  <a:buNone/>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50000"/>
                                  <a:lumOff val="50000"/>
                                </a:schemeClr>
                              </a:solidFill>
                              <a:latin typeface="Cambria Math" panose="02040503050406030204" pitchFamily="18" charset="0"/>
                            </a:rPr>
                          </m:ctrlPr>
                        </m:sSubPr>
                        <m:e>
                          <m:r>
                            <a:rPr lang="en-US" altLang="zh-CN" b="0" i="1" smtClean="0">
                              <a:solidFill>
                                <a:schemeClr val="tx1">
                                  <a:lumMod val="50000"/>
                                  <a:lumOff val="50000"/>
                                </a:schemeClr>
                              </a:solidFill>
                              <a:latin typeface="Cambria Math" panose="02040503050406030204" pitchFamily="18" charset="0"/>
                            </a:rPr>
                            <m:t>𝜋</m:t>
                          </m:r>
                        </m:e>
                        <m:sub>
                          <m:r>
                            <a:rPr lang="en-US" altLang="zh-CN" b="0" i="1" smtClean="0">
                              <a:solidFill>
                                <a:schemeClr val="tx1">
                                  <a:lumMod val="50000"/>
                                  <a:lumOff val="50000"/>
                                </a:schemeClr>
                              </a:solidFill>
                              <a:latin typeface="Cambria Math" panose="02040503050406030204" pitchFamily="18" charset="0"/>
                            </a:rPr>
                            <m:t>𝑆</m:t>
                          </m:r>
                          <m:r>
                            <a:rPr lang="en-US" altLang="zh-CN" b="0" i="1" smtClean="0">
                              <a:solidFill>
                                <a:schemeClr val="tx1">
                                  <a:lumMod val="50000"/>
                                  <a:lumOff val="50000"/>
                                </a:schemeClr>
                              </a:solidFill>
                              <a:latin typeface="Cambria Math" panose="02040503050406030204" pitchFamily="18" charset="0"/>
                            </a:rPr>
                            <m:t>#</m:t>
                          </m:r>
                        </m:sub>
                      </m:sSub>
                      <m:r>
                        <a:rPr lang="en-US" altLang="zh-CN" b="0" i="1" smtClean="0">
                          <a:solidFill>
                            <a:schemeClr val="tx1">
                              <a:lumMod val="50000"/>
                              <a:lumOff val="50000"/>
                            </a:schemeClr>
                          </a:solidFill>
                          <a:latin typeface="Cambria Math" panose="02040503050406030204" pitchFamily="18" charset="0"/>
                        </a:rPr>
                        <m:t>(</m:t>
                      </m:r>
                      <m:sSub>
                        <m:sSubPr>
                          <m:ctrlPr>
                            <a:rPr lang="en-US" altLang="zh-CN" b="0" i="1" smtClean="0">
                              <a:solidFill>
                                <a:schemeClr val="tx1">
                                  <a:lumMod val="50000"/>
                                  <a:lumOff val="50000"/>
                                </a:schemeClr>
                              </a:solidFill>
                              <a:latin typeface="Cambria Math" panose="02040503050406030204" pitchFamily="18" charset="0"/>
                            </a:rPr>
                          </m:ctrlPr>
                        </m:sSubPr>
                        <m:e>
                          <m:r>
                            <a:rPr lang="en-US" altLang="zh-CN" b="0" i="1" smtClean="0">
                              <a:solidFill>
                                <a:schemeClr val="tx1">
                                  <a:lumMod val="50000"/>
                                  <a:lumOff val="50000"/>
                                </a:schemeClr>
                              </a:solidFill>
                              <a:latin typeface="Cambria Math" panose="02040503050406030204" pitchFamily="18" charset="0"/>
                            </a:rPr>
                            <m:t>𝜎</m:t>
                          </m:r>
                        </m:e>
                        <m:sub>
                          <m:r>
                            <a:rPr lang="en-US" altLang="zh-CN" b="0" i="1" smtClean="0">
                              <a:solidFill>
                                <a:schemeClr val="tx1">
                                  <a:lumMod val="50000"/>
                                  <a:lumOff val="50000"/>
                                </a:schemeClr>
                              </a:solidFill>
                              <a:latin typeface="Cambria Math" panose="02040503050406030204" pitchFamily="18" charset="0"/>
                            </a:rPr>
                            <m:t>𝐶</m:t>
                          </m:r>
                          <m:r>
                            <a:rPr lang="en-US" altLang="zh-CN" b="0" i="1" smtClean="0">
                              <a:solidFill>
                                <a:schemeClr val="tx1">
                                  <a:lumMod val="50000"/>
                                  <a:lumOff val="50000"/>
                                </a:schemeClr>
                              </a:solidFill>
                              <a:latin typeface="Cambria Math" panose="02040503050406030204" pitchFamily="18" charset="0"/>
                            </a:rPr>
                            <m:t>#</m:t>
                          </m:r>
                          <m:sSup>
                            <m:sSupPr>
                              <m:ctrlPr>
                                <a:rPr lang="en-US" altLang="zh-CN" b="0" i="1" smtClean="0">
                                  <a:solidFill>
                                    <a:schemeClr val="tx1">
                                      <a:lumMod val="50000"/>
                                      <a:lumOff val="50000"/>
                                    </a:schemeClr>
                                  </a:solidFill>
                                  <a:latin typeface="Cambria Math" panose="02040503050406030204" pitchFamily="18" charset="0"/>
                                </a:rPr>
                              </m:ctrlPr>
                            </m:sSupPr>
                            <m:e>
                              <m:r>
                                <a:rPr lang="en-US" altLang="zh-CN" b="0" i="1" smtClean="0">
                                  <a:solidFill>
                                    <a:schemeClr val="tx1">
                                      <a:lumMod val="50000"/>
                                      <a:lumOff val="50000"/>
                                    </a:schemeClr>
                                  </a:solidFill>
                                  <a:latin typeface="Cambria Math" panose="02040503050406030204" pitchFamily="18" charset="0"/>
                                </a:rPr>
                                <m:t>=</m:t>
                              </m:r>
                            </m:e>
                            <m:sup>
                              <m:r>
                                <a:rPr lang="en-US" altLang="zh-CN" b="0" i="1" smtClean="0">
                                  <a:solidFill>
                                    <a:schemeClr val="tx1">
                                      <a:lumMod val="50000"/>
                                      <a:lumOff val="50000"/>
                                    </a:schemeClr>
                                  </a:solidFill>
                                  <a:latin typeface="Cambria Math" panose="02040503050406030204" pitchFamily="18" charset="0"/>
                                </a:rPr>
                                <m:t>′</m:t>
                              </m:r>
                            </m:sup>
                          </m:sSup>
                          <m:r>
                            <a:rPr lang="en-US" altLang="zh-CN" b="0" i="1" smtClean="0">
                              <a:solidFill>
                                <a:schemeClr val="tx1">
                                  <a:lumMod val="50000"/>
                                  <a:lumOff val="50000"/>
                                </a:schemeClr>
                              </a:solidFill>
                              <a:latin typeface="Cambria Math" panose="02040503050406030204" pitchFamily="18" charset="0"/>
                            </a:rPr>
                            <m:t>𝐶</m:t>
                          </m:r>
                          <m:sSup>
                            <m:sSupPr>
                              <m:ctrlPr>
                                <a:rPr lang="en-US" altLang="zh-CN" b="0" i="1" smtClean="0">
                                  <a:solidFill>
                                    <a:schemeClr val="tx1">
                                      <a:lumMod val="50000"/>
                                      <a:lumOff val="50000"/>
                                    </a:schemeClr>
                                  </a:solidFill>
                                  <a:latin typeface="Cambria Math" panose="02040503050406030204" pitchFamily="18" charset="0"/>
                                </a:rPr>
                              </m:ctrlPr>
                            </m:sSupPr>
                            <m:e>
                              <m:r>
                                <a:rPr lang="en-US" altLang="zh-CN" b="0" i="1" smtClean="0">
                                  <a:solidFill>
                                    <a:schemeClr val="tx1">
                                      <a:lumMod val="50000"/>
                                      <a:lumOff val="50000"/>
                                    </a:schemeClr>
                                  </a:solidFill>
                                  <a:latin typeface="Cambria Math" panose="02040503050406030204" pitchFamily="18" charset="0"/>
                                </a:rPr>
                                <m:t>2</m:t>
                              </m:r>
                            </m:e>
                            <m:sup>
                              <m:r>
                                <a:rPr lang="en-US" altLang="zh-CN" b="0" i="1" smtClean="0">
                                  <a:solidFill>
                                    <a:schemeClr val="tx1">
                                      <a:lumMod val="50000"/>
                                      <a:lumOff val="50000"/>
                                    </a:schemeClr>
                                  </a:solidFill>
                                  <a:latin typeface="Cambria Math" panose="02040503050406030204" pitchFamily="18" charset="0"/>
                                </a:rPr>
                                <m:t>′</m:t>
                              </m:r>
                            </m:sup>
                          </m:sSup>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m:t>
                          </m:r>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𝐶</m:t>
                          </m:r>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m:t>
                          </m:r>
                          <m:sSup>
                            <m:sSupPr>
                              <m:ctrlP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ctrlPr>
                            </m:sSupPr>
                            <m:e>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m:t>
                              </m:r>
                            </m:e>
                            <m:sup>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m:t>
                              </m:r>
                            </m:sup>
                          </m:sSup>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𝐶</m:t>
                          </m:r>
                          <m:sSup>
                            <m:sSupPr>
                              <m:ctrlP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ctrlPr>
                            </m:sSupPr>
                            <m:e>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4</m:t>
                              </m:r>
                            </m:e>
                            <m:sup>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m:t>
                              </m:r>
                            </m:sup>
                          </m:sSup>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 </m:t>
                          </m:r>
                        </m:sub>
                      </m:sSub>
                      <m:r>
                        <a:rPr lang="en-US" altLang="zh-CN" b="0" i="1" smtClean="0">
                          <a:solidFill>
                            <a:schemeClr val="tx1">
                              <a:lumMod val="50000"/>
                              <a:lumOff val="50000"/>
                            </a:schemeClr>
                          </a:solidFill>
                          <a:latin typeface="Cambria Math" panose="02040503050406030204" pitchFamily="18" charset="0"/>
                        </a:rPr>
                        <m:t>(</m:t>
                      </m:r>
                      <m:r>
                        <a:rPr lang="en-US" altLang="zh-CN" b="0" i="1" smtClean="0">
                          <a:solidFill>
                            <a:schemeClr val="tx1">
                              <a:lumMod val="50000"/>
                              <a:lumOff val="50000"/>
                            </a:schemeClr>
                          </a:solidFill>
                          <a:latin typeface="Cambria Math" panose="02040503050406030204" pitchFamily="18" charset="0"/>
                        </a:rPr>
                        <m:t>𝑆𝐶</m:t>
                      </m:r>
                      <m:r>
                        <a:rPr lang="en-US" altLang="zh-CN" b="0" i="1" smtClean="0">
                          <a:solidFill>
                            <a:schemeClr val="tx1">
                              <a:lumMod val="50000"/>
                              <a:lumOff val="50000"/>
                            </a:schemeClr>
                          </a:solidFill>
                          <a:latin typeface="Cambria Math" panose="02040503050406030204" pitchFamily="18" charset="0"/>
                        </a:rPr>
                        <m:t>)</m:t>
                      </m:r>
                    </m:oMath>
                  </m:oMathPara>
                </a14:m>
                <a:endParaRPr lang="en-US" altLang="zh-CN" b="0" dirty="0">
                  <a:solidFill>
                    <a:schemeClr val="tx1">
                      <a:lumMod val="50000"/>
                      <a:lumOff val="50000"/>
                    </a:schemeClr>
                  </a:solidFill>
                </a:endParaRPr>
              </a:p>
              <a:p>
                <a:pPr marL="1371600" lvl="3"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𝑢</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𝑆𝐶</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𝑢</m:t>
                          </m:r>
                        </m:e>
                      </m:d>
                      <m:r>
                        <a:rPr lang="en-US" altLang="zh-CN" b="0" i="1" smtClean="0">
                          <a:latin typeface="Cambria Math" panose="02040503050406030204" pitchFamily="18" charset="0"/>
                          <a:ea typeface="Cambria Math" panose="02040503050406030204" pitchFamily="18" charset="0"/>
                        </a:rPr>
                        <m:t>∧</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𝑢</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2</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𝑢</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2</m:t>
                              </m:r>
                            </m:e>
                          </m:d>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m:t>
                              </m:r>
                            </m:e>
                            <m:sup>
                              <m:r>
                                <a:rPr lang="en-US" altLang="zh-CN" b="0" i="1" smtClean="0">
                                  <a:latin typeface="Cambria Math" panose="02040503050406030204" pitchFamily="18" charset="0"/>
                                  <a:ea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𝐶</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4</m:t>
                              </m:r>
                            </m:e>
                            <m:sup>
                              <m:r>
                                <a:rPr lang="en-US" altLang="zh-CN" b="0" i="1" smtClean="0">
                                  <a:latin typeface="Cambria Math" panose="02040503050406030204" pitchFamily="18" charset="0"/>
                                  <a:ea typeface="Cambria Math" panose="02040503050406030204" pitchFamily="18" charset="0"/>
                                </a:rPr>
                                <m:t>′</m:t>
                              </m:r>
                            </m:sup>
                          </m:sSup>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𝑡</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1</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𝑢</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m:t>
                      </m:r>
                    </m:oMath>
                  </m:oMathPara>
                </a14:m>
                <a:endParaRPr lang="en-US" altLang="zh-CN" dirty="0"/>
              </a:p>
              <a:p>
                <a:pPr lvl="2"/>
                <a:r>
                  <a:rPr lang="zh-CN" altLang="en-US" dirty="0"/>
                  <a:t>例：检索至少选修课程号为</a:t>
                </a:r>
                <a:r>
                  <a:rPr lang="en-US" altLang="zh-CN" dirty="0"/>
                  <a:t>C2</a:t>
                </a:r>
                <a:r>
                  <a:rPr lang="zh-CN" altLang="en-US" dirty="0"/>
                  <a:t>和</a:t>
                </a:r>
                <a:r>
                  <a:rPr lang="en-US" altLang="zh-CN" dirty="0"/>
                  <a:t>C4</a:t>
                </a:r>
                <a:r>
                  <a:rPr lang="zh-CN" altLang="en-US" dirty="0"/>
                  <a:t>的学生学号</a:t>
                </a:r>
                <a:endParaRPr lang="en-US" altLang="zh-CN" dirty="0"/>
              </a:p>
              <a:p>
                <a:pPr marL="1371600" lvl="3" indent="0">
                  <a:buNone/>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50000"/>
                                  <a:lumOff val="50000"/>
                                </a:schemeClr>
                              </a:solidFill>
                              <a:latin typeface="Cambria Math" panose="02040503050406030204" pitchFamily="18" charset="0"/>
                            </a:rPr>
                          </m:ctrlPr>
                        </m:sSubPr>
                        <m:e>
                          <m:r>
                            <a:rPr lang="en-US" altLang="zh-CN" b="0" i="1" smtClean="0">
                              <a:solidFill>
                                <a:schemeClr val="tx1">
                                  <a:lumMod val="50000"/>
                                  <a:lumOff val="50000"/>
                                </a:schemeClr>
                              </a:solidFill>
                              <a:latin typeface="Cambria Math" panose="02040503050406030204" pitchFamily="18" charset="0"/>
                            </a:rPr>
                            <m:t>𝜋</m:t>
                          </m:r>
                        </m:e>
                        <m:sub>
                          <m:r>
                            <a:rPr lang="en-US" altLang="zh-CN" b="0" i="1" smtClean="0">
                              <a:solidFill>
                                <a:schemeClr val="tx1">
                                  <a:lumMod val="50000"/>
                                  <a:lumOff val="50000"/>
                                </a:schemeClr>
                              </a:solidFill>
                              <a:latin typeface="Cambria Math" panose="02040503050406030204" pitchFamily="18" charset="0"/>
                            </a:rPr>
                            <m:t>𝑆</m:t>
                          </m:r>
                          <m:r>
                            <a:rPr lang="en-US" altLang="zh-CN" b="0" i="1" smtClean="0">
                              <a:solidFill>
                                <a:schemeClr val="tx1">
                                  <a:lumMod val="50000"/>
                                  <a:lumOff val="50000"/>
                                </a:schemeClr>
                              </a:solidFill>
                              <a:latin typeface="Cambria Math" panose="02040503050406030204" pitchFamily="18" charset="0"/>
                            </a:rPr>
                            <m:t>#</m:t>
                          </m:r>
                        </m:sub>
                      </m:sSub>
                      <m:r>
                        <a:rPr lang="en-US" altLang="zh-CN" b="0" i="1" smtClean="0">
                          <a:solidFill>
                            <a:schemeClr val="tx1">
                              <a:lumMod val="50000"/>
                              <a:lumOff val="50000"/>
                            </a:schemeClr>
                          </a:solidFill>
                          <a:latin typeface="Cambria Math" panose="02040503050406030204" pitchFamily="18" charset="0"/>
                        </a:rPr>
                        <m:t>(</m:t>
                      </m:r>
                      <m:sSub>
                        <m:sSubPr>
                          <m:ctrlPr>
                            <a:rPr lang="en-US" altLang="zh-CN" b="0" i="1" smtClean="0">
                              <a:solidFill>
                                <a:schemeClr val="tx1">
                                  <a:lumMod val="50000"/>
                                  <a:lumOff val="50000"/>
                                </a:schemeClr>
                              </a:solidFill>
                              <a:latin typeface="Cambria Math" panose="02040503050406030204" pitchFamily="18" charset="0"/>
                            </a:rPr>
                          </m:ctrlPr>
                        </m:sSubPr>
                        <m:e>
                          <m:r>
                            <a:rPr lang="en-US" altLang="zh-CN" b="0" i="1" smtClean="0">
                              <a:solidFill>
                                <a:schemeClr val="tx1">
                                  <a:lumMod val="50000"/>
                                  <a:lumOff val="50000"/>
                                </a:schemeClr>
                              </a:solidFill>
                              <a:latin typeface="Cambria Math" panose="02040503050406030204" pitchFamily="18" charset="0"/>
                            </a:rPr>
                            <m:t>𝜎</m:t>
                          </m:r>
                        </m:e>
                        <m:sub>
                          <m:r>
                            <a:rPr lang="en-US" altLang="zh-CN" b="0" i="1" smtClean="0">
                              <a:solidFill>
                                <a:schemeClr val="tx1">
                                  <a:lumMod val="50000"/>
                                  <a:lumOff val="50000"/>
                                </a:schemeClr>
                              </a:solidFill>
                              <a:latin typeface="Cambria Math" panose="02040503050406030204" pitchFamily="18" charset="0"/>
                            </a:rPr>
                            <m:t>1</m:t>
                          </m:r>
                          <m:r>
                            <a:rPr lang="en-US" altLang="zh-CN" b="0" i="1" smtClean="0">
                              <a:solidFill>
                                <a:schemeClr val="tx1">
                                  <a:lumMod val="50000"/>
                                  <a:lumOff val="50000"/>
                                </a:schemeClr>
                              </a:solidFill>
                              <a:latin typeface="Cambria Math" panose="02040503050406030204" pitchFamily="18" charset="0"/>
                            </a:rPr>
                            <m:t>=</m:t>
                          </m:r>
                          <m:r>
                            <a:rPr lang="en-US" altLang="zh-CN" b="0" i="1" smtClean="0">
                              <a:solidFill>
                                <a:schemeClr val="tx1">
                                  <a:lumMod val="50000"/>
                                  <a:lumOff val="50000"/>
                                </a:schemeClr>
                              </a:solidFill>
                              <a:latin typeface="Cambria Math" panose="02040503050406030204" pitchFamily="18" charset="0"/>
                            </a:rPr>
                            <m:t>4</m:t>
                          </m:r>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m:t>
                          </m:r>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2</m:t>
                          </m:r>
                          <m:sSup>
                            <m:sSupPr>
                              <m:ctrlP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ctrlPr>
                            </m:sSupPr>
                            <m:e>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m:t>
                              </m:r>
                            </m:e>
                            <m:sup>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m:t>
                              </m:r>
                            </m:sup>
                          </m:sSup>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𝐶</m:t>
                          </m:r>
                          <m:sSup>
                            <m:sSupPr>
                              <m:ctrlP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ctrlPr>
                            </m:sSupPr>
                            <m:e>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2</m:t>
                              </m:r>
                            </m:e>
                            <m:sup>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m:t>
                              </m:r>
                            </m:sup>
                          </m:sSup>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m:t>
                          </m:r>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5</m:t>
                          </m:r>
                          <m:sSup>
                            <m:sSupPr>
                              <m:ctrlP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ctrlPr>
                            </m:sSupPr>
                            <m:e>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m:t>
                              </m:r>
                            </m:e>
                            <m:sup>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m:t>
                              </m:r>
                            </m:sup>
                          </m:sSup>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𝐶</m:t>
                          </m:r>
                          <m:sSup>
                            <m:sSupPr>
                              <m:ctrlP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ctrlPr>
                            </m:sSupPr>
                            <m:e>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4</m:t>
                              </m:r>
                            </m:e>
                            <m:sup>
                              <m:r>
                                <a:rPr lang="en-US" altLang="zh-CN" b="0" i="1" smtClean="0">
                                  <a:solidFill>
                                    <a:schemeClr val="tx1">
                                      <a:lumMod val="50000"/>
                                      <a:lumOff val="50000"/>
                                    </a:schemeClr>
                                  </a:solidFill>
                                  <a:latin typeface="Cambria Math" panose="02040503050406030204" pitchFamily="18" charset="0"/>
                                  <a:ea typeface="Cambria Math" panose="02040503050406030204" pitchFamily="18" charset="0"/>
                                </a:rPr>
                                <m:t>′</m:t>
                              </m:r>
                            </m:sup>
                          </m:sSup>
                        </m:sub>
                      </m:sSub>
                      <m:r>
                        <a:rPr lang="en-US" altLang="zh-CN" b="0" i="1" smtClean="0">
                          <a:solidFill>
                            <a:schemeClr val="tx1">
                              <a:lumMod val="50000"/>
                              <a:lumOff val="50000"/>
                            </a:schemeClr>
                          </a:solidFill>
                          <a:latin typeface="Cambria Math" panose="02040503050406030204" pitchFamily="18" charset="0"/>
                        </a:rPr>
                        <m:t>(</m:t>
                      </m:r>
                      <m:r>
                        <a:rPr lang="en-US" altLang="zh-CN" b="0" i="1" smtClean="0">
                          <a:solidFill>
                            <a:schemeClr val="tx1">
                              <a:lumMod val="50000"/>
                              <a:lumOff val="50000"/>
                            </a:schemeClr>
                          </a:solidFill>
                          <a:latin typeface="Cambria Math" panose="02040503050406030204" pitchFamily="18" charset="0"/>
                        </a:rPr>
                        <m:t>𝑆𝐶</m:t>
                      </m:r>
                      <m:r>
                        <a:rPr lang="en-US" altLang="zh-CN" b="0" i="1" smtClean="0">
                          <a:solidFill>
                            <a:schemeClr val="tx1">
                              <a:lumMod val="50000"/>
                              <a:lumOff val="50000"/>
                            </a:schemeClr>
                          </a:solidFill>
                          <a:latin typeface="Cambria Math" panose="02040503050406030204" pitchFamily="18" charset="0"/>
                        </a:rPr>
                        <m:t>×</m:t>
                      </m:r>
                      <m:r>
                        <a:rPr lang="en-US" altLang="zh-CN" b="0" i="1" smtClean="0">
                          <a:solidFill>
                            <a:schemeClr val="tx1">
                              <a:lumMod val="50000"/>
                              <a:lumOff val="50000"/>
                            </a:schemeClr>
                          </a:solidFill>
                          <a:latin typeface="Cambria Math" panose="02040503050406030204" pitchFamily="18" charset="0"/>
                        </a:rPr>
                        <m:t>𝑆𝐶</m:t>
                      </m:r>
                      <m:r>
                        <a:rPr lang="en-US" altLang="zh-CN" b="0" i="1" smtClean="0">
                          <a:solidFill>
                            <a:schemeClr val="tx1">
                              <a:lumMod val="50000"/>
                              <a:lumOff val="50000"/>
                            </a:schemeClr>
                          </a:solidFill>
                          <a:latin typeface="Cambria Math" panose="02040503050406030204" pitchFamily="18" charset="0"/>
                        </a:rPr>
                        <m:t>)</m:t>
                      </m:r>
                    </m:oMath>
                  </m:oMathPara>
                </a14:m>
                <a:endParaRPr lang="en-US" altLang="zh-CN" dirty="0">
                  <a:solidFill>
                    <a:schemeClr val="tx1">
                      <a:lumMod val="50000"/>
                      <a:lumOff val="50000"/>
                    </a:schemeClr>
                  </a:solidFill>
                </a:endParaRPr>
              </a:p>
              <a:p>
                <a:pPr marL="1371600" lvl="3" indent="0">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𝑡</m:t>
                      </m:r>
                      <m:r>
                        <a:rPr lang="en-US" altLang="zh-CN" sz="1800" i="1" dirty="0" smtClean="0">
                          <a:latin typeface="Cambria Math" panose="02040503050406030204" pitchFamily="18" charset="0"/>
                        </a:rPr>
                        <m:t>| (∃</m:t>
                      </m:r>
                      <m:r>
                        <a:rPr lang="en-US" altLang="zh-CN" sz="1800" i="1" dirty="0" smtClean="0">
                          <a:latin typeface="Cambria Math" panose="02040503050406030204" pitchFamily="18" charset="0"/>
                        </a:rPr>
                        <m:t>𝑢</m:t>
                      </m:r>
                      <m:r>
                        <a:rPr lang="en-US" altLang="zh-CN" sz="1800" i="1" dirty="0" smtClean="0">
                          <a:latin typeface="Cambria Math" panose="02040503050406030204" pitchFamily="18" charset="0"/>
                        </a:rPr>
                        <m:t>) (∃</m:t>
                      </m:r>
                      <m:r>
                        <a:rPr lang="en-US" altLang="zh-CN" sz="1800" i="1" dirty="0" smtClean="0">
                          <a:latin typeface="Cambria Math" panose="02040503050406030204" pitchFamily="18" charset="0"/>
                        </a:rPr>
                        <m:t>𝑣</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𝑆𝐶</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𝑢</m:t>
                      </m:r>
                      <m:r>
                        <a:rPr lang="en-US" altLang="zh-CN" sz="1800" i="1" dirty="0" smtClean="0">
                          <a:latin typeface="Cambria Math" panose="02040503050406030204" pitchFamily="18" charset="0"/>
                        </a:rPr>
                        <m:t>) ∧</m:t>
                      </m:r>
                      <m:r>
                        <a:rPr lang="en-US" altLang="zh-CN" sz="1800" i="1" dirty="0" smtClean="0">
                          <a:latin typeface="Cambria Math" panose="02040503050406030204" pitchFamily="18" charset="0"/>
                        </a:rPr>
                        <m:t>𝑆𝐶</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𝑣</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𝑢</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2</m:t>
                      </m:r>
                      <m:r>
                        <a:rPr lang="en-US" altLang="zh-CN" sz="1800" i="1" dirty="0" smtClean="0">
                          <a:latin typeface="Cambria Math" panose="02040503050406030204" pitchFamily="18" charset="0"/>
                        </a:rPr>
                        <m:t>] = ‘</m:t>
                      </m:r>
                      <m:r>
                        <a:rPr lang="en-US" altLang="zh-CN" sz="1800" i="1" dirty="0" smtClean="0">
                          <a:latin typeface="Cambria Math" panose="02040503050406030204" pitchFamily="18" charset="0"/>
                        </a:rPr>
                        <m:t>𝐶</m:t>
                      </m:r>
                      <m:r>
                        <a:rPr lang="en-US" altLang="zh-CN" sz="1800" i="1" dirty="0" smtClean="0">
                          <a:latin typeface="Cambria Math" panose="02040503050406030204" pitchFamily="18" charset="0"/>
                        </a:rPr>
                        <m:t>2</m:t>
                      </m:r>
                      <m:r>
                        <a:rPr lang="en-US" altLang="zh-CN" sz="1800" i="1" dirty="0" smtClean="0">
                          <a:latin typeface="Cambria Math" panose="02040503050406030204" pitchFamily="18" charset="0"/>
                        </a:rPr>
                        <m:t>’ ∧</m:t>
                      </m:r>
                      <m:r>
                        <a:rPr lang="en-US" altLang="zh-CN" sz="1800" i="1" dirty="0" smtClean="0">
                          <a:latin typeface="Cambria Math" panose="02040503050406030204" pitchFamily="18" charset="0"/>
                        </a:rPr>
                        <m:t>𝑣</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2</m:t>
                      </m:r>
                      <m:r>
                        <a:rPr lang="en-US" altLang="zh-CN" sz="1800" i="1" dirty="0" smtClean="0">
                          <a:latin typeface="Cambria Math" panose="02040503050406030204" pitchFamily="18" charset="0"/>
                        </a:rPr>
                        <m:t>] = ‘</m:t>
                      </m:r>
                      <m:r>
                        <a:rPr lang="en-US" altLang="zh-CN" sz="1800" i="1" dirty="0" smtClean="0">
                          <a:latin typeface="Cambria Math" panose="02040503050406030204" pitchFamily="18" charset="0"/>
                        </a:rPr>
                        <m:t>𝐶</m:t>
                      </m:r>
                      <m:r>
                        <a:rPr lang="en-US" altLang="zh-CN" sz="1800" i="1" dirty="0" smtClean="0">
                          <a:latin typeface="Cambria Math" panose="02040503050406030204" pitchFamily="18" charset="0"/>
                        </a:rPr>
                        <m:t>4</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𝑢</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1</m:t>
                      </m:r>
                      <m:r>
                        <a:rPr lang="en-US" altLang="zh-CN" sz="1800" i="1" dirty="0" smtClean="0">
                          <a:latin typeface="Cambria Math" panose="02040503050406030204" pitchFamily="18" charset="0"/>
                        </a:rPr>
                        <m:t>] = </m:t>
                      </m:r>
                      <m:r>
                        <a:rPr lang="en-US" altLang="zh-CN" sz="1800" i="1" dirty="0" smtClean="0">
                          <a:latin typeface="Cambria Math" panose="02040503050406030204" pitchFamily="18" charset="0"/>
                        </a:rPr>
                        <m:t>𝑣</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1</m:t>
                      </m:r>
                      <m:r>
                        <a:rPr lang="en-US" altLang="zh-CN" sz="1800" i="1" dirty="0" smtClean="0">
                          <a:latin typeface="Cambria Math" panose="02040503050406030204" pitchFamily="18" charset="0"/>
                        </a:rPr>
                        <m:t>] ∧ </m:t>
                      </m:r>
                      <m:r>
                        <a:rPr lang="en-US" altLang="zh-CN" sz="1800" i="1" dirty="0" smtClean="0">
                          <a:latin typeface="Cambria Math" panose="02040503050406030204" pitchFamily="18" charset="0"/>
                        </a:rPr>
                        <m:t>𝑡</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1</m:t>
                      </m:r>
                      <m:r>
                        <a:rPr lang="en-US" altLang="zh-CN" sz="1800" i="1" dirty="0" smtClean="0">
                          <a:latin typeface="Cambria Math" panose="02040503050406030204" pitchFamily="18" charset="0"/>
                        </a:rPr>
                        <m:t>] = </m:t>
                      </m:r>
                      <m:r>
                        <a:rPr lang="en-US" altLang="zh-CN" sz="1800" i="1" dirty="0" smtClean="0">
                          <a:latin typeface="Cambria Math" panose="02040503050406030204" pitchFamily="18" charset="0"/>
                        </a:rPr>
                        <m:t>𝑢</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1</m:t>
                      </m:r>
                      <m:r>
                        <a:rPr lang="en-US" altLang="zh-CN" sz="1800" i="1" dirty="0" smtClean="0">
                          <a:latin typeface="Cambria Math" panose="02040503050406030204" pitchFamily="18" charset="0"/>
                        </a:rPr>
                        <m:t>])}</m:t>
                      </m:r>
                    </m:oMath>
                  </m:oMathPara>
                </a14:m>
                <a:endParaRPr lang="zh-CN" altLang="en-US" dirty="0"/>
              </a:p>
              <a:p>
                <a:pPr lvl="2"/>
                <a:endParaRPr lang="zh-CN" altLang="en-US" dirty="0"/>
              </a:p>
              <a:p>
                <a:pPr lvl="2"/>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7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2.3 </a:t>
            </a:r>
            <a:r>
              <a:rPr lang="zh-CN" altLang="en-US" dirty="0"/>
              <a:t>关系演算</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wipe(down)">
                                      <p:cBhvr>
                                        <p:cTn id="7" dur="500"/>
                                        <p:tgtEl>
                                          <p:spTgt spid="2">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7" end="7"/>
                                            </p:txEl>
                                          </p:spTgt>
                                        </p:tgtEl>
                                        <p:attrNameLst>
                                          <p:attrName>style.visibility</p:attrName>
                                        </p:attrNameLst>
                                      </p:cBhvr>
                                      <p:to>
                                        <p:strVal val="visible"/>
                                      </p:to>
                                    </p:set>
                                    <p:animEffect transition="in" filter="wipe(down)">
                                      <p:cBhvr>
                                        <p:cTn id="1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域关系演算</a:t>
                </a:r>
                <a:endParaRPr lang="en-US" altLang="zh-CN" dirty="0"/>
              </a:p>
              <a:p>
                <a:pPr lvl="1"/>
                <a:r>
                  <a:rPr lang="zh-CN" altLang="en-US" dirty="0"/>
                  <a:t>域关系演算表达式的一般形式是</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𝑥</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𝑥𝑘</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𝑥</m:t>
                    </m:r>
                    <m:r>
                      <a:rPr lang="en-US" altLang="zh-CN" i="1" dirty="0" smtClean="0">
                        <a:latin typeface="Cambria Math" panose="02040503050406030204" pitchFamily="18" charset="0"/>
                      </a:rPr>
                      <m:t>1</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r>
                      <a:rPr lang="en-US" altLang="zh-CN" i="1" dirty="0" err="1" smtClean="0">
                        <a:latin typeface="Cambria Math" panose="02040503050406030204" pitchFamily="18" charset="0"/>
                      </a:rPr>
                      <m:t>𝑥𝑘</m:t>
                    </m:r>
                    <m:r>
                      <a:rPr lang="en-US" altLang="zh-CN" i="1" dirty="0" smtClean="0">
                        <a:latin typeface="Cambria Math" panose="02040503050406030204" pitchFamily="18" charset="0"/>
                      </a:rPr>
                      <m:t>)}</m:t>
                    </m:r>
                  </m:oMath>
                </a14:m>
                <a:r>
                  <a:rPr lang="zh-CN" altLang="en-US" dirty="0"/>
                  <a:t>，其中</a:t>
                </a:r>
                <a14:m>
                  <m:oMath xmlns:m="http://schemas.openxmlformats.org/officeDocument/2006/math">
                    <m:r>
                      <a:rPr lang="en-US" altLang="zh-CN" i="1" dirty="0" smtClean="0">
                        <a:latin typeface="Cambria Math" panose="02040503050406030204" pitchFamily="18" charset="0"/>
                      </a:rPr>
                      <m:t>𝑥</m:t>
                    </m:r>
                    <m:r>
                      <a:rPr lang="en-US" altLang="zh-CN" i="1" dirty="0" smtClean="0">
                        <a:latin typeface="Cambria Math" panose="02040503050406030204" pitchFamily="18" charset="0"/>
                      </a:rPr>
                      <m:t>1</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r>
                      <a:rPr lang="en-US" altLang="zh-CN" i="1" dirty="0" err="1" smtClean="0">
                        <a:latin typeface="Cambria Math" panose="02040503050406030204" pitchFamily="18" charset="0"/>
                      </a:rPr>
                      <m:t>𝑥𝑘</m:t>
                    </m:r>
                  </m:oMath>
                </a14:m>
                <a:r>
                  <a:rPr lang="zh-CN" altLang="en-US" dirty="0"/>
                  <a:t>都是域变量，</a:t>
                </a:r>
                <a14:m>
                  <m:oMath xmlns:m="http://schemas.openxmlformats.org/officeDocument/2006/math">
                    <m:r>
                      <a:rPr lang="en-US" altLang="zh-CN" i="1" dirty="0" smtClean="0">
                        <a:latin typeface="Cambria Math" panose="02040503050406030204" pitchFamily="18" charset="0"/>
                      </a:rPr>
                      <m:t>𝑃</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𝑥</m:t>
                    </m:r>
                    <m:r>
                      <a:rPr lang="en-US" altLang="zh-CN" i="1" dirty="0" smtClean="0">
                        <a:latin typeface="Cambria Math" panose="02040503050406030204" pitchFamily="18" charset="0"/>
                      </a:rPr>
                      <m:t>1</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r>
                      <a:rPr lang="en-US" altLang="zh-CN" i="1" dirty="0" err="1" smtClean="0">
                        <a:latin typeface="Cambria Math" panose="02040503050406030204" pitchFamily="18" charset="0"/>
                      </a:rPr>
                      <m:t>𝑥𝑘</m:t>
                    </m:r>
                    <m:r>
                      <a:rPr lang="en-US" altLang="zh-CN" i="1" dirty="0" smtClean="0">
                        <a:latin typeface="Cambria Math" panose="02040503050406030204" pitchFamily="18" charset="0"/>
                      </a:rPr>
                      <m:t>)</m:t>
                    </m:r>
                  </m:oMath>
                </a14:m>
                <a:r>
                  <a:rPr lang="zh-CN" altLang="en-US" dirty="0"/>
                  <a:t>是域关系演算公式，一般由原子公式构成</a:t>
                </a:r>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2.3 </a:t>
            </a:r>
            <a:r>
              <a:rPr lang="zh-CN" altLang="en-US" dirty="0"/>
              <a:t>关系演算</a:t>
            </a:r>
            <a:endParaRPr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域关系演算</a:t>
                </a:r>
                <a:endParaRPr lang="en-US" altLang="zh-CN" dirty="0"/>
              </a:p>
              <a:p>
                <a:pPr lvl="1"/>
                <a:r>
                  <a:rPr lang="zh-CN" altLang="en-US" dirty="0"/>
                  <a:t>类似元组演算，域演算原子公式定义如下：</a:t>
                </a:r>
                <a:endParaRPr lang="zh-CN" altLang="en-US" dirty="0"/>
              </a:p>
              <a:p>
                <a:pPr lvl="2"/>
                <a14:m>
                  <m:oMath xmlns:m="http://schemas.openxmlformats.org/officeDocument/2006/math">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𝑥</m:t>
                    </m:r>
                    <m:r>
                      <a:rPr lang="en-US" altLang="zh-CN" i="1" dirty="0" smtClean="0">
                        <a:latin typeface="Cambria Math" panose="02040503050406030204" pitchFamily="18" charset="0"/>
                      </a:rPr>
                      <m:t>1</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r>
                      <a:rPr lang="en-US" altLang="zh-CN" i="1" dirty="0" err="1" smtClean="0">
                        <a:latin typeface="Cambria Math" panose="02040503050406030204" pitchFamily="18" charset="0"/>
                      </a:rPr>
                      <m:t>𝑥𝑘</m:t>
                    </m:r>
                    <m:r>
                      <a:rPr lang="en-US" altLang="zh-CN" i="1" dirty="0" smtClean="0">
                        <a:latin typeface="Cambria Math" panose="02040503050406030204" pitchFamily="18" charset="0"/>
                      </a:rPr>
                      <m:t>)</m:t>
                    </m:r>
                  </m:oMath>
                </a14:m>
                <a:r>
                  <a:rPr lang="zh-CN" altLang="en-US" dirty="0"/>
                  <a:t>，其中</a:t>
                </a:r>
                <a14:m>
                  <m:oMath xmlns:m="http://schemas.openxmlformats.org/officeDocument/2006/math">
                    <m:r>
                      <a:rPr lang="en-US" altLang="zh-CN" i="1" dirty="0" smtClean="0">
                        <a:latin typeface="Cambria Math" panose="02040503050406030204" pitchFamily="18" charset="0"/>
                      </a:rPr>
                      <m:t>𝑥</m:t>
                    </m:r>
                    <m:r>
                      <a:rPr lang="en-US" altLang="zh-CN" i="1" dirty="0" smtClean="0">
                        <a:latin typeface="Cambria Math" panose="02040503050406030204" pitchFamily="18" charset="0"/>
                      </a:rPr>
                      <m:t>1</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r>
                      <a:rPr lang="en-US" altLang="zh-CN" i="1" dirty="0" err="1" smtClean="0">
                        <a:latin typeface="Cambria Math" panose="02040503050406030204" pitchFamily="18" charset="0"/>
                      </a:rPr>
                      <m:t>𝑥𝑘</m:t>
                    </m:r>
                  </m:oMath>
                </a14:m>
                <a:r>
                  <a:rPr lang="zh-CN" altLang="en-US" dirty="0"/>
                  <a:t>都是域变量或常量，</a:t>
                </a:r>
                <a:r>
                  <a:rPr lang="en-US" altLang="zh-CN" dirty="0"/>
                  <a:t>R</a:t>
                </a:r>
                <a:r>
                  <a:rPr lang="zh-CN" altLang="en-US" dirty="0"/>
                  <a:t>是</a:t>
                </a:r>
                <a:r>
                  <a:rPr lang="en-US" altLang="zh-CN" dirty="0"/>
                  <a:t>k</a:t>
                </a:r>
                <a:r>
                  <a:rPr lang="zh-CN" altLang="en-US" dirty="0"/>
                  <a:t>元关系，</a:t>
                </a:r>
                <a14:m>
                  <m:oMath xmlns:m="http://schemas.openxmlformats.org/officeDocument/2006/math">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𝑥</m:t>
                    </m:r>
                    <m:r>
                      <a:rPr lang="en-US" altLang="zh-CN" i="1" dirty="0" smtClean="0">
                        <a:latin typeface="Cambria Math" panose="02040503050406030204" pitchFamily="18" charset="0"/>
                      </a:rPr>
                      <m:t>1</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r>
                      <a:rPr lang="en-US" altLang="zh-CN" i="1" dirty="0" err="1" smtClean="0">
                        <a:latin typeface="Cambria Math" panose="02040503050406030204" pitchFamily="18" charset="0"/>
                      </a:rPr>
                      <m:t>𝑥𝑘</m:t>
                    </m:r>
                    <m:r>
                      <a:rPr lang="en-US" altLang="zh-CN" i="1" dirty="0" smtClean="0">
                        <a:latin typeface="Cambria Math" panose="02040503050406030204" pitchFamily="18" charset="0"/>
                      </a:rPr>
                      <m:t>)</m:t>
                    </m:r>
                  </m:oMath>
                </a14:m>
                <a:r>
                  <a:rPr lang="zh-CN" altLang="en-US" dirty="0"/>
                  <a:t>表示由</a:t>
                </a:r>
                <a14:m>
                  <m:oMath xmlns:m="http://schemas.openxmlformats.org/officeDocument/2006/math">
                    <m:r>
                      <a:rPr lang="en-US" altLang="zh-CN" i="1" dirty="0" smtClean="0">
                        <a:latin typeface="Cambria Math" panose="02040503050406030204" pitchFamily="18" charset="0"/>
                      </a:rPr>
                      <m:t>𝑥</m:t>
                    </m:r>
                    <m:r>
                      <a:rPr lang="en-US" altLang="zh-CN" i="1" dirty="0" smtClean="0">
                        <a:latin typeface="Cambria Math" panose="02040503050406030204" pitchFamily="18" charset="0"/>
                      </a:rPr>
                      <m:t>1</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r>
                      <a:rPr lang="en-US" altLang="zh-CN" i="1" dirty="0" err="1" smtClean="0">
                        <a:latin typeface="Cambria Math" panose="02040503050406030204" pitchFamily="18" charset="0"/>
                      </a:rPr>
                      <m:t>𝑥𝑘</m:t>
                    </m:r>
                  </m:oMath>
                </a14:m>
                <a:r>
                  <a:rPr lang="zh-CN" altLang="en-US" dirty="0"/>
                  <a:t>构成的元组满足关系</a:t>
                </a:r>
                <a14:m>
                  <m:oMath xmlns:m="http://schemas.openxmlformats.org/officeDocument/2006/math">
                    <m:r>
                      <a:rPr lang="en-US" altLang="zh-CN" i="1" dirty="0" smtClean="0">
                        <a:latin typeface="Cambria Math" panose="02040503050406030204" pitchFamily="18" charset="0"/>
                      </a:rPr>
                      <m:t>𝑅</m:t>
                    </m:r>
                  </m:oMath>
                </a14:m>
                <a:r>
                  <a:rPr lang="zh-CN" altLang="en-US" dirty="0"/>
                  <a:t>；</a:t>
                </a:r>
                <a:endParaRPr lang="zh-CN" altLang="en-US" dirty="0"/>
              </a:p>
              <a:p>
                <a:pPr lvl="2"/>
                <a14:m>
                  <m:oMath xmlns:m="http://schemas.openxmlformats.org/officeDocument/2006/math">
                    <m:r>
                      <a:rPr lang="en-US" altLang="zh-CN" i="1" dirty="0" smtClean="0">
                        <a:latin typeface="Cambria Math" panose="02040503050406030204" pitchFamily="18" charset="0"/>
                      </a:rPr>
                      <m:t>𝑥</m:t>
                    </m:r>
                    <m:r>
                      <a:rPr lang="en-US" altLang="zh-CN" i="1" dirty="0" smtClean="0">
                        <a:latin typeface="Cambria Math" panose="02040503050406030204" pitchFamily="18" charset="0"/>
                      </a:rPr>
                      <m:t>𝜃</m:t>
                    </m:r>
                    <m:r>
                      <a:rPr lang="en-US" altLang="zh-CN" i="1" dirty="0" smtClean="0">
                        <a:latin typeface="Cambria Math" panose="02040503050406030204" pitchFamily="18" charset="0"/>
                      </a:rPr>
                      <m:t>𝑦</m:t>
                    </m:r>
                  </m:oMath>
                </a14:m>
                <a:r>
                  <a:rPr lang="zh-CN" altLang="en-US" dirty="0"/>
                  <a:t>，其中</a:t>
                </a:r>
                <a14:m>
                  <m:oMath xmlns:m="http://schemas.openxmlformats.org/officeDocument/2006/math">
                    <m:r>
                      <a:rPr lang="en-US" altLang="zh-CN" i="1" dirty="0" smtClean="0">
                        <a:latin typeface="Cambria Math" panose="02040503050406030204" pitchFamily="18" charset="0"/>
                      </a:rPr>
                      <m:t>𝑥</m:t>
                    </m:r>
                  </m:oMath>
                </a14:m>
                <a:r>
                  <a:rPr lang="zh-CN" altLang="en-US" dirty="0"/>
                  <a:t>和</a:t>
                </a:r>
                <a14:m>
                  <m:oMath xmlns:m="http://schemas.openxmlformats.org/officeDocument/2006/math">
                    <m:r>
                      <a:rPr lang="en-US" altLang="zh-CN" i="1" dirty="0" smtClean="0">
                        <a:latin typeface="Cambria Math" panose="02040503050406030204" pitchFamily="18" charset="0"/>
                      </a:rPr>
                      <m:t>𝑦</m:t>
                    </m:r>
                  </m:oMath>
                </a14:m>
                <a:r>
                  <a:rPr lang="zh-CN" altLang="en-US" dirty="0"/>
                  <a:t>都是域变量，</a:t>
                </a:r>
                <a14:m>
                  <m:oMath xmlns:m="http://schemas.openxmlformats.org/officeDocument/2006/math">
                    <m:r>
                      <a:rPr lang="en-US" altLang="zh-CN" i="1" dirty="0" smtClean="0">
                        <a:latin typeface="Cambria Math" panose="02040503050406030204" pitchFamily="18" charset="0"/>
                      </a:rPr>
                      <m:t>𝜃</m:t>
                    </m:r>
                  </m:oMath>
                </a14:m>
                <a:r>
                  <a:rPr lang="zh-CN" altLang="en-US" dirty="0"/>
                  <a:t>是算术比较运算符。 </a:t>
                </a:r>
                <a14:m>
                  <m:oMath xmlns:m="http://schemas.openxmlformats.org/officeDocument/2006/math">
                    <m:r>
                      <a:rPr lang="en-US" altLang="zh-CN" i="1" dirty="0" smtClean="0">
                        <a:latin typeface="Cambria Math" panose="02040503050406030204" pitchFamily="18" charset="0"/>
                      </a:rPr>
                      <m:t>𝑥</m:t>
                    </m:r>
                    <m:r>
                      <a:rPr lang="en-US" altLang="zh-CN" i="1" dirty="0" smtClean="0">
                        <a:latin typeface="Cambria Math" panose="02040503050406030204" pitchFamily="18" charset="0"/>
                      </a:rPr>
                      <m:t>𝜃</m:t>
                    </m:r>
                    <m:r>
                      <a:rPr lang="en-US" altLang="zh-CN" i="1" dirty="0" smtClean="0">
                        <a:latin typeface="Cambria Math" panose="02040503050406030204" pitchFamily="18" charset="0"/>
                      </a:rPr>
                      <m:t>𝑦</m:t>
                    </m:r>
                  </m:oMath>
                </a14:m>
                <a:r>
                  <a:rPr lang="zh-CN" altLang="en-US" dirty="0"/>
                  <a:t>表示</a:t>
                </a:r>
                <a14:m>
                  <m:oMath xmlns:m="http://schemas.openxmlformats.org/officeDocument/2006/math">
                    <m:r>
                      <a:rPr lang="en-US" altLang="zh-CN" i="1" dirty="0" smtClean="0">
                        <a:latin typeface="Cambria Math" panose="02040503050406030204" pitchFamily="18" charset="0"/>
                      </a:rPr>
                      <m:t>𝑥</m:t>
                    </m:r>
                  </m:oMath>
                </a14:m>
                <a:r>
                  <a:rPr lang="zh-CN" altLang="en-US" dirty="0"/>
                  <a:t>和</a:t>
                </a:r>
                <a14:m>
                  <m:oMath xmlns:m="http://schemas.openxmlformats.org/officeDocument/2006/math">
                    <m:r>
                      <a:rPr lang="en-US" altLang="zh-CN" i="1" dirty="0" smtClean="0">
                        <a:latin typeface="Cambria Math" panose="02040503050406030204" pitchFamily="18" charset="0"/>
                      </a:rPr>
                      <m:t>𝑦</m:t>
                    </m:r>
                  </m:oMath>
                </a14:m>
                <a:r>
                  <a:rPr lang="zh-CN" altLang="en-US" dirty="0"/>
                  <a:t>满足</a:t>
                </a:r>
                <a14:m>
                  <m:oMath xmlns:m="http://schemas.openxmlformats.org/officeDocument/2006/math">
                    <m:r>
                      <a:rPr lang="en-US" altLang="zh-CN" i="1" dirty="0" smtClean="0">
                        <a:latin typeface="Cambria Math" panose="02040503050406030204" pitchFamily="18" charset="0"/>
                      </a:rPr>
                      <m:t>𝜃</m:t>
                    </m:r>
                  </m:oMath>
                </a14:m>
                <a:r>
                  <a:rPr lang="zh-CN" altLang="en-US" dirty="0"/>
                  <a:t>比较关系；</a:t>
                </a:r>
                <a:endParaRPr lang="zh-CN" altLang="en-US" dirty="0"/>
              </a:p>
              <a:p>
                <a:pPr lvl="2"/>
                <a14:m>
                  <m:oMath xmlns:m="http://schemas.openxmlformats.org/officeDocument/2006/math">
                    <m:r>
                      <a:rPr lang="en-US" altLang="zh-CN" i="1" dirty="0" smtClean="0">
                        <a:latin typeface="Cambria Math" panose="02040503050406030204" pitchFamily="18" charset="0"/>
                      </a:rPr>
                      <m:t>𝑥</m:t>
                    </m:r>
                    <m:r>
                      <a:rPr lang="en-US" altLang="zh-CN" i="1" dirty="0" smtClean="0">
                        <a:latin typeface="Cambria Math" panose="02040503050406030204" pitchFamily="18" charset="0"/>
                      </a:rPr>
                      <m:t>𝜃</m:t>
                    </m:r>
                    <m:r>
                      <a:rPr lang="en-US" altLang="zh-CN" i="1" dirty="0" smtClean="0">
                        <a:latin typeface="Cambria Math" panose="02040503050406030204" pitchFamily="18" charset="0"/>
                      </a:rPr>
                      <m:t>𝑐</m:t>
                    </m:r>
                  </m:oMath>
                </a14:m>
                <a:r>
                  <a:rPr lang="zh-CN" altLang="en-US" dirty="0"/>
                  <a:t>或</a:t>
                </a:r>
                <a14:m>
                  <m:oMath xmlns:m="http://schemas.openxmlformats.org/officeDocument/2006/math">
                    <m:r>
                      <a:rPr lang="en-US" altLang="zh-CN" i="1" dirty="0" smtClean="0">
                        <a:latin typeface="Cambria Math" panose="02040503050406030204" pitchFamily="18" charset="0"/>
                      </a:rPr>
                      <m:t>𝑐</m:t>
                    </m:r>
                    <m:r>
                      <a:rPr lang="en-US" altLang="zh-CN" i="1" dirty="0" smtClean="0">
                        <a:latin typeface="Cambria Math" panose="02040503050406030204" pitchFamily="18" charset="0"/>
                      </a:rPr>
                      <m:t>𝜃</m:t>
                    </m:r>
                    <m:r>
                      <a:rPr lang="en-US" altLang="zh-CN" i="1" dirty="0" smtClean="0">
                        <a:latin typeface="Cambria Math" panose="02040503050406030204" pitchFamily="18" charset="0"/>
                      </a:rPr>
                      <m:t>𝑥</m:t>
                    </m:r>
                  </m:oMath>
                </a14:m>
                <a:r>
                  <a:rPr lang="zh-CN" altLang="en-US" dirty="0"/>
                  <a:t>，其中</a:t>
                </a:r>
                <a14:m>
                  <m:oMath xmlns:m="http://schemas.openxmlformats.org/officeDocument/2006/math">
                    <m:r>
                      <a:rPr lang="en-US" altLang="zh-CN" i="1" dirty="0" smtClean="0">
                        <a:latin typeface="Cambria Math" panose="02040503050406030204" pitchFamily="18" charset="0"/>
                      </a:rPr>
                      <m:t>𝑥</m:t>
                    </m:r>
                  </m:oMath>
                </a14:m>
                <a:r>
                  <a:rPr lang="zh-CN" altLang="en-US" dirty="0"/>
                  <a:t>是域变量，</a:t>
                </a:r>
                <a14:m>
                  <m:oMath xmlns:m="http://schemas.openxmlformats.org/officeDocument/2006/math">
                    <m:r>
                      <a:rPr lang="en-US" altLang="zh-CN" i="1" dirty="0" smtClean="0">
                        <a:latin typeface="Cambria Math" panose="02040503050406030204" pitchFamily="18" charset="0"/>
                      </a:rPr>
                      <m:t>𝑐</m:t>
                    </m:r>
                  </m:oMath>
                </a14:m>
                <a:r>
                  <a:rPr lang="zh-CN" altLang="en-US" dirty="0"/>
                  <a:t>是常量，</a:t>
                </a:r>
                <a14:m>
                  <m:oMath xmlns:m="http://schemas.openxmlformats.org/officeDocument/2006/math">
                    <m:r>
                      <a:rPr lang="en-US" altLang="zh-CN" i="1" dirty="0" smtClean="0">
                        <a:latin typeface="Cambria Math" panose="02040503050406030204" pitchFamily="18" charset="0"/>
                      </a:rPr>
                      <m:t>𝑥</m:t>
                    </m:r>
                    <m:r>
                      <a:rPr lang="en-US" altLang="zh-CN" i="1" dirty="0" smtClean="0">
                        <a:latin typeface="Cambria Math" panose="02040503050406030204" pitchFamily="18" charset="0"/>
                      </a:rPr>
                      <m:t>𝜃</m:t>
                    </m:r>
                    <m:r>
                      <a:rPr lang="en-US" altLang="zh-CN" i="1" dirty="0" smtClean="0">
                        <a:latin typeface="Cambria Math" panose="02040503050406030204" pitchFamily="18" charset="0"/>
                      </a:rPr>
                      <m:t>𝑐</m:t>
                    </m:r>
                  </m:oMath>
                </a14:m>
                <a:r>
                  <a:rPr lang="zh-CN" altLang="en-US" dirty="0"/>
                  <a:t>表示变量</a:t>
                </a:r>
                <a14:m>
                  <m:oMath xmlns:m="http://schemas.openxmlformats.org/officeDocument/2006/math">
                    <m:r>
                      <a:rPr lang="en-US" altLang="zh-CN" i="1" dirty="0" smtClean="0">
                        <a:latin typeface="Cambria Math" panose="02040503050406030204" pitchFamily="18" charset="0"/>
                      </a:rPr>
                      <m:t>𝑥</m:t>
                    </m:r>
                  </m:oMath>
                </a14:m>
                <a:r>
                  <a:rPr lang="zh-CN" altLang="en-US" dirty="0"/>
                  <a:t>与常量</a:t>
                </a:r>
                <a14:m>
                  <m:oMath xmlns:m="http://schemas.openxmlformats.org/officeDocument/2006/math">
                    <m:r>
                      <a:rPr lang="en-US" altLang="zh-CN" i="1" dirty="0" smtClean="0">
                        <a:latin typeface="Cambria Math" panose="02040503050406030204" pitchFamily="18" charset="0"/>
                      </a:rPr>
                      <m:t>𝑐</m:t>
                    </m:r>
                  </m:oMath>
                </a14:m>
                <a:r>
                  <a:rPr lang="zh-CN" altLang="en-US" dirty="0"/>
                  <a:t>满足</a:t>
                </a:r>
                <a14:m>
                  <m:oMath xmlns:m="http://schemas.openxmlformats.org/officeDocument/2006/math">
                    <m:r>
                      <a:rPr lang="en-US" altLang="zh-CN" i="1" dirty="0" smtClean="0">
                        <a:latin typeface="Cambria Math" panose="02040503050406030204" pitchFamily="18" charset="0"/>
                      </a:rPr>
                      <m:t>𝜃</m:t>
                    </m:r>
                  </m:oMath>
                </a14:m>
                <a:r>
                  <a:rPr lang="zh-CN" altLang="en-US" dirty="0"/>
                  <a:t>比较关系。</a:t>
                </a:r>
                <a14:m>
                  <m:oMath xmlns:m="http://schemas.openxmlformats.org/officeDocument/2006/math">
                    <m:r>
                      <a:rPr lang="en-US" altLang="zh-CN" i="1" dirty="0">
                        <a:latin typeface="Cambria Math" panose="02040503050406030204" pitchFamily="18" charset="0"/>
                      </a:rPr>
                      <m:t>𝑥</m:t>
                    </m:r>
                    <m:r>
                      <a:rPr lang="en-US" altLang="zh-CN" i="1" dirty="0" smtClean="0">
                        <a:latin typeface="Cambria Math" panose="02040503050406030204" pitchFamily="18" charset="0"/>
                      </a:rPr>
                      <m:t>𝜃</m:t>
                    </m:r>
                    <m:r>
                      <a:rPr lang="en-US" altLang="zh-CN" i="1" dirty="0" smtClean="0">
                        <a:latin typeface="Cambria Math" panose="02040503050406030204" pitchFamily="18" charset="0"/>
                      </a:rPr>
                      <m:t>𝑐</m:t>
                    </m:r>
                  </m:oMath>
                </a14:m>
                <a:r>
                  <a:rPr lang="zh-CN" altLang="en-US" dirty="0"/>
                  <a:t>和</a:t>
                </a:r>
                <a14:m>
                  <m:oMath xmlns:m="http://schemas.openxmlformats.org/officeDocument/2006/math">
                    <m:r>
                      <a:rPr lang="en-US" altLang="zh-CN" i="1" dirty="0" smtClean="0">
                        <a:latin typeface="Cambria Math" panose="02040503050406030204" pitchFamily="18" charset="0"/>
                      </a:rPr>
                      <m:t>𝑐</m:t>
                    </m:r>
                    <m:r>
                      <a:rPr lang="en-US" altLang="zh-CN" i="1" dirty="0" smtClean="0">
                        <a:latin typeface="Cambria Math" panose="02040503050406030204" pitchFamily="18" charset="0"/>
                      </a:rPr>
                      <m:t>𝜃</m:t>
                    </m:r>
                    <m:r>
                      <a:rPr lang="en-US" altLang="zh-CN" i="1" dirty="0" smtClean="0">
                        <a:latin typeface="Cambria Math" panose="02040503050406030204" pitchFamily="18" charset="0"/>
                      </a:rPr>
                      <m:t>𝑥</m:t>
                    </m:r>
                  </m:oMath>
                </a14:m>
                <a:r>
                  <a:rPr lang="zh-CN" altLang="en-US" dirty="0"/>
                  <a:t>是等价的。</a:t>
                </a:r>
                <a:endParaRPr lang="zh-CN" altLang="en-US" dirty="0"/>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2.3 </a:t>
            </a:r>
            <a:r>
              <a:rPr lang="zh-CN" altLang="en-US" dirty="0"/>
              <a:t>关系演算</a:t>
            </a:r>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域关系演算</a:t>
                </a:r>
                <a:endParaRPr lang="en-US" altLang="zh-CN" dirty="0"/>
              </a:p>
              <a:p>
                <a:pPr lvl="1"/>
                <a:r>
                  <a:rPr lang="zh-CN" altLang="en-US" dirty="0"/>
                  <a:t>在原子公式的基础上域演算公式递归定义如下：</a:t>
                </a:r>
                <a:endParaRPr lang="zh-CN" altLang="en-US" dirty="0"/>
              </a:p>
              <a:p>
                <a:pPr lvl="2"/>
                <a:r>
                  <a:rPr lang="zh-CN" altLang="en-US" dirty="0"/>
                  <a:t>原子公式也是公式；</a:t>
                </a:r>
                <a:endParaRPr lang="zh-CN" altLang="en-US" dirty="0"/>
              </a:p>
              <a:p>
                <a:pPr lvl="2"/>
                <a:r>
                  <a:rPr lang="zh-CN" altLang="en-US" dirty="0"/>
                  <a:t>如果</a:t>
                </a:r>
                <a:r>
                  <a:rPr lang="en-US" altLang="zh-CN" dirty="0"/>
                  <a:t>P1</a:t>
                </a:r>
                <a:r>
                  <a:rPr lang="zh-CN" altLang="en-US" dirty="0"/>
                  <a:t>，</a:t>
                </a:r>
                <a:r>
                  <a:rPr lang="en-US" altLang="zh-CN" dirty="0"/>
                  <a:t>P2</a:t>
                </a:r>
                <a:r>
                  <a:rPr lang="zh-CN" altLang="en-US" dirty="0"/>
                  <a:t>是域演算公式，则</a:t>
                </a:r>
                <a14:m>
                  <m:oMath xmlns:m="http://schemas.openxmlformats.org/officeDocument/2006/math">
                    <m:r>
                      <a:rPr lang="en-US" altLang="zh-CN" i="1" dirty="0" smtClean="0">
                        <a:latin typeface="Cambria Math" panose="02040503050406030204" pitchFamily="18" charset="0"/>
                      </a:rPr>
                      <m:t>𝑃</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2</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2</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  </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1</m:t>
                    </m:r>
                  </m:oMath>
                </a14:m>
                <a:r>
                  <a:rPr lang="zh-CN" altLang="en-US" dirty="0"/>
                  <a:t>也是域演算公式；</a:t>
                </a:r>
                <a:endParaRPr lang="zh-CN" altLang="en-US" dirty="0"/>
              </a:p>
              <a:p>
                <a:pPr lvl="2"/>
                <a:r>
                  <a:rPr lang="zh-CN" altLang="en-US" dirty="0"/>
                  <a:t>如果</a:t>
                </a:r>
                <a:r>
                  <a:rPr lang="en-US" altLang="zh-CN" dirty="0"/>
                  <a:t>P</a:t>
                </a:r>
                <a:r>
                  <a:rPr lang="zh-CN" altLang="en-US" dirty="0"/>
                  <a:t>是域演算公式，则 </a:t>
                </a:r>
                <a14:m>
                  <m:oMath xmlns:m="http://schemas.openxmlformats.org/officeDocument/2006/math">
                    <m:r>
                      <a:rPr lang="zh-CN" altLang="en-US" i="1" dirty="0" smtClean="0">
                        <a:latin typeface="Cambria Math" panose="02040503050406030204" pitchFamily="18" charset="0"/>
                      </a:rPr>
                      <m:t>∃</m:t>
                    </m:r>
                    <m:r>
                      <a:rPr lang="en-US" altLang="zh-CN" i="1" dirty="0" smtClean="0">
                        <a:latin typeface="Cambria Math" panose="02040503050406030204" pitchFamily="18" charset="0"/>
                      </a:rPr>
                      <m:t>𝑥</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m:t>
                    </m:r>
                  </m:oMath>
                </a14:m>
                <a:r>
                  <a:rPr lang="zh-CN" altLang="en-US" dirty="0"/>
                  <a:t>也是域演算公式；</a:t>
                </a:r>
                <a:endParaRPr lang="zh-CN" altLang="en-US" dirty="0"/>
              </a:p>
              <a:p>
                <a:pPr lvl="2"/>
                <a:r>
                  <a:rPr lang="zh-CN" altLang="en-US" dirty="0"/>
                  <a:t>如果</a:t>
                </a:r>
                <a:r>
                  <a:rPr lang="en-US" altLang="zh-CN" dirty="0"/>
                  <a:t>P</a:t>
                </a:r>
                <a:r>
                  <a:rPr lang="zh-CN" altLang="en-US" dirty="0"/>
                  <a:t>是域演算公式，则</a:t>
                </a:r>
                <a14:m>
                  <m:oMath xmlns:m="http://schemas.openxmlformats.org/officeDocument/2006/math">
                    <m:r>
                      <a:rPr lang="zh-CN" altLang="en-US" i="1" dirty="0" smtClean="0">
                        <a:latin typeface="Cambria Math" panose="02040503050406030204" pitchFamily="18" charset="0"/>
                      </a:rPr>
                      <m:t> ∀</m:t>
                    </m:r>
                    <m:r>
                      <a:rPr lang="en-US" altLang="zh-CN" i="1" dirty="0" smtClean="0">
                        <a:latin typeface="Cambria Math" panose="02040503050406030204" pitchFamily="18" charset="0"/>
                      </a:rPr>
                      <m:t>𝑥</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𝑃</m:t>
                    </m:r>
                    <m:r>
                      <a:rPr lang="en-US" altLang="zh-CN" i="1" dirty="0" smtClean="0">
                        <a:latin typeface="Cambria Math" panose="02040503050406030204" pitchFamily="18" charset="0"/>
                      </a:rPr>
                      <m:t>)</m:t>
                    </m:r>
                  </m:oMath>
                </a14:m>
                <a:r>
                  <a:rPr lang="zh-CN" altLang="en-US" dirty="0"/>
                  <a:t>也是域演算公式；</a:t>
                </a:r>
                <a:endParaRPr lang="zh-CN" altLang="en-US" dirty="0"/>
              </a:p>
              <a:p>
                <a:pPr lvl="2"/>
                <a:r>
                  <a:rPr lang="zh-CN" altLang="en-US" dirty="0"/>
                  <a:t>域演算公式中各类算符优先级与元组演算相同；</a:t>
                </a:r>
                <a:endParaRPr lang="zh-CN" altLang="en-US" dirty="0"/>
              </a:p>
              <a:p>
                <a:pPr lvl="2"/>
                <a:r>
                  <a:rPr lang="zh-CN" altLang="en-US" dirty="0"/>
                  <a:t>有限次使用上述规则得到的即是域演算公式，除此之外的构成形式不是域演算公式。</a:t>
                </a:r>
                <a:endParaRPr lang="zh-CN" altLang="en-US" dirty="0"/>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2.3 </a:t>
            </a:r>
            <a:r>
              <a:rPr lang="zh-CN" altLang="en-US" dirty="0"/>
              <a:t>关系演算</a:t>
            </a:r>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域关系演算</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2.3 </a:t>
            </a:r>
            <a:r>
              <a:rPr lang="zh-CN" altLang="en-US" dirty="0"/>
              <a:t>关系演算</a:t>
            </a:r>
            <a:endParaRPr lang="zh-CN" altLang="en-US" dirty="0"/>
          </a:p>
        </p:txBody>
      </p:sp>
      <p:graphicFrame>
        <p:nvGraphicFramePr>
          <p:cNvPr id="6" name="Group 9"/>
          <p:cNvGraphicFramePr>
            <a:graphicFrameLocks noGrp="1"/>
          </p:cNvGraphicFramePr>
          <p:nvPr/>
        </p:nvGraphicFramePr>
        <p:xfrm>
          <a:off x="3465161" y="2079096"/>
          <a:ext cx="1655762" cy="1401816"/>
        </p:xfrm>
        <a:graphic>
          <a:graphicData uri="http://schemas.openxmlformats.org/drawingml/2006/table">
            <a:tbl>
              <a:tblPr/>
              <a:tblGrid>
                <a:gridCol w="574675"/>
                <a:gridCol w="517525"/>
                <a:gridCol w="563562"/>
              </a:tblGrid>
              <a:tr h="39609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66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7</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5</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8</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9</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7" name="Group 23"/>
          <p:cNvGraphicFramePr>
            <a:graphicFrameLocks noGrp="1"/>
          </p:cNvGraphicFramePr>
          <p:nvPr/>
        </p:nvGraphicFramePr>
        <p:xfrm>
          <a:off x="6705248" y="2079096"/>
          <a:ext cx="1069975" cy="1096992"/>
        </p:xfrm>
        <a:graphic>
          <a:graphicData uri="http://schemas.openxmlformats.org/drawingml/2006/table">
            <a:tbl>
              <a:tblPr/>
              <a:tblGrid>
                <a:gridCol w="555625"/>
                <a:gridCol w="514350"/>
              </a:tblGrid>
              <a:tr h="39608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087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7</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48" marB="4564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8" name="Text Box 34"/>
          <p:cNvSpPr txBox="1">
            <a:spLocks noChangeArrowheads="1"/>
          </p:cNvSpPr>
          <p:nvPr/>
        </p:nvSpPr>
        <p:spPr bwMode="auto">
          <a:xfrm>
            <a:off x="3993798" y="3520546"/>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800">
                <a:latin typeface="Arial" panose="020B0604020202020204" pitchFamily="34" charset="0"/>
              </a:rPr>
              <a:t>R</a:t>
            </a:r>
            <a:endParaRPr lang="en-US" altLang="zh-CN" sz="1800">
              <a:latin typeface="Arial" panose="020B0604020202020204" pitchFamily="34" charset="0"/>
            </a:endParaRPr>
          </a:p>
        </p:txBody>
      </p:sp>
      <p:sp>
        <p:nvSpPr>
          <p:cNvPr id="9" name="Text Box 35"/>
          <p:cNvSpPr txBox="1">
            <a:spLocks noChangeArrowheads="1"/>
          </p:cNvSpPr>
          <p:nvPr/>
        </p:nvSpPr>
        <p:spPr bwMode="auto">
          <a:xfrm>
            <a:off x="7056086" y="3441171"/>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800">
                <a:latin typeface="Arial" panose="020B0604020202020204" pitchFamily="34" charset="0"/>
              </a:rPr>
              <a:t>S</a:t>
            </a:r>
            <a:endParaRPr lang="en-US" altLang="zh-CN" sz="1800">
              <a:latin typeface="Arial" panose="020B0604020202020204" pitchFamily="34" charset="0"/>
            </a:endParaRPr>
          </a:p>
        </p:txBody>
      </p:sp>
      <mc:AlternateContent xmlns:mc="http://schemas.openxmlformats.org/markup-compatibility/2006">
        <mc:Choice xmlns:a14="http://schemas.microsoft.com/office/drawing/2010/main" Requires="a14">
          <p:sp>
            <p:nvSpPr>
              <p:cNvPr id="10" name="Text Box 65"/>
              <p:cNvSpPr txBox="1">
                <a:spLocks noChangeArrowheads="1"/>
              </p:cNvSpPr>
              <p:nvPr/>
            </p:nvSpPr>
            <p:spPr bwMode="auto">
              <a:xfrm>
                <a:off x="2696162" y="5600840"/>
                <a:ext cx="319375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𝑅</m:t>
                      </m:r>
                      <m:r>
                        <a:rPr lang="en-US" altLang="zh-CN" sz="1800" i="1" dirty="0" smtClean="0">
                          <a:latin typeface="Cambria Math" panose="02040503050406030204" pitchFamily="18" charset="0"/>
                        </a:rPr>
                        <m:t>1</m:t>
                      </m:r>
                      <m:r>
                        <a:rPr lang="zh-CN" altLang="en-US" sz="1800" i="1" dirty="0">
                          <a:latin typeface="Cambria Math" panose="02040503050406030204" pitchFamily="18" charset="0"/>
                        </a:rPr>
                        <m:t>＝</m:t>
                      </m:r>
                      <m:r>
                        <a:rPr lang="en-US" altLang="zh-CN" sz="1800" i="1" dirty="0">
                          <a:latin typeface="Cambria Math" panose="02040503050406030204" pitchFamily="18" charset="0"/>
                        </a:rPr>
                        <m:t>{</m:t>
                      </m:r>
                      <m:r>
                        <a:rPr lang="en-US" altLang="zh-CN" sz="1800" i="1" dirty="0" err="1">
                          <a:latin typeface="Cambria Math" panose="02040503050406030204" pitchFamily="18" charset="0"/>
                        </a:rPr>
                        <m:t>𝑥𝑦𝑧</m:t>
                      </m:r>
                      <m:r>
                        <a:rPr lang="en-US" altLang="zh-CN" sz="1800" i="1" dirty="0">
                          <a:latin typeface="Cambria Math" panose="02040503050406030204" pitchFamily="18" charset="0"/>
                        </a:rPr>
                        <m:t>| (</m:t>
                      </m:r>
                      <m:r>
                        <a:rPr lang="en-US" altLang="zh-CN" sz="1800" i="1" dirty="0">
                          <a:latin typeface="Cambria Math" panose="02040503050406030204" pitchFamily="18" charset="0"/>
                        </a:rPr>
                        <m:t>𝑅</m:t>
                      </m:r>
                      <m:r>
                        <a:rPr lang="en-US" altLang="zh-CN" sz="1800" i="1" dirty="0">
                          <a:latin typeface="Cambria Math" panose="02040503050406030204" pitchFamily="18" charset="0"/>
                        </a:rPr>
                        <m:t>(</m:t>
                      </m:r>
                      <m:r>
                        <a:rPr lang="en-US" altLang="zh-CN" sz="1800" i="1" dirty="0" err="1">
                          <a:latin typeface="Cambria Math" panose="02040503050406030204" pitchFamily="18" charset="0"/>
                        </a:rPr>
                        <m:t>𝑥𝑦𝑧</m:t>
                      </m:r>
                      <m:r>
                        <a:rPr lang="en-US" altLang="zh-CN" sz="1800" i="1" dirty="0">
                          <a:latin typeface="Cambria Math" panose="02040503050406030204" pitchFamily="18" charset="0"/>
                        </a:rPr>
                        <m:t>)∧</m:t>
                      </m:r>
                      <m:r>
                        <a:rPr lang="en-US" altLang="zh-CN" sz="1800" i="1" dirty="0">
                          <a:latin typeface="Cambria Math" panose="02040503050406030204" pitchFamily="18" charset="0"/>
                        </a:rPr>
                        <m:t>𝑦</m:t>
                      </m:r>
                      <m:r>
                        <a:rPr lang="zh-CN" altLang="en-US" sz="1800" i="1" dirty="0">
                          <a:latin typeface="Cambria Math" panose="02040503050406030204" pitchFamily="18" charset="0"/>
                        </a:rPr>
                        <m:t>＜</m:t>
                      </m:r>
                      <m:r>
                        <a:rPr lang="en-US" altLang="zh-CN" sz="1800" i="1" dirty="0">
                          <a:latin typeface="Cambria Math" panose="02040503050406030204" pitchFamily="18" charset="0"/>
                        </a:rPr>
                        <m:t>10</m:t>
                      </m:r>
                      <m:r>
                        <a:rPr lang="en-US" altLang="zh-CN" sz="1800" i="1" dirty="0">
                          <a:latin typeface="Cambria Math" panose="02040503050406030204" pitchFamily="18" charset="0"/>
                        </a:rPr>
                        <m:t>)}</m:t>
                      </m:r>
                    </m:oMath>
                  </m:oMathPara>
                </a14:m>
                <a:endParaRPr lang="zh-CN" altLang="en-US" sz="1800" dirty="0">
                  <a:latin typeface="Arial" panose="020B0604020202020204" pitchFamily="34" charset="0"/>
                </a:endParaRPr>
              </a:p>
            </p:txBody>
          </p:sp>
        </mc:Choice>
        <mc:Fallback>
          <p:sp>
            <p:nvSpPr>
              <p:cNvPr id="10" name="Text Box 65"/>
              <p:cNvSpPr txBox="1">
                <a:spLocks noRot="1" noChangeAspect="1" noMove="1" noResize="1" noEditPoints="1" noAdjustHandles="1" noChangeArrowheads="1" noChangeShapeType="1" noTextEdit="1"/>
              </p:cNvSpPr>
              <p:nvPr/>
            </p:nvSpPr>
            <p:spPr bwMode="auto">
              <a:xfrm>
                <a:off x="2696162" y="5600840"/>
                <a:ext cx="3193759" cy="369332"/>
              </a:xfrm>
              <a:prstGeom prst="rect">
                <a:avLst/>
              </a:prstGeom>
              <a:blipFill rotWithShape="1">
                <a:blip r:embed="rId1"/>
                <a:stretch>
                  <a:fillRect l="-18" t="-38" r="9" b="14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Text Box 67"/>
              <p:cNvSpPr txBox="1">
                <a:spLocks noChangeArrowheads="1"/>
              </p:cNvSpPr>
              <p:nvPr/>
            </p:nvSpPr>
            <p:spPr bwMode="auto">
              <a:xfrm>
                <a:off x="5891207" y="5701772"/>
                <a:ext cx="50014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None/>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rPr>
                        <m:t>𝑅</m:t>
                      </m:r>
                      <m:r>
                        <a:rPr lang="en-US" altLang="zh-CN" sz="1800" i="1" dirty="0" smtClean="0">
                          <a:latin typeface="Cambria Math" panose="02040503050406030204" pitchFamily="18" charset="0"/>
                        </a:rPr>
                        <m:t>2</m:t>
                      </m:r>
                      <m:r>
                        <a:rPr lang="zh-CN" altLang="en-US" sz="1800" i="1" dirty="0">
                          <a:latin typeface="Cambria Math" panose="02040503050406030204" pitchFamily="18" charset="0"/>
                        </a:rPr>
                        <m:t>＝</m:t>
                      </m:r>
                      <m:r>
                        <a:rPr lang="en-US" altLang="zh-CN" sz="1800" i="1" dirty="0">
                          <a:latin typeface="Cambria Math" panose="02040503050406030204" pitchFamily="18" charset="0"/>
                        </a:rPr>
                        <m:t>{</m:t>
                      </m:r>
                      <m:r>
                        <a:rPr lang="en-US" altLang="zh-CN" sz="1800" i="1" dirty="0" err="1">
                          <a:latin typeface="Cambria Math" panose="02040503050406030204" pitchFamily="18" charset="0"/>
                        </a:rPr>
                        <m:t>𝑥𝑦𝑧</m:t>
                      </m:r>
                      <m:r>
                        <a:rPr lang="en-US" altLang="zh-CN" sz="1800" i="1" dirty="0">
                          <a:latin typeface="Cambria Math" panose="02040503050406030204" pitchFamily="18" charset="0"/>
                        </a:rPr>
                        <m:t>| (</m:t>
                      </m:r>
                      <m:r>
                        <a:rPr lang="en-US" altLang="zh-CN" sz="1800" i="1" dirty="0" smtClean="0">
                          <a:latin typeface="Cambria Math" panose="02040503050406030204" pitchFamily="18" charset="0"/>
                          <a:ea typeface="Cambria Math" panose="02040503050406030204" pitchFamily="18" charset="0"/>
                        </a:rPr>
                        <m:t>∃</m:t>
                      </m:r>
                      <m:r>
                        <a:rPr lang="en-US" altLang="zh-CN" sz="1800" i="1" dirty="0">
                          <a:latin typeface="Cambria Math" panose="02040503050406030204" pitchFamily="18" charset="0"/>
                        </a:rPr>
                        <m:t>𝑢</m:t>
                      </m:r>
                      <m:r>
                        <a:rPr lang="en-US" altLang="zh-CN" sz="1800" i="1" dirty="0">
                          <a:latin typeface="Cambria Math" panose="02040503050406030204" pitchFamily="18" charset="0"/>
                        </a:rPr>
                        <m:t>)(∃</m:t>
                      </m:r>
                      <m:r>
                        <a:rPr lang="en-US" altLang="zh-CN" sz="1800" i="1" dirty="0">
                          <a:latin typeface="Cambria Math" panose="02040503050406030204" pitchFamily="18" charset="0"/>
                        </a:rPr>
                        <m:t>𝑣</m:t>
                      </m:r>
                      <m:r>
                        <a:rPr lang="en-US" altLang="zh-CN" sz="1800" i="1" dirty="0">
                          <a:latin typeface="Cambria Math" panose="02040503050406030204" pitchFamily="18" charset="0"/>
                        </a:rPr>
                        <m:t>)( </m:t>
                      </m:r>
                      <m:r>
                        <a:rPr lang="en-US" altLang="zh-CN" sz="1800" i="1" dirty="0">
                          <a:latin typeface="Cambria Math" panose="02040503050406030204" pitchFamily="18" charset="0"/>
                        </a:rPr>
                        <m:t>𝑅</m:t>
                      </m:r>
                      <m:r>
                        <a:rPr lang="en-US" altLang="zh-CN" sz="1800" i="1" dirty="0">
                          <a:latin typeface="Cambria Math" panose="02040503050406030204" pitchFamily="18" charset="0"/>
                        </a:rPr>
                        <m:t>(</m:t>
                      </m:r>
                      <m:r>
                        <a:rPr lang="en-US" altLang="zh-CN" sz="1800" i="1" dirty="0" err="1">
                          <a:latin typeface="Cambria Math" panose="02040503050406030204" pitchFamily="18" charset="0"/>
                        </a:rPr>
                        <m:t>𝑢𝑥𝑦</m:t>
                      </m:r>
                      <m:r>
                        <a:rPr lang="en-US" altLang="zh-CN" sz="1800" i="1" dirty="0">
                          <a:latin typeface="Cambria Math" panose="02040503050406030204" pitchFamily="18" charset="0"/>
                        </a:rPr>
                        <m:t>)∧</m:t>
                      </m:r>
                      <m:r>
                        <a:rPr lang="en-US" altLang="zh-CN" sz="1800" i="1" dirty="0">
                          <a:latin typeface="Cambria Math" panose="02040503050406030204" pitchFamily="18" charset="0"/>
                        </a:rPr>
                        <m:t>𝑆</m:t>
                      </m:r>
                      <m:r>
                        <a:rPr lang="en-US" altLang="zh-CN" sz="1800" i="1" dirty="0">
                          <a:latin typeface="Cambria Math" panose="02040503050406030204" pitchFamily="18" charset="0"/>
                        </a:rPr>
                        <m:t>(</m:t>
                      </m:r>
                      <m:r>
                        <a:rPr lang="en-US" altLang="zh-CN" sz="1800" i="1" dirty="0" err="1">
                          <a:latin typeface="Cambria Math" panose="02040503050406030204" pitchFamily="18" charset="0"/>
                        </a:rPr>
                        <m:t>𝑧𝑣</m:t>
                      </m:r>
                      <m:r>
                        <a:rPr lang="en-US" altLang="zh-CN" sz="1800" i="1" dirty="0">
                          <a:latin typeface="Cambria Math" panose="02040503050406030204" pitchFamily="18" charset="0"/>
                        </a:rPr>
                        <m:t>)∧</m:t>
                      </m:r>
                      <m:r>
                        <a:rPr lang="en-US" altLang="zh-CN" sz="1800" i="1" dirty="0" err="1">
                          <a:latin typeface="Cambria Math" panose="02040503050406030204" pitchFamily="18" charset="0"/>
                        </a:rPr>
                        <m:t>𝑢</m:t>
                      </m:r>
                      <m:r>
                        <a:rPr lang="en-US" altLang="zh-CN" sz="1800" i="1" dirty="0" err="1">
                          <a:latin typeface="Cambria Math" panose="02040503050406030204" pitchFamily="18" charset="0"/>
                        </a:rPr>
                        <m:t>≥</m:t>
                      </m:r>
                      <m:r>
                        <a:rPr lang="en-US" altLang="zh-CN" sz="1800" i="1" dirty="0" err="1">
                          <a:latin typeface="Cambria Math" panose="02040503050406030204" pitchFamily="18" charset="0"/>
                        </a:rPr>
                        <m:t>𝑣</m:t>
                      </m:r>
                      <m:r>
                        <a:rPr lang="en-US" altLang="zh-CN" sz="1800" i="1" dirty="0">
                          <a:latin typeface="Cambria Math" panose="02040503050406030204" pitchFamily="18" charset="0"/>
                        </a:rPr>
                        <m:t>)}</m:t>
                      </m:r>
                    </m:oMath>
                  </m:oMathPara>
                </a14:m>
                <a:endParaRPr lang="zh-CN" altLang="en-US" sz="1800" dirty="0">
                  <a:latin typeface="Arial" panose="020B0604020202020204" pitchFamily="34" charset="0"/>
                </a:endParaRPr>
              </a:p>
            </p:txBody>
          </p:sp>
        </mc:Choice>
        <mc:Fallback>
          <p:sp>
            <p:nvSpPr>
              <p:cNvPr id="11" name="Text Box 67"/>
              <p:cNvSpPr txBox="1">
                <a:spLocks noRot="1" noChangeAspect="1" noMove="1" noResize="1" noEditPoints="1" noAdjustHandles="1" noChangeArrowheads="1" noChangeShapeType="1" noTextEdit="1"/>
              </p:cNvSpPr>
              <p:nvPr/>
            </p:nvSpPr>
            <p:spPr bwMode="auto">
              <a:xfrm>
                <a:off x="5891207" y="5701772"/>
                <a:ext cx="5001434" cy="369332"/>
              </a:xfrm>
              <a:prstGeom prst="rect">
                <a:avLst/>
              </a:prstGeom>
              <a:blipFill rotWithShape="1">
                <a:blip r:embed="rId2"/>
                <a:stretch>
                  <a:fillRect l="-6" t="-29" r="10" b="13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aphicFrame>
        <p:nvGraphicFramePr>
          <p:cNvPr id="14" name="Group 151"/>
          <p:cNvGraphicFramePr>
            <a:graphicFrameLocks noGrp="1"/>
          </p:cNvGraphicFramePr>
          <p:nvPr/>
        </p:nvGraphicFramePr>
        <p:xfrm>
          <a:off x="3465161" y="4095221"/>
          <a:ext cx="1666875" cy="1401816"/>
        </p:xfrm>
        <a:graphic>
          <a:graphicData uri="http://schemas.openxmlformats.org/drawingml/2006/table">
            <a:tbl>
              <a:tblPr/>
              <a:tblGrid>
                <a:gridCol w="568325"/>
                <a:gridCol w="527050"/>
                <a:gridCol w="571500"/>
              </a:tblGrid>
              <a:tr h="396094">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66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4</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7</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5</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8</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9</a:t>
                      </a:r>
                      <a:endParaRPr kumimoji="0" lang="en-US" altLang="zh-CN" sz="2000" b="0" i="0" u="none" strike="noStrike" cap="none" normalizeH="0" baseline="0" dirty="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15" name="Group 232"/>
          <p:cNvGraphicFramePr>
            <a:graphicFrameLocks noGrp="1"/>
          </p:cNvGraphicFramePr>
          <p:nvPr/>
        </p:nvGraphicFramePr>
        <p:xfrm>
          <a:off x="6489348" y="4095221"/>
          <a:ext cx="1663700" cy="1401816"/>
        </p:xfrm>
        <a:graphic>
          <a:graphicData uri="http://schemas.openxmlformats.org/drawingml/2006/table">
            <a:tbl>
              <a:tblPr/>
              <a:tblGrid>
                <a:gridCol w="568325"/>
                <a:gridCol w="568325"/>
                <a:gridCol w="527050"/>
              </a:tblGrid>
              <a:tr h="39609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66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5</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8</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8</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6</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9</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9</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3</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rPr>
                        <a:t>7</a:t>
                      </a:r>
                      <a:endParaRPr kumimoji="0" lang="en-US" altLang="zh-CN" sz="2000" b="0" i="0" u="none" strike="noStrike" cap="none" normalizeH="0" baseline="0">
                        <a:ln>
                          <a:noFill/>
                        </a:ln>
                        <a:solidFill>
                          <a:srgbClr val="9900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654" marB="4565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域关系演算</a:t>
                </a:r>
                <a:endParaRPr lang="en-US" altLang="zh-CN" dirty="0"/>
              </a:p>
              <a:p>
                <a:pPr lvl="1"/>
                <a:r>
                  <a:rPr lang="zh-CN" altLang="en-US" dirty="0"/>
                  <a:t>例：检索学习课程号为</a:t>
                </a:r>
                <a:r>
                  <a:rPr lang="en-US" altLang="zh-CN" dirty="0"/>
                  <a:t>C2</a:t>
                </a:r>
                <a:r>
                  <a:rPr lang="zh-CN" altLang="en-US" dirty="0"/>
                  <a:t>的学生学号与成绩</a:t>
                </a:r>
                <a:endParaRPr lang="en-US" altLang="zh-CN" dirty="0"/>
              </a:p>
              <a:p>
                <a:pPr marL="914400" lvl="2"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1</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m:t>
                              </m:r>
                            </m:e>
                            <m:sub>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𝑢</m:t>
                                  </m:r>
                                </m:e>
                                <m:sub>
                                  <m:r>
                                    <a:rPr lang="en-US" altLang="zh-CN" b="0" i="1" smtClean="0">
                                      <a:latin typeface="Cambria Math" panose="02040503050406030204" pitchFamily="18" charset="0"/>
                                      <a:ea typeface="Cambria Math" panose="02040503050406030204" pitchFamily="18" charset="0"/>
                                    </a:rPr>
                                    <m:t>1</m:t>
                                  </m:r>
                                </m:sub>
                              </m:sSub>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𝑢</m:t>
                                  </m:r>
                                </m:e>
                                <m:sub>
                                  <m:r>
                                    <a:rPr lang="en-US" altLang="zh-CN" b="0" i="1" smtClean="0">
                                      <a:latin typeface="Cambria Math" panose="02040503050406030204" pitchFamily="18" charset="0"/>
                                      <a:ea typeface="Cambria Math" panose="02040503050406030204" pitchFamily="18" charset="0"/>
                                    </a:rPr>
                                    <m:t>2</m:t>
                                  </m:r>
                                </m:sub>
                              </m:sSub>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𝑢</m:t>
                                  </m:r>
                                </m:e>
                                <m:sub>
                                  <m:r>
                                    <a:rPr lang="en-US" altLang="zh-CN" b="0" i="1" smtClean="0">
                                      <a:latin typeface="Cambria Math" panose="02040503050406030204" pitchFamily="18" charset="0"/>
                                      <a:ea typeface="Cambria Math" panose="02040503050406030204" pitchFamily="18" charset="0"/>
                                    </a:rPr>
                                    <m:t>3</m:t>
                                  </m:r>
                                </m:sub>
                              </m:sSub>
                            </m:sub>
                          </m:sSub>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𝑆𝐶</m:t>
                      </m:r>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𝑢</m:t>
                              </m:r>
                            </m:e>
                            <m:sub>
                              <m:r>
                                <a:rPr lang="en-US" altLang="zh-CN" b="0" i="1" smtClean="0">
                                  <a:latin typeface="Cambria Math" panose="02040503050406030204" pitchFamily="18" charset="0"/>
                                  <a:ea typeface="Cambria Math" panose="02040503050406030204" pitchFamily="18" charset="0"/>
                                </a:rPr>
                                <m:t>1</m:t>
                              </m:r>
                            </m:sub>
                          </m:sSub>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𝑢</m:t>
                              </m:r>
                            </m:e>
                            <m:sub>
                              <m:r>
                                <a:rPr lang="en-US" altLang="zh-CN" b="0" i="1" smtClean="0">
                                  <a:latin typeface="Cambria Math" panose="02040503050406030204" pitchFamily="18" charset="0"/>
                                  <a:ea typeface="Cambria Math" panose="02040503050406030204" pitchFamily="18" charset="0"/>
                                </a:rPr>
                                <m:t>2</m:t>
                              </m:r>
                            </m:sub>
                          </m:sSub>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𝑢</m:t>
                              </m:r>
                            </m:e>
                            <m:sub>
                              <m:r>
                                <a:rPr lang="en-US" altLang="zh-CN" b="0" i="1" smtClean="0">
                                  <a:latin typeface="Cambria Math" panose="02040503050406030204" pitchFamily="18" charset="0"/>
                                  <a:ea typeface="Cambria Math" panose="02040503050406030204" pitchFamily="18" charset="0"/>
                                </a:rPr>
                                <m:t>3</m:t>
                              </m:r>
                            </m:sub>
                          </m:sSub>
                        </m:e>
                      </m:d>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𝑢</m:t>
                          </m:r>
                        </m:e>
                        <m:sub>
                          <m:r>
                            <a:rPr lang="en-US" altLang="zh-CN" b="0" i="1" smtClean="0">
                              <a:latin typeface="Cambria Math" panose="02040503050406030204" pitchFamily="18" charset="0"/>
                              <a:ea typeface="Cambria Math" panose="02040503050406030204" pitchFamily="18" charset="0"/>
                            </a:rPr>
                            <m:t>2</m:t>
                          </m:r>
                        </m:sub>
                      </m:sSub>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m:t>
                          </m:r>
                        </m:e>
                        <m:sup>
                          <m:r>
                            <a:rPr lang="en-US" altLang="zh-CN" b="0" i="1" smtClean="0">
                              <a:latin typeface="Cambria Math" panose="02040503050406030204" pitchFamily="18" charset="0"/>
                              <a:ea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𝐶</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2</m:t>
                          </m:r>
                        </m:e>
                        <m:sup>
                          <m:r>
                            <a:rPr lang="en-US" altLang="zh-CN" b="0" i="1" smtClean="0">
                              <a:latin typeface="Cambria Math" panose="02040503050406030204" pitchFamily="18" charset="0"/>
                              <a:ea typeface="Cambria Math" panose="02040503050406030204" pitchFamily="18" charset="0"/>
                            </a:rPr>
                            <m:t>′</m:t>
                          </m:r>
                        </m:sup>
                      </m:sSup>
                      <m:r>
                        <a:rPr lang="en-US" altLang="zh-CN" i="1">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𝑡</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𝑢</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𝑡</m:t>
                          </m:r>
                        </m:e>
                        <m:sub>
                          <m:r>
                            <a:rPr lang="en-US" altLang="zh-CN" b="0" i="1" smtClean="0">
                              <a:latin typeface="Cambria Math" panose="02040503050406030204" pitchFamily="18" charset="0"/>
                              <a:ea typeface="Cambria Math" panose="02040503050406030204" pitchFamily="18" charset="0"/>
                            </a:rPr>
                            <m:t>2</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𝑢</m:t>
                          </m:r>
                        </m:e>
                        <m:sub>
                          <m:r>
                            <a:rPr lang="en-US" altLang="zh-CN" b="0" i="1" smtClean="0">
                              <a:latin typeface="Cambria Math" panose="02040503050406030204" pitchFamily="18" charset="0"/>
                              <a:ea typeface="Cambria Math" panose="02040503050406030204" pitchFamily="18" charset="0"/>
                            </a:rPr>
                            <m:t>3</m:t>
                          </m:r>
                        </m:sub>
                      </m:sSub>
                      <m:r>
                        <a:rPr lang="en-US" altLang="zh-CN" b="0" i="1" smtClean="0">
                          <a:latin typeface="Cambria Math" panose="02040503050406030204" pitchFamily="18" charset="0"/>
                          <a:ea typeface="Cambria Math" panose="02040503050406030204" pitchFamily="18" charset="0"/>
                        </a:rPr>
                        <m:t>}</m:t>
                      </m:r>
                    </m:oMath>
                  </m:oMathPara>
                </a14:m>
                <a:endParaRPr lang="en-US" altLang="zh-CN" dirty="0"/>
              </a:p>
              <a:p>
                <a:pPr marL="914400" lvl="2" indent="0">
                  <a:buNone/>
                </a:pPr>
                <a:r>
                  <a:rPr lang="zh-CN" altLang="en-US" dirty="0"/>
                  <a:t>可化简为</a:t>
                </a:r>
                <a14:m>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1</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𝑆𝐶</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𝐶</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m:t>
                        </m:r>
                      </m:sup>
                    </m:sSup>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oMath>
                </a14:m>
                <a:endParaRPr lang="en-US" altLang="zh-CN" dirty="0"/>
              </a:p>
              <a:p>
                <a:pPr lvl="1"/>
                <a:r>
                  <a:rPr lang="zh-CN" altLang="en-US" dirty="0"/>
                  <a:t>例：检索学习课程号为</a:t>
                </a:r>
                <a:r>
                  <a:rPr lang="en-US" altLang="zh-CN" dirty="0"/>
                  <a:t>C2</a:t>
                </a:r>
                <a:r>
                  <a:rPr lang="zh-CN" altLang="en-US" dirty="0"/>
                  <a:t>的学生学号与姓名</a:t>
                </a:r>
                <a:endParaRPr lang="en-US" altLang="zh-CN" dirty="0"/>
              </a:p>
              <a:p>
                <a:pPr marL="914400" lvl="2" indent="0">
                  <a:buNone/>
                </a:pPr>
                <a14:m>
                  <m:oMathPara xmlns:m="http://schemas.openxmlformats.org/officeDocument/2006/math">
                    <m:oMathParaPr>
                      <m:jc m:val="centerGroup"/>
                    </m:oMathParaPr>
                    <m:oMath xmlns:m="http://schemas.openxmlformats.org/officeDocument/2006/math">
                      <m:r>
                        <a:rPr lang="pl-PL"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pl-PL" altLang="zh-CN" i="1" dirty="0" smtClean="0">
                              <a:latin typeface="Cambria Math" panose="02040503050406030204" pitchFamily="18" charset="0"/>
                            </a:rPr>
                            <m:t>𝑡</m:t>
                          </m:r>
                        </m:e>
                        <m:sub>
                          <m:r>
                            <a:rPr lang="pl-PL" altLang="zh-CN" i="1" dirty="0" smtClean="0">
                              <a:latin typeface="Cambria Math" panose="02040503050406030204" pitchFamily="18" charset="0"/>
                            </a:rPr>
                            <m:t>1</m:t>
                          </m:r>
                        </m:sub>
                      </m:sSub>
                      <m:sSub>
                        <m:sSubPr>
                          <m:ctrlPr>
                            <a:rPr lang="en-US" altLang="zh-CN" b="0" i="1" dirty="0" smtClean="0">
                              <a:latin typeface="Cambria Math" panose="02040503050406030204" pitchFamily="18" charset="0"/>
                            </a:rPr>
                          </m:ctrlPr>
                        </m:sSubPr>
                        <m:e>
                          <m:r>
                            <a:rPr lang="pl-PL" altLang="zh-CN" i="1" dirty="0" smtClean="0">
                              <a:latin typeface="Cambria Math" panose="02040503050406030204" pitchFamily="18" charset="0"/>
                            </a:rPr>
                            <m:t>𝑡</m:t>
                          </m:r>
                        </m:e>
                        <m:sub>
                          <m:r>
                            <a:rPr lang="pl-PL" altLang="zh-CN" i="1" dirty="0" smtClean="0">
                              <a:latin typeface="Cambria Math" panose="02040503050406030204" pitchFamily="18" charset="0"/>
                            </a:rPr>
                            <m:t>2</m:t>
                          </m:r>
                        </m:sub>
                      </m:sSub>
                      <m:r>
                        <a:rPr lang="pl-PL" altLang="zh-CN" i="1" dirty="0" smtClean="0">
                          <a:latin typeface="Cambria Math" panose="02040503050406030204" pitchFamily="18" charset="0"/>
                        </a:rPr>
                        <m:t> | (∃</m:t>
                      </m:r>
                      <m:sSub>
                        <m:sSubPr>
                          <m:ctrlPr>
                            <a:rPr lang="en-US" altLang="zh-CN" b="0" i="1" dirty="0" smtClean="0">
                              <a:latin typeface="Cambria Math" panose="02040503050406030204" pitchFamily="18" charset="0"/>
                            </a:rPr>
                          </m:ctrlPr>
                        </m:sSubPr>
                        <m:e>
                          <m:r>
                            <a:rPr lang="pl-PL" altLang="zh-CN" i="1" dirty="0" smtClean="0">
                              <a:latin typeface="Cambria Math" panose="02040503050406030204" pitchFamily="18" charset="0"/>
                            </a:rPr>
                            <m:t>𝑢</m:t>
                          </m:r>
                        </m:e>
                        <m:sub>
                          <m:r>
                            <a:rPr lang="pl-PL" altLang="zh-CN" i="1" dirty="0" smtClean="0">
                              <a:latin typeface="Cambria Math" panose="02040503050406030204" pitchFamily="18" charset="0"/>
                            </a:rPr>
                            <m:t>1</m:t>
                          </m:r>
                        </m:sub>
                      </m:sSub>
                      <m:sSub>
                        <m:sSubPr>
                          <m:ctrlPr>
                            <a:rPr lang="en-US" altLang="zh-CN" b="0" i="1" dirty="0" smtClean="0">
                              <a:latin typeface="Cambria Math" panose="02040503050406030204" pitchFamily="18" charset="0"/>
                            </a:rPr>
                          </m:ctrlPr>
                        </m:sSubPr>
                        <m:e>
                          <m:r>
                            <a:rPr lang="pl-PL" altLang="zh-CN" i="1" dirty="0" smtClean="0">
                              <a:latin typeface="Cambria Math" panose="02040503050406030204" pitchFamily="18" charset="0"/>
                            </a:rPr>
                            <m:t>𝑢</m:t>
                          </m:r>
                        </m:e>
                        <m:sub>
                          <m:r>
                            <a:rPr lang="pl-PL" altLang="zh-CN" i="1" dirty="0" smtClean="0">
                              <a:latin typeface="Cambria Math" panose="02040503050406030204" pitchFamily="18" charset="0"/>
                            </a:rPr>
                            <m:t>2</m:t>
                          </m:r>
                        </m:sub>
                      </m:sSub>
                      <m:sSub>
                        <m:sSubPr>
                          <m:ctrlPr>
                            <a:rPr lang="en-US" altLang="zh-CN" i="1" dirty="0" smtClean="0">
                              <a:latin typeface="Cambria Math" panose="02040503050406030204" pitchFamily="18" charset="0"/>
                            </a:rPr>
                          </m:ctrlPr>
                        </m:sSubPr>
                        <m:e>
                          <m:r>
                            <a:rPr lang="pl-PL" altLang="zh-CN" i="1" dirty="0" smtClean="0">
                              <a:latin typeface="Cambria Math" panose="02040503050406030204" pitchFamily="18" charset="0"/>
                            </a:rPr>
                            <m:t>𝑢</m:t>
                          </m:r>
                        </m:e>
                        <m:sub>
                          <m:r>
                            <a:rPr lang="pl-PL" altLang="zh-CN" i="1" dirty="0" smtClean="0">
                              <a:latin typeface="Cambria Math" panose="02040503050406030204" pitchFamily="18" charset="0"/>
                            </a:rPr>
                            <m:t>3</m:t>
                          </m:r>
                        </m:sub>
                      </m:sSub>
                      <m:sSub>
                        <m:sSubPr>
                          <m:ctrlPr>
                            <a:rPr lang="en-US" altLang="zh-CN" i="1" dirty="0" smtClean="0">
                              <a:latin typeface="Cambria Math" panose="02040503050406030204" pitchFamily="18" charset="0"/>
                            </a:rPr>
                          </m:ctrlPr>
                        </m:sSubPr>
                        <m:e>
                          <m:r>
                            <a:rPr lang="pl-PL" altLang="zh-CN" i="1" dirty="0" smtClean="0">
                              <a:latin typeface="Cambria Math" panose="02040503050406030204" pitchFamily="18" charset="0"/>
                            </a:rPr>
                            <m:t>𝑢</m:t>
                          </m:r>
                        </m:e>
                        <m:sub>
                          <m:r>
                            <a:rPr lang="pl-PL" altLang="zh-CN" i="1" dirty="0" smtClean="0">
                              <a:latin typeface="Cambria Math" panose="02040503050406030204" pitchFamily="18" charset="0"/>
                            </a:rPr>
                            <m:t>4</m:t>
                          </m:r>
                        </m:sub>
                      </m:sSub>
                      <m:r>
                        <a:rPr lang="pl-PL" altLang="zh-CN" i="1" dirty="0" smtClean="0">
                          <a:latin typeface="Cambria Math" panose="02040503050406030204" pitchFamily="18" charset="0"/>
                        </a:rPr>
                        <m:t>) (∃</m:t>
                      </m:r>
                      <m:sSub>
                        <m:sSubPr>
                          <m:ctrlPr>
                            <a:rPr lang="en-US" altLang="zh-CN" i="1" dirty="0" smtClean="0">
                              <a:latin typeface="Cambria Math" panose="02040503050406030204" pitchFamily="18" charset="0"/>
                            </a:rPr>
                          </m:ctrlPr>
                        </m:sSubPr>
                        <m:e>
                          <m:r>
                            <a:rPr lang="pl-PL" altLang="zh-CN" i="1" dirty="0" smtClean="0">
                              <a:latin typeface="Cambria Math" panose="02040503050406030204" pitchFamily="18" charset="0"/>
                            </a:rPr>
                            <m:t>𝑣</m:t>
                          </m:r>
                        </m:e>
                        <m:sub>
                          <m:r>
                            <a:rPr lang="pl-PL" altLang="zh-CN" i="1" dirty="0" smtClean="0">
                              <a:latin typeface="Cambria Math" panose="02040503050406030204" pitchFamily="18" charset="0"/>
                            </a:rPr>
                            <m:t>1</m:t>
                          </m:r>
                        </m:sub>
                      </m:sSub>
                      <m:sSub>
                        <m:sSubPr>
                          <m:ctrlPr>
                            <a:rPr lang="en-US" altLang="zh-CN" i="1" dirty="0" smtClean="0">
                              <a:latin typeface="Cambria Math" panose="02040503050406030204" pitchFamily="18" charset="0"/>
                            </a:rPr>
                          </m:ctrlPr>
                        </m:sSubPr>
                        <m:e>
                          <m:r>
                            <a:rPr lang="pl-PL" altLang="zh-CN" i="1" dirty="0" smtClean="0">
                              <a:latin typeface="Cambria Math" panose="02040503050406030204" pitchFamily="18" charset="0"/>
                            </a:rPr>
                            <m:t>𝑣</m:t>
                          </m:r>
                        </m:e>
                        <m:sub>
                          <m:r>
                            <a:rPr lang="pl-PL" altLang="zh-CN" i="1" dirty="0" smtClean="0">
                              <a:latin typeface="Cambria Math" panose="02040503050406030204" pitchFamily="18" charset="0"/>
                            </a:rPr>
                            <m:t>2</m:t>
                          </m:r>
                        </m:sub>
                      </m:sSub>
                      <m:sSub>
                        <m:sSubPr>
                          <m:ctrlPr>
                            <a:rPr lang="en-US" altLang="zh-CN" i="1" dirty="0" smtClean="0">
                              <a:latin typeface="Cambria Math" panose="02040503050406030204" pitchFamily="18" charset="0"/>
                            </a:rPr>
                          </m:ctrlPr>
                        </m:sSubPr>
                        <m:e>
                          <m:r>
                            <a:rPr lang="pl-PL" altLang="zh-CN" i="1" dirty="0" smtClean="0">
                              <a:latin typeface="Cambria Math" panose="02040503050406030204" pitchFamily="18" charset="0"/>
                            </a:rPr>
                            <m:t>𝑣</m:t>
                          </m:r>
                        </m:e>
                        <m:sub>
                          <m:r>
                            <a:rPr lang="pl-PL" altLang="zh-CN" i="1" dirty="0" smtClean="0">
                              <a:latin typeface="Cambria Math" panose="02040503050406030204" pitchFamily="18" charset="0"/>
                            </a:rPr>
                            <m:t>3</m:t>
                          </m:r>
                        </m:sub>
                      </m:sSub>
                      <m:r>
                        <a:rPr lang="pl-PL" altLang="zh-CN" i="1" dirty="0" smtClean="0">
                          <a:latin typeface="Cambria Math" panose="02040503050406030204" pitchFamily="18" charset="0"/>
                        </a:rPr>
                        <m:t>)(</m:t>
                      </m:r>
                      <m:r>
                        <a:rPr lang="pl-PL" altLang="zh-CN" i="1" dirty="0" smtClean="0">
                          <a:latin typeface="Cambria Math" panose="02040503050406030204" pitchFamily="18" charset="0"/>
                        </a:rPr>
                        <m:t>𝑆</m:t>
                      </m:r>
                      <m:r>
                        <a:rPr lang="pl-PL"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pl-PL" altLang="zh-CN" i="1" dirty="0" smtClean="0">
                              <a:latin typeface="Cambria Math" panose="02040503050406030204" pitchFamily="18" charset="0"/>
                            </a:rPr>
                            <m:t>𝑢</m:t>
                          </m:r>
                        </m:e>
                        <m:sub>
                          <m:r>
                            <a:rPr lang="pl-PL" altLang="zh-CN" i="1" dirty="0" smtClean="0">
                              <a:latin typeface="Cambria Math" panose="02040503050406030204" pitchFamily="18" charset="0"/>
                            </a:rPr>
                            <m:t>1</m:t>
                          </m:r>
                        </m:sub>
                      </m:sSub>
                      <m:sSub>
                        <m:sSubPr>
                          <m:ctrlPr>
                            <a:rPr lang="en-US" altLang="zh-CN" i="1" dirty="0" smtClean="0">
                              <a:latin typeface="Cambria Math" panose="02040503050406030204" pitchFamily="18" charset="0"/>
                            </a:rPr>
                          </m:ctrlPr>
                        </m:sSubPr>
                        <m:e>
                          <m:r>
                            <a:rPr lang="pl-PL" altLang="zh-CN" i="1" dirty="0" smtClean="0">
                              <a:latin typeface="Cambria Math" panose="02040503050406030204" pitchFamily="18" charset="0"/>
                            </a:rPr>
                            <m:t>𝑢</m:t>
                          </m:r>
                        </m:e>
                        <m:sub>
                          <m:r>
                            <a:rPr lang="pl-PL" altLang="zh-CN" i="1" dirty="0" smtClean="0">
                              <a:latin typeface="Cambria Math" panose="02040503050406030204" pitchFamily="18" charset="0"/>
                            </a:rPr>
                            <m:t>2</m:t>
                          </m:r>
                        </m:sub>
                      </m:sSub>
                      <m:sSub>
                        <m:sSubPr>
                          <m:ctrlPr>
                            <a:rPr lang="en-US" altLang="zh-CN" i="1" dirty="0" smtClean="0">
                              <a:latin typeface="Cambria Math" panose="02040503050406030204" pitchFamily="18" charset="0"/>
                            </a:rPr>
                          </m:ctrlPr>
                        </m:sSubPr>
                        <m:e>
                          <m:r>
                            <a:rPr lang="pl-PL" altLang="zh-CN" i="1" dirty="0" smtClean="0">
                              <a:latin typeface="Cambria Math" panose="02040503050406030204" pitchFamily="18" charset="0"/>
                            </a:rPr>
                            <m:t>𝑢</m:t>
                          </m:r>
                        </m:e>
                        <m:sub>
                          <m:r>
                            <a:rPr lang="pl-PL" altLang="zh-CN" i="1" dirty="0" smtClean="0">
                              <a:latin typeface="Cambria Math" panose="02040503050406030204" pitchFamily="18" charset="0"/>
                            </a:rPr>
                            <m:t>3</m:t>
                          </m:r>
                        </m:sub>
                      </m:sSub>
                      <m:sSub>
                        <m:sSubPr>
                          <m:ctrlPr>
                            <a:rPr lang="en-US" altLang="zh-CN" i="1" dirty="0" smtClean="0">
                              <a:latin typeface="Cambria Math" panose="02040503050406030204" pitchFamily="18" charset="0"/>
                            </a:rPr>
                          </m:ctrlPr>
                        </m:sSubPr>
                        <m:e>
                          <m:r>
                            <a:rPr lang="pl-PL" altLang="zh-CN" i="1" dirty="0" smtClean="0">
                              <a:latin typeface="Cambria Math" panose="02040503050406030204" pitchFamily="18" charset="0"/>
                            </a:rPr>
                            <m:t>𝑢</m:t>
                          </m:r>
                        </m:e>
                        <m:sub>
                          <m:r>
                            <a:rPr lang="pl-PL" altLang="zh-CN" i="1" dirty="0" smtClean="0">
                              <a:latin typeface="Cambria Math" panose="02040503050406030204" pitchFamily="18" charset="0"/>
                            </a:rPr>
                            <m:t>4</m:t>
                          </m:r>
                        </m:sub>
                      </m:sSub>
                      <m:r>
                        <a:rPr lang="pl-PL" altLang="zh-CN" i="1" dirty="0" smtClean="0">
                          <a:latin typeface="Cambria Math" panose="02040503050406030204" pitchFamily="18" charset="0"/>
                        </a:rPr>
                        <m:t>) ∧</m:t>
                      </m:r>
                      <m:r>
                        <a:rPr lang="pl-PL" altLang="zh-CN" i="1" dirty="0" smtClean="0">
                          <a:latin typeface="Cambria Math" panose="02040503050406030204" pitchFamily="18" charset="0"/>
                        </a:rPr>
                        <m:t>𝑆𝐶</m:t>
                      </m:r>
                      <m:r>
                        <a:rPr lang="pl-PL" altLang="zh-CN" i="1" dirty="0" smtClean="0">
                          <a:latin typeface="Cambria Math" panose="02040503050406030204" pitchFamily="18" charset="0"/>
                        </a:rPr>
                        <m:t> (</m:t>
                      </m:r>
                      <m:sSub>
                        <m:sSubPr>
                          <m:ctrlPr>
                            <a:rPr lang="en-US" altLang="zh-CN" i="1" dirty="0" smtClean="0">
                              <a:latin typeface="Cambria Math" panose="02040503050406030204" pitchFamily="18" charset="0"/>
                            </a:rPr>
                          </m:ctrlPr>
                        </m:sSubPr>
                        <m:e>
                          <m:r>
                            <a:rPr lang="pl-PL" altLang="zh-CN" i="1" dirty="0" smtClean="0">
                              <a:latin typeface="Cambria Math" panose="02040503050406030204" pitchFamily="18" charset="0"/>
                            </a:rPr>
                            <m:t>𝑣</m:t>
                          </m:r>
                        </m:e>
                        <m:sub>
                          <m:r>
                            <a:rPr lang="pl-PL" altLang="zh-CN" i="1" dirty="0" smtClean="0">
                              <a:latin typeface="Cambria Math" panose="02040503050406030204" pitchFamily="18" charset="0"/>
                            </a:rPr>
                            <m:t>1</m:t>
                          </m:r>
                        </m:sub>
                      </m:sSub>
                      <m:sSub>
                        <m:sSubPr>
                          <m:ctrlPr>
                            <a:rPr lang="en-US" altLang="zh-CN" i="1" dirty="0" smtClean="0">
                              <a:latin typeface="Cambria Math" panose="02040503050406030204" pitchFamily="18" charset="0"/>
                            </a:rPr>
                          </m:ctrlPr>
                        </m:sSubPr>
                        <m:e>
                          <m:r>
                            <a:rPr lang="pl-PL" altLang="zh-CN" i="1" dirty="0" smtClean="0">
                              <a:latin typeface="Cambria Math" panose="02040503050406030204" pitchFamily="18" charset="0"/>
                            </a:rPr>
                            <m:t>𝑣</m:t>
                          </m:r>
                        </m:e>
                        <m:sub>
                          <m:r>
                            <a:rPr lang="pl-PL" altLang="zh-CN" i="1" dirty="0" smtClean="0">
                              <a:latin typeface="Cambria Math" panose="02040503050406030204" pitchFamily="18" charset="0"/>
                            </a:rPr>
                            <m:t>2</m:t>
                          </m:r>
                        </m:sub>
                      </m:sSub>
                      <m:sSub>
                        <m:sSubPr>
                          <m:ctrlPr>
                            <a:rPr lang="en-US" altLang="zh-CN" i="1" dirty="0" smtClean="0">
                              <a:latin typeface="Cambria Math" panose="02040503050406030204" pitchFamily="18" charset="0"/>
                            </a:rPr>
                          </m:ctrlPr>
                        </m:sSubPr>
                        <m:e>
                          <m:r>
                            <a:rPr lang="pl-PL" altLang="zh-CN" i="1" dirty="0" smtClean="0">
                              <a:latin typeface="Cambria Math" panose="02040503050406030204" pitchFamily="18" charset="0"/>
                            </a:rPr>
                            <m:t>𝑣</m:t>
                          </m:r>
                        </m:e>
                        <m:sub>
                          <m:r>
                            <a:rPr lang="pl-PL" altLang="zh-CN" i="1" dirty="0" smtClean="0">
                              <a:latin typeface="Cambria Math" panose="02040503050406030204" pitchFamily="18" charset="0"/>
                            </a:rPr>
                            <m:t>3</m:t>
                          </m:r>
                        </m:sub>
                      </m:sSub>
                      <m:r>
                        <a:rPr lang="pl-PL"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pl-PL" altLang="zh-CN" i="1" dirty="0" smtClean="0">
                              <a:latin typeface="Cambria Math" panose="02040503050406030204" pitchFamily="18" charset="0"/>
                            </a:rPr>
                            <m:t>𝑣</m:t>
                          </m:r>
                        </m:e>
                        <m:sub>
                          <m:r>
                            <a:rPr lang="pl-PL" altLang="zh-CN" i="1" dirty="0" smtClean="0">
                              <a:latin typeface="Cambria Math" panose="02040503050406030204" pitchFamily="18" charset="0"/>
                            </a:rPr>
                            <m:t>2</m:t>
                          </m:r>
                        </m:sub>
                      </m:sSub>
                      <m:r>
                        <a:rPr lang="pl-PL" altLang="zh-CN" i="1" dirty="0" smtClean="0">
                          <a:latin typeface="Cambria Math" panose="02040503050406030204" pitchFamily="18" charset="0"/>
                        </a:rPr>
                        <m:t>= ‘</m:t>
                      </m:r>
                      <m:r>
                        <a:rPr lang="pl-PL" altLang="zh-CN" i="1" dirty="0" smtClean="0">
                          <a:latin typeface="Cambria Math" panose="02040503050406030204" pitchFamily="18" charset="0"/>
                        </a:rPr>
                        <m:t>𝐶</m:t>
                      </m:r>
                      <m:r>
                        <a:rPr lang="pl-PL" altLang="zh-CN" i="1" dirty="0" smtClean="0">
                          <a:latin typeface="Cambria Math" panose="02040503050406030204" pitchFamily="18" charset="0"/>
                        </a:rPr>
                        <m:t>2</m:t>
                      </m:r>
                      <m:r>
                        <a:rPr lang="pl-PL" altLang="zh-CN"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pl-PL" altLang="zh-CN" i="1" dirty="0" smtClean="0">
                              <a:latin typeface="Cambria Math" panose="02040503050406030204" pitchFamily="18" charset="0"/>
                            </a:rPr>
                            <m:t>𝑢</m:t>
                          </m:r>
                        </m:e>
                        <m:sub>
                          <m:r>
                            <a:rPr lang="pl-PL" altLang="zh-CN" i="1" dirty="0" smtClean="0">
                              <a:latin typeface="Cambria Math" panose="02040503050406030204" pitchFamily="18" charset="0"/>
                            </a:rPr>
                            <m:t>1</m:t>
                          </m:r>
                        </m:sub>
                      </m:sSub>
                      <m:r>
                        <a:rPr lang="pl-PL"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pl-PL" altLang="zh-CN" i="1" dirty="0" smtClean="0">
                              <a:latin typeface="Cambria Math" panose="02040503050406030204" pitchFamily="18" charset="0"/>
                            </a:rPr>
                            <m:t>𝑣</m:t>
                          </m:r>
                        </m:e>
                        <m:sub>
                          <m:r>
                            <a:rPr lang="pl-PL" altLang="zh-CN" i="1" dirty="0" smtClean="0">
                              <a:latin typeface="Cambria Math" panose="02040503050406030204" pitchFamily="18" charset="0"/>
                            </a:rPr>
                            <m:t>1</m:t>
                          </m:r>
                        </m:sub>
                      </m:sSub>
                      <m:r>
                        <a:rPr lang="pl-PL" altLang="zh-CN"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pl-PL" altLang="zh-CN" i="1" dirty="0" smtClean="0">
                              <a:latin typeface="Cambria Math" panose="02040503050406030204" pitchFamily="18" charset="0"/>
                            </a:rPr>
                            <m:t>𝑡</m:t>
                          </m:r>
                        </m:e>
                        <m:sub>
                          <m:r>
                            <a:rPr lang="pl-PL" altLang="zh-CN" i="1" dirty="0" smtClean="0">
                              <a:latin typeface="Cambria Math" panose="02040503050406030204" pitchFamily="18" charset="0"/>
                            </a:rPr>
                            <m:t>1</m:t>
                          </m:r>
                        </m:sub>
                      </m:sSub>
                      <m:r>
                        <a:rPr lang="pl-PL"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pl-PL" altLang="zh-CN" i="1" dirty="0" smtClean="0">
                              <a:latin typeface="Cambria Math" panose="02040503050406030204" pitchFamily="18" charset="0"/>
                            </a:rPr>
                            <m:t>𝑢</m:t>
                          </m:r>
                        </m:e>
                        <m:sub>
                          <m:r>
                            <a:rPr lang="pl-PL" altLang="zh-CN" i="1" dirty="0" smtClean="0">
                              <a:latin typeface="Cambria Math" panose="02040503050406030204" pitchFamily="18" charset="0"/>
                            </a:rPr>
                            <m:t>1</m:t>
                          </m:r>
                        </m:sub>
                      </m:sSub>
                      <m:r>
                        <a:rPr lang="pl-PL"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pl-PL" altLang="zh-CN" i="1" dirty="0" smtClean="0">
                              <a:latin typeface="Cambria Math" panose="02040503050406030204" pitchFamily="18" charset="0"/>
                            </a:rPr>
                            <m:t>𝑡</m:t>
                          </m:r>
                        </m:e>
                        <m:sub>
                          <m:r>
                            <a:rPr lang="pl-PL" altLang="zh-CN" i="1" dirty="0" smtClean="0">
                              <a:latin typeface="Cambria Math" panose="02040503050406030204" pitchFamily="18" charset="0"/>
                            </a:rPr>
                            <m:t>2</m:t>
                          </m:r>
                        </m:sub>
                      </m:sSub>
                      <m:r>
                        <a:rPr lang="pl-PL"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pl-PL" altLang="zh-CN" i="1" dirty="0" smtClean="0">
                              <a:latin typeface="Cambria Math" panose="02040503050406030204" pitchFamily="18" charset="0"/>
                            </a:rPr>
                            <m:t>𝑢</m:t>
                          </m:r>
                        </m:e>
                        <m:sub>
                          <m:r>
                            <a:rPr lang="pl-PL" altLang="zh-CN" i="1" dirty="0" smtClean="0">
                              <a:latin typeface="Cambria Math" panose="02040503050406030204" pitchFamily="18" charset="0"/>
                            </a:rPr>
                            <m:t>2</m:t>
                          </m:r>
                        </m:sub>
                      </m:sSub>
                      <m:r>
                        <a:rPr lang="pl-PL" altLang="zh-CN" i="1" dirty="0" smtClean="0">
                          <a:latin typeface="Cambria Math" panose="02040503050406030204" pitchFamily="18" charset="0"/>
                        </a:rPr>
                        <m:t>)}</m:t>
                      </m:r>
                    </m:oMath>
                  </m:oMathPara>
                </a14:m>
                <a:endParaRPr lang="pl-PL" altLang="zh-CN" dirty="0"/>
              </a:p>
              <a:p>
                <a:pPr marL="914400" lvl="2" indent="0">
                  <a:buNone/>
                </a:pPr>
                <a:r>
                  <a:rPr lang="zh-CN" altLang="en-US" dirty="0"/>
                  <a:t>可简化为</a:t>
                </a:r>
                <a14:m>
                  <m:oMath xmlns:m="http://schemas.openxmlformats.org/officeDocument/2006/math">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𝑡</m:t>
                        </m:r>
                      </m:e>
                      <m:sub>
                        <m:r>
                          <a:rPr lang="en-US" altLang="zh-CN" i="1" dirty="0" smtClean="0">
                            <a:latin typeface="Cambria Math" panose="02040503050406030204" pitchFamily="18" charset="0"/>
                          </a:rPr>
                          <m:t>1</m:t>
                        </m:r>
                      </m:sub>
                    </m:sSub>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𝑡</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 | (∃</m:t>
                    </m:r>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𝑢</m:t>
                        </m:r>
                      </m:e>
                      <m:sub>
                        <m:r>
                          <a:rPr lang="en-US" altLang="zh-CN" i="1" dirty="0" smtClean="0">
                            <a:latin typeface="Cambria Math" panose="02040503050406030204" pitchFamily="18" charset="0"/>
                          </a:rPr>
                          <m:t>3</m:t>
                        </m:r>
                      </m:sub>
                    </m:sSub>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𝑢</m:t>
                        </m:r>
                      </m:e>
                      <m:sub>
                        <m:r>
                          <a:rPr lang="en-US" altLang="zh-CN" i="1" dirty="0" smtClean="0">
                            <a:latin typeface="Cambria Math" panose="02040503050406030204" pitchFamily="18" charset="0"/>
                          </a:rPr>
                          <m:t>4</m:t>
                        </m:r>
                      </m:sub>
                    </m:sSub>
                    <m:r>
                      <a:rPr lang="en-US" altLang="zh-CN" i="1" dirty="0" smtClean="0">
                        <a:latin typeface="Cambria Math" panose="02040503050406030204" pitchFamily="18" charset="0"/>
                      </a:rPr>
                      <m:t>) (∃</m:t>
                    </m:r>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𝑣</m:t>
                        </m:r>
                      </m:e>
                      <m:sub>
                        <m:r>
                          <a:rPr lang="en-US" altLang="zh-CN" i="1" dirty="0" smtClean="0">
                            <a:latin typeface="Cambria Math" panose="02040503050406030204" pitchFamily="18" charset="0"/>
                          </a:rPr>
                          <m:t>3</m:t>
                        </m:r>
                      </m:sub>
                    </m:sSub>
                    <m:r>
                      <a:rPr lang="en-US" altLang="zh-CN" i="1" dirty="0" smtClean="0">
                        <a:latin typeface="Cambria Math" panose="02040503050406030204" pitchFamily="18" charset="0"/>
                      </a:rPr>
                      <m:t>)(</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𝑡</m:t>
                        </m:r>
                      </m:e>
                      <m:sub>
                        <m:r>
                          <a:rPr lang="en-US" altLang="zh-CN" i="1" dirty="0" smtClean="0">
                            <a:latin typeface="Cambria Math" panose="02040503050406030204" pitchFamily="18" charset="0"/>
                          </a:rPr>
                          <m:t>1</m:t>
                        </m:r>
                      </m:sub>
                    </m:sSub>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𝑡</m:t>
                        </m:r>
                      </m:e>
                      <m:sub>
                        <m:r>
                          <a:rPr lang="en-US" altLang="zh-CN" i="1" dirty="0" smtClean="0">
                            <a:latin typeface="Cambria Math" panose="02040503050406030204" pitchFamily="18" charset="0"/>
                          </a:rPr>
                          <m:t>2</m:t>
                        </m:r>
                      </m:sub>
                    </m:sSub>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𝑢</m:t>
                        </m:r>
                      </m:e>
                      <m:sub>
                        <m:r>
                          <a:rPr lang="en-US" altLang="zh-CN" i="1" dirty="0" smtClean="0">
                            <a:latin typeface="Cambria Math" panose="02040503050406030204" pitchFamily="18" charset="0"/>
                          </a:rPr>
                          <m:t>3</m:t>
                        </m:r>
                      </m:sub>
                    </m:sSub>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𝑢</m:t>
                        </m:r>
                      </m:e>
                      <m:sub>
                        <m:r>
                          <a:rPr lang="en-US" altLang="zh-CN" i="1" dirty="0" smtClean="0">
                            <a:latin typeface="Cambria Math" panose="02040503050406030204" pitchFamily="18" charset="0"/>
                          </a:rPr>
                          <m:t>4</m:t>
                        </m:r>
                      </m:sub>
                    </m:sSub>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𝑆𝐶</m:t>
                    </m:r>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𝑡</m:t>
                        </m:r>
                      </m:e>
                      <m:sub>
                        <m:r>
                          <a:rPr lang="en-US" altLang="zh-CN" i="1" dirty="0" smtClean="0">
                            <a:latin typeface="Cambria Math" panose="02040503050406030204" pitchFamily="18" charset="0"/>
                          </a:rPr>
                          <m:t>1</m:t>
                        </m:r>
                      </m:sub>
                    </m:sSub>
                    <m:r>
                      <a:rPr lang="en-US" altLang="zh-CN" i="1" dirty="0" smtClean="0">
                        <a:latin typeface="Cambria Math" panose="02040503050406030204" pitchFamily="18" charset="0"/>
                      </a:rPr>
                      <m:t>‘</m:t>
                    </m:r>
                    <m:r>
                      <a:rPr lang="en-US" altLang="zh-CN" i="1" dirty="0" smtClean="0">
                        <a:latin typeface="Cambria Math" panose="02040503050406030204" pitchFamily="18" charset="0"/>
                      </a:rPr>
                      <m:t>𝐶</m:t>
                    </m:r>
                    <m:r>
                      <a:rPr lang="en-US" altLang="zh-CN" i="1" dirty="0" smtClean="0">
                        <a:latin typeface="Cambria Math" panose="02040503050406030204" pitchFamily="18" charset="0"/>
                      </a:rPr>
                      <m:t>2</m:t>
                    </m:r>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𝑣</m:t>
                        </m:r>
                      </m:e>
                      <m:sub>
                        <m:r>
                          <a:rPr lang="en-US" altLang="zh-CN" i="1" dirty="0" smtClean="0">
                            <a:latin typeface="Cambria Math" panose="02040503050406030204" pitchFamily="18" charset="0"/>
                          </a:rPr>
                          <m:t>3</m:t>
                        </m:r>
                      </m:sub>
                    </m:sSub>
                    <m:r>
                      <a:rPr lang="en-US" altLang="zh-CN" i="1" dirty="0" smtClean="0">
                        <a:latin typeface="Cambria Math" panose="02040503050406030204" pitchFamily="18" charset="0"/>
                      </a:rPr>
                      <m:t>) }</m:t>
                    </m:r>
                  </m:oMath>
                </a14:m>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2.3 </a:t>
            </a:r>
            <a:r>
              <a:rPr lang="zh-CN" altLang="en-US" dirty="0"/>
              <a:t>关系演算</a:t>
            </a:r>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14403</Words>
  <Application>WPS 演示</Application>
  <PresentationFormat>宽屏</PresentationFormat>
  <Paragraphs>2797</Paragraphs>
  <Slides>80</Slides>
  <Notes>2</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4</vt:i4>
      </vt:variant>
      <vt:variant>
        <vt:lpstr>幻灯片标题</vt:lpstr>
      </vt:variant>
      <vt:variant>
        <vt:i4>80</vt:i4>
      </vt:variant>
    </vt:vector>
  </HeadingPairs>
  <TitlesOfParts>
    <vt:vector size="103" baseType="lpstr">
      <vt:lpstr>Arial</vt:lpstr>
      <vt:lpstr>宋体</vt:lpstr>
      <vt:lpstr>Wingdings</vt:lpstr>
      <vt:lpstr>黑体</vt:lpstr>
      <vt:lpstr>微软雅黑</vt:lpstr>
      <vt:lpstr>Times New Roman</vt:lpstr>
      <vt:lpstr>Cambria Math</vt:lpstr>
      <vt:lpstr>Arial Unicode MS</vt:lpstr>
      <vt:lpstr>等线 Light</vt:lpstr>
      <vt:lpstr>等线</vt:lpstr>
      <vt:lpstr>Monotype Sorts</vt:lpstr>
      <vt:lpstr>Wingdings</vt:lpstr>
      <vt:lpstr>Helvetica</vt:lpstr>
      <vt:lpstr>Symbol</vt:lpstr>
      <vt:lpstr>Lucida Sans Unicode</vt:lpstr>
      <vt:lpstr>华文新魏</vt:lpstr>
      <vt:lpstr>楷体_GB2312</vt:lpstr>
      <vt:lpstr>新宋体</vt:lpstr>
      <vt:lpstr>Office 主题​​</vt:lpstr>
      <vt:lpstr>Word.Document.8</vt:lpstr>
      <vt:lpstr>Paint.Picture</vt:lpstr>
      <vt:lpstr>Paint.Picture</vt:lpstr>
      <vt:lpstr>Paint.Picture</vt:lpstr>
      <vt:lpstr>第2章 关系模型</vt:lpstr>
      <vt:lpstr>目录</vt:lpstr>
      <vt:lpstr>2.1 基本概念</vt:lpstr>
      <vt:lpstr>2.1 基本概念</vt:lpstr>
      <vt:lpstr>2.1 基本概念</vt:lpstr>
      <vt:lpstr>2.1 基本概念</vt:lpstr>
      <vt:lpstr>2.1 基本概念</vt:lpstr>
      <vt:lpstr>2.1 基本概念</vt:lpstr>
      <vt:lpstr>2.1 基本概念</vt:lpstr>
      <vt:lpstr>2.1 基本概念</vt:lpstr>
      <vt:lpstr>2.1 基本概念</vt:lpstr>
      <vt:lpstr>2.1 基本概念</vt:lpstr>
      <vt:lpstr>2.1 基本概念</vt:lpstr>
      <vt:lpstr>2.1 基本概念</vt:lpstr>
      <vt:lpstr>2.1 基本概念</vt:lpstr>
      <vt:lpstr>2.1 基本概念</vt:lpstr>
      <vt:lpstr>2.1 基本概念</vt:lpstr>
      <vt:lpstr>2.1 基本概念</vt:lpstr>
      <vt:lpstr>2.1 基本概念</vt:lpstr>
      <vt:lpstr>2.1 基本概念</vt:lpstr>
      <vt:lpstr>2.1 基本概念</vt:lpstr>
      <vt:lpstr>2.1 基本概念</vt:lpstr>
      <vt:lpstr>2.1 基本概念</vt:lpstr>
      <vt:lpstr>2.1 基本概念</vt:lpstr>
      <vt:lpstr>2.1 基本概念</vt:lpstr>
      <vt:lpstr>2.1 基本概念</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2.2 关系代数</vt:lpstr>
      <vt:lpstr>2.3 关系演算</vt:lpstr>
      <vt:lpstr>2.3 关系演算</vt:lpstr>
      <vt:lpstr>2.3 关系演算</vt:lpstr>
      <vt:lpstr>2.3 关系演算</vt:lpstr>
      <vt:lpstr>2.3 关系演算</vt:lpstr>
      <vt:lpstr>2.3 关系演算</vt:lpstr>
      <vt:lpstr>2.3 关系演算</vt:lpstr>
      <vt:lpstr>2.3 关系演算</vt:lpstr>
      <vt:lpstr>2.3 关系演算</vt:lpstr>
      <vt:lpstr>2.3 关系演算</vt:lpstr>
      <vt:lpstr>2.3 关系演算</vt:lpstr>
      <vt:lpstr>2.3 关系演算</vt:lpstr>
      <vt:lpstr>2.3 关系演算</vt:lpstr>
      <vt:lpstr>2.3 关系演算</vt:lpstr>
      <vt:lpstr>2.3 关系演算</vt:lpstr>
      <vt:lpstr>2.3 关系演算</vt:lpstr>
      <vt:lpstr>2.3 关系演算</vt:lpstr>
      <vt:lpstr>2.3 关系演算</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五更</cp:lastModifiedBy>
  <cp:revision>24</cp:revision>
  <dcterms:created xsi:type="dcterms:W3CDTF">2024-11-02T12:31:00Z</dcterms:created>
  <dcterms:modified xsi:type="dcterms:W3CDTF">2025-07-21T05:32:12Z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5BB6F5C0BBFF4F72A319E89DCD1F232C_12</vt:lpwstr>
  </property>
  <property fmtid="{D5CDD505-2E9C-101B-9397-08002B2CF9AE}" pid="3" name="KSOProductBuildVer">
    <vt:lpwstr>2052-12.1.0.21915</vt:lpwstr>
  </property>
</Properties>
</file>