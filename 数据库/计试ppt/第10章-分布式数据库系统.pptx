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46" r:id="rId5"/>
    <p:sldId id="545" r:id="rId6"/>
    <p:sldId id="546" r:id="rId7"/>
    <p:sldId id="549" r:id="rId8"/>
    <p:sldId id="550" r:id="rId9"/>
    <p:sldId id="551" r:id="rId10"/>
    <p:sldId id="552" r:id="rId11"/>
    <p:sldId id="553" r:id="rId12"/>
    <p:sldId id="554" r:id="rId13"/>
    <p:sldId id="555" r:id="rId14"/>
    <p:sldId id="556" r:id="rId15"/>
    <p:sldId id="557" r:id="rId16"/>
    <p:sldId id="558" r:id="rId17"/>
    <p:sldId id="559" r:id="rId18"/>
    <p:sldId id="560" r:id="rId19"/>
    <p:sldId id="561" r:id="rId20"/>
    <p:sldId id="562" r:id="rId21"/>
    <p:sldId id="563" r:id="rId22"/>
    <p:sldId id="564" r:id="rId23"/>
    <p:sldId id="565" r:id="rId24"/>
    <p:sldId id="566" r:id="rId25"/>
    <p:sldId id="567" r:id="rId26"/>
    <p:sldId id="568" r:id="rId27"/>
    <p:sldId id="569" r:id="rId28"/>
    <p:sldId id="570" r:id="rId29"/>
    <p:sldId id="571" r:id="rId30"/>
    <p:sldId id="572" r:id="rId31"/>
    <p:sldId id="573" r:id="rId32"/>
    <p:sldId id="574" r:id="rId33"/>
    <p:sldId id="575" r:id="rId34"/>
    <p:sldId id="576" r:id="rId35"/>
    <p:sldId id="577" r:id="rId36"/>
    <p:sldId id="578" r:id="rId37"/>
    <p:sldId id="579" r:id="rId38"/>
    <p:sldId id="580" r:id="rId39"/>
    <p:sldId id="581" r:id="rId40"/>
    <p:sldId id="582" r:id="rId41"/>
    <p:sldId id="583" r:id="rId42"/>
    <p:sldId id="584" r:id="rId43"/>
    <p:sldId id="585" r:id="rId44"/>
    <p:sldId id="586" r:id="rId45"/>
    <p:sldId id="587" r:id="rId46"/>
    <p:sldId id="588" r:id="rId47"/>
    <p:sldId id="589" r:id="rId48"/>
    <p:sldId id="590" r:id="rId49"/>
    <p:sldId id="591" r:id="rId50"/>
    <p:sldId id="592" r:id="rId51"/>
    <p:sldId id="593" r:id="rId52"/>
    <p:sldId id="594" r:id="rId53"/>
    <p:sldId id="595" r:id="rId54"/>
    <p:sldId id="596" r:id="rId55"/>
    <p:sldId id="597" r:id="rId56"/>
    <p:sldId id="598" r:id="rId57"/>
    <p:sldId id="599" r:id="rId58"/>
    <p:sldId id="600" r:id="rId59"/>
    <p:sldId id="602" r:id="rId60"/>
    <p:sldId id="603" r:id="rId61"/>
    <p:sldId id="604" r:id="rId62"/>
    <p:sldId id="605" r:id="rId63"/>
    <p:sldId id="606" r:id="rId64"/>
    <p:sldId id="607" r:id="rId65"/>
    <p:sldId id="608" r:id="rId66"/>
    <p:sldId id="609" r:id="rId67"/>
    <p:sldId id="610" r:id="rId68"/>
    <p:sldId id="611" r:id="rId69"/>
    <p:sldId id="612" r:id="rId70"/>
    <p:sldId id="613" r:id="rId71"/>
    <p:sldId id="614" r:id="rId72"/>
    <p:sldId id="615" r:id="rId73"/>
    <p:sldId id="616" r:id="rId74"/>
    <p:sldId id="617" r:id="rId75"/>
    <p:sldId id="618" r:id="rId76"/>
    <p:sldId id="620" r:id="rId77"/>
    <p:sldId id="621" r:id="rId78"/>
    <p:sldId id="622" r:id="rId79"/>
    <p:sldId id="623" r:id="rId80"/>
    <p:sldId id="624" r:id="rId81"/>
    <p:sldId id="625" r:id="rId82"/>
    <p:sldId id="626" r:id="rId83"/>
    <p:sldId id="627" r:id="rId84"/>
    <p:sldId id="628" r:id="rId85"/>
    <p:sldId id="629" r:id="rId86"/>
    <p:sldId id="630" r:id="rId87"/>
    <p:sldId id="631" r:id="rId88"/>
    <p:sldId id="632" r:id="rId89"/>
    <p:sldId id="633" r:id="rId90"/>
    <p:sldId id="634" r:id="rId91"/>
    <p:sldId id="635" r:id="rId92"/>
    <p:sldId id="636" r:id="rId93"/>
    <p:sldId id="637" r:id="rId94"/>
    <p:sldId id="638" r:id="rId95"/>
    <p:sldId id="639" r:id="rId96"/>
    <p:sldId id="640" r:id="rId97"/>
    <p:sldId id="641" r:id="rId98"/>
    <p:sldId id="642" r:id="rId99"/>
    <p:sldId id="643" r:id="rId100"/>
    <p:sldId id="644" r:id="rId101"/>
    <p:sldId id="645" r:id="rId102"/>
    <p:sldId id="647" r:id="rId103"/>
    <p:sldId id="646" r:id="rId104"/>
    <p:sldId id="648" r:id="rId105"/>
    <p:sldId id="649" r:id="rId106"/>
    <p:sldId id="650" r:id="rId107"/>
    <p:sldId id="651" r:id="rId108"/>
    <p:sldId id="652" r:id="rId109"/>
    <p:sldId id="653" r:id="rId110"/>
    <p:sldId id="654" r:id="rId111"/>
    <p:sldId id="655" r:id="rId112"/>
    <p:sldId id="657" r:id="rId113"/>
    <p:sldId id="658" r:id="rId114"/>
    <p:sldId id="659" r:id="rId115"/>
    <p:sldId id="660" r:id="rId116"/>
    <p:sldId id="661" r:id="rId117"/>
    <p:sldId id="662" r:id="rId118"/>
    <p:sldId id="663" r:id="rId119"/>
    <p:sldId id="664" r:id="rId120"/>
    <p:sldId id="665" r:id="rId121"/>
    <p:sldId id="666" r:id="rId122"/>
    <p:sldId id="667" r:id="rId123"/>
    <p:sldId id="668" r:id="rId124"/>
    <p:sldId id="669" r:id="rId125"/>
    <p:sldId id="670" r:id="rId1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9933"/>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421" autoAdjust="0"/>
  </p:normalViewPr>
  <p:slideViewPr>
    <p:cSldViewPr snapToGrid="0">
      <p:cViewPr varScale="1">
        <p:scale>
          <a:sx n="113" d="100"/>
          <a:sy n="113" d="100"/>
        </p:scale>
        <p:origin x="643" y="8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sz="6000" b="1" dirty="0"/>
              <a:t>第</a:t>
            </a:r>
            <a:r>
              <a:rPr lang="en-US" altLang="zh-CN" b="1" dirty="0"/>
              <a:t>10</a:t>
            </a:r>
            <a:r>
              <a:rPr lang="zh-CN" altLang="en-US" sz="6000" b="1" dirty="0"/>
              <a:t>章 分布式数据库系统与</a:t>
            </a:r>
            <a:br>
              <a:rPr lang="en-US" altLang="zh-CN" sz="6000" b="1" dirty="0"/>
            </a:br>
            <a:r>
              <a:rPr lang="zh-CN" altLang="en-US" sz="6000" b="1" dirty="0"/>
              <a:t>并行数据库系统</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a:xfrm>
            <a:off x="1995959" y="1219202"/>
            <a:ext cx="9383241" cy="5308598"/>
          </a:xfrm>
        </p:spPr>
        <p:txBody>
          <a:bodyPr>
            <a:normAutofit lnSpcReduction="10000"/>
          </a:bodyPr>
          <a:lstStyle/>
          <a:p>
            <a:pPr>
              <a:lnSpc>
                <a:spcPct val="140000"/>
              </a:lnSpc>
            </a:pPr>
            <a:r>
              <a:rPr kumimoji="1" lang="en-US" altLang="zh-CN" sz="2600" dirty="0">
                <a:latin typeface="微软雅黑" panose="020B0503020204020204" pitchFamily="34" charset="-122"/>
                <a:ea typeface="微软雅黑" panose="020B0503020204020204" pitchFamily="34" charset="-122"/>
              </a:rPr>
              <a:t>10.1 </a:t>
            </a:r>
            <a:r>
              <a:rPr kumimoji="1" lang="zh-CN" altLang="en-US" sz="2600" dirty="0">
                <a:latin typeface="微软雅黑" panose="020B0503020204020204" pitchFamily="34" charset="-122"/>
                <a:ea typeface="微软雅黑" panose="020B0503020204020204" pitchFamily="34" charset="-122"/>
              </a:rPr>
              <a:t>概述</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10.2 </a:t>
            </a:r>
            <a:r>
              <a:rPr kumimoji="1" lang="zh-CN" altLang="en-US" sz="2600" dirty="0">
                <a:latin typeface="微软雅黑" panose="020B0503020204020204" pitchFamily="34" charset="-122"/>
                <a:ea typeface="微软雅黑" panose="020B0503020204020204" pitchFamily="34" charset="-122"/>
              </a:rPr>
              <a:t>分布式数据存储</a:t>
            </a:r>
            <a:endParaRPr kumimoji="1" lang="en-US" altLang="zh-CN"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10.3 </a:t>
            </a:r>
            <a:r>
              <a:rPr kumimoji="1" lang="zh-CN" altLang="en-US" sz="2600" dirty="0">
                <a:latin typeface="微软雅黑" panose="020B0503020204020204" pitchFamily="34" charset="-122"/>
                <a:ea typeface="微软雅黑" panose="020B0503020204020204" pitchFamily="34" charset="-122"/>
              </a:rPr>
              <a:t>分布式数据库系统体系结构</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10.4 </a:t>
            </a:r>
            <a:r>
              <a:rPr kumimoji="1" lang="zh-CN" altLang="en-US" sz="2600" dirty="0">
                <a:latin typeface="微软雅黑" panose="020B0503020204020204" pitchFamily="34" charset="-122"/>
                <a:ea typeface="微软雅黑" panose="020B0503020204020204" pitchFamily="34" charset="-122"/>
              </a:rPr>
              <a:t>分布式数据库管理系统</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10.5 </a:t>
            </a:r>
            <a:r>
              <a:rPr kumimoji="1" lang="zh-CN" altLang="en-US" sz="2600" dirty="0">
                <a:latin typeface="微软雅黑" panose="020B0503020204020204" pitchFamily="34" charset="-122"/>
                <a:ea typeface="微软雅黑" panose="020B0503020204020204" pitchFamily="34" charset="-122"/>
              </a:rPr>
              <a:t>分布式查询处理和优化</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10.6 </a:t>
            </a:r>
            <a:r>
              <a:rPr kumimoji="1" lang="zh-CN" altLang="en-US" sz="2600" dirty="0">
                <a:latin typeface="微软雅黑" panose="020B0503020204020204" pitchFamily="34" charset="-122"/>
                <a:ea typeface="微软雅黑" panose="020B0503020204020204" pitchFamily="34" charset="-122"/>
              </a:rPr>
              <a:t>分布式事务处理</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10.7 </a:t>
            </a:r>
            <a:r>
              <a:rPr kumimoji="1" lang="zh-CN" altLang="en-US" sz="2600" dirty="0">
                <a:latin typeface="微软雅黑" panose="020B0503020204020204" pitchFamily="34" charset="-122"/>
                <a:ea typeface="微软雅黑" panose="020B0503020204020204" pitchFamily="34" charset="-122"/>
              </a:rPr>
              <a:t>联邦数据库和多数据库系统</a:t>
            </a:r>
            <a:endParaRPr kumimoji="1" lang="en-US" altLang="zh-CN"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10.8 </a:t>
            </a:r>
            <a:r>
              <a:rPr kumimoji="1" lang="zh-CN" altLang="en-US" sz="2600" dirty="0">
                <a:latin typeface="微软雅黑" panose="020B0503020204020204" pitchFamily="34" charset="-122"/>
                <a:ea typeface="微软雅黑" panose="020B0503020204020204" pitchFamily="34" charset="-122"/>
              </a:rPr>
              <a:t>并行数据库</a:t>
            </a:r>
            <a:endParaRPr kumimoji="1" lang="zh-CN" altLang="en-US" sz="2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引言</a:t>
            </a:r>
            <a:endParaRPr lang="en-US" altLang="zh-CN" sz="3000" dirty="0"/>
          </a:p>
          <a:p>
            <a:pPr lvl="1">
              <a:lnSpc>
                <a:spcPct val="140000"/>
              </a:lnSpc>
            </a:pPr>
            <a:r>
              <a:rPr lang="zh-CN" altLang="en-US" dirty="0"/>
              <a:t>随着传统的数据库技术日趋成熟、计算机网络技术的飞速发展和应用范围的扩大，以分布式为主要特征的数据库系统的研究与开发受到人们的注意。</a:t>
            </a:r>
            <a:endParaRPr lang="zh-CN" altLang="en-US" dirty="0"/>
          </a:p>
          <a:p>
            <a:pPr lvl="1">
              <a:lnSpc>
                <a:spcPct val="140000"/>
              </a:lnSpc>
            </a:pPr>
            <a:r>
              <a:rPr lang="zh-CN" altLang="en-US" dirty="0"/>
              <a:t>分布式数据库是数据库技术与网络技术相结合的产物，在数据库领域已形成一个分支。</a:t>
            </a:r>
            <a:endParaRPr lang="zh-CN" altLang="en-US" dirty="0"/>
          </a:p>
          <a:p>
            <a:pPr marL="914400" lvl="2" indent="0">
              <a:lnSpc>
                <a:spcPct val="140000"/>
              </a:lnSpc>
              <a:buNone/>
            </a:pPr>
            <a:endParaRPr lang="en-US" altLang="zh-CN" sz="8000"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分布式数据库的由来与发展 </a:t>
            </a:r>
            <a:endParaRPr lang="en-US" altLang="zh-CN" sz="3000" dirty="0"/>
          </a:p>
          <a:p>
            <a:pPr lvl="1">
              <a:lnSpc>
                <a:spcPct val="140000"/>
              </a:lnSpc>
            </a:pPr>
            <a:r>
              <a:rPr lang="zh-CN" altLang="en-US" dirty="0"/>
              <a:t>分布式数据库的研究始于</a:t>
            </a:r>
            <a:r>
              <a:rPr lang="en-US" altLang="zh-CN" dirty="0"/>
              <a:t>20</a:t>
            </a:r>
            <a:r>
              <a:rPr lang="zh-CN" altLang="en-US" dirty="0"/>
              <a:t>世纪</a:t>
            </a:r>
            <a:r>
              <a:rPr lang="en-US" altLang="zh-CN" dirty="0"/>
              <a:t>70</a:t>
            </a:r>
            <a:r>
              <a:rPr lang="zh-CN" altLang="en-US" dirty="0"/>
              <a:t>年代中期</a:t>
            </a:r>
            <a:endParaRPr lang="zh-CN" altLang="en-US" dirty="0"/>
          </a:p>
          <a:p>
            <a:pPr lvl="1">
              <a:lnSpc>
                <a:spcPct val="140000"/>
              </a:lnSpc>
            </a:pPr>
            <a:r>
              <a:rPr lang="zh-CN" altLang="en-US" dirty="0"/>
              <a:t>世界上第一个分布式数据库系统</a:t>
            </a:r>
            <a:r>
              <a:rPr lang="en-US" altLang="zh-CN" dirty="0"/>
              <a:t>SDD-1</a:t>
            </a:r>
            <a:r>
              <a:rPr lang="zh-CN" altLang="en-US" dirty="0"/>
              <a:t>是由美国计算机公司</a:t>
            </a:r>
            <a:r>
              <a:rPr lang="en-US" altLang="zh-CN" dirty="0"/>
              <a:t>(CCA)</a:t>
            </a:r>
            <a:r>
              <a:rPr lang="zh-CN" altLang="en-US" dirty="0"/>
              <a:t>于</a:t>
            </a:r>
            <a:r>
              <a:rPr lang="en-US" altLang="zh-CN" dirty="0"/>
              <a:t>1979</a:t>
            </a:r>
            <a:r>
              <a:rPr lang="zh-CN" altLang="en-US" dirty="0"/>
              <a:t>年在</a:t>
            </a:r>
            <a:r>
              <a:rPr lang="en-US" altLang="zh-CN" dirty="0"/>
              <a:t>DEC</a:t>
            </a:r>
            <a:r>
              <a:rPr lang="zh-CN" altLang="en-US" dirty="0"/>
              <a:t>计算机上实现。</a:t>
            </a:r>
            <a:endParaRPr lang="zh-CN" altLang="en-US" dirty="0"/>
          </a:p>
          <a:p>
            <a:pPr lvl="1">
              <a:lnSpc>
                <a:spcPct val="140000"/>
              </a:lnSpc>
            </a:pPr>
            <a:r>
              <a:rPr lang="en-US" altLang="zh-CN" dirty="0"/>
              <a:t>20</a:t>
            </a:r>
            <a:r>
              <a:rPr lang="zh-CN" altLang="en-US" dirty="0"/>
              <a:t>世纪</a:t>
            </a:r>
            <a:r>
              <a:rPr lang="en-US" altLang="zh-CN" dirty="0"/>
              <a:t>90</a:t>
            </a:r>
            <a:r>
              <a:rPr lang="zh-CN" altLang="en-US" dirty="0"/>
              <a:t>年代以来，分布式数据库系统进入商品化应用阶段，传统的关系数据库产品均发展成以计算机网络及多任务操作系统为核心的分布式数据库产品，同时分布式数据库逐步向客户机／服务器模式发展。</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分布式数据库系统的定义</a:t>
            </a:r>
            <a:endParaRPr lang="en-US" altLang="zh-CN" sz="3000"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分布式数据库系统</a:t>
            </a:r>
            <a:r>
              <a:rPr lang="en-US" altLang="zh-CN" dirty="0">
                <a:latin typeface="微软雅黑" panose="020B0503020204020204" pitchFamily="34" charset="-122"/>
                <a:ea typeface="微软雅黑" panose="020B0503020204020204" pitchFamily="34" charset="-122"/>
              </a:rPr>
              <a:t>(DDBS)</a:t>
            </a:r>
            <a:r>
              <a:rPr lang="zh-CN" altLang="en-US" dirty="0">
                <a:latin typeface="微软雅黑" panose="020B0503020204020204" pitchFamily="34" charset="-122"/>
                <a:ea typeface="微软雅黑" panose="020B0503020204020204" pitchFamily="34" charset="-122"/>
              </a:rPr>
              <a:t>是物理上分散，而逻辑上集中的数据库系统，系统中的数据分布存放在计算机网络的不同场地的计算机中，每一场地都有自治处理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即独立处理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能力并能完成局部应用，而每一场地也参与</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至少一种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全局应用，程序通过网络通信子系统执行全局应用。</a:t>
            </a:r>
            <a:endParaRPr lang="zh-CN"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分布式数据库</a:t>
            </a:r>
            <a:r>
              <a:rPr lang="en-US" altLang="zh-CN" dirty="0">
                <a:latin typeface="微软雅黑" panose="020B0503020204020204" pitchFamily="34" charset="-122"/>
                <a:ea typeface="微软雅黑" panose="020B0503020204020204" pitchFamily="34" charset="-122"/>
              </a:rPr>
              <a:t>(DDB)</a:t>
            </a:r>
            <a:r>
              <a:rPr lang="zh-CN" altLang="en-US" dirty="0">
                <a:latin typeface="微软雅黑" panose="020B0503020204020204" pitchFamily="34" charset="-122"/>
                <a:ea typeface="微软雅黑" panose="020B0503020204020204" pitchFamily="34" charset="-122"/>
              </a:rPr>
              <a:t>是计算机网络环境中各场地上数据库的逻辑集合。</a:t>
            </a:r>
            <a:endParaRPr lang="zh-CN"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分布式数据库管理系统</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DDBS</a:t>
            </a:r>
            <a:r>
              <a:rPr lang="zh-CN" altLang="en-US" dirty="0">
                <a:latin typeface="微软雅黑" panose="020B0503020204020204" pitchFamily="34" charset="-122"/>
                <a:ea typeface="微软雅黑" panose="020B0503020204020204" pitchFamily="34" charset="-122"/>
              </a:rPr>
              <a:t>中的一组软件，负责管理分布环境下逻辑集成数据的存取、一致性和完备性 。</a:t>
            </a:r>
            <a:endParaRPr lang="zh-CN" altLang="en-US" dirty="0">
              <a:latin typeface="微软雅黑" panose="020B0503020204020204" pitchFamily="34" charset="-122"/>
              <a:ea typeface="微软雅黑" panose="020B0503020204020204" pitchFamily="34" charset="-122"/>
            </a:endParaRPr>
          </a:p>
          <a:p>
            <a:pPr marL="914400" lvl="2" indent="0">
              <a:lnSpc>
                <a:spcPct val="140000"/>
              </a:lnSpc>
              <a:buNone/>
            </a:pPr>
            <a:endParaRPr lang="en-US" altLang="zh-CN" sz="8000"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分布式数据库系统的组成</a:t>
            </a:r>
            <a:endParaRPr lang="en-US" altLang="zh-CN" sz="3000" dirty="0">
              <a:latin typeface="微软雅黑" panose="020B0503020204020204" pitchFamily="34" charset="-122"/>
              <a:ea typeface="微软雅黑" panose="020B0503020204020204" pitchFamily="34" charset="-122"/>
            </a:endParaRPr>
          </a:p>
          <a:p>
            <a:pPr marL="914400" lvl="2" indent="0">
              <a:lnSpc>
                <a:spcPct val="140000"/>
              </a:lnSpc>
              <a:buNone/>
            </a:pPr>
            <a:endParaRPr lang="en-US" altLang="zh-CN" sz="80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2" name="AutoShape 4"/>
          <p:cNvSpPr/>
          <p:nvPr/>
        </p:nvSpPr>
        <p:spPr>
          <a:xfrm>
            <a:off x="3326534" y="3636818"/>
            <a:ext cx="914400" cy="762000"/>
          </a:xfrm>
          <a:prstGeom prst="can">
            <a:avLst>
              <a:gd name="adj" fmla="val 25000"/>
            </a:avLst>
          </a:prstGeom>
          <a:solidFill>
            <a:srgbClr val="6600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6" name="Rectangle 5"/>
          <p:cNvSpPr/>
          <p:nvPr/>
        </p:nvSpPr>
        <p:spPr>
          <a:xfrm>
            <a:off x="3021734" y="2036618"/>
            <a:ext cx="1600200" cy="1143000"/>
          </a:xfrm>
          <a:prstGeom prst="rect">
            <a:avLst/>
          </a:prstGeom>
          <a:solidFill>
            <a:schemeClr val="folHlink"/>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DBMS</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zh-CN" altLang="en-US" sz="2400" dirty="0">
                <a:solidFill>
                  <a:schemeClr val="bg2"/>
                </a:solidFill>
                <a:latin typeface="Book Antiqua" panose="02040602050305030304" pitchFamily="18" charset="0"/>
                <a:ea typeface="楷体_GB2312" pitchFamily="49" charset="-122"/>
              </a:rPr>
              <a:t>分布式成分</a:t>
            </a:r>
            <a:endParaRPr lang="zh-CN" altLang="en-US" sz="2400" dirty="0">
              <a:solidFill>
                <a:schemeClr val="bg2"/>
              </a:solidFill>
              <a:latin typeface="Book Antiqua" panose="02040602050305030304" pitchFamily="18" charset="0"/>
              <a:ea typeface="楷体_GB2312" pitchFamily="49" charset="-122"/>
            </a:endParaRPr>
          </a:p>
        </p:txBody>
      </p:sp>
      <p:sp>
        <p:nvSpPr>
          <p:cNvPr id="8" name="Line 6"/>
          <p:cNvSpPr/>
          <p:nvPr/>
        </p:nvSpPr>
        <p:spPr>
          <a:xfrm>
            <a:off x="3783734" y="3179618"/>
            <a:ext cx="0" cy="457200"/>
          </a:xfrm>
          <a:prstGeom prst="line">
            <a:avLst/>
          </a:prstGeom>
          <a:ln w="28575" cap="flat" cmpd="sng">
            <a:solidFill>
              <a:schemeClr val="tx1"/>
            </a:solidFill>
            <a:prstDash val="solid"/>
            <a:headEnd type="none" w="sm" len="sm"/>
            <a:tailEnd type="none" w="sm" len="sm"/>
          </a:ln>
        </p:spPr>
      </p:sp>
      <p:sp>
        <p:nvSpPr>
          <p:cNvPr id="9" name="Line 7"/>
          <p:cNvSpPr/>
          <p:nvPr/>
        </p:nvSpPr>
        <p:spPr>
          <a:xfrm>
            <a:off x="2335934" y="2112818"/>
            <a:ext cx="685800" cy="228600"/>
          </a:xfrm>
          <a:prstGeom prst="line">
            <a:avLst/>
          </a:prstGeom>
          <a:ln w="12700" cap="flat" cmpd="sng">
            <a:solidFill>
              <a:schemeClr val="tx1"/>
            </a:solidFill>
            <a:prstDash val="solid"/>
            <a:headEnd type="none" w="sm" len="sm"/>
            <a:tailEnd type="none" w="sm" len="sm"/>
          </a:ln>
        </p:spPr>
      </p:sp>
      <p:sp>
        <p:nvSpPr>
          <p:cNvPr id="10" name="Line 8"/>
          <p:cNvSpPr/>
          <p:nvPr/>
        </p:nvSpPr>
        <p:spPr>
          <a:xfrm>
            <a:off x="2259734" y="2646218"/>
            <a:ext cx="762000" cy="0"/>
          </a:xfrm>
          <a:prstGeom prst="line">
            <a:avLst/>
          </a:prstGeom>
          <a:ln w="12700" cap="flat" cmpd="sng">
            <a:solidFill>
              <a:schemeClr val="tx1"/>
            </a:solidFill>
            <a:prstDash val="solid"/>
            <a:headEnd type="none" w="sm" len="sm"/>
            <a:tailEnd type="none" w="sm" len="sm"/>
          </a:ln>
        </p:spPr>
      </p:sp>
      <p:sp>
        <p:nvSpPr>
          <p:cNvPr id="11" name="Line 9"/>
          <p:cNvSpPr/>
          <p:nvPr/>
        </p:nvSpPr>
        <p:spPr>
          <a:xfrm flipV="1">
            <a:off x="2183534" y="3027218"/>
            <a:ext cx="838200" cy="152400"/>
          </a:xfrm>
          <a:prstGeom prst="line">
            <a:avLst/>
          </a:prstGeom>
          <a:ln w="12700" cap="flat" cmpd="sng">
            <a:solidFill>
              <a:schemeClr val="tx1"/>
            </a:solidFill>
            <a:prstDash val="solid"/>
            <a:headEnd type="none" w="sm" len="sm"/>
            <a:tailEnd type="none" w="sm" len="sm"/>
          </a:ln>
        </p:spPr>
      </p:sp>
      <p:sp>
        <p:nvSpPr>
          <p:cNvPr id="12" name="Text Box 10"/>
          <p:cNvSpPr txBox="1"/>
          <p:nvPr/>
        </p:nvSpPr>
        <p:spPr>
          <a:xfrm>
            <a:off x="1650134" y="18842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13" name="Text Box 11"/>
          <p:cNvSpPr txBox="1"/>
          <p:nvPr/>
        </p:nvSpPr>
        <p:spPr>
          <a:xfrm>
            <a:off x="1573934" y="24176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14" name="Text Box 12"/>
          <p:cNvSpPr txBox="1"/>
          <p:nvPr/>
        </p:nvSpPr>
        <p:spPr>
          <a:xfrm>
            <a:off x="1573934" y="29510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15" name="Rectangle 13"/>
          <p:cNvSpPr/>
          <p:nvPr/>
        </p:nvSpPr>
        <p:spPr>
          <a:xfrm>
            <a:off x="5345834" y="4412670"/>
            <a:ext cx="1600200" cy="1143000"/>
          </a:xfrm>
          <a:prstGeom prst="rect">
            <a:avLst/>
          </a:prstGeom>
          <a:solidFill>
            <a:schemeClr val="folHlink"/>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DBMS</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zh-CN" altLang="en-US" sz="2400" dirty="0">
                <a:solidFill>
                  <a:schemeClr val="bg2"/>
                </a:solidFill>
                <a:latin typeface="Book Antiqua" panose="02040602050305030304" pitchFamily="18" charset="0"/>
                <a:ea typeface="楷体_GB2312" pitchFamily="49" charset="-122"/>
              </a:rPr>
              <a:t>分布式成分</a:t>
            </a:r>
            <a:endParaRPr lang="zh-CN" altLang="en-US" sz="2400" dirty="0">
              <a:solidFill>
                <a:schemeClr val="bg2"/>
              </a:solidFill>
              <a:latin typeface="Book Antiqua" panose="02040602050305030304" pitchFamily="18" charset="0"/>
              <a:ea typeface="楷体_GB2312" pitchFamily="49" charset="-122"/>
            </a:endParaRPr>
          </a:p>
        </p:txBody>
      </p:sp>
      <p:sp>
        <p:nvSpPr>
          <p:cNvPr id="16" name="Rectangle 14"/>
          <p:cNvSpPr/>
          <p:nvPr/>
        </p:nvSpPr>
        <p:spPr>
          <a:xfrm>
            <a:off x="7212734" y="1731818"/>
            <a:ext cx="1600200" cy="1143000"/>
          </a:xfrm>
          <a:prstGeom prst="rect">
            <a:avLst/>
          </a:prstGeom>
          <a:solidFill>
            <a:schemeClr val="folHlink"/>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DBMS</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en-US" altLang="zh-CN" sz="2400" dirty="0">
                <a:solidFill>
                  <a:schemeClr val="bg2"/>
                </a:solidFill>
                <a:latin typeface="Book Antiqua" panose="02040602050305030304" pitchFamily="18" charset="0"/>
                <a:ea typeface="楷体_GB2312" pitchFamily="49" charset="-122"/>
              </a:rPr>
              <a:t>+</a:t>
            </a:r>
            <a:endParaRPr lang="en-US" altLang="zh-CN" sz="2400" dirty="0">
              <a:solidFill>
                <a:schemeClr val="bg2"/>
              </a:solidFill>
              <a:latin typeface="Book Antiqua" panose="02040602050305030304" pitchFamily="18" charset="0"/>
              <a:ea typeface="楷体_GB2312" pitchFamily="49" charset="-122"/>
            </a:endParaRPr>
          </a:p>
          <a:p>
            <a:pPr marL="0" lvl="0" indent="0" algn="ctr">
              <a:spcBef>
                <a:spcPct val="0"/>
              </a:spcBef>
              <a:buClrTx/>
              <a:buFontTx/>
              <a:buNone/>
            </a:pPr>
            <a:r>
              <a:rPr lang="zh-CN" altLang="en-US" sz="2400" dirty="0">
                <a:solidFill>
                  <a:schemeClr val="bg2"/>
                </a:solidFill>
                <a:latin typeface="Book Antiqua" panose="02040602050305030304" pitchFamily="18" charset="0"/>
                <a:ea typeface="楷体_GB2312" pitchFamily="49" charset="-122"/>
              </a:rPr>
              <a:t>分布式成分</a:t>
            </a:r>
            <a:endParaRPr lang="zh-CN" altLang="en-US" sz="2400" dirty="0">
              <a:solidFill>
                <a:schemeClr val="bg2"/>
              </a:solidFill>
              <a:latin typeface="Book Antiqua" panose="02040602050305030304" pitchFamily="18" charset="0"/>
              <a:ea typeface="楷体_GB2312" pitchFamily="49" charset="-122"/>
            </a:endParaRPr>
          </a:p>
        </p:txBody>
      </p:sp>
      <p:sp>
        <p:nvSpPr>
          <p:cNvPr id="17" name="AutoShape 15"/>
          <p:cNvSpPr/>
          <p:nvPr/>
        </p:nvSpPr>
        <p:spPr>
          <a:xfrm>
            <a:off x="5726834" y="5860470"/>
            <a:ext cx="914400" cy="762000"/>
          </a:xfrm>
          <a:prstGeom prst="can">
            <a:avLst>
              <a:gd name="adj" fmla="val 25000"/>
            </a:avLst>
          </a:prstGeom>
          <a:solidFill>
            <a:srgbClr val="6600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18" name="AutoShape 16"/>
          <p:cNvSpPr/>
          <p:nvPr/>
        </p:nvSpPr>
        <p:spPr>
          <a:xfrm>
            <a:off x="7593734" y="3255818"/>
            <a:ext cx="914400" cy="762000"/>
          </a:xfrm>
          <a:prstGeom prst="can">
            <a:avLst>
              <a:gd name="adj" fmla="val 25000"/>
            </a:avLst>
          </a:prstGeom>
          <a:solidFill>
            <a:srgbClr val="6600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19" name="Line 17"/>
          <p:cNvSpPr/>
          <p:nvPr/>
        </p:nvSpPr>
        <p:spPr>
          <a:xfrm>
            <a:off x="6184034" y="5555670"/>
            <a:ext cx="0" cy="304800"/>
          </a:xfrm>
          <a:prstGeom prst="line">
            <a:avLst/>
          </a:prstGeom>
          <a:ln w="28575" cap="flat" cmpd="sng">
            <a:solidFill>
              <a:schemeClr val="tx1"/>
            </a:solidFill>
            <a:prstDash val="solid"/>
            <a:headEnd type="none" w="sm" len="sm"/>
            <a:tailEnd type="none" w="sm" len="sm"/>
          </a:ln>
        </p:spPr>
      </p:sp>
      <p:sp>
        <p:nvSpPr>
          <p:cNvPr id="20" name="Line 18"/>
          <p:cNvSpPr/>
          <p:nvPr/>
        </p:nvSpPr>
        <p:spPr>
          <a:xfrm>
            <a:off x="8050934" y="2874818"/>
            <a:ext cx="0" cy="381000"/>
          </a:xfrm>
          <a:prstGeom prst="line">
            <a:avLst/>
          </a:prstGeom>
          <a:ln w="28575" cap="flat" cmpd="sng">
            <a:solidFill>
              <a:schemeClr val="tx1"/>
            </a:solidFill>
            <a:prstDash val="solid"/>
            <a:headEnd type="none" w="sm" len="sm"/>
            <a:tailEnd type="none" w="sm" len="sm"/>
          </a:ln>
        </p:spPr>
      </p:sp>
      <p:sp>
        <p:nvSpPr>
          <p:cNvPr id="21" name="Freeform 19"/>
          <p:cNvSpPr/>
          <p:nvPr/>
        </p:nvSpPr>
        <p:spPr>
          <a:xfrm>
            <a:off x="5155334" y="2570018"/>
            <a:ext cx="1981200" cy="16002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584" h="1216">
                <a:moveTo>
                  <a:pt x="304" y="96"/>
                </a:moveTo>
                <a:cubicBezTo>
                  <a:pt x="456" y="48"/>
                  <a:pt x="608" y="0"/>
                  <a:pt x="784" y="48"/>
                </a:cubicBezTo>
                <a:cubicBezTo>
                  <a:pt x="960" y="96"/>
                  <a:pt x="1240" y="248"/>
                  <a:pt x="1360" y="384"/>
                </a:cubicBezTo>
                <a:cubicBezTo>
                  <a:pt x="1480" y="520"/>
                  <a:pt x="1584" y="728"/>
                  <a:pt x="1504" y="864"/>
                </a:cubicBezTo>
                <a:cubicBezTo>
                  <a:pt x="1424" y="1000"/>
                  <a:pt x="1096" y="1184"/>
                  <a:pt x="880" y="1200"/>
                </a:cubicBezTo>
                <a:cubicBezTo>
                  <a:pt x="664" y="1216"/>
                  <a:pt x="336" y="1032"/>
                  <a:pt x="208" y="960"/>
                </a:cubicBezTo>
                <a:cubicBezTo>
                  <a:pt x="80" y="888"/>
                  <a:pt x="144" y="856"/>
                  <a:pt x="112" y="768"/>
                </a:cubicBezTo>
                <a:cubicBezTo>
                  <a:pt x="80" y="680"/>
                  <a:pt x="0" y="544"/>
                  <a:pt x="16" y="432"/>
                </a:cubicBezTo>
                <a:cubicBezTo>
                  <a:pt x="32" y="320"/>
                  <a:pt x="120" y="208"/>
                  <a:pt x="208" y="96"/>
                </a:cubicBezTo>
              </a:path>
            </a:pathLst>
          </a:custGeom>
          <a:noFill/>
          <a:ln w="12700" cap="flat" cmpd="sng">
            <a:solidFill>
              <a:schemeClr val="tx1">
                <a:alpha val="100000"/>
              </a:schemeClr>
            </a:solidFill>
            <a:prstDash val="solid"/>
            <a:round/>
            <a:headEnd type="none" w="sm" len="sm"/>
            <a:tailEnd type="none" w="sm" len="sm"/>
          </a:ln>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endParaRPr lang="zh-CN" altLang="en-US"/>
          </a:p>
        </p:txBody>
      </p:sp>
      <p:sp>
        <p:nvSpPr>
          <p:cNvPr id="22" name="Line 20"/>
          <p:cNvSpPr/>
          <p:nvPr/>
        </p:nvSpPr>
        <p:spPr>
          <a:xfrm>
            <a:off x="4621934" y="2570018"/>
            <a:ext cx="838200" cy="152400"/>
          </a:xfrm>
          <a:prstGeom prst="line">
            <a:avLst/>
          </a:prstGeom>
          <a:ln w="12700" cap="flat" cmpd="sng">
            <a:solidFill>
              <a:schemeClr val="tx1"/>
            </a:solidFill>
            <a:prstDash val="solid"/>
            <a:headEnd type="none" w="sm" len="sm"/>
            <a:tailEnd type="none" w="sm" len="sm"/>
          </a:ln>
        </p:spPr>
      </p:sp>
      <p:sp>
        <p:nvSpPr>
          <p:cNvPr id="23" name="Line 21"/>
          <p:cNvSpPr/>
          <p:nvPr/>
        </p:nvSpPr>
        <p:spPr>
          <a:xfrm flipV="1">
            <a:off x="6526934" y="2417618"/>
            <a:ext cx="685800" cy="381000"/>
          </a:xfrm>
          <a:prstGeom prst="line">
            <a:avLst/>
          </a:prstGeom>
          <a:ln w="12700" cap="flat" cmpd="sng">
            <a:solidFill>
              <a:schemeClr val="tx1"/>
            </a:solidFill>
            <a:prstDash val="solid"/>
            <a:headEnd type="none" w="sm" len="sm"/>
            <a:tailEnd type="none" w="sm" len="sm"/>
          </a:ln>
        </p:spPr>
      </p:sp>
      <p:sp>
        <p:nvSpPr>
          <p:cNvPr id="24" name="Line 22"/>
          <p:cNvSpPr/>
          <p:nvPr/>
        </p:nvSpPr>
        <p:spPr>
          <a:xfrm>
            <a:off x="6145934" y="4170218"/>
            <a:ext cx="38100" cy="228600"/>
          </a:xfrm>
          <a:prstGeom prst="line">
            <a:avLst/>
          </a:prstGeom>
          <a:ln w="12700" cap="flat" cmpd="sng">
            <a:solidFill>
              <a:schemeClr val="tx1"/>
            </a:solidFill>
            <a:prstDash val="solid"/>
            <a:headEnd type="none" w="sm" len="sm"/>
            <a:tailEnd type="none" w="sm" len="sm"/>
          </a:ln>
        </p:spPr>
      </p:sp>
      <p:sp>
        <p:nvSpPr>
          <p:cNvPr id="25" name="Text Box 23"/>
          <p:cNvSpPr txBox="1"/>
          <p:nvPr/>
        </p:nvSpPr>
        <p:spPr>
          <a:xfrm>
            <a:off x="5291859" y="3308206"/>
            <a:ext cx="14795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 通讯网络</a:t>
            </a:r>
            <a:endParaRPr lang="zh-CN" altLang="en-US" sz="2400" dirty="0">
              <a:latin typeface="Book Antiqua" panose="02040602050305030304" pitchFamily="18" charset="0"/>
              <a:ea typeface="楷体_GB2312" pitchFamily="49" charset="-122"/>
            </a:endParaRPr>
          </a:p>
        </p:txBody>
      </p:sp>
      <p:sp>
        <p:nvSpPr>
          <p:cNvPr id="26" name="Text Box 24"/>
          <p:cNvSpPr txBox="1"/>
          <p:nvPr/>
        </p:nvSpPr>
        <p:spPr>
          <a:xfrm>
            <a:off x="9422534" y="21890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27" name="Text Box 25"/>
          <p:cNvSpPr txBox="1"/>
          <p:nvPr/>
        </p:nvSpPr>
        <p:spPr>
          <a:xfrm>
            <a:off x="9346334" y="16556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28" name="Text Box 26"/>
          <p:cNvSpPr txBox="1"/>
          <p:nvPr/>
        </p:nvSpPr>
        <p:spPr>
          <a:xfrm>
            <a:off x="9422534" y="2646218"/>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29" name="Text Box 27"/>
          <p:cNvSpPr txBox="1"/>
          <p:nvPr/>
        </p:nvSpPr>
        <p:spPr>
          <a:xfrm>
            <a:off x="7479434" y="5403270"/>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30" name="Text Box 28"/>
          <p:cNvSpPr txBox="1"/>
          <p:nvPr/>
        </p:nvSpPr>
        <p:spPr>
          <a:xfrm>
            <a:off x="7479434" y="4869870"/>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31" name="Text Box 29"/>
          <p:cNvSpPr txBox="1"/>
          <p:nvPr/>
        </p:nvSpPr>
        <p:spPr>
          <a:xfrm>
            <a:off x="7479434" y="4336470"/>
            <a:ext cx="793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用户</a:t>
            </a:r>
            <a:endParaRPr lang="zh-CN" altLang="en-US" sz="2400" dirty="0">
              <a:latin typeface="Book Antiqua" panose="02040602050305030304" pitchFamily="18" charset="0"/>
              <a:ea typeface="楷体_GB2312" pitchFamily="49" charset="-122"/>
            </a:endParaRPr>
          </a:p>
        </p:txBody>
      </p:sp>
      <p:sp>
        <p:nvSpPr>
          <p:cNvPr id="32" name="Line 30"/>
          <p:cNvSpPr/>
          <p:nvPr/>
        </p:nvSpPr>
        <p:spPr>
          <a:xfrm flipV="1">
            <a:off x="8812934" y="1884218"/>
            <a:ext cx="609600" cy="76200"/>
          </a:xfrm>
          <a:prstGeom prst="line">
            <a:avLst/>
          </a:prstGeom>
          <a:ln w="12700" cap="flat" cmpd="sng">
            <a:solidFill>
              <a:schemeClr val="tx1"/>
            </a:solidFill>
            <a:prstDash val="solid"/>
            <a:headEnd type="none" w="sm" len="sm"/>
            <a:tailEnd type="none" w="sm" len="sm"/>
          </a:ln>
        </p:spPr>
      </p:sp>
      <p:sp>
        <p:nvSpPr>
          <p:cNvPr id="33" name="Line 31"/>
          <p:cNvSpPr/>
          <p:nvPr/>
        </p:nvSpPr>
        <p:spPr>
          <a:xfrm>
            <a:off x="8812934" y="2417618"/>
            <a:ext cx="685800" cy="0"/>
          </a:xfrm>
          <a:prstGeom prst="line">
            <a:avLst/>
          </a:prstGeom>
          <a:ln w="12700" cap="flat" cmpd="sng">
            <a:solidFill>
              <a:schemeClr val="tx1"/>
            </a:solidFill>
            <a:prstDash val="solid"/>
            <a:headEnd type="none" w="sm" len="sm"/>
            <a:tailEnd type="none" w="sm" len="sm"/>
          </a:ln>
        </p:spPr>
      </p:sp>
      <p:sp>
        <p:nvSpPr>
          <p:cNvPr id="34" name="Line 32"/>
          <p:cNvSpPr/>
          <p:nvPr/>
        </p:nvSpPr>
        <p:spPr>
          <a:xfrm>
            <a:off x="8812934" y="2722418"/>
            <a:ext cx="685800" cy="152400"/>
          </a:xfrm>
          <a:prstGeom prst="line">
            <a:avLst/>
          </a:prstGeom>
          <a:ln w="12700" cap="flat" cmpd="sng">
            <a:solidFill>
              <a:schemeClr val="tx1"/>
            </a:solidFill>
            <a:prstDash val="solid"/>
            <a:headEnd type="none" w="sm" len="sm"/>
            <a:tailEnd type="none" w="sm" len="sm"/>
          </a:ln>
        </p:spPr>
      </p:sp>
      <p:sp>
        <p:nvSpPr>
          <p:cNvPr id="35" name="Line 33"/>
          <p:cNvSpPr/>
          <p:nvPr/>
        </p:nvSpPr>
        <p:spPr>
          <a:xfrm>
            <a:off x="6946034" y="4565070"/>
            <a:ext cx="609600" cy="0"/>
          </a:xfrm>
          <a:prstGeom prst="line">
            <a:avLst/>
          </a:prstGeom>
          <a:ln w="12700" cap="flat" cmpd="sng">
            <a:solidFill>
              <a:schemeClr val="tx1"/>
            </a:solidFill>
            <a:prstDash val="solid"/>
            <a:headEnd type="none" w="sm" len="sm"/>
            <a:tailEnd type="none" w="sm" len="sm"/>
          </a:ln>
        </p:spPr>
      </p:sp>
      <p:sp>
        <p:nvSpPr>
          <p:cNvPr id="36" name="Line 34"/>
          <p:cNvSpPr/>
          <p:nvPr/>
        </p:nvSpPr>
        <p:spPr>
          <a:xfrm>
            <a:off x="6946034" y="5098470"/>
            <a:ext cx="609600" cy="0"/>
          </a:xfrm>
          <a:prstGeom prst="line">
            <a:avLst/>
          </a:prstGeom>
          <a:ln w="12700" cap="flat" cmpd="sng">
            <a:solidFill>
              <a:schemeClr val="tx1"/>
            </a:solidFill>
            <a:prstDash val="solid"/>
            <a:headEnd type="none" w="sm" len="sm"/>
            <a:tailEnd type="none" w="sm" len="sm"/>
          </a:ln>
        </p:spPr>
      </p:sp>
      <p:sp>
        <p:nvSpPr>
          <p:cNvPr id="37" name="Line 35"/>
          <p:cNvSpPr/>
          <p:nvPr/>
        </p:nvSpPr>
        <p:spPr>
          <a:xfrm>
            <a:off x="6946034" y="5403270"/>
            <a:ext cx="609600" cy="228600"/>
          </a:xfrm>
          <a:prstGeom prst="line">
            <a:avLst/>
          </a:prstGeom>
          <a:ln w="12700" cap="flat" cmpd="sng">
            <a:solidFill>
              <a:schemeClr val="tx1"/>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分布式数据库系统的组成</a:t>
            </a:r>
            <a:endParaRPr lang="en-US" altLang="zh-CN" sz="3000" dirty="0">
              <a:latin typeface="微软雅黑" panose="020B0503020204020204" pitchFamily="34" charset="-122"/>
              <a:ea typeface="微软雅黑" panose="020B0503020204020204" pitchFamily="34" charset="-122"/>
            </a:endParaRPr>
          </a:p>
          <a:p>
            <a:pPr marL="914400" lvl="2" indent="0">
              <a:lnSpc>
                <a:spcPct val="140000"/>
              </a:lnSpc>
              <a:buNone/>
            </a:pPr>
            <a:endParaRPr lang="en-US" altLang="zh-CN" sz="80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a:blip r:embed="rId1"/>
          <a:stretch>
            <a:fillRect/>
          </a:stretch>
        </p:blipFill>
        <p:spPr>
          <a:xfrm>
            <a:off x="2247461" y="1871484"/>
            <a:ext cx="7439273" cy="46674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分布式数据库系统的特点</a:t>
            </a:r>
            <a:endParaRPr lang="en-US" altLang="zh-CN" sz="3000"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物理分布性：数据不是存储在一个场地上，而是存储在计算机网络的多个场地上。</a:t>
            </a:r>
            <a:endParaRPr lang="zh-CN" altLang="en-US"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逻辑整体性：数据物理分布在各个场地，但逻辑上是一个整体，它们被所有用户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全局用户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共享，并由一个</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统一管理。</a:t>
            </a:r>
            <a:endParaRPr lang="zh-CN" altLang="en-US"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场地自治性：各场地上的数据由本地的</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管理，具有自治处理能力，完成本场地的应用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局部应用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场地之间协作性：各场地虽然具有高度的自治性，但是又相互协作构成一个整体。</a:t>
            </a:r>
            <a:endParaRPr lang="en-US" altLang="zh-CN" sz="8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10.1 </a:t>
            </a:r>
            <a:r>
              <a:rPr kumimoji="1" lang="zh-CN" altLang="en-US" dirty="0"/>
              <a:t>概述</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分布式数据库系统的分类</a:t>
            </a:r>
            <a:endParaRPr lang="en-US" altLang="zh-CN"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同构同质型</a:t>
            </a:r>
            <a:r>
              <a:rPr lang="en-US" altLang="zh-CN" dirty="0">
                <a:latin typeface="微软雅黑" panose="020B0503020204020204" pitchFamily="34" charset="-122"/>
                <a:ea typeface="微软雅黑" panose="020B0503020204020204" pitchFamily="34" charset="-122"/>
              </a:rPr>
              <a:t>DDBS</a:t>
            </a:r>
            <a:r>
              <a:rPr lang="zh-CN" altLang="en-US" dirty="0">
                <a:latin typeface="微软雅黑" panose="020B0503020204020204" pitchFamily="34" charset="-122"/>
                <a:ea typeface="微软雅黑" panose="020B0503020204020204" pitchFamily="34" charset="-122"/>
              </a:rPr>
              <a:t>：各个场地都采用同一类型的数据模型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譬如都是关系型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，并且是同一型号的</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同构异质型</a:t>
            </a:r>
            <a:r>
              <a:rPr lang="en-US" altLang="zh-CN" dirty="0">
                <a:latin typeface="微软雅黑" panose="020B0503020204020204" pitchFamily="34" charset="-122"/>
                <a:ea typeface="微软雅黑" panose="020B0503020204020204" pitchFamily="34" charset="-122"/>
              </a:rPr>
              <a:t>DDBS</a:t>
            </a:r>
            <a:r>
              <a:rPr lang="zh-CN" altLang="en-US" dirty="0">
                <a:latin typeface="微软雅黑" panose="020B0503020204020204" pitchFamily="34" charset="-122"/>
                <a:ea typeface="微软雅黑" panose="020B0503020204020204" pitchFamily="34" charset="-122"/>
              </a:rPr>
              <a:t>：各个场地采用同一类型的数据模型，但是</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的型号不同，譬如</a:t>
            </a:r>
            <a:r>
              <a:rPr lang="en-US" altLang="zh-CN" dirty="0">
                <a:latin typeface="微软雅黑" panose="020B0503020204020204" pitchFamily="34" charset="-122"/>
                <a:ea typeface="微软雅黑" panose="020B0503020204020204" pitchFamily="34" charset="-122"/>
              </a:rPr>
              <a:t>DB2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ORACLE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SYBASE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SQL Server</a:t>
            </a:r>
            <a:r>
              <a:rPr lang="zh-CN" altLang="en-US" dirty="0">
                <a:latin typeface="微软雅黑" panose="020B0503020204020204" pitchFamily="34" charset="-122"/>
                <a:ea typeface="微软雅黑" panose="020B0503020204020204" pitchFamily="34" charset="-122"/>
              </a:rPr>
              <a:t>等。</a:t>
            </a:r>
            <a:endParaRPr lang="zh-CN" altLang="en-US" dirty="0">
              <a:latin typeface="微软雅黑" panose="020B0503020204020204" pitchFamily="34" charset="-122"/>
              <a:ea typeface="微软雅黑" panose="020B0503020204020204" pitchFamily="34" charset="-122"/>
            </a:endParaRPr>
          </a:p>
          <a:p>
            <a:pPr lvl="1">
              <a:lnSpc>
                <a:spcPct val="150000"/>
              </a:lnSpc>
              <a:buClr>
                <a:schemeClr val="tx1"/>
              </a:buClr>
            </a:pPr>
            <a:r>
              <a:rPr lang="zh-CN" altLang="en-US" dirty="0">
                <a:latin typeface="微软雅黑" panose="020B0503020204020204" pitchFamily="34" charset="-122"/>
                <a:ea typeface="微软雅黑" panose="020B0503020204020204" pitchFamily="34" charset="-122"/>
              </a:rPr>
              <a:t>异构型</a:t>
            </a:r>
            <a:r>
              <a:rPr lang="en-US" altLang="zh-CN" dirty="0">
                <a:latin typeface="微软雅黑" panose="020B0503020204020204" pitchFamily="34" charset="-122"/>
                <a:ea typeface="微软雅黑" panose="020B0503020204020204" pitchFamily="34" charset="-122"/>
              </a:rPr>
              <a:t>DDBS</a:t>
            </a:r>
            <a:r>
              <a:rPr lang="zh-CN" altLang="en-US" dirty="0">
                <a:latin typeface="微软雅黑" panose="020B0503020204020204" pitchFamily="34" charset="-122"/>
                <a:ea typeface="微软雅黑" panose="020B0503020204020204" pitchFamily="34" charset="-122"/>
              </a:rPr>
              <a:t>：各个场地的数据模型不同，甚至类型也不同。</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kumimoji="1" lang="zh-CN" altLang="en-US" dirty="0"/>
              <a:t>分布式数据存储</a:t>
            </a:r>
            <a:endParaRPr lang="en-US" altLang="zh-CN" dirty="0">
              <a:ea typeface="楷体_GB2312" pitchFamily="49" charset="-122"/>
            </a:endParaRPr>
          </a:p>
          <a:p>
            <a:pPr lvl="1">
              <a:lnSpc>
                <a:spcPct val="160000"/>
              </a:lnSpc>
              <a:buClr>
                <a:schemeClr val="tx1"/>
              </a:buClr>
            </a:pPr>
            <a:r>
              <a:rPr lang="zh-CN" altLang="en-US" dirty="0"/>
              <a:t>在分布式数据库中存储关系</a:t>
            </a:r>
            <a:r>
              <a:rPr lang="en-US" altLang="zh-CN" dirty="0"/>
              <a:t>r</a:t>
            </a:r>
            <a:r>
              <a:rPr lang="zh-CN" altLang="en-US" dirty="0"/>
              <a:t>的几种方法：</a:t>
            </a:r>
            <a:endParaRPr lang="zh-CN" altLang="en-US" dirty="0"/>
          </a:p>
          <a:p>
            <a:pPr lvl="2">
              <a:buFont typeface="Wingdings" panose="05000000000000000000" pitchFamily="2" charset="2"/>
              <a:buChar char="ü"/>
            </a:pPr>
            <a:r>
              <a:rPr lang="zh-CN" altLang="en-US" dirty="0"/>
              <a:t>数据复制</a:t>
            </a:r>
            <a:endParaRPr lang="zh-CN" altLang="en-US" dirty="0"/>
          </a:p>
          <a:p>
            <a:pPr lvl="2">
              <a:buFont typeface="Wingdings" panose="05000000000000000000" pitchFamily="2" charset="2"/>
              <a:buChar char="ü"/>
            </a:pPr>
            <a:r>
              <a:rPr lang="zh-CN" altLang="en-US" dirty="0"/>
              <a:t>数据分片</a:t>
            </a:r>
            <a:endParaRPr lang="en-US" altLang="zh-CN" sz="8000" dirty="0"/>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数据复制</a:t>
            </a:r>
            <a:endParaRPr lang="en-US" altLang="zh-CN" dirty="0">
              <a:latin typeface="微软雅黑" panose="020B0503020204020204" pitchFamily="34" charset="-122"/>
              <a:ea typeface="微软雅黑" panose="020B0503020204020204" pitchFamily="34" charset="-122"/>
            </a:endParaRPr>
          </a:p>
          <a:p>
            <a:pPr lvl="1">
              <a:lnSpc>
                <a:spcPct val="170000"/>
              </a:lnSpc>
              <a:buClr>
                <a:schemeClr val="tx1"/>
              </a:buClr>
            </a:pPr>
            <a:r>
              <a:rPr lang="zh-CN" altLang="en-US" dirty="0">
                <a:latin typeface="微软雅黑" panose="020B0503020204020204" pitchFamily="34" charset="-122"/>
                <a:ea typeface="微软雅黑" panose="020B0503020204020204" pitchFamily="34" charset="-122"/>
              </a:rPr>
              <a:t>数据复制：系统维护关系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的几个完全相同的副本</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拷贝</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，各个副本存储在不同的节点上。</a:t>
            </a:r>
            <a:endParaRPr lang="zh-CN" altLang="en-US" dirty="0">
              <a:latin typeface="微软雅黑" panose="020B0503020204020204" pitchFamily="34" charset="-122"/>
              <a:ea typeface="微软雅黑" panose="020B0503020204020204" pitchFamily="34" charset="-122"/>
            </a:endParaRPr>
          </a:p>
          <a:p>
            <a:pPr lvl="1">
              <a:lnSpc>
                <a:spcPct val="170000"/>
              </a:lnSpc>
              <a:buClr>
                <a:schemeClr val="tx1"/>
              </a:buClr>
            </a:pPr>
            <a:r>
              <a:rPr lang="zh-CN" altLang="en-US" dirty="0">
                <a:latin typeface="微软雅黑" panose="020B0503020204020204" pitchFamily="34" charset="-122"/>
                <a:ea typeface="微软雅黑" panose="020B0503020204020204" pitchFamily="34" charset="-122"/>
              </a:rPr>
              <a:t>全复制：系统中的每个节点都存有关系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的一个拷贝。</a:t>
            </a:r>
            <a:endParaRPr lang="zh-CN" altLang="en-US" dirty="0">
              <a:latin typeface="微软雅黑" panose="020B0503020204020204" pitchFamily="34" charset="-122"/>
              <a:ea typeface="微软雅黑" panose="020B0503020204020204" pitchFamily="34" charset="-122"/>
            </a:endParaRPr>
          </a:p>
          <a:p>
            <a:pPr lvl="1">
              <a:lnSpc>
                <a:spcPct val="170000"/>
              </a:lnSpc>
              <a:buClr>
                <a:schemeClr val="tx1"/>
              </a:buClr>
            </a:pPr>
            <a:r>
              <a:rPr lang="zh-CN" altLang="en-US" dirty="0">
                <a:latin typeface="微软雅黑" panose="020B0503020204020204" pitchFamily="34" charset="-122"/>
                <a:ea typeface="微软雅黑" panose="020B0503020204020204" pitchFamily="34" charset="-122"/>
              </a:rPr>
              <a:t>主副本：指定关系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的多个副本中的一个作为主副本，从而简化副本管理。</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数据复制的优缺点</a:t>
            </a:r>
            <a:endParaRPr lang="en-US" altLang="zh-CN" dirty="0">
              <a:latin typeface="微软雅黑" panose="020B0503020204020204" pitchFamily="34" charset="-122"/>
              <a:ea typeface="微软雅黑" panose="020B0503020204020204" pitchFamily="34" charset="-122"/>
            </a:endParaRPr>
          </a:p>
          <a:p>
            <a:pPr lvl="1">
              <a:lnSpc>
                <a:spcPct val="180000"/>
              </a:lnSpc>
              <a:buClr>
                <a:schemeClr val="tx1"/>
              </a:buClr>
            </a:pPr>
            <a:r>
              <a:rPr lang="zh-CN" altLang="en-US" dirty="0">
                <a:latin typeface="微软雅黑" panose="020B0503020204020204" pitchFamily="34" charset="-122"/>
                <a:ea typeface="微软雅黑" panose="020B0503020204020204" pitchFamily="34" charset="-122"/>
              </a:rPr>
              <a:t>可用性增强：当包含关系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的节点之一发生故障时，关系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可以在另外的节点上找到。</a:t>
            </a:r>
            <a:endParaRPr lang="zh-CN" altLang="en-US" dirty="0">
              <a:latin typeface="微软雅黑" panose="020B0503020204020204" pitchFamily="34" charset="-122"/>
              <a:ea typeface="微软雅黑" panose="020B0503020204020204" pitchFamily="34" charset="-122"/>
            </a:endParaRPr>
          </a:p>
          <a:p>
            <a:pPr lvl="1">
              <a:lnSpc>
                <a:spcPct val="180000"/>
              </a:lnSpc>
              <a:buClr>
                <a:schemeClr val="tx1"/>
              </a:buClr>
            </a:pPr>
            <a:r>
              <a:rPr lang="zh-CN" altLang="en-US" dirty="0">
                <a:latin typeface="微软雅黑" panose="020B0503020204020204" pitchFamily="34" charset="-122"/>
                <a:ea typeface="微软雅黑" panose="020B0503020204020204" pitchFamily="34" charset="-122"/>
              </a:rPr>
              <a:t>并行度增大：几个节点就可以并行地处理涉及关系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的查询。并可以减少数据在节点间的移动。</a:t>
            </a:r>
            <a:endParaRPr lang="zh-CN" altLang="en-US" dirty="0">
              <a:latin typeface="微软雅黑" panose="020B0503020204020204" pitchFamily="34" charset="-122"/>
              <a:ea typeface="微软雅黑" panose="020B0503020204020204" pitchFamily="34" charset="-122"/>
            </a:endParaRPr>
          </a:p>
          <a:p>
            <a:pPr lvl="1">
              <a:lnSpc>
                <a:spcPct val="180000"/>
              </a:lnSpc>
              <a:buClr>
                <a:schemeClr val="tx1"/>
              </a:buClr>
            </a:pPr>
            <a:r>
              <a:rPr lang="zh-CN" altLang="en-US" dirty="0">
                <a:latin typeface="微软雅黑" panose="020B0503020204020204" pitchFamily="34" charset="-122"/>
                <a:ea typeface="微软雅黑" panose="020B0503020204020204" pitchFamily="34" charset="-122"/>
              </a:rPr>
              <a:t>更新开销增大：对关系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的更新必须传播到包含</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的副本的所有节点。</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fontScale="77500" lnSpcReduction="20000"/>
              </a:bodyPr>
              <a:lstStyle/>
              <a:p>
                <a:pPr>
                  <a:lnSpc>
                    <a:spcPct val="130000"/>
                  </a:lnSpc>
                </a:pPr>
                <a:r>
                  <a:rPr lang="zh-CN" altLang="en-US" sz="3600" dirty="0">
                    <a:latin typeface="微软雅黑" panose="020B0503020204020204" pitchFamily="34" charset="-122"/>
                    <a:ea typeface="微软雅黑" panose="020B0503020204020204" pitchFamily="34" charset="-122"/>
                  </a:rPr>
                  <a:t>数据分片</a:t>
                </a:r>
                <a:endParaRPr lang="en-US" altLang="zh-CN" sz="3600" dirty="0">
                  <a:latin typeface="微软雅黑" panose="020B0503020204020204" pitchFamily="34" charset="-122"/>
                  <a:ea typeface="微软雅黑" panose="020B0503020204020204" pitchFamily="34" charset="-122"/>
                </a:endParaRPr>
              </a:p>
              <a:p>
                <a:pPr marR="0" lvl="1" fontAlgn="base">
                  <a:lnSpc>
                    <a:spcPct val="190000"/>
                  </a:lnSpc>
                  <a:spcAft>
                    <a:spcPct val="0"/>
                  </a:spcAft>
                  <a:buClr>
                    <a:schemeClr val="tx1"/>
                  </a:buClr>
                  <a:buSzTx/>
                  <a:defRPr/>
                </a:pPr>
                <a:r>
                  <a:rPr lang="zh-CN" altLang="en-US" sz="2800" dirty="0">
                    <a:latin typeface="微软雅黑" panose="020B0503020204020204" pitchFamily="34" charset="-122"/>
                    <a:ea typeface="微软雅黑" panose="020B0503020204020204" pitchFamily="34" charset="-122"/>
                  </a:rPr>
                  <a:t>数据分片：将关系</a:t>
                </a:r>
                <a:r>
                  <a:rPr lang="en-US" altLang="zh-CN" sz="2800" dirty="0">
                    <a:latin typeface="微软雅黑" panose="020B0503020204020204" pitchFamily="34" charset="-122"/>
                    <a:ea typeface="微软雅黑" panose="020B0503020204020204" pitchFamily="34" charset="-122"/>
                  </a:rPr>
                  <a:t>r</a:t>
                </a:r>
                <a:r>
                  <a:rPr lang="zh-CN" altLang="en-US" sz="2800" dirty="0">
                    <a:latin typeface="微软雅黑" panose="020B0503020204020204" pitchFamily="34" charset="-122"/>
                    <a:ea typeface="微软雅黑" panose="020B0503020204020204" pitchFamily="34" charset="-122"/>
                  </a:rPr>
                  <a:t>划分为多个片段</a:t>
                </a:r>
                <a14:m>
                  <m:oMath xmlns:m="http://schemas.openxmlformats.org/officeDocument/2006/math">
                    <m:sSub>
                      <m:sSubPr>
                        <m:ctrlPr>
                          <a:rPr lang="en-US" altLang="zh-CN" sz="2800" i="1" dirty="0" smtClean="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a:rPr lang="en-US" altLang="zh-CN" sz="2800" i="1" dirty="0">
                            <a:latin typeface="Cambria Math" panose="02040503050406030204" pitchFamily="18" charset="0"/>
                            <a:ea typeface="微软雅黑" panose="020B0503020204020204" pitchFamily="34" charset="-122"/>
                          </a:rPr>
                          <m:t>1</m:t>
                        </m:r>
                      </m:sub>
                    </m:sSub>
                  </m:oMath>
                </a14:m>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a:rPr lang="en-US" altLang="zh-CN" sz="2800" b="0" i="1" dirty="0" smtClean="0">
                            <a:latin typeface="Cambria Math" panose="02040503050406030204" pitchFamily="18" charset="0"/>
                            <a:ea typeface="微软雅黑" panose="020B0503020204020204" pitchFamily="34" charset="-122"/>
                          </a:rPr>
                          <m:t>2</m:t>
                        </m:r>
                      </m:sub>
                    </m:sSub>
                    <m:r>
                      <a:rPr lang="en-US" altLang="zh-CN" sz="2800" i="1" dirty="0">
                        <a:latin typeface="Cambria Math" panose="02040503050406030204" pitchFamily="18" charset="0"/>
                        <a:ea typeface="微软雅黑" panose="020B0503020204020204" pitchFamily="34" charset="-122"/>
                      </a:rPr>
                      <m:t> </m:t>
                    </m:r>
                  </m:oMath>
                </a14:m>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m:rPr>
                            <m:sty m:val="p"/>
                          </m:rPr>
                          <a:rPr lang="en-US" altLang="zh-CN" sz="2800" i="1" dirty="0">
                            <a:latin typeface="Cambria Math" panose="02040503050406030204" pitchFamily="18" charset="0"/>
                            <a:ea typeface="微软雅黑" panose="020B0503020204020204" pitchFamily="34" charset="-122"/>
                          </a:rPr>
                          <m:t>n</m:t>
                        </m:r>
                      </m:sub>
                    </m:sSub>
                    <m:r>
                      <a:rPr lang="en-US" altLang="zh-CN" sz="2800" i="1" dirty="0">
                        <a:latin typeface="Cambria Math" panose="02040503050406030204" pitchFamily="18" charset="0"/>
                        <a:ea typeface="微软雅黑" panose="020B0503020204020204" pitchFamily="34" charset="-122"/>
                      </a:rPr>
                      <m:t> </m:t>
                    </m:r>
                  </m:oMath>
                </a14:m>
                <a:r>
                  <a:rPr lang="zh-CN" altLang="en-US" sz="2800" dirty="0">
                    <a:latin typeface="微软雅黑" panose="020B0503020204020204" pitchFamily="34" charset="-122"/>
                    <a:ea typeface="微软雅黑" panose="020B0503020204020204" pitchFamily="34" charset="-122"/>
                  </a:rPr>
                  <a:t>。这些片段中包含足够的信息，使得能够重构原始关系</a:t>
                </a:r>
                <a:r>
                  <a:rPr lang="en-US" altLang="zh-CN" sz="2800" dirty="0">
                    <a:latin typeface="微软雅黑" panose="020B0503020204020204" pitchFamily="34" charset="-122"/>
                    <a:ea typeface="微软雅黑" panose="020B0503020204020204" pitchFamily="34" charset="-122"/>
                  </a:rPr>
                  <a:t>r</a:t>
                </a:r>
                <a:endParaRPr lang="en-US" altLang="zh-CN" sz="2800" dirty="0">
                  <a:latin typeface="微软雅黑" panose="020B0503020204020204" pitchFamily="34" charset="-122"/>
                  <a:ea typeface="微软雅黑" panose="020B0503020204020204" pitchFamily="34" charset="-122"/>
                </a:endParaRPr>
              </a:p>
              <a:p>
                <a:pPr marR="0" lvl="1" fontAlgn="base">
                  <a:lnSpc>
                    <a:spcPct val="190000"/>
                  </a:lnSpc>
                  <a:spcAft>
                    <a:spcPct val="0"/>
                  </a:spcAft>
                  <a:buClr>
                    <a:schemeClr val="tx1"/>
                  </a:buClr>
                  <a:buSzTx/>
                  <a:defRPr/>
                </a:pPr>
                <a:r>
                  <a:rPr lang="zh-CN" altLang="en-US" sz="2800" dirty="0">
                    <a:solidFill>
                      <a:srgbClr val="FF0000"/>
                    </a:solidFill>
                    <a:latin typeface="微软雅黑" panose="020B0503020204020204" pitchFamily="34" charset="-122"/>
                    <a:ea typeface="微软雅黑" panose="020B0503020204020204" pitchFamily="34" charset="-122"/>
                  </a:rPr>
                  <a:t>水平分片</a:t>
                </a:r>
                <a:r>
                  <a:rPr lang="zh-CN" altLang="en-US" sz="2800" dirty="0">
                    <a:latin typeface="微软雅黑" panose="020B0503020204020204" pitchFamily="34" charset="-122"/>
                    <a:ea typeface="微软雅黑" panose="020B0503020204020204" pitchFamily="34" charset="-122"/>
                  </a:rPr>
                  <a:t>：将关系</a:t>
                </a:r>
                <a:r>
                  <a:rPr lang="en-US" altLang="zh-CN" sz="2800" dirty="0">
                    <a:latin typeface="微软雅黑" panose="020B0503020204020204" pitchFamily="34" charset="-122"/>
                    <a:ea typeface="微软雅黑" panose="020B0503020204020204" pitchFamily="34" charset="-122"/>
                  </a:rPr>
                  <a:t>r</a:t>
                </a:r>
                <a:r>
                  <a:rPr lang="zh-CN" altLang="en-US" sz="2800" dirty="0">
                    <a:latin typeface="微软雅黑" panose="020B0503020204020204" pitchFamily="34" charset="-122"/>
                    <a:ea typeface="微软雅黑" panose="020B0503020204020204" pitchFamily="34" charset="-122"/>
                  </a:rPr>
                  <a:t>划分为多个子集：</a:t>
                </a:r>
                <a:endParaRPr lang="en-US" altLang="zh-CN" sz="2800" dirty="0">
                  <a:latin typeface="微软雅黑" panose="020B0503020204020204" pitchFamily="34" charset="-122"/>
                  <a:ea typeface="微软雅黑" panose="020B0503020204020204" pitchFamily="34" charset="-122"/>
                </a:endParaRPr>
              </a:p>
              <a:p>
                <a:pPr marL="457200" marR="0" lvl="1" indent="0" algn="ctr" fontAlgn="base">
                  <a:lnSpc>
                    <a:spcPct val="190000"/>
                  </a:lnSpc>
                  <a:spcAft>
                    <a:spcPct val="0"/>
                  </a:spcAft>
                  <a:buClr>
                    <a:schemeClr val="tx1"/>
                  </a:buClr>
                  <a:buSzTx/>
                  <a:buNone/>
                  <a:defRPr/>
                </a:pPr>
                <a:r>
                  <a:rPr lang="en-US" altLang="zh-CN" sz="28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800" i="1" dirty="0" smtClean="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a:rPr lang="en-US" altLang="zh-CN" sz="2800" i="1" dirty="0">
                            <a:latin typeface="Cambria Math" panose="02040503050406030204" pitchFamily="18" charset="0"/>
                            <a:ea typeface="微软雅黑" panose="020B0503020204020204" pitchFamily="34" charset="-122"/>
                          </a:rPr>
                          <m:t>1</m:t>
                        </m:r>
                      </m:sub>
                    </m:sSub>
                  </m:oMath>
                </a14:m>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a:rPr lang="en-US" altLang="zh-CN" sz="2800" b="0" i="1" dirty="0" smtClean="0">
                            <a:latin typeface="Cambria Math" panose="02040503050406030204" pitchFamily="18" charset="0"/>
                            <a:ea typeface="微软雅黑" panose="020B0503020204020204" pitchFamily="34" charset="-122"/>
                          </a:rPr>
                          <m:t>2</m:t>
                        </m:r>
                      </m:sub>
                    </m:sSub>
                    <m:r>
                      <a:rPr lang="en-US" altLang="zh-CN" sz="2800" i="1" dirty="0">
                        <a:latin typeface="Cambria Math" panose="02040503050406030204" pitchFamily="18" charset="0"/>
                        <a:ea typeface="微软雅黑" panose="020B0503020204020204" pitchFamily="34" charset="-122"/>
                      </a:rPr>
                      <m:t> </m:t>
                    </m:r>
                  </m:oMath>
                </a14:m>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𝑟</m:t>
                        </m:r>
                      </m:e>
                      <m:sub>
                        <m:r>
                          <m:rPr>
                            <m:sty m:val="p"/>
                          </m:rPr>
                          <a:rPr lang="en-US" altLang="zh-CN" sz="2800" i="1" dirty="0">
                            <a:latin typeface="Cambria Math" panose="02040503050406030204" pitchFamily="18" charset="0"/>
                            <a:ea typeface="微软雅黑" panose="020B0503020204020204" pitchFamily="34" charset="-122"/>
                          </a:rPr>
                          <m:t>n</m:t>
                        </m:r>
                      </m:sub>
                    </m:sSub>
                  </m:oMath>
                </a14:m>
                <a:endParaRPr lang="en-US" altLang="zh-CN" sz="2800" dirty="0">
                  <a:latin typeface="微软雅黑" panose="020B0503020204020204" pitchFamily="34" charset="-122"/>
                  <a:ea typeface="微软雅黑" panose="020B0503020204020204" pitchFamily="34" charset="-122"/>
                </a:endParaRPr>
              </a:p>
              <a:p>
                <a:pPr marL="457200" marR="0" lvl="1" indent="0" fontAlgn="base">
                  <a:lnSpc>
                    <a:spcPct val="190000"/>
                  </a:lnSpc>
                  <a:spcAft>
                    <a:spcPct val="0"/>
                  </a:spcAft>
                  <a:buClr>
                    <a:schemeClr val="tx1"/>
                  </a:buClr>
                  <a:buSzTx/>
                  <a:buNone/>
                  <a:defRPr/>
                </a:pPr>
                <a:r>
                  <a:rPr lang="en-US" altLang="zh-CN" sz="2800" dirty="0">
                    <a:latin typeface="微软雅黑" panose="020B0503020204020204" pitchFamily="34" charset="-122"/>
                    <a:ea typeface="微软雅黑" panose="020B0503020204020204" pitchFamily="34" charset="-122"/>
                  </a:rPr>
                  <a:t>   r</a:t>
                </a:r>
                <a:r>
                  <a:rPr lang="zh-CN" altLang="en-US" sz="2800" dirty="0">
                    <a:latin typeface="微软雅黑" panose="020B0503020204020204" pitchFamily="34" charset="-122"/>
                    <a:ea typeface="微软雅黑" panose="020B0503020204020204" pitchFamily="34" charset="-122"/>
                  </a:rPr>
                  <a:t>的每个元组必须至少属于一个片段。</a:t>
                </a:r>
                <a:endParaRPr lang="en-US" altLang="zh-CN" sz="2800" dirty="0">
                  <a:latin typeface="微软雅黑" panose="020B0503020204020204" pitchFamily="34" charset="-122"/>
                  <a:ea typeface="微软雅黑" panose="020B0503020204020204" pitchFamily="34" charset="-122"/>
                </a:endParaRPr>
              </a:p>
              <a:p>
                <a:pPr marR="0" lvl="1" fontAlgn="base">
                  <a:lnSpc>
                    <a:spcPct val="190000"/>
                  </a:lnSpc>
                  <a:spcAft>
                    <a:spcPct val="0"/>
                  </a:spcAft>
                  <a:buClr>
                    <a:schemeClr val="tx1"/>
                  </a:buClr>
                  <a:buSzTx/>
                  <a:defRPr/>
                </a:pPr>
                <a:r>
                  <a:rPr lang="zh-CN" altLang="en-US" sz="2800" dirty="0">
                    <a:solidFill>
                      <a:srgbClr val="FF0000"/>
                    </a:solidFill>
                    <a:latin typeface="微软雅黑" panose="020B0503020204020204" pitchFamily="34" charset="-122"/>
                    <a:ea typeface="微软雅黑" panose="020B0503020204020204" pitchFamily="34" charset="-122"/>
                  </a:rPr>
                  <a:t>垂直分片</a:t>
                </a:r>
                <a:r>
                  <a:rPr lang="zh-CN" altLang="en-US" sz="2800" dirty="0">
                    <a:latin typeface="微软雅黑" panose="020B0503020204020204" pitchFamily="34" charset="-122"/>
                    <a:ea typeface="微软雅黑" panose="020B0503020204020204" pitchFamily="34" charset="-122"/>
                  </a:rPr>
                  <a:t>：将关系</a:t>
                </a:r>
                <a:r>
                  <a:rPr lang="en-US" altLang="zh-CN" sz="2800" dirty="0">
                    <a:latin typeface="微软雅黑" panose="020B0503020204020204" pitchFamily="34" charset="-122"/>
                    <a:ea typeface="微软雅黑" panose="020B0503020204020204" pitchFamily="34" charset="-122"/>
                  </a:rPr>
                  <a:t>r(R)</a:t>
                </a:r>
                <a:r>
                  <a:rPr lang="zh-CN" altLang="en-US" sz="2800" dirty="0">
                    <a:latin typeface="微软雅黑" panose="020B0503020204020204" pitchFamily="34" charset="-122"/>
                    <a:ea typeface="微软雅黑" panose="020B0503020204020204" pitchFamily="34" charset="-122"/>
                  </a:rPr>
                  <a:t>投影到</a:t>
                </a:r>
                <a:r>
                  <a:rPr lang="en-US" altLang="zh-CN" sz="2800" dirty="0">
                    <a:latin typeface="微软雅黑" panose="020B0503020204020204" pitchFamily="34" charset="-122"/>
                    <a:ea typeface="微软雅黑" panose="020B0503020204020204" pitchFamily="34" charset="-122"/>
                  </a:rPr>
                  <a:t>R</a:t>
                </a:r>
                <a:r>
                  <a:rPr lang="zh-CN" altLang="en-US" sz="2800" dirty="0">
                    <a:latin typeface="微软雅黑" panose="020B0503020204020204" pitchFamily="34" charset="-122"/>
                    <a:ea typeface="微软雅黑" panose="020B0503020204020204" pitchFamily="34" charset="-122"/>
                  </a:rPr>
                  <a:t>的属性的多个子集</a:t>
                </a:r>
                <a14:m>
                  <m:oMath xmlns:m="http://schemas.openxmlformats.org/officeDocument/2006/math">
                    <m:sSub>
                      <m:sSubPr>
                        <m:ctrlPr>
                          <a:rPr lang="en-US" altLang="zh-CN" sz="2800" i="1" dirty="0" smtClean="0">
                            <a:latin typeface="Cambria Math" panose="02040503050406030204" pitchFamily="18" charset="0"/>
                            <a:ea typeface="微软雅黑" panose="020B0503020204020204" pitchFamily="34" charset="-122"/>
                          </a:rPr>
                        </m:ctrlPr>
                      </m:sSubPr>
                      <m:e>
                        <m:r>
                          <a:rPr lang="en-US" altLang="zh-CN" sz="2800" b="0" i="1" dirty="0" smtClean="0">
                            <a:latin typeface="Cambria Math" panose="02040503050406030204" pitchFamily="18" charset="0"/>
                            <a:ea typeface="微软雅黑" panose="020B0503020204020204" pitchFamily="34" charset="-122"/>
                          </a:rPr>
                          <m:t>𝑅</m:t>
                        </m:r>
                      </m:e>
                      <m:sub>
                        <m:r>
                          <a:rPr lang="en-US" altLang="zh-CN" sz="2800" i="1" dirty="0">
                            <a:latin typeface="Cambria Math" panose="02040503050406030204" pitchFamily="18" charset="0"/>
                            <a:ea typeface="微软雅黑" panose="020B0503020204020204" pitchFamily="34" charset="-122"/>
                          </a:rPr>
                          <m:t>1</m:t>
                        </m:r>
                      </m:sub>
                    </m:sSub>
                  </m:oMath>
                </a14:m>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𝑅</m:t>
                        </m:r>
                      </m:e>
                      <m:sub>
                        <m:r>
                          <a:rPr lang="en-US" altLang="zh-CN" sz="2800" b="0" i="1" dirty="0" smtClean="0">
                            <a:latin typeface="Cambria Math" panose="02040503050406030204" pitchFamily="18" charset="0"/>
                            <a:ea typeface="微软雅黑" panose="020B0503020204020204" pitchFamily="34" charset="-122"/>
                          </a:rPr>
                          <m:t>2</m:t>
                        </m:r>
                      </m:sub>
                    </m:sSub>
                    <m:r>
                      <a:rPr lang="en-US" altLang="zh-CN" sz="2800" i="1" dirty="0">
                        <a:latin typeface="Cambria Math" panose="02040503050406030204" pitchFamily="18" charset="0"/>
                        <a:ea typeface="微软雅黑" panose="020B0503020204020204" pitchFamily="34" charset="-122"/>
                      </a:rPr>
                      <m:t> </m:t>
                    </m:r>
                  </m:oMath>
                </a14:m>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𝑅</m:t>
                        </m:r>
                      </m:e>
                      <m:sub>
                        <m:r>
                          <m:rPr>
                            <m:sty m:val="p"/>
                          </m:rPr>
                          <a:rPr lang="en-US" altLang="zh-CN" sz="2800" i="1" dirty="0">
                            <a:latin typeface="Cambria Math" panose="02040503050406030204" pitchFamily="18" charset="0"/>
                            <a:ea typeface="微软雅黑" panose="020B0503020204020204" pitchFamily="34" charset="-122"/>
                          </a:rPr>
                          <m:t>n</m:t>
                        </m:r>
                      </m:sub>
                    </m:sSub>
                    <m:r>
                      <a:rPr lang="en-US" altLang="zh-CN" sz="2800" i="1" dirty="0">
                        <a:latin typeface="Cambria Math" panose="02040503050406030204" pitchFamily="18" charset="0"/>
                        <a:ea typeface="微软雅黑" panose="020B0503020204020204" pitchFamily="34" charset="-122"/>
                      </a:rPr>
                      <m:t> </m:t>
                    </m:r>
                  </m:oMath>
                </a14:m>
                <a:r>
                  <a:rPr lang="zh-CN" altLang="en-US" sz="2800" dirty="0">
                    <a:latin typeface="微软雅黑" panose="020B0503020204020204" pitchFamily="34" charset="-122"/>
                    <a:ea typeface="微软雅黑" panose="020B0503020204020204" pitchFamily="34" charset="-122"/>
                  </a:rPr>
                  <a:t>。为保证关系</a:t>
                </a:r>
                <a:r>
                  <a:rPr lang="en-US" altLang="zh-CN" sz="2800" dirty="0">
                    <a:latin typeface="微软雅黑" panose="020B0503020204020204" pitchFamily="34" charset="-122"/>
                    <a:ea typeface="微软雅黑" panose="020B0503020204020204" pitchFamily="34" charset="-122"/>
                  </a:rPr>
                  <a:t>r</a:t>
                </a:r>
                <a:r>
                  <a:rPr lang="zh-CN" altLang="en-US" sz="2800" dirty="0">
                    <a:latin typeface="微软雅黑" panose="020B0503020204020204" pitchFamily="34" charset="-122"/>
                    <a:ea typeface="微软雅黑" panose="020B0503020204020204" pitchFamily="34" charset="-122"/>
                  </a:rPr>
                  <a:t>能被重构需要在每个</a:t>
                </a:r>
                <a14:m>
                  <m:oMath xmlns:m="http://schemas.openxmlformats.org/officeDocument/2006/math">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𝑅</m:t>
                        </m:r>
                      </m:e>
                      <m:sub>
                        <m:r>
                          <a:rPr lang="en-US" altLang="zh-CN" sz="2800" b="0" i="1" dirty="0" smtClean="0">
                            <a:latin typeface="Cambria Math" panose="02040503050406030204" pitchFamily="18" charset="0"/>
                            <a:ea typeface="微软雅黑" panose="020B0503020204020204" pitchFamily="34" charset="-122"/>
                          </a:rPr>
                          <m:t>𝑖</m:t>
                        </m:r>
                      </m:sub>
                    </m:sSub>
                  </m:oMath>
                </a14:m>
                <a:r>
                  <a:rPr lang="zh-CN" altLang="en-US" sz="2800" dirty="0">
                    <a:latin typeface="微软雅黑" panose="020B0503020204020204" pitchFamily="34" charset="-122"/>
                    <a:ea typeface="微软雅黑" panose="020B0503020204020204" pitchFamily="34" charset="-122"/>
                  </a:rPr>
                  <a:t>中都包含</a:t>
                </a:r>
                <a:r>
                  <a:rPr lang="en-US" altLang="zh-CN" sz="2800" dirty="0">
                    <a:latin typeface="微软雅黑" panose="020B0503020204020204" pitchFamily="34" charset="-122"/>
                    <a:ea typeface="微软雅黑" panose="020B0503020204020204" pitchFamily="34" charset="-122"/>
                  </a:rPr>
                  <a:t>R</a:t>
                </a:r>
                <a:r>
                  <a:rPr lang="zh-CN" altLang="en-US" sz="2800" dirty="0">
                    <a:latin typeface="微软雅黑" panose="020B0503020204020204" pitchFamily="34" charset="-122"/>
                    <a:ea typeface="微软雅黑" panose="020B0503020204020204" pitchFamily="34" charset="-122"/>
                  </a:rPr>
                  <a:t>的主码属性，或特殊的</a:t>
                </a:r>
                <a:r>
                  <a:rPr lang="en-US" altLang="zh-CN" sz="2800" dirty="0">
                    <a:latin typeface="微软雅黑" panose="020B0503020204020204" pitchFamily="34" charset="-122"/>
                    <a:ea typeface="微软雅黑" panose="020B0503020204020204" pitchFamily="34" charset="-122"/>
                  </a:rPr>
                  <a:t>tuple-id</a:t>
                </a:r>
                <a:r>
                  <a:rPr lang="zh-CN" altLang="en-US" sz="2800" dirty="0">
                    <a:latin typeface="微软雅黑" panose="020B0503020204020204" pitchFamily="34" charset="-122"/>
                    <a:ea typeface="微软雅黑" panose="020B0503020204020204" pitchFamily="34" charset="-122"/>
                  </a:rPr>
                  <a:t>属性。</a:t>
                </a:r>
                <a:endParaRPr lang="zh-CN" altLang="en-US" sz="28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539"/>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数据分片</a:t>
            </a: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导出分片：又称为导出水平分片</a:t>
            </a: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endParaRPr lang="en-US" altLang="zh-CN" dirty="0">
              <a:latin typeface="微软雅黑" panose="020B0503020204020204" pitchFamily="34" charset="-122"/>
              <a:ea typeface="微软雅黑" panose="020B0503020204020204" pitchFamily="34" charset="-122"/>
            </a:endParaRPr>
          </a:p>
          <a:p>
            <a:pPr marL="457200" lvl="1" indent="0" fontAlgn="base">
              <a:lnSpc>
                <a:spcPct val="190000"/>
              </a:lnSpc>
              <a:spcAft>
                <a:spcPct val="0"/>
              </a:spcAft>
              <a:buClr>
                <a:schemeClr val="tx1"/>
              </a:buClr>
              <a:buNone/>
              <a:defRPr/>
            </a:pP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混合分片：在水平分片或垂直分片的结果上再进行垂直分片或水平分片。</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259329" y="2430600"/>
            <a:ext cx="7288411" cy="320819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fontScale="92500"/>
          </a:bodyPr>
          <a:lstStyle/>
          <a:p>
            <a:pPr>
              <a:lnSpc>
                <a:spcPct val="130000"/>
              </a:lnSpc>
            </a:pPr>
            <a:r>
              <a:rPr lang="zh-CN" altLang="en-US" sz="3000" dirty="0">
                <a:latin typeface="微软雅黑" panose="020B0503020204020204" pitchFamily="34" charset="-122"/>
                <a:ea typeface="微软雅黑" panose="020B0503020204020204" pitchFamily="34" charset="-122"/>
              </a:rPr>
              <a:t>数据分片的条件</a:t>
            </a:r>
            <a:endParaRPr lang="en-US" altLang="zh-CN" sz="3000"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完备性条件：必须把全局关系的所有数据映射到片段中，不允许有属于全局关系的数据却不属于它的任何一个片段。</a:t>
            </a:r>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可重构条件：必须保证能够由同一个全局关系的各个片段来重建该全局关系。对于水平分片可用并操作重构全局关系；对于垂直分片可用连接操作重构全局关系。</a:t>
            </a:r>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不相交条件：要求一个全局关系被分割后所得的各个数据片段互不重叠</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对垂直分片的主键除外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水平分片</a:t>
                </a: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将关系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按行分为若干子集</a:t>
                </a:r>
                <a14:m>
                  <m:oMath xmlns:m="http://schemas.openxmlformats.org/officeDocument/2006/math">
                    <m:sSub>
                      <m:sSubPr>
                        <m:ctrlPr>
                          <a:rPr lang="en-US" altLang="zh-CN" i="1" dirty="0" smtClean="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1</m:t>
                        </m:r>
                      </m:sub>
                    </m:sSub>
                  </m:oMath>
                </a14:m>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b="0" i="1" dirty="0" smtClean="0">
                            <a:latin typeface="Cambria Math" panose="02040503050406030204" pitchFamily="18" charset="0"/>
                            <a:ea typeface="微软雅黑" panose="020B0503020204020204" pitchFamily="34" charset="-122"/>
                          </a:rPr>
                          <m:t>2</m:t>
                        </m:r>
                      </m:sub>
                    </m:sSub>
                    <m:r>
                      <a:rPr lang="en-US" altLang="zh-CN" i="1" dirty="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m:rPr>
                            <m:sty m:val="p"/>
                          </m:rPr>
                          <a:rPr lang="en-US" altLang="zh-CN" i="1" dirty="0">
                            <a:latin typeface="Cambria Math" panose="02040503050406030204" pitchFamily="18" charset="0"/>
                            <a:ea typeface="微软雅黑" panose="020B0503020204020204" pitchFamily="34" charset="-122"/>
                          </a:rPr>
                          <m:t>n</m:t>
                        </m:r>
                      </m:sub>
                    </m:sSub>
                    <m:r>
                      <a:rPr lang="en-US" altLang="zh-CN" i="1" dirty="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，每个子集</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b="0" i="1" dirty="0" smtClean="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称为一个水平片段。</a:t>
                </a:r>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一个水平片段可以看成是关系上的一个选择</a:t>
                </a:r>
                <a:endParaRPr lang="zh-CN" altLang="en-US" dirty="0">
                  <a:latin typeface="微软雅黑" panose="020B0503020204020204" pitchFamily="34" charset="-122"/>
                  <a:ea typeface="微软雅黑" panose="020B0503020204020204" pitchFamily="34" charset="-122"/>
                </a:endParaRPr>
              </a:p>
              <a:p>
                <a:pPr marL="457200" lvl="1" indent="0" algn="ctr" fontAlgn="base">
                  <a:lnSpc>
                    <a:spcPct val="190000"/>
                  </a:lnSpc>
                  <a:spcAft>
                    <a:spcPct val="0"/>
                  </a:spcAft>
                  <a:buClr>
                    <a:schemeClr val="tx1"/>
                  </a:buClr>
                  <a:buNone/>
                  <a:defRPr/>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sym typeface="Symbol" panose="05050102010706020507" pitchFamily="18" charset="2"/>
                            </a:rPr>
                          </m:ctrlPr>
                        </m:sSubPr>
                        <m:e>
                          <m:r>
                            <a:rPr lang="en-US" altLang="zh-CN" i="1" smtClean="0">
                              <a:solidFill>
                                <a:schemeClr val="tx1"/>
                              </a:solidFill>
                              <a:latin typeface="Cambria Math" panose="02040503050406030204" pitchFamily="18" charset="0"/>
                              <a:sym typeface="Symbol" panose="05050102010706020507" pitchFamily="18" charset="2"/>
                            </a:rPr>
                            <m:t>𝛾</m:t>
                          </m:r>
                        </m:e>
                        <m:sub>
                          <m:r>
                            <a:rPr lang="en-US" altLang="zh-CN" i="1" smtClean="0">
                              <a:solidFill>
                                <a:schemeClr val="tx1"/>
                              </a:solidFill>
                              <a:latin typeface="Cambria Math" panose="02040503050406030204" pitchFamily="18" charset="0"/>
                              <a:sym typeface="Symbol" panose="05050102010706020507" pitchFamily="18" charset="2"/>
                            </a:rPr>
                            <m:t>𝑖</m:t>
                          </m:r>
                        </m:sub>
                      </m:sSub>
                      <m:r>
                        <a:rPr lang="en-US" altLang="zh-CN" i="1" smtClean="0">
                          <a:solidFill>
                            <a:schemeClr val="tx1"/>
                          </a:solidFill>
                          <a:latin typeface="Cambria Math" panose="02040503050406030204" pitchFamily="18" charset="0"/>
                          <a:sym typeface="Symbol" panose="05050102010706020507" pitchFamily="18" charset="2"/>
                        </a:rPr>
                        <m:t>=</m:t>
                      </m:r>
                      <m:sSub>
                        <m:sSubPr>
                          <m:ctrlPr>
                            <a:rPr lang="en-US" altLang="zh-CN" i="1" smtClean="0">
                              <a:solidFill>
                                <a:schemeClr val="tx1"/>
                              </a:solidFill>
                              <a:latin typeface="Cambria Math" panose="02040503050406030204" pitchFamily="18" charset="0"/>
                              <a:sym typeface="Symbol" panose="05050102010706020507" pitchFamily="18" charset="2"/>
                            </a:rPr>
                          </m:ctrlPr>
                        </m:sSubPr>
                        <m:e>
                          <m:r>
                            <a:rPr lang="en-US" altLang="zh-CN" i="1" smtClean="0">
                              <a:solidFill>
                                <a:schemeClr val="tx1"/>
                              </a:solidFill>
                              <a:latin typeface="Cambria Math" panose="02040503050406030204" pitchFamily="18" charset="0"/>
                              <a:sym typeface="Symbol" panose="05050102010706020507" pitchFamily="18" charset="2"/>
                            </a:rPr>
                            <m:t>𝜎</m:t>
                          </m:r>
                        </m:e>
                        <m:sub>
                          <m:r>
                            <a:rPr lang="en-US" altLang="zh-CN" i="1" smtClean="0">
                              <a:solidFill>
                                <a:schemeClr val="tx1"/>
                              </a:solidFill>
                              <a:latin typeface="Cambria Math" panose="02040503050406030204" pitchFamily="18" charset="0"/>
                              <a:sym typeface="Symbol" panose="05050102010706020507" pitchFamily="18" charset="2"/>
                            </a:rPr>
                            <m:t>𝑃</m:t>
                          </m:r>
                          <m:d>
                            <m:dPr>
                              <m:ctrlPr>
                                <a:rPr lang="en-US" altLang="zh-CN" i="1" smtClean="0">
                                  <a:solidFill>
                                    <a:schemeClr val="tx1"/>
                                  </a:solidFill>
                                  <a:latin typeface="Cambria Math" panose="02040503050406030204" pitchFamily="18" charset="0"/>
                                  <a:sym typeface="Symbol" panose="05050102010706020507" pitchFamily="18" charset="2"/>
                                </a:rPr>
                              </m:ctrlPr>
                            </m:dPr>
                            <m:e>
                              <m:r>
                                <a:rPr lang="en-US" altLang="zh-CN" i="1" smtClean="0">
                                  <a:solidFill>
                                    <a:schemeClr val="tx1"/>
                                  </a:solidFill>
                                  <a:latin typeface="Cambria Math" panose="02040503050406030204" pitchFamily="18" charset="0"/>
                                  <a:sym typeface="Symbol" panose="05050102010706020507" pitchFamily="18" charset="2"/>
                                </a:rPr>
                                <m:t>𝑖</m:t>
                              </m:r>
                            </m:e>
                          </m:d>
                        </m:sub>
                      </m:sSub>
                      <m:d>
                        <m:dPr>
                          <m:ctrlPr>
                            <a:rPr lang="en-US" altLang="zh-CN" i="1" smtClean="0">
                              <a:solidFill>
                                <a:schemeClr val="tx1"/>
                              </a:solidFill>
                              <a:latin typeface="Cambria Math" panose="02040503050406030204" pitchFamily="18" charset="0"/>
                              <a:sym typeface="Symbol" panose="05050102010706020507" pitchFamily="18" charset="2"/>
                            </a:rPr>
                          </m:ctrlPr>
                        </m:dPr>
                        <m:e>
                          <m:r>
                            <a:rPr lang="en-US" altLang="zh-CN" i="1" smtClean="0">
                              <a:solidFill>
                                <a:schemeClr val="tx1"/>
                              </a:solidFill>
                              <a:latin typeface="Cambria Math" panose="02040503050406030204" pitchFamily="18" charset="0"/>
                              <a:sym typeface="Symbol" panose="05050102010706020507" pitchFamily="18" charset="2"/>
                            </a:rPr>
                            <m:t>𝑟</m:t>
                          </m:r>
                        </m:e>
                      </m:d>
                    </m:oMath>
                  </m:oMathPara>
                </a14:m>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如</a:t>
                </a:r>
                <a14:m>
                  <m:oMath xmlns:m="http://schemas.openxmlformats.org/officeDocument/2006/math">
                    <m:sSub>
                      <m:sSubPr>
                        <m:ctrlPr>
                          <a:rPr lang="en-US" altLang="zh-CN" i="1" smtClean="0">
                            <a:solidFill>
                              <a:schemeClr val="tx1"/>
                            </a:solidFill>
                            <a:latin typeface="Cambria Math" panose="02040503050406030204" pitchFamily="18" charset="0"/>
                            <a:sym typeface="Symbol" panose="05050102010706020507" pitchFamily="18" charset="2"/>
                          </a:rPr>
                        </m:ctrlPr>
                      </m:sSubPr>
                      <m:e>
                        <m:r>
                          <a:rPr lang="en-US" altLang="zh-CN" b="0" i="1" smtClean="0">
                            <a:solidFill>
                              <a:schemeClr val="tx1"/>
                            </a:solidFill>
                            <a:latin typeface="Cambria Math" panose="02040503050406030204" pitchFamily="18" charset="0"/>
                            <a:sym typeface="Symbol" panose="05050102010706020507" pitchFamily="18" charset="2"/>
                          </a:rPr>
                          <m:t>𝑀</m:t>
                        </m:r>
                      </m:e>
                      <m:sub>
                        <m:r>
                          <a:rPr lang="en-US" altLang="zh-CN" b="0" i="1" smtClean="0">
                            <a:solidFill>
                              <a:schemeClr val="tx1"/>
                            </a:solidFill>
                            <a:latin typeface="Cambria Math" panose="02040503050406030204" pitchFamily="18" charset="0"/>
                            <a:sym typeface="Symbol" panose="05050102010706020507" pitchFamily="18" charset="2"/>
                          </a:rPr>
                          <m:t>𝑠</m:t>
                        </m:r>
                      </m:sub>
                    </m:sSub>
                    <m:r>
                      <a:rPr lang="en-US" altLang="zh-CN" i="1" smtClean="0">
                        <a:solidFill>
                          <a:schemeClr val="tx1"/>
                        </a:solidFill>
                        <a:latin typeface="Cambria Math" panose="02040503050406030204" pitchFamily="18" charset="0"/>
                        <a:sym typeface="Symbol" panose="05050102010706020507" pitchFamily="18" charset="2"/>
                      </a:rPr>
                      <m:t>=</m:t>
                    </m:r>
                    <m:sSub>
                      <m:sSubPr>
                        <m:ctrlPr>
                          <a:rPr lang="en-US" altLang="zh-CN" i="1" smtClean="0">
                            <a:solidFill>
                              <a:schemeClr val="tx1"/>
                            </a:solidFill>
                            <a:latin typeface="Cambria Math" panose="02040503050406030204" pitchFamily="18" charset="0"/>
                            <a:sym typeface="Symbol" panose="05050102010706020507" pitchFamily="18" charset="2"/>
                          </a:rPr>
                        </m:ctrlPr>
                      </m:sSubPr>
                      <m:e>
                        <m:r>
                          <a:rPr lang="en-US" altLang="zh-CN" i="1" smtClean="0">
                            <a:solidFill>
                              <a:schemeClr val="tx1"/>
                            </a:solidFill>
                            <a:latin typeface="Cambria Math" panose="02040503050406030204" pitchFamily="18" charset="0"/>
                            <a:sym typeface="Symbol" panose="05050102010706020507" pitchFamily="18" charset="2"/>
                          </a:rPr>
                          <m:t>𝜎</m:t>
                        </m:r>
                      </m:e>
                      <m:sub>
                        <m:r>
                          <a:rPr lang="en-US" altLang="zh-CN" b="0" i="1" smtClean="0">
                            <a:solidFill>
                              <a:schemeClr val="tx1"/>
                            </a:solidFill>
                            <a:latin typeface="Cambria Math" panose="02040503050406030204" pitchFamily="18" charset="0"/>
                            <a:sym typeface="Symbol" panose="05050102010706020507" pitchFamily="18" charset="2"/>
                          </a:rPr>
                          <m:t>𝑆𝑒𝑥</m:t>
                        </m:r>
                        <m:r>
                          <a:rPr lang="en-US" altLang="zh-CN" b="0" i="1" smtClean="0">
                            <a:solidFill>
                              <a:schemeClr val="tx1"/>
                            </a:solidFill>
                            <a:latin typeface="Cambria Math" panose="02040503050406030204" pitchFamily="18" charset="0"/>
                            <a:sym typeface="Symbol" panose="05050102010706020507" pitchFamily="18" charset="2"/>
                          </a:rPr>
                          <m:t>=‘</m:t>
                        </m:r>
                        <m:r>
                          <a:rPr lang="en-US" altLang="zh-CN" b="0" i="1" smtClean="0">
                            <a:solidFill>
                              <a:schemeClr val="tx1"/>
                            </a:solidFill>
                            <a:latin typeface="Cambria Math" panose="02040503050406030204" pitchFamily="18" charset="0"/>
                            <a:sym typeface="Symbol" panose="05050102010706020507" pitchFamily="18" charset="2"/>
                          </a:rPr>
                          <m:t>𝑀</m:t>
                        </m:r>
                        <m:r>
                          <a:rPr lang="zh-CN" altLang="en-US" i="1">
                            <a:latin typeface="Cambria Math" panose="02040503050406030204" pitchFamily="18" charset="0"/>
                            <a:sym typeface="Symbol" panose="05050102010706020507" pitchFamily="18" charset="2"/>
                          </a:rPr>
                          <m:t>’</m:t>
                        </m:r>
                      </m:sub>
                    </m:sSub>
                    <m:d>
                      <m:dPr>
                        <m:ctrlPr>
                          <a:rPr lang="en-US" altLang="zh-CN" i="1" smtClean="0">
                            <a:solidFill>
                              <a:schemeClr val="tx1"/>
                            </a:solidFill>
                            <a:latin typeface="Cambria Math" panose="02040503050406030204" pitchFamily="18" charset="0"/>
                            <a:sym typeface="Symbol" panose="05050102010706020507" pitchFamily="18" charset="2"/>
                          </a:rPr>
                        </m:ctrlPr>
                      </m:dPr>
                      <m:e>
                        <m:r>
                          <a:rPr lang="en-US" altLang="zh-CN" b="0" i="1" smtClean="0">
                            <a:solidFill>
                              <a:schemeClr val="tx1"/>
                            </a:solidFill>
                            <a:latin typeface="Cambria Math" panose="02040503050406030204" pitchFamily="18" charset="0"/>
                            <a:sym typeface="Symbol" panose="05050102010706020507" pitchFamily="18" charset="2"/>
                          </a:rPr>
                          <m:t>𝑆</m:t>
                        </m:r>
                      </m:e>
                    </m:d>
                    <m:r>
                      <a:rPr lang="en-US" altLang="zh-CN" i="1" smtClean="0">
                        <a:solidFill>
                          <a:schemeClr val="tx1"/>
                        </a:solidFill>
                        <a:latin typeface="Cambria Math" panose="02040503050406030204" pitchFamily="18" charset="0"/>
                        <a:sym typeface="Symbol" panose="05050102010706020507" pitchFamily="18" charset="2"/>
                      </a:rPr>
                      <m:t> </m:t>
                    </m:r>
                  </m:oMath>
                </a14:m>
                <a:endParaRPr lang="en-US" altLang="zh-CN" dirty="0">
                  <a:solidFill>
                    <a:schemeClr val="tx1"/>
                  </a:solidFill>
                  <a:latin typeface="微软雅黑" panose="020B0503020204020204" pitchFamily="34" charset="-122"/>
                  <a:sym typeface="Symbol" panose="05050102010706020507" pitchFamily="18" charset="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关系的重构可以通过并运算来实现。</a:t>
                </a:r>
                <a:endParaRPr lang="zh-CN" altLang="en-US" dirty="0">
                  <a:latin typeface="微软雅黑" panose="020B0503020204020204" pitchFamily="34" charset="-122"/>
                  <a:ea typeface="微软雅黑" panose="020B0503020204020204" pitchFamily="34" charset="-122"/>
                </a:endParaRPr>
              </a:p>
              <a:p>
                <a:pPr marL="457200" lvl="1" indent="0" algn="ctr" fontAlgn="base">
                  <a:lnSpc>
                    <a:spcPct val="190000"/>
                  </a:lnSpc>
                  <a:spcAft>
                    <a:spcPct val="0"/>
                  </a:spcAft>
                  <a:buClr>
                    <a:schemeClr val="tx1"/>
                  </a:buClr>
                  <a:buNone/>
                  <a:defRPr/>
                </a:pPr>
                <a14:m>
                  <m:oMath xmlns:m="http://schemas.openxmlformats.org/officeDocument/2006/math">
                    <m:r>
                      <a:rPr lang="en-US" altLang="zh-CN" i="1" dirty="0">
                        <a:latin typeface="Cambria Math" panose="02040503050406030204" pitchFamily="18" charset="0"/>
                        <a:ea typeface="微软雅黑" panose="020B0503020204020204" pitchFamily="34" charset="-122"/>
                      </a:rPr>
                      <m:t>𝑟</m:t>
                    </m:r>
                    <m:r>
                      <a:rPr lang="en-US" altLang="zh-CN" i="1" dirty="0">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smtClean="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1</m:t>
                        </m:r>
                      </m:sub>
                    </m:sSub>
                  </m:oMath>
                </a14:m>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2</m:t>
                        </m:r>
                      </m:sub>
                    </m:sSub>
                    <m:r>
                      <a:rPr lang="en-US" altLang="zh-CN" i="1" dirty="0">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m:rPr>
                            <m:sty m:val="p"/>
                          </m:rPr>
                          <a:rPr lang="en-US" altLang="zh-CN" i="1" dirty="0">
                            <a:latin typeface="Cambria Math" panose="02040503050406030204" pitchFamily="18" charset="0"/>
                            <a:ea typeface="微软雅黑" panose="020B0503020204020204" pitchFamily="34" charset="-122"/>
                          </a:rPr>
                          <m:t>n</m:t>
                        </m:r>
                      </m:sub>
                    </m:sSub>
                    <m:r>
                      <a:rPr lang="en-US" altLang="zh-CN" i="1" dirty="0">
                        <a:latin typeface="Cambria Math" panose="02040503050406030204" pitchFamily="18" charset="0"/>
                        <a:ea typeface="微软雅黑" panose="020B0503020204020204" pitchFamily="34" charset="-122"/>
                      </a:rPr>
                      <m:t> </m:t>
                    </m:r>
                  </m:oMath>
                </a14:m>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9395"/>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垂直分片</a:t>
                </a:r>
                <a:endParaRPr lang="en-US" altLang="zh-CN"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将关系</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按列分为若干属性子集</a:t>
                </a:r>
                <a14:m>
                  <m:oMath xmlns:m="http://schemas.openxmlformats.org/officeDocument/2006/math">
                    <m:sSub>
                      <m:sSubPr>
                        <m:ctrlPr>
                          <a:rPr lang="en-US" altLang="zh-CN" i="1" dirty="0" smtClean="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1</m:t>
                        </m:r>
                      </m:sub>
                    </m:sSub>
                  </m:oMath>
                </a14:m>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b="0" i="1" dirty="0" smtClean="0">
                            <a:latin typeface="Cambria Math" panose="02040503050406030204" pitchFamily="18" charset="0"/>
                            <a:ea typeface="微软雅黑" panose="020B0503020204020204" pitchFamily="34" charset="-122"/>
                          </a:rPr>
                          <m:t>2</m:t>
                        </m:r>
                      </m:sub>
                    </m:sSub>
                    <m:r>
                      <a:rPr lang="en-US" altLang="zh-CN" i="1" dirty="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m:rPr>
                            <m:sty m:val="p"/>
                          </m:rPr>
                          <a:rPr lang="en-US" altLang="zh-CN" i="1" dirty="0">
                            <a:latin typeface="Cambria Math" panose="02040503050406030204" pitchFamily="18" charset="0"/>
                            <a:ea typeface="微软雅黑" panose="020B0503020204020204" pitchFamily="34" charset="-122"/>
                          </a:rPr>
                          <m:t>n</m:t>
                        </m:r>
                      </m:sub>
                    </m:sSub>
                    <m:r>
                      <a:rPr lang="en-US" altLang="zh-CN" i="1" dirty="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，每个子集</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称为一个垂直片段。</a:t>
                </a:r>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一个垂直片段可以看成是关系上的一个投影：</a:t>
                </a:r>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𝛾</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ea typeface="微软雅黑" panose="020B0503020204020204" pitchFamily="34" charset="-122"/>
                          </a:rPr>
                          <m:t>∏</m:t>
                        </m:r>
                      </m:e>
                      <m:sub>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𝑅</m:t>
                            </m:r>
                          </m:e>
                          <m:sub>
                            <m:r>
                              <a:rPr lang="en-US" altLang="zh-CN" i="1" dirty="0">
                                <a:solidFill>
                                  <a:schemeClr val="tx1"/>
                                </a:solidFill>
                                <a:latin typeface="Cambria Math" panose="02040503050406030204" pitchFamily="18" charset="0"/>
                              </a:rPr>
                              <m:t>𝑖</m:t>
                            </m:r>
                          </m:sub>
                        </m:sSub>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𝛾</m:t>
                        </m:r>
                      </m:e>
                    </m:d>
                  </m:oMath>
                </a14:m>
                <a:endParaRPr lang="zh-CN" altLang="en-US" dirty="0">
                  <a:latin typeface="微软雅黑" panose="020B0503020204020204" pitchFamily="34" charset="-122"/>
                  <a:ea typeface="微软雅黑" panose="020B0503020204020204" pitchFamily="34" charset="-122"/>
                </a:endParaRPr>
              </a:p>
              <a:p>
                <a:pPr marL="457200" lvl="1" indent="0" fontAlgn="base">
                  <a:lnSpc>
                    <a:spcPct val="190000"/>
                  </a:lnSpc>
                  <a:spcAft>
                    <a:spcPct val="0"/>
                  </a:spcAft>
                  <a:buClr>
                    <a:schemeClr val="tx1"/>
                  </a:buClr>
                  <a:buNone/>
                  <a:defRPr/>
                </a:pPr>
                <a:r>
                  <a:rPr lang="zh-CN" altLang="en-US" dirty="0">
                    <a:latin typeface="微软雅黑" panose="020B0503020204020204" pitchFamily="34" charset="-122"/>
                    <a:ea typeface="微软雅黑" panose="020B0503020204020204" pitchFamily="34" charset="-122"/>
                  </a:rPr>
                  <a:t>   其中</a:t>
                </a:r>
                <a14:m>
                  <m:oMath xmlns:m="http://schemas.openxmlformats.org/officeDocument/2006/math">
                    <m:sSub>
                      <m:sSubPr>
                        <m:ctrlPr>
                          <a:rPr lang="en-US" altLang="zh-CN"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𝑅</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是</a:t>
                </a:r>
                <a14:m>
                  <m:oMath xmlns:m="http://schemas.openxmlformats.org/officeDocument/2006/math">
                    <m:r>
                      <a:rPr lang="en-US" altLang="zh-CN" i="1" dirty="0">
                        <a:latin typeface="Cambria Math" panose="02040503050406030204" pitchFamily="18" charset="0"/>
                        <a:ea typeface="微软雅黑" panose="020B0503020204020204" pitchFamily="34" charset="-122"/>
                      </a:rPr>
                      <m:t>𝑟</m:t>
                    </m:r>
                  </m:oMath>
                </a14:m>
                <a:r>
                  <a:rPr lang="zh-CN" altLang="en-US" dirty="0">
                    <a:latin typeface="微软雅黑" panose="020B0503020204020204" pitchFamily="34" charset="-122"/>
                    <a:ea typeface="微软雅黑" panose="020B0503020204020204" pitchFamily="34" charset="-122"/>
                  </a:rPr>
                  <a:t>的一个属性子集，如：</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𝑃</m:t>
                        </m:r>
                      </m:e>
                      <m:sub>
                        <m:r>
                          <a:rPr lang="en-US" altLang="zh-CN" b="0" i="1" dirty="0" smtClean="0">
                            <a:latin typeface="Cambria Math" panose="02040503050406030204" pitchFamily="18" charset="0"/>
                          </a:rPr>
                          <m:t>𝑆</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ea typeface="微软雅黑" panose="020B0503020204020204" pitchFamily="34" charset="-122"/>
                          </a:rPr>
                          <m:t>∏</m:t>
                        </m:r>
                      </m:e>
                      <m:sub>
                        <m:r>
                          <a:rPr lang="en-US" altLang="zh-CN" b="0" i="1" dirty="0" smtClean="0">
                            <a:latin typeface="Cambria Math" panose="02040503050406030204" pitchFamily="18" charset="0"/>
                            <a:ea typeface="微软雅黑" panose="020B0503020204020204" pitchFamily="34" charset="-122"/>
                          </a:rPr>
                          <m:t>𝑆𝑁𝑂</m:t>
                        </m:r>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𝑆𝑁𝐴𝑀𝐸</m:t>
                        </m:r>
                      </m:sub>
                    </m:sSub>
                    <m:d>
                      <m:dPr>
                        <m:ctrlPr>
                          <a:rPr lang="en-US" altLang="zh-CN" i="1" dirty="0">
                            <a:latin typeface="Cambria Math" panose="02040503050406030204" pitchFamily="18" charset="0"/>
                          </a:rPr>
                        </m:ctrlPr>
                      </m:dPr>
                      <m:e>
                        <m:r>
                          <a:rPr lang="en-US" altLang="zh-CN" b="0" i="1" dirty="0" smtClean="0">
                            <a:latin typeface="Cambria Math" panose="02040503050406030204" pitchFamily="18" charset="0"/>
                          </a:rPr>
                          <m:t>𝑆</m:t>
                        </m:r>
                      </m:e>
                    </m:d>
                  </m:oMath>
                </a14:m>
                <a:endParaRPr lang="zh-CN" altLang="en-US"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dirty="0">
                    <a:latin typeface="微软雅黑" panose="020B0503020204020204" pitchFamily="34" charset="-122"/>
                    <a:ea typeface="微软雅黑" panose="020B0503020204020204" pitchFamily="34" charset="-122"/>
                  </a:rPr>
                  <a:t>关系的重构可以通过连接运算来实现：</a:t>
                </a:r>
                <a:endParaRPr lang="zh-CN" altLang="en-US" dirty="0">
                  <a:latin typeface="微软雅黑" panose="020B0503020204020204" pitchFamily="34" charset="-122"/>
                  <a:ea typeface="微软雅黑" panose="020B0503020204020204" pitchFamily="34" charset="-122"/>
                </a:endParaRPr>
              </a:p>
              <a:p>
                <a:pPr marL="457200" lvl="1" indent="0" algn="ctr" fontAlgn="base">
                  <a:lnSpc>
                    <a:spcPct val="190000"/>
                  </a:lnSpc>
                  <a:spcAft>
                    <a:spcPct val="0"/>
                  </a:spcAft>
                  <a:buClr>
                    <a:schemeClr val="tx1"/>
                  </a:buClr>
                  <a:buNone/>
                  <a:defRPr/>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微软雅黑" panose="020B0503020204020204" pitchFamily="34" charset="-122"/>
                        </a:rPr>
                        <m:t>𝑟</m:t>
                      </m:r>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1</m:t>
                          </m:r>
                        </m:sub>
                      </m:sSub>
                      <m:r>
                        <m:rPr>
                          <m:nor/>
                        </m:rPr>
                        <a:rPr lang="en-US" altLang="zh-CN" dirty="0">
                          <a:latin typeface="Cambria" panose="02040503050406030204" pitchFamily="18" charset="0"/>
                          <a:ea typeface="Cambria" panose="02040503050406030204" pitchFamily="18" charset="0"/>
                        </a:rPr>
                        <m:t>⋈</m:t>
                      </m:r>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𝑟</m:t>
                          </m:r>
                        </m:e>
                        <m:sub>
                          <m:r>
                            <a:rPr lang="en-US" altLang="zh-CN" i="1" dirty="0">
                              <a:latin typeface="Cambria Math" panose="02040503050406030204" pitchFamily="18" charset="0"/>
                              <a:ea typeface="微软雅黑" panose="020B0503020204020204" pitchFamily="34" charset="-122"/>
                            </a:rPr>
                            <m:t>2</m:t>
                          </m:r>
                        </m:sub>
                      </m:sSub>
                      <m:r>
                        <m:rPr>
                          <m:nor/>
                        </m:rPr>
                        <a:rPr lang="en-US" altLang="zh-CN" dirty="0">
                          <a:latin typeface="Cambria" panose="02040503050406030204" pitchFamily="18" charset="0"/>
                          <a:ea typeface="Cambria" panose="02040503050406030204" pitchFamily="18" charset="0"/>
                        </a:rPr>
                        <m:t>⋈</m:t>
                      </m:r>
                      <m:r>
                        <m:rPr>
                          <m:nor/>
                        </m:rPr>
                        <a:rPr lang="en-US" altLang="zh-CN" dirty="0">
                          <a:latin typeface="微软雅黑" panose="020B0503020204020204" pitchFamily="34" charset="-122"/>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r>
                            <m:rPr>
                              <m:nor/>
                            </m:rPr>
                            <a:rPr lang="en-US" altLang="zh-CN" dirty="0">
                              <a:latin typeface="Cambria" panose="02040503050406030204" pitchFamily="18" charset="0"/>
                              <a:ea typeface="Cambria" panose="02040503050406030204" pitchFamily="18" charset="0"/>
                            </a:rPr>
                            <m:t>⋈</m:t>
                          </m:r>
                          <m:r>
                            <a:rPr lang="en-US" altLang="zh-CN" i="1" dirty="0">
                              <a:latin typeface="Cambria Math" panose="02040503050406030204" pitchFamily="18" charset="0"/>
                              <a:ea typeface="微软雅黑" panose="020B0503020204020204" pitchFamily="34" charset="-122"/>
                            </a:rPr>
                            <m:t>𝑟</m:t>
                          </m:r>
                        </m:e>
                        <m:sub>
                          <m:r>
                            <m:rPr>
                              <m:sty m:val="p"/>
                            </m:rPr>
                            <a:rPr lang="en-US" altLang="zh-CN" i="1" dirty="0">
                              <a:latin typeface="Cambria Math" panose="02040503050406030204" pitchFamily="18" charset="0"/>
                              <a:ea typeface="微软雅黑" panose="020B0503020204020204" pitchFamily="34" charset="-122"/>
                            </a:rPr>
                            <m:t>n</m:t>
                          </m:r>
                        </m:sub>
                      </m:sSub>
                    </m:oMath>
                  </m:oMathPara>
                </a14:m>
                <a:endParaRPr lang="en-US" altLang="zh-CN" dirty="0">
                  <a:latin typeface="微软雅黑" panose="020B0503020204020204" pitchFamily="34" charset="-122"/>
                  <a:ea typeface="微软雅黑" panose="020B0503020204020204" pitchFamily="34" charset="-122"/>
                </a:endParaRPr>
              </a:p>
              <a:p>
                <a:pPr marL="457200" lvl="1" indent="0" fontAlgn="base">
                  <a:lnSpc>
                    <a:spcPct val="190000"/>
                  </a:lnSpc>
                  <a:spcAft>
                    <a:spcPct val="0"/>
                  </a:spcAft>
                  <a:buClr>
                    <a:schemeClr val="tx1"/>
                  </a:buClr>
                  <a:buNone/>
                  <a:defRPr/>
                </a:pPr>
                <a:r>
                  <a:rPr lang="zh-CN" altLang="en-US" dirty="0">
                    <a:latin typeface="微软雅黑" panose="020B0503020204020204" pitchFamily="34" charset="-122"/>
                    <a:ea typeface="微软雅黑" panose="020B0503020204020204" pitchFamily="34" charset="-122"/>
                  </a:rPr>
                  <a:t>   要求所有垂直分片的片段都包括关系的主键。</a:t>
                </a:r>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605" b="6"/>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10.2 </a:t>
            </a:r>
            <a:r>
              <a:rPr kumimoji="1" lang="zh-CN" altLang="en-US" dirty="0"/>
              <a:t>分布式数据存储</a:t>
            </a:r>
            <a:endParaRPr kumimoji="1" lang="zh-CN" altLang="en-US" dirty="0"/>
          </a:p>
        </p:txBody>
      </p:sp>
      <p:sp>
        <p:nvSpPr>
          <p:cNvPr id="7" name="内容占位符 6"/>
          <p:cNvSpPr>
            <a:spLocks noGrp="1"/>
          </p:cNvSpPr>
          <p:nvPr>
            <p:ph idx="1"/>
          </p:nvPr>
        </p:nvSpPr>
        <p:spPr/>
        <p:txBody>
          <a:bodyPr>
            <a:normAutofit fontScale="77500" lnSpcReduction="20000"/>
          </a:bodyPr>
          <a:lstStyle/>
          <a:p>
            <a:pPr>
              <a:lnSpc>
                <a:spcPct val="130000"/>
              </a:lnSpc>
            </a:pPr>
            <a:r>
              <a:rPr lang="zh-CN" altLang="en-US" sz="3600" dirty="0">
                <a:latin typeface="微软雅黑" panose="020B0503020204020204" pitchFamily="34" charset="-122"/>
                <a:ea typeface="微软雅黑" panose="020B0503020204020204" pitchFamily="34" charset="-122"/>
              </a:rPr>
              <a:t>分片的优点</a:t>
            </a:r>
            <a:endParaRPr lang="en-US" altLang="zh-CN" sz="3600" dirty="0">
              <a:latin typeface="微软雅黑" panose="020B0503020204020204" pitchFamily="34" charset="-122"/>
              <a:ea typeface="微软雅黑" panose="020B0503020204020204" pitchFamily="34" charset="-122"/>
            </a:endParaRPr>
          </a:p>
          <a:p>
            <a:pPr lvl="1" fontAlgn="base">
              <a:lnSpc>
                <a:spcPct val="190000"/>
              </a:lnSpc>
              <a:spcAft>
                <a:spcPct val="0"/>
              </a:spcAft>
              <a:buClr>
                <a:schemeClr val="tx1"/>
              </a:buClr>
              <a:defRPr/>
            </a:pPr>
            <a:r>
              <a:rPr lang="zh-CN" altLang="en-US" sz="2900" dirty="0">
                <a:latin typeface="微软雅黑" panose="020B0503020204020204" pitchFamily="34" charset="-122"/>
                <a:ea typeface="微软雅黑" panose="020B0503020204020204" pitchFamily="34" charset="-122"/>
              </a:rPr>
              <a:t>水平</a:t>
            </a:r>
            <a:r>
              <a:rPr lang="en-US" altLang="zh-CN" sz="2900" dirty="0">
                <a:latin typeface="微软雅黑" panose="020B0503020204020204" pitchFamily="34" charset="-122"/>
                <a:ea typeface="微软雅黑" panose="020B0503020204020204" pitchFamily="34" charset="-122"/>
              </a:rPr>
              <a:t>:</a:t>
            </a:r>
            <a:endParaRPr lang="en-US" altLang="zh-CN" sz="2900" dirty="0">
              <a:latin typeface="微软雅黑" panose="020B0503020204020204" pitchFamily="34" charset="-122"/>
              <a:ea typeface="微软雅黑" panose="020B0503020204020204" pitchFamily="34" charset="-122"/>
            </a:endParaRPr>
          </a:p>
          <a:p>
            <a:pPr lvl="2">
              <a:lnSpc>
                <a:spcPct val="140000"/>
              </a:lnSpc>
              <a:buFont typeface="Wingdings" panose="05000000000000000000" pitchFamily="2" charset="2"/>
              <a:buChar char="ü"/>
            </a:pPr>
            <a:r>
              <a:rPr lang="zh-CN" altLang="en-US" sz="2300" dirty="0"/>
              <a:t>允许对关系的各片断做并行处理。</a:t>
            </a:r>
            <a:endParaRPr lang="en-US" altLang="zh-CN" sz="2300" dirty="0"/>
          </a:p>
          <a:p>
            <a:pPr lvl="2">
              <a:lnSpc>
                <a:spcPct val="140000"/>
              </a:lnSpc>
              <a:buFont typeface="Wingdings" panose="05000000000000000000" pitchFamily="2" charset="2"/>
              <a:buChar char="ü"/>
            </a:pPr>
            <a:r>
              <a:rPr lang="zh-CN" altLang="en-US" sz="2300" dirty="0"/>
              <a:t>关系划分时可使元组分配到最频繁使用该元组的场地上。</a:t>
            </a:r>
            <a:endParaRPr lang="en-US" altLang="zh-CN" sz="2300" dirty="0"/>
          </a:p>
          <a:p>
            <a:pPr lvl="1" fontAlgn="base">
              <a:lnSpc>
                <a:spcPct val="190000"/>
              </a:lnSpc>
              <a:spcAft>
                <a:spcPct val="0"/>
              </a:spcAft>
              <a:buClr>
                <a:schemeClr val="tx1"/>
              </a:buClr>
              <a:defRPr/>
            </a:pPr>
            <a:r>
              <a:rPr lang="zh-CN" altLang="en-US" sz="2900" dirty="0">
                <a:latin typeface="微软雅黑" panose="020B0503020204020204" pitchFamily="34" charset="-122"/>
                <a:ea typeface="微软雅黑" panose="020B0503020204020204" pitchFamily="34" charset="-122"/>
              </a:rPr>
              <a:t>垂直</a:t>
            </a:r>
            <a:r>
              <a:rPr lang="en-US" altLang="zh-CN" sz="2900" dirty="0">
                <a:latin typeface="微软雅黑" panose="020B0503020204020204" pitchFamily="34" charset="-122"/>
                <a:ea typeface="微软雅黑" panose="020B0503020204020204" pitchFamily="34" charset="-122"/>
              </a:rPr>
              <a:t>: </a:t>
            </a:r>
            <a:endParaRPr lang="en-US" altLang="zh-CN" sz="2900" dirty="0">
              <a:latin typeface="微软雅黑" panose="020B0503020204020204" pitchFamily="34" charset="-122"/>
              <a:ea typeface="微软雅黑" panose="020B0503020204020204" pitchFamily="34" charset="-122"/>
            </a:endParaRPr>
          </a:p>
          <a:p>
            <a:pPr lvl="2">
              <a:lnSpc>
                <a:spcPct val="140000"/>
              </a:lnSpc>
              <a:buFont typeface="Wingdings" panose="05000000000000000000" pitchFamily="2" charset="2"/>
              <a:buChar char="ü"/>
            </a:pPr>
            <a:r>
              <a:rPr lang="zh-CN" altLang="en-US" sz="2300" dirty="0"/>
              <a:t>分解属性时可使不同属性存储在最频繁使用的场地上。</a:t>
            </a:r>
            <a:endParaRPr lang="en-US" altLang="zh-CN" sz="2300" dirty="0"/>
          </a:p>
          <a:p>
            <a:pPr lvl="2">
              <a:lnSpc>
                <a:spcPct val="140000"/>
              </a:lnSpc>
              <a:buFont typeface="Wingdings" panose="05000000000000000000" pitchFamily="2" charset="2"/>
              <a:buChar char="ü"/>
            </a:pPr>
            <a:r>
              <a:rPr lang="en-US" altLang="zh-CN" sz="2300" dirty="0"/>
              <a:t>tuple-id </a:t>
            </a:r>
            <a:r>
              <a:rPr lang="zh-CN" altLang="en-US" sz="2300" dirty="0"/>
              <a:t>属性使得垂直片断之间可以高效连接。</a:t>
            </a:r>
            <a:endParaRPr lang="en-US" altLang="zh-CN" sz="2300" dirty="0"/>
          </a:p>
          <a:p>
            <a:pPr lvl="2">
              <a:lnSpc>
                <a:spcPct val="140000"/>
              </a:lnSpc>
              <a:buFont typeface="Wingdings" panose="05000000000000000000" pitchFamily="2" charset="2"/>
              <a:buChar char="ü"/>
            </a:pPr>
            <a:r>
              <a:rPr lang="zh-CN" altLang="en-US" sz="2300" dirty="0"/>
              <a:t>允许对关系作并行处理。</a:t>
            </a:r>
            <a:endParaRPr lang="en-US" altLang="zh-CN" sz="2300" dirty="0"/>
          </a:p>
          <a:p>
            <a:pPr lvl="1" fontAlgn="base">
              <a:lnSpc>
                <a:spcPct val="190000"/>
              </a:lnSpc>
              <a:spcAft>
                <a:spcPct val="0"/>
              </a:spcAft>
              <a:buClr>
                <a:schemeClr val="tx1"/>
              </a:buClr>
              <a:defRPr/>
            </a:pPr>
            <a:r>
              <a:rPr lang="zh-CN" altLang="en-US" sz="2900" dirty="0">
                <a:latin typeface="微软雅黑" panose="020B0503020204020204" pitchFamily="34" charset="-122"/>
                <a:ea typeface="微软雅黑" panose="020B0503020204020204" pitchFamily="34" charset="-122"/>
              </a:rPr>
              <a:t>水平与垂直分片可以混合</a:t>
            </a:r>
            <a:endParaRPr lang="en-US" altLang="zh-CN" sz="2900" dirty="0">
              <a:latin typeface="微软雅黑" panose="020B0503020204020204" pitchFamily="34" charset="-122"/>
              <a:ea typeface="微软雅黑" panose="020B0503020204020204" pitchFamily="34" charset="-122"/>
            </a:endParaRPr>
          </a:p>
          <a:p>
            <a:pPr lvl="2">
              <a:lnSpc>
                <a:spcPct val="140000"/>
              </a:lnSpc>
              <a:buFont typeface="Wingdings" panose="05000000000000000000" pitchFamily="2" charset="2"/>
              <a:buChar char="ü"/>
            </a:pPr>
            <a:r>
              <a:rPr lang="zh-CN" altLang="en-US" sz="2300" dirty="0"/>
              <a:t>可以连续进行分片到任意深度。</a:t>
            </a:r>
            <a:endParaRPr lang="en-US" altLang="zh-CN" sz="2300" dirty="0"/>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dirty="0">
                <a:latin typeface="微软雅黑" panose="020B0503020204020204" pitchFamily="34" charset="-122"/>
                <a:ea typeface="微软雅黑" panose="020B0503020204020204" pitchFamily="34" charset="-122"/>
              </a:rPr>
              <a:t>分布式数据库系统体系结构</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729322" y="1787371"/>
            <a:ext cx="6761042" cy="48472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dirty="0">
                <a:latin typeface="微软雅黑" panose="020B0503020204020204" pitchFamily="34" charset="-122"/>
                <a:ea typeface="微软雅黑" panose="020B0503020204020204" pitchFamily="34" charset="-122"/>
              </a:rPr>
              <a:t>体系结构</a:t>
            </a:r>
            <a:endParaRPr lang="en-US" altLang="zh-CN" dirty="0">
              <a:latin typeface="微软雅黑" panose="020B0503020204020204" pitchFamily="34" charset="-122"/>
              <a:ea typeface="微软雅黑" panose="020B0503020204020204" pitchFamily="34" charset="-122"/>
            </a:endParaRPr>
          </a:p>
          <a:p>
            <a:pPr marL="914400" lvl="1" indent="-457200">
              <a:lnSpc>
                <a:spcPct val="140000"/>
              </a:lnSpc>
              <a:buClr>
                <a:schemeClr val="tx1"/>
              </a:buClr>
              <a:buFont typeface="+mj-ea"/>
              <a:buAutoNum type="circleNumDbPlain"/>
            </a:pPr>
            <a:r>
              <a:rPr lang="zh-CN" altLang="en-US" dirty="0"/>
              <a:t>全局外模式 </a:t>
            </a:r>
            <a:endParaRPr lang="zh-CN" altLang="en-US" dirty="0"/>
          </a:p>
          <a:p>
            <a:pPr marL="914400" lvl="1" indent="-457200">
              <a:lnSpc>
                <a:spcPct val="140000"/>
              </a:lnSpc>
              <a:buClr>
                <a:schemeClr val="tx1"/>
              </a:buClr>
              <a:buFont typeface="+mj-ea"/>
              <a:buAutoNum type="circleNumDbPlain"/>
            </a:pPr>
            <a:r>
              <a:rPr lang="zh-CN" altLang="en-US" dirty="0"/>
              <a:t>全局概念模式</a:t>
            </a:r>
            <a:endParaRPr lang="zh-CN" altLang="en-US" dirty="0"/>
          </a:p>
          <a:p>
            <a:pPr marL="914400" lvl="1" indent="-457200">
              <a:lnSpc>
                <a:spcPct val="140000"/>
              </a:lnSpc>
              <a:buClr>
                <a:schemeClr val="tx1"/>
              </a:buClr>
              <a:buFont typeface="+mj-ea"/>
              <a:buAutoNum type="circleNumDbPlain"/>
            </a:pPr>
            <a:r>
              <a:rPr lang="zh-CN" altLang="en-US" dirty="0"/>
              <a:t>分片模式</a:t>
            </a:r>
            <a:endParaRPr lang="zh-CN" altLang="en-US" dirty="0"/>
          </a:p>
          <a:p>
            <a:pPr marL="914400" lvl="1" indent="-457200">
              <a:lnSpc>
                <a:spcPct val="140000"/>
              </a:lnSpc>
              <a:buClr>
                <a:schemeClr val="tx1"/>
              </a:buClr>
              <a:buFont typeface="+mj-ea"/>
              <a:buAutoNum type="circleNumDbPlain"/>
            </a:pPr>
            <a:r>
              <a:rPr lang="zh-CN" altLang="en-US" dirty="0"/>
              <a:t>分配模式</a:t>
            </a:r>
            <a:endParaRPr lang="zh-CN" altLang="en-US" dirty="0"/>
          </a:p>
          <a:p>
            <a:pPr marL="914400" lvl="1" indent="-457200">
              <a:lnSpc>
                <a:spcPct val="140000"/>
              </a:lnSpc>
              <a:buClr>
                <a:schemeClr val="tx1"/>
              </a:buClr>
              <a:buFont typeface="+mj-ea"/>
              <a:buAutoNum type="circleNumDbPlain"/>
            </a:pPr>
            <a:r>
              <a:rPr lang="zh-CN" altLang="en-US" dirty="0"/>
              <a:t>局部概念模式</a:t>
            </a:r>
            <a:endParaRPr lang="zh-CN" altLang="en-US" dirty="0"/>
          </a:p>
          <a:p>
            <a:pPr marL="914400" lvl="1" indent="-457200">
              <a:lnSpc>
                <a:spcPct val="140000"/>
              </a:lnSpc>
              <a:buClr>
                <a:schemeClr val="tx1"/>
              </a:buClr>
              <a:buFont typeface="+mj-ea"/>
              <a:buAutoNum type="circleNumDbPlain"/>
            </a:pPr>
            <a:r>
              <a:rPr lang="zh-CN" altLang="en-US" dirty="0"/>
              <a:t>局部内模式</a:t>
            </a:r>
            <a:endParaRPr lang="zh-CN" altLang="en-US" dirty="0"/>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dirty="0">
                <a:latin typeface="微软雅黑" panose="020B0503020204020204" pitchFamily="34" charset="-122"/>
                <a:ea typeface="微软雅黑" panose="020B0503020204020204" pitchFamily="34" charset="-122"/>
              </a:rPr>
              <a:t>举例</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2" name="Picture 63" descr="911"/>
          <p:cNvPicPr>
            <a:picLocks noChangeAspect="1"/>
          </p:cNvPicPr>
          <p:nvPr/>
        </p:nvPicPr>
        <p:blipFill>
          <a:blip r:embed="rId1"/>
          <a:stretch>
            <a:fillRect/>
          </a:stretch>
        </p:blipFill>
        <p:spPr>
          <a:xfrm>
            <a:off x="3110347" y="1830389"/>
            <a:ext cx="5753100" cy="4100198"/>
          </a:xfrm>
          <a:prstGeom prst="rect">
            <a:avLst/>
          </a:prstGeom>
          <a:noFill/>
          <a:ln w="9525">
            <a:noFill/>
          </a:ln>
        </p:spPr>
      </p:pic>
      <p:sp>
        <p:nvSpPr>
          <p:cNvPr id="8" name="文本框 7"/>
          <p:cNvSpPr txBox="1"/>
          <p:nvPr/>
        </p:nvSpPr>
        <p:spPr>
          <a:xfrm>
            <a:off x="4296569" y="5930819"/>
            <a:ext cx="3598862" cy="369332"/>
          </a:xfrm>
          <a:prstGeom prst="rect">
            <a:avLst/>
          </a:prstGeom>
          <a:noFill/>
        </p:spPr>
        <p:txBody>
          <a:bodyPr wrap="square">
            <a:spAutoFit/>
          </a:bodyPr>
          <a:lstStyle/>
          <a:p>
            <a:r>
              <a:rPr lang="zh-CN" altLang="en-US" sz="1800" b="1" dirty="0">
                <a:latin typeface="微软雅黑" panose="020B0503020204020204" pitchFamily="34" charset="-122"/>
                <a:ea typeface="微软雅黑" panose="020B0503020204020204" pitchFamily="34" charset="-122"/>
              </a:rPr>
              <a:t>全局关系</a:t>
            </a:r>
            <a:r>
              <a:rPr lang="en-US" altLang="zh-CN" sz="1800" b="1" dirty="0">
                <a:latin typeface="微软雅黑" panose="020B0503020204020204" pitchFamily="34" charset="-122"/>
                <a:ea typeface="微软雅黑" panose="020B0503020204020204" pitchFamily="34" charset="-122"/>
              </a:rPr>
              <a:t>R</a:t>
            </a:r>
            <a:r>
              <a:rPr lang="zh-CN" altLang="en-US" sz="1800" b="1" dirty="0">
                <a:latin typeface="微软雅黑" panose="020B0503020204020204" pitchFamily="34" charset="-122"/>
                <a:ea typeface="微软雅黑" panose="020B0503020204020204" pitchFamily="34" charset="-122"/>
              </a:rPr>
              <a:t>的逻辑片段与物理映象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dirty="0">
                <a:latin typeface="微软雅黑" panose="020B0503020204020204" pitchFamily="34" charset="-122"/>
                <a:ea typeface="微软雅黑" panose="020B0503020204020204" pitchFamily="34" charset="-122"/>
              </a:rPr>
              <a:t>分布透明性</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087997" y="1870826"/>
            <a:ext cx="8183443" cy="437122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ea typeface="楷体_GB2312" pitchFamily="49" charset="-122"/>
              </a:rPr>
              <a:t>分布</a:t>
            </a:r>
            <a:r>
              <a:rPr lang="en-US" altLang="zh-CN" sz="2800" b="1" dirty="0">
                <a:ea typeface="楷体_GB2312" pitchFamily="49" charset="-122"/>
              </a:rPr>
              <a:t>(</a:t>
            </a:r>
            <a:r>
              <a:rPr lang="zh-CN" altLang="en-US" sz="2800" b="1" dirty="0">
                <a:ea typeface="楷体_GB2312" pitchFamily="49" charset="-122"/>
              </a:rPr>
              <a:t>网络</a:t>
            </a:r>
            <a:r>
              <a:rPr lang="en-US" altLang="zh-CN" sz="2800" b="1" dirty="0">
                <a:ea typeface="楷体_GB2312" pitchFamily="49" charset="-122"/>
              </a:rPr>
              <a:t>)</a:t>
            </a:r>
            <a:r>
              <a:rPr lang="zh-CN" altLang="en-US" sz="2800" b="1" dirty="0">
                <a:ea typeface="楷体_GB2312" pitchFamily="49" charset="-122"/>
              </a:rPr>
              <a:t>透明性</a:t>
            </a:r>
            <a:endParaRPr lang="zh-CN" altLang="en-US" sz="2800" b="1" dirty="0">
              <a:ea typeface="楷体_GB2312" pitchFamily="49" charset="-122"/>
            </a:endParaRPr>
          </a:p>
          <a:p>
            <a:pPr lvl="1">
              <a:lnSpc>
                <a:spcPct val="140000"/>
              </a:lnSpc>
            </a:pPr>
            <a:r>
              <a:rPr lang="zh-CN" altLang="en-US" dirty="0"/>
              <a:t>系统向用户屏蔽网络中数据分布的细节</a:t>
            </a:r>
            <a:endParaRPr lang="zh-CN" altLang="en-US" dirty="0"/>
          </a:p>
          <a:p>
            <a:pPr lvl="2">
              <a:buFont typeface="Wingdings" panose="05000000000000000000" pitchFamily="2" charset="2"/>
              <a:buChar char="ü"/>
            </a:pPr>
            <a:r>
              <a:rPr lang="zh-CN" altLang="en-US" dirty="0"/>
              <a:t>副本透明性</a:t>
            </a:r>
            <a:endParaRPr lang="zh-CN" altLang="en-US" dirty="0"/>
          </a:p>
          <a:p>
            <a:pPr lvl="2">
              <a:buFont typeface="Wingdings" panose="05000000000000000000" pitchFamily="2" charset="2"/>
              <a:buChar char="ü"/>
            </a:pPr>
            <a:r>
              <a:rPr lang="zh-CN" altLang="en-US" dirty="0"/>
              <a:t>分片透明性</a:t>
            </a:r>
            <a:endParaRPr lang="zh-CN" altLang="en-US" dirty="0"/>
          </a:p>
          <a:p>
            <a:pPr lvl="2">
              <a:buFont typeface="Wingdings" panose="05000000000000000000" pitchFamily="2" charset="2"/>
              <a:buChar char="ü"/>
            </a:pPr>
            <a:r>
              <a:rPr lang="zh-CN" altLang="en-US" dirty="0"/>
              <a:t>位置透明性</a:t>
            </a:r>
            <a:endParaRPr lang="zh-CN" altLang="en-US" dirty="0"/>
          </a:p>
          <a:p>
            <a:pPr lvl="1">
              <a:lnSpc>
                <a:spcPct val="140000"/>
              </a:lnSpc>
            </a:pPr>
            <a:r>
              <a:rPr lang="zh-CN" altLang="en-US" dirty="0"/>
              <a:t>问题</a:t>
            </a:r>
            <a:r>
              <a:rPr lang="en-US" altLang="zh-CN" dirty="0"/>
              <a:t>:</a:t>
            </a:r>
            <a:endParaRPr lang="en-US" altLang="zh-CN" dirty="0"/>
          </a:p>
          <a:p>
            <a:pPr lvl="2">
              <a:buFont typeface="Wingdings" panose="05000000000000000000" pitchFamily="2" charset="2"/>
              <a:buChar char="ü"/>
            </a:pPr>
            <a:r>
              <a:rPr lang="en-US" altLang="zh-CN" dirty="0"/>
              <a:t> </a:t>
            </a:r>
            <a:r>
              <a:rPr lang="zh-CN" altLang="en-US" dirty="0"/>
              <a:t>数据项的命名和目录管理</a:t>
            </a:r>
            <a:endParaRPr lang="zh-CN" altLang="en-US" dirty="0"/>
          </a:p>
          <a:p>
            <a:pPr lvl="2">
              <a:buFont typeface="Wingdings" panose="05000000000000000000" pitchFamily="2" charset="2"/>
              <a:buChar char="ü"/>
            </a:pPr>
            <a:r>
              <a:rPr lang="zh-CN" altLang="en-US" dirty="0"/>
              <a:t> 透明性与更新</a:t>
            </a:r>
            <a:endParaRPr lang="zh-CN" altLang="en-US" dirty="0"/>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10.3 </a:t>
            </a:r>
            <a:r>
              <a:rPr lang="zh-CN" altLang="en-US" sz="3600" b="1" dirty="0">
                <a:ea typeface="楷体_GB2312" pitchFamily="49" charset="-122"/>
              </a:rPr>
              <a:t>分布式数据库系统体系结构</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网络</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透明性</a:t>
            </a:r>
            <a:endParaRPr lang="zh-CN" altLang="en-US" sz="2800" b="1" dirty="0">
              <a:latin typeface="微软雅黑" panose="020B0503020204020204" pitchFamily="34" charset="-122"/>
              <a:ea typeface="微软雅黑" panose="020B0503020204020204" pitchFamily="34" charset="-122"/>
            </a:endParaRPr>
          </a:p>
          <a:p>
            <a:pPr lvl="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分片透明性</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全局视图和分片视图之间</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a:p>
            <a:pPr marL="457200" lvl="1" indent="0">
              <a:lnSpc>
                <a:spcPct val="150000"/>
              </a:lnSpc>
              <a:buNone/>
            </a:pPr>
            <a:r>
              <a:rPr lang="zh-CN" altLang="en-US" sz="2000" dirty="0">
                <a:latin typeface="微软雅黑" panose="020B0503020204020204" pitchFamily="34" charset="-122"/>
                <a:ea typeface="微软雅黑" panose="020B0503020204020204" pitchFamily="34" charset="-122"/>
              </a:rPr>
              <a:t>      用户或应用程序只对全局关系进行操作而不必考虑关系的分片。如果分片模式改变了，通过调整全局模式与分片模式之间的映象关系来保持全局模式不变。</a:t>
            </a:r>
            <a:endParaRPr lang="zh-CN" altLang="en-US" sz="2000" dirty="0">
              <a:latin typeface="微软雅黑" panose="020B0503020204020204" pitchFamily="34" charset="-122"/>
              <a:ea typeface="微软雅黑" panose="020B0503020204020204" pitchFamily="34" charset="-122"/>
            </a:endParaRPr>
          </a:p>
          <a:p>
            <a:pPr lvl="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位置透明性</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分片视图和分配视图之间</a:t>
            </a:r>
            <a:r>
              <a:rPr lang="en-US" altLang="zh-CN" dirty="0">
                <a:solidFill>
                  <a:srgbClr val="FF0000"/>
                </a:solidFill>
                <a:latin typeface="微软雅黑" panose="020B0503020204020204" pitchFamily="34" charset="-122"/>
                <a:ea typeface="微软雅黑" panose="020B0503020204020204" pitchFamily="34" charset="-122"/>
              </a:rPr>
              <a:t>)</a:t>
            </a:r>
            <a:endParaRPr lang="zh-CN" altLang="en-US" dirty="0">
              <a:solidFill>
                <a:srgbClr val="FF0000"/>
              </a:solidFill>
              <a:latin typeface="微软雅黑" panose="020B0503020204020204" pitchFamily="34" charset="-122"/>
              <a:ea typeface="微软雅黑" panose="020B0503020204020204" pitchFamily="34" charset="-122"/>
            </a:endParaRPr>
          </a:p>
          <a:p>
            <a:pPr marL="457200" lvl="1" indent="0">
              <a:lnSpc>
                <a:spcPct val="150000"/>
              </a:lnSpc>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用户或应用程序不必了解片段的存储位置</a:t>
            </a:r>
            <a:endParaRPr lang="zh-CN" altLang="en-US" sz="2000" dirty="0">
              <a:latin typeface="微软雅黑" panose="020B0503020204020204" pitchFamily="34" charset="-122"/>
              <a:ea typeface="微软雅黑" panose="020B0503020204020204" pitchFamily="34" charset="-122"/>
            </a:endParaRPr>
          </a:p>
          <a:p>
            <a:pPr lvl="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局部数据模型透明性</a:t>
            </a:r>
            <a:endParaRPr lang="en-US" altLang="zh-CN" dirty="0">
              <a:solidFill>
                <a:srgbClr val="FF0000"/>
              </a:solidFill>
              <a:latin typeface="微软雅黑" panose="020B0503020204020204" pitchFamily="34" charset="-122"/>
              <a:ea typeface="微软雅黑" panose="020B0503020204020204" pitchFamily="34" charset="-122"/>
            </a:endParaRPr>
          </a:p>
          <a:p>
            <a:pPr marL="457200" lvl="1" indent="0">
              <a:lnSpc>
                <a:spcPct val="150000"/>
              </a:lnSpc>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分配视图和局部概念视图之间</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用户或应用程序不必了解局部场地上使用的是哪种数据模型。</a:t>
            </a:r>
            <a:endParaRPr lang="zh-CN" altLang="en-US" sz="2000"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dirty="0">
                <a:latin typeface="微软雅黑" panose="020B0503020204020204" pitchFamily="34" charset="-122"/>
                <a:ea typeface="微软雅黑" panose="020B0503020204020204" pitchFamily="34" charset="-122"/>
              </a:rPr>
              <a:t>分布式数据库管理系统</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是一种典型的实现分布式数据管理的软件系统，用于支持分布式数据库的创建、运行、管理和维护。</a:t>
            </a:r>
            <a:endParaRPr lang="zh-CN" altLang="en-US" dirty="0">
              <a:latin typeface="微软雅黑" panose="020B0503020204020204" pitchFamily="34" charset="-122"/>
              <a:ea typeface="微软雅黑" panose="020B0503020204020204" pitchFamily="34" charset="-122"/>
            </a:endParaRPr>
          </a:p>
          <a:p>
            <a:pPr lvl="1">
              <a:lnSpc>
                <a:spcPct val="160000"/>
              </a:lnSpc>
            </a:pP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能对分布于各个场地的软、硬件资源进行统一管理和控制，使其在逻辑上可视为一个整体的数据库系统，并为用户提供与分布式数据的接口。</a:t>
            </a:r>
            <a:endParaRPr lang="zh-CN" altLang="en-US"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同时，由于数据的分布性，在管理机制上还必须具有计算机网络通信协议的分布管理特性。</a:t>
            </a:r>
            <a:endParaRPr lang="zh-CN" altLang="en-US"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a:xfrm>
            <a:off x="397163" y="1219203"/>
            <a:ext cx="5150079" cy="4419594"/>
          </a:xfrm>
        </p:spPr>
        <p:txBody>
          <a:bodyPr>
            <a:normAutofit lnSpcReduction="10000"/>
          </a:bodyPr>
          <a:lstStyle/>
          <a:p>
            <a:pPr>
              <a:lnSpc>
                <a:spcPct val="110000"/>
              </a:lnSpc>
            </a:pPr>
            <a:r>
              <a:rPr lang="zh-CN" altLang="en-US" b="1" dirty="0">
                <a:latin typeface="微软雅黑" panose="020B0503020204020204" pitchFamily="34" charset="-122"/>
                <a:ea typeface="微软雅黑" panose="020B0503020204020204" pitchFamily="34" charset="-122"/>
              </a:rPr>
              <a:t>分布式数据库管理系统的组成</a:t>
            </a:r>
            <a:endParaRPr lang="zh-CN" altLang="en-US" b="1" dirty="0">
              <a:latin typeface="微软雅黑" panose="020B0503020204020204" pitchFamily="34" charset="-122"/>
              <a:ea typeface="微软雅黑" panose="020B0503020204020204" pitchFamily="34" charset="-122"/>
            </a:endParaRPr>
          </a:p>
          <a:p>
            <a:pPr marL="457200" lvl="1" indent="0">
              <a:lnSpc>
                <a:spcPct val="160000"/>
              </a:lnSpc>
              <a:buNone/>
            </a:pPr>
            <a:r>
              <a:rPr lang="en-US" altLang="zh-CN" b="0" dirty="0">
                <a:latin typeface="微软雅黑" panose="020B0503020204020204" pitchFamily="34" charset="-122"/>
                <a:ea typeface="微软雅黑" panose="020B0503020204020204" pitchFamily="34" charset="-122"/>
              </a:rPr>
              <a:t>DDBMS</a:t>
            </a:r>
            <a:r>
              <a:rPr lang="zh-CN" altLang="en-US" b="0" dirty="0">
                <a:latin typeface="微软雅黑" panose="020B0503020204020204" pitchFamily="34" charset="-122"/>
                <a:ea typeface="微软雅黑" panose="020B0503020204020204" pitchFamily="34" charset="-122"/>
              </a:rPr>
              <a:t>一般包括</a:t>
            </a:r>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个部分：</a:t>
            </a:r>
            <a:endParaRPr lang="zh-CN" altLang="en-US" b="0" dirty="0">
              <a:latin typeface="微软雅黑" panose="020B0503020204020204" pitchFamily="34" charset="-122"/>
              <a:ea typeface="微软雅黑" panose="020B0503020204020204" pitchFamily="34" charset="-122"/>
            </a:endParaRPr>
          </a:p>
          <a:p>
            <a:pPr lvl="1" algn="l">
              <a:lnSpc>
                <a:spcPct val="130000"/>
              </a:lnSpc>
              <a:buFont typeface="Wingdings" panose="05000000000000000000" pitchFamily="2" charset="2"/>
              <a:buChar char="ü"/>
            </a:pPr>
            <a:r>
              <a:rPr lang="zh-CN" altLang="en-US" sz="2000" b="0" dirty="0">
                <a:latin typeface="微软雅黑" panose="020B0503020204020204" pitchFamily="34" charset="-122"/>
                <a:ea typeface="微软雅黑" panose="020B0503020204020204" pitchFamily="34" charset="-122"/>
              </a:rPr>
              <a:t>全局数据库管理系统</a:t>
            </a:r>
            <a:r>
              <a:rPr lang="en-US" altLang="zh-CN" sz="2000" b="0" dirty="0">
                <a:latin typeface="微软雅黑" panose="020B0503020204020204" pitchFamily="34" charset="-122"/>
                <a:ea typeface="微软雅黑" panose="020B0503020204020204" pitchFamily="34" charset="-122"/>
              </a:rPr>
              <a:t>GDBMS(Global DBMS)</a:t>
            </a:r>
            <a:endParaRPr lang="zh-CN" altLang="en-US" sz="2000" b="0" dirty="0">
              <a:latin typeface="微软雅黑" panose="020B0503020204020204" pitchFamily="34" charset="-122"/>
              <a:ea typeface="微软雅黑" panose="020B0503020204020204" pitchFamily="34" charset="-122"/>
            </a:endParaRPr>
          </a:p>
          <a:p>
            <a:pPr lvl="1" algn="l">
              <a:lnSpc>
                <a:spcPct val="130000"/>
              </a:lnSpc>
              <a:buFont typeface="Wingdings" panose="05000000000000000000" pitchFamily="2" charset="2"/>
              <a:buChar char="ü"/>
            </a:pPr>
            <a:r>
              <a:rPr lang="zh-CN" altLang="en-US" sz="2000" b="0" dirty="0">
                <a:latin typeface="微软雅黑" panose="020B0503020204020204" pitchFamily="34" charset="-122"/>
                <a:ea typeface="微软雅黑" panose="020B0503020204020204" pitchFamily="34" charset="-122"/>
              </a:rPr>
              <a:t>全局数据字典</a:t>
            </a:r>
            <a:r>
              <a:rPr lang="en-US" altLang="zh-CN" sz="2000" b="0" dirty="0">
                <a:latin typeface="微软雅黑" panose="020B0503020204020204" pitchFamily="34" charset="-122"/>
                <a:ea typeface="微软雅黑" panose="020B0503020204020204" pitchFamily="34" charset="-122"/>
              </a:rPr>
              <a:t>GDD(Global Data Dictionary)</a:t>
            </a:r>
            <a:endParaRPr lang="zh-CN" altLang="en-US" sz="2000" b="0" dirty="0">
              <a:latin typeface="微软雅黑" panose="020B0503020204020204" pitchFamily="34" charset="-122"/>
              <a:ea typeface="微软雅黑" panose="020B0503020204020204" pitchFamily="34" charset="-122"/>
            </a:endParaRPr>
          </a:p>
          <a:p>
            <a:pPr lvl="1" algn="l">
              <a:lnSpc>
                <a:spcPct val="130000"/>
              </a:lnSpc>
              <a:buFont typeface="Wingdings" panose="05000000000000000000" pitchFamily="2" charset="2"/>
              <a:buChar char="ü"/>
            </a:pPr>
            <a:r>
              <a:rPr lang="zh-CN" altLang="en-US" sz="2000" b="0" dirty="0">
                <a:latin typeface="微软雅黑" panose="020B0503020204020204" pitchFamily="34" charset="-122"/>
                <a:ea typeface="微软雅黑" panose="020B0503020204020204" pitchFamily="34" charset="-122"/>
              </a:rPr>
              <a:t>局部数据库管理系统</a:t>
            </a:r>
            <a:r>
              <a:rPr lang="en-US" altLang="zh-CN" sz="2000" b="0" dirty="0">
                <a:latin typeface="微软雅黑" panose="020B0503020204020204" pitchFamily="34" charset="-122"/>
                <a:ea typeface="微软雅黑" panose="020B0503020204020204" pitchFamily="34" charset="-122"/>
              </a:rPr>
              <a:t>LDBMS(Local DBMS)</a:t>
            </a:r>
            <a:endParaRPr lang="zh-CN" altLang="en-US" sz="2000" b="0" dirty="0">
              <a:latin typeface="微软雅黑" panose="020B0503020204020204" pitchFamily="34" charset="-122"/>
              <a:ea typeface="微软雅黑" panose="020B0503020204020204" pitchFamily="34" charset="-122"/>
            </a:endParaRPr>
          </a:p>
          <a:p>
            <a:pPr lvl="1" algn="l">
              <a:lnSpc>
                <a:spcPct val="130000"/>
              </a:lnSpc>
              <a:buFont typeface="Wingdings" panose="05000000000000000000" pitchFamily="2" charset="2"/>
              <a:buChar char="ü"/>
            </a:pPr>
            <a:r>
              <a:rPr lang="zh-CN" altLang="en-US" sz="2000" b="0" dirty="0">
                <a:latin typeface="微软雅黑" panose="020B0503020204020204" pitchFamily="34" charset="-122"/>
                <a:ea typeface="微软雅黑" panose="020B0503020204020204" pitchFamily="34" charset="-122"/>
              </a:rPr>
              <a:t>通信管理</a:t>
            </a:r>
            <a:r>
              <a:rPr lang="en-US" altLang="zh-CN" sz="2000" b="0" dirty="0">
                <a:latin typeface="微软雅黑" panose="020B0503020204020204" pitchFamily="34" charset="-122"/>
                <a:ea typeface="微软雅黑" panose="020B0503020204020204" pitchFamily="34" charset="-122"/>
              </a:rPr>
              <a:t>CM(Communication Management)</a:t>
            </a:r>
            <a:endParaRPr lang="zh-CN" altLang="en-US" sz="2000" b="0"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grpSp>
        <p:nvGrpSpPr>
          <p:cNvPr id="2" name="Group 4"/>
          <p:cNvGrpSpPr/>
          <p:nvPr/>
        </p:nvGrpSpPr>
        <p:grpSpPr>
          <a:xfrm>
            <a:off x="5547242" y="1998659"/>
            <a:ext cx="6466122" cy="3024188"/>
            <a:chOff x="3072" y="6855"/>
            <a:chExt cx="4500" cy="4725"/>
          </a:xfrm>
        </p:grpSpPr>
        <p:sp>
          <p:nvSpPr>
            <p:cNvPr id="6" name="Oval 5"/>
            <p:cNvSpPr/>
            <p:nvPr/>
          </p:nvSpPr>
          <p:spPr>
            <a:xfrm>
              <a:off x="6092" y="10206"/>
              <a:ext cx="1440" cy="780"/>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8" name="AutoShape 6"/>
            <p:cNvSpPr/>
            <p:nvPr/>
          </p:nvSpPr>
          <p:spPr>
            <a:xfrm>
              <a:off x="4677" y="9396"/>
              <a:ext cx="1440" cy="1092"/>
            </a:xfrm>
            <a:prstGeom prst="cloudCallout">
              <a:avLst>
                <a:gd name="adj1" fmla="val 16389"/>
                <a:gd name="adj2" fmla="val 16574"/>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80000"/>
                </a:lnSpc>
                <a:spcBef>
                  <a:spcPct val="0"/>
                </a:spcBef>
                <a:buClrTx/>
                <a:buFontTx/>
                <a:buNone/>
              </a:pPr>
              <a:endParaRPr lang="zh-CN" altLang="en-US" sz="700" dirty="0">
                <a:latin typeface="Times New Roman" panose="02020603050405020304" pitchFamily="18" charset="0"/>
              </a:endParaRPr>
            </a:p>
            <a:p>
              <a:pPr marL="0" lvl="0" indent="0" algn="ctr" eaLnBrk="1" hangingPunct="1">
                <a:lnSpc>
                  <a:spcPct val="80000"/>
                </a:lnSpc>
                <a:spcBef>
                  <a:spcPct val="0"/>
                </a:spcBef>
                <a:buClrTx/>
                <a:buFontTx/>
                <a:buNone/>
              </a:pPr>
              <a:r>
                <a:rPr lang="zh-CN" altLang="en-US" sz="2000" b="1" dirty="0">
                  <a:latin typeface="Times New Roman" panose="02020603050405020304" pitchFamily="18" charset="0"/>
                </a:rPr>
                <a:t>网络</a:t>
              </a:r>
              <a:endParaRPr lang="zh-CN" altLang="en-US" sz="2000" b="1" dirty="0">
                <a:latin typeface="Times New Roman" panose="02020603050405020304" pitchFamily="18" charset="0"/>
              </a:endParaRPr>
            </a:p>
          </p:txBody>
        </p:sp>
        <p:sp>
          <p:nvSpPr>
            <p:cNvPr id="9" name="Rectangle 7"/>
            <p:cNvSpPr/>
            <p:nvPr/>
          </p:nvSpPr>
          <p:spPr>
            <a:xfrm>
              <a:off x="6657" y="10332"/>
              <a:ext cx="720" cy="46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b="1" dirty="0">
                  <a:latin typeface="Times New Roman" panose="02020603050405020304" pitchFamily="18" charset="0"/>
                </a:rPr>
                <a:t>场地</a:t>
              </a:r>
              <a:r>
                <a:rPr lang="en-US" altLang="zh-CN" sz="2000" b="1" dirty="0">
                  <a:latin typeface="Times New Roman" panose="02020603050405020304" pitchFamily="18" charset="0"/>
                </a:rPr>
                <a:t>3</a:t>
              </a:r>
              <a:endParaRPr lang="en-US" altLang="zh-CN" sz="2000" b="1" dirty="0">
                <a:latin typeface="Times New Roman" panose="02020603050405020304" pitchFamily="18" charset="0"/>
              </a:endParaRPr>
            </a:p>
          </p:txBody>
        </p:sp>
        <p:sp>
          <p:nvSpPr>
            <p:cNvPr id="10" name="Rectangle 8"/>
            <p:cNvSpPr/>
            <p:nvPr/>
          </p:nvSpPr>
          <p:spPr>
            <a:xfrm>
              <a:off x="3072" y="11112"/>
              <a:ext cx="4500" cy="46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r>
                <a:rPr lang="en-US" altLang="zh-CN" sz="2000" b="1" dirty="0">
                  <a:latin typeface="Times New Roman" panose="02020603050405020304" pitchFamily="18" charset="0"/>
                </a:rPr>
                <a:t> DDBMS</a:t>
              </a:r>
              <a:r>
                <a:rPr lang="zh-CN" altLang="en-US" sz="2000" b="1" dirty="0">
                  <a:latin typeface="Times New Roman" panose="02020603050405020304" pitchFamily="18" charset="0"/>
                </a:rPr>
                <a:t>结构图</a:t>
              </a:r>
              <a:endParaRPr lang="zh-CN" altLang="en-US" sz="2000" b="1" dirty="0">
                <a:latin typeface="Times New Roman" panose="02020603050405020304" pitchFamily="18" charset="0"/>
              </a:endParaRPr>
            </a:p>
          </p:txBody>
        </p:sp>
        <p:sp>
          <p:nvSpPr>
            <p:cNvPr id="11" name="Line 9"/>
            <p:cNvSpPr/>
            <p:nvPr/>
          </p:nvSpPr>
          <p:spPr>
            <a:xfrm>
              <a:off x="5397" y="8508"/>
              <a:ext cx="0" cy="924"/>
            </a:xfrm>
            <a:prstGeom prst="line">
              <a:avLst/>
            </a:prstGeom>
            <a:ln w="9525" cap="flat" cmpd="sng">
              <a:solidFill>
                <a:srgbClr val="000000"/>
              </a:solidFill>
              <a:prstDash val="solid"/>
              <a:headEnd type="none" w="med" len="med"/>
              <a:tailEnd type="none" w="med" len="med"/>
            </a:ln>
          </p:spPr>
        </p:sp>
        <p:sp>
          <p:nvSpPr>
            <p:cNvPr id="12" name="Line 10"/>
            <p:cNvSpPr/>
            <p:nvPr/>
          </p:nvSpPr>
          <p:spPr>
            <a:xfrm flipH="1">
              <a:off x="4407" y="10161"/>
              <a:ext cx="285" cy="171"/>
            </a:xfrm>
            <a:prstGeom prst="line">
              <a:avLst/>
            </a:prstGeom>
            <a:ln w="9525" cap="flat" cmpd="sng">
              <a:solidFill>
                <a:srgbClr val="000000"/>
              </a:solidFill>
              <a:prstDash val="solid"/>
              <a:headEnd type="none" w="med" len="med"/>
              <a:tailEnd type="none" w="med" len="med"/>
            </a:ln>
          </p:spPr>
        </p:sp>
        <p:sp>
          <p:nvSpPr>
            <p:cNvPr id="13" name="Line 11"/>
            <p:cNvSpPr/>
            <p:nvPr/>
          </p:nvSpPr>
          <p:spPr>
            <a:xfrm>
              <a:off x="5937" y="10191"/>
              <a:ext cx="285" cy="156"/>
            </a:xfrm>
            <a:prstGeom prst="line">
              <a:avLst/>
            </a:prstGeom>
            <a:ln w="9525" cap="flat" cmpd="sng">
              <a:solidFill>
                <a:srgbClr val="000000"/>
              </a:solidFill>
              <a:prstDash val="solid"/>
              <a:headEnd type="none" w="med" len="med"/>
              <a:tailEnd type="none" w="med" len="med"/>
            </a:ln>
          </p:spPr>
        </p:sp>
        <p:grpSp>
          <p:nvGrpSpPr>
            <p:cNvPr id="14" name="Group 12"/>
            <p:cNvGrpSpPr/>
            <p:nvPr/>
          </p:nvGrpSpPr>
          <p:grpSpPr>
            <a:xfrm>
              <a:off x="3417" y="6855"/>
              <a:ext cx="3960" cy="2184"/>
              <a:chOff x="3417" y="7791"/>
              <a:chExt cx="3960" cy="2184"/>
            </a:xfrm>
          </p:grpSpPr>
          <p:sp>
            <p:nvSpPr>
              <p:cNvPr id="17" name="Oval 13"/>
              <p:cNvSpPr/>
              <p:nvPr/>
            </p:nvSpPr>
            <p:spPr>
              <a:xfrm>
                <a:off x="3417" y="7791"/>
                <a:ext cx="3960" cy="218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18" name="Rectangle 14"/>
              <p:cNvSpPr/>
              <p:nvPr/>
            </p:nvSpPr>
            <p:spPr>
              <a:xfrm>
                <a:off x="3957" y="7992"/>
                <a:ext cx="720" cy="46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b="1" dirty="0">
                    <a:latin typeface="Times New Roman" panose="02020603050405020304" pitchFamily="18" charset="0"/>
                  </a:rPr>
                  <a:t>场地</a:t>
                </a:r>
                <a:r>
                  <a:rPr lang="en-US" altLang="zh-CN" sz="2000" b="1" dirty="0">
                    <a:latin typeface="Times New Roman" panose="02020603050405020304" pitchFamily="18" charset="0"/>
                  </a:rPr>
                  <a:t>1</a:t>
                </a:r>
                <a:endParaRPr lang="en-US" altLang="zh-CN" sz="2000" b="1" dirty="0">
                  <a:latin typeface="Times New Roman" panose="02020603050405020304" pitchFamily="18" charset="0"/>
                </a:endParaRPr>
              </a:p>
            </p:txBody>
          </p:sp>
          <p:sp>
            <p:nvSpPr>
              <p:cNvPr id="19" name="AutoShape 15"/>
              <p:cNvSpPr/>
              <p:nvPr/>
            </p:nvSpPr>
            <p:spPr>
              <a:xfrm>
                <a:off x="5112" y="7877"/>
                <a:ext cx="621" cy="468"/>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72000"/>
                  </a:lnSpc>
                  <a:spcBef>
                    <a:spcPct val="0"/>
                  </a:spcBef>
                  <a:buClrTx/>
                  <a:buFontTx/>
                  <a:buNone/>
                </a:pPr>
                <a:r>
                  <a:rPr lang="zh-CN" altLang="en-US" sz="1600" b="1" dirty="0">
                    <a:latin typeface="Times New Roman" panose="02020603050405020304" pitchFamily="18" charset="0"/>
                  </a:rPr>
                  <a:t>ＬＤＢ</a:t>
                </a:r>
                <a:endParaRPr lang="zh-CN" altLang="en-US" sz="1600" b="1" dirty="0">
                  <a:latin typeface="Times New Roman" panose="02020603050405020304" pitchFamily="18" charset="0"/>
                </a:endParaRPr>
              </a:p>
            </p:txBody>
          </p:sp>
          <p:sp>
            <p:nvSpPr>
              <p:cNvPr id="20" name="Rectangle 16"/>
              <p:cNvSpPr/>
              <p:nvPr/>
            </p:nvSpPr>
            <p:spPr>
              <a:xfrm>
                <a:off x="4857" y="8591"/>
                <a:ext cx="1080" cy="286"/>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64000"/>
                  </a:lnSpc>
                  <a:spcBef>
                    <a:spcPct val="0"/>
                  </a:spcBef>
                  <a:buClrTx/>
                  <a:buFontTx/>
                  <a:buNone/>
                </a:pPr>
                <a:r>
                  <a:rPr lang="en-US" altLang="zh-CN" sz="1600" b="1" dirty="0">
                    <a:latin typeface="Times New Roman" panose="02020603050405020304" pitchFamily="18" charset="0"/>
                  </a:rPr>
                  <a:t>LDBMS</a:t>
                </a:r>
                <a:endParaRPr lang="en-US" altLang="zh-CN" sz="1600" b="1" dirty="0">
                  <a:latin typeface="Times New Roman" panose="02020603050405020304" pitchFamily="18" charset="0"/>
                </a:endParaRPr>
              </a:p>
            </p:txBody>
          </p:sp>
          <p:sp>
            <p:nvSpPr>
              <p:cNvPr id="21" name="Rectangle 17"/>
              <p:cNvSpPr/>
              <p:nvPr/>
            </p:nvSpPr>
            <p:spPr>
              <a:xfrm>
                <a:off x="4857" y="8873"/>
                <a:ext cx="1080" cy="28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64000"/>
                  </a:lnSpc>
                  <a:spcBef>
                    <a:spcPct val="0"/>
                  </a:spcBef>
                  <a:buClrTx/>
                  <a:buFontTx/>
                  <a:buNone/>
                </a:pPr>
                <a:r>
                  <a:rPr lang="en-US" altLang="zh-CN" sz="1600" b="1" dirty="0">
                    <a:latin typeface="Times New Roman" panose="02020603050405020304" pitchFamily="18" charset="0"/>
                  </a:rPr>
                  <a:t>GDBMS</a:t>
                </a:r>
                <a:endParaRPr lang="en-US" altLang="zh-CN" sz="1600" b="1" dirty="0">
                  <a:latin typeface="Times New Roman" panose="02020603050405020304" pitchFamily="18" charset="0"/>
                </a:endParaRPr>
              </a:p>
            </p:txBody>
          </p:sp>
          <p:sp>
            <p:nvSpPr>
              <p:cNvPr id="22" name="Rectangle 18"/>
              <p:cNvSpPr/>
              <p:nvPr/>
            </p:nvSpPr>
            <p:spPr>
              <a:xfrm>
                <a:off x="4857" y="9155"/>
                <a:ext cx="1080" cy="28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64000"/>
                  </a:lnSpc>
                  <a:spcBef>
                    <a:spcPct val="0"/>
                  </a:spcBef>
                  <a:buClrTx/>
                  <a:buFontTx/>
                  <a:buNone/>
                </a:pPr>
                <a:r>
                  <a:rPr lang="en-US" altLang="zh-CN" sz="1600" b="1" dirty="0">
                    <a:latin typeface="Times New Roman" panose="02020603050405020304" pitchFamily="18" charset="0"/>
                  </a:rPr>
                  <a:t>CM</a:t>
                </a:r>
                <a:endParaRPr lang="en-US" altLang="zh-CN" sz="1600" b="1" dirty="0">
                  <a:latin typeface="Times New Roman" panose="02020603050405020304" pitchFamily="18" charset="0"/>
                </a:endParaRPr>
              </a:p>
            </p:txBody>
          </p:sp>
          <p:sp>
            <p:nvSpPr>
              <p:cNvPr id="23" name="Rectangle 19"/>
              <p:cNvSpPr/>
              <p:nvPr/>
            </p:nvSpPr>
            <p:spPr>
              <a:xfrm>
                <a:off x="3505" y="8873"/>
                <a:ext cx="992" cy="283"/>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64000"/>
                  </a:lnSpc>
                  <a:spcBef>
                    <a:spcPct val="0"/>
                  </a:spcBef>
                  <a:buClrTx/>
                  <a:buFontTx/>
                  <a:buNone/>
                </a:pPr>
                <a:r>
                  <a:rPr lang="zh-CN" altLang="en-US" sz="1600" b="1" dirty="0">
                    <a:latin typeface="Times New Roman" panose="02020603050405020304" pitchFamily="18" charset="0"/>
                  </a:rPr>
                  <a:t>用户／ＤＢＡ</a:t>
                </a:r>
                <a:endParaRPr lang="zh-CN" altLang="en-US" sz="1600" b="1" dirty="0">
                  <a:latin typeface="Times New Roman" panose="02020603050405020304" pitchFamily="18" charset="0"/>
                </a:endParaRPr>
              </a:p>
            </p:txBody>
          </p:sp>
          <p:sp>
            <p:nvSpPr>
              <p:cNvPr id="24" name="Line 20"/>
              <p:cNvSpPr/>
              <p:nvPr/>
            </p:nvSpPr>
            <p:spPr>
              <a:xfrm>
                <a:off x="4497" y="9029"/>
                <a:ext cx="360" cy="0"/>
              </a:xfrm>
              <a:prstGeom prst="line">
                <a:avLst/>
              </a:prstGeom>
              <a:ln w="9525" cap="flat" cmpd="sng">
                <a:solidFill>
                  <a:srgbClr val="000000"/>
                </a:solidFill>
                <a:prstDash val="solid"/>
                <a:headEnd type="none" w="med" len="med"/>
                <a:tailEnd type="none" w="med" len="med"/>
              </a:ln>
            </p:spPr>
          </p:sp>
          <p:sp>
            <p:nvSpPr>
              <p:cNvPr id="25" name="AutoShape 21"/>
              <p:cNvSpPr/>
              <p:nvPr/>
            </p:nvSpPr>
            <p:spPr>
              <a:xfrm>
                <a:off x="6477" y="8777"/>
                <a:ext cx="540" cy="468"/>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lnSpc>
                    <a:spcPct val="72000"/>
                  </a:lnSpc>
                  <a:spcBef>
                    <a:spcPct val="0"/>
                  </a:spcBef>
                  <a:buClrTx/>
                  <a:buFontTx/>
                  <a:buNone/>
                </a:pPr>
                <a:r>
                  <a:rPr lang="en-US" altLang="zh-CN" sz="2000" b="1" dirty="0">
                    <a:latin typeface="Times New Roman" panose="02020603050405020304" pitchFamily="18" charset="0"/>
                  </a:rPr>
                  <a:t>GDD</a:t>
                </a:r>
                <a:endParaRPr lang="en-US" altLang="zh-CN" sz="2000" b="1" dirty="0">
                  <a:latin typeface="Times New Roman" panose="02020603050405020304" pitchFamily="18" charset="0"/>
                </a:endParaRPr>
              </a:p>
            </p:txBody>
          </p:sp>
          <p:sp>
            <p:nvSpPr>
              <p:cNvPr id="26" name="Line 22"/>
              <p:cNvSpPr/>
              <p:nvPr/>
            </p:nvSpPr>
            <p:spPr>
              <a:xfrm>
                <a:off x="5937" y="9029"/>
                <a:ext cx="539" cy="0"/>
              </a:xfrm>
              <a:prstGeom prst="line">
                <a:avLst/>
              </a:prstGeom>
              <a:ln w="9525" cap="flat" cmpd="sng">
                <a:solidFill>
                  <a:srgbClr val="000000"/>
                </a:solidFill>
                <a:prstDash val="solid"/>
                <a:headEnd type="none" w="med" len="med"/>
                <a:tailEnd type="none" w="med" len="med"/>
              </a:ln>
            </p:spPr>
          </p:sp>
          <p:sp>
            <p:nvSpPr>
              <p:cNvPr id="27" name="Line 23"/>
              <p:cNvSpPr/>
              <p:nvPr/>
            </p:nvSpPr>
            <p:spPr>
              <a:xfrm flipV="1">
                <a:off x="5397" y="8339"/>
                <a:ext cx="0" cy="255"/>
              </a:xfrm>
              <a:prstGeom prst="line">
                <a:avLst/>
              </a:prstGeom>
              <a:ln w="9525" cap="flat" cmpd="sng">
                <a:solidFill>
                  <a:srgbClr val="000000"/>
                </a:solidFill>
                <a:prstDash val="solid"/>
                <a:headEnd type="none" w="med" len="med"/>
                <a:tailEnd type="none" w="med" len="med"/>
              </a:ln>
            </p:spPr>
          </p:sp>
        </p:grpSp>
        <p:sp>
          <p:nvSpPr>
            <p:cNvPr id="15" name="Oval 24"/>
            <p:cNvSpPr/>
            <p:nvPr/>
          </p:nvSpPr>
          <p:spPr>
            <a:xfrm>
              <a:off x="3118" y="10191"/>
              <a:ext cx="1440" cy="780"/>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16" name="Rectangle 25"/>
            <p:cNvSpPr/>
            <p:nvPr/>
          </p:nvSpPr>
          <p:spPr>
            <a:xfrm>
              <a:off x="3237" y="10323"/>
              <a:ext cx="720" cy="46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b="1" dirty="0">
                  <a:latin typeface="Times New Roman" panose="02020603050405020304" pitchFamily="18" charset="0"/>
                </a:rPr>
                <a:t>场地</a:t>
              </a:r>
              <a:r>
                <a:rPr lang="en-US" altLang="zh-CN" sz="2000" b="1" dirty="0">
                  <a:latin typeface="Times New Roman" panose="02020603050405020304" pitchFamily="18" charset="0"/>
                </a:rPr>
                <a:t>2</a:t>
              </a:r>
              <a:endParaRPr lang="en-US" altLang="zh-CN" sz="2000" b="1" dirty="0">
                <a:latin typeface="Times New Roman" panose="02020603050405020304" pitchFamily="18"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分布式数据库管理系统的组成</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全局数据库管理系统</a:t>
            </a:r>
            <a:r>
              <a:rPr lang="en-US" altLang="zh-CN" dirty="0">
                <a:latin typeface="微软雅黑" panose="020B0503020204020204" pitchFamily="34" charset="-122"/>
                <a:ea typeface="微软雅黑" panose="020B0503020204020204" pitchFamily="34" charset="-122"/>
              </a:rPr>
              <a:t>GDBMS </a:t>
            </a:r>
            <a:endParaRPr lang="en-US" altLang="zh-CN" dirty="0">
              <a:latin typeface="微软雅黑" panose="020B0503020204020204" pitchFamily="34" charset="-122"/>
              <a:ea typeface="微软雅黑" panose="020B0503020204020204" pitchFamily="34" charset="-122"/>
            </a:endParaRPr>
          </a:p>
          <a:p>
            <a:pPr marL="457200" lvl="1" indent="0">
              <a:lnSpc>
                <a:spcPct val="160000"/>
              </a:lnSpc>
              <a:buNone/>
            </a:pPr>
            <a:r>
              <a:rPr lang="en-US" altLang="zh-CN" sz="2000" dirty="0">
                <a:latin typeface="微软雅黑" panose="020B0503020204020204" pitchFamily="34" charset="-122"/>
                <a:ea typeface="微软雅黑" panose="020B0503020204020204" pitchFamily="34" charset="-122"/>
              </a:rPr>
              <a:t>GDBMS</a:t>
            </a:r>
            <a:r>
              <a:rPr lang="zh-CN" altLang="en-US" sz="2000" dirty="0">
                <a:latin typeface="微软雅黑" panose="020B0503020204020204" pitchFamily="34" charset="-122"/>
                <a:ea typeface="微软雅黑" panose="020B0503020204020204" pitchFamily="34" charset="-122"/>
              </a:rPr>
              <a:t>是</a:t>
            </a:r>
            <a:r>
              <a:rPr lang="en-US" altLang="zh-CN" sz="2000" dirty="0">
                <a:latin typeface="微软雅黑" panose="020B0503020204020204" pitchFamily="34" charset="-122"/>
                <a:ea typeface="微软雅黑" panose="020B0503020204020204" pitchFamily="34" charset="-122"/>
              </a:rPr>
              <a:t>DDBMS</a:t>
            </a:r>
            <a:r>
              <a:rPr lang="zh-CN" altLang="en-US" sz="2000" dirty="0">
                <a:latin typeface="微软雅黑" panose="020B0503020204020204" pitchFamily="34" charset="-122"/>
                <a:ea typeface="微软雅黑" panose="020B0503020204020204" pitchFamily="34" charset="-122"/>
              </a:rPr>
              <a:t>的核心，负责提供分布透明性，协调全局事务的执行及协调各场地上的</a:t>
            </a:r>
            <a:r>
              <a:rPr lang="en-US" altLang="zh-CN" sz="2000" dirty="0">
                <a:latin typeface="微软雅黑" panose="020B0503020204020204" pitchFamily="34" charset="-122"/>
                <a:ea typeface="微软雅黑" panose="020B0503020204020204" pitchFamily="34" charset="-122"/>
              </a:rPr>
              <a:t>LDBMS</a:t>
            </a:r>
            <a:r>
              <a:rPr lang="zh-CN" altLang="en-US" sz="2000" dirty="0">
                <a:latin typeface="微软雅黑" panose="020B0503020204020204" pitchFamily="34" charset="-122"/>
                <a:ea typeface="微软雅黑" panose="020B0503020204020204" pitchFamily="34" charset="-122"/>
              </a:rPr>
              <a:t>共同完成全局应用，</a:t>
            </a:r>
            <a:r>
              <a:rPr lang="en-US" altLang="zh-CN" sz="2000" dirty="0">
                <a:latin typeface="微软雅黑" panose="020B0503020204020204" pitchFamily="34" charset="-122"/>
                <a:ea typeface="微软雅黑" panose="020B0503020204020204" pitchFamily="34" charset="-122"/>
              </a:rPr>
              <a:t>GDBMS</a:t>
            </a:r>
            <a:r>
              <a:rPr lang="zh-CN" altLang="en-US" sz="2000" dirty="0">
                <a:latin typeface="微软雅黑" panose="020B0503020204020204" pitchFamily="34" charset="-122"/>
                <a:ea typeface="微软雅黑" panose="020B0503020204020204" pitchFamily="34" charset="-122"/>
              </a:rPr>
              <a:t>通常包括</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用户接口层</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提供一个用于检验用户身份的接口，用户的应用程序经用户接口处理，作为一个全局事务由</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执行。 </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语言处理层</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负责查询语言的语法、词法分析，把查询语句转换成某种内部表示形式，如用语法树表示查询。</a:t>
            </a:r>
            <a:endParaRPr lang="zh-CN" altLang="en-US"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分布式数据库管理系统的组成</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全局数据库管理系统</a:t>
            </a:r>
            <a:r>
              <a:rPr lang="en-US" altLang="zh-CN" dirty="0">
                <a:latin typeface="微软雅黑" panose="020B0503020204020204" pitchFamily="34" charset="-122"/>
                <a:ea typeface="微软雅黑" panose="020B0503020204020204" pitchFamily="34" charset="-122"/>
              </a:rPr>
              <a:t>GDBMS </a:t>
            </a:r>
            <a:endParaRPr lang="en-US" altLang="zh-CN"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(3)</a:t>
            </a:r>
            <a:r>
              <a:rPr lang="zh-CN" altLang="en-US" dirty="0">
                <a:solidFill>
                  <a:srgbClr val="FF0000"/>
                </a:solidFill>
                <a:latin typeface="微软雅黑" panose="020B0503020204020204" pitchFamily="34" charset="-122"/>
                <a:ea typeface="微软雅黑" panose="020B0503020204020204" pitchFamily="34" charset="-122"/>
              </a:rPr>
              <a:t>分布式数据管理层</a:t>
            </a:r>
            <a:endParaRPr lang="zh-CN" altLang="en-US"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主要完成查询分解、优化和确定查询计划。</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(4)</a:t>
            </a:r>
            <a:r>
              <a:rPr lang="zh-CN" altLang="en-US" dirty="0">
                <a:solidFill>
                  <a:srgbClr val="FF0000"/>
                </a:solidFill>
                <a:latin typeface="微软雅黑" panose="020B0503020204020204" pitchFamily="34" charset="-122"/>
                <a:ea typeface="微软雅黑" panose="020B0503020204020204" pitchFamily="34" charset="-122"/>
              </a:rPr>
              <a:t>分布式事务管理层</a:t>
            </a:r>
            <a:endParaRPr lang="zh-CN" altLang="en-US"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用于对分布式事务进行并发控制，并提供全局恢复功能。</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(5)</a:t>
            </a:r>
            <a:r>
              <a:rPr lang="zh-CN" altLang="en-US" dirty="0">
                <a:solidFill>
                  <a:srgbClr val="FF0000"/>
                </a:solidFill>
                <a:latin typeface="微软雅黑" panose="020B0503020204020204" pitchFamily="34" charset="-122"/>
                <a:ea typeface="微软雅黑" panose="020B0503020204020204" pitchFamily="34" charset="-122"/>
              </a:rPr>
              <a:t>全局数据与局部数据之间转换层</a:t>
            </a:r>
            <a:endParaRPr lang="zh-CN" altLang="en-US" dirty="0">
              <a:solidFill>
                <a:srgbClr val="FF0000"/>
              </a:solidFill>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对异构系统，需将数据转换成系统可接受的形式</a:t>
            </a:r>
            <a:endParaRPr lang="zh-CN" altLang="en-US"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具体的转换有：数据模型的转换；数字代码格式、字长、精度、单位等的转换；操作命令、完整性规则、安全性规则的转换等。</a:t>
            </a:r>
            <a:endParaRPr lang="zh-CN" altLang="en-US"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分布式数据库管理系统的组成</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全局数据字典</a:t>
            </a:r>
            <a:r>
              <a:rPr lang="en-US" altLang="zh-CN" dirty="0">
                <a:latin typeface="微软雅黑" panose="020B0503020204020204" pitchFamily="34" charset="-122"/>
                <a:ea typeface="微软雅黑" panose="020B0503020204020204" pitchFamily="34" charset="-122"/>
              </a:rPr>
              <a:t>GDD </a:t>
            </a:r>
            <a:endParaRPr lang="en-US" altLang="zh-CN" dirty="0">
              <a:latin typeface="微软雅黑" panose="020B0503020204020204" pitchFamily="34" charset="-122"/>
              <a:ea typeface="微软雅黑" panose="020B0503020204020204" pitchFamily="34" charset="-122"/>
            </a:endParaRPr>
          </a:p>
          <a:p>
            <a:pPr lvl="2"/>
            <a:r>
              <a:rPr lang="en-US" altLang="zh-CN" sz="2100" dirty="0">
                <a:latin typeface="微软雅黑" panose="020B0503020204020204" pitchFamily="34" charset="-122"/>
                <a:ea typeface="微软雅黑" panose="020B0503020204020204" pitchFamily="34" charset="-122"/>
              </a:rPr>
              <a:t>GDD</a:t>
            </a:r>
            <a:r>
              <a:rPr lang="zh-CN" altLang="en-US" sz="2100" dirty="0">
                <a:latin typeface="微软雅黑" panose="020B0503020204020204" pitchFamily="34" charset="-122"/>
                <a:ea typeface="微软雅黑" panose="020B0503020204020204" pitchFamily="34" charset="-122"/>
              </a:rPr>
              <a:t>负责提供系统的各种描述、管理和控制信息。如为系统提供各级模式描述、网络描述、存取权限、事务优先级、完整性约束与相容性约束、数据的分割及其定义、副本数据及其所在场地、存取路径、死锁检测、预防及故障恢复，与数据库运行质量有关的统计信息等。</a:t>
            </a:r>
            <a:endParaRPr lang="zh-CN" altLang="en-US" sz="2100" dirty="0">
              <a:latin typeface="微软雅黑" panose="020B0503020204020204" pitchFamily="34" charset="-122"/>
              <a:ea typeface="微软雅黑" panose="020B0503020204020204" pitchFamily="34" charset="-122"/>
            </a:endParaRPr>
          </a:p>
          <a:p>
            <a:pPr lvl="2"/>
            <a:r>
              <a:rPr lang="zh-CN" altLang="en-US" sz="2100" dirty="0">
                <a:latin typeface="微软雅黑" panose="020B0503020204020204" pitchFamily="34" charset="-122"/>
                <a:ea typeface="微软雅黑" panose="020B0503020204020204" pitchFamily="34" charset="-122"/>
              </a:rPr>
              <a:t>由于数据是分布的，因此数据字典也存在一个分布策略及管理问题 </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数据字典中的数据与冗余也需要进行优化。</a:t>
            </a:r>
            <a:endParaRPr lang="zh-CN" altLang="en-US" sz="2100" dirty="0">
              <a:latin typeface="微软雅黑" panose="020B0503020204020204" pitchFamily="34" charset="-122"/>
              <a:ea typeface="微软雅黑" panose="020B0503020204020204" pitchFamily="34" charset="-122"/>
            </a:endParaRPr>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分布式数据库管理系统的组成</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局部数据库管理系统</a:t>
            </a:r>
            <a:r>
              <a:rPr lang="en-US" altLang="zh-CN" dirty="0">
                <a:latin typeface="微软雅黑" panose="020B0503020204020204" pitchFamily="34" charset="-122"/>
                <a:ea typeface="微软雅黑" panose="020B0503020204020204" pitchFamily="34" charset="-122"/>
              </a:rPr>
              <a:t>LDBMS  </a:t>
            </a:r>
            <a:endParaRPr lang="en-US" altLang="zh-CN" dirty="0">
              <a:latin typeface="微软雅黑" panose="020B0503020204020204" pitchFamily="34" charset="-122"/>
              <a:ea typeface="微软雅黑" panose="020B0503020204020204" pitchFamily="34" charset="-122"/>
            </a:endParaRPr>
          </a:p>
          <a:p>
            <a:pPr marL="914400" lvl="2" indent="0">
              <a:buNone/>
            </a:pPr>
            <a:r>
              <a:rPr lang="en-US" altLang="zh-CN" sz="2100" dirty="0">
                <a:latin typeface="微软雅黑" panose="020B0503020204020204" pitchFamily="34" charset="-122"/>
                <a:ea typeface="微软雅黑" panose="020B0503020204020204" pitchFamily="34" charset="-122"/>
              </a:rPr>
              <a:t>LDBMS</a:t>
            </a:r>
            <a:r>
              <a:rPr lang="zh-CN" altLang="en-US" sz="2100" dirty="0">
                <a:latin typeface="微软雅黑" panose="020B0503020204020204" pitchFamily="34" charset="-122"/>
                <a:ea typeface="微软雅黑" panose="020B0503020204020204" pitchFamily="34" charset="-122"/>
              </a:rPr>
              <a:t>用来建立和管理各场地上的局部数据库</a:t>
            </a:r>
            <a:r>
              <a:rPr lang="en-US" altLang="zh-CN" sz="2100" dirty="0">
                <a:latin typeface="微软雅黑" panose="020B0503020204020204" pitchFamily="34" charset="-122"/>
                <a:ea typeface="微软雅黑" panose="020B0503020204020204" pitchFamily="34" charset="-122"/>
              </a:rPr>
              <a:t>LDB</a:t>
            </a:r>
            <a:r>
              <a:rPr lang="zh-CN" altLang="en-US" sz="2100" dirty="0">
                <a:latin typeface="微软雅黑" panose="020B0503020204020204" pitchFamily="34" charset="-122"/>
                <a:ea typeface="微软雅黑" panose="020B0503020204020204" pitchFamily="34" charset="-122"/>
              </a:rPr>
              <a:t>，提供场地的自治能力，可执行局部应用和全局查询的子查询。</a:t>
            </a:r>
            <a:endParaRPr lang="zh-CN" altLang="en-US" sz="2100"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通信管理</a:t>
            </a:r>
            <a:r>
              <a:rPr lang="en-US" altLang="zh-CN" dirty="0">
                <a:latin typeface="微软雅黑" panose="020B0503020204020204" pitchFamily="34" charset="-122"/>
                <a:ea typeface="微软雅黑" panose="020B0503020204020204" pitchFamily="34" charset="-122"/>
              </a:rPr>
              <a:t>CM </a:t>
            </a:r>
            <a:endParaRPr lang="en-US" altLang="zh-CN" dirty="0">
              <a:latin typeface="微软雅黑" panose="020B0503020204020204" pitchFamily="34" charset="-122"/>
              <a:ea typeface="微软雅黑" panose="020B0503020204020204" pitchFamily="34" charset="-122"/>
            </a:endParaRPr>
          </a:p>
          <a:p>
            <a:pPr marL="914400" lvl="2" indent="0">
              <a:buNone/>
            </a:pPr>
            <a:r>
              <a:rPr lang="en-US" altLang="zh-CN" sz="2100" dirty="0">
                <a:latin typeface="微软雅黑" panose="020B0503020204020204" pitchFamily="34" charset="-122"/>
                <a:ea typeface="微软雅黑" panose="020B0503020204020204" pitchFamily="34" charset="-122"/>
              </a:rPr>
              <a:t>CM</a:t>
            </a:r>
            <a:r>
              <a:rPr lang="zh-CN" altLang="en-US" sz="2100" dirty="0">
                <a:latin typeface="微软雅黑" panose="020B0503020204020204" pitchFamily="34" charset="-122"/>
                <a:ea typeface="微软雅黑" panose="020B0503020204020204" pitchFamily="34" charset="-122"/>
              </a:rPr>
              <a:t>遵循网络协议，实现各场地之间数据的可靠传送，完成系统的通信功能。 </a:t>
            </a:r>
            <a:endParaRPr lang="zh-CN" altLang="en-US" sz="2100" dirty="0">
              <a:latin typeface="微软雅黑" panose="020B0503020204020204" pitchFamily="34" charset="-122"/>
              <a:ea typeface="微软雅黑" panose="020B0503020204020204" pitchFamily="34" charset="-122"/>
            </a:endParaRPr>
          </a:p>
          <a:p>
            <a:pPr marL="914400" lvl="2" indent="0">
              <a:buNone/>
            </a:pPr>
            <a:endParaRPr lang="zh-CN" altLang="en-US" sz="2100" dirty="0"/>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a:t>
            </a:r>
            <a:r>
              <a:rPr lang="zh-CN" altLang="en-US" sz="2800" b="1" dirty="0">
                <a:latin typeface="楷体_GB2312" pitchFamily="49" charset="-122"/>
                <a:ea typeface="楷体_GB2312" pitchFamily="49" charset="-122"/>
              </a:rPr>
              <a:t>的</a:t>
            </a:r>
            <a:r>
              <a:rPr lang="zh-CN" altLang="en-US" dirty="0">
                <a:latin typeface="楷体_GB2312" pitchFamily="49" charset="-122"/>
                <a:ea typeface="楷体_GB2312" pitchFamily="49" charset="-122"/>
              </a:rPr>
              <a:t>分类</a:t>
            </a:r>
            <a:endParaRPr lang="zh-CN" altLang="en-US" sz="2100" dirty="0"/>
          </a:p>
          <a:p>
            <a:pPr lvl="1">
              <a:lnSpc>
                <a:spcPct val="160000"/>
              </a:lnSpc>
            </a:pPr>
            <a:r>
              <a:rPr lang="zh-CN" altLang="en-US" dirty="0"/>
              <a:t>按</a:t>
            </a:r>
            <a:r>
              <a:rPr lang="en-US" altLang="zh-CN" dirty="0"/>
              <a:t>LDBMS</a:t>
            </a:r>
            <a:r>
              <a:rPr lang="zh-CN" altLang="en-US" dirty="0"/>
              <a:t>类型分类     </a:t>
            </a:r>
            <a:endParaRPr lang="zh-CN" altLang="en-US" dirty="0"/>
          </a:p>
          <a:p>
            <a:pPr marL="914400" lvl="2" indent="0">
              <a:buNone/>
            </a:pPr>
            <a:r>
              <a:rPr lang="en-US" altLang="zh-CN" dirty="0">
                <a:solidFill>
                  <a:srgbClr val="FF0000"/>
                </a:solidFill>
              </a:rPr>
              <a:t>(1)</a:t>
            </a:r>
            <a:r>
              <a:rPr lang="zh-CN" altLang="en-US" dirty="0">
                <a:solidFill>
                  <a:srgbClr val="FF0000"/>
                </a:solidFill>
              </a:rPr>
              <a:t>同构型</a:t>
            </a:r>
            <a:r>
              <a:rPr lang="en-US" altLang="zh-CN" dirty="0">
                <a:solidFill>
                  <a:srgbClr val="FF0000"/>
                </a:solidFill>
              </a:rPr>
              <a:t>DDBMS(Homogeneous DDBMS )</a:t>
            </a:r>
            <a:r>
              <a:rPr lang="zh-CN" altLang="en-US" dirty="0">
                <a:solidFill>
                  <a:srgbClr val="FF0000"/>
                </a:solidFill>
              </a:rPr>
              <a:t> </a:t>
            </a:r>
            <a:endParaRPr lang="zh-CN" altLang="en-US" dirty="0">
              <a:solidFill>
                <a:srgbClr val="FF0000"/>
              </a:solidFill>
            </a:endParaRPr>
          </a:p>
          <a:p>
            <a:pPr marL="914400" lvl="2" indent="0">
              <a:buNone/>
            </a:pPr>
            <a:r>
              <a:rPr lang="en-US" altLang="zh-CN" dirty="0"/>
              <a:t>       </a:t>
            </a:r>
            <a:r>
              <a:rPr lang="zh-CN" altLang="en-US" dirty="0"/>
              <a:t>同构型</a:t>
            </a:r>
            <a:r>
              <a:rPr lang="en-US" altLang="zh-CN" dirty="0"/>
              <a:t>(</a:t>
            </a:r>
            <a:r>
              <a:rPr lang="zh-CN" altLang="en-US" dirty="0"/>
              <a:t>也称均质型</a:t>
            </a:r>
            <a:r>
              <a:rPr lang="en-US" altLang="zh-CN" dirty="0"/>
              <a:t>)</a:t>
            </a:r>
            <a:r>
              <a:rPr lang="zh-CN" altLang="en-US" dirty="0"/>
              <a:t>系统是指系统中每个场地的</a:t>
            </a:r>
            <a:r>
              <a:rPr lang="en-US" altLang="zh-CN" dirty="0"/>
              <a:t>LDBMS</a:t>
            </a:r>
            <a:r>
              <a:rPr lang="zh-CN" altLang="en-US" dirty="0"/>
              <a:t>类型都相同，即它们支持相同的数据模型、访问方法、优化策略、并发控制算法，以及相同的命令语言和查询语言等。</a:t>
            </a:r>
            <a:endParaRPr lang="zh-CN" altLang="en-US" dirty="0"/>
          </a:p>
          <a:p>
            <a:pPr marL="914400" lvl="2" indent="0">
              <a:buNone/>
            </a:pPr>
            <a:r>
              <a:rPr lang="en-US" altLang="zh-CN" dirty="0">
                <a:solidFill>
                  <a:srgbClr val="FF0000"/>
                </a:solidFill>
              </a:rPr>
              <a:t>(2)</a:t>
            </a:r>
            <a:r>
              <a:rPr lang="zh-CN" altLang="en-US" dirty="0">
                <a:solidFill>
                  <a:srgbClr val="FF0000"/>
                </a:solidFill>
              </a:rPr>
              <a:t>异构型</a:t>
            </a:r>
            <a:r>
              <a:rPr lang="en-US" altLang="zh-CN" dirty="0">
                <a:solidFill>
                  <a:srgbClr val="FF0000"/>
                </a:solidFill>
              </a:rPr>
              <a:t>DDBMS(Heterogeneous DDBMS)</a:t>
            </a:r>
            <a:endParaRPr lang="zh-CN" altLang="en-US" dirty="0">
              <a:solidFill>
                <a:srgbClr val="FF0000"/>
              </a:solidFill>
            </a:endParaRPr>
          </a:p>
          <a:p>
            <a:pPr marL="914400" lvl="2" indent="0">
              <a:buNone/>
            </a:pPr>
            <a:r>
              <a:rPr lang="zh-CN" altLang="en-US" dirty="0"/>
              <a:t>       异构型</a:t>
            </a:r>
            <a:r>
              <a:rPr lang="en-US" altLang="zh-CN" dirty="0"/>
              <a:t>(</a:t>
            </a:r>
            <a:r>
              <a:rPr lang="zh-CN" altLang="en-US" dirty="0"/>
              <a:t>也称异质型</a:t>
            </a:r>
            <a:r>
              <a:rPr lang="en-US" altLang="zh-CN" dirty="0"/>
              <a:t>)</a:t>
            </a:r>
            <a:r>
              <a:rPr lang="zh-CN" altLang="en-US" dirty="0"/>
              <a:t>系统是指系统中每个场地可以有不同类型的</a:t>
            </a:r>
            <a:r>
              <a:rPr lang="en-US" altLang="zh-CN" dirty="0"/>
              <a:t>LDBMS</a:t>
            </a:r>
            <a:r>
              <a:rPr lang="zh-CN" altLang="en-US" dirty="0"/>
              <a:t>。它们可以是不同的数据模型，也可以是同一数据模型但由不同厂商提供的产品。</a:t>
            </a:r>
            <a:endParaRPr lang="zh-CN" altLang="en-US" dirty="0"/>
          </a:p>
          <a:p>
            <a:pPr>
              <a:lnSpc>
                <a:spcPct val="11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a:t>
            </a:r>
            <a:r>
              <a:rPr lang="zh-CN" altLang="en-US" dirty="0">
                <a:latin typeface="微软雅黑" panose="020B0503020204020204" pitchFamily="34" charset="-122"/>
                <a:ea typeface="微软雅黑" panose="020B0503020204020204" pitchFamily="34" charset="-122"/>
              </a:rPr>
              <a:t>分类</a:t>
            </a:r>
            <a:endParaRPr lang="zh-CN" altLang="en-US" sz="2100" dirty="0">
              <a:latin typeface="微软雅黑" panose="020B0503020204020204" pitchFamily="34" charset="-122"/>
              <a:ea typeface="微软雅黑" panose="020B0503020204020204" pitchFamily="34" charset="-122"/>
            </a:endParaRPr>
          </a:p>
          <a:p>
            <a:pPr lvl="1">
              <a:lnSpc>
                <a:spcPct val="160000"/>
              </a:lnSpc>
            </a:pPr>
            <a:r>
              <a:rPr lang="zh-CN" altLang="en-US" dirty="0">
                <a:latin typeface="微软雅黑" panose="020B0503020204020204" pitchFamily="34" charset="-122"/>
                <a:ea typeface="微软雅黑" panose="020B0503020204020204" pitchFamily="34" charset="-122"/>
              </a:rPr>
              <a:t>按全局控制方式分类 </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全局集中控制的</a:t>
            </a:r>
            <a:r>
              <a:rPr lang="en-US" altLang="zh-CN" dirty="0">
                <a:solidFill>
                  <a:srgbClr val="FF0000"/>
                </a:solidFill>
                <a:latin typeface="微软雅黑" panose="020B0503020204020204" pitchFamily="34" charset="-122"/>
                <a:ea typeface="微软雅黑" panose="020B0503020204020204" pitchFamily="34" charset="-122"/>
              </a:rPr>
              <a:t>DDBMS </a:t>
            </a:r>
            <a:endParaRPr lang="en-US" altLang="zh-CN"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       这种方式的</a:t>
            </a:r>
            <a:r>
              <a:rPr lang="en-US" altLang="zh-CN" dirty="0">
                <a:latin typeface="微软雅黑" panose="020B0503020204020204" pitchFamily="34" charset="-122"/>
                <a:ea typeface="微软雅黑" panose="020B0503020204020204" pitchFamily="34" charset="-122"/>
              </a:rPr>
              <a:t>GDBMS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GDD</a:t>
            </a:r>
            <a:r>
              <a:rPr lang="zh-CN" altLang="en-US" dirty="0">
                <a:latin typeface="微软雅黑" panose="020B0503020204020204" pitchFamily="34" charset="-122"/>
                <a:ea typeface="微软雅黑" panose="020B0503020204020204" pitchFamily="34" charset="-122"/>
              </a:rPr>
              <a:t>集中在一个中心场地上，由该场地完成全局事务的协调和局部数据库转换等一切控制问题。 </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全局控制分散的</a:t>
            </a:r>
            <a:r>
              <a:rPr lang="en-US" altLang="zh-CN" dirty="0">
                <a:solidFill>
                  <a:srgbClr val="FF0000"/>
                </a:solidFill>
                <a:latin typeface="微软雅黑" panose="020B0503020204020204" pitchFamily="34" charset="-122"/>
                <a:ea typeface="微软雅黑" panose="020B0503020204020204" pitchFamily="34" charset="-122"/>
              </a:rPr>
              <a:t>DDBMS </a:t>
            </a:r>
            <a:endParaRPr lang="en-US" altLang="zh-CN" dirty="0">
              <a:solidFill>
                <a:srgbClr val="FF0000"/>
              </a:solidFill>
              <a:latin typeface="微软雅黑" panose="020B0503020204020204" pitchFamily="34" charset="-122"/>
              <a:ea typeface="微软雅黑" panose="020B0503020204020204" pitchFamily="34" charset="-122"/>
            </a:endParaRPr>
          </a:p>
          <a:p>
            <a:pPr marL="914400" lvl="2" indent="0">
              <a:buNone/>
            </a:pPr>
            <a:r>
              <a:rPr lang="en-US" altLang="zh-CN" dirty="0">
                <a:latin typeface="微软雅黑" panose="020B0503020204020204" pitchFamily="34" charset="-122"/>
                <a:ea typeface="微软雅黑" panose="020B0503020204020204" pitchFamily="34" charset="-122"/>
              </a:rPr>
              <a:t>       GDBMS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GDD</a:t>
            </a:r>
            <a:r>
              <a:rPr lang="zh-CN" altLang="en-US" dirty="0">
                <a:latin typeface="微软雅黑" panose="020B0503020204020204" pitchFamily="34" charset="-122"/>
                <a:ea typeface="微软雅黑" panose="020B0503020204020204" pitchFamily="34" charset="-122"/>
              </a:rPr>
              <a:t>分散存放在各个场地上，即每个场地都有控制信息的一个副本，都能完成全局事务的协调和局部数据库转换的控制问题。</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(3) </a:t>
            </a:r>
            <a:r>
              <a:rPr lang="zh-CN" altLang="en-US" dirty="0">
                <a:solidFill>
                  <a:srgbClr val="FF0000"/>
                </a:solidFill>
                <a:latin typeface="微软雅黑" panose="020B0503020204020204" pitchFamily="34" charset="-122"/>
                <a:ea typeface="微软雅黑" panose="020B0503020204020204" pitchFamily="34" charset="-122"/>
              </a:rPr>
              <a:t>全局控制部分分散的</a:t>
            </a:r>
            <a:r>
              <a:rPr lang="en-US" altLang="zh-CN" dirty="0">
                <a:solidFill>
                  <a:srgbClr val="FF0000"/>
                </a:solidFill>
                <a:latin typeface="微软雅黑" panose="020B0503020204020204" pitchFamily="34" charset="-122"/>
                <a:ea typeface="微软雅黑" panose="020B0503020204020204" pitchFamily="34" charset="-122"/>
              </a:rPr>
              <a:t>DDBMS</a:t>
            </a:r>
            <a:endParaRPr lang="en-US" altLang="zh-CN"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       这种方式根据应用的需要将</a:t>
            </a:r>
            <a:r>
              <a:rPr lang="en-US" altLang="zh-CN" dirty="0">
                <a:latin typeface="微软雅黑" panose="020B0503020204020204" pitchFamily="34" charset="-122"/>
                <a:ea typeface="微软雅黑" panose="020B0503020204020204" pitchFamily="34" charset="-122"/>
              </a:rPr>
              <a:t>GDBMS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GDD</a:t>
            </a:r>
            <a:r>
              <a:rPr lang="zh-CN" altLang="en-US" dirty="0">
                <a:latin typeface="微软雅黑" panose="020B0503020204020204" pitchFamily="34" charset="-122"/>
                <a:ea typeface="微软雅黑" panose="020B0503020204020204" pitchFamily="34" charset="-122"/>
              </a:rPr>
              <a:t>分散在某些场地上，即只在部分场地包含控制信息的副本，性能介于以上两种类型之间。</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a:t>
            </a:r>
            <a:r>
              <a:rPr lang="zh-CN" altLang="en-US" dirty="0">
                <a:latin typeface="微软雅黑" panose="020B0503020204020204" pitchFamily="34" charset="-122"/>
                <a:ea typeface="微软雅黑" panose="020B0503020204020204" pitchFamily="34" charset="-122"/>
              </a:rPr>
              <a:t>分类</a:t>
            </a:r>
            <a:endParaRPr lang="zh-CN" altLang="en-US" sz="2100" dirty="0">
              <a:latin typeface="微软雅黑" panose="020B0503020204020204" pitchFamily="34" charset="-122"/>
              <a:ea typeface="微软雅黑" panose="020B0503020204020204" pitchFamily="34" charset="-122"/>
            </a:endParaRPr>
          </a:p>
          <a:p>
            <a:pPr lvl="1">
              <a:lnSpc>
                <a:spcPct val="170000"/>
              </a:lnSpc>
            </a:pPr>
            <a:r>
              <a:rPr lang="zh-CN" altLang="en-US" dirty="0">
                <a:latin typeface="微软雅黑" panose="020B0503020204020204" pitchFamily="34" charset="-122"/>
                <a:ea typeface="微软雅黑" panose="020B0503020204020204" pitchFamily="34" charset="-122"/>
              </a:rPr>
              <a:t>按数据在逻辑上集中</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分布分类：</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物理上分布、逻辑上集中的</a:t>
            </a:r>
            <a:r>
              <a:rPr lang="en-US" altLang="zh-CN" dirty="0">
                <a:solidFill>
                  <a:srgbClr val="FF0000"/>
                </a:solidFill>
                <a:latin typeface="微软雅黑" panose="020B0503020204020204" pitchFamily="34" charset="-122"/>
                <a:ea typeface="微软雅黑" panose="020B0503020204020204" pitchFamily="34" charset="-122"/>
              </a:rPr>
              <a:t>DDBMS</a:t>
            </a:r>
            <a:endParaRPr lang="en-US" altLang="zh-CN"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       这种方式数据库在逻辑上是集中的，用户感觉不到数据的分布，看到的似乎是一个数据模式为全局数据模式的集中式数据库。 </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物理上分布、逻辑上分布的</a:t>
            </a:r>
            <a:r>
              <a:rPr lang="en-US" altLang="zh-CN" dirty="0">
                <a:solidFill>
                  <a:srgbClr val="FF0000"/>
                </a:solidFill>
                <a:latin typeface="微软雅黑" panose="020B0503020204020204" pitchFamily="34" charset="-122"/>
                <a:ea typeface="微软雅黑" panose="020B0503020204020204" pitchFamily="34" charset="-122"/>
              </a:rPr>
              <a:t>DDBMS</a:t>
            </a:r>
            <a:endParaRPr lang="en-US" altLang="zh-CN" dirty="0">
              <a:solidFill>
                <a:srgbClr val="FF0000"/>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这种分布式数据库系统又称联邦分布式数据库系统</a:t>
            </a:r>
            <a:r>
              <a:rPr lang="en-US" altLang="zh-CN" sz="2000" dirty="0">
                <a:latin typeface="微软雅黑" panose="020B0503020204020204" pitchFamily="34" charset="-122"/>
                <a:ea typeface="微软雅黑" panose="020B0503020204020204" pitchFamily="34" charset="-122"/>
              </a:rPr>
              <a:t>(Federated Distributed Database Systems)</a:t>
            </a:r>
            <a:endParaRPr lang="zh-CN" altLang="en-US" sz="2000" dirty="0">
              <a:latin typeface="微软雅黑" panose="020B0503020204020204" pitchFamily="34" charset="-122"/>
              <a:ea typeface="微软雅黑" panose="020B0503020204020204" pitchFamily="34" charset="-122"/>
            </a:endParaRPr>
          </a:p>
          <a:p>
            <a:pPr lvl="3">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系统中每个场地所看到的数据模式是不同的，好像有多个逻辑数据库存在。</a:t>
            </a:r>
            <a:endParaRPr lang="zh-CN" altLang="en-US" sz="20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分布式数据库管理系统</a:t>
            </a:r>
            <a:endParaRPr kumimoji="1" lang="zh-CN" altLang="en-US" dirty="0"/>
          </a:p>
        </p:txBody>
      </p:sp>
      <p:sp>
        <p:nvSpPr>
          <p:cNvPr id="7" name="内容占位符 6"/>
          <p:cNvSpPr>
            <a:spLocks noGrp="1"/>
          </p:cNvSpPr>
          <p:nvPr>
            <p:ph idx="1"/>
          </p:nvPr>
        </p:nvSpPr>
        <p:spPr/>
        <p:txBody>
          <a:bodyPr>
            <a:normAutofit/>
          </a:bodyPr>
          <a:lstStyle/>
          <a:p>
            <a:pPr>
              <a:lnSpc>
                <a:spcPct val="110000"/>
              </a:lnSpc>
            </a:pPr>
            <a:r>
              <a:rPr lang="zh-CN" altLang="en-US" sz="2800" b="1" dirty="0">
                <a:latin typeface="微软雅黑" panose="020B0503020204020204" pitchFamily="34" charset="-122"/>
                <a:ea typeface="微软雅黑" panose="020B0503020204020204" pitchFamily="34" charset="-122"/>
              </a:rPr>
              <a:t>分布式数据库管理系统的</a:t>
            </a:r>
            <a:r>
              <a:rPr lang="zh-CN" altLang="en-US" dirty="0">
                <a:latin typeface="微软雅黑" panose="020B0503020204020204" pitchFamily="34" charset="-122"/>
                <a:ea typeface="微软雅黑" panose="020B0503020204020204" pitchFamily="34" charset="-122"/>
              </a:rPr>
              <a:t>分类</a:t>
            </a:r>
            <a:endParaRPr lang="zh-CN" altLang="en-US" sz="2100" dirty="0">
              <a:latin typeface="微软雅黑" panose="020B0503020204020204" pitchFamily="34" charset="-122"/>
              <a:ea typeface="微软雅黑" panose="020B0503020204020204" pitchFamily="34" charset="-122"/>
            </a:endParaRPr>
          </a:p>
          <a:p>
            <a:pPr lvl="1">
              <a:lnSpc>
                <a:spcPct val="180000"/>
              </a:lnSpc>
            </a:pPr>
            <a:r>
              <a:rPr lang="zh-CN" altLang="en-US" dirty="0">
                <a:latin typeface="微软雅黑" panose="020B0503020204020204" pitchFamily="34" charset="-122"/>
                <a:ea typeface="微软雅黑" panose="020B0503020204020204" pitchFamily="34" charset="-122"/>
              </a:rPr>
              <a:t>按构造方式分类 </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综合型体系结构 </a:t>
            </a:r>
            <a:endParaRPr lang="zh-CN" altLang="en-US"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      设计一个全新的</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时，设计人员可综合权衡用户需求，采用自顶向下的设计方法，设计一个完整的</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，然后把系统的功能按一定的策略分散配置在一个分布式环境中。</a:t>
            </a:r>
            <a:endParaRPr lang="zh-CN" altLang="en-US" dirty="0">
              <a:latin typeface="微软雅黑" panose="020B0503020204020204" pitchFamily="34" charset="-122"/>
              <a:ea typeface="微软雅黑" panose="020B0503020204020204" pitchFamily="34" charset="-122"/>
            </a:endParaRPr>
          </a:p>
          <a:p>
            <a:pPr marL="914400" lvl="2" indent="0">
              <a:buNone/>
            </a:pP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联合型体系结构 </a:t>
            </a:r>
            <a:endParaRPr lang="zh-CN" altLang="en-US" dirty="0">
              <a:solidFill>
                <a:srgbClr val="FF0000"/>
              </a:solidFill>
              <a:latin typeface="微软雅黑" panose="020B0503020204020204" pitchFamily="34" charset="-122"/>
              <a:ea typeface="微软雅黑" panose="020B0503020204020204" pitchFamily="34" charset="-122"/>
            </a:endParaRPr>
          </a:p>
          <a:p>
            <a:pPr marL="914400" lvl="2" indent="0">
              <a:buNone/>
            </a:pPr>
            <a:r>
              <a:rPr lang="zh-CN" altLang="en-US" dirty="0">
                <a:latin typeface="微软雅黑" panose="020B0503020204020204" pitchFamily="34" charset="-122"/>
                <a:ea typeface="微软雅黑" panose="020B0503020204020204" pitchFamily="34" charset="-122"/>
              </a:rPr>
              <a:t>       在原有</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基础上建立分布式</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，按照使用</a:t>
            </a:r>
            <a:r>
              <a:rPr lang="en-US" altLang="zh-CN" dirty="0">
                <a:latin typeface="微软雅黑" panose="020B0503020204020204" pitchFamily="34" charset="-122"/>
                <a:ea typeface="微软雅黑" panose="020B0503020204020204" pitchFamily="34" charset="-122"/>
              </a:rPr>
              <a:t>LDBMS</a:t>
            </a:r>
            <a:r>
              <a:rPr lang="zh-CN" altLang="en-US" dirty="0">
                <a:latin typeface="微软雅黑" panose="020B0503020204020204" pitchFamily="34" charset="-122"/>
                <a:ea typeface="微软雅黑" panose="020B0503020204020204" pitchFamily="34" charset="-122"/>
              </a:rPr>
              <a:t>类型的不同又分为同构型和异构型</a:t>
            </a:r>
            <a:r>
              <a:rPr lang="en-US" altLang="zh-CN" dirty="0">
                <a:latin typeface="微软雅黑" panose="020B0503020204020204" pitchFamily="34" charset="-122"/>
                <a:ea typeface="微软雅黑" panose="020B0503020204020204" pitchFamily="34" charset="-122"/>
              </a:rPr>
              <a:t>DDBMS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sz="3600" b="1"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fontScale="40000" lnSpcReduction="20000"/>
              </a:bodyPr>
              <a:lstStyle/>
              <a:p>
                <a:pPr>
                  <a:lnSpc>
                    <a:spcPct val="130000"/>
                  </a:lnSpc>
                </a:pPr>
                <a:r>
                  <a:rPr lang="zh-CN" altLang="en-US" sz="7200" b="1" dirty="0">
                    <a:latin typeface="微软雅黑" panose="020B0503020204020204" pitchFamily="34" charset="-122"/>
                    <a:ea typeface="微软雅黑" panose="020B0503020204020204" pitchFamily="34" charset="-122"/>
                  </a:rPr>
                  <a:t>分布式查询实例</a:t>
                </a:r>
                <a:endParaRPr lang="zh-CN" altLang="en-US" sz="7000" dirty="0">
                  <a:latin typeface="微软雅黑" panose="020B0503020204020204" pitchFamily="34" charset="-122"/>
                  <a:ea typeface="微软雅黑" panose="020B0503020204020204" pitchFamily="34" charset="-122"/>
                </a:endParaRPr>
              </a:p>
              <a:p>
                <a:pPr lvl="1">
                  <a:lnSpc>
                    <a:spcPct val="200000"/>
                  </a:lnSpc>
                </a:pPr>
                <a:r>
                  <a:rPr lang="zh-CN" altLang="en-US" sz="6000" dirty="0"/>
                  <a:t>例：一个简化的供应商</a:t>
                </a:r>
                <a:r>
                  <a:rPr lang="en-US" altLang="zh-CN" sz="6000" dirty="0"/>
                  <a:t>-</a:t>
                </a:r>
                <a:r>
                  <a:rPr lang="zh-CN" altLang="en-US" sz="6000" dirty="0"/>
                  <a:t>零件分布数据库</a:t>
                </a:r>
                <a:endParaRPr lang="zh-CN" altLang="en-US" sz="6000" dirty="0"/>
              </a:p>
              <a:p>
                <a:pPr marL="457200" lvl="1" indent="0">
                  <a:buNone/>
                </a:pPr>
                <a:r>
                  <a:rPr lang="zh-CN" altLang="en-US" sz="4000" dirty="0"/>
                  <a:t>     </a:t>
                </a:r>
                <a:r>
                  <a:rPr lang="en-US" altLang="zh-CN" sz="4000" dirty="0"/>
                  <a:t>S(Sno</a:t>
                </a:r>
                <a:r>
                  <a:rPr lang="zh-CN" altLang="en-US" sz="4000" dirty="0"/>
                  <a:t>，</a:t>
                </a:r>
                <a:r>
                  <a:rPr lang="en-US" altLang="zh-CN" sz="4000" dirty="0"/>
                  <a:t>City)	</a:t>
                </a:r>
                <a14:m>
                  <m:oMath xmlns:m="http://schemas.openxmlformats.org/officeDocument/2006/math">
                    <m:r>
                      <a:rPr lang="en-US" altLang="zh-CN" sz="4000" b="0" i="0" dirty="0" smtClean="0">
                        <a:latin typeface="Cambria Math" panose="02040503050406030204" pitchFamily="18" charset="0"/>
                      </a:rPr>
                      <m:t> </m:t>
                    </m:r>
                    <m:sSup>
                      <m:sSupPr>
                        <m:ctrlPr>
                          <a:rPr lang="en-US" altLang="zh-CN" sz="4000" i="1" dirty="0" smtClean="0">
                            <a:latin typeface="Cambria Math" panose="02040503050406030204" pitchFamily="18" charset="0"/>
                          </a:rPr>
                        </m:ctrlPr>
                      </m:sSupPr>
                      <m:e>
                        <m:r>
                          <a:rPr lang="en-US" altLang="zh-CN" sz="4000" i="1" dirty="0">
                            <a:latin typeface="Cambria Math" panose="02040503050406030204" pitchFamily="18" charset="0"/>
                          </a:rPr>
                          <m:t>10</m:t>
                        </m:r>
                      </m:e>
                      <m:sup>
                        <m:r>
                          <a:rPr lang="en-US" altLang="zh-CN" sz="4000" b="0" i="1" dirty="0" smtClean="0">
                            <a:latin typeface="Cambria Math" panose="02040503050406030204" pitchFamily="18" charset="0"/>
                          </a:rPr>
                          <m:t>4</m:t>
                        </m:r>
                      </m:sup>
                    </m:sSup>
                  </m:oMath>
                </a14:m>
                <a:r>
                  <a:rPr lang="zh-CN" altLang="en-US" sz="4000" dirty="0"/>
                  <a:t>个元组，存放在场地</a:t>
                </a:r>
                <a:r>
                  <a:rPr lang="en-US" altLang="zh-CN" sz="4000" dirty="0"/>
                  <a:t>A</a:t>
                </a:r>
                <a:r>
                  <a:rPr lang="zh-CN" altLang="en-US" sz="4000" dirty="0"/>
                  <a:t>；</a:t>
                </a:r>
                <a:endParaRPr lang="zh-CN" altLang="en-US" sz="4000" dirty="0"/>
              </a:p>
              <a:p>
                <a:pPr marL="457200" lvl="1" indent="0">
                  <a:buNone/>
                </a:pPr>
                <a:r>
                  <a:rPr lang="zh-CN" altLang="en-US" sz="4000" dirty="0"/>
                  <a:t>     </a:t>
                </a:r>
                <a:r>
                  <a:rPr lang="en-US" altLang="zh-CN" sz="4000" dirty="0"/>
                  <a:t>P(</a:t>
                </a:r>
                <a:r>
                  <a:rPr lang="en-US" altLang="zh-CN" sz="4000" dirty="0" err="1"/>
                  <a:t>Pno</a:t>
                </a:r>
                <a:r>
                  <a:rPr lang="zh-CN" altLang="en-US" sz="4000" dirty="0"/>
                  <a:t>，</a:t>
                </a:r>
                <a:r>
                  <a:rPr lang="en-US" altLang="zh-CN" sz="4000" dirty="0"/>
                  <a:t>Color)	 </a:t>
                </a:r>
                <a14:m>
                  <m:oMath xmlns:m="http://schemas.openxmlformats.org/officeDocument/2006/math">
                    <m:sSup>
                      <m:sSupPr>
                        <m:ctrlPr>
                          <a:rPr lang="en-US" altLang="zh-CN" sz="4000" i="1" dirty="0" smtClean="0">
                            <a:latin typeface="Cambria Math" panose="02040503050406030204" pitchFamily="18" charset="0"/>
                          </a:rPr>
                        </m:ctrlPr>
                      </m:sSupPr>
                      <m:e>
                        <m:r>
                          <a:rPr lang="en-US" altLang="zh-CN" sz="4000" i="1" dirty="0">
                            <a:latin typeface="Cambria Math" panose="02040503050406030204" pitchFamily="18" charset="0"/>
                          </a:rPr>
                          <m:t>10</m:t>
                        </m:r>
                      </m:e>
                      <m:sup>
                        <m:r>
                          <a:rPr lang="en-US" altLang="zh-CN" sz="4000" b="0" i="1" dirty="0" smtClean="0">
                            <a:latin typeface="Cambria Math" panose="02040503050406030204" pitchFamily="18" charset="0"/>
                          </a:rPr>
                          <m:t>5</m:t>
                        </m:r>
                      </m:sup>
                    </m:sSup>
                  </m:oMath>
                </a14:m>
                <a:r>
                  <a:rPr lang="zh-CN" altLang="en-US" sz="4000" dirty="0"/>
                  <a:t>个元组，存放在场地</a:t>
                </a:r>
                <a:r>
                  <a:rPr lang="en-US" altLang="zh-CN" sz="4000" dirty="0"/>
                  <a:t>B</a:t>
                </a:r>
                <a:r>
                  <a:rPr lang="zh-CN" altLang="en-US" sz="4000" dirty="0"/>
                  <a:t>；</a:t>
                </a:r>
                <a:endParaRPr lang="zh-CN" altLang="en-US" sz="4000" dirty="0"/>
              </a:p>
              <a:p>
                <a:pPr marL="457200" lvl="1" indent="0">
                  <a:buNone/>
                </a:pPr>
                <a:r>
                  <a:rPr lang="zh-CN" altLang="en-US" sz="4000" dirty="0"/>
                  <a:t>     </a:t>
                </a:r>
                <a:r>
                  <a:rPr lang="en-US" altLang="zh-CN" sz="4000" dirty="0"/>
                  <a:t>SP(Sno</a:t>
                </a:r>
                <a:r>
                  <a:rPr lang="zh-CN" altLang="en-US" sz="4000" dirty="0"/>
                  <a:t>，</a:t>
                </a:r>
                <a:r>
                  <a:rPr lang="en-US" altLang="zh-CN" sz="4000" dirty="0" err="1"/>
                  <a:t>Pno</a:t>
                </a:r>
                <a:r>
                  <a:rPr lang="en-US" altLang="zh-CN" sz="4000" dirty="0"/>
                  <a:t>)	 </a:t>
                </a:r>
                <a14:m>
                  <m:oMath xmlns:m="http://schemas.openxmlformats.org/officeDocument/2006/math">
                    <m:sSup>
                      <m:sSupPr>
                        <m:ctrlPr>
                          <a:rPr lang="en-US" altLang="zh-CN" sz="4000" i="1" dirty="0" smtClean="0">
                            <a:latin typeface="Cambria Math" panose="02040503050406030204" pitchFamily="18" charset="0"/>
                          </a:rPr>
                        </m:ctrlPr>
                      </m:sSupPr>
                      <m:e>
                        <m:r>
                          <a:rPr lang="en-US" altLang="zh-CN" sz="4000" i="1" dirty="0">
                            <a:latin typeface="Cambria Math" panose="02040503050406030204" pitchFamily="18" charset="0"/>
                          </a:rPr>
                          <m:t>10</m:t>
                        </m:r>
                      </m:e>
                      <m:sup>
                        <m:r>
                          <a:rPr lang="en-US" altLang="zh-CN" sz="4000" b="0" i="1" dirty="0" smtClean="0">
                            <a:latin typeface="Cambria Math" panose="02040503050406030204" pitchFamily="18" charset="0"/>
                          </a:rPr>
                          <m:t>5</m:t>
                        </m:r>
                      </m:sup>
                    </m:sSup>
                  </m:oMath>
                </a14:m>
                <a:r>
                  <a:rPr lang="zh-CN" altLang="en-US" sz="4000" dirty="0"/>
                  <a:t>个元组，存放在场地</a:t>
                </a:r>
                <a:r>
                  <a:rPr lang="en-US" altLang="zh-CN" sz="4000" dirty="0"/>
                  <a:t>A</a:t>
                </a:r>
                <a:r>
                  <a:rPr lang="zh-CN" altLang="en-US" sz="4000" dirty="0"/>
                  <a:t>；</a:t>
                </a:r>
                <a:endParaRPr lang="zh-CN" altLang="en-US" sz="4000" dirty="0"/>
              </a:p>
              <a:p>
                <a:pPr marL="457200" lvl="1" indent="0">
                  <a:buNone/>
                </a:pPr>
                <a:r>
                  <a:rPr lang="zh-CN" altLang="en-US" sz="4000" dirty="0"/>
                  <a:t>     设每个关系的元组均为</a:t>
                </a:r>
                <a:r>
                  <a:rPr lang="en-US" altLang="zh-CN" sz="4000" dirty="0"/>
                  <a:t>100</a:t>
                </a:r>
                <a:r>
                  <a:rPr lang="zh-CN" altLang="en-US" sz="4000" dirty="0"/>
                  <a:t>字节长。</a:t>
                </a:r>
                <a:endParaRPr lang="zh-CN" altLang="en-US" sz="4000" dirty="0"/>
              </a:p>
              <a:p>
                <a:pPr lvl="1">
                  <a:lnSpc>
                    <a:spcPct val="200000"/>
                  </a:lnSpc>
                </a:pPr>
                <a:r>
                  <a:rPr lang="zh-CN" altLang="en-US" sz="6000" dirty="0"/>
                  <a:t>查询：查询北京的</a:t>
                </a:r>
                <a:r>
                  <a:rPr lang="en-US" altLang="zh-CN" sz="6000" dirty="0"/>
                  <a:t>, </a:t>
                </a:r>
                <a:r>
                  <a:rPr lang="zh-CN" altLang="en-US" sz="6000" dirty="0"/>
                  <a:t>并供应红色零件的供应商号</a:t>
                </a:r>
                <a:endParaRPr lang="zh-CN" altLang="en-US" sz="6000" dirty="0"/>
              </a:p>
              <a:p>
                <a:pPr marL="457200" lvl="1" indent="0">
                  <a:buNone/>
                </a:pPr>
                <a:r>
                  <a:rPr lang="zh-CN" altLang="en-US" sz="4000" dirty="0"/>
                  <a:t>     </a:t>
                </a:r>
                <a:r>
                  <a:rPr lang="en-US" altLang="zh-CN" sz="4000" dirty="0"/>
                  <a:t>SELECT  </a:t>
                </a:r>
                <a:r>
                  <a:rPr lang="en-US" altLang="zh-CN" sz="4000" dirty="0" err="1"/>
                  <a:t>S.Sno</a:t>
                </a:r>
                <a:endParaRPr lang="en-US" altLang="zh-CN" sz="4000" dirty="0"/>
              </a:p>
              <a:p>
                <a:pPr marL="457200" lvl="1" indent="0">
                  <a:buNone/>
                </a:pPr>
                <a:r>
                  <a:rPr lang="en-US" altLang="zh-CN" sz="4000" dirty="0"/>
                  <a:t>     FROM  S</a:t>
                </a:r>
                <a:r>
                  <a:rPr lang="zh-CN" altLang="en-US" sz="4000" dirty="0"/>
                  <a:t>，</a:t>
                </a:r>
                <a:r>
                  <a:rPr lang="en-US" altLang="zh-CN" sz="4000" dirty="0"/>
                  <a:t>P</a:t>
                </a:r>
                <a:r>
                  <a:rPr lang="zh-CN" altLang="en-US" sz="4000" dirty="0"/>
                  <a:t>，</a:t>
                </a:r>
                <a:r>
                  <a:rPr lang="en-US" altLang="zh-CN" sz="4000" dirty="0"/>
                  <a:t>SP</a:t>
                </a:r>
                <a:endParaRPr lang="en-US" altLang="zh-CN" sz="4000" dirty="0"/>
              </a:p>
              <a:p>
                <a:pPr marL="457200" lvl="1" indent="0">
                  <a:buNone/>
                </a:pPr>
                <a:r>
                  <a:rPr lang="en-US" altLang="zh-CN" sz="4000" dirty="0"/>
                  <a:t>     WHERE </a:t>
                </a:r>
                <a:r>
                  <a:rPr lang="en-US" altLang="zh-CN" sz="4000" dirty="0" err="1"/>
                  <a:t>S.City</a:t>
                </a:r>
                <a:r>
                  <a:rPr lang="en-US" altLang="zh-CN" sz="4000" dirty="0"/>
                  <a:t>='</a:t>
                </a:r>
                <a:r>
                  <a:rPr lang="zh-CN" altLang="en-US" sz="4000" dirty="0"/>
                  <a:t>北京</a:t>
                </a:r>
                <a:r>
                  <a:rPr lang="en-US" altLang="zh-CN" sz="4000" dirty="0"/>
                  <a:t>'   AND</a:t>
                </a:r>
                <a:endParaRPr lang="en-US" altLang="zh-CN" sz="4000" dirty="0"/>
              </a:p>
              <a:p>
                <a:pPr marL="457200" lvl="1" indent="0">
                  <a:buNone/>
                </a:pPr>
                <a:r>
                  <a:rPr lang="en-US" altLang="zh-CN" sz="4000" dirty="0"/>
                  <a:t>                   </a:t>
                </a:r>
                <a:r>
                  <a:rPr lang="en-US" altLang="zh-CN" sz="4000" dirty="0" err="1"/>
                  <a:t>SP.Pno</a:t>
                </a:r>
                <a:r>
                  <a:rPr lang="en-US" altLang="zh-CN" sz="4000" dirty="0"/>
                  <a:t>=</a:t>
                </a:r>
                <a:r>
                  <a:rPr lang="en-US" altLang="zh-CN" sz="4000" dirty="0" err="1"/>
                  <a:t>P.Pno</a:t>
                </a:r>
                <a:r>
                  <a:rPr lang="en-US" altLang="zh-CN" sz="4000" dirty="0"/>
                  <a:t>  AND </a:t>
                </a:r>
                <a:r>
                  <a:rPr lang="en-US" altLang="zh-CN" sz="4000" dirty="0" err="1"/>
                  <a:t>SP.Sno</a:t>
                </a:r>
                <a:r>
                  <a:rPr lang="en-US" altLang="zh-CN" sz="4000" dirty="0"/>
                  <a:t>=</a:t>
                </a:r>
                <a:r>
                  <a:rPr lang="en-US" altLang="zh-CN" sz="4000" dirty="0" err="1"/>
                  <a:t>S.Sno</a:t>
                </a:r>
                <a:r>
                  <a:rPr lang="en-US" altLang="zh-CN" sz="4000" dirty="0"/>
                  <a:t> AND</a:t>
                </a:r>
                <a:endParaRPr lang="en-US" altLang="zh-CN" sz="4000" dirty="0"/>
              </a:p>
              <a:p>
                <a:pPr marL="457200" lvl="1" indent="0">
                  <a:buNone/>
                </a:pPr>
                <a:r>
                  <a:rPr lang="en-US" altLang="zh-CN" sz="4000" dirty="0"/>
                  <a:t>                   </a:t>
                </a:r>
                <a:r>
                  <a:rPr lang="en-US" altLang="zh-CN" sz="4000" dirty="0" err="1"/>
                  <a:t>P.Color</a:t>
                </a:r>
                <a:r>
                  <a:rPr lang="en-US" altLang="zh-CN" sz="4000" dirty="0"/>
                  <a:t>='</a:t>
                </a:r>
                <a:r>
                  <a:rPr lang="zh-CN" altLang="en-US" sz="4000" dirty="0"/>
                  <a:t>红色</a:t>
                </a:r>
                <a:r>
                  <a:rPr lang="en-US" altLang="zh-CN" sz="4000" dirty="0"/>
                  <a:t>'</a:t>
                </a:r>
                <a:r>
                  <a:rPr lang="zh-CN" altLang="en-US" sz="4000" dirty="0"/>
                  <a:t>；</a:t>
                </a:r>
                <a:endParaRPr lang="zh-CN" altLang="en-US" sz="4000"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10.4 </a:t>
            </a:r>
            <a:r>
              <a:rPr lang="zh-CN" altLang="en-US" sz="3600" b="1"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pPr>
                <a:r>
                  <a:rPr lang="zh-CN" altLang="en-US" dirty="0"/>
                  <a:t>估算值</a:t>
                </a:r>
                <a:r>
                  <a:rPr lang="en-US" altLang="zh-CN" dirty="0"/>
                  <a:t>(</a:t>
                </a:r>
                <a:r>
                  <a:rPr lang="zh-CN" altLang="en-US" dirty="0"/>
                  <a:t>某些中间结果的元组数</a:t>
                </a:r>
                <a:r>
                  <a:rPr lang="en-US" altLang="zh-CN" dirty="0"/>
                  <a:t>)</a:t>
                </a:r>
                <a:endParaRPr lang="en-US" altLang="zh-CN" dirty="0"/>
              </a:p>
              <a:p>
                <a:pPr marL="457200" lvl="1" indent="0">
                  <a:buNone/>
                </a:pPr>
                <a:r>
                  <a:rPr lang="zh-CN" altLang="en-US" sz="2000" dirty="0"/>
                  <a:t>红色零件数</a:t>
                </a:r>
                <a:r>
                  <a:rPr lang="en-US" altLang="zh-CN" sz="2000" dirty="0"/>
                  <a:t>=10</a:t>
                </a:r>
                <a:endParaRPr lang="en-US" altLang="zh-CN" sz="2000" dirty="0"/>
              </a:p>
              <a:p>
                <a:pPr marL="457200" lvl="1" indent="0">
                  <a:buNone/>
                </a:pPr>
                <a:r>
                  <a:rPr lang="zh-CN" altLang="en-US" sz="2000" dirty="0"/>
                  <a:t>北京供应商的装运单数</a:t>
                </a:r>
                <a:r>
                  <a:rPr lang="en-US" altLang="zh-CN" sz="2000" dirty="0"/>
                  <a:t>=</a:t>
                </a:r>
                <a14:m>
                  <m:oMath xmlns:m="http://schemas.openxmlformats.org/officeDocument/2006/math">
                    <m:sSup>
                      <m:sSupPr>
                        <m:ctrlPr>
                          <a:rPr lang="en-US" altLang="zh-CN" sz="2000" i="1" smtClean="0">
                            <a:latin typeface="Cambria Math" panose="02040503050406030204" pitchFamily="18" charset="0"/>
                          </a:rPr>
                        </m:ctrlPr>
                      </m:sSupPr>
                      <m:e>
                        <m:r>
                          <a:rPr lang="en-US" altLang="zh-CN" sz="2000" b="0" i="1" smtClean="0">
                            <a:latin typeface="Cambria Math" panose="02040503050406030204" pitchFamily="18" charset="0"/>
                          </a:rPr>
                          <m:t>10</m:t>
                        </m:r>
                      </m:e>
                      <m:sup>
                        <m:r>
                          <a:rPr lang="en-US" altLang="zh-CN" sz="2000" b="0" i="1" smtClean="0">
                            <a:latin typeface="Cambria Math" panose="02040503050406030204" pitchFamily="18" charset="0"/>
                          </a:rPr>
                          <m:t>5</m:t>
                        </m:r>
                      </m:sup>
                    </m:sSup>
                  </m:oMath>
                </a14:m>
                <a:endParaRPr lang="en-US" altLang="zh-CN" sz="2000" dirty="0"/>
              </a:p>
              <a:p>
                <a:pPr lvl="1">
                  <a:lnSpc>
                    <a:spcPct val="200000"/>
                  </a:lnSpc>
                </a:pPr>
                <a:r>
                  <a:rPr lang="zh-CN" altLang="en-US" dirty="0"/>
                  <a:t>对通信系统的假定</a:t>
                </a:r>
                <a:endParaRPr lang="zh-CN" altLang="en-US" dirty="0"/>
              </a:p>
              <a:p>
                <a:pPr marL="457200" lvl="1" indent="0">
                  <a:buNone/>
                </a:pPr>
                <a:r>
                  <a:rPr lang="zh-CN" altLang="en-US" sz="2000" dirty="0"/>
                  <a:t>数据传输速度</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10</m:t>
                        </m:r>
                      </m:e>
                      <m:sup>
                        <m:r>
                          <a:rPr lang="en-US" altLang="zh-CN" sz="2000" b="0" i="1" smtClean="0">
                            <a:latin typeface="Cambria Math" panose="02040503050406030204" pitchFamily="18" charset="0"/>
                          </a:rPr>
                          <m:t>4</m:t>
                        </m:r>
                      </m:sup>
                    </m:sSup>
                  </m:oMath>
                </a14:m>
                <a:r>
                  <a:rPr lang="zh-CN" altLang="en-US" sz="2000" dirty="0"/>
                  <a:t>字节</a:t>
                </a:r>
                <a:r>
                  <a:rPr lang="en-US" altLang="zh-CN" sz="2000" dirty="0"/>
                  <a:t>/</a:t>
                </a:r>
                <a:r>
                  <a:rPr lang="zh-CN" altLang="en-US" sz="2000" dirty="0"/>
                  <a:t>秒</a:t>
                </a:r>
                <a:endParaRPr lang="zh-CN" altLang="en-US" sz="2000" dirty="0"/>
              </a:p>
              <a:p>
                <a:pPr marL="457200" lvl="1" indent="0">
                  <a:buNone/>
                </a:pPr>
                <a:r>
                  <a:rPr lang="zh-CN" altLang="en-US" sz="2000" dirty="0"/>
                  <a:t>传输延迟</a:t>
                </a:r>
                <a:r>
                  <a:rPr lang="en-US" altLang="zh-CN" sz="2000" dirty="0"/>
                  <a:t>=1</a:t>
                </a:r>
                <a:r>
                  <a:rPr lang="zh-CN" altLang="en-US" sz="2000" dirty="0"/>
                  <a:t>秒</a:t>
                </a:r>
                <a:endParaRPr lang="zh-CN" altLang="en-US" sz="2000"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buClr>
                    <a:schemeClr val="hlink"/>
                  </a:buClr>
                  <a:buSzTx/>
                </a:pPr>
                <a:r>
                  <a:rPr lang="en-US" altLang="zh-CN" dirty="0"/>
                  <a:t>6</a:t>
                </a:r>
                <a:r>
                  <a:rPr lang="zh-CN" altLang="en-US" dirty="0"/>
                  <a:t>种可能的查询存取策略，对每种</a:t>
                </a:r>
                <a:r>
                  <a:rPr lang="en-US" altLang="zh-CN" dirty="0" err="1"/>
                  <a:t>i</a:t>
                </a:r>
                <a:r>
                  <a:rPr lang="zh-CN" altLang="en-US" dirty="0"/>
                  <a:t>分别计算通信时间</a:t>
                </a:r>
                <a:r>
                  <a:rPr lang="en-US" altLang="zh-CN" dirty="0"/>
                  <a:t>T[</a:t>
                </a:r>
                <a:r>
                  <a:rPr lang="en-US" altLang="zh-CN" dirty="0" err="1"/>
                  <a:t>i</a:t>
                </a:r>
                <a:r>
                  <a:rPr lang="en-US" altLang="zh-CN" dirty="0"/>
                  <a:t>]</a:t>
                </a:r>
                <a:r>
                  <a:rPr lang="zh-CN" altLang="en-US" dirty="0"/>
                  <a:t>：</a:t>
                </a:r>
                <a:endParaRPr lang="zh-CN" altLang="en-US" dirty="0"/>
              </a:p>
              <a:p>
                <a:pPr algn="ctr" eaLnBrk="1" hangingPunct="1">
                  <a:lnSpc>
                    <a:spcPct val="130000"/>
                  </a:lnSpc>
                  <a:buClr>
                    <a:schemeClr val="hlink"/>
                  </a:buClr>
                  <a:buSzTx/>
                  <a:buFont typeface="Wingdings" panose="05000000000000000000" pitchFamily="2" charset="2"/>
                  <a:buNone/>
                </a:pPr>
                <a:r>
                  <a:rPr lang="en-US" altLang="zh-CN" sz="2000" b="1" dirty="0">
                    <a:solidFill>
                      <a:srgbClr val="FF00FF"/>
                    </a:solidFill>
                  </a:rPr>
                  <a:t>T[</a:t>
                </a:r>
                <a:r>
                  <a:rPr lang="en-US" altLang="zh-CN" sz="2000" b="1" dirty="0" err="1">
                    <a:solidFill>
                      <a:srgbClr val="FF00FF"/>
                    </a:solidFill>
                  </a:rPr>
                  <a:t>i</a:t>
                </a:r>
                <a:r>
                  <a:rPr lang="en-US" altLang="zh-CN" sz="2000" b="1" dirty="0">
                    <a:solidFill>
                      <a:srgbClr val="FF00FF"/>
                    </a:solidFill>
                  </a:rPr>
                  <a:t>]</a:t>
                </a:r>
                <a:r>
                  <a:rPr lang="zh-CN" altLang="en-US" sz="2000" b="1" dirty="0">
                    <a:solidFill>
                      <a:srgbClr val="FF00FF"/>
                    </a:solidFill>
                  </a:rPr>
                  <a:t>＝总传输延迟</a:t>
                </a:r>
                <a:r>
                  <a:rPr lang="en-US" altLang="zh-CN" sz="2000" b="1" dirty="0">
                    <a:solidFill>
                      <a:srgbClr val="FF00FF"/>
                    </a:solidFill>
                  </a:rPr>
                  <a:t>+</a:t>
                </a:r>
                <a:r>
                  <a:rPr lang="zh-CN" altLang="en-US" sz="2000" b="1" dirty="0">
                    <a:solidFill>
                      <a:srgbClr val="FF00FF"/>
                    </a:solidFill>
                  </a:rPr>
                  <a:t>总数据量</a:t>
                </a:r>
                <a:r>
                  <a:rPr lang="en-US" altLang="zh-CN" sz="2000" b="1" dirty="0">
                    <a:solidFill>
                      <a:srgbClr val="FF00FF"/>
                    </a:solidFill>
                  </a:rPr>
                  <a:t>/</a:t>
                </a:r>
                <a:r>
                  <a:rPr lang="zh-CN" altLang="en-US" sz="2000" b="1" dirty="0">
                    <a:solidFill>
                      <a:srgbClr val="FF00FF"/>
                    </a:solidFill>
                  </a:rPr>
                  <a:t>数据传输速度</a:t>
                </a:r>
                <a:r>
                  <a:rPr lang="en-US" altLang="zh-CN" sz="2000" b="1" dirty="0">
                    <a:solidFill>
                      <a:srgbClr val="FF00FF"/>
                    </a:solidFill>
                  </a:rPr>
                  <a:t>(</a:t>
                </a:r>
                <a:r>
                  <a:rPr lang="zh-CN" altLang="en-US" sz="2000" b="1" dirty="0">
                    <a:solidFill>
                      <a:srgbClr val="FF00FF"/>
                    </a:solidFill>
                  </a:rPr>
                  <a:t>单位：</a:t>
                </a:r>
                <a:r>
                  <a:rPr lang="en-US" altLang="zh-CN" sz="2000" b="1" dirty="0">
                    <a:solidFill>
                      <a:srgbClr val="FF00FF"/>
                    </a:solidFill>
                  </a:rPr>
                  <a:t>b/s)</a:t>
                </a:r>
                <a:endParaRPr lang="en-US" altLang="zh-CN" sz="2000" b="1" dirty="0">
                  <a:solidFill>
                    <a:srgbClr val="FF00FF"/>
                  </a:solidFill>
                </a:endParaRPr>
              </a:p>
              <a:p>
                <a:pPr lvl="1">
                  <a:lnSpc>
                    <a:spcPct val="200000"/>
                  </a:lnSpc>
                  <a:buClr>
                    <a:schemeClr val="hlink"/>
                  </a:buClr>
                </a:pPr>
                <a:r>
                  <a:rPr lang="zh-CN" altLang="en-US" dirty="0"/>
                  <a:t>策略</a:t>
                </a:r>
                <a:r>
                  <a:rPr lang="en-US" altLang="zh-CN" dirty="0"/>
                  <a:t>1  </a:t>
                </a:r>
                <a:r>
                  <a:rPr lang="zh-CN" altLang="en-US" dirty="0"/>
                  <a:t>把关系</a:t>
                </a:r>
                <a:r>
                  <a:rPr lang="en-US" altLang="zh-CN" dirty="0"/>
                  <a:t>P</a:t>
                </a:r>
                <a:r>
                  <a:rPr lang="zh-CN" altLang="en-US" dirty="0"/>
                  <a:t>传送到场地</a:t>
                </a:r>
                <a:r>
                  <a:rPr lang="en-US" altLang="zh-CN" dirty="0"/>
                  <a:t>A</a:t>
                </a:r>
                <a:r>
                  <a:rPr lang="zh-CN" altLang="en-US" dirty="0"/>
                  <a:t>，在</a:t>
                </a:r>
                <a:r>
                  <a:rPr lang="en-US" altLang="zh-CN" dirty="0"/>
                  <a:t>A</a:t>
                </a:r>
                <a:r>
                  <a:rPr lang="zh-CN" altLang="en-US" dirty="0"/>
                  <a:t>地进行查询处理      </a:t>
                </a:r>
                <a:endParaRPr lang="zh-CN" altLang="en-US" dirty="0"/>
              </a:p>
              <a:p>
                <a:pPr eaLnBrk="1" hangingPunct="1">
                  <a:lnSpc>
                    <a:spcPct val="130000"/>
                  </a:lnSpc>
                  <a:buClr>
                    <a:schemeClr val="hlink"/>
                  </a:buClr>
                  <a:buSzTx/>
                  <a:buFont typeface="Wingdings" panose="05000000000000000000" pitchFamily="2" charset="2"/>
                </a:pPr>
                <a:endParaRPr lang="en-US" altLang="zh-CN" sz="2400" dirty="0"/>
              </a:p>
              <a:p>
                <a:pPr eaLnBrk="1" hangingPunct="1">
                  <a:lnSpc>
                    <a:spcPct val="130000"/>
                  </a:lnSpc>
                  <a:buClr>
                    <a:schemeClr val="hlink"/>
                  </a:buClr>
                  <a:buSzTx/>
                  <a:buFont typeface="Wingdings" panose="05000000000000000000" pitchFamily="2" charset="2"/>
                </a:pPr>
                <a:endParaRPr lang="en-US" altLang="zh-CN" sz="2400" dirty="0"/>
              </a:p>
              <a:p>
                <a:pPr lvl="1">
                  <a:lnSpc>
                    <a:spcPct val="200000"/>
                  </a:lnSpc>
                  <a:buClr>
                    <a:schemeClr val="hlink"/>
                  </a:buClr>
                  <a:buSzTx/>
                </a:pPr>
                <a:r>
                  <a:rPr lang="en-US" altLang="zh-CN" dirty="0"/>
                  <a:t>T[1]=1+</a:t>
                </a:r>
                <a:r>
                  <a:rPr lang="en-US" altLang="zh-CN" sz="2400" dirty="0"/>
                  <a:t>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5</m:t>
                        </m:r>
                      </m:sup>
                    </m:sSup>
                    <m:r>
                      <a:rPr lang="en-US" altLang="zh-CN" sz="2400" b="0" i="1" dirty="0" smtClean="0">
                        <a:latin typeface="Cambria Math" panose="02040503050406030204" pitchFamily="18" charset="0"/>
                      </a:rPr>
                      <m:t> </m:t>
                    </m:r>
                  </m:oMath>
                </a14:m>
                <a:r>
                  <a:rPr lang="en-US" altLang="zh-CN" dirty="0"/>
                  <a:t>×100/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b="0" i="1" smtClean="0">
                            <a:latin typeface="Cambria Math" panose="02040503050406030204" pitchFamily="18" charset="0"/>
                          </a:rPr>
                          <m:t>4</m:t>
                        </m:r>
                      </m:sup>
                    </m:sSup>
                    <m:r>
                      <a:rPr lang="en-US" altLang="zh-CN" i="1">
                        <a:latin typeface="Cambria Math" panose="02040503050406030204" pitchFamily="18" charset="0"/>
                      </a:rPr>
                      <m:t> </m:t>
                    </m:r>
                  </m:oMath>
                </a14:m>
                <a:r>
                  <a:rPr lang="en-US" altLang="zh-CN" dirty="0"/>
                  <a:t>=103</a:t>
                </a:r>
                <a:r>
                  <a:rPr lang="zh-CN" altLang="en-US" dirty="0"/>
                  <a:t>秒</a:t>
                </a:r>
                <a:r>
                  <a:rPr lang="en-US" altLang="zh-CN" dirty="0"/>
                  <a:t>(16.7</a:t>
                </a:r>
                <a:r>
                  <a:rPr lang="zh-CN" altLang="en-US" dirty="0"/>
                  <a:t>分</a:t>
                </a:r>
                <a:r>
                  <a:rPr lang="en-US" altLang="zh-CN" dirty="0"/>
                  <a:t>)</a:t>
                </a:r>
                <a:endParaRPr lang="en-US" altLang="zh-CN"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3632816" y="3951178"/>
            <a:ext cx="3371234" cy="132441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buClr>
                    <a:schemeClr val="hlink"/>
                  </a:buClr>
                </a:pPr>
                <a:r>
                  <a:rPr lang="zh-CN" altLang="en-US" dirty="0"/>
                  <a:t>策略</a:t>
                </a:r>
                <a:r>
                  <a:rPr lang="en-US" altLang="zh-CN" dirty="0"/>
                  <a:t>2  </a:t>
                </a:r>
                <a:r>
                  <a:rPr lang="zh-CN" altLang="en-US" dirty="0"/>
                  <a:t>把关系</a:t>
                </a:r>
                <a:r>
                  <a:rPr lang="en-US" altLang="zh-CN" dirty="0"/>
                  <a:t>S</a:t>
                </a:r>
                <a:r>
                  <a:rPr lang="zh-CN" altLang="en-US" dirty="0"/>
                  <a:t>、</a:t>
                </a:r>
                <a:r>
                  <a:rPr lang="en-US" altLang="zh-CN" dirty="0"/>
                  <a:t>SP</a:t>
                </a:r>
                <a:r>
                  <a:rPr lang="zh-CN" altLang="en-US" dirty="0"/>
                  <a:t>传到场地</a:t>
                </a:r>
                <a:r>
                  <a:rPr lang="en-US" altLang="zh-CN" dirty="0"/>
                  <a:t>B</a:t>
                </a:r>
                <a:r>
                  <a:rPr lang="zh-CN" altLang="en-US" dirty="0"/>
                  <a:t>，在</a:t>
                </a:r>
                <a:r>
                  <a:rPr lang="en-US" altLang="zh-CN" dirty="0"/>
                  <a:t>B</a:t>
                </a:r>
                <a:r>
                  <a:rPr lang="zh-CN" altLang="en-US" dirty="0"/>
                  <a:t>地执行查询处理</a:t>
                </a:r>
                <a:endParaRPr lang="zh-CN" altLang="en-US" dirty="0"/>
              </a:p>
              <a:p>
                <a:pPr lvl="1">
                  <a:lnSpc>
                    <a:spcPct val="200000"/>
                  </a:lnSpc>
                  <a:buClr>
                    <a:schemeClr val="hlink"/>
                  </a:buClr>
                </a:pPr>
                <a:r>
                  <a:rPr lang="zh-CN" altLang="en-US" dirty="0"/>
                  <a:t> </a:t>
                </a:r>
                <a:endParaRPr lang="zh-CN" altLang="en-US" dirty="0"/>
              </a:p>
              <a:p>
                <a:pPr lvl="1">
                  <a:lnSpc>
                    <a:spcPct val="200000"/>
                  </a:lnSpc>
                  <a:buClr>
                    <a:schemeClr val="hlink"/>
                  </a:buClr>
                </a:pPr>
                <a:endParaRPr lang="en-US" altLang="zh-CN" dirty="0"/>
              </a:p>
              <a:p>
                <a:pPr lvl="1">
                  <a:lnSpc>
                    <a:spcPct val="200000"/>
                  </a:lnSpc>
                  <a:buClr>
                    <a:schemeClr val="hlink"/>
                  </a:buClr>
                </a:pPr>
                <a:r>
                  <a:rPr lang="en-US" altLang="zh-CN" dirty="0"/>
                  <a:t>T[2]=2+(</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4</m:t>
                        </m:r>
                      </m:sup>
                    </m:sSup>
                    <m:r>
                      <a:rPr lang="en-US" altLang="zh-CN" sz="2400" b="0" i="1" dirty="0" smtClean="0">
                        <a:latin typeface="Cambria Math" panose="02040503050406030204" pitchFamily="18" charset="0"/>
                      </a:rPr>
                      <m:t> </m:t>
                    </m:r>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b="0" i="1" dirty="0" smtClean="0">
                            <a:latin typeface="Cambria Math" panose="02040503050406030204" pitchFamily="18" charset="0"/>
                          </a:rPr>
                          <m:t>6</m:t>
                        </m:r>
                      </m:sup>
                    </m:sSup>
                    <m:r>
                      <a:rPr lang="en-US" altLang="zh-CN" i="1" dirty="0">
                        <a:latin typeface="Cambria Math" panose="02040503050406030204" pitchFamily="18" charset="0"/>
                      </a:rPr>
                      <m:t> </m:t>
                    </m:r>
                  </m:oMath>
                </a14:m>
                <a:r>
                  <a:rPr lang="en-US" altLang="zh-CN" dirty="0"/>
                  <a:t>)×100/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4</m:t>
                        </m:r>
                      </m:sup>
                    </m:sSup>
                    <m:r>
                      <a:rPr lang="en-US" altLang="zh-CN" i="1" dirty="0">
                        <a:latin typeface="Cambria Math" panose="02040503050406030204" pitchFamily="18" charset="0"/>
                      </a:rPr>
                      <m:t> </m:t>
                    </m:r>
                  </m:oMath>
                </a14:m>
                <a:r>
                  <a:rPr lang="en-US" altLang="zh-CN" dirty="0"/>
                  <a:t>≈10100</a:t>
                </a:r>
                <a:r>
                  <a:rPr lang="zh-CN" altLang="en-US" dirty="0"/>
                  <a:t>秒</a:t>
                </a:r>
                <a:r>
                  <a:rPr lang="en-US" altLang="zh-CN" dirty="0"/>
                  <a:t>(2.8</a:t>
                </a:r>
                <a:r>
                  <a:rPr lang="zh-CN" altLang="en-US" dirty="0"/>
                  <a:t>小时</a:t>
                </a:r>
                <a:r>
                  <a:rPr lang="en-US" altLang="zh-CN" dirty="0"/>
                  <a:t>) </a:t>
                </a:r>
                <a:endParaRPr lang="en-US" altLang="zh-CN"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3710602" y="2777389"/>
            <a:ext cx="4010585" cy="156231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buClr>
                    <a:schemeClr val="hlink"/>
                  </a:buClr>
                </a:pPr>
                <a:r>
                  <a:rPr lang="zh-CN" altLang="en-US" dirty="0"/>
                  <a:t>策略</a:t>
                </a:r>
                <a:r>
                  <a:rPr lang="en-US" altLang="zh-CN" dirty="0"/>
                  <a:t>3:</a:t>
                </a:r>
                <a:r>
                  <a:rPr lang="zh-CN" altLang="en-US" dirty="0"/>
                  <a:t>在场地</a:t>
                </a:r>
                <a:r>
                  <a:rPr lang="en-US" altLang="zh-CN" dirty="0"/>
                  <a:t>A</a:t>
                </a:r>
                <a:r>
                  <a:rPr lang="zh-CN" altLang="en-US" dirty="0"/>
                  <a:t>连接关系</a:t>
                </a:r>
                <a:r>
                  <a:rPr lang="en-US" altLang="zh-CN" dirty="0"/>
                  <a:t>S</a:t>
                </a:r>
                <a:r>
                  <a:rPr lang="zh-CN" altLang="en-US" dirty="0"/>
                  <a:t>和</a:t>
                </a:r>
                <a:r>
                  <a:rPr lang="en-US" altLang="zh-CN" dirty="0"/>
                  <a:t>SP</a:t>
                </a:r>
                <a:r>
                  <a:rPr lang="zh-CN" altLang="en-US" dirty="0"/>
                  <a:t>，选出城市为北京的元组</a:t>
                </a:r>
                <a:r>
                  <a:rPr lang="en-US" altLang="zh-CN" dirty="0"/>
                  <a:t>(</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5</m:t>
                        </m:r>
                      </m:sup>
                    </m:sSup>
                  </m:oMath>
                </a14:m>
                <a:r>
                  <a:rPr lang="zh-CN" altLang="en-US" dirty="0"/>
                  <a:t>个</a:t>
                </a:r>
                <a:r>
                  <a:rPr lang="en-US" altLang="zh-CN" dirty="0"/>
                  <a:t>)</a:t>
                </a:r>
                <a:r>
                  <a:rPr lang="zh-CN" altLang="en-US" dirty="0"/>
                  <a:t>，然后对这些元组中的每个元组的</a:t>
                </a:r>
                <a:r>
                  <a:rPr lang="en-US" altLang="zh-CN" dirty="0" err="1"/>
                  <a:t>Pno</a:t>
                </a:r>
                <a:r>
                  <a:rPr lang="zh-CN" altLang="en-US" dirty="0"/>
                  <a:t>，询问场地</a:t>
                </a:r>
                <a:r>
                  <a:rPr lang="en-US" altLang="zh-CN" dirty="0"/>
                  <a:t>B</a:t>
                </a:r>
                <a:r>
                  <a:rPr lang="zh-CN" altLang="en-US" dirty="0"/>
                  <a:t>，看此零件是否红色</a:t>
                </a:r>
                <a:endParaRPr lang="zh-CN" altLang="en-US" dirty="0"/>
              </a:p>
              <a:p>
                <a:pPr lvl="1">
                  <a:lnSpc>
                    <a:spcPct val="200000"/>
                  </a:lnSpc>
                  <a:buClr>
                    <a:schemeClr val="hlink"/>
                  </a:buClr>
                </a:pPr>
                <a:r>
                  <a:rPr lang="zh-CN" altLang="en-US" dirty="0"/>
                  <a:t>共问答</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5</m:t>
                        </m:r>
                      </m:sup>
                    </m:sSup>
                  </m:oMath>
                </a14:m>
                <a:r>
                  <a:rPr lang="zh-CN" altLang="en-US" dirty="0"/>
                  <a:t>次，由于不是传送数据，只是消息的问答</a:t>
                </a:r>
                <a:endParaRPr lang="zh-CN" altLang="en-US" dirty="0"/>
              </a:p>
              <a:p>
                <a:pPr lvl="1">
                  <a:lnSpc>
                    <a:spcPct val="200000"/>
                  </a:lnSpc>
                  <a:buClr>
                    <a:schemeClr val="hlink"/>
                  </a:buClr>
                </a:pPr>
                <a:r>
                  <a:rPr lang="en-US" altLang="zh-CN" dirty="0"/>
                  <a:t>T[3] ≈ 2×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5</m:t>
                        </m:r>
                      </m:sup>
                    </m:sSup>
                  </m:oMath>
                </a14:m>
                <a:r>
                  <a:rPr lang="en-US" altLang="zh-CN" dirty="0"/>
                  <a:t> s (2.3</a:t>
                </a:r>
                <a:r>
                  <a:rPr lang="zh-CN" altLang="en-US" dirty="0"/>
                  <a:t>天</a:t>
                </a:r>
                <a:r>
                  <a:rPr lang="en-US" altLang="zh-CN" dirty="0"/>
                  <a:t>!)</a:t>
                </a:r>
                <a:endParaRPr lang="en-US" altLang="zh-CN"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4572728" y="4613932"/>
            <a:ext cx="3500192" cy="156303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buClr>
                <a:schemeClr val="hlink"/>
              </a:buClr>
            </a:pPr>
            <a:r>
              <a:rPr lang="zh-CN" altLang="en-US" dirty="0"/>
              <a:t>策略</a:t>
            </a:r>
            <a:r>
              <a:rPr lang="en-US" altLang="zh-CN" dirty="0"/>
              <a:t>4  </a:t>
            </a:r>
            <a:r>
              <a:rPr lang="zh-CN" altLang="en-US" dirty="0"/>
              <a:t>在场地</a:t>
            </a:r>
            <a:r>
              <a:rPr lang="en-US" altLang="zh-CN" dirty="0"/>
              <a:t>B</a:t>
            </a:r>
            <a:r>
              <a:rPr lang="zh-CN" altLang="en-US" dirty="0"/>
              <a:t>选出红色零件的元组</a:t>
            </a:r>
            <a:r>
              <a:rPr lang="en-US" altLang="zh-CN" dirty="0"/>
              <a:t>(10</a:t>
            </a:r>
            <a:r>
              <a:rPr lang="zh-CN" altLang="en-US" dirty="0"/>
              <a:t>个</a:t>
            </a:r>
            <a:r>
              <a:rPr lang="en-US" altLang="zh-CN" dirty="0"/>
              <a:t>)</a:t>
            </a:r>
            <a:r>
              <a:rPr lang="zh-CN" altLang="en-US" dirty="0"/>
              <a:t>，然后对每一个元组逐一检查场地</a:t>
            </a:r>
            <a:r>
              <a:rPr lang="en-US" altLang="zh-CN" dirty="0"/>
              <a:t>A</a:t>
            </a:r>
            <a:r>
              <a:rPr lang="zh-CN" altLang="en-US" dirty="0"/>
              <a:t>，看北京供应商的装运单中是否有这个零件装运单</a:t>
            </a:r>
            <a:r>
              <a:rPr lang="en-US" altLang="zh-CN" dirty="0"/>
              <a:t>(</a:t>
            </a:r>
            <a:r>
              <a:rPr lang="zh-CN" altLang="en-US" dirty="0"/>
              <a:t>若有则选出</a:t>
            </a:r>
            <a:r>
              <a:rPr lang="en-US" altLang="zh-CN" dirty="0"/>
              <a:t>S#)</a:t>
            </a:r>
            <a:endParaRPr lang="en-US" altLang="zh-CN" dirty="0"/>
          </a:p>
          <a:p>
            <a:pPr lvl="1">
              <a:lnSpc>
                <a:spcPct val="200000"/>
              </a:lnSpc>
              <a:buClr>
                <a:schemeClr val="hlink"/>
              </a:buClr>
            </a:pPr>
            <a:r>
              <a:rPr lang="zh-CN" altLang="en-US" dirty="0"/>
              <a:t>每做这样一次检查包括</a:t>
            </a:r>
            <a:r>
              <a:rPr lang="en-US" altLang="zh-CN" dirty="0"/>
              <a:t>2</a:t>
            </a:r>
            <a:r>
              <a:rPr lang="zh-CN" altLang="en-US" dirty="0"/>
              <a:t>次消息，共问一答</a:t>
            </a:r>
            <a:r>
              <a:rPr lang="en-US" altLang="zh-CN" dirty="0"/>
              <a:t>10</a:t>
            </a:r>
            <a:r>
              <a:rPr lang="zh-CN" altLang="en-US" dirty="0"/>
              <a:t>次</a:t>
            </a:r>
            <a:endParaRPr lang="en-US" altLang="zh-CN" dirty="0"/>
          </a:p>
          <a:p>
            <a:pPr marL="457200" lvl="1" indent="0">
              <a:lnSpc>
                <a:spcPct val="200000"/>
              </a:lnSpc>
              <a:buClr>
                <a:schemeClr val="hlink"/>
              </a:buClr>
              <a:buNone/>
            </a:pPr>
            <a:r>
              <a:rPr lang="en-US" altLang="zh-CN" dirty="0"/>
              <a:t>   T[4]=2×10=20</a:t>
            </a:r>
            <a:r>
              <a:rPr lang="zh-CN" altLang="en-US" dirty="0"/>
              <a:t>秒</a:t>
            </a:r>
            <a:endParaRPr lang="zh-CN" altLang="en-US" dirty="0"/>
          </a:p>
        </p:txBody>
      </p:sp>
      <p:pic>
        <p:nvPicPr>
          <p:cNvPr id="2" name="图片 1"/>
          <p:cNvPicPr>
            <a:picLocks noChangeAspect="1"/>
          </p:cNvPicPr>
          <p:nvPr/>
        </p:nvPicPr>
        <p:blipFill>
          <a:blip r:embed="rId1"/>
          <a:stretch>
            <a:fillRect/>
          </a:stretch>
        </p:blipFill>
        <p:spPr>
          <a:xfrm>
            <a:off x="4145076" y="4400425"/>
            <a:ext cx="3957264" cy="177653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00000"/>
                  </a:lnSpc>
                  <a:buClr>
                    <a:schemeClr val="hlink"/>
                  </a:buClr>
                  <a:buSzTx/>
                </a:pPr>
                <a:r>
                  <a:rPr lang="zh-CN" altLang="en-US" dirty="0"/>
                  <a:t>策略</a:t>
                </a:r>
                <a:r>
                  <a:rPr lang="en-US" altLang="zh-CN" dirty="0"/>
                  <a:t>5  </a:t>
                </a:r>
                <a:r>
                  <a:rPr lang="zh-CN" altLang="en-US" dirty="0"/>
                  <a:t>在场地</a:t>
                </a:r>
                <a:r>
                  <a:rPr lang="en-US" altLang="zh-CN" dirty="0"/>
                  <a:t>A</a:t>
                </a:r>
                <a:r>
                  <a:rPr lang="zh-CN" altLang="en-US" dirty="0"/>
                  <a:t>选出北京的供应商的装运单</a:t>
                </a:r>
                <a:r>
                  <a:rPr lang="en-US" altLang="zh-CN" dirty="0"/>
                  <a:t>(</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5</m:t>
                        </m:r>
                      </m:sup>
                    </m:sSup>
                  </m:oMath>
                </a14:m>
                <a:r>
                  <a:rPr lang="en-US" altLang="zh-CN" dirty="0"/>
                  <a:t>) </a:t>
                </a:r>
                <a:r>
                  <a:rPr lang="zh-CN" altLang="en-US" dirty="0"/>
                  <a:t>把结果送到场地</a:t>
                </a:r>
                <a:r>
                  <a:rPr lang="en-US" altLang="zh-CN" dirty="0"/>
                  <a:t>B</a:t>
                </a:r>
                <a:r>
                  <a:rPr lang="zh-CN" altLang="en-US" dirty="0"/>
                  <a:t>，在场地</a:t>
                </a:r>
                <a:r>
                  <a:rPr lang="en-US" altLang="zh-CN" dirty="0"/>
                  <a:t>B</a:t>
                </a:r>
                <a:r>
                  <a:rPr lang="zh-CN" altLang="en-US" dirty="0"/>
                  <a:t>完成最后处理，所以</a:t>
                </a:r>
                <a:endParaRPr lang="zh-CN" altLang="en-US" dirty="0"/>
              </a:p>
              <a:p>
                <a:pPr marL="457200" lvl="1" indent="0" algn="ctr">
                  <a:lnSpc>
                    <a:spcPct val="200000"/>
                  </a:lnSpc>
                  <a:buClr>
                    <a:schemeClr val="hlink"/>
                  </a:buClr>
                  <a:buSzTx/>
                  <a:buNone/>
                </a:pPr>
                <a:r>
                  <a:rPr lang="en-US" altLang="zh-CN" dirty="0"/>
                  <a:t>T[5]=1+(</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5</m:t>
                        </m:r>
                      </m:sup>
                    </m:sSup>
                    <m:r>
                      <a:rPr lang="en-US" altLang="zh-CN" i="1" dirty="0">
                        <a:latin typeface="Cambria Math" panose="02040503050406030204" pitchFamily="18" charset="0"/>
                      </a:rPr>
                      <m:t> </m:t>
                    </m:r>
                  </m:oMath>
                </a14:m>
                <a:r>
                  <a:rPr lang="en-US" altLang="zh-CN" dirty="0"/>
                  <a:t>×100)/</a:t>
                </a:r>
                <a:r>
                  <a:rPr lang="en-US" altLang="zh-CN" sz="2400" dirty="0"/>
                  <a:t>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4</m:t>
                        </m:r>
                      </m:sup>
                    </m:sSup>
                    <m:r>
                      <a:rPr lang="en-US" altLang="zh-CN" sz="2400" b="0" i="1" dirty="0" smtClean="0">
                        <a:latin typeface="Cambria Math" panose="02040503050406030204" pitchFamily="18" charset="0"/>
                      </a:rPr>
                      <m:t> </m:t>
                    </m:r>
                  </m:oMath>
                </a14:m>
                <a:r>
                  <a:rPr lang="en-US" altLang="zh-CN" dirty="0"/>
                  <a:t>≈1000</a:t>
                </a:r>
                <a:r>
                  <a:rPr lang="zh-CN" altLang="en-US" dirty="0"/>
                  <a:t>秒</a:t>
                </a:r>
                <a:r>
                  <a:rPr lang="en-US" altLang="zh-CN" dirty="0"/>
                  <a:t>(</a:t>
                </a:r>
                <a:r>
                  <a:rPr lang="en-US" altLang="zh-CN" dirty="0">
                    <a:solidFill>
                      <a:srgbClr val="FF0000"/>
                    </a:solidFill>
                  </a:rPr>
                  <a:t>16.7</a:t>
                </a:r>
                <a:r>
                  <a:rPr lang="zh-CN" altLang="en-US" dirty="0">
                    <a:solidFill>
                      <a:srgbClr val="FF0000"/>
                    </a:solidFill>
                  </a:rPr>
                  <a:t>分</a:t>
                </a:r>
                <a:r>
                  <a:rPr lang="en-US" altLang="zh-CN" dirty="0"/>
                  <a:t>)</a:t>
                </a:r>
                <a:endParaRPr lang="en-US" altLang="zh-CN"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4046257" y="4346089"/>
            <a:ext cx="4354793" cy="183087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a:p>
                <a:pPr lvl="1">
                  <a:lnSpc>
                    <a:spcPct val="210000"/>
                  </a:lnSpc>
                  <a:buClr>
                    <a:schemeClr val="hlink"/>
                  </a:buClr>
                </a:pPr>
                <a:r>
                  <a:rPr lang="zh-CN" altLang="en-US" dirty="0"/>
                  <a:t>策略</a:t>
                </a:r>
                <a:r>
                  <a:rPr lang="en-US" altLang="zh-CN" dirty="0"/>
                  <a:t>6</a:t>
                </a:r>
                <a:r>
                  <a:rPr lang="zh-CN" altLang="en-US" dirty="0"/>
                  <a:t>：在场地</a:t>
                </a:r>
                <a:r>
                  <a:rPr lang="en-US" altLang="zh-CN" dirty="0"/>
                  <a:t>B</a:t>
                </a:r>
                <a:r>
                  <a:rPr lang="zh-CN" altLang="en-US" dirty="0"/>
                  <a:t>的关系</a:t>
                </a:r>
                <a:r>
                  <a:rPr lang="en-US" altLang="zh-CN" dirty="0"/>
                  <a:t>P</a:t>
                </a:r>
                <a:r>
                  <a:rPr lang="zh-CN" altLang="en-US" dirty="0"/>
                  <a:t>中选出红色的元组</a:t>
                </a:r>
                <a:r>
                  <a:rPr lang="en-US" altLang="zh-CN" dirty="0"/>
                  <a:t>(10</a:t>
                </a:r>
                <a:r>
                  <a:rPr lang="zh-CN" altLang="en-US" dirty="0"/>
                  <a:t>个</a:t>
                </a:r>
                <a:r>
                  <a:rPr lang="en-US" altLang="zh-CN" dirty="0"/>
                  <a:t>)</a:t>
                </a:r>
                <a:r>
                  <a:rPr lang="zh-CN" altLang="en-US" dirty="0"/>
                  <a:t>，把结果送到场地</a:t>
                </a:r>
                <a:r>
                  <a:rPr lang="en-US" altLang="zh-CN" dirty="0"/>
                  <a:t>A</a:t>
                </a:r>
                <a:r>
                  <a:rPr lang="zh-CN" altLang="en-US" dirty="0"/>
                  <a:t>完成最终处理。所以</a:t>
                </a:r>
                <a:endParaRPr lang="zh-CN" altLang="en-US" dirty="0"/>
              </a:p>
              <a:p>
                <a:pPr marL="457200" lvl="1" indent="0" algn="ctr">
                  <a:lnSpc>
                    <a:spcPct val="210000"/>
                  </a:lnSpc>
                  <a:buClr>
                    <a:schemeClr val="hlink"/>
                  </a:buClr>
                  <a:buNone/>
                </a:pPr>
                <a:r>
                  <a:rPr lang="en-US" altLang="zh-CN" dirty="0"/>
                  <a:t>T[6]=1+(10×100)/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b="0" i="1" dirty="0" smtClean="0">
                            <a:latin typeface="Cambria Math" panose="02040503050406030204" pitchFamily="18" charset="0"/>
                          </a:rPr>
                          <m:t>4</m:t>
                        </m:r>
                      </m:sup>
                    </m:sSup>
                  </m:oMath>
                </a14:m>
                <a:r>
                  <a:rPr lang="en-US" altLang="zh-CN" dirty="0"/>
                  <a:t> ≈</a:t>
                </a:r>
                <a:r>
                  <a:rPr lang="en-US" altLang="zh-CN" dirty="0">
                    <a:solidFill>
                      <a:srgbClr val="FF0000"/>
                    </a:solidFill>
                  </a:rPr>
                  <a:t>1</a:t>
                </a:r>
                <a:r>
                  <a:rPr lang="zh-CN" altLang="en-US" dirty="0">
                    <a:solidFill>
                      <a:srgbClr val="FF0000"/>
                    </a:solidFill>
                  </a:rPr>
                  <a:t>秒</a:t>
                </a:r>
                <a:endParaRPr lang="zh-CN" altLang="en-US" dirty="0">
                  <a:solidFill>
                    <a:srgbClr val="FF0000"/>
                  </a:solidFill>
                </a:endParaRPr>
              </a:p>
              <a:p>
                <a:pPr lvl="1">
                  <a:lnSpc>
                    <a:spcPct val="200000"/>
                  </a:lnSpc>
                  <a:buClr>
                    <a:schemeClr val="hlink"/>
                  </a:buClr>
                  <a:buSzTx/>
                </a:pPr>
                <a:endParaRPr lang="en-US" altLang="zh-CN" dirty="0"/>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3873286" y="4335356"/>
            <a:ext cx="4500843" cy="169984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zh-CN" altLang="en-US" dirty="0">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1875558" y="1969145"/>
          <a:ext cx="8496300" cy="4297512"/>
        </p:xfrm>
        <a:graphic>
          <a:graphicData uri="http://schemas.openxmlformats.org/drawingml/2006/table">
            <a:tbl>
              <a:tblPr/>
              <a:tblGrid>
                <a:gridCol w="1079500"/>
                <a:gridCol w="1512888"/>
                <a:gridCol w="5903912"/>
              </a:tblGrid>
              <a:tr h="822906">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策    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通信时间</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    法</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161">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16.7</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传到场地</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457161">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2.8</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小时</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SP</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传到场地</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822906">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天</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对每一北京的装运单，检查相应零件是否红色</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822906">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秒</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对每一红色零件，检查北京供应商中是否有人供应</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457161">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16.7</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把北京供应商的装运单传送到场地</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457161">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秒</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把红色零件传送到场地</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8" marB="45708"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分布式查询实例</a:t>
            </a:r>
            <a:endParaRPr lang="en-US" altLang="zh-CN" dirty="0">
              <a:latin typeface="微软雅黑" panose="020B0503020204020204" pitchFamily="34" charset="-122"/>
              <a:ea typeface="微软雅黑" panose="020B0503020204020204" pitchFamily="34" charset="-122"/>
            </a:endParaRPr>
          </a:p>
          <a:p>
            <a:pPr lvl="1">
              <a:lnSpc>
                <a:spcPct val="140000"/>
              </a:lnSpc>
            </a:pPr>
            <a:r>
              <a:rPr lang="en-US" altLang="zh-CN" sz="2600" dirty="0"/>
              <a:t>(1) </a:t>
            </a:r>
            <a:r>
              <a:rPr lang="zh-CN" altLang="en-US" sz="2600" dirty="0"/>
              <a:t>不同的存取策略通信时间相差很大，达多个数量级！ </a:t>
            </a:r>
            <a:r>
              <a:rPr lang="en-US" altLang="zh-CN" sz="2600" dirty="0"/>
              <a:t>--  </a:t>
            </a:r>
            <a:r>
              <a:rPr lang="zh-CN" altLang="en-US" sz="2600" dirty="0"/>
              <a:t>因此需要优化。</a:t>
            </a:r>
            <a:endParaRPr lang="zh-CN" altLang="en-US" sz="2600" dirty="0"/>
          </a:p>
          <a:p>
            <a:pPr lvl="1">
              <a:lnSpc>
                <a:spcPct val="140000"/>
              </a:lnSpc>
            </a:pPr>
            <a:r>
              <a:rPr lang="en-US" altLang="zh-CN" sz="2600" dirty="0"/>
              <a:t>(2)</a:t>
            </a:r>
            <a:r>
              <a:rPr lang="zh-CN" altLang="en-US" sz="2600" dirty="0"/>
              <a:t>不同策略，不同的考虑方式。 </a:t>
            </a:r>
            <a:endParaRPr lang="zh-CN" altLang="en-US" sz="2600" dirty="0"/>
          </a:p>
          <a:p>
            <a:pPr lvl="2">
              <a:buFont typeface="Wingdings" panose="05000000000000000000" pitchFamily="2" charset="2"/>
              <a:buChar char="ü"/>
            </a:pPr>
            <a:r>
              <a:rPr lang="zh-CN" altLang="en-US" sz="2200" dirty="0"/>
              <a:t>有些策略中数据传输速度和传输延迟都要考虑</a:t>
            </a:r>
            <a:endParaRPr lang="zh-CN" altLang="en-US" sz="2200" dirty="0"/>
          </a:p>
          <a:p>
            <a:pPr lvl="2">
              <a:buFont typeface="Wingdings" panose="05000000000000000000" pitchFamily="2" charset="2"/>
              <a:buChar char="ü"/>
            </a:pPr>
            <a:r>
              <a:rPr lang="zh-CN" altLang="en-US" sz="2200" dirty="0"/>
              <a:t>有些策略中</a:t>
            </a:r>
            <a:r>
              <a:rPr lang="en-US" altLang="zh-CN" sz="2200" dirty="0"/>
              <a:t>(</a:t>
            </a:r>
            <a:r>
              <a:rPr lang="zh-CN" altLang="en-US" sz="2200" dirty="0"/>
              <a:t>如策略</a:t>
            </a:r>
            <a:r>
              <a:rPr lang="en-US" altLang="zh-CN" sz="2200" dirty="0"/>
              <a:t>3</a:t>
            </a:r>
            <a:r>
              <a:rPr lang="zh-CN" altLang="en-US" sz="2200" dirty="0"/>
              <a:t>、策略</a:t>
            </a:r>
            <a:r>
              <a:rPr lang="en-US" altLang="zh-CN" sz="2200" dirty="0"/>
              <a:t>4)</a:t>
            </a:r>
            <a:r>
              <a:rPr lang="zh-CN" altLang="en-US" sz="2200" dirty="0"/>
              <a:t>主要考虑传输延迟</a:t>
            </a:r>
            <a:endParaRPr lang="zh-CN" altLang="en-US" sz="2200" dirty="0"/>
          </a:p>
          <a:p>
            <a:pPr lvl="2">
              <a:buFont typeface="Wingdings" panose="05000000000000000000" pitchFamily="2" charset="2"/>
              <a:buChar char="ü"/>
            </a:pPr>
            <a:r>
              <a:rPr lang="zh-CN" altLang="en-US" sz="2200" dirty="0"/>
              <a:t>有些策略中</a:t>
            </a:r>
            <a:r>
              <a:rPr lang="en-US" altLang="zh-CN" sz="2200" dirty="0"/>
              <a:t>(</a:t>
            </a:r>
            <a:r>
              <a:rPr lang="zh-CN" altLang="en-US" sz="2200" dirty="0"/>
              <a:t>如策略</a:t>
            </a:r>
            <a:r>
              <a:rPr lang="en-US" altLang="zh-CN" sz="2200" dirty="0"/>
              <a:t>1</a:t>
            </a:r>
            <a:r>
              <a:rPr lang="zh-CN" altLang="en-US" sz="2200" dirty="0"/>
              <a:t>、策略</a:t>
            </a:r>
            <a:r>
              <a:rPr lang="en-US" altLang="zh-CN" sz="2200" dirty="0"/>
              <a:t>2</a:t>
            </a:r>
            <a:r>
              <a:rPr lang="zh-CN" altLang="en-US" sz="2200" dirty="0"/>
              <a:t>、策略</a:t>
            </a:r>
            <a:r>
              <a:rPr lang="en-US" altLang="zh-CN" sz="2200" dirty="0"/>
              <a:t>5)</a:t>
            </a:r>
            <a:r>
              <a:rPr lang="zh-CN" altLang="en-US" sz="2200" dirty="0"/>
              <a:t>数据传输量大，主要考虑传输时间</a:t>
            </a: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分布式查询处理和优化要解决的问题</a:t>
            </a:r>
            <a:endParaRPr lang="en-US" altLang="zh-CN" dirty="0">
              <a:latin typeface="微软雅黑" panose="020B0503020204020204" pitchFamily="34" charset="-122"/>
              <a:ea typeface="微软雅黑" panose="020B0503020204020204" pitchFamily="34" charset="-122"/>
            </a:endParaRPr>
          </a:p>
          <a:p>
            <a:pPr lvl="1">
              <a:lnSpc>
                <a:spcPct val="140000"/>
              </a:lnSpc>
            </a:pPr>
            <a:r>
              <a:rPr lang="zh-CN" altLang="en-US" sz="2600" dirty="0"/>
              <a:t>分布式数据库系统中的三类查询：</a:t>
            </a:r>
            <a:endParaRPr lang="zh-CN" altLang="en-US" sz="2600" dirty="0"/>
          </a:p>
          <a:p>
            <a:pPr lvl="2">
              <a:buFont typeface="Wingdings" panose="05000000000000000000" pitchFamily="2" charset="2"/>
              <a:buChar char="ü"/>
            </a:pPr>
            <a:r>
              <a:rPr lang="zh-CN" altLang="en-US" sz="2200" dirty="0"/>
              <a:t>局部查询</a:t>
            </a:r>
            <a:endParaRPr lang="zh-CN" altLang="en-US" sz="2200" dirty="0"/>
          </a:p>
          <a:p>
            <a:pPr lvl="3">
              <a:buFont typeface="Wingdings" panose="05000000000000000000" pitchFamily="2" charset="2"/>
              <a:buChar char="n"/>
            </a:pPr>
            <a:r>
              <a:rPr lang="zh-CN" altLang="en-US" sz="2000" dirty="0"/>
              <a:t>本地查询</a:t>
            </a:r>
            <a:endParaRPr lang="zh-CN" altLang="en-US" sz="2000" dirty="0"/>
          </a:p>
          <a:p>
            <a:pPr lvl="3">
              <a:buFont typeface="Wingdings" panose="05000000000000000000" pitchFamily="2" charset="2"/>
              <a:buChar char="n"/>
            </a:pPr>
            <a:r>
              <a:rPr lang="zh-CN" altLang="en-US" sz="2000" dirty="0"/>
              <a:t>远程查询</a:t>
            </a:r>
            <a:endParaRPr lang="zh-CN" altLang="en-US" sz="2000" dirty="0"/>
          </a:p>
          <a:p>
            <a:pPr lvl="2">
              <a:buFont typeface="Wingdings" panose="05000000000000000000" pitchFamily="2" charset="2"/>
              <a:buChar char="ü"/>
            </a:pPr>
            <a:r>
              <a:rPr lang="zh-CN" altLang="en-US" sz="2200" dirty="0"/>
              <a:t>全局查询</a:t>
            </a:r>
            <a:endParaRPr lang="zh-CN" altLang="en-US" sz="2200" dirty="0"/>
          </a:p>
          <a:p>
            <a:pPr lvl="1">
              <a:lnSpc>
                <a:spcPct val="140000"/>
              </a:lnSpc>
            </a:pPr>
            <a:r>
              <a:rPr lang="zh-CN" altLang="en-US" sz="2600" dirty="0"/>
              <a:t>局部查询和远程查询优化</a:t>
            </a:r>
            <a:endParaRPr lang="zh-CN" altLang="en-US" sz="2600" dirty="0"/>
          </a:p>
          <a:p>
            <a:pPr lvl="2">
              <a:buFont typeface="Wingdings" panose="05000000000000000000" pitchFamily="2" charset="2"/>
              <a:buChar char="ü"/>
            </a:pPr>
            <a:r>
              <a:rPr lang="zh-CN" altLang="en-US" sz="2200" dirty="0"/>
              <a:t>采用集中式数据库的查询优化技术</a:t>
            </a:r>
            <a:r>
              <a:rPr lang="en-US" altLang="zh-CN" sz="2200" dirty="0"/>
              <a:t>(</a:t>
            </a:r>
            <a:r>
              <a:rPr lang="zh-CN" altLang="en-US" sz="2200" dirty="0"/>
              <a:t>代数优化和物理优化</a:t>
            </a:r>
            <a:r>
              <a:rPr lang="en-US" altLang="zh-CN" sz="2200" dirty="0"/>
              <a:t>)</a:t>
            </a:r>
            <a:endParaRPr lang="en-US" altLang="zh-CN" sz="2200" dirty="0"/>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分布式查询处理和优化要解决的问题</a:t>
            </a:r>
            <a:endParaRPr lang="en-US" altLang="zh-CN" dirty="0">
              <a:latin typeface="微软雅黑" panose="020B0503020204020204" pitchFamily="34" charset="-122"/>
              <a:ea typeface="微软雅黑" panose="020B0503020204020204" pitchFamily="34" charset="-122"/>
            </a:endParaRPr>
          </a:p>
          <a:p>
            <a:pPr lvl="1">
              <a:lnSpc>
                <a:spcPct val="140000"/>
              </a:lnSpc>
            </a:pPr>
            <a:r>
              <a:rPr lang="zh-CN" altLang="en-US" sz="2600" dirty="0"/>
              <a:t>全局查询处理和优化涉及的问题 </a:t>
            </a:r>
            <a:endParaRPr lang="zh-CN" altLang="en-US" sz="2600" dirty="0"/>
          </a:p>
          <a:p>
            <a:pPr lvl="2">
              <a:buFont typeface="Wingdings" panose="05000000000000000000" pitchFamily="2" charset="2"/>
              <a:buChar char="ü"/>
            </a:pPr>
            <a:r>
              <a:rPr lang="en-US" altLang="zh-CN" sz="2200" dirty="0"/>
              <a:t>1.</a:t>
            </a:r>
            <a:r>
              <a:rPr lang="zh-CN" altLang="en-US" sz="2200" dirty="0"/>
              <a:t>查询分解</a:t>
            </a:r>
            <a:endParaRPr lang="zh-CN" altLang="en-US" sz="2200" dirty="0"/>
          </a:p>
          <a:p>
            <a:pPr lvl="2">
              <a:buFont typeface="Wingdings" panose="05000000000000000000" pitchFamily="2" charset="2"/>
              <a:buChar char="ü"/>
            </a:pPr>
            <a:r>
              <a:rPr lang="en-US" altLang="zh-CN" sz="2200" dirty="0"/>
              <a:t>2.</a:t>
            </a:r>
            <a:r>
              <a:rPr lang="zh-CN" altLang="en-US" sz="2200" dirty="0"/>
              <a:t>查询本地化</a:t>
            </a:r>
            <a:endParaRPr lang="zh-CN" altLang="en-US" sz="2200" dirty="0"/>
          </a:p>
          <a:p>
            <a:pPr lvl="2">
              <a:buFont typeface="Wingdings" panose="05000000000000000000" pitchFamily="2" charset="2"/>
              <a:buChar char="ü"/>
            </a:pPr>
            <a:r>
              <a:rPr lang="en-US" altLang="zh-CN" sz="2200" dirty="0"/>
              <a:t>3.</a:t>
            </a:r>
            <a:r>
              <a:rPr lang="zh-CN" altLang="en-US" sz="2200" dirty="0"/>
              <a:t>选择操作执行的次序</a:t>
            </a:r>
            <a:endParaRPr lang="zh-CN" altLang="en-US" sz="2200" dirty="0"/>
          </a:p>
          <a:p>
            <a:pPr lvl="2">
              <a:buFont typeface="Wingdings" panose="05000000000000000000" pitchFamily="2" charset="2"/>
              <a:buChar char="ü"/>
            </a:pPr>
            <a:r>
              <a:rPr lang="en-US" altLang="zh-CN" sz="2200" dirty="0"/>
              <a:t>4.</a:t>
            </a:r>
            <a:r>
              <a:rPr lang="zh-CN" altLang="en-US" sz="2200" dirty="0"/>
              <a:t>选择执行操作的方法</a:t>
            </a:r>
            <a:endParaRPr lang="zh-CN" altLang="en-US" sz="2200" dirty="0"/>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分布式查询优化的代价</a:t>
            </a:r>
            <a:endParaRPr lang="en-US" altLang="zh-CN" dirty="0">
              <a:latin typeface="微软雅黑" panose="020B0503020204020204" pitchFamily="34" charset="-122"/>
              <a:ea typeface="微软雅黑" panose="020B0503020204020204" pitchFamily="34" charset="-122"/>
            </a:endParaRPr>
          </a:p>
          <a:p>
            <a:pPr lvl="1">
              <a:lnSpc>
                <a:spcPct val="140000"/>
              </a:lnSpc>
            </a:pPr>
            <a:r>
              <a:rPr lang="zh-CN" altLang="en-US" dirty="0"/>
              <a:t>集中式数据库的查询代价</a:t>
            </a:r>
            <a:endParaRPr lang="zh-CN" altLang="en-US" dirty="0"/>
          </a:p>
          <a:p>
            <a:pPr lvl="2">
              <a:buFont typeface="Wingdings" panose="05000000000000000000" pitchFamily="2" charset="2"/>
              <a:buChar char="ü"/>
            </a:pPr>
            <a:r>
              <a:rPr lang="en-US" altLang="zh-CN" dirty="0"/>
              <a:t>I/O</a:t>
            </a:r>
            <a:r>
              <a:rPr lang="zh-CN" altLang="en-US" dirty="0"/>
              <a:t>代价</a:t>
            </a:r>
            <a:r>
              <a:rPr lang="en-US" altLang="zh-CN" dirty="0"/>
              <a:t>+CPU</a:t>
            </a:r>
            <a:r>
              <a:rPr lang="zh-CN" altLang="en-US" dirty="0"/>
              <a:t>代价</a:t>
            </a:r>
            <a:endParaRPr lang="zh-CN" altLang="en-US" dirty="0"/>
          </a:p>
          <a:p>
            <a:pPr lvl="2">
              <a:buFont typeface="Wingdings" panose="05000000000000000000" pitchFamily="2" charset="2"/>
              <a:buChar char="ü"/>
            </a:pPr>
            <a:r>
              <a:rPr lang="zh-CN" altLang="en-US" dirty="0"/>
              <a:t>首要优化目标： </a:t>
            </a:r>
            <a:r>
              <a:rPr lang="en-US" altLang="zh-CN" dirty="0"/>
              <a:t>I/O</a:t>
            </a:r>
            <a:r>
              <a:rPr lang="zh-CN" altLang="en-US" dirty="0"/>
              <a:t>代价最少</a:t>
            </a:r>
            <a:endParaRPr lang="zh-CN" altLang="en-US" dirty="0"/>
          </a:p>
          <a:p>
            <a:pPr lvl="1">
              <a:lnSpc>
                <a:spcPct val="140000"/>
              </a:lnSpc>
            </a:pPr>
            <a:r>
              <a:rPr lang="zh-CN" altLang="en-US" dirty="0"/>
              <a:t>分布式数据库的查询开销</a:t>
            </a:r>
            <a:endParaRPr lang="zh-CN" altLang="en-US" dirty="0"/>
          </a:p>
          <a:p>
            <a:pPr lvl="2">
              <a:buFont typeface="Wingdings" panose="05000000000000000000" pitchFamily="2" charset="2"/>
              <a:buChar char="ü"/>
            </a:pPr>
            <a:r>
              <a:rPr lang="en-US" altLang="zh-CN" dirty="0"/>
              <a:t>I/O</a:t>
            </a:r>
            <a:r>
              <a:rPr lang="zh-CN" altLang="en-US" dirty="0"/>
              <a:t>代价</a:t>
            </a:r>
            <a:r>
              <a:rPr lang="en-US" altLang="zh-CN" dirty="0"/>
              <a:t>+CPU</a:t>
            </a:r>
            <a:r>
              <a:rPr lang="zh-CN" altLang="en-US" dirty="0"/>
              <a:t>代价</a:t>
            </a:r>
            <a:r>
              <a:rPr lang="en-US" altLang="zh-CN" dirty="0"/>
              <a:t>+</a:t>
            </a:r>
            <a:r>
              <a:rPr lang="zh-CN" altLang="en-US" dirty="0"/>
              <a:t>通信代价</a:t>
            </a:r>
            <a:endParaRPr lang="zh-CN" altLang="en-US" dirty="0"/>
          </a:p>
          <a:p>
            <a:pPr lvl="2">
              <a:buFont typeface="Wingdings" panose="05000000000000000000" pitchFamily="2" charset="2"/>
              <a:buChar char="ü"/>
            </a:pPr>
            <a:r>
              <a:rPr lang="zh-CN" altLang="en-US" dirty="0"/>
              <a:t>首要优化目标：</a:t>
            </a:r>
            <a:r>
              <a:rPr lang="zh-CN" altLang="en-US" dirty="0">
                <a:solidFill>
                  <a:srgbClr val="FF0000"/>
                </a:solidFill>
              </a:rPr>
              <a:t>通信代价最少</a:t>
            </a:r>
            <a:endParaRPr lang="zh-CN" altLang="en-US" dirty="0">
              <a:solidFill>
                <a:srgbClr val="FF0000"/>
              </a:solidFill>
            </a:endParaRPr>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分布式查询优化的代价</a:t>
                </a:r>
                <a:endParaRPr lang="en-US" altLang="zh-CN" dirty="0">
                  <a:latin typeface="微软雅黑" panose="020B0503020204020204" pitchFamily="34" charset="-122"/>
                  <a:ea typeface="微软雅黑" panose="020B0503020204020204" pitchFamily="34" charset="-122"/>
                </a:endParaRPr>
              </a:p>
              <a:p>
                <a:pPr lvl="1">
                  <a:lnSpc>
                    <a:spcPct val="140000"/>
                  </a:lnSpc>
                </a:pPr>
                <a:r>
                  <a:rPr lang="zh-CN" altLang="en-US" dirty="0"/>
                  <a:t>通信代价可以用下面的公式粗略计算：</a:t>
                </a:r>
                <a:endParaRPr lang="zh-CN" altLang="en-US" dirty="0"/>
              </a:p>
              <a:p>
                <a:pPr marL="457200" lvl="1" indent="0" algn="ctr">
                  <a:lnSpc>
                    <a:spcPct val="140000"/>
                  </a:lnSpc>
                  <a:buNone/>
                </a:pPr>
                <a:r>
                  <a:rPr lang="en-US" altLang="zh-CN" dirty="0"/>
                  <a:t>TC(X)</a:t>
                </a:r>
                <a:r>
                  <a:rPr lang="zh-CN" altLang="en-US" dirty="0"/>
                  <a:t>＝</a:t>
                </a:r>
                <a:r>
                  <a:rPr lang="en-US" altLang="zh-CN" dirty="0"/>
                  <a:t>C0 + X * </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1</m:t>
                        </m:r>
                      </m:sub>
                    </m:sSub>
                  </m:oMath>
                </a14:m>
                <a:r>
                  <a:rPr lang="en-US" altLang="zh-CN" dirty="0"/>
                  <a:t> </a:t>
                </a:r>
                <a:endParaRPr lang="en-US" altLang="zh-CN" dirty="0"/>
              </a:p>
              <a:p>
                <a:pPr lvl="1">
                  <a:lnSpc>
                    <a:spcPct val="140000"/>
                  </a:lnSpc>
                </a:pPr>
                <a:r>
                  <a:rPr lang="en-US" altLang="zh-CN" dirty="0"/>
                  <a:t>X</a:t>
                </a:r>
                <a:r>
                  <a:rPr lang="zh-CN" altLang="en-US" dirty="0"/>
                  <a:t>：数据传输量，以</a:t>
                </a:r>
                <a:r>
                  <a:rPr lang="en-US" altLang="zh-CN" dirty="0"/>
                  <a:t>b(</a:t>
                </a:r>
                <a:r>
                  <a:rPr lang="zh-CN" altLang="en-US" dirty="0"/>
                  <a:t>位</a:t>
                </a:r>
                <a:r>
                  <a:rPr lang="en-US" altLang="zh-CN" dirty="0"/>
                  <a:t>)</a:t>
                </a:r>
                <a:r>
                  <a:rPr lang="zh-CN" altLang="en-US" dirty="0"/>
                  <a:t>为单位计算；</a:t>
                </a:r>
                <a:endParaRPr lang="zh-CN" altLang="en-US" dirty="0"/>
              </a:p>
              <a:p>
                <a:pPr lvl="1">
                  <a:lnSpc>
                    <a:spcPct val="140000"/>
                  </a:lnSpc>
                </a:pP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0</m:t>
                        </m:r>
                      </m:sub>
                    </m:sSub>
                  </m:oMath>
                </a14:m>
                <a:r>
                  <a:rPr lang="en-US" altLang="zh-CN" dirty="0"/>
                  <a:t> </a:t>
                </a:r>
                <a:r>
                  <a:rPr lang="zh-CN" altLang="en-US" dirty="0"/>
                  <a:t>：两结点之间初始化一次传输所花费的开销，它由通信系统决定，近似为一个常数，单位为</a:t>
                </a:r>
                <a:r>
                  <a:rPr lang="en-US" altLang="zh-CN" dirty="0"/>
                  <a:t>s(</a:t>
                </a:r>
                <a:r>
                  <a:rPr lang="zh-CN" altLang="en-US" dirty="0"/>
                  <a:t>秒</a:t>
                </a:r>
                <a:r>
                  <a:rPr lang="en-US" altLang="zh-CN" dirty="0"/>
                  <a:t>)</a:t>
                </a:r>
                <a:r>
                  <a:rPr lang="zh-CN" altLang="en-US" dirty="0"/>
                  <a:t>；</a:t>
                </a:r>
                <a:endParaRPr lang="zh-CN" altLang="en-US" dirty="0"/>
              </a:p>
              <a:p>
                <a:pPr lvl="1">
                  <a:lnSpc>
                    <a:spcPct val="140000"/>
                  </a:lnSpc>
                </a:pP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1</m:t>
                        </m:r>
                      </m:sub>
                    </m:sSub>
                  </m:oMath>
                </a14:m>
                <a:r>
                  <a:rPr lang="en-US" altLang="zh-CN" dirty="0"/>
                  <a:t> </a:t>
                </a:r>
                <a:r>
                  <a:rPr lang="zh-CN" altLang="en-US" dirty="0"/>
                  <a:t>：单位数据</a:t>
                </a:r>
                <a:r>
                  <a:rPr lang="en-US" altLang="zh-CN" dirty="0"/>
                  <a:t>(b)</a:t>
                </a:r>
                <a:r>
                  <a:rPr lang="zh-CN" altLang="en-US" dirty="0"/>
                  <a:t>传输的代价，单位为</a:t>
                </a:r>
                <a:r>
                  <a:rPr lang="en-US" altLang="zh-CN" dirty="0"/>
                  <a:t>(s/b)</a:t>
                </a:r>
                <a:r>
                  <a:rPr lang="zh-CN" altLang="en-US" dirty="0"/>
                  <a:t> </a:t>
                </a:r>
                <a:endParaRPr lang="zh-CN" altLang="en-US" dirty="0"/>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3580"/>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分布式查询处理的层次结构</a:t>
            </a:r>
            <a:endParaRPr lang="en-US" altLang="zh-CN"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pic>
        <p:nvPicPr>
          <p:cNvPr id="2" name="Picture 17"/>
          <p:cNvPicPr>
            <a:picLocks noGrp="1" noRot="1" noChangeAspect="1"/>
          </p:cNvPicPr>
          <p:nvPr/>
        </p:nvPicPr>
        <p:blipFill>
          <a:blip r:embed="rId1"/>
          <a:srcRect/>
          <a:stretch>
            <a:fillRect/>
          </a:stretch>
        </p:blipFill>
        <p:spPr>
          <a:xfrm>
            <a:off x="2419350" y="1901825"/>
            <a:ext cx="6934200" cy="4514152"/>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分布式查询处理的层次结构</a:t>
            </a:r>
            <a:endParaRPr lang="en-US" altLang="zh-CN"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
        <p:nvSpPr>
          <p:cNvPr id="6" name="Text Box 2"/>
          <p:cNvSpPr txBox="1"/>
          <p:nvPr/>
        </p:nvSpPr>
        <p:spPr>
          <a:xfrm>
            <a:off x="5295106" y="1888332"/>
            <a:ext cx="898525"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800" b="1" dirty="0">
                <a:latin typeface="Times New Roman" panose="02020603050405020304" pitchFamily="18" charset="0"/>
              </a:rPr>
              <a:t>查询</a:t>
            </a:r>
            <a:endParaRPr lang="zh-CN" altLang="en-US" sz="2800" b="1" dirty="0">
              <a:latin typeface="Times New Roman" panose="02020603050405020304" pitchFamily="18" charset="0"/>
            </a:endParaRPr>
          </a:p>
        </p:txBody>
      </p:sp>
      <p:sp>
        <p:nvSpPr>
          <p:cNvPr id="8" name="Text Box 3"/>
          <p:cNvSpPr txBox="1"/>
          <p:nvPr/>
        </p:nvSpPr>
        <p:spPr>
          <a:xfrm>
            <a:off x="4937919" y="5759119"/>
            <a:ext cx="161290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sz="2800" b="1" dirty="0">
                <a:latin typeface="Times New Roman" panose="02020603050405020304" pitchFamily="18" charset="0"/>
              </a:rPr>
              <a:t>查询计划</a:t>
            </a:r>
            <a:endParaRPr lang="zh-CN" altLang="en-US" sz="2800" b="1" dirty="0">
              <a:latin typeface="Times New Roman" panose="02020603050405020304" pitchFamily="18" charset="0"/>
            </a:endParaRPr>
          </a:p>
        </p:txBody>
      </p:sp>
      <p:sp>
        <p:nvSpPr>
          <p:cNvPr id="9" name="Text Box 4"/>
          <p:cNvSpPr txBox="1"/>
          <p:nvPr/>
        </p:nvSpPr>
        <p:spPr>
          <a:xfrm>
            <a:off x="3785394" y="3098006"/>
            <a:ext cx="4113212"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sz="2800" b="1" dirty="0">
                <a:latin typeface="Times New Roman" panose="02020603050405020304" pitchFamily="18" charset="0"/>
              </a:rPr>
              <a:t>全局关系上的代数查询树</a:t>
            </a:r>
            <a:endParaRPr lang="zh-CN" altLang="en-US" sz="2800" b="1" dirty="0">
              <a:latin typeface="Times New Roman" panose="02020603050405020304" pitchFamily="18" charset="0"/>
            </a:endParaRPr>
          </a:p>
        </p:txBody>
      </p:sp>
      <p:sp>
        <p:nvSpPr>
          <p:cNvPr id="10" name="Text Box 5"/>
          <p:cNvSpPr txBox="1"/>
          <p:nvPr/>
        </p:nvSpPr>
        <p:spPr>
          <a:xfrm>
            <a:off x="6392069" y="2419517"/>
            <a:ext cx="9969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b="1" dirty="0">
                <a:latin typeface="Times New Roman" panose="02020603050405020304" pitchFamily="18" charset="0"/>
              </a:rPr>
              <a:t>分解</a:t>
            </a:r>
            <a:endParaRPr lang="zh-CN" altLang="en-US" b="1" dirty="0">
              <a:latin typeface="Times New Roman" panose="02020603050405020304" pitchFamily="18" charset="0"/>
            </a:endParaRPr>
          </a:p>
        </p:txBody>
      </p:sp>
      <p:sp>
        <p:nvSpPr>
          <p:cNvPr id="11" name="Line 6"/>
          <p:cNvSpPr/>
          <p:nvPr/>
        </p:nvSpPr>
        <p:spPr>
          <a:xfrm>
            <a:off x="5744369" y="3647282"/>
            <a:ext cx="0" cy="716756"/>
          </a:xfrm>
          <a:prstGeom prst="line">
            <a:avLst/>
          </a:prstGeom>
          <a:ln w="9525" cap="flat" cmpd="sng">
            <a:solidFill>
              <a:schemeClr val="tx1"/>
            </a:solidFill>
            <a:prstDash val="solid"/>
            <a:headEnd type="none" w="med" len="med"/>
            <a:tailEnd type="triangle" w="med" len="med"/>
          </a:ln>
        </p:spPr>
      </p:sp>
      <p:sp>
        <p:nvSpPr>
          <p:cNvPr id="12" name="Text Box 7"/>
          <p:cNvSpPr txBox="1"/>
          <p:nvPr/>
        </p:nvSpPr>
        <p:spPr>
          <a:xfrm>
            <a:off x="3810794" y="4445794"/>
            <a:ext cx="4113212"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sz="2800" b="1" dirty="0">
                <a:latin typeface="Times New Roman" panose="02020603050405020304" pitchFamily="18" charset="0"/>
              </a:rPr>
              <a:t>分片关系上的代数查询树</a:t>
            </a:r>
            <a:endParaRPr lang="zh-CN" altLang="en-US" sz="2800" b="1" dirty="0">
              <a:latin typeface="Times New Roman" panose="02020603050405020304" pitchFamily="18" charset="0"/>
            </a:endParaRPr>
          </a:p>
        </p:txBody>
      </p:sp>
      <p:sp>
        <p:nvSpPr>
          <p:cNvPr id="13" name="Text Box 8"/>
          <p:cNvSpPr txBox="1"/>
          <p:nvPr/>
        </p:nvSpPr>
        <p:spPr>
          <a:xfrm>
            <a:off x="6392069" y="3715711"/>
            <a:ext cx="140811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b="1" dirty="0">
                <a:latin typeface="Times New Roman" panose="02020603050405020304" pitchFamily="18" charset="0"/>
              </a:rPr>
              <a:t>本地化</a:t>
            </a:r>
            <a:endParaRPr lang="zh-CN" altLang="en-US" b="1" dirty="0">
              <a:latin typeface="Times New Roman" panose="02020603050405020304" pitchFamily="18" charset="0"/>
            </a:endParaRPr>
          </a:p>
        </p:txBody>
      </p:sp>
      <p:sp>
        <p:nvSpPr>
          <p:cNvPr id="15" name="Text Box 10"/>
          <p:cNvSpPr txBox="1"/>
          <p:nvPr/>
        </p:nvSpPr>
        <p:spPr>
          <a:xfrm>
            <a:off x="6680994" y="5247481"/>
            <a:ext cx="9969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zh-CN" altLang="en-US" b="1" dirty="0">
                <a:latin typeface="Times New Roman" panose="02020603050405020304" pitchFamily="18" charset="0"/>
              </a:rPr>
              <a:t>优化</a:t>
            </a:r>
            <a:endParaRPr lang="zh-CN" altLang="en-US" b="1" dirty="0">
              <a:latin typeface="Times New Roman" panose="02020603050405020304" pitchFamily="18" charset="0"/>
            </a:endParaRPr>
          </a:p>
        </p:txBody>
      </p:sp>
      <p:sp>
        <p:nvSpPr>
          <p:cNvPr id="17" name="Line 6"/>
          <p:cNvSpPr/>
          <p:nvPr/>
        </p:nvSpPr>
        <p:spPr>
          <a:xfrm>
            <a:off x="5744369" y="4964906"/>
            <a:ext cx="0" cy="716756"/>
          </a:xfrm>
          <a:prstGeom prst="line">
            <a:avLst/>
          </a:prstGeom>
          <a:ln w="9525" cap="flat" cmpd="sng">
            <a:solidFill>
              <a:schemeClr val="tx1"/>
            </a:solidFill>
            <a:prstDash val="solid"/>
            <a:headEnd type="none" w="med" len="med"/>
            <a:tailEnd type="triangle" w="med" len="med"/>
          </a:ln>
        </p:spPr>
      </p:sp>
      <p:sp>
        <p:nvSpPr>
          <p:cNvPr id="18" name="Line 6"/>
          <p:cNvSpPr/>
          <p:nvPr/>
        </p:nvSpPr>
        <p:spPr>
          <a:xfrm>
            <a:off x="5744369" y="2451100"/>
            <a:ext cx="0" cy="716756"/>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查询分解</a:t>
            </a:r>
            <a:r>
              <a:rPr lang="en-US" altLang="zh-CN" sz="2800" b="1" dirty="0">
                <a:latin typeface="微软雅黑" panose="020B0503020204020204" pitchFamily="34" charset="-122"/>
                <a:ea typeface="微软雅黑" panose="020B0503020204020204" pitchFamily="34" charset="-122"/>
              </a:rPr>
              <a:t>(Query Decomposition)</a:t>
            </a:r>
            <a:endParaRPr lang="zh-CN" altLang="en-US" sz="2800" b="1" dirty="0">
              <a:latin typeface="微软雅黑" panose="020B0503020204020204" pitchFamily="34" charset="-122"/>
              <a:ea typeface="微软雅黑" panose="020B0503020204020204" pitchFamily="34" charset="-122"/>
            </a:endParaRPr>
          </a:p>
          <a:p>
            <a:pPr lvl="1">
              <a:lnSpc>
                <a:spcPct val="140000"/>
              </a:lnSpc>
            </a:pPr>
            <a:r>
              <a:rPr lang="zh-CN" altLang="en-US" sz="2600" dirty="0"/>
              <a:t>查询分解是将查询问题，转换成一个定义在全局关系上的关系代数表达式。</a:t>
            </a:r>
            <a:endParaRPr lang="zh-CN" altLang="en-US" sz="2600" dirty="0"/>
          </a:p>
          <a:p>
            <a:pPr lvl="1">
              <a:lnSpc>
                <a:spcPct val="140000"/>
              </a:lnSpc>
            </a:pPr>
            <a:r>
              <a:rPr lang="zh-CN" altLang="en-US" sz="2600" dirty="0"/>
              <a:t>这一层的做法与集中式</a:t>
            </a:r>
            <a:r>
              <a:rPr lang="en-US" altLang="zh-CN" sz="2600" dirty="0"/>
              <a:t>DBMS</a:t>
            </a:r>
            <a:r>
              <a:rPr lang="zh-CN" altLang="en-US" sz="2600" dirty="0"/>
              <a:t>相同，因为并未涉及到分布问题。</a:t>
            </a:r>
            <a:endParaRPr lang="zh-CN" altLang="en-US" sz="2600" dirty="0"/>
          </a:p>
          <a:p>
            <a:pPr lvl="1">
              <a:lnSpc>
                <a:spcPct val="140000"/>
              </a:lnSpc>
            </a:pPr>
            <a:r>
              <a:rPr lang="zh-CN" altLang="en-US" sz="2600" dirty="0"/>
              <a:t>本层转换所需要的信息在全局概念模式中获得。</a:t>
            </a:r>
            <a:endParaRPr lang="zh-CN" altLang="en-US" sz="2600" dirty="0"/>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ea typeface="楷体_GB2312" pitchFamily="49" charset="-122"/>
              </a:rPr>
              <a:t>查询分解</a:t>
            </a:r>
            <a:r>
              <a:rPr lang="en-US" altLang="zh-CN" sz="2800" b="1" dirty="0">
                <a:ea typeface="楷体_GB2312" pitchFamily="49" charset="-122"/>
              </a:rPr>
              <a:t>(Query Decomposition)</a:t>
            </a:r>
            <a:endParaRPr lang="zh-CN" altLang="en-US" sz="2800" b="1" dirty="0">
              <a:ea typeface="楷体_GB2312" pitchFamily="49" charset="-122"/>
            </a:endParaRPr>
          </a:p>
          <a:p>
            <a:pPr lvl="1">
              <a:lnSpc>
                <a:spcPct val="160000"/>
              </a:lnSpc>
            </a:pPr>
            <a:r>
              <a:rPr lang="zh-CN" altLang="en-US" sz="2600" dirty="0"/>
              <a:t>技术</a:t>
            </a:r>
            <a:endParaRPr lang="zh-CN" altLang="en-US" sz="2600" dirty="0"/>
          </a:p>
          <a:p>
            <a:pPr lvl="2">
              <a:lnSpc>
                <a:spcPct val="160000"/>
              </a:lnSpc>
              <a:buFont typeface="Wingdings" panose="05000000000000000000" pitchFamily="2" charset="2"/>
              <a:buChar char="ü"/>
            </a:pPr>
            <a:r>
              <a:rPr lang="zh-CN" altLang="en-US" sz="2200" dirty="0"/>
              <a:t>代数转换</a:t>
            </a:r>
            <a:endParaRPr lang="zh-CN" altLang="en-US" sz="2200" dirty="0"/>
          </a:p>
          <a:p>
            <a:pPr lvl="2">
              <a:lnSpc>
                <a:spcPct val="160000"/>
              </a:lnSpc>
              <a:buFont typeface="Wingdings" panose="05000000000000000000" pitchFamily="2" charset="2"/>
              <a:buChar char="ü"/>
            </a:pPr>
            <a:r>
              <a:rPr lang="zh-CN" altLang="en-US" sz="2200" dirty="0"/>
              <a:t>消除冗余</a:t>
            </a:r>
            <a:endParaRPr lang="zh-CN" altLang="en-US" sz="2200" dirty="0"/>
          </a:p>
          <a:p>
            <a:pPr lvl="2">
              <a:lnSpc>
                <a:spcPct val="160000"/>
              </a:lnSpc>
              <a:buFont typeface="Wingdings" panose="05000000000000000000" pitchFamily="2" charset="2"/>
              <a:buChar char="ü"/>
            </a:pPr>
            <a:r>
              <a:rPr lang="zh-CN" altLang="en-US" sz="2200" dirty="0"/>
              <a:t>代数重写</a:t>
            </a:r>
            <a:endParaRPr lang="zh-CN" altLang="en-US" sz="2200" dirty="0"/>
          </a:p>
          <a:p>
            <a:pPr lvl="2">
              <a:buFont typeface="Wingdings" panose="05000000000000000000" pitchFamily="2" charset="2"/>
              <a:buChar char="ü"/>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查询分解</a:t>
            </a:r>
            <a:r>
              <a:rPr lang="en-US" altLang="zh-CN" sz="2800" b="1" dirty="0">
                <a:latin typeface="微软雅黑" panose="020B0503020204020204" pitchFamily="34" charset="-122"/>
                <a:ea typeface="微软雅黑" panose="020B0503020204020204" pitchFamily="34" charset="-122"/>
              </a:rPr>
              <a:t>(Query Decomposition)</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sz="2600" dirty="0"/>
              <a:t>例子</a:t>
            </a:r>
            <a:r>
              <a:rPr lang="en-US" altLang="zh-CN" sz="2600" dirty="0"/>
              <a:t>:  </a:t>
            </a:r>
            <a:r>
              <a:rPr lang="zh-CN" altLang="en-US" sz="2600" dirty="0"/>
              <a:t>条件矛盾或蕴含</a:t>
            </a:r>
            <a:endParaRPr lang="zh-CN" altLang="en-US" sz="2600" dirty="0"/>
          </a:p>
          <a:p>
            <a:pPr marL="457200" lvl="1" indent="0">
              <a:lnSpc>
                <a:spcPct val="160000"/>
              </a:lnSpc>
              <a:buNone/>
            </a:pPr>
            <a:r>
              <a:rPr lang="zh-CN" altLang="en-US" sz="2600" dirty="0"/>
              <a:t>	</a:t>
            </a:r>
            <a:r>
              <a:rPr lang="en-US" altLang="zh-CN" sz="2600" dirty="0"/>
              <a:t>(</a:t>
            </a:r>
            <a:r>
              <a:rPr lang="en-US" altLang="zh-CN" sz="2600" dirty="0" err="1"/>
              <a:t>E.sal</a:t>
            </a:r>
            <a:r>
              <a:rPr lang="en-US" altLang="zh-CN" sz="2600" dirty="0"/>
              <a:t>=2000) </a:t>
            </a:r>
            <a:r>
              <a:rPr lang="en-US" altLang="zh-CN" sz="2600" dirty="0">
                <a:sym typeface="Symbol" panose="05050102010706020507" pitchFamily="18" charset="2"/>
              </a:rPr>
              <a:t> (</a:t>
            </a:r>
            <a:r>
              <a:rPr lang="en-US" altLang="zh-CN" sz="2600" dirty="0" err="1">
                <a:sym typeface="Symbol" panose="05050102010706020507" pitchFamily="18" charset="2"/>
              </a:rPr>
              <a:t>E.sal</a:t>
            </a:r>
            <a:r>
              <a:rPr lang="en-US" altLang="zh-CN" sz="2600" dirty="0">
                <a:sym typeface="Symbol" panose="05050102010706020507" pitchFamily="18" charset="2"/>
              </a:rPr>
              <a:t>&gt;5000)   </a:t>
            </a:r>
            <a:endParaRPr lang="en-US" altLang="zh-CN" sz="2600" dirty="0">
              <a:sym typeface="Symbol" panose="05050102010706020507" pitchFamily="18" charset="2"/>
            </a:endParaRPr>
          </a:p>
          <a:p>
            <a:pPr marL="457200" lvl="1" indent="0">
              <a:lnSpc>
                <a:spcPct val="160000"/>
              </a:lnSpc>
              <a:buNone/>
            </a:pPr>
            <a:r>
              <a:rPr lang="en-US" altLang="zh-CN" sz="2600" dirty="0">
                <a:sym typeface="Symbol" panose="05050102010706020507" pitchFamily="18" charset="2"/>
              </a:rPr>
              <a:t>                          False</a:t>
            </a:r>
            <a:endParaRPr lang="en-US" altLang="zh-CN" sz="2600" dirty="0">
              <a:sym typeface="Symbol" panose="05050102010706020507" pitchFamily="18" charset="2"/>
            </a:endParaRPr>
          </a:p>
          <a:p>
            <a:pPr marL="457200" lvl="1" indent="0">
              <a:lnSpc>
                <a:spcPct val="160000"/>
              </a:lnSpc>
              <a:buNone/>
            </a:pPr>
            <a:r>
              <a:rPr lang="en-US" altLang="zh-CN" sz="2600" dirty="0">
                <a:sym typeface="Symbol" panose="05050102010706020507" pitchFamily="18" charset="2"/>
              </a:rPr>
              <a:t>	(</a:t>
            </a:r>
            <a:r>
              <a:rPr lang="en-US" altLang="zh-CN" sz="2600" dirty="0" err="1">
                <a:sym typeface="Symbol" panose="05050102010706020507" pitchFamily="18" charset="2"/>
              </a:rPr>
              <a:t>E.sal</a:t>
            </a:r>
            <a:r>
              <a:rPr lang="en-US" altLang="zh-CN" sz="2600" dirty="0">
                <a:sym typeface="Symbol" panose="05050102010706020507" pitchFamily="18" charset="2"/>
              </a:rPr>
              <a:t>&lt;5000)  (</a:t>
            </a:r>
            <a:r>
              <a:rPr lang="en-US" altLang="zh-CN" sz="2600" dirty="0" err="1">
                <a:sym typeface="Symbol" panose="05050102010706020507" pitchFamily="18" charset="2"/>
              </a:rPr>
              <a:t>E.sal</a:t>
            </a:r>
            <a:r>
              <a:rPr lang="en-US" altLang="zh-CN" sz="2600" dirty="0">
                <a:sym typeface="Symbol" panose="05050102010706020507" pitchFamily="18" charset="2"/>
              </a:rPr>
              <a:t>&lt;3000) </a:t>
            </a:r>
            <a:endParaRPr lang="en-US" altLang="zh-CN" sz="2600" dirty="0">
              <a:sym typeface="Symbol" panose="05050102010706020507" pitchFamily="18" charset="2"/>
            </a:endParaRPr>
          </a:p>
          <a:p>
            <a:pPr marL="457200" lvl="1" indent="0">
              <a:lnSpc>
                <a:spcPct val="160000"/>
              </a:lnSpc>
              <a:buNone/>
            </a:pPr>
            <a:r>
              <a:rPr lang="en-US" altLang="zh-CN" sz="2600" dirty="0">
                <a:sym typeface="Symbol" panose="05050102010706020507" pitchFamily="18" charset="2"/>
              </a:rPr>
              <a:t>                          </a:t>
            </a:r>
            <a:r>
              <a:rPr lang="en-US" altLang="zh-CN" sz="2600" dirty="0" err="1">
                <a:sym typeface="Symbol" panose="05050102010706020507" pitchFamily="18" charset="2"/>
              </a:rPr>
              <a:t>E.sal</a:t>
            </a:r>
            <a:r>
              <a:rPr lang="en-US" altLang="zh-CN" sz="2600" dirty="0">
                <a:sym typeface="Symbol" panose="05050102010706020507" pitchFamily="18" charset="2"/>
              </a:rPr>
              <a:t>&lt;3000</a:t>
            </a:r>
            <a:endParaRPr lang="en-US" altLang="zh-CN" sz="2600" dirty="0">
              <a:sym typeface="Symbol" panose="05050102010706020507" pitchFamily="18" charset="2"/>
            </a:endParaRPr>
          </a:p>
          <a:p>
            <a:pPr marL="914400" lvl="2" indent="0">
              <a:buNone/>
            </a:pP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消除冗余</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sz="2600" dirty="0"/>
              <a:t>例子</a:t>
            </a:r>
            <a:r>
              <a:rPr lang="en-US" altLang="zh-CN" sz="2600" dirty="0"/>
              <a:t>:  </a:t>
            </a:r>
            <a:r>
              <a:rPr lang="zh-CN" altLang="en-US" sz="2600" dirty="0"/>
              <a:t>公共子表达式</a:t>
            </a: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
        <p:nvSpPr>
          <p:cNvPr id="27" name="Rectangle 3"/>
          <p:cNvSpPr>
            <a:spLocks noGrp="1" noRot="1"/>
          </p:cNvSpPr>
          <p:nvPr/>
        </p:nvSpPr>
        <p:spPr>
          <a:xfrm>
            <a:off x="2209800" y="2457119"/>
            <a:ext cx="7772400" cy="4114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9pPr>
          </a:lstStyle>
          <a:p>
            <a:pPr eaLnBrk="1" hangingPunct="1">
              <a:buNone/>
            </a:pPr>
            <a:r>
              <a:rPr lang="zh-CN" altLang="en-US" dirty="0"/>
              <a:t>    </a:t>
            </a:r>
            <a:endParaRPr lang="zh-CN" altLang="en-US" dirty="0"/>
          </a:p>
          <a:p>
            <a:pPr eaLnBrk="1" hangingPunct="1">
              <a:buNone/>
            </a:pPr>
            <a:r>
              <a:rPr lang="zh-CN" altLang="en-US" dirty="0"/>
              <a:t>		  </a:t>
            </a:r>
            <a:r>
              <a:rPr lang="en-US" altLang="zh-CN" dirty="0"/>
              <a:t>U					U</a:t>
            </a:r>
            <a:endParaRPr lang="en-US" altLang="zh-CN" dirty="0"/>
          </a:p>
          <a:p>
            <a:pPr eaLnBrk="1" hangingPunct="1">
              <a:buNone/>
            </a:pPr>
            <a:r>
              <a:rPr lang="en-US" altLang="zh-CN" sz="4800" dirty="0">
                <a:sym typeface="Symbol" panose="05050102010706020507" pitchFamily="18" charset="2"/>
              </a:rPr>
              <a:t>		</a:t>
            </a:r>
            <a:endParaRPr lang="en-US" altLang="zh-CN" sz="4800" dirty="0">
              <a:sym typeface="Symbol" panose="05050102010706020507" pitchFamily="18" charset="2"/>
            </a:endParaRPr>
          </a:p>
          <a:p>
            <a:pPr eaLnBrk="1" hangingPunct="1">
              <a:buNone/>
            </a:pPr>
            <a:r>
              <a:rPr lang="en-US" altLang="zh-CN" dirty="0">
                <a:sym typeface="Symbol" panose="05050102010706020507" pitchFamily="18" charset="2"/>
              </a:rPr>
              <a:t>S    </a:t>
            </a:r>
            <a:r>
              <a:rPr lang="en-US" altLang="zh-CN" sz="4800" dirty="0">
                <a:sym typeface="Symbol" panose="05050102010706020507" pitchFamily="18" charset="2"/>
              </a:rPr>
              <a:t></a:t>
            </a:r>
            <a:r>
              <a:rPr lang="en-US" altLang="zh-CN" sz="1800" dirty="0">
                <a:sym typeface="Symbol" panose="05050102010706020507" pitchFamily="18" charset="2"/>
              </a:rPr>
              <a:t>cond</a:t>
            </a:r>
            <a:r>
              <a:rPr lang="en-US" altLang="zh-CN" sz="1800" dirty="0"/>
              <a:t>   </a:t>
            </a:r>
            <a:r>
              <a:rPr lang="en-US" altLang="zh-CN" sz="4800" dirty="0">
                <a:sym typeface="Symbol" panose="05050102010706020507" pitchFamily="18" charset="2"/>
              </a:rPr>
              <a:t></a:t>
            </a:r>
            <a:r>
              <a:rPr lang="en-US" altLang="zh-CN" sz="1800" dirty="0">
                <a:sym typeface="Symbol" panose="05050102010706020507" pitchFamily="18" charset="2"/>
              </a:rPr>
              <a:t>cond</a:t>
            </a:r>
            <a:r>
              <a:rPr lang="en-US" altLang="zh-CN" sz="1800" dirty="0"/>
              <a:t> 	 </a:t>
            </a:r>
            <a:r>
              <a:rPr lang="en-US" altLang="zh-CN" dirty="0"/>
              <a:t>T</a:t>
            </a:r>
            <a:r>
              <a:rPr lang="en-US" altLang="zh-CN" sz="1800" dirty="0"/>
              <a:t>	   	</a:t>
            </a:r>
            <a:r>
              <a:rPr lang="en-US" altLang="zh-CN" dirty="0"/>
              <a:t>S     </a:t>
            </a:r>
            <a:r>
              <a:rPr lang="en-US" altLang="zh-CN" sz="1800" dirty="0"/>
              <a:t> </a:t>
            </a:r>
            <a:r>
              <a:rPr lang="en-US" altLang="zh-CN" sz="4800" dirty="0">
                <a:sym typeface="Symbol" panose="05050102010706020507" pitchFamily="18" charset="2"/>
              </a:rPr>
              <a:t></a:t>
            </a:r>
            <a:r>
              <a:rPr lang="en-US" altLang="zh-CN" sz="1800" dirty="0">
                <a:sym typeface="Symbol" panose="05050102010706020507" pitchFamily="18" charset="2"/>
              </a:rPr>
              <a:t>cond</a:t>
            </a:r>
            <a:r>
              <a:rPr lang="en-US" altLang="zh-CN" sz="1800" dirty="0"/>
              <a:t>     </a:t>
            </a:r>
            <a:r>
              <a:rPr lang="en-US" altLang="zh-CN" dirty="0"/>
              <a:t>T</a:t>
            </a:r>
            <a:endParaRPr lang="en-US" altLang="zh-CN" dirty="0"/>
          </a:p>
          <a:p>
            <a:pPr eaLnBrk="1" hangingPunct="1">
              <a:buNone/>
            </a:pPr>
            <a:r>
              <a:rPr lang="en-US" altLang="zh-CN" dirty="0"/>
              <a:t>	   R	         R				R</a:t>
            </a:r>
            <a:endParaRPr lang="en-US" altLang="zh-CN" sz="1800" dirty="0"/>
          </a:p>
        </p:txBody>
      </p:sp>
      <p:sp>
        <p:nvSpPr>
          <p:cNvPr id="28" name="AutoShape 4"/>
          <p:cNvSpPr/>
          <p:nvPr/>
        </p:nvSpPr>
        <p:spPr>
          <a:xfrm rot="-5400000">
            <a:off x="2895600" y="3898569"/>
            <a:ext cx="304800" cy="457200"/>
          </a:xfrm>
          <a:prstGeom prst="flowChartCollate">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29" name="AutoShape 5"/>
          <p:cNvSpPr/>
          <p:nvPr/>
        </p:nvSpPr>
        <p:spPr>
          <a:xfrm rot="-5400000">
            <a:off x="4114800" y="3898569"/>
            <a:ext cx="304800" cy="457200"/>
          </a:xfrm>
          <a:prstGeom prst="flowChartCollate">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30" name="AutoShape 6"/>
          <p:cNvSpPr/>
          <p:nvPr/>
        </p:nvSpPr>
        <p:spPr>
          <a:xfrm rot="-5400000">
            <a:off x="7086600" y="3822369"/>
            <a:ext cx="304800" cy="457200"/>
          </a:xfrm>
          <a:prstGeom prst="flowChartCollate">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31" name="AutoShape 7"/>
          <p:cNvSpPr/>
          <p:nvPr/>
        </p:nvSpPr>
        <p:spPr>
          <a:xfrm rot="-5400000">
            <a:off x="8534400" y="3822369"/>
            <a:ext cx="304800" cy="457200"/>
          </a:xfrm>
          <a:prstGeom prst="flowChartCollate">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32" name="Line 8"/>
          <p:cNvSpPr/>
          <p:nvPr/>
        </p:nvSpPr>
        <p:spPr>
          <a:xfrm>
            <a:off x="5486400" y="3669969"/>
            <a:ext cx="990600" cy="0"/>
          </a:xfrm>
          <a:prstGeom prst="line">
            <a:avLst/>
          </a:prstGeom>
          <a:ln w="9525" cap="flat" cmpd="sng">
            <a:solidFill>
              <a:schemeClr val="tx1"/>
            </a:solidFill>
            <a:prstDash val="solid"/>
            <a:headEnd type="none" w="med" len="med"/>
            <a:tailEnd type="triangle" w="med" len="med"/>
          </a:ln>
        </p:spPr>
      </p:sp>
      <p:sp>
        <p:nvSpPr>
          <p:cNvPr id="33" name="Line 9"/>
          <p:cNvSpPr/>
          <p:nvPr/>
        </p:nvSpPr>
        <p:spPr>
          <a:xfrm flipH="1">
            <a:off x="3048000" y="3517569"/>
            <a:ext cx="381000" cy="381000"/>
          </a:xfrm>
          <a:prstGeom prst="line">
            <a:avLst/>
          </a:prstGeom>
          <a:ln w="9525" cap="flat" cmpd="sng">
            <a:solidFill>
              <a:schemeClr val="tx1"/>
            </a:solidFill>
            <a:prstDash val="solid"/>
            <a:headEnd type="none" w="med" len="med"/>
            <a:tailEnd type="none" w="med" len="med"/>
          </a:ln>
        </p:spPr>
      </p:sp>
      <p:sp>
        <p:nvSpPr>
          <p:cNvPr id="34" name="Line 10"/>
          <p:cNvSpPr/>
          <p:nvPr/>
        </p:nvSpPr>
        <p:spPr>
          <a:xfrm>
            <a:off x="3810000" y="3593769"/>
            <a:ext cx="304800" cy="304800"/>
          </a:xfrm>
          <a:prstGeom prst="line">
            <a:avLst/>
          </a:prstGeom>
          <a:ln w="9525" cap="flat" cmpd="sng">
            <a:solidFill>
              <a:schemeClr val="tx1"/>
            </a:solidFill>
            <a:prstDash val="solid"/>
            <a:headEnd type="none" w="med" len="med"/>
            <a:tailEnd type="none" w="med" len="med"/>
          </a:ln>
        </p:spPr>
      </p:sp>
      <p:sp>
        <p:nvSpPr>
          <p:cNvPr id="35" name="Line 11"/>
          <p:cNvSpPr/>
          <p:nvPr/>
        </p:nvSpPr>
        <p:spPr>
          <a:xfrm>
            <a:off x="4343400" y="4355769"/>
            <a:ext cx="0" cy="381000"/>
          </a:xfrm>
          <a:prstGeom prst="line">
            <a:avLst/>
          </a:prstGeom>
          <a:ln w="9525" cap="flat" cmpd="sng">
            <a:solidFill>
              <a:schemeClr val="tx1"/>
            </a:solidFill>
            <a:prstDash val="solid"/>
            <a:headEnd type="none" w="med" len="med"/>
            <a:tailEnd type="none" w="med" len="med"/>
          </a:ln>
        </p:spPr>
      </p:sp>
      <p:sp>
        <p:nvSpPr>
          <p:cNvPr id="36" name="Line 12"/>
          <p:cNvSpPr/>
          <p:nvPr/>
        </p:nvSpPr>
        <p:spPr>
          <a:xfrm>
            <a:off x="4648200" y="4355769"/>
            <a:ext cx="533400" cy="457200"/>
          </a:xfrm>
          <a:prstGeom prst="line">
            <a:avLst/>
          </a:prstGeom>
          <a:ln w="9525" cap="flat" cmpd="sng">
            <a:solidFill>
              <a:schemeClr val="tx1"/>
            </a:solidFill>
            <a:prstDash val="solid"/>
            <a:headEnd type="none" w="med" len="med"/>
            <a:tailEnd type="none" w="med" len="med"/>
          </a:ln>
        </p:spPr>
      </p:sp>
      <p:sp>
        <p:nvSpPr>
          <p:cNvPr id="37" name="Line 13"/>
          <p:cNvSpPr/>
          <p:nvPr/>
        </p:nvSpPr>
        <p:spPr>
          <a:xfrm flipH="1">
            <a:off x="2514600" y="4431969"/>
            <a:ext cx="304800" cy="381000"/>
          </a:xfrm>
          <a:prstGeom prst="line">
            <a:avLst/>
          </a:prstGeom>
          <a:ln w="9525" cap="flat" cmpd="sng">
            <a:solidFill>
              <a:schemeClr val="tx1"/>
            </a:solidFill>
            <a:prstDash val="solid"/>
            <a:headEnd type="none" w="med" len="med"/>
            <a:tailEnd type="none" w="med" len="med"/>
          </a:ln>
        </p:spPr>
      </p:sp>
      <p:sp>
        <p:nvSpPr>
          <p:cNvPr id="38" name="Line 14"/>
          <p:cNvSpPr/>
          <p:nvPr/>
        </p:nvSpPr>
        <p:spPr>
          <a:xfrm>
            <a:off x="3124200" y="4355769"/>
            <a:ext cx="381000" cy="533400"/>
          </a:xfrm>
          <a:prstGeom prst="line">
            <a:avLst/>
          </a:prstGeom>
          <a:ln w="9525" cap="flat" cmpd="sng">
            <a:solidFill>
              <a:schemeClr val="tx1"/>
            </a:solidFill>
            <a:prstDash val="solid"/>
            <a:headEnd type="none" w="med" len="med"/>
            <a:tailEnd type="none" w="med" len="med"/>
          </a:ln>
        </p:spPr>
      </p:sp>
      <p:sp>
        <p:nvSpPr>
          <p:cNvPr id="39" name="Line 15"/>
          <p:cNvSpPr/>
          <p:nvPr/>
        </p:nvSpPr>
        <p:spPr>
          <a:xfrm flipH="1">
            <a:off x="7315200" y="3517569"/>
            <a:ext cx="381000" cy="304800"/>
          </a:xfrm>
          <a:prstGeom prst="line">
            <a:avLst/>
          </a:prstGeom>
          <a:ln w="9525" cap="flat" cmpd="sng">
            <a:solidFill>
              <a:schemeClr val="tx1"/>
            </a:solidFill>
            <a:prstDash val="solid"/>
            <a:headEnd type="none" w="med" len="med"/>
            <a:tailEnd type="none" w="med" len="med"/>
          </a:ln>
        </p:spPr>
      </p:sp>
      <p:sp>
        <p:nvSpPr>
          <p:cNvPr id="40" name="Line 16"/>
          <p:cNvSpPr/>
          <p:nvPr/>
        </p:nvSpPr>
        <p:spPr>
          <a:xfrm>
            <a:off x="8229600" y="3517569"/>
            <a:ext cx="457200" cy="304800"/>
          </a:xfrm>
          <a:prstGeom prst="line">
            <a:avLst/>
          </a:prstGeom>
          <a:ln w="9525" cap="flat" cmpd="sng">
            <a:solidFill>
              <a:schemeClr val="tx1"/>
            </a:solidFill>
            <a:prstDash val="solid"/>
            <a:headEnd type="none" w="med" len="med"/>
            <a:tailEnd type="none" w="med" len="med"/>
          </a:ln>
        </p:spPr>
      </p:sp>
      <p:sp>
        <p:nvSpPr>
          <p:cNvPr id="41" name="Line 17"/>
          <p:cNvSpPr/>
          <p:nvPr/>
        </p:nvSpPr>
        <p:spPr>
          <a:xfrm flipH="1">
            <a:off x="7010400" y="4279569"/>
            <a:ext cx="228600" cy="533400"/>
          </a:xfrm>
          <a:prstGeom prst="line">
            <a:avLst/>
          </a:prstGeom>
          <a:ln w="9525" cap="flat" cmpd="sng">
            <a:solidFill>
              <a:schemeClr val="tx1"/>
            </a:solidFill>
            <a:prstDash val="solid"/>
            <a:headEnd type="none" w="med" len="med"/>
            <a:tailEnd type="none" w="med" len="med"/>
          </a:ln>
        </p:spPr>
      </p:sp>
      <p:sp>
        <p:nvSpPr>
          <p:cNvPr id="42" name="Line 18"/>
          <p:cNvSpPr/>
          <p:nvPr/>
        </p:nvSpPr>
        <p:spPr>
          <a:xfrm>
            <a:off x="7543800" y="4279569"/>
            <a:ext cx="444500" cy="533400"/>
          </a:xfrm>
          <a:prstGeom prst="line">
            <a:avLst/>
          </a:prstGeom>
          <a:ln w="9525" cap="flat" cmpd="sng">
            <a:solidFill>
              <a:schemeClr val="tx1"/>
            </a:solidFill>
            <a:prstDash val="solid"/>
            <a:headEnd type="none" w="med" len="med"/>
            <a:tailEnd type="none" w="med" len="med"/>
          </a:ln>
        </p:spPr>
      </p:sp>
      <p:sp>
        <p:nvSpPr>
          <p:cNvPr id="43" name="Line 19"/>
          <p:cNvSpPr/>
          <p:nvPr/>
        </p:nvSpPr>
        <p:spPr>
          <a:xfrm flipH="1">
            <a:off x="8280400" y="4279569"/>
            <a:ext cx="406400" cy="495300"/>
          </a:xfrm>
          <a:prstGeom prst="line">
            <a:avLst/>
          </a:prstGeom>
          <a:ln w="9525" cap="flat" cmpd="sng">
            <a:solidFill>
              <a:schemeClr val="tx1"/>
            </a:solidFill>
            <a:prstDash val="solid"/>
            <a:headEnd type="none" w="med" len="med"/>
            <a:tailEnd type="none" w="med" len="med"/>
          </a:ln>
        </p:spPr>
      </p:sp>
      <p:sp>
        <p:nvSpPr>
          <p:cNvPr id="44" name="Line 20"/>
          <p:cNvSpPr/>
          <p:nvPr/>
        </p:nvSpPr>
        <p:spPr>
          <a:xfrm>
            <a:off x="8763000" y="4279569"/>
            <a:ext cx="381000" cy="533400"/>
          </a:xfrm>
          <a:prstGeom prst="line">
            <a:avLst/>
          </a:prstGeom>
          <a:ln w="9525" cap="flat" cmpd="sng">
            <a:solidFill>
              <a:schemeClr val="tx1"/>
            </a:solidFill>
            <a:prstDash val="solid"/>
            <a:headEnd type="none" w="med" len="med"/>
            <a:tailEnd type="none" w="med" len="med"/>
          </a:ln>
        </p:spPr>
      </p:sp>
      <p:sp>
        <p:nvSpPr>
          <p:cNvPr id="45" name="Line 21"/>
          <p:cNvSpPr/>
          <p:nvPr/>
        </p:nvSpPr>
        <p:spPr>
          <a:xfrm flipH="1">
            <a:off x="3124200" y="5270169"/>
            <a:ext cx="0" cy="228600"/>
          </a:xfrm>
          <a:prstGeom prst="line">
            <a:avLst/>
          </a:prstGeom>
          <a:ln w="9525" cap="flat" cmpd="sng">
            <a:solidFill>
              <a:schemeClr val="tx1"/>
            </a:solidFill>
            <a:prstDash val="solid"/>
            <a:headEnd type="none" w="med" len="med"/>
            <a:tailEnd type="none" w="med" len="med"/>
          </a:ln>
        </p:spPr>
      </p:sp>
      <p:sp>
        <p:nvSpPr>
          <p:cNvPr id="46" name="Line 22"/>
          <p:cNvSpPr/>
          <p:nvPr/>
        </p:nvSpPr>
        <p:spPr>
          <a:xfrm flipH="1">
            <a:off x="4267200" y="5270169"/>
            <a:ext cx="0" cy="228600"/>
          </a:xfrm>
          <a:prstGeom prst="line">
            <a:avLst/>
          </a:prstGeom>
          <a:ln w="9525" cap="flat" cmpd="sng">
            <a:solidFill>
              <a:schemeClr val="tx1"/>
            </a:solidFill>
            <a:prstDash val="solid"/>
            <a:headEnd type="none" w="med" len="med"/>
            <a:tailEnd type="none" w="med" len="med"/>
          </a:ln>
        </p:spPr>
      </p:sp>
      <p:sp>
        <p:nvSpPr>
          <p:cNvPr id="47" name="Line 23"/>
          <p:cNvSpPr/>
          <p:nvPr/>
        </p:nvSpPr>
        <p:spPr>
          <a:xfrm flipH="1">
            <a:off x="7924800" y="5270169"/>
            <a:ext cx="0" cy="22860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数据本地化</a:t>
            </a:r>
            <a:r>
              <a:rPr lang="en-US" altLang="zh-CN" sz="2800" b="1" dirty="0">
                <a:latin typeface="微软雅黑" panose="020B0503020204020204" pitchFamily="34" charset="-122"/>
                <a:ea typeface="微软雅黑" panose="020B0503020204020204" pitchFamily="34" charset="-122"/>
              </a:rPr>
              <a:t>(Data Localization)</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sz="2600" dirty="0"/>
              <a:t>数据本地化是把一个在全局关系上的查询，进行具体化，落实到适合的</a:t>
            </a:r>
            <a:r>
              <a:rPr lang="en-US" altLang="zh-CN" sz="2600" dirty="0"/>
              <a:t>(</a:t>
            </a:r>
            <a:r>
              <a:rPr lang="zh-CN" altLang="en-US" sz="2600" dirty="0"/>
              <a:t>尽可能做到本地化或近地化</a:t>
            </a:r>
            <a:r>
              <a:rPr lang="en-US" altLang="zh-CN" sz="2600" dirty="0"/>
              <a:t>)</a:t>
            </a:r>
            <a:r>
              <a:rPr lang="zh-CN" altLang="en-US" sz="2600" dirty="0"/>
              <a:t>片段上的查询。</a:t>
            </a:r>
            <a:endParaRPr lang="zh-CN" altLang="en-US" sz="2600" dirty="0"/>
          </a:p>
          <a:p>
            <a:pPr lvl="1">
              <a:lnSpc>
                <a:spcPct val="160000"/>
              </a:lnSpc>
            </a:pPr>
            <a:r>
              <a:rPr lang="zh-CN" altLang="en-US" sz="2600" dirty="0"/>
              <a:t>即，将在全局关系上的关系代数表达式，变换为在相应片段上的关系代数表达式。</a:t>
            </a:r>
            <a:endParaRPr lang="zh-CN" altLang="en-US" sz="2600" dirty="0"/>
          </a:p>
          <a:p>
            <a:pPr lvl="1">
              <a:lnSpc>
                <a:spcPct val="160000"/>
              </a:lnSpc>
            </a:pPr>
            <a:r>
              <a:rPr lang="zh-CN" altLang="en-US" sz="2600" dirty="0"/>
              <a:t>这一变换所需要的信息在分片模式和片段的分配模式中获得。</a:t>
            </a:r>
            <a:endParaRPr lang="zh-CN" altLang="en-US" sz="26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latin typeface="微软雅黑" panose="020B0503020204020204" pitchFamily="34" charset="-122"/>
                <a:ea typeface="微软雅黑" panose="020B0503020204020204" pitchFamily="34" charset="-122"/>
              </a:rPr>
              <a:t>数据本地化</a:t>
            </a:r>
            <a:r>
              <a:rPr lang="en-US" altLang="zh-CN" sz="2800" b="1" dirty="0">
                <a:latin typeface="微软雅黑" panose="020B0503020204020204" pitchFamily="34" charset="-122"/>
                <a:ea typeface="微软雅黑" panose="020B0503020204020204" pitchFamily="34" charset="-122"/>
              </a:rPr>
              <a:t>(Data Localization)</a:t>
            </a:r>
            <a:endParaRPr lang="zh-CN" altLang="en-US" sz="2800" b="1" dirty="0">
              <a:latin typeface="微软雅黑" panose="020B0503020204020204" pitchFamily="34" charset="-122"/>
              <a:ea typeface="微软雅黑" panose="020B0503020204020204" pitchFamily="34" charset="-122"/>
            </a:endParaRPr>
          </a:p>
          <a:p>
            <a:pPr lvl="1">
              <a:lnSpc>
                <a:spcPct val="160000"/>
              </a:lnSpc>
            </a:pPr>
            <a:r>
              <a:rPr lang="zh-CN" altLang="en-US" sz="2600" dirty="0"/>
              <a:t>技术</a:t>
            </a:r>
            <a:r>
              <a:rPr lang="en-US" altLang="zh-CN" sz="2600" dirty="0"/>
              <a:t>:</a:t>
            </a:r>
            <a:endParaRPr lang="en-US" altLang="zh-CN" sz="2600" dirty="0"/>
          </a:p>
          <a:p>
            <a:pPr lvl="2">
              <a:lnSpc>
                <a:spcPct val="160000"/>
              </a:lnSpc>
              <a:buFont typeface="Wingdings" panose="05000000000000000000" pitchFamily="2" charset="2"/>
              <a:buChar char="ü"/>
            </a:pPr>
            <a:r>
              <a:rPr lang="zh-CN" altLang="en-US" sz="2200" dirty="0"/>
              <a:t>使用查询树描述</a:t>
            </a:r>
            <a:endParaRPr lang="zh-CN" altLang="en-US" sz="2200" dirty="0"/>
          </a:p>
          <a:p>
            <a:pPr lvl="2">
              <a:lnSpc>
                <a:spcPct val="160000"/>
              </a:lnSpc>
              <a:buFont typeface="Wingdings" panose="05000000000000000000" pitchFamily="2" charset="2"/>
              <a:buChar char="ü"/>
            </a:pPr>
            <a:r>
              <a:rPr lang="zh-CN" altLang="en-US" sz="2200" dirty="0"/>
              <a:t>从全局查询映射到片段查询</a:t>
            </a:r>
            <a:endParaRPr lang="zh-CN" altLang="en-US" sz="2200" dirty="0"/>
          </a:p>
          <a:p>
            <a:pPr lvl="2">
              <a:lnSpc>
                <a:spcPct val="160000"/>
              </a:lnSpc>
              <a:buFont typeface="Wingdings" panose="05000000000000000000" pitchFamily="2" charset="2"/>
              <a:buChar char="ü"/>
            </a:pPr>
            <a:r>
              <a:rPr lang="zh-CN" altLang="en-US" sz="2200" dirty="0"/>
              <a:t>上推 </a:t>
            </a:r>
            <a:r>
              <a:rPr lang="zh-CN" altLang="en-US" sz="2200" dirty="0">
                <a:sym typeface="Symbol" panose="05050102010706020507" pitchFamily="18" charset="2"/>
              </a:rPr>
              <a:t></a:t>
            </a:r>
            <a:r>
              <a:rPr lang="zh-CN" altLang="en-US" sz="2200" dirty="0">
                <a:sym typeface="MS Reference 1" pitchFamily="2" charset="2"/>
              </a:rPr>
              <a:t>  </a:t>
            </a:r>
            <a:endParaRPr lang="zh-CN" altLang="en-US" sz="2200" dirty="0">
              <a:sym typeface="MS Reference 1" pitchFamily="2" charset="2"/>
            </a:endParaRPr>
          </a:p>
          <a:p>
            <a:pPr lvl="2">
              <a:lnSpc>
                <a:spcPct val="160000"/>
              </a:lnSpc>
              <a:buFont typeface="Wingdings" panose="05000000000000000000" pitchFamily="2" charset="2"/>
              <a:buChar char="ü"/>
            </a:pPr>
            <a:r>
              <a:rPr lang="zh-CN" altLang="en-US" sz="2200" dirty="0">
                <a:sym typeface="MS Reference 1" pitchFamily="2" charset="2"/>
              </a:rPr>
              <a:t>下推</a:t>
            </a:r>
            <a:r>
              <a:rPr lang="zh-CN" altLang="en-US" sz="2200" dirty="0">
                <a:sym typeface="Symbol" panose="05050102010706020507" pitchFamily="18" charset="2"/>
              </a:rPr>
              <a:t></a:t>
            </a:r>
            <a:r>
              <a:rPr lang="en-US" altLang="zh-CN" sz="2200" dirty="0">
                <a:sym typeface="Symbol" panose="05050102010706020507" pitchFamily="18" charset="2"/>
              </a:rPr>
              <a:t>,</a:t>
            </a:r>
            <a:r>
              <a:rPr lang="en-US" altLang="zh-CN" sz="2200" dirty="0"/>
              <a:t> </a:t>
            </a:r>
            <a:endParaRPr lang="en-US" altLang="zh-CN" sz="2200" dirty="0"/>
          </a:p>
          <a:p>
            <a:pPr lvl="2">
              <a:lnSpc>
                <a:spcPct val="160000"/>
              </a:lnSpc>
              <a:buFont typeface="Wingdings" panose="05000000000000000000" pitchFamily="2" charset="2"/>
              <a:buChar char="ü"/>
            </a:pPr>
            <a:r>
              <a:rPr lang="zh-CN" altLang="en-US" sz="2200" dirty="0"/>
              <a:t>消除不必要的操作</a:t>
            </a:r>
            <a:endParaRPr lang="zh-CN" altLang="en-US" sz="2200" dirty="0"/>
          </a:p>
          <a:p>
            <a:pPr>
              <a:lnSpc>
                <a:spcPct val="13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fontScale="85000" lnSpcReduction="20000"/>
          </a:bodyPr>
          <a:lstStyle/>
          <a:p>
            <a:pPr>
              <a:lnSpc>
                <a:spcPct val="150000"/>
              </a:lnSpc>
            </a:pPr>
            <a:r>
              <a:rPr lang="zh-CN" altLang="en-US" sz="3300" dirty="0">
                <a:latin typeface="微软雅黑" panose="020B0503020204020204" pitchFamily="34" charset="-122"/>
                <a:ea typeface="微软雅黑" panose="020B0503020204020204" pitchFamily="34" charset="-122"/>
              </a:rPr>
              <a:t>数据本地化举例</a:t>
            </a:r>
            <a:endParaRPr lang="zh-CN" altLang="en-US" sz="3300" dirty="0">
              <a:latin typeface="微软雅黑" panose="020B0503020204020204" pitchFamily="34" charset="-122"/>
              <a:ea typeface="微软雅黑" panose="020B0503020204020204" pitchFamily="34" charset="-122"/>
            </a:endParaRPr>
          </a:p>
          <a:p>
            <a:pPr marL="457200" lvl="1" indent="0">
              <a:buClrTx/>
              <a:buNone/>
            </a:pPr>
            <a:r>
              <a:rPr lang="zh-CN" altLang="en-US" sz="2800" dirty="0"/>
              <a:t>例：设有下列全局关系和分片</a:t>
            </a:r>
            <a:endParaRPr lang="zh-CN" altLang="en-US" sz="2800" dirty="0"/>
          </a:p>
          <a:p>
            <a:pPr marL="457200" lvl="1" indent="0">
              <a:buClrTx/>
              <a:buNone/>
            </a:pPr>
            <a:r>
              <a:rPr lang="zh-CN" altLang="en-US" sz="2800" dirty="0"/>
              <a:t>全局关系 </a:t>
            </a:r>
            <a:r>
              <a:rPr lang="en-US" altLang="zh-CN" sz="2800" b="1" dirty="0"/>
              <a:t>SUPPLIER (SNO, SNAME, CITY)    </a:t>
            </a:r>
            <a:endParaRPr lang="en-US" altLang="zh-CN" sz="2800" b="1" dirty="0"/>
          </a:p>
          <a:p>
            <a:pPr marL="457200" lvl="1" indent="0">
              <a:buClrTx/>
              <a:buNone/>
            </a:pPr>
            <a:r>
              <a:rPr lang="zh-CN" altLang="en-US" sz="2800" dirty="0">
                <a:solidFill>
                  <a:srgbClr val="FF0000"/>
                </a:solidFill>
              </a:rPr>
              <a:t>水平分片:</a:t>
            </a:r>
            <a:endParaRPr lang="en-US" altLang="zh-CN" sz="2800" dirty="0">
              <a:solidFill>
                <a:srgbClr val="FF0000"/>
              </a:solidFill>
            </a:endParaRPr>
          </a:p>
          <a:p>
            <a:pPr marL="0" lvl="0" indent="0" eaLnBrk="1" hangingPunct="1">
              <a:lnSpc>
                <a:spcPct val="110000"/>
              </a:lnSpc>
              <a:spcBef>
                <a:spcPct val="0"/>
              </a:spcBef>
              <a:buClrTx/>
              <a:buFontTx/>
              <a:buNone/>
            </a:pPr>
            <a:r>
              <a:rPr lang="en-US" altLang="zh-CN" sz="2400" b="0" dirty="0">
                <a:latin typeface="微软雅黑" panose="020B0503020204020204" pitchFamily="34" charset="-122"/>
                <a:ea typeface="微软雅黑" panose="020B0503020204020204" pitchFamily="34" charset="-122"/>
              </a:rPr>
              <a:t>	SUPPLIER1 = </a:t>
            </a:r>
            <a:r>
              <a:rPr lang="en-US" altLang="zh-CN" sz="2400" b="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b="0" baseline="-30000" dirty="0">
                <a:latin typeface="微软雅黑" panose="020B0503020204020204" pitchFamily="34" charset="-122"/>
                <a:ea typeface="微软雅黑" panose="020B0503020204020204" pitchFamily="34" charset="-122"/>
              </a:rPr>
              <a:t>CITY=‘</a:t>
            </a:r>
            <a:r>
              <a:rPr lang="zh-CN" altLang="en-US" sz="2400" b="0" baseline="-30000" dirty="0">
                <a:latin typeface="微软雅黑" panose="020B0503020204020204" pitchFamily="34" charset="-122"/>
                <a:ea typeface="微软雅黑" panose="020B0503020204020204" pitchFamily="34" charset="-122"/>
              </a:rPr>
              <a:t>北京’</a:t>
            </a:r>
            <a:r>
              <a:rPr lang="en-US" altLang="zh-CN" sz="2400" b="0" dirty="0">
                <a:latin typeface="微软雅黑" panose="020B0503020204020204" pitchFamily="34" charset="-122"/>
                <a:ea typeface="微软雅黑" panose="020B0503020204020204" pitchFamily="34" charset="-122"/>
              </a:rPr>
              <a:t>(SUPPLIER)</a:t>
            </a:r>
            <a:endParaRPr lang="en-US" altLang="zh-CN" sz="2400" b="0" dirty="0">
              <a:latin typeface="微软雅黑" panose="020B0503020204020204" pitchFamily="34" charset="-122"/>
              <a:ea typeface="微软雅黑" panose="020B0503020204020204" pitchFamily="34" charset="-122"/>
            </a:endParaRPr>
          </a:p>
          <a:p>
            <a:pPr marL="0" lvl="0" indent="0" eaLnBrk="1" hangingPunct="1">
              <a:lnSpc>
                <a:spcPct val="110000"/>
              </a:lnSpc>
              <a:spcBef>
                <a:spcPct val="0"/>
              </a:spcBef>
              <a:buClrTx/>
              <a:buFontTx/>
              <a:buNone/>
            </a:pPr>
            <a:r>
              <a:rPr lang="en-US" altLang="zh-CN" sz="2400" b="0" dirty="0">
                <a:latin typeface="微软雅黑" panose="020B0503020204020204" pitchFamily="34" charset="-122"/>
                <a:ea typeface="微软雅黑" panose="020B0503020204020204" pitchFamily="34" charset="-122"/>
              </a:rPr>
              <a:t>	SUPPLIER2</a:t>
            </a:r>
            <a:r>
              <a:rPr lang="en-US" altLang="zh-CN" sz="2400" b="0" baseline="-3000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b="0" baseline="-30000" dirty="0">
                <a:latin typeface="微软雅黑" panose="020B0503020204020204" pitchFamily="34" charset="-122"/>
                <a:ea typeface="微软雅黑" panose="020B0503020204020204" pitchFamily="34" charset="-122"/>
              </a:rPr>
              <a:t>CITY=‘</a:t>
            </a:r>
            <a:r>
              <a:rPr lang="zh-CN" altLang="en-US" sz="2400" b="0" baseline="-30000" dirty="0">
                <a:latin typeface="微软雅黑" panose="020B0503020204020204" pitchFamily="34" charset="-122"/>
                <a:ea typeface="微软雅黑" panose="020B0503020204020204" pitchFamily="34" charset="-122"/>
              </a:rPr>
              <a:t>上海’</a:t>
            </a:r>
            <a:r>
              <a:rPr lang="en-US" altLang="zh-CN" sz="2400" b="0" dirty="0">
                <a:latin typeface="微软雅黑" panose="020B0503020204020204" pitchFamily="34" charset="-122"/>
                <a:ea typeface="微软雅黑" panose="020B0503020204020204" pitchFamily="34" charset="-122"/>
              </a:rPr>
              <a:t>(SUPPLIER)</a:t>
            </a:r>
            <a:endParaRPr lang="en-US" altLang="zh-CN" sz="2400" b="0" dirty="0">
              <a:latin typeface="微软雅黑" panose="020B0503020204020204" pitchFamily="34" charset="-122"/>
              <a:ea typeface="微软雅黑" panose="020B0503020204020204" pitchFamily="34" charset="-122"/>
            </a:endParaRPr>
          </a:p>
          <a:p>
            <a:pPr marL="0" lvl="0" indent="0" eaLnBrk="1" hangingPunct="1">
              <a:lnSpc>
                <a:spcPct val="110000"/>
              </a:lnSpc>
              <a:spcBef>
                <a:spcPct val="0"/>
              </a:spcBef>
              <a:buClrTx/>
              <a:buFontTx/>
              <a:buNone/>
            </a:pPr>
            <a:r>
              <a:rPr lang="en-US" altLang="zh-CN" sz="2400" b="0" dirty="0">
                <a:latin typeface="微软雅黑" panose="020B0503020204020204" pitchFamily="34" charset="-122"/>
                <a:ea typeface="微软雅黑" panose="020B0503020204020204" pitchFamily="34" charset="-122"/>
              </a:rPr>
              <a:t>	SUPPLIER3= </a:t>
            </a:r>
            <a:r>
              <a:rPr lang="en-US" altLang="zh-CN" sz="2400" b="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b="0" baseline="-30000" dirty="0">
                <a:latin typeface="微软雅黑" panose="020B0503020204020204" pitchFamily="34" charset="-122"/>
                <a:ea typeface="微软雅黑" panose="020B0503020204020204" pitchFamily="34" charset="-122"/>
              </a:rPr>
              <a:t>CITY=‘</a:t>
            </a:r>
            <a:r>
              <a:rPr lang="zh-CN" altLang="en-US" sz="2400" b="0" baseline="-30000" dirty="0">
                <a:latin typeface="微软雅黑" panose="020B0503020204020204" pitchFamily="34" charset="-122"/>
                <a:ea typeface="微软雅黑" panose="020B0503020204020204" pitchFamily="34" charset="-122"/>
              </a:rPr>
              <a:t>广州’</a:t>
            </a:r>
            <a:r>
              <a:rPr lang="en-US" altLang="zh-CN" sz="2400" b="0" dirty="0">
                <a:latin typeface="微软雅黑" panose="020B0503020204020204" pitchFamily="34" charset="-122"/>
                <a:ea typeface="微软雅黑" panose="020B0503020204020204" pitchFamily="34" charset="-122"/>
              </a:rPr>
              <a:t>(SUPPLIER)</a:t>
            </a:r>
            <a:endParaRPr lang="zh-CN" altLang="en-US" sz="2400" b="0" dirty="0">
              <a:latin typeface="微软雅黑" panose="020B0503020204020204" pitchFamily="34" charset="-122"/>
              <a:ea typeface="微软雅黑" panose="020B0503020204020204" pitchFamily="34" charset="-122"/>
            </a:endParaRPr>
          </a:p>
          <a:p>
            <a:pPr marL="457200" lvl="1" indent="0">
              <a:buClrTx/>
              <a:buNone/>
            </a:pPr>
            <a:r>
              <a:rPr lang="zh-CN" altLang="en-US" sz="2800" dirty="0"/>
              <a:t>全局关系</a:t>
            </a:r>
            <a:r>
              <a:rPr lang="en-US" altLang="zh-CN" sz="2800" b="1" dirty="0"/>
              <a:t>PROJECT(PNO, PNAME, MNG, DEPT)  </a:t>
            </a:r>
            <a:endParaRPr lang="en-US" altLang="zh-CN" sz="2800" b="1" dirty="0"/>
          </a:p>
          <a:p>
            <a:pPr marL="457200" lvl="1" indent="0">
              <a:buClrTx/>
              <a:buNone/>
            </a:pPr>
            <a:r>
              <a:rPr lang="zh-CN" altLang="en-US" sz="2800" dirty="0">
                <a:solidFill>
                  <a:srgbClr val="FF0000"/>
                </a:solidFill>
              </a:rPr>
              <a:t>水平分片：</a:t>
            </a:r>
            <a:endParaRPr lang="zh-CN" altLang="en-US" sz="2800" dirty="0">
              <a:solidFill>
                <a:srgbClr val="FF0000"/>
              </a:solidFill>
            </a:endParaRPr>
          </a:p>
          <a:p>
            <a:pPr marL="914400" lvl="2" indent="0">
              <a:lnSpc>
                <a:spcPct val="110000"/>
              </a:lnSpc>
              <a:spcBef>
                <a:spcPct val="0"/>
              </a:spcBef>
              <a:buNone/>
            </a:pPr>
            <a:r>
              <a:rPr lang="en-US" altLang="zh-CN" sz="2400" b="0" dirty="0">
                <a:latin typeface="Times New Roman" panose="02020603050405020304" pitchFamily="18" charset="0"/>
              </a:rPr>
              <a:t>PROJECT 1 = </a:t>
            </a:r>
            <a:r>
              <a:rPr lang="en-US" altLang="zh-CN" sz="2400" b="0" dirty="0">
                <a:latin typeface="Times New Roman" panose="02020603050405020304" pitchFamily="18" charset="0"/>
                <a:sym typeface="Symbol" panose="05050102010706020507" pitchFamily="18" charset="2"/>
              </a:rPr>
              <a:t></a:t>
            </a:r>
            <a:r>
              <a:rPr lang="en-US" altLang="zh-CN" sz="2400" b="0" baseline="-30000" dirty="0">
                <a:latin typeface="Times New Roman" panose="02020603050405020304" pitchFamily="18" charset="0"/>
              </a:rPr>
              <a:t>DEPT=‘</a:t>
            </a:r>
            <a:r>
              <a:rPr lang="zh-CN" altLang="en-US" sz="2400" b="0" baseline="-30000" dirty="0">
                <a:latin typeface="Times New Roman" panose="02020603050405020304" pitchFamily="18" charset="0"/>
              </a:rPr>
              <a:t>教育厅’</a:t>
            </a:r>
            <a:r>
              <a:rPr lang="en-US" altLang="zh-CN" sz="2400" b="0" dirty="0">
                <a:latin typeface="Times New Roman" panose="02020603050405020304" pitchFamily="18" charset="0"/>
              </a:rPr>
              <a:t>(PROJECT)</a:t>
            </a:r>
            <a:endParaRPr lang="en-US" altLang="zh-CN" sz="2400" b="0" dirty="0">
              <a:latin typeface="Times New Roman" panose="02020603050405020304" pitchFamily="18" charset="0"/>
            </a:endParaRPr>
          </a:p>
          <a:p>
            <a:pPr marL="914400" lvl="2" indent="0">
              <a:lnSpc>
                <a:spcPct val="110000"/>
              </a:lnSpc>
              <a:spcBef>
                <a:spcPct val="0"/>
              </a:spcBef>
              <a:buNone/>
            </a:pPr>
            <a:r>
              <a:rPr lang="en-US" altLang="zh-CN" sz="2400" b="0" dirty="0">
                <a:latin typeface="Times New Roman" panose="02020603050405020304" pitchFamily="18" charset="0"/>
              </a:rPr>
              <a:t>PROJECT 2</a:t>
            </a:r>
            <a:r>
              <a:rPr lang="en-US" altLang="zh-CN" sz="2400" b="0" baseline="-30000" dirty="0">
                <a:latin typeface="Times New Roman" panose="02020603050405020304" pitchFamily="18" charset="0"/>
              </a:rPr>
              <a:t> </a:t>
            </a:r>
            <a:r>
              <a:rPr lang="en-US" altLang="zh-CN" sz="2400" b="0" dirty="0">
                <a:latin typeface="Times New Roman" panose="02020603050405020304" pitchFamily="18" charset="0"/>
              </a:rPr>
              <a:t>= </a:t>
            </a:r>
            <a:r>
              <a:rPr lang="en-US" altLang="zh-CN" sz="2400" b="0" dirty="0">
                <a:latin typeface="Times New Roman" panose="02020603050405020304" pitchFamily="18" charset="0"/>
                <a:sym typeface="Symbol" panose="05050102010706020507" pitchFamily="18" charset="2"/>
              </a:rPr>
              <a:t></a:t>
            </a:r>
            <a:r>
              <a:rPr lang="en-US" altLang="zh-CN" sz="2400" b="0" baseline="-30000" dirty="0">
                <a:latin typeface="Times New Roman" panose="02020603050405020304" pitchFamily="18" charset="0"/>
              </a:rPr>
              <a:t> DEPT =‘</a:t>
            </a:r>
            <a:r>
              <a:rPr lang="zh-CN" altLang="en-US" sz="2400" b="0" baseline="-30000" dirty="0">
                <a:latin typeface="Times New Roman" panose="02020603050405020304" pitchFamily="18" charset="0"/>
              </a:rPr>
              <a:t>科技厅’</a:t>
            </a:r>
            <a:r>
              <a:rPr lang="en-US" altLang="zh-CN" sz="2400" b="0" dirty="0">
                <a:latin typeface="Times New Roman" panose="02020603050405020304" pitchFamily="18" charset="0"/>
              </a:rPr>
              <a:t>(PROJECT)</a:t>
            </a:r>
            <a:endParaRPr lang="en-US" altLang="zh-CN" sz="2400" b="0" dirty="0">
              <a:latin typeface="Times New Roman" panose="02020603050405020304" pitchFamily="18" charset="0"/>
            </a:endParaRPr>
          </a:p>
          <a:p>
            <a:pPr marL="914400" lvl="2" indent="0">
              <a:lnSpc>
                <a:spcPct val="110000"/>
              </a:lnSpc>
              <a:spcBef>
                <a:spcPct val="0"/>
              </a:spcBef>
              <a:buNone/>
            </a:pPr>
            <a:r>
              <a:rPr lang="en-US" altLang="zh-CN" sz="2400" b="0" dirty="0">
                <a:latin typeface="Times New Roman" panose="02020603050405020304" pitchFamily="18" charset="0"/>
              </a:rPr>
              <a:t>PROJECT 3= </a:t>
            </a:r>
            <a:r>
              <a:rPr lang="en-US" altLang="zh-CN" sz="2400" b="0" dirty="0">
                <a:latin typeface="Times New Roman" panose="02020603050405020304" pitchFamily="18" charset="0"/>
                <a:sym typeface="Symbol" panose="05050102010706020507" pitchFamily="18" charset="2"/>
              </a:rPr>
              <a:t></a:t>
            </a:r>
            <a:r>
              <a:rPr lang="en-US" altLang="zh-CN" sz="2400" b="0" baseline="-30000" dirty="0">
                <a:latin typeface="Times New Roman" panose="02020603050405020304" pitchFamily="18" charset="0"/>
              </a:rPr>
              <a:t> DEPT =‘</a:t>
            </a:r>
            <a:r>
              <a:rPr lang="zh-CN" altLang="en-US" sz="2400" b="0" baseline="-30000" dirty="0">
                <a:latin typeface="Times New Roman" panose="02020603050405020304" pitchFamily="18" charset="0"/>
              </a:rPr>
              <a:t>科工委’</a:t>
            </a:r>
            <a:r>
              <a:rPr lang="en-US" altLang="zh-CN" sz="2400" b="0" dirty="0">
                <a:latin typeface="Times New Roman" panose="02020603050405020304" pitchFamily="18" charset="0"/>
              </a:rPr>
              <a:t>(PROJECT)</a:t>
            </a:r>
            <a:endParaRPr lang="en-US" altLang="zh-CN" sz="2400" b="0" dirty="0"/>
          </a:p>
          <a:p>
            <a:pPr marL="457200" lvl="1" indent="0">
              <a:buClrTx/>
              <a:buNone/>
            </a:pPr>
            <a:r>
              <a:rPr lang="zh-CN" altLang="en-US" sz="2800" dirty="0"/>
              <a:t>全局关系</a:t>
            </a:r>
            <a:r>
              <a:rPr lang="en-US" altLang="zh-CN" sz="2800" b="1" dirty="0"/>
              <a:t>SUPPLY(SNO, PNO, MNO) </a:t>
            </a:r>
            <a:endParaRPr lang="zh-CN" altLang="en-US" sz="28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latin typeface="微软雅黑" panose="020B0503020204020204" pitchFamily="34" charset="-122"/>
                <a:ea typeface="微软雅黑" panose="020B0503020204020204" pitchFamily="34" charset="-122"/>
              </a:rPr>
              <a:t>数据本地化举例</a:t>
            </a:r>
            <a:endParaRPr lang="zh-CN" altLang="en-US" b="1" dirty="0">
              <a:latin typeface="微软雅黑" panose="020B0503020204020204" pitchFamily="34" charset="-122"/>
              <a:ea typeface="微软雅黑" panose="020B0503020204020204" pitchFamily="34" charset="-122"/>
            </a:endParaRPr>
          </a:p>
          <a:p>
            <a:pPr marL="457200" lvl="1" indent="0">
              <a:buNone/>
            </a:pPr>
            <a:r>
              <a:rPr lang="zh-CN" altLang="en-US" dirty="0"/>
              <a:t>例：查询给</a:t>
            </a:r>
            <a:r>
              <a:rPr lang="en-US" altLang="zh-CN" dirty="0"/>
              <a:t>”</a:t>
            </a:r>
            <a:r>
              <a:rPr lang="zh-CN" altLang="en-US" dirty="0"/>
              <a:t>科工委</a:t>
            </a:r>
            <a:r>
              <a:rPr lang="en-US" altLang="zh-CN" dirty="0"/>
              <a:t>”</a:t>
            </a:r>
            <a:r>
              <a:rPr lang="zh-CN" altLang="en-US" dirty="0"/>
              <a:t>主管的工程供应材料的北京的供应商编号和名称</a:t>
            </a:r>
            <a:r>
              <a:rPr lang="en-US" altLang="zh-CN" dirty="0"/>
              <a:t>,</a:t>
            </a:r>
            <a:r>
              <a:rPr lang="zh-CN" altLang="en-US" dirty="0"/>
              <a:t>全局查询表示如下：</a:t>
            </a:r>
            <a:endParaRPr lang="en-US" altLang="zh-CN" dirty="0"/>
          </a:p>
          <a:p>
            <a:pPr marL="457200" lvl="1" indent="0" algn="ctr">
              <a:buNone/>
            </a:pP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b="1" baseline="-30000" dirty="0">
                <a:latin typeface="微软雅黑" panose="020B0503020204020204" pitchFamily="34" charset="-122"/>
                <a:ea typeface="微软雅黑" panose="020B0503020204020204" pitchFamily="34" charset="-122"/>
              </a:rPr>
              <a:t>SNO, SNAME</a:t>
            </a:r>
            <a:r>
              <a:rPr lang="en-US" altLang="zh-CN"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b="1" baseline="-30000" dirty="0">
                <a:latin typeface="微软雅黑" panose="020B0503020204020204" pitchFamily="34" charset="-122"/>
                <a:ea typeface="微软雅黑" panose="020B0503020204020204" pitchFamily="34" charset="-122"/>
              </a:rPr>
              <a:t>CITY=‘</a:t>
            </a:r>
            <a:r>
              <a:rPr lang="zh-CN" altLang="en-US" sz="2000" b="1" baseline="-30000" dirty="0">
                <a:latin typeface="微软雅黑" panose="020B0503020204020204" pitchFamily="34" charset="-122"/>
                <a:ea typeface="微软雅黑" panose="020B0503020204020204" pitchFamily="34" charset="-122"/>
              </a:rPr>
              <a:t>北京’</a:t>
            </a:r>
            <a:r>
              <a:rPr lang="en-US" altLang="zh-CN" sz="2000" b="1" dirty="0">
                <a:latin typeface="微软雅黑" panose="020B0503020204020204" pitchFamily="34" charset="-122"/>
                <a:ea typeface="微软雅黑" panose="020B0503020204020204" pitchFamily="34" charset="-122"/>
              </a:rPr>
              <a:t>(SUPPLIER) ⋈ </a:t>
            </a:r>
            <a:endParaRPr lang="en-US" altLang="zh-CN" sz="2000" b="1" dirty="0">
              <a:latin typeface="微软雅黑" panose="020B0503020204020204" pitchFamily="34" charset="-122"/>
              <a:ea typeface="微软雅黑" panose="020B0503020204020204" pitchFamily="34" charset="-122"/>
            </a:endParaRPr>
          </a:p>
          <a:p>
            <a:pPr marL="457200" lvl="1" indent="0" algn="ctr">
              <a:buNone/>
            </a:pPr>
            <a:r>
              <a:rPr lang="en-US" altLang="zh-CN" sz="2000" b="1" dirty="0">
                <a:latin typeface="微软雅黑" panose="020B0503020204020204" pitchFamily="34" charset="-122"/>
                <a:ea typeface="微软雅黑" panose="020B0503020204020204" pitchFamily="34" charset="-122"/>
              </a:rPr>
              <a:t>	    ( </a:t>
            </a:r>
            <a:r>
              <a:rPr lang="en-US" altLang="zh-CN"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b="1" baseline="-30000" dirty="0">
                <a:latin typeface="微软雅黑" panose="020B0503020204020204" pitchFamily="34" charset="-122"/>
                <a:ea typeface="微软雅黑" panose="020B0503020204020204" pitchFamily="34" charset="-122"/>
              </a:rPr>
              <a:t> DEPT =‘</a:t>
            </a:r>
            <a:r>
              <a:rPr lang="zh-CN" altLang="en-US" sz="2000" b="1" baseline="-30000" dirty="0">
                <a:latin typeface="微软雅黑" panose="020B0503020204020204" pitchFamily="34" charset="-122"/>
                <a:ea typeface="微软雅黑" panose="020B0503020204020204" pitchFamily="34" charset="-122"/>
              </a:rPr>
              <a:t>科工委’</a:t>
            </a:r>
            <a:r>
              <a:rPr lang="en-US" altLang="zh-CN" sz="2000" b="1" dirty="0">
                <a:latin typeface="微软雅黑" panose="020B0503020204020204" pitchFamily="34" charset="-122"/>
                <a:ea typeface="微软雅黑" panose="020B0503020204020204" pitchFamily="34" charset="-122"/>
              </a:rPr>
              <a:t>(PROJECT) ⋈ SUPPLY))</a:t>
            </a:r>
            <a:endParaRPr lang="en-US" altLang="zh-CN" sz="2000" b="1" dirty="0">
              <a:latin typeface="微软雅黑" panose="020B0503020204020204" pitchFamily="34" charset="-122"/>
              <a:ea typeface="微软雅黑" panose="020B0503020204020204" pitchFamily="34" charset="-122"/>
            </a:endParaRPr>
          </a:p>
          <a:p>
            <a:pPr marL="0" lvl="0" indent="0" eaLnBrk="1" hangingPunct="1">
              <a:lnSpc>
                <a:spcPct val="110000"/>
              </a:lnSpc>
              <a:spcBef>
                <a:spcPct val="0"/>
              </a:spcBef>
              <a:buClrTx/>
              <a:buFontTx/>
              <a:buNone/>
            </a:pPr>
            <a:endParaRPr lang="zh-CN" altLang="en-US" sz="2400" b="1" dirty="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数据本地化举例</a:t>
            </a:r>
            <a:endParaRPr lang="zh-CN" altLang="en-US" b="1" dirty="0">
              <a:ea typeface="楷体_GB2312" pitchFamily="49" charset="-122"/>
            </a:endParaRPr>
          </a:p>
          <a:p>
            <a:pPr marL="457200" lvl="1" indent="0">
              <a:buNone/>
            </a:pPr>
            <a:r>
              <a:rPr lang="zh-CN" altLang="en-US" dirty="0"/>
              <a:t>全局查询树</a:t>
            </a:r>
            <a:r>
              <a:rPr lang="en-US" altLang="zh-CN" dirty="0"/>
              <a:t>:</a:t>
            </a:r>
            <a:endParaRPr lang="en-US" altLang="zh-CN" dirty="0"/>
          </a:p>
          <a:p>
            <a:pPr marL="457200" lvl="1" indent="0">
              <a:buNone/>
            </a:pPr>
            <a:endParaRPr lang="en-US" altLang="zh-CN" dirty="0"/>
          </a:p>
        </p:txBody>
      </p:sp>
      <p:grpSp>
        <p:nvGrpSpPr>
          <p:cNvPr id="6" name="Group 8"/>
          <p:cNvGrpSpPr/>
          <p:nvPr/>
        </p:nvGrpSpPr>
        <p:grpSpPr>
          <a:xfrm>
            <a:off x="1738747" y="2293938"/>
            <a:ext cx="8439150" cy="4427537"/>
            <a:chOff x="240" y="1056"/>
            <a:chExt cx="5760" cy="2789"/>
          </a:xfrm>
        </p:grpSpPr>
        <p:sp>
          <p:nvSpPr>
            <p:cNvPr id="8" name="Text Box 9"/>
            <p:cNvSpPr txBox="1"/>
            <p:nvPr/>
          </p:nvSpPr>
          <p:spPr>
            <a:xfrm>
              <a:off x="240" y="1056"/>
              <a:ext cx="5760" cy="2789"/>
            </a:xfrm>
            <a:prstGeom prst="rect">
              <a:avLst/>
            </a:prstGeom>
            <a:noFill/>
            <a:ln w="12700" cap="rnd"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2800" b="1" dirty="0">
                  <a:latin typeface="Times New Roman" panose="02020603050405020304" pitchFamily="18" charset="0"/>
                  <a:sym typeface="Symbol" panose="05050102010706020507" pitchFamily="18" charset="2"/>
                </a:rPr>
                <a:t></a:t>
              </a:r>
              <a:r>
                <a:rPr lang="en-US" altLang="zh-CN" sz="2800" b="1" baseline="-30000" dirty="0">
                  <a:latin typeface="宋体" panose="02010600030101010101" pitchFamily="2" charset="-122"/>
                </a:rPr>
                <a:t>SNO, SNAME</a:t>
              </a:r>
              <a:endParaRPr lang="en-US" altLang="zh-CN" sz="2800" b="1" dirty="0">
                <a:latin typeface="宋体" panose="02010600030101010101" pitchFamily="2" charset="-122"/>
              </a:endParaRPr>
            </a:p>
            <a:p>
              <a:pPr marL="457200" lvl="0" indent="-457200" algn="ctr" eaLnBrk="1" hangingPunct="1">
                <a:spcBef>
                  <a:spcPct val="0"/>
                </a:spcBef>
                <a:buClrTx/>
                <a:buFontTx/>
                <a:buNone/>
              </a:pPr>
              <a:endParaRPr lang="en-US" altLang="zh-CN" sz="2400" b="1" dirty="0">
                <a:latin typeface="宋体" panose="02010600030101010101" pitchFamily="2" charset="-122"/>
              </a:endParaRPr>
            </a:p>
            <a:p>
              <a:pPr marL="457200" lvl="0" indent="-457200" algn="ctr" eaLnBrk="1" hangingPunct="1">
                <a:spcBef>
                  <a:spcPct val="0"/>
                </a:spcBef>
                <a:buClrTx/>
                <a:buFontTx/>
                <a:buNone/>
              </a:pP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SP.SNO = SY.SNO </a:t>
              </a:r>
              <a:endParaRPr lang="en-US" altLang="zh-CN" sz="2400" b="1" dirty="0">
                <a:latin typeface="宋体" panose="02010600030101010101" pitchFamily="2" charset="-122"/>
              </a:endParaRPr>
            </a:p>
            <a:p>
              <a:pPr marL="457200" lvl="0" indent="-457200" eaLnBrk="1" hangingPunct="1">
                <a:spcBef>
                  <a:spcPct val="0"/>
                </a:spcBef>
                <a:buClrTx/>
                <a:buFontTx/>
                <a:buNone/>
              </a:pPr>
              <a:br>
                <a:rPr lang="en-US" altLang="zh-CN" sz="2400" b="1" dirty="0">
                  <a:latin typeface="宋体" panose="02010600030101010101" pitchFamily="2" charset="-122"/>
                </a:rPr>
              </a:br>
              <a:r>
                <a:rPr lang="en-US" altLang="zh-CN" sz="2400" b="1" dirty="0">
                  <a:latin typeface="宋体" panose="02010600030101010101" pitchFamily="2" charset="-122"/>
                </a:rPr>
                <a:t>               </a:t>
              </a:r>
              <a:r>
                <a:rPr lang="en-US" altLang="zh-CN" sz="2400" b="1" dirty="0">
                  <a:latin typeface="Times New Roman" panose="02020603050405020304" pitchFamily="18" charset="0"/>
                  <a:sym typeface="Symbol" panose="05050102010706020507" pitchFamily="18" charset="2"/>
                </a:rPr>
                <a:t></a:t>
              </a:r>
              <a:r>
                <a:rPr lang="en-US" altLang="zh-CN" sz="2400" b="1" baseline="-30000" dirty="0">
                  <a:latin typeface="宋体" panose="02010600030101010101" pitchFamily="2" charset="-122"/>
                </a:rPr>
                <a:t>CITY=</a:t>
              </a:r>
              <a:r>
                <a:rPr lang="en-US" altLang="zh-CN" sz="2400" b="1" baseline="-30000" dirty="0">
                  <a:latin typeface="Times New Roman" panose="02020603050405020304" pitchFamily="18" charset="0"/>
                </a:rPr>
                <a:t>‘</a:t>
              </a:r>
              <a:r>
                <a:rPr lang="zh-CN" altLang="en-US" sz="2400" b="1" baseline="-30000" dirty="0">
                  <a:latin typeface="Times New Roman" panose="02020603050405020304" pitchFamily="18" charset="0"/>
                </a:rPr>
                <a:t>北京’</a:t>
              </a:r>
              <a:r>
                <a:rPr lang="zh-CN" altLang="en-US" sz="2400" b="1" baseline="-30000" dirty="0">
                  <a:latin typeface="宋体" panose="02010600030101010101" pitchFamily="2" charset="-122"/>
                </a:rPr>
                <a:t> </a:t>
              </a:r>
              <a:endParaRPr lang="zh-CN" altLang="en-US" sz="2400" b="1" baseline="-30000" dirty="0">
                <a:latin typeface="宋体" panose="02010600030101010101" pitchFamily="2" charset="-122"/>
              </a:endParaRPr>
            </a:p>
            <a:p>
              <a:pPr marL="457200" lvl="0" indent="-457200" eaLnBrk="1" hangingPunct="1">
                <a:spcBef>
                  <a:spcPct val="0"/>
                </a:spcBef>
                <a:buClrTx/>
                <a:buFontTx/>
                <a:buNone/>
              </a:pPr>
              <a:endParaRPr lang="zh-CN" altLang="en-US" sz="2400" b="1" baseline="-30000"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P.PNO = SY.PNO</a:t>
              </a:r>
              <a:endParaRPr lang="en-US" altLang="zh-CN" sz="2400" b="1" dirty="0">
                <a:latin typeface="宋体" panose="02010600030101010101" pitchFamily="2" charset="-122"/>
              </a:endParaRPr>
            </a:p>
            <a:p>
              <a:pPr marL="457200" lvl="0" indent="-457200" eaLnBrk="1" hangingPunct="1">
                <a:spcBef>
                  <a:spcPct val="0"/>
                </a:spcBef>
                <a:buClrTx/>
                <a:buFontTx/>
                <a:buNone/>
              </a:pPr>
              <a:r>
                <a:rPr lang="en-US" altLang="zh-CN" sz="2400" b="1" dirty="0">
                  <a:latin typeface="宋体" panose="02010600030101010101" pitchFamily="2" charset="-122"/>
                </a:rPr>
                <a:t>                   SR(supplier)</a:t>
              </a: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Times New Roman" panose="02020603050405020304" pitchFamily="18" charset="0"/>
                  <a:sym typeface="Symbol" panose="05050102010706020507" pitchFamily="18" charset="2"/>
                </a:rPr>
                <a:t>    </a:t>
              </a:r>
              <a:r>
                <a:rPr lang="en-US" altLang="zh-CN" sz="2400" b="1" baseline="-30000" dirty="0">
                  <a:latin typeface="宋体" panose="02010600030101010101" pitchFamily="2" charset="-122"/>
                </a:rPr>
                <a:t>DEP=</a:t>
              </a:r>
              <a:r>
                <a:rPr lang="en-US" altLang="zh-CN" sz="2400" b="1" baseline="-30000" dirty="0">
                  <a:latin typeface="Times New Roman" panose="02020603050405020304" pitchFamily="18" charset="0"/>
                </a:rPr>
                <a:t>‘</a:t>
              </a:r>
              <a:r>
                <a:rPr lang="en-US" altLang="zh-CN" sz="2400" b="1" baseline="-30000" dirty="0">
                  <a:latin typeface="宋体" panose="02010600030101010101" pitchFamily="2" charset="-122"/>
                </a:rPr>
                <a:t> </a:t>
              </a:r>
              <a:r>
                <a:rPr lang="zh-CN" altLang="en-US" sz="2400" b="1" baseline="-30000" dirty="0">
                  <a:latin typeface="Times New Roman" panose="02020603050405020304" pitchFamily="18" charset="0"/>
                </a:rPr>
                <a:t>科工委’</a:t>
              </a:r>
              <a:r>
                <a:rPr lang="zh-CN" altLang="en-US" sz="2400" b="1" baseline="-30000" dirty="0">
                  <a:latin typeface="宋体" panose="02010600030101010101" pitchFamily="2" charset="-122"/>
                </a:rPr>
                <a:t>   </a:t>
              </a:r>
              <a:endParaRPr lang="zh-CN" altLang="en-US" sz="2400" b="1" baseline="-30000" dirty="0">
                <a:latin typeface="宋体" panose="02010600030101010101" pitchFamily="2" charset="-122"/>
              </a:endParaRPr>
            </a:p>
            <a:p>
              <a:pPr marL="457200" lvl="0" indent="-457200" algn="ctr" eaLnBrk="1" hangingPunct="1">
                <a:spcBef>
                  <a:spcPct val="0"/>
                </a:spcBef>
                <a:buClrTx/>
                <a:buFontTx/>
                <a:buNone/>
              </a:pPr>
              <a:r>
                <a:rPr lang="zh-CN" altLang="en-US" sz="2400" b="1" baseline="-30000" dirty="0">
                  <a:latin typeface="宋体" panose="02010600030101010101" pitchFamily="2" charset="-122"/>
                </a:rPr>
                <a:t>                                         </a:t>
              </a:r>
              <a:r>
                <a:rPr lang="en-US" altLang="zh-CN" sz="2400" b="1" dirty="0">
                  <a:latin typeface="宋体" panose="02010600030101010101" pitchFamily="2" charset="-122"/>
                </a:rPr>
                <a:t>SY(supply)</a:t>
              </a: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P(project)</a:t>
              </a:r>
              <a:r>
                <a:rPr lang="en-US" altLang="zh-CN" sz="2400" b="1" dirty="0">
                  <a:solidFill>
                    <a:srgbClr val="FFFFAF"/>
                  </a:solidFill>
                  <a:latin typeface="宋体" panose="02010600030101010101" pitchFamily="2" charset="-122"/>
                </a:rPr>
                <a:t>                                 </a:t>
              </a:r>
              <a:r>
                <a:rPr lang="zh-CN" altLang="en-US" sz="2400" b="1" dirty="0">
                  <a:solidFill>
                    <a:srgbClr val="FFFFAF"/>
                  </a:solidFill>
                  <a:latin typeface="宋体" panose="02010600030101010101" pitchFamily="2" charset="-122"/>
                </a:rPr>
                <a:t>      </a:t>
              </a:r>
              <a:r>
                <a:rPr lang="en-US" altLang="zh-CN" sz="2400" b="1" dirty="0">
                  <a:solidFill>
                    <a:srgbClr val="FFFFAF"/>
                  </a:solidFill>
                  <a:latin typeface="宋体" panose="02010600030101010101" pitchFamily="2" charset="-122"/>
                </a:rPr>
                <a:t>                                                      </a:t>
              </a:r>
              <a:endParaRPr lang="zh-CN" altLang="en-US" sz="2400" b="1" dirty="0">
                <a:solidFill>
                  <a:srgbClr val="FFFFAF"/>
                </a:solidFill>
                <a:latin typeface="宋体" panose="02010600030101010101" pitchFamily="2" charset="-122"/>
              </a:endParaRPr>
            </a:p>
          </p:txBody>
        </p:sp>
        <p:sp>
          <p:nvSpPr>
            <p:cNvPr id="9" name="AutoShape 10"/>
            <p:cNvSpPr/>
            <p:nvPr/>
          </p:nvSpPr>
          <p:spPr>
            <a:xfrm rot="-5456287">
              <a:off x="3088" y="1616"/>
              <a:ext cx="96" cy="320"/>
            </a:xfrm>
            <a:prstGeom prst="flowChartCollate">
              <a:avLst/>
            </a:prstGeom>
            <a:noFill/>
            <a:ln w="28575" cap="rnd"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fontAlgn="t">
                <a:spcBef>
                  <a:spcPct val="0"/>
                </a:spcBef>
                <a:buClrTx/>
                <a:buFontTx/>
                <a:buNone/>
              </a:pPr>
              <a:endParaRPr lang="zh-CN" altLang="en-US" sz="2400" b="1" dirty="0">
                <a:solidFill>
                  <a:srgbClr val="FFFFAF"/>
                </a:solidFill>
                <a:latin typeface="隶书" panose="02010509060101010101" pitchFamily="49" charset="-122"/>
                <a:ea typeface="隶书" panose="02010509060101010101" pitchFamily="49" charset="-122"/>
              </a:endParaRPr>
            </a:p>
          </p:txBody>
        </p:sp>
        <p:sp>
          <p:nvSpPr>
            <p:cNvPr id="10" name="AutoShape 11"/>
            <p:cNvSpPr/>
            <p:nvPr/>
          </p:nvSpPr>
          <p:spPr>
            <a:xfrm rot="-5456287">
              <a:off x="3808" y="2432"/>
              <a:ext cx="96" cy="320"/>
            </a:xfrm>
            <a:prstGeom prst="flowChartCollate">
              <a:avLst/>
            </a:prstGeom>
            <a:noFill/>
            <a:ln w="28575" cap="rnd"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fontAlgn="t">
                <a:spcBef>
                  <a:spcPct val="0"/>
                </a:spcBef>
                <a:buClrTx/>
                <a:buFontTx/>
                <a:buNone/>
              </a:pPr>
              <a:endParaRPr lang="zh-CN" altLang="en-US" sz="2400" b="1" dirty="0">
                <a:solidFill>
                  <a:srgbClr val="FFFFAF"/>
                </a:solidFill>
                <a:latin typeface="隶书" panose="02010509060101010101" pitchFamily="49" charset="-122"/>
                <a:ea typeface="隶书" panose="02010509060101010101" pitchFamily="49" charset="-122"/>
              </a:endParaRPr>
            </a:p>
          </p:txBody>
        </p:sp>
        <p:grpSp>
          <p:nvGrpSpPr>
            <p:cNvPr id="11" name="Group 12"/>
            <p:cNvGrpSpPr/>
            <p:nvPr/>
          </p:nvGrpSpPr>
          <p:grpSpPr>
            <a:xfrm>
              <a:off x="2496" y="1440"/>
              <a:ext cx="1968" cy="2160"/>
              <a:chOff x="2496" y="1440"/>
              <a:chExt cx="1968" cy="2160"/>
            </a:xfrm>
          </p:grpSpPr>
          <p:sp>
            <p:nvSpPr>
              <p:cNvPr id="13" name="Line 13"/>
              <p:cNvSpPr/>
              <p:nvPr/>
            </p:nvSpPr>
            <p:spPr>
              <a:xfrm>
                <a:off x="3120" y="1440"/>
                <a:ext cx="0" cy="240"/>
              </a:xfrm>
              <a:prstGeom prst="line">
                <a:avLst/>
              </a:prstGeom>
              <a:ln w="19050" cap="rnd" cmpd="sng">
                <a:solidFill>
                  <a:schemeClr val="tx1"/>
                </a:solidFill>
                <a:prstDash val="solid"/>
                <a:headEnd type="none" w="med" len="med"/>
                <a:tailEnd type="none" w="med" len="med"/>
              </a:ln>
            </p:spPr>
          </p:sp>
          <p:sp>
            <p:nvSpPr>
              <p:cNvPr id="14" name="Line 14"/>
              <p:cNvSpPr/>
              <p:nvPr/>
            </p:nvSpPr>
            <p:spPr>
              <a:xfrm flipH="1">
                <a:off x="2496" y="2064"/>
                <a:ext cx="480" cy="288"/>
              </a:xfrm>
              <a:prstGeom prst="line">
                <a:avLst/>
              </a:prstGeom>
              <a:ln w="19050" cap="rnd" cmpd="sng">
                <a:solidFill>
                  <a:schemeClr val="tx1"/>
                </a:solidFill>
                <a:prstDash val="solid"/>
                <a:headEnd type="none" w="med" len="med"/>
                <a:tailEnd type="none" w="med" len="med"/>
              </a:ln>
            </p:spPr>
          </p:sp>
          <p:sp>
            <p:nvSpPr>
              <p:cNvPr id="15" name="Line 15"/>
              <p:cNvSpPr/>
              <p:nvPr/>
            </p:nvSpPr>
            <p:spPr>
              <a:xfrm>
                <a:off x="3312" y="2064"/>
                <a:ext cx="480" cy="384"/>
              </a:xfrm>
              <a:prstGeom prst="line">
                <a:avLst/>
              </a:prstGeom>
              <a:ln w="19050" cap="rnd" cmpd="sng">
                <a:solidFill>
                  <a:schemeClr val="tx1"/>
                </a:solidFill>
                <a:prstDash val="solid"/>
                <a:headEnd type="none" w="med" len="med"/>
                <a:tailEnd type="none" w="med" len="med"/>
              </a:ln>
            </p:spPr>
          </p:sp>
          <p:sp>
            <p:nvSpPr>
              <p:cNvPr id="16" name="Line 16"/>
              <p:cNvSpPr/>
              <p:nvPr/>
            </p:nvSpPr>
            <p:spPr>
              <a:xfrm flipH="1">
                <a:off x="3312" y="2880"/>
                <a:ext cx="480" cy="288"/>
              </a:xfrm>
              <a:prstGeom prst="line">
                <a:avLst/>
              </a:prstGeom>
              <a:ln w="19050" cap="rnd" cmpd="sng">
                <a:solidFill>
                  <a:schemeClr val="tx1"/>
                </a:solidFill>
                <a:prstDash val="solid"/>
                <a:headEnd type="none" w="med" len="med"/>
                <a:tailEnd type="none" w="med" len="med"/>
              </a:ln>
            </p:spPr>
          </p:sp>
          <p:sp>
            <p:nvSpPr>
              <p:cNvPr id="17" name="Line 17"/>
              <p:cNvSpPr/>
              <p:nvPr/>
            </p:nvSpPr>
            <p:spPr>
              <a:xfrm>
                <a:off x="4032" y="2880"/>
                <a:ext cx="432" cy="432"/>
              </a:xfrm>
              <a:prstGeom prst="line">
                <a:avLst/>
              </a:prstGeom>
              <a:ln w="19050" cap="rnd" cmpd="sng">
                <a:solidFill>
                  <a:schemeClr val="tx1"/>
                </a:solidFill>
                <a:prstDash val="solid"/>
                <a:headEnd type="none" w="med" len="med"/>
                <a:tailEnd type="none" w="med" len="med"/>
              </a:ln>
            </p:spPr>
          </p:sp>
          <p:sp>
            <p:nvSpPr>
              <p:cNvPr id="18" name="Line 18"/>
              <p:cNvSpPr/>
              <p:nvPr/>
            </p:nvSpPr>
            <p:spPr>
              <a:xfrm>
                <a:off x="3168" y="3408"/>
                <a:ext cx="0" cy="192"/>
              </a:xfrm>
              <a:prstGeom prst="line">
                <a:avLst/>
              </a:prstGeom>
              <a:ln w="19050" cap="rnd" cmpd="sng">
                <a:solidFill>
                  <a:schemeClr val="tx1"/>
                </a:solidFill>
                <a:prstDash val="solid"/>
                <a:headEnd type="none" w="med" len="med"/>
                <a:tailEnd type="none" w="med" len="med"/>
              </a:ln>
            </p:spPr>
          </p:sp>
        </p:grpSp>
        <p:sp>
          <p:nvSpPr>
            <p:cNvPr id="12" name="Line 19"/>
            <p:cNvSpPr/>
            <p:nvPr/>
          </p:nvSpPr>
          <p:spPr>
            <a:xfrm>
              <a:off x="2496" y="2592"/>
              <a:ext cx="0" cy="336"/>
            </a:xfrm>
            <a:prstGeom prst="line">
              <a:avLst/>
            </a:prstGeom>
            <a:ln w="19050" cap="rnd" cmpd="sng">
              <a:solidFill>
                <a:schemeClr val="tx1"/>
              </a:solidFill>
              <a:prstDash val="solid"/>
              <a:headEnd type="none" w="med" len="med"/>
              <a:tailEnd type="none" w="med" len="med"/>
            </a:ln>
          </p:spPr>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数据本地化举例</a:t>
            </a:r>
            <a:endParaRPr lang="zh-CN" altLang="en-US" b="1" dirty="0">
              <a:ea typeface="楷体_GB2312" pitchFamily="49" charset="-122"/>
            </a:endParaRPr>
          </a:p>
          <a:p>
            <a:pPr marL="457200" lvl="1" indent="0">
              <a:buNone/>
            </a:pPr>
            <a:r>
              <a:rPr lang="zh-CN" altLang="en-US" dirty="0"/>
              <a:t>全局查询到片段查询映射</a:t>
            </a:r>
            <a:endParaRPr lang="en-US" altLang="zh-CN" dirty="0"/>
          </a:p>
          <a:p>
            <a:pPr marL="457200" lvl="1" indent="0">
              <a:buNone/>
            </a:pPr>
            <a:endParaRPr lang="en-US" altLang="zh-CN" dirty="0"/>
          </a:p>
        </p:txBody>
      </p:sp>
      <p:grpSp>
        <p:nvGrpSpPr>
          <p:cNvPr id="19" name="Group 26"/>
          <p:cNvGrpSpPr/>
          <p:nvPr/>
        </p:nvGrpSpPr>
        <p:grpSpPr>
          <a:xfrm>
            <a:off x="4635452" y="1336901"/>
            <a:ext cx="6759917" cy="5202011"/>
            <a:chOff x="823" y="859"/>
            <a:chExt cx="4613" cy="3176"/>
          </a:xfrm>
        </p:grpSpPr>
        <p:grpSp>
          <p:nvGrpSpPr>
            <p:cNvPr id="20" name="Group 27"/>
            <p:cNvGrpSpPr/>
            <p:nvPr/>
          </p:nvGrpSpPr>
          <p:grpSpPr>
            <a:xfrm>
              <a:off x="823" y="859"/>
              <a:ext cx="4613" cy="3176"/>
              <a:chOff x="967" y="811"/>
              <a:chExt cx="4613" cy="3176"/>
            </a:xfrm>
          </p:grpSpPr>
          <p:sp>
            <p:nvSpPr>
              <p:cNvPr id="22" name="Text Box 28"/>
              <p:cNvSpPr txBox="1"/>
              <p:nvPr/>
            </p:nvSpPr>
            <p:spPr>
              <a:xfrm>
                <a:off x="967" y="811"/>
                <a:ext cx="4613" cy="3176"/>
              </a:xfrm>
              <a:prstGeom prst="rect">
                <a:avLst/>
              </a:prstGeom>
              <a:solidFill>
                <a:schemeClr val="bg1"/>
              </a:solidFill>
              <a:ln w="12700"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2800" b="1" dirty="0">
                    <a:latin typeface="Times New Roman" panose="02020603050405020304" pitchFamily="18" charset="0"/>
                    <a:sym typeface="Symbol" panose="05050102010706020507" pitchFamily="18" charset="2"/>
                  </a:rPr>
                  <a:t></a:t>
                </a:r>
                <a:r>
                  <a:rPr lang="en-US" altLang="zh-CN" sz="2800" b="1" baseline="-30000" dirty="0">
                    <a:latin typeface="宋体" panose="02010600030101010101" pitchFamily="2" charset="-122"/>
                  </a:rPr>
                  <a:t>SNO, SNAME</a:t>
                </a:r>
                <a:endParaRPr lang="en-US" altLang="zh-CN" sz="2800" b="1" dirty="0">
                  <a:latin typeface="宋体" panose="02010600030101010101" pitchFamily="2" charset="-122"/>
                </a:endParaRPr>
              </a:p>
              <a:p>
                <a:pPr marL="457200" lvl="0" indent="-457200" algn="ctr" eaLnBrk="1" hangingPunct="1">
                  <a:spcBef>
                    <a:spcPct val="0"/>
                  </a:spcBef>
                  <a:buClrTx/>
                  <a:buFontTx/>
                  <a:buNone/>
                </a:pPr>
                <a:endParaRPr lang="en-US" altLang="zh-CN" sz="2400" b="1" dirty="0">
                  <a:latin typeface="宋体" panose="02010600030101010101" pitchFamily="2" charset="-122"/>
                </a:endParaRPr>
              </a:p>
              <a:p>
                <a:pPr marL="457200" lvl="0" indent="-457200" algn="ctr" eaLnBrk="1" hangingPunct="1">
                  <a:spcBef>
                    <a:spcPct val="0"/>
                  </a:spcBef>
                  <a:buClrTx/>
                  <a:buFontTx/>
                  <a:buNone/>
                </a:pP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SP.SNO = SY.SNO </a:t>
                </a:r>
                <a:endParaRPr lang="en-US" altLang="zh-CN" sz="2400" b="1" dirty="0">
                  <a:latin typeface="宋体" panose="02010600030101010101" pitchFamily="2" charset="-122"/>
                </a:endParaRPr>
              </a:p>
              <a:p>
                <a:pPr marL="457200" lvl="0" indent="-457200" eaLnBrk="1" hangingPunct="1">
                  <a:spcBef>
                    <a:spcPct val="0"/>
                  </a:spcBef>
                  <a:buClrTx/>
                  <a:buFontTx/>
                  <a:buNone/>
                </a:pPr>
                <a:br>
                  <a:rPr lang="en-US" altLang="zh-CN" sz="2400" b="1" dirty="0">
                    <a:latin typeface="宋体" panose="02010600030101010101" pitchFamily="2" charset="-122"/>
                  </a:rPr>
                </a:br>
                <a:r>
                  <a:rPr lang="en-US" altLang="zh-CN" sz="2400" b="1" dirty="0">
                    <a:latin typeface="宋体" panose="02010600030101010101" pitchFamily="2" charset="-122"/>
                  </a:rPr>
                  <a:t>        </a:t>
                </a:r>
                <a:r>
                  <a:rPr lang="en-US" altLang="zh-CN" sz="2400" b="1" dirty="0">
                    <a:latin typeface="Times New Roman" panose="02020603050405020304" pitchFamily="18" charset="0"/>
                    <a:sym typeface="Symbol" panose="05050102010706020507" pitchFamily="18" charset="2"/>
                  </a:rPr>
                  <a:t></a:t>
                </a:r>
                <a:r>
                  <a:rPr lang="en-US" altLang="zh-CN" sz="2400" b="1" baseline="-30000" dirty="0">
                    <a:latin typeface="宋体" panose="02010600030101010101" pitchFamily="2" charset="-122"/>
                  </a:rPr>
                  <a:t>CITY=</a:t>
                </a:r>
                <a:r>
                  <a:rPr lang="en-US" altLang="zh-CN" sz="2400" b="1" baseline="-30000" dirty="0">
                    <a:latin typeface="Times New Roman" panose="02020603050405020304" pitchFamily="18" charset="0"/>
                  </a:rPr>
                  <a:t>‘</a:t>
                </a:r>
                <a:r>
                  <a:rPr lang="zh-CN" altLang="en-US" sz="2400" b="1" baseline="-30000" dirty="0">
                    <a:latin typeface="Times New Roman" panose="02020603050405020304" pitchFamily="18" charset="0"/>
                  </a:rPr>
                  <a:t>北京’</a:t>
                </a:r>
                <a:r>
                  <a:rPr lang="zh-CN" altLang="en-US" sz="2400" b="1" baseline="-30000" dirty="0">
                    <a:latin typeface="宋体" panose="02010600030101010101" pitchFamily="2" charset="-122"/>
                  </a:rPr>
                  <a:t> </a:t>
                </a:r>
                <a:endParaRPr lang="zh-CN" altLang="en-US" sz="2400" b="1" baseline="-30000" dirty="0">
                  <a:latin typeface="宋体" panose="02010600030101010101" pitchFamily="2" charset="-122"/>
                </a:endParaRPr>
              </a:p>
              <a:p>
                <a:pPr marL="457200" lvl="0" indent="-457200" eaLnBrk="1" hangingPunct="1">
                  <a:spcBef>
                    <a:spcPct val="0"/>
                  </a:spcBef>
                  <a:buClrTx/>
                  <a:buFontTx/>
                  <a:buNone/>
                </a:pPr>
                <a:endParaRPr lang="zh-CN" altLang="en-US" sz="2400" b="1" baseline="-30000"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P.PNO = SY.PNO</a:t>
                </a:r>
                <a:endParaRPr lang="en-US" altLang="zh-CN" sz="2400" b="1" dirty="0">
                  <a:latin typeface="宋体" panose="02010600030101010101" pitchFamily="2" charset="-122"/>
                </a:endParaRPr>
              </a:p>
              <a:p>
                <a:pPr marL="457200" lvl="0" indent="-457200" eaLnBrk="1" hangingPunct="1">
                  <a:spcBef>
                    <a:spcPct val="0"/>
                  </a:spcBef>
                  <a:buClrTx/>
                  <a:buFontTx/>
                  <a:buNone/>
                </a:pPr>
                <a:r>
                  <a:rPr lang="en-US" altLang="zh-CN" sz="2400" b="1" dirty="0">
                    <a:latin typeface="宋体" panose="02010600030101010101" pitchFamily="2" charset="-122"/>
                  </a:rPr>
                  <a:t>             SR1   </a:t>
                </a:r>
                <a:endParaRPr lang="en-US" altLang="zh-CN" sz="2400" b="1" dirty="0">
                  <a:latin typeface="宋体" panose="02010600030101010101" pitchFamily="2" charset="-122"/>
                </a:endParaRPr>
              </a:p>
              <a:p>
                <a:pPr marL="457200" lvl="0" indent="-457200" eaLnBrk="1" hangingPunct="1">
                  <a:spcBef>
                    <a:spcPct val="0"/>
                  </a:spcBef>
                  <a:buClrTx/>
                  <a:buFontTx/>
                  <a:buNone/>
                </a:pPr>
                <a:r>
                  <a:rPr lang="en-US" altLang="zh-CN" sz="2400" b="1" dirty="0">
                    <a:latin typeface="Times New Roman" panose="02020603050405020304" pitchFamily="18" charset="0"/>
                    <a:sym typeface="Symbol" panose="05050102010706020507" pitchFamily="18" charset="2"/>
                  </a:rPr>
                  <a:t>                                     </a:t>
                </a:r>
                <a:r>
                  <a:rPr lang="en-US" altLang="zh-CN" sz="2400" b="1" baseline="-30000" dirty="0">
                    <a:latin typeface="宋体" panose="02010600030101010101" pitchFamily="2" charset="-122"/>
                  </a:rPr>
                  <a:t>DEP=</a:t>
                </a:r>
                <a:r>
                  <a:rPr lang="en-US" altLang="zh-CN" sz="2400" b="1" baseline="-30000" dirty="0">
                    <a:latin typeface="Times New Roman" panose="02020603050405020304" pitchFamily="18" charset="0"/>
                  </a:rPr>
                  <a:t>‘</a:t>
                </a:r>
                <a:r>
                  <a:rPr lang="en-US" altLang="zh-CN" sz="2400" b="1" baseline="-30000" dirty="0">
                    <a:latin typeface="宋体" panose="02010600030101010101" pitchFamily="2" charset="-122"/>
                  </a:rPr>
                  <a:t> </a:t>
                </a:r>
                <a:r>
                  <a:rPr lang="zh-CN" altLang="en-US" sz="2400" b="1" baseline="-30000" dirty="0">
                    <a:latin typeface="Times New Roman" panose="02020603050405020304" pitchFamily="18" charset="0"/>
                  </a:rPr>
                  <a:t>科工委’</a:t>
                </a:r>
                <a:r>
                  <a:rPr lang="zh-CN" altLang="en-US" sz="2400" b="1" baseline="-30000" dirty="0">
                    <a:latin typeface="宋体" panose="02010600030101010101" pitchFamily="2" charset="-122"/>
                  </a:rPr>
                  <a:t>   </a:t>
                </a:r>
                <a:endParaRPr lang="zh-CN" altLang="en-US" sz="2400" b="1" baseline="-30000" dirty="0">
                  <a:latin typeface="宋体" panose="02010600030101010101" pitchFamily="2" charset="-122"/>
                </a:endParaRPr>
              </a:p>
              <a:p>
                <a:pPr marL="457200" lvl="0" indent="-457200" eaLnBrk="1" hangingPunct="1">
                  <a:spcBef>
                    <a:spcPct val="0"/>
                  </a:spcBef>
                  <a:buClrTx/>
                  <a:buFontTx/>
                  <a:buNone/>
                </a:pPr>
                <a:r>
                  <a:rPr lang="en-US" altLang="zh-CN" sz="2400" b="1" dirty="0">
                    <a:latin typeface="宋体" panose="02010600030101010101" pitchFamily="2" charset="-122"/>
                  </a:rPr>
                  <a:t>                                 SY</a:t>
                </a: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a:t>
                </a: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P3  </a:t>
                </a:r>
                <a:endParaRPr lang="en-US" altLang="zh-CN" sz="2400" b="1" dirty="0">
                  <a:latin typeface="宋体" panose="02010600030101010101" pitchFamily="2" charset="-122"/>
                </a:endParaRPr>
              </a:p>
              <a:p>
                <a:pPr marL="457200" lvl="0" indent="-457200" algn="ctr" eaLnBrk="1" hangingPunct="1">
                  <a:spcBef>
                    <a:spcPct val="0"/>
                  </a:spcBef>
                  <a:buClrTx/>
                  <a:buFontTx/>
                  <a:buNone/>
                </a:pPr>
                <a:r>
                  <a:rPr lang="en-US" altLang="zh-CN" sz="2400" b="1" dirty="0">
                    <a:latin typeface="宋体" panose="02010600030101010101" pitchFamily="2" charset="-122"/>
                  </a:rPr>
                  <a:t>                               </a:t>
                </a:r>
                <a:r>
                  <a:rPr lang="zh-CN" altLang="en-US" sz="2400" b="1" dirty="0">
                    <a:latin typeface="宋体" panose="02010600030101010101" pitchFamily="2" charset="-122"/>
                  </a:rPr>
                  <a:t>      </a:t>
                </a:r>
                <a:r>
                  <a:rPr lang="en-US" altLang="zh-CN" sz="2400" b="1" dirty="0">
                    <a:latin typeface="宋体" panose="02010600030101010101" pitchFamily="2" charset="-122"/>
                  </a:rPr>
                  <a:t>                                                      </a:t>
                </a:r>
                <a:endParaRPr lang="zh-CN" altLang="en-US" sz="2400" b="1" dirty="0">
                  <a:latin typeface="宋体" panose="02010600030101010101" pitchFamily="2" charset="-122"/>
                </a:endParaRPr>
              </a:p>
            </p:txBody>
          </p:sp>
          <p:sp>
            <p:nvSpPr>
              <p:cNvPr id="23" name="AutoShape 29"/>
              <p:cNvSpPr>
                <a:spLocks noChangeArrowheads="1"/>
              </p:cNvSpPr>
              <p:nvPr/>
            </p:nvSpPr>
            <p:spPr bwMode="auto">
              <a:xfrm rot="-5456287">
                <a:off x="3184" y="1328"/>
                <a:ext cx="96" cy="320"/>
              </a:xfrm>
              <a:prstGeom prst="flowChartCollat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4" name="Line 30"/>
              <p:cNvSpPr>
                <a:spLocks noChangeShapeType="1"/>
              </p:cNvSpPr>
              <p:nvPr/>
            </p:nvSpPr>
            <p:spPr bwMode="auto">
              <a:xfrm>
                <a:off x="3217" y="1152"/>
                <a:ext cx="0" cy="240"/>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5" name="Line 31"/>
              <p:cNvSpPr>
                <a:spLocks noChangeShapeType="1"/>
              </p:cNvSpPr>
              <p:nvPr/>
            </p:nvSpPr>
            <p:spPr bwMode="auto">
              <a:xfrm flipH="1">
                <a:off x="2591" y="1776"/>
                <a:ext cx="481" cy="288"/>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6" name="Line 32"/>
              <p:cNvSpPr>
                <a:spLocks noChangeShapeType="1"/>
              </p:cNvSpPr>
              <p:nvPr/>
            </p:nvSpPr>
            <p:spPr bwMode="auto">
              <a:xfrm>
                <a:off x="3408" y="1776"/>
                <a:ext cx="480" cy="384"/>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7" name="Line 33"/>
              <p:cNvSpPr>
                <a:spLocks noChangeShapeType="1"/>
              </p:cNvSpPr>
              <p:nvPr/>
            </p:nvSpPr>
            <p:spPr bwMode="auto">
              <a:xfrm flipH="1">
                <a:off x="3408" y="2592"/>
                <a:ext cx="480" cy="192"/>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8" name="Line 34"/>
              <p:cNvSpPr/>
              <p:nvPr/>
            </p:nvSpPr>
            <p:spPr>
              <a:xfrm>
                <a:off x="4128" y="2592"/>
                <a:ext cx="432" cy="432"/>
              </a:xfrm>
              <a:prstGeom prst="line">
                <a:avLst/>
              </a:prstGeom>
              <a:ln w="19050" cap="rnd" cmpd="sng">
                <a:solidFill>
                  <a:schemeClr val="tx1"/>
                </a:solidFill>
                <a:prstDash val="solid"/>
                <a:headEnd type="none" w="med" len="med"/>
                <a:tailEnd type="none" w="med" len="med"/>
              </a:ln>
            </p:spPr>
          </p:sp>
          <p:sp>
            <p:nvSpPr>
              <p:cNvPr id="29" name="Line 35"/>
              <p:cNvSpPr>
                <a:spLocks noChangeShapeType="1"/>
              </p:cNvSpPr>
              <p:nvPr/>
            </p:nvSpPr>
            <p:spPr bwMode="auto">
              <a:xfrm>
                <a:off x="3360" y="3120"/>
                <a:ext cx="0" cy="335"/>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0" name="Line 36"/>
              <p:cNvSpPr>
                <a:spLocks noChangeShapeType="1"/>
              </p:cNvSpPr>
              <p:nvPr/>
            </p:nvSpPr>
            <p:spPr bwMode="auto">
              <a:xfrm flipH="1">
                <a:off x="2591" y="2256"/>
                <a:ext cx="0" cy="288"/>
              </a:xfrm>
              <a:prstGeom prst="lin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grpSp>
        <p:sp>
          <p:nvSpPr>
            <p:cNvPr id="21" name="AutoShape 37"/>
            <p:cNvSpPr>
              <a:spLocks noChangeArrowheads="1"/>
            </p:cNvSpPr>
            <p:nvPr/>
          </p:nvSpPr>
          <p:spPr bwMode="auto">
            <a:xfrm rot="-5456287">
              <a:off x="3712" y="2144"/>
              <a:ext cx="96" cy="320"/>
            </a:xfrm>
            <a:prstGeom prst="flowChartCollate">
              <a:avLst/>
            </a:prstGeom>
            <a:noFill/>
            <a:ln w="25400" cap="rnd">
              <a:solidFill>
                <a:schemeClr val="tx2">
                  <a:lumMod val="75000"/>
                </a:schemeClr>
              </a:solidFill>
              <a:round/>
            </a:ln>
            <a:extLst>
              <a:ext uri="{909E8E84-426E-40DD-AFC4-6F175D3DCCD1}">
                <a14:hiddenFill xmlns:a14="http://schemas.microsoft.com/office/drawing/2010/main">
                  <a:noFill/>
                </a14:hiddenFill>
              </a:ext>
            </a:extLst>
          </p:spPr>
          <p:txBody>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t>全局优化</a:t>
            </a:r>
            <a:r>
              <a:rPr lang="en-US" altLang="zh-CN" sz="2800" b="1" dirty="0"/>
              <a:t>(Global Optimization)</a:t>
            </a:r>
            <a:endParaRPr lang="zh-CN" altLang="en-US" sz="2800" b="1" dirty="0"/>
          </a:p>
          <a:p>
            <a:pPr lvl="1"/>
            <a:r>
              <a:rPr lang="zh-CN" altLang="en-US" dirty="0"/>
              <a:t>全局优化的输入是分片查询</a:t>
            </a:r>
            <a:r>
              <a:rPr lang="en-US" altLang="zh-CN" dirty="0"/>
              <a:t>, </a:t>
            </a:r>
            <a:r>
              <a:rPr lang="zh-CN" altLang="en-US" dirty="0"/>
              <a:t>即在片段上的查询。</a:t>
            </a:r>
            <a:endParaRPr lang="en-US" altLang="zh-CN" dirty="0"/>
          </a:p>
          <a:p>
            <a:pPr lvl="1"/>
            <a:r>
              <a:rPr lang="zh-CN" altLang="en-US" dirty="0"/>
              <a:t>查询优化的目标在于寻找一个近于最优的执行策略。</a:t>
            </a:r>
            <a:endParaRPr lang="zh-CN" altLang="en-US" dirty="0"/>
          </a:p>
          <a:p>
            <a:pPr lvl="1"/>
            <a:r>
              <a:rPr lang="zh-CN" altLang="en-US" dirty="0"/>
              <a:t>前面两层已经通过消除冗余表达式，查询本地化或近地化等做了某些优化。</a:t>
            </a:r>
            <a:endParaRPr lang="zh-CN" altLang="en-US" dirty="0"/>
          </a:p>
          <a:p>
            <a:pPr lvl="1"/>
            <a:r>
              <a:rPr lang="zh-CN" altLang="en-US" dirty="0"/>
              <a:t>全局优化即是找出分片查询的最佳操作次序，使得代价函数最小。</a:t>
            </a:r>
            <a:endParaRPr lang="zh-CN" altLang="en-US" dirty="0"/>
          </a:p>
          <a:p>
            <a:pPr marL="457200" lvl="1" indent="0">
              <a:buNone/>
            </a:pPr>
            <a:endParaRPr lang="en-US"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t>全局优化</a:t>
            </a:r>
            <a:r>
              <a:rPr lang="en-US" altLang="zh-CN" sz="2800" b="1" dirty="0"/>
              <a:t>(Global Optimization)</a:t>
            </a:r>
            <a:endParaRPr lang="zh-CN" altLang="en-US" sz="2800" b="1" dirty="0"/>
          </a:p>
          <a:p>
            <a:pPr lvl="1">
              <a:lnSpc>
                <a:spcPct val="130000"/>
              </a:lnSpc>
              <a:buClrTx/>
            </a:pPr>
            <a:r>
              <a:rPr lang="zh-CN" altLang="en-US" dirty="0"/>
              <a:t>全局优化需解决的主要问题：</a:t>
            </a:r>
            <a:endParaRPr lang="zh-CN" altLang="en-US" dirty="0"/>
          </a:p>
          <a:p>
            <a:pPr marL="914400" lvl="2" indent="0">
              <a:lnSpc>
                <a:spcPct val="130000"/>
              </a:lnSpc>
              <a:buNone/>
            </a:pPr>
            <a:r>
              <a:rPr lang="zh-CN" altLang="en-US" dirty="0"/>
              <a:t> </a:t>
            </a:r>
            <a:r>
              <a:rPr lang="en-US" altLang="zh-CN" dirty="0"/>
              <a:t>(</a:t>
            </a:r>
            <a:r>
              <a:rPr lang="zh-CN" altLang="en-US" dirty="0"/>
              <a:t>1</a:t>
            </a:r>
            <a:r>
              <a:rPr lang="en-US" altLang="zh-CN" dirty="0"/>
              <a:t>)</a:t>
            </a:r>
            <a:r>
              <a:rPr lang="zh-CN" altLang="en-US" dirty="0"/>
              <a:t>  多副本的选择：   </a:t>
            </a:r>
            <a:endParaRPr lang="zh-CN" altLang="en-US" dirty="0"/>
          </a:p>
          <a:p>
            <a:pPr marL="914400" lvl="2" indent="0">
              <a:lnSpc>
                <a:spcPct val="130000"/>
              </a:lnSpc>
              <a:buNone/>
            </a:pPr>
            <a:r>
              <a:rPr lang="zh-CN" altLang="en-US" dirty="0"/>
              <a:t> </a:t>
            </a:r>
            <a:r>
              <a:rPr lang="en-US" altLang="zh-CN" dirty="0"/>
              <a:t>(</a:t>
            </a:r>
            <a:r>
              <a:rPr lang="zh-CN" altLang="en-US" dirty="0"/>
              <a:t>2</a:t>
            </a:r>
            <a:r>
              <a:rPr lang="en-US" altLang="zh-CN" dirty="0"/>
              <a:t>)</a:t>
            </a:r>
            <a:r>
              <a:rPr lang="zh-CN" altLang="en-US" dirty="0"/>
              <a:t>  执行次序的选择：  主要确定多元连接的连接次序</a:t>
            </a:r>
            <a:endParaRPr lang="zh-CN" altLang="en-US" dirty="0"/>
          </a:p>
          <a:p>
            <a:pPr marL="914400" lvl="2" indent="0">
              <a:lnSpc>
                <a:spcPct val="130000"/>
              </a:lnSpc>
              <a:buNone/>
            </a:pPr>
            <a:r>
              <a:rPr lang="zh-CN" altLang="en-US" dirty="0"/>
              <a:t> </a:t>
            </a:r>
            <a:r>
              <a:rPr lang="en-US" altLang="zh-CN" dirty="0"/>
              <a:t>(</a:t>
            </a:r>
            <a:r>
              <a:rPr lang="zh-CN" altLang="en-US" dirty="0"/>
              <a:t>3</a:t>
            </a:r>
            <a:r>
              <a:rPr lang="en-US" altLang="zh-CN" dirty="0"/>
              <a:t>)</a:t>
            </a:r>
            <a:r>
              <a:rPr lang="zh-CN" altLang="en-US" dirty="0"/>
              <a:t>  连接方法的选择：  嵌套循环、合并扫描、半连接</a:t>
            </a:r>
            <a:endParaRPr lang="zh-CN" altLang="en-US" dirty="0"/>
          </a:p>
          <a:p>
            <a:pPr marL="914400" lvl="2" indent="0">
              <a:lnSpc>
                <a:spcPct val="130000"/>
              </a:lnSpc>
              <a:buNone/>
            </a:pPr>
            <a:r>
              <a:rPr lang="zh-CN" altLang="en-US" dirty="0"/>
              <a:t> </a:t>
            </a:r>
            <a:r>
              <a:rPr lang="en-US" altLang="zh-CN" dirty="0"/>
              <a:t>(</a:t>
            </a:r>
            <a:r>
              <a:rPr lang="zh-CN" altLang="en-US" dirty="0"/>
              <a:t>4</a:t>
            </a:r>
            <a:r>
              <a:rPr lang="en-US" altLang="zh-CN" dirty="0"/>
              <a:t>)</a:t>
            </a:r>
            <a:r>
              <a:rPr lang="zh-CN" altLang="en-US" dirty="0"/>
              <a:t>  执行结点的选择：</a:t>
            </a:r>
            <a:endParaRPr lang="zh-CN" altLang="en-US" dirty="0"/>
          </a:p>
          <a:p>
            <a:pPr marL="457200" lvl="1" indent="0">
              <a:buNone/>
            </a:pPr>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10.5 </a:t>
            </a:r>
            <a:r>
              <a:rPr lang="zh-CN" altLang="en-US" dirty="0">
                <a:ea typeface="楷体_GB2312" pitchFamily="49" charset="-122"/>
              </a:rPr>
              <a:t>分布式查询处理与优化</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局部优化</a:t>
            </a:r>
            <a:r>
              <a:rPr lang="en-US" altLang="zh-CN" sz="2800" b="1" dirty="0">
                <a:latin typeface="微软雅黑" panose="020B0503020204020204" pitchFamily="34" charset="-122"/>
                <a:ea typeface="微软雅黑" panose="020B0503020204020204" pitchFamily="34" charset="-122"/>
              </a:rPr>
              <a:t>(Local Optimization)</a:t>
            </a:r>
            <a:endParaRPr lang="zh-CN" altLang="en-US" sz="2800" b="1" dirty="0">
              <a:latin typeface="微软雅黑" panose="020B0503020204020204" pitchFamily="34" charset="-122"/>
              <a:ea typeface="微软雅黑" panose="020B0503020204020204" pitchFamily="34" charset="-122"/>
            </a:endParaRPr>
          </a:p>
          <a:p>
            <a:pPr lvl="1">
              <a:lnSpc>
                <a:spcPct val="130000"/>
              </a:lnSpc>
            </a:pPr>
            <a:r>
              <a:rPr lang="zh-CN" altLang="en-US" dirty="0"/>
              <a:t>最后一层局部查询优化由拥有与查询有关的片段的各个场地执行。</a:t>
            </a:r>
            <a:endParaRPr lang="zh-CN" altLang="en-US" dirty="0"/>
          </a:p>
          <a:p>
            <a:pPr lvl="1">
              <a:lnSpc>
                <a:spcPct val="130000"/>
              </a:lnSpc>
            </a:pPr>
            <a:r>
              <a:rPr lang="zh-CN" altLang="en-US" dirty="0"/>
              <a:t>在每一个场地上执行的子查询，被称为局部查询。</a:t>
            </a:r>
            <a:endParaRPr lang="zh-CN" altLang="en-US" dirty="0"/>
          </a:p>
          <a:p>
            <a:pPr lvl="1">
              <a:lnSpc>
                <a:spcPct val="130000"/>
              </a:lnSpc>
            </a:pPr>
            <a:r>
              <a:rPr lang="zh-CN" altLang="en-US" dirty="0"/>
              <a:t>局部查询由该场地上的</a:t>
            </a:r>
            <a:r>
              <a:rPr lang="en-US" altLang="zh-CN" dirty="0"/>
              <a:t>DBMS</a:t>
            </a:r>
            <a:r>
              <a:rPr lang="zh-CN" altLang="en-US" dirty="0"/>
              <a:t>进行优化，采用集中式系统算法，所需信息取自局部模式。</a:t>
            </a:r>
            <a:endParaRPr lang="zh-CN" altLang="en-US" dirty="0"/>
          </a:p>
          <a:p>
            <a:pPr marL="457200" lvl="1" indent="0">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sz="3600" b="1"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分布式事务管理</a:t>
            </a:r>
            <a:endParaRPr lang="zh-CN" altLang="en-US" sz="2800" b="1" dirty="0">
              <a:latin typeface="微软雅黑" panose="020B0503020204020204" pitchFamily="34" charset="-122"/>
              <a:ea typeface="微软雅黑" panose="020B0503020204020204" pitchFamily="34" charset="-122"/>
            </a:endParaRPr>
          </a:p>
          <a:p>
            <a:pPr lvl="1">
              <a:lnSpc>
                <a:spcPct val="130000"/>
              </a:lnSpc>
            </a:pPr>
            <a:r>
              <a:rPr lang="zh-CN" altLang="en-US" dirty="0"/>
              <a:t>在分布式数据库环境中，一个数据库事务可以更新多个场地上的数据，这种数据库事务称为分布式事务。</a:t>
            </a:r>
            <a:endParaRPr lang="zh-CN" altLang="en-US" dirty="0"/>
          </a:p>
          <a:p>
            <a:pPr lvl="1">
              <a:lnSpc>
                <a:spcPct val="130000"/>
              </a:lnSpc>
            </a:pPr>
            <a:r>
              <a:rPr lang="zh-CN" altLang="en-US" dirty="0"/>
              <a:t>分布式事务必须满足传统事务的</a:t>
            </a:r>
            <a:r>
              <a:rPr lang="en-US" altLang="zh-CN" dirty="0"/>
              <a:t>ACID</a:t>
            </a:r>
            <a:r>
              <a:rPr lang="zh-CN" altLang="en-US" dirty="0"/>
              <a:t>特性，即原子性，一致性，分离性和持久性。</a:t>
            </a:r>
            <a:endParaRPr lang="zh-CN" altLang="en-US" dirty="0"/>
          </a:p>
          <a:p>
            <a:pPr marL="457200" lvl="1" indent="0">
              <a:buNone/>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分布式事务管理全局事务和局部事务</a:t>
            </a:r>
            <a:endParaRPr lang="zh-CN" altLang="en-US" sz="2800" b="1" dirty="0">
              <a:latin typeface="微软雅黑" panose="020B0503020204020204" pitchFamily="34" charset="-122"/>
              <a:ea typeface="微软雅黑" panose="020B0503020204020204" pitchFamily="34" charset="-122"/>
            </a:endParaRPr>
          </a:p>
          <a:p>
            <a:pPr lvl="1">
              <a:lnSpc>
                <a:spcPct val="130000"/>
              </a:lnSpc>
            </a:pPr>
            <a:r>
              <a:rPr lang="zh-CN" altLang="en-US" dirty="0"/>
              <a:t>全局事务：访问和更新多个局部数据库中数据的事务。</a:t>
            </a:r>
            <a:endParaRPr lang="zh-CN" altLang="en-US" dirty="0"/>
          </a:p>
          <a:p>
            <a:pPr lvl="1">
              <a:lnSpc>
                <a:spcPct val="130000"/>
              </a:lnSpc>
            </a:pPr>
            <a:r>
              <a:rPr lang="zh-CN" altLang="en-US" dirty="0"/>
              <a:t>局部事务：仅访问和更新一个局部数据库中数据的事务。</a:t>
            </a:r>
            <a:endParaRPr lang="zh-CN" altLang="en-US" dirty="0"/>
          </a:p>
          <a:p>
            <a:pPr marL="457200" lvl="1" indent="0">
              <a:buNone/>
            </a:pPr>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分布式事务管理抽象模型</a:t>
            </a:r>
            <a:endParaRPr lang="zh-CN" altLang="en-US" sz="2800" b="1" dirty="0">
              <a:latin typeface="微软雅黑" panose="020B0503020204020204" pitchFamily="34" charset="-122"/>
              <a:ea typeface="微软雅黑" panose="020B0503020204020204" pitchFamily="34" charset="-122"/>
            </a:endParaRPr>
          </a:p>
          <a:p>
            <a:pPr marL="457200" lvl="1" indent="0">
              <a:buNone/>
            </a:pPr>
            <a:endParaRPr lang="en-US" altLang="zh-CN" dirty="0"/>
          </a:p>
        </p:txBody>
      </p:sp>
      <p:sp>
        <p:nvSpPr>
          <p:cNvPr id="2" name="Rectangle 3"/>
          <p:cNvSpPr>
            <a:spLocks noGrp="1" noRot="1"/>
          </p:cNvSpPr>
          <p:nvPr/>
        </p:nvSpPr>
        <p:spPr>
          <a:xfrm>
            <a:off x="1326356" y="1857375"/>
            <a:ext cx="8153400" cy="44989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9pPr>
          </a:lstStyle>
          <a:p>
            <a:pPr eaLnBrk="1" hangingPunct="1">
              <a:buNone/>
            </a:pPr>
            <a:r>
              <a:rPr lang="zh-CN" altLang="en-US" dirty="0"/>
              <a:t> </a:t>
            </a:r>
            <a:endParaRPr lang="zh-CN" altLang="en-US" dirty="0"/>
          </a:p>
        </p:txBody>
      </p:sp>
      <p:sp>
        <p:nvSpPr>
          <p:cNvPr id="6" name="Rectangle 4"/>
          <p:cNvSpPr/>
          <p:nvPr/>
        </p:nvSpPr>
        <p:spPr>
          <a:xfrm>
            <a:off x="2356644" y="2085975"/>
            <a:ext cx="1066800" cy="3581400"/>
          </a:xfrm>
          <a:prstGeom prst="rect">
            <a:avLst/>
          </a:prstGeom>
          <a:solidFill>
            <a:schemeClr val="bg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8" name="Oval 5"/>
          <p:cNvSpPr/>
          <p:nvPr/>
        </p:nvSpPr>
        <p:spPr>
          <a:xfrm>
            <a:off x="2585244" y="2543175"/>
            <a:ext cx="609600" cy="609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000" b="1" dirty="0">
                <a:latin typeface="Book Antiqua" panose="02040602050305030304" pitchFamily="18" charset="0"/>
                <a:ea typeface="楷体_GB2312" pitchFamily="49" charset="-122"/>
              </a:rPr>
              <a:t>TC</a:t>
            </a:r>
            <a:r>
              <a:rPr lang="en-US" altLang="zh-CN" sz="2000" b="1" baseline="-10000" dirty="0">
                <a:latin typeface="Book Antiqua" panose="02040602050305030304" pitchFamily="18" charset="0"/>
                <a:ea typeface="楷体_GB2312" pitchFamily="49" charset="-122"/>
              </a:rPr>
              <a:t>1</a:t>
            </a:r>
            <a:endParaRPr lang="en-US" altLang="zh-CN" sz="2000" b="1" baseline="-10000" dirty="0">
              <a:latin typeface="Book Antiqua" panose="02040602050305030304" pitchFamily="18" charset="0"/>
              <a:ea typeface="楷体_GB2312" pitchFamily="49" charset="-122"/>
            </a:endParaRPr>
          </a:p>
        </p:txBody>
      </p:sp>
      <p:sp>
        <p:nvSpPr>
          <p:cNvPr id="9" name="Oval 6"/>
          <p:cNvSpPr/>
          <p:nvPr/>
        </p:nvSpPr>
        <p:spPr>
          <a:xfrm>
            <a:off x="2585244" y="4448175"/>
            <a:ext cx="609600" cy="609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000" b="1" dirty="0">
                <a:latin typeface="Book Antiqua" panose="02040602050305030304" pitchFamily="18" charset="0"/>
                <a:ea typeface="楷体_GB2312" pitchFamily="49" charset="-122"/>
              </a:rPr>
              <a:t>TM</a:t>
            </a:r>
            <a:r>
              <a:rPr lang="en-US" altLang="zh-CN" sz="2000" b="1" baseline="-10000" dirty="0">
                <a:latin typeface="Book Antiqua" panose="02040602050305030304" pitchFamily="18" charset="0"/>
                <a:ea typeface="楷体_GB2312" pitchFamily="49" charset="-122"/>
              </a:rPr>
              <a:t>1</a:t>
            </a:r>
            <a:endParaRPr lang="en-US" altLang="zh-CN" sz="2000" b="1" baseline="-10000" dirty="0">
              <a:latin typeface="Book Antiqua" panose="02040602050305030304" pitchFamily="18" charset="0"/>
              <a:ea typeface="楷体_GB2312" pitchFamily="49" charset="-122"/>
            </a:endParaRPr>
          </a:p>
        </p:txBody>
      </p:sp>
      <p:sp>
        <p:nvSpPr>
          <p:cNvPr id="10" name="Rectangle 7"/>
          <p:cNvSpPr/>
          <p:nvPr/>
        </p:nvSpPr>
        <p:spPr>
          <a:xfrm>
            <a:off x="6547644" y="2085975"/>
            <a:ext cx="1066800" cy="3581400"/>
          </a:xfrm>
          <a:prstGeom prst="rect">
            <a:avLst/>
          </a:prstGeom>
          <a:solidFill>
            <a:schemeClr val="bg1"/>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FontTx/>
              <a:buNone/>
            </a:pPr>
            <a:endParaRPr lang="zh-CN" altLang="en-US" sz="2400" b="1" dirty="0">
              <a:latin typeface="宋体" panose="02010600030101010101" pitchFamily="2" charset="-122"/>
            </a:endParaRPr>
          </a:p>
        </p:txBody>
      </p:sp>
      <p:sp>
        <p:nvSpPr>
          <p:cNvPr id="11" name="Oval 8"/>
          <p:cNvSpPr/>
          <p:nvPr/>
        </p:nvSpPr>
        <p:spPr>
          <a:xfrm>
            <a:off x="6776244" y="2619375"/>
            <a:ext cx="609600" cy="609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000" b="1" dirty="0">
                <a:latin typeface="Book Antiqua" panose="02040602050305030304" pitchFamily="18" charset="0"/>
                <a:ea typeface="楷体_GB2312" pitchFamily="49" charset="-122"/>
              </a:rPr>
              <a:t>TCn</a:t>
            </a:r>
            <a:endParaRPr lang="en-US" altLang="zh-CN" sz="2000" b="1" dirty="0">
              <a:latin typeface="Book Antiqua" panose="02040602050305030304" pitchFamily="18" charset="0"/>
              <a:ea typeface="楷体_GB2312" pitchFamily="49" charset="-122"/>
            </a:endParaRPr>
          </a:p>
        </p:txBody>
      </p:sp>
      <p:sp>
        <p:nvSpPr>
          <p:cNvPr id="12" name="Oval 9"/>
          <p:cNvSpPr/>
          <p:nvPr/>
        </p:nvSpPr>
        <p:spPr>
          <a:xfrm>
            <a:off x="6776244" y="4524375"/>
            <a:ext cx="609600" cy="609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2000" b="1" dirty="0">
                <a:latin typeface="Book Antiqua" panose="02040602050305030304" pitchFamily="18" charset="0"/>
                <a:ea typeface="楷体_GB2312" pitchFamily="49" charset="-122"/>
              </a:rPr>
              <a:t>TMn</a:t>
            </a:r>
            <a:endParaRPr lang="en-US" altLang="zh-CN" sz="2000" b="1" dirty="0">
              <a:latin typeface="Book Antiqua" panose="02040602050305030304" pitchFamily="18" charset="0"/>
              <a:ea typeface="楷体_GB2312" pitchFamily="49" charset="-122"/>
            </a:endParaRPr>
          </a:p>
        </p:txBody>
      </p:sp>
      <p:sp>
        <p:nvSpPr>
          <p:cNvPr id="13" name="Text Box 10"/>
          <p:cNvSpPr txBox="1"/>
          <p:nvPr/>
        </p:nvSpPr>
        <p:spPr>
          <a:xfrm>
            <a:off x="7506494" y="2695575"/>
            <a:ext cx="2317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全局事务协调器</a:t>
            </a:r>
            <a:endParaRPr lang="zh-CN" altLang="en-US" sz="2400" dirty="0">
              <a:latin typeface="Book Antiqua" panose="02040602050305030304" pitchFamily="18" charset="0"/>
              <a:ea typeface="楷体_GB2312" pitchFamily="49" charset="-122"/>
            </a:endParaRPr>
          </a:p>
        </p:txBody>
      </p:sp>
      <p:sp>
        <p:nvSpPr>
          <p:cNvPr id="14" name="Text Box 11"/>
          <p:cNvSpPr txBox="1"/>
          <p:nvPr/>
        </p:nvSpPr>
        <p:spPr>
          <a:xfrm>
            <a:off x="7506494" y="4600575"/>
            <a:ext cx="2317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本地事务管理器</a:t>
            </a:r>
            <a:endParaRPr lang="zh-CN" altLang="en-US" sz="2400" dirty="0">
              <a:latin typeface="Book Antiqua" panose="02040602050305030304" pitchFamily="18" charset="0"/>
              <a:ea typeface="楷体_GB2312" pitchFamily="49" charset="-122"/>
            </a:endParaRPr>
          </a:p>
        </p:txBody>
      </p:sp>
      <p:sp>
        <p:nvSpPr>
          <p:cNvPr id="15" name="Text Box 12"/>
          <p:cNvSpPr txBox="1"/>
          <p:nvPr/>
        </p:nvSpPr>
        <p:spPr>
          <a:xfrm>
            <a:off x="2264569" y="5719763"/>
            <a:ext cx="12509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计算机</a:t>
            </a:r>
            <a:r>
              <a:rPr lang="en-US" altLang="zh-CN" sz="2400" dirty="0">
                <a:latin typeface="Book Antiqua" panose="02040602050305030304" pitchFamily="18" charset="0"/>
                <a:ea typeface="楷体_GB2312" pitchFamily="49" charset="-122"/>
              </a:rPr>
              <a:t>1</a:t>
            </a:r>
            <a:endParaRPr lang="en-US" altLang="zh-CN" sz="2400" dirty="0">
              <a:latin typeface="Book Antiqua" panose="02040602050305030304" pitchFamily="18" charset="0"/>
              <a:ea typeface="楷体_GB2312" pitchFamily="49" charset="-122"/>
            </a:endParaRPr>
          </a:p>
        </p:txBody>
      </p:sp>
      <p:sp>
        <p:nvSpPr>
          <p:cNvPr id="16" name="Text Box 13"/>
          <p:cNvSpPr txBox="1"/>
          <p:nvPr/>
        </p:nvSpPr>
        <p:spPr>
          <a:xfrm>
            <a:off x="6455569" y="5719763"/>
            <a:ext cx="12763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计算机</a:t>
            </a:r>
            <a:r>
              <a:rPr lang="en-US" altLang="zh-CN" sz="2400" dirty="0">
                <a:latin typeface="Book Antiqua" panose="02040602050305030304" pitchFamily="18" charset="0"/>
                <a:ea typeface="楷体_GB2312" pitchFamily="49" charset="-122"/>
              </a:rPr>
              <a:t>n</a:t>
            </a:r>
            <a:endParaRPr lang="en-US" altLang="zh-CN" sz="2400" dirty="0">
              <a:latin typeface="Book Antiqua" panose="02040602050305030304" pitchFamily="18" charset="0"/>
              <a:ea typeface="楷体_GB2312" pitchFamily="49" charset="-122"/>
            </a:endParaRPr>
          </a:p>
        </p:txBody>
      </p:sp>
      <p:sp>
        <p:nvSpPr>
          <p:cNvPr id="17" name="Text Box 14"/>
          <p:cNvSpPr txBox="1"/>
          <p:nvPr/>
        </p:nvSpPr>
        <p:spPr>
          <a:xfrm>
            <a:off x="4185444" y="3686175"/>
            <a:ext cx="1517650" cy="10064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en-US" altLang="zh-CN" sz="6000" dirty="0">
                <a:latin typeface="Book Antiqua" panose="02040602050305030304" pitchFamily="18" charset="0"/>
                <a:ea typeface="楷体_GB2312" pitchFamily="49" charset="-122"/>
              </a:rPr>
              <a:t>.  .  .</a:t>
            </a:r>
            <a:endParaRPr lang="en-US" altLang="zh-CN" sz="6000" dirty="0">
              <a:latin typeface="Book Antiqua" panose="02040602050305030304" pitchFamily="18" charset="0"/>
              <a:ea typeface="楷体_GB2312" pitchFamily="49" charset="-122"/>
            </a:endParaRPr>
          </a:p>
        </p:txBody>
      </p:sp>
      <p:sp>
        <p:nvSpPr>
          <p:cNvPr id="18" name="Line 15"/>
          <p:cNvSpPr/>
          <p:nvPr/>
        </p:nvSpPr>
        <p:spPr>
          <a:xfrm>
            <a:off x="3118644" y="3076575"/>
            <a:ext cx="1219200" cy="1295400"/>
          </a:xfrm>
          <a:prstGeom prst="line">
            <a:avLst/>
          </a:prstGeom>
          <a:ln w="12700" cap="flat" cmpd="sng">
            <a:solidFill>
              <a:schemeClr val="tx1"/>
            </a:solidFill>
            <a:prstDash val="solid"/>
            <a:headEnd type="none" w="sm" len="sm"/>
            <a:tailEnd type="triangle" w="med" len="med"/>
          </a:ln>
        </p:spPr>
      </p:sp>
      <p:sp>
        <p:nvSpPr>
          <p:cNvPr id="19" name="Line 16"/>
          <p:cNvSpPr/>
          <p:nvPr/>
        </p:nvSpPr>
        <p:spPr>
          <a:xfrm>
            <a:off x="3194844" y="3000375"/>
            <a:ext cx="1752600" cy="1371600"/>
          </a:xfrm>
          <a:prstGeom prst="line">
            <a:avLst/>
          </a:prstGeom>
          <a:ln w="12700" cap="flat" cmpd="sng">
            <a:solidFill>
              <a:schemeClr val="tx1"/>
            </a:solidFill>
            <a:prstDash val="solid"/>
            <a:headEnd type="none" w="sm" len="sm"/>
            <a:tailEnd type="triangle" w="med" len="med"/>
          </a:ln>
        </p:spPr>
      </p:sp>
      <p:sp>
        <p:nvSpPr>
          <p:cNvPr id="20" name="Line 17"/>
          <p:cNvSpPr/>
          <p:nvPr/>
        </p:nvSpPr>
        <p:spPr>
          <a:xfrm>
            <a:off x="3194844" y="2924175"/>
            <a:ext cx="2286000" cy="1447800"/>
          </a:xfrm>
          <a:prstGeom prst="line">
            <a:avLst/>
          </a:prstGeom>
          <a:ln w="12700" cap="flat" cmpd="sng">
            <a:solidFill>
              <a:schemeClr val="tx1"/>
            </a:solidFill>
            <a:prstDash val="solid"/>
            <a:headEnd type="none" w="sm" len="sm"/>
            <a:tailEnd type="triangle" w="med" len="med"/>
          </a:ln>
        </p:spPr>
      </p:sp>
      <p:sp>
        <p:nvSpPr>
          <p:cNvPr id="21" name="Line 18"/>
          <p:cNvSpPr/>
          <p:nvPr/>
        </p:nvSpPr>
        <p:spPr>
          <a:xfrm>
            <a:off x="3271044" y="2771775"/>
            <a:ext cx="3505200" cy="1905000"/>
          </a:xfrm>
          <a:prstGeom prst="line">
            <a:avLst/>
          </a:prstGeom>
          <a:ln w="12700" cap="flat" cmpd="sng">
            <a:solidFill>
              <a:schemeClr val="tx1"/>
            </a:solidFill>
            <a:prstDash val="solid"/>
            <a:headEnd type="none" w="sm" len="sm"/>
            <a:tailEnd type="triangle" w="med" len="med"/>
          </a:ln>
        </p:spPr>
      </p:sp>
      <p:sp>
        <p:nvSpPr>
          <p:cNvPr id="22" name="Line 19"/>
          <p:cNvSpPr/>
          <p:nvPr/>
        </p:nvSpPr>
        <p:spPr>
          <a:xfrm flipH="1">
            <a:off x="5557044" y="3076575"/>
            <a:ext cx="1219200" cy="1295400"/>
          </a:xfrm>
          <a:prstGeom prst="line">
            <a:avLst/>
          </a:prstGeom>
          <a:ln w="12700" cap="flat" cmpd="sng">
            <a:solidFill>
              <a:schemeClr val="tx1"/>
            </a:solidFill>
            <a:prstDash val="solid"/>
            <a:headEnd type="none" w="sm" len="sm"/>
            <a:tailEnd type="triangle" w="med" len="med"/>
          </a:ln>
        </p:spPr>
      </p:sp>
      <p:sp>
        <p:nvSpPr>
          <p:cNvPr id="23" name="Line 20"/>
          <p:cNvSpPr/>
          <p:nvPr/>
        </p:nvSpPr>
        <p:spPr>
          <a:xfrm flipH="1">
            <a:off x="5023644" y="2924175"/>
            <a:ext cx="1752600" cy="1447800"/>
          </a:xfrm>
          <a:prstGeom prst="line">
            <a:avLst/>
          </a:prstGeom>
          <a:ln w="12700" cap="flat" cmpd="sng">
            <a:solidFill>
              <a:schemeClr val="tx1"/>
            </a:solidFill>
            <a:prstDash val="solid"/>
            <a:headEnd type="none" w="sm" len="sm"/>
            <a:tailEnd type="triangle" w="med" len="med"/>
          </a:ln>
        </p:spPr>
      </p:sp>
      <p:sp>
        <p:nvSpPr>
          <p:cNvPr id="24" name="Line 21"/>
          <p:cNvSpPr/>
          <p:nvPr/>
        </p:nvSpPr>
        <p:spPr>
          <a:xfrm flipH="1">
            <a:off x="4414044" y="2847975"/>
            <a:ext cx="2362200" cy="1524000"/>
          </a:xfrm>
          <a:prstGeom prst="line">
            <a:avLst/>
          </a:prstGeom>
          <a:ln w="12700" cap="flat" cmpd="sng">
            <a:solidFill>
              <a:schemeClr val="tx1"/>
            </a:solidFill>
            <a:prstDash val="solid"/>
            <a:headEnd type="none" w="sm" len="sm"/>
            <a:tailEnd type="triangle" w="med" len="med"/>
          </a:ln>
        </p:spPr>
      </p:sp>
      <p:sp>
        <p:nvSpPr>
          <p:cNvPr id="25" name="Line 22"/>
          <p:cNvSpPr/>
          <p:nvPr/>
        </p:nvSpPr>
        <p:spPr>
          <a:xfrm flipH="1">
            <a:off x="3194844" y="2771775"/>
            <a:ext cx="3581400" cy="1828800"/>
          </a:xfrm>
          <a:prstGeom prst="line">
            <a:avLst/>
          </a:prstGeom>
          <a:ln w="12700" cap="flat" cmpd="sng">
            <a:solidFill>
              <a:schemeClr val="tx1"/>
            </a:solidFill>
            <a:prstDash val="solid"/>
            <a:headEnd type="none" w="sm" len="sm"/>
            <a:tailEnd type="triangle" w="med" len="med"/>
          </a:ln>
        </p:spPr>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分布式事务管理抽象模型</a:t>
            </a:r>
            <a:endParaRPr lang="zh-CN" altLang="en-US" sz="2800" b="1" dirty="0">
              <a:latin typeface="微软雅黑" panose="020B0503020204020204" pitchFamily="34" charset="-122"/>
              <a:ea typeface="微软雅黑" panose="020B0503020204020204" pitchFamily="34" charset="-122"/>
            </a:endParaRPr>
          </a:p>
          <a:p>
            <a:pPr lvl="1">
              <a:lnSpc>
                <a:spcPct val="140000"/>
              </a:lnSpc>
            </a:pPr>
            <a:r>
              <a:rPr lang="zh-CN" altLang="en-US" dirty="0"/>
              <a:t>本地事务管理器：管理那些访问存储在一个局部节点中数据的事务</a:t>
            </a:r>
            <a:r>
              <a:rPr lang="en-US" altLang="zh-CN" dirty="0"/>
              <a:t>(</a:t>
            </a:r>
            <a:r>
              <a:rPr lang="zh-CN" altLang="en-US" dirty="0"/>
              <a:t>或子事务</a:t>
            </a:r>
            <a:r>
              <a:rPr lang="en-US" altLang="zh-CN" dirty="0"/>
              <a:t>)</a:t>
            </a:r>
            <a:r>
              <a:rPr lang="zh-CN" altLang="en-US" dirty="0"/>
              <a:t>的执行。这样的事务既可以是局部事务，也可以是全局事务的一部分。</a:t>
            </a:r>
            <a:endParaRPr lang="zh-CN" altLang="en-US" dirty="0"/>
          </a:p>
          <a:p>
            <a:pPr lvl="1">
              <a:lnSpc>
                <a:spcPct val="140000"/>
              </a:lnSpc>
            </a:pPr>
            <a:r>
              <a:rPr lang="zh-CN" altLang="en-US" dirty="0"/>
              <a:t>负责</a:t>
            </a:r>
            <a:endParaRPr lang="zh-CN" altLang="en-US" dirty="0"/>
          </a:p>
          <a:p>
            <a:pPr lvl="2">
              <a:buFont typeface="Wingdings" panose="05000000000000000000" pitchFamily="2" charset="2"/>
              <a:buChar char="ü"/>
            </a:pPr>
            <a:r>
              <a:rPr lang="zh-CN" altLang="en-US" dirty="0">
                <a:ea typeface="楷体_GB2312" pitchFamily="49" charset="-122"/>
              </a:rPr>
              <a:t>维护一个用于恢复的日志。</a:t>
            </a:r>
            <a:endParaRPr lang="zh-CN" altLang="en-US" dirty="0">
              <a:ea typeface="楷体_GB2312" pitchFamily="49" charset="-122"/>
            </a:endParaRPr>
          </a:p>
          <a:p>
            <a:pPr lvl="2">
              <a:buFont typeface="Wingdings" panose="05000000000000000000" pitchFamily="2" charset="2"/>
              <a:buChar char="ü"/>
            </a:pPr>
            <a:r>
              <a:rPr lang="zh-CN" altLang="en-US" dirty="0">
                <a:ea typeface="楷体_GB2312" pitchFamily="49" charset="-122"/>
              </a:rPr>
              <a:t>参与适当的并发控制模式，以协调在该节点执行的事务的并发执行。</a:t>
            </a:r>
            <a:endParaRPr lang="zh-CN" altLang="en-US" sz="2800" dirty="0"/>
          </a:p>
          <a:p>
            <a:pPr marL="457200" lvl="1" indent="0">
              <a:buNone/>
            </a:pPr>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分布式事务管理抽象模型</a:t>
            </a:r>
            <a:endParaRPr lang="zh-CN" altLang="en-US" sz="2800" b="1" dirty="0">
              <a:latin typeface="微软雅黑" panose="020B0503020204020204" pitchFamily="34" charset="-122"/>
              <a:ea typeface="微软雅黑" panose="020B0503020204020204" pitchFamily="34" charset="-122"/>
            </a:endParaRPr>
          </a:p>
          <a:p>
            <a:pPr lvl="1">
              <a:lnSpc>
                <a:spcPct val="140000"/>
              </a:lnSpc>
            </a:pPr>
            <a:r>
              <a:rPr lang="zh-CN" altLang="en-US" dirty="0"/>
              <a:t>全局事务协调器</a:t>
            </a:r>
            <a:r>
              <a:rPr lang="en-US" altLang="zh-CN" dirty="0"/>
              <a:t>:</a:t>
            </a:r>
            <a:r>
              <a:rPr lang="zh-CN" altLang="en-US" dirty="0"/>
              <a:t>协调该节点上发起的各事务</a:t>
            </a:r>
            <a:r>
              <a:rPr lang="en-US" altLang="zh-CN" dirty="0"/>
              <a:t>(</a:t>
            </a:r>
            <a:r>
              <a:rPr lang="zh-CN" altLang="en-US" dirty="0"/>
              <a:t>局部事务和全局事务</a:t>
            </a:r>
            <a:r>
              <a:rPr lang="en-US" altLang="zh-CN" dirty="0"/>
              <a:t>)</a:t>
            </a:r>
            <a:r>
              <a:rPr lang="zh-CN" altLang="en-US" dirty="0"/>
              <a:t>的执行。</a:t>
            </a:r>
            <a:endParaRPr lang="zh-CN" altLang="en-US" dirty="0"/>
          </a:p>
          <a:p>
            <a:pPr lvl="1">
              <a:lnSpc>
                <a:spcPct val="140000"/>
              </a:lnSpc>
            </a:pPr>
            <a:r>
              <a:rPr lang="zh-CN" altLang="en-US" dirty="0"/>
              <a:t>负责</a:t>
            </a:r>
            <a:endParaRPr lang="zh-CN" altLang="en-US" dirty="0"/>
          </a:p>
          <a:p>
            <a:pPr lvl="2">
              <a:lnSpc>
                <a:spcPct val="140000"/>
              </a:lnSpc>
              <a:buFont typeface="Wingdings" panose="05000000000000000000" pitchFamily="2" charset="2"/>
              <a:buChar char="ü"/>
            </a:pPr>
            <a:r>
              <a:rPr lang="zh-CN" altLang="en-US" dirty="0"/>
              <a:t>启动事务的执行。</a:t>
            </a:r>
            <a:endParaRPr lang="zh-CN" altLang="en-US" dirty="0"/>
          </a:p>
          <a:p>
            <a:pPr lvl="2">
              <a:lnSpc>
                <a:spcPct val="140000"/>
              </a:lnSpc>
              <a:buFont typeface="Wingdings" panose="05000000000000000000" pitchFamily="2" charset="2"/>
              <a:buChar char="ü"/>
            </a:pPr>
            <a:r>
              <a:rPr lang="zh-CN" altLang="en-US" dirty="0"/>
              <a:t>将全局事务分解为子事务，并将这些子事务分派到恰当的节点上去执行。</a:t>
            </a:r>
            <a:endParaRPr lang="zh-CN" altLang="en-US" dirty="0"/>
          </a:p>
          <a:p>
            <a:pPr lvl="2">
              <a:lnSpc>
                <a:spcPct val="140000"/>
              </a:lnSpc>
              <a:buFont typeface="Wingdings" panose="05000000000000000000" pitchFamily="2" charset="2"/>
              <a:buChar char="ü"/>
            </a:pPr>
            <a:r>
              <a:rPr lang="zh-CN" altLang="en-US" dirty="0"/>
              <a:t>协调事务的终止，其结果就是要保证全局事务在所有节点上都提交或在所有节点上都中止。</a:t>
            </a:r>
            <a:endParaRPr lang="zh-CN" altLang="en-US" dirty="0"/>
          </a:p>
          <a:p>
            <a:pPr marL="457200" lvl="1" indent="0">
              <a:buNone/>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提交协议与故障恢复</a:t>
            </a:r>
            <a:endParaRPr lang="zh-CN" altLang="en-US" sz="2800" b="1" dirty="0">
              <a:latin typeface="微软雅黑" panose="020B0503020204020204" pitchFamily="34" charset="-122"/>
              <a:ea typeface="微软雅黑" panose="020B0503020204020204" pitchFamily="34" charset="-122"/>
            </a:endParaRPr>
          </a:p>
          <a:p>
            <a:pPr marR="0" lvl="1" fontAlgn="base">
              <a:lnSpc>
                <a:spcPct val="140000"/>
              </a:lnSpc>
              <a:spcAft>
                <a:spcPct val="0"/>
              </a:spcAft>
              <a:buClr>
                <a:schemeClr val="hlink"/>
              </a:buClr>
              <a:buSzTx/>
              <a:defRPr/>
            </a:pPr>
            <a:r>
              <a:rPr lang="zh-CN" altLang="en-US" noProof="1">
                <a:latin typeface="微软雅黑" panose="020B0503020204020204" pitchFamily="34" charset="-122"/>
                <a:ea typeface="微软雅黑" panose="020B0503020204020204" pitchFamily="34" charset="-122"/>
              </a:rPr>
              <a:t>为保证全局事务的原子性和持久性，必须使执行事务</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的所有节点在</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执行的最终结果上取得一致 </a:t>
            </a:r>
            <a:r>
              <a:rPr lang="en-US" altLang="zh-CN" noProof="1">
                <a:latin typeface="微软雅黑" panose="020B0503020204020204" pitchFamily="34" charset="-122"/>
                <a:ea typeface="微软雅黑" panose="020B0503020204020204" pitchFamily="34" charset="-122"/>
              </a:rPr>
              <a:t>-- </a:t>
            </a:r>
            <a:r>
              <a:rPr lang="zh-CN" altLang="en-US" noProof="1">
                <a:latin typeface="微软雅黑" panose="020B0503020204020204" pitchFamily="34" charset="-122"/>
                <a:ea typeface="微软雅黑" panose="020B0503020204020204" pitchFamily="34" charset="-122"/>
              </a:rPr>
              <a:t>在所有节点上都提交，或在所有节点上都中止。</a:t>
            </a:r>
            <a:endParaRPr lang="zh-CN" altLang="en-US" noProof="1">
              <a:latin typeface="微软雅黑" panose="020B0503020204020204" pitchFamily="34" charset="-122"/>
              <a:ea typeface="微软雅黑" panose="020B0503020204020204" pitchFamily="34" charset="-122"/>
            </a:endParaRPr>
          </a:p>
          <a:p>
            <a:pPr marR="0" lvl="1" fontAlgn="base">
              <a:lnSpc>
                <a:spcPct val="140000"/>
              </a:lnSpc>
              <a:spcAft>
                <a:spcPct val="0"/>
              </a:spcAft>
              <a:buClr>
                <a:schemeClr val="hlink"/>
              </a:buClr>
              <a:buSzTx/>
              <a:defRPr/>
            </a:pPr>
            <a:r>
              <a:rPr lang="zh-CN" altLang="en-US" noProof="1">
                <a:latin typeface="微软雅黑" panose="020B0503020204020204" pitchFamily="34" charset="-122"/>
                <a:ea typeface="微软雅黑" panose="020B0503020204020204" pitchFamily="34" charset="-122"/>
              </a:rPr>
              <a:t>由事务</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的事务协调器执行一个提交协议来保证这一点。</a:t>
            </a:r>
            <a:endParaRPr lang="zh-CN" altLang="en-US" noProof="1">
              <a:latin typeface="微软雅黑" panose="020B0503020204020204" pitchFamily="34" charset="-122"/>
              <a:ea typeface="微软雅黑" panose="020B0503020204020204" pitchFamily="34" charset="-122"/>
            </a:endParaRPr>
          </a:p>
          <a:p>
            <a:pPr marL="1257300" lvl="2" indent="-342900" algn="l" fontAlgn="base">
              <a:lnSpc>
                <a:spcPct val="100000"/>
              </a:lnSpc>
              <a:spcBef>
                <a:spcPct val="20000"/>
              </a:spcBef>
              <a:spcAft>
                <a:spcPct val="0"/>
              </a:spcAft>
              <a:buClr>
                <a:schemeClr val="hlink"/>
              </a:buClr>
              <a:buFont typeface="Wingdings" panose="05000000000000000000" charset="0"/>
              <a:buChar char="ü"/>
              <a:defRPr/>
            </a:pPr>
            <a:r>
              <a:rPr kumimoji="0" lang="zh-CN" altLang="en-US"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rPr>
              <a:t>两阶段提交协议</a:t>
            </a:r>
            <a:r>
              <a:rPr kumimoji="0" lang="en-US" altLang="zh-CN"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rPr>
              <a:t>(2PC)</a:t>
            </a:r>
            <a:endParaRPr kumimoji="0" lang="zh-CN" altLang="en-US"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endParaRPr>
          </a:p>
          <a:p>
            <a:pPr marL="1257300" lvl="2" indent="-342900" algn="l" fontAlgn="base">
              <a:lnSpc>
                <a:spcPct val="100000"/>
              </a:lnSpc>
              <a:spcBef>
                <a:spcPct val="20000"/>
              </a:spcBef>
              <a:spcAft>
                <a:spcPct val="0"/>
              </a:spcAft>
              <a:buClr>
                <a:schemeClr val="hlink"/>
              </a:buClr>
              <a:buFont typeface="Wingdings" panose="05000000000000000000" charset="0"/>
              <a:buChar char="ü"/>
              <a:defRPr/>
            </a:pPr>
            <a:r>
              <a:rPr kumimoji="0" lang="zh-CN" altLang="en-US"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rPr>
              <a:t>三阶段提交协议</a:t>
            </a:r>
            <a:r>
              <a:rPr kumimoji="0" lang="en-US" altLang="zh-CN"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rPr>
              <a:t>(3PC)</a:t>
            </a:r>
            <a:endParaRPr kumimoji="0" lang="en-US" altLang="zh-CN"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两阶段提交协议</a:t>
            </a:r>
            <a:endParaRPr lang="zh-CN" altLang="en-US" sz="28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在分布式事务处理过程中，某些场地可能发生故障，或者由于网络发生故障而无法访问到某些场地。</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为了防止分布式系统部分场地发生故障产生数据的不一致性，在分布式事务管理中采用了两阶段提交协议</a:t>
            </a:r>
            <a:r>
              <a:rPr lang="en-US" altLang="zh-CN" dirty="0">
                <a:latin typeface="微软雅黑" panose="020B0503020204020204" pitchFamily="34" charset="-122"/>
                <a:ea typeface="微软雅黑" panose="020B0503020204020204" pitchFamily="34" charset="-122"/>
              </a:rPr>
              <a:t>(Two-Phase Commit Protocol)</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fontScale="92500"/>
          </a:bodyPr>
          <a:lstStyle/>
          <a:p>
            <a:pPr marL="228600" lvl="1">
              <a:lnSpc>
                <a:spcPct val="130000"/>
              </a:lnSpc>
              <a:spcBef>
                <a:spcPts val="1000"/>
              </a:spcBef>
              <a:buFont typeface="Wingdings" panose="05000000000000000000" pitchFamily="2" charset="2"/>
              <a:buChar char="Ø"/>
            </a:pPr>
            <a:r>
              <a:rPr lang="zh-CN" altLang="en-US" sz="3000" b="1" dirty="0">
                <a:latin typeface="微软雅黑" panose="020B0503020204020204" pitchFamily="34" charset="-122"/>
                <a:ea typeface="微软雅黑" panose="020B0503020204020204" pitchFamily="34" charset="-122"/>
              </a:rPr>
              <a:t>两阶段提交协议</a:t>
            </a:r>
            <a:endParaRPr lang="zh-CN" altLang="en-US" sz="3000" b="1" dirty="0">
              <a:latin typeface="微软雅黑" panose="020B0503020204020204" pitchFamily="34" charset="-122"/>
              <a:ea typeface="微软雅黑" panose="020B0503020204020204" pitchFamily="34" charset="-122"/>
            </a:endParaRPr>
          </a:p>
          <a:p>
            <a:pPr marR="0" lvl="1" fontAlgn="base">
              <a:lnSpc>
                <a:spcPct val="140000"/>
              </a:lnSpc>
              <a:spcAft>
                <a:spcPct val="0"/>
              </a:spcAft>
              <a:buClr>
                <a:schemeClr val="hlink"/>
              </a:buClr>
              <a:buSzTx/>
              <a:defRPr/>
            </a:pPr>
            <a:r>
              <a:rPr lang="zh-CN" altLang="en-US" noProof="1">
                <a:latin typeface="微软雅黑" panose="020B0503020204020204" pitchFamily="34" charset="-122"/>
                <a:ea typeface="微软雅黑" panose="020B0503020204020204" pitchFamily="34" charset="-122"/>
              </a:rPr>
              <a:t>提交协议</a:t>
            </a:r>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当执行</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的所有节点</a:t>
            </a:r>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参与者</a:t>
            </a:r>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都通知事务协调器</a:t>
            </a:r>
            <a:r>
              <a:rPr lang="en-US" altLang="zh-CN" noProof="1">
                <a:latin typeface="微软雅黑" panose="020B0503020204020204" pitchFamily="34" charset="-122"/>
                <a:ea typeface="微软雅黑" panose="020B0503020204020204" pitchFamily="34" charset="-122"/>
              </a:rPr>
              <a:t>Ci</a:t>
            </a:r>
            <a:r>
              <a:rPr lang="zh-CN" altLang="en-US" noProof="1">
                <a:latin typeface="微软雅黑" panose="020B0503020204020204" pitchFamily="34" charset="-122"/>
                <a:ea typeface="微软雅黑" panose="020B0503020204020204" pitchFamily="34" charset="-122"/>
              </a:rPr>
              <a:t>已完成了</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的执行时，</a:t>
            </a:r>
            <a:r>
              <a:rPr lang="en-US" altLang="zh-CN" noProof="1">
                <a:latin typeface="微软雅黑" panose="020B0503020204020204" pitchFamily="34" charset="-122"/>
                <a:ea typeface="微软雅黑" panose="020B0503020204020204" pitchFamily="34" charset="-122"/>
              </a:rPr>
              <a:t>Ci</a:t>
            </a:r>
            <a:r>
              <a:rPr lang="zh-CN" altLang="en-US" noProof="1">
                <a:latin typeface="微软雅黑" panose="020B0503020204020204" pitchFamily="34" charset="-122"/>
                <a:ea typeface="微软雅黑" panose="020B0503020204020204" pitchFamily="34" charset="-122"/>
              </a:rPr>
              <a:t>启动</a:t>
            </a:r>
            <a:r>
              <a:rPr lang="en-US" altLang="zh-CN" noProof="1">
                <a:latin typeface="微软雅黑" panose="020B0503020204020204" pitchFamily="34" charset="-122"/>
                <a:ea typeface="微软雅黑" panose="020B0503020204020204" pitchFamily="34" charset="-122"/>
              </a:rPr>
              <a:t>2PC</a:t>
            </a:r>
            <a:r>
              <a:rPr lang="zh-CN" altLang="en-US" noProof="1">
                <a:latin typeface="微软雅黑" panose="020B0503020204020204" pitchFamily="34" charset="-122"/>
                <a:ea typeface="微软雅黑" panose="020B0503020204020204" pitchFamily="34" charset="-122"/>
              </a:rPr>
              <a:t>协议。</a:t>
            </a:r>
            <a:endParaRPr lang="zh-CN" altLang="en-US" noProof="1">
              <a:latin typeface="微软雅黑" panose="020B0503020204020204" pitchFamily="34" charset="-122"/>
              <a:ea typeface="微软雅黑" panose="020B0503020204020204" pitchFamily="34" charset="-122"/>
            </a:endParaRPr>
          </a:p>
          <a:p>
            <a:pPr marR="0" lvl="1" fontAlgn="base">
              <a:lnSpc>
                <a:spcPct val="140000"/>
              </a:lnSpc>
              <a:spcAft>
                <a:spcPct val="0"/>
              </a:spcAft>
              <a:buClr>
                <a:schemeClr val="hlink"/>
              </a:buClr>
              <a:buSzTx/>
              <a:defRPr/>
            </a:pPr>
            <a:r>
              <a:rPr lang="zh-CN" altLang="en-US" noProof="1">
                <a:solidFill>
                  <a:srgbClr val="FF0000"/>
                </a:solidFill>
                <a:latin typeface="微软雅黑" panose="020B0503020204020204" pitchFamily="34" charset="-122"/>
                <a:ea typeface="微软雅黑" panose="020B0503020204020204" pitchFamily="34" charset="-122"/>
              </a:rPr>
              <a:t>阶段</a:t>
            </a:r>
            <a:r>
              <a:rPr lang="en-US" altLang="zh-CN" noProof="1">
                <a:solidFill>
                  <a:srgbClr val="FF0000"/>
                </a:solidFill>
                <a:latin typeface="微软雅黑" panose="020B0503020204020204" pitchFamily="34" charset="-122"/>
                <a:ea typeface="微软雅黑" panose="020B0503020204020204" pitchFamily="34" charset="-122"/>
              </a:rPr>
              <a:t>1:</a:t>
            </a:r>
            <a:r>
              <a:rPr lang="zh-CN" altLang="en-US" noProof="1">
                <a:solidFill>
                  <a:srgbClr val="FF0000"/>
                </a:solidFill>
                <a:latin typeface="微软雅黑" panose="020B0503020204020204" pitchFamily="34" charset="-122"/>
                <a:ea typeface="微软雅黑" panose="020B0503020204020204" pitchFamily="34" charset="-122"/>
              </a:rPr>
              <a:t>投票阶段</a:t>
            </a:r>
            <a:endParaRPr lang="zh-CN" altLang="en-US" noProof="1">
              <a:solidFill>
                <a:srgbClr val="FF0000"/>
              </a:solidFill>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en-US" altLang="zh-CN" noProof="1">
                <a:latin typeface="微软雅黑" panose="020B0503020204020204" pitchFamily="34" charset="-122"/>
                <a:ea typeface="微软雅黑" panose="020B0503020204020204" pitchFamily="34" charset="-122"/>
              </a:rPr>
              <a:t>Ci</a:t>
            </a:r>
            <a:r>
              <a:rPr lang="zh-CN" altLang="en-US" noProof="1">
                <a:latin typeface="微软雅黑" panose="020B0503020204020204" pitchFamily="34" charset="-122"/>
                <a:ea typeface="微软雅黑" panose="020B0503020204020204" pitchFamily="34" charset="-122"/>
              </a:rPr>
              <a:t>将记录</a:t>
            </a:r>
            <a:r>
              <a:rPr lang="en-US" altLang="zh-CN" noProof="1">
                <a:latin typeface="微软雅黑" panose="020B0503020204020204" pitchFamily="34" charset="-122"/>
                <a:ea typeface="微软雅黑" panose="020B0503020204020204" pitchFamily="34" charset="-122"/>
              </a:rPr>
              <a:t>&lt;prepare T&gt;</a:t>
            </a:r>
            <a:r>
              <a:rPr lang="zh-CN" altLang="en-US" noProof="1">
                <a:latin typeface="微软雅黑" panose="020B0503020204020204" pitchFamily="34" charset="-122"/>
                <a:ea typeface="微软雅黑" panose="020B0503020204020204" pitchFamily="34" charset="-122"/>
              </a:rPr>
              <a:t>加到日志中，并强制日志写入稳定存储器中。接着将</a:t>
            </a:r>
            <a:r>
              <a:rPr lang="en-US" altLang="zh-CN" noProof="1">
                <a:latin typeface="微软雅黑" panose="020B0503020204020204" pitchFamily="34" charset="-122"/>
                <a:ea typeface="微软雅黑" panose="020B0503020204020204" pitchFamily="34" charset="-122"/>
              </a:rPr>
              <a:t>&lt;prepare T&gt;</a:t>
            </a:r>
            <a:r>
              <a:rPr lang="zh-CN" altLang="en-US" noProof="1">
                <a:latin typeface="微软雅黑" panose="020B0503020204020204" pitchFamily="34" charset="-122"/>
                <a:ea typeface="微软雅黑" panose="020B0503020204020204" pitchFamily="34" charset="-122"/>
              </a:rPr>
              <a:t>消息发送到执行</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的所有节点。</a:t>
            </a:r>
            <a:endParaRPr lang="zh-CN" altLang="en-US" noProof="1">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当参与节点收到</a:t>
            </a:r>
            <a:r>
              <a:rPr lang="en-US" altLang="zh-CN" noProof="1">
                <a:latin typeface="微软雅黑" panose="020B0503020204020204" pitchFamily="34" charset="-122"/>
                <a:ea typeface="微软雅黑" panose="020B0503020204020204" pitchFamily="34" charset="-122"/>
              </a:rPr>
              <a:t>&lt;prepare T&gt;</a:t>
            </a:r>
            <a:r>
              <a:rPr lang="zh-CN" altLang="en-US" noProof="1">
                <a:latin typeface="微软雅黑" panose="020B0503020204020204" pitchFamily="34" charset="-122"/>
                <a:ea typeface="微软雅黑" panose="020B0503020204020204" pitchFamily="34" charset="-122"/>
              </a:rPr>
              <a:t>消息时，节点上的事务管理器确定是否提交</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中属于它的部分。</a:t>
            </a:r>
            <a:endParaRPr lang="zh-CN" altLang="en-US" noProof="1">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若答案是“不”，就把记录</a:t>
            </a:r>
            <a:r>
              <a:rPr lang="en-US" altLang="zh-CN" noProof="1">
                <a:latin typeface="微软雅黑" panose="020B0503020204020204" pitchFamily="34" charset="-122"/>
                <a:ea typeface="微软雅黑" panose="020B0503020204020204" pitchFamily="34" charset="-122"/>
              </a:rPr>
              <a:t>&lt;no T&gt;</a:t>
            </a:r>
            <a:r>
              <a:rPr lang="zh-CN" altLang="en-US" noProof="1">
                <a:latin typeface="微软雅黑" panose="020B0503020204020204" pitchFamily="34" charset="-122"/>
                <a:ea typeface="微软雅黑" panose="020B0503020204020204" pitchFamily="34" charset="-122"/>
              </a:rPr>
              <a:t>加到日志中，并向</a:t>
            </a:r>
            <a:r>
              <a:rPr lang="en-US" altLang="zh-CN" noProof="1">
                <a:latin typeface="微软雅黑" panose="020B0503020204020204" pitchFamily="34" charset="-122"/>
                <a:ea typeface="微软雅黑" panose="020B0503020204020204" pitchFamily="34" charset="-122"/>
              </a:rPr>
              <a:t>Ci</a:t>
            </a:r>
            <a:r>
              <a:rPr lang="zh-CN" altLang="en-US" noProof="1">
                <a:latin typeface="微软雅黑" panose="020B0503020204020204" pitchFamily="34" charset="-122"/>
                <a:ea typeface="微软雅黑" panose="020B0503020204020204" pitchFamily="34" charset="-122"/>
              </a:rPr>
              <a:t>发送一条</a:t>
            </a:r>
            <a:r>
              <a:rPr lang="en-US" altLang="zh-CN" noProof="1">
                <a:latin typeface="微软雅黑" panose="020B0503020204020204" pitchFamily="34" charset="-122"/>
                <a:ea typeface="微软雅黑" panose="020B0503020204020204" pitchFamily="34" charset="-122"/>
              </a:rPr>
              <a:t>&lt;abort T&gt;</a:t>
            </a:r>
            <a:r>
              <a:rPr lang="zh-CN" altLang="en-US" noProof="1">
                <a:latin typeface="微软雅黑" panose="020B0503020204020204" pitchFamily="34" charset="-122"/>
                <a:ea typeface="微软雅黑" panose="020B0503020204020204" pitchFamily="34" charset="-122"/>
              </a:rPr>
              <a:t>消息来作出回答。</a:t>
            </a:r>
            <a:endParaRPr lang="zh-CN" altLang="en-US" noProof="1">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若答案是“是”，就把记录</a:t>
            </a:r>
            <a:r>
              <a:rPr lang="en-US" altLang="zh-CN" noProof="1">
                <a:latin typeface="微软雅黑" panose="020B0503020204020204" pitchFamily="34" charset="-122"/>
                <a:ea typeface="微软雅黑" panose="020B0503020204020204" pitchFamily="34" charset="-122"/>
              </a:rPr>
              <a:t>&lt;ready T&gt;</a:t>
            </a:r>
            <a:r>
              <a:rPr lang="zh-CN" altLang="en-US" noProof="1">
                <a:latin typeface="微软雅黑" panose="020B0503020204020204" pitchFamily="34" charset="-122"/>
                <a:ea typeface="微软雅黑" panose="020B0503020204020204" pitchFamily="34" charset="-122"/>
              </a:rPr>
              <a:t>加到日志中，并将日志</a:t>
            </a:r>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包括所有与</a:t>
            </a:r>
            <a:r>
              <a:rPr lang="en-US" altLang="zh-CN" noProof="1">
                <a:latin typeface="微软雅黑" panose="020B0503020204020204" pitchFamily="34" charset="-122"/>
                <a:ea typeface="微软雅黑" panose="020B0503020204020204" pitchFamily="34" charset="-122"/>
              </a:rPr>
              <a:t>T</a:t>
            </a:r>
            <a:r>
              <a:rPr lang="zh-CN" altLang="en-US" noProof="1">
                <a:latin typeface="微软雅黑" panose="020B0503020204020204" pitchFamily="34" charset="-122"/>
                <a:ea typeface="微软雅黑" panose="020B0503020204020204" pitchFamily="34" charset="-122"/>
              </a:rPr>
              <a:t>相关的日志项</a:t>
            </a:r>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强制写入稳定存储器中，然后向</a:t>
            </a:r>
            <a:r>
              <a:rPr lang="en-US" altLang="zh-CN" noProof="1">
                <a:latin typeface="微软雅黑" panose="020B0503020204020204" pitchFamily="34" charset="-122"/>
                <a:ea typeface="微软雅黑" panose="020B0503020204020204" pitchFamily="34" charset="-122"/>
              </a:rPr>
              <a:t>Ci</a:t>
            </a:r>
            <a:r>
              <a:rPr lang="zh-CN" altLang="en-US" noProof="1">
                <a:latin typeface="微软雅黑" panose="020B0503020204020204" pitchFamily="34" charset="-122"/>
                <a:ea typeface="微软雅黑" panose="020B0503020204020204" pitchFamily="34" charset="-122"/>
              </a:rPr>
              <a:t>发送一条</a:t>
            </a:r>
            <a:r>
              <a:rPr lang="en-US" altLang="zh-CN" noProof="1">
                <a:latin typeface="微软雅黑" panose="020B0503020204020204" pitchFamily="34" charset="-122"/>
                <a:ea typeface="微软雅黑" panose="020B0503020204020204" pitchFamily="34" charset="-122"/>
              </a:rPr>
              <a:t>&lt;ready T&gt;</a:t>
            </a:r>
            <a:r>
              <a:rPr lang="zh-CN" altLang="en-US" noProof="1">
                <a:latin typeface="微软雅黑" panose="020B0503020204020204" pitchFamily="34" charset="-122"/>
                <a:ea typeface="微软雅黑" panose="020B0503020204020204" pitchFamily="34" charset="-122"/>
              </a:rPr>
              <a:t>消息来作出回答。</a:t>
            </a:r>
            <a:endParaRPr lang="zh-CN" altLang="en-US"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lnSpcReduction="10000"/>
              </a:bodyPr>
              <a:lstStyle/>
              <a:p>
                <a:pPr marL="228600" lvl="1">
                  <a:lnSpc>
                    <a:spcPct val="14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两阶段提交协议</a:t>
                </a:r>
                <a:endParaRPr lang="zh-CN" altLang="en-US" sz="28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solidFill>
                      <a:srgbClr val="FF0000"/>
                    </a:solidFill>
                    <a:latin typeface="微软雅黑" panose="020B0503020204020204" pitchFamily="34" charset="-122"/>
                    <a:ea typeface="微软雅黑" panose="020B0503020204020204" pitchFamily="34" charset="-122"/>
                  </a:rPr>
                  <a:t>阶段</a:t>
                </a: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决定阶段</a:t>
                </a:r>
                <a:endParaRPr lang="zh-CN" altLang="en-US" dirty="0">
                  <a:solidFill>
                    <a:srgbClr val="FF0000"/>
                  </a:solidFill>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m:rPr>
                            <m:nor/>
                          </m:rPr>
                          <a:rPr lang="en-US" altLang="zh-CN" dirty="0">
                            <a:latin typeface="微软雅黑" panose="020B0503020204020204" pitchFamily="34" charset="-122"/>
                            <a:ea typeface="微软雅黑" panose="020B0503020204020204" pitchFamily="34" charset="-122"/>
                          </a:rPr>
                          <m:t>C</m:t>
                        </m:r>
                      </m:e>
                      <m:sub>
                        <m:r>
                          <m:rPr>
                            <m:nor/>
                          </m:rPr>
                          <a:rPr lang="en-US" altLang="zh-CN" b="0" i="0" smtClean="0">
                            <a:latin typeface="Cambria Math" panose="02040503050406030204" pitchFamily="18" charset="0"/>
                            <a:ea typeface="微软雅黑" panose="020B0503020204020204" pitchFamily="34" charset="-122"/>
                          </a:rPr>
                          <m:t>i</m:t>
                        </m:r>
                      </m:sub>
                    </m:sSub>
                  </m:oMath>
                </a14:m>
                <a:r>
                  <a:rPr lang="zh-CN" altLang="en-US" dirty="0">
                    <a:latin typeface="微软雅黑" panose="020B0503020204020204" pitchFamily="34" charset="-122"/>
                    <a:ea typeface="微软雅黑" panose="020B0503020204020204" pitchFamily="34" charset="-122"/>
                  </a:rPr>
                  <a:t>收到所有节点对</a:t>
                </a:r>
                <a:r>
                  <a:rPr lang="en-US" altLang="zh-CN" dirty="0">
                    <a:latin typeface="微软雅黑" panose="020B0503020204020204" pitchFamily="34" charset="-122"/>
                    <a:ea typeface="微软雅黑" panose="020B0503020204020204" pitchFamily="34" charset="-122"/>
                  </a:rPr>
                  <a:t>&lt;prepare T&gt;</a:t>
                </a:r>
                <a:r>
                  <a:rPr lang="zh-CN" altLang="en-US" dirty="0">
                    <a:latin typeface="微软雅黑" panose="020B0503020204020204" pitchFamily="34" charset="-122"/>
                    <a:ea typeface="微软雅黑" panose="020B0503020204020204" pitchFamily="34" charset="-122"/>
                  </a:rPr>
                  <a:t>消息的回答时，或者从</a:t>
                </a:r>
                <a:r>
                  <a:rPr lang="en-US" altLang="zh-CN" dirty="0">
                    <a:latin typeface="微软雅黑" panose="020B0503020204020204" pitchFamily="34" charset="-122"/>
                    <a:ea typeface="微软雅黑" panose="020B0503020204020204" pitchFamily="34" charset="-122"/>
                  </a:rPr>
                  <a:t>&lt;prepare T&gt;</a:t>
                </a:r>
                <a:r>
                  <a:rPr lang="zh-CN" altLang="en-US" dirty="0">
                    <a:latin typeface="微软雅黑" panose="020B0503020204020204" pitchFamily="34" charset="-122"/>
                    <a:ea typeface="微软雅黑" panose="020B0503020204020204" pitchFamily="34" charset="-122"/>
                  </a:rPr>
                  <a:t>消息发送后一个预定的时间间隔已经过去时，</a:t>
                </a:r>
                <a:r>
                  <a:rPr lang="en-US" altLang="zh-CN" dirty="0">
                    <a:latin typeface="微软雅黑" panose="020B0503020204020204" pitchFamily="34" charset="-122"/>
                    <a:ea typeface="微软雅黑" panose="020B0503020204020204" pitchFamily="34" charset="-122"/>
                  </a:rPr>
                  <a:t>Ci</a:t>
                </a:r>
                <a:r>
                  <a:rPr lang="zh-CN" altLang="en-US" dirty="0">
                    <a:latin typeface="微软雅黑" panose="020B0503020204020204" pitchFamily="34" charset="-122"/>
                    <a:ea typeface="微软雅黑" panose="020B0503020204020204" pitchFamily="34" charset="-122"/>
                  </a:rPr>
                  <a:t>就可以确定是将事务</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提交还是中止。</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如果</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nor/>
                          </m:rPr>
                          <a:rPr lang="en-US" altLang="zh-CN" dirty="0">
                            <a:latin typeface="微软雅黑" panose="020B0503020204020204" pitchFamily="34" charset="-122"/>
                            <a:ea typeface="微软雅黑" panose="020B0503020204020204" pitchFamily="34" charset="-122"/>
                          </a:rPr>
                          <m:t>C</m:t>
                        </m:r>
                      </m:e>
                      <m:sub>
                        <m:r>
                          <m:rPr>
                            <m:nor/>
                          </m:rPr>
                          <a:rPr lang="en-US" altLang="zh-CN">
                            <a:latin typeface="Cambria Math" panose="02040503050406030204" pitchFamily="18" charset="0"/>
                            <a:ea typeface="微软雅黑" panose="020B0503020204020204" pitchFamily="34" charset="-122"/>
                          </a:rPr>
                          <m:t>i</m:t>
                        </m:r>
                      </m:sub>
                    </m:sSub>
                  </m:oMath>
                </a14:m>
                <a:r>
                  <a:rPr lang="zh-CN" altLang="en-US" dirty="0">
                    <a:latin typeface="微软雅黑" panose="020B0503020204020204" pitchFamily="34" charset="-122"/>
                    <a:ea typeface="微软雅黑" panose="020B0503020204020204" pitchFamily="34" charset="-122"/>
                  </a:rPr>
                  <a:t>从所有参与的节点都收到</a:t>
                </a:r>
                <a:r>
                  <a:rPr lang="en-US" altLang="zh-CN" dirty="0">
                    <a:latin typeface="微软雅黑" panose="020B0503020204020204" pitchFamily="34" charset="-122"/>
                    <a:ea typeface="微软雅黑" panose="020B0503020204020204" pitchFamily="34" charset="-122"/>
                  </a:rPr>
                  <a:t>&lt;ready T&gt;</a:t>
                </a:r>
                <a:r>
                  <a:rPr lang="zh-CN" altLang="en-US" dirty="0">
                    <a:latin typeface="微软雅黑" panose="020B0503020204020204" pitchFamily="34" charset="-122"/>
                    <a:ea typeface="微软雅黑" panose="020B0503020204020204" pitchFamily="34" charset="-122"/>
                  </a:rPr>
                  <a:t>消息，事务</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就可以被提交。</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否则，事务</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必须中止。</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根据结论的不同，将记录</a:t>
                </a:r>
                <a:r>
                  <a:rPr lang="en-US" altLang="zh-CN" dirty="0">
                    <a:latin typeface="微软雅黑" panose="020B0503020204020204" pitchFamily="34" charset="-122"/>
                    <a:ea typeface="微软雅黑" panose="020B0503020204020204" pitchFamily="34" charset="-122"/>
                  </a:rPr>
                  <a:t>&lt;commit T&gt;</a:t>
                </a:r>
                <a:r>
                  <a:rPr lang="zh-CN" altLang="en-US" dirty="0">
                    <a:latin typeface="微软雅黑" panose="020B0503020204020204" pitchFamily="34" charset="-122"/>
                    <a:ea typeface="微软雅黑" panose="020B0503020204020204" pitchFamily="34" charset="-122"/>
                  </a:rPr>
                  <a:t>或记录</a:t>
                </a:r>
                <a:r>
                  <a:rPr lang="en-US" altLang="zh-CN" dirty="0">
                    <a:latin typeface="微软雅黑" panose="020B0503020204020204" pitchFamily="34" charset="-122"/>
                    <a:ea typeface="微软雅黑" panose="020B0503020204020204" pitchFamily="34" charset="-122"/>
                  </a:rPr>
                  <a:t>&lt;abort T&gt;</a:t>
                </a:r>
                <a:r>
                  <a:rPr lang="zh-CN" altLang="en-US" dirty="0">
                    <a:latin typeface="微软雅黑" panose="020B0503020204020204" pitchFamily="34" charset="-122"/>
                    <a:ea typeface="微软雅黑" panose="020B0503020204020204" pitchFamily="34" charset="-122"/>
                  </a:rPr>
                  <a:t>加到日志中，并将日志强制写入稳定的存储器中。</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然后，协调器向所有的参与节点发送消息</a:t>
                </a:r>
                <a:r>
                  <a:rPr lang="en-US" altLang="zh-CN" dirty="0">
                    <a:latin typeface="微软雅黑" panose="020B0503020204020204" pitchFamily="34" charset="-122"/>
                    <a:ea typeface="微软雅黑" panose="020B0503020204020204" pitchFamily="34" charset="-122"/>
                  </a:rPr>
                  <a:t>&lt;commit T&gt;</a:t>
                </a:r>
                <a:r>
                  <a:rPr lang="zh-CN" altLang="en-US" dirty="0">
                    <a:latin typeface="微软雅黑" panose="020B0503020204020204" pitchFamily="34" charset="-122"/>
                    <a:ea typeface="微软雅黑" panose="020B0503020204020204" pitchFamily="34" charset="-122"/>
                  </a:rPr>
                  <a:t>或消息</a:t>
                </a:r>
                <a:r>
                  <a:rPr lang="en-US" altLang="zh-CN" dirty="0">
                    <a:latin typeface="微软雅黑" panose="020B0503020204020204" pitchFamily="34" charset="-122"/>
                    <a:ea typeface="微软雅黑" panose="020B0503020204020204" pitchFamily="34" charset="-122"/>
                  </a:rPr>
                  <a:t>&lt;abort T&gt;</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当参与节点上收到此消息，就把消息记录到日志中。</a:t>
                </a:r>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4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两阶段提交协议</a:t>
            </a:r>
            <a:endParaRPr lang="zh-CN" altLang="en-US" sz="2800" b="1" dirty="0">
              <a:latin typeface="微软雅黑" panose="020B0503020204020204" pitchFamily="34" charset="-122"/>
              <a:ea typeface="微软雅黑" panose="020B0503020204020204" pitchFamily="34" charset="-122"/>
            </a:endParaRPr>
          </a:p>
        </p:txBody>
      </p:sp>
      <p:pic>
        <p:nvPicPr>
          <p:cNvPr id="2" name="Picture 3"/>
          <p:cNvPicPr>
            <a:picLocks noGrp="1" noRot="1" noChangeAspect="1"/>
          </p:cNvPicPr>
          <p:nvPr/>
        </p:nvPicPr>
        <p:blipFill>
          <a:blip r:embed="rId1"/>
          <a:srcRect/>
          <a:stretch>
            <a:fillRect/>
          </a:stretch>
        </p:blipFill>
        <p:spPr>
          <a:xfrm>
            <a:off x="2984998" y="1884829"/>
            <a:ext cx="5835152" cy="475059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分布式并发控制</a:t>
            </a:r>
            <a:endParaRPr lang="en-US" altLang="zh-CN" sz="28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对集中式系统的并发控制模式进行修改，以适用于分布式环境，需考虑：</a:t>
            </a:r>
            <a:endParaRPr lang="zh-CN" altLang="en-US"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封锁管理器的位置</a:t>
            </a:r>
            <a:endParaRPr lang="zh-CN" altLang="en-US"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多副本的封锁</a:t>
            </a:r>
            <a:endParaRPr lang="zh-CN" altLang="en-US"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全局的死锁处理</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等问题</a:t>
            </a:r>
            <a:endParaRPr lang="zh-CN" altLang="en-US" dirty="0">
              <a:latin typeface="微软雅黑" panose="020B0503020204020204" pitchFamily="34" charset="-122"/>
              <a:ea typeface="微软雅黑" panose="020B0503020204020204" pitchFamily="34" charset="-122"/>
            </a:endParaRPr>
          </a:p>
          <a:p>
            <a:pPr eaLnBrk="1" hangingPunct="1"/>
            <a:endParaRPr lang="zh-CN" altLang="en-US" sz="3200" b="1" dirty="0">
              <a:ea typeface="楷体_GB2312"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marL="228600" lvl="1">
              <a:lnSpc>
                <a:spcPct val="130000"/>
              </a:lnSpc>
              <a:spcBef>
                <a:spcPts val="1000"/>
              </a:spcBef>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分布式并发控制</a:t>
            </a:r>
            <a:endParaRPr lang="en-US" altLang="zh-CN" sz="28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方法</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单一锁管理器方式</a:t>
            </a:r>
            <a:endParaRPr lang="zh-CN" altLang="en-US" sz="2100"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多协调器方式 </a:t>
            </a:r>
            <a:endParaRPr lang="zh-CN" altLang="en-US" sz="2100"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多数协议</a:t>
            </a:r>
            <a:endParaRPr lang="zh-CN" altLang="en-US" sz="2100"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有偏协议 </a:t>
            </a:r>
            <a:endParaRPr lang="zh-CN" altLang="en-US" sz="2100"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主副本</a:t>
            </a:r>
            <a:endParaRPr lang="zh-CN" altLang="en-US" sz="2100"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100" dirty="0">
                <a:latin typeface="微软雅黑" panose="020B0503020204020204" pitchFamily="34" charset="-122"/>
                <a:ea typeface="微软雅黑" panose="020B0503020204020204" pitchFamily="34" charset="-122"/>
              </a:rPr>
              <a:t>死锁处理 </a:t>
            </a:r>
            <a:endParaRPr lang="zh-CN" altLang="en-US" sz="2100" dirty="0">
              <a:latin typeface="微软雅黑" panose="020B0503020204020204" pitchFamily="34" charset="-122"/>
              <a:ea typeface="微软雅黑" panose="020B0503020204020204" pitchFamily="34" charset="-122"/>
            </a:endParaRPr>
          </a:p>
          <a:p>
            <a:pPr eaLnBrk="1" hangingPunct="1"/>
            <a:endParaRPr lang="zh-CN" altLang="en-US" sz="3200" b="1" dirty="0">
              <a:ea typeface="楷体_GB2312"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fontScale="92500"/>
          </a:bodyPr>
          <a:lstStyle/>
          <a:p>
            <a:pPr eaLnBrk="1" hangingPunct="1"/>
            <a:r>
              <a:rPr lang="zh-CN" altLang="en-US" sz="3000" b="1" dirty="0">
                <a:latin typeface="微软雅黑" panose="020B0503020204020204" pitchFamily="34" charset="-122"/>
                <a:ea typeface="微软雅黑" panose="020B0503020204020204" pitchFamily="34" charset="-122"/>
              </a:rPr>
              <a:t>分布式并发控制</a:t>
            </a:r>
            <a:endParaRPr lang="en-US" altLang="zh-CN" sz="30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单一锁管理器方式</a:t>
            </a:r>
            <a:endParaRPr lang="zh-CN" altLang="en-US" sz="2500"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整个系统维护一个锁管理器，位于选定的节点</a:t>
            </a:r>
            <a:r>
              <a:rPr lang="en-US" altLang="zh-CN" sz="2100" dirty="0">
                <a:latin typeface="微软雅黑" panose="020B0503020204020204" pitchFamily="34" charset="-122"/>
                <a:ea typeface="微软雅黑" panose="020B0503020204020204" pitchFamily="34" charset="-122"/>
              </a:rPr>
              <a:t>Si</a:t>
            </a:r>
            <a:r>
              <a:rPr lang="zh-CN" altLang="en-US" sz="2100" dirty="0">
                <a:latin typeface="微软雅黑" panose="020B0503020204020204" pitchFamily="34" charset="-122"/>
                <a:ea typeface="微软雅黑" panose="020B0503020204020204" pitchFamily="34" charset="-122"/>
              </a:rPr>
              <a:t>上。所有封锁和解锁请求都在节点</a:t>
            </a:r>
            <a:r>
              <a:rPr lang="en-US" altLang="zh-CN" sz="2100" dirty="0">
                <a:latin typeface="微软雅黑" panose="020B0503020204020204" pitchFamily="34" charset="-122"/>
                <a:ea typeface="微软雅黑" panose="020B0503020204020204" pitchFamily="34" charset="-122"/>
              </a:rPr>
              <a:t>Si</a:t>
            </a:r>
            <a:r>
              <a:rPr lang="zh-CN" altLang="en-US" sz="2100" dirty="0">
                <a:latin typeface="微软雅黑" panose="020B0503020204020204" pitchFamily="34" charset="-122"/>
                <a:ea typeface="微软雅黑" panose="020B0503020204020204" pitchFamily="34" charset="-122"/>
              </a:rPr>
              <a:t>处理。</a:t>
            </a:r>
            <a:endParaRPr lang="zh-CN" altLang="en-US" sz="2100"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优点：</a:t>
            </a:r>
            <a:endParaRPr lang="zh-CN" altLang="en-US" sz="2500"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实现简单</a:t>
            </a:r>
            <a:endParaRPr lang="zh-CN" altLang="en-US" sz="2100"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死锁处理简单 </a:t>
            </a:r>
            <a:endParaRPr lang="zh-CN" altLang="en-US" sz="2100"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缺点：</a:t>
            </a:r>
            <a:endParaRPr lang="zh-CN" altLang="en-US" sz="2500"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节点</a:t>
            </a:r>
            <a:r>
              <a:rPr lang="en-US" altLang="zh-CN" sz="2100" dirty="0">
                <a:latin typeface="微软雅黑" panose="020B0503020204020204" pitchFamily="34" charset="-122"/>
                <a:ea typeface="微软雅黑" panose="020B0503020204020204" pitchFamily="34" charset="-122"/>
              </a:rPr>
              <a:t>Si</a:t>
            </a:r>
            <a:r>
              <a:rPr lang="zh-CN" altLang="en-US" sz="2100" dirty="0">
                <a:latin typeface="微软雅黑" panose="020B0503020204020204" pitchFamily="34" charset="-122"/>
                <a:ea typeface="微软雅黑" panose="020B0503020204020204" pitchFamily="34" charset="-122"/>
              </a:rPr>
              <a:t>成为瓶颈 </a:t>
            </a:r>
            <a:endParaRPr lang="zh-CN" altLang="en-US" sz="2100"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脆弱性</a:t>
            </a:r>
            <a:endParaRPr lang="zh-CN" altLang="en-US" sz="2100" dirty="0">
              <a:latin typeface="微软雅黑" panose="020B0503020204020204" pitchFamily="34" charset="-122"/>
              <a:ea typeface="微软雅黑" panose="020B0503020204020204" pitchFamily="34" charset="-122"/>
            </a:endParaRPr>
          </a:p>
          <a:p>
            <a:pPr eaLnBrk="1" hangingPunct="1"/>
            <a:endParaRPr lang="zh-CN" altLang="en-US" sz="3200" b="1" dirty="0">
              <a:ea typeface="楷体_GB2312"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分布式并发控制</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多协调器方式</a:t>
            </a:r>
            <a:endParaRPr lang="zh-CN" altLang="en-US" sz="25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系统维护位于几个节点上的几个封锁管理器，每个封锁管理器管理封锁和解锁请求的一个子集。</a:t>
            </a:r>
            <a:endParaRPr lang="zh-CN" altLang="en-US" sz="21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优点：降低了协调器成为瓶颈的程度。</a:t>
            </a:r>
            <a:endParaRPr lang="zh-CN" altLang="en-US" sz="21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缺点：死锁处理变得复杂。 </a:t>
            </a: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分布式并发控制</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多数协议</a:t>
                </a:r>
                <a:endParaRPr lang="zh-CN" altLang="en-US" sz="25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以一种分散的方式处理复制数据，每个节点维护自己局部的锁管理器，管理对存储在该节点上的数据所进行的封锁和解锁请求。</a:t>
                </a:r>
                <a:endParaRPr lang="zh-CN" altLang="en-US" sz="21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当事务希望封锁存储在节点</a:t>
                </a:r>
                <a14:m>
                  <m:oMath xmlns:m="http://schemas.openxmlformats.org/officeDocument/2006/math">
                    <m:sSub>
                      <m:sSubPr>
                        <m:ctrlPr>
                          <a:rPr lang="en-US" altLang="zh-CN" sz="2100" i="1" smtClean="0">
                            <a:latin typeface="Cambria Math" panose="02040503050406030204" pitchFamily="18" charset="0"/>
                            <a:ea typeface="微软雅黑" panose="020B0503020204020204" pitchFamily="34" charset="-122"/>
                          </a:rPr>
                        </m:ctrlPr>
                      </m:sSubPr>
                      <m:e>
                        <m:r>
                          <m:rPr>
                            <m:nor/>
                          </m:rPr>
                          <a:rPr lang="en-US" altLang="zh-CN" sz="2100" dirty="0">
                            <a:latin typeface="微软雅黑" panose="020B0503020204020204" pitchFamily="34" charset="-122"/>
                            <a:ea typeface="微软雅黑" panose="020B0503020204020204" pitchFamily="34" charset="-122"/>
                          </a:rPr>
                          <m:t>S</m:t>
                        </m:r>
                      </m:e>
                      <m:sub>
                        <m:r>
                          <a:rPr lang="en-US" altLang="zh-CN" sz="2100" b="0" i="1" smtClean="0">
                            <a:latin typeface="Cambria Math" panose="02040503050406030204" pitchFamily="18" charset="0"/>
                            <a:ea typeface="微软雅黑" panose="020B0503020204020204" pitchFamily="34" charset="-122"/>
                          </a:rPr>
                          <m:t>𝑖</m:t>
                        </m:r>
                      </m:sub>
                    </m:sSub>
                  </m:oMath>
                </a14:m>
                <a:r>
                  <a:rPr lang="zh-CN" altLang="en-US" sz="2100" dirty="0">
                    <a:latin typeface="微软雅黑" panose="020B0503020204020204" pitchFamily="34" charset="-122"/>
                    <a:ea typeface="微软雅黑" panose="020B0503020204020204" pitchFamily="34" charset="-122"/>
                  </a:rPr>
                  <a:t>且未被复制的数据项</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时，发送请求封锁的消息给节点</a:t>
                </a:r>
                <a14:m>
                  <m:oMath xmlns:m="http://schemas.openxmlformats.org/officeDocument/2006/math">
                    <m:sSub>
                      <m:sSubPr>
                        <m:ctrlPr>
                          <a:rPr lang="en-US" altLang="zh-CN" sz="2100" i="1">
                            <a:latin typeface="Cambria Math" panose="02040503050406030204" pitchFamily="18" charset="0"/>
                            <a:ea typeface="微软雅黑" panose="020B0503020204020204" pitchFamily="34" charset="-122"/>
                          </a:rPr>
                        </m:ctrlPr>
                      </m:sSubPr>
                      <m:e>
                        <m:r>
                          <m:rPr>
                            <m:nor/>
                          </m:rPr>
                          <a:rPr lang="en-US" altLang="zh-CN" sz="2100" dirty="0">
                            <a:latin typeface="微软雅黑" panose="020B0503020204020204" pitchFamily="34" charset="-122"/>
                            <a:ea typeface="微软雅黑" panose="020B0503020204020204" pitchFamily="34" charset="-122"/>
                          </a:rPr>
                          <m:t>S</m:t>
                        </m:r>
                      </m:e>
                      <m:sub>
                        <m:r>
                          <a:rPr lang="en-US" altLang="zh-CN" sz="2100" i="1">
                            <a:latin typeface="Cambria Math" panose="02040503050406030204" pitchFamily="18" charset="0"/>
                            <a:ea typeface="微软雅黑" panose="020B0503020204020204" pitchFamily="34" charset="-122"/>
                          </a:rPr>
                          <m:t>𝑖</m:t>
                        </m:r>
                      </m:sub>
                    </m:sSub>
                  </m:oMath>
                </a14:m>
                <a:r>
                  <a:rPr lang="zh-CN" altLang="en-US" sz="2100" dirty="0">
                    <a:latin typeface="微软雅黑" panose="020B0503020204020204" pitchFamily="34" charset="-122"/>
                    <a:ea typeface="微软雅黑" panose="020B0503020204020204" pitchFamily="34" charset="-122"/>
                  </a:rPr>
                  <a:t>上的锁管理器。 </a:t>
                </a:r>
                <a:endParaRPr lang="zh-CN" altLang="en-US" sz="21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如果数据项</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在</a:t>
                </a:r>
                <a:r>
                  <a:rPr lang="en-US" altLang="zh-CN" sz="2100" dirty="0">
                    <a:latin typeface="微软雅黑" panose="020B0503020204020204" pitchFamily="34" charset="-122"/>
                    <a:ea typeface="微软雅黑" panose="020B0503020204020204" pitchFamily="34" charset="-122"/>
                  </a:rPr>
                  <a:t>n</a:t>
                </a:r>
                <a:r>
                  <a:rPr lang="zh-CN" altLang="en-US" sz="2100" dirty="0">
                    <a:latin typeface="微软雅黑" panose="020B0503020204020204" pitchFamily="34" charset="-122"/>
                    <a:ea typeface="微软雅黑" panose="020B0503020204020204" pitchFamily="34" charset="-122"/>
                  </a:rPr>
                  <a:t>个不同的节点上被复制，则封锁请求必须送到存储</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的</a:t>
                </a:r>
                <a:r>
                  <a:rPr lang="en-US" altLang="zh-CN" sz="2100" dirty="0">
                    <a:latin typeface="微软雅黑" panose="020B0503020204020204" pitchFamily="34" charset="-122"/>
                    <a:ea typeface="微软雅黑" panose="020B0503020204020204" pitchFamily="34" charset="-122"/>
                  </a:rPr>
                  <a:t>n</a:t>
                </a:r>
                <a:r>
                  <a:rPr lang="zh-CN" altLang="en-US" sz="2100" dirty="0">
                    <a:latin typeface="微软雅黑" panose="020B0503020204020204" pitchFamily="34" charset="-122"/>
                    <a:ea typeface="微软雅黑" panose="020B0503020204020204" pitchFamily="34" charset="-122"/>
                  </a:rPr>
                  <a:t>个节点的一半以上节点上去。</a:t>
                </a:r>
                <a:endParaRPr lang="zh-CN" altLang="en-US" sz="2100"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只有获得</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的多数副本上的封锁，事务才开始</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上的操作。 </a:t>
                </a:r>
                <a:endParaRPr lang="zh-CN" altLang="en-US" sz="2100"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分布式并发控制</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优点：</a:t>
            </a:r>
            <a:endParaRPr lang="zh-CN" altLang="en-US" sz="2500"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 当数据只有一个副本时实现简单</a:t>
            </a:r>
            <a:endParaRPr lang="zh-CN" altLang="en-US" sz="2100"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缺点：  </a:t>
            </a:r>
            <a:endParaRPr lang="zh-CN" altLang="en-US" sz="25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当存在多个数据副本时实现复杂</a:t>
            </a:r>
            <a:endParaRPr lang="zh-CN" altLang="en-US" sz="21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死锁处理复杂</a:t>
            </a: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封锁协议</a:t>
            </a:r>
            <a:endParaRPr lang="en-US" altLang="zh-CN" b="1" dirty="0">
              <a:latin typeface="微软雅黑" panose="020B0503020204020204" pitchFamily="34" charset="-122"/>
              <a:ea typeface="微软雅黑" panose="020B0503020204020204" pitchFamily="34" charset="-122"/>
            </a:endParaRPr>
          </a:p>
          <a:p>
            <a:pPr marR="0" lvl="1" fontAlgn="base">
              <a:lnSpc>
                <a:spcPct val="140000"/>
              </a:lnSpc>
              <a:spcAft>
                <a:spcPct val="0"/>
              </a:spcAft>
              <a:buClr>
                <a:schemeClr val="hlink"/>
              </a:buClr>
              <a:buSzTx/>
              <a:defRPr/>
            </a:pPr>
            <a:r>
              <a:rPr lang="zh-CN" altLang="en-US" noProof="1">
                <a:latin typeface="微软雅黑" panose="020B0503020204020204" pitchFamily="34" charset="-122"/>
                <a:ea typeface="微软雅黑" panose="020B0503020204020204" pitchFamily="34" charset="-122"/>
              </a:rPr>
              <a:t>有偏协议</a:t>
            </a:r>
            <a:endParaRPr lang="zh-CN" altLang="en-US" noProof="1">
              <a:latin typeface="微软雅黑" panose="020B0503020204020204" pitchFamily="34" charset="-122"/>
              <a:ea typeface="微软雅黑" panose="020B0503020204020204" pitchFamily="34" charset="-122"/>
            </a:endParaRPr>
          </a:p>
          <a:p>
            <a:pPr marR="0" lvl="2" fontAlgn="base">
              <a:lnSpc>
                <a:spcPct val="170000"/>
              </a:lnSpc>
              <a:spcAft>
                <a:spcPct val="0"/>
              </a:spcAft>
              <a:buClr>
                <a:schemeClr val="hlink"/>
              </a:buClr>
              <a:buSzTx/>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类似于多数协议，但共享锁请求受到的待遇比排他锁请求受到的待遇要优越一些。</a:t>
            </a:r>
            <a:endParaRPr lang="zh-CN" altLang="en-US" noProof="1">
              <a:latin typeface="微软雅黑" panose="020B0503020204020204" pitchFamily="34" charset="-122"/>
              <a:ea typeface="微软雅黑" panose="020B0503020204020204" pitchFamily="34" charset="-122"/>
            </a:endParaRPr>
          </a:p>
          <a:p>
            <a:pPr marR="0" lvl="2" fontAlgn="base">
              <a:lnSpc>
                <a:spcPct val="170000"/>
              </a:lnSpc>
              <a:spcAft>
                <a:spcPct val="0"/>
              </a:spcAft>
              <a:buClr>
                <a:schemeClr val="hlink"/>
              </a:buClr>
              <a:buSzTx/>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每个节点上维护一个锁管理器，管理存储在该节点的所有数据项上的锁。</a:t>
            </a:r>
            <a:endParaRPr lang="zh-CN" altLang="en-US" noProof="1">
              <a:latin typeface="微软雅黑" panose="020B0503020204020204" pitchFamily="34" charset="-122"/>
              <a:ea typeface="微软雅黑" panose="020B0503020204020204" pitchFamily="34" charset="-122"/>
            </a:endParaRPr>
          </a:p>
          <a:p>
            <a:pPr marR="0" lvl="2" fontAlgn="base">
              <a:lnSpc>
                <a:spcPct val="170000"/>
              </a:lnSpc>
              <a:spcAft>
                <a:spcPct val="0"/>
              </a:spcAft>
              <a:buClr>
                <a:schemeClr val="hlink"/>
              </a:buClr>
              <a:buSzTx/>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 共享锁请求：事务需要封锁数据项Q时，只需要向包含Q的副本的一个节点上的锁管理器请求封锁。</a:t>
            </a:r>
            <a:endParaRPr lang="zh-CN" altLang="en-US" noProof="1">
              <a:latin typeface="微软雅黑" panose="020B0503020204020204" pitchFamily="34" charset="-122"/>
              <a:ea typeface="微软雅黑" panose="020B0503020204020204" pitchFamily="34" charset="-122"/>
            </a:endParaRPr>
          </a:p>
          <a:p>
            <a:pPr marR="0" lvl="2" fontAlgn="base">
              <a:lnSpc>
                <a:spcPct val="170000"/>
              </a:lnSpc>
              <a:spcAft>
                <a:spcPct val="0"/>
              </a:spcAft>
              <a:buClr>
                <a:schemeClr val="hlink"/>
              </a:buClr>
              <a:buSzTx/>
              <a:buFont typeface="Wingdings" panose="05000000000000000000" pitchFamily="2" charset="2"/>
              <a:buChar char="ü"/>
              <a:defRPr/>
            </a:pPr>
            <a:r>
              <a:rPr lang="zh-CN" altLang="en-US" noProof="1">
                <a:latin typeface="微软雅黑" panose="020B0503020204020204" pitchFamily="34" charset="-122"/>
                <a:ea typeface="微软雅黑" panose="020B0503020204020204" pitchFamily="34" charset="-122"/>
              </a:rPr>
              <a:t>排他锁请求：事务需要封锁数据项Q时，需要向包含Q的副本的所有节点上的锁管理器请求封锁。</a:t>
            </a:r>
            <a:endParaRPr lang="zh-CN" altLang="en-US"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封锁协议</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优点：</a:t>
            </a:r>
            <a:endParaRPr lang="zh-CN" altLang="en-US"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read</a:t>
            </a:r>
            <a:r>
              <a:rPr lang="zh-CN" altLang="en-US" dirty="0">
                <a:latin typeface="微软雅黑" panose="020B0503020204020204" pitchFamily="34" charset="-122"/>
                <a:ea typeface="微软雅黑" panose="020B0503020204020204" pitchFamily="34" charset="-122"/>
              </a:rPr>
              <a:t>操作上的开销比多数协议小 </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缺点：  </a:t>
            </a:r>
            <a:endParaRPr lang="zh-CN" altLang="en-US"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write</a:t>
            </a:r>
            <a:r>
              <a:rPr lang="zh-CN" altLang="en-US" dirty="0">
                <a:latin typeface="微软雅黑" panose="020B0503020204020204" pitchFamily="34" charset="-122"/>
                <a:ea typeface="微软雅黑" panose="020B0503020204020204" pitchFamily="34" charset="-122"/>
              </a:rPr>
              <a:t>操作的开销比多数协议大 </a:t>
            </a:r>
            <a:endParaRPr lang="zh-CN" altLang="en-US"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死锁处理复杂</a:t>
            </a:r>
            <a:endParaRPr lang="zh-CN" altLang="en-US"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sz="3200" b="1" dirty="0">
                <a:latin typeface="微软雅黑" panose="020B0503020204020204" pitchFamily="34" charset="-122"/>
                <a:ea typeface="微软雅黑" panose="020B0503020204020204" pitchFamily="34" charset="-122"/>
              </a:rPr>
              <a:t>封锁协议</a:t>
            </a:r>
            <a:endParaRPr lang="en-US" altLang="zh-CN" sz="32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sz="2500" dirty="0">
                <a:latin typeface="微软雅黑" panose="020B0503020204020204" pitchFamily="34" charset="-122"/>
                <a:ea typeface="微软雅黑" panose="020B0503020204020204" pitchFamily="34" charset="-122"/>
              </a:rPr>
              <a:t>主副本</a:t>
            </a:r>
            <a:endParaRPr lang="zh-CN" altLang="en-US" sz="25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选择数据的多个副本中的一个作为主副本。数据项</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的主副本所位于的节点称为</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的主节点。</a:t>
            </a:r>
            <a:endParaRPr lang="zh-CN" altLang="en-US" sz="21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事务需要封锁数据项</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时，在</a:t>
            </a:r>
            <a:r>
              <a:rPr lang="en-US" altLang="zh-CN" sz="2100" dirty="0">
                <a:latin typeface="微软雅黑" panose="020B0503020204020204" pitchFamily="34" charset="-122"/>
                <a:ea typeface="微软雅黑" panose="020B0503020204020204" pitchFamily="34" charset="-122"/>
              </a:rPr>
              <a:t>Q</a:t>
            </a:r>
            <a:r>
              <a:rPr lang="zh-CN" altLang="en-US" sz="2100" dirty="0">
                <a:latin typeface="微软雅黑" panose="020B0503020204020204" pitchFamily="34" charset="-122"/>
                <a:ea typeface="微软雅黑" panose="020B0503020204020204" pitchFamily="34" charset="-122"/>
              </a:rPr>
              <a:t>的主节点上请求封锁。</a:t>
            </a:r>
            <a:endParaRPr lang="zh-CN" altLang="en-US" sz="21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优点：实现简单</a:t>
            </a:r>
            <a:endParaRPr lang="zh-CN" altLang="en-US" sz="2100" dirty="0">
              <a:latin typeface="微软雅黑" panose="020B0503020204020204" pitchFamily="34" charset="-122"/>
              <a:ea typeface="微软雅黑" panose="020B0503020204020204" pitchFamily="34" charset="-122"/>
            </a:endParaRPr>
          </a:p>
          <a:p>
            <a:pPr lvl="2" fontAlgn="base">
              <a:lnSpc>
                <a:spcPct val="170000"/>
              </a:lnSpc>
              <a:spcAft>
                <a:spcPct val="0"/>
              </a:spcAft>
              <a:buClr>
                <a:schemeClr val="hlink"/>
              </a:buClr>
              <a:buFont typeface="Wingdings" panose="05000000000000000000" pitchFamily="2" charset="2"/>
              <a:buChar char="ü"/>
              <a:defRPr/>
            </a:pPr>
            <a:r>
              <a:rPr lang="zh-CN" altLang="en-US" sz="2100" dirty="0">
                <a:latin typeface="微软雅黑" panose="020B0503020204020204" pitchFamily="34" charset="-122"/>
                <a:ea typeface="微软雅黑" panose="020B0503020204020204" pitchFamily="34" charset="-122"/>
              </a:rPr>
              <a:t>缺点：可用性降低</a:t>
            </a:r>
            <a:endParaRPr lang="zh-CN" altLang="en-US" sz="21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a:bodyPr>
              <a:lstStyle/>
              <a:p>
                <a:pPr eaLnBrk="1" hangingPunct="1"/>
                <a:r>
                  <a:rPr lang="zh-CN" altLang="en-US" b="1" dirty="0">
                    <a:ea typeface="楷体_GB2312" pitchFamily="49" charset="-122"/>
                  </a:rPr>
                  <a:t>封锁协议</a:t>
                </a:r>
                <a:endParaRPr lang="en-US" altLang="zh-CN" b="1" dirty="0">
                  <a:ea typeface="楷体_GB2312" pitchFamily="49"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死锁处理</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通过等待图进行死锁检测的方法</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局部等待图：每个节点维护一个局部等待图，图中节点对应于目前占有或请求该节点上任何数据项的事务，边</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m:rPr>
                            <m:nor/>
                          </m:rPr>
                          <a:rPr lang="en-US" altLang="zh-CN" b="0" i="0" smtClean="0">
                            <a:latin typeface="Cambria Math" panose="02040503050406030204" pitchFamily="18" charset="0"/>
                            <a:ea typeface="微软雅黑" panose="020B0503020204020204" pitchFamily="34" charset="-122"/>
                          </a:rPr>
                          <m:t>T</m:t>
                        </m:r>
                      </m:e>
                      <m:sub>
                        <m:r>
                          <m:rPr>
                            <m:nor/>
                          </m:rPr>
                          <a:rPr lang="en-US" altLang="zh-CN" b="0" i="0" smtClean="0">
                            <a:latin typeface="Cambria Math" panose="02040503050406030204" pitchFamily="18" charset="0"/>
                            <a:ea typeface="微软雅黑" panose="020B0503020204020204" pitchFamily="34" charset="-122"/>
                          </a:rPr>
                          <m:t>i</m:t>
                        </m:r>
                      </m:sub>
                    </m:sSub>
                  </m:oMath>
                </a14:m>
                <a:r>
                  <a:rPr lang="en-US" altLang="zh-CN" dirty="0">
                    <a:latin typeface="微软雅黑" panose="020B0503020204020204" pitchFamily="34" charset="-122"/>
                    <a:ea typeface="微软雅黑" panose="020B0503020204020204" pitchFamily="34" charset="-122"/>
                    <a:sym typeface="Symbol" panose="05050102010706020507" pitchFamily="18" charset="2"/>
                  </a:rPr>
                  <a:t> </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nor/>
                          </m:rPr>
                          <a:rPr lang="en-US" altLang="zh-CN">
                            <a:latin typeface="Cambria Math" panose="02040503050406030204" pitchFamily="18" charset="0"/>
                            <a:ea typeface="微软雅黑" panose="020B0503020204020204" pitchFamily="34" charset="-122"/>
                          </a:rPr>
                          <m:t>T</m:t>
                        </m:r>
                      </m:e>
                      <m:sub>
                        <m:r>
                          <m:rPr>
                            <m:nor/>
                          </m:rPr>
                          <a:rPr lang="en-US" altLang="zh-CN" b="0" i="0" smtClean="0">
                            <a:latin typeface="Cambria Math" panose="02040503050406030204" pitchFamily="18" charset="0"/>
                            <a:ea typeface="微软雅黑" panose="020B0503020204020204" pitchFamily="34" charset="-122"/>
                          </a:rPr>
                          <m:t>j</m:t>
                        </m:r>
                      </m:sub>
                    </m:sSub>
                  </m:oMath>
                </a14:m>
                <a:r>
                  <a:rPr lang="zh-CN" altLang="en-US" dirty="0">
                    <a:latin typeface="微软雅黑" panose="020B0503020204020204" pitchFamily="34" charset="-122"/>
                    <a:ea typeface="微软雅黑" panose="020B0503020204020204" pitchFamily="34" charset="-122"/>
                  </a:rPr>
                  <a:t>表示事务</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nor/>
                          </m:rPr>
                          <a:rPr lang="en-US" altLang="zh-CN">
                            <a:latin typeface="Cambria Math" panose="02040503050406030204" pitchFamily="18" charset="0"/>
                            <a:ea typeface="微软雅黑" panose="020B0503020204020204" pitchFamily="34" charset="-122"/>
                          </a:rPr>
                          <m:t>T</m:t>
                        </m:r>
                      </m:e>
                      <m:sub>
                        <m:r>
                          <m:rPr>
                            <m:nor/>
                          </m:rPr>
                          <a:rPr lang="en-US" altLang="zh-CN">
                            <a:latin typeface="Cambria Math" panose="02040503050406030204" pitchFamily="18" charset="0"/>
                            <a:ea typeface="微软雅黑" panose="020B0503020204020204" pitchFamily="34" charset="-122"/>
                          </a:rPr>
                          <m:t>i</m:t>
                        </m:r>
                      </m:sub>
                    </m:sSub>
                  </m:oMath>
                </a14:m>
                <a:r>
                  <a:rPr lang="zh-CN" altLang="en-US" dirty="0">
                    <a:latin typeface="微软雅黑" panose="020B0503020204020204" pitchFamily="34" charset="-122"/>
                    <a:ea typeface="微软雅黑" panose="020B0503020204020204" pitchFamily="34" charset="-122"/>
                  </a:rPr>
                  <a:t>等待事务</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nor/>
                          </m:rPr>
                          <a:rPr lang="en-US" altLang="zh-CN">
                            <a:latin typeface="Cambria Math" panose="02040503050406030204" pitchFamily="18" charset="0"/>
                            <a:ea typeface="微软雅黑" panose="020B0503020204020204" pitchFamily="34" charset="-122"/>
                          </a:rPr>
                          <m:t>T</m:t>
                        </m:r>
                      </m:e>
                      <m:sub>
                        <m:r>
                          <m:rPr>
                            <m:nor/>
                          </m:rPr>
                          <a:rPr lang="en-US" altLang="zh-CN">
                            <a:latin typeface="Cambria Math" panose="02040503050406030204" pitchFamily="18" charset="0"/>
                            <a:ea typeface="微软雅黑" panose="020B0503020204020204" pitchFamily="34" charset="-122"/>
                          </a:rPr>
                          <m:t>j</m:t>
                        </m:r>
                      </m:sub>
                    </m:sSub>
                  </m:oMath>
                </a14:m>
                <a:r>
                  <a:rPr lang="zh-CN" altLang="en-US" dirty="0">
                    <a:latin typeface="微软雅黑" panose="020B0503020204020204" pitchFamily="34" charset="-122"/>
                    <a:ea typeface="微软雅黑" panose="020B0503020204020204" pitchFamily="34" charset="-122"/>
                  </a:rPr>
                  <a:t>释放所需数据项。</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全局等待图：各个节点的局部等待图的并。</a:t>
                </a:r>
                <a:endParaRPr lang="zh-CN" altLang="en-US" dirty="0">
                  <a:latin typeface="微软雅黑" panose="020B0503020204020204" pitchFamily="34" charset="-122"/>
                  <a:ea typeface="微软雅黑" panose="020B0503020204020204" pitchFamily="34" charset="-122"/>
                </a:endParaRPr>
              </a:p>
            </p:txBody>
          </p:sp>
        </mc:Choice>
        <mc:Fallback>
          <p:sp>
            <p:nvSpPr>
              <p:cNvPr id="7" name="内容占位符 6"/>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封锁协议</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如果某个局部等待图中存在环，则发生了死锁。</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如果任何局部等待图中都不存在环，也可能发生了死锁，因为可能全局等待图中存在环。</a:t>
            </a:r>
            <a:endParaRPr lang="zh-CN" altLang="en-US" dirty="0">
              <a:latin typeface="微软雅黑" panose="020B0503020204020204" pitchFamily="34" charset="-122"/>
              <a:ea typeface="微软雅黑" panose="020B0503020204020204" pitchFamily="34" charset="-122"/>
            </a:endParaRPr>
          </a:p>
        </p:txBody>
      </p:sp>
      <p:sp>
        <p:nvSpPr>
          <p:cNvPr id="2" name="Oval 4"/>
          <p:cNvSpPr/>
          <p:nvPr/>
        </p:nvSpPr>
        <p:spPr>
          <a:xfrm>
            <a:off x="25908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1</a:t>
            </a:r>
            <a:endParaRPr lang="en-US" altLang="zh-CN" sz="1400" dirty="0">
              <a:latin typeface="Book Antiqua" panose="02040602050305030304" pitchFamily="18" charset="0"/>
              <a:ea typeface="楷体_GB2312" pitchFamily="49" charset="-122"/>
            </a:endParaRPr>
          </a:p>
        </p:txBody>
      </p:sp>
      <p:sp>
        <p:nvSpPr>
          <p:cNvPr id="6" name="Oval 5"/>
          <p:cNvSpPr/>
          <p:nvPr/>
        </p:nvSpPr>
        <p:spPr>
          <a:xfrm>
            <a:off x="3429000" y="48133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3</a:t>
            </a:r>
            <a:endParaRPr lang="en-US" altLang="zh-CN" sz="1400" dirty="0">
              <a:latin typeface="Book Antiqua" panose="02040602050305030304" pitchFamily="18" charset="0"/>
              <a:ea typeface="楷体_GB2312" pitchFamily="49" charset="-122"/>
            </a:endParaRPr>
          </a:p>
        </p:txBody>
      </p:sp>
      <p:sp>
        <p:nvSpPr>
          <p:cNvPr id="8" name="Oval 6"/>
          <p:cNvSpPr/>
          <p:nvPr/>
        </p:nvSpPr>
        <p:spPr>
          <a:xfrm>
            <a:off x="4495800" y="48133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3</a:t>
            </a:r>
            <a:endParaRPr lang="en-US" altLang="zh-CN" sz="1400" dirty="0">
              <a:latin typeface="Book Antiqua" panose="02040602050305030304" pitchFamily="18" charset="0"/>
              <a:ea typeface="楷体_GB2312" pitchFamily="49" charset="-122"/>
            </a:endParaRPr>
          </a:p>
        </p:txBody>
      </p:sp>
      <p:sp>
        <p:nvSpPr>
          <p:cNvPr id="9" name="Oval 7"/>
          <p:cNvSpPr/>
          <p:nvPr/>
        </p:nvSpPr>
        <p:spPr>
          <a:xfrm>
            <a:off x="82296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2</a:t>
            </a:r>
            <a:endParaRPr lang="en-US" altLang="zh-CN" sz="1400" dirty="0">
              <a:latin typeface="Book Antiqua" panose="02040602050305030304" pitchFamily="18" charset="0"/>
              <a:ea typeface="楷体_GB2312" pitchFamily="49" charset="-122"/>
            </a:endParaRPr>
          </a:p>
        </p:txBody>
      </p:sp>
      <p:sp>
        <p:nvSpPr>
          <p:cNvPr id="10" name="Oval 8"/>
          <p:cNvSpPr/>
          <p:nvPr/>
        </p:nvSpPr>
        <p:spPr>
          <a:xfrm>
            <a:off x="90678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4</a:t>
            </a:r>
            <a:endParaRPr lang="en-US" altLang="zh-CN" sz="1400" dirty="0">
              <a:latin typeface="Book Antiqua" panose="02040602050305030304" pitchFamily="18" charset="0"/>
              <a:ea typeface="楷体_GB2312" pitchFamily="49" charset="-122"/>
            </a:endParaRPr>
          </a:p>
        </p:txBody>
      </p:sp>
      <p:sp>
        <p:nvSpPr>
          <p:cNvPr id="11" name="Oval 9"/>
          <p:cNvSpPr/>
          <p:nvPr/>
        </p:nvSpPr>
        <p:spPr>
          <a:xfrm>
            <a:off x="73152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1</a:t>
            </a:r>
            <a:endParaRPr lang="en-US" altLang="zh-CN" sz="1400" dirty="0">
              <a:latin typeface="Book Antiqua" panose="02040602050305030304" pitchFamily="18" charset="0"/>
              <a:ea typeface="楷体_GB2312" pitchFamily="49" charset="-122"/>
            </a:endParaRPr>
          </a:p>
        </p:txBody>
      </p:sp>
      <p:sp>
        <p:nvSpPr>
          <p:cNvPr id="12" name="Oval 10"/>
          <p:cNvSpPr/>
          <p:nvPr/>
        </p:nvSpPr>
        <p:spPr>
          <a:xfrm>
            <a:off x="7315200" y="48133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5</a:t>
            </a:r>
            <a:endParaRPr lang="en-US" altLang="zh-CN" sz="1400" dirty="0">
              <a:latin typeface="Book Antiqua" panose="02040602050305030304" pitchFamily="18" charset="0"/>
              <a:ea typeface="楷体_GB2312" pitchFamily="49" charset="-122"/>
            </a:endParaRPr>
          </a:p>
        </p:txBody>
      </p:sp>
      <p:sp>
        <p:nvSpPr>
          <p:cNvPr id="13" name="Oval 11"/>
          <p:cNvSpPr/>
          <p:nvPr/>
        </p:nvSpPr>
        <p:spPr>
          <a:xfrm>
            <a:off x="54864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4</a:t>
            </a:r>
            <a:endParaRPr lang="en-US" altLang="zh-CN" sz="1400" dirty="0">
              <a:latin typeface="Book Antiqua" panose="02040602050305030304" pitchFamily="18" charset="0"/>
              <a:ea typeface="楷体_GB2312" pitchFamily="49" charset="-122"/>
            </a:endParaRPr>
          </a:p>
        </p:txBody>
      </p:sp>
      <p:sp>
        <p:nvSpPr>
          <p:cNvPr id="14" name="Oval 12"/>
          <p:cNvSpPr/>
          <p:nvPr/>
        </p:nvSpPr>
        <p:spPr>
          <a:xfrm>
            <a:off x="44958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2</a:t>
            </a:r>
            <a:endParaRPr lang="en-US" altLang="zh-CN" sz="1400" dirty="0">
              <a:latin typeface="Book Antiqua" panose="02040602050305030304" pitchFamily="18" charset="0"/>
              <a:ea typeface="楷体_GB2312" pitchFamily="49" charset="-122"/>
            </a:endParaRPr>
          </a:p>
        </p:txBody>
      </p:sp>
      <p:sp>
        <p:nvSpPr>
          <p:cNvPr id="15" name="Oval 13"/>
          <p:cNvSpPr/>
          <p:nvPr/>
        </p:nvSpPr>
        <p:spPr>
          <a:xfrm>
            <a:off x="3429000" y="39751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2</a:t>
            </a:r>
            <a:endParaRPr lang="en-US" altLang="zh-CN" sz="1400" dirty="0">
              <a:latin typeface="Book Antiqua" panose="02040602050305030304" pitchFamily="18" charset="0"/>
              <a:ea typeface="楷体_GB2312" pitchFamily="49" charset="-122"/>
            </a:endParaRPr>
          </a:p>
        </p:txBody>
      </p:sp>
      <p:sp>
        <p:nvSpPr>
          <p:cNvPr id="16" name="Oval 14"/>
          <p:cNvSpPr/>
          <p:nvPr/>
        </p:nvSpPr>
        <p:spPr>
          <a:xfrm>
            <a:off x="2590800" y="48133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5</a:t>
            </a:r>
            <a:endParaRPr lang="en-US" altLang="zh-CN" sz="1400" dirty="0">
              <a:latin typeface="Book Antiqua" panose="02040602050305030304" pitchFamily="18" charset="0"/>
              <a:ea typeface="楷体_GB2312" pitchFamily="49" charset="-122"/>
            </a:endParaRPr>
          </a:p>
        </p:txBody>
      </p:sp>
      <p:sp>
        <p:nvSpPr>
          <p:cNvPr id="17" name="Oval 15"/>
          <p:cNvSpPr/>
          <p:nvPr/>
        </p:nvSpPr>
        <p:spPr>
          <a:xfrm>
            <a:off x="8229600" y="4813300"/>
            <a:ext cx="228600" cy="228600"/>
          </a:xfrm>
          <a:prstGeom prst="ellipse">
            <a:avLst/>
          </a:prstGeom>
          <a:solidFill>
            <a:schemeClr val="bg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r>
              <a:rPr lang="en-US" altLang="zh-CN" sz="1400" dirty="0">
                <a:latin typeface="Book Antiqua" panose="02040602050305030304" pitchFamily="18" charset="0"/>
                <a:ea typeface="楷体_GB2312" pitchFamily="49" charset="-122"/>
              </a:rPr>
              <a:t>T</a:t>
            </a:r>
            <a:r>
              <a:rPr lang="en-US" altLang="zh-CN" sz="1400" baseline="-16000" dirty="0">
                <a:latin typeface="Book Antiqua" panose="02040602050305030304" pitchFamily="18" charset="0"/>
                <a:ea typeface="楷体_GB2312" pitchFamily="49" charset="-122"/>
              </a:rPr>
              <a:t>3</a:t>
            </a:r>
            <a:endParaRPr lang="en-US" altLang="zh-CN" sz="1400" dirty="0">
              <a:latin typeface="Book Antiqua" panose="02040602050305030304" pitchFamily="18" charset="0"/>
              <a:ea typeface="楷体_GB2312" pitchFamily="49" charset="-122"/>
            </a:endParaRPr>
          </a:p>
        </p:txBody>
      </p:sp>
      <p:sp>
        <p:nvSpPr>
          <p:cNvPr id="18" name="Line 16"/>
          <p:cNvSpPr/>
          <p:nvPr/>
        </p:nvSpPr>
        <p:spPr>
          <a:xfrm flipH="1">
            <a:off x="7543800" y="4051300"/>
            <a:ext cx="685800" cy="0"/>
          </a:xfrm>
          <a:prstGeom prst="line">
            <a:avLst/>
          </a:prstGeom>
          <a:ln w="12700" cap="flat" cmpd="sng">
            <a:solidFill>
              <a:schemeClr val="tx1"/>
            </a:solidFill>
            <a:prstDash val="solid"/>
            <a:headEnd type="none" w="sm" len="sm"/>
            <a:tailEnd type="triangle" w="med" len="med"/>
          </a:ln>
        </p:spPr>
      </p:sp>
      <p:sp>
        <p:nvSpPr>
          <p:cNvPr id="19" name="Line 17"/>
          <p:cNvSpPr/>
          <p:nvPr/>
        </p:nvSpPr>
        <p:spPr>
          <a:xfrm flipV="1">
            <a:off x="7391400" y="4203700"/>
            <a:ext cx="0" cy="609600"/>
          </a:xfrm>
          <a:prstGeom prst="line">
            <a:avLst/>
          </a:prstGeom>
          <a:ln w="12700" cap="flat" cmpd="sng">
            <a:solidFill>
              <a:schemeClr val="tx1"/>
            </a:solidFill>
            <a:prstDash val="solid"/>
            <a:headEnd type="none" w="sm" len="sm"/>
            <a:tailEnd type="triangle" w="med" len="med"/>
          </a:ln>
        </p:spPr>
      </p:sp>
      <p:sp>
        <p:nvSpPr>
          <p:cNvPr id="20" name="Line 18"/>
          <p:cNvSpPr/>
          <p:nvPr/>
        </p:nvSpPr>
        <p:spPr>
          <a:xfrm flipV="1">
            <a:off x="8305800" y="4203700"/>
            <a:ext cx="0" cy="609600"/>
          </a:xfrm>
          <a:prstGeom prst="line">
            <a:avLst/>
          </a:prstGeom>
          <a:ln w="12700" cap="flat" cmpd="sng">
            <a:solidFill>
              <a:schemeClr val="tx1"/>
            </a:solidFill>
            <a:prstDash val="solid"/>
            <a:headEnd type="triangle" w="med" len="med"/>
            <a:tailEnd type="none" w="med" len="med"/>
          </a:ln>
        </p:spPr>
      </p:sp>
      <p:sp>
        <p:nvSpPr>
          <p:cNvPr id="21" name="Line 19"/>
          <p:cNvSpPr/>
          <p:nvPr/>
        </p:nvSpPr>
        <p:spPr>
          <a:xfrm>
            <a:off x="8458200" y="4051300"/>
            <a:ext cx="609600" cy="0"/>
          </a:xfrm>
          <a:prstGeom prst="line">
            <a:avLst/>
          </a:prstGeom>
          <a:ln w="12700" cap="flat" cmpd="sng">
            <a:solidFill>
              <a:schemeClr val="tx1"/>
            </a:solidFill>
            <a:prstDash val="solid"/>
            <a:headEnd type="triangle" w="med" len="med"/>
            <a:tailEnd type="none" w="med" len="med"/>
          </a:ln>
        </p:spPr>
      </p:sp>
      <p:sp>
        <p:nvSpPr>
          <p:cNvPr id="22" name="Line 20"/>
          <p:cNvSpPr/>
          <p:nvPr/>
        </p:nvSpPr>
        <p:spPr>
          <a:xfrm flipH="1">
            <a:off x="8382000" y="4203700"/>
            <a:ext cx="762000" cy="762000"/>
          </a:xfrm>
          <a:prstGeom prst="line">
            <a:avLst/>
          </a:prstGeom>
          <a:ln w="12700" cap="flat" cmpd="sng">
            <a:solidFill>
              <a:schemeClr val="tx1"/>
            </a:solidFill>
            <a:prstDash val="solid"/>
            <a:headEnd type="triangle" w="med" len="med"/>
            <a:tailEnd type="none" w="med" len="med"/>
          </a:ln>
        </p:spPr>
      </p:sp>
      <p:sp>
        <p:nvSpPr>
          <p:cNvPr id="23" name="Line 21"/>
          <p:cNvSpPr/>
          <p:nvPr/>
        </p:nvSpPr>
        <p:spPr>
          <a:xfrm flipV="1">
            <a:off x="4724400" y="4127500"/>
            <a:ext cx="762000" cy="762000"/>
          </a:xfrm>
          <a:prstGeom prst="line">
            <a:avLst/>
          </a:prstGeom>
          <a:ln w="12700" cap="flat" cmpd="sng">
            <a:solidFill>
              <a:schemeClr val="tx1"/>
            </a:solidFill>
            <a:prstDash val="solid"/>
            <a:headEnd type="none" w="sm" len="sm"/>
            <a:tailEnd type="triangle" w="med" len="med"/>
          </a:ln>
        </p:spPr>
      </p:sp>
      <p:sp>
        <p:nvSpPr>
          <p:cNvPr id="24" name="Line 22"/>
          <p:cNvSpPr/>
          <p:nvPr/>
        </p:nvSpPr>
        <p:spPr>
          <a:xfrm flipH="1">
            <a:off x="4724400" y="4051300"/>
            <a:ext cx="762000" cy="0"/>
          </a:xfrm>
          <a:prstGeom prst="line">
            <a:avLst/>
          </a:prstGeom>
          <a:ln w="12700" cap="flat" cmpd="sng">
            <a:solidFill>
              <a:schemeClr val="tx1"/>
            </a:solidFill>
            <a:prstDash val="solid"/>
            <a:headEnd type="none" w="sm" len="sm"/>
            <a:tailEnd type="triangle" w="med" len="med"/>
          </a:ln>
        </p:spPr>
      </p:sp>
      <p:sp>
        <p:nvSpPr>
          <p:cNvPr id="25" name="Line 23"/>
          <p:cNvSpPr/>
          <p:nvPr/>
        </p:nvSpPr>
        <p:spPr>
          <a:xfrm flipV="1">
            <a:off x="2743200" y="4203700"/>
            <a:ext cx="0" cy="609600"/>
          </a:xfrm>
          <a:prstGeom prst="line">
            <a:avLst/>
          </a:prstGeom>
          <a:ln w="12700" cap="flat" cmpd="sng">
            <a:solidFill>
              <a:schemeClr val="tx1"/>
            </a:solidFill>
            <a:prstDash val="solid"/>
            <a:headEnd type="none" w="sm" len="sm"/>
            <a:tailEnd type="triangle" w="med" len="med"/>
          </a:ln>
        </p:spPr>
      </p:sp>
      <p:sp>
        <p:nvSpPr>
          <p:cNvPr id="26" name="Line 24"/>
          <p:cNvSpPr/>
          <p:nvPr/>
        </p:nvSpPr>
        <p:spPr>
          <a:xfrm>
            <a:off x="3505200" y="4203700"/>
            <a:ext cx="0" cy="609600"/>
          </a:xfrm>
          <a:prstGeom prst="line">
            <a:avLst/>
          </a:prstGeom>
          <a:ln w="12700" cap="flat" cmpd="sng">
            <a:solidFill>
              <a:schemeClr val="tx1"/>
            </a:solidFill>
            <a:prstDash val="solid"/>
            <a:headEnd type="none" w="sm" len="sm"/>
            <a:tailEnd type="triangle" w="med" len="med"/>
          </a:ln>
        </p:spPr>
      </p:sp>
      <p:sp>
        <p:nvSpPr>
          <p:cNvPr id="27" name="Line 25"/>
          <p:cNvSpPr/>
          <p:nvPr/>
        </p:nvSpPr>
        <p:spPr>
          <a:xfrm flipH="1">
            <a:off x="2819400" y="4051300"/>
            <a:ext cx="609600" cy="0"/>
          </a:xfrm>
          <a:prstGeom prst="line">
            <a:avLst/>
          </a:prstGeom>
          <a:ln w="12700" cap="flat" cmpd="sng">
            <a:solidFill>
              <a:schemeClr val="tx1"/>
            </a:solidFill>
            <a:prstDash val="solid"/>
            <a:headEnd type="none" w="sm" len="sm"/>
            <a:tailEnd type="triangle" w="med" len="med"/>
          </a:ln>
        </p:spPr>
      </p:sp>
      <p:sp>
        <p:nvSpPr>
          <p:cNvPr id="28" name="Text Box 26"/>
          <p:cNvSpPr txBox="1"/>
          <p:nvPr/>
        </p:nvSpPr>
        <p:spPr>
          <a:xfrm>
            <a:off x="2667000" y="5118100"/>
            <a:ext cx="1055688"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节点</a:t>
            </a:r>
            <a:r>
              <a:rPr lang="en-US" altLang="zh-CN" sz="2400" dirty="0">
                <a:latin typeface="Book Antiqua" panose="02040602050305030304" pitchFamily="18" charset="0"/>
                <a:ea typeface="楷体_GB2312" pitchFamily="49" charset="-122"/>
              </a:rPr>
              <a:t>S</a:t>
            </a:r>
            <a:r>
              <a:rPr lang="en-US" altLang="zh-CN" sz="2400" baseline="-25000" dirty="0">
                <a:latin typeface="Book Antiqua" panose="02040602050305030304" pitchFamily="18" charset="0"/>
                <a:ea typeface="楷体_GB2312" pitchFamily="49" charset="-122"/>
              </a:rPr>
              <a:t>1</a:t>
            </a:r>
            <a:endParaRPr lang="en-US" altLang="zh-CN" sz="2400" baseline="-25000" dirty="0">
              <a:latin typeface="Book Antiqua" panose="02040602050305030304" pitchFamily="18" charset="0"/>
              <a:ea typeface="楷体_GB2312" pitchFamily="49" charset="-122"/>
            </a:endParaRPr>
          </a:p>
        </p:txBody>
      </p:sp>
      <p:sp>
        <p:nvSpPr>
          <p:cNvPr id="29" name="Text Box 27"/>
          <p:cNvSpPr txBox="1"/>
          <p:nvPr/>
        </p:nvSpPr>
        <p:spPr>
          <a:xfrm>
            <a:off x="4479925" y="5094288"/>
            <a:ext cx="1055688"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spcBef>
                <a:spcPct val="0"/>
              </a:spcBef>
              <a:buClrTx/>
              <a:buFontTx/>
              <a:buNone/>
            </a:pPr>
            <a:r>
              <a:rPr lang="zh-CN" altLang="en-US" sz="2400" dirty="0">
                <a:latin typeface="Book Antiqua" panose="02040602050305030304" pitchFamily="18" charset="0"/>
                <a:ea typeface="楷体_GB2312" pitchFamily="49" charset="-122"/>
              </a:rPr>
              <a:t>节点</a:t>
            </a:r>
            <a:r>
              <a:rPr lang="en-US" altLang="zh-CN" sz="2400" dirty="0">
                <a:latin typeface="Book Antiqua" panose="02040602050305030304" pitchFamily="18" charset="0"/>
                <a:ea typeface="楷体_GB2312" pitchFamily="49" charset="-122"/>
              </a:rPr>
              <a:t>S</a:t>
            </a:r>
            <a:r>
              <a:rPr lang="en-US" altLang="zh-CN" sz="2400" baseline="-25000" dirty="0">
                <a:latin typeface="Book Antiqua" panose="02040602050305030304" pitchFamily="18" charset="0"/>
                <a:ea typeface="楷体_GB2312" pitchFamily="49" charset="-122"/>
              </a:rPr>
              <a:t>2</a:t>
            </a:r>
            <a:endParaRPr lang="en-US" altLang="zh-CN" sz="2400" baseline="-25000" dirty="0">
              <a:latin typeface="Book Antiqua" panose="02040602050305030304" pitchFamily="18" charset="0"/>
              <a:ea typeface="楷体_GB2312" pitchFamily="49" charset="-122"/>
            </a:endParaRPr>
          </a:p>
        </p:txBody>
      </p:sp>
      <p:sp>
        <p:nvSpPr>
          <p:cNvPr id="32" name="文本框 31"/>
          <p:cNvSpPr txBox="1"/>
          <p:nvPr/>
        </p:nvSpPr>
        <p:spPr>
          <a:xfrm>
            <a:off x="3370697" y="5651500"/>
            <a:ext cx="1563253" cy="400110"/>
          </a:xfrm>
          <a:prstGeom prst="rect">
            <a:avLst/>
          </a:prstGeom>
          <a:noFill/>
        </p:spPr>
        <p:txBody>
          <a:bodyPr wrap="square">
            <a:spAutoFit/>
          </a:bodyPr>
          <a:lstStyle/>
          <a:p>
            <a:r>
              <a:rPr lang="zh-CN" altLang="en-US" sz="2000" b="1" dirty="0">
                <a:ea typeface="仿宋_GB2312" pitchFamily="49" charset="-122"/>
              </a:rPr>
              <a:t>局部等待图</a:t>
            </a:r>
            <a:endParaRPr lang="zh-CN" altLang="en-US" sz="2000" b="1" dirty="0"/>
          </a:p>
        </p:txBody>
      </p:sp>
      <p:sp>
        <p:nvSpPr>
          <p:cNvPr id="36" name="文本框 35"/>
          <p:cNvSpPr txBox="1"/>
          <p:nvPr/>
        </p:nvSpPr>
        <p:spPr>
          <a:xfrm>
            <a:off x="7529947" y="5638797"/>
            <a:ext cx="1563253" cy="400104"/>
          </a:xfrm>
          <a:prstGeom prst="rect">
            <a:avLst/>
          </a:prstGeom>
          <a:noFill/>
        </p:spPr>
        <p:txBody>
          <a:bodyPr wrap="square">
            <a:spAutoFit/>
          </a:bodyPr>
          <a:lstStyle/>
          <a:p>
            <a:r>
              <a:rPr lang="zh-CN" altLang="en-US" sz="2000" b="1" dirty="0">
                <a:ea typeface="仿宋_GB2312" pitchFamily="49" charset="-122"/>
              </a:rPr>
              <a:t>全局等待图</a:t>
            </a:r>
            <a:endParaRPr lang="zh-CN" altLang="en-US" sz="2000" b="1" dirty="0">
              <a:ea typeface="仿宋_GB2312" pitchFamily="49"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10.6 </a:t>
            </a:r>
            <a:r>
              <a:rPr lang="zh-CN" altLang="en-US" dirty="0">
                <a:ea typeface="楷体_GB2312" pitchFamily="49" charset="-122"/>
              </a:rPr>
              <a:t>分布式事务处理</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封锁协议</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组织等待图的方式：</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sym typeface="Symbol" panose="05050102010706020507" pitchFamily="18" charset="2"/>
              </a:rPr>
              <a:t>集中方式：由单一的一个节点 </a:t>
            </a:r>
            <a:r>
              <a:rPr lang="en-US" altLang="zh-CN" dirty="0">
                <a:latin typeface="微软雅黑" panose="020B0503020204020204" pitchFamily="34" charset="-122"/>
                <a:ea typeface="微软雅黑" panose="020B0503020204020204" pitchFamily="34" charset="-122"/>
                <a:sym typeface="Symbol" panose="05050102010706020507" pitchFamily="18" charset="2"/>
              </a:rPr>
              <a:t>— </a:t>
            </a:r>
            <a:r>
              <a:rPr lang="zh-CN" altLang="en-US" dirty="0">
                <a:latin typeface="微软雅黑" panose="020B0503020204020204" pitchFamily="34" charset="-122"/>
                <a:ea typeface="微软雅黑" panose="020B0503020204020204" pitchFamily="34" charset="-122"/>
                <a:sym typeface="Symbol" panose="05050102010706020507" pitchFamily="18" charset="2"/>
              </a:rPr>
              <a:t>死锁检测协调器构造和维护全局等待图。</a:t>
            </a:r>
            <a:endParaRPr lang="zh-CN" altLang="en-US" dirty="0">
              <a:latin typeface="微软雅黑" panose="020B0503020204020204" pitchFamily="34" charset="-122"/>
              <a:ea typeface="微软雅黑" panose="020B0503020204020204" pitchFamily="34" charset="-122"/>
              <a:sym typeface="Symbol" panose="05050102010706020507" pitchFamily="18" charset="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sym typeface="Symbol" panose="05050102010706020507" pitchFamily="18" charset="2"/>
              </a:rPr>
              <a:t>全分布方式：所有的节点平等地承担检测死锁的责任。每个节点根据系统的动态行为构造一个代表整个图的一部分的等待图。其思想是：</a:t>
            </a:r>
            <a:r>
              <a:rPr lang="zh-CN" altLang="en-US" dirty="0">
                <a:latin typeface="微软雅黑" panose="020B0503020204020204" pitchFamily="34" charset="-122"/>
                <a:ea typeface="微软雅黑" panose="020B0503020204020204" pitchFamily="34" charset="-122"/>
              </a:rPr>
              <a:t>如果死锁存在，则至少一个部分图中会存在环。</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定义：</a:t>
            </a:r>
            <a:endParaRPr lang="zh-CN" altLang="en-US" dirty="0">
              <a:latin typeface="微软雅黑" panose="020B0503020204020204" pitchFamily="34" charset="-122"/>
              <a:ea typeface="微软雅黑" panose="020B0503020204020204" pitchFamily="34" charset="-122"/>
            </a:endParaRPr>
          </a:p>
          <a:p>
            <a:pPr marL="914400" lvl="2" indent="0" fontAlgn="base">
              <a:lnSpc>
                <a:spcPct val="180000"/>
              </a:lnSpc>
              <a:spcAft>
                <a:spcPct val="0"/>
              </a:spcAft>
              <a:buClr>
                <a:schemeClr val="hlink"/>
              </a:buClr>
              <a:buNone/>
              <a:defRPr/>
            </a:pPr>
            <a:r>
              <a:rPr lang="zh-CN" altLang="en-US" dirty="0">
                <a:latin typeface="微软雅黑" panose="020B0503020204020204" pitchFamily="34" charset="-122"/>
                <a:ea typeface="微软雅黑" panose="020B0503020204020204" pitchFamily="34" charset="-122"/>
              </a:rPr>
              <a:t>联邦数据库系统是松耦合的分布式数据库系统，无论在物理上还是在逻辑上都是分布的，各结点可以采用不同的</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特点：</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无全局数据模式，只有各的结点局部数据模式。</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结点间的数据共享由双边协商确定。</a:t>
            </a:r>
            <a:endParaRPr lang="zh-CN" altLang="en-US" dirty="0">
              <a:latin typeface="微软雅黑" panose="020B0503020204020204" pitchFamily="34" charset="-122"/>
              <a:ea typeface="微软雅黑" panose="020B0503020204020204" pitchFamily="34" charset="-122"/>
            </a:endParaRPr>
          </a:p>
          <a:p>
            <a:pPr lvl="2" fontAlgn="base">
              <a:lnSpc>
                <a:spcPct val="18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有利于实现数据库的集成、扩展和重新配置。</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联邦数据库系统的功能</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实现联邦系统中的数据共享和软、硬件资源的合并。</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实现数据的透明访问。</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提供高效的数据访问机制和协调访问的并发控制机制。</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保证各局部数据库系统的自治能力。</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提供多种数据模型和数据语言以及它们间的转换能力，以保证用户方便地共享数据。</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联邦数据库系统在实现数据共享时能使用户以在同构数据库中一样的方式访问异构数据库，用户可以用自己熟悉的局部数据库语言及模型访问异构数据库。</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允许数据库的拥有者和其他用户共享数据库，而又不放弃自己数据库的完整性限制、应用特性和安全性限制，保证异构数据库的局部自治能力。</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系统是多模型、多语言的，即可采用多种数据模型描述相应的应用数据，可执行以多种语言写的事务。</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为了保证各局部数据库的自治，维护各局部数据库的完整性、安全性要求以及应用特性，对局部数据库的访问必须加以控制。</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联邦数据库系统必须提供访问控制和并发机制，以保证系统中各片段数据的完整性限制不被破坏，并同时提供特殊的数据模型和数据语言的接口，加强必要的安全性限制，以协调联邦数据库中各局部数据库的并行访问。</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高效正确的数据访问机制和并发控制机制是保证局部数据库自治的必要条件，是联邦数据库真正有效实现数据共享和高效率的资源共享要求的保证。</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协调数据访问及并发机制的能力是衡量联邦数据库系统性能的一个重要指标。</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dirty="0">
                <a:latin typeface="微软雅黑" panose="020B0503020204020204" pitchFamily="34" charset="-122"/>
                <a:ea typeface="微软雅黑" panose="020B0503020204020204" pitchFamily="34" charset="-122"/>
              </a:rPr>
              <a:t>联邦数据库的数据共享</a:t>
            </a:r>
            <a:endParaRPr lang="en-US" altLang="zh-CN"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联邦数据库系统中实现数据共享的方法有：</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数据库转换方法</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模式转换方法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dirty="0">
                <a:latin typeface="微软雅黑" panose="020B0503020204020204" pitchFamily="34" charset="-122"/>
                <a:ea typeface="微软雅黑" panose="020B0503020204020204" pitchFamily="34" charset="-122"/>
              </a:rPr>
              <a:t>联邦数据库的数据共享</a:t>
            </a:r>
            <a:endParaRPr lang="en-US" altLang="zh-CN"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数据库转换</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将数据库转换成用户熟悉的等价数据模型，然后再装入数据，使用户方便地使用新的数据库以实现共享。</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这是一种物理方法，实质上包括了模型转换和数据重组两项工作，由数据库转换器完成。</a:t>
            </a:r>
            <a:endParaRPr lang="zh-CN" altLang="en-US" dirty="0">
              <a:latin typeface="微软雅黑" panose="020B0503020204020204" pitchFamily="34" charset="-122"/>
              <a:ea typeface="微软雅黑" panose="020B0503020204020204" pitchFamily="34" charset="-122"/>
            </a:endParaRPr>
          </a:p>
          <a:p>
            <a:pPr marL="914400" lvl="2" indent="0" fontAlgn="base">
              <a:lnSpc>
                <a:spcPct val="140000"/>
              </a:lnSpc>
              <a:spcAft>
                <a:spcPct val="0"/>
              </a:spcAft>
              <a:buClr>
                <a:schemeClr val="hlink"/>
              </a:buClr>
              <a:buNone/>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数据库转换具体转换过程：</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首先访问源数据库系统，拷贝一个源数据库的副本；</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然后将源数据库的副本转换成等价的目标数据库，并装入到与目标数据库对应的数据库系统；</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最后用户以目标数据库管理系统中的数据处理语言访问目标数据库。</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利用数据库转换器实现的数据共享体现了异构数据库的透明访问。</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a:p>
            <a:pPr marL="914400" lvl="2" indent="0" fontAlgn="base">
              <a:lnSpc>
                <a:spcPct val="140000"/>
              </a:lnSpc>
              <a:spcAft>
                <a:spcPct val="0"/>
              </a:spcAft>
              <a:buClr>
                <a:schemeClr val="hlink"/>
              </a:buClr>
              <a:buNone/>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模式转换 </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通过模型的转换、数据语言翻译、建立转换映射以及转换操作数据的事务来实现数据共享，是一种逻辑方法</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步骤：</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首先将异构数据库的数据模型转换成用户熟悉的数据模型，用户使用熟悉的数据语言编写事务对数据进行处理，处理的执行可通过事务翻译器转换为对异构数据的操作后进行</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模式转换只涉及模型转换和事务翻译，不产生数据的副本</a:t>
            </a:r>
            <a:endParaRPr lang="zh-CN" altLang="en-US" dirty="0">
              <a:latin typeface="微软雅黑" panose="020B0503020204020204" pitchFamily="34" charset="-122"/>
              <a:ea typeface="微软雅黑" panose="020B0503020204020204" pitchFamily="34" charset="-122"/>
            </a:endParaRPr>
          </a:p>
          <a:p>
            <a:pPr marL="914400" lvl="2" indent="0" fontAlgn="base">
              <a:lnSpc>
                <a:spcPct val="140000"/>
              </a:lnSpc>
              <a:spcAft>
                <a:spcPct val="0"/>
              </a:spcAft>
              <a:buClr>
                <a:schemeClr val="hlink"/>
              </a:buClr>
              <a:buNone/>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联邦数据库的数据共享</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在联邦数据库系统中为了达到较高程度的异构，必须支持多种异构的数据库系统在不同的计算机上运行。</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除多对一映射方式外，目前的技术还不足以将很多的不同计算机联接在一起以进行数据共享，目前系统的异构程度还相当低。</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多数据库系统</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是一种松耦合的异构分布式数据库系统。</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从软件结构角度看，多数据库系统可看成是加在系统的各数据库管理系统之上的一层软件，它使用户可从任一场地对系统中其他场地的数据库进行存取。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实现</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的技术有：</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远程数据库存取，即</a:t>
            </a:r>
            <a:r>
              <a:rPr lang="en-US" altLang="zh-CN" dirty="0">
                <a:latin typeface="微软雅黑" panose="020B0503020204020204" pitchFamily="34" charset="-122"/>
                <a:ea typeface="微软雅黑" panose="020B0503020204020204" pitchFamily="34" charset="-122"/>
              </a:rPr>
              <a:t>RPC</a:t>
            </a:r>
            <a:r>
              <a:rPr lang="zh-CN" altLang="en-US" dirty="0">
                <a:latin typeface="微软雅黑" panose="020B0503020204020204" pitchFamily="34" charset="-122"/>
                <a:ea typeface="微软雅黑" panose="020B0503020204020204" pitchFamily="34" charset="-122"/>
              </a:rPr>
              <a:t>，已经有许多成熟技术；</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多数据库系统的并发存取控制和事务管理</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中全局事务由若干子事务组成，每个子事务只存取某一个</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可看成由全局事务管理系统</a:t>
            </a:r>
            <a:r>
              <a:rPr lang="en-US" altLang="zh-CN" dirty="0">
                <a:latin typeface="微软雅黑" panose="020B0503020204020204" pitchFamily="34" charset="-122"/>
                <a:ea typeface="微软雅黑" panose="020B0503020204020204" pitchFamily="34" charset="-122"/>
              </a:rPr>
              <a:t>(GTMS)</a:t>
            </a:r>
            <a:r>
              <a:rPr lang="zh-CN" altLang="en-US" dirty="0">
                <a:latin typeface="微软雅黑" panose="020B0503020204020204" pitchFamily="34" charset="-122"/>
                <a:ea typeface="微软雅黑" panose="020B0503020204020204" pitchFamily="34" charset="-122"/>
              </a:rPr>
              <a:t>加上参加该</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的各</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顶上的服务器</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组成。</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LDBMS</a:t>
            </a:r>
            <a:r>
              <a:rPr lang="zh-CN" altLang="en-US" dirty="0">
                <a:latin typeface="微软雅黑" panose="020B0503020204020204" pitchFamily="34" charset="-122"/>
                <a:ea typeface="微软雅黑" panose="020B0503020204020204" pitchFamily="34" charset="-122"/>
              </a:rPr>
              <a:t>自治地调度其上的子事务，在此基础上</a:t>
            </a:r>
            <a:r>
              <a:rPr lang="en-US" altLang="zh-CN" dirty="0">
                <a:latin typeface="微软雅黑" panose="020B0503020204020204" pitchFamily="34" charset="-122"/>
                <a:ea typeface="微软雅黑" panose="020B0503020204020204" pitchFamily="34" charset="-122"/>
              </a:rPr>
              <a:t>GTMS</a:t>
            </a:r>
            <a:r>
              <a:rPr lang="zh-CN" altLang="en-US" dirty="0">
                <a:latin typeface="微软雅黑" panose="020B0503020204020204" pitchFamily="34" charset="-122"/>
                <a:ea typeface="微软雅黑" panose="020B0503020204020204" pitchFamily="34" charset="-122"/>
              </a:rPr>
              <a:t>在各</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支持下保证整个 </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中数据的一致性。</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中的事务语义协议 </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目标：利用事务的语义和放宽‘可串行’的准则，区分：</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可局部化事务：子事务在局部数据库管理系统执行的顺序不影响全局事务的正确性。</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不可局部化事务：子事务在局部数据库管理系统执行的顺序影响全局事务的正确性。</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并发控制方法保证并发执行的非可局部化的全局事务从等价一致的</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中读，同时保证所有全局事务的原子性。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目标：利用事务的语义和放宽‘可串行’的准则，区分：</a:t>
            </a:r>
            <a:endParaRPr lang="zh-CN" altLang="en-US"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中的事务语义协议： </a:t>
            </a:r>
            <a:endParaRPr lang="zh-CN" altLang="en-US"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GTMS</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向</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分发全局事务的子事务，并指明其类别。</a:t>
            </a:r>
            <a:endParaRPr lang="zh-CN" altLang="en-US"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向</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报告子事务的夭折、提交或所有运算已完成，</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等待</a:t>
            </a:r>
            <a:r>
              <a:rPr lang="en-US" altLang="zh-CN" dirty="0">
                <a:latin typeface="微软雅黑" panose="020B0503020204020204" pitchFamily="34" charset="-122"/>
                <a:ea typeface="微软雅黑" panose="020B0503020204020204" pitchFamily="34" charset="-122"/>
              </a:rPr>
              <a:t>2PC</a:t>
            </a:r>
            <a:r>
              <a:rPr lang="zh-CN" altLang="en-US" dirty="0">
                <a:latin typeface="微软雅黑" panose="020B0503020204020204" pitchFamily="34" charset="-122"/>
                <a:ea typeface="微软雅黑" panose="020B0503020204020204" pitchFamily="34" charset="-122"/>
              </a:rPr>
              <a:t>过程决定提交后才向</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发出提交指令。</a:t>
            </a:r>
            <a:endParaRPr lang="zh-CN" altLang="en-US"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完全自治。</a:t>
            </a:r>
            <a:endParaRPr lang="zh-CN" altLang="en-US" dirty="0">
              <a:latin typeface="微软雅黑" panose="020B0503020204020204" pitchFamily="34" charset="-122"/>
              <a:ea typeface="微软雅黑" panose="020B0503020204020204" pitchFamily="34" charset="-122"/>
            </a:endParaRPr>
          </a:p>
          <a:p>
            <a:pPr lvl="2" fontAlgn="base">
              <a:lnSpc>
                <a:spcPct val="15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可以证明，</a:t>
            </a: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中遵守“事务语义协议”的任何调度都是正确的。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MDBS</a:t>
            </a:r>
            <a:r>
              <a:rPr lang="zh-CN" altLang="en-US" dirty="0">
                <a:latin typeface="微软雅黑" panose="020B0503020204020204" pitchFamily="34" charset="-122"/>
                <a:ea typeface="微软雅黑" panose="020B0503020204020204" pitchFamily="34" charset="-122"/>
              </a:rPr>
              <a:t>调度算法 ： </a:t>
            </a:r>
            <a:endParaRPr lang="zh-CN" altLang="en-US"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dirty="0">
                <a:solidFill>
                  <a:srgbClr val="FF0000"/>
                </a:solidFill>
                <a:latin typeface="微软雅黑" panose="020B0503020204020204" pitchFamily="34" charset="-122"/>
                <a:ea typeface="微软雅黑" panose="020B0503020204020204" pitchFamily="34" charset="-122"/>
              </a:rPr>
              <a:t> A</a:t>
            </a:r>
            <a:r>
              <a:rPr lang="zh-CN" altLang="en-US" dirty="0">
                <a:solidFill>
                  <a:srgbClr val="FF0000"/>
                </a:solidFill>
                <a:latin typeface="微软雅黑" panose="020B0503020204020204" pitchFamily="34" charset="-122"/>
                <a:ea typeface="微软雅黑" panose="020B0503020204020204" pitchFamily="34" charset="-122"/>
              </a:rPr>
              <a:t>．收到的子事务是局部子事务       </a:t>
            </a:r>
            <a:endParaRPr lang="zh-CN" altLang="en-US" dirty="0">
              <a:solidFill>
                <a:srgbClr val="FF0000"/>
              </a:solidFill>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dirty="0">
                <a:latin typeface="微软雅黑" panose="020B0503020204020204" pitchFamily="34" charset="-122"/>
                <a:ea typeface="微软雅黑" panose="020B0503020204020204" pitchFamily="34" charset="-122"/>
              </a:rPr>
              <a:t>If </a:t>
            </a:r>
            <a:r>
              <a:rPr lang="zh-CN" altLang="en-US" dirty="0">
                <a:latin typeface="微软雅黑" panose="020B0503020204020204" pitchFamily="34" charset="-122"/>
                <a:ea typeface="微软雅黑" panose="020B0503020204020204" pitchFamily="34" charset="-122"/>
              </a:rPr>
              <a:t>其时间戳小于正运行或已提交的非局部子事务的最大时间戳 </a:t>
            </a:r>
            <a:r>
              <a:rPr lang="en-US" altLang="zh-CN" dirty="0">
                <a:latin typeface="微软雅黑" panose="020B0503020204020204" pitchFamily="34" charset="-122"/>
                <a:ea typeface="微软雅黑" panose="020B0503020204020204" pitchFamily="34" charset="-122"/>
              </a:rPr>
              <a:t>then </a:t>
            </a:r>
            <a:endParaRPr lang="en-US" altLang="zh-CN" dirty="0">
              <a:latin typeface="微软雅黑" panose="020B0503020204020204" pitchFamily="34" charset="-122"/>
              <a:ea typeface="微软雅黑" panose="020B0503020204020204" pitchFamily="34" charset="-122"/>
            </a:endParaRPr>
          </a:p>
          <a:p>
            <a:pPr marL="1371600" lvl="3" indent="0" fontAlgn="base">
              <a:lnSpc>
                <a:spcPct val="150000"/>
              </a:lnSpc>
              <a:spcAft>
                <a:spcPct val="0"/>
              </a:spcAft>
              <a:buClr>
                <a:schemeClr val="hlink"/>
              </a:buClr>
              <a:buNone/>
              <a:defRPr/>
            </a:pPr>
            <a:r>
              <a:rPr lang="zh-CN" altLang="en-US" dirty="0">
                <a:latin typeface="微软雅黑" panose="020B0503020204020204" pitchFamily="34" charset="-122"/>
                <a:ea typeface="微软雅黑" panose="020B0503020204020204" pitchFamily="34" charset="-122"/>
              </a:rPr>
              <a:t>拒绝接受，投天折票；</a:t>
            </a:r>
            <a:endParaRPr lang="zh-CN" altLang="en-US"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dirty="0">
                <a:latin typeface="微软雅黑" panose="020B0503020204020204" pitchFamily="34" charset="-122"/>
                <a:ea typeface="微软雅黑" panose="020B0503020204020204" pitchFamily="34" charset="-122"/>
              </a:rPr>
              <a:t>else if </a:t>
            </a:r>
            <a:r>
              <a:rPr lang="zh-CN" altLang="en-US" dirty="0">
                <a:latin typeface="微软雅黑" panose="020B0503020204020204" pitchFamily="34" charset="-122"/>
                <a:ea typeface="微软雅黑" panose="020B0503020204020204" pitchFamily="34" charset="-122"/>
              </a:rPr>
              <a:t>无非局部子事务在运行且无时间戳更小的非局部子事务在等待 </a:t>
            </a:r>
            <a:r>
              <a:rPr lang="en-US" altLang="zh-CN" dirty="0">
                <a:latin typeface="微软雅黑" panose="020B0503020204020204" pitchFamily="34" charset="-122"/>
                <a:ea typeface="微软雅黑" panose="020B0503020204020204" pitchFamily="34" charset="-122"/>
              </a:rPr>
              <a:t>then </a:t>
            </a:r>
            <a:endParaRPr lang="en-US" altLang="zh-CN"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将该子事务交给</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执行，投提交票；</a:t>
            </a:r>
            <a:endParaRPr lang="zh-CN" altLang="en-US"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else  </a:t>
            </a:r>
            <a:r>
              <a:rPr lang="zh-CN" altLang="en-US" dirty="0">
                <a:latin typeface="微软雅黑" panose="020B0503020204020204" pitchFamily="34" charset="-122"/>
                <a:ea typeface="微软雅黑" panose="020B0503020204020204" pitchFamily="34" charset="-122"/>
              </a:rPr>
              <a:t>子事务进入等待表，投提交票</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fontScale="70000" lnSpcReduction="20000"/>
          </a:bodyPr>
          <a:lstStyle/>
          <a:p>
            <a:r>
              <a:rPr lang="zh-CN" altLang="en-US" sz="4000" b="1" dirty="0">
                <a:latin typeface="微软雅黑" panose="020B0503020204020204" pitchFamily="34" charset="-122"/>
                <a:ea typeface="微软雅黑" panose="020B0503020204020204" pitchFamily="34" charset="-122"/>
              </a:rPr>
              <a:t>多数据库系统</a:t>
            </a:r>
            <a:endParaRPr lang="en-US" altLang="zh-CN" sz="4000"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sz="2600" dirty="0">
                <a:latin typeface="微软雅黑" panose="020B0503020204020204" pitchFamily="34" charset="-122"/>
                <a:ea typeface="微软雅黑" panose="020B0503020204020204" pitchFamily="34" charset="-122"/>
              </a:rPr>
              <a:t>MDBS</a:t>
            </a:r>
            <a:r>
              <a:rPr lang="zh-CN" altLang="en-US" sz="2600" dirty="0">
                <a:latin typeface="微软雅黑" panose="020B0503020204020204" pitchFamily="34" charset="-122"/>
                <a:ea typeface="微软雅黑" panose="020B0503020204020204" pitchFamily="34" charset="-122"/>
              </a:rPr>
              <a:t>调度算法  </a:t>
            </a:r>
            <a:endParaRPr lang="zh-CN" altLang="en-US" sz="2600"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sz="2600" dirty="0">
                <a:solidFill>
                  <a:srgbClr val="FF0000"/>
                </a:solidFill>
                <a:latin typeface="微软雅黑" panose="020B0503020204020204" pitchFamily="34" charset="-122"/>
                <a:ea typeface="微软雅黑" panose="020B0503020204020204" pitchFamily="34" charset="-122"/>
              </a:rPr>
              <a:t>B</a:t>
            </a:r>
            <a:r>
              <a:rPr lang="zh-CN" altLang="en-US" sz="2600" dirty="0">
                <a:solidFill>
                  <a:srgbClr val="FF0000"/>
                </a:solidFill>
                <a:latin typeface="微软雅黑" panose="020B0503020204020204" pitchFamily="34" charset="-122"/>
                <a:ea typeface="微软雅黑" panose="020B0503020204020204" pitchFamily="34" charset="-122"/>
              </a:rPr>
              <a:t>．收到的子事务是非局部子事务</a:t>
            </a:r>
            <a:endParaRPr lang="zh-CN" altLang="en-US" sz="2600" dirty="0">
              <a:solidFill>
                <a:srgbClr val="FF0000"/>
              </a:solidFill>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sz="2200" dirty="0">
                <a:latin typeface="微软雅黑" panose="020B0503020204020204" pitchFamily="34" charset="-122"/>
                <a:ea typeface="微软雅黑" panose="020B0503020204020204" pitchFamily="34" charset="-122"/>
              </a:rPr>
              <a:t>If </a:t>
            </a:r>
            <a:r>
              <a:rPr lang="zh-CN" altLang="en-US" sz="2200" dirty="0">
                <a:latin typeface="微软雅黑" panose="020B0503020204020204" pitchFamily="34" charset="-122"/>
                <a:ea typeface="微软雅黑" panose="020B0503020204020204" pitchFamily="34" charset="-122"/>
              </a:rPr>
              <a:t>其时间戳小于正运行或已提交的子事务的最大时间戳 </a:t>
            </a:r>
            <a:r>
              <a:rPr lang="en-US" altLang="zh-CN" sz="2200" dirty="0">
                <a:latin typeface="微软雅黑" panose="020B0503020204020204" pitchFamily="34" charset="-122"/>
                <a:ea typeface="微软雅黑" panose="020B0503020204020204" pitchFamily="34" charset="-122"/>
              </a:rPr>
              <a:t>then</a:t>
            </a:r>
            <a:endParaRPr lang="en-US" altLang="zh-CN"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拒绝接受，投夭折票；</a:t>
            </a:r>
            <a:endParaRPr lang="zh-CN" altLang="en-US"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sz="2200" dirty="0">
                <a:latin typeface="微软雅黑" panose="020B0503020204020204" pitchFamily="34" charset="-122"/>
                <a:ea typeface="微软雅黑" panose="020B0503020204020204" pitchFamily="34" charset="-122"/>
              </a:rPr>
              <a:t>else if </a:t>
            </a:r>
            <a:r>
              <a:rPr lang="zh-CN" altLang="en-US" sz="2200" dirty="0">
                <a:latin typeface="微软雅黑" panose="020B0503020204020204" pitchFamily="34" charset="-122"/>
                <a:ea typeface="微软雅黑" panose="020B0503020204020204" pitchFamily="34" charset="-122"/>
              </a:rPr>
              <a:t>该</a:t>
            </a:r>
            <a:r>
              <a:rPr lang="en-US" altLang="zh-CN" sz="2200" dirty="0">
                <a:latin typeface="微软雅黑" panose="020B0503020204020204" pitchFamily="34" charset="-122"/>
                <a:ea typeface="微软雅黑" panose="020B0503020204020204" pitchFamily="34" charset="-122"/>
              </a:rPr>
              <a:t>LDBS</a:t>
            </a:r>
            <a:r>
              <a:rPr lang="zh-CN" altLang="en-US" sz="2200" dirty="0">
                <a:latin typeface="微软雅黑" panose="020B0503020204020204" pitchFamily="34" charset="-122"/>
                <a:ea typeface="微软雅黑" panose="020B0503020204020204" pitchFamily="34" charset="-122"/>
              </a:rPr>
              <a:t>空闲且无时间戳比该子事务的时间戳更小的子事务在等待这个</a:t>
            </a:r>
            <a:r>
              <a:rPr lang="en-US" altLang="zh-CN" sz="2200" dirty="0">
                <a:latin typeface="微软雅黑" panose="020B0503020204020204" pitchFamily="34" charset="-122"/>
                <a:ea typeface="微软雅黑" panose="020B0503020204020204" pitchFamily="34" charset="-122"/>
              </a:rPr>
              <a:t>LDBS then  </a:t>
            </a:r>
            <a:endParaRPr lang="en-US" altLang="zh-CN"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zh-CN" altLang="en-US" sz="2200" dirty="0">
                <a:latin typeface="微软雅黑" panose="020B0503020204020204" pitchFamily="34" charset="-122"/>
                <a:ea typeface="微软雅黑" panose="020B0503020204020204" pitchFamily="34" charset="-122"/>
              </a:rPr>
              <a:t>           将该子事务交给</a:t>
            </a:r>
            <a:r>
              <a:rPr lang="en-US" altLang="zh-CN" sz="2200" dirty="0">
                <a:latin typeface="微软雅黑" panose="020B0503020204020204" pitchFamily="34" charset="-122"/>
                <a:ea typeface="微软雅黑" panose="020B0503020204020204" pitchFamily="34" charset="-122"/>
              </a:rPr>
              <a:t>LDBS</a:t>
            </a:r>
            <a:r>
              <a:rPr lang="zh-CN" altLang="en-US" sz="2200" dirty="0">
                <a:latin typeface="微软雅黑" panose="020B0503020204020204" pitchFamily="34" charset="-122"/>
                <a:ea typeface="微软雅黑" panose="020B0503020204020204" pitchFamily="34" charset="-122"/>
              </a:rPr>
              <a:t>执行；</a:t>
            </a:r>
            <a:endParaRPr lang="zh-CN" altLang="en-US"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en-US" altLang="zh-CN" sz="2200" dirty="0">
                <a:latin typeface="微软雅黑" panose="020B0503020204020204" pitchFamily="34" charset="-122"/>
                <a:ea typeface="微软雅黑" panose="020B0503020204020204" pitchFamily="34" charset="-122"/>
              </a:rPr>
              <a:t>Else </a:t>
            </a:r>
            <a:r>
              <a:rPr lang="zh-CN" altLang="en-US" sz="2200" dirty="0">
                <a:latin typeface="微软雅黑" panose="020B0503020204020204" pitchFamily="34" charset="-122"/>
                <a:ea typeface="微软雅黑" panose="020B0503020204020204" pitchFamily="34" charset="-122"/>
              </a:rPr>
              <a:t>子事务进入等待表</a:t>
            </a:r>
            <a:endParaRPr lang="zh-CN" altLang="en-US" sz="2200"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en-US" altLang="zh-CN" sz="2600" dirty="0">
                <a:solidFill>
                  <a:srgbClr val="FF0000"/>
                </a:solidFill>
                <a:latin typeface="微软雅黑" panose="020B0503020204020204" pitchFamily="34" charset="-122"/>
                <a:ea typeface="微软雅黑" panose="020B0503020204020204" pitchFamily="34" charset="-122"/>
              </a:rPr>
              <a:t>C</a:t>
            </a:r>
            <a:r>
              <a:rPr lang="zh-CN" altLang="en-US" sz="2600" dirty="0">
                <a:solidFill>
                  <a:srgbClr val="FF0000"/>
                </a:solidFill>
                <a:latin typeface="微软雅黑" panose="020B0503020204020204" pitchFamily="34" charset="-122"/>
                <a:ea typeface="微软雅黑" panose="020B0503020204020204" pitchFamily="34" charset="-122"/>
              </a:rPr>
              <a:t>．当子事务提交后</a:t>
            </a:r>
            <a:r>
              <a:rPr lang="en-US" altLang="zh-CN" sz="2600" dirty="0">
                <a:solidFill>
                  <a:srgbClr val="FF0000"/>
                </a:solidFill>
                <a:latin typeface="微软雅黑" panose="020B0503020204020204" pitchFamily="34" charset="-122"/>
                <a:ea typeface="微软雅黑" panose="020B0503020204020204" pitchFamily="34" charset="-122"/>
              </a:rPr>
              <a:t>LDBS</a:t>
            </a:r>
            <a:r>
              <a:rPr lang="zh-CN" altLang="en-US" sz="2600" dirty="0">
                <a:solidFill>
                  <a:srgbClr val="FF0000"/>
                </a:solidFill>
                <a:latin typeface="微软雅黑" panose="020B0503020204020204" pitchFamily="34" charset="-122"/>
                <a:ea typeface="微软雅黑" panose="020B0503020204020204" pitchFamily="34" charset="-122"/>
              </a:rPr>
              <a:t>空闲</a:t>
            </a:r>
            <a:endParaRPr lang="zh-CN" altLang="en-US" sz="2600" dirty="0">
              <a:solidFill>
                <a:srgbClr val="FF0000"/>
              </a:solidFill>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zh-CN" altLang="en-US" sz="2200" dirty="0">
                <a:latin typeface="微软雅黑" panose="020B0503020204020204" pitchFamily="34" charset="-122"/>
                <a:ea typeface="微软雅黑" panose="020B0503020204020204" pitchFamily="34" charset="-122"/>
              </a:rPr>
              <a:t>将时间戳最小的等待子事务交给</a:t>
            </a:r>
            <a:r>
              <a:rPr lang="en-US" altLang="zh-CN" sz="2200" dirty="0">
                <a:latin typeface="微软雅黑" panose="020B0503020204020204" pitchFamily="34" charset="-122"/>
                <a:ea typeface="微软雅黑" panose="020B0503020204020204" pitchFamily="34" charset="-122"/>
              </a:rPr>
              <a:t>LDBS</a:t>
            </a:r>
            <a:r>
              <a:rPr lang="zh-CN" altLang="en-US" sz="2200" dirty="0">
                <a:latin typeface="微软雅黑" panose="020B0503020204020204" pitchFamily="34" charset="-122"/>
                <a:ea typeface="微软雅黑" panose="020B0503020204020204" pitchFamily="34" charset="-122"/>
              </a:rPr>
              <a:t>执行；</a:t>
            </a:r>
            <a:endParaRPr lang="zh-CN" altLang="en-US"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If </a:t>
            </a:r>
            <a:r>
              <a:rPr lang="zh-CN" altLang="en-US" sz="2200" dirty="0">
                <a:latin typeface="微软雅黑" panose="020B0503020204020204" pitchFamily="34" charset="-122"/>
                <a:ea typeface="微软雅黑" panose="020B0503020204020204" pitchFamily="34" charset="-122"/>
              </a:rPr>
              <a:t>这是局部子事务</a:t>
            </a:r>
            <a:r>
              <a:rPr lang="en-US" altLang="zh-CN" sz="2200" dirty="0">
                <a:latin typeface="微软雅黑" panose="020B0503020204020204" pitchFamily="34" charset="-122"/>
                <a:ea typeface="微软雅黑" panose="020B0503020204020204" pitchFamily="34" charset="-122"/>
              </a:rPr>
              <a:t>then</a:t>
            </a:r>
            <a:endParaRPr lang="en-US" altLang="zh-CN" sz="2200" dirty="0">
              <a:latin typeface="微软雅黑" panose="020B0503020204020204" pitchFamily="34" charset="-122"/>
              <a:ea typeface="微软雅黑" panose="020B0503020204020204" pitchFamily="34" charset="-122"/>
            </a:endParaRPr>
          </a:p>
          <a:p>
            <a:pPr marL="914400" lvl="2" indent="0" fontAlgn="base">
              <a:lnSpc>
                <a:spcPct val="150000"/>
              </a:lnSpc>
              <a:spcAft>
                <a:spcPct val="0"/>
              </a:spcAft>
              <a:buClr>
                <a:schemeClr val="hlink"/>
              </a:buClr>
              <a:buNone/>
              <a:defRPr/>
            </a:pPr>
            <a:r>
              <a:rPr lang="zh-CN" altLang="en-US" sz="2200" dirty="0">
                <a:latin typeface="微软雅黑" panose="020B0503020204020204" pitchFamily="34" charset="-122"/>
                <a:ea typeface="微软雅黑" panose="020B0503020204020204" pitchFamily="34" charset="-122"/>
              </a:rPr>
              <a:t>将等待表中时间戳小于表中所有非局部子事务的时间戳的局部子事务都交</a:t>
            </a:r>
            <a:r>
              <a:rPr lang="en-US" altLang="zh-CN" sz="2200" dirty="0">
                <a:latin typeface="微软雅黑" panose="020B0503020204020204" pitchFamily="34" charset="-122"/>
                <a:ea typeface="微软雅黑" panose="020B0503020204020204" pitchFamily="34" charset="-122"/>
              </a:rPr>
              <a:t>LDBS</a:t>
            </a:r>
            <a:r>
              <a:rPr lang="zh-CN" altLang="en-US" sz="2200" dirty="0">
                <a:latin typeface="微软雅黑" panose="020B0503020204020204" pitchFamily="34" charset="-122"/>
                <a:ea typeface="微软雅黑" panose="020B0503020204020204" pitchFamily="34" charset="-122"/>
              </a:rPr>
              <a:t>执行</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4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全局事务提交的方法</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2PC</a:t>
            </a:r>
            <a:r>
              <a:rPr lang="zh-CN" altLang="en-US" dirty="0">
                <a:latin typeface="微软雅黑" panose="020B0503020204020204" pitchFamily="34" charset="-122"/>
                <a:ea typeface="微软雅黑" panose="020B0503020204020204" pitchFamily="34" charset="-122"/>
              </a:rPr>
              <a:t>中，</a:t>
            </a:r>
            <a:r>
              <a:rPr lang="en-US" altLang="zh-CN" dirty="0">
                <a:latin typeface="微软雅黑" panose="020B0503020204020204" pitchFamily="34" charset="-122"/>
                <a:ea typeface="微软雅黑" panose="020B0503020204020204" pitchFamily="34" charset="-122"/>
              </a:rPr>
              <a:t>GTMS</a:t>
            </a:r>
            <a:r>
              <a:rPr lang="zh-CN" altLang="en-US" dirty="0">
                <a:latin typeface="微软雅黑" panose="020B0503020204020204" pitchFamily="34" charset="-122"/>
                <a:ea typeface="微软雅黑" panose="020B0503020204020204" pitchFamily="34" charset="-122"/>
              </a:rPr>
              <a:t>是协调者，分发子事务时要求各</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代表其上执行的子事务参加投票。</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对非局部子事务，</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收到</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的夭折消息则投夭折票。</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收到完成报告则投提交票，并进入等待状态，直到收到协调者的提交命令时，才向</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发出提交命令，子事务真正提交。</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全局事务提交的方法</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投提交票后，</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由于某种原因</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如打破死锁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而夭折该子事务，若协调者决定夭折这个事务，则不用做任何事。</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若协调者决定提交，则</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将重新递交夭折了的子事务给</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，称为重做子事务，如再次夭折了，将再次重做，直到成功地提交为止。</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10.7 </a:t>
            </a:r>
            <a:r>
              <a:rPr lang="zh-CN" altLang="en-US" dirty="0"/>
              <a:t>联邦数据库和多数据库系统</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b="1" dirty="0">
                <a:latin typeface="微软雅黑" panose="020B0503020204020204" pitchFamily="34" charset="-122"/>
                <a:ea typeface="微软雅黑" panose="020B0503020204020204" pitchFamily="34" charset="-122"/>
              </a:rPr>
              <a:t>多数据库系统</a:t>
            </a:r>
            <a:endParaRPr lang="en-US" altLang="zh-CN" b="1"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全局事务提交的方法</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对局部子事务则稍有不同，</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在收到子事务时就投票，让协调者尽快知道是否会夭折。</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以后</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要等到从协调者收到了提交命令，又接到</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的完成报告后才向</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发提交命令。</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从协调者收到了提交命令而</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报告夭折，</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也将重新递交这个子事务给</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，直到完成为止。</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任何时候如果 </a:t>
            </a:r>
            <a:r>
              <a:rPr lang="en-US" altLang="zh-CN" dirty="0">
                <a:latin typeface="微软雅黑" panose="020B0503020204020204" pitchFamily="34" charset="-122"/>
                <a:ea typeface="微软雅黑" panose="020B0503020204020204" pitchFamily="34" charset="-122"/>
              </a:rPr>
              <a:t>LS</a:t>
            </a:r>
            <a:r>
              <a:rPr lang="zh-CN" altLang="en-US" dirty="0">
                <a:latin typeface="微软雅黑" panose="020B0503020204020204" pitchFamily="34" charset="-122"/>
                <a:ea typeface="微软雅黑" panose="020B0503020204020204" pitchFamily="34" charset="-122"/>
              </a:rPr>
              <a:t>从协调者收到夭折命令而子事务还在执行，则向</a:t>
            </a:r>
            <a:r>
              <a:rPr lang="en-US" altLang="zh-CN" dirty="0">
                <a:latin typeface="微软雅黑" panose="020B0503020204020204" pitchFamily="34" charset="-122"/>
                <a:ea typeface="微软雅黑" panose="020B0503020204020204" pitchFamily="34" charset="-122"/>
              </a:rPr>
              <a:t>LDBS</a:t>
            </a:r>
            <a:r>
              <a:rPr lang="zh-CN" altLang="en-US" dirty="0">
                <a:latin typeface="微软雅黑" panose="020B0503020204020204" pitchFamily="34" charset="-122"/>
                <a:ea typeface="微软雅黑" panose="020B0503020204020204" pitchFamily="34" charset="-122"/>
              </a:rPr>
              <a:t>发天折命令。</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pPr eaLnBrk="1" hangingPunct="1"/>
            <a:r>
              <a:rPr lang="zh-CN" altLang="en-US" dirty="0">
                <a:latin typeface="微软雅黑" panose="020B0503020204020204" pitchFamily="34" charset="-122"/>
                <a:ea typeface="微软雅黑" panose="020B0503020204020204" pitchFamily="34" charset="-122"/>
              </a:rPr>
              <a:t>并行数据库系统 </a:t>
            </a:r>
            <a:endParaRPr lang="en-US" altLang="zh-CN"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什么是并行数据库系统？</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并行数据库的目标</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并行计算机系统的体系结构 </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并行粒度 </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并行方式 </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数据划分 </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b="1" dirty="0"/>
              <a:t>什么是并行数据库系统？</a:t>
            </a:r>
            <a:endParaRPr lang="en-US" altLang="zh-CN" dirty="0">
              <a:ea typeface="楷体_GB2312" pitchFamily="49"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并行数据库系统是在硬件多处理器并行机或集群系统上运行的具有并行处理能力的高性能和高可用性数据库系统，是数据库技术与并行计算技术结合的产物。</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并行数据库系统是新一代高性能的数据库系统，致力于开发数据库操作的时间并行性和空间并行性，是当今研究热点之一。</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并行数据库系统设计面临的问题：并行</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、并行查询优化、并行性数据库操作等。</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b="1" dirty="0"/>
              <a:t>并行数据库的目标</a:t>
            </a:r>
            <a:endParaRPr lang="en-US" altLang="zh-CN" dirty="0">
              <a:ea typeface="楷体_GB2312" pitchFamily="49" charset="-122"/>
            </a:endParaRPr>
          </a:p>
          <a:p>
            <a:pPr lvl="1" fontAlgn="base">
              <a:lnSpc>
                <a:spcPct val="15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高性能：通过将数据库在多个磁盘上分布存储，利用多个处理机对磁盘数据进行并行处理，解决</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瓶颈问题。通过开发查询间并行性、查询内并行性以及操作内并行性，提高查询效率。</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高可用性：可通过数据复制来增强数据库的可用性，当一个磁盘损坏时，该盘上的数据在其他磁盘上的副本仍可供使用。</a:t>
            </a:r>
            <a:endParaRPr lang="zh-CN" altLang="en-US" dirty="0">
              <a:latin typeface="微软雅黑" panose="020B0503020204020204" pitchFamily="34" charset="-122"/>
              <a:ea typeface="微软雅黑" panose="020B0503020204020204" pitchFamily="34" charset="-122"/>
            </a:endParaRPr>
          </a:p>
          <a:p>
            <a:pPr lvl="1" fontAlgn="base">
              <a:lnSpc>
                <a:spcPct val="15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可扩充性：系统通过增加处理和存储能力而平滑地扩展性能的能力。</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a:xfrm>
            <a:off x="397163" y="1219203"/>
            <a:ext cx="6346537" cy="5295897"/>
          </a:xfrm>
        </p:spPr>
        <p:txBody>
          <a:bodyPr>
            <a:normAutofit/>
          </a:bodyPr>
          <a:lstStyle/>
          <a:p>
            <a:r>
              <a:rPr lang="zh-CN" altLang="en-US" b="1" dirty="0"/>
              <a:t>并行数据库的目标</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衡量可扩充性的主要指标包括：</a:t>
            </a:r>
            <a:endParaRPr lang="zh-CN" altLang="en-US"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加速比</a:t>
            </a:r>
            <a:r>
              <a:rPr lang="en-US" altLang="zh-CN" dirty="0">
                <a:latin typeface="微软雅黑" panose="020B0503020204020204" pitchFamily="34" charset="-122"/>
                <a:ea typeface="微软雅黑" panose="020B0503020204020204" pitchFamily="34" charset="-122"/>
              </a:rPr>
              <a:t>(speedup)</a:t>
            </a:r>
            <a:r>
              <a:rPr lang="zh-CN" altLang="en-US" dirty="0">
                <a:latin typeface="微软雅黑" panose="020B0503020204020204" pitchFamily="34" charset="-122"/>
                <a:ea typeface="微软雅黑" panose="020B0503020204020204" pitchFamily="34" charset="-122"/>
              </a:rPr>
              <a:t>：对于某个固定的计算任务，</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倍计算资源系统所完成的时间与</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倍计算资源所完成时间之比；理想的</a:t>
            </a:r>
            <a:r>
              <a:rPr lang="en-US" altLang="zh-CN" dirty="0">
                <a:latin typeface="微软雅黑" panose="020B0503020204020204" pitchFamily="34" charset="-122"/>
                <a:ea typeface="微软雅黑" panose="020B0503020204020204" pitchFamily="34" charset="-122"/>
              </a:rPr>
              <a:t>speedup</a:t>
            </a:r>
            <a:r>
              <a:rPr lang="zh-CN" altLang="en-US" dirty="0">
                <a:latin typeface="微软雅黑" panose="020B0503020204020204" pitchFamily="34" charset="-122"/>
                <a:ea typeface="微软雅黑" panose="020B0503020204020204" pitchFamily="34" charset="-122"/>
              </a:rPr>
              <a:t>曲线为线性加速。</a:t>
            </a:r>
            <a:endParaRPr lang="zh-CN" altLang="en-US"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伸缩比</a:t>
            </a:r>
            <a:r>
              <a:rPr lang="en-US" altLang="zh-CN" dirty="0">
                <a:latin typeface="微软雅黑" panose="020B0503020204020204" pitchFamily="34" charset="-122"/>
                <a:ea typeface="微软雅黑" panose="020B0503020204020204" pitchFamily="34" charset="-122"/>
              </a:rPr>
              <a:t>(scaleup)</a:t>
            </a:r>
            <a:r>
              <a:rPr lang="zh-CN" altLang="en-US" dirty="0">
                <a:latin typeface="微软雅黑" panose="020B0503020204020204" pitchFamily="34" charset="-122"/>
                <a:ea typeface="微软雅黑" panose="020B0503020204020204" pitchFamily="34" charset="-122"/>
              </a:rPr>
              <a:t>：将</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倍计算任务在</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倍计算资源系统所完成的时间与</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倍计算任务在</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倍计算资源系统所完成时间之比，理想的</a:t>
            </a:r>
            <a:r>
              <a:rPr lang="en-US" altLang="zh-CN" dirty="0">
                <a:latin typeface="微软雅黑" panose="020B0503020204020204" pitchFamily="34" charset="-122"/>
                <a:ea typeface="微软雅黑" panose="020B0503020204020204" pitchFamily="34" charset="-122"/>
              </a:rPr>
              <a:t>scaleup</a:t>
            </a:r>
            <a:r>
              <a:rPr lang="zh-CN" altLang="en-US" dirty="0">
                <a:latin typeface="微软雅黑" panose="020B0503020204020204" pitchFamily="34" charset="-122"/>
                <a:ea typeface="微软雅黑" panose="020B0503020204020204" pitchFamily="34" charset="-122"/>
              </a:rPr>
              <a:t>曲线为</a:t>
            </a:r>
            <a:r>
              <a:rPr lang="en-US" altLang="zh-CN" dirty="0">
                <a:latin typeface="微软雅黑" panose="020B0503020204020204" pitchFamily="34" charset="-122"/>
                <a:ea typeface="微软雅黑" panose="020B0503020204020204" pitchFamily="34" charset="-122"/>
              </a:rPr>
              <a:t>y=1</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pic>
        <p:nvPicPr>
          <p:cNvPr id="2" name="Picture 4"/>
          <p:cNvPicPr>
            <a:picLocks noChangeAspect="1"/>
          </p:cNvPicPr>
          <p:nvPr/>
        </p:nvPicPr>
        <p:blipFill>
          <a:blip r:embed="rId1"/>
          <a:srcRect l="47081" t="30467" r="27528" b="46092"/>
          <a:stretch>
            <a:fillRect/>
          </a:stretch>
        </p:blipFill>
        <p:spPr>
          <a:xfrm>
            <a:off x="7594595" y="1720850"/>
            <a:ext cx="3048000" cy="1905000"/>
          </a:xfrm>
          <a:prstGeom prst="rect">
            <a:avLst/>
          </a:prstGeom>
          <a:noFill/>
          <a:ln w="9525">
            <a:noFill/>
          </a:ln>
        </p:spPr>
      </p:pic>
      <p:pic>
        <p:nvPicPr>
          <p:cNvPr id="6" name="Picture 5"/>
          <p:cNvPicPr>
            <a:picLocks noChangeAspect="1"/>
          </p:cNvPicPr>
          <p:nvPr/>
        </p:nvPicPr>
        <p:blipFill>
          <a:blip r:embed="rId1"/>
          <a:srcRect l="47081" t="59116" r="27528" b="16142"/>
          <a:stretch>
            <a:fillRect/>
          </a:stretch>
        </p:blipFill>
        <p:spPr>
          <a:xfrm>
            <a:off x="7594595" y="3854450"/>
            <a:ext cx="2971800" cy="2362200"/>
          </a:xfrm>
          <a:prstGeom prst="rect">
            <a:avLst/>
          </a:prstGeom>
          <a:noFill/>
          <a:ln w="9525">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b="1" dirty="0"/>
              <a:t>影响并行数据库系统性能的三个因素</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solidFill>
                  <a:srgbClr val="FF0000"/>
                </a:solidFill>
                <a:latin typeface="微软雅黑" panose="020B0503020204020204" pitchFamily="34" charset="-122"/>
                <a:ea typeface="微软雅黑" panose="020B0503020204020204" pitchFamily="34" charset="-122"/>
              </a:rPr>
              <a:t>启动代价</a:t>
            </a:r>
            <a:r>
              <a:rPr lang="en-US" altLang="zh-CN" dirty="0">
                <a:solidFill>
                  <a:srgbClr val="FF0000"/>
                </a:solidFill>
                <a:latin typeface="微软雅黑" panose="020B0503020204020204" pitchFamily="34" charset="-122"/>
                <a:ea typeface="微软雅黑" panose="020B0503020204020204" pitchFamily="34" charset="-122"/>
              </a:rPr>
              <a:t>(startup)</a:t>
            </a:r>
            <a:r>
              <a:rPr lang="zh-CN" altLang="en-US" dirty="0">
                <a:latin typeface="微软雅黑" panose="020B0503020204020204" pitchFamily="34" charset="-122"/>
                <a:ea typeface="微软雅黑" panose="020B0503020204020204" pitchFamily="34" charset="-122"/>
              </a:rPr>
              <a:t>：启动一个并行操作的代价。</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solidFill>
                  <a:srgbClr val="FF0000"/>
                </a:solidFill>
                <a:latin typeface="微软雅黑" panose="020B0503020204020204" pitchFamily="34" charset="-122"/>
                <a:ea typeface="微软雅黑" panose="020B0503020204020204" pitchFamily="34" charset="-122"/>
              </a:rPr>
              <a:t>干扰</a:t>
            </a:r>
            <a:r>
              <a:rPr lang="en-US" altLang="zh-CN" dirty="0">
                <a:solidFill>
                  <a:srgbClr val="FF0000"/>
                </a:solidFill>
                <a:latin typeface="微软雅黑" panose="020B0503020204020204" pitchFamily="34" charset="-122"/>
                <a:ea typeface="微软雅黑" panose="020B0503020204020204" pitchFamily="34" charset="-122"/>
              </a:rPr>
              <a:t>(interference)</a:t>
            </a:r>
            <a:r>
              <a:rPr lang="zh-CN" altLang="en-US" dirty="0">
                <a:latin typeface="微软雅黑" panose="020B0503020204020204" pitchFamily="34" charset="-122"/>
                <a:ea typeface="微软雅黑" panose="020B0503020204020204" pitchFamily="34" charset="-122"/>
              </a:rPr>
              <a:t>：共享资源之间的相互干扰。</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solidFill>
                  <a:srgbClr val="FF0000"/>
                </a:solidFill>
                <a:latin typeface="微软雅黑" panose="020B0503020204020204" pitchFamily="34" charset="-122"/>
                <a:ea typeface="微软雅黑" panose="020B0503020204020204" pitchFamily="34" charset="-122"/>
              </a:rPr>
              <a:t>倾斜</a:t>
            </a:r>
            <a:r>
              <a:rPr lang="en-US" altLang="zh-CN" dirty="0">
                <a:solidFill>
                  <a:srgbClr val="FF0000"/>
                </a:solidFill>
                <a:latin typeface="微软雅黑" panose="020B0503020204020204" pitchFamily="34" charset="-122"/>
                <a:ea typeface="微软雅黑" panose="020B0503020204020204" pitchFamily="34" charset="-122"/>
              </a:rPr>
              <a:t>(skew)</a:t>
            </a:r>
            <a:r>
              <a:rPr lang="zh-CN" altLang="en-US" dirty="0">
                <a:latin typeface="微软雅黑" panose="020B0503020204020204" pitchFamily="34" charset="-122"/>
                <a:ea typeface="微软雅黑" panose="020B0503020204020204" pitchFamily="34" charset="-122"/>
              </a:rPr>
              <a:t>：一个操作或一个查询可以被分解为若干个可并行执行的子操作或子查询，执行时间最长的子操作或子查询的响应时间决定该并行操作的响应时间。</a:t>
            </a: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fontScale="92500" lnSpcReduction="10000"/>
          </a:bodyPr>
          <a:lstStyle/>
          <a:p>
            <a:r>
              <a:rPr lang="zh-CN" altLang="en-US" sz="3000" b="1" dirty="0"/>
              <a:t>数据库中的并行性</a:t>
            </a:r>
            <a:endParaRPr lang="en-US" altLang="zh-CN" sz="3000"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数据可划分在多个磁盘上, 导致</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并行。</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个别关系操作</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如排序</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连接</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合计</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可以并行执行</a:t>
            </a:r>
            <a:endParaRPr lang="en-US" altLang="zh-CN"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数据可划分且每个处理器可对其划分部分独立操作。</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查询可用高级语言</a:t>
            </a:r>
            <a:r>
              <a:rPr lang="en-US" altLang="zh-CN" dirty="0">
                <a:latin typeface="微软雅黑" panose="020B0503020204020204" pitchFamily="34" charset="-122"/>
                <a:ea typeface="微软雅黑" panose="020B0503020204020204" pitchFamily="34" charset="-122"/>
              </a:rPr>
              <a:t>(SQL, </a:t>
            </a:r>
            <a:r>
              <a:rPr lang="zh-CN" altLang="en-US" dirty="0">
                <a:latin typeface="微软雅黑" panose="020B0503020204020204" pitchFamily="34" charset="-122"/>
                <a:ea typeface="微软雅黑" panose="020B0503020204020204" pitchFamily="34" charset="-122"/>
              </a:rPr>
              <a:t>翻译到关系代数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表达</a:t>
            </a:r>
            <a:endParaRPr lang="en-US" altLang="zh-CN"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buFont typeface="Wingdings" panose="05000000000000000000" pitchFamily="2" charset="2"/>
              <a:buChar char="ü"/>
              <a:defRPr/>
            </a:pPr>
            <a:r>
              <a:rPr lang="zh-CN" altLang="en-US" dirty="0">
                <a:latin typeface="微软雅黑" panose="020B0503020204020204" pitchFamily="34" charset="-122"/>
                <a:ea typeface="微软雅黑" panose="020B0503020204020204" pitchFamily="34" charset="-122"/>
              </a:rPr>
              <a:t>使并行化更容易。</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不同查询可并行执行</a:t>
            </a:r>
            <a:endParaRPr lang="en-US" altLang="zh-CN" dirty="0">
              <a:latin typeface="微软雅黑" panose="020B0503020204020204" pitchFamily="34" charset="-122"/>
              <a:ea typeface="微软雅黑" panose="020B0503020204020204" pitchFamily="34" charset="-122"/>
            </a:endParaRPr>
          </a:p>
          <a:p>
            <a:pPr lvl="2" fontAlgn="base">
              <a:lnSpc>
                <a:spcPct val="160000"/>
              </a:lnSpc>
              <a:spcAft>
                <a:spcPct val="0"/>
              </a:spcAft>
              <a:buClr>
                <a:schemeClr val="hlink"/>
              </a:buClr>
              <a:buFont typeface="Wingdings" panose="05000000000000000000" pitchFamily="2" charset="2"/>
              <a:buChar char="ü"/>
              <a:defRPr/>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并发控制处理冲突。</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数据库很自然地具有并行性。</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并行计算机的体系结构</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共享内存</a:t>
            </a:r>
            <a:r>
              <a:rPr lang="en-US" altLang="zh-CN" dirty="0">
                <a:latin typeface="微软雅黑" panose="020B0503020204020204" pitchFamily="34" charset="-122"/>
                <a:ea typeface="微软雅黑" panose="020B0503020204020204" pitchFamily="34" charset="-122"/>
              </a:rPr>
              <a:t>(Shared-Memory</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SM)</a:t>
            </a:r>
            <a:r>
              <a:rPr lang="zh-CN" altLang="en-US" dirty="0">
                <a:latin typeface="微软雅黑" panose="020B0503020204020204" pitchFamily="34" charset="-122"/>
                <a:ea typeface="微软雅黑" panose="020B0503020204020204" pitchFamily="34" charset="-122"/>
              </a:rPr>
              <a:t>结构：</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grpSp>
        <p:nvGrpSpPr>
          <p:cNvPr id="2" name="Group 22"/>
          <p:cNvGrpSpPr/>
          <p:nvPr/>
        </p:nvGrpSpPr>
        <p:grpSpPr>
          <a:xfrm>
            <a:off x="2383630" y="2672557"/>
            <a:ext cx="7272336" cy="3455989"/>
            <a:chOff x="2772" y="9464"/>
            <a:chExt cx="6300" cy="4716"/>
          </a:xfrm>
        </p:grpSpPr>
        <p:sp>
          <p:nvSpPr>
            <p:cNvPr id="6" name="Rectangle 23"/>
            <p:cNvSpPr/>
            <p:nvPr/>
          </p:nvSpPr>
          <p:spPr>
            <a:xfrm>
              <a:off x="2772" y="9464"/>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处理机</a:t>
              </a:r>
              <a:endParaRPr lang="zh-CN" altLang="en-US" sz="4000" b="1" dirty="0">
                <a:latin typeface="宋体" panose="02010600030101010101" pitchFamily="2" charset="-122"/>
              </a:endParaRPr>
            </a:p>
          </p:txBody>
        </p:sp>
        <p:sp>
          <p:nvSpPr>
            <p:cNvPr id="8" name="Rectangle 24"/>
            <p:cNvSpPr/>
            <p:nvPr/>
          </p:nvSpPr>
          <p:spPr>
            <a:xfrm>
              <a:off x="5217" y="9464"/>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处理机</a:t>
              </a:r>
              <a:endParaRPr lang="zh-CN" altLang="en-US" sz="4000" b="1" dirty="0">
                <a:latin typeface="宋体" panose="02010600030101010101" pitchFamily="2" charset="-122"/>
              </a:endParaRPr>
            </a:p>
          </p:txBody>
        </p:sp>
        <p:sp>
          <p:nvSpPr>
            <p:cNvPr id="9" name="Rectangle 25"/>
            <p:cNvSpPr/>
            <p:nvPr/>
          </p:nvSpPr>
          <p:spPr>
            <a:xfrm>
              <a:off x="7632" y="9464"/>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处理机</a:t>
              </a:r>
              <a:endParaRPr lang="zh-CN" altLang="en-US" sz="4000" b="1" dirty="0">
                <a:latin typeface="宋体" panose="02010600030101010101" pitchFamily="2" charset="-122"/>
              </a:endParaRPr>
            </a:p>
          </p:txBody>
        </p:sp>
        <p:sp>
          <p:nvSpPr>
            <p:cNvPr id="10" name="Rectangle 26"/>
            <p:cNvSpPr/>
            <p:nvPr/>
          </p:nvSpPr>
          <p:spPr>
            <a:xfrm>
              <a:off x="2880" y="10556"/>
              <a:ext cx="612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互连网络</a:t>
              </a:r>
              <a:endParaRPr lang="zh-CN" altLang="en-US" sz="4000" b="1" dirty="0">
                <a:latin typeface="宋体" panose="02010600030101010101" pitchFamily="2" charset="-122"/>
              </a:endParaRPr>
            </a:p>
          </p:txBody>
        </p:sp>
        <p:sp>
          <p:nvSpPr>
            <p:cNvPr id="11" name="Rectangle 27"/>
            <p:cNvSpPr/>
            <p:nvPr/>
          </p:nvSpPr>
          <p:spPr>
            <a:xfrm>
              <a:off x="2880" y="11804"/>
              <a:ext cx="612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共享存储器</a:t>
              </a:r>
              <a:endParaRPr lang="zh-CN" altLang="en-US" sz="4000" b="1" dirty="0">
                <a:latin typeface="宋体" panose="02010600030101010101" pitchFamily="2" charset="-122"/>
              </a:endParaRPr>
            </a:p>
          </p:txBody>
        </p:sp>
        <p:sp>
          <p:nvSpPr>
            <p:cNvPr id="12" name="AutoShape 28"/>
            <p:cNvSpPr/>
            <p:nvPr/>
          </p:nvSpPr>
          <p:spPr>
            <a:xfrm>
              <a:off x="2940" y="13244"/>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磁盘</a:t>
              </a:r>
              <a:endParaRPr lang="zh-CN" altLang="en-US" sz="4000" b="1" dirty="0">
                <a:latin typeface="宋体" panose="02010600030101010101" pitchFamily="2" charset="-122"/>
              </a:endParaRPr>
            </a:p>
          </p:txBody>
        </p:sp>
        <p:sp>
          <p:nvSpPr>
            <p:cNvPr id="13" name="AutoShape 29"/>
            <p:cNvSpPr/>
            <p:nvPr/>
          </p:nvSpPr>
          <p:spPr>
            <a:xfrm>
              <a:off x="5292" y="13244"/>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磁盘</a:t>
              </a:r>
              <a:endParaRPr lang="zh-CN" altLang="en-US" sz="4000" b="1" dirty="0">
                <a:latin typeface="宋体" panose="02010600030101010101" pitchFamily="2" charset="-122"/>
              </a:endParaRPr>
            </a:p>
          </p:txBody>
        </p:sp>
        <p:sp>
          <p:nvSpPr>
            <p:cNvPr id="14" name="AutoShape 30"/>
            <p:cNvSpPr/>
            <p:nvPr/>
          </p:nvSpPr>
          <p:spPr>
            <a:xfrm>
              <a:off x="7632" y="13244"/>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800" dirty="0">
                  <a:latin typeface="Times New Roman" panose="02020603050405020304" pitchFamily="18" charset="0"/>
                </a:rPr>
                <a:t>磁盘</a:t>
              </a:r>
              <a:endParaRPr lang="zh-CN" altLang="en-US" sz="4000" b="1" dirty="0">
                <a:latin typeface="宋体" panose="02010600030101010101" pitchFamily="2" charset="-122"/>
              </a:endParaRPr>
            </a:p>
          </p:txBody>
        </p:sp>
        <p:sp>
          <p:nvSpPr>
            <p:cNvPr id="15" name="Line 31"/>
            <p:cNvSpPr/>
            <p:nvPr/>
          </p:nvSpPr>
          <p:spPr>
            <a:xfrm>
              <a:off x="3600" y="10072"/>
              <a:ext cx="0" cy="444"/>
            </a:xfrm>
            <a:prstGeom prst="line">
              <a:avLst/>
            </a:prstGeom>
            <a:ln w="9525" cap="flat" cmpd="sng">
              <a:solidFill>
                <a:srgbClr val="000000"/>
              </a:solidFill>
              <a:prstDash val="solid"/>
              <a:headEnd type="none" w="med" len="med"/>
              <a:tailEnd type="none" w="med" len="med"/>
            </a:ln>
          </p:spPr>
        </p:sp>
        <p:sp>
          <p:nvSpPr>
            <p:cNvPr id="16" name="Line 32"/>
            <p:cNvSpPr/>
            <p:nvPr/>
          </p:nvSpPr>
          <p:spPr>
            <a:xfrm>
              <a:off x="5940" y="10072"/>
              <a:ext cx="0" cy="468"/>
            </a:xfrm>
            <a:prstGeom prst="line">
              <a:avLst/>
            </a:prstGeom>
            <a:ln w="9525" cap="flat" cmpd="sng">
              <a:solidFill>
                <a:srgbClr val="000000"/>
              </a:solidFill>
              <a:prstDash val="solid"/>
              <a:headEnd type="none" w="med" len="med"/>
              <a:tailEnd type="none" w="med" len="med"/>
            </a:ln>
          </p:spPr>
        </p:sp>
        <p:sp>
          <p:nvSpPr>
            <p:cNvPr id="17" name="Line 33"/>
            <p:cNvSpPr/>
            <p:nvPr/>
          </p:nvSpPr>
          <p:spPr>
            <a:xfrm>
              <a:off x="3600" y="12464"/>
              <a:ext cx="0" cy="936"/>
            </a:xfrm>
            <a:prstGeom prst="line">
              <a:avLst/>
            </a:prstGeom>
            <a:ln w="9525" cap="flat" cmpd="sng">
              <a:solidFill>
                <a:srgbClr val="000000"/>
              </a:solidFill>
              <a:prstDash val="solid"/>
              <a:headEnd type="none" w="med" len="med"/>
              <a:tailEnd type="none" w="med" len="med"/>
            </a:ln>
          </p:spPr>
        </p:sp>
        <p:sp>
          <p:nvSpPr>
            <p:cNvPr id="18" name="Line 34"/>
            <p:cNvSpPr/>
            <p:nvPr/>
          </p:nvSpPr>
          <p:spPr>
            <a:xfrm>
              <a:off x="5940" y="12464"/>
              <a:ext cx="0" cy="936"/>
            </a:xfrm>
            <a:prstGeom prst="line">
              <a:avLst/>
            </a:prstGeom>
            <a:ln w="9525" cap="flat" cmpd="sng">
              <a:solidFill>
                <a:srgbClr val="000000"/>
              </a:solidFill>
              <a:prstDash val="solid"/>
              <a:headEnd type="none" w="med" len="med"/>
              <a:tailEnd type="none" w="med" len="med"/>
            </a:ln>
          </p:spPr>
        </p:sp>
        <p:sp>
          <p:nvSpPr>
            <p:cNvPr id="19" name="Line 35"/>
            <p:cNvSpPr/>
            <p:nvPr/>
          </p:nvSpPr>
          <p:spPr>
            <a:xfrm>
              <a:off x="8280" y="12404"/>
              <a:ext cx="0" cy="996"/>
            </a:xfrm>
            <a:prstGeom prst="line">
              <a:avLst/>
            </a:prstGeom>
            <a:ln w="9525" cap="flat" cmpd="sng">
              <a:solidFill>
                <a:srgbClr val="000000"/>
              </a:solidFill>
              <a:prstDash val="solid"/>
              <a:headEnd type="none" w="med" len="med"/>
              <a:tailEnd type="none" w="med" len="med"/>
            </a:ln>
          </p:spPr>
        </p:sp>
        <p:sp>
          <p:nvSpPr>
            <p:cNvPr id="20" name="Line 36"/>
            <p:cNvSpPr/>
            <p:nvPr/>
          </p:nvSpPr>
          <p:spPr>
            <a:xfrm>
              <a:off x="5910" y="11171"/>
              <a:ext cx="0" cy="624"/>
            </a:xfrm>
            <a:prstGeom prst="line">
              <a:avLst/>
            </a:prstGeom>
            <a:ln w="9525" cap="flat" cmpd="sng">
              <a:solidFill>
                <a:srgbClr val="000000"/>
              </a:solidFill>
              <a:prstDash val="solid"/>
              <a:headEnd type="none" w="med" len="med"/>
              <a:tailEnd type="none" w="med" len="med"/>
            </a:ln>
          </p:spPr>
        </p:sp>
        <p:sp>
          <p:nvSpPr>
            <p:cNvPr id="21" name="Line 37"/>
            <p:cNvSpPr/>
            <p:nvPr/>
          </p:nvSpPr>
          <p:spPr>
            <a:xfrm>
              <a:off x="3555" y="11156"/>
              <a:ext cx="0" cy="624"/>
            </a:xfrm>
            <a:prstGeom prst="line">
              <a:avLst/>
            </a:prstGeom>
            <a:ln w="9525" cap="flat" cmpd="sng">
              <a:solidFill>
                <a:srgbClr val="000000"/>
              </a:solidFill>
              <a:prstDash val="solid"/>
              <a:headEnd type="none" w="med" len="med"/>
              <a:tailEnd type="none" w="med" len="med"/>
            </a:ln>
          </p:spPr>
        </p:sp>
        <p:sp>
          <p:nvSpPr>
            <p:cNvPr id="22" name="Line 38"/>
            <p:cNvSpPr/>
            <p:nvPr/>
          </p:nvSpPr>
          <p:spPr>
            <a:xfrm>
              <a:off x="8280" y="11186"/>
              <a:ext cx="0" cy="624"/>
            </a:xfrm>
            <a:prstGeom prst="line">
              <a:avLst/>
            </a:prstGeom>
            <a:ln w="9525" cap="flat" cmpd="sng">
              <a:solidFill>
                <a:srgbClr val="000000"/>
              </a:solidFill>
              <a:prstDash val="solid"/>
              <a:headEnd type="none" w="med" len="med"/>
              <a:tailEnd type="none" w="med" len="med"/>
            </a:ln>
          </p:spPr>
        </p:sp>
        <p:sp>
          <p:nvSpPr>
            <p:cNvPr id="23" name="Line 39"/>
            <p:cNvSpPr/>
            <p:nvPr/>
          </p:nvSpPr>
          <p:spPr>
            <a:xfrm>
              <a:off x="8280" y="10072"/>
              <a:ext cx="0" cy="468"/>
            </a:xfrm>
            <a:prstGeom prst="line">
              <a:avLst/>
            </a:prstGeom>
            <a:ln w="9525" cap="flat" cmpd="sng">
              <a:solidFill>
                <a:srgbClr val="000000"/>
              </a:solidFill>
              <a:prstDash val="solid"/>
              <a:headEnd type="none" w="med" len="med"/>
              <a:tailEnd type="none" w="med" len="med"/>
            </a:ln>
          </p:spPr>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并行计算机的体系结构</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共享磁盘</a:t>
            </a:r>
            <a:r>
              <a:rPr lang="en-US" altLang="zh-CN" dirty="0">
                <a:latin typeface="微软雅黑" panose="020B0503020204020204" pitchFamily="34" charset="-122"/>
                <a:ea typeface="微软雅黑" panose="020B0503020204020204" pitchFamily="34" charset="-122"/>
              </a:rPr>
              <a:t>(Shared-Disk</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SD)</a:t>
            </a:r>
            <a:r>
              <a:rPr lang="zh-CN" altLang="en-US" dirty="0">
                <a:latin typeface="微软雅黑" panose="020B0503020204020204" pitchFamily="34" charset="-122"/>
                <a:ea typeface="微软雅黑" panose="020B0503020204020204" pitchFamily="34" charset="-122"/>
              </a:rPr>
              <a:t>结构：</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grpSp>
        <p:nvGrpSpPr>
          <p:cNvPr id="24" name="Group 22"/>
          <p:cNvGrpSpPr/>
          <p:nvPr/>
        </p:nvGrpSpPr>
        <p:grpSpPr>
          <a:xfrm>
            <a:off x="2008114" y="2559049"/>
            <a:ext cx="7948686" cy="3535363"/>
            <a:chOff x="2772" y="2361"/>
            <a:chExt cx="6300" cy="4560"/>
          </a:xfrm>
        </p:grpSpPr>
        <p:sp>
          <p:nvSpPr>
            <p:cNvPr id="25" name="Rectangle 23"/>
            <p:cNvSpPr/>
            <p:nvPr/>
          </p:nvSpPr>
          <p:spPr>
            <a:xfrm>
              <a:off x="2772" y="2361"/>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6" name="Rectangle 24"/>
            <p:cNvSpPr/>
            <p:nvPr/>
          </p:nvSpPr>
          <p:spPr>
            <a:xfrm>
              <a:off x="5217" y="2361"/>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7" name="Rectangle 25"/>
            <p:cNvSpPr/>
            <p:nvPr/>
          </p:nvSpPr>
          <p:spPr>
            <a:xfrm>
              <a:off x="7632" y="2361"/>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8" name="Rectangle 26"/>
            <p:cNvSpPr/>
            <p:nvPr/>
          </p:nvSpPr>
          <p:spPr>
            <a:xfrm>
              <a:off x="2880" y="5013"/>
              <a:ext cx="612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互连网络</a:t>
              </a:r>
              <a:endParaRPr lang="zh-CN" altLang="en-US" sz="3600" b="1" dirty="0">
                <a:latin typeface="宋体" panose="02010600030101010101" pitchFamily="2" charset="-122"/>
              </a:endParaRPr>
            </a:p>
          </p:txBody>
        </p:sp>
        <p:sp>
          <p:nvSpPr>
            <p:cNvPr id="29" name="AutoShape 27"/>
            <p:cNvSpPr/>
            <p:nvPr/>
          </p:nvSpPr>
          <p:spPr>
            <a:xfrm>
              <a:off x="2910" y="5985"/>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30" name="AutoShape 28"/>
            <p:cNvSpPr/>
            <p:nvPr/>
          </p:nvSpPr>
          <p:spPr>
            <a:xfrm>
              <a:off x="5220" y="5985"/>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31" name="AutoShape 29"/>
            <p:cNvSpPr/>
            <p:nvPr/>
          </p:nvSpPr>
          <p:spPr>
            <a:xfrm>
              <a:off x="7632" y="5985"/>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32" name="Line 30"/>
            <p:cNvSpPr/>
            <p:nvPr/>
          </p:nvSpPr>
          <p:spPr>
            <a:xfrm>
              <a:off x="3600" y="3006"/>
              <a:ext cx="0" cy="780"/>
            </a:xfrm>
            <a:prstGeom prst="line">
              <a:avLst/>
            </a:prstGeom>
            <a:ln w="9525" cap="flat" cmpd="sng">
              <a:solidFill>
                <a:srgbClr val="000000"/>
              </a:solidFill>
              <a:prstDash val="solid"/>
              <a:headEnd type="none" w="med" len="med"/>
              <a:tailEnd type="none" w="med" len="med"/>
            </a:ln>
          </p:spPr>
        </p:sp>
        <p:sp>
          <p:nvSpPr>
            <p:cNvPr id="33" name="Line 31"/>
            <p:cNvSpPr/>
            <p:nvPr/>
          </p:nvSpPr>
          <p:spPr>
            <a:xfrm>
              <a:off x="5925" y="2976"/>
              <a:ext cx="0" cy="780"/>
            </a:xfrm>
            <a:prstGeom prst="line">
              <a:avLst/>
            </a:prstGeom>
            <a:ln w="9525" cap="flat" cmpd="sng">
              <a:solidFill>
                <a:srgbClr val="000000"/>
              </a:solidFill>
              <a:prstDash val="solid"/>
              <a:headEnd type="none" w="med" len="med"/>
              <a:tailEnd type="none" w="med" len="med"/>
            </a:ln>
          </p:spPr>
        </p:sp>
        <p:sp>
          <p:nvSpPr>
            <p:cNvPr id="34" name="Line 32"/>
            <p:cNvSpPr/>
            <p:nvPr/>
          </p:nvSpPr>
          <p:spPr>
            <a:xfrm>
              <a:off x="8355" y="2991"/>
              <a:ext cx="0" cy="780"/>
            </a:xfrm>
            <a:prstGeom prst="line">
              <a:avLst/>
            </a:prstGeom>
            <a:ln w="9525" cap="flat" cmpd="sng">
              <a:solidFill>
                <a:srgbClr val="000000"/>
              </a:solidFill>
              <a:prstDash val="solid"/>
              <a:headEnd type="none" w="med" len="med"/>
              <a:tailEnd type="none" w="med" len="med"/>
            </a:ln>
          </p:spPr>
        </p:sp>
        <p:sp>
          <p:nvSpPr>
            <p:cNvPr id="35" name="Line 33"/>
            <p:cNvSpPr/>
            <p:nvPr/>
          </p:nvSpPr>
          <p:spPr>
            <a:xfrm flipH="1">
              <a:off x="5940" y="4269"/>
              <a:ext cx="0" cy="780"/>
            </a:xfrm>
            <a:prstGeom prst="line">
              <a:avLst/>
            </a:prstGeom>
            <a:ln w="9525" cap="flat" cmpd="sng">
              <a:solidFill>
                <a:srgbClr val="000000"/>
              </a:solidFill>
              <a:prstDash val="solid"/>
              <a:headEnd type="none" w="med" len="med"/>
              <a:tailEnd type="none" w="med" len="med"/>
            </a:ln>
          </p:spPr>
        </p:sp>
        <p:sp>
          <p:nvSpPr>
            <p:cNvPr id="36" name="Line 34"/>
            <p:cNvSpPr/>
            <p:nvPr/>
          </p:nvSpPr>
          <p:spPr>
            <a:xfrm flipH="1">
              <a:off x="3600" y="4269"/>
              <a:ext cx="0" cy="780"/>
            </a:xfrm>
            <a:prstGeom prst="line">
              <a:avLst/>
            </a:prstGeom>
            <a:ln w="9525" cap="flat" cmpd="sng">
              <a:solidFill>
                <a:srgbClr val="000000"/>
              </a:solidFill>
              <a:prstDash val="solid"/>
              <a:headEnd type="none" w="med" len="med"/>
              <a:tailEnd type="none" w="med" len="med"/>
            </a:ln>
          </p:spPr>
        </p:sp>
        <p:sp>
          <p:nvSpPr>
            <p:cNvPr id="37" name="Line 35"/>
            <p:cNvSpPr/>
            <p:nvPr/>
          </p:nvSpPr>
          <p:spPr>
            <a:xfrm>
              <a:off x="8295" y="4269"/>
              <a:ext cx="0" cy="750"/>
            </a:xfrm>
            <a:prstGeom prst="line">
              <a:avLst/>
            </a:prstGeom>
            <a:ln w="9525" cap="flat" cmpd="sng">
              <a:solidFill>
                <a:srgbClr val="000000"/>
              </a:solidFill>
              <a:prstDash val="solid"/>
              <a:headEnd type="none" w="med" len="med"/>
              <a:tailEnd type="none" w="med" len="med"/>
            </a:ln>
          </p:spPr>
        </p:sp>
        <p:sp>
          <p:nvSpPr>
            <p:cNvPr id="38" name="Rectangle 36"/>
            <p:cNvSpPr/>
            <p:nvPr/>
          </p:nvSpPr>
          <p:spPr>
            <a:xfrm>
              <a:off x="2880" y="3801"/>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sp>
          <p:nvSpPr>
            <p:cNvPr id="39" name="Rectangle 37"/>
            <p:cNvSpPr/>
            <p:nvPr/>
          </p:nvSpPr>
          <p:spPr>
            <a:xfrm>
              <a:off x="5220" y="3801"/>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sp>
          <p:nvSpPr>
            <p:cNvPr id="40" name="Rectangle 38"/>
            <p:cNvSpPr/>
            <p:nvPr/>
          </p:nvSpPr>
          <p:spPr>
            <a:xfrm>
              <a:off x="7740" y="3801"/>
              <a:ext cx="126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sp>
          <p:nvSpPr>
            <p:cNvPr id="41" name="Line 39"/>
            <p:cNvSpPr/>
            <p:nvPr/>
          </p:nvSpPr>
          <p:spPr>
            <a:xfrm>
              <a:off x="3600" y="5614"/>
              <a:ext cx="0" cy="468"/>
            </a:xfrm>
            <a:prstGeom prst="line">
              <a:avLst/>
            </a:prstGeom>
            <a:ln w="9525" cap="flat" cmpd="sng">
              <a:solidFill>
                <a:srgbClr val="000000"/>
              </a:solidFill>
              <a:prstDash val="solid"/>
              <a:headEnd type="none" w="med" len="med"/>
              <a:tailEnd type="none" w="med" len="med"/>
            </a:ln>
          </p:spPr>
        </p:sp>
        <p:sp>
          <p:nvSpPr>
            <p:cNvPr id="42" name="Line 40"/>
            <p:cNvSpPr/>
            <p:nvPr/>
          </p:nvSpPr>
          <p:spPr>
            <a:xfrm>
              <a:off x="5760" y="5629"/>
              <a:ext cx="0" cy="468"/>
            </a:xfrm>
            <a:prstGeom prst="line">
              <a:avLst/>
            </a:prstGeom>
            <a:ln w="9525" cap="flat" cmpd="sng">
              <a:solidFill>
                <a:srgbClr val="000000"/>
              </a:solidFill>
              <a:prstDash val="solid"/>
              <a:headEnd type="none" w="med" len="med"/>
              <a:tailEnd type="none" w="med" len="med"/>
            </a:ln>
          </p:spPr>
        </p:sp>
        <p:sp>
          <p:nvSpPr>
            <p:cNvPr id="43" name="Line 41"/>
            <p:cNvSpPr/>
            <p:nvPr/>
          </p:nvSpPr>
          <p:spPr>
            <a:xfrm>
              <a:off x="8265" y="5569"/>
              <a:ext cx="0" cy="468"/>
            </a:xfrm>
            <a:prstGeom prst="line">
              <a:avLst/>
            </a:prstGeom>
            <a:ln w="9525" cap="flat" cmpd="sng">
              <a:solidFill>
                <a:srgbClr val="000000"/>
              </a:solidFill>
              <a:prstDash val="solid"/>
              <a:headEnd type="none" w="med" len="med"/>
              <a:tailEnd type="none" w="med" len="med"/>
            </a:ln>
          </p:spPr>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并行计算机的体系结构</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无共享资源</a:t>
            </a:r>
            <a:r>
              <a:rPr lang="en-US" altLang="zh-CN" dirty="0">
                <a:latin typeface="微软雅黑" panose="020B0503020204020204" pitchFamily="34" charset="-122"/>
                <a:ea typeface="微软雅黑" panose="020B0503020204020204" pitchFamily="34" charset="-122"/>
              </a:rPr>
              <a:t>(Shard-Nothing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SN)</a:t>
            </a:r>
            <a:r>
              <a:rPr lang="zh-CN" altLang="en-US" dirty="0">
                <a:latin typeface="微软雅黑" panose="020B0503020204020204" pitchFamily="34" charset="-122"/>
                <a:ea typeface="微软雅黑" panose="020B0503020204020204" pitchFamily="34" charset="-122"/>
              </a:rPr>
              <a:t>结构：</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grpSp>
        <p:nvGrpSpPr>
          <p:cNvPr id="2" name="Group 24"/>
          <p:cNvGrpSpPr/>
          <p:nvPr/>
        </p:nvGrpSpPr>
        <p:grpSpPr>
          <a:xfrm>
            <a:off x="2010965" y="2521745"/>
            <a:ext cx="8170070" cy="3744911"/>
            <a:chOff x="3030" y="7212"/>
            <a:chExt cx="6150" cy="4680"/>
          </a:xfrm>
        </p:grpSpPr>
        <p:sp>
          <p:nvSpPr>
            <p:cNvPr id="6" name="AutoShape 25"/>
            <p:cNvSpPr/>
            <p:nvPr/>
          </p:nvSpPr>
          <p:spPr>
            <a:xfrm>
              <a:off x="3090" y="10956"/>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8" name="AutoShape 26"/>
            <p:cNvSpPr/>
            <p:nvPr/>
          </p:nvSpPr>
          <p:spPr>
            <a:xfrm>
              <a:off x="5400" y="10956"/>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9" name="AutoShape 27"/>
            <p:cNvSpPr/>
            <p:nvPr/>
          </p:nvSpPr>
          <p:spPr>
            <a:xfrm>
              <a:off x="7812" y="10956"/>
              <a:ext cx="1260" cy="936"/>
            </a:xfrm>
            <a:prstGeom prst="can">
              <a:avLst>
                <a:gd name="adj" fmla="val 25000"/>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磁盘</a:t>
              </a:r>
              <a:endParaRPr lang="zh-CN" altLang="en-US" sz="3600" b="1" dirty="0">
                <a:latin typeface="宋体" panose="02010600030101010101" pitchFamily="2" charset="-122"/>
              </a:endParaRPr>
            </a:p>
          </p:txBody>
        </p:sp>
        <p:sp>
          <p:nvSpPr>
            <p:cNvPr id="10" name="Line 28"/>
            <p:cNvSpPr/>
            <p:nvPr/>
          </p:nvSpPr>
          <p:spPr>
            <a:xfrm>
              <a:off x="3780" y="7666"/>
              <a:ext cx="0" cy="780"/>
            </a:xfrm>
            <a:prstGeom prst="line">
              <a:avLst/>
            </a:prstGeom>
            <a:ln w="9525" cap="flat" cmpd="sng">
              <a:solidFill>
                <a:srgbClr val="000000"/>
              </a:solidFill>
              <a:prstDash val="solid"/>
              <a:headEnd type="none" w="med" len="med"/>
              <a:tailEnd type="none" w="med" len="med"/>
            </a:ln>
          </p:spPr>
        </p:sp>
        <p:sp>
          <p:nvSpPr>
            <p:cNvPr id="11" name="Line 29"/>
            <p:cNvSpPr/>
            <p:nvPr/>
          </p:nvSpPr>
          <p:spPr>
            <a:xfrm>
              <a:off x="6105" y="7636"/>
              <a:ext cx="0" cy="780"/>
            </a:xfrm>
            <a:prstGeom prst="line">
              <a:avLst/>
            </a:prstGeom>
            <a:ln w="9525" cap="flat" cmpd="sng">
              <a:solidFill>
                <a:srgbClr val="000000"/>
              </a:solidFill>
              <a:prstDash val="solid"/>
              <a:headEnd type="none" w="med" len="med"/>
              <a:tailEnd type="none" w="med" len="med"/>
            </a:ln>
          </p:spPr>
        </p:sp>
        <p:sp>
          <p:nvSpPr>
            <p:cNvPr id="12" name="Line 30"/>
            <p:cNvSpPr/>
            <p:nvPr/>
          </p:nvSpPr>
          <p:spPr>
            <a:xfrm>
              <a:off x="8535" y="7651"/>
              <a:ext cx="0" cy="780"/>
            </a:xfrm>
            <a:prstGeom prst="line">
              <a:avLst/>
            </a:prstGeom>
            <a:ln w="9525" cap="flat" cmpd="sng">
              <a:solidFill>
                <a:srgbClr val="000000"/>
              </a:solidFill>
              <a:prstDash val="solid"/>
              <a:headEnd type="none" w="med" len="med"/>
              <a:tailEnd type="none" w="med" len="med"/>
            </a:ln>
          </p:spPr>
        </p:sp>
        <p:sp>
          <p:nvSpPr>
            <p:cNvPr id="13" name="Line 31"/>
            <p:cNvSpPr/>
            <p:nvPr/>
          </p:nvSpPr>
          <p:spPr>
            <a:xfrm>
              <a:off x="3735" y="9976"/>
              <a:ext cx="0" cy="1092"/>
            </a:xfrm>
            <a:prstGeom prst="line">
              <a:avLst/>
            </a:prstGeom>
            <a:ln w="9525" cap="flat" cmpd="sng">
              <a:solidFill>
                <a:srgbClr val="000000"/>
              </a:solidFill>
              <a:prstDash val="solid"/>
              <a:headEnd type="none" w="med" len="med"/>
              <a:tailEnd type="none" w="med" len="med"/>
            </a:ln>
          </p:spPr>
        </p:sp>
        <p:sp>
          <p:nvSpPr>
            <p:cNvPr id="14" name="Line 32"/>
            <p:cNvSpPr/>
            <p:nvPr/>
          </p:nvSpPr>
          <p:spPr>
            <a:xfrm>
              <a:off x="6075" y="9991"/>
              <a:ext cx="0" cy="1092"/>
            </a:xfrm>
            <a:prstGeom prst="line">
              <a:avLst/>
            </a:prstGeom>
            <a:ln w="9525" cap="flat" cmpd="sng">
              <a:solidFill>
                <a:srgbClr val="000000"/>
              </a:solidFill>
              <a:prstDash val="solid"/>
              <a:headEnd type="none" w="med" len="med"/>
              <a:tailEnd type="none" w="med" len="med"/>
            </a:ln>
          </p:spPr>
        </p:sp>
        <p:sp>
          <p:nvSpPr>
            <p:cNvPr id="15" name="Line 33"/>
            <p:cNvSpPr/>
            <p:nvPr/>
          </p:nvSpPr>
          <p:spPr>
            <a:xfrm>
              <a:off x="8460" y="9991"/>
              <a:ext cx="0" cy="1092"/>
            </a:xfrm>
            <a:prstGeom prst="line">
              <a:avLst/>
            </a:prstGeom>
            <a:ln w="9525" cap="flat" cmpd="sng">
              <a:solidFill>
                <a:srgbClr val="000000"/>
              </a:solidFill>
              <a:prstDash val="solid"/>
              <a:headEnd type="none" w="med" len="med"/>
              <a:tailEnd type="none" w="med" len="med"/>
            </a:ln>
          </p:spPr>
        </p:sp>
        <p:sp>
          <p:nvSpPr>
            <p:cNvPr id="16" name="Line 34"/>
            <p:cNvSpPr/>
            <p:nvPr/>
          </p:nvSpPr>
          <p:spPr>
            <a:xfrm flipH="1">
              <a:off x="6120" y="8929"/>
              <a:ext cx="0" cy="780"/>
            </a:xfrm>
            <a:prstGeom prst="line">
              <a:avLst/>
            </a:prstGeom>
            <a:ln w="9525" cap="flat" cmpd="sng">
              <a:solidFill>
                <a:srgbClr val="000000"/>
              </a:solidFill>
              <a:prstDash val="solid"/>
              <a:headEnd type="none" w="med" len="med"/>
              <a:tailEnd type="none" w="med" len="med"/>
            </a:ln>
          </p:spPr>
        </p:sp>
        <p:sp>
          <p:nvSpPr>
            <p:cNvPr id="17" name="Line 35"/>
            <p:cNvSpPr/>
            <p:nvPr/>
          </p:nvSpPr>
          <p:spPr>
            <a:xfrm flipH="1">
              <a:off x="3780" y="8929"/>
              <a:ext cx="0" cy="780"/>
            </a:xfrm>
            <a:prstGeom prst="line">
              <a:avLst/>
            </a:prstGeom>
            <a:ln w="9525" cap="flat" cmpd="sng">
              <a:solidFill>
                <a:srgbClr val="000000"/>
              </a:solidFill>
              <a:prstDash val="solid"/>
              <a:headEnd type="none" w="med" len="med"/>
              <a:tailEnd type="none" w="med" len="med"/>
            </a:ln>
          </p:spPr>
        </p:sp>
        <p:sp>
          <p:nvSpPr>
            <p:cNvPr id="18" name="Line 36"/>
            <p:cNvSpPr/>
            <p:nvPr/>
          </p:nvSpPr>
          <p:spPr>
            <a:xfrm>
              <a:off x="8475" y="8929"/>
              <a:ext cx="0" cy="750"/>
            </a:xfrm>
            <a:prstGeom prst="line">
              <a:avLst/>
            </a:prstGeom>
            <a:ln w="9525" cap="flat" cmpd="sng">
              <a:solidFill>
                <a:srgbClr val="000000"/>
              </a:solidFill>
              <a:prstDash val="solid"/>
              <a:headEnd type="none" w="med" len="med"/>
              <a:tailEnd type="none" w="med" len="med"/>
            </a:ln>
          </p:spPr>
        </p:sp>
        <p:sp>
          <p:nvSpPr>
            <p:cNvPr id="19" name="Rectangle 37"/>
            <p:cNvSpPr/>
            <p:nvPr/>
          </p:nvSpPr>
          <p:spPr>
            <a:xfrm>
              <a:off x="3060" y="8461"/>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0" name="Rectangle 38"/>
            <p:cNvSpPr/>
            <p:nvPr/>
          </p:nvSpPr>
          <p:spPr>
            <a:xfrm>
              <a:off x="5400" y="8461"/>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1" name="Rectangle 39"/>
            <p:cNvSpPr/>
            <p:nvPr/>
          </p:nvSpPr>
          <p:spPr>
            <a:xfrm>
              <a:off x="7920" y="8461"/>
              <a:ext cx="126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处理机</a:t>
              </a:r>
              <a:endParaRPr lang="zh-CN" altLang="en-US" sz="3600" b="1" dirty="0">
                <a:latin typeface="宋体" panose="02010600030101010101" pitchFamily="2" charset="-122"/>
              </a:endParaRPr>
            </a:p>
          </p:txBody>
        </p:sp>
        <p:sp>
          <p:nvSpPr>
            <p:cNvPr id="22" name="Rectangle 40"/>
            <p:cNvSpPr/>
            <p:nvPr/>
          </p:nvSpPr>
          <p:spPr>
            <a:xfrm>
              <a:off x="3060" y="7212"/>
              <a:ext cx="59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互连网络</a:t>
              </a:r>
              <a:endParaRPr lang="zh-CN" altLang="en-US" sz="3600" b="1" dirty="0">
                <a:latin typeface="宋体" panose="02010600030101010101" pitchFamily="2" charset="-122"/>
              </a:endParaRPr>
            </a:p>
          </p:txBody>
        </p:sp>
        <p:sp>
          <p:nvSpPr>
            <p:cNvPr id="23" name="Rectangle 41"/>
            <p:cNvSpPr/>
            <p:nvPr/>
          </p:nvSpPr>
          <p:spPr>
            <a:xfrm>
              <a:off x="5355" y="9397"/>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sp>
          <p:nvSpPr>
            <p:cNvPr id="44" name="Rectangle 42"/>
            <p:cNvSpPr/>
            <p:nvPr/>
          </p:nvSpPr>
          <p:spPr>
            <a:xfrm>
              <a:off x="3030" y="9397"/>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sp>
          <p:nvSpPr>
            <p:cNvPr id="45" name="Rectangle 43"/>
            <p:cNvSpPr/>
            <p:nvPr/>
          </p:nvSpPr>
          <p:spPr>
            <a:xfrm>
              <a:off x="7740" y="9397"/>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457200" lvl="0" indent="-457200" algn="ctr" eaLnBrk="1" hangingPunct="1">
                <a:spcBef>
                  <a:spcPct val="0"/>
                </a:spcBef>
                <a:buClrTx/>
                <a:buFontTx/>
                <a:buNone/>
              </a:pPr>
              <a:r>
                <a:rPr lang="zh-CN" altLang="en-US" sz="1600" dirty="0">
                  <a:latin typeface="Times New Roman" panose="02020603050405020304" pitchFamily="18" charset="0"/>
                </a:rPr>
                <a:t>存储器</a:t>
              </a:r>
              <a:endParaRPr lang="zh-CN" altLang="en-US" sz="3600" b="1" dirty="0">
                <a:latin typeface="宋体" panose="02010600030101010101" pitchFamily="2" charset="-122"/>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并行计算机的体系结构</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三种并行结构比较</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graphicFrame>
        <p:nvGraphicFramePr>
          <p:cNvPr id="24" name="表格 23"/>
          <p:cNvGraphicFramePr>
            <a:graphicFrameLocks noGrp="1"/>
          </p:cNvGraphicFramePr>
          <p:nvPr/>
        </p:nvGraphicFramePr>
        <p:xfrm>
          <a:off x="2172855" y="2451100"/>
          <a:ext cx="7200900" cy="4314825"/>
        </p:xfrm>
        <a:graphic>
          <a:graphicData uri="http://schemas.openxmlformats.org/drawingml/2006/table">
            <a:tbl>
              <a:tblPr/>
              <a:tblGrid>
                <a:gridCol w="1800225"/>
                <a:gridCol w="1800225"/>
                <a:gridCol w="1800225"/>
                <a:gridCol w="1800225"/>
              </a:tblGrid>
              <a:tr h="898521">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4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共享内存</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共享磁盘</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无共享资源</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性能</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最佳</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较佳</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较佳</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可用性</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低</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较高</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可扩充性</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差</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较好</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好</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负载均衡</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易做到</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易做到</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难做到</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实现技术</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容易</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较复杂</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复杂</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成本</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较低</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低</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处理机数</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数十个</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数百个</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数千个</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规模</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中小系统</a:t>
                      </a:r>
                      <a:endParaRPr kumimoji="1" lang="zh-CN" altLang="en-US" sz="40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中小系统</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大系统</a:t>
                      </a:r>
                      <a:endParaRPr kumimoji="1" lang="zh-CN" altLang="en-US" sz="40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并行粒度</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事务间</a:t>
            </a:r>
            <a:r>
              <a:rPr lang="en-US" altLang="zh-CN" dirty="0">
                <a:latin typeface="微软雅黑" panose="020B0503020204020204" pitchFamily="34" charset="-122"/>
                <a:ea typeface="微软雅黑" panose="020B0503020204020204" pitchFamily="34" charset="-122"/>
              </a:rPr>
              <a:t>(Inter-</a:t>
            </a:r>
            <a:r>
              <a:rPr lang="en-US" altLang="zh-CN" dirty="0" err="1">
                <a:latin typeface="微软雅黑" panose="020B0503020204020204" pitchFamily="34" charset="-122"/>
                <a:ea typeface="微软雅黑" panose="020B0503020204020204" pitchFamily="34" charset="-122"/>
              </a:rPr>
              <a:t>Transation</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并行：是粒度最粗也是最容易实现的并行性由于这种并行性允许多个进程或线索同时处理多个用户请求，因此可以显著增加系统吞吐量，支持更多的并发用户。</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查询间</a:t>
            </a:r>
            <a:r>
              <a:rPr lang="en-US" altLang="zh-CN" dirty="0">
                <a:latin typeface="微软雅黑" panose="020B0503020204020204" pitchFamily="34" charset="-122"/>
                <a:ea typeface="微软雅黑" panose="020B0503020204020204" pitchFamily="34" charset="-122"/>
              </a:rPr>
              <a:t>(Inter-Query)</a:t>
            </a:r>
            <a:r>
              <a:rPr lang="zh-CN" altLang="en-US" dirty="0">
                <a:latin typeface="微软雅黑" panose="020B0503020204020204" pitchFamily="34" charset="-122"/>
                <a:ea typeface="微软雅黑" panose="020B0503020204020204" pitchFamily="34" charset="-122"/>
              </a:rPr>
              <a:t>并行性：也称为事务内</a:t>
            </a:r>
            <a:r>
              <a:rPr lang="en-US" altLang="zh-CN" dirty="0">
                <a:latin typeface="微软雅黑" panose="020B0503020204020204" pitchFamily="34" charset="-122"/>
                <a:ea typeface="微软雅黑" panose="020B0503020204020204" pitchFamily="34" charset="-122"/>
              </a:rPr>
              <a:t>(Intra </a:t>
            </a:r>
            <a:r>
              <a:rPr lang="en-US" altLang="zh-CN" dirty="0" err="1">
                <a:latin typeface="微软雅黑" panose="020B0503020204020204" pitchFamily="34" charset="-122"/>
                <a:ea typeface="微软雅黑" panose="020B0503020204020204" pitchFamily="34" charset="-122"/>
              </a:rPr>
              <a:t>Transation</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并行，同一事务内的不同查询如果是不相关的，它们并行执行必将提高效率，但是，同一事务内的查询如果是相关的，它们并行执行比较复杂，系统必须进行相关性控制。</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并行粒度</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操作间</a:t>
            </a:r>
            <a:r>
              <a:rPr lang="en-US" altLang="zh-CN" dirty="0">
                <a:latin typeface="微软雅黑" panose="020B0503020204020204" pitchFamily="34" charset="-122"/>
                <a:ea typeface="微软雅黑" panose="020B0503020204020204" pitchFamily="34" charset="-122"/>
              </a:rPr>
              <a:t>(Inter-Operation)</a:t>
            </a:r>
            <a:r>
              <a:rPr lang="zh-CN" altLang="en-US" dirty="0">
                <a:latin typeface="微软雅黑" panose="020B0503020204020204" pitchFamily="34" charset="-122"/>
                <a:ea typeface="微软雅黑" panose="020B0503020204020204" pitchFamily="34" charset="-122"/>
              </a:rPr>
              <a:t>并行性：也称为查询内</a:t>
            </a:r>
            <a:r>
              <a:rPr lang="en-US" altLang="zh-CN" dirty="0">
                <a:latin typeface="微软雅黑" panose="020B0503020204020204" pitchFamily="34" charset="-122"/>
                <a:ea typeface="微软雅黑" panose="020B0503020204020204" pitchFamily="34" charset="-122"/>
              </a:rPr>
              <a:t>(Intra-Query)</a:t>
            </a:r>
            <a:r>
              <a:rPr lang="zh-CN" altLang="en-US" dirty="0">
                <a:latin typeface="微软雅黑" panose="020B0503020204020204" pitchFamily="34" charset="-122"/>
                <a:ea typeface="微软雅黑" panose="020B0503020204020204" pitchFamily="34" charset="-122"/>
              </a:rPr>
              <a:t>并行性，同一查询内的不同操作往往可以并行执行。考虑一条</a:t>
            </a:r>
            <a:r>
              <a:rPr lang="en-US" altLang="zh-CN" dirty="0">
                <a:latin typeface="微软雅黑" panose="020B0503020204020204" pitchFamily="34" charset="-122"/>
                <a:ea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rPr>
              <a:t>查询语句可以分解成多个子操作，有多个处理机执行。</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操作内</a:t>
            </a:r>
            <a:r>
              <a:rPr lang="en-US" altLang="zh-CN" dirty="0">
                <a:latin typeface="微软雅黑" panose="020B0503020204020204" pitchFamily="34" charset="-122"/>
                <a:ea typeface="微软雅黑" panose="020B0503020204020204" pitchFamily="34" charset="-122"/>
              </a:rPr>
              <a:t>(intra-Operation)</a:t>
            </a:r>
            <a:r>
              <a:rPr lang="zh-CN" altLang="en-US" dirty="0">
                <a:latin typeface="微软雅黑" panose="020B0503020204020204" pitchFamily="34" charset="-122"/>
                <a:ea typeface="微软雅黑" panose="020B0503020204020204" pitchFamily="34" charset="-122"/>
              </a:rPr>
              <a:t>并行性：是粒度最细的并行性，它将同一操作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如扫描操作、合并操作、排序操作等</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分解成多个独立的子操作，由不同的处理机同时执行。</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并行粒度</a:t>
            </a:r>
            <a:endParaRPr lang="en-US" altLang="zh-CN" dirty="0">
              <a:ea typeface="楷体_GB2312" pitchFamily="49"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
        <p:nvSpPr>
          <p:cNvPr id="45" name="Rectangle 26"/>
          <p:cNvSpPr/>
          <p:nvPr/>
        </p:nvSpPr>
        <p:spPr>
          <a:xfrm>
            <a:off x="5788024" y="1490663"/>
            <a:ext cx="184150" cy="457200"/>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lvl="0" indent="0" algn="ctr">
              <a:spcBef>
                <a:spcPct val="0"/>
              </a:spcBef>
              <a:buClrTx/>
              <a:buFontTx/>
              <a:buNone/>
            </a:pPr>
            <a:endParaRPr lang="zh-CN" altLang="en-US" sz="2400" b="1" dirty="0">
              <a:latin typeface="宋体" panose="02010600030101010101" pitchFamily="2" charset="-122"/>
            </a:endParaRPr>
          </a:p>
        </p:txBody>
      </p:sp>
      <p:sp>
        <p:nvSpPr>
          <p:cNvPr id="80" name="Rectangle 26"/>
          <p:cNvSpPr>
            <a:spLocks noChangeArrowheads="1"/>
          </p:cNvSpPr>
          <p:nvPr/>
        </p:nvSpPr>
        <p:spPr bwMode="auto">
          <a:xfrm>
            <a:off x="5594349" y="2124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b="1">
              <a:latin typeface="宋体" panose="02010600030101010101" pitchFamily="2" charset="-122"/>
            </a:endParaRPr>
          </a:p>
        </p:txBody>
      </p:sp>
      <p:grpSp>
        <p:nvGrpSpPr>
          <p:cNvPr id="81" name="Group 15"/>
          <p:cNvGrpSpPr/>
          <p:nvPr/>
        </p:nvGrpSpPr>
        <p:grpSpPr bwMode="auto">
          <a:xfrm>
            <a:off x="3814762" y="2066925"/>
            <a:ext cx="5810250" cy="3159125"/>
            <a:chOff x="4500" y="3468"/>
            <a:chExt cx="5400" cy="2184"/>
          </a:xfrm>
        </p:grpSpPr>
        <p:sp>
          <p:nvSpPr>
            <p:cNvPr id="82" name="Line 25"/>
            <p:cNvSpPr>
              <a:spLocks noChangeShapeType="1"/>
            </p:cNvSpPr>
            <p:nvPr/>
          </p:nvSpPr>
          <p:spPr bwMode="auto">
            <a:xfrm>
              <a:off x="4500" y="4092"/>
              <a:ext cx="5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3" name="Line 24"/>
            <p:cNvSpPr>
              <a:spLocks noChangeShapeType="1"/>
            </p:cNvSpPr>
            <p:nvPr/>
          </p:nvSpPr>
          <p:spPr bwMode="auto">
            <a:xfrm>
              <a:off x="4500" y="4716"/>
              <a:ext cx="52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4" name="Line 23"/>
            <p:cNvSpPr>
              <a:spLocks noChangeShapeType="1"/>
            </p:cNvSpPr>
            <p:nvPr/>
          </p:nvSpPr>
          <p:spPr bwMode="auto">
            <a:xfrm>
              <a:off x="4500" y="5340"/>
              <a:ext cx="5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5" name="Line 22"/>
            <p:cNvSpPr>
              <a:spLocks noChangeShapeType="1"/>
            </p:cNvSpPr>
            <p:nvPr/>
          </p:nvSpPr>
          <p:spPr bwMode="auto">
            <a:xfrm>
              <a:off x="4500" y="5652"/>
              <a:ext cx="522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sp>
          <p:nvSpPr>
            <p:cNvPr id="86" name="Line 21"/>
            <p:cNvSpPr>
              <a:spLocks noChangeShapeType="1"/>
            </p:cNvSpPr>
            <p:nvPr/>
          </p:nvSpPr>
          <p:spPr bwMode="auto">
            <a:xfrm flipV="1">
              <a:off x="6120" y="3468"/>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7" name="Line 20"/>
            <p:cNvSpPr>
              <a:spLocks noChangeShapeType="1"/>
            </p:cNvSpPr>
            <p:nvPr/>
          </p:nvSpPr>
          <p:spPr bwMode="auto">
            <a:xfrm flipV="1">
              <a:off x="7560" y="3468"/>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8" name="Line 19"/>
            <p:cNvSpPr>
              <a:spLocks noChangeShapeType="1"/>
            </p:cNvSpPr>
            <p:nvPr/>
          </p:nvSpPr>
          <p:spPr bwMode="auto">
            <a:xfrm flipV="1">
              <a:off x="8820" y="3468"/>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89" name="Line 18"/>
            <p:cNvSpPr>
              <a:spLocks noChangeShapeType="1"/>
            </p:cNvSpPr>
            <p:nvPr/>
          </p:nvSpPr>
          <p:spPr bwMode="auto">
            <a:xfrm flipV="1">
              <a:off x="9900" y="3468"/>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90" name="Line 17"/>
            <p:cNvSpPr>
              <a:spLocks noChangeShapeType="1"/>
            </p:cNvSpPr>
            <p:nvPr/>
          </p:nvSpPr>
          <p:spPr bwMode="auto">
            <a:xfrm flipV="1">
              <a:off x="4500" y="3468"/>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91" name="Line 16"/>
            <p:cNvSpPr>
              <a:spLocks noChangeShapeType="1"/>
            </p:cNvSpPr>
            <p:nvPr/>
          </p:nvSpPr>
          <p:spPr bwMode="auto">
            <a:xfrm>
              <a:off x="4500" y="3468"/>
              <a:ext cx="5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p>
          </p:txBody>
        </p:sp>
      </p:grpSp>
      <p:sp>
        <p:nvSpPr>
          <p:cNvPr id="92" name="Rectangle 27"/>
          <p:cNvSpPr>
            <a:spLocks noChangeArrowheads="1"/>
          </p:cNvSpPr>
          <p:nvPr/>
        </p:nvSpPr>
        <p:spPr bwMode="auto">
          <a:xfrm>
            <a:off x="1725612" y="2089150"/>
            <a:ext cx="8353425"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1000" b="1" dirty="0">
                <a:latin typeface="Times New Roman" panose="02020603050405020304" pitchFamily="18" charset="0"/>
              </a:rPr>
              <a:t>                                 </a:t>
            </a:r>
            <a:endParaRPr lang="zh-CN" altLang="en-US" sz="700" b="1" dirty="0">
              <a:latin typeface="宋体" panose="02010600030101010101" pitchFamily="2" charset="-122"/>
            </a:endParaRPr>
          </a:p>
          <a:p>
            <a:pPr>
              <a:spcBef>
                <a:spcPct val="0"/>
              </a:spcBef>
              <a:buClrTx/>
              <a:buFontTx/>
              <a:buNone/>
            </a:pPr>
            <a:r>
              <a:rPr lang="zh-CN" altLang="en-US" sz="2000" b="1" dirty="0">
                <a:latin typeface="Times New Roman" panose="02020603050405020304" pitchFamily="18" charset="0"/>
              </a:rPr>
              <a:t>事务</a:t>
            </a:r>
            <a:r>
              <a:rPr lang="en-US" altLang="zh-CN" sz="2000" b="1" dirty="0">
                <a:latin typeface="Times New Roman" panose="02020603050405020304" pitchFamily="18" charset="0"/>
              </a:rPr>
              <a:t>(</a:t>
            </a:r>
            <a:r>
              <a:rPr lang="en-US" altLang="zh-CN" sz="2000" b="1" dirty="0" err="1">
                <a:latin typeface="Times New Roman" panose="02020603050405020304" pitchFamily="18" charset="0"/>
              </a:rPr>
              <a:t>Transation</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                                                        事务内           事务间</a:t>
            </a:r>
            <a:endParaRPr lang="zh-CN" altLang="en-US" sz="2000" b="1" dirty="0">
              <a:latin typeface="Times New Roman" panose="02020603050405020304" pitchFamily="18" charset="0"/>
            </a:endParaRPr>
          </a:p>
          <a:p>
            <a:pPr>
              <a:spcBef>
                <a:spcPct val="0"/>
              </a:spcBef>
              <a:buClrTx/>
              <a:buFontTx/>
              <a:buNone/>
            </a:pPr>
            <a:endParaRPr lang="zh-CN" altLang="en-US" sz="2000" b="1" dirty="0">
              <a:latin typeface="Times New Roman" panose="02020603050405020304" pitchFamily="18" charset="0"/>
            </a:endParaRPr>
          </a:p>
          <a:p>
            <a:pPr>
              <a:spcBef>
                <a:spcPct val="0"/>
              </a:spcBef>
              <a:buClrTx/>
              <a:buFontTx/>
              <a:buNone/>
            </a:pPr>
            <a:endParaRPr lang="zh-CN" altLang="en-US" sz="1400" b="1" dirty="0">
              <a:latin typeface="宋体" panose="02010600030101010101" pitchFamily="2" charset="-122"/>
            </a:endParaRPr>
          </a:p>
          <a:p>
            <a:pPr>
              <a:spcBef>
                <a:spcPct val="0"/>
              </a:spcBef>
              <a:buClrTx/>
              <a:buFontTx/>
              <a:buNone/>
            </a:pPr>
            <a:r>
              <a:rPr lang="zh-CN" altLang="en-US" sz="2000" b="1" dirty="0">
                <a:latin typeface="Times New Roman" panose="02020603050405020304" pitchFamily="18" charset="0"/>
              </a:rPr>
              <a:t>查询</a:t>
            </a:r>
            <a:r>
              <a:rPr lang="en-US" altLang="zh-CN" sz="2000" b="1" dirty="0">
                <a:latin typeface="Times New Roman" panose="02020603050405020304" pitchFamily="18" charset="0"/>
              </a:rPr>
              <a:t>(Query)</a:t>
            </a:r>
            <a:r>
              <a:rPr lang="zh-CN" altLang="en-US" sz="2000" b="1" dirty="0">
                <a:latin typeface="Times New Roman" panose="02020603050405020304" pitchFamily="18" charset="0"/>
              </a:rPr>
              <a:t>                                             查询内       查询间</a:t>
            </a:r>
            <a:endParaRPr lang="zh-CN" altLang="en-US" sz="2000" b="1" dirty="0">
              <a:latin typeface="Times New Roman" panose="02020603050405020304" pitchFamily="18" charset="0"/>
            </a:endParaRPr>
          </a:p>
          <a:p>
            <a:pPr>
              <a:spcBef>
                <a:spcPct val="0"/>
              </a:spcBef>
              <a:buClrTx/>
              <a:buFontTx/>
              <a:buNone/>
            </a:pPr>
            <a:endParaRPr lang="zh-CN" altLang="en-US" sz="2000" b="1" dirty="0">
              <a:latin typeface="Times New Roman" panose="02020603050405020304" pitchFamily="18" charset="0"/>
            </a:endParaRPr>
          </a:p>
          <a:p>
            <a:pPr>
              <a:spcBef>
                <a:spcPct val="0"/>
              </a:spcBef>
              <a:buClrTx/>
              <a:buFontTx/>
              <a:buNone/>
            </a:pPr>
            <a:endParaRPr lang="zh-CN" altLang="en-US" sz="1400" b="1" dirty="0">
              <a:latin typeface="宋体" panose="02010600030101010101" pitchFamily="2" charset="-122"/>
            </a:endParaRPr>
          </a:p>
          <a:p>
            <a:pPr>
              <a:spcBef>
                <a:spcPct val="0"/>
              </a:spcBef>
              <a:buClrTx/>
              <a:buFontTx/>
              <a:buNone/>
            </a:pPr>
            <a:r>
              <a:rPr lang="zh-CN" altLang="en-US" sz="2000" b="1" dirty="0">
                <a:latin typeface="Times New Roman" panose="02020603050405020304" pitchFamily="18" charset="0"/>
              </a:rPr>
              <a:t>操作</a:t>
            </a:r>
            <a:r>
              <a:rPr lang="en-US" altLang="zh-CN" sz="2000" b="1" dirty="0">
                <a:latin typeface="Times New Roman" panose="02020603050405020304" pitchFamily="18" charset="0"/>
              </a:rPr>
              <a:t>(Operation)</a:t>
            </a:r>
            <a:r>
              <a:rPr lang="zh-CN" altLang="en-US" sz="2000" b="1" dirty="0">
                <a:latin typeface="Times New Roman" panose="02020603050405020304" pitchFamily="18" charset="0"/>
              </a:rPr>
              <a:t>        操作内                  操作间</a:t>
            </a:r>
            <a:endParaRPr lang="zh-CN" altLang="en-US" sz="2000" b="1" dirty="0">
              <a:latin typeface="Times New Roman" panose="02020603050405020304" pitchFamily="18" charset="0"/>
            </a:endParaRPr>
          </a:p>
          <a:p>
            <a:pPr>
              <a:spcBef>
                <a:spcPct val="0"/>
              </a:spcBef>
              <a:buClrTx/>
              <a:buFontTx/>
              <a:buNone/>
            </a:pPr>
            <a:endParaRPr lang="zh-CN" altLang="en-US" sz="1400" b="1" dirty="0">
              <a:latin typeface="宋体" panose="02010600030101010101" pitchFamily="2" charset="-122"/>
            </a:endParaRPr>
          </a:p>
          <a:p>
            <a:pPr>
              <a:spcBef>
                <a:spcPct val="0"/>
              </a:spcBef>
              <a:buClrTx/>
              <a:buFontTx/>
              <a:buNone/>
            </a:pPr>
            <a:r>
              <a:rPr lang="zh-CN" altLang="en-US" sz="2000" b="1" dirty="0">
                <a:latin typeface="Times New Roman" panose="02020603050405020304" pitchFamily="18" charset="0"/>
              </a:rPr>
              <a:t>        </a:t>
            </a:r>
            <a:endParaRPr lang="zh-CN" altLang="en-US" sz="2000" b="1" dirty="0">
              <a:latin typeface="Times New Roman" panose="02020603050405020304" pitchFamily="18" charset="0"/>
            </a:endParaRPr>
          </a:p>
          <a:p>
            <a:pPr>
              <a:spcBef>
                <a:spcPct val="0"/>
              </a:spcBef>
              <a:buClrTx/>
              <a:buFontTx/>
              <a:buNone/>
            </a:pPr>
            <a:endParaRPr lang="zh-CN" altLang="en-US" sz="2000" b="1" dirty="0">
              <a:latin typeface="Times New Roman" panose="02020603050405020304" pitchFamily="18" charset="0"/>
            </a:endParaRPr>
          </a:p>
          <a:p>
            <a:pPr>
              <a:spcBef>
                <a:spcPct val="0"/>
              </a:spcBef>
              <a:buClrTx/>
              <a:buFontTx/>
              <a:buNone/>
            </a:pPr>
            <a:r>
              <a:rPr lang="zh-CN" altLang="en-US" sz="2000" b="1" dirty="0">
                <a:latin typeface="Times New Roman" panose="02020603050405020304" pitchFamily="18" charset="0"/>
              </a:rPr>
              <a:t>并行粒度             细                                                                                           粗</a:t>
            </a:r>
            <a:endParaRPr lang="zh-CN" altLang="en-US" sz="1400" b="1" dirty="0">
              <a:latin typeface="宋体" panose="02010600030101010101" pitchFamily="2" charset="-122"/>
            </a:endParaRPr>
          </a:p>
          <a:p>
            <a:pPr>
              <a:spcBef>
                <a:spcPct val="0"/>
              </a:spcBef>
              <a:buClrTx/>
              <a:buFontTx/>
              <a:buNone/>
            </a:pPr>
            <a:r>
              <a:rPr lang="zh-CN" altLang="en-US" sz="2000" b="1" dirty="0">
                <a:latin typeface="Times New Roman" panose="02020603050405020304" pitchFamily="18" charset="0"/>
              </a:rPr>
              <a:t>                          </a:t>
            </a:r>
            <a:endParaRPr lang="zh-CN" altLang="en-US" sz="2000" b="1" dirty="0">
              <a:latin typeface="Times New Roman" panose="02020603050405020304" pitchFamily="18" charset="0"/>
            </a:endParaRPr>
          </a:p>
          <a:p>
            <a:pPr>
              <a:spcBef>
                <a:spcPct val="0"/>
              </a:spcBef>
              <a:buClrTx/>
              <a:buFontTx/>
              <a:buNone/>
            </a:pPr>
            <a:r>
              <a:rPr lang="zh-CN" altLang="en-US" sz="2000" b="1" dirty="0">
                <a:latin typeface="Times New Roman" panose="02020603050405020304" pitchFamily="18" charset="0"/>
              </a:rPr>
              <a:t>                                           图</a:t>
            </a:r>
            <a:r>
              <a:rPr lang="en-US" altLang="zh-CN" sz="2000" b="1" dirty="0">
                <a:latin typeface="Times New Roman" panose="02020603050405020304" pitchFamily="18" charset="0"/>
              </a:rPr>
              <a:t>     4</a:t>
            </a:r>
            <a:r>
              <a:rPr lang="zh-CN" altLang="en-US" sz="2000" b="1" dirty="0">
                <a:latin typeface="Times New Roman" panose="02020603050405020304" pitchFamily="18" charset="0"/>
              </a:rPr>
              <a:t>种并行粒度</a:t>
            </a:r>
            <a:endParaRPr lang="zh-CN" altLang="en-US" sz="4400" b="1" dirty="0">
              <a:latin typeface="宋体"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sz="2800" b="1" dirty="0"/>
              <a:t>并行方式</a:t>
            </a:r>
            <a:endParaRPr lang="en-US" altLang="zh-CN" dirty="0">
              <a:ea typeface="楷体_GB2312" pitchFamily="49"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水平并行化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独立并行化，</a:t>
            </a:r>
            <a:r>
              <a:rPr lang="en-US" altLang="zh-CN" dirty="0">
                <a:latin typeface="微软雅黑" panose="020B0503020204020204" pitchFamily="34" charset="-122"/>
                <a:ea typeface="微软雅黑" panose="020B0503020204020204" pitchFamily="34" charset="-122"/>
              </a:rPr>
              <a:t>Independent Parallelism) </a:t>
            </a:r>
            <a:r>
              <a:rPr lang="zh-CN" altLang="en-US" dirty="0">
                <a:latin typeface="微软雅黑" panose="020B0503020204020204" pitchFamily="34" charset="-122"/>
                <a:ea typeface="微软雅黑" panose="020B0503020204020204" pitchFamily="34" charset="-122"/>
              </a:rPr>
              <a:t>：将互相独立的多个操作或者一个操作内互相独立的多个子操作分配给不同的处理机并行执行。 </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垂直并行化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流水线并行化，</a:t>
            </a:r>
            <a:r>
              <a:rPr lang="en-US" altLang="zh-CN" dirty="0">
                <a:latin typeface="微软雅黑" panose="020B0503020204020204" pitchFamily="34" charset="-122"/>
                <a:ea typeface="微软雅黑" panose="020B0503020204020204" pitchFamily="34" charset="-122"/>
              </a:rPr>
              <a:t>Pipelining  Parallelism)</a:t>
            </a:r>
            <a:r>
              <a:rPr lang="zh-CN" altLang="en-US" dirty="0">
                <a:latin typeface="微软雅黑" panose="020B0503020204020204" pitchFamily="34" charset="-122"/>
                <a:ea typeface="微软雅黑" panose="020B0503020204020204" pitchFamily="34" charset="-122"/>
              </a:rPr>
              <a:t>：将存在流水线方式依赖关系的多个操作分配给不同处理机并行执行。 </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a:xfrm>
            <a:off x="397164" y="1219202"/>
            <a:ext cx="11427690" cy="5289547"/>
          </a:xfrm>
        </p:spPr>
        <p:txBody>
          <a:bodyPr>
            <a:normAutofit fontScale="70000" lnSpcReduction="20000"/>
          </a:bodyPr>
          <a:lstStyle/>
          <a:p>
            <a:pPr>
              <a:lnSpc>
                <a:spcPct val="140000"/>
              </a:lnSpc>
            </a:pPr>
            <a:r>
              <a:rPr lang="zh-CN" altLang="en-US" sz="4000" dirty="0"/>
              <a:t>并行方式</a:t>
            </a:r>
            <a:endParaRPr lang="en-US" altLang="zh-CN" sz="4000" dirty="0"/>
          </a:p>
          <a:p>
            <a:pPr lvl="1" fontAlgn="base">
              <a:lnSpc>
                <a:spcPct val="160000"/>
              </a:lnSpc>
              <a:spcAft>
                <a:spcPct val="0"/>
              </a:spcAft>
              <a:buClr>
                <a:schemeClr val="hlink"/>
              </a:buClr>
              <a:defRPr/>
            </a:pPr>
            <a:r>
              <a:rPr lang="zh-CN" altLang="zh-CN" sz="2900" dirty="0">
                <a:latin typeface="微软雅黑" panose="020B0503020204020204" pitchFamily="34" charset="-122"/>
                <a:ea typeface="微软雅黑" panose="020B0503020204020204" pitchFamily="34" charset="-122"/>
              </a:rPr>
              <a:t>例</a:t>
            </a:r>
            <a:r>
              <a:rPr lang="zh-CN" altLang="en-US" sz="2900" dirty="0">
                <a:latin typeface="微软雅黑" panose="020B0503020204020204" pitchFamily="34" charset="-122"/>
                <a:ea typeface="微软雅黑" panose="020B0503020204020204" pitchFamily="34" charset="-122"/>
              </a:rPr>
              <a:t>：</a:t>
            </a:r>
            <a:r>
              <a:rPr lang="zh-CN" altLang="zh-CN" sz="2900" dirty="0">
                <a:latin typeface="微软雅黑" panose="020B0503020204020204" pitchFamily="34" charset="-122"/>
                <a:ea typeface="微软雅黑" panose="020B0503020204020204" pitchFamily="34" charset="-122"/>
              </a:rPr>
              <a:t>对于下列查询：</a:t>
            </a:r>
            <a:endParaRPr lang="zh-CN" altLang="en-US" sz="2900" dirty="0">
              <a:latin typeface="微软雅黑" panose="020B0503020204020204" pitchFamily="34" charset="-122"/>
              <a:ea typeface="微软雅黑" panose="020B0503020204020204" pitchFamily="34" charset="-122"/>
            </a:endParaRPr>
          </a:p>
          <a:p>
            <a:pPr marL="914400" lvl="2" indent="0" fontAlgn="base">
              <a:lnSpc>
                <a:spcPct val="160000"/>
              </a:lnSpc>
              <a:spcAft>
                <a:spcPct val="0"/>
              </a:spcAft>
              <a:buClr>
                <a:schemeClr val="hlink"/>
              </a:buClr>
              <a:buNone/>
              <a:defRPr/>
            </a:pP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SELECT  DEPTNUM </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EMPNUM</a:t>
            </a:r>
            <a:endParaRPr lang="en-US" altLang="zh-CN" b="1" dirty="0">
              <a:latin typeface="微软雅黑" panose="020B0503020204020204" pitchFamily="34" charset="-122"/>
              <a:ea typeface="微软雅黑" panose="020B0503020204020204" pitchFamily="34" charset="-122"/>
            </a:endParaRPr>
          </a:p>
          <a:p>
            <a:pPr marL="914400" lvl="2" indent="0" fontAlgn="base">
              <a:lnSpc>
                <a:spcPct val="160000"/>
              </a:lnSpc>
              <a:spcAft>
                <a:spcPct val="0"/>
              </a:spcAft>
              <a:buClr>
                <a:schemeClr val="hlink"/>
              </a:buClr>
              <a:buNone/>
              <a:defRPr/>
            </a:pPr>
            <a:r>
              <a:rPr lang="en-US" altLang="zh-CN" b="1" dirty="0">
                <a:latin typeface="微软雅黑" panose="020B0503020204020204" pitchFamily="34" charset="-122"/>
                <a:ea typeface="微软雅黑" panose="020B0503020204020204" pitchFamily="34" charset="-122"/>
              </a:rPr>
              <a:t>           FROM  DEPT D</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EMP E</a:t>
            </a:r>
            <a:endParaRPr lang="en-US" altLang="zh-CN" b="1" dirty="0">
              <a:latin typeface="微软雅黑" panose="020B0503020204020204" pitchFamily="34" charset="-122"/>
              <a:ea typeface="微软雅黑" panose="020B0503020204020204" pitchFamily="34" charset="-122"/>
            </a:endParaRPr>
          </a:p>
          <a:p>
            <a:pPr marL="914400" lvl="2" indent="0" fontAlgn="base">
              <a:lnSpc>
                <a:spcPct val="160000"/>
              </a:lnSpc>
              <a:spcAft>
                <a:spcPct val="0"/>
              </a:spcAft>
              <a:buClr>
                <a:schemeClr val="hlink"/>
              </a:buClr>
              <a:buNone/>
              <a:defRPr/>
            </a:pPr>
            <a:r>
              <a:rPr lang="en-US" altLang="zh-CN" b="1" dirty="0">
                <a:latin typeface="微软雅黑" panose="020B0503020204020204" pitchFamily="34" charset="-122"/>
                <a:ea typeface="微软雅黑" panose="020B0503020204020204" pitchFamily="34" charset="-122"/>
              </a:rPr>
              <a:t>                 WHERE  D.DEPTNUM = E.DEPTNUM</a:t>
            </a:r>
            <a:endParaRPr lang="en-US" altLang="zh-CN" b="1" dirty="0">
              <a:latin typeface="微软雅黑" panose="020B0503020204020204" pitchFamily="34" charset="-122"/>
              <a:ea typeface="微软雅黑" panose="020B0503020204020204" pitchFamily="34" charset="-122"/>
            </a:endParaRPr>
          </a:p>
          <a:p>
            <a:pPr marL="914400" lvl="2" indent="0" fontAlgn="base">
              <a:lnSpc>
                <a:spcPct val="160000"/>
              </a:lnSpc>
              <a:spcAft>
                <a:spcPct val="0"/>
              </a:spcAft>
              <a:buClr>
                <a:schemeClr val="hlink"/>
              </a:buClr>
              <a:buNone/>
              <a:defRPr/>
            </a:pPr>
            <a:r>
              <a:rPr lang="en-US" altLang="zh-CN" b="1" dirty="0">
                <a:latin typeface="微软雅黑" panose="020B0503020204020204" pitchFamily="34" charset="-122"/>
                <a:ea typeface="微软雅黑" panose="020B0503020204020204" pitchFamily="34" charset="-122"/>
              </a:rPr>
              <a:t>                       GROUP  BY  DEPTNUM</a:t>
            </a:r>
            <a:endParaRPr lang="en-US" altLang="zh-CN" b="1" dirty="0">
              <a:latin typeface="微软雅黑" panose="020B0503020204020204" pitchFamily="34" charset="-122"/>
              <a:ea typeface="微软雅黑" panose="020B0503020204020204" pitchFamily="34" charset="-122"/>
            </a:endParaRPr>
          </a:p>
          <a:p>
            <a:pPr marL="914400" lvl="2" indent="0" fontAlgn="base">
              <a:lnSpc>
                <a:spcPct val="160000"/>
              </a:lnSpc>
              <a:spcAft>
                <a:spcPct val="0"/>
              </a:spcAft>
              <a:buClr>
                <a:schemeClr val="hlink"/>
              </a:buClr>
              <a:buNone/>
              <a:defRPr/>
            </a:pPr>
            <a:r>
              <a:rPr lang="en-US" altLang="zh-CN" b="1" dirty="0">
                <a:latin typeface="微软雅黑" panose="020B0503020204020204" pitchFamily="34" charset="-122"/>
                <a:ea typeface="微软雅黑" panose="020B0503020204020204" pitchFamily="34" charset="-122"/>
              </a:rPr>
              <a:t>                             ORDER  BY  DEPTNUM</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sz="2900" dirty="0">
                <a:latin typeface="微软雅黑" panose="020B0503020204020204" pitchFamily="34" charset="-122"/>
                <a:ea typeface="微软雅黑" panose="020B0503020204020204" pitchFamily="34" charset="-122"/>
              </a:rPr>
              <a:t>可以分解为扫描</a:t>
            </a:r>
            <a:r>
              <a:rPr lang="en-US" altLang="zh-CN" sz="2900" dirty="0">
                <a:latin typeface="微软雅黑" panose="020B0503020204020204" pitchFamily="34" charset="-122"/>
                <a:ea typeface="微软雅黑" panose="020B0503020204020204" pitchFamily="34" charset="-122"/>
              </a:rPr>
              <a:t>DEPT(</a:t>
            </a:r>
            <a:r>
              <a:rPr lang="zh-CN" altLang="en-US" sz="2900" dirty="0">
                <a:latin typeface="微软雅黑" panose="020B0503020204020204" pitchFamily="34" charset="-122"/>
                <a:ea typeface="微软雅黑" panose="020B0503020204020204" pitchFamily="34" charset="-122"/>
              </a:rPr>
              <a:t>部门</a:t>
            </a:r>
            <a:r>
              <a:rPr lang="en-US" altLang="zh-CN" sz="2900" dirty="0">
                <a:latin typeface="微软雅黑" panose="020B0503020204020204" pitchFamily="34" charset="-122"/>
                <a:ea typeface="微软雅黑" panose="020B0503020204020204" pitchFamily="34" charset="-122"/>
              </a:rPr>
              <a:t>)</a:t>
            </a:r>
            <a:r>
              <a:rPr lang="zh-CN" altLang="en-US" sz="2900" dirty="0">
                <a:latin typeface="微软雅黑" panose="020B0503020204020204" pitchFamily="34" charset="-122"/>
                <a:ea typeface="微软雅黑" panose="020B0503020204020204" pitchFamily="34" charset="-122"/>
              </a:rPr>
              <a:t>表和</a:t>
            </a:r>
            <a:r>
              <a:rPr lang="en-US" altLang="zh-CN" sz="2900" dirty="0">
                <a:latin typeface="微软雅黑" panose="020B0503020204020204" pitchFamily="34" charset="-122"/>
                <a:ea typeface="微软雅黑" panose="020B0503020204020204" pitchFamily="34" charset="-122"/>
              </a:rPr>
              <a:t>EMP(</a:t>
            </a:r>
            <a:r>
              <a:rPr lang="zh-CN" altLang="en-US" sz="2900" dirty="0">
                <a:latin typeface="微软雅黑" panose="020B0503020204020204" pitchFamily="34" charset="-122"/>
                <a:ea typeface="微软雅黑" panose="020B0503020204020204" pitchFamily="34" charset="-122"/>
              </a:rPr>
              <a:t>职工</a:t>
            </a:r>
            <a:r>
              <a:rPr lang="en-US" altLang="zh-CN" sz="2900" dirty="0">
                <a:latin typeface="微软雅黑" panose="020B0503020204020204" pitchFamily="34" charset="-122"/>
                <a:ea typeface="微软雅黑" panose="020B0503020204020204" pitchFamily="34" charset="-122"/>
              </a:rPr>
              <a:t>)</a:t>
            </a:r>
            <a:r>
              <a:rPr lang="zh-CN" altLang="en-US" sz="2900" dirty="0">
                <a:latin typeface="微软雅黑" panose="020B0503020204020204" pitchFamily="34" charset="-122"/>
                <a:ea typeface="微软雅黑" panose="020B0503020204020204" pitchFamily="34" charset="-122"/>
              </a:rPr>
              <a:t>表、对两表进行连接、对连接结果排序以及分组和输出五个子任务。</a:t>
            </a:r>
            <a:endParaRPr lang="zh-CN" altLang="en-US" sz="2900"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sz="2900" dirty="0">
                <a:latin typeface="微软雅黑" panose="020B0503020204020204" pitchFamily="34" charset="-122"/>
                <a:ea typeface="微软雅黑" panose="020B0503020204020204" pitchFamily="34" charset="-122"/>
              </a:rPr>
              <a:t>前一子任务的输出即是下一子任务的输入，后一子任务等待前一子任务产生一定量的输出后</a:t>
            </a:r>
            <a:r>
              <a:rPr lang="en-US" altLang="zh-CN" sz="2900" dirty="0">
                <a:latin typeface="微软雅黑" panose="020B0503020204020204" pitchFamily="34" charset="-122"/>
                <a:ea typeface="微软雅黑" panose="020B0503020204020204" pitchFamily="34" charset="-122"/>
              </a:rPr>
              <a:t>(</a:t>
            </a:r>
            <a:r>
              <a:rPr lang="zh-CN" altLang="en-US" sz="2900" dirty="0">
                <a:latin typeface="微软雅黑" panose="020B0503020204020204" pitchFamily="34" charset="-122"/>
                <a:ea typeface="微软雅黑" panose="020B0503020204020204" pitchFamily="34" charset="-122"/>
              </a:rPr>
              <a:t>而不必等待前一子任务执行完毕</a:t>
            </a:r>
            <a:r>
              <a:rPr lang="en-US" altLang="zh-CN" sz="2900" dirty="0">
                <a:latin typeface="微软雅黑" panose="020B0503020204020204" pitchFamily="34" charset="-122"/>
                <a:ea typeface="微软雅黑" panose="020B0503020204020204" pitchFamily="34" charset="-122"/>
              </a:rPr>
              <a:t>)</a:t>
            </a:r>
            <a:r>
              <a:rPr lang="zh-CN" altLang="en-US" sz="2900" dirty="0">
                <a:latin typeface="微软雅黑" panose="020B0503020204020204" pitchFamily="34" charset="-122"/>
                <a:ea typeface="微软雅黑" panose="020B0503020204020204" pitchFamily="34" charset="-122"/>
              </a:rPr>
              <a:t>即可在另一处理器上开始执行。</a:t>
            </a:r>
            <a:endParaRPr lang="zh-CN" altLang="en-US" sz="2900"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sz="2900" dirty="0">
                <a:latin typeface="微软雅黑" panose="020B0503020204020204" pitchFamily="34" charset="-122"/>
                <a:ea typeface="微软雅黑" panose="020B0503020204020204" pitchFamily="34" charset="-122"/>
              </a:rPr>
              <a:t>这种并行方式称为垂直并行或流水线并行。</a:t>
            </a:r>
            <a:endParaRPr lang="zh-CN" altLang="en-US" sz="2900"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a:bodyPr>
          <a:lstStyle/>
          <a:p>
            <a:r>
              <a:rPr lang="zh-CN" altLang="en-US" dirty="0">
                <a:latin typeface="微软雅黑" panose="020B0503020204020204" pitchFamily="34" charset="-122"/>
                <a:ea typeface="微软雅黑" panose="020B0503020204020204" pitchFamily="34" charset="-122"/>
              </a:rPr>
              <a:t>数据划分</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从广义上讲，事务间并行和查询间并行都属于水平并行。</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r>
              <a:rPr lang="zh-CN" altLang="en-US" dirty="0">
                <a:latin typeface="微软雅黑" panose="020B0503020204020204" pitchFamily="34" charset="-122"/>
                <a:ea typeface="微软雅黑" panose="020B0503020204020204" pitchFamily="34" charset="-122"/>
              </a:rPr>
              <a:t>水平并行性要求物理地将数据库划分为较小分片，并存放在不同磁盘上，这就是并行数据库系统中的数据划分。</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10.8 </a:t>
            </a:r>
            <a:r>
              <a:rPr lang="zh-CN" altLang="en-US" sz="3600" b="1" dirty="0"/>
              <a:t>并行数据库系统</a:t>
            </a:r>
            <a:r>
              <a:rPr lang="zh-CN" altLang="en-US" dirty="0"/>
              <a:t> </a:t>
            </a:r>
            <a:endParaRPr kumimoji="1" lang="zh-CN" altLang="en-US" dirty="0"/>
          </a:p>
        </p:txBody>
      </p:sp>
      <p:sp>
        <p:nvSpPr>
          <p:cNvPr id="7" name="内容占位符 6"/>
          <p:cNvSpPr>
            <a:spLocks noGrp="1"/>
          </p:cNvSpPr>
          <p:nvPr>
            <p:ph idx="1"/>
          </p:nvPr>
        </p:nvSpPr>
        <p:spPr/>
        <p:txBody>
          <a:bodyPr>
            <a:normAutofit fontScale="92500"/>
          </a:bodyPr>
          <a:lstStyle/>
          <a:p>
            <a:r>
              <a:rPr lang="zh-CN" altLang="en-US" sz="3000" dirty="0">
                <a:latin typeface="微软雅黑" panose="020B0503020204020204" pitchFamily="34" charset="-122"/>
                <a:ea typeface="微软雅黑" panose="020B0503020204020204" pitchFamily="34" charset="-122"/>
              </a:rPr>
              <a:t>数据划分</a:t>
            </a:r>
            <a:endParaRPr lang="en-US" altLang="zh-CN" sz="3000"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round-robin</a:t>
            </a:r>
            <a:r>
              <a:rPr lang="zh-CN" altLang="en-US" dirty="0">
                <a:latin typeface="微软雅黑" panose="020B0503020204020204" pitchFamily="34" charset="-122"/>
                <a:ea typeface="微软雅黑" panose="020B0503020204020204" pitchFamily="34" charset="-122"/>
              </a:rPr>
              <a:t>划分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按顺序将数据依次分布到多个磁盘上。</a:t>
            </a:r>
            <a:endParaRPr lang="zh-CN" altLang="en-US"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range</a:t>
            </a:r>
            <a:r>
              <a:rPr lang="zh-CN" altLang="en-US" dirty="0">
                <a:latin typeface="微软雅黑" panose="020B0503020204020204" pitchFamily="34" charset="-122"/>
                <a:ea typeface="微软雅黑" panose="020B0503020204020204" pitchFamily="34" charset="-122"/>
              </a:rPr>
              <a:t>划分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按某个属性的值域来划分数据。</a:t>
            </a:r>
            <a:endParaRPr lang="zh-CN" altLang="en-US"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hash</a:t>
            </a:r>
            <a:r>
              <a:rPr lang="zh-CN" altLang="en-US" dirty="0">
                <a:latin typeface="微软雅黑" panose="020B0503020204020204" pitchFamily="34" charset="-122"/>
                <a:ea typeface="微软雅黑" panose="020B0503020204020204" pitchFamily="34" charset="-122"/>
              </a:rPr>
              <a:t>划分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使用一个经过高度调优的系统函数对划分码进行</a:t>
            </a:r>
            <a:r>
              <a:rPr lang="en-US" altLang="zh-CN" dirty="0">
                <a:latin typeface="微软雅黑" panose="020B0503020204020204" pitchFamily="34" charset="-122"/>
                <a:ea typeface="微软雅黑" panose="020B0503020204020204" pitchFamily="34" charset="-122"/>
              </a:rPr>
              <a:t>Hash</a:t>
            </a:r>
            <a:r>
              <a:rPr lang="zh-CN" altLang="en-US" dirty="0">
                <a:latin typeface="微软雅黑" panose="020B0503020204020204" pitchFamily="34" charset="-122"/>
                <a:ea typeface="微软雅黑" panose="020B0503020204020204" pitchFamily="34" charset="-122"/>
              </a:rPr>
              <a:t>，并据此确定相应行的分片。</a:t>
            </a:r>
            <a:endParaRPr lang="zh-CN" altLang="en-US"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user-</a:t>
            </a:r>
            <a:r>
              <a:rPr lang="en-US" altLang="zh-CN" dirty="0" err="1">
                <a:latin typeface="微软雅黑" panose="020B0503020204020204" pitchFamily="34" charset="-122"/>
                <a:ea typeface="微软雅黑" panose="020B0503020204020204" pitchFamily="34" charset="-122"/>
              </a:rPr>
              <a:t>defind</a:t>
            </a:r>
            <a:r>
              <a:rPr lang="zh-CN" altLang="en-US" dirty="0">
                <a:latin typeface="微软雅黑" panose="020B0503020204020204" pitchFamily="34" charset="-122"/>
                <a:ea typeface="微软雅黑" panose="020B0503020204020204" pitchFamily="34" charset="-122"/>
              </a:rPr>
              <a:t>划分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是指由用户定义对表进行划分。它使数据的划分更为灵活，可以满足不同用户的特殊应用需要。</a:t>
            </a:r>
            <a:endParaRPr lang="zh-CN" altLang="en-US"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schema</a:t>
            </a:r>
            <a:r>
              <a:rPr lang="zh-CN" altLang="en-US" dirty="0">
                <a:latin typeface="微软雅黑" panose="020B0503020204020204" pitchFamily="34" charset="-122"/>
                <a:ea typeface="微软雅黑" panose="020B0503020204020204" pitchFamily="34" charset="-122"/>
              </a:rPr>
              <a:t>划分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是指不对表进行划分，而以表为基本单位分布数据。</a:t>
            </a:r>
            <a:endParaRPr lang="zh-CN" altLang="en-US"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zh-CN" altLang="en-US" dirty="0"/>
              <a:t>课后作业</a:t>
            </a:r>
            <a:endParaRPr kumimoji="1" lang="zh-CN" altLang="en-US" dirty="0"/>
          </a:p>
        </p:txBody>
      </p:sp>
      <p:sp>
        <p:nvSpPr>
          <p:cNvPr id="7" name="内容占位符 6"/>
          <p:cNvSpPr>
            <a:spLocks noGrp="1"/>
          </p:cNvSpPr>
          <p:nvPr>
            <p:ph idx="1"/>
          </p:nvPr>
        </p:nvSpPr>
        <p:spPr/>
        <p:txBody>
          <a:bodyPr>
            <a:normAutofit/>
          </a:bodyPr>
          <a:lstStyle/>
          <a:p>
            <a:r>
              <a:rPr lang="en-US" altLang="zh-CN" dirty="0">
                <a:ea typeface="楷体_GB2312" pitchFamily="49" charset="-122"/>
              </a:rPr>
              <a:t>P243</a:t>
            </a:r>
            <a:endParaRPr lang="en-US" altLang="zh-CN" dirty="0">
              <a:ea typeface="楷体_GB2312" pitchFamily="49"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10.2</a:t>
            </a:r>
            <a:endParaRPr lang="en-US" altLang="zh-CN"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10.7</a:t>
            </a:r>
            <a:endParaRPr lang="en-US" altLang="zh-CN" dirty="0">
              <a:latin typeface="微软雅黑" panose="020B0503020204020204" pitchFamily="34" charset="-122"/>
              <a:ea typeface="微软雅黑" panose="020B0503020204020204" pitchFamily="34" charset="-122"/>
            </a:endParaRPr>
          </a:p>
          <a:p>
            <a:pPr lvl="1" fontAlgn="base">
              <a:lnSpc>
                <a:spcPct val="170000"/>
              </a:lnSpc>
              <a:spcAft>
                <a:spcPct val="0"/>
              </a:spcAft>
              <a:buClr>
                <a:schemeClr val="hlink"/>
              </a:buClr>
              <a:defRPr/>
            </a:pPr>
            <a:r>
              <a:rPr lang="en-US" altLang="zh-CN" dirty="0">
                <a:latin typeface="微软雅黑" panose="020B0503020204020204" pitchFamily="34" charset="-122"/>
                <a:ea typeface="微软雅黑" panose="020B0503020204020204" pitchFamily="34" charset="-122"/>
              </a:rPr>
              <a:t>10.12</a:t>
            </a:r>
            <a:endParaRPr lang="en-US" altLang="zh-CN" dirty="0">
              <a:latin typeface="微软雅黑" panose="020B0503020204020204" pitchFamily="34" charset="-122"/>
              <a:ea typeface="微软雅黑" panose="020B0503020204020204" pitchFamily="34" charset="-122"/>
            </a:endParaRPr>
          </a:p>
          <a:p>
            <a:pPr lvl="1" fontAlgn="base">
              <a:lnSpc>
                <a:spcPct val="160000"/>
              </a:lnSpc>
              <a:spcAft>
                <a:spcPct val="0"/>
              </a:spcAft>
              <a:buClr>
                <a:schemeClr val="hlink"/>
              </a:buClr>
              <a:defRPr/>
            </a:pPr>
            <a:endParaRPr lang="zh-CN" altLang="en-US" dirty="0">
              <a:latin typeface="微软雅黑" panose="020B0503020204020204" pitchFamily="34" charset="-122"/>
              <a:ea typeface="微软雅黑" panose="020B0503020204020204" pitchFamily="34" charset="-122"/>
            </a:endParaRPr>
          </a:p>
          <a:p>
            <a:pPr lvl="2" fontAlgn="base">
              <a:lnSpc>
                <a:spcPct val="140000"/>
              </a:lnSpc>
              <a:spcAft>
                <a:spcPct val="0"/>
              </a:spcAft>
              <a:buClr>
                <a:schemeClr val="hlink"/>
              </a:buClr>
              <a:buFont typeface="Wingdings" panose="05000000000000000000" pitchFamily="2" charset="2"/>
              <a:buChar char="ü"/>
              <a:defRPr/>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18376</Words>
  <Application>WPS 演示</Application>
  <PresentationFormat>宽屏</PresentationFormat>
  <Paragraphs>1678</Paragraphs>
  <Slides>123</Slides>
  <Notes>123</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123</vt:i4>
      </vt:variant>
    </vt:vector>
  </HeadingPairs>
  <TitlesOfParts>
    <vt:vector size="146" baseType="lpstr">
      <vt:lpstr>Arial</vt:lpstr>
      <vt:lpstr>宋体</vt:lpstr>
      <vt:lpstr>Wingdings</vt:lpstr>
      <vt:lpstr>黑体</vt:lpstr>
      <vt:lpstr>微软雅黑</vt:lpstr>
      <vt:lpstr>Wingdings 2</vt:lpstr>
      <vt:lpstr>Book Antiqua</vt:lpstr>
      <vt:lpstr>楷体_GB2312</vt:lpstr>
      <vt:lpstr>新宋体</vt:lpstr>
      <vt:lpstr>Arial Unicode MS</vt:lpstr>
      <vt:lpstr>等线 Light</vt:lpstr>
      <vt:lpstr>等线</vt:lpstr>
      <vt:lpstr>Cambria Math</vt:lpstr>
      <vt:lpstr>Symbol</vt:lpstr>
      <vt:lpstr>Cambria</vt:lpstr>
      <vt:lpstr>Times New Roman</vt:lpstr>
      <vt:lpstr>MS Reference 1</vt:lpstr>
      <vt:lpstr>隶书</vt:lpstr>
      <vt:lpstr>Wingdings</vt:lpstr>
      <vt:lpstr>仿宋_GB2312</vt:lpstr>
      <vt:lpstr>CaskaydiaCove NF</vt:lpstr>
      <vt:lpstr>仿宋</vt:lpstr>
      <vt:lpstr>Office 主题​​</vt:lpstr>
      <vt:lpstr>第10章 分布式数据库系统与 并行数据库系统</vt:lpstr>
      <vt:lpstr>目录</vt:lpstr>
      <vt:lpstr>10.1 概述</vt:lpstr>
      <vt:lpstr>10.1 概述</vt:lpstr>
      <vt:lpstr>10.1 概述</vt:lpstr>
      <vt:lpstr>10.1 概述</vt:lpstr>
      <vt:lpstr>10.1 概述</vt:lpstr>
      <vt:lpstr>10.1 概述</vt:lpstr>
      <vt:lpstr>10.1 概述</vt:lpstr>
      <vt:lpstr>10.2 分布式数据存储</vt:lpstr>
      <vt:lpstr>10.2 分布式数据存储</vt:lpstr>
      <vt:lpstr>10.2 分布式数据存储</vt:lpstr>
      <vt:lpstr>10.2 分布式数据存储</vt:lpstr>
      <vt:lpstr>10.2 分布式数据存储</vt:lpstr>
      <vt:lpstr>10.2 分布式数据存储</vt:lpstr>
      <vt:lpstr>10.2 分布式数据存储</vt:lpstr>
      <vt:lpstr>10.2 分布式数据存储</vt:lpstr>
      <vt:lpstr>10.2 分布式数据存储</vt:lpstr>
      <vt:lpstr>10.3 分布式数据库系统体系结构</vt:lpstr>
      <vt:lpstr>10.3 分布式数据库系统体系结构</vt:lpstr>
      <vt:lpstr>10.3 分布式数据库系统体系结构</vt:lpstr>
      <vt:lpstr>10.3 分布式数据库系统体系结构</vt:lpstr>
      <vt:lpstr>10.3 分布式数据库系统体系结构</vt:lpstr>
      <vt:lpstr>10.3 分布式数据库系统体系结构</vt:lpstr>
      <vt:lpstr>10.4 分布式数据库管理系统</vt:lpstr>
      <vt:lpstr>10.4 分布式数据库管理系统</vt:lpstr>
      <vt:lpstr>10.4 分布式数据库管理系统</vt:lpstr>
      <vt:lpstr>10.4 分布式数据库管理系统</vt:lpstr>
      <vt:lpstr>10.4 分布式数据库管理系统</vt:lpstr>
      <vt:lpstr>10.4 分布式数据库管理系统</vt:lpstr>
      <vt:lpstr>10.4 分布式数据库管理系统</vt:lpstr>
      <vt:lpstr>10.4 分布式数据库管理系统</vt:lpstr>
      <vt:lpstr>10.4 分布式数据库管理系统</vt:lpstr>
      <vt:lpstr>10.4 分布式数据库管理系统</vt:lpstr>
      <vt:lpstr>10.5 分布式查询处理与优化</vt:lpstr>
      <vt:lpstr>10.4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10.5 分布式查询处理与优化</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10.6 分布式事务处理</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10.7 联邦数据库和多数据库系统</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10.8 并行数据库系统 </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779</cp:revision>
  <dcterms:created xsi:type="dcterms:W3CDTF">2024-11-02T12:31:00Z</dcterms:created>
  <dcterms:modified xsi:type="dcterms:W3CDTF">2025-07-28T03:06:52Z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D30C1C01060746E98AB80E6FCB991DE2_12</vt:lpwstr>
  </property>
  <property fmtid="{D5CDD505-2E9C-101B-9397-08002B2CF9AE}" pid="3" name="KSOProductBuildVer">
    <vt:lpwstr>2052-12.1.0.21915</vt:lpwstr>
  </property>
</Properties>
</file>