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39" r:id="rId56"/>
    <p:sldId id="340" r:id="rId57"/>
    <p:sldId id="341" r:id="rId58"/>
    <p:sldId id="342" r:id="rId59"/>
    <p:sldId id="343" r:id="rId60"/>
    <p:sldId id="344" r:id="rId61"/>
    <p:sldId id="345" r:id="rId62"/>
    <p:sldId id="346" r:id="rId63"/>
    <p:sldId id="347" r:id="rId64"/>
    <p:sldId id="348" r:id="rId65"/>
    <p:sldId id="349" r:id="rId66"/>
    <p:sldId id="350" r:id="rId67"/>
    <p:sldId id="351"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380" r:id="rId97"/>
    <p:sldId id="382" r:id="rId98"/>
    <p:sldId id="383" r:id="rId99"/>
    <p:sldId id="384" r:id="rId100"/>
    <p:sldId id="385" r:id="rId101"/>
    <p:sldId id="386" r:id="rId102"/>
    <p:sldId id="387" r:id="rId103"/>
    <p:sldId id="388" r:id="rId104"/>
    <p:sldId id="389" r:id="rId105"/>
    <p:sldId id="390" r:id="rId106"/>
    <p:sldId id="391" r:id="rId107"/>
    <p:sldId id="392" r:id="rId108"/>
    <p:sldId id="393" r:id="rId109"/>
    <p:sldId id="394" r:id="rId110"/>
    <p:sldId id="395" r:id="rId111"/>
    <p:sldId id="396" r:id="rId112"/>
    <p:sldId id="397" r:id="rId113"/>
    <p:sldId id="398" r:id="rId114"/>
    <p:sldId id="399" r:id="rId115"/>
    <p:sldId id="400" r:id="rId116"/>
    <p:sldId id="401" r:id="rId117"/>
    <p:sldId id="402" r:id="rId118"/>
    <p:sldId id="403" r:id="rId119"/>
    <p:sldId id="404" r:id="rId120"/>
    <p:sldId id="405" r:id="rId121"/>
    <p:sldId id="406" r:id="rId122"/>
    <p:sldId id="407" r:id="rId123"/>
    <p:sldId id="408" r:id="rId124"/>
    <p:sldId id="409" r:id="rId125"/>
    <p:sldId id="410" r:id="rId126"/>
    <p:sldId id="411" r:id="rId127"/>
    <p:sldId id="412" r:id="rId128"/>
    <p:sldId id="413" r:id="rId129"/>
    <p:sldId id="414" r:id="rId130"/>
    <p:sldId id="415" r:id="rId131"/>
    <p:sldId id="416" r:id="rId132"/>
    <p:sldId id="417" r:id="rId133"/>
    <p:sldId id="418" r:id="rId134"/>
    <p:sldId id="419" r:id="rId1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8" autoAdjust="0"/>
    <p:restoredTop sz="86452" autoAdjust="0"/>
  </p:normalViewPr>
  <p:slideViewPr>
    <p:cSldViewPr snapToGrid="0">
      <p:cViewPr varScale="1">
        <p:scale>
          <a:sx n="103" d="100"/>
          <a:sy n="103" d="100"/>
        </p:scale>
        <p:origin x="1027" y="86"/>
      </p:cViewPr>
      <p:guideLst/>
    </p:cSldViewPr>
  </p:slideViewPr>
  <p:outlineViewPr>
    <p:cViewPr>
      <p:scale>
        <a:sx n="33" d="100"/>
        <a:sy n="33" d="100"/>
      </p:scale>
      <p:origin x="0" y="-198656"/>
    </p:cViewPr>
  </p:outlineViewPr>
  <p:notesTextViewPr>
    <p:cViewPr>
      <p:scale>
        <a:sx n="1" d="1"/>
        <a:sy n="1" d="1"/>
      </p:scale>
      <p:origin x="0" y="0"/>
    </p:cViewPr>
  </p:notesTextViewPr>
  <p:sorterViewPr>
    <p:cViewPr>
      <p:scale>
        <a:sx n="141" d="100"/>
        <a:sy n="141"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24314;&#31435;&#23454;&#20307;.er1"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629676"/>
            <a:ext cx="9144000" cy="2387600"/>
          </a:xfrm>
        </p:spPr>
        <p:txBody>
          <a:bodyPr>
            <a:normAutofit/>
          </a:bodyPr>
          <a:lstStyle/>
          <a:p>
            <a:r>
              <a:rPr lang="zh-CN" altLang="en-US" dirty="0"/>
              <a:t>第</a:t>
            </a:r>
            <a:r>
              <a:rPr lang="en-US" altLang="zh-CN" dirty="0"/>
              <a:t>5</a:t>
            </a:r>
            <a:r>
              <a:rPr lang="zh-CN" altLang="en-US" dirty="0"/>
              <a:t>章 数据库设计</a:t>
            </a:r>
            <a:endParaRPr lang="zh-CN" altLang="en-US" dirty="0"/>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zh-CN" altLang="en-US" dirty="0"/>
              <a:t>第</a:t>
            </a:r>
            <a:r>
              <a:rPr kumimoji="1" lang="en-US" altLang="zh-CN" dirty="0"/>
              <a:t>5</a:t>
            </a:r>
            <a:r>
              <a:rPr kumimoji="1" lang="zh-CN" altLang="en-US" dirty="0"/>
              <a:t>章 数据库设计</a:t>
            </a:r>
            <a:endParaRPr kumimoji="1" lang="zh-CN" altLang="en-US" dirty="0"/>
          </a:p>
        </p:txBody>
      </p:sp>
      <p:sp>
        <p:nvSpPr>
          <p:cNvPr id="6" name="内容占位符 2"/>
          <p:cNvSpPr>
            <a:spLocks noGrp="1"/>
          </p:cNvSpPr>
          <p:nvPr>
            <p:ph idx="1"/>
          </p:nvPr>
        </p:nvSpPr>
        <p:spPr>
          <a:xfrm>
            <a:off x="1053424" y="1247338"/>
            <a:ext cx="4334503" cy="4957760"/>
          </a:xfrm>
        </p:spPr>
        <p:txBody>
          <a:bodyPr>
            <a:normAutofit/>
          </a:bodyPr>
          <a:lstStyle/>
          <a:p>
            <a:r>
              <a:rPr kumimoji="1" lang="en-US" altLang="zh-CN" dirty="0"/>
              <a:t>5.1 </a:t>
            </a:r>
            <a:r>
              <a:rPr kumimoji="1" lang="zh-CN" altLang="en-US" dirty="0"/>
              <a:t>数据库设计概述</a:t>
            </a:r>
            <a:endParaRPr kumimoji="1" lang="zh-CN" altLang="en-US" dirty="0"/>
          </a:p>
          <a:p>
            <a:r>
              <a:rPr kumimoji="1" lang="en-US" altLang="zh-CN" dirty="0"/>
              <a:t>5.2 </a:t>
            </a:r>
            <a:r>
              <a:rPr kumimoji="1" lang="zh-CN" altLang="en-US" dirty="0"/>
              <a:t>需求分析</a:t>
            </a:r>
            <a:endParaRPr kumimoji="1" lang="zh-CN" altLang="en-US" dirty="0"/>
          </a:p>
          <a:p>
            <a:r>
              <a:rPr kumimoji="1" lang="en-US" altLang="zh-CN" dirty="0">
                <a:solidFill>
                  <a:schemeClr val="accent1"/>
                </a:solidFill>
              </a:rPr>
              <a:t>5.3 </a:t>
            </a:r>
            <a:r>
              <a:rPr kumimoji="1" lang="zh-CN" altLang="en-US" dirty="0">
                <a:solidFill>
                  <a:schemeClr val="accent1"/>
                </a:solidFill>
              </a:rPr>
              <a:t>概念设计</a:t>
            </a:r>
            <a:endParaRPr kumimoji="1" lang="zh-CN" altLang="en-US" dirty="0">
              <a:solidFill>
                <a:schemeClr val="accent1"/>
              </a:solidFill>
            </a:endParaRPr>
          </a:p>
          <a:p>
            <a:r>
              <a:rPr kumimoji="1" lang="en-US" altLang="zh-CN" dirty="0">
                <a:solidFill>
                  <a:schemeClr val="accent1"/>
                </a:solidFill>
              </a:rPr>
              <a:t>5.4 </a:t>
            </a:r>
            <a:r>
              <a:rPr kumimoji="1" lang="zh-CN" altLang="en-US" dirty="0">
                <a:solidFill>
                  <a:schemeClr val="accent1"/>
                </a:solidFill>
              </a:rPr>
              <a:t>逻辑设计</a:t>
            </a:r>
            <a:endParaRPr kumimoji="1" lang="zh-CN" altLang="en-US" dirty="0">
              <a:solidFill>
                <a:schemeClr val="accent1"/>
              </a:solidFill>
            </a:endParaRPr>
          </a:p>
          <a:p>
            <a:endParaRPr kumimoji="1" lang="en-US" altLang="zh-CN" dirty="0"/>
          </a:p>
          <a:p>
            <a:endParaRPr kumimoji="1" lang="zh-CN" altLang="en-US" dirty="0"/>
          </a:p>
        </p:txBody>
      </p:sp>
      <p:sp>
        <p:nvSpPr>
          <p:cNvPr id="7" name="内容占位符 2"/>
          <p:cNvSpPr txBox="1"/>
          <p:nvPr/>
        </p:nvSpPr>
        <p:spPr>
          <a:xfrm>
            <a:off x="6467141" y="1247338"/>
            <a:ext cx="4334503" cy="4957760"/>
          </a:xfrm>
          <a:prstGeom prst="rect">
            <a:avLst/>
          </a:prstGeom>
        </p:spPr>
        <p:txBody>
          <a:bodyPr vert="horz" lIns="91440" tIns="45720" rIns="91440" bIns="45720" rtlCol="0">
            <a:normAutofit/>
          </a:bodyPr>
          <a:lstStyle>
            <a:lvl1pPr marL="0" indent="0" algn="l" defTabSz="914400" rtl="0" eaLnBrk="1" latinLnBrk="0" hangingPunct="1">
              <a:lnSpc>
                <a:spcPct val="200000"/>
              </a:lnSpc>
              <a:spcBef>
                <a:spcPts val="1000"/>
              </a:spcBef>
              <a:buFont typeface="Wingdings" panose="05000000000000000000" pitchFamily="2" charset="2"/>
              <a:buNone/>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solidFill>
                  <a:schemeClr val="accent1"/>
                </a:solidFill>
              </a:rPr>
              <a:t>5.5 IDEF</a:t>
            </a:r>
            <a:r>
              <a:rPr kumimoji="1" lang="zh-CN" altLang="en-US" dirty="0">
                <a:solidFill>
                  <a:schemeClr val="accent1"/>
                </a:solidFill>
              </a:rPr>
              <a:t>方法简介</a:t>
            </a:r>
            <a:endParaRPr kumimoji="1" lang="zh-CN" altLang="en-US" dirty="0">
              <a:solidFill>
                <a:schemeClr val="accent1"/>
              </a:solidFill>
            </a:endParaRPr>
          </a:p>
          <a:p>
            <a:r>
              <a:rPr kumimoji="1" lang="en-US" altLang="zh-CN" dirty="0"/>
              <a:t>5.6 </a:t>
            </a:r>
            <a:r>
              <a:rPr kumimoji="1" lang="zh-CN" altLang="en-US" dirty="0"/>
              <a:t>物理设计</a:t>
            </a:r>
            <a:endParaRPr kumimoji="1" lang="zh-CN" altLang="en-US" dirty="0"/>
          </a:p>
          <a:p>
            <a:r>
              <a:rPr kumimoji="1" lang="en-US" altLang="zh-CN" dirty="0"/>
              <a:t>5.7 </a:t>
            </a:r>
            <a:r>
              <a:rPr kumimoji="1" lang="zh-CN" altLang="en-US" dirty="0"/>
              <a:t>数据库实施</a:t>
            </a:r>
            <a:endParaRPr kumimoji="1" lang="zh-CN" altLang="en-US" dirty="0"/>
          </a:p>
          <a:p>
            <a:endParaRPr kumimoji="1" lang="en-US" altLang="zh-CN" dirty="0"/>
          </a:p>
          <a:p>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a:t>数据库设计是数据库生命周期中的最重要的阶段，其好坏直接影响整个数据库系统的成败</a:t>
            </a:r>
            <a:endParaRPr lang="en-US" altLang="zh-CN" dirty="0"/>
          </a:p>
          <a:p>
            <a:pPr>
              <a:lnSpc>
                <a:spcPct val="150000"/>
              </a:lnSpc>
            </a:pPr>
            <a:r>
              <a:rPr lang="en-US" altLang="zh-CN" dirty="0" err="1"/>
              <a:t>数据库设计是指在一个特定应用环境下，根据用户的</a:t>
            </a:r>
            <a:r>
              <a:rPr lang="zh-CN" altLang="en-US" dirty="0">
                <a:solidFill>
                  <a:srgbClr val="C00000"/>
                </a:solidFill>
              </a:rPr>
              <a:t>信息需求</a:t>
            </a:r>
            <a:r>
              <a:rPr lang="zh-CN" altLang="en-US" dirty="0"/>
              <a:t>、</a:t>
            </a:r>
            <a:r>
              <a:rPr lang="zh-CN" altLang="en-US" dirty="0">
                <a:solidFill>
                  <a:srgbClr val="C00000"/>
                </a:solidFill>
              </a:rPr>
              <a:t>处理需求</a:t>
            </a:r>
            <a:r>
              <a:rPr lang="zh-CN" altLang="en-US" dirty="0"/>
              <a:t>和</a:t>
            </a:r>
            <a:r>
              <a:rPr lang="zh-CN" altLang="en-US" dirty="0">
                <a:solidFill>
                  <a:srgbClr val="C00000"/>
                </a:solidFill>
              </a:rPr>
              <a:t>数据库支撑环境</a:t>
            </a:r>
            <a:r>
              <a:rPr lang="en-US" altLang="zh-CN" dirty="0"/>
              <a:t>(</a:t>
            </a:r>
            <a:r>
              <a:rPr lang="zh-CN" altLang="en-US" dirty="0"/>
              <a:t>包括</a:t>
            </a:r>
            <a:r>
              <a:rPr lang="en-US" altLang="zh-CN" dirty="0"/>
              <a:t>DBMS</a:t>
            </a:r>
            <a:r>
              <a:rPr lang="zh-CN" altLang="en-US" dirty="0"/>
              <a:t>、</a:t>
            </a:r>
            <a:r>
              <a:rPr lang="en-US" altLang="zh-CN" dirty="0"/>
              <a:t>OS</a:t>
            </a:r>
            <a:r>
              <a:rPr lang="zh-CN" altLang="en-US" dirty="0"/>
              <a:t>和硬件</a:t>
            </a:r>
            <a:r>
              <a:rPr lang="en-US" altLang="zh-CN" dirty="0"/>
              <a:t>)</a:t>
            </a:r>
            <a:r>
              <a:rPr lang="zh-CN" altLang="en-US" dirty="0"/>
              <a:t>，</a:t>
            </a:r>
            <a:r>
              <a:rPr lang="en-US" altLang="zh-CN" dirty="0"/>
              <a:t> </a:t>
            </a:r>
            <a:r>
              <a:rPr lang="en-US" altLang="zh-CN" dirty="0" err="1"/>
              <a:t>构造最合理的数据库模式，创建数据库及其相关应用系统的过程</a:t>
            </a:r>
            <a:endParaRPr lang="zh-CN" altLang="en-US" dirty="0"/>
          </a:p>
          <a:p>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数据库系统生命周期</a:t>
            </a:r>
            <a:endParaRPr kumimoji="1" lang="en-US" altLang="zh-CN" dirty="0"/>
          </a:p>
          <a:p>
            <a:pPr lvl="1"/>
            <a:r>
              <a:rPr lang="zh-CN" altLang="en-US" dirty="0"/>
              <a:t>指数据库应用系统从开始规划、分析、设计、实现、投入运行后的维护到最后被新的系统所取代而停止使用的整个期间</a:t>
            </a:r>
            <a:endParaRPr lang="zh-CN" altLang="en-US" dirty="0"/>
          </a:p>
          <a:p>
            <a:pPr lvl="1"/>
            <a:r>
              <a:rPr lang="zh-CN" altLang="en-US" dirty="0"/>
              <a:t>数据库系统的生存期：</a:t>
            </a:r>
            <a:endParaRPr lang="zh-CN" altLang="en-US" dirty="0"/>
          </a:p>
          <a:p>
            <a:pPr lvl="2">
              <a:buNone/>
            </a:pPr>
            <a:r>
              <a:rPr lang="zh-CN" altLang="en-US" sz="2200" dirty="0"/>
              <a:t>（</a:t>
            </a:r>
            <a:r>
              <a:rPr lang="en-US" altLang="zh-CN" sz="2200" dirty="0"/>
              <a:t>1</a:t>
            </a:r>
            <a:r>
              <a:rPr lang="zh-CN" altLang="en-US" sz="2200" dirty="0"/>
              <a:t>）系统规划</a:t>
            </a:r>
            <a:r>
              <a:rPr lang="en-US" altLang="zh-CN" sz="2200" dirty="0"/>
              <a:t>  </a:t>
            </a:r>
            <a:endParaRPr lang="en-US" altLang="zh-CN" sz="2200" dirty="0"/>
          </a:p>
          <a:p>
            <a:pPr lvl="2">
              <a:buNone/>
            </a:pPr>
            <a:r>
              <a:rPr lang="zh-CN" altLang="en-US" sz="2200" dirty="0"/>
              <a:t>（</a:t>
            </a:r>
            <a:r>
              <a:rPr lang="en-US" altLang="zh-CN" sz="2200" dirty="0"/>
              <a:t>2</a:t>
            </a:r>
            <a:r>
              <a:rPr lang="zh-CN" altLang="en-US" sz="2200" dirty="0"/>
              <a:t>）数据库设计：需求分析</a:t>
            </a:r>
            <a:r>
              <a:rPr lang="en-US" altLang="zh-CN" sz="2200" dirty="0"/>
              <a:t>,</a:t>
            </a:r>
            <a:r>
              <a:rPr lang="zh-CN" altLang="en-US" sz="2200" dirty="0"/>
              <a:t>概念设计</a:t>
            </a:r>
            <a:r>
              <a:rPr lang="en-US" altLang="zh-CN" sz="2200" dirty="0"/>
              <a:t>,</a:t>
            </a:r>
            <a:r>
              <a:rPr lang="zh-CN" altLang="en-US" sz="2200" dirty="0"/>
              <a:t>逻辑设计</a:t>
            </a:r>
            <a:r>
              <a:rPr lang="en-US" altLang="zh-CN" sz="2200" dirty="0"/>
              <a:t>,</a:t>
            </a:r>
            <a:r>
              <a:rPr lang="zh-CN" altLang="en-US" sz="2200" dirty="0"/>
              <a:t>物理设计</a:t>
            </a:r>
            <a:endParaRPr lang="en-US" altLang="zh-CN" sz="2200" dirty="0"/>
          </a:p>
          <a:p>
            <a:pPr lvl="2">
              <a:buNone/>
            </a:pPr>
            <a:r>
              <a:rPr lang="zh-CN" altLang="en-US" sz="2200" dirty="0"/>
              <a:t>（</a:t>
            </a:r>
            <a:r>
              <a:rPr lang="en-US" altLang="zh-CN" sz="2200" dirty="0"/>
              <a:t>3</a:t>
            </a:r>
            <a:r>
              <a:rPr lang="zh-CN" altLang="en-US" sz="2200" dirty="0"/>
              <a:t>）系统实现：应用程序编码、调试</a:t>
            </a:r>
            <a:endParaRPr lang="zh-CN" altLang="en-US" sz="2200" dirty="0"/>
          </a:p>
          <a:p>
            <a:pPr lvl="2">
              <a:buNone/>
            </a:pPr>
            <a:r>
              <a:rPr lang="zh-CN" altLang="en-US" sz="2200" dirty="0"/>
              <a:t>（</a:t>
            </a:r>
            <a:r>
              <a:rPr lang="en-US" altLang="zh-CN" sz="2200" dirty="0"/>
              <a:t>4</a:t>
            </a:r>
            <a:r>
              <a:rPr lang="zh-CN" altLang="en-US" sz="2200" dirty="0"/>
              <a:t>）运行和维护</a:t>
            </a:r>
            <a:endParaRPr lang="en-US" altLang="zh-CN" sz="22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20000"/>
          </a:bodyPr>
          <a:lstStyle/>
          <a:p>
            <a:pPr>
              <a:lnSpc>
                <a:spcPct val="150000"/>
              </a:lnSpc>
            </a:pPr>
            <a:r>
              <a:rPr lang="zh-CN" altLang="en-US" sz="3000" dirty="0"/>
              <a:t>数据库设计的特点</a:t>
            </a:r>
            <a:endParaRPr kumimoji="1" lang="en-US" altLang="zh-CN" sz="3000" dirty="0"/>
          </a:p>
          <a:p>
            <a:pPr lvl="1"/>
            <a:r>
              <a:rPr lang="zh-CN" altLang="en-US" sz="2600" dirty="0"/>
              <a:t>数据库建设的基本规律</a:t>
            </a:r>
            <a:endParaRPr lang="zh-CN" altLang="en-US" sz="2600" dirty="0"/>
          </a:p>
          <a:p>
            <a:pPr lvl="2"/>
            <a:r>
              <a:rPr lang="zh-CN" altLang="en-US" sz="2400" dirty="0"/>
              <a:t>三分技术，七分管理，十二分基础数据 </a:t>
            </a:r>
            <a:endParaRPr lang="zh-CN" altLang="en-US" sz="2400" dirty="0"/>
          </a:p>
          <a:p>
            <a:pPr lvl="2"/>
            <a:r>
              <a:rPr lang="zh-CN" altLang="en-US" sz="2400" dirty="0"/>
              <a:t>管理 </a:t>
            </a:r>
            <a:endParaRPr lang="en-US" altLang="zh-CN" sz="2400" dirty="0"/>
          </a:p>
          <a:p>
            <a:pPr lvl="3"/>
            <a:r>
              <a:rPr lang="zh-CN" altLang="en-US" sz="2200" dirty="0"/>
              <a:t>数据库建设项目管理 </a:t>
            </a:r>
            <a:endParaRPr lang="en-US" altLang="zh-CN" sz="2200" dirty="0"/>
          </a:p>
          <a:p>
            <a:pPr lvl="3"/>
            <a:r>
              <a:rPr lang="zh-CN" altLang="en-US" sz="2200" dirty="0"/>
              <a:t>企业（即应用部门）的业务管理 </a:t>
            </a:r>
            <a:endParaRPr lang="zh-CN" altLang="en-US" sz="2200" dirty="0"/>
          </a:p>
          <a:p>
            <a:pPr lvl="1"/>
            <a:r>
              <a:rPr lang="zh-CN" altLang="en-US" sz="2600" dirty="0"/>
              <a:t>基础数据  </a:t>
            </a:r>
            <a:endParaRPr lang="en-US" altLang="zh-CN" sz="2600" dirty="0"/>
          </a:p>
          <a:p>
            <a:pPr lvl="2"/>
            <a:r>
              <a:rPr lang="zh-CN" altLang="en-US" sz="2400" dirty="0"/>
              <a:t>收集、入库 </a:t>
            </a:r>
            <a:endParaRPr lang="en-US" altLang="zh-CN" sz="2400" dirty="0"/>
          </a:p>
          <a:p>
            <a:pPr lvl="2"/>
            <a:r>
              <a:rPr lang="zh-CN" altLang="en-US" sz="2400" dirty="0"/>
              <a:t>更新新的数据</a:t>
            </a:r>
            <a:endParaRPr lang="zh-CN" altLang="en-US" sz="2400" dirty="0"/>
          </a:p>
          <a:p>
            <a:pPr lvl="1"/>
            <a:r>
              <a:rPr lang="zh-CN" altLang="en-US" sz="2600" dirty="0"/>
              <a:t>结构（数据）设计和行为（处理）设计相结合 </a:t>
            </a:r>
            <a:endParaRPr lang="zh-CN" altLang="en-US" sz="2600" dirty="0"/>
          </a:p>
          <a:p>
            <a:pPr lvl="2"/>
            <a:r>
              <a:rPr lang="zh-CN" altLang="en-US" sz="2400" dirty="0"/>
              <a:t>将数据库结构设计和数据处理设计密切结合</a:t>
            </a:r>
            <a:endParaRPr lang="zh-CN" altLang="en-US" sz="24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数据库设计的特点</a:t>
            </a:r>
            <a:endParaRPr kumimoji="1" lang="en-US" altLang="zh-CN"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grpSp>
        <p:nvGrpSpPr>
          <p:cNvPr id="6" name="Group 3"/>
          <p:cNvGrpSpPr/>
          <p:nvPr/>
        </p:nvGrpSpPr>
        <p:grpSpPr bwMode="auto">
          <a:xfrm>
            <a:off x="3113808" y="1640206"/>
            <a:ext cx="6019800" cy="4495800"/>
            <a:chOff x="4658" y="7588"/>
            <a:chExt cx="3739" cy="3903"/>
          </a:xfrm>
        </p:grpSpPr>
        <p:sp>
          <p:nvSpPr>
            <p:cNvPr id="7" name="Freeform 4"/>
            <p:cNvSpPr/>
            <p:nvPr/>
          </p:nvSpPr>
          <p:spPr bwMode="auto">
            <a:xfrm>
              <a:off x="5836" y="7588"/>
              <a:ext cx="1319" cy="431"/>
            </a:xfrm>
            <a:custGeom>
              <a:avLst/>
              <a:gdLst>
                <a:gd name="T0" fmla="*/ 1 w 2106"/>
                <a:gd name="T1" fmla="*/ 1 h 774"/>
                <a:gd name="T2" fmla="*/ 1 w 2106"/>
                <a:gd name="T3" fmla="*/ 0 h 774"/>
                <a:gd name="T4" fmla="*/ 6 w 2106"/>
                <a:gd name="T5" fmla="*/ 1 h 774"/>
                <a:gd name="T6" fmla="*/ 8 w 2106"/>
                <a:gd name="T7" fmla="*/ 1 h 774"/>
                <a:gd name="T8" fmla="*/ 8 w 2106"/>
                <a:gd name="T9" fmla="*/ 1 h 774"/>
                <a:gd name="T10" fmla="*/ 8 w 2106"/>
                <a:gd name="T11" fmla="*/ 1 h 774"/>
                <a:gd name="T12" fmla="*/ 7 w 2106"/>
                <a:gd name="T13" fmla="*/ 1 h 774"/>
                <a:gd name="T14" fmla="*/ 7 w 2106"/>
                <a:gd name="T15" fmla="*/ 1 h 774"/>
                <a:gd name="T16" fmla="*/ 6 w 2106"/>
                <a:gd name="T17" fmla="*/ 1 h 774"/>
                <a:gd name="T18" fmla="*/ 4 w 2106"/>
                <a:gd name="T19" fmla="*/ 1 h 774"/>
                <a:gd name="T20" fmla="*/ 3 w 2106"/>
                <a:gd name="T21" fmla="*/ 1 h 774"/>
                <a:gd name="T22" fmla="*/ 2 w 2106"/>
                <a:gd name="T23" fmla="*/ 1 h 774"/>
                <a:gd name="T24" fmla="*/ 1 w 2106"/>
                <a:gd name="T25" fmla="*/ 1 h 774"/>
                <a:gd name="T26" fmla="*/ 1 w 2106"/>
                <a:gd name="T27" fmla="*/ 1 h 774"/>
                <a:gd name="T28" fmla="*/ 1 w 2106"/>
                <a:gd name="T29" fmla="*/ 1 h 774"/>
                <a:gd name="T30" fmla="*/ 1 w 2106"/>
                <a:gd name="T31" fmla="*/ 1 h 774"/>
                <a:gd name="T32" fmla="*/ 0 w 2106"/>
                <a:gd name="T33" fmla="*/ 1 h 774"/>
                <a:gd name="T34" fmla="*/ 1 w 2106"/>
                <a:gd name="T35" fmla="*/ 1 h 774"/>
                <a:gd name="T36" fmla="*/ 1 w 2106"/>
                <a:gd name="T37" fmla="*/ 1 h 774"/>
                <a:gd name="T38" fmla="*/ 1 w 2106"/>
                <a:gd name="T39" fmla="*/ 1 h 77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06" h="774">
                  <a:moveTo>
                    <a:pt x="95" y="54"/>
                  </a:moveTo>
                  <a:cubicBezTo>
                    <a:pt x="136" y="27"/>
                    <a:pt x="171" y="16"/>
                    <a:pt x="217" y="0"/>
                  </a:cubicBezTo>
                  <a:cubicBezTo>
                    <a:pt x="729" y="5"/>
                    <a:pt x="1241" y="6"/>
                    <a:pt x="1753" y="14"/>
                  </a:cubicBezTo>
                  <a:cubicBezTo>
                    <a:pt x="1918" y="17"/>
                    <a:pt x="2052" y="131"/>
                    <a:pt x="2106" y="285"/>
                  </a:cubicBezTo>
                  <a:cubicBezTo>
                    <a:pt x="2101" y="353"/>
                    <a:pt x="2099" y="421"/>
                    <a:pt x="2092" y="489"/>
                  </a:cubicBezTo>
                  <a:cubicBezTo>
                    <a:pt x="2090" y="508"/>
                    <a:pt x="2069" y="562"/>
                    <a:pt x="2051" y="571"/>
                  </a:cubicBezTo>
                  <a:cubicBezTo>
                    <a:pt x="2026" y="583"/>
                    <a:pt x="1997" y="578"/>
                    <a:pt x="1970" y="584"/>
                  </a:cubicBezTo>
                  <a:cubicBezTo>
                    <a:pt x="1933" y="592"/>
                    <a:pt x="1897" y="602"/>
                    <a:pt x="1861" y="611"/>
                  </a:cubicBezTo>
                  <a:cubicBezTo>
                    <a:pt x="1761" y="636"/>
                    <a:pt x="1663" y="659"/>
                    <a:pt x="1562" y="679"/>
                  </a:cubicBezTo>
                  <a:cubicBezTo>
                    <a:pt x="1437" y="704"/>
                    <a:pt x="1182" y="720"/>
                    <a:pt x="1182" y="720"/>
                  </a:cubicBezTo>
                  <a:cubicBezTo>
                    <a:pt x="1073" y="757"/>
                    <a:pt x="943" y="760"/>
                    <a:pt x="829" y="774"/>
                  </a:cubicBezTo>
                  <a:cubicBezTo>
                    <a:pt x="696" y="763"/>
                    <a:pt x="578" y="737"/>
                    <a:pt x="448" y="720"/>
                  </a:cubicBezTo>
                  <a:cubicBezTo>
                    <a:pt x="357" y="689"/>
                    <a:pt x="263" y="668"/>
                    <a:pt x="177" y="625"/>
                  </a:cubicBezTo>
                  <a:cubicBezTo>
                    <a:pt x="139" y="569"/>
                    <a:pt x="148" y="539"/>
                    <a:pt x="82" y="516"/>
                  </a:cubicBezTo>
                  <a:cubicBezTo>
                    <a:pt x="77" y="503"/>
                    <a:pt x="74" y="489"/>
                    <a:pt x="68" y="476"/>
                  </a:cubicBezTo>
                  <a:cubicBezTo>
                    <a:pt x="61" y="461"/>
                    <a:pt x="48" y="450"/>
                    <a:pt x="41" y="435"/>
                  </a:cubicBezTo>
                  <a:cubicBezTo>
                    <a:pt x="24" y="396"/>
                    <a:pt x="11" y="342"/>
                    <a:pt x="0" y="299"/>
                  </a:cubicBezTo>
                  <a:cubicBezTo>
                    <a:pt x="5" y="254"/>
                    <a:pt x="4" y="207"/>
                    <a:pt x="14" y="163"/>
                  </a:cubicBezTo>
                  <a:cubicBezTo>
                    <a:pt x="28" y="103"/>
                    <a:pt x="50" y="136"/>
                    <a:pt x="82" y="95"/>
                  </a:cubicBezTo>
                  <a:cubicBezTo>
                    <a:pt x="91" y="84"/>
                    <a:pt x="91" y="68"/>
                    <a:pt x="95" y="54"/>
                  </a:cubicBez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 name="Text Box 5"/>
            <p:cNvSpPr txBox="1">
              <a:spLocks noChangeArrowheads="1"/>
            </p:cNvSpPr>
            <p:nvPr/>
          </p:nvSpPr>
          <p:spPr bwMode="auto">
            <a:xfrm>
              <a:off x="6040" y="7599"/>
              <a:ext cx="893"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现实世界</a:t>
              </a:r>
              <a:endParaRPr lang="zh-CN" altLang="en-US" sz="1800" b="1" u="none">
                <a:latin typeface="Times New Roman" panose="02020603050405020304" pitchFamily="18" charset="0"/>
              </a:endParaRPr>
            </a:p>
          </p:txBody>
        </p:sp>
        <p:sp>
          <p:nvSpPr>
            <p:cNvPr id="9" name="Text Box 6"/>
            <p:cNvSpPr txBox="1">
              <a:spLocks noChangeArrowheads="1"/>
            </p:cNvSpPr>
            <p:nvPr/>
          </p:nvSpPr>
          <p:spPr bwMode="auto">
            <a:xfrm>
              <a:off x="4778" y="8870"/>
              <a:ext cx="1215"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dirty="0">
                  <a:latin typeface="Times New Roman" panose="02020603050405020304" pitchFamily="18" charset="0"/>
                </a:rPr>
                <a:t>概念模型设计</a:t>
              </a:r>
              <a:endParaRPr lang="zh-CN" altLang="en-US" sz="1800" b="1" u="none" dirty="0">
                <a:latin typeface="Times New Roman" panose="02020603050405020304" pitchFamily="18" charset="0"/>
              </a:endParaRPr>
            </a:p>
          </p:txBody>
        </p:sp>
        <p:sp>
          <p:nvSpPr>
            <p:cNvPr id="10" name="Text Box 7"/>
            <p:cNvSpPr txBox="1">
              <a:spLocks noChangeArrowheads="1"/>
            </p:cNvSpPr>
            <p:nvPr/>
          </p:nvSpPr>
          <p:spPr bwMode="auto">
            <a:xfrm>
              <a:off x="4825" y="10573"/>
              <a:ext cx="107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子模式设计</a:t>
              </a:r>
              <a:endParaRPr lang="zh-CN" altLang="en-US" sz="1800" b="1" u="none">
                <a:latin typeface="Times New Roman" panose="02020603050405020304" pitchFamily="18" charset="0"/>
              </a:endParaRPr>
            </a:p>
          </p:txBody>
        </p:sp>
        <p:sp>
          <p:nvSpPr>
            <p:cNvPr id="11" name="Text Box 8"/>
            <p:cNvSpPr txBox="1">
              <a:spLocks noChangeArrowheads="1"/>
            </p:cNvSpPr>
            <p:nvPr/>
          </p:nvSpPr>
          <p:spPr bwMode="auto">
            <a:xfrm>
              <a:off x="4658" y="10005"/>
              <a:ext cx="1380"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物理数据库设计</a:t>
              </a:r>
              <a:endParaRPr lang="zh-CN" altLang="en-US" sz="1800" b="1" u="none">
                <a:latin typeface="Times New Roman" panose="02020603050405020304" pitchFamily="18" charset="0"/>
              </a:endParaRPr>
            </a:p>
          </p:txBody>
        </p:sp>
        <p:sp>
          <p:nvSpPr>
            <p:cNvPr id="12" name="Text Box 9"/>
            <p:cNvSpPr txBox="1">
              <a:spLocks noChangeArrowheads="1"/>
            </p:cNvSpPr>
            <p:nvPr/>
          </p:nvSpPr>
          <p:spPr bwMode="auto">
            <a:xfrm>
              <a:off x="4673" y="9438"/>
              <a:ext cx="1380"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逻辑数据库设计</a:t>
              </a:r>
              <a:endParaRPr lang="zh-CN" altLang="en-US" sz="1800" b="1" u="none">
                <a:latin typeface="Times New Roman" panose="02020603050405020304" pitchFamily="18" charset="0"/>
              </a:endParaRPr>
            </a:p>
          </p:txBody>
        </p:sp>
        <p:sp>
          <p:nvSpPr>
            <p:cNvPr id="13" name="Text Box 10"/>
            <p:cNvSpPr txBox="1">
              <a:spLocks noChangeArrowheads="1"/>
            </p:cNvSpPr>
            <p:nvPr/>
          </p:nvSpPr>
          <p:spPr bwMode="auto">
            <a:xfrm>
              <a:off x="4915" y="11140"/>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建立数据库</a:t>
              </a:r>
              <a:endParaRPr lang="zh-CN" altLang="en-US" sz="1800" b="1" u="none">
                <a:latin typeface="Times New Roman" panose="02020603050405020304" pitchFamily="18" charset="0"/>
              </a:endParaRPr>
            </a:p>
          </p:txBody>
        </p:sp>
        <p:sp>
          <p:nvSpPr>
            <p:cNvPr id="14" name="Text Box 11"/>
            <p:cNvSpPr txBox="1">
              <a:spLocks noChangeArrowheads="1"/>
            </p:cNvSpPr>
            <p:nvPr/>
          </p:nvSpPr>
          <p:spPr bwMode="auto">
            <a:xfrm>
              <a:off x="4915" y="8303"/>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数据分析</a:t>
              </a:r>
              <a:endParaRPr lang="zh-CN" altLang="en-US" sz="1800" b="1" u="none">
                <a:latin typeface="Times New Roman" panose="02020603050405020304" pitchFamily="18" charset="0"/>
              </a:endParaRPr>
            </a:p>
          </p:txBody>
        </p:sp>
        <p:sp>
          <p:nvSpPr>
            <p:cNvPr id="15" name="Text Box 12"/>
            <p:cNvSpPr txBox="1">
              <a:spLocks noChangeArrowheads="1"/>
            </p:cNvSpPr>
            <p:nvPr/>
          </p:nvSpPr>
          <p:spPr bwMode="auto">
            <a:xfrm>
              <a:off x="6938" y="8303"/>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功能分析</a:t>
              </a:r>
              <a:endParaRPr lang="zh-CN" altLang="en-US" sz="1800" b="1" u="none">
                <a:latin typeface="Times New Roman" panose="02020603050405020304" pitchFamily="18" charset="0"/>
              </a:endParaRPr>
            </a:p>
          </p:txBody>
        </p:sp>
        <p:sp>
          <p:nvSpPr>
            <p:cNvPr id="16" name="Text Box 13"/>
            <p:cNvSpPr txBox="1">
              <a:spLocks noChangeArrowheads="1"/>
            </p:cNvSpPr>
            <p:nvPr/>
          </p:nvSpPr>
          <p:spPr bwMode="auto">
            <a:xfrm>
              <a:off x="6397" y="8870"/>
              <a:ext cx="923"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功能模型</a:t>
              </a:r>
              <a:endParaRPr lang="zh-CN" altLang="en-US" sz="1800" b="1" u="none">
                <a:latin typeface="Times New Roman" panose="02020603050405020304" pitchFamily="18" charset="0"/>
              </a:endParaRPr>
            </a:p>
          </p:txBody>
        </p:sp>
        <p:sp>
          <p:nvSpPr>
            <p:cNvPr id="17" name="Text Box 14"/>
            <p:cNvSpPr txBox="1">
              <a:spLocks noChangeArrowheads="1"/>
            </p:cNvSpPr>
            <p:nvPr/>
          </p:nvSpPr>
          <p:spPr bwMode="auto">
            <a:xfrm>
              <a:off x="7473" y="8870"/>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功能说明</a:t>
              </a:r>
              <a:endParaRPr lang="zh-CN" altLang="en-US" sz="1800" b="1" u="none">
                <a:latin typeface="Times New Roman" panose="02020603050405020304" pitchFamily="18" charset="0"/>
              </a:endParaRPr>
            </a:p>
          </p:txBody>
        </p:sp>
        <p:sp>
          <p:nvSpPr>
            <p:cNvPr id="18" name="Text Box 15"/>
            <p:cNvSpPr txBox="1">
              <a:spLocks noChangeArrowheads="1"/>
            </p:cNvSpPr>
            <p:nvPr/>
          </p:nvSpPr>
          <p:spPr bwMode="auto">
            <a:xfrm>
              <a:off x="6938" y="9438"/>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事务设计</a:t>
              </a:r>
              <a:endParaRPr lang="zh-CN" altLang="en-US" sz="1800" b="1" u="none">
                <a:latin typeface="Times New Roman" panose="02020603050405020304" pitchFamily="18" charset="0"/>
              </a:endParaRPr>
            </a:p>
          </p:txBody>
        </p:sp>
        <p:sp>
          <p:nvSpPr>
            <p:cNvPr id="19" name="Text Box 16"/>
            <p:cNvSpPr txBox="1">
              <a:spLocks noChangeArrowheads="1"/>
            </p:cNvSpPr>
            <p:nvPr/>
          </p:nvSpPr>
          <p:spPr bwMode="auto">
            <a:xfrm>
              <a:off x="6938" y="10005"/>
              <a:ext cx="924"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程序说明</a:t>
              </a:r>
              <a:endParaRPr lang="zh-CN" altLang="en-US" sz="1800" b="1" u="none">
                <a:latin typeface="Times New Roman" panose="02020603050405020304" pitchFamily="18" charset="0"/>
              </a:endParaRPr>
            </a:p>
          </p:txBody>
        </p:sp>
        <p:sp>
          <p:nvSpPr>
            <p:cNvPr id="20" name="Text Box 17"/>
            <p:cNvSpPr txBox="1">
              <a:spLocks noChangeArrowheads="1"/>
            </p:cNvSpPr>
            <p:nvPr/>
          </p:nvSpPr>
          <p:spPr bwMode="auto">
            <a:xfrm>
              <a:off x="6801" y="10573"/>
              <a:ext cx="1215" cy="34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应用程序设计</a:t>
              </a:r>
              <a:endParaRPr lang="zh-CN" altLang="en-US" sz="1800" b="1" u="none">
                <a:latin typeface="Times New Roman" panose="02020603050405020304" pitchFamily="18" charset="0"/>
              </a:endParaRPr>
            </a:p>
          </p:txBody>
        </p:sp>
        <p:sp>
          <p:nvSpPr>
            <p:cNvPr id="21" name="Text Box 18"/>
            <p:cNvSpPr txBox="1">
              <a:spLocks noChangeArrowheads="1"/>
            </p:cNvSpPr>
            <p:nvPr/>
          </p:nvSpPr>
          <p:spPr bwMode="auto">
            <a:xfrm>
              <a:off x="6796" y="11140"/>
              <a:ext cx="1216" cy="351"/>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80000"/>
                </a:lnSpc>
                <a:spcBef>
                  <a:spcPct val="0"/>
                </a:spcBef>
                <a:buFontTx/>
                <a:buNone/>
              </a:pPr>
              <a:r>
                <a:rPr lang="zh-CN" altLang="en-US" sz="1800" b="1" u="none">
                  <a:latin typeface="Times New Roman" panose="02020603050405020304" pitchFamily="18" charset="0"/>
                </a:rPr>
                <a:t>程序编码调试</a:t>
              </a:r>
              <a:endParaRPr lang="zh-CN" altLang="en-US" sz="1800" b="1" u="none">
                <a:latin typeface="Times New Roman" panose="02020603050405020304" pitchFamily="18" charset="0"/>
              </a:endParaRPr>
            </a:p>
          </p:txBody>
        </p:sp>
        <p:sp>
          <p:nvSpPr>
            <p:cNvPr id="22" name="Line 19"/>
            <p:cNvSpPr>
              <a:spLocks noChangeShapeType="1"/>
            </p:cNvSpPr>
            <p:nvPr/>
          </p:nvSpPr>
          <p:spPr bwMode="auto">
            <a:xfrm flipH="1">
              <a:off x="5319" y="8036"/>
              <a:ext cx="1022" cy="267"/>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3" name="Line 20"/>
            <p:cNvSpPr>
              <a:spLocks noChangeShapeType="1"/>
            </p:cNvSpPr>
            <p:nvPr/>
          </p:nvSpPr>
          <p:spPr bwMode="auto">
            <a:xfrm>
              <a:off x="5392" y="8637"/>
              <a:ext cx="0" cy="23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4" name="Line 21"/>
            <p:cNvSpPr>
              <a:spLocks noChangeShapeType="1"/>
            </p:cNvSpPr>
            <p:nvPr/>
          </p:nvSpPr>
          <p:spPr bwMode="auto">
            <a:xfrm flipH="1">
              <a:off x="5366" y="9214"/>
              <a:ext cx="0" cy="22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5" name="Line 22"/>
            <p:cNvSpPr>
              <a:spLocks noChangeShapeType="1"/>
            </p:cNvSpPr>
            <p:nvPr/>
          </p:nvSpPr>
          <p:spPr bwMode="auto">
            <a:xfrm>
              <a:off x="5358" y="9786"/>
              <a:ext cx="0" cy="216"/>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6" name="Line 23"/>
            <p:cNvSpPr>
              <a:spLocks noChangeShapeType="1"/>
            </p:cNvSpPr>
            <p:nvPr/>
          </p:nvSpPr>
          <p:spPr bwMode="auto">
            <a:xfrm>
              <a:off x="5358" y="10354"/>
              <a:ext cx="0" cy="216"/>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7" name="Line 24"/>
            <p:cNvSpPr>
              <a:spLocks noChangeShapeType="1"/>
            </p:cNvSpPr>
            <p:nvPr/>
          </p:nvSpPr>
          <p:spPr bwMode="auto">
            <a:xfrm>
              <a:off x="5366" y="10921"/>
              <a:ext cx="0" cy="23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8" name="Line 25"/>
            <p:cNvSpPr>
              <a:spLocks noChangeShapeType="1"/>
            </p:cNvSpPr>
            <p:nvPr/>
          </p:nvSpPr>
          <p:spPr bwMode="auto">
            <a:xfrm>
              <a:off x="6785" y="7988"/>
              <a:ext cx="608" cy="325"/>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29" name="Line 26"/>
            <p:cNvSpPr>
              <a:spLocks noChangeShapeType="1"/>
            </p:cNvSpPr>
            <p:nvPr/>
          </p:nvSpPr>
          <p:spPr bwMode="auto">
            <a:xfrm flipH="1">
              <a:off x="6893" y="8652"/>
              <a:ext cx="376" cy="216"/>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0" name="Line 27"/>
            <p:cNvSpPr>
              <a:spLocks noChangeShapeType="1"/>
            </p:cNvSpPr>
            <p:nvPr/>
          </p:nvSpPr>
          <p:spPr bwMode="auto">
            <a:xfrm>
              <a:off x="7524" y="8662"/>
              <a:ext cx="459" cy="206"/>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1" name="Line 28"/>
            <p:cNvSpPr>
              <a:spLocks noChangeShapeType="1"/>
            </p:cNvSpPr>
            <p:nvPr/>
          </p:nvSpPr>
          <p:spPr bwMode="auto">
            <a:xfrm>
              <a:off x="6893" y="9204"/>
              <a:ext cx="434" cy="22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2" name="Line 29"/>
            <p:cNvSpPr>
              <a:spLocks noChangeShapeType="1"/>
            </p:cNvSpPr>
            <p:nvPr/>
          </p:nvSpPr>
          <p:spPr bwMode="auto">
            <a:xfrm flipH="1">
              <a:off x="7500" y="9204"/>
              <a:ext cx="476" cy="246"/>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3" name="Line 30"/>
            <p:cNvSpPr>
              <a:spLocks noChangeShapeType="1"/>
            </p:cNvSpPr>
            <p:nvPr/>
          </p:nvSpPr>
          <p:spPr bwMode="auto">
            <a:xfrm>
              <a:off x="7406" y="9771"/>
              <a:ext cx="0" cy="23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4" name="Line 31"/>
            <p:cNvSpPr>
              <a:spLocks noChangeShapeType="1"/>
            </p:cNvSpPr>
            <p:nvPr/>
          </p:nvSpPr>
          <p:spPr bwMode="auto">
            <a:xfrm>
              <a:off x="7408" y="10339"/>
              <a:ext cx="0" cy="231"/>
            </a:xfrm>
            <a:prstGeom prst="line">
              <a:avLst/>
            </a:prstGeom>
            <a:noFill/>
            <a:ln w="6350">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35" name="Line 32"/>
            <p:cNvSpPr>
              <a:spLocks noChangeShapeType="1"/>
            </p:cNvSpPr>
            <p:nvPr/>
          </p:nvSpPr>
          <p:spPr bwMode="auto">
            <a:xfrm>
              <a:off x="7417" y="10921"/>
              <a:ext cx="0" cy="231"/>
            </a:xfrm>
            <a:prstGeom prst="line">
              <a:avLst/>
            </a:prstGeom>
            <a:noFill/>
            <a:ln w="9525">
              <a:solidFill>
                <a:srgbClr val="000000"/>
              </a:solidFill>
              <a:round/>
              <a:tailEnd type="stealth" w="sm" len="sm"/>
            </a:ln>
            <a:extLst>
              <a:ext uri="{909E8E84-426E-40DD-AFC4-6F175D3DCCD1}">
                <a14:hiddenFill xmlns:a14="http://schemas.microsoft.com/office/drawing/2010/main">
                  <a:noFill/>
                </a14:hiddenFill>
              </a:ext>
            </a:extLst>
          </p:spPr>
          <p:txBody>
            <a:bodyPr/>
            <a:lstStyle/>
            <a:p>
              <a:endParaRPr lang="zh-CN" altLang="en-US"/>
            </a:p>
          </p:txBody>
        </p:sp>
      </p:grpSp>
      <p:sp>
        <p:nvSpPr>
          <p:cNvPr id="36" name="Rectangle 33"/>
          <p:cNvSpPr>
            <a:spLocks noChangeArrowheads="1"/>
          </p:cNvSpPr>
          <p:nvPr/>
        </p:nvSpPr>
        <p:spPr bwMode="auto">
          <a:xfrm>
            <a:off x="4640366" y="6229170"/>
            <a:ext cx="2826415" cy="400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BBBBBB"/>
                    </a:gs>
                  </a:gsLst>
                  <a:lin ang="540000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000" u="none" dirty="0">
                <a:latin typeface="微软雅黑" panose="020B0503020204020204" pitchFamily="34" charset="-122"/>
                <a:ea typeface="微软雅黑" panose="020B0503020204020204" pitchFamily="34" charset="-122"/>
              </a:rPr>
              <a:t>结构和行为分离的设计</a:t>
            </a:r>
            <a:r>
              <a:rPr kumimoji="1" lang="zh-CN" altLang="en-US" sz="2000" b="1" u="none" dirty="0">
                <a:latin typeface="微软雅黑" panose="020B0503020204020204" pitchFamily="34" charset="-122"/>
                <a:ea typeface="微软雅黑" panose="020B0503020204020204" pitchFamily="34" charset="-122"/>
              </a:rPr>
              <a:t> </a:t>
            </a:r>
            <a:endParaRPr kumimoji="1" lang="zh-CN" altLang="en-US" sz="2000" b="1" u="none"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数据库设计方法</a:t>
            </a:r>
            <a:endParaRPr lang="en-US" altLang="zh-CN" dirty="0"/>
          </a:p>
          <a:p>
            <a:pPr lvl="1"/>
            <a:r>
              <a:rPr lang="zh-CN" altLang="en-US" dirty="0"/>
              <a:t>数据库设计主要有以下两种方法：</a:t>
            </a:r>
            <a:endParaRPr lang="zh-CN" altLang="en-US" dirty="0"/>
          </a:p>
          <a:p>
            <a:pPr lvl="2">
              <a:buFontTx/>
              <a:buAutoNum type="arabicParenR"/>
            </a:pPr>
            <a:r>
              <a:rPr lang="zh-CN" altLang="en-US" sz="2200" dirty="0"/>
              <a:t>面向数据的设计方法</a:t>
            </a:r>
            <a:r>
              <a:rPr lang="en-US" altLang="zh-CN" sz="2200" dirty="0"/>
              <a:t>(data-oriented approach)</a:t>
            </a:r>
            <a:r>
              <a:rPr lang="zh-CN" altLang="en-US" sz="2200" dirty="0"/>
              <a:t>：以信息需求为主，兼顾处理需求</a:t>
            </a:r>
            <a:r>
              <a:rPr lang="en-US" altLang="zh-CN" sz="2200" dirty="0"/>
              <a:t>;</a:t>
            </a:r>
            <a:endParaRPr lang="en-US" altLang="zh-CN" sz="2200" dirty="0"/>
          </a:p>
          <a:p>
            <a:pPr lvl="2">
              <a:buFontTx/>
              <a:buAutoNum type="arabicParenR"/>
            </a:pPr>
            <a:r>
              <a:rPr lang="zh-CN" altLang="en-US" sz="2200" dirty="0"/>
              <a:t>面向过程的设计方法</a:t>
            </a:r>
            <a:r>
              <a:rPr lang="en-US" altLang="zh-CN" sz="2200" dirty="0"/>
              <a:t>(process-oriented approach)</a:t>
            </a:r>
            <a:r>
              <a:rPr lang="zh-CN" altLang="en-US" sz="2200" dirty="0"/>
              <a:t>：以处理需求为主，兼顾信息需求</a:t>
            </a:r>
            <a:r>
              <a:rPr lang="en-US" altLang="zh-CN" sz="2200" dirty="0"/>
              <a:t>;</a:t>
            </a:r>
            <a:endParaRPr lang="en-US" altLang="zh-CN" sz="2200" dirty="0"/>
          </a:p>
          <a:p>
            <a:pPr lvl="1"/>
            <a:r>
              <a:rPr lang="zh-CN" altLang="en-US" dirty="0"/>
              <a:t>一般来说，数据相对比较稳定，而处理则相对容易变动，所以为了设计一个相对稳定的数据库，数据库设计主要采用面向数据的设计方法</a:t>
            </a:r>
            <a:endParaRPr lang="zh-CN" altLang="en-US" dirty="0"/>
          </a:p>
          <a:p>
            <a:pPr>
              <a:lnSpc>
                <a:spcPct val="150000"/>
              </a:lnSpc>
            </a:pPr>
            <a:endParaRPr kumimoji="1" lang="en-US" altLang="zh-CN"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数据库设计方法</a:t>
            </a:r>
            <a:endParaRPr lang="en-US" altLang="zh-CN" dirty="0"/>
          </a:p>
          <a:p>
            <a:pPr lvl="1"/>
            <a:r>
              <a:rPr lang="zh-CN" altLang="en-US" dirty="0"/>
              <a:t>手工与经验相结合方法 </a:t>
            </a:r>
            <a:endParaRPr lang="zh-CN" altLang="en-US" dirty="0"/>
          </a:p>
          <a:p>
            <a:pPr lvl="2">
              <a:spcAft>
                <a:spcPct val="30000"/>
              </a:spcAft>
            </a:pPr>
            <a:r>
              <a:rPr lang="zh-CN" altLang="en-US" sz="2200" dirty="0"/>
              <a:t>设计质量与设计人员的经验和水平有直接关系</a:t>
            </a:r>
            <a:endParaRPr lang="zh-CN" altLang="en-US" sz="2200" dirty="0"/>
          </a:p>
          <a:p>
            <a:pPr lvl="2">
              <a:spcAft>
                <a:spcPct val="30000"/>
              </a:spcAft>
            </a:pPr>
            <a:r>
              <a:rPr lang="zh-CN" altLang="en-US" sz="2200" dirty="0"/>
              <a:t>数据库运行一段时间后常常不同程度地发现各种问题，增加了维护代价</a:t>
            </a:r>
            <a:endParaRPr lang="zh-CN" altLang="en-US" sz="2200" dirty="0"/>
          </a:p>
          <a:p>
            <a:pPr lvl="1"/>
            <a:r>
              <a:rPr lang="zh-CN" altLang="en-US" dirty="0"/>
              <a:t>规范设计法</a:t>
            </a:r>
            <a:endParaRPr lang="zh-CN" altLang="en-US" dirty="0"/>
          </a:p>
          <a:p>
            <a:pPr lvl="2"/>
            <a:r>
              <a:rPr lang="zh-CN" altLang="en-US" sz="2200" dirty="0"/>
              <a:t>基本思想：过程迭代和逐步求精</a:t>
            </a:r>
            <a:endParaRPr lang="zh-CN" altLang="en-US" sz="2200" dirty="0"/>
          </a:p>
          <a:p>
            <a:pPr lvl="1"/>
            <a:endParaRPr kumimoji="1" lang="en-US" altLang="zh-CN"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数据库设计方法</a:t>
            </a:r>
            <a:endParaRPr lang="en-US" altLang="zh-CN" sz="2400" dirty="0"/>
          </a:p>
          <a:p>
            <a:pPr lvl="1"/>
            <a:r>
              <a:rPr lang="zh-CN" altLang="en-US" dirty="0"/>
              <a:t>新奥尔良（</a:t>
            </a:r>
            <a:r>
              <a:rPr lang="en-US" altLang="zh-CN" dirty="0"/>
              <a:t>New Orleans</a:t>
            </a:r>
            <a:r>
              <a:rPr lang="zh-CN" altLang="en-US" dirty="0"/>
              <a:t>）方法</a:t>
            </a:r>
            <a:endParaRPr lang="en-US" altLang="zh-CN" dirty="0"/>
          </a:p>
          <a:p>
            <a:pPr lvl="2"/>
            <a:r>
              <a:rPr lang="zh-CN" altLang="en-US" sz="2200" dirty="0"/>
              <a:t>将数据库设计分为若干阶段和步骤</a:t>
            </a:r>
            <a:endParaRPr lang="en-US" altLang="zh-CN" sz="2200" dirty="0"/>
          </a:p>
          <a:p>
            <a:pPr marL="1371600" lvl="3" indent="0">
              <a:buNone/>
            </a:pPr>
            <a:r>
              <a:rPr lang="en-US" altLang="zh-CN" sz="2000" dirty="0"/>
              <a:t>1. </a:t>
            </a:r>
            <a:r>
              <a:rPr lang="zh-CN" altLang="en-US" sz="2000" dirty="0"/>
              <a:t>需求分析阶段：分析用户需求</a:t>
            </a:r>
            <a:endParaRPr lang="zh-CN" altLang="en-US" sz="2000" dirty="0"/>
          </a:p>
          <a:p>
            <a:pPr marL="1371600" lvl="3" indent="0">
              <a:buNone/>
            </a:pPr>
            <a:r>
              <a:rPr lang="en-US" altLang="zh-CN" sz="2000" dirty="0"/>
              <a:t>2. </a:t>
            </a:r>
            <a:r>
              <a:rPr lang="zh-CN" altLang="en-US" sz="2000" dirty="0"/>
              <a:t>概念设计阶段：信息分析和定义</a:t>
            </a:r>
            <a:endParaRPr lang="zh-CN" altLang="en-US" sz="2000" dirty="0"/>
          </a:p>
          <a:p>
            <a:pPr marL="1371600" lvl="3" indent="0">
              <a:buNone/>
            </a:pPr>
            <a:r>
              <a:rPr lang="en-US" altLang="zh-CN" sz="2000" dirty="0"/>
              <a:t>3. </a:t>
            </a:r>
            <a:r>
              <a:rPr lang="zh-CN" altLang="en-US" sz="2000" dirty="0"/>
              <a:t>逻辑设计阶段：依据实体联系进行设计</a:t>
            </a:r>
            <a:endParaRPr lang="zh-CN" altLang="en-US" sz="2000" dirty="0"/>
          </a:p>
          <a:p>
            <a:pPr marL="1371600" lvl="3" indent="0">
              <a:buNone/>
            </a:pPr>
            <a:r>
              <a:rPr lang="en-US" altLang="zh-CN" sz="2000" dirty="0"/>
              <a:t>4. </a:t>
            </a:r>
            <a:r>
              <a:rPr lang="zh-CN" altLang="en-US" sz="2000" dirty="0"/>
              <a:t>物理设计阶段：物理结构设计</a:t>
            </a:r>
            <a:r>
              <a:rPr lang="en-US" altLang="zh-CN" sz="2400" dirty="0"/>
              <a:t>	</a:t>
            </a:r>
            <a:endParaRPr kumimoji="1" lang="en-US" altLang="zh-CN" sz="24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5550" y="4813105"/>
            <a:ext cx="7200900"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20000"/>
          </a:bodyPr>
          <a:lstStyle/>
          <a:p>
            <a:pPr>
              <a:lnSpc>
                <a:spcPct val="150000"/>
              </a:lnSpc>
            </a:pPr>
            <a:r>
              <a:rPr lang="zh-CN" altLang="en-US" sz="3000" dirty="0"/>
              <a:t>数据库设计的基本步骤</a:t>
            </a:r>
            <a:endParaRPr lang="en-US" altLang="zh-CN" sz="3000" dirty="0"/>
          </a:p>
          <a:p>
            <a:pPr lvl="1"/>
            <a:r>
              <a:rPr lang="zh-CN" altLang="en-US" sz="2600" dirty="0"/>
              <a:t>数据库设计分</a:t>
            </a:r>
            <a:r>
              <a:rPr lang="en-US" altLang="zh-CN" sz="2600" dirty="0"/>
              <a:t>6</a:t>
            </a:r>
            <a:r>
              <a:rPr lang="zh-CN" altLang="en-US" sz="2600" dirty="0"/>
              <a:t>个阶段</a:t>
            </a:r>
            <a:endParaRPr lang="zh-CN" altLang="en-US" sz="2600" dirty="0"/>
          </a:p>
          <a:p>
            <a:pPr lvl="2"/>
            <a:r>
              <a:rPr lang="zh-CN" altLang="en-US" sz="2400" dirty="0">
                <a:solidFill>
                  <a:schemeClr val="bg1">
                    <a:lumMod val="65000"/>
                  </a:schemeClr>
                </a:solidFill>
              </a:rPr>
              <a:t>系统规划</a:t>
            </a:r>
            <a:endParaRPr lang="zh-CN" altLang="en-US" sz="2400" dirty="0">
              <a:solidFill>
                <a:schemeClr val="bg1">
                  <a:lumMod val="65000"/>
                </a:schemeClr>
              </a:solidFill>
            </a:endParaRPr>
          </a:p>
          <a:p>
            <a:pPr lvl="2"/>
            <a:r>
              <a:rPr lang="zh-CN" altLang="en-US" sz="2400" dirty="0"/>
              <a:t>需求分析</a:t>
            </a:r>
            <a:endParaRPr lang="zh-CN" altLang="en-US" sz="2400" dirty="0"/>
          </a:p>
          <a:p>
            <a:pPr lvl="2"/>
            <a:r>
              <a:rPr lang="zh-CN" altLang="en-US" sz="2400" dirty="0"/>
              <a:t>概念结构设计</a:t>
            </a:r>
            <a:endParaRPr lang="zh-CN" altLang="en-US" sz="2400" dirty="0"/>
          </a:p>
          <a:p>
            <a:pPr lvl="2"/>
            <a:r>
              <a:rPr lang="zh-CN" altLang="en-US" sz="2400" dirty="0"/>
              <a:t>逻辑结构设计</a:t>
            </a:r>
            <a:endParaRPr lang="zh-CN" altLang="en-US" sz="2400" dirty="0"/>
          </a:p>
          <a:p>
            <a:pPr lvl="2"/>
            <a:r>
              <a:rPr lang="zh-CN" altLang="en-US" sz="2400" dirty="0"/>
              <a:t>物理结构设计</a:t>
            </a:r>
            <a:endParaRPr lang="zh-CN" altLang="en-US" sz="2400" dirty="0"/>
          </a:p>
          <a:p>
            <a:pPr lvl="2"/>
            <a:r>
              <a:rPr lang="zh-CN" altLang="en-US" sz="2400" dirty="0"/>
              <a:t>数据库实施</a:t>
            </a:r>
            <a:endParaRPr lang="zh-CN" altLang="en-US" sz="2400" dirty="0"/>
          </a:p>
          <a:p>
            <a:pPr lvl="2"/>
            <a:r>
              <a:rPr lang="zh-CN" altLang="en-US" sz="2400" dirty="0"/>
              <a:t>数据库运行和维护 </a:t>
            </a:r>
            <a:endParaRPr lang="zh-CN" altLang="en-US" sz="2400" dirty="0"/>
          </a:p>
          <a:p>
            <a:pPr lvl="1"/>
            <a:r>
              <a:rPr lang="zh-CN" altLang="en-US" sz="2600" dirty="0"/>
              <a:t>需求分析和概念设计独立于任何数据库管理系统 </a:t>
            </a:r>
            <a:endParaRPr lang="zh-CN" altLang="en-US" sz="2600" dirty="0"/>
          </a:p>
          <a:p>
            <a:pPr lvl="1"/>
            <a:r>
              <a:rPr lang="zh-CN" altLang="en-US" sz="2600" dirty="0"/>
              <a:t>逻辑设计和物理设计与选用的</a:t>
            </a:r>
            <a:r>
              <a:rPr lang="en-US" altLang="zh-CN" sz="2600" dirty="0"/>
              <a:t>DBMS</a:t>
            </a:r>
            <a:r>
              <a:rPr lang="zh-CN" altLang="en-US" sz="2600" dirty="0"/>
              <a:t>密切相关</a:t>
            </a:r>
            <a:endParaRPr lang="zh-CN" altLang="en-US" sz="26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数据库设计的基本步骤</a:t>
            </a:r>
            <a:endParaRPr lang="en-US" altLang="zh-CN" dirty="0"/>
          </a:p>
          <a:p>
            <a:pPr marL="0" indent="0">
              <a:lnSpc>
                <a:spcPct val="150000"/>
              </a:lnSpc>
              <a:buNone/>
            </a:pPr>
            <a:r>
              <a:rPr lang="zh-CN" altLang="en-US" sz="2600" b="0" dirty="0">
                <a:solidFill>
                  <a:srgbClr val="C00000"/>
                </a:solidFill>
              </a:rPr>
              <a:t> </a:t>
            </a:r>
            <a:r>
              <a:rPr lang="en-US" altLang="zh-CN" sz="2600" b="0" dirty="0">
                <a:solidFill>
                  <a:srgbClr val="C00000"/>
                </a:solidFill>
              </a:rPr>
              <a:t>1.</a:t>
            </a:r>
            <a:r>
              <a:rPr lang="zh-CN" altLang="en-US" sz="2600" b="0" dirty="0">
                <a:solidFill>
                  <a:srgbClr val="C00000"/>
                </a:solidFill>
              </a:rPr>
              <a:t>需求分析阶段</a:t>
            </a:r>
            <a:endParaRPr lang="zh-CN" altLang="en-US" sz="2600" b="0" dirty="0">
              <a:solidFill>
                <a:srgbClr val="C00000"/>
              </a:solidFill>
            </a:endParaRPr>
          </a:p>
          <a:p>
            <a:pPr lvl="1">
              <a:lnSpc>
                <a:spcPct val="130000"/>
              </a:lnSpc>
            </a:pPr>
            <a:r>
              <a:rPr lang="zh-CN" altLang="en-US" dirty="0"/>
              <a:t>准确了解与分析用户需求（包括数据与处理）</a:t>
            </a:r>
            <a:endParaRPr lang="en-US" altLang="zh-CN" dirty="0"/>
          </a:p>
          <a:p>
            <a:pPr lvl="1">
              <a:lnSpc>
                <a:spcPct val="130000"/>
              </a:lnSpc>
            </a:pPr>
            <a:r>
              <a:rPr lang="zh-CN" altLang="en-US" dirty="0"/>
              <a:t>最困难、最耗费时间的一步</a:t>
            </a:r>
            <a:endParaRPr lang="zh-CN" altLang="en-US" dirty="0"/>
          </a:p>
          <a:p>
            <a:pPr>
              <a:lnSpc>
                <a:spcPct val="130000"/>
              </a:lnSpc>
              <a:buNone/>
            </a:pPr>
            <a:r>
              <a:rPr lang="zh-CN" altLang="en-US" sz="2600" b="0" dirty="0">
                <a:solidFill>
                  <a:srgbClr val="C00000"/>
                </a:solidFill>
              </a:rPr>
              <a:t> </a:t>
            </a:r>
            <a:r>
              <a:rPr lang="en-US" altLang="zh-CN" sz="2600" b="0" dirty="0">
                <a:solidFill>
                  <a:srgbClr val="C00000"/>
                </a:solidFill>
              </a:rPr>
              <a:t>2.</a:t>
            </a:r>
            <a:r>
              <a:rPr lang="zh-CN" altLang="en-US" sz="2600" b="0" dirty="0">
                <a:solidFill>
                  <a:srgbClr val="C00000"/>
                </a:solidFill>
              </a:rPr>
              <a:t>概念结构设计阶段</a:t>
            </a:r>
            <a:endParaRPr lang="zh-CN" altLang="en-US" sz="2600" b="0" dirty="0">
              <a:solidFill>
                <a:srgbClr val="C00000"/>
              </a:solidFill>
            </a:endParaRPr>
          </a:p>
          <a:p>
            <a:pPr lvl="1">
              <a:lnSpc>
                <a:spcPct val="130000"/>
              </a:lnSpc>
            </a:pPr>
            <a:r>
              <a:rPr lang="zh-CN" altLang="en-US" dirty="0"/>
              <a:t>整个数据库设计的关键</a:t>
            </a:r>
            <a:endParaRPr lang="en-US" altLang="zh-CN" dirty="0"/>
          </a:p>
          <a:p>
            <a:pPr lvl="1">
              <a:lnSpc>
                <a:spcPct val="130000"/>
              </a:lnSpc>
            </a:pPr>
            <a:r>
              <a:rPr lang="zh-CN" altLang="en-US" dirty="0"/>
              <a:t>通过对用户需求进行综合、归纳与抽象，形成一个独立于具体</a:t>
            </a:r>
            <a:r>
              <a:rPr lang="en-US" altLang="zh-CN" dirty="0"/>
              <a:t>DBMS</a:t>
            </a:r>
            <a:r>
              <a:rPr lang="zh-CN" altLang="en-US" dirty="0"/>
              <a:t>的概念模型</a:t>
            </a:r>
            <a:endParaRPr lang="zh-CN" altLang="en-US" sz="20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数据库设计的基本步骤</a:t>
            </a:r>
            <a:endParaRPr lang="en-US" altLang="zh-CN" dirty="0"/>
          </a:p>
          <a:p>
            <a:pPr>
              <a:lnSpc>
                <a:spcPct val="130000"/>
              </a:lnSpc>
              <a:buNone/>
            </a:pPr>
            <a:r>
              <a:rPr lang="zh-CN" altLang="en-US" sz="2600" b="0" dirty="0">
                <a:solidFill>
                  <a:srgbClr val="C00000"/>
                </a:solidFill>
              </a:rPr>
              <a:t> </a:t>
            </a:r>
            <a:r>
              <a:rPr lang="en-US" altLang="zh-CN" sz="2600" b="0" dirty="0">
                <a:solidFill>
                  <a:srgbClr val="C00000"/>
                </a:solidFill>
              </a:rPr>
              <a:t>3.</a:t>
            </a:r>
            <a:r>
              <a:rPr lang="zh-CN" altLang="en-US" sz="2600" b="0" dirty="0">
                <a:solidFill>
                  <a:srgbClr val="C00000"/>
                </a:solidFill>
              </a:rPr>
              <a:t>逻辑结构设计阶段</a:t>
            </a:r>
            <a:endParaRPr lang="zh-CN" altLang="en-US" sz="2600" b="0" dirty="0">
              <a:solidFill>
                <a:srgbClr val="C00000"/>
              </a:solidFill>
            </a:endParaRPr>
          </a:p>
          <a:p>
            <a:pPr lvl="1">
              <a:lnSpc>
                <a:spcPct val="130000"/>
              </a:lnSpc>
            </a:pPr>
            <a:r>
              <a:rPr lang="zh-CN" altLang="en-US" dirty="0"/>
              <a:t>将概念结构转换为某个</a:t>
            </a:r>
            <a:r>
              <a:rPr lang="en-US" altLang="zh-CN" dirty="0"/>
              <a:t>DBMS</a:t>
            </a:r>
            <a:r>
              <a:rPr lang="zh-CN" altLang="en-US" dirty="0"/>
              <a:t>所支持的数据模型</a:t>
            </a:r>
            <a:endParaRPr lang="en-US" altLang="zh-CN" dirty="0"/>
          </a:p>
          <a:p>
            <a:pPr lvl="1">
              <a:lnSpc>
                <a:spcPct val="130000"/>
              </a:lnSpc>
            </a:pPr>
            <a:r>
              <a:rPr lang="zh-CN" altLang="en-US" dirty="0"/>
              <a:t>对其进行优化</a:t>
            </a:r>
            <a:endParaRPr lang="zh-CN" altLang="en-US" dirty="0"/>
          </a:p>
          <a:p>
            <a:pPr>
              <a:lnSpc>
                <a:spcPct val="130000"/>
              </a:lnSpc>
              <a:buNone/>
            </a:pPr>
            <a:r>
              <a:rPr lang="zh-CN" altLang="en-US" sz="2600" b="0" dirty="0">
                <a:solidFill>
                  <a:srgbClr val="C00000"/>
                </a:solidFill>
              </a:rPr>
              <a:t> </a:t>
            </a:r>
            <a:r>
              <a:rPr lang="en-US" altLang="zh-CN" sz="2600" b="0" dirty="0">
                <a:solidFill>
                  <a:srgbClr val="C00000"/>
                </a:solidFill>
              </a:rPr>
              <a:t>4.</a:t>
            </a:r>
            <a:r>
              <a:rPr lang="zh-CN" altLang="en-US" sz="2600" b="0" dirty="0">
                <a:solidFill>
                  <a:srgbClr val="C00000"/>
                </a:solidFill>
              </a:rPr>
              <a:t>数据库物理设计阶段</a:t>
            </a:r>
            <a:endParaRPr lang="zh-CN" altLang="en-US" sz="2600" b="0" dirty="0">
              <a:solidFill>
                <a:srgbClr val="C00000"/>
              </a:solidFill>
            </a:endParaRPr>
          </a:p>
          <a:p>
            <a:pPr lvl="1">
              <a:lnSpc>
                <a:spcPct val="130000"/>
              </a:lnSpc>
            </a:pPr>
            <a:r>
              <a:rPr lang="zh-CN" altLang="en-US" dirty="0"/>
              <a:t>为逻辑数据模型选取一个最适合应用环境的物理结构（包括存储结构和存取方法）</a:t>
            </a:r>
            <a:endParaRPr lang="zh-CN" altLang="en-US"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数据库设计的基本步骤</a:t>
            </a:r>
            <a:endParaRPr lang="en-US" altLang="zh-CN" dirty="0"/>
          </a:p>
          <a:p>
            <a:pPr>
              <a:lnSpc>
                <a:spcPct val="130000"/>
              </a:lnSpc>
              <a:buNone/>
            </a:pPr>
            <a:r>
              <a:rPr lang="zh-CN" altLang="en-US" sz="2600" b="0" dirty="0">
                <a:solidFill>
                  <a:srgbClr val="C00000"/>
                </a:solidFill>
              </a:rPr>
              <a:t> </a:t>
            </a:r>
            <a:r>
              <a:rPr lang="en-US" altLang="zh-CN" sz="2600" b="0" dirty="0">
                <a:solidFill>
                  <a:srgbClr val="C00000"/>
                </a:solidFill>
              </a:rPr>
              <a:t>5.</a:t>
            </a:r>
            <a:r>
              <a:rPr lang="zh-CN" altLang="en-US" sz="2600" b="0" dirty="0">
                <a:solidFill>
                  <a:srgbClr val="C00000"/>
                </a:solidFill>
              </a:rPr>
              <a:t>数据库实施阶段</a:t>
            </a:r>
            <a:endParaRPr lang="zh-CN" altLang="en-US" sz="2600" b="0" dirty="0">
              <a:solidFill>
                <a:srgbClr val="C00000"/>
              </a:solidFill>
            </a:endParaRPr>
          </a:p>
          <a:p>
            <a:pPr lvl="1">
              <a:lnSpc>
                <a:spcPct val="130000"/>
              </a:lnSpc>
            </a:pPr>
            <a:r>
              <a:rPr lang="zh-CN" altLang="en-US" dirty="0"/>
              <a:t>运用</a:t>
            </a:r>
            <a:r>
              <a:rPr lang="en-US" altLang="zh-CN" dirty="0"/>
              <a:t>DBMS</a:t>
            </a:r>
            <a:r>
              <a:rPr lang="zh-CN" altLang="en-US" dirty="0"/>
              <a:t>提供的数据库语言（如</a:t>
            </a:r>
            <a:r>
              <a:rPr lang="en-US" altLang="zh-CN" dirty="0"/>
              <a:t>SQL</a:t>
            </a:r>
            <a:r>
              <a:rPr lang="zh-CN" altLang="en-US" dirty="0"/>
              <a:t>）及宿主语言，根据逻辑设计和物理设计的结果</a:t>
            </a:r>
            <a:endParaRPr lang="en-US" altLang="zh-CN" dirty="0"/>
          </a:p>
          <a:p>
            <a:pPr lvl="2">
              <a:lnSpc>
                <a:spcPct val="130000"/>
              </a:lnSpc>
            </a:pPr>
            <a:r>
              <a:rPr lang="zh-CN" altLang="en-US" sz="2200" dirty="0"/>
              <a:t>建立数据库</a:t>
            </a:r>
            <a:endParaRPr lang="en-US" altLang="zh-CN" sz="2200" dirty="0"/>
          </a:p>
          <a:p>
            <a:pPr lvl="2">
              <a:lnSpc>
                <a:spcPct val="130000"/>
              </a:lnSpc>
            </a:pPr>
            <a:r>
              <a:rPr lang="zh-CN" altLang="en-US" sz="2200" dirty="0"/>
              <a:t>编制与调试应用程序</a:t>
            </a:r>
            <a:endParaRPr lang="en-US" altLang="zh-CN" sz="2200" dirty="0"/>
          </a:p>
          <a:p>
            <a:pPr lvl="2">
              <a:lnSpc>
                <a:spcPct val="130000"/>
              </a:lnSpc>
            </a:pPr>
            <a:r>
              <a:rPr lang="zh-CN" altLang="en-US" sz="2200" dirty="0"/>
              <a:t>组织数据入库</a:t>
            </a:r>
            <a:endParaRPr lang="en-US" altLang="zh-CN" sz="2200" dirty="0"/>
          </a:p>
          <a:p>
            <a:pPr lvl="2">
              <a:lnSpc>
                <a:spcPct val="130000"/>
              </a:lnSpc>
            </a:pPr>
            <a:r>
              <a:rPr lang="zh-CN" altLang="en-US" sz="2200" dirty="0"/>
              <a:t>进行试运行</a:t>
            </a:r>
            <a:endParaRPr lang="zh-CN" altLang="en-US" sz="2200" dirty="0"/>
          </a:p>
          <a:p>
            <a:pPr>
              <a:lnSpc>
                <a:spcPct val="130000"/>
              </a:lnSpc>
              <a:buNone/>
            </a:pPr>
            <a:endParaRPr lang="zh-CN" altLang="en-US" sz="2600" b="0" dirty="0">
              <a:solidFill>
                <a:srgbClr val="C00000"/>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数据库设计的基本步骤</a:t>
            </a:r>
            <a:endParaRPr lang="en-US" altLang="zh-CN" dirty="0"/>
          </a:p>
          <a:p>
            <a:pPr>
              <a:lnSpc>
                <a:spcPct val="130000"/>
              </a:lnSpc>
              <a:buNone/>
            </a:pPr>
            <a:r>
              <a:rPr lang="en-US" altLang="zh-CN" sz="2600" b="0" dirty="0">
                <a:solidFill>
                  <a:srgbClr val="C00000"/>
                </a:solidFill>
              </a:rPr>
              <a:t>6.</a:t>
            </a:r>
            <a:r>
              <a:rPr lang="zh-CN" altLang="en-US" sz="2600" b="0" dirty="0">
                <a:solidFill>
                  <a:srgbClr val="C00000"/>
                </a:solidFill>
              </a:rPr>
              <a:t>数据库运行和维护阶段</a:t>
            </a:r>
            <a:endParaRPr lang="zh-CN" altLang="en-US" sz="2600" b="0" dirty="0">
              <a:solidFill>
                <a:srgbClr val="C00000"/>
              </a:solidFill>
            </a:endParaRPr>
          </a:p>
          <a:p>
            <a:pPr lvl="1">
              <a:lnSpc>
                <a:spcPct val="130000"/>
              </a:lnSpc>
            </a:pPr>
            <a:r>
              <a:rPr lang="zh-CN" altLang="en-US" dirty="0"/>
              <a:t>数据库应用系统经过试运行后即可投入正式运行</a:t>
            </a:r>
            <a:endParaRPr lang="zh-CN" altLang="en-US" dirty="0"/>
          </a:p>
          <a:p>
            <a:pPr lvl="1">
              <a:lnSpc>
                <a:spcPct val="130000"/>
              </a:lnSpc>
            </a:pPr>
            <a:r>
              <a:rPr lang="zh-CN" altLang="en-US" dirty="0"/>
              <a:t>在数据库系统运行过程中必须不断地对其进行评价、调整与修改</a:t>
            </a:r>
            <a:endParaRPr lang="zh-CN" altLang="en-US" dirty="0"/>
          </a:p>
          <a:p>
            <a:pPr marL="0" indent="0">
              <a:lnSpc>
                <a:spcPct val="130000"/>
              </a:lnSpc>
              <a:buNone/>
            </a:pPr>
            <a:endParaRPr lang="en-US" altLang="zh-CN" b="0" dirty="0">
              <a:solidFill>
                <a:srgbClr val="3333FF"/>
              </a:solidFill>
            </a:endParaRPr>
          </a:p>
          <a:p>
            <a:pPr marL="0" indent="0">
              <a:lnSpc>
                <a:spcPct val="130000"/>
              </a:lnSpc>
              <a:buNone/>
            </a:pPr>
            <a:r>
              <a:rPr lang="zh-CN" altLang="en-US" sz="2600" b="0" dirty="0">
                <a:solidFill>
                  <a:srgbClr val="C00000"/>
                </a:solidFill>
              </a:rPr>
              <a:t>设计一个完善的数据库应用系统往往是上述六个阶段的不断反复</a:t>
            </a:r>
            <a:endParaRPr lang="zh-CN" altLang="en-US" sz="2600" b="0" dirty="0">
              <a:solidFill>
                <a:srgbClr val="C00000"/>
              </a:solidFill>
            </a:endParaRPr>
          </a:p>
          <a:p>
            <a:pPr>
              <a:lnSpc>
                <a:spcPct val="130000"/>
              </a:lnSpc>
              <a:buNone/>
            </a:pPr>
            <a:endParaRPr lang="zh-CN" altLang="en-US" sz="2600" b="0" dirty="0">
              <a:solidFill>
                <a:srgbClr val="C00000"/>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数据库设计的基本步骤</a:t>
            </a:r>
            <a:endParaRPr lang="en-US" altLang="zh-CN" dirty="0"/>
          </a:p>
          <a:p>
            <a:pPr>
              <a:lnSpc>
                <a:spcPct val="130000"/>
              </a:lnSpc>
              <a:buNone/>
            </a:pPr>
            <a:endParaRPr lang="zh-CN" altLang="en-US" sz="2600" b="0" dirty="0">
              <a:solidFill>
                <a:srgbClr val="C00000"/>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grpSp>
        <p:nvGrpSpPr>
          <p:cNvPr id="6" name="Group 6"/>
          <p:cNvGrpSpPr/>
          <p:nvPr/>
        </p:nvGrpSpPr>
        <p:grpSpPr bwMode="auto">
          <a:xfrm>
            <a:off x="4605386" y="1814512"/>
            <a:ext cx="5365750" cy="4724400"/>
            <a:chOff x="3060" y="1980"/>
            <a:chExt cx="5760" cy="6315"/>
          </a:xfrm>
        </p:grpSpPr>
        <p:sp>
          <p:nvSpPr>
            <p:cNvPr id="7" name="AutoShape 7"/>
            <p:cNvSpPr>
              <a:spLocks noChangeArrowheads="1"/>
            </p:cNvSpPr>
            <p:nvPr/>
          </p:nvSpPr>
          <p:spPr bwMode="auto">
            <a:xfrm>
              <a:off x="3060" y="1992"/>
              <a:ext cx="1260" cy="468"/>
            </a:xfrm>
            <a:prstGeom prst="roundRect">
              <a:avLst>
                <a:gd name="adj" fmla="val 16667"/>
              </a:avLst>
            </a:prstGeom>
            <a:solidFill>
              <a:srgbClr val="FFFFFF"/>
            </a:solidFill>
            <a:ln w="9525">
              <a:solidFill>
                <a:srgbClr val="000000"/>
              </a:solidFill>
              <a:round/>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信息需求</a:t>
              </a:r>
              <a:endParaRPr lang="zh-CN" altLang="en-US" sz="1600" u="none">
                <a:latin typeface="Arial" panose="020B0604020202020204" pitchFamily="34" charset="0"/>
              </a:endParaRPr>
            </a:p>
          </p:txBody>
        </p:sp>
        <p:sp>
          <p:nvSpPr>
            <p:cNvPr id="8" name="Text Box 8"/>
            <p:cNvSpPr txBox="1">
              <a:spLocks noChangeArrowheads="1"/>
            </p:cNvSpPr>
            <p:nvPr/>
          </p:nvSpPr>
          <p:spPr bwMode="auto">
            <a:xfrm>
              <a:off x="4968" y="2988"/>
              <a:ext cx="19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需求分析</a:t>
              </a:r>
              <a:endParaRPr lang="zh-CN" altLang="en-US" sz="1600" u="none">
                <a:latin typeface="Times New Roman" panose="02020603050405020304" pitchFamily="18" charset="0"/>
              </a:endParaRPr>
            </a:p>
          </p:txBody>
        </p:sp>
        <p:sp>
          <p:nvSpPr>
            <p:cNvPr id="9" name="Line 9"/>
            <p:cNvSpPr>
              <a:spLocks noChangeShapeType="1"/>
            </p:cNvSpPr>
            <p:nvPr/>
          </p:nvSpPr>
          <p:spPr bwMode="auto">
            <a:xfrm>
              <a:off x="4320" y="2220"/>
              <a:ext cx="10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10"/>
            <p:cNvSpPr>
              <a:spLocks noChangeShapeType="1"/>
            </p:cNvSpPr>
            <p:nvPr/>
          </p:nvSpPr>
          <p:spPr bwMode="auto">
            <a:xfrm>
              <a:off x="5400" y="2220"/>
              <a:ext cx="0" cy="78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 name="AutoShape 11"/>
            <p:cNvSpPr>
              <a:spLocks noChangeArrowheads="1"/>
            </p:cNvSpPr>
            <p:nvPr/>
          </p:nvSpPr>
          <p:spPr bwMode="auto">
            <a:xfrm>
              <a:off x="7560" y="1980"/>
              <a:ext cx="1260" cy="468"/>
            </a:xfrm>
            <a:prstGeom prst="roundRect">
              <a:avLst>
                <a:gd name="adj" fmla="val 16667"/>
              </a:avLst>
            </a:prstGeom>
            <a:solidFill>
              <a:srgbClr val="FFFFFF"/>
            </a:solidFill>
            <a:ln w="9525">
              <a:solidFill>
                <a:srgbClr val="000000"/>
              </a:solidFill>
              <a:round/>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处理需求</a:t>
              </a:r>
              <a:endParaRPr lang="zh-CN" altLang="en-US" sz="1600" u="none">
                <a:latin typeface="Times New Roman" panose="02020603050405020304" pitchFamily="18" charset="0"/>
              </a:endParaRPr>
            </a:p>
          </p:txBody>
        </p:sp>
        <p:sp>
          <p:nvSpPr>
            <p:cNvPr id="12" name="Line 12"/>
            <p:cNvSpPr>
              <a:spLocks noChangeShapeType="1"/>
            </p:cNvSpPr>
            <p:nvPr/>
          </p:nvSpPr>
          <p:spPr bwMode="auto">
            <a:xfrm>
              <a:off x="6480" y="2220"/>
              <a:ext cx="10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3"/>
            <p:cNvSpPr>
              <a:spLocks noChangeShapeType="1"/>
            </p:cNvSpPr>
            <p:nvPr/>
          </p:nvSpPr>
          <p:spPr bwMode="auto">
            <a:xfrm>
              <a:off x="6480" y="2220"/>
              <a:ext cx="0" cy="78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4" name="Line 14"/>
            <p:cNvSpPr>
              <a:spLocks noChangeShapeType="1"/>
            </p:cNvSpPr>
            <p:nvPr/>
          </p:nvSpPr>
          <p:spPr bwMode="auto">
            <a:xfrm>
              <a:off x="5940" y="3468"/>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15"/>
            <p:cNvSpPr txBox="1">
              <a:spLocks noChangeArrowheads="1"/>
            </p:cNvSpPr>
            <p:nvPr/>
          </p:nvSpPr>
          <p:spPr bwMode="auto">
            <a:xfrm>
              <a:off x="4968" y="4116"/>
              <a:ext cx="19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概念设计</a:t>
              </a:r>
              <a:endParaRPr lang="zh-CN" altLang="en-US" sz="1600" u="none">
                <a:latin typeface="Times New Roman" panose="02020603050405020304" pitchFamily="18" charset="0"/>
              </a:endParaRPr>
            </a:p>
          </p:txBody>
        </p:sp>
        <p:sp>
          <p:nvSpPr>
            <p:cNvPr id="16" name="Text Box 16"/>
            <p:cNvSpPr txBox="1">
              <a:spLocks noChangeArrowheads="1"/>
            </p:cNvSpPr>
            <p:nvPr/>
          </p:nvSpPr>
          <p:spPr bwMode="auto">
            <a:xfrm>
              <a:off x="6090" y="3637"/>
              <a:ext cx="1260" cy="3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FontTx/>
                <a:buNone/>
              </a:pPr>
              <a:r>
                <a:rPr lang="zh-CN" altLang="en-US" sz="1400" u="none">
                  <a:latin typeface="Times New Roman" panose="02020603050405020304" pitchFamily="18" charset="0"/>
                </a:rPr>
                <a:t>需求说明书</a:t>
              </a:r>
              <a:endParaRPr lang="zh-CN" altLang="en-US" sz="1400" u="none">
                <a:latin typeface="Times New Roman" panose="02020603050405020304" pitchFamily="18" charset="0"/>
              </a:endParaRPr>
            </a:p>
          </p:txBody>
        </p:sp>
        <p:sp>
          <p:nvSpPr>
            <p:cNvPr id="17" name="Line 17"/>
            <p:cNvSpPr>
              <a:spLocks noChangeShapeType="1"/>
            </p:cNvSpPr>
            <p:nvPr/>
          </p:nvSpPr>
          <p:spPr bwMode="auto">
            <a:xfrm>
              <a:off x="3597" y="4356"/>
              <a:ext cx="138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a:off x="3588" y="2484"/>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a:off x="8196" y="2448"/>
              <a:ext cx="0" cy="42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flipH="1">
              <a:off x="6936" y="4356"/>
              <a:ext cx="126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5940" y="4596"/>
              <a:ext cx="0" cy="68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Text Box 22"/>
            <p:cNvSpPr txBox="1">
              <a:spLocks noChangeArrowheads="1"/>
            </p:cNvSpPr>
            <p:nvPr/>
          </p:nvSpPr>
          <p:spPr bwMode="auto">
            <a:xfrm>
              <a:off x="6036" y="4668"/>
              <a:ext cx="1344"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FontTx/>
                <a:buNone/>
              </a:pPr>
              <a:r>
                <a:rPr lang="zh-CN" altLang="en-US" sz="1400" u="none">
                  <a:latin typeface="Times New Roman" panose="02020603050405020304" pitchFamily="18" charset="0"/>
                </a:rPr>
                <a:t>独立于软、硬件环境的数据模式</a:t>
              </a:r>
              <a:endParaRPr lang="zh-CN" altLang="en-US" sz="1400" u="none">
                <a:latin typeface="Times New Roman" panose="02020603050405020304" pitchFamily="18" charset="0"/>
              </a:endParaRPr>
            </a:p>
          </p:txBody>
        </p:sp>
        <p:sp>
          <p:nvSpPr>
            <p:cNvPr id="23" name="Text Box 23"/>
            <p:cNvSpPr txBox="1">
              <a:spLocks noChangeArrowheads="1"/>
            </p:cNvSpPr>
            <p:nvPr/>
          </p:nvSpPr>
          <p:spPr bwMode="auto">
            <a:xfrm>
              <a:off x="4956" y="5316"/>
              <a:ext cx="19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逻辑设计</a:t>
              </a:r>
              <a:endParaRPr lang="zh-CN" altLang="en-US" sz="1600" u="none">
                <a:latin typeface="Times New Roman" panose="02020603050405020304" pitchFamily="18" charset="0"/>
              </a:endParaRPr>
            </a:p>
          </p:txBody>
        </p:sp>
        <p:sp>
          <p:nvSpPr>
            <p:cNvPr id="24" name="Line 24"/>
            <p:cNvSpPr>
              <a:spLocks noChangeShapeType="1"/>
            </p:cNvSpPr>
            <p:nvPr/>
          </p:nvSpPr>
          <p:spPr bwMode="auto">
            <a:xfrm>
              <a:off x="5916" y="5772"/>
              <a:ext cx="0" cy="7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4932" y="6564"/>
              <a:ext cx="19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物理设计</a:t>
              </a:r>
              <a:endParaRPr lang="zh-CN" altLang="en-US" sz="1600" u="none">
                <a:latin typeface="Arial" panose="020B0604020202020204" pitchFamily="34" charset="0"/>
              </a:endParaRPr>
            </a:p>
          </p:txBody>
        </p:sp>
        <p:sp>
          <p:nvSpPr>
            <p:cNvPr id="26" name="Text Box 26"/>
            <p:cNvSpPr txBox="1">
              <a:spLocks noChangeArrowheads="1"/>
            </p:cNvSpPr>
            <p:nvPr/>
          </p:nvSpPr>
          <p:spPr bwMode="auto">
            <a:xfrm>
              <a:off x="6024" y="5868"/>
              <a:ext cx="1344"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Times New Roman" panose="02020603050405020304" pitchFamily="18" charset="0"/>
                </a:rPr>
                <a:t>外模式、逻辑模式及应用程序</a:t>
              </a:r>
              <a:endParaRPr lang="zh-CN" altLang="en-US" sz="1400" u="none">
                <a:latin typeface="Times New Roman" panose="02020603050405020304" pitchFamily="18" charset="0"/>
              </a:endParaRPr>
            </a:p>
          </p:txBody>
        </p:sp>
        <p:sp>
          <p:nvSpPr>
            <p:cNvPr id="27" name="Line 27"/>
            <p:cNvSpPr>
              <a:spLocks noChangeShapeType="1"/>
            </p:cNvSpPr>
            <p:nvPr/>
          </p:nvSpPr>
          <p:spPr bwMode="auto">
            <a:xfrm>
              <a:off x="5940" y="7056"/>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8"/>
            <p:cNvSpPr>
              <a:spLocks noChangeShapeType="1"/>
            </p:cNvSpPr>
            <p:nvPr/>
          </p:nvSpPr>
          <p:spPr bwMode="auto">
            <a:xfrm flipH="1">
              <a:off x="6936" y="5556"/>
              <a:ext cx="126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9" name="AutoShape 29"/>
            <p:cNvSpPr>
              <a:spLocks noChangeArrowheads="1"/>
            </p:cNvSpPr>
            <p:nvPr/>
          </p:nvSpPr>
          <p:spPr bwMode="auto">
            <a:xfrm>
              <a:off x="3060" y="5340"/>
              <a:ext cx="126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u="none">
                  <a:latin typeface="Times New Roman" panose="02020603050405020304" pitchFamily="18" charset="0"/>
                </a:rPr>
                <a:t>DBMS</a:t>
              </a:r>
              <a:r>
                <a:rPr lang="zh-CN" altLang="en-US" sz="1600" u="none">
                  <a:latin typeface="Times New Roman" panose="02020603050405020304" pitchFamily="18" charset="0"/>
                </a:rPr>
                <a:t>特性</a:t>
              </a:r>
              <a:endParaRPr lang="zh-CN" altLang="en-US" sz="1600" u="none">
                <a:latin typeface="Times New Roman" panose="02020603050405020304" pitchFamily="18" charset="0"/>
              </a:endParaRPr>
            </a:p>
          </p:txBody>
        </p:sp>
        <p:sp>
          <p:nvSpPr>
            <p:cNvPr id="30" name="Line 30"/>
            <p:cNvSpPr>
              <a:spLocks noChangeShapeType="1"/>
            </p:cNvSpPr>
            <p:nvPr/>
          </p:nvSpPr>
          <p:spPr bwMode="auto">
            <a:xfrm flipH="1">
              <a:off x="6912" y="6732"/>
              <a:ext cx="126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1" name="Text Box 31"/>
            <p:cNvSpPr txBox="1">
              <a:spLocks noChangeArrowheads="1"/>
            </p:cNvSpPr>
            <p:nvPr/>
          </p:nvSpPr>
          <p:spPr bwMode="auto">
            <a:xfrm>
              <a:off x="6048" y="7176"/>
              <a:ext cx="90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u="none">
                  <a:latin typeface="Times New Roman" panose="02020603050405020304" pitchFamily="18" charset="0"/>
                </a:rPr>
                <a:t>内模式</a:t>
              </a:r>
              <a:endParaRPr lang="zh-CN" altLang="en-US" sz="1600" u="none">
                <a:latin typeface="Arial" panose="020B0604020202020204" pitchFamily="34" charset="0"/>
              </a:endParaRPr>
            </a:p>
          </p:txBody>
        </p:sp>
        <p:sp>
          <p:nvSpPr>
            <p:cNvPr id="32" name="AutoShape 32"/>
            <p:cNvSpPr>
              <a:spLocks noChangeArrowheads="1"/>
            </p:cNvSpPr>
            <p:nvPr/>
          </p:nvSpPr>
          <p:spPr bwMode="auto">
            <a:xfrm>
              <a:off x="3084" y="6120"/>
              <a:ext cx="126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FontTx/>
                <a:buNone/>
              </a:pPr>
              <a:r>
                <a:rPr lang="zh-CN" altLang="en-US" sz="1400" u="none">
                  <a:latin typeface="Times New Roman" panose="02020603050405020304" pitchFamily="18" charset="0"/>
                </a:rPr>
                <a:t>硬件、</a:t>
              </a:r>
              <a:r>
                <a:rPr lang="en-US" altLang="zh-CN" sz="1400" u="none">
                  <a:latin typeface="Times New Roman" panose="02020603050405020304" pitchFamily="18" charset="0"/>
                </a:rPr>
                <a:t>OS</a:t>
              </a:r>
              <a:r>
                <a:rPr lang="zh-CN" altLang="en-US" sz="1400" u="none">
                  <a:latin typeface="Times New Roman" panose="02020603050405020304" pitchFamily="18" charset="0"/>
                </a:rPr>
                <a:t>特性</a:t>
              </a:r>
              <a:endParaRPr lang="zh-CN" altLang="en-US" sz="1400" u="none">
                <a:latin typeface="Times New Roman" panose="02020603050405020304" pitchFamily="18" charset="0"/>
              </a:endParaRPr>
            </a:p>
          </p:txBody>
        </p:sp>
        <p:sp>
          <p:nvSpPr>
            <p:cNvPr id="33" name="Line 33"/>
            <p:cNvSpPr>
              <a:spLocks noChangeShapeType="1"/>
            </p:cNvSpPr>
            <p:nvPr/>
          </p:nvSpPr>
          <p:spPr bwMode="auto">
            <a:xfrm>
              <a:off x="3780" y="6900"/>
              <a:ext cx="1128"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4" name="Line 34"/>
            <p:cNvSpPr>
              <a:spLocks noChangeShapeType="1"/>
            </p:cNvSpPr>
            <p:nvPr/>
          </p:nvSpPr>
          <p:spPr bwMode="auto">
            <a:xfrm>
              <a:off x="4572" y="6741"/>
              <a:ext cx="360"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5" name="Line 35"/>
            <p:cNvSpPr>
              <a:spLocks noChangeShapeType="1"/>
            </p:cNvSpPr>
            <p:nvPr/>
          </p:nvSpPr>
          <p:spPr bwMode="auto">
            <a:xfrm>
              <a:off x="4332" y="5496"/>
              <a:ext cx="624" cy="0"/>
            </a:xfrm>
            <a:prstGeom prst="line">
              <a:avLst/>
            </a:prstGeom>
            <a:noFill/>
            <a:ln w="9525">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6" name="Line 36"/>
            <p:cNvSpPr>
              <a:spLocks noChangeShapeType="1"/>
            </p:cNvSpPr>
            <p:nvPr/>
          </p:nvSpPr>
          <p:spPr bwMode="auto">
            <a:xfrm>
              <a:off x="4572" y="5496"/>
              <a:ext cx="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37"/>
            <p:cNvSpPr>
              <a:spLocks noChangeShapeType="1"/>
            </p:cNvSpPr>
            <p:nvPr/>
          </p:nvSpPr>
          <p:spPr bwMode="auto">
            <a:xfrm>
              <a:off x="3780" y="643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Text Box 38"/>
            <p:cNvSpPr txBox="1">
              <a:spLocks noChangeArrowheads="1"/>
            </p:cNvSpPr>
            <p:nvPr/>
          </p:nvSpPr>
          <p:spPr bwMode="auto">
            <a:xfrm>
              <a:off x="4125" y="7827"/>
              <a:ext cx="3603"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Times New Roman" panose="02020603050405020304" pitchFamily="18" charset="0"/>
                </a:rPr>
                <a:t>数据库设计基本过程</a:t>
              </a:r>
              <a:endParaRPr lang="zh-CN" altLang="en-US" sz="1800" u="none">
                <a:latin typeface="Arial" panose="020B0604020202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数据库设计过程中的各级模式</a:t>
            </a:r>
            <a:endParaRPr lang="en-US" altLang="zh-CN" dirty="0"/>
          </a:p>
          <a:p>
            <a:pPr lvl="1">
              <a:lnSpc>
                <a:spcPct val="150000"/>
              </a:lnSpc>
            </a:pPr>
            <a:r>
              <a:rPr lang="zh-CN" altLang="en-US" dirty="0"/>
              <a:t>数据库设计不同阶段形成的数据库各级模式</a:t>
            </a:r>
            <a:endParaRPr lang="zh-CN" altLang="en-US" dirty="0">
              <a:solidFill>
                <a:srgbClr val="2355F3"/>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5.1 </a:t>
            </a:r>
            <a:r>
              <a:rPr kumimoji="1" lang="zh-CN" altLang="en-US" dirty="0"/>
              <a:t>数据库设计概述</a:t>
            </a:r>
            <a:endParaRPr kumimoji="1" lang="zh-CN" altLang="en-US" dirty="0"/>
          </a:p>
        </p:txBody>
      </p:sp>
      <p:pic>
        <p:nvPicPr>
          <p:cNvPr id="39" name="Picture 5" descr="7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27350" y="2825750"/>
            <a:ext cx="6337300"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4"/>
          <p:cNvSpPr txBox="1">
            <a:spLocks noChangeArrowheads="1"/>
          </p:cNvSpPr>
          <p:nvPr/>
        </p:nvSpPr>
        <p:spPr bwMode="auto">
          <a:xfrm>
            <a:off x="5073581" y="6169580"/>
            <a:ext cx="2100254" cy="36933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BBBBBB"/>
                    </a:gs>
                  </a:gsLst>
                  <a:lin ang="540000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dirty="0">
                <a:latin typeface="微软雅黑" panose="020B0503020204020204" pitchFamily="34" charset="-122"/>
                <a:ea typeface="微软雅黑" panose="020B0503020204020204" pitchFamily="34" charset="-122"/>
              </a:rPr>
              <a:t>数据库的各级模式</a:t>
            </a:r>
            <a:r>
              <a:rPr lang="zh-CN" altLang="en-US" sz="1800" b="1" u="none" dirty="0">
                <a:latin typeface="微软雅黑" panose="020B0503020204020204" pitchFamily="34" charset="-122"/>
                <a:ea typeface="微软雅黑" panose="020B0503020204020204" pitchFamily="34" charset="-122"/>
              </a:rPr>
              <a:t> </a:t>
            </a:r>
            <a:endParaRPr lang="zh-CN" altLang="en-US" sz="1800" b="1" u="none"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需求分析阶段主要负责收集用户的信息需求及处理需求，并加以分析、整理、统一，最终形成用户需求分析说明书</a:t>
            </a:r>
            <a:endParaRPr lang="zh-CN" altLang="en-US" dirty="0"/>
          </a:p>
          <a:p>
            <a:pPr>
              <a:lnSpc>
                <a:spcPct val="150000"/>
              </a:lnSpc>
            </a:pPr>
            <a:endParaRPr lang="zh-CN" altLang="en-US" dirty="0">
              <a:solidFill>
                <a:srgbClr val="2355F3"/>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需求分析的任务</a:t>
            </a:r>
            <a:endParaRPr lang="en-US" altLang="zh-CN" dirty="0"/>
          </a:p>
          <a:p>
            <a:pPr lvl="1">
              <a:lnSpc>
                <a:spcPct val="130000"/>
              </a:lnSpc>
            </a:pPr>
            <a:r>
              <a:rPr lang="zh-CN" altLang="en-US" dirty="0"/>
              <a:t>详细调查现实世界要处理的对象（组织、部门、企业等）</a:t>
            </a:r>
            <a:endParaRPr lang="zh-CN" altLang="en-US" dirty="0"/>
          </a:p>
          <a:p>
            <a:pPr lvl="1">
              <a:lnSpc>
                <a:spcPct val="130000"/>
              </a:lnSpc>
            </a:pPr>
            <a:r>
              <a:rPr lang="zh-CN" altLang="en-US" dirty="0"/>
              <a:t>充分了解原系统（手工系统或计算机系统）</a:t>
            </a:r>
            <a:endParaRPr lang="zh-CN" altLang="en-US" dirty="0"/>
          </a:p>
          <a:p>
            <a:pPr lvl="1">
              <a:lnSpc>
                <a:spcPct val="130000"/>
              </a:lnSpc>
            </a:pPr>
            <a:r>
              <a:rPr lang="zh-CN" altLang="en-US" dirty="0"/>
              <a:t>明确用户的各种需求</a:t>
            </a:r>
            <a:endParaRPr lang="zh-CN" altLang="en-US" dirty="0"/>
          </a:p>
          <a:p>
            <a:pPr lvl="1">
              <a:lnSpc>
                <a:spcPct val="130000"/>
              </a:lnSpc>
            </a:pPr>
            <a:r>
              <a:rPr lang="zh-CN" altLang="en-US" dirty="0"/>
              <a:t>确定新系统的功能</a:t>
            </a:r>
            <a:endParaRPr lang="zh-CN" altLang="en-US" dirty="0"/>
          </a:p>
          <a:p>
            <a:pPr lvl="1">
              <a:lnSpc>
                <a:spcPct val="130000"/>
              </a:lnSpc>
            </a:pPr>
            <a:r>
              <a:rPr lang="zh-CN" altLang="en-US" dirty="0"/>
              <a:t>充分考虑今后可能的扩充和改变</a:t>
            </a:r>
            <a:endParaRPr lang="zh-CN" altLang="en-US" dirty="0"/>
          </a:p>
          <a:p>
            <a:pPr lvl="1">
              <a:lnSpc>
                <a:spcPct val="130000"/>
              </a:lnSpc>
            </a:pPr>
            <a:r>
              <a:rPr lang="zh-CN" altLang="en-US" dirty="0"/>
              <a:t>编写需求分析说明书</a:t>
            </a:r>
            <a:endParaRPr lang="zh-CN" altLang="en-US" dirty="0"/>
          </a:p>
          <a:p>
            <a:pPr lvl="1">
              <a:lnSpc>
                <a:spcPct val="150000"/>
              </a:lnSpc>
            </a:pPr>
            <a:endParaRPr lang="zh-CN" altLang="en-US" dirty="0">
              <a:solidFill>
                <a:srgbClr val="2355F3"/>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需求分析的重点</a:t>
            </a:r>
            <a:endParaRPr lang="en-US" altLang="zh-CN" dirty="0"/>
          </a:p>
          <a:p>
            <a:pPr lvl="1">
              <a:lnSpc>
                <a:spcPct val="150000"/>
              </a:lnSpc>
            </a:pPr>
            <a:r>
              <a:rPr lang="zh-CN" altLang="en-US" dirty="0"/>
              <a:t>需求分析的重点是用户的</a:t>
            </a:r>
            <a:r>
              <a:rPr lang="zh-CN" altLang="en-US" dirty="0">
                <a:latin typeface="Arial" panose="020B0604020202020204" pitchFamily="34" charset="0"/>
              </a:rPr>
              <a:t>“</a:t>
            </a:r>
            <a:r>
              <a:rPr lang="zh-CN" altLang="en-US" dirty="0"/>
              <a:t>数据</a:t>
            </a:r>
            <a:r>
              <a:rPr lang="zh-CN" altLang="en-US" dirty="0">
                <a:latin typeface="Arial" panose="020B0604020202020204" pitchFamily="34" charset="0"/>
              </a:rPr>
              <a:t>”</a:t>
            </a:r>
            <a:r>
              <a:rPr lang="zh-CN" altLang="en-US" dirty="0"/>
              <a:t>和</a:t>
            </a:r>
            <a:r>
              <a:rPr lang="zh-CN" altLang="en-US" dirty="0">
                <a:latin typeface="Arial" panose="020B0604020202020204" pitchFamily="34" charset="0"/>
              </a:rPr>
              <a:t>“</a:t>
            </a:r>
            <a:r>
              <a:rPr lang="zh-CN" altLang="en-US" dirty="0"/>
              <a:t>处理</a:t>
            </a:r>
            <a:r>
              <a:rPr lang="zh-CN" altLang="en-US" dirty="0">
                <a:latin typeface="Arial" panose="020B0604020202020204" pitchFamily="34" charset="0"/>
              </a:rPr>
              <a:t>”</a:t>
            </a:r>
            <a:r>
              <a:rPr lang="zh-CN" altLang="en-US" dirty="0"/>
              <a:t>，即获得用户对数据库的</a:t>
            </a:r>
            <a:r>
              <a:rPr lang="zh-CN" altLang="en-US" dirty="0">
                <a:latin typeface="Arial" panose="020B0604020202020204" pitchFamily="34" charset="0"/>
              </a:rPr>
              <a:t>“</a:t>
            </a:r>
            <a:r>
              <a:rPr lang="zh-CN" altLang="en-US" dirty="0"/>
              <a:t>真实</a:t>
            </a:r>
            <a:r>
              <a:rPr lang="zh-CN" altLang="en-US" dirty="0">
                <a:latin typeface="Arial" panose="020B0604020202020204" pitchFamily="34" charset="0"/>
              </a:rPr>
              <a:t>”</a:t>
            </a:r>
            <a:r>
              <a:rPr lang="zh-CN" altLang="en-US" dirty="0"/>
              <a:t>要求，包括：</a:t>
            </a:r>
            <a:endParaRPr lang="zh-CN" altLang="en-US" dirty="0"/>
          </a:p>
          <a:p>
            <a:pPr lvl="2">
              <a:lnSpc>
                <a:spcPct val="150000"/>
              </a:lnSpc>
            </a:pPr>
            <a:r>
              <a:rPr lang="zh-CN" altLang="en-US" sz="2200" dirty="0"/>
              <a:t>信息要求</a:t>
            </a:r>
            <a:endParaRPr lang="zh-CN" altLang="en-US" sz="2200" dirty="0"/>
          </a:p>
          <a:p>
            <a:pPr lvl="2">
              <a:lnSpc>
                <a:spcPct val="180000"/>
              </a:lnSpc>
            </a:pPr>
            <a:r>
              <a:rPr lang="zh-CN" altLang="en-US" sz="2200" dirty="0"/>
              <a:t>处理要求</a:t>
            </a:r>
            <a:endParaRPr lang="zh-CN" altLang="en-US" sz="2200" dirty="0"/>
          </a:p>
          <a:p>
            <a:pPr lvl="2">
              <a:lnSpc>
                <a:spcPct val="180000"/>
              </a:lnSpc>
            </a:pPr>
            <a:r>
              <a:rPr lang="zh-CN" altLang="en-US" sz="2200" dirty="0"/>
              <a:t>安全性与完整性要求</a:t>
            </a:r>
            <a:endParaRPr lang="zh-CN" altLang="en-US" sz="2200" dirty="0"/>
          </a:p>
          <a:p>
            <a:pPr lvl="1">
              <a:lnSpc>
                <a:spcPct val="150000"/>
              </a:lnSpc>
            </a:pPr>
            <a:endParaRPr lang="zh-CN" altLang="en-US" dirty="0">
              <a:solidFill>
                <a:srgbClr val="2355F3"/>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需求分析的难点</a:t>
            </a:r>
            <a:endParaRPr lang="en-US" altLang="zh-CN" dirty="0"/>
          </a:p>
          <a:p>
            <a:pPr lvl="1">
              <a:lnSpc>
                <a:spcPct val="190000"/>
              </a:lnSpc>
            </a:pPr>
            <a:r>
              <a:rPr lang="zh-CN" altLang="en-US" dirty="0"/>
              <a:t>确定用户的真实需求，原因：</a:t>
            </a:r>
            <a:endParaRPr lang="zh-CN" altLang="en-US" dirty="0"/>
          </a:p>
          <a:p>
            <a:pPr lvl="2">
              <a:lnSpc>
                <a:spcPct val="190000"/>
              </a:lnSpc>
            </a:pPr>
            <a:r>
              <a:rPr lang="zh-CN" altLang="en-US" sz="2200" dirty="0">
                <a:solidFill>
                  <a:srgbClr val="C00000"/>
                </a:solidFill>
              </a:rPr>
              <a:t>用户</a:t>
            </a:r>
            <a:r>
              <a:rPr lang="zh-CN" altLang="en-US" sz="2200" dirty="0"/>
              <a:t>缺少计算机知识</a:t>
            </a:r>
            <a:endParaRPr lang="zh-CN" altLang="en-US" sz="2200" dirty="0"/>
          </a:p>
          <a:p>
            <a:pPr lvl="2">
              <a:lnSpc>
                <a:spcPct val="190000"/>
              </a:lnSpc>
            </a:pPr>
            <a:r>
              <a:rPr lang="zh-CN" altLang="en-US" sz="2200" dirty="0">
                <a:solidFill>
                  <a:srgbClr val="C00000"/>
                </a:solidFill>
              </a:rPr>
              <a:t>设计人员</a:t>
            </a:r>
            <a:r>
              <a:rPr lang="zh-CN" altLang="en-US" sz="2200" dirty="0"/>
              <a:t>缺少用户的专业知识</a:t>
            </a:r>
            <a:endParaRPr lang="zh-CN" altLang="en-US" sz="2200" dirty="0"/>
          </a:p>
          <a:p>
            <a:pPr lvl="1">
              <a:lnSpc>
                <a:spcPct val="150000"/>
              </a:lnSpc>
            </a:pPr>
            <a:r>
              <a:rPr lang="zh-CN" altLang="en-US" dirty="0"/>
              <a:t>解决方法</a:t>
            </a:r>
            <a:endParaRPr lang="zh-CN" altLang="en-US" dirty="0"/>
          </a:p>
          <a:p>
            <a:pPr lvl="2">
              <a:lnSpc>
                <a:spcPct val="150000"/>
              </a:lnSpc>
            </a:pPr>
            <a:r>
              <a:rPr lang="zh-CN" altLang="en-US" sz="2200" dirty="0"/>
              <a:t>设计人员必须不断</a:t>
            </a:r>
            <a:r>
              <a:rPr lang="zh-CN" altLang="en-US" sz="2200" dirty="0">
                <a:solidFill>
                  <a:srgbClr val="C00000"/>
                </a:solidFill>
              </a:rPr>
              <a:t>深入</a:t>
            </a:r>
            <a:r>
              <a:rPr lang="zh-CN" altLang="en-US" sz="2200" dirty="0"/>
              <a:t>地与用户进行</a:t>
            </a:r>
            <a:r>
              <a:rPr lang="zh-CN" altLang="en-US" sz="2200" dirty="0">
                <a:solidFill>
                  <a:srgbClr val="C00000"/>
                </a:solidFill>
              </a:rPr>
              <a:t>交流</a:t>
            </a:r>
            <a:endParaRPr lang="zh-CN" altLang="en-US" sz="2200" dirty="0">
              <a:solidFill>
                <a:srgbClr val="C00000"/>
              </a:solidFill>
            </a:endParaRPr>
          </a:p>
          <a:p>
            <a:pPr lvl="1">
              <a:lnSpc>
                <a:spcPct val="150000"/>
              </a:lnSpc>
            </a:pPr>
            <a:endParaRPr lang="zh-CN" altLang="en-US" dirty="0">
              <a:solidFill>
                <a:srgbClr val="2355F3"/>
              </a:solidFill>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85000" lnSpcReduction="20000"/>
          </a:bodyPr>
          <a:lstStyle/>
          <a:p>
            <a:pPr>
              <a:lnSpc>
                <a:spcPct val="150000"/>
              </a:lnSpc>
            </a:pPr>
            <a:r>
              <a:rPr lang="zh-CN" altLang="en-US" sz="3300" dirty="0"/>
              <a:t>需求分析的步骤</a:t>
            </a:r>
            <a:endParaRPr lang="en-US" altLang="zh-CN" sz="3300" dirty="0">
              <a:solidFill>
                <a:srgbClr val="2355F3"/>
              </a:solidFill>
            </a:endParaRPr>
          </a:p>
          <a:p>
            <a:pPr>
              <a:buNone/>
            </a:pPr>
            <a:r>
              <a:rPr lang="en-US" altLang="zh-CN" sz="2600" b="0" dirty="0"/>
              <a:t>	</a:t>
            </a:r>
            <a:r>
              <a:rPr lang="en-US" altLang="zh-CN" b="0" dirty="0"/>
              <a:t>1. </a:t>
            </a:r>
            <a:r>
              <a:rPr lang="zh-CN" altLang="en-US" b="0" dirty="0"/>
              <a:t>需求信息的收集（了解用户需求）</a:t>
            </a:r>
            <a:endParaRPr lang="en-US" altLang="zh-CN" b="0" dirty="0"/>
          </a:p>
          <a:p>
            <a:pPr lvl="1"/>
            <a:r>
              <a:rPr lang="zh-CN" altLang="en-US" sz="2600" dirty="0"/>
              <a:t>信息需求</a:t>
            </a:r>
            <a:r>
              <a:rPr lang="en-US" altLang="zh-CN" sz="2600" dirty="0"/>
              <a:t>,</a:t>
            </a:r>
            <a:r>
              <a:rPr lang="zh-CN" altLang="en-US" sz="2600" dirty="0"/>
              <a:t>用户要从数据库获得的信息内容</a:t>
            </a:r>
            <a:endParaRPr lang="en-US" altLang="zh-CN" sz="2600" dirty="0"/>
          </a:p>
          <a:p>
            <a:pPr lvl="1"/>
            <a:r>
              <a:rPr lang="zh-CN" altLang="en-US" sz="2600" dirty="0"/>
              <a:t>处理需求</a:t>
            </a:r>
            <a:r>
              <a:rPr lang="en-US" altLang="zh-CN" sz="2600" dirty="0"/>
              <a:t>,</a:t>
            </a:r>
            <a:r>
              <a:rPr lang="zh-CN" altLang="en-US" sz="2600" dirty="0"/>
              <a:t>完成什么处理功能及处理方式</a:t>
            </a:r>
            <a:endParaRPr lang="en-US" altLang="zh-CN" sz="2600" dirty="0"/>
          </a:p>
          <a:p>
            <a:pPr lvl="1"/>
            <a:r>
              <a:rPr lang="zh-CN" altLang="en-US" sz="2600" dirty="0"/>
              <a:t>安全性和完整性要求</a:t>
            </a:r>
            <a:endParaRPr lang="zh-CN" altLang="en-US" sz="2600" dirty="0"/>
          </a:p>
          <a:p>
            <a:pPr>
              <a:buNone/>
            </a:pPr>
            <a:r>
              <a:rPr lang="en-US" altLang="zh-CN" b="0" dirty="0"/>
              <a:t>	2. </a:t>
            </a:r>
            <a:r>
              <a:rPr lang="zh-CN" altLang="en-US" b="0" dirty="0"/>
              <a:t>需求信息的分析整理</a:t>
            </a:r>
            <a:endParaRPr lang="zh-CN" altLang="en-US" b="0" dirty="0"/>
          </a:p>
          <a:p>
            <a:pPr lvl="1"/>
            <a:r>
              <a:rPr lang="zh-CN" altLang="en-US" sz="2600" dirty="0"/>
              <a:t>对收集到的数据进行抽象</a:t>
            </a:r>
            <a:r>
              <a:rPr lang="en-US" altLang="zh-CN" sz="2600" dirty="0"/>
              <a:t>,</a:t>
            </a:r>
            <a:r>
              <a:rPr lang="zh-CN" altLang="en-US" sz="2600" dirty="0"/>
              <a:t>即对实际事物或事件的人为处理</a:t>
            </a:r>
            <a:r>
              <a:rPr lang="en-US" altLang="zh-CN" sz="2600" dirty="0"/>
              <a:t>,</a:t>
            </a:r>
            <a:r>
              <a:rPr lang="zh-CN" altLang="en-US" sz="2600" dirty="0"/>
              <a:t>抽取共同的本质特性</a:t>
            </a:r>
            <a:r>
              <a:rPr lang="en-US" altLang="zh-CN" sz="2600" dirty="0"/>
              <a:t>,</a:t>
            </a:r>
            <a:r>
              <a:rPr lang="zh-CN" altLang="en-US" sz="2600" dirty="0"/>
              <a:t>并用各种概念精确地加以描述</a:t>
            </a:r>
            <a:endParaRPr lang="en-US" altLang="zh-CN" sz="2600" dirty="0"/>
          </a:p>
          <a:p>
            <a:pPr lvl="1"/>
            <a:r>
              <a:rPr lang="zh-CN" altLang="en-US" sz="2600" dirty="0"/>
              <a:t>要想把收集到的信息（如文件、图表、票据等）转换为下一阶段工作可用的形式信息，必须对需求信息作分析整理的工作</a:t>
            </a:r>
            <a:endParaRPr lang="zh-CN" altLang="en-US" sz="2600" dirty="0"/>
          </a:p>
          <a:p>
            <a:pPr>
              <a:buNone/>
            </a:pPr>
            <a:r>
              <a:rPr lang="en-US" altLang="zh-CN" b="0" dirty="0"/>
              <a:t>	3. </a:t>
            </a:r>
            <a:r>
              <a:rPr lang="zh-CN" altLang="en-US" b="0" dirty="0"/>
              <a:t>编写</a:t>
            </a:r>
            <a:r>
              <a:rPr lang="en-US" altLang="zh-CN" b="0" dirty="0" err="1"/>
              <a:t>需求分析说明</a:t>
            </a:r>
            <a:endParaRPr lang="en-US" altLang="zh-CN" b="0" dirty="0"/>
          </a:p>
          <a:p>
            <a:pPr marL="0" indent="0">
              <a:lnSpc>
                <a:spcPct val="150000"/>
              </a:lnSpc>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需求分析的结果</a:t>
            </a:r>
            <a:endParaRPr lang="en-US" altLang="zh-CN" dirty="0">
              <a:solidFill>
                <a:srgbClr val="2355F3"/>
              </a:solidFill>
            </a:endParaRPr>
          </a:p>
          <a:p>
            <a:pPr lvl="1">
              <a:lnSpc>
                <a:spcPct val="150000"/>
              </a:lnSpc>
            </a:pPr>
            <a:r>
              <a:rPr lang="zh-CN" altLang="en-US" dirty="0"/>
              <a:t>确定系统范围，产生系统范围图</a:t>
            </a:r>
            <a:endParaRPr lang="zh-CN" altLang="en-US" dirty="0"/>
          </a:p>
          <a:p>
            <a:pPr lvl="1">
              <a:lnSpc>
                <a:spcPct val="150000"/>
              </a:lnSpc>
            </a:pPr>
            <a:r>
              <a:rPr lang="zh-CN" altLang="en-US" dirty="0"/>
              <a:t>分析用户活动，产生业务流程图</a:t>
            </a:r>
            <a:endParaRPr lang="zh-CN" altLang="en-US" dirty="0"/>
          </a:p>
          <a:p>
            <a:pPr lvl="1">
              <a:lnSpc>
                <a:spcPct val="150000"/>
              </a:lnSpc>
            </a:pPr>
            <a:r>
              <a:rPr lang="zh-CN" altLang="en-US" dirty="0"/>
              <a:t>分析用户活动涉及的数据，产生数据流图</a:t>
            </a:r>
            <a:endParaRPr lang="zh-CN" altLang="en-US" dirty="0"/>
          </a:p>
          <a:p>
            <a:pPr lvl="1">
              <a:lnSpc>
                <a:spcPct val="150000"/>
              </a:lnSpc>
            </a:pPr>
            <a:r>
              <a:rPr lang="zh-CN" altLang="en-US" dirty="0"/>
              <a:t>分析系统数据，产生数据字典</a:t>
            </a:r>
            <a:endParaRPr lang="zh-CN" altLang="en-US" dirty="0"/>
          </a:p>
          <a:p>
            <a:pPr>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5.2 </a:t>
            </a:r>
            <a:r>
              <a:rPr kumimoji="1" lang="zh-CN" altLang="en-US" dirty="0"/>
              <a:t>需求分析</a:t>
            </a:r>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将需求分析阶段得到的用户需求抽象为信息结构即概念模型的过程就是数据库的概念设计 </a:t>
            </a:r>
            <a:endParaRPr lang="zh-CN" altLang="en-US" dirty="0"/>
          </a:p>
          <a:p>
            <a:r>
              <a:rPr lang="zh-CN" altLang="en-US" dirty="0"/>
              <a:t>概念模型是对现实世界的一种抽象，即对实际的人、物、事和概念进行人为处理，抽取人们关心的共同特性，忽略非本质的细节，并把这些特性用各种概念精确地加以描述</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概念设计的特征</a:t>
            </a:r>
            <a:endParaRPr lang="en-US" altLang="zh-CN" dirty="0"/>
          </a:p>
          <a:p>
            <a:pPr lvl="1">
              <a:lnSpc>
                <a:spcPct val="150000"/>
              </a:lnSpc>
            </a:pPr>
            <a:r>
              <a:rPr lang="zh-CN" altLang="en-US" dirty="0"/>
              <a:t>概念设计阶段将得到系统的整体数据结构描述，该阶段通常会采用某种概念数据模型</a:t>
            </a:r>
            <a:r>
              <a:rPr lang="en-US" altLang="zh-CN" dirty="0"/>
              <a:t>(</a:t>
            </a:r>
            <a:r>
              <a:rPr lang="zh-CN" altLang="en-US" dirty="0"/>
              <a:t>如</a:t>
            </a:r>
            <a:r>
              <a:rPr lang="en-US" altLang="zh-CN" dirty="0"/>
              <a:t>ER</a:t>
            </a:r>
            <a:r>
              <a:rPr lang="zh-CN" altLang="en-US" dirty="0"/>
              <a:t>模型</a:t>
            </a:r>
            <a:r>
              <a:rPr lang="en-US" altLang="zh-CN" dirty="0"/>
              <a:t>)</a:t>
            </a:r>
            <a:r>
              <a:rPr lang="zh-CN" altLang="en-US" dirty="0"/>
              <a:t>来进行，由于概念数据模型是面向现实世界的，所以经过概念设计所得到的数据模式应当是与</a:t>
            </a:r>
            <a:r>
              <a:rPr lang="en-US" altLang="zh-CN" dirty="0"/>
              <a:t>DBMS</a:t>
            </a:r>
            <a:r>
              <a:rPr lang="zh-CN" altLang="en-US" dirty="0"/>
              <a:t>无关的，且独立于软硬件应用环境</a:t>
            </a:r>
            <a:endParaRPr lang="zh-CN" altLang="en-US" dirty="0"/>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采用</a:t>
            </a:r>
            <a:r>
              <a:rPr lang="en-GB" altLang="zh-CN" dirty="0"/>
              <a:t>ER</a:t>
            </a:r>
            <a:r>
              <a:rPr lang="zh-CN" altLang="en-US" dirty="0"/>
              <a:t>模型的概念设计</a:t>
            </a:r>
            <a:endParaRPr lang="en-US" altLang="zh-CN" dirty="0"/>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9011531" y="3124200"/>
            <a:ext cx="9906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u="none">
              <a:latin typeface="Arial" panose="020B0604020202020204" pitchFamily="34" charset="0"/>
            </a:endParaRPr>
          </a:p>
        </p:txBody>
      </p:sp>
      <p:sp>
        <p:nvSpPr>
          <p:cNvPr id="7" name="AutoShape 5"/>
          <p:cNvSpPr>
            <a:spLocks noChangeArrowheads="1"/>
          </p:cNvSpPr>
          <p:nvPr/>
        </p:nvSpPr>
        <p:spPr bwMode="auto">
          <a:xfrm>
            <a:off x="9163931" y="3810000"/>
            <a:ext cx="609600" cy="1066800"/>
          </a:xfrm>
          <a:prstGeom prst="diamond">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 name="Oval 6"/>
          <p:cNvSpPr>
            <a:spLocks noChangeArrowheads="1"/>
          </p:cNvSpPr>
          <p:nvPr/>
        </p:nvSpPr>
        <p:spPr bwMode="auto">
          <a:xfrm>
            <a:off x="9011531" y="5105400"/>
            <a:ext cx="914400" cy="38100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 name="Text Box 7"/>
          <p:cNvSpPr txBox="1">
            <a:spLocks noChangeArrowheads="1"/>
          </p:cNvSpPr>
          <p:nvPr/>
        </p:nvSpPr>
        <p:spPr bwMode="auto">
          <a:xfrm>
            <a:off x="7411331" y="3124200"/>
            <a:ext cx="11430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2200" u="none" dirty="0">
                <a:latin typeface="微软雅黑" panose="020B0503020204020204" pitchFamily="34" charset="-122"/>
                <a:ea typeface="微软雅黑" panose="020B0503020204020204" pitchFamily="34" charset="-122"/>
              </a:rPr>
              <a:t>实体</a:t>
            </a:r>
            <a:endParaRPr kumimoji="1" lang="zh-CN" altLang="en-US" sz="2200" u="none" dirty="0">
              <a:latin typeface="微软雅黑" panose="020B0503020204020204" pitchFamily="34" charset="-122"/>
              <a:ea typeface="微软雅黑" panose="020B0503020204020204" pitchFamily="34" charset="-122"/>
            </a:endParaRPr>
          </a:p>
        </p:txBody>
      </p:sp>
      <p:sp>
        <p:nvSpPr>
          <p:cNvPr id="10" name="Text Box 8"/>
          <p:cNvSpPr txBox="1">
            <a:spLocks noChangeArrowheads="1"/>
          </p:cNvSpPr>
          <p:nvPr/>
        </p:nvSpPr>
        <p:spPr bwMode="auto">
          <a:xfrm>
            <a:off x="7411331" y="4114800"/>
            <a:ext cx="11430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2200" u="none" dirty="0">
                <a:latin typeface="微软雅黑" panose="020B0503020204020204" pitchFamily="34" charset="-122"/>
                <a:ea typeface="微软雅黑" panose="020B0503020204020204" pitchFamily="34" charset="-122"/>
              </a:rPr>
              <a:t>联系</a:t>
            </a:r>
            <a:endParaRPr kumimoji="1" lang="zh-CN" altLang="en-US" sz="2200" u="none" dirty="0">
              <a:latin typeface="微软雅黑" panose="020B0503020204020204" pitchFamily="34" charset="-122"/>
              <a:ea typeface="微软雅黑" panose="020B0503020204020204" pitchFamily="34" charset="-122"/>
            </a:endParaRPr>
          </a:p>
        </p:txBody>
      </p:sp>
      <p:sp>
        <p:nvSpPr>
          <p:cNvPr id="11" name="Text Box 9"/>
          <p:cNvSpPr txBox="1">
            <a:spLocks noChangeArrowheads="1"/>
          </p:cNvSpPr>
          <p:nvPr/>
        </p:nvSpPr>
        <p:spPr bwMode="auto">
          <a:xfrm>
            <a:off x="7411331" y="5105400"/>
            <a:ext cx="11430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2200" u="none" dirty="0">
                <a:latin typeface="微软雅黑" panose="020B0503020204020204" pitchFamily="34" charset="-122"/>
                <a:ea typeface="微软雅黑" panose="020B0503020204020204" pitchFamily="34" charset="-122"/>
              </a:rPr>
              <a:t>属性</a:t>
            </a:r>
            <a:endParaRPr kumimoji="1" lang="zh-CN" altLang="en-US" sz="2200" u="none" dirty="0">
              <a:latin typeface="微软雅黑" panose="020B0503020204020204" pitchFamily="34" charset="-122"/>
              <a:ea typeface="微软雅黑" panose="020B0503020204020204" pitchFamily="34" charset="-122"/>
            </a:endParaRPr>
          </a:p>
        </p:txBody>
      </p:sp>
      <p:sp>
        <p:nvSpPr>
          <p:cNvPr id="12" name="Text Box 10"/>
          <p:cNvSpPr txBox="1">
            <a:spLocks noChangeArrowheads="1"/>
          </p:cNvSpPr>
          <p:nvPr/>
        </p:nvSpPr>
        <p:spPr bwMode="auto">
          <a:xfrm>
            <a:off x="7734695" y="1849110"/>
            <a:ext cx="21336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marL="342900" indent="-342900" eaLnBrk="1" hangingPunct="1">
              <a:spcBef>
                <a:spcPct val="50000"/>
              </a:spcBef>
              <a:buFont typeface="Arial" panose="020B0604020202020204" pitchFamily="34" charset="0"/>
              <a:buChar char="•"/>
            </a:pPr>
            <a:r>
              <a:rPr lang="en-US" altLang="zh-CN" sz="2200" u="none" dirty="0">
                <a:latin typeface="微软雅黑" panose="020B0503020204020204" pitchFamily="34" charset="-122"/>
                <a:ea typeface="微软雅黑" panose="020B0503020204020204" pitchFamily="34" charset="-122"/>
              </a:rPr>
              <a:t>ER</a:t>
            </a:r>
            <a:r>
              <a:rPr lang="zh-CN" altLang="en-US" sz="2200" u="none" dirty="0">
                <a:latin typeface="微软雅黑" panose="020B0503020204020204" pitchFamily="34" charset="-122"/>
                <a:ea typeface="微软雅黑" panose="020B0503020204020204" pitchFamily="34" charset="-122"/>
              </a:rPr>
              <a:t>模型图例</a:t>
            </a:r>
            <a:endParaRPr lang="zh-CN" altLang="en-US" sz="2200" u="none" dirty="0">
              <a:latin typeface="微软雅黑" panose="020B0503020204020204" pitchFamily="34" charset="-122"/>
              <a:ea typeface="微软雅黑" panose="020B0503020204020204" pitchFamily="34" charset="-122"/>
            </a:endParaRPr>
          </a:p>
        </p:txBody>
      </p:sp>
      <p:sp>
        <p:nvSpPr>
          <p:cNvPr id="13" name="Line 11"/>
          <p:cNvSpPr>
            <a:spLocks noChangeShapeType="1"/>
          </p:cNvSpPr>
          <p:nvPr/>
        </p:nvSpPr>
        <p:spPr bwMode="auto">
          <a:xfrm>
            <a:off x="6887456" y="1600200"/>
            <a:ext cx="0" cy="487680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4" name="Group 12"/>
          <p:cNvGrpSpPr/>
          <p:nvPr/>
        </p:nvGrpSpPr>
        <p:grpSpPr bwMode="auto">
          <a:xfrm>
            <a:off x="2312281" y="3789363"/>
            <a:ext cx="4495800" cy="2057400"/>
            <a:chOff x="384" y="2688"/>
            <a:chExt cx="2832" cy="1296"/>
          </a:xfrm>
        </p:grpSpPr>
        <p:grpSp>
          <p:nvGrpSpPr>
            <p:cNvPr id="15" name="Group 13"/>
            <p:cNvGrpSpPr/>
            <p:nvPr/>
          </p:nvGrpSpPr>
          <p:grpSpPr bwMode="auto">
            <a:xfrm>
              <a:off x="912" y="2976"/>
              <a:ext cx="1824" cy="768"/>
              <a:chOff x="912" y="2976"/>
              <a:chExt cx="1824" cy="768"/>
            </a:xfrm>
          </p:grpSpPr>
          <p:sp>
            <p:nvSpPr>
              <p:cNvPr id="32" name="Rectangle 14"/>
              <p:cNvSpPr>
                <a:spLocks noChangeArrowheads="1"/>
              </p:cNvSpPr>
              <p:nvPr/>
            </p:nvSpPr>
            <p:spPr bwMode="auto">
              <a:xfrm>
                <a:off x="912" y="3072"/>
                <a:ext cx="144" cy="624"/>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老</a:t>
                </a:r>
                <a:endParaRPr kumimoji="1" lang="zh-CN" altLang="en-US" sz="1600" u="none">
                  <a:latin typeface="Times New Roman" panose="02020603050405020304" pitchFamily="18" charset="0"/>
                </a:endParaRPr>
              </a:p>
              <a:p>
                <a:pPr algn="ctr" eaLnBrk="1" hangingPunct="1">
                  <a:spcBef>
                    <a:spcPct val="0"/>
                  </a:spcBef>
                  <a:buFontTx/>
                  <a:buNone/>
                </a:pPr>
                <a:r>
                  <a:rPr kumimoji="1" lang="zh-CN" altLang="en-US" sz="1600" u="none">
                    <a:latin typeface="Times New Roman" panose="02020603050405020304" pitchFamily="18" charset="0"/>
                  </a:rPr>
                  <a:t>师</a:t>
                </a:r>
                <a:endParaRPr kumimoji="1" lang="zh-CN" altLang="en-US" sz="1600" u="none">
                  <a:latin typeface="Times New Roman" panose="02020603050405020304" pitchFamily="18" charset="0"/>
                </a:endParaRPr>
              </a:p>
            </p:txBody>
          </p:sp>
          <p:sp>
            <p:nvSpPr>
              <p:cNvPr id="33" name="Rectangle 15"/>
              <p:cNvSpPr>
                <a:spLocks noChangeArrowheads="1"/>
              </p:cNvSpPr>
              <p:nvPr/>
            </p:nvSpPr>
            <p:spPr bwMode="auto">
              <a:xfrm>
                <a:off x="2592" y="3072"/>
                <a:ext cx="144" cy="67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学</a:t>
                </a:r>
                <a:endParaRPr kumimoji="1" lang="zh-CN" altLang="en-US" sz="1600" u="none">
                  <a:latin typeface="Times New Roman" panose="02020603050405020304" pitchFamily="18" charset="0"/>
                </a:endParaRPr>
              </a:p>
              <a:p>
                <a:pPr algn="ctr" eaLnBrk="1" hangingPunct="1">
                  <a:spcBef>
                    <a:spcPct val="0"/>
                  </a:spcBef>
                  <a:buFontTx/>
                  <a:buNone/>
                </a:pPr>
                <a:r>
                  <a:rPr kumimoji="1" lang="zh-CN" altLang="en-US" sz="1600" u="none">
                    <a:latin typeface="Times New Roman" panose="02020603050405020304" pitchFamily="18" charset="0"/>
                  </a:rPr>
                  <a:t>生</a:t>
                </a:r>
                <a:endParaRPr kumimoji="1" lang="zh-CN" altLang="en-US" sz="1600" u="none">
                  <a:latin typeface="Times New Roman" panose="02020603050405020304" pitchFamily="18" charset="0"/>
                </a:endParaRPr>
              </a:p>
            </p:txBody>
          </p:sp>
          <p:sp>
            <p:nvSpPr>
              <p:cNvPr id="34" name="AutoShape 16"/>
              <p:cNvSpPr>
                <a:spLocks noChangeArrowheads="1"/>
              </p:cNvSpPr>
              <p:nvPr/>
            </p:nvSpPr>
            <p:spPr bwMode="auto">
              <a:xfrm>
                <a:off x="1728" y="2976"/>
                <a:ext cx="288" cy="720"/>
              </a:xfrm>
              <a:prstGeom prst="diamond">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教</a:t>
                </a:r>
                <a:endParaRPr kumimoji="1" lang="zh-CN" altLang="en-US" sz="1600" u="none">
                  <a:latin typeface="Times New Roman" panose="02020603050405020304" pitchFamily="18" charset="0"/>
                </a:endParaRPr>
              </a:p>
            </p:txBody>
          </p:sp>
          <p:sp>
            <p:nvSpPr>
              <p:cNvPr id="35" name="Line 17"/>
              <p:cNvSpPr>
                <a:spLocks noChangeShapeType="1"/>
              </p:cNvSpPr>
              <p:nvPr/>
            </p:nvSpPr>
            <p:spPr bwMode="auto">
              <a:xfrm>
                <a:off x="2016" y="3360"/>
                <a:ext cx="576"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18"/>
              <p:cNvSpPr>
                <a:spLocks noChangeShapeType="1"/>
              </p:cNvSpPr>
              <p:nvPr/>
            </p:nvSpPr>
            <p:spPr bwMode="auto">
              <a:xfrm flipH="1">
                <a:off x="1056" y="3360"/>
                <a:ext cx="67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Text Box 19"/>
              <p:cNvSpPr txBox="1">
                <a:spLocks noChangeArrowheads="1"/>
              </p:cNvSpPr>
              <p:nvPr/>
            </p:nvSpPr>
            <p:spPr bwMode="auto">
              <a:xfrm>
                <a:off x="1104" y="307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en-US" altLang="zh-CN" sz="2400" u="none">
                    <a:latin typeface="Times New Roman" panose="02020603050405020304" pitchFamily="18" charset="0"/>
                  </a:rPr>
                  <a:t>m</a:t>
                </a:r>
                <a:endParaRPr kumimoji="1" lang="en-US" altLang="zh-CN" sz="2400" u="none">
                  <a:latin typeface="Times New Roman" panose="02020603050405020304" pitchFamily="18" charset="0"/>
                </a:endParaRPr>
              </a:p>
            </p:txBody>
          </p:sp>
          <p:sp>
            <p:nvSpPr>
              <p:cNvPr id="38" name="Text Box 20"/>
              <p:cNvSpPr txBox="1">
                <a:spLocks noChangeArrowheads="1"/>
              </p:cNvSpPr>
              <p:nvPr/>
            </p:nvSpPr>
            <p:spPr bwMode="auto">
              <a:xfrm>
                <a:off x="2304" y="312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en-US" altLang="zh-CN" sz="2400" u="none">
                    <a:latin typeface="Times New Roman" panose="02020603050405020304" pitchFamily="18" charset="0"/>
                  </a:rPr>
                  <a:t>n</a:t>
                </a:r>
                <a:endParaRPr kumimoji="1" lang="en-US" altLang="zh-CN" sz="2400" u="none">
                  <a:latin typeface="Times New Roman" panose="02020603050405020304" pitchFamily="18" charset="0"/>
                </a:endParaRPr>
              </a:p>
            </p:txBody>
          </p:sp>
        </p:grpSp>
        <p:sp>
          <p:nvSpPr>
            <p:cNvPr id="16" name="Oval 21"/>
            <p:cNvSpPr>
              <a:spLocks noChangeArrowheads="1"/>
            </p:cNvSpPr>
            <p:nvPr/>
          </p:nvSpPr>
          <p:spPr bwMode="auto">
            <a:xfrm>
              <a:off x="2736" y="2688"/>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学号</a:t>
              </a:r>
              <a:endParaRPr kumimoji="1" lang="zh-CN" altLang="en-US" sz="1600" u="none">
                <a:latin typeface="Times New Roman" panose="02020603050405020304" pitchFamily="18" charset="0"/>
              </a:endParaRPr>
            </a:p>
          </p:txBody>
        </p:sp>
        <p:sp>
          <p:nvSpPr>
            <p:cNvPr id="17" name="Oval 22"/>
            <p:cNvSpPr>
              <a:spLocks noChangeArrowheads="1"/>
            </p:cNvSpPr>
            <p:nvPr/>
          </p:nvSpPr>
          <p:spPr bwMode="auto">
            <a:xfrm>
              <a:off x="2832" y="3024"/>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姓名</a:t>
              </a:r>
              <a:endParaRPr kumimoji="1" lang="zh-CN" altLang="en-US" sz="1600" u="none">
                <a:latin typeface="Times New Roman" panose="02020603050405020304" pitchFamily="18" charset="0"/>
              </a:endParaRPr>
            </a:p>
          </p:txBody>
        </p:sp>
        <p:sp>
          <p:nvSpPr>
            <p:cNvPr id="18" name="Oval 23"/>
            <p:cNvSpPr>
              <a:spLocks noChangeArrowheads="1"/>
            </p:cNvSpPr>
            <p:nvPr/>
          </p:nvSpPr>
          <p:spPr bwMode="auto">
            <a:xfrm>
              <a:off x="2832" y="3360"/>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专业</a:t>
              </a:r>
              <a:endParaRPr kumimoji="1" lang="zh-CN" altLang="en-US" sz="1600" u="none">
                <a:latin typeface="Times New Roman" panose="02020603050405020304" pitchFamily="18" charset="0"/>
              </a:endParaRPr>
            </a:p>
          </p:txBody>
        </p:sp>
        <p:sp>
          <p:nvSpPr>
            <p:cNvPr id="19" name="Oval 24"/>
            <p:cNvSpPr>
              <a:spLocks noChangeArrowheads="1"/>
            </p:cNvSpPr>
            <p:nvPr/>
          </p:nvSpPr>
          <p:spPr bwMode="auto">
            <a:xfrm>
              <a:off x="2784" y="3744"/>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班级</a:t>
              </a:r>
              <a:endParaRPr kumimoji="1" lang="zh-CN" altLang="en-US" sz="1600" u="none">
                <a:latin typeface="Times New Roman" panose="02020603050405020304" pitchFamily="18" charset="0"/>
              </a:endParaRPr>
            </a:p>
          </p:txBody>
        </p:sp>
        <p:sp>
          <p:nvSpPr>
            <p:cNvPr id="20" name="Line 25"/>
            <p:cNvSpPr>
              <a:spLocks noChangeShapeType="1"/>
            </p:cNvSpPr>
            <p:nvPr/>
          </p:nvSpPr>
          <p:spPr bwMode="auto">
            <a:xfrm flipH="1">
              <a:off x="2688" y="2880"/>
              <a:ext cx="96" cy="19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26"/>
            <p:cNvSpPr>
              <a:spLocks noChangeShapeType="1"/>
            </p:cNvSpPr>
            <p:nvPr/>
          </p:nvSpPr>
          <p:spPr bwMode="auto">
            <a:xfrm flipH="1">
              <a:off x="2736" y="3216"/>
              <a:ext cx="144"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7"/>
            <p:cNvSpPr>
              <a:spLocks noChangeShapeType="1"/>
            </p:cNvSpPr>
            <p:nvPr/>
          </p:nvSpPr>
          <p:spPr bwMode="auto">
            <a:xfrm flipH="1">
              <a:off x="2736" y="3456"/>
              <a:ext cx="96"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8"/>
            <p:cNvSpPr>
              <a:spLocks noChangeShapeType="1"/>
            </p:cNvSpPr>
            <p:nvPr/>
          </p:nvSpPr>
          <p:spPr bwMode="auto">
            <a:xfrm flipH="1" flipV="1">
              <a:off x="2736" y="3696"/>
              <a:ext cx="96" cy="9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Oval 29"/>
            <p:cNvSpPr>
              <a:spLocks noChangeArrowheads="1"/>
            </p:cNvSpPr>
            <p:nvPr/>
          </p:nvSpPr>
          <p:spPr bwMode="auto">
            <a:xfrm>
              <a:off x="480" y="3744"/>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职称</a:t>
              </a:r>
              <a:endParaRPr kumimoji="1" lang="zh-CN" altLang="en-US" sz="1600" u="none">
                <a:latin typeface="Times New Roman" panose="02020603050405020304" pitchFamily="18" charset="0"/>
              </a:endParaRPr>
            </a:p>
          </p:txBody>
        </p:sp>
        <p:sp>
          <p:nvSpPr>
            <p:cNvPr id="25" name="Oval 30"/>
            <p:cNvSpPr>
              <a:spLocks noChangeArrowheads="1"/>
            </p:cNvSpPr>
            <p:nvPr/>
          </p:nvSpPr>
          <p:spPr bwMode="auto">
            <a:xfrm>
              <a:off x="384" y="3408"/>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性别</a:t>
              </a:r>
              <a:endParaRPr kumimoji="1" lang="zh-CN" altLang="en-US" sz="1600" u="none">
                <a:latin typeface="Times New Roman" panose="02020603050405020304" pitchFamily="18" charset="0"/>
              </a:endParaRPr>
            </a:p>
          </p:txBody>
        </p:sp>
        <p:sp>
          <p:nvSpPr>
            <p:cNvPr id="26" name="Oval 31"/>
            <p:cNvSpPr>
              <a:spLocks noChangeArrowheads="1"/>
            </p:cNvSpPr>
            <p:nvPr/>
          </p:nvSpPr>
          <p:spPr bwMode="auto">
            <a:xfrm>
              <a:off x="384" y="3072"/>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姓名</a:t>
              </a:r>
              <a:endParaRPr kumimoji="1" lang="zh-CN" altLang="en-US" sz="1600" u="none">
                <a:latin typeface="Times New Roman" panose="02020603050405020304" pitchFamily="18" charset="0"/>
              </a:endParaRPr>
            </a:p>
          </p:txBody>
        </p:sp>
        <p:sp>
          <p:nvSpPr>
            <p:cNvPr id="27" name="Oval 32"/>
            <p:cNvSpPr>
              <a:spLocks noChangeArrowheads="1"/>
            </p:cNvSpPr>
            <p:nvPr/>
          </p:nvSpPr>
          <p:spPr bwMode="auto">
            <a:xfrm>
              <a:off x="576" y="2736"/>
              <a:ext cx="384" cy="24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职号</a:t>
              </a:r>
              <a:endParaRPr kumimoji="1" lang="zh-CN" altLang="en-US" sz="1600" u="none">
                <a:latin typeface="Times New Roman" panose="02020603050405020304" pitchFamily="18" charset="0"/>
              </a:endParaRPr>
            </a:p>
          </p:txBody>
        </p:sp>
        <p:sp>
          <p:nvSpPr>
            <p:cNvPr id="28" name="Line 33"/>
            <p:cNvSpPr>
              <a:spLocks noChangeShapeType="1"/>
            </p:cNvSpPr>
            <p:nvPr/>
          </p:nvSpPr>
          <p:spPr bwMode="auto">
            <a:xfrm>
              <a:off x="816" y="2976"/>
              <a:ext cx="96" cy="19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34"/>
            <p:cNvSpPr>
              <a:spLocks noChangeShapeType="1"/>
            </p:cNvSpPr>
            <p:nvPr/>
          </p:nvSpPr>
          <p:spPr bwMode="auto">
            <a:xfrm flipV="1">
              <a:off x="768" y="3168"/>
              <a:ext cx="144" cy="48"/>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35"/>
            <p:cNvSpPr>
              <a:spLocks noChangeShapeType="1"/>
            </p:cNvSpPr>
            <p:nvPr/>
          </p:nvSpPr>
          <p:spPr bwMode="auto">
            <a:xfrm flipV="1">
              <a:off x="768" y="3168"/>
              <a:ext cx="144" cy="33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36"/>
            <p:cNvSpPr>
              <a:spLocks noChangeShapeType="1"/>
            </p:cNvSpPr>
            <p:nvPr/>
          </p:nvSpPr>
          <p:spPr bwMode="auto">
            <a:xfrm flipV="1">
              <a:off x="768" y="3168"/>
              <a:ext cx="144" cy="576"/>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9" name="Oval 21"/>
          <p:cNvSpPr>
            <a:spLocks noChangeArrowheads="1"/>
          </p:cNvSpPr>
          <p:nvPr/>
        </p:nvSpPr>
        <p:spPr bwMode="auto">
          <a:xfrm>
            <a:off x="4198231" y="5665788"/>
            <a:ext cx="990600" cy="381000"/>
          </a:xfrm>
          <a:prstGeom prst="ellipse">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latin typeface="Times New Roman" panose="02020603050405020304" pitchFamily="18" charset="0"/>
              </a:rPr>
              <a:t>讲授时间</a:t>
            </a:r>
            <a:endParaRPr kumimoji="1" lang="zh-CN" altLang="en-US" sz="1600" u="none">
              <a:latin typeface="Times New Roman" panose="02020603050405020304" pitchFamily="18" charset="0"/>
            </a:endParaRPr>
          </a:p>
        </p:txBody>
      </p:sp>
      <p:sp>
        <p:nvSpPr>
          <p:cNvPr id="40" name="Line 25"/>
          <p:cNvSpPr>
            <a:spLocks noChangeShapeType="1"/>
          </p:cNvSpPr>
          <p:nvPr/>
        </p:nvSpPr>
        <p:spPr bwMode="auto">
          <a:xfrm>
            <a:off x="4668131" y="5380038"/>
            <a:ext cx="6350" cy="28575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Rectangle 3"/>
          <p:cNvSpPr txBox="1">
            <a:spLocks noChangeArrowheads="1"/>
          </p:cNvSpPr>
          <p:nvPr/>
        </p:nvSpPr>
        <p:spPr>
          <a:xfrm>
            <a:off x="510476" y="1849110"/>
            <a:ext cx="3402005" cy="1768695"/>
          </a:xfrm>
          <a:prstGeom prst="rect">
            <a:avLst/>
          </a:prstGeom>
        </p:spPr>
        <p:txBody>
          <a:bodyPr vert="horz" lIns="91440" tIns="45720" rIns="91440" bIns="45720" rtlCol="0">
            <a:no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90000"/>
              </a:lnSpc>
            </a:pPr>
            <a:r>
              <a:rPr lang="en-US" altLang="zh-CN" sz="2200" dirty="0"/>
              <a:t>ER</a:t>
            </a:r>
            <a:r>
              <a:rPr lang="zh-CN" altLang="en-US" sz="2200" dirty="0"/>
              <a:t>模型的基本元素</a:t>
            </a:r>
            <a:endParaRPr lang="zh-CN" altLang="en-US" sz="2200" dirty="0"/>
          </a:p>
          <a:p>
            <a:pPr lvl="2">
              <a:lnSpc>
                <a:spcPct val="90000"/>
              </a:lnSpc>
            </a:pPr>
            <a:r>
              <a:rPr lang="zh-CN" altLang="en-US" sz="2200" dirty="0"/>
              <a:t>实体</a:t>
            </a:r>
            <a:endParaRPr lang="zh-CN" altLang="en-US" sz="2200" dirty="0"/>
          </a:p>
          <a:p>
            <a:pPr lvl="2">
              <a:lnSpc>
                <a:spcPct val="90000"/>
              </a:lnSpc>
            </a:pPr>
            <a:r>
              <a:rPr lang="zh-CN" altLang="en-US" sz="2200" dirty="0"/>
              <a:t>联系</a:t>
            </a:r>
            <a:endParaRPr lang="zh-CN" altLang="en-US" sz="2200" dirty="0"/>
          </a:p>
          <a:p>
            <a:pPr lvl="2">
              <a:lnSpc>
                <a:spcPct val="90000"/>
              </a:lnSpc>
            </a:pPr>
            <a:r>
              <a:rPr lang="zh-CN" altLang="en-US" sz="2200" dirty="0"/>
              <a:t>属性</a:t>
            </a:r>
            <a:endParaRPr lang="zh-CN" altLang="en-US" sz="2200" dirty="0"/>
          </a:p>
          <a:p>
            <a:pPr lvl="1">
              <a:lnSpc>
                <a:spcPct val="90000"/>
              </a:lnSpc>
            </a:pPr>
            <a:r>
              <a:rPr lang="zh-CN" altLang="en-US" sz="2200" dirty="0"/>
              <a:t>例子</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对</a:t>
            </a:r>
            <a:r>
              <a:rPr lang="en-US" altLang="zh-CN" dirty="0"/>
              <a:t>ER</a:t>
            </a:r>
            <a:r>
              <a:rPr lang="zh-CN" altLang="en-US" dirty="0"/>
              <a:t>模型的理解</a:t>
            </a:r>
            <a:endParaRPr lang="en-US" altLang="zh-CN" dirty="0"/>
          </a:p>
          <a:p>
            <a:pPr lvl="1"/>
            <a:r>
              <a:rPr lang="en-US" altLang="zh-CN" dirty="0"/>
              <a:t>ER</a:t>
            </a:r>
            <a:r>
              <a:rPr lang="zh-CN" altLang="en-US" dirty="0"/>
              <a:t>模型是人们认识客观世界的一种方法和工具</a:t>
            </a:r>
            <a:endParaRPr lang="zh-CN" altLang="en-US" dirty="0"/>
          </a:p>
          <a:p>
            <a:pPr lvl="1"/>
            <a:r>
              <a:rPr lang="en-US" altLang="zh-CN" dirty="0"/>
              <a:t>ER</a:t>
            </a:r>
            <a:r>
              <a:rPr lang="zh-CN" altLang="en-US" dirty="0"/>
              <a:t>模型具有</a:t>
            </a:r>
            <a:r>
              <a:rPr lang="zh-CN" altLang="en-US" u="sng" dirty="0"/>
              <a:t>客观性</a:t>
            </a:r>
            <a:r>
              <a:rPr lang="zh-CN" altLang="en-US" dirty="0"/>
              <a:t>和</a:t>
            </a:r>
            <a:r>
              <a:rPr lang="zh-CN" altLang="en-US" u="sng" dirty="0"/>
              <a:t>主观性</a:t>
            </a:r>
            <a:r>
              <a:rPr lang="zh-CN" altLang="en-US" dirty="0"/>
              <a:t>两重含义</a:t>
            </a:r>
            <a:endParaRPr lang="zh-CN" altLang="en-US" dirty="0"/>
          </a:p>
          <a:p>
            <a:pPr lvl="2"/>
            <a:r>
              <a:rPr lang="en-US" altLang="zh-CN" sz="2200" dirty="0"/>
              <a:t>ER</a:t>
            </a:r>
            <a:r>
              <a:rPr lang="zh-CN" altLang="en-US" sz="2200" dirty="0"/>
              <a:t>模型是在客观事物或系统的基础上形成的，在某种程度上反映了客观现实，因此具有客观性</a:t>
            </a:r>
            <a:endParaRPr lang="zh-CN" altLang="en-US" sz="2200" dirty="0"/>
          </a:p>
          <a:p>
            <a:pPr lvl="2"/>
            <a:r>
              <a:rPr lang="en-US" altLang="zh-CN" sz="2200" dirty="0"/>
              <a:t>ER</a:t>
            </a:r>
            <a:r>
              <a:rPr lang="zh-CN" altLang="en-US" sz="2200" dirty="0"/>
              <a:t>模型又往往反映事物的某一方面，至于选取哪个方面或哪些属性，如何表达则决定于观察者本身的目的与状态，因此也具有主观性</a:t>
            </a:r>
            <a:endParaRPr lang="zh-CN" altLang="en-US" sz="2200"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对</a:t>
            </a:r>
            <a:r>
              <a:rPr lang="en-US" altLang="zh-CN" dirty="0"/>
              <a:t>ER</a:t>
            </a:r>
            <a:r>
              <a:rPr lang="zh-CN" altLang="en-US" dirty="0"/>
              <a:t>模型的理解</a:t>
            </a:r>
            <a:endParaRPr lang="en-US" altLang="zh-CN" dirty="0"/>
          </a:p>
          <a:p>
            <a:pPr lvl="1"/>
            <a:r>
              <a:rPr lang="zh-CN" altLang="en-US" dirty="0"/>
              <a:t>基于</a:t>
            </a:r>
            <a:r>
              <a:rPr lang="en-US" altLang="zh-CN" dirty="0"/>
              <a:t>ER</a:t>
            </a:r>
            <a:r>
              <a:rPr lang="zh-CN" altLang="en-US" dirty="0"/>
              <a:t>模型的设计过程，基本上是两大步：</a:t>
            </a:r>
            <a:endParaRPr lang="zh-CN" altLang="en-US" dirty="0"/>
          </a:p>
          <a:p>
            <a:pPr lvl="2"/>
            <a:r>
              <a:rPr lang="zh-CN" altLang="en-US" sz="2200" dirty="0"/>
              <a:t>设计实体类型（此时不要涉及到“联系”）</a:t>
            </a:r>
            <a:endParaRPr lang="zh-CN" altLang="en-US" sz="2200" dirty="0"/>
          </a:p>
          <a:p>
            <a:pPr lvl="2"/>
            <a:r>
              <a:rPr lang="zh-CN" altLang="en-US" sz="2200" dirty="0"/>
              <a:t>设计联系类型（此时考虑实体间的联系）</a:t>
            </a:r>
            <a:endParaRPr lang="zh-CN" altLang="en-US" sz="2200" dirty="0"/>
          </a:p>
          <a:p>
            <a:pPr lvl="1"/>
            <a:r>
              <a:rPr lang="zh-CN" altLang="en-US" dirty="0"/>
              <a:t>有时“实体”与“联系”两者之间的界线是模糊的</a:t>
            </a:r>
            <a:r>
              <a:rPr lang="en-US" altLang="zh-CN" dirty="0"/>
              <a:t>,</a:t>
            </a:r>
            <a:r>
              <a:rPr lang="zh-CN" altLang="en-US" dirty="0"/>
              <a:t>数据库设计者的任务就是要把现实世界中的数据以及数据间的联系抽象出来，用“实体”与“联系”来表示</a:t>
            </a:r>
            <a:endParaRPr lang="zh-CN" altLang="en-US" dirty="0"/>
          </a:p>
          <a:p>
            <a:pPr lvl="1"/>
            <a:r>
              <a:rPr lang="zh-CN" altLang="en-US" dirty="0"/>
              <a:t>另外，</a:t>
            </a:r>
            <a:r>
              <a:rPr lang="en-US" altLang="zh-CN" dirty="0"/>
              <a:t>ER</a:t>
            </a:r>
            <a:r>
              <a:rPr lang="zh-CN" altLang="en-US" dirty="0"/>
              <a:t>模型应该充分反映用户需求，</a:t>
            </a:r>
            <a:r>
              <a:rPr lang="en-US" altLang="zh-CN" dirty="0"/>
              <a:t>ER</a:t>
            </a:r>
            <a:r>
              <a:rPr lang="zh-CN" altLang="en-US" dirty="0"/>
              <a:t>模型要得到用户的认可才能确定下来</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4"/>
          <p:cNvGrpSpPr/>
          <p:nvPr/>
        </p:nvGrpSpPr>
        <p:grpSpPr bwMode="auto">
          <a:xfrm>
            <a:off x="8155751" y="1547445"/>
            <a:ext cx="3711575" cy="1993900"/>
            <a:chOff x="3795" y="5652"/>
            <a:chExt cx="6300" cy="3432"/>
          </a:xfrm>
        </p:grpSpPr>
        <p:grpSp>
          <p:nvGrpSpPr>
            <p:cNvPr id="7" name="Group 5"/>
            <p:cNvGrpSpPr/>
            <p:nvPr/>
          </p:nvGrpSpPr>
          <p:grpSpPr bwMode="auto">
            <a:xfrm>
              <a:off x="3795" y="5652"/>
              <a:ext cx="6300" cy="3432"/>
              <a:chOff x="3795" y="5652"/>
              <a:chExt cx="6300" cy="3432"/>
            </a:xfrm>
          </p:grpSpPr>
          <p:sp>
            <p:nvSpPr>
              <p:cNvPr id="12" name="Rectangle 6"/>
              <p:cNvSpPr>
                <a:spLocks noChangeArrowheads="1"/>
              </p:cNvSpPr>
              <p:nvPr/>
            </p:nvSpPr>
            <p:spPr bwMode="auto">
              <a:xfrm>
                <a:off x="5040" y="8616"/>
                <a:ext cx="304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rPr>
                  <a:t>图</a:t>
                </a:r>
                <a:r>
                  <a:rPr lang="en-US" altLang="zh-CN" sz="1000" u="none">
                    <a:solidFill>
                      <a:srgbClr val="000000"/>
                    </a:solidFill>
                  </a:rPr>
                  <a:t>7.4 </a:t>
                </a:r>
                <a:r>
                  <a:rPr lang="zh-CN" altLang="en-US" sz="1000" u="none">
                    <a:solidFill>
                      <a:srgbClr val="000000"/>
                    </a:solidFill>
                  </a:rPr>
                  <a:t>地址属性的层次结构</a:t>
                </a:r>
                <a:endParaRPr lang="zh-CN" altLang="en-US" sz="1000" u="none">
                  <a:solidFill>
                    <a:srgbClr val="000000"/>
                  </a:solidFill>
                </a:endParaRPr>
              </a:p>
            </p:txBody>
          </p:sp>
          <p:grpSp>
            <p:nvGrpSpPr>
              <p:cNvPr id="13" name="Group 7"/>
              <p:cNvGrpSpPr/>
              <p:nvPr/>
            </p:nvGrpSpPr>
            <p:grpSpPr bwMode="auto">
              <a:xfrm>
                <a:off x="3795" y="5652"/>
                <a:ext cx="6300" cy="2496"/>
                <a:chOff x="3795" y="5652"/>
                <a:chExt cx="6300" cy="2496"/>
              </a:xfrm>
            </p:grpSpPr>
            <p:grpSp>
              <p:nvGrpSpPr>
                <p:cNvPr id="14" name="Group 8"/>
                <p:cNvGrpSpPr/>
                <p:nvPr/>
              </p:nvGrpSpPr>
              <p:grpSpPr bwMode="auto">
                <a:xfrm>
                  <a:off x="3795" y="5652"/>
                  <a:ext cx="6300" cy="2496"/>
                  <a:chOff x="3795" y="5652"/>
                  <a:chExt cx="6300" cy="2496"/>
                </a:xfrm>
              </p:grpSpPr>
              <p:sp>
                <p:nvSpPr>
                  <p:cNvPr id="17" name="Oval 9"/>
                  <p:cNvSpPr>
                    <a:spLocks noChangeArrowheads="1"/>
                  </p:cNvSpPr>
                  <p:nvPr/>
                </p:nvSpPr>
                <p:spPr bwMode="auto">
                  <a:xfrm>
                    <a:off x="3795" y="6588"/>
                    <a:ext cx="136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邮政编码</a:t>
                    </a:r>
                    <a:endParaRPr lang="zh-CN" altLang="en-US" sz="1000" u="none">
                      <a:solidFill>
                        <a:srgbClr val="000000"/>
                      </a:solidFill>
                      <a:latin typeface="Times New Roman" panose="02020603050405020304" pitchFamily="18" charset="0"/>
                    </a:endParaRPr>
                  </a:p>
                </p:txBody>
              </p:sp>
              <p:sp>
                <p:nvSpPr>
                  <p:cNvPr id="18" name="Oval 10"/>
                  <p:cNvSpPr>
                    <a:spLocks noChangeArrowheads="1"/>
                  </p:cNvSpPr>
                  <p:nvPr/>
                </p:nvSpPr>
                <p:spPr bwMode="auto">
                  <a:xfrm>
                    <a:off x="4950" y="6120"/>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省（市）名</a:t>
                    </a:r>
                    <a:endParaRPr lang="zh-CN" altLang="en-US" sz="1000" u="none">
                      <a:solidFill>
                        <a:srgbClr val="000000"/>
                      </a:solidFill>
                      <a:latin typeface="Times New Roman" panose="02020603050405020304" pitchFamily="18" charset="0"/>
                    </a:endParaRPr>
                  </a:p>
                </p:txBody>
              </p:sp>
              <p:sp>
                <p:nvSpPr>
                  <p:cNvPr id="19" name="Oval 11"/>
                  <p:cNvSpPr>
                    <a:spLocks noChangeArrowheads="1"/>
                  </p:cNvSpPr>
                  <p:nvPr/>
                </p:nvSpPr>
                <p:spPr bwMode="auto">
                  <a:xfrm>
                    <a:off x="5685" y="7680"/>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地 址</a:t>
                    </a:r>
                    <a:endParaRPr lang="zh-CN" altLang="en-US" sz="1000" u="none">
                      <a:solidFill>
                        <a:srgbClr val="000000"/>
                      </a:solidFill>
                      <a:latin typeface="Times New Roman" panose="02020603050405020304" pitchFamily="18" charset="0"/>
                    </a:endParaRPr>
                  </a:p>
                </p:txBody>
              </p:sp>
              <p:grpSp>
                <p:nvGrpSpPr>
                  <p:cNvPr id="20" name="Group 12"/>
                  <p:cNvGrpSpPr/>
                  <p:nvPr/>
                </p:nvGrpSpPr>
                <p:grpSpPr bwMode="auto">
                  <a:xfrm>
                    <a:off x="6420" y="5652"/>
                    <a:ext cx="3675" cy="1404"/>
                    <a:chOff x="5462" y="2220"/>
                    <a:chExt cx="3675" cy="1404"/>
                  </a:xfrm>
                </p:grpSpPr>
                <p:sp>
                  <p:nvSpPr>
                    <p:cNvPr id="21" name="Oval 13"/>
                    <p:cNvSpPr>
                      <a:spLocks noChangeArrowheads="1"/>
                    </p:cNvSpPr>
                    <p:nvPr/>
                  </p:nvSpPr>
                  <p:spPr bwMode="auto">
                    <a:xfrm>
                      <a:off x="5462" y="2844"/>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区 名</a:t>
                      </a:r>
                      <a:endParaRPr lang="zh-CN" altLang="en-US" sz="1000" u="none">
                        <a:solidFill>
                          <a:srgbClr val="000000"/>
                        </a:solidFill>
                        <a:latin typeface="Times New Roman" panose="02020603050405020304" pitchFamily="18" charset="0"/>
                      </a:endParaRPr>
                    </a:p>
                  </p:txBody>
                </p:sp>
                <p:sp>
                  <p:nvSpPr>
                    <p:cNvPr id="22" name="Oval 14"/>
                    <p:cNvSpPr>
                      <a:spLocks noChangeArrowheads="1"/>
                    </p:cNvSpPr>
                    <p:nvPr/>
                  </p:nvSpPr>
                  <p:spPr bwMode="auto">
                    <a:xfrm>
                      <a:off x="6722" y="3156"/>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街 道</a:t>
                      </a:r>
                      <a:endParaRPr lang="zh-CN" altLang="en-US" sz="1000" u="none">
                        <a:solidFill>
                          <a:srgbClr val="000000"/>
                        </a:solidFill>
                        <a:latin typeface="Times New Roman" panose="02020603050405020304" pitchFamily="18" charset="0"/>
                      </a:endParaRPr>
                    </a:p>
                  </p:txBody>
                </p:sp>
                <p:sp>
                  <p:nvSpPr>
                    <p:cNvPr id="23" name="Oval 15"/>
                    <p:cNvSpPr>
                      <a:spLocks noChangeArrowheads="1"/>
                    </p:cNvSpPr>
                    <p:nvPr/>
                  </p:nvSpPr>
                  <p:spPr bwMode="auto">
                    <a:xfrm>
                      <a:off x="6092" y="2220"/>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家庭地址</a:t>
                      </a:r>
                      <a:endParaRPr lang="zh-CN" altLang="en-US" sz="1000" u="none">
                        <a:solidFill>
                          <a:srgbClr val="000000"/>
                        </a:solidFill>
                        <a:latin typeface="Times New Roman" panose="02020603050405020304" pitchFamily="18" charset="0"/>
                      </a:endParaRPr>
                    </a:p>
                  </p:txBody>
                </p:sp>
                <p:sp>
                  <p:nvSpPr>
                    <p:cNvPr id="24" name="Oval 16"/>
                    <p:cNvSpPr>
                      <a:spLocks noChangeArrowheads="1"/>
                    </p:cNvSpPr>
                    <p:nvPr/>
                  </p:nvSpPr>
                  <p:spPr bwMode="auto">
                    <a:xfrm>
                      <a:off x="7667" y="2220"/>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门牌号码</a:t>
                      </a:r>
                      <a:endParaRPr lang="zh-CN" altLang="en-US" sz="1000" u="none">
                        <a:solidFill>
                          <a:srgbClr val="000000"/>
                        </a:solidFill>
                        <a:latin typeface="Times New Roman" panose="02020603050405020304" pitchFamily="18" charset="0"/>
                      </a:endParaRPr>
                    </a:p>
                  </p:txBody>
                </p:sp>
              </p:grpSp>
            </p:grpSp>
            <p:sp>
              <p:nvSpPr>
                <p:cNvPr id="15" name="Line 17"/>
                <p:cNvSpPr>
                  <a:spLocks noChangeShapeType="1"/>
                </p:cNvSpPr>
                <p:nvPr/>
              </p:nvSpPr>
              <p:spPr bwMode="auto">
                <a:xfrm>
                  <a:off x="7890" y="6120"/>
                  <a:ext cx="21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p>
                  <a:endParaRPr lang="zh-CN" altLang="en-US"/>
                </a:p>
              </p:txBody>
            </p:sp>
            <p:sp>
              <p:nvSpPr>
                <p:cNvPr id="16" name="Line 18"/>
                <p:cNvSpPr>
                  <a:spLocks noChangeShapeType="1"/>
                </p:cNvSpPr>
                <p:nvPr/>
              </p:nvSpPr>
              <p:spPr bwMode="auto">
                <a:xfrm flipH="1">
                  <a:off x="8625" y="6120"/>
                  <a:ext cx="525"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10800"/>
                <a:lstStyle/>
                <a:p>
                  <a:endParaRPr lang="zh-CN" altLang="en-US"/>
                </a:p>
              </p:txBody>
            </p:sp>
          </p:grpSp>
        </p:grpSp>
        <p:sp>
          <p:nvSpPr>
            <p:cNvPr id="8" name="Line 19"/>
            <p:cNvSpPr>
              <a:spLocks noChangeShapeType="1"/>
            </p:cNvSpPr>
            <p:nvPr/>
          </p:nvSpPr>
          <p:spPr bwMode="auto">
            <a:xfrm>
              <a:off x="4500" y="7056"/>
              <a:ext cx="126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10800"/>
            <a:lstStyle/>
            <a:p>
              <a:endParaRPr lang="zh-CN" altLang="en-US"/>
            </a:p>
          </p:txBody>
        </p:sp>
        <p:sp>
          <p:nvSpPr>
            <p:cNvPr id="9" name="Line 20"/>
            <p:cNvSpPr>
              <a:spLocks noChangeShapeType="1"/>
            </p:cNvSpPr>
            <p:nvPr/>
          </p:nvSpPr>
          <p:spPr bwMode="auto">
            <a:xfrm>
              <a:off x="5895" y="6588"/>
              <a:ext cx="315"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10800"/>
            <a:lstStyle/>
            <a:p>
              <a:endParaRPr lang="zh-CN" altLang="en-US"/>
            </a:p>
          </p:txBody>
        </p:sp>
        <p:sp>
          <p:nvSpPr>
            <p:cNvPr id="10" name="Line 21"/>
            <p:cNvSpPr>
              <a:spLocks noChangeShapeType="1"/>
            </p:cNvSpPr>
            <p:nvPr/>
          </p:nvSpPr>
          <p:spPr bwMode="auto">
            <a:xfrm flipH="1">
              <a:off x="6525" y="6744"/>
              <a:ext cx="525" cy="93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10800"/>
            <a:lstStyle/>
            <a:p>
              <a:endParaRPr lang="zh-CN" altLang="en-US"/>
            </a:p>
          </p:txBody>
        </p:sp>
        <p:sp>
          <p:nvSpPr>
            <p:cNvPr id="11" name="Line 22"/>
            <p:cNvSpPr>
              <a:spLocks noChangeShapeType="1"/>
            </p:cNvSpPr>
            <p:nvPr/>
          </p:nvSpPr>
          <p:spPr bwMode="auto">
            <a:xfrm flipH="1">
              <a:off x="7050" y="7056"/>
              <a:ext cx="945"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10800"/>
            <a:lstStyle/>
            <a:p>
              <a:endParaRPr lang="zh-CN" altLang="en-US"/>
            </a:p>
          </p:txBody>
        </p:sp>
      </p:grpSp>
      <p:grpSp>
        <p:nvGrpSpPr>
          <p:cNvPr id="25" name="Group 23"/>
          <p:cNvGrpSpPr/>
          <p:nvPr/>
        </p:nvGrpSpPr>
        <p:grpSpPr bwMode="auto">
          <a:xfrm>
            <a:off x="4345751" y="4062045"/>
            <a:ext cx="4400550" cy="2278063"/>
            <a:chOff x="3270" y="11553"/>
            <a:chExt cx="6930" cy="3586"/>
          </a:xfrm>
        </p:grpSpPr>
        <p:sp>
          <p:nvSpPr>
            <p:cNvPr id="26" name="Text Box 24"/>
            <p:cNvSpPr txBox="1">
              <a:spLocks noChangeArrowheads="1"/>
            </p:cNvSpPr>
            <p:nvPr/>
          </p:nvSpPr>
          <p:spPr bwMode="auto">
            <a:xfrm>
              <a:off x="4845" y="14515"/>
              <a:ext cx="3456" cy="62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lnSpc>
                  <a:spcPct val="176000"/>
                </a:lnSpc>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图</a:t>
              </a:r>
              <a:r>
                <a:rPr lang="en-US" altLang="zh-CN" sz="1600" u="none" dirty="0">
                  <a:solidFill>
                    <a:srgbClr val="000000"/>
                  </a:solidFill>
                  <a:latin typeface="微软雅黑" panose="020B0503020204020204" pitchFamily="34" charset="-122"/>
                  <a:ea typeface="微软雅黑" panose="020B0503020204020204" pitchFamily="34" charset="-122"/>
                </a:rPr>
                <a:t>7.5 </a:t>
              </a:r>
              <a:r>
                <a:rPr lang="zh-CN" altLang="en-US" sz="1600" u="none" dirty="0">
                  <a:solidFill>
                    <a:srgbClr val="000000"/>
                  </a:solidFill>
                  <a:latin typeface="微软雅黑" panose="020B0503020204020204" pitchFamily="34" charset="-122"/>
                  <a:ea typeface="微软雅黑" panose="020B0503020204020204" pitchFamily="34" charset="-122"/>
                </a:rPr>
                <a:t>多值属性的表示</a:t>
              </a:r>
              <a:endParaRPr lang="zh-CN" altLang="en-US" sz="1600" u="none" dirty="0">
                <a:solidFill>
                  <a:srgbClr val="000000"/>
                </a:solidFill>
                <a:latin typeface="微软雅黑" panose="020B0503020204020204" pitchFamily="34" charset="-122"/>
                <a:ea typeface="微软雅黑" panose="020B0503020204020204" pitchFamily="34" charset="-122"/>
              </a:endParaRPr>
            </a:p>
            <a:p>
              <a:pPr algn="just">
                <a:spcBef>
                  <a:spcPct val="0"/>
                </a:spcBef>
                <a:buFontTx/>
                <a:buNone/>
              </a:pPr>
              <a:endParaRPr lang="zh-CN" altLang="en-US" sz="1000" u="none" dirty="0">
                <a:solidFill>
                  <a:srgbClr val="000000"/>
                </a:solidFill>
                <a:latin typeface="Times New Roman" panose="02020603050405020304" pitchFamily="18" charset="0"/>
              </a:endParaRPr>
            </a:p>
          </p:txBody>
        </p:sp>
        <p:grpSp>
          <p:nvGrpSpPr>
            <p:cNvPr id="27" name="Group 25"/>
            <p:cNvGrpSpPr/>
            <p:nvPr/>
          </p:nvGrpSpPr>
          <p:grpSpPr bwMode="auto">
            <a:xfrm>
              <a:off x="3270" y="11553"/>
              <a:ext cx="6930" cy="2808"/>
              <a:chOff x="3270" y="11553"/>
              <a:chExt cx="6930" cy="2808"/>
            </a:xfrm>
          </p:grpSpPr>
          <p:sp>
            <p:nvSpPr>
              <p:cNvPr id="34" name="Oval 26"/>
              <p:cNvSpPr>
                <a:spLocks noChangeArrowheads="1"/>
              </p:cNvSpPr>
              <p:nvPr/>
            </p:nvSpPr>
            <p:spPr bwMode="auto">
              <a:xfrm>
                <a:off x="3270" y="12489"/>
                <a:ext cx="157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零件编码</a:t>
                </a:r>
                <a:endParaRPr lang="zh-CN" altLang="en-US" sz="1000">
                  <a:solidFill>
                    <a:srgbClr val="000000"/>
                  </a:solidFill>
                  <a:latin typeface="Times New Roman" panose="02020603050405020304" pitchFamily="18" charset="0"/>
                </a:endParaRPr>
              </a:p>
            </p:txBody>
          </p:sp>
          <p:sp>
            <p:nvSpPr>
              <p:cNvPr id="35" name="Text Box 27"/>
              <p:cNvSpPr txBox="1">
                <a:spLocks noChangeArrowheads="1"/>
              </p:cNvSpPr>
              <p:nvPr/>
            </p:nvSpPr>
            <p:spPr bwMode="auto">
              <a:xfrm>
                <a:off x="6000" y="13893"/>
                <a:ext cx="1365"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 件</a:t>
                </a:r>
                <a:endParaRPr lang="zh-CN" altLang="en-US" sz="1000" u="none">
                  <a:solidFill>
                    <a:srgbClr val="000000"/>
                  </a:solidFill>
                  <a:latin typeface="Times New Roman" panose="02020603050405020304" pitchFamily="18" charset="0"/>
                </a:endParaRPr>
              </a:p>
            </p:txBody>
          </p:sp>
          <p:sp>
            <p:nvSpPr>
              <p:cNvPr id="36" name="Oval 28"/>
              <p:cNvSpPr>
                <a:spLocks noChangeArrowheads="1"/>
              </p:cNvSpPr>
              <p:nvPr/>
            </p:nvSpPr>
            <p:spPr bwMode="auto">
              <a:xfrm>
                <a:off x="4140" y="11991"/>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零件名</a:t>
                </a:r>
                <a:endParaRPr lang="zh-CN" altLang="en-US" sz="1000" u="none">
                  <a:solidFill>
                    <a:srgbClr val="000000"/>
                  </a:solidFill>
                  <a:latin typeface="Times New Roman" panose="02020603050405020304" pitchFamily="18" charset="0"/>
                </a:endParaRPr>
              </a:p>
            </p:txBody>
          </p:sp>
          <p:sp>
            <p:nvSpPr>
              <p:cNvPr id="37" name="Oval 29"/>
              <p:cNvSpPr>
                <a:spLocks noChangeArrowheads="1"/>
              </p:cNvSpPr>
              <p:nvPr/>
            </p:nvSpPr>
            <p:spPr bwMode="auto">
              <a:xfrm>
                <a:off x="5295" y="11679"/>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供应商</a:t>
                </a:r>
                <a:endParaRPr lang="zh-CN" altLang="en-US" sz="1000" u="none">
                  <a:solidFill>
                    <a:srgbClr val="000000"/>
                  </a:solidFill>
                  <a:latin typeface="Times New Roman" panose="02020603050405020304" pitchFamily="18" charset="0"/>
                </a:endParaRPr>
              </a:p>
              <a:p>
                <a:pPr algn="just">
                  <a:spcBef>
                    <a:spcPct val="0"/>
                  </a:spcBef>
                  <a:buFontTx/>
                  <a:buNone/>
                </a:pPr>
                <a:endParaRPr lang="zh-CN" altLang="en-US" sz="1000" u="none">
                  <a:solidFill>
                    <a:srgbClr val="000000"/>
                  </a:solidFill>
                  <a:latin typeface="Times New Roman" panose="02020603050405020304" pitchFamily="18" charset="0"/>
                </a:endParaRPr>
              </a:p>
            </p:txBody>
          </p:sp>
          <p:sp>
            <p:nvSpPr>
              <p:cNvPr id="38" name="Oval 30"/>
              <p:cNvSpPr>
                <a:spLocks noChangeArrowheads="1"/>
              </p:cNvSpPr>
              <p:nvPr/>
            </p:nvSpPr>
            <p:spPr bwMode="auto">
              <a:xfrm>
                <a:off x="6630" y="11553"/>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规格</a:t>
                </a:r>
                <a:endParaRPr lang="zh-CN" altLang="en-US" sz="1000" u="none">
                  <a:solidFill>
                    <a:srgbClr val="000000"/>
                  </a:solidFill>
                  <a:latin typeface="Times New Roman" panose="02020603050405020304" pitchFamily="18" charset="0"/>
                </a:endParaRPr>
              </a:p>
            </p:txBody>
          </p:sp>
          <p:sp>
            <p:nvSpPr>
              <p:cNvPr id="39" name="Oval 31"/>
              <p:cNvSpPr>
                <a:spLocks noChangeArrowheads="1"/>
              </p:cNvSpPr>
              <p:nvPr/>
            </p:nvSpPr>
            <p:spPr bwMode="auto">
              <a:xfrm>
                <a:off x="7785" y="11865"/>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进货价格</a:t>
                </a:r>
                <a:endParaRPr lang="zh-CN" altLang="en-US" sz="1000" u="none">
                  <a:solidFill>
                    <a:srgbClr val="000000"/>
                  </a:solidFill>
                  <a:latin typeface="Times New Roman" panose="02020603050405020304" pitchFamily="18" charset="0"/>
                </a:endParaRPr>
              </a:p>
            </p:txBody>
          </p:sp>
          <p:sp>
            <p:nvSpPr>
              <p:cNvPr id="40" name="Oval 32"/>
              <p:cNvSpPr>
                <a:spLocks noChangeArrowheads="1"/>
              </p:cNvSpPr>
              <p:nvPr/>
            </p:nvSpPr>
            <p:spPr bwMode="auto">
              <a:xfrm>
                <a:off x="8730" y="12333"/>
                <a:ext cx="1470" cy="468"/>
              </a:xfrm>
              <a:prstGeom prst="ellipse">
                <a:avLst/>
              </a:prstGeom>
              <a:solidFill>
                <a:srgbClr val="FFFFFF"/>
              </a:solidFill>
              <a:ln w="38100" cmpd="dbl">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销售价格</a:t>
                </a:r>
                <a:endParaRPr lang="zh-CN" altLang="en-US" sz="1000" u="none">
                  <a:solidFill>
                    <a:srgbClr val="000000"/>
                  </a:solidFill>
                  <a:latin typeface="Times New Roman" panose="02020603050405020304" pitchFamily="18" charset="0"/>
                </a:endParaRPr>
              </a:p>
            </p:txBody>
          </p:sp>
        </p:grpSp>
        <p:sp>
          <p:nvSpPr>
            <p:cNvPr id="28" name="Freeform 33"/>
            <p:cNvSpPr/>
            <p:nvPr/>
          </p:nvSpPr>
          <p:spPr bwMode="auto">
            <a:xfrm>
              <a:off x="5055" y="12432"/>
              <a:ext cx="1065" cy="1458"/>
            </a:xfrm>
            <a:custGeom>
              <a:avLst/>
              <a:gdLst>
                <a:gd name="T0" fmla="*/ 0 w 1065"/>
                <a:gd name="T1" fmla="*/ 0 h 1458"/>
                <a:gd name="T2" fmla="*/ 1065 w 1065"/>
                <a:gd name="T3" fmla="*/ 1458 h 1458"/>
                <a:gd name="T4" fmla="*/ 0 60000 65536"/>
                <a:gd name="T5" fmla="*/ 0 60000 65536"/>
              </a:gdLst>
              <a:ahLst/>
              <a:cxnLst>
                <a:cxn ang="T4">
                  <a:pos x="T0" y="T1"/>
                </a:cxn>
                <a:cxn ang="T5">
                  <a:pos x="T2" y="T3"/>
                </a:cxn>
              </a:cxnLst>
              <a:rect l="0" t="0" r="r" b="b"/>
              <a:pathLst>
                <a:path w="1065" h="1458">
                  <a:moveTo>
                    <a:pt x="0" y="0"/>
                  </a:moveTo>
                  <a:lnTo>
                    <a:pt x="1065" y="1458"/>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Line 34"/>
            <p:cNvSpPr>
              <a:spLocks noChangeShapeType="1"/>
            </p:cNvSpPr>
            <p:nvPr/>
          </p:nvSpPr>
          <p:spPr bwMode="auto">
            <a:xfrm>
              <a:off x="4530" y="12900"/>
              <a:ext cx="147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 name="Freeform 35"/>
            <p:cNvSpPr/>
            <p:nvPr/>
          </p:nvSpPr>
          <p:spPr bwMode="auto">
            <a:xfrm>
              <a:off x="6765" y="12048"/>
              <a:ext cx="390" cy="1827"/>
            </a:xfrm>
            <a:custGeom>
              <a:avLst/>
              <a:gdLst>
                <a:gd name="T0" fmla="*/ 390 w 390"/>
                <a:gd name="T1" fmla="*/ 0 h 1827"/>
                <a:gd name="T2" fmla="*/ 0 w 390"/>
                <a:gd name="T3" fmla="*/ 1827 h 1827"/>
                <a:gd name="T4" fmla="*/ 0 60000 65536"/>
                <a:gd name="T5" fmla="*/ 0 60000 65536"/>
              </a:gdLst>
              <a:ahLst/>
              <a:cxnLst>
                <a:cxn ang="T4">
                  <a:pos x="T0" y="T1"/>
                </a:cxn>
                <a:cxn ang="T5">
                  <a:pos x="T2" y="T3"/>
                </a:cxn>
              </a:cxnLst>
              <a:rect l="0" t="0" r="r" b="b"/>
              <a:pathLst>
                <a:path w="390" h="1827">
                  <a:moveTo>
                    <a:pt x="390" y="0"/>
                  </a:moveTo>
                  <a:lnTo>
                    <a:pt x="0" y="1827"/>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Freeform 36"/>
            <p:cNvSpPr/>
            <p:nvPr/>
          </p:nvSpPr>
          <p:spPr bwMode="auto">
            <a:xfrm>
              <a:off x="7050" y="12300"/>
              <a:ext cx="1050" cy="1605"/>
            </a:xfrm>
            <a:custGeom>
              <a:avLst/>
              <a:gdLst>
                <a:gd name="T0" fmla="*/ 1050 w 1050"/>
                <a:gd name="T1" fmla="*/ 0 h 1605"/>
                <a:gd name="T2" fmla="*/ 0 w 1050"/>
                <a:gd name="T3" fmla="*/ 1605 h 1605"/>
                <a:gd name="T4" fmla="*/ 0 60000 65536"/>
                <a:gd name="T5" fmla="*/ 0 60000 65536"/>
              </a:gdLst>
              <a:ahLst/>
              <a:cxnLst>
                <a:cxn ang="T4">
                  <a:pos x="T0" y="T1"/>
                </a:cxn>
                <a:cxn ang="T5">
                  <a:pos x="T2" y="T3"/>
                </a:cxn>
              </a:cxnLst>
              <a:rect l="0" t="0" r="r" b="b"/>
              <a:pathLst>
                <a:path w="1050" h="1605">
                  <a:moveTo>
                    <a:pt x="1050" y="0"/>
                  </a:moveTo>
                  <a:lnTo>
                    <a:pt x="0" y="1605"/>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Freeform 37"/>
            <p:cNvSpPr/>
            <p:nvPr/>
          </p:nvSpPr>
          <p:spPr bwMode="auto">
            <a:xfrm>
              <a:off x="7366" y="12810"/>
              <a:ext cx="1829" cy="1182"/>
            </a:xfrm>
            <a:custGeom>
              <a:avLst/>
              <a:gdLst>
                <a:gd name="T0" fmla="*/ 1829 w 1829"/>
                <a:gd name="T1" fmla="*/ 0 h 1182"/>
                <a:gd name="T2" fmla="*/ 0 w 1829"/>
                <a:gd name="T3" fmla="*/ 1182 h 1182"/>
                <a:gd name="T4" fmla="*/ 0 60000 65536"/>
                <a:gd name="T5" fmla="*/ 0 60000 65536"/>
              </a:gdLst>
              <a:ahLst/>
              <a:cxnLst>
                <a:cxn ang="T4">
                  <a:pos x="T0" y="T1"/>
                </a:cxn>
                <a:cxn ang="T5">
                  <a:pos x="T2" y="T3"/>
                </a:cxn>
              </a:cxnLst>
              <a:rect l="0" t="0" r="r" b="b"/>
              <a:pathLst>
                <a:path w="1829" h="1182">
                  <a:moveTo>
                    <a:pt x="1829" y="0"/>
                  </a:moveTo>
                  <a:lnTo>
                    <a:pt x="0" y="1182"/>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Freeform 38"/>
            <p:cNvSpPr/>
            <p:nvPr/>
          </p:nvSpPr>
          <p:spPr bwMode="auto">
            <a:xfrm>
              <a:off x="5940" y="12204"/>
              <a:ext cx="540" cy="1686"/>
            </a:xfrm>
            <a:custGeom>
              <a:avLst/>
              <a:gdLst>
                <a:gd name="T0" fmla="*/ 0 w 540"/>
                <a:gd name="T1" fmla="*/ 0 h 1686"/>
                <a:gd name="T2" fmla="*/ 540 w 540"/>
                <a:gd name="T3" fmla="*/ 1686 h 1686"/>
                <a:gd name="T4" fmla="*/ 0 60000 65536"/>
                <a:gd name="T5" fmla="*/ 0 60000 65536"/>
              </a:gdLst>
              <a:ahLst/>
              <a:cxnLst>
                <a:cxn ang="T4">
                  <a:pos x="T0" y="T1"/>
                </a:cxn>
                <a:cxn ang="T5">
                  <a:pos x="T2" y="T3"/>
                </a:cxn>
              </a:cxnLst>
              <a:rect l="0" t="0" r="r" b="b"/>
              <a:pathLst>
                <a:path w="540" h="1686">
                  <a:moveTo>
                    <a:pt x="0" y="0"/>
                  </a:moveTo>
                  <a:lnTo>
                    <a:pt x="540" y="1686"/>
                  </a:lnTo>
                </a:path>
              </a:pathLst>
            </a:custGeom>
            <a:noFill/>
            <a:ln w="9525">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1" name="Group 39"/>
          <p:cNvGrpSpPr/>
          <p:nvPr/>
        </p:nvGrpSpPr>
        <p:grpSpPr bwMode="auto">
          <a:xfrm>
            <a:off x="7774751" y="1852245"/>
            <a:ext cx="3562350" cy="2395538"/>
            <a:chOff x="3420" y="1752"/>
            <a:chExt cx="5610" cy="3772"/>
          </a:xfrm>
        </p:grpSpPr>
        <p:grpSp>
          <p:nvGrpSpPr>
            <p:cNvPr id="42" name="Group 40"/>
            <p:cNvGrpSpPr/>
            <p:nvPr/>
          </p:nvGrpSpPr>
          <p:grpSpPr bwMode="auto">
            <a:xfrm>
              <a:off x="3420" y="1752"/>
              <a:ext cx="5610" cy="3772"/>
              <a:chOff x="3420" y="1752"/>
              <a:chExt cx="5610" cy="3772"/>
            </a:xfrm>
          </p:grpSpPr>
          <p:sp>
            <p:nvSpPr>
              <p:cNvPr id="49" name="Text Box 41"/>
              <p:cNvSpPr txBox="1">
                <a:spLocks noChangeArrowheads="1"/>
              </p:cNvSpPr>
              <p:nvPr/>
            </p:nvSpPr>
            <p:spPr bwMode="auto">
              <a:xfrm>
                <a:off x="4378" y="4900"/>
                <a:ext cx="3150" cy="62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lnSpc>
                    <a:spcPct val="176000"/>
                  </a:lnSpc>
                  <a:spcBef>
                    <a:spcPct val="0"/>
                  </a:spcBef>
                  <a:buFontTx/>
                  <a:buNone/>
                </a:pPr>
                <a:r>
                  <a:rPr lang="zh-CN" altLang="en-US" sz="1000" u="none">
                    <a:solidFill>
                      <a:srgbClr val="000000"/>
                    </a:solidFill>
                  </a:rPr>
                  <a:t>图</a:t>
                </a:r>
                <a:r>
                  <a:rPr lang="en-US" altLang="zh-CN" sz="1000" u="none">
                    <a:solidFill>
                      <a:srgbClr val="000000"/>
                    </a:solidFill>
                  </a:rPr>
                  <a:t>7.8  </a:t>
                </a:r>
                <a:r>
                  <a:rPr lang="zh-CN" altLang="en-US" sz="1000" u="none">
                    <a:solidFill>
                      <a:srgbClr val="000000"/>
                    </a:solidFill>
                  </a:rPr>
                  <a:t>导出属性的表示</a:t>
                </a:r>
                <a:endParaRPr lang="zh-CN" altLang="en-US" sz="1000" u="none">
                  <a:solidFill>
                    <a:srgbClr val="000000"/>
                  </a:solidFill>
                  <a:latin typeface="Times New Roman" panose="02020603050405020304" pitchFamily="18" charset="0"/>
                </a:endParaRPr>
              </a:p>
            </p:txBody>
          </p:sp>
          <p:grpSp>
            <p:nvGrpSpPr>
              <p:cNvPr id="50" name="Group 42"/>
              <p:cNvGrpSpPr/>
              <p:nvPr/>
            </p:nvGrpSpPr>
            <p:grpSpPr bwMode="auto">
              <a:xfrm>
                <a:off x="3420" y="1752"/>
                <a:ext cx="5610" cy="2808"/>
                <a:chOff x="3420" y="1752"/>
                <a:chExt cx="5610" cy="2808"/>
              </a:xfrm>
            </p:grpSpPr>
            <p:sp>
              <p:nvSpPr>
                <p:cNvPr id="51" name="Oval 43"/>
                <p:cNvSpPr>
                  <a:spLocks noChangeArrowheads="1"/>
                </p:cNvSpPr>
                <p:nvPr/>
              </p:nvSpPr>
              <p:spPr bwMode="auto">
                <a:xfrm>
                  <a:off x="3420" y="3156"/>
                  <a:ext cx="108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工号</a:t>
                  </a:r>
                  <a:endParaRPr lang="zh-CN" altLang="en-US" sz="1000">
                    <a:solidFill>
                      <a:srgbClr val="000000"/>
                    </a:solidFill>
                    <a:latin typeface="Times New Roman" panose="02020603050405020304" pitchFamily="18" charset="0"/>
                  </a:endParaRPr>
                </a:p>
              </p:txBody>
            </p:sp>
            <p:sp>
              <p:nvSpPr>
                <p:cNvPr id="52" name="Text Box 44"/>
                <p:cNvSpPr txBox="1">
                  <a:spLocks noChangeArrowheads="1"/>
                </p:cNvSpPr>
                <p:nvPr/>
              </p:nvSpPr>
              <p:spPr bwMode="auto">
                <a:xfrm>
                  <a:off x="5385" y="4092"/>
                  <a:ext cx="1365"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职 工</a:t>
                  </a:r>
                  <a:endParaRPr lang="zh-CN" altLang="en-US" sz="1000" u="none">
                    <a:solidFill>
                      <a:srgbClr val="000000"/>
                    </a:solidFill>
                    <a:latin typeface="Times New Roman" panose="02020603050405020304" pitchFamily="18" charset="0"/>
                  </a:endParaRPr>
                </a:p>
              </p:txBody>
            </p:sp>
            <p:sp>
              <p:nvSpPr>
                <p:cNvPr id="53" name="Oval 45"/>
                <p:cNvSpPr>
                  <a:spLocks noChangeArrowheads="1"/>
                </p:cNvSpPr>
                <p:nvPr/>
              </p:nvSpPr>
              <p:spPr bwMode="auto">
                <a:xfrm>
                  <a:off x="3960" y="2376"/>
                  <a:ext cx="108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姓名</a:t>
                  </a:r>
                  <a:endParaRPr lang="zh-CN" altLang="en-US" sz="1000" u="none">
                    <a:solidFill>
                      <a:srgbClr val="000000"/>
                    </a:solidFill>
                    <a:latin typeface="Times New Roman" panose="02020603050405020304" pitchFamily="18" charset="0"/>
                  </a:endParaRPr>
                </a:p>
              </p:txBody>
            </p:sp>
            <p:sp>
              <p:nvSpPr>
                <p:cNvPr id="54" name="Oval 46"/>
                <p:cNvSpPr>
                  <a:spLocks noChangeArrowheads="1"/>
                </p:cNvSpPr>
                <p:nvPr/>
              </p:nvSpPr>
              <p:spPr bwMode="auto">
                <a:xfrm>
                  <a:off x="4680" y="1752"/>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基本工资</a:t>
                  </a:r>
                  <a:endParaRPr lang="zh-CN" altLang="en-US" sz="1000" u="none">
                    <a:solidFill>
                      <a:srgbClr val="000000"/>
                    </a:solidFill>
                    <a:latin typeface="Times New Roman" panose="02020603050405020304" pitchFamily="18" charset="0"/>
                  </a:endParaRPr>
                </a:p>
                <a:p>
                  <a:pPr algn="just">
                    <a:spcBef>
                      <a:spcPct val="0"/>
                    </a:spcBef>
                    <a:buFontTx/>
                    <a:buNone/>
                  </a:pPr>
                  <a:endParaRPr lang="zh-CN" altLang="en-US" sz="1000" u="none">
                    <a:solidFill>
                      <a:srgbClr val="000000"/>
                    </a:solidFill>
                    <a:latin typeface="Times New Roman" panose="02020603050405020304" pitchFamily="18" charset="0"/>
                  </a:endParaRPr>
                </a:p>
              </p:txBody>
            </p:sp>
            <p:sp>
              <p:nvSpPr>
                <p:cNvPr id="55" name="Oval 47"/>
                <p:cNvSpPr>
                  <a:spLocks noChangeArrowheads="1"/>
                </p:cNvSpPr>
                <p:nvPr/>
              </p:nvSpPr>
              <p:spPr bwMode="auto">
                <a:xfrm>
                  <a:off x="6120" y="1752"/>
                  <a:ext cx="108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奖金</a:t>
                  </a:r>
                  <a:endParaRPr lang="zh-CN" altLang="en-US" sz="1000" u="none">
                    <a:solidFill>
                      <a:srgbClr val="000000"/>
                    </a:solidFill>
                    <a:latin typeface="Times New Roman" panose="02020603050405020304" pitchFamily="18" charset="0"/>
                  </a:endParaRPr>
                </a:p>
              </p:txBody>
            </p:sp>
            <p:sp>
              <p:nvSpPr>
                <p:cNvPr id="56" name="Oval 48"/>
                <p:cNvSpPr>
                  <a:spLocks noChangeArrowheads="1"/>
                </p:cNvSpPr>
                <p:nvPr/>
              </p:nvSpPr>
              <p:spPr bwMode="auto">
                <a:xfrm>
                  <a:off x="7020" y="2376"/>
                  <a:ext cx="108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房租</a:t>
                  </a:r>
                  <a:endParaRPr lang="zh-CN" altLang="en-US" sz="1000" u="none">
                    <a:solidFill>
                      <a:srgbClr val="000000"/>
                    </a:solidFill>
                    <a:latin typeface="Times New Roman" panose="02020603050405020304" pitchFamily="18" charset="0"/>
                  </a:endParaRPr>
                </a:p>
              </p:txBody>
            </p:sp>
            <p:sp>
              <p:nvSpPr>
                <p:cNvPr id="57" name="Oval 49"/>
                <p:cNvSpPr>
                  <a:spLocks noChangeArrowheads="1"/>
                </p:cNvSpPr>
                <p:nvPr/>
              </p:nvSpPr>
              <p:spPr bwMode="auto">
                <a:xfrm>
                  <a:off x="7560" y="3000"/>
                  <a:ext cx="1470" cy="468"/>
                </a:xfrm>
                <a:prstGeom prst="ellipse">
                  <a:avLst/>
                </a:prstGeom>
                <a:solidFill>
                  <a:srgbClr val="FFFFFF"/>
                </a:solidFill>
                <a:ln w="9525" cap="rnd">
                  <a:solidFill>
                    <a:srgbClr val="000000"/>
                  </a:solidFill>
                  <a:prstDash val="sysDot"/>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实发工资</a:t>
                  </a:r>
                  <a:endParaRPr lang="zh-CN" altLang="en-US" sz="1000" u="none">
                    <a:solidFill>
                      <a:srgbClr val="000000"/>
                    </a:solidFill>
                    <a:latin typeface="Times New Roman" panose="02020603050405020304" pitchFamily="18" charset="0"/>
                  </a:endParaRPr>
                </a:p>
              </p:txBody>
            </p:sp>
          </p:grpSp>
        </p:grpSp>
        <p:sp>
          <p:nvSpPr>
            <p:cNvPr id="43" name="Line 50"/>
            <p:cNvSpPr>
              <a:spLocks noChangeShapeType="1"/>
            </p:cNvSpPr>
            <p:nvPr/>
          </p:nvSpPr>
          <p:spPr bwMode="auto">
            <a:xfrm>
              <a:off x="4140" y="3624"/>
              <a:ext cx="14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51"/>
            <p:cNvSpPr>
              <a:spLocks noChangeShapeType="1"/>
            </p:cNvSpPr>
            <p:nvPr/>
          </p:nvSpPr>
          <p:spPr bwMode="auto">
            <a:xfrm>
              <a:off x="4500" y="2844"/>
              <a:ext cx="126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52"/>
            <p:cNvSpPr>
              <a:spLocks noChangeShapeType="1"/>
            </p:cNvSpPr>
            <p:nvPr/>
          </p:nvSpPr>
          <p:spPr bwMode="auto">
            <a:xfrm>
              <a:off x="5400" y="2220"/>
              <a:ext cx="54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53"/>
            <p:cNvSpPr>
              <a:spLocks noChangeShapeType="1"/>
            </p:cNvSpPr>
            <p:nvPr/>
          </p:nvSpPr>
          <p:spPr bwMode="auto">
            <a:xfrm flipH="1">
              <a:off x="6120" y="2220"/>
              <a:ext cx="54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54"/>
            <p:cNvSpPr>
              <a:spLocks noChangeShapeType="1"/>
            </p:cNvSpPr>
            <p:nvPr/>
          </p:nvSpPr>
          <p:spPr bwMode="auto">
            <a:xfrm flipH="1">
              <a:off x="6300" y="2844"/>
              <a:ext cx="108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55"/>
            <p:cNvSpPr>
              <a:spLocks noChangeShapeType="1"/>
            </p:cNvSpPr>
            <p:nvPr/>
          </p:nvSpPr>
          <p:spPr bwMode="auto">
            <a:xfrm flipH="1">
              <a:off x="6480" y="3471"/>
              <a:ext cx="1620" cy="624"/>
            </a:xfrm>
            <a:prstGeom prst="line">
              <a:avLst/>
            </a:prstGeom>
            <a:noFill/>
            <a:ln w="9525" cap="rnd">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8" name="Group 56"/>
          <p:cNvGrpSpPr/>
          <p:nvPr/>
        </p:nvGrpSpPr>
        <p:grpSpPr bwMode="auto">
          <a:xfrm>
            <a:off x="6784151" y="1623645"/>
            <a:ext cx="5257800" cy="2705100"/>
            <a:chOff x="1980" y="2688"/>
            <a:chExt cx="8280" cy="4260"/>
          </a:xfrm>
        </p:grpSpPr>
        <p:grpSp>
          <p:nvGrpSpPr>
            <p:cNvPr id="59" name="Group 57"/>
            <p:cNvGrpSpPr/>
            <p:nvPr/>
          </p:nvGrpSpPr>
          <p:grpSpPr bwMode="auto">
            <a:xfrm>
              <a:off x="1980" y="2688"/>
              <a:ext cx="7022" cy="4260"/>
              <a:chOff x="1980" y="2688"/>
              <a:chExt cx="7022" cy="4260"/>
            </a:xfrm>
          </p:grpSpPr>
          <p:sp>
            <p:nvSpPr>
              <p:cNvPr id="64" name="Text Box 58"/>
              <p:cNvSpPr txBox="1">
                <a:spLocks noChangeArrowheads="1"/>
              </p:cNvSpPr>
              <p:nvPr/>
            </p:nvSpPr>
            <p:spPr bwMode="auto">
              <a:xfrm>
                <a:off x="4633" y="6324"/>
                <a:ext cx="3150" cy="62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lnSpc>
                    <a:spcPct val="176000"/>
                  </a:lnSpc>
                  <a:spcBef>
                    <a:spcPct val="0"/>
                  </a:spcBef>
                  <a:buFontTx/>
                  <a:buNone/>
                </a:pPr>
                <a:r>
                  <a:rPr lang="zh-CN" altLang="en-US" sz="1000" u="none">
                    <a:solidFill>
                      <a:srgbClr val="000000"/>
                    </a:solidFill>
                  </a:rPr>
                  <a:t>图</a:t>
                </a:r>
                <a:r>
                  <a:rPr lang="en-US" altLang="zh-CN" sz="1000" u="none">
                    <a:solidFill>
                      <a:srgbClr val="000000"/>
                    </a:solidFill>
                  </a:rPr>
                  <a:t>7.6 </a:t>
                </a:r>
                <a:r>
                  <a:rPr lang="zh-CN" altLang="en-US" sz="1000" u="none">
                    <a:solidFill>
                      <a:srgbClr val="000000"/>
                    </a:solidFill>
                  </a:rPr>
                  <a:t>多值属性的变换（</a:t>
                </a:r>
                <a:r>
                  <a:rPr lang="en-US" altLang="zh-CN" sz="1000" u="none">
                    <a:solidFill>
                      <a:srgbClr val="000000"/>
                    </a:solidFill>
                  </a:rPr>
                  <a:t>1</a:t>
                </a:r>
                <a:r>
                  <a:rPr lang="zh-CN" altLang="en-US" sz="1000" u="none">
                    <a:solidFill>
                      <a:srgbClr val="000000"/>
                    </a:solidFill>
                  </a:rPr>
                  <a:t>）</a:t>
                </a:r>
                <a:endParaRPr lang="zh-CN" altLang="en-US" sz="1000" u="none">
                  <a:solidFill>
                    <a:srgbClr val="000000"/>
                  </a:solidFill>
                  <a:latin typeface="Times New Roman" panose="02020603050405020304" pitchFamily="18" charset="0"/>
                </a:endParaRPr>
              </a:p>
            </p:txBody>
          </p:sp>
          <p:grpSp>
            <p:nvGrpSpPr>
              <p:cNvPr id="65" name="Group 59"/>
              <p:cNvGrpSpPr/>
              <p:nvPr/>
            </p:nvGrpSpPr>
            <p:grpSpPr bwMode="auto">
              <a:xfrm>
                <a:off x="1980" y="2688"/>
                <a:ext cx="7022" cy="3304"/>
                <a:chOff x="1980" y="2688"/>
                <a:chExt cx="7022" cy="3304"/>
              </a:xfrm>
            </p:grpSpPr>
            <p:sp>
              <p:nvSpPr>
                <p:cNvPr id="66" name="Oval 60"/>
                <p:cNvSpPr>
                  <a:spLocks noChangeArrowheads="1"/>
                </p:cNvSpPr>
                <p:nvPr/>
              </p:nvSpPr>
              <p:spPr bwMode="auto">
                <a:xfrm>
                  <a:off x="1980" y="4092"/>
                  <a:ext cx="1277" cy="440"/>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零件编码</a:t>
                  </a:r>
                  <a:endParaRPr lang="zh-CN" altLang="en-US" sz="1000">
                    <a:solidFill>
                      <a:srgbClr val="000000"/>
                    </a:solidFill>
                    <a:latin typeface="Times New Roman" panose="02020603050405020304" pitchFamily="18" charset="0"/>
                  </a:endParaRPr>
                </a:p>
              </p:txBody>
            </p:sp>
            <p:sp>
              <p:nvSpPr>
                <p:cNvPr id="67" name="Text Box 61"/>
                <p:cNvSpPr txBox="1">
                  <a:spLocks noChangeArrowheads="1"/>
                </p:cNvSpPr>
                <p:nvPr/>
              </p:nvSpPr>
              <p:spPr bwMode="auto">
                <a:xfrm>
                  <a:off x="5368" y="5524"/>
                  <a:ext cx="1365"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  件</a:t>
                  </a:r>
                  <a:endParaRPr lang="zh-CN" altLang="en-US" sz="1000" u="none">
                    <a:solidFill>
                      <a:srgbClr val="000000"/>
                    </a:solidFill>
                    <a:latin typeface="Times New Roman" panose="02020603050405020304" pitchFamily="18" charset="0"/>
                  </a:endParaRPr>
                </a:p>
              </p:txBody>
            </p:sp>
            <p:sp>
              <p:nvSpPr>
                <p:cNvPr id="68" name="Oval 62"/>
                <p:cNvSpPr>
                  <a:spLocks noChangeArrowheads="1"/>
                </p:cNvSpPr>
                <p:nvPr/>
              </p:nvSpPr>
              <p:spPr bwMode="auto">
                <a:xfrm>
                  <a:off x="2700" y="3468"/>
                  <a:ext cx="1052"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零件名</a:t>
                  </a:r>
                  <a:endParaRPr lang="zh-CN" altLang="en-US" sz="1000" u="none">
                    <a:solidFill>
                      <a:srgbClr val="000000"/>
                    </a:solidFill>
                    <a:latin typeface="Times New Roman" panose="02020603050405020304" pitchFamily="18" charset="0"/>
                  </a:endParaRPr>
                </a:p>
              </p:txBody>
            </p:sp>
            <p:sp>
              <p:nvSpPr>
                <p:cNvPr id="69" name="Oval 63"/>
                <p:cNvSpPr>
                  <a:spLocks noChangeArrowheads="1"/>
                </p:cNvSpPr>
                <p:nvPr/>
              </p:nvSpPr>
              <p:spPr bwMode="auto">
                <a:xfrm>
                  <a:off x="3420" y="3000"/>
                  <a:ext cx="1037"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供应商</a:t>
                  </a:r>
                  <a:endParaRPr lang="zh-CN" altLang="en-US" sz="1000" u="none">
                    <a:solidFill>
                      <a:srgbClr val="000000"/>
                    </a:solidFill>
                    <a:latin typeface="Times New Roman" panose="02020603050405020304" pitchFamily="18" charset="0"/>
                  </a:endParaRPr>
                </a:p>
                <a:p>
                  <a:pPr algn="just">
                    <a:spcBef>
                      <a:spcPct val="0"/>
                    </a:spcBef>
                    <a:buFontTx/>
                    <a:buNone/>
                  </a:pPr>
                  <a:endParaRPr lang="zh-CN" altLang="en-US" sz="1000" u="none">
                    <a:solidFill>
                      <a:srgbClr val="000000"/>
                    </a:solidFill>
                    <a:latin typeface="Times New Roman" panose="02020603050405020304" pitchFamily="18" charset="0"/>
                  </a:endParaRPr>
                </a:p>
              </p:txBody>
            </p:sp>
            <p:sp>
              <p:nvSpPr>
                <p:cNvPr id="70" name="Oval 64"/>
                <p:cNvSpPr>
                  <a:spLocks noChangeArrowheads="1"/>
                </p:cNvSpPr>
                <p:nvPr/>
              </p:nvSpPr>
              <p:spPr bwMode="auto">
                <a:xfrm>
                  <a:off x="4500" y="2688"/>
                  <a:ext cx="932"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规格</a:t>
                  </a:r>
                  <a:endParaRPr lang="zh-CN" altLang="en-US" sz="1000" u="none">
                    <a:solidFill>
                      <a:srgbClr val="000000"/>
                    </a:solidFill>
                    <a:latin typeface="Times New Roman" panose="02020603050405020304" pitchFamily="18" charset="0"/>
                  </a:endParaRPr>
                </a:p>
              </p:txBody>
            </p:sp>
            <p:sp>
              <p:nvSpPr>
                <p:cNvPr id="71" name="Oval 65"/>
                <p:cNvSpPr>
                  <a:spLocks noChangeArrowheads="1"/>
                </p:cNvSpPr>
                <p:nvPr/>
              </p:nvSpPr>
              <p:spPr bwMode="auto">
                <a:xfrm>
                  <a:off x="5580" y="2688"/>
                  <a:ext cx="1292"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进货价格</a:t>
                  </a:r>
                  <a:endParaRPr lang="zh-CN" altLang="en-US" sz="1000" u="none">
                    <a:solidFill>
                      <a:srgbClr val="000000"/>
                    </a:solidFill>
                    <a:latin typeface="Times New Roman" panose="02020603050405020304" pitchFamily="18" charset="0"/>
                  </a:endParaRPr>
                </a:p>
              </p:txBody>
            </p:sp>
            <p:sp>
              <p:nvSpPr>
                <p:cNvPr id="72" name="Oval 66"/>
                <p:cNvSpPr>
                  <a:spLocks noChangeArrowheads="1"/>
                </p:cNvSpPr>
                <p:nvPr/>
              </p:nvSpPr>
              <p:spPr bwMode="auto">
                <a:xfrm>
                  <a:off x="6660" y="3000"/>
                  <a:ext cx="1277"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经销价格</a:t>
                  </a:r>
                  <a:endParaRPr lang="zh-CN" altLang="en-US" sz="1000" u="none">
                    <a:solidFill>
                      <a:srgbClr val="000000"/>
                    </a:solidFill>
                    <a:latin typeface="Times New Roman" panose="02020603050405020304" pitchFamily="18" charset="0"/>
                  </a:endParaRPr>
                </a:p>
                <a:p>
                  <a:pPr algn="just">
                    <a:spcBef>
                      <a:spcPct val="0"/>
                    </a:spcBef>
                    <a:buFontTx/>
                    <a:buNone/>
                  </a:pPr>
                  <a:endParaRPr lang="zh-CN" altLang="en-US" sz="1000" u="none">
                    <a:solidFill>
                      <a:srgbClr val="000000"/>
                    </a:solidFill>
                    <a:latin typeface="Times New Roman" panose="02020603050405020304" pitchFamily="18" charset="0"/>
                  </a:endParaRPr>
                </a:p>
              </p:txBody>
            </p:sp>
            <p:sp>
              <p:nvSpPr>
                <p:cNvPr id="73" name="Oval 67"/>
                <p:cNvSpPr>
                  <a:spLocks noChangeArrowheads="1"/>
                </p:cNvSpPr>
                <p:nvPr/>
              </p:nvSpPr>
              <p:spPr bwMode="auto">
                <a:xfrm>
                  <a:off x="7740" y="3312"/>
                  <a:ext cx="1262"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代销价格</a:t>
                  </a:r>
                  <a:endParaRPr lang="zh-CN" altLang="en-US" sz="1000" u="none">
                    <a:solidFill>
                      <a:srgbClr val="000000"/>
                    </a:solidFill>
                    <a:latin typeface="Times New Roman" panose="02020603050405020304" pitchFamily="18" charset="0"/>
                  </a:endParaRPr>
                </a:p>
              </p:txBody>
            </p:sp>
            <p:sp>
              <p:nvSpPr>
                <p:cNvPr id="74" name="Line 68"/>
                <p:cNvSpPr>
                  <a:spLocks noChangeShapeType="1"/>
                </p:cNvSpPr>
                <p:nvPr/>
              </p:nvSpPr>
              <p:spPr bwMode="auto">
                <a:xfrm>
                  <a:off x="3420" y="3936"/>
                  <a:ext cx="2160" cy="156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75" name="Line 69"/>
                <p:cNvSpPr>
                  <a:spLocks noChangeShapeType="1"/>
                </p:cNvSpPr>
                <p:nvPr/>
              </p:nvSpPr>
              <p:spPr bwMode="auto">
                <a:xfrm>
                  <a:off x="4140" y="3468"/>
                  <a:ext cx="1620" cy="202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76" name="Line 70"/>
                <p:cNvSpPr>
                  <a:spLocks noChangeShapeType="1"/>
                </p:cNvSpPr>
                <p:nvPr/>
              </p:nvSpPr>
              <p:spPr bwMode="auto">
                <a:xfrm>
                  <a:off x="5040" y="3156"/>
                  <a:ext cx="958" cy="23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77" name="Freeform 71"/>
                <p:cNvSpPr/>
                <p:nvPr/>
              </p:nvSpPr>
              <p:spPr bwMode="auto">
                <a:xfrm>
                  <a:off x="2700" y="4560"/>
                  <a:ext cx="2700" cy="936"/>
                </a:xfrm>
                <a:custGeom>
                  <a:avLst/>
                  <a:gdLst>
                    <a:gd name="T0" fmla="*/ 0 w 1830"/>
                    <a:gd name="T1" fmla="*/ 0 h 1303"/>
                    <a:gd name="T2" fmla="*/ 194733 w 1830"/>
                    <a:gd name="T3" fmla="*/ 24 h 1303"/>
                    <a:gd name="T4" fmla="*/ 0 60000 65536"/>
                    <a:gd name="T5" fmla="*/ 0 60000 65536"/>
                  </a:gdLst>
                  <a:ahLst/>
                  <a:cxnLst>
                    <a:cxn ang="T4">
                      <a:pos x="T0" y="T1"/>
                    </a:cxn>
                    <a:cxn ang="T5">
                      <a:pos x="T2" y="T3"/>
                    </a:cxn>
                  </a:cxnLst>
                  <a:rect l="0" t="0" r="r" b="b"/>
                  <a:pathLst>
                    <a:path w="1830" h="1303">
                      <a:moveTo>
                        <a:pt x="0" y="0"/>
                      </a:moveTo>
                      <a:lnTo>
                        <a:pt x="1830" y="1303"/>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78" name="Freeform 72"/>
                <p:cNvSpPr/>
                <p:nvPr/>
              </p:nvSpPr>
              <p:spPr bwMode="auto">
                <a:xfrm>
                  <a:off x="6060" y="3156"/>
                  <a:ext cx="240" cy="2364"/>
                </a:xfrm>
                <a:custGeom>
                  <a:avLst/>
                  <a:gdLst>
                    <a:gd name="T0" fmla="*/ 240 w 240"/>
                    <a:gd name="T1" fmla="*/ 0 h 2364"/>
                    <a:gd name="T2" fmla="*/ 0 w 240"/>
                    <a:gd name="T3" fmla="*/ 2364 h 2364"/>
                    <a:gd name="T4" fmla="*/ 0 60000 65536"/>
                    <a:gd name="T5" fmla="*/ 0 60000 65536"/>
                  </a:gdLst>
                  <a:ahLst/>
                  <a:cxnLst>
                    <a:cxn ang="T4">
                      <a:pos x="T0" y="T1"/>
                    </a:cxn>
                    <a:cxn ang="T5">
                      <a:pos x="T2" y="T3"/>
                    </a:cxn>
                  </a:cxnLst>
                  <a:rect l="0" t="0" r="r" b="b"/>
                  <a:pathLst>
                    <a:path w="240" h="2364">
                      <a:moveTo>
                        <a:pt x="240" y="0"/>
                      </a:moveTo>
                      <a:lnTo>
                        <a:pt x="0" y="2364"/>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79" name="Line 73"/>
                <p:cNvSpPr>
                  <a:spLocks noChangeShapeType="1"/>
                </p:cNvSpPr>
                <p:nvPr/>
              </p:nvSpPr>
              <p:spPr bwMode="auto">
                <a:xfrm flipH="1">
                  <a:off x="6120" y="3468"/>
                  <a:ext cx="1080" cy="202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80" name="Freeform 74"/>
                <p:cNvSpPr/>
                <p:nvPr/>
              </p:nvSpPr>
              <p:spPr bwMode="auto">
                <a:xfrm>
                  <a:off x="6300" y="3780"/>
                  <a:ext cx="1620" cy="1716"/>
                </a:xfrm>
                <a:custGeom>
                  <a:avLst/>
                  <a:gdLst>
                    <a:gd name="T0" fmla="*/ 4219 w 1485"/>
                    <a:gd name="T1" fmla="*/ 0 h 1348"/>
                    <a:gd name="T2" fmla="*/ 0 w 1485"/>
                    <a:gd name="T3" fmla="*/ 24407 h 1348"/>
                    <a:gd name="T4" fmla="*/ 0 60000 65536"/>
                    <a:gd name="T5" fmla="*/ 0 60000 65536"/>
                  </a:gdLst>
                  <a:ahLst/>
                  <a:cxnLst>
                    <a:cxn ang="T4">
                      <a:pos x="T0" y="T1"/>
                    </a:cxn>
                    <a:cxn ang="T5">
                      <a:pos x="T2" y="T3"/>
                    </a:cxn>
                  </a:cxnLst>
                  <a:rect l="0" t="0" r="r" b="b"/>
                  <a:pathLst>
                    <a:path w="1485" h="1348">
                      <a:moveTo>
                        <a:pt x="1485" y="0"/>
                      </a:moveTo>
                      <a:lnTo>
                        <a:pt x="0" y="1348"/>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grpSp>
        </p:grpSp>
        <p:sp>
          <p:nvSpPr>
            <p:cNvPr id="60" name="Oval 75"/>
            <p:cNvSpPr>
              <a:spLocks noChangeArrowheads="1"/>
            </p:cNvSpPr>
            <p:nvPr/>
          </p:nvSpPr>
          <p:spPr bwMode="auto">
            <a:xfrm>
              <a:off x="8460" y="3780"/>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批发价格</a:t>
              </a:r>
              <a:endParaRPr lang="zh-CN" altLang="en-US" sz="1000" u="none">
                <a:solidFill>
                  <a:srgbClr val="000000"/>
                </a:solidFill>
                <a:latin typeface="Times New Roman" panose="02020603050405020304" pitchFamily="18" charset="0"/>
              </a:endParaRPr>
            </a:p>
          </p:txBody>
        </p:sp>
        <p:sp>
          <p:nvSpPr>
            <p:cNvPr id="61" name="Oval 76"/>
            <p:cNvSpPr>
              <a:spLocks noChangeArrowheads="1"/>
            </p:cNvSpPr>
            <p:nvPr/>
          </p:nvSpPr>
          <p:spPr bwMode="auto">
            <a:xfrm>
              <a:off x="9000" y="4248"/>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零售价格</a:t>
              </a:r>
              <a:endParaRPr lang="zh-CN" altLang="en-US" sz="1000" u="none">
                <a:solidFill>
                  <a:srgbClr val="000000"/>
                </a:solidFill>
                <a:latin typeface="Times New Roman" panose="02020603050405020304" pitchFamily="18" charset="0"/>
              </a:endParaRPr>
            </a:p>
          </p:txBody>
        </p:sp>
        <p:sp>
          <p:nvSpPr>
            <p:cNvPr id="62" name="Line 77"/>
            <p:cNvSpPr>
              <a:spLocks noChangeShapeType="1"/>
            </p:cNvSpPr>
            <p:nvPr/>
          </p:nvSpPr>
          <p:spPr bwMode="auto">
            <a:xfrm flipV="1">
              <a:off x="6480" y="4248"/>
              <a:ext cx="23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78"/>
            <p:cNvSpPr>
              <a:spLocks noChangeShapeType="1"/>
            </p:cNvSpPr>
            <p:nvPr/>
          </p:nvSpPr>
          <p:spPr bwMode="auto">
            <a:xfrm flipV="1">
              <a:off x="6660" y="4716"/>
              <a:ext cx="288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1" name="Group 79"/>
          <p:cNvGrpSpPr/>
          <p:nvPr/>
        </p:nvGrpSpPr>
        <p:grpSpPr bwMode="auto">
          <a:xfrm>
            <a:off x="6574601" y="2157045"/>
            <a:ext cx="5467350" cy="2424113"/>
            <a:chOff x="1640" y="9068"/>
            <a:chExt cx="8610" cy="3816"/>
          </a:xfrm>
        </p:grpSpPr>
        <p:grpSp>
          <p:nvGrpSpPr>
            <p:cNvPr id="82" name="Group 80"/>
            <p:cNvGrpSpPr/>
            <p:nvPr/>
          </p:nvGrpSpPr>
          <p:grpSpPr bwMode="auto">
            <a:xfrm>
              <a:off x="1640" y="9068"/>
              <a:ext cx="8610" cy="3816"/>
              <a:chOff x="1640" y="9068"/>
              <a:chExt cx="8610" cy="3816"/>
            </a:xfrm>
          </p:grpSpPr>
          <p:sp>
            <p:nvSpPr>
              <p:cNvPr id="88" name="Text Box 81"/>
              <p:cNvSpPr txBox="1">
                <a:spLocks noChangeArrowheads="1"/>
              </p:cNvSpPr>
              <p:nvPr/>
            </p:nvSpPr>
            <p:spPr bwMode="auto">
              <a:xfrm>
                <a:off x="4580" y="12260"/>
                <a:ext cx="3150" cy="624"/>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lnSpc>
                    <a:spcPct val="176000"/>
                  </a:lnSpc>
                  <a:spcBef>
                    <a:spcPct val="0"/>
                  </a:spcBef>
                  <a:buFontTx/>
                  <a:buNone/>
                </a:pPr>
                <a:r>
                  <a:rPr lang="zh-CN" altLang="en-US" sz="1000" u="none">
                    <a:solidFill>
                      <a:srgbClr val="000000"/>
                    </a:solidFill>
                  </a:rPr>
                  <a:t>图</a:t>
                </a:r>
                <a:r>
                  <a:rPr lang="en-US" altLang="zh-CN" sz="1000" u="none">
                    <a:solidFill>
                      <a:srgbClr val="000000"/>
                    </a:solidFill>
                  </a:rPr>
                  <a:t>7.7 </a:t>
                </a:r>
                <a:r>
                  <a:rPr lang="zh-CN" altLang="en-US" sz="1000" u="none">
                    <a:solidFill>
                      <a:srgbClr val="000000"/>
                    </a:solidFill>
                  </a:rPr>
                  <a:t>多值属性的变换（</a:t>
                </a:r>
                <a:r>
                  <a:rPr lang="en-US" altLang="zh-CN" sz="1000" u="none">
                    <a:solidFill>
                      <a:srgbClr val="000000"/>
                    </a:solidFill>
                  </a:rPr>
                  <a:t>2</a:t>
                </a:r>
                <a:r>
                  <a:rPr lang="zh-CN" altLang="en-US" sz="1000" u="none">
                    <a:solidFill>
                      <a:srgbClr val="000000"/>
                    </a:solidFill>
                  </a:rPr>
                  <a:t>）</a:t>
                </a:r>
                <a:endParaRPr lang="zh-CN" altLang="en-US" sz="1000" u="none">
                  <a:solidFill>
                    <a:srgbClr val="000000"/>
                  </a:solidFill>
                  <a:latin typeface="Times New Roman" panose="02020603050405020304" pitchFamily="18" charset="0"/>
                </a:endParaRPr>
              </a:p>
            </p:txBody>
          </p:sp>
          <p:grpSp>
            <p:nvGrpSpPr>
              <p:cNvPr id="89" name="Group 82"/>
              <p:cNvGrpSpPr/>
              <p:nvPr/>
            </p:nvGrpSpPr>
            <p:grpSpPr bwMode="auto">
              <a:xfrm>
                <a:off x="1640" y="9068"/>
                <a:ext cx="8610" cy="2340"/>
                <a:chOff x="1640" y="9068"/>
                <a:chExt cx="8610" cy="2340"/>
              </a:xfrm>
            </p:grpSpPr>
            <p:sp>
              <p:nvSpPr>
                <p:cNvPr id="90" name="Oval 83"/>
                <p:cNvSpPr>
                  <a:spLocks noChangeArrowheads="1"/>
                </p:cNvSpPr>
                <p:nvPr/>
              </p:nvSpPr>
              <p:spPr bwMode="auto">
                <a:xfrm>
                  <a:off x="1640" y="10004"/>
                  <a:ext cx="157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零件编码</a:t>
                  </a:r>
                  <a:endParaRPr lang="zh-CN" altLang="en-US" sz="1000" u="none">
                    <a:solidFill>
                      <a:srgbClr val="000000"/>
                    </a:solidFill>
                    <a:latin typeface="Times New Roman" panose="02020603050405020304" pitchFamily="18" charset="0"/>
                  </a:endParaRPr>
                </a:p>
              </p:txBody>
            </p:sp>
            <p:sp>
              <p:nvSpPr>
                <p:cNvPr id="91" name="Text Box 84"/>
                <p:cNvSpPr txBox="1">
                  <a:spLocks noChangeArrowheads="1"/>
                </p:cNvSpPr>
                <p:nvPr/>
              </p:nvSpPr>
              <p:spPr bwMode="auto">
                <a:xfrm>
                  <a:off x="3320" y="10940"/>
                  <a:ext cx="1365"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 件</a:t>
                  </a:r>
                  <a:endParaRPr lang="zh-CN" altLang="en-US" sz="1000" u="none">
                    <a:solidFill>
                      <a:srgbClr val="000000"/>
                    </a:solidFill>
                    <a:latin typeface="Times New Roman" panose="02020603050405020304" pitchFamily="18" charset="0"/>
                  </a:endParaRPr>
                </a:p>
              </p:txBody>
            </p:sp>
            <p:sp>
              <p:nvSpPr>
                <p:cNvPr id="92" name="Oval 85"/>
                <p:cNvSpPr>
                  <a:spLocks noChangeArrowheads="1"/>
                </p:cNvSpPr>
                <p:nvPr/>
              </p:nvSpPr>
              <p:spPr bwMode="auto">
                <a:xfrm>
                  <a:off x="2165" y="9380"/>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零件名</a:t>
                  </a:r>
                  <a:endParaRPr lang="zh-CN" altLang="en-US" sz="1000" u="none">
                    <a:solidFill>
                      <a:srgbClr val="000000"/>
                    </a:solidFill>
                    <a:latin typeface="Times New Roman" panose="02020603050405020304" pitchFamily="18" charset="0"/>
                  </a:endParaRPr>
                </a:p>
              </p:txBody>
            </p:sp>
            <p:sp>
              <p:nvSpPr>
                <p:cNvPr id="93" name="Oval 86"/>
                <p:cNvSpPr>
                  <a:spLocks noChangeArrowheads="1"/>
                </p:cNvSpPr>
                <p:nvPr/>
              </p:nvSpPr>
              <p:spPr bwMode="auto">
                <a:xfrm>
                  <a:off x="3320" y="9068"/>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供应商</a:t>
                  </a:r>
                  <a:endParaRPr lang="zh-CN" altLang="en-US" sz="1000" u="none">
                    <a:solidFill>
                      <a:srgbClr val="000000"/>
                    </a:solidFill>
                    <a:latin typeface="Times New Roman" panose="02020603050405020304" pitchFamily="18" charset="0"/>
                  </a:endParaRPr>
                </a:p>
                <a:p>
                  <a:pPr algn="just">
                    <a:spcBef>
                      <a:spcPct val="0"/>
                    </a:spcBef>
                    <a:buFontTx/>
                    <a:buNone/>
                  </a:pPr>
                  <a:endParaRPr lang="zh-CN" altLang="en-US" sz="1000" u="none">
                    <a:solidFill>
                      <a:srgbClr val="000000"/>
                    </a:solidFill>
                    <a:latin typeface="Times New Roman" panose="02020603050405020304" pitchFamily="18" charset="0"/>
                  </a:endParaRPr>
                </a:p>
              </p:txBody>
            </p:sp>
            <p:sp>
              <p:nvSpPr>
                <p:cNvPr id="94" name="Oval 87"/>
                <p:cNvSpPr>
                  <a:spLocks noChangeArrowheads="1"/>
                </p:cNvSpPr>
                <p:nvPr/>
              </p:nvSpPr>
              <p:spPr bwMode="auto">
                <a:xfrm>
                  <a:off x="4475" y="9380"/>
                  <a:ext cx="126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规格</a:t>
                  </a:r>
                  <a:endParaRPr lang="zh-CN" altLang="en-US" sz="1000" u="none">
                    <a:solidFill>
                      <a:srgbClr val="000000"/>
                    </a:solidFill>
                    <a:latin typeface="Times New Roman" panose="02020603050405020304" pitchFamily="18" charset="0"/>
                  </a:endParaRPr>
                </a:p>
              </p:txBody>
            </p:sp>
            <p:sp>
              <p:nvSpPr>
                <p:cNvPr id="95" name="Oval 88"/>
                <p:cNvSpPr>
                  <a:spLocks noChangeArrowheads="1"/>
                </p:cNvSpPr>
                <p:nvPr/>
              </p:nvSpPr>
              <p:spPr bwMode="auto">
                <a:xfrm>
                  <a:off x="5210" y="9848"/>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进货价格</a:t>
                  </a:r>
                  <a:endParaRPr lang="zh-CN" altLang="en-US" sz="1000" u="none">
                    <a:solidFill>
                      <a:srgbClr val="000000"/>
                    </a:solidFill>
                    <a:latin typeface="Times New Roman" panose="02020603050405020304" pitchFamily="18" charset="0"/>
                  </a:endParaRPr>
                </a:p>
              </p:txBody>
            </p:sp>
            <p:sp>
              <p:nvSpPr>
                <p:cNvPr id="96" name="Oval 89"/>
                <p:cNvSpPr>
                  <a:spLocks noChangeArrowheads="1"/>
                </p:cNvSpPr>
                <p:nvPr/>
              </p:nvSpPr>
              <p:spPr bwMode="auto">
                <a:xfrm>
                  <a:off x="6995" y="9692"/>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销售性质</a:t>
                  </a:r>
                  <a:endParaRPr lang="zh-CN" altLang="en-US" sz="1000" u="none">
                    <a:solidFill>
                      <a:srgbClr val="000000"/>
                    </a:solidFill>
                    <a:latin typeface="Times New Roman" panose="02020603050405020304" pitchFamily="18" charset="0"/>
                  </a:endParaRPr>
                </a:p>
              </p:txBody>
            </p:sp>
            <p:sp>
              <p:nvSpPr>
                <p:cNvPr id="97" name="Oval 90"/>
                <p:cNvSpPr>
                  <a:spLocks noChangeArrowheads="1"/>
                </p:cNvSpPr>
                <p:nvPr/>
              </p:nvSpPr>
              <p:spPr bwMode="auto">
                <a:xfrm>
                  <a:off x="8780" y="9692"/>
                  <a:ext cx="147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售货价格</a:t>
                  </a:r>
                  <a:endParaRPr lang="zh-CN" altLang="en-US" sz="1000" u="none">
                    <a:solidFill>
                      <a:srgbClr val="000000"/>
                    </a:solidFill>
                    <a:latin typeface="Times New Roman" panose="02020603050405020304" pitchFamily="18" charset="0"/>
                  </a:endParaRPr>
                </a:p>
                <a:p>
                  <a:pPr algn="ctr">
                    <a:spcBef>
                      <a:spcPct val="0"/>
                    </a:spcBef>
                    <a:buFontTx/>
                    <a:buNone/>
                  </a:pPr>
                  <a:endParaRPr lang="zh-CN" altLang="en-US" sz="1000" u="none">
                    <a:solidFill>
                      <a:srgbClr val="000000"/>
                    </a:solidFill>
                    <a:latin typeface="Times New Roman" panose="02020603050405020304" pitchFamily="18" charset="0"/>
                  </a:endParaRPr>
                </a:p>
              </p:txBody>
            </p:sp>
            <p:sp>
              <p:nvSpPr>
                <p:cNvPr id="98" name="AutoShape 91"/>
                <p:cNvSpPr>
                  <a:spLocks noChangeArrowheads="1"/>
                </p:cNvSpPr>
                <p:nvPr/>
              </p:nvSpPr>
              <p:spPr bwMode="auto">
                <a:xfrm>
                  <a:off x="5525" y="10784"/>
                  <a:ext cx="1470" cy="624"/>
                </a:xfrm>
                <a:prstGeom prst="flowChartDecision">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存在</a:t>
                  </a:r>
                  <a:endParaRPr lang="zh-CN" altLang="en-US" sz="1000" u="none">
                    <a:solidFill>
                      <a:srgbClr val="000000"/>
                    </a:solidFill>
                    <a:latin typeface="Times New Roman" panose="02020603050405020304" pitchFamily="18" charset="0"/>
                  </a:endParaRPr>
                </a:p>
              </p:txBody>
            </p:sp>
            <p:sp>
              <p:nvSpPr>
                <p:cNvPr id="99" name="Text Box 92"/>
                <p:cNvSpPr txBox="1">
                  <a:spLocks noChangeArrowheads="1"/>
                </p:cNvSpPr>
                <p:nvPr/>
              </p:nvSpPr>
              <p:spPr bwMode="auto">
                <a:xfrm>
                  <a:off x="7940" y="10940"/>
                  <a:ext cx="1575" cy="468"/>
                </a:xfrm>
                <a:prstGeom prst="rect">
                  <a:avLst/>
                </a:prstGeom>
                <a:solidFill>
                  <a:srgbClr val="FFFFFF"/>
                </a:solidFill>
                <a:ln w="38100" cmpd="dbl">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销售价格</a:t>
                  </a:r>
                  <a:endParaRPr lang="zh-CN" altLang="en-US" sz="1000" u="none">
                    <a:solidFill>
                      <a:srgbClr val="000000"/>
                    </a:solidFill>
                    <a:latin typeface="Times New Roman" panose="02020603050405020304" pitchFamily="18" charset="0"/>
                  </a:endParaRPr>
                </a:p>
              </p:txBody>
            </p:sp>
            <p:sp>
              <p:nvSpPr>
                <p:cNvPr id="100" name="Line 93"/>
                <p:cNvSpPr>
                  <a:spLocks noChangeShapeType="1"/>
                </p:cNvSpPr>
                <p:nvPr/>
              </p:nvSpPr>
              <p:spPr bwMode="auto">
                <a:xfrm>
                  <a:off x="3215" y="9848"/>
                  <a:ext cx="525"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1" name="Line 94"/>
                <p:cNvSpPr>
                  <a:spLocks noChangeShapeType="1"/>
                </p:cNvSpPr>
                <p:nvPr/>
              </p:nvSpPr>
              <p:spPr bwMode="auto">
                <a:xfrm>
                  <a:off x="2900" y="10472"/>
                  <a:ext cx="63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2" name="Line 95"/>
                <p:cNvSpPr>
                  <a:spLocks noChangeShapeType="1"/>
                </p:cNvSpPr>
                <p:nvPr/>
              </p:nvSpPr>
              <p:spPr bwMode="auto">
                <a:xfrm>
                  <a:off x="3950" y="9536"/>
                  <a:ext cx="0" cy="140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3" name="Line 96"/>
                <p:cNvSpPr>
                  <a:spLocks noChangeShapeType="1"/>
                </p:cNvSpPr>
                <p:nvPr/>
              </p:nvSpPr>
              <p:spPr bwMode="auto">
                <a:xfrm flipH="1">
                  <a:off x="4160" y="9848"/>
                  <a:ext cx="525"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4" name="Freeform 97"/>
                <p:cNvSpPr/>
                <p:nvPr/>
              </p:nvSpPr>
              <p:spPr bwMode="auto">
                <a:xfrm>
                  <a:off x="4371" y="10230"/>
                  <a:ext cx="924" cy="710"/>
                </a:xfrm>
                <a:custGeom>
                  <a:avLst/>
                  <a:gdLst>
                    <a:gd name="T0" fmla="*/ 924 w 924"/>
                    <a:gd name="T1" fmla="*/ 0 h 710"/>
                    <a:gd name="T2" fmla="*/ 0 w 924"/>
                    <a:gd name="T3" fmla="*/ 710 h 710"/>
                    <a:gd name="T4" fmla="*/ 0 60000 65536"/>
                    <a:gd name="T5" fmla="*/ 0 60000 65536"/>
                  </a:gdLst>
                  <a:ahLst/>
                  <a:cxnLst>
                    <a:cxn ang="T4">
                      <a:pos x="T0" y="T1"/>
                    </a:cxn>
                    <a:cxn ang="T5">
                      <a:pos x="T2" y="T3"/>
                    </a:cxn>
                  </a:cxnLst>
                  <a:rect l="0" t="0" r="r" b="b"/>
                  <a:pathLst>
                    <a:path w="924" h="710">
                      <a:moveTo>
                        <a:pt x="924" y="0"/>
                      </a:moveTo>
                      <a:lnTo>
                        <a:pt x="0" y="710"/>
                      </a:lnTo>
                    </a:path>
                  </a:pathLst>
                </a:cu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5" name="Line 98"/>
                <p:cNvSpPr>
                  <a:spLocks noChangeShapeType="1"/>
                </p:cNvSpPr>
                <p:nvPr/>
              </p:nvSpPr>
              <p:spPr bwMode="auto">
                <a:xfrm>
                  <a:off x="7835" y="10160"/>
                  <a:ext cx="42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6" name="Line 99"/>
                <p:cNvSpPr>
                  <a:spLocks noChangeShapeType="1"/>
                </p:cNvSpPr>
                <p:nvPr/>
              </p:nvSpPr>
              <p:spPr bwMode="auto">
                <a:xfrm flipH="1">
                  <a:off x="8885" y="10160"/>
                  <a:ext cx="525"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7" name="Line 100"/>
                <p:cNvSpPr>
                  <a:spLocks noChangeShapeType="1"/>
                </p:cNvSpPr>
                <p:nvPr/>
              </p:nvSpPr>
              <p:spPr bwMode="auto">
                <a:xfrm>
                  <a:off x="4685" y="11096"/>
                  <a:ext cx="84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8" name="Line 101"/>
                <p:cNvSpPr>
                  <a:spLocks noChangeShapeType="1"/>
                </p:cNvSpPr>
                <p:nvPr/>
              </p:nvSpPr>
              <p:spPr bwMode="auto">
                <a:xfrm>
                  <a:off x="6995" y="11096"/>
                  <a:ext cx="94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109" name="Text Box 102"/>
                <p:cNvSpPr txBox="1">
                  <a:spLocks noChangeArrowheads="1"/>
                </p:cNvSpPr>
                <p:nvPr/>
              </p:nvSpPr>
              <p:spPr bwMode="auto">
                <a:xfrm>
                  <a:off x="5000" y="10628"/>
                  <a:ext cx="420" cy="31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1</a:t>
                  </a:r>
                  <a:endParaRPr lang="en-US" altLang="zh-CN" sz="1000" u="none">
                    <a:solidFill>
                      <a:srgbClr val="000000"/>
                    </a:solidFill>
                    <a:latin typeface="Times New Roman" panose="02020603050405020304" pitchFamily="18" charset="0"/>
                  </a:endParaRPr>
                </a:p>
              </p:txBody>
            </p:sp>
            <p:sp>
              <p:nvSpPr>
                <p:cNvPr id="110" name="Text Box 103"/>
                <p:cNvSpPr txBox="1">
                  <a:spLocks noChangeArrowheads="1"/>
                </p:cNvSpPr>
                <p:nvPr/>
              </p:nvSpPr>
              <p:spPr bwMode="auto">
                <a:xfrm>
                  <a:off x="7310" y="10628"/>
                  <a:ext cx="420" cy="31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grpSp>
        </p:grpSp>
        <p:grpSp>
          <p:nvGrpSpPr>
            <p:cNvPr id="83" name="Group 104"/>
            <p:cNvGrpSpPr/>
            <p:nvPr/>
          </p:nvGrpSpPr>
          <p:grpSpPr bwMode="auto">
            <a:xfrm>
              <a:off x="5703" y="10858"/>
              <a:ext cx="1140" cy="495"/>
              <a:chOff x="5703" y="10858"/>
              <a:chExt cx="1140" cy="495"/>
            </a:xfrm>
          </p:grpSpPr>
          <p:sp>
            <p:nvSpPr>
              <p:cNvPr id="84" name="Freeform 105"/>
              <p:cNvSpPr/>
              <p:nvPr/>
            </p:nvSpPr>
            <p:spPr bwMode="auto">
              <a:xfrm>
                <a:off x="5703" y="11113"/>
                <a:ext cx="570" cy="240"/>
              </a:xfrm>
              <a:custGeom>
                <a:avLst/>
                <a:gdLst>
                  <a:gd name="T0" fmla="*/ 0 w 570"/>
                  <a:gd name="T1" fmla="*/ 0 h 240"/>
                  <a:gd name="T2" fmla="*/ 570 w 570"/>
                  <a:gd name="T3" fmla="*/ 240 h 240"/>
                  <a:gd name="T4" fmla="*/ 0 60000 65536"/>
                  <a:gd name="T5" fmla="*/ 0 60000 65536"/>
                </a:gdLst>
                <a:ahLst/>
                <a:cxnLst>
                  <a:cxn ang="T4">
                    <a:pos x="T0" y="T1"/>
                  </a:cxn>
                  <a:cxn ang="T5">
                    <a:pos x="T2" y="T3"/>
                  </a:cxn>
                </a:cxnLst>
                <a:rect l="0" t="0" r="r" b="b"/>
                <a:pathLst>
                  <a:path w="570" h="240">
                    <a:moveTo>
                      <a:pt x="0" y="0"/>
                    </a:moveTo>
                    <a:lnTo>
                      <a:pt x="570" y="24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85" name="Freeform 106"/>
              <p:cNvSpPr/>
              <p:nvPr/>
            </p:nvSpPr>
            <p:spPr bwMode="auto">
              <a:xfrm>
                <a:off x="6288" y="11113"/>
                <a:ext cx="555" cy="225"/>
              </a:xfrm>
              <a:custGeom>
                <a:avLst/>
                <a:gdLst>
                  <a:gd name="T0" fmla="*/ 0 w 555"/>
                  <a:gd name="T1" fmla="*/ 225 h 225"/>
                  <a:gd name="T2" fmla="*/ 555 w 555"/>
                  <a:gd name="T3" fmla="*/ 0 h 225"/>
                  <a:gd name="T4" fmla="*/ 0 60000 65536"/>
                  <a:gd name="T5" fmla="*/ 0 60000 65536"/>
                </a:gdLst>
                <a:ahLst/>
                <a:cxnLst>
                  <a:cxn ang="T4">
                    <a:pos x="T0" y="T1"/>
                  </a:cxn>
                  <a:cxn ang="T5">
                    <a:pos x="T2" y="T3"/>
                  </a:cxn>
                </a:cxnLst>
                <a:rect l="0" t="0" r="r" b="b"/>
                <a:pathLst>
                  <a:path w="555" h="225">
                    <a:moveTo>
                      <a:pt x="0" y="225"/>
                    </a:moveTo>
                    <a:lnTo>
                      <a:pt x="55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86" name="Freeform 107"/>
              <p:cNvSpPr/>
              <p:nvPr/>
            </p:nvSpPr>
            <p:spPr bwMode="auto">
              <a:xfrm>
                <a:off x="6273" y="10858"/>
                <a:ext cx="570" cy="255"/>
              </a:xfrm>
              <a:custGeom>
                <a:avLst/>
                <a:gdLst>
                  <a:gd name="T0" fmla="*/ 570 w 570"/>
                  <a:gd name="T1" fmla="*/ 255 h 255"/>
                  <a:gd name="T2" fmla="*/ 0 w 570"/>
                  <a:gd name="T3" fmla="*/ 0 h 255"/>
                  <a:gd name="T4" fmla="*/ 0 60000 65536"/>
                  <a:gd name="T5" fmla="*/ 0 60000 65536"/>
                </a:gdLst>
                <a:ahLst/>
                <a:cxnLst>
                  <a:cxn ang="T4">
                    <a:pos x="T0" y="T1"/>
                  </a:cxn>
                  <a:cxn ang="T5">
                    <a:pos x="T2" y="T3"/>
                  </a:cxn>
                </a:cxnLst>
                <a:rect l="0" t="0" r="r" b="b"/>
                <a:pathLst>
                  <a:path w="570" h="255">
                    <a:moveTo>
                      <a:pt x="570" y="255"/>
                    </a:moveTo>
                    <a:lnTo>
                      <a:pt x="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sp>
            <p:nvSpPr>
              <p:cNvPr id="87" name="Freeform 108"/>
              <p:cNvSpPr/>
              <p:nvPr/>
            </p:nvSpPr>
            <p:spPr bwMode="auto">
              <a:xfrm>
                <a:off x="5703" y="10858"/>
                <a:ext cx="555" cy="255"/>
              </a:xfrm>
              <a:custGeom>
                <a:avLst/>
                <a:gdLst>
                  <a:gd name="T0" fmla="*/ 555 w 555"/>
                  <a:gd name="T1" fmla="*/ 0 h 255"/>
                  <a:gd name="T2" fmla="*/ 0 w 555"/>
                  <a:gd name="T3" fmla="*/ 255 h 255"/>
                  <a:gd name="T4" fmla="*/ 0 60000 65536"/>
                  <a:gd name="T5" fmla="*/ 0 60000 65536"/>
                </a:gdLst>
                <a:ahLst/>
                <a:cxnLst>
                  <a:cxn ang="T4">
                    <a:pos x="T0" y="T1"/>
                  </a:cxn>
                  <a:cxn ang="T5">
                    <a:pos x="T2" y="T3"/>
                  </a:cxn>
                </a:cxnLst>
                <a:rect l="0" t="0" r="r" b="b"/>
                <a:pathLst>
                  <a:path w="555" h="255">
                    <a:moveTo>
                      <a:pt x="555" y="0"/>
                    </a:moveTo>
                    <a:lnTo>
                      <a:pt x="0" y="25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endParaRPr lang="zh-CN" altLang="en-US"/>
              </a:p>
            </p:txBody>
          </p:sp>
        </p:grpSp>
      </p:grpSp>
      <p:sp>
        <p:nvSpPr>
          <p:cNvPr id="111" name="Oval 109"/>
          <p:cNvSpPr>
            <a:spLocks noChangeArrowheads="1"/>
          </p:cNvSpPr>
          <p:nvPr/>
        </p:nvSpPr>
        <p:spPr bwMode="auto">
          <a:xfrm>
            <a:off x="4269551" y="4595445"/>
            <a:ext cx="1219200" cy="457200"/>
          </a:xfrm>
          <a:prstGeom prst="ellipse">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000" b="1">
                <a:solidFill>
                  <a:srgbClr val="000000"/>
                </a:solidFill>
                <a:latin typeface="Tahoma" panose="020B0604030504040204" pitchFamily="34" charset="0"/>
              </a:rPr>
              <a:t>零件编码</a:t>
            </a:r>
            <a:endParaRPr kumimoji="1" lang="zh-CN" altLang="en-US" sz="2000" b="1">
              <a:solidFill>
                <a:srgbClr val="000000"/>
              </a:solidFill>
              <a:latin typeface="Tahoma" panose="020B0604030504040204" pitchFamily="34" charset="0"/>
            </a:endParaRPr>
          </a:p>
        </p:txBody>
      </p:sp>
      <p:sp>
        <p:nvSpPr>
          <p:cNvPr id="112" name="AutoShape 110"/>
          <p:cNvSpPr>
            <a:spLocks noChangeArrowheads="1"/>
          </p:cNvSpPr>
          <p:nvPr/>
        </p:nvSpPr>
        <p:spPr bwMode="auto">
          <a:xfrm>
            <a:off x="7850951" y="4443045"/>
            <a:ext cx="152400" cy="609600"/>
          </a:xfrm>
          <a:prstGeom prst="star4">
            <a:avLst>
              <a:gd name="adj" fmla="val 2187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13" name="AutoShape 111"/>
          <p:cNvSpPr>
            <a:spLocks noChangeArrowheads="1"/>
          </p:cNvSpPr>
          <p:nvPr/>
        </p:nvSpPr>
        <p:spPr bwMode="auto">
          <a:xfrm>
            <a:off x="11127551" y="2461845"/>
            <a:ext cx="152400" cy="609600"/>
          </a:xfrm>
          <a:prstGeom prst="star4">
            <a:avLst>
              <a:gd name="adj" fmla="val 2187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14" name="Rectangle 3"/>
          <p:cNvSpPr txBox="1">
            <a:spLocks noChangeArrowheads="1"/>
          </p:cNvSpPr>
          <p:nvPr/>
        </p:nvSpPr>
        <p:spPr>
          <a:xfrm>
            <a:off x="175918" y="1837005"/>
            <a:ext cx="4114800" cy="4191000"/>
          </a:xfrm>
          <a:prstGeom prst="rect">
            <a:avLst/>
          </a:prstGeom>
        </p:spPr>
        <p:txBody>
          <a:bodyPr vert="horz" lIns="91440" tIns="45720" rIns="91440" bIns="45720" rtlCol="0">
            <a:no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sz="2000" dirty="0">
                <a:solidFill>
                  <a:srgbClr val="000000"/>
                </a:solidFill>
              </a:rPr>
              <a:t>基本属性和复合属性（可否再分）</a:t>
            </a:r>
            <a:endParaRPr lang="zh-CN" altLang="en-US" sz="2000" dirty="0">
              <a:solidFill>
                <a:srgbClr val="000000"/>
              </a:solidFill>
            </a:endParaRPr>
          </a:p>
          <a:p>
            <a:pPr lvl="1"/>
            <a:r>
              <a:rPr lang="zh-CN" altLang="en-US" sz="2000" dirty="0">
                <a:solidFill>
                  <a:srgbClr val="000000"/>
                </a:solidFill>
              </a:rPr>
              <a:t>单值属性和多值属性（对一个实体对象是否只能取一个值）</a:t>
            </a:r>
            <a:endParaRPr lang="zh-CN" altLang="en-US" sz="2000" dirty="0">
              <a:solidFill>
                <a:srgbClr val="000000"/>
              </a:solidFill>
            </a:endParaRPr>
          </a:p>
          <a:p>
            <a:pPr lvl="1"/>
            <a:r>
              <a:rPr lang="zh-CN" altLang="en-US" sz="2000" dirty="0">
                <a:solidFill>
                  <a:srgbClr val="000000"/>
                </a:solidFill>
              </a:rPr>
              <a:t>多值属性的处理</a:t>
            </a:r>
            <a:endParaRPr lang="zh-CN" altLang="en-US" sz="2000" dirty="0">
              <a:solidFill>
                <a:srgbClr val="000000"/>
              </a:solidFill>
            </a:endParaRPr>
          </a:p>
          <a:p>
            <a:pPr lvl="2"/>
            <a:r>
              <a:rPr lang="zh-CN" altLang="en-US" sz="1800" dirty="0">
                <a:solidFill>
                  <a:srgbClr val="000000"/>
                </a:solidFill>
              </a:rPr>
              <a:t>将原来的多值属性用几个新的单值属性来表示。 </a:t>
            </a:r>
            <a:endParaRPr lang="zh-CN" altLang="en-US" sz="1800" dirty="0">
              <a:solidFill>
                <a:srgbClr val="000000"/>
              </a:solidFill>
            </a:endParaRPr>
          </a:p>
          <a:p>
            <a:pPr lvl="2"/>
            <a:r>
              <a:rPr lang="zh-CN" altLang="en-US" sz="1800" dirty="0">
                <a:solidFill>
                  <a:srgbClr val="000000"/>
                </a:solidFill>
              </a:rPr>
              <a:t>将原来的多值属性用一个新的实体类型表示 </a:t>
            </a:r>
            <a:endParaRPr lang="zh-CN" altLang="en-US" sz="1800" dirty="0">
              <a:solidFill>
                <a:srgbClr val="000000"/>
              </a:solidFill>
            </a:endParaRPr>
          </a:p>
          <a:p>
            <a:pPr lvl="1"/>
            <a:r>
              <a:rPr lang="zh-CN" altLang="en-US" sz="2000" dirty="0">
                <a:solidFill>
                  <a:srgbClr val="000000"/>
                </a:solidFill>
              </a:rPr>
              <a:t>导出属性</a:t>
            </a:r>
            <a:endParaRPr lang="zh-CN" altLang="en-US" sz="2000" dirty="0">
              <a:solidFill>
                <a:srgbClr val="000000"/>
              </a:solidFill>
            </a:endParaRPr>
          </a:p>
          <a:p>
            <a:pPr lvl="1"/>
            <a:r>
              <a:rPr lang="zh-CN" altLang="en-US" sz="2000" dirty="0">
                <a:solidFill>
                  <a:srgbClr val="000000"/>
                </a:solidFill>
              </a:rPr>
              <a:t>空值</a:t>
            </a:r>
            <a:endParaRPr lang="zh-CN" altLang="en-US" sz="2000" dirty="0">
              <a:solidFill>
                <a:srgbClr val="000000"/>
              </a:solidFill>
            </a:endParaRPr>
          </a:p>
        </p:txBody>
      </p:sp>
      <p:sp>
        <p:nvSpPr>
          <p:cNvPr id="117" name="内容占位符 1"/>
          <p:cNvSpPr>
            <a:spLocks noGrp="1"/>
          </p:cNvSpPr>
          <p:nvPr>
            <p:ph idx="1"/>
          </p:nvPr>
        </p:nvSpPr>
        <p:spPr>
          <a:xfrm>
            <a:off x="397163" y="1219203"/>
            <a:ext cx="11453091" cy="4957760"/>
          </a:xfrm>
        </p:spPr>
        <p:txBody>
          <a:bodyPr>
            <a:normAutofit/>
          </a:bodyPr>
          <a:lstStyle/>
          <a:p>
            <a:r>
              <a:rPr lang="zh-CN" altLang="en-US" dirty="0"/>
              <a:t>实体和属性的设计</a:t>
            </a:r>
            <a:endParaRPr lang="en-US" altLang="zh-CN" dirty="0"/>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8"/>
                                        </p:tgtEl>
                                        <p:attrNameLst>
                                          <p:attrName>style.visibility</p:attrName>
                                        </p:attrNameLst>
                                      </p:cBhvr>
                                      <p:to>
                                        <p:strVal val="visible"/>
                                      </p:to>
                                    </p:set>
                                  </p:childTnLst>
                                  <p:subTnLst>
                                    <p:set>
                                      <p:cBhvr override="childStyle">
                                        <p:cTn dur="1" fill="hold" display="0" masterRel="nextClick" afterEffect="1"/>
                                        <p:tgtEl>
                                          <p:spTgt spid="5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81"/>
                                        </p:tgtEl>
                                        <p:attrNameLst>
                                          <p:attrName>style.visibility</p:attrName>
                                        </p:attrNameLst>
                                      </p:cBhvr>
                                      <p:to>
                                        <p:strVal val="visible"/>
                                      </p:to>
                                    </p:set>
                                  </p:childTnLst>
                                  <p:subTnLst>
                                    <p:set>
                                      <p:cBhvr override="childStyle">
                                        <p:cTn dur="1" fill="hold" display="0" masterRel="nextClick" afterEffect="1"/>
                                        <p:tgtEl>
                                          <p:spTgt spid="8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autoUpdateAnimBg="0"/>
      <p:bldP spid="112" grpId="0" animBg="1"/>
      <p:bldP spid="1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联系的设计</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Line 4"/>
          <p:cNvSpPr>
            <a:spLocks noChangeShapeType="1"/>
          </p:cNvSpPr>
          <p:nvPr/>
        </p:nvSpPr>
        <p:spPr bwMode="auto">
          <a:xfrm>
            <a:off x="7346487" y="1434903"/>
            <a:ext cx="0" cy="502920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7" name="Group 5"/>
          <p:cNvGrpSpPr/>
          <p:nvPr/>
        </p:nvGrpSpPr>
        <p:grpSpPr bwMode="auto">
          <a:xfrm>
            <a:off x="7294099" y="1511103"/>
            <a:ext cx="3886200" cy="4267200"/>
            <a:chOff x="3312" y="1200"/>
            <a:chExt cx="2448" cy="2688"/>
          </a:xfrm>
        </p:grpSpPr>
        <p:grpSp>
          <p:nvGrpSpPr>
            <p:cNvPr id="8" name="Group 6"/>
            <p:cNvGrpSpPr/>
            <p:nvPr/>
          </p:nvGrpSpPr>
          <p:grpSpPr bwMode="auto">
            <a:xfrm>
              <a:off x="3312" y="1200"/>
              <a:ext cx="2448" cy="2688"/>
              <a:chOff x="3312" y="1200"/>
              <a:chExt cx="2448" cy="2688"/>
            </a:xfrm>
          </p:grpSpPr>
          <p:sp>
            <p:nvSpPr>
              <p:cNvPr id="12" name="Text Box 7"/>
              <p:cNvSpPr txBox="1">
                <a:spLocks noChangeArrowheads="1"/>
              </p:cNvSpPr>
              <p:nvPr/>
            </p:nvSpPr>
            <p:spPr bwMode="auto">
              <a:xfrm>
                <a:off x="3312" y="1200"/>
                <a:ext cx="2448"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问题：运动员根据其得分来排定名次。在名次排列中，排在他前面只有一个人排在他后面也只有一个人</a:t>
                </a:r>
                <a:r>
                  <a:rPr kumimoji="1" lang="zh-CN" altLang="en-US" sz="2400" u="none">
                    <a:solidFill>
                      <a:srgbClr val="000000"/>
                    </a:solidFill>
                    <a:latin typeface="Tahoma" panose="020B0604030504040204" pitchFamily="34" charset="0"/>
                  </a:rPr>
                  <a:t> </a:t>
                </a:r>
                <a:endParaRPr kumimoji="1" lang="zh-CN" altLang="en-US" sz="2400" u="none">
                  <a:solidFill>
                    <a:srgbClr val="000000"/>
                  </a:solidFill>
                  <a:latin typeface="Tahoma" panose="020B0604030504040204" pitchFamily="34" charset="0"/>
                </a:endParaRPr>
              </a:p>
            </p:txBody>
          </p:sp>
          <p:grpSp>
            <p:nvGrpSpPr>
              <p:cNvPr id="13" name="Group 8"/>
              <p:cNvGrpSpPr/>
              <p:nvPr/>
            </p:nvGrpSpPr>
            <p:grpSpPr bwMode="auto">
              <a:xfrm>
                <a:off x="3456" y="2064"/>
                <a:ext cx="2208" cy="1392"/>
                <a:chOff x="3900" y="3864"/>
                <a:chExt cx="3990" cy="2652"/>
              </a:xfrm>
            </p:grpSpPr>
            <p:grpSp>
              <p:nvGrpSpPr>
                <p:cNvPr id="15" name="Group 9"/>
                <p:cNvGrpSpPr/>
                <p:nvPr/>
              </p:nvGrpSpPr>
              <p:grpSpPr bwMode="auto">
                <a:xfrm>
                  <a:off x="3900" y="3864"/>
                  <a:ext cx="3990" cy="2652"/>
                  <a:chOff x="3900" y="8704"/>
                  <a:chExt cx="3990" cy="2652"/>
                </a:xfrm>
              </p:grpSpPr>
              <p:sp>
                <p:nvSpPr>
                  <p:cNvPr id="29" name="Rectangle 10"/>
                  <p:cNvSpPr>
                    <a:spLocks noChangeArrowheads="1"/>
                  </p:cNvSpPr>
                  <p:nvPr/>
                </p:nvSpPr>
                <p:spPr bwMode="auto">
                  <a:xfrm>
                    <a:off x="5265" y="9640"/>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运动员</a:t>
                    </a:r>
                    <a:endParaRPr lang="zh-CN" altLang="en-US" sz="1000" u="none">
                      <a:solidFill>
                        <a:srgbClr val="000000"/>
                      </a:solidFill>
                      <a:latin typeface="Times New Roman" panose="02020603050405020304" pitchFamily="18" charset="0"/>
                    </a:endParaRPr>
                  </a:p>
                </p:txBody>
              </p:sp>
              <p:sp>
                <p:nvSpPr>
                  <p:cNvPr id="30" name="Oval 11"/>
                  <p:cNvSpPr>
                    <a:spLocks noChangeArrowheads="1"/>
                  </p:cNvSpPr>
                  <p:nvPr/>
                </p:nvSpPr>
                <p:spPr bwMode="auto">
                  <a:xfrm>
                    <a:off x="390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编号</a:t>
                    </a:r>
                    <a:endParaRPr lang="zh-CN" altLang="en-US" sz="1000">
                      <a:solidFill>
                        <a:srgbClr val="000000"/>
                      </a:solidFill>
                      <a:latin typeface="Times New Roman" panose="02020603050405020304" pitchFamily="18" charset="0"/>
                    </a:endParaRPr>
                  </a:p>
                </p:txBody>
              </p:sp>
              <p:sp>
                <p:nvSpPr>
                  <p:cNvPr id="31" name="Oval 12"/>
                  <p:cNvSpPr>
                    <a:spLocks noChangeArrowheads="1"/>
                  </p:cNvSpPr>
                  <p:nvPr/>
                </p:nvSpPr>
                <p:spPr bwMode="auto">
                  <a:xfrm>
                    <a:off x="495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姓名</a:t>
                    </a:r>
                    <a:endParaRPr lang="zh-CN" altLang="en-US" sz="1000" u="none">
                      <a:solidFill>
                        <a:srgbClr val="000000"/>
                      </a:solidFill>
                      <a:latin typeface="Times New Roman" panose="02020603050405020304" pitchFamily="18" charset="0"/>
                    </a:endParaRPr>
                  </a:p>
                </p:txBody>
              </p:sp>
              <p:sp>
                <p:nvSpPr>
                  <p:cNvPr id="32" name="Oval 13"/>
                  <p:cNvSpPr>
                    <a:spLocks noChangeArrowheads="1"/>
                  </p:cNvSpPr>
                  <p:nvPr/>
                </p:nvSpPr>
                <p:spPr bwMode="auto">
                  <a:xfrm>
                    <a:off x="600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性别</a:t>
                    </a:r>
                    <a:endParaRPr lang="zh-CN" altLang="en-US" sz="1000" u="none">
                      <a:solidFill>
                        <a:srgbClr val="000000"/>
                      </a:solidFill>
                      <a:latin typeface="Times New Roman" panose="02020603050405020304" pitchFamily="18" charset="0"/>
                    </a:endParaRPr>
                  </a:p>
                </p:txBody>
              </p:sp>
              <p:sp>
                <p:nvSpPr>
                  <p:cNvPr id="33" name="Oval 14"/>
                  <p:cNvSpPr>
                    <a:spLocks noChangeArrowheads="1"/>
                  </p:cNvSpPr>
                  <p:nvPr/>
                </p:nvSpPr>
                <p:spPr bwMode="auto">
                  <a:xfrm>
                    <a:off x="705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名次</a:t>
                    </a:r>
                    <a:endParaRPr lang="zh-CN" altLang="en-US" sz="1000" u="none">
                      <a:solidFill>
                        <a:srgbClr val="000000"/>
                      </a:solidFill>
                      <a:latin typeface="Times New Roman" panose="02020603050405020304" pitchFamily="18" charset="0"/>
                    </a:endParaRPr>
                  </a:p>
                </p:txBody>
              </p:sp>
              <p:sp>
                <p:nvSpPr>
                  <p:cNvPr id="34" name="AutoShape 15"/>
                  <p:cNvSpPr>
                    <a:spLocks noChangeArrowheads="1"/>
                  </p:cNvSpPr>
                  <p:nvPr/>
                </p:nvSpPr>
                <p:spPr bwMode="auto">
                  <a:xfrm>
                    <a:off x="5160" y="10732"/>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顺序</a:t>
                    </a:r>
                    <a:endParaRPr lang="zh-CN" altLang="en-US" sz="1000" u="none">
                      <a:solidFill>
                        <a:srgbClr val="000000"/>
                      </a:solidFill>
                      <a:latin typeface="Times New Roman" panose="02020603050405020304" pitchFamily="18" charset="0"/>
                    </a:endParaRPr>
                  </a:p>
                </p:txBody>
              </p:sp>
            </p:grpSp>
            <p:grpSp>
              <p:nvGrpSpPr>
                <p:cNvPr id="16" name="Group 16"/>
                <p:cNvGrpSpPr/>
                <p:nvPr/>
              </p:nvGrpSpPr>
              <p:grpSpPr bwMode="auto">
                <a:xfrm>
                  <a:off x="4005" y="4332"/>
                  <a:ext cx="3675" cy="1872"/>
                  <a:chOff x="4005" y="4332"/>
                  <a:chExt cx="3675" cy="1872"/>
                </a:xfrm>
              </p:grpSpPr>
              <p:sp>
                <p:nvSpPr>
                  <p:cNvPr id="17" name="Line 17"/>
                  <p:cNvSpPr>
                    <a:spLocks noChangeShapeType="1"/>
                  </p:cNvSpPr>
                  <p:nvPr/>
                </p:nvSpPr>
                <p:spPr bwMode="auto">
                  <a:xfrm>
                    <a:off x="4425" y="4332"/>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18"/>
                  <p:cNvSpPr>
                    <a:spLocks noChangeShapeType="1"/>
                  </p:cNvSpPr>
                  <p:nvPr/>
                </p:nvSpPr>
                <p:spPr bwMode="auto">
                  <a:xfrm>
                    <a:off x="5475" y="4332"/>
                    <a:ext cx="21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19"/>
                  <p:cNvSpPr>
                    <a:spLocks noChangeShapeType="1"/>
                  </p:cNvSpPr>
                  <p:nvPr/>
                </p:nvSpPr>
                <p:spPr bwMode="auto">
                  <a:xfrm flipH="1">
                    <a:off x="5895" y="4332"/>
                    <a:ext cx="42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20"/>
                  <p:cNvSpPr>
                    <a:spLocks noChangeShapeType="1"/>
                  </p:cNvSpPr>
                  <p:nvPr/>
                </p:nvSpPr>
                <p:spPr bwMode="auto">
                  <a:xfrm flipH="1">
                    <a:off x="6105" y="4332"/>
                    <a:ext cx="126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Line 21"/>
                  <p:cNvSpPr>
                    <a:spLocks noChangeShapeType="1"/>
                  </p:cNvSpPr>
                  <p:nvPr/>
                </p:nvSpPr>
                <p:spPr bwMode="auto">
                  <a:xfrm>
                    <a:off x="4635" y="5112"/>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 name="Line 22"/>
                  <p:cNvSpPr>
                    <a:spLocks noChangeShapeType="1"/>
                  </p:cNvSpPr>
                  <p:nvPr/>
                </p:nvSpPr>
                <p:spPr bwMode="auto">
                  <a:xfrm>
                    <a:off x="4635" y="51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Line 23"/>
                  <p:cNvSpPr>
                    <a:spLocks noChangeShapeType="1"/>
                  </p:cNvSpPr>
                  <p:nvPr/>
                </p:nvSpPr>
                <p:spPr bwMode="auto">
                  <a:xfrm>
                    <a:off x="4635" y="6204"/>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Line 24"/>
                  <p:cNvSpPr>
                    <a:spLocks noChangeShapeType="1"/>
                  </p:cNvSpPr>
                  <p:nvPr/>
                </p:nvSpPr>
                <p:spPr bwMode="auto">
                  <a:xfrm>
                    <a:off x="6315" y="5112"/>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25"/>
                  <p:cNvSpPr>
                    <a:spLocks noChangeShapeType="1"/>
                  </p:cNvSpPr>
                  <p:nvPr/>
                </p:nvSpPr>
                <p:spPr bwMode="auto">
                  <a:xfrm>
                    <a:off x="7050" y="51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Line 26"/>
                  <p:cNvSpPr>
                    <a:spLocks noChangeShapeType="1"/>
                  </p:cNvSpPr>
                  <p:nvPr/>
                </p:nvSpPr>
                <p:spPr bwMode="auto">
                  <a:xfrm flipH="1">
                    <a:off x="6420" y="6204"/>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Rectangle 27"/>
                  <p:cNvSpPr>
                    <a:spLocks noChangeArrowheads="1"/>
                  </p:cNvSpPr>
                  <p:nvPr/>
                </p:nvSpPr>
                <p:spPr bwMode="auto">
                  <a:xfrm>
                    <a:off x="4005" y="52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1</a:t>
                    </a:r>
                    <a:endParaRPr lang="en-US" altLang="zh-CN" sz="1000" u="none">
                      <a:solidFill>
                        <a:srgbClr val="000000"/>
                      </a:solidFill>
                      <a:latin typeface="Times New Roman" panose="02020603050405020304" pitchFamily="18" charset="0"/>
                    </a:endParaRPr>
                  </a:p>
                </p:txBody>
              </p:sp>
              <p:sp>
                <p:nvSpPr>
                  <p:cNvPr id="28" name="Rectangle 28"/>
                  <p:cNvSpPr>
                    <a:spLocks noChangeArrowheads="1"/>
                  </p:cNvSpPr>
                  <p:nvPr/>
                </p:nvSpPr>
                <p:spPr bwMode="auto">
                  <a:xfrm>
                    <a:off x="7155" y="52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1</a:t>
                    </a:r>
                    <a:endParaRPr lang="en-US" altLang="zh-CN" sz="1000" u="none">
                      <a:solidFill>
                        <a:srgbClr val="000000"/>
                      </a:solidFill>
                      <a:latin typeface="Times New Roman" panose="02020603050405020304" pitchFamily="18" charset="0"/>
                    </a:endParaRPr>
                  </a:p>
                </p:txBody>
              </p:sp>
            </p:grpSp>
          </p:grpSp>
          <p:sp>
            <p:nvSpPr>
              <p:cNvPr id="14" name="Text Box 29"/>
              <p:cNvSpPr txBox="1">
                <a:spLocks noChangeArrowheads="1"/>
              </p:cNvSpPr>
              <p:nvPr/>
            </p:nvSpPr>
            <p:spPr bwMode="auto">
              <a:xfrm>
                <a:off x="3648" y="3600"/>
                <a:ext cx="19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图</a:t>
                </a:r>
                <a:r>
                  <a:rPr kumimoji="1" lang="en-US" altLang="zh-CN" sz="1800" u="none">
                    <a:solidFill>
                      <a:srgbClr val="000000"/>
                    </a:solidFill>
                  </a:rPr>
                  <a:t>7.9 </a:t>
                </a:r>
                <a:r>
                  <a:rPr kumimoji="1" lang="zh-CN" altLang="en-US" sz="1800" u="none">
                    <a:solidFill>
                      <a:srgbClr val="000000"/>
                    </a:solidFill>
                  </a:rPr>
                  <a:t>一元联系中的</a:t>
                </a:r>
                <a:r>
                  <a:rPr kumimoji="1" lang="en-US" altLang="zh-CN" sz="1800" u="none">
                    <a:solidFill>
                      <a:srgbClr val="000000"/>
                    </a:solidFill>
                  </a:rPr>
                  <a:t>1:1</a:t>
                </a:r>
                <a:r>
                  <a:rPr kumimoji="1" lang="zh-CN" altLang="en-US" sz="1800" u="none">
                    <a:solidFill>
                      <a:srgbClr val="000000"/>
                    </a:solidFill>
                  </a:rPr>
                  <a:t>联系</a:t>
                </a:r>
                <a:r>
                  <a:rPr kumimoji="1" lang="zh-CN" altLang="en-US" sz="2400" u="none">
                    <a:solidFill>
                      <a:srgbClr val="000000"/>
                    </a:solidFill>
                    <a:latin typeface="Tahoma" panose="020B0604030504040204" pitchFamily="34" charset="0"/>
                  </a:rPr>
                  <a:t> </a:t>
                </a:r>
                <a:endParaRPr kumimoji="1" lang="zh-CN" altLang="en-US" sz="2400" u="none">
                  <a:solidFill>
                    <a:srgbClr val="000000"/>
                  </a:solidFill>
                  <a:latin typeface="Tahoma" panose="020B0604030504040204" pitchFamily="34" charset="0"/>
                </a:endParaRPr>
              </a:p>
            </p:txBody>
          </p:sp>
        </p:grpSp>
        <p:sp>
          <p:nvSpPr>
            <p:cNvPr id="9" name="Oval 30"/>
            <p:cNvSpPr>
              <a:spLocks noChangeArrowheads="1"/>
            </p:cNvSpPr>
            <p:nvPr/>
          </p:nvSpPr>
          <p:spPr bwMode="auto">
            <a:xfrm>
              <a:off x="3552" y="2736"/>
              <a:ext cx="192" cy="288"/>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0" name="Oval 31"/>
            <p:cNvSpPr>
              <a:spLocks noChangeArrowheads="1"/>
            </p:cNvSpPr>
            <p:nvPr/>
          </p:nvSpPr>
          <p:spPr bwMode="auto">
            <a:xfrm>
              <a:off x="5280" y="2736"/>
              <a:ext cx="192" cy="288"/>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1" name="Rectangle 32"/>
            <p:cNvSpPr>
              <a:spLocks noChangeArrowheads="1"/>
            </p:cNvSpPr>
            <p:nvPr/>
          </p:nvSpPr>
          <p:spPr bwMode="auto">
            <a:xfrm>
              <a:off x="4080" y="3648"/>
              <a:ext cx="336" cy="192"/>
            </a:xfrm>
            <a:prstGeom prst="rect">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35" name="Group 33"/>
          <p:cNvGrpSpPr/>
          <p:nvPr/>
        </p:nvGrpSpPr>
        <p:grpSpPr bwMode="auto">
          <a:xfrm>
            <a:off x="7827499" y="1663503"/>
            <a:ext cx="3352800" cy="4114800"/>
            <a:chOff x="3504" y="1296"/>
            <a:chExt cx="2112" cy="2592"/>
          </a:xfrm>
        </p:grpSpPr>
        <p:grpSp>
          <p:nvGrpSpPr>
            <p:cNvPr id="36" name="Group 34"/>
            <p:cNvGrpSpPr/>
            <p:nvPr/>
          </p:nvGrpSpPr>
          <p:grpSpPr bwMode="auto">
            <a:xfrm>
              <a:off x="3504" y="1296"/>
              <a:ext cx="2112" cy="2592"/>
              <a:chOff x="3648" y="1296"/>
              <a:chExt cx="2112" cy="2592"/>
            </a:xfrm>
          </p:grpSpPr>
          <p:sp>
            <p:nvSpPr>
              <p:cNvPr id="39" name="Text Box 35"/>
              <p:cNvSpPr txBox="1">
                <a:spLocks noChangeArrowheads="1"/>
              </p:cNvSpPr>
              <p:nvPr/>
            </p:nvSpPr>
            <p:spPr bwMode="auto">
              <a:xfrm>
                <a:off x="3696" y="1296"/>
                <a:ext cx="16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职工之间的上下级联系</a:t>
                </a:r>
                <a:r>
                  <a:rPr kumimoji="1" lang="zh-CN" altLang="en-US" sz="2400" u="none">
                    <a:solidFill>
                      <a:srgbClr val="000000"/>
                    </a:solidFill>
                    <a:latin typeface="Tahoma" panose="020B0604030504040204" pitchFamily="34" charset="0"/>
                  </a:rPr>
                  <a:t> </a:t>
                </a:r>
                <a:endParaRPr kumimoji="1" lang="zh-CN" altLang="en-US" sz="2400" u="none">
                  <a:solidFill>
                    <a:srgbClr val="000000"/>
                  </a:solidFill>
                  <a:latin typeface="Tahoma" panose="020B0604030504040204" pitchFamily="34" charset="0"/>
                </a:endParaRPr>
              </a:p>
            </p:txBody>
          </p:sp>
          <p:grpSp>
            <p:nvGrpSpPr>
              <p:cNvPr id="40" name="Group 36"/>
              <p:cNvGrpSpPr/>
              <p:nvPr/>
            </p:nvGrpSpPr>
            <p:grpSpPr bwMode="auto">
              <a:xfrm>
                <a:off x="3744" y="2208"/>
                <a:ext cx="1596" cy="1060"/>
                <a:chOff x="3900" y="12664"/>
                <a:chExt cx="3990" cy="2652"/>
              </a:xfrm>
            </p:grpSpPr>
            <p:grpSp>
              <p:nvGrpSpPr>
                <p:cNvPr id="42" name="Group 37"/>
                <p:cNvGrpSpPr/>
                <p:nvPr/>
              </p:nvGrpSpPr>
              <p:grpSpPr bwMode="auto">
                <a:xfrm>
                  <a:off x="3900" y="12664"/>
                  <a:ext cx="3990" cy="2652"/>
                  <a:chOff x="3900" y="12664"/>
                  <a:chExt cx="3990" cy="2652"/>
                </a:xfrm>
              </p:grpSpPr>
              <p:sp>
                <p:nvSpPr>
                  <p:cNvPr id="55" name="Rectangle 38"/>
                  <p:cNvSpPr>
                    <a:spLocks noChangeArrowheads="1"/>
                  </p:cNvSpPr>
                  <p:nvPr/>
                </p:nvSpPr>
                <p:spPr bwMode="auto">
                  <a:xfrm>
                    <a:off x="5265" y="13600"/>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职工</a:t>
                    </a:r>
                    <a:endParaRPr lang="zh-CN" altLang="en-US" sz="1000" u="none">
                      <a:solidFill>
                        <a:srgbClr val="000000"/>
                      </a:solidFill>
                      <a:latin typeface="Times New Roman" panose="02020603050405020304" pitchFamily="18" charset="0"/>
                    </a:endParaRPr>
                  </a:p>
                </p:txBody>
              </p:sp>
              <p:sp>
                <p:nvSpPr>
                  <p:cNvPr id="56" name="Oval 39"/>
                  <p:cNvSpPr>
                    <a:spLocks noChangeArrowheads="1"/>
                  </p:cNvSpPr>
                  <p:nvPr/>
                </p:nvSpPr>
                <p:spPr bwMode="auto">
                  <a:xfrm>
                    <a:off x="390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工号</a:t>
                    </a:r>
                    <a:endParaRPr lang="zh-CN" altLang="en-US" sz="1000">
                      <a:solidFill>
                        <a:srgbClr val="000000"/>
                      </a:solidFill>
                      <a:latin typeface="Times New Roman" panose="02020603050405020304" pitchFamily="18" charset="0"/>
                    </a:endParaRPr>
                  </a:p>
                </p:txBody>
              </p:sp>
              <p:sp>
                <p:nvSpPr>
                  <p:cNvPr id="57" name="Oval 40"/>
                  <p:cNvSpPr>
                    <a:spLocks noChangeArrowheads="1"/>
                  </p:cNvSpPr>
                  <p:nvPr/>
                </p:nvSpPr>
                <p:spPr bwMode="auto">
                  <a:xfrm>
                    <a:off x="495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姓名</a:t>
                    </a:r>
                    <a:endParaRPr lang="zh-CN" altLang="en-US" sz="1000" u="none">
                      <a:solidFill>
                        <a:srgbClr val="000000"/>
                      </a:solidFill>
                      <a:latin typeface="Times New Roman" panose="02020603050405020304" pitchFamily="18" charset="0"/>
                    </a:endParaRPr>
                  </a:p>
                </p:txBody>
              </p:sp>
              <p:sp>
                <p:nvSpPr>
                  <p:cNvPr id="58" name="Oval 41"/>
                  <p:cNvSpPr>
                    <a:spLocks noChangeArrowheads="1"/>
                  </p:cNvSpPr>
                  <p:nvPr/>
                </p:nvSpPr>
                <p:spPr bwMode="auto">
                  <a:xfrm>
                    <a:off x="600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年龄</a:t>
                    </a:r>
                    <a:endParaRPr lang="zh-CN" altLang="en-US" sz="1000" u="none">
                      <a:solidFill>
                        <a:srgbClr val="000000"/>
                      </a:solidFill>
                      <a:latin typeface="Times New Roman" panose="02020603050405020304" pitchFamily="18" charset="0"/>
                    </a:endParaRPr>
                  </a:p>
                </p:txBody>
              </p:sp>
              <p:sp>
                <p:nvSpPr>
                  <p:cNvPr id="59" name="Oval 42"/>
                  <p:cNvSpPr>
                    <a:spLocks noChangeArrowheads="1"/>
                  </p:cNvSpPr>
                  <p:nvPr/>
                </p:nvSpPr>
                <p:spPr bwMode="auto">
                  <a:xfrm>
                    <a:off x="705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性别</a:t>
                    </a:r>
                    <a:endParaRPr lang="zh-CN" altLang="en-US" sz="1000" u="none">
                      <a:solidFill>
                        <a:srgbClr val="000000"/>
                      </a:solidFill>
                      <a:latin typeface="Times New Roman" panose="02020603050405020304" pitchFamily="18" charset="0"/>
                    </a:endParaRPr>
                  </a:p>
                </p:txBody>
              </p:sp>
              <p:sp>
                <p:nvSpPr>
                  <p:cNvPr id="60" name="AutoShape 43"/>
                  <p:cNvSpPr>
                    <a:spLocks noChangeArrowheads="1"/>
                  </p:cNvSpPr>
                  <p:nvPr/>
                </p:nvSpPr>
                <p:spPr bwMode="auto">
                  <a:xfrm>
                    <a:off x="5160" y="14692"/>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领导</a:t>
                    </a:r>
                    <a:endParaRPr lang="zh-CN" altLang="en-US" sz="1000" u="none">
                      <a:solidFill>
                        <a:srgbClr val="000000"/>
                      </a:solidFill>
                      <a:latin typeface="Times New Roman" panose="02020603050405020304" pitchFamily="18" charset="0"/>
                    </a:endParaRPr>
                  </a:p>
                </p:txBody>
              </p:sp>
            </p:grpSp>
            <p:sp>
              <p:nvSpPr>
                <p:cNvPr id="43" name="Line 44"/>
                <p:cNvSpPr>
                  <a:spLocks noChangeShapeType="1"/>
                </p:cNvSpPr>
                <p:nvPr/>
              </p:nvSpPr>
              <p:spPr bwMode="auto">
                <a:xfrm>
                  <a:off x="4425" y="13132"/>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Line 45"/>
                <p:cNvSpPr>
                  <a:spLocks noChangeShapeType="1"/>
                </p:cNvSpPr>
                <p:nvPr/>
              </p:nvSpPr>
              <p:spPr bwMode="auto">
                <a:xfrm>
                  <a:off x="5475" y="13132"/>
                  <a:ext cx="21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Line 46"/>
                <p:cNvSpPr>
                  <a:spLocks noChangeShapeType="1"/>
                </p:cNvSpPr>
                <p:nvPr/>
              </p:nvSpPr>
              <p:spPr bwMode="auto">
                <a:xfrm flipH="1">
                  <a:off x="5895" y="13132"/>
                  <a:ext cx="42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 name="Line 47"/>
                <p:cNvSpPr>
                  <a:spLocks noChangeShapeType="1"/>
                </p:cNvSpPr>
                <p:nvPr/>
              </p:nvSpPr>
              <p:spPr bwMode="auto">
                <a:xfrm flipH="1">
                  <a:off x="6105" y="13132"/>
                  <a:ext cx="126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48"/>
                <p:cNvSpPr>
                  <a:spLocks noChangeShapeType="1"/>
                </p:cNvSpPr>
                <p:nvPr/>
              </p:nvSpPr>
              <p:spPr bwMode="auto">
                <a:xfrm>
                  <a:off x="4635" y="13912"/>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49"/>
                <p:cNvSpPr>
                  <a:spLocks noChangeShapeType="1"/>
                </p:cNvSpPr>
                <p:nvPr/>
              </p:nvSpPr>
              <p:spPr bwMode="auto">
                <a:xfrm>
                  <a:off x="4635" y="139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50"/>
                <p:cNvSpPr>
                  <a:spLocks noChangeShapeType="1"/>
                </p:cNvSpPr>
                <p:nvPr/>
              </p:nvSpPr>
              <p:spPr bwMode="auto">
                <a:xfrm>
                  <a:off x="4635" y="15004"/>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51"/>
                <p:cNvSpPr>
                  <a:spLocks noChangeShapeType="1"/>
                </p:cNvSpPr>
                <p:nvPr/>
              </p:nvSpPr>
              <p:spPr bwMode="auto">
                <a:xfrm>
                  <a:off x="6315" y="13912"/>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Line 52"/>
                <p:cNvSpPr>
                  <a:spLocks noChangeShapeType="1"/>
                </p:cNvSpPr>
                <p:nvPr/>
              </p:nvSpPr>
              <p:spPr bwMode="auto">
                <a:xfrm>
                  <a:off x="7050" y="139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 name="Line 53"/>
                <p:cNvSpPr>
                  <a:spLocks noChangeShapeType="1"/>
                </p:cNvSpPr>
                <p:nvPr/>
              </p:nvSpPr>
              <p:spPr bwMode="auto">
                <a:xfrm flipH="1">
                  <a:off x="6420" y="15004"/>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Rectangle 54"/>
                <p:cNvSpPr>
                  <a:spLocks noChangeArrowheads="1"/>
                </p:cNvSpPr>
                <p:nvPr/>
              </p:nvSpPr>
              <p:spPr bwMode="auto">
                <a:xfrm>
                  <a:off x="4005" y="140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1</a:t>
                  </a:r>
                  <a:endParaRPr lang="en-US" altLang="zh-CN" sz="1000" u="none">
                    <a:solidFill>
                      <a:srgbClr val="000000"/>
                    </a:solidFill>
                    <a:latin typeface="Times New Roman" panose="02020603050405020304" pitchFamily="18" charset="0"/>
                  </a:endParaRPr>
                </a:p>
              </p:txBody>
            </p:sp>
            <p:sp>
              <p:nvSpPr>
                <p:cNvPr id="54" name="Rectangle 55"/>
                <p:cNvSpPr>
                  <a:spLocks noChangeArrowheads="1"/>
                </p:cNvSpPr>
                <p:nvPr/>
              </p:nvSpPr>
              <p:spPr bwMode="auto">
                <a:xfrm>
                  <a:off x="7155" y="140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grpSp>
          <p:sp>
            <p:nvSpPr>
              <p:cNvPr id="41" name="Text Box 56"/>
              <p:cNvSpPr txBox="1">
                <a:spLocks noChangeArrowheads="1"/>
              </p:cNvSpPr>
              <p:nvPr/>
            </p:nvSpPr>
            <p:spPr bwMode="auto">
              <a:xfrm>
                <a:off x="3648" y="3600"/>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图</a:t>
                </a:r>
                <a:r>
                  <a:rPr kumimoji="1" lang="en-US" altLang="zh-CN" sz="1800" u="none">
                    <a:solidFill>
                      <a:srgbClr val="000000"/>
                    </a:solidFill>
                  </a:rPr>
                  <a:t>7.10 </a:t>
                </a:r>
                <a:r>
                  <a:rPr kumimoji="1" lang="zh-CN" altLang="en-US" sz="1800" u="none">
                    <a:solidFill>
                      <a:srgbClr val="000000"/>
                    </a:solidFill>
                  </a:rPr>
                  <a:t>一元联系中的</a:t>
                </a:r>
                <a:r>
                  <a:rPr kumimoji="1" lang="en-US" altLang="zh-CN" sz="1800" u="none">
                    <a:solidFill>
                      <a:srgbClr val="000000"/>
                    </a:solidFill>
                  </a:rPr>
                  <a:t>1:N</a:t>
                </a:r>
                <a:r>
                  <a:rPr kumimoji="1" lang="zh-CN" altLang="en-US" sz="1800" u="none">
                    <a:solidFill>
                      <a:srgbClr val="000000"/>
                    </a:solidFill>
                  </a:rPr>
                  <a:t>联系</a:t>
                </a:r>
                <a:r>
                  <a:rPr kumimoji="1" lang="zh-CN" altLang="en-US" sz="2400" u="none">
                    <a:solidFill>
                      <a:srgbClr val="000000"/>
                    </a:solidFill>
                    <a:latin typeface="Tahoma" panose="020B0604030504040204" pitchFamily="34" charset="0"/>
                  </a:rPr>
                  <a:t> </a:t>
                </a:r>
                <a:endParaRPr kumimoji="1" lang="zh-CN" altLang="en-US" sz="2400" u="none">
                  <a:solidFill>
                    <a:srgbClr val="000000"/>
                  </a:solidFill>
                  <a:latin typeface="Tahoma" panose="020B0604030504040204" pitchFamily="34" charset="0"/>
                </a:endParaRPr>
              </a:p>
            </p:txBody>
          </p:sp>
        </p:grpSp>
        <p:sp>
          <p:nvSpPr>
            <p:cNvPr id="37" name="Oval 57"/>
            <p:cNvSpPr>
              <a:spLocks noChangeArrowheads="1"/>
            </p:cNvSpPr>
            <p:nvPr/>
          </p:nvSpPr>
          <p:spPr bwMode="auto">
            <a:xfrm>
              <a:off x="3648" y="2736"/>
              <a:ext cx="144" cy="240"/>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38" name="Oval 58"/>
            <p:cNvSpPr>
              <a:spLocks noChangeArrowheads="1"/>
            </p:cNvSpPr>
            <p:nvPr/>
          </p:nvSpPr>
          <p:spPr bwMode="auto">
            <a:xfrm>
              <a:off x="4944" y="2736"/>
              <a:ext cx="144" cy="192"/>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61" name="Group 59"/>
          <p:cNvGrpSpPr/>
          <p:nvPr/>
        </p:nvGrpSpPr>
        <p:grpSpPr bwMode="auto">
          <a:xfrm>
            <a:off x="7446499" y="1511103"/>
            <a:ext cx="3581400" cy="4343400"/>
            <a:chOff x="3312" y="1152"/>
            <a:chExt cx="2256" cy="2736"/>
          </a:xfrm>
        </p:grpSpPr>
        <p:grpSp>
          <p:nvGrpSpPr>
            <p:cNvPr id="62" name="Group 60"/>
            <p:cNvGrpSpPr/>
            <p:nvPr/>
          </p:nvGrpSpPr>
          <p:grpSpPr bwMode="auto">
            <a:xfrm>
              <a:off x="3312" y="1152"/>
              <a:ext cx="2256" cy="2736"/>
              <a:chOff x="3312" y="1200"/>
              <a:chExt cx="2256" cy="2736"/>
            </a:xfrm>
          </p:grpSpPr>
          <p:sp>
            <p:nvSpPr>
              <p:cNvPr id="65" name="Text Box 61"/>
              <p:cNvSpPr txBox="1">
                <a:spLocks noChangeArrowheads="1"/>
              </p:cNvSpPr>
              <p:nvPr/>
            </p:nvSpPr>
            <p:spPr bwMode="auto">
              <a:xfrm>
                <a:off x="3312" y="1200"/>
                <a:ext cx="2256"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600" u="none">
                    <a:solidFill>
                      <a:srgbClr val="000000"/>
                    </a:solidFill>
                  </a:rPr>
                  <a:t>工厂的零件之间存在着组合关系，一种零件由许多种子零件组成，而一种零件也可以是其他零件的子零件</a:t>
                </a:r>
                <a:r>
                  <a:rPr kumimoji="1" lang="zh-CN" altLang="en-US" sz="1600" u="none">
                    <a:solidFill>
                      <a:srgbClr val="000000"/>
                    </a:solidFill>
                    <a:latin typeface="Tahoma" panose="020B0604030504040204" pitchFamily="34" charset="0"/>
                  </a:rPr>
                  <a:t> </a:t>
                </a:r>
                <a:endParaRPr kumimoji="1" lang="zh-CN" altLang="en-US" sz="1600" u="none">
                  <a:solidFill>
                    <a:srgbClr val="000000"/>
                  </a:solidFill>
                  <a:latin typeface="Tahoma" panose="020B0604030504040204" pitchFamily="34" charset="0"/>
                </a:endParaRPr>
              </a:p>
            </p:txBody>
          </p:sp>
          <p:grpSp>
            <p:nvGrpSpPr>
              <p:cNvPr id="66" name="Group 62"/>
              <p:cNvGrpSpPr/>
              <p:nvPr/>
            </p:nvGrpSpPr>
            <p:grpSpPr bwMode="auto">
              <a:xfrm>
                <a:off x="3360" y="1824"/>
                <a:ext cx="2208" cy="1680"/>
                <a:chOff x="4005" y="7815"/>
                <a:chExt cx="3675" cy="3360"/>
              </a:xfrm>
            </p:grpSpPr>
            <p:grpSp>
              <p:nvGrpSpPr>
                <p:cNvPr id="68" name="Group 63"/>
                <p:cNvGrpSpPr/>
                <p:nvPr/>
              </p:nvGrpSpPr>
              <p:grpSpPr bwMode="auto">
                <a:xfrm>
                  <a:off x="4215" y="7815"/>
                  <a:ext cx="3465" cy="3360"/>
                  <a:chOff x="4215" y="7812"/>
                  <a:chExt cx="3465" cy="3360"/>
                </a:xfrm>
              </p:grpSpPr>
              <p:sp>
                <p:nvSpPr>
                  <p:cNvPr id="82" name="Rectangle 64"/>
                  <p:cNvSpPr>
                    <a:spLocks noChangeArrowheads="1"/>
                  </p:cNvSpPr>
                  <p:nvPr/>
                </p:nvSpPr>
                <p:spPr bwMode="auto">
                  <a:xfrm>
                    <a:off x="5265" y="8748"/>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a:t>
                    </a:r>
                    <a:endParaRPr lang="zh-CN" altLang="en-US" sz="1000" u="none">
                      <a:solidFill>
                        <a:srgbClr val="000000"/>
                      </a:solidFill>
                      <a:latin typeface="Times New Roman" panose="02020603050405020304" pitchFamily="18" charset="0"/>
                    </a:endParaRPr>
                  </a:p>
                </p:txBody>
              </p:sp>
              <p:sp>
                <p:nvSpPr>
                  <p:cNvPr id="83" name="Oval 65"/>
                  <p:cNvSpPr>
                    <a:spLocks noChangeArrowheads="1"/>
                  </p:cNvSpPr>
                  <p:nvPr/>
                </p:nvSpPr>
                <p:spPr bwMode="auto">
                  <a:xfrm>
                    <a:off x="4425" y="7815"/>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零件号</a:t>
                    </a:r>
                    <a:endParaRPr lang="zh-CN" altLang="en-US" sz="1000">
                      <a:solidFill>
                        <a:srgbClr val="000000"/>
                      </a:solidFill>
                      <a:latin typeface="Times New Roman" panose="02020603050405020304" pitchFamily="18" charset="0"/>
                    </a:endParaRPr>
                  </a:p>
                </p:txBody>
              </p:sp>
              <p:sp>
                <p:nvSpPr>
                  <p:cNvPr id="84" name="Oval 66"/>
                  <p:cNvSpPr>
                    <a:spLocks noChangeArrowheads="1"/>
                  </p:cNvSpPr>
                  <p:nvPr/>
                </p:nvSpPr>
                <p:spPr bwMode="auto">
                  <a:xfrm>
                    <a:off x="5685" y="7815"/>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零件名</a:t>
                    </a:r>
                    <a:endParaRPr lang="zh-CN" altLang="en-US" sz="1000" u="none">
                      <a:solidFill>
                        <a:srgbClr val="000000"/>
                      </a:solidFill>
                      <a:latin typeface="Times New Roman" panose="02020603050405020304" pitchFamily="18" charset="0"/>
                    </a:endParaRPr>
                  </a:p>
                </p:txBody>
              </p:sp>
              <p:sp>
                <p:nvSpPr>
                  <p:cNvPr id="85" name="Oval 67"/>
                  <p:cNvSpPr>
                    <a:spLocks noChangeArrowheads="1"/>
                  </p:cNvSpPr>
                  <p:nvPr/>
                </p:nvSpPr>
                <p:spPr bwMode="auto">
                  <a:xfrm>
                    <a:off x="6840" y="7812"/>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规</a:t>
                    </a:r>
                    <a:r>
                      <a:rPr lang="zh-CN" altLang="en-US" sz="1000" u="none">
                        <a:solidFill>
                          <a:srgbClr val="000000"/>
                        </a:solidFill>
                        <a:latin typeface="Times New Roman" panose="02020603050405020304" pitchFamily="18" charset="0"/>
                      </a:rPr>
                      <a:t>格</a:t>
                    </a:r>
                    <a:endParaRPr lang="zh-CN" altLang="en-US" sz="1000" u="none">
                      <a:solidFill>
                        <a:srgbClr val="000000"/>
                      </a:solidFill>
                      <a:latin typeface="Times New Roman" panose="02020603050405020304" pitchFamily="18" charset="0"/>
                    </a:endParaRPr>
                  </a:p>
                </p:txBody>
              </p:sp>
              <p:sp>
                <p:nvSpPr>
                  <p:cNvPr id="86" name="Oval 68"/>
                  <p:cNvSpPr>
                    <a:spLocks noChangeArrowheads="1"/>
                  </p:cNvSpPr>
                  <p:nvPr/>
                </p:nvSpPr>
                <p:spPr bwMode="auto">
                  <a:xfrm>
                    <a:off x="4215" y="10704"/>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数量</a:t>
                    </a:r>
                    <a:endParaRPr lang="zh-CN" altLang="en-US" sz="1000" u="none">
                      <a:solidFill>
                        <a:srgbClr val="000000"/>
                      </a:solidFill>
                      <a:latin typeface="Times New Roman" panose="02020603050405020304" pitchFamily="18" charset="0"/>
                    </a:endParaRPr>
                  </a:p>
                </p:txBody>
              </p:sp>
              <p:sp>
                <p:nvSpPr>
                  <p:cNvPr id="87" name="AutoShape 69"/>
                  <p:cNvSpPr>
                    <a:spLocks noChangeArrowheads="1"/>
                  </p:cNvSpPr>
                  <p:nvPr/>
                </p:nvSpPr>
                <p:spPr bwMode="auto">
                  <a:xfrm>
                    <a:off x="5160" y="9924"/>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组成</a:t>
                    </a:r>
                    <a:endParaRPr lang="zh-CN" altLang="en-US" sz="1000" u="none">
                      <a:solidFill>
                        <a:srgbClr val="000000"/>
                      </a:solidFill>
                      <a:latin typeface="Times New Roman" panose="02020603050405020304" pitchFamily="18" charset="0"/>
                    </a:endParaRPr>
                  </a:p>
                </p:txBody>
              </p:sp>
            </p:grpSp>
            <p:grpSp>
              <p:nvGrpSpPr>
                <p:cNvPr id="69" name="Group 70"/>
                <p:cNvGrpSpPr/>
                <p:nvPr/>
              </p:nvGrpSpPr>
              <p:grpSpPr bwMode="auto">
                <a:xfrm>
                  <a:off x="4005" y="8280"/>
                  <a:ext cx="3675" cy="2424"/>
                  <a:chOff x="4005" y="8280"/>
                  <a:chExt cx="3675" cy="2424"/>
                </a:xfrm>
              </p:grpSpPr>
              <p:sp>
                <p:nvSpPr>
                  <p:cNvPr id="70" name="Line 71"/>
                  <p:cNvSpPr>
                    <a:spLocks noChangeShapeType="1"/>
                  </p:cNvSpPr>
                  <p:nvPr/>
                </p:nvSpPr>
                <p:spPr bwMode="auto">
                  <a:xfrm flipH="1">
                    <a:off x="4635" y="10392"/>
                    <a:ext cx="840" cy="31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 name="Line 72"/>
                  <p:cNvSpPr>
                    <a:spLocks noChangeShapeType="1"/>
                  </p:cNvSpPr>
                  <p:nvPr/>
                </p:nvSpPr>
                <p:spPr bwMode="auto">
                  <a:xfrm>
                    <a:off x="4635" y="9060"/>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Line 73"/>
                  <p:cNvSpPr>
                    <a:spLocks noChangeShapeType="1"/>
                  </p:cNvSpPr>
                  <p:nvPr/>
                </p:nvSpPr>
                <p:spPr bwMode="auto">
                  <a:xfrm>
                    <a:off x="4635" y="9060"/>
                    <a:ext cx="0" cy="117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Line 74"/>
                  <p:cNvSpPr>
                    <a:spLocks noChangeShapeType="1"/>
                  </p:cNvSpPr>
                  <p:nvPr/>
                </p:nvSpPr>
                <p:spPr bwMode="auto">
                  <a:xfrm>
                    <a:off x="4635" y="10236"/>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Line 75"/>
                  <p:cNvSpPr>
                    <a:spLocks noChangeShapeType="1"/>
                  </p:cNvSpPr>
                  <p:nvPr/>
                </p:nvSpPr>
                <p:spPr bwMode="auto">
                  <a:xfrm>
                    <a:off x="6315" y="9060"/>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76"/>
                  <p:cNvSpPr>
                    <a:spLocks noChangeShapeType="1"/>
                  </p:cNvSpPr>
                  <p:nvPr/>
                </p:nvSpPr>
                <p:spPr bwMode="auto">
                  <a:xfrm>
                    <a:off x="7050" y="9060"/>
                    <a:ext cx="0" cy="117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 name="Line 77"/>
                  <p:cNvSpPr>
                    <a:spLocks noChangeShapeType="1"/>
                  </p:cNvSpPr>
                  <p:nvPr/>
                </p:nvSpPr>
                <p:spPr bwMode="auto">
                  <a:xfrm flipH="1">
                    <a:off x="6420" y="10236"/>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Rectangle 78"/>
                  <p:cNvSpPr>
                    <a:spLocks noChangeArrowheads="1"/>
                  </p:cNvSpPr>
                  <p:nvPr/>
                </p:nvSpPr>
                <p:spPr bwMode="auto">
                  <a:xfrm>
                    <a:off x="4005" y="9300"/>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M</a:t>
                    </a:r>
                    <a:endParaRPr lang="en-US" altLang="zh-CN" sz="1000" u="none">
                      <a:solidFill>
                        <a:srgbClr val="000000"/>
                      </a:solidFill>
                      <a:latin typeface="Times New Roman" panose="02020603050405020304" pitchFamily="18" charset="0"/>
                    </a:endParaRPr>
                  </a:p>
                </p:txBody>
              </p:sp>
              <p:sp>
                <p:nvSpPr>
                  <p:cNvPr id="78" name="Rectangle 79"/>
                  <p:cNvSpPr>
                    <a:spLocks noChangeArrowheads="1"/>
                  </p:cNvSpPr>
                  <p:nvPr/>
                </p:nvSpPr>
                <p:spPr bwMode="auto">
                  <a:xfrm>
                    <a:off x="7155" y="9300"/>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sp>
                <p:nvSpPr>
                  <p:cNvPr id="79" name="Line 80"/>
                  <p:cNvSpPr>
                    <a:spLocks noChangeShapeType="1"/>
                  </p:cNvSpPr>
                  <p:nvPr/>
                </p:nvSpPr>
                <p:spPr bwMode="auto">
                  <a:xfrm>
                    <a:off x="4950" y="8280"/>
                    <a:ext cx="525"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0" name="Line 81"/>
                  <p:cNvSpPr>
                    <a:spLocks noChangeShapeType="1"/>
                  </p:cNvSpPr>
                  <p:nvPr/>
                </p:nvSpPr>
                <p:spPr bwMode="auto">
                  <a:xfrm flipH="1">
                    <a:off x="5790" y="8280"/>
                    <a:ext cx="315"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Line 82"/>
                  <p:cNvSpPr>
                    <a:spLocks noChangeShapeType="1"/>
                  </p:cNvSpPr>
                  <p:nvPr/>
                </p:nvSpPr>
                <p:spPr bwMode="auto">
                  <a:xfrm flipH="1">
                    <a:off x="6105" y="8280"/>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67" name="Text Box 83"/>
              <p:cNvSpPr txBox="1">
                <a:spLocks noChangeArrowheads="1"/>
              </p:cNvSpPr>
              <p:nvPr/>
            </p:nvSpPr>
            <p:spPr bwMode="auto">
              <a:xfrm>
                <a:off x="3504" y="3648"/>
                <a:ext cx="20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图</a:t>
                </a:r>
                <a:r>
                  <a:rPr kumimoji="1" lang="en-US" altLang="zh-CN" sz="1800" u="none">
                    <a:solidFill>
                      <a:srgbClr val="000000"/>
                    </a:solidFill>
                  </a:rPr>
                  <a:t>7.11 </a:t>
                </a:r>
                <a:r>
                  <a:rPr kumimoji="1" lang="zh-CN" altLang="en-US" sz="1800" u="none">
                    <a:solidFill>
                      <a:srgbClr val="000000"/>
                    </a:solidFill>
                  </a:rPr>
                  <a:t>一元联系中的</a:t>
                </a:r>
                <a:r>
                  <a:rPr kumimoji="1" lang="en-US" altLang="zh-CN" sz="1800" u="none">
                    <a:solidFill>
                      <a:srgbClr val="000000"/>
                    </a:solidFill>
                  </a:rPr>
                  <a:t>M:N</a:t>
                </a:r>
                <a:r>
                  <a:rPr kumimoji="1" lang="zh-CN" altLang="en-US" sz="1800" u="none">
                    <a:solidFill>
                      <a:srgbClr val="000000"/>
                    </a:solidFill>
                  </a:rPr>
                  <a:t>联系</a:t>
                </a:r>
                <a:r>
                  <a:rPr kumimoji="1" lang="zh-CN" altLang="en-US" sz="2400" u="none">
                    <a:solidFill>
                      <a:srgbClr val="000000"/>
                    </a:solidFill>
                    <a:latin typeface="Tahoma" panose="020B0604030504040204" pitchFamily="34" charset="0"/>
                  </a:rPr>
                  <a:t> </a:t>
                </a:r>
                <a:endParaRPr kumimoji="1" lang="zh-CN" altLang="en-US" sz="2400" u="none">
                  <a:solidFill>
                    <a:srgbClr val="000000"/>
                  </a:solidFill>
                  <a:latin typeface="Tahoma" panose="020B0604030504040204" pitchFamily="34" charset="0"/>
                </a:endParaRPr>
              </a:p>
            </p:txBody>
          </p:sp>
        </p:grpSp>
        <p:sp>
          <p:nvSpPr>
            <p:cNvPr id="63" name="Oval 84"/>
            <p:cNvSpPr>
              <a:spLocks noChangeArrowheads="1"/>
            </p:cNvSpPr>
            <p:nvPr/>
          </p:nvSpPr>
          <p:spPr bwMode="auto">
            <a:xfrm>
              <a:off x="3456" y="2448"/>
              <a:ext cx="144" cy="288"/>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4" name="Oval 85"/>
            <p:cNvSpPr>
              <a:spLocks noChangeArrowheads="1"/>
            </p:cNvSpPr>
            <p:nvPr/>
          </p:nvSpPr>
          <p:spPr bwMode="auto">
            <a:xfrm>
              <a:off x="5328" y="2496"/>
              <a:ext cx="192" cy="192"/>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88" name="Group 86"/>
          <p:cNvGrpSpPr/>
          <p:nvPr/>
        </p:nvGrpSpPr>
        <p:grpSpPr bwMode="auto">
          <a:xfrm>
            <a:off x="7217899" y="1434903"/>
            <a:ext cx="3914775" cy="5029200"/>
            <a:chOff x="3120" y="1152"/>
            <a:chExt cx="2466" cy="3168"/>
          </a:xfrm>
        </p:grpSpPr>
        <p:sp>
          <p:nvSpPr>
            <p:cNvPr id="89" name="Text Box 87"/>
            <p:cNvSpPr txBox="1">
              <a:spLocks noChangeArrowheads="1"/>
            </p:cNvSpPr>
            <p:nvPr/>
          </p:nvSpPr>
          <p:spPr bwMode="auto">
            <a:xfrm>
              <a:off x="3264" y="1152"/>
              <a:ext cx="21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rPr>
                <a:t>某商业集团中，商店、仓库、商品之间的进货联系</a:t>
              </a:r>
              <a:r>
                <a:rPr kumimoji="1" lang="zh-CN" altLang="en-US" sz="1600" u="none">
                  <a:solidFill>
                    <a:srgbClr val="000000"/>
                  </a:solidFill>
                  <a:latin typeface="Tahoma" panose="020B0604030504040204" pitchFamily="34" charset="0"/>
                </a:rPr>
                <a:t> </a:t>
              </a:r>
              <a:endParaRPr kumimoji="1" lang="zh-CN" altLang="en-US" sz="1600" u="none">
                <a:solidFill>
                  <a:srgbClr val="000000"/>
                </a:solidFill>
                <a:latin typeface="Tahoma" panose="020B0604030504040204" pitchFamily="34" charset="0"/>
              </a:endParaRPr>
            </a:p>
          </p:txBody>
        </p:sp>
        <p:sp>
          <p:nvSpPr>
            <p:cNvPr id="90" name="Text Box 88"/>
            <p:cNvSpPr txBox="1">
              <a:spLocks noChangeArrowheads="1"/>
            </p:cNvSpPr>
            <p:nvPr/>
          </p:nvSpPr>
          <p:spPr bwMode="auto">
            <a:xfrm>
              <a:off x="3408" y="4089"/>
              <a:ext cx="21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rgbClr val="000000"/>
                  </a:solidFill>
                </a:rPr>
                <a:t>图</a:t>
              </a:r>
              <a:r>
                <a:rPr kumimoji="1" lang="en-US" altLang="zh-CN" sz="1800" u="none" dirty="0">
                  <a:solidFill>
                    <a:srgbClr val="000000"/>
                  </a:solidFill>
                </a:rPr>
                <a:t>7.12 </a:t>
              </a:r>
              <a:r>
                <a:rPr kumimoji="1" lang="zh-CN" altLang="en-US" sz="1800" u="none" dirty="0">
                  <a:solidFill>
                    <a:srgbClr val="000000"/>
                  </a:solidFill>
                </a:rPr>
                <a:t>三元联系中的</a:t>
              </a:r>
              <a:r>
                <a:rPr kumimoji="1" lang="en-US" altLang="zh-CN" sz="1800" u="none" dirty="0">
                  <a:solidFill>
                    <a:srgbClr val="000000"/>
                  </a:solidFill>
                </a:rPr>
                <a:t>M:N:P</a:t>
              </a:r>
              <a:r>
                <a:rPr kumimoji="1" lang="zh-CN" altLang="en-US" sz="1800" u="none" dirty="0">
                  <a:solidFill>
                    <a:srgbClr val="000000"/>
                  </a:solidFill>
                </a:rPr>
                <a:t>联系</a:t>
              </a:r>
              <a:r>
                <a:rPr kumimoji="1" lang="zh-CN" altLang="en-US" sz="1800" u="none" dirty="0">
                  <a:solidFill>
                    <a:srgbClr val="000000"/>
                  </a:solidFill>
                  <a:latin typeface="Tahoma" panose="020B0604030504040204" pitchFamily="34" charset="0"/>
                </a:rPr>
                <a:t> </a:t>
              </a:r>
              <a:endParaRPr kumimoji="1" lang="zh-CN" altLang="en-US" sz="1800" u="none" dirty="0">
                <a:solidFill>
                  <a:srgbClr val="000000"/>
                </a:solidFill>
                <a:latin typeface="Tahoma" panose="020B0604030504040204" pitchFamily="34" charset="0"/>
              </a:endParaRPr>
            </a:p>
          </p:txBody>
        </p:sp>
        <p:grpSp>
          <p:nvGrpSpPr>
            <p:cNvPr id="91" name="Group 89"/>
            <p:cNvGrpSpPr/>
            <p:nvPr/>
          </p:nvGrpSpPr>
          <p:grpSpPr bwMode="auto">
            <a:xfrm>
              <a:off x="3120" y="1632"/>
              <a:ext cx="2466" cy="2304"/>
              <a:chOff x="672" y="336"/>
              <a:chExt cx="2466" cy="2304"/>
            </a:xfrm>
          </p:grpSpPr>
          <p:grpSp>
            <p:nvGrpSpPr>
              <p:cNvPr id="92" name="Group 90"/>
              <p:cNvGrpSpPr/>
              <p:nvPr/>
            </p:nvGrpSpPr>
            <p:grpSpPr bwMode="auto">
              <a:xfrm>
                <a:off x="672" y="336"/>
                <a:ext cx="2466" cy="2304"/>
                <a:chOff x="3585" y="1748"/>
                <a:chExt cx="4620" cy="4680"/>
              </a:xfrm>
            </p:grpSpPr>
            <p:grpSp>
              <p:nvGrpSpPr>
                <p:cNvPr id="96" name="Group 91"/>
                <p:cNvGrpSpPr/>
                <p:nvPr/>
              </p:nvGrpSpPr>
              <p:grpSpPr bwMode="auto">
                <a:xfrm>
                  <a:off x="3585" y="1748"/>
                  <a:ext cx="4620" cy="4680"/>
                  <a:chOff x="3585" y="1748"/>
                  <a:chExt cx="4620" cy="4680"/>
                </a:xfrm>
              </p:grpSpPr>
              <p:sp>
                <p:nvSpPr>
                  <p:cNvPr id="112" name="Rectangle 92"/>
                  <p:cNvSpPr>
                    <a:spLocks noChangeArrowheads="1"/>
                  </p:cNvSpPr>
                  <p:nvPr/>
                </p:nvSpPr>
                <p:spPr bwMode="auto">
                  <a:xfrm>
                    <a:off x="5370" y="2684"/>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仓库</a:t>
                    </a:r>
                    <a:endParaRPr lang="zh-CN" altLang="en-US" sz="1000" u="none">
                      <a:solidFill>
                        <a:srgbClr val="000000"/>
                      </a:solidFill>
                      <a:latin typeface="Times New Roman" panose="02020603050405020304" pitchFamily="18" charset="0"/>
                    </a:endParaRPr>
                  </a:p>
                </p:txBody>
              </p:sp>
              <p:sp>
                <p:nvSpPr>
                  <p:cNvPr id="113" name="Rectangle 93"/>
                  <p:cNvSpPr>
                    <a:spLocks noChangeArrowheads="1"/>
                  </p:cNvSpPr>
                  <p:nvPr/>
                </p:nvSpPr>
                <p:spPr bwMode="auto">
                  <a:xfrm>
                    <a:off x="6525" y="4868"/>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商品</a:t>
                    </a:r>
                    <a:endParaRPr lang="zh-CN" altLang="en-US" sz="1000" u="none">
                      <a:solidFill>
                        <a:srgbClr val="000000"/>
                      </a:solidFill>
                      <a:latin typeface="Times New Roman" panose="02020603050405020304" pitchFamily="18" charset="0"/>
                    </a:endParaRPr>
                  </a:p>
                </p:txBody>
              </p:sp>
              <p:sp>
                <p:nvSpPr>
                  <p:cNvPr id="114" name="Rectangle 94"/>
                  <p:cNvSpPr>
                    <a:spLocks noChangeArrowheads="1"/>
                  </p:cNvSpPr>
                  <p:nvPr/>
                </p:nvSpPr>
                <p:spPr bwMode="auto">
                  <a:xfrm>
                    <a:off x="4215" y="4868"/>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商店</a:t>
                    </a:r>
                    <a:endParaRPr lang="zh-CN" altLang="en-US" sz="1000" u="none">
                      <a:solidFill>
                        <a:srgbClr val="000000"/>
                      </a:solidFill>
                      <a:latin typeface="Times New Roman" panose="02020603050405020304" pitchFamily="18" charset="0"/>
                    </a:endParaRPr>
                  </a:p>
                </p:txBody>
              </p:sp>
              <p:sp>
                <p:nvSpPr>
                  <p:cNvPr id="115" name="Oval 95"/>
                  <p:cNvSpPr>
                    <a:spLocks noChangeArrowheads="1"/>
                  </p:cNvSpPr>
                  <p:nvPr/>
                </p:nvSpPr>
                <p:spPr bwMode="auto">
                  <a:xfrm>
                    <a:off x="4110"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仓库号</a:t>
                    </a:r>
                    <a:endParaRPr lang="zh-CN" altLang="en-US" sz="1000">
                      <a:solidFill>
                        <a:srgbClr val="000000"/>
                      </a:solidFill>
                      <a:latin typeface="Times New Roman" panose="02020603050405020304" pitchFamily="18" charset="0"/>
                    </a:endParaRPr>
                  </a:p>
                </p:txBody>
              </p:sp>
              <p:sp>
                <p:nvSpPr>
                  <p:cNvPr id="116" name="Oval 96"/>
                  <p:cNvSpPr>
                    <a:spLocks noChangeArrowheads="1"/>
                  </p:cNvSpPr>
                  <p:nvPr/>
                </p:nvSpPr>
                <p:spPr bwMode="auto">
                  <a:xfrm>
                    <a:off x="5370"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仓库名</a:t>
                    </a:r>
                    <a:endParaRPr lang="zh-CN" altLang="en-US" sz="1000" u="none">
                      <a:solidFill>
                        <a:srgbClr val="000000"/>
                      </a:solidFill>
                      <a:latin typeface="Times New Roman" panose="02020603050405020304" pitchFamily="18" charset="0"/>
                    </a:endParaRPr>
                  </a:p>
                </p:txBody>
              </p:sp>
              <p:sp>
                <p:nvSpPr>
                  <p:cNvPr id="117" name="Oval 97"/>
                  <p:cNvSpPr>
                    <a:spLocks noChangeArrowheads="1"/>
                  </p:cNvSpPr>
                  <p:nvPr/>
                </p:nvSpPr>
                <p:spPr bwMode="auto">
                  <a:xfrm>
                    <a:off x="6735"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地址</a:t>
                    </a:r>
                    <a:endParaRPr lang="zh-CN" altLang="en-US" sz="1000" u="none">
                      <a:solidFill>
                        <a:srgbClr val="000000"/>
                      </a:solidFill>
                      <a:latin typeface="Times New Roman" panose="02020603050405020304" pitchFamily="18" charset="0"/>
                    </a:endParaRPr>
                  </a:p>
                </p:txBody>
              </p:sp>
              <p:sp>
                <p:nvSpPr>
                  <p:cNvPr id="118" name="Oval 98"/>
                  <p:cNvSpPr>
                    <a:spLocks noChangeArrowheads="1"/>
                  </p:cNvSpPr>
                  <p:nvPr/>
                </p:nvSpPr>
                <p:spPr bwMode="auto">
                  <a:xfrm>
                    <a:off x="7155" y="2996"/>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数量</a:t>
                    </a:r>
                    <a:endParaRPr lang="zh-CN" altLang="en-US" sz="1000" u="none">
                      <a:solidFill>
                        <a:srgbClr val="000000"/>
                      </a:solidFill>
                      <a:latin typeface="Times New Roman" panose="02020603050405020304" pitchFamily="18" charset="0"/>
                    </a:endParaRPr>
                  </a:p>
                </p:txBody>
              </p:sp>
              <p:sp>
                <p:nvSpPr>
                  <p:cNvPr id="119" name="Oval 99"/>
                  <p:cNvSpPr>
                    <a:spLocks noChangeArrowheads="1"/>
                  </p:cNvSpPr>
                  <p:nvPr/>
                </p:nvSpPr>
                <p:spPr bwMode="auto">
                  <a:xfrm>
                    <a:off x="3585"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商店号</a:t>
                    </a:r>
                    <a:endParaRPr lang="zh-CN" altLang="en-US" sz="1000">
                      <a:solidFill>
                        <a:srgbClr val="000000"/>
                      </a:solidFill>
                      <a:latin typeface="Times New Roman" panose="02020603050405020304" pitchFamily="18" charset="0"/>
                    </a:endParaRPr>
                  </a:p>
                </p:txBody>
              </p:sp>
              <p:sp>
                <p:nvSpPr>
                  <p:cNvPr id="120" name="Oval 100"/>
                  <p:cNvSpPr>
                    <a:spLocks noChangeArrowheads="1"/>
                  </p:cNvSpPr>
                  <p:nvPr/>
                </p:nvSpPr>
                <p:spPr bwMode="auto">
                  <a:xfrm>
                    <a:off x="726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商品名</a:t>
                    </a:r>
                    <a:endParaRPr lang="zh-CN" altLang="en-US" sz="1000" u="none">
                      <a:solidFill>
                        <a:srgbClr val="000000"/>
                      </a:solidFill>
                      <a:latin typeface="Times New Roman" panose="02020603050405020304" pitchFamily="18" charset="0"/>
                    </a:endParaRPr>
                  </a:p>
                </p:txBody>
              </p:sp>
              <p:sp>
                <p:nvSpPr>
                  <p:cNvPr id="121" name="Oval 101"/>
                  <p:cNvSpPr>
                    <a:spLocks noChangeArrowheads="1"/>
                  </p:cNvSpPr>
                  <p:nvPr/>
                </p:nvSpPr>
                <p:spPr bwMode="auto">
                  <a:xfrm>
                    <a:off x="600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商品号</a:t>
                    </a:r>
                    <a:endParaRPr lang="zh-CN" altLang="en-US" sz="1000" u="none">
                      <a:solidFill>
                        <a:srgbClr val="000000"/>
                      </a:solidFill>
                      <a:latin typeface="Times New Roman" panose="02020603050405020304" pitchFamily="18" charset="0"/>
                    </a:endParaRPr>
                  </a:p>
                </p:txBody>
              </p:sp>
              <p:sp>
                <p:nvSpPr>
                  <p:cNvPr id="122" name="Oval 102"/>
                  <p:cNvSpPr>
                    <a:spLocks noChangeArrowheads="1"/>
                  </p:cNvSpPr>
                  <p:nvPr/>
                </p:nvSpPr>
                <p:spPr bwMode="auto">
                  <a:xfrm>
                    <a:off x="474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商店名</a:t>
                    </a:r>
                    <a:endParaRPr lang="zh-CN" altLang="en-US" sz="1000" u="none">
                      <a:solidFill>
                        <a:srgbClr val="000000"/>
                      </a:solidFill>
                      <a:latin typeface="Times New Roman" panose="02020603050405020304" pitchFamily="18" charset="0"/>
                    </a:endParaRPr>
                  </a:p>
                </p:txBody>
              </p:sp>
              <p:sp>
                <p:nvSpPr>
                  <p:cNvPr id="123" name="Oval 103"/>
                  <p:cNvSpPr>
                    <a:spLocks noChangeArrowheads="1"/>
                  </p:cNvSpPr>
                  <p:nvPr/>
                </p:nvSpPr>
                <p:spPr bwMode="auto">
                  <a:xfrm>
                    <a:off x="7155" y="3776"/>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日期</a:t>
                    </a:r>
                    <a:endParaRPr lang="zh-CN" altLang="en-US" sz="1000" u="none">
                      <a:solidFill>
                        <a:srgbClr val="000000"/>
                      </a:solidFill>
                      <a:latin typeface="Times New Roman" panose="02020603050405020304" pitchFamily="18" charset="0"/>
                    </a:endParaRPr>
                  </a:p>
                </p:txBody>
              </p:sp>
              <p:sp>
                <p:nvSpPr>
                  <p:cNvPr id="124" name="AutoShape 104"/>
                  <p:cNvSpPr>
                    <a:spLocks noChangeArrowheads="1"/>
                  </p:cNvSpPr>
                  <p:nvPr/>
                </p:nvSpPr>
                <p:spPr bwMode="auto">
                  <a:xfrm>
                    <a:off x="5265" y="3620"/>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进货</a:t>
                    </a:r>
                    <a:endParaRPr lang="zh-CN" altLang="en-US" sz="1000" u="none">
                      <a:solidFill>
                        <a:srgbClr val="000000"/>
                      </a:solidFill>
                      <a:latin typeface="Times New Roman" panose="02020603050405020304" pitchFamily="18" charset="0"/>
                    </a:endParaRPr>
                  </a:p>
                </p:txBody>
              </p:sp>
            </p:grpSp>
            <p:sp>
              <p:nvSpPr>
                <p:cNvPr id="97" name="Line 105"/>
                <p:cNvSpPr>
                  <a:spLocks noChangeShapeType="1"/>
                </p:cNvSpPr>
                <p:nvPr/>
              </p:nvSpPr>
              <p:spPr bwMode="auto">
                <a:xfrm>
                  <a:off x="4530" y="2216"/>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8" name="Line 106"/>
                <p:cNvSpPr>
                  <a:spLocks noChangeShapeType="1"/>
                </p:cNvSpPr>
                <p:nvPr/>
              </p:nvSpPr>
              <p:spPr bwMode="auto">
                <a:xfrm>
                  <a:off x="5895" y="2216"/>
                  <a:ext cx="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9" name="Line 107"/>
                <p:cNvSpPr>
                  <a:spLocks noChangeShapeType="1"/>
                </p:cNvSpPr>
                <p:nvPr/>
              </p:nvSpPr>
              <p:spPr bwMode="auto">
                <a:xfrm flipH="1">
                  <a:off x="6210" y="2216"/>
                  <a:ext cx="84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Line 108"/>
                <p:cNvSpPr>
                  <a:spLocks noChangeShapeType="1"/>
                </p:cNvSpPr>
                <p:nvPr/>
              </p:nvSpPr>
              <p:spPr bwMode="auto">
                <a:xfrm>
                  <a:off x="5895" y="3152"/>
                  <a:ext cx="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 name="Line 109"/>
                <p:cNvSpPr>
                  <a:spLocks noChangeShapeType="1"/>
                </p:cNvSpPr>
                <p:nvPr/>
              </p:nvSpPr>
              <p:spPr bwMode="auto">
                <a:xfrm>
                  <a:off x="6315" y="4088"/>
                  <a:ext cx="63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Line 110"/>
                <p:cNvSpPr>
                  <a:spLocks noChangeShapeType="1"/>
                </p:cNvSpPr>
                <p:nvPr/>
              </p:nvSpPr>
              <p:spPr bwMode="auto">
                <a:xfrm flipH="1">
                  <a:off x="4740" y="4088"/>
                  <a:ext cx="84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3" name="Freeform 111"/>
                <p:cNvSpPr/>
                <p:nvPr/>
              </p:nvSpPr>
              <p:spPr bwMode="auto">
                <a:xfrm>
                  <a:off x="6298" y="3305"/>
                  <a:ext cx="840" cy="480"/>
                </a:xfrm>
                <a:custGeom>
                  <a:avLst/>
                  <a:gdLst>
                    <a:gd name="T0" fmla="*/ 0 w 840"/>
                    <a:gd name="T1" fmla="*/ 480 h 480"/>
                    <a:gd name="T2" fmla="*/ 840 w 840"/>
                    <a:gd name="T3" fmla="*/ 0 h 480"/>
                    <a:gd name="T4" fmla="*/ 0 60000 65536"/>
                    <a:gd name="T5" fmla="*/ 0 60000 65536"/>
                  </a:gdLst>
                  <a:ahLst/>
                  <a:cxnLst>
                    <a:cxn ang="T4">
                      <a:pos x="T0" y="T1"/>
                    </a:cxn>
                    <a:cxn ang="T5">
                      <a:pos x="T2" y="T3"/>
                    </a:cxn>
                  </a:cxnLst>
                  <a:rect l="0" t="0" r="r" b="b"/>
                  <a:pathLst>
                    <a:path w="840" h="480">
                      <a:moveTo>
                        <a:pt x="0" y="480"/>
                      </a:moveTo>
                      <a:lnTo>
                        <a:pt x="84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4" name="Freeform 112"/>
                <p:cNvSpPr/>
                <p:nvPr/>
              </p:nvSpPr>
              <p:spPr bwMode="auto">
                <a:xfrm>
                  <a:off x="6403" y="3965"/>
                  <a:ext cx="765" cy="45"/>
                </a:xfrm>
                <a:custGeom>
                  <a:avLst/>
                  <a:gdLst>
                    <a:gd name="T0" fmla="*/ 0 w 765"/>
                    <a:gd name="T1" fmla="*/ 45 h 45"/>
                    <a:gd name="T2" fmla="*/ 765 w 765"/>
                    <a:gd name="T3" fmla="*/ 0 h 45"/>
                    <a:gd name="T4" fmla="*/ 0 60000 65536"/>
                    <a:gd name="T5" fmla="*/ 0 60000 65536"/>
                  </a:gdLst>
                  <a:ahLst/>
                  <a:cxnLst>
                    <a:cxn ang="T4">
                      <a:pos x="T0" y="T1"/>
                    </a:cxn>
                    <a:cxn ang="T5">
                      <a:pos x="T2" y="T3"/>
                    </a:cxn>
                  </a:cxnLst>
                  <a:rect l="0" t="0" r="r" b="b"/>
                  <a:pathLst>
                    <a:path w="765" h="45">
                      <a:moveTo>
                        <a:pt x="0" y="45"/>
                      </a:moveTo>
                      <a:lnTo>
                        <a:pt x="76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Line 113"/>
                <p:cNvSpPr>
                  <a:spLocks noChangeShapeType="1"/>
                </p:cNvSpPr>
                <p:nvPr/>
              </p:nvSpPr>
              <p:spPr bwMode="auto">
                <a:xfrm flipH="1">
                  <a:off x="4005" y="5336"/>
                  <a:ext cx="420"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6" name="Line 114"/>
                <p:cNvSpPr>
                  <a:spLocks noChangeShapeType="1"/>
                </p:cNvSpPr>
                <p:nvPr/>
              </p:nvSpPr>
              <p:spPr bwMode="auto">
                <a:xfrm>
                  <a:off x="4845" y="5336"/>
                  <a:ext cx="420"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7" name="Line 115"/>
                <p:cNvSpPr>
                  <a:spLocks noChangeShapeType="1"/>
                </p:cNvSpPr>
                <p:nvPr/>
              </p:nvSpPr>
              <p:spPr bwMode="auto">
                <a:xfrm flipH="1">
                  <a:off x="6525" y="5336"/>
                  <a:ext cx="315"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8" name="Line 116"/>
                <p:cNvSpPr>
                  <a:spLocks noChangeShapeType="1"/>
                </p:cNvSpPr>
                <p:nvPr/>
              </p:nvSpPr>
              <p:spPr bwMode="auto">
                <a:xfrm>
                  <a:off x="7365" y="5336"/>
                  <a:ext cx="315"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9" name="Rectangle 117"/>
                <p:cNvSpPr>
                  <a:spLocks noChangeArrowheads="1"/>
                </p:cNvSpPr>
                <p:nvPr/>
              </p:nvSpPr>
              <p:spPr bwMode="auto">
                <a:xfrm>
                  <a:off x="5895" y="3152"/>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M</a:t>
                  </a:r>
                  <a:endParaRPr lang="en-US" altLang="zh-CN" sz="1000" u="none">
                    <a:solidFill>
                      <a:srgbClr val="000000"/>
                    </a:solidFill>
                    <a:latin typeface="Times New Roman" panose="02020603050405020304" pitchFamily="18" charset="0"/>
                  </a:endParaRPr>
                </a:p>
              </p:txBody>
            </p:sp>
            <p:sp>
              <p:nvSpPr>
                <p:cNvPr id="110" name="Rectangle 118"/>
                <p:cNvSpPr>
                  <a:spLocks noChangeArrowheads="1"/>
                </p:cNvSpPr>
                <p:nvPr/>
              </p:nvSpPr>
              <p:spPr bwMode="auto">
                <a:xfrm>
                  <a:off x="4317" y="4556"/>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sp>
              <p:nvSpPr>
                <p:cNvPr id="111" name="Rectangle 119"/>
                <p:cNvSpPr>
                  <a:spLocks noChangeArrowheads="1"/>
                </p:cNvSpPr>
                <p:nvPr/>
              </p:nvSpPr>
              <p:spPr bwMode="auto">
                <a:xfrm>
                  <a:off x="6735" y="4556"/>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P</a:t>
                  </a:r>
                  <a:endParaRPr lang="en-US" altLang="zh-CN" sz="1000" u="none">
                    <a:solidFill>
                      <a:srgbClr val="000000"/>
                    </a:solidFill>
                    <a:latin typeface="Times New Roman" panose="02020603050405020304" pitchFamily="18" charset="0"/>
                  </a:endParaRPr>
                </a:p>
              </p:txBody>
            </p:sp>
          </p:grpSp>
          <p:sp>
            <p:nvSpPr>
              <p:cNvPr id="93" name="Oval 120"/>
              <p:cNvSpPr>
                <a:spLocks noChangeArrowheads="1"/>
              </p:cNvSpPr>
              <p:nvPr/>
            </p:nvSpPr>
            <p:spPr bwMode="auto">
              <a:xfrm>
                <a:off x="1968" y="1008"/>
                <a:ext cx="144" cy="192"/>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4" name="Oval 121"/>
              <p:cNvSpPr>
                <a:spLocks noChangeArrowheads="1"/>
              </p:cNvSpPr>
              <p:nvPr/>
            </p:nvSpPr>
            <p:spPr bwMode="auto">
              <a:xfrm>
                <a:off x="1104" y="1680"/>
                <a:ext cx="144" cy="192"/>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5" name="Oval 122"/>
              <p:cNvSpPr>
                <a:spLocks noChangeArrowheads="1"/>
              </p:cNvSpPr>
              <p:nvPr/>
            </p:nvSpPr>
            <p:spPr bwMode="auto">
              <a:xfrm>
                <a:off x="2400" y="1680"/>
                <a:ext cx="144" cy="192"/>
              </a:xfrm>
              <a:prstGeom prst="ellipse">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sp>
        <p:nvSpPr>
          <p:cNvPr id="125" name="Rectangle 123"/>
          <p:cNvSpPr>
            <a:spLocks noChangeArrowheads="1"/>
          </p:cNvSpPr>
          <p:nvPr/>
        </p:nvSpPr>
        <p:spPr bwMode="auto">
          <a:xfrm>
            <a:off x="617450" y="4349311"/>
            <a:ext cx="3254375" cy="414338"/>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6" name="Rectangle 124"/>
          <p:cNvSpPr>
            <a:spLocks noChangeArrowheads="1"/>
          </p:cNvSpPr>
          <p:nvPr/>
        </p:nvSpPr>
        <p:spPr bwMode="auto">
          <a:xfrm>
            <a:off x="617450" y="5183943"/>
            <a:ext cx="2822575" cy="304800"/>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mc:AlternateContent xmlns:mc="http://schemas.openxmlformats.org/markup-compatibility/2006">
        <mc:Choice xmlns:a14="http://schemas.microsoft.com/office/drawing/2010/main" Requires="a14">
          <p:sp>
            <p:nvSpPr>
              <p:cNvPr id="127" name="Rectangle 3"/>
              <p:cNvSpPr txBox="1">
                <a:spLocks noChangeArrowheads="1"/>
              </p:cNvSpPr>
              <p:nvPr/>
            </p:nvSpPr>
            <p:spPr>
              <a:xfrm>
                <a:off x="188357" y="1776080"/>
                <a:ext cx="6732130" cy="4114800"/>
              </a:xfrm>
              <a:prstGeom prst="rect">
                <a:avLst/>
              </a:prstGeom>
            </p:spPr>
            <p:txBody>
              <a:bodyPr vert="horz" lIns="91440" tIns="45720" rIns="91440" bIns="45720" rtlCol="0">
                <a:no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sz="1800" dirty="0">
                    <a:solidFill>
                      <a:srgbClr val="000000"/>
                    </a:solidFill>
                  </a:rPr>
                  <a:t>联系集 </a:t>
                </a:r>
                <a:endParaRPr lang="zh-CN" altLang="en-US" sz="1800" dirty="0">
                  <a:solidFill>
                    <a:srgbClr val="000000"/>
                  </a:solidFill>
                </a:endParaRPr>
              </a:p>
              <a:p>
                <a:pPr lvl="1">
                  <a:buNone/>
                </a:pPr>
                <a:r>
                  <a:rPr lang="zh-CN" altLang="en-US" sz="1800" dirty="0">
                    <a:solidFill>
                      <a:srgbClr val="000000"/>
                    </a:solidFill>
                  </a:rPr>
                  <a:t>    联系集是</a:t>
                </a:r>
                <a14:m>
                  <m:oMath xmlns:m="http://schemas.openxmlformats.org/officeDocument/2006/math">
                    <m:r>
                      <a:rPr lang="en-US" altLang="zh-CN" sz="1800" i="1" dirty="0" smtClean="0">
                        <a:solidFill>
                          <a:srgbClr val="000000"/>
                        </a:solidFill>
                        <a:latin typeface="Cambria Math" panose="02040503050406030204" pitchFamily="18" charset="0"/>
                      </a:rPr>
                      <m:t>𝑛</m:t>
                    </m:r>
                    <m:r>
                      <a:rPr lang="zh-CN" altLang="en-US" sz="1800" i="1" dirty="0" smtClean="0">
                        <a:solidFill>
                          <a:srgbClr val="000000"/>
                        </a:solidFill>
                        <a:latin typeface="Cambria Math" panose="02040503050406030204" pitchFamily="18" charset="0"/>
                      </a:rPr>
                      <m:t>（</m:t>
                    </m:r>
                    <m:r>
                      <a:rPr lang="en-US" altLang="zh-CN" sz="1800" i="1" dirty="0" smtClean="0">
                        <a:solidFill>
                          <a:srgbClr val="000000"/>
                        </a:solidFill>
                        <a:latin typeface="Cambria Math" panose="02040503050406030204" pitchFamily="18" charset="0"/>
                      </a:rPr>
                      <m:t>𝑛</m:t>
                    </m:r>
                    <m:r>
                      <a:rPr lang="en-US" altLang="zh-CN" sz="1800" i="1" dirty="0" smtClean="0">
                        <a:solidFill>
                          <a:srgbClr val="000000"/>
                        </a:solidFill>
                        <a:latin typeface="Cambria Math" panose="02040503050406030204" pitchFamily="18" charset="0"/>
                      </a:rPr>
                      <m:t>≥</m:t>
                    </m:r>
                    <m:r>
                      <a:rPr lang="en-US" altLang="zh-CN" sz="1800" i="1" dirty="0" smtClean="0">
                        <a:solidFill>
                          <a:srgbClr val="000000"/>
                        </a:solidFill>
                        <a:latin typeface="Cambria Math" panose="02040503050406030204" pitchFamily="18" charset="0"/>
                      </a:rPr>
                      <m:t>2</m:t>
                    </m:r>
                    <m:r>
                      <a:rPr lang="zh-CN" altLang="en-US" sz="1800" i="1" dirty="0" smtClean="0">
                        <a:solidFill>
                          <a:srgbClr val="000000"/>
                        </a:solidFill>
                        <a:latin typeface="Cambria Math" panose="02040503050406030204" pitchFamily="18" charset="0"/>
                      </a:rPr>
                      <m:t>）</m:t>
                    </m:r>
                  </m:oMath>
                </a14:m>
                <a:r>
                  <a:rPr lang="zh-CN" altLang="en-US" sz="1800" dirty="0">
                    <a:solidFill>
                      <a:srgbClr val="000000"/>
                    </a:solidFill>
                  </a:rPr>
                  <a:t>个实体集上的数学关系，这些实体集不必互异。如果</a:t>
                </a:r>
                <a14:m>
                  <m:oMath xmlns:m="http://schemas.openxmlformats.org/officeDocument/2006/math">
                    <m:sSub>
                      <m:sSubPr>
                        <m:ctrlPr>
                          <a:rPr lang="en-US" altLang="zh-CN" sz="1800" i="1" smtClean="0">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𝐸</m:t>
                        </m:r>
                      </m:e>
                      <m:sub>
                        <m:r>
                          <a:rPr lang="en-US" altLang="zh-CN" sz="1800" b="0" i="1" smtClean="0">
                            <a:solidFill>
                              <a:srgbClr val="000000"/>
                            </a:solidFill>
                            <a:latin typeface="Cambria Math" panose="02040503050406030204" pitchFamily="18" charset="0"/>
                          </a:rPr>
                          <m:t>1</m:t>
                        </m:r>
                      </m:sub>
                    </m:sSub>
                    <m:r>
                      <a:rPr lang="en-US" altLang="zh-CN" sz="1800" b="0" i="1"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rPr>
                          <m:t>𝐸</m:t>
                        </m:r>
                      </m:e>
                      <m:sub>
                        <m:r>
                          <a:rPr lang="en-US" altLang="zh-CN" sz="1800" b="0" i="1" smtClean="0">
                            <a:solidFill>
                              <a:srgbClr val="000000"/>
                            </a:solidFill>
                            <a:latin typeface="Cambria Math" panose="02040503050406030204" pitchFamily="18" charset="0"/>
                          </a:rPr>
                          <m:t>2</m:t>
                        </m:r>
                      </m:sub>
                    </m:sSub>
                    <m:r>
                      <a:rPr lang="en-US" altLang="zh-CN" sz="1800" b="0" i="1"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rPr>
                          <m:t>𝐸</m:t>
                        </m:r>
                      </m:e>
                      <m:sub>
                        <m:r>
                          <a:rPr lang="en-US" altLang="zh-CN" sz="1800" b="0" i="1" smtClean="0">
                            <a:solidFill>
                              <a:srgbClr val="000000"/>
                            </a:solidFill>
                            <a:latin typeface="Cambria Math" panose="02040503050406030204" pitchFamily="18" charset="0"/>
                          </a:rPr>
                          <m:t>𝑛</m:t>
                        </m:r>
                      </m:sub>
                    </m:sSub>
                  </m:oMath>
                </a14:m>
                <a:r>
                  <a:rPr lang="zh-CN" altLang="en-US" sz="1800" dirty="0">
                    <a:solidFill>
                      <a:srgbClr val="000000"/>
                    </a:solidFill>
                    <a:latin typeface="Times New Roman" panose="02020603050405020304" pitchFamily="18" charset="0"/>
                  </a:rPr>
                  <a:t>为</a:t>
                </a:r>
                <a14:m>
                  <m:oMath xmlns:m="http://schemas.openxmlformats.org/officeDocument/2006/math">
                    <m:r>
                      <a:rPr lang="en-US" altLang="zh-CN" sz="1800" i="1" dirty="0">
                        <a:solidFill>
                          <a:srgbClr val="000000"/>
                        </a:solidFill>
                        <a:latin typeface="Cambria Math" panose="02040503050406030204" pitchFamily="18" charset="0"/>
                      </a:rPr>
                      <m:t>𝑛</m:t>
                    </m:r>
                  </m:oMath>
                </a14:m>
                <a:r>
                  <a:rPr lang="zh-CN" altLang="en-US" sz="1800" dirty="0">
                    <a:solidFill>
                      <a:srgbClr val="000000"/>
                    </a:solidFill>
                    <a:latin typeface="Times New Roman" panose="02020603050405020304" pitchFamily="18" charset="0"/>
                  </a:rPr>
                  <a:t>个实体集，那么联系集</a:t>
                </a:r>
                <a14:m>
                  <m:oMath xmlns:m="http://schemas.openxmlformats.org/officeDocument/2006/math">
                    <m:r>
                      <a:rPr lang="en-US" altLang="zh-CN" sz="1800" i="1" dirty="0" smtClean="0">
                        <a:solidFill>
                          <a:srgbClr val="000000"/>
                        </a:solidFill>
                        <a:latin typeface="Cambria Math" panose="02040503050406030204" pitchFamily="18" charset="0"/>
                      </a:rPr>
                      <m:t>𝑅</m:t>
                    </m:r>
                  </m:oMath>
                </a14:m>
                <a:r>
                  <a:rPr lang="zh-CN" altLang="en-US" sz="1800" dirty="0">
                    <a:solidFill>
                      <a:srgbClr val="000000"/>
                    </a:solidFill>
                    <a:latin typeface="Times New Roman" panose="02020603050405020304" pitchFamily="18" charset="0"/>
                  </a:rPr>
                  <a:t>是</a:t>
                </a:r>
                <a14:m>
                  <m:oMath xmlns:m="http://schemas.openxmlformats.org/officeDocument/2006/math">
                    <m:r>
                      <a:rPr lang="en-US" altLang="zh-CN" sz="1800" i="1" dirty="0" smtClean="0">
                        <a:solidFill>
                          <a:srgbClr val="000000"/>
                        </a:solidFill>
                        <a:latin typeface="Cambria Math" panose="02040503050406030204" pitchFamily="18" charset="0"/>
                      </a:rPr>
                      <m:t>{(</m:t>
                    </m:r>
                    <m:sSub>
                      <m:sSubPr>
                        <m:ctrlPr>
                          <a:rPr lang="en-US" altLang="zh-CN" sz="1800" i="1" dirty="0" smtClean="0">
                            <a:solidFill>
                              <a:srgbClr val="000000"/>
                            </a:solidFill>
                            <a:latin typeface="Cambria Math" panose="02040503050406030204" pitchFamily="18" charset="0"/>
                          </a:rPr>
                        </m:ctrlPr>
                      </m:sSubPr>
                      <m:e>
                        <m:r>
                          <a:rPr lang="en-US" altLang="zh-CN" sz="1800" b="0" i="1" dirty="0" smtClean="0">
                            <a:solidFill>
                              <a:srgbClr val="000000"/>
                            </a:solidFill>
                            <a:latin typeface="Cambria Math" panose="02040503050406030204" pitchFamily="18" charset="0"/>
                          </a:rPr>
                          <m:t>𝑒</m:t>
                        </m:r>
                      </m:e>
                      <m:sub>
                        <m:r>
                          <a:rPr lang="en-US" altLang="zh-CN" sz="1800" b="0" i="1" dirty="0" smtClean="0">
                            <a:solidFill>
                              <a:srgbClr val="000000"/>
                            </a:solidFill>
                            <a:latin typeface="Cambria Math" panose="02040503050406030204" pitchFamily="18" charset="0"/>
                          </a:rPr>
                          <m:t>1</m:t>
                        </m:r>
                      </m:sub>
                    </m:sSub>
                    <m:r>
                      <a:rPr lang="zh-CN" altLang="en-US" sz="1800" i="1" dirty="0" smtClean="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b="0" i="1" dirty="0" smtClean="0">
                            <a:solidFill>
                              <a:srgbClr val="000000"/>
                            </a:solidFill>
                            <a:latin typeface="Cambria Math" panose="02040503050406030204" pitchFamily="18" charset="0"/>
                          </a:rPr>
                          <m:t>2</m:t>
                        </m:r>
                      </m:sub>
                    </m:sSub>
                    <m:r>
                      <a:rPr lang="zh-CN" altLang="en-US" sz="1800" i="1" dirty="0" smtClean="0">
                        <a:solidFill>
                          <a:srgbClr val="000000"/>
                        </a:solidFill>
                        <a:latin typeface="Cambria Math" panose="02040503050406030204" pitchFamily="18" charset="0"/>
                      </a:rPr>
                      <m:t>，</m:t>
                    </m:r>
                    <m:r>
                      <a:rPr lang="en-US" altLang="zh-CN" sz="1800" i="1" dirty="0" smtClean="0">
                        <a:solidFill>
                          <a:srgbClr val="000000"/>
                        </a:solidFill>
                        <a:latin typeface="Cambria Math" panose="02040503050406030204" pitchFamily="18" charset="0"/>
                      </a:rPr>
                      <m:t>…</m:t>
                    </m:r>
                    <m:r>
                      <a:rPr lang="zh-CN" altLang="en-US" sz="1800" i="1" dirty="0" smtClean="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b="0" i="1" dirty="0" smtClean="0">
                            <a:solidFill>
                              <a:srgbClr val="000000"/>
                            </a:solidFill>
                            <a:latin typeface="Cambria Math" panose="02040503050406030204" pitchFamily="18" charset="0"/>
                          </a:rPr>
                          <m:t>𝑛</m:t>
                        </m:r>
                      </m:sub>
                    </m:sSub>
                    <m:r>
                      <a:rPr lang="zh-CN" altLang="en-US" sz="1800" i="1" dirty="0" smtClean="0">
                        <a:solidFill>
                          <a:srgbClr val="000000"/>
                        </a:solidFill>
                        <a:latin typeface="Cambria Math" panose="02040503050406030204" pitchFamily="18" charset="0"/>
                      </a:rPr>
                      <m:t>）</m:t>
                    </m:r>
                    <m:r>
                      <a:rPr lang="en-US" altLang="zh-CN" sz="1800" i="1" dirty="0" smtClean="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i="1" dirty="0">
                            <a:solidFill>
                              <a:srgbClr val="000000"/>
                            </a:solidFill>
                            <a:latin typeface="Cambria Math" panose="02040503050406030204" pitchFamily="18" charset="0"/>
                          </a:rPr>
                          <m:t>1</m:t>
                        </m:r>
                      </m:sub>
                    </m:sSub>
                    <m:r>
                      <a:rPr lang="en-US" altLang="zh-CN" sz="1800" i="1" dirty="0"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rPr>
                          <m:t>𝐸</m:t>
                        </m:r>
                      </m:e>
                      <m:sub>
                        <m:r>
                          <a:rPr lang="en-US" altLang="zh-CN" sz="1800" i="1">
                            <a:solidFill>
                              <a:srgbClr val="000000"/>
                            </a:solidFill>
                            <a:latin typeface="Cambria Math" panose="02040503050406030204" pitchFamily="18" charset="0"/>
                          </a:rPr>
                          <m:t>1</m:t>
                        </m:r>
                      </m:sub>
                    </m:sSub>
                    <m:r>
                      <a:rPr lang="en-US" altLang="zh-CN" sz="1800" i="1" dirty="0" smtClean="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b="0" i="1" dirty="0" smtClean="0">
                            <a:solidFill>
                              <a:srgbClr val="000000"/>
                            </a:solidFill>
                            <a:latin typeface="Cambria Math" panose="02040503050406030204" pitchFamily="18" charset="0"/>
                          </a:rPr>
                          <m:t>2</m:t>
                        </m:r>
                      </m:sub>
                    </m:sSub>
                    <m:r>
                      <a:rPr lang="en-US" altLang="zh-CN" sz="1800" i="1" dirty="0"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rPr>
                          <m:t>𝐸</m:t>
                        </m:r>
                      </m:e>
                      <m:sub>
                        <m:r>
                          <a:rPr lang="en-US" altLang="zh-CN" sz="1800" b="0" i="1" smtClean="0">
                            <a:solidFill>
                              <a:srgbClr val="000000"/>
                            </a:solidFill>
                            <a:latin typeface="Cambria Math" panose="02040503050406030204" pitchFamily="18" charset="0"/>
                          </a:rPr>
                          <m:t>2</m:t>
                        </m:r>
                      </m:sub>
                    </m:sSub>
                    <m:r>
                      <a:rPr lang="zh-CN" altLang="en-US" sz="1800" i="1" dirty="0" smtClean="0">
                        <a:solidFill>
                          <a:srgbClr val="000000"/>
                        </a:solidFill>
                        <a:latin typeface="Cambria Math" panose="02040503050406030204" pitchFamily="18" charset="0"/>
                      </a:rPr>
                      <m:t>，</m:t>
                    </m:r>
                    <m:r>
                      <a:rPr lang="en-US" altLang="zh-CN" sz="1800" i="1" dirty="0" smtClean="0">
                        <a:solidFill>
                          <a:srgbClr val="000000"/>
                        </a:solidFill>
                        <a:latin typeface="Cambria Math" panose="02040503050406030204" pitchFamily="18" charset="0"/>
                      </a:rPr>
                      <m:t>…</m:t>
                    </m:r>
                    <m:r>
                      <a:rPr lang="zh-CN" altLang="en-US" sz="1800" i="1" dirty="0"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𝑒</m:t>
                        </m:r>
                      </m:e>
                      <m:sub>
                        <m:r>
                          <a:rPr lang="en-US" altLang="zh-CN" sz="1800" b="0" i="1" smtClean="0">
                            <a:solidFill>
                              <a:srgbClr val="000000"/>
                            </a:solidFill>
                            <a:latin typeface="Cambria Math" panose="02040503050406030204" pitchFamily="18" charset="0"/>
                          </a:rPr>
                          <m:t>𝑛</m:t>
                        </m:r>
                      </m:sub>
                    </m:sSub>
                    <m:r>
                      <a:rPr lang="en-US" altLang="zh-CN" sz="1800" i="1" dirty="0" err="1"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rPr>
                          <m:t>𝐸</m:t>
                        </m:r>
                      </m:e>
                      <m:sub>
                        <m:r>
                          <a:rPr lang="en-US" altLang="zh-CN" sz="1800" b="0" i="1" smtClean="0">
                            <a:solidFill>
                              <a:srgbClr val="000000"/>
                            </a:solidFill>
                            <a:latin typeface="Cambria Math" panose="02040503050406030204" pitchFamily="18" charset="0"/>
                          </a:rPr>
                          <m:t>𝑛</m:t>
                        </m:r>
                      </m:sub>
                    </m:sSub>
                    <m:r>
                      <a:rPr lang="en-US" altLang="zh-CN" sz="1800" i="1" dirty="0" smtClean="0">
                        <a:solidFill>
                          <a:srgbClr val="000000"/>
                        </a:solidFill>
                        <a:latin typeface="Cambria Math" panose="02040503050406030204" pitchFamily="18" charset="0"/>
                      </a:rPr>
                      <m:t>}</m:t>
                    </m:r>
                  </m:oMath>
                </a14:m>
                <a:r>
                  <a:rPr lang="zh-CN" altLang="en-US" sz="1800" dirty="0">
                    <a:solidFill>
                      <a:srgbClr val="000000"/>
                    </a:solidFill>
                  </a:rPr>
                  <a:t>的一个子集，而</a:t>
                </a:r>
                <a14:m>
                  <m:oMath xmlns:m="http://schemas.openxmlformats.org/officeDocument/2006/math">
                    <m:r>
                      <a:rPr lang="en-US" altLang="zh-CN" sz="1800" b="0" i="0" dirty="0" smtClean="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i="1" dirty="0">
                            <a:solidFill>
                              <a:srgbClr val="000000"/>
                            </a:solidFill>
                            <a:latin typeface="Cambria Math" panose="02040503050406030204" pitchFamily="18" charset="0"/>
                          </a:rPr>
                          <m:t>1</m:t>
                        </m:r>
                      </m:sub>
                    </m:sSub>
                    <m:r>
                      <a:rPr lang="zh-CN" altLang="en-US" sz="1800" i="1" dirty="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i="1" dirty="0">
                            <a:solidFill>
                              <a:srgbClr val="000000"/>
                            </a:solidFill>
                            <a:latin typeface="Cambria Math" panose="02040503050406030204" pitchFamily="18" charset="0"/>
                          </a:rPr>
                          <m:t>2</m:t>
                        </m:r>
                      </m:sub>
                    </m:sSub>
                    <m:r>
                      <a:rPr lang="zh-CN" altLang="en-US" sz="1800" i="1" dirty="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m:t>
                    </m:r>
                    <m:r>
                      <a:rPr lang="zh-CN" altLang="en-US" sz="1800" i="1" dirty="0">
                        <a:solidFill>
                          <a:srgbClr val="000000"/>
                        </a:solidFill>
                        <a:latin typeface="Cambria Math" panose="02040503050406030204" pitchFamily="18" charset="0"/>
                      </a:rPr>
                      <m:t>，</m:t>
                    </m:r>
                    <m:sSub>
                      <m:sSubPr>
                        <m:ctrlPr>
                          <a:rPr lang="en-US" altLang="zh-CN" sz="1800" i="1" dirty="0">
                            <a:solidFill>
                              <a:srgbClr val="000000"/>
                            </a:solidFill>
                            <a:latin typeface="Cambria Math" panose="02040503050406030204" pitchFamily="18" charset="0"/>
                          </a:rPr>
                        </m:ctrlPr>
                      </m:sSubPr>
                      <m:e>
                        <m:r>
                          <a:rPr lang="en-US" altLang="zh-CN" sz="1800" i="1" dirty="0">
                            <a:solidFill>
                              <a:srgbClr val="000000"/>
                            </a:solidFill>
                            <a:latin typeface="Cambria Math" panose="02040503050406030204" pitchFamily="18" charset="0"/>
                          </a:rPr>
                          <m:t>𝑒</m:t>
                        </m:r>
                      </m:e>
                      <m:sub>
                        <m:r>
                          <a:rPr lang="en-US" altLang="zh-CN" sz="1800" i="1" dirty="0">
                            <a:solidFill>
                              <a:srgbClr val="000000"/>
                            </a:solidFill>
                            <a:latin typeface="Cambria Math" panose="02040503050406030204" pitchFamily="18" charset="0"/>
                          </a:rPr>
                          <m:t>𝑛</m:t>
                        </m:r>
                      </m:sub>
                    </m:sSub>
                    <m:r>
                      <a:rPr lang="en-US" altLang="zh-CN" sz="1800" b="0" i="1" dirty="0" smtClean="0">
                        <a:solidFill>
                          <a:srgbClr val="000000"/>
                        </a:solidFill>
                        <a:latin typeface="Cambria Math" panose="02040503050406030204" pitchFamily="18" charset="0"/>
                      </a:rPr>
                      <m:t>)</m:t>
                    </m:r>
                    <m:r>
                      <a:rPr lang="en-US" altLang="zh-CN" sz="1800" i="1" dirty="0">
                        <a:solidFill>
                          <a:srgbClr val="000000"/>
                        </a:solidFill>
                        <a:latin typeface="Cambria Math" panose="02040503050406030204" pitchFamily="18" charset="0"/>
                      </a:rPr>
                      <m:t> </m:t>
                    </m:r>
                  </m:oMath>
                </a14:m>
                <a:r>
                  <a:rPr lang="zh-CN" altLang="en-US" sz="1800" dirty="0">
                    <a:solidFill>
                      <a:srgbClr val="000000"/>
                    </a:solidFill>
                  </a:rPr>
                  <a:t>是一个联系。 </a:t>
                </a:r>
                <a:endParaRPr lang="zh-CN" altLang="en-US" sz="1800" dirty="0">
                  <a:solidFill>
                    <a:srgbClr val="000000"/>
                  </a:solidFill>
                </a:endParaRPr>
              </a:p>
              <a:p>
                <a:pPr lvl="1"/>
                <a:r>
                  <a:rPr lang="zh-CN" altLang="en-US" sz="1800" dirty="0">
                    <a:solidFill>
                      <a:srgbClr val="000000"/>
                    </a:solidFill>
                  </a:rPr>
                  <a:t>联系的元数 </a:t>
                </a:r>
                <a:endParaRPr lang="zh-CN" altLang="en-US" sz="1800" dirty="0">
                  <a:solidFill>
                    <a:srgbClr val="000000"/>
                  </a:solidFill>
                </a:endParaRPr>
              </a:p>
              <a:p>
                <a:pPr lvl="2">
                  <a:buNone/>
                </a:pPr>
                <a:r>
                  <a:rPr lang="zh-CN" altLang="en-US" sz="1800" dirty="0">
                    <a:solidFill>
                      <a:srgbClr val="000000"/>
                    </a:solidFill>
                  </a:rPr>
                  <a:t>一个联系涉及到的实体集个数 </a:t>
                </a:r>
                <a:endParaRPr lang="zh-CN" altLang="en-US" sz="1800" dirty="0">
                  <a:solidFill>
                    <a:srgbClr val="000000"/>
                  </a:solidFill>
                </a:endParaRPr>
              </a:p>
              <a:p>
                <a:pPr lvl="1"/>
                <a:r>
                  <a:rPr lang="zh-CN" altLang="en-US" sz="1800" dirty="0">
                    <a:solidFill>
                      <a:srgbClr val="C0C0C0"/>
                    </a:solidFill>
                  </a:rPr>
                  <a:t>联系的连通词</a:t>
                </a:r>
                <a:r>
                  <a:rPr lang="zh-CN" altLang="en-US" sz="1800" dirty="0">
                    <a:solidFill>
                      <a:srgbClr val="000000"/>
                    </a:solidFill>
                  </a:rPr>
                  <a:t>（</a:t>
                </a:r>
                <a:r>
                  <a:rPr lang="zh-CN" altLang="en-US" sz="1800" dirty="0">
                    <a:solidFill>
                      <a:srgbClr val="FF9933"/>
                    </a:solidFill>
                  </a:rPr>
                  <a:t>基数比约束</a:t>
                </a:r>
                <a:r>
                  <a:rPr lang="zh-CN" altLang="en-US" sz="1800" dirty="0">
                    <a:solidFill>
                      <a:srgbClr val="000000"/>
                    </a:solidFill>
                  </a:rPr>
                  <a:t>）</a:t>
                </a:r>
                <a:r>
                  <a:rPr lang="en-US" altLang="zh-CN" sz="1800" dirty="0">
                    <a:solidFill>
                      <a:srgbClr val="000000"/>
                    </a:solidFill>
                  </a:rPr>
                  <a:t> </a:t>
                </a:r>
                <a:endParaRPr lang="en-US" altLang="zh-CN" sz="1800" dirty="0">
                  <a:solidFill>
                    <a:srgbClr val="000000"/>
                  </a:solidFill>
                </a:endParaRPr>
              </a:p>
              <a:p>
                <a:pPr lvl="2">
                  <a:buNone/>
                </a:pPr>
                <a:r>
                  <a:rPr lang="zh-CN" altLang="en-US" sz="1800" dirty="0">
                    <a:solidFill>
                      <a:srgbClr val="000000"/>
                    </a:solidFill>
                  </a:rPr>
                  <a:t>联系涉及到的实体集之间实体对应的方式 </a:t>
                </a:r>
                <a:endParaRPr lang="zh-CN" altLang="en-US" sz="1800" dirty="0">
                  <a:solidFill>
                    <a:srgbClr val="000000"/>
                  </a:solidFill>
                </a:endParaRPr>
              </a:p>
              <a:p>
                <a:pPr lvl="1"/>
                <a:r>
                  <a:rPr lang="zh-CN" altLang="en-US" sz="1800" dirty="0">
                    <a:solidFill>
                      <a:srgbClr val="C0C0C0"/>
                    </a:solidFill>
                  </a:rPr>
                  <a:t>实体的基数</a:t>
                </a:r>
                <a:r>
                  <a:rPr lang="zh-CN" altLang="en-US" sz="1800" dirty="0">
                    <a:solidFill>
                      <a:srgbClr val="000000"/>
                    </a:solidFill>
                  </a:rPr>
                  <a:t>（</a:t>
                </a:r>
                <a:r>
                  <a:rPr lang="zh-CN" altLang="en-US" sz="1800" dirty="0">
                    <a:solidFill>
                      <a:srgbClr val="FF9933"/>
                    </a:solidFill>
                  </a:rPr>
                  <a:t>参与约束</a:t>
                </a:r>
                <a:r>
                  <a:rPr lang="zh-CN" altLang="en-US" sz="1800" dirty="0">
                    <a:solidFill>
                      <a:srgbClr val="000000"/>
                    </a:solidFill>
                  </a:rPr>
                  <a:t>） </a:t>
                </a:r>
                <a:endParaRPr lang="zh-CN" altLang="en-US" sz="1800" dirty="0">
                  <a:solidFill>
                    <a:srgbClr val="000000"/>
                  </a:solidFill>
                </a:endParaRPr>
              </a:p>
              <a:p>
                <a:pPr lvl="2">
                  <a:buNone/>
                </a:pPr>
                <a:r>
                  <a:rPr lang="zh-CN" altLang="en-US" sz="1800" dirty="0">
                    <a:solidFill>
                      <a:srgbClr val="000000"/>
                    </a:solidFill>
                  </a:rPr>
                  <a:t>有两个实体集</a:t>
                </a:r>
                <a:r>
                  <a:rPr lang="en-US" altLang="zh-CN" sz="1800" dirty="0">
                    <a:solidFill>
                      <a:srgbClr val="000000"/>
                    </a:solidFill>
                  </a:rPr>
                  <a:t>E1</a:t>
                </a:r>
                <a:r>
                  <a:rPr lang="zh-CN" altLang="en-US" sz="1800" dirty="0">
                    <a:solidFill>
                      <a:srgbClr val="000000"/>
                    </a:solidFill>
                  </a:rPr>
                  <a:t>和</a:t>
                </a:r>
                <a:r>
                  <a:rPr lang="en-US" altLang="zh-CN" sz="1800" dirty="0">
                    <a:solidFill>
                      <a:srgbClr val="000000"/>
                    </a:solidFill>
                  </a:rPr>
                  <a:t>E2</a:t>
                </a:r>
                <a:r>
                  <a:rPr lang="zh-CN" altLang="en-US" sz="1800" dirty="0">
                    <a:solidFill>
                      <a:srgbClr val="000000"/>
                    </a:solidFill>
                  </a:rPr>
                  <a:t>，</a:t>
                </a:r>
                <a:r>
                  <a:rPr lang="en-US" altLang="zh-CN" sz="1800" dirty="0">
                    <a:solidFill>
                      <a:srgbClr val="000000"/>
                    </a:solidFill>
                  </a:rPr>
                  <a:t>E1</a:t>
                </a:r>
                <a:r>
                  <a:rPr lang="zh-CN" altLang="en-US" sz="1800" dirty="0">
                    <a:solidFill>
                      <a:srgbClr val="000000"/>
                    </a:solidFill>
                  </a:rPr>
                  <a:t>中每个实体与</a:t>
                </a:r>
                <a:r>
                  <a:rPr lang="en-US" altLang="zh-CN" sz="1800" dirty="0">
                    <a:solidFill>
                      <a:srgbClr val="000000"/>
                    </a:solidFill>
                  </a:rPr>
                  <a:t>E2</a:t>
                </a:r>
                <a:r>
                  <a:rPr lang="zh-CN" altLang="en-US" sz="1800" dirty="0">
                    <a:solidFill>
                      <a:srgbClr val="000000"/>
                    </a:solidFill>
                  </a:rPr>
                  <a:t>中有联系实体的数目的最小值</a:t>
                </a:r>
                <a:r>
                  <a:rPr lang="en-US" altLang="zh-CN" sz="1800" dirty="0">
                    <a:solidFill>
                      <a:srgbClr val="000000"/>
                    </a:solidFill>
                  </a:rPr>
                  <a:t>min</a:t>
                </a:r>
                <a:r>
                  <a:rPr lang="zh-CN" altLang="en-US" sz="1800" dirty="0">
                    <a:solidFill>
                      <a:srgbClr val="000000"/>
                    </a:solidFill>
                  </a:rPr>
                  <a:t>和最大值</a:t>
                </a:r>
                <a:r>
                  <a:rPr lang="en-US" altLang="zh-CN" sz="1800" dirty="0">
                    <a:solidFill>
                      <a:srgbClr val="000000"/>
                    </a:solidFill>
                  </a:rPr>
                  <a:t>max</a:t>
                </a:r>
                <a:r>
                  <a:rPr lang="zh-CN" altLang="en-US" sz="1800" dirty="0">
                    <a:solidFill>
                      <a:srgbClr val="000000"/>
                    </a:solidFill>
                  </a:rPr>
                  <a:t>，称为</a:t>
                </a:r>
                <a:r>
                  <a:rPr lang="en-US" altLang="zh-CN" sz="1800" dirty="0">
                    <a:solidFill>
                      <a:srgbClr val="000000"/>
                    </a:solidFill>
                  </a:rPr>
                  <a:t>E1</a:t>
                </a:r>
                <a:r>
                  <a:rPr lang="zh-CN" altLang="en-US" sz="1800" dirty="0">
                    <a:solidFill>
                      <a:srgbClr val="000000"/>
                    </a:solidFill>
                  </a:rPr>
                  <a:t>的</a:t>
                </a:r>
                <a:r>
                  <a:rPr lang="zh-CN" altLang="en-US" sz="1800" dirty="0">
                    <a:solidFill>
                      <a:srgbClr val="C0C0C0"/>
                    </a:solidFill>
                  </a:rPr>
                  <a:t>（基数）</a:t>
                </a:r>
                <a:r>
                  <a:rPr lang="zh-CN" altLang="en-US" sz="1800" dirty="0">
                    <a:solidFill>
                      <a:srgbClr val="000000"/>
                    </a:solidFill>
                  </a:rPr>
                  <a:t>参与度，用（</a:t>
                </a:r>
                <a:r>
                  <a:rPr lang="en-US" altLang="zh-CN" sz="1800" dirty="0">
                    <a:solidFill>
                      <a:srgbClr val="000000"/>
                    </a:solidFill>
                  </a:rPr>
                  <a:t>min</a:t>
                </a:r>
                <a:r>
                  <a:rPr lang="zh-CN" altLang="en-US" sz="1800" dirty="0">
                    <a:solidFill>
                      <a:srgbClr val="000000"/>
                    </a:solidFill>
                  </a:rPr>
                  <a:t>，</a:t>
                </a:r>
                <a:r>
                  <a:rPr lang="en-US" altLang="zh-CN" sz="1800" dirty="0">
                    <a:solidFill>
                      <a:srgbClr val="000000"/>
                    </a:solidFill>
                  </a:rPr>
                  <a:t>max</a:t>
                </a:r>
                <a:r>
                  <a:rPr lang="zh-CN" altLang="en-US" sz="1800" dirty="0">
                    <a:solidFill>
                      <a:srgbClr val="000000"/>
                    </a:solidFill>
                  </a:rPr>
                  <a:t>）形式表示 </a:t>
                </a:r>
                <a:endParaRPr lang="zh-CN" altLang="en-US" sz="1800" dirty="0">
                  <a:solidFill>
                    <a:srgbClr val="000000"/>
                  </a:solidFill>
                </a:endParaRPr>
              </a:p>
            </p:txBody>
          </p:sp>
        </mc:Choice>
        <mc:Fallback>
          <p:sp>
            <p:nvSpPr>
              <p:cNvPr id="127" name="Rectangle 3"/>
              <p:cNvSpPr txBox="1">
                <a:spLocks noRot="1" noChangeAspect="1" noMove="1" noResize="1" noEditPoints="1" noAdjustHandles="1" noChangeArrowheads="1" noChangeShapeType="1" noTextEdit="1"/>
              </p:cNvSpPr>
              <p:nvPr/>
            </p:nvSpPr>
            <p:spPr>
              <a:xfrm>
                <a:off x="188357" y="1776080"/>
                <a:ext cx="6732130" cy="4114800"/>
              </a:xfrm>
              <a:prstGeom prst="rect">
                <a:avLst/>
              </a:prstGeom>
              <a:blipFill rotWithShape="1">
                <a:blip r:embed="rId1"/>
                <a:stretch>
                  <a:fillRect l="-6" t="-15" r="4" b="-1581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fill="hold"/>
                                        <p:tgtEl>
                                          <p:spTgt spid="125"/>
                                        </p:tgtEl>
                                        <p:attrNameLst>
                                          <p:attrName>ppt_x</p:attrName>
                                        </p:attrNameLst>
                                      </p:cBhvr>
                                      <p:tavLst>
                                        <p:tav tm="0">
                                          <p:val>
                                            <p:strVal val="#ppt_x"/>
                                          </p:val>
                                        </p:tav>
                                        <p:tav tm="100000">
                                          <p:val>
                                            <p:strVal val="#ppt_x"/>
                                          </p:val>
                                        </p:tav>
                                      </p:tavLst>
                                    </p:anim>
                                    <p:anim calcmode="lin" valueType="num">
                                      <p:cBhvr additive="base">
                                        <p:cTn id="8" dur="500" fill="hold"/>
                                        <p:tgtEl>
                                          <p:spTgt spid="12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5"/>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61"/>
                                        </p:tgtEl>
                                        <p:attrNameLst>
                                          <p:attrName>style.visibility</p:attrName>
                                        </p:attrNameLst>
                                      </p:cBhvr>
                                      <p:to>
                                        <p:strVal val="visible"/>
                                      </p:to>
                                    </p:se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88"/>
                                        </p:tgtEl>
                                        <p:attrNameLst>
                                          <p:attrName>style.visibility</p:attrName>
                                        </p:attrNameLst>
                                      </p:cBhvr>
                                      <p:to>
                                        <p:strVal val="visible"/>
                                      </p:to>
                                    </p:set>
                                  </p:childTnLst>
                                  <p:subTnLst>
                                    <p:set>
                                      <p:cBhvr override="childStyle">
                                        <p:cTn dur="1" fill="hold" display="0" masterRel="nextClick" afterEffect="1"/>
                                        <p:tgtEl>
                                          <p:spTgt spid="8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6"/>
                                        </p:tgtEl>
                                        <p:attrNameLst>
                                          <p:attrName>style.visibility</p:attrName>
                                        </p:attrNameLst>
                                      </p:cBhvr>
                                      <p:to>
                                        <p:strVal val="visible"/>
                                      </p:to>
                                    </p:set>
                                    <p:anim calcmode="lin" valueType="num">
                                      <p:cBhvr additive="base">
                                        <p:cTn id="29" dur="500" fill="hold"/>
                                        <p:tgtEl>
                                          <p:spTgt spid="126"/>
                                        </p:tgtEl>
                                        <p:attrNameLst>
                                          <p:attrName>ppt_x</p:attrName>
                                        </p:attrNameLst>
                                      </p:cBhvr>
                                      <p:tavLst>
                                        <p:tav tm="0">
                                          <p:val>
                                            <p:strVal val="#ppt_x"/>
                                          </p:val>
                                        </p:tav>
                                        <p:tav tm="100000">
                                          <p:val>
                                            <p:strVal val="#ppt_x"/>
                                          </p:val>
                                        </p:tav>
                                      </p:tavLst>
                                    </p:anim>
                                    <p:anim calcmode="lin" valueType="num">
                                      <p:cBhvr additive="base">
                                        <p:cTn id="30" dur="500" fill="hold"/>
                                        <p:tgtEl>
                                          <p:spTgt spid="12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ER</a:t>
            </a:r>
            <a:r>
              <a:rPr lang="zh-CN" altLang="en-US" dirty="0"/>
              <a:t>模型的操作</a:t>
            </a:r>
            <a:endParaRPr lang="en-US" altLang="zh-CN" dirty="0"/>
          </a:p>
          <a:p>
            <a:pPr lvl="1"/>
            <a:r>
              <a:rPr lang="zh-CN" altLang="en-US" dirty="0">
                <a:solidFill>
                  <a:srgbClr val="000000"/>
                </a:solidFill>
              </a:rPr>
              <a:t>包括实体类型、联系类型和属性的</a:t>
            </a:r>
            <a:r>
              <a:rPr lang="zh-CN" altLang="en-US" b="1" dirty="0">
                <a:solidFill>
                  <a:srgbClr val="000000"/>
                </a:solidFill>
              </a:rPr>
              <a:t>分裂</a:t>
            </a:r>
            <a:r>
              <a:rPr lang="zh-CN" altLang="en-US" dirty="0">
                <a:solidFill>
                  <a:srgbClr val="000000"/>
                </a:solidFill>
              </a:rPr>
              <a:t>、</a:t>
            </a:r>
            <a:r>
              <a:rPr lang="zh-CN" altLang="en-US" b="1" dirty="0">
                <a:solidFill>
                  <a:srgbClr val="000000"/>
                </a:solidFill>
              </a:rPr>
              <a:t>合并</a:t>
            </a:r>
            <a:r>
              <a:rPr lang="zh-CN" altLang="en-US" dirty="0">
                <a:solidFill>
                  <a:srgbClr val="000000"/>
                </a:solidFill>
              </a:rPr>
              <a:t>、</a:t>
            </a:r>
            <a:r>
              <a:rPr lang="zh-CN" altLang="en-US" b="1" dirty="0">
                <a:solidFill>
                  <a:srgbClr val="000000"/>
                </a:solidFill>
              </a:rPr>
              <a:t>增删</a:t>
            </a:r>
            <a:r>
              <a:rPr lang="zh-CN" altLang="en-US" dirty="0">
                <a:solidFill>
                  <a:srgbClr val="000000"/>
                </a:solidFill>
              </a:rPr>
              <a:t>等等</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3"/>
          <p:cNvGrpSpPr/>
          <p:nvPr/>
        </p:nvGrpSpPr>
        <p:grpSpPr bwMode="auto">
          <a:xfrm>
            <a:off x="2761671" y="2571750"/>
            <a:ext cx="6705600" cy="3711575"/>
            <a:chOff x="720" y="1200"/>
            <a:chExt cx="4224" cy="2338"/>
          </a:xfrm>
        </p:grpSpPr>
        <p:grpSp>
          <p:nvGrpSpPr>
            <p:cNvPr id="7" name="Group 4"/>
            <p:cNvGrpSpPr/>
            <p:nvPr/>
          </p:nvGrpSpPr>
          <p:grpSpPr bwMode="auto">
            <a:xfrm>
              <a:off x="720" y="1200"/>
              <a:ext cx="4224" cy="1200"/>
              <a:chOff x="2160" y="12348"/>
              <a:chExt cx="7560" cy="2652"/>
            </a:xfrm>
          </p:grpSpPr>
          <p:grpSp>
            <p:nvGrpSpPr>
              <p:cNvPr id="33" name="Group 5"/>
              <p:cNvGrpSpPr/>
              <p:nvPr/>
            </p:nvGrpSpPr>
            <p:grpSpPr bwMode="auto">
              <a:xfrm>
                <a:off x="2160" y="12348"/>
                <a:ext cx="7560" cy="468"/>
                <a:chOff x="2160" y="12348"/>
                <a:chExt cx="7560" cy="468"/>
              </a:xfrm>
            </p:grpSpPr>
            <p:sp>
              <p:nvSpPr>
                <p:cNvPr id="43" name="Oval 6"/>
                <p:cNvSpPr>
                  <a:spLocks noChangeArrowheads="1"/>
                </p:cNvSpPr>
                <p:nvPr/>
              </p:nvSpPr>
              <p:spPr bwMode="auto">
                <a:xfrm>
                  <a:off x="2160" y="12348"/>
                  <a:ext cx="108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教师号</a:t>
                  </a:r>
                  <a:endParaRPr lang="zh-CN" altLang="en-US" sz="1000">
                    <a:solidFill>
                      <a:srgbClr val="000000"/>
                    </a:solidFill>
                    <a:latin typeface="Times New Roman" panose="02020603050405020304" pitchFamily="18" charset="0"/>
                  </a:endParaRPr>
                </a:p>
              </p:txBody>
            </p:sp>
            <p:sp>
              <p:nvSpPr>
                <p:cNvPr id="44" name="Oval 7"/>
                <p:cNvSpPr>
                  <a:spLocks noChangeArrowheads="1"/>
                </p:cNvSpPr>
                <p:nvPr/>
              </p:nvSpPr>
              <p:spPr bwMode="auto">
                <a:xfrm>
                  <a:off x="3600" y="12348"/>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姓名</a:t>
                  </a:r>
                  <a:endParaRPr lang="zh-CN" altLang="en-US" sz="1000" u="none">
                    <a:solidFill>
                      <a:srgbClr val="000000"/>
                    </a:solidFill>
                    <a:latin typeface="Times New Roman" panose="02020603050405020304" pitchFamily="18" charset="0"/>
                  </a:endParaRPr>
                </a:p>
              </p:txBody>
            </p:sp>
            <p:sp>
              <p:nvSpPr>
                <p:cNvPr id="45" name="Oval 8"/>
                <p:cNvSpPr>
                  <a:spLocks noChangeArrowheads="1"/>
                </p:cNvSpPr>
                <p:nvPr/>
              </p:nvSpPr>
              <p:spPr bwMode="auto">
                <a:xfrm>
                  <a:off x="4680" y="12348"/>
                  <a:ext cx="126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出生日期</a:t>
                  </a:r>
                  <a:endParaRPr lang="zh-CN" altLang="en-US" sz="1000" u="none">
                    <a:solidFill>
                      <a:srgbClr val="000000"/>
                    </a:solidFill>
                    <a:latin typeface="Times New Roman" panose="02020603050405020304" pitchFamily="18" charset="0"/>
                  </a:endParaRPr>
                </a:p>
              </p:txBody>
            </p:sp>
            <p:sp>
              <p:nvSpPr>
                <p:cNvPr id="46" name="Oval 9"/>
                <p:cNvSpPr>
                  <a:spLocks noChangeArrowheads="1"/>
                </p:cNvSpPr>
                <p:nvPr/>
              </p:nvSpPr>
              <p:spPr bwMode="auto">
                <a:xfrm>
                  <a:off x="6300" y="12348"/>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职务</a:t>
                  </a:r>
                  <a:endParaRPr lang="zh-CN" altLang="en-US" sz="1000" u="none">
                    <a:solidFill>
                      <a:srgbClr val="000000"/>
                    </a:solidFill>
                    <a:latin typeface="Times New Roman" panose="02020603050405020304" pitchFamily="18" charset="0"/>
                  </a:endParaRPr>
                </a:p>
              </p:txBody>
            </p:sp>
            <p:sp>
              <p:nvSpPr>
                <p:cNvPr id="47" name="Oval 10"/>
                <p:cNvSpPr>
                  <a:spLocks noChangeArrowheads="1"/>
                </p:cNvSpPr>
                <p:nvPr/>
              </p:nvSpPr>
              <p:spPr bwMode="auto">
                <a:xfrm>
                  <a:off x="7560" y="12348"/>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工资</a:t>
                  </a:r>
                  <a:endParaRPr lang="zh-CN" altLang="en-US" sz="1000" u="none">
                    <a:solidFill>
                      <a:srgbClr val="000000"/>
                    </a:solidFill>
                    <a:latin typeface="Times New Roman" panose="02020603050405020304" pitchFamily="18" charset="0"/>
                  </a:endParaRPr>
                </a:p>
              </p:txBody>
            </p:sp>
            <p:sp>
              <p:nvSpPr>
                <p:cNvPr id="48" name="Oval 11"/>
                <p:cNvSpPr>
                  <a:spLocks noChangeArrowheads="1"/>
                </p:cNvSpPr>
                <p:nvPr/>
              </p:nvSpPr>
              <p:spPr bwMode="auto">
                <a:xfrm>
                  <a:off x="8820" y="12348"/>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奖金</a:t>
                  </a:r>
                  <a:endParaRPr lang="zh-CN" altLang="en-US" sz="1000" u="none">
                    <a:solidFill>
                      <a:srgbClr val="000000"/>
                    </a:solidFill>
                    <a:latin typeface="Times New Roman" panose="02020603050405020304" pitchFamily="18" charset="0"/>
                  </a:endParaRPr>
                </a:p>
              </p:txBody>
            </p:sp>
          </p:grpSp>
          <p:grpSp>
            <p:nvGrpSpPr>
              <p:cNvPr id="34" name="Group 12"/>
              <p:cNvGrpSpPr/>
              <p:nvPr/>
            </p:nvGrpSpPr>
            <p:grpSpPr bwMode="auto">
              <a:xfrm>
                <a:off x="2700" y="12816"/>
                <a:ext cx="6660" cy="1404"/>
                <a:chOff x="2700" y="12816"/>
                <a:chExt cx="6660" cy="1404"/>
              </a:xfrm>
            </p:grpSpPr>
            <p:sp>
              <p:nvSpPr>
                <p:cNvPr id="36" name="Rectangle 13"/>
                <p:cNvSpPr>
                  <a:spLocks noChangeArrowheads="1"/>
                </p:cNvSpPr>
                <p:nvPr/>
              </p:nvSpPr>
              <p:spPr bwMode="auto">
                <a:xfrm>
                  <a:off x="5040" y="13752"/>
                  <a:ext cx="144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教师</a:t>
                  </a:r>
                  <a:endParaRPr lang="zh-CN" altLang="en-US" sz="1000" u="none">
                    <a:solidFill>
                      <a:srgbClr val="000000"/>
                    </a:solidFill>
                    <a:latin typeface="Times New Roman" panose="02020603050405020304" pitchFamily="18" charset="0"/>
                  </a:endParaRPr>
                </a:p>
              </p:txBody>
            </p:sp>
            <p:sp>
              <p:nvSpPr>
                <p:cNvPr id="37" name="Line 14"/>
                <p:cNvSpPr>
                  <a:spLocks noChangeShapeType="1"/>
                </p:cNvSpPr>
                <p:nvPr/>
              </p:nvSpPr>
              <p:spPr bwMode="auto">
                <a:xfrm>
                  <a:off x="2700" y="12816"/>
                  <a:ext cx="252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15"/>
                <p:cNvSpPr>
                  <a:spLocks noChangeShapeType="1"/>
                </p:cNvSpPr>
                <p:nvPr/>
              </p:nvSpPr>
              <p:spPr bwMode="auto">
                <a:xfrm>
                  <a:off x="4140" y="12816"/>
                  <a:ext cx="126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Line 16"/>
                <p:cNvSpPr>
                  <a:spLocks noChangeShapeType="1"/>
                </p:cNvSpPr>
                <p:nvPr/>
              </p:nvSpPr>
              <p:spPr bwMode="auto">
                <a:xfrm>
                  <a:off x="5400" y="12816"/>
                  <a:ext cx="18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17"/>
                <p:cNvSpPr>
                  <a:spLocks noChangeShapeType="1"/>
                </p:cNvSpPr>
                <p:nvPr/>
              </p:nvSpPr>
              <p:spPr bwMode="auto">
                <a:xfrm flipH="1">
                  <a:off x="5940" y="12816"/>
                  <a:ext cx="72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18"/>
                <p:cNvSpPr>
                  <a:spLocks noChangeShapeType="1"/>
                </p:cNvSpPr>
                <p:nvPr/>
              </p:nvSpPr>
              <p:spPr bwMode="auto">
                <a:xfrm flipH="1">
                  <a:off x="6120" y="12816"/>
                  <a:ext cx="198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Line 19"/>
                <p:cNvSpPr>
                  <a:spLocks noChangeShapeType="1"/>
                </p:cNvSpPr>
                <p:nvPr/>
              </p:nvSpPr>
              <p:spPr bwMode="auto">
                <a:xfrm flipH="1">
                  <a:off x="6300" y="12816"/>
                  <a:ext cx="3060" cy="936"/>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5" name="Text Box 20"/>
              <p:cNvSpPr txBox="1">
                <a:spLocks noChangeArrowheads="1"/>
              </p:cNvSpPr>
              <p:nvPr/>
            </p:nvSpPr>
            <p:spPr bwMode="auto">
              <a:xfrm>
                <a:off x="5220" y="14376"/>
                <a:ext cx="900" cy="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a:t>
                </a:r>
                <a:r>
                  <a:rPr lang="en-US" altLang="zh-CN" sz="1000" u="none">
                    <a:solidFill>
                      <a:srgbClr val="000000"/>
                    </a:solidFill>
                    <a:latin typeface="Times New Roman" panose="02020603050405020304" pitchFamily="18" charset="0"/>
                  </a:rPr>
                  <a:t>a</a:t>
                </a:r>
                <a:r>
                  <a:rPr lang="zh-CN" altLang="en-US" sz="1000" u="none">
                    <a:solidFill>
                      <a:srgbClr val="000000"/>
                    </a:solidFill>
                    <a:latin typeface="Times New Roman" panose="02020603050405020304" pitchFamily="18" charset="0"/>
                  </a:rPr>
                  <a:t>）</a:t>
                </a:r>
                <a:endParaRPr lang="zh-CN" altLang="en-US" sz="1000" u="none">
                  <a:solidFill>
                    <a:srgbClr val="000000"/>
                  </a:solidFill>
                  <a:latin typeface="Times New Roman" panose="02020603050405020304" pitchFamily="18" charset="0"/>
                </a:endParaRPr>
              </a:p>
            </p:txBody>
          </p:sp>
        </p:grpSp>
        <p:grpSp>
          <p:nvGrpSpPr>
            <p:cNvPr id="8" name="Group 21"/>
            <p:cNvGrpSpPr/>
            <p:nvPr/>
          </p:nvGrpSpPr>
          <p:grpSpPr bwMode="auto">
            <a:xfrm>
              <a:off x="1008" y="2352"/>
              <a:ext cx="3312" cy="1186"/>
              <a:chOff x="1980" y="1596"/>
              <a:chExt cx="8280" cy="2964"/>
            </a:xfrm>
          </p:grpSpPr>
          <p:grpSp>
            <p:nvGrpSpPr>
              <p:cNvPr id="9" name="Group 22"/>
              <p:cNvGrpSpPr/>
              <p:nvPr/>
            </p:nvGrpSpPr>
            <p:grpSpPr bwMode="auto">
              <a:xfrm>
                <a:off x="1980" y="1596"/>
                <a:ext cx="8280" cy="2343"/>
                <a:chOff x="1980" y="1596"/>
                <a:chExt cx="8280" cy="2343"/>
              </a:xfrm>
            </p:grpSpPr>
            <p:grpSp>
              <p:nvGrpSpPr>
                <p:cNvPr id="11" name="Group 23"/>
                <p:cNvGrpSpPr/>
                <p:nvPr/>
              </p:nvGrpSpPr>
              <p:grpSpPr bwMode="auto">
                <a:xfrm>
                  <a:off x="1980" y="1596"/>
                  <a:ext cx="3600" cy="1716"/>
                  <a:chOff x="1980" y="1596"/>
                  <a:chExt cx="3600" cy="1716"/>
                </a:xfrm>
              </p:grpSpPr>
              <p:grpSp>
                <p:nvGrpSpPr>
                  <p:cNvPr id="25" name="Group 24"/>
                  <p:cNvGrpSpPr/>
                  <p:nvPr/>
                </p:nvGrpSpPr>
                <p:grpSpPr bwMode="auto">
                  <a:xfrm>
                    <a:off x="1980" y="1596"/>
                    <a:ext cx="3600" cy="468"/>
                    <a:chOff x="1980" y="1596"/>
                    <a:chExt cx="3600" cy="468"/>
                  </a:xfrm>
                </p:grpSpPr>
                <p:sp>
                  <p:nvSpPr>
                    <p:cNvPr id="30" name="Oval 25"/>
                    <p:cNvSpPr>
                      <a:spLocks noChangeArrowheads="1"/>
                    </p:cNvSpPr>
                    <p:nvPr/>
                  </p:nvSpPr>
                  <p:spPr bwMode="auto">
                    <a:xfrm>
                      <a:off x="1980" y="1596"/>
                      <a:ext cx="108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教师号</a:t>
                      </a:r>
                      <a:endParaRPr lang="zh-CN" altLang="en-US" sz="1000">
                        <a:solidFill>
                          <a:srgbClr val="000000"/>
                        </a:solidFill>
                        <a:latin typeface="Times New Roman" panose="02020603050405020304" pitchFamily="18" charset="0"/>
                      </a:endParaRPr>
                    </a:p>
                  </p:txBody>
                </p:sp>
                <p:sp>
                  <p:nvSpPr>
                    <p:cNvPr id="31" name="Oval 26"/>
                    <p:cNvSpPr>
                      <a:spLocks noChangeArrowheads="1"/>
                    </p:cNvSpPr>
                    <p:nvPr/>
                  </p:nvSpPr>
                  <p:spPr bwMode="auto">
                    <a:xfrm>
                      <a:off x="3240" y="1596"/>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姓名</a:t>
                      </a:r>
                      <a:endParaRPr lang="zh-CN" altLang="en-US" sz="1000" u="none">
                        <a:solidFill>
                          <a:srgbClr val="000000"/>
                        </a:solidFill>
                        <a:latin typeface="Times New Roman" panose="02020603050405020304" pitchFamily="18" charset="0"/>
                      </a:endParaRPr>
                    </a:p>
                  </p:txBody>
                </p:sp>
                <p:sp>
                  <p:nvSpPr>
                    <p:cNvPr id="32" name="Oval 27"/>
                    <p:cNvSpPr>
                      <a:spLocks noChangeArrowheads="1"/>
                    </p:cNvSpPr>
                    <p:nvPr/>
                  </p:nvSpPr>
                  <p:spPr bwMode="auto">
                    <a:xfrm>
                      <a:off x="4320" y="1596"/>
                      <a:ext cx="126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出生日期</a:t>
                      </a:r>
                      <a:endParaRPr lang="zh-CN" altLang="en-US" sz="1000" u="none">
                        <a:solidFill>
                          <a:srgbClr val="000000"/>
                        </a:solidFill>
                        <a:latin typeface="Times New Roman" panose="02020603050405020304" pitchFamily="18" charset="0"/>
                      </a:endParaRPr>
                    </a:p>
                  </p:txBody>
                </p:sp>
              </p:grpSp>
              <p:sp>
                <p:nvSpPr>
                  <p:cNvPr id="26" name="Text Box 28"/>
                  <p:cNvSpPr txBox="1">
                    <a:spLocks noChangeArrowheads="1"/>
                  </p:cNvSpPr>
                  <p:nvPr/>
                </p:nvSpPr>
                <p:spPr bwMode="auto">
                  <a:xfrm>
                    <a:off x="2880" y="2844"/>
                    <a:ext cx="162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教师不变信息</a:t>
                    </a:r>
                    <a:endParaRPr lang="zh-CN" altLang="en-US" sz="1000" u="none">
                      <a:solidFill>
                        <a:srgbClr val="000000"/>
                      </a:solidFill>
                      <a:latin typeface="Times New Roman" panose="02020603050405020304" pitchFamily="18" charset="0"/>
                    </a:endParaRPr>
                  </a:p>
                </p:txBody>
              </p:sp>
              <p:sp>
                <p:nvSpPr>
                  <p:cNvPr id="27" name="Line 29"/>
                  <p:cNvSpPr>
                    <a:spLocks noChangeShapeType="1"/>
                  </p:cNvSpPr>
                  <p:nvPr/>
                </p:nvSpPr>
                <p:spPr bwMode="auto">
                  <a:xfrm>
                    <a:off x="2520" y="2064"/>
                    <a:ext cx="54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Line 30"/>
                  <p:cNvSpPr>
                    <a:spLocks noChangeShapeType="1"/>
                  </p:cNvSpPr>
                  <p:nvPr/>
                </p:nvSpPr>
                <p:spPr bwMode="auto">
                  <a:xfrm>
                    <a:off x="3600" y="2064"/>
                    <a:ext cx="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Line 31"/>
                  <p:cNvSpPr>
                    <a:spLocks noChangeShapeType="1"/>
                  </p:cNvSpPr>
                  <p:nvPr/>
                </p:nvSpPr>
                <p:spPr bwMode="auto">
                  <a:xfrm flipH="1">
                    <a:off x="4140" y="2064"/>
                    <a:ext cx="72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2" name="Group 32"/>
                <p:cNvGrpSpPr/>
                <p:nvPr/>
              </p:nvGrpSpPr>
              <p:grpSpPr bwMode="auto">
                <a:xfrm>
                  <a:off x="5940" y="1596"/>
                  <a:ext cx="4320" cy="1716"/>
                  <a:chOff x="5940" y="1596"/>
                  <a:chExt cx="4320" cy="1716"/>
                </a:xfrm>
              </p:grpSpPr>
              <p:grpSp>
                <p:nvGrpSpPr>
                  <p:cNvPr id="14" name="Group 33"/>
                  <p:cNvGrpSpPr/>
                  <p:nvPr/>
                </p:nvGrpSpPr>
                <p:grpSpPr bwMode="auto">
                  <a:xfrm>
                    <a:off x="5940" y="1596"/>
                    <a:ext cx="4320" cy="468"/>
                    <a:chOff x="5940" y="1596"/>
                    <a:chExt cx="4320" cy="468"/>
                  </a:xfrm>
                </p:grpSpPr>
                <p:sp>
                  <p:nvSpPr>
                    <p:cNvPr id="21" name="Oval 34"/>
                    <p:cNvSpPr>
                      <a:spLocks noChangeArrowheads="1"/>
                    </p:cNvSpPr>
                    <p:nvPr/>
                  </p:nvSpPr>
                  <p:spPr bwMode="auto">
                    <a:xfrm>
                      <a:off x="7200" y="1596"/>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职务</a:t>
                      </a:r>
                      <a:endParaRPr lang="zh-CN" altLang="en-US" sz="1000" u="none">
                        <a:solidFill>
                          <a:srgbClr val="000000"/>
                        </a:solidFill>
                        <a:latin typeface="Times New Roman" panose="02020603050405020304" pitchFamily="18" charset="0"/>
                      </a:endParaRPr>
                    </a:p>
                  </p:txBody>
                </p:sp>
                <p:sp>
                  <p:nvSpPr>
                    <p:cNvPr id="22" name="Oval 35"/>
                    <p:cNvSpPr>
                      <a:spLocks noChangeArrowheads="1"/>
                    </p:cNvSpPr>
                    <p:nvPr/>
                  </p:nvSpPr>
                  <p:spPr bwMode="auto">
                    <a:xfrm>
                      <a:off x="8280" y="1596"/>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工资</a:t>
                      </a:r>
                      <a:endParaRPr lang="zh-CN" altLang="en-US" sz="1000" u="none">
                        <a:solidFill>
                          <a:srgbClr val="000000"/>
                        </a:solidFill>
                        <a:latin typeface="Times New Roman" panose="02020603050405020304" pitchFamily="18" charset="0"/>
                      </a:endParaRPr>
                    </a:p>
                  </p:txBody>
                </p:sp>
                <p:sp>
                  <p:nvSpPr>
                    <p:cNvPr id="23" name="Oval 36"/>
                    <p:cNvSpPr>
                      <a:spLocks noChangeArrowheads="1"/>
                    </p:cNvSpPr>
                    <p:nvPr/>
                  </p:nvSpPr>
                  <p:spPr bwMode="auto">
                    <a:xfrm>
                      <a:off x="9360" y="1596"/>
                      <a:ext cx="90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奖金</a:t>
                      </a:r>
                      <a:endParaRPr lang="zh-CN" altLang="en-US" sz="1000" u="none">
                        <a:solidFill>
                          <a:srgbClr val="000000"/>
                        </a:solidFill>
                        <a:latin typeface="Times New Roman" panose="02020603050405020304" pitchFamily="18" charset="0"/>
                      </a:endParaRPr>
                    </a:p>
                  </p:txBody>
                </p:sp>
                <p:sp>
                  <p:nvSpPr>
                    <p:cNvPr id="24" name="Oval 37"/>
                    <p:cNvSpPr>
                      <a:spLocks noChangeArrowheads="1"/>
                    </p:cNvSpPr>
                    <p:nvPr/>
                  </p:nvSpPr>
                  <p:spPr bwMode="auto">
                    <a:xfrm>
                      <a:off x="5940" y="1596"/>
                      <a:ext cx="1080" cy="468"/>
                    </a:xfrm>
                    <a:prstGeom prst="ellipse">
                      <a:avLst/>
                    </a:prstGeom>
                    <a:solidFill>
                      <a:srgbClr val="FFFFFF"/>
                    </a:solidFill>
                    <a:ln w="9525">
                      <a:solidFill>
                        <a:srgbClr val="000000"/>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a:solidFill>
                            <a:srgbClr val="000000"/>
                          </a:solidFill>
                          <a:latin typeface="Times New Roman" panose="02020603050405020304" pitchFamily="18" charset="0"/>
                        </a:rPr>
                        <a:t>教师号</a:t>
                      </a:r>
                      <a:endParaRPr lang="zh-CN" altLang="en-US" sz="1000">
                        <a:solidFill>
                          <a:srgbClr val="000000"/>
                        </a:solidFill>
                        <a:latin typeface="Times New Roman" panose="02020603050405020304" pitchFamily="18" charset="0"/>
                      </a:endParaRPr>
                    </a:p>
                  </p:txBody>
                </p:sp>
              </p:grpSp>
              <p:grpSp>
                <p:nvGrpSpPr>
                  <p:cNvPr id="15" name="Group 38"/>
                  <p:cNvGrpSpPr/>
                  <p:nvPr/>
                </p:nvGrpSpPr>
                <p:grpSpPr bwMode="auto">
                  <a:xfrm>
                    <a:off x="6480" y="2064"/>
                    <a:ext cx="3240" cy="1248"/>
                    <a:chOff x="6480" y="2064"/>
                    <a:chExt cx="3240" cy="1248"/>
                  </a:xfrm>
                </p:grpSpPr>
                <p:sp>
                  <p:nvSpPr>
                    <p:cNvPr id="16" name="Text Box 39"/>
                    <p:cNvSpPr txBox="1">
                      <a:spLocks noChangeArrowheads="1"/>
                    </p:cNvSpPr>
                    <p:nvPr/>
                  </p:nvSpPr>
                  <p:spPr bwMode="auto">
                    <a:xfrm>
                      <a:off x="7200" y="2844"/>
                      <a:ext cx="162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教师变动信息</a:t>
                      </a:r>
                      <a:endParaRPr lang="zh-CN" altLang="en-US" sz="1000" u="none">
                        <a:solidFill>
                          <a:srgbClr val="000000"/>
                        </a:solidFill>
                        <a:latin typeface="Times New Roman" panose="02020603050405020304" pitchFamily="18" charset="0"/>
                      </a:endParaRPr>
                    </a:p>
                  </p:txBody>
                </p:sp>
                <p:sp>
                  <p:nvSpPr>
                    <p:cNvPr id="17" name="Line 40"/>
                    <p:cNvSpPr>
                      <a:spLocks noChangeShapeType="1"/>
                    </p:cNvSpPr>
                    <p:nvPr/>
                  </p:nvSpPr>
                  <p:spPr bwMode="auto">
                    <a:xfrm>
                      <a:off x="6480" y="2064"/>
                      <a:ext cx="108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41"/>
                    <p:cNvSpPr>
                      <a:spLocks noChangeShapeType="1"/>
                    </p:cNvSpPr>
                    <p:nvPr/>
                  </p:nvSpPr>
                  <p:spPr bwMode="auto">
                    <a:xfrm>
                      <a:off x="7560" y="2064"/>
                      <a:ext cx="36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42"/>
                    <p:cNvSpPr>
                      <a:spLocks noChangeShapeType="1"/>
                    </p:cNvSpPr>
                    <p:nvPr/>
                  </p:nvSpPr>
                  <p:spPr bwMode="auto">
                    <a:xfrm flipH="1">
                      <a:off x="8280" y="2064"/>
                      <a:ext cx="36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43"/>
                    <p:cNvSpPr>
                      <a:spLocks noChangeShapeType="1"/>
                    </p:cNvSpPr>
                    <p:nvPr/>
                  </p:nvSpPr>
                  <p:spPr bwMode="auto">
                    <a:xfrm flipH="1">
                      <a:off x="8640" y="2064"/>
                      <a:ext cx="1080" cy="780"/>
                    </a:xfrm>
                    <a:prstGeom prst="line">
                      <a:avLst/>
                    </a:prstGeom>
                    <a:noFill/>
                    <a:ln w="9525">
                      <a:solidFill>
                        <a:srgbClr val="00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13" name="Text Box 44"/>
                <p:cNvSpPr txBox="1">
                  <a:spLocks noChangeArrowheads="1"/>
                </p:cNvSpPr>
                <p:nvPr/>
              </p:nvSpPr>
              <p:spPr bwMode="auto">
                <a:xfrm>
                  <a:off x="5400" y="3471"/>
                  <a:ext cx="90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a:t>
                  </a:r>
                  <a:r>
                    <a:rPr lang="en-US" altLang="zh-CN" sz="1000" u="none">
                      <a:solidFill>
                        <a:srgbClr val="000000"/>
                      </a:solidFill>
                      <a:latin typeface="Times New Roman" panose="02020603050405020304" pitchFamily="18" charset="0"/>
                    </a:rPr>
                    <a:t>b</a:t>
                  </a:r>
                  <a:r>
                    <a:rPr lang="zh-CN" altLang="en-US" sz="1000" u="none">
                      <a:solidFill>
                        <a:srgbClr val="000000"/>
                      </a:solidFill>
                      <a:latin typeface="Times New Roman" panose="02020603050405020304" pitchFamily="18" charset="0"/>
                    </a:rPr>
                    <a:t>）</a:t>
                  </a:r>
                  <a:endParaRPr lang="zh-CN" altLang="en-US" sz="1000" u="none">
                    <a:solidFill>
                      <a:srgbClr val="000000"/>
                    </a:solidFill>
                    <a:latin typeface="Times New Roman" panose="02020603050405020304" pitchFamily="18" charset="0"/>
                  </a:endParaRPr>
                </a:p>
              </p:txBody>
            </p:sp>
          </p:grpSp>
          <p:sp>
            <p:nvSpPr>
              <p:cNvPr id="10" name="Text Box 45"/>
              <p:cNvSpPr txBox="1">
                <a:spLocks noChangeArrowheads="1"/>
              </p:cNvSpPr>
              <p:nvPr/>
            </p:nvSpPr>
            <p:spPr bwMode="auto">
              <a:xfrm>
                <a:off x="4140" y="3936"/>
                <a:ext cx="3780" cy="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图</a:t>
                </a:r>
                <a:r>
                  <a:rPr lang="en-US" altLang="zh-CN" sz="1000" u="none">
                    <a:solidFill>
                      <a:srgbClr val="000000"/>
                    </a:solidFill>
                  </a:rPr>
                  <a:t>7.15 </a:t>
                </a:r>
                <a:r>
                  <a:rPr lang="zh-CN" altLang="en-US" sz="1000" u="none">
                    <a:solidFill>
                      <a:srgbClr val="000000"/>
                    </a:solidFill>
                  </a:rPr>
                  <a:t>实体类型的垂直分裂</a:t>
                </a:r>
                <a:endParaRPr lang="zh-CN" altLang="en-US" sz="1000" u="none">
                  <a:solidFill>
                    <a:srgbClr val="000000"/>
                  </a:solidFill>
                </a:endParaRPr>
              </a:p>
            </p:txBody>
          </p:sp>
        </p:grpSp>
      </p:grpSp>
      <p:grpSp>
        <p:nvGrpSpPr>
          <p:cNvPr id="49" name="Group 46"/>
          <p:cNvGrpSpPr/>
          <p:nvPr/>
        </p:nvGrpSpPr>
        <p:grpSpPr bwMode="auto">
          <a:xfrm>
            <a:off x="3090284" y="2468563"/>
            <a:ext cx="5791200" cy="3886200"/>
            <a:chOff x="3597" y="1596"/>
            <a:chExt cx="5943" cy="3900"/>
          </a:xfrm>
        </p:grpSpPr>
        <p:grpSp>
          <p:nvGrpSpPr>
            <p:cNvPr id="50" name="Group 47"/>
            <p:cNvGrpSpPr/>
            <p:nvPr/>
          </p:nvGrpSpPr>
          <p:grpSpPr bwMode="auto">
            <a:xfrm>
              <a:off x="6474" y="1596"/>
              <a:ext cx="3066" cy="2808"/>
              <a:chOff x="5574" y="1284"/>
              <a:chExt cx="3066" cy="2808"/>
            </a:xfrm>
          </p:grpSpPr>
          <p:sp>
            <p:nvSpPr>
              <p:cNvPr id="61" name="Text Box 48"/>
              <p:cNvSpPr txBox="1">
                <a:spLocks noChangeArrowheads="1"/>
              </p:cNvSpPr>
              <p:nvPr/>
            </p:nvSpPr>
            <p:spPr bwMode="auto">
              <a:xfrm>
                <a:off x="6660" y="1284"/>
                <a:ext cx="90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教师</a:t>
                </a:r>
                <a:endParaRPr lang="zh-CN" altLang="en-US" sz="1000" u="none">
                  <a:solidFill>
                    <a:srgbClr val="000000"/>
                  </a:solidFill>
                  <a:latin typeface="Times New Roman" panose="02020603050405020304" pitchFamily="18" charset="0"/>
                </a:endParaRPr>
              </a:p>
            </p:txBody>
          </p:sp>
          <p:sp>
            <p:nvSpPr>
              <p:cNvPr id="62" name="Text Box 49"/>
              <p:cNvSpPr txBox="1">
                <a:spLocks noChangeArrowheads="1"/>
              </p:cNvSpPr>
              <p:nvPr/>
            </p:nvSpPr>
            <p:spPr bwMode="auto">
              <a:xfrm>
                <a:off x="6657" y="3624"/>
                <a:ext cx="84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课程</a:t>
                </a:r>
                <a:endParaRPr lang="zh-CN" altLang="en-US" sz="1000" u="none">
                  <a:solidFill>
                    <a:srgbClr val="000000"/>
                  </a:solidFill>
                  <a:latin typeface="Times New Roman" panose="02020603050405020304" pitchFamily="18" charset="0"/>
                </a:endParaRPr>
              </a:p>
            </p:txBody>
          </p:sp>
          <p:sp>
            <p:nvSpPr>
              <p:cNvPr id="63" name="AutoShape 50"/>
              <p:cNvSpPr>
                <a:spLocks noChangeArrowheads="1"/>
              </p:cNvSpPr>
              <p:nvPr/>
            </p:nvSpPr>
            <p:spPr bwMode="auto">
              <a:xfrm>
                <a:off x="5574" y="2376"/>
                <a:ext cx="1263" cy="624"/>
              </a:xfrm>
              <a:prstGeom prst="flowChartDecision">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主讲</a:t>
                </a:r>
                <a:endParaRPr lang="zh-CN" altLang="en-US" sz="1000" u="none">
                  <a:solidFill>
                    <a:srgbClr val="000000"/>
                  </a:solidFill>
                  <a:latin typeface="Times New Roman" panose="02020603050405020304" pitchFamily="18" charset="0"/>
                </a:endParaRPr>
              </a:p>
            </p:txBody>
          </p:sp>
          <p:sp>
            <p:nvSpPr>
              <p:cNvPr id="64" name="AutoShape 51"/>
              <p:cNvSpPr>
                <a:spLocks noChangeArrowheads="1"/>
              </p:cNvSpPr>
              <p:nvPr/>
            </p:nvSpPr>
            <p:spPr bwMode="auto">
              <a:xfrm>
                <a:off x="7377" y="2376"/>
                <a:ext cx="1263" cy="624"/>
              </a:xfrm>
              <a:prstGeom prst="flowChartDecision">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辅导</a:t>
                </a:r>
                <a:endParaRPr lang="zh-CN" altLang="en-US" sz="1000" u="none">
                  <a:solidFill>
                    <a:srgbClr val="000000"/>
                  </a:solidFill>
                  <a:latin typeface="Times New Roman" panose="02020603050405020304" pitchFamily="18" charset="0"/>
                </a:endParaRPr>
              </a:p>
            </p:txBody>
          </p:sp>
          <p:sp>
            <p:nvSpPr>
              <p:cNvPr id="65" name="Freeform 52"/>
              <p:cNvSpPr/>
              <p:nvPr/>
            </p:nvSpPr>
            <p:spPr bwMode="auto">
              <a:xfrm>
                <a:off x="6192" y="1752"/>
                <a:ext cx="645" cy="603"/>
              </a:xfrm>
              <a:custGeom>
                <a:avLst/>
                <a:gdLst>
                  <a:gd name="T0" fmla="*/ 645 w 645"/>
                  <a:gd name="T1" fmla="*/ 0 h 603"/>
                  <a:gd name="T2" fmla="*/ 0 w 645"/>
                  <a:gd name="T3" fmla="*/ 603 h 603"/>
                  <a:gd name="T4" fmla="*/ 0 60000 65536"/>
                  <a:gd name="T5" fmla="*/ 0 60000 65536"/>
                </a:gdLst>
                <a:ahLst/>
                <a:cxnLst>
                  <a:cxn ang="T4">
                    <a:pos x="T0" y="T1"/>
                  </a:cxn>
                  <a:cxn ang="T5">
                    <a:pos x="T2" y="T3"/>
                  </a:cxn>
                </a:cxnLst>
                <a:rect l="0" t="0" r="r" b="b"/>
                <a:pathLst>
                  <a:path w="645" h="603">
                    <a:moveTo>
                      <a:pt x="645" y="0"/>
                    </a:moveTo>
                    <a:lnTo>
                      <a:pt x="0" y="603"/>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 name="Freeform 53"/>
              <p:cNvSpPr/>
              <p:nvPr/>
            </p:nvSpPr>
            <p:spPr bwMode="auto">
              <a:xfrm>
                <a:off x="7377" y="1752"/>
                <a:ext cx="645" cy="603"/>
              </a:xfrm>
              <a:custGeom>
                <a:avLst/>
                <a:gdLst>
                  <a:gd name="T0" fmla="*/ 0 w 645"/>
                  <a:gd name="T1" fmla="*/ 0 h 603"/>
                  <a:gd name="T2" fmla="*/ 645 w 645"/>
                  <a:gd name="T3" fmla="*/ 603 h 603"/>
                  <a:gd name="T4" fmla="*/ 0 60000 65536"/>
                  <a:gd name="T5" fmla="*/ 0 60000 65536"/>
                </a:gdLst>
                <a:ahLst/>
                <a:cxnLst>
                  <a:cxn ang="T4">
                    <a:pos x="T0" y="T1"/>
                  </a:cxn>
                  <a:cxn ang="T5">
                    <a:pos x="T2" y="T3"/>
                  </a:cxn>
                </a:cxnLst>
                <a:rect l="0" t="0" r="r" b="b"/>
                <a:pathLst>
                  <a:path w="645" h="603">
                    <a:moveTo>
                      <a:pt x="0" y="0"/>
                    </a:moveTo>
                    <a:lnTo>
                      <a:pt x="645" y="603"/>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7" name="Freeform 54"/>
              <p:cNvSpPr/>
              <p:nvPr/>
            </p:nvSpPr>
            <p:spPr bwMode="auto">
              <a:xfrm>
                <a:off x="6222" y="3000"/>
                <a:ext cx="615" cy="624"/>
              </a:xfrm>
              <a:custGeom>
                <a:avLst/>
                <a:gdLst>
                  <a:gd name="T0" fmla="*/ 0 w 795"/>
                  <a:gd name="T1" fmla="*/ 0 h 780"/>
                  <a:gd name="T2" fmla="*/ 36 w 795"/>
                  <a:gd name="T3" fmla="*/ 53 h 780"/>
                  <a:gd name="T4" fmla="*/ 0 60000 65536"/>
                  <a:gd name="T5" fmla="*/ 0 60000 65536"/>
                </a:gdLst>
                <a:ahLst/>
                <a:cxnLst>
                  <a:cxn ang="T4">
                    <a:pos x="T0" y="T1"/>
                  </a:cxn>
                  <a:cxn ang="T5">
                    <a:pos x="T2" y="T3"/>
                  </a:cxn>
                </a:cxnLst>
                <a:rect l="0" t="0" r="r" b="b"/>
                <a:pathLst>
                  <a:path w="795" h="780">
                    <a:moveTo>
                      <a:pt x="0" y="0"/>
                    </a:moveTo>
                    <a:lnTo>
                      <a:pt x="795" y="780"/>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Freeform 55"/>
              <p:cNvSpPr/>
              <p:nvPr/>
            </p:nvSpPr>
            <p:spPr bwMode="auto">
              <a:xfrm>
                <a:off x="7377" y="3000"/>
                <a:ext cx="615" cy="624"/>
              </a:xfrm>
              <a:custGeom>
                <a:avLst/>
                <a:gdLst>
                  <a:gd name="T0" fmla="*/ 108 w 720"/>
                  <a:gd name="T1" fmla="*/ 0 h 765"/>
                  <a:gd name="T2" fmla="*/ 0 w 720"/>
                  <a:gd name="T3" fmla="*/ 67 h 765"/>
                  <a:gd name="T4" fmla="*/ 0 60000 65536"/>
                  <a:gd name="T5" fmla="*/ 0 60000 65536"/>
                </a:gdLst>
                <a:ahLst/>
                <a:cxnLst>
                  <a:cxn ang="T4">
                    <a:pos x="T0" y="T1"/>
                  </a:cxn>
                  <a:cxn ang="T5">
                    <a:pos x="T2" y="T3"/>
                  </a:cxn>
                </a:cxnLst>
                <a:rect l="0" t="0" r="r" b="b"/>
                <a:pathLst>
                  <a:path w="720" h="765">
                    <a:moveTo>
                      <a:pt x="720" y="0"/>
                    </a:moveTo>
                    <a:lnTo>
                      <a:pt x="0" y="765"/>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Text Box 56"/>
              <p:cNvSpPr txBox="1">
                <a:spLocks noChangeArrowheads="1"/>
              </p:cNvSpPr>
              <p:nvPr/>
            </p:nvSpPr>
            <p:spPr bwMode="auto">
              <a:xfrm>
                <a:off x="6297" y="1752"/>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1</a:t>
                </a:r>
                <a:endParaRPr lang="en-US" altLang="zh-CN" sz="1000" u="none">
                  <a:solidFill>
                    <a:srgbClr val="000000"/>
                  </a:solidFill>
                  <a:latin typeface="Times New Roman" panose="02020603050405020304" pitchFamily="18" charset="0"/>
                </a:endParaRPr>
              </a:p>
            </p:txBody>
          </p:sp>
          <p:sp>
            <p:nvSpPr>
              <p:cNvPr id="70" name="Text Box 57"/>
              <p:cNvSpPr txBox="1">
                <a:spLocks noChangeArrowheads="1"/>
              </p:cNvSpPr>
              <p:nvPr/>
            </p:nvSpPr>
            <p:spPr bwMode="auto">
              <a:xfrm>
                <a:off x="7737" y="1752"/>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M</a:t>
                </a:r>
                <a:endParaRPr lang="en-US" altLang="zh-CN" sz="1000" u="none">
                  <a:solidFill>
                    <a:srgbClr val="000000"/>
                  </a:solidFill>
                  <a:latin typeface="Times New Roman" panose="02020603050405020304" pitchFamily="18" charset="0"/>
                </a:endParaRPr>
              </a:p>
            </p:txBody>
          </p:sp>
          <p:sp>
            <p:nvSpPr>
              <p:cNvPr id="71" name="Text Box 58"/>
              <p:cNvSpPr txBox="1">
                <a:spLocks noChangeArrowheads="1"/>
              </p:cNvSpPr>
              <p:nvPr/>
            </p:nvSpPr>
            <p:spPr bwMode="auto">
              <a:xfrm>
                <a:off x="6297" y="3312"/>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sp>
            <p:nvSpPr>
              <p:cNvPr id="72" name="Text Box 59"/>
              <p:cNvSpPr txBox="1">
                <a:spLocks noChangeArrowheads="1"/>
              </p:cNvSpPr>
              <p:nvPr/>
            </p:nvSpPr>
            <p:spPr bwMode="auto">
              <a:xfrm>
                <a:off x="7557" y="3312"/>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grpSp>
        <p:sp>
          <p:nvSpPr>
            <p:cNvPr id="51" name="Text Box 60"/>
            <p:cNvSpPr txBox="1">
              <a:spLocks noChangeArrowheads="1"/>
            </p:cNvSpPr>
            <p:nvPr/>
          </p:nvSpPr>
          <p:spPr bwMode="auto">
            <a:xfrm>
              <a:off x="4500" y="5028"/>
              <a:ext cx="324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rPr>
                <a:t>图</a:t>
              </a:r>
              <a:r>
                <a:rPr lang="en-US" altLang="zh-CN" sz="1000" u="none">
                  <a:solidFill>
                    <a:srgbClr val="000000"/>
                  </a:solidFill>
                </a:rPr>
                <a:t>7.16  </a:t>
              </a:r>
              <a:r>
                <a:rPr lang="zh-CN" altLang="en-US" sz="1000" u="none">
                  <a:solidFill>
                    <a:srgbClr val="000000"/>
                  </a:solidFill>
                </a:rPr>
                <a:t>联系类型的分裂</a:t>
              </a:r>
              <a:endParaRPr lang="zh-CN" altLang="en-US" sz="1000" u="none">
                <a:solidFill>
                  <a:srgbClr val="000000"/>
                </a:solidFill>
              </a:endParaRPr>
            </a:p>
          </p:txBody>
        </p:sp>
        <p:grpSp>
          <p:nvGrpSpPr>
            <p:cNvPr id="52" name="Group 61"/>
            <p:cNvGrpSpPr/>
            <p:nvPr/>
          </p:nvGrpSpPr>
          <p:grpSpPr bwMode="auto">
            <a:xfrm>
              <a:off x="3597" y="1596"/>
              <a:ext cx="1263" cy="2808"/>
              <a:chOff x="3597" y="1596"/>
              <a:chExt cx="1263" cy="2808"/>
            </a:xfrm>
          </p:grpSpPr>
          <p:sp>
            <p:nvSpPr>
              <p:cNvPr id="54" name="Text Box 62"/>
              <p:cNvSpPr txBox="1">
                <a:spLocks noChangeArrowheads="1"/>
              </p:cNvSpPr>
              <p:nvPr/>
            </p:nvSpPr>
            <p:spPr bwMode="auto">
              <a:xfrm>
                <a:off x="3786" y="1596"/>
                <a:ext cx="90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教师</a:t>
                </a:r>
                <a:endParaRPr lang="zh-CN" altLang="en-US" sz="1000" u="none">
                  <a:solidFill>
                    <a:srgbClr val="000000"/>
                  </a:solidFill>
                  <a:latin typeface="Times New Roman" panose="02020603050405020304" pitchFamily="18" charset="0"/>
                </a:endParaRPr>
              </a:p>
            </p:txBody>
          </p:sp>
          <p:sp>
            <p:nvSpPr>
              <p:cNvPr id="55" name="Text Box 63"/>
              <p:cNvSpPr txBox="1">
                <a:spLocks noChangeArrowheads="1"/>
              </p:cNvSpPr>
              <p:nvPr/>
            </p:nvSpPr>
            <p:spPr bwMode="auto">
              <a:xfrm>
                <a:off x="3783" y="3936"/>
                <a:ext cx="840" cy="468"/>
              </a:xfrm>
              <a:prstGeom prst="rect">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课程</a:t>
                </a:r>
                <a:endParaRPr lang="zh-CN" altLang="en-US" sz="1000" u="none">
                  <a:solidFill>
                    <a:srgbClr val="000000"/>
                  </a:solidFill>
                  <a:latin typeface="Times New Roman" panose="02020603050405020304" pitchFamily="18" charset="0"/>
                </a:endParaRPr>
              </a:p>
            </p:txBody>
          </p:sp>
          <p:sp>
            <p:nvSpPr>
              <p:cNvPr id="56" name="AutoShape 64"/>
              <p:cNvSpPr>
                <a:spLocks noChangeArrowheads="1"/>
              </p:cNvSpPr>
              <p:nvPr/>
            </p:nvSpPr>
            <p:spPr bwMode="auto">
              <a:xfrm>
                <a:off x="3597" y="2688"/>
                <a:ext cx="1263" cy="624"/>
              </a:xfrm>
              <a:prstGeom prst="flowChartDecision">
                <a:avLst/>
              </a:prstGeom>
              <a:solidFill>
                <a:srgbClr val="FFFFFF"/>
              </a:solidFill>
              <a:ln w="9525">
                <a:solidFill>
                  <a:srgbClr val="000000"/>
                </a:solidFill>
                <a:miter lim="800000"/>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000" u="none">
                    <a:solidFill>
                      <a:srgbClr val="000000"/>
                    </a:solidFill>
                    <a:latin typeface="Times New Roman" panose="02020603050405020304" pitchFamily="18" charset="0"/>
                  </a:rPr>
                  <a:t>担任</a:t>
                </a:r>
                <a:endParaRPr lang="zh-CN" altLang="en-US" sz="1000" u="none">
                  <a:solidFill>
                    <a:srgbClr val="000000"/>
                  </a:solidFill>
                  <a:latin typeface="Times New Roman" panose="02020603050405020304" pitchFamily="18" charset="0"/>
                </a:endParaRPr>
              </a:p>
            </p:txBody>
          </p:sp>
          <p:sp>
            <p:nvSpPr>
              <p:cNvPr id="57" name="Text Box 65"/>
              <p:cNvSpPr txBox="1">
                <a:spLocks noChangeArrowheads="1"/>
              </p:cNvSpPr>
              <p:nvPr/>
            </p:nvSpPr>
            <p:spPr bwMode="auto">
              <a:xfrm>
                <a:off x="4320" y="2064"/>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M</a:t>
                </a:r>
                <a:endParaRPr lang="en-US" altLang="zh-CN" sz="1000" u="none">
                  <a:solidFill>
                    <a:srgbClr val="000000"/>
                  </a:solidFill>
                  <a:latin typeface="Times New Roman" panose="02020603050405020304" pitchFamily="18" charset="0"/>
                </a:endParaRPr>
              </a:p>
            </p:txBody>
          </p:sp>
          <p:sp>
            <p:nvSpPr>
              <p:cNvPr id="58" name="Text Box 66"/>
              <p:cNvSpPr txBox="1">
                <a:spLocks noChangeArrowheads="1"/>
              </p:cNvSpPr>
              <p:nvPr/>
            </p:nvSpPr>
            <p:spPr bwMode="auto">
              <a:xfrm>
                <a:off x="4140" y="3624"/>
                <a:ext cx="36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Times New Roman" panose="02020603050405020304" pitchFamily="18" charset="0"/>
                  </a:rPr>
                  <a:t>N</a:t>
                </a:r>
                <a:endParaRPr lang="en-US" altLang="zh-CN" sz="1000" u="none">
                  <a:solidFill>
                    <a:srgbClr val="000000"/>
                  </a:solidFill>
                  <a:latin typeface="Times New Roman" panose="02020603050405020304" pitchFamily="18" charset="0"/>
                </a:endParaRPr>
              </a:p>
            </p:txBody>
          </p:sp>
          <p:sp>
            <p:nvSpPr>
              <p:cNvPr id="59" name="Freeform 67"/>
              <p:cNvSpPr/>
              <p:nvPr/>
            </p:nvSpPr>
            <p:spPr bwMode="auto">
              <a:xfrm>
                <a:off x="4215" y="2070"/>
                <a:ext cx="1" cy="615"/>
              </a:xfrm>
              <a:custGeom>
                <a:avLst/>
                <a:gdLst>
                  <a:gd name="T0" fmla="*/ 0 w 1"/>
                  <a:gd name="T1" fmla="*/ 0 h 615"/>
                  <a:gd name="T2" fmla="*/ 0 w 1"/>
                  <a:gd name="T3" fmla="*/ 615 h 615"/>
                  <a:gd name="T4" fmla="*/ 0 60000 65536"/>
                  <a:gd name="T5" fmla="*/ 0 60000 65536"/>
                </a:gdLst>
                <a:ahLst/>
                <a:cxnLst>
                  <a:cxn ang="T4">
                    <a:pos x="T0" y="T1"/>
                  </a:cxn>
                  <a:cxn ang="T5">
                    <a:pos x="T2" y="T3"/>
                  </a:cxn>
                </a:cxnLst>
                <a:rect l="0" t="0" r="r" b="b"/>
                <a:pathLst>
                  <a:path w="1" h="615">
                    <a:moveTo>
                      <a:pt x="0" y="0"/>
                    </a:moveTo>
                    <a:lnTo>
                      <a:pt x="0" y="615"/>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Freeform 68"/>
              <p:cNvSpPr/>
              <p:nvPr/>
            </p:nvSpPr>
            <p:spPr bwMode="auto">
              <a:xfrm>
                <a:off x="4185" y="3330"/>
                <a:ext cx="1" cy="585"/>
              </a:xfrm>
              <a:custGeom>
                <a:avLst/>
                <a:gdLst>
                  <a:gd name="T0" fmla="*/ 0 w 1"/>
                  <a:gd name="T1" fmla="*/ 0 h 585"/>
                  <a:gd name="T2" fmla="*/ 0 w 1"/>
                  <a:gd name="T3" fmla="*/ 585 h 585"/>
                  <a:gd name="T4" fmla="*/ 0 60000 65536"/>
                  <a:gd name="T5" fmla="*/ 0 60000 65536"/>
                </a:gdLst>
                <a:ahLst/>
                <a:cxnLst>
                  <a:cxn ang="T4">
                    <a:pos x="T0" y="T1"/>
                  </a:cxn>
                  <a:cxn ang="T5">
                    <a:pos x="T2" y="T3"/>
                  </a:cxn>
                </a:cxnLst>
                <a:rect l="0" t="0" r="r" b="b"/>
                <a:pathLst>
                  <a:path w="1" h="585">
                    <a:moveTo>
                      <a:pt x="0" y="0"/>
                    </a:moveTo>
                    <a:lnTo>
                      <a:pt x="0" y="585"/>
                    </a:lnTo>
                  </a:path>
                </a:pathLst>
              </a:custGeom>
              <a:noFill/>
              <a:ln w="9525" cap="flat" cmpd="sng">
                <a:solidFill>
                  <a:srgbClr val="000000"/>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 name="Text Box 69"/>
            <p:cNvSpPr txBox="1">
              <a:spLocks noChangeArrowheads="1"/>
            </p:cNvSpPr>
            <p:nvPr/>
          </p:nvSpPr>
          <p:spPr bwMode="auto">
            <a:xfrm>
              <a:off x="3780" y="4560"/>
              <a:ext cx="558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a:t>
              </a:r>
              <a:r>
                <a:rPr lang="en-US" altLang="zh-CN" sz="1000" u="none">
                  <a:solidFill>
                    <a:srgbClr val="000000"/>
                  </a:solidFill>
                  <a:latin typeface="Times New Roman" panose="02020603050405020304" pitchFamily="18" charset="0"/>
                </a:rPr>
                <a:t>a</a:t>
              </a:r>
              <a:r>
                <a:rPr lang="zh-CN" altLang="en-US" sz="1000" u="none">
                  <a:solidFill>
                    <a:srgbClr val="000000"/>
                  </a:solidFill>
                  <a:latin typeface="Times New Roman" panose="02020603050405020304" pitchFamily="18" charset="0"/>
                </a:rPr>
                <a:t>）（</a:t>
              </a:r>
              <a:r>
                <a:rPr lang="en-US" altLang="zh-CN" sz="1000" u="none">
                  <a:solidFill>
                    <a:srgbClr val="000000"/>
                  </a:solidFill>
                  <a:latin typeface="Times New Roman" panose="02020603050405020304" pitchFamily="18" charset="0"/>
                </a:rPr>
                <a:t>b</a:t>
              </a:r>
              <a:r>
                <a:rPr lang="zh-CN" altLang="en-US" sz="1000" u="none">
                  <a:solidFill>
                    <a:srgbClr val="000000"/>
                  </a:solidFill>
                  <a:latin typeface="Times New Roman" panose="02020603050405020304" pitchFamily="18" charset="0"/>
                </a:rPr>
                <a:t>）</a:t>
              </a:r>
              <a:endParaRPr lang="zh-CN" altLang="en-US" sz="1000" u="none">
                <a:solidFill>
                  <a:srgbClr val="000000"/>
                </a:solidFill>
                <a:latin typeface="Times New Roman" panose="02020603050405020304" pitchFamily="18" charset="0"/>
              </a:endParaRPr>
            </a:p>
          </p:txBody>
        </p:sp>
      </p:grpSp>
      <p:grpSp>
        <p:nvGrpSpPr>
          <p:cNvPr id="73" name="Group 70"/>
          <p:cNvGrpSpPr/>
          <p:nvPr/>
        </p:nvGrpSpPr>
        <p:grpSpPr bwMode="auto">
          <a:xfrm>
            <a:off x="2914071" y="2438400"/>
            <a:ext cx="5981700" cy="4419600"/>
            <a:chOff x="2115" y="10596"/>
            <a:chExt cx="7665" cy="4396"/>
          </a:xfrm>
        </p:grpSpPr>
        <p:sp>
          <p:nvSpPr>
            <p:cNvPr id="74" name="Text Box 71"/>
            <p:cNvSpPr txBox="1">
              <a:spLocks noChangeArrowheads="1"/>
            </p:cNvSpPr>
            <p:nvPr/>
          </p:nvSpPr>
          <p:spPr bwMode="auto">
            <a:xfrm>
              <a:off x="4530" y="14524"/>
              <a:ext cx="304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rPr>
                <a:t>图</a:t>
              </a:r>
              <a:r>
                <a:rPr lang="en-US" altLang="zh-CN" sz="1000" u="none">
                  <a:solidFill>
                    <a:srgbClr val="000000"/>
                  </a:solidFill>
                </a:rPr>
                <a:t>7.17  </a:t>
              </a:r>
              <a:r>
                <a:rPr lang="zh-CN" altLang="en-US" sz="1000" u="none">
                  <a:solidFill>
                    <a:srgbClr val="000000"/>
                  </a:solidFill>
                </a:rPr>
                <a:t>不合法的合并</a:t>
              </a:r>
              <a:endParaRPr lang="zh-CN" altLang="en-US" sz="1000" u="none">
                <a:solidFill>
                  <a:srgbClr val="000000"/>
                </a:solidFill>
                <a:latin typeface="Times New Roman" panose="02020603050405020304" pitchFamily="18" charset="0"/>
              </a:endParaRPr>
            </a:p>
          </p:txBody>
        </p:sp>
        <p:grpSp>
          <p:nvGrpSpPr>
            <p:cNvPr id="75" name="Group 72"/>
            <p:cNvGrpSpPr/>
            <p:nvPr/>
          </p:nvGrpSpPr>
          <p:grpSpPr bwMode="auto">
            <a:xfrm>
              <a:off x="2115" y="10596"/>
              <a:ext cx="7665" cy="3964"/>
              <a:chOff x="2115" y="10596"/>
              <a:chExt cx="7665" cy="3964"/>
            </a:xfrm>
          </p:grpSpPr>
          <p:grpSp>
            <p:nvGrpSpPr>
              <p:cNvPr id="76" name="Group 73"/>
              <p:cNvGrpSpPr/>
              <p:nvPr/>
            </p:nvGrpSpPr>
            <p:grpSpPr bwMode="auto">
              <a:xfrm>
                <a:off x="2115" y="10596"/>
                <a:ext cx="3570" cy="3964"/>
                <a:chOff x="2115" y="10596"/>
                <a:chExt cx="3570" cy="3964"/>
              </a:xfrm>
            </p:grpSpPr>
            <p:grpSp>
              <p:nvGrpSpPr>
                <p:cNvPr id="86" name="Group 74"/>
                <p:cNvGrpSpPr/>
                <p:nvPr/>
              </p:nvGrpSpPr>
              <p:grpSpPr bwMode="auto">
                <a:xfrm>
                  <a:off x="2115" y="10596"/>
                  <a:ext cx="3570" cy="3964"/>
                  <a:chOff x="2115" y="10596"/>
                  <a:chExt cx="3570" cy="3964"/>
                </a:xfrm>
              </p:grpSpPr>
              <p:sp>
                <p:nvSpPr>
                  <p:cNvPr id="89" name="Rectangle 75"/>
                  <p:cNvSpPr>
                    <a:spLocks noChangeArrowheads="1"/>
                  </p:cNvSpPr>
                  <p:nvPr/>
                </p:nvSpPr>
                <p:spPr bwMode="auto">
                  <a:xfrm>
                    <a:off x="4005" y="10596"/>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B</a:t>
                    </a:r>
                    <a:endParaRPr lang="en-US" altLang="zh-CN" sz="900" u="none">
                      <a:solidFill>
                        <a:srgbClr val="000000"/>
                      </a:solidFill>
                      <a:latin typeface="Times New Roman" panose="02020603050405020304" pitchFamily="18" charset="0"/>
                    </a:endParaRPr>
                  </a:p>
                </p:txBody>
              </p:sp>
              <p:sp>
                <p:nvSpPr>
                  <p:cNvPr id="90" name="Text Box 76"/>
                  <p:cNvSpPr txBox="1">
                    <a:spLocks noChangeArrowheads="1"/>
                  </p:cNvSpPr>
                  <p:nvPr/>
                </p:nvSpPr>
                <p:spPr bwMode="auto">
                  <a:xfrm>
                    <a:off x="3480" y="14092"/>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(a)</a:t>
                    </a:r>
                    <a:endParaRPr lang="en-US" altLang="zh-CN" sz="1000" u="none">
                      <a:solidFill>
                        <a:srgbClr val="000000"/>
                      </a:solidFill>
                      <a:latin typeface="Times New Roman" panose="02020603050405020304" pitchFamily="18" charset="0"/>
                    </a:endParaRPr>
                  </a:p>
                </p:txBody>
              </p:sp>
              <p:sp>
                <p:nvSpPr>
                  <p:cNvPr id="91" name="Rectangle 77"/>
                  <p:cNvSpPr>
                    <a:spLocks noChangeArrowheads="1"/>
                  </p:cNvSpPr>
                  <p:nvPr/>
                </p:nvSpPr>
                <p:spPr bwMode="auto">
                  <a:xfrm>
                    <a:off x="2745" y="10596"/>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A</a:t>
                    </a:r>
                    <a:endParaRPr lang="en-US" altLang="zh-CN" sz="900" u="none">
                      <a:solidFill>
                        <a:srgbClr val="000000"/>
                      </a:solidFill>
                      <a:latin typeface="Times New Roman" panose="02020603050405020304" pitchFamily="18" charset="0"/>
                    </a:endParaRPr>
                  </a:p>
                </p:txBody>
              </p:sp>
              <p:sp>
                <p:nvSpPr>
                  <p:cNvPr id="92" name="Rectangle 78"/>
                  <p:cNvSpPr>
                    <a:spLocks noChangeArrowheads="1"/>
                  </p:cNvSpPr>
                  <p:nvPr/>
                </p:nvSpPr>
                <p:spPr bwMode="auto">
                  <a:xfrm>
                    <a:off x="3270" y="13432"/>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C</a:t>
                    </a:r>
                    <a:endParaRPr lang="en-US" altLang="zh-CN" sz="900" u="none">
                      <a:solidFill>
                        <a:srgbClr val="000000"/>
                      </a:solidFill>
                      <a:latin typeface="Times New Roman" panose="02020603050405020304" pitchFamily="18" charset="0"/>
                    </a:endParaRPr>
                  </a:p>
                </p:txBody>
              </p:sp>
              <p:sp>
                <p:nvSpPr>
                  <p:cNvPr id="93" name="AutoShape 79"/>
                  <p:cNvSpPr>
                    <a:spLocks noChangeArrowheads="1"/>
                  </p:cNvSpPr>
                  <p:nvPr/>
                </p:nvSpPr>
                <p:spPr bwMode="auto">
                  <a:xfrm>
                    <a:off x="2115" y="11844"/>
                    <a:ext cx="1260" cy="648"/>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900" u="none">
                        <a:solidFill>
                          <a:srgbClr val="000000"/>
                        </a:solidFill>
                        <a:latin typeface="Times New Roman" panose="02020603050405020304" pitchFamily="18" charset="0"/>
                      </a:rPr>
                      <a:t>A-C</a:t>
                    </a:r>
                    <a:endParaRPr lang="en-US" altLang="zh-CN" sz="900" u="none">
                      <a:solidFill>
                        <a:srgbClr val="000000"/>
                      </a:solidFill>
                      <a:latin typeface="Times New Roman" panose="02020603050405020304" pitchFamily="18" charset="0"/>
                    </a:endParaRPr>
                  </a:p>
                </p:txBody>
              </p:sp>
              <p:sp>
                <p:nvSpPr>
                  <p:cNvPr id="94" name="AutoShape 80"/>
                  <p:cNvSpPr>
                    <a:spLocks noChangeArrowheads="1"/>
                  </p:cNvSpPr>
                  <p:nvPr/>
                </p:nvSpPr>
                <p:spPr bwMode="auto">
                  <a:xfrm>
                    <a:off x="4425" y="11844"/>
                    <a:ext cx="1260" cy="648"/>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900" u="none">
                        <a:solidFill>
                          <a:srgbClr val="000000"/>
                        </a:solidFill>
                        <a:latin typeface="Times New Roman" panose="02020603050405020304" pitchFamily="18" charset="0"/>
                      </a:rPr>
                      <a:t>B-C</a:t>
                    </a:r>
                    <a:endParaRPr lang="en-US" altLang="zh-CN" sz="900" u="none">
                      <a:solidFill>
                        <a:srgbClr val="000000"/>
                      </a:solidFill>
                      <a:latin typeface="Times New Roman" panose="02020603050405020304" pitchFamily="18" charset="0"/>
                    </a:endParaRPr>
                  </a:p>
                </p:txBody>
              </p:sp>
              <p:sp>
                <p:nvSpPr>
                  <p:cNvPr id="95" name="Line 81"/>
                  <p:cNvSpPr>
                    <a:spLocks noChangeShapeType="1"/>
                  </p:cNvSpPr>
                  <p:nvPr/>
                </p:nvSpPr>
                <p:spPr bwMode="auto">
                  <a:xfrm flipH="1">
                    <a:off x="2700" y="11092"/>
                    <a:ext cx="465" cy="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Line 82"/>
                  <p:cNvSpPr>
                    <a:spLocks noChangeShapeType="1"/>
                  </p:cNvSpPr>
                  <p:nvPr/>
                </p:nvSpPr>
                <p:spPr bwMode="auto">
                  <a:xfrm>
                    <a:off x="4425" y="11053"/>
                    <a:ext cx="615" cy="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7" name="Line 83"/>
                <p:cNvSpPr>
                  <a:spLocks noChangeShapeType="1"/>
                </p:cNvSpPr>
                <p:nvPr/>
              </p:nvSpPr>
              <p:spPr bwMode="auto">
                <a:xfrm flipH="1">
                  <a:off x="4005" y="12496"/>
                  <a:ext cx="105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Line 84"/>
                <p:cNvSpPr>
                  <a:spLocks noChangeShapeType="1"/>
                </p:cNvSpPr>
                <p:nvPr/>
              </p:nvSpPr>
              <p:spPr bwMode="auto">
                <a:xfrm>
                  <a:off x="2745" y="12496"/>
                  <a:ext cx="84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7" name="Group 85"/>
              <p:cNvGrpSpPr/>
              <p:nvPr/>
            </p:nvGrpSpPr>
            <p:grpSpPr bwMode="auto">
              <a:xfrm>
                <a:off x="7050" y="10624"/>
                <a:ext cx="2730" cy="3900"/>
                <a:chOff x="7050" y="10624"/>
                <a:chExt cx="2730" cy="3900"/>
              </a:xfrm>
            </p:grpSpPr>
            <p:sp>
              <p:nvSpPr>
                <p:cNvPr id="78" name="Rectangle 86"/>
                <p:cNvSpPr>
                  <a:spLocks noChangeArrowheads="1"/>
                </p:cNvSpPr>
                <p:nvPr/>
              </p:nvSpPr>
              <p:spPr bwMode="auto">
                <a:xfrm>
                  <a:off x="7050" y="10624"/>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A</a:t>
                  </a:r>
                  <a:endParaRPr lang="en-US" altLang="zh-CN" sz="900" u="none">
                    <a:solidFill>
                      <a:srgbClr val="000000"/>
                    </a:solidFill>
                    <a:latin typeface="Times New Roman" panose="02020603050405020304" pitchFamily="18" charset="0"/>
                  </a:endParaRPr>
                </a:p>
              </p:txBody>
            </p:sp>
            <p:sp>
              <p:nvSpPr>
                <p:cNvPr id="79" name="Rectangle 87"/>
                <p:cNvSpPr>
                  <a:spLocks noChangeArrowheads="1"/>
                </p:cNvSpPr>
                <p:nvPr/>
              </p:nvSpPr>
              <p:spPr bwMode="auto">
                <a:xfrm>
                  <a:off x="7995" y="13432"/>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C</a:t>
                  </a:r>
                  <a:endParaRPr lang="en-US" altLang="zh-CN" sz="900" u="none">
                    <a:solidFill>
                      <a:srgbClr val="000000"/>
                    </a:solidFill>
                    <a:latin typeface="Times New Roman" panose="02020603050405020304" pitchFamily="18" charset="0"/>
                  </a:endParaRPr>
                </a:p>
              </p:txBody>
            </p:sp>
            <p:sp>
              <p:nvSpPr>
                <p:cNvPr id="80" name="AutoShape 88"/>
                <p:cNvSpPr>
                  <a:spLocks noChangeArrowheads="1"/>
                </p:cNvSpPr>
                <p:nvPr/>
              </p:nvSpPr>
              <p:spPr bwMode="auto">
                <a:xfrm>
                  <a:off x="7740" y="12020"/>
                  <a:ext cx="1440" cy="648"/>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A-B-C</a:t>
                  </a:r>
                  <a:endParaRPr lang="en-US" altLang="zh-CN" sz="900" u="none">
                    <a:solidFill>
                      <a:srgbClr val="000000"/>
                    </a:solidFill>
                    <a:latin typeface="Times New Roman" panose="02020603050405020304" pitchFamily="18" charset="0"/>
                  </a:endParaRPr>
                </a:p>
              </p:txBody>
            </p:sp>
            <p:sp>
              <p:nvSpPr>
                <p:cNvPr id="81" name="Line 89"/>
                <p:cNvSpPr>
                  <a:spLocks noChangeShapeType="1"/>
                </p:cNvSpPr>
                <p:nvPr/>
              </p:nvSpPr>
              <p:spPr bwMode="auto">
                <a:xfrm flipH="1">
                  <a:off x="9180" y="11112"/>
                  <a:ext cx="18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Text Box 90"/>
                <p:cNvSpPr txBox="1">
                  <a:spLocks noChangeArrowheads="1"/>
                </p:cNvSpPr>
                <p:nvPr/>
              </p:nvSpPr>
              <p:spPr bwMode="auto">
                <a:xfrm>
                  <a:off x="8100" y="14056"/>
                  <a:ext cx="73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000" u="none">
                      <a:solidFill>
                        <a:srgbClr val="000000"/>
                      </a:solidFill>
                      <a:latin typeface="Times New Roman" panose="02020603050405020304" pitchFamily="18" charset="0"/>
                    </a:rPr>
                    <a:t>(b)</a:t>
                  </a:r>
                  <a:endParaRPr lang="en-US" altLang="zh-CN" sz="1000" u="none">
                    <a:solidFill>
                      <a:srgbClr val="000000"/>
                    </a:solidFill>
                    <a:latin typeface="Times New Roman" panose="02020603050405020304" pitchFamily="18" charset="0"/>
                  </a:endParaRPr>
                </a:p>
              </p:txBody>
            </p:sp>
            <p:sp>
              <p:nvSpPr>
                <p:cNvPr id="83" name="Line 91"/>
                <p:cNvSpPr>
                  <a:spLocks noChangeShapeType="1"/>
                </p:cNvSpPr>
                <p:nvPr/>
              </p:nvSpPr>
              <p:spPr bwMode="auto">
                <a:xfrm>
                  <a:off x="7560" y="11112"/>
                  <a:ext cx="18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 name="Rectangle 92"/>
                <p:cNvSpPr>
                  <a:spLocks noChangeArrowheads="1"/>
                </p:cNvSpPr>
                <p:nvPr/>
              </p:nvSpPr>
              <p:spPr bwMode="auto">
                <a:xfrm>
                  <a:off x="8730" y="10624"/>
                  <a:ext cx="105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900" u="none">
                      <a:solidFill>
                        <a:srgbClr val="000000"/>
                      </a:solidFill>
                      <a:latin typeface="Times New Roman" panose="02020603050405020304" pitchFamily="18" charset="0"/>
                    </a:rPr>
                    <a:t>B</a:t>
                  </a:r>
                  <a:endParaRPr lang="en-US" altLang="zh-CN" sz="900" u="none">
                    <a:solidFill>
                      <a:srgbClr val="000000"/>
                    </a:solidFill>
                    <a:latin typeface="Times New Roman" panose="02020603050405020304" pitchFamily="18" charset="0"/>
                  </a:endParaRPr>
                </a:p>
              </p:txBody>
            </p:sp>
            <p:sp>
              <p:nvSpPr>
                <p:cNvPr id="85" name="Line 93"/>
                <p:cNvSpPr>
                  <a:spLocks noChangeShapeType="1"/>
                </p:cNvSpPr>
                <p:nvPr/>
              </p:nvSpPr>
              <p:spPr bwMode="auto">
                <a:xfrm>
                  <a:off x="8520" y="12644"/>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fill="hold"/>
                                        <p:tgtEl>
                                          <p:spTgt spid="49"/>
                                        </p:tgtEl>
                                        <p:attrNameLst>
                                          <p:attrName>ppt_x</p:attrName>
                                        </p:attrNameLst>
                                      </p:cBhvr>
                                      <p:tavLst>
                                        <p:tav tm="0">
                                          <p:val>
                                            <p:strVal val="#ppt_x"/>
                                          </p:val>
                                        </p:tav>
                                        <p:tav tm="100000">
                                          <p:val>
                                            <p:strVal val="#ppt_x"/>
                                          </p:val>
                                        </p:tav>
                                      </p:tavLst>
                                    </p:anim>
                                    <p:anim calcmode="lin" valueType="num">
                                      <p:cBhvr additive="base">
                                        <p:cTn id="14" dur="500" fill="hold"/>
                                        <p:tgtEl>
                                          <p:spTgt spid="4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a:t>
            </a:r>
            <a:endParaRPr lang="en-US" altLang="zh-CN" dirty="0"/>
          </a:p>
          <a:p>
            <a:pPr lvl="1">
              <a:lnSpc>
                <a:spcPct val="150000"/>
              </a:lnSpc>
            </a:pPr>
            <a:r>
              <a:rPr lang="zh-CN" altLang="en-US" dirty="0"/>
              <a:t>由于现实世界中客观存在的一些事物和概念无法通过基本</a:t>
            </a:r>
            <a:r>
              <a:rPr lang="en-US" altLang="zh-CN" dirty="0"/>
              <a:t>ER</a:t>
            </a:r>
            <a:r>
              <a:rPr lang="zh-CN" altLang="en-US" dirty="0"/>
              <a:t>模型进行准确描述，因此对基本</a:t>
            </a:r>
            <a:r>
              <a:rPr lang="en-US" altLang="zh-CN" dirty="0"/>
              <a:t>E</a:t>
            </a:r>
            <a:r>
              <a:rPr lang="zh-CN" altLang="en-US" dirty="0"/>
              <a:t>－</a:t>
            </a:r>
            <a:r>
              <a:rPr lang="en-US" altLang="zh-CN" dirty="0"/>
              <a:t>R</a:t>
            </a:r>
            <a:r>
              <a:rPr lang="zh-CN" altLang="en-US" dirty="0"/>
              <a:t>模型进行了必要的扩展，即扩充的</a:t>
            </a:r>
            <a:r>
              <a:rPr lang="en-US" altLang="zh-CN" dirty="0"/>
              <a:t>ER</a:t>
            </a:r>
            <a:r>
              <a:rPr lang="zh-CN" altLang="en-US" dirty="0"/>
              <a:t>模型（</a:t>
            </a:r>
            <a:r>
              <a:rPr lang="en-US" altLang="zh-CN" dirty="0"/>
              <a:t>Extended ER</a:t>
            </a:r>
            <a:r>
              <a:rPr lang="zh-CN" altLang="en-US" dirty="0"/>
              <a:t>，</a:t>
            </a:r>
            <a:r>
              <a:rPr lang="en-US" altLang="zh-CN" dirty="0"/>
              <a:t>EER</a:t>
            </a:r>
            <a:r>
              <a:rPr lang="zh-CN" altLang="en-US" dirty="0"/>
              <a:t>），包括</a:t>
            </a:r>
            <a:r>
              <a:rPr lang="en-US" altLang="zh-CN" dirty="0"/>
              <a:t>:</a:t>
            </a:r>
            <a:r>
              <a:rPr lang="zh-CN" altLang="en-US" dirty="0">
                <a:solidFill>
                  <a:srgbClr val="FF9900"/>
                </a:solidFill>
              </a:rPr>
              <a:t>弱实体</a:t>
            </a:r>
            <a:r>
              <a:rPr lang="zh-CN" altLang="en-US" dirty="0"/>
              <a:t>、</a:t>
            </a:r>
            <a:r>
              <a:rPr lang="zh-CN" altLang="en-US" dirty="0">
                <a:solidFill>
                  <a:srgbClr val="FF9900"/>
                </a:solidFill>
              </a:rPr>
              <a:t>普遍化</a:t>
            </a:r>
            <a:r>
              <a:rPr lang="en-US" altLang="zh-CN" dirty="0"/>
              <a:t>(Generalization)/</a:t>
            </a:r>
            <a:r>
              <a:rPr lang="zh-CN" altLang="en-US" dirty="0">
                <a:solidFill>
                  <a:srgbClr val="FF9900"/>
                </a:solidFill>
              </a:rPr>
              <a:t>特殊化</a:t>
            </a:r>
            <a:r>
              <a:rPr lang="en-US" altLang="zh-CN" dirty="0"/>
              <a:t>(Specialization)</a:t>
            </a:r>
            <a:r>
              <a:rPr lang="zh-CN" altLang="en-US" dirty="0"/>
              <a:t>、</a:t>
            </a:r>
            <a:r>
              <a:rPr lang="zh-CN" altLang="en-US" dirty="0">
                <a:solidFill>
                  <a:srgbClr val="FF9900"/>
                </a:solidFill>
              </a:rPr>
              <a:t>范畴</a:t>
            </a:r>
            <a:r>
              <a:rPr lang="en-US" altLang="zh-CN" dirty="0"/>
              <a:t>(Category)</a:t>
            </a:r>
            <a:r>
              <a:rPr lang="zh-CN" altLang="en-US" dirty="0"/>
              <a:t>、</a:t>
            </a:r>
            <a:r>
              <a:rPr lang="zh-CN" altLang="en-US" dirty="0">
                <a:solidFill>
                  <a:srgbClr val="FF9900"/>
                </a:solidFill>
              </a:rPr>
              <a:t>聚集</a:t>
            </a:r>
            <a:r>
              <a:rPr lang="en-US" altLang="zh-CN" dirty="0"/>
              <a:t>(Aggregation)</a:t>
            </a:r>
            <a:r>
              <a:rPr lang="zh-CN" altLang="en-US" dirty="0"/>
              <a:t>等概念。</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模型：弱实体</a:t>
            </a:r>
            <a:endParaRPr lang="en-US" altLang="zh-CN" dirty="0"/>
          </a:p>
          <a:p>
            <a:pPr lvl="1"/>
            <a:r>
              <a:rPr lang="zh-CN" altLang="en-US" dirty="0"/>
              <a:t>什么是弱实体</a:t>
            </a:r>
            <a:endParaRPr lang="zh-CN" altLang="en-US" dirty="0"/>
          </a:p>
          <a:p>
            <a:pPr lvl="1"/>
            <a:r>
              <a:rPr lang="zh-CN" altLang="en-US" dirty="0"/>
              <a:t>弱实体的表示方法</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4"/>
          <p:cNvGrpSpPr/>
          <p:nvPr/>
        </p:nvGrpSpPr>
        <p:grpSpPr bwMode="auto">
          <a:xfrm>
            <a:off x="785447" y="3428561"/>
            <a:ext cx="1600200" cy="533400"/>
            <a:chOff x="1344" y="2064"/>
            <a:chExt cx="1008" cy="336"/>
          </a:xfrm>
        </p:grpSpPr>
        <p:sp>
          <p:nvSpPr>
            <p:cNvPr id="7" name="AutoShape 5"/>
            <p:cNvSpPr>
              <a:spLocks noChangeArrowheads="1"/>
            </p:cNvSpPr>
            <p:nvPr/>
          </p:nvSpPr>
          <p:spPr bwMode="auto">
            <a:xfrm>
              <a:off x="1344" y="2064"/>
              <a:ext cx="1008" cy="336"/>
            </a:xfrm>
            <a:prstGeom prst="diamond">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 name="AutoShape 6"/>
            <p:cNvSpPr>
              <a:spLocks noChangeArrowheads="1"/>
            </p:cNvSpPr>
            <p:nvPr/>
          </p:nvSpPr>
          <p:spPr bwMode="auto">
            <a:xfrm>
              <a:off x="1488" y="2112"/>
              <a:ext cx="720" cy="240"/>
            </a:xfrm>
            <a:prstGeom prst="diamond">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9" name="Group 7"/>
          <p:cNvGrpSpPr/>
          <p:nvPr/>
        </p:nvGrpSpPr>
        <p:grpSpPr bwMode="auto">
          <a:xfrm>
            <a:off x="2660285" y="3347599"/>
            <a:ext cx="1752600" cy="685800"/>
            <a:chOff x="1872" y="2016"/>
            <a:chExt cx="1104" cy="432"/>
          </a:xfrm>
        </p:grpSpPr>
        <p:sp>
          <p:nvSpPr>
            <p:cNvPr id="10" name="Rectangle 8"/>
            <p:cNvSpPr>
              <a:spLocks noChangeArrowheads="1"/>
            </p:cNvSpPr>
            <p:nvPr/>
          </p:nvSpPr>
          <p:spPr bwMode="auto">
            <a:xfrm>
              <a:off x="1872" y="2016"/>
              <a:ext cx="1104" cy="43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1" name="Rectangle 9"/>
            <p:cNvSpPr>
              <a:spLocks noChangeArrowheads="1"/>
            </p:cNvSpPr>
            <p:nvPr/>
          </p:nvSpPr>
          <p:spPr bwMode="auto">
            <a:xfrm>
              <a:off x="1920" y="2064"/>
              <a:ext cx="1008" cy="33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12" name="Group 40"/>
          <p:cNvGrpSpPr/>
          <p:nvPr/>
        </p:nvGrpSpPr>
        <p:grpSpPr bwMode="auto">
          <a:xfrm>
            <a:off x="5376057" y="1592262"/>
            <a:ext cx="5291138" cy="4946649"/>
            <a:chOff x="-106" y="705"/>
            <a:chExt cx="3333" cy="3116"/>
          </a:xfrm>
        </p:grpSpPr>
        <p:sp>
          <p:nvSpPr>
            <p:cNvPr id="13" name="AutoShape 41"/>
            <p:cNvSpPr>
              <a:spLocks noChangeArrowheads="1"/>
            </p:cNvSpPr>
            <p:nvPr/>
          </p:nvSpPr>
          <p:spPr bwMode="auto">
            <a:xfrm>
              <a:off x="1104" y="2928"/>
              <a:ext cx="144" cy="288"/>
            </a:xfrm>
            <a:prstGeom prst="down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nvGrpSpPr>
            <p:cNvPr id="14" name="Group 42"/>
            <p:cNvGrpSpPr/>
            <p:nvPr/>
          </p:nvGrpSpPr>
          <p:grpSpPr bwMode="auto">
            <a:xfrm>
              <a:off x="-106" y="705"/>
              <a:ext cx="3333" cy="3116"/>
              <a:chOff x="2582" y="945"/>
              <a:chExt cx="3333" cy="3116"/>
            </a:xfrm>
          </p:grpSpPr>
          <p:sp>
            <p:nvSpPr>
              <p:cNvPr id="15" name="Text Box 43"/>
              <p:cNvSpPr txBox="1">
                <a:spLocks noChangeArrowheads="1"/>
              </p:cNvSpPr>
              <p:nvPr/>
            </p:nvSpPr>
            <p:spPr bwMode="auto">
              <a:xfrm>
                <a:off x="2582" y="945"/>
                <a:ext cx="3333"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2200" u="none" dirty="0">
                    <a:latin typeface="微软雅黑" panose="020B0503020204020204" pitchFamily="34" charset="-122"/>
                    <a:ea typeface="微软雅黑" panose="020B0503020204020204" pitchFamily="34" charset="-122"/>
                  </a:rPr>
                  <a:t>问题：在人事管理系统中，亲属的存在是以职工的存在为前提，即亲属对于职工具有依赖联系，因此，亲属是弱实体 </a:t>
                </a:r>
                <a:endParaRPr kumimoji="1" lang="zh-CN" altLang="en-US" sz="2200" u="none" dirty="0">
                  <a:latin typeface="微软雅黑" panose="020B0503020204020204" pitchFamily="34" charset="-122"/>
                  <a:ea typeface="微软雅黑" panose="020B0503020204020204" pitchFamily="34" charset="-122"/>
                </a:endParaRPr>
              </a:p>
            </p:txBody>
          </p:sp>
          <p:grpSp>
            <p:nvGrpSpPr>
              <p:cNvPr id="16" name="Group 44"/>
              <p:cNvGrpSpPr/>
              <p:nvPr/>
            </p:nvGrpSpPr>
            <p:grpSpPr bwMode="auto">
              <a:xfrm>
                <a:off x="3456" y="1968"/>
                <a:ext cx="912" cy="1144"/>
                <a:chOff x="4110" y="11980"/>
                <a:chExt cx="1260" cy="2860"/>
              </a:xfrm>
            </p:grpSpPr>
            <p:grpSp>
              <p:nvGrpSpPr>
                <p:cNvPr id="21" name="Group 45"/>
                <p:cNvGrpSpPr/>
                <p:nvPr/>
              </p:nvGrpSpPr>
              <p:grpSpPr bwMode="auto">
                <a:xfrm>
                  <a:off x="4110" y="11980"/>
                  <a:ext cx="1260" cy="2860"/>
                  <a:chOff x="4110" y="11980"/>
                  <a:chExt cx="1260" cy="2860"/>
                </a:xfrm>
              </p:grpSpPr>
              <p:sp>
                <p:nvSpPr>
                  <p:cNvPr id="24" name="Text Box 46"/>
                  <p:cNvSpPr txBox="1">
                    <a:spLocks noChangeArrowheads="1"/>
                  </p:cNvSpPr>
                  <p:nvPr/>
                </p:nvSpPr>
                <p:spPr bwMode="auto">
                  <a:xfrm>
                    <a:off x="4110" y="11980"/>
                    <a:ext cx="126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职 工</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25" name="Text Box 47"/>
                  <p:cNvSpPr txBox="1">
                    <a:spLocks noChangeArrowheads="1"/>
                  </p:cNvSpPr>
                  <p:nvPr/>
                </p:nvSpPr>
                <p:spPr bwMode="auto">
                  <a:xfrm>
                    <a:off x="4110" y="14372"/>
                    <a:ext cx="1260" cy="468"/>
                  </a:xfrm>
                  <a:prstGeom prst="rect">
                    <a:avLst/>
                  </a:prstGeom>
                  <a:solidFill>
                    <a:srgbClr val="FFFFFF"/>
                  </a:solidFill>
                  <a:ln w="38100" cmpd="dbl">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亲属</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26" name="AutoShape 48"/>
                  <p:cNvSpPr>
                    <a:spLocks noChangeArrowheads="1"/>
                  </p:cNvSpPr>
                  <p:nvPr/>
                </p:nvSpPr>
                <p:spPr bwMode="auto">
                  <a:xfrm>
                    <a:off x="4110" y="13072"/>
                    <a:ext cx="1260" cy="624"/>
                  </a:xfrm>
                  <a:prstGeom prst="flowChartDecision">
                    <a:avLst/>
                  </a:prstGeom>
                  <a:solidFill>
                    <a:srgbClr val="FFFFFF"/>
                  </a:solidFill>
                  <a:ln w="38100" cmpd="dbl">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dirty="0">
                        <a:solidFill>
                          <a:srgbClr val="000000"/>
                        </a:solidFill>
                        <a:latin typeface="微软雅黑" panose="020B0503020204020204" pitchFamily="34" charset="-122"/>
                        <a:ea typeface="微软雅黑" panose="020B0503020204020204" pitchFamily="34" charset="-122"/>
                      </a:rPr>
                      <a:t>具有</a:t>
                    </a:r>
                    <a:endParaRPr lang="zh-CN" altLang="en-US" sz="1400" u="none" dirty="0">
                      <a:solidFill>
                        <a:srgbClr val="000000"/>
                      </a:solidFill>
                      <a:latin typeface="微软雅黑" panose="020B0503020204020204" pitchFamily="34" charset="-122"/>
                      <a:ea typeface="微软雅黑" panose="020B0503020204020204" pitchFamily="34" charset="-122"/>
                    </a:endParaRPr>
                  </a:p>
                </p:txBody>
              </p:sp>
              <p:sp>
                <p:nvSpPr>
                  <p:cNvPr id="27" name="Line 49"/>
                  <p:cNvSpPr>
                    <a:spLocks noChangeShapeType="1"/>
                  </p:cNvSpPr>
                  <p:nvPr/>
                </p:nvSpPr>
                <p:spPr bwMode="auto">
                  <a:xfrm>
                    <a:off x="4740" y="12448"/>
                    <a:ext cx="0"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8" name="Line 50"/>
                  <p:cNvSpPr>
                    <a:spLocks noChangeShapeType="1"/>
                  </p:cNvSpPr>
                  <p:nvPr/>
                </p:nvSpPr>
                <p:spPr bwMode="auto">
                  <a:xfrm>
                    <a:off x="4740" y="13748"/>
                    <a:ext cx="0" cy="624"/>
                  </a:xfrm>
                  <a:prstGeom prst="line">
                    <a:avLst/>
                  </a:prstGeom>
                  <a:noFill/>
                  <a:ln w="38100" cmpd="dbl">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grpSp>
            <p:sp>
              <p:nvSpPr>
                <p:cNvPr id="22" name="Rectangle 51"/>
                <p:cNvSpPr>
                  <a:spLocks noChangeArrowheads="1"/>
                </p:cNvSpPr>
                <p:nvPr/>
              </p:nvSpPr>
              <p:spPr bwMode="auto">
                <a:xfrm>
                  <a:off x="4680" y="12516"/>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latin typeface="Times New Roman" panose="02020603050405020304" pitchFamily="18" charset="0"/>
                    </a:rPr>
                    <a:t>1</a:t>
                  </a:r>
                  <a:endParaRPr lang="en-US" altLang="zh-CN" sz="1000" u="none">
                    <a:latin typeface="Times New Roman" panose="02020603050405020304" pitchFamily="18" charset="0"/>
                  </a:endParaRPr>
                </a:p>
              </p:txBody>
            </p:sp>
            <p:sp>
              <p:nvSpPr>
                <p:cNvPr id="23" name="Rectangle 52"/>
                <p:cNvSpPr>
                  <a:spLocks noChangeArrowheads="1"/>
                </p:cNvSpPr>
                <p:nvPr/>
              </p:nvSpPr>
              <p:spPr bwMode="auto">
                <a:xfrm>
                  <a:off x="4680" y="13920"/>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latin typeface="Times New Roman" panose="02020603050405020304" pitchFamily="18" charset="0"/>
                    </a:rPr>
                    <a:t>N</a:t>
                  </a:r>
                  <a:endParaRPr lang="en-US" altLang="zh-CN" sz="1000" u="none">
                    <a:latin typeface="Times New Roman" panose="02020603050405020304" pitchFamily="18" charset="0"/>
                  </a:endParaRPr>
                </a:p>
              </p:txBody>
            </p:sp>
          </p:grpSp>
          <p:sp>
            <p:nvSpPr>
              <p:cNvPr id="17" name="AutoShape 53"/>
              <p:cNvSpPr>
                <a:spLocks noChangeArrowheads="1"/>
              </p:cNvSpPr>
              <p:nvPr/>
            </p:nvSpPr>
            <p:spPr bwMode="auto">
              <a:xfrm>
                <a:off x="3840" y="1728"/>
                <a:ext cx="144" cy="240"/>
              </a:xfrm>
              <a:prstGeom prst="downArrow">
                <a:avLst>
                  <a:gd name="adj1" fmla="val 50000"/>
                  <a:gd name="adj2" fmla="val 41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8" name="Rectangle 54"/>
              <p:cNvSpPr>
                <a:spLocks noChangeArrowheads="1"/>
              </p:cNvSpPr>
              <p:nvPr/>
            </p:nvSpPr>
            <p:spPr bwMode="auto">
              <a:xfrm>
                <a:off x="4704" y="2112"/>
                <a:ext cx="288" cy="52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u="none" dirty="0">
                    <a:latin typeface="微软雅黑" panose="020B0503020204020204" pitchFamily="34" charset="-122"/>
                    <a:ea typeface="微软雅黑" panose="020B0503020204020204" pitchFamily="34" charset="-122"/>
                  </a:rPr>
                  <a:t>ER</a:t>
                </a:r>
                <a:endParaRPr kumimoji="1" lang="en-US" altLang="zh-CN" sz="2400" u="none" dirty="0">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2400" u="none" dirty="0">
                    <a:latin typeface="微软雅黑" panose="020B0503020204020204" pitchFamily="34" charset="-122"/>
                    <a:ea typeface="微软雅黑" panose="020B0503020204020204" pitchFamily="34" charset="-122"/>
                  </a:rPr>
                  <a:t>图</a:t>
                </a:r>
                <a:endParaRPr kumimoji="1" lang="zh-CN" altLang="en-US" sz="2400" u="none" dirty="0">
                  <a:latin typeface="微软雅黑" panose="020B0503020204020204" pitchFamily="34" charset="-122"/>
                  <a:ea typeface="微软雅黑" panose="020B0503020204020204" pitchFamily="34" charset="-122"/>
                </a:endParaRPr>
              </a:p>
            </p:txBody>
          </p:sp>
          <p:sp>
            <p:nvSpPr>
              <p:cNvPr id="19" name="Text Box 55"/>
              <p:cNvSpPr txBox="1">
                <a:spLocks noChangeArrowheads="1"/>
              </p:cNvSpPr>
              <p:nvPr/>
            </p:nvSpPr>
            <p:spPr bwMode="auto">
              <a:xfrm>
                <a:off x="2688" y="3504"/>
                <a:ext cx="2592" cy="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r>
                  <a:rPr kumimoji="1" lang="zh-CN" altLang="en-US" sz="1600" b="1" u="none" dirty="0">
                    <a:latin typeface="微软雅黑" panose="020B0503020204020204" pitchFamily="34" charset="-122"/>
                    <a:ea typeface="微软雅黑" panose="020B0503020204020204" pitchFamily="34" charset="-122"/>
                  </a:rPr>
                  <a:t>职工</a:t>
                </a:r>
                <a:r>
                  <a:rPr kumimoji="1" lang="zh-CN" altLang="en-US" sz="1600" u="none"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职工号</a:t>
                </a:r>
                <a:r>
                  <a:rPr kumimoji="1" lang="zh-CN" altLang="en-US" sz="1600" u="none" dirty="0">
                    <a:latin typeface="微软雅黑" panose="020B0503020204020204" pitchFamily="34" charset="-122"/>
                    <a:ea typeface="微软雅黑" panose="020B0503020204020204" pitchFamily="34" charset="-122"/>
                  </a:rPr>
                  <a:t>，职工姓名，性别，年龄）   </a:t>
                </a:r>
                <a:endParaRPr kumimoji="1" lang="zh-CN" altLang="en-US" sz="1600" u="none" dirty="0">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600" b="1" u="none" dirty="0">
                    <a:latin typeface="微软雅黑" panose="020B0503020204020204" pitchFamily="34" charset="-122"/>
                    <a:ea typeface="微软雅黑" panose="020B0503020204020204" pitchFamily="34" charset="-122"/>
                  </a:rPr>
                  <a:t>亲属</a:t>
                </a:r>
                <a:r>
                  <a:rPr kumimoji="1" lang="zh-CN" altLang="en-US" sz="1600" u="none" dirty="0">
                    <a:latin typeface="微软雅黑" panose="020B0503020204020204" pitchFamily="34" charset="-122"/>
                    <a:ea typeface="微软雅黑" panose="020B0503020204020204" pitchFamily="34" charset="-122"/>
                  </a:rPr>
                  <a:t>（</a:t>
                </a:r>
                <a:r>
                  <a:rPr kumimoji="1" lang="zh-CN" altLang="en-US" sz="1600" dirty="0">
                    <a:solidFill>
                      <a:srgbClr val="FF9933"/>
                    </a:solidFill>
                    <a:latin typeface="微软雅黑" panose="020B0503020204020204" pitchFamily="34" charset="-122"/>
                    <a:ea typeface="微软雅黑" panose="020B0503020204020204" pitchFamily="34" charset="-122"/>
                  </a:rPr>
                  <a:t>职工号，称呼</a:t>
                </a:r>
                <a:r>
                  <a:rPr kumimoji="1" lang="zh-CN" altLang="en-US" sz="1600" u="none" dirty="0">
                    <a:latin typeface="微软雅黑" panose="020B0503020204020204" pitchFamily="34" charset="-122"/>
                    <a:ea typeface="微软雅黑" panose="020B0503020204020204" pitchFamily="34" charset="-122"/>
                  </a:rPr>
                  <a:t>，姓名，工作单位）</a:t>
                </a:r>
                <a:r>
                  <a:rPr kumimoji="1" lang="zh-CN" altLang="en-US" sz="2400" u="none" dirty="0">
                    <a:latin typeface="微软雅黑" panose="020B0503020204020204" pitchFamily="34" charset="-122"/>
                    <a:ea typeface="微软雅黑" panose="020B0503020204020204" pitchFamily="34" charset="-122"/>
                  </a:rPr>
                  <a:t> </a:t>
                </a:r>
                <a:endParaRPr kumimoji="1" lang="zh-CN" altLang="en-US" sz="2400" u="none" dirty="0">
                  <a:latin typeface="微软雅黑" panose="020B0503020204020204" pitchFamily="34" charset="-122"/>
                  <a:ea typeface="微软雅黑" panose="020B0503020204020204" pitchFamily="34" charset="-122"/>
                </a:endParaRPr>
              </a:p>
            </p:txBody>
          </p:sp>
          <p:sp>
            <p:nvSpPr>
              <p:cNvPr id="20" name="Rectangle 56"/>
              <p:cNvSpPr>
                <a:spLocks noChangeArrowheads="1"/>
              </p:cNvSpPr>
              <p:nvPr/>
            </p:nvSpPr>
            <p:spPr bwMode="auto">
              <a:xfrm>
                <a:off x="5280" y="3264"/>
                <a:ext cx="33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000" b="1" u="none" dirty="0">
                    <a:latin typeface="微软雅黑" panose="020B0503020204020204" pitchFamily="34" charset="-122"/>
                    <a:ea typeface="微软雅黑" panose="020B0503020204020204" pitchFamily="34" charset="-122"/>
                  </a:rPr>
                  <a:t>关系</a:t>
                </a:r>
                <a:endParaRPr kumimoji="1" lang="zh-CN" altLang="en-US" sz="20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2000" b="1" u="none" dirty="0">
                    <a:latin typeface="微软雅黑" panose="020B0503020204020204" pitchFamily="34" charset="-122"/>
                    <a:ea typeface="微软雅黑" panose="020B0503020204020204" pitchFamily="34" charset="-122"/>
                  </a:rPr>
                  <a:t>模式</a:t>
                </a:r>
                <a:endParaRPr kumimoji="1" lang="zh-CN" altLang="en-US" sz="2000" b="1" u="none" dirty="0">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a:t>
            </a:r>
            <a:r>
              <a:rPr lang="en-US" altLang="zh-CN" dirty="0"/>
              <a:t>:</a:t>
            </a:r>
            <a:r>
              <a:rPr lang="zh-CN" altLang="en-US" dirty="0"/>
              <a:t>普遍化</a:t>
            </a:r>
            <a:r>
              <a:rPr lang="en-US" altLang="zh-CN" dirty="0"/>
              <a:t>/</a:t>
            </a:r>
            <a:r>
              <a:rPr lang="zh-CN" altLang="en-US" dirty="0"/>
              <a:t>特殊化</a:t>
            </a:r>
            <a:endParaRPr lang="en-US" altLang="zh-CN" dirty="0"/>
          </a:p>
          <a:p>
            <a:pPr lvl="1">
              <a:lnSpc>
                <a:spcPct val="150000"/>
              </a:lnSpc>
            </a:pPr>
            <a:r>
              <a:rPr lang="zh-CN" altLang="en-US" dirty="0"/>
              <a:t>表示“是</a:t>
            </a:r>
            <a:r>
              <a:rPr lang="en-US" altLang="zh-CN" dirty="0"/>
              <a:t>……</a:t>
            </a:r>
            <a:r>
              <a:rPr lang="zh-CN" altLang="en-US" dirty="0"/>
              <a:t>的一种”的关系抽象</a:t>
            </a: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Text Box 3"/>
          <p:cNvSpPr txBox="1">
            <a:spLocks noChangeArrowheads="1"/>
          </p:cNvSpPr>
          <p:nvPr/>
        </p:nvSpPr>
        <p:spPr bwMode="auto">
          <a:xfrm>
            <a:off x="2706444" y="4003675"/>
            <a:ext cx="1295400" cy="519113"/>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本科生</a:t>
            </a:r>
            <a:endParaRPr kumimoji="1" lang="zh-CN" altLang="en-US" sz="2400" u="none" dirty="0">
              <a:latin typeface="微软雅黑" panose="020B0503020204020204" pitchFamily="34" charset="-122"/>
              <a:ea typeface="微软雅黑" panose="020B0503020204020204" pitchFamily="34" charset="-122"/>
            </a:endParaRPr>
          </a:p>
        </p:txBody>
      </p:sp>
      <p:sp>
        <p:nvSpPr>
          <p:cNvPr id="7" name="Text Box 4"/>
          <p:cNvSpPr txBox="1">
            <a:spLocks noChangeArrowheads="1"/>
          </p:cNvSpPr>
          <p:nvPr/>
        </p:nvSpPr>
        <p:spPr bwMode="auto">
          <a:xfrm>
            <a:off x="6897444" y="4003675"/>
            <a:ext cx="1371600" cy="519113"/>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研究生</a:t>
            </a:r>
            <a:endParaRPr kumimoji="1" lang="zh-CN" altLang="en-US" sz="2400" u="none" dirty="0">
              <a:latin typeface="微软雅黑" panose="020B0503020204020204" pitchFamily="34" charset="-122"/>
              <a:ea typeface="微软雅黑" panose="020B0503020204020204" pitchFamily="34" charset="-122"/>
            </a:endParaRPr>
          </a:p>
        </p:txBody>
      </p:sp>
      <p:sp>
        <p:nvSpPr>
          <p:cNvPr id="8" name="Line 5"/>
          <p:cNvSpPr>
            <a:spLocks noChangeShapeType="1"/>
          </p:cNvSpPr>
          <p:nvPr/>
        </p:nvSpPr>
        <p:spPr bwMode="auto">
          <a:xfrm flipV="1">
            <a:off x="4001844" y="4003675"/>
            <a:ext cx="1219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a:off x="5678244" y="4003675"/>
            <a:ext cx="1219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7"/>
          <p:cNvSpPr txBox="1">
            <a:spLocks noChangeArrowheads="1"/>
          </p:cNvSpPr>
          <p:nvPr/>
        </p:nvSpPr>
        <p:spPr bwMode="auto">
          <a:xfrm>
            <a:off x="4992444" y="2860675"/>
            <a:ext cx="914400" cy="519113"/>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学生</a:t>
            </a:r>
            <a:endParaRPr kumimoji="1" lang="zh-CN" altLang="en-US" sz="2400" u="none" dirty="0">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5449644" y="3394075"/>
            <a:ext cx="0" cy="352425"/>
          </a:xfrm>
          <a:prstGeom prst="line">
            <a:avLst/>
          </a:prstGeom>
          <a:noFill/>
          <a:ln w="952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AutoShape 9"/>
          <p:cNvSpPr>
            <a:spLocks noChangeArrowheads="1"/>
          </p:cNvSpPr>
          <p:nvPr/>
        </p:nvSpPr>
        <p:spPr bwMode="auto">
          <a:xfrm>
            <a:off x="5144844" y="3775075"/>
            <a:ext cx="609600" cy="533400"/>
          </a:xfrm>
          <a:prstGeom prst="flowChartMerge">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3" name="Text Box 10"/>
          <p:cNvSpPr txBox="1">
            <a:spLocks noChangeArrowheads="1"/>
          </p:cNvSpPr>
          <p:nvPr/>
        </p:nvSpPr>
        <p:spPr bwMode="auto">
          <a:xfrm>
            <a:off x="5449644" y="4994275"/>
            <a:ext cx="1295400" cy="519113"/>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硕士</a:t>
            </a:r>
            <a:endParaRPr kumimoji="1" lang="zh-CN" altLang="en-US" sz="2400" u="none" dirty="0">
              <a:latin typeface="微软雅黑" panose="020B0503020204020204" pitchFamily="34" charset="-122"/>
              <a:ea typeface="微软雅黑" panose="020B0503020204020204" pitchFamily="34" charset="-122"/>
            </a:endParaRPr>
          </a:p>
        </p:txBody>
      </p:sp>
      <p:sp>
        <p:nvSpPr>
          <p:cNvPr id="14" name="Line 11"/>
          <p:cNvSpPr>
            <a:spLocks noChangeShapeType="1"/>
          </p:cNvSpPr>
          <p:nvPr/>
        </p:nvSpPr>
        <p:spPr bwMode="auto">
          <a:xfrm flipV="1">
            <a:off x="6745044" y="5084763"/>
            <a:ext cx="685800" cy="1381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a:off x="7888044" y="5084763"/>
            <a:ext cx="762000" cy="1381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3"/>
          <p:cNvSpPr>
            <a:spLocks noChangeArrowheads="1"/>
          </p:cNvSpPr>
          <p:nvPr/>
        </p:nvSpPr>
        <p:spPr bwMode="auto">
          <a:xfrm>
            <a:off x="7354644" y="4918075"/>
            <a:ext cx="609600" cy="533400"/>
          </a:xfrm>
          <a:prstGeom prst="flowChartMerge">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7" name="Text Box 14"/>
          <p:cNvSpPr txBox="1">
            <a:spLocks noChangeArrowheads="1"/>
          </p:cNvSpPr>
          <p:nvPr/>
        </p:nvSpPr>
        <p:spPr bwMode="auto">
          <a:xfrm>
            <a:off x="8650044" y="5008563"/>
            <a:ext cx="1371600" cy="519112"/>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博士</a:t>
            </a:r>
            <a:endParaRPr kumimoji="1" lang="zh-CN" altLang="en-US" sz="2400" u="none" dirty="0">
              <a:latin typeface="微软雅黑" panose="020B0503020204020204" pitchFamily="34" charset="-122"/>
              <a:ea typeface="微软雅黑" panose="020B0503020204020204" pitchFamily="34" charset="-122"/>
            </a:endParaRPr>
          </a:p>
        </p:txBody>
      </p:sp>
      <p:sp>
        <p:nvSpPr>
          <p:cNvPr id="18" name="Line 15"/>
          <p:cNvSpPr>
            <a:spLocks noChangeShapeType="1"/>
          </p:cNvSpPr>
          <p:nvPr/>
        </p:nvSpPr>
        <p:spPr bwMode="auto">
          <a:xfrm>
            <a:off x="7659444" y="4565650"/>
            <a:ext cx="0" cy="352425"/>
          </a:xfrm>
          <a:prstGeom prst="line">
            <a:avLst/>
          </a:prstGeom>
          <a:noFill/>
          <a:ln w="952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p:cNvSpPr txBox="1">
            <a:spLocks noChangeArrowheads="1"/>
          </p:cNvSpPr>
          <p:nvPr/>
        </p:nvSpPr>
        <p:spPr bwMode="auto">
          <a:xfrm>
            <a:off x="4992444" y="3683000"/>
            <a:ext cx="914400" cy="396875"/>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en-US" altLang="zh-CN" sz="2000" b="1" u="none" dirty="0">
                <a:latin typeface="Times New Roman" panose="02020603050405020304" pitchFamily="18" charset="0"/>
                <a:ea typeface="楷体_GB2312" pitchFamily="49" charset="-122"/>
              </a:rPr>
              <a:t>ISA</a:t>
            </a:r>
            <a:endParaRPr kumimoji="1" lang="en-US" altLang="zh-CN" sz="2400" u="none" dirty="0">
              <a:latin typeface="Times New Roman" panose="02020603050405020304" pitchFamily="18" charset="0"/>
            </a:endParaRPr>
          </a:p>
        </p:txBody>
      </p:sp>
      <p:sp>
        <p:nvSpPr>
          <p:cNvPr id="20" name="Text Box 17"/>
          <p:cNvSpPr txBox="1">
            <a:spLocks noChangeArrowheads="1"/>
          </p:cNvSpPr>
          <p:nvPr/>
        </p:nvSpPr>
        <p:spPr bwMode="auto">
          <a:xfrm>
            <a:off x="7202244" y="4841875"/>
            <a:ext cx="914400" cy="396875"/>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en-US" altLang="zh-CN" sz="2000" b="1" u="none">
                <a:latin typeface="Times New Roman" panose="02020603050405020304" pitchFamily="18" charset="0"/>
                <a:ea typeface="楷体_GB2312" pitchFamily="49" charset="-122"/>
              </a:rPr>
              <a:t>ISA</a:t>
            </a:r>
            <a:endParaRPr kumimoji="1" lang="en-US" altLang="zh-CN" sz="2400" u="none">
              <a:latin typeface="Times New Roman" panose="02020603050405020304" pitchFamily="18" charset="0"/>
            </a:endParaRPr>
          </a:p>
        </p:txBody>
      </p:sp>
      <p:sp>
        <p:nvSpPr>
          <p:cNvPr id="21" name="Oval 18" descr="Large confetti"/>
          <p:cNvSpPr>
            <a:spLocks noChangeArrowheads="1"/>
          </p:cNvSpPr>
          <p:nvPr/>
        </p:nvSpPr>
        <p:spPr bwMode="auto">
          <a:xfrm>
            <a:off x="3239844" y="2403475"/>
            <a:ext cx="1295400" cy="685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22" name="Text Box 19"/>
          <p:cNvSpPr txBox="1">
            <a:spLocks noChangeArrowheads="1"/>
          </p:cNvSpPr>
          <p:nvPr/>
        </p:nvSpPr>
        <p:spPr bwMode="auto">
          <a:xfrm>
            <a:off x="3471619" y="2493963"/>
            <a:ext cx="895350" cy="519112"/>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u="none" dirty="0">
                <a:solidFill>
                  <a:schemeClr val="tx2"/>
                </a:solidFill>
                <a:latin typeface="微软雅黑" panose="020B0503020204020204" pitchFamily="34" charset="-122"/>
                <a:ea typeface="微软雅黑" panose="020B0503020204020204" pitchFamily="34" charset="-122"/>
              </a:rPr>
              <a:t>姓名</a:t>
            </a:r>
            <a:endParaRPr kumimoji="1" lang="zh-CN" altLang="en-US" u="none" dirty="0">
              <a:solidFill>
                <a:schemeClr val="tx2"/>
              </a:solidFill>
              <a:latin typeface="微软雅黑" panose="020B0503020204020204" pitchFamily="34" charset="-122"/>
              <a:ea typeface="微软雅黑" panose="020B0503020204020204" pitchFamily="34" charset="-122"/>
            </a:endParaRPr>
          </a:p>
        </p:txBody>
      </p:sp>
      <p:sp>
        <p:nvSpPr>
          <p:cNvPr id="23" name="Oval 20" descr="Large confetti"/>
          <p:cNvSpPr>
            <a:spLocks noChangeArrowheads="1"/>
          </p:cNvSpPr>
          <p:nvPr/>
        </p:nvSpPr>
        <p:spPr bwMode="auto">
          <a:xfrm>
            <a:off x="6364044" y="2479675"/>
            <a:ext cx="1295400" cy="685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24" name="Text Box 21"/>
          <p:cNvSpPr txBox="1">
            <a:spLocks noChangeArrowheads="1"/>
          </p:cNvSpPr>
          <p:nvPr/>
        </p:nvSpPr>
        <p:spPr bwMode="auto">
          <a:xfrm>
            <a:off x="6592644" y="2570163"/>
            <a:ext cx="898525" cy="519112"/>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b="1" u="none" dirty="0">
                <a:solidFill>
                  <a:schemeClr val="tx2"/>
                </a:solidFill>
                <a:latin typeface="微软雅黑" panose="020B0503020204020204" pitchFamily="34" charset="-122"/>
                <a:ea typeface="微软雅黑" panose="020B0503020204020204" pitchFamily="34" charset="-122"/>
              </a:rPr>
              <a:t>学号</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25" name="Oval 22" descr="Large confetti"/>
          <p:cNvSpPr>
            <a:spLocks noChangeArrowheads="1"/>
          </p:cNvSpPr>
          <p:nvPr/>
        </p:nvSpPr>
        <p:spPr bwMode="auto">
          <a:xfrm>
            <a:off x="8040444" y="2784475"/>
            <a:ext cx="2057400" cy="685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26" name="Text Box 23"/>
          <p:cNvSpPr txBox="1">
            <a:spLocks noChangeArrowheads="1"/>
          </p:cNvSpPr>
          <p:nvPr/>
        </p:nvSpPr>
        <p:spPr bwMode="auto">
          <a:xfrm>
            <a:off x="8096006" y="2874963"/>
            <a:ext cx="2020888" cy="519112"/>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en-US" altLang="zh-CN" b="1" u="none">
                <a:solidFill>
                  <a:schemeClr val="tx2"/>
                </a:solidFill>
                <a:latin typeface="Times New Roman" panose="02020603050405020304" pitchFamily="18" charset="0"/>
                <a:ea typeface="仿宋_GB2312" pitchFamily="49" charset="-122"/>
              </a:rPr>
              <a:t>Dissertation</a:t>
            </a:r>
            <a:endParaRPr kumimoji="1" lang="en-US" altLang="zh-CN" sz="4400" u="none">
              <a:solidFill>
                <a:schemeClr val="tx2"/>
              </a:solidFill>
              <a:latin typeface="Times New Roman" panose="02020603050405020304" pitchFamily="18" charset="0"/>
            </a:endParaRPr>
          </a:p>
        </p:txBody>
      </p:sp>
      <p:sp>
        <p:nvSpPr>
          <p:cNvPr id="27" name="Oval 24" descr="Large confetti"/>
          <p:cNvSpPr>
            <a:spLocks noChangeArrowheads="1"/>
          </p:cNvSpPr>
          <p:nvPr/>
        </p:nvSpPr>
        <p:spPr bwMode="auto">
          <a:xfrm>
            <a:off x="8954844" y="4003675"/>
            <a:ext cx="1295400" cy="685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28" name="Text Box 25"/>
          <p:cNvSpPr txBox="1">
            <a:spLocks noChangeArrowheads="1"/>
          </p:cNvSpPr>
          <p:nvPr/>
        </p:nvSpPr>
        <p:spPr bwMode="auto">
          <a:xfrm>
            <a:off x="9021519" y="4094163"/>
            <a:ext cx="1230312" cy="519112"/>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en-US" altLang="zh-CN" b="1" u="none">
                <a:solidFill>
                  <a:schemeClr val="tx2"/>
                </a:solidFill>
                <a:latin typeface="Times New Roman" panose="02020603050405020304" pitchFamily="18" charset="0"/>
                <a:ea typeface="仿宋_GB2312" pitchFamily="49" charset="-122"/>
              </a:rPr>
              <a:t>Papers</a:t>
            </a:r>
            <a:endParaRPr kumimoji="1" lang="en-US" altLang="zh-CN" sz="4400" u="none">
              <a:solidFill>
                <a:schemeClr val="tx2"/>
              </a:solidFill>
              <a:latin typeface="Times New Roman" panose="02020603050405020304" pitchFamily="18" charset="0"/>
            </a:endParaRPr>
          </a:p>
        </p:txBody>
      </p:sp>
      <p:sp>
        <p:nvSpPr>
          <p:cNvPr id="29" name="Line 26"/>
          <p:cNvSpPr>
            <a:spLocks noChangeShapeType="1"/>
          </p:cNvSpPr>
          <p:nvPr/>
        </p:nvSpPr>
        <p:spPr bwMode="auto">
          <a:xfrm flipV="1">
            <a:off x="7583244" y="3470275"/>
            <a:ext cx="1524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7"/>
          <p:cNvSpPr>
            <a:spLocks noChangeShapeType="1"/>
          </p:cNvSpPr>
          <p:nvPr/>
        </p:nvSpPr>
        <p:spPr bwMode="auto">
          <a:xfrm flipV="1">
            <a:off x="9335844" y="4689475"/>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p:cNvSpPr>
            <a:spLocks noChangeShapeType="1"/>
          </p:cNvSpPr>
          <p:nvPr/>
        </p:nvSpPr>
        <p:spPr bwMode="auto">
          <a:xfrm flipV="1">
            <a:off x="5906844" y="2860675"/>
            <a:ext cx="457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9"/>
          <p:cNvSpPr>
            <a:spLocks noChangeShapeType="1"/>
          </p:cNvSpPr>
          <p:nvPr/>
        </p:nvSpPr>
        <p:spPr bwMode="auto">
          <a:xfrm flipH="1" flipV="1">
            <a:off x="4535244" y="2860675"/>
            <a:ext cx="457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30" descr="Large confetti"/>
          <p:cNvSpPr>
            <a:spLocks noChangeArrowheads="1"/>
          </p:cNvSpPr>
          <p:nvPr/>
        </p:nvSpPr>
        <p:spPr bwMode="auto">
          <a:xfrm>
            <a:off x="1715844" y="4903788"/>
            <a:ext cx="1295400" cy="685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34" name="Text Box 31"/>
          <p:cNvSpPr txBox="1">
            <a:spLocks noChangeArrowheads="1"/>
          </p:cNvSpPr>
          <p:nvPr/>
        </p:nvSpPr>
        <p:spPr bwMode="auto">
          <a:xfrm>
            <a:off x="1946031" y="4994275"/>
            <a:ext cx="895350" cy="519113"/>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u="none" dirty="0">
                <a:solidFill>
                  <a:schemeClr val="tx2"/>
                </a:solidFill>
                <a:latin typeface="微软雅黑" panose="020B0503020204020204" pitchFamily="34" charset="-122"/>
                <a:ea typeface="微软雅黑" panose="020B0503020204020204" pitchFamily="34" charset="-122"/>
              </a:rPr>
              <a:t>军训</a:t>
            </a:r>
            <a:endParaRPr kumimoji="1" lang="zh-CN" altLang="en-US" u="none" dirty="0">
              <a:solidFill>
                <a:schemeClr val="tx2"/>
              </a:solidFill>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H="1">
            <a:off x="2630244" y="4537075"/>
            <a:ext cx="6858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Rectangle 34"/>
          <p:cNvSpPr>
            <a:spLocks noChangeArrowheads="1"/>
          </p:cNvSpPr>
          <p:nvPr/>
        </p:nvSpPr>
        <p:spPr bwMode="auto">
          <a:xfrm>
            <a:off x="1897734" y="5879307"/>
            <a:ext cx="9389819"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buFontTx/>
              <a:buNone/>
            </a:pPr>
            <a:r>
              <a:rPr lang="zh-CN" altLang="en-US" sz="1800" b="1" u="none" dirty="0">
                <a:sym typeface="Symbol" panose="05050102010706020507" pitchFamily="2" charset="2"/>
              </a:rPr>
              <a:t>	</a:t>
            </a:r>
            <a:r>
              <a:rPr lang="zh-CN" altLang="en-US" sz="2400" u="none" dirty="0">
                <a:latin typeface="微软雅黑" panose="020B0503020204020204" pitchFamily="34" charset="-122"/>
                <a:ea typeface="微软雅黑" panose="020B0503020204020204" pitchFamily="34" charset="-122"/>
                <a:sym typeface="Symbol" panose="05050102010706020507" pitchFamily="2" charset="2"/>
              </a:rPr>
              <a:t>如果概括是不相交并且是全部的，即一个高层实体最多并且只能属于一个低层实体集，则可以不为高层实体集建立关系键。</a:t>
            </a:r>
            <a:endParaRPr lang="zh-CN" altLang="en-US" sz="2400" u="none" dirty="0">
              <a:latin typeface="微软雅黑" panose="020B0503020204020204" pitchFamily="34" charset="-122"/>
              <a:ea typeface="微软雅黑" panose="020B0503020204020204" pitchFamily="34" charset="-122"/>
              <a:sym typeface="Symbol" panose="05050102010706020507" pitchFamily="2"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a:t>
            </a:r>
            <a:r>
              <a:rPr lang="en-US" altLang="zh-CN" dirty="0"/>
              <a:t>: </a:t>
            </a:r>
            <a:r>
              <a:rPr lang="zh-CN" altLang="en-US" dirty="0"/>
              <a:t>子类与超类</a:t>
            </a:r>
            <a:endParaRPr lang="en-US" altLang="zh-CN" dirty="0"/>
          </a:p>
          <a:p>
            <a:pPr lvl="1"/>
            <a:r>
              <a:rPr lang="zh-CN" altLang="en-US" dirty="0"/>
              <a:t>子类和超类的性质</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4"/>
          <p:cNvGrpSpPr/>
          <p:nvPr/>
        </p:nvGrpSpPr>
        <p:grpSpPr bwMode="auto">
          <a:xfrm>
            <a:off x="6244883" y="1828800"/>
            <a:ext cx="3733800" cy="2057400"/>
            <a:chOff x="3960" y="4404"/>
            <a:chExt cx="3600" cy="2496"/>
          </a:xfrm>
        </p:grpSpPr>
        <p:sp>
          <p:nvSpPr>
            <p:cNvPr id="7" name="Rectangle 5"/>
            <p:cNvSpPr>
              <a:spLocks noChangeArrowheads="1"/>
            </p:cNvSpPr>
            <p:nvPr/>
          </p:nvSpPr>
          <p:spPr bwMode="auto">
            <a:xfrm>
              <a:off x="4860" y="4404"/>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人员</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8" name="Rectangle 6"/>
            <p:cNvSpPr>
              <a:spLocks noChangeArrowheads="1"/>
            </p:cNvSpPr>
            <p:nvPr/>
          </p:nvSpPr>
          <p:spPr bwMode="auto">
            <a:xfrm>
              <a:off x="3960" y="5340"/>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教师</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9" name="Rectangle 7"/>
            <p:cNvSpPr>
              <a:spLocks noChangeArrowheads="1"/>
            </p:cNvSpPr>
            <p:nvPr/>
          </p:nvSpPr>
          <p:spPr bwMode="auto">
            <a:xfrm>
              <a:off x="4860" y="643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本科生</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5760" y="5340"/>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学生</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11" name="Rectangle 9"/>
            <p:cNvSpPr>
              <a:spLocks noChangeArrowheads="1"/>
            </p:cNvSpPr>
            <p:nvPr/>
          </p:nvSpPr>
          <p:spPr bwMode="auto">
            <a:xfrm>
              <a:off x="6660" y="643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研究生</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12" name="Line 10"/>
            <p:cNvSpPr>
              <a:spLocks noChangeShapeType="1"/>
            </p:cNvSpPr>
            <p:nvPr/>
          </p:nvSpPr>
          <p:spPr bwMode="auto">
            <a:xfrm flipH="1">
              <a:off x="4320" y="4872"/>
              <a:ext cx="7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1"/>
            <p:cNvSpPr>
              <a:spLocks noChangeShapeType="1"/>
            </p:cNvSpPr>
            <p:nvPr/>
          </p:nvSpPr>
          <p:spPr bwMode="auto">
            <a:xfrm>
              <a:off x="5400" y="4872"/>
              <a:ext cx="7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2"/>
            <p:cNvSpPr>
              <a:spLocks noChangeShapeType="1"/>
            </p:cNvSpPr>
            <p:nvPr/>
          </p:nvSpPr>
          <p:spPr bwMode="auto">
            <a:xfrm flipH="1">
              <a:off x="5400" y="5808"/>
              <a:ext cx="54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3"/>
            <p:cNvSpPr>
              <a:spLocks noChangeShapeType="1"/>
            </p:cNvSpPr>
            <p:nvPr/>
          </p:nvSpPr>
          <p:spPr bwMode="auto">
            <a:xfrm>
              <a:off x="6300" y="5808"/>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6" name="Text Box 14"/>
          <p:cNvSpPr txBox="1">
            <a:spLocks noChangeArrowheads="1"/>
          </p:cNvSpPr>
          <p:nvPr/>
        </p:nvSpPr>
        <p:spPr bwMode="auto">
          <a:xfrm>
            <a:off x="10242089" y="1981200"/>
            <a:ext cx="800219"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2000" b="1" u="none" dirty="0">
                <a:latin typeface="微软雅黑" panose="020B0503020204020204" pitchFamily="34" charset="-122"/>
                <a:ea typeface="微软雅黑" panose="020B0503020204020204" pitchFamily="34" charset="-122"/>
              </a:rPr>
              <a:t>学校人事系统中实体之间的联系</a:t>
            </a:r>
            <a:r>
              <a:rPr kumimoji="1" lang="zh-CN" altLang="en-US" sz="2000" u="none" dirty="0">
                <a:latin typeface="微软雅黑" panose="020B0503020204020204" pitchFamily="34" charset="-122"/>
                <a:ea typeface="微软雅黑" panose="020B0503020204020204" pitchFamily="34" charset="-122"/>
              </a:rPr>
              <a:t> </a:t>
            </a:r>
            <a:endParaRPr kumimoji="1" lang="zh-CN" altLang="en-US" sz="2000" u="none" dirty="0">
              <a:latin typeface="微软雅黑" panose="020B0503020204020204" pitchFamily="34" charset="-122"/>
              <a:ea typeface="微软雅黑" panose="020B0503020204020204" pitchFamily="34" charset="-122"/>
            </a:endParaRPr>
          </a:p>
        </p:txBody>
      </p:sp>
      <p:sp>
        <p:nvSpPr>
          <p:cNvPr id="17" name="Text Box 15"/>
          <p:cNvSpPr txBox="1">
            <a:spLocks noChangeArrowheads="1"/>
          </p:cNvSpPr>
          <p:nvPr/>
        </p:nvSpPr>
        <p:spPr bwMode="auto">
          <a:xfrm>
            <a:off x="6244883" y="44958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endParaRPr kumimoji="1" lang="zh-CN" altLang="en-US" sz="2400" u="none">
              <a:latin typeface="Tahoma" panose="020B0604030504040204" pitchFamily="34" charset="0"/>
            </a:endParaRPr>
          </a:p>
        </p:txBody>
      </p:sp>
      <p:sp>
        <p:nvSpPr>
          <p:cNvPr id="18" name="Rectangle 16"/>
          <p:cNvSpPr>
            <a:spLocks noChangeArrowheads="1"/>
          </p:cNvSpPr>
          <p:nvPr/>
        </p:nvSpPr>
        <p:spPr bwMode="auto">
          <a:xfrm>
            <a:off x="6168683" y="4724400"/>
            <a:ext cx="4648200" cy="1905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sz="1800" u="none" dirty="0">
                <a:latin typeface="微软雅黑" panose="020B0503020204020204" pitchFamily="34" charset="-122"/>
                <a:ea typeface="微软雅黑" panose="020B0503020204020204" pitchFamily="34" charset="-122"/>
              </a:rPr>
              <a:t>人员（</a:t>
            </a:r>
            <a:r>
              <a:rPr kumimoji="1" lang="zh-CN" altLang="en-US" sz="1800" u="sng" dirty="0">
                <a:solidFill>
                  <a:srgbClr val="FF9933"/>
                </a:solidFill>
                <a:latin typeface="微软雅黑" panose="020B0503020204020204" pitchFamily="34" charset="-122"/>
                <a:ea typeface="微软雅黑" panose="020B0503020204020204" pitchFamily="34" charset="-122"/>
              </a:rPr>
              <a:t>身份证号</a:t>
            </a:r>
            <a:r>
              <a:rPr kumimoji="1" lang="zh-CN" altLang="en-US" sz="1800" u="none" dirty="0">
                <a:latin typeface="微软雅黑" panose="020B0503020204020204" pitchFamily="34" charset="-122"/>
                <a:ea typeface="微软雅黑" panose="020B0503020204020204" pitchFamily="34" charset="-122"/>
              </a:rPr>
              <a:t>，姓名，年龄，性别）	</a:t>
            </a:r>
            <a:endParaRPr kumimoji="1" lang="zh-CN" altLang="en-US" sz="1800" u="none"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zh-CN" altLang="en-US" sz="1800" u="none" dirty="0">
                <a:latin typeface="微软雅黑" panose="020B0503020204020204" pitchFamily="34" charset="-122"/>
                <a:ea typeface="微软雅黑" panose="020B0503020204020204" pitchFamily="34" charset="-122"/>
              </a:rPr>
              <a:t>教师（</a:t>
            </a:r>
            <a:r>
              <a:rPr kumimoji="1" lang="zh-CN" altLang="en-US" sz="1800" u="sng" dirty="0">
                <a:solidFill>
                  <a:srgbClr val="FF9933"/>
                </a:solidFill>
                <a:latin typeface="微软雅黑" panose="020B0503020204020204" pitchFamily="34" charset="-122"/>
                <a:ea typeface="微软雅黑" panose="020B0503020204020204" pitchFamily="34" charset="-122"/>
              </a:rPr>
              <a:t>身份证号</a:t>
            </a:r>
            <a:r>
              <a:rPr kumimoji="1" lang="zh-CN" altLang="en-US" sz="1800" u="none" dirty="0">
                <a:latin typeface="微软雅黑" panose="020B0503020204020204" pitchFamily="34" charset="-122"/>
                <a:ea typeface="微软雅黑" panose="020B0503020204020204" pitchFamily="34" charset="-122"/>
              </a:rPr>
              <a:t>，教师编号，职称）</a:t>
            </a:r>
            <a:endParaRPr kumimoji="1" lang="zh-CN" altLang="en-US" sz="1800" u="none"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zh-CN" altLang="en-US" sz="1800" u="none" dirty="0">
                <a:latin typeface="微软雅黑" panose="020B0503020204020204" pitchFamily="34" charset="-122"/>
                <a:ea typeface="微软雅黑" panose="020B0503020204020204" pitchFamily="34" charset="-122"/>
              </a:rPr>
              <a:t> 学生（</a:t>
            </a:r>
            <a:r>
              <a:rPr kumimoji="1" lang="zh-CN" altLang="en-US" sz="1800" u="sng" dirty="0">
                <a:solidFill>
                  <a:srgbClr val="FF9933"/>
                </a:solidFill>
                <a:latin typeface="微软雅黑" panose="020B0503020204020204" pitchFamily="34" charset="-122"/>
                <a:ea typeface="微软雅黑" panose="020B0503020204020204" pitchFamily="34" charset="-122"/>
              </a:rPr>
              <a:t>身份证号</a:t>
            </a:r>
            <a:r>
              <a:rPr kumimoji="1" lang="zh-CN" altLang="en-US" sz="1800" u="none" dirty="0">
                <a:latin typeface="微软雅黑" panose="020B0503020204020204" pitchFamily="34" charset="-122"/>
                <a:ea typeface="微软雅黑" panose="020B0503020204020204" pitchFamily="34" charset="-122"/>
              </a:rPr>
              <a:t>，学号，系别，专业）</a:t>
            </a:r>
            <a:endParaRPr kumimoji="1" lang="zh-CN" altLang="en-US" sz="1800" u="none"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zh-CN" altLang="en-US" sz="1800" u="none" dirty="0">
                <a:latin typeface="微软雅黑" panose="020B0503020204020204" pitchFamily="34" charset="-122"/>
                <a:ea typeface="微软雅黑" panose="020B0503020204020204" pitchFamily="34" charset="-122"/>
              </a:rPr>
              <a:t>本科生（</a:t>
            </a:r>
            <a:r>
              <a:rPr kumimoji="1" lang="zh-CN" altLang="en-US" sz="1800" u="sng" dirty="0">
                <a:latin typeface="微软雅黑" panose="020B0503020204020204" pitchFamily="34" charset="-122"/>
                <a:ea typeface="微软雅黑" panose="020B0503020204020204" pitchFamily="34" charset="-122"/>
              </a:rPr>
              <a:t>身份证号</a:t>
            </a:r>
            <a:r>
              <a:rPr kumimoji="1" lang="zh-CN" altLang="en-US" sz="1800" u="none" dirty="0">
                <a:latin typeface="微软雅黑" panose="020B0503020204020204" pitchFamily="34" charset="-122"/>
                <a:ea typeface="微软雅黑" panose="020B0503020204020204" pitchFamily="34" charset="-122"/>
              </a:rPr>
              <a:t>，入学年份）</a:t>
            </a:r>
            <a:endParaRPr kumimoji="1" lang="zh-CN" altLang="en-US" sz="1800" u="none"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zh-CN" altLang="en-US" sz="1800" u="none" dirty="0">
                <a:latin typeface="微软雅黑" panose="020B0503020204020204" pitchFamily="34" charset="-122"/>
                <a:ea typeface="微软雅黑" panose="020B0503020204020204" pitchFamily="34" charset="-122"/>
              </a:rPr>
              <a:t>         研究生（</a:t>
            </a:r>
            <a:r>
              <a:rPr kumimoji="1" lang="zh-CN" altLang="en-US" sz="1800" u="sng" dirty="0">
                <a:latin typeface="微软雅黑" panose="020B0503020204020204" pitchFamily="34" charset="-122"/>
                <a:ea typeface="微软雅黑" panose="020B0503020204020204" pitchFamily="34" charset="-122"/>
              </a:rPr>
              <a:t>身份证号</a:t>
            </a:r>
            <a:r>
              <a:rPr kumimoji="1" lang="zh-CN" altLang="en-US" sz="1800" u="none" dirty="0">
                <a:latin typeface="微软雅黑" panose="020B0503020204020204" pitchFamily="34" charset="-122"/>
                <a:ea typeface="微软雅黑" panose="020B0503020204020204" pitchFamily="34" charset="-122"/>
              </a:rPr>
              <a:t>，研究方向，导师姓名）</a:t>
            </a:r>
            <a:endParaRPr kumimoji="1" lang="zh-CN" altLang="en-US" sz="1800" u="none" dirty="0">
              <a:latin typeface="微软雅黑" panose="020B0503020204020204" pitchFamily="34" charset="-122"/>
              <a:ea typeface="微软雅黑" panose="020B0503020204020204" pitchFamily="34" charset="-122"/>
            </a:endParaRPr>
          </a:p>
        </p:txBody>
      </p:sp>
      <p:sp>
        <p:nvSpPr>
          <p:cNvPr id="19" name="AutoShape 17"/>
          <p:cNvSpPr>
            <a:spLocks noChangeArrowheads="1"/>
          </p:cNvSpPr>
          <p:nvPr/>
        </p:nvSpPr>
        <p:spPr bwMode="auto">
          <a:xfrm>
            <a:off x="8378483" y="3810000"/>
            <a:ext cx="304800" cy="914400"/>
          </a:xfrm>
          <a:prstGeom prst="downArrow">
            <a:avLst>
              <a:gd name="adj1" fmla="val 50000"/>
              <a:gd name="adj2" fmla="val 7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20" name="Text Box 18"/>
          <p:cNvSpPr txBox="1">
            <a:spLocks noChangeArrowheads="1"/>
          </p:cNvSpPr>
          <p:nvPr/>
        </p:nvSpPr>
        <p:spPr bwMode="auto">
          <a:xfrm>
            <a:off x="8740363" y="4121527"/>
            <a:ext cx="162247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600" u="none" dirty="0">
                <a:latin typeface="微软雅黑" panose="020B0503020204020204" pitchFamily="34" charset="-122"/>
                <a:ea typeface="微软雅黑" panose="020B0503020204020204" pitchFamily="34" charset="-122"/>
              </a:rPr>
              <a:t>对应的关系模式</a:t>
            </a:r>
            <a:endParaRPr kumimoji="1" lang="zh-CN" altLang="en-US" sz="1600" u="none"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0269" y="2314056"/>
            <a:ext cx="6154614" cy="1276696"/>
          </a:xfrm>
          <a:prstGeom prst="rect">
            <a:avLst/>
          </a:prstGeom>
          <a:noFill/>
        </p:spPr>
        <p:txBody>
          <a:bodyPr wrap="square">
            <a:spAutoFit/>
          </a:bodyPr>
          <a:lstStyle/>
          <a:p>
            <a:pPr marL="1257300" lvl="2" indent="-342900">
              <a:lnSpc>
                <a:spcPct val="12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子类与超类之间具有继承性，但子类本身还能包含比超类更多的属性。</a:t>
            </a:r>
            <a:endParaRPr lang="en-US" altLang="zh-CN" sz="2200" dirty="0">
              <a:latin typeface="微软雅黑" panose="020B0503020204020204" pitchFamily="34" charset="-122"/>
              <a:ea typeface="微软雅黑" panose="020B0503020204020204" pitchFamily="34" charset="-122"/>
            </a:endParaRPr>
          </a:p>
          <a:p>
            <a:pPr marL="1257300" lvl="2" indent="-342900">
              <a:lnSpc>
                <a:spcPct val="12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子类和超类有相同的标识符</a:t>
            </a:r>
            <a:r>
              <a:rPr lang="zh-CN" altLang="en-US"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模型：普遍化</a:t>
            </a:r>
            <a:r>
              <a:rPr lang="en-US" altLang="zh-CN" dirty="0"/>
              <a:t>/</a:t>
            </a:r>
            <a:r>
              <a:rPr lang="zh-CN" altLang="en-US" dirty="0"/>
              <a:t>特殊化</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2"/>
          <p:cNvGrpSpPr/>
          <p:nvPr/>
        </p:nvGrpSpPr>
        <p:grpSpPr bwMode="auto">
          <a:xfrm>
            <a:off x="2842333" y="2025431"/>
            <a:ext cx="6562749" cy="4696044"/>
            <a:chOff x="3420" y="816"/>
            <a:chExt cx="5940" cy="5376"/>
          </a:xfrm>
        </p:grpSpPr>
        <p:sp>
          <p:nvSpPr>
            <p:cNvPr id="7" name="Text Box 3"/>
            <p:cNvSpPr txBox="1">
              <a:spLocks noChangeArrowheads="1"/>
            </p:cNvSpPr>
            <p:nvPr/>
          </p:nvSpPr>
          <p:spPr bwMode="auto">
            <a:xfrm>
              <a:off x="5400" y="159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学  生</a:t>
              </a:r>
              <a:endParaRPr lang="zh-CN" altLang="en-US" sz="1600" b="1" u="none">
                <a:latin typeface="Arial" panose="020B0604020202020204" pitchFamily="34" charset="0"/>
              </a:endParaRPr>
            </a:p>
          </p:txBody>
        </p:sp>
        <p:sp>
          <p:nvSpPr>
            <p:cNvPr id="8" name="Oval 4"/>
            <p:cNvSpPr>
              <a:spLocks noChangeArrowheads="1"/>
            </p:cNvSpPr>
            <p:nvPr/>
          </p:nvSpPr>
          <p:spPr bwMode="auto">
            <a:xfrm>
              <a:off x="5865" y="2688"/>
              <a:ext cx="360" cy="360"/>
            </a:xfrm>
            <a:prstGeom prst="ellipse">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b="1" u="none">
                  <a:latin typeface="Times New Roman" panose="02020603050405020304" pitchFamily="18" charset="0"/>
                </a:rPr>
                <a:t>d</a:t>
              </a:r>
              <a:endParaRPr lang="en-US" altLang="zh-CN" sz="1600" b="1" u="none">
                <a:latin typeface="Arial" panose="020B0604020202020204" pitchFamily="34" charset="0"/>
              </a:endParaRPr>
            </a:p>
          </p:txBody>
        </p:sp>
        <p:sp>
          <p:nvSpPr>
            <p:cNvPr id="9" name="Line 5"/>
            <p:cNvSpPr>
              <a:spLocks noChangeShapeType="1"/>
            </p:cNvSpPr>
            <p:nvPr/>
          </p:nvSpPr>
          <p:spPr bwMode="auto">
            <a:xfrm>
              <a:off x="6030" y="3045"/>
              <a:ext cx="0" cy="8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Text Box 6"/>
            <p:cNvSpPr txBox="1">
              <a:spLocks noChangeArrowheads="1"/>
            </p:cNvSpPr>
            <p:nvPr/>
          </p:nvSpPr>
          <p:spPr bwMode="auto">
            <a:xfrm>
              <a:off x="5400" y="393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本科生</a:t>
              </a:r>
              <a:endParaRPr lang="zh-CN" altLang="en-US" sz="1600" b="1" u="none">
                <a:latin typeface="Arial" panose="020B0604020202020204" pitchFamily="34" charset="0"/>
              </a:endParaRPr>
            </a:p>
          </p:txBody>
        </p:sp>
        <p:sp>
          <p:nvSpPr>
            <p:cNvPr id="11" name="Text Box 7"/>
            <p:cNvSpPr txBox="1">
              <a:spLocks noChangeArrowheads="1"/>
            </p:cNvSpPr>
            <p:nvPr/>
          </p:nvSpPr>
          <p:spPr bwMode="auto">
            <a:xfrm>
              <a:off x="3780" y="393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专科生</a:t>
              </a:r>
              <a:endParaRPr lang="zh-CN" altLang="en-US" sz="1600" b="1" u="none">
                <a:latin typeface="Arial" panose="020B0604020202020204" pitchFamily="34" charset="0"/>
              </a:endParaRPr>
            </a:p>
          </p:txBody>
        </p:sp>
        <p:sp>
          <p:nvSpPr>
            <p:cNvPr id="12" name="Text Box 8"/>
            <p:cNvSpPr txBox="1">
              <a:spLocks noChangeArrowheads="1"/>
            </p:cNvSpPr>
            <p:nvPr/>
          </p:nvSpPr>
          <p:spPr bwMode="auto">
            <a:xfrm>
              <a:off x="3864" y="5808"/>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b="1" u="none">
                  <a:latin typeface="Times New Roman" panose="02020603050405020304" pitchFamily="18" charset="0"/>
                </a:rPr>
                <a:t> “</a:t>
              </a:r>
              <a:r>
                <a:rPr lang="zh-CN" altLang="en-US" sz="1600" b="1" u="none">
                  <a:latin typeface="Times New Roman" panose="02020603050405020304" pitchFamily="18" charset="0"/>
                </a:rPr>
                <a:t>特殊化”</a:t>
              </a:r>
              <a:r>
                <a:rPr lang="en-US" altLang="zh-CN" sz="1600" b="1" u="none">
                  <a:latin typeface="Times New Roman" panose="02020603050405020304" pitchFamily="18" charset="0"/>
                </a:rPr>
                <a:t>E</a:t>
              </a:r>
              <a:r>
                <a:rPr lang="zh-CN" altLang="en-US" sz="1600" b="1" u="none">
                  <a:latin typeface="Times New Roman" panose="02020603050405020304" pitchFamily="18" charset="0"/>
                </a:rPr>
                <a:t>－</a:t>
              </a:r>
              <a:r>
                <a:rPr lang="en-US" altLang="zh-CN" sz="1600" b="1" u="none">
                  <a:latin typeface="Times New Roman" panose="02020603050405020304" pitchFamily="18" charset="0"/>
                </a:rPr>
                <a:t>R</a:t>
              </a:r>
              <a:r>
                <a:rPr lang="zh-CN" altLang="en-US" sz="1600" b="1" u="none">
                  <a:latin typeface="Times New Roman" panose="02020603050405020304" pitchFamily="18" charset="0"/>
                </a:rPr>
                <a:t>图示例</a:t>
              </a:r>
              <a:endParaRPr lang="zh-CN" altLang="en-US" sz="1600" b="1" u="none">
                <a:latin typeface="Arial" panose="020B0604020202020204" pitchFamily="34" charset="0"/>
              </a:endParaRPr>
            </a:p>
          </p:txBody>
        </p:sp>
        <p:sp>
          <p:nvSpPr>
            <p:cNvPr id="13" name="Line 9"/>
            <p:cNvSpPr>
              <a:spLocks noChangeShapeType="1"/>
            </p:cNvSpPr>
            <p:nvPr/>
          </p:nvSpPr>
          <p:spPr bwMode="auto">
            <a:xfrm>
              <a:off x="6000" y="2064"/>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0"/>
            <p:cNvSpPr>
              <a:spLocks noChangeShapeType="1"/>
            </p:cNvSpPr>
            <p:nvPr/>
          </p:nvSpPr>
          <p:spPr bwMode="auto">
            <a:xfrm>
              <a:off x="6090" y="2064"/>
              <a:ext cx="0" cy="6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Text Box 11"/>
            <p:cNvSpPr txBox="1">
              <a:spLocks noChangeArrowheads="1"/>
            </p:cNvSpPr>
            <p:nvPr/>
          </p:nvSpPr>
          <p:spPr bwMode="auto">
            <a:xfrm>
              <a:off x="7020" y="393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dirty="0">
                  <a:latin typeface="Times New Roman" panose="02020603050405020304" pitchFamily="18" charset="0"/>
                </a:rPr>
                <a:t>研究生</a:t>
              </a:r>
              <a:endParaRPr lang="zh-CN" altLang="en-US" sz="1600" b="1" u="none" dirty="0">
                <a:latin typeface="Arial" panose="020B0604020202020204" pitchFamily="34" charset="0"/>
              </a:endParaRPr>
            </a:p>
          </p:txBody>
        </p:sp>
        <p:sp>
          <p:nvSpPr>
            <p:cNvPr id="16" name="Line 12"/>
            <p:cNvSpPr>
              <a:spLocks noChangeShapeType="1"/>
            </p:cNvSpPr>
            <p:nvPr/>
          </p:nvSpPr>
          <p:spPr bwMode="auto">
            <a:xfrm flipH="1">
              <a:off x="4500" y="3000"/>
              <a:ext cx="144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3"/>
            <p:cNvSpPr>
              <a:spLocks noChangeShapeType="1"/>
            </p:cNvSpPr>
            <p:nvPr/>
          </p:nvSpPr>
          <p:spPr bwMode="auto">
            <a:xfrm>
              <a:off x="6150" y="3015"/>
              <a:ext cx="162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AutoShape 14"/>
            <p:cNvSpPr>
              <a:spLocks noChangeArrowheads="1"/>
            </p:cNvSpPr>
            <p:nvPr/>
          </p:nvSpPr>
          <p:spPr bwMode="auto">
            <a:xfrm>
              <a:off x="3780" y="1611"/>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姓名</a:t>
              </a:r>
              <a:endParaRPr lang="zh-CN" altLang="en-US" sz="1600" b="1" u="none">
                <a:latin typeface="Arial" panose="020B0604020202020204" pitchFamily="34" charset="0"/>
              </a:endParaRPr>
            </a:p>
          </p:txBody>
        </p:sp>
        <p:sp>
          <p:nvSpPr>
            <p:cNvPr id="19" name="AutoShape 15"/>
            <p:cNvSpPr>
              <a:spLocks noChangeArrowheads="1"/>
            </p:cNvSpPr>
            <p:nvPr/>
          </p:nvSpPr>
          <p:spPr bwMode="auto">
            <a:xfrm>
              <a:off x="4680" y="816"/>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a:latin typeface="Times New Roman" panose="02020603050405020304" pitchFamily="18" charset="0"/>
                </a:rPr>
                <a:t>学号</a:t>
              </a:r>
              <a:endParaRPr lang="zh-CN" altLang="en-US" sz="1600" b="1" u="none">
                <a:latin typeface="Arial" panose="020B0604020202020204" pitchFamily="34" charset="0"/>
              </a:endParaRPr>
            </a:p>
          </p:txBody>
        </p:sp>
        <p:sp>
          <p:nvSpPr>
            <p:cNvPr id="20" name="AutoShape 16"/>
            <p:cNvSpPr>
              <a:spLocks noChangeArrowheads="1"/>
            </p:cNvSpPr>
            <p:nvPr/>
          </p:nvSpPr>
          <p:spPr bwMode="auto">
            <a:xfrm>
              <a:off x="6480" y="816"/>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性别</a:t>
              </a:r>
              <a:endParaRPr lang="zh-CN" altLang="en-US" sz="1600" b="1" u="none">
                <a:latin typeface="Arial" panose="020B0604020202020204" pitchFamily="34" charset="0"/>
              </a:endParaRPr>
            </a:p>
          </p:txBody>
        </p:sp>
        <p:sp>
          <p:nvSpPr>
            <p:cNvPr id="21" name="AutoShape 17"/>
            <p:cNvSpPr>
              <a:spLocks noChangeArrowheads="1"/>
            </p:cNvSpPr>
            <p:nvPr/>
          </p:nvSpPr>
          <p:spPr bwMode="auto">
            <a:xfrm>
              <a:off x="7590" y="1611"/>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班级</a:t>
              </a:r>
              <a:endParaRPr lang="zh-CN" altLang="en-US" sz="1600" b="1" u="none">
                <a:latin typeface="Arial" panose="020B0604020202020204" pitchFamily="34" charset="0"/>
              </a:endParaRPr>
            </a:p>
          </p:txBody>
        </p:sp>
        <p:sp>
          <p:nvSpPr>
            <p:cNvPr id="22" name="Line 18"/>
            <p:cNvSpPr>
              <a:spLocks noChangeShapeType="1"/>
            </p:cNvSpPr>
            <p:nvPr/>
          </p:nvSpPr>
          <p:spPr bwMode="auto">
            <a:xfrm>
              <a:off x="4500" y="1752"/>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19"/>
            <p:cNvSpPr>
              <a:spLocks noChangeShapeType="1"/>
            </p:cNvSpPr>
            <p:nvPr/>
          </p:nvSpPr>
          <p:spPr bwMode="auto">
            <a:xfrm>
              <a:off x="5040" y="1128"/>
              <a:ext cx="7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0"/>
            <p:cNvSpPr>
              <a:spLocks noChangeShapeType="1"/>
            </p:cNvSpPr>
            <p:nvPr/>
          </p:nvSpPr>
          <p:spPr bwMode="auto">
            <a:xfrm flipH="1">
              <a:off x="6120" y="1128"/>
              <a:ext cx="7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21"/>
            <p:cNvSpPr>
              <a:spLocks noChangeShapeType="1"/>
            </p:cNvSpPr>
            <p:nvPr/>
          </p:nvSpPr>
          <p:spPr bwMode="auto">
            <a:xfrm flipH="1">
              <a:off x="6660" y="1752"/>
              <a:ext cx="9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AutoShape 22"/>
            <p:cNvSpPr>
              <a:spLocks noChangeArrowheads="1"/>
            </p:cNvSpPr>
            <p:nvPr/>
          </p:nvSpPr>
          <p:spPr bwMode="auto">
            <a:xfrm>
              <a:off x="3420" y="5028"/>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学制</a:t>
              </a:r>
              <a:endParaRPr lang="zh-CN" altLang="en-US" sz="1600" b="1" u="none">
                <a:latin typeface="Arial" panose="020B0604020202020204" pitchFamily="34" charset="0"/>
              </a:endParaRPr>
            </a:p>
          </p:txBody>
        </p:sp>
        <p:sp>
          <p:nvSpPr>
            <p:cNvPr id="27" name="Line 23"/>
            <p:cNvSpPr>
              <a:spLocks noChangeShapeType="1"/>
            </p:cNvSpPr>
            <p:nvPr/>
          </p:nvSpPr>
          <p:spPr bwMode="auto">
            <a:xfrm flipH="1">
              <a:off x="3780" y="4404"/>
              <a:ext cx="54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AutoShape 24"/>
            <p:cNvSpPr>
              <a:spLocks noChangeArrowheads="1"/>
            </p:cNvSpPr>
            <p:nvPr/>
          </p:nvSpPr>
          <p:spPr bwMode="auto">
            <a:xfrm>
              <a:off x="4680" y="5028"/>
              <a:ext cx="90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奖学金</a:t>
              </a:r>
              <a:endParaRPr lang="zh-CN" altLang="en-US" sz="1600" b="1" u="none">
                <a:latin typeface="Arial" panose="020B0604020202020204" pitchFamily="34" charset="0"/>
              </a:endParaRPr>
            </a:p>
          </p:txBody>
        </p:sp>
        <p:sp>
          <p:nvSpPr>
            <p:cNvPr id="29" name="Line 25"/>
            <p:cNvSpPr>
              <a:spLocks noChangeShapeType="1"/>
            </p:cNvSpPr>
            <p:nvPr/>
          </p:nvSpPr>
          <p:spPr bwMode="auto">
            <a:xfrm flipH="1">
              <a:off x="5220" y="4404"/>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AutoShape 26"/>
            <p:cNvSpPr>
              <a:spLocks noChangeArrowheads="1"/>
            </p:cNvSpPr>
            <p:nvPr/>
          </p:nvSpPr>
          <p:spPr bwMode="auto">
            <a:xfrm>
              <a:off x="6105" y="5028"/>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导师</a:t>
              </a:r>
              <a:endParaRPr lang="zh-CN" altLang="en-US" sz="1600" b="1" u="none">
                <a:latin typeface="Arial" panose="020B0604020202020204" pitchFamily="34" charset="0"/>
              </a:endParaRPr>
            </a:p>
          </p:txBody>
        </p:sp>
        <p:sp>
          <p:nvSpPr>
            <p:cNvPr id="31" name="AutoShape 27"/>
            <p:cNvSpPr>
              <a:spLocks noChangeArrowheads="1"/>
            </p:cNvSpPr>
            <p:nvPr/>
          </p:nvSpPr>
          <p:spPr bwMode="auto">
            <a:xfrm>
              <a:off x="7200" y="5028"/>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学位</a:t>
              </a:r>
              <a:endParaRPr lang="zh-CN" altLang="en-US" sz="1600" b="1" u="none">
                <a:latin typeface="Arial" panose="020B0604020202020204" pitchFamily="34" charset="0"/>
              </a:endParaRPr>
            </a:p>
          </p:txBody>
        </p:sp>
        <p:sp>
          <p:nvSpPr>
            <p:cNvPr id="32" name="AutoShape 28"/>
            <p:cNvSpPr>
              <a:spLocks noChangeArrowheads="1"/>
            </p:cNvSpPr>
            <p:nvPr/>
          </p:nvSpPr>
          <p:spPr bwMode="auto">
            <a:xfrm>
              <a:off x="8280" y="5028"/>
              <a:ext cx="108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研究方向</a:t>
              </a:r>
              <a:endParaRPr lang="zh-CN" altLang="en-US" sz="1600" b="1" u="none">
                <a:latin typeface="Arial" panose="020B0604020202020204" pitchFamily="34" charset="0"/>
              </a:endParaRPr>
            </a:p>
          </p:txBody>
        </p:sp>
        <p:sp>
          <p:nvSpPr>
            <p:cNvPr id="33" name="Line 29"/>
            <p:cNvSpPr>
              <a:spLocks noChangeShapeType="1"/>
            </p:cNvSpPr>
            <p:nvPr/>
          </p:nvSpPr>
          <p:spPr bwMode="auto">
            <a:xfrm flipH="1">
              <a:off x="6480" y="4404"/>
              <a:ext cx="10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30"/>
            <p:cNvSpPr>
              <a:spLocks noChangeShapeType="1"/>
            </p:cNvSpPr>
            <p:nvPr/>
          </p:nvSpPr>
          <p:spPr bwMode="auto">
            <a:xfrm flipH="1">
              <a:off x="7560" y="4404"/>
              <a:ext cx="1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31"/>
            <p:cNvSpPr>
              <a:spLocks noChangeShapeType="1"/>
            </p:cNvSpPr>
            <p:nvPr/>
          </p:nvSpPr>
          <p:spPr bwMode="auto">
            <a:xfrm>
              <a:off x="7920" y="4404"/>
              <a:ext cx="90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模型：聚集</a:t>
            </a:r>
            <a:endParaRPr lang="en-US" altLang="zh-CN" dirty="0"/>
          </a:p>
          <a:p>
            <a:pPr lvl="1"/>
            <a:r>
              <a:rPr lang="zh-CN" altLang="en-US" dirty="0"/>
              <a:t>表示“是</a:t>
            </a:r>
            <a:r>
              <a:rPr lang="en-US" altLang="zh-CN" dirty="0"/>
              <a:t>……</a:t>
            </a:r>
            <a:r>
              <a:rPr lang="zh-CN" altLang="en-US" dirty="0"/>
              <a:t>的一部分”的关系抽象</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36" name="Group 4"/>
          <p:cNvGrpSpPr/>
          <p:nvPr/>
        </p:nvGrpSpPr>
        <p:grpSpPr bwMode="auto">
          <a:xfrm>
            <a:off x="1159770" y="2470150"/>
            <a:ext cx="10331450" cy="3886200"/>
            <a:chOff x="-62" y="1392"/>
            <a:chExt cx="6508" cy="2448"/>
          </a:xfrm>
        </p:grpSpPr>
        <p:sp>
          <p:nvSpPr>
            <p:cNvPr id="37" name="Text Box 5"/>
            <p:cNvSpPr txBox="1">
              <a:spLocks noChangeArrowheads="1"/>
            </p:cNvSpPr>
            <p:nvPr/>
          </p:nvSpPr>
          <p:spPr bwMode="auto">
            <a:xfrm>
              <a:off x="1488" y="2169"/>
              <a:ext cx="576" cy="327"/>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职工</a:t>
              </a:r>
              <a:endParaRPr kumimoji="1" lang="zh-CN" altLang="en-US" sz="2400" u="none" dirty="0">
                <a:latin typeface="微软雅黑" panose="020B0503020204020204" pitchFamily="34" charset="-122"/>
                <a:ea typeface="微软雅黑" panose="020B0503020204020204" pitchFamily="34" charset="-122"/>
              </a:endParaRPr>
            </a:p>
          </p:txBody>
        </p:sp>
        <p:sp>
          <p:nvSpPr>
            <p:cNvPr id="38" name="Text Box 6"/>
            <p:cNvSpPr txBox="1">
              <a:spLocks noChangeArrowheads="1"/>
            </p:cNvSpPr>
            <p:nvPr/>
          </p:nvSpPr>
          <p:spPr bwMode="auto">
            <a:xfrm>
              <a:off x="3840" y="2169"/>
              <a:ext cx="864" cy="327"/>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项目</a:t>
              </a:r>
              <a:endParaRPr kumimoji="1" lang="zh-CN" altLang="en-US" sz="2400" u="none" dirty="0">
                <a:latin typeface="微软雅黑" panose="020B0503020204020204" pitchFamily="34" charset="-122"/>
                <a:ea typeface="微软雅黑" panose="020B0503020204020204" pitchFamily="34" charset="-122"/>
              </a:endParaRPr>
            </a:p>
          </p:txBody>
        </p:sp>
        <p:sp>
          <p:nvSpPr>
            <p:cNvPr id="39" name="Line 7"/>
            <p:cNvSpPr>
              <a:spLocks noChangeShapeType="1"/>
            </p:cNvSpPr>
            <p:nvPr/>
          </p:nvSpPr>
          <p:spPr bwMode="auto">
            <a:xfrm>
              <a:off x="2064" y="2304"/>
              <a:ext cx="6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8"/>
            <p:cNvSpPr>
              <a:spLocks noChangeShapeType="1"/>
            </p:cNvSpPr>
            <p:nvPr/>
          </p:nvSpPr>
          <p:spPr bwMode="auto">
            <a:xfrm>
              <a:off x="3168" y="2304"/>
              <a:ext cx="6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AutoShape 9"/>
            <p:cNvSpPr>
              <a:spLocks noChangeArrowheads="1"/>
            </p:cNvSpPr>
            <p:nvPr/>
          </p:nvSpPr>
          <p:spPr bwMode="auto">
            <a:xfrm>
              <a:off x="2640" y="2016"/>
              <a:ext cx="576" cy="528"/>
            </a:xfrm>
            <a:prstGeom prst="diamond">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42" name="Text Box 10"/>
            <p:cNvSpPr txBox="1">
              <a:spLocks noChangeArrowheads="1"/>
            </p:cNvSpPr>
            <p:nvPr/>
          </p:nvSpPr>
          <p:spPr bwMode="auto">
            <a:xfrm>
              <a:off x="2640" y="2112"/>
              <a:ext cx="576" cy="327"/>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参加</a:t>
              </a:r>
              <a:endParaRPr kumimoji="1" lang="zh-CN" altLang="en-US" sz="2400" u="none" dirty="0">
                <a:latin typeface="微软雅黑" panose="020B0503020204020204" pitchFamily="34" charset="-122"/>
                <a:ea typeface="微软雅黑" panose="020B0503020204020204" pitchFamily="34" charset="-122"/>
              </a:endParaRPr>
            </a:p>
          </p:txBody>
        </p:sp>
        <p:sp>
          <p:nvSpPr>
            <p:cNvPr id="43" name="Oval 11" descr="Large confetti"/>
            <p:cNvSpPr>
              <a:spLocks noChangeArrowheads="1"/>
            </p:cNvSpPr>
            <p:nvPr/>
          </p:nvSpPr>
          <p:spPr bwMode="auto">
            <a:xfrm>
              <a:off x="1248" y="1488"/>
              <a:ext cx="480"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44" name="Text Box 12"/>
            <p:cNvSpPr txBox="1">
              <a:spLocks noChangeArrowheads="1"/>
            </p:cNvSpPr>
            <p:nvPr/>
          </p:nvSpPr>
          <p:spPr bwMode="auto">
            <a:xfrm>
              <a:off x="1248" y="1516"/>
              <a:ext cx="528"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姓名</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45" name="Oval 13" descr="Large confetti"/>
            <p:cNvSpPr>
              <a:spLocks noChangeArrowheads="1"/>
            </p:cNvSpPr>
            <p:nvPr/>
          </p:nvSpPr>
          <p:spPr bwMode="auto">
            <a:xfrm>
              <a:off x="1776" y="1488"/>
              <a:ext cx="480"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46" name="Text Box 14"/>
            <p:cNvSpPr txBox="1">
              <a:spLocks noChangeArrowheads="1"/>
            </p:cNvSpPr>
            <p:nvPr/>
          </p:nvSpPr>
          <p:spPr bwMode="auto">
            <a:xfrm>
              <a:off x="1776" y="1516"/>
              <a:ext cx="528"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工种</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47" name="Oval 15" descr="Large confetti"/>
            <p:cNvSpPr>
              <a:spLocks noChangeArrowheads="1"/>
            </p:cNvSpPr>
            <p:nvPr/>
          </p:nvSpPr>
          <p:spPr bwMode="auto">
            <a:xfrm>
              <a:off x="3648" y="1488"/>
              <a:ext cx="524"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48" name="Text Box 16"/>
            <p:cNvSpPr txBox="1">
              <a:spLocks noChangeArrowheads="1"/>
            </p:cNvSpPr>
            <p:nvPr/>
          </p:nvSpPr>
          <p:spPr bwMode="auto">
            <a:xfrm>
              <a:off x="3648" y="1516"/>
              <a:ext cx="576"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名称</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49" name="Oval 17" descr="Large confetti"/>
            <p:cNvSpPr>
              <a:spLocks noChangeArrowheads="1"/>
            </p:cNvSpPr>
            <p:nvPr/>
          </p:nvSpPr>
          <p:spPr bwMode="auto">
            <a:xfrm>
              <a:off x="4224" y="1488"/>
              <a:ext cx="524"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0" name="Text Box 18"/>
            <p:cNvSpPr txBox="1">
              <a:spLocks noChangeArrowheads="1"/>
            </p:cNvSpPr>
            <p:nvPr/>
          </p:nvSpPr>
          <p:spPr bwMode="auto">
            <a:xfrm>
              <a:off x="4224" y="1516"/>
              <a:ext cx="576"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类型</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51" name="Oval 19" descr="Large confetti"/>
            <p:cNvSpPr>
              <a:spLocks noChangeArrowheads="1"/>
            </p:cNvSpPr>
            <p:nvPr/>
          </p:nvSpPr>
          <p:spPr bwMode="auto">
            <a:xfrm>
              <a:off x="1680" y="3456"/>
              <a:ext cx="672"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2" name="Text Box 20"/>
            <p:cNvSpPr txBox="1">
              <a:spLocks noChangeArrowheads="1"/>
            </p:cNvSpPr>
            <p:nvPr/>
          </p:nvSpPr>
          <p:spPr bwMode="auto">
            <a:xfrm>
              <a:off x="1632" y="3504"/>
              <a:ext cx="768"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机器名</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53" name="Oval 21" descr="Large confetti"/>
            <p:cNvSpPr>
              <a:spLocks noChangeArrowheads="1"/>
            </p:cNvSpPr>
            <p:nvPr/>
          </p:nvSpPr>
          <p:spPr bwMode="auto">
            <a:xfrm>
              <a:off x="3504" y="3456"/>
              <a:ext cx="524"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4" name="Text Box 22"/>
            <p:cNvSpPr txBox="1">
              <a:spLocks noChangeArrowheads="1"/>
            </p:cNvSpPr>
            <p:nvPr/>
          </p:nvSpPr>
          <p:spPr bwMode="auto">
            <a:xfrm>
              <a:off x="3504" y="3484"/>
              <a:ext cx="576"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型号</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55" name="Line 23"/>
            <p:cNvSpPr>
              <a:spLocks noChangeShapeType="1"/>
            </p:cNvSpPr>
            <p:nvPr/>
          </p:nvSpPr>
          <p:spPr bwMode="auto">
            <a:xfrm flipH="1" flipV="1">
              <a:off x="1536" y="1872"/>
              <a:ext cx="9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24"/>
            <p:cNvSpPr>
              <a:spLocks noChangeShapeType="1"/>
            </p:cNvSpPr>
            <p:nvPr/>
          </p:nvSpPr>
          <p:spPr bwMode="auto">
            <a:xfrm flipV="1">
              <a:off x="1872" y="1872"/>
              <a:ext cx="144"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25"/>
            <p:cNvSpPr>
              <a:spLocks noChangeShapeType="1"/>
            </p:cNvSpPr>
            <p:nvPr/>
          </p:nvSpPr>
          <p:spPr bwMode="auto">
            <a:xfrm flipH="1" flipV="1">
              <a:off x="3936" y="1872"/>
              <a:ext cx="192"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26"/>
            <p:cNvSpPr>
              <a:spLocks noChangeShapeType="1"/>
            </p:cNvSpPr>
            <p:nvPr/>
          </p:nvSpPr>
          <p:spPr bwMode="auto">
            <a:xfrm flipV="1">
              <a:off x="4320" y="1872"/>
              <a:ext cx="192"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Oval 27" descr="Large confetti"/>
            <p:cNvSpPr>
              <a:spLocks noChangeArrowheads="1"/>
            </p:cNvSpPr>
            <p:nvPr/>
          </p:nvSpPr>
          <p:spPr bwMode="auto">
            <a:xfrm>
              <a:off x="2640" y="1488"/>
              <a:ext cx="524" cy="384"/>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0" name="Text Box 28"/>
            <p:cNvSpPr txBox="1">
              <a:spLocks noChangeArrowheads="1"/>
            </p:cNvSpPr>
            <p:nvPr/>
          </p:nvSpPr>
          <p:spPr bwMode="auto">
            <a:xfrm>
              <a:off x="2640" y="1516"/>
              <a:ext cx="576" cy="28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kumimoji="1" lang="zh-CN" altLang="en-US" sz="2400" b="1" u="none" dirty="0">
                  <a:solidFill>
                    <a:schemeClr val="tx2"/>
                  </a:solidFill>
                  <a:latin typeface="微软雅黑" panose="020B0503020204020204" pitchFamily="34" charset="-122"/>
                  <a:ea typeface="微软雅黑" panose="020B0503020204020204" pitchFamily="34" charset="-122"/>
                </a:rPr>
                <a:t>工时</a:t>
              </a:r>
              <a:endParaRPr kumimoji="1" lang="zh-CN" altLang="en-US" sz="4400" u="none" dirty="0">
                <a:solidFill>
                  <a:schemeClr val="tx2"/>
                </a:solidFill>
                <a:latin typeface="微软雅黑" panose="020B0503020204020204" pitchFamily="34" charset="-122"/>
                <a:ea typeface="微软雅黑" panose="020B0503020204020204" pitchFamily="34" charset="-122"/>
              </a:endParaRPr>
            </a:p>
          </p:txBody>
        </p:sp>
        <p:sp>
          <p:nvSpPr>
            <p:cNvPr id="61" name="Line 29"/>
            <p:cNvSpPr>
              <a:spLocks noChangeShapeType="1"/>
            </p:cNvSpPr>
            <p:nvPr/>
          </p:nvSpPr>
          <p:spPr bwMode="auto">
            <a:xfrm>
              <a:off x="2928" y="1872"/>
              <a:ext cx="0"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AutoShape 30"/>
            <p:cNvSpPr>
              <a:spLocks noChangeArrowheads="1"/>
            </p:cNvSpPr>
            <p:nvPr/>
          </p:nvSpPr>
          <p:spPr bwMode="auto">
            <a:xfrm>
              <a:off x="2640" y="2832"/>
              <a:ext cx="576" cy="528"/>
            </a:xfrm>
            <a:prstGeom prst="diamond">
              <a:avLst/>
            </a:prstGeom>
            <a:solidFill>
              <a:srgbClr val="33CC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3" name="Text Box 31"/>
            <p:cNvSpPr txBox="1">
              <a:spLocks noChangeArrowheads="1"/>
            </p:cNvSpPr>
            <p:nvPr/>
          </p:nvSpPr>
          <p:spPr bwMode="auto">
            <a:xfrm>
              <a:off x="2640" y="2928"/>
              <a:ext cx="576" cy="327"/>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使用</a:t>
              </a:r>
              <a:endParaRPr kumimoji="1" lang="zh-CN" altLang="en-US" sz="2400" u="none" dirty="0">
                <a:latin typeface="微软雅黑" panose="020B0503020204020204" pitchFamily="34" charset="-122"/>
                <a:ea typeface="微软雅黑" panose="020B0503020204020204" pitchFamily="34" charset="-122"/>
              </a:endParaRPr>
            </a:p>
          </p:txBody>
        </p:sp>
        <p:sp>
          <p:nvSpPr>
            <p:cNvPr id="64" name="Text Box 32"/>
            <p:cNvSpPr txBox="1">
              <a:spLocks noChangeArrowheads="1"/>
            </p:cNvSpPr>
            <p:nvPr/>
          </p:nvSpPr>
          <p:spPr bwMode="auto">
            <a:xfrm>
              <a:off x="2640" y="3513"/>
              <a:ext cx="576" cy="327"/>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kumimoji="1" lang="zh-CN" altLang="en-US" b="1" u="none" dirty="0">
                  <a:latin typeface="微软雅黑" panose="020B0503020204020204" pitchFamily="34" charset="-122"/>
                  <a:ea typeface="微软雅黑" panose="020B0503020204020204" pitchFamily="34" charset="-122"/>
                </a:rPr>
                <a:t>机器</a:t>
              </a:r>
              <a:endParaRPr kumimoji="1" lang="zh-CN" altLang="en-US" sz="2400" u="none" dirty="0">
                <a:latin typeface="微软雅黑" panose="020B0503020204020204" pitchFamily="34" charset="-122"/>
                <a:ea typeface="微软雅黑" panose="020B0503020204020204" pitchFamily="34" charset="-122"/>
              </a:endParaRPr>
            </a:p>
          </p:txBody>
        </p:sp>
        <p:sp>
          <p:nvSpPr>
            <p:cNvPr id="65" name="Line 33"/>
            <p:cNvSpPr>
              <a:spLocks noChangeShapeType="1"/>
            </p:cNvSpPr>
            <p:nvPr/>
          </p:nvSpPr>
          <p:spPr bwMode="auto">
            <a:xfrm flipH="1">
              <a:off x="2352" y="3648"/>
              <a:ext cx="2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34"/>
            <p:cNvSpPr>
              <a:spLocks noChangeShapeType="1"/>
            </p:cNvSpPr>
            <p:nvPr/>
          </p:nvSpPr>
          <p:spPr bwMode="auto">
            <a:xfrm flipH="1">
              <a:off x="3216" y="3648"/>
              <a:ext cx="2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35"/>
            <p:cNvSpPr>
              <a:spLocks noChangeShapeType="1"/>
            </p:cNvSpPr>
            <p:nvPr/>
          </p:nvSpPr>
          <p:spPr bwMode="auto">
            <a:xfrm>
              <a:off x="2928" y="3360"/>
              <a:ext cx="0"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Rectangle 36"/>
            <p:cNvSpPr>
              <a:spLocks noChangeArrowheads="1"/>
            </p:cNvSpPr>
            <p:nvPr/>
          </p:nvSpPr>
          <p:spPr bwMode="auto">
            <a:xfrm>
              <a:off x="624" y="1392"/>
              <a:ext cx="4608" cy="1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9" name="Line 37"/>
            <p:cNvSpPr>
              <a:spLocks noChangeShapeType="1"/>
            </p:cNvSpPr>
            <p:nvPr/>
          </p:nvSpPr>
          <p:spPr bwMode="auto">
            <a:xfrm>
              <a:off x="2928" y="2592"/>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AutoShape 38"/>
            <p:cNvSpPr>
              <a:spLocks noChangeArrowheads="1"/>
            </p:cNvSpPr>
            <p:nvPr/>
          </p:nvSpPr>
          <p:spPr bwMode="auto">
            <a:xfrm>
              <a:off x="3264" y="2976"/>
              <a:ext cx="480" cy="240"/>
            </a:xfrm>
            <a:prstGeom prst="rightArrow">
              <a:avLst>
                <a:gd name="adj1" fmla="val 25667"/>
                <a:gd name="adj2" fmla="val 46093"/>
              </a:avLst>
            </a:prstGeom>
            <a:solidFill>
              <a:srgbClr val="FFCC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71" name="Rectangle 39"/>
            <p:cNvSpPr>
              <a:spLocks noChangeArrowheads="1"/>
            </p:cNvSpPr>
            <p:nvPr/>
          </p:nvSpPr>
          <p:spPr bwMode="auto">
            <a:xfrm>
              <a:off x="3456" y="2996"/>
              <a:ext cx="2990" cy="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lvl="1" algn="r" eaLnBrk="1" hangingPunct="1">
                <a:buFontTx/>
                <a:buNone/>
              </a:pPr>
              <a:r>
                <a:rPr lang="zh-CN" altLang="en-US" sz="2000" u="none" dirty="0">
                  <a:latin typeface="微软雅黑" panose="020B0503020204020204" pitchFamily="34" charset="-122"/>
                  <a:ea typeface="微软雅黑" panose="020B0503020204020204" pitchFamily="34" charset="-122"/>
                  <a:sym typeface="Symbol" panose="05050102010706020507" pitchFamily="2" charset="2"/>
                </a:rPr>
                <a:t>使用（职工姓名，项目名称，机器名）</a:t>
              </a:r>
              <a:endParaRPr lang="zh-CN" altLang="en-US" sz="2000" u="none" dirty="0">
                <a:latin typeface="微软雅黑" panose="020B0503020204020204" pitchFamily="34" charset="-122"/>
                <a:ea typeface="微软雅黑" panose="020B0503020204020204" pitchFamily="34" charset="-122"/>
              </a:endParaRPr>
            </a:p>
          </p:txBody>
        </p:sp>
        <p:sp>
          <p:nvSpPr>
            <p:cNvPr id="72" name="Line 40"/>
            <p:cNvSpPr>
              <a:spLocks noChangeShapeType="1"/>
            </p:cNvSpPr>
            <p:nvPr/>
          </p:nvSpPr>
          <p:spPr bwMode="auto">
            <a:xfrm>
              <a:off x="0" y="302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AutoShape 41"/>
            <p:cNvSpPr>
              <a:spLocks noChangeArrowheads="1"/>
            </p:cNvSpPr>
            <p:nvPr/>
          </p:nvSpPr>
          <p:spPr bwMode="auto">
            <a:xfrm rot="9000000">
              <a:off x="2256" y="2448"/>
              <a:ext cx="480" cy="240"/>
            </a:xfrm>
            <a:prstGeom prst="rightArrow">
              <a:avLst>
                <a:gd name="adj1" fmla="val 25667"/>
                <a:gd name="adj2" fmla="val 46093"/>
              </a:avLst>
            </a:prstGeom>
            <a:solidFill>
              <a:srgbClr val="FFCC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74" name="Rectangle 42"/>
            <p:cNvSpPr>
              <a:spLocks noChangeArrowheads="1"/>
            </p:cNvSpPr>
            <p:nvPr/>
          </p:nvSpPr>
          <p:spPr bwMode="auto">
            <a:xfrm>
              <a:off x="-62" y="2736"/>
              <a:ext cx="297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lvl="1" eaLnBrk="1" hangingPunct="1">
                <a:buFontTx/>
                <a:buNone/>
              </a:pPr>
              <a:r>
                <a:rPr lang="zh-CN" altLang="en-US" sz="2000" u="none" dirty="0">
                  <a:latin typeface="微软雅黑" panose="020B0503020204020204" pitchFamily="34" charset="-122"/>
                  <a:ea typeface="微软雅黑" panose="020B0503020204020204" pitchFamily="34" charset="-122"/>
                  <a:sym typeface="Symbol" panose="05050102010706020507" pitchFamily="2" charset="2"/>
                </a:rPr>
                <a:t>参加（职工姓名，项目名称）</a:t>
              </a:r>
              <a:endParaRPr lang="zh-CN" altLang="en-US" sz="2000" u="none"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模型：聚集</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36" name="Group 4"/>
          <p:cNvGrpSpPr/>
          <p:nvPr/>
        </p:nvGrpSpPr>
        <p:grpSpPr bwMode="auto">
          <a:xfrm>
            <a:off x="2943326" y="2059528"/>
            <a:ext cx="5545138" cy="4465638"/>
            <a:chOff x="2775" y="2346"/>
            <a:chExt cx="6300" cy="5250"/>
          </a:xfrm>
        </p:grpSpPr>
        <p:sp>
          <p:nvSpPr>
            <p:cNvPr id="37" name="Text Box 5"/>
            <p:cNvSpPr txBox="1">
              <a:spLocks noChangeArrowheads="1"/>
            </p:cNvSpPr>
            <p:nvPr/>
          </p:nvSpPr>
          <p:spPr bwMode="auto">
            <a:xfrm>
              <a:off x="5160" y="237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广播电台</a:t>
              </a:r>
              <a:endParaRPr lang="zh-CN" altLang="en-US" sz="1600" b="1" u="none">
                <a:latin typeface="Arial" panose="020B0604020202020204" pitchFamily="34" charset="0"/>
              </a:endParaRPr>
            </a:p>
          </p:txBody>
        </p:sp>
        <p:sp>
          <p:nvSpPr>
            <p:cNvPr id="38" name="Text Box 6"/>
            <p:cNvSpPr txBox="1">
              <a:spLocks noChangeArrowheads="1"/>
            </p:cNvSpPr>
            <p:nvPr/>
          </p:nvSpPr>
          <p:spPr bwMode="auto">
            <a:xfrm>
              <a:off x="3480" y="2346"/>
              <a:ext cx="108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电视台</a:t>
              </a:r>
              <a:endParaRPr lang="zh-CN" altLang="en-US" sz="1600" b="1" u="none">
                <a:latin typeface="Arial" panose="020B0604020202020204" pitchFamily="34" charset="0"/>
              </a:endParaRPr>
            </a:p>
          </p:txBody>
        </p:sp>
        <p:sp>
          <p:nvSpPr>
            <p:cNvPr id="39" name="Text Box 7"/>
            <p:cNvSpPr txBox="1">
              <a:spLocks noChangeArrowheads="1"/>
            </p:cNvSpPr>
            <p:nvPr/>
          </p:nvSpPr>
          <p:spPr bwMode="auto">
            <a:xfrm>
              <a:off x="3600" y="721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b="1" u="none">
                  <a:latin typeface="Times New Roman" panose="02020603050405020304" pitchFamily="18" charset="0"/>
                </a:rPr>
                <a:t>  “</a:t>
              </a:r>
              <a:r>
                <a:rPr lang="zh-CN" altLang="en-US" sz="1600" b="1" u="none">
                  <a:latin typeface="Times New Roman" panose="02020603050405020304" pitchFamily="18" charset="0"/>
                </a:rPr>
                <a:t>聚集”</a:t>
              </a:r>
              <a:r>
                <a:rPr lang="en-US" altLang="zh-CN" sz="1600" b="1" u="none">
                  <a:latin typeface="Times New Roman" panose="02020603050405020304" pitchFamily="18" charset="0"/>
                </a:rPr>
                <a:t>E</a:t>
              </a:r>
              <a:r>
                <a:rPr lang="zh-CN" altLang="en-US" sz="1600" b="1" u="none">
                  <a:latin typeface="Times New Roman" panose="02020603050405020304" pitchFamily="18" charset="0"/>
                </a:rPr>
                <a:t>－</a:t>
              </a:r>
              <a:r>
                <a:rPr lang="en-US" altLang="zh-CN" sz="1600" b="1" u="none">
                  <a:latin typeface="Times New Roman" panose="02020603050405020304" pitchFamily="18" charset="0"/>
                </a:rPr>
                <a:t>R</a:t>
              </a:r>
              <a:r>
                <a:rPr lang="zh-CN" altLang="en-US" sz="1600" b="1" u="none">
                  <a:latin typeface="Times New Roman" panose="02020603050405020304" pitchFamily="18" charset="0"/>
                </a:rPr>
                <a:t>图示例</a:t>
              </a:r>
              <a:endParaRPr lang="zh-CN" altLang="en-US" sz="1600" b="1" u="none">
                <a:latin typeface="Arial" panose="020B0604020202020204" pitchFamily="34" charset="0"/>
              </a:endParaRPr>
            </a:p>
          </p:txBody>
        </p:sp>
        <p:sp>
          <p:nvSpPr>
            <p:cNvPr id="40" name="Text Box 8"/>
            <p:cNvSpPr txBox="1">
              <a:spLocks noChangeArrowheads="1"/>
            </p:cNvSpPr>
            <p:nvPr/>
          </p:nvSpPr>
          <p:spPr bwMode="auto">
            <a:xfrm>
              <a:off x="7200" y="2376"/>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报纸</a:t>
              </a:r>
              <a:endParaRPr lang="zh-CN" altLang="en-US" sz="1600" b="1" u="none">
                <a:latin typeface="Arial" panose="020B0604020202020204" pitchFamily="34" charset="0"/>
              </a:endParaRPr>
            </a:p>
          </p:txBody>
        </p:sp>
        <p:sp>
          <p:nvSpPr>
            <p:cNvPr id="41" name="AutoShape 9"/>
            <p:cNvSpPr>
              <a:spLocks noChangeArrowheads="1"/>
            </p:cNvSpPr>
            <p:nvPr/>
          </p:nvSpPr>
          <p:spPr bwMode="auto">
            <a:xfrm>
              <a:off x="5235" y="3624"/>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联合</a:t>
              </a:r>
              <a:endParaRPr lang="zh-CN" altLang="en-US" sz="1600" b="1" u="none">
                <a:latin typeface="Arial" panose="020B0604020202020204" pitchFamily="34" charset="0"/>
              </a:endParaRPr>
            </a:p>
          </p:txBody>
        </p:sp>
        <p:sp>
          <p:nvSpPr>
            <p:cNvPr id="42" name="Line 10"/>
            <p:cNvSpPr>
              <a:spLocks noChangeShapeType="1"/>
            </p:cNvSpPr>
            <p:nvPr/>
          </p:nvSpPr>
          <p:spPr bwMode="auto">
            <a:xfrm>
              <a:off x="5775" y="2844"/>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AutoShape 11"/>
            <p:cNvSpPr>
              <a:spLocks noChangeArrowheads="1"/>
            </p:cNvSpPr>
            <p:nvPr/>
          </p:nvSpPr>
          <p:spPr bwMode="auto">
            <a:xfrm>
              <a:off x="5220" y="5043"/>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宣传</a:t>
              </a:r>
              <a:endParaRPr lang="zh-CN" altLang="en-US" sz="1600" b="1" u="none">
                <a:latin typeface="Arial" panose="020B0604020202020204" pitchFamily="34" charset="0"/>
              </a:endParaRPr>
            </a:p>
          </p:txBody>
        </p:sp>
        <p:sp>
          <p:nvSpPr>
            <p:cNvPr id="44" name="Text Box 12"/>
            <p:cNvSpPr txBox="1">
              <a:spLocks noChangeArrowheads="1"/>
            </p:cNvSpPr>
            <p:nvPr/>
          </p:nvSpPr>
          <p:spPr bwMode="auto">
            <a:xfrm>
              <a:off x="5130" y="6297"/>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大型活动</a:t>
              </a:r>
              <a:endParaRPr lang="zh-CN" altLang="en-US" sz="1600" b="1" u="none">
                <a:latin typeface="Arial" panose="020B0604020202020204" pitchFamily="34" charset="0"/>
              </a:endParaRPr>
            </a:p>
          </p:txBody>
        </p:sp>
        <p:sp>
          <p:nvSpPr>
            <p:cNvPr id="45" name="Line 13"/>
            <p:cNvSpPr>
              <a:spLocks noChangeShapeType="1"/>
            </p:cNvSpPr>
            <p:nvPr/>
          </p:nvSpPr>
          <p:spPr bwMode="auto">
            <a:xfrm>
              <a:off x="5760" y="4263"/>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14"/>
            <p:cNvSpPr>
              <a:spLocks noChangeShapeType="1"/>
            </p:cNvSpPr>
            <p:nvPr/>
          </p:nvSpPr>
          <p:spPr bwMode="auto">
            <a:xfrm>
              <a:off x="5760" y="5667"/>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15"/>
            <p:cNvSpPr>
              <a:spLocks noChangeShapeType="1"/>
            </p:cNvSpPr>
            <p:nvPr/>
          </p:nvSpPr>
          <p:spPr bwMode="auto">
            <a:xfrm>
              <a:off x="3960" y="2814"/>
              <a:ext cx="1260" cy="10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16"/>
            <p:cNvSpPr>
              <a:spLocks noChangeShapeType="1"/>
            </p:cNvSpPr>
            <p:nvPr/>
          </p:nvSpPr>
          <p:spPr bwMode="auto">
            <a:xfrm flipH="1">
              <a:off x="6300" y="2844"/>
              <a:ext cx="1440" cy="10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17"/>
            <p:cNvSpPr>
              <a:spLocks noChangeShapeType="1"/>
            </p:cNvSpPr>
            <p:nvPr/>
          </p:nvSpPr>
          <p:spPr bwMode="auto">
            <a:xfrm>
              <a:off x="2775" y="4605"/>
              <a:ext cx="630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0" name="Rectangle 18"/>
            <p:cNvSpPr>
              <a:spLocks noChangeArrowheads="1"/>
            </p:cNvSpPr>
            <p:nvPr/>
          </p:nvSpPr>
          <p:spPr bwMode="auto">
            <a:xfrm>
              <a:off x="7920" y="4092"/>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000" u="none">
                  <a:latin typeface="Times New Roman" panose="02020603050405020304" pitchFamily="18" charset="0"/>
                </a:rPr>
                <a:t>聚集</a:t>
              </a:r>
              <a:endParaRPr lang="zh-CN" altLang="en-US" sz="1800" u="none">
                <a:latin typeface="Arial" panose="020B0604020202020204" pitchFamily="34" charset="0"/>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扩充的</a:t>
            </a:r>
            <a:r>
              <a:rPr lang="en-US" altLang="zh-CN" dirty="0"/>
              <a:t>ER</a:t>
            </a:r>
            <a:r>
              <a:rPr lang="zh-CN" altLang="en-US" dirty="0"/>
              <a:t>模型：范畴</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2"/>
          <p:cNvGrpSpPr/>
          <p:nvPr/>
        </p:nvGrpSpPr>
        <p:grpSpPr bwMode="auto">
          <a:xfrm>
            <a:off x="2570090" y="1900239"/>
            <a:ext cx="6827129" cy="4957761"/>
            <a:chOff x="2235" y="2064"/>
            <a:chExt cx="7305" cy="5772"/>
          </a:xfrm>
        </p:grpSpPr>
        <p:sp>
          <p:nvSpPr>
            <p:cNvPr id="7" name="Text Box 3"/>
            <p:cNvSpPr txBox="1">
              <a:spLocks noChangeArrowheads="1"/>
            </p:cNvSpPr>
            <p:nvPr/>
          </p:nvSpPr>
          <p:spPr bwMode="auto">
            <a:xfrm>
              <a:off x="4056" y="2532"/>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单  位</a:t>
              </a:r>
              <a:endParaRPr lang="zh-CN" altLang="en-US" sz="1600" b="1" u="none">
                <a:latin typeface="Arial" panose="020B0604020202020204" pitchFamily="34" charset="0"/>
              </a:endParaRPr>
            </a:p>
          </p:txBody>
        </p:sp>
        <p:sp>
          <p:nvSpPr>
            <p:cNvPr id="8" name="Text Box 4"/>
            <p:cNvSpPr txBox="1">
              <a:spLocks noChangeArrowheads="1"/>
            </p:cNvSpPr>
            <p:nvPr/>
          </p:nvSpPr>
          <p:spPr bwMode="auto">
            <a:xfrm>
              <a:off x="6480" y="254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个  人</a:t>
              </a:r>
              <a:endParaRPr lang="zh-CN" altLang="en-US" sz="1600" b="1" u="none">
                <a:latin typeface="Arial" panose="020B0604020202020204" pitchFamily="34" charset="0"/>
              </a:endParaRPr>
            </a:p>
          </p:txBody>
        </p:sp>
        <p:sp>
          <p:nvSpPr>
            <p:cNvPr id="9" name="Oval 5"/>
            <p:cNvSpPr>
              <a:spLocks noChangeArrowheads="1"/>
            </p:cNvSpPr>
            <p:nvPr/>
          </p:nvSpPr>
          <p:spPr bwMode="auto">
            <a:xfrm>
              <a:off x="5715" y="3576"/>
              <a:ext cx="360" cy="360"/>
            </a:xfrm>
            <a:prstGeom prst="ellipse">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b="1" u="none">
                  <a:latin typeface="Times New Roman" panose="02020603050405020304" pitchFamily="18" charset="0"/>
                </a:rPr>
                <a:t>U</a:t>
              </a:r>
              <a:endParaRPr lang="en-US" altLang="zh-CN" sz="1600" b="1" u="none">
                <a:latin typeface="Arial" panose="020B0604020202020204" pitchFamily="34" charset="0"/>
              </a:endParaRPr>
            </a:p>
          </p:txBody>
        </p:sp>
        <p:sp>
          <p:nvSpPr>
            <p:cNvPr id="10" name="Line 6"/>
            <p:cNvSpPr>
              <a:spLocks noChangeShapeType="1"/>
            </p:cNvSpPr>
            <p:nvPr/>
          </p:nvSpPr>
          <p:spPr bwMode="auto">
            <a:xfrm>
              <a:off x="4857" y="3000"/>
              <a:ext cx="90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7"/>
            <p:cNvSpPr>
              <a:spLocks noChangeShapeType="1"/>
            </p:cNvSpPr>
            <p:nvPr/>
          </p:nvSpPr>
          <p:spPr bwMode="auto">
            <a:xfrm flipH="1">
              <a:off x="6015" y="3022"/>
              <a:ext cx="1171" cy="5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8"/>
            <p:cNvSpPr>
              <a:spLocks noChangeShapeType="1"/>
            </p:cNvSpPr>
            <p:nvPr/>
          </p:nvSpPr>
          <p:spPr bwMode="auto">
            <a:xfrm>
              <a:off x="5904" y="394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Text Box 9"/>
            <p:cNvSpPr txBox="1">
              <a:spLocks noChangeArrowheads="1"/>
            </p:cNvSpPr>
            <p:nvPr/>
          </p:nvSpPr>
          <p:spPr bwMode="auto">
            <a:xfrm>
              <a:off x="5256" y="440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账户主</a:t>
              </a:r>
              <a:endParaRPr lang="zh-CN" altLang="en-US" sz="1600" b="1" u="none">
                <a:latin typeface="Arial" panose="020B0604020202020204" pitchFamily="34" charset="0"/>
              </a:endParaRPr>
            </a:p>
          </p:txBody>
        </p:sp>
        <p:sp>
          <p:nvSpPr>
            <p:cNvPr id="14" name="AutoShape 10"/>
            <p:cNvSpPr>
              <a:spLocks noChangeArrowheads="1"/>
            </p:cNvSpPr>
            <p:nvPr/>
          </p:nvSpPr>
          <p:spPr bwMode="auto">
            <a:xfrm>
              <a:off x="5172" y="5352"/>
              <a:ext cx="1440"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设立</a:t>
              </a:r>
              <a:endParaRPr lang="zh-CN" altLang="en-US" sz="1600" b="1" u="none">
                <a:latin typeface="Arial" panose="020B0604020202020204" pitchFamily="34" charset="0"/>
              </a:endParaRPr>
            </a:p>
          </p:txBody>
        </p:sp>
        <p:sp>
          <p:nvSpPr>
            <p:cNvPr id="15" name="Text Box 11"/>
            <p:cNvSpPr txBox="1">
              <a:spLocks noChangeArrowheads="1"/>
            </p:cNvSpPr>
            <p:nvPr/>
          </p:nvSpPr>
          <p:spPr bwMode="auto">
            <a:xfrm>
              <a:off x="5268" y="645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银 行</a:t>
              </a:r>
              <a:endParaRPr lang="zh-CN" altLang="en-US" sz="1600" b="1" u="none">
                <a:latin typeface="Arial" panose="020B0604020202020204" pitchFamily="34" charset="0"/>
              </a:endParaRPr>
            </a:p>
          </p:txBody>
        </p:sp>
        <p:sp>
          <p:nvSpPr>
            <p:cNvPr id="16" name="Line 12"/>
            <p:cNvSpPr>
              <a:spLocks noChangeShapeType="1"/>
            </p:cNvSpPr>
            <p:nvPr/>
          </p:nvSpPr>
          <p:spPr bwMode="auto">
            <a:xfrm flipV="1">
              <a:off x="5904" y="59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Text Box 13"/>
            <p:cNvSpPr txBox="1">
              <a:spLocks noChangeArrowheads="1"/>
            </p:cNvSpPr>
            <p:nvPr/>
          </p:nvSpPr>
          <p:spPr bwMode="auto">
            <a:xfrm>
              <a:off x="5976" y="6048"/>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18" name="Line 14"/>
            <p:cNvSpPr>
              <a:spLocks noChangeShapeType="1"/>
            </p:cNvSpPr>
            <p:nvPr/>
          </p:nvSpPr>
          <p:spPr bwMode="auto">
            <a:xfrm>
              <a:off x="5904" y="487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Text Box 15"/>
            <p:cNvSpPr txBox="1">
              <a:spLocks noChangeArrowheads="1"/>
            </p:cNvSpPr>
            <p:nvPr/>
          </p:nvSpPr>
          <p:spPr bwMode="auto">
            <a:xfrm>
              <a:off x="5976" y="4956"/>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M</a:t>
              </a:r>
              <a:endParaRPr lang="en-US" altLang="zh-CN" sz="1800" u="none">
                <a:latin typeface="Arial" panose="020B0604020202020204" pitchFamily="34" charset="0"/>
              </a:endParaRPr>
            </a:p>
          </p:txBody>
        </p:sp>
        <p:sp>
          <p:nvSpPr>
            <p:cNvPr id="20" name="Text Box 16"/>
            <p:cNvSpPr txBox="1">
              <a:spLocks noChangeArrowheads="1"/>
            </p:cNvSpPr>
            <p:nvPr/>
          </p:nvSpPr>
          <p:spPr bwMode="auto">
            <a:xfrm>
              <a:off x="3684" y="745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600" b="1" u="none">
                  <a:latin typeface="Times New Roman" panose="02020603050405020304" pitchFamily="18" charset="0"/>
                </a:rPr>
                <a:t> “</a:t>
              </a:r>
              <a:r>
                <a:rPr lang="zh-CN" altLang="en-US" sz="1600" b="1" u="none">
                  <a:latin typeface="Times New Roman" panose="02020603050405020304" pitchFamily="18" charset="0"/>
                </a:rPr>
                <a:t>范畴”</a:t>
              </a:r>
              <a:r>
                <a:rPr lang="en-US" altLang="zh-CN" sz="1600" b="1" u="none">
                  <a:latin typeface="Times New Roman" panose="02020603050405020304" pitchFamily="18" charset="0"/>
                </a:rPr>
                <a:t>E</a:t>
              </a:r>
              <a:r>
                <a:rPr lang="zh-CN" altLang="en-US" sz="1600" b="1" u="none">
                  <a:latin typeface="Times New Roman" panose="02020603050405020304" pitchFamily="18" charset="0"/>
                </a:rPr>
                <a:t>－</a:t>
              </a:r>
              <a:r>
                <a:rPr lang="en-US" altLang="zh-CN" sz="1600" b="1" u="none">
                  <a:latin typeface="Times New Roman" panose="02020603050405020304" pitchFamily="18" charset="0"/>
                </a:rPr>
                <a:t>R</a:t>
              </a:r>
              <a:r>
                <a:rPr lang="zh-CN" altLang="en-US" sz="1600" b="1" u="none">
                  <a:latin typeface="Times New Roman" panose="02020603050405020304" pitchFamily="18" charset="0"/>
                </a:rPr>
                <a:t>图示例</a:t>
              </a:r>
              <a:endParaRPr lang="zh-CN" altLang="en-US" sz="1600" b="1" u="none">
                <a:latin typeface="Arial" panose="020B0604020202020204" pitchFamily="34" charset="0"/>
              </a:endParaRPr>
            </a:p>
          </p:txBody>
        </p:sp>
        <p:sp>
          <p:nvSpPr>
            <p:cNvPr id="21" name="AutoShape 17"/>
            <p:cNvSpPr>
              <a:spLocks noChangeArrowheads="1"/>
            </p:cNvSpPr>
            <p:nvPr/>
          </p:nvSpPr>
          <p:spPr bwMode="auto">
            <a:xfrm>
              <a:off x="7185" y="5526"/>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日期</a:t>
              </a:r>
              <a:endParaRPr lang="zh-CN" altLang="en-US" sz="1600" b="1" u="none">
                <a:latin typeface="Arial" panose="020B0604020202020204" pitchFamily="34" charset="0"/>
              </a:endParaRPr>
            </a:p>
          </p:txBody>
        </p:sp>
        <p:sp>
          <p:nvSpPr>
            <p:cNvPr id="22" name="Line 18"/>
            <p:cNvSpPr>
              <a:spLocks noChangeShapeType="1"/>
            </p:cNvSpPr>
            <p:nvPr/>
          </p:nvSpPr>
          <p:spPr bwMode="auto">
            <a:xfrm>
              <a:off x="6630" y="5667"/>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AutoShape 19"/>
            <p:cNvSpPr>
              <a:spLocks noChangeArrowheads="1"/>
            </p:cNvSpPr>
            <p:nvPr/>
          </p:nvSpPr>
          <p:spPr bwMode="auto">
            <a:xfrm>
              <a:off x="3930" y="5511"/>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账号</a:t>
              </a:r>
              <a:endParaRPr lang="zh-CN" altLang="en-US" sz="1600" b="1" u="none">
                <a:latin typeface="Arial" panose="020B0604020202020204" pitchFamily="34" charset="0"/>
              </a:endParaRPr>
            </a:p>
          </p:txBody>
        </p:sp>
        <p:sp>
          <p:nvSpPr>
            <p:cNvPr id="24" name="Line 20"/>
            <p:cNvSpPr>
              <a:spLocks noChangeShapeType="1"/>
            </p:cNvSpPr>
            <p:nvPr/>
          </p:nvSpPr>
          <p:spPr bwMode="auto">
            <a:xfrm>
              <a:off x="4665" y="5667"/>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AutoShape 21"/>
            <p:cNvSpPr>
              <a:spLocks noChangeArrowheads="1"/>
            </p:cNvSpPr>
            <p:nvPr/>
          </p:nvSpPr>
          <p:spPr bwMode="auto">
            <a:xfrm>
              <a:off x="3060" y="2064"/>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a:latin typeface="Times New Roman" panose="02020603050405020304" pitchFamily="18" charset="0"/>
                </a:rPr>
                <a:t>名称</a:t>
              </a:r>
              <a:endParaRPr lang="zh-CN" altLang="en-US" sz="1600" b="1" u="none">
                <a:latin typeface="Arial" panose="020B0604020202020204" pitchFamily="34" charset="0"/>
              </a:endParaRPr>
            </a:p>
          </p:txBody>
        </p:sp>
        <p:sp>
          <p:nvSpPr>
            <p:cNvPr id="26" name="AutoShape 22"/>
            <p:cNvSpPr>
              <a:spLocks noChangeArrowheads="1"/>
            </p:cNvSpPr>
            <p:nvPr/>
          </p:nvSpPr>
          <p:spPr bwMode="auto">
            <a:xfrm>
              <a:off x="2235" y="2874"/>
              <a:ext cx="108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法人代表</a:t>
              </a:r>
              <a:endParaRPr lang="zh-CN" altLang="en-US" sz="1600" b="1" u="none">
                <a:latin typeface="Arial" panose="020B0604020202020204" pitchFamily="34" charset="0"/>
              </a:endParaRPr>
            </a:p>
          </p:txBody>
        </p:sp>
        <p:sp>
          <p:nvSpPr>
            <p:cNvPr id="27" name="Line 23"/>
            <p:cNvSpPr>
              <a:spLocks noChangeShapeType="1"/>
            </p:cNvSpPr>
            <p:nvPr/>
          </p:nvSpPr>
          <p:spPr bwMode="auto">
            <a:xfrm>
              <a:off x="3780" y="2220"/>
              <a:ext cx="90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AutoShape 24"/>
            <p:cNvSpPr>
              <a:spLocks noChangeArrowheads="1"/>
            </p:cNvSpPr>
            <p:nvPr/>
          </p:nvSpPr>
          <p:spPr bwMode="auto">
            <a:xfrm>
              <a:off x="3240" y="3624"/>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地址</a:t>
              </a:r>
              <a:endParaRPr lang="zh-CN" altLang="en-US" sz="1600" b="1" u="none">
                <a:latin typeface="Arial" panose="020B0604020202020204" pitchFamily="34" charset="0"/>
              </a:endParaRPr>
            </a:p>
          </p:txBody>
        </p:sp>
        <p:sp>
          <p:nvSpPr>
            <p:cNvPr id="29" name="Line 25"/>
            <p:cNvSpPr>
              <a:spLocks noChangeShapeType="1"/>
            </p:cNvSpPr>
            <p:nvPr/>
          </p:nvSpPr>
          <p:spPr bwMode="auto">
            <a:xfrm flipH="1">
              <a:off x="3600" y="3000"/>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26"/>
            <p:cNvSpPr>
              <a:spLocks noChangeShapeType="1"/>
            </p:cNvSpPr>
            <p:nvPr/>
          </p:nvSpPr>
          <p:spPr bwMode="auto">
            <a:xfrm flipH="1">
              <a:off x="3330" y="2718"/>
              <a:ext cx="72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AutoShape 27"/>
            <p:cNvSpPr>
              <a:spLocks noChangeArrowheads="1"/>
            </p:cNvSpPr>
            <p:nvPr/>
          </p:nvSpPr>
          <p:spPr bwMode="auto">
            <a:xfrm>
              <a:off x="8280" y="2064"/>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a:latin typeface="Times New Roman" panose="02020603050405020304" pitchFamily="18" charset="0"/>
                </a:rPr>
                <a:t>姓名</a:t>
              </a:r>
              <a:endParaRPr lang="zh-CN" altLang="en-US" sz="1600" b="1" u="none">
                <a:latin typeface="Arial" panose="020B0604020202020204" pitchFamily="34" charset="0"/>
              </a:endParaRPr>
            </a:p>
          </p:txBody>
        </p:sp>
        <p:sp>
          <p:nvSpPr>
            <p:cNvPr id="32" name="AutoShape 28"/>
            <p:cNvSpPr>
              <a:spLocks noChangeArrowheads="1"/>
            </p:cNvSpPr>
            <p:nvPr/>
          </p:nvSpPr>
          <p:spPr bwMode="auto">
            <a:xfrm>
              <a:off x="8280" y="2844"/>
              <a:ext cx="126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a:latin typeface="Times New Roman" panose="02020603050405020304" pitchFamily="18" charset="0"/>
                </a:rPr>
                <a:t>身份证号码</a:t>
              </a:r>
              <a:endParaRPr lang="zh-CN" altLang="en-US" sz="1600" b="1" u="none">
                <a:latin typeface="Arial" panose="020B0604020202020204" pitchFamily="34" charset="0"/>
              </a:endParaRPr>
            </a:p>
          </p:txBody>
        </p:sp>
        <p:sp>
          <p:nvSpPr>
            <p:cNvPr id="33" name="Line 29"/>
            <p:cNvSpPr>
              <a:spLocks noChangeShapeType="1"/>
            </p:cNvSpPr>
            <p:nvPr/>
          </p:nvSpPr>
          <p:spPr bwMode="auto">
            <a:xfrm flipH="1">
              <a:off x="7380" y="2220"/>
              <a:ext cx="90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30"/>
            <p:cNvSpPr>
              <a:spLocks noChangeShapeType="1"/>
            </p:cNvSpPr>
            <p:nvPr/>
          </p:nvSpPr>
          <p:spPr bwMode="auto">
            <a:xfrm>
              <a:off x="7740" y="2688"/>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AutoShape 31"/>
            <p:cNvSpPr>
              <a:spLocks noChangeArrowheads="1"/>
            </p:cNvSpPr>
            <p:nvPr/>
          </p:nvSpPr>
          <p:spPr bwMode="auto">
            <a:xfrm>
              <a:off x="7920" y="3624"/>
              <a:ext cx="108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600" b="1" u="none" dirty="0">
                  <a:latin typeface="Times New Roman" panose="02020603050405020304" pitchFamily="18" charset="0"/>
                </a:rPr>
                <a:t>联系方式</a:t>
              </a:r>
              <a:endParaRPr lang="zh-CN" altLang="en-US" sz="1600" b="1" u="none" dirty="0">
                <a:latin typeface="Times New Roman" panose="02020603050405020304" pitchFamily="18" charset="0"/>
              </a:endParaRPr>
            </a:p>
            <a:p>
              <a:pPr algn="ctr" eaLnBrk="1" hangingPunct="1">
                <a:spcBef>
                  <a:spcPct val="0"/>
                </a:spcBef>
                <a:buFontTx/>
                <a:buNone/>
              </a:pPr>
              <a:endParaRPr lang="zh-CN" altLang="en-US" sz="1600" b="1" u="none" dirty="0">
                <a:latin typeface="Times New Roman" panose="02020603050405020304" pitchFamily="18" charset="0"/>
              </a:endParaRPr>
            </a:p>
            <a:p>
              <a:pPr eaLnBrk="1" hangingPunct="1">
                <a:spcBef>
                  <a:spcPct val="0"/>
                </a:spcBef>
                <a:buFontTx/>
                <a:buNone/>
              </a:pPr>
              <a:endParaRPr lang="zh-CN" altLang="en-US" sz="1600" b="1" u="none" dirty="0">
                <a:latin typeface="Arial" panose="020B0604020202020204" pitchFamily="34" charset="0"/>
              </a:endParaRPr>
            </a:p>
          </p:txBody>
        </p:sp>
        <p:sp>
          <p:nvSpPr>
            <p:cNvPr id="51" name="Line 32"/>
            <p:cNvSpPr>
              <a:spLocks noChangeShapeType="1"/>
            </p:cNvSpPr>
            <p:nvPr/>
          </p:nvSpPr>
          <p:spPr bwMode="auto">
            <a:xfrm>
              <a:off x="7560" y="3000"/>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概念设计的策略</a:t>
            </a:r>
            <a:endParaRPr lang="en-US" altLang="zh-CN" dirty="0"/>
          </a:p>
          <a:p>
            <a:pPr marL="360045" indent="0">
              <a:lnSpc>
                <a:spcPct val="150000"/>
              </a:lnSpc>
              <a:buNone/>
            </a:pPr>
            <a:r>
              <a:rPr lang="en-US" altLang="zh-CN" sz="2400" b="0" dirty="0"/>
              <a:t>(1)</a:t>
            </a:r>
            <a:r>
              <a:rPr lang="zh-CN" altLang="en-US" sz="2400" b="0" dirty="0"/>
              <a:t>自顶向下：首先建立较高抽象层次的模式（视图），然后再逐步细化，求精，直至得到更为具体的模式（视图）</a:t>
            </a:r>
            <a:endParaRPr lang="zh-CN" altLang="en-US" sz="24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36" name="Group 6"/>
          <p:cNvGrpSpPr/>
          <p:nvPr/>
        </p:nvGrpSpPr>
        <p:grpSpPr bwMode="auto">
          <a:xfrm>
            <a:off x="2790132" y="3221038"/>
            <a:ext cx="5851525" cy="3500437"/>
            <a:chOff x="2520" y="2376"/>
            <a:chExt cx="6480" cy="4368"/>
          </a:xfrm>
        </p:grpSpPr>
        <p:sp>
          <p:nvSpPr>
            <p:cNvPr id="37" name="AutoShape 7"/>
            <p:cNvSpPr>
              <a:spLocks noChangeArrowheads="1"/>
            </p:cNvSpPr>
            <p:nvPr/>
          </p:nvSpPr>
          <p:spPr bwMode="auto">
            <a:xfrm>
              <a:off x="5040" y="2448"/>
              <a:ext cx="1440"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承担</a:t>
              </a:r>
              <a:endParaRPr lang="zh-CN" altLang="en-US" sz="1400" b="1" u="none">
                <a:latin typeface="Arial" panose="020B0604020202020204" pitchFamily="34" charset="0"/>
              </a:endParaRPr>
            </a:p>
          </p:txBody>
        </p:sp>
        <p:sp>
          <p:nvSpPr>
            <p:cNvPr id="38" name="Text Box 8"/>
            <p:cNvSpPr txBox="1">
              <a:spLocks noChangeArrowheads="1"/>
            </p:cNvSpPr>
            <p:nvPr/>
          </p:nvSpPr>
          <p:spPr bwMode="auto">
            <a:xfrm>
              <a:off x="2520" y="2532"/>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教 师</a:t>
              </a:r>
              <a:endParaRPr lang="zh-CN" altLang="en-US" sz="1400" b="1" u="none">
                <a:latin typeface="Arial" panose="020B0604020202020204" pitchFamily="34" charset="0"/>
              </a:endParaRPr>
            </a:p>
          </p:txBody>
        </p:sp>
        <p:sp>
          <p:nvSpPr>
            <p:cNvPr id="39" name="Line 9"/>
            <p:cNvSpPr>
              <a:spLocks noChangeShapeType="1"/>
            </p:cNvSpPr>
            <p:nvPr/>
          </p:nvSpPr>
          <p:spPr bwMode="auto">
            <a:xfrm>
              <a:off x="3780" y="2760"/>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Text Box 10"/>
            <p:cNvSpPr txBox="1">
              <a:spLocks noChangeArrowheads="1"/>
            </p:cNvSpPr>
            <p:nvPr/>
          </p:nvSpPr>
          <p:spPr bwMode="auto">
            <a:xfrm>
              <a:off x="4236" y="2376"/>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1</a:t>
              </a:r>
              <a:endParaRPr lang="en-US" altLang="zh-CN" sz="1800" u="none">
                <a:latin typeface="Arial" panose="020B0604020202020204" pitchFamily="34" charset="0"/>
              </a:endParaRPr>
            </a:p>
          </p:txBody>
        </p:sp>
        <p:sp>
          <p:nvSpPr>
            <p:cNvPr id="41" name="Line 11"/>
            <p:cNvSpPr>
              <a:spLocks noChangeShapeType="1"/>
            </p:cNvSpPr>
            <p:nvPr/>
          </p:nvSpPr>
          <p:spPr bwMode="auto">
            <a:xfrm>
              <a:off x="6480" y="2760"/>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Text Box 12"/>
            <p:cNvSpPr txBox="1">
              <a:spLocks noChangeArrowheads="1"/>
            </p:cNvSpPr>
            <p:nvPr/>
          </p:nvSpPr>
          <p:spPr bwMode="auto">
            <a:xfrm>
              <a:off x="7740" y="2532"/>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工作任务</a:t>
              </a:r>
              <a:endParaRPr lang="zh-CN" altLang="en-US" sz="1400" b="1" u="none">
                <a:latin typeface="Arial" panose="020B0604020202020204" pitchFamily="34" charset="0"/>
              </a:endParaRPr>
            </a:p>
          </p:txBody>
        </p:sp>
        <p:sp>
          <p:nvSpPr>
            <p:cNvPr id="43" name="Text Box 13"/>
            <p:cNvSpPr txBox="1">
              <a:spLocks noChangeArrowheads="1"/>
            </p:cNvSpPr>
            <p:nvPr/>
          </p:nvSpPr>
          <p:spPr bwMode="auto">
            <a:xfrm>
              <a:off x="7020" y="2376"/>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44" name="Text Box 14"/>
            <p:cNvSpPr txBox="1">
              <a:spLocks noChangeArrowheads="1"/>
            </p:cNvSpPr>
            <p:nvPr/>
          </p:nvSpPr>
          <p:spPr bwMode="auto">
            <a:xfrm>
              <a:off x="5580" y="3204"/>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400" b="1" u="none">
                  <a:latin typeface="Times New Roman" panose="02020603050405020304" pitchFamily="18" charset="0"/>
                </a:rPr>
                <a:t>(a)</a:t>
              </a:r>
              <a:endParaRPr lang="en-US" altLang="zh-CN" sz="1400" b="1" u="none">
                <a:latin typeface="Arial" panose="020B0604020202020204" pitchFamily="34" charset="0"/>
              </a:endParaRPr>
            </a:p>
          </p:txBody>
        </p:sp>
        <p:sp>
          <p:nvSpPr>
            <p:cNvPr id="45" name="AutoShape 15"/>
            <p:cNvSpPr>
              <a:spLocks noChangeArrowheads="1"/>
            </p:cNvSpPr>
            <p:nvPr/>
          </p:nvSpPr>
          <p:spPr bwMode="auto">
            <a:xfrm>
              <a:off x="5040" y="4080"/>
              <a:ext cx="1440"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教学</a:t>
              </a:r>
              <a:endParaRPr lang="zh-CN" altLang="en-US" sz="1400" b="1" u="none">
                <a:latin typeface="Arial" panose="020B0604020202020204" pitchFamily="34" charset="0"/>
              </a:endParaRPr>
            </a:p>
          </p:txBody>
        </p:sp>
        <p:sp>
          <p:nvSpPr>
            <p:cNvPr id="46" name="Text Box 16"/>
            <p:cNvSpPr txBox="1">
              <a:spLocks noChangeArrowheads="1"/>
            </p:cNvSpPr>
            <p:nvPr/>
          </p:nvSpPr>
          <p:spPr bwMode="auto">
            <a:xfrm>
              <a:off x="2520" y="464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教 师</a:t>
              </a:r>
              <a:endParaRPr lang="zh-CN" altLang="en-US" sz="1400" b="1" u="none">
                <a:latin typeface="Arial" panose="020B0604020202020204" pitchFamily="34" charset="0"/>
              </a:endParaRPr>
            </a:p>
          </p:txBody>
        </p:sp>
        <p:sp>
          <p:nvSpPr>
            <p:cNvPr id="47" name="Line 17"/>
            <p:cNvSpPr>
              <a:spLocks noChangeShapeType="1"/>
            </p:cNvSpPr>
            <p:nvPr/>
          </p:nvSpPr>
          <p:spPr bwMode="auto">
            <a:xfrm flipV="1">
              <a:off x="3780" y="4404"/>
              <a:ext cx="126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Text Box 18"/>
            <p:cNvSpPr txBox="1">
              <a:spLocks noChangeArrowheads="1"/>
            </p:cNvSpPr>
            <p:nvPr/>
          </p:nvSpPr>
          <p:spPr bwMode="auto">
            <a:xfrm>
              <a:off x="4236" y="4248"/>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1</a:t>
              </a:r>
              <a:endParaRPr lang="en-US" altLang="zh-CN" sz="1800" u="none">
                <a:latin typeface="Arial" panose="020B0604020202020204" pitchFamily="34" charset="0"/>
              </a:endParaRPr>
            </a:p>
          </p:txBody>
        </p:sp>
        <p:sp>
          <p:nvSpPr>
            <p:cNvPr id="49" name="Line 19"/>
            <p:cNvSpPr>
              <a:spLocks noChangeShapeType="1"/>
            </p:cNvSpPr>
            <p:nvPr/>
          </p:nvSpPr>
          <p:spPr bwMode="auto">
            <a:xfrm>
              <a:off x="6480" y="4392"/>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Text Box 20"/>
            <p:cNvSpPr txBox="1">
              <a:spLocks noChangeArrowheads="1"/>
            </p:cNvSpPr>
            <p:nvPr/>
          </p:nvSpPr>
          <p:spPr bwMode="auto">
            <a:xfrm>
              <a:off x="7740" y="416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课  程</a:t>
              </a:r>
              <a:endParaRPr lang="zh-CN" altLang="en-US" sz="1400" b="1" u="none">
                <a:latin typeface="Arial" panose="020B0604020202020204" pitchFamily="34" charset="0"/>
              </a:endParaRPr>
            </a:p>
          </p:txBody>
        </p:sp>
        <p:sp>
          <p:nvSpPr>
            <p:cNvPr id="52" name="Text Box 21"/>
            <p:cNvSpPr txBox="1">
              <a:spLocks noChangeArrowheads="1"/>
            </p:cNvSpPr>
            <p:nvPr/>
          </p:nvSpPr>
          <p:spPr bwMode="auto">
            <a:xfrm>
              <a:off x="7020" y="4008"/>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53" name="Text Box 22"/>
            <p:cNvSpPr txBox="1">
              <a:spLocks noChangeArrowheads="1"/>
            </p:cNvSpPr>
            <p:nvPr/>
          </p:nvSpPr>
          <p:spPr bwMode="auto">
            <a:xfrm>
              <a:off x="5580" y="5808"/>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400" b="1" u="none">
                  <a:latin typeface="Times New Roman" panose="02020603050405020304" pitchFamily="18" charset="0"/>
                </a:rPr>
                <a:t>(b)</a:t>
              </a:r>
              <a:endParaRPr lang="en-US" altLang="zh-CN" sz="1400" b="1" u="none">
                <a:latin typeface="Arial" panose="020B0604020202020204" pitchFamily="34" charset="0"/>
              </a:endParaRPr>
            </a:p>
          </p:txBody>
        </p:sp>
        <p:sp>
          <p:nvSpPr>
            <p:cNvPr id="54" name="AutoShape 23"/>
            <p:cNvSpPr>
              <a:spLocks noChangeArrowheads="1"/>
            </p:cNvSpPr>
            <p:nvPr/>
          </p:nvSpPr>
          <p:spPr bwMode="auto">
            <a:xfrm>
              <a:off x="5040" y="5028"/>
              <a:ext cx="1440"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负责</a:t>
              </a:r>
              <a:endParaRPr lang="zh-CN" altLang="en-US" sz="1400" b="1" u="none">
                <a:latin typeface="Arial" panose="020B0604020202020204" pitchFamily="34" charset="0"/>
              </a:endParaRPr>
            </a:p>
          </p:txBody>
        </p:sp>
        <p:sp>
          <p:nvSpPr>
            <p:cNvPr id="55" name="Line 24"/>
            <p:cNvSpPr>
              <a:spLocks noChangeShapeType="1"/>
            </p:cNvSpPr>
            <p:nvPr/>
          </p:nvSpPr>
          <p:spPr bwMode="auto">
            <a:xfrm>
              <a:off x="6480" y="5340"/>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 name="Text Box 25"/>
            <p:cNvSpPr txBox="1">
              <a:spLocks noChangeArrowheads="1"/>
            </p:cNvSpPr>
            <p:nvPr/>
          </p:nvSpPr>
          <p:spPr bwMode="auto">
            <a:xfrm>
              <a:off x="7740" y="5112"/>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科研项目</a:t>
              </a:r>
              <a:endParaRPr lang="zh-CN" altLang="en-US" sz="1400" b="1" u="none">
                <a:latin typeface="Arial" panose="020B0604020202020204" pitchFamily="34" charset="0"/>
              </a:endParaRPr>
            </a:p>
          </p:txBody>
        </p:sp>
        <p:sp>
          <p:nvSpPr>
            <p:cNvPr id="57" name="Text Box 26"/>
            <p:cNvSpPr txBox="1">
              <a:spLocks noChangeArrowheads="1"/>
            </p:cNvSpPr>
            <p:nvPr/>
          </p:nvSpPr>
          <p:spPr bwMode="auto">
            <a:xfrm>
              <a:off x="7020" y="5016"/>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58" name="Line 27"/>
            <p:cNvSpPr>
              <a:spLocks noChangeShapeType="1"/>
            </p:cNvSpPr>
            <p:nvPr/>
          </p:nvSpPr>
          <p:spPr bwMode="auto">
            <a:xfrm>
              <a:off x="3780" y="4872"/>
              <a:ext cx="126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Text Box 28"/>
            <p:cNvSpPr txBox="1">
              <a:spLocks noChangeArrowheads="1"/>
            </p:cNvSpPr>
            <p:nvPr/>
          </p:nvSpPr>
          <p:spPr bwMode="auto">
            <a:xfrm>
              <a:off x="4188" y="5196"/>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1</a:t>
              </a:r>
              <a:endParaRPr lang="en-US" altLang="zh-CN" sz="1800" u="none">
                <a:latin typeface="Arial" panose="020B0604020202020204" pitchFamily="34" charset="0"/>
              </a:endParaRPr>
            </a:p>
          </p:txBody>
        </p:sp>
        <p:sp>
          <p:nvSpPr>
            <p:cNvPr id="60" name="Text Box 29"/>
            <p:cNvSpPr txBox="1">
              <a:spLocks noChangeArrowheads="1"/>
            </p:cNvSpPr>
            <p:nvPr/>
          </p:nvSpPr>
          <p:spPr bwMode="auto">
            <a:xfrm>
              <a:off x="4317" y="6276"/>
              <a:ext cx="3063"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自顶向下设计过程示例</a:t>
              </a:r>
              <a:endParaRPr lang="zh-CN" altLang="en-US" sz="1400" b="1" u="none">
                <a:latin typeface="Arial" panose="020B0604020202020204" pitchFamily="34" charset="0"/>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概念设计的策略</a:t>
            </a:r>
            <a:endParaRPr lang="en-US" altLang="zh-CN" dirty="0"/>
          </a:p>
          <a:p>
            <a:pPr marL="360045" indent="0">
              <a:lnSpc>
                <a:spcPct val="150000"/>
              </a:lnSpc>
              <a:buNone/>
            </a:pPr>
            <a:r>
              <a:rPr lang="en-US" altLang="zh-CN" sz="2400" b="0" dirty="0"/>
              <a:t>(2)</a:t>
            </a:r>
            <a:r>
              <a:rPr lang="zh-CN" altLang="en-US" sz="2400" b="0" dirty="0"/>
              <a:t>自底向上：首先从具体的基本对象开始，建立一个包含有基本抽象的模式，然后再在此基础上进行组合、修改、抽象</a:t>
            </a:r>
            <a:endParaRPr lang="zh-CN" altLang="en-US" sz="2400" b="0" dirty="0"/>
          </a:p>
          <a:p>
            <a:pPr marL="360045" indent="0">
              <a:lnSpc>
                <a:spcPct val="150000"/>
              </a:lnSpc>
              <a:buNone/>
            </a:pPr>
            <a:endParaRPr lang="zh-CN" altLang="en-US" sz="24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30"/>
          <p:cNvGrpSpPr/>
          <p:nvPr/>
        </p:nvGrpSpPr>
        <p:grpSpPr bwMode="auto">
          <a:xfrm>
            <a:off x="3212407" y="3171825"/>
            <a:ext cx="5006975" cy="3367087"/>
            <a:chOff x="1980" y="1752"/>
            <a:chExt cx="7884" cy="5304"/>
          </a:xfrm>
        </p:grpSpPr>
        <p:sp>
          <p:nvSpPr>
            <p:cNvPr id="7" name="AutoShape 31"/>
            <p:cNvSpPr>
              <a:spLocks noChangeArrowheads="1"/>
            </p:cNvSpPr>
            <p:nvPr/>
          </p:nvSpPr>
          <p:spPr bwMode="auto">
            <a:xfrm>
              <a:off x="1980" y="3732"/>
              <a:ext cx="1944"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dirty="0">
                  <a:latin typeface="Times New Roman" panose="02020603050405020304" pitchFamily="18" charset="0"/>
                </a:rPr>
                <a:t>设立</a:t>
              </a:r>
              <a:endParaRPr lang="zh-CN" altLang="en-US" sz="1400" b="1" u="none" dirty="0">
                <a:latin typeface="Arial" panose="020B0604020202020204" pitchFamily="34" charset="0"/>
              </a:endParaRPr>
            </a:p>
          </p:txBody>
        </p:sp>
        <p:sp>
          <p:nvSpPr>
            <p:cNvPr id="8" name="Text Box 32"/>
            <p:cNvSpPr txBox="1">
              <a:spLocks noChangeArrowheads="1"/>
            </p:cNvSpPr>
            <p:nvPr/>
          </p:nvSpPr>
          <p:spPr bwMode="auto">
            <a:xfrm>
              <a:off x="2064" y="278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银 行</a:t>
              </a:r>
              <a:endParaRPr lang="zh-CN" altLang="en-US" sz="1400" b="1" u="none">
                <a:latin typeface="Arial" panose="020B0604020202020204" pitchFamily="34" charset="0"/>
              </a:endParaRPr>
            </a:p>
          </p:txBody>
        </p:sp>
        <p:sp>
          <p:nvSpPr>
            <p:cNvPr id="9" name="Text Box 33"/>
            <p:cNvSpPr txBox="1">
              <a:spLocks noChangeArrowheads="1"/>
            </p:cNvSpPr>
            <p:nvPr/>
          </p:nvSpPr>
          <p:spPr bwMode="auto">
            <a:xfrm>
              <a:off x="2796" y="3336"/>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M</a:t>
              </a:r>
              <a:endParaRPr lang="en-US" altLang="zh-CN" sz="1800" u="none">
                <a:latin typeface="Arial" panose="020B0604020202020204" pitchFamily="34" charset="0"/>
              </a:endParaRPr>
            </a:p>
          </p:txBody>
        </p:sp>
        <p:sp>
          <p:nvSpPr>
            <p:cNvPr id="10" name="Text Box 34"/>
            <p:cNvSpPr txBox="1">
              <a:spLocks noChangeArrowheads="1"/>
            </p:cNvSpPr>
            <p:nvPr/>
          </p:nvSpPr>
          <p:spPr bwMode="auto">
            <a:xfrm>
              <a:off x="2076" y="483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100" b="1" u="none">
                  <a:latin typeface="Times New Roman" panose="02020603050405020304" pitchFamily="18" charset="0"/>
                </a:rPr>
                <a:t>单位账户</a:t>
              </a:r>
              <a:endParaRPr lang="zh-CN" altLang="en-US" sz="1100" b="1" u="none">
                <a:latin typeface="Arial" panose="020B0604020202020204" pitchFamily="34" charset="0"/>
              </a:endParaRPr>
            </a:p>
          </p:txBody>
        </p:sp>
        <p:sp>
          <p:nvSpPr>
            <p:cNvPr id="11" name="Line 35"/>
            <p:cNvSpPr>
              <a:spLocks noChangeShapeType="1"/>
            </p:cNvSpPr>
            <p:nvPr/>
          </p:nvSpPr>
          <p:spPr bwMode="auto">
            <a:xfrm flipV="1">
              <a:off x="2712" y="325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36"/>
            <p:cNvSpPr>
              <a:spLocks noChangeShapeType="1"/>
            </p:cNvSpPr>
            <p:nvPr/>
          </p:nvSpPr>
          <p:spPr bwMode="auto">
            <a:xfrm flipV="1">
              <a:off x="2712" y="435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Text Box 37"/>
            <p:cNvSpPr txBox="1">
              <a:spLocks noChangeArrowheads="1"/>
            </p:cNvSpPr>
            <p:nvPr/>
          </p:nvSpPr>
          <p:spPr bwMode="auto">
            <a:xfrm>
              <a:off x="2784" y="4428"/>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14" name="AutoShape 38"/>
            <p:cNvSpPr>
              <a:spLocks noChangeArrowheads="1"/>
            </p:cNvSpPr>
            <p:nvPr/>
          </p:nvSpPr>
          <p:spPr bwMode="auto">
            <a:xfrm>
              <a:off x="4032" y="3744"/>
              <a:ext cx="1944"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dirty="0">
                  <a:latin typeface="Times New Roman" panose="02020603050405020304" pitchFamily="18" charset="0"/>
                </a:rPr>
                <a:t>设立</a:t>
              </a:r>
              <a:endParaRPr lang="zh-CN" altLang="en-US" sz="1400" b="1" u="none" dirty="0">
                <a:latin typeface="Arial" panose="020B0604020202020204" pitchFamily="34" charset="0"/>
              </a:endParaRPr>
            </a:p>
          </p:txBody>
        </p:sp>
        <p:sp>
          <p:nvSpPr>
            <p:cNvPr id="15" name="Text Box 39"/>
            <p:cNvSpPr txBox="1">
              <a:spLocks noChangeArrowheads="1"/>
            </p:cNvSpPr>
            <p:nvPr/>
          </p:nvSpPr>
          <p:spPr bwMode="auto">
            <a:xfrm>
              <a:off x="4116" y="279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银 行</a:t>
              </a:r>
              <a:endParaRPr lang="zh-CN" altLang="en-US" sz="1400" b="1" u="none">
                <a:latin typeface="Arial" panose="020B0604020202020204" pitchFamily="34" charset="0"/>
              </a:endParaRPr>
            </a:p>
          </p:txBody>
        </p:sp>
        <p:sp>
          <p:nvSpPr>
            <p:cNvPr id="16" name="Text Box 40"/>
            <p:cNvSpPr txBox="1">
              <a:spLocks noChangeArrowheads="1"/>
            </p:cNvSpPr>
            <p:nvPr/>
          </p:nvSpPr>
          <p:spPr bwMode="auto">
            <a:xfrm>
              <a:off x="4848" y="3348"/>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M</a:t>
              </a:r>
              <a:endParaRPr lang="en-US" altLang="zh-CN" sz="1800" u="none">
                <a:latin typeface="Arial" panose="020B0604020202020204" pitchFamily="34" charset="0"/>
              </a:endParaRPr>
            </a:p>
          </p:txBody>
        </p:sp>
        <p:sp>
          <p:nvSpPr>
            <p:cNvPr id="17" name="Text Box 41"/>
            <p:cNvSpPr txBox="1">
              <a:spLocks noChangeArrowheads="1"/>
            </p:cNvSpPr>
            <p:nvPr/>
          </p:nvSpPr>
          <p:spPr bwMode="auto">
            <a:xfrm>
              <a:off x="4128" y="4848"/>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100" b="1" u="none">
                  <a:latin typeface="Times New Roman" panose="02020603050405020304" pitchFamily="18" charset="0"/>
                </a:rPr>
                <a:t>个人账户</a:t>
              </a:r>
              <a:endParaRPr lang="zh-CN" altLang="en-US" sz="1100" b="1" u="none">
                <a:latin typeface="Arial" panose="020B0604020202020204" pitchFamily="34" charset="0"/>
              </a:endParaRPr>
            </a:p>
          </p:txBody>
        </p:sp>
        <p:sp>
          <p:nvSpPr>
            <p:cNvPr id="18" name="Line 42"/>
            <p:cNvSpPr>
              <a:spLocks noChangeShapeType="1"/>
            </p:cNvSpPr>
            <p:nvPr/>
          </p:nvSpPr>
          <p:spPr bwMode="auto">
            <a:xfrm flipV="1">
              <a:off x="4764" y="3264"/>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43"/>
            <p:cNvSpPr>
              <a:spLocks noChangeShapeType="1"/>
            </p:cNvSpPr>
            <p:nvPr/>
          </p:nvSpPr>
          <p:spPr bwMode="auto">
            <a:xfrm flipV="1">
              <a:off x="4764" y="4368"/>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Text Box 44"/>
            <p:cNvSpPr txBox="1">
              <a:spLocks noChangeArrowheads="1"/>
            </p:cNvSpPr>
            <p:nvPr/>
          </p:nvSpPr>
          <p:spPr bwMode="auto">
            <a:xfrm>
              <a:off x="4836" y="4440"/>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21" name="Text Box 45"/>
            <p:cNvSpPr txBox="1">
              <a:spLocks noChangeArrowheads="1"/>
            </p:cNvSpPr>
            <p:nvPr/>
          </p:nvSpPr>
          <p:spPr bwMode="auto">
            <a:xfrm>
              <a:off x="3444" y="5424"/>
              <a:ext cx="5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(a)</a:t>
              </a:r>
              <a:endParaRPr lang="en-US" altLang="zh-CN" sz="1800" u="none">
                <a:latin typeface="Arial" panose="020B0604020202020204" pitchFamily="34" charset="0"/>
              </a:endParaRPr>
            </a:p>
          </p:txBody>
        </p:sp>
        <p:sp>
          <p:nvSpPr>
            <p:cNvPr id="22" name="Text Box 46"/>
            <p:cNvSpPr txBox="1">
              <a:spLocks noChangeArrowheads="1"/>
            </p:cNvSpPr>
            <p:nvPr/>
          </p:nvSpPr>
          <p:spPr bwMode="auto">
            <a:xfrm>
              <a:off x="6180" y="1752"/>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单  位</a:t>
              </a:r>
              <a:endParaRPr lang="zh-CN" altLang="en-US" sz="1400" b="1" u="none">
                <a:latin typeface="Arial" panose="020B0604020202020204" pitchFamily="34" charset="0"/>
              </a:endParaRPr>
            </a:p>
          </p:txBody>
        </p:sp>
        <p:sp>
          <p:nvSpPr>
            <p:cNvPr id="23" name="Text Box 47"/>
            <p:cNvSpPr txBox="1">
              <a:spLocks noChangeArrowheads="1"/>
            </p:cNvSpPr>
            <p:nvPr/>
          </p:nvSpPr>
          <p:spPr bwMode="auto">
            <a:xfrm>
              <a:off x="8604" y="176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个  人</a:t>
              </a:r>
              <a:endParaRPr lang="zh-CN" altLang="en-US" sz="1400" b="1" u="none">
                <a:latin typeface="Arial" panose="020B0604020202020204" pitchFamily="34" charset="0"/>
              </a:endParaRPr>
            </a:p>
          </p:txBody>
        </p:sp>
        <p:sp>
          <p:nvSpPr>
            <p:cNvPr id="24" name="Oval 48"/>
            <p:cNvSpPr>
              <a:spLocks noChangeArrowheads="1"/>
            </p:cNvSpPr>
            <p:nvPr/>
          </p:nvSpPr>
          <p:spPr bwMode="auto">
            <a:xfrm>
              <a:off x="7839" y="2796"/>
              <a:ext cx="360" cy="360"/>
            </a:xfrm>
            <a:prstGeom prst="ellipse">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400" b="1" u="none">
                  <a:latin typeface="Times New Roman" panose="02020603050405020304" pitchFamily="18" charset="0"/>
                </a:rPr>
                <a:t>U</a:t>
              </a:r>
              <a:endParaRPr lang="en-US" altLang="zh-CN" sz="1400" b="1" u="none">
                <a:latin typeface="Arial" panose="020B0604020202020204" pitchFamily="34" charset="0"/>
              </a:endParaRPr>
            </a:p>
          </p:txBody>
        </p:sp>
        <p:sp>
          <p:nvSpPr>
            <p:cNvPr id="25" name="Line 49"/>
            <p:cNvSpPr>
              <a:spLocks noChangeShapeType="1"/>
            </p:cNvSpPr>
            <p:nvPr/>
          </p:nvSpPr>
          <p:spPr bwMode="auto">
            <a:xfrm>
              <a:off x="6840" y="2220"/>
              <a:ext cx="10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50"/>
            <p:cNvSpPr>
              <a:spLocks noChangeShapeType="1"/>
            </p:cNvSpPr>
            <p:nvPr/>
          </p:nvSpPr>
          <p:spPr bwMode="auto">
            <a:xfrm flipH="1">
              <a:off x="8100" y="2220"/>
              <a:ext cx="126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51"/>
            <p:cNvSpPr>
              <a:spLocks noChangeShapeType="1"/>
            </p:cNvSpPr>
            <p:nvPr/>
          </p:nvSpPr>
          <p:spPr bwMode="auto">
            <a:xfrm>
              <a:off x="8028" y="316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Text Box 52"/>
            <p:cNvSpPr txBox="1">
              <a:spLocks noChangeArrowheads="1"/>
            </p:cNvSpPr>
            <p:nvPr/>
          </p:nvSpPr>
          <p:spPr bwMode="auto">
            <a:xfrm>
              <a:off x="7380" y="3624"/>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账户主</a:t>
              </a:r>
              <a:endParaRPr lang="zh-CN" altLang="en-US" sz="1400" b="1" u="none">
                <a:latin typeface="Arial" panose="020B0604020202020204" pitchFamily="34" charset="0"/>
              </a:endParaRPr>
            </a:p>
          </p:txBody>
        </p:sp>
        <p:sp>
          <p:nvSpPr>
            <p:cNvPr id="29" name="AutoShape 53"/>
            <p:cNvSpPr>
              <a:spLocks noChangeArrowheads="1"/>
            </p:cNvSpPr>
            <p:nvPr/>
          </p:nvSpPr>
          <p:spPr bwMode="auto">
            <a:xfrm>
              <a:off x="7296" y="4572"/>
              <a:ext cx="1809" cy="624"/>
            </a:xfrm>
            <a:prstGeom prst="diamond">
              <a:avLst/>
            </a:prstGeom>
            <a:solidFill>
              <a:srgbClr val="FFFFFF"/>
            </a:solidFill>
            <a:ln w="9525">
              <a:solidFill>
                <a:srgbClr val="000000"/>
              </a:solidFill>
              <a:miter lim="800000"/>
            </a:ln>
          </p:spPr>
          <p:txBody>
            <a:bodyPr tIns="1080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dirty="0">
                  <a:latin typeface="Times New Roman" panose="02020603050405020304" pitchFamily="18" charset="0"/>
                </a:rPr>
                <a:t>设立</a:t>
              </a:r>
              <a:endParaRPr lang="zh-CN" altLang="en-US" sz="1400" b="1" u="none" dirty="0">
                <a:latin typeface="Arial" panose="020B0604020202020204" pitchFamily="34" charset="0"/>
              </a:endParaRPr>
            </a:p>
          </p:txBody>
        </p:sp>
        <p:sp>
          <p:nvSpPr>
            <p:cNvPr id="30" name="Text Box 54"/>
            <p:cNvSpPr txBox="1">
              <a:spLocks noChangeArrowheads="1"/>
            </p:cNvSpPr>
            <p:nvPr/>
          </p:nvSpPr>
          <p:spPr bwMode="auto">
            <a:xfrm>
              <a:off x="7392" y="5676"/>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银 行</a:t>
              </a:r>
              <a:endParaRPr lang="zh-CN" altLang="en-US" sz="1400" b="1" u="none">
                <a:latin typeface="Arial" panose="020B0604020202020204" pitchFamily="34" charset="0"/>
              </a:endParaRPr>
            </a:p>
          </p:txBody>
        </p:sp>
        <p:sp>
          <p:nvSpPr>
            <p:cNvPr id="31" name="Line 55"/>
            <p:cNvSpPr>
              <a:spLocks noChangeShapeType="1"/>
            </p:cNvSpPr>
            <p:nvPr/>
          </p:nvSpPr>
          <p:spPr bwMode="auto">
            <a:xfrm flipV="1">
              <a:off x="8028" y="519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Text Box 56"/>
            <p:cNvSpPr txBox="1">
              <a:spLocks noChangeArrowheads="1"/>
            </p:cNvSpPr>
            <p:nvPr/>
          </p:nvSpPr>
          <p:spPr bwMode="auto">
            <a:xfrm>
              <a:off x="8100" y="5268"/>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N</a:t>
              </a:r>
              <a:endParaRPr lang="en-US" altLang="zh-CN" sz="1800" u="none">
                <a:latin typeface="Arial" panose="020B0604020202020204" pitchFamily="34" charset="0"/>
              </a:endParaRPr>
            </a:p>
          </p:txBody>
        </p:sp>
        <p:sp>
          <p:nvSpPr>
            <p:cNvPr id="33" name="Line 57"/>
            <p:cNvSpPr>
              <a:spLocks noChangeShapeType="1"/>
            </p:cNvSpPr>
            <p:nvPr/>
          </p:nvSpPr>
          <p:spPr bwMode="auto">
            <a:xfrm>
              <a:off x="8028" y="409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Text Box 58"/>
            <p:cNvSpPr txBox="1">
              <a:spLocks noChangeArrowheads="1"/>
            </p:cNvSpPr>
            <p:nvPr/>
          </p:nvSpPr>
          <p:spPr bwMode="auto">
            <a:xfrm>
              <a:off x="8100" y="4176"/>
              <a:ext cx="2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M</a:t>
              </a:r>
              <a:endParaRPr lang="en-US" altLang="zh-CN" sz="1800" u="none">
                <a:latin typeface="Arial" panose="020B0604020202020204" pitchFamily="34" charset="0"/>
              </a:endParaRPr>
            </a:p>
          </p:txBody>
        </p:sp>
        <p:sp>
          <p:nvSpPr>
            <p:cNvPr id="35" name="Text Box 59"/>
            <p:cNvSpPr txBox="1">
              <a:spLocks noChangeArrowheads="1"/>
            </p:cNvSpPr>
            <p:nvPr/>
          </p:nvSpPr>
          <p:spPr bwMode="auto">
            <a:xfrm>
              <a:off x="7740" y="6276"/>
              <a:ext cx="540"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000" u="none">
                  <a:latin typeface="Times New Roman" panose="02020603050405020304" pitchFamily="18" charset="0"/>
                </a:rPr>
                <a:t>(b)</a:t>
              </a:r>
              <a:endParaRPr lang="en-US" altLang="zh-CN" sz="1800" u="none">
                <a:latin typeface="Arial" panose="020B0604020202020204" pitchFamily="34" charset="0"/>
              </a:endParaRPr>
            </a:p>
          </p:txBody>
        </p:sp>
        <p:sp>
          <p:nvSpPr>
            <p:cNvPr id="51" name="Text Box 60"/>
            <p:cNvSpPr txBox="1">
              <a:spLocks noChangeArrowheads="1"/>
            </p:cNvSpPr>
            <p:nvPr/>
          </p:nvSpPr>
          <p:spPr bwMode="auto">
            <a:xfrm>
              <a:off x="3684" y="667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b="1" u="none">
                  <a:latin typeface="Times New Roman" panose="02020603050405020304" pitchFamily="18" charset="0"/>
                </a:rPr>
                <a:t>自底向上设计过程示例</a:t>
              </a:r>
              <a:endParaRPr lang="zh-CN" altLang="en-US" sz="1400" b="1" u="none">
                <a:latin typeface="Arial" panose="020B0604020202020204" pitchFamily="34"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概念设计的策略</a:t>
            </a:r>
            <a:endParaRPr lang="en-US" altLang="zh-CN" dirty="0"/>
          </a:p>
          <a:p>
            <a:pPr marL="360045" indent="0">
              <a:lnSpc>
                <a:spcPct val="150000"/>
              </a:lnSpc>
              <a:buNone/>
            </a:pPr>
            <a:r>
              <a:rPr lang="en-US" altLang="zh-CN" sz="2400" b="0" dirty="0"/>
              <a:t>(3)</a:t>
            </a:r>
            <a:r>
              <a:rPr lang="zh-CN" altLang="en-US" sz="2400" b="0" dirty="0"/>
              <a:t>由内向外：该策略是自底向上策略的一个特例，首先从最基本的概念出发，建立一个仅包含那些具有明显特征的实体类型的初步模型，然后再逐步引入其它相关对象，因此整个建模过程是一个由内向外的扩张过程</a:t>
            </a:r>
            <a:endParaRPr lang="zh-CN" altLang="en-US" sz="2400" b="0" dirty="0"/>
          </a:p>
          <a:p>
            <a:pPr marL="360045" indent="0">
              <a:lnSpc>
                <a:spcPct val="150000"/>
              </a:lnSpc>
              <a:buNone/>
            </a:pPr>
            <a:endParaRPr lang="zh-CN" altLang="en-US" sz="2400" b="0" dirty="0"/>
          </a:p>
          <a:p>
            <a:pPr marL="360045" indent="0">
              <a:lnSpc>
                <a:spcPct val="150000"/>
              </a:lnSpc>
              <a:buNone/>
            </a:pPr>
            <a:endParaRPr lang="zh-CN" altLang="en-US" sz="24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概念设计的策略</a:t>
            </a:r>
            <a:endParaRPr lang="en-US" altLang="zh-CN" dirty="0"/>
          </a:p>
          <a:p>
            <a:pPr marL="360045" indent="0">
              <a:lnSpc>
                <a:spcPct val="150000"/>
              </a:lnSpc>
              <a:buNone/>
            </a:pPr>
            <a:r>
              <a:rPr lang="en-US" altLang="zh-CN" sz="2400" b="0" dirty="0"/>
              <a:t>(4)</a:t>
            </a:r>
            <a:r>
              <a:rPr lang="zh-CN" altLang="en-US" sz="2400" b="0" dirty="0"/>
              <a:t>混合策略：该策略是</a:t>
            </a:r>
            <a:r>
              <a:rPr lang="zh-CN" altLang="en-US" sz="2400" b="0" dirty="0">
                <a:solidFill>
                  <a:srgbClr val="C00000"/>
                </a:solidFill>
              </a:rPr>
              <a:t>自顶向下</a:t>
            </a:r>
            <a:r>
              <a:rPr lang="zh-CN" altLang="en-US" sz="2400" b="0" dirty="0"/>
              <a:t>方式和</a:t>
            </a:r>
            <a:r>
              <a:rPr lang="zh-CN" altLang="en-US" sz="2400" b="0" dirty="0">
                <a:solidFill>
                  <a:srgbClr val="C00000"/>
                </a:solidFill>
              </a:rPr>
              <a:t>自底向上</a:t>
            </a:r>
            <a:r>
              <a:rPr lang="zh-CN" altLang="en-US" sz="2400" b="0" dirty="0"/>
              <a:t>方式的一种有效结合，首先按照自顶向下思想建立系统的全局结构框架，然后对于框架内的每一部分需求再按照自底向上方式进行详细设计</a:t>
            </a:r>
            <a:endParaRPr lang="zh-CN" altLang="en-US" sz="2400" b="0" dirty="0"/>
          </a:p>
          <a:p>
            <a:pPr marL="360045" indent="0">
              <a:lnSpc>
                <a:spcPct val="150000"/>
              </a:lnSpc>
              <a:buNone/>
            </a:pPr>
            <a:endParaRPr lang="zh-CN" altLang="en-US" sz="2400" b="0" dirty="0"/>
          </a:p>
          <a:p>
            <a:pPr marL="360045" indent="0">
              <a:lnSpc>
                <a:spcPct val="150000"/>
              </a:lnSpc>
              <a:buNone/>
            </a:pPr>
            <a:endParaRPr lang="zh-CN" altLang="en-US" sz="2400" b="0" dirty="0"/>
          </a:p>
          <a:p>
            <a:pPr marL="360045" indent="0">
              <a:lnSpc>
                <a:spcPct val="150000"/>
              </a:lnSpc>
              <a:buNone/>
            </a:pPr>
            <a:endParaRPr lang="zh-CN" altLang="en-US" sz="24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概念设计的方法</a:t>
            </a:r>
            <a:endParaRPr lang="en-US" altLang="zh-CN" dirty="0"/>
          </a:p>
          <a:p>
            <a:pPr lvl="1">
              <a:lnSpc>
                <a:spcPct val="150000"/>
              </a:lnSpc>
            </a:pPr>
            <a:r>
              <a:rPr lang="zh-CN" altLang="en-US" b="0" dirty="0"/>
              <a:t>根据对用户需求处理方式的不同，可以有</a:t>
            </a:r>
            <a:r>
              <a:rPr lang="zh-CN" altLang="en-US" b="0" dirty="0">
                <a:solidFill>
                  <a:srgbClr val="C00000"/>
                </a:solidFill>
              </a:rPr>
              <a:t>集中式模式设计法</a:t>
            </a:r>
            <a:r>
              <a:rPr lang="zh-CN" altLang="en-US" b="0" dirty="0"/>
              <a:t>和</a:t>
            </a:r>
            <a:r>
              <a:rPr lang="zh-CN" altLang="en-US" b="0" dirty="0">
                <a:solidFill>
                  <a:srgbClr val="C00000"/>
                </a:solidFill>
              </a:rPr>
              <a:t>视图集成法</a:t>
            </a:r>
            <a:r>
              <a:rPr lang="zh-CN" altLang="en-US" b="0" dirty="0"/>
              <a:t>两种概念结构设计方式</a:t>
            </a:r>
            <a:endParaRPr lang="zh-CN" altLang="en-US" b="0" dirty="0"/>
          </a:p>
          <a:p>
            <a:pPr marL="360045" indent="0">
              <a:lnSpc>
                <a:spcPct val="150000"/>
              </a:lnSpc>
              <a:buNone/>
            </a:pPr>
            <a:endParaRPr lang="zh-CN" altLang="en-US" sz="2400" b="0" dirty="0"/>
          </a:p>
          <a:p>
            <a:pPr marL="360045" indent="0">
              <a:lnSpc>
                <a:spcPct val="150000"/>
              </a:lnSpc>
              <a:buNone/>
            </a:pPr>
            <a:endParaRPr lang="zh-CN" altLang="en-US" sz="24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集中式模式设计法</a:t>
            </a:r>
            <a:endParaRPr lang="en-US" altLang="zh-CN" dirty="0"/>
          </a:p>
          <a:p>
            <a:pPr lvl="1">
              <a:lnSpc>
                <a:spcPct val="150000"/>
              </a:lnSpc>
            </a:pPr>
            <a:r>
              <a:rPr lang="zh-CN" altLang="en-US" dirty="0"/>
              <a:t>集中式模式设计法首先对需求分析阶段得到的应用需求进行合并，形成一个统一的整体需求说明。</a:t>
            </a:r>
            <a:endParaRPr lang="en-US" altLang="zh-CN" dirty="0"/>
          </a:p>
          <a:p>
            <a:pPr lvl="1">
              <a:lnSpc>
                <a:spcPct val="150000"/>
              </a:lnSpc>
            </a:pPr>
            <a:r>
              <a:rPr lang="zh-CN" altLang="en-US" dirty="0"/>
              <a:t>系统的概念结构设计将以合并后的总体需求为蓝本，设计出全局的概念模式，然后再按照不同的特定应用和用户设计各自的外模式。</a:t>
            </a:r>
            <a:endParaRPr lang="en-US" altLang="zh-CN" dirty="0"/>
          </a:p>
          <a:p>
            <a:pPr lvl="1">
              <a:lnSpc>
                <a:spcPct val="150000"/>
              </a:lnSpc>
            </a:pPr>
            <a:r>
              <a:rPr lang="zh-CN" altLang="en-US" dirty="0"/>
              <a:t>集中式设计法较适合于小规模的应用</a:t>
            </a:r>
            <a:endParaRPr lang="zh-CN" altLang="en-US" dirty="0"/>
          </a:p>
          <a:p>
            <a:pPr lvl="1"/>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视图集成法</a:t>
            </a:r>
            <a:endParaRPr lang="en-US" altLang="zh-CN" dirty="0"/>
          </a:p>
          <a:p>
            <a:pPr lvl="1">
              <a:lnSpc>
                <a:spcPct val="150000"/>
              </a:lnSpc>
            </a:pPr>
            <a:r>
              <a:rPr lang="zh-CN" altLang="en-US" b="0" dirty="0"/>
              <a:t>视图集成法主要包括</a:t>
            </a:r>
            <a:r>
              <a:rPr lang="en-US" altLang="zh-CN" b="0" dirty="0"/>
              <a:t>:</a:t>
            </a:r>
            <a:endParaRPr lang="en-US" altLang="zh-CN" b="0" dirty="0"/>
          </a:p>
          <a:p>
            <a:pPr lvl="2">
              <a:lnSpc>
                <a:spcPct val="150000"/>
              </a:lnSpc>
            </a:pPr>
            <a:r>
              <a:rPr lang="zh-CN" altLang="en-US" sz="2200" b="0" dirty="0"/>
              <a:t>局部视图设计</a:t>
            </a:r>
            <a:endParaRPr lang="zh-CN" altLang="en-US" sz="2200" b="0" dirty="0"/>
          </a:p>
          <a:p>
            <a:pPr lvl="2">
              <a:lnSpc>
                <a:spcPct val="150000"/>
              </a:lnSpc>
            </a:pPr>
            <a:r>
              <a:rPr lang="zh-CN" altLang="en-US" sz="2200" b="0" dirty="0"/>
              <a:t>视图集成</a:t>
            </a:r>
            <a:endParaRPr lang="en-US" altLang="zh-CN" sz="2200" b="0" dirty="0"/>
          </a:p>
          <a:p>
            <a:pPr lvl="1">
              <a:lnSpc>
                <a:spcPct val="150000"/>
              </a:lnSpc>
            </a:pPr>
            <a:r>
              <a:rPr lang="zh-CN" altLang="en-US" b="0" dirty="0"/>
              <a:t>两个设计步骤</a:t>
            </a:r>
            <a:endParaRPr lang="zh-CN" altLang="en-US"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局部视图设计</a:t>
            </a:r>
            <a:endParaRPr lang="en-US" altLang="zh-CN"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44" name="Group 4"/>
          <p:cNvGrpSpPr/>
          <p:nvPr/>
        </p:nvGrpSpPr>
        <p:grpSpPr bwMode="auto">
          <a:xfrm>
            <a:off x="7532682" y="1480453"/>
            <a:ext cx="3171825" cy="5051425"/>
            <a:chOff x="3782" y="5340"/>
            <a:chExt cx="3675" cy="7956"/>
          </a:xfrm>
        </p:grpSpPr>
        <p:grpSp>
          <p:nvGrpSpPr>
            <p:cNvPr id="45" name="Group 5"/>
            <p:cNvGrpSpPr/>
            <p:nvPr/>
          </p:nvGrpSpPr>
          <p:grpSpPr bwMode="auto">
            <a:xfrm>
              <a:off x="3992" y="5340"/>
              <a:ext cx="3465" cy="7332"/>
              <a:chOff x="3992" y="5340"/>
              <a:chExt cx="3465" cy="7332"/>
            </a:xfrm>
          </p:grpSpPr>
          <p:grpSp>
            <p:nvGrpSpPr>
              <p:cNvPr id="47" name="Group 6"/>
              <p:cNvGrpSpPr/>
              <p:nvPr/>
            </p:nvGrpSpPr>
            <p:grpSpPr bwMode="auto">
              <a:xfrm>
                <a:off x="3992" y="5340"/>
                <a:ext cx="2940" cy="7332"/>
                <a:chOff x="3992" y="5340"/>
                <a:chExt cx="2940" cy="7332"/>
              </a:xfrm>
            </p:grpSpPr>
            <p:sp>
              <p:nvSpPr>
                <p:cNvPr id="51" name="Line 7"/>
                <p:cNvSpPr>
                  <a:spLocks noChangeShapeType="1"/>
                </p:cNvSpPr>
                <p:nvPr/>
              </p:nvSpPr>
              <p:spPr bwMode="auto">
                <a:xfrm>
                  <a:off x="5147" y="12048"/>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2" name="Group 8"/>
                <p:cNvGrpSpPr/>
                <p:nvPr/>
              </p:nvGrpSpPr>
              <p:grpSpPr bwMode="auto">
                <a:xfrm>
                  <a:off x="3992" y="5340"/>
                  <a:ext cx="2940" cy="6708"/>
                  <a:chOff x="3782" y="5184"/>
                  <a:chExt cx="2940" cy="6708"/>
                </a:xfrm>
              </p:grpSpPr>
              <p:sp>
                <p:nvSpPr>
                  <p:cNvPr id="54" name="Text Box 9"/>
                  <p:cNvSpPr txBox="1">
                    <a:spLocks noChangeArrowheads="1"/>
                  </p:cNvSpPr>
                  <p:nvPr/>
                </p:nvSpPr>
                <p:spPr bwMode="auto">
                  <a:xfrm>
                    <a:off x="3887" y="5184"/>
                    <a:ext cx="220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b="1" u="none">
                        <a:solidFill>
                          <a:srgbClr val="000000"/>
                        </a:solidFill>
                        <a:latin typeface="Times New Roman" panose="02020603050405020304" pitchFamily="18" charset="0"/>
                      </a:rPr>
                      <a:t>需求分析结果</a:t>
                    </a:r>
                    <a:endParaRPr lang="zh-CN" altLang="en-US" sz="1400" b="1" u="none">
                      <a:solidFill>
                        <a:srgbClr val="000000"/>
                      </a:solidFill>
                      <a:latin typeface="Times New Roman" panose="02020603050405020304" pitchFamily="18" charset="0"/>
                    </a:endParaRPr>
                  </a:p>
                </p:txBody>
              </p:sp>
              <p:sp>
                <p:nvSpPr>
                  <p:cNvPr id="55" name="Text Box 10"/>
                  <p:cNvSpPr txBox="1">
                    <a:spLocks noChangeArrowheads="1"/>
                  </p:cNvSpPr>
                  <p:nvPr/>
                </p:nvSpPr>
                <p:spPr bwMode="auto">
                  <a:xfrm>
                    <a:off x="3887" y="6276"/>
                    <a:ext cx="220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b="1" u="none">
                        <a:solidFill>
                          <a:srgbClr val="000000"/>
                        </a:solidFill>
                        <a:latin typeface="Times New Roman" panose="02020603050405020304" pitchFamily="18" charset="0"/>
                      </a:rPr>
                      <a:t>确定局部结构范围</a:t>
                    </a:r>
                    <a:endParaRPr lang="zh-CN" altLang="en-US" sz="1400" b="1" u="none">
                      <a:solidFill>
                        <a:srgbClr val="000000"/>
                      </a:solidFill>
                      <a:latin typeface="Times New Roman" panose="02020603050405020304" pitchFamily="18" charset="0"/>
                    </a:endParaRPr>
                  </a:p>
                </p:txBody>
              </p:sp>
              <p:grpSp>
                <p:nvGrpSpPr>
                  <p:cNvPr id="56" name="Group 11"/>
                  <p:cNvGrpSpPr/>
                  <p:nvPr/>
                </p:nvGrpSpPr>
                <p:grpSpPr bwMode="auto">
                  <a:xfrm>
                    <a:off x="4832" y="5652"/>
                    <a:ext cx="210" cy="624"/>
                    <a:chOff x="4832" y="5652"/>
                    <a:chExt cx="210" cy="624"/>
                  </a:xfrm>
                </p:grpSpPr>
                <p:sp>
                  <p:nvSpPr>
                    <p:cNvPr id="67" name="Line 12"/>
                    <p:cNvSpPr>
                      <a:spLocks noChangeShapeType="1"/>
                    </p:cNvSpPr>
                    <p:nvPr/>
                  </p:nvSpPr>
                  <p:spPr bwMode="auto">
                    <a:xfrm>
                      <a:off x="4937" y="5652"/>
                      <a:ext cx="0" cy="624"/>
                    </a:xfrm>
                    <a:prstGeom prst="line">
                      <a:avLst/>
                    </a:prstGeom>
                    <a:noFill/>
                    <a:ln w="38100" cmpd="dbl">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13"/>
                    <p:cNvSpPr>
                      <a:spLocks noChangeShapeType="1"/>
                    </p:cNvSpPr>
                    <p:nvPr/>
                  </p:nvSpPr>
                  <p:spPr bwMode="auto">
                    <a:xfrm flipV="1">
                      <a:off x="4937" y="6120"/>
                      <a:ext cx="105" cy="1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14"/>
                    <p:cNvSpPr>
                      <a:spLocks noChangeShapeType="1"/>
                    </p:cNvSpPr>
                    <p:nvPr/>
                  </p:nvSpPr>
                  <p:spPr bwMode="auto">
                    <a:xfrm flipH="1" flipV="1">
                      <a:off x="4832" y="6120"/>
                      <a:ext cx="105" cy="1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7" name="Text Box 15"/>
                  <p:cNvSpPr txBox="1">
                    <a:spLocks noChangeArrowheads="1"/>
                  </p:cNvSpPr>
                  <p:nvPr/>
                </p:nvSpPr>
                <p:spPr bwMode="auto">
                  <a:xfrm>
                    <a:off x="4412" y="7368"/>
                    <a:ext cx="115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实体定义</a:t>
                    </a:r>
                    <a:endParaRPr lang="zh-CN" altLang="en-US" sz="1400" b="1" u="none">
                      <a:solidFill>
                        <a:srgbClr val="000000"/>
                      </a:solidFill>
                      <a:latin typeface="Times New Roman" panose="02020603050405020304" pitchFamily="18" charset="0"/>
                    </a:endParaRPr>
                  </a:p>
                </p:txBody>
              </p:sp>
              <p:sp>
                <p:nvSpPr>
                  <p:cNvPr id="58" name="Text Box 16"/>
                  <p:cNvSpPr txBox="1">
                    <a:spLocks noChangeArrowheads="1"/>
                  </p:cNvSpPr>
                  <p:nvPr/>
                </p:nvSpPr>
                <p:spPr bwMode="auto">
                  <a:xfrm>
                    <a:off x="4412" y="8460"/>
                    <a:ext cx="115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联系定义</a:t>
                    </a:r>
                    <a:endParaRPr lang="zh-CN" altLang="en-US" sz="1400" b="1" u="none">
                      <a:solidFill>
                        <a:srgbClr val="000000"/>
                      </a:solidFill>
                      <a:latin typeface="Times New Roman" panose="02020603050405020304" pitchFamily="18" charset="0"/>
                    </a:endParaRPr>
                  </a:p>
                </p:txBody>
              </p:sp>
              <p:sp>
                <p:nvSpPr>
                  <p:cNvPr id="59" name="Text Box 17"/>
                  <p:cNvSpPr txBox="1">
                    <a:spLocks noChangeArrowheads="1"/>
                  </p:cNvSpPr>
                  <p:nvPr/>
                </p:nvSpPr>
                <p:spPr bwMode="auto">
                  <a:xfrm>
                    <a:off x="4412" y="9552"/>
                    <a:ext cx="115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属性分配</a:t>
                    </a:r>
                    <a:endParaRPr lang="zh-CN" altLang="en-US" sz="1400" b="1" u="none">
                      <a:solidFill>
                        <a:srgbClr val="000000"/>
                      </a:solidFill>
                      <a:latin typeface="Times New Roman" panose="02020603050405020304" pitchFamily="18" charset="0"/>
                    </a:endParaRPr>
                  </a:p>
                </p:txBody>
              </p:sp>
              <p:sp>
                <p:nvSpPr>
                  <p:cNvPr id="60" name="Line 18"/>
                  <p:cNvSpPr>
                    <a:spLocks noChangeShapeType="1"/>
                  </p:cNvSpPr>
                  <p:nvPr/>
                </p:nvSpPr>
                <p:spPr bwMode="auto">
                  <a:xfrm>
                    <a:off x="4937" y="6744"/>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19"/>
                  <p:cNvSpPr>
                    <a:spLocks noChangeShapeType="1"/>
                  </p:cNvSpPr>
                  <p:nvPr/>
                </p:nvSpPr>
                <p:spPr bwMode="auto">
                  <a:xfrm>
                    <a:off x="4937" y="8928"/>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0"/>
                  <p:cNvSpPr>
                    <a:spLocks noChangeShapeType="1"/>
                  </p:cNvSpPr>
                  <p:nvPr/>
                </p:nvSpPr>
                <p:spPr bwMode="auto">
                  <a:xfrm>
                    <a:off x="4937" y="7836"/>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AutoShape 21"/>
                  <p:cNvSpPr>
                    <a:spLocks noChangeArrowheads="1"/>
                  </p:cNvSpPr>
                  <p:nvPr/>
                </p:nvSpPr>
                <p:spPr bwMode="auto">
                  <a:xfrm>
                    <a:off x="3782" y="10644"/>
                    <a:ext cx="2310" cy="1248"/>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b="1" u="none">
                        <a:solidFill>
                          <a:srgbClr val="000000"/>
                        </a:solidFill>
                        <a:latin typeface="Times New Roman" panose="02020603050405020304" pitchFamily="18" charset="0"/>
                      </a:rPr>
                      <a:t>还有局部</a:t>
                    </a:r>
                    <a:endParaRPr lang="zh-CN" altLang="en-US" sz="1400" b="1" u="none">
                      <a:solidFill>
                        <a:srgbClr val="000000"/>
                      </a:solidFill>
                      <a:latin typeface="Times New Roman" panose="02020603050405020304" pitchFamily="18" charset="0"/>
                    </a:endParaRPr>
                  </a:p>
                  <a:p>
                    <a:pPr algn="ctr">
                      <a:spcBef>
                        <a:spcPct val="0"/>
                      </a:spcBef>
                      <a:buFontTx/>
                      <a:buNone/>
                    </a:pPr>
                    <a:r>
                      <a:rPr lang="zh-CN" altLang="en-US" sz="1400" b="1" u="none">
                        <a:solidFill>
                          <a:srgbClr val="000000"/>
                        </a:solidFill>
                        <a:latin typeface="Times New Roman" panose="02020603050405020304" pitchFamily="18" charset="0"/>
                      </a:rPr>
                      <a:t>结构待分析</a:t>
                    </a:r>
                    <a:endParaRPr lang="zh-CN" altLang="en-US" sz="1400" b="1" u="none">
                      <a:solidFill>
                        <a:srgbClr val="000000"/>
                      </a:solidFill>
                      <a:latin typeface="Times New Roman" panose="02020603050405020304" pitchFamily="18" charset="0"/>
                    </a:endParaRPr>
                  </a:p>
                </p:txBody>
              </p:sp>
              <p:sp>
                <p:nvSpPr>
                  <p:cNvPr id="64" name="Line 22"/>
                  <p:cNvSpPr>
                    <a:spLocks noChangeShapeType="1"/>
                  </p:cNvSpPr>
                  <p:nvPr/>
                </p:nvSpPr>
                <p:spPr bwMode="auto">
                  <a:xfrm>
                    <a:off x="4937" y="10020"/>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3"/>
                  <p:cNvSpPr>
                    <a:spLocks noChangeShapeType="1"/>
                  </p:cNvSpPr>
                  <p:nvPr/>
                </p:nvSpPr>
                <p:spPr bwMode="auto">
                  <a:xfrm>
                    <a:off x="6092" y="11268"/>
                    <a:ext cx="63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24"/>
                  <p:cNvSpPr>
                    <a:spLocks noChangeShapeType="1"/>
                  </p:cNvSpPr>
                  <p:nvPr/>
                </p:nvSpPr>
                <p:spPr bwMode="auto">
                  <a:xfrm flipV="1">
                    <a:off x="6722" y="7056"/>
                    <a:ext cx="0" cy="42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 name="Line 25"/>
                <p:cNvSpPr>
                  <a:spLocks noChangeShapeType="1"/>
                </p:cNvSpPr>
                <p:nvPr/>
              </p:nvSpPr>
              <p:spPr bwMode="auto">
                <a:xfrm flipH="1">
                  <a:off x="5147" y="7212"/>
                  <a:ext cx="178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 name="Text Box 26"/>
              <p:cNvSpPr txBox="1">
                <a:spLocks noChangeArrowheads="1"/>
              </p:cNvSpPr>
              <p:nvPr/>
            </p:nvSpPr>
            <p:spPr bwMode="auto">
              <a:xfrm>
                <a:off x="6299" y="10956"/>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有</a:t>
                </a:r>
                <a:endParaRPr lang="zh-CN" altLang="en-US" sz="1400" b="1" u="none">
                  <a:solidFill>
                    <a:srgbClr val="000000"/>
                  </a:solidFill>
                  <a:latin typeface="Times New Roman" panose="02020603050405020304" pitchFamily="18" charset="0"/>
                </a:endParaRPr>
              </a:p>
            </p:txBody>
          </p:sp>
          <p:sp>
            <p:nvSpPr>
              <p:cNvPr id="49" name="Text Box 27"/>
              <p:cNvSpPr txBox="1">
                <a:spLocks noChangeArrowheads="1"/>
              </p:cNvSpPr>
              <p:nvPr/>
            </p:nvSpPr>
            <p:spPr bwMode="auto">
              <a:xfrm>
                <a:off x="4412" y="12048"/>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无</a:t>
                </a:r>
                <a:endParaRPr lang="zh-CN" altLang="en-US" sz="1400" b="1" u="none">
                  <a:solidFill>
                    <a:srgbClr val="000000"/>
                  </a:solidFill>
                  <a:latin typeface="Times New Roman" panose="02020603050405020304" pitchFamily="18" charset="0"/>
                </a:endParaRPr>
              </a:p>
            </p:txBody>
          </p:sp>
          <p:sp>
            <p:nvSpPr>
              <p:cNvPr id="50" name="Text Box 28"/>
              <p:cNvSpPr txBox="1">
                <a:spLocks noChangeArrowheads="1"/>
              </p:cNvSpPr>
              <p:nvPr/>
            </p:nvSpPr>
            <p:spPr bwMode="auto">
              <a:xfrm>
                <a:off x="5252" y="12048"/>
                <a:ext cx="220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b="1" u="none">
                    <a:solidFill>
                      <a:srgbClr val="000000"/>
                    </a:solidFill>
                    <a:latin typeface="Times New Roman" panose="02020603050405020304" pitchFamily="18" charset="0"/>
                  </a:rPr>
                  <a:t>进入全局</a:t>
                </a:r>
                <a:r>
                  <a:rPr lang="en-US" altLang="zh-CN" sz="1400" b="1" u="none">
                    <a:solidFill>
                      <a:srgbClr val="000000"/>
                    </a:solidFill>
                    <a:latin typeface="Times New Roman" panose="02020603050405020304" pitchFamily="18" charset="0"/>
                  </a:rPr>
                  <a:t>ER</a:t>
                </a:r>
                <a:r>
                  <a:rPr lang="zh-CN" altLang="en-US" sz="1400" b="1" u="none">
                    <a:solidFill>
                      <a:srgbClr val="000000"/>
                    </a:solidFill>
                    <a:latin typeface="Times New Roman" panose="02020603050405020304" pitchFamily="18" charset="0"/>
                  </a:rPr>
                  <a:t>模式设计</a:t>
                </a:r>
                <a:endParaRPr lang="zh-CN" altLang="en-US" sz="1400" b="1" u="none">
                  <a:solidFill>
                    <a:srgbClr val="000000"/>
                  </a:solidFill>
                  <a:latin typeface="Times New Roman" panose="02020603050405020304" pitchFamily="18" charset="0"/>
                </a:endParaRPr>
              </a:p>
            </p:txBody>
          </p:sp>
        </p:grpSp>
        <p:sp>
          <p:nvSpPr>
            <p:cNvPr id="46" name="Text Box 29"/>
            <p:cNvSpPr txBox="1">
              <a:spLocks noChangeArrowheads="1"/>
            </p:cNvSpPr>
            <p:nvPr/>
          </p:nvSpPr>
          <p:spPr bwMode="auto">
            <a:xfrm>
              <a:off x="3782" y="12828"/>
              <a:ext cx="304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800" b="1" u="none">
                  <a:solidFill>
                    <a:srgbClr val="000000"/>
                  </a:solidFill>
                </a:rPr>
                <a:t>图</a:t>
              </a:r>
              <a:r>
                <a:rPr lang="en-US" altLang="zh-CN" sz="1800" b="1" u="none">
                  <a:solidFill>
                    <a:srgbClr val="000000"/>
                  </a:solidFill>
                </a:rPr>
                <a:t> </a:t>
              </a:r>
              <a:r>
                <a:rPr lang="zh-CN" altLang="en-US" sz="1800" b="1" u="none">
                  <a:solidFill>
                    <a:srgbClr val="000000"/>
                  </a:solidFill>
                </a:rPr>
                <a:t>局部</a:t>
              </a:r>
              <a:r>
                <a:rPr lang="en-US" altLang="zh-CN" sz="1800" b="1" u="none">
                  <a:solidFill>
                    <a:srgbClr val="000000"/>
                  </a:solidFill>
                </a:rPr>
                <a:t>ER</a:t>
              </a:r>
              <a:r>
                <a:rPr lang="zh-CN" altLang="en-US" sz="1800" b="1" u="none">
                  <a:solidFill>
                    <a:srgbClr val="000000"/>
                  </a:solidFill>
                </a:rPr>
                <a:t>模式设计</a:t>
              </a:r>
              <a:endParaRPr lang="zh-CN" altLang="en-US" sz="1800" b="1" u="none">
                <a:solidFill>
                  <a:srgbClr val="000000"/>
                </a:solidFill>
                <a:latin typeface="Times New Roman" panose="02020603050405020304" pitchFamily="18" charset="0"/>
              </a:endParaRPr>
            </a:p>
          </p:txBody>
        </p:sp>
      </p:grpSp>
      <p:grpSp>
        <p:nvGrpSpPr>
          <p:cNvPr id="71" name="Group 30"/>
          <p:cNvGrpSpPr/>
          <p:nvPr/>
        </p:nvGrpSpPr>
        <p:grpSpPr bwMode="auto">
          <a:xfrm>
            <a:off x="2278971" y="1956983"/>
            <a:ext cx="7483092" cy="2371725"/>
            <a:chOff x="816" y="1296"/>
            <a:chExt cx="2928" cy="1494"/>
          </a:xfrm>
        </p:grpSpPr>
        <p:sp>
          <p:nvSpPr>
            <p:cNvPr id="72" name="Text Box 31"/>
            <p:cNvSpPr txBox="1">
              <a:spLocks noChangeArrowheads="1"/>
            </p:cNvSpPr>
            <p:nvPr/>
          </p:nvSpPr>
          <p:spPr bwMode="auto">
            <a:xfrm>
              <a:off x="816" y="1296"/>
              <a:ext cx="17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范围的划分要自然，易于管理；</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sp>
          <p:nvSpPr>
            <p:cNvPr id="73" name="Text Box 32"/>
            <p:cNvSpPr txBox="1">
              <a:spLocks noChangeArrowheads="1"/>
            </p:cNvSpPr>
            <p:nvPr/>
          </p:nvSpPr>
          <p:spPr bwMode="auto">
            <a:xfrm>
              <a:off x="816" y="2208"/>
              <a:ext cx="177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范围的大小要适度。太小了，会造成局部结构过多，设计过程繁琐，综合困难；太大了，则容易造成内部结构复杂，不便分析 </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sp>
          <p:nvSpPr>
            <p:cNvPr id="74" name="Text Box 33"/>
            <p:cNvSpPr txBox="1">
              <a:spLocks noChangeArrowheads="1"/>
            </p:cNvSpPr>
            <p:nvPr/>
          </p:nvSpPr>
          <p:spPr bwMode="auto">
            <a:xfrm>
              <a:off x="816" y="1728"/>
              <a:ext cx="17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范围之间的界面要清晰，相互影响要小</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sp>
          <p:nvSpPr>
            <p:cNvPr id="75" name="Rectangle 34"/>
            <p:cNvSpPr>
              <a:spLocks noChangeArrowheads="1"/>
            </p:cNvSpPr>
            <p:nvPr/>
          </p:nvSpPr>
          <p:spPr bwMode="auto">
            <a:xfrm>
              <a:off x="2943" y="1440"/>
              <a:ext cx="801" cy="192"/>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nvGrpSpPr>
          <p:cNvPr id="79" name="Group 35"/>
          <p:cNvGrpSpPr/>
          <p:nvPr/>
        </p:nvGrpSpPr>
        <p:grpSpPr bwMode="auto">
          <a:xfrm>
            <a:off x="3784214" y="2266267"/>
            <a:ext cx="5541876" cy="1477963"/>
            <a:chOff x="816" y="1488"/>
            <a:chExt cx="2640" cy="931"/>
          </a:xfrm>
        </p:grpSpPr>
        <p:sp>
          <p:nvSpPr>
            <p:cNvPr id="80" name="Rectangle 36"/>
            <p:cNvSpPr>
              <a:spLocks noChangeArrowheads="1"/>
            </p:cNvSpPr>
            <p:nvPr/>
          </p:nvSpPr>
          <p:spPr bwMode="auto">
            <a:xfrm>
              <a:off x="2931" y="1872"/>
              <a:ext cx="525" cy="173"/>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1" name="Text Box 37"/>
            <p:cNvSpPr txBox="1">
              <a:spLocks noChangeArrowheads="1"/>
            </p:cNvSpPr>
            <p:nvPr/>
          </p:nvSpPr>
          <p:spPr bwMode="auto">
            <a:xfrm>
              <a:off x="816" y="1488"/>
              <a:ext cx="1846" cy="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采用人们习惯的划分；</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a:p>
              <a:pPr algn="just"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避免冗余，在一个局部结构中，对一个对象只取一种抽象形式，不要重复；</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依据用户的信息处理需求 </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grpSp>
      <p:grpSp>
        <p:nvGrpSpPr>
          <p:cNvPr id="82" name="Group 38"/>
          <p:cNvGrpSpPr/>
          <p:nvPr/>
        </p:nvGrpSpPr>
        <p:grpSpPr bwMode="auto">
          <a:xfrm>
            <a:off x="2429937" y="2481574"/>
            <a:ext cx="6880346" cy="3708400"/>
            <a:chOff x="240" y="1632"/>
            <a:chExt cx="3216" cy="2336"/>
          </a:xfrm>
        </p:grpSpPr>
        <p:sp>
          <p:nvSpPr>
            <p:cNvPr id="83" name="Rectangle 39"/>
            <p:cNvSpPr>
              <a:spLocks noChangeArrowheads="1"/>
            </p:cNvSpPr>
            <p:nvPr/>
          </p:nvSpPr>
          <p:spPr bwMode="auto">
            <a:xfrm>
              <a:off x="2941" y="2736"/>
              <a:ext cx="515" cy="200"/>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4" name="Text Box 40"/>
            <p:cNvSpPr txBox="1">
              <a:spLocks noChangeArrowheads="1"/>
            </p:cNvSpPr>
            <p:nvPr/>
          </p:nvSpPr>
          <p:spPr bwMode="auto">
            <a:xfrm>
              <a:off x="240" y="1632"/>
              <a:ext cx="2160" cy="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确定属性的原则：</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属性应该是不可再分解的语义单位；实体与属性之间的关系只能是</a:t>
              </a:r>
              <a:r>
                <a:rPr kumimoji="1" lang="en-US" altLang="zh-CN" sz="1800" u="none" dirty="0">
                  <a:solidFill>
                    <a:srgbClr val="000000"/>
                  </a:solidFill>
                  <a:latin typeface="微软雅黑" panose="020B0503020204020204" pitchFamily="34" charset="-122"/>
                  <a:ea typeface="微软雅黑" panose="020B0503020204020204" pitchFamily="34" charset="-122"/>
                </a:rPr>
                <a:t>1:N</a:t>
              </a:r>
              <a:r>
                <a:rPr kumimoji="1" lang="zh-CN" altLang="en-US" sz="1800" u="none" dirty="0">
                  <a:solidFill>
                    <a:srgbClr val="000000"/>
                  </a:solidFill>
                  <a:latin typeface="微软雅黑" panose="020B0503020204020204" pitchFamily="34" charset="-122"/>
                  <a:ea typeface="微软雅黑" panose="020B0503020204020204" pitchFamily="34" charset="-122"/>
                </a:rPr>
                <a:t>的；不同实体类型的属性之间应无直接关联关系。 </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sp>
          <p:nvSpPr>
            <p:cNvPr id="85" name="Text Box 41"/>
            <p:cNvSpPr txBox="1">
              <a:spLocks noChangeArrowheads="1"/>
            </p:cNvSpPr>
            <p:nvPr/>
          </p:nvSpPr>
          <p:spPr bwMode="auto">
            <a:xfrm>
              <a:off x="240" y="2688"/>
              <a:ext cx="2208"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属性分配的原则：</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rPr>
                <a:t>当多个实体类型用到同一属性时，一般把属性分配给那些使用频率最高的实体类型，或分配给实体值少的实体类型。</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有些属性不宜归属于任一实体类型，只说明实体之间</a:t>
              </a:r>
              <a:r>
                <a:rPr kumimoji="1"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联系</a:t>
              </a:r>
              <a:r>
                <a:rPr kumimoji="1" lang="zh-CN" altLang="en-US" sz="1800" u="none"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的特性</a:t>
              </a:r>
              <a:r>
                <a:rPr kumimoji="1" lang="zh-CN" altLang="en-US" sz="1800" u="none" dirty="0">
                  <a:solidFill>
                    <a:srgbClr val="000000"/>
                  </a:solidFill>
                  <a:latin typeface="微软雅黑" panose="020B0503020204020204" pitchFamily="34" charset="-122"/>
                  <a:ea typeface="微软雅黑" panose="020B0503020204020204" pitchFamily="34" charset="-122"/>
                </a:rPr>
                <a:t>  </a:t>
              </a:r>
              <a:endParaRPr kumimoji="1" lang="zh-CN" altLang="en-US" sz="1800" u="none"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fill="hold"/>
                                        <p:tgtEl>
                                          <p:spTgt spid="71"/>
                                        </p:tgtEl>
                                        <p:attrNameLst>
                                          <p:attrName>ppt_x</p:attrName>
                                        </p:attrNameLst>
                                      </p:cBhvr>
                                      <p:tavLst>
                                        <p:tav tm="0">
                                          <p:val>
                                            <p:strVal val="#ppt_x"/>
                                          </p:val>
                                        </p:tav>
                                        <p:tav tm="100000">
                                          <p:val>
                                            <p:strVal val="#ppt_x"/>
                                          </p:val>
                                        </p:tav>
                                      </p:tavLst>
                                    </p:anim>
                                    <p:anim calcmode="lin" valueType="num">
                                      <p:cBhvr additive="base">
                                        <p:cTn id="12" dur="500" fill="hold"/>
                                        <p:tgtEl>
                                          <p:spTgt spid="7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 calcmode="lin" valueType="num">
                                      <p:cBhvr additive="base">
                                        <p:cTn id="17" dur="500" fill="hold"/>
                                        <p:tgtEl>
                                          <p:spTgt spid="79"/>
                                        </p:tgtEl>
                                        <p:attrNameLst>
                                          <p:attrName>ppt_x</p:attrName>
                                        </p:attrNameLst>
                                      </p:cBhvr>
                                      <p:tavLst>
                                        <p:tav tm="0">
                                          <p:val>
                                            <p:strVal val="#ppt_x"/>
                                          </p:val>
                                        </p:tav>
                                        <p:tav tm="100000">
                                          <p:val>
                                            <p:strVal val="#ppt_x"/>
                                          </p:val>
                                        </p:tav>
                                      </p:tavLst>
                                    </p:anim>
                                    <p:anim calcmode="lin" valueType="num">
                                      <p:cBhvr additive="base">
                                        <p:cTn id="18" dur="500" fill="hold"/>
                                        <p:tgtEl>
                                          <p:spTgt spid="7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2"/>
                                        </p:tgtEl>
                                        <p:attrNameLst>
                                          <p:attrName>style.visibility</p:attrName>
                                        </p:attrNameLst>
                                      </p:cBhvr>
                                      <p:to>
                                        <p:strVal val="visible"/>
                                      </p:to>
                                    </p:set>
                                    <p:anim calcmode="lin" valueType="num">
                                      <p:cBhvr additive="base">
                                        <p:cTn id="23" dur="500" fill="hold"/>
                                        <p:tgtEl>
                                          <p:spTgt spid="82"/>
                                        </p:tgtEl>
                                        <p:attrNameLst>
                                          <p:attrName>ppt_x</p:attrName>
                                        </p:attrNameLst>
                                      </p:cBhvr>
                                      <p:tavLst>
                                        <p:tav tm="0">
                                          <p:val>
                                            <p:strVal val="#ppt_x"/>
                                          </p:val>
                                        </p:tav>
                                        <p:tav tm="100000">
                                          <p:val>
                                            <p:strVal val="#ppt_x"/>
                                          </p:val>
                                        </p:tav>
                                      </p:tavLst>
                                    </p:anim>
                                    <p:anim calcmode="lin" valueType="num">
                                      <p:cBhvr additive="base">
                                        <p:cTn id="24"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lvl="1">
              <a:lnSpc>
                <a:spcPct val="150000"/>
              </a:lnSpc>
            </a:pPr>
            <a:r>
              <a:rPr lang="zh-CN" altLang="en-US" dirty="0"/>
              <a:t>某学校的管理信息系统。学校有</a:t>
            </a:r>
            <a:r>
              <a:rPr lang="en-US" altLang="zh-CN" dirty="0"/>
              <a:t>4</a:t>
            </a:r>
            <a:r>
              <a:rPr lang="zh-CN" altLang="en-US" dirty="0"/>
              <a:t>个部门要求实现计算机管理：</a:t>
            </a:r>
            <a:endParaRPr lang="zh-CN" altLang="en-US" dirty="0"/>
          </a:p>
          <a:p>
            <a:pPr lvl="2"/>
            <a:r>
              <a:rPr lang="zh-CN" altLang="en-US" sz="2200" dirty="0"/>
              <a:t>人事处：教职工管理</a:t>
            </a:r>
            <a:endParaRPr lang="zh-CN" altLang="en-US" sz="2200" dirty="0"/>
          </a:p>
          <a:p>
            <a:pPr lvl="2"/>
            <a:r>
              <a:rPr lang="zh-CN" altLang="en-US" sz="2200" dirty="0"/>
              <a:t>学生处：学生学籍管理</a:t>
            </a:r>
            <a:endParaRPr lang="zh-CN" altLang="en-US" sz="2200" dirty="0"/>
          </a:p>
          <a:p>
            <a:pPr lvl="2"/>
            <a:r>
              <a:rPr lang="zh-CN" altLang="en-US" sz="2200" dirty="0"/>
              <a:t>教务处：教学管理</a:t>
            </a:r>
            <a:endParaRPr lang="zh-CN" altLang="en-US" sz="2200" dirty="0"/>
          </a:p>
          <a:p>
            <a:pPr lvl="2"/>
            <a:r>
              <a:rPr lang="zh-CN" altLang="en-US" sz="2200" dirty="0"/>
              <a:t>后勤处：住宅、宿舍管理</a:t>
            </a:r>
            <a:endParaRPr lang="zh-CN" altLang="en-US" sz="2200" dirty="0"/>
          </a:p>
          <a:p>
            <a:pPr lvl="1">
              <a:lnSpc>
                <a:spcPct val="150000"/>
              </a:lnSpc>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lvl="1">
              <a:lnSpc>
                <a:spcPct val="150000"/>
              </a:lnSpc>
            </a:pPr>
            <a:r>
              <a:rPr lang="zh-CN" altLang="en-US" sz="2200" dirty="0"/>
              <a:t>假定在设计之前，已进行了调研和需求分析。主要信息如下：</a:t>
            </a:r>
            <a:endParaRPr lang="en-US" altLang="zh-CN" sz="2200" dirty="0"/>
          </a:p>
          <a:p>
            <a:pPr lvl="2">
              <a:lnSpc>
                <a:spcPct val="150000"/>
              </a:lnSpc>
            </a:pPr>
            <a:r>
              <a:rPr lang="zh-CN" altLang="en-US" dirty="0"/>
              <a:t>学校包括多个管理部门和多个系；</a:t>
            </a:r>
            <a:endParaRPr lang="zh-CN" altLang="en-US" dirty="0"/>
          </a:p>
          <a:p>
            <a:pPr lvl="2">
              <a:lnSpc>
                <a:spcPct val="80000"/>
              </a:lnSpc>
            </a:pPr>
            <a:r>
              <a:rPr lang="zh-CN" altLang="en-US" dirty="0"/>
              <a:t>每个部门或系有多名教职工，一名教职工只能属于一个部门或一个系；</a:t>
            </a:r>
            <a:endParaRPr lang="zh-CN" altLang="en-US" dirty="0"/>
          </a:p>
          <a:p>
            <a:pPr lvl="2">
              <a:lnSpc>
                <a:spcPct val="80000"/>
              </a:lnSpc>
            </a:pPr>
            <a:r>
              <a:rPr lang="zh-CN" altLang="en-US" dirty="0"/>
              <a:t>每个系有多个班级，一个班级只能属于一个系；</a:t>
            </a:r>
            <a:endParaRPr lang="zh-CN" altLang="en-US" dirty="0"/>
          </a:p>
          <a:p>
            <a:pPr lvl="2">
              <a:lnSpc>
                <a:spcPct val="80000"/>
              </a:lnSpc>
            </a:pPr>
            <a:r>
              <a:rPr lang="zh-CN" altLang="en-US" dirty="0"/>
              <a:t>每个班级有若干名学生，一名学生只能属于一个班级；</a:t>
            </a:r>
            <a:endParaRPr lang="zh-CN" altLang="en-US" dirty="0"/>
          </a:p>
          <a:p>
            <a:pPr lvl="2">
              <a:lnSpc>
                <a:spcPct val="80000"/>
              </a:lnSpc>
            </a:pPr>
            <a:r>
              <a:rPr lang="zh-CN" altLang="en-US" dirty="0"/>
              <a:t>学校开设多门课程，一门课程可被多名学生选修，一名学生也可选修多门课程；</a:t>
            </a:r>
            <a:endParaRPr lang="zh-CN" altLang="en-US" dirty="0"/>
          </a:p>
          <a:p>
            <a:pPr lvl="2">
              <a:lnSpc>
                <a:spcPct val="80000"/>
              </a:lnSpc>
            </a:pPr>
            <a:r>
              <a:rPr lang="zh-CN" altLang="en-US" dirty="0"/>
              <a:t>一门课程可由多名教师讲授，一名教师也可讲授多门课程；</a:t>
            </a:r>
            <a:endParaRPr lang="zh-CN" altLang="en-US" dirty="0"/>
          </a:p>
          <a:p>
            <a:pPr lvl="2">
              <a:lnSpc>
                <a:spcPct val="80000"/>
              </a:lnSpc>
            </a:pPr>
            <a:r>
              <a:rPr lang="zh-CN" altLang="en-US" dirty="0"/>
              <a:t>学校有多间教室，一间教室同一时间只能安排一门课程，而一门课程在同一时间可安排在多个教室</a:t>
            </a:r>
            <a:r>
              <a:rPr lang="en-US" altLang="zh-CN" dirty="0"/>
              <a:t>(</a:t>
            </a:r>
            <a:r>
              <a:rPr lang="zh-CN" altLang="en-US" dirty="0"/>
              <a:t>由多名教师讲授</a:t>
            </a:r>
            <a:r>
              <a:rPr lang="en-US" altLang="zh-CN" dirty="0"/>
              <a:t>,</a:t>
            </a:r>
            <a:r>
              <a:rPr lang="zh-CN" altLang="en-US" dirty="0"/>
              <a:t>见上</a:t>
            </a:r>
            <a:r>
              <a:rPr lang="en-US" altLang="zh-CN" dirty="0"/>
              <a:t>)</a:t>
            </a:r>
            <a:r>
              <a:rPr lang="zh-CN" altLang="en-US" dirty="0"/>
              <a:t>；</a:t>
            </a:r>
            <a:endParaRPr lang="zh-CN" altLang="en-US" dirty="0"/>
          </a:p>
          <a:p>
            <a:pPr lvl="2">
              <a:lnSpc>
                <a:spcPct val="80000"/>
              </a:lnSpc>
            </a:pPr>
            <a:r>
              <a:rPr lang="zh-CN" altLang="en-US" dirty="0"/>
              <a:t>学校有多座教工住宅楼，每个住宅楼有多套住房，每套住房只能分配给一名教工，每名教职工只能分配一套住房；</a:t>
            </a:r>
            <a:endParaRPr lang="zh-CN" altLang="en-US" dirty="0"/>
          </a:p>
          <a:p>
            <a:pPr lvl="2">
              <a:lnSpc>
                <a:spcPct val="80000"/>
              </a:lnSpc>
            </a:pPr>
            <a:r>
              <a:rPr lang="zh-CN" altLang="en-US" dirty="0"/>
              <a:t>学校有多座学生宿舍楼，每个宿舍楼有多个房间，每个房间可安排多名学生住宿，每个学生只能安排一个房间</a:t>
            </a:r>
            <a:endParaRPr lang="zh-CN" altLang="en-US" dirty="0"/>
          </a:p>
          <a:p>
            <a:pPr lvl="1">
              <a:lnSpc>
                <a:spcPct val="150000"/>
              </a:lnSpc>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a:buNone/>
            </a:pPr>
            <a:r>
              <a:rPr lang="en-US" altLang="zh-CN" sz="2000" b="0" dirty="0"/>
              <a:t>	</a:t>
            </a:r>
            <a:r>
              <a:rPr lang="zh-CN" altLang="en-US" sz="2400" b="0" dirty="0"/>
              <a:t> </a:t>
            </a:r>
            <a:r>
              <a:rPr lang="en-US" altLang="zh-CN" sz="2400" b="0" dirty="0"/>
              <a:t>1. </a:t>
            </a:r>
            <a:r>
              <a:rPr lang="zh-CN" altLang="en-US" sz="2400" b="0" dirty="0"/>
              <a:t>设计局部</a:t>
            </a:r>
            <a:r>
              <a:rPr lang="en-US" altLang="zh-CN" sz="2400" b="0" dirty="0"/>
              <a:t>E-R</a:t>
            </a:r>
            <a:r>
              <a:rPr lang="zh-CN" altLang="en-US" sz="2400" b="0" dirty="0"/>
              <a:t>模型</a:t>
            </a:r>
            <a:endParaRPr lang="zh-CN" altLang="en-US" sz="2400" b="0" dirty="0"/>
          </a:p>
          <a:p>
            <a:pPr lvl="1">
              <a:buNone/>
            </a:pPr>
            <a:r>
              <a:rPr lang="zh-CN" altLang="en-US" sz="2000" dirty="0"/>
              <a:t>  </a:t>
            </a:r>
            <a:r>
              <a:rPr lang="en-US" altLang="zh-CN" sz="2200" dirty="0"/>
              <a:t>1</a:t>
            </a:r>
            <a:r>
              <a:rPr lang="zh-CN" altLang="en-US" sz="2200" dirty="0"/>
              <a:t>）确定局部应用范围</a:t>
            </a:r>
            <a:endParaRPr lang="zh-CN" altLang="en-US" sz="2200" dirty="0"/>
          </a:p>
          <a:p>
            <a:pPr lvl="2"/>
            <a:r>
              <a:rPr lang="zh-CN" altLang="en-US" dirty="0"/>
              <a:t>通常情况下可按系统的使用部门划分：本例中划分为四个模块。</a:t>
            </a:r>
            <a:endParaRPr lang="zh-CN" altLang="en-US" dirty="0"/>
          </a:p>
          <a:p>
            <a:pPr lvl="3"/>
            <a:r>
              <a:rPr lang="zh-CN" altLang="en-US" sz="2000" dirty="0"/>
              <a:t>人事管理</a:t>
            </a:r>
            <a:r>
              <a:rPr lang="en-US" altLang="zh-CN" sz="2000" dirty="0"/>
              <a:t>——</a:t>
            </a:r>
            <a:r>
              <a:rPr lang="zh-CN" altLang="en-US" sz="2000" dirty="0"/>
              <a:t>人事处</a:t>
            </a:r>
            <a:endParaRPr lang="zh-CN" altLang="en-US" sz="2000" dirty="0"/>
          </a:p>
          <a:p>
            <a:pPr lvl="3"/>
            <a:r>
              <a:rPr lang="zh-CN" altLang="en-US" sz="2000" dirty="0"/>
              <a:t>学生管理</a:t>
            </a:r>
            <a:r>
              <a:rPr lang="en-US" altLang="zh-CN" sz="2000" dirty="0"/>
              <a:t>——</a:t>
            </a:r>
            <a:r>
              <a:rPr lang="zh-CN" altLang="en-US" sz="2000" dirty="0"/>
              <a:t>学生处</a:t>
            </a:r>
            <a:endParaRPr lang="zh-CN" altLang="en-US" sz="2000" dirty="0"/>
          </a:p>
          <a:p>
            <a:pPr lvl="3"/>
            <a:r>
              <a:rPr lang="zh-CN" altLang="en-US" sz="2000" dirty="0"/>
              <a:t>教学管理</a:t>
            </a:r>
            <a:r>
              <a:rPr lang="en-US" altLang="zh-CN" sz="2000" dirty="0"/>
              <a:t>——</a:t>
            </a:r>
            <a:r>
              <a:rPr lang="zh-CN" altLang="en-US" sz="2000" dirty="0"/>
              <a:t>教务处</a:t>
            </a:r>
            <a:endParaRPr lang="zh-CN" altLang="en-US" sz="2000" dirty="0"/>
          </a:p>
          <a:p>
            <a:pPr lvl="3"/>
            <a:r>
              <a:rPr lang="zh-CN" altLang="en-US" sz="2000" dirty="0"/>
              <a:t>住房管理</a:t>
            </a:r>
            <a:r>
              <a:rPr lang="en-US" altLang="zh-CN" sz="2000" dirty="0"/>
              <a:t>——</a:t>
            </a:r>
            <a:r>
              <a:rPr lang="zh-CN" altLang="en-US" sz="2000" dirty="0"/>
              <a:t>后勤处</a:t>
            </a:r>
            <a:endParaRPr lang="zh-CN" altLang="en-US" sz="2000" dirty="0"/>
          </a:p>
          <a:p>
            <a:pPr lvl="2"/>
            <a:r>
              <a:rPr lang="zh-CN" altLang="en-US" dirty="0"/>
              <a:t>通常，校长需要了解整个学校的运行情况，所以还应有一个校长查询模块，提供决策指导信息。</a:t>
            </a:r>
            <a:endParaRPr lang="zh-CN" altLang="en-US" dirty="0"/>
          </a:p>
          <a:p>
            <a:pPr lvl="1">
              <a:lnSpc>
                <a:spcPct val="150000"/>
              </a:lnSpc>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a:buNone/>
            </a:pPr>
            <a:r>
              <a:rPr lang="en-US" altLang="zh-CN" sz="2000" b="0" dirty="0"/>
              <a:t>	</a:t>
            </a:r>
            <a:r>
              <a:rPr lang="zh-CN" altLang="en-US" sz="2200" b="0" dirty="0"/>
              <a:t>  </a:t>
            </a:r>
            <a:r>
              <a:rPr lang="en-US" altLang="zh-CN" sz="2200" b="0" dirty="0"/>
              <a:t>2</a:t>
            </a:r>
            <a:r>
              <a:rPr lang="zh-CN" altLang="en-US" sz="2200" b="0" dirty="0"/>
              <a:t>）确定实体集（以“人事管理”为例）</a:t>
            </a:r>
            <a:endParaRPr lang="zh-CN" altLang="en-US" sz="2200" b="0" dirty="0"/>
          </a:p>
          <a:p>
            <a:pPr lvl="1">
              <a:lnSpc>
                <a:spcPct val="90000"/>
              </a:lnSpc>
            </a:pPr>
            <a:r>
              <a:rPr lang="zh-CN" altLang="en-US" sz="2000" dirty="0"/>
              <a:t>通过调研和需求分析，人事部门需要管理教职工、部门、职称和职务，所以实体集有：</a:t>
            </a:r>
            <a:r>
              <a:rPr lang="zh-CN" altLang="en-US" sz="2000" dirty="0">
                <a:solidFill>
                  <a:srgbClr val="FF9900"/>
                </a:solidFill>
              </a:rPr>
              <a:t>教职工</a:t>
            </a:r>
            <a:r>
              <a:rPr lang="zh-CN" altLang="en-US" sz="2000" dirty="0"/>
              <a:t>、</a:t>
            </a:r>
            <a:r>
              <a:rPr lang="zh-CN" altLang="en-US" sz="2000" dirty="0">
                <a:solidFill>
                  <a:srgbClr val="FF9900"/>
                </a:solidFill>
              </a:rPr>
              <a:t>部门</a:t>
            </a:r>
            <a:r>
              <a:rPr lang="zh-CN" altLang="en-US" sz="2000" dirty="0"/>
              <a:t>、</a:t>
            </a:r>
            <a:r>
              <a:rPr lang="zh-CN" altLang="en-US" sz="2000" dirty="0">
                <a:solidFill>
                  <a:srgbClr val="FF9900"/>
                </a:solidFill>
              </a:rPr>
              <a:t>职称</a:t>
            </a:r>
            <a:r>
              <a:rPr lang="zh-CN" altLang="en-US" sz="2000" dirty="0"/>
              <a:t>和</a:t>
            </a:r>
            <a:r>
              <a:rPr lang="zh-CN" altLang="en-US" sz="2000" dirty="0">
                <a:solidFill>
                  <a:srgbClr val="FF9900"/>
                </a:solidFill>
              </a:rPr>
              <a:t>职务</a:t>
            </a:r>
            <a:r>
              <a:rPr lang="zh-CN" altLang="en-US" sz="2000" dirty="0"/>
              <a:t>。 </a:t>
            </a:r>
            <a:endParaRPr lang="zh-CN" altLang="en-US" sz="2000" dirty="0"/>
          </a:p>
          <a:p>
            <a:pPr>
              <a:lnSpc>
                <a:spcPct val="90000"/>
              </a:lnSpc>
              <a:buNone/>
            </a:pPr>
            <a:r>
              <a:rPr lang="zh-CN" altLang="en-US" sz="2200" b="0" dirty="0"/>
              <a:t>     </a:t>
            </a:r>
            <a:r>
              <a:rPr lang="en-US" altLang="zh-CN" sz="2200" b="0" dirty="0"/>
              <a:t>3</a:t>
            </a:r>
            <a:r>
              <a:rPr lang="zh-CN" altLang="en-US" sz="2200" b="0" dirty="0"/>
              <a:t>）确定联系集</a:t>
            </a:r>
            <a:endParaRPr lang="zh-CN" altLang="en-US" sz="2200" b="0" dirty="0"/>
          </a:p>
          <a:p>
            <a:pPr lvl="1">
              <a:lnSpc>
                <a:spcPct val="90000"/>
              </a:lnSpc>
            </a:pPr>
            <a:r>
              <a:rPr lang="zh-CN" altLang="en-US" sz="2000" dirty="0"/>
              <a:t>决定各实体集间的联系：</a:t>
            </a:r>
            <a:endParaRPr lang="zh-CN" altLang="en-US" sz="2000" dirty="0"/>
          </a:p>
          <a:p>
            <a:pPr lvl="2">
              <a:lnSpc>
                <a:spcPct val="90000"/>
              </a:lnSpc>
            </a:pPr>
            <a:r>
              <a:rPr lang="zh-CN" altLang="en-US" sz="1800" dirty="0"/>
              <a:t>部门－教职工：</a:t>
            </a:r>
            <a:r>
              <a:rPr lang="en-US" altLang="zh-CN" sz="1800" dirty="0"/>
              <a:t>1:N</a:t>
            </a:r>
            <a:endParaRPr lang="en-US" altLang="zh-CN" sz="1800" dirty="0"/>
          </a:p>
          <a:p>
            <a:pPr lvl="2">
              <a:lnSpc>
                <a:spcPct val="90000"/>
              </a:lnSpc>
            </a:pPr>
            <a:r>
              <a:rPr lang="zh-CN" altLang="en-US" sz="1800" dirty="0"/>
              <a:t>部门－职称：没有联系</a:t>
            </a:r>
            <a:endParaRPr lang="zh-CN" altLang="en-US" sz="1800" dirty="0"/>
          </a:p>
          <a:p>
            <a:pPr lvl="2">
              <a:lnSpc>
                <a:spcPct val="90000"/>
              </a:lnSpc>
            </a:pPr>
            <a:r>
              <a:rPr lang="zh-CN" altLang="en-US" sz="1800" dirty="0"/>
              <a:t>部门－职务：没有联系</a:t>
            </a:r>
            <a:endParaRPr lang="zh-CN" altLang="en-US" sz="1800" dirty="0"/>
          </a:p>
          <a:p>
            <a:pPr lvl="2">
              <a:lnSpc>
                <a:spcPct val="90000"/>
              </a:lnSpc>
            </a:pPr>
            <a:r>
              <a:rPr lang="zh-CN" altLang="en-US" sz="1800" dirty="0"/>
              <a:t>教职工－职称：</a:t>
            </a:r>
            <a:r>
              <a:rPr lang="en-US" altLang="zh-CN" sz="1800" dirty="0"/>
              <a:t>N:1</a:t>
            </a:r>
            <a:endParaRPr lang="en-US" altLang="zh-CN" sz="1800" dirty="0"/>
          </a:p>
          <a:p>
            <a:pPr lvl="2">
              <a:lnSpc>
                <a:spcPct val="90000"/>
              </a:lnSpc>
            </a:pPr>
            <a:r>
              <a:rPr lang="zh-CN" altLang="en-US" sz="1800" dirty="0"/>
              <a:t>教职工－职务：</a:t>
            </a:r>
            <a:r>
              <a:rPr lang="en-US" altLang="zh-CN" sz="1800" dirty="0"/>
              <a:t>N:1</a:t>
            </a:r>
            <a:endParaRPr lang="en-US" altLang="zh-CN" sz="1800" dirty="0"/>
          </a:p>
          <a:p>
            <a:pPr lvl="2">
              <a:lnSpc>
                <a:spcPct val="90000"/>
              </a:lnSpc>
            </a:pPr>
            <a:r>
              <a:rPr lang="zh-CN" altLang="en-US" sz="1800" dirty="0"/>
              <a:t>职称－职务：没有联系</a:t>
            </a:r>
            <a:endParaRPr lang="zh-CN" altLang="en-US" sz="1800" dirty="0"/>
          </a:p>
          <a:p>
            <a:pPr marL="457200" lvl="1" indent="0">
              <a:lnSpc>
                <a:spcPct val="90000"/>
              </a:lnSpc>
              <a:buNone/>
            </a:pPr>
            <a:r>
              <a:rPr lang="zh-CN" altLang="en-US" sz="2000" dirty="0"/>
              <a:t>根据以上两个步骤，画出初步</a:t>
            </a:r>
            <a:r>
              <a:rPr lang="en-US" altLang="zh-CN" sz="2000" dirty="0"/>
              <a:t>E-R</a:t>
            </a:r>
            <a:r>
              <a:rPr lang="zh-CN" altLang="en-US" sz="2000" dirty="0"/>
              <a:t>图如下：</a:t>
            </a:r>
            <a:endParaRPr lang="zh-CN" altLang="en-US" sz="2000" dirty="0"/>
          </a:p>
          <a:p>
            <a:pPr lvl="1">
              <a:lnSpc>
                <a:spcPct val="150000"/>
              </a:lnSpc>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5256799" y="6145101"/>
            <a:ext cx="865187"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部门</a:t>
            </a:r>
            <a:endParaRPr lang="zh-CN" altLang="en-US" sz="1800" u="none">
              <a:latin typeface="Arial" panose="020B0604020202020204" pitchFamily="34" charset="0"/>
            </a:endParaRPr>
          </a:p>
        </p:txBody>
      </p:sp>
      <p:sp>
        <p:nvSpPr>
          <p:cNvPr id="7" name="Rectangle 5"/>
          <p:cNvSpPr>
            <a:spLocks noChangeArrowheads="1"/>
          </p:cNvSpPr>
          <p:nvPr/>
        </p:nvSpPr>
        <p:spPr bwMode="auto">
          <a:xfrm>
            <a:off x="7849186" y="6145101"/>
            <a:ext cx="865188"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教职工</a:t>
            </a:r>
            <a:endParaRPr lang="zh-CN" altLang="en-US" sz="1800" u="none">
              <a:latin typeface="Arial" panose="020B0604020202020204" pitchFamily="34" charset="0"/>
            </a:endParaRPr>
          </a:p>
        </p:txBody>
      </p:sp>
      <p:sp>
        <p:nvSpPr>
          <p:cNvPr id="8" name="Rectangle 6"/>
          <p:cNvSpPr>
            <a:spLocks noChangeArrowheads="1"/>
          </p:cNvSpPr>
          <p:nvPr/>
        </p:nvSpPr>
        <p:spPr bwMode="auto">
          <a:xfrm>
            <a:off x="10441574" y="6145101"/>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职务</a:t>
            </a:r>
            <a:endParaRPr lang="zh-CN" altLang="en-US" sz="1800" u="none">
              <a:latin typeface="Arial" panose="020B0604020202020204" pitchFamily="34" charset="0"/>
            </a:endParaRPr>
          </a:p>
        </p:txBody>
      </p:sp>
      <p:sp>
        <p:nvSpPr>
          <p:cNvPr id="9" name="AutoShape 7"/>
          <p:cNvSpPr>
            <a:spLocks noChangeArrowheads="1"/>
          </p:cNvSpPr>
          <p:nvPr/>
        </p:nvSpPr>
        <p:spPr bwMode="auto">
          <a:xfrm>
            <a:off x="6553786" y="6145101"/>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拥有</a:t>
            </a:r>
            <a:endParaRPr lang="zh-CN" altLang="en-US" sz="1400" u="none">
              <a:latin typeface="Arial" panose="020B0604020202020204" pitchFamily="34" charset="0"/>
            </a:endParaRPr>
          </a:p>
        </p:txBody>
      </p:sp>
      <p:sp>
        <p:nvSpPr>
          <p:cNvPr id="10" name="Line 8"/>
          <p:cNvSpPr>
            <a:spLocks noChangeShapeType="1"/>
          </p:cNvSpPr>
          <p:nvPr/>
        </p:nvSpPr>
        <p:spPr bwMode="auto">
          <a:xfrm>
            <a:off x="6121986" y="6361001"/>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a:off x="8714374" y="6361001"/>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AutoShape 10"/>
          <p:cNvSpPr>
            <a:spLocks noChangeArrowheads="1"/>
          </p:cNvSpPr>
          <p:nvPr/>
        </p:nvSpPr>
        <p:spPr bwMode="auto">
          <a:xfrm>
            <a:off x="9146174" y="6145101"/>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担任</a:t>
            </a:r>
            <a:endParaRPr lang="zh-CN" altLang="en-US" sz="1400" u="none">
              <a:latin typeface="Arial" panose="020B0604020202020204" pitchFamily="34" charset="0"/>
            </a:endParaRPr>
          </a:p>
        </p:txBody>
      </p:sp>
      <p:sp>
        <p:nvSpPr>
          <p:cNvPr id="13" name="Line 11"/>
          <p:cNvSpPr>
            <a:spLocks noChangeShapeType="1"/>
          </p:cNvSpPr>
          <p:nvPr/>
        </p:nvSpPr>
        <p:spPr bwMode="auto">
          <a:xfrm>
            <a:off x="7417386" y="6361001"/>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10009774" y="6361001"/>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13"/>
          <p:cNvSpPr txBox="1">
            <a:spLocks noChangeArrowheads="1"/>
          </p:cNvSpPr>
          <p:nvPr/>
        </p:nvSpPr>
        <p:spPr bwMode="auto">
          <a:xfrm>
            <a:off x="7488824" y="6000639"/>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6" name="Text Box 14"/>
          <p:cNvSpPr txBox="1">
            <a:spLocks noChangeArrowheads="1"/>
          </p:cNvSpPr>
          <p:nvPr/>
        </p:nvSpPr>
        <p:spPr bwMode="auto">
          <a:xfrm>
            <a:off x="6193424" y="6000639"/>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7" name="Text Box 15"/>
          <p:cNvSpPr txBox="1">
            <a:spLocks noChangeArrowheads="1"/>
          </p:cNvSpPr>
          <p:nvPr/>
        </p:nvSpPr>
        <p:spPr bwMode="auto">
          <a:xfrm>
            <a:off x="10081211" y="6000639"/>
            <a:ext cx="287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8" name="Text Box 16"/>
          <p:cNvSpPr txBox="1">
            <a:spLocks noChangeArrowheads="1"/>
          </p:cNvSpPr>
          <p:nvPr/>
        </p:nvSpPr>
        <p:spPr bwMode="auto">
          <a:xfrm>
            <a:off x="8712786" y="6002226"/>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9" name="Rectangle 17"/>
          <p:cNvSpPr>
            <a:spLocks noChangeArrowheads="1"/>
          </p:cNvSpPr>
          <p:nvPr/>
        </p:nvSpPr>
        <p:spPr bwMode="auto">
          <a:xfrm>
            <a:off x="10441574" y="5497401"/>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职称</a:t>
            </a:r>
            <a:endParaRPr lang="zh-CN" altLang="en-US" sz="1800" u="none">
              <a:latin typeface="Arial" panose="020B0604020202020204" pitchFamily="34" charset="0"/>
            </a:endParaRPr>
          </a:p>
        </p:txBody>
      </p:sp>
      <p:sp>
        <p:nvSpPr>
          <p:cNvPr id="20" name="AutoShape 18"/>
          <p:cNvSpPr>
            <a:spLocks noChangeArrowheads="1"/>
          </p:cNvSpPr>
          <p:nvPr/>
        </p:nvSpPr>
        <p:spPr bwMode="auto">
          <a:xfrm>
            <a:off x="9144586" y="5497401"/>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具有</a:t>
            </a:r>
            <a:endParaRPr lang="zh-CN" altLang="en-US" sz="1400" u="none">
              <a:latin typeface="Arial" panose="020B0604020202020204" pitchFamily="34" charset="0"/>
            </a:endParaRPr>
          </a:p>
        </p:txBody>
      </p:sp>
      <p:sp>
        <p:nvSpPr>
          <p:cNvPr id="21" name="Text Box 19"/>
          <p:cNvSpPr txBox="1">
            <a:spLocks noChangeArrowheads="1"/>
          </p:cNvSpPr>
          <p:nvPr/>
        </p:nvSpPr>
        <p:spPr bwMode="auto">
          <a:xfrm>
            <a:off x="10081211" y="5352939"/>
            <a:ext cx="287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22" name="Line 20"/>
          <p:cNvSpPr>
            <a:spLocks noChangeShapeType="1"/>
          </p:cNvSpPr>
          <p:nvPr/>
        </p:nvSpPr>
        <p:spPr bwMode="auto">
          <a:xfrm>
            <a:off x="10009774" y="5713301"/>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1"/>
          <p:cNvSpPr>
            <a:spLocks noChangeShapeType="1"/>
          </p:cNvSpPr>
          <p:nvPr/>
        </p:nvSpPr>
        <p:spPr bwMode="auto">
          <a:xfrm flipV="1">
            <a:off x="8280986" y="5713301"/>
            <a:ext cx="863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2"/>
          <p:cNvSpPr>
            <a:spLocks noChangeShapeType="1"/>
          </p:cNvSpPr>
          <p:nvPr/>
        </p:nvSpPr>
        <p:spPr bwMode="auto">
          <a:xfrm flipV="1">
            <a:off x="8280986" y="5713301"/>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23"/>
          <p:cNvSpPr txBox="1">
            <a:spLocks noChangeArrowheads="1"/>
          </p:cNvSpPr>
          <p:nvPr/>
        </p:nvSpPr>
        <p:spPr bwMode="auto">
          <a:xfrm>
            <a:off x="7992061" y="5713301"/>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par>
                                <p:cTn id="29" presetID="22" presetClass="entr" presetSubtype="4"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500"/>
                                        <p:tgtEl>
                                          <p:spTgt spid="1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down)">
                                      <p:cBhvr>
                                        <p:cTn id="40" dur="500"/>
                                        <p:tgtEl>
                                          <p:spTgt spid="1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00"/>
                                        <p:tgtEl>
                                          <p:spTgt spid="18"/>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down)">
                                      <p:cBhvr>
                                        <p:cTn id="46" dur="500"/>
                                        <p:tgtEl>
                                          <p:spTgt spid="1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par>
                                <p:cTn id="53" presetID="2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par>
                                <p:cTn id="56" presetID="22" presetClass="entr" presetSubtype="4"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down)">
                                      <p:cBhvr>
                                        <p:cTn id="58" dur="500"/>
                                        <p:tgtEl>
                                          <p:spTgt spid="23"/>
                                        </p:tgtEl>
                                      </p:cBhvr>
                                    </p:animEffect>
                                  </p:childTnLst>
                                </p:cTn>
                              </p:par>
                              <p:par>
                                <p:cTn id="59" presetID="22" presetClass="entr" presetSubtype="4"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500"/>
                                        <p:tgtEl>
                                          <p:spTgt spid="24"/>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5" grpId="0"/>
      <p:bldP spid="16" grpId="0"/>
      <p:bldP spid="17" grpId="0"/>
      <p:bldP spid="18" grpId="0"/>
      <p:bldP spid="19" grpId="0" animBg="1"/>
      <p:bldP spid="20" grpId="0" animBg="1"/>
      <p:bldP spid="21" grpId="0"/>
      <p:bldP spid="2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a:buNone/>
            </a:pPr>
            <a:r>
              <a:rPr lang="zh-CN" altLang="en-US" sz="2400" dirty="0"/>
              <a:t>     </a:t>
            </a:r>
            <a:r>
              <a:rPr lang="en-US" altLang="zh-CN" sz="2200" b="0" dirty="0"/>
              <a:t>4</a:t>
            </a:r>
            <a:r>
              <a:rPr lang="zh-CN" altLang="en-US" sz="2200" b="0" dirty="0"/>
              <a:t>）确定实体集的属性。通过调研和需求分析，各实体的属性如下：</a:t>
            </a:r>
            <a:r>
              <a:rPr lang="zh-CN" altLang="en-US" sz="2000" b="0" dirty="0"/>
              <a:t>	</a:t>
            </a:r>
            <a:endParaRPr lang="zh-CN" altLang="en-US" sz="2000" b="0" dirty="0"/>
          </a:p>
          <a:p>
            <a:pPr lvl="2">
              <a:buNone/>
            </a:pPr>
            <a:r>
              <a:rPr lang="zh-CN" altLang="en-US" dirty="0">
                <a:solidFill>
                  <a:srgbClr val="FF9900"/>
                </a:solidFill>
              </a:rPr>
              <a:t>教职工</a:t>
            </a:r>
            <a:r>
              <a:rPr lang="zh-CN" altLang="en-US" dirty="0"/>
              <a:t>：教职工号，姓名，性别，出生日期，学历</a:t>
            </a:r>
            <a:endParaRPr lang="zh-CN" altLang="en-US" dirty="0"/>
          </a:p>
          <a:p>
            <a:pPr lvl="2">
              <a:buNone/>
            </a:pPr>
            <a:r>
              <a:rPr lang="zh-CN" altLang="en-US" dirty="0">
                <a:solidFill>
                  <a:srgbClr val="FF9900"/>
                </a:solidFill>
              </a:rPr>
              <a:t>部门</a:t>
            </a:r>
            <a:r>
              <a:rPr lang="en-US" altLang="zh-CN" dirty="0"/>
              <a:t>(</a:t>
            </a:r>
            <a:r>
              <a:rPr lang="zh-CN" altLang="en-US" dirty="0"/>
              <a:t>包括管理部门和教学院系</a:t>
            </a:r>
            <a:r>
              <a:rPr lang="en-US" altLang="zh-CN" dirty="0"/>
              <a:t>)</a:t>
            </a:r>
            <a:r>
              <a:rPr lang="zh-CN" altLang="en-US" dirty="0"/>
              <a:t>：部门号，类型，名称，办公电话</a:t>
            </a:r>
            <a:endParaRPr lang="zh-CN" altLang="en-US" dirty="0"/>
          </a:p>
          <a:p>
            <a:pPr lvl="2">
              <a:buNone/>
            </a:pPr>
            <a:r>
              <a:rPr lang="zh-CN" altLang="en-US" dirty="0">
                <a:solidFill>
                  <a:srgbClr val="FF9900"/>
                </a:solidFill>
              </a:rPr>
              <a:t>职务</a:t>
            </a:r>
            <a:r>
              <a:rPr lang="zh-CN" altLang="en-US" dirty="0"/>
              <a:t>：代号，名称</a:t>
            </a:r>
            <a:endParaRPr lang="zh-CN" altLang="en-US" dirty="0"/>
          </a:p>
          <a:p>
            <a:pPr lvl="2">
              <a:buNone/>
            </a:pPr>
            <a:r>
              <a:rPr lang="zh-CN" altLang="en-US" dirty="0">
                <a:solidFill>
                  <a:srgbClr val="FF9900"/>
                </a:solidFill>
              </a:rPr>
              <a:t>职称</a:t>
            </a:r>
            <a:r>
              <a:rPr lang="zh-CN" altLang="en-US" dirty="0"/>
              <a:t>：代号，名称</a:t>
            </a:r>
            <a:endParaRPr lang="zh-CN" altLang="en-US" dirty="0"/>
          </a:p>
          <a:p>
            <a:pPr>
              <a:buNone/>
            </a:pPr>
            <a:r>
              <a:rPr lang="zh-CN" altLang="en-US" sz="2000" b="0" dirty="0"/>
              <a:t>     </a:t>
            </a:r>
            <a:r>
              <a:rPr lang="en-US" altLang="zh-CN" sz="2200" b="0" dirty="0"/>
              <a:t>5</a:t>
            </a:r>
            <a:r>
              <a:rPr lang="zh-CN" altLang="en-US" sz="2200" b="0" dirty="0"/>
              <a:t>）确定联系集的属性</a:t>
            </a:r>
            <a:endParaRPr lang="zh-CN" altLang="en-US" sz="2200" b="0" dirty="0"/>
          </a:p>
          <a:p>
            <a:pPr lvl="2">
              <a:buNone/>
            </a:pPr>
            <a:r>
              <a:rPr lang="zh-CN" altLang="en-US" dirty="0"/>
              <a:t>部门－教职工：无</a:t>
            </a:r>
            <a:endParaRPr lang="zh-CN" altLang="en-US" dirty="0"/>
          </a:p>
          <a:p>
            <a:pPr lvl="2">
              <a:buNone/>
            </a:pPr>
            <a:r>
              <a:rPr lang="zh-CN" altLang="en-US" dirty="0"/>
              <a:t>教职工－职称：聘任日期</a:t>
            </a:r>
            <a:endParaRPr lang="zh-CN" altLang="en-US" dirty="0"/>
          </a:p>
          <a:p>
            <a:pPr lvl="2">
              <a:buNone/>
            </a:pPr>
            <a:r>
              <a:rPr lang="zh-CN" altLang="en-US" dirty="0"/>
              <a:t>教职工－职务：任职日期</a:t>
            </a:r>
            <a:endParaRPr lang="zh-CN" altLang="en-US" dirty="0"/>
          </a:p>
          <a:p>
            <a:pPr lvl="1">
              <a:lnSpc>
                <a:spcPct val="150000"/>
              </a:lnSpc>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sz="2200" b="0" dirty="0"/>
          </a:p>
          <a:p>
            <a:pPr>
              <a:buNone/>
            </a:pPr>
            <a:r>
              <a:rPr lang="zh-CN" altLang="en-US" sz="2200" b="0" dirty="0"/>
              <a:t>      </a:t>
            </a:r>
            <a:r>
              <a:rPr lang="en-US" altLang="zh-CN" sz="2200" b="0" dirty="0"/>
              <a:t>6</a:t>
            </a:r>
            <a:r>
              <a:rPr lang="zh-CN" altLang="en-US" sz="2200" b="0" dirty="0"/>
              <a:t>）画出局部</a:t>
            </a:r>
            <a:r>
              <a:rPr lang="en-GB" altLang="zh-CN" sz="2200" b="0" dirty="0"/>
              <a:t>E-R</a:t>
            </a:r>
            <a:r>
              <a:rPr lang="zh-CN" altLang="en-US" sz="2200" b="0" dirty="0"/>
              <a:t>模型</a:t>
            </a:r>
            <a:endParaRPr lang="zh-CN" altLang="en-US" sz="2200" b="0" dirty="0"/>
          </a:p>
          <a:p>
            <a:pPr>
              <a:buNone/>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3077406" y="3537928"/>
            <a:ext cx="865188"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部门</a:t>
            </a:r>
            <a:r>
              <a:rPr lang="en-US" altLang="zh-CN" sz="1800" u="none">
                <a:latin typeface="Arial" panose="020B0604020202020204" pitchFamily="34" charset="0"/>
              </a:rPr>
              <a:t>/</a:t>
            </a:r>
            <a:r>
              <a:rPr lang="zh-CN" altLang="en-US" sz="1800" u="none">
                <a:latin typeface="Arial" panose="020B0604020202020204" pitchFamily="34" charset="0"/>
              </a:rPr>
              <a:t>系</a:t>
            </a:r>
            <a:endParaRPr lang="zh-CN" altLang="en-US" sz="1800" u="none">
              <a:latin typeface="Arial" panose="020B0604020202020204" pitchFamily="34" charset="0"/>
            </a:endParaRPr>
          </a:p>
        </p:txBody>
      </p:sp>
      <p:sp>
        <p:nvSpPr>
          <p:cNvPr id="7" name="Rectangle 5"/>
          <p:cNvSpPr>
            <a:spLocks noChangeArrowheads="1"/>
          </p:cNvSpPr>
          <p:nvPr/>
        </p:nvSpPr>
        <p:spPr bwMode="auto">
          <a:xfrm>
            <a:off x="5669794" y="3537928"/>
            <a:ext cx="865187"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教职工</a:t>
            </a:r>
            <a:endParaRPr lang="zh-CN" altLang="en-US" sz="1800" u="none">
              <a:latin typeface="Arial" panose="020B0604020202020204" pitchFamily="34" charset="0"/>
            </a:endParaRPr>
          </a:p>
        </p:txBody>
      </p:sp>
      <p:sp>
        <p:nvSpPr>
          <p:cNvPr id="8" name="Rectangle 6"/>
          <p:cNvSpPr>
            <a:spLocks noChangeArrowheads="1"/>
          </p:cNvSpPr>
          <p:nvPr/>
        </p:nvSpPr>
        <p:spPr bwMode="auto">
          <a:xfrm>
            <a:off x="8262181" y="3537928"/>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职务</a:t>
            </a:r>
            <a:endParaRPr lang="zh-CN" altLang="en-US" sz="1800" u="none">
              <a:latin typeface="Arial" panose="020B0604020202020204" pitchFamily="34" charset="0"/>
            </a:endParaRPr>
          </a:p>
        </p:txBody>
      </p:sp>
      <p:sp>
        <p:nvSpPr>
          <p:cNvPr id="9" name="AutoShape 7"/>
          <p:cNvSpPr>
            <a:spLocks noChangeArrowheads="1"/>
          </p:cNvSpPr>
          <p:nvPr/>
        </p:nvSpPr>
        <p:spPr bwMode="auto">
          <a:xfrm>
            <a:off x="4374394" y="3537928"/>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具有</a:t>
            </a:r>
            <a:endParaRPr lang="zh-CN" altLang="en-US" sz="1400" u="none">
              <a:latin typeface="Arial" panose="020B0604020202020204" pitchFamily="34" charset="0"/>
            </a:endParaRPr>
          </a:p>
        </p:txBody>
      </p:sp>
      <p:sp>
        <p:nvSpPr>
          <p:cNvPr id="10" name="Line 8"/>
          <p:cNvSpPr>
            <a:spLocks noChangeShapeType="1"/>
          </p:cNvSpPr>
          <p:nvPr/>
        </p:nvSpPr>
        <p:spPr bwMode="auto">
          <a:xfrm>
            <a:off x="3942594" y="375382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a:off x="6534981" y="375382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AutoShape 10"/>
          <p:cNvSpPr>
            <a:spLocks noChangeArrowheads="1"/>
          </p:cNvSpPr>
          <p:nvPr/>
        </p:nvSpPr>
        <p:spPr bwMode="auto">
          <a:xfrm>
            <a:off x="6966781" y="3537928"/>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担任</a:t>
            </a:r>
            <a:endParaRPr lang="zh-CN" altLang="en-US" sz="1400" u="none">
              <a:latin typeface="Arial" panose="020B0604020202020204" pitchFamily="34" charset="0"/>
            </a:endParaRPr>
          </a:p>
        </p:txBody>
      </p:sp>
      <p:sp>
        <p:nvSpPr>
          <p:cNvPr id="13" name="Line 11"/>
          <p:cNvSpPr>
            <a:spLocks noChangeShapeType="1"/>
          </p:cNvSpPr>
          <p:nvPr/>
        </p:nvSpPr>
        <p:spPr bwMode="auto">
          <a:xfrm>
            <a:off x="5237994" y="375382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7830381" y="375382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13"/>
          <p:cNvSpPr txBox="1">
            <a:spLocks noChangeArrowheads="1"/>
          </p:cNvSpPr>
          <p:nvPr/>
        </p:nvSpPr>
        <p:spPr bwMode="auto">
          <a:xfrm>
            <a:off x="5309431" y="339346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6" name="Text Box 14"/>
          <p:cNvSpPr txBox="1">
            <a:spLocks noChangeArrowheads="1"/>
          </p:cNvSpPr>
          <p:nvPr/>
        </p:nvSpPr>
        <p:spPr bwMode="auto">
          <a:xfrm>
            <a:off x="4014031" y="339346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7" name="Text Box 15"/>
          <p:cNvSpPr txBox="1">
            <a:spLocks noChangeArrowheads="1"/>
          </p:cNvSpPr>
          <p:nvPr/>
        </p:nvSpPr>
        <p:spPr bwMode="auto">
          <a:xfrm>
            <a:off x="7901819" y="3393465"/>
            <a:ext cx="2873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8" name="Text Box 16"/>
          <p:cNvSpPr txBox="1">
            <a:spLocks noChangeArrowheads="1"/>
          </p:cNvSpPr>
          <p:nvPr/>
        </p:nvSpPr>
        <p:spPr bwMode="auto">
          <a:xfrm>
            <a:off x="6533394" y="3395053"/>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9" name="Rectangle 17"/>
          <p:cNvSpPr>
            <a:spLocks noChangeArrowheads="1"/>
          </p:cNvSpPr>
          <p:nvPr/>
        </p:nvSpPr>
        <p:spPr bwMode="auto">
          <a:xfrm>
            <a:off x="5669794" y="5195278"/>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职称</a:t>
            </a:r>
            <a:endParaRPr lang="zh-CN" altLang="en-US" sz="1800" u="none">
              <a:latin typeface="Arial" panose="020B0604020202020204" pitchFamily="34" charset="0"/>
            </a:endParaRPr>
          </a:p>
        </p:txBody>
      </p:sp>
      <p:sp>
        <p:nvSpPr>
          <p:cNvPr id="20" name="AutoShape 18"/>
          <p:cNvSpPr>
            <a:spLocks noChangeArrowheads="1"/>
          </p:cNvSpPr>
          <p:nvPr/>
        </p:nvSpPr>
        <p:spPr bwMode="auto">
          <a:xfrm>
            <a:off x="5669794" y="4403115"/>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聘任</a:t>
            </a:r>
            <a:endParaRPr lang="zh-CN" altLang="en-US" sz="1400" u="none">
              <a:latin typeface="Arial" panose="020B0604020202020204" pitchFamily="34" charset="0"/>
            </a:endParaRPr>
          </a:p>
        </p:txBody>
      </p:sp>
      <p:sp>
        <p:nvSpPr>
          <p:cNvPr id="21" name="Text Box 19"/>
          <p:cNvSpPr txBox="1">
            <a:spLocks noChangeArrowheads="1"/>
          </p:cNvSpPr>
          <p:nvPr/>
        </p:nvSpPr>
        <p:spPr bwMode="auto">
          <a:xfrm>
            <a:off x="5814256" y="483491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22" name="Line 20"/>
          <p:cNvSpPr>
            <a:spLocks noChangeShapeType="1"/>
          </p:cNvSpPr>
          <p:nvPr/>
        </p:nvSpPr>
        <p:spPr bwMode="auto">
          <a:xfrm>
            <a:off x="6101594" y="4834915"/>
            <a:ext cx="0" cy="360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1"/>
          <p:cNvSpPr>
            <a:spLocks noChangeShapeType="1"/>
          </p:cNvSpPr>
          <p:nvPr/>
        </p:nvSpPr>
        <p:spPr bwMode="auto">
          <a:xfrm flipV="1">
            <a:off x="6101594" y="3971315"/>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2"/>
          <p:cNvSpPr txBox="1">
            <a:spLocks noChangeArrowheads="1"/>
          </p:cNvSpPr>
          <p:nvPr/>
        </p:nvSpPr>
        <p:spPr bwMode="auto">
          <a:xfrm>
            <a:off x="5814256" y="397131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25" name="Oval 23"/>
          <p:cNvSpPr>
            <a:spLocks noChangeArrowheads="1"/>
          </p:cNvSpPr>
          <p:nvPr/>
        </p:nvSpPr>
        <p:spPr bwMode="auto">
          <a:xfrm>
            <a:off x="5093531" y="2458428"/>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26" name="Oval 24"/>
          <p:cNvSpPr>
            <a:spLocks noChangeArrowheads="1"/>
          </p:cNvSpPr>
          <p:nvPr/>
        </p:nvSpPr>
        <p:spPr bwMode="auto">
          <a:xfrm>
            <a:off x="6533394" y="2458428"/>
            <a:ext cx="7921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出生日期</a:t>
            </a:r>
            <a:endParaRPr lang="zh-CN" altLang="en-US" sz="1400" u="none">
              <a:latin typeface="Arial" panose="020B0604020202020204" pitchFamily="34" charset="0"/>
            </a:endParaRPr>
          </a:p>
        </p:txBody>
      </p:sp>
      <p:sp>
        <p:nvSpPr>
          <p:cNvPr id="27" name="Oval 25"/>
          <p:cNvSpPr>
            <a:spLocks noChangeArrowheads="1"/>
          </p:cNvSpPr>
          <p:nvPr/>
        </p:nvSpPr>
        <p:spPr bwMode="auto">
          <a:xfrm>
            <a:off x="6893756" y="296166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学历</a:t>
            </a:r>
            <a:endParaRPr lang="zh-CN" altLang="en-US" sz="1400" u="none">
              <a:latin typeface="Arial" panose="020B0604020202020204" pitchFamily="34" charset="0"/>
            </a:endParaRPr>
          </a:p>
        </p:txBody>
      </p:sp>
      <p:sp>
        <p:nvSpPr>
          <p:cNvPr id="28" name="Oval 26"/>
          <p:cNvSpPr>
            <a:spLocks noChangeArrowheads="1"/>
          </p:cNvSpPr>
          <p:nvPr/>
        </p:nvSpPr>
        <p:spPr bwMode="auto">
          <a:xfrm>
            <a:off x="5814256" y="2458428"/>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29" name="Line 27"/>
          <p:cNvSpPr>
            <a:spLocks noChangeShapeType="1"/>
          </p:cNvSpPr>
          <p:nvPr/>
        </p:nvSpPr>
        <p:spPr bwMode="auto">
          <a:xfrm>
            <a:off x="5309431" y="3250590"/>
            <a:ext cx="504825"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8"/>
          <p:cNvSpPr>
            <a:spLocks noChangeShapeType="1"/>
          </p:cNvSpPr>
          <p:nvPr/>
        </p:nvSpPr>
        <p:spPr bwMode="auto">
          <a:xfrm>
            <a:off x="5525331" y="2818790"/>
            <a:ext cx="433388"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9"/>
          <p:cNvSpPr>
            <a:spLocks noChangeShapeType="1"/>
          </p:cNvSpPr>
          <p:nvPr/>
        </p:nvSpPr>
        <p:spPr bwMode="auto">
          <a:xfrm>
            <a:off x="6101594" y="2818790"/>
            <a:ext cx="0"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30"/>
          <p:cNvSpPr>
            <a:spLocks noChangeShapeType="1"/>
          </p:cNvSpPr>
          <p:nvPr/>
        </p:nvSpPr>
        <p:spPr bwMode="auto">
          <a:xfrm flipH="1">
            <a:off x="6246056" y="2818790"/>
            <a:ext cx="504825"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1"/>
          <p:cNvSpPr>
            <a:spLocks noChangeShapeType="1"/>
          </p:cNvSpPr>
          <p:nvPr/>
        </p:nvSpPr>
        <p:spPr bwMode="auto">
          <a:xfrm flipH="1">
            <a:off x="6390519" y="3250590"/>
            <a:ext cx="576262"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Oval 32"/>
          <p:cNvSpPr>
            <a:spLocks noChangeArrowheads="1"/>
          </p:cNvSpPr>
          <p:nvPr/>
        </p:nvSpPr>
        <p:spPr bwMode="auto">
          <a:xfrm>
            <a:off x="7000119" y="4187215"/>
            <a:ext cx="7921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任职日期</a:t>
            </a:r>
            <a:endParaRPr lang="zh-CN" altLang="en-US" sz="1400" u="none">
              <a:latin typeface="Arial" panose="020B0604020202020204" pitchFamily="34" charset="0"/>
            </a:endParaRPr>
          </a:p>
        </p:txBody>
      </p:sp>
      <p:sp>
        <p:nvSpPr>
          <p:cNvPr id="35" name="Line 33"/>
          <p:cNvSpPr>
            <a:spLocks noChangeShapeType="1"/>
          </p:cNvSpPr>
          <p:nvPr/>
        </p:nvSpPr>
        <p:spPr bwMode="auto">
          <a:xfrm>
            <a:off x="7398581" y="3971315"/>
            <a:ext cx="0" cy="2159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Oval 34"/>
          <p:cNvSpPr>
            <a:spLocks noChangeArrowheads="1"/>
          </p:cNvSpPr>
          <p:nvPr/>
        </p:nvSpPr>
        <p:spPr bwMode="auto">
          <a:xfrm>
            <a:off x="4445831" y="4441215"/>
            <a:ext cx="8636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聘任日期</a:t>
            </a:r>
            <a:endParaRPr lang="zh-CN" altLang="en-US" sz="1400" u="none">
              <a:latin typeface="Arial" panose="020B0604020202020204" pitchFamily="34" charset="0"/>
            </a:endParaRPr>
          </a:p>
        </p:txBody>
      </p:sp>
      <p:sp>
        <p:nvSpPr>
          <p:cNvPr id="37" name="Line 35"/>
          <p:cNvSpPr>
            <a:spLocks noChangeShapeType="1"/>
          </p:cNvSpPr>
          <p:nvPr/>
        </p:nvSpPr>
        <p:spPr bwMode="auto">
          <a:xfrm flipH="1" flipV="1">
            <a:off x="5309431" y="4617428"/>
            <a:ext cx="360363"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Oval 36"/>
          <p:cNvSpPr>
            <a:spLocks noChangeArrowheads="1"/>
          </p:cNvSpPr>
          <p:nvPr/>
        </p:nvSpPr>
        <p:spPr bwMode="auto">
          <a:xfrm>
            <a:off x="5382456" y="591441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代号</a:t>
            </a:r>
            <a:endParaRPr lang="zh-CN" altLang="en-US" sz="1400">
              <a:latin typeface="Arial" panose="020B0604020202020204" pitchFamily="34" charset="0"/>
            </a:endParaRPr>
          </a:p>
        </p:txBody>
      </p:sp>
      <p:sp>
        <p:nvSpPr>
          <p:cNvPr id="39" name="Oval 37"/>
          <p:cNvSpPr>
            <a:spLocks noChangeArrowheads="1"/>
          </p:cNvSpPr>
          <p:nvPr/>
        </p:nvSpPr>
        <p:spPr bwMode="auto">
          <a:xfrm>
            <a:off x="6246056" y="591441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名称</a:t>
            </a:r>
            <a:endParaRPr lang="zh-CN" altLang="en-US" sz="1400" u="none">
              <a:latin typeface="Arial" panose="020B0604020202020204" pitchFamily="34" charset="0"/>
            </a:endParaRPr>
          </a:p>
        </p:txBody>
      </p:sp>
      <p:sp>
        <p:nvSpPr>
          <p:cNvPr id="40" name="Line 38"/>
          <p:cNvSpPr>
            <a:spLocks noChangeShapeType="1"/>
          </p:cNvSpPr>
          <p:nvPr/>
        </p:nvSpPr>
        <p:spPr bwMode="auto">
          <a:xfrm flipH="1">
            <a:off x="5741231" y="5627078"/>
            <a:ext cx="217488"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39"/>
          <p:cNvSpPr>
            <a:spLocks noChangeShapeType="1"/>
          </p:cNvSpPr>
          <p:nvPr/>
        </p:nvSpPr>
        <p:spPr bwMode="auto">
          <a:xfrm flipH="1" flipV="1">
            <a:off x="6246056" y="5627078"/>
            <a:ext cx="215900"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Oval 40"/>
          <p:cNvSpPr>
            <a:spLocks noChangeArrowheads="1"/>
          </p:cNvSpPr>
          <p:nvPr/>
        </p:nvSpPr>
        <p:spPr bwMode="auto">
          <a:xfrm>
            <a:off x="8046281" y="2674328"/>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代号</a:t>
            </a:r>
            <a:endParaRPr lang="zh-CN" altLang="en-US" sz="1400">
              <a:latin typeface="Arial" panose="020B0604020202020204" pitchFamily="34" charset="0"/>
            </a:endParaRPr>
          </a:p>
        </p:txBody>
      </p:sp>
      <p:sp>
        <p:nvSpPr>
          <p:cNvPr id="43" name="Oval 41"/>
          <p:cNvSpPr>
            <a:spLocks noChangeArrowheads="1"/>
          </p:cNvSpPr>
          <p:nvPr/>
        </p:nvSpPr>
        <p:spPr bwMode="auto">
          <a:xfrm>
            <a:off x="8767006" y="2674328"/>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名称</a:t>
            </a:r>
            <a:endParaRPr lang="zh-CN" altLang="en-US" sz="1400" u="none">
              <a:latin typeface="Arial" panose="020B0604020202020204" pitchFamily="34" charset="0"/>
            </a:endParaRPr>
          </a:p>
        </p:txBody>
      </p:sp>
      <p:sp>
        <p:nvSpPr>
          <p:cNvPr id="44" name="Line 42"/>
          <p:cNvSpPr>
            <a:spLocks noChangeShapeType="1"/>
          </p:cNvSpPr>
          <p:nvPr/>
        </p:nvSpPr>
        <p:spPr bwMode="auto">
          <a:xfrm>
            <a:off x="8333619" y="3034690"/>
            <a:ext cx="217487" cy="503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43"/>
          <p:cNvSpPr>
            <a:spLocks noChangeShapeType="1"/>
          </p:cNvSpPr>
          <p:nvPr/>
        </p:nvSpPr>
        <p:spPr bwMode="auto">
          <a:xfrm flipH="1">
            <a:off x="8838444" y="3034690"/>
            <a:ext cx="217487" cy="503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Oval 44"/>
          <p:cNvSpPr>
            <a:spLocks noChangeArrowheads="1"/>
          </p:cNvSpPr>
          <p:nvPr/>
        </p:nvSpPr>
        <p:spPr bwMode="auto">
          <a:xfrm>
            <a:off x="3221869" y="252986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类型</a:t>
            </a:r>
            <a:endParaRPr lang="zh-CN" altLang="en-US" sz="1400" u="none">
              <a:latin typeface="Arial" panose="020B0604020202020204" pitchFamily="34" charset="0"/>
            </a:endParaRPr>
          </a:p>
        </p:txBody>
      </p:sp>
      <p:sp>
        <p:nvSpPr>
          <p:cNvPr id="47" name="Oval 45"/>
          <p:cNvSpPr>
            <a:spLocks noChangeArrowheads="1"/>
          </p:cNvSpPr>
          <p:nvPr/>
        </p:nvSpPr>
        <p:spPr bwMode="auto">
          <a:xfrm>
            <a:off x="2955169" y="4403115"/>
            <a:ext cx="10795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办公电话</a:t>
            </a:r>
            <a:endParaRPr lang="zh-CN" altLang="en-US" sz="1400" u="none">
              <a:latin typeface="Arial" panose="020B0604020202020204" pitchFamily="34" charset="0"/>
            </a:endParaRPr>
          </a:p>
        </p:txBody>
      </p:sp>
      <p:sp>
        <p:nvSpPr>
          <p:cNvPr id="48" name="Oval 46"/>
          <p:cNvSpPr>
            <a:spLocks noChangeArrowheads="1"/>
          </p:cNvSpPr>
          <p:nvPr/>
        </p:nvSpPr>
        <p:spPr bwMode="auto">
          <a:xfrm>
            <a:off x="2645606" y="2961665"/>
            <a:ext cx="647700" cy="358775"/>
          </a:xfrm>
          <a:prstGeom prst="ellipse">
            <a:avLst/>
          </a:prstGeom>
          <a:solidFill>
            <a:srgbClr val="FFFF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部门号</a:t>
            </a:r>
            <a:endParaRPr lang="zh-CN" altLang="en-US" sz="1400">
              <a:latin typeface="Arial" panose="020B0604020202020204" pitchFamily="34" charset="0"/>
            </a:endParaRPr>
          </a:p>
        </p:txBody>
      </p:sp>
      <p:sp>
        <p:nvSpPr>
          <p:cNvPr id="49" name="Oval 47"/>
          <p:cNvSpPr>
            <a:spLocks noChangeArrowheads="1"/>
          </p:cNvSpPr>
          <p:nvPr/>
        </p:nvSpPr>
        <p:spPr bwMode="auto">
          <a:xfrm>
            <a:off x="3942594" y="296166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名称</a:t>
            </a:r>
            <a:endParaRPr lang="zh-CN" altLang="en-US" sz="1400" u="none">
              <a:latin typeface="Arial" panose="020B0604020202020204" pitchFamily="34" charset="0"/>
            </a:endParaRPr>
          </a:p>
        </p:txBody>
      </p:sp>
      <p:sp>
        <p:nvSpPr>
          <p:cNvPr id="50" name="Line 48"/>
          <p:cNvSpPr>
            <a:spLocks noChangeShapeType="1"/>
          </p:cNvSpPr>
          <p:nvPr/>
        </p:nvSpPr>
        <p:spPr bwMode="auto">
          <a:xfrm flipH="1">
            <a:off x="3725106" y="3250590"/>
            <a:ext cx="288925"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49"/>
          <p:cNvSpPr>
            <a:spLocks noChangeShapeType="1"/>
          </p:cNvSpPr>
          <p:nvPr/>
        </p:nvSpPr>
        <p:spPr bwMode="auto">
          <a:xfrm>
            <a:off x="3509206" y="2890228"/>
            <a:ext cx="0" cy="647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50"/>
          <p:cNvSpPr>
            <a:spLocks noChangeShapeType="1"/>
          </p:cNvSpPr>
          <p:nvPr/>
        </p:nvSpPr>
        <p:spPr bwMode="auto">
          <a:xfrm>
            <a:off x="3077406" y="3322028"/>
            <a:ext cx="215900" cy="2159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51"/>
          <p:cNvSpPr>
            <a:spLocks noChangeShapeType="1"/>
          </p:cNvSpPr>
          <p:nvPr/>
        </p:nvSpPr>
        <p:spPr bwMode="auto">
          <a:xfrm>
            <a:off x="3509206" y="3971315"/>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Oval 52"/>
          <p:cNvSpPr>
            <a:spLocks noChangeArrowheads="1"/>
          </p:cNvSpPr>
          <p:nvPr/>
        </p:nvSpPr>
        <p:spPr bwMode="auto">
          <a:xfrm>
            <a:off x="4661731" y="2961665"/>
            <a:ext cx="8636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教职工号</a:t>
            </a:r>
            <a:endParaRPr lang="zh-CN" altLang="en-US" sz="1400">
              <a:latin typeface="Arial" panose="020B0604020202020204" pitchFamily="34" charset="0"/>
            </a:endParaRPr>
          </a:p>
        </p:txBody>
      </p:sp>
      <p:sp>
        <p:nvSpPr>
          <p:cNvPr id="55" name="AutoShape 53"/>
          <p:cNvSpPr>
            <a:spLocks noChangeArrowheads="1"/>
          </p:cNvSpPr>
          <p:nvPr/>
        </p:nvSpPr>
        <p:spPr bwMode="auto">
          <a:xfrm rot="19654047">
            <a:off x="5166556" y="5482615"/>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6" name="AutoShape 54"/>
          <p:cNvSpPr>
            <a:spLocks noChangeArrowheads="1"/>
          </p:cNvSpPr>
          <p:nvPr/>
        </p:nvSpPr>
        <p:spPr bwMode="auto">
          <a:xfrm rot="19654047">
            <a:off x="8190744" y="4187215"/>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7" name="AutoShape 55"/>
          <p:cNvSpPr>
            <a:spLocks noChangeArrowheads="1"/>
          </p:cNvSpPr>
          <p:nvPr/>
        </p:nvSpPr>
        <p:spPr bwMode="auto">
          <a:xfrm rot="19654047">
            <a:off x="2645606" y="3971315"/>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sz="2400" b="0" dirty="0"/>
          </a:p>
          <a:p>
            <a:pPr lvl="1"/>
            <a:r>
              <a:rPr lang="zh-CN" altLang="en-US" dirty="0"/>
              <a:t>其他三个子模块的局部</a:t>
            </a:r>
            <a:r>
              <a:rPr lang="en-US" altLang="zh-CN" dirty="0"/>
              <a:t>E-R</a:t>
            </a:r>
            <a:r>
              <a:rPr lang="zh-CN" altLang="en-US" dirty="0"/>
              <a:t>模型的设计基本类似。</a:t>
            </a:r>
            <a:endParaRPr lang="zh-CN" altLang="en-US" dirty="0"/>
          </a:p>
          <a:p>
            <a:pPr lvl="2"/>
            <a:r>
              <a:rPr lang="zh-CN" altLang="en-US" sz="2200" dirty="0"/>
              <a:t>学生管理的局部</a:t>
            </a:r>
            <a:r>
              <a:rPr lang="en-US" altLang="zh-CN" sz="2200" dirty="0"/>
              <a:t>E-R</a:t>
            </a:r>
            <a:r>
              <a:rPr lang="zh-CN" altLang="en-US" sz="2200" dirty="0"/>
              <a:t>模型</a:t>
            </a:r>
            <a:endParaRPr lang="zh-CN" altLang="en-US" sz="220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4046972" y="4312454"/>
            <a:ext cx="865187"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班级</a:t>
            </a:r>
            <a:endParaRPr lang="zh-CN" altLang="en-US" sz="1800" u="none">
              <a:latin typeface="Arial" panose="020B0604020202020204" pitchFamily="34" charset="0"/>
            </a:endParaRPr>
          </a:p>
        </p:txBody>
      </p:sp>
      <p:sp>
        <p:nvSpPr>
          <p:cNvPr id="7" name="Rectangle 5"/>
          <p:cNvSpPr>
            <a:spLocks noChangeArrowheads="1"/>
          </p:cNvSpPr>
          <p:nvPr/>
        </p:nvSpPr>
        <p:spPr bwMode="auto">
          <a:xfrm>
            <a:off x="6639359" y="4312454"/>
            <a:ext cx="865188"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学生</a:t>
            </a:r>
            <a:endParaRPr lang="zh-CN" altLang="en-US" sz="1800" u="none">
              <a:latin typeface="Arial" panose="020B0604020202020204" pitchFamily="34" charset="0"/>
            </a:endParaRPr>
          </a:p>
        </p:txBody>
      </p:sp>
      <p:sp>
        <p:nvSpPr>
          <p:cNvPr id="8" name="AutoShape 6"/>
          <p:cNvSpPr>
            <a:spLocks noChangeArrowheads="1"/>
          </p:cNvSpPr>
          <p:nvPr/>
        </p:nvSpPr>
        <p:spPr bwMode="auto">
          <a:xfrm>
            <a:off x="5343959" y="4312454"/>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具有</a:t>
            </a:r>
            <a:endParaRPr lang="zh-CN" altLang="en-US" sz="1400" u="none">
              <a:latin typeface="Arial" panose="020B0604020202020204" pitchFamily="34" charset="0"/>
            </a:endParaRPr>
          </a:p>
        </p:txBody>
      </p:sp>
      <p:sp>
        <p:nvSpPr>
          <p:cNvPr id="9" name="Line 7"/>
          <p:cNvSpPr>
            <a:spLocks noChangeShapeType="1"/>
          </p:cNvSpPr>
          <p:nvPr/>
        </p:nvSpPr>
        <p:spPr bwMode="auto">
          <a:xfrm>
            <a:off x="4912159" y="4528354"/>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8"/>
          <p:cNvSpPr>
            <a:spLocks noChangeShapeType="1"/>
          </p:cNvSpPr>
          <p:nvPr/>
        </p:nvSpPr>
        <p:spPr bwMode="auto">
          <a:xfrm>
            <a:off x="6207559" y="4528354"/>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9"/>
          <p:cNvSpPr txBox="1">
            <a:spLocks noChangeArrowheads="1"/>
          </p:cNvSpPr>
          <p:nvPr/>
        </p:nvSpPr>
        <p:spPr bwMode="auto">
          <a:xfrm>
            <a:off x="6278997" y="4167991"/>
            <a:ext cx="2873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2" name="Text Box 10"/>
          <p:cNvSpPr txBox="1">
            <a:spLocks noChangeArrowheads="1"/>
          </p:cNvSpPr>
          <p:nvPr/>
        </p:nvSpPr>
        <p:spPr bwMode="auto">
          <a:xfrm>
            <a:off x="4983597" y="4167991"/>
            <a:ext cx="2873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3" name="Oval 11"/>
          <p:cNvSpPr>
            <a:spLocks noChangeArrowheads="1"/>
          </p:cNvSpPr>
          <p:nvPr/>
        </p:nvSpPr>
        <p:spPr bwMode="auto">
          <a:xfrm>
            <a:off x="5775759" y="3736191"/>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学号</a:t>
            </a:r>
            <a:endParaRPr lang="zh-CN" altLang="en-US" sz="1400">
              <a:latin typeface="Arial" panose="020B0604020202020204" pitchFamily="34" charset="0"/>
            </a:endParaRPr>
          </a:p>
        </p:txBody>
      </p:sp>
      <p:sp>
        <p:nvSpPr>
          <p:cNvPr id="14" name="Oval 12"/>
          <p:cNvSpPr>
            <a:spLocks noChangeArrowheads="1"/>
          </p:cNvSpPr>
          <p:nvPr/>
        </p:nvSpPr>
        <p:spPr bwMode="auto">
          <a:xfrm>
            <a:off x="6063097" y="3232954"/>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15" name="Oval 13"/>
          <p:cNvSpPr>
            <a:spLocks noChangeArrowheads="1"/>
          </p:cNvSpPr>
          <p:nvPr/>
        </p:nvSpPr>
        <p:spPr bwMode="auto">
          <a:xfrm>
            <a:off x="7502959" y="3232954"/>
            <a:ext cx="7921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出生日期</a:t>
            </a:r>
            <a:endParaRPr lang="zh-CN" altLang="en-US" sz="1400" u="none">
              <a:latin typeface="Arial" panose="020B0604020202020204" pitchFamily="34" charset="0"/>
            </a:endParaRPr>
          </a:p>
        </p:txBody>
      </p:sp>
      <p:sp>
        <p:nvSpPr>
          <p:cNvPr id="16" name="Oval 14"/>
          <p:cNvSpPr>
            <a:spLocks noChangeArrowheads="1"/>
          </p:cNvSpPr>
          <p:nvPr/>
        </p:nvSpPr>
        <p:spPr bwMode="auto">
          <a:xfrm>
            <a:off x="7863322" y="3736191"/>
            <a:ext cx="865187"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 </a:t>
            </a:r>
            <a:r>
              <a:rPr lang="zh-CN" altLang="en-US" sz="1400" u="none">
                <a:latin typeface="Arial" panose="020B0604020202020204" pitchFamily="34" charset="0"/>
              </a:rPr>
              <a:t>入学日期</a:t>
            </a:r>
            <a:endParaRPr lang="zh-CN" altLang="en-US" sz="1400" u="none">
              <a:latin typeface="Arial" panose="020B0604020202020204" pitchFamily="34" charset="0"/>
            </a:endParaRPr>
          </a:p>
        </p:txBody>
      </p:sp>
      <p:sp>
        <p:nvSpPr>
          <p:cNvPr id="17" name="Oval 15"/>
          <p:cNvSpPr>
            <a:spLocks noChangeArrowheads="1"/>
          </p:cNvSpPr>
          <p:nvPr/>
        </p:nvSpPr>
        <p:spPr bwMode="auto">
          <a:xfrm>
            <a:off x="6783822" y="3232954"/>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18" name="Line 16"/>
          <p:cNvSpPr>
            <a:spLocks noChangeShapeType="1"/>
          </p:cNvSpPr>
          <p:nvPr/>
        </p:nvSpPr>
        <p:spPr bwMode="auto">
          <a:xfrm>
            <a:off x="6278997" y="4025116"/>
            <a:ext cx="504825"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7"/>
          <p:cNvSpPr>
            <a:spLocks noChangeShapeType="1"/>
          </p:cNvSpPr>
          <p:nvPr/>
        </p:nvSpPr>
        <p:spPr bwMode="auto">
          <a:xfrm>
            <a:off x="6494897" y="3593316"/>
            <a:ext cx="433387"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8"/>
          <p:cNvSpPr>
            <a:spLocks noChangeShapeType="1"/>
          </p:cNvSpPr>
          <p:nvPr/>
        </p:nvSpPr>
        <p:spPr bwMode="auto">
          <a:xfrm>
            <a:off x="7071159" y="3593316"/>
            <a:ext cx="0"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9"/>
          <p:cNvSpPr>
            <a:spLocks noChangeShapeType="1"/>
          </p:cNvSpPr>
          <p:nvPr/>
        </p:nvSpPr>
        <p:spPr bwMode="auto">
          <a:xfrm flipH="1">
            <a:off x="7215622" y="3593316"/>
            <a:ext cx="504825"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0"/>
          <p:cNvSpPr>
            <a:spLocks noChangeShapeType="1"/>
          </p:cNvSpPr>
          <p:nvPr/>
        </p:nvSpPr>
        <p:spPr bwMode="auto">
          <a:xfrm flipH="1">
            <a:off x="7360084" y="4025116"/>
            <a:ext cx="576263"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Oval 21"/>
          <p:cNvSpPr>
            <a:spLocks noChangeArrowheads="1"/>
          </p:cNvSpPr>
          <p:nvPr/>
        </p:nvSpPr>
        <p:spPr bwMode="auto">
          <a:xfrm>
            <a:off x="4191434" y="3448854"/>
            <a:ext cx="6477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班级名</a:t>
            </a:r>
            <a:endParaRPr lang="zh-CN" altLang="en-US" sz="1400" u="none">
              <a:latin typeface="Arial" panose="020B0604020202020204" pitchFamily="34" charset="0"/>
            </a:endParaRPr>
          </a:p>
        </p:txBody>
      </p:sp>
      <p:sp>
        <p:nvSpPr>
          <p:cNvPr id="24" name="Oval 22"/>
          <p:cNvSpPr>
            <a:spLocks noChangeArrowheads="1"/>
          </p:cNvSpPr>
          <p:nvPr/>
        </p:nvSpPr>
        <p:spPr bwMode="auto">
          <a:xfrm>
            <a:off x="3615172" y="3736191"/>
            <a:ext cx="6477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班级号</a:t>
            </a:r>
            <a:endParaRPr lang="zh-CN" altLang="en-US" sz="1400">
              <a:latin typeface="Arial" panose="020B0604020202020204" pitchFamily="34" charset="0"/>
            </a:endParaRPr>
          </a:p>
        </p:txBody>
      </p:sp>
      <p:sp>
        <p:nvSpPr>
          <p:cNvPr id="25" name="Line 23"/>
          <p:cNvSpPr>
            <a:spLocks noChangeShapeType="1"/>
          </p:cNvSpPr>
          <p:nvPr/>
        </p:nvSpPr>
        <p:spPr bwMode="auto">
          <a:xfrm flipH="1">
            <a:off x="4694672" y="4025116"/>
            <a:ext cx="288925"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4"/>
          <p:cNvSpPr>
            <a:spLocks noChangeShapeType="1"/>
          </p:cNvSpPr>
          <p:nvPr/>
        </p:nvSpPr>
        <p:spPr bwMode="auto">
          <a:xfrm>
            <a:off x="4500997" y="3809216"/>
            <a:ext cx="0" cy="503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5"/>
          <p:cNvSpPr>
            <a:spLocks noChangeShapeType="1"/>
          </p:cNvSpPr>
          <p:nvPr/>
        </p:nvSpPr>
        <p:spPr bwMode="auto">
          <a:xfrm>
            <a:off x="4046972" y="4096554"/>
            <a:ext cx="215900" cy="2159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Oval 26"/>
          <p:cNvSpPr>
            <a:spLocks noChangeArrowheads="1"/>
          </p:cNvSpPr>
          <p:nvPr/>
        </p:nvSpPr>
        <p:spPr bwMode="auto">
          <a:xfrm>
            <a:off x="7936347" y="4312454"/>
            <a:ext cx="865187"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 </a:t>
            </a:r>
            <a:r>
              <a:rPr lang="zh-CN" altLang="en-US" sz="1400" u="none">
                <a:latin typeface="Arial" panose="020B0604020202020204" pitchFamily="34" charset="0"/>
              </a:rPr>
              <a:t>家庭住址</a:t>
            </a:r>
            <a:endParaRPr lang="zh-CN" altLang="en-US" sz="1400" u="none">
              <a:latin typeface="Arial" panose="020B0604020202020204" pitchFamily="34" charset="0"/>
            </a:endParaRPr>
          </a:p>
        </p:txBody>
      </p:sp>
      <p:sp>
        <p:nvSpPr>
          <p:cNvPr id="29" name="Line 27"/>
          <p:cNvSpPr>
            <a:spLocks noChangeShapeType="1"/>
          </p:cNvSpPr>
          <p:nvPr/>
        </p:nvSpPr>
        <p:spPr bwMode="auto">
          <a:xfrm flipH="1" flipV="1">
            <a:off x="7502959" y="4526766"/>
            <a:ext cx="433388"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Oval 28"/>
          <p:cNvSpPr>
            <a:spLocks noChangeArrowheads="1"/>
          </p:cNvSpPr>
          <p:nvPr/>
        </p:nvSpPr>
        <p:spPr bwMode="auto">
          <a:xfrm>
            <a:off x="4834372" y="3736191"/>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系</a:t>
            </a:r>
            <a:endParaRPr lang="zh-CN" altLang="en-US" sz="1400" u="none">
              <a:latin typeface="Arial" panose="020B0604020202020204" pitchFamily="34" charset="0"/>
            </a:endParaRPr>
          </a:p>
        </p:txBody>
      </p:sp>
      <p:sp>
        <p:nvSpPr>
          <p:cNvPr id="31" name="Oval 29"/>
          <p:cNvSpPr>
            <a:spLocks noChangeArrowheads="1"/>
          </p:cNvSpPr>
          <p:nvPr/>
        </p:nvSpPr>
        <p:spPr bwMode="auto">
          <a:xfrm>
            <a:off x="3110347" y="4334679"/>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班长</a:t>
            </a:r>
            <a:endParaRPr lang="zh-CN" altLang="en-US" sz="1400" u="none">
              <a:latin typeface="Arial" panose="020B0604020202020204" pitchFamily="34" charset="0"/>
            </a:endParaRPr>
          </a:p>
        </p:txBody>
      </p:sp>
      <p:sp>
        <p:nvSpPr>
          <p:cNvPr id="32" name="Line 30"/>
          <p:cNvSpPr>
            <a:spLocks noChangeShapeType="1"/>
          </p:cNvSpPr>
          <p:nvPr/>
        </p:nvSpPr>
        <p:spPr bwMode="auto">
          <a:xfrm flipH="1">
            <a:off x="3686609" y="4528354"/>
            <a:ext cx="3603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AutoShape 31"/>
          <p:cNvSpPr>
            <a:spLocks noChangeArrowheads="1"/>
          </p:cNvSpPr>
          <p:nvPr/>
        </p:nvSpPr>
        <p:spPr bwMode="auto">
          <a:xfrm rot="19654047">
            <a:off x="3615172" y="4960154"/>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dirty="0"/>
          </a:p>
          <a:p>
            <a:pPr lvl="1">
              <a:lnSpc>
                <a:spcPct val="150000"/>
              </a:lnSpc>
            </a:pPr>
            <a:r>
              <a:rPr lang="zh-CN" altLang="en-US" b="0" dirty="0"/>
              <a:t>教学管理的局部</a:t>
            </a:r>
            <a:r>
              <a:rPr lang="en-GB" altLang="zh-CN" b="0" dirty="0"/>
              <a:t>E-R</a:t>
            </a:r>
            <a:r>
              <a:rPr lang="zh-CN" altLang="en-US" b="0" dirty="0"/>
              <a:t>模型</a:t>
            </a:r>
            <a:endParaRPr lang="zh-CN" altLang="en-US" b="0" dirty="0"/>
          </a:p>
          <a:p>
            <a:pPr marL="457200" lvl="1" indent="0">
              <a:lnSpc>
                <a:spcPct val="150000"/>
              </a:lnSpc>
              <a:buNone/>
            </a:pPr>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3161721" y="3621088"/>
            <a:ext cx="865188"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教师</a:t>
            </a:r>
            <a:endParaRPr lang="zh-CN" altLang="en-US" sz="1800" u="none">
              <a:latin typeface="Arial" panose="020B0604020202020204" pitchFamily="34" charset="0"/>
            </a:endParaRPr>
          </a:p>
        </p:txBody>
      </p:sp>
      <p:sp>
        <p:nvSpPr>
          <p:cNvPr id="7" name="Rectangle 5"/>
          <p:cNvSpPr>
            <a:spLocks noChangeArrowheads="1"/>
          </p:cNvSpPr>
          <p:nvPr/>
        </p:nvSpPr>
        <p:spPr bwMode="auto">
          <a:xfrm>
            <a:off x="5754109" y="3621088"/>
            <a:ext cx="865187"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课程</a:t>
            </a:r>
            <a:endParaRPr lang="zh-CN" altLang="en-US" sz="1800" u="none">
              <a:latin typeface="Arial" panose="020B0604020202020204" pitchFamily="34" charset="0"/>
            </a:endParaRPr>
          </a:p>
        </p:txBody>
      </p:sp>
      <p:sp>
        <p:nvSpPr>
          <p:cNvPr id="8" name="Rectangle 6"/>
          <p:cNvSpPr>
            <a:spLocks noChangeArrowheads="1"/>
          </p:cNvSpPr>
          <p:nvPr/>
        </p:nvSpPr>
        <p:spPr bwMode="auto">
          <a:xfrm>
            <a:off x="8346496" y="3621088"/>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教室</a:t>
            </a:r>
            <a:endParaRPr lang="zh-CN" altLang="en-US" sz="1800" u="none">
              <a:latin typeface="Arial" panose="020B0604020202020204" pitchFamily="34" charset="0"/>
            </a:endParaRPr>
          </a:p>
        </p:txBody>
      </p:sp>
      <p:sp>
        <p:nvSpPr>
          <p:cNvPr id="9" name="AutoShape 7"/>
          <p:cNvSpPr>
            <a:spLocks noChangeArrowheads="1"/>
          </p:cNvSpPr>
          <p:nvPr/>
        </p:nvSpPr>
        <p:spPr bwMode="auto">
          <a:xfrm>
            <a:off x="4458709" y="3621088"/>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讲授</a:t>
            </a:r>
            <a:endParaRPr lang="zh-CN" altLang="en-US" sz="1400" u="none">
              <a:latin typeface="Arial" panose="020B0604020202020204" pitchFamily="34" charset="0"/>
            </a:endParaRPr>
          </a:p>
        </p:txBody>
      </p:sp>
      <p:sp>
        <p:nvSpPr>
          <p:cNvPr id="10" name="Line 8"/>
          <p:cNvSpPr>
            <a:spLocks noChangeShapeType="1"/>
          </p:cNvSpPr>
          <p:nvPr/>
        </p:nvSpPr>
        <p:spPr bwMode="auto">
          <a:xfrm>
            <a:off x="4026909" y="383698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a:off x="6619296" y="383698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AutoShape 10"/>
          <p:cNvSpPr>
            <a:spLocks noChangeArrowheads="1"/>
          </p:cNvSpPr>
          <p:nvPr/>
        </p:nvSpPr>
        <p:spPr bwMode="auto">
          <a:xfrm>
            <a:off x="7051096" y="3621088"/>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使用</a:t>
            </a:r>
            <a:endParaRPr lang="zh-CN" altLang="en-US" sz="1400" u="none">
              <a:latin typeface="Arial" panose="020B0604020202020204" pitchFamily="34" charset="0"/>
            </a:endParaRPr>
          </a:p>
        </p:txBody>
      </p:sp>
      <p:sp>
        <p:nvSpPr>
          <p:cNvPr id="13" name="Line 11"/>
          <p:cNvSpPr>
            <a:spLocks noChangeShapeType="1"/>
          </p:cNvSpPr>
          <p:nvPr/>
        </p:nvSpPr>
        <p:spPr bwMode="auto">
          <a:xfrm>
            <a:off x="5322309" y="3836988"/>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p:cNvSpPr>
            <a:spLocks noChangeShapeType="1"/>
          </p:cNvSpPr>
          <p:nvPr/>
        </p:nvSpPr>
        <p:spPr bwMode="auto">
          <a:xfrm>
            <a:off x="7914696" y="3836988"/>
            <a:ext cx="431800"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Text Box 13"/>
          <p:cNvSpPr txBox="1">
            <a:spLocks noChangeArrowheads="1"/>
          </p:cNvSpPr>
          <p:nvPr/>
        </p:nvSpPr>
        <p:spPr bwMode="auto">
          <a:xfrm>
            <a:off x="5393746" y="347662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6" name="Text Box 14"/>
          <p:cNvSpPr txBox="1">
            <a:spLocks noChangeArrowheads="1"/>
          </p:cNvSpPr>
          <p:nvPr/>
        </p:nvSpPr>
        <p:spPr bwMode="auto">
          <a:xfrm>
            <a:off x="4026909" y="3478213"/>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m</a:t>
            </a:r>
            <a:endParaRPr lang="en-US" altLang="zh-CN" sz="1800" u="none">
              <a:latin typeface="Arial" panose="020B0604020202020204" pitchFamily="34" charset="0"/>
            </a:endParaRPr>
          </a:p>
        </p:txBody>
      </p:sp>
      <p:sp>
        <p:nvSpPr>
          <p:cNvPr id="17" name="Text Box 15"/>
          <p:cNvSpPr txBox="1">
            <a:spLocks noChangeArrowheads="1"/>
          </p:cNvSpPr>
          <p:nvPr/>
        </p:nvSpPr>
        <p:spPr bwMode="auto">
          <a:xfrm>
            <a:off x="6690734" y="3478213"/>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8" name="Text Box 16"/>
          <p:cNvSpPr txBox="1">
            <a:spLocks noChangeArrowheads="1"/>
          </p:cNvSpPr>
          <p:nvPr/>
        </p:nvSpPr>
        <p:spPr bwMode="auto">
          <a:xfrm>
            <a:off x="8059159" y="3478213"/>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19" name="Rectangle 17"/>
          <p:cNvSpPr>
            <a:spLocks noChangeArrowheads="1"/>
          </p:cNvSpPr>
          <p:nvPr/>
        </p:nvSpPr>
        <p:spPr bwMode="auto">
          <a:xfrm>
            <a:off x="5754109" y="5278438"/>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学生</a:t>
            </a:r>
            <a:endParaRPr lang="zh-CN" altLang="en-US" sz="1800" u="none">
              <a:latin typeface="Arial" panose="020B0604020202020204" pitchFamily="34" charset="0"/>
            </a:endParaRPr>
          </a:p>
        </p:txBody>
      </p:sp>
      <p:sp>
        <p:nvSpPr>
          <p:cNvPr id="20" name="AutoShape 18"/>
          <p:cNvSpPr>
            <a:spLocks noChangeArrowheads="1"/>
          </p:cNvSpPr>
          <p:nvPr/>
        </p:nvSpPr>
        <p:spPr bwMode="auto">
          <a:xfrm>
            <a:off x="5754109" y="4486275"/>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选修</a:t>
            </a:r>
            <a:endParaRPr lang="zh-CN" altLang="en-US" sz="1400" u="none">
              <a:latin typeface="Arial" panose="020B0604020202020204" pitchFamily="34" charset="0"/>
            </a:endParaRPr>
          </a:p>
        </p:txBody>
      </p:sp>
      <p:sp>
        <p:nvSpPr>
          <p:cNvPr id="21" name="Text Box 19"/>
          <p:cNvSpPr txBox="1">
            <a:spLocks noChangeArrowheads="1"/>
          </p:cNvSpPr>
          <p:nvPr/>
        </p:nvSpPr>
        <p:spPr bwMode="auto">
          <a:xfrm>
            <a:off x="5898571" y="4918075"/>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22" name="Line 20"/>
          <p:cNvSpPr>
            <a:spLocks noChangeShapeType="1"/>
          </p:cNvSpPr>
          <p:nvPr/>
        </p:nvSpPr>
        <p:spPr bwMode="auto">
          <a:xfrm>
            <a:off x="6185909" y="4918075"/>
            <a:ext cx="0" cy="360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1"/>
          <p:cNvSpPr>
            <a:spLocks noChangeShapeType="1"/>
          </p:cNvSpPr>
          <p:nvPr/>
        </p:nvSpPr>
        <p:spPr bwMode="auto">
          <a:xfrm flipV="1">
            <a:off x="6185909" y="4054475"/>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2"/>
          <p:cNvSpPr txBox="1">
            <a:spLocks noChangeArrowheads="1"/>
          </p:cNvSpPr>
          <p:nvPr/>
        </p:nvSpPr>
        <p:spPr bwMode="auto">
          <a:xfrm>
            <a:off x="5825546" y="4054475"/>
            <a:ext cx="3603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m</a:t>
            </a:r>
            <a:endParaRPr lang="en-US" altLang="zh-CN" sz="1800" u="none">
              <a:latin typeface="Arial" panose="020B0604020202020204" pitchFamily="34" charset="0"/>
            </a:endParaRPr>
          </a:p>
        </p:txBody>
      </p:sp>
      <p:sp>
        <p:nvSpPr>
          <p:cNvPr id="25" name="Oval 23"/>
          <p:cNvSpPr>
            <a:spLocks noChangeArrowheads="1"/>
          </p:cNvSpPr>
          <p:nvPr/>
        </p:nvSpPr>
        <p:spPr bwMode="auto">
          <a:xfrm>
            <a:off x="5034971" y="2973388"/>
            <a:ext cx="719138"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课程号</a:t>
            </a:r>
            <a:endParaRPr lang="zh-CN" altLang="en-US" sz="1400">
              <a:latin typeface="Arial" panose="020B0604020202020204" pitchFamily="34" charset="0"/>
            </a:endParaRPr>
          </a:p>
        </p:txBody>
      </p:sp>
      <p:sp>
        <p:nvSpPr>
          <p:cNvPr id="26" name="Oval 24"/>
          <p:cNvSpPr>
            <a:spLocks noChangeArrowheads="1"/>
          </p:cNvSpPr>
          <p:nvPr/>
        </p:nvSpPr>
        <p:spPr bwMode="auto">
          <a:xfrm>
            <a:off x="5609646" y="261302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名称</a:t>
            </a:r>
            <a:endParaRPr lang="zh-CN" altLang="en-US" sz="1400" u="none">
              <a:latin typeface="Arial" panose="020B0604020202020204" pitchFamily="34" charset="0"/>
            </a:endParaRPr>
          </a:p>
        </p:txBody>
      </p:sp>
      <p:sp>
        <p:nvSpPr>
          <p:cNvPr id="27" name="Oval 25"/>
          <p:cNvSpPr>
            <a:spLocks noChangeArrowheads="1"/>
          </p:cNvSpPr>
          <p:nvPr/>
        </p:nvSpPr>
        <p:spPr bwMode="auto">
          <a:xfrm>
            <a:off x="6258934" y="261302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学时</a:t>
            </a:r>
            <a:endParaRPr lang="zh-CN" altLang="en-US" sz="1400" u="none">
              <a:latin typeface="Arial" panose="020B0604020202020204" pitchFamily="34" charset="0"/>
            </a:endParaRPr>
          </a:p>
        </p:txBody>
      </p:sp>
      <p:sp>
        <p:nvSpPr>
          <p:cNvPr id="28" name="Line 26"/>
          <p:cNvSpPr>
            <a:spLocks noChangeShapeType="1"/>
          </p:cNvSpPr>
          <p:nvPr/>
        </p:nvSpPr>
        <p:spPr bwMode="auto">
          <a:xfrm>
            <a:off x="5466771" y="3333750"/>
            <a:ext cx="431800"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7"/>
          <p:cNvSpPr>
            <a:spLocks noChangeShapeType="1"/>
          </p:cNvSpPr>
          <p:nvPr/>
        </p:nvSpPr>
        <p:spPr bwMode="auto">
          <a:xfrm>
            <a:off x="5898571" y="2973388"/>
            <a:ext cx="144463" cy="647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8"/>
          <p:cNvSpPr>
            <a:spLocks noChangeShapeType="1"/>
          </p:cNvSpPr>
          <p:nvPr/>
        </p:nvSpPr>
        <p:spPr bwMode="auto">
          <a:xfrm flipH="1">
            <a:off x="6330371" y="2973388"/>
            <a:ext cx="215900" cy="647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9"/>
          <p:cNvSpPr>
            <a:spLocks noChangeShapeType="1"/>
          </p:cNvSpPr>
          <p:nvPr/>
        </p:nvSpPr>
        <p:spPr bwMode="auto">
          <a:xfrm flipH="1">
            <a:off x="6474834" y="3262313"/>
            <a:ext cx="4318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Oval 30"/>
          <p:cNvSpPr>
            <a:spLocks noChangeArrowheads="1"/>
          </p:cNvSpPr>
          <p:nvPr/>
        </p:nvSpPr>
        <p:spPr bwMode="auto">
          <a:xfrm>
            <a:off x="7084434" y="4270375"/>
            <a:ext cx="7921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使用时间</a:t>
            </a:r>
            <a:endParaRPr lang="zh-CN" altLang="en-US" sz="1400" u="none">
              <a:latin typeface="Arial" panose="020B0604020202020204" pitchFamily="34" charset="0"/>
            </a:endParaRPr>
          </a:p>
        </p:txBody>
      </p:sp>
      <p:sp>
        <p:nvSpPr>
          <p:cNvPr id="33" name="Line 31"/>
          <p:cNvSpPr>
            <a:spLocks noChangeShapeType="1"/>
          </p:cNvSpPr>
          <p:nvPr/>
        </p:nvSpPr>
        <p:spPr bwMode="auto">
          <a:xfrm>
            <a:off x="7482896" y="4054475"/>
            <a:ext cx="0" cy="2159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Oval 32"/>
          <p:cNvSpPr>
            <a:spLocks noChangeArrowheads="1"/>
          </p:cNvSpPr>
          <p:nvPr/>
        </p:nvSpPr>
        <p:spPr bwMode="auto">
          <a:xfrm>
            <a:off x="4746046" y="4524375"/>
            <a:ext cx="6477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成绩</a:t>
            </a:r>
            <a:endParaRPr lang="zh-CN" altLang="en-US" sz="1400" u="none">
              <a:latin typeface="Arial" panose="020B0604020202020204" pitchFamily="34" charset="0"/>
            </a:endParaRPr>
          </a:p>
        </p:txBody>
      </p:sp>
      <p:sp>
        <p:nvSpPr>
          <p:cNvPr id="35" name="Line 33"/>
          <p:cNvSpPr>
            <a:spLocks noChangeShapeType="1"/>
          </p:cNvSpPr>
          <p:nvPr/>
        </p:nvSpPr>
        <p:spPr bwMode="auto">
          <a:xfrm flipH="1" flipV="1">
            <a:off x="5393746" y="4700588"/>
            <a:ext cx="360363"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Oval 34"/>
          <p:cNvSpPr>
            <a:spLocks noChangeArrowheads="1"/>
          </p:cNvSpPr>
          <p:nvPr/>
        </p:nvSpPr>
        <p:spPr bwMode="auto">
          <a:xfrm>
            <a:off x="4746046" y="556577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学号</a:t>
            </a:r>
            <a:endParaRPr lang="zh-CN" altLang="en-US" sz="1400">
              <a:latin typeface="Arial" panose="020B0604020202020204" pitchFamily="34" charset="0"/>
            </a:endParaRPr>
          </a:p>
        </p:txBody>
      </p:sp>
      <p:sp>
        <p:nvSpPr>
          <p:cNvPr id="37" name="Oval 35"/>
          <p:cNvSpPr>
            <a:spLocks noChangeArrowheads="1"/>
          </p:cNvSpPr>
          <p:nvPr/>
        </p:nvSpPr>
        <p:spPr bwMode="auto">
          <a:xfrm>
            <a:off x="6546271" y="5997575"/>
            <a:ext cx="7921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出生日期</a:t>
            </a:r>
            <a:endParaRPr lang="zh-CN" altLang="en-US" sz="1400" u="none">
              <a:latin typeface="Arial" panose="020B0604020202020204" pitchFamily="34" charset="0"/>
            </a:endParaRPr>
          </a:p>
        </p:txBody>
      </p:sp>
      <p:sp>
        <p:nvSpPr>
          <p:cNvPr id="38" name="Line 36"/>
          <p:cNvSpPr>
            <a:spLocks noChangeShapeType="1"/>
          </p:cNvSpPr>
          <p:nvPr/>
        </p:nvSpPr>
        <p:spPr bwMode="auto">
          <a:xfrm flipH="1">
            <a:off x="5322309" y="5565775"/>
            <a:ext cx="431800" cy="1444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7"/>
          <p:cNvSpPr>
            <a:spLocks noChangeShapeType="1"/>
          </p:cNvSpPr>
          <p:nvPr/>
        </p:nvSpPr>
        <p:spPr bwMode="auto">
          <a:xfrm flipH="1" flipV="1">
            <a:off x="6474834" y="5710238"/>
            <a:ext cx="215900"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Oval 38"/>
          <p:cNvSpPr>
            <a:spLocks noChangeArrowheads="1"/>
          </p:cNvSpPr>
          <p:nvPr/>
        </p:nvSpPr>
        <p:spPr bwMode="auto">
          <a:xfrm>
            <a:off x="7554334" y="2901950"/>
            <a:ext cx="7921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教室号</a:t>
            </a:r>
            <a:endParaRPr lang="zh-CN" altLang="en-US" sz="1400">
              <a:latin typeface="Arial" panose="020B0604020202020204" pitchFamily="34" charset="0"/>
            </a:endParaRPr>
          </a:p>
        </p:txBody>
      </p:sp>
      <p:sp>
        <p:nvSpPr>
          <p:cNvPr id="41" name="Line 39"/>
          <p:cNvSpPr>
            <a:spLocks noChangeShapeType="1"/>
          </p:cNvSpPr>
          <p:nvPr/>
        </p:nvSpPr>
        <p:spPr bwMode="auto">
          <a:xfrm>
            <a:off x="8202034" y="3262313"/>
            <a:ext cx="433387"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Oval 40"/>
          <p:cNvSpPr>
            <a:spLocks noChangeArrowheads="1"/>
          </p:cNvSpPr>
          <p:nvPr/>
        </p:nvSpPr>
        <p:spPr bwMode="auto">
          <a:xfrm>
            <a:off x="6690734" y="2973388"/>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学分</a:t>
            </a:r>
            <a:endParaRPr lang="zh-CN" altLang="en-US" sz="1400" u="none">
              <a:latin typeface="Arial" panose="020B0604020202020204" pitchFamily="34" charset="0"/>
            </a:endParaRPr>
          </a:p>
        </p:txBody>
      </p:sp>
      <p:sp>
        <p:nvSpPr>
          <p:cNvPr id="43" name="Oval 41"/>
          <p:cNvSpPr>
            <a:spLocks noChangeArrowheads="1"/>
          </p:cNvSpPr>
          <p:nvPr/>
        </p:nvSpPr>
        <p:spPr bwMode="auto">
          <a:xfrm>
            <a:off x="5177846" y="599757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44" name="Line 42"/>
          <p:cNvSpPr>
            <a:spLocks noChangeShapeType="1"/>
          </p:cNvSpPr>
          <p:nvPr/>
        </p:nvSpPr>
        <p:spPr bwMode="auto">
          <a:xfrm flipH="1">
            <a:off x="5609646" y="5710238"/>
            <a:ext cx="288925"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43"/>
          <p:cNvSpPr>
            <a:spLocks noChangeArrowheads="1"/>
          </p:cNvSpPr>
          <p:nvPr/>
        </p:nvSpPr>
        <p:spPr bwMode="auto">
          <a:xfrm>
            <a:off x="5892221" y="6070600"/>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46" name="Line 44"/>
          <p:cNvSpPr>
            <a:spLocks noChangeShapeType="1"/>
          </p:cNvSpPr>
          <p:nvPr/>
        </p:nvSpPr>
        <p:spPr bwMode="auto">
          <a:xfrm flipH="1">
            <a:off x="6185909" y="5710238"/>
            <a:ext cx="0" cy="360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45"/>
          <p:cNvSpPr>
            <a:spLocks noChangeArrowheads="1"/>
          </p:cNvSpPr>
          <p:nvPr/>
        </p:nvSpPr>
        <p:spPr bwMode="auto">
          <a:xfrm>
            <a:off x="6978071" y="5637213"/>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班级</a:t>
            </a:r>
            <a:endParaRPr lang="zh-CN" altLang="en-US" sz="1400" u="none">
              <a:latin typeface="Arial" panose="020B0604020202020204" pitchFamily="34" charset="0"/>
            </a:endParaRPr>
          </a:p>
        </p:txBody>
      </p:sp>
      <p:sp>
        <p:nvSpPr>
          <p:cNvPr id="48" name="Line 46"/>
          <p:cNvSpPr>
            <a:spLocks noChangeShapeType="1"/>
          </p:cNvSpPr>
          <p:nvPr/>
        </p:nvSpPr>
        <p:spPr bwMode="auto">
          <a:xfrm flipH="1" flipV="1">
            <a:off x="6617709" y="5565775"/>
            <a:ext cx="433387" cy="1444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Oval 47"/>
          <p:cNvSpPr>
            <a:spLocks noChangeArrowheads="1"/>
          </p:cNvSpPr>
          <p:nvPr/>
        </p:nvSpPr>
        <p:spPr bwMode="auto">
          <a:xfrm>
            <a:off x="2442584" y="2901950"/>
            <a:ext cx="8636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教职工号</a:t>
            </a:r>
            <a:endParaRPr lang="zh-CN" altLang="en-US" sz="1400">
              <a:latin typeface="Arial" panose="020B0604020202020204" pitchFamily="34" charset="0"/>
            </a:endParaRPr>
          </a:p>
        </p:txBody>
      </p:sp>
      <p:sp>
        <p:nvSpPr>
          <p:cNvPr id="50" name="Oval 48"/>
          <p:cNvSpPr>
            <a:spLocks noChangeArrowheads="1"/>
          </p:cNvSpPr>
          <p:nvPr/>
        </p:nvSpPr>
        <p:spPr bwMode="auto">
          <a:xfrm>
            <a:off x="3306184" y="2541588"/>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51" name="Line 49"/>
          <p:cNvSpPr>
            <a:spLocks noChangeShapeType="1"/>
          </p:cNvSpPr>
          <p:nvPr/>
        </p:nvSpPr>
        <p:spPr bwMode="auto">
          <a:xfrm>
            <a:off x="2945821" y="3262313"/>
            <a:ext cx="4318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50"/>
          <p:cNvSpPr>
            <a:spLocks noChangeShapeType="1"/>
          </p:cNvSpPr>
          <p:nvPr/>
        </p:nvSpPr>
        <p:spPr bwMode="auto">
          <a:xfrm flipH="1">
            <a:off x="3593521" y="2901950"/>
            <a:ext cx="0"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Oval 51"/>
          <p:cNvSpPr>
            <a:spLocks noChangeArrowheads="1"/>
          </p:cNvSpPr>
          <p:nvPr/>
        </p:nvSpPr>
        <p:spPr bwMode="auto">
          <a:xfrm>
            <a:off x="3882446" y="2901950"/>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54" name="Line 52"/>
          <p:cNvSpPr>
            <a:spLocks noChangeShapeType="1"/>
          </p:cNvSpPr>
          <p:nvPr/>
        </p:nvSpPr>
        <p:spPr bwMode="auto">
          <a:xfrm flipH="1">
            <a:off x="3882446" y="3262313"/>
            <a:ext cx="2159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Oval 53"/>
          <p:cNvSpPr>
            <a:spLocks noChangeArrowheads="1"/>
          </p:cNvSpPr>
          <p:nvPr/>
        </p:nvSpPr>
        <p:spPr bwMode="auto">
          <a:xfrm>
            <a:off x="3306184" y="4341813"/>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系</a:t>
            </a:r>
            <a:endParaRPr lang="zh-CN" altLang="en-US" sz="1400" u="none">
              <a:latin typeface="Arial" panose="020B0604020202020204" pitchFamily="34" charset="0"/>
            </a:endParaRPr>
          </a:p>
        </p:txBody>
      </p:sp>
      <p:sp>
        <p:nvSpPr>
          <p:cNvPr id="56" name="Line 54"/>
          <p:cNvSpPr>
            <a:spLocks noChangeShapeType="1"/>
          </p:cNvSpPr>
          <p:nvPr/>
        </p:nvSpPr>
        <p:spPr bwMode="auto">
          <a:xfrm flipH="1">
            <a:off x="3593521" y="4054475"/>
            <a:ext cx="0"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Oval 55"/>
          <p:cNvSpPr>
            <a:spLocks noChangeArrowheads="1"/>
          </p:cNvSpPr>
          <p:nvPr/>
        </p:nvSpPr>
        <p:spPr bwMode="auto">
          <a:xfrm>
            <a:off x="9138659" y="2901950"/>
            <a:ext cx="647700"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座位数</a:t>
            </a:r>
            <a:endParaRPr lang="zh-CN" altLang="en-US" sz="1400" u="none">
              <a:latin typeface="Arial" panose="020B0604020202020204" pitchFamily="34" charset="0"/>
            </a:endParaRPr>
          </a:p>
        </p:txBody>
      </p:sp>
      <p:sp>
        <p:nvSpPr>
          <p:cNvPr id="58" name="Line 56"/>
          <p:cNvSpPr>
            <a:spLocks noChangeShapeType="1"/>
          </p:cNvSpPr>
          <p:nvPr/>
        </p:nvSpPr>
        <p:spPr bwMode="auto">
          <a:xfrm flipH="1">
            <a:off x="8994196" y="3262313"/>
            <a:ext cx="360363" cy="360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Oval 57"/>
          <p:cNvSpPr>
            <a:spLocks noChangeArrowheads="1"/>
          </p:cNvSpPr>
          <p:nvPr/>
        </p:nvSpPr>
        <p:spPr bwMode="auto">
          <a:xfrm>
            <a:off x="8490959" y="2757488"/>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类型</a:t>
            </a:r>
            <a:endParaRPr lang="zh-CN" altLang="en-US" sz="1400" u="none">
              <a:latin typeface="Arial" panose="020B0604020202020204" pitchFamily="34" charset="0"/>
            </a:endParaRPr>
          </a:p>
        </p:txBody>
      </p:sp>
      <p:sp>
        <p:nvSpPr>
          <p:cNvPr id="60" name="Line 58"/>
          <p:cNvSpPr>
            <a:spLocks noChangeShapeType="1"/>
          </p:cNvSpPr>
          <p:nvPr/>
        </p:nvSpPr>
        <p:spPr bwMode="auto">
          <a:xfrm>
            <a:off x="8778296" y="3117850"/>
            <a:ext cx="0" cy="503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AutoShape 59"/>
          <p:cNvSpPr>
            <a:spLocks noChangeArrowheads="1"/>
          </p:cNvSpPr>
          <p:nvPr/>
        </p:nvSpPr>
        <p:spPr bwMode="auto">
          <a:xfrm rot="19654047">
            <a:off x="2945821" y="4702175"/>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2" name="AutoShape 60"/>
          <p:cNvSpPr>
            <a:spLocks noChangeArrowheads="1"/>
          </p:cNvSpPr>
          <p:nvPr/>
        </p:nvSpPr>
        <p:spPr bwMode="auto">
          <a:xfrm rot="19654047">
            <a:off x="2729921" y="3981450"/>
            <a:ext cx="358775" cy="215900"/>
          </a:xfrm>
          <a:prstGeom prst="rightArrow">
            <a:avLst>
              <a:gd name="adj1" fmla="val 50000"/>
              <a:gd name="adj2" fmla="val 41544"/>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63" name="AutoShape 61"/>
          <p:cNvSpPr>
            <a:spLocks noChangeArrowheads="1"/>
          </p:cNvSpPr>
          <p:nvPr/>
        </p:nvSpPr>
        <p:spPr bwMode="auto">
          <a:xfrm rot="12637675">
            <a:off x="7554334" y="5926138"/>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模型设计举例</a:t>
            </a:r>
            <a:endParaRPr lang="en-US" altLang="zh-CN" sz="2400" b="0" dirty="0"/>
          </a:p>
          <a:p>
            <a:pPr lvl="1"/>
            <a:r>
              <a:rPr lang="zh-CN" altLang="en-US" dirty="0"/>
              <a:t>住房管理的局部</a:t>
            </a:r>
            <a:r>
              <a:rPr lang="en-US" altLang="zh-CN" dirty="0"/>
              <a:t>E-R</a:t>
            </a:r>
            <a:r>
              <a:rPr lang="zh-CN" altLang="en-US" dirty="0"/>
              <a:t>模型</a:t>
            </a:r>
            <a:endParaRPr lang="zh-CN" altLang="en-US"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
        <p:nvSpPr>
          <p:cNvPr id="6" name="Rectangle 4"/>
          <p:cNvSpPr>
            <a:spLocks noChangeArrowheads="1"/>
          </p:cNvSpPr>
          <p:nvPr/>
        </p:nvSpPr>
        <p:spPr bwMode="auto">
          <a:xfrm>
            <a:off x="3638501" y="3621085"/>
            <a:ext cx="865188"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教职工</a:t>
            </a:r>
            <a:endParaRPr lang="zh-CN" altLang="en-US" sz="1800" u="none">
              <a:latin typeface="Arial" panose="020B0604020202020204" pitchFamily="34" charset="0"/>
            </a:endParaRPr>
          </a:p>
        </p:txBody>
      </p:sp>
      <p:sp>
        <p:nvSpPr>
          <p:cNvPr id="7" name="Rectangle 5"/>
          <p:cNvSpPr>
            <a:spLocks noChangeArrowheads="1"/>
          </p:cNvSpPr>
          <p:nvPr/>
        </p:nvSpPr>
        <p:spPr bwMode="auto">
          <a:xfrm>
            <a:off x="6230889" y="3621085"/>
            <a:ext cx="865187"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住宅</a:t>
            </a:r>
            <a:endParaRPr lang="zh-CN" altLang="en-US" sz="1800" u="none">
              <a:latin typeface="Arial" panose="020B0604020202020204" pitchFamily="34" charset="0"/>
            </a:endParaRPr>
          </a:p>
        </p:txBody>
      </p:sp>
      <p:sp>
        <p:nvSpPr>
          <p:cNvPr id="8" name="Rectangle 6"/>
          <p:cNvSpPr>
            <a:spLocks noChangeArrowheads="1"/>
          </p:cNvSpPr>
          <p:nvPr/>
        </p:nvSpPr>
        <p:spPr bwMode="auto">
          <a:xfrm>
            <a:off x="8823276" y="5422897"/>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宿舍</a:t>
            </a:r>
            <a:endParaRPr lang="zh-CN" altLang="en-US" sz="1800" u="none">
              <a:latin typeface="Arial" panose="020B0604020202020204" pitchFamily="34" charset="0"/>
            </a:endParaRPr>
          </a:p>
        </p:txBody>
      </p:sp>
      <p:sp>
        <p:nvSpPr>
          <p:cNvPr id="9" name="AutoShape 7"/>
          <p:cNvSpPr>
            <a:spLocks noChangeArrowheads="1"/>
          </p:cNvSpPr>
          <p:nvPr/>
        </p:nvSpPr>
        <p:spPr bwMode="auto">
          <a:xfrm>
            <a:off x="4935489" y="3621085"/>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分配</a:t>
            </a:r>
            <a:endParaRPr lang="zh-CN" altLang="en-US" sz="1400" u="none">
              <a:latin typeface="Arial" panose="020B0604020202020204" pitchFamily="34" charset="0"/>
            </a:endParaRPr>
          </a:p>
        </p:txBody>
      </p:sp>
      <p:sp>
        <p:nvSpPr>
          <p:cNvPr id="10" name="Line 8"/>
          <p:cNvSpPr>
            <a:spLocks noChangeShapeType="1"/>
          </p:cNvSpPr>
          <p:nvPr/>
        </p:nvSpPr>
        <p:spPr bwMode="auto">
          <a:xfrm>
            <a:off x="4503689" y="3836985"/>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AutoShape 9"/>
          <p:cNvSpPr>
            <a:spLocks noChangeArrowheads="1"/>
          </p:cNvSpPr>
          <p:nvPr/>
        </p:nvSpPr>
        <p:spPr bwMode="auto">
          <a:xfrm>
            <a:off x="7527876" y="5422897"/>
            <a:ext cx="863600" cy="431800"/>
          </a:xfrm>
          <a:prstGeom prst="diamond">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住宿</a:t>
            </a:r>
            <a:endParaRPr lang="zh-CN" altLang="en-US" sz="1400" u="none">
              <a:latin typeface="Arial" panose="020B0604020202020204" pitchFamily="34" charset="0"/>
            </a:endParaRPr>
          </a:p>
        </p:txBody>
      </p:sp>
      <p:sp>
        <p:nvSpPr>
          <p:cNvPr id="12" name="Line 10"/>
          <p:cNvSpPr>
            <a:spLocks noChangeShapeType="1"/>
          </p:cNvSpPr>
          <p:nvPr/>
        </p:nvSpPr>
        <p:spPr bwMode="auto">
          <a:xfrm>
            <a:off x="5799089" y="3836985"/>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1"/>
          <p:cNvSpPr txBox="1">
            <a:spLocks noChangeArrowheads="1"/>
          </p:cNvSpPr>
          <p:nvPr/>
        </p:nvSpPr>
        <p:spPr bwMode="auto">
          <a:xfrm>
            <a:off x="5870526" y="3476622"/>
            <a:ext cx="287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4" name="Text Box 12"/>
          <p:cNvSpPr txBox="1">
            <a:spLocks noChangeArrowheads="1"/>
          </p:cNvSpPr>
          <p:nvPr/>
        </p:nvSpPr>
        <p:spPr bwMode="auto">
          <a:xfrm>
            <a:off x="4575126" y="3478210"/>
            <a:ext cx="287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15" name="Rectangle 13"/>
          <p:cNvSpPr>
            <a:spLocks noChangeArrowheads="1"/>
          </p:cNvSpPr>
          <p:nvPr/>
        </p:nvSpPr>
        <p:spPr bwMode="auto">
          <a:xfrm>
            <a:off x="6230889" y="5422897"/>
            <a:ext cx="863600" cy="431800"/>
          </a:xfrm>
          <a:prstGeom prst="rect">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800" u="none">
                <a:latin typeface="Arial" panose="020B0604020202020204" pitchFamily="34" charset="0"/>
              </a:rPr>
              <a:t>学生</a:t>
            </a:r>
            <a:endParaRPr lang="zh-CN" altLang="en-US" sz="1800" u="none">
              <a:latin typeface="Arial" panose="020B0604020202020204" pitchFamily="34" charset="0"/>
            </a:endParaRPr>
          </a:p>
        </p:txBody>
      </p:sp>
      <p:sp>
        <p:nvSpPr>
          <p:cNvPr id="16" name="Line 14"/>
          <p:cNvSpPr>
            <a:spLocks noChangeShapeType="1"/>
          </p:cNvSpPr>
          <p:nvPr/>
        </p:nvSpPr>
        <p:spPr bwMode="auto">
          <a:xfrm>
            <a:off x="8391476" y="5637210"/>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Oval 15"/>
          <p:cNvSpPr>
            <a:spLocks noChangeArrowheads="1"/>
          </p:cNvSpPr>
          <p:nvPr/>
        </p:nvSpPr>
        <p:spPr bwMode="auto">
          <a:xfrm>
            <a:off x="5727651" y="2901947"/>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房号</a:t>
            </a:r>
            <a:endParaRPr lang="zh-CN" altLang="en-US" sz="1400">
              <a:latin typeface="Arial" panose="020B0604020202020204" pitchFamily="34" charset="0"/>
            </a:endParaRPr>
          </a:p>
        </p:txBody>
      </p:sp>
      <p:sp>
        <p:nvSpPr>
          <p:cNvPr id="18" name="Oval 16"/>
          <p:cNvSpPr>
            <a:spLocks noChangeArrowheads="1"/>
          </p:cNvSpPr>
          <p:nvPr/>
        </p:nvSpPr>
        <p:spPr bwMode="auto">
          <a:xfrm>
            <a:off x="6375351" y="275748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地点</a:t>
            </a:r>
            <a:endParaRPr lang="zh-CN" altLang="en-US" sz="1400" u="none">
              <a:latin typeface="Arial" panose="020B0604020202020204" pitchFamily="34" charset="0"/>
            </a:endParaRPr>
          </a:p>
        </p:txBody>
      </p:sp>
      <p:sp>
        <p:nvSpPr>
          <p:cNvPr id="19" name="Oval 17"/>
          <p:cNvSpPr>
            <a:spLocks noChangeArrowheads="1"/>
          </p:cNvSpPr>
          <p:nvPr/>
        </p:nvSpPr>
        <p:spPr bwMode="auto">
          <a:xfrm>
            <a:off x="7454851" y="3665535"/>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面积</a:t>
            </a:r>
            <a:endParaRPr lang="zh-CN" altLang="en-US" sz="1400" u="none">
              <a:latin typeface="Arial" panose="020B0604020202020204" pitchFamily="34" charset="0"/>
            </a:endParaRPr>
          </a:p>
        </p:txBody>
      </p:sp>
      <p:sp>
        <p:nvSpPr>
          <p:cNvPr id="20" name="Line 18"/>
          <p:cNvSpPr>
            <a:spLocks noChangeShapeType="1"/>
          </p:cNvSpPr>
          <p:nvPr/>
        </p:nvSpPr>
        <p:spPr bwMode="auto">
          <a:xfrm>
            <a:off x="6159451" y="3262310"/>
            <a:ext cx="360363"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9"/>
          <p:cNvSpPr>
            <a:spLocks noChangeShapeType="1"/>
          </p:cNvSpPr>
          <p:nvPr/>
        </p:nvSpPr>
        <p:spPr bwMode="auto">
          <a:xfrm>
            <a:off x="6662689" y="3117847"/>
            <a:ext cx="1587" cy="503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0"/>
          <p:cNvSpPr>
            <a:spLocks noChangeShapeType="1"/>
          </p:cNvSpPr>
          <p:nvPr/>
        </p:nvSpPr>
        <p:spPr bwMode="auto">
          <a:xfrm flipH="1">
            <a:off x="6807151" y="3262310"/>
            <a:ext cx="360363"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Oval 21"/>
          <p:cNvSpPr>
            <a:spLocks noChangeArrowheads="1"/>
          </p:cNvSpPr>
          <p:nvPr/>
        </p:nvSpPr>
        <p:spPr bwMode="auto">
          <a:xfrm>
            <a:off x="5654626" y="4775197"/>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学号</a:t>
            </a:r>
            <a:endParaRPr lang="zh-CN" altLang="en-US" sz="1400">
              <a:latin typeface="Arial" panose="020B0604020202020204" pitchFamily="34" charset="0"/>
            </a:endParaRPr>
          </a:p>
        </p:txBody>
      </p:sp>
      <p:sp>
        <p:nvSpPr>
          <p:cNvPr id="24" name="Line 22"/>
          <p:cNvSpPr>
            <a:spLocks noChangeShapeType="1"/>
          </p:cNvSpPr>
          <p:nvPr/>
        </p:nvSpPr>
        <p:spPr bwMode="auto">
          <a:xfrm flipH="1" flipV="1">
            <a:off x="6086426" y="5135560"/>
            <a:ext cx="360363"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Oval 23"/>
          <p:cNvSpPr>
            <a:spLocks noChangeArrowheads="1"/>
          </p:cNvSpPr>
          <p:nvPr/>
        </p:nvSpPr>
        <p:spPr bwMode="auto">
          <a:xfrm>
            <a:off x="8247014" y="4773610"/>
            <a:ext cx="720725"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宿舍号</a:t>
            </a:r>
            <a:endParaRPr lang="zh-CN" altLang="en-US" sz="1400">
              <a:latin typeface="Arial" panose="020B0604020202020204" pitchFamily="34" charset="0"/>
            </a:endParaRPr>
          </a:p>
        </p:txBody>
      </p:sp>
      <p:sp>
        <p:nvSpPr>
          <p:cNvPr id="26" name="Line 24"/>
          <p:cNvSpPr>
            <a:spLocks noChangeShapeType="1"/>
          </p:cNvSpPr>
          <p:nvPr/>
        </p:nvSpPr>
        <p:spPr bwMode="auto">
          <a:xfrm>
            <a:off x="8750251" y="5133972"/>
            <a:ext cx="290513"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Oval 25"/>
          <p:cNvSpPr>
            <a:spLocks noChangeArrowheads="1"/>
          </p:cNvSpPr>
          <p:nvPr/>
        </p:nvSpPr>
        <p:spPr bwMode="auto">
          <a:xfrm>
            <a:off x="6373764" y="4703760"/>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28" name="Line 26"/>
          <p:cNvSpPr>
            <a:spLocks noChangeShapeType="1"/>
          </p:cNvSpPr>
          <p:nvPr/>
        </p:nvSpPr>
        <p:spPr bwMode="auto">
          <a:xfrm flipH="1">
            <a:off x="6662689" y="5062535"/>
            <a:ext cx="0" cy="360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Oval 27"/>
          <p:cNvSpPr>
            <a:spLocks noChangeArrowheads="1"/>
          </p:cNvSpPr>
          <p:nvPr/>
        </p:nvSpPr>
        <p:spPr bwMode="auto">
          <a:xfrm>
            <a:off x="7094489" y="4775197"/>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30" name="Line 28"/>
          <p:cNvSpPr>
            <a:spLocks noChangeShapeType="1"/>
          </p:cNvSpPr>
          <p:nvPr/>
        </p:nvSpPr>
        <p:spPr bwMode="auto">
          <a:xfrm flipH="1">
            <a:off x="6950026" y="5135560"/>
            <a:ext cx="360363" cy="287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Oval 29"/>
          <p:cNvSpPr>
            <a:spLocks noChangeArrowheads="1"/>
          </p:cNvSpPr>
          <p:nvPr/>
        </p:nvSpPr>
        <p:spPr bwMode="auto">
          <a:xfrm>
            <a:off x="5294264" y="545623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班级</a:t>
            </a:r>
            <a:endParaRPr lang="zh-CN" altLang="en-US" sz="1400" u="none">
              <a:latin typeface="Arial" panose="020B0604020202020204" pitchFamily="34" charset="0"/>
            </a:endParaRPr>
          </a:p>
        </p:txBody>
      </p:sp>
      <p:sp>
        <p:nvSpPr>
          <p:cNvPr id="32" name="Line 30"/>
          <p:cNvSpPr>
            <a:spLocks noChangeShapeType="1"/>
          </p:cNvSpPr>
          <p:nvPr/>
        </p:nvSpPr>
        <p:spPr bwMode="auto">
          <a:xfrm flipV="1">
            <a:off x="5870526" y="5638797"/>
            <a:ext cx="35877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Oval 31"/>
          <p:cNvSpPr>
            <a:spLocks noChangeArrowheads="1"/>
          </p:cNvSpPr>
          <p:nvPr/>
        </p:nvSpPr>
        <p:spPr bwMode="auto">
          <a:xfrm>
            <a:off x="2917776" y="2901947"/>
            <a:ext cx="865188"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a:latin typeface="Arial" panose="020B0604020202020204" pitchFamily="34" charset="0"/>
              </a:rPr>
              <a:t>教职工号</a:t>
            </a:r>
            <a:endParaRPr lang="zh-CN" altLang="en-US" sz="1400">
              <a:latin typeface="Arial" panose="020B0604020202020204" pitchFamily="34" charset="0"/>
            </a:endParaRPr>
          </a:p>
        </p:txBody>
      </p:sp>
      <p:sp>
        <p:nvSpPr>
          <p:cNvPr id="34" name="Oval 32"/>
          <p:cNvSpPr>
            <a:spLocks noChangeArrowheads="1"/>
          </p:cNvSpPr>
          <p:nvPr/>
        </p:nvSpPr>
        <p:spPr bwMode="auto">
          <a:xfrm>
            <a:off x="3782964" y="254158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姓名</a:t>
            </a:r>
            <a:endParaRPr lang="zh-CN" altLang="en-US" sz="1400" u="none">
              <a:latin typeface="Arial" panose="020B0604020202020204" pitchFamily="34" charset="0"/>
            </a:endParaRPr>
          </a:p>
        </p:txBody>
      </p:sp>
      <p:sp>
        <p:nvSpPr>
          <p:cNvPr id="35" name="Line 33"/>
          <p:cNvSpPr>
            <a:spLocks noChangeShapeType="1"/>
          </p:cNvSpPr>
          <p:nvPr/>
        </p:nvSpPr>
        <p:spPr bwMode="auto">
          <a:xfrm>
            <a:off x="3638501" y="3262310"/>
            <a:ext cx="2159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4"/>
          <p:cNvSpPr>
            <a:spLocks noChangeShapeType="1"/>
          </p:cNvSpPr>
          <p:nvPr/>
        </p:nvSpPr>
        <p:spPr bwMode="auto">
          <a:xfrm flipH="1">
            <a:off x="4070301" y="2901947"/>
            <a:ext cx="0" cy="7191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Oval 35"/>
          <p:cNvSpPr>
            <a:spLocks noChangeArrowheads="1"/>
          </p:cNvSpPr>
          <p:nvPr/>
        </p:nvSpPr>
        <p:spPr bwMode="auto">
          <a:xfrm>
            <a:off x="4359226" y="2901947"/>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性别</a:t>
            </a:r>
            <a:endParaRPr lang="zh-CN" altLang="en-US" sz="1400" u="none">
              <a:latin typeface="Arial" panose="020B0604020202020204" pitchFamily="34" charset="0"/>
            </a:endParaRPr>
          </a:p>
        </p:txBody>
      </p:sp>
      <p:sp>
        <p:nvSpPr>
          <p:cNvPr id="38" name="Line 36"/>
          <p:cNvSpPr>
            <a:spLocks noChangeShapeType="1"/>
          </p:cNvSpPr>
          <p:nvPr/>
        </p:nvSpPr>
        <p:spPr bwMode="auto">
          <a:xfrm flipH="1">
            <a:off x="4359226" y="3262310"/>
            <a:ext cx="2159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Oval 37"/>
          <p:cNvSpPr>
            <a:spLocks noChangeArrowheads="1"/>
          </p:cNvSpPr>
          <p:nvPr/>
        </p:nvSpPr>
        <p:spPr bwMode="auto">
          <a:xfrm>
            <a:off x="4286201" y="4413247"/>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职务</a:t>
            </a:r>
            <a:endParaRPr lang="zh-CN" altLang="en-US" sz="1400" u="none">
              <a:latin typeface="Arial" panose="020B0604020202020204" pitchFamily="34" charset="0"/>
            </a:endParaRPr>
          </a:p>
        </p:txBody>
      </p:sp>
      <p:sp>
        <p:nvSpPr>
          <p:cNvPr id="40" name="Line 38"/>
          <p:cNvSpPr>
            <a:spLocks noChangeShapeType="1"/>
          </p:cNvSpPr>
          <p:nvPr/>
        </p:nvSpPr>
        <p:spPr bwMode="auto">
          <a:xfrm flipH="1">
            <a:off x="3711526" y="4054472"/>
            <a:ext cx="215900"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Oval 39"/>
          <p:cNvSpPr>
            <a:spLocks noChangeArrowheads="1"/>
          </p:cNvSpPr>
          <p:nvPr/>
        </p:nvSpPr>
        <p:spPr bwMode="auto">
          <a:xfrm>
            <a:off x="9039176" y="4773610"/>
            <a:ext cx="503238"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人数</a:t>
            </a:r>
            <a:endParaRPr lang="zh-CN" altLang="en-US" sz="1400" u="none">
              <a:latin typeface="Arial" panose="020B0604020202020204" pitchFamily="34" charset="0"/>
            </a:endParaRPr>
          </a:p>
        </p:txBody>
      </p:sp>
      <p:sp>
        <p:nvSpPr>
          <p:cNvPr id="42" name="Line 40"/>
          <p:cNvSpPr>
            <a:spLocks noChangeShapeType="1"/>
          </p:cNvSpPr>
          <p:nvPr/>
        </p:nvSpPr>
        <p:spPr bwMode="auto">
          <a:xfrm>
            <a:off x="9326514" y="5133972"/>
            <a:ext cx="1587" cy="2889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Oval 41"/>
          <p:cNvSpPr>
            <a:spLocks noChangeArrowheads="1"/>
          </p:cNvSpPr>
          <p:nvPr/>
        </p:nvSpPr>
        <p:spPr bwMode="auto">
          <a:xfrm>
            <a:off x="3351164" y="4413247"/>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职称</a:t>
            </a:r>
            <a:endParaRPr lang="zh-CN" altLang="en-US" sz="1400" u="none">
              <a:latin typeface="Arial" panose="020B0604020202020204" pitchFamily="34" charset="0"/>
            </a:endParaRPr>
          </a:p>
        </p:txBody>
      </p:sp>
      <p:sp>
        <p:nvSpPr>
          <p:cNvPr id="44" name="Line 42"/>
          <p:cNvSpPr>
            <a:spLocks noChangeShapeType="1"/>
          </p:cNvSpPr>
          <p:nvPr/>
        </p:nvSpPr>
        <p:spPr bwMode="auto">
          <a:xfrm>
            <a:off x="4286201" y="4054472"/>
            <a:ext cx="217488" cy="3587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43"/>
          <p:cNvSpPr>
            <a:spLocks noChangeArrowheads="1"/>
          </p:cNvSpPr>
          <p:nvPr/>
        </p:nvSpPr>
        <p:spPr bwMode="auto">
          <a:xfrm>
            <a:off x="2774901" y="3660772"/>
            <a:ext cx="576263"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部门</a:t>
            </a:r>
            <a:endParaRPr lang="zh-CN" altLang="en-US" sz="1400" u="none">
              <a:latin typeface="Arial" panose="020B0604020202020204" pitchFamily="34" charset="0"/>
            </a:endParaRPr>
          </a:p>
        </p:txBody>
      </p:sp>
      <p:sp>
        <p:nvSpPr>
          <p:cNvPr id="46" name="Line 44"/>
          <p:cNvSpPr>
            <a:spLocks noChangeShapeType="1"/>
          </p:cNvSpPr>
          <p:nvPr/>
        </p:nvSpPr>
        <p:spPr bwMode="auto">
          <a:xfrm flipH="1">
            <a:off x="3351164" y="3836985"/>
            <a:ext cx="2873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45"/>
          <p:cNvSpPr txBox="1">
            <a:spLocks noChangeArrowheads="1"/>
          </p:cNvSpPr>
          <p:nvPr/>
        </p:nvSpPr>
        <p:spPr bwMode="auto">
          <a:xfrm>
            <a:off x="8462914" y="5278435"/>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1</a:t>
            </a:r>
            <a:endParaRPr lang="en-US" altLang="zh-CN" sz="1800" u="none">
              <a:latin typeface="Arial" panose="020B0604020202020204" pitchFamily="34" charset="0"/>
            </a:endParaRPr>
          </a:p>
        </p:txBody>
      </p:sp>
      <p:sp>
        <p:nvSpPr>
          <p:cNvPr id="48" name="Text Box 46"/>
          <p:cNvSpPr txBox="1">
            <a:spLocks noChangeArrowheads="1"/>
          </p:cNvSpPr>
          <p:nvPr/>
        </p:nvSpPr>
        <p:spPr bwMode="auto">
          <a:xfrm>
            <a:off x="7167514" y="5278435"/>
            <a:ext cx="287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en-US" altLang="zh-CN" sz="1800" u="none">
                <a:latin typeface="Arial" panose="020B0604020202020204" pitchFamily="34" charset="0"/>
              </a:rPr>
              <a:t>n</a:t>
            </a:r>
            <a:endParaRPr lang="en-US" altLang="zh-CN" sz="1800" u="none">
              <a:latin typeface="Arial" panose="020B0604020202020204" pitchFamily="34" charset="0"/>
            </a:endParaRPr>
          </a:p>
        </p:txBody>
      </p:sp>
      <p:sp>
        <p:nvSpPr>
          <p:cNvPr id="49" name="Line 47"/>
          <p:cNvSpPr>
            <a:spLocks noChangeShapeType="1"/>
          </p:cNvSpPr>
          <p:nvPr/>
        </p:nvSpPr>
        <p:spPr bwMode="auto">
          <a:xfrm>
            <a:off x="7096076" y="5638797"/>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Oval 48"/>
          <p:cNvSpPr>
            <a:spLocks noChangeArrowheads="1"/>
          </p:cNvSpPr>
          <p:nvPr/>
        </p:nvSpPr>
        <p:spPr bwMode="auto">
          <a:xfrm>
            <a:off x="9615439" y="4773610"/>
            <a:ext cx="503237"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租金</a:t>
            </a:r>
            <a:endParaRPr lang="zh-CN" altLang="en-US" sz="1400" u="none">
              <a:latin typeface="Arial" panose="020B0604020202020204" pitchFamily="34" charset="0"/>
            </a:endParaRPr>
          </a:p>
        </p:txBody>
      </p:sp>
      <p:sp>
        <p:nvSpPr>
          <p:cNvPr id="51" name="Line 49"/>
          <p:cNvSpPr>
            <a:spLocks noChangeShapeType="1"/>
          </p:cNvSpPr>
          <p:nvPr/>
        </p:nvSpPr>
        <p:spPr bwMode="auto">
          <a:xfrm flipH="1">
            <a:off x="9542414" y="5133972"/>
            <a:ext cx="288925" cy="287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AutoShape 50"/>
          <p:cNvSpPr>
            <a:spLocks noChangeArrowheads="1"/>
          </p:cNvSpPr>
          <p:nvPr/>
        </p:nvSpPr>
        <p:spPr bwMode="auto">
          <a:xfrm rot="19654047">
            <a:off x="2414539" y="3981447"/>
            <a:ext cx="358775" cy="215900"/>
          </a:xfrm>
          <a:prstGeom prst="rightArrow">
            <a:avLst>
              <a:gd name="adj1" fmla="val 50000"/>
              <a:gd name="adj2" fmla="val 41544"/>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3" name="AutoShape 51"/>
          <p:cNvSpPr>
            <a:spLocks noChangeArrowheads="1"/>
          </p:cNvSpPr>
          <p:nvPr/>
        </p:nvSpPr>
        <p:spPr bwMode="auto">
          <a:xfrm rot="19654047">
            <a:off x="3133676" y="4197347"/>
            <a:ext cx="358775" cy="215900"/>
          </a:xfrm>
          <a:prstGeom prst="rightArrow">
            <a:avLst>
              <a:gd name="adj1" fmla="val 50000"/>
              <a:gd name="adj2" fmla="val 41544"/>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4" name="Oval 52"/>
          <p:cNvSpPr>
            <a:spLocks noChangeArrowheads="1"/>
          </p:cNvSpPr>
          <p:nvPr/>
        </p:nvSpPr>
        <p:spPr bwMode="auto">
          <a:xfrm>
            <a:off x="7094489" y="2973385"/>
            <a:ext cx="576262" cy="358775"/>
          </a:xfrm>
          <a:prstGeom prst="ellipse">
            <a:avLst/>
          </a:prstGeom>
          <a:solidFill>
            <a:srgbClr val="FFFF99"/>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400" u="none">
                <a:latin typeface="Arial" panose="020B0604020202020204" pitchFamily="34" charset="0"/>
              </a:rPr>
              <a:t>类型</a:t>
            </a:r>
            <a:endParaRPr lang="zh-CN" altLang="en-US" sz="1400" u="none">
              <a:latin typeface="Arial" panose="020B0604020202020204" pitchFamily="34" charset="0"/>
            </a:endParaRPr>
          </a:p>
        </p:txBody>
      </p:sp>
      <p:sp>
        <p:nvSpPr>
          <p:cNvPr id="55" name="Line 53"/>
          <p:cNvSpPr>
            <a:spLocks noChangeShapeType="1"/>
          </p:cNvSpPr>
          <p:nvPr/>
        </p:nvSpPr>
        <p:spPr bwMode="auto">
          <a:xfrm>
            <a:off x="7094489" y="3836985"/>
            <a:ext cx="36036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AutoShape 54"/>
          <p:cNvSpPr>
            <a:spLocks noChangeArrowheads="1"/>
          </p:cNvSpPr>
          <p:nvPr/>
        </p:nvSpPr>
        <p:spPr bwMode="auto">
          <a:xfrm rot="19654047">
            <a:off x="3133676" y="4845047"/>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7" name="AutoShape 55"/>
          <p:cNvSpPr>
            <a:spLocks noChangeArrowheads="1"/>
          </p:cNvSpPr>
          <p:nvPr/>
        </p:nvSpPr>
        <p:spPr bwMode="auto">
          <a:xfrm rot="19654047">
            <a:off x="3998864" y="4918072"/>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58" name="AutoShape 56"/>
          <p:cNvSpPr>
            <a:spLocks noChangeArrowheads="1"/>
          </p:cNvSpPr>
          <p:nvPr/>
        </p:nvSpPr>
        <p:spPr bwMode="auto">
          <a:xfrm rot="19654047">
            <a:off x="4933901" y="5781672"/>
            <a:ext cx="358775" cy="215900"/>
          </a:xfrm>
          <a:prstGeom prst="rightArrow">
            <a:avLst>
              <a:gd name="adj1" fmla="val 50000"/>
              <a:gd name="adj2" fmla="val 41544"/>
            </a:avLst>
          </a:prstGeom>
          <a:solidFill>
            <a:srgbClr val="83D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a:t>
            </a:r>
            <a:endParaRPr lang="en-US" altLang="zh-CN" sz="2400" b="0" dirty="0"/>
          </a:p>
          <a:p>
            <a:pPr lvl="1">
              <a:lnSpc>
                <a:spcPct val="150000"/>
              </a:lnSpc>
            </a:pPr>
            <a:r>
              <a:rPr lang="zh-CN" altLang="en-US" b="0" dirty="0"/>
              <a:t>各局部应用的</a:t>
            </a:r>
            <a:r>
              <a:rPr lang="en-GB" altLang="zh-CN" b="0" dirty="0"/>
              <a:t>E</a:t>
            </a:r>
            <a:r>
              <a:rPr lang="zh-CN" altLang="en-GB" b="0" dirty="0"/>
              <a:t>－</a:t>
            </a:r>
            <a:r>
              <a:rPr lang="en-GB" altLang="zh-CN" b="0" dirty="0"/>
              <a:t>R</a:t>
            </a:r>
            <a:r>
              <a:rPr lang="zh-CN" altLang="en-US" b="0" dirty="0"/>
              <a:t>图设计完成后，需要将其合并形成一个全局的</a:t>
            </a:r>
            <a:r>
              <a:rPr lang="en-GB" altLang="zh-CN" b="0" dirty="0"/>
              <a:t>E</a:t>
            </a:r>
            <a:r>
              <a:rPr lang="zh-CN" altLang="en-GB" b="0" dirty="0"/>
              <a:t>－</a:t>
            </a:r>
            <a:r>
              <a:rPr lang="en-GB" altLang="zh-CN" b="0" dirty="0"/>
              <a:t>R</a:t>
            </a:r>
            <a:r>
              <a:rPr lang="zh-CN" altLang="en-US" b="0" dirty="0"/>
              <a:t>图模式，以此作为逻辑设计阶段的设计依据，这是视图集成阶段的主要工作</a:t>
            </a:r>
            <a:endParaRPr lang="zh-CN" altLang="en-US" b="0" dirty="0"/>
          </a:p>
          <a:p>
            <a:pPr lvl="1">
              <a:lnSpc>
                <a:spcPct val="150000"/>
              </a:lnSpc>
            </a:pPr>
            <a:r>
              <a:rPr lang="zh-CN" altLang="en-US" b="0" dirty="0"/>
              <a:t>全局</a:t>
            </a:r>
            <a:r>
              <a:rPr lang="en-GB" altLang="zh-CN" b="0" dirty="0"/>
              <a:t>E</a:t>
            </a:r>
            <a:r>
              <a:rPr lang="zh-CN" altLang="en-GB" b="0" dirty="0"/>
              <a:t>－</a:t>
            </a:r>
            <a:r>
              <a:rPr lang="en-GB" altLang="zh-CN" b="0" dirty="0"/>
              <a:t>R</a:t>
            </a:r>
            <a:r>
              <a:rPr lang="zh-CN" altLang="en-US" b="0" dirty="0"/>
              <a:t>图不是各个局部</a:t>
            </a:r>
            <a:r>
              <a:rPr lang="en-GB" altLang="zh-CN" b="0" dirty="0"/>
              <a:t>E</a:t>
            </a:r>
            <a:r>
              <a:rPr lang="zh-CN" altLang="en-GB" b="0" dirty="0"/>
              <a:t>－</a:t>
            </a:r>
            <a:r>
              <a:rPr lang="en-GB" altLang="zh-CN" b="0" dirty="0"/>
              <a:t>R</a:t>
            </a:r>
            <a:r>
              <a:rPr lang="zh-CN" altLang="en-US" b="0" dirty="0"/>
              <a:t>图的简单拼凑</a:t>
            </a:r>
            <a:endParaRPr lang="zh-CN" altLang="en-US"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a:t>
            </a:r>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3"/>
          <p:cNvGrpSpPr/>
          <p:nvPr/>
        </p:nvGrpSpPr>
        <p:grpSpPr bwMode="auto">
          <a:xfrm>
            <a:off x="6525358" y="1219203"/>
            <a:ext cx="3533775" cy="5448300"/>
            <a:chOff x="3677" y="2064"/>
            <a:chExt cx="3885" cy="8580"/>
          </a:xfrm>
        </p:grpSpPr>
        <p:sp>
          <p:nvSpPr>
            <p:cNvPr id="7" name="Text Box 4"/>
            <p:cNvSpPr txBox="1">
              <a:spLocks noChangeArrowheads="1"/>
            </p:cNvSpPr>
            <p:nvPr/>
          </p:nvSpPr>
          <p:spPr bwMode="auto">
            <a:xfrm>
              <a:off x="5147" y="9240"/>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u="none">
                  <a:solidFill>
                    <a:srgbClr val="000000"/>
                  </a:solidFill>
                  <a:latin typeface="Times New Roman" panose="02020603050405020304" pitchFamily="18" charset="0"/>
                </a:rPr>
                <a:t>无</a:t>
              </a:r>
              <a:endParaRPr lang="zh-CN" altLang="en-US" sz="1400" u="none">
                <a:solidFill>
                  <a:srgbClr val="000000"/>
                </a:solidFill>
                <a:latin typeface="Times New Roman" panose="02020603050405020304" pitchFamily="18" charset="0"/>
              </a:endParaRPr>
            </a:p>
          </p:txBody>
        </p:sp>
        <p:sp>
          <p:nvSpPr>
            <p:cNvPr id="8" name="Text Box 5"/>
            <p:cNvSpPr txBox="1">
              <a:spLocks noChangeArrowheads="1"/>
            </p:cNvSpPr>
            <p:nvPr/>
          </p:nvSpPr>
          <p:spPr bwMode="auto">
            <a:xfrm>
              <a:off x="3677" y="10176"/>
              <a:ext cx="304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a:solidFill>
                    <a:srgbClr val="000000"/>
                  </a:solidFill>
                </a:rPr>
                <a:t>图 视图集成</a:t>
              </a:r>
              <a:endParaRPr lang="zh-CN" altLang="en-US" sz="1600" u="none">
                <a:solidFill>
                  <a:srgbClr val="000000"/>
                </a:solidFill>
                <a:latin typeface="Times New Roman" panose="02020603050405020304" pitchFamily="18" charset="0"/>
              </a:endParaRPr>
            </a:p>
          </p:txBody>
        </p:sp>
        <p:grpSp>
          <p:nvGrpSpPr>
            <p:cNvPr id="9" name="Group 6"/>
            <p:cNvGrpSpPr/>
            <p:nvPr/>
          </p:nvGrpSpPr>
          <p:grpSpPr bwMode="auto">
            <a:xfrm>
              <a:off x="3677" y="2064"/>
              <a:ext cx="3885" cy="7800"/>
              <a:chOff x="3677" y="2220"/>
              <a:chExt cx="3885" cy="7800"/>
            </a:xfrm>
          </p:grpSpPr>
          <p:sp>
            <p:nvSpPr>
              <p:cNvPr id="10" name="Text Box 7"/>
              <p:cNvSpPr txBox="1">
                <a:spLocks noChangeArrowheads="1"/>
              </p:cNvSpPr>
              <p:nvPr/>
            </p:nvSpPr>
            <p:spPr bwMode="auto">
              <a:xfrm>
                <a:off x="4097" y="2220"/>
                <a:ext cx="220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dirty="0">
                    <a:solidFill>
                      <a:srgbClr val="000000"/>
                    </a:solidFill>
                    <a:latin typeface="Times New Roman" panose="02020603050405020304" pitchFamily="18" charset="0"/>
                  </a:rPr>
                  <a:t> 局部</a:t>
                </a:r>
                <a:r>
                  <a:rPr lang="en-US" altLang="zh-CN" sz="1400" u="none" dirty="0">
                    <a:solidFill>
                      <a:srgbClr val="000000"/>
                    </a:solidFill>
                    <a:latin typeface="Times New Roman" panose="02020603050405020304" pitchFamily="18" charset="0"/>
                  </a:rPr>
                  <a:t>ER</a:t>
                </a:r>
                <a:r>
                  <a:rPr lang="zh-CN" altLang="en-US" sz="1400" u="none" dirty="0">
                    <a:solidFill>
                      <a:srgbClr val="000000"/>
                    </a:solidFill>
                    <a:latin typeface="Times New Roman" panose="02020603050405020304" pitchFamily="18" charset="0"/>
                  </a:rPr>
                  <a:t>模式</a:t>
                </a:r>
                <a:endParaRPr lang="zh-CN" altLang="en-US" sz="1400" u="none" dirty="0">
                  <a:solidFill>
                    <a:srgbClr val="000000"/>
                  </a:solidFill>
                  <a:latin typeface="Times New Roman" panose="02020603050405020304" pitchFamily="18" charset="0"/>
                </a:endParaRPr>
              </a:p>
            </p:txBody>
          </p:sp>
          <p:sp>
            <p:nvSpPr>
              <p:cNvPr id="11" name="Text Box 8"/>
              <p:cNvSpPr txBox="1">
                <a:spLocks noChangeArrowheads="1"/>
              </p:cNvSpPr>
              <p:nvPr/>
            </p:nvSpPr>
            <p:spPr bwMode="auto">
              <a:xfrm>
                <a:off x="4097" y="3312"/>
                <a:ext cx="220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Times New Roman" panose="02020603050405020304" pitchFamily="18" charset="0"/>
                  </a:rPr>
                  <a:t>确定公共实体类型</a:t>
                </a:r>
                <a:endParaRPr lang="zh-CN" altLang="en-US" sz="1400" u="none">
                  <a:solidFill>
                    <a:srgbClr val="000000"/>
                  </a:solidFill>
                  <a:latin typeface="Times New Roman" panose="02020603050405020304" pitchFamily="18" charset="0"/>
                </a:endParaRPr>
              </a:p>
            </p:txBody>
          </p:sp>
          <p:grpSp>
            <p:nvGrpSpPr>
              <p:cNvPr id="12" name="Group 9"/>
              <p:cNvGrpSpPr/>
              <p:nvPr/>
            </p:nvGrpSpPr>
            <p:grpSpPr bwMode="auto">
              <a:xfrm>
                <a:off x="5042" y="2688"/>
                <a:ext cx="210" cy="624"/>
                <a:chOff x="4832" y="5652"/>
                <a:chExt cx="210" cy="624"/>
              </a:xfrm>
            </p:grpSpPr>
            <p:sp>
              <p:nvSpPr>
                <p:cNvPr id="30" name="Line 10"/>
                <p:cNvSpPr>
                  <a:spLocks noChangeShapeType="1"/>
                </p:cNvSpPr>
                <p:nvPr/>
              </p:nvSpPr>
              <p:spPr bwMode="auto">
                <a:xfrm>
                  <a:off x="4937" y="5652"/>
                  <a:ext cx="0" cy="624"/>
                </a:xfrm>
                <a:prstGeom prst="line">
                  <a:avLst/>
                </a:prstGeom>
                <a:noFill/>
                <a:ln w="38100" cmpd="dbl">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11"/>
                <p:cNvSpPr>
                  <a:spLocks noChangeShapeType="1"/>
                </p:cNvSpPr>
                <p:nvPr/>
              </p:nvSpPr>
              <p:spPr bwMode="auto">
                <a:xfrm flipV="1">
                  <a:off x="4937" y="6120"/>
                  <a:ext cx="105" cy="1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12"/>
                <p:cNvSpPr>
                  <a:spLocks noChangeShapeType="1"/>
                </p:cNvSpPr>
                <p:nvPr/>
              </p:nvSpPr>
              <p:spPr bwMode="auto">
                <a:xfrm flipH="1" flipV="1">
                  <a:off x="4832" y="6120"/>
                  <a:ext cx="105" cy="1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 name="Text Box 13"/>
              <p:cNvSpPr txBox="1">
                <a:spLocks noChangeArrowheads="1"/>
              </p:cNvSpPr>
              <p:nvPr/>
            </p:nvSpPr>
            <p:spPr bwMode="auto">
              <a:xfrm>
                <a:off x="3992" y="4560"/>
                <a:ext cx="241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u="none">
                    <a:solidFill>
                      <a:srgbClr val="000000"/>
                    </a:solidFill>
                    <a:latin typeface="Times New Roman" panose="02020603050405020304" pitchFamily="18" charset="0"/>
                  </a:rPr>
                  <a:t>合并两个局部</a:t>
                </a:r>
                <a:r>
                  <a:rPr lang="en-US" altLang="zh-CN" sz="1400" u="none">
                    <a:solidFill>
                      <a:srgbClr val="000000"/>
                    </a:solidFill>
                    <a:latin typeface="Times New Roman" panose="02020603050405020304" pitchFamily="18" charset="0"/>
                  </a:rPr>
                  <a:t>ER</a:t>
                </a:r>
                <a:r>
                  <a:rPr lang="zh-CN" altLang="en-US" sz="1400" u="none">
                    <a:solidFill>
                      <a:srgbClr val="000000"/>
                    </a:solidFill>
                    <a:latin typeface="Times New Roman" panose="02020603050405020304" pitchFamily="18" charset="0"/>
                  </a:rPr>
                  <a:t>模式</a:t>
                </a:r>
                <a:endParaRPr lang="zh-CN" altLang="en-US" sz="1400" u="none">
                  <a:solidFill>
                    <a:srgbClr val="000000"/>
                  </a:solidFill>
                  <a:latin typeface="Times New Roman" panose="02020603050405020304" pitchFamily="18" charset="0"/>
                </a:endParaRPr>
              </a:p>
            </p:txBody>
          </p:sp>
          <p:sp>
            <p:nvSpPr>
              <p:cNvPr id="14" name="Text Box 14"/>
              <p:cNvSpPr txBox="1">
                <a:spLocks noChangeArrowheads="1"/>
              </p:cNvSpPr>
              <p:nvPr/>
            </p:nvSpPr>
            <p:spPr bwMode="auto">
              <a:xfrm>
                <a:off x="4097" y="5652"/>
                <a:ext cx="2205"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Times New Roman" panose="02020603050405020304" pitchFamily="18" charset="0"/>
                  </a:rPr>
                  <a:t>检查并消除冲突</a:t>
                </a:r>
                <a:endParaRPr lang="zh-CN" altLang="en-US" sz="1400" u="none">
                  <a:solidFill>
                    <a:srgbClr val="000000"/>
                  </a:solidFill>
                  <a:latin typeface="Times New Roman" panose="02020603050405020304" pitchFamily="18" charset="0"/>
                </a:endParaRPr>
              </a:p>
            </p:txBody>
          </p:sp>
          <p:sp>
            <p:nvSpPr>
              <p:cNvPr id="15" name="Line 15"/>
              <p:cNvSpPr>
                <a:spLocks noChangeShapeType="1"/>
              </p:cNvSpPr>
              <p:nvPr/>
            </p:nvSpPr>
            <p:spPr bwMode="auto">
              <a:xfrm>
                <a:off x="5147" y="3780"/>
                <a:ext cx="0" cy="78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6"/>
              <p:cNvSpPr>
                <a:spLocks noChangeShapeType="1"/>
              </p:cNvSpPr>
              <p:nvPr/>
            </p:nvSpPr>
            <p:spPr bwMode="auto">
              <a:xfrm>
                <a:off x="5147" y="5028"/>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7"/>
              <p:cNvSpPr>
                <a:spLocks noChangeShapeType="1"/>
              </p:cNvSpPr>
              <p:nvPr/>
            </p:nvSpPr>
            <p:spPr bwMode="auto">
              <a:xfrm>
                <a:off x="5042" y="7680"/>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AutoShape 18"/>
              <p:cNvSpPr>
                <a:spLocks noChangeArrowheads="1"/>
              </p:cNvSpPr>
              <p:nvPr/>
            </p:nvSpPr>
            <p:spPr bwMode="auto">
              <a:xfrm>
                <a:off x="3677" y="8304"/>
                <a:ext cx="2520" cy="1248"/>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dirty="0">
                    <a:solidFill>
                      <a:srgbClr val="000000"/>
                    </a:solidFill>
                    <a:latin typeface="Times New Roman" panose="02020603050405020304" pitchFamily="18" charset="0"/>
                  </a:rPr>
                  <a:t>还有未合并的局部模式</a:t>
                </a:r>
                <a:endParaRPr lang="zh-CN" altLang="en-US" sz="1400" u="none" dirty="0">
                  <a:solidFill>
                    <a:srgbClr val="000000"/>
                  </a:solidFill>
                  <a:latin typeface="Times New Roman" panose="02020603050405020304" pitchFamily="18" charset="0"/>
                </a:endParaRPr>
              </a:p>
            </p:txBody>
          </p:sp>
          <p:sp>
            <p:nvSpPr>
              <p:cNvPr id="19" name="Line 19"/>
              <p:cNvSpPr>
                <a:spLocks noChangeShapeType="1"/>
              </p:cNvSpPr>
              <p:nvPr/>
            </p:nvSpPr>
            <p:spPr bwMode="auto">
              <a:xfrm>
                <a:off x="5147" y="6120"/>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a:off x="6302" y="7212"/>
                <a:ext cx="8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flipV="1">
                <a:off x="7562" y="4092"/>
                <a:ext cx="0" cy="48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flipH="1">
                <a:off x="5147" y="4092"/>
                <a:ext cx="241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23"/>
              <p:cNvSpPr txBox="1">
                <a:spLocks noChangeArrowheads="1"/>
              </p:cNvSpPr>
              <p:nvPr/>
            </p:nvSpPr>
            <p:spPr bwMode="auto">
              <a:xfrm>
                <a:off x="6197" y="8460"/>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u="none">
                    <a:solidFill>
                      <a:srgbClr val="000000"/>
                    </a:solidFill>
                    <a:latin typeface="Times New Roman" panose="02020603050405020304" pitchFamily="18" charset="0"/>
                  </a:rPr>
                  <a:t>有</a:t>
                </a:r>
                <a:endParaRPr lang="zh-CN" altLang="en-US" sz="1400" u="none">
                  <a:solidFill>
                    <a:srgbClr val="000000"/>
                  </a:solidFill>
                  <a:latin typeface="Times New Roman" panose="02020603050405020304" pitchFamily="18" charset="0"/>
                </a:endParaRPr>
              </a:p>
            </p:txBody>
          </p:sp>
          <p:sp>
            <p:nvSpPr>
              <p:cNvPr id="24" name="AutoShape 24"/>
              <p:cNvSpPr>
                <a:spLocks noChangeArrowheads="1"/>
              </p:cNvSpPr>
              <p:nvPr/>
            </p:nvSpPr>
            <p:spPr bwMode="auto">
              <a:xfrm>
                <a:off x="3887" y="6744"/>
                <a:ext cx="2415" cy="936"/>
              </a:xfrm>
              <a:prstGeom prst="flowChartDecision">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u="none">
                    <a:solidFill>
                      <a:srgbClr val="000000"/>
                    </a:solidFill>
                    <a:latin typeface="Times New Roman" panose="02020603050405020304" pitchFamily="18" charset="0"/>
                  </a:rPr>
                  <a:t>还有冲突吗</a:t>
                </a:r>
                <a:endParaRPr lang="zh-CN" altLang="en-US" sz="1400" u="none">
                  <a:solidFill>
                    <a:srgbClr val="000000"/>
                  </a:solidFill>
                  <a:latin typeface="Times New Roman" panose="02020603050405020304" pitchFamily="18" charset="0"/>
                </a:endParaRPr>
              </a:p>
            </p:txBody>
          </p:sp>
          <p:sp>
            <p:nvSpPr>
              <p:cNvPr id="25" name="Line 25"/>
              <p:cNvSpPr>
                <a:spLocks noChangeShapeType="1"/>
              </p:cNvSpPr>
              <p:nvPr/>
            </p:nvSpPr>
            <p:spPr bwMode="auto">
              <a:xfrm>
                <a:off x="6197" y="8928"/>
                <a:ext cx="136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26"/>
              <p:cNvSpPr>
                <a:spLocks noChangeShapeType="1"/>
              </p:cNvSpPr>
              <p:nvPr/>
            </p:nvSpPr>
            <p:spPr bwMode="auto">
              <a:xfrm flipV="1">
                <a:off x="7142" y="5340"/>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27"/>
              <p:cNvSpPr>
                <a:spLocks noChangeShapeType="1"/>
              </p:cNvSpPr>
              <p:nvPr/>
            </p:nvSpPr>
            <p:spPr bwMode="auto">
              <a:xfrm flipH="1" flipV="1">
                <a:off x="5252" y="5340"/>
                <a:ext cx="189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8"/>
              <p:cNvSpPr>
                <a:spLocks noChangeShapeType="1"/>
              </p:cNvSpPr>
              <p:nvPr/>
            </p:nvSpPr>
            <p:spPr bwMode="auto">
              <a:xfrm>
                <a:off x="5042" y="9552"/>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29"/>
              <p:cNvSpPr txBox="1">
                <a:spLocks noChangeArrowheads="1"/>
              </p:cNvSpPr>
              <p:nvPr/>
            </p:nvSpPr>
            <p:spPr bwMode="auto">
              <a:xfrm>
                <a:off x="6302" y="6744"/>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400" u="none">
                    <a:solidFill>
                      <a:srgbClr val="000000"/>
                    </a:solidFill>
                    <a:latin typeface="Times New Roman" panose="02020603050405020304" pitchFamily="18" charset="0"/>
                  </a:rPr>
                  <a:t>有</a:t>
                </a:r>
                <a:endParaRPr lang="zh-CN" altLang="en-US" sz="1400" u="none">
                  <a:solidFill>
                    <a:srgbClr val="000000"/>
                  </a:solidFill>
                  <a:latin typeface="Times New Roman" panose="02020603050405020304" pitchFamily="18" charset="0"/>
                </a:endParaRPr>
              </a:p>
            </p:txBody>
          </p:sp>
        </p:grpSp>
      </p:grpSp>
      <p:grpSp>
        <p:nvGrpSpPr>
          <p:cNvPr id="33" name="Group 30"/>
          <p:cNvGrpSpPr/>
          <p:nvPr/>
        </p:nvGrpSpPr>
        <p:grpSpPr bwMode="auto">
          <a:xfrm>
            <a:off x="2132959" y="2721425"/>
            <a:ext cx="6827838" cy="2586038"/>
            <a:chOff x="-653" y="1680"/>
            <a:chExt cx="4301" cy="1629"/>
          </a:xfrm>
        </p:grpSpPr>
        <p:sp>
          <p:nvSpPr>
            <p:cNvPr id="34" name="Rectangle 31"/>
            <p:cNvSpPr>
              <a:spLocks noChangeArrowheads="1"/>
            </p:cNvSpPr>
            <p:nvPr/>
          </p:nvSpPr>
          <p:spPr bwMode="auto">
            <a:xfrm>
              <a:off x="2352" y="2082"/>
              <a:ext cx="1296" cy="192"/>
            </a:xfrm>
            <a:prstGeom prst="rect">
              <a:avLst/>
            </a:prstGeom>
            <a:noFill/>
            <a:ln w="381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35" name="Text Box 32"/>
            <p:cNvSpPr txBox="1">
              <a:spLocks noChangeArrowheads="1"/>
            </p:cNvSpPr>
            <p:nvPr/>
          </p:nvSpPr>
          <p:spPr bwMode="auto">
            <a:xfrm>
              <a:off x="-653" y="1680"/>
              <a:ext cx="2861" cy="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rPr>
                <a:t>属性冲突 ：如，重量单位有的用公斤，有的用克。 </a:t>
              </a:r>
              <a:endPar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rPr>
                <a:t>结构冲突 ：同一对象在不同应用中的不同抽象 ；同一实体在不同局部</a:t>
              </a:r>
              <a:r>
                <a:rPr kumimoji="1" lang="en-US" altLang="zh-CN" sz="1800" u="none" dirty="0">
                  <a:solidFill>
                    <a:schemeClr val="bg1">
                      <a:lumMod val="65000"/>
                    </a:schemeClr>
                  </a:solidFill>
                  <a:latin typeface="微软雅黑" panose="020B0503020204020204" pitchFamily="34" charset="-122"/>
                  <a:ea typeface="微软雅黑" panose="020B0503020204020204" pitchFamily="34" charset="-122"/>
                </a:rPr>
                <a:t>ER</a:t>
              </a:r>
              <a:r>
                <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rPr>
                <a:t>图中属性的个数或次序不同 ；实体之间的联系在不同的局部</a:t>
              </a:r>
              <a:r>
                <a:rPr kumimoji="1" lang="en-US" altLang="zh-CN" sz="1800" u="none" dirty="0">
                  <a:solidFill>
                    <a:schemeClr val="bg1">
                      <a:lumMod val="65000"/>
                    </a:schemeClr>
                  </a:solidFill>
                  <a:latin typeface="微软雅黑" panose="020B0503020204020204" pitchFamily="34" charset="-122"/>
                  <a:ea typeface="微软雅黑" panose="020B0503020204020204" pitchFamily="34" charset="-122"/>
                </a:rPr>
                <a:t>ER</a:t>
              </a:r>
              <a:r>
                <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rPr>
                <a:t>图中呈现不同的类型 </a:t>
              </a:r>
              <a:endPar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rPr>
                <a:t>命名冲突 ：属性名、实体名、联系名之间存在同名异义或异名同义冲突</a:t>
              </a:r>
              <a:endParaRPr kumimoji="1" lang="zh-CN" altLang="en-US" sz="1800" u="none" dirty="0">
                <a:solidFill>
                  <a:schemeClr val="bg1">
                    <a:lumMod val="65000"/>
                  </a:schemeClr>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a:t>
            </a:r>
            <a:endParaRPr lang="en-US" altLang="zh-CN" sz="2400" b="0" dirty="0"/>
          </a:p>
          <a:p>
            <a:pPr lvl="1"/>
            <a:r>
              <a:rPr lang="zh-CN" altLang="en-US" b="0" dirty="0"/>
              <a:t>解决冲突，生成初步全局</a:t>
            </a:r>
            <a:r>
              <a:rPr lang="en-GB" altLang="zh-CN" b="0" dirty="0"/>
              <a:t>E</a:t>
            </a:r>
            <a:r>
              <a:rPr lang="zh-CN" altLang="en-GB" b="0" dirty="0"/>
              <a:t>－</a:t>
            </a:r>
            <a:r>
              <a:rPr lang="en-GB" altLang="zh-CN" b="0" dirty="0"/>
              <a:t>R</a:t>
            </a:r>
            <a:r>
              <a:rPr lang="zh-CN" altLang="en-US" b="0" dirty="0"/>
              <a:t>图</a:t>
            </a:r>
            <a:endParaRPr lang="zh-CN" altLang="en-US" b="0" dirty="0"/>
          </a:p>
          <a:p>
            <a:pPr marL="457200" lvl="1" indent="0">
              <a:buNone/>
            </a:pPr>
            <a:r>
              <a:rPr lang="zh-CN" altLang="en-US" sz="2200" b="0" dirty="0"/>
              <a:t> </a:t>
            </a:r>
            <a:r>
              <a:rPr lang="en-US" altLang="zh-CN" sz="2200" b="0" dirty="0"/>
              <a:t>(1)</a:t>
            </a:r>
            <a:r>
              <a:rPr lang="zh-CN" altLang="en-US" sz="2200" b="0" dirty="0"/>
              <a:t> 命名冲突：主要指实体、属性、联系等对象在名字方面的冲突，一般表现为同名异义和同义异名两种情况。 </a:t>
            </a:r>
            <a:endParaRPr lang="zh-CN" altLang="en-US" sz="2200" b="0" dirty="0"/>
          </a:p>
          <a:p>
            <a:pPr marL="457200" lvl="1" indent="0">
              <a:buNone/>
            </a:pPr>
            <a:r>
              <a:rPr lang="zh-CN" altLang="en-US" sz="2200" b="0" dirty="0"/>
              <a:t> </a:t>
            </a:r>
            <a:r>
              <a:rPr lang="en-US" altLang="zh-CN" sz="2200" b="0" dirty="0"/>
              <a:t>(2)</a:t>
            </a:r>
            <a:r>
              <a:rPr lang="zh-CN" altLang="en-US" sz="2200" b="0" dirty="0"/>
              <a:t> 属性冲突：包括属性域冲突和属性取值单位冲突两种情况。 </a:t>
            </a:r>
            <a:endParaRPr lang="zh-CN" altLang="en-US" sz="2200" b="0" dirty="0"/>
          </a:p>
          <a:p>
            <a:pPr marL="457200" lvl="1" indent="0">
              <a:buNone/>
            </a:pPr>
            <a:r>
              <a:rPr lang="zh-CN" altLang="en-US" sz="2200" b="0" dirty="0"/>
              <a:t> </a:t>
            </a:r>
            <a:r>
              <a:rPr lang="en-US" altLang="zh-CN" sz="2200" b="0" dirty="0"/>
              <a:t>(3)</a:t>
            </a:r>
            <a:r>
              <a:rPr lang="zh-CN" altLang="en-US" sz="2200" b="0" dirty="0"/>
              <a:t> 类型冲突：同一个概念在不同视图中被抽象成了不同类型的对象，实际应用中的类型冲突主要是实体和属性间的冲突 </a:t>
            </a:r>
            <a:endParaRPr lang="zh-CN" altLang="en-US" sz="2200" b="0" dirty="0"/>
          </a:p>
          <a:p>
            <a:pPr marL="457200" lvl="1" indent="0">
              <a:buNone/>
            </a:pPr>
            <a:r>
              <a:rPr lang="zh-CN" altLang="en-US" sz="2200" b="0" dirty="0"/>
              <a:t> </a:t>
            </a:r>
            <a:r>
              <a:rPr lang="en-US" altLang="zh-CN" sz="2200" b="0" dirty="0"/>
              <a:t>(4)</a:t>
            </a:r>
            <a:r>
              <a:rPr lang="zh-CN" altLang="en-US" sz="2200" b="0" dirty="0"/>
              <a:t> 约束冲突：约束冲突主要指语义约束方面的不一致</a:t>
            </a:r>
            <a:endParaRPr lang="zh-CN" altLang="en-US" sz="22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a:t>
            </a:r>
            <a:endParaRPr lang="en-US" altLang="zh-CN" sz="2400" b="0" dirty="0"/>
          </a:p>
          <a:p>
            <a:pPr lvl="1"/>
            <a:r>
              <a:rPr lang="zh-CN" altLang="en-US" b="0" dirty="0"/>
              <a:t>消除冗余，完成全局</a:t>
            </a:r>
            <a:r>
              <a:rPr lang="en-GB" altLang="zh-CN" b="0" dirty="0"/>
              <a:t>E</a:t>
            </a:r>
            <a:r>
              <a:rPr lang="zh-CN" altLang="en-GB" b="0" dirty="0"/>
              <a:t>－</a:t>
            </a:r>
            <a:r>
              <a:rPr lang="en-GB" altLang="zh-CN" b="0" dirty="0"/>
              <a:t>R</a:t>
            </a:r>
            <a:r>
              <a:rPr lang="zh-CN" altLang="en-US" b="0" dirty="0"/>
              <a:t>图</a:t>
            </a:r>
            <a:endParaRPr lang="zh-CN" altLang="en-US" b="0" dirty="0"/>
          </a:p>
          <a:p>
            <a:pPr lvl="2"/>
            <a:r>
              <a:rPr lang="zh-CN" altLang="en-US" sz="2200" b="0" dirty="0"/>
              <a:t>冗余主要包括数据冗余和联系冗余两种情况，冗余的数据是指可以由其它基本数据导出的数据，冗余的联系是指可以由其它联系导出的联系</a:t>
            </a:r>
            <a:endParaRPr lang="zh-CN" altLang="en-US" sz="2200" b="0" dirty="0"/>
          </a:p>
          <a:p>
            <a:pPr lvl="2"/>
            <a:r>
              <a:rPr lang="zh-CN" altLang="en-US" sz="2200" b="0" dirty="0"/>
              <a:t>数据和联系的冗余将会给数据库完整性的维护带来困难，容易引起数据的不一致，消除冗余的工作可以通过分析数据字典和数据流图中的数据说明及数据间的关系完成</a:t>
            </a:r>
            <a:endParaRPr lang="zh-CN" altLang="en-US" sz="22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视图集成：例</a:t>
            </a:r>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pic>
        <p:nvPicPr>
          <p:cNvPr id="6" name="Picture 3"/>
          <p:cNvPicPr>
            <a:picLocks noChangeAspect="1" noChangeArrowheads="1"/>
          </p:cNvPicPr>
          <p:nvPr/>
        </p:nvPicPr>
        <p:blipFill>
          <a:blip r:embed="rId1"/>
          <a:srcRect/>
          <a:stretch>
            <a:fillRect/>
          </a:stretch>
        </p:blipFill>
        <p:spPr bwMode="auto">
          <a:xfrm>
            <a:off x="3246218" y="1639887"/>
            <a:ext cx="6253163" cy="4899025"/>
          </a:xfrm>
          <a:prstGeom prst="rect">
            <a:avLst/>
          </a:prstGeom>
          <a:noFill/>
          <a:ln>
            <a:noFill/>
          </a:ln>
          <a:effectLst>
            <a:prstShdw prst="shdw17" dist="17961" dir="2700000">
              <a:schemeClr val="accent1">
                <a:gamma/>
                <a:shade val="60000"/>
                <a:invGamma/>
              </a:schemeClr>
            </a:prst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视图集成：例</a:t>
            </a:r>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pic>
        <p:nvPicPr>
          <p:cNvPr id="7" name="Picture 2"/>
          <p:cNvPicPr>
            <a:picLocks noChangeAspect="1" noChangeArrowheads="1"/>
          </p:cNvPicPr>
          <p:nvPr/>
        </p:nvPicPr>
        <p:blipFill>
          <a:blip r:embed="rId1"/>
          <a:srcRect/>
          <a:stretch>
            <a:fillRect/>
          </a:stretch>
        </p:blipFill>
        <p:spPr bwMode="auto">
          <a:xfrm>
            <a:off x="3258460" y="1516062"/>
            <a:ext cx="5965825" cy="5022850"/>
          </a:xfrm>
          <a:prstGeom prst="rect">
            <a:avLst/>
          </a:prstGeom>
          <a:noFill/>
          <a:ln>
            <a:noFill/>
          </a:ln>
          <a:effectLst>
            <a:prstShdw prst="shdw17" dist="17961" dir="2700000">
              <a:schemeClr val="accent1">
                <a:gamma/>
                <a:shade val="60000"/>
                <a:invGamma/>
              </a:schemeClr>
            </a:prst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视图集成：例</a:t>
            </a:r>
            <a:endParaRPr lang="en-US" altLang="zh-CN" dirty="0"/>
          </a:p>
          <a:p>
            <a:pPr lvl="1">
              <a:lnSpc>
                <a:spcPct val="130000"/>
              </a:lnSpc>
            </a:pPr>
            <a:r>
              <a:rPr lang="zh-CN" altLang="en-US" dirty="0"/>
              <a:t>例如，对于教学管理</a:t>
            </a:r>
            <a:r>
              <a:rPr lang="en-US" altLang="zh-CN" dirty="0"/>
              <a:t>E</a:t>
            </a:r>
            <a:r>
              <a:rPr lang="zh-CN" altLang="en-US" dirty="0"/>
              <a:t>－</a:t>
            </a:r>
            <a:r>
              <a:rPr lang="en-US" altLang="zh-CN" dirty="0"/>
              <a:t>R</a:t>
            </a:r>
            <a:r>
              <a:rPr lang="zh-CN" altLang="en-US" dirty="0"/>
              <a:t>图和学生管理</a:t>
            </a:r>
            <a:r>
              <a:rPr lang="en-US" altLang="zh-CN" dirty="0"/>
              <a:t>E</a:t>
            </a:r>
            <a:r>
              <a:rPr lang="zh-CN" altLang="en-US" dirty="0"/>
              <a:t>－</a:t>
            </a:r>
            <a:r>
              <a:rPr lang="en-US" altLang="zh-CN" dirty="0"/>
              <a:t>R</a:t>
            </a:r>
            <a:r>
              <a:rPr lang="zh-CN" altLang="en-US" dirty="0"/>
              <a:t>图</a:t>
            </a:r>
            <a:endParaRPr lang="zh-CN" altLang="en-US" dirty="0"/>
          </a:p>
          <a:p>
            <a:pPr lvl="1">
              <a:lnSpc>
                <a:spcPct val="130000"/>
              </a:lnSpc>
            </a:pPr>
            <a:r>
              <a:rPr lang="zh-CN" altLang="en-US" dirty="0"/>
              <a:t>教师实体和班主任实体属于同义异名，可将二者统一为教师实体，并将两个属性集的并作为新的属性集合，但是两实体的属性集存在冲突，班主任的教师编号属性和教师的工作证号属性其实表达了相同的概念，教师的年龄属性可以根据班主任实体的出生日期属性计算得出，而且年龄会随时间变化，需要做出相应的修改，可将年龄属性消去，得到教师实体的属性集为</a:t>
            </a:r>
            <a:endParaRPr lang="zh-CN" altLang="en-US" dirty="0"/>
          </a:p>
          <a:p>
            <a:pPr lvl="1">
              <a:lnSpc>
                <a:spcPct val="130000"/>
              </a:lnSpc>
              <a:buNone/>
            </a:pPr>
            <a:r>
              <a:rPr lang="zh-CN" altLang="en-US" dirty="0"/>
              <a:t>     </a:t>
            </a:r>
            <a:r>
              <a:rPr lang="en-US" altLang="zh-CN" dirty="0"/>
              <a:t>{</a:t>
            </a:r>
            <a:r>
              <a:rPr lang="zh-CN" altLang="en-US" dirty="0"/>
              <a:t>工作证号，姓名，性别，出生日期，职称，是否班主任</a:t>
            </a:r>
            <a:r>
              <a:rPr lang="en-US" altLang="zh-CN" dirty="0"/>
              <a:t>}</a:t>
            </a:r>
            <a:endParaRPr lang="zh-CN" altLang="en-US"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视图集成：例</a:t>
            </a:r>
            <a:endParaRPr lang="en-US" altLang="zh-CN" dirty="0"/>
          </a:p>
          <a:p>
            <a:pPr lvl="1">
              <a:lnSpc>
                <a:spcPct val="150000"/>
              </a:lnSpc>
            </a:pPr>
            <a:r>
              <a:rPr lang="zh-CN" altLang="en-US" dirty="0"/>
              <a:t>对于教学管理</a:t>
            </a:r>
            <a:r>
              <a:rPr lang="en-US" altLang="zh-CN" dirty="0"/>
              <a:t>E</a:t>
            </a:r>
            <a:r>
              <a:rPr lang="zh-CN" altLang="en-US" dirty="0"/>
              <a:t>－</a:t>
            </a:r>
            <a:r>
              <a:rPr lang="en-US" altLang="zh-CN" dirty="0"/>
              <a:t>R</a:t>
            </a:r>
            <a:r>
              <a:rPr lang="zh-CN" altLang="en-US" dirty="0"/>
              <a:t>图和学生管理</a:t>
            </a:r>
            <a:r>
              <a:rPr lang="en-US" altLang="zh-CN" dirty="0"/>
              <a:t>E</a:t>
            </a:r>
            <a:r>
              <a:rPr lang="zh-CN" altLang="en-US" dirty="0"/>
              <a:t>－</a:t>
            </a:r>
            <a:r>
              <a:rPr lang="en-US" altLang="zh-CN" dirty="0"/>
              <a:t>R</a:t>
            </a:r>
            <a:r>
              <a:rPr lang="zh-CN" altLang="en-US" dirty="0"/>
              <a:t>图</a:t>
            </a:r>
            <a:endParaRPr lang="zh-CN" altLang="en-US" dirty="0"/>
          </a:p>
          <a:p>
            <a:pPr lvl="1">
              <a:lnSpc>
                <a:spcPct val="150000"/>
              </a:lnSpc>
            </a:pPr>
            <a:r>
              <a:rPr lang="zh-CN" altLang="en-US" dirty="0"/>
              <a:t>在</a:t>
            </a:r>
            <a:r>
              <a:rPr lang="zh-CN" altLang="zh-CN" dirty="0"/>
              <a:t>教学管理E－R图</a:t>
            </a:r>
            <a:r>
              <a:rPr lang="zh-CN" altLang="en-US" dirty="0"/>
              <a:t>中班级是作为学生实体的属性出现的，而在学生</a:t>
            </a:r>
            <a:r>
              <a:rPr lang="zh-CN" altLang="zh-CN" dirty="0"/>
              <a:t>管理E－R图</a:t>
            </a:r>
            <a:r>
              <a:rPr lang="zh-CN" altLang="en-US" dirty="0"/>
              <a:t>中班级作为实体出现，二者存在矛盾，将学生实体的班级属性去除，得到新的学生实体的属性集为：</a:t>
            </a:r>
            <a:endParaRPr lang="zh-CN" altLang="en-US" dirty="0"/>
          </a:p>
          <a:p>
            <a:pPr>
              <a:lnSpc>
                <a:spcPct val="150000"/>
              </a:lnSpc>
              <a:buNone/>
            </a:pPr>
            <a:r>
              <a:rPr lang="en-US" altLang="zh-CN" sz="2400" b="0" dirty="0"/>
              <a:t>   </a:t>
            </a:r>
            <a:r>
              <a:rPr lang="zh-CN" altLang="en-US" sz="2400" b="0" dirty="0"/>
              <a:t>      </a:t>
            </a:r>
            <a:r>
              <a:rPr lang="en-US" altLang="zh-CN" sz="2400" b="0" dirty="0"/>
              <a:t>{</a:t>
            </a:r>
            <a:r>
              <a:rPr lang="zh-CN" altLang="en-US" sz="2400" b="0" dirty="0"/>
              <a:t>学号，姓名，性别，出生日期，</a:t>
            </a:r>
            <a:r>
              <a:rPr lang="en-US" altLang="zh-CN" sz="2400" b="0" dirty="0"/>
              <a:t>Email}</a:t>
            </a:r>
            <a:endParaRPr lang="en-US" altLang="zh-CN" sz="2400" b="0"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视图集成：例</a:t>
            </a:r>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6" name="Group 55"/>
          <p:cNvGrpSpPr/>
          <p:nvPr/>
        </p:nvGrpSpPr>
        <p:grpSpPr bwMode="auto">
          <a:xfrm>
            <a:off x="3020032" y="1628775"/>
            <a:ext cx="6802437" cy="5229225"/>
            <a:chOff x="1920" y="2688"/>
            <a:chExt cx="7428" cy="6084"/>
          </a:xfrm>
        </p:grpSpPr>
        <p:sp>
          <p:nvSpPr>
            <p:cNvPr id="7" name="Text Box 56"/>
            <p:cNvSpPr txBox="1">
              <a:spLocks noChangeArrowheads="1"/>
            </p:cNvSpPr>
            <p:nvPr/>
          </p:nvSpPr>
          <p:spPr bwMode="auto">
            <a:xfrm>
              <a:off x="3024" y="505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学生</a:t>
              </a:r>
              <a:endParaRPr lang="zh-CN" altLang="en-US" sz="1200" b="1" u="none">
                <a:latin typeface="Arial" panose="020B0604020202020204" pitchFamily="34" charset="0"/>
              </a:endParaRPr>
            </a:p>
          </p:txBody>
        </p:sp>
        <p:sp>
          <p:nvSpPr>
            <p:cNvPr id="8" name="AutoShape 57"/>
            <p:cNvSpPr>
              <a:spLocks noChangeArrowheads="1"/>
            </p:cNvSpPr>
            <p:nvPr/>
          </p:nvSpPr>
          <p:spPr bwMode="auto">
            <a:xfrm>
              <a:off x="4293" y="4956"/>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选修</a:t>
              </a:r>
              <a:endParaRPr lang="zh-CN" altLang="en-US" sz="1200" b="1" u="none">
                <a:latin typeface="Arial" panose="020B0604020202020204" pitchFamily="34" charset="0"/>
              </a:endParaRPr>
            </a:p>
          </p:txBody>
        </p:sp>
        <p:sp>
          <p:nvSpPr>
            <p:cNvPr id="9" name="Text Box 58"/>
            <p:cNvSpPr txBox="1">
              <a:spLocks noChangeArrowheads="1"/>
            </p:cNvSpPr>
            <p:nvPr/>
          </p:nvSpPr>
          <p:spPr bwMode="auto">
            <a:xfrm>
              <a:off x="3324" y="8388"/>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全局</a:t>
              </a:r>
              <a:r>
                <a:rPr lang="en-US" altLang="zh-CN" sz="1200" b="1" u="none">
                  <a:latin typeface="Times New Roman" panose="02020603050405020304" pitchFamily="18" charset="0"/>
                </a:rPr>
                <a:t>E</a:t>
              </a:r>
              <a:r>
                <a:rPr lang="zh-CN" altLang="en-US" sz="1200" b="1" u="none">
                  <a:latin typeface="Times New Roman" panose="02020603050405020304" pitchFamily="18" charset="0"/>
                </a:rPr>
                <a:t>－</a:t>
              </a:r>
              <a:r>
                <a:rPr lang="en-US" altLang="zh-CN" sz="1200" b="1" u="none">
                  <a:latin typeface="Times New Roman" panose="02020603050405020304" pitchFamily="18" charset="0"/>
                </a:rPr>
                <a:t>R</a:t>
              </a:r>
              <a:r>
                <a:rPr lang="zh-CN" altLang="en-US" sz="1200" b="1" u="none">
                  <a:latin typeface="Times New Roman" panose="02020603050405020304" pitchFamily="18" charset="0"/>
                </a:rPr>
                <a:t>图</a:t>
              </a:r>
              <a:endParaRPr lang="zh-CN" altLang="en-US" sz="1200" b="1" u="none">
                <a:latin typeface="Arial" panose="020B0604020202020204" pitchFamily="34" charset="0"/>
              </a:endParaRPr>
            </a:p>
          </p:txBody>
        </p:sp>
        <p:sp>
          <p:nvSpPr>
            <p:cNvPr id="10" name="Text Box 59"/>
            <p:cNvSpPr txBox="1">
              <a:spLocks noChangeArrowheads="1"/>
            </p:cNvSpPr>
            <p:nvPr/>
          </p:nvSpPr>
          <p:spPr bwMode="auto">
            <a:xfrm>
              <a:off x="7920" y="736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教室</a:t>
              </a:r>
              <a:endParaRPr lang="zh-CN" altLang="en-US" sz="1200" b="1" u="none">
                <a:latin typeface="Arial" panose="020B0604020202020204" pitchFamily="34" charset="0"/>
              </a:endParaRPr>
            </a:p>
          </p:txBody>
        </p:sp>
        <p:sp>
          <p:nvSpPr>
            <p:cNvPr id="11" name="Text Box 60"/>
            <p:cNvSpPr txBox="1">
              <a:spLocks noChangeArrowheads="1"/>
            </p:cNvSpPr>
            <p:nvPr/>
          </p:nvSpPr>
          <p:spPr bwMode="auto">
            <a:xfrm>
              <a:off x="5736" y="502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课程</a:t>
              </a:r>
              <a:endParaRPr lang="zh-CN" altLang="en-US" sz="1200" b="1" u="none">
                <a:latin typeface="Arial" panose="020B0604020202020204" pitchFamily="34" charset="0"/>
              </a:endParaRPr>
            </a:p>
          </p:txBody>
        </p:sp>
        <p:sp>
          <p:nvSpPr>
            <p:cNvPr id="12" name="AutoShape 61"/>
            <p:cNvSpPr>
              <a:spLocks noChangeArrowheads="1"/>
            </p:cNvSpPr>
            <p:nvPr/>
          </p:nvSpPr>
          <p:spPr bwMode="auto">
            <a:xfrm>
              <a:off x="6480" y="6120"/>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上课</a:t>
              </a:r>
              <a:endParaRPr lang="zh-CN" altLang="en-US" sz="1200" b="1" u="none">
                <a:latin typeface="Arial" panose="020B0604020202020204" pitchFamily="34" charset="0"/>
              </a:endParaRPr>
            </a:p>
          </p:txBody>
        </p:sp>
        <p:sp>
          <p:nvSpPr>
            <p:cNvPr id="13" name="Line 62"/>
            <p:cNvSpPr>
              <a:spLocks noChangeShapeType="1"/>
            </p:cNvSpPr>
            <p:nvPr/>
          </p:nvSpPr>
          <p:spPr bwMode="auto">
            <a:xfrm>
              <a:off x="3924" y="5268"/>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63"/>
            <p:cNvSpPr>
              <a:spLocks noChangeShapeType="1"/>
            </p:cNvSpPr>
            <p:nvPr/>
          </p:nvSpPr>
          <p:spPr bwMode="auto">
            <a:xfrm>
              <a:off x="5364" y="5268"/>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64"/>
            <p:cNvSpPr>
              <a:spLocks noChangeShapeType="1"/>
            </p:cNvSpPr>
            <p:nvPr/>
          </p:nvSpPr>
          <p:spPr bwMode="auto">
            <a:xfrm>
              <a:off x="6300" y="5496"/>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AutoShape 65"/>
            <p:cNvSpPr>
              <a:spLocks noChangeArrowheads="1"/>
            </p:cNvSpPr>
            <p:nvPr/>
          </p:nvSpPr>
          <p:spPr bwMode="auto">
            <a:xfrm>
              <a:off x="4860" y="6120"/>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讲授</a:t>
              </a:r>
              <a:endParaRPr lang="zh-CN" altLang="en-US" sz="1200" b="1" u="none">
                <a:latin typeface="Arial" panose="020B0604020202020204" pitchFamily="34" charset="0"/>
              </a:endParaRPr>
            </a:p>
          </p:txBody>
        </p:sp>
        <p:sp>
          <p:nvSpPr>
            <p:cNvPr id="17" name="Text Box 66"/>
            <p:cNvSpPr txBox="1">
              <a:spLocks noChangeArrowheads="1"/>
            </p:cNvSpPr>
            <p:nvPr/>
          </p:nvSpPr>
          <p:spPr bwMode="auto">
            <a:xfrm>
              <a:off x="6300" y="736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教师</a:t>
              </a:r>
              <a:endParaRPr lang="zh-CN" altLang="en-US" sz="1200" b="1" u="none">
                <a:latin typeface="Arial" panose="020B0604020202020204" pitchFamily="34" charset="0"/>
              </a:endParaRPr>
            </a:p>
          </p:txBody>
        </p:sp>
        <p:sp>
          <p:nvSpPr>
            <p:cNvPr id="18" name="Line 67"/>
            <p:cNvSpPr>
              <a:spLocks noChangeShapeType="1"/>
            </p:cNvSpPr>
            <p:nvPr/>
          </p:nvSpPr>
          <p:spPr bwMode="auto">
            <a:xfrm flipH="1">
              <a:off x="5400" y="5496"/>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Text Box 68"/>
            <p:cNvSpPr txBox="1">
              <a:spLocks noChangeArrowheads="1"/>
            </p:cNvSpPr>
            <p:nvPr/>
          </p:nvSpPr>
          <p:spPr bwMode="auto">
            <a:xfrm>
              <a:off x="7920" y="2844"/>
              <a:ext cx="1272"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课程资料</a:t>
              </a:r>
              <a:endParaRPr lang="zh-CN" altLang="en-US" sz="1200" b="1" u="none">
                <a:latin typeface="Arial" panose="020B0604020202020204" pitchFamily="34" charset="0"/>
              </a:endParaRPr>
            </a:p>
          </p:txBody>
        </p:sp>
        <p:sp>
          <p:nvSpPr>
            <p:cNvPr id="20" name="AutoShape 69"/>
            <p:cNvSpPr>
              <a:spLocks noChangeArrowheads="1"/>
            </p:cNvSpPr>
            <p:nvPr/>
          </p:nvSpPr>
          <p:spPr bwMode="auto">
            <a:xfrm>
              <a:off x="7008" y="4956"/>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开设</a:t>
              </a:r>
              <a:endParaRPr lang="zh-CN" altLang="en-US" sz="1200" b="1" u="none">
                <a:latin typeface="Arial" panose="020B0604020202020204" pitchFamily="34" charset="0"/>
              </a:endParaRPr>
            </a:p>
          </p:txBody>
        </p:sp>
        <p:sp>
          <p:nvSpPr>
            <p:cNvPr id="21" name="Line 70"/>
            <p:cNvSpPr>
              <a:spLocks noChangeShapeType="1"/>
            </p:cNvSpPr>
            <p:nvPr/>
          </p:nvSpPr>
          <p:spPr bwMode="auto">
            <a:xfrm>
              <a:off x="8076" y="5268"/>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71"/>
            <p:cNvSpPr>
              <a:spLocks noChangeShapeType="1"/>
            </p:cNvSpPr>
            <p:nvPr/>
          </p:nvSpPr>
          <p:spPr bwMode="auto">
            <a:xfrm>
              <a:off x="6636" y="5268"/>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72"/>
            <p:cNvSpPr>
              <a:spLocks noChangeShapeType="1"/>
            </p:cNvSpPr>
            <p:nvPr/>
          </p:nvSpPr>
          <p:spPr bwMode="auto">
            <a:xfrm>
              <a:off x="7020" y="6744"/>
              <a:ext cx="126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AutoShape 73"/>
            <p:cNvSpPr>
              <a:spLocks noChangeArrowheads="1"/>
            </p:cNvSpPr>
            <p:nvPr/>
          </p:nvSpPr>
          <p:spPr bwMode="auto">
            <a:xfrm>
              <a:off x="6120" y="3624"/>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布置</a:t>
              </a:r>
              <a:endParaRPr lang="zh-CN" altLang="en-US" sz="1200" b="1" u="none">
                <a:latin typeface="Arial" panose="020B0604020202020204" pitchFamily="34" charset="0"/>
              </a:endParaRPr>
            </a:p>
          </p:txBody>
        </p:sp>
        <p:sp>
          <p:nvSpPr>
            <p:cNvPr id="25" name="Line 74"/>
            <p:cNvSpPr>
              <a:spLocks noChangeShapeType="1"/>
            </p:cNvSpPr>
            <p:nvPr/>
          </p:nvSpPr>
          <p:spPr bwMode="auto">
            <a:xfrm flipH="1">
              <a:off x="6660" y="3156"/>
              <a:ext cx="18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AutoShape 75"/>
            <p:cNvSpPr>
              <a:spLocks noChangeArrowheads="1"/>
            </p:cNvSpPr>
            <p:nvPr/>
          </p:nvSpPr>
          <p:spPr bwMode="auto">
            <a:xfrm>
              <a:off x="7380" y="3936"/>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提供</a:t>
              </a:r>
              <a:endParaRPr lang="zh-CN" altLang="en-US" sz="1200" b="1" u="none">
                <a:latin typeface="Arial" panose="020B0604020202020204" pitchFamily="34" charset="0"/>
              </a:endParaRPr>
            </a:p>
          </p:txBody>
        </p:sp>
        <p:sp>
          <p:nvSpPr>
            <p:cNvPr id="27" name="Text Box 76"/>
            <p:cNvSpPr txBox="1">
              <a:spLocks noChangeArrowheads="1"/>
            </p:cNvSpPr>
            <p:nvPr/>
          </p:nvSpPr>
          <p:spPr bwMode="auto">
            <a:xfrm>
              <a:off x="6312" y="268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作业</a:t>
              </a:r>
              <a:endParaRPr lang="zh-CN" altLang="en-US" sz="1200" b="1" u="none">
                <a:latin typeface="Arial" panose="020B0604020202020204" pitchFamily="34" charset="0"/>
              </a:endParaRPr>
            </a:p>
          </p:txBody>
        </p:sp>
        <p:sp>
          <p:nvSpPr>
            <p:cNvPr id="28" name="Text Box 77"/>
            <p:cNvSpPr txBox="1">
              <a:spLocks noChangeArrowheads="1"/>
            </p:cNvSpPr>
            <p:nvPr/>
          </p:nvSpPr>
          <p:spPr bwMode="auto">
            <a:xfrm>
              <a:off x="6840" y="331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29" name="Text Box 78"/>
            <p:cNvSpPr txBox="1">
              <a:spLocks noChangeArrowheads="1"/>
            </p:cNvSpPr>
            <p:nvPr/>
          </p:nvSpPr>
          <p:spPr bwMode="auto">
            <a:xfrm>
              <a:off x="6144" y="435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30" name="Text Box 79"/>
            <p:cNvSpPr txBox="1">
              <a:spLocks noChangeArrowheads="1"/>
            </p:cNvSpPr>
            <p:nvPr/>
          </p:nvSpPr>
          <p:spPr bwMode="auto">
            <a:xfrm>
              <a:off x="7200" y="440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31" name="Text Box 80"/>
            <p:cNvSpPr txBox="1">
              <a:spLocks noChangeArrowheads="1"/>
            </p:cNvSpPr>
            <p:nvPr/>
          </p:nvSpPr>
          <p:spPr bwMode="auto">
            <a:xfrm>
              <a:off x="5424" y="492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32" name="Text Box 81"/>
            <p:cNvSpPr txBox="1">
              <a:spLocks noChangeArrowheads="1"/>
            </p:cNvSpPr>
            <p:nvPr/>
          </p:nvSpPr>
          <p:spPr bwMode="auto">
            <a:xfrm>
              <a:off x="7380" y="705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33" name="Text Box 82"/>
            <p:cNvSpPr txBox="1">
              <a:spLocks noChangeArrowheads="1"/>
            </p:cNvSpPr>
            <p:nvPr/>
          </p:nvSpPr>
          <p:spPr bwMode="auto">
            <a:xfrm>
              <a:off x="8460" y="362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34" name="Text Box 83"/>
            <p:cNvSpPr txBox="1">
              <a:spLocks noChangeArrowheads="1"/>
            </p:cNvSpPr>
            <p:nvPr/>
          </p:nvSpPr>
          <p:spPr bwMode="auto">
            <a:xfrm>
              <a:off x="8148" y="488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35" name="Text Box 84"/>
            <p:cNvSpPr txBox="1">
              <a:spLocks noChangeArrowheads="1"/>
            </p:cNvSpPr>
            <p:nvPr/>
          </p:nvSpPr>
          <p:spPr bwMode="auto">
            <a:xfrm>
              <a:off x="6756" y="495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36" name="Text Box 85"/>
            <p:cNvSpPr txBox="1">
              <a:spLocks noChangeArrowheads="1"/>
            </p:cNvSpPr>
            <p:nvPr/>
          </p:nvSpPr>
          <p:spPr bwMode="auto">
            <a:xfrm>
              <a:off x="4056" y="4908"/>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M</a:t>
              </a:r>
              <a:endParaRPr lang="en-US" altLang="zh-CN" sz="1200" b="1" u="none">
                <a:latin typeface="Arial" panose="020B0604020202020204" pitchFamily="34" charset="0"/>
              </a:endParaRPr>
            </a:p>
          </p:txBody>
        </p:sp>
        <p:sp>
          <p:nvSpPr>
            <p:cNvPr id="37" name="AutoShape 86"/>
            <p:cNvSpPr>
              <a:spLocks noChangeArrowheads="1"/>
            </p:cNvSpPr>
            <p:nvPr/>
          </p:nvSpPr>
          <p:spPr bwMode="auto">
            <a:xfrm>
              <a:off x="8280" y="6276"/>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时间</a:t>
              </a:r>
              <a:endParaRPr lang="zh-CN" altLang="en-US" sz="1200" b="1" u="none">
                <a:latin typeface="Arial" panose="020B0604020202020204" pitchFamily="34" charset="0"/>
              </a:endParaRPr>
            </a:p>
          </p:txBody>
        </p:sp>
        <p:sp>
          <p:nvSpPr>
            <p:cNvPr id="38" name="Line 87"/>
            <p:cNvSpPr>
              <a:spLocks noChangeShapeType="1"/>
            </p:cNvSpPr>
            <p:nvPr/>
          </p:nvSpPr>
          <p:spPr bwMode="auto">
            <a:xfrm flipH="1">
              <a:off x="6120" y="4248"/>
              <a:ext cx="54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Text Box 88"/>
            <p:cNvSpPr txBox="1">
              <a:spLocks noChangeArrowheads="1"/>
            </p:cNvSpPr>
            <p:nvPr/>
          </p:nvSpPr>
          <p:spPr bwMode="auto">
            <a:xfrm>
              <a:off x="3960" y="268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宿舍</a:t>
              </a:r>
              <a:endParaRPr lang="zh-CN" altLang="en-US" sz="1200" b="1" u="none">
                <a:latin typeface="Arial" panose="020B0604020202020204" pitchFamily="34" charset="0"/>
              </a:endParaRPr>
            </a:p>
          </p:txBody>
        </p:sp>
        <p:sp>
          <p:nvSpPr>
            <p:cNvPr id="40" name="AutoShape 89"/>
            <p:cNvSpPr>
              <a:spLocks noChangeArrowheads="1"/>
            </p:cNvSpPr>
            <p:nvPr/>
          </p:nvSpPr>
          <p:spPr bwMode="auto">
            <a:xfrm>
              <a:off x="3240" y="3624"/>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住宿</a:t>
              </a:r>
              <a:endParaRPr lang="zh-CN" altLang="en-US" sz="1200" b="1" u="none">
                <a:latin typeface="Arial" panose="020B0604020202020204" pitchFamily="34" charset="0"/>
              </a:endParaRPr>
            </a:p>
          </p:txBody>
        </p:sp>
        <p:sp>
          <p:nvSpPr>
            <p:cNvPr id="41" name="Line 90"/>
            <p:cNvSpPr>
              <a:spLocks noChangeShapeType="1"/>
            </p:cNvSpPr>
            <p:nvPr/>
          </p:nvSpPr>
          <p:spPr bwMode="auto">
            <a:xfrm flipH="1">
              <a:off x="3780" y="3156"/>
              <a:ext cx="7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91"/>
            <p:cNvSpPr>
              <a:spLocks noChangeShapeType="1"/>
            </p:cNvSpPr>
            <p:nvPr/>
          </p:nvSpPr>
          <p:spPr bwMode="auto">
            <a:xfrm flipH="1">
              <a:off x="3420" y="4248"/>
              <a:ext cx="36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Text Box 92"/>
            <p:cNvSpPr txBox="1">
              <a:spLocks noChangeArrowheads="1"/>
            </p:cNvSpPr>
            <p:nvPr/>
          </p:nvSpPr>
          <p:spPr bwMode="auto">
            <a:xfrm>
              <a:off x="2160" y="2688"/>
              <a:ext cx="126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个人档案</a:t>
              </a:r>
              <a:endParaRPr lang="zh-CN" altLang="en-US" sz="1200" b="1" u="none">
                <a:latin typeface="Arial" panose="020B0604020202020204" pitchFamily="34" charset="0"/>
              </a:endParaRPr>
            </a:p>
          </p:txBody>
        </p:sp>
        <p:sp>
          <p:nvSpPr>
            <p:cNvPr id="44" name="AutoShape 93"/>
            <p:cNvSpPr>
              <a:spLocks noChangeArrowheads="1"/>
            </p:cNvSpPr>
            <p:nvPr/>
          </p:nvSpPr>
          <p:spPr bwMode="auto">
            <a:xfrm>
              <a:off x="2160" y="3936"/>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拥有</a:t>
              </a:r>
              <a:endParaRPr lang="zh-CN" altLang="en-US" sz="1200" b="1" u="none">
                <a:latin typeface="Arial" panose="020B0604020202020204" pitchFamily="34" charset="0"/>
              </a:endParaRPr>
            </a:p>
          </p:txBody>
        </p:sp>
        <p:sp>
          <p:nvSpPr>
            <p:cNvPr id="45" name="Line 94"/>
            <p:cNvSpPr>
              <a:spLocks noChangeShapeType="1"/>
            </p:cNvSpPr>
            <p:nvPr/>
          </p:nvSpPr>
          <p:spPr bwMode="auto">
            <a:xfrm>
              <a:off x="2700" y="3156"/>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95"/>
            <p:cNvSpPr>
              <a:spLocks noChangeShapeType="1"/>
            </p:cNvSpPr>
            <p:nvPr/>
          </p:nvSpPr>
          <p:spPr bwMode="auto">
            <a:xfrm>
              <a:off x="2700" y="4560"/>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Text Box 96"/>
            <p:cNvSpPr txBox="1">
              <a:spLocks noChangeArrowheads="1"/>
            </p:cNvSpPr>
            <p:nvPr/>
          </p:nvSpPr>
          <p:spPr bwMode="auto">
            <a:xfrm>
              <a:off x="1920" y="721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社团</a:t>
              </a:r>
              <a:endParaRPr lang="zh-CN" altLang="en-US" sz="1200" b="1" u="none">
                <a:latin typeface="Arial" panose="020B0604020202020204" pitchFamily="34" charset="0"/>
              </a:endParaRPr>
            </a:p>
          </p:txBody>
        </p:sp>
        <p:sp>
          <p:nvSpPr>
            <p:cNvPr id="48" name="AutoShape 97"/>
            <p:cNvSpPr>
              <a:spLocks noChangeArrowheads="1"/>
            </p:cNvSpPr>
            <p:nvPr/>
          </p:nvSpPr>
          <p:spPr bwMode="auto">
            <a:xfrm>
              <a:off x="1920" y="5964"/>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参加</a:t>
              </a:r>
              <a:endParaRPr lang="zh-CN" altLang="en-US" sz="1200" b="1" u="none">
                <a:latin typeface="Arial" panose="020B0604020202020204" pitchFamily="34" charset="0"/>
              </a:endParaRPr>
            </a:p>
          </p:txBody>
        </p:sp>
        <p:sp>
          <p:nvSpPr>
            <p:cNvPr id="49" name="Line 98"/>
            <p:cNvSpPr>
              <a:spLocks noChangeShapeType="1"/>
            </p:cNvSpPr>
            <p:nvPr/>
          </p:nvSpPr>
          <p:spPr bwMode="auto">
            <a:xfrm flipH="1">
              <a:off x="2484" y="5520"/>
              <a:ext cx="888" cy="4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99"/>
            <p:cNvSpPr>
              <a:spLocks noChangeShapeType="1"/>
            </p:cNvSpPr>
            <p:nvPr/>
          </p:nvSpPr>
          <p:spPr bwMode="auto">
            <a:xfrm flipH="1">
              <a:off x="2292" y="6588"/>
              <a:ext cx="1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AutoShape 100"/>
            <p:cNvSpPr>
              <a:spLocks noChangeArrowheads="1"/>
            </p:cNvSpPr>
            <p:nvPr/>
          </p:nvSpPr>
          <p:spPr bwMode="auto">
            <a:xfrm>
              <a:off x="3240" y="6120"/>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组成</a:t>
              </a:r>
              <a:endParaRPr lang="zh-CN" altLang="en-US" sz="1200" b="1" u="none">
                <a:latin typeface="Arial" panose="020B0604020202020204" pitchFamily="34" charset="0"/>
              </a:endParaRPr>
            </a:p>
          </p:txBody>
        </p:sp>
        <p:sp>
          <p:nvSpPr>
            <p:cNvPr id="52" name="Line 101"/>
            <p:cNvSpPr>
              <a:spLocks noChangeShapeType="1"/>
            </p:cNvSpPr>
            <p:nvPr/>
          </p:nvSpPr>
          <p:spPr bwMode="auto">
            <a:xfrm>
              <a:off x="3600" y="5496"/>
              <a:ext cx="1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 name="Text Box 102"/>
            <p:cNvSpPr txBox="1">
              <a:spLocks noChangeArrowheads="1"/>
            </p:cNvSpPr>
            <p:nvPr/>
          </p:nvSpPr>
          <p:spPr bwMode="auto">
            <a:xfrm>
              <a:off x="3240" y="736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班级</a:t>
              </a:r>
              <a:endParaRPr lang="zh-CN" altLang="en-US" sz="1200" b="1" u="none">
                <a:latin typeface="Arial" panose="020B0604020202020204" pitchFamily="34" charset="0"/>
              </a:endParaRPr>
            </a:p>
          </p:txBody>
        </p:sp>
        <p:sp>
          <p:nvSpPr>
            <p:cNvPr id="54" name="Line 103"/>
            <p:cNvSpPr>
              <a:spLocks noChangeShapeType="1"/>
            </p:cNvSpPr>
            <p:nvPr/>
          </p:nvSpPr>
          <p:spPr bwMode="auto">
            <a:xfrm flipH="1">
              <a:off x="3600" y="6744"/>
              <a:ext cx="1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 name="AutoShape 104"/>
            <p:cNvSpPr>
              <a:spLocks noChangeArrowheads="1"/>
            </p:cNvSpPr>
            <p:nvPr/>
          </p:nvSpPr>
          <p:spPr bwMode="auto">
            <a:xfrm>
              <a:off x="4680" y="7296"/>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管理</a:t>
              </a:r>
              <a:endParaRPr lang="zh-CN" altLang="en-US" sz="1200" b="1" u="none">
                <a:latin typeface="Arial" panose="020B0604020202020204" pitchFamily="34" charset="0"/>
              </a:endParaRPr>
            </a:p>
          </p:txBody>
        </p:sp>
        <p:sp>
          <p:nvSpPr>
            <p:cNvPr id="56" name="Line 105"/>
            <p:cNvSpPr>
              <a:spLocks noChangeShapeType="1"/>
            </p:cNvSpPr>
            <p:nvPr/>
          </p:nvSpPr>
          <p:spPr bwMode="auto">
            <a:xfrm flipH="1">
              <a:off x="4140" y="7608"/>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106"/>
            <p:cNvSpPr>
              <a:spLocks noChangeShapeType="1"/>
            </p:cNvSpPr>
            <p:nvPr/>
          </p:nvSpPr>
          <p:spPr bwMode="auto">
            <a:xfrm>
              <a:off x="5400" y="6744"/>
              <a:ext cx="144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107"/>
            <p:cNvSpPr>
              <a:spLocks noChangeShapeType="1"/>
            </p:cNvSpPr>
            <p:nvPr/>
          </p:nvSpPr>
          <p:spPr bwMode="auto">
            <a:xfrm>
              <a:off x="7560" y="6432"/>
              <a:ext cx="7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108"/>
            <p:cNvSpPr>
              <a:spLocks noChangeShapeType="1"/>
            </p:cNvSpPr>
            <p:nvPr/>
          </p:nvSpPr>
          <p:spPr bwMode="auto">
            <a:xfrm>
              <a:off x="5760" y="7608"/>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109"/>
            <p:cNvSpPr>
              <a:spLocks noChangeShapeType="1"/>
            </p:cNvSpPr>
            <p:nvPr/>
          </p:nvSpPr>
          <p:spPr bwMode="auto">
            <a:xfrm flipH="1">
              <a:off x="7920" y="3312"/>
              <a:ext cx="72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110"/>
            <p:cNvSpPr>
              <a:spLocks noChangeShapeType="1"/>
            </p:cNvSpPr>
            <p:nvPr/>
          </p:nvSpPr>
          <p:spPr bwMode="auto">
            <a:xfrm flipH="1">
              <a:off x="6300" y="4560"/>
              <a:ext cx="162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AutoShape 111"/>
            <p:cNvSpPr>
              <a:spLocks noChangeArrowheads="1"/>
            </p:cNvSpPr>
            <p:nvPr/>
          </p:nvSpPr>
          <p:spPr bwMode="auto">
            <a:xfrm>
              <a:off x="4272" y="5904"/>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成绩</a:t>
              </a:r>
              <a:endParaRPr lang="zh-CN" altLang="en-US" sz="1200" b="1" u="none">
                <a:latin typeface="Arial" panose="020B0604020202020204" pitchFamily="34" charset="0"/>
              </a:endParaRPr>
            </a:p>
          </p:txBody>
        </p:sp>
        <p:sp>
          <p:nvSpPr>
            <p:cNvPr id="63" name="Line 112"/>
            <p:cNvSpPr>
              <a:spLocks noChangeShapeType="1"/>
            </p:cNvSpPr>
            <p:nvPr/>
          </p:nvSpPr>
          <p:spPr bwMode="auto">
            <a:xfrm flipH="1">
              <a:off x="4632" y="5580"/>
              <a:ext cx="18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AutoShape 113"/>
            <p:cNvSpPr>
              <a:spLocks noChangeArrowheads="1"/>
            </p:cNvSpPr>
            <p:nvPr/>
          </p:nvSpPr>
          <p:spPr bwMode="auto">
            <a:xfrm>
              <a:off x="4500" y="3624"/>
              <a:ext cx="1080" cy="624"/>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提交</a:t>
              </a:r>
              <a:endParaRPr lang="zh-CN" altLang="en-US" sz="1200" b="1" u="none">
                <a:latin typeface="Arial" panose="020B0604020202020204" pitchFamily="34" charset="0"/>
              </a:endParaRPr>
            </a:p>
          </p:txBody>
        </p:sp>
        <p:sp>
          <p:nvSpPr>
            <p:cNvPr id="65" name="Line 114"/>
            <p:cNvSpPr>
              <a:spLocks noChangeShapeType="1"/>
            </p:cNvSpPr>
            <p:nvPr/>
          </p:nvSpPr>
          <p:spPr bwMode="auto">
            <a:xfrm flipH="1">
              <a:off x="3600" y="3936"/>
              <a:ext cx="900" cy="10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115"/>
            <p:cNvSpPr>
              <a:spLocks noChangeShapeType="1"/>
            </p:cNvSpPr>
            <p:nvPr/>
          </p:nvSpPr>
          <p:spPr bwMode="auto">
            <a:xfrm flipH="1">
              <a:off x="5580" y="3000"/>
              <a:ext cx="72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AutoShape 116"/>
            <p:cNvSpPr>
              <a:spLocks noChangeArrowheads="1"/>
            </p:cNvSpPr>
            <p:nvPr/>
          </p:nvSpPr>
          <p:spPr bwMode="auto">
            <a:xfrm>
              <a:off x="5040" y="4560"/>
              <a:ext cx="72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成绩</a:t>
              </a:r>
              <a:endParaRPr lang="zh-CN" altLang="en-US" sz="1200" b="1" u="none">
                <a:latin typeface="Arial" panose="020B0604020202020204" pitchFamily="34" charset="0"/>
              </a:endParaRPr>
            </a:p>
          </p:txBody>
        </p:sp>
        <p:sp>
          <p:nvSpPr>
            <p:cNvPr id="68" name="Line 117"/>
            <p:cNvSpPr>
              <a:spLocks noChangeShapeType="1"/>
            </p:cNvSpPr>
            <p:nvPr/>
          </p:nvSpPr>
          <p:spPr bwMode="auto">
            <a:xfrm>
              <a:off x="5040" y="4248"/>
              <a:ext cx="36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Text Box 118"/>
            <p:cNvSpPr txBox="1">
              <a:spLocks noChangeArrowheads="1"/>
            </p:cNvSpPr>
            <p:nvPr/>
          </p:nvSpPr>
          <p:spPr bwMode="auto">
            <a:xfrm>
              <a:off x="8448" y="502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1200" b="1" u="none">
                  <a:latin typeface="Times New Roman" panose="02020603050405020304" pitchFamily="18" charset="0"/>
                </a:rPr>
                <a:t>系</a:t>
              </a:r>
              <a:endParaRPr lang="zh-CN" altLang="en-US" sz="1200" b="1" u="none">
                <a:latin typeface="Arial" panose="020B0604020202020204" pitchFamily="34" charset="0"/>
              </a:endParaRPr>
            </a:p>
          </p:txBody>
        </p:sp>
        <p:sp>
          <p:nvSpPr>
            <p:cNvPr id="70" name="Text Box 119"/>
            <p:cNvSpPr txBox="1">
              <a:spLocks noChangeArrowheads="1"/>
            </p:cNvSpPr>
            <p:nvPr/>
          </p:nvSpPr>
          <p:spPr bwMode="auto">
            <a:xfrm>
              <a:off x="2772" y="342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71" name="Text Box 120"/>
            <p:cNvSpPr txBox="1">
              <a:spLocks noChangeArrowheads="1"/>
            </p:cNvSpPr>
            <p:nvPr/>
          </p:nvSpPr>
          <p:spPr bwMode="auto">
            <a:xfrm>
              <a:off x="2568" y="469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72" name="Text Box 121"/>
            <p:cNvSpPr txBox="1">
              <a:spLocks noChangeArrowheads="1"/>
            </p:cNvSpPr>
            <p:nvPr/>
          </p:nvSpPr>
          <p:spPr bwMode="auto">
            <a:xfrm>
              <a:off x="2520" y="549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73" name="Text Box 122"/>
            <p:cNvSpPr txBox="1">
              <a:spLocks noChangeArrowheads="1"/>
            </p:cNvSpPr>
            <p:nvPr/>
          </p:nvSpPr>
          <p:spPr bwMode="auto">
            <a:xfrm>
              <a:off x="2160" y="674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M</a:t>
              </a:r>
              <a:endParaRPr lang="en-US" altLang="zh-CN" sz="1200" b="1" u="none">
                <a:latin typeface="Arial" panose="020B0604020202020204" pitchFamily="34" charset="0"/>
              </a:endParaRPr>
            </a:p>
          </p:txBody>
        </p:sp>
        <p:sp>
          <p:nvSpPr>
            <p:cNvPr id="74" name="Text Box 123"/>
            <p:cNvSpPr txBox="1">
              <a:spLocks noChangeArrowheads="1"/>
            </p:cNvSpPr>
            <p:nvPr/>
          </p:nvSpPr>
          <p:spPr bwMode="auto">
            <a:xfrm>
              <a:off x="3420" y="565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75" name="Text Box 124"/>
            <p:cNvSpPr txBox="1">
              <a:spLocks noChangeArrowheads="1"/>
            </p:cNvSpPr>
            <p:nvPr/>
          </p:nvSpPr>
          <p:spPr bwMode="auto">
            <a:xfrm>
              <a:off x="3420" y="690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76" name="Text Box 125"/>
            <p:cNvSpPr txBox="1">
              <a:spLocks noChangeArrowheads="1"/>
            </p:cNvSpPr>
            <p:nvPr/>
          </p:nvSpPr>
          <p:spPr bwMode="auto">
            <a:xfrm>
              <a:off x="4320" y="721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77" name="Text Box 126"/>
            <p:cNvSpPr txBox="1">
              <a:spLocks noChangeArrowheads="1"/>
            </p:cNvSpPr>
            <p:nvPr/>
          </p:nvSpPr>
          <p:spPr bwMode="auto">
            <a:xfrm>
              <a:off x="5892" y="726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78" name="Text Box 127"/>
            <p:cNvSpPr txBox="1">
              <a:spLocks noChangeArrowheads="1"/>
            </p:cNvSpPr>
            <p:nvPr/>
          </p:nvSpPr>
          <p:spPr bwMode="auto">
            <a:xfrm>
              <a:off x="6480" y="5808"/>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79" name="Text Box 128"/>
            <p:cNvSpPr txBox="1">
              <a:spLocks noChangeArrowheads="1"/>
            </p:cNvSpPr>
            <p:nvPr/>
          </p:nvSpPr>
          <p:spPr bwMode="auto">
            <a:xfrm>
              <a:off x="6084" y="672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80" name="Text Box 129"/>
            <p:cNvSpPr txBox="1">
              <a:spLocks noChangeArrowheads="1"/>
            </p:cNvSpPr>
            <p:nvPr/>
          </p:nvSpPr>
          <p:spPr bwMode="auto">
            <a:xfrm>
              <a:off x="5760" y="5808"/>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81" name="Text Box 130"/>
            <p:cNvSpPr txBox="1">
              <a:spLocks noChangeArrowheads="1"/>
            </p:cNvSpPr>
            <p:nvPr/>
          </p:nvSpPr>
          <p:spPr bwMode="auto">
            <a:xfrm>
              <a:off x="3780" y="315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82" name="Text Box 131"/>
            <p:cNvSpPr txBox="1">
              <a:spLocks noChangeArrowheads="1"/>
            </p:cNvSpPr>
            <p:nvPr/>
          </p:nvSpPr>
          <p:spPr bwMode="auto">
            <a:xfrm>
              <a:off x="3372" y="440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83" name="Text Box 132"/>
            <p:cNvSpPr txBox="1">
              <a:spLocks noChangeArrowheads="1"/>
            </p:cNvSpPr>
            <p:nvPr/>
          </p:nvSpPr>
          <p:spPr bwMode="auto">
            <a:xfrm>
              <a:off x="4140" y="4404"/>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M</a:t>
              </a:r>
              <a:endParaRPr lang="en-US" altLang="zh-CN" sz="1200" b="1" u="none">
                <a:latin typeface="Arial" panose="020B0604020202020204" pitchFamily="34" charset="0"/>
              </a:endParaRPr>
            </a:p>
          </p:txBody>
        </p:sp>
        <p:sp>
          <p:nvSpPr>
            <p:cNvPr id="84" name="Text Box 133"/>
            <p:cNvSpPr txBox="1">
              <a:spLocks noChangeArrowheads="1"/>
            </p:cNvSpPr>
            <p:nvPr/>
          </p:nvSpPr>
          <p:spPr bwMode="auto">
            <a:xfrm>
              <a:off x="5580" y="3156"/>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视图集成策略</a:t>
            </a:r>
            <a:endParaRPr lang="en-US" altLang="zh-CN" dirty="0"/>
          </a:p>
          <a:p>
            <a:pPr lvl="1">
              <a:lnSpc>
                <a:spcPct val="170000"/>
              </a:lnSpc>
              <a:buClr>
                <a:srgbClr val="3366FF"/>
              </a:buClr>
              <a:buNone/>
            </a:pPr>
            <a:r>
              <a:rPr lang="en-US" altLang="zh-CN" dirty="0"/>
              <a:t>(1)</a:t>
            </a:r>
            <a:r>
              <a:rPr lang="zh-CN" altLang="en-US" dirty="0"/>
              <a:t>二元梯形集成 </a:t>
            </a:r>
            <a:endParaRPr lang="zh-CN" altLang="en-US" dirty="0"/>
          </a:p>
          <a:p>
            <a:pPr lvl="1">
              <a:lnSpc>
                <a:spcPct val="170000"/>
              </a:lnSpc>
              <a:buClr>
                <a:srgbClr val="3366FF"/>
              </a:buClr>
              <a:buNone/>
            </a:pPr>
            <a:r>
              <a:rPr lang="en-US" altLang="zh-CN" dirty="0"/>
              <a:t>(2)n</a:t>
            </a:r>
            <a:r>
              <a:rPr lang="zh-CN" altLang="en-US" dirty="0"/>
              <a:t>元集成 </a:t>
            </a:r>
            <a:endParaRPr lang="zh-CN" altLang="en-US" dirty="0"/>
          </a:p>
          <a:p>
            <a:pPr lvl="1">
              <a:lnSpc>
                <a:spcPct val="170000"/>
              </a:lnSpc>
              <a:buClr>
                <a:srgbClr val="3366FF"/>
              </a:buClr>
              <a:buNone/>
            </a:pPr>
            <a:r>
              <a:rPr lang="en-US" altLang="zh-CN" dirty="0"/>
              <a:t>(3)</a:t>
            </a:r>
            <a:r>
              <a:rPr lang="zh-CN" altLang="en-US" dirty="0"/>
              <a:t>二元平衡集成</a:t>
            </a:r>
            <a:endParaRPr lang="zh-CN" altLang="en-US" dirty="0"/>
          </a:p>
          <a:p>
            <a:pPr marL="457200" lvl="1" indent="0">
              <a:buNone/>
            </a:pPr>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5.3 </a:t>
            </a:r>
            <a:r>
              <a:rPr kumimoji="1" lang="zh-CN" altLang="en-US" dirty="0"/>
              <a:t>概念设计</a:t>
            </a:r>
            <a:endParaRPr kumimoji="1" lang="zh-CN" altLang="en-US" dirty="0"/>
          </a:p>
        </p:txBody>
      </p:sp>
      <p:grpSp>
        <p:nvGrpSpPr>
          <p:cNvPr id="85" name="Group 6"/>
          <p:cNvGrpSpPr/>
          <p:nvPr/>
        </p:nvGrpSpPr>
        <p:grpSpPr bwMode="auto">
          <a:xfrm>
            <a:off x="2632002" y="3979441"/>
            <a:ext cx="6983412" cy="2665412"/>
            <a:chOff x="840" y="2205"/>
            <a:chExt cx="4127" cy="1389"/>
          </a:xfrm>
        </p:grpSpPr>
        <p:sp>
          <p:nvSpPr>
            <p:cNvPr id="86" name="AutoShape 7"/>
            <p:cNvSpPr>
              <a:spLocks noChangeArrowheads="1"/>
            </p:cNvSpPr>
            <p:nvPr/>
          </p:nvSpPr>
          <p:spPr bwMode="auto">
            <a:xfrm>
              <a:off x="1620" y="2205"/>
              <a:ext cx="100"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7" name="AutoShape 8"/>
            <p:cNvSpPr>
              <a:spLocks noChangeArrowheads="1"/>
            </p:cNvSpPr>
            <p:nvPr/>
          </p:nvSpPr>
          <p:spPr bwMode="auto">
            <a:xfrm>
              <a:off x="1356" y="2517"/>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8" name="AutoShape 9"/>
            <p:cNvSpPr>
              <a:spLocks noChangeArrowheads="1"/>
            </p:cNvSpPr>
            <p:nvPr/>
          </p:nvSpPr>
          <p:spPr bwMode="auto">
            <a:xfrm>
              <a:off x="1329" y="3153"/>
              <a:ext cx="100"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89" name="AutoShape 10"/>
            <p:cNvSpPr>
              <a:spLocks noChangeArrowheads="1"/>
            </p:cNvSpPr>
            <p:nvPr/>
          </p:nvSpPr>
          <p:spPr bwMode="auto">
            <a:xfrm>
              <a:off x="1620" y="2829"/>
              <a:ext cx="100"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0" name="AutoShape 11"/>
            <p:cNvSpPr>
              <a:spLocks noChangeArrowheads="1"/>
            </p:cNvSpPr>
            <p:nvPr/>
          </p:nvSpPr>
          <p:spPr bwMode="auto">
            <a:xfrm>
              <a:off x="1859" y="2523"/>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1" name="AutoShape 12"/>
            <p:cNvSpPr>
              <a:spLocks noChangeArrowheads="1"/>
            </p:cNvSpPr>
            <p:nvPr/>
          </p:nvSpPr>
          <p:spPr bwMode="auto">
            <a:xfrm>
              <a:off x="2824" y="2358"/>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2" name="AutoShape 13"/>
            <p:cNvSpPr>
              <a:spLocks noChangeArrowheads="1"/>
            </p:cNvSpPr>
            <p:nvPr/>
          </p:nvSpPr>
          <p:spPr bwMode="auto">
            <a:xfrm>
              <a:off x="2401" y="3000"/>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3" name="AutoShape 14"/>
            <p:cNvSpPr>
              <a:spLocks noChangeArrowheads="1"/>
            </p:cNvSpPr>
            <p:nvPr/>
          </p:nvSpPr>
          <p:spPr bwMode="auto">
            <a:xfrm>
              <a:off x="2698" y="3007"/>
              <a:ext cx="100"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4" name="AutoShape 15"/>
            <p:cNvSpPr>
              <a:spLocks noChangeArrowheads="1"/>
            </p:cNvSpPr>
            <p:nvPr/>
          </p:nvSpPr>
          <p:spPr bwMode="auto">
            <a:xfrm>
              <a:off x="2983" y="3007"/>
              <a:ext cx="99"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5" name="AutoShape 16"/>
            <p:cNvSpPr>
              <a:spLocks noChangeArrowheads="1"/>
            </p:cNvSpPr>
            <p:nvPr/>
          </p:nvSpPr>
          <p:spPr bwMode="auto">
            <a:xfrm>
              <a:off x="3261" y="3007"/>
              <a:ext cx="99"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6" name="Line 17"/>
            <p:cNvSpPr>
              <a:spLocks noChangeShapeType="1"/>
            </p:cNvSpPr>
            <p:nvPr/>
          </p:nvSpPr>
          <p:spPr bwMode="auto">
            <a:xfrm flipH="1">
              <a:off x="1429" y="2278"/>
              <a:ext cx="198"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7" name="AutoShape 18"/>
            <p:cNvSpPr>
              <a:spLocks noChangeArrowheads="1"/>
            </p:cNvSpPr>
            <p:nvPr/>
          </p:nvSpPr>
          <p:spPr bwMode="auto">
            <a:xfrm>
              <a:off x="1098" y="2835"/>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98" name="Line 19"/>
            <p:cNvSpPr>
              <a:spLocks noChangeShapeType="1"/>
            </p:cNvSpPr>
            <p:nvPr/>
          </p:nvSpPr>
          <p:spPr bwMode="auto">
            <a:xfrm flipH="1">
              <a:off x="1171" y="2597"/>
              <a:ext cx="198" cy="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 name="AutoShape 20"/>
            <p:cNvSpPr>
              <a:spLocks noChangeArrowheads="1"/>
            </p:cNvSpPr>
            <p:nvPr/>
          </p:nvSpPr>
          <p:spPr bwMode="auto">
            <a:xfrm>
              <a:off x="840" y="3147"/>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00" name="Line 21"/>
            <p:cNvSpPr>
              <a:spLocks noChangeShapeType="1"/>
            </p:cNvSpPr>
            <p:nvPr/>
          </p:nvSpPr>
          <p:spPr bwMode="auto">
            <a:xfrm flipH="1">
              <a:off x="913" y="2909"/>
              <a:ext cx="198" cy="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1" name="Line 22"/>
            <p:cNvSpPr>
              <a:spLocks noChangeShapeType="1"/>
            </p:cNvSpPr>
            <p:nvPr/>
          </p:nvSpPr>
          <p:spPr bwMode="auto">
            <a:xfrm>
              <a:off x="1171" y="2915"/>
              <a:ext cx="198" cy="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 name="Line 23"/>
            <p:cNvSpPr>
              <a:spLocks noChangeShapeType="1"/>
            </p:cNvSpPr>
            <p:nvPr/>
          </p:nvSpPr>
          <p:spPr bwMode="auto">
            <a:xfrm>
              <a:off x="1429" y="2597"/>
              <a:ext cx="198" cy="2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3" name="Line 24"/>
            <p:cNvSpPr>
              <a:spLocks noChangeShapeType="1"/>
            </p:cNvSpPr>
            <p:nvPr/>
          </p:nvSpPr>
          <p:spPr bwMode="auto">
            <a:xfrm>
              <a:off x="1700" y="2278"/>
              <a:ext cx="198"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4" name="Text Box 25"/>
            <p:cNvSpPr txBox="1">
              <a:spLocks noChangeArrowheads="1"/>
            </p:cNvSpPr>
            <p:nvPr/>
          </p:nvSpPr>
          <p:spPr bwMode="auto">
            <a:xfrm>
              <a:off x="1091" y="3435"/>
              <a:ext cx="893"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FontTx/>
                <a:buNone/>
              </a:pPr>
              <a:r>
                <a:rPr lang="en-US" altLang="zh-CN" sz="1200" b="1" u="none">
                  <a:latin typeface="Times New Roman" panose="02020603050405020304" pitchFamily="18" charset="0"/>
                </a:rPr>
                <a:t>(a) </a:t>
              </a:r>
              <a:r>
                <a:rPr lang="zh-CN" altLang="en-US" sz="1200" b="1" u="none">
                  <a:latin typeface="Times New Roman" panose="02020603050405020304" pitchFamily="18" charset="0"/>
                </a:rPr>
                <a:t>二元梯形集成</a:t>
              </a:r>
              <a:endParaRPr lang="zh-CN" altLang="en-US" sz="1200" b="1" u="none">
                <a:latin typeface="Arial" panose="020B0604020202020204" pitchFamily="34" charset="0"/>
              </a:endParaRPr>
            </a:p>
          </p:txBody>
        </p:sp>
        <p:sp>
          <p:nvSpPr>
            <p:cNvPr id="105" name="Text Box 26"/>
            <p:cNvSpPr txBox="1">
              <a:spLocks noChangeArrowheads="1"/>
            </p:cNvSpPr>
            <p:nvPr/>
          </p:nvSpPr>
          <p:spPr bwMode="auto">
            <a:xfrm>
              <a:off x="1958" y="2597"/>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V4</a:t>
              </a:r>
              <a:endParaRPr lang="en-US" altLang="zh-CN" sz="1200" b="1" u="none">
                <a:latin typeface="Arial" panose="020B0604020202020204" pitchFamily="34" charset="0"/>
              </a:endParaRPr>
            </a:p>
          </p:txBody>
        </p:sp>
        <p:sp>
          <p:nvSpPr>
            <p:cNvPr id="106" name="Text Box 27"/>
            <p:cNvSpPr txBox="1">
              <a:spLocks noChangeArrowheads="1"/>
            </p:cNvSpPr>
            <p:nvPr/>
          </p:nvSpPr>
          <p:spPr bwMode="auto">
            <a:xfrm>
              <a:off x="1759" y="2835"/>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V3</a:t>
              </a:r>
              <a:endParaRPr lang="en-US" altLang="zh-CN" sz="1200" b="1" u="none">
                <a:latin typeface="Arial" panose="020B0604020202020204" pitchFamily="34" charset="0"/>
              </a:endParaRPr>
            </a:p>
          </p:txBody>
        </p:sp>
        <p:sp>
          <p:nvSpPr>
            <p:cNvPr id="107" name="Text Box 28"/>
            <p:cNvSpPr txBox="1">
              <a:spLocks noChangeArrowheads="1"/>
            </p:cNvSpPr>
            <p:nvPr/>
          </p:nvSpPr>
          <p:spPr bwMode="auto">
            <a:xfrm>
              <a:off x="866" y="3233"/>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V1</a:t>
              </a:r>
              <a:endParaRPr lang="en-US" altLang="zh-CN" sz="1200" b="1" u="none">
                <a:latin typeface="Arial" panose="020B0604020202020204" pitchFamily="34" charset="0"/>
              </a:endParaRPr>
            </a:p>
          </p:txBody>
        </p:sp>
        <p:sp>
          <p:nvSpPr>
            <p:cNvPr id="108" name="Text Box 29"/>
            <p:cNvSpPr txBox="1">
              <a:spLocks noChangeArrowheads="1"/>
            </p:cNvSpPr>
            <p:nvPr/>
          </p:nvSpPr>
          <p:spPr bwMode="auto">
            <a:xfrm>
              <a:off x="1488" y="3147"/>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V2</a:t>
              </a:r>
              <a:endParaRPr lang="en-US" altLang="zh-CN" sz="1200" b="1" u="none">
                <a:latin typeface="Arial" panose="020B0604020202020204" pitchFamily="34" charset="0"/>
              </a:endParaRPr>
            </a:p>
          </p:txBody>
        </p:sp>
        <p:sp>
          <p:nvSpPr>
            <p:cNvPr id="109" name="Line 30"/>
            <p:cNvSpPr>
              <a:spLocks noChangeShapeType="1"/>
            </p:cNvSpPr>
            <p:nvPr/>
          </p:nvSpPr>
          <p:spPr bwMode="auto">
            <a:xfrm flipH="1">
              <a:off x="2500" y="2456"/>
              <a:ext cx="357" cy="55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 name="Line 31"/>
            <p:cNvSpPr>
              <a:spLocks noChangeShapeType="1"/>
            </p:cNvSpPr>
            <p:nvPr/>
          </p:nvSpPr>
          <p:spPr bwMode="auto">
            <a:xfrm>
              <a:off x="2884" y="2450"/>
              <a:ext cx="112" cy="5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 name="Line 32"/>
            <p:cNvSpPr>
              <a:spLocks noChangeShapeType="1"/>
            </p:cNvSpPr>
            <p:nvPr/>
          </p:nvSpPr>
          <p:spPr bwMode="auto">
            <a:xfrm flipH="1">
              <a:off x="2755" y="2450"/>
              <a:ext cx="115" cy="5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 name="Line 33"/>
            <p:cNvSpPr>
              <a:spLocks noChangeShapeType="1"/>
            </p:cNvSpPr>
            <p:nvPr/>
          </p:nvSpPr>
          <p:spPr bwMode="auto">
            <a:xfrm>
              <a:off x="2897" y="2450"/>
              <a:ext cx="397" cy="5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 name="Text Box 34"/>
            <p:cNvSpPr txBox="1">
              <a:spLocks noChangeArrowheads="1"/>
            </p:cNvSpPr>
            <p:nvPr/>
          </p:nvSpPr>
          <p:spPr bwMode="auto">
            <a:xfrm>
              <a:off x="2348" y="3111"/>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V1</a:t>
              </a:r>
              <a:endParaRPr lang="en-US" altLang="zh-CN" sz="1200" b="1" u="none">
                <a:latin typeface="Arial" panose="020B0604020202020204" pitchFamily="34" charset="0"/>
              </a:endParaRPr>
            </a:p>
          </p:txBody>
        </p:sp>
        <p:sp>
          <p:nvSpPr>
            <p:cNvPr id="114" name="Text Box 35"/>
            <p:cNvSpPr txBox="1">
              <a:spLocks noChangeArrowheads="1"/>
            </p:cNvSpPr>
            <p:nvPr/>
          </p:nvSpPr>
          <p:spPr bwMode="auto">
            <a:xfrm>
              <a:off x="2646" y="3123"/>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V2</a:t>
              </a:r>
              <a:endParaRPr lang="en-US" altLang="zh-CN" sz="1200" b="1" u="none">
                <a:latin typeface="Arial" panose="020B0604020202020204" pitchFamily="34" charset="0"/>
              </a:endParaRPr>
            </a:p>
          </p:txBody>
        </p:sp>
        <p:sp>
          <p:nvSpPr>
            <p:cNvPr id="115" name="Text Box 36"/>
            <p:cNvSpPr txBox="1">
              <a:spLocks noChangeArrowheads="1"/>
            </p:cNvSpPr>
            <p:nvPr/>
          </p:nvSpPr>
          <p:spPr bwMode="auto">
            <a:xfrm>
              <a:off x="2943" y="3117"/>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V3</a:t>
              </a:r>
              <a:endParaRPr lang="en-US" altLang="zh-CN" sz="1200" b="1" u="none">
                <a:latin typeface="Arial" panose="020B0604020202020204" pitchFamily="34" charset="0"/>
              </a:endParaRPr>
            </a:p>
          </p:txBody>
        </p:sp>
        <p:sp>
          <p:nvSpPr>
            <p:cNvPr id="116" name="Text Box 37"/>
            <p:cNvSpPr txBox="1">
              <a:spLocks noChangeArrowheads="1"/>
            </p:cNvSpPr>
            <p:nvPr/>
          </p:nvSpPr>
          <p:spPr bwMode="auto">
            <a:xfrm>
              <a:off x="3234" y="3117"/>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V4</a:t>
              </a:r>
              <a:endParaRPr lang="en-US" altLang="zh-CN" sz="1200" b="1" u="none">
                <a:latin typeface="Arial" panose="020B0604020202020204" pitchFamily="34" charset="0"/>
              </a:endParaRPr>
            </a:p>
          </p:txBody>
        </p:sp>
        <p:sp>
          <p:nvSpPr>
            <p:cNvPr id="117" name="Text Box 38"/>
            <p:cNvSpPr txBox="1">
              <a:spLocks noChangeArrowheads="1"/>
            </p:cNvSpPr>
            <p:nvPr/>
          </p:nvSpPr>
          <p:spPr bwMode="auto">
            <a:xfrm>
              <a:off x="2434" y="3429"/>
              <a:ext cx="893"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(b) n</a:t>
              </a:r>
              <a:r>
                <a:rPr lang="zh-CN" altLang="en-US" sz="1200" b="1" u="none">
                  <a:latin typeface="Times New Roman" panose="02020603050405020304" pitchFamily="18" charset="0"/>
                </a:rPr>
                <a:t>元集成</a:t>
              </a:r>
              <a:endParaRPr lang="zh-CN" altLang="en-US" sz="1200" b="1" u="none">
                <a:latin typeface="Arial" panose="020B0604020202020204" pitchFamily="34" charset="0"/>
              </a:endParaRPr>
            </a:p>
          </p:txBody>
        </p:sp>
        <p:sp>
          <p:nvSpPr>
            <p:cNvPr id="118" name="AutoShape 39"/>
            <p:cNvSpPr>
              <a:spLocks noChangeArrowheads="1"/>
            </p:cNvSpPr>
            <p:nvPr/>
          </p:nvSpPr>
          <p:spPr bwMode="auto">
            <a:xfrm>
              <a:off x="4140" y="3074"/>
              <a:ext cx="99"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19" name="AutoShape 40"/>
            <p:cNvSpPr>
              <a:spLocks noChangeArrowheads="1"/>
            </p:cNvSpPr>
            <p:nvPr/>
          </p:nvSpPr>
          <p:spPr bwMode="auto">
            <a:xfrm>
              <a:off x="3909" y="2756"/>
              <a:ext cx="99"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0" name="AutoShape 41"/>
            <p:cNvSpPr>
              <a:spLocks noChangeArrowheads="1"/>
            </p:cNvSpPr>
            <p:nvPr/>
          </p:nvSpPr>
          <p:spPr bwMode="auto">
            <a:xfrm>
              <a:off x="3651" y="3068"/>
              <a:ext cx="99"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1" name="Line 42"/>
            <p:cNvSpPr>
              <a:spLocks noChangeShapeType="1"/>
            </p:cNvSpPr>
            <p:nvPr/>
          </p:nvSpPr>
          <p:spPr bwMode="auto">
            <a:xfrm flipH="1">
              <a:off x="3724" y="2829"/>
              <a:ext cx="198"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 name="Line 43"/>
            <p:cNvSpPr>
              <a:spLocks noChangeShapeType="1"/>
            </p:cNvSpPr>
            <p:nvPr/>
          </p:nvSpPr>
          <p:spPr bwMode="auto">
            <a:xfrm>
              <a:off x="3982" y="2835"/>
              <a:ext cx="198"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 name="Text Box 44"/>
            <p:cNvSpPr txBox="1">
              <a:spLocks noChangeArrowheads="1"/>
            </p:cNvSpPr>
            <p:nvPr/>
          </p:nvSpPr>
          <p:spPr bwMode="auto">
            <a:xfrm>
              <a:off x="3618" y="3153"/>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V1</a:t>
              </a:r>
              <a:endParaRPr lang="en-US" altLang="zh-CN" sz="1200" b="1" u="none">
                <a:latin typeface="Arial" panose="020B0604020202020204" pitchFamily="34" charset="0"/>
              </a:endParaRPr>
            </a:p>
          </p:txBody>
        </p:sp>
        <p:sp>
          <p:nvSpPr>
            <p:cNvPr id="124" name="Text Box 45"/>
            <p:cNvSpPr txBox="1">
              <a:spLocks noChangeArrowheads="1"/>
            </p:cNvSpPr>
            <p:nvPr/>
          </p:nvSpPr>
          <p:spPr bwMode="auto">
            <a:xfrm>
              <a:off x="4094" y="3172"/>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V2</a:t>
              </a:r>
              <a:endParaRPr lang="en-US" altLang="zh-CN" sz="1200" b="1" u="none">
                <a:latin typeface="Arial" panose="020B0604020202020204" pitchFamily="34" charset="0"/>
              </a:endParaRPr>
            </a:p>
          </p:txBody>
        </p:sp>
        <p:sp>
          <p:nvSpPr>
            <p:cNvPr id="125" name="AutoShape 46"/>
            <p:cNvSpPr>
              <a:spLocks noChangeArrowheads="1"/>
            </p:cNvSpPr>
            <p:nvPr/>
          </p:nvSpPr>
          <p:spPr bwMode="auto">
            <a:xfrm>
              <a:off x="4815" y="3086"/>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6" name="AutoShape 47"/>
            <p:cNvSpPr>
              <a:spLocks noChangeArrowheads="1"/>
            </p:cNvSpPr>
            <p:nvPr/>
          </p:nvSpPr>
          <p:spPr bwMode="auto">
            <a:xfrm>
              <a:off x="4583" y="2768"/>
              <a:ext cx="100"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7" name="AutoShape 48"/>
            <p:cNvSpPr>
              <a:spLocks noChangeArrowheads="1"/>
            </p:cNvSpPr>
            <p:nvPr/>
          </p:nvSpPr>
          <p:spPr bwMode="auto">
            <a:xfrm>
              <a:off x="4325" y="3080"/>
              <a:ext cx="100" cy="79"/>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28" name="Line 49"/>
            <p:cNvSpPr>
              <a:spLocks noChangeShapeType="1"/>
            </p:cNvSpPr>
            <p:nvPr/>
          </p:nvSpPr>
          <p:spPr bwMode="auto">
            <a:xfrm flipH="1">
              <a:off x="4398" y="2841"/>
              <a:ext cx="199"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9" name="Line 50"/>
            <p:cNvSpPr>
              <a:spLocks noChangeShapeType="1"/>
            </p:cNvSpPr>
            <p:nvPr/>
          </p:nvSpPr>
          <p:spPr bwMode="auto">
            <a:xfrm>
              <a:off x="4656" y="2847"/>
              <a:ext cx="199" cy="2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0" name="Text Box 51"/>
            <p:cNvSpPr txBox="1">
              <a:spLocks noChangeArrowheads="1"/>
            </p:cNvSpPr>
            <p:nvPr/>
          </p:nvSpPr>
          <p:spPr bwMode="auto">
            <a:xfrm>
              <a:off x="4292" y="3172"/>
              <a:ext cx="199"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V3</a:t>
              </a:r>
              <a:endParaRPr lang="en-US" altLang="zh-CN" sz="1200" b="1" u="none">
                <a:latin typeface="Arial" panose="020B0604020202020204" pitchFamily="34" charset="0"/>
              </a:endParaRPr>
            </a:p>
          </p:txBody>
        </p:sp>
        <p:sp>
          <p:nvSpPr>
            <p:cNvPr id="131" name="Text Box 52"/>
            <p:cNvSpPr txBox="1">
              <a:spLocks noChangeArrowheads="1"/>
            </p:cNvSpPr>
            <p:nvPr/>
          </p:nvSpPr>
          <p:spPr bwMode="auto">
            <a:xfrm>
              <a:off x="4769" y="3178"/>
              <a:ext cx="198"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V4</a:t>
              </a:r>
              <a:endParaRPr lang="en-US" altLang="zh-CN" sz="1200" b="1" u="none">
                <a:latin typeface="Arial" panose="020B0604020202020204" pitchFamily="34" charset="0"/>
              </a:endParaRPr>
            </a:p>
          </p:txBody>
        </p:sp>
        <p:sp>
          <p:nvSpPr>
            <p:cNvPr id="132" name="AutoShape 53"/>
            <p:cNvSpPr>
              <a:spLocks noChangeArrowheads="1"/>
            </p:cNvSpPr>
            <p:nvPr/>
          </p:nvSpPr>
          <p:spPr bwMode="auto">
            <a:xfrm>
              <a:off x="4246" y="2358"/>
              <a:ext cx="99" cy="80"/>
            </a:xfrm>
            <a:prstGeom prst="octagon">
              <a:avLst>
                <a:gd name="adj" fmla="val 29287"/>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33" name="Line 54"/>
            <p:cNvSpPr>
              <a:spLocks noChangeShapeType="1"/>
            </p:cNvSpPr>
            <p:nvPr/>
          </p:nvSpPr>
          <p:spPr bwMode="auto">
            <a:xfrm flipH="1">
              <a:off x="3948" y="2438"/>
              <a:ext cx="298" cy="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4" name="Line 55"/>
            <p:cNvSpPr>
              <a:spLocks noChangeShapeType="1"/>
            </p:cNvSpPr>
            <p:nvPr/>
          </p:nvSpPr>
          <p:spPr bwMode="auto">
            <a:xfrm>
              <a:off x="4345" y="2438"/>
              <a:ext cx="298" cy="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 name="Text Box 56"/>
            <p:cNvSpPr txBox="1">
              <a:spLocks noChangeArrowheads="1"/>
            </p:cNvSpPr>
            <p:nvPr/>
          </p:nvSpPr>
          <p:spPr bwMode="auto">
            <a:xfrm>
              <a:off x="3836" y="3423"/>
              <a:ext cx="893"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0"/>
                </a:spcBef>
                <a:buFontTx/>
                <a:buNone/>
              </a:pPr>
              <a:r>
                <a:rPr lang="en-US" altLang="zh-CN" sz="1200" b="1" u="none">
                  <a:latin typeface="Times New Roman" panose="02020603050405020304" pitchFamily="18" charset="0"/>
                </a:rPr>
                <a:t>(c) </a:t>
              </a:r>
              <a:r>
                <a:rPr lang="zh-CN" altLang="en-US" sz="1200" b="1" u="none">
                  <a:latin typeface="Times New Roman" panose="02020603050405020304" pitchFamily="18" charset="0"/>
                </a:rPr>
                <a:t>二元平衡集成</a:t>
              </a:r>
              <a:endParaRPr lang="zh-CN" altLang="en-US" sz="1200" b="1" u="none">
                <a:latin typeface="Arial" panose="020B0604020202020204" pitchFamily="34" charset="0"/>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逻辑设计的任务是在概念设计的基础上给出与</a:t>
            </a:r>
            <a:r>
              <a:rPr lang="en-US" altLang="zh-CN" dirty="0"/>
              <a:t>DBMS</a:t>
            </a:r>
            <a:r>
              <a:rPr lang="zh-CN" altLang="en-US" dirty="0"/>
              <a:t>相关的数据库逻辑模式</a:t>
            </a:r>
            <a:endParaRPr lang="zh-CN" altLang="en-US" dirty="0"/>
          </a:p>
          <a:p>
            <a:r>
              <a:rPr lang="zh-CN" altLang="en-US" dirty="0"/>
              <a:t>例如，将</a:t>
            </a:r>
            <a:r>
              <a:rPr lang="en-US" altLang="zh-CN" dirty="0"/>
              <a:t>E-R</a:t>
            </a:r>
            <a:r>
              <a:rPr lang="zh-CN" altLang="en-US" dirty="0"/>
              <a:t>图转换为某种具体的</a:t>
            </a:r>
            <a:r>
              <a:rPr lang="en-US" altLang="zh-CN" dirty="0"/>
              <a:t>(</a:t>
            </a:r>
            <a:r>
              <a:rPr lang="zh-CN" altLang="en-US" dirty="0"/>
              <a:t>如</a:t>
            </a:r>
            <a:r>
              <a:rPr lang="en-US" altLang="zh-CN" dirty="0"/>
              <a:t>,</a:t>
            </a:r>
            <a:r>
              <a:rPr lang="zh-CN" altLang="en-US" dirty="0"/>
              <a:t>关系</a:t>
            </a:r>
            <a:r>
              <a:rPr lang="en-US" altLang="zh-CN" dirty="0"/>
              <a:t>)</a:t>
            </a:r>
            <a:r>
              <a:rPr lang="zh-CN" altLang="en-US" dirty="0"/>
              <a:t>数据模型</a:t>
            </a:r>
            <a:endParaRPr lang="zh-CN" altLang="en-US" dirty="0"/>
          </a:p>
          <a:p>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基于</a:t>
            </a:r>
            <a:r>
              <a:rPr lang="en-US" altLang="zh-CN" dirty="0"/>
              <a:t>ER</a:t>
            </a:r>
            <a:r>
              <a:rPr lang="zh-CN" altLang="en-US" dirty="0"/>
              <a:t>模型的逻辑设计步骤</a:t>
            </a:r>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35"/>
          <p:cNvGrpSpPr/>
          <p:nvPr/>
        </p:nvGrpSpPr>
        <p:grpSpPr bwMode="auto">
          <a:xfrm>
            <a:off x="5410200" y="1066800"/>
            <a:ext cx="6781800" cy="5791200"/>
            <a:chOff x="1111" y="672"/>
            <a:chExt cx="4272" cy="3648"/>
          </a:xfrm>
        </p:grpSpPr>
        <p:sp>
          <p:nvSpPr>
            <p:cNvPr id="7" name="Line 5"/>
            <p:cNvSpPr>
              <a:spLocks noChangeShapeType="1"/>
            </p:cNvSpPr>
            <p:nvPr/>
          </p:nvSpPr>
          <p:spPr bwMode="auto">
            <a:xfrm>
              <a:off x="1406" y="818"/>
              <a:ext cx="855" cy="21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7"/>
            <p:cNvSpPr txBox="1">
              <a:spLocks noChangeArrowheads="1"/>
            </p:cNvSpPr>
            <p:nvPr/>
          </p:nvSpPr>
          <p:spPr bwMode="auto">
            <a:xfrm>
              <a:off x="1709" y="4101"/>
              <a:ext cx="26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zh-CN" sz="1800" u="none">
                  <a:solidFill>
                    <a:srgbClr val="000000"/>
                  </a:solidFill>
                </a:rPr>
                <a:t>图</a:t>
              </a:r>
              <a:r>
                <a:rPr lang="zh-CN" altLang="zh-CN" sz="1800" u="none" noProof="1">
                  <a:solidFill>
                    <a:srgbClr val="000000"/>
                  </a:solidFill>
                </a:rPr>
                <a:t> </a:t>
              </a:r>
              <a:r>
                <a:rPr lang="zh-CN" altLang="zh-CN" sz="1800" u="none">
                  <a:solidFill>
                    <a:srgbClr val="000000"/>
                  </a:solidFill>
                </a:rPr>
                <a:t>关系数据库的逻辑设计</a:t>
              </a:r>
              <a:endParaRPr lang="zh-CN" altLang="en-US" sz="1800" u="none">
                <a:solidFill>
                  <a:srgbClr val="000000"/>
                </a:solidFill>
                <a:latin typeface="Times New Roman" panose="02020603050405020304" pitchFamily="18" charset="0"/>
              </a:endParaRPr>
            </a:p>
          </p:txBody>
        </p:sp>
        <p:sp>
          <p:nvSpPr>
            <p:cNvPr id="9" name="Line 8"/>
            <p:cNvSpPr>
              <a:spLocks noChangeShapeType="1"/>
            </p:cNvSpPr>
            <p:nvPr/>
          </p:nvSpPr>
          <p:spPr bwMode="auto">
            <a:xfrm>
              <a:off x="2820" y="3517"/>
              <a:ext cx="0" cy="2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10" name="Line 10"/>
            <p:cNvSpPr>
              <a:spLocks noChangeShapeType="1"/>
            </p:cNvSpPr>
            <p:nvPr/>
          </p:nvSpPr>
          <p:spPr bwMode="auto">
            <a:xfrm>
              <a:off x="4016" y="2788"/>
              <a:ext cx="76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grpSp>
          <p:nvGrpSpPr>
            <p:cNvPr id="11" name="Group 12"/>
            <p:cNvGrpSpPr/>
            <p:nvPr/>
          </p:nvGrpSpPr>
          <p:grpSpPr bwMode="auto">
            <a:xfrm>
              <a:off x="1111" y="672"/>
              <a:ext cx="4272" cy="2918"/>
              <a:chOff x="3152" y="8616"/>
              <a:chExt cx="5250" cy="6240"/>
            </a:xfrm>
          </p:grpSpPr>
          <p:sp>
            <p:nvSpPr>
              <p:cNvPr id="18" name="Text Box 13"/>
              <p:cNvSpPr txBox="1">
                <a:spLocks noChangeArrowheads="1"/>
              </p:cNvSpPr>
              <p:nvPr/>
            </p:nvSpPr>
            <p:spPr bwMode="auto">
              <a:xfrm>
                <a:off x="4097" y="10644"/>
                <a:ext cx="2310"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u="none">
                    <a:solidFill>
                      <a:srgbClr val="000000"/>
                    </a:solidFill>
                    <a:latin typeface="Times New Roman" panose="02020603050405020304" pitchFamily="18" charset="0"/>
                  </a:rPr>
                  <a:t>关系模式规范化</a:t>
                </a:r>
                <a:endParaRPr lang="zh-CN" altLang="en-US" sz="1800" u="none">
                  <a:solidFill>
                    <a:srgbClr val="000000"/>
                  </a:solidFill>
                  <a:latin typeface="Times New Roman" panose="02020603050405020304" pitchFamily="18" charset="0"/>
                </a:endParaRPr>
              </a:p>
            </p:txBody>
          </p:sp>
          <p:sp>
            <p:nvSpPr>
              <p:cNvPr id="19" name="Text Box 14"/>
              <p:cNvSpPr txBox="1">
                <a:spLocks noChangeArrowheads="1"/>
              </p:cNvSpPr>
              <p:nvPr/>
            </p:nvSpPr>
            <p:spPr bwMode="auto">
              <a:xfrm>
                <a:off x="4517" y="11568"/>
                <a:ext cx="1470"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u="none">
                    <a:solidFill>
                      <a:srgbClr val="000000"/>
                    </a:solidFill>
                    <a:latin typeface="Times New Roman" panose="02020603050405020304" pitchFamily="18" charset="0"/>
                  </a:rPr>
                  <a:t>模式评价</a:t>
                </a:r>
                <a:endParaRPr lang="en-US" altLang="zh-CN" sz="1800" u="none">
                  <a:solidFill>
                    <a:srgbClr val="000000"/>
                  </a:solidFill>
                  <a:latin typeface="Times New Roman" panose="02020603050405020304" pitchFamily="18" charset="0"/>
                </a:endParaRPr>
              </a:p>
            </p:txBody>
          </p:sp>
          <p:sp>
            <p:nvSpPr>
              <p:cNvPr id="20" name="AutoShape 15"/>
              <p:cNvSpPr>
                <a:spLocks noChangeArrowheads="1"/>
              </p:cNvSpPr>
              <p:nvPr/>
            </p:nvSpPr>
            <p:spPr bwMode="auto">
              <a:xfrm>
                <a:off x="3782" y="12660"/>
                <a:ext cx="2940" cy="936"/>
              </a:xfrm>
              <a:prstGeom prst="flowChartDecision">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800" u="none" dirty="0">
                    <a:solidFill>
                      <a:srgbClr val="000000"/>
                    </a:solidFill>
                    <a:latin typeface="Times New Roman" panose="02020603050405020304" pitchFamily="18" charset="0"/>
                  </a:rPr>
                  <a:t>是否需要修正</a:t>
                </a:r>
                <a:endParaRPr lang="zh-CN" altLang="en-US" sz="1800" u="none" dirty="0">
                  <a:solidFill>
                    <a:srgbClr val="000000"/>
                  </a:solidFill>
                  <a:latin typeface="Times New Roman" panose="02020603050405020304" pitchFamily="18" charset="0"/>
                </a:endParaRPr>
              </a:p>
            </p:txBody>
          </p:sp>
          <p:grpSp>
            <p:nvGrpSpPr>
              <p:cNvPr id="21" name="Group 16"/>
              <p:cNvGrpSpPr/>
              <p:nvPr/>
            </p:nvGrpSpPr>
            <p:grpSpPr bwMode="auto">
              <a:xfrm>
                <a:off x="3152" y="8616"/>
                <a:ext cx="3990" cy="1560"/>
                <a:chOff x="3152" y="8616"/>
                <a:chExt cx="3990" cy="1560"/>
              </a:xfrm>
            </p:grpSpPr>
            <p:sp>
              <p:nvSpPr>
                <p:cNvPr id="28" name="Text Box 17"/>
                <p:cNvSpPr txBox="1">
                  <a:spLocks noChangeArrowheads="1"/>
                </p:cNvSpPr>
                <p:nvPr/>
              </p:nvSpPr>
              <p:spPr bwMode="auto">
                <a:xfrm>
                  <a:off x="4202" y="9396"/>
                  <a:ext cx="2205" cy="780"/>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u="none">
                      <a:solidFill>
                        <a:srgbClr val="000000"/>
                      </a:solidFill>
                      <a:latin typeface="Times New Roman" panose="02020603050405020304" pitchFamily="18" charset="0"/>
                    </a:rPr>
                    <a:t>从</a:t>
                  </a:r>
                  <a:r>
                    <a:rPr lang="en-US" altLang="zh-CN" sz="1800" u="none">
                      <a:solidFill>
                        <a:srgbClr val="000000"/>
                      </a:solidFill>
                      <a:latin typeface="Times New Roman" panose="02020603050405020304" pitchFamily="18" charset="0"/>
                    </a:rPr>
                    <a:t>ER</a:t>
                  </a:r>
                  <a:r>
                    <a:rPr lang="zh-CN" altLang="en-US" sz="1800" u="none">
                      <a:solidFill>
                        <a:srgbClr val="000000"/>
                      </a:solidFill>
                      <a:latin typeface="Times New Roman" panose="02020603050405020304" pitchFamily="18" charset="0"/>
                    </a:rPr>
                    <a:t>模式导出</a:t>
                  </a:r>
                  <a:endParaRPr lang="zh-CN" altLang="en-US" sz="1800" u="none">
                    <a:solidFill>
                      <a:srgbClr val="000000"/>
                    </a:solidFill>
                    <a:latin typeface="Times New Roman" panose="02020603050405020304" pitchFamily="18" charset="0"/>
                  </a:endParaRPr>
                </a:p>
                <a:p>
                  <a:pPr algn="ctr">
                    <a:spcBef>
                      <a:spcPct val="0"/>
                    </a:spcBef>
                    <a:buFontTx/>
                    <a:buNone/>
                  </a:pPr>
                  <a:r>
                    <a:rPr lang="zh-CN" altLang="en-US" sz="1800" u="none">
                      <a:solidFill>
                        <a:srgbClr val="000000"/>
                      </a:solidFill>
                      <a:latin typeface="Times New Roman" panose="02020603050405020304" pitchFamily="18" charset="0"/>
                    </a:rPr>
                    <a:t>初始数据库模式</a:t>
                  </a:r>
                  <a:endParaRPr lang="zh-CN" altLang="en-US" sz="1800" u="none">
                    <a:solidFill>
                      <a:srgbClr val="000000"/>
                    </a:solidFill>
                    <a:latin typeface="Times New Roman" panose="02020603050405020304" pitchFamily="18" charset="0"/>
                  </a:endParaRPr>
                </a:p>
              </p:txBody>
            </p:sp>
            <p:sp>
              <p:nvSpPr>
                <p:cNvPr id="29" name="Text Box 18"/>
                <p:cNvSpPr txBox="1">
                  <a:spLocks noChangeArrowheads="1"/>
                </p:cNvSpPr>
                <p:nvPr/>
              </p:nvSpPr>
              <p:spPr bwMode="auto">
                <a:xfrm>
                  <a:off x="3152" y="8616"/>
                  <a:ext cx="10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600" u="none">
                      <a:solidFill>
                        <a:srgbClr val="000000"/>
                      </a:solidFill>
                      <a:latin typeface="Times New Roman" panose="02020603050405020304" pitchFamily="18" charset="0"/>
                    </a:rPr>
                    <a:t>处理需求</a:t>
                  </a:r>
                  <a:endParaRPr lang="zh-CN" altLang="en-US" sz="1600" u="none">
                    <a:solidFill>
                      <a:srgbClr val="000000"/>
                    </a:solidFill>
                    <a:latin typeface="Times New Roman" panose="02020603050405020304" pitchFamily="18" charset="0"/>
                  </a:endParaRPr>
                </a:p>
              </p:txBody>
            </p:sp>
            <p:sp>
              <p:nvSpPr>
                <p:cNvPr id="30" name="Text Box 19"/>
                <p:cNvSpPr txBox="1">
                  <a:spLocks noChangeArrowheads="1"/>
                </p:cNvSpPr>
                <p:nvPr/>
              </p:nvSpPr>
              <p:spPr bwMode="auto">
                <a:xfrm>
                  <a:off x="4727" y="8616"/>
                  <a:ext cx="10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600" u="none">
                      <a:solidFill>
                        <a:srgbClr val="000000"/>
                      </a:solidFill>
                      <a:latin typeface="Times New Roman" panose="02020603050405020304" pitchFamily="18" charset="0"/>
                    </a:rPr>
                    <a:t>ER</a:t>
                  </a:r>
                  <a:r>
                    <a:rPr lang="zh-CN" altLang="en-US" sz="1600" u="none">
                      <a:solidFill>
                        <a:srgbClr val="000000"/>
                      </a:solidFill>
                      <a:latin typeface="Times New Roman" panose="02020603050405020304" pitchFamily="18" charset="0"/>
                    </a:rPr>
                    <a:t>模式   </a:t>
                  </a:r>
                  <a:endParaRPr lang="zh-CN" altLang="en-US" sz="1600" u="none">
                    <a:solidFill>
                      <a:srgbClr val="000000"/>
                    </a:solidFill>
                    <a:latin typeface="Times New Roman" panose="02020603050405020304" pitchFamily="18" charset="0"/>
                  </a:endParaRPr>
                </a:p>
              </p:txBody>
            </p:sp>
            <p:sp>
              <p:nvSpPr>
                <p:cNvPr id="31" name="Text Box 20"/>
                <p:cNvSpPr txBox="1">
                  <a:spLocks noChangeArrowheads="1"/>
                </p:cNvSpPr>
                <p:nvPr/>
              </p:nvSpPr>
              <p:spPr bwMode="auto">
                <a:xfrm>
                  <a:off x="5882" y="8616"/>
                  <a:ext cx="126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en-US" altLang="zh-CN" sz="1600" u="none">
                      <a:solidFill>
                        <a:srgbClr val="000000"/>
                      </a:solidFill>
                      <a:latin typeface="Times New Roman" panose="02020603050405020304" pitchFamily="18" charset="0"/>
                    </a:rPr>
                    <a:t>DBMS</a:t>
                  </a:r>
                  <a:r>
                    <a:rPr lang="zh-CN" altLang="en-US" sz="1600" u="none">
                      <a:solidFill>
                        <a:srgbClr val="000000"/>
                      </a:solidFill>
                      <a:latin typeface="Times New Roman" panose="02020603050405020304" pitchFamily="18" charset="0"/>
                    </a:rPr>
                    <a:t>特征</a:t>
                  </a:r>
                  <a:endParaRPr lang="zh-CN" altLang="en-US" sz="1600" u="none">
                    <a:solidFill>
                      <a:srgbClr val="000000"/>
                    </a:solidFill>
                    <a:latin typeface="Times New Roman" panose="02020603050405020304" pitchFamily="18" charset="0"/>
                  </a:endParaRPr>
                </a:p>
              </p:txBody>
            </p:sp>
            <p:sp>
              <p:nvSpPr>
                <p:cNvPr id="32" name="Line 21"/>
                <p:cNvSpPr>
                  <a:spLocks noChangeShapeType="1"/>
                </p:cNvSpPr>
                <p:nvPr/>
              </p:nvSpPr>
              <p:spPr bwMode="auto">
                <a:xfrm>
                  <a:off x="5252" y="8928"/>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33" name="Line 22"/>
                <p:cNvSpPr>
                  <a:spLocks noChangeShapeType="1"/>
                </p:cNvSpPr>
                <p:nvPr/>
              </p:nvSpPr>
              <p:spPr bwMode="auto">
                <a:xfrm flipH="1">
                  <a:off x="5567" y="8928"/>
                  <a:ext cx="735"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grpSp>
          <p:sp>
            <p:nvSpPr>
              <p:cNvPr id="22" name="Text Box 23"/>
              <p:cNvSpPr txBox="1">
                <a:spLocks noChangeArrowheads="1"/>
              </p:cNvSpPr>
              <p:nvPr/>
            </p:nvSpPr>
            <p:spPr bwMode="auto">
              <a:xfrm>
                <a:off x="4202" y="14232"/>
                <a:ext cx="2310" cy="624"/>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u="none">
                    <a:solidFill>
                      <a:srgbClr val="000000"/>
                    </a:solidFill>
                    <a:latin typeface="Times New Roman" panose="02020603050405020304" pitchFamily="18" charset="0"/>
                  </a:rPr>
                  <a:t>用</a:t>
                </a:r>
                <a:r>
                  <a:rPr lang="en-US" altLang="zh-CN" sz="1800" u="none">
                    <a:solidFill>
                      <a:srgbClr val="000000"/>
                    </a:solidFill>
                    <a:latin typeface="Times New Roman" panose="02020603050405020304" pitchFamily="18" charset="0"/>
                  </a:rPr>
                  <a:t>DBMS</a:t>
                </a:r>
                <a:r>
                  <a:rPr lang="zh-CN" altLang="en-US" sz="1800" u="none">
                    <a:solidFill>
                      <a:srgbClr val="000000"/>
                    </a:solidFill>
                    <a:latin typeface="Times New Roman" panose="02020603050405020304" pitchFamily="18" charset="0"/>
                  </a:rPr>
                  <a:t>语法描述</a:t>
                </a:r>
                <a:endParaRPr lang="zh-CN" altLang="en-US" sz="1800" u="none">
                  <a:solidFill>
                    <a:srgbClr val="000000"/>
                  </a:solidFill>
                  <a:latin typeface="Times New Roman" panose="02020603050405020304" pitchFamily="18" charset="0"/>
                </a:endParaRPr>
              </a:p>
            </p:txBody>
          </p:sp>
          <p:sp>
            <p:nvSpPr>
              <p:cNvPr id="23" name="Text Box 24"/>
              <p:cNvSpPr txBox="1">
                <a:spLocks noChangeArrowheads="1"/>
              </p:cNvSpPr>
              <p:nvPr/>
            </p:nvSpPr>
            <p:spPr bwMode="auto">
              <a:xfrm>
                <a:off x="7037" y="11580"/>
                <a:ext cx="1365"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u="none">
                    <a:solidFill>
                      <a:srgbClr val="000000"/>
                    </a:solidFill>
                    <a:latin typeface="Times New Roman" panose="02020603050405020304" pitchFamily="18" charset="0"/>
                  </a:rPr>
                  <a:t>模式修正</a:t>
                </a:r>
                <a:endParaRPr lang="zh-CN" altLang="en-US" sz="1800" u="none">
                  <a:solidFill>
                    <a:srgbClr val="000000"/>
                  </a:solidFill>
                  <a:latin typeface="Times New Roman" panose="02020603050405020304" pitchFamily="18" charset="0"/>
                </a:endParaRPr>
              </a:p>
            </p:txBody>
          </p:sp>
          <p:sp>
            <p:nvSpPr>
              <p:cNvPr id="24" name="Line 25"/>
              <p:cNvSpPr>
                <a:spLocks noChangeShapeType="1"/>
              </p:cNvSpPr>
              <p:nvPr/>
            </p:nvSpPr>
            <p:spPr bwMode="auto">
              <a:xfrm>
                <a:off x="5252" y="10176"/>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25" name="Line 26"/>
              <p:cNvSpPr>
                <a:spLocks noChangeShapeType="1"/>
              </p:cNvSpPr>
              <p:nvPr/>
            </p:nvSpPr>
            <p:spPr bwMode="auto">
              <a:xfrm>
                <a:off x="5252" y="11100"/>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26" name="Line 27"/>
              <p:cNvSpPr>
                <a:spLocks noChangeShapeType="1"/>
              </p:cNvSpPr>
              <p:nvPr/>
            </p:nvSpPr>
            <p:spPr bwMode="auto">
              <a:xfrm>
                <a:off x="5252" y="12036"/>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27" name="Line 28"/>
              <p:cNvSpPr>
                <a:spLocks noChangeShapeType="1"/>
              </p:cNvSpPr>
              <p:nvPr/>
            </p:nvSpPr>
            <p:spPr bwMode="auto">
              <a:xfrm>
                <a:off x="5252" y="13596"/>
                <a:ext cx="0"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grpSp>
        <p:sp>
          <p:nvSpPr>
            <p:cNvPr id="12" name="Line 29"/>
            <p:cNvSpPr>
              <a:spLocks noChangeShapeType="1"/>
            </p:cNvSpPr>
            <p:nvPr/>
          </p:nvSpPr>
          <p:spPr bwMode="auto">
            <a:xfrm flipV="1">
              <a:off x="4785" y="2277"/>
              <a:ext cx="0" cy="51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13" name="Line 30"/>
            <p:cNvSpPr>
              <a:spLocks noChangeShapeType="1"/>
            </p:cNvSpPr>
            <p:nvPr/>
          </p:nvSpPr>
          <p:spPr bwMode="auto">
            <a:xfrm flipV="1">
              <a:off x="4785" y="1474"/>
              <a:ext cx="0" cy="5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sp>
          <p:nvSpPr>
            <p:cNvPr id="14" name="Line 31"/>
            <p:cNvSpPr>
              <a:spLocks noChangeShapeType="1"/>
            </p:cNvSpPr>
            <p:nvPr/>
          </p:nvSpPr>
          <p:spPr bwMode="auto">
            <a:xfrm flipH="1">
              <a:off x="2905" y="1474"/>
              <a:ext cx="18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15" name="Text Box 32"/>
            <p:cNvSpPr txBox="1">
              <a:spLocks noChangeArrowheads="1"/>
            </p:cNvSpPr>
            <p:nvPr/>
          </p:nvSpPr>
          <p:spPr bwMode="auto">
            <a:xfrm>
              <a:off x="1965" y="3736"/>
              <a:ext cx="1966" cy="2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zh-CN" sz="1800" u="none">
                  <a:solidFill>
                    <a:srgbClr val="000000"/>
                  </a:solidFill>
                </a:rPr>
                <a:t>进入物理设计阶段</a:t>
              </a:r>
              <a:endParaRPr lang="zh-CN" altLang="en-US" sz="1800" u="none">
                <a:solidFill>
                  <a:srgbClr val="000000"/>
                </a:solidFill>
                <a:latin typeface="Times New Roman" panose="02020603050405020304" pitchFamily="18" charset="0"/>
              </a:endParaRPr>
            </a:p>
          </p:txBody>
        </p:sp>
        <p:sp>
          <p:nvSpPr>
            <p:cNvPr id="16" name="Text Box 33"/>
            <p:cNvSpPr txBox="1">
              <a:spLocks noChangeArrowheads="1"/>
            </p:cNvSpPr>
            <p:nvPr/>
          </p:nvSpPr>
          <p:spPr bwMode="auto">
            <a:xfrm>
              <a:off x="3896" y="2568"/>
              <a:ext cx="44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是</a:t>
              </a:r>
              <a:endParaRPr lang="zh-CN" altLang="en-US" sz="1000" u="none">
                <a:solidFill>
                  <a:srgbClr val="000000"/>
                </a:solidFill>
                <a:latin typeface="Times New Roman" panose="02020603050405020304" pitchFamily="18" charset="0"/>
              </a:endParaRPr>
            </a:p>
          </p:txBody>
        </p:sp>
        <p:sp>
          <p:nvSpPr>
            <p:cNvPr id="17" name="Text Box 34"/>
            <p:cNvSpPr txBox="1">
              <a:spLocks noChangeArrowheads="1"/>
            </p:cNvSpPr>
            <p:nvPr/>
          </p:nvSpPr>
          <p:spPr bwMode="auto">
            <a:xfrm>
              <a:off x="2871" y="2934"/>
              <a:ext cx="43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spcBef>
                  <a:spcPct val="0"/>
                </a:spcBef>
                <a:buFontTx/>
                <a:buNone/>
              </a:pPr>
              <a:r>
                <a:rPr lang="zh-CN" altLang="en-US" sz="1000" u="none">
                  <a:solidFill>
                    <a:srgbClr val="000000"/>
                  </a:solidFill>
                  <a:latin typeface="Times New Roman" panose="02020603050405020304" pitchFamily="18" charset="0"/>
                </a:rPr>
                <a:t>否</a:t>
              </a:r>
              <a:endParaRPr lang="zh-CN" altLang="en-US" sz="1000" u="none">
                <a:solidFill>
                  <a:srgbClr val="000000"/>
                </a:solidFill>
                <a:latin typeface="Times New Roman" panose="02020603050405020304" pitchFamily="18" charset="0"/>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模型向关系模型转化</a:t>
            </a:r>
            <a:endParaRPr lang="en-US" altLang="zh-CN" dirty="0"/>
          </a:p>
          <a:p>
            <a:pPr lvl="1">
              <a:lnSpc>
                <a:spcPct val="150000"/>
              </a:lnSpc>
            </a:pPr>
            <a:r>
              <a:rPr lang="en-US" altLang="zh-CN" dirty="0"/>
              <a:t>E-R</a:t>
            </a:r>
            <a:r>
              <a:rPr lang="zh-CN" altLang="en-US" dirty="0"/>
              <a:t>模型独立于</a:t>
            </a:r>
            <a:r>
              <a:rPr lang="en-US" altLang="zh-CN" dirty="0"/>
              <a:t>DBMS——</a:t>
            </a:r>
            <a:r>
              <a:rPr lang="zh-CN" altLang="en-US" dirty="0"/>
              <a:t>可用于任何一种数据库。</a:t>
            </a:r>
            <a:endParaRPr lang="zh-CN" altLang="en-US" dirty="0"/>
          </a:p>
          <a:p>
            <a:pPr lvl="1">
              <a:lnSpc>
                <a:spcPct val="150000"/>
              </a:lnSpc>
            </a:pPr>
            <a:r>
              <a:rPr lang="zh-CN" altLang="en-US" dirty="0"/>
              <a:t>把</a:t>
            </a:r>
            <a:r>
              <a:rPr lang="en-US" altLang="zh-CN" dirty="0"/>
              <a:t>E-R</a:t>
            </a:r>
            <a:r>
              <a:rPr lang="zh-CN" altLang="en-US" dirty="0"/>
              <a:t>模型转换为某个具体的</a:t>
            </a:r>
            <a:r>
              <a:rPr lang="en-US" altLang="zh-CN" dirty="0"/>
              <a:t>DBMS</a:t>
            </a:r>
            <a:r>
              <a:rPr lang="zh-CN" altLang="en-US" dirty="0"/>
              <a:t>所能接受的关系数据模型，称为</a:t>
            </a:r>
            <a:r>
              <a:rPr lang="zh-CN" altLang="en-US" u="sng" dirty="0"/>
              <a:t>数据库的逻辑设计</a:t>
            </a:r>
            <a:r>
              <a:rPr lang="zh-CN" altLang="en-US" dirty="0"/>
              <a:t>，或称为建立数据库逻辑模式。</a:t>
            </a:r>
            <a:endParaRPr lang="zh-CN" altLang="en-US" dirty="0"/>
          </a:p>
          <a:p>
            <a:pPr lvl="1">
              <a:lnSpc>
                <a:spcPct val="150000"/>
              </a:lnSpc>
            </a:pPr>
            <a:r>
              <a:rPr lang="en-US" altLang="zh-CN" dirty="0"/>
              <a:t>E-R</a:t>
            </a:r>
            <a:r>
              <a:rPr lang="zh-CN" altLang="en-US" dirty="0"/>
              <a:t>模型转换为关系模型主要解决：</a:t>
            </a:r>
            <a:endParaRPr lang="zh-CN" altLang="en-US" dirty="0"/>
          </a:p>
          <a:p>
            <a:pPr lvl="2">
              <a:lnSpc>
                <a:spcPct val="150000"/>
              </a:lnSpc>
            </a:pPr>
            <a:r>
              <a:rPr lang="zh-CN" altLang="en-US" sz="2200" dirty="0"/>
              <a:t>如何用</a:t>
            </a:r>
            <a:r>
              <a:rPr lang="zh-CN" altLang="en-US" sz="2200" u="sng" dirty="0"/>
              <a:t>关系</a:t>
            </a:r>
            <a:r>
              <a:rPr lang="zh-CN" altLang="en-US" sz="2200" dirty="0"/>
              <a:t>来表达</a:t>
            </a:r>
            <a:r>
              <a:rPr lang="zh-CN" altLang="en-US" sz="2200" u="sng" dirty="0"/>
              <a:t>实体</a:t>
            </a:r>
            <a:r>
              <a:rPr lang="zh-CN" altLang="en-US" sz="2200" dirty="0"/>
              <a:t>和实体间的</a:t>
            </a:r>
            <a:r>
              <a:rPr lang="zh-CN" altLang="en-US" sz="2200" u="sng" dirty="0"/>
              <a:t>联系</a:t>
            </a:r>
            <a:endParaRPr lang="zh-CN" altLang="en-US" sz="2200" dirty="0"/>
          </a:p>
          <a:p>
            <a:pPr lvl="1"/>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r>
              <a:rPr lang="en-US" altLang="zh-CN" dirty="0"/>
              <a:t>E</a:t>
            </a:r>
            <a:r>
              <a:rPr lang="zh-CN" altLang="en-US" dirty="0"/>
              <a:t>－</a:t>
            </a:r>
            <a:r>
              <a:rPr lang="en-US" altLang="zh-CN" dirty="0"/>
              <a:t>R</a:t>
            </a:r>
            <a:r>
              <a:rPr lang="zh-CN" altLang="en-US" dirty="0"/>
              <a:t>模型向关系模型的转换可以参照以下原则进行：</a:t>
            </a:r>
            <a:endParaRPr lang="zh-CN" altLang="en-US" dirty="0"/>
          </a:p>
          <a:p>
            <a:pPr lvl="2">
              <a:buClr>
                <a:srgbClr val="E40000"/>
              </a:buClr>
              <a:buNone/>
            </a:pPr>
            <a:r>
              <a:rPr lang="en-US" altLang="zh-CN" sz="2200" dirty="0"/>
              <a:t>(1)</a:t>
            </a:r>
            <a:r>
              <a:rPr lang="zh-CN" altLang="en-US" sz="2200" dirty="0"/>
              <a:t>实体转换为关系模式，关系模式的属性集由实体原有的属性集构成，实体的键是关系模式的键</a:t>
            </a:r>
            <a:endParaRPr lang="zh-CN" altLang="en-US" sz="2200" dirty="0"/>
          </a:p>
          <a:p>
            <a:pPr lvl="2">
              <a:buClr>
                <a:srgbClr val="E40000"/>
              </a:buClr>
              <a:buNone/>
            </a:pPr>
            <a:r>
              <a:rPr lang="en-US" altLang="zh-CN" sz="2200" dirty="0"/>
              <a:t>(2)</a:t>
            </a:r>
            <a:r>
              <a:rPr lang="zh-CN" altLang="en-US" sz="2200" dirty="0"/>
              <a:t>如果属性是非原子属性，可以按照纵向展开或横向展开的方式将其转化为原子属性。对于多值类型的非原子属性，可以纵向展开，而复合类型的属性则可以横向展开</a:t>
            </a:r>
            <a:endParaRPr lang="zh-CN" altLang="en-US" sz="2200" dirty="0"/>
          </a:p>
          <a:p>
            <a:pPr lvl="2">
              <a:buClr>
                <a:srgbClr val="E40000"/>
              </a:buClr>
              <a:buNone/>
            </a:pPr>
            <a:r>
              <a:rPr lang="en-US" altLang="zh-CN" sz="2200" dirty="0"/>
              <a:t>(3)</a:t>
            </a:r>
            <a:r>
              <a:rPr lang="zh-CN" altLang="en-US" sz="2200" dirty="0"/>
              <a:t>实体间的联系可以转换为关系模式，也可以与参与联系的实体所对应的关系模式合并，对于常见的二元联系和三元联系，有以下的具体转换方式：</a:t>
            </a:r>
            <a:endParaRPr lang="zh-CN" altLang="en-US" sz="2200" dirty="0"/>
          </a:p>
          <a:p>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r>
              <a:rPr lang="en-US" altLang="zh-CN" sz="2200" dirty="0"/>
              <a:t>1</a:t>
            </a:r>
            <a:r>
              <a:rPr lang="zh-CN" altLang="en-US" sz="2200" dirty="0"/>
              <a:t>：</a:t>
            </a:r>
            <a:r>
              <a:rPr lang="en-US" altLang="zh-CN" sz="2200" dirty="0"/>
              <a:t>1</a:t>
            </a:r>
            <a:r>
              <a:rPr lang="zh-CN" altLang="en-US" sz="2200" dirty="0"/>
              <a:t>联系</a:t>
            </a:r>
            <a:endParaRPr lang="en-US" altLang="zh-CN" sz="2200" dirty="0"/>
          </a:p>
          <a:p>
            <a:pPr lvl="1"/>
            <a:endParaRPr lang="en-US" altLang="zh-CN" sz="2200" dirty="0"/>
          </a:p>
          <a:p>
            <a:pPr lvl="1"/>
            <a:endParaRPr lang="en-US" altLang="zh-CN" sz="2200" dirty="0"/>
          </a:p>
          <a:p>
            <a:pPr lvl="1"/>
            <a:endParaRPr lang="en-US" altLang="zh-CN" sz="2200" dirty="0"/>
          </a:p>
          <a:p>
            <a:pPr lvl="1"/>
            <a:endParaRPr lang="en-US" altLang="zh-CN" sz="2200" dirty="0"/>
          </a:p>
          <a:p>
            <a:pPr lvl="1"/>
            <a:r>
              <a:rPr lang="zh-CN" altLang="en-US" sz="2200" dirty="0"/>
              <a:t>当</a:t>
            </a:r>
            <a:r>
              <a:rPr lang="en-US" altLang="zh-CN" sz="2200" dirty="0"/>
              <a:t>E1</a:t>
            </a:r>
            <a:r>
              <a:rPr lang="zh-CN" altLang="en-US" sz="2200" dirty="0"/>
              <a:t>和</a:t>
            </a:r>
            <a:r>
              <a:rPr lang="en-US" altLang="zh-CN" sz="2200" dirty="0"/>
              <a:t>E2</a:t>
            </a:r>
            <a:r>
              <a:rPr lang="zh-CN" altLang="en-US" sz="2200" dirty="0"/>
              <a:t>都是部分参与时：</a:t>
            </a:r>
            <a:endParaRPr lang="en-US" altLang="zh-CN" sz="2200" dirty="0"/>
          </a:p>
          <a:p>
            <a:pPr marL="457200" lvl="1" indent="0">
              <a:buNone/>
            </a:pPr>
            <a:r>
              <a:rPr lang="en-US" altLang="zh-CN" sz="2200" dirty="0"/>
              <a:t>R1(</a:t>
            </a:r>
            <a:r>
              <a:rPr lang="en-US" altLang="zh-CN" sz="2200" u="sng" dirty="0"/>
              <a:t>K1</a:t>
            </a:r>
            <a:r>
              <a:rPr lang="zh-CN" altLang="en-US" sz="2200" dirty="0"/>
              <a:t>，</a:t>
            </a:r>
            <a:r>
              <a:rPr lang="en-US" altLang="zh-CN" sz="2200" dirty="0"/>
              <a:t>A1)</a:t>
            </a:r>
            <a:r>
              <a:rPr lang="zh-CN" altLang="en-US" sz="2200" dirty="0"/>
              <a:t>，</a:t>
            </a:r>
            <a:r>
              <a:rPr lang="en-US" altLang="zh-CN" sz="2200" dirty="0"/>
              <a:t>R2(</a:t>
            </a:r>
            <a:r>
              <a:rPr lang="en-US" altLang="zh-CN" sz="2200" u="sng" dirty="0"/>
              <a:t>K2</a:t>
            </a:r>
            <a:r>
              <a:rPr lang="zh-CN" altLang="en-US" sz="2200" dirty="0"/>
              <a:t>，</a:t>
            </a:r>
            <a:r>
              <a:rPr lang="en-US" altLang="zh-CN" sz="2200" dirty="0"/>
              <a:t>A2)</a:t>
            </a:r>
            <a:r>
              <a:rPr lang="zh-CN" altLang="en-US" sz="2200" dirty="0"/>
              <a:t>，</a:t>
            </a:r>
            <a:r>
              <a:rPr lang="en-US" altLang="zh-CN" sz="2200" dirty="0"/>
              <a:t>R3(</a:t>
            </a:r>
            <a:r>
              <a:rPr lang="en-US" altLang="zh-CN" sz="2200" u="sng" dirty="0"/>
              <a:t>K1</a:t>
            </a:r>
            <a:r>
              <a:rPr lang="zh-CN" altLang="en-US" sz="2200" dirty="0"/>
              <a:t>，</a:t>
            </a:r>
            <a:r>
              <a:rPr lang="en-US" altLang="zh-CN" sz="2200" u="sng" dirty="0"/>
              <a:t>K2</a:t>
            </a:r>
            <a:r>
              <a:rPr lang="zh-CN" altLang="en-US" sz="2200" dirty="0"/>
              <a:t>，</a:t>
            </a:r>
            <a:r>
              <a:rPr lang="en-US" altLang="zh-CN" sz="2200" dirty="0"/>
              <a:t>AR)</a:t>
            </a:r>
            <a:r>
              <a:rPr lang="zh-CN" altLang="en-US" sz="2200" dirty="0"/>
              <a:t>，其中</a:t>
            </a:r>
            <a:r>
              <a:rPr lang="en-US" altLang="zh-CN" sz="2200" dirty="0"/>
              <a:t>K1</a:t>
            </a:r>
            <a:r>
              <a:rPr lang="zh-CN" altLang="en-US" sz="2200" dirty="0"/>
              <a:t>，</a:t>
            </a:r>
            <a:r>
              <a:rPr lang="en-US" altLang="zh-CN" sz="2200" dirty="0"/>
              <a:t>K2</a:t>
            </a:r>
            <a:r>
              <a:rPr lang="zh-CN" altLang="en-US" sz="2200" dirty="0"/>
              <a:t>都可成为</a:t>
            </a:r>
            <a:r>
              <a:rPr lang="en-US" altLang="zh-CN" sz="2200" dirty="0"/>
              <a:t>R3</a:t>
            </a:r>
            <a:r>
              <a:rPr lang="zh-CN" altLang="en-US" sz="2200" dirty="0"/>
              <a:t>的键</a:t>
            </a:r>
            <a:endParaRPr lang="en-US" altLang="zh-CN" sz="2200" dirty="0"/>
          </a:p>
          <a:p>
            <a:pPr lvl="1"/>
            <a:r>
              <a:rPr lang="zh-CN" altLang="en-US" sz="2200" dirty="0"/>
              <a:t>当</a:t>
            </a:r>
            <a:r>
              <a:rPr lang="en-US" altLang="zh-CN" sz="2200" dirty="0"/>
              <a:t>E1</a:t>
            </a:r>
            <a:r>
              <a:rPr lang="zh-CN" altLang="en-US" sz="2200" dirty="0"/>
              <a:t>是全参与时：</a:t>
            </a:r>
            <a:endParaRPr lang="en-US" altLang="zh-CN" sz="2200" dirty="0"/>
          </a:p>
          <a:p>
            <a:pPr marL="457200" lvl="1" indent="0">
              <a:buNone/>
            </a:pPr>
            <a:r>
              <a:rPr lang="en-US" altLang="zh-CN" sz="2200" dirty="0"/>
              <a:t>R1(</a:t>
            </a:r>
            <a:r>
              <a:rPr lang="en-US" altLang="zh-CN" sz="2200" u="sng" dirty="0"/>
              <a:t>K1</a:t>
            </a:r>
            <a:r>
              <a:rPr lang="zh-CN" altLang="en-US" sz="2200" dirty="0"/>
              <a:t>，</a:t>
            </a:r>
            <a:r>
              <a:rPr lang="en-US" altLang="zh-CN" sz="2200" dirty="0"/>
              <a:t>A1</a:t>
            </a:r>
            <a:r>
              <a:rPr lang="zh-CN" altLang="en-US" sz="2200" dirty="0"/>
              <a:t>，</a:t>
            </a:r>
            <a:r>
              <a:rPr lang="en-US" altLang="zh-CN" sz="2200" dirty="0"/>
              <a:t>K2</a:t>
            </a:r>
            <a:r>
              <a:rPr lang="zh-CN" altLang="en-US" sz="2200" dirty="0"/>
              <a:t>，</a:t>
            </a:r>
            <a:r>
              <a:rPr lang="en-US" altLang="zh-CN" sz="2200" dirty="0"/>
              <a:t>AR)</a:t>
            </a:r>
            <a:r>
              <a:rPr lang="zh-CN" altLang="en-US" sz="2200" dirty="0"/>
              <a:t>，</a:t>
            </a:r>
            <a:r>
              <a:rPr lang="en-US" altLang="zh-CN" sz="2200" dirty="0"/>
              <a:t>R2(</a:t>
            </a:r>
            <a:r>
              <a:rPr lang="en-US" altLang="zh-CN" sz="2200" u="sng" dirty="0"/>
              <a:t>K2</a:t>
            </a:r>
            <a:r>
              <a:rPr lang="zh-CN" altLang="en-US" sz="2200" dirty="0"/>
              <a:t>，</a:t>
            </a:r>
            <a:r>
              <a:rPr lang="en-US" altLang="zh-CN" sz="2200" dirty="0"/>
              <a:t>A2)</a:t>
            </a:r>
            <a:r>
              <a:rPr lang="zh-CN" altLang="en-US" sz="2200" dirty="0"/>
              <a:t>，其中</a:t>
            </a:r>
            <a:r>
              <a:rPr lang="en-US" altLang="zh-CN" sz="2200" dirty="0"/>
              <a:t>K2</a:t>
            </a:r>
            <a:r>
              <a:rPr lang="zh-CN" altLang="en-US" sz="2200" dirty="0"/>
              <a:t>是</a:t>
            </a:r>
            <a:r>
              <a:rPr lang="en-US" altLang="zh-CN" sz="2200" dirty="0"/>
              <a:t>R1</a:t>
            </a:r>
            <a:r>
              <a:rPr lang="zh-CN" altLang="en-US" sz="2200" dirty="0"/>
              <a:t>的外键</a:t>
            </a:r>
            <a:endParaRPr lang="en-US" altLang="zh-CN" sz="2200"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6"/>
          <p:cNvGrpSpPr/>
          <p:nvPr/>
        </p:nvGrpSpPr>
        <p:grpSpPr bwMode="auto">
          <a:xfrm>
            <a:off x="3110347" y="1967498"/>
            <a:ext cx="5486400" cy="2070100"/>
            <a:chOff x="2400" y="1488"/>
            <a:chExt cx="5544" cy="2208"/>
          </a:xfrm>
        </p:grpSpPr>
        <p:sp>
          <p:nvSpPr>
            <p:cNvPr id="7" name="Text Box 7"/>
            <p:cNvSpPr txBox="1">
              <a:spLocks noChangeArrowheads="1"/>
            </p:cNvSpPr>
            <p:nvPr/>
          </p:nvSpPr>
          <p:spPr bwMode="auto">
            <a:xfrm>
              <a:off x="3516"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8" name="AutoShape 8"/>
            <p:cNvSpPr>
              <a:spLocks noChangeArrowheads="1"/>
            </p:cNvSpPr>
            <p:nvPr/>
          </p:nvSpPr>
          <p:spPr bwMode="auto">
            <a:xfrm>
              <a:off x="4776" y="1824"/>
              <a:ext cx="768" cy="468"/>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R</a:t>
              </a:r>
              <a:endParaRPr lang="en-US" altLang="zh-CN" sz="1200" b="1" u="none">
                <a:latin typeface="Arial" panose="020B0604020202020204" pitchFamily="34" charset="0"/>
              </a:endParaRPr>
            </a:p>
          </p:txBody>
        </p:sp>
        <p:sp>
          <p:nvSpPr>
            <p:cNvPr id="9" name="Text Box 9"/>
            <p:cNvSpPr txBox="1">
              <a:spLocks noChangeArrowheads="1"/>
            </p:cNvSpPr>
            <p:nvPr/>
          </p:nvSpPr>
          <p:spPr bwMode="auto">
            <a:xfrm>
              <a:off x="2880" y="331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1:1</a:t>
              </a:r>
              <a:r>
                <a:rPr lang="zh-CN" altLang="en-US" sz="1200" b="1" u="none">
                  <a:latin typeface="Times New Roman" panose="02020603050405020304" pitchFamily="18" charset="0"/>
                </a:rPr>
                <a:t>联系</a:t>
              </a:r>
              <a:endParaRPr lang="zh-CN" altLang="en-US" sz="1200" b="1" u="none">
                <a:latin typeface="Arial" panose="020B0604020202020204" pitchFamily="34" charset="0"/>
              </a:endParaRPr>
            </a:p>
          </p:txBody>
        </p:sp>
        <p:sp>
          <p:nvSpPr>
            <p:cNvPr id="10" name="AutoShape 10"/>
            <p:cNvSpPr>
              <a:spLocks noChangeArrowheads="1"/>
            </p:cNvSpPr>
            <p:nvPr/>
          </p:nvSpPr>
          <p:spPr bwMode="auto">
            <a:xfrm>
              <a:off x="2424" y="2184"/>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K</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11" name="AutoShape 11"/>
            <p:cNvSpPr>
              <a:spLocks noChangeArrowheads="1"/>
            </p:cNvSpPr>
            <p:nvPr/>
          </p:nvSpPr>
          <p:spPr bwMode="auto">
            <a:xfrm>
              <a:off x="2400" y="1488"/>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12" name="AutoShape 12"/>
            <p:cNvSpPr>
              <a:spLocks noChangeArrowheads="1"/>
            </p:cNvSpPr>
            <p:nvPr/>
          </p:nvSpPr>
          <p:spPr bwMode="auto">
            <a:xfrm>
              <a:off x="4884" y="26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R</a:t>
              </a:r>
              <a:endParaRPr lang="en-US" altLang="zh-CN" sz="1200" b="1" u="none">
                <a:latin typeface="Arial" panose="020B0604020202020204" pitchFamily="34" charset="0"/>
              </a:endParaRPr>
            </a:p>
          </p:txBody>
        </p:sp>
        <p:sp>
          <p:nvSpPr>
            <p:cNvPr id="13" name="AutoShape 13"/>
            <p:cNvSpPr>
              <a:spLocks noChangeArrowheads="1"/>
            </p:cNvSpPr>
            <p:nvPr/>
          </p:nvSpPr>
          <p:spPr bwMode="auto">
            <a:xfrm>
              <a:off x="7392" y="23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4" name="AutoShape 14"/>
            <p:cNvSpPr>
              <a:spLocks noChangeArrowheads="1"/>
            </p:cNvSpPr>
            <p:nvPr/>
          </p:nvSpPr>
          <p:spPr bwMode="auto">
            <a:xfrm>
              <a:off x="7404" y="1536"/>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K</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5" name="Text Box 15"/>
            <p:cNvSpPr txBox="1">
              <a:spLocks noChangeArrowheads="1"/>
            </p:cNvSpPr>
            <p:nvPr/>
          </p:nvSpPr>
          <p:spPr bwMode="auto">
            <a:xfrm>
              <a:off x="4464" y="169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16" name="Text Box 16"/>
            <p:cNvSpPr txBox="1">
              <a:spLocks noChangeArrowheads="1"/>
            </p:cNvSpPr>
            <p:nvPr/>
          </p:nvSpPr>
          <p:spPr bwMode="auto">
            <a:xfrm>
              <a:off x="5736" y="168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17" name="Text Box 17"/>
            <p:cNvSpPr txBox="1">
              <a:spLocks noChangeArrowheads="1"/>
            </p:cNvSpPr>
            <p:nvPr/>
          </p:nvSpPr>
          <p:spPr bwMode="auto">
            <a:xfrm>
              <a:off x="6108"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8" name="Line 18"/>
            <p:cNvSpPr>
              <a:spLocks noChangeShapeType="1"/>
            </p:cNvSpPr>
            <p:nvPr/>
          </p:nvSpPr>
          <p:spPr bwMode="auto">
            <a:xfrm>
              <a:off x="4248"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a:off x="5556"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flipH="1" flipV="1">
              <a:off x="2964" y="1692"/>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flipH="1">
              <a:off x="2964" y="2064"/>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flipV="1">
              <a:off x="6840" y="1680"/>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6840" y="2064"/>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5160" y="2316"/>
              <a:ext cx="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6" name="Text Box 4"/>
          <p:cNvSpPr txBox="1">
            <a:spLocks noChangeArrowheads="1"/>
          </p:cNvSpPr>
          <p:nvPr/>
        </p:nvSpPr>
        <p:spPr bwMode="auto">
          <a:xfrm>
            <a:off x="6879101" y="3531868"/>
            <a:ext cx="3343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学校（</a:t>
            </a:r>
            <a:r>
              <a:rPr lang="zh-CN" altLang="en-US" sz="2000" b="1" dirty="0">
                <a:solidFill>
                  <a:srgbClr val="FF3300"/>
                </a:solidFill>
                <a:latin typeface="微软雅黑" panose="020B0503020204020204" pitchFamily="34" charset="-122"/>
                <a:ea typeface="微软雅黑" panose="020B0503020204020204" pitchFamily="34" charset="-122"/>
              </a:rPr>
              <a:t>校名</a:t>
            </a:r>
            <a:r>
              <a:rPr lang="zh-CN" altLang="en-US" sz="2000" b="1" u="none" dirty="0">
                <a:latin typeface="微软雅黑" panose="020B0503020204020204" pitchFamily="34" charset="-122"/>
                <a:ea typeface="微软雅黑" panose="020B0503020204020204" pitchFamily="34" charset="-122"/>
              </a:rPr>
              <a:t>，地址，电话）</a:t>
            </a:r>
            <a:endParaRPr lang="zh-CN" altLang="en-US" sz="2000" b="1" u="none" dirty="0">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auto">
          <a:xfrm>
            <a:off x="3924764" y="3674743"/>
            <a:ext cx="1004887" cy="38893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学校  </a:t>
            </a:r>
            <a:endParaRPr lang="zh-CN" altLang="en-US" sz="1800" b="1" u="none" dirty="0">
              <a:latin typeface="微软雅黑" panose="020B0503020204020204" pitchFamily="34" charset="-122"/>
              <a:ea typeface="微软雅黑" panose="020B0503020204020204" pitchFamily="34" charset="-122"/>
            </a:endParaRPr>
          </a:p>
        </p:txBody>
      </p:sp>
      <p:sp>
        <p:nvSpPr>
          <p:cNvPr id="8" name="Rectangle 6"/>
          <p:cNvSpPr>
            <a:spLocks noChangeArrowheads="1"/>
          </p:cNvSpPr>
          <p:nvPr/>
        </p:nvSpPr>
        <p:spPr bwMode="auto">
          <a:xfrm>
            <a:off x="3924764" y="5403530"/>
            <a:ext cx="1004887" cy="38893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校长  </a:t>
            </a:r>
            <a:endParaRPr lang="zh-CN" altLang="en-US" sz="1800" b="1" u="none" dirty="0">
              <a:latin typeface="微软雅黑" panose="020B0503020204020204" pitchFamily="34" charset="-122"/>
              <a:ea typeface="微软雅黑" panose="020B0503020204020204" pitchFamily="34" charset="-122"/>
            </a:endParaRPr>
          </a:p>
        </p:txBody>
      </p:sp>
      <p:grpSp>
        <p:nvGrpSpPr>
          <p:cNvPr id="9" name="Group 7"/>
          <p:cNvGrpSpPr/>
          <p:nvPr/>
        </p:nvGrpSpPr>
        <p:grpSpPr bwMode="auto">
          <a:xfrm>
            <a:off x="3842214" y="4076380"/>
            <a:ext cx="1312862" cy="1298575"/>
            <a:chOff x="967" y="2295"/>
            <a:chExt cx="800" cy="863"/>
          </a:xfrm>
        </p:grpSpPr>
        <p:sp>
          <p:nvSpPr>
            <p:cNvPr id="10" name="Line 8"/>
            <p:cNvSpPr>
              <a:spLocks noChangeShapeType="1"/>
            </p:cNvSpPr>
            <p:nvPr/>
          </p:nvSpPr>
          <p:spPr bwMode="auto">
            <a:xfrm>
              <a:off x="1352" y="2295"/>
              <a:ext cx="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a:off x="1369" y="2886"/>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AutoShape 10"/>
            <p:cNvSpPr>
              <a:spLocks noChangeArrowheads="1"/>
            </p:cNvSpPr>
            <p:nvPr/>
          </p:nvSpPr>
          <p:spPr bwMode="auto">
            <a:xfrm>
              <a:off x="967" y="2566"/>
              <a:ext cx="800" cy="317"/>
            </a:xfrm>
            <a:prstGeom prst="diamond">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任职  </a:t>
              </a:r>
              <a:endParaRPr lang="zh-CN" altLang="en-US" sz="1800" b="1" u="none" dirty="0">
                <a:latin typeface="微软雅黑" panose="020B0503020204020204" pitchFamily="34" charset="-122"/>
                <a:ea typeface="微软雅黑" panose="020B0503020204020204" pitchFamily="34" charset="-122"/>
              </a:endParaRPr>
            </a:p>
          </p:txBody>
        </p:sp>
      </p:grpSp>
      <p:grpSp>
        <p:nvGrpSpPr>
          <p:cNvPr id="13" name="Group 11"/>
          <p:cNvGrpSpPr/>
          <p:nvPr/>
        </p:nvGrpSpPr>
        <p:grpSpPr bwMode="auto">
          <a:xfrm>
            <a:off x="5104276" y="4439918"/>
            <a:ext cx="1778000" cy="544512"/>
            <a:chOff x="1744" y="2569"/>
            <a:chExt cx="1044" cy="318"/>
          </a:xfrm>
        </p:grpSpPr>
        <p:sp>
          <p:nvSpPr>
            <p:cNvPr id="14" name="Oval 12"/>
            <p:cNvSpPr>
              <a:spLocks noChangeArrowheads="1"/>
            </p:cNvSpPr>
            <p:nvPr/>
          </p:nvSpPr>
          <p:spPr bwMode="auto">
            <a:xfrm>
              <a:off x="2017" y="2569"/>
              <a:ext cx="771" cy="318"/>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任职年月  </a:t>
              </a:r>
              <a:endParaRPr lang="zh-CN" altLang="en-US" sz="1800" b="1" u="none" dirty="0">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1744" y="2727"/>
              <a:ext cx="2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 name="Group 14"/>
          <p:cNvGrpSpPr/>
          <p:nvPr/>
        </p:nvGrpSpPr>
        <p:grpSpPr bwMode="auto">
          <a:xfrm>
            <a:off x="2918289" y="2739705"/>
            <a:ext cx="1468437" cy="935038"/>
            <a:chOff x="384" y="1525"/>
            <a:chExt cx="862" cy="545"/>
          </a:xfrm>
        </p:grpSpPr>
        <p:sp>
          <p:nvSpPr>
            <p:cNvPr id="17" name="Oval 15"/>
            <p:cNvSpPr>
              <a:spLocks noChangeArrowheads="1"/>
            </p:cNvSpPr>
            <p:nvPr/>
          </p:nvSpPr>
          <p:spPr bwMode="auto">
            <a:xfrm>
              <a:off x="384" y="1525"/>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dirty="0">
                  <a:solidFill>
                    <a:srgbClr val="FF3300"/>
                  </a:solidFill>
                  <a:latin typeface="微软雅黑" panose="020B0503020204020204" pitchFamily="34" charset="-122"/>
                  <a:ea typeface="微软雅黑" panose="020B0503020204020204" pitchFamily="34" charset="-122"/>
                </a:rPr>
                <a:t>校名  </a:t>
              </a:r>
              <a:endParaRPr lang="zh-CN" altLang="en-US" sz="2000" b="1" dirty="0">
                <a:solidFill>
                  <a:srgbClr val="FF3300"/>
                </a:solidFill>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747" y="1798"/>
              <a:ext cx="499"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 name="Group 17"/>
          <p:cNvGrpSpPr/>
          <p:nvPr/>
        </p:nvGrpSpPr>
        <p:grpSpPr bwMode="auto">
          <a:xfrm>
            <a:off x="4069226" y="2739705"/>
            <a:ext cx="1004888" cy="935038"/>
            <a:chOff x="1110" y="1525"/>
            <a:chExt cx="590" cy="545"/>
          </a:xfrm>
        </p:grpSpPr>
        <p:sp>
          <p:nvSpPr>
            <p:cNvPr id="20" name="Oval 18"/>
            <p:cNvSpPr>
              <a:spLocks noChangeArrowheads="1"/>
            </p:cNvSpPr>
            <p:nvPr/>
          </p:nvSpPr>
          <p:spPr bwMode="auto">
            <a:xfrm>
              <a:off x="1110" y="1525"/>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地址  </a:t>
              </a:r>
              <a:endParaRPr lang="zh-CN" altLang="en-US" sz="1800" b="1" u="none" dirty="0">
                <a:latin typeface="微软雅黑" panose="020B0503020204020204" pitchFamily="34" charset="-122"/>
                <a:ea typeface="微软雅黑" panose="020B0503020204020204" pitchFamily="34" charset="-122"/>
              </a:endParaRPr>
            </a:p>
          </p:txBody>
        </p:sp>
        <p:sp>
          <p:nvSpPr>
            <p:cNvPr id="21" name="Line 19"/>
            <p:cNvSpPr>
              <a:spLocks noChangeShapeType="1"/>
            </p:cNvSpPr>
            <p:nvPr/>
          </p:nvSpPr>
          <p:spPr bwMode="auto">
            <a:xfrm>
              <a:off x="1382" y="1798"/>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 name="Group 20"/>
          <p:cNvGrpSpPr/>
          <p:nvPr/>
        </p:nvGrpSpPr>
        <p:grpSpPr bwMode="auto">
          <a:xfrm>
            <a:off x="4716926" y="2739705"/>
            <a:ext cx="1468438" cy="935038"/>
            <a:chOff x="1518" y="1525"/>
            <a:chExt cx="862" cy="545"/>
          </a:xfrm>
        </p:grpSpPr>
        <p:sp>
          <p:nvSpPr>
            <p:cNvPr id="23" name="Oval 21"/>
            <p:cNvSpPr>
              <a:spLocks noChangeArrowheads="1"/>
            </p:cNvSpPr>
            <p:nvPr/>
          </p:nvSpPr>
          <p:spPr bwMode="auto">
            <a:xfrm>
              <a:off x="1745" y="1525"/>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电话</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24" name="Line 22"/>
            <p:cNvSpPr>
              <a:spLocks noChangeShapeType="1"/>
            </p:cNvSpPr>
            <p:nvPr/>
          </p:nvSpPr>
          <p:spPr bwMode="auto">
            <a:xfrm flipH="1">
              <a:off x="1518" y="1798"/>
              <a:ext cx="454"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 name="Group 23"/>
          <p:cNvGrpSpPr/>
          <p:nvPr/>
        </p:nvGrpSpPr>
        <p:grpSpPr bwMode="auto">
          <a:xfrm>
            <a:off x="3637426" y="5778180"/>
            <a:ext cx="1003300" cy="935038"/>
            <a:chOff x="838" y="3385"/>
            <a:chExt cx="589" cy="545"/>
          </a:xfrm>
        </p:grpSpPr>
        <p:sp>
          <p:nvSpPr>
            <p:cNvPr id="26" name="Oval 24"/>
            <p:cNvSpPr>
              <a:spLocks noChangeArrowheads="1"/>
            </p:cNvSpPr>
            <p:nvPr/>
          </p:nvSpPr>
          <p:spPr bwMode="auto">
            <a:xfrm>
              <a:off x="838" y="3657"/>
              <a:ext cx="589"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性别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27" name="Line 25"/>
            <p:cNvSpPr>
              <a:spLocks noChangeShapeType="1"/>
            </p:cNvSpPr>
            <p:nvPr/>
          </p:nvSpPr>
          <p:spPr bwMode="auto">
            <a:xfrm flipH="1">
              <a:off x="1200" y="3385"/>
              <a:ext cx="136"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26"/>
          <p:cNvGrpSpPr/>
          <p:nvPr/>
        </p:nvGrpSpPr>
        <p:grpSpPr bwMode="auto">
          <a:xfrm>
            <a:off x="4572464" y="5792468"/>
            <a:ext cx="1084262" cy="935037"/>
            <a:chOff x="1427" y="3385"/>
            <a:chExt cx="636" cy="545"/>
          </a:xfrm>
        </p:grpSpPr>
        <p:sp>
          <p:nvSpPr>
            <p:cNvPr id="29" name="Oval 27"/>
            <p:cNvSpPr>
              <a:spLocks noChangeArrowheads="1"/>
            </p:cNvSpPr>
            <p:nvPr/>
          </p:nvSpPr>
          <p:spPr bwMode="auto">
            <a:xfrm>
              <a:off x="1472" y="3657"/>
              <a:ext cx="591"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年龄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30" name="Line 28"/>
            <p:cNvSpPr>
              <a:spLocks noChangeShapeType="1"/>
            </p:cNvSpPr>
            <p:nvPr/>
          </p:nvSpPr>
          <p:spPr bwMode="auto">
            <a:xfrm>
              <a:off x="1427" y="3385"/>
              <a:ext cx="227"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 name="Group 29"/>
          <p:cNvGrpSpPr/>
          <p:nvPr/>
        </p:nvGrpSpPr>
        <p:grpSpPr bwMode="auto">
          <a:xfrm>
            <a:off x="2557926" y="5792468"/>
            <a:ext cx="1852613" cy="935037"/>
            <a:chOff x="158" y="3385"/>
            <a:chExt cx="1088" cy="545"/>
          </a:xfrm>
        </p:grpSpPr>
        <p:sp>
          <p:nvSpPr>
            <p:cNvPr id="32" name="Oval 30"/>
            <p:cNvSpPr>
              <a:spLocks noChangeArrowheads="1"/>
            </p:cNvSpPr>
            <p:nvPr/>
          </p:nvSpPr>
          <p:spPr bwMode="auto">
            <a:xfrm>
              <a:off x="158" y="3657"/>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dirty="0">
                  <a:solidFill>
                    <a:srgbClr val="FF3300"/>
                  </a:solidFill>
                  <a:latin typeface="微软雅黑" panose="020B0503020204020204" pitchFamily="34" charset="-122"/>
                  <a:ea typeface="微软雅黑" panose="020B0503020204020204" pitchFamily="34" charset="-122"/>
                </a:rPr>
                <a:t>姓名 </a:t>
              </a:r>
              <a:r>
                <a:rPr lang="zh-CN" altLang="en-US" sz="2000" b="1" dirty="0">
                  <a:solidFill>
                    <a:srgbClr val="FF3300"/>
                  </a:solidFill>
                  <a:latin typeface="Arial" panose="020B0604020202020204" pitchFamily="34" charset="0"/>
                </a:rPr>
                <a:t> </a:t>
              </a:r>
              <a:endParaRPr lang="zh-CN" altLang="en-US" sz="2000" b="1" dirty="0">
                <a:solidFill>
                  <a:srgbClr val="FF3300"/>
                </a:solidFill>
                <a:latin typeface="Arial" panose="020B0604020202020204" pitchFamily="34" charset="0"/>
              </a:endParaRPr>
            </a:p>
          </p:txBody>
        </p:sp>
        <p:sp>
          <p:nvSpPr>
            <p:cNvPr id="33" name="Line 31"/>
            <p:cNvSpPr>
              <a:spLocks noChangeShapeType="1"/>
            </p:cNvSpPr>
            <p:nvPr/>
          </p:nvSpPr>
          <p:spPr bwMode="auto">
            <a:xfrm flipH="1">
              <a:off x="565" y="3385"/>
              <a:ext cx="68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 name="Group 32"/>
          <p:cNvGrpSpPr/>
          <p:nvPr/>
        </p:nvGrpSpPr>
        <p:grpSpPr bwMode="auto">
          <a:xfrm>
            <a:off x="4791539" y="5792468"/>
            <a:ext cx="2162175" cy="935037"/>
            <a:chOff x="1518" y="3385"/>
            <a:chExt cx="1270" cy="545"/>
          </a:xfrm>
        </p:grpSpPr>
        <p:sp>
          <p:nvSpPr>
            <p:cNvPr id="35" name="Oval 33"/>
            <p:cNvSpPr>
              <a:spLocks noChangeArrowheads="1"/>
            </p:cNvSpPr>
            <p:nvPr/>
          </p:nvSpPr>
          <p:spPr bwMode="auto">
            <a:xfrm>
              <a:off x="2108" y="3657"/>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职称  </a:t>
              </a:r>
              <a:endParaRPr lang="zh-CN" altLang="en-US" sz="1800" b="1" u="none" dirty="0">
                <a:latin typeface="微软雅黑" panose="020B0503020204020204" pitchFamily="34" charset="-122"/>
                <a:ea typeface="微软雅黑" panose="020B0503020204020204" pitchFamily="34" charset="-122"/>
              </a:endParaRPr>
            </a:p>
          </p:txBody>
        </p:sp>
        <p:sp>
          <p:nvSpPr>
            <p:cNvPr id="36" name="Line 34"/>
            <p:cNvSpPr>
              <a:spLocks noChangeShapeType="1"/>
            </p:cNvSpPr>
            <p:nvPr/>
          </p:nvSpPr>
          <p:spPr bwMode="auto">
            <a:xfrm>
              <a:off x="1518" y="3385"/>
              <a:ext cx="817"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 name="Group 35"/>
          <p:cNvGrpSpPr/>
          <p:nvPr/>
        </p:nvGrpSpPr>
        <p:grpSpPr bwMode="auto">
          <a:xfrm>
            <a:off x="4070814" y="4035105"/>
            <a:ext cx="361950" cy="1409700"/>
            <a:chOff x="1111" y="2296"/>
            <a:chExt cx="220" cy="821"/>
          </a:xfrm>
        </p:grpSpPr>
        <p:sp>
          <p:nvSpPr>
            <p:cNvPr id="38" name="Text Box 36"/>
            <p:cNvSpPr txBox="1">
              <a:spLocks noChangeArrowheads="1"/>
            </p:cNvSpPr>
            <p:nvPr/>
          </p:nvSpPr>
          <p:spPr bwMode="auto">
            <a:xfrm>
              <a:off x="1111" y="2296"/>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sp>
          <p:nvSpPr>
            <p:cNvPr id="39" name="Text Box 37"/>
            <p:cNvSpPr txBox="1">
              <a:spLocks noChangeArrowheads="1"/>
            </p:cNvSpPr>
            <p:nvPr/>
          </p:nvSpPr>
          <p:spPr bwMode="auto">
            <a:xfrm>
              <a:off x="1133" y="2886"/>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grpSp>
      <p:sp>
        <p:nvSpPr>
          <p:cNvPr id="40" name="Text Box 38"/>
          <p:cNvSpPr txBox="1">
            <a:spLocks noChangeArrowheads="1"/>
          </p:cNvSpPr>
          <p:nvPr/>
        </p:nvSpPr>
        <p:spPr bwMode="auto">
          <a:xfrm>
            <a:off x="6879101" y="4395468"/>
            <a:ext cx="4103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90000"/>
              </a:lnSpc>
              <a:buSzPct val="85000"/>
              <a:buFontTx/>
              <a:buNone/>
            </a:pPr>
            <a:r>
              <a:rPr lang="zh-CN" altLang="en-US" sz="2000" b="1" u="none" dirty="0">
                <a:latin typeface="微软雅黑" panose="020B0503020204020204" pitchFamily="34" charset="-122"/>
                <a:ea typeface="微软雅黑" panose="020B0503020204020204" pitchFamily="34" charset="-122"/>
              </a:rPr>
              <a:t>任职（</a:t>
            </a:r>
            <a:r>
              <a:rPr lang="zh-CN" altLang="en-US" sz="2000" b="1" dirty="0">
                <a:solidFill>
                  <a:srgbClr val="FF3300"/>
                </a:solidFill>
                <a:latin typeface="微软雅黑" panose="020B0503020204020204" pitchFamily="34" charset="-122"/>
                <a:ea typeface="微软雅黑" panose="020B0503020204020204" pitchFamily="34" charset="-122"/>
              </a:rPr>
              <a:t>校名</a:t>
            </a:r>
            <a:r>
              <a:rPr lang="zh-CN" altLang="en-US" sz="2000" b="1" u="none" dirty="0">
                <a:solidFill>
                  <a:srgbClr val="FF3300"/>
                </a:solidFill>
                <a:latin typeface="微软雅黑" panose="020B0503020204020204" pitchFamily="34" charset="-122"/>
                <a:ea typeface="微软雅黑" panose="020B0503020204020204" pitchFamily="34" charset="-122"/>
              </a:rPr>
              <a:t>，</a:t>
            </a:r>
            <a:r>
              <a:rPr lang="zh-CN" altLang="en-US" sz="2000" b="1" dirty="0">
                <a:solidFill>
                  <a:srgbClr val="FF3300"/>
                </a:solidFill>
                <a:latin typeface="微软雅黑" panose="020B0503020204020204" pitchFamily="34" charset="-122"/>
                <a:ea typeface="微软雅黑" panose="020B0503020204020204" pitchFamily="34" charset="-122"/>
              </a:rPr>
              <a:t>校长名</a:t>
            </a:r>
            <a:r>
              <a:rPr lang="zh-CN" altLang="en-US" sz="2000" b="1" u="none" dirty="0">
                <a:latin typeface="微软雅黑" panose="020B0503020204020204" pitchFamily="34" charset="-122"/>
                <a:ea typeface="微软雅黑" panose="020B0503020204020204" pitchFamily="34" charset="-122"/>
              </a:rPr>
              <a:t>，任职年月）</a:t>
            </a:r>
            <a:endParaRPr lang="zh-CN" altLang="en-US" sz="2000" b="1" u="none" dirty="0">
              <a:latin typeface="微软雅黑" panose="020B0503020204020204" pitchFamily="34" charset="-122"/>
              <a:ea typeface="微软雅黑" panose="020B0503020204020204" pitchFamily="34" charset="-122"/>
            </a:endParaRPr>
          </a:p>
        </p:txBody>
      </p:sp>
      <p:grpSp>
        <p:nvGrpSpPr>
          <p:cNvPr id="41" name="Group 40"/>
          <p:cNvGrpSpPr/>
          <p:nvPr/>
        </p:nvGrpSpPr>
        <p:grpSpPr bwMode="auto">
          <a:xfrm>
            <a:off x="3278651" y="1874518"/>
            <a:ext cx="7991475" cy="574675"/>
            <a:chOff x="537" y="3963"/>
            <a:chExt cx="5034" cy="362"/>
          </a:xfrm>
        </p:grpSpPr>
        <p:sp>
          <p:nvSpPr>
            <p:cNvPr id="42" name="Rectangle 41"/>
            <p:cNvSpPr>
              <a:spLocks noChangeArrowheads="1"/>
            </p:cNvSpPr>
            <p:nvPr/>
          </p:nvSpPr>
          <p:spPr bwMode="auto">
            <a:xfrm>
              <a:off x="703" y="3963"/>
              <a:ext cx="4818" cy="357"/>
            </a:xfrm>
            <a:prstGeom prst="rect">
              <a:avLst/>
            </a:prstGeom>
            <a:gradFill rotWithShape="0">
              <a:gsLst>
                <a:gs pos="0">
                  <a:srgbClr val="33CCFF">
                    <a:alpha val="39998"/>
                  </a:srgbClr>
                </a:gs>
                <a:gs pos="100000">
                  <a:srgbClr val="FFFFFF">
                    <a:alpha val="89998"/>
                  </a:srgbClr>
                </a:gs>
              </a:gsLst>
              <a:lin ang="2700000" scaled="1"/>
            </a:gradFill>
            <a:ln w="9525">
              <a:miter lim="800000"/>
            </a:ln>
            <a:effectLst/>
            <a:scene3d>
              <a:camera prst="legacyObliqueTopRight"/>
              <a:lightRig rig="legacyFlat4" dir="b"/>
            </a:scene3d>
            <a:sp3d extrusionH="100000" prstMaterial="legacyMatte">
              <a:bevelT w="13500" h="13500" prst="angle"/>
              <a:bevelB w="13500" h="13500" prst="angle"/>
              <a:extrusionClr>
                <a:srgbClr val="66CCFF"/>
              </a:extrusionClr>
              <a:contourClr>
                <a:srgbClr val="33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u="none" dirty="0">
                  <a:latin typeface="Arial" panose="020B0604020202020204" pitchFamily="34" charset="0"/>
                </a:rPr>
                <a:t>                    </a:t>
              </a:r>
              <a:r>
                <a:rPr lang="zh-CN" altLang="en-US" sz="2400" b="1" u="none" dirty="0">
                  <a:latin typeface="微软雅黑" panose="020B0503020204020204" pitchFamily="34" charset="-122"/>
                  <a:ea typeface="微软雅黑" panose="020B0503020204020204" pitchFamily="34" charset="-122"/>
                </a:rPr>
                <a:t>转换为独立的关系模式</a:t>
              </a:r>
              <a:r>
                <a:rPr lang="en-US" altLang="zh-CN" sz="2400" b="1" u="none" dirty="0">
                  <a:latin typeface="微软雅黑" panose="020B0503020204020204" pitchFamily="34" charset="-122"/>
                  <a:ea typeface="微软雅黑" panose="020B0503020204020204" pitchFamily="34" charset="-122"/>
                </a:rPr>
                <a:t>(</a:t>
              </a:r>
              <a:r>
                <a:rPr lang="zh-CN" altLang="en-US" sz="2400" b="1" u="none" dirty="0">
                  <a:solidFill>
                    <a:srgbClr val="FF3300"/>
                  </a:solidFill>
                  <a:latin typeface="微软雅黑" panose="020B0503020204020204" pitchFamily="34" charset="-122"/>
                  <a:ea typeface="微软雅黑" panose="020B0503020204020204" pitchFamily="34" charset="-122"/>
                </a:rPr>
                <a:t>方法一</a:t>
              </a:r>
              <a:r>
                <a:rPr lang="en-US" altLang="zh-CN" sz="2400" b="1" u="none" dirty="0">
                  <a:latin typeface="微软雅黑" panose="020B0503020204020204" pitchFamily="34" charset="-122"/>
                  <a:ea typeface="微软雅黑" panose="020B0503020204020204" pitchFamily="34" charset="-122"/>
                </a:rPr>
                <a:t>)   </a:t>
              </a:r>
              <a:endParaRPr lang="en-US" altLang="zh-CN" sz="2400" b="1" u="none" dirty="0">
                <a:latin typeface="微软雅黑" panose="020B0503020204020204" pitchFamily="34" charset="-122"/>
                <a:ea typeface="微软雅黑" panose="020B0503020204020204" pitchFamily="34" charset="-122"/>
              </a:endParaRPr>
            </a:p>
          </p:txBody>
        </p:sp>
        <p:sp>
          <p:nvSpPr>
            <p:cNvPr id="43" name="Line 42"/>
            <p:cNvSpPr>
              <a:spLocks noChangeShapeType="1"/>
            </p:cNvSpPr>
            <p:nvPr/>
          </p:nvSpPr>
          <p:spPr bwMode="auto">
            <a:xfrm>
              <a:off x="537" y="4325"/>
              <a:ext cx="5034" cy="0"/>
            </a:xfrm>
            <a:prstGeom prst="line">
              <a:avLst/>
            </a:prstGeom>
            <a:noFill/>
            <a:ln w="9525">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AutoShape 43"/>
            <p:cNvSpPr>
              <a:spLocks noChangeArrowheads="1"/>
            </p:cNvSpPr>
            <p:nvPr/>
          </p:nvSpPr>
          <p:spPr bwMode="auto">
            <a:xfrm>
              <a:off x="647" y="4016"/>
              <a:ext cx="1387" cy="304"/>
            </a:xfrm>
            <a:prstGeom prst="bevel">
              <a:avLst>
                <a:gd name="adj" fmla="val 12500"/>
              </a:avLst>
            </a:prstGeom>
            <a:gradFill rotWithShape="1">
              <a:gsLst>
                <a:gs pos="0">
                  <a:srgbClr val="33CCFF"/>
                </a:gs>
                <a:gs pos="100000">
                  <a:srgbClr val="33CCFF">
                    <a:gamma/>
                    <a:shade val="45882"/>
                    <a:invGamma/>
                  </a:srgbClr>
                </a:gs>
              </a:gsLst>
              <a:lin ang="5400000" scaled="1"/>
            </a:gradFill>
            <a:ln>
              <a:noFill/>
            </a:ln>
            <a:effectLst/>
          </p:spPr>
          <p:txBody>
            <a:bodyPr wrap="none" anchor="ct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ko-KR" altLang="en-US" sz="2800" u="none" dirty="0">
                  <a:solidFill>
                    <a:srgbClr val="FFFFFF"/>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kumimoji="1" lang="zh-CN" altLang="en-US"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举例</a:t>
              </a:r>
              <a:r>
                <a:rPr kumimoji="1" lang="en-US" altLang="zh-CN"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1</a:t>
              </a:r>
              <a:endParaRPr kumimoji="1" lang="en-US" altLang="ko-KR"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grpSp>
      <p:sp>
        <p:nvSpPr>
          <p:cNvPr id="45" name="Line 44"/>
          <p:cNvSpPr>
            <a:spLocks noChangeShapeType="1"/>
          </p:cNvSpPr>
          <p:nvPr/>
        </p:nvSpPr>
        <p:spPr bwMode="auto">
          <a:xfrm>
            <a:off x="7958601" y="3963668"/>
            <a:ext cx="73025" cy="431800"/>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45"/>
          <p:cNvSpPr>
            <a:spLocks noChangeShapeType="1"/>
          </p:cNvSpPr>
          <p:nvPr/>
        </p:nvSpPr>
        <p:spPr bwMode="auto">
          <a:xfrm flipV="1">
            <a:off x="8174501" y="4755830"/>
            <a:ext cx="576263" cy="576263"/>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39"/>
          <p:cNvSpPr txBox="1">
            <a:spLocks noChangeArrowheads="1"/>
          </p:cNvSpPr>
          <p:nvPr/>
        </p:nvSpPr>
        <p:spPr bwMode="auto">
          <a:xfrm>
            <a:off x="6953714" y="5346598"/>
            <a:ext cx="5256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校长（</a:t>
            </a:r>
            <a:r>
              <a:rPr lang="zh-CN" altLang="en-US" sz="2000" b="1" dirty="0">
                <a:solidFill>
                  <a:srgbClr val="FF3300"/>
                </a:solidFill>
                <a:latin typeface="微软雅黑" panose="020B0503020204020204" pitchFamily="34" charset="-122"/>
                <a:ea typeface="微软雅黑" panose="020B0503020204020204" pitchFamily="34" charset="-122"/>
              </a:rPr>
              <a:t>姓名</a:t>
            </a:r>
            <a:r>
              <a:rPr lang="zh-CN" altLang="en-US" sz="2000" b="1" u="none" dirty="0">
                <a:latin typeface="微软雅黑" panose="020B0503020204020204" pitchFamily="34" charset="-122"/>
                <a:ea typeface="微软雅黑" panose="020B0503020204020204" pitchFamily="34" charset="-122"/>
              </a:rPr>
              <a:t>，年龄，性别， 职称）</a:t>
            </a:r>
            <a:endParaRPr lang="zh-CN" altLang="en-US" sz="2000" b="1" u="none"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down)">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down)">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up)">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up)">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slide(fromTop)">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8" presetClass="entr" presetSubtype="16" fill="hold"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diamond(in)">
                                      <p:cBhvr>
                                        <p:cTn id="71" dur="20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circle(in)">
                                      <p:cBhvr>
                                        <p:cTn id="76" dur="2000"/>
                                        <p:tgtEl>
                                          <p:spTgt spid="6"/>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grpId="0" nodeType="click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circle(in)">
                                      <p:cBhvr>
                                        <p:cTn id="81" dur="20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wipe(up)">
                                      <p:cBhvr>
                                        <p:cTn id="86" dur="500"/>
                                        <p:tgtEl>
                                          <p:spTgt spid="4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wipe(up)">
                                      <p:cBhvr>
                                        <p:cTn id="91" dur="500"/>
                                        <p:tgtEl>
                                          <p:spTgt spid="46"/>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circle(in)">
                                      <p:cBhvr>
                                        <p:cTn id="94" dur="2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40" grpId="0"/>
      <p:bldP spid="4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endParaRPr lang="en-US" altLang="zh-CN" dirty="0"/>
          </a:p>
          <a:p>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6" name="Text Box 4"/>
          <p:cNvSpPr txBox="1">
            <a:spLocks noChangeArrowheads="1"/>
          </p:cNvSpPr>
          <p:nvPr/>
        </p:nvSpPr>
        <p:spPr bwMode="auto">
          <a:xfrm>
            <a:off x="5217941" y="3630659"/>
            <a:ext cx="3343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学校（</a:t>
            </a:r>
            <a:r>
              <a:rPr lang="zh-CN" altLang="en-US" sz="2000" b="1" dirty="0">
                <a:solidFill>
                  <a:srgbClr val="FF3300"/>
                </a:solidFill>
                <a:latin typeface="微软雅黑" panose="020B0503020204020204" pitchFamily="34" charset="-122"/>
                <a:ea typeface="微软雅黑" panose="020B0503020204020204" pitchFamily="34" charset="-122"/>
              </a:rPr>
              <a:t>校名</a:t>
            </a:r>
            <a:r>
              <a:rPr lang="zh-CN" altLang="en-US" sz="2000" b="1" u="none" dirty="0">
                <a:latin typeface="微软雅黑" panose="020B0503020204020204" pitchFamily="34" charset="-122"/>
                <a:ea typeface="微软雅黑" panose="020B0503020204020204" pitchFamily="34" charset="-122"/>
              </a:rPr>
              <a:t>，地址，电话</a:t>
            </a:r>
            <a:endParaRPr lang="zh-CN" altLang="en-US" sz="2000" b="1" u="none" dirty="0">
              <a:latin typeface="微软雅黑" panose="020B0503020204020204" pitchFamily="34" charset="-122"/>
              <a:ea typeface="微软雅黑" panose="020B0503020204020204" pitchFamily="34" charset="-122"/>
            </a:endParaRPr>
          </a:p>
        </p:txBody>
      </p:sp>
      <p:sp>
        <p:nvSpPr>
          <p:cNvPr id="7" name="Text Box 5"/>
          <p:cNvSpPr txBox="1">
            <a:spLocks noChangeArrowheads="1"/>
          </p:cNvSpPr>
          <p:nvPr/>
        </p:nvSpPr>
        <p:spPr bwMode="auto">
          <a:xfrm>
            <a:off x="5443366" y="5384846"/>
            <a:ext cx="5256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校长（</a:t>
            </a:r>
            <a:r>
              <a:rPr lang="zh-CN" altLang="en-US" sz="2000" b="1" dirty="0">
                <a:solidFill>
                  <a:srgbClr val="FF3300"/>
                </a:solidFill>
                <a:latin typeface="微软雅黑" panose="020B0503020204020204" pitchFamily="34" charset="-122"/>
                <a:ea typeface="微软雅黑" panose="020B0503020204020204" pitchFamily="34" charset="-122"/>
              </a:rPr>
              <a:t>姓名</a:t>
            </a:r>
            <a:r>
              <a:rPr lang="zh-CN" altLang="en-US" sz="2000" b="1" u="none" dirty="0">
                <a:solidFill>
                  <a:srgbClr val="FF3300"/>
                </a:solidFill>
                <a:latin typeface="微软雅黑" panose="020B0503020204020204" pitchFamily="34" charset="-122"/>
                <a:ea typeface="微软雅黑" panose="020B0503020204020204" pitchFamily="34" charset="-122"/>
              </a:rPr>
              <a:t>，</a:t>
            </a:r>
            <a:r>
              <a:rPr lang="zh-CN" altLang="en-US" sz="2000" b="1" u="none" dirty="0">
                <a:latin typeface="微软雅黑" panose="020B0503020204020204" pitchFamily="34" charset="-122"/>
                <a:ea typeface="微软雅黑" panose="020B0503020204020204" pitchFamily="34" charset="-122"/>
              </a:rPr>
              <a:t>年龄，性别，职务）</a:t>
            </a:r>
            <a:endParaRPr lang="zh-CN" altLang="en-US" sz="2000" b="1" u="none" dirty="0">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flipV="1">
            <a:off x="6954666" y="4016421"/>
            <a:ext cx="2736850" cy="649288"/>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7"/>
          <p:cNvSpPr>
            <a:spLocks noChangeShapeType="1"/>
          </p:cNvSpPr>
          <p:nvPr/>
        </p:nvSpPr>
        <p:spPr bwMode="auto">
          <a:xfrm flipV="1">
            <a:off x="6595891" y="4016421"/>
            <a:ext cx="2159000" cy="1441450"/>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0"/>
          <p:cNvSpPr>
            <a:spLocks noChangeShapeType="1"/>
          </p:cNvSpPr>
          <p:nvPr/>
        </p:nvSpPr>
        <p:spPr bwMode="auto">
          <a:xfrm>
            <a:off x="4087641" y="4094209"/>
            <a:ext cx="1588"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1"/>
          <p:cNvSpPr>
            <a:spLocks noChangeShapeType="1"/>
          </p:cNvSpPr>
          <p:nvPr/>
        </p:nvSpPr>
        <p:spPr bwMode="auto">
          <a:xfrm>
            <a:off x="4114629" y="5032421"/>
            <a:ext cx="0" cy="43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12"/>
          <p:cNvSpPr>
            <a:spLocks noChangeArrowheads="1"/>
          </p:cNvSpPr>
          <p:nvPr/>
        </p:nvSpPr>
        <p:spPr bwMode="auto">
          <a:xfrm>
            <a:off x="3559004" y="3735434"/>
            <a:ext cx="1038225" cy="35877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学校  </a:t>
            </a:r>
            <a:endParaRPr lang="zh-CN" altLang="en-US" sz="1800" b="1" u="none" dirty="0">
              <a:latin typeface="微软雅黑" panose="020B0503020204020204" pitchFamily="34" charset="-122"/>
              <a:ea typeface="微软雅黑" panose="020B0503020204020204" pitchFamily="34" charset="-122"/>
            </a:endParaRPr>
          </a:p>
        </p:txBody>
      </p:sp>
      <p:sp>
        <p:nvSpPr>
          <p:cNvPr id="14" name="Rectangle 13"/>
          <p:cNvSpPr>
            <a:spLocks noChangeArrowheads="1"/>
          </p:cNvSpPr>
          <p:nvPr/>
        </p:nvSpPr>
        <p:spPr bwMode="auto">
          <a:xfrm>
            <a:off x="3559004" y="5464221"/>
            <a:ext cx="1038225" cy="358775"/>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校长  </a:t>
            </a:r>
            <a:endParaRPr lang="zh-CN" altLang="en-US" sz="1800" b="1" u="none" dirty="0">
              <a:latin typeface="微软雅黑" panose="020B0503020204020204" pitchFamily="34" charset="-122"/>
              <a:ea typeface="微软雅黑" panose="020B0503020204020204" pitchFamily="34" charset="-122"/>
            </a:endParaRPr>
          </a:p>
        </p:txBody>
      </p:sp>
      <p:sp>
        <p:nvSpPr>
          <p:cNvPr id="15" name="AutoShape 14"/>
          <p:cNvSpPr>
            <a:spLocks noChangeArrowheads="1"/>
          </p:cNvSpPr>
          <p:nvPr/>
        </p:nvSpPr>
        <p:spPr bwMode="auto">
          <a:xfrm>
            <a:off x="3476454" y="4524421"/>
            <a:ext cx="1357312" cy="503238"/>
          </a:xfrm>
          <a:prstGeom prst="diamond">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任职  </a:t>
            </a:r>
            <a:endParaRPr lang="zh-CN" altLang="en-US" sz="1800" b="1" u="none" dirty="0">
              <a:latin typeface="微软雅黑" panose="020B0503020204020204" pitchFamily="34" charset="-122"/>
              <a:ea typeface="微软雅黑" panose="020B0503020204020204" pitchFamily="34" charset="-122"/>
            </a:endParaRPr>
          </a:p>
        </p:txBody>
      </p:sp>
      <p:grpSp>
        <p:nvGrpSpPr>
          <p:cNvPr id="16" name="Group 15"/>
          <p:cNvGrpSpPr/>
          <p:nvPr/>
        </p:nvGrpSpPr>
        <p:grpSpPr bwMode="auto">
          <a:xfrm>
            <a:off x="4821066" y="4514896"/>
            <a:ext cx="1836738" cy="503238"/>
            <a:chOff x="1744" y="2569"/>
            <a:chExt cx="1044" cy="318"/>
          </a:xfrm>
        </p:grpSpPr>
        <p:sp>
          <p:nvSpPr>
            <p:cNvPr id="17" name="Oval 16"/>
            <p:cNvSpPr>
              <a:spLocks noChangeArrowheads="1"/>
            </p:cNvSpPr>
            <p:nvPr/>
          </p:nvSpPr>
          <p:spPr bwMode="auto">
            <a:xfrm>
              <a:off x="2017" y="2569"/>
              <a:ext cx="771" cy="318"/>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任职年月  </a:t>
              </a:r>
              <a:endParaRPr lang="zh-CN" altLang="en-US" sz="1800" b="1" u="none" dirty="0">
                <a:latin typeface="微软雅黑" panose="020B0503020204020204" pitchFamily="34" charset="-122"/>
                <a:ea typeface="微软雅黑" panose="020B0503020204020204" pitchFamily="34" charset="-122"/>
              </a:endParaRPr>
            </a:p>
          </p:txBody>
        </p:sp>
        <p:sp>
          <p:nvSpPr>
            <p:cNvPr id="18" name="Line 17"/>
            <p:cNvSpPr>
              <a:spLocks noChangeShapeType="1"/>
            </p:cNvSpPr>
            <p:nvPr/>
          </p:nvSpPr>
          <p:spPr bwMode="auto">
            <a:xfrm>
              <a:off x="1744" y="2727"/>
              <a:ext cx="2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 name="Group 18"/>
          <p:cNvGrpSpPr/>
          <p:nvPr/>
        </p:nvGrpSpPr>
        <p:grpSpPr bwMode="auto">
          <a:xfrm>
            <a:off x="2409654" y="2871834"/>
            <a:ext cx="1516062" cy="863600"/>
            <a:chOff x="384" y="1525"/>
            <a:chExt cx="862" cy="545"/>
          </a:xfrm>
        </p:grpSpPr>
        <p:sp>
          <p:nvSpPr>
            <p:cNvPr id="20" name="Oval 19"/>
            <p:cNvSpPr>
              <a:spLocks noChangeArrowheads="1"/>
            </p:cNvSpPr>
            <p:nvPr/>
          </p:nvSpPr>
          <p:spPr bwMode="auto">
            <a:xfrm>
              <a:off x="384" y="1525"/>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dirty="0">
                  <a:solidFill>
                    <a:srgbClr val="FF3300"/>
                  </a:solidFill>
                  <a:latin typeface="微软雅黑" panose="020B0503020204020204" pitchFamily="34" charset="-122"/>
                  <a:ea typeface="微软雅黑" panose="020B0503020204020204" pitchFamily="34" charset="-122"/>
                </a:rPr>
                <a:t>校名  </a:t>
              </a:r>
              <a:endParaRPr lang="zh-CN" altLang="en-US" sz="2000" b="1" dirty="0">
                <a:solidFill>
                  <a:srgbClr val="FF3300"/>
                </a:solidFill>
                <a:latin typeface="微软雅黑" panose="020B0503020204020204" pitchFamily="34" charset="-122"/>
                <a:ea typeface="微软雅黑" panose="020B0503020204020204" pitchFamily="34" charset="-122"/>
              </a:endParaRPr>
            </a:p>
          </p:txBody>
        </p:sp>
        <p:sp>
          <p:nvSpPr>
            <p:cNvPr id="21" name="Line 20"/>
            <p:cNvSpPr>
              <a:spLocks noChangeShapeType="1"/>
            </p:cNvSpPr>
            <p:nvPr/>
          </p:nvSpPr>
          <p:spPr bwMode="auto">
            <a:xfrm>
              <a:off x="747" y="1798"/>
              <a:ext cx="499"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 name="Group 21"/>
          <p:cNvGrpSpPr/>
          <p:nvPr/>
        </p:nvGrpSpPr>
        <p:grpSpPr bwMode="auto">
          <a:xfrm>
            <a:off x="3703466" y="2871834"/>
            <a:ext cx="1038225" cy="863600"/>
            <a:chOff x="1110" y="1525"/>
            <a:chExt cx="590" cy="545"/>
          </a:xfrm>
        </p:grpSpPr>
        <p:sp>
          <p:nvSpPr>
            <p:cNvPr id="23" name="Oval 22"/>
            <p:cNvSpPr>
              <a:spLocks noChangeArrowheads="1"/>
            </p:cNvSpPr>
            <p:nvPr/>
          </p:nvSpPr>
          <p:spPr bwMode="auto">
            <a:xfrm>
              <a:off x="1110" y="1525"/>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地址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24" name="Line 23"/>
            <p:cNvSpPr>
              <a:spLocks noChangeShapeType="1"/>
            </p:cNvSpPr>
            <p:nvPr/>
          </p:nvSpPr>
          <p:spPr bwMode="auto">
            <a:xfrm>
              <a:off x="1382" y="1798"/>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5" name="Group 24"/>
          <p:cNvGrpSpPr/>
          <p:nvPr/>
        </p:nvGrpSpPr>
        <p:grpSpPr bwMode="auto">
          <a:xfrm>
            <a:off x="4421016" y="2871834"/>
            <a:ext cx="1516063" cy="863600"/>
            <a:chOff x="1518" y="1525"/>
            <a:chExt cx="862" cy="545"/>
          </a:xfrm>
        </p:grpSpPr>
        <p:sp>
          <p:nvSpPr>
            <p:cNvPr id="26" name="Oval 25"/>
            <p:cNvSpPr>
              <a:spLocks noChangeArrowheads="1"/>
            </p:cNvSpPr>
            <p:nvPr/>
          </p:nvSpPr>
          <p:spPr bwMode="auto">
            <a:xfrm>
              <a:off x="1745" y="1525"/>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电话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27" name="Line 26"/>
            <p:cNvSpPr>
              <a:spLocks noChangeShapeType="1"/>
            </p:cNvSpPr>
            <p:nvPr/>
          </p:nvSpPr>
          <p:spPr bwMode="auto">
            <a:xfrm flipH="1">
              <a:off x="1518" y="1798"/>
              <a:ext cx="454"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27"/>
          <p:cNvGrpSpPr/>
          <p:nvPr/>
        </p:nvGrpSpPr>
        <p:grpSpPr bwMode="auto">
          <a:xfrm>
            <a:off x="3271666" y="5824584"/>
            <a:ext cx="1036638" cy="863600"/>
            <a:chOff x="838" y="3385"/>
            <a:chExt cx="589" cy="545"/>
          </a:xfrm>
        </p:grpSpPr>
        <p:sp>
          <p:nvSpPr>
            <p:cNvPr id="29" name="Oval 28"/>
            <p:cNvSpPr>
              <a:spLocks noChangeArrowheads="1"/>
            </p:cNvSpPr>
            <p:nvPr/>
          </p:nvSpPr>
          <p:spPr bwMode="auto">
            <a:xfrm>
              <a:off x="838" y="3657"/>
              <a:ext cx="589"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性别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30" name="Line 29"/>
            <p:cNvSpPr>
              <a:spLocks noChangeShapeType="1"/>
            </p:cNvSpPr>
            <p:nvPr/>
          </p:nvSpPr>
          <p:spPr bwMode="auto">
            <a:xfrm flipH="1">
              <a:off x="1200" y="3385"/>
              <a:ext cx="136"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 name="Group 30"/>
          <p:cNvGrpSpPr/>
          <p:nvPr/>
        </p:nvGrpSpPr>
        <p:grpSpPr bwMode="auto">
          <a:xfrm>
            <a:off x="4314654" y="5824584"/>
            <a:ext cx="1119187" cy="863600"/>
            <a:chOff x="1427" y="3385"/>
            <a:chExt cx="636" cy="545"/>
          </a:xfrm>
        </p:grpSpPr>
        <p:sp>
          <p:nvSpPr>
            <p:cNvPr id="32" name="Oval 31"/>
            <p:cNvSpPr>
              <a:spLocks noChangeArrowheads="1"/>
            </p:cNvSpPr>
            <p:nvPr/>
          </p:nvSpPr>
          <p:spPr bwMode="auto">
            <a:xfrm>
              <a:off x="1472" y="3657"/>
              <a:ext cx="591"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年龄  </a:t>
              </a:r>
              <a:endParaRPr lang="zh-CN" altLang="en-US" sz="1800" b="1" u="none" dirty="0">
                <a:latin typeface="微软雅黑" panose="020B0503020204020204" pitchFamily="34" charset="-122"/>
                <a:ea typeface="微软雅黑" panose="020B0503020204020204" pitchFamily="34" charset="-122"/>
              </a:endParaRPr>
            </a:p>
          </p:txBody>
        </p:sp>
        <p:sp>
          <p:nvSpPr>
            <p:cNvPr id="33" name="Line 32"/>
            <p:cNvSpPr>
              <a:spLocks noChangeShapeType="1"/>
            </p:cNvSpPr>
            <p:nvPr/>
          </p:nvSpPr>
          <p:spPr bwMode="auto">
            <a:xfrm>
              <a:off x="1427" y="3385"/>
              <a:ext cx="227"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 name="Group 33"/>
          <p:cNvGrpSpPr/>
          <p:nvPr/>
        </p:nvGrpSpPr>
        <p:grpSpPr bwMode="auto">
          <a:xfrm>
            <a:off x="2192166" y="5824584"/>
            <a:ext cx="1844675" cy="865187"/>
            <a:chOff x="158" y="3385"/>
            <a:chExt cx="1088" cy="545"/>
          </a:xfrm>
        </p:grpSpPr>
        <p:sp>
          <p:nvSpPr>
            <p:cNvPr id="35" name="Oval 34"/>
            <p:cNvSpPr>
              <a:spLocks noChangeArrowheads="1"/>
            </p:cNvSpPr>
            <p:nvPr/>
          </p:nvSpPr>
          <p:spPr bwMode="auto">
            <a:xfrm>
              <a:off x="158" y="3657"/>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2000" b="1" dirty="0">
                  <a:solidFill>
                    <a:srgbClr val="FF3300"/>
                  </a:solidFill>
                  <a:latin typeface="微软雅黑" panose="020B0503020204020204" pitchFamily="34" charset="-122"/>
                  <a:ea typeface="微软雅黑" panose="020B0503020204020204" pitchFamily="34" charset="-122"/>
                </a:rPr>
                <a:t>姓名  </a:t>
              </a:r>
              <a:endParaRPr lang="zh-CN" altLang="en-US" sz="2000" b="1" dirty="0">
                <a:solidFill>
                  <a:srgbClr val="FF3300"/>
                </a:solidFill>
                <a:latin typeface="微软雅黑" panose="020B0503020204020204" pitchFamily="34" charset="-122"/>
                <a:ea typeface="微软雅黑" panose="020B0503020204020204" pitchFamily="34" charset="-122"/>
              </a:endParaRPr>
            </a:p>
          </p:txBody>
        </p:sp>
        <p:sp>
          <p:nvSpPr>
            <p:cNvPr id="36" name="Line 35"/>
            <p:cNvSpPr>
              <a:spLocks noChangeShapeType="1"/>
            </p:cNvSpPr>
            <p:nvPr/>
          </p:nvSpPr>
          <p:spPr bwMode="auto">
            <a:xfrm flipH="1">
              <a:off x="565" y="3385"/>
              <a:ext cx="68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 name="Group 36"/>
          <p:cNvGrpSpPr/>
          <p:nvPr/>
        </p:nvGrpSpPr>
        <p:grpSpPr bwMode="auto">
          <a:xfrm>
            <a:off x="4424191" y="5824584"/>
            <a:ext cx="2233613" cy="863600"/>
            <a:chOff x="1518" y="3385"/>
            <a:chExt cx="1270" cy="545"/>
          </a:xfrm>
        </p:grpSpPr>
        <p:sp>
          <p:nvSpPr>
            <p:cNvPr id="38" name="Oval 37"/>
            <p:cNvSpPr>
              <a:spLocks noChangeArrowheads="1"/>
            </p:cNvSpPr>
            <p:nvPr/>
          </p:nvSpPr>
          <p:spPr bwMode="auto">
            <a:xfrm>
              <a:off x="2108" y="3657"/>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职称  </a:t>
              </a:r>
              <a:endParaRPr lang="zh-CN" altLang="en-US" sz="1800" b="1" u="none" dirty="0">
                <a:latin typeface="微软雅黑" panose="020B0503020204020204" pitchFamily="34" charset="-122"/>
                <a:ea typeface="微软雅黑" panose="020B0503020204020204" pitchFamily="34" charset="-122"/>
              </a:endParaRPr>
            </a:p>
          </p:txBody>
        </p:sp>
        <p:sp>
          <p:nvSpPr>
            <p:cNvPr id="39" name="Line 38"/>
            <p:cNvSpPr>
              <a:spLocks noChangeShapeType="1"/>
            </p:cNvSpPr>
            <p:nvPr/>
          </p:nvSpPr>
          <p:spPr bwMode="auto">
            <a:xfrm>
              <a:off x="1518" y="3385"/>
              <a:ext cx="817"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0" name="Text Box 39"/>
          <p:cNvSpPr txBox="1">
            <a:spLocks noChangeArrowheads="1"/>
          </p:cNvSpPr>
          <p:nvPr/>
        </p:nvSpPr>
        <p:spPr bwMode="auto">
          <a:xfrm>
            <a:off x="3705054" y="4095796"/>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sp>
        <p:nvSpPr>
          <p:cNvPr id="41" name="Text Box 40"/>
          <p:cNvSpPr txBox="1">
            <a:spLocks noChangeArrowheads="1"/>
          </p:cNvSpPr>
          <p:nvPr/>
        </p:nvSpPr>
        <p:spPr bwMode="auto">
          <a:xfrm>
            <a:off x="3739979" y="5032421"/>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grpSp>
        <p:nvGrpSpPr>
          <p:cNvPr id="42" name="Group 41"/>
          <p:cNvGrpSpPr/>
          <p:nvPr/>
        </p:nvGrpSpPr>
        <p:grpSpPr bwMode="auto">
          <a:xfrm>
            <a:off x="2912891" y="1935209"/>
            <a:ext cx="7991475" cy="574675"/>
            <a:chOff x="537" y="3963"/>
            <a:chExt cx="5034" cy="362"/>
          </a:xfrm>
        </p:grpSpPr>
        <p:sp>
          <p:nvSpPr>
            <p:cNvPr id="43" name="Rectangle 42"/>
            <p:cNvSpPr>
              <a:spLocks noChangeArrowheads="1"/>
            </p:cNvSpPr>
            <p:nvPr/>
          </p:nvSpPr>
          <p:spPr bwMode="auto">
            <a:xfrm>
              <a:off x="703" y="3963"/>
              <a:ext cx="4818" cy="357"/>
            </a:xfrm>
            <a:prstGeom prst="rect">
              <a:avLst/>
            </a:prstGeom>
            <a:gradFill rotWithShape="0">
              <a:gsLst>
                <a:gs pos="0">
                  <a:srgbClr val="33CCFF">
                    <a:alpha val="39998"/>
                  </a:srgbClr>
                </a:gs>
                <a:gs pos="100000">
                  <a:srgbClr val="FFFFFF">
                    <a:alpha val="89998"/>
                  </a:srgbClr>
                </a:gs>
              </a:gsLst>
              <a:lin ang="2700000" scaled="1"/>
            </a:gradFill>
            <a:ln w="9525">
              <a:miter lim="800000"/>
            </a:ln>
            <a:effectLst/>
            <a:scene3d>
              <a:camera prst="legacyObliqueTopRight"/>
              <a:lightRig rig="legacyFlat4" dir="b"/>
            </a:scene3d>
            <a:sp3d extrusionH="100000" prstMaterial="legacyMatte">
              <a:bevelT w="13500" h="13500" prst="angle"/>
              <a:bevelB w="13500" h="13500" prst="angle"/>
              <a:extrusionClr>
                <a:srgbClr val="66CCFF"/>
              </a:extrusionClr>
              <a:contourClr>
                <a:srgbClr val="33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b="1" u="none" dirty="0">
                  <a:latin typeface="微软雅黑" panose="020B0503020204020204" pitchFamily="34" charset="-122"/>
                  <a:ea typeface="微软雅黑" panose="020B0503020204020204" pitchFamily="34" charset="-122"/>
                </a:rPr>
                <a:t>与一端合并</a:t>
              </a:r>
              <a:r>
                <a:rPr lang="en-US" altLang="zh-CN" sz="2400" b="1" u="none" dirty="0">
                  <a:latin typeface="微软雅黑" panose="020B0503020204020204" pitchFamily="34" charset="-122"/>
                  <a:ea typeface="微软雅黑" panose="020B0503020204020204" pitchFamily="34" charset="-122"/>
                </a:rPr>
                <a:t>(</a:t>
              </a:r>
              <a:r>
                <a:rPr lang="zh-CN" altLang="en-US" sz="2400" b="1" u="none" dirty="0">
                  <a:solidFill>
                    <a:srgbClr val="FF3300"/>
                  </a:solidFill>
                  <a:latin typeface="微软雅黑" panose="020B0503020204020204" pitchFamily="34" charset="-122"/>
                  <a:ea typeface="微软雅黑" panose="020B0503020204020204" pitchFamily="34" charset="-122"/>
                </a:rPr>
                <a:t>方法二</a:t>
              </a:r>
              <a:r>
                <a:rPr lang="en-US" altLang="zh-CN" sz="2400" b="1" u="none" dirty="0">
                  <a:latin typeface="微软雅黑" panose="020B0503020204020204" pitchFamily="34" charset="-122"/>
                  <a:ea typeface="微软雅黑" panose="020B0503020204020204" pitchFamily="34" charset="-122"/>
                </a:rPr>
                <a:t>)  </a:t>
              </a:r>
              <a:endParaRPr lang="en-US" altLang="zh-CN" sz="2400" b="1" u="none" dirty="0">
                <a:latin typeface="微软雅黑" panose="020B0503020204020204" pitchFamily="34" charset="-122"/>
                <a:ea typeface="微软雅黑" panose="020B0503020204020204" pitchFamily="34" charset="-122"/>
              </a:endParaRPr>
            </a:p>
          </p:txBody>
        </p:sp>
        <p:sp>
          <p:nvSpPr>
            <p:cNvPr id="44" name="Line 43"/>
            <p:cNvSpPr>
              <a:spLocks noChangeShapeType="1"/>
            </p:cNvSpPr>
            <p:nvPr/>
          </p:nvSpPr>
          <p:spPr bwMode="auto">
            <a:xfrm>
              <a:off x="537" y="4325"/>
              <a:ext cx="5034" cy="0"/>
            </a:xfrm>
            <a:prstGeom prst="line">
              <a:avLst/>
            </a:prstGeom>
            <a:noFill/>
            <a:ln w="9525">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AutoShape 44"/>
            <p:cNvSpPr>
              <a:spLocks noChangeArrowheads="1"/>
            </p:cNvSpPr>
            <p:nvPr/>
          </p:nvSpPr>
          <p:spPr bwMode="auto">
            <a:xfrm>
              <a:off x="647" y="4016"/>
              <a:ext cx="1387" cy="304"/>
            </a:xfrm>
            <a:prstGeom prst="bevel">
              <a:avLst>
                <a:gd name="adj" fmla="val 12500"/>
              </a:avLst>
            </a:prstGeom>
            <a:gradFill rotWithShape="1">
              <a:gsLst>
                <a:gs pos="0">
                  <a:srgbClr val="33CCFF"/>
                </a:gs>
                <a:gs pos="100000">
                  <a:srgbClr val="33CCFF">
                    <a:gamma/>
                    <a:shade val="45882"/>
                    <a:invGamma/>
                  </a:srgbClr>
                </a:gs>
              </a:gsLst>
              <a:lin ang="5400000" scaled="1"/>
            </a:gradFill>
            <a:ln>
              <a:noFill/>
            </a:ln>
            <a:effectLst/>
          </p:spPr>
          <p:txBody>
            <a:bodyPr wrap="none" anchor="ct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ko-KR" altLang="en-US" sz="2800" u="none" dirty="0">
                  <a:solidFill>
                    <a:srgbClr val="FFFFFF"/>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kumimoji="1" lang="zh-CN" altLang="en-US"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举例</a:t>
              </a:r>
              <a:r>
                <a:rPr kumimoji="1" lang="en-US" altLang="zh-CN"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1</a:t>
              </a:r>
              <a:endParaRPr kumimoji="1" lang="en-US" altLang="ko-KR"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grpSp>
      <p:sp>
        <p:nvSpPr>
          <p:cNvPr id="47" name="Text Box 8"/>
          <p:cNvSpPr txBox="1">
            <a:spLocks noChangeArrowheads="1"/>
          </p:cNvSpPr>
          <p:nvPr/>
        </p:nvSpPr>
        <p:spPr bwMode="auto">
          <a:xfrm>
            <a:off x="8033850" y="3611174"/>
            <a:ext cx="3315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90000"/>
              </a:lnSpc>
              <a:buSzPct val="85000"/>
              <a:buFontTx/>
              <a:buNone/>
            </a:pPr>
            <a:r>
              <a:rPr lang="zh-CN" altLang="en-US" sz="2400" b="1" u="none" dirty="0">
                <a:latin typeface="微软雅黑" panose="020B0503020204020204" pitchFamily="34" charset="-122"/>
                <a:ea typeface="微软雅黑" panose="020B0503020204020204" pitchFamily="34" charset="-122"/>
              </a:rPr>
              <a:t>，</a:t>
            </a:r>
            <a:r>
              <a:rPr lang="zh-CN" altLang="en-US" sz="2000" b="1" u="none" dirty="0">
                <a:latin typeface="微软雅黑" panose="020B0503020204020204" pitchFamily="34" charset="-122"/>
                <a:ea typeface="微软雅黑" panose="020B0503020204020204" pitchFamily="34" charset="-122"/>
              </a:rPr>
              <a:t>校长名，任职年月</a:t>
            </a:r>
            <a:r>
              <a:rPr lang="zh-CN" altLang="en-US" sz="2400" b="1" u="none" dirty="0">
                <a:latin typeface="微软雅黑" panose="020B0503020204020204" pitchFamily="34" charset="-122"/>
                <a:ea typeface="微软雅黑" panose="020B0503020204020204" pitchFamily="34" charset="-122"/>
              </a:rPr>
              <a:t>）     </a:t>
            </a:r>
            <a:endParaRPr lang="zh-CN" altLang="en-US" sz="2400" b="1" u="none" dirty="0">
              <a:latin typeface="微软雅黑" panose="020B0503020204020204" pitchFamily="34" charset="-122"/>
              <a:ea typeface="微软雅黑" panose="020B0503020204020204" pitchFamily="34" charset="-122"/>
            </a:endParaRPr>
          </a:p>
        </p:txBody>
      </p:sp>
      <p:sp>
        <p:nvSpPr>
          <p:cNvPr id="48" name="Text Box 9"/>
          <p:cNvSpPr txBox="1">
            <a:spLocks noChangeArrowheads="1"/>
          </p:cNvSpPr>
          <p:nvPr/>
        </p:nvSpPr>
        <p:spPr bwMode="auto">
          <a:xfrm>
            <a:off x="8116585" y="3603058"/>
            <a:ext cx="2857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90000"/>
              </a:lnSpc>
              <a:buSzPct val="85000"/>
              <a:buFontTx/>
              <a:buNone/>
            </a:pPr>
            <a:r>
              <a:rPr lang="en-US" altLang="zh-CN" sz="2400" b="1" u="none" dirty="0">
                <a:latin typeface="Times New Roman" panose="02020603050405020304" pitchFamily="18" charset="0"/>
              </a:rPr>
              <a:t>)</a:t>
            </a:r>
            <a:endParaRPr lang="en-US" altLang="zh-CN" sz="2400" b="1" u="none"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par>
                                <p:cTn id="18" presetID="3" presetClass="entr" presetSubtype="1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blinds(horizontal)">
                                      <p:cBhvr>
                                        <p:cTn id="25" dur="5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1" nodeType="clickEffect">
                                  <p:stCondLst>
                                    <p:cond delay="0"/>
                                  </p:stCondLst>
                                  <p:childTnLst>
                                    <p:animEffect transition="out" filter="blinds(horizontal)">
                                      <p:cBhvr>
                                        <p:cTn id="29" dur="500"/>
                                        <p:tgtEl>
                                          <p:spTgt spid="48"/>
                                        </p:tgtEl>
                                      </p:cBhvr>
                                    </p:animEffect>
                                    <p:set>
                                      <p:cBhvr>
                                        <p:cTn id="30" dur="1" fill="hold">
                                          <p:stCondLst>
                                            <p:cond delay="499"/>
                                          </p:stCondLst>
                                        </p:cTn>
                                        <p:tgtEl>
                                          <p:spTgt spid="48"/>
                                        </p:tgtEl>
                                        <p:attrNameLst>
                                          <p:attrName>style.visibility</p:attrName>
                                        </p:attrNameLst>
                                      </p:cBhvr>
                                      <p:to>
                                        <p:strVal val="hidden"/>
                                      </p:to>
                                    </p:set>
                                  </p:childTnLst>
                                </p:cTn>
                              </p:par>
                              <p:par>
                                <p:cTn id="31" presetID="3" presetClass="entr" presetSubtype="1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Effect transition="in" filter="blinds(horizontal)">
                                      <p:cBhvr>
                                        <p:cTn id="3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47" grpId="0"/>
      <p:bldP spid="48" grpId="0"/>
      <p:bldP spid="48"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r>
              <a:rPr lang="en-US" altLang="zh-CN" sz="2200" dirty="0"/>
              <a:t>1</a:t>
            </a:r>
            <a:r>
              <a:rPr lang="zh-CN" altLang="en-US" sz="2200" dirty="0"/>
              <a:t>：</a:t>
            </a:r>
            <a:r>
              <a:rPr lang="en-US" altLang="zh-CN" sz="2200" dirty="0"/>
              <a:t>N</a:t>
            </a:r>
            <a:r>
              <a:rPr lang="zh-CN" altLang="en-US" sz="2200" dirty="0"/>
              <a:t>联系</a:t>
            </a:r>
            <a:endParaRPr lang="en-US" altLang="zh-CN" sz="2200" dirty="0"/>
          </a:p>
          <a:p>
            <a:pPr lvl="1"/>
            <a:endParaRPr lang="en-US" altLang="zh-CN" sz="2200" dirty="0"/>
          </a:p>
          <a:p>
            <a:pPr lvl="1"/>
            <a:endParaRPr lang="en-US" altLang="zh-CN" sz="2200" dirty="0"/>
          </a:p>
          <a:p>
            <a:pPr lvl="1"/>
            <a:endParaRPr lang="en-US" altLang="zh-CN" sz="2200" dirty="0"/>
          </a:p>
          <a:p>
            <a:pPr lvl="1"/>
            <a:endParaRPr lang="en-US" altLang="zh-CN" sz="2200" dirty="0"/>
          </a:p>
          <a:p>
            <a:pPr lvl="1"/>
            <a:r>
              <a:rPr lang="zh-CN" altLang="en-US" sz="2200" dirty="0"/>
              <a:t>当</a:t>
            </a:r>
            <a:r>
              <a:rPr lang="en-US" altLang="en-US" sz="2200" dirty="0"/>
              <a:t>E2是部分参与时：</a:t>
            </a:r>
            <a:endParaRPr lang="en-US" altLang="en-US" sz="2200" dirty="0"/>
          </a:p>
          <a:p>
            <a:pPr marL="457200" lvl="1" indent="0">
              <a:buNone/>
            </a:pPr>
            <a:r>
              <a:rPr lang="en-US" altLang="en-US" sz="2200" dirty="0"/>
              <a:t>R1(</a:t>
            </a:r>
            <a:r>
              <a:rPr lang="en-US" altLang="en-US" sz="2200" u="sng" dirty="0"/>
              <a:t>K1</a:t>
            </a:r>
            <a:r>
              <a:rPr lang="en-US" altLang="en-US" sz="2200" dirty="0"/>
              <a:t>，A1)，R2(</a:t>
            </a:r>
            <a:r>
              <a:rPr lang="en-US" altLang="en-US" sz="2200" u="sng" dirty="0"/>
              <a:t>K2</a:t>
            </a:r>
            <a:r>
              <a:rPr lang="en-US" altLang="en-US" sz="2200" dirty="0"/>
              <a:t>，A2)，R3(</a:t>
            </a:r>
            <a:r>
              <a:rPr lang="en-US" altLang="en-US" sz="2200" u="sng" dirty="0">
                <a:solidFill>
                  <a:srgbClr val="FF9933"/>
                </a:solidFill>
              </a:rPr>
              <a:t>K2</a:t>
            </a:r>
            <a:r>
              <a:rPr lang="en-US" altLang="en-US" sz="2200" dirty="0"/>
              <a:t>，</a:t>
            </a:r>
            <a:r>
              <a:rPr lang="en-US" altLang="en-US" sz="2200" dirty="0">
                <a:solidFill>
                  <a:srgbClr val="FF9933"/>
                </a:solidFill>
              </a:rPr>
              <a:t>K1</a:t>
            </a:r>
            <a:r>
              <a:rPr lang="en-US" altLang="en-US" sz="2200" dirty="0"/>
              <a:t>，AR)，其中</a:t>
            </a:r>
            <a:r>
              <a:rPr lang="en-US" altLang="en-US" sz="2200" dirty="0">
                <a:solidFill>
                  <a:srgbClr val="FF9933"/>
                </a:solidFill>
              </a:rPr>
              <a:t>K</a:t>
            </a:r>
            <a:r>
              <a:rPr lang="en-US" altLang="zh-CN" sz="2200" dirty="0">
                <a:solidFill>
                  <a:srgbClr val="FF9933"/>
                </a:solidFill>
              </a:rPr>
              <a:t>1</a:t>
            </a:r>
            <a:r>
              <a:rPr lang="en-US" altLang="en-US" sz="2200" dirty="0"/>
              <a:t>是R3的外键</a:t>
            </a:r>
            <a:endParaRPr lang="en-US" altLang="en-US" sz="2200" dirty="0"/>
          </a:p>
          <a:p>
            <a:pPr lvl="1"/>
            <a:r>
              <a:rPr lang="en-US" altLang="zh-CN" sz="2200" dirty="0"/>
              <a:t> </a:t>
            </a:r>
            <a:r>
              <a:rPr lang="en-US" altLang="en-US" sz="2200" dirty="0"/>
              <a:t>当E2是全参与时：</a:t>
            </a:r>
            <a:endParaRPr lang="en-US" altLang="en-US" sz="2200" dirty="0"/>
          </a:p>
          <a:p>
            <a:pPr>
              <a:buNone/>
            </a:pPr>
            <a:r>
              <a:rPr lang="en-US" altLang="zh-CN" sz="2200" b="0" dirty="0"/>
              <a:t>    </a:t>
            </a:r>
            <a:r>
              <a:rPr lang="zh-CN" altLang="en-US" sz="2200" b="0" dirty="0"/>
              <a:t>   </a:t>
            </a:r>
            <a:r>
              <a:rPr lang="en-US" altLang="en-US" sz="2200" b="0" dirty="0"/>
              <a:t>R1(</a:t>
            </a:r>
            <a:r>
              <a:rPr lang="en-US" altLang="en-US" sz="2200" b="0" u="sng" dirty="0"/>
              <a:t>K1</a:t>
            </a:r>
            <a:r>
              <a:rPr lang="en-US" altLang="en-US" sz="2200" b="0" dirty="0"/>
              <a:t>，A1)，R2(</a:t>
            </a:r>
            <a:r>
              <a:rPr lang="en-US" altLang="en-US" sz="2200" b="0" u="sng" dirty="0"/>
              <a:t>K2</a:t>
            </a:r>
            <a:r>
              <a:rPr lang="en-US" altLang="en-US" sz="2200" b="0" dirty="0"/>
              <a:t>，A2，K1，AR)，其中K1是R2的外键</a:t>
            </a:r>
            <a:endParaRPr lang="en-US" altLang="en-US" sz="2200" b="0"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25" name="Group 25"/>
          <p:cNvGrpSpPr/>
          <p:nvPr/>
        </p:nvGrpSpPr>
        <p:grpSpPr bwMode="auto">
          <a:xfrm>
            <a:off x="2825057" y="1934479"/>
            <a:ext cx="5781675" cy="2159000"/>
            <a:chOff x="2400" y="1488"/>
            <a:chExt cx="5544" cy="2208"/>
          </a:xfrm>
        </p:grpSpPr>
        <p:sp>
          <p:nvSpPr>
            <p:cNvPr id="26" name="Text Box 26"/>
            <p:cNvSpPr txBox="1">
              <a:spLocks noChangeArrowheads="1"/>
            </p:cNvSpPr>
            <p:nvPr/>
          </p:nvSpPr>
          <p:spPr bwMode="auto">
            <a:xfrm>
              <a:off x="3516"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27" name="AutoShape 27"/>
            <p:cNvSpPr>
              <a:spLocks noChangeArrowheads="1"/>
            </p:cNvSpPr>
            <p:nvPr/>
          </p:nvSpPr>
          <p:spPr bwMode="auto">
            <a:xfrm>
              <a:off x="4776" y="1824"/>
              <a:ext cx="768" cy="468"/>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R</a:t>
              </a:r>
              <a:endParaRPr lang="en-US" altLang="zh-CN" sz="1200" b="1" u="none">
                <a:latin typeface="Arial" panose="020B0604020202020204" pitchFamily="34" charset="0"/>
              </a:endParaRPr>
            </a:p>
          </p:txBody>
        </p:sp>
        <p:sp>
          <p:nvSpPr>
            <p:cNvPr id="28" name="Text Box 28"/>
            <p:cNvSpPr txBox="1">
              <a:spLocks noChangeArrowheads="1"/>
            </p:cNvSpPr>
            <p:nvPr/>
          </p:nvSpPr>
          <p:spPr bwMode="auto">
            <a:xfrm>
              <a:off x="2880" y="331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r>
                <a:rPr lang="zh-CN" altLang="en-US" sz="1200" b="1" u="none">
                  <a:latin typeface="Times New Roman" panose="02020603050405020304" pitchFamily="18" charset="0"/>
                </a:rPr>
                <a:t>：</a:t>
              </a:r>
              <a:r>
                <a:rPr lang="en-US" altLang="zh-CN" sz="1200" b="1" u="none">
                  <a:latin typeface="Times New Roman" panose="02020603050405020304" pitchFamily="18" charset="0"/>
                </a:rPr>
                <a:t>N</a:t>
              </a:r>
              <a:r>
                <a:rPr lang="zh-CN" altLang="en-US" sz="1200" b="1" u="none">
                  <a:latin typeface="Times New Roman" panose="02020603050405020304" pitchFamily="18" charset="0"/>
                </a:rPr>
                <a:t>联系</a:t>
              </a:r>
              <a:endParaRPr lang="zh-CN" altLang="en-US" sz="1200" b="1" u="none">
                <a:latin typeface="Arial" panose="020B0604020202020204" pitchFamily="34" charset="0"/>
              </a:endParaRPr>
            </a:p>
          </p:txBody>
        </p:sp>
        <p:sp>
          <p:nvSpPr>
            <p:cNvPr id="29" name="AutoShape 29"/>
            <p:cNvSpPr>
              <a:spLocks noChangeArrowheads="1"/>
            </p:cNvSpPr>
            <p:nvPr/>
          </p:nvSpPr>
          <p:spPr bwMode="auto">
            <a:xfrm>
              <a:off x="2424" y="2184"/>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dirty="0">
                  <a:latin typeface="Times New Roman" panose="02020603050405020304" pitchFamily="18" charset="0"/>
                </a:rPr>
                <a:t>K</a:t>
              </a:r>
              <a:r>
                <a:rPr lang="en-US" altLang="zh-CN" sz="1200" b="1" u="none" baseline="-25000" dirty="0">
                  <a:latin typeface="Times New Roman" panose="02020603050405020304" pitchFamily="18" charset="0"/>
                </a:rPr>
                <a:t>1</a:t>
              </a:r>
              <a:endParaRPr lang="en-US" altLang="zh-CN" sz="1200" b="1" u="none" dirty="0">
                <a:latin typeface="Arial" panose="020B0604020202020204" pitchFamily="34" charset="0"/>
              </a:endParaRPr>
            </a:p>
          </p:txBody>
        </p:sp>
        <p:sp>
          <p:nvSpPr>
            <p:cNvPr id="30" name="AutoShape 30"/>
            <p:cNvSpPr>
              <a:spLocks noChangeArrowheads="1"/>
            </p:cNvSpPr>
            <p:nvPr/>
          </p:nvSpPr>
          <p:spPr bwMode="auto">
            <a:xfrm>
              <a:off x="2400" y="1488"/>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31" name="AutoShape 31"/>
            <p:cNvSpPr>
              <a:spLocks noChangeArrowheads="1"/>
            </p:cNvSpPr>
            <p:nvPr/>
          </p:nvSpPr>
          <p:spPr bwMode="auto">
            <a:xfrm>
              <a:off x="4884" y="26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R</a:t>
              </a:r>
              <a:endParaRPr lang="en-US" altLang="zh-CN" sz="1200" b="1" u="none">
                <a:latin typeface="Arial" panose="020B0604020202020204" pitchFamily="34" charset="0"/>
              </a:endParaRPr>
            </a:p>
          </p:txBody>
        </p:sp>
        <p:sp>
          <p:nvSpPr>
            <p:cNvPr id="32" name="AutoShape 32"/>
            <p:cNvSpPr>
              <a:spLocks noChangeArrowheads="1"/>
            </p:cNvSpPr>
            <p:nvPr/>
          </p:nvSpPr>
          <p:spPr bwMode="auto">
            <a:xfrm>
              <a:off x="7392" y="23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33" name="AutoShape 33"/>
            <p:cNvSpPr>
              <a:spLocks noChangeArrowheads="1"/>
            </p:cNvSpPr>
            <p:nvPr/>
          </p:nvSpPr>
          <p:spPr bwMode="auto">
            <a:xfrm>
              <a:off x="7404" y="1536"/>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K</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34" name="Text Box 34"/>
            <p:cNvSpPr txBox="1">
              <a:spLocks noChangeArrowheads="1"/>
            </p:cNvSpPr>
            <p:nvPr/>
          </p:nvSpPr>
          <p:spPr bwMode="auto">
            <a:xfrm>
              <a:off x="4464" y="169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1</a:t>
              </a:r>
              <a:endParaRPr lang="en-US" altLang="zh-CN" sz="1200" b="1" u="none">
                <a:latin typeface="Arial" panose="020B0604020202020204" pitchFamily="34" charset="0"/>
              </a:endParaRPr>
            </a:p>
          </p:txBody>
        </p:sp>
        <p:sp>
          <p:nvSpPr>
            <p:cNvPr id="35" name="Text Box 35"/>
            <p:cNvSpPr txBox="1">
              <a:spLocks noChangeArrowheads="1"/>
            </p:cNvSpPr>
            <p:nvPr/>
          </p:nvSpPr>
          <p:spPr bwMode="auto">
            <a:xfrm>
              <a:off x="5736" y="168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36" name="Text Box 36"/>
            <p:cNvSpPr txBox="1">
              <a:spLocks noChangeArrowheads="1"/>
            </p:cNvSpPr>
            <p:nvPr/>
          </p:nvSpPr>
          <p:spPr bwMode="auto">
            <a:xfrm>
              <a:off x="6108"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37" name="Line 37"/>
            <p:cNvSpPr>
              <a:spLocks noChangeShapeType="1"/>
            </p:cNvSpPr>
            <p:nvPr/>
          </p:nvSpPr>
          <p:spPr bwMode="auto">
            <a:xfrm>
              <a:off x="4248"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38"/>
            <p:cNvSpPr>
              <a:spLocks noChangeShapeType="1"/>
            </p:cNvSpPr>
            <p:nvPr/>
          </p:nvSpPr>
          <p:spPr bwMode="auto">
            <a:xfrm>
              <a:off x="5556"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39"/>
            <p:cNvSpPr>
              <a:spLocks noChangeShapeType="1"/>
            </p:cNvSpPr>
            <p:nvPr/>
          </p:nvSpPr>
          <p:spPr bwMode="auto">
            <a:xfrm flipH="1" flipV="1">
              <a:off x="2964" y="1692"/>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40"/>
            <p:cNvSpPr>
              <a:spLocks noChangeShapeType="1"/>
            </p:cNvSpPr>
            <p:nvPr/>
          </p:nvSpPr>
          <p:spPr bwMode="auto">
            <a:xfrm flipH="1">
              <a:off x="2964" y="2064"/>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41"/>
            <p:cNvSpPr>
              <a:spLocks noChangeShapeType="1"/>
            </p:cNvSpPr>
            <p:nvPr/>
          </p:nvSpPr>
          <p:spPr bwMode="auto">
            <a:xfrm flipV="1">
              <a:off x="6840" y="1680"/>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42"/>
            <p:cNvSpPr>
              <a:spLocks noChangeShapeType="1"/>
            </p:cNvSpPr>
            <p:nvPr/>
          </p:nvSpPr>
          <p:spPr bwMode="auto">
            <a:xfrm>
              <a:off x="6840" y="2064"/>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43"/>
            <p:cNvSpPr>
              <a:spLocks noChangeShapeType="1"/>
            </p:cNvSpPr>
            <p:nvPr/>
          </p:nvSpPr>
          <p:spPr bwMode="auto">
            <a:xfrm>
              <a:off x="5160" y="2316"/>
              <a:ext cx="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marL="457200" lvl="1" indent="0">
              <a:buNone/>
            </a:pPr>
            <a:endParaRPr lang="en-US" altLang="zh-CN" sz="2200" dirty="0"/>
          </a:p>
          <a:p>
            <a:pPr lvl="1"/>
            <a:endParaRPr lang="en-US" altLang="zh-CN" sz="2200" dirty="0"/>
          </a:p>
          <a:p>
            <a:pPr lvl="1"/>
            <a:endParaRPr lang="en-US" altLang="zh-CN" sz="2200" dirty="0"/>
          </a:p>
          <a:p>
            <a:pPr lvl="1"/>
            <a:endParaRPr lang="en-US" altLang="zh-CN" sz="220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6" name="Rectangle 4"/>
          <p:cNvSpPr>
            <a:spLocks noChangeArrowheads="1"/>
          </p:cNvSpPr>
          <p:nvPr/>
        </p:nvSpPr>
        <p:spPr bwMode="auto">
          <a:xfrm>
            <a:off x="3865332" y="3508484"/>
            <a:ext cx="946150" cy="38893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系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7" name="Rectangle 5"/>
          <p:cNvSpPr>
            <a:spLocks noChangeArrowheads="1"/>
          </p:cNvSpPr>
          <p:nvPr/>
        </p:nvSpPr>
        <p:spPr bwMode="auto">
          <a:xfrm>
            <a:off x="3865332" y="5237271"/>
            <a:ext cx="1201737" cy="38893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教师  </a:t>
            </a:r>
            <a:endParaRPr lang="zh-CN" altLang="en-US" sz="1800" b="1" u="none" dirty="0">
              <a:latin typeface="微软雅黑" panose="020B0503020204020204" pitchFamily="34" charset="-122"/>
              <a:ea typeface="微软雅黑" panose="020B0503020204020204" pitchFamily="34" charset="-122"/>
            </a:endParaRPr>
          </a:p>
        </p:txBody>
      </p:sp>
      <p:grpSp>
        <p:nvGrpSpPr>
          <p:cNvPr id="8" name="Group 6"/>
          <p:cNvGrpSpPr/>
          <p:nvPr/>
        </p:nvGrpSpPr>
        <p:grpSpPr bwMode="auto">
          <a:xfrm>
            <a:off x="3720869" y="3868846"/>
            <a:ext cx="1547813" cy="1484313"/>
            <a:chOff x="1020" y="2205"/>
            <a:chExt cx="843" cy="862"/>
          </a:xfrm>
        </p:grpSpPr>
        <p:sp>
          <p:nvSpPr>
            <p:cNvPr id="9" name="Line 7"/>
            <p:cNvSpPr>
              <a:spLocks noChangeShapeType="1"/>
            </p:cNvSpPr>
            <p:nvPr/>
          </p:nvSpPr>
          <p:spPr bwMode="auto">
            <a:xfrm>
              <a:off x="1429" y="2205"/>
              <a:ext cx="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8"/>
            <p:cNvSpPr>
              <a:spLocks noChangeShapeType="1"/>
            </p:cNvSpPr>
            <p:nvPr/>
          </p:nvSpPr>
          <p:spPr bwMode="auto">
            <a:xfrm>
              <a:off x="1429" y="2795"/>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AutoShape 9"/>
            <p:cNvSpPr>
              <a:spLocks noChangeArrowheads="1"/>
            </p:cNvSpPr>
            <p:nvPr/>
          </p:nvSpPr>
          <p:spPr bwMode="auto">
            <a:xfrm>
              <a:off x="1020" y="2478"/>
              <a:ext cx="843" cy="317"/>
            </a:xfrm>
            <a:prstGeom prst="diamond">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聘用  </a:t>
              </a:r>
              <a:endParaRPr lang="zh-CN" altLang="en-US" sz="1800" b="1" u="none" dirty="0">
                <a:latin typeface="微软雅黑" panose="020B0503020204020204" pitchFamily="34" charset="-122"/>
                <a:ea typeface="微软雅黑" panose="020B0503020204020204" pitchFamily="34" charset="-122"/>
              </a:endParaRPr>
            </a:p>
          </p:txBody>
        </p:sp>
      </p:grpSp>
      <p:grpSp>
        <p:nvGrpSpPr>
          <p:cNvPr id="12" name="Group 10"/>
          <p:cNvGrpSpPr/>
          <p:nvPr/>
        </p:nvGrpSpPr>
        <p:grpSpPr bwMode="auto">
          <a:xfrm>
            <a:off x="5225819" y="4337159"/>
            <a:ext cx="1592263" cy="468312"/>
            <a:chOff x="1813" y="2477"/>
            <a:chExt cx="840" cy="272"/>
          </a:xfrm>
        </p:grpSpPr>
        <p:sp>
          <p:nvSpPr>
            <p:cNvPr id="13" name="Oval 11"/>
            <p:cNvSpPr>
              <a:spLocks noChangeArrowheads="1"/>
            </p:cNvSpPr>
            <p:nvPr/>
          </p:nvSpPr>
          <p:spPr bwMode="auto">
            <a:xfrm>
              <a:off x="1973" y="2477"/>
              <a:ext cx="680" cy="272"/>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聘期  </a:t>
              </a:r>
              <a:endParaRPr lang="zh-CN" altLang="en-US" sz="1800" b="1" u="none" dirty="0">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flipV="1">
              <a:off x="1813" y="2636"/>
              <a:ext cx="15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 name="Group 13"/>
          <p:cNvGrpSpPr/>
          <p:nvPr/>
        </p:nvGrpSpPr>
        <p:grpSpPr bwMode="auto">
          <a:xfrm>
            <a:off x="2425469" y="2573446"/>
            <a:ext cx="1633538" cy="936625"/>
            <a:chOff x="385" y="1434"/>
            <a:chExt cx="862" cy="545"/>
          </a:xfrm>
        </p:grpSpPr>
        <p:sp>
          <p:nvSpPr>
            <p:cNvPr id="16" name="Oval 14"/>
            <p:cNvSpPr>
              <a:spLocks noChangeArrowheads="1"/>
            </p:cNvSpPr>
            <p:nvPr/>
          </p:nvSpPr>
          <p:spPr bwMode="auto">
            <a:xfrm>
              <a:off x="385" y="1434"/>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dirty="0">
                  <a:solidFill>
                    <a:srgbClr val="FF3300"/>
                  </a:solidFill>
                  <a:latin typeface="微软雅黑" panose="020B0503020204020204" pitchFamily="34" charset="-122"/>
                  <a:ea typeface="微软雅黑" panose="020B0503020204020204" pitchFamily="34" charset="-122"/>
                </a:rPr>
                <a:t>系号  </a:t>
              </a:r>
              <a:endParaRPr lang="zh-CN" altLang="en-US" sz="1800" b="1" dirty="0">
                <a:solidFill>
                  <a:srgbClr val="FF3300"/>
                </a:solidFill>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748" y="1707"/>
              <a:ext cx="499"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 name="Group 16"/>
          <p:cNvGrpSpPr/>
          <p:nvPr/>
        </p:nvGrpSpPr>
        <p:grpSpPr bwMode="auto">
          <a:xfrm>
            <a:off x="3865332" y="2573446"/>
            <a:ext cx="1117600" cy="936625"/>
            <a:chOff x="1111" y="1434"/>
            <a:chExt cx="590" cy="545"/>
          </a:xfrm>
        </p:grpSpPr>
        <p:sp>
          <p:nvSpPr>
            <p:cNvPr id="19" name="Oval 17"/>
            <p:cNvSpPr>
              <a:spLocks noChangeArrowheads="1"/>
            </p:cNvSpPr>
            <p:nvPr/>
          </p:nvSpPr>
          <p:spPr bwMode="auto">
            <a:xfrm>
              <a:off x="1111" y="1434"/>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系名  </a:t>
              </a:r>
              <a:endParaRPr lang="zh-CN" altLang="en-US" sz="1800" b="1" u="none" dirty="0">
                <a:latin typeface="微软雅黑" panose="020B0503020204020204" pitchFamily="34" charset="-122"/>
                <a:ea typeface="微软雅黑" panose="020B0503020204020204" pitchFamily="34" charset="-122"/>
              </a:endParaRPr>
            </a:p>
          </p:txBody>
        </p:sp>
        <p:sp>
          <p:nvSpPr>
            <p:cNvPr id="20" name="Line 18"/>
            <p:cNvSpPr>
              <a:spLocks noChangeShapeType="1"/>
            </p:cNvSpPr>
            <p:nvPr/>
          </p:nvSpPr>
          <p:spPr bwMode="auto">
            <a:xfrm>
              <a:off x="1383" y="1707"/>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 name="Group 19"/>
          <p:cNvGrpSpPr/>
          <p:nvPr/>
        </p:nvGrpSpPr>
        <p:grpSpPr bwMode="auto">
          <a:xfrm>
            <a:off x="4513032" y="2573446"/>
            <a:ext cx="1633537" cy="936625"/>
            <a:chOff x="1519" y="1434"/>
            <a:chExt cx="862" cy="545"/>
          </a:xfrm>
        </p:grpSpPr>
        <p:sp>
          <p:nvSpPr>
            <p:cNvPr id="22" name="Oval 20"/>
            <p:cNvSpPr>
              <a:spLocks noChangeArrowheads="1"/>
            </p:cNvSpPr>
            <p:nvPr/>
          </p:nvSpPr>
          <p:spPr bwMode="auto">
            <a:xfrm>
              <a:off x="1746" y="1434"/>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电话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23" name="Line 21"/>
            <p:cNvSpPr>
              <a:spLocks noChangeShapeType="1"/>
            </p:cNvSpPr>
            <p:nvPr/>
          </p:nvSpPr>
          <p:spPr bwMode="auto">
            <a:xfrm flipH="1">
              <a:off x="1519" y="1707"/>
              <a:ext cx="454"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 name="Group 22"/>
          <p:cNvGrpSpPr/>
          <p:nvPr/>
        </p:nvGrpSpPr>
        <p:grpSpPr bwMode="auto">
          <a:xfrm>
            <a:off x="3419244" y="5626209"/>
            <a:ext cx="1117600" cy="936625"/>
            <a:chOff x="884" y="3294"/>
            <a:chExt cx="590" cy="545"/>
          </a:xfrm>
        </p:grpSpPr>
        <p:sp>
          <p:nvSpPr>
            <p:cNvPr id="44" name="Oval 23"/>
            <p:cNvSpPr>
              <a:spLocks noChangeArrowheads="1"/>
            </p:cNvSpPr>
            <p:nvPr/>
          </p:nvSpPr>
          <p:spPr bwMode="auto">
            <a:xfrm>
              <a:off x="884" y="3566"/>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姓名</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45" name="Line 24"/>
            <p:cNvSpPr>
              <a:spLocks noChangeShapeType="1"/>
            </p:cNvSpPr>
            <p:nvPr/>
          </p:nvSpPr>
          <p:spPr bwMode="auto">
            <a:xfrm flipH="1">
              <a:off x="1201" y="3294"/>
              <a:ext cx="136"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 name="Group 25"/>
          <p:cNvGrpSpPr/>
          <p:nvPr/>
        </p:nvGrpSpPr>
        <p:grpSpPr bwMode="auto">
          <a:xfrm>
            <a:off x="4468582" y="5626209"/>
            <a:ext cx="1376362" cy="936625"/>
            <a:chOff x="1428" y="3294"/>
            <a:chExt cx="727" cy="545"/>
          </a:xfrm>
        </p:grpSpPr>
        <p:sp>
          <p:nvSpPr>
            <p:cNvPr id="47" name="Oval 26"/>
            <p:cNvSpPr>
              <a:spLocks noChangeArrowheads="1"/>
            </p:cNvSpPr>
            <p:nvPr/>
          </p:nvSpPr>
          <p:spPr bwMode="auto">
            <a:xfrm>
              <a:off x="1519" y="3566"/>
              <a:ext cx="636"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性别  </a:t>
              </a:r>
              <a:endParaRPr lang="zh-CN" altLang="en-US" sz="1800" b="1" u="none" dirty="0">
                <a:latin typeface="微软雅黑" panose="020B0503020204020204" pitchFamily="34" charset="-122"/>
                <a:ea typeface="微软雅黑" panose="020B0503020204020204" pitchFamily="34" charset="-122"/>
              </a:endParaRPr>
            </a:p>
          </p:txBody>
        </p:sp>
        <p:sp>
          <p:nvSpPr>
            <p:cNvPr id="48" name="Line 27"/>
            <p:cNvSpPr>
              <a:spLocks noChangeShapeType="1"/>
            </p:cNvSpPr>
            <p:nvPr/>
          </p:nvSpPr>
          <p:spPr bwMode="auto">
            <a:xfrm>
              <a:off x="1428" y="3294"/>
              <a:ext cx="363"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 name="Group 28"/>
          <p:cNvGrpSpPr/>
          <p:nvPr/>
        </p:nvGrpSpPr>
        <p:grpSpPr bwMode="auto">
          <a:xfrm>
            <a:off x="4627332" y="5626209"/>
            <a:ext cx="2665412" cy="936625"/>
            <a:chOff x="1519" y="3294"/>
            <a:chExt cx="1407" cy="545"/>
          </a:xfrm>
        </p:grpSpPr>
        <p:sp>
          <p:nvSpPr>
            <p:cNvPr id="50" name="Oval 29"/>
            <p:cNvSpPr>
              <a:spLocks noChangeArrowheads="1"/>
            </p:cNvSpPr>
            <p:nvPr/>
          </p:nvSpPr>
          <p:spPr bwMode="auto">
            <a:xfrm>
              <a:off x="2200" y="3566"/>
              <a:ext cx="726"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年龄  </a:t>
              </a:r>
              <a:endParaRPr lang="zh-CN" altLang="en-US" sz="1800" b="1" u="none" dirty="0">
                <a:latin typeface="微软雅黑" panose="020B0503020204020204" pitchFamily="34" charset="-122"/>
                <a:ea typeface="微软雅黑" panose="020B0503020204020204" pitchFamily="34" charset="-122"/>
              </a:endParaRPr>
            </a:p>
          </p:txBody>
        </p:sp>
        <p:sp>
          <p:nvSpPr>
            <p:cNvPr id="51" name="Line 30"/>
            <p:cNvSpPr>
              <a:spLocks noChangeShapeType="1"/>
            </p:cNvSpPr>
            <p:nvPr/>
          </p:nvSpPr>
          <p:spPr bwMode="auto">
            <a:xfrm>
              <a:off x="1519" y="3294"/>
              <a:ext cx="953"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31"/>
          <p:cNvGrpSpPr/>
          <p:nvPr/>
        </p:nvGrpSpPr>
        <p:grpSpPr bwMode="auto">
          <a:xfrm>
            <a:off x="3936769" y="3868846"/>
            <a:ext cx="368300" cy="1412875"/>
            <a:chOff x="1156" y="2205"/>
            <a:chExt cx="201" cy="821"/>
          </a:xfrm>
        </p:grpSpPr>
        <p:sp>
          <p:nvSpPr>
            <p:cNvPr id="53" name="Text Box 32"/>
            <p:cNvSpPr txBox="1">
              <a:spLocks noChangeArrowheads="1"/>
            </p:cNvSpPr>
            <p:nvPr/>
          </p:nvSpPr>
          <p:spPr bwMode="auto">
            <a:xfrm>
              <a:off x="1156" y="2205"/>
              <a:ext cx="1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sp>
          <p:nvSpPr>
            <p:cNvPr id="54" name="Text Box 33"/>
            <p:cNvSpPr txBox="1">
              <a:spLocks noChangeArrowheads="1"/>
            </p:cNvSpPr>
            <p:nvPr/>
          </p:nvSpPr>
          <p:spPr bwMode="auto">
            <a:xfrm>
              <a:off x="1156" y="2795"/>
              <a:ext cx="2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solidFill>
                    <a:srgbClr val="3333FF"/>
                  </a:solidFill>
                  <a:latin typeface="Arial" panose="020B0604020202020204" pitchFamily="34" charset="0"/>
                </a:rPr>
                <a:t>N</a:t>
              </a:r>
              <a:endParaRPr lang="en-US" altLang="zh-CN" sz="2000" b="1" u="none">
                <a:solidFill>
                  <a:srgbClr val="3333FF"/>
                </a:solidFill>
                <a:latin typeface="Arial" panose="020B0604020202020204" pitchFamily="34" charset="0"/>
              </a:endParaRPr>
            </a:p>
          </p:txBody>
        </p:sp>
      </p:grpSp>
      <p:sp>
        <p:nvSpPr>
          <p:cNvPr id="55" name="Rectangle 34"/>
          <p:cNvSpPr>
            <a:spLocks noChangeArrowheads="1"/>
          </p:cNvSpPr>
          <p:nvPr/>
        </p:nvSpPr>
        <p:spPr bwMode="auto">
          <a:xfrm>
            <a:off x="6743959" y="5092809"/>
            <a:ext cx="4321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教师（</a:t>
            </a:r>
            <a:r>
              <a:rPr lang="zh-CN" altLang="en-US" sz="2000" b="1" dirty="0">
                <a:solidFill>
                  <a:srgbClr val="FF3300"/>
                </a:solidFill>
                <a:latin typeface="微软雅黑" panose="020B0503020204020204" pitchFamily="34" charset="-122"/>
                <a:ea typeface="微软雅黑" panose="020B0503020204020204" pitchFamily="34" charset="-122"/>
              </a:rPr>
              <a:t>教师号</a:t>
            </a:r>
            <a:r>
              <a:rPr lang="zh-CN" altLang="en-US" sz="2000" b="1" u="none" dirty="0">
                <a:latin typeface="微软雅黑" panose="020B0503020204020204" pitchFamily="34" charset="-122"/>
                <a:ea typeface="微软雅黑" panose="020B0503020204020204" pitchFamily="34" charset="-122"/>
              </a:rPr>
              <a:t>，姓名，年龄，性别）</a:t>
            </a:r>
            <a:endParaRPr lang="zh-CN" altLang="en-US" sz="2000" b="1" u="none" dirty="0">
              <a:latin typeface="微软雅黑" panose="020B0503020204020204" pitchFamily="34" charset="-122"/>
              <a:ea typeface="微软雅黑" panose="020B0503020204020204" pitchFamily="34" charset="-122"/>
            </a:endParaRPr>
          </a:p>
        </p:txBody>
      </p:sp>
      <p:sp>
        <p:nvSpPr>
          <p:cNvPr id="56" name="Text Box 35"/>
          <p:cNvSpPr txBox="1">
            <a:spLocks noChangeArrowheads="1"/>
          </p:cNvSpPr>
          <p:nvPr/>
        </p:nvSpPr>
        <p:spPr bwMode="auto">
          <a:xfrm>
            <a:off x="6743959" y="3581509"/>
            <a:ext cx="3744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系（</a:t>
            </a:r>
            <a:r>
              <a:rPr lang="zh-CN" altLang="en-US" sz="2000" b="1" dirty="0">
                <a:solidFill>
                  <a:srgbClr val="FF3300"/>
                </a:solidFill>
                <a:latin typeface="微软雅黑" panose="020B0503020204020204" pitchFamily="34" charset="-122"/>
                <a:ea typeface="微软雅黑" panose="020B0503020204020204" pitchFamily="34" charset="-122"/>
              </a:rPr>
              <a:t>系号</a:t>
            </a:r>
            <a:r>
              <a:rPr lang="zh-CN" altLang="en-US" sz="2000" b="1" u="none" dirty="0">
                <a:latin typeface="微软雅黑" panose="020B0503020204020204" pitchFamily="34" charset="-122"/>
                <a:ea typeface="微软雅黑" panose="020B0503020204020204" pitchFamily="34" charset="-122"/>
              </a:rPr>
              <a:t>，系名，电话）</a:t>
            </a:r>
            <a:endParaRPr lang="zh-CN" altLang="en-US" sz="2000" b="1" u="none" dirty="0">
              <a:latin typeface="微软雅黑" panose="020B0503020204020204" pitchFamily="34" charset="-122"/>
              <a:ea typeface="微软雅黑" panose="020B0503020204020204" pitchFamily="34" charset="-122"/>
            </a:endParaRPr>
          </a:p>
        </p:txBody>
      </p:sp>
      <p:sp>
        <p:nvSpPr>
          <p:cNvPr id="57" name="Text Box 36"/>
          <p:cNvSpPr txBox="1">
            <a:spLocks noChangeArrowheads="1"/>
          </p:cNvSpPr>
          <p:nvPr/>
        </p:nvSpPr>
        <p:spPr bwMode="auto">
          <a:xfrm>
            <a:off x="6743959" y="4321284"/>
            <a:ext cx="358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聘用（</a:t>
            </a:r>
            <a:r>
              <a:rPr lang="zh-CN" altLang="en-US" sz="2000" b="1" dirty="0">
                <a:solidFill>
                  <a:srgbClr val="FF3300"/>
                </a:solidFill>
                <a:latin typeface="微软雅黑" panose="020B0503020204020204" pitchFamily="34" charset="-122"/>
                <a:ea typeface="微软雅黑" panose="020B0503020204020204" pitchFamily="34" charset="-122"/>
              </a:rPr>
              <a:t>教师号</a:t>
            </a:r>
            <a:r>
              <a:rPr lang="zh-CN" altLang="en-US" sz="2000" b="1" u="none" dirty="0">
                <a:latin typeface="微软雅黑" panose="020B0503020204020204" pitchFamily="34" charset="-122"/>
                <a:ea typeface="微软雅黑" panose="020B0503020204020204" pitchFamily="34" charset="-122"/>
              </a:rPr>
              <a:t>，系号，聘期）</a:t>
            </a:r>
            <a:r>
              <a:rPr lang="zh-CN" altLang="en-US" sz="2400" b="1" u="none" dirty="0">
                <a:latin typeface="微软雅黑" panose="020B0503020204020204" pitchFamily="34" charset="-122"/>
                <a:ea typeface="微软雅黑" panose="020B0503020204020204" pitchFamily="34" charset="-122"/>
              </a:rPr>
              <a:t> </a:t>
            </a:r>
            <a:endParaRPr lang="zh-CN" altLang="en-US" sz="2400" b="1" u="none" dirty="0">
              <a:solidFill>
                <a:srgbClr val="CC0000"/>
              </a:solidFill>
              <a:latin typeface="微软雅黑" panose="020B0503020204020204" pitchFamily="34" charset="-122"/>
              <a:ea typeface="微软雅黑" panose="020B0503020204020204" pitchFamily="34" charset="-122"/>
            </a:endParaRPr>
          </a:p>
        </p:txBody>
      </p:sp>
      <p:grpSp>
        <p:nvGrpSpPr>
          <p:cNvPr id="58" name="Group 37"/>
          <p:cNvGrpSpPr/>
          <p:nvPr/>
        </p:nvGrpSpPr>
        <p:grpSpPr bwMode="auto">
          <a:xfrm>
            <a:off x="2179407" y="5626209"/>
            <a:ext cx="1974850" cy="936625"/>
            <a:chOff x="204" y="3294"/>
            <a:chExt cx="1043" cy="545"/>
          </a:xfrm>
        </p:grpSpPr>
        <p:sp>
          <p:nvSpPr>
            <p:cNvPr id="59" name="Line 38"/>
            <p:cNvSpPr>
              <a:spLocks noChangeShapeType="1"/>
            </p:cNvSpPr>
            <p:nvPr/>
          </p:nvSpPr>
          <p:spPr bwMode="auto">
            <a:xfrm flipH="1">
              <a:off x="476" y="3294"/>
              <a:ext cx="77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Oval 39"/>
            <p:cNvSpPr>
              <a:spLocks noChangeArrowheads="1"/>
            </p:cNvSpPr>
            <p:nvPr/>
          </p:nvSpPr>
          <p:spPr bwMode="auto">
            <a:xfrm>
              <a:off x="204" y="3566"/>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dirty="0">
                  <a:solidFill>
                    <a:srgbClr val="FF3300"/>
                  </a:solidFill>
                  <a:latin typeface="微软雅黑" panose="020B0503020204020204" pitchFamily="34" charset="-122"/>
                  <a:ea typeface="微软雅黑" panose="020B0503020204020204" pitchFamily="34" charset="-122"/>
                </a:rPr>
                <a:t>教师号  </a:t>
              </a:r>
              <a:endParaRPr lang="zh-CN" altLang="en-US" sz="1800" b="1" dirty="0">
                <a:solidFill>
                  <a:srgbClr val="FF3300"/>
                </a:solidFill>
                <a:latin typeface="微软雅黑" panose="020B0503020204020204" pitchFamily="34" charset="-122"/>
                <a:ea typeface="微软雅黑" panose="020B0503020204020204" pitchFamily="34" charset="-122"/>
              </a:endParaRPr>
            </a:p>
          </p:txBody>
        </p:sp>
      </p:grpSp>
      <p:grpSp>
        <p:nvGrpSpPr>
          <p:cNvPr id="61" name="Group 40"/>
          <p:cNvGrpSpPr/>
          <p:nvPr/>
        </p:nvGrpSpPr>
        <p:grpSpPr bwMode="auto">
          <a:xfrm>
            <a:off x="3073169" y="1852721"/>
            <a:ext cx="7991475" cy="574675"/>
            <a:chOff x="537" y="3963"/>
            <a:chExt cx="5034" cy="362"/>
          </a:xfrm>
        </p:grpSpPr>
        <p:sp>
          <p:nvSpPr>
            <p:cNvPr id="62" name="Rectangle 41"/>
            <p:cNvSpPr>
              <a:spLocks noChangeArrowheads="1"/>
            </p:cNvSpPr>
            <p:nvPr/>
          </p:nvSpPr>
          <p:spPr bwMode="auto">
            <a:xfrm>
              <a:off x="703" y="3963"/>
              <a:ext cx="4818" cy="357"/>
            </a:xfrm>
            <a:prstGeom prst="rect">
              <a:avLst/>
            </a:prstGeom>
            <a:gradFill rotWithShape="0">
              <a:gsLst>
                <a:gs pos="0">
                  <a:srgbClr val="33CCFF">
                    <a:alpha val="39998"/>
                  </a:srgbClr>
                </a:gs>
                <a:gs pos="100000">
                  <a:srgbClr val="FFFFFF">
                    <a:alpha val="89998"/>
                  </a:srgbClr>
                </a:gs>
              </a:gsLst>
              <a:lin ang="2700000" scaled="1"/>
            </a:gradFill>
            <a:ln w="9525">
              <a:miter lim="800000"/>
            </a:ln>
            <a:effectLst/>
            <a:scene3d>
              <a:camera prst="legacyObliqueTopRight"/>
              <a:lightRig rig="legacyFlat4" dir="b"/>
            </a:scene3d>
            <a:sp3d extrusionH="100000" prstMaterial="legacyMatte">
              <a:bevelT w="13500" h="13500" prst="angle"/>
              <a:bevelB w="13500" h="13500" prst="angle"/>
              <a:extrusionClr>
                <a:srgbClr val="66CCFF"/>
              </a:extrusionClr>
              <a:contourClr>
                <a:srgbClr val="33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u="none" dirty="0">
                  <a:latin typeface="Arial" panose="020B0604020202020204" pitchFamily="34" charset="0"/>
                </a:rPr>
                <a:t>                   </a:t>
              </a:r>
              <a:r>
                <a:rPr lang="zh-CN" altLang="en-US" sz="2400" b="1" u="none" dirty="0">
                  <a:latin typeface="微软雅黑" panose="020B0503020204020204" pitchFamily="34" charset="-122"/>
                  <a:ea typeface="微软雅黑" panose="020B0503020204020204" pitchFamily="34" charset="-122"/>
                </a:rPr>
                <a:t>转换为独立的关系模式</a:t>
              </a:r>
              <a:r>
                <a:rPr lang="en-US" altLang="zh-CN" sz="2400" b="1" u="none" dirty="0">
                  <a:latin typeface="微软雅黑" panose="020B0503020204020204" pitchFamily="34" charset="-122"/>
                  <a:ea typeface="微软雅黑" panose="020B0503020204020204" pitchFamily="34" charset="-122"/>
                </a:rPr>
                <a:t>(</a:t>
              </a:r>
              <a:r>
                <a:rPr lang="zh-CN" altLang="en-US" sz="2400" b="1" u="none" dirty="0">
                  <a:solidFill>
                    <a:srgbClr val="FF3300"/>
                  </a:solidFill>
                  <a:latin typeface="微软雅黑" panose="020B0503020204020204" pitchFamily="34" charset="-122"/>
                  <a:ea typeface="微软雅黑" panose="020B0503020204020204" pitchFamily="34" charset="-122"/>
                </a:rPr>
                <a:t>方法一</a:t>
              </a:r>
              <a:r>
                <a:rPr lang="en-US" altLang="zh-CN" sz="2400" b="1" u="none" dirty="0">
                  <a:latin typeface="微软雅黑" panose="020B0503020204020204" pitchFamily="34" charset="-122"/>
                  <a:ea typeface="微软雅黑" panose="020B0503020204020204" pitchFamily="34" charset="-122"/>
                </a:rPr>
                <a:t>)    </a:t>
              </a:r>
              <a:endParaRPr lang="en-US" altLang="zh-CN" sz="2400" b="1" u="none" dirty="0">
                <a:latin typeface="微软雅黑" panose="020B0503020204020204" pitchFamily="34" charset="-122"/>
                <a:ea typeface="微软雅黑" panose="020B0503020204020204" pitchFamily="34" charset="-122"/>
              </a:endParaRPr>
            </a:p>
          </p:txBody>
        </p:sp>
        <p:sp>
          <p:nvSpPr>
            <p:cNvPr id="63" name="Line 42"/>
            <p:cNvSpPr>
              <a:spLocks noChangeShapeType="1"/>
            </p:cNvSpPr>
            <p:nvPr/>
          </p:nvSpPr>
          <p:spPr bwMode="auto">
            <a:xfrm>
              <a:off x="537" y="4325"/>
              <a:ext cx="5034" cy="0"/>
            </a:xfrm>
            <a:prstGeom prst="line">
              <a:avLst/>
            </a:prstGeom>
            <a:noFill/>
            <a:ln w="9525">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AutoShape 43"/>
            <p:cNvSpPr>
              <a:spLocks noChangeArrowheads="1"/>
            </p:cNvSpPr>
            <p:nvPr/>
          </p:nvSpPr>
          <p:spPr bwMode="auto">
            <a:xfrm>
              <a:off x="647" y="4016"/>
              <a:ext cx="1387" cy="304"/>
            </a:xfrm>
            <a:prstGeom prst="bevel">
              <a:avLst>
                <a:gd name="adj" fmla="val 12500"/>
              </a:avLst>
            </a:prstGeom>
            <a:gradFill rotWithShape="1">
              <a:gsLst>
                <a:gs pos="0">
                  <a:srgbClr val="33CCFF"/>
                </a:gs>
                <a:gs pos="100000">
                  <a:srgbClr val="33CCFF">
                    <a:gamma/>
                    <a:shade val="45882"/>
                    <a:invGamma/>
                  </a:srgbClr>
                </a:gs>
              </a:gsLst>
              <a:lin ang="5400000" scaled="1"/>
            </a:gradFill>
            <a:ln>
              <a:noFill/>
            </a:ln>
            <a:effectLst/>
          </p:spPr>
          <p:txBody>
            <a:bodyPr wrap="none" anchor="ct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ko-KR" altLang="en-US" sz="2800" u="none" dirty="0">
                  <a:solidFill>
                    <a:srgbClr val="FFFFFF"/>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kumimoji="1" lang="zh-CN" altLang="en-US"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举例</a:t>
              </a:r>
              <a:r>
                <a:rPr kumimoji="1" lang="en-US" altLang="zh-CN"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2</a:t>
              </a:r>
              <a:endParaRPr kumimoji="1" lang="en-US" altLang="ko-KR"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grpSp>
      <p:sp>
        <p:nvSpPr>
          <p:cNvPr id="65" name="Line 44"/>
          <p:cNvSpPr>
            <a:spLocks noChangeShapeType="1"/>
          </p:cNvSpPr>
          <p:nvPr/>
        </p:nvSpPr>
        <p:spPr bwMode="auto">
          <a:xfrm>
            <a:off x="7610244" y="4013309"/>
            <a:ext cx="1079500" cy="360362"/>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45"/>
          <p:cNvSpPr>
            <a:spLocks noChangeShapeType="1"/>
          </p:cNvSpPr>
          <p:nvPr/>
        </p:nvSpPr>
        <p:spPr bwMode="auto">
          <a:xfrm flipV="1">
            <a:off x="7826144" y="4805471"/>
            <a:ext cx="0" cy="360363"/>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down)">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ppt_w</p:attrName>
                                        </p:attrNameLst>
                                      </p:cBhvr>
                                      <p:tavLst>
                                        <p:tav tm="0">
                                          <p:val>
                                            <p:fltVal val="0"/>
                                          </p:val>
                                        </p:tav>
                                        <p:tav tm="100000">
                                          <p:val>
                                            <p:strVal val="#ppt_w"/>
                                          </p:val>
                                        </p:tav>
                                      </p:tavLst>
                                    </p:anim>
                                    <p:anim calcmode="lin" valueType="num">
                                      <p:cBhvr>
                                        <p:cTn id="35" dur="500" fill="hold"/>
                                        <p:tgtEl>
                                          <p:spTgt spid="7"/>
                                        </p:tgtEl>
                                        <p:attrNameLst>
                                          <p:attrName>ppt_h</p:attrName>
                                        </p:attrNameLst>
                                      </p:cBhvr>
                                      <p:tavLst>
                                        <p:tav tm="0">
                                          <p:val>
                                            <p:fltVal val="0"/>
                                          </p:val>
                                        </p:tav>
                                        <p:tav tm="100000">
                                          <p:val>
                                            <p:strVal val="#ppt_h"/>
                                          </p:val>
                                        </p:tav>
                                      </p:tavLst>
                                    </p:anim>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wipe(up)">
                                      <p:cBhvr>
                                        <p:cTn id="41" dur="5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up)">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wipe(up)">
                                      <p:cBhvr>
                                        <p:cTn id="51" dur="500"/>
                                        <p:tgtEl>
                                          <p:spTgt spid="4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wipe(up)">
                                      <p:cBhvr>
                                        <p:cTn id="56" dur="500"/>
                                        <p:tgtEl>
                                          <p:spTgt spid="49"/>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slide(fromTop)">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nodeType="click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strips(downLeft)">
                                      <p:cBhvr>
                                        <p:cTn id="71" dur="500"/>
                                        <p:tgtEl>
                                          <p:spTgt spid="52"/>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circle(in)">
                                      <p:cBhvr>
                                        <p:cTn id="76" dur="2000"/>
                                        <p:tgtEl>
                                          <p:spTgt spid="56"/>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circle(in)">
                                      <p:cBhvr>
                                        <p:cTn id="79" dur="2000"/>
                                        <p:tgtEl>
                                          <p:spTgt spid="55"/>
                                        </p:tgtEl>
                                      </p:cBhvr>
                                    </p:animEffect>
                                  </p:childTnLst>
                                </p:cTn>
                              </p:par>
                            </p:childTnLst>
                          </p:cTn>
                        </p:par>
                      </p:childTnLst>
                    </p:cTn>
                  </p:par>
                  <p:par>
                    <p:cTn id="80" fill="hold">
                      <p:stCondLst>
                        <p:cond delay="indefinite"/>
                      </p:stCondLst>
                      <p:childTnLst>
                        <p:par>
                          <p:cTn id="81" fill="hold">
                            <p:stCondLst>
                              <p:cond delay="0"/>
                            </p:stCondLst>
                            <p:childTnLst>
                              <p:par>
                                <p:cTn id="82" presetID="6" presetClass="entr" presetSubtype="16" fill="hold" grpId="0" nodeType="click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circle(in)">
                                      <p:cBhvr>
                                        <p:cTn id="84" dur="2000"/>
                                        <p:tgtEl>
                                          <p:spTgt spid="5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65"/>
                                        </p:tgtEl>
                                        <p:attrNameLst>
                                          <p:attrName>style.visibility</p:attrName>
                                        </p:attrNameLst>
                                      </p:cBhvr>
                                      <p:to>
                                        <p:strVal val="visible"/>
                                      </p:to>
                                    </p:set>
                                    <p:animEffect transition="in" filter="wipe(up)">
                                      <p:cBhvr>
                                        <p:cTn id="89" dur="500"/>
                                        <p:tgtEl>
                                          <p:spTgt spid="6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66"/>
                                        </p:tgtEl>
                                        <p:attrNameLst>
                                          <p:attrName>style.visibility</p:attrName>
                                        </p:attrNameLst>
                                      </p:cBhvr>
                                      <p:to>
                                        <p:strVal val="visible"/>
                                      </p:to>
                                    </p:set>
                                    <p:animEffect transition="in" filter="wipe(up)">
                                      <p:cBhvr>
                                        <p:cTn id="9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5" grpId="0"/>
      <p:bldP spid="56" grpId="0"/>
      <p:bldP spid="5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dirty="0"/>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25" name="Rectangle 4"/>
          <p:cNvSpPr>
            <a:spLocks noChangeArrowheads="1"/>
          </p:cNvSpPr>
          <p:nvPr/>
        </p:nvSpPr>
        <p:spPr bwMode="auto">
          <a:xfrm>
            <a:off x="5321300" y="5376863"/>
            <a:ext cx="403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教师（</a:t>
            </a:r>
            <a:r>
              <a:rPr lang="zh-CN" altLang="en-US" sz="2000" b="1" dirty="0">
                <a:solidFill>
                  <a:srgbClr val="FF3300"/>
                </a:solidFill>
                <a:latin typeface="微软雅黑" panose="020B0503020204020204" pitchFamily="34" charset="-122"/>
                <a:ea typeface="微软雅黑" panose="020B0503020204020204" pitchFamily="34" charset="-122"/>
              </a:rPr>
              <a:t>教师号</a:t>
            </a:r>
            <a:r>
              <a:rPr lang="zh-CN" altLang="en-US" sz="2000" b="1" u="none" dirty="0">
                <a:latin typeface="微软雅黑" panose="020B0503020204020204" pitchFamily="34" charset="-122"/>
                <a:ea typeface="微软雅黑" panose="020B0503020204020204" pitchFamily="34" charset="-122"/>
              </a:rPr>
              <a:t>，姓名，年龄，性别</a:t>
            </a:r>
            <a:endParaRPr lang="zh-CN" altLang="en-US" sz="2000" b="1" u="none" dirty="0">
              <a:latin typeface="微软雅黑" panose="020B0503020204020204" pitchFamily="34" charset="-122"/>
              <a:ea typeface="微软雅黑" panose="020B0503020204020204" pitchFamily="34" charset="-122"/>
            </a:endParaRPr>
          </a:p>
        </p:txBody>
      </p:sp>
      <p:sp>
        <p:nvSpPr>
          <p:cNvPr id="26" name="Text Box 5"/>
          <p:cNvSpPr txBox="1">
            <a:spLocks noChangeArrowheads="1"/>
          </p:cNvSpPr>
          <p:nvPr/>
        </p:nvSpPr>
        <p:spPr bwMode="auto">
          <a:xfrm>
            <a:off x="5464175" y="3735388"/>
            <a:ext cx="3744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系（</a:t>
            </a:r>
            <a:r>
              <a:rPr lang="zh-CN" altLang="en-US" sz="2000" b="1" dirty="0">
                <a:solidFill>
                  <a:srgbClr val="FF3300"/>
                </a:solidFill>
                <a:latin typeface="微软雅黑" panose="020B0503020204020204" pitchFamily="34" charset="-122"/>
                <a:ea typeface="微软雅黑" panose="020B0503020204020204" pitchFamily="34" charset="-122"/>
              </a:rPr>
              <a:t>系号</a:t>
            </a:r>
            <a:r>
              <a:rPr lang="zh-CN" altLang="en-US" sz="2000" b="1" u="none" dirty="0">
                <a:latin typeface="微软雅黑" panose="020B0503020204020204" pitchFamily="34" charset="-122"/>
                <a:ea typeface="微软雅黑" panose="020B0503020204020204" pitchFamily="34" charset="-122"/>
              </a:rPr>
              <a:t>，系名，电话）</a:t>
            </a:r>
            <a:endParaRPr lang="zh-CN" altLang="en-US" sz="2000" b="1" u="none" dirty="0">
              <a:latin typeface="微软雅黑" panose="020B0503020204020204" pitchFamily="34" charset="-122"/>
              <a:ea typeface="微软雅黑" panose="020B0503020204020204" pitchFamily="34" charset="-122"/>
            </a:endParaRPr>
          </a:p>
        </p:txBody>
      </p:sp>
      <p:grpSp>
        <p:nvGrpSpPr>
          <p:cNvPr id="27" name="Group 6"/>
          <p:cNvGrpSpPr/>
          <p:nvPr/>
        </p:nvGrpSpPr>
        <p:grpSpPr bwMode="auto">
          <a:xfrm>
            <a:off x="6257925" y="4079876"/>
            <a:ext cx="4959350" cy="1701801"/>
            <a:chOff x="2790" y="2286"/>
            <a:chExt cx="3124" cy="1072"/>
          </a:xfrm>
        </p:grpSpPr>
        <p:sp>
          <p:nvSpPr>
            <p:cNvPr id="28" name="Line 7"/>
            <p:cNvSpPr>
              <a:spLocks noChangeShapeType="1"/>
            </p:cNvSpPr>
            <p:nvPr/>
          </p:nvSpPr>
          <p:spPr bwMode="auto">
            <a:xfrm>
              <a:off x="2790" y="2286"/>
              <a:ext cx="2041" cy="862"/>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8"/>
            <p:cNvSpPr>
              <a:spLocks noChangeShapeType="1"/>
            </p:cNvSpPr>
            <p:nvPr/>
          </p:nvSpPr>
          <p:spPr bwMode="auto">
            <a:xfrm>
              <a:off x="3062" y="2649"/>
              <a:ext cx="2269" cy="499"/>
            </a:xfrm>
            <a:prstGeom prst="line">
              <a:avLst/>
            </a:prstGeom>
            <a:noFill/>
            <a:ln w="28575">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9"/>
            <p:cNvSpPr txBox="1">
              <a:spLocks noChangeArrowheads="1"/>
            </p:cNvSpPr>
            <p:nvPr/>
          </p:nvSpPr>
          <p:spPr bwMode="auto">
            <a:xfrm>
              <a:off x="4609" y="3067"/>
              <a:ext cx="130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dirty="0">
                  <a:latin typeface="微软雅黑" panose="020B0503020204020204" pitchFamily="34" charset="-122"/>
                  <a:ea typeface="微软雅黑" panose="020B0503020204020204" pitchFamily="34" charset="-122"/>
                </a:rPr>
                <a:t>，系号，聘期）</a:t>
              </a:r>
              <a:r>
                <a:rPr lang="zh-CN" altLang="en-US" sz="2400" b="1" u="none" dirty="0">
                  <a:latin typeface="微软雅黑" panose="020B0503020204020204" pitchFamily="34" charset="-122"/>
                  <a:ea typeface="微软雅黑" panose="020B0503020204020204" pitchFamily="34" charset="-122"/>
                </a:rPr>
                <a:t> </a:t>
              </a:r>
              <a:endParaRPr lang="zh-CN" altLang="en-US" sz="2400" b="1" u="none" dirty="0">
                <a:solidFill>
                  <a:srgbClr val="CC0000"/>
                </a:solidFill>
                <a:latin typeface="微软雅黑" panose="020B0503020204020204" pitchFamily="34" charset="-122"/>
                <a:ea typeface="微软雅黑" panose="020B0503020204020204" pitchFamily="34" charset="-122"/>
              </a:endParaRPr>
            </a:p>
          </p:txBody>
        </p:sp>
      </p:grpSp>
      <p:sp>
        <p:nvSpPr>
          <p:cNvPr id="31" name="Text Box 10"/>
          <p:cNvSpPr txBox="1">
            <a:spLocks noChangeArrowheads="1"/>
          </p:cNvSpPr>
          <p:nvPr/>
        </p:nvSpPr>
        <p:spPr bwMode="auto">
          <a:xfrm>
            <a:off x="9178925" y="5343525"/>
            <a:ext cx="396262"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90000"/>
              </a:lnSpc>
              <a:buSzPct val="85000"/>
              <a:buFontTx/>
              <a:buNone/>
            </a:pPr>
            <a:r>
              <a:rPr lang="zh-CN" altLang="en-US" sz="2400" b="1" u="none" dirty="0">
                <a:latin typeface="微软雅黑" panose="020B0503020204020204" pitchFamily="34" charset="-122"/>
                <a:ea typeface="微软雅黑" panose="020B0503020204020204" pitchFamily="34" charset="-122"/>
              </a:rPr>
              <a:t> </a:t>
            </a:r>
            <a:r>
              <a:rPr lang="en-US" altLang="zh-CN" sz="2400" b="1" u="none" dirty="0">
                <a:latin typeface="微软雅黑" panose="020B0503020204020204" pitchFamily="34" charset="-122"/>
                <a:ea typeface="微软雅黑" panose="020B0503020204020204" pitchFamily="34" charset="-122"/>
              </a:rPr>
              <a:t>)</a:t>
            </a:r>
            <a:endParaRPr lang="en-US" altLang="zh-CN" sz="2400" b="1" u="none" dirty="0">
              <a:latin typeface="微软雅黑" panose="020B0503020204020204" pitchFamily="34" charset="-122"/>
              <a:ea typeface="微软雅黑" panose="020B0503020204020204" pitchFamily="34" charset="-122"/>
            </a:endParaRPr>
          </a:p>
        </p:txBody>
      </p:sp>
      <p:sp>
        <p:nvSpPr>
          <p:cNvPr id="32" name="Line 11"/>
          <p:cNvSpPr>
            <a:spLocks noChangeShapeType="1"/>
          </p:cNvSpPr>
          <p:nvPr/>
        </p:nvSpPr>
        <p:spPr bwMode="auto">
          <a:xfrm>
            <a:off x="3881438" y="3951288"/>
            <a:ext cx="1587" cy="468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2"/>
          <p:cNvSpPr>
            <a:spLocks noChangeShapeType="1"/>
          </p:cNvSpPr>
          <p:nvPr/>
        </p:nvSpPr>
        <p:spPr bwMode="auto">
          <a:xfrm>
            <a:off x="3881438" y="4887913"/>
            <a:ext cx="1587" cy="468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Rectangle 13"/>
          <p:cNvSpPr>
            <a:spLocks noChangeArrowheads="1"/>
          </p:cNvSpPr>
          <p:nvPr/>
        </p:nvSpPr>
        <p:spPr bwMode="auto">
          <a:xfrm>
            <a:off x="3376613" y="3590925"/>
            <a:ext cx="868362" cy="38893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系 </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35" name="Rectangle 14"/>
          <p:cNvSpPr>
            <a:spLocks noChangeArrowheads="1"/>
          </p:cNvSpPr>
          <p:nvPr/>
        </p:nvSpPr>
        <p:spPr bwMode="auto">
          <a:xfrm>
            <a:off x="3376613" y="5319713"/>
            <a:ext cx="1104900" cy="38893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教师  </a:t>
            </a:r>
            <a:endParaRPr lang="zh-CN" altLang="en-US" sz="1800" b="1" u="none" dirty="0">
              <a:latin typeface="微软雅黑" panose="020B0503020204020204" pitchFamily="34" charset="-122"/>
              <a:ea typeface="微软雅黑" panose="020B0503020204020204" pitchFamily="34" charset="-122"/>
            </a:endParaRPr>
          </a:p>
        </p:txBody>
      </p:sp>
      <p:sp>
        <p:nvSpPr>
          <p:cNvPr id="36" name="AutoShape 15"/>
          <p:cNvSpPr>
            <a:spLocks noChangeArrowheads="1"/>
          </p:cNvSpPr>
          <p:nvPr/>
        </p:nvSpPr>
        <p:spPr bwMode="auto">
          <a:xfrm>
            <a:off x="3232150" y="4384675"/>
            <a:ext cx="1420813" cy="546100"/>
          </a:xfrm>
          <a:prstGeom prst="diamond">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聘用  </a:t>
            </a:r>
            <a:endParaRPr lang="zh-CN" altLang="en-US" sz="1800" b="1" u="none" dirty="0">
              <a:latin typeface="微软雅黑" panose="020B0503020204020204" pitchFamily="34" charset="-122"/>
              <a:ea typeface="微软雅黑" panose="020B0503020204020204" pitchFamily="34" charset="-122"/>
            </a:endParaRPr>
          </a:p>
        </p:txBody>
      </p:sp>
      <p:grpSp>
        <p:nvGrpSpPr>
          <p:cNvPr id="37" name="Group 16"/>
          <p:cNvGrpSpPr/>
          <p:nvPr/>
        </p:nvGrpSpPr>
        <p:grpSpPr bwMode="auto">
          <a:xfrm>
            <a:off x="4606925" y="4376738"/>
            <a:ext cx="1462088" cy="468312"/>
            <a:chOff x="1813" y="2477"/>
            <a:chExt cx="840" cy="272"/>
          </a:xfrm>
        </p:grpSpPr>
        <p:sp>
          <p:nvSpPr>
            <p:cNvPr id="38" name="Oval 17"/>
            <p:cNvSpPr>
              <a:spLocks noChangeArrowheads="1"/>
            </p:cNvSpPr>
            <p:nvPr/>
          </p:nvSpPr>
          <p:spPr bwMode="auto">
            <a:xfrm>
              <a:off x="1973" y="2477"/>
              <a:ext cx="680" cy="272"/>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聘期  </a:t>
              </a:r>
              <a:endParaRPr lang="zh-CN" altLang="en-US" sz="1800" b="1" u="none" dirty="0">
                <a:latin typeface="微软雅黑" panose="020B0503020204020204" pitchFamily="34" charset="-122"/>
                <a:ea typeface="微软雅黑" panose="020B0503020204020204" pitchFamily="34" charset="-122"/>
              </a:endParaRPr>
            </a:p>
          </p:txBody>
        </p:sp>
        <p:sp>
          <p:nvSpPr>
            <p:cNvPr id="39" name="Line 18"/>
            <p:cNvSpPr>
              <a:spLocks noChangeShapeType="1"/>
            </p:cNvSpPr>
            <p:nvPr/>
          </p:nvSpPr>
          <p:spPr bwMode="auto">
            <a:xfrm flipV="1">
              <a:off x="1813" y="2636"/>
              <a:ext cx="15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 name="Group 19"/>
          <p:cNvGrpSpPr/>
          <p:nvPr/>
        </p:nvGrpSpPr>
        <p:grpSpPr bwMode="auto">
          <a:xfrm>
            <a:off x="2079625" y="2655888"/>
            <a:ext cx="1500188" cy="936625"/>
            <a:chOff x="385" y="1434"/>
            <a:chExt cx="862" cy="545"/>
          </a:xfrm>
        </p:grpSpPr>
        <p:sp>
          <p:nvSpPr>
            <p:cNvPr id="41" name="Oval 20"/>
            <p:cNvSpPr>
              <a:spLocks noChangeArrowheads="1"/>
            </p:cNvSpPr>
            <p:nvPr/>
          </p:nvSpPr>
          <p:spPr bwMode="auto">
            <a:xfrm>
              <a:off x="385" y="1434"/>
              <a:ext cx="68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dirty="0">
                  <a:solidFill>
                    <a:srgbClr val="FF3300"/>
                  </a:solidFill>
                  <a:latin typeface="微软雅黑" panose="020B0503020204020204" pitchFamily="34" charset="-122"/>
                  <a:ea typeface="微软雅黑" panose="020B0503020204020204" pitchFamily="34" charset="-122"/>
                </a:rPr>
                <a:t>系号  </a:t>
              </a:r>
              <a:endParaRPr lang="zh-CN" altLang="en-US" sz="1800" b="1" dirty="0">
                <a:solidFill>
                  <a:srgbClr val="FF3300"/>
                </a:solidFill>
                <a:latin typeface="微软雅黑" panose="020B0503020204020204" pitchFamily="34" charset="-122"/>
                <a:ea typeface="微软雅黑" panose="020B0503020204020204" pitchFamily="34" charset="-122"/>
              </a:endParaRPr>
            </a:p>
          </p:txBody>
        </p:sp>
        <p:sp>
          <p:nvSpPr>
            <p:cNvPr id="42" name="Line 21"/>
            <p:cNvSpPr>
              <a:spLocks noChangeShapeType="1"/>
            </p:cNvSpPr>
            <p:nvPr/>
          </p:nvSpPr>
          <p:spPr bwMode="auto">
            <a:xfrm>
              <a:off x="748" y="1707"/>
              <a:ext cx="499"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 name="Group 22"/>
          <p:cNvGrpSpPr/>
          <p:nvPr/>
        </p:nvGrpSpPr>
        <p:grpSpPr bwMode="auto">
          <a:xfrm>
            <a:off x="3376613" y="2655888"/>
            <a:ext cx="1027112" cy="936625"/>
            <a:chOff x="1111" y="1434"/>
            <a:chExt cx="590" cy="545"/>
          </a:xfrm>
        </p:grpSpPr>
        <p:sp>
          <p:nvSpPr>
            <p:cNvPr id="44" name="Oval 23"/>
            <p:cNvSpPr>
              <a:spLocks noChangeArrowheads="1"/>
            </p:cNvSpPr>
            <p:nvPr/>
          </p:nvSpPr>
          <p:spPr bwMode="auto">
            <a:xfrm>
              <a:off x="1111" y="1434"/>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系名  </a:t>
              </a:r>
              <a:endParaRPr lang="zh-CN" altLang="en-US" sz="1800" b="1" u="none" dirty="0">
                <a:latin typeface="微软雅黑" panose="020B0503020204020204" pitchFamily="34" charset="-122"/>
                <a:ea typeface="微软雅黑" panose="020B0503020204020204" pitchFamily="34" charset="-122"/>
              </a:endParaRPr>
            </a:p>
          </p:txBody>
        </p:sp>
        <p:sp>
          <p:nvSpPr>
            <p:cNvPr id="45" name="Line 24"/>
            <p:cNvSpPr>
              <a:spLocks noChangeShapeType="1"/>
            </p:cNvSpPr>
            <p:nvPr/>
          </p:nvSpPr>
          <p:spPr bwMode="auto">
            <a:xfrm>
              <a:off x="1383" y="1707"/>
              <a:ext cx="0"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6" name="Group 25"/>
          <p:cNvGrpSpPr/>
          <p:nvPr/>
        </p:nvGrpSpPr>
        <p:grpSpPr bwMode="auto">
          <a:xfrm>
            <a:off x="4037013" y="2655888"/>
            <a:ext cx="1500187" cy="936625"/>
            <a:chOff x="1519" y="1434"/>
            <a:chExt cx="862" cy="545"/>
          </a:xfrm>
        </p:grpSpPr>
        <p:sp>
          <p:nvSpPr>
            <p:cNvPr id="47" name="Oval 26"/>
            <p:cNvSpPr>
              <a:spLocks noChangeArrowheads="1"/>
            </p:cNvSpPr>
            <p:nvPr/>
          </p:nvSpPr>
          <p:spPr bwMode="auto">
            <a:xfrm>
              <a:off x="1746" y="1434"/>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电话</a:t>
              </a:r>
              <a:r>
                <a:rPr lang="zh-CN" altLang="en-US" sz="1800" b="1" u="none" dirty="0">
                  <a:latin typeface="Arial" panose="020B0604020202020204" pitchFamily="34" charset="0"/>
                </a:rPr>
                <a:t>  </a:t>
              </a:r>
              <a:endParaRPr lang="zh-CN" altLang="en-US" sz="1800" b="1" u="none" dirty="0">
                <a:latin typeface="Arial" panose="020B0604020202020204" pitchFamily="34" charset="0"/>
              </a:endParaRPr>
            </a:p>
          </p:txBody>
        </p:sp>
        <p:sp>
          <p:nvSpPr>
            <p:cNvPr id="48" name="Line 27"/>
            <p:cNvSpPr>
              <a:spLocks noChangeShapeType="1"/>
            </p:cNvSpPr>
            <p:nvPr/>
          </p:nvSpPr>
          <p:spPr bwMode="auto">
            <a:xfrm flipH="1">
              <a:off x="1519" y="1707"/>
              <a:ext cx="454"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 name="Group 28"/>
          <p:cNvGrpSpPr/>
          <p:nvPr/>
        </p:nvGrpSpPr>
        <p:grpSpPr bwMode="auto">
          <a:xfrm>
            <a:off x="3070225" y="5708650"/>
            <a:ext cx="1027113" cy="936625"/>
            <a:chOff x="884" y="3294"/>
            <a:chExt cx="590" cy="545"/>
          </a:xfrm>
        </p:grpSpPr>
        <p:sp>
          <p:nvSpPr>
            <p:cNvPr id="50" name="Oval 29"/>
            <p:cNvSpPr>
              <a:spLocks noChangeArrowheads="1"/>
            </p:cNvSpPr>
            <p:nvPr/>
          </p:nvSpPr>
          <p:spPr bwMode="auto">
            <a:xfrm>
              <a:off x="884" y="3566"/>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姓名  </a:t>
              </a:r>
              <a:endParaRPr lang="zh-CN" altLang="en-US" sz="1800" b="1" u="none" dirty="0">
                <a:latin typeface="微软雅黑" panose="020B0503020204020204" pitchFamily="34" charset="-122"/>
                <a:ea typeface="微软雅黑" panose="020B0503020204020204" pitchFamily="34" charset="-122"/>
              </a:endParaRPr>
            </a:p>
          </p:txBody>
        </p:sp>
        <p:sp>
          <p:nvSpPr>
            <p:cNvPr id="51" name="Line 30"/>
            <p:cNvSpPr>
              <a:spLocks noChangeShapeType="1"/>
            </p:cNvSpPr>
            <p:nvPr/>
          </p:nvSpPr>
          <p:spPr bwMode="auto">
            <a:xfrm flipH="1">
              <a:off x="1201" y="3294"/>
              <a:ext cx="136"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 name="Group 31"/>
          <p:cNvGrpSpPr/>
          <p:nvPr/>
        </p:nvGrpSpPr>
        <p:grpSpPr bwMode="auto">
          <a:xfrm>
            <a:off x="3979863" y="5722938"/>
            <a:ext cx="1263650" cy="936625"/>
            <a:chOff x="1428" y="3294"/>
            <a:chExt cx="727" cy="545"/>
          </a:xfrm>
        </p:grpSpPr>
        <p:sp>
          <p:nvSpPr>
            <p:cNvPr id="53" name="Oval 32"/>
            <p:cNvSpPr>
              <a:spLocks noChangeArrowheads="1"/>
            </p:cNvSpPr>
            <p:nvPr/>
          </p:nvSpPr>
          <p:spPr bwMode="auto">
            <a:xfrm>
              <a:off x="1519" y="3566"/>
              <a:ext cx="636"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性别  </a:t>
              </a:r>
              <a:endParaRPr lang="zh-CN" altLang="en-US" sz="1800" b="1" u="none" dirty="0">
                <a:latin typeface="微软雅黑" panose="020B0503020204020204" pitchFamily="34" charset="-122"/>
                <a:ea typeface="微软雅黑" panose="020B0503020204020204" pitchFamily="34" charset="-122"/>
              </a:endParaRPr>
            </a:p>
          </p:txBody>
        </p:sp>
        <p:sp>
          <p:nvSpPr>
            <p:cNvPr id="54" name="Line 33"/>
            <p:cNvSpPr>
              <a:spLocks noChangeShapeType="1"/>
            </p:cNvSpPr>
            <p:nvPr/>
          </p:nvSpPr>
          <p:spPr bwMode="auto">
            <a:xfrm>
              <a:off x="1428" y="3294"/>
              <a:ext cx="363"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 name="Group 34"/>
          <p:cNvGrpSpPr/>
          <p:nvPr/>
        </p:nvGrpSpPr>
        <p:grpSpPr bwMode="auto">
          <a:xfrm>
            <a:off x="4181475" y="5708650"/>
            <a:ext cx="2447925" cy="936625"/>
            <a:chOff x="1519" y="3294"/>
            <a:chExt cx="1407" cy="545"/>
          </a:xfrm>
        </p:grpSpPr>
        <p:sp>
          <p:nvSpPr>
            <p:cNvPr id="56" name="Oval 35"/>
            <p:cNvSpPr>
              <a:spLocks noChangeArrowheads="1"/>
            </p:cNvSpPr>
            <p:nvPr/>
          </p:nvSpPr>
          <p:spPr bwMode="auto">
            <a:xfrm>
              <a:off x="2200" y="3566"/>
              <a:ext cx="726"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dirty="0">
                  <a:latin typeface="微软雅黑" panose="020B0503020204020204" pitchFamily="34" charset="-122"/>
                  <a:ea typeface="微软雅黑" panose="020B0503020204020204" pitchFamily="34" charset="-122"/>
                </a:rPr>
                <a:t>年龄  </a:t>
              </a:r>
              <a:endParaRPr lang="zh-CN" altLang="en-US" sz="1800" b="1" u="none" dirty="0">
                <a:latin typeface="微软雅黑" panose="020B0503020204020204" pitchFamily="34" charset="-122"/>
                <a:ea typeface="微软雅黑" panose="020B0503020204020204" pitchFamily="34" charset="-122"/>
              </a:endParaRPr>
            </a:p>
          </p:txBody>
        </p:sp>
        <p:sp>
          <p:nvSpPr>
            <p:cNvPr id="57" name="Line 36"/>
            <p:cNvSpPr>
              <a:spLocks noChangeShapeType="1"/>
            </p:cNvSpPr>
            <p:nvPr/>
          </p:nvSpPr>
          <p:spPr bwMode="auto">
            <a:xfrm>
              <a:off x="1519" y="3294"/>
              <a:ext cx="953"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 name="Text Box 37"/>
          <p:cNvSpPr txBox="1">
            <a:spLocks noChangeArrowheads="1"/>
          </p:cNvSpPr>
          <p:nvPr/>
        </p:nvSpPr>
        <p:spPr bwMode="auto">
          <a:xfrm>
            <a:off x="3448050" y="395128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latin typeface="Arial" panose="020B0604020202020204" pitchFamily="34" charset="0"/>
              </a:rPr>
              <a:t>1</a:t>
            </a:r>
            <a:endParaRPr lang="en-US" altLang="zh-CN" sz="2000" b="1" u="none">
              <a:latin typeface="Arial" panose="020B0604020202020204" pitchFamily="34" charset="0"/>
            </a:endParaRPr>
          </a:p>
        </p:txBody>
      </p:sp>
      <p:sp>
        <p:nvSpPr>
          <p:cNvPr id="59" name="Text Box 38"/>
          <p:cNvSpPr txBox="1">
            <a:spLocks noChangeArrowheads="1"/>
          </p:cNvSpPr>
          <p:nvPr/>
        </p:nvSpPr>
        <p:spPr bwMode="auto">
          <a:xfrm>
            <a:off x="3448050" y="4887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solidFill>
                  <a:srgbClr val="3333FF"/>
                </a:solidFill>
                <a:latin typeface="Arial" panose="020B0604020202020204" pitchFamily="34" charset="0"/>
              </a:rPr>
              <a:t>N</a:t>
            </a:r>
            <a:endParaRPr lang="en-US" altLang="zh-CN" sz="2000" b="1" u="none">
              <a:solidFill>
                <a:srgbClr val="3333FF"/>
              </a:solidFill>
              <a:latin typeface="Arial" panose="020B0604020202020204" pitchFamily="34" charset="0"/>
            </a:endParaRPr>
          </a:p>
        </p:txBody>
      </p:sp>
      <p:grpSp>
        <p:nvGrpSpPr>
          <p:cNvPr id="60" name="Group 39"/>
          <p:cNvGrpSpPr/>
          <p:nvPr/>
        </p:nvGrpSpPr>
        <p:grpSpPr bwMode="auto">
          <a:xfrm>
            <a:off x="1893888" y="5708650"/>
            <a:ext cx="1814512" cy="936625"/>
            <a:chOff x="204" y="3294"/>
            <a:chExt cx="1043" cy="545"/>
          </a:xfrm>
        </p:grpSpPr>
        <p:sp>
          <p:nvSpPr>
            <p:cNvPr id="61" name="Line 40"/>
            <p:cNvSpPr>
              <a:spLocks noChangeShapeType="1"/>
            </p:cNvSpPr>
            <p:nvPr/>
          </p:nvSpPr>
          <p:spPr bwMode="auto">
            <a:xfrm flipH="1">
              <a:off x="476" y="3294"/>
              <a:ext cx="77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Oval 41"/>
            <p:cNvSpPr>
              <a:spLocks noChangeArrowheads="1"/>
            </p:cNvSpPr>
            <p:nvPr/>
          </p:nvSpPr>
          <p:spPr bwMode="auto">
            <a:xfrm>
              <a:off x="204" y="3566"/>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dirty="0">
                  <a:solidFill>
                    <a:srgbClr val="FF3300"/>
                  </a:solidFill>
                  <a:latin typeface="微软雅黑" panose="020B0503020204020204" pitchFamily="34" charset="-122"/>
                  <a:ea typeface="微软雅黑" panose="020B0503020204020204" pitchFamily="34" charset="-122"/>
                </a:rPr>
                <a:t>教师号  </a:t>
              </a:r>
              <a:endParaRPr lang="zh-CN" altLang="en-US" sz="1800" b="1" dirty="0">
                <a:solidFill>
                  <a:srgbClr val="FF3300"/>
                </a:solidFill>
                <a:latin typeface="微软雅黑" panose="020B0503020204020204" pitchFamily="34" charset="-122"/>
                <a:ea typeface="微软雅黑" panose="020B0503020204020204" pitchFamily="34" charset="-122"/>
              </a:endParaRPr>
            </a:p>
          </p:txBody>
        </p:sp>
      </p:grpSp>
      <p:grpSp>
        <p:nvGrpSpPr>
          <p:cNvPr id="63" name="Group 42"/>
          <p:cNvGrpSpPr/>
          <p:nvPr/>
        </p:nvGrpSpPr>
        <p:grpSpPr bwMode="auto">
          <a:xfrm>
            <a:off x="2800350" y="1935163"/>
            <a:ext cx="7991475" cy="574675"/>
            <a:chOff x="537" y="3963"/>
            <a:chExt cx="5034" cy="362"/>
          </a:xfrm>
        </p:grpSpPr>
        <p:sp>
          <p:nvSpPr>
            <p:cNvPr id="64" name="Rectangle 43"/>
            <p:cNvSpPr>
              <a:spLocks noChangeArrowheads="1"/>
            </p:cNvSpPr>
            <p:nvPr/>
          </p:nvSpPr>
          <p:spPr bwMode="auto">
            <a:xfrm>
              <a:off x="703" y="3963"/>
              <a:ext cx="4818" cy="357"/>
            </a:xfrm>
            <a:prstGeom prst="rect">
              <a:avLst/>
            </a:prstGeom>
            <a:gradFill rotWithShape="0">
              <a:gsLst>
                <a:gs pos="0">
                  <a:srgbClr val="33CCFF">
                    <a:alpha val="39998"/>
                  </a:srgbClr>
                </a:gs>
                <a:gs pos="100000">
                  <a:srgbClr val="FFFFFF">
                    <a:alpha val="89998"/>
                  </a:srgbClr>
                </a:gs>
              </a:gsLst>
              <a:lin ang="2700000" scaled="1"/>
            </a:gradFill>
            <a:ln w="9525">
              <a:miter lim="800000"/>
            </a:ln>
            <a:effectLst/>
            <a:scene3d>
              <a:camera prst="legacyObliqueTopRight"/>
              <a:lightRig rig="legacyFlat4" dir="b"/>
            </a:scene3d>
            <a:sp3d extrusionH="100000" prstMaterial="legacyMatte">
              <a:bevelT w="13500" h="13500" prst="angle"/>
              <a:bevelB w="13500" h="13500" prst="angle"/>
              <a:extrusionClr>
                <a:srgbClr val="66CCFF"/>
              </a:extrusionClr>
              <a:contourClr>
                <a:srgbClr val="33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b="1" u="none" dirty="0">
                  <a:latin typeface="微软雅黑" panose="020B0503020204020204" pitchFamily="34" charset="-122"/>
                  <a:ea typeface="微软雅黑" panose="020B0503020204020204" pitchFamily="34" charset="-122"/>
                </a:rPr>
                <a:t>与</a:t>
              </a:r>
              <a:r>
                <a:rPr lang="en-US" altLang="zh-CN" sz="2400" b="1" u="none" dirty="0">
                  <a:latin typeface="微软雅黑" panose="020B0503020204020204" pitchFamily="34" charset="-122"/>
                  <a:ea typeface="微软雅黑" panose="020B0503020204020204" pitchFamily="34" charset="-122"/>
                </a:rPr>
                <a:t>n</a:t>
              </a:r>
              <a:r>
                <a:rPr lang="zh-CN" altLang="en-US" sz="2400" b="1" u="none" dirty="0">
                  <a:latin typeface="微软雅黑" panose="020B0503020204020204" pitchFamily="34" charset="-122"/>
                  <a:ea typeface="微软雅黑" panose="020B0503020204020204" pitchFamily="34" charset="-122"/>
                </a:rPr>
                <a:t>端合并</a:t>
              </a:r>
              <a:r>
                <a:rPr lang="en-US" altLang="zh-CN" sz="2400" b="1" u="none" dirty="0">
                  <a:latin typeface="微软雅黑" panose="020B0503020204020204" pitchFamily="34" charset="-122"/>
                  <a:ea typeface="微软雅黑" panose="020B0503020204020204" pitchFamily="34" charset="-122"/>
                </a:rPr>
                <a:t>(</a:t>
              </a:r>
              <a:r>
                <a:rPr lang="zh-CN" altLang="en-US" sz="2400" b="1" u="none" dirty="0">
                  <a:solidFill>
                    <a:srgbClr val="FF3300"/>
                  </a:solidFill>
                  <a:latin typeface="微软雅黑" panose="020B0503020204020204" pitchFamily="34" charset="-122"/>
                  <a:ea typeface="微软雅黑" panose="020B0503020204020204" pitchFamily="34" charset="-122"/>
                </a:rPr>
                <a:t>方法二</a:t>
              </a:r>
              <a:r>
                <a:rPr lang="en-US" altLang="zh-CN" sz="2400" b="1" u="none" dirty="0">
                  <a:latin typeface="微软雅黑" panose="020B0503020204020204" pitchFamily="34" charset="-122"/>
                  <a:ea typeface="微软雅黑" panose="020B0503020204020204" pitchFamily="34" charset="-122"/>
                </a:rPr>
                <a:t>)</a:t>
              </a:r>
              <a:endParaRPr lang="en-US" altLang="zh-CN" sz="2400" b="1" u="none" dirty="0">
                <a:latin typeface="微软雅黑" panose="020B0503020204020204" pitchFamily="34" charset="-122"/>
                <a:ea typeface="微软雅黑" panose="020B0503020204020204" pitchFamily="34" charset="-122"/>
              </a:endParaRPr>
            </a:p>
          </p:txBody>
        </p:sp>
        <p:sp>
          <p:nvSpPr>
            <p:cNvPr id="65" name="Line 44"/>
            <p:cNvSpPr>
              <a:spLocks noChangeShapeType="1"/>
            </p:cNvSpPr>
            <p:nvPr/>
          </p:nvSpPr>
          <p:spPr bwMode="auto">
            <a:xfrm>
              <a:off x="537" y="4325"/>
              <a:ext cx="5034" cy="0"/>
            </a:xfrm>
            <a:prstGeom prst="line">
              <a:avLst/>
            </a:prstGeom>
            <a:noFill/>
            <a:ln w="9525">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AutoShape 45"/>
            <p:cNvSpPr>
              <a:spLocks noChangeArrowheads="1"/>
            </p:cNvSpPr>
            <p:nvPr/>
          </p:nvSpPr>
          <p:spPr bwMode="auto">
            <a:xfrm>
              <a:off x="647" y="4016"/>
              <a:ext cx="1387" cy="304"/>
            </a:xfrm>
            <a:prstGeom prst="bevel">
              <a:avLst>
                <a:gd name="adj" fmla="val 12500"/>
              </a:avLst>
            </a:prstGeom>
            <a:gradFill rotWithShape="1">
              <a:gsLst>
                <a:gs pos="0">
                  <a:srgbClr val="33CCFF"/>
                </a:gs>
                <a:gs pos="100000">
                  <a:srgbClr val="33CCFF">
                    <a:gamma/>
                    <a:shade val="45882"/>
                    <a:invGamma/>
                  </a:srgbClr>
                </a:gs>
              </a:gsLst>
              <a:lin ang="5400000" scaled="1"/>
            </a:gradFill>
            <a:ln>
              <a:noFill/>
            </a:ln>
            <a:effectLst/>
          </p:spPr>
          <p:txBody>
            <a:bodyPr wrap="none" anchor="ct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ko-KR" altLang="en-US" sz="2800" u="none" dirty="0">
                  <a:solidFill>
                    <a:srgbClr val="FFFFFF"/>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kumimoji="1" lang="zh-CN" altLang="en-US"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举例</a:t>
              </a:r>
              <a:r>
                <a:rPr kumimoji="1" lang="en-US" altLang="zh-CN"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2</a:t>
              </a:r>
              <a:endParaRPr kumimoji="1" lang="en-US" altLang="ko-KR" sz="2800" u="none" dirty="0">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grpId="1" nodeType="clickEffect">
                                  <p:stCondLst>
                                    <p:cond delay="0"/>
                                  </p:stCondLst>
                                  <p:childTnLst>
                                    <p:animEffect transition="out" filter="blinds(horizontal)">
                                      <p:cBhvr>
                                        <p:cTn id="23" dur="500"/>
                                        <p:tgtEl>
                                          <p:spTgt spid="31"/>
                                        </p:tgtEl>
                                      </p:cBhvr>
                                    </p:animEffect>
                                    <p:set>
                                      <p:cBhvr>
                                        <p:cTn id="24" dur="1" fill="hold">
                                          <p:stCondLst>
                                            <p:cond delay="499"/>
                                          </p:stCondLst>
                                        </p:cTn>
                                        <p:tgtEl>
                                          <p:spTgt spid="3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up)">
                                      <p:cBhvr>
                                        <p:cTn id="2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31" grpId="0"/>
      <p:bldP spid="31"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r>
              <a:rPr lang="en-US" altLang="zh-CN" sz="2200" dirty="0"/>
              <a:t>M</a:t>
            </a:r>
            <a:r>
              <a:rPr lang="zh-CN" altLang="en-US" sz="2200" dirty="0"/>
              <a:t>：</a:t>
            </a:r>
            <a:r>
              <a:rPr lang="en-US" altLang="zh-CN" sz="2200" dirty="0"/>
              <a:t>N</a:t>
            </a:r>
            <a:r>
              <a:rPr lang="zh-CN" altLang="en-US" sz="2200" dirty="0"/>
              <a:t>联系</a:t>
            </a:r>
            <a:endParaRPr lang="en-US" altLang="zh-CN" sz="2200" dirty="0"/>
          </a:p>
          <a:p>
            <a:pPr lvl="1"/>
            <a:endParaRPr lang="en-US" altLang="zh-CN" sz="2200" dirty="0"/>
          </a:p>
          <a:p>
            <a:pPr lvl="1"/>
            <a:endParaRPr lang="en-US" altLang="zh-CN" sz="2200" dirty="0"/>
          </a:p>
          <a:p>
            <a:pPr lvl="1"/>
            <a:endParaRPr lang="en-US" altLang="zh-CN" sz="2200" dirty="0"/>
          </a:p>
          <a:p>
            <a:pPr lvl="1"/>
            <a:endParaRPr lang="en-US" altLang="zh-CN" sz="2200" dirty="0"/>
          </a:p>
          <a:p>
            <a:pPr lvl="1"/>
            <a:r>
              <a:rPr lang="en-US" altLang="en-US" sz="2200" dirty="0"/>
              <a:t>R1(</a:t>
            </a:r>
            <a:r>
              <a:rPr lang="en-US" altLang="en-US" sz="2200" u="sng" dirty="0"/>
              <a:t>K1</a:t>
            </a:r>
            <a:r>
              <a:rPr lang="en-US" altLang="en-US" sz="2200" dirty="0"/>
              <a:t>，A1)，R2(</a:t>
            </a:r>
            <a:r>
              <a:rPr lang="en-US" altLang="en-US" sz="2200" u="sng" dirty="0"/>
              <a:t>K2</a:t>
            </a:r>
            <a:r>
              <a:rPr lang="en-US" altLang="en-US" sz="2200" dirty="0"/>
              <a:t>，A2)，R3(</a:t>
            </a:r>
            <a:r>
              <a:rPr lang="en-US" altLang="en-US" sz="2200" u="sng" dirty="0"/>
              <a:t>K1，K2</a:t>
            </a:r>
            <a:r>
              <a:rPr lang="en-US" altLang="en-US" sz="2200" dirty="0"/>
              <a:t>，AR)，其中K1，K2</a:t>
            </a:r>
            <a:r>
              <a:rPr lang="en-US" altLang="en-US" sz="2200" dirty="0">
                <a:solidFill>
                  <a:srgbClr val="FF9933"/>
                </a:solidFill>
              </a:rPr>
              <a:t>联合</a:t>
            </a:r>
            <a:r>
              <a:rPr lang="en-US" altLang="en-US" sz="2200" dirty="0"/>
              <a:t>构成R3的键，且K1，K2又同时都是外键</a:t>
            </a:r>
            <a:endParaRPr lang="en-US" altLang="zh-CN" sz="2200"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25"/>
          <p:cNvGrpSpPr/>
          <p:nvPr/>
        </p:nvGrpSpPr>
        <p:grpSpPr bwMode="auto">
          <a:xfrm>
            <a:off x="2983572" y="1990676"/>
            <a:ext cx="5845175" cy="1873250"/>
            <a:chOff x="2400" y="1488"/>
            <a:chExt cx="5544" cy="2208"/>
          </a:xfrm>
        </p:grpSpPr>
        <p:sp>
          <p:nvSpPr>
            <p:cNvPr id="7" name="Text Box 26"/>
            <p:cNvSpPr txBox="1">
              <a:spLocks noChangeArrowheads="1"/>
            </p:cNvSpPr>
            <p:nvPr/>
          </p:nvSpPr>
          <p:spPr bwMode="auto">
            <a:xfrm>
              <a:off x="3516"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8" name="AutoShape 27"/>
            <p:cNvSpPr>
              <a:spLocks noChangeArrowheads="1"/>
            </p:cNvSpPr>
            <p:nvPr/>
          </p:nvSpPr>
          <p:spPr bwMode="auto">
            <a:xfrm>
              <a:off x="4776" y="1824"/>
              <a:ext cx="768" cy="468"/>
            </a:xfrm>
            <a:prstGeom prst="diamond">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R</a:t>
              </a:r>
              <a:endParaRPr lang="en-US" altLang="zh-CN" sz="1200" b="1" u="none">
                <a:latin typeface="Arial" panose="020B0604020202020204" pitchFamily="34" charset="0"/>
              </a:endParaRPr>
            </a:p>
          </p:txBody>
        </p:sp>
        <p:sp>
          <p:nvSpPr>
            <p:cNvPr id="9" name="Text Box 28"/>
            <p:cNvSpPr txBox="1">
              <a:spLocks noChangeArrowheads="1"/>
            </p:cNvSpPr>
            <p:nvPr/>
          </p:nvSpPr>
          <p:spPr bwMode="auto">
            <a:xfrm>
              <a:off x="2880" y="3312"/>
              <a:ext cx="4236"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dirty="0">
                  <a:latin typeface="Times New Roman" panose="02020603050405020304" pitchFamily="18" charset="0"/>
                </a:rPr>
                <a:t>M</a:t>
              </a:r>
              <a:r>
                <a:rPr lang="zh-CN" altLang="en-US" sz="1200" b="1" u="none" dirty="0">
                  <a:latin typeface="Times New Roman" panose="02020603050405020304" pitchFamily="18" charset="0"/>
                </a:rPr>
                <a:t>：</a:t>
              </a:r>
              <a:r>
                <a:rPr lang="en-US" altLang="zh-CN" sz="1200" b="1" u="none" dirty="0">
                  <a:latin typeface="Times New Roman" panose="02020603050405020304" pitchFamily="18" charset="0"/>
                </a:rPr>
                <a:t>N</a:t>
              </a:r>
              <a:r>
                <a:rPr lang="zh-CN" altLang="en-US" sz="1200" b="1" u="none" dirty="0">
                  <a:latin typeface="Times New Roman" panose="02020603050405020304" pitchFamily="18" charset="0"/>
                </a:rPr>
                <a:t>联系</a:t>
              </a:r>
              <a:endParaRPr lang="zh-CN" altLang="en-US" sz="1200" b="1" u="none" dirty="0">
                <a:latin typeface="Arial" panose="020B0604020202020204" pitchFamily="34" charset="0"/>
              </a:endParaRPr>
            </a:p>
          </p:txBody>
        </p:sp>
        <p:sp>
          <p:nvSpPr>
            <p:cNvPr id="10" name="AutoShape 29"/>
            <p:cNvSpPr>
              <a:spLocks noChangeArrowheads="1"/>
            </p:cNvSpPr>
            <p:nvPr/>
          </p:nvSpPr>
          <p:spPr bwMode="auto">
            <a:xfrm>
              <a:off x="2424" y="2184"/>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K</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11" name="AutoShape 30"/>
            <p:cNvSpPr>
              <a:spLocks noChangeArrowheads="1"/>
            </p:cNvSpPr>
            <p:nvPr/>
          </p:nvSpPr>
          <p:spPr bwMode="auto">
            <a:xfrm>
              <a:off x="2400" y="1488"/>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1</a:t>
              </a:r>
              <a:endParaRPr lang="en-US" altLang="zh-CN" sz="1200" b="1" u="none">
                <a:latin typeface="Arial" panose="020B0604020202020204" pitchFamily="34" charset="0"/>
              </a:endParaRPr>
            </a:p>
          </p:txBody>
        </p:sp>
        <p:sp>
          <p:nvSpPr>
            <p:cNvPr id="12" name="AutoShape 31"/>
            <p:cNvSpPr>
              <a:spLocks noChangeArrowheads="1"/>
            </p:cNvSpPr>
            <p:nvPr/>
          </p:nvSpPr>
          <p:spPr bwMode="auto">
            <a:xfrm>
              <a:off x="4884" y="26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R</a:t>
              </a:r>
              <a:endParaRPr lang="en-US" altLang="zh-CN" sz="1200" b="1" u="none">
                <a:latin typeface="Arial" panose="020B0604020202020204" pitchFamily="34" charset="0"/>
              </a:endParaRPr>
            </a:p>
          </p:txBody>
        </p:sp>
        <p:sp>
          <p:nvSpPr>
            <p:cNvPr id="13" name="AutoShape 32"/>
            <p:cNvSpPr>
              <a:spLocks noChangeArrowheads="1"/>
            </p:cNvSpPr>
            <p:nvPr/>
          </p:nvSpPr>
          <p:spPr bwMode="auto">
            <a:xfrm>
              <a:off x="7392" y="2340"/>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A</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4" name="AutoShape 33"/>
            <p:cNvSpPr>
              <a:spLocks noChangeArrowheads="1"/>
            </p:cNvSpPr>
            <p:nvPr/>
          </p:nvSpPr>
          <p:spPr bwMode="auto">
            <a:xfrm>
              <a:off x="7404" y="1536"/>
              <a:ext cx="540" cy="312"/>
            </a:xfrm>
            <a:prstGeom prst="roundRect">
              <a:avLst>
                <a:gd name="adj" fmla="val 16667"/>
              </a:avLst>
            </a:prstGeom>
            <a:solidFill>
              <a:srgbClr val="FFFFFF"/>
            </a:solidFill>
            <a:ln w="9525">
              <a:solidFill>
                <a:srgbClr val="000000"/>
              </a:solidFill>
              <a:round/>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K</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5" name="Text Box 34"/>
            <p:cNvSpPr txBox="1">
              <a:spLocks noChangeArrowheads="1"/>
            </p:cNvSpPr>
            <p:nvPr/>
          </p:nvSpPr>
          <p:spPr bwMode="auto">
            <a:xfrm>
              <a:off x="4464" y="1692"/>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M</a:t>
              </a:r>
              <a:endParaRPr lang="en-US" altLang="zh-CN" sz="1200" b="1" u="none">
                <a:latin typeface="Arial" panose="020B0604020202020204" pitchFamily="34" charset="0"/>
              </a:endParaRPr>
            </a:p>
          </p:txBody>
        </p:sp>
        <p:sp>
          <p:nvSpPr>
            <p:cNvPr id="16" name="Text Box 35"/>
            <p:cNvSpPr txBox="1">
              <a:spLocks noChangeArrowheads="1"/>
            </p:cNvSpPr>
            <p:nvPr/>
          </p:nvSpPr>
          <p:spPr bwMode="auto">
            <a:xfrm>
              <a:off x="5736" y="1680"/>
              <a:ext cx="18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N</a:t>
              </a:r>
              <a:endParaRPr lang="en-US" altLang="zh-CN" sz="1200" b="1" u="none">
                <a:latin typeface="Arial" panose="020B0604020202020204" pitchFamily="34" charset="0"/>
              </a:endParaRPr>
            </a:p>
          </p:txBody>
        </p:sp>
        <p:sp>
          <p:nvSpPr>
            <p:cNvPr id="17" name="Text Box 36"/>
            <p:cNvSpPr txBox="1">
              <a:spLocks noChangeArrowheads="1"/>
            </p:cNvSpPr>
            <p:nvPr/>
          </p:nvSpPr>
          <p:spPr bwMode="auto">
            <a:xfrm>
              <a:off x="6108" y="1896"/>
              <a:ext cx="720" cy="312"/>
            </a:xfrm>
            <a:prstGeom prst="rect">
              <a:avLst/>
            </a:prstGeom>
            <a:solidFill>
              <a:srgbClr val="FFFFFF"/>
            </a:solidFill>
            <a:ln w="9525">
              <a:solidFill>
                <a:srgbClr val="000000"/>
              </a:solidFill>
              <a:miter lim="800000"/>
            </a:ln>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200" b="1" u="none">
                  <a:latin typeface="Times New Roman" panose="02020603050405020304" pitchFamily="18" charset="0"/>
                </a:rPr>
                <a:t>E</a:t>
              </a:r>
              <a:r>
                <a:rPr lang="en-US" altLang="zh-CN" sz="1200" b="1" u="none" baseline="-25000">
                  <a:latin typeface="Times New Roman" panose="02020603050405020304" pitchFamily="18" charset="0"/>
                </a:rPr>
                <a:t>2</a:t>
              </a:r>
              <a:endParaRPr lang="en-US" altLang="zh-CN" sz="1200" b="1" u="none">
                <a:latin typeface="Arial" panose="020B0604020202020204" pitchFamily="34" charset="0"/>
              </a:endParaRPr>
            </a:p>
          </p:txBody>
        </p:sp>
        <p:sp>
          <p:nvSpPr>
            <p:cNvPr id="18" name="Line 37"/>
            <p:cNvSpPr>
              <a:spLocks noChangeShapeType="1"/>
            </p:cNvSpPr>
            <p:nvPr/>
          </p:nvSpPr>
          <p:spPr bwMode="auto">
            <a:xfrm>
              <a:off x="4248"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38"/>
            <p:cNvSpPr>
              <a:spLocks noChangeShapeType="1"/>
            </p:cNvSpPr>
            <p:nvPr/>
          </p:nvSpPr>
          <p:spPr bwMode="auto">
            <a:xfrm>
              <a:off x="5556" y="2052"/>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39"/>
            <p:cNvSpPr>
              <a:spLocks noChangeShapeType="1"/>
            </p:cNvSpPr>
            <p:nvPr/>
          </p:nvSpPr>
          <p:spPr bwMode="auto">
            <a:xfrm flipH="1" flipV="1">
              <a:off x="2964" y="1692"/>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40"/>
            <p:cNvSpPr>
              <a:spLocks noChangeShapeType="1"/>
            </p:cNvSpPr>
            <p:nvPr/>
          </p:nvSpPr>
          <p:spPr bwMode="auto">
            <a:xfrm flipH="1">
              <a:off x="2964" y="2064"/>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41"/>
            <p:cNvSpPr>
              <a:spLocks noChangeShapeType="1"/>
            </p:cNvSpPr>
            <p:nvPr/>
          </p:nvSpPr>
          <p:spPr bwMode="auto">
            <a:xfrm flipV="1">
              <a:off x="6840" y="1680"/>
              <a:ext cx="54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42"/>
            <p:cNvSpPr>
              <a:spLocks noChangeShapeType="1"/>
            </p:cNvSpPr>
            <p:nvPr/>
          </p:nvSpPr>
          <p:spPr bwMode="auto">
            <a:xfrm>
              <a:off x="6840" y="2064"/>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43"/>
            <p:cNvSpPr>
              <a:spLocks noChangeShapeType="1"/>
            </p:cNvSpPr>
            <p:nvPr/>
          </p:nvSpPr>
          <p:spPr bwMode="auto">
            <a:xfrm>
              <a:off x="5160" y="2316"/>
              <a:ext cx="0" cy="3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25" name="Text Box 4"/>
          <p:cNvSpPr txBox="1">
            <a:spLocks noChangeArrowheads="1"/>
          </p:cNvSpPr>
          <p:nvPr/>
        </p:nvSpPr>
        <p:spPr bwMode="auto">
          <a:xfrm>
            <a:off x="6170833" y="3668759"/>
            <a:ext cx="43926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a:latin typeface="微软雅黑" panose="020B0503020204020204" pitchFamily="34" charset="-122"/>
                <a:ea typeface="微软雅黑" panose="020B0503020204020204" pitchFamily="34" charset="-122"/>
              </a:rPr>
              <a:t>学生（</a:t>
            </a:r>
            <a:r>
              <a:rPr lang="zh-CN" altLang="en-US" sz="2000" b="1">
                <a:solidFill>
                  <a:srgbClr val="FF3300"/>
                </a:solidFill>
                <a:latin typeface="微软雅黑" panose="020B0503020204020204" pitchFamily="34" charset="-122"/>
                <a:ea typeface="微软雅黑" panose="020B0503020204020204" pitchFamily="34" charset="-122"/>
              </a:rPr>
              <a:t>学号</a:t>
            </a:r>
            <a:r>
              <a:rPr lang="zh-CN" altLang="en-US" sz="2000" b="1" u="none">
                <a:latin typeface="微软雅黑" panose="020B0503020204020204" pitchFamily="34" charset="-122"/>
                <a:ea typeface="微软雅黑" panose="020B0503020204020204" pitchFamily="34" charset="-122"/>
              </a:rPr>
              <a:t>，姓名，年龄，性别）</a:t>
            </a:r>
            <a:endParaRPr lang="zh-CN" altLang="en-US" sz="2000" b="1" u="none">
              <a:latin typeface="微软雅黑" panose="020B0503020204020204" pitchFamily="34" charset="-122"/>
              <a:ea typeface="微软雅黑" panose="020B0503020204020204" pitchFamily="34" charset="-122"/>
            </a:endParaRPr>
          </a:p>
        </p:txBody>
      </p:sp>
      <p:sp>
        <p:nvSpPr>
          <p:cNvPr id="26" name="Rectangle 5"/>
          <p:cNvSpPr>
            <a:spLocks noChangeArrowheads="1"/>
          </p:cNvSpPr>
          <p:nvPr/>
        </p:nvSpPr>
        <p:spPr bwMode="auto">
          <a:xfrm>
            <a:off x="4226146" y="3667171"/>
            <a:ext cx="1071562" cy="401638"/>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学生  </a:t>
            </a:r>
            <a:endParaRPr lang="zh-CN" altLang="en-US" sz="1800" b="1" u="none">
              <a:latin typeface="微软雅黑" panose="020B0503020204020204" pitchFamily="34" charset="-122"/>
              <a:ea typeface="微软雅黑" panose="020B0503020204020204" pitchFamily="34" charset="-122"/>
            </a:endParaRPr>
          </a:p>
        </p:txBody>
      </p:sp>
      <p:sp>
        <p:nvSpPr>
          <p:cNvPr id="27" name="Rectangle 6"/>
          <p:cNvSpPr>
            <a:spLocks noChangeArrowheads="1"/>
          </p:cNvSpPr>
          <p:nvPr/>
        </p:nvSpPr>
        <p:spPr bwMode="auto">
          <a:xfrm>
            <a:off x="4226146" y="5395959"/>
            <a:ext cx="1160462" cy="401637"/>
          </a:xfrm>
          <a:prstGeom prst="rect">
            <a:avLst/>
          </a:prstGeom>
          <a:solidFill>
            <a:srgbClr val="00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课程  </a:t>
            </a:r>
            <a:endParaRPr lang="zh-CN" altLang="en-US" sz="1800" b="1" u="none">
              <a:latin typeface="微软雅黑" panose="020B0503020204020204" pitchFamily="34" charset="-122"/>
              <a:ea typeface="微软雅黑" panose="020B0503020204020204" pitchFamily="34" charset="-122"/>
            </a:endParaRPr>
          </a:p>
        </p:txBody>
      </p:sp>
      <p:grpSp>
        <p:nvGrpSpPr>
          <p:cNvPr id="28" name="Group 7"/>
          <p:cNvGrpSpPr/>
          <p:nvPr/>
        </p:nvGrpSpPr>
        <p:grpSpPr bwMode="auto">
          <a:xfrm>
            <a:off x="2641821" y="4552996"/>
            <a:ext cx="1782762" cy="484188"/>
            <a:chOff x="521" y="2575"/>
            <a:chExt cx="907" cy="272"/>
          </a:xfrm>
        </p:grpSpPr>
        <p:sp>
          <p:nvSpPr>
            <p:cNvPr id="29" name="Oval 8"/>
            <p:cNvSpPr>
              <a:spLocks noChangeArrowheads="1"/>
            </p:cNvSpPr>
            <p:nvPr/>
          </p:nvSpPr>
          <p:spPr bwMode="auto">
            <a:xfrm>
              <a:off x="521" y="2575"/>
              <a:ext cx="590" cy="272"/>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成绩  </a:t>
              </a:r>
              <a:endParaRPr lang="zh-CN" altLang="en-US" sz="1800" b="1" u="none">
                <a:latin typeface="微软雅黑" panose="020B0503020204020204" pitchFamily="34" charset="-122"/>
                <a:ea typeface="微软雅黑" panose="020B0503020204020204" pitchFamily="34" charset="-122"/>
              </a:endParaRPr>
            </a:p>
          </p:txBody>
        </p:sp>
        <p:sp>
          <p:nvSpPr>
            <p:cNvPr id="30" name="Line 9"/>
            <p:cNvSpPr>
              <a:spLocks noChangeShapeType="1"/>
            </p:cNvSpPr>
            <p:nvPr/>
          </p:nvSpPr>
          <p:spPr bwMode="auto">
            <a:xfrm>
              <a:off x="1110" y="2711"/>
              <a:ext cx="31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31" name="Group 10"/>
          <p:cNvGrpSpPr/>
          <p:nvPr/>
        </p:nvGrpSpPr>
        <p:grpSpPr bwMode="auto">
          <a:xfrm>
            <a:off x="4081683" y="4027534"/>
            <a:ext cx="1517650" cy="1531937"/>
            <a:chOff x="1428" y="2280"/>
            <a:chExt cx="772" cy="862"/>
          </a:xfrm>
        </p:grpSpPr>
        <p:sp>
          <p:nvSpPr>
            <p:cNvPr id="32" name="AutoShape 11"/>
            <p:cNvSpPr>
              <a:spLocks noChangeArrowheads="1"/>
            </p:cNvSpPr>
            <p:nvPr/>
          </p:nvSpPr>
          <p:spPr bwMode="auto">
            <a:xfrm>
              <a:off x="1428" y="2553"/>
              <a:ext cx="772" cy="318"/>
            </a:xfrm>
            <a:prstGeom prst="diamond">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选课  </a:t>
              </a:r>
              <a:endParaRPr lang="zh-CN" altLang="en-US" sz="1800" b="1" u="none">
                <a:latin typeface="微软雅黑" panose="020B0503020204020204" pitchFamily="34" charset="-122"/>
                <a:ea typeface="微软雅黑" panose="020B0503020204020204" pitchFamily="34" charset="-122"/>
              </a:endParaRPr>
            </a:p>
          </p:txBody>
        </p:sp>
        <p:grpSp>
          <p:nvGrpSpPr>
            <p:cNvPr id="33" name="Group 12"/>
            <p:cNvGrpSpPr/>
            <p:nvPr/>
          </p:nvGrpSpPr>
          <p:grpSpPr bwMode="auto">
            <a:xfrm>
              <a:off x="1813" y="2280"/>
              <a:ext cx="1" cy="862"/>
              <a:chOff x="1813" y="2280"/>
              <a:chExt cx="1" cy="862"/>
            </a:xfrm>
          </p:grpSpPr>
          <p:sp>
            <p:nvSpPr>
              <p:cNvPr id="34" name="Line 13"/>
              <p:cNvSpPr>
                <a:spLocks noChangeShapeType="1"/>
              </p:cNvSpPr>
              <p:nvPr/>
            </p:nvSpPr>
            <p:spPr bwMode="auto">
              <a:xfrm>
                <a:off x="1813" y="2280"/>
                <a:ext cx="1" cy="27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Line 14"/>
              <p:cNvSpPr>
                <a:spLocks noChangeShapeType="1"/>
              </p:cNvSpPr>
              <p:nvPr/>
            </p:nvSpPr>
            <p:spPr bwMode="auto">
              <a:xfrm>
                <a:off x="1813" y="2870"/>
                <a:ext cx="1" cy="2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grpSp>
        <p:nvGrpSpPr>
          <p:cNvPr id="36" name="Group 15"/>
          <p:cNvGrpSpPr/>
          <p:nvPr/>
        </p:nvGrpSpPr>
        <p:grpSpPr bwMode="auto">
          <a:xfrm>
            <a:off x="4175345" y="4124372"/>
            <a:ext cx="455820" cy="1287846"/>
            <a:chOff x="1487" y="2341"/>
            <a:chExt cx="231" cy="724"/>
          </a:xfrm>
        </p:grpSpPr>
        <p:sp>
          <p:nvSpPr>
            <p:cNvPr id="37" name="Text Box 16"/>
            <p:cNvSpPr txBox="1">
              <a:spLocks noChangeArrowheads="1"/>
            </p:cNvSpPr>
            <p:nvPr/>
          </p:nvSpPr>
          <p:spPr bwMode="auto">
            <a:xfrm>
              <a:off x="1487" y="2341"/>
              <a:ext cx="22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solidFill>
                    <a:srgbClr val="0000FF"/>
                  </a:solidFill>
                  <a:latin typeface="微软雅黑" panose="020B0503020204020204" pitchFamily="34" charset="-122"/>
                  <a:ea typeface="微软雅黑" panose="020B0503020204020204" pitchFamily="34" charset="-122"/>
                </a:rPr>
                <a:t>M</a:t>
              </a:r>
              <a:endParaRPr lang="en-US" altLang="zh-CN" sz="2000" b="1" u="none">
                <a:solidFill>
                  <a:srgbClr val="0000FF"/>
                </a:solidFill>
                <a:latin typeface="微软雅黑" panose="020B0503020204020204" pitchFamily="34" charset="-122"/>
                <a:ea typeface="微软雅黑" panose="020B0503020204020204" pitchFamily="34" charset="-122"/>
              </a:endParaRPr>
            </a:p>
          </p:txBody>
        </p:sp>
        <p:sp>
          <p:nvSpPr>
            <p:cNvPr id="38" name="Text Box 17"/>
            <p:cNvSpPr txBox="1">
              <a:spLocks noChangeArrowheads="1"/>
            </p:cNvSpPr>
            <p:nvPr/>
          </p:nvSpPr>
          <p:spPr bwMode="auto">
            <a:xfrm>
              <a:off x="1514" y="2840"/>
              <a:ext cx="204"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en-US" altLang="zh-CN" sz="2000" b="1" u="none">
                  <a:solidFill>
                    <a:srgbClr val="0000FF"/>
                  </a:solidFill>
                  <a:latin typeface="微软雅黑" panose="020B0503020204020204" pitchFamily="34" charset="-122"/>
                  <a:ea typeface="微软雅黑" panose="020B0503020204020204" pitchFamily="34" charset="-122"/>
                </a:rPr>
                <a:t>N</a:t>
              </a:r>
              <a:endParaRPr lang="en-US" altLang="zh-CN" sz="2000" b="1" u="none">
                <a:solidFill>
                  <a:srgbClr val="0000FF"/>
                </a:solidFill>
                <a:latin typeface="微软雅黑" panose="020B0503020204020204" pitchFamily="34" charset="-122"/>
                <a:ea typeface="微软雅黑" panose="020B0503020204020204" pitchFamily="34" charset="-122"/>
              </a:endParaRPr>
            </a:p>
          </p:txBody>
        </p:sp>
      </p:grpSp>
      <p:grpSp>
        <p:nvGrpSpPr>
          <p:cNvPr id="39" name="Group 18"/>
          <p:cNvGrpSpPr/>
          <p:nvPr/>
        </p:nvGrpSpPr>
        <p:grpSpPr bwMode="auto">
          <a:xfrm>
            <a:off x="4226146" y="5784896"/>
            <a:ext cx="1338262" cy="889000"/>
            <a:chOff x="1519" y="3369"/>
            <a:chExt cx="681" cy="500"/>
          </a:xfrm>
        </p:grpSpPr>
        <p:sp>
          <p:nvSpPr>
            <p:cNvPr id="40" name="Oval 19"/>
            <p:cNvSpPr>
              <a:spLocks noChangeArrowheads="1"/>
            </p:cNvSpPr>
            <p:nvPr/>
          </p:nvSpPr>
          <p:spPr bwMode="auto">
            <a:xfrm>
              <a:off x="1519" y="3596"/>
              <a:ext cx="681"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课程名  </a:t>
              </a:r>
              <a:endParaRPr lang="zh-CN" altLang="en-US" sz="1800" b="1" u="none">
                <a:latin typeface="微软雅黑" panose="020B0503020204020204" pitchFamily="34" charset="-122"/>
                <a:ea typeface="微软雅黑" panose="020B0503020204020204" pitchFamily="34" charset="-122"/>
              </a:endParaRPr>
            </a:p>
          </p:txBody>
        </p:sp>
        <p:sp>
          <p:nvSpPr>
            <p:cNvPr id="41" name="Line 20"/>
            <p:cNvSpPr>
              <a:spLocks noChangeShapeType="1"/>
            </p:cNvSpPr>
            <p:nvPr/>
          </p:nvSpPr>
          <p:spPr bwMode="auto">
            <a:xfrm>
              <a:off x="1813" y="3369"/>
              <a:ext cx="1"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2" name="Group 21"/>
          <p:cNvGrpSpPr/>
          <p:nvPr/>
        </p:nvGrpSpPr>
        <p:grpSpPr bwMode="auto">
          <a:xfrm>
            <a:off x="2644996" y="5813471"/>
            <a:ext cx="1871662" cy="889000"/>
            <a:chOff x="748" y="3369"/>
            <a:chExt cx="952" cy="500"/>
          </a:xfrm>
        </p:grpSpPr>
        <p:sp>
          <p:nvSpPr>
            <p:cNvPr id="43" name="Oval 22"/>
            <p:cNvSpPr>
              <a:spLocks noChangeArrowheads="1"/>
            </p:cNvSpPr>
            <p:nvPr/>
          </p:nvSpPr>
          <p:spPr bwMode="auto">
            <a:xfrm>
              <a:off x="748" y="3596"/>
              <a:ext cx="72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a:solidFill>
                    <a:srgbClr val="FF3300"/>
                  </a:solidFill>
                  <a:latin typeface="微软雅黑" panose="020B0503020204020204" pitchFamily="34" charset="-122"/>
                  <a:ea typeface="微软雅黑" panose="020B0503020204020204" pitchFamily="34" charset="-122"/>
                </a:rPr>
                <a:t>课程号  </a:t>
              </a:r>
              <a:endParaRPr lang="zh-CN" altLang="en-US" sz="1800" b="1">
                <a:solidFill>
                  <a:srgbClr val="FF3300"/>
                </a:solidFill>
                <a:latin typeface="微软雅黑" panose="020B0503020204020204" pitchFamily="34" charset="-122"/>
                <a:ea typeface="微软雅黑" panose="020B0503020204020204" pitchFamily="34" charset="-122"/>
              </a:endParaRPr>
            </a:p>
          </p:txBody>
        </p:sp>
        <p:sp>
          <p:nvSpPr>
            <p:cNvPr id="44" name="Line 23"/>
            <p:cNvSpPr>
              <a:spLocks noChangeShapeType="1"/>
            </p:cNvSpPr>
            <p:nvPr/>
          </p:nvSpPr>
          <p:spPr bwMode="auto">
            <a:xfrm flipH="1">
              <a:off x="1201" y="3369"/>
              <a:ext cx="499"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5" name="Group 24"/>
          <p:cNvGrpSpPr/>
          <p:nvPr/>
        </p:nvGrpSpPr>
        <p:grpSpPr bwMode="auto">
          <a:xfrm>
            <a:off x="4961158" y="5799184"/>
            <a:ext cx="1871663" cy="889000"/>
            <a:chOff x="1928" y="3369"/>
            <a:chExt cx="952" cy="500"/>
          </a:xfrm>
        </p:grpSpPr>
        <p:sp>
          <p:nvSpPr>
            <p:cNvPr id="46" name="Oval 25"/>
            <p:cNvSpPr>
              <a:spLocks noChangeArrowheads="1"/>
            </p:cNvSpPr>
            <p:nvPr/>
          </p:nvSpPr>
          <p:spPr bwMode="auto">
            <a:xfrm>
              <a:off x="2290" y="3596"/>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学分  </a:t>
              </a:r>
              <a:endParaRPr lang="zh-CN" altLang="en-US" sz="1800" b="1" u="none">
                <a:latin typeface="微软雅黑" panose="020B0503020204020204" pitchFamily="34" charset="-122"/>
                <a:ea typeface="微软雅黑" panose="020B0503020204020204" pitchFamily="34" charset="-122"/>
              </a:endParaRPr>
            </a:p>
          </p:txBody>
        </p:sp>
        <p:sp>
          <p:nvSpPr>
            <p:cNvPr id="47" name="Line 26"/>
            <p:cNvSpPr>
              <a:spLocks noChangeShapeType="1"/>
            </p:cNvSpPr>
            <p:nvPr/>
          </p:nvSpPr>
          <p:spPr bwMode="auto">
            <a:xfrm>
              <a:off x="1928" y="3369"/>
              <a:ext cx="635"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8" name="Group 27"/>
          <p:cNvGrpSpPr/>
          <p:nvPr/>
        </p:nvGrpSpPr>
        <p:grpSpPr bwMode="auto">
          <a:xfrm>
            <a:off x="2283046" y="2601959"/>
            <a:ext cx="1962150" cy="1076325"/>
            <a:chOff x="521" y="1464"/>
            <a:chExt cx="998" cy="605"/>
          </a:xfrm>
        </p:grpSpPr>
        <p:sp>
          <p:nvSpPr>
            <p:cNvPr id="49" name="Oval 28"/>
            <p:cNvSpPr>
              <a:spLocks noChangeArrowheads="1"/>
            </p:cNvSpPr>
            <p:nvPr/>
          </p:nvSpPr>
          <p:spPr bwMode="auto">
            <a:xfrm>
              <a:off x="521" y="1464"/>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a:solidFill>
                    <a:srgbClr val="FF3300"/>
                  </a:solidFill>
                  <a:latin typeface="微软雅黑" panose="020B0503020204020204" pitchFamily="34" charset="-122"/>
                  <a:ea typeface="微软雅黑" panose="020B0503020204020204" pitchFamily="34" charset="-122"/>
                </a:rPr>
                <a:t>学号  </a:t>
              </a:r>
              <a:endParaRPr lang="zh-CN" altLang="en-US" sz="1800" b="1">
                <a:solidFill>
                  <a:srgbClr val="FF3300"/>
                </a:solidFill>
                <a:latin typeface="微软雅黑" panose="020B0503020204020204" pitchFamily="34" charset="-122"/>
                <a:ea typeface="微软雅黑" panose="020B0503020204020204" pitchFamily="34" charset="-122"/>
              </a:endParaRPr>
            </a:p>
          </p:txBody>
        </p:sp>
        <p:sp>
          <p:nvSpPr>
            <p:cNvPr id="50" name="Line 29"/>
            <p:cNvSpPr>
              <a:spLocks noChangeShapeType="1"/>
            </p:cNvSpPr>
            <p:nvPr/>
          </p:nvSpPr>
          <p:spPr bwMode="auto">
            <a:xfrm>
              <a:off x="818" y="1745"/>
              <a:ext cx="701" cy="3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51" name="Group 30"/>
          <p:cNvGrpSpPr/>
          <p:nvPr/>
        </p:nvGrpSpPr>
        <p:grpSpPr bwMode="auto">
          <a:xfrm>
            <a:off x="3507008" y="2603546"/>
            <a:ext cx="1157288" cy="1049338"/>
            <a:chOff x="1156" y="1464"/>
            <a:chExt cx="589" cy="590"/>
          </a:xfrm>
        </p:grpSpPr>
        <p:sp>
          <p:nvSpPr>
            <p:cNvPr id="52" name="Oval 31"/>
            <p:cNvSpPr>
              <a:spLocks noChangeArrowheads="1"/>
            </p:cNvSpPr>
            <p:nvPr/>
          </p:nvSpPr>
          <p:spPr bwMode="auto">
            <a:xfrm>
              <a:off x="1156" y="1464"/>
              <a:ext cx="589"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姓名  </a:t>
              </a:r>
              <a:endParaRPr lang="zh-CN" altLang="en-US" sz="1800" b="1" u="none">
                <a:latin typeface="微软雅黑" panose="020B0503020204020204" pitchFamily="34" charset="-122"/>
                <a:ea typeface="微软雅黑" panose="020B0503020204020204" pitchFamily="34" charset="-122"/>
              </a:endParaRPr>
            </a:p>
          </p:txBody>
        </p:sp>
        <p:sp>
          <p:nvSpPr>
            <p:cNvPr id="53" name="Line 32"/>
            <p:cNvSpPr>
              <a:spLocks noChangeShapeType="1"/>
            </p:cNvSpPr>
            <p:nvPr/>
          </p:nvSpPr>
          <p:spPr bwMode="auto">
            <a:xfrm>
              <a:off x="1564" y="1736"/>
              <a:ext cx="181" cy="31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54" name="Group 33"/>
          <p:cNvGrpSpPr/>
          <p:nvPr/>
        </p:nvGrpSpPr>
        <p:grpSpPr bwMode="auto">
          <a:xfrm>
            <a:off x="4729383" y="2632121"/>
            <a:ext cx="1160463" cy="1049338"/>
            <a:chOff x="1791" y="1464"/>
            <a:chExt cx="590" cy="590"/>
          </a:xfrm>
        </p:grpSpPr>
        <p:sp>
          <p:nvSpPr>
            <p:cNvPr id="55" name="Oval 34"/>
            <p:cNvSpPr>
              <a:spLocks noChangeArrowheads="1"/>
            </p:cNvSpPr>
            <p:nvPr/>
          </p:nvSpPr>
          <p:spPr bwMode="auto">
            <a:xfrm>
              <a:off x="1791" y="1464"/>
              <a:ext cx="590"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性别  </a:t>
              </a:r>
              <a:endParaRPr lang="zh-CN" altLang="en-US" sz="1800" b="1" u="none">
                <a:latin typeface="微软雅黑" panose="020B0503020204020204" pitchFamily="34" charset="-122"/>
                <a:ea typeface="微软雅黑" panose="020B0503020204020204" pitchFamily="34" charset="-122"/>
              </a:endParaRPr>
            </a:p>
          </p:txBody>
        </p:sp>
        <p:sp>
          <p:nvSpPr>
            <p:cNvPr id="56" name="Line 35"/>
            <p:cNvSpPr>
              <a:spLocks noChangeShapeType="1"/>
            </p:cNvSpPr>
            <p:nvPr/>
          </p:nvSpPr>
          <p:spPr bwMode="auto">
            <a:xfrm flipH="1">
              <a:off x="1836" y="1736"/>
              <a:ext cx="182" cy="31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57" name="Group 36"/>
          <p:cNvGrpSpPr/>
          <p:nvPr/>
        </p:nvGrpSpPr>
        <p:grpSpPr bwMode="auto">
          <a:xfrm>
            <a:off x="4988146" y="2632121"/>
            <a:ext cx="2228850" cy="1049338"/>
            <a:chOff x="1927" y="1464"/>
            <a:chExt cx="1134" cy="590"/>
          </a:xfrm>
        </p:grpSpPr>
        <p:sp>
          <p:nvSpPr>
            <p:cNvPr id="58" name="Oval 37"/>
            <p:cNvSpPr>
              <a:spLocks noChangeArrowheads="1"/>
            </p:cNvSpPr>
            <p:nvPr/>
          </p:nvSpPr>
          <p:spPr bwMode="auto">
            <a:xfrm>
              <a:off x="2426" y="1464"/>
              <a:ext cx="635" cy="273"/>
            </a:xfrm>
            <a:prstGeom prst="ellipse">
              <a:avLst/>
            </a:prstGeom>
            <a:solidFill>
              <a:srgbClr val="FFCCFF"/>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b="1" u="none">
                  <a:latin typeface="微软雅黑" panose="020B0503020204020204" pitchFamily="34" charset="-122"/>
                  <a:ea typeface="微软雅黑" panose="020B0503020204020204" pitchFamily="34" charset="-122"/>
                </a:rPr>
                <a:t>年龄  </a:t>
              </a:r>
              <a:endParaRPr lang="zh-CN" altLang="en-US" sz="1800" b="1" u="none">
                <a:latin typeface="微软雅黑" panose="020B0503020204020204" pitchFamily="34" charset="-122"/>
                <a:ea typeface="微软雅黑" panose="020B0503020204020204" pitchFamily="34" charset="-122"/>
              </a:endParaRPr>
            </a:p>
          </p:txBody>
        </p:sp>
        <p:sp>
          <p:nvSpPr>
            <p:cNvPr id="59" name="Line 38"/>
            <p:cNvSpPr>
              <a:spLocks noChangeShapeType="1"/>
            </p:cNvSpPr>
            <p:nvPr/>
          </p:nvSpPr>
          <p:spPr bwMode="auto">
            <a:xfrm flipH="1">
              <a:off x="1927" y="1736"/>
              <a:ext cx="726" cy="31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60" name="Text Box 39"/>
          <p:cNvSpPr txBox="1">
            <a:spLocks noChangeArrowheads="1"/>
          </p:cNvSpPr>
          <p:nvPr/>
        </p:nvSpPr>
        <p:spPr bwMode="auto">
          <a:xfrm>
            <a:off x="6170833" y="5324521"/>
            <a:ext cx="4176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a:latin typeface="微软雅黑" panose="020B0503020204020204" pitchFamily="34" charset="-122"/>
                <a:ea typeface="微软雅黑" panose="020B0503020204020204" pitchFamily="34" charset="-122"/>
              </a:rPr>
              <a:t>课程（</a:t>
            </a:r>
            <a:r>
              <a:rPr lang="zh-CN" altLang="en-US" sz="2000" b="1">
                <a:solidFill>
                  <a:srgbClr val="FF3300"/>
                </a:solidFill>
                <a:latin typeface="微软雅黑" panose="020B0503020204020204" pitchFamily="34" charset="-122"/>
                <a:ea typeface="微软雅黑" panose="020B0503020204020204" pitchFamily="34" charset="-122"/>
              </a:rPr>
              <a:t>课程号</a:t>
            </a:r>
            <a:r>
              <a:rPr lang="zh-CN" altLang="en-US" sz="2000" b="1" u="none">
                <a:latin typeface="微软雅黑" panose="020B0503020204020204" pitchFamily="34" charset="-122"/>
                <a:ea typeface="微软雅黑" panose="020B0503020204020204" pitchFamily="34" charset="-122"/>
              </a:rPr>
              <a:t>，课程名，学分）</a:t>
            </a:r>
            <a:endParaRPr lang="zh-CN" altLang="en-US" sz="2000" b="1" u="none">
              <a:latin typeface="微软雅黑" panose="020B0503020204020204" pitchFamily="34" charset="-122"/>
              <a:ea typeface="微软雅黑" panose="020B0503020204020204" pitchFamily="34" charset="-122"/>
            </a:endParaRPr>
          </a:p>
        </p:txBody>
      </p:sp>
      <p:sp>
        <p:nvSpPr>
          <p:cNvPr id="61" name="Text Box 40"/>
          <p:cNvSpPr txBox="1">
            <a:spLocks noChangeArrowheads="1"/>
          </p:cNvSpPr>
          <p:nvPr/>
        </p:nvSpPr>
        <p:spPr bwMode="auto">
          <a:xfrm>
            <a:off x="6170833" y="4532359"/>
            <a:ext cx="4032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FontTx/>
              <a:buNone/>
            </a:pPr>
            <a:r>
              <a:rPr lang="zh-CN" altLang="en-US" sz="2000" b="1" u="none">
                <a:latin typeface="微软雅黑" panose="020B0503020204020204" pitchFamily="34" charset="-122"/>
                <a:ea typeface="微软雅黑" panose="020B0503020204020204" pitchFamily="34" charset="-122"/>
              </a:rPr>
              <a:t>选课（</a:t>
            </a:r>
            <a:r>
              <a:rPr lang="zh-CN" altLang="en-US" sz="2000" b="1">
                <a:solidFill>
                  <a:srgbClr val="FF3300"/>
                </a:solidFill>
                <a:latin typeface="微软雅黑" panose="020B0503020204020204" pitchFamily="34" charset="-122"/>
                <a:ea typeface="微软雅黑" panose="020B0503020204020204" pitchFamily="34" charset="-122"/>
              </a:rPr>
              <a:t>学号，课程号</a:t>
            </a:r>
            <a:r>
              <a:rPr lang="zh-CN" altLang="en-US" sz="2000" b="1" u="none">
                <a:latin typeface="微软雅黑" panose="020B0503020204020204" pitchFamily="34" charset="-122"/>
                <a:ea typeface="微软雅黑" panose="020B0503020204020204" pitchFamily="34" charset="-122"/>
              </a:rPr>
              <a:t>，成绩）</a:t>
            </a:r>
            <a:endParaRPr lang="zh-CN" altLang="en-US" sz="2000" b="1" u="none">
              <a:latin typeface="微软雅黑" panose="020B0503020204020204" pitchFamily="34" charset="-122"/>
              <a:ea typeface="微软雅黑" panose="020B0503020204020204" pitchFamily="34" charset="-122"/>
            </a:endParaRPr>
          </a:p>
        </p:txBody>
      </p:sp>
      <p:sp>
        <p:nvSpPr>
          <p:cNvPr id="62" name="Line 41"/>
          <p:cNvSpPr>
            <a:spLocks noChangeShapeType="1"/>
          </p:cNvSpPr>
          <p:nvPr/>
        </p:nvSpPr>
        <p:spPr bwMode="auto">
          <a:xfrm>
            <a:off x="7250333" y="4027534"/>
            <a:ext cx="73025" cy="576262"/>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3" name="Line 42"/>
          <p:cNvSpPr>
            <a:spLocks noChangeShapeType="1"/>
          </p:cNvSpPr>
          <p:nvPr/>
        </p:nvSpPr>
        <p:spPr bwMode="auto">
          <a:xfrm flipV="1">
            <a:off x="7539258" y="4964159"/>
            <a:ext cx="719138" cy="360362"/>
          </a:xfrm>
          <a:prstGeom prst="line">
            <a:avLst/>
          </a:prstGeom>
          <a:noFill/>
          <a:ln w="2857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64" name="Group 43"/>
          <p:cNvGrpSpPr/>
          <p:nvPr/>
        </p:nvGrpSpPr>
        <p:grpSpPr bwMode="auto">
          <a:xfrm>
            <a:off x="2786283" y="1892346"/>
            <a:ext cx="7991475" cy="574675"/>
            <a:chOff x="537" y="3963"/>
            <a:chExt cx="5034" cy="362"/>
          </a:xfrm>
        </p:grpSpPr>
        <p:sp>
          <p:nvSpPr>
            <p:cNvPr id="65" name="Rectangle 44"/>
            <p:cNvSpPr>
              <a:spLocks noChangeArrowheads="1"/>
            </p:cNvSpPr>
            <p:nvPr/>
          </p:nvSpPr>
          <p:spPr bwMode="auto">
            <a:xfrm>
              <a:off x="703" y="3963"/>
              <a:ext cx="4818" cy="357"/>
            </a:xfrm>
            <a:prstGeom prst="rect">
              <a:avLst/>
            </a:prstGeom>
            <a:gradFill rotWithShape="0">
              <a:gsLst>
                <a:gs pos="0">
                  <a:srgbClr val="33CCFF">
                    <a:alpha val="39998"/>
                  </a:srgbClr>
                </a:gs>
                <a:gs pos="100000">
                  <a:srgbClr val="FFFFFF">
                    <a:alpha val="89998"/>
                  </a:srgbClr>
                </a:gs>
              </a:gsLst>
              <a:lin ang="2700000" scaled="1"/>
            </a:gradFill>
            <a:ln w="9525">
              <a:miter lim="800000"/>
            </a:ln>
            <a:effectLst/>
            <a:scene3d>
              <a:camera prst="legacyObliqueTopRight"/>
              <a:lightRig rig="legacyFlat4" dir="b"/>
            </a:scene3d>
            <a:sp3d extrusionH="100000" prstMaterial="legacyMatte">
              <a:bevelT w="13500" h="13500" prst="angle"/>
              <a:bevelB w="13500" h="13500" prst="angle"/>
              <a:extrusionClr>
                <a:srgbClr val="66CCFF"/>
              </a:extrusionClr>
              <a:contourClr>
                <a:srgbClr val="33CC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u="none">
                  <a:latin typeface="微软雅黑" panose="020B0503020204020204" pitchFamily="34" charset="-122"/>
                  <a:ea typeface="微软雅黑" panose="020B0503020204020204" pitchFamily="34" charset="-122"/>
                </a:rPr>
                <a:t>   </a:t>
              </a:r>
              <a:r>
                <a:rPr lang="zh-CN" altLang="en-US" sz="2400" b="1" u="none">
                  <a:latin typeface="微软雅黑" panose="020B0503020204020204" pitchFamily="34" charset="-122"/>
                  <a:ea typeface="微软雅黑" panose="020B0503020204020204" pitchFamily="34" charset="-122"/>
                </a:rPr>
                <a:t>转换为独立的关系模式   </a:t>
              </a:r>
              <a:endParaRPr lang="zh-CN" altLang="en-US" sz="2400" b="1" u="none">
                <a:latin typeface="微软雅黑" panose="020B0503020204020204" pitchFamily="34" charset="-122"/>
                <a:ea typeface="微软雅黑" panose="020B0503020204020204" pitchFamily="34" charset="-122"/>
              </a:endParaRPr>
            </a:p>
          </p:txBody>
        </p:sp>
        <p:sp>
          <p:nvSpPr>
            <p:cNvPr id="66" name="Line 45"/>
            <p:cNvSpPr>
              <a:spLocks noChangeShapeType="1"/>
            </p:cNvSpPr>
            <p:nvPr/>
          </p:nvSpPr>
          <p:spPr bwMode="auto">
            <a:xfrm>
              <a:off x="537" y="4325"/>
              <a:ext cx="5034" cy="0"/>
            </a:xfrm>
            <a:prstGeom prst="line">
              <a:avLst/>
            </a:prstGeom>
            <a:noFill/>
            <a:ln w="9525">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7" name="AutoShape 46"/>
            <p:cNvSpPr>
              <a:spLocks noChangeArrowheads="1"/>
            </p:cNvSpPr>
            <p:nvPr/>
          </p:nvSpPr>
          <p:spPr bwMode="auto">
            <a:xfrm>
              <a:off x="647" y="4016"/>
              <a:ext cx="1387" cy="304"/>
            </a:xfrm>
            <a:prstGeom prst="bevel">
              <a:avLst>
                <a:gd name="adj" fmla="val 12500"/>
              </a:avLst>
            </a:prstGeom>
            <a:gradFill rotWithShape="1">
              <a:gsLst>
                <a:gs pos="0">
                  <a:srgbClr val="33CCFF"/>
                </a:gs>
                <a:gs pos="100000">
                  <a:srgbClr val="33CCFF">
                    <a:gamma/>
                    <a:shade val="45882"/>
                    <a:invGamma/>
                  </a:srgbClr>
                </a:gs>
              </a:gsLst>
              <a:lin ang="5400000" scaled="1"/>
            </a:gradFill>
            <a:ln>
              <a:noFill/>
            </a:ln>
            <a:effectLst/>
          </p:spPr>
          <p:txBody>
            <a:bodyPr wrap="none" anchor="ct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latinLnBrk="1" hangingPunct="1"/>
              <a:r>
                <a:rPr kumimoji="1" lang="ko-KR" altLang="en-US" sz="2800" u="none">
                  <a:solidFill>
                    <a:srgbClr val="FFFFFF"/>
                  </a:solidFill>
                  <a:effectLst>
                    <a:outerShdw blurRad="38100" dist="38100" dir="2700000" algn="tl">
                      <a:srgbClr val="000000"/>
                    </a:outerShdw>
                  </a:effectLst>
                  <a:latin typeface="微软雅黑" panose="020B0503020204020204" pitchFamily="34" charset="-122"/>
                  <a:ea typeface="隶书" panose="02010509060101010101" pitchFamily="49" charset="-122"/>
                </a:rPr>
                <a:t> </a:t>
              </a:r>
              <a:r>
                <a:rPr kumimoji="1" lang="zh-CN" altLang="en-US" sz="2800" u="none">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举例</a:t>
              </a:r>
              <a:r>
                <a:rPr kumimoji="1" lang="en-US" altLang="zh-CN" sz="2800" u="none">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3</a:t>
              </a:r>
              <a:endParaRPr kumimoji="1" lang="en-US" altLang="ko-KR" sz="2800" u="none">
                <a:solidFill>
                  <a:srgbClr val="FFFFFF"/>
                </a:solidFill>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fill="hold"/>
                                        <p:tgtEl>
                                          <p:spTgt spid="26"/>
                                        </p:tgtEl>
                                        <p:attrNameLst>
                                          <p:attrName>ppt_w</p:attrName>
                                        </p:attrNameLst>
                                      </p:cBhvr>
                                      <p:tavLst>
                                        <p:tav tm="0">
                                          <p:val>
                                            <p:fltVal val="0"/>
                                          </p:val>
                                        </p:tav>
                                        <p:tav tm="100000">
                                          <p:val>
                                            <p:strVal val="#ppt_w"/>
                                          </p:val>
                                        </p:tav>
                                      </p:tavLst>
                                    </p:anim>
                                    <p:anim calcmode="lin" valueType="num">
                                      <p:cBhvr>
                                        <p:cTn id="13" dur="500" fill="hold"/>
                                        <p:tgtEl>
                                          <p:spTgt spid="26"/>
                                        </p:tgtEl>
                                        <p:attrNameLst>
                                          <p:attrName>ppt_h</p:attrName>
                                        </p:attrNameLst>
                                      </p:cBhvr>
                                      <p:tavLst>
                                        <p:tav tm="0">
                                          <p:val>
                                            <p:fltVal val="0"/>
                                          </p:val>
                                        </p:tav>
                                        <p:tav tm="100000">
                                          <p:val>
                                            <p:strVal val="#ppt_h"/>
                                          </p:val>
                                        </p:tav>
                                      </p:tavLst>
                                    </p:anim>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up)">
                                      <p:cBhvr>
                                        <p:cTn id="19" dur="500"/>
                                        <p:tgtEl>
                                          <p:spTgt spid="4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wipe(up)">
                                      <p:cBhvr>
                                        <p:cTn id="24" dur="500"/>
                                        <p:tgtEl>
                                          <p:spTgt spid="5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up)">
                                      <p:cBhvr>
                                        <p:cTn id="29" dur="500"/>
                                        <p:tgtEl>
                                          <p:spTgt spid="5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up)">
                                      <p:cBhvr>
                                        <p:cTn id="34" dur="500"/>
                                        <p:tgtEl>
                                          <p:spTgt spid="57"/>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fltVal val="0"/>
                                          </p:val>
                                        </p:tav>
                                        <p:tav tm="100000">
                                          <p:val>
                                            <p:strVal val="#ppt_h"/>
                                          </p:val>
                                        </p:tav>
                                      </p:tavLst>
                                    </p:anim>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up)">
                                      <p:cBhvr>
                                        <p:cTn id="46" dur="500"/>
                                        <p:tgtEl>
                                          <p:spTgt spid="4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wipe(up)">
                                      <p:cBhvr>
                                        <p:cTn id="51" dur="500"/>
                                        <p:tgtEl>
                                          <p:spTgt spid="3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ipe(up)">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slide(fromTop)">
                                      <p:cBhvr>
                                        <p:cTn id="61" dur="500"/>
                                        <p:tgtEl>
                                          <p:spTgt spid="3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right)">
                                      <p:cBhvr>
                                        <p:cTn id="66"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strips(downLeft)">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10" fill="hold" grpId="0" nodeType="clickEffect">
                                  <p:stCondLst>
                                    <p:cond delay="0"/>
                                  </p:stCondLst>
                                  <p:childTnLst>
                                    <p:set>
                                      <p:cBhvr>
                                        <p:cTn id="75" dur="1" fill="hold">
                                          <p:stCondLst>
                                            <p:cond delay="0"/>
                                          </p:stCondLst>
                                        </p:cTn>
                                        <p:tgtEl>
                                          <p:spTgt spid="60"/>
                                        </p:tgtEl>
                                        <p:attrNameLst>
                                          <p:attrName>style.visibility</p:attrName>
                                        </p:attrNameLst>
                                      </p:cBhvr>
                                      <p:to>
                                        <p:strVal val="visible"/>
                                      </p:to>
                                    </p:set>
                                    <p:anim calcmode="lin" valueType="num">
                                      <p:cBhvr>
                                        <p:cTn id="76" dur="500" fill="hold"/>
                                        <p:tgtEl>
                                          <p:spTgt spid="60"/>
                                        </p:tgtEl>
                                        <p:attrNameLst>
                                          <p:attrName>ppt_w</p:attrName>
                                        </p:attrNameLst>
                                      </p:cBhvr>
                                      <p:tavLst>
                                        <p:tav tm="0">
                                          <p:val>
                                            <p:fltVal val="0"/>
                                          </p:val>
                                        </p:tav>
                                        <p:tav tm="100000">
                                          <p:val>
                                            <p:strVal val="#ppt_w"/>
                                          </p:val>
                                        </p:tav>
                                      </p:tavLst>
                                    </p:anim>
                                    <p:anim calcmode="lin" valueType="num">
                                      <p:cBhvr>
                                        <p:cTn id="77" dur="500" fill="hold"/>
                                        <p:tgtEl>
                                          <p:spTgt spid="60"/>
                                        </p:tgtEl>
                                        <p:attrNameLst>
                                          <p:attrName>ppt_h</p:attrName>
                                        </p:attrNameLst>
                                      </p:cBhvr>
                                      <p:tavLst>
                                        <p:tav tm="0">
                                          <p:val>
                                            <p:strVal val="#ppt_h"/>
                                          </p:val>
                                        </p:tav>
                                        <p:tav tm="100000">
                                          <p:val>
                                            <p:strVal val="#ppt_h"/>
                                          </p:val>
                                        </p:tav>
                                      </p:tavLst>
                                    </p:anim>
                                  </p:childTnLst>
                                </p:cTn>
                              </p:par>
                              <p:par>
                                <p:cTn id="78" presetID="17" presetClass="entr" presetSubtype="1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p:cTn id="80" dur="500" fill="hold"/>
                                        <p:tgtEl>
                                          <p:spTgt spid="25"/>
                                        </p:tgtEl>
                                        <p:attrNameLst>
                                          <p:attrName>ppt_w</p:attrName>
                                        </p:attrNameLst>
                                      </p:cBhvr>
                                      <p:tavLst>
                                        <p:tav tm="0">
                                          <p:val>
                                            <p:fltVal val="0"/>
                                          </p:val>
                                        </p:tav>
                                        <p:tav tm="100000">
                                          <p:val>
                                            <p:strVal val="#ppt_w"/>
                                          </p:val>
                                        </p:tav>
                                      </p:tavLst>
                                    </p:anim>
                                    <p:anim calcmode="lin" valueType="num">
                                      <p:cBhvr>
                                        <p:cTn id="81"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blinds(horizontal)">
                                      <p:cBhvr>
                                        <p:cTn id="86" dur="500"/>
                                        <p:tgtEl>
                                          <p:spTgt spid="6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wipe(up)">
                                      <p:cBhvr>
                                        <p:cTn id="91" dur="500"/>
                                        <p:tgtEl>
                                          <p:spTgt spid="6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63"/>
                                        </p:tgtEl>
                                        <p:attrNameLst>
                                          <p:attrName>style.visibility</p:attrName>
                                        </p:attrNameLst>
                                      </p:cBhvr>
                                      <p:to>
                                        <p:strVal val="visible"/>
                                      </p:to>
                                    </p:set>
                                    <p:animEffect transition="in" filter="wipe(down)">
                                      <p:cBhvr>
                                        <p:cTn id="9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animBg="1"/>
      <p:bldP spid="60" grpId="0"/>
      <p:bldP spid="6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GB" altLang="zh-CN" dirty="0"/>
              <a:t>ER</a:t>
            </a:r>
            <a:r>
              <a:rPr lang="zh-CN" altLang="en-US" dirty="0"/>
              <a:t>模型向关系模型的转换</a:t>
            </a:r>
            <a:endParaRPr lang="en-US" altLang="zh-CN" dirty="0"/>
          </a:p>
          <a:p>
            <a:pPr lvl="1"/>
            <a:r>
              <a:rPr lang="zh-CN" altLang="en-US" dirty="0"/>
              <a:t>三元联系</a:t>
            </a:r>
            <a:endParaRPr lang="en-US" altLang="zh-CN" dirty="0"/>
          </a:p>
          <a:p>
            <a:pPr lvl="2"/>
            <a:r>
              <a:rPr lang="en-US" altLang="zh-CN" sz="2200" dirty="0"/>
              <a:t>1:1:1</a:t>
            </a:r>
            <a:endParaRPr lang="en-US" altLang="zh-CN" sz="2200" dirty="0"/>
          </a:p>
          <a:p>
            <a:pPr lvl="2"/>
            <a:r>
              <a:rPr lang="en-US" altLang="zh-CN" sz="2200" dirty="0"/>
              <a:t>1:1:N</a:t>
            </a:r>
            <a:endParaRPr lang="en-US" altLang="zh-CN" sz="2200" dirty="0"/>
          </a:p>
          <a:p>
            <a:pPr lvl="2"/>
            <a:r>
              <a:rPr lang="en-US" altLang="zh-CN" sz="2200" dirty="0"/>
              <a:t>1:M:N</a:t>
            </a:r>
            <a:endParaRPr lang="en-US" altLang="zh-CN" sz="2200" dirty="0"/>
          </a:p>
          <a:p>
            <a:pPr lvl="2"/>
            <a:r>
              <a:rPr lang="en-US" altLang="zh-CN" sz="2200" dirty="0"/>
              <a:t>M:N:P</a:t>
            </a:r>
            <a:endParaRPr lang="en-US" altLang="zh-CN" sz="2200" dirty="0"/>
          </a:p>
          <a:p>
            <a:pPr lvl="1"/>
            <a:r>
              <a:rPr lang="en-US" altLang="zh-CN" dirty="0"/>
              <a:t>1:1:1</a:t>
            </a:r>
            <a:r>
              <a:rPr lang="zh-CN" altLang="en-US" dirty="0"/>
              <a:t>和</a:t>
            </a:r>
            <a:r>
              <a:rPr lang="en-US" altLang="zh-CN" dirty="0"/>
              <a:t>1:1:N</a:t>
            </a:r>
            <a:r>
              <a:rPr lang="zh-CN" altLang="en-US" dirty="0"/>
              <a:t>可转化为三个或四个关系模式</a:t>
            </a:r>
            <a:endParaRPr lang="en-US" altLang="zh-CN" dirty="0"/>
          </a:p>
          <a:p>
            <a:pPr lvl="1"/>
            <a:r>
              <a:rPr lang="en-US" altLang="zh-CN" dirty="0"/>
              <a:t>1:M:N</a:t>
            </a:r>
            <a:r>
              <a:rPr lang="zh-CN" altLang="en-US" dirty="0"/>
              <a:t>和</a:t>
            </a:r>
            <a:r>
              <a:rPr lang="en-US" altLang="zh-CN" dirty="0"/>
              <a:t>M:N:P</a:t>
            </a:r>
            <a:r>
              <a:rPr lang="zh-CN" altLang="en-US" dirty="0"/>
              <a:t>应转化为四个关系模式</a:t>
            </a:r>
            <a:endParaRPr lang="zh-CN" altLang="en-US" dirty="0"/>
          </a:p>
          <a:p>
            <a:endParaRPr lang="en-US" altLang="zh-CN" dirty="0"/>
          </a:p>
          <a:p>
            <a:pPr lvl="1"/>
            <a:endParaRPr lang="en-US" altLang="zh-CN" sz="2400" b="0" dirty="0"/>
          </a:p>
          <a:p>
            <a:endParaRPr lang="zh-CN" altLang="en-US" sz="2000" b="0" dirty="0"/>
          </a:p>
          <a:p>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ER</a:t>
            </a:r>
            <a:r>
              <a:rPr lang="zh-CN" altLang="en-US" dirty="0"/>
              <a:t>模型向关系模型的转换</a:t>
            </a:r>
            <a:endParaRPr lang="en-US" altLang="zh-CN" dirty="0"/>
          </a:p>
          <a:p>
            <a:pPr marL="457200" lvl="1" indent="0">
              <a:lnSpc>
                <a:spcPct val="150000"/>
              </a:lnSpc>
              <a:buNone/>
            </a:pPr>
            <a:r>
              <a:rPr lang="en-US" altLang="zh-CN" dirty="0"/>
              <a:t>(4)</a:t>
            </a:r>
            <a:r>
              <a:rPr lang="zh-CN" altLang="en-US" dirty="0"/>
              <a:t>如果存在键完全相同的若干个关系模式，则可以考虑将其合并为一个新的关系模式</a:t>
            </a:r>
            <a:endParaRPr lang="en-US" altLang="zh-CN" dirty="0"/>
          </a:p>
          <a:p>
            <a:pPr marL="457200" lvl="1" indent="0">
              <a:lnSpc>
                <a:spcPct val="150000"/>
              </a:lnSpc>
              <a:buNone/>
            </a:pPr>
            <a:r>
              <a:rPr lang="en-US" altLang="zh-CN" dirty="0"/>
              <a:t>(5)</a:t>
            </a:r>
            <a:r>
              <a:rPr lang="zh-CN" altLang="en-US" dirty="0"/>
              <a:t>对于同一类型实体的自联系，可以参照</a:t>
            </a:r>
            <a:r>
              <a:rPr lang="en-US" altLang="zh-CN" dirty="0"/>
              <a:t>(3)</a:t>
            </a:r>
            <a:r>
              <a:rPr lang="zh-CN" altLang="en-US" dirty="0"/>
              <a:t>中给出的不同实体间</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dirty="0"/>
              <a:t>N</a:t>
            </a:r>
            <a:r>
              <a:rPr lang="zh-CN" altLang="en-US" dirty="0"/>
              <a:t>、</a:t>
            </a:r>
            <a:r>
              <a:rPr lang="en-US" altLang="zh-CN" dirty="0"/>
              <a:t>M</a:t>
            </a:r>
            <a:r>
              <a:rPr lang="zh-CN" altLang="en-US" dirty="0"/>
              <a:t>：</a:t>
            </a:r>
            <a:r>
              <a:rPr lang="en-US" altLang="zh-CN" dirty="0"/>
              <a:t>N</a:t>
            </a:r>
            <a:r>
              <a:rPr lang="zh-CN" altLang="en-US" dirty="0"/>
              <a:t>联系的情况进行转换，但应给予不同的命名加以区分</a:t>
            </a:r>
            <a:endParaRPr lang="zh-CN" altLang="en-US"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ER</a:t>
            </a:r>
            <a:r>
              <a:rPr lang="zh-CN" altLang="en-US" dirty="0"/>
              <a:t>模型向关系模型的转换：实例</a:t>
            </a:r>
            <a:endParaRPr lang="en-US" altLang="zh-CN"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3"/>
          <p:cNvGrpSpPr/>
          <p:nvPr/>
        </p:nvGrpSpPr>
        <p:grpSpPr bwMode="auto">
          <a:xfrm>
            <a:off x="1874520" y="3559172"/>
            <a:ext cx="3086100" cy="2117725"/>
            <a:chOff x="3900" y="3864"/>
            <a:chExt cx="3990" cy="2652"/>
          </a:xfrm>
        </p:grpSpPr>
        <p:grpSp>
          <p:nvGrpSpPr>
            <p:cNvPr id="7" name="Group 4"/>
            <p:cNvGrpSpPr/>
            <p:nvPr/>
          </p:nvGrpSpPr>
          <p:grpSpPr bwMode="auto">
            <a:xfrm>
              <a:off x="3900" y="3864"/>
              <a:ext cx="3990" cy="2652"/>
              <a:chOff x="3900" y="8704"/>
              <a:chExt cx="3990" cy="2652"/>
            </a:xfrm>
          </p:grpSpPr>
          <p:sp>
            <p:nvSpPr>
              <p:cNvPr id="21" name="Rectangle 5"/>
              <p:cNvSpPr>
                <a:spLocks noChangeArrowheads="1"/>
              </p:cNvSpPr>
              <p:nvPr/>
            </p:nvSpPr>
            <p:spPr bwMode="auto">
              <a:xfrm>
                <a:off x="5265" y="9640"/>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运动员</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2" name="Oval 6"/>
              <p:cNvSpPr>
                <a:spLocks noChangeArrowheads="1"/>
              </p:cNvSpPr>
              <p:nvPr/>
            </p:nvSpPr>
            <p:spPr bwMode="auto">
              <a:xfrm>
                <a:off x="390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编号</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23" name="Oval 7"/>
              <p:cNvSpPr>
                <a:spLocks noChangeArrowheads="1"/>
              </p:cNvSpPr>
              <p:nvPr/>
            </p:nvSpPr>
            <p:spPr bwMode="auto">
              <a:xfrm>
                <a:off x="495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姓名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4" name="Oval 8"/>
              <p:cNvSpPr>
                <a:spLocks noChangeArrowheads="1"/>
              </p:cNvSpPr>
              <p:nvPr/>
            </p:nvSpPr>
            <p:spPr bwMode="auto">
              <a:xfrm>
                <a:off x="600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性别</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5" name="Oval 9"/>
              <p:cNvSpPr>
                <a:spLocks noChangeArrowheads="1"/>
              </p:cNvSpPr>
              <p:nvPr/>
            </p:nvSpPr>
            <p:spPr bwMode="auto">
              <a:xfrm>
                <a:off x="7050" y="870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名次</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6" name="AutoShape 10"/>
              <p:cNvSpPr>
                <a:spLocks noChangeArrowheads="1"/>
              </p:cNvSpPr>
              <p:nvPr/>
            </p:nvSpPr>
            <p:spPr bwMode="auto">
              <a:xfrm>
                <a:off x="5160" y="10732"/>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顺序</a:t>
                </a:r>
                <a:endParaRPr lang="zh-CN" altLang="en-US" sz="1400" u="none">
                  <a:solidFill>
                    <a:srgbClr val="000000"/>
                  </a:solidFill>
                  <a:latin typeface="微软雅黑" panose="020B0503020204020204" pitchFamily="34" charset="-122"/>
                  <a:ea typeface="微软雅黑" panose="020B0503020204020204" pitchFamily="34" charset="-122"/>
                </a:endParaRPr>
              </a:p>
            </p:txBody>
          </p:sp>
        </p:grpSp>
        <p:grpSp>
          <p:nvGrpSpPr>
            <p:cNvPr id="8" name="Group 11"/>
            <p:cNvGrpSpPr/>
            <p:nvPr/>
          </p:nvGrpSpPr>
          <p:grpSpPr bwMode="auto">
            <a:xfrm>
              <a:off x="4005" y="4332"/>
              <a:ext cx="3675" cy="1872"/>
              <a:chOff x="4005" y="4332"/>
              <a:chExt cx="3675" cy="1872"/>
            </a:xfrm>
          </p:grpSpPr>
          <p:sp>
            <p:nvSpPr>
              <p:cNvPr id="9" name="Line 12"/>
              <p:cNvSpPr>
                <a:spLocks noChangeShapeType="1"/>
              </p:cNvSpPr>
              <p:nvPr/>
            </p:nvSpPr>
            <p:spPr bwMode="auto">
              <a:xfrm>
                <a:off x="4425" y="4332"/>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Line 13"/>
              <p:cNvSpPr>
                <a:spLocks noChangeShapeType="1"/>
              </p:cNvSpPr>
              <p:nvPr/>
            </p:nvSpPr>
            <p:spPr bwMode="auto">
              <a:xfrm>
                <a:off x="5475" y="4332"/>
                <a:ext cx="21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Line 14"/>
              <p:cNvSpPr>
                <a:spLocks noChangeShapeType="1"/>
              </p:cNvSpPr>
              <p:nvPr/>
            </p:nvSpPr>
            <p:spPr bwMode="auto">
              <a:xfrm flipH="1">
                <a:off x="5895" y="4332"/>
                <a:ext cx="42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Line 15"/>
              <p:cNvSpPr>
                <a:spLocks noChangeShapeType="1"/>
              </p:cNvSpPr>
              <p:nvPr/>
            </p:nvSpPr>
            <p:spPr bwMode="auto">
              <a:xfrm flipH="1">
                <a:off x="6105" y="4332"/>
                <a:ext cx="126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Line 16"/>
              <p:cNvSpPr>
                <a:spLocks noChangeShapeType="1"/>
              </p:cNvSpPr>
              <p:nvPr/>
            </p:nvSpPr>
            <p:spPr bwMode="auto">
              <a:xfrm>
                <a:off x="4635" y="5112"/>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Line 17"/>
              <p:cNvSpPr>
                <a:spLocks noChangeShapeType="1"/>
              </p:cNvSpPr>
              <p:nvPr/>
            </p:nvSpPr>
            <p:spPr bwMode="auto">
              <a:xfrm>
                <a:off x="4635" y="51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Line 18"/>
              <p:cNvSpPr>
                <a:spLocks noChangeShapeType="1"/>
              </p:cNvSpPr>
              <p:nvPr/>
            </p:nvSpPr>
            <p:spPr bwMode="auto">
              <a:xfrm>
                <a:off x="4635" y="6204"/>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Line 19"/>
              <p:cNvSpPr>
                <a:spLocks noChangeShapeType="1"/>
              </p:cNvSpPr>
              <p:nvPr/>
            </p:nvSpPr>
            <p:spPr bwMode="auto">
              <a:xfrm>
                <a:off x="6315" y="5112"/>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Line 20"/>
              <p:cNvSpPr>
                <a:spLocks noChangeShapeType="1"/>
              </p:cNvSpPr>
              <p:nvPr/>
            </p:nvSpPr>
            <p:spPr bwMode="auto">
              <a:xfrm>
                <a:off x="7050" y="51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Line 21"/>
              <p:cNvSpPr>
                <a:spLocks noChangeShapeType="1"/>
              </p:cNvSpPr>
              <p:nvPr/>
            </p:nvSpPr>
            <p:spPr bwMode="auto">
              <a:xfrm flipH="1">
                <a:off x="6420" y="6204"/>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Rectangle 22"/>
              <p:cNvSpPr>
                <a:spLocks noChangeArrowheads="1"/>
              </p:cNvSpPr>
              <p:nvPr/>
            </p:nvSpPr>
            <p:spPr bwMode="auto">
              <a:xfrm>
                <a:off x="4005" y="52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1</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20" name="Rectangle 23"/>
              <p:cNvSpPr>
                <a:spLocks noChangeArrowheads="1"/>
              </p:cNvSpPr>
              <p:nvPr/>
            </p:nvSpPr>
            <p:spPr bwMode="auto">
              <a:xfrm>
                <a:off x="7155" y="52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1</a:t>
                </a:r>
                <a:endParaRPr lang="en-US" altLang="zh-CN" sz="1000" u="none">
                  <a:solidFill>
                    <a:srgbClr val="000000"/>
                  </a:solidFill>
                  <a:latin typeface="微软雅黑" panose="020B0503020204020204" pitchFamily="34" charset="-122"/>
                  <a:ea typeface="微软雅黑" panose="020B0503020204020204" pitchFamily="34" charset="-122"/>
                </a:endParaRPr>
              </a:p>
            </p:txBody>
          </p:sp>
        </p:grpSp>
      </p:grpSp>
      <p:grpSp>
        <p:nvGrpSpPr>
          <p:cNvPr id="27" name="Group 24"/>
          <p:cNvGrpSpPr/>
          <p:nvPr/>
        </p:nvGrpSpPr>
        <p:grpSpPr bwMode="auto">
          <a:xfrm>
            <a:off x="6598920" y="3330572"/>
            <a:ext cx="3028950" cy="2308225"/>
            <a:chOff x="3900" y="12664"/>
            <a:chExt cx="3990" cy="2652"/>
          </a:xfrm>
        </p:grpSpPr>
        <p:grpSp>
          <p:nvGrpSpPr>
            <p:cNvPr id="28" name="Group 25"/>
            <p:cNvGrpSpPr/>
            <p:nvPr/>
          </p:nvGrpSpPr>
          <p:grpSpPr bwMode="auto">
            <a:xfrm>
              <a:off x="3900" y="12664"/>
              <a:ext cx="3990" cy="2652"/>
              <a:chOff x="3900" y="12664"/>
              <a:chExt cx="3990" cy="2652"/>
            </a:xfrm>
          </p:grpSpPr>
          <p:sp>
            <p:nvSpPr>
              <p:cNvPr id="41" name="Rectangle 26"/>
              <p:cNvSpPr>
                <a:spLocks noChangeArrowheads="1"/>
              </p:cNvSpPr>
              <p:nvPr/>
            </p:nvSpPr>
            <p:spPr bwMode="auto">
              <a:xfrm>
                <a:off x="5265" y="13600"/>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职工</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42" name="Oval 27"/>
              <p:cNvSpPr>
                <a:spLocks noChangeArrowheads="1"/>
              </p:cNvSpPr>
              <p:nvPr/>
            </p:nvSpPr>
            <p:spPr bwMode="auto">
              <a:xfrm>
                <a:off x="390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工号</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43" name="Oval 28"/>
              <p:cNvSpPr>
                <a:spLocks noChangeArrowheads="1"/>
              </p:cNvSpPr>
              <p:nvPr/>
            </p:nvSpPr>
            <p:spPr bwMode="auto">
              <a:xfrm>
                <a:off x="495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姓名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44" name="Oval 29"/>
              <p:cNvSpPr>
                <a:spLocks noChangeArrowheads="1"/>
              </p:cNvSpPr>
              <p:nvPr/>
            </p:nvSpPr>
            <p:spPr bwMode="auto">
              <a:xfrm>
                <a:off x="600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年龄</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45" name="Oval 30"/>
              <p:cNvSpPr>
                <a:spLocks noChangeArrowheads="1"/>
              </p:cNvSpPr>
              <p:nvPr/>
            </p:nvSpPr>
            <p:spPr bwMode="auto">
              <a:xfrm>
                <a:off x="7050" y="12664"/>
                <a:ext cx="840"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性别</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46" name="AutoShape 31"/>
              <p:cNvSpPr>
                <a:spLocks noChangeArrowheads="1"/>
              </p:cNvSpPr>
              <p:nvPr/>
            </p:nvSpPr>
            <p:spPr bwMode="auto">
              <a:xfrm>
                <a:off x="5160" y="14692"/>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领导</a:t>
                </a:r>
                <a:endParaRPr lang="zh-CN" altLang="en-US" sz="1400" u="none">
                  <a:solidFill>
                    <a:srgbClr val="000000"/>
                  </a:solidFill>
                  <a:latin typeface="微软雅黑" panose="020B0503020204020204" pitchFamily="34" charset="-122"/>
                  <a:ea typeface="微软雅黑" panose="020B0503020204020204" pitchFamily="34" charset="-122"/>
                </a:endParaRPr>
              </a:p>
            </p:txBody>
          </p:sp>
        </p:grpSp>
        <p:sp>
          <p:nvSpPr>
            <p:cNvPr id="29" name="Line 32"/>
            <p:cNvSpPr>
              <a:spLocks noChangeShapeType="1"/>
            </p:cNvSpPr>
            <p:nvPr/>
          </p:nvSpPr>
          <p:spPr bwMode="auto">
            <a:xfrm>
              <a:off x="4425" y="13132"/>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Line 33"/>
            <p:cNvSpPr>
              <a:spLocks noChangeShapeType="1"/>
            </p:cNvSpPr>
            <p:nvPr/>
          </p:nvSpPr>
          <p:spPr bwMode="auto">
            <a:xfrm>
              <a:off x="5475" y="13132"/>
              <a:ext cx="21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Line 34"/>
            <p:cNvSpPr>
              <a:spLocks noChangeShapeType="1"/>
            </p:cNvSpPr>
            <p:nvPr/>
          </p:nvSpPr>
          <p:spPr bwMode="auto">
            <a:xfrm flipH="1">
              <a:off x="5895" y="13132"/>
              <a:ext cx="42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Line 35"/>
            <p:cNvSpPr>
              <a:spLocks noChangeShapeType="1"/>
            </p:cNvSpPr>
            <p:nvPr/>
          </p:nvSpPr>
          <p:spPr bwMode="auto">
            <a:xfrm flipH="1">
              <a:off x="6105" y="13132"/>
              <a:ext cx="126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Line 36"/>
            <p:cNvSpPr>
              <a:spLocks noChangeShapeType="1"/>
            </p:cNvSpPr>
            <p:nvPr/>
          </p:nvSpPr>
          <p:spPr bwMode="auto">
            <a:xfrm>
              <a:off x="4635" y="13912"/>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Line 37"/>
            <p:cNvSpPr>
              <a:spLocks noChangeShapeType="1"/>
            </p:cNvSpPr>
            <p:nvPr/>
          </p:nvSpPr>
          <p:spPr bwMode="auto">
            <a:xfrm>
              <a:off x="4635" y="139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Line 38"/>
            <p:cNvSpPr>
              <a:spLocks noChangeShapeType="1"/>
            </p:cNvSpPr>
            <p:nvPr/>
          </p:nvSpPr>
          <p:spPr bwMode="auto">
            <a:xfrm>
              <a:off x="4635" y="15004"/>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Line 39"/>
            <p:cNvSpPr>
              <a:spLocks noChangeShapeType="1"/>
            </p:cNvSpPr>
            <p:nvPr/>
          </p:nvSpPr>
          <p:spPr bwMode="auto">
            <a:xfrm>
              <a:off x="6315" y="13912"/>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Line 40"/>
            <p:cNvSpPr>
              <a:spLocks noChangeShapeType="1"/>
            </p:cNvSpPr>
            <p:nvPr/>
          </p:nvSpPr>
          <p:spPr bwMode="auto">
            <a:xfrm>
              <a:off x="7050" y="13912"/>
              <a:ext cx="0" cy="10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Line 41"/>
            <p:cNvSpPr>
              <a:spLocks noChangeShapeType="1"/>
            </p:cNvSpPr>
            <p:nvPr/>
          </p:nvSpPr>
          <p:spPr bwMode="auto">
            <a:xfrm flipH="1">
              <a:off x="6420" y="15004"/>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Rectangle 42"/>
            <p:cNvSpPr>
              <a:spLocks noChangeArrowheads="1"/>
            </p:cNvSpPr>
            <p:nvPr/>
          </p:nvSpPr>
          <p:spPr bwMode="auto">
            <a:xfrm>
              <a:off x="4005" y="140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1</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40" name="Rectangle 43"/>
            <p:cNvSpPr>
              <a:spLocks noChangeArrowheads="1"/>
            </p:cNvSpPr>
            <p:nvPr/>
          </p:nvSpPr>
          <p:spPr bwMode="auto">
            <a:xfrm>
              <a:off x="7155" y="14068"/>
              <a:ext cx="525" cy="46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N</a:t>
              </a:r>
              <a:endParaRPr lang="en-US" altLang="zh-CN" sz="1000" u="none">
                <a:solidFill>
                  <a:srgbClr val="000000"/>
                </a:solidFill>
                <a:latin typeface="微软雅黑" panose="020B0503020204020204" pitchFamily="34" charset="-122"/>
                <a:ea typeface="微软雅黑" panose="020B0503020204020204" pitchFamily="34" charset="-122"/>
              </a:endParaRPr>
            </a:p>
          </p:txBody>
        </p:sp>
      </p:grpSp>
      <p:sp>
        <p:nvSpPr>
          <p:cNvPr id="47" name="Text Box 44"/>
          <p:cNvSpPr txBox="1">
            <a:spLocks noChangeArrowheads="1"/>
          </p:cNvSpPr>
          <p:nvPr/>
        </p:nvSpPr>
        <p:spPr bwMode="auto">
          <a:xfrm>
            <a:off x="2026920" y="2111372"/>
            <a:ext cx="33988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600" b="1" u="none">
                <a:solidFill>
                  <a:srgbClr val="FF33CC"/>
                </a:solidFill>
                <a:latin typeface="微软雅黑" panose="020B0503020204020204" pitchFamily="34" charset="-122"/>
                <a:ea typeface="微软雅黑" panose="020B0503020204020204" pitchFamily="34" charset="-122"/>
              </a:rPr>
              <a:t>运动员</a:t>
            </a:r>
            <a:r>
              <a:rPr kumimoji="1" lang="zh-CN" altLang="en-US" sz="1600" b="1" u="none">
                <a:latin typeface="微软雅黑" panose="020B0503020204020204" pitchFamily="34" charset="-122"/>
                <a:ea typeface="微软雅黑" panose="020B0503020204020204" pitchFamily="34" charset="-122"/>
              </a:rPr>
              <a:t>（</a:t>
            </a:r>
            <a:r>
              <a:rPr kumimoji="1" lang="zh-CN" altLang="en-US" sz="1600" b="1">
                <a:latin typeface="微软雅黑" panose="020B0503020204020204" pitchFamily="34" charset="-122"/>
                <a:ea typeface="微软雅黑" panose="020B0503020204020204" pitchFamily="34" charset="-122"/>
              </a:rPr>
              <a:t>编号</a:t>
            </a:r>
            <a:r>
              <a:rPr kumimoji="1" lang="zh-CN" altLang="en-US" sz="1600" b="1" u="none">
                <a:latin typeface="微软雅黑" panose="020B0503020204020204" pitchFamily="34" charset="-122"/>
                <a:ea typeface="微软雅黑" panose="020B0503020204020204" pitchFamily="34" charset="-122"/>
              </a:rPr>
              <a:t>，姓名，性别，名次，</a:t>
            </a:r>
            <a:r>
              <a:rPr kumimoji="1" lang="zh-CN" altLang="en-US" sz="1600" b="1">
                <a:solidFill>
                  <a:srgbClr val="FF9933"/>
                </a:solidFill>
                <a:latin typeface="微软雅黑" panose="020B0503020204020204" pitchFamily="34" charset="-122"/>
                <a:ea typeface="微软雅黑" panose="020B0503020204020204" pitchFamily="34" charset="-122"/>
              </a:rPr>
              <a:t>上一名次编号</a:t>
            </a:r>
            <a:r>
              <a:rPr kumimoji="1" lang="zh-CN" altLang="en-US" sz="1600" b="1" u="none">
                <a:latin typeface="微软雅黑" panose="020B0503020204020204" pitchFamily="34" charset="-122"/>
                <a:ea typeface="微软雅黑" panose="020B0503020204020204" pitchFamily="34" charset="-122"/>
              </a:rPr>
              <a:t>）</a:t>
            </a:r>
            <a:r>
              <a:rPr kumimoji="1" lang="zh-CN" altLang="en-US" sz="2400" b="1" u="none">
                <a:latin typeface="微软雅黑" panose="020B0503020204020204" pitchFamily="34" charset="-122"/>
                <a:ea typeface="微软雅黑" panose="020B0503020204020204" pitchFamily="34" charset="-122"/>
              </a:rPr>
              <a:t> </a:t>
            </a:r>
            <a:endParaRPr kumimoji="1" lang="zh-CN" altLang="en-US" sz="2400" b="1" u="none">
              <a:latin typeface="微软雅黑" panose="020B0503020204020204" pitchFamily="34" charset="-122"/>
              <a:ea typeface="微软雅黑" panose="020B0503020204020204" pitchFamily="34" charset="-122"/>
            </a:endParaRPr>
          </a:p>
        </p:txBody>
      </p:sp>
      <p:sp>
        <p:nvSpPr>
          <p:cNvPr id="48" name="Text Box 45"/>
          <p:cNvSpPr txBox="1">
            <a:spLocks noChangeArrowheads="1"/>
          </p:cNvSpPr>
          <p:nvPr/>
        </p:nvSpPr>
        <p:spPr bwMode="auto">
          <a:xfrm>
            <a:off x="5930583" y="2035172"/>
            <a:ext cx="440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600" b="1" u="none">
                <a:solidFill>
                  <a:srgbClr val="FF33CC"/>
                </a:solidFill>
                <a:latin typeface="微软雅黑" panose="020B0503020204020204" pitchFamily="34" charset="-122"/>
                <a:ea typeface="微软雅黑" panose="020B0503020204020204" pitchFamily="34" charset="-122"/>
              </a:rPr>
              <a:t>职工</a:t>
            </a:r>
            <a:r>
              <a:rPr kumimoji="1" lang="zh-CN" altLang="en-US" sz="1600" b="1" u="none">
                <a:latin typeface="微软雅黑" panose="020B0503020204020204" pitchFamily="34" charset="-122"/>
                <a:ea typeface="微软雅黑" panose="020B0503020204020204" pitchFamily="34" charset="-122"/>
              </a:rPr>
              <a:t>（</a:t>
            </a:r>
            <a:r>
              <a:rPr kumimoji="1" lang="zh-CN" altLang="en-US" sz="1600" b="1">
                <a:latin typeface="微软雅黑" panose="020B0503020204020204" pitchFamily="34" charset="-122"/>
                <a:ea typeface="微软雅黑" panose="020B0503020204020204" pitchFamily="34" charset="-122"/>
              </a:rPr>
              <a:t>工号</a:t>
            </a:r>
            <a:r>
              <a:rPr kumimoji="1" lang="zh-CN" altLang="en-US" sz="1600" b="1" u="none">
                <a:latin typeface="微软雅黑" panose="020B0503020204020204" pitchFamily="34" charset="-122"/>
                <a:ea typeface="微软雅黑" panose="020B0503020204020204" pitchFamily="34" charset="-122"/>
              </a:rPr>
              <a:t>，姓名，年龄，性别，</a:t>
            </a:r>
            <a:r>
              <a:rPr kumimoji="1" lang="zh-CN" altLang="en-US" sz="1600" b="1">
                <a:solidFill>
                  <a:srgbClr val="FF9933"/>
                </a:solidFill>
                <a:latin typeface="微软雅黑" panose="020B0503020204020204" pitchFamily="34" charset="-122"/>
                <a:ea typeface="微软雅黑" panose="020B0503020204020204" pitchFamily="34" charset="-122"/>
              </a:rPr>
              <a:t>经理工号</a:t>
            </a:r>
            <a:r>
              <a:rPr kumimoji="1" lang="zh-CN" altLang="en-US" sz="1600" b="1" u="none">
                <a:latin typeface="微软雅黑" panose="020B0503020204020204" pitchFamily="34" charset="-122"/>
                <a:ea typeface="微软雅黑" panose="020B0503020204020204" pitchFamily="34" charset="-122"/>
              </a:rPr>
              <a:t>）</a:t>
            </a:r>
            <a:r>
              <a:rPr kumimoji="1" lang="zh-CN" altLang="en-US" sz="2400" u="none">
                <a:latin typeface="微软雅黑" panose="020B0503020204020204" pitchFamily="34" charset="-122"/>
                <a:ea typeface="微软雅黑" panose="020B0503020204020204" pitchFamily="34" charset="-122"/>
              </a:rPr>
              <a:t> </a:t>
            </a:r>
            <a:endParaRPr kumimoji="1" lang="zh-CN" altLang="en-US" sz="2400" u="none">
              <a:latin typeface="微软雅黑" panose="020B0503020204020204" pitchFamily="34" charset="-122"/>
              <a:ea typeface="微软雅黑" panose="020B0503020204020204" pitchFamily="34" charset="-122"/>
            </a:endParaRPr>
          </a:p>
        </p:txBody>
      </p:sp>
      <p:sp>
        <p:nvSpPr>
          <p:cNvPr id="49" name="Line 46"/>
          <p:cNvSpPr>
            <a:spLocks noChangeShapeType="1"/>
          </p:cNvSpPr>
          <p:nvPr/>
        </p:nvSpPr>
        <p:spPr bwMode="auto">
          <a:xfrm flipH="1">
            <a:off x="2255520" y="2416172"/>
            <a:ext cx="762000" cy="1143000"/>
          </a:xfrm>
          <a:prstGeom prst="line">
            <a:avLst/>
          </a:prstGeom>
          <a:noFill/>
          <a:ln w="9525"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0" name="Line 47"/>
          <p:cNvSpPr>
            <a:spLocks noChangeShapeType="1"/>
          </p:cNvSpPr>
          <p:nvPr/>
        </p:nvSpPr>
        <p:spPr bwMode="auto">
          <a:xfrm flipH="1">
            <a:off x="3017520" y="2416172"/>
            <a:ext cx="685800" cy="1143000"/>
          </a:xfrm>
          <a:prstGeom prst="line">
            <a:avLst/>
          </a:prstGeom>
          <a:noFill/>
          <a:ln w="12700"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1" name="Line 48"/>
          <p:cNvSpPr>
            <a:spLocks noChangeShapeType="1"/>
          </p:cNvSpPr>
          <p:nvPr/>
        </p:nvSpPr>
        <p:spPr bwMode="auto">
          <a:xfrm flipH="1">
            <a:off x="3931920" y="2416172"/>
            <a:ext cx="304800" cy="1143000"/>
          </a:xfrm>
          <a:prstGeom prst="line">
            <a:avLst/>
          </a:prstGeom>
          <a:noFill/>
          <a:ln w="12700"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2" name="Line 49"/>
          <p:cNvSpPr>
            <a:spLocks noChangeShapeType="1"/>
          </p:cNvSpPr>
          <p:nvPr/>
        </p:nvSpPr>
        <p:spPr bwMode="auto">
          <a:xfrm flipH="1">
            <a:off x="4693920" y="2416172"/>
            <a:ext cx="152400" cy="1143000"/>
          </a:xfrm>
          <a:prstGeom prst="line">
            <a:avLst/>
          </a:prstGeom>
          <a:noFill/>
          <a:ln w="12700"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3" name="Line 50"/>
          <p:cNvSpPr>
            <a:spLocks noChangeShapeType="1"/>
          </p:cNvSpPr>
          <p:nvPr/>
        </p:nvSpPr>
        <p:spPr bwMode="auto">
          <a:xfrm>
            <a:off x="8808720" y="2416172"/>
            <a:ext cx="457200" cy="914400"/>
          </a:xfrm>
          <a:prstGeom prst="line">
            <a:avLst/>
          </a:prstGeom>
          <a:noFill/>
          <a:ln w="9525"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4" name="Line 51"/>
          <p:cNvSpPr>
            <a:spLocks noChangeShapeType="1"/>
          </p:cNvSpPr>
          <p:nvPr/>
        </p:nvSpPr>
        <p:spPr bwMode="auto">
          <a:xfrm>
            <a:off x="8275320" y="2416172"/>
            <a:ext cx="152400" cy="914400"/>
          </a:xfrm>
          <a:prstGeom prst="line">
            <a:avLst/>
          </a:prstGeom>
          <a:noFill/>
          <a:ln w="9525"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5" name="Line 52"/>
          <p:cNvSpPr>
            <a:spLocks noChangeShapeType="1"/>
          </p:cNvSpPr>
          <p:nvPr/>
        </p:nvSpPr>
        <p:spPr bwMode="auto">
          <a:xfrm>
            <a:off x="7589520" y="2416172"/>
            <a:ext cx="76200" cy="838200"/>
          </a:xfrm>
          <a:prstGeom prst="line">
            <a:avLst/>
          </a:prstGeom>
          <a:noFill/>
          <a:ln w="9525"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6" name="Line 53"/>
          <p:cNvSpPr>
            <a:spLocks noChangeShapeType="1"/>
          </p:cNvSpPr>
          <p:nvPr/>
        </p:nvSpPr>
        <p:spPr bwMode="auto">
          <a:xfrm flipH="1">
            <a:off x="6827520" y="2416172"/>
            <a:ext cx="76200" cy="914400"/>
          </a:xfrm>
          <a:prstGeom prst="line">
            <a:avLst/>
          </a:prstGeom>
          <a:noFill/>
          <a:ln w="9525" cap="rnd">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7" name="Oval 54"/>
          <p:cNvSpPr>
            <a:spLocks noChangeArrowheads="1"/>
          </p:cNvSpPr>
          <p:nvPr/>
        </p:nvSpPr>
        <p:spPr bwMode="auto">
          <a:xfrm>
            <a:off x="4465320" y="4549772"/>
            <a:ext cx="228600" cy="4572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58" name="Oval 55"/>
          <p:cNvSpPr>
            <a:spLocks noChangeArrowheads="1"/>
          </p:cNvSpPr>
          <p:nvPr/>
        </p:nvSpPr>
        <p:spPr bwMode="auto">
          <a:xfrm>
            <a:off x="9113520" y="4473572"/>
            <a:ext cx="381000" cy="4572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59" name="Oval 56"/>
          <p:cNvSpPr>
            <a:spLocks noChangeArrowheads="1"/>
          </p:cNvSpPr>
          <p:nvPr/>
        </p:nvSpPr>
        <p:spPr bwMode="auto">
          <a:xfrm>
            <a:off x="6751320" y="4473572"/>
            <a:ext cx="228600" cy="4572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60" name="Oval 57"/>
          <p:cNvSpPr>
            <a:spLocks noChangeArrowheads="1"/>
          </p:cNvSpPr>
          <p:nvPr/>
        </p:nvSpPr>
        <p:spPr bwMode="auto">
          <a:xfrm>
            <a:off x="2026920" y="4625972"/>
            <a:ext cx="228600" cy="4572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ER</a:t>
            </a:r>
            <a:r>
              <a:rPr lang="zh-CN" altLang="en-US" dirty="0"/>
              <a:t>模型向关系模型的转换：实例</a:t>
            </a:r>
            <a:endParaRPr lang="en-US" altLang="zh-CN"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3"/>
          <p:cNvGrpSpPr/>
          <p:nvPr/>
        </p:nvGrpSpPr>
        <p:grpSpPr bwMode="auto">
          <a:xfrm>
            <a:off x="1828800" y="3810000"/>
            <a:ext cx="3657600" cy="2717800"/>
            <a:chOff x="4005" y="7815"/>
            <a:chExt cx="3675" cy="3360"/>
          </a:xfrm>
        </p:grpSpPr>
        <p:grpSp>
          <p:nvGrpSpPr>
            <p:cNvPr id="7" name="Group 4"/>
            <p:cNvGrpSpPr/>
            <p:nvPr/>
          </p:nvGrpSpPr>
          <p:grpSpPr bwMode="auto">
            <a:xfrm>
              <a:off x="4215" y="7815"/>
              <a:ext cx="3465" cy="3360"/>
              <a:chOff x="4215" y="7812"/>
              <a:chExt cx="3465" cy="3360"/>
            </a:xfrm>
          </p:grpSpPr>
          <p:sp>
            <p:nvSpPr>
              <p:cNvPr id="21" name="Rectangle 5"/>
              <p:cNvSpPr>
                <a:spLocks noChangeArrowheads="1"/>
              </p:cNvSpPr>
              <p:nvPr/>
            </p:nvSpPr>
            <p:spPr bwMode="auto">
              <a:xfrm>
                <a:off x="5265" y="8748"/>
                <a:ext cx="1050" cy="468"/>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零件</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2" name="Oval 6"/>
              <p:cNvSpPr>
                <a:spLocks noChangeArrowheads="1"/>
              </p:cNvSpPr>
              <p:nvPr/>
            </p:nvSpPr>
            <p:spPr bwMode="auto">
              <a:xfrm>
                <a:off x="4425" y="7815"/>
                <a:ext cx="840" cy="468"/>
              </a:xfrm>
              <a:prstGeom prst="ellipse">
                <a:avLst/>
              </a:prstGeom>
              <a:solidFill>
                <a:schemeClr val="bg1"/>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零件号</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23" name="Oval 7"/>
              <p:cNvSpPr>
                <a:spLocks noChangeArrowheads="1"/>
              </p:cNvSpPr>
              <p:nvPr/>
            </p:nvSpPr>
            <p:spPr bwMode="auto">
              <a:xfrm>
                <a:off x="5685" y="7815"/>
                <a:ext cx="840" cy="468"/>
              </a:xfrm>
              <a:prstGeom prst="ellipse">
                <a:avLst/>
              </a:prstGeom>
              <a:solidFill>
                <a:schemeClr val="bg1"/>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零件名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4" name="Oval 8"/>
              <p:cNvSpPr>
                <a:spLocks noChangeArrowheads="1"/>
              </p:cNvSpPr>
              <p:nvPr/>
            </p:nvSpPr>
            <p:spPr bwMode="auto">
              <a:xfrm>
                <a:off x="6840" y="7812"/>
                <a:ext cx="840" cy="468"/>
              </a:xfrm>
              <a:prstGeom prst="ellipse">
                <a:avLst/>
              </a:prstGeom>
              <a:solidFill>
                <a:schemeClr val="bg1"/>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规</a:t>
                </a:r>
                <a:r>
                  <a:rPr lang="zh-CN" altLang="en-US" sz="1400" u="none">
                    <a:solidFill>
                      <a:srgbClr val="000000"/>
                    </a:solidFill>
                    <a:latin typeface="微软雅黑" panose="020B0503020204020204" pitchFamily="34" charset="-122"/>
                    <a:ea typeface="微软雅黑" panose="020B0503020204020204" pitchFamily="34" charset="-122"/>
                  </a:rPr>
                  <a:t>格</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5" name="Oval 9"/>
              <p:cNvSpPr>
                <a:spLocks noChangeArrowheads="1"/>
              </p:cNvSpPr>
              <p:nvPr/>
            </p:nvSpPr>
            <p:spPr bwMode="auto">
              <a:xfrm>
                <a:off x="4215" y="10704"/>
                <a:ext cx="945" cy="468"/>
              </a:xfrm>
              <a:prstGeom prst="ellipse">
                <a:avLst/>
              </a:prstGeom>
              <a:solidFill>
                <a:schemeClr val="bg1"/>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数量</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26" name="AutoShape 10"/>
              <p:cNvSpPr>
                <a:spLocks noChangeArrowheads="1"/>
              </p:cNvSpPr>
              <p:nvPr/>
            </p:nvSpPr>
            <p:spPr bwMode="auto">
              <a:xfrm>
                <a:off x="5160" y="9924"/>
                <a:ext cx="1260" cy="624"/>
              </a:xfrm>
              <a:prstGeom prst="diamond">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组成</a:t>
                </a:r>
                <a:endParaRPr lang="zh-CN" altLang="en-US" sz="1400" u="none">
                  <a:solidFill>
                    <a:srgbClr val="000000"/>
                  </a:solidFill>
                  <a:latin typeface="微软雅黑" panose="020B0503020204020204" pitchFamily="34" charset="-122"/>
                  <a:ea typeface="微软雅黑" panose="020B0503020204020204" pitchFamily="34" charset="-122"/>
                </a:endParaRPr>
              </a:p>
            </p:txBody>
          </p:sp>
        </p:grpSp>
        <p:grpSp>
          <p:nvGrpSpPr>
            <p:cNvPr id="8" name="Group 11"/>
            <p:cNvGrpSpPr/>
            <p:nvPr/>
          </p:nvGrpSpPr>
          <p:grpSpPr bwMode="auto">
            <a:xfrm>
              <a:off x="4005" y="8280"/>
              <a:ext cx="3675" cy="2424"/>
              <a:chOff x="4005" y="8280"/>
              <a:chExt cx="3675" cy="2424"/>
            </a:xfrm>
          </p:grpSpPr>
          <p:sp>
            <p:nvSpPr>
              <p:cNvPr id="9" name="Line 12"/>
              <p:cNvSpPr>
                <a:spLocks noChangeShapeType="1"/>
              </p:cNvSpPr>
              <p:nvPr/>
            </p:nvSpPr>
            <p:spPr bwMode="auto">
              <a:xfrm flipH="1">
                <a:off x="4635" y="10392"/>
                <a:ext cx="840" cy="31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Line 13"/>
              <p:cNvSpPr>
                <a:spLocks noChangeShapeType="1"/>
              </p:cNvSpPr>
              <p:nvPr/>
            </p:nvSpPr>
            <p:spPr bwMode="auto">
              <a:xfrm>
                <a:off x="4635" y="9060"/>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Line 14"/>
              <p:cNvSpPr>
                <a:spLocks noChangeShapeType="1"/>
              </p:cNvSpPr>
              <p:nvPr/>
            </p:nvSpPr>
            <p:spPr bwMode="auto">
              <a:xfrm>
                <a:off x="4635" y="9060"/>
                <a:ext cx="0" cy="117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Line 15"/>
              <p:cNvSpPr>
                <a:spLocks noChangeShapeType="1"/>
              </p:cNvSpPr>
              <p:nvPr/>
            </p:nvSpPr>
            <p:spPr bwMode="auto">
              <a:xfrm>
                <a:off x="4635" y="10236"/>
                <a:ext cx="5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 name="Line 16"/>
              <p:cNvSpPr>
                <a:spLocks noChangeShapeType="1"/>
              </p:cNvSpPr>
              <p:nvPr/>
            </p:nvSpPr>
            <p:spPr bwMode="auto">
              <a:xfrm>
                <a:off x="6315" y="9060"/>
                <a:ext cx="73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Line 17"/>
              <p:cNvSpPr>
                <a:spLocks noChangeShapeType="1"/>
              </p:cNvSpPr>
              <p:nvPr/>
            </p:nvSpPr>
            <p:spPr bwMode="auto">
              <a:xfrm>
                <a:off x="7050" y="9060"/>
                <a:ext cx="0" cy="117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Line 18"/>
              <p:cNvSpPr>
                <a:spLocks noChangeShapeType="1"/>
              </p:cNvSpPr>
              <p:nvPr/>
            </p:nvSpPr>
            <p:spPr bwMode="auto">
              <a:xfrm flipH="1">
                <a:off x="6420" y="10236"/>
                <a:ext cx="6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Rectangle 19"/>
              <p:cNvSpPr>
                <a:spLocks noChangeArrowheads="1"/>
              </p:cNvSpPr>
              <p:nvPr/>
            </p:nvSpPr>
            <p:spPr bwMode="auto">
              <a:xfrm>
                <a:off x="4005" y="9300"/>
                <a:ext cx="525" cy="46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M</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17" name="Rectangle 20"/>
              <p:cNvSpPr>
                <a:spLocks noChangeArrowheads="1"/>
              </p:cNvSpPr>
              <p:nvPr/>
            </p:nvSpPr>
            <p:spPr bwMode="auto">
              <a:xfrm>
                <a:off x="7155" y="9300"/>
                <a:ext cx="525" cy="46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N</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18" name="Line 21"/>
              <p:cNvSpPr>
                <a:spLocks noChangeShapeType="1"/>
              </p:cNvSpPr>
              <p:nvPr/>
            </p:nvSpPr>
            <p:spPr bwMode="auto">
              <a:xfrm>
                <a:off x="4950" y="8280"/>
                <a:ext cx="525"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Line 22"/>
              <p:cNvSpPr>
                <a:spLocks noChangeShapeType="1"/>
              </p:cNvSpPr>
              <p:nvPr/>
            </p:nvSpPr>
            <p:spPr bwMode="auto">
              <a:xfrm flipH="1">
                <a:off x="5790" y="8280"/>
                <a:ext cx="315"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Line 23"/>
              <p:cNvSpPr>
                <a:spLocks noChangeShapeType="1"/>
              </p:cNvSpPr>
              <p:nvPr/>
            </p:nvSpPr>
            <p:spPr bwMode="auto">
              <a:xfrm flipH="1">
                <a:off x="6105" y="8280"/>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grpSp>
        <p:nvGrpSpPr>
          <p:cNvPr id="27" name="Group 24"/>
          <p:cNvGrpSpPr/>
          <p:nvPr/>
        </p:nvGrpSpPr>
        <p:grpSpPr bwMode="auto">
          <a:xfrm>
            <a:off x="5943600" y="2819400"/>
            <a:ext cx="4800600" cy="3886200"/>
            <a:chOff x="3585" y="1748"/>
            <a:chExt cx="4620" cy="4680"/>
          </a:xfrm>
        </p:grpSpPr>
        <p:grpSp>
          <p:nvGrpSpPr>
            <p:cNvPr id="28" name="Group 25"/>
            <p:cNvGrpSpPr/>
            <p:nvPr/>
          </p:nvGrpSpPr>
          <p:grpSpPr bwMode="auto">
            <a:xfrm>
              <a:off x="3585" y="1748"/>
              <a:ext cx="4620" cy="4680"/>
              <a:chOff x="3585" y="1748"/>
              <a:chExt cx="4620" cy="4680"/>
            </a:xfrm>
          </p:grpSpPr>
          <p:sp>
            <p:nvSpPr>
              <p:cNvPr id="44" name="Rectangle 26"/>
              <p:cNvSpPr>
                <a:spLocks noChangeArrowheads="1"/>
              </p:cNvSpPr>
              <p:nvPr/>
            </p:nvSpPr>
            <p:spPr bwMode="auto">
              <a:xfrm>
                <a:off x="5370" y="2684"/>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仓库</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45" name="Rectangle 27"/>
              <p:cNvSpPr>
                <a:spLocks noChangeArrowheads="1"/>
              </p:cNvSpPr>
              <p:nvPr/>
            </p:nvSpPr>
            <p:spPr bwMode="auto">
              <a:xfrm>
                <a:off x="6525" y="4868"/>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商品</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46" name="Rectangle 28"/>
              <p:cNvSpPr>
                <a:spLocks noChangeArrowheads="1"/>
              </p:cNvSpPr>
              <p:nvPr/>
            </p:nvSpPr>
            <p:spPr bwMode="auto">
              <a:xfrm>
                <a:off x="4215" y="4868"/>
                <a:ext cx="1050" cy="468"/>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商店</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47" name="Oval 29"/>
              <p:cNvSpPr>
                <a:spLocks noChangeArrowheads="1"/>
              </p:cNvSpPr>
              <p:nvPr/>
            </p:nvSpPr>
            <p:spPr bwMode="auto">
              <a:xfrm>
                <a:off x="4110"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仓库号</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48" name="Oval 30"/>
              <p:cNvSpPr>
                <a:spLocks noChangeArrowheads="1"/>
              </p:cNvSpPr>
              <p:nvPr/>
            </p:nvSpPr>
            <p:spPr bwMode="auto">
              <a:xfrm>
                <a:off x="5370"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仓库名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49" name="Oval 31"/>
              <p:cNvSpPr>
                <a:spLocks noChangeArrowheads="1"/>
              </p:cNvSpPr>
              <p:nvPr/>
            </p:nvSpPr>
            <p:spPr bwMode="auto">
              <a:xfrm>
                <a:off x="6735" y="1748"/>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地址</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0" name="Oval 32"/>
              <p:cNvSpPr>
                <a:spLocks noChangeArrowheads="1"/>
              </p:cNvSpPr>
              <p:nvPr/>
            </p:nvSpPr>
            <p:spPr bwMode="auto">
              <a:xfrm>
                <a:off x="7155" y="2996"/>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数量</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1" name="Oval 33"/>
              <p:cNvSpPr>
                <a:spLocks noChangeArrowheads="1"/>
              </p:cNvSpPr>
              <p:nvPr/>
            </p:nvSpPr>
            <p:spPr bwMode="auto">
              <a:xfrm>
                <a:off x="3585"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a:solidFill>
                      <a:srgbClr val="000000"/>
                    </a:solidFill>
                    <a:latin typeface="微软雅黑" panose="020B0503020204020204" pitchFamily="34" charset="-122"/>
                    <a:ea typeface="微软雅黑" panose="020B0503020204020204" pitchFamily="34" charset="-122"/>
                  </a:rPr>
                  <a:t>商店号</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52" name="Oval 34"/>
              <p:cNvSpPr>
                <a:spLocks noChangeArrowheads="1"/>
              </p:cNvSpPr>
              <p:nvPr/>
            </p:nvSpPr>
            <p:spPr bwMode="auto">
              <a:xfrm>
                <a:off x="726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商品名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3" name="Oval 35"/>
              <p:cNvSpPr>
                <a:spLocks noChangeArrowheads="1"/>
              </p:cNvSpPr>
              <p:nvPr/>
            </p:nvSpPr>
            <p:spPr bwMode="auto">
              <a:xfrm>
                <a:off x="600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商品号</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4" name="Oval 36"/>
              <p:cNvSpPr>
                <a:spLocks noChangeArrowheads="1"/>
              </p:cNvSpPr>
              <p:nvPr/>
            </p:nvSpPr>
            <p:spPr bwMode="auto">
              <a:xfrm>
                <a:off x="4740" y="5960"/>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商店名</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5" name="Oval 37"/>
              <p:cNvSpPr>
                <a:spLocks noChangeArrowheads="1"/>
              </p:cNvSpPr>
              <p:nvPr/>
            </p:nvSpPr>
            <p:spPr bwMode="auto">
              <a:xfrm>
                <a:off x="7155" y="3776"/>
                <a:ext cx="945" cy="468"/>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日期</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56" name="AutoShape 38"/>
              <p:cNvSpPr>
                <a:spLocks noChangeArrowheads="1"/>
              </p:cNvSpPr>
              <p:nvPr/>
            </p:nvSpPr>
            <p:spPr bwMode="auto">
              <a:xfrm>
                <a:off x="5265" y="3620"/>
                <a:ext cx="1260" cy="624"/>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进货</a:t>
                </a:r>
                <a:endParaRPr lang="zh-CN" altLang="en-US" sz="1400" u="none">
                  <a:solidFill>
                    <a:srgbClr val="000000"/>
                  </a:solidFill>
                  <a:latin typeface="微软雅黑" panose="020B0503020204020204" pitchFamily="34" charset="-122"/>
                  <a:ea typeface="微软雅黑" panose="020B0503020204020204" pitchFamily="34" charset="-122"/>
                </a:endParaRPr>
              </a:p>
            </p:txBody>
          </p:sp>
        </p:grpSp>
        <p:sp>
          <p:nvSpPr>
            <p:cNvPr id="29" name="Line 39"/>
            <p:cNvSpPr>
              <a:spLocks noChangeShapeType="1"/>
            </p:cNvSpPr>
            <p:nvPr/>
          </p:nvSpPr>
          <p:spPr bwMode="auto">
            <a:xfrm>
              <a:off x="4530" y="2216"/>
              <a:ext cx="105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Line 40"/>
            <p:cNvSpPr>
              <a:spLocks noChangeShapeType="1"/>
            </p:cNvSpPr>
            <p:nvPr/>
          </p:nvSpPr>
          <p:spPr bwMode="auto">
            <a:xfrm>
              <a:off x="5895" y="2216"/>
              <a:ext cx="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Line 41"/>
            <p:cNvSpPr>
              <a:spLocks noChangeShapeType="1"/>
            </p:cNvSpPr>
            <p:nvPr/>
          </p:nvSpPr>
          <p:spPr bwMode="auto">
            <a:xfrm flipH="1">
              <a:off x="6210" y="2216"/>
              <a:ext cx="84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Line 42"/>
            <p:cNvSpPr>
              <a:spLocks noChangeShapeType="1"/>
            </p:cNvSpPr>
            <p:nvPr/>
          </p:nvSpPr>
          <p:spPr bwMode="auto">
            <a:xfrm>
              <a:off x="5895" y="3152"/>
              <a:ext cx="0" cy="4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Line 43"/>
            <p:cNvSpPr>
              <a:spLocks noChangeShapeType="1"/>
            </p:cNvSpPr>
            <p:nvPr/>
          </p:nvSpPr>
          <p:spPr bwMode="auto">
            <a:xfrm>
              <a:off x="6315" y="4088"/>
              <a:ext cx="63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Line 44"/>
            <p:cNvSpPr>
              <a:spLocks noChangeShapeType="1"/>
            </p:cNvSpPr>
            <p:nvPr/>
          </p:nvSpPr>
          <p:spPr bwMode="auto">
            <a:xfrm flipH="1">
              <a:off x="4740" y="4088"/>
              <a:ext cx="840" cy="78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Freeform 45"/>
            <p:cNvSpPr/>
            <p:nvPr/>
          </p:nvSpPr>
          <p:spPr bwMode="auto">
            <a:xfrm>
              <a:off x="6298" y="3305"/>
              <a:ext cx="840" cy="480"/>
            </a:xfrm>
            <a:custGeom>
              <a:avLst/>
              <a:gdLst>
                <a:gd name="T0" fmla="*/ 0 w 840"/>
                <a:gd name="T1" fmla="*/ 480 h 480"/>
                <a:gd name="T2" fmla="*/ 840 w 840"/>
                <a:gd name="T3" fmla="*/ 0 h 480"/>
                <a:gd name="T4" fmla="*/ 0 60000 65536"/>
                <a:gd name="T5" fmla="*/ 0 60000 65536"/>
              </a:gdLst>
              <a:ahLst/>
              <a:cxnLst>
                <a:cxn ang="T4">
                  <a:pos x="T0" y="T1"/>
                </a:cxn>
                <a:cxn ang="T5">
                  <a:pos x="T2" y="T3"/>
                </a:cxn>
              </a:cxnLst>
              <a:rect l="0" t="0" r="r" b="b"/>
              <a:pathLst>
                <a:path w="840" h="480">
                  <a:moveTo>
                    <a:pt x="0" y="480"/>
                  </a:moveTo>
                  <a:lnTo>
                    <a:pt x="840"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Freeform 46"/>
            <p:cNvSpPr/>
            <p:nvPr/>
          </p:nvSpPr>
          <p:spPr bwMode="auto">
            <a:xfrm>
              <a:off x="6403" y="3965"/>
              <a:ext cx="765" cy="45"/>
            </a:xfrm>
            <a:custGeom>
              <a:avLst/>
              <a:gdLst>
                <a:gd name="T0" fmla="*/ 0 w 765"/>
                <a:gd name="T1" fmla="*/ 45 h 45"/>
                <a:gd name="T2" fmla="*/ 765 w 765"/>
                <a:gd name="T3" fmla="*/ 0 h 45"/>
                <a:gd name="T4" fmla="*/ 0 60000 65536"/>
                <a:gd name="T5" fmla="*/ 0 60000 65536"/>
              </a:gdLst>
              <a:ahLst/>
              <a:cxnLst>
                <a:cxn ang="T4">
                  <a:pos x="T0" y="T1"/>
                </a:cxn>
                <a:cxn ang="T5">
                  <a:pos x="T2" y="T3"/>
                </a:cxn>
              </a:cxnLst>
              <a:rect l="0" t="0" r="r" b="b"/>
              <a:pathLst>
                <a:path w="765" h="45">
                  <a:moveTo>
                    <a:pt x="0" y="45"/>
                  </a:moveTo>
                  <a:lnTo>
                    <a:pt x="765" y="0"/>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Line 47"/>
            <p:cNvSpPr>
              <a:spLocks noChangeShapeType="1"/>
            </p:cNvSpPr>
            <p:nvPr/>
          </p:nvSpPr>
          <p:spPr bwMode="auto">
            <a:xfrm flipH="1">
              <a:off x="4005" y="5336"/>
              <a:ext cx="420"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Line 48"/>
            <p:cNvSpPr>
              <a:spLocks noChangeShapeType="1"/>
            </p:cNvSpPr>
            <p:nvPr/>
          </p:nvSpPr>
          <p:spPr bwMode="auto">
            <a:xfrm>
              <a:off x="4845" y="5336"/>
              <a:ext cx="420"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Line 49"/>
            <p:cNvSpPr>
              <a:spLocks noChangeShapeType="1"/>
            </p:cNvSpPr>
            <p:nvPr/>
          </p:nvSpPr>
          <p:spPr bwMode="auto">
            <a:xfrm flipH="1">
              <a:off x="6525" y="5336"/>
              <a:ext cx="315"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Line 50"/>
            <p:cNvSpPr>
              <a:spLocks noChangeShapeType="1"/>
            </p:cNvSpPr>
            <p:nvPr/>
          </p:nvSpPr>
          <p:spPr bwMode="auto">
            <a:xfrm>
              <a:off x="7365" y="5336"/>
              <a:ext cx="315" cy="62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Rectangle 51"/>
            <p:cNvSpPr>
              <a:spLocks noChangeArrowheads="1"/>
            </p:cNvSpPr>
            <p:nvPr/>
          </p:nvSpPr>
          <p:spPr bwMode="auto">
            <a:xfrm>
              <a:off x="5895" y="3152"/>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M</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42" name="Rectangle 52"/>
            <p:cNvSpPr>
              <a:spLocks noChangeArrowheads="1"/>
            </p:cNvSpPr>
            <p:nvPr/>
          </p:nvSpPr>
          <p:spPr bwMode="auto">
            <a:xfrm>
              <a:off x="4317" y="4556"/>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N</a:t>
              </a:r>
              <a:endParaRPr lang="en-US" altLang="zh-CN" sz="1000" u="none">
                <a:solidFill>
                  <a:srgbClr val="000000"/>
                </a:solidFill>
                <a:latin typeface="微软雅黑" panose="020B0503020204020204" pitchFamily="34" charset="-122"/>
                <a:ea typeface="微软雅黑" panose="020B0503020204020204" pitchFamily="34" charset="-122"/>
              </a:endParaRPr>
            </a:p>
          </p:txBody>
        </p:sp>
        <p:sp>
          <p:nvSpPr>
            <p:cNvPr id="43" name="Rectangle 53"/>
            <p:cNvSpPr>
              <a:spLocks noChangeArrowheads="1"/>
            </p:cNvSpPr>
            <p:nvPr/>
          </p:nvSpPr>
          <p:spPr bwMode="auto">
            <a:xfrm>
              <a:off x="6735" y="4556"/>
              <a:ext cx="5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000" u="none">
                  <a:solidFill>
                    <a:srgbClr val="000000"/>
                  </a:solidFill>
                  <a:latin typeface="微软雅黑" panose="020B0503020204020204" pitchFamily="34" charset="-122"/>
                  <a:ea typeface="微软雅黑" panose="020B0503020204020204" pitchFamily="34" charset="-122"/>
                </a:rPr>
                <a:t>P</a:t>
              </a:r>
              <a:endParaRPr lang="en-US" altLang="zh-CN" sz="1000" u="none">
                <a:solidFill>
                  <a:srgbClr val="000000"/>
                </a:solidFill>
                <a:latin typeface="微软雅黑" panose="020B0503020204020204" pitchFamily="34" charset="-122"/>
                <a:ea typeface="微软雅黑" panose="020B0503020204020204" pitchFamily="34" charset="-122"/>
              </a:endParaRPr>
            </a:p>
          </p:txBody>
        </p:sp>
      </p:grpSp>
      <p:sp>
        <p:nvSpPr>
          <p:cNvPr id="57" name="Text Box 54"/>
          <p:cNvSpPr txBox="1">
            <a:spLocks noChangeArrowheads="1"/>
          </p:cNvSpPr>
          <p:nvPr/>
        </p:nvSpPr>
        <p:spPr bwMode="auto">
          <a:xfrm>
            <a:off x="2133600" y="2438400"/>
            <a:ext cx="3276600" cy="8937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r>
              <a:rPr kumimoji="1" lang="zh-CN" altLang="en-US" sz="1600" u="none">
                <a:latin typeface="微软雅黑" panose="020B0503020204020204" pitchFamily="34" charset="-122"/>
                <a:ea typeface="微软雅黑" panose="020B0503020204020204" pitchFamily="34" charset="-122"/>
              </a:rPr>
              <a:t>零件（</a:t>
            </a:r>
            <a:r>
              <a:rPr kumimoji="1" lang="zh-CN" altLang="en-US" sz="1600">
                <a:latin typeface="微软雅黑" panose="020B0503020204020204" pitchFamily="34" charset="-122"/>
                <a:ea typeface="微软雅黑" panose="020B0503020204020204" pitchFamily="34" charset="-122"/>
              </a:rPr>
              <a:t>零件号</a:t>
            </a:r>
            <a:r>
              <a:rPr kumimoji="1" lang="zh-CN" altLang="en-US" sz="1600" u="none">
                <a:latin typeface="微软雅黑" panose="020B0503020204020204" pitchFamily="34" charset="-122"/>
                <a:ea typeface="微软雅黑" panose="020B0503020204020204" pitchFamily="34" charset="-122"/>
              </a:rPr>
              <a:t>，零件名，规格）</a:t>
            </a:r>
            <a:endParaRPr kumimoji="1" lang="zh-CN" altLang="en-US" sz="1600" u="none">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600" u="none">
                <a:latin typeface="微软雅黑" panose="020B0503020204020204" pitchFamily="34" charset="-122"/>
                <a:ea typeface="微软雅黑" panose="020B0503020204020204" pitchFamily="34" charset="-122"/>
              </a:rPr>
              <a:t>组成（</a:t>
            </a:r>
            <a:r>
              <a:rPr kumimoji="1" lang="zh-CN" altLang="en-US" sz="1600">
                <a:latin typeface="微软雅黑" panose="020B0503020204020204" pitchFamily="34" charset="-122"/>
                <a:ea typeface="微软雅黑" panose="020B0503020204020204" pitchFamily="34" charset="-122"/>
              </a:rPr>
              <a:t>零件号，子零件号</a:t>
            </a:r>
            <a:r>
              <a:rPr kumimoji="1" lang="zh-CN" altLang="en-US" sz="1600" u="none">
                <a:latin typeface="微软雅黑" panose="020B0503020204020204" pitchFamily="34" charset="-122"/>
                <a:ea typeface="微软雅黑" panose="020B0503020204020204" pitchFamily="34" charset="-122"/>
              </a:rPr>
              <a:t>，数量）</a:t>
            </a:r>
            <a:r>
              <a:rPr kumimoji="1" lang="zh-CN" altLang="en-US" sz="2400" u="none">
                <a:latin typeface="微软雅黑" panose="020B0503020204020204" pitchFamily="34" charset="-122"/>
                <a:ea typeface="微软雅黑" panose="020B0503020204020204" pitchFamily="34" charset="-122"/>
              </a:rPr>
              <a:t> </a:t>
            </a:r>
            <a:endParaRPr kumimoji="1" lang="zh-CN" altLang="en-US" sz="2400" u="none">
              <a:latin typeface="微软雅黑" panose="020B0503020204020204" pitchFamily="34" charset="-122"/>
              <a:ea typeface="微软雅黑" panose="020B0503020204020204" pitchFamily="34" charset="-122"/>
            </a:endParaRPr>
          </a:p>
        </p:txBody>
      </p:sp>
      <p:sp>
        <p:nvSpPr>
          <p:cNvPr id="58" name="Text Box 55"/>
          <p:cNvSpPr txBox="1">
            <a:spLocks noChangeArrowheads="1"/>
          </p:cNvSpPr>
          <p:nvPr/>
        </p:nvSpPr>
        <p:spPr bwMode="auto">
          <a:xfrm>
            <a:off x="6324600" y="1066800"/>
            <a:ext cx="4267200" cy="14097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eaLnBrk="1" hangingPunct="1">
              <a:spcBef>
                <a:spcPct val="50000"/>
              </a:spcBef>
              <a:buFontTx/>
              <a:buNone/>
            </a:pPr>
            <a:r>
              <a:rPr kumimoji="1" lang="zh-CN" altLang="en-US" sz="1400" u="none">
                <a:latin typeface="微软雅黑" panose="020B0503020204020204" pitchFamily="34" charset="-122"/>
                <a:ea typeface="微软雅黑" panose="020B0503020204020204" pitchFamily="34" charset="-122"/>
              </a:rPr>
              <a:t>仓库（</a:t>
            </a:r>
            <a:r>
              <a:rPr kumimoji="1" lang="zh-CN" altLang="en-US" sz="1400">
                <a:latin typeface="微软雅黑" panose="020B0503020204020204" pitchFamily="34" charset="-122"/>
                <a:ea typeface="微软雅黑" panose="020B0503020204020204" pitchFamily="34" charset="-122"/>
              </a:rPr>
              <a:t>仓库号</a:t>
            </a:r>
            <a:r>
              <a:rPr kumimoji="1" lang="zh-CN" altLang="en-US" sz="1400" u="none">
                <a:latin typeface="微软雅黑" panose="020B0503020204020204" pitchFamily="34" charset="-122"/>
                <a:ea typeface="微软雅黑" panose="020B0503020204020204" pitchFamily="34" charset="-122"/>
              </a:rPr>
              <a:t>，仓库名，地址）</a:t>
            </a:r>
            <a:endParaRPr kumimoji="1" lang="zh-CN" altLang="en-US" sz="1400" u="none">
              <a:latin typeface="微软雅黑" panose="020B0503020204020204" pitchFamily="34" charset="-122"/>
              <a:ea typeface="微软雅黑" panose="020B0503020204020204" pitchFamily="34" charset="-122"/>
            </a:endParaRPr>
          </a:p>
          <a:p>
            <a:pPr algn="just" eaLnBrk="1" hangingPunct="1">
              <a:spcBef>
                <a:spcPct val="50000"/>
              </a:spcBef>
              <a:buFontTx/>
              <a:buNone/>
            </a:pPr>
            <a:r>
              <a:rPr kumimoji="1" lang="zh-CN" altLang="en-US" sz="1400" u="none">
                <a:latin typeface="微软雅黑" panose="020B0503020204020204" pitchFamily="34" charset="-122"/>
                <a:ea typeface="微软雅黑" panose="020B0503020204020204" pitchFamily="34" charset="-122"/>
              </a:rPr>
              <a:t>商店（</a:t>
            </a:r>
            <a:r>
              <a:rPr kumimoji="1" lang="zh-CN" altLang="en-US" sz="1400">
                <a:latin typeface="微软雅黑" panose="020B0503020204020204" pitchFamily="34" charset="-122"/>
                <a:ea typeface="微软雅黑" panose="020B0503020204020204" pitchFamily="34" charset="-122"/>
              </a:rPr>
              <a:t>商店号</a:t>
            </a:r>
            <a:r>
              <a:rPr kumimoji="1" lang="zh-CN" altLang="en-US" sz="1400" u="none">
                <a:latin typeface="微软雅黑" panose="020B0503020204020204" pitchFamily="34" charset="-122"/>
                <a:ea typeface="微软雅黑" panose="020B0503020204020204" pitchFamily="34" charset="-122"/>
              </a:rPr>
              <a:t>，商店名）</a:t>
            </a:r>
            <a:endParaRPr kumimoji="1" lang="zh-CN" altLang="en-US" sz="1400" u="none">
              <a:latin typeface="微软雅黑" panose="020B0503020204020204" pitchFamily="34" charset="-122"/>
              <a:ea typeface="微软雅黑" panose="020B0503020204020204" pitchFamily="34" charset="-122"/>
            </a:endParaRPr>
          </a:p>
          <a:p>
            <a:pPr algn="just" eaLnBrk="1" hangingPunct="1">
              <a:spcBef>
                <a:spcPct val="50000"/>
              </a:spcBef>
              <a:buFontTx/>
              <a:buNone/>
            </a:pPr>
            <a:r>
              <a:rPr kumimoji="1" lang="zh-CN" altLang="en-US" sz="1400" u="none">
                <a:latin typeface="微软雅黑" panose="020B0503020204020204" pitchFamily="34" charset="-122"/>
                <a:ea typeface="微软雅黑" panose="020B0503020204020204" pitchFamily="34" charset="-122"/>
              </a:rPr>
              <a:t>商品（</a:t>
            </a:r>
            <a:r>
              <a:rPr kumimoji="1" lang="zh-CN" altLang="en-US" sz="1400">
                <a:latin typeface="微软雅黑" panose="020B0503020204020204" pitchFamily="34" charset="-122"/>
                <a:ea typeface="微软雅黑" panose="020B0503020204020204" pitchFamily="34" charset="-122"/>
              </a:rPr>
              <a:t>商品号</a:t>
            </a:r>
            <a:r>
              <a:rPr kumimoji="1" lang="zh-CN" altLang="en-US" sz="1400" u="none">
                <a:latin typeface="微软雅黑" panose="020B0503020204020204" pitchFamily="34" charset="-122"/>
                <a:ea typeface="微软雅黑" panose="020B0503020204020204" pitchFamily="34" charset="-122"/>
              </a:rPr>
              <a:t>，商品名）</a:t>
            </a:r>
            <a:endParaRPr kumimoji="1" lang="zh-CN" altLang="en-US" sz="1400" u="none">
              <a:latin typeface="微软雅黑" panose="020B0503020204020204" pitchFamily="34" charset="-122"/>
              <a:ea typeface="微软雅黑" panose="020B0503020204020204" pitchFamily="34" charset="-122"/>
            </a:endParaRPr>
          </a:p>
          <a:p>
            <a:pPr eaLnBrk="1" hangingPunct="1">
              <a:spcBef>
                <a:spcPct val="50000"/>
              </a:spcBef>
              <a:buFontTx/>
              <a:buNone/>
            </a:pPr>
            <a:r>
              <a:rPr kumimoji="1" lang="zh-CN" altLang="en-US" sz="1400" u="none">
                <a:latin typeface="微软雅黑" panose="020B0503020204020204" pitchFamily="34" charset="-122"/>
                <a:ea typeface="微软雅黑" panose="020B0503020204020204" pitchFamily="34" charset="-122"/>
              </a:rPr>
              <a:t>进货（</a:t>
            </a:r>
            <a:r>
              <a:rPr kumimoji="1" lang="zh-CN" altLang="en-US" sz="1400">
                <a:latin typeface="微软雅黑" panose="020B0503020204020204" pitchFamily="34" charset="-122"/>
                <a:ea typeface="微软雅黑" panose="020B0503020204020204" pitchFamily="34" charset="-122"/>
              </a:rPr>
              <a:t>商店号，商品名，仓库号</a:t>
            </a:r>
            <a:r>
              <a:rPr kumimoji="1" lang="zh-CN" altLang="en-US" sz="1400" u="none">
                <a:latin typeface="微软雅黑" panose="020B0503020204020204" pitchFamily="34" charset="-122"/>
                <a:ea typeface="微软雅黑" panose="020B0503020204020204" pitchFamily="34" charset="-122"/>
              </a:rPr>
              <a:t>，日期，数量）</a:t>
            </a:r>
            <a:r>
              <a:rPr kumimoji="1" lang="zh-CN" altLang="en-US" sz="2000" u="none">
                <a:latin typeface="微软雅黑" panose="020B0503020204020204" pitchFamily="34" charset="-122"/>
                <a:ea typeface="微软雅黑" panose="020B0503020204020204" pitchFamily="34" charset="-122"/>
              </a:rPr>
              <a:t> </a:t>
            </a:r>
            <a:endParaRPr kumimoji="1" lang="zh-CN" altLang="en-US" sz="2000" u="none">
              <a:latin typeface="微软雅黑" panose="020B0503020204020204" pitchFamily="34" charset="-122"/>
              <a:ea typeface="微软雅黑" panose="020B0503020204020204" pitchFamily="34" charset="-122"/>
            </a:endParaRPr>
          </a:p>
        </p:txBody>
      </p:sp>
      <p:grpSp>
        <p:nvGrpSpPr>
          <p:cNvPr id="59" name="Group 56"/>
          <p:cNvGrpSpPr/>
          <p:nvPr/>
        </p:nvGrpSpPr>
        <p:grpSpPr bwMode="auto">
          <a:xfrm>
            <a:off x="1828800" y="2667000"/>
            <a:ext cx="4038600" cy="2362200"/>
            <a:chOff x="0" y="1680"/>
            <a:chExt cx="2544" cy="1488"/>
          </a:xfrm>
        </p:grpSpPr>
        <p:sp>
          <p:nvSpPr>
            <p:cNvPr id="60" name="Oval 57"/>
            <p:cNvSpPr>
              <a:spLocks noChangeArrowheads="1"/>
            </p:cNvSpPr>
            <p:nvPr/>
          </p:nvSpPr>
          <p:spPr bwMode="auto">
            <a:xfrm>
              <a:off x="0" y="2304"/>
              <a:ext cx="2544" cy="864"/>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61" name="Line 58"/>
            <p:cNvSpPr>
              <a:spLocks noChangeShapeType="1"/>
            </p:cNvSpPr>
            <p:nvPr/>
          </p:nvSpPr>
          <p:spPr bwMode="auto">
            <a:xfrm>
              <a:off x="528" y="1680"/>
              <a:ext cx="240" cy="624"/>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62" name="Group 59"/>
          <p:cNvGrpSpPr/>
          <p:nvPr/>
        </p:nvGrpSpPr>
        <p:grpSpPr bwMode="auto">
          <a:xfrm>
            <a:off x="1828800" y="3352800"/>
            <a:ext cx="2590800" cy="3352800"/>
            <a:chOff x="0" y="2112"/>
            <a:chExt cx="1632" cy="2112"/>
          </a:xfrm>
        </p:grpSpPr>
        <p:sp>
          <p:nvSpPr>
            <p:cNvPr id="63" name="Oval 60"/>
            <p:cNvSpPr>
              <a:spLocks noChangeArrowheads="1"/>
            </p:cNvSpPr>
            <p:nvPr/>
          </p:nvSpPr>
          <p:spPr bwMode="auto">
            <a:xfrm>
              <a:off x="0" y="3408"/>
              <a:ext cx="1632" cy="816"/>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64" name="Line 61"/>
            <p:cNvSpPr>
              <a:spLocks noChangeShapeType="1"/>
            </p:cNvSpPr>
            <p:nvPr/>
          </p:nvSpPr>
          <p:spPr bwMode="auto">
            <a:xfrm flipH="1">
              <a:off x="240" y="2112"/>
              <a:ext cx="96" cy="1392"/>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65" name="Group 62"/>
          <p:cNvGrpSpPr/>
          <p:nvPr/>
        </p:nvGrpSpPr>
        <p:grpSpPr bwMode="auto">
          <a:xfrm>
            <a:off x="6096000" y="1295400"/>
            <a:ext cx="4648200" cy="2667000"/>
            <a:chOff x="2688" y="816"/>
            <a:chExt cx="2928" cy="1680"/>
          </a:xfrm>
        </p:grpSpPr>
        <p:sp>
          <p:nvSpPr>
            <p:cNvPr id="66" name="Oval 63"/>
            <p:cNvSpPr>
              <a:spLocks noChangeArrowheads="1"/>
            </p:cNvSpPr>
            <p:nvPr/>
          </p:nvSpPr>
          <p:spPr bwMode="auto">
            <a:xfrm>
              <a:off x="2688" y="1728"/>
              <a:ext cx="2928" cy="768"/>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67" name="Line 64"/>
            <p:cNvSpPr>
              <a:spLocks noChangeShapeType="1"/>
            </p:cNvSpPr>
            <p:nvPr/>
          </p:nvSpPr>
          <p:spPr bwMode="auto">
            <a:xfrm>
              <a:off x="2928" y="816"/>
              <a:ext cx="1632" cy="912"/>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68" name="Group 65"/>
          <p:cNvGrpSpPr/>
          <p:nvPr/>
        </p:nvGrpSpPr>
        <p:grpSpPr bwMode="auto">
          <a:xfrm>
            <a:off x="5562600" y="1676400"/>
            <a:ext cx="2895600" cy="5181600"/>
            <a:chOff x="2352" y="1056"/>
            <a:chExt cx="1824" cy="3264"/>
          </a:xfrm>
        </p:grpSpPr>
        <p:sp>
          <p:nvSpPr>
            <p:cNvPr id="69" name="Oval 66"/>
            <p:cNvSpPr>
              <a:spLocks noChangeArrowheads="1"/>
            </p:cNvSpPr>
            <p:nvPr/>
          </p:nvSpPr>
          <p:spPr bwMode="auto">
            <a:xfrm>
              <a:off x="2352" y="3360"/>
              <a:ext cx="1824" cy="96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70" name="Line 67"/>
            <p:cNvSpPr>
              <a:spLocks noChangeShapeType="1"/>
            </p:cNvSpPr>
            <p:nvPr/>
          </p:nvSpPr>
          <p:spPr bwMode="auto">
            <a:xfrm flipH="1">
              <a:off x="2688" y="1056"/>
              <a:ext cx="384" cy="2400"/>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71" name="Group 68"/>
          <p:cNvGrpSpPr/>
          <p:nvPr/>
        </p:nvGrpSpPr>
        <p:grpSpPr bwMode="auto">
          <a:xfrm>
            <a:off x="7010400" y="2090738"/>
            <a:ext cx="3962400" cy="4767262"/>
            <a:chOff x="3264" y="1317"/>
            <a:chExt cx="2496" cy="3003"/>
          </a:xfrm>
        </p:grpSpPr>
        <p:sp>
          <p:nvSpPr>
            <p:cNvPr id="72" name="Oval 69"/>
            <p:cNvSpPr>
              <a:spLocks noChangeArrowheads="1"/>
            </p:cNvSpPr>
            <p:nvPr/>
          </p:nvSpPr>
          <p:spPr bwMode="auto">
            <a:xfrm>
              <a:off x="4176" y="3312"/>
              <a:ext cx="1584" cy="1008"/>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73" name="Line 70"/>
            <p:cNvSpPr>
              <a:spLocks noChangeShapeType="1"/>
            </p:cNvSpPr>
            <p:nvPr/>
          </p:nvSpPr>
          <p:spPr bwMode="auto">
            <a:xfrm>
              <a:off x="3264" y="1317"/>
              <a:ext cx="1056" cy="2112"/>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74" name="Group 71"/>
          <p:cNvGrpSpPr/>
          <p:nvPr/>
        </p:nvGrpSpPr>
        <p:grpSpPr bwMode="auto">
          <a:xfrm>
            <a:off x="6705600" y="2590800"/>
            <a:ext cx="4495800" cy="2362200"/>
            <a:chOff x="3072" y="1632"/>
            <a:chExt cx="2832" cy="1488"/>
          </a:xfrm>
        </p:grpSpPr>
        <p:sp>
          <p:nvSpPr>
            <p:cNvPr id="75" name="Oval 72"/>
            <p:cNvSpPr>
              <a:spLocks noChangeArrowheads="1"/>
            </p:cNvSpPr>
            <p:nvPr/>
          </p:nvSpPr>
          <p:spPr bwMode="auto">
            <a:xfrm>
              <a:off x="3360" y="2496"/>
              <a:ext cx="2544" cy="624"/>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76" name="Line 73"/>
            <p:cNvSpPr>
              <a:spLocks noChangeShapeType="1"/>
            </p:cNvSpPr>
            <p:nvPr/>
          </p:nvSpPr>
          <p:spPr bwMode="auto">
            <a:xfrm>
              <a:off x="3072" y="1632"/>
              <a:ext cx="384" cy="1008"/>
            </a:xfrm>
            <a:prstGeom prst="line">
              <a:avLst/>
            </a:prstGeom>
            <a:noFill/>
            <a:ln w="25400">
              <a:solidFill>
                <a:schemeClr val="tx1"/>
              </a:solidFill>
              <a:prstDash val="sysDot"/>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ppt_x"/>
                                          </p:val>
                                        </p:tav>
                                        <p:tav tm="100000">
                                          <p:val>
                                            <p:strVal val="#ppt_x"/>
                                          </p:val>
                                        </p:tav>
                                      </p:tavLst>
                                    </p:anim>
                                    <p:anim calcmode="lin" valueType="num">
                                      <p:cBhvr additive="base">
                                        <p:cTn id="8" dur="500" fill="hold"/>
                                        <p:tgtEl>
                                          <p:spTgt spid="5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ppt_x"/>
                                          </p:val>
                                        </p:tav>
                                        <p:tav tm="100000">
                                          <p:val>
                                            <p:strVal val="#ppt_x"/>
                                          </p:val>
                                        </p:tav>
                                      </p:tavLst>
                                    </p:anim>
                                    <p:anim calcmode="lin" valueType="num">
                                      <p:cBhvr additive="base">
                                        <p:cTn id="14" dur="500" fill="hold"/>
                                        <p:tgtEl>
                                          <p:spTgt spid="6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ppt_x"/>
                                          </p:val>
                                        </p:tav>
                                        <p:tav tm="100000">
                                          <p:val>
                                            <p:strVal val="#ppt_x"/>
                                          </p:val>
                                        </p:tav>
                                      </p:tavLst>
                                    </p:anim>
                                    <p:anim calcmode="lin" valueType="num">
                                      <p:cBhvr additive="base">
                                        <p:cTn id="20" dur="500" fill="hold"/>
                                        <p:tgtEl>
                                          <p:spTgt spid="6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8"/>
                                        </p:tgtEl>
                                        <p:attrNameLst>
                                          <p:attrName>style.visibility</p:attrName>
                                        </p:attrNameLst>
                                      </p:cBhvr>
                                      <p:to>
                                        <p:strVal val="visible"/>
                                      </p:to>
                                    </p:set>
                                    <p:anim calcmode="lin" valueType="num">
                                      <p:cBhvr additive="base">
                                        <p:cTn id="25" dur="500" fill="hold"/>
                                        <p:tgtEl>
                                          <p:spTgt spid="68"/>
                                        </p:tgtEl>
                                        <p:attrNameLst>
                                          <p:attrName>ppt_x</p:attrName>
                                        </p:attrNameLst>
                                      </p:cBhvr>
                                      <p:tavLst>
                                        <p:tav tm="0">
                                          <p:val>
                                            <p:strVal val="#ppt_x"/>
                                          </p:val>
                                        </p:tav>
                                        <p:tav tm="100000">
                                          <p:val>
                                            <p:strVal val="#ppt_x"/>
                                          </p:val>
                                        </p:tav>
                                      </p:tavLst>
                                    </p:anim>
                                    <p:anim calcmode="lin" valueType="num">
                                      <p:cBhvr additive="base">
                                        <p:cTn id="26" dur="500" fill="hold"/>
                                        <p:tgtEl>
                                          <p:spTgt spid="6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additive="base">
                                        <p:cTn id="31" dur="500" fill="hold"/>
                                        <p:tgtEl>
                                          <p:spTgt spid="71"/>
                                        </p:tgtEl>
                                        <p:attrNameLst>
                                          <p:attrName>ppt_x</p:attrName>
                                        </p:attrNameLst>
                                      </p:cBhvr>
                                      <p:tavLst>
                                        <p:tav tm="0">
                                          <p:val>
                                            <p:strVal val="#ppt_x"/>
                                          </p:val>
                                        </p:tav>
                                        <p:tav tm="100000">
                                          <p:val>
                                            <p:strVal val="#ppt_x"/>
                                          </p:val>
                                        </p:tav>
                                      </p:tavLst>
                                    </p:anim>
                                    <p:anim calcmode="lin" valueType="num">
                                      <p:cBhvr additive="base">
                                        <p:cTn id="32" dur="500" fill="hold"/>
                                        <p:tgtEl>
                                          <p:spTgt spid="7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74"/>
                                        </p:tgtEl>
                                        <p:attrNameLst>
                                          <p:attrName>style.visibility</p:attrName>
                                        </p:attrNameLst>
                                      </p:cBhvr>
                                      <p:to>
                                        <p:strVal val="visible"/>
                                      </p:to>
                                    </p:set>
                                  </p:childTnLst>
                                  <p:subTnLst>
                                    <p:set>
                                      <p:cBhvr override="childStyle">
                                        <p:cTn dur="1" fill="hold" display="0" masterRel="nextClick" afterEffect="1"/>
                                        <p:tgtEl>
                                          <p:spTgt spid="7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i="1" dirty="0"/>
              <a:t>例：库存销售信息管理系统的</a:t>
            </a:r>
            <a:r>
              <a:rPr lang="en-GB" altLang="zh-CN" i="1" dirty="0"/>
              <a:t>ER</a:t>
            </a:r>
            <a:r>
              <a:rPr lang="zh-CN" altLang="en-US" i="1" dirty="0"/>
              <a:t>模型及转换</a:t>
            </a:r>
            <a:endParaRPr lang="en-US" altLang="zh-CN" i="1" dirty="0"/>
          </a:p>
          <a:p>
            <a:pPr lvl="1">
              <a:lnSpc>
                <a:spcPct val="150000"/>
              </a:lnSpc>
            </a:pPr>
            <a:endParaRPr lang="en-US" altLang="zh-CN" sz="2400" b="0" i="1"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grpSp>
        <p:nvGrpSpPr>
          <p:cNvPr id="6" name="Group 3"/>
          <p:cNvGrpSpPr/>
          <p:nvPr/>
        </p:nvGrpSpPr>
        <p:grpSpPr bwMode="auto">
          <a:xfrm>
            <a:off x="1322363" y="2062163"/>
            <a:ext cx="4657303" cy="4310393"/>
            <a:chOff x="1472" y="2916"/>
            <a:chExt cx="7270" cy="3371"/>
          </a:xfrm>
        </p:grpSpPr>
        <p:sp>
          <p:nvSpPr>
            <p:cNvPr id="7" name="Rectangle 4"/>
            <p:cNvSpPr>
              <a:spLocks noChangeArrowheads="1"/>
            </p:cNvSpPr>
            <p:nvPr/>
          </p:nvSpPr>
          <p:spPr bwMode="auto">
            <a:xfrm>
              <a:off x="7667" y="5652"/>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P</a:t>
              </a:r>
              <a:endParaRPr lang="en-US" altLang="zh-CN" sz="1600" u="none">
                <a:solidFill>
                  <a:srgbClr val="000000"/>
                </a:solidFill>
                <a:latin typeface="微软雅黑" panose="020B0503020204020204" pitchFamily="34" charset="-122"/>
                <a:ea typeface="微软雅黑" panose="020B0503020204020204" pitchFamily="34" charset="-122"/>
              </a:endParaRPr>
            </a:p>
          </p:txBody>
        </p:sp>
        <p:grpSp>
          <p:nvGrpSpPr>
            <p:cNvPr id="8" name="Group 5"/>
            <p:cNvGrpSpPr/>
            <p:nvPr/>
          </p:nvGrpSpPr>
          <p:grpSpPr bwMode="auto">
            <a:xfrm>
              <a:off x="1472" y="2916"/>
              <a:ext cx="7270" cy="3371"/>
              <a:chOff x="1472" y="2916"/>
              <a:chExt cx="7270" cy="3371"/>
            </a:xfrm>
          </p:grpSpPr>
          <p:sp>
            <p:nvSpPr>
              <p:cNvPr id="10" name="Text Box 6"/>
              <p:cNvSpPr txBox="1">
                <a:spLocks noChangeArrowheads="1"/>
              </p:cNvSpPr>
              <p:nvPr/>
            </p:nvSpPr>
            <p:spPr bwMode="auto">
              <a:xfrm>
                <a:off x="1472" y="4248"/>
                <a:ext cx="720" cy="468"/>
              </a:xfrm>
              <a:prstGeom prst="rect">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车间</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11" name="Text Box 7"/>
              <p:cNvSpPr txBox="1">
                <a:spLocks noChangeArrowheads="1"/>
              </p:cNvSpPr>
              <p:nvPr/>
            </p:nvSpPr>
            <p:spPr bwMode="auto">
              <a:xfrm>
                <a:off x="4337" y="2916"/>
                <a:ext cx="720" cy="468"/>
              </a:xfrm>
              <a:prstGeom prst="rect">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仓位</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12" name="Text Box 8"/>
              <p:cNvSpPr txBox="1">
                <a:spLocks noChangeArrowheads="1"/>
              </p:cNvSpPr>
              <p:nvPr/>
            </p:nvSpPr>
            <p:spPr bwMode="auto">
              <a:xfrm>
                <a:off x="4307" y="5184"/>
                <a:ext cx="720" cy="468"/>
              </a:xfrm>
              <a:prstGeom prst="rect">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产品</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13" name="Text Box 9"/>
              <p:cNvSpPr txBox="1">
                <a:spLocks noChangeArrowheads="1"/>
              </p:cNvSpPr>
              <p:nvPr/>
            </p:nvSpPr>
            <p:spPr bwMode="auto">
              <a:xfrm>
                <a:off x="7457" y="4092"/>
                <a:ext cx="720" cy="468"/>
              </a:xfrm>
              <a:prstGeom prst="rect">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a:solidFill>
                      <a:srgbClr val="000000"/>
                    </a:solidFill>
                    <a:latin typeface="微软雅黑" panose="020B0503020204020204" pitchFamily="34" charset="-122"/>
                    <a:ea typeface="微软雅黑" panose="020B0503020204020204" pitchFamily="34" charset="-122"/>
                  </a:rPr>
                  <a:t>客户</a:t>
                </a:r>
                <a:endParaRPr lang="zh-CN" altLang="en-US" sz="1600" u="none">
                  <a:solidFill>
                    <a:srgbClr val="000000"/>
                  </a:solidFill>
                  <a:latin typeface="微软雅黑" panose="020B0503020204020204" pitchFamily="34" charset="-122"/>
                  <a:ea typeface="微软雅黑" panose="020B0503020204020204" pitchFamily="34" charset="-122"/>
                </a:endParaRPr>
              </a:p>
            </p:txBody>
          </p:sp>
          <p:sp>
            <p:nvSpPr>
              <p:cNvPr id="14" name="Text Box 10"/>
              <p:cNvSpPr txBox="1">
                <a:spLocks noChangeArrowheads="1"/>
              </p:cNvSpPr>
              <p:nvPr/>
            </p:nvSpPr>
            <p:spPr bwMode="auto">
              <a:xfrm>
                <a:off x="7315" y="5996"/>
                <a:ext cx="1427" cy="291"/>
              </a:xfrm>
              <a:prstGeom prst="rect">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600" u="none" dirty="0">
                    <a:solidFill>
                      <a:srgbClr val="000000"/>
                    </a:solidFill>
                    <a:latin typeface="微软雅黑" panose="020B0503020204020204" pitchFamily="34" charset="-122"/>
                    <a:ea typeface="微软雅黑" panose="020B0503020204020204" pitchFamily="34" charset="-122"/>
                  </a:rPr>
                  <a:t>销售员</a:t>
                </a:r>
                <a:endParaRPr lang="zh-CN" altLang="en-US" sz="1600" u="none" dirty="0">
                  <a:solidFill>
                    <a:srgbClr val="000000"/>
                  </a:solidFill>
                  <a:latin typeface="微软雅黑" panose="020B0503020204020204" pitchFamily="34" charset="-122"/>
                  <a:ea typeface="微软雅黑" panose="020B0503020204020204" pitchFamily="34" charset="-122"/>
                </a:endParaRPr>
              </a:p>
            </p:txBody>
          </p:sp>
          <p:sp>
            <p:nvSpPr>
              <p:cNvPr id="15" name="AutoShape 11"/>
              <p:cNvSpPr>
                <a:spLocks noChangeArrowheads="1"/>
              </p:cNvSpPr>
              <p:nvPr/>
            </p:nvSpPr>
            <p:spPr bwMode="auto">
              <a:xfrm>
                <a:off x="4202" y="4092"/>
                <a:ext cx="1080" cy="624"/>
              </a:xfrm>
              <a:prstGeom prst="flowChartDecision">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存储</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16" name="AutoShape 12"/>
              <p:cNvSpPr>
                <a:spLocks noChangeArrowheads="1"/>
              </p:cNvSpPr>
              <p:nvPr/>
            </p:nvSpPr>
            <p:spPr bwMode="auto">
              <a:xfrm>
                <a:off x="5672" y="4092"/>
                <a:ext cx="1080" cy="624"/>
              </a:xfrm>
              <a:prstGeom prst="flowChartDecision">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出库</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17" name="AutoShape 13"/>
              <p:cNvSpPr>
                <a:spLocks noChangeArrowheads="1"/>
              </p:cNvSpPr>
              <p:nvPr/>
            </p:nvSpPr>
            <p:spPr bwMode="auto">
              <a:xfrm>
                <a:off x="5777" y="5184"/>
                <a:ext cx="1080" cy="624"/>
              </a:xfrm>
              <a:prstGeom prst="flowChartDecision">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订单</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18" name="AutoShape 14"/>
              <p:cNvSpPr>
                <a:spLocks noChangeArrowheads="1"/>
              </p:cNvSpPr>
              <p:nvPr/>
            </p:nvSpPr>
            <p:spPr bwMode="auto">
              <a:xfrm>
                <a:off x="2732" y="4092"/>
                <a:ext cx="1080" cy="624"/>
              </a:xfrm>
              <a:prstGeom prst="flowChartDecision">
                <a:avLst/>
              </a:prstGeom>
              <a:solidFill>
                <a:srgbClr val="FFFFFF"/>
              </a:solidFill>
              <a:ln w="9525">
                <a:solidFill>
                  <a:srgbClr val="000000"/>
                </a:solidFill>
                <a:miter lim="800000"/>
              </a:ln>
            </p:spPr>
            <p:txBody>
              <a:bodyPr tIns="3600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400" u="none">
                    <a:solidFill>
                      <a:srgbClr val="000000"/>
                    </a:solidFill>
                    <a:latin typeface="微软雅黑" panose="020B0503020204020204" pitchFamily="34" charset="-122"/>
                    <a:ea typeface="微软雅黑" panose="020B0503020204020204" pitchFamily="34" charset="-122"/>
                  </a:rPr>
                  <a:t>入库</a:t>
                </a:r>
                <a:endParaRPr lang="zh-CN" altLang="en-US" sz="1400" u="none">
                  <a:solidFill>
                    <a:srgbClr val="000000"/>
                  </a:solidFill>
                  <a:latin typeface="微软雅黑" panose="020B0503020204020204" pitchFamily="34" charset="-122"/>
                  <a:ea typeface="微软雅黑" panose="020B0503020204020204" pitchFamily="34" charset="-122"/>
                </a:endParaRPr>
              </a:p>
            </p:txBody>
          </p:sp>
          <p:sp>
            <p:nvSpPr>
              <p:cNvPr id="19" name="Freeform 15"/>
              <p:cNvSpPr/>
              <p:nvPr/>
            </p:nvSpPr>
            <p:spPr bwMode="auto">
              <a:xfrm>
                <a:off x="4725" y="3390"/>
                <a:ext cx="1" cy="705"/>
              </a:xfrm>
              <a:custGeom>
                <a:avLst/>
                <a:gdLst>
                  <a:gd name="T0" fmla="*/ 0 w 1"/>
                  <a:gd name="T1" fmla="*/ 0 h 705"/>
                  <a:gd name="T2" fmla="*/ 0 w 1"/>
                  <a:gd name="T3" fmla="*/ 705 h 705"/>
                  <a:gd name="T4" fmla="*/ 0 60000 65536"/>
                  <a:gd name="T5" fmla="*/ 0 60000 65536"/>
                </a:gdLst>
                <a:ahLst/>
                <a:cxnLst>
                  <a:cxn ang="T4">
                    <a:pos x="T0" y="T1"/>
                  </a:cxn>
                  <a:cxn ang="T5">
                    <a:pos x="T2" y="T3"/>
                  </a:cxn>
                </a:cxnLst>
                <a:rect l="0" t="0" r="r" b="b"/>
                <a:pathLst>
                  <a:path w="1" h="705">
                    <a:moveTo>
                      <a:pt x="0" y="0"/>
                    </a:moveTo>
                    <a:lnTo>
                      <a:pt x="0" y="705"/>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Line 16"/>
              <p:cNvSpPr>
                <a:spLocks noChangeShapeType="1"/>
              </p:cNvSpPr>
              <p:nvPr/>
            </p:nvSpPr>
            <p:spPr bwMode="auto">
              <a:xfrm>
                <a:off x="4697" y="46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Line 17"/>
              <p:cNvSpPr>
                <a:spLocks noChangeShapeType="1"/>
              </p:cNvSpPr>
              <p:nvPr/>
            </p:nvSpPr>
            <p:spPr bwMode="auto">
              <a:xfrm>
                <a:off x="2207" y="4404"/>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Line 18"/>
              <p:cNvSpPr>
                <a:spLocks noChangeShapeType="1"/>
              </p:cNvSpPr>
              <p:nvPr/>
            </p:nvSpPr>
            <p:spPr bwMode="auto">
              <a:xfrm>
                <a:off x="6722" y="4404"/>
                <a:ext cx="7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Line 19"/>
              <p:cNvSpPr>
                <a:spLocks noChangeShapeType="1"/>
              </p:cNvSpPr>
              <p:nvPr/>
            </p:nvSpPr>
            <p:spPr bwMode="auto">
              <a:xfrm flipH="1">
                <a:off x="5057" y="4676"/>
                <a:ext cx="10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Freeform 20"/>
              <p:cNvSpPr/>
              <p:nvPr/>
            </p:nvSpPr>
            <p:spPr bwMode="auto">
              <a:xfrm>
                <a:off x="5040" y="5490"/>
                <a:ext cx="780" cy="1"/>
              </a:xfrm>
              <a:custGeom>
                <a:avLst/>
                <a:gdLst>
                  <a:gd name="T0" fmla="*/ 0 w 780"/>
                  <a:gd name="T1" fmla="*/ 0 h 1"/>
                  <a:gd name="T2" fmla="*/ 780 w 780"/>
                  <a:gd name="T3" fmla="*/ 0 h 1"/>
                  <a:gd name="T4" fmla="*/ 0 60000 65536"/>
                  <a:gd name="T5" fmla="*/ 0 60000 65536"/>
                </a:gdLst>
                <a:ahLst/>
                <a:cxnLst>
                  <a:cxn ang="T4">
                    <a:pos x="T0" y="T1"/>
                  </a:cxn>
                  <a:cxn ang="T5">
                    <a:pos x="T2" y="T3"/>
                  </a:cxn>
                </a:cxnLst>
                <a:rect l="0" t="0" r="r" b="b"/>
                <a:pathLst>
                  <a:path w="780" h="1">
                    <a:moveTo>
                      <a:pt x="0" y="0"/>
                    </a:moveTo>
                    <a:lnTo>
                      <a:pt x="7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5" name="Line 21"/>
              <p:cNvSpPr>
                <a:spLocks noChangeShapeType="1"/>
              </p:cNvSpPr>
              <p:nvPr/>
            </p:nvSpPr>
            <p:spPr bwMode="auto">
              <a:xfrm>
                <a:off x="6827" y="5496"/>
                <a:ext cx="105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Line 22"/>
              <p:cNvSpPr>
                <a:spLocks noChangeShapeType="1"/>
              </p:cNvSpPr>
              <p:nvPr/>
            </p:nvSpPr>
            <p:spPr bwMode="auto">
              <a:xfrm flipV="1">
                <a:off x="3257" y="3156"/>
                <a:ext cx="105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Line 23"/>
              <p:cNvSpPr>
                <a:spLocks noChangeShapeType="1"/>
              </p:cNvSpPr>
              <p:nvPr/>
            </p:nvSpPr>
            <p:spPr bwMode="auto">
              <a:xfrm>
                <a:off x="5042" y="3156"/>
                <a:ext cx="1155"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Line 24"/>
              <p:cNvSpPr>
                <a:spLocks noChangeShapeType="1"/>
              </p:cNvSpPr>
              <p:nvPr/>
            </p:nvSpPr>
            <p:spPr bwMode="auto">
              <a:xfrm>
                <a:off x="3257" y="4676"/>
                <a:ext cx="108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Freeform 25"/>
              <p:cNvSpPr/>
              <p:nvPr/>
            </p:nvSpPr>
            <p:spPr bwMode="auto">
              <a:xfrm>
                <a:off x="6315" y="4560"/>
                <a:ext cx="1515" cy="645"/>
              </a:xfrm>
              <a:custGeom>
                <a:avLst/>
                <a:gdLst>
                  <a:gd name="T0" fmla="*/ 0 w 1515"/>
                  <a:gd name="T1" fmla="*/ 645 h 645"/>
                  <a:gd name="T2" fmla="*/ 1515 w 1515"/>
                  <a:gd name="T3" fmla="*/ 0 h 645"/>
                  <a:gd name="T4" fmla="*/ 0 60000 65536"/>
                  <a:gd name="T5" fmla="*/ 0 60000 65536"/>
                </a:gdLst>
                <a:ahLst/>
                <a:cxnLst>
                  <a:cxn ang="T4">
                    <a:pos x="T0" y="T1"/>
                  </a:cxn>
                  <a:cxn ang="T5">
                    <a:pos x="T2" y="T3"/>
                  </a:cxn>
                </a:cxnLst>
                <a:rect l="0" t="0" r="r" b="b"/>
                <a:pathLst>
                  <a:path w="1515" h="645">
                    <a:moveTo>
                      <a:pt x="0" y="645"/>
                    </a:moveTo>
                    <a:lnTo>
                      <a:pt x="1515"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Rectangle 26"/>
              <p:cNvSpPr>
                <a:spLocks noChangeArrowheads="1"/>
              </p:cNvSpPr>
              <p:nvPr/>
            </p:nvSpPr>
            <p:spPr bwMode="auto">
              <a:xfrm>
                <a:off x="2102" y="4092"/>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M</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1" name="Rectangle 27"/>
              <p:cNvSpPr>
                <a:spLocks noChangeArrowheads="1"/>
              </p:cNvSpPr>
              <p:nvPr/>
            </p:nvSpPr>
            <p:spPr bwMode="auto">
              <a:xfrm>
                <a:off x="3782" y="3000"/>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N</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2" name="Rectangle 28"/>
              <p:cNvSpPr>
                <a:spLocks noChangeArrowheads="1"/>
              </p:cNvSpPr>
              <p:nvPr/>
            </p:nvSpPr>
            <p:spPr bwMode="auto">
              <a:xfrm>
                <a:off x="5042" y="3000"/>
                <a:ext cx="57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M</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3" name="Rectangle 29"/>
              <p:cNvSpPr>
                <a:spLocks noChangeArrowheads="1"/>
              </p:cNvSpPr>
              <p:nvPr/>
            </p:nvSpPr>
            <p:spPr bwMode="auto">
              <a:xfrm>
                <a:off x="3782" y="4716"/>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P</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4" name="Rectangle 30"/>
              <p:cNvSpPr>
                <a:spLocks noChangeArrowheads="1"/>
              </p:cNvSpPr>
              <p:nvPr/>
            </p:nvSpPr>
            <p:spPr bwMode="auto">
              <a:xfrm>
                <a:off x="4622" y="3468"/>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M</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5" name="Rectangle 31"/>
              <p:cNvSpPr>
                <a:spLocks noChangeArrowheads="1"/>
              </p:cNvSpPr>
              <p:nvPr/>
            </p:nvSpPr>
            <p:spPr bwMode="auto">
              <a:xfrm>
                <a:off x="4517" y="4872"/>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N</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6" name="Rectangle 32"/>
              <p:cNvSpPr>
                <a:spLocks noChangeArrowheads="1"/>
              </p:cNvSpPr>
              <p:nvPr/>
            </p:nvSpPr>
            <p:spPr bwMode="auto">
              <a:xfrm>
                <a:off x="5147" y="4716"/>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P</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7" name="Rectangle 33"/>
              <p:cNvSpPr>
                <a:spLocks noChangeArrowheads="1"/>
              </p:cNvSpPr>
              <p:nvPr/>
            </p:nvSpPr>
            <p:spPr bwMode="auto">
              <a:xfrm>
                <a:off x="4937" y="5496"/>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M</a:t>
                </a:r>
                <a:endParaRPr lang="en-US" altLang="zh-CN" sz="1600" u="none">
                  <a:solidFill>
                    <a:srgbClr val="000000"/>
                  </a:solidFill>
                  <a:latin typeface="微软雅黑" panose="020B0503020204020204" pitchFamily="34" charset="-122"/>
                  <a:ea typeface="微软雅黑" panose="020B0503020204020204" pitchFamily="34" charset="-122"/>
                </a:endParaRPr>
              </a:p>
            </p:txBody>
          </p:sp>
          <p:sp>
            <p:nvSpPr>
              <p:cNvPr id="38" name="Rectangle 34"/>
              <p:cNvSpPr>
                <a:spLocks noChangeArrowheads="1"/>
              </p:cNvSpPr>
              <p:nvPr/>
            </p:nvSpPr>
            <p:spPr bwMode="auto">
              <a:xfrm>
                <a:off x="7562" y="4560"/>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N</a:t>
                </a:r>
                <a:endParaRPr lang="en-US" altLang="zh-CN" sz="1600" u="none">
                  <a:solidFill>
                    <a:srgbClr val="000000"/>
                  </a:solidFill>
                  <a:latin typeface="微软雅黑" panose="020B0503020204020204" pitchFamily="34" charset="-122"/>
                  <a:ea typeface="微软雅黑" panose="020B0503020204020204" pitchFamily="34" charset="-122"/>
                </a:endParaRPr>
              </a:p>
            </p:txBody>
          </p:sp>
        </p:grpSp>
        <p:sp>
          <p:nvSpPr>
            <p:cNvPr id="9" name="Rectangle 35"/>
            <p:cNvSpPr>
              <a:spLocks noChangeArrowheads="1"/>
            </p:cNvSpPr>
            <p:nvPr/>
          </p:nvSpPr>
          <p:spPr bwMode="auto">
            <a:xfrm>
              <a:off x="7037" y="4092"/>
              <a:ext cx="52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en-US" altLang="zh-CN" sz="1600" u="none">
                  <a:solidFill>
                    <a:srgbClr val="000000"/>
                  </a:solidFill>
                  <a:latin typeface="微软雅黑" panose="020B0503020204020204" pitchFamily="34" charset="-122"/>
                  <a:ea typeface="微软雅黑" panose="020B0503020204020204" pitchFamily="34" charset="-122"/>
                </a:rPr>
                <a:t>N</a:t>
              </a:r>
              <a:endParaRPr lang="en-US" altLang="zh-CN" sz="1600" u="none">
                <a:solidFill>
                  <a:srgbClr val="000000"/>
                </a:solidFill>
                <a:latin typeface="微软雅黑" panose="020B0503020204020204" pitchFamily="34" charset="-122"/>
                <a:ea typeface="微软雅黑" panose="020B0503020204020204" pitchFamily="34" charset="-122"/>
              </a:endParaRPr>
            </a:p>
          </p:txBody>
        </p:sp>
      </p:grpSp>
      <p:sp>
        <p:nvSpPr>
          <p:cNvPr id="39" name="Rectangle 36"/>
          <p:cNvSpPr>
            <a:spLocks noChangeArrowheads="1"/>
          </p:cNvSpPr>
          <p:nvPr/>
        </p:nvSpPr>
        <p:spPr bwMode="auto">
          <a:xfrm>
            <a:off x="2160563" y="6100763"/>
            <a:ext cx="21336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2400" u="none">
                <a:solidFill>
                  <a:srgbClr val="000000"/>
                </a:solidFill>
                <a:latin typeface="微软雅黑" panose="020B0503020204020204" pitchFamily="34" charset="-122"/>
                <a:ea typeface="微软雅黑" panose="020B0503020204020204" pitchFamily="34" charset="-122"/>
              </a:rPr>
              <a:t>库存系统</a:t>
            </a:r>
            <a:r>
              <a:rPr kumimoji="1" lang="en-US" altLang="zh-CN" sz="2400" u="none">
                <a:solidFill>
                  <a:srgbClr val="000000"/>
                </a:solidFill>
                <a:latin typeface="微软雅黑" panose="020B0503020204020204" pitchFamily="34" charset="-122"/>
                <a:ea typeface="微软雅黑" panose="020B0503020204020204" pitchFamily="34" charset="-122"/>
              </a:rPr>
              <a:t>ER</a:t>
            </a:r>
            <a:r>
              <a:rPr kumimoji="1" lang="zh-CN" altLang="en-US" sz="2400" u="none">
                <a:solidFill>
                  <a:srgbClr val="000000"/>
                </a:solidFill>
                <a:latin typeface="微软雅黑" panose="020B0503020204020204" pitchFamily="34" charset="-122"/>
                <a:ea typeface="微软雅黑" panose="020B0503020204020204" pitchFamily="34" charset="-122"/>
              </a:rPr>
              <a:t>图</a:t>
            </a:r>
            <a:endParaRPr kumimoji="1" lang="zh-CN" altLang="en-US" sz="2400" u="none">
              <a:solidFill>
                <a:srgbClr val="000000"/>
              </a:solidFill>
              <a:latin typeface="微软雅黑" panose="020B0503020204020204" pitchFamily="34" charset="-122"/>
              <a:ea typeface="微软雅黑" panose="020B0503020204020204" pitchFamily="34" charset="-122"/>
            </a:endParaRPr>
          </a:p>
        </p:txBody>
      </p:sp>
      <p:sp>
        <p:nvSpPr>
          <p:cNvPr id="40" name="AutoShape 37"/>
          <p:cNvSpPr>
            <a:spLocks noChangeArrowheads="1"/>
          </p:cNvSpPr>
          <p:nvPr/>
        </p:nvSpPr>
        <p:spPr bwMode="auto">
          <a:xfrm>
            <a:off x="4751363" y="2443163"/>
            <a:ext cx="1371600" cy="304800"/>
          </a:xfrm>
          <a:prstGeom prst="rightArrow">
            <a:avLst>
              <a:gd name="adj1" fmla="val 50000"/>
              <a:gd name="adj2" fmla="val 112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41" name="Rectangle 38"/>
          <p:cNvSpPr>
            <a:spLocks noChangeArrowheads="1"/>
          </p:cNvSpPr>
          <p:nvPr/>
        </p:nvSpPr>
        <p:spPr bwMode="auto">
          <a:xfrm>
            <a:off x="6199163" y="1985963"/>
            <a:ext cx="4200525" cy="1676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车间</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a:solidFill>
                  <a:srgbClr val="000000"/>
                </a:solidFill>
                <a:latin typeface="微软雅黑" panose="020B0503020204020204" pitchFamily="34" charset="-122"/>
                <a:ea typeface="微软雅黑" panose="020B0503020204020204" pitchFamily="34" charset="-122"/>
              </a:rPr>
              <a:t>车间号</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车间名</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主任名</a:t>
            </a:r>
            <a:r>
              <a:rPr kumimoji="1" lang="en-US" altLang="zh-CN" sz="1600" b="1" u="none">
                <a:solidFill>
                  <a:srgbClr val="000000"/>
                </a:solidFill>
                <a:latin typeface="微软雅黑" panose="020B0503020204020204" pitchFamily="34" charset="-122"/>
                <a:ea typeface="微软雅黑" panose="020B0503020204020204" pitchFamily="34" charset="-122"/>
              </a:rPr>
              <a:t>)             </a:t>
            </a:r>
            <a:endParaRPr kumimoji="1" lang="en-US" altLang="zh-CN" sz="1600" b="1" u="none">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产品</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a:solidFill>
                  <a:srgbClr val="000000"/>
                </a:solidFill>
                <a:latin typeface="微软雅黑" panose="020B0503020204020204" pitchFamily="34" charset="-122"/>
                <a:ea typeface="微软雅黑" panose="020B0503020204020204" pitchFamily="34" charset="-122"/>
              </a:rPr>
              <a:t>产品号</a:t>
            </a:r>
            <a:r>
              <a:rPr kumimoji="1" lang="zh-CN" altLang="en-US" sz="1600" b="1" u="none">
                <a:solidFill>
                  <a:srgbClr val="000000"/>
                </a:solidFill>
                <a:latin typeface="微软雅黑" panose="020B0503020204020204" pitchFamily="34" charset="-122"/>
                <a:ea typeface="微软雅黑" panose="020B0503020204020204" pitchFamily="34" charset="-122"/>
              </a:rPr>
              <a:t>，产品名，单价</a:t>
            </a:r>
            <a:r>
              <a:rPr kumimoji="1" lang="en-US" altLang="zh-CN" sz="1600" b="1" u="none">
                <a:solidFill>
                  <a:srgbClr val="000000"/>
                </a:solidFill>
                <a:latin typeface="微软雅黑" panose="020B0503020204020204" pitchFamily="34" charset="-122"/>
                <a:ea typeface="微软雅黑" panose="020B0503020204020204" pitchFamily="34" charset="-122"/>
              </a:rPr>
              <a:t>)            </a:t>
            </a:r>
            <a:endParaRPr kumimoji="1" lang="en-US" altLang="zh-CN" sz="1600" b="1" u="none">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仓位</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a:solidFill>
                  <a:srgbClr val="000000"/>
                </a:solidFill>
                <a:latin typeface="微软雅黑" panose="020B0503020204020204" pitchFamily="34" charset="-122"/>
                <a:ea typeface="微软雅黑" panose="020B0503020204020204" pitchFamily="34" charset="-122"/>
              </a:rPr>
              <a:t>仓位号</a:t>
            </a:r>
            <a:r>
              <a:rPr kumimoji="1" lang="zh-CN" altLang="en-US" sz="1600" b="1" u="none">
                <a:solidFill>
                  <a:srgbClr val="000000"/>
                </a:solidFill>
                <a:latin typeface="微软雅黑" panose="020B0503020204020204" pitchFamily="34" charset="-122"/>
                <a:ea typeface="微软雅黑" panose="020B0503020204020204" pitchFamily="34" charset="-122"/>
              </a:rPr>
              <a:t>，地址，主任名</a:t>
            </a:r>
            <a:r>
              <a:rPr kumimoji="1" lang="en-US" altLang="zh-CN" sz="1600" b="1" u="none">
                <a:solidFill>
                  <a:srgbClr val="000000"/>
                </a:solidFill>
                <a:latin typeface="微软雅黑" panose="020B0503020204020204" pitchFamily="34" charset="-122"/>
                <a:ea typeface="微软雅黑" panose="020B0503020204020204" pitchFamily="34" charset="-122"/>
              </a:rPr>
              <a:t>)             </a:t>
            </a:r>
            <a:endParaRPr kumimoji="1" lang="en-US" altLang="zh-CN" sz="1600" b="1" u="none">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客户</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a:solidFill>
                  <a:srgbClr val="000000"/>
                </a:solidFill>
                <a:latin typeface="微软雅黑" panose="020B0503020204020204" pitchFamily="34" charset="-122"/>
                <a:ea typeface="微软雅黑" panose="020B0503020204020204" pitchFamily="34" charset="-122"/>
              </a:rPr>
              <a:t>客户号</a:t>
            </a:r>
            <a:r>
              <a:rPr kumimoji="1" lang="zh-CN" altLang="en-US" sz="1600" b="1" u="none">
                <a:solidFill>
                  <a:srgbClr val="000000"/>
                </a:solidFill>
                <a:latin typeface="微软雅黑" panose="020B0503020204020204" pitchFamily="34" charset="-122"/>
                <a:ea typeface="微软雅黑" panose="020B0503020204020204" pitchFamily="34" charset="-122"/>
              </a:rPr>
              <a:t>，客户名，联系人，电话，    </a:t>
            </a:r>
            <a:endParaRPr kumimoji="1" lang="zh-CN" altLang="en-US" sz="1600" b="1" u="none">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地址，税号，账号</a:t>
            </a:r>
            <a:r>
              <a:rPr kumimoji="1" lang="en-US" altLang="zh-CN" sz="1600" b="1" u="none">
                <a:solidFill>
                  <a:srgbClr val="000000"/>
                </a:solidFill>
                <a:latin typeface="微软雅黑" panose="020B0503020204020204" pitchFamily="34" charset="-122"/>
                <a:ea typeface="微软雅黑" panose="020B0503020204020204" pitchFamily="34" charset="-122"/>
              </a:rPr>
              <a:t>)</a:t>
            </a:r>
            <a:endParaRPr kumimoji="1" lang="en-US" altLang="zh-CN" sz="1600" b="1" u="none">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a:solidFill>
                  <a:srgbClr val="000000"/>
                </a:solidFill>
                <a:latin typeface="微软雅黑" panose="020B0503020204020204" pitchFamily="34" charset="-122"/>
                <a:ea typeface="微软雅黑" panose="020B0503020204020204" pitchFamily="34" charset="-122"/>
              </a:rPr>
              <a:t>销售员</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a:solidFill>
                  <a:srgbClr val="000000"/>
                </a:solidFill>
                <a:latin typeface="微软雅黑" panose="020B0503020204020204" pitchFamily="34" charset="-122"/>
                <a:ea typeface="微软雅黑" panose="020B0503020204020204" pitchFamily="34" charset="-122"/>
              </a:rPr>
              <a:t>销售员号</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姓名</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性别</a:t>
            </a:r>
            <a:r>
              <a:rPr kumimoji="1" lang="en-US" altLang="zh-CN" sz="16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学历</a:t>
            </a:r>
            <a:r>
              <a:rPr kumimoji="1" lang="en-US" altLang="zh-CN" sz="2400" b="1" u="none">
                <a:solidFill>
                  <a:srgbClr val="000000"/>
                </a:solidFill>
                <a:latin typeface="微软雅黑" panose="020B0503020204020204" pitchFamily="34" charset="-122"/>
                <a:ea typeface="微软雅黑" panose="020B0503020204020204" pitchFamily="34" charset="-122"/>
              </a:rPr>
              <a:t>,</a:t>
            </a:r>
            <a:r>
              <a:rPr kumimoji="1" lang="zh-CN" altLang="en-US" sz="1600" b="1" u="none">
                <a:solidFill>
                  <a:srgbClr val="000000"/>
                </a:solidFill>
                <a:latin typeface="微软雅黑" panose="020B0503020204020204" pitchFamily="34" charset="-122"/>
                <a:ea typeface="微软雅黑" panose="020B0503020204020204" pitchFamily="34" charset="-122"/>
              </a:rPr>
              <a:t>业绩）</a:t>
            </a:r>
            <a:endParaRPr kumimoji="1" lang="zh-CN" altLang="en-US" sz="2400" b="1" u="none">
              <a:solidFill>
                <a:srgbClr val="000000"/>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a:off x="4751363" y="2138363"/>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latin typeface="微软雅黑" panose="020B0503020204020204" pitchFamily="34" charset="-122"/>
                <a:ea typeface="微软雅黑" panose="020B0503020204020204" pitchFamily="34" charset="-122"/>
              </a:rPr>
              <a:t>实体</a:t>
            </a:r>
            <a:endParaRPr kumimoji="1" lang="zh-CN" altLang="en-US" sz="1800" u="none">
              <a:solidFill>
                <a:srgbClr val="000000"/>
              </a:solidFill>
              <a:latin typeface="微软雅黑" panose="020B0503020204020204" pitchFamily="34" charset="-122"/>
              <a:ea typeface="微软雅黑" panose="020B0503020204020204" pitchFamily="34" charset="-122"/>
            </a:endParaRPr>
          </a:p>
        </p:txBody>
      </p:sp>
      <p:sp>
        <p:nvSpPr>
          <p:cNvPr id="43" name="Oval 40"/>
          <p:cNvSpPr>
            <a:spLocks noChangeArrowheads="1"/>
          </p:cNvSpPr>
          <p:nvPr/>
        </p:nvSpPr>
        <p:spPr bwMode="auto">
          <a:xfrm>
            <a:off x="2084363" y="3433763"/>
            <a:ext cx="838200" cy="10668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44" name="Oval 41"/>
          <p:cNvSpPr>
            <a:spLocks noChangeArrowheads="1"/>
          </p:cNvSpPr>
          <p:nvPr/>
        </p:nvSpPr>
        <p:spPr bwMode="auto">
          <a:xfrm>
            <a:off x="3989363" y="4805363"/>
            <a:ext cx="838200" cy="10668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45" name="Oval 42"/>
          <p:cNvSpPr>
            <a:spLocks noChangeArrowheads="1"/>
          </p:cNvSpPr>
          <p:nvPr/>
        </p:nvSpPr>
        <p:spPr bwMode="auto">
          <a:xfrm>
            <a:off x="3913163" y="3357563"/>
            <a:ext cx="838200" cy="1066800"/>
          </a:xfrm>
          <a:prstGeom prst="ellipse">
            <a:avLst/>
          </a:prstGeom>
          <a:noFill/>
          <a:ln w="25400">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5894363" y="4119563"/>
            <a:ext cx="4527550" cy="2057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b="1" u="none" dirty="0">
                <a:solidFill>
                  <a:srgbClr val="000000"/>
                </a:solidFill>
                <a:latin typeface="微软雅黑" panose="020B0503020204020204" pitchFamily="34" charset="-122"/>
                <a:ea typeface="微软雅黑" panose="020B0503020204020204" pitchFamily="34" charset="-122"/>
              </a:rPr>
              <a:t>入库（</a:t>
            </a:r>
            <a:r>
              <a:rPr kumimoji="1" lang="zh-CN" altLang="en-US" sz="1600" b="1" dirty="0">
                <a:solidFill>
                  <a:schemeClr val="bg1">
                    <a:lumMod val="65000"/>
                  </a:schemeClr>
                </a:solidFill>
                <a:latin typeface="微软雅黑" panose="020B0503020204020204" pitchFamily="34" charset="-122"/>
                <a:ea typeface="微软雅黑" panose="020B0503020204020204" pitchFamily="34" charset="-122"/>
              </a:rPr>
              <a:t>入库单号</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入库量</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入库日期</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经手人</a:t>
            </a:r>
            <a:r>
              <a:rPr kumimoji="1" lang="en-US" altLang="zh-CN" sz="1600" b="1" u="none" dirty="0">
                <a:solidFill>
                  <a:srgbClr val="000000"/>
                </a:solidFill>
                <a:latin typeface="微软雅黑" panose="020B0503020204020204" pitchFamily="34" charset="-122"/>
                <a:ea typeface="微软雅黑" panose="020B0503020204020204" pitchFamily="34" charset="-122"/>
              </a:rPr>
              <a:t>,    </a:t>
            </a:r>
            <a:endParaRPr kumimoji="1" lang="en-US" altLang="zh-CN"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i="1" u="none" dirty="0">
                <a:solidFill>
                  <a:srgbClr val="000000"/>
                </a:solidFill>
                <a:latin typeface="微软雅黑" panose="020B0503020204020204" pitchFamily="34" charset="-122"/>
                <a:ea typeface="微软雅黑" panose="020B0503020204020204" pitchFamily="34" charset="-122"/>
              </a:rPr>
              <a:t>车间号</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仓位号</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产品名</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endParaRPr kumimoji="1" lang="zh-CN" altLang="en-US"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dirty="0">
                <a:solidFill>
                  <a:srgbClr val="000000"/>
                </a:solidFill>
                <a:latin typeface="微软雅黑" panose="020B0503020204020204" pitchFamily="34" charset="-122"/>
                <a:ea typeface="微软雅黑" panose="020B0503020204020204" pitchFamily="34" charset="-122"/>
              </a:rPr>
              <a:t>出库（</a:t>
            </a:r>
            <a:r>
              <a:rPr kumimoji="1" lang="zh-CN" altLang="en-US" sz="1600" b="1" dirty="0">
                <a:solidFill>
                  <a:schemeClr val="bg1">
                    <a:lumMod val="65000"/>
                  </a:schemeClr>
                </a:solidFill>
                <a:latin typeface="微软雅黑" panose="020B0503020204020204" pitchFamily="34" charset="-122"/>
                <a:ea typeface="微软雅黑" panose="020B0503020204020204" pitchFamily="34" charset="-122"/>
              </a:rPr>
              <a:t>出库单号</a:t>
            </a:r>
            <a:r>
              <a:rPr kumimoji="1" lang="zh-CN" altLang="en-US" sz="1600" b="1" u="none" dirty="0">
                <a:solidFill>
                  <a:srgbClr val="000000"/>
                </a:solidFill>
                <a:latin typeface="微软雅黑" panose="020B0503020204020204" pitchFamily="34" charset="-122"/>
                <a:ea typeface="微软雅黑" panose="020B0503020204020204" pitchFamily="34" charset="-122"/>
              </a:rPr>
              <a:t>，出库量，出库日期，经手人，</a:t>
            </a:r>
            <a:endParaRPr kumimoji="1" lang="zh-CN" altLang="en-US"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i="1" u="none" dirty="0">
                <a:solidFill>
                  <a:srgbClr val="000000"/>
                </a:solidFill>
                <a:latin typeface="微软雅黑" panose="020B0503020204020204" pitchFamily="34" charset="-122"/>
                <a:ea typeface="微软雅黑" panose="020B0503020204020204" pitchFamily="34" charset="-122"/>
              </a:rPr>
              <a:t>客户号</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产品号</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仓位号</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endParaRPr kumimoji="1" lang="zh-CN" altLang="en-US"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dirty="0">
                <a:solidFill>
                  <a:srgbClr val="000000"/>
                </a:solidFill>
                <a:latin typeface="微软雅黑" panose="020B0503020204020204" pitchFamily="34" charset="-122"/>
                <a:ea typeface="微软雅黑" panose="020B0503020204020204" pitchFamily="34" charset="-122"/>
              </a:rPr>
              <a:t>订单（</a:t>
            </a:r>
            <a:r>
              <a:rPr kumimoji="1" lang="zh-CN" altLang="en-US" sz="1600" b="1" dirty="0">
                <a:solidFill>
                  <a:schemeClr val="bg1">
                    <a:lumMod val="65000"/>
                  </a:schemeClr>
                </a:solidFill>
                <a:latin typeface="微软雅黑" panose="020B0503020204020204" pitchFamily="34" charset="-122"/>
                <a:ea typeface="微软雅黑" panose="020B0503020204020204" pitchFamily="34" charset="-122"/>
              </a:rPr>
              <a:t>订单号</a:t>
            </a:r>
            <a:r>
              <a:rPr kumimoji="1" lang="zh-CN" altLang="en-US" sz="1600" b="1" u="none" dirty="0">
                <a:solidFill>
                  <a:srgbClr val="000000"/>
                </a:solidFill>
                <a:latin typeface="微软雅黑" panose="020B0503020204020204" pitchFamily="34" charset="-122"/>
                <a:ea typeface="微软雅黑" panose="020B0503020204020204" pitchFamily="34" charset="-122"/>
              </a:rPr>
              <a:t>，数量，折扣，总价，订单日期，</a:t>
            </a:r>
            <a:endParaRPr kumimoji="1" lang="zh-CN" altLang="en-US"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i="1" u="none" dirty="0">
                <a:solidFill>
                  <a:srgbClr val="000000"/>
                </a:solidFill>
                <a:latin typeface="微软雅黑" panose="020B0503020204020204" pitchFamily="34" charset="-122"/>
                <a:ea typeface="微软雅黑" panose="020B0503020204020204" pitchFamily="34" charset="-122"/>
              </a:rPr>
              <a:t>产品号</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客户号</a:t>
            </a:r>
            <a:r>
              <a:rPr kumimoji="1" lang="zh-CN" altLang="en-US"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u="none" dirty="0">
                <a:solidFill>
                  <a:srgbClr val="000000"/>
                </a:solidFill>
                <a:latin typeface="微软雅黑" panose="020B0503020204020204" pitchFamily="34" charset="-122"/>
                <a:ea typeface="微软雅黑" panose="020B0503020204020204" pitchFamily="34" charset="-122"/>
              </a:rPr>
              <a:t>销售员号</a:t>
            </a:r>
            <a:r>
              <a:rPr kumimoji="1" lang="zh-CN" altLang="en-US" sz="1600" b="1" u="none" dirty="0">
                <a:solidFill>
                  <a:srgbClr val="000000"/>
                </a:solidFill>
                <a:latin typeface="微软雅黑" panose="020B0503020204020204" pitchFamily="34" charset="-122"/>
                <a:ea typeface="微软雅黑" panose="020B0503020204020204" pitchFamily="34" charset="-122"/>
              </a:rPr>
              <a:t>） </a:t>
            </a:r>
            <a:endParaRPr kumimoji="1" lang="zh-CN" altLang="en-US" sz="1600" b="1" u="none"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600" b="1" u="none" dirty="0">
                <a:solidFill>
                  <a:srgbClr val="000000"/>
                </a:solidFill>
                <a:latin typeface="微软雅黑" panose="020B0503020204020204" pitchFamily="34" charset="-122"/>
                <a:ea typeface="微软雅黑" panose="020B0503020204020204" pitchFamily="34" charset="-122"/>
              </a:rPr>
              <a:t>存储</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i="1" dirty="0">
                <a:solidFill>
                  <a:srgbClr val="000000"/>
                </a:solidFill>
                <a:latin typeface="微软雅黑" panose="020B0503020204020204" pitchFamily="34" charset="-122"/>
                <a:ea typeface="微软雅黑" panose="020B0503020204020204" pitchFamily="34" charset="-122"/>
              </a:rPr>
              <a:t>仓位号</a:t>
            </a:r>
            <a:r>
              <a:rPr kumimoji="1" lang="en-US" altLang="zh-CN" sz="1600" b="1" dirty="0">
                <a:solidFill>
                  <a:srgbClr val="000000"/>
                </a:solidFill>
                <a:latin typeface="微软雅黑" panose="020B0503020204020204" pitchFamily="34" charset="-122"/>
                <a:ea typeface="微软雅黑" panose="020B0503020204020204" pitchFamily="34" charset="-122"/>
              </a:rPr>
              <a:t>,</a:t>
            </a:r>
            <a:r>
              <a:rPr kumimoji="1" lang="zh-CN" altLang="en-US" sz="1600" b="1" i="1" dirty="0">
                <a:solidFill>
                  <a:srgbClr val="000000"/>
                </a:solidFill>
                <a:latin typeface="微软雅黑" panose="020B0503020204020204" pitchFamily="34" charset="-122"/>
                <a:ea typeface="微软雅黑" panose="020B0503020204020204" pitchFamily="34" charset="-122"/>
              </a:rPr>
              <a:t>产品号</a:t>
            </a:r>
            <a:r>
              <a:rPr kumimoji="1" lang="en-US" altLang="zh-CN" sz="1600" b="1"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核对日期</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核对员</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r>
              <a:rPr kumimoji="1" lang="zh-CN" altLang="en-US" sz="1600" b="1" u="none" dirty="0">
                <a:solidFill>
                  <a:srgbClr val="000000"/>
                </a:solidFill>
                <a:latin typeface="微软雅黑" panose="020B0503020204020204" pitchFamily="34" charset="-122"/>
                <a:ea typeface="微软雅黑" panose="020B0503020204020204" pitchFamily="34" charset="-122"/>
              </a:rPr>
              <a:t>存储量</a:t>
            </a:r>
            <a:r>
              <a:rPr kumimoji="1" lang="en-US" altLang="zh-CN" sz="1600" b="1" u="none" dirty="0">
                <a:solidFill>
                  <a:srgbClr val="000000"/>
                </a:solidFill>
                <a:latin typeface="微软雅黑" panose="020B0503020204020204" pitchFamily="34" charset="-122"/>
                <a:ea typeface="微软雅黑" panose="020B0503020204020204" pitchFamily="34" charset="-122"/>
              </a:rPr>
              <a:t>)</a:t>
            </a:r>
            <a:endParaRPr kumimoji="1" lang="en-US" altLang="zh-CN" sz="1600" b="1" u="none" dirty="0">
              <a:solidFill>
                <a:srgbClr val="000000"/>
              </a:solidFill>
              <a:latin typeface="微软雅黑" panose="020B0503020204020204" pitchFamily="34" charset="-122"/>
              <a:ea typeface="微软雅黑" panose="020B0503020204020204" pitchFamily="34" charset="-122"/>
            </a:endParaRPr>
          </a:p>
        </p:txBody>
      </p:sp>
      <p:sp>
        <p:nvSpPr>
          <p:cNvPr id="47" name="AutoShape 44"/>
          <p:cNvSpPr>
            <a:spLocks noChangeArrowheads="1"/>
          </p:cNvSpPr>
          <p:nvPr/>
        </p:nvSpPr>
        <p:spPr bwMode="auto">
          <a:xfrm>
            <a:off x="4979963" y="4881563"/>
            <a:ext cx="914400" cy="304800"/>
          </a:xfrm>
          <a:prstGeom prst="rightArrow">
            <a:avLst>
              <a:gd name="adj1" fmla="val 50000"/>
              <a:gd name="adj2" fmla="val 7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48" name="Text Box 45"/>
          <p:cNvSpPr txBox="1">
            <a:spLocks noChangeArrowheads="1"/>
          </p:cNvSpPr>
          <p:nvPr/>
        </p:nvSpPr>
        <p:spPr bwMode="auto">
          <a:xfrm>
            <a:off x="5056163" y="4652963"/>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zh-CN" altLang="en-US" sz="1800" u="none">
                <a:solidFill>
                  <a:srgbClr val="000000"/>
                </a:solidFill>
                <a:latin typeface="微软雅黑" panose="020B0503020204020204" pitchFamily="34" charset="-122"/>
                <a:ea typeface="微软雅黑" panose="020B0503020204020204" pitchFamily="34" charset="-122"/>
              </a:rPr>
              <a:t>联系</a:t>
            </a:r>
            <a:endParaRPr kumimoji="1" lang="zh-CN" altLang="en-US" sz="1800" u="none">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5280071"/>
          </a:xfrm>
        </p:spPr>
        <p:txBody>
          <a:bodyPr>
            <a:normAutofit fontScale="70000" lnSpcReduction="20000"/>
          </a:bodyPr>
          <a:lstStyle/>
          <a:p>
            <a:pPr>
              <a:lnSpc>
                <a:spcPct val="150000"/>
              </a:lnSpc>
            </a:pPr>
            <a:r>
              <a:rPr lang="en-GB" altLang="zh-CN" sz="4000" dirty="0"/>
              <a:t>ER</a:t>
            </a:r>
            <a:r>
              <a:rPr lang="zh-CN" altLang="en-US" sz="4000" dirty="0"/>
              <a:t>模型向关系模型的转换：实例</a:t>
            </a:r>
            <a:endParaRPr lang="en-US" altLang="zh-CN" sz="4000" dirty="0"/>
          </a:p>
          <a:p>
            <a:pPr marL="0" indent="0">
              <a:buNone/>
            </a:pPr>
            <a:r>
              <a:rPr lang="zh-CN" altLang="en-US" sz="2600" b="0" dirty="0">
                <a:solidFill>
                  <a:srgbClr val="C00000"/>
                </a:solidFill>
              </a:rPr>
              <a:t>学生</a:t>
            </a:r>
            <a:r>
              <a:rPr lang="zh-CN" altLang="en-US" sz="2600" b="0" dirty="0"/>
              <a:t>（学号，姓名，性别，出生日期，</a:t>
            </a:r>
            <a:r>
              <a:rPr lang="en-US" altLang="zh-CN" sz="2600" b="0" dirty="0"/>
              <a:t>Email</a:t>
            </a:r>
            <a:r>
              <a:rPr lang="zh-CN" altLang="en-US" sz="2600" b="0" dirty="0"/>
              <a:t>）</a:t>
            </a:r>
            <a:endParaRPr lang="zh-CN" altLang="en-US" sz="2600" b="0" dirty="0"/>
          </a:p>
          <a:p>
            <a:pPr marL="0" indent="0">
              <a:buNone/>
            </a:pPr>
            <a:r>
              <a:rPr lang="zh-CN" altLang="en-US" sz="2600" b="0" dirty="0">
                <a:solidFill>
                  <a:srgbClr val="C00000"/>
                </a:solidFill>
              </a:rPr>
              <a:t>个人档案</a:t>
            </a:r>
            <a:r>
              <a:rPr lang="zh-CN" altLang="en-US" sz="2600" b="0" dirty="0"/>
              <a:t>（档案编号，姓名，政治面貌，个人经历，奖惩情况，社会关系）</a:t>
            </a:r>
            <a:endParaRPr lang="zh-CN" altLang="en-US" sz="2600" b="0" dirty="0"/>
          </a:p>
          <a:p>
            <a:pPr marL="0" indent="0">
              <a:buNone/>
            </a:pPr>
            <a:r>
              <a:rPr lang="zh-CN" altLang="en-US" sz="2600" b="0" dirty="0">
                <a:solidFill>
                  <a:srgbClr val="C00000"/>
                </a:solidFill>
              </a:rPr>
              <a:t>宿舍</a:t>
            </a:r>
            <a:r>
              <a:rPr lang="zh-CN" altLang="en-US" sz="2600" b="0" dirty="0"/>
              <a:t>（宿舍号，位置，床位数，描述）</a:t>
            </a:r>
            <a:endParaRPr lang="zh-CN" altLang="en-US" sz="2600" b="0" dirty="0"/>
          </a:p>
          <a:p>
            <a:pPr marL="0" indent="0">
              <a:buNone/>
            </a:pPr>
            <a:r>
              <a:rPr lang="zh-CN" altLang="en-US" sz="2600" b="0" dirty="0">
                <a:solidFill>
                  <a:srgbClr val="C00000"/>
                </a:solidFill>
              </a:rPr>
              <a:t>班级</a:t>
            </a:r>
            <a:r>
              <a:rPr lang="zh-CN" altLang="en-US" sz="2600" b="0" dirty="0"/>
              <a:t>（名称，学生人数，班长）</a:t>
            </a:r>
            <a:endParaRPr lang="zh-CN" altLang="en-US" sz="2600" b="0" dirty="0"/>
          </a:p>
          <a:p>
            <a:pPr marL="0" indent="0">
              <a:buNone/>
            </a:pPr>
            <a:r>
              <a:rPr lang="zh-CN" altLang="en-US" sz="2600" b="0" dirty="0">
                <a:solidFill>
                  <a:srgbClr val="C00000"/>
                </a:solidFill>
              </a:rPr>
              <a:t>社团</a:t>
            </a:r>
            <a:r>
              <a:rPr lang="zh-CN" altLang="en-US" sz="2600" b="0" dirty="0"/>
              <a:t>（社团编号，名称，负责人，简介）</a:t>
            </a:r>
            <a:endParaRPr lang="zh-CN" altLang="en-US" sz="2600" b="0" dirty="0"/>
          </a:p>
          <a:p>
            <a:pPr marL="0" indent="0">
              <a:buNone/>
            </a:pPr>
            <a:r>
              <a:rPr lang="zh-CN" altLang="en-US" sz="2600" b="0" dirty="0">
                <a:solidFill>
                  <a:srgbClr val="C00000"/>
                </a:solidFill>
              </a:rPr>
              <a:t>课程</a:t>
            </a:r>
            <a:r>
              <a:rPr lang="zh-CN" altLang="en-US" sz="2600" b="0" dirty="0"/>
              <a:t>（课程编号，课程名称，学分，学期，教材）</a:t>
            </a:r>
            <a:endParaRPr lang="zh-CN" altLang="en-US" sz="2600" b="0" dirty="0"/>
          </a:p>
          <a:p>
            <a:pPr marL="0" indent="0">
              <a:buNone/>
            </a:pPr>
            <a:r>
              <a:rPr lang="zh-CN" altLang="en-US" sz="2600" b="0" dirty="0">
                <a:solidFill>
                  <a:srgbClr val="C00000"/>
                </a:solidFill>
              </a:rPr>
              <a:t>课程资料</a:t>
            </a:r>
            <a:r>
              <a:rPr lang="zh-CN" altLang="en-US" sz="2600" b="0" dirty="0"/>
              <a:t>（资料编号，文件名称，文件位置，资料类型，资料说明）</a:t>
            </a:r>
            <a:endParaRPr lang="zh-CN" altLang="en-US" sz="2600" b="0" dirty="0"/>
          </a:p>
          <a:p>
            <a:pPr marL="0" indent="0">
              <a:buNone/>
            </a:pPr>
            <a:r>
              <a:rPr lang="zh-CN" altLang="en-US" sz="2600" b="0" dirty="0">
                <a:solidFill>
                  <a:srgbClr val="C00000"/>
                </a:solidFill>
              </a:rPr>
              <a:t>作业</a:t>
            </a:r>
            <a:r>
              <a:rPr lang="zh-CN" altLang="en-US" sz="2600" b="0" dirty="0"/>
              <a:t>（作业编号，文件名称，文件位置，作业说明，上交时间）</a:t>
            </a:r>
            <a:endParaRPr lang="zh-CN" altLang="en-US" sz="2600" b="0" dirty="0"/>
          </a:p>
          <a:p>
            <a:pPr marL="0" indent="0">
              <a:buNone/>
            </a:pPr>
            <a:r>
              <a:rPr lang="zh-CN" altLang="en-US" sz="2600" b="0" dirty="0">
                <a:solidFill>
                  <a:srgbClr val="C00000"/>
                </a:solidFill>
              </a:rPr>
              <a:t>教室</a:t>
            </a:r>
            <a:r>
              <a:rPr lang="zh-CN" altLang="en-US" sz="2600" b="0" dirty="0"/>
              <a:t>（教室编号，位置，座位数）</a:t>
            </a:r>
            <a:endParaRPr lang="zh-CN" altLang="en-US" sz="2600" b="0" dirty="0"/>
          </a:p>
          <a:p>
            <a:pPr marL="0" indent="0">
              <a:buNone/>
            </a:pPr>
            <a:r>
              <a:rPr lang="zh-CN" altLang="en-US" sz="2600" b="0" dirty="0">
                <a:solidFill>
                  <a:srgbClr val="C00000"/>
                </a:solidFill>
              </a:rPr>
              <a:t>教师</a:t>
            </a:r>
            <a:r>
              <a:rPr lang="zh-CN" altLang="en-US" sz="2600" b="0" dirty="0"/>
              <a:t>（工作证号，姓名，性别，出生日期，职称，是否班主任）</a:t>
            </a:r>
            <a:endParaRPr lang="zh-CN" altLang="en-US" sz="2600" b="0" dirty="0"/>
          </a:p>
          <a:p>
            <a:pPr marL="0" indent="0">
              <a:buNone/>
            </a:pPr>
            <a:r>
              <a:rPr lang="zh-CN" altLang="en-US" sz="2600" b="0" dirty="0">
                <a:solidFill>
                  <a:srgbClr val="C00000"/>
                </a:solidFill>
              </a:rPr>
              <a:t>系</a:t>
            </a:r>
            <a:r>
              <a:rPr lang="zh-CN" altLang="en-US" sz="2600" b="0" dirty="0"/>
              <a:t>（系编号，系名）</a:t>
            </a:r>
            <a:endParaRPr lang="en-US" altLang="zh-CN" sz="2600" b="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ER</a:t>
            </a:r>
            <a:r>
              <a:rPr lang="zh-CN" altLang="en-US" dirty="0"/>
              <a:t>模型向关系模型的转换</a:t>
            </a:r>
            <a:endParaRPr lang="en-US" altLang="zh-CN" dirty="0"/>
          </a:p>
          <a:p>
            <a:pPr lvl="1">
              <a:lnSpc>
                <a:spcPct val="100000"/>
              </a:lnSpc>
            </a:pPr>
            <a:r>
              <a:rPr lang="zh-CN" altLang="en-US" sz="2200" dirty="0"/>
              <a:t>不将</a:t>
            </a:r>
            <a:r>
              <a:rPr lang="en-US" altLang="zh-CN" sz="2200" dirty="0"/>
              <a:t>1</a:t>
            </a:r>
            <a:r>
              <a:rPr lang="zh-CN" altLang="en-US" sz="2200" dirty="0"/>
              <a:t>：</a:t>
            </a:r>
            <a:r>
              <a:rPr lang="en-US" altLang="zh-CN" sz="2200" dirty="0"/>
              <a:t>1</a:t>
            </a:r>
            <a:r>
              <a:rPr lang="zh-CN" altLang="en-US" sz="2200" dirty="0"/>
              <a:t>和</a:t>
            </a:r>
            <a:r>
              <a:rPr lang="en-US" altLang="zh-CN" sz="2200" dirty="0"/>
              <a:t>1</a:t>
            </a:r>
            <a:r>
              <a:rPr lang="zh-CN" altLang="en-US" sz="2200" dirty="0"/>
              <a:t>：</a:t>
            </a:r>
            <a:r>
              <a:rPr lang="en-US" altLang="zh-CN" sz="2200" dirty="0"/>
              <a:t>N</a:t>
            </a:r>
            <a:r>
              <a:rPr lang="zh-CN" altLang="en-US" sz="2200" dirty="0"/>
              <a:t>联系转化为关系模式，而是合并到参与联系实体所对应的关系模式中，得到如下新的关系模式：</a:t>
            </a:r>
            <a:endParaRPr lang="zh-CN" altLang="en-US" sz="2200"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
        <p:nvSpPr>
          <p:cNvPr id="7" name="文本框 6"/>
          <p:cNvSpPr txBox="1"/>
          <p:nvPr/>
        </p:nvSpPr>
        <p:spPr>
          <a:xfrm>
            <a:off x="1135967" y="2719161"/>
            <a:ext cx="8908366" cy="4002314"/>
          </a:xfrm>
          <a:prstGeom prst="rect">
            <a:avLst/>
          </a:prstGeom>
          <a:noFill/>
        </p:spPr>
        <p:txBody>
          <a:bodyPr wrap="square">
            <a:spAutoFit/>
          </a:bodyPr>
          <a:lstStyle/>
          <a:p>
            <a:pPr eaLnBrk="1" hangingPunct="1">
              <a:lnSpc>
                <a:spcPct val="130000"/>
              </a:lnSpc>
              <a:buFontTx/>
              <a:buNone/>
            </a:pPr>
            <a:r>
              <a:rPr lang="zh-CN" altLang="en-US" sz="1800" u="none" dirty="0">
                <a:solidFill>
                  <a:srgbClr val="FF0000"/>
                </a:solidFill>
                <a:latin typeface="微软雅黑" panose="020B0503020204020204" pitchFamily="34" charset="-122"/>
                <a:ea typeface="微软雅黑" panose="020B0503020204020204" pitchFamily="34" charset="-122"/>
              </a:rPr>
              <a:t> </a:t>
            </a:r>
            <a:r>
              <a:rPr lang="zh-CN" altLang="en-US" sz="1800" u="none" dirty="0">
                <a:solidFill>
                  <a:srgbClr val="C00000"/>
                </a:solidFill>
                <a:latin typeface="微软雅黑" panose="020B0503020204020204" pitchFamily="34" charset="-122"/>
                <a:ea typeface="微软雅黑" panose="020B0503020204020204" pitchFamily="34" charset="-122"/>
              </a:rPr>
              <a:t>学生</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学号</a:t>
            </a:r>
            <a:r>
              <a:rPr lang="zh-CN" altLang="en-US" sz="1800" u="none" dirty="0">
                <a:latin typeface="微软雅黑" panose="020B0503020204020204" pitchFamily="34" charset="-122"/>
                <a:ea typeface="微软雅黑" panose="020B0503020204020204" pitchFamily="34" charset="-122"/>
              </a:rPr>
              <a:t>，姓名，班级，性别，出生日期，</a:t>
            </a:r>
            <a:r>
              <a:rPr lang="en-US" altLang="zh-CN" sz="1800" u="none" dirty="0">
                <a:latin typeface="微软雅黑" panose="020B0503020204020204" pitchFamily="34" charset="-122"/>
                <a:ea typeface="微软雅黑" panose="020B0503020204020204" pitchFamily="34" charset="-122"/>
              </a:rPr>
              <a:t>Email</a:t>
            </a:r>
            <a:r>
              <a:rPr lang="zh-CN" altLang="en-US" sz="1800" u="none" dirty="0">
                <a:latin typeface="微软雅黑" panose="020B0503020204020204" pitchFamily="34" charset="-122"/>
                <a:ea typeface="微软雅黑" panose="020B0503020204020204" pitchFamily="34" charset="-122"/>
              </a:rPr>
              <a:t>，档案编号，宿舍编号）</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dirty="0">
                <a:solidFill>
                  <a:srgbClr val="990099"/>
                </a:solidFill>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个人档案</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档案编号</a:t>
            </a:r>
            <a:r>
              <a:rPr lang="zh-CN" altLang="en-US" sz="1800" u="none" dirty="0">
                <a:latin typeface="微软雅黑" panose="020B0503020204020204" pitchFamily="34" charset="-122"/>
                <a:ea typeface="微软雅黑" panose="020B0503020204020204" pitchFamily="34" charset="-122"/>
              </a:rPr>
              <a:t>，姓名，政治面貌，个人经历，奖惩情况，社会关系）</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宿舍</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宿舍号</a:t>
            </a:r>
            <a:r>
              <a:rPr lang="zh-CN" altLang="en-US" sz="1800" u="none" dirty="0">
                <a:latin typeface="微软雅黑" panose="020B0503020204020204" pitchFamily="34" charset="-122"/>
                <a:ea typeface="微软雅黑" panose="020B0503020204020204" pitchFamily="34" charset="-122"/>
              </a:rPr>
              <a:t>，位置，床位数，描述）</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solidFill>
                  <a:srgbClr val="FF0000"/>
                </a:solidFill>
                <a:latin typeface="微软雅黑" panose="020B0503020204020204" pitchFamily="34" charset="-122"/>
                <a:ea typeface="微软雅黑" panose="020B0503020204020204" pitchFamily="34" charset="-122"/>
              </a:rPr>
              <a:t> </a:t>
            </a:r>
            <a:r>
              <a:rPr lang="zh-CN" altLang="en-US" sz="1800" u="none" dirty="0">
                <a:solidFill>
                  <a:srgbClr val="C00000"/>
                </a:solidFill>
                <a:latin typeface="微软雅黑" panose="020B0503020204020204" pitchFamily="34" charset="-122"/>
                <a:ea typeface="微软雅黑" panose="020B0503020204020204" pitchFamily="34" charset="-122"/>
              </a:rPr>
              <a:t>班级</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名称</a:t>
            </a:r>
            <a:r>
              <a:rPr lang="zh-CN" altLang="en-US" sz="1800" u="none" dirty="0">
                <a:latin typeface="微软雅黑" panose="020B0503020204020204" pitchFamily="34" charset="-122"/>
                <a:ea typeface="微软雅黑" panose="020B0503020204020204" pitchFamily="34" charset="-122"/>
              </a:rPr>
              <a:t>，学生人数，班长，班主任）</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社团</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社团编号</a:t>
            </a:r>
            <a:r>
              <a:rPr lang="zh-CN" altLang="en-US" sz="1800" u="none" dirty="0">
                <a:latin typeface="微软雅黑" panose="020B0503020204020204" pitchFamily="34" charset="-122"/>
                <a:ea typeface="微软雅黑" panose="020B0503020204020204" pitchFamily="34" charset="-122"/>
              </a:rPr>
              <a:t>，名称，负责人，简介）</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solidFill>
                  <a:srgbClr val="FF0000"/>
                </a:solidFill>
                <a:latin typeface="微软雅黑" panose="020B0503020204020204" pitchFamily="34" charset="-122"/>
                <a:ea typeface="微软雅黑" panose="020B0503020204020204" pitchFamily="34" charset="-122"/>
              </a:rPr>
              <a:t> </a:t>
            </a:r>
            <a:r>
              <a:rPr lang="zh-CN" altLang="en-US" sz="1800" u="none" dirty="0">
                <a:solidFill>
                  <a:srgbClr val="C00000"/>
                </a:solidFill>
                <a:latin typeface="微软雅黑" panose="020B0503020204020204" pitchFamily="34" charset="-122"/>
                <a:ea typeface="微软雅黑" panose="020B0503020204020204" pitchFamily="34" charset="-122"/>
              </a:rPr>
              <a:t>课程</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课程编号</a:t>
            </a:r>
            <a:r>
              <a:rPr lang="zh-CN" altLang="en-US" sz="1800" u="none" dirty="0">
                <a:latin typeface="微软雅黑" panose="020B0503020204020204" pitchFamily="34" charset="-122"/>
                <a:ea typeface="微软雅黑" panose="020B0503020204020204" pitchFamily="34" charset="-122"/>
              </a:rPr>
              <a:t>，课程名称，任课教师，系编号，学分，学期，教材，教室，时间）</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solidFill>
                  <a:srgbClr val="FF0000"/>
                </a:solidFill>
                <a:latin typeface="微软雅黑" panose="020B0503020204020204" pitchFamily="34" charset="-122"/>
                <a:ea typeface="微软雅黑" panose="020B0503020204020204" pitchFamily="34" charset="-122"/>
              </a:rPr>
              <a:t> </a:t>
            </a:r>
            <a:r>
              <a:rPr lang="zh-CN" altLang="en-US" sz="1800" u="none" dirty="0">
                <a:solidFill>
                  <a:srgbClr val="C00000"/>
                </a:solidFill>
                <a:latin typeface="微软雅黑" panose="020B0503020204020204" pitchFamily="34" charset="-122"/>
                <a:ea typeface="微软雅黑" panose="020B0503020204020204" pitchFamily="34" charset="-122"/>
              </a:rPr>
              <a:t>课程资料</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资料编号</a:t>
            </a:r>
            <a:r>
              <a:rPr lang="zh-CN" altLang="en-US" sz="1800" u="none" dirty="0">
                <a:latin typeface="微软雅黑" panose="020B0503020204020204" pitchFamily="34" charset="-122"/>
                <a:ea typeface="微软雅黑" panose="020B0503020204020204" pitchFamily="34" charset="-122"/>
              </a:rPr>
              <a:t>，课程编号，文件名称，文件位置，资料类型，资料说明）</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solidFill>
                  <a:srgbClr val="FF0000"/>
                </a:solidFill>
                <a:latin typeface="微软雅黑" panose="020B0503020204020204" pitchFamily="34" charset="-122"/>
                <a:ea typeface="微软雅黑" panose="020B0503020204020204" pitchFamily="34" charset="-122"/>
              </a:rPr>
              <a:t> </a:t>
            </a:r>
            <a:r>
              <a:rPr lang="zh-CN" altLang="en-US" sz="1800" u="none" dirty="0">
                <a:solidFill>
                  <a:srgbClr val="C00000"/>
                </a:solidFill>
                <a:latin typeface="微软雅黑" panose="020B0503020204020204" pitchFamily="34" charset="-122"/>
                <a:ea typeface="微软雅黑" panose="020B0503020204020204" pitchFamily="34" charset="-122"/>
              </a:rPr>
              <a:t>作业</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作业编号</a:t>
            </a:r>
            <a:r>
              <a:rPr lang="zh-CN" altLang="en-US" sz="1800" u="none" dirty="0">
                <a:latin typeface="微软雅黑" panose="020B0503020204020204" pitchFamily="34" charset="-122"/>
                <a:ea typeface="微软雅黑" panose="020B0503020204020204" pitchFamily="34" charset="-122"/>
              </a:rPr>
              <a:t>，课程编号，文件名称，文件位置，作业说明，上交时间）</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教室</a:t>
            </a:r>
            <a:r>
              <a:rPr lang="zh-CN" altLang="en-US" sz="1800" u="none" dirty="0">
                <a:latin typeface="微软雅黑" panose="020B0503020204020204" pitchFamily="34" charset="-122"/>
                <a:ea typeface="微软雅黑" panose="020B0503020204020204" pitchFamily="34" charset="-122"/>
              </a:rPr>
              <a:t>（教室编号，位置，座位数）</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教师</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工作证号</a:t>
            </a:r>
            <a:r>
              <a:rPr lang="zh-CN" altLang="en-US" sz="1800" u="none" dirty="0">
                <a:latin typeface="微软雅黑" panose="020B0503020204020204" pitchFamily="34" charset="-122"/>
                <a:ea typeface="微软雅黑" panose="020B0503020204020204" pitchFamily="34" charset="-122"/>
              </a:rPr>
              <a:t>，姓名，性别，出生日期，职称，是否班主任）</a:t>
            </a:r>
            <a:endParaRPr lang="zh-CN" altLang="en-US" sz="1800" u="none" dirty="0">
              <a:latin typeface="微软雅黑" panose="020B0503020204020204" pitchFamily="34" charset="-122"/>
              <a:ea typeface="微软雅黑" panose="020B0503020204020204" pitchFamily="34" charset="-122"/>
            </a:endParaRPr>
          </a:p>
          <a:p>
            <a:pPr eaLnBrk="1" hangingPunct="1">
              <a:lnSpc>
                <a:spcPct val="130000"/>
              </a:lnSpc>
              <a:buFontTx/>
              <a:buNone/>
            </a:pPr>
            <a:r>
              <a:rPr lang="zh-CN" altLang="en-US" sz="1800" u="none" dirty="0">
                <a:latin typeface="微软雅黑" panose="020B0503020204020204" pitchFamily="34" charset="-122"/>
                <a:ea typeface="微软雅黑" panose="020B0503020204020204" pitchFamily="34" charset="-122"/>
              </a:rPr>
              <a:t> </a:t>
            </a:r>
            <a:r>
              <a:rPr lang="zh-CN" altLang="en-US" sz="1800" u="none" dirty="0">
                <a:solidFill>
                  <a:srgbClr val="990099"/>
                </a:solidFill>
                <a:latin typeface="微软雅黑" panose="020B0503020204020204" pitchFamily="34" charset="-122"/>
                <a:ea typeface="微软雅黑" panose="020B0503020204020204" pitchFamily="34" charset="-122"/>
              </a:rPr>
              <a:t>系</a:t>
            </a:r>
            <a:r>
              <a:rPr lang="zh-CN" altLang="en-US" sz="1800" u="none"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系编号</a:t>
            </a:r>
            <a:r>
              <a:rPr lang="zh-CN" altLang="en-US" sz="1800" u="none" dirty="0">
                <a:latin typeface="微软雅黑" panose="020B0503020204020204" pitchFamily="34" charset="-122"/>
                <a:ea typeface="微软雅黑" panose="020B0503020204020204" pitchFamily="34" charset="-122"/>
              </a:rPr>
              <a:t>，系名）</a:t>
            </a:r>
            <a:endParaRPr lang="zh-CN" altLang="en-US" sz="1800" u="none"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优化与调整</a:t>
            </a:r>
            <a:endParaRPr lang="en-US" altLang="zh-CN" dirty="0"/>
          </a:p>
          <a:p>
            <a:pPr lvl="1">
              <a:lnSpc>
                <a:spcPct val="150000"/>
              </a:lnSpc>
            </a:pPr>
            <a:r>
              <a:rPr lang="zh-CN" altLang="en-US" dirty="0"/>
              <a:t>对于关系模式进行的优化与调整主要集中在数据结构与性能两个方面：</a:t>
            </a:r>
            <a:endParaRPr lang="en-US" altLang="zh-CN" dirty="0"/>
          </a:p>
          <a:p>
            <a:pPr lvl="2">
              <a:lnSpc>
                <a:spcPct val="150000"/>
              </a:lnSpc>
            </a:pPr>
            <a:r>
              <a:rPr lang="zh-CN" altLang="en-US" sz="2200" dirty="0"/>
              <a:t>结构方面的调整主要是指通过关系规范化理论对关系模式进行优化，以减少数据冗余和更新异常问题的出现</a:t>
            </a:r>
            <a:endParaRPr lang="en-US" altLang="zh-CN" sz="2200" dirty="0"/>
          </a:p>
          <a:p>
            <a:pPr lvl="2">
              <a:lnSpc>
                <a:spcPct val="150000"/>
              </a:lnSpc>
            </a:pPr>
            <a:r>
              <a:rPr lang="zh-CN" altLang="en-US" sz="2200" dirty="0"/>
              <a:t>性能的调整主要是指通过减少查询时连接运算次数和改变关系大小等方式提高数据处理速度</a:t>
            </a:r>
            <a:endParaRPr lang="zh-CN" altLang="en-US" sz="2200"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优化与调整</a:t>
            </a:r>
            <a:endParaRPr lang="en-US" altLang="zh-CN" dirty="0"/>
          </a:p>
          <a:p>
            <a:pPr lvl="1">
              <a:lnSpc>
                <a:spcPct val="150000"/>
              </a:lnSpc>
            </a:pPr>
            <a:r>
              <a:rPr lang="zh-CN" altLang="zh-CN" dirty="0"/>
              <a:t>关系模式的规范化过程主要包括以下几个步骤：</a:t>
            </a:r>
            <a:endParaRPr lang="zh-CN" altLang="zh-CN" dirty="0"/>
          </a:p>
          <a:p>
            <a:pPr lvl="2">
              <a:lnSpc>
                <a:spcPct val="170000"/>
              </a:lnSpc>
              <a:buClr>
                <a:srgbClr val="E40000"/>
              </a:buClr>
              <a:buNone/>
            </a:pPr>
            <a:r>
              <a:rPr lang="zh-CN" altLang="en-US" sz="2200" dirty="0"/>
              <a:t> </a:t>
            </a:r>
            <a:r>
              <a:rPr lang="zh-CN" altLang="zh-CN" sz="2200" dirty="0"/>
              <a:t>(1)确定数据依赖</a:t>
            </a:r>
            <a:endParaRPr lang="zh-CN" altLang="zh-CN" sz="2200" dirty="0"/>
          </a:p>
          <a:p>
            <a:pPr lvl="2">
              <a:lnSpc>
                <a:spcPct val="170000"/>
              </a:lnSpc>
              <a:buClr>
                <a:srgbClr val="E40000"/>
              </a:buClr>
              <a:buNone/>
            </a:pPr>
            <a:r>
              <a:rPr lang="zh-CN" altLang="en-US" sz="2200" dirty="0"/>
              <a:t> </a:t>
            </a:r>
            <a:r>
              <a:rPr lang="zh-CN" altLang="zh-CN" sz="2200" dirty="0"/>
              <a:t>(2)参照最小覆盖算法对每个关系模式内及关系模式间的数据依赖进行极小化处理，消除冗余依赖</a:t>
            </a:r>
            <a:endParaRPr lang="zh-CN" altLang="zh-CN" sz="2200" dirty="0"/>
          </a:p>
          <a:p>
            <a:pPr lvl="2">
              <a:lnSpc>
                <a:spcPct val="170000"/>
              </a:lnSpc>
              <a:buClr>
                <a:srgbClr val="E40000"/>
              </a:buClr>
              <a:buNone/>
            </a:pPr>
            <a:r>
              <a:rPr lang="zh-CN" altLang="en-US" sz="2200" dirty="0"/>
              <a:t> </a:t>
            </a:r>
            <a:r>
              <a:rPr lang="zh-CN" altLang="zh-CN" sz="2200" dirty="0"/>
              <a:t>(3)逐一分析每个关系模式属于第几范式，一般只要达到3NF或BCNF即可</a:t>
            </a:r>
            <a:endParaRPr lang="zh-CN" altLang="zh-CN" sz="2200"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优化与调整</a:t>
            </a:r>
            <a:endParaRPr lang="en-US" altLang="zh-CN" dirty="0"/>
          </a:p>
          <a:p>
            <a:pPr lvl="1">
              <a:lnSpc>
                <a:spcPct val="150000"/>
              </a:lnSpc>
            </a:pPr>
            <a:r>
              <a:rPr lang="zh-CN" altLang="zh-CN" dirty="0"/>
              <a:t>由于性能方面的原因而对关系模式进行的调整主要包括：</a:t>
            </a:r>
            <a:endParaRPr lang="zh-CN" altLang="zh-CN" dirty="0"/>
          </a:p>
          <a:p>
            <a:pPr lvl="2">
              <a:lnSpc>
                <a:spcPct val="170000"/>
              </a:lnSpc>
              <a:buClr>
                <a:srgbClr val="E40000"/>
              </a:buClr>
              <a:buNone/>
            </a:pPr>
            <a:r>
              <a:rPr lang="zh-CN" altLang="en-US" sz="2200" dirty="0"/>
              <a:t> </a:t>
            </a:r>
            <a:r>
              <a:rPr lang="zh-CN" altLang="zh-CN" sz="2200" dirty="0"/>
              <a:t>(1)减少连接运算</a:t>
            </a:r>
            <a:endParaRPr lang="zh-CN" altLang="en-US" sz="2200" dirty="0"/>
          </a:p>
          <a:p>
            <a:pPr lvl="2">
              <a:lnSpc>
                <a:spcPct val="170000"/>
              </a:lnSpc>
              <a:buClr>
                <a:srgbClr val="E40000"/>
              </a:buClr>
              <a:buNone/>
            </a:pPr>
            <a:r>
              <a:rPr lang="zh-CN" altLang="en-US" sz="2200" dirty="0"/>
              <a:t> </a:t>
            </a:r>
            <a:r>
              <a:rPr lang="zh-CN" altLang="zh-CN" sz="2200" dirty="0"/>
              <a:t>(2)从水平方向和垂直方向对关系进行分解，避免出现过大的关系</a:t>
            </a:r>
            <a:endParaRPr lang="zh-CN" altLang="zh-CN" sz="2200" dirty="0"/>
          </a:p>
          <a:p>
            <a:pPr>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zh-CN" altLang="en-US" dirty="0"/>
              <a:t>用户子模式设计</a:t>
            </a:r>
            <a:endParaRPr lang="en-US" altLang="zh-CN" dirty="0"/>
          </a:p>
          <a:p>
            <a:pPr lvl="1">
              <a:lnSpc>
                <a:spcPct val="150000"/>
              </a:lnSpc>
            </a:pPr>
            <a:r>
              <a:rPr lang="zh-CN" altLang="zh-CN" dirty="0"/>
              <a:t>得到优化的系统全局模式后，还需针对不同局部应用设计出用户子模式即外模式。设计时应注意：</a:t>
            </a:r>
            <a:endParaRPr lang="zh-CN" altLang="zh-CN" dirty="0"/>
          </a:p>
          <a:p>
            <a:pPr lvl="2">
              <a:lnSpc>
                <a:spcPct val="170000"/>
              </a:lnSpc>
              <a:buClr>
                <a:srgbClr val="E40000"/>
              </a:buClr>
              <a:buNone/>
            </a:pPr>
            <a:r>
              <a:rPr lang="zh-CN" altLang="en-US" sz="2200" dirty="0"/>
              <a:t> </a:t>
            </a:r>
            <a:r>
              <a:rPr lang="zh-CN" altLang="zh-CN" sz="2200" dirty="0"/>
              <a:t>(1)能适应不同用户的使用需求 </a:t>
            </a:r>
            <a:endParaRPr lang="zh-CN" altLang="en-US" sz="2200" dirty="0"/>
          </a:p>
          <a:p>
            <a:pPr lvl="2">
              <a:lnSpc>
                <a:spcPct val="170000"/>
              </a:lnSpc>
              <a:buClr>
                <a:srgbClr val="E40000"/>
              </a:buClr>
              <a:buNone/>
            </a:pPr>
            <a:r>
              <a:rPr lang="zh-CN" altLang="en-US" sz="2200" dirty="0"/>
              <a:t> </a:t>
            </a:r>
            <a:r>
              <a:rPr lang="zh-CN" altLang="zh-CN" sz="2200" dirty="0"/>
              <a:t>(2)提供一定的逻辑数据独立性 </a:t>
            </a:r>
            <a:endParaRPr lang="zh-CN" altLang="en-US" sz="2200" dirty="0"/>
          </a:p>
          <a:p>
            <a:pPr lvl="2">
              <a:lnSpc>
                <a:spcPct val="170000"/>
              </a:lnSpc>
              <a:buClr>
                <a:srgbClr val="E40000"/>
              </a:buClr>
              <a:buNone/>
            </a:pPr>
            <a:r>
              <a:rPr lang="zh-CN" altLang="en-US" sz="2200" dirty="0"/>
              <a:t> </a:t>
            </a:r>
            <a:r>
              <a:rPr lang="zh-CN" altLang="zh-CN" sz="2200" dirty="0"/>
              <a:t>(3)数据安全性</a:t>
            </a:r>
            <a:endParaRPr lang="zh-CN" altLang="zh-CN" sz="2200" dirty="0"/>
          </a:p>
          <a:p>
            <a:pPr lvl="1">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en-US" altLang="zh-CN" dirty="0"/>
              <a:t>5.4 </a:t>
            </a:r>
            <a:r>
              <a:rPr kumimoji="1" lang="zh-CN" altLang="en-US" dirty="0"/>
              <a:t>逻辑设计</a:t>
            </a:r>
            <a:endParaRPr kumimoji="1"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 1X</a:t>
            </a:r>
            <a:r>
              <a:rPr lang="zh-CN" altLang="en-US" dirty="0"/>
              <a:t>方法简介</a:t>
            </a:r>
            <a:endParaRPr lang="en-US" altLang="zh-CN" dirty="0"/>
          </a:p>
          <a:p>
            <a:pPr lvl="1">
              <a:lnSpc>
                <a:spcPct val="150000"/>
              </a:lnSpc>
            </a:pPr>
            <a:r>
              <a:rPr lang="en-US" altLang="zh-CN" dirty="0"/>
              <a:t>IDEF</a:t>
            </a:r>
            <a:r>
              <a:rPr lang="zh-CN" altLang="en-US" dirty="0"/>
              <a:t>是</a:t>
            </a:r>
            <a:r>
              <a:rPr lang="en-US" altLang="zh-CN" dirty="0"/>
              <a:t>ICAM </a:t>
            </a:r>
            <a:r>
              <a:rPr lang="en-US" altLang="zh-CN" dirty="0" err="1"/>
              <a:t>DEFinition</a:t>
            </a:r>
            <a:r>
              <a:rPr lang="en-US" altLang="zh-CN" dirty="0"/>
              <a:t> method </a:t>
            </a:r>
            <a:r>
              <a:rPr lang="zh-CN" altLang="en-US" dirty="0"/>
              <a:t>的缩写</a:t>
            </a:r>
            <a:r>
              <a:rPr lang="en-US" altLang="zh-CN" dirty="0"/>
              <a:t>,</a:t>
            </a:r>
            <a:r>
              <a:rPr lang="zh-CN" altLang="en-US" dirty="0"/>
              <a:t>是美国空军</a:t>
            </a:r>
            <a:r>
              <a:rPr lang="en-US" altLang="zh-CN" dirty="0"/>
              <a:t>20</a:t>
            </a:r>
            <a:r>
              <a:rPr lang="zh-CN" altLang="en-US" dirty="0"/>
              <a:t>世纪</a:t>
            </a:r>
            <a:r>
              <a:rPr lang="en-US" altLang="zh-CN" dirty="0"/>
              <a:t>70</a:t>
            </a:r>
            <a:r>
              <a:rPr lang="zh-CN" altLang="en-US" dirty="0"/>
              <a:t>年代末</a:t>
            </a:r>
            <a:r>
              <a:rPr lang="en-US" altLang="zh-CN" dirty="0"/>
              <a:t>80</a:t>
            </a:r>
            <a:r>
              <a:rPr lang="zh-CN" altLang="en-US" dirty="0"/>
              <a:t>年代初</a:t>
            </a:r>
            <a:r>
              <a:rPr lang="en-US" altLang="zh-CN" dirty="0"/>
              <a:t>ICAM(Integrated Computer Aided Manufacturing)</a:t>
            </a:r>
            <a:r>
              <a:rPr lang="zh-CN" altLang="en-US" dirty="0"/>
              <a:t>工程在结构化分析和设计方法基础上发展的一套系统分析和设计方法</a:t>
            </a:r>
            <a:endParaRPr lang="zh-CN" altLang="en-US" dirty="0"/>
          </a:p>
          <a:p>
            <a:pPr lvl="1">
              <a:lnSpc>
                <a:spcPct val="150000"/>
              </a:lnSpc>
            </a:pPr>
            <a:r>
              <a:rPr lang="en-US" altLang="zh-CN" dirty="0"/>
              <a:t>IDEF 1X</a:t>
            </a:r>
            <a:r>
              <a:rPr lang="zh-CN" altLang="en-US" dirty="0"/>
              <a:t>是</a:t>
            </a:r>
            <a:r>
              <a:rPr lang="zh-TW" altLang="en-US" dirty="0"/>
              <a:t>建立数据模型</a:t>
            </a:r>
            <a:r>
              <a:rPr lang="zh-CN" altLang="en-US" dirty="0"/>
              <a:t>的经典方法之一</a:t>
            </a:r>
            <a:endParaRPr lang="zh-TW" altLang="en-US" dirty="0"/>
          </a:p>
          <a:p>
            <a:pPr lvl="1">
              <a:lnSpc>
                <a:spcPct val="150000"/>
              </a:lnSpc>
            </a:pPr>
            <a:r>
              <a:rPr lang="zh-TW" altLang="en-US" dirty="0"/>
              <a:t>美</a:t>
            </a:r>
            <a:r>
              <a:rPr lang="zh-CN" altLang="en-US" dirty="0"/>
              <a:t>国</a:t>
            </a:r>
            <a:r>
              <a:rPr lang="zh-TW" altLang="en-US" dirty="0"/>
              <a:t>政府与工业界已使用超过</a:t>
            </a:r>
            <a:r>
              <a:rPr lang="en-US" altLang="zh-TW" dirty="0"/>
              <a:t>10</a:t>
            </a:r>
            <a:r>
              <a:rPr lang="zh-TW" altLang="en-US" dirty="0"/>
              <a:t>年</a:t>
            </a:r>
            <a:endParaRPr lang="en-US" altLang="zh-CN" dirty="0"/>
          </a:p>
          <a:p>
            <a:pPr lvl="1">
              <a:lnSpc>
                <a:spcPct val="150000"/>
              </a:lnSpc>
            </a:pP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pPr>
              <a:lnSpc>
                <a:spcPct val="150000"/>
              </a:lnSpc>
            </a:pPr>
            <a:r>
              <a:rPr lang="en-GB" altLang="zh-CN" dirty="0"/>
              <a:t>IDEF</a:t>
            </a:r>
            <a:r>
              <a:rPr lang="zh-CN" altLang="en-US" dirty="0"/>
              <a:t>方法系列</a:t>
            </a:r>
            <a:endParaRPr lang="zh-CN" altLang="en-US" dirty="0"/>
          </a:p>
          <a:p>
            <a:pPr lvl="1">
              <a:lnSpc>
                <a:spcPct val="100000"/>
              </a:lnSpc>
            </a:pPr>
            <a:r>
              <a:rPr lang="en-US" altLang="zh-TW" sz="2200" dirty="0"/>
              <a:t>IDEF0</a:t>
            </a:r>
            <a:r>
              <a:rPr lang="zh-CN" altLang="en-US" sz="2200" dirty="0"/>
              <a:t>－功能建模：通过分解</a:t>
            </a:r>
            <a:r>
              <a:rPr lang="en-US" altLang="zh-CN" sz="2200" dirty="0"/>
              <a:t>/</a:t>
            </a:r>
            <a:r>
              <a:rPr lang="zh-CN" altLang="en-US" sz="2200" dirty="0"/>
              <a:t>分类功能间的联系来描述系统功能</a:t>
            </a:r>
            <a:endParaRPr lang="zh-CN" altLang="en-US" sz="2200" dirty="0"/>
          </a:p>
          <a:p>
            <a:pPr lvl="1">
              <a:lnSpc>
                <a:spcPct val="100000"/>
              </a:lnSpc>
            </a:pPr>
            <a:r>
              <a:rPr lang="en-US" altLang="zh-TW" sz="2200" dirty="0"/>
              <a:t>IDEF1</a:t>
            </a:r>
            <a:r>
              <a:rPr lang="zh-TW" altLang="en-US" sz="2200" dirty="0"/>
              <a:t>－</a:t>
            </a:r>
            <a:r>
              <a:rPr lang="zh-CN" altLang="en-US" sz="2200" dirty="0"/>
              <a:t>信息建模：</a:t>
            </a:r>
            <a:r>
              <a:rPr lang="zh-TW" altLang="en-US" sz="2200" dirty="0"/>
              <a:t>用于描述企业重要管理资料的方法</a:t>
            </a:r>
            <a:endParaRPr lang="zh-TW" altLang="en-US" sz="2200" dirty="0"/>
          </a:p>
          <a:p>
            <a:pPr lvl="1">
              <a:lnSpc>
                <a:spcPct val="100000"/>
              </a:lnSpc>
            </a:pPr>
            <a:r>
              <a:rPr lang="en-US" altLang="zh-TW" sz="2200" u="sng" dirty="0"/>
              <a:t>IDEF1X</a:t>
            </a:r>
            <a:r>
              <a:rPr lang="zh-TW" altLang="en-US" sz="2200" u="sng" dirty="0"/>
              <a:t>－</a:t>
            </a:r>
            <a:r>
              <a:rPr lang="zh-CN" altLang="en-US" sz="2200" u="sng" dirty="0"/>
              <a:t>数据建模：</a:t>
            </a:r>
            <a:r>
              <a:rPr lang="zh-TW" altLang="en-US" sz="2200" u="sng" dirty="0"/>
              <a:t>关系数据库的设计方法</a:t>
            </a:r>
            <a:endParaRPr lang="zh-TW" altLang="en-US" sz="2200" u="sng" dirty="0"/>
          </a:p>
          <a:p>
            <a:pPr lvl="1">
              <a:lnSpc>
                <a:spcPct val="100000"/>
              </a:lnSpc>
            </a:pPr>
            <a:r>
              <a:rPr lang="en-US" altLang="zh-TW" sz="2200" dirty="0"/>
              <a:t>IDEF2</a:t>
            </a:r>
            <a:r>
              <a:rPr lang="zh-TW" altLang="en-US" sz="2200" dirty="0"/>
              <a:t>－</a:t>
            </a:r>
            <a:r>
              <a:rPr lang="zh-CN" altLang="en-US" sz="2200" dirty="0"/>
              <a:t>动态建模：</a:t>
            </a:r>
            <a:r>
              <a:rPr lang="zh-TW" altLang="en-US" sz="2200" dirty="0"/>
              <a:t>一种以数字逻辑为基础的</a:t>
            </a:r>
            <a:r>
              <a:rPr lang="zh-CN" altLang="en-US" sz="2200" dirty="0"/>
              <a:t>模拟</a:t>
            </a:r>
            <a:r>
              <a:rPr lang="zh-TW" altLang="en-US" sz="2200" dirty="0"/>
              <a:t>方法</a:t>
            </a:r>
            <a:endParaRPr lang="zh-TW" altLang="en-US" sz="2200" dirty="0"/>
          </a:p>
          <a:p>
            <a:pPr lvl="1">
              <a:lnSpc>
                <a:spcPct val="100000"/>
              </a:lnSpc>
            </a:pPr>
            <a:r>
              <a:rPr lang="en-US" altLang="zh-TW" sz="2200" dirty="0"/>
              <a:t>IDEF3</a:t>
            </a:r>
            <a:r>
              <a:rPr lang="zh-TW" altLang="en-US" sz="2200" dirty="0"/>
              <a:t>－</a:t>
            </a:r>
            <a:r>
              <a:rPr lang="zh-CN" altLang="en-US" sz="2200" dirty="0"/>
              <a:t>过程描述获取方法：</a:t>
            </a:r>
            <a:r>
              <a:rPr lang="zh-TW" altLang="en-US" sz="2200" dirty="0"/>
              <a:t>为自使用者描述系统结构的方法</a:t>
            </a:r>
            <a:endParaRPr lang="zh-TW" altLang="en-US" sz="2200" dirty="0"/>
          </a:p>
          <a:p>
            <a:pPr lvl="1">
              <a:lnSpc>
                <a:spcPct val="100000"/>
              </a:lnSpc>
            </a:pPr>
            <a:r>
              <a:rPr lang="en-US" altLang="zh-TW" sz="2200" dirty="0"/>
              <a:t>IDEF4</a:t>
            </a:r>
            <a:r>
              <a:rPr lang="zh-TW" altLang="en-US" sz="2200" dirty="0"/>
              <a:t>－</a:t>
            </a:r>
            <a:r>
              <a:rPr lang="zh-CN" altLang="en-US" sz="2200" dirty="0"/>
              <a:t>面向对象的设计方法：</a:t>
            </a:r>
            <a:r>
              <a:rPr lang="zh-TW" altLang="en-US" sz="2200" dirty="0"/>
              <a:t>面向对象式数据库的设计方法</a:t>
            </a:r>
            <a:endParaRPr lang="zh-TW" altLang="en-US" sz="2200" dirty="0"/>
          </a:p>
          <a:p>
            <a:pPr lvl="1">
              <a:lnSpc>
                <a:spcPct val="100000"/>
              </a:lnSpc>
            </a:pPr>
            <a:r>
              <a:rPr lang="en-US" altLang="zh-TW" sz="2200" dirty="0"/>
              <a:t>IDEF5</a:t>
            </a:r>
            <a:r>
              <a:rPr lang="zh-TW" altLang="en-US" sz="2200" dirty="0"/>
              <a:t>－</a:t>
            </a:r>
            <a:r>
              <a:rPr lang="zh-CN" altLang="en-US" sz="2200" dirty="0"/>
              <a:t>实体描述获取方法：</a:t>
            </a:r>
            <a:r>
              <a:rPr lang="zh-TW" altLang="en-US" sz="2200" dirty="0"/>
              <a:t>是一种收集事实与资料的方法</a:t>
            </a:r>
            <a:endParaRPr lang="zh-TW" altLang="en-US" sz="2200" dirty="0"/>
          </a:p>
          <a:p>
            <a:pPr lvl="1">
              <a:lnSpc>
                <a:spcPct val="100000"/>
              </a:lnSpc>
            </a:pPr>
            <a:r>
              <a:rPr lang="en-US" altLang="zh-TW" sz="2200" dirty="0"/>
              <a:t>IDEF6</a:t>
            </a:r>
            <a:r>
              <a:rPr lang="zh-TW" altLang="en-US" sz="2200" dirty="0"/>
              <a:t>－</a:t>
            </a:r>
            <a:r>
              <a:rPr lang="zh-CN" altLang="en-US" sz="2200" dirty="0"/>
              <a:t>设计理论获取方法：</a:t>
            </a:r>
            <a:r>
              <a:rPr lang="zh-TW" altLang="en-US" sz="2200" dirty="0"/>
              <a:t>是信息系统设计原理的描述方法</a:t>
            </a:r>
            <a:endParaRPr lang="zh-TW" altLang="zh-CN" sz="2200" dirty="0"/>
          </a:p>
          <a:p>
            <a:pPr lvl="1">
              <a:lnSpc>
                <a:spcPct val="100000"/>
              </a:lnSpc>
            </a:pPr>
            <a:r>
              <a:rPr lang="en-US" altLang="zh-TW" sz="2200" dirty="0"/>
              <a:t>IDEF</a:t>
            </a:r>
            <a:r>
              <a:rPr lang="en-US" altLang="zh-CN" sz="2200" dirty="0"/>
              <a:t>8</a:t>
            </a:r>
            <a:r>
              <a:rPr lang="zh-TW" altLang="en-US" sz="2200" dirty="0"/>
              <a:t>－</a:t>
            </a:r>
            <a:r>
              <a:rPr lang="zh-CN" altLang="en-US" sz="2200" dirty="0"/>
              <a:t>人－系统交互设计方法 </a:t>
            </a:r>
            <a:endParaRPr lang="zh-CN" altLang="en-US" sz="2200" dirty="0"/>
          </a:p>
          <a:p>
            <a:pPr lvl="1">
              <a:lnSpc>
                <a:spcPct val="100000"/>
              </a:lnSpc>
            </a:pPr>
            <a:r>
              <a:rPr lang="en-US" altLang="zh-TW" sz="2200" dirty="0"/>
              <a:t>IDEF</a:t>
            </a:r>
            <a:r>
              <a:rPr lang="en-US" altLang="zh-CN" sz="2200" dirty="0"/>
              <a:t>9</a:t>
            </a:r>
            <a:r>
              <a:rPr lang="zh-TW" altLang="en-US" sz="2200" dirty="0"/>
              <a:t>－</a:t>
            </a:r>
            <a:r>
              <a:rPr lang="zh-CN" altLang="en-US" sz="2200" dirty="0"/>
              <a:t>业务约束发现方法</a:t>
            </a:r>
            <a:endParaRPr lang="zh-CN" altLang="en-US" sz="2200" dirty="0"/>
          </a:p>
          <a:p>
            <a:pPr lvl="1">
              <a:lnSpc>
                <a:spcPct val="100000"/>
              </a:lnSpc>
            </a:pPr>
            <a:r>
              <a:rPr lang="en-US" altLang="zh-CN" sz="2200" dirty="0"/>
              <a:t>…</a:t>
            </a:r>
            <a:endParaRPr lang="en-US" altLang="zh-CN"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zh-CN" altLang="en-US" dirty="0"/>
          </a:p>
          <a:p>
            <a:pPr lvl="1">
              <a:lnSpc>
                <a:spcPct val="90000"/>
              </a:lnSpc>
            </a:pPr>
            <a:r>
              <a:rPr lang="zh-CN" altLang="en-US" sz="2200" dirty="0"/>
              <a:t>实体</a:t>
            </a:r>
            <a:endParaRPr lang="zh-CN" altLang="en-US" sz="2200" dirty="0"/>
          </a:p>
          <a:p>
            <a:pPr lvl="2">
              <a:lnSpc>
                <a:spcPct val="90000"/>
              </a:lnSpc>
            </a:pPr>
            <a:r>
              <a:rPr lang="zh-CN" altLang="en-US" dirty="0"/>
              <a:t>用方框表示，有两种实体类别</a:t>
            </a:r>
            <a:endParaRPr lang="zh-CN" altLang="en-US" dirty="0"/>
          </a:p>
          <a:p>
            <a:pPr lvl="3">
              <a:lnSpc>
                <a:spcPct val="90000"/>
              </a:lnSpc>
            </a:pPr>
            <a:r>
              <a:rPr kumimoji="1" lang="zh-CN" altLang="en-US" sz="2000" dirty="0"/>
              <a:t>独立实体：</a:t>
            </a:r>
            <a:r>
              <a:rPr kumimoji="1" lang="zh-TW" altLang="en-US" sz="2000" dirty="0"/>
              <a:t>其存在不</a:t>
            </a:r>
            <a:r>
              <a:rPr kumimoji="1" lang="zh-CN" altLang="en-US" sz="2000" dirty="0"/>
              <a:t>依赖于</a:t>
            </a:r>
            <a:r>
              <a:rPr kumimoji="1" lang="zh-TW" altLang="en-US" sz="2000" dirty="0"/>
              <a:t>其他</a:t>
            </a:r>
            <a:r>
              <a:rPr kumimoji="1" lang="zh-CN" altLang="en-US" sz="2000" dirty="0"/>
              <a:t>实体</a:t>
            </a:r>
            <a:endParaRPr kumimoji="1" lang="zh-CN" altLang="en-US" sz="2000" dirty="0"/>
          </a:p>
          <a:p>
            <a:pPr lvl="1">
              <a:lnSpc>
                <a:spcPct val="90000"/>
              </a:lnSpc>
            </a:pPr>
            <a:endParaRPr kumimoji="1" lang="zh-CN" altLang="en-US" sz="2000" dirty="0"/>
          </a:p>
          <a:p>
            <a:pPr lvl="1">
              <a:lnSpc>
                <a:spcPct val="90000"/>
              </a:lnSpc>
            </a:pPr>
            <a:endParaRPr kumimoji="1" lang="zh-CN" altLang="en-US" sz="2000" dirty="0"/>
          </a:p>
          <a:p>
            <a:pPr lvl="3">
              <a:lnSpc>
                <a:spcPct val="90000"/>
              </a:lnSpc>
            </a:pPr>
            <a:r>
              <a:rPr kumimoji="1" lang="zh-CN" altLang="en-US" sz="2000" dirty="0"/>
              <a:t>非独立实体：</a:t>
            </a:r>
            <a:r>
              <a:rPr kumimoji="1" lang="zh-TW" altLang="en-US" sz="2000" dirty="0"/>
              <a:t>其存在</a:t>
            </a:r>
            <a:r>
              <a:rPr kumimoji="1" lang="zh-CN" altLang="en-US" sz="2000" dirty="0"/>
              <a:t>依赖于</a:t>
            </a:r>
            <a:r>
              <a:rPr kumimoji="1" lang="zh-TW" altLang="en-US" sz="2000" dirty="0"/>
              <a:t>其他</a:t>
            </a:r>
            <a:r>
              <a:rPr kumimoji="1" lang="zh-CN" altLang="en-US" sz="2000" dirty="0"/>
              <a:t>实体</a:t>
            </a:r>
            <a:endParaRPr kumimoji="1" lang="zh-CN" altLang="en-US" sz="2000" dirty="0"/>
          </a:p>
          <a:p>
            <a:pPr lvl="3">
              <a:lnSpc>
                <a:spcPct val="90000"/>
              </a:lnSpc>
            </a:pPr>
            <a:endParaRPr lang="zh-CN" altLang="en-US" sz="2000" dirty="0"/>
          </a:p>
          <a:p>
            <a:pPr lvl="3">
              <a:lnSpc>
                <a:spcPct val="90000"/>
              </a:lnSpc>
            </a:pPr>
            <a:endParaRPr lang="zh-CN" altLang="en-US" sz="2000" dirty="0"/>
          </a:p>
          <a:p>
            <a:pPr lvl="1">
              <a:lnSpc>
                <a:spcPct val="90000"/>
              </a:lnSpc>
            </a:pPr>
            <a:endParaRPr lang="zh-CN" altLang="en-US" sz="2000" dirty="0"/>
          </a:p>
          <a:p>
            <a:pPr lvl="1">
              <a:lnSpc>
                <a:spcPct val="90000"/>
              </a:lnSpc>
            </a:pPr>
            <a:r>
              <a:rPr lang="zh-CN" altLang="en-US" sz="2200" i="1" dirty="0"/>
              <a:t>（实体举例）</a:t>
            </a:r>
            <a:endParaRPr lang="zh-CN" altLang="en-US" sz="2200"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6" name="Rectangle 4"/>
          <p:cNvSpPr>
            <a:spLocks noChangeArrowheads="1"/>
          </p:cNvSpPr>
          <p:nvPr/>
        </p:nvSpPr>
        <p:spPr bwMode="auto">
          <a:xfrm>
            <a:off x="4081756" y="3023529"/>
            <a:ext cx="1363662" cy="447675"/>
          </a:xfrm>
          <a:prstGeom prst="rect">
            <a:avLst/>
          </a:prstGeom>
          <a:solidFill>
            <a:srgbClr val="FFFF00"/>
          </a:solidFill>
          <a:ln w="12700">
            <a:solidFill>
              <a:schemeClr val="tx1"/>
            </a:solidFill>
            <a:miter lim="800000"/>
          </a:ln>
          <a:effectLst>
            <a:outerShdw dist="107763" dir="2700000" algn="ctr" rotWithShape="0">
              <a:srgbClr val="9FC0B1"/>
            </a:outerShdw>
          </a:effectLst>
        </p:spPr>
        <p:txBody>
          <a:bodyPr lIns="0" tIns="73025" rIns="0" bIns="73025" anchor="b">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900" b="1" u="none" dirty="0">
                <a:solidFill>
                  <a:srgbClr val="000000"/>
                </a:solidFill>
                <a:latin typeface="微软雅黑" panose="020B0503020204020204" pitchFamily="34" charset="-122"/>
                <a:ea typeface="微软雅黑" panose="020B0503020204020204" pitchFamily="34" charset="-122"/>
              </a:rPr>
              <a:t>订单</a:t>
            </a:r>
            <a:endParaRPr kumimoji="1" lang="zh-CN" altLang="en-US" sz="1900" b="1" u="none" dirty="0">
              <a:solidFill>
                <a:srgbClr val="000000"/>
              </a:solidFill>
              <a:latin typeface="微软雅黑" panose="020B0503020204020204" pitchFamily="34" charset="-122"/>
              <a:ea typeface="微软雅黑" panose="020B0503020204020204" pitchFamily="34" charset="-122"/>
            </a:endParaRPr>
          </a:p>
        </p:txBody>
      </p:sp>
      <p:sp>
        <p:nvSpPr>
          <p:cNvPr id="7" name="Text Box 6"/>
          <p:cNvSpPr txBox="1">
            <a:spLocks noChangeArrowheads="1"/>
          </p:cNvSpPr>
          <p:nvPr/>
        </p:nvSpPr>
        <p:spPr bwMode="auto">
          <a:xfrm>
            <a:off x="6397088" y="3071094"/>
            <a:ext cx="20161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2000" i="1" u="none" dirty="0">
                <a:latin typeface="微软雅黑" panose="020B0503020204020204" pitchFamily="34" charset="-122"/>
                <a:ea typeface="微软雅黑" panose="020B0503020204020204" pitchFamily="34" charset="-122"/>
              </a:rPr>
              <a:t>用直角方框表示</a:t>
            </a:r>
            <a:endParaRPr lang="zh-CN" altLang="en-US" sz="2000" i="1" u="none" dirty="0">
              <a:latin typeface="微软雅黑" panose="020B0503020204020204" pitchFamily="34" charset="-122"/>
              <a:ea typeface="微软雅黑" panose="020B0503020204020204" pitchFamily="34" charset="-122"/>
            </a:endParaRPr>
          </a:p>
        </p:txBody>
      </p:sp>
      <p:sp>
        <p:nvSpPr>
          <p:cNvPr id="8" name="AutoShape 5"/>
          <p:cNvSpPr>
            <a:spLocks noChangeArrowheads="1"/>
          </p:cNvSpPr>
          <p:nvPr/>
        </p:nvSpPr>
        <p:spPr bwMode="auto">
          <a:xfrm>
            <a:off x="4081756" y="4166858"/>
            <a:ext cx="1368425" cy="415925"/>
          </a:xfrm>
          <a:prstGeom prst="roundRect">
            <a:avLst>
              <a:gd name="adj" fmla="val 20644"/>
            </a:avLst>
          </a:prstGeom>
          <a:solidFill>
            <a:srgbClr val="FFFF00"/>
          </a:solidFill>
          <a:ln w="12700">
            <a:solidFill>
              <a:schemeClr val="tx1"/>
            </a:solidFill>
            <a:round/>
          </a:ln>
          <a:effectLst>
            <a:outerShdw dist="107763" dir="2700000" algn="ctr" rotWithShape="0">
              <a:srgbClr val="9FC0B1"/>
            </a:outerShdw>
          </a:effectLst>
        </p:spPr>
        <p:txBody>
          <a:bodyPr lIns="0" tIns="36512" rIns="0" bIns="36512" anchor="b">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900" b="1" u="none" dirty="0">
                <a:solidFill>
                  <a:srgbClr val="000000"/>
                </a:solidFill>
                <a:latin typeface="微软雅黑" panose="020B0503020204020204" pitchFamily="34" charset="-122"/>
                <a:ea typeface="微软雅黑" panose="020B0503020204020204" pitchFamily="34" charset="-122"/>
              </a:rPr>
              <a:t>订单明细</a:t>
            </a:r>
            <a:endParaRPr kumimoji="1" lang="zh-CN" altLang="en-US" sz="1900" b="1" u="none" dirty="0">
              <a:solidFill>
                <a:srgbClr val="000000"/>
              </a:solidFill>
              <a:latin typeface="微软雅黑" panose="020B0503020204020204" pitchFamily="34" charset="-122"/>
              <a:ea typeface="微软雅黑" panose="020B0503020204020204" pitchFamily="34" charset="-122"/>
            </a:endParaRPr>
          </a:p>
        </p:txBody>
      </p:sp>
      <p:sp>
        <p:nvSpPr>
          <p:cNvPr id="9" name="Text Box 7"/>
          <p:cNvSpPr txBox="1">
            <a:spLocks noChangeArrowheads="1"/>
          </p:cNvSpPr>
          <p:nvPr/>
        </p:nvSpPr>
        <p:spPr bwMode="auto">
          <a:xfrm>
            <a:off x="6169318" y="4238295"/>
            <a:ext cx="20161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2000" i="1" u="none" dirty="0">
                <a:latin typeface="微软雅黑" panose="020B0503020204020204" pitchFamily="34" charset="-122"/>
                <a:ea typeface="微软雅黑" panose="020B0503020204020204" pitchFamily="34" charset="-122"/>
              </a:rPr>
              <a:t>用园角方框表示</a:t>
            </a:r>
            <a:endParaRPr lang="zh-CN" altLang="en-US" sz="2000" i="1" u="none" dirty="0">
              <a:latin typeface="微软雅黑" panose="020B0503020204020204" pitchFamily="34" charset="-122"/>
              <a:ea typeface="微软雅黑" panose="020B0503020204020204" pitchFamily="34" charset="-122"/>
            </a:endParaRPr>
          </a:p>
        </p:txBody>
      </p:sp>
      <p:sp>
        <p:nvSpPr>
          <p:cNvPr id="11" name="AutoShape 8">
            <a:hlinkClick r:id="rId1" action="ppaction://hlinkfile" highlightClick="1"/>
          </p:cNvPr>
          <p:cNvSpPr>
            <a:spLocks noChangeArrowheads="1"/>
          </p:cNvSpPr>
          <p:nvPr/>
        </p:nvSpPr>
        <p:spPr bwMode="auto">
          <a:xfrm>
            <a:off x="4511174" y="5745310"/>
            <a:ext cx="504825" cy="503238"/>
          </a:xfrm>
          <a:prstGeom prst="actionButtonForwardNex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b="0" i="0" u="sng"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zh-CN" altLang="en-US" dirty="0"/>
          </a:p>
          <a:p>
            <a:pPr lvl="1"/>
            <a:r>
              <a:rPr lang="zh-CN" altLang="en-US" dirty="0"/>
              <a:t>属性</a:t>
            </a:r>
            <a:endParaRPr lang="zh-CN" altLang="en-US" dirty="0"/>
          </a:p>
          <a:p>
            <a:pPr lvl="2"/>
            <a:r>
              <a:rPr lang="zh-CN" altLang="en-US" dirty="0"/>
              <a:t>写在实体框中，有两种属性类别</a:t>
            </a:r>
            <a:endParaRPr lang="zh-CN" altLang="en-US" dirty="0"/>
          </a:p>
          <a:p>
            <a:pPr lvl="3"/>
            <a:r>
              <a:rPr kumimoji="1" lang="zh-TW" altLang="en-US" b="1" dirty="0">
                <a:solidFill>
                  <a:srgbClr val="C00000"/>
                </a:solidFill>
              </a:rPr>
              <a:t>键属性</a:t>
            </a:r>
            <a:r>
              <a:rPr kumimoji="1" lang="en-US" altLang="zh-TW" b="1" dirty="0"/>
              <a:t>(Key)</a:t>
            </a:r>
            <a:r>
              <a:rPr kumimoji="1" lang="zh-CN" altLang="en-US" b="1" dirty="0"/>
              <a:t>，</a:t>
            </a:r>
            <a:r>
              <a:rPr kumimoji="1" lang="zh-TW" altLang="en-US" b="1" dirty="0">
                <a:solidFill>
                  <a:srgbClr val="C00000"/>
                </a:solidFill>
              </a:rPr>
              <a:t>非</a:t>
            </a:r>
            <a:r>
              <a:rPr kumimoji="1" lang="zh-CN" altLang="en-US" b="1" dirty="0">
                <a:solidFill>
                  <a:srgbClr val="C00000"/>
                </a:solidFill>
              </a:rPr>
              <a:t>键</a:t>
            </a:r>
            <a:r>
              <a:rPr kumimoji="1" lang="zh-TW" altLang="en-US" b="1" dirty="0">
                <a:solidFill>
                  <a:srgbClr val="C00000"/>
                </a:solidFill>
              </a:rPr>
              <a:t>属性</a:t>
            </a:r>
            <a:r>
              <a:rPr kumimoji="1" lang="en-US" altLang="zh-TW" b="1" dirty="0"/>
              <a:t>(Non Key)</a:t>
            </a:r>
            <a:endParaRPr kumimoji="1" lang="en-US" altLang="zh-CN" b="1" dirty="0"/>
          </a:p>
          <a:p>
            <a:pPr lvl="2"/>
            <a:r>
              <a:rPr lang="zh-CN" altLang="en-US" b="1" i="1" dirty="0">
                <a:solidFill>
                  <a:srgbClr val="00B0F0"/>
                </a:solidFill>
              </a:rPr>
              <a:t>候选键：</a:t>
            </a:r>
            <a:r>
              <a:rPr lang="zh-TW" altLang="en-US" b="1" i="1" dirty="0">
                <a:solidFill>
                  <a:srgbClr val="00B0F0"/>
                </a:solidFill>
              </a:rPr>
              <a:t>可用</a:t>
            </a:r>
            <a:r>
              <a:rPr lang="zh-CN" altLang="en-US" b="1" i="1" dirty="0">
                <a:solidFill>
                  <a:srgbClr val="00B0F0"/>
                </a:solidFill>
              </a:rPr>
              <a:t>来</a:t>
            </a:r>
            <a:r>
              <a:rPr lang="zh-TW" altLang="en-US" b="1" i="1" dirty="0">
                <a:solidFill>
                  <a:srgbClr val="00B0F0"/>
                </a:solidFill>
              </a:rPr>
              <a:t>唯一</a:t>
            </a:r>
            <a:r>
              <a:rPr lang="zh-CN" altLang="en-US" b="1" i="1" dirty="0">
                <a:solidFill>
                  <a:srgbClr val="00B0F0"/>
                </a:solidFill>
              </a:rPr>
              <a:t>标识</a:t>
            </a:r>
            <a:r>
              <a:rPr lang="zh-TW" altLang="en-US" b="1" i="1" dirty="0">
                <a:solidFill>
                  <a:srgbClr val="00B0F0"/>
                </a:solidFill>
              </a:rPr>
              <a:t>实体的属性</a:t>
            </a:r>
            <a:r>
              <a:rPr lang="zh-CN" altLang="en-US" b="1" i="1" dirty="0">
                <a:solidFill>
                  <a:srgbClr val="00B0F0"/>
                </a:solidFill>
              </a:rPr>
              <a:t>或属性组</a:t>
            </a:r>
            <a:endParaRPr lang="zh-CN" altLang="en-US" b="1" i="1" dirty="0">
              <a:solidFill>
                <a:srgbClr val="00B0F0"/>
              </a:solidFill>
            </a:endParaRPr>
          </a:p>
          <a:p>
            <a:pPr lvl="2"/>
            <a:r>
              <a:rPr kumimoji="1" lang="zh-CN" altLang="en-US" b="1" dirty="0">
                <a:solidFill>
                  <a:srgbClr val="C00000"/>
                </a:solidFill>
              </a:rPr>
              <a:t>主键</a:t>
            </a:r>
            <a:r>
              <a:rPr kumimoji="1" lang="en-US" altLang="zh-CN" b="1" dirty="0">
                <a:solidFill>
                  <a:srgbClr val="C00000"/>
                </a:solidFill>
              </a:rPr>
              <a:t>(PK)</a:t>
            </a:r>
            <a:r>
              <a:rPr kumimoji="1" lang="zh-CN" altLang="en-US" b="1" dirty="0"/>
              <a:t>：</a:t>
            </a:r>
            <a:r>
              <a:rPr lang="zh-TW" altLang="en-US" dirty="0"/>
              <a:t>被</a:t>
            </a:r>
            <a:r>
              <a:rPr lang="zh-CN" altLang="en-US" dirty="0"/>
              <a:t>选择用来惟</a:t>
            </a:r>
            <a:r>
              <a:rPr lang="zh-TW" altLang="en-US" dirty="0"/>
              <a:t>一标识</a:t>
            </a:r>
            <a:r>
              <a:rPr lang="zh-CN" altLang="en-US" dirty="0"/>
              <a:t>实体</a:t>
            </a:r>
            <a:r>
              <a:rPr lang="zh-TW" altLang="en-US" dirty="0"/>
              <a:t>的候选键</a:t>
            </a:r>
            <a:endParaRPr lang="zh-CN" altLang="en-US" dirty="0"/>
          </a:p>
          <a:p>
            <a:pPr lvl="3"/>
            <a:r>
              <a:rPr lang="zh-CN" altLang="en-US" dirty="0"/>
              <a:t>实体框中横线上面的</a:t>
            </a:r>
            <a:r>
              <a:rPr lang="zh-TW" altLang="en-US" dirty="0"/>
              <a:t>属性</a:t>
            </a:r>
            <a:r>
              <a:rPr lang="zh-CN" altLang="en-US" dirty="0"/>
              <a:t>就是主键属性；</a:t>
            </a:r>
            <a:endParaRPr lang="zh-CN" altLang="en-US" dirty="0"/>
          </a:p>
          <a:p>
            <a:pPr lvl="3"/>
            <a:r>
              <a:rPr lang="zh-CN" altLang="en-US" dirty="0"/>
              <a:t>实体框中横线下面的</a:t>
            </a:r>
            <a:r>
              <a:rPr lang="zh-TW" altLang="en-US" dirty="0"/>
              <a:t>属性</a:t>
            </a:r>
            <a:r>
              <a:rPr lang="zh-CN" altLang="en-US" dirty="0"/>
              <a:t>就是非主属性。</a:t>
            </a: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6" name="AutoShape 15"/>
          <p:cNvSpPr>
            <a:spLocks noChangeArrowheads="1"/>
          </p:cNvSpPr>
          <p:nvPr/>
        </p:nvSpPr>
        <p:spPr bwMode="auto">
          <a:xfrm>
            <a:off x="44889" y="3429000"/>
            <a:ext cx="1114425" cy="431800"/>
          </a:xfrm>
          <a:prstGeom prst="wedgeEllipseCallout">
            <a:avLst>
              <a:gd name="adj1" fmla="val 71653"/>
              <a:gd name="adj2" fmla="val 6986"/>
            </a:avLst>
          </a:prstGeom>
          <a:solidFill>
            <a:srgbClr val="CC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1800" i="1" u="none">
                <a:latin typeface="微软雅黑" panose="020B0503020204020204" pitchFamily="34" charset="-122"/>
                <a:ea typeface="微软雅黑" panose="020B0503020204020204" pitchFamily="34" charset="-122"/>
              </a:rPr>
              <a:t>Review</a:t>
            </a:r>
            <a:endParaRPr lang="en-US" altLang="zh-CN" sz="1800" i="1" u="none">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5375275" y="5160962"/>
            <a:ext cx="1441450" cy="609600"/>
          </a:xfrm>
          <a:prstGeom prst="rect">
            <a:avLst/>
          </a:prstGeom>
          <a:noFill/>
          <a:ln w="12700">
            <a:solidFill>
              <a:schemeClr val="tx1"/>
            </a:solidFill>
            <a:miter lim="800000"/>
          </a:ln>
          <a:effec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defRPr/>
            </a:pPr>
            <a:r>
              <a:rPr kumimoji="1" lang="zh-CN" altLang="en-US" sz="1600" b="1" u="none" dirty="0">
                <a:latin typeface="微软雅黑" panose="020B0503020204020204" pitchFamily="34" charset="-122"/>
                <a:ea typeface="微软雅黑" panose="020B0503020204020204" pitchFamily="34" charset="-122"/>
              </a:rPr>
              <a:t>产品号</a:t>
            </a:r>
            <a:endParaRPr kumimoji="1" lang="zh-CN" altLang="en-US" sz="1600" b="1" u="none" dirty="0">
              <a:latin typeface="微软雅黑" panose="020B0503020204020204" pitchFamily="34" charset="-122"/>
              <a:ea typeface="微软雅黑" panose="020B0503020204020204" pitchFamily="34" charset="-122"/>
            </a:endParaRPr>
          </a:p>
          <a:p>
            <a:pPr eaLnBrk="1" hangingPunct="1">
              <a:spcBef>
                <a:spcPct val="0"/>
              </a:spcBef>
              <a:buFontTx/>
              <a:buNone/>
              <a:defRPr/>
            </a:pPr>
            <a:r>
              <a:rPr kumimoji="1" lang="zh-CN" altLang="en-US" sz="1600" b="1" u="none" dirty="0">
                <a:solidFill>
                  <a:srgbClr val="FF0000"/>
                </a:solidFill>
                <a:highlight>
                  <a:srgbClr val="FFFF00"/>
                </a:highlight>
                <a:latin typeface="微软雅黑" panose="020B0503020204020204" pitchFamily="34" charset="-122"/>
                <a:ea typeface="微软雅黑" panose="020B0503020204020204" pitchFamily="34" charset="-122"/>
              </a:rPr>
              <a:t>仓库号</a:t>
            </a:r>
            <a:r>
              <a:rPr kumimoji="1" lang="en-US" altLang="zh-CN" sz="1600" b="1" u="none" dirty="0">
                <a:solidFill>
                  <a:srgbClr val="FF0000"/>
                </a:solidFill>
                <a:highlight>
                  <a:srgbClr val="FFFF00"/>
                </a:highlight>
                <a:latin typeface="微软雅黑" panose="020B0503020204020204" pitchFamily="34" charset="-122"/>
                <a:ea typeface="微软雅黑" panose="020B0503020204020204" pitchFamily="34" charset="-122"/>
              </a:rPr>
              <a:t>(FK)</a:t>
            </a:r>
            <a:endParaRPr kumimoji="1" lang="en-US" altLang="zh-CN" sz="1600" b="1" u="none" dirty="0">
              <a:solidFill>
                <a:srgbClr val="FF0000"/>
              </a:solidFill>
              <a:highlight>
                <a:srgbClr val="FFFF00"/>
              </a:highlight>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5375275" y="5759450"/>
            <a:ext cx="1441450" cy="1098550"/>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品名</a:t>
            </a:r>
            <a:endParaRPr kumimoji="1" lang="zh-CN" altLang="en-US" sz="16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规格</a:t>
            </a:r>
            <a:endParaRPr kumimoji="1" lang="zh-CN" altLang="en-US" sz="16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价格</a:t>
            </a:r>
            <a:r>
              <a:rPr kumimoji="1" lang="zh-TW" altLang="en-US" sz="1600" b="1" u="none">
                <a:latin typeface="微软雅黑" panose="020B0503020204020204" pitchFamily="34" charset="-122"/>
                <a:ea typeface="微软雅黑" panose="020B0503020204020204" pitchFamily="34" charset="-122"/>
              </a:rPr>
              <a:t> </a:t>
            </a:r>
            <a:endParaRPr kumimoji="1" lang="zh-TW" altLang="zh-CN" sz="16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600" b="1" u="none">
                <a:solidFill>
                  <a:srgbClr val="66FFFF"/>
                </a:solidFill>
                <a:latin typeface="微软雅黑" panose="020B0503020204020204" pitchFamily="34" charset="-122"/>
                <a:ea typeface="微软雅黑" panose="020B0503020204020204" pitchFamily="34" charset="-122"/>
              </a:rPr>
              <a:t>数量</a:t>
            </a:r>
            <a:endParaRPr kumimoji="1" lang="zh-CN" altLang="en-US" sz="1600" b="1" u="none">
              <a:solidFill>
                <a:srgbClr val="66FFFF"/>
              </a:solidFill>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5376862" y="4878387"/>
            <a:ext cx="57626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700" b="1" u="none">
                <a:latin typeface="微软雅黑" panose="020B0503020204020204" pitchFamily="34" charset="-122"/>
                <a:ea typeface="微软雅黑" panose="020B0503020204020204" pitchFamily="34" charset="-122"/>
              </a:rPr>
              <a:t>产品</a:t>
            </a:r>
            <a:endParaRPr kumimoji="1" lang="zh-CN" altLang="en-US" sz="1700" b="1" u="none">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flipV="1">
            <a:off x="4440237" y="5441950"/>
            <a:ext cx="649288" cy="1587"/>
          </a:xfrm>
          <a:prstGeom prst="line">
            <a:avLst/>
          </a:prstGeom>
          <a:noFill/>
          <a:ln w="25400">
            <a:solidFill>
              <a:srgbClr val="FFFFCC"/>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flipV="1">
            <a:off x="4513262" y="6318250"/>
            <a:ext cx="574675" cy="0"/>
          </a:xfrm>
          <a:prstGeom prst="line">
            <a:avLst/>
          </a:prstGeom>
          <a:noFill/>
          <a:ln w="25400">
            <a:solidFill>
              <a:srgbClr val="FFFFCC"/>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3144837" y="5249862"/>
            <a:ext cx="1376363" cy="403225"/>
          </a:xfrm>
          <a:prstGeom prst="rect">
            <a:avLst/>
          </a:prstGeom>
          <a:solidFill>
            <a:srgbClr val="FFFF00"/>
          </a:solidFill>
          <a:ln w="12700">
            <a:solidFill>
              <a:schemeClr val="bg2"/>
            </a:solidFill>
            <a:miter lim="800000"/>
          </a:ln>
          <a:effectLst>
            <a:prstShdw prst="shdw17" dist="17961" dir="2700000">
              <a:schemeClr val="bg2">
                <a:gamma/>
                <a:shade val="60000"/>
                <a:invGamma/>
              </a:schemeClr>
            </a:prstShdw>
          </a:effectLst>
        </p:spPr>
        <p:txBody>
          <a:bodyPr lIns="79375" tIns="42862" rIns="79375" bIns="42862">
            <a:spAutoFit/>
          </a:bodyP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u="none">
                <a:solidFill>
                  <a:srgbClr val="000000"/>
                </a:solidFill>
                <a:latin typeface="微软雅黑" panose="020B0503020204020204" pitchFamily="34" charset="-122"/>
                <a:ea typeface="微软雅黑" panose="020B0503020204020204" pitchFamily="34" charset="-122"/>
              </a:rPr>
              <a:t>主</a:t>
            </a:r>
            <a:r>
              <a:rPr kumimoji="1" lang="zh-TW" altLang="en-US" sz="2000" b="1" u="none">
                <a:solidFill>
                  <a:srgbClr val="000000"/>
                </a:solidFill>
                <a:latin typeface="微软雅黑" panose="020B0503020204020204" pitchFamily="34" charset="-122"/>
                <a:ea typeface="微软雅黑" panose="020B0503020204020204" pitchFamily="34" charset="-122"/>
              </a:rPr>
              <a:t>键属性</a:t>
            </a:r>
            <a:endParaRPr kumimoji="1" lang="zh-TW" altLang="en-US" b="1" u="none">
              <a:solidFill>
                <a:srgbClr val="000000"/>
              </a:solidFill>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3144837" y="6119812"/>
            <a:ext cx="1397000" cy="403225"/>
          </a:xfrm>
          <a:prstGeom prst="rect">
            <a:avLst/>
          </a:prstGeom>
          <a:solidFill>
            <a:srgbClr val="FFFF00"/>
          </a:solidFill>
          <a:ln w="12700">
            <a:solidFill>
              <a:schemeClr val="bg2"/>
            </a:solidFill>
            <a:miter lim="800000"/>
          </a:ln>
          <a:effectLst>
            <a:prstShdw prst="shdw17" dist="17961" dir="2700000">
              <a:schemeClr val="bg2">
                <a:gamma/>
                <a:shade val="60000"/>
                <a:invGamma/>
              </a:schemeClr>
            </a:prstShdw>
          </a:effectLst>
        </p:spPr>
        <p:txBody>
          <a:bodyPr lIns="0" tIns="42862" rIns="0" bIns="42862">
            <a:spAutoFit/>
          </a:bodyP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algn="ctr" eaLnBrk="1" hangingPunct="1"/>
            <a:r>
              <a:rPr kumimoji="1" lang="zh-TW" altLang="en-US" sz="2000" b="1" u="none">
                <a:solidFill>
                  <a:srgbClr val="000000"/>
                </a:solidFill>
                <a:latin typeface="微软雅黑" panose="020B0503020204020204" pitchFamily="34" charset="-122"/>
                <a:ea typeface="微软雅黑" panose="020B0503020204020204" pitchFamily="34" charset="-122"/>
              </a:rPr>
              <a:t>非</a:t>
            </a:r>
            <a:r>
              <a:rPr kumimoji="1" lang="zh-CN" altLang="en-US" sz="2000" b="1" u="none">
                <a:solidFill>
                  <a:srgbClr val="000000"/>
                </a:solidFill>
                <a:latin typeface="微软雅黑" panose="020B0503020204020204" pitchFamily="34" charset="-122"/>
                <a:ea typeface="微软雅黑" panose="020B0503020204020204" pitchFamily="34" charset="-122"/>
              </a:rPr>
              <a:t>主键</a:t>
            </a:r>
            <a:r>
              <a:rPr kumimoji="1" lang="zh-TW" altLang="en-US" sz="2000" b="1" u="none">
                <a:solidFill>
                  <a:srgbClr val="000000"/>
                </a:solidFill>
                <a:latin typeface="微软雅黑" panose="020B0503020204020204" pitchFamily="34" charset="-122"/>
                <a:ea typeface="微软雅黑" panose="020B0503020204020204" pitchFamily="34" charset="-122"/>
              </a:rPr>
              <a:t>属性</a:t>
            </a:r>
            <a:endParaRPr kumimoji="1" lang="zh-TW" altLang="en-US" b="1" u="none">
              <a:solidFill>
                <a:srgbClr val="000000"/>
              </a:solidFill>
              <a:latin typeface="微软雅黑" panose="020B0503020204020204" pitchFamily="34" charset="-122"/>
              <a:ea typeface="微软雅黑" panose="020B0503020204020204" pitchFamily="34" charset="-122"/>
            </a:endParaRPr>
          </a:p>
        </p:txBody>
      </p:sp>
      <p:sp>
        <p:nvSpPr>
          <p:cNvPr id="14" name="AutoShape 11"/>
          <p:cNvSpPr/>
          <p:nvPr/>
        </p:nvSpPr>
        <p:spPr bwMode="auto">
          <a:xfrm>
            <a:off x="5133975" y="5837237"/>
            <a:ext cx="144462" cy="935038"/>
          </a:xfrm>
          <a:prstGeom prst="leftBrace">
            <a:avLst>
              <a:gd name="adj1" fmla="val 53938"/>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15" name="AutoShape 12"/>
          <p:cNvSpPr/>
          <p:nvPr/>
        </p:nvSpPr>
        <p:spPr bwMode="auto">
          <a:xfrm>
            <a:off x="5160962" y="5238750"/>
            <a:ext cx="142875" cy="431800"/>
          </a:xfrm>
          <a:prstGeom prst="leftBrace">
            <a:avLst>
              <a:gd name="adj1" fmla="val 25185"/>
              <a:gd name="adj2" fmla="val 50000"/>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16" name="Rectangle 13"/>
          <p:cNvSpPr>
            <a:spLocks noChangeArrowheads="1"/>
          </p:cNvSpPr>
          <p:nvPr/>
        </p:nvSpPr>
        <p:spPr bwMode="auto">
          <a:xfrm>
            <a:off x="7680325" y="5273675"/>
            <a:ext cx="504825"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TW" sz="1800" u="none">
                <a:latin typeface="微软雅黑" panose="020B0503020204020204" pitchFamily="34" charset="-122"/>
                <a:ea typeface="微软雅黑" panose="020B0503020204020204" pitchFamily="34" charset="-122"/>
              </a:rPr>
              <a:t>PK</a:t>
            </a:r>
            <a:endParaRPr kumimoji="1" lang="en-US" altLang="zh-TW" sz="1800" u="none">
              <a:latin typeface="微软雅黑" panose="020B0503020204020204" pitchFamily="34" charset="-122"/>
              <a:ea typeface="微软雅黑" panose="020B0503020204020204" pitchFamily="34" charset="-122"/>
            </a:endParaRPr>
          </a:p>
        </p:txBody>
      </p:sp>
      <p:sp>
        <p:nvSpPr>
          <p:cNvPr id="17" name="Line 14"/>
          <p:cNvSpPr>
            <a:spLocks noChangeShapeType="1"/>
          </p:cNvSpPr>
          <p:nvPr/>
        </p:nvSpPr>
        <p:spPr bwMode="auto">
          <a:xfrm flipH="1">
            <a:off x="7032625" y="5418137"/>
            <a:ext cx="647700" cy="0"/>
          </a:xfrm>
          <a:prstGeom prst="line">
            <a:avLst/>
          </a:prstGeom>
          <a:noFill/>
          <a:ln w="9525">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 name="Rectangle 17"/>
          <p:cNvSpPr>
            <a:spLocks noChangeArrowheads="1"/>
          </p:cNvSpPr>
          <p:nvPr/>
        </p:nvSpPr>
        <p:spPr bwMode="auto">
          <a:xfrm>
            <a:off x="7680325" y="4803775"/>
            <a:ext cx="8382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800" u="none">
                <a:latin typeface="微软雅黑" panose="020B0503020204020204" pitchFamily="34" charset="-122"/>
                <a:ea typeface="微软雅黑" panose="020B0503020204020204" pitchFamily="34" charset="-122"/>
              </a:rPr>
              <a:t>实体名</a:t>
            </a:r>
            <a:endParaRPr kumimoji="1" lang="zh-CN" altLang="en-US" sz="1800" u="none">
              <a:latin typeface="微软雅黑" panose="020B0503020204020204" pitchFamily="34" charset="-122"/>
              <a:ea typeface="微软雅黑" panose="020B0503020204020204" pitchFamily="34" charset="-122"/>
            </a:endParaRPr>
          </a:p>
        </p:txBody>
      </p:sp>
      <p:sp>
        <p:nvSpPr>
          <p:cNvPr id="19" name="Line 18"/>
          <p:cNvSpPr>
            <a:spLocks noChangeShapeType="1"/>
          </p:cNvSpPr>
          <p:nvPr/>
        </p:nvSpPr>
        <p:spPr bwMode="auto">
          <a:xfrm flipH="1">
            <a:off x="5953125" y="4986337"/>
            <a:ext cx="1727200" cy="0"/>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Rectangle 16"/>
          <p:cNvSpPr>
            <a:spLocks noChangeArrowheads="1"/>
          </p:cNvSpPr>
          <p:nvPr/>
        </p:nvSpPr>
        <p:spPr bwMode="auto">
          <a:xfrm>
            <a:off x="20637" y="5638797"/>
            <a:ext cx="2484438" cy="519112"/>
          </a:xfrm>
          <a:prstGeom prst="rect">
            <a:avLst/>
          </a:prstGeom>
          <a:noFill/>
          <a:ln>
            <a:noFill/>
          </a:ln>
          <a:effectLst/>
        </p:spPr>
        <p:txBody>
          <a:bodyPr lIns="0" rIns="0">
            <a:spAutoFit/>
          </a:bodyP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eaLnBrk="1" hangingPunct="1"/>
            <a:r>
              <a:rPr lang="zh-CN" altLang="en-US" sz="2800" b="1" i="1" u="none" dirty="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（属性举例）</a:t>
            </a:r>
            <a:endParaRPr lang="zh-CN" altLang="en-US" sz="2800" b="1" i="1" u="none" dirty="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zh-CN" altLang="en-US" dirty="0"/>
          </a:p>
          <a:p>
            <a:pPr lvl="1"/>
            <a:r>
              <a:rPr lang="zh-CN" altLang="en-US" dirty="0"/>
              <a:t>联系</a:t>
            </a:r>
            <a:r>
              <a:rPr lang="zh-CN" altLang="en-US" dirty="0">
                <a:solidFill>
                  <a:srgbClr val="C00000"/>
                </a:solidFill>
              </a:rPr>
              <a:t>（</a:t>
            </a:r>
            <a:r>
              <a:rPr kumimoji="1" lang="en-US" altLang="zh-TW" dirty="0">
                <a:solidFill>
                  <a:srgbClr val="C00000"/>
                </a:solidFill>
              </a:rPr>
              <a:t>Relationship</a:t>
            </a:r>
            <a:r>
              <a:rPr kumimoji="1" lang="zh-CN" altLang="en-US" dirty="0">
                <a:solidFill>
                  <a:srgbClr val="C00000"/>
                </a:solidFill>
              </a:rPr>
              <a:t>）</a:t>
            </a:r>
            <a:r>
              <a:rPr kumimoji="1" lang="en-US" altLang="zh-CN" dirty="0">
                <a:solidFill>
                  <a:srgbClr val="C00000"/>
                </a:solidFill>
              </a:rPr>
              <a:t>——</a:t>
            </a:r>
            <a:r>
              <a:rPr kumimoji="1" lang="zh-CN" altLang="en-US" dirty="0">
                <a:solidFill>
                  <a:srgbClr val="C00000"/>
                </a:solidFill>
              </a:rPr>
              <a:t>两实体之间的关系</a:t>
            </a:r>
            <a:endParaRPr kumimoji="1" lang="zh-CN" altLang="en-US" dirty="0">
              <a:solidFill>
                <a:srgbClr val="C00000"/>
              </a:solidFill>
            </a:endParaRPr>
          </a:p>
          <a:p>
            <a:pPr lvl="2"/>
            <a:r>
              <a:rPr kumimoji="1" lang="zh-CN" altLang="en-US" sz="2200" dirty="0"/>
              <a:t>联系用实体间的连线表示；</a:t>
            </a:r>
            <a:endParaRPr kumimoji="1" lang="zh-CN" altLang="en-US" sz="2200" dirty="0"/>
          </a:p>
          <a:p>
            <a:pPr lvl="2"/>
            <a:r>
              <a:rPr kumimoji="1" lang="zh-CN" altLang="en-US" sz="2200" dirty="0"/>
              <a:t>联系动词标注在线的旁边。</a:t>
            </a:r>
            <a:endParaRPr kumimoji="1" lang="zh-CN" altLang="en-US" sz="2200" dirty="0"/>
          </a:p>
          <a:p>
            <a:pPr marL="457200" lvl="1" indent="0">
              <a:lnSpc>
                <a:spcPct val="150000"/>
              </a:lnSpc>
              <a:buNone/>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6" name="AutoShape 10"/>
          <p:cNvSpPr>
            <a:spLocks noChangeArrowheads="1"/>
          </p:cNvSpPr>
          <p:nvPr/>
        </p:nvSpPr>
        <p:spPr bwMode="auto">
          <a:xfrm>
            <a:off x="6747096" y="3558296"/>
            <a:ext cx="2160587" cy="503238"/>
          </a:xfrm>
          <a:prstGeom prst="wedgeEllipseCallout">
            <a:avLst>
              <a:gd name="adj1" fmla="val -53014"/>
              <a:gd name="adj2" fmla="val 87222"/>
            </a:avLst>
          </a:prstGeom>
          <a:noFill/>
          <a:ln w="9525">
            <a:solidFill>
              <a:schemeClr val="tx1"/>
            </a:solidFill>
            <a:miter lim="800000"/>
          </a:ln>
          <a:effectLst/>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defRPr/>
            </a:pPr>
            <a:r>
              <a:rPr kumimoji="1" lang="zh-TW" altLang="en-US" sz="1800" u="none" dirty="0">
                <a:latin typeface="微软雅黑" panose="020B0503020204020204" pitchFamily="34" charset="-122"/>
                <a:ea typeface="微软雅黑" panose="020B0503020204020204" pitchFamily="34" charset="-122"/>
              </a:rPr>
              <a:t>学生</a:t>
            </a:r>
            <a:r>
              <a:rPr kumimoji="1" lang="zh-TW" altLang="zh-CN" sz="1800" u="none" dirty="0">
                <a:latin typeface="微软雅黑" panose="020B0503020204020204" pitchFamily="34" charset="-122"/>
                <a:ea typeface="微软雅黑" panose="020B0503020204020204" pitchFamily="34" charset="-122"/>
              </a:rPr>
              <a:t> </a:t>
            </a:r>
            <a:r>
              <a:rPr kumimoji="1" lang="zh-CN" altLang="en-US" sz="1800" b="1" u="none" dirty="0">
                <a:solidFill>
                  <a:srgbClr val="FF0000"/>
                </a:solidFill>
                <a:highlight>
                  <a:srgbClr val="FFFF00"/>
                </a:highlight>
                <a:latin typeface="微软雅黑" panose="020B0503020204020204" pitchFamily="34" charset="-122"/>
                <a:ea typeface="微软雅黑" panose="020B0503020204020204" pitchFamily="34" charset="-122"/>
              </a:rPr>
              <a:t>选</a:t>
            </a:r>
            <a:r>
              <a:rPr kumimoji="1" lang="zh-TW" altLang="en-US" sz="1800" b="1" u="none" dirty="0">
                <a:solidFill>
                  <a:srgbClr val="FF0000"/>
                </a:solidFill>
                <a:highlight>
                  <a:srgbClr val="FFFF00"/>
                </a:highlight>
                <a:latin typeface="微软雅黑" panose="020B0503020204020204" pitchFamily="34" charset="-122"/>
                <a:ea typeface="微软雅黑" panose="020B0503020204020204" pitchFamily="34" charset="-122"/>
              </a:rPr>
              <a:t>修</a:t>
            </a:r>
            <a:r>
              <a:rPr kumimoji="1" lang="zh-TW" altLang="zh-CN" sz="1800" b="1" u="none" dirty="0">
                <a:solidFill>
                  <a:srgbClr val="FFFF00"/>
                </a:solidFill>
                <a:latin typeface="微软雅黑" panose="020B0503020204020204" pitchFamily="34" charset="-122"/>
                <a:ea typeface="微软雅黑" panose="020B0503020204020204" pitchFamily="34" charset="-122"/>
              </a:rPr>
              <a:t> </a:t>
            </a:r>
            <a:r>
              <a:rPr kumimoji="1" lang="zh-TW" altLang="en-US" sz="1800" u="none" dirty="0">
                <a:latin typeface="微软雅黑" panose="020B0503020204020204" pitchFamily="34" charset="-122"/>
                <a:ea typeface="微软雅黑" panose="020B0503020204020204" pitchFamily="34" charset="-122"/>
              </a:rPr>
              <a:t>课</a:t>
            </a:r>
            <a:r>
              <a:rPr kumimoji="1" lang="zh-CN" altLang="en-US" sz="1800" u="none" dirty="0">
                <a:latin typeface="微软雅黑" panose="020B0503020204020204" pitchFamily="34" charset="-122"/>
                <a:ea typeface="微软雅黑" panose="020B0503020204020204" pitchFamily="34" charset="-122"/>
              </a:rPr>
              <a:t>程</a:t>
            </a:r>
            <a:endParaRPr lang="zh-CN" altLang="en-US" sz="1800" i="1" u="none" dirty="0">
              <a:latin typeface="微软雅黑" panose="020B0503020204020204" pitchFamily="34" charset="-122"/>
              <a:ea typeface="微软雅黑" panose="020B0503020204020204" pitchFamily="34" charset="-122"/>
            </a:endParaRPr>
          </a:p>
        </p:txBody>
      </p:sp>
      <p:grpSp>
        <p:nvGrpSpPr>
          <p:cNvPr id="7" name="Group 17"/>
          <p:cNvGrpSpPr/>
          <p:nvPr/>
        </p:nvGrpSpPr>
        <p:grpSpPr bwMode="auto">
          <a:xfrm>
            <a:off x="3689571" y="4152021"/>
            <a:ext cx="4352925" cy="1709738"/>
            <a:chOff x="1181" y="2580"/>
            <a:chExt cx="2742" cy="1077"/>
          </a:xfrm>
        </p:grpSpPr>
        <p:sp>
          <p:nvSpPr>
            <p:cNvPr id="8" name="Rectangle 4"/>
            <p:cNvSpPr>
              <a:spLocks noChangeArrowheads="1"/>
            </p:cNvSpPr>
            <p:nvPr/>
          </p:nvSpPr>
          <p:spPr bwMode="auto">
            <a:xfrm>
              <a:off x="1181" y="2580"/>
              <a:ext cx="964" cy="311"/>
            </a:xfrm>
            <a:prstGeom prst="rect">
              <a:avLst/>
            </a:prstGeom>
            <a:solidFill>
              <a:srgbClr val="FFFF4A"/>
            </a:solidFill>
            <a:ln w="12700">
              <a:solidFill>
                <a:schemeClr val="tx1"/>
              </a:solidFill>
              <a:miter lim="800000"/>
            </a:ln>
            <a:effectLst>
              <a:outerShdw dist="107763" dir="2700000" algn="ctr" rotWithShape="0">
                <a:srgbClr val="9FC0B1"/>
              </a:outerShdw>
            </a:effectLst>
          </p:spPr>
          <p:txBody>
            <a:bodyPr lIns="0" tIns="73025" rIns="0" bIns="73025" anchor="b">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TW" altLang="en-US" sz="2200" b="1" u="none">
                  <a:solidFill>
                    <a:srgbClr val="000000"/>
                  </a:solidFill>
                  <a:latin typeface="微软雅黑" panose="020B0503020204020204" pitchFamily="34" charset="-122"/>
                  <a:ea typeface="微软雅黑" panose="020B0503020204020204" pitchFamily="34" charset="-122"/>
                </a:rPr>
                <a:t>学生</a:t>
              </a:r>
              <a:endParaRPr kumimoji="1" lang="zh-TW" altLang="en-US" sz="2200" b="1" u="none">
                <a:solidFill>
                  <a:srgbClr val="000000"/>
                </a:solidFill>
                <a:latin typeface="微软雅黑" panose="020B0503020204020204" pitchFamily="34" charset="-122"/>
                <a:ea typeface="微软雅黑" panose="020B0503020204020204" pitchFamily="34" charset="-122"/>
              </a:endParaRPr>
            </a:p>
          </p:txBody>
        </p:sp>
        <p:sp>
          <p:nvSpPr>
            <p:cNvPr id="9" name="Freeform 5"/>
            <p:cNvSpPr/>
            <p:nvPr/>
          </p:nvSpPr>
          <p:spPr bwMode="auto">
            <a:xfrm>
              <a:off x="1676" y="2899"/>
              <a:ext cx="1564" cy="566"/>
            </a:xfrm>
            <a:custGeom>
              <a:avLst/>
              <a:gdLst>
                <a:gd name="T0" fmla="*/ 0 w 1564"/>
                <a:gd name="T1" fmla="*/ 0 h 566"/>
                <a:gd name="T2" fmla="*/ 0 w 1564"/>
                <a:gd name="T3" fmla="*/ 203 h 566"/>
                <a:gd name="T4" fmla="*/ 1563 w 1564"/>
                <a:gd name="T5" fmla="*/ 203 h 566"/>
                <a:gd name="T6" fmla="*/ 1563 w 1564"/>
                <a:gd name="T7" fmla="*/ 565 h 56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64" h="566">
                  <a:moveTo>
                    <a:pt x="0" y="0"/>
                  </a:moveTo>
                  <a:lnTo>
                    <a:pt x="0" y="203"/>
                  </a:lnTo>
                  <a:lnTo>
                    <a:pt x="1563" y="203"/>
                  </a:lnTo>
                  <a:lnTo>
                    <a:pt x="1563" y="565"/>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AutoShape 7"/>
            <p:cNvSpPr>
              <a:spLocks noChangeArrowheads="1"/>
            </p:cNvSpPr>
            <p:nvPr/>
          </p:nvSpPr>
          <p:spPr bwMode="auto">
            <a:xfrm>
              <a:off x="2575" y="3368"/>
              <a:ext cx="1348" cy="289"/>
            </a:xfrm>
            <a:prstGeom prst="roundRect">
              <a:avLst>
                <a:gd name="adj" fmla="val 22861"/>
              </a:avLst>
            </a:prstGeom>
            <a:solidFill>
              <a:srgbClr val="FFBFF8"/>
            </a:solidFill>
            <a:ln w="12700">
              <a:solidFill>
                <a:schemeClr val="tx1"/>
              </a:solidFill>
              <a:round/>
            </a:ln>
            <a:effectLst>
              <a:outerShdw dist="107763" dir="2700000" algn="ctr" rotWithShape="0">
                <a:srgbClr val="9FC0B1"/>
              </a:outerShdw>
            </a:effectLst>
          </p:spPr>
          <p:txBody>
            <a:bodyPr lIns="0" tIns="46038" rIns="0" bIns="46038" anchor="b">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TW" altLang="en-US" sz="2000" b="1" u="none">
                  <a:solidFill>
                    <a:srgbClr val="000000"/>
                  </a:solidFill>
                  <a:latin typeface="微软雅黑" panose="020B0503020204020204" pitchFamily="34" charset="-122"/>
                  <a:ea typeface="微软雅黑" panose="020B0503020204020204" pitchFamily="34" charset="-122"/>
                </a:rPr>
                <a:t>课程</a:t>
              </a:r>
              <a:endParaRPr kumimoji="1" lang="zh-TW" altLang="en-US" sz="2000" b="1" u="none">
                <a:solidFill>
                  <a:srgbClr val="000000"/>
                </a:solidFill>
                <a:latin typeface="微软雅黑" panose="020B0503020204020204" pitchFamily="34" charset="-122"/>
                <a:ea typeface="微软雅黑" panose="020B0503020204020204" pitchFamily="34" charset="-122"/>
              </a:endParaRPr>
            </a:p>
          </p:txBody>
        </p:sp>
        <p:sp>
          <p:nvSpPr>
            <p:cNvPr id="11" name="Rectangle 8"/>
            <p:cNvSpPr>
              <a:spLocks noChangeArrowheads="1"/>
            </p:cNvSpPr>
            <p:nvPr/>
          </p:nvSpPr>
          <p:spPr bwMode="auto">
            <a:xfrm>
              <a:off x="3203" y="3242"/>
              <a:ext cx="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Clr>
                  <a:schemeClr val="tx1"/>
                </a:buClr>
                <a:buSzPts val="1800"/>
                <a:buFont typeface="Monotype Sorts" pitchFamily="2" charset="2"/>
                <a:buChar char="l"/>
              </a:pPr>
              <a:r>
                <a:rPr kumimoji="1" lang="zh-TW" altLang="en-US" sz="1800" u="none">
                  <a:latin typeface="微软雅黑" panose="020B0503020204020204" pitchFamily="34" charset="-122"/>
                  <a:ea typeface="微软雅黑" panose="020B0503020204020204" pitchFamily="34" charset="-122"/>
                </a:rPr>
                <a:t> </a:t>
              </a:r>
              <a:endParaRPr kumimoji="1" lang="zh-TW" altLang="en-US" sz="1800" u="none">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2381" y="2886"/>
              <a:ext cx="348"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选</a:t>
              </a:r>
              <a:r>
                <a:rPr kumimoji="1" lang="zh-TW" altLang="en-US" sz="1600" b="1" u="none">
                  <a:latin typeface="微软雅黑" panose="020B0503020204020204" pitchFamily="34" charset="-122"/>
                  <a:ea typeface="微软雅黑" panose="020B0503020204020204" pitchFamily="34" charset="-122"/>
                </a:rPr>
                <a:t>修</a:t>
              </a:r>
              <a:endParaRPr kumimoji="1" lang="zh-TW" altLang="en-US" sz="1600" b="1" u="none">
                <a:latin typeface="微软雅黑" panose="020B0503020204020204" pitchFamily="34" charset="-122"/>
                <a:ea typeface="微软雅黑" panose="020B0503020204020204" pitchFamily="34" charset="-122"/>
              </a:endParaRPr>
            </a:p>
          </p:txBody>
        </p:sp>
        <p:sp>
          <p:nvSpPr>
            <p:cNvPr id="13" name="Rectangle 15"/>
            <p:cNvSpPr>
              <a:spLocks noChangeArrowheads="1"/>
            </p:cNvSpPr>
            <p:nvPr/>
          </p:nvSpPr>
          <p:spPr bwMode="auto">
            <a:xfrm>
              <a:off x="1647" y="2843"/>
              <a:ext cx="8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Clr>
                  <a:schemeClr val="tx1"/>
                </a:buClr>
                <a:buSzPts val="1800"/>
                <a:buFont typeface="Monotype Sorts" pitchFamily="2" charset="2"/>
                <a:buChar char="l"/>
              </a:pPr>
              <a:r>
                <a:rPr kumimoji="1" lang="zh-TW" altLang="en-US" sz="1800" u="none">
                  <a:latin typeface="微软雅黑" panose="020B0503020204020204" pitchFamily="34" charset="-122"/>
                  <a:ea typeface="微软雅黑" panose="020B0503020204020204" pitchFamily="34" charset="-122"/>
                </a:rPr>
                <a:t> </a:t>
              </a:r>
              <a:endParaRPr kumimoji="1" lang="zh-TW" altLang="en-US" sz="1800" u="none">
                <a:latin typeface="微软雅黑" panose="020B0503020204020204" pitchFamily="34" charset="-122"/>
                <a:ea typeface="微软雅黑" panose="020B0503020204020204" pitchFamily="34" charset="-122"/>
              </a:endParaRPr>
            </a:p>
          </p:txBody>
        </p:sp>
      </p:grpSp>
      <p:sp>
        <p:nvSpPr>
          <p:cNvPr id="14" name="Rectangle 11"/>
          <p:cNvSpPr>
            <a:spLocks noChangeArrowheads="1"/>
          </p:cNvSpPr>
          <p:nvPr/>
        </p:nvSpPr>
        <p:spPr bwMode="auto">
          <a:xfrm>
            <a:off x="48641" y="5145573"/>
            <a:ext cx="2143125" cy="519112"/>
          </a:xfrm>
          <a:prstGeom prst="rect">
            <a:avLst/>
          </a:prstGeom>
          <a:noFill/>
          <a:ln>
            <a:noFill/>
          </a:ln>
          <a:effectLst/>
        </p:spPr>
        <p:txBody>
          <a:bodyPr wrap="none" lIns="0" rIns="0">
            <a:spAutoFit/>
          </a:bodyPr>
          <a:lstStyle>
            <a:lvl1pPr>
              <a:defRPr sz="1400" u="sng">
                <a:solidFill>
                  <a:schemeClr val="tx1"/>
                </a:solidFill>
                <a:latin typeface="Arial" panose="020B0604020202020204" pitchFamily="34" charset="0"/>
                <a:ea typeface="宋体" panose="02010600030101010101" pitchFamily="2" charset="-122"/>
              </a:defRPr>
            </a:lvl1pPr>
            <a:lvl2pPr marL="742950" indent="-285750">
              <a:defRPr sz="1400" u="sng">
                <a:solidFill>
                  <a:schemeClr val="tx1"/>
                </a:solidFill>
                <a:latin typeface="Arial" panose="020B0604020202020204" pitchFamily="34" charset="0"/>
                <a:ea typeface="宋体" panose="02010600030101010101" pitchFamily="2" charset="-122"/>
              </a:defRPr>
            </a:lvl2pPr>
            <a:lvl3pPr marL="1143000" indent="-228600">
              <a:defRPr sz="1400" u="sng">
                <a:solidFill>
                  <a:schemeClr val="tx1"/>
                </a:solidFill>
                <a:latin typeface="Arial" panose="020B0604020202020204" pitchFamily="34" charset="0"/>
                <a:ea typeface="宋体" panose="02010600030101010101" pitchFamily="2" charset="-122"/>
              </a:defRPr>
            </a:lvl3pPr>
            <a:lvl4pPr marL="1600200" indent="-228600">
              <a:defRPr sz="1400" u="sng">
                <a:solidFill>
                  <a:schemeClr val="tx1"/>
                </a:solidFill>
                <a:latin typeface="Arial" panose="020B0604020202020204" pitchFamily="34" charset="0"/>
                <a:ea typeface="宋体" panose="02010600030101010101" pitchFamily="2" charset="-122"/>
              </a:defRPr>
            </a:lvl4pPr>
            <a:lvl5pPr marL="2057400" indent="-228600">
              <a:defRPr sz="1400"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u="sng">
                <a:solidFill>
                  <a:schemeClr val="tx1"/>
                </a:solidFill>
                <a:latin typeface="Arial" panose="020B0604020202020204" pitchFamily="34" charset="0"/>
                <a:ea typeface="宋体" panose="02010600030101010101" pitchFamily="2" charset="-122"/>
              </a:defRPr>
            </a:lvl9pPr>
          </a:lstStyle>
          <a:p>
            <a:pPr eaLnBrk="1" hangingPunct="1"/>
            <a:r>
              <a:rPr lang="zh-CN" altLang="en-US" sz="2800" b="1" i="1" u="none" dirty="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（联系举例）</a:t>
            </a:r>
            <a:endParaRPr lang="zh-CN" altLang="en-US" sz="2800" b="1" i="1" u="none" dirty="0">
              <a:solidFill>
                <a:srgbClr val="FF3300"/>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zh-CN" altLang="en-US" dirty="0"/>
          </a:p>
          <a:p>
            <a:pPr lvl="1">
              <a:lnSpc>
                <a:spcPct val="100000"/>
              </a:lnSpc>
            </a:pPr>
            <a:endParaRPr lang="en-US" altLang="zh-CN"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marL="457200" lvl="1" indent="0">
              <a:lnSpc>
                <a:spcPct val="150000"/>
              </a:lnSpc>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6" name="Rectangle 3"/>
          <p:cNvSpPr txBox="1">
            <a:spLocks noChangeArrowheads="1"/>
          </p:cNvSpPr>
          <p:nvPr/>
        </p:nvSpPr>
        <p:spPr>
          <a:xfrm>
            <a:off x="3144435" y="1794672"/>
            <a:ext cx="5257800" cy="533400"/>
          </a:xfrm>
          <a:prstGeom prst="rect">
            <a:avLst/>
          </a:prstGeom>
        </p:spPr>
        <p:txBody>
          <a:bodyPr vert="horz" lIns="91440" tIns="45720" rIns="91440" bIns="45720" rtlCol="0">
            <a:normAutofit fontScale="92500"/>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联系基数的表示（多端用一个圆点表示）</a:t>
            </a:r>
            <a:endParaRPr lang="zh-CN" altLang="en-US" sz="2400" dirty="0"/>
          </a:p>
        </p:txBody>
      </p:sp>
      <p:grpSp>
        <p:nvGrpSpPr>
          <p:cNvPr id="7" name="Group 4"/>
          <p:cNvGrpSpPr/>
          <p:nvPr/>
        </p:nvGrpSpPr>
        <p:grpSpPr bwMode="auto">
          <a:xfrm>
            <a:off x="3302393" y="3335338"/>
            <a:ext cx="163513" cy="3100387"/>
            <a:chOff x="496" y="1131"/>
            <a:chExt cx="103" cy="1953"/>
          </a:xfrm>
        </p:grpSpPr>
        <p:sp>
          <p:nvSpPr>
            <p:cNvPr id="8" name="Rectangle 5"/>
            <p:cNvSpPr>
              <a:spLocks noChangeArrowheads="1"/>
            </p:cNvSpPr>
            <p:nvPr/>
          </p:nvSpPr>
          <p:spPr bwMode="auto">
            <a:xfrm>
              <a:off x="496" y="1131"/>
              <a:ext cx="103"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0962" tIns="39688" rIns="80962" bIns="39688">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kumimoji="1" lang="zh-CN" altLang="en-US" sz="1200" b="1" u="none">
                <a:latin typeface="微软雅黑" panose="020B0503020204020204" pitchFamily="34" charset="-122"/>
                <a:ea typeface="微软雅黑" panose="020B0503020204020204" pitchFamily="34" charset="-122"/>
              </a:endParaRPr>
            </a:p>
          </p:txBody>
        </p:sp>
        <p:sp>
          <p:nvSpPr>
            <p:cNvPr id="9" name="Rectangle 6"/>
            <p:cNvSpPr>
              <a:spLocks noChangeArrowheads="1"/>
            </p:cNvSpPr>
            <p:nvPr/>
          </p:nvSpPr>
          <p:spPr bwMode="auto">
            <a:xfrm>
              <a:off x="496" y="2323"/>
              <a:ext cx="103"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0962" tIns="39688" rIns="80962" bIns="39688">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kumimoji="1" lang="zh-CN" altLang="en-US" sz="1200" b="1" u="none">
                <a:latin typeface="微软雅黑" panose="020B0503020204020204" pitchFamily="34" charset="-122"/>
                <a:ea typeface="微软雅黑" panose="020B0503020204020204" pitchFamily="34" charset="-122"/>
              </a:endParaRPr>
            </a:p>
          </p:txBody>
        </p:sp>
        <p:sp>
          <p:nvSpPr>
            <p:cNvPr id="10" name="Rectangle 7"/>
            <p:cNvSpPr>
              <a:spLocks noChangeArrowheads="1"/>
            </p:cNvSpPr>
            <p:nvPr/>
          </p:nvSpPr>
          <p:spPr bwMode="auto">
            <a:xfrm>
              <a:off x="496" y="2917"/>
              <a:ext cx="103"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0962" tIns="39688" rIns="80962" bIns="39688">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kumimoji="1" lang="zh-CN" altLang="en-US" sz="1200" b="1" u="none">
                <a:latin typeface="微软雅黑" panose="020B0503020204020204" pitchFamily="34" charset="-122"/>
                <a:ea typeface="微软雅黑" panose="020B0503020204020204" pitchFamily="34" charset="-122"/>
              </a:endParaRPr>
            </a:p>
          </p:txBody>
        </p:sp>
        <p:sp>
          <p:nvSpPr>
            <p:cNvPr id="11" name="Rectangle 8"/>
            <p:cNvSpPr>
              <a:spLocks noChangeArrowheads="1"/>
            </p:cNvSpPr>
            <p:nvPr/>
          </p:nvSpPr>
          <p:spPr bwMode="auto">
            <a:xfrm>
              <a:off x="496" y="1725"/>
              <a:ext cx="103"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0962" tIns="39688" rIns="80962" bIns="39688">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endParaRPr kumimoji="1" lang="zh-CN" altLang="en-US" sz="1200" b="1" u="none">
                <a:latin typeface="微软雅黑" panose="020B0503020204020204" pitchFamily="34" charset="-122"/>
                <a:ea typeface="微软雅黑" panose="020B0503020204020204" pitchFamily="34" charset="-122"/>
              </a:endParaRPr>
            </a:p>
          </p:txBody>
        </p:sp>
      </p:grpSp>
      <p:grpSp>
        <p:nvGrpSpPr>
          <p:cNvPr id="12" name="Group 9"/>
          <p:cNvGrpSpPr/>
          <p:nvPr/>
        </p:nvGrpSpPr>
        <p:grpSpPr bwMode="auto">
          <a:xfrm>
            <a:off x="5447104" y="2389190"/>
            <a:ext cx="3451225" cy="522288"/>
            <a:chOff x="1607" y="1824"/>
            <a:chExt cx="2174" cy="329"/>
          </a:xfrm>
        </p:grpSpPr>
        <p:sp>
          <p:nvSpPr>
            <p:cNvPr id="13" name="Rectangle 10"/>
            <p:cNvSpPr>
              <a:spLocks noChangeArrowheads="1"/>
            </p:cNvSpPr>
            <p:nvPr/>
          </p:nvSpPr>
          <p:spPr bwMode="auto">
            <a:xfrm>
              <a:off x="1607" y="1842"/>
              <a:ext cx="589" cy="298"/>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107950" tIns="107950" rIns="107950" bIns="10795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600" u="none">
                  <a:latin typeface="微软雅黑" panose="020B0503020204020204" pitchFamily="34" charset="-122"/>
                  <a:ea typeface="微软雅黑" panose="020B0503020204020204" pitchFamily="34" charset="-122"/>
                </a:rPr>
                <a:t>E1           </a:t>
              </a:r>
              <a:endParaRPr kumimoji="1" lang="en-US" altLang="zh-TW" sz="1600" u="none">
                <a:latin typeface="微软雅黑" panose="020B0503020204020204" pitchFamily="34" charset="-122"/>
                <a:ea typeface="微软雅黑" panose="020B0503020204020204" pitchFamily="34" charset="-122"/>
              </a:endParaRPr>
            </a:p>
          </p:txBody>
        </p:sp>
        <p:sp>
          <p:nvSpPr>
            <p:cNvPr id="14" name="Line 11"/>
            <p:cNvSpPr>
              <a:spLocks noChangeShapeType="1"/>
            </p:cNvSpPr>
            <p:nvPr/>
          </p:nvSpPr>
          <p:spPr bwMode="auto">
            <a:xfrm flipV="1">
              <a:off x="2200" y="2004"/>
              <a:ext cx="953"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 name="AutoShape 12"/>
            <p:cNvSpPr>
              <a:spLocks noChangeArrowheads="1"/>
            </p:cNvSpPr>
            <p:nvPr/>
          </p:nvSpPr>
          <p:spPr bwMode="auto">
            <a:xfrm>
              <a:off x="3156" y="1824"/>
              <a:ext cx="625" cy="329"/>
            </a:xfrm>
            <a:prstGeom prst="roundRect">
              <a:avLst>
                <a:gd name="adj" fmla="val 19796"/>
              </a:avLst>
            </a:prstGeom>
            <a:solidFill>
              <a:srgbClr val="FFFF00"/>
            </a:solidFill>
            <a:ln w="12700">
              <a:solidFill>
                <a:schemeClr val="tx1"/>
              </a:solidFill>
              <a:round/>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wrap="none" lIns="107950" tIns="107950" rIns="107950" bIns="10795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solidFill>
                    <a:srgbClr val="000000"/>
                  </a:solidFill>
                  <a:latin typeface="微软雅黑" panose="020B0503020204020204" pitchFamily="34" charset="-122"/>
                  <a:ea typeface="微软雅黑" panose="020B0503020204020204" pitchFamily="34" charset="-122"/>
                </a:rPr>
                <a:t>    </a:t>
              </a:r>
              <a:r>
                <a:rPr kumimoji="1" lang="en-US" altLang="zh-CN" sz="1600" u="none">
                  <a:solidFill>
                    <a:srgbClr val="000000"/>
                  </a:solidFill>
                  <a:latin typeface="微软雅黑" panose="020B0503020204020204" pitchFamily="34" charset="-122"/>
                  <a:ea typeface="微软雅黑" panose="020B0503020204020204" pitchFamily="34" charset="-122"/>
                </a:rPr>
                <a:t>E2    </a:t>
              </a:r>
              <a:endParaRPr kumimoji="1" lang="en-US" altLang="zh-TW" sz="1600" u="none">
                <a:solidFill>
                  <a:srgbClr val="000000"/>
                </a:solidFill>
                <a:latin typeface="微软雅黑" panose="020B0503020204020204" pitchFamily="34" charset="-122"/>
                <a:ea typeface="微软雅黑" panose="020B0503020204020204" pitchFamily="34" charset="-122"/>
              </a:endParaRPr>
            </a:p>
          </p:txBody>
        </p:sp>
        <p:sp>
          <p:nvSpPr>
            <p:cNvPr id="16" name="Oval 13"/>
            <p:cNvSpPr>
              <a:spLocks noChangeArrowheads="1"/>
            </p:cNvSpPr>
            <p:nvPr/>
          </p:nvSpPr>
          <p:spPr bwMode="auto">
            <a:xfrm>
              <a:off x="3112" y="1966"/>
              <a:ext cx="68" cy="6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sp>
        <p:nvSpPr>
          <p:cNvPr id="17" name="Text Box 14"/>
          <p:cNvSpPr txBox="1">
            <a:spLocks noChangeArrowheads="1"/>
          </p:cNvSpPr>
          <p:nvPr/>
        </p:nvSpPr>
        <p:spPr bwMode="auto">
          <a:xfrm>
            <a:off x="2734066" y="2473325"/>
            <a:ext cx="2449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en-US" altLang="zh-CN" sz="1800" b="1" u="none">
                <a:latin typeface="微软雅黑" panose="020B0503020204020204" pitchFamily="34" charset="-122"/>
                <a:ea typeface="微软雅黑" panose="020B0503020204020204" pitchFamily="34" charset="-122"/>
              </a:rPr>
              <a:t>1 : N</a:t>
            </a:r>
            <a:r>
              <a:rPr kumimoji="1" lang="zh-CN" altLang="en-US" sz="1800" b="1" u="none">
                <a:latin typeface="微软雅黑" panose="020B0503020204020204" pitchFamily="34" charset="-122"/>
                <a:ea typeface="微软雅黑" panose="020B0503020204020204" pitchFamily="34" charset="-122"/>
              </a:rPr>
              <a:t>（包括 </a:t>
            </a:r>
            <a:r>
              <a:rPr kumimoji="1" lang="en-US" altLang="zh-CN" sz="1800" b="1" u="none">
                <a:latin typeface="微软雅黑" panose="020B0503020204020204" pitchFamily="34" charset="-122"/>
                <a:ea typeface="微软雅黑" panose="020B0503020204020204" pitchFamily="34" charset="-122"/>
              </a:rPr>
              <a:t>1:1</a:t>
            </a:r>
            <a:r>
              <a:rPr kumimoji="1" lang="zh-CN" altLang="en-US" sz="1800" b="1" u="none">
                <a:latin typeface="微软雅黑" panose="020B0503020204020204" pitchFamily="34" charset="-122"/>
                <a:ea typeface="微软雅黑" panose="020B0503020204020204" pitchFamily="34" charset="-122"/>
              </a:rPr>
              <a:t>）</a:t>
            </a:r>
            <a:endParaRPr kumimoji="1" lang="zh-CN" altLang="en-US" sz="1800" b="1" u="none">
              <a:latin typeface="微软雅黑" panose="020B0503020204020204" pitchFamily="34" charset="-122"/>
              <a:ea typeface="微软雅黑" panose="020B0503020204020204" pitchFamily="34" charset="-122"/>
            </a:endParaRPr>
          </a:p>
        </p:txBody>
      </p:sp>
      <p:sp>
        <p:nvSpPr>
          <p:cNvPr id="18" name="Text Box 15"/>
          <p:cNvSpPr txBox="1">
            <a:spLocks noChangeArrowheads="1"/>
          </p:cNvSpPr>
          <p:nvPr/>
        </p:nvSpPr>
        <p:spPr bwMode="auto">
          <a:xfrm>
            <a:off x="3186123" y="3321387"/>
            <a:ext cx="10675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kumimoji="1" lang="en-US" altLang="zh-CN" sz="1800" b="1" u="none" dirty="0">
                <a:latin typeface="微软雅黑" panose="020B0503020204020204" pitchFamily="34" charset="-122"/>
                <a:ea typeface="微软雅黑" panose="020B0503020204020204" pitchFamily="34" charset="-122"/>
              </a:rPr>
              <a:t>M : N</a:t>
            </a:r>
            <a:endParaRPr kumimoji="1" lang="en-US" altLang="zh-CN" sz="1800" b="1" u="none" dirty="0">
              <a:latin typeface="微软雅黑" panose="020B0503020204020204" pitchFamily="34" charset="-122"/>
              <a:ea typeface="微软雅黑" panose="020B0503020204020204" pitchFamily="34" charset="-122"/>
            </a:endParaRPr>
          </a:p>
        </p:txBody>
      </p:sp>
      <p:grpSp>
        <p:nvGrpSpPr>
          <p:cNvPr id="19" name="Group 16"/>
          <p:cNvGrpSpPr/>
          <p:nvPr/>
        </p:nvGrpSpPr>
        <p:grpSpPr bwMode="auto">
          <a:xfrm>
            <a:off x="5416941" y="3257555"/>
            <a:ext cx="3481388" cy="522288"/>
            <a:chOff x="1607" y="2856"/>
            <a:chExt cx="2193" cy="329"/>
          </a:xfrm>
        </p:grpSpPr>
        <p:sp>
          <p:nvSpPr>
            <p:cNvPr id="20" name="AutoShape 17"/>
            <p:cNvSpPr>
              <a:spLocks noChangeArrowheads="1"/>
            </p:cNvSpPr>
            <p:nvPr/>
          </p:nvSpPr>
          <p:spPr bwMode="auto">
            <a:xfrm>
              <a:off x="3175" y="2856"/>
              <a:ext cx="625" cy="329"/>
            </a:xfrm>
            <a:prstGeom prst="roundRect">
              <a:avLst>
                <a:gd name="adj" fmla="val 19796"/>
              </a:avLst>
            </a:prstGeom>
            <a:solidFill>
              <a:srgbClr val="FFFF00"/>
            </a:solidFill>
            <a:ln w="12700">
              <a:solidFill>
                <a:schemeClr val="tx1"/>
              </a:solidFill>
              <a:round/>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wrap="none" lIns="107950" tIns="107950" rIns="107950" bIns="10795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u="none">
                  <a:solidFill>
                    <a:srgbClr val="000000"/>
                  </a:solidFill>
                  <a:latin typeface="微软雅黑" panose="020B0503020204020204" pitchFamily="34" charset="-122"/>
                  <a:ea typeface="微软雅黑" panose="020B0503020204020204" pitchFamily="34" charset="-122"/>
                </a:rPr>
                <a:t>    </a:t>
              </a:r>
              <a:r>
                <a:rPr kumimoji="1" lang="en-US" altLang="zh-CN" sz="1600" u="none">
                  <a:solidFill>
                    <a:srgbClr val="000000"/>
                  </a:solidFill>
                  <a:latin typeface="微软雅黑" panose="020B0503020204020204" pitchFamily="34" charset="-122"/>
                  <a:ea typeface="微软雅黑" panose="020B0503020204020204" pitchFamily="34" charset="-122"/>
                </a:rPr>
                <a:t>E2    </a:t>
              </a:r>
              <a:endParaRPr kumimoji="1" lang="en-US" altLang="zh-TW" sz="1600" u="none">
                <a:solidFill>
                  <a:srgbClr val="000000"/>
                </a:solidFill>
                <a:latin typeface="微软雅黑" panose="020B0503020204020204" pitchFamily="34" charset="-122"/>
                <a:ea typeface="微软雅黑" panose="020B0503020204020204" pitchFamily="34" charset="-122"/>
              </a:endParaRPr>
            </a:p>
          </p:txBody>
        </p:sp>
        <p:sp>
          <p:nvSpPr>
            <p:cNvPr id="21" name="Rectangle 18"/>
            <p:cNvSpPr>
              <a:spLocks noChangeArrowheads="1"/>
            </p:cNvSpPr>
            <p:nvPr/>
          </p:nvSpPr>
          <p:spPr bwMode="auto">
            <a:xfrm>
              <a:off x="1607" y="2868"/>
              <a:ext cx="589" cy="298"/>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107950" tIns="107950" rIns="107950" bIns="10795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600" u="none">
                  <a:latin typeface="微软雅黑" panose="020B0503020204020204" pitchFamily="34" charset="-122"/>
                  <a:ea typeface="微软雅黑" panose="020B0503020204020204" pitchFamily="34" charset="-122"/>
                </a:rPr>
                <a:t>E1           </a:t>
              </a:r>
              <a:endParaRPr kumimoji="1" lang="en-US" altLang="zh-TW" sz="1600" u="none">
                <a:latin typeface="微软雅黑" panose="020B0503020204020204" pitchFamily="34" charset="-122"/>
                <a:ea typeface="微软雅黑" panose="020B0503020204020204" pitchFamily="34" charset="-122"/>
              </a:endParaRPr>
            </a:p>
          </p:txBody>
        </p:sp>
        <p:sp>
          <p:nvSpPr>
            <p:cNvPr id="22" name="Oval 19"/>
            <p:cNvSpPr>
              <a:spLocks noChangeArrowheads="1"/>
            </p:cNvSpPr>
            <p:nvPr/>
          </p:nvSpPr>
          <p:spPr bwMode="auto">
            <a:xfrm>
              <a:off x="2200" y="2983"/>
              <a:ext cx="68" cy="6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23" name="Oval 20"/>
            <p:cNvSpPr>
              <a:spLocks noChangeArrowheads="1"/>
            </p:cNvSpPr>
            <p:nvPr/>
          </p:nvSpPr>
          <p:spPr bwMode="auto">
            <a:xfrm>
              <a:off x="3121" y="2985"/>
              <a:ext cx="68" cy="6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800" i="1" u="none">
                <a:latin typeface="微软雅黑" panose="020B0503020204020204" pitchFamily="34" charset="-122"/>
                <a:ea typeface="微软雅黑" panose="020B0503020204020204" pitchFamily="34" charset="-122"/>
              </a:endParaRPr>
            </a:p>
          </p:txBody>
        </p:sp>
        <p:sp>
          <p:nvSpPr>
            <p:cNvPr id="24" name="Line 21"/>
            <p:cNvSpPr>
              <a:spLocks noChangeShapeType="1"/>
            </p:cNvSpPr>
            <p:nvPr/>
          </p:nvSpPr>
          <p:spPr bwMode="auto">
            <a:xfrm>
              <a:off x="2245" y="3021"/>
              <a:ext cx="95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25" name="Rectangle 22"/>
          <p:cNvSpPr>
            <a:spLocks noChangeArrowheads="1"/>
          </p:cNvSpPr>
          <p:nvPr/>
        </p:nvSpPr>
        <p:spPr bwMode="auto">
          <a:xfrm>
            <a:off x="3110347" y="3951557"/>
            <a:ext cx="9039064"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marL="0" indent="0" eaLnBrk="1" hangingPunct="1">
              <a:buNone/>
            </a:pPr>
            <a:r>
              <a:rPr lang="zh-CN" altLang="en-US" sz="2200" b="1" u="none" dirty="0">
                <a:latin typeface="微软雅黑" panose="020B0503020204020204" pitchFamily="34" charset="-122"/>
                <a:ea typeface="微软雅黑" panose="020B0503020204020204" pitchFamily="34" charset="-122"/>
              </a:rPr>
              <a:t>外键</a:t>
            </a:r>
            <a:r>
              <a:rPr lang="en-US" altLang="zh-CN" sz="2200" b="1" u="none" dirty="0">
                <a:latin typeface="微软雅黑" panose="020B0503020204020204" pitchFamily="34" charset="-122"/>
                <a:ea typeface="微软雅黑" panose="020B0503020204020204" pitchFamily="34" charset="-122"/>
              </a:rPr>
              <a:t>(FK)</a:t>
            </a:r>
            <a:r>
              <a:rPr lang="zh-CN" altLang="en-US" sz="2200" b="1" u="none" dirty="0">
                <a:latin typeface="微软雅黑" panose="020B0503020204020204" pitchFamily="34" charset="-122"/>
                <a:ea typeface="微软雅黑" panose="020B0503020204020204" pitchFamily="34" charset="-122"/>
              </a:rPr>
              <a:t>的表示</a:t>
            </a:r>
            <a:endParaRPr lang="en-US" altLang="zh-CN" sz="2200" b="1" dirty="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800" u="none" dirty="0">
                <a:latin typeface="微软雅黑" panose="020B0503020204020204" pitchFamily="34" charset="-122"/>
                <a:ea typeface="微软雅黑" panose="020B0503020204020204" pitchFamily="34" charset="-122"/>
              </a:rPr>
              <a:t>在子实体的属性后可标有“</a:t>
            </a:r>
            <a:r>
              <a:rPr lang="en-US" altLang="zh-CN" sz="1800" u="none" dirty="0">
                <a:latin typeface="微软雅黑" panose="020B0503020204020204" pitchFamily="34" charset="-122"/>
                <a:ea typeface="微软雅黑" panose="020B0503020204020204" pitchFamily="34" charset="-122"/>
              </a:rPr>
              <a:t>(FK)”</a:t>
            </a:r>
            <a:r>
              <a:rPr lang="zh-CN" altLang="en-US" sz="1800" u="none"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800" u="none" dirty="0">
                <a:latin typeface="微软雅黑" panose="020B0503020204020204" pitchFamily="34" charset="-122"/>
                <a:ea typeface="微软雅黑" panose="020B0503020204020204" pitchFamily="34" charset="-122"/>
              </a:rPr>
              <a:t>外键可能在横线上面，也可能在横线下面（即外键即可作为主键，也可作为非主键）。</a:t>
            </a:r>
            <a:endParaRPr lang="zh-CN" altLang="en-US" sz="1800" u="none" dirty="0">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flipV="1">
            <a:off x="5996379" y="5957888"/>
            <a:ext cx="18002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 name="Oval 24"/>
          <p:cNvSpPr>
            <a:spLocks noChangeArrowheads="1"/>
          </p:cNvSpPr>
          <p:nvPr/>
        </p:nvSpPr>
        <p:spPr bwMode="auto">
          <a:xfrm>
            <a:off x="7802954" y="5888038"/>
            <a:ext cx="127000" cy="127000"/>
          </a:xfrm>
          <a:prstGeom prst="ellipse">
            <a:avLst/>
          </a:prstGeom>
          <a:solidFill>
            <a:srgbClr val="FFFF00"/>
          </a:solidFill>
          <a:ln w="12700">
            <a:solidFill>
              <a:srgbClr val="C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28" name="Rectangle 25"/>
          <p:cNvSpPr>
            <a:spLocks noChangeArrowheads="1"/>
          </p:cNvSpPr>
          <p:nvPr/>
        </p:nvSpPr>
        <p:spPr bwMode="auto">
          <a:xfrm>
            <a:off x="4988316" y="5513388"/>
            <a:ext cx="1009650" cy="303212"/>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solidFill>
                  <a:srgbClr val="FF0000"/>
                </a:solidFill>
                <a:latin typeface="微软雅黑" panose="020B0503020204020204" pitchFamily="34" charset="-122"/>
                <a:ea typeface="微软雅黑" panose="020B0503020204020204" pitchFamily="34" charset="-122"/>
              </a:rPr>
              <a:t>仓库号</a:t>
            </a:r>
            <a:endParaRPr kumimoji="1" lang="zh-CN" altLang="en-US" sz="1200" b="1" u="none">
              <a:solidFill>
                <a:srgbClr val="FF0000"/>
              </a:solidFill>
              <a:latin typeface="微软雅黑" panose="020B0503020204020204" pitchFamily="34" charset="-122"/>
              <a:ea typeface="微软雅黑" panose="020B0503020204020204" pitchFamily="34" charset="-122"/>
            </a:endParaRPr>
          </a:p>
        </p:txBody>
      </p:sp>
      <p:sp>
        <p:nvSpPr>
          <p:cNvPr id="29" name="Rectangle 26"/>
          <p:cNvSpPr>
            <a:spLocks noChangeArrowheads="1"/>
          </p:cNvSpPr>
          <p:nvPr/>
        </p:nvSpPr>
        <p:spPr bwMode="auto">
          <a:xfrm>
            <a:off x="4988316" y="5818188"/>
            <a:ext cx="1009650" cy="484187"/>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地点</a:t>
            </a:r>
            <a:endParaRPr kumimoji="1" lang="zh-CN" altLang="en-US" sz="12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面积</a:t>
            </a:r>
            <a:endParaRPr kumimoji="1" lang="en-US" altLang="zh-TW" sz="1200" b="1" u="none">
              <a:latin typeface="微软雅黑" panose="020B0503020204020204" pitchFamily="34" charset="-122"/>
              <a:ea typeface="微软雅黑" panose="020B0503020204020204" pitchFamily="34" charset="-122"/>
            </a:endParaRPr>
          </a:p>
        </p:txBody>
      </p:sp>
      <p:sp>
        <p:nvSpPr>
          <p:cNvPr id="30" name="Rectangle 27"/>
          <p:cNvSpPr>
            <a:spLocks noChangeArrowheads="1"/>
          </p:cNvSpPr>
          <p:nvPr/>
        </p:nvSpPr>
        <p:spPr bwMode="auto">
          <a:xfrm>
            <a:off x="4977204" y="5226050"/>
            <a:ext cx="57626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700" b="1" u="none">
                <a:latin typeface="微软雅黑" panose="020B0503020204020204" pitchFamily="34" charset="-122"/>
                <a:ea typeface="微软雅黑" panose="020B0503020204020204" pitchFamily="34" charset="-122"/>
              </a:rPr>
              <a:t>仓库</a:t>
            </a:r>
            <a:endParaRPr kumimoji="1" lang="zh-CN" altLang="en-US" sz="1700" b="1" u="none">
              <a:latin typeface="微软雅黑" panose="020B0503020204020204" pitchFamily="34" charset="-122"/>
              <a:ea typeface="微软雅黑" panose="020B0503020204020204" pitchFamily="34" charset="-122"/>
            </a:endParaRPr>
          </a:p>
        </p:txBody>
      </p:sp>
      <p:sp>
        <p:nvSpPr>
          <p:cNvPr id="31" name="Rectangle 28"/>
          <p:cNvSpPr>
            <a:spLocks noChangeArrowheads="1"/>
          </p:cNvSpPr>
          <p:nvPr/>
        </p:nvSpPr>
        <p:spPr bwMode="auto">
          <a:xfrm>
            <a:off x="7950591" y="5384800"/>
            <a:ext cx="1009650" cy="485775"/>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产品号</a:t>
            </a:r>
            <a:endParaRPr kumimoji="1" lang="zh-CN" altLang="en-US" sz="12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200" b="1" u="none">
                <a:solidFill>
                  <a:srgbClr val="FF0000"/>
                </a:solidFill>
                <a:latin typeface="微软雅黑" panose="020B0503020204020204" pitchFamily="34" charset="-122"/>
                <a:ea typeface="微软雅黑" panose="020B0503020204020204" pitchFamily="34" charset="-122"/>
              </a:rPr>
              <a:t>仓库号</a:t>
            </a:r>
            <a:r>
              <a:rPr kumimoji="1" lang="en-US" altLang="zh-CN" sz="1200" b="1" u="none">
                <a:solidFill>
                  <a:srgbClr val="FF0000"/>
                </a:solidFill>
                <a:latin typeface="微软雅黑" panose="020B0503020204020204" pitchFamily="34" charset="-122"/>
                <a:ea typeface="微软雅黑" panose="020B0503020204020204" pitchFamily="34" charset="-122"/>
              </a:rPr>
              <a:t>(FK)</a:t>
            </a:r>
            <a:endParaRPr kumimoji="1" lang="en-US" altLang="zh-CN" sz="1200" b="1" u="none">
              <a:solidFill>
                <a:srgbClr val="FF0000"/>
              </a:solidFill>
              <a:latin typeface="微软雅黑" panose="020B0503020204020204" pitchFamily="34" charset="-122"/>
              <a:ea typeface="微软雅黑" panose="020B0503020204020204" pitchFamily="34" charset="-122"/>
            </a:endParaRPr>
          </a:p>
        </p:txBody>
      </p:sp>
      <p:sp>
        <p:nvSpPr>
          <p:cNvPr id="32" name="Rectangle 29"/>
          <p:cNvSpPr>
            <a:spLocks noChangeArrowheads="1"/>
          </p:cNvSpPr>
          <p:nvPr/>
        </p:nvSpPr>
        <p:spPr bwMode="auto">
          <a:xfrm>
            <a:off x="7950591" y="5870575"/>
            <a:ext cx="1009650" cy="850900"/>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品名</a:t>
            </a:r>
            <a:endParaRPr kumimoji="1" lang="zh-CN" altLang="en-US" sz="12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规格</a:t>
            </a:r>
            <a:endParaRPr kumimoji="1" lang="zh-CN" altLang="en-US" sz="12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200" b="1" u="none">
                <a:latin typeface="微软雅黑" panose="020B0503020204020204" pitchFamily="34" charset="-122"/>
                <a:ea typeface="微软雅黑" panose="020B0503020204020204" pitchFamily="34" charset="-122"/>
              </a:rPr>
              <a:t>价格</a:t>
            </a:r>
            <a:r>
              <a:rPr kumimoji="1" lang="zh-TW" altLang="en-US" sz="1200" b="1" u="none">
                <a:latin typeface="微软雅黑" panose="020B0503020204020204" pitchFamily="34" charset="-122"/>
                <a:ea typeface="微软雅黑" panose="020B0503020204020204" pitchFamily="34" charset="-122"/>
              </a:rPr>
              <a:t> </a:t>
            </a:r>
            <a:endParaRPr kumimoji="1" lang="zh-TW" altLang="zh-CN" sz="12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200" b="1" u="none">
                <a:solidFill>
                  <a:srgbClr val="66FFFF"/>
                </a:solidFill>
                <a:latin typeface="微软雅黑" panose="020B0503020204020204" pitchFamily="34" charset="-122"/>
                <a:ea typeface="微软雅黑" panose="020B0503020204020204" pitchFamily="34" charset="-122"/>
              </a:rPr>
              <a:t>数量</a:t>
            </a:r>
            <a:endParaRPr kumimoji="1" lang="zh-CN" altLang="en-US" sz="1200" b="1" u="none">
              <a:solidFill>
                <a:srgbClr val="66FFFF"/>
              </a:solidFill>
              <a:latin typeface="微软雅黑" panose="020B0503020204020204" pitchFamily="34" charset="-122"/>
              <a:ea typeface="微软雅黑" panose="020B0503020204020204" pitchFamily="34" charset="-122"/>
            </a:endParaRPr>
          </a:p>
        </p:txBody>
      </p:sp>
      <p:sp>
        <p:nvSpPr>
          <p:cNvPr id="33" name="Rectangle 30"/>
          <p:cNvSpPr>
            <a:spLocks noChangeArrowheads="1"/>
          </p:cNvSpPr>
          <p:nvPr/>
        </p:nvSpPr>
        <p:spPr bwMode="auto">
          <a:xfrm>
            <a:off x="7952179" y="5062538"/>
            <a:ext cx="57626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700" b="1" u="none">
                <a:latin typeface="微软雅黑" panose="020B0503020204020204" pitchFamily="34" charset="-122"/>
                <a:ea typeface="微软雅黑" panose="020B0503020204020204" pitchFamily="34" charset="-122"/>
              </a:rPr>
              <a:t>产品</a:t>
            </a:r>
            <a:endParaRPr kumimoji="1" lang="zh-CN" altLang="en-US" sz="1700" b="1" u="none">
              <a:latin typeface="微软雅黑" panose="020B0503020204020204" pitchFamily="34" charset="-122"/>
              <a:ea typeface="微软雅黑" panose="020B0503020204020204" pitchFamily="34" charset="-122"/>
            </a:endParaRPr>
          </a:p>
        </p:txBody>
      </p:sp>
      <p:sp>
        <p:nvSpPr>
          <p:cNvPr id="34" name="Rectangle 31"/>
          <p:cNvSpPr>
            <a:spLocks noChangeArrowheads="1"/>
          </p:cNvSpPr>
          <p:nvPr/>
        </p:nvSpPr>
        <p:spPr bwMode="auto">
          <a:xfrm>
            <a:off x="6418654" y="5654675"/>
            <a:ext cx="10810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存放</a:t>
            </a:r>
            <a:endParaRPr kumimoji="1" lang="zh-CN" altLang="en-US" sz="1600" b="1" u="none">
              <a:latin typeface="微软雅黑" panose="020B0503020204020204" pitchFamily="34" charset="-122"/>
              <a:ea typeface="微软雅黑" panose="020B0503020204020204" pitchFamily="34" charset="-122"/>
            </a:endParaRPr>
          </a:p>
        </p:txBody>
      </p:sp>
      <p:sp>
        <p:nvSpPr>
          <p:cNvPr id="35" name="Freeform 32"/>
          <p:cNvSpPr/>
          <p:nvPr/>
        </p:nvSpPr>
        <p:spPr bwMode="auto">
          <a:xfrm>
            <a:off x="5650304" y="5376863"/>
            <a:ext cx="2278062" cy="333375"/>
          </a:xfrm>
          <a:custGeom>
            <a:avLst/>
            <a:gdLst>
              <a:gd name="T0" fmla="*/ 0 w 1435"/>
              <a:gd name="T1" fmla="*/ 2147483646 h 210"/>
              <a:gd name="T2" fmla="*/ 2147483646 w 1435"/>
              <a:gd name="T3" fmla="*/ 2147483646 h 210"/>
              <a:gd name="T4" fmla="*/ 2147483646 w 1435"/>
              <a:gd name="T5" fmla="*/ 2147483646 h 210"/>
              <a:gd name="T6" fmla="*/ 2147483646 w 1435"/>
              <a:gd name="T7" fmla="*/ 2147483646 h 210"/>
              <a:gd name="T8" fmla="*/ 2147483646 w 1435"/>
              <a:gd name="T9" fmla="*/ 2147483646 h 210"/>
              <a:gd name="T10" fmla="*/ 2147483646 w 1435"/>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5" h="210">
                <a:moveTo>
                  <a:pt x="0" y="182"/>
                </a:moveTo>
                <a:cubicBezTo>
                  <a:pt x="30" y="168"/>
                  <a:pt x="114" y="123"/>
                  <a:pt x="180" y="99"/>
                </a:cubicBezTo>
                <a:cubicBezTo>
                  <a:pt x="246" y="75"/>
                  <a:pt x="309" y="53"/>
                  <a:pt x="395" y="37"/>
                </a:cubicBezTo>
                <a:cubicBezTo>
                  <a:pt x="481" y="21"/>
                  <a:pt x="584" y="0"/>
                  <a:pt x="694" y="2"/>
                </a:cubicBezTo>
                <a:cubicBezTo>
                  <a:pt x="804" y="4"/>
                  <a:pt x="934" y="15"/>
                  <a:pt x="1057" y="50"/>
                </a:cubicBezTo>
                <a:cubicBezTo>
                  <a:pt x="1180" y="85"/>
                  <a:pt x="1357" y="177"/>
                  <a:pt x="1435" y="210"/>
                </a:cubicBezTo>
              </a:path>
            </a:pathLst>
          </a:custGeom>
          <a:noFill/>
          <a:ln w="9525" cap="flat">
            <a:solidFill>
              <a:schemeClr val="tx1"/>
            </a:solidFill>
            <a:prstDash val="dash"/>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Rectangle 33"/>
          <p:cNvSpPr>
            <a:spLocks noChangeArrowheads="1"/>
          </p:cNvSpPr>
          <p:nvPr/>
        </p:nvSpPr>
        <p:spPr bwMode="auto">
          <a:xfrm>
            <a:off x="9655566" y="5578475"/>
            <a:ext cx="506413"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800" u="none">
                <a:latin typeface="微软雅黑" panose="020B0503020204020204" pitchFamily="34" charset="-122"/>
                <a:ea typeface="微软雅黑" panose="020B0503020204020204" pitchFamily="34" charset="-122"/>
              </a:rPr>
              <a:t>外键</a:t>
            </a:r>
            <a:endParaRPr kumimoji="1" lang="zh-CN" altLang="en-US" sz="1800" u="none">
              <a:latin typeface="微软雅黑" panose="020B0503020204020204" pitchFamily="34" charset="-122"/>
              <a:ea typeface="微软雅黑" panose="020B0503020204020204" pitchFamily="34" charset="-122"/>
            </a:endParaRPr>
          </a:p>
        </p:txBody>
      </p:sp>
      <p:sp>
        <p:nvSpPr>
          <p:cNvPr id="37" name="Line 34"/>
          <p:cNvSpPr>
            <a:spLocks noChangeShapeType="1"/>
          </p:cNvSpPr>
          <p:nvPr/>
        </p:nvSpPr>
        <p:spPr bwMode="auto">
          <a:xfrm flipH="1">
            <a:off x="9142804" y="5740400"/>
            <a:ext cx="504825" cy="0"/>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14" name="内容占位符 1"/>
          <p:cNvSpPr>
            <a:spLocks noGrp="1"/>
          </p:cNvSpPr>
          <p:nvPr>
            <p:ph idx="1"/>
          </p:nvPr>
        </p:nvSpPr>
        <p:spPr>
          <a:xfrm>
            <a:off x="397163" y="1219203"/>
            <a:ext cx="11453091" cy="4957760"/>
          </a:xfrm>
        </p:spPr>
        <p:txBody>
          <a:bodyPr>
            <a:normAutofit/>
          </a:bodyPr>
          <a:lstStyle/>
          <a:p>
            <a:pPr>
              <a:lnSpc>
                <a:spcPct val="150000"/>
              </a:lnSpc>
            </a:pPr>
            <a:r>
              <a:rPr lang="en-GB" altLang="zh-CN" dirty="0"/>
              <a:t>IDEF1X</a:t>
            </a:r>
            <a:r>
              <a:rPr lang="zh-CN" altLang="en-US" dirty="0"/>
              <a:t>中的语言元素</a:t>
            </a:r>
            <a:endParaRPr lang="en-US" altLang="zh-CN" dirty="0"/>
          </a:p>
          <a:p>
            <a:pPr lvl="1">
              <a:lnSpc>
                <a:spcPct val="110000"/>
              </a:lnSpc>
            </a:pPr>
            <a:r>
              <a:rPr lang="zh-CN" altLang="en-US" sz="1800" dirty="0"/>
              <a:t>根据子实体与父实体的依赖性：联系分为“标识”关系和“非标识”关系</a:t>
            </a:r>
            <a:endParaRPr lang="en-US" altLang="zh-CN" sz="1800" dirty="0"/>
          </a:p>
          <a:p>
            <a:pPr lvl="1">
              <a:lnSpc>
                <a:spcPct val="110000"/>
              </a:lnSpc>
            </a:pPr>
            <a:r>
              <a:rPr lang="zh-CN" altLang="en-US" sz="1800" dirty="0"/>
              <a:t>“</a:t>
            </a:r>
            <a:r>
              <a:rPr lang="zh-CN" altLang="en-US" sz="1800" dirty="0">
                <a:solidFill>
                  <a:srgbClr val="C00000"/>
                </a:solidFill>
              </a:rPr>
              <a:t>标识</a:t>
            </a:r>
            <a:r>
              <a:rPr lang="zh-CN" altLang="en-US" sz="1800" dirty="0"/>
              <a:t>”关系（</a:t>
            </a:r>
            <a:r>
              <a:rPr lang="en-US" altLang="zh-TW" sz="1800" dirty="0">
                <a:solidFill>
                  <a:srgbClr val="C00000"/>
                </a:solidFill>
              </a:rPr>
              <a:t>Identifying Relationship</a:t>
            </a:r>
            <a:r>
              <a:rPr lang="zh-CN" altLang="en-US" sz="1800" dirty="0"/>
              <a:t>）</a:t>
            </a:r>
            <a:r>
              <a:rPr lang="en-US" altLang="zh-CN" sz="1800" dirty="0"/>
              <a:t>——</a:t>
            </a:r>
            <a:r>
              <a:rPr lang="zh-CN" altLang="en-US" sz="1800" dirty="0"/>
              <a:t>或称“确定”关系</a:t>
            </a:r>
            <a:endParaRPr lang="zh-CN" altLang="en-US" sz="1800" dirty="0"/>
          </a:p>
          <a:p>
            <a:pPr lvl="2">
              <a:lnSpc>
                <a:spcPct val="110000"/>
              </a:lnSpc>
            </a:pPr>
            <a:r>
              <a:rPr lang="zh-CN" altLang="en-US" sz="1800" dirty="0"/>
              <a:t>父</a:t>
            </a:r>
            <a:r>
              <a:rPr lang="zh-TW" altLang="en-US" sz="1800" dirty="0"/>
              <a:t>实体主键</a:t>
            </a:r>
            <a:r>
              <a:rPr lang="zh-CN" altLang="en-US" sz="1800" dirty="0"/>
              <a:t>贡献给子</a:t>
            </a:r>
            <a:r>
              <a:rPr lang="zh-TW" altLang="en-US" sz="1800" dirty="0"/>
              <a:t>实体作</a:t>
            </a:r>
            <a:r>
              <a:rPr lang="zh-CN" altLang="en-US" sz="1800" dirty="0"/>
              <a:t>为子实体主</a:t>
            </a:r>
            <a:r>
              <a:rPr lang="zh-TW" altLang="en-US" sz="1800" dirty="0"/>
              <a:t>键</a:t>
            </a:r>
            <a:r>
              <a:rPr lang="zh-CN" altLang="en-US" sz="1800" dirty="0"/>
              <a:t>的一</a:t>
            </a:r>
            <a:r>
              <a:rPr lang="zh-TW" altLang="en-US" sz="1800" dirty="0"/>
              <a:t>部分</a:t>
            </a:r>
            <a:r>
              <a:rPr lang="zh-CN" altLang="en-US" sz="1800" dirty="0"/>
              <a:t>。</a:t>
            </a:r>
            <a:endParaRPr lang="zh-TW" altLang="zh-CN" sz="1800" dirty="0"/>
          </a:p>
          <a:p>
            <a:pPr lvl="2">
              <a:lnSpc>
                <a:spcPct val="110000"/>
              </a:lnSpc>
            </a:pPr>
            <a:r>
              <a:rPr lang="zh-CN" altLang="en-US" sz="1800" dirty="0"/>
              <a:t>标识关系的特点：</a:t>
            </a:r>
            <a:endParaRPr lang="zh-CN" altLang="en-US" sz="1800" dirty="0"/>
          </a:p>
          <a:p>
            <a:pPr lvl="3">
              <a:lnSpc>
                <a:spcPct val="110000"/>
              </a:lnSpc>
            </a:pPr>
            <a:r>
              <a:rPr lang="zh-CN" altLang="en-US" dirty="0"/>
              <a:t>子</a:t>
            </a:r>
            <a:r>
              <a:rPr lang="zh-TW" altLang="en-US" dirty="0"/>
              <a:t>实体由父实体决定</a:t>
            </a:r>
            <a:r>
              <a:rPr lang="zh-CN" altLang="en-US" dirty="0"/>
              <a:t>；</a:t>
            </a:r>
            <a:endParaRPr lang="zh-CN" altLang="en-US" dirty="0"/>
          </a:p>
          <a:p>
            <a:pPr lvl="3">
              <a:lnSpc>
                <a:spcPct val="110000"/>
              </a:lnSpc>
            </a:pPr>
            <a:r>
              <a:rPr lang="zh-CN" altLang="en-US" dirty="0"/>
              <a:t>子</a:t>
            </a:r>
            <a:r>
              <a:rPr lang="zh-TW" altLang="en-US" dirty="0"/>
              <a:t>实体</a:t>
            </a:r>
            <a:r>
              <a:rPr lang="zh-CN" altLang="en-US" dirty="0"/>
              <a:t>的</a:t>
            </a:r>
            <a:r>
              <a:rPr lang="zh-TW" altLang="en-US" dirty="0"/>
              <a:t>存在</a:t>
            </a:r>
            <a:r>
              <a:rPr lang="zh-CN" altLang="en-US" dirty="0"/>
              <a:t>依赖于</a:t>
            </a:r>
            <a:r>
              <a:rPr lang="zh-TW" altLang="en-US" dirty="0"/>
              <a:t>父实体</a:t>
            </a:r>
            <a:r>
              <a:rPr lang="zh-CN" altLang="en-US" dirty="0"/>
              <a:t>。</a:t>
            </a:r>
            <a:endParaRPr lang="zh-CN" altLang="en-US" dirty="0"/>
          </a:p>
          <a:p>
            <a:pPr lvl="2">
              <a:lnSpc>
                <a:spcPct val="110000"/>
              </a:lnSpc>
            </a:pPr>
            <a:r>
              <a:rPr lang="zh-CN" altLang="en-US" sz="1800" dirty="0"/>
              <a:t>表示方法：</a:t>
            </a:r>
            <a:endParaRPr lang="zh-CN" altLang="en-US" sz="1800" dirty="0"/>
          </a:p>
          <a:p>
            <a:pPr lvl="3">
              <a:lnSpc>
                <a:spcPct val="110000"/>
              </a:lnSpc>
            </a:pPr>
            <a:r>
              <a:rPr lang="zh-CN" altLang="en-US" dirty="0"/>
              <a:t>连线为实线；子实体的外框为园角框；</a:t>
            </a:r>
            <a:endParaRPr lang="zh-CN" altLang="en-US" dirty="0"/>
          </a:p>
          <a:p>
            <a:pPr lvl="3">
              <a:lnSpc>
                <a:spcPct val="110000"/>
              </a:lnSpc>
            </a:pPr>
            <a:r>
              <a:rPr lang="zh-CN" altLang="en-US" dirty="0"/>
              <a:t>父实体贡献的主键属性在子实体中</a:t>
            </a:r>
            <a:r>
              <a:rPr lang="zh-CN" altLang="en-US" u="sng" dirty="0">
                <a:solidFill>
                  <a:srgbClr val="C00000"/>
                </a:solidFill>
              </a:rPr>
              <a:t>作为主键属性</a:t>
            </a:r>
            <a:r>
              <a:rPr lang="zh-CN" altLang="en-US" dirty="0"/>
              <a:t>，并在属性名后标有“</a:t>
            </a:r>
            <a:r>
              <a:rPr lang="en-US" altLang="zh-CN" dirty="0"/>
              <a:t>(FK)”</a:t>
            </a:r>
            <a:r>
              <a:rPr lang="zh-CN" altLang="en-US" dirty="0"/>
              <a:t>，表示它来自于父实体。</a:t>
            </a:r>
            <a:endParaRPr lang="zh-CN" altLang="en-US" dirty="0"/>
          </a:p>
          <a:p>
            <a:pPr lvl="1">
              <a:lnSpc>
                <a:spcPct val="150000"/>
              </a:lnSpc>
            </a:pPr>
            <a:endParaRPr lang="zh-CN" altLang="en-US" dirty="0"/>
          </a:p>
        </p:txBody>
      </p:sp>
      <p:sp>
        <p:nvSpPr>
          <p:cNvPr id="15" name="Line 4"/>
          <p:cNvSpPr>
            <a:spLocks noChangeShapeType="1"/>
          </p:cNvSpPr>
          <p:nvPr/>
        </p:nvSpPr>
        <p:spPr bwMode="auto">
          <a:xfrm flipV="1">
            <a:off x="4289743" y="6094412"/>
            <a:ext cx="1800225" cy="0"/>
          </a:xfrm>
          <a:prstGeom prst="line">
            <a:avLst/>
          </a:prstGeom>
          <a:noFill/>
          <a:ln w="12700">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5"/>
          <p:cNvSpPr>
            <a:spLocks noChangeArrowheads="1"/>
          </p:cNvSpPr>
          <p:nvPr/>
        </p:nvSpPr>
        <p:spPr bwMode="auto">
          <a:xfrm>
            <a:off x="6096318" y="6024562"/>
            <a:ext cx="127000" cy="127000"/>
          </a:xfrm>
          <a:prstGeom prst="ellipse">
            <a:avLst/>
          </a:prstGeom>
          <a:solidFill>
            <a:srgbClr val="FFFF00"/>
          </a:solidFill>
          <a:ln w="12700">
            <a:solidFill>
              <a:srgbClr val="C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7" name="Rectangle 6"/>
          <p:cNvSpPr>
            <a:spLocks noChangeArrowheads="1"/>
          </p:cNvSpPr>
          <p:nvPr/>
        </p:nvSpPr>
        <p:spPr bwMode="auto">
          <a:xfrm>
            <a:off x="3281680" y="5649912"/>
            <a:ext cx="1009650" cy="303213"/>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solidFill>
                  <a:srgbClr val="FF0000"/>
                </a:solidFill>
                <a:latin typeface="Times New Roman" panose="02020603050405020304" pitchFamily="18" charset="0"/>
              </a:rPr>
              <a:t>仓库号</a:t>
            </a:r>
            <a:endParaRPr kumimoji="1" lang="zh-CN" altLang="en-US" sz="1200" b="1" u="none">
              <a:solidFill>
                <a:srgbClr val="FF0000"/>
              </a:solidFill>
              <a:latin typeface="Times New Roman" panose="02020603050405020304" pitchFamily="18" charset="0"/>
            </a:endParaRPr>
          </a:p>
        </p:txBody>
      </p:sp>
      <p:sp>
        <p:nvSpPr>
          <p:cNvPr id="18" name="Rectangle 7"/>
          <p:cNvSpPr>
            <a:spLocks noChangeArrowheads="1"/>
          </p:cNvSpPr>
          <p:nvPr/>
        </p:nvSpPr>
        <p:spPr bwMode="auto">
          <a:xfrm>
            <a:off x="3281680" y="5954712"/>
            <a:ext cx="1009650" cy="484188"/>
          </a:xfrm>
          <a:prstGeom prst="rect">
            <a:avLst/>
          </a:prstGeom>
          <a:noFill/>
          <a:ln w="12700">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3975" rIns="111125" bIns="539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latin typeface="Times New Roman" panose="02020603050405020304" pitchFamily="18" charset="0"/>
              </a:rPr>
              <a:t>地点</a:t>
            </a:r>
            <a:endParaRPr kumimoji="1" lang="zh-CN" altLang="en-US" sz="1200" b="1" u="none">
              <a:latin typeface="Times New Roman" panose="02020603050405020304" pitchFamily="18" charset="0"/>
            </a:endParaRPr>
          </a:p>
          <a:p>
            <a:pPr eaLnBrk="1" hangingPunct="1">
              <a:spcBef>
                <a:spcPct val="0"/>
              </a:spcBef>
              <a:buFontTx/>
              <a:buNone/>
            </a:pPr>
            <a:r>
              <a:rPr kumimoji="1" lang="zh-CN" altLang="en-US" sz="1200" b="1" u="none">
                <a:latin typeface="Times New Roman" panose="02020603050405020304" pitchFamily="18" charset="0"/>
              </a:rPr>
              <a:t>面积</a:t>
            </a:r>
            <a:endParaRPr kumimoji="1" lang="en-US" altLang="zh-TW" sz="1200" b="1" u="none">
              <a:latin typeface="Times New Roman" panose="02020603050405020304" pitchFamily="18" charset="0"/>
            </a:endParaRPr>
          </a:p>
        </p:txBody>
      </p:sp>
      <p:sp>
        <p:nvSpPr>
          <p:cNvPr id="19" name="Rectangle 8"/>
          <p:cNvSpPr>
            <a:spLocks noChangeArrowheads="1"/>
          </p:cNvSpPr>
          <p:nvPr/>
        </p:nvSpPr>
        <p:spPr bwMode="auto">
          <a:xfrm>
            <a:off x="3270568" y="5362575"/>
            <a:ext cx="576262"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700" b="1" u="none">
                <a:latin typeface="Times New Roman" panose="02020603050405020304" pitchFamily="18" charset="0"/>
              </a:rPr>
              <a:t>仓库</a:t>
            </a:r>
            <a:endParaRPr kumimoji="1" lang="zh-CN" altLang="en-US" sz="1700" b="1" u="none">
              <a:latin typeface="Times New Roman" panose="02020603050405020304" pitchFamily="18" charset="0"/>
            </a:endParaRPr>
          </a:p>
        </p:txBody>
      </p:sp>
      <p:sp>
        <p:nvSpPr>
          <p:cNvPr id="20" name="Rectangle 9"/>
          <p:cNvSpPr>
            <a:spLocks noChangeArrowheads="1"/>
          </p:cNvSpPr>
          <p:nvPr/>
        </p:nvSpPr>
        <p:spPr bwMode="auto">
          <a:xfrm>
            <a:off x="6245543" y="5199062"/>
            <a:ext cx="576262" cy="25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700" b="1" u="none">
                <a:latin typeface="Times New Roman" panose="02020603050405020304" pitchFamily="18" charset="0"/>
              </a:rPr>
              <a:t>产品</a:t>
            </a:r>
            <a:endParaRPr kumimoji="1" lang="zh-CN" altLang="en-US" sz="1700" b="1" u="none">
              <a:latin typeface="Times New Roman" panose="02020603050405020304" pitchFamily="18" charset="0"/>
            </a:endParaRPr>
          </a:p>
        </p:txBody>
      </p:sp>
      <p:sp>
        <p:nvSpPr>
          <p:cNvPr id="21" name="Rectangle 10"/>
          <p:cNvSpPr>
            <a:spLocks noChangeArrowheads="1"/>
          </p:cNvSpPr>
          <p:nvPr/>
        </p:nvSpPr>
        <p:spPr bwMode="auto">
          <a:xfrm>
            <a:off x="4712018" y="5791200"/>
            <a:ext cx="10810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b="1" u="none">
                <a:latin typeface="Times New Roman" panose="02020603050405020304" pitchFamily="18" charset="0"/>
              </a:rPr>
              <a:t>存放</a:t>
            </a:r>
            <a:endParaRPr kumimoji="1" lang="zh-CN" altLang="en-US" sz="1600" b="1" u="none">
              <a:latin typeface="Times New Roman" panose="02020603050405020304" pitchFamily="18" charset="0"/>
            </a:endParaRPr>
          </a:p>
        </p:txBody>
      </p:sp>
      <p:sp>
        <p:nvSpPr>
          <p:cNvPr id="22" name="Freeform 11"/>
          <p:cNvSpPr/>
          <p:nvPr/>
        </p:nvSpPr>
        <p:spPr bwMode="auto">
          <a:xfrm>
            <a:off x="3943668" y="5513387"/>
            <a:ext cx="2278062" cy="333375"/>
          </a:xfrm>
          <a:custGeom>
            <a:avLst/>
            <a:gdLst>
              <a:gd name="T0" fmla="*/ 0 w 1435"/>
              <a:gd name="T1" fmla="*/ 2147483646 h 210"/>
              <a:gd name="T2" fmla="*/ 2147483646 w 1435"/>
              <a:gd name="T3" fmla="*/ 2147483646 h 210"/>
              <a:gd name="T4" fmla="*/ 2147483646 w 1435"/>
              <a:gd name="T5" fmla="*/ 2147483646 h 210"/>
              <a:gd name="T6" fmla="*/ 2147483646 w 1435"/>
              <a:gd name="T7" fmla="*/ 2147483646 h 210"/>
              <a:gd name="T8" fmla="*/ 2147483646 w 1435"/>
              <a:gd name="T9" fmla="*/ 2147483646 h 210"/>
              <a:gd name="T10" fmla="*/ 2147483646 w 1435"/>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5" h="210">
                <a:moveTo>
                  <a:pt x="0" y="182"/>
                </a:moveTo>
                <a:cubicBezTo>
                  <a:pt x="30" y="168"/>
                  <a:pt x="114" y="123"/>
                  <a:pt x="180" y="99"/>
                </a:cubicBezTo>
                <a:cubicBezTo>
                  <a:pt x="246" y="75"/>
                  <a:pt x="309" y="53"/>
                  <a:pt x="395" y="37"/>
                </a:cubicBezTo>
                <a:cubicBezTo>
                  <a:pt x="481" y="21"/>
                  <a:pt x="584" y="0"/>
                  <a:pt x="694" y="2"/>
                </a:cubicBezTo>
                <a:cubicBezTo>
                  <a:pt x="804" y="4"/>
                  <a:pt x="934" y="15"/>
                  <a:pt x="1057" y="50"/>
                </a:cubicBezTo>
                <a:cubicBezTo>
                  <a:pt x="1180" y="85"/>
                  <a:pt x="1357" y="177"/>
                  <a:pt x="1435" y="210"/>
                </a:cubicBezTo>
              </a:path>
            </a:pathLst>
          </a:custGeom>
          <a:noFill/>
          <a:ln w="9525" cap="flat">
            <a:solidFill>
              <a:schemeClr val="tx1"/>
            </a:solidFill>
            <a:prstDash val="dash"/>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3" name="Group 12"/>
          <p:cNvGrpSpPr/>
          <p:nvPr/>
        </p:nvGrpSpPr>
        <p:grpSpPr bwMode="auto">
          <a:xfrm>
            <a:off x="6245543" y="5491162"/>
            <a:ext cx="1008062" cy="1366838"/>
            <a:chOff x="3969" y="3249"/>
            <a:chExt cx="635" cy="861"/>
          </a:xfrm>
        </p:grpSpPr>
        <p:sp>
          <p:nvSpPr>
            <p:cNvPr id="24" name="AutoShape 13"/>
            <p:cNvSpPr>
              <a:spLocks noChangeArrowheads="1"/>
            </p:cNvSpPr>
            <p:nvPr/>
          </p:nvSpPr>
          <p:spPr bwMode="auto">
            <a:xfrm>
              <a:off x="3969" y="3249"/>
              <a:ext cx="635" cy="861"/>
            </a:xfrm>
            <a:prstGeom prst="roundRect">
              <a:avLst>
                <a:gd name="adj" fmla="val 16667"/>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200" b="1" u="none">
                  <a:latin typeface="Arial" panose="020B0604020202020204" pitchFamily="34" charset="0"/>
                </a:rPr>
                <a:t>产品号</a:t>
              </a:r>
              <a:endParaRPr kumimoji="1" lang="zh-CN" altLang="en-US" sz="1200" b="1" u="none">
                <a:latin typeface="Arial" panose="020B0604020202020204" pitchFamily="34" charset="0"/>
              </a:endParaRPr>
            </a:p>
            <a:p>
              <a:pPr eaLnBrk="1" hangingPunct="1">
                <a:spcBef>
                  <a:spcPct val="0"/>
                </a:spcBef>
                <a:spcAft>
                  <a:spcPct val="40000"/>
                </a:spcAft>
                <a:buFontTx/>
                <a:buNone/>
              </a:pPr>
              <a:r>
                <a:rPr kumimoji="1" lang="zh-CN" altLang="en-US" sz="1200" b="1" u="none">
                  <a:solidFill>
                    <a:srgbClr val="FF0000"/>
                  </a:solidFill>
                  <a:latin typeface="Arial" panose="020B0604020202020204" pitchFamily="34" charset="0"/>
                </a:rPr>
                <a:t>仓库号</a:t>
              </a:r>
              <a:r>
                <a:rPr kumimoji="1" lang="en-US" altLang="zh-CN" sz="1200" b="1" u="none">
                  <a:solidFill>
                    <a:srgbClr val="FF0000"/>
                  </a:solidFill>
                  <a:latin typeface="Arial" panose="020B0604020202020204" pitchFamily="34" charset="0"/>
                </a:rPr>
                <a:t>(FK)</a:t>
              </a:r>
              <a:endParaRPr kumimoji="1" lang="en-US" altLang="zh-CN" sz="1200" b="1" u="none">
                <a:solidFill>
                  <a:srgbClr val="FF0000"/>
                </a:solidFill>
                <a:latin typeface="Arial" panose="020B0604020202020204" pitchFamily="34" charset="0"/>
              </a:endParaRPr>
            </a:p>
            <a:p>
              <a:pPr eaLnBrk="1" hangingPunct="1">
                <a:buFontTx/>
                <a:buNone/>
              </a:pPr>
              <a:r>
                <a:rPr kumimoji="1" lang="zh-CN" altLang="en-US" sz="1200" b="1" u="none">
                  <a:latin typeface="Arial" panose="020B0604020202020204" pitchFamily="34" charset="0"/>
                </a:rPr>
                <a:t>品名</a:t>
              </a:r>
              <a:endParaRPr kumimoji="1" lang="zh-CN" altLang="en-US" sz="1200" b="1" u="none">
                <a:latin typeface="Arial" panose="020B0604020202020204" pitchFamily="34" charset="0"/>
              </a:endParaRPr>
            </a:p>
            <a:p>
              <a:pPr eaLnBrk="1" hangingPunct="1">
                <a:spcBef>
                  <a:spcPct val="0"/>
                </a:spcBef>
                <a:buFontTx/>
                <a:buNone/>
              </a:pPr>
              <a:r>
                <a:rPr kumimoji="1" lang="zh-CN" altLang="en-US" sz="1200" b="1" u="none">
                  <a:latin typeface="Arial" panose="020B0604020202020204" pitchFamily="34" charset="0"/>
                </a:rPr>
                <a:t>规格</a:t>
              </a:r>
              <a:endParaRPr kumimoji="1" lang="zh-CN" altLang="en-US" sz="1200" b="1" u="none">
                <a:latin typeface="Arial" panose="020B0604020202020204" pitchFamily="34" charset="0"/>
              </a:endParaRPr>
            </a:p>
            <a:p>
              <a:pPr eaLnBrk="1" hangingPunct="1">
                <a:spcBef>
                  <a:spcPct val="0"/>
                </a:spcBef>
                <a:buFontTx/>
                <a:buNone/>
              </a:pPr>
              <a:r>
                <a:rPr kumimoji="1" lang="zh-CN" altLang="en-US" sz="1200" b="1" u="none">
                  <a:latin typeface="Arial" panose="020B0604020202020204" pitchFamily="34" charset="0"/>
                </a:rPr>
                <a:t>价格</a:t>
              </a:r>
              <a:endParaRPr kumimoji="1" lang="zh-TW" altLang="zh-CN" sz="1200" b="1" u="none">
                <a:latin typeface="Arial" panose="020B0604020202020204" pitchFamily="34" charset="0"/>
              </a:endParaRPr>
            </a:p>
            <a:p>
              <a:pPr eaLnBrk="1" hangingPunct="1">
                <a:spcBef>
                  <a:spcPct val="0"/>
                </a:spcBef>
                <a:buFontTx/>
                <a:buNone/>
              </a:pPr>
              <a:r>
                <a:rPr kumimoji="1" lang="zh-CN" altLang="en-US" sz="1200" b="1" u="none">
                  <a:solidFill>
                    <a:srgbClr val="66FFFF"/>
                  </a:solidFill>
                  <a:latin typeface="Arial" panose="020B0604020202020204" pitchFamily="34" charset="0"/>
                </a:rPr>
                <a:t>数量</a:t>
              </a:r>
              <a:endParaRPr kumimoji="1" lang="zh-CN" altLang="en-US" sz="1200" b="1" u="none">
                <a:solidFill>
                  <a:srgbClr val="FFFF00"/>
                </a:solidFill>
                <a:latin typeface="Arial" panose="020B0604020202020204" pitchFamily="34" charset="0"/>
              </a:endParaRPr>
            </a:p>
          </p:txBody>
        </p:sp>
        <p:sp>
          <p:nvSpPr>
            <p:cNvPr id="25" name="Line 14"/>
            <p:cNvSpPr>
              <a:spLocks noChangeShapeType="1"/>
            </p:cNvSpPr>
            <p:nvPr/>
          </p:nvSpPr>
          <p:spPr bwMode="auto">
            <a:xfrm>
              <a:off x="3969" y="3566"/>
              <a:ext cx="63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en-US" altLang="zh-CN"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graphicFrame>
        <p:nvGraphicFramePr>
          <p:cNvPr id="7" name="Group 4"/>
          <p:cNvGraphicFramePr/>
          <p:nvPr/>
        </p:nvGraphicFramePr>
        <p:xfrm>
          <a:off x="3307295" y="2004036"/>
          <a:ext cx="8351837" cy="4032251"/>
        </p:xfrm>
        <a:graphic>
          <a:graphicData uri="http://schemas.openxmlformats.org/drawingml/2006/table">
            <a:tbl>
              <a:tblPr/>
              <a:tblGrid>
                <a:gridCol w="504825"/>
                <a:gridCol w="3816350"/>
                <a:gridCol w="4030662"/>
              </a:tblGrid>
              <a:tr h="493713">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0000" marR="90000" marT="4680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10000"/>
                        </a:spcAft>
                        <a:buClrTx/>
                        <a:buSzTx/>
                        <a:buFontTx/>
                        <a:buNone/>
                      </a:pPr>
                      <a:r>
                        <a:rPr kumimoji="0" lang="zh-CN" altLang="en-US"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强制性的</a:t>
                      </a:r>
                      <a:endParaRPr kumimoji="0" lang="zh-CN" altLang="en-US" sz="1800" b="1" i="0" u="none" strike="noStrike" cap="none" normalizeH="0" baseline="0">
                        <a:ln>
                          <a:noFill/>
                        </a:ln>
                        <a:solidFill>
                          <a:srgbClr val="FF0000"/>
                        </a:solidFill>
                        <a:effectLst/>
                        <a:latin typeface="宋体" panose="02010600030101010101" pitchFamily="2" charset="-122"/>
                        <a:ea typeface="宋体" panose="02010600030101010101" pitchFamily="2" charset="-122"/>
                      </a:endParaRPr>
                    </a:p>
                  </a:txBody>
                  <a:tcPr marL="90000" marR="90000" marT="4680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非强制性的</a:t>
                      </a:r>
                      <a:endParaRPr kumimoji="0" lang="zh-CN" altLang="en-US" sz="1800" b="1" i="0" u="none" strike="noStrike" cap="none" normalizeH="0" baseline="0">
                        <a:ln>
                          <a:noFill/>
                        </a:ln>
                        <a:solidFill>
                          <a:srgbClr val="FF0000"/>
                        </a:solidFill>
                        <a:effectLst/>
                        <a:latin typeface="宋体" panose="02010600030101010101" pitchFamily="2" charset="-122"/>
                        <a:ea typeface="宋体" panose="02010600030101010101" pitchFamily="2" charset="-122"/>
                      </a:endParaRPr>
                    </a:p>
                  </a:txBody>
                  <a:tcPr marL="90000" marR="90000" marT="4680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1363">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特点</a:t>
                      </a:r>
                      <a:endPar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子实体由父实体决定</a:t>
                      </a:r>
                      <a:endParaRPr kumimoji="0" lang="zh-TW"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子实体</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的</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存在仍需依</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赖于</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父实体</a:t>
                      </a:r>
                      <a:endPar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子实体不由父实体决定</a:t>
                      </a:r>
                      <a:endParaRPr kumimoji="0" lang="zh-TW"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子实体</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的</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存在</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无</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需依</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赖于</a:t>
                      </a:r>
                      <a:r>
                        <a:rPr kumimoji="0" lang="zh-TW"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父实体</a:t>
                      </a:r>
                      <a:endPar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97175">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表示方法</a:t>
                      </a:r>
                      <a:endPar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连线为虚线；</a:t>
                      </a:r>
                      <a:endPar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父实体贡献的主键属性放在子实体中</a:t>
                      </a:r>
                      <a:r>
                        <a:rPr kumimoji="0" lang="zh-CN" altLang="en-US" sz="1400" b="1" i="0" u="sng" strike="noStrike" cap="none" normalizeH="0" baseline="0" dirty="0">
                          <a:ln>
                            <a:noFill/>
                          </a:ln>
                          <a:solidFill>
                            <a:srgbClr val="FF0000"/>
                          </a:solidFill>
                          <a:effectLst/>
                          <a:latin typeface="宋体" panose="02010600030101010101" pitchFamily="2" charset="-122"/>
                          <a:ea typeface="宋体" panose="02010600030101010101" pitchFamily="2" charset="-122"/>
                        </a:rPr>
                        <a:t>作为非主键属性</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，并可标有“</a:t>
                      </a:r>
                      <a:r>
                        <a:rPr kumimoji="0"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(FK)”</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宋体" panose="02010600030101010101" pitchFamily="2" charset="-122"/>
                          <a:ea typeface="宋体" panose="02010600030101010101" pitchFamily="2" charset="-122"/>
                        </a:defRPr>
                      </a:lvl1pPr>
                      <a:lvl2pPr marL="742950" indent="-285750">
                        <a:spcBef>
                          <a:spcPct val="20000"/>
                        </a:spcBef>
                        <a:defRPr sz="2000">
                          <a:solidFill>
                            <a:schemeClr val="tx1"/>
                          </a:solidFill>
                          <a:latin typeface="宋体" panose="02010600030101010101" pitchFamily="2" charset="-122"/>
                          <a:ea typeface="宋体" panose="02010600030101010101" pitchFamily="2" charset="-122"/>
                        </a:defRPr>
                      </a:lvl2pPr>
                      <a:lvl3pPr marL="1143000" indent="-228600">
                        <a:spcBef>
                          <a:spcPct val="20000"/>
                        </a:spcBef>
                        <a:defRPr>
                          <a:solidFill>
                            <a:schemeClr val="tx1"/>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defRPr sz="14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连线为虚线，父实体端有</a:t>
                      </a:r>
                      <a:r>
                        <a:rPr kumimoji="0" lang="zh-CN" altLang="en-US" sz="1400" b="1" i="0" u="sng" strike="noStrike" cap="none" normalizeH="0" baseline="0" dirty="0">
                          <a:ln>
                            <a:noFill/>
                          </a:ln>
                          <a:solidFill>
                            <a:srgbClr val="FF0000"/>
                          </a:solidFill>
                          <a:effectLst/>
                          <a:latin typeface="宋体" panose="02010600030101010101" pitchFamily="2" charset="-122"/>
                          <a:ea typeface="宋体" panose="02010600030101010101" pitchFamily="2" charset="-122"/>
                        </a:rPr>
                        <a:t>菱形标志</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TW"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父实体贡献的主键属性放在子实体中</a:t>
                      </a:r>
                      <a:r>
                        <a:rPr kumimoji="0" lang="zh-CN" altLang="en-US" sz="1400" b="1" i="0" u="sng" strike="noStrike" cap="none" normalizeH="0" baseline="0" dirty="0">
                          <a:ln>
                            <a:noFill/>
                          </a:ln>
                          <a:solidFill>
                            <a:srgbClr val="FF0000"/>
                          </a:solidFill>
                          <a:effectLst/>
                          <a:latin typeface="宋体" panose="02010600030101010101" pitchFamily="2" charset="-122"/>
                          <a:ea typeface="宋体" panose="02010600030101010101" pitchFamily="2" charset="-122"/>
                        </a:rPr>
                        <a:t>作为非主键属性</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，并可标有“</a:t>
                      </a:r>
                      <a:r>
                        <a:rPr kumimoji="0" lang="en-US" altLang="zh-CN"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(FK)”</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Line 22"/>
          <p:cNvSpPr>
            <a:spLocks noChangeShapeType="1"/>
          </p:cNvSpPr>
          <p:nvPr/>
        </p:nvSpPr>
        <p:spPr bwMode="gray">
          <a:xfrm>
            <a:off x="4936070" y="5264761"/>
            <a:ext cx="1150937" cy="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 name="Rectangle 23"/>
          <p:cNvSpPr>
            <a:spLocks noChangeArrowheads="1"/>
          </p:cNvSpPr>
          <p:nvPr/>
        </p:nvSpPr>
        <p:spPr bwMode="gray">
          <a:xfrm>
            <a:off x="4974170" y="5001465"/>
            <a:ext cx="1081087" cy="215444"/>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400" u="none">
                <a:latin typeface="微软雅黑" panose="020B0503020204020204" pitchFamily="34" charset="-122"/>
                <a:ea typeface="微软雅黑" panose="020B0503020204020204" pitchFamily="34" charset="-122"/>
              </a:rPr>
              <a:t>提交</a:t>
            </a:r>
            <a:r>
              <a:rPr kumimoji="1" lang="en-US" altLang="zh-CN" sz="1400" u="none">
                <a:latin typeface="微软雅黑" panose="020B0503020204020204" pitchFamily="34" charset="-122"/>
                <a:ea typeface="微软雅黑" panose="020B0503020204020204" pitchFamily="34" charset="-122"/>
              </a:rPr>
              <a:t>/</a:t>
            </a:r>
            <a:r>
              <a:rPr kumimoji="1" lang="zh-CN" altLang="en-US" sz="1400" u="none">
                <a:latin typeface="微软雅黑" panose="020B0503020204020204" pitchFamily="34" charset="-122"/>
                <a:ea typeface="微软雅黑" panose="020B0503020204020204" pitchFamily="34" charset="-122"/>
              </a:rPr>
              <a:t>从</a:t>
            </a:r>
            <a:r>
              <a:rPr kumimoji="1" lang="en-US" altLang="zh-CN" sz="1400" u="none">
                <a:latin typeface="微软雅黑" panose="020B0503020204020204" pitchFamily="34" charset="-122"/>
                <a:ea typeface="微软雅黑" panose="020B0503020204020204" pitchFamily="34" charset="-122"/>
              </a:rPr>
              <a:t>..</a:t>
            </a:r>
            <a:r>
              <a:rPr kumimoji="1" lang="zh-CN" altLang="en-US" sz="1400" u="none">
                <a:latin typeface="微软雅黑" panose="020B0503020204020204" pitchFamily="34" charset="-122"/>
                <a:ea typeface="微软雅黑" panose="020B0503020204020204" pitchFamily="34" charset="-122"/>
              </a:rPr>
              <a:t>得到</a:t>
            </a:r>
            <a:endParaRPr kumimoji="1" lang="zh-CN" altLang="en-US" sz="1400" u="none">
              <a:latin typeface="微软雅黑" panose="020B0503020204020204" pitchFamily="34" charset="-122"/>
              <a:ea typeface="微软雅黑" panose="020B0503020204020204" pitchFamily="34" charset="-122"/>
            </a:endParaRPr>
          </a:p>
        </p:txBody>
      </p:sp>
      <p:sp>
        <p:nvSpPr>
          <p:cNvPr id="10" name="Rectangle 24"/>
          <p:cNvSpPr>
            <a:spLocks noChangeArrowheads="1"/>
          </p:cNvSpPr>
          <p:nvPr/>
        </p:nvSpPr>
        <p:spPr bwMode="gray">
          <a:xfrm>
            <a:off x="3883557" y="4307499"/>
            <a:ext cx="1377950" cy="314325"/>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850" tIns="34925" rIns="69850" bIns="3492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客户</a:t>
            </a:r>
            <a:endParaRPr kumimoji="1" lang="zh-CN" altLang="en-US" sz="1600" b="1" u="none">
              <a:latin typeface="微软雅黑" panose="020B0503020204020204" pitchFamily="34" charset="-122"/>
              <a:ea typeface="微软雅黑" panose="020B0503020204020204" pitchFamily="34" charset="-122"/>
            </a:endParaRPr>
          </a:p>
        </p:txBody>
      </p:sp>
      <p:grpSp>
        <p:nvGrpSpPr>
          <p:cNvPr id="11" name="Group 25"/>
          <p:cNvGrpSpPr/>
          <p:nvPr/>
        </p:nvGrpSpPr>
        <p:grpSpPr bwMode="auto">
          <a:xfrm>
            <a:off x="3932770" y="4636111"/>
            <a:ext cx="1008062" cy="1255713"/>
            <a:chOff x="703" y="1959"/>
            <a:chExt cx="1018" cy="791"/>
          </a:xfrm>
        </p:grpSpPr>
        <p:sp>
          <p:nvSpPr>
            <p:cNvPr id="12" name="Rectangle 26"/>
            <p:cNvSpPr>
              <a:spLocks noChangeArrowheads="1"/>
            </p:cNvSpPr>
            <p:nvPr/>
          </p:nvSpPr>
          <p:spPr bwMode="gray">
            <a:xfrm>
              <a:off x="703" y="1959"/>
              <a:ext cx="1018"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客户标识</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13" name="Rectangle 27"/>
            <p:cNvSpPr>
              <a:spLocks noChangeArrowheads="1"/>
            </p:cNvSpPr>
            <p:nvPr/>
          </p:nvSpPr>
          <p:spPr bwMode="gray">
            <a:xfrm>
              <a:off x="703" y="2154"/>
              <a:ext cx="1018" cy="59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客户名称</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客户地址</a:t>
              </a:r>
              <a:r>
                <a:rPr kumimoji="1" lang="zh-TW" altLang="en-US" sz="900" b="1" u="none">
                  <a:latin typeface="微软雅黑" panose="020B0503020204020204" pitchFamily="34" charset="-122"/>
                  <a:ea typeface="微软雅黑" panose="020B0503020204020204" pitchFamily="34" charset="-122"/>
                </a:rPr>
                <a:t> </a:t>
              </a:r>
              <a:endParaRPr kumimoji="1" lang="zh-TW" altLang="en-US" sz="9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客户电话</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邮政编码</a:t>
              </a:r>
              <a:endParaRPr kumimoji="1" lang="zh-CN" altLang="en-US" sz="1400" b="1" u="none">
                <a:latin typeface="微软雅黑" panose="020B0503020204020204" pitchFamily="34" charset="-122"/>
                <a:ea typeface="微软雅黑" panose="020B0503020204020204" pitchFamily="34" charset="-122"/>
              </a:endParaRPr>
            </a:p>
          </p:txBody>
        </p:sp>
      </p:grpSp>
      <p:sp>
        <p:nvSpPr>
          <p:cNvPr id="14" name="Oval 28"/>
          <p:cNvSpPr>
            <a:spLocks noChangeArrowheads="1"/>
          </p:cNvSpPr>
          <p:nvPr/>
        </p:nvSpPr>
        <p:spPr bwMode="gray">
          <a:xfrm>
            <a:off x="5971120" y="5196499"/>
            <a:ext cx="127000" cy="128587"/>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15" name="Rectangle 29"/>
          <p:cNvSpPr>
            <a:spLocks noChangeArrowheads="1"/>
          </p:cNvSpPr>
          <p:nvPr/>
        </p:nvSpPr>
        <p:spPr bwMode="gray">
          <a:xfrm>
            <a:off x="6023507" y="4339249"/>
            <a:ext cx="822325" cy="314325"/>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850" tIns="34925" rIns="69850" bIns="3492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订货单</a:t>
            </a:r>
            <a:endParaRPr kumimoji="1" lang="zh-CN" altLang="en-US" sz="1600" b="1" u="none">
              <a:latin typeface="微软雅黑" panose="020B0503020204020204" pitchFamily="34" charset="-122"/>
              <a:ea typeface="微软雅黑" panose="020B0503020204020204" pitchFamily="34" charset="-122"/>
            </a:endParaRPr>
          </a:p>
        </p:txBody>
      </p:sp>
      <p:grpSp>
        <p:nvGrpSpPr>
          <p:cNvPr id="16" name="Group 30"/>
          <p:cNvGrpSpPr/>
          <p:nvPr/>
        </p:nvGrpSpPr>
        <p:grpSpPr bwMode="auto">
          <a:xfrm>
            <a:off x="6110820" y="4644049"/>
            <a:ext cx="1311275" cy="1247775"/>
            <a:chOff x="2943" y="1612"/>
            <a:chExt cx="1061" cy="786"/>
          </a:xfrm>
        </p:grpSpPr>
        <p:sp>
          <p:nvSpPr>
            <p:cNvPr id="17" name="Rectangle 31"/>
            <p:cNvSpPr>
              <a:spLocks noChangeArrowheads="1"/>
            </p:cNvSpPr>
            <p:nvPr/>
          </p:nvSpPr>
          <p:spPr bwMode="gray">
            <a:xfrm>
              <a:off x="2943" y="1612"/>
              <a:ext cx="1061"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订单号</a:t>
              </a:r>
              <a:endParaRPr kumimoji="1" lang="zh-CN" altLang="en-US" sz="1400" b="1" u="none">
                <a:latin typeface="微软雅黑" panose="020B0503020204020204" pitchFamily="34" charset="-122"/>
                <a:ea typeface="微软雅黑" panose="020B0503020204020204" pitchFamily="34" charset="-122"/>
              </a:endParaRPr>
            </a:p>
          </p:txBody>
        </p:sp>
        <p:sp>
          <p:nvSpPr>
            <p:cNvPr id="18" name="Rectangle 32"/>
            <p:cNvSpPr>
              <a:spLocks noChangeArrowheads="1"/>
            </p:cNvSpPr>
            <p:nvPr/>
          </p:nvSpPr>
          <p:spPr bwMode="gray">
            <a:xfrm>
              <a:off x="2943" y="1802"/>
              <a:ext cx="1061" cy="59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客户标识</a:t>
              </a:r>
              <a:r>
                <a:rPr kumimoji="1" lang="zh-TW" altLang="en-US" sz="1400" b="1" u="none">
                  <a:solidFill>
                    <a:srgbClr val="FFFF00"/>
                  </a:solidFill>
                  <a:latin typeface="微软雅黑" panose="020B0503020204020204" pitchFamily="34" charset="-122"/>
                  <a:ea typeface="微软雅黑" panose="020B0503020204020204" pitchFamily="34" charset="-122"/>
                </a:rPr>
                <a:t> </a:t>
              </a:r>
              <a:r>
                <a:rPr kumimoji="1" lang="en-US" altLang="zh-TW" sz="1400" b="1" u="none">
                  <a:solidFill>
                    <a:srgbClr val="FFFF00"/>
                  </a:solidFill>
                  <a:latin typeface="微软雅黑" panose="020B0503020204020204" pitchFamily="34" charset="-122"/>
                  <a:ea typeface="微软雅黑" panose="020B0503020204020204" pitchFamily="34" charset="-122"/>
                </a:rPr>
                <a:t>(FK)</a:t>
              </a:r>
              <a:endParaRPr kumimoji="1" lang="en-US" altLang="zh-TW" sz="14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提交日期</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订单状态</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交货日期</a:t>
              </a:r>
              <a:endParaRPr kumimoji="1" lang="zh-CN" altLang="en-US" sz="1400" b="1" u="none">
                <a:latin typeface="微软雅黑" panose="020B0503020204020204" pitchFamily="34" charset="-122"/>
                <a:ea typeface="微软雅黑" panose="020B0503020204020204" pitchFamily="34" charset="-122"/>
              </a:endParaRPr>
            </a:p>
          </p:txBody>
        </p:sp>
      </p:grpSp>
      <p:sp>
        <p:nvSpPr>
          <p:cNvPr id="19" name="Line 33"/>
          <p:cNvSpPr>
            <a:spLocks noChangeShapeType="1"/>
          </p:cNvSpPr>
          <p:nvPr/>
        </p:nvSpPr>
        <p:spPr bwMode="auto">
          <a:xfrm>
            <a:off x="3812120" y="4163036"/>
            <a:ext cx="784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 name="Rectangle 34"/>
          <p:cNvSpPr>
            <a:spLocks noChangeArrowheads="1"/>
          </p:cNvSpPr>
          <p:nvPr/>
        </p:nvSpPr>
        <p:spPr bwMode="gray">
          <a:xfrm>
            <a:off x="7833257" y="4307499"/>
            <a:ext cx="658813" cy="314325"/>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850" tIns="34925" rIns="69850" bIns="3492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部门</a:t>
            </a:r>
            <a:endParaRPr kumimoji="1" lang="zh-CN" altLang="en-US" sz="1600" b="1" u="none">
              <a:latin typeface="微软雅黑" panose="020B0503020204020204" pitchFamily="34" charset="-122"/>
              <a:ea typeface="微软雅黑" panose="020B0503020204020204" pitchFamily="34" charset="-122"/>
            </a:endParaRPr>
          </a:p>
        </p:txBody>
      </p:sp>
      <p:sp>
        <p:nvSpPr>
          <p:cNvPr id="21" name="Rectangle 35"/>
          <p:cNvSpPr>
            <a:spLocks noChangeArrowheads="1"/>
          </p:cNvSpPr>
          <p:nvPr/>
        </p:nvSpPr>
        <p:spPr bwMode="gray">
          <a:xfrm>
            <a:off x="7882470" y="4636111"/>
            <a:ext cx="1008062" cy="307975"/>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部门号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22" name="Rectangle 36"/>
          <p:cNvSpPr>
            <a:spLocks noChangeArrowheads="1"/>
          </p:cNvSpPr>
          <p:nvPr/>
        </p:nvSpPr>
        <p:spPr bwMode="gray">
          <a:xfrm>
            <a:off x="7882470" y="4955199"/>
            <a:ext cx="1008062" cy="520700"/>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部门名称</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部门地址</a:t>
            </a:r>
            <a:r>
              <a:rPr kumimoji="1" lang="zh-TW" altLang="en-US" sz="900" b="1" u="none">
                <a:latin typeface="微软雅黑" panose="020B0503020204020204" pitchFamily="34" charset="-122"/>
                <a:ea typeface="微软雅黑" panose="020B0503020204020204" pitchFamily="34" charset="-122"/>
              </a:rPr>
              <a:t> </a:t>
            </a:r>
            <a:endParaRPr kumimoji="1" lang="zh-CN" altLang="en-US" sz="1400" b="1" u="none">
              <a:latin typeface="微软雅黑" panose="020B0503020204020204" pitchFamily="34" charset="-122"/>
              <a:ea typeface="微软雅黑" panose="020B0503020204020204" pitchFamily="34" charset="-122"/>
            </a:endParaRPr>
          </a:p>
        </p:txBody>
      </p:sp>
      <p:sp>
        <p:nvSpPr>
          <p:cNvPr id="23" name="Rectangle 37"/>
          <p:cNvSpPr>
            <a:spLocks noChangeArrowheads="1"/>
          </p:cNvSpPr>
          <p:nvPr/>
        </p:nvSpPr>
        <p:spPr bwMode="gray">
          <a:xfrm>
            <a:off x="9973207" y="4339249"/>
            <a:ext cx="822325" cy="314325"/>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9850" tIns="34925" rIns="69850" bIns="3492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600" b="1" u="none">
                <a:latin typeface="微软雅黑" panose="020B0503020204020204" pitchFamily="34" charset="-122"/>
                <a:ea typeface="微软雅黑" panose="020B0503020204020204" pitchFamily="34" charset="-122"/>
              </a:rPr>
              <a:t>员工</a:t>
            </a:r>
            <a:endParaRPr kumimoji="1" lang="zh-CN" altLang="en-US" sz="1600" b="1" u="none">
              <a:latin typeface="微软雅黑" panose="020B0503020204020204" pitchFamily="34" charset="-122"/>
              <a:ea typeface="微软雅黑" panose="020B0503020204020204" pitchFamily="34" charset="-122"/>
            </a:endParaRPr>
          </a:p>
        </p:txBody>
      </p:sp>
      <p:grpSp>
        <p:nvGrpSpPr>
          <p:cNvPr id="24" name="Group 38"/>
          <p:cNvGrpSpPr/>
          <p:nvPr/>
        </p:nvGrpSpPr>
        <p:grpSpPr bwMode="auto">
          <a:xfrm>
            <a:off x="10060520" y="4644049"/>
            <a:ext cx="1311275" cy="1247775"/>
            <a:chOff x="2943" y="1612"/>
            <a:chExt cx="1061" cy="786"/>
          </a:xfrm>
        </p:grpSpPr>
        <p:sp>
          <p:nvSpPr>
            <p:cNvPr id="25" name="Rectangle 39"/>
            <p:cNvSpPr>
              <a:spLocks noChangeArrowheads="1"/>
            </p:cNvSpPr>
            <p:nvPr/>
          </p:nvSpPr>
          <p:spPr bwMode="gray">
            <a:xfrm>
              <a:off x="2943" y="1612"/>
              <a:ext cx="1061"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员工号</a:t>
              </a:r>
              <a:endParaRPr kumimoji="1" lang="zh-CN" altLang="en-US" sz="1400" b="1" u="none">
                <a:latin typeface="微软雅黑" panose="020B0503020204020204" pitchFamily="34" charset="-122"/>
                <a:ea typeface="微软雅黑" panose="020B0503020204020204" pitchFamily="34" charset="-122"/>
              </a:endParaRPr>
            </a:p>
          </p:txBody>
        </p:sp>
        <p:sp>
          <p:nvSpPr>
            <p:cNvPr id="26" name="Rectangle 40"/>
            <p:cNvSpPr>
              <a:spLocks noChangeArrowheads="1"/>
            </p:cNvSpPr>
            <p:nvPr/>
          </p:nvSpPr>
          <p:spPr bwMode="gray">
            <a:xfrm>
              <a:off x="2943" y="1802"/>
              <a:ext cx="1061" cy="59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部门号</a:t>
              </a:r>
              <a:r>
                <a:rPr kumimoji="1" lang="zh-TW" altLang="en-US" sz="1400" b="1" u="none">
                  <a:solidFill>
                    <a:srgbClr val="FFFF00"/>
                  </a:solidFill>
                  <a:latin typeface="微软雅黑" panose="020B0503020204020204" pitchFamily="34" charset="-122"/>
                  <a:ea typeface="微软雅黑" panose="020B0503020204020204" pitchFamily="34" charset="-122"/>
                </a:rPr>
                <a:t> </a:t>
              </a:r>
              <a:r>
                <a:rPr kumimoji="1" lang="en-US" altLang="zh-TW" sz="1400" b="1" u="none">
                  <a:solidFill>
                    <a:srgbClr val="FFFF00"/>
                  </a:solidFill>
                  <a:latin typeface="微软雅黑" panose="020B0503020204020204" pitchFamily="34" charset="-122"/>
                  <a:ea typeface="微软雅黑" panose="020B0503020204020204" pitchFamily="34" charset="-122"/>
                </a:rPr>
                <a:t>(FK)</a:t>
              </a:r>
              <a:endParaRPr kumimoji="1" lang="en-US" altLang="zh-TW" sz="14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员工姓名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员工地址</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员工电话</a:t>
              </a:r>
              <a:endParaRPr kumimoji="1" lang="zh-CN" altLang="en-US" sz="1400" b="1" u="none">
                <a:latin typeface="微软雅黑" panose="020B0503020204020204" pitchFamily="34" charset="-122"/>
                <a:ea typeface="微软雅黑" panose="020B0503020204020204" pitchFamily="34" charset="-122"/>
              </a:endParaRPr>
            </a:p>
          </p:txBody>
        </p:sp>
      </p:grpSp>
      <p:grpSp>
        <p:nvGrpSpPr>
          <p:cNvPr id="27" name="Group 41"/>
          <p:cNvGrpSpPr/>
          <p:nvPr/>
        </p:nvGrpSpPr>
        <p:grpSpPr bwMode="auto">
          <a:xfrm>
            <a:off x="8885770" y="4877411"/>
            <a:ext cx="1162050" cy="387350"/>
            <a:chOff x="2221" y="1703"/>
            <a:chExt cx="732" cy="244"/>
          </a:xfrm>
        </p:grpSpPr>
        <p:sp>
          <p:nvSpPr>
            <p:cNvPr id="28" name="Line 42"/>
            <p:cNvSpPr>
              <a:spLocks noChangeShapeType="1"/>
            </p:cNvSpPr>
            <p:nvPr/>
          </p:nvSpPr>
          <p:spPr bwMode="gray">
            <a:xfrm>
              <a:off x="2343" y="1891"/>
              <a:ext cx="544" cy="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9" name="Rectangle 43"/>
            <p:cNvSpPr>
              <a:spLocks noChangeArrowheads="1"/>
            </p:cNvSpPr>
            <p:nvPr/>
          </p:nvSpPr>
          <p:spPr bwMode="gray">
            <a:xfrm>
              <a:off x="2318" y="1703"/>
              <a:ext cx="545" cy="136"/>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400" u="none">
                  <a:latin typeface="微软雅黑" panose="020B0503020204020204" pitchFamily="34" charset="-122"/>
                  <a:ea typeface="微软雅黑" panose="020B0503020204020204" pitchFamily="34" charset="-122"/>
                </a:rPr>
                <a:t>聘用</a:t>
              </a:r>
              <a:r>
                <a:rPr kumimoji="1" lang="en-US" altLang="zh-CN" sz="1400" u="none">
                  <a:latin typeface="微软雅黑" panose="020B0503020204020204" pitchFamily="34" charset="-122"/>
                  <a:ea typeface="微软雅黑" panose="020B0503020204020204" pitchFamily="34" charset="-122"/>
                </a:rPr>
                <a:t>/</a:t>
              </a:r>
              <a:r>
                <a:rPr kumimoji="1" lang="zh-CN" altLang="en-US" sz="1400" u="none">
                  <a:latin typeface="微软雅黑" panose="020B0503020204020204" pitchFamily="34" charset="-122"/>
                  <a:ea typeface="微软雅黑" panose="020B0503020204020204" pitchFamily="34" charset="-122"/>
                </a:rPr>
                <a:t>属于</a:t>
              </a:r>
              <a:endParaRPr kumimoji="1" lang="zh-CN" altLang="en-US" sz="1400" u="none">
                <a:latin typeface="微软雅黑" panose="020B0503020204020204" pitchFamily="34" charset="-122"/>
                <a:ea typeface="微软雅黑" panose="020B0503020204020204" pitchFamily="34" charset="-122"/>
              </a:endParaRPr>
            </a:p>
          </p:txBody>
        </p:sp>
        <p:sp>
          <p:nvSpPr>
            <p:cNvPr id="30" name="Oval 44"/>
            <p:cNvSpPr>
              <a:spLocks noChangeArrowheads="1"/>
            </p:cNvSpPr>
            <p:nvPr/>
          </p:nvSpPr>
          <p:spPr bwMode="gray">
            <a:xfrm>
              <a:off x="2873" y="1855"/>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nvGrpSpPr>
            <p:cNvPr id="31" name="Group 45"/>
            <p:cNvGrpSpPr/>
            <p:nvPr/>
          </p:nvGrpSpPr>
          <p:grpSpPr bwMode="auto">
            <a:xfrm>
              <a:off x="2221" y="1839"/>
              <a:ext cx="118" cy="108"/>
              <a:chOff x="1646" y="2128"/>
              <a:chExt cx="118" cy="108"/>
            </a:xfrm>
          </p:grpSpPr>
          <p:grpSp>
            <p:nvGrpSpPr>
              <p:cNvPr id="32" name="Group 46"/>
              <p:cNvGrpSpPr/>
              <p:nvPr/>
            </p:nvGrpSpPr>
            <p:grpSpPr bwMode="auto">
              <a:xfrm>
                <a:off x="1646" y="2128"/>
                <a:ext cx="60" cy="108"/>
                <a:chOff x="1646" y="2128"/>
                <a:chExt cx="60" cy="108"/>
              </a:xfrm>
            </p:grpSpPr>
            <p:sp>
              <p:nvSpPr>
                <p:cNvPr id="36" name="Line 47"/>
                <p:cNvSpPr>
                  <a:spLocks noChangeShapeType="1"/>
                </p:cNvSpPr>
                <p:nvPr/>
              </p:nvSpPr>
              <p:spPr bwMode="gray">
                <a:xfrm flipV="1">
                  <a:off x="1647" y="2128"/>
                  <a:ext cx="56" cy="5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7" name="Line 48"/>
                <p:cNvSpPr>
                  <a:spLocks noChangeShapeType="1"/>
                </p:cNvSpPr>
                <p:nvPr/>
              </p:nvSpPr>
              <p:spPr bwMode="gray">
                <a:xfrm>
                  <a:off x="1646" y="2183"/>
                  <a:ext cx="60" cy="5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33" name="Group 49"/>
              <p:cNvGrpSpPr/>
              <p:nvPr/>
            </p:nvGrpSpPr>
            <p:grpSpPr bwMode="auto">
              <a:xfrm>
                <a:off x="1701" y="2128"/>
                <a:ext cx="63" cy="108"/>
                <a:chOff x="1701" y="2128"/>
                <a:chExt cx="63" cy="108"/>
              </a:xfrm>
            </p:grpSpPr>
            <p:sp>
              <p:nvSpPr>
                <p:cNvPr id="34" name="Line 50"/>
                <p:cNvSpPr>
                  <a:spLocks noChangeShapeType="1"/>
                </p:cNvSpPr>
                <p:nvPr/>
              </p:nvSpPr>
              <p:spPr bwMode="gray">
                <a:xfrm flipH="1" flipV="1">
                  <a:off x="1702" y="2128"/>
                  <a:ext cx="62" cy="5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5" name="Line 51"/>
                <p:cNvSpPr>
                  <a:spLocks noChangeShapeType="1"/>
                </p:cNvSpPr>
                <p:nvPr/>
              </p:nvSpPr>
              <p:spPr bwMode="gray">
                <a:xfrm flipH="1">
                  <a:off x="1701" y="2181"/>
                  <a:ext cx="61" cy="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sp>
        <p:nvSpPr>
          <p:cNvPr id="41" name="文本框 40"/>
          <p:cNvSpPr txBox="1"/>
          <p:nvPr/>
        </p:nvSpPr>
        <p:spPr>
          <a:xfrm>
            <a:off x="88010" y="2499319"/>
            <a:ext cx="3371728" cy="2723374"/>
          </a:xfrm>
          <a:prstGeom prst="rect">
            <a:avLst/>
          </a:prstGeom>
          <a:noFill/>
        </p:spPr>
        <p:txBody>
          <a:bodyPr wrap="square">
            <a:spAutoFit/>
          </a:bodyPr>
          <a:lstStyle/>
          <a:p>
            <a:pPr eaLnBrk="1" hangingPunct="1">
              <a:lnSpc>
                <a:spcPct val="120000"/>
              </a:lnSpc>
            </a:pPr>
            <a:r>
              <a:rPr lang="zh-CN" altLang="en-US" dirty="0">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非标识</a:t>
            </a:r>
            <a:r>
              <a:rPr lang="zh-CN" altLang="en-US" dirty="0">
                <a:latin typeface="微软雅黑" panose="020B0503020204020204" pitchFamily="34" charset="-122"/>
                <a:ea typeface="微软雅黑" panose="020B0503020204020204" pitchFamily="34" charset="-122"/>
              </a:rPr>
              <a:t>”关系（</a:t>
            </a:r>
            <a:r>
              <a:rPr lang="en-US" altLang="zh-CN" dirty="0">
                <a:solidFill>
                  <a:srgbClr val="C00000"/>
                </a:solidFill>
                <a:latin typeface="微软雅黑" panose="020B0503020204020204" pitchFamily="34" charset="-122"/>
                <a:ea typeface="微软雅黑" panose="020B0503020204020204" pitchFamily="34" charset="-122"/>
              </a:rPr>
              <a:t>Non-</a:t>
            </a:r>
            <a:r>
              <a:rPr lang="en-US" altLang="zh-TW" dirty="0">
                <a:solidFill>
                  <a:srgbClr val="C00000"/>
                </a:solidFill>
                <a:latin typeface="微软雅黑" panose="020B0503020204020204" pitchFamily="34" charset="-122"/>
                <a:ea typeface="微软雅黑" panose="020B0503020204020204" pitchFamily="34" charset="-122"/>
              </a:rPr>
              <a:t>Identifying Relationship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或称“非确定”关系</a:t>
            </a:r>
            <a:endParaRPr lang="en-US" altLang="zh-CN" dirty="0">
              <a:latin typeface="微软雅黑" panose="020B0503020204020204" pitchFamily="34" charset="-122"/>
              <a:ea typeface="微软雅黑" panose="020B0503020204020204" pitchFamily="34" charset="-122"/>
            </a:endParaRPr>
          </a:p>
          <a:p>
            <a:pPr marL="285750" indent="-285750" eaLnBrk="1" hangingPunct="1">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父</a:t>
            </a:r>
            <a:r>
              <a:rPr lang="zh-TW" altLang="en-US" dirty="0">
                <a:latin typeface="微软雅黑" panose="020B0503020204020204" pitchFamily="34" charset="-122"/>
                <a:ea typeface="微软雅黑" panose="020B0503020204020204" pitchFamily="34" charset="-122"/>
              </a:rPr>
              <a:t>实体主键</a:t>
            </a:r>
            <a:r>
              <a:rPr lang="zh-CN" altLang="en-US" dirty="0">
                <a:latin typeface="微软雅黑" panose="020B0503020204020204" pitchFamily="34" charset="-122"/>
                <a:ea typeface="微软雅黑" panose="020B0503020204020204" pitchFamily="34" charset="-122"/>
              </a:rPr>
              <a:t>贡献给</a:t>
            </a:r>
            <a:r>
              <a:rPr lang="zh-TW" altLang="en-US" dirty="0">
                <a:latin typeface="微软雅黑" panose="020B0503020204020204" pitchFamily="34" charset="-122"/>
                <a:ea typeface="微软雅黑" panose="020B0503020204020204" pitchFamily="34" charset="-122"/>
              </a:rPr>
              <a:t>子实体作为</a:t>
            </a:r>
            <a:r>
              <a:rPr lang="zh-CN" altLang="en-US" dirty="0">
                <a:latin typeface="微软雅黑" panose="020B0503020204020204" pitchFamily="34" charset="-122"/>
                <a:ea typeface="微软雅黑" panose="020B0503020204020204" pitchFamily="34" charset="-122"/>
              </a:rPr>
              <a:t>子实体</a:t>
            </a:r>
            <a:r>
              <a:rPr lang="zh-TW" altLang="en-US" dirty="0">
                <a:latin typeface="微软雅黑" panose="020B0503020204020204" pitchFamily="34" charset="-122"/>
                <a:ea typeface="微软雅黑" panose="020B0503020204020204" pitchFamily="34" charset="-122"/>
              </a:rPr>
              <a:t>非</a:t>
            </a:r>
            <a:r>
              <a:rPr lang="zh-CN" altLang="en-US" dirty="0">
                <a:latin typeface="微软雅黑" panose="020B0503020204020204" pitchFamily="34" charset="-122"/>
                <a:ea typeface="微软雅黑" panose="020B0503020204020204" pitchFamily="34" charset="-122"/>
              </a:rPr>
              <a:t>主</a:t>
            </a:r>
            <a:r>
              <a:rPr lang="zh-TW" altLang="en-US" dirty="0">
                <a:latin typeface="微软雅黑" panose="020B0503020204020204" pitchFamily="34" charset="-122"/>
                <a:ea typeface="微软雅黑" panose="020B0503020204020204" pitchFamily="34" charset="-122"/>
              </a:rPr>
              <a:t>键属性</a:t>
            </a:r>
            <a:r>
              <a:rPr lang="en-US" altLang="zh-TW" dirty="0">
                <a:latin typeface="微软雅黑" panose="020B0503020204020204" pitchFamily="34" charset="-122"/>
                <a:ea typeface="微软雅黑" panose="020B0503020204020204" pitchFamily="34" charset="-122"/>
              </a:rPr>
              <a:t>(</a:t>
            </a:r>
            <a:r>
              <a:rPr lang="zh-TW" altLang="en-US" dirty="0">
                <a:latin typeface="微软雅黑" panose="020B0503020204020204" pitchFamily="34" charset="-122"/>
                <a:ea typeface="微软雅黑" panose="020B0503020204020204" pitchFamily="34" charset="-122"/>
              </a:rPr>
              <a:t>非</a:t>
            </a:r>
            <a:r>
              <a:rPr lang="en-US" altLang="zh-TW" dirty="0">
                <a:latin typeface="微软雅黑" panose="020B0503020204020204" pitchFamily="34" charset="-122"/>
                <a:ea typeface="微软雅黑" panose="020B0503020204020204" pitchFamily="34" charset="-122"/>
              </a:rPr>
              <a:t>PK) </a:t>
            </a:r>
            <a:r>
              <a:rPr lang="zh-CN" altLang="en-US" dirty="0">
                <a:latin typeface="微软雅黑" panose="020B0503020204020204" pitchFamily="34" charset="-122"/>
                <a:ea typeface="微软雅黑" panose="020B0503020204020204" pitchFamily="34" charset="-122"/>
              </a:rPr>
              <a:t>的一部分。</a:t>
            </a:r>
            <a:endParaRPr lang="en-US" altLang="zh-CN" dirty="0">
              <a:latin typeface="微软雅黑" panose="020B0503020204020204" pitchFamily="34" charset="-122"/>
              <a:ea typeface="微软雅黑" panose="020B0503020204020204" pitchFamily="34" charset="-122"/>
            </a:endParaRPr>
          </a:p>
          <a:p>
            <a:pPr marL="285750" indent="-285750" eaLnBrk="1" hangingPunct="1">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有两种非标识关系：</a:t>
            </a:r>
            <a:r>
              <a:rPr lang="zh-CN" altLang="en-US" b="1" dirty="0">
                <a:solidFill>
                  <a:srgbClr val="C00000"/>
                </a:solidFill>
                <a:latin typeface="微软雅黑" panose="020B0503020204020204" pitchFamily="34" charset="-122"/>
                <a:ea typeface="微软雅黑" panose="020B0503020204020204" pitchFamily="34" charset="-122"/>
              </a:rPr>
              <a:t>强制性的</a:t>
            </a:r>
            <a:r>
              <a:rPr lang="zh-CN" altLang="en-US" dirty="0">
                <a:latin typeface="微软雅黑" panose="020B0503020204020204" pitchFamily="34" charset="-122"/>
                <a:ea typeface="微软雅黑" panose="020B0503020204020204" pitchFamily="34" charset="-122"/>
              </a:rPr>
              <a:t>和</a:t>
            </a:r>
            <a:r>
              <a:rPr lang="zh-CN" altLang="en-US" b="1" dirty="0">
                <a:solidFill>
                  <a:srgbClr val="C00000"/>
                </a:solidFill>
                <a:latin typeface="微软雅黑" panose="020B0503020204020204" pitchFamily="34" charset="-122"/>
                <a:ea typeface="微软雅黑" panose="020B0503020204020204" pitchFamily="34" charset="-122"/>
              </a:rPr>
              <a:t>非强制性的</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en-US" altLang="zh-CN" dirty="0"/>
          </a:p>
          <a:p>
            <a:pPr lvl="1">
              <a:lnSpc>
                <a:spcPct val="150000"/>
              </a:lnSpc>
            </a:pPr>
            <a:r>
              <a:rPr lang="zh-CN" altLang="en-US" dirty="0"/>
              <a:t>非标识关系的例子：预订航班座位</a:t>
            </a:r>
            <a:endParaRPr lang="zh-CN" altLang="en-US" dirty="0"/>
          </a:p>
          <a:p>
            <a:pPr marL="457200" lvl="1" indent="0">
              <a:lnSpc>
                <a:spcPct val="150000"/>
              </a:lnSpc>
              <a:buNone/>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sp>
        <p:nvSpPr>
          <p:cNvPr id="6" name="Text Box 4"/>
          <p:cNvSpPr txBox="1">
            <a:spLocks noChangeArrowheads="1"/>
          </p:cNvSpPr>
          <p:nvPr/>
        </p:nvSpPr>
        <p:spPr bwMode="auto">
          <a:xfrm>
            <a:off x="2786795" y="5667375"/>
            <a:ext cx="208756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i="1" u="none">
                <a:latin typeface="微软雅黑" panose="020B0503020204020204" pitchFamily="34" charset="-122"/>
                <a:ea typeface="微软雅黑" panose="020B0503020204020204" pitchFamily="34" charset="-122"/>
              </a:rPr>
              <a:t>每一次飞行中，座位由哪个乘客坐是变化的，所以乘客不能作为主键</a:t>
            </a:r>
            <a:endParaRPr lang="zh-CN" altLang="en-US" sz="1800" i="1" u="none">
              <a:latin typeface="微软雅黑" panose="020B0503020204020204" pitchFamily="34" charset="-122"/>
              <a:ea typeface="微软雅黑" panose="020B0503020204020204" pitchFamily="34" charset="-122"/>
            </a:endParaRPr>
          </a:p>
        </p:txBody>
      </p:sp>
      <p:grpSp>
        <p:nvGrpSpPr>
          <p:cNvPr id="7" name="Group 5"/>
          <p:cNvGrpSpPr/>
          <p:nvPr/>
        </p:nvGrpSpPr>
        <p:grpSpPr bwMode="auto">
          <a:xfrm>
            <a:off x="4658457" y="2498725"/>
            <a:ext cx="3889375" cy="3989387"/>
            <a:chOff x="1428" y="1389"/>
            <a:chExt cx="2450" cy="2513"/>
          </a:xfrm>
        </p:grpSpPr>
        <p:sp>
          <p:nvSpPr>
            <p:cNvPr id="8" name="Rectangle 6"/>
            <p:cNvSpPr>
              <a:spLocks noChangeArrowheads="1"/>
            </p:cNvSpPr>
            <p:nvPr/>
          </p:nvSpPr>
          <p:spPr bwMode="gray">
            <a:xfrm>
              <a:off x="1428" y="1616"/>
              <a:ext cx="635"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身份证号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9" name="Rectangle 7"/>
            <p:cNvSpPr>
              <a:spLocks noChangeArrowheads="1"/>
            </p:cNvSpPr>
            <p:nvPr/>
          </p:nvSpPr>
          <p:spPr bwMode="gray">
            <a:xfrm>
              <a:off x="1428" y="1806"/>
              <a:ext cx="635"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姓名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地址</a:t>
              </a:r>
              <a:r>
                <a:rPr kumimoji="1" lang="zh-TW" altLang="en-US" sz="900" b="1" u="none">
                  <a:latin typeface="微软雅黑" panose="020B0503020204020204" pitchFamily="34" charset="-122"/>
                  <a:ea typeface="微软雅黑" panose="020B0503020204020204" pitchFamily="34" charset="-122"/>
                </a:rPr>
                <a:t> </a:t>
              </a:r>
              <a:endParaRPr kumimoji="1" lang="zh-TW" altLang="en-US" sz="9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电话</a:t>
              </a:r>
              <a:endParaRPr kumimoji="1" lang="zh-CN" altLang="en-US" sz="1400" b="1" u="none">
                <a:latin typeface="微软雅黑" panose="020B0503020204020204" pitchFamily="34" charset="-122"/>
                <a:ea typeface="微软雅黑" panose="020B0503020204020204" pitchFamily="34" charset="-122"/>
              </a:endParaRPr>
            </a:p>
          </p:txBody>
        </p:sp>
        <p:sp>
          <p:nvSpPr>
            <p:cNvPr id="10" name="Text Box 8"/>
            <p:cNvSpPr txBox="1">
              <a:spLocks noChangeArrowheads="1"/>
            </p:cNvSpPr>
            <p:nvPr/>
          </p:nvSpPr>
          <p:spPr bwMode="auto">
            <a:xfrm>
              <a:off x="1428" y="1389"/>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乘客</a:t>
              </a:r>
              <a:endParaRPr lang="zh-CN" altLang="en-US" sz="1800" u="none">
                <a:latin typeface="微软雅黑" panose="020B0503020204020204" pitchFamily="34" charset="-122"/>
                <a:ea typeface="微软雅黑" panose="020B0503020204020204" pitchFamily="34" charset="-122"/>
              </a:endParaRPr>
            </a:p>
          </p:txBody>
        </p:sp>
        <p:sp>
          <p:nvSpPr>
            <p:cNvPr id="11" name="Rectangle 9"/>
            <p:cNvSpPr>
              <a:spLocks noChangeArrowheads="1"/>
            </p:cNvSpPr>
            <p:nvPr/>
          </p:nvSpPr>
          <p:spPr bwMode="gray">
            <a:xfrm>
              <a:off x="3016" y="1616"/>
              <a:ext cx="862"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航班号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12" name="Rectangle 10"/>
            <p:cNvSpPr>
              <a:spLocks noChangeArrowheads="1"/>
            </p:cNvSpPr>
            <p:nvPr/>
          </p:nvSpPr>
          <p:spPr bwMode="gray">
            <a:xfrm>
              <a:off x="3016" y="1813"/>
              <a:ext cx="862" cy="328"/>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机型</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起飞时间</a:t>
              </a:r>
              <a:endParaRPr kumimoji="1" lang="zh-CN" altLang="en-US" sz="1400" b="1" u="none">
                <a:latin typeface="微软雅黑" panose="020B0503020204020204" pitchFamily="34" charset="-122"/>
                <a:ea typeface="微软雅黑" panose="020B0503020204020204" pitchFamily="34" charset="-122"/>
              </a:endParaRPr>
            </a:p>
          </p:txBody>
        </p:sp>
        <p:sp>
          <p:nvSpPr>
            <p:cNvPr id="13" name="Text Box 11"/>
            <p:cNvSpPr txBox="1">
              <a:spLocks noChangeArrowheads="1"/>
            </p:cNvSpPr>
            <p:nvPr/>
          </p:nvSpPr>
          <p:spPr bwMode="auto">
            <a:xfrm>
              <a:off x="3016" y="1389"/>
              <a:ext cx="6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航班号</a:t>
              </a:r>
              <a:endParaRPr lang="zh-CN" altLang="en-US" sz="1800" u="none">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gray">
            <a:xfrm flipH="1">
              <a:off x="1746" y="2387"/>
              <a:ext cx="0" cy="227"/>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 name="Oval 13"/>
            <p:cNvSpPr>
              <a:spLocks noChangeArrowheads="1"/>
            </p:cNvSpPr>
            <p:nvPr/>
          </p:nvSpPr>
          <p:spPr bwMode="gray">
            <a:xfrm>
              <a:off x="2381" y="2931"/>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nvGrpSpPr>
            <p:cNvPr id="16" name="Group 14"/>
            <p:cNvGrpSpPr/>
            <p:nvPr/>
          </p:nvGrpSpPr>
          <p:grpSpPr bwMode="auto">
            <a:xfrm>
              <a:off x="1685" y="2279"/>
              <a:ext cx="118" cy="108"/>
              <a:chOff x="1646" y="2128"/>
              <a:chExt cx="118" cy="108"/>
            </a:xfrm>
          </p:grpSpPr>
          <p:grpSp>
            <p:nvGrpSpPr>
              <p:cNvPr id="29" name="Group 15"/>
              <p:cNvGrpSpPr/>
              <p:nvPr/>
            </p:nvGrpSpPr>
            <p:grpSpPr bwMode="auto">
              <a:xfrm>
                <a:off x="1646" y="2128"/>
                <a:ext cx="60" cy="108"/>
                <a:chOff x="1646" y="2128"/>
                <a:chExt cx="60" cy="108"/>
              </a:xfrm>
            </p:grpSpPr>
            <p:sp>
              <p:nvSpPr>
                <p:cNvPr id="33" name="Line 16"/>
                <p:cNvSpPr>
                  <a:spLocks noChangeShapeType="1"/>
                </p:cNvSpPr>
                <p:nvPr/>
              </p:nvSpPr>
              <p:spPr bwMode="gray">
                <a:xfrm flipV="1">
                  <a:off x="1647" y="2128"/>
                  <a:ext cx="56" cy="5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4" name="Line 17"/>
                <p:cNvSpPr>
                  <a:spLocks noChangeShapeType="1"/>
                </p:cNvSpPr>
                <p:nvPr/>
              </p:nvSpPr>
              <p:spPr bwMode="gray">
                <a:xfrm>
                  <a:off x="1646" y="2183"/>
                  <a:ext cx="60" cy="5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30" name="Group 18"/>
              <p:cNvGrpSpPr/>
              <p:nvPr/>
            </p:nvGrpSpPr>
            <p:grpSpPr bwMode="auto">
              <a:xfrm>
                <a:off x="1701" y="2128"/>
                <a:ext cx="63" cy="108"/>
                <a:chOff x="1701" y="2128"/>
                <a:chExt cx="63" cy="108"/>
              </a:xfrm>
            </p:grpSpPr>
            <p:sp>
              <p:nvSpPr>
                <p:cNvPr id="31" name="Line 19"/>
                <p:cNvSpPr>
                  <a:spLocks noChangeShapeType="1"/>
                </p:cNvSpPr>
                <p:nvPr/>
              </p:nvSpPr>
              <p:spPr bwMode="gray">
                <a:xfrm flipH="1" flipV="1">
                  <a:off x="1702" y="2128"/>
                  <a:ext cx="62" cy="5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2" name="Line 20"/>
                <p:cNvSpPr>
                  <a:spLocks noChangeShapeType="1"/>
                </p:cNvSpPr>
                <p:nvPr/>
              </p:nvSpPr>
              <p:spPr bwMode="gray">
                <a:xfrm flipH="1">
                  <a:off x="1701" y="2181"/>
                  <a:ext cx="61" cy="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17" name="Rectangle 21"/>
            <p:cNvSpPr>
              <a:spLocks noChangeArrowheads="1"/>
            </p:cNvSpPr>
            <p:nvPr/>
          </p:nvSpPr>
          <p:spPr bwMode="gray">
            <a:xfrm>
              <a:off x="2200" y="3249"/>
              <a:ext cx="862"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座位号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日期</a:t>
              </a:r>
              <a:endParaRPr kumimoji="1" lang="zh-CN" altLang="en-US" sz="14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航班号</a:t>
              </a:r>
              <a:r>
                <a:rPr kumimoji="1" lang="en-US" altLang="zh-CN" sz="1400" b="1" u="none">
                  <a:solidFill>
                    <a:srgbClr val="FFFF00"/>
                  </a:solidFill>
                  <a:latin typeface="微软雅黑" panose="020B0503020204020204" pitchFamily="34" charset="-122"/>
                  <a:ea typeface="微软雅黑" panose="020B0503020204020204" pitchFamily="34" charset="-122"/>
                </a:rPr>
                <a:t>(FK)</a:t>
              </a:r>
              <a:endParaRPr kumimoji="1" lang="en-US" altLang="zh-CN" sz="1400" b="1" u="none">
                <a:solidFill>
                  <a:srgbClr val="FFFF00"/>
                </a:solidFill>
                <a:latin typeface="微软雅黑" panose="020B0503020204020204" pitchFamily="34" charset="-122"/>
                <a:ea typeface="微软雅黑" panose="020B0503020204020204" pitchFamily="34" charset="-122"/>
              </a:endParaRPr>
            </a:p>
          </p:txBody>
        </p:sp>
        <p:sp>
          <p:nvSpPr>
            <p:cNvPr id="18" name="Rectangle 22"/>
            <p:cNvSpPr>
              <a:spLocks noChangeArrowheads="1"/>
            </p:cNvSpPr>
            <p:nvPr/>
          </p:nvSpPr>
          <p:spPr bwMode="gray">
            <a:xfrm>
              <a:off x="2200" y="3708"/>
              <a:ext cx="862"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身份证号</a:t>
              </a:r>
              <a:r>
                <a:rPr kumimoji="1" lang="en-US" altLang="zh-CN" sz="1400" b="1" u="none">
                  <a:latin typeface="微软雅黑" panose="020B0503020204020204" pitchFamily="34" charset="-122"/>
                  <a:ea typeface="微软雅黑" panose="020B0503020204020204" pitchFamily="34" charset="-122"/>
                </a:rPr>
                <a:t>(FK)</a:t>
              </a:r>
              <a:endParaRPr kumimoji="1" lang="en-US" altLang="zh-CN" sz="1400" b="1" u="none">
                <a:latin typeface="微软雅黑" panose="020B0503020204020204" pitchFamily="34" charset="-122"/>
                <a:ea typeface="微软雅黑" panose="020B0503020204020204" pitchFamily="34" charset="-122"/>
              </a:endParaRPr>
            </a:p>
          </p:txBody>
        </p:sp>
        <p:sp>
          <p:nvSpPr>
            <p:cNvPr id="19" name="Oval 23"/>
            <p:cNvSpPr>
              <a:spLocks noChangeArrowheads="1"/>
            </p:cNvSpPr>
            <p:nvPr/>
          </p:nvSpPr>
          <p:spPr bwMode="gray">
            <a:xfrm>
              <a:off x="2797" y="2931"/>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20" name="Line 24"/>
            <p:cNvSpPr>
              <a:spLocks noChangeShapeType="1"/>
            </p:cNvSpPr>
            <p:nvPr/>
          </p:nvSpPr>
          <p:spPr bwMode="auto">
            <a:xfrm>
              <a:off x="3424" y="2160"/>
              <a:ext cx="0" cy="40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 name="Line 25"/>
            <p:cNvSpPr>
              <a:spLocks noChangeShapeType="1"/>
            </p:cNvSpPr>
            <p:nvPr/>
          </p:nvSpPr>
          <p:spPr bwMode="auto">
            <a:xfrm flipH="1">
              <a:off x="2835" y="2568"/>
              <a:ext cx="58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Line 26"/>
            <p:cNvSpPr>
              <a:spLocks noChangeShapeType="1"/>
            </p:cNvSpPr>
            <p:nvPr/>
          </p:nvSpPr>
          <p:spPr bwMode="auto">
            <a:xfrm>
              <a:off x="2835" y="2568"/>
              <a:ext cx="0" cy="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 name="Line 27"/>
            <p:cNvSpPr>
              <a:spLocks noChangeShapeType="1"/>
            </p:cNvSpPr>
            <p:nvPr/>
          </p:nvSpPr>
          <p:spPr bwMode="gray">
            <a:xfrm>
              <a:off x="1746" y="2614"/>
              <a:ext cx="680" cy="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4" name="Line 28"/>
            <p:cNvSpPr>
              <a:spLocks noChangeShapeType="1"/>
            </p:cNvSpPr>
            <p:nvPr/>
          </p:nvSpPr>
          <p:spPr bwMode="gray">
            <a:xfrm flipH="1">
              <a:off x="2426" y="2614"/>
              <a:ext cx="0" cy="317"/>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5" name="Text Box 29"/>
            <p:cNvSpPr txBox="1">
              <a:spLocks noChangeArrowheads="1"/>
            </p:cNvSpPr>
            <p:nvPr/>
          </p:nvSpPr>
          <p:spPr bwMode="auto">
            <a:xfrm>
              <a:off x="1927" y="2387"/>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占据</a:t>
              </a:r>
              <a:endParaRPr lang="zh-CN" altLang="en-US" sz="1800" u="none">
                <a:latin typeface="微软雅黑" panose="020B0503020204020204" pitchFamily="34" charset="-122"/>
                <a:ea typeface="微软雅黑" panose="020B0503020204020204" pitchFamily="34" charset="-122"/>
              </a:endParaRPr>
            </a:p>
          </p:txBody>
        </p:sp>
        <p:sp>
          <p:nvSpPr>
            <p:cNvPr id="26" name="Text Box 30"/>
            <p:cNvSpPr txBox="1">
              <a:spLocks noChangeArrowheads="1"/>
            </p:cNvSpPr>
            <p:nvPr/>
          </p:nvSpPr>
          <p:spPr bwMode="auto">
            <a:xfrm>
              <a:off x="2200" y="3022"/>
              <a:ext cx="45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座位</a:t>
              </a:r>
              <a:endParaRPr lang="zh-CN" altLang="en-US" sz="1800" u="none">
                <a:latin typeface="微软雅黑" panose="020B0503020204020204" pitchFamily="34" charset="-122"/>
                <a:ea typeface="微软雅黑" panose="020B0503020204020204" pitchFamily="34" charset="-122"/>
              </a:endParaRPr>
            </a:p>
          </p:txBody>
        </p:sp>
        <p:sp>
          <p:nvSpPr>
            <p:cNvPr id="27" name="Text Box 31"/>
            <p:cNvSpPr txBox="1">
              <a:spLocks noChangeArrowheads="1"/>
            </p:cNvSpPr>
            <p:nvPr/>
          </p:nvSpPr>
          <p:spPr bwMode="auto">
            <a:xfrm>
              <a:off x="2835" y="2341"/>
              <a:ext cx="5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已预订</a:t>
              </a:r>
              <a:endParaRPr lang="zh-CN" altLang="en-US" sz="1800" u="none">
                <a:latin typeface="微软雅黑" panose="020B0503020204020204" pitchFamily="34" charset="-122"/>
                <a:ea typeface="微软雅黑" panose="020B0503020204020204" pitchFamily="34" charset="-122"/>
              </a:endParaRPr>
            </a:p>
          </p:txBody>
        </p:sp>
        <p:sp>
          <p:nvSpPr>
            <p:cNvPr id="28" name="Line 32"/>
            <p:cNvSpPr>
              <a:spLocks noChangeShapeType="1"/>
            </p:cNvSpPr>
            <p:nvPr/>
          </p:nvSpPr>
          <p:spPr bwMode="auto">
            <a:xfrm>
              <a:off x="1610" y="3838"/>
              <a:ext cx="499" cy="0"/>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en-US" altLang="zh-CN" dirty="0"/>
          </a:p>
          <a:p>
            <a:pPr lvl="1"/>
            <a:r>
              <a:rPr lang="zh-CN" altLang="en-US" dirty="0"/>
              <a:t>多对多的关系（</a:t>
            </a:r>
            <a:r>
              <a:rPr lang="en-US" altLang="zh-CN" dirty="0"/>
              <a:t>M:N</a:t>
            </a:r>
            <a:r>
              <a:rPr lang="zh-CN" altLang="en-US" dirty="0"/>
              <a:t>）</a:t>
            </a:r>
            <a:endParaRPr lang="zh-CN" altLang="en-US" dirty="0"/>
          </a:p>
          <a:p>
            <a:pPr lvl="2"/>
            <a:r>
              <a:rPr lang="zh-CN" altLang="en-US" dirty="0"/>
              <a:t>是</a:t>
            </a:r>
            <a:r>
              <a:rPr lang="zh-TW" altLang="en-US" dirty="0"/>
              <a:t>一种不确定</a:t>
            </a:r>
            <a:r>
              <a:rPr lang="zh-CN" altLang="en-US" dirty="0"/>
              <a:t>的关</a:t>
            </a:r>
            <a:r>
              <a:rPr lang="zh-TW" altLang="en-US" dirty="0"/>
              <a:t>系</a:t>
            </a:r>
            <a:endParaRPr lang="zh-TW" altLang="zh-CN" dirty="0"/>
          </a:p>
          <a:p>
            <a:pPr lvl="3"/>
            <a:r>
              <a:rPr lang="zh-TW" altLang="en-US" dirty="0"/>
              <a:t>主键并不</a:t>
            </a:r>
            <a:r>
              <a:rPr lang="zh-CN" altLang="en-US" dirty="0"/>
              <a:t>贡献给子</a:t>
            </a:r>
            <a:r>
              <a:rPr lang="zh-TW" altLang="en-US" dirty="0"/>
              <a:t>实体做为外键</a:t>
            </a:r>
            <a:endParaRPr lang="zh-TW" altLang="zh-CN" dirty="0"/>
          </a:p>
          <a:p>
            <a:pPr lvl="2"/>
            <a:r>
              <a:rPr lang="zh-TW" altLang="en-US" dirty="0"/>
              <a:t>必须有两种动词</a:t>
            </a:r>
            <a:r>
              <a:rPr lang="zh-CN" altLang="en-US" dirty="0"/>
              <a:t>来描述实体之间的关系</a:t>
            </a:r>
            <a:endParaRPr lang="en-US" altLang="zh-CN" dirty="0"/>
          </a:p>
          <a:p>
            <a:pPr lvl="2"/>
            <a:endParaRPr lang="en-US" altLang="zh-CN" dirty="0"/>
          </a:p>
          <a:p>
            <a:pPr lvl="2"/>
            <a:endParaRPr lang="en-US" altLang="zh-CN" dirty="0"/>
          </a:p>
          <a:p>
            <a:pPr lvl="2"/>
            <a:endParaRPr lang="en-US" altLang="zh-CN" dirty="0"/>
          </a:p>
          <a:p>
            <a:pPr lvl="2"/>
            <a:r>
              <a:rPr lang="zh-CN" altLang="en-US" dirty="0"/>
              <a:t>转化为关系模型时要转化为两个一对多</a:t>
            </a:r>
            <a:r>
              <a:rPr lang="en-US" altLang="zh-CN" dirty="0"/>
              <a:t>(1:N)</a:t>
            </a:r>
            <a:r>
              <a:rPr lang="zh-CN" altLang="en-US" dirty="0"/>
              <a:t>关系</a:t>
            </a:r>
            <a:endParaRPr lang="zh-CN" altLang="en-US" dirty="0"/>
          </a:p>
          <a:p>
            <a:pPr marL="914400" lvl="2" indent="0">
              <a:buNone/>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grpSp>
        <p:nvGrpSpPr>
          <p:cNvPr id="6" name="Group 4"/>
          <p:cNvGrpSpPr/>
          <p:nvPr/>
        </p:nvGrpSpPr>
        <p:grpSpPr bwMode="auto">
          <a:xfrm>
            <a:off x="3110347" y="3963060"/>
            <a:ext cx="5170487" cy="635000"/>
            <a:chOff x="1112" y="3385"/>
            <a:chExt cx="3257" cy="400"/>
          </a:xfrm>
        </p:grpSpPr>
        <p:sp>
          <p:nvSpPr>
            <p:cNvPr id="7" name="Rectangle 5"/>
            <p:cNvSpPr>
              <a:spLocks noChangeArrowheads="1"/>
            </p:cNvSpPr>
            <p:nvPr/>
          </p:nvSpPr>
          <p:spPr bwMode="auto">
            <a:xfrm>
              <a:off x="2290" y="3385"/>
              <a:ext cx="104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038" rIns="0" bIns="46038"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600" b="1" u="none">
                  <a:latin typeface="Arial" panose="020B0604020202020204" pitchFamily="34" charset="0"/>
                  <a:ea typeface="PMingLiU" panose="02020500000000000000" pitchFamily="18" charset="-120"/>
                </a:rPr>
                <a:t>订购自 </a:t>
              </a:r>
              <a:r>
                <a:rPr kumimoji="1" lang="en-US" altLang="zh-TW" sz="1600" b="1" u="none">
                  <a:latin typeface="Arial" panose="020B0604020202020204" pitchFamily="34" charset="0"/>
                  <a:ea typeface="PMingLiU" panose="02020500000000000000" pitchFamily="18" charset="-120"/>
                </a:rPr>
                <a:t>/</a:t>
              </a:r>
              <a:r>
                <a:rPr kumimoji="1" lang="en-US" altLang="zh-CN" sz="1600" b="1" u="none">
                  <a:latin typeface="Arial" panose="020B0604020202020204" pitchFamily="34" charset="0"/>
                  <a:ea typeface="PMingLiU" panose="02020500000000000000" pitchFamily="18" charset="-120"/>
                </a:rPr>
                <a:t> </a:t>
              </a:r>
              <a:r>
                <a:rPr kumimoji="1" lang="zh-CN" altLang="en-US" sz="1600" b="1" u="none">
                  <a:latin typeface="Arial" panose="020B0604020202020204" pitchFamily="34" charset="0"/>
                  <a:ea typeface="PMingLiU" panose="02020500000000000000" pitchFamily="18" charset="-120"/>
                </a:rPr>
                <a:t>提供</a:t>
              </a:r>
              <a:endParaRPr kumimoji="1" lang="zh-TW" altLang="en-US" sz="1600" b="1" u="none">
                <a:latin typeface="Arial" panose="020B0604020202020204" pitchFamily="34" charset="0"/>
                <a:ea typeface="PMingLiU" panose="02020500000000000000" pitchFamily="18" charset="-120"/>
              </a:endParaRPr>
            </a:p>
          </p:txBody>
        </p:sp>
        <p:sp>
          <p:nvSpPr>
            <p:cNvPr id="8" name="Rectangle 6"/>
            <p:cNvSpPr>
              <a:spLocks noChangeArrowheads="1"/>
            </p:cNvSpPr>
            <p:nvPr/>
          </p:nvSpPr>
          <p:spPr bwMode="auto">
            <a:xfrm>
              <a:off x="1112" y="3432"/>
              <a:ext cx="673" cy="353"/>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562" tIns="136525" rIns="182562" bIns="13652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800" b="1" u="none">
                  <a:latin typeface="Arial" panose="020B0604020202020204" pitchFamily="34" charset="0"/>
                </a:rPr>
                <a:t>零部件</a:t>
              </a:r>
              <a:endParaRPr kumimoji="1" lang="zh-CN" altLang="en-US" sz="1800" b="1" u="none">
                <a:latin typeface="Arial" panose="020B0604020202020204" pitchFamily="34" charset="0"/>
              </a:endParaRPr>
            </a:p>
          </p:txBody>
        </p:sp>
        <p:sp>
          <p:nvSpPr>
            <p:cNvPr id="9" name="Rectangle 7"/>
            <p:cNvSpPr>
              <a:spLocks noChangeArrowheads="1"/>
            </p:cNvSpPr>
            <p:nvPr/>
          </p:nvSpPr>
          <p:spPr bwMode="auto">
            <a:xfrm>
              <a:off x="3696" y="3430"/>
              <a:ext cx="673" cy="353"/>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562" tIns="136525" rIns="182562" bIns="13652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800" b="1" u="none">
                  <a:latin typeface="Arial" panose="020B0604020202020204" pitchFamily="34" charset="0"/>
                </a:rPr>
                <a:t>供应商</a:t>
              </a:r>
              <a:endParaRPr kumimoji="1" lang="zh-CN" altLang="en-US" sz="1800" b="1" u="none">
                <a:latin typeface="Arial" panose="020B0604020202020204" pitchFamily="34" charset="0"/>
              </a:endParaRPr>
            </a:p>
          </p:txBody>
        </p:sp>
        <p:grpSp>
          <p:nvGrpSpPr>
            <p:cNvPr id="10" name="Group 8"/>
            <p:cNvGrpSpPr/>
            <p:nvPr/>
          </p:nvGrpSpPr>
          <p:grpSpPr bwMode="auto">
            <a:xfrm>
              <a:off x="1791" y="3566"/>
              <a:ext cx="1899" cy="77"/>
              <a:chOff x="1217" y="2260"/>
              <a:chExt cx="1899" cy="77"/>
            </a:xfrm>
          </p:grpSpPr>
          <p:sp>
            <p:nvSpPr>
              <p:cNvPr id="11" name="Line 9"/>
              <p:cNvSpPr>
                <a:spLocks noChangeShapeType="1"/>
              </p:cNvSpPr>
              <p:nvPr/>
            </p:nvSpPr>
            <p:spPr bwMode="auto">
              <a:xfrm flipV="1">
                <a:off x="1237" y="2298"/>
                <a:ext cx="1865" cy="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0"/>
              <p:cNvSpPr>
                <a:spLocks noChangeArrowheads="1"/>
              </p:cNvSpPr>
              <p:nvPr/>
            </p:nvSpPr>
            <p:spPr bwMode="auto">
              <a:xfrm>
                <a:off x="1217" y="2260"/>
                <a:ext cx="75"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sp>
            <p:nvSpPr>
              <p:cNvPr id="13" name="Oval 11"/>
              <p:cNvSpPr>
                <a:spLocks noChangeArrowheads="1"/>
              </p:cNvSpPr>
              <p:nvPr/>
            </p:nvSpPr>
            <p:spPr bwMode="auto">
              <a:xfrm>
                <a:off x="3041" y="2260"/>
                <a:ext cx="75"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Arial" panose="020B0604020202020204" pitchFamily="34" charset="0"/>
                </a:endParaRPr>
              </a:p>
            </p:txBody>
          </p:sp>
        </p:gr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en-US" altLang="zh-CN" dirty="0"/>
          </a:p>
          <a:p>
            <a:pPr lvl="1"/>
            <a:r>
              <a:rPr lang="zh-CN" altLang="en-US" i="1" dirty="0"/>
              <a:t>多对多关系的例子：学生选课</a:t>
            </a:r>
            <a:endParaRPr lang="zh-CN" altLang="en-US" i="1" dirty="0"/>
          </a:p>
          <a:p>
            <a:pPr lvl="1"/>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grpSp>
        <p:nvGrpSpPr>
          <p:cNvPr id="14" name="Group 4"/>
          <p:cNvGrpSpPr/>
          <p:nvPr/>
        </p:nvGrpSpPr>
        <p:grpSpPr bwMode="auto">
          <a:xfrm>
            <a:off x="3260872" y="2563019"/>
            <a:ext cx="5040313" cy="1401762"/>
            <a:chOff x="884" y="1389"/>
            <a:chExt cx="3175" cy="883"/>
          </a:xfrm>
        </p:grpSpPr>
        <p:sp>
          <p:nvSpPr>
            <p:cNvPr id="15" name="Rectangle 5"/>
            <p:cNvSpPr>
              <a:spLocks noChangeArrowheads="1"/>
            </p:cNvSpPr>
            <p:nvPr/>
          </p:nvSpPr>
          <p:spPr bwMode="gray">
            <a:xfrm>
              <a:off x="884" y="1616"/>
              <a:ext cx="635"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学号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16" name="Rectangle 6"/>
            <p:cNvSpPr>
              <a:spLocks noChangeArrowheads="1"/>
            </p:cNvSpPr>
            <p:nvPr/>
          </p:nvSpPr>
          <p:spPr bwMode="gray">
            <a:xfrm>
              <a:off x="884" y="1806"/>
              <a:ext cx="635"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姓名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性别</a:t>
              </a:r>
              <a:r>
                <a:rPr kumimoji="1" lang="zh-TW" altLang="en-US" sz="900" b="1" u="none">
                  <a:latin typeface="微软雅黑" panose="020B0503020204020204" pitchFamily="34" charset="-122"/>
                  <a:ea typeface="微软雅黑" panose="020B0503020204020204" pitchFamily="34" charset="-122"/>
                </a:rPr>
                <a:t> </a:t>
              </a:r>
              <a:endParaRPr kumimoji="1" lang="zh-TW" altLang="en-US" sz="9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班级</a:t>
              </a:r>
              <a:endParaRPr kumimoji="1" lang="zh-CN" altLang="en-US" sz="1400" b="1" u="none">
                <a:latin typeface="微软雅黑" panose="020B0503020204020204" pitchFamily="34" charset="-122"/>
                <a:ea typeface="微软雅黑" panose="020B0503020204020204" pitchFamily="34" charset="-122"/>
              </a:endParaRPr>
            </a:p>
          </p:txBody>
        </p:sp>
        <p:sp>
          <p:nvSpPr>
            <p:cNvPr id="17" name="Text Box 7"/>
            <p:cNvSpPr txBox="1">
              <a:spLocks noChangeArrowheads="1"/>
            </p:cNvSpPr>
            <p:nvPr/>
          </p:nvSpPr>
          <p:spPr bwMode="auto">
            <a:xfrm>
              <a:off x="884" y="1389"/>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学生</a:t>
              </a:r>
              <a:endParaRPr lang="zh-CN" altLang="en-US" sz="1800" u="none">
                <a:latin typeface="微软雅黑" panose="020B0503020204020204" pitchFamily="34" charset="-122"/>
                <a:ea typeface="微软雅黑" panose="020B0503020204020204" pitchFamily="34" charset="-122"/>
              </a:endParaRPr>
            </a:p>
          </p:txBody>
        </p:sp>
        <p:sp>
          <p:nvSpPr>
            <p:cNvPr id="18" name="Rectangle 8"/>
            <p:cNvSpPr>
              <a:spLocks noChangeArrowheads="1"/>
            </p:cNvSpPr>
            <p:nvPr/>
          </p:nvSpPr>
          <p:spPr bwMode="gray">
            <a:xfrm>
              <a:off x="3197" y="1616"/>
              <a:ext cx="862"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课程号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19" name="Rectangle 9"/>
            <p:cNvSpPr>
              <a:spLocks noChangeArrowheads="1"/>
            </p:cNvSpPr>
            <p:nvPr/>
          </p:nvSpPr>
          <p:spPr bwMode="gray">
            <a:xfrm>
              <a:off x="3197" y="1810"/>
              <a:ext cx="862"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课程名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学分</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学时数</a:t>
              </a:r>
              <a:endParaRPr kumimoji="1" lang="zh-CN" altLang="en-US" sz="1400" b="1" u="none">
                <a:latin typeface="微软雅黑" panose="020B0503020204020204" pitchFamily="34" charset="-122"/>
                <a:ea typeface="微软雅黑" panose="020B0503020204020204" pitchFamily="34" charset="-122"/>
              </a:endParaRPr>
            </a:p>
          </p:txBody>
        </p:sp>
        <p:sp>
          <p:nvSpPr>
            <p:cNvPr id="20" name="Text Box 10"/>
            <p:cNvSpPr txBox="1">
              <a:spLocks noChangeArrowheads="1"/>
            </p:cNvSpPr>
            <p:nvPr/>
          </p:nvSpPr>
          <p:spPr bwMode="auto">
            <a:xfrm>
              <a:off x="3197" y="1389"/>
              <a:ext cx="6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课程</a:t>
              </a:r>
              <a:endParaRPr lang="zh-CN" altLang="en-US" sz="1800" u="none">
                <a:latin typeface="微软雅黑" panose="020B0503020204020204" pitchFamily="34" charset="-122"/>
                <a:ea typeface="微软雅黑" panose="020B0503020204020204" pitchFamily="34" charset="-122"/>
              </a:endParaRPr>
            </a:p>
          </p:txBody>
        </p:sp>
        <p:sp>
          <p:nvSpPr>
            <p:cNvPr id="21" name="Oval 11"/>
            <p:cNvSpPr>
              <a:spLocks noChangeArrowheads="1"/>
            </p:cNvSpPr>
            <p:nvPr/>
          </p:nvSpPr>
          <p:spPr bwMode="gray">
            <a:xfrm>
              <a:off x="1519" y="1888"/>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22" name="Oval 12"/>
            <p:cNvSpPr>
              <a:spLocks noChangeArrowheads="1"/>
            </p:cNvSpPr>
            <p:nvPr/>
          </p:nvSpPr>
          <p:spPr bwMode="gray">
            <a:xfrm>
              <a:off x="3106" y="1888"/>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23" name="Line 13"/>
            <p:cNvSpPr>
              <a:spLocks noChangeShapeType="1"/>
            </p:cNvSpPr>
            <p:nvPr/>
          </p:nvSpPr>
          <p:spPr bwMode="auto">
            <a:xfrm>
              <a:off x="1565" y="1933"/>
              <a:ext cx="154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 name="Text Box 14"/>
            <p:cNvSpPr txBox="1">
              <a:spLocks noChangeArrowheads="1"/>
            </p:cNvSpPr>
            <p:nvPr/>
          </p:nvSpPr>
          <p:spPr bwMode="auto">
            <a:xfrm>
              <a:off x="1837" y="1661"/>
              <a:ext cx="10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i="1" u="none">
                  <a:latin typeface="微软雅黑" panose="020B0503020204020204" pitchFamily="34" charset="-122"/>
                  <a:ea typeface="微软雅黑" panose="020B0503020204020204" pitchFamily="34" charset="-122"/>
                </a:rPr>
                <a:t>选修 </a:t>
              </a:r>
              <a:r>
                <a:rPr lang="en-US" altLang="zh-CN" sz="1800" i="1" u="none">
                  <a:latin typeface="微软雅黑" panose="020B0503020204020204" pitchFamily="34" charset="-122"/>
                  <a:ea typeface="微软雅黑" panose="020B0503020204020204" pitchFamily="34" charset="-122"/>
                </a:rPr>
                <a:t>/ </a:t>
              </a:r>
              <a:r>
                <a:rPr lang="zh-CN" altLang="en-US" sz="1800" i="1" u="none">
                  <a:latin typeface="微软雅黑" panose="020B0503020204020204" pitchFamily="34" charset="-122"/>
                  <a:ea typeface="微软雅黑" panose="020B0503020204020204" pitchFamily="34" charset="-122"/>
                </a:rPr>
                <a:t>被</a:t>
              </a:r>
              <a:r>
                <a:rPr lang="en-US" altLang="zh-CN" sz="1800" i="1" u="none">
                  <a:latin typeface="微软雅黑" panose="020B0503020204020204" pitchFamily="34" charset="-122"/>
                  <a:ea typeface="微软雅黑" panose="020B0503020204020204" pitchFamily="34" charset="-122"/>
                </a:rPr>
                <a:t>…</a:t>
              </a:r>
              <a:r>
                <a:rPr lang="zh-CN" altLang="en-US" sz="1800" i="1" u="none">
                  <a:latin typeface="微软雅黑" panose="020B0503020204020204" pitchFamily="34" charset="-122"/>
                  <a:ea typeface="微软雅黑" panose="020B0503020204020204" pitchFamily="34" charset="-122"/>
                </a:rPr>
                <a:t>选修</a:t>
              </a:r>
              <a:endParaRPr lang="zh-CN" altLang="en-US" sz="1800" i="1" u="none">
                <a:latin typeface="微软雅黑" panose="020B0503020204020204" pitchFamily="34" charset="-122"/>
                <a:ea typeface="微软雅黑" panose="020B0503020204020204" pitchFamily="34" charset="-122"/>
              </a:endParaRPr>
            </a:p>
          </p:txBody>
        </p:sp>
      </p:grpSp>
      <p:grpSp>
        <p:nvGrpSpPr>
          <p:cNvPr id="25" name="Group 15"/>
          <p:cNvGrpSpPr/>
          <p:nvPr/>
        </p:nvGrpSpPr>
        <p:grpSpPr bwMode="auto">
          <a:xfrm>
            <a:off x="3273572" y="4541044"/>
            <a:ext cx="6396038" cy="1473200"/>
            <a:chOff x="567" y="2795"/>
            <a:chExt cx="4029" cy="928"/>
          </a:xfrm>
        </p:grpSpPr>
        <p:sp>
          <p:nvSpPr>
            <p:cNvPr id="26" name="Rectangle 16"/>
            <p:cNvSpPr>
              <a:spLocks noChangeArrowheads="1"/>
            </p:cNvSpPr>
            <p:nvPr/>
          </p:nvSpPr>
          <p:spPr bwMode="gray">
            <a:xfrm>
              <a:off x="567" y="3067"/>
              <a:ext cx="635"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学号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27" name="Rectangle 17"/>
            <p:cNvSpPr>
              <a:spLocks noChangeArrowheads="1"/>
            </p:cNvSpPr>
            <p:nvPr/>
          </p:nvSpPr>
          <p:spPr bwMode="gray">
            <a:xfrm>
              <a:off x="567" y="3257"/>
              <a:ext cx="635"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姓名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性别</a:t>
              </a:r>
              <a:r>
                <a:rPr kumimoji="1" lang="zh-TW" altLang="en-US" sz="900" b="1" u="none">
                  <a:latin typeface="微软雅黑" panose="020B0503020204020204" pitchFamily="34" charset="-122"/>
                  <a:ea typeface="微软雅黑" panose="020B0503020204020204" pitchFamily="34" charset="-122"/>
                </a:rPr>
                <a:t> </a:t>
              </a:r>
              <a:endParaRPr kumimoji="1" lang="zh-TW" altLang="en-US" sz="9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班级</a:t>
              </a:r>
              <a:endParaRPr kumimoji="1" lang="zh-CN" altLang="en-US" sz="1400" b="1" u="none">
                <a:latin typeface="微软雅黑" panose="020B0503020204020204" pitchFamily="34" charset="-122"/>
                <a:ea typeface="微软雅黑" panose="020B0503020204020204" pitchFamily="34" charset="-122"/>
              </a:endParaRPr>
            </a:p>
          </p:txBody>
        </p:sp>
        <p:sp>
          <p:nvSpPr>
            <p:cNvPr id="28" name="Text Box 18"/>
            <p:cNvSpPr txBox="1">
              <a:spLocks noChangeArrowheads="1"/>
            </p:cNvSpPr>
            <p:nvPr/>
          </p:nvSpPr>
          <p:spPr bwMode="auto">
            <a:xfrm>
              <a:off x="567" y="2840"/>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学生</a:t>
              </a:r>
              <a:endParaRPr lang="zh-CN" altLang="en-US" sz="1800" u="none">
                <a:latin typeface="微软雅黑" panose="020B0503020204020204" pitchFamily="34" charset="-122"/>
                <a:ea typeface="微软雅黑" panose="020B0503020204020204" pitchFamily="34" charset="-122"/>
              </a:endParaRPr>
            </a:p>
          </p:txBody>
        </p:sp>
        <p:sp>
          <p:nvSpPr>
            <p:cNvPr id="29" name="Rectangle 19"/>
            <p:cNvSpPr>
              <a:spLocks noChangeArrowheads="1"/>
            </p:cNvSpPr>
            <p:nvPr/>
          </p:nvSpPr>
          <p:spPr bwMode="gray">
            <a:xfrm>
              <a:off x="3734" y="3067"/>
              <a:ext cx="862"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课程号</a:t>
              </a:r>
              <a:endParaRPr kumimoji="1" lang="zh-CN" altLang="en-US" sz="1400" b="1" u="none">
                <a:solidFill>
                  <a:srgbClr val="FFFF00"/>
                </a:solidFill>
                <a:latin typeface="微软雅黑" panose="020B0503020204020204" pitchFamily="34" charset="-122"/>
                <a:ea typeface="微软雅黑" panose="020B0503020204020204" pitchFamily="34" charset="-122"/>
              </a:endParaRPr>
            </a:p>
          </p:txBody>
        </p:sp>
        <p:sp>
          <p:nvSpPr>
            <p:cNvPr id="30" name="Rectangle 20"/>
            <p:cNvSpPr>
              <a:spLocks noChangeArrowheads="1"/>
            </p:cNvSpPr>
            <p:nvPr/>
          </p:nvSpPr>
          <p:spPr bwMode="gray">
            <a:xfrm>
              <a:off x="3734" y="3261"/>
              <a:ext cx="862" cy="462"/>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课程名</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学分</a:t>
              </a:r>
              <a:endParaRPr kumimoji="1" lang="zh-CN" altLang="en-US" sz="14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学时数</a:t>
              </a:r>
              <a:endParaRPr kumimoji="1" lang="zh-CN" altLang="en-US" sz="1400" b="1" u="none">
                <a:latin typeface="微软雅黑" panose="020B0503020204020204" pitchFamily="34" charset="-122"/>
                <a:ea typeface="微软雅黑" panose="020B0503020204020204" pitchFamily="34" charset="-122"/>
              </a:endParaRPr>
            </a:p>
          </p:txBody>
        </p:sp>
        <p:sp>
          <p:nvSpPr>
            <p:cNvPr id="31" name="Text Box 21"/>
            <p:cNvSpPr txBox="1">
              <a:spLocks noChangeArrowheads="1"/>
            </p:cNvSpPr>
            <p:nvPr/>
          </p:nvSpPr>
          <p:spPr bwMode="auto">
            <a:xfrm>
              <a:off x="3734" y="2840"/>
              <a:ext cx="6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课程</a:t>
              </a:r>
              <a:endParaRPr lang="zh-CN" altLang="en-US" sz="1800" u="none">
                <a:latin typeface="微软雅黑" panose="020B0503020204020204" pitchFamily="34" charset="-122"/>
                <a:ea typeface="微软雅黑" panose="020B0503020204020204" pitchFamily="34" charset="-122"/>
              </a:endParaRPr>
            </a:p>
          </p:txBody>
        </p:sp>
        <p:sp>
          <p:nvSpPr>
            <p:cNvPr id="32" name="Line 22"/>
            <p:cNvSpPr>
              <a:spLocks noChangeShapeType="1"/>
            </p:cNvSpPr>
            <p:nvPr/>
          </p:nvSpPr>
          <p:spPr bwMode="auto">
            <a:xfrm>
              <a:off x="1202" y="3385"/>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3" name="Text Box 23"/>
            <p:cNvSpPr txBox="1">
              <a:spLocks noChangeArrowheads="1"/>
            </p:cNvSpPr>
            <p:nvPr/>
          </p:nvSpPr>
          <p:spPr bwMode="auto">
            <a:xfrm>
              <a:off x="1338" y="2931"/>
              <a:ext cx="68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i="1" u="none">
                  <a:latin typeface="微软雅黑" panose="020B0503020204020204" pitchFamily="34" charset="-122"/>
                  <a:ea typeface="微软雅黑" panose="020B0503020204020204" pitchFamily="34" charset="-122"/>
                </a:rPr>
                <a:t>选修的课程记录在 </a:t>
              </a:r>
              <a:endParaRPr lang="zh-CN" altLang="en-US" sz="1800" i="1" u="none">
                <a:latin typeface="微软雅黑" panose="020B0503020204020204" pitchFamily="34" charset="-122"/>
                <a:ea typeface="微软雅黑" panose="020B0503020204020204" pitchFamily="34" charset="-122"/>
              </a:endParaRPr>
            </a:p>
          </p:txBody>
        </p:sp>
        <p:sp>
          <p:nvSpPr>
            <p:cNvPr id="34" name="Rectangle 24"/>
            <p:cNvSpPr>
              <a:spLocks noChangeArrowheads="1"/>
            </p:cNvSpPr>
            <p:nvPr/>
          </p:nvSpPr>
          <p:spPr bwMode="gray">
            <a:xfrm>
              <a:off x="2064" y="3067"/>
              <a:ext cx="725" cy="328"/>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学号</a:t>
              </a:r>
              <a:r>
                <a:rPr kumimoji="1" lang="en-US" altLang="zh-CN" sz="1400" b="1" u="none">
                  <a:solidFill>
                    <a:srgbClr val="FFFF00"/>
                  </a:solidFill>
                  <a:latin typeface="微软雅黑" panose="020B0503020204020204" pitchFamily="34" charset="-122"/>
                  <a:ea typeface="微软雅黑" panose="020B0503020204020204" pitchFamily="34" charset="-122"/>
                </a:rPr>
                <a:t>(FK)</a:t>
              </a:r>
              <a:endParaRPr kumimoji="1" lang="en-US" altLang="zh-CN" sz="14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400" b="1" u="none">
                  <a:solidFill>
                    <a:srgbClr val="FFFF00"/>
                  </a:solidFill>
                  <a:latin typeface="微软雅黑" panose="020B0503020204020204" pitchFamily="34" charset="-122"/>
                  <a:ea typeface="微软雅黑" panose="020B0503020204020204" pitchFamily="34" charset="-122"/>
                </a:rPr>
                <a:t>课程号</a:t>
              </a:r>
              <a:r>
                <a:rPr kumimoji="1" lang="en-US" altLang="zh-CN" sz="1400" b="1" u="none">
                  <a:solidFill>
                    <a:srgbClr val="FFFF00"/>
                  </a:solidFill>
                  <a:latin typeface="微软雅黑" panose="020B0503020204020204" pitchFamily="34" charset="-122"/>
                  <a:ea typeface="微软雅黑" panose="020B0503020204020204" pitchFamily="34" charset="-122"/>
                </a:rPr>
                <a:t>(FK)</a:t>
              </a:r>
              <a:endParaRPr kumimoji="1" lang="en-US" altLang="zh-CN" sz="1400" b="1" u="none">
                <a:solidFill>
                  <a:srgbClr val="FFFF00"/>
                </a:solidFill>
                <a:latin typeface="微软雅黑" panose="020B0503020204020204" pitchFamily="34" charset="-122"/>
                <a:ea typeface="微软雅黑" panose="020B0503020204020204" pitchFamily="34" charset="-122"/>
              </a:endParaRPr>
            </a:p>
          </p:txBody>
        </p:sp>
        <p:sp>
          <p:nvSpPr>
            <p:cNvPr id="35" name="Rectangle 25"/>
            <p:cNvSpPr>
              <a:spLocks noChangeArrowheads="1"/>
            </p:cNvSpPr>
            <p:nvPr/>
          </p:nvSpPr>
          <p:spPr bwMode="gray">
            <a:xfrm>
              <a:off x="2064" y="3393"/>
              <a:ext cx="725" cy="19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107763" dir="2700000" algn="ctr" rotWithShape="0">
                      <a:srgbClr val="9FC0B1"/>
                    </a:outerShdw>
                  </a:effectLst>
                </a14:hiddenEffects>
              </a:ext>
            </a:extLst>
          </p:spPr>
          <p:txBody>
            <a:bodyPr lIns="84138" tIns="41275" rIns="84138" bIns="41275"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成绩</a:t>
              </a:r>
              <a:endParaRPr kumimoji="1" lang="zh-CN" altLang="en-US" sz="1400" b="1" u="none">
                <a:latin typeface="微软雅黑" panose="020B0503020204020204" pitchFamily="34" charset="-122"/>
                <a:ea typeface="微软雅黑" panose="020B0503020204020204" pitchFamily="34" charset="-122"/>
              </a:endParaRPr>
            </a:p>
          </p:txBody>
        </p:sp>
        <p:sp>
          <p:nvSpPr>
            <p:cNvPr id="36" name="Text Box 26"/>
            <p:cNvSpPr txBox="1">
              <a:spLocks noChangeArrowheads="1"/>
            </p:cNvSpPr>
            <p:nvPr/>
          </p:nvSpPr>
          <p:spPr bwMode="auto">
            <a:xfrm>
              <a:off x="2074" y="2840"/>
              <a:ext cx="5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u="none">
                  <a:latin typeface="微软雅黑" panose="020B0503020204020204" pitchFamily="34" charset="-122"/>
                  <a:ea typeface="微软雅黑" panose="020B0503020204020204" pitchFamily="34" charset="-122"/>
                </a:rPr>
                <a:t>选修表</a:t>
              </a:r>
              <a:endParaRPr lang="zh-CN" altLang="en-US" sz="1800" u="none">
                <a:latin typeface="微软雅黑" panose="020B0503020204020204" pitchFamily="34" charset="-122"/>
                <a:ea typeface="微软雅黑" panose="020B0503020204020204" pitchFamily="34" charset="-122"/>
              </a:endParaRPr>
            </a:p>
          </p:txBody>
        </p:sp>
        <p:sp>
          <p:nvSpPr>
            <p:cNvPr id="37" name="Oval 27"/>
            <p:cNvSpPr>
              <a:spLocks noChangeArrowheads="1"/>
            </p:cNvSpPr>
            <p:nvPr/>
          </p:nvSpPr>
          <p:spPr bwMode="gray">
            <a:xfrm>
              <a:off x="2792" y="3339"/>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38" name="Oval 28"/>
            <p:cNvSpPr>
              <a:spLocks noChangeArrowheads="1"/>
            </p:cNvSpPr>
            <p:nvPr/>
          </p:nvSpPr>
          <p:spPr bwMode="gray">
            <a:xfrm>
              <a:off x="1984" y="3339"/>
              <a:ext cx="80" cy="8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39" name="Line 29"/>
            <p:cNvSpPr>
              <a:spLocks noChangeShapeType="1"/>
            </p:cNvSpPr>
            <p:nvPr/>
          </p:nvSpPr>
          <p:spPr bwMode="auto">
            <a:xfrm>
              <a:off x="2872" y="3385"/>
              <a:ext cx="87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Text Box 30"/>
            <p:cNvSpPr txBox="1">
              <a:spLocks noChangeArrowheads="1"/>
            </p:cNvSpPr>
            <p:nvPr/>
          </p:nvSpPr>
          <p:spPr bwMode="auto">
            <a:xfrm>
              <a:off x="2963" y="2795"/>
              <a:ext cx="68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i="1" u="none">
                  <a:latin typeface="微软雅黑" panose="020B0503020204020204" pitchFamily="34" charset="-122"/>
                  <a:ea typeface="微软雅黑" panose="020B0503020204020204" pitchFamily="34" charset="-122"/>
                </a:rPr>
                <a:t>被哪些学生选修记录在 </a:t>
              </a:r>
              <a:endParaRPr lang="zh-CN" altLang="en-US" sz="1800" i="1" u="none">
                <a:latin typeface="微软雅黑" panose="020B0503020204020204" pitchFamily="34" charset="-122"/>
                <a:ea typeface="微软雅黑" panose="020B0503020204020204" pitchFamily="34" charset="-122"/>
              </a:endParaRPr>
            </a:p>
          </p:txBody>
        </p:sp>
      </p:grpSp>
      <p:sp>
        <p:nvSpPr>
          <p:cNvPr id="41" name="AutoShape 31"/>
          <p:cNvSpPr>
            <a:spLocks noChangeArrowheads="1"/>
          </p:cNvSpPr>
          <p:nvPr/>
        </p:nvSpPr>
        <p:spPr bwMode="auto">
          <a:xfrm>
            <a:off x="2108347" y="3604419"/>
            <a:ext cx="865188" cy="2016125"/>
          </a:xfrm>
          <a:prstGeom prst="curvedRightArrow">
            <a:avLst>
              <a:gd name="adj1" fmla="val 46605"/>
              <a:gd name="adj2" fmla="val 93211"/>
              <a:gd name="adj3" fmla="val 33333"/>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lang="en-GB" altLang="zh-CN" dirty="0"/>
              <a:t>IDEF1X</a:t>
            </a:r>
            <a:r>
              <a:rPr lang="zh-CN" altLang="en-US" dirty="0"/>
              <a:t>中的语言元素</a:t>
            </a:r>
            <a:endParaRPr lang="en-US" altLang="zh-CN" dirty="0"/>
          </a:p>
          <a:p>
            <a:pPr lvl="1"/>
            <a:r>
              <a:rPr lang="en-GB" altLang="zh-CN" dirty="0"/>
              <a:t>IDEF1X</a:t>
            </a:r>
            <a:r>
              <a:rPr lang="zh-CN" altLang="en-US" dirty="0"/>
              <a:t>中的关系类型总览</a:t>
            </a:r>
            <a:endParaRPr lang="zh-CN" altLang="en-US" dirty="0"/>
          </a:p>
          <a:p>
            <a:pPr lvl="1"/>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5.5 IDEF</a:t>
            </a:r>
            <a:r>
              <a:rPr kumimoji="1" lang="zh-CN" altLang="en-US" dirty="0"/>
              <a:t>方法简介</a:t>
            </a:r>
            <a:endParaRPr kumimoji="1" lang="zh-CN" altLang="en-US" dirty="0"/>
          </a:p>
        </p:txBody>
      </p:sp>
      <p:grpSp>
        <p:nvGrpSpPr>
          <p:cNvPr id="14" name="Group 4"/>
          <p:cNvGrpSpPr/>
          <p:nvPr/>
        </p:nvGrpSpPr>
        <p:grpSpPr bwMode="auto">
          <a:xfrm>
            <a:off x="3278651" y="2413046"/>
            <a:ext cx="6121400" cy="4275138"/>
            <a:chOff x="884" y="1372"/>
            <a:chExt cx="3856" cy="2693"/>
          </a:xfrm>
        </p:grpSpPr>
        <p:sp>
          <p:nvSpPr>
            <p:cNvPr id="15" name="Rectangle 5"/>
            <p:cNvSpPr>
              <a:spLocks noChangeArrowheads="1"/>
            </p:cNvSpPr>
            <p:nvPr/>
          </p:nvSpPr>
          <p:spPr bwMode="auto">
            <a:xfrm>
              <a:off x="1157" y="2931"/>
              <a:ext cx="181"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962" tIns="41275" rIns="80962"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r" eaLnBrk="1" hangingPunct="1">
                <a:spcBef>
                  <a:spcPct val="0"/>
                </a:spcBef>
                <a:buFontTx/>
                <a:buNone/>
              </a:pPr>
              <a:r>
                <a:rPr kumimoji="1" lang="zh-TW" altLang="en-US" sz="1400" b="1" u="none">
                  <a:latin typeface="微软雅黑" panose="020B0503020204020204" pitchFamily="34" charset="-122"/>
                  <a:ea typeface="微软雅黑" panose="020B0503020204020204" pitchFamily="34" charset="-122"/>
                </a:rPr>
                <a:t>非</a:t>
              </a:r>
              <a:r>
                <a:rPr kumimoji="1" lang="zh-CN" altLang="en-US" sz="1400" b="1" u="none">
                  <a:latin typeface="微软雅黑" panose="020B0503020204020204" pitchFamily="34" charset="-122"/>
                  <a:ea typeface="微软雅黑" panose="020B0503020204020204" pitchFamily="34" charset="-122"/>
                </a:rPr>
                <a:t>强制</a:t>
              </a:r>
              <a:endParaRPr kumimoji="1" lang="zh-CN" altLang="en-US" sz="1400" b="1" u="none">
                <a:latin typeface="微软雅黑" panose="020B0503020204020204" pitchFamily="34" charset="-122"/>
                <a:ea typeface="微软雅黑" panose="020B0503020204020204" pitchFamily="34" charset="-122"/>
              </a:endParaRPr>
            </a:p>
          </p:txBody>
        </p:sp>
        <p:sp>
          <p:nvSpPr>
            <p:cNvPr id="16" name="Rectangle 6"/>
            <p:cNvSpPr>
              <a:spLocks noChangeArrowheads="1"/>
            </p:cNvSpPr>
            <p:nvPr/>
          </p:nvSpPr>
          <p:spPr bwMode="auto">
            <a:xfrm>
              <a:off x="1157" y="2432"/>
              <a:ext cx="181"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962" tIns="41275" rIns="80962"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400" b="1" u="none">
                  <a:latin typeface="微软雅黑" panose="020B0503020204020204" pitchFamily="34" charset="-122"/>
                  <a:ea typeface="微软雅黑" panose="020B0503020204020204" pitchFamily="34" charset="-122"/>
                </a:rPr>
                <a:t>强制</a:t>
              </a:r>
              <a:endParaRPr kumimoji="1" lang="zh-CN" altLang="en-US" sz="1400" b="1" u="none">
                <a:latin typeface="微软雅黑" panose="020B0503020204020204" pitchFamily="34" charset="-122"/>
                <a:ea typeface="微软雅黑" panose="020B0503020204020204" pitchFamily="34" charset="-122"/>
              </a:endParaRPr>
            </a:p>
          </p:txBody>
        </p:sp>
        <p:grpSp>
          <p:nvGrpSpPr>
            <p:cNvPr id="17" name="Group 7"/>
            <p:cNvGrpSpPr/>
            <p:nvPr/>
          </p:nvGrpSpPr>
          <p:grpSpPr bwMode="auto">
            <a:xfrm>
              <a:off x="1479" y="1759"/>
              <a:ext cx="2252" cy="515"/>
              <a:chOff x="1267" y="799"/>
              <a:chExt cx="2252" cy="515"/>
            </a:xfrm>
          </p:grpSpPr>
          <p:sp>
            <p:nvSpPr>
              <p:cNvPr id="74" name="Rectangle 8"/>
              <p:cNvSpPr>
                <a:spLocks noChangeArrowheads="1"/>
              </p:cNvSpPr>
              <p:nvPr/>
            </p:nvSpPr>
            <p:spPr bwMode="auto">
              <a:xfrm>
                <a:off x="1267" y="856"/>
                <a:ext cx="280"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订单</a:t>
                </a:r>
                <a:endParaRPr kumimoji="1" lang="zh-CN" altLang="en-US" sz="1100" b="1" u="none">
                  <a:latin typeface="微软雅黑" panose="020B0503020204020204" pitchFamily="34" charset="-122"/>
                  <a:ea typeface="微软雅黑" panose="020B0503020204020204" pitchFamily="34" charset="-122"/>
                </a:endParaRPr>
              </a:p>
            </p:txBody>
          </p:sp>
          <p:sp>
            <p:nvSpPr>
              <p:cNvPr id="75" name="Rectangle 9"/>
              <p:cNvSpPr>
                <a:spLocks noChangeArrowheads="1"/>
              </p:cNvSpPr>
              <p:nvPr/>
            </p:nvSpPr>
            <p:spPr bwMode="auto">
              <a:xfrm>
                <a:off x="2687" y="799"/>
                <a:ext cx="456"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订单明细</a:t>
                </a:r>
                <a:endParaRPr kumimoji="1" lang="zh-CN" altLang="en-US" sz="1100" b="1" u="none">
                  <a:latin typeface="微软雅黑" panose="020B0503020204020204" pitchFamily="34" charset="-122"/>
                  <a:ea typeface="微软雅黑" panose="020B0503020204020204" pitchFamily="34" charset="-122"/>
                </a:endParaRPr>
              </a:p>
            </p:txBody>
          </p:sp>
          <p:grpSp>
            <p:nvGrpSpPr>
              <p:cNvPr id="76" name="Group 10"/>
              <p:cNvGrpSpPr/>
              <p:nvPr/>
            </p:nvGrpSpPr>
            <p:grpSpPr bwMode="auto">
              <a:xfrm>
                <a:off x="1905" y="1109"/>
                <a:ext cx="822" cy="41"/>
                <a:chOff x="1905" y="1109"/>
                <a:chExt cx="822" cy="41"/>
              </a:xfrm>
            </p:grpSpPr>
            <p:sp>
              <p:nvSpPr>
                <p:cNvPr id="83" name="Line 11"/>
                <p:cNvSpPr>
                  <a:spLocks noChangeShapeType="1"/>
                </p:cNvSpPr>
                <p:nvPr/>
              </p:nvSpPr>
              <p:spPr bwMode="auto">
                <a:xfrm>
                  <a:off x="1905" y="1127"/>
                  <a:ext cx="822"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4" name="Oval 12"/>
                <p:cNvSpPr>
                  <a:spLocks noChangeArrowheads="1"/>
                </p:cNvSpPr>
                <p:nvPr/>
              </p:nvSpPr>
              <p:spPr bwMode="auto">
                <a:xfrm>
                  <a:off x="2666" y="1109"/>
                  <a:ext cx="38" cy="41"/>
                </a:xfrm>
                <a:prstGeom prst="ellipse">
                  <a:avLst/>
                </a:prstGeom>
                <a:solidFill>
                  <a:schemeClr val="tx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grpSp>
            <p:nvGrpSpPr>
              <p:cNvPr id="77" name="Group 13"/>
              <p:cNvGrpSpPr/>
              <p:nvPr/>
            </p:nvGrpSpPr>
            <p:grpSpPr bwMode="auto">
              <a:xfrm>
                <a:off x="2715" y="944"/>
                <a:ext cx="804" cy="370"/>
                <a:chOff x="2715" y="944"/>
                <a:chExt cx="804" cy="370"/>
              </a:xfrm>
            </p:grpSpPr>
            <p:sp>
              <p:nvSpPr>
                <p:cNvPr id="81" name="AutoShape 14"/>
                <p:cNvSpPr>
                  <a:spLocks noChangeArrowheads="1"/>
                </p:cNvSpPr>
                <p:nvPr/>
              </p:nvSpPr>
              <p:spPr bwMode="auto">
                <a:xfrm>
                  <a:off x="2717" y="944"/>
                  <a:ext cx="801" cy="370"/>
                </a:xfrm>
                <a:prstGeom prst="roundRect">
                  <a:avLst>
                    <a:gd name="adj" fmla="val 12495"/>
                  </a:avLst>
                </a:prstGeom>
                <a:solidFill>
                  <a:srgbClr val="CC66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8738" tIns="0" rIns="587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solidFill>
                        <a:srgbClr val="FFFF00"/>
                      </a:solidFill>
                      <a:latin typeface="微软雅黑" panose="020B0503020204020204" pitchFamily="34" charset="-122"/>
                      <a:ea typeface="微软雅黑" panose="020B0503020204020204" pitchFamily="34" charset="-122"/>
                    </a:rPr>
                    <a:t>订单号</a:t>
                  </a:r>
                  <a:r>
                    <a:rPr kumimoji="1" lang="zh-TW" altLang="en-US" sz="1100" b="1" u="none">
                      <a:solidFill>
                        <a:srgbClr val="FFFF00"/>
                      </a:solidFill>
                      <a:latin typeface="微软雅黑" panose="020B0503020204020204" pitchFamily="34" charset="-122"/>
                      <a:ea typeface="微软雅黑" panose="020B0503020204020204" pitchFamily="34" charset="-122"/>
                    </a:rPr>
                    <a:t> </a:t>
                  </a:r>
                  <a:r>
                    <a:rPr kumimoji="1" lang="en-US" altLang="zh-TW" sz="1100" b="1" u="none">
                      <a:solidFill>
                        <a:srgbClr val="FFFF00"/>
                      </a:solidFill>
                      <a:latin typeface="微软雅黑" panose="020B0503020204020204" pitchFamily="34" charset="-122"/>
                      <a:ea typeface="微软雅黑" panose="020B0503020204020204" pitchFamily="34" charset="-122"/>
                    </a:rPr>
                    <a:t>(FK)</a:t>
                  </a:r>
                  <a:endParaRPr kumimoji="1" lang="en-US" altLang="zh-TW" sz="11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产品号</a:t>
                  </a:r>
                  <a:r>
                    <a:rPr kumimoji="1" lang="zh-TW" altLang="en-US" sz="1100" b="1" u="none">
                      <a:latin typeface="微软雅黑" panose="020B0503020204020204" pitchFamily="34" charset="-122"/>
                      <a:ea typeface="微软雅黑" panose="020B0503020204020204" pitchFamily="34" charset="-122"/>
                    </a:rPr>
                    <a:t> </a:t>
                  </a:r>
                  <a:endParaRPr kumimoji="1" lang="zh-TW" altLang="en-US" sz="1100" b="1" u="none">
                    <a:latin typeface="微软雅黑" panose="020B0503020204020204" pitchFamily="34" charset="-122"/>
                    <a:ea typeface="微软雅黑" panose="020B0503020204020204" pitchFamily="34" charset="-122"/>
                  </a:endParaRPr>
                </a:p>
                <a:p>
                  <a:pPr eaLnBrk="1" hangingPunct="1">
                    <a:buFontTx/>
                    <a:buNone/>
                  </a:pPr>
                  <a:r>
                    <a:rPr kumimoji="1" lang="zh-CN" altLang="en-US" sz="1100" b="1" u="none">
                      <a:latin typeface="微软雅黑" panose="020B0503020204020204" pitchFamily="34" charset="-122"/>
                      <a:ea typeface="微软雅黑" panose="020B0503020204020204" pitchFamily="34" charset="-122"/>
                    </a:rPr>
                    <a:t>数量</a:t>
                  </a:r>
                  <a:endParaRPr kumimoji="1" lang="zh-CN" altLang="en-US" sz="1100" b="1" u="none">
                    <a:latin typeface="微软雅黑" panose="020B0503020204020204" pitchFamily="34" charset="-122"/>
                    <a:ea typeface="微软雅黑" panose="020B0503020204020204" pitchFamily="34" charset="-122"/>
                  </a:endParaRPr>
                </a:p>
              </p:txBody>
            </p:sp>
            <p:sp>
              <p:nvSpPr>
                <p:cNvPr id="82" name="Line 15"/>
                <p:cNvSpPr>
                  <a:spLocks noChangeShapeType="1"/>
                </p:cNvSpPr>
                <p:nvPr/>
              </p:nvSpPr>
              <p:spPr bwMode="auto">
                <a:xfrm>
                  <a:off x="2715" y="1191"/>
                  <a:ext cx="80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78" name="Group 16"/>
              <p:cNvGrpSpPr/>
              <p:nvPr/>
            </p:nvGrpSpPr>
            <p:grpSpPr bwMode="auto">
              <a:xfrm>
                <a:off x="1310" y="996"/>
                <a:ext cx="724" cy="267"/>
                <a:chOff x="1310" y="996"/>
                <a:chExt cx="724" cy="267"/>
              </a:xfrm>
            </p:grpSpPr>
            <p:sp>
              <p:nvSpPr>
                <p:cNvPr id="79" name="Rectangle 17"/>
                <p:cNvSpPr>
                  <a:spLocks noChangeArrowheads="1"/>
                </p:cNvSpPr>
                <p:nvPr/>
              </p:nvSpPr>
              <p:spPr bwMode="auto">
                <a:xfrm>
                  <a:off x="1312" y="996"/>
                  <a:ext cx="722" cy="267"/>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138" tIns="0" rIns="841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订单号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30000"/>
                    </a:spcBef>
                    <a:buFontTx/>
                    <a:buNone/>
                  </a:pPr>
                  <a:r>
                    <a:rPr kumimoji="1" lang="zh-CN" altLang="en-US" sz="1100" b="1" u="none">
                      <a:latin typeface="微软雅黑" panose="020B0503020204020204" pitchFamily="34" charset="-122"/>
                      <a:ea typeface="微软雅黑" panose="020B0503020204020204" pitchFamily="34" charset="-122"/>
                    </a:rPr>
                    <a:t>客户号</a:t>
                  </a:r>
                  <a:endParaRPr kumimoji="1" lang="zh-CN" altLang="en-US" sz="1100" b="1" u="none">
                    <a:latin typeface="微软雅黑" panose="020B0503020204020204" pitchFamily="34" charset="-122"/>
                    <a:ea typeface="微软雅黑" panose="020B0503020204020204" pitchFamily="34" charset="-122"/>
                  </a:endParaRPr>
                </a:p>
              </p:txBody>
            </p:sp>
            <p:sp>
              <p:nvSpPr>
                <p:cNvPr id="80" name="Line 18"/>
                <p:cNvSpPr>
                  <a:spLocks noChangeShapeType="1"/>
                </p:cNvSpPr>
                <p:nvPr/>
              </p:nvSpPr>
              <p:spPr bwMode="auto">
                <a:xfrm>
                  <a:off x="1310" y="1127"/>
                  <a:ext cx="72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8" name="Group 19"/>
            <p:cNvGrpSpPr/>
            <p:nvPr/>
          </p:nvGrpSpPr>
          <p:grpSpPr bwMode="auto">
            <a:xfrm>
              <a:off x="1479" y="2337"/>
              <a:ext cx="2247" cy="464"/>
              <a:chOff x="1267" y="1377"/>
              <a:chExt cx="2247" cy="464"/>
            </a:xfrm>
          </p:grpSpPr>
          <p:sp>
            <p:nvSpPr>
              <p:cNvPr id="64" name="Rectangle 20"/>
              <p:cNvSpPr>
                <a:spLocks noChangeArrowheads="1"/>
              </p:cNvSpPr>
              <p:nvPr/>
            </p:nvSpPr>
            <p:spPr bwMode="auto">
              <a:xfrm>
                <a:off x="1267" y="1406"/>
                <a:ext cx="280" cy="158"/>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客户</a:t>
                </a:r>
                <a:endParaRPr kumimoji="1" lang="zh-CN" altLang="en-US" sz="1100" b="1" u="none">
                  <a:latin typeface="微软雅黑" panose="020B0503020204020204" pitchFamily="34" charset="-122"/>
                  <a:ea typeface="微软雅黑" panose="020B0503020204020204" pitchFamily="34" charset="-122"/>
                </a:endParaRPr>
              </a:p>
            </p:txBody>
          </p:sp>
          <p:sp>
            <p:nvSpPr>
              <p:cNvPr id="65" name="Rectangle 21"/>
              <p:cNvSpPr>
                <a:spLocks noChangeArrowheads="1"/>
              </p:cNvSpPr>
              <p:nvPr/>
            </p:nvSpPr>
            <p:spPr bwMode="auto">
              <a:xfrm>
                <a:off x="2682" y="1377"/>
                <a:ext cx="280" cy="158"/>
              </a:xfrm>
              <a:prstGeom prst="rect">
                <a:avLst/>
              </a:prstGeom>
              <a:noFill/>
              <a:ln>
                <a:noFill/>
              </a:ln>
              <a:effectLst/>
              <a:extLst>
                <a:ext uri="{909E8E84-426E-40DD-AFC4-6F175D3DCCD1}">
                  <a14:hiddenFill xmlns:a14="http://schemas.microsoft.com/office/drawing/2010/main">
                    <a:solidFill>
                      <a:srgbClr val="CC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订单</a:t>
                </a:r>
                <a:endParaRPr kumimoji="1" lang="zh-CN" altLang="en-US" sz="1100" b="1" u="none">
                  <a:latin typeface="微软雅黑" panose="020B0503020204020204" pitchFamily="34" charset="-122"/>
                  <a:ea typeface="微软雅黑" panose="020B0503020204020204" pitchFamily="34" charset="-122"/>
                </a:endParaRPr>
              </a:p>
            </p:txBody>
          </p:sp>
          <p:grpSp>
            <p:nvGrpSpPr>
              <p:cNvPr id="66" name="Group 22"/>
              <p:cNvGrpSpPr/>
              <p:nvPr/>
            </p:nvGrpSpPr>
            <p:grpSpPr bwMode="auto">
              <a:xfrm>
                <a:off x="1867" y="1652"/>
                <a:ext cx="829" cy="42"/>
                <a:chOff x="1867" y="1652"/>
                <a:chExt cx="829" cy="42"/>
              </a:xfrm>
            </p:grpSpPr>
            <p:sp>
              <p:nvSpPr>
                <p:cNvPr id="72" name="Line 23"/>
                <p:cNvSpPr>
                  <a:spLocks noChangeShapeType="1"/>
                </p:cNvSpPr>
                <p:nvPr/>
              </p:nvSpPr>
              <p:spPr bwMode="auto">
                <a:xfrm>
                  <a:off x="1867" y="1676"/>
                  <a:ext cx="821" cy="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3" name="Oval 24"/>
                <p:cNvSpPr>
                  <a:spLocks noChangeArrowheads="1"/>
                </p:cNvSpPr>
                <p:nvPr/>
              </p:nvSpPr>
              <p:spPr bwMode="auto">
                <a:xfrm>
                  <a:off x="2659" y="1652"/>
                  <a:ext cx="37" cy="42"/>
                </a:xfrm>
                <a:prstGeom prst="ellipse">
                  <a:avLst/>
                </a:prstGeom>
                <a:solidFill>
                  <a:schemeClr val="tx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sp>
            <p:nvSpPr>
              <p:cNvPr id="67" name="Rectangle 25"/>
              <p:cNvSpPr>
                <a:spLocks noChangeArrowheads="1"/>
              </p:cNvSpPr>
              <p:nvPr/>
            </p:nvSpPr>
            <p:spPr bwMode="auto">
              <a:xfrm>
                <a:off x="2712" y="1517"/>
                <a:ext cx="801" cy="32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8738" tIns="0" rIns="587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订单号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100" b="1" u="none">
                    <a:solidFill>
                      <a:srgbClr val="FFFF00"/>
                    </a:solidFill>
                    <a:latin typeface="微软雅黑" panose="020B0503020204020204" pitchFamily="34" charset="-122"/>
                    <a:ea typeface="微软雅黑" panose="020B0503020204020204" pitchFamily="34" charset="-122"/>
                  </a:rPr>
                  <a:t>客户号</a:t>
                </a:r>
                <a:r>
                  <a:rPr kumimoji="1" lang="zh-TW" altLang="en-US" sz="1100" b="1" u="none">
                    <a:solidFill>
                      <a:srgbClr val="FFFF00"/>
                    </a:solidFill>
                    <a:latin typeface="微软雅黑" panose="020B0503020204020204" pitchFamily="34" charset="-122"/>
                    <a:ea typeface="微软雅黑" panose="020B0503020204020204" pitchFamily="34" charset="-122"/>
                  </a:rPr>
                  <a:t> </a:t>
                </a:r>
                <a:r>
                  <a:rPr kumimoji="1" lang="en-US" altLang="zh-TW" sz="1100" b="1" u="none">
                    <a:solidFill>
                      <a:srgbClr val="FFFF00"/>
                    </a:solidFill>
                    <a:latin typeface="微软雅黑" panose="020B0503020204020204" pitchFamily="34" charset="-122"/>
                    <a:ea typeface="微软雅黑" panose="020B0503020204020204" pitchFamily="34" charset="-122"/>
                  </a:rPr>
                  <a:t>(FK)</a:t>
                </a:r>
                <a:endParaRPr kumimoji="1" lang="en-US" altLang="zh-TW" sz="11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发货日期</a:t>
                </a:r>
                <a:endParaRPr kumimoji="1" lang="zh-CN" altLang="en-US" sz="1100" b="1" u="none">
                  <a:latin typeface="微软雅黑" panose="020B0503020204020204" pitchFamily="34" charset="-122"/>
                  <a:ea typeface="微软雅黑" panose="020B0503020204020204" pitchFamily="34" charset="-122"/>
                </a:endParaRPr>
              </a:p>
            </p:txBody>
          </p:sp>
          <p:sp>
            <p:nvSpPr>
              <p:cNvPr id="68" name="Line 26"/>
              <p:cNvSpPr>
                <a:spLocks noChangeShapeType="1"/>
              </p:cNvSpPr>
              <p:nvPr/>
            </p:nvSpPr>
            <p:spPr bwMode="auto">
              <a:xfrm>
                <a:off x="2710" y="1621"/>
                <a:ext cx="80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69" name="Group 27"/>
              <p:cNvGrpSpPr/>
              <p:nvPr/>
            </p:nvGrpSpPr>
            <p:grpSpPr bwMode="auto">
              <a:xfrm>
                <a:off x="1304" y="1547"/>
                <a:ext cx="660" cy="267"/>
                <a:chOff x="1304" y="1547"/>
                <a:chExt cx="660" cy="267"/>
              </a:xfrm>
            </p:grpSpPr>
            <p:sp>
              <p:nvSpPr>
                <p:cNvPr id="70" name="Rectangle 28"/>
                <p:cNvSpPr>
                  <a:spLocks noChangeArrowheads="1"/>
                </p:cNvSpPr>
                <p:nvPr/>
              </p:nvSpPr>
              <p:spPr bwMode="auto">
                <a:xfrm>
                  <a:off x="1306" y="1547"/>
                  <a:ext cx="657" cy="267"/>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138" tIns="0" rIns="841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客户号</a:t>
                  </a:r>
                  <a:endParaRPr kumimoji="1" lang="en-US" altLang="zh-TW" sz="1100" b="1" u="none">
                    <a:latin typeface="微软雅黑" panose="020B0503020204020204" pitchFamily="34" charset="-122"/>
                    <a:ea typeface="微软雅黑" panose="020B0503020204020204" pitchFamily="34" charset="-122"/>
                  </a:endParaRPr>
                </a:p>
                <a:p>
                  <a:pPr eaLnBrk="1" hangingPunct="1">
                    <a:spcBef>
                      <a:spcPct val="30000"/>
                    </a:spcBef>
                    <a:buFontTx/>
                    <a:buNone/>
                  </a:pPr>
                  <a:r>
                    <a:rPr kumimoji="1" lang="zh-CN" altLang="en-US" sz="1100" b="1" u="none">
                      <a:latin typeface="微软雅黑" panose="020B0503020204020204" pitchFamily="34" charset="-122"/>
                      <a:ea typeface="微软雅黑" panose="020B0503020204020204" pitchFamily="34" charset="-122"/>
                    </a:rPr>
                    <a:t>客户名</a:t>
                  </a:r>
                  <a:endParaRPr kumimoji="1" lang="zh-CN" altLang="en-US" sz="1100" b="1" u="none">
                    <a:latin typeface="微软雅黑" panose="020B0503020204020204" pitchFamily="34" charset="-122"/>
                    <a:ea typeface="微软雅黑" panose="020B0503020204020204" pitchFamily="34" charset="-122"/>
                  </a:endParaRPr>
                </a:p>
              </p:txBody>
            </p:sp>
            <p:sp>
              <p:nvSpPr>
                <p:cNvPr id="71" name="Line 29"/>
                <p:cNvSpPr>
                  <a:spLocks noChangeShapeType="1"/>
                </p:cNvSpPr>
                <p:nvPr/>
              </p:nvSpPr>
              <p:spPr bwMode="auto">
                <a:xfrm>
                  <a:off x="1304" y="1675"/>
                  <a:ext cx="66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19" name="Rectangle 30"/>
            <p:cNvSpPr>
              <a:spLocks noChangeArrowheads="1"/>
            </p:cNvSpPr>
            <p:nvPr/>
          </p:nvSpPr>
          <p:spPr bwMode="auto">
            <a:xfrm>
              <a:off x="2894" y="2898"/>
              <a:ext cx="280"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员工</a:t>
              </a:r>
              <a:endParaRPr kumimoji="1" lang="zh-CN" altLang="en-US" sz="1100" b="1" u="none">
                <a:latin typeface="微软雅黑" panose="020B0503020204020204" pitchFamily="34" charset="-122"/>
                <a:ea typeface="微软雅黑" panose="020B0503020204020204" pitchFamily="34" charset="-122"/>
              </a:endParaRPr>
            </a:p>
          </p:txBody>
        </p:sp>
        <p:grpSp>
          <p:nvGrpSpPr>
            <p:cNvPr id="20" name="Group 31"/>
            <p:cNvGrpSpPr/>
            <p:nvPr/>
          </p:nvGrpSpPr>
          <p:grpSpPr bwMode="auto">
            <a:xfrm>
              <a:off x="1479" y="2928"/>
              <a:ext cx="2247" cy="434"/>
              <a:chOff x="1267" y="1968"/>
              <a:chExt cx="2247" cy="434"/>
            </a:xfrm>
          </p:grpSpPr>
          <p:sp>
            <p:nvSpPr>
              <p:cNvPr id="54" name="Rectangle 32"/>
              <p:cNvSpPr>
                <a:spLocks noChangeArrowheads="1"/>
              </p:cNvSpPr>
              <p:nvPr/>
            </p:nvSpPr>
            <p:spPr bwMode="auto">
              <a:xfrm>
                <a:off x="1267" y="1968"/>
                <a:ext cx="280"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部门</a:t>
                </a:r>
                <a:endParaRPr kumimoji="1" lang="zh-CN" altLang="en-US" sz="1100" b="1" u="none">
                  <a:latin typeface="微软雅黑" panose="020B0503020204020204" pitchFamily="34" charset="-122"/>
                  <a:ea typeface="微软雅黑" panose="020B0503020204020204" pitchFamily="34" charset="-122"/>
                </a:endParaRPr>
              </a:p>
            </p:txBody>
          </p:sp>
          <p:grpSp>
            <p:nvGrpSpPr>
              <p:cNvPr id="55" name="Group 33"/>
              <p:cNvGrpSpPr/>
              <p:nvPr/>
            </p:nvGrpSpPr>
            <p:grpSpPr bwMode="auto">
              <a:xfrm>
                <a:off x="1869" y="2216"/>
                <a:ext cx="830" cy="42"/>
                <a:chOff x="1869" y="2216"/>
                <a:chExt cx="830" cy="42"/>
              </a:xfrm>
            </p:grpSpPr>
            <p:sp>
              <p:nvSpPr>
                <p:cNvPr id="62" name="Line 34"/>
                <p:cNvSpPr>
                  <a:spLocks noChangeShapeType="1"/>
                </p:cNvSpPr>
                <p:nvPr/>
              </p:nvSpPr>
              <p:spPr bwMode="auto">
                <a:xfrm>
                  <a:off x="1869" y="2241"/>
                  <a:ext cx="822" cy="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3" name="Oval 35"/>
                <p:cNvSpPr>
                  <a:spLocks noChangeArrowheads="1"/>
                </p:cNvSpPr>
                <p:nvPr/>
              </p:nvSpPr>
              <p:spPr bwMode="auto">
                <a:xfrm>
                  <a:off x="2662" y="2216"/>
                  <a:ext cx="37" cy="42"/>
                </a:xfrm>
                <a:prstGeom prst="ellipse">
                  <a:avLst/>
                </a:prstGeom>
                <a:solidFill>
                  <a:schemeClr val="tx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sp>
            <p:nvSpPr>
              <p:cNvPr id="56" name="Rectangle 36"/>
              <p:cNvSpPr>
                <a:spLocks noChangeArrowheads="1"/>
              </p:cNvSpPr>
              <p:nvPr/>
            </p:nvSpPr>
            <p:spPr bwMode="auto">
              <a:xfrm>
                <a:off x="2712" y="2078"/>
                <a:ext cx="801" cy="324"/>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8738" tIns="0" rIns="587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员工号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100" b="1" u="none">
                    <a:solidFill>
                      <a:srgbClr val="FFFF00"/>
                    </a:solidFill>
                    <a:latin typeface="微软雅黑" panose="020B0503020204020204" pitchFamily="34" charset="-122"/>
                    <a:ea typeface="微软雅黑" panose="020B0503020204020204" pitchFamily="34" charset="-122"/>
                  </a:rPr>
                  <a:t>部门号</a:t>
                </a:r>
                <a:r>
                  <a:rPr kumimoji="1" lang="zh-TW" altLang="en-US" sz="1100" b="1" u="none">
                    <a:solidFill>
                      <a:srgbClr val="FFFF00"/>
                    </a:solidFill>
                    <a:latin typeface="微软雅黑" panose="020B0503020204020204" pitchFamily="34" charset="-122"/>
                    <a:ea typeface="微软雅黑" panose="020B0503020204020204" pitchFamily="34" charset="-122"/>
                  </a:rPr>
                  <a:t> </a:t>
                </a:r>
                <a:r>
                  <a:rPr kumimoji="1" lang="en-US" altLang="zh-TW" sz="1100" b="1" u="none">
                    <a:solidFill>
                      <a:srgbClr val="FFFF00"/>
                    </a:solidFill>
                    <a:latin typeface="微软雅黑" panose="020B0503020204020204" pitchFamily="34" charset="-122"/>
                    <a:ea typeface="微软雅黑" panose="020B0503020204020204" pitchFamily="34" charset="-122"/>
                  </a:rPr>
                  <a:t>(FK)</a:t>
                </a:r>
                <a:endParaRPr kumimoji="1" lang="en-US" altLang="zh-TW" sz="1100" b="1" u="none">
                  <a:solidFill>
                    <a:srgbClr val="FFFF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员工名</a:t>
                </a:r>
                <a:endParaRPr kumimoji="1" lang="zh-CN" altLang="en-US" sz="1100" b="1" u="none">
                  <a:latin typeface="微软雅黑" panose="020B0503020204020204" pitchFamily="34" charset="-122"/>
                  <a:ea typeface="微软雅黑" panose="020B0503020204020204" pitchFamily="34" charset="-122"/>
                </a:endParaRPr>
              </a:p>
            </p:txBody>
          </p:sp>
          <p:sp>
            <p:nvSpPr>
              <p:cNvPr id="57" name="Line 37"/>
              <p:cNvSpPr>
                <a:spLocks noChangeShapeType="1"/>
              </p:cNvSpPr>
              <p:nvPr/>
            </p:nvSpPr>
            <p:spPr bwMode="auto">
              <a:xfrm>
                <a:off x="2710" y="2182"/>
                <a:ext cx="80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58" name="Group 38"/>
              <p:cNvGrpSpPr/>
              <p:nvPr/>
            </p:nvGrpSpPr>
            <p:grpSpPr bwMode="auto">
              <a:xfrm>
                <a:off x="1305" y="2109"/>
                <a:ext cx="788" cy="266"/>
                <a:chOff x="1305" y="2109"/>
                <a:chExt cx="788" cy="266"/>
              </a:xfrm>
            </p:grpSpPr>
            <p:sp>
              <p:nvSpPr>
                <p:cNvPr id="60" name="Rectangle 39"/>
                <p:cNvSpPr>
                  <a:spLocks noChangeArrowheads="1"/>
                </p:cNvSpPr>
                <p:nvPr/>
              </p:nvSpPr>
              <p:spPr bwMode="auto">
                <a:xfrm>
                  <a:off x="1306" y="2109"/>
                  <a:ext cx="787" cy="26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138" tIns="0" rIns="841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部门号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30000"/>
                    </a:spcBef>
                    <a:buFontTx/>
                    <a:buNone/>
                  </a:pPr>
                  <a:r>
                    <a:rPr kumimoji="1" lang="zh-CN" altLang="en-US" sz="1100" b="1" u="none">
                      <a:latin typeface="微软雅黑" panose="020B0503020204020204" pitchFamily="34" charset="-122"/>
                      <a:ea typeface="微软雅黑" panose="020B0503020204020204" pitchFamily="34" charset="-122"/>
                    </a:rPr>
                    <a:t>部门名</a:t>
                  </a:r>
                  <a:endParaRPr kumimoji="1" lang="zh-CN" altLang="en-US" sz="1100" b="1" u="none">
                    <a:latin typeface="微软雅黑" panose="020B0503020204020204" pitchFamily="34" charset="-122"/>
                    <a:ea typeface="微软雅黑" panose="020B0503020204020204" pitchFamily="34" charset="-122"/>
                  </a:endParaRPr>
                </a:p>
              </p:txBody>
            </p:sp>
            <p:sp>
              <p:nvSpPr>
                <p:cNvPr id="61" name="Line 40"/>
                <p:cNvSpPr>
                  <a:spLocks noChangeShapeType="1"/>
                </p:cNvSpPr>
                <p:nvPr/>
              </p:nvSpPr>
              <p:spPr bwMode="auto">
                <a:xfrm>
                  <a:off x="1305" y="2237"/>
                  <a:ext cx="787"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59" name="AutoShape 41"/>
              <p:cNvSpPr>
                <a:spLocks noChangeArrowheads="1"/>
              </p:cNvSpPr>
              <p:nvPr/>
            </p:nvSpPr>
            <p:spPr bwMode="auto">
              <a:xfrm>
                <a:off x="2093" y="2216"/>
                <a:ext cx="94" cy="51"/>
              </a:xfrm>
              <a:prstGeom prst="diamond">
                <a:avLst/>
              </a:prstGeom>
              <a:solidFill>
                <a:schemeClr val="bg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grpSp>
          <p:nvGrpSpPr>
            <p:cNvPr id="21" name="Group 42"/>
            <p:cNvGrpSpPr/>
            <p:nvPr/>
          </p:nvGrpSpPr>
          <p:grpSpPr bwMode="auto">
            <a:xfrm>
              <a:off x="1479" y="3489"/>
              <a:ext cx="2041" cy="413"/>
              <a:chOff x="1267" y="2529"/>
              <a:chExt cx="2041" cy="413"/>
            </a:xfrm>
          </p:grpSpPr>
          <p:sp>
            <p:nvSpPr>
              <p:cNvPr id="41" name="Line 43"/>
              <p:cNvSpPr>
                <a:spLocks noChangeShapeType="1"/>
              </p:cNvSpPr>
              <p:nvPr/>
            </p:nvSpPr>
            <p:spPr bwMode="auto">
              <a:xfrm>
                <a:off x="1946" y="2817"/>
                <a:ext cx="731"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42" name="Group 44"/>
              <p:cNvGrpSpPr/>
              <p:nvPr/>
            </p:nvGrpSpPr>
            <p:grpSpPr bwMode="auto">
              <a:xfrm>
                <a:off x="1267" y="2529"/>
                <a:ext cx="705" cy="413"/>
                <a:chOff x="1267" y="2529"/>
                <a:chExt cx="705" cy="413"/>
              </a:xfrm>
            </p:grpSpPr>
            <p:sp>
              <p:nvSpPr>
                <p:cNvPr id="49" name="Oval 45"/>
                <p:cNvSpPr>
                  <a:spLocks noChangeArrowheads="1"/>
                </p:cNvSpPr>
                <p:nvPr/>
              </p:nvSpPr>
              <p:spPr bwMode="auto">
                <a:xfrm>
                  <a:off x="1934" y="2797"/>
                  <a:ext cx="38" cy="40"/>
                </a:xfrm>
                <a:prstGeom prst="ellipse">
                  <a:avLst/>
                </a:prstGeom>
                <a:solidFill>
                  <a:schemeClr val="tx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sp>
              <p:nvSpPr>
                <p:cNvPr id="50" name="Rectangle 46"/>
                <p:cNvSpPr>
                  <a:spLocks noChangeArrowheads="1"/>
                </p:cNvSpPr>
                <p:nvPr/>
              </p:nvSpPr>
              <p:spPr bwMode="auto">
                <a:xfrm>
                  <a:off x="1267" y="2529"/>
                  <a:ext cx="280"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零件</a:t>
                  </a:r>
                  <a:endParaRPr kumimoji="1" lang="zh-CN" altLang="en-US" sz="1100" b="1" u="none">
                    <a:latin typeface="微软雅黑" panose="020B0503020204020204" pitchFamily="34" charset="-122"/>
                    <a:ea typeface="微软雅黑" panose="020B0503020204020204" pitchFamily="34" charset="-122"/>
                  </a:endParaRPr>
                </a:p>
              </p:txBody>
            </p:sp>
            <p:grpSp>
              <p:nvGrpSpPr>
                <p:cNvPr id="51" name="Group 47"/>
                <p:cNvGrpSpPr/>
                <p:nvPr/>
              </p:nvGrpSpPr>
              <p:grpSpPr bwMode="auto">
                <a:xfrm>
                  <a:off x="1305" y="2676"/>
                  <a:ext cx="616" cy="266"/>
                  <a:chOff x="1305" y="2676"/>
                  <a:chExt cx="616" cy="266"/>
                </a:xfrm>
              </p:grpSpPr>
              <p:sp>
                <p:nvSpPr>
                  <p:cNvPr id="52" name="Rectangle 48"/>
                  <p:cNvSpPr>
                    <a:spLocks noChangeArrowheads="1"/>
                  </p:cNvSpPr>
                  <p:nvPr/>
                </p:nvSpPr>
                <p:spPr bwMode="auto">
                  <a:xfrm>
                    <a:off x="1306" y="2676"/>
                    <a:ext cx="614" cy="26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138" tIns="0" rIns="841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零件号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30000"/>
                      </a:spcBef>
                      <a:buFontTx/>
                      <a:buNone/>
                    </a:pPr>
                    <a:r>
                      <a:rPr kumimoji="1" lang="zh-CN" altLang="en-US" sz="1100" b="1" u="none">
                        <a:latin typeface="微软雅黑" panose="020B0503020204020204" pitchFamily="34" charset="-122"/>
                        <a:ea typeface="微软雅黑" panose="020B0503020204020204" pitchFamily="34" charset="-122"/>
                      </a:rPr>
                      <a:t>零件名称</a:t>
                    </a:r>
                    <a:endParaRPr kumimoji="1" lang="zh-CN" altLang="en-US" sz="1100" b="1" u="none">
                      <a:latin typeface="微软雅黑" panose="020B0503020204020204" pitchFamily="34" charset="-122"/>
                      <a:ea typeface="微软雅黑" panose="020B0503020204020204" pitchFamily="34" charset="-122"/>
                    </a:endParaRPr>
                  </a:p>
                </p:txBody>
              </p:sp>
              <p:sp>
                <p:nvSpPr>
                  <p:cNvPr id="53" name="Line 49"/>
                  <p:cNvSpPr>
                    <a:spLocks noChangeShapeType="1"/>
                  </p:cNvSpPr>
                  <p:nvPr/>
                </p:nvSpPr>
                <p:spPr bwMode="auto">
                  <a:xfrm>
                    <a:off x="1305" y="2806"/>
                    <a:ext cx="61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43" name="Rectangle 50"/>
              <p:cNvSpPr>
                <a:spLocks noChangeArrowheads="1"/>
              </p:cNvSpPr>
              <p:nvPr/>
            </p:nvSpPr>
            <p:spPr bwMode="auto">
              <a:xfrm>
                <a:off x="2655" y="2535"/>
                <a:ext cx="368"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41275" rIns="82550"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供应商</a:t>
                </a:r>
                <a:endParaRPr kumimoji="1" lang="zh-CN" altLang="en-US" sz="1100" b="1" u="none">
                  <a:latin typeface="微软雅黑" panose="020B0503020204020204" pitchFamily="34" charset="-122"/>
                  <a:ea typeface="微软雅黑" panose="020B0503020204020204" pitchFamily="34" charset="-122"/>
                </a:endParaRPr>
              </a:p>
            </p:txBody>
          </p:sp>
          <p:grpSp>
            <p:nvGrpSpPr>
              <p:cNvPr id="44" name="Group 51"/>
              <p:cNvGrpSpPr/>
              <p:nvPr/>
            </p:nvGrpSpPr>
            <p:grpSpPr bwMode="auto">
              <a:xfrm>
                <a:off x="2644" y="2676"/>
                <a:ext cx="664" cy="266"/>
                <a:chOff x="2644" y="2676"/>
                <a:chExt cx="664" cy="266"/>
              </a:xfrm>
            </p:grpSpPr>
            <p:sp>
              <p:nvSpPr>
                <p:cNvPr id="45" name="Oval 52"/>
                <p:cNvSpPr>
                  <a:spLocks noChangeArrowheads="1"/>
                </p:cNvSpPr>
                <p:nvPr/>
              </p:nvSpPr>
              <p:spPr bwMode="auto">
                <a:xfrm>
                  <a:off x="2644" y="2794"/>
                  <a:ext cx="38" cy="41"/>
                </a:xfrm>
                <a:prstGeom prst="ellipse">
                  <a:avLst/>
                </a:prstGeom>
                <a:solidFill>
                  <a:schemeClr val="tx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1400">
                    <a:latin typeface="微软雅黑" panose="020B0503020204020204" pitchFamily="34" charset="-122"/>
                    <a:ea typeface="微软雅黑" panose="020B0503020204020204" pitchFamily="34" charset="-122"/>
                  </a:endParaRPr>
                </a:p>
              </p:txBody>
            </p:sp>
            <p:grpSp>
              <p:nvGrpSpPr>
                <p:cNvPr id="46" name="Group 53"/>
                <p:cNvGrpSpPr/>
                <p:nvPr/>
              </p:nvGrpSpPr>
              <p:grpSpPr bwMode="auto">
                <a:xfrm>
                  <a:off x="2692" y="2676"/>
                  <a:ext cx="616" cy="266"/>
                  <a:chOff x="2692" y="2676"/>
                  <a:chExt cx="616" cy="266"/>
                </a:xfrm>
              </p:grpSpPr>
              <p:sp>
                <p:nvSpPr>
                  <p:cNvPr id="47" name="Rectangle 54"/>
                  <p:cNvSpPr>
                    <a:spLocks noChangeArrowheads="1"/>
                  </p:cNvSpPr>
                  <p:nvPr/>
                </p:nvSpPr>
                <p:spPr bwMode="auto">
                  <a:xfrm>
                    <a:off x="2694" y="2676"/>
                    <a:ext cx="613" cy="266"/>
                  </a:xfrm>
                  <a:prstGeom prst="rect">
                    <a:avLst/>
                  </a:prstGeom>
                  <a:solidFill>
                    <a:srgbClr val="CC66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138" tIns="0" rIns="84138" b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1100" b="1" u="none">
                        <a:latin typeface="微软雅黑" panose="020B0503020204020204" pitchFamily="34" charset="-122"/>
                        <a:ea typeface="微软雅黑" panose="020B0503020204020204" pitchFamily="34" charset="-122"/>
                      </a:rPr>
                      <a:t>供应商号</a:t>
                    </a:r>
                    <a:endParaRPr kumimoji="1" lang="zh-CN" altLang="en-US" sz="1100" b="1" u="none">
                      <a:latin typeface="微软雅黑" panose="020B0503020204020204" pitchFamily="34" charset="-122"/>
                      <a:ea typeface="微软雅黑" panose="020B0503020204020204" pitchFamily="34" charset="-122"/>
                    </a:endParaRPr>
                  </a:p>
                  <a:p>
                    <a:pPr eaLnBrk="1" hangingPunct="1">
                      <a:spcBef>
                        <a:spcPct val="30000"/>
                      </a:spcBef>
                      <a:buFontTx/>
                      <a:buNone/>
                    </a:pPr>
                    <a:r>
                      <a:rPr kumimoji="1" lang="zh-CN" altLang="en-US" sz="1100" b="1" u="none">
                        <a:latin typeface="微软雅黑" panose="020B0503020204020204" pitchFamily="34" charset="-122"/>
                        <a:ea typeface="微软雅黑" panose="020B0503020204020204" pitchFamily="34" charset="-122"/>
                      </a:rPr>
                      <a:t>供应商名</a:t>
                    </a:r>
                    <a:endParaRPr kumimoji="1" lang="zh-CN" altLang="en-US" sz="1100" b="1" u="none">
                      <a:latin typeface="微软雅黑" panose="020B0503020204020204" pitchFamily="34" charset="-122"/>
                      <a:ea typeface="微软雅黑" panose="020B0503020204020204" pitchFamily="34" charset="-122"/>
                    </a:endParaRPr>
                  </a:p>
                </p:txBody>
              </p:sp>
              <p:sp>
                <p:nvSpPr>
                  <p:cNvPr id="48" name="Line 55"/>
                  <p:cNvSpPr>
                    <a:spLocks noChangeShapeType="1"/>
                  </p:cNvSpPr>
                  <p:nvPr/>
                </p:nvSpPr>
                <p:spPr bwMode="auto">
                  <a:xfrm>
                    <a:off x="2692" y="2806"/>
                    <a:ext cx="61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sp>
          <p:nvSpPr>
            <p:cNvPr id="22" name="Rectangle 56"/>
            <p:cNvSpPr>
              <a:spLocks noChangeArrowheads="1"/>
            </p:cNvSpPr>
            <p:nvPr/>
          </p:nvSpPr>
          <p:spPr bwMode="auto">
            <a:xfrm>
              <a:off x="3853" y="1372"/>
              <a:ext cx="860"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0962" tIns="41275" rIns="80962" bIns="41275">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spcAft>
                  <a:spcPct val="30000"/>
                </a:spcAft>
                <a:buFontTx/>
                <a:buNone/>
              </a:pPr>
              <a:r>
                <a:rPr kumimoji="1" lang="zh-TW" altLang="en-US" sz="1600" b="1" u="none">
                  <a:latin typeface="微软雅黑" panose="020B0503020204020204" pitchFamily="34" charset="-122"/>
                  <a:ea typeface="微软雅黑" panose="020B0503020204020204" pitchFamily="34" charset="-122"/>
                </a:rPr>
                <a:t>相关性</a:t>
              </a:r>
              <a:endParaRPr kumimoji="1" lang="zh-TW" altLang="en-US" sz="1200" b="1" u="none">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TW" altLang="en-US" sz="1200" b="1" u="none">
                  <a:latin typeface="微软雅黑" panose="020B0503020204020204" pitchFamily="34" charset="-122"/>
                  <a:ea typeface="微软雅黑" panose="020B0503020204020204" pitchFamily="34" charset="-122"/>
                </a:rPr>
                <a:t>存在性      </a:t>
              </a:r>
              <a:r>
                <a:rPr kumimoji="1" lang="zh-CN" altLang="en-US" sz="1200" b="1" u="none">
                  <a:latin typeface="微软雅黑" panose="020B0503020204020204" pitchFamily="34" charset="-122"/>
                  <a:ea typeface="微软雅黑" panose="020B0503020204020204" pitchFamily="34" charset="-122"/>
                </a:rPr>
                <a:t>标识</a:t>
              </a:r>
              <a:r>
                <a:rPr kumimoji="1" lang="zh-TW" altLang="en-US" sz="1200" b="1" u="none">
                  <a:latin typeface="微软雅黑" panose="020B0503020204020204" pitchFamily="34" charset="-122"/>
                  <a:ea typeface="微软雅黑" panose="020B0503020204020204" pitchFamily="34" charset="-122"/>
                </a:rPr>
                <a:t>性</a:t>
              </a:r>
              <a:endParaRPr kumimoji="1" lang="zh-TW" altLang="en-US" sz="1200" b="1" u="none">
                <a:latin typeface="微软雅黑" panose="020B0503020204020204" pitchFamily="34" charset="-122"/>
                <a:ea typeface="微软雅黑" panose="020B0503020204020204" pitchFamily="34" charset="-122"/>
              </a:endParaRPr>
            </a:p>
          </p:txBody>
        </p:sp>
        <p:sp>
          <p:nvSpPr>
            <p:cNvPr id="23" name="Line 57"/>
            <p:cNvSpPr>
              <a:spLocks noChangeShapeType="1"/>
            </p:cNvSpPr>
            <p:nvPr/>
          </p:nvSpPr>
          <p:spPr bwMode="auto">
            <a:xfrm>
              <a:off x="4286" y="1570"/>
              <a:ext cx="0" cy="249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4" name="Rectangle 58"/>
            <p:cNvSpPr>
              <a:spLocks noChangeArrowheads="1"/>
            </p:cNvSpPr>
            <p:nvPr/>
          </p:nvSpPr>
          <p:spPr bwMode="auto">
            <a:xfrm>
              <a:off x="3878" y="1925"/>
              <a:ext cx="862" cy="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zh-CN" altLang="en-US" sz="1800" b="1" u="none" dirty="0">
                  <a:latin typeface="微软雅黑" panose="020B0503020204020204" pitchFamily="34" charset="-122"/>
                  <a:ea typeface="微软雅黑" panose="020B0503020204020204" pitchFamily="34" charset="-122"/>
                </a:rPr>
                <a:t> </a:t>
              </a:r>
              <a:r>
                <a:rPr kumimoji="1" lang="en-US" altLang="zh-CN" sz="1800" b="1" u="none" dirty="0">
                  <a:latin typeface="微软雅黑" panose="020B0503020204020204" pitchFamily="34" charset="-122"/>
                  <a:ea typeface="微软雅黑" panose="020B0503020204020204" pitchFamily="34" charset="-122"/>
                </a:rPr>
                <a:t>Yes</a:t>
              </a:r>
              <a:r>
                <a:rPr kumimoji="1" lang="en-US" altLang="zh-TW" sz="1800" b="1" u="none" dirty="0">
                  <a:latin typeface="微软雅黑" panose="020B0503020204020204" pitchFamily="34" charset="-122"/>
                  <a:ea typeface="微软雅黑" panose="020B0503020204020204" pitchFamily="34" charset="-122"/>
                </a:rPr>
                <a:t>      Yes</a:t>
              </a: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en-US" altLang="zh-TW" sz="1800" b="1" u="none" dirty="0">
                  <a:latin typeface="微软雅黑" panose="020B0503020204020204" pitchFamily="34" charset="-122"/>
                  <a:ea typeface="微软雅黑" panose="020B0503020204020204" pitchFamily="34" charset="-122"/>
                </a:rPr>
                <a:t>Yes      No</a:t>
              </a: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en-US" altLang="zh-TW" sz="1800" b="1" u="none" dirty="0">
                  <a:latin typeface="微软雅黑" panose="020B0503020204020204" pitchFamily="34" charset="-122"/>
                  <a:ea typeface="微软雅黑" panose="020B0503020204020204" pitchFamily="34" charset="-122"/>
                </a:rPr>
                <a:t>No      </a:t>
              </a:r>
              <a:r>
                <a:rPr kumimoji="1" lang="en-US" altLang="zh-CN" sz="1800" b="1" u="none" dirty="0">
                  <a:latin typeface="微软雅黑" panose="020B0503020204020204" pitchFamily="34" charset="-122"/>
                  <a:ea typeface="微软雅黑" panose="020B0503020204020204" pitchFamily="34" charset="-122"/>
                </a:rPr>
                <a:t> </a:t>
              </a:r>
              <a:r>
                <a:rPr kumimoji="1" lang="en-US" altLang="zh-TW" sz="1800" b="1" u="none" dirty="0">
                  <a:latin typeface="微软雅黑" panose="020B0503020204020204" pitchFamily="34" charset="-122"/>
                  <a:ea typeface="微软雅黑" panose="020B0503020204020204" pitchFamily="34" charset="-122"/>
                </a:rPr>
                <a:t>No</a:t>
              </a: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endParaRPr kumimoji="1" lang="en-US" altLang="zh-TW" sz="1800" b="1" u="none" dirty="0">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zh-CN" altLang="en-US" sz="1800" b="1" u="none" dirty="0">
                  <a:latin typeface="微软雅黑" panose="020B0503020204020204" pitchFamily="34" charset="-122"/>
                  <a:ea typeface="微软雅黑" panose="020B0503020204020204" pitchFamily="34" charset="-122"/>
                </a:rPr>
                <a:t>－</a:t>
              </a:r>
              <a:r>
                <a:rPr kumimoji="1" lang="zh-TW" altLang="en-US" sz="1800" b="1" u="none" dirty="0">
                  <a:latin typeface="微软雅黑" panose="020B0503020204020204" pitchFamily="34" charset="-122"/>
                  <a:ea typeface="微软雅黑" panose="020B0503020204020204" pitchFamily="34" charset="-122"/>
                </a:rPr>
                <a:t>       </a:t>
              </a:r>
              <a:r>
                <a:rPr kumimoji="1" lang="zh-CN" altLang="en-US" sz="1800" b="1" u="none" dirty="0">
                  <a:latin typeface="微软雅黑" panose="020B0503020204020204" pitchFamily="34" charset="-122"/>
                  <a:ea typeface="微软雅黑" panose="020B0503020204020204" pitchFamily="34" charset="-122"/>
                </a:rPr>
                <a:t>－</a:t>
              </a:r>
              <a:endParaRPr kumimoji="1" lang="zh-CN" altLang="en-US" sz="1800" b="1" u="none" dirty="0">
                <a:latin typeface="微软雅黑" panose="020B0503020204020204" pitchFamily="34" charset="-122"/>
                <a:ea typeface="微软雅黑" panose="020B0503020204020204" pitchFamily="34" charset="-122"/>
              </a:endParaRPr>
            </a:p>
          </p:txBody>
        </p:sp>
        <p:sp>
          <p:nvSpPr>
            <p:cNvPr id="25" name="Line 59"/>
            <p:cNvSpPr>
              <a:spLocks noChangeShapeType="1"/>
            </p:cNvSpPr>
            <p:nvPr/>
          </p:nvSpPr>
          <p:spPr bwMode="auto">
            <a:xfrm flipV="1">
              <a:off x="884" y="1751"/>
              <a:ext cx="3856" cy="1"/>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 name="Line 60"/>
            <p:cNvSpPr>
              <a:spLocks noChangeShapeType="1"/>
            </p:cNvSpPr>
            <p:nvPr/>
          </p:nvSpPr>
          <p:spPr bwMode="auto">
            <a:xfrm>
              <a:off x="884" y="2341"/>
              <a:ext cx="38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Line 61"/>
            <p:cNvSpPr>
              <a:spLocks noChangeShapeType="1"/>
            </p:cNvSpPr>
            <p:nvPr/>
          </p:nvSpPr>
          <p:spPr bwMode="auto">
            <a:xfrm flipV="1">
              <a:off x="1111" y="2885"/>
              <a:ext cx="3629"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Line 62"/>
            <p:cNvSpPr>
              <a:spLocks noChangeShapeType="1"/>
            </p:cNvSpPr>
            <p:nvPr/>
          </p:nvSpPr>
          <p:spPr bwMode="auto">
            <a:xfrm>
              <a:off x="884" y="3430"/>
              <a:ext cx="38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Line 63"/>
            <p:cNvSpPr>
              <a:spLocks noChangeShapeType="1"/>
            </p:cNvSpPr>
            <p:nvPr/>
          </p:nvSpPr>
          <p:spPr bwMode="auto">
            <a:xfrm>
              <a:off x="884" y="4065"/>
              <a:ext cx="385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0" name="Line 64"/>
            <p:cNvSpPr>
              <a:spLocks noChangeShapeType="1"/>
            </p:cNvSpPr>
            <p:nvPr/>
          </p:nvSpPr>
          <p:spPr bwMode="auto">
            <a:xfrm>
              <a:off x="3833" y="1389"/>
              <a:ext cx="0" cy="26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Line 65"/>
            <p:cNvSpPr>
              <a:spLocks noChangeShapeType="1"/>
            </p:cNvSpPr>
            <p:nvPr/>
          </p:nvSpPr>
          <p:spPr bwMode="auto">
            <a:xfrm>
              <a:off x="3833" y="1570"/>
              <a:ext cx="907"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2" name="Line 66"/>
            <p:cNvSpPr>
              <a:spLocks noChangeShapeType="1"/>
            </p:cNvSpPr>
            <p:nvPr/>
          </p:nvSpPr>
          <p:spPr bwMode="auto">
            <a:xfrm>
              <a:off x="884" y="1389"/>
              <a:ext cx="385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3" name="Text Box 67"/>
            <p:cNvSpPr txBox="1">
              <a:spLocks noChangeArrowheads="1"/>
            </p:cNvSpPr>
            <p:nvPr/>
          </p:nvSpPr>
          <p:spPr bwMode="auto">
            <a:xfrm>
              <a:off x="2381" y="1434"/>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b="1" u="none">
                  <a:latin typeface="微软雅黑" panose="020B0503020204020204" pitchFamily="34" charset="-122"/>
                  <a:ea typeface="微软雅黑" panose="020B0503020204020204" pitchFamily="34" charset="-122"/>
                </a:rPr>
                <a:t>表示</a:t>
              </a:r>
              <a:endParaRPr lang="zh-CN" altLang="en-US" sz="1800" b="1" u="none">
                <a:latin typeface="微软雅黑" panose="020B0503020204020204" pitchFamily="34" charset="-122"/>
                <a:ea typeface="微软雅黑" panose="020B0503020204020204" pitchFamily="34" charset="-122"/>
              </a:endParaRPr>
            </a:p>
          </p:txBody>
        </p:sp>
        <p:sp>
          <p:nvSpPr>
            <p:cNvPr id="34" name="Line 68"/>
            <p:cNvSpPr>
              <a:spLocks noChangeShapeType="1"/>
            </p:cNvSpPr>
            <p:nvPr/>
          </p:nvSpPr>
          <p:spPr bwMode="auto">
            <a:xfrm>
              <a:off x="1383" y="1389"/>
              <a:ext cx="0" cy="26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Line 69"/>
            <p:cNvSpPr>
              <a:spLocks noChangeShapeType="1"/>
            </p:cNvSpPr>
            <p:nvPr/>
          </p:nvSpPr>
          <p:spPr bwMode="auto">
            <a:xfrm>
              <a:off x="1126" y="2341"/>
              <a:ext cx="0" cy="10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Line 70"/>
            <p:cNvSpPr>
              <a:spLocks noChangeShapeType="1"/>
            </p:cNvSpPr>
            <p:nvPr/>
          </p:nvSpPr>
          <p:spPr bwMode="auto">
            <a:xfrm>
              <a:off x="4740" y="1389"/>
              <a:ext cx="0" cy="26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7" name="Line 71"/>
            <p:cNvSpPr>
              <a:spLocks noChangeShapeType="1"/>
            </p:cNvSpPr>
            <p:nvPr/>
          </p:nvSpPr>
          <p:spPr bwMode="auto">
            <a:xfrm>
              <a:off x="884" y="1389"/>
              <a:ext cx="0" cy="26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8" name="Text Box 72"/>
            <p:cNvSpPr txBox="1">
              <a:spLocks noChangeArrowheads="1"/>
            </p:cNvSpPr>
            <p:nvPr/>
          </p:nvSpPr>
          <p:spPr bwMode="auto">
            <a:xfrm>
              <a:off x="884" y="1933"/>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b="1" u="none">
                  <a:latin typeface="微软雅黑" panose="020B0503020204020204" pitchFamily="34" charset="-122"/>
                  <a:ea typeface="微软雅黑" panose="020B0503020204020204" pitchFamily="34" charset="-122"/>
                </a:rPr>
                <a:t>标识</a:t>
              </a:r>
              <a:endParaRPr lang="zh-CN" altLang="en-US" sz="1800" b="1" u="none">
                <a:latin typeface="微软雅黑" panose="020B0503020204020204" pitchFamily="34" charset="-122"/>
                <a:ea typeface="微软雅黑" panose="020B0503020204020204" pitchFamily="34" charset="-122"/>
              </a:endParaRPr>
            </a:p>
          </p:txBody>
        </p:sp>
        <p:sp>
          <p:nvSpPr>
            <p:cNvPr id="39" name="Text Box 73"/>
            <p:cNvSpPr txBox="1">
              <a:spLocks noChangeArrowheads="1"/>
            </p:cNvSpPr>
            <p:nvPr/>
          </p:nvSpPr>
          <p:spPr bwMode="auto">
            <a:xfrm>
              <a:off x="913" y="2614"/>
              <a:ext cx="136"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50000"/>
                </a:spcBef>
                <a:buFontTx/>
                <a:buNone/>
              </a:pPr>
              <a:r>
                <a:rPr lang="zh-CN" altLang="en-US" sz="1800" b="1" u="none">
                  <a:latin typeface="微软雅黑" panose="020B0503020204020204" pitchFamily="34" charset="-122"/>
                  <a:ea typeface="微软雅黑" panose="020B0503020204020204" pitchFamily="34" charset="-122"/>
                </a:rPr>
                <a:t>非标识</a:t>
              </a:r>
              <a:endParaRPr lang="zh-CN" altLang="en-US" sz="1800" b="1" u="none">
                <a:latin typeface="微软雅黑" panose="020B0503020204020204" pitchFamily="34" charset="-122"/>
                <a:ea typeface="微软雅黑" panose="020B0503020204020204" pitchFamily="34" charset="-122"/>
              </a:endParaRPr>
            </a:p>
          </p:txBody>
        </p:sp>
        <p:sp>
          <p:nvSpPr>
            <p:cNvPr id="40" name="Text Box 74"/>
            <p:cNvSpPr txBox="1">
              <a:spLocks noChangeArrowheads="1"/>
            </p:cNvSpPr>
            <p:nvPr/>
          </p:nvSpPr>
          <p:spPr bwMode="auto">
            <a:xfrm>
              <a:off x="884" y="3657"/>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buFontTx/>
                <a:buNone/>
              </a:pPr>
              <a:r>
                <a:rPr lang="en-US" altLang="zh-CN" sz="1800" b="1" u="none">
                  <a:latin typeface="微软雅黑" panose="020B0503020204020204" pitchFamily="34" charset="-122"/>
                  <a:ea typeface="微软雅黑" panose="020B0503020204020204" pitchFamily="34" charset="-122"/>
                </a:rPr>
                <a:t>M : N</a:t>
              </a:r>
              <a:endParaRPr lang="en-US" altLang="zh-CN" sz="1800" b="1" u="none">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sym typeface="Symbol" panose="05050102010706020507" pitchFamily="2" charset="2"/>
              </a:rPr>
              <a:t>任何数据库最终都要存储在物理设备上。为一个给定的逻辑数据模型选取一个最适合应用环境的物理结构（存储结构与存取方法）的过程，就是数据库的物理设计</a:t>
            </a:r>
            <a:endParaRPr lang="zh-CN" altLang="en-US" dirty="0">
              <a:sym typeface="Symbol" panose="05050102010706020507" pitchFamily="2" charset="2"/>
            </a:endParaRPr>
          </a:p>
          <a:p>
            <a:pPr marL="357505" indent="-357505">
              <a:tabLst>
                <a:tab pos="190500" algn="l"/>
                <a:tab pos="193675" algn="l"/>
                <a:tab pos="669925" algn="l"/>
              </a:tabLst>
            </a:pPr>
            <a:r>
              <a:rPr lang="zh-CN" altLang="en-US" dirty="0">
                <a:sym typeface="Symbol" panose="05050102010706020507" pitchFamily="2" charset="2"/>
              </a:rPr>
              <a:t>数据库物理结构依赖于给定的</a:t>
            </a:r>
            <a:r>
              <a:rPr lang="en-US" altLang="zh-CN" dirty="0">
                <a:sym typeface="Symbol" panose="05050102010706020507" pitchFamily="2" charset="2"/>
              </a:rPr>
              <a:t>DBMS</a:t>
            </a:r>
            <a:r>
              <a:rPr lang="zh-CN" altLang="en-US" dirty="0">
                <a:sym typeface="Symbol" panose="05050102010706020507" pitchFamily="2" charset="2"/>
              </a:rPr>
              <a:t>、</a:t>
            </a:r>
            <a:r>
              <a:rPr lang="en-US" altLang="zh-CN" dirty="0">
                <a:sym typeface="Symbol" panose="05050102010706020507" pitchFamily="2" charset="2"/>
              </a:rPr>
              <a:t>OS</a:t>
            </a:r>
            <a:r>
              <a:rPr lang="zh-CN" altLang="en-US" dirty="0">
                <a:sym typeface="Symbol" panose="05050102010706020507" pitchFamily="2" charset="2"/>
              </a:rPr>
              <a:t>及硬件系统，因此设计人员必须</a:t>
            </a:r>
            <a:r>
              <a:rPr lang="en-US" altLang="zh-CN" dirty="0">
                <a:sym typeface="Symbol" panose="05050102010706020507" pitchFamily="2" charset="2"/>
              </a:rPr>
              <a:t>(1)</a:t>
            </a:r>
            <a:r>
              <a:rPr lang="zh-CN" altLang="en-US" dirty="0">
                <a:sym typeface="Symbol" panose="05050102010706020507" pitchFamily="2" charset="2"/>
              </a:rPr>
              <a:t>充分了解所用</a:t>
            </a:r>
            <a:r>
              <a:rPr lang="en-US" altLang="zh-CN" dirty="0">
                <a:sym typeface="Symbol" panose="05050102010706020507" pitchFamily="2" charset="2"/>
              </a:rPr>
              <a:t>DBMS</a:t>
            </a:r>
            <a:r>
              <a:rPr lang="zh-CN" altLang="en-US" dirty="0">
                <a:sym typeface="Symbol" panose="05050102010706020507" pitchFamily="2" charset="2"/>
              </a:rPr>
              <a:t>的内部特征，特别是存储结构和存取方法；</a:t>
            </a:r>
            <a:r>
              <a:rPr lang="en-US" altLang="zh-CN" dirty="0">
                <a:sym typeface="Symbol" panose="05050102010706020507" pitchFamily="2" charset="2"/>
              </a:rPr>
              <a:t>(2)</a:t>
            </a:r>
            <a:r>
              <a:rPr lang="zh-CN" altLang="en-US" dirty="0">
                <a:sym typeface="Symbol" panose="05050102010706020507" pitchFamily="2" charset="2"/>
              </a:rPr>
              <a:t>充分了解应用环境，特别是应用的处理频率和响应时间要求；</a:t>
            </a:r>
            <a:r>
              <a:rPr lang="en-US" altLang="zh-CN" dirty="0">
                <a:sym typeface="Symbol" panose="05050102010706020507" pitchFamily="2" charset="2"/>
              </a:rPr>
              <a:t>(3)</a:t>
            </a:r>
            <a:r>
              <a:rPr lang="zh-CN" altLang="en-US" dirty="0">
                <a:sym typeface="Symbol" panose="05050102010706020507" pitchFamily="2" charset="2"/>
              </a:rPr>
              <a:t>充分了解外存设备的特性 　 </a:t>
            </a:r>
            <a:endParaRPr lang="zh-CN" altLang="en-US" dirty="0">
              <a:sym typeface="Symbol" panose="05050102010706020507" pitchFamily="2" charset="2"/>
            </a:endParaRPr>
          </a:p>
          <a:p>
            <a:pPr marL="457200" lvl="1" indent="0">
              <a:buNone/>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物理设计的步骤</a:t>
            </a:r>
            <a:endParaRPr lang="en-US" altLang="zh-CN" dirty="0"/>
          </a:p>
          <a:p>
            <a:pPr lvl="1">
              <a:lnSpc>
                <a:spcPct val="150000"/>
              </a:lnSpc>
            </a:pPr>
            <a:r>
              <a:rPr lang="zh-CN" altLang="en-US" dirty="0">
                <a:sym typeface="Symbol" panose="05050102010706020507" pitchFamily="2" charset="2"/>
              </a:rPr>
              <a:t>确定数据的存储结构</a:t>
            </a:r>
            <a:endParaRPr lang="zh-CN" altLang="en-US" dirty="0"/>
          </a:p>
          <a:p>
            <a:pPr lvl="1">
              <a:lnSpc>
                <a:spcPct val="150000"/>
              </a:lnSpc>
            </a:pPr>
            <a:r>
              <a:rPr lang="zh-CN" altLang="en-US" dirty="0"/>
              <a:t>确定数据的存放位置 </a:t>
            </a:r>
            <a:endParaRPr lang="zh-CN" altLang="en-US" dirty="0"/>
          </a:p>
          <a:p>
            <a:pPr lvl="1">
              <a:lnSpc>
                <a:spcPct val="150000"/>
              </a:lnSpc>
            </a:pPr>
            <a:r>
              <a:rPr lang="zh-CN" altLang="en-US" dirty="0"/>
              <a:t>确定数据的存取方法</a:t>
            </a:r>
            <a:endParaRPr lang="zh-CN" altLang="en-US" dirty="0"/>
          </a:p>
          <a:p>
            <a:pPr lvl="1">
              <a:lnSpc>
                <a:spcPct val="150000"/>
              </a:lnSpc>
            </a:pPr>
            <a:r>
              <a:rPr lang="zh-CN" altLang="en-US" dirty="0">
                <a:sym typeface="Symbol" panose="05050102010706020507" pitchFamily="2" charset="2"/>
              </a:rPr>
              <a:t>确定系统配置</a:t>
            </a:r>
            <a:endParaRPr lang="zh-CN" altLang="en-US" dirty="0"/>
          </a:p>
          <a:p>
            <a:pPr lvl="1">
              <a:lnSpc>
                <a:spcPct val="150000"/>
              </a:lnSpc>
            </a:pPr>
            <a:r>
              <a:rPr lang="zh-CN" altLang="en-US" dirty="0">
                <a:sym typeface="Symbol" panose="05050102010706020507" pitchFamily="2" charset="2"/>
              </a:rPr>
              <a:t>对物理结构进行评价</a:t>
            </a:r>
            <a:endParaRPr lang="zh-CN" altLang="en-US" dirty="0">
              <a:sym typeface="Symbol" panose="05050102010706020507" pitchFamily="2" charset="2"/>
            </a:endParaRPr>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确定数据的存储结构</a:t>
            </a:r>
            <a:endParaRPr lang="zh-CN" altLang="en-US" dirty="0"/>
          </a:p>
          <a:p>
            <a:pPr marL="900430" lvl="1" indent="-443230">
              <a:lnSpc>
                <a:spcPct val="150000"/>
              </a:lnSpc>
              <a:tabLst>
                <a:tab pos="190500" algn="l"/>
                <a:tab pos="193675" algn="l"/>
                <a:tab pos="669925" algn="l"/>
              </a:tabLst>
            </a:pPr>
            <a:r>
              <a:rPr lang="zh-CN" altLang="en-US" dirty="0">
                <a:sym typeface="Symbol" panose="05050102010706020507" pitchFamily="2" charset="2"/>
              </a:rPr>
              <a:t>确定数据库存放位置和存储结构时要综合考虑存取时间、存储空间利用率和维护代价三方面的因素</a:t>
            </a:r>
            <a:endParaRPr lang="zh-CN" altLang="en-US" dirty="0">
              <a:sym typeface="Symbol" panose="05050102010706020507" pitchFamily="2" charset="2"/>
            </a:endParaRPr>
          </a:p>
          <a:p>
            <a:pPr marL="900430" lvl="1" indent="-443230">
              <a:lnSpc>
                <a:spcPct val="150000"/>
              </a:lnSpc>
              <a:tabLst>
                <a:tab pos="190500" algn="l"/>
                <a:tab pos="193675" algn="l"/>
                <a:tab pos="669925" algn="l"/>
              </a:tabLst>
            </a:pPr>
            <a:r>
              <a:rPr lang="zh-CN" altLang="en-US" dirty="0">
                <a:sym typeface="Symbol" panose="05050102010706020507" pitchFamily="2" charset="2"/>
              </a:rPr>
              <a:t>但是，这三个方面常常是相互矛盾的，例如消除一切冗余数据虽然能够节约存储空间，但往往会导致检索代价的增加，因此必须进行权衡，选择一个折中方案</a:t>
            </a:r>
            <a:endParaRPr lang="zh-CN" altLang="en-US" dirty="0">
              <a:sym typeface="Symbol" panose="05050102010706020507" pitchFamily="2" charset="2"/>
            </a:endParaRPr>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确定数据的存放位置</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目前许多计算机都有多个磁盘，因此进行物理设计时可以考虑将</a:t>
            </a:r>
            <a:r>
              <a:rPr lang="zh-CN" altLang="en-US" u="sng" dirty="0">
                <a:sym typeface="Symbol" panose="05050102010706020507" pitchFamily="2" charset="2"/>
              </a:rPr>
              <a:t>表</a:t>
            </a:r>
            <a:r>
              <a:rPr lang="zh-CN" altLang="en-US" dirty="0">
                <a:sym typeface="Symbol" panose="05050102010706020507" pitchFamily="2" charset="2"/>
              </a:rPr>
              <a:t>和</a:t>
            </a:r>
            <a:r>
              <a:rPr lang="zh-CN" altLang="en-US" u="sng" dirty="0">
                <a:sym typeface="Symbol" panose="05050102010706020507" pitchFamily="2" charset="2"/>
              </a:rPr>
              <a:t>索引</a:t>
            </a:r>
            <a:r>
              <a:rPr lang="zh-CN" altLang="en-US" dirty="0">
                <a:sym typeface="Symbol" panose="05050102010706020507" pitchFamily="2" charset="2"/>
              </a:rPr>
              <a:t>分别放在不同的磁盘上，在查询时，由于两个磁盘驱动器分别在工作，因而可以保证物理读写速度比较快</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可以将</a:t>
            </a:r>
            <a:r>
              <a:rPr lang="zh-CN" altLang="en-US" u="sng" dirty="0">
                <a:sym typeface="Symbol" panose="05050102010706020507" pitchFamily="2" charset="2"/>
              </a:rPr>
              <a:t>比较大的表</a:t>
            </a:r>
            <a:r>
              <a:rPr lang="zh-CN" altLang="en-US" dirty="0">
                <a:sym typeface="Symbol" panose="05050102010706020507" pitchFamily="2" charset="2"/>
              </a:rPr>
              <a:t>分别放在两个磁盘上，以加快存取速度，这在多用户环境下特别有效。此外还可以将</a:t>
            </a:r>
            <a:r>
              <a:rPr lang="zh-CN" altLang="en-US" u="sng" dirty="0">
                <a:sym typeface="Symbol" panose="05050102010706020507" pitchFamily="2" charset="2"/>
              </a:rPr>
              <a:t>日志文件</a:t>
            </a:r>
            <a:r>
              <a:rPr lang="zh-CN" altLang="en-US" dirty="0">
                <a:sym typeface="Symbol" panose="05050102010706020507" pitchFamily="2" charset="2"/>
              </a:rPr>
              <a:t>与</a:t>
            </a:r>
            <a:r>
              <a:rPr lang="zh-CN" altLang="en-US" u="sng" dirty="0">
                <a:sym typeface="Symbol" panose="05050102010706020507" pitchFamily="2" charset="2"/>
              </a:rPr>
              <a:t>数据库对象</a:t>
            </a:r>
            <a:r>
              <a:rPr lang="zh-CN" altLang="en-US" dirty="0">
                <a:sym typeface="Symbol" panose="05050102010706020507" pitchFamily="2" charset="2"/>
              </a:rPr>
              <a:t>（表、索引等）放在不同的磁盘以改进系统的性能</a:t>
            </a:r>
            <a:endParaRPr lang="zh-CN" altLang="en-US" dirty="0">
              <a:sym typeface="Symbol" panose="05050102010706020507" pitchFamily="2" charset="2"/>
            </a:endParaRPr>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确定数据的存放位置</a:t>
            </a:r>
            <a:endParaRPr lang="en-US" altLang="zh-CN" dirty="0"/>
          </a:p>
          <a:p>
            <a:pPr marL="814705" lvl="1" indent="-357505">
              <a:lnSpc>
                <a:spcPct val="150000"/>
              </a:lnSpc>
              <a:tabLst>
                <a:tab pos="190500" algn="l"/>
                <a:tab pos="193675" algn="l"/>
                <a:tab pos="669925" algn="l"/>
              </a:tabLst>
            </a:pPr>
            <a:r>
              <a:rPr lang="zh-CN" altLang="zh-CN" dirty="0"/>
              <a:t>数据可以按照使用频繁程度或者稳定程度进行划分并确定其存储位置，对于需要频繁访问的大关系，可以考虑将其按照一定的原则进行分片，然后放置在不同的磁盘上，此外也可以将索引和具体的数据文件放置在不同的磁盘上，同样可以提高I/O速度</a:t>
            </a:r>
            <a:endParaRPr lang="zh-CN" altLang="en-US" dirty="0"/>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确定数据的存放位置</a:t>
            </a:r>
            <a:endParaRPr lang="en-US" altLang="zh-CN" dirty="0"/>
          </a:p>
          <a:p>
            <a:pPr marL="814705" lvl="1" indent="-357505">
              <a:lnSpc>
                <a:spcPct val="150000"/>
              </a:lnSpc>
              <a:tabLst>
                <a:tab pos="190500" algn="l"/>
                <a:tab pos="193675" algn="l"/>
                <a:tab pos="669925" algn="l"/>
              </a:tabLst>
            </a:pPr>
            <a:r>
              <a:rPr lang="zh-CN" altLang="zh-CN" dirty="0"/>
              <a:t>将数据划分到不同的磁盘驱动器或磁盘阵列上的设计</a:t>
            </a:r>
            <a:r>
              <a:rPr lang="zh-CN" altLang="en-US" dirty="0"/>
              <a:t>参考</a:t>
            </a:r>
            <a:r>
              <a:rPr lang="zh-CN" altLang="zh-CN" dirty="0"/>
              <a:t>原则：</a:t>
            </a:r>
            <a:endParaRPr lang="zh-CN" altLang="zh-CN" dirty="0"/>
          </a:p>
          <a:p>
            <a:pPr lvl="2">
              <a:lnSpc>
                <a:spcPct val="150000"/>
              </a:lnSpc>
              <a:buClr>
                <a:srgbClr val="E40000"/>
              </a:buClr>
              <a:buNone/>
            </a:pPr>
            <a:r>
              <a:rPr lang="zh-CN" altLang="en-US" sz="2200" dirty="0"/>
              <a:t> </a:t>
            </a:r>
            <a:r>
              <a:rPr lang="zh-CN" altLang="zh-CN" sz="2200" dirty="0"/>
              <a:t>(1)减少磁盘访问冲突，提高I/O并行性 </a:t>
            </a:r>
            <a:endParaRPr lang="zh-CN" altLang="en-US" sz="2200" dirty="0"/>
          </a:p>
          <a:p>
            <a:pPr lvl="2">
              <a:lnSpc>
                <a:spcPct val="150000"/>
              </a:lnSpc>
              <a:buClr>
                <a:srgbClr val="E40000"/>
              </a:buClr>
              <a:buNone/>
            </a:pPr>
            <a:r>
              <a:rPr lang="zh-CN" altLang="en-US" sz="2200" dirty="0"/>
              <a:t> </a:t>
            </a:r>
            <a:r>
              <a:rPr lang="zh-CN" altLang="zh-CN" sz="2200" dirty="0"/>
              <a:t>(2)分散需要频繁访问的数据，均衡I/O负载</a:t>
            </a:r>
            <a:endParaRPr lang="zh-CN" altLang="zh-CN" sz="2200" dirty="0"/>
          </a:p>
          <a:p>
            <a:pPr lvl="2">
              <a:lnSpc>
                <a:spcPct val="150000"/>
              </a:lnSpc>
              <a:buClr>
                <a:srgbClr val="E40000"/>
              </a:buClr>
              <a:buNone/>
            </a:pPr>
            <a:r>
              <a:rPr lang="zh-CN" altLang="en-US" sz="2200" dirty="0"/>
              <a:t> </a:t>
            </a:r>
            <a:r>
              <a:rPr lang="zh-CN" altLang="zh-CN" sz="2200" dirty="0"/>
              <a:t>(3)提高关键数据存取速度</a:t>
            </a:r>
            <a:endParaRPr lang="zh-CN" altLang="zh-CN" sz="2200" dirty="0"/>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zh-CN" dirty="0"/>
              <a:t>存取方式设计的任务就是确定采用何种存取路径以获得最快的数据存取速度，DBMS一般都会提供索引、聚簇、散列等常见的存取路径供选择，其中索引是使用最多的存取方法</a:t>
            </a:r>
            <a:endParaRPr lang="zh-CN" altLang="en-US" dirty="0"/>
          </a:p>
          <a:p>
            <a:pPr marL="814705" lvl="1" indent="-357505">
              <a:lnSpc>
                <a:spcPct val="150000"/>
              </a:lnSpc>
              <a:tabLst>
                <a:tab pos="190500" algn="l"/>
                <a:tab pos="193675" algn="l"/>
                <a:tab pos="669925" algn="l"/>
              </a:tabLst>
            </a:pPr>
            <a:r>
              <a:rPr lang="zh-CN" altLang="zh-CN" dirty="0"/>
              <a:t>存取路径的确定并不是惟一的，同一个数据对象上可以有满足不同应用需求的多种存取方式同时存在</a:t>
            </a:r>
            <a:endParaRPr lang="zh-CN" altLang="zh-CN" dirty="0"/>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在关系数据库中，选择存取路径主要是指确定如何建立索引</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例如，应把哪些属性作为次键建立次索引，建立单键索引还是组合索引，建立多少个为合适，是否建立聚集索引等</a:t>
            </a:r>
            <a:endParaRPr lang="zh-CN" altLang="en-US" dirty="0">
              <a:sym typeface="Symbol" panose="05050102010706020507" pitchFamily="2" charset="2"/>
            </a:endParaRPr>
          </a:p>
          <a:p>
            <a:pPr marL="814705" lvl="1" indent="-357505">
              <a:tabLst>
                <a:tab pos="190500" algn="l"/>
                <a:tab pos="193675" algn="l"/>
                <a:tab pos="669925" algn="l"/>
              </a:tabLst>
            </a:pP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常用的存取方法</a:t>
            </a:r>
            <a:endParaRPr lang="en-US" altLang="zh-CN" dirty="0"/>
          </a:p>
          <a:p>
            <a:pPr lvl="1"/>
            <a:r>
              <a:rPr lang="zh-CN" altLang="en-US" dirty="0"/>
              <a:t>索引法</a:t>
            </a:r>
            <a:endParaRPr lang="zh-CN" altLang="en-US" dirty="0"/>
          </a:p>
          <a:p>
            <a:pPr lvl="2"/>
            <a:r>
              <a:rPr lang="zh-CN" altLang="en-US" sz="2200" dirty="0"/>
              <a:t>为加快按某个属性</a:t>
            </a:r>
            <a:r>
              <a:rPr lang="en-US" altLang="zh-CN" sz="2200" dirty="0"/>
              <a:t>(</a:t>
            </a:r>
            <a:r>
              <a:rPr lang="zh-CN" altLang="en-US" sz="2200" dirty="0"/>
              <a:t>组</a:t>
            </a:r>
            <a:r>
              <a:rPr lang="en-US" altLang="zh-CN" sz="2200" dirty="0"/>
              <a:t>)</a:t>
            </a:r>
            <a:r>
              <a:rPr lang="zh-CN" altLang="en-US" sz="2200" dirty="0"/>
              <a:t>进行存取的效率，根据该属性</a:t>
            </a:r>
            <a:r>
              <a:rPr lang="en-US" altLang="zh-CN" sz="2200" dirty="0"/>
              <a:t>(</a:t>
            </a:r>
            <a:r>
              <a:rPr lang="zh-CN" altLang="en-US" sz="2200" dirty="0"/>
              <a:t>组</a:t>
            </a:r>
            <a:r>
              <a:rPr lang="en-US" altLang="zh-CN" sz="2200" dirty="0"/>
              <a:t>)</a:t>
            </a:r>
            <a:r>
              <a:rPr lang="zh-CN" altLang="en-US" sz="2200" dirty="0"/>
              <a:t>建立索引，如</a:t>
            </a:r>
            <a:r>
              <a:rPr lang="en-US" altLang="zh-CN" sz="2200" dirty="0"/>
              <a:t>B+</a:t>
            </a:r>
            <a:r>
              <a:rPr lang="zh-CN" altLang="en-US" sz="2200" dirty="0"/>
              <a:t>树</a:t>
            </a:r>
            <a:endParaRPr lang="zh-CN" altLang="en-US" sz="2200" dirty="0"/>
          </a:p>
          <a:p>
            <a:pPr lvl="2"/>
            <a:r>
              <a:rPr lang="zh-CN" altLang="en-US" sz="2200" dirty="0"/>
              <a:t>索引建立在单个关系上</a:t>
            </a:r>
            <a:endParaRPr lang="zh-CN" altLang="en-US" sz="2200" dirty="0"/>
          </a:p>
          <a:p>
            <a:pPr lvl="1"/>
            <a:r>
              <a:rPr lang="zh-CN" altLang="en-US" dirty="0"/>
              <a:t>聚簇</a:t>
            </a:r>
            <a:r>
              <a:rPr lang="en-US" altLang="zh-CN" dirty="0"/>
              <a:t>(Cluster)</a:t>
            </a:r>
            <a:r>
              <a:rPr lang="zh-CN" altLang="en-US" dirty="0"/>
              <a:t>法</a:t>
            </a:r>
            <a:endParaRPr lang="zh-CN" altLang="en-US" dirty="0"/>
          </a:p>
          <a:p>
            <a:pPr lvl="2"/>
            <a:r>
              <a:rPr lang="zh-CN" altLang="en-US" sz="2200" dirty="0"/>
              <a:t>为提高按聚簇键进行查询的效率，将聚簇键上具有相同值的元组存放在连续物理块</a:t>
            </a:r>
            <a:endParaRPr lang="zh-CN" altLang="en-US" sz="2200" dirty="0"/>
          </a:p>
          <a:p>
            <a:pPr lvl="2"/>
            <a:r>
              <a:rPr lang="zh-CN" altLang="en-US" sz="2200" dirty="0"/>
              <a:t>一个数据库可以建立多个聚簇，但一个关系只能有一个聚簇</a:t>
            </a:r>
            <a:endParaRPr lang="zh-CN" altLang="en-US" sz="2200" dirty="0"/>
          </a:p>
          <a:p>
            <a:pPr lvl="2"/>
            <a:r>
              <a:rPr lang="zh-CN" altLang="en-US" sz="2200" dirty="0"/>
              <a:t>聚簇可以建立在单表上，也可建立在进行连接操作的多个表上</a:t>
            </a:r>
            <a:endParaRPr lang="zh-CN" altLang="en-US" sz="2200" dirty="0"/>
          </a:p>
          <a:p>
            <a:pPr lvl="2"/>
            <a:r>
              <a:rPr lang="en-US" altLang="zh-CN" sz="2200" dirty="0"/>
              <a:t>SQL</a:t>
            </a:r>
            <a:r>
              <a:rPr lang="zh-CN" altLang="en-US" sz="2200" dirty="0"/>
              <a:t>中与聚簇有关的操作如</a:t>
            </a:r>
            <a:r>
              <a:rPr lang="en-US" altLang="zh-CN" sz="2200" dirty="0"/>
              <a:t>ORDER BY, GROUP BY, UNION, DISTINCT</a:t>
            </a:r>
            <a:r>
              <a:rPr lang="zh-CN" altLang="en-US" sz="2200" dirty="0"/>
              <a:t>等</a:t>
            </a:r>
            <a:endParaRPr lang="zh-CN" altLang="en-US"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常用的存取方法</a:t>
            </a:r>
            <a:endParaRPr lang="en-US" altLang="zh-CN" dirty="0"/>
          </a:p>
          <a:p>
            <a:pPr lvl="1">
              <a:lnSpc>
                <a:spcPct val="150000"/>
              </a:lnSpc>
            </a:pPr>
            <a:r>
              <a:rPr lang="en-US" altLang="zh-CN" dirty="0"/>
              <a:t>HASH</a:t>
            </a:r>
            <a:r>
              <a:rPr lang="zh-CN" altLang="en-US" dirty="0"/>
              <a:t>法</a:t>
            </a:r>
            <a:endParaRPr lang="zh-CN" altLang="en-US" dirty="0"/>
          </a:p>
          <a:p>
            <a:pPr lvl="2">
              <a:lnSpc>
                <a:spcPct val="150000"/>
              </a:lnSpc>
            </a:pPr>
            <a:r>
              <a:rPr lang="zh-CN" altLang="en-US" sz="2200" dirty="0"/>
              <a:t>设计合理的</a:t>
            </a:r>
            <a:r>
              <a:rPr lang="en-US" altLang="zh-CN" sz="2200" dirty="0"/>
              <a:t>HASH</a:t>
            </a:r>
            <a:r>
              <a:rPr lang="zh-CN" altLang="en-US" sz="2200" dirty="0"/>
              <a:t>函数，根据关键字值计算得到存储地址</a:t>
            </a:r>
            <a:endParaRPr lang="zh-CN" altLang="en-US" sz="2200" dirty="0"/>
          </a:p>
          <a:p>
            <a:pPr lvl="2">
              <a:lnSpc>
                <a:spcPct val="150000"/>
              </a:lnSpc>
            </a:pPr>
            <a:r>
              <a:rPr lang="zh-CN" altLang="en-US" sz="2200" dirty="0"/>
              <a:t>对可能出现的地址冲突现象设计合理的解决方案</a:t>
            </a:r>
            <a:endParaRPr lang="zh-CN" altLang="en-US" sz="2200" dirty="0"/>
          </a:p>
          <a:p>
            <a:pPr lvl="2">
              <a:lnSpc>
                <a:spcPct val="150000"/>
              </a:lnSpc>
            </a:pPr>
            <a:r>
              <a:rPr lang="zh-CN" altLang="en-US" sz="2200" dirty="0"/>
              <a:t>当某属性</a:t>
            </a:r>
            <a:r>
              <a:rPr lang="en-US" altLang="zh-CN" sz="2200" dirty="0"/>
              <a:t>(</a:t>
            </a:r>
            <a:r>
              <a:rPr lang="zh-CN" altLang="en-US" sz="2200" dirty="0"/>
              <a:t>组</a:t>
            </a:r>
            <a:r>
              <a:rPr lang="en-US" altLang="zh-CN" sz="2200" dirty="0"/>
              <a:t>)</a:t>
            </a:r>
            <a:r>
              <a:rPr lang="zh-CN" altLang="en-US" sz="2200" dirty="0"/>
              <a:t>主要出现在等连接条件或相等比较条件中，而且关系的大小可以预知，或关系大小动态变化而</a:t>
            </a:r>
            <a:r>
              <a:rPr lang="en-US" altLang="zh-CN" sz="2200" dirty="0"/>
              <a:t>DBMS</a:t>
            </a:r>
            <a:r>
              <a:rPr lang="zh-CN" altLang="en-US" sz="2200" dirty="0"/>
              <a:t>提供了</a:t>
            </a:r>
            <a:r>
              <a:rPr lang="en-US" altLang="zh-CN" sz="2200" dirty="0"/>
              <a:t>HASH</a:t>
            </a:r>
            <a:r>
              <a:rPr lang="zh-CN" altLang="en-US" sz="2200" dirty="0"/>
              <a:t>存取方法时，可考虑选用</a:t>
            </a:r>
            <a:endParaRPr lang="zh-CN" altLang="en-US"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设计数据的存取路径</a:t>
            </a:r>
            <a:r>
              <a:rPr lang="zh-CN" altLang="zh-CN" dirty="0"/>
              <a:t>就是确定在哪些不同的属性或属性集合上应建立何种类型的索引，对于以下几种情况可以考虑建立索引：</a:t>
            </a:r>
            <a:endParaRPr lang="zh-CN" altLang="zh-CN" dirty="0"/>
          </a:p>
          <a:p>
            <a:pPr lvl="2">
              <a:lnSpc>
                <a:spcPct val="150000"/>
              </a:lnSpc>
              <a:buClr>
                <a:srgbClr val="E40000"/>
              </a:buClr>
              <a:buNone/>
            </a:pPr>
            <a:r>
              <a:rPr lang="zh-CN" altLang="zh-CN" sz="2200" dirty="0"/>
              <a:t>(1)关系的主键和外键上应该建立索引</a:t>
            </a:r>
            <a:endParaRPr lang="zh-CN" altLang="zh-CN" sz="2200" dirty="0"/>
          </a:p>
          <a:p>
            <a:pPr lvl="2">
              <a:lnSpc>
                <a:spcPct val="150000"/>
              </a:lnSpc>
              <a:buClr>
                <a:srgbClr val="E40000"/>
              </a:buClr>
              <a:buNone/>
            </a:pPr>
            <a:r>
              <a:rPr lang="zh-CN" altLang="zh-CN" sz="2200" dirty="0"/>
              <a:t>(2)对于经常作为连接条件或查询条件的属性或属性集</a:t>
            </a:r>
            <a:endParaRPr lang="zh-CN" altLang="zh-CN" sz="2200" dirty="0"/>
          </a:p>
          <a:p>
            <a:pPr lvl="2">
              <a:lnSpc>
                <a:spcPct val="150000"/>
              </a:lnSpc>
              <a:buClr>
                <a:srgbClr val="E40000"/>
              </a:buClr>
              <a:buNone/>
            </a:pPr>
            <a:r>
              <a:rPr lang="zh-CN" altLang="zh-CN" sz="2200" dirty="0"/>
              <a:t>(3)有些查询无需访问具体数据通过查找索引就可以直接给出结果，例如带有MIN、MAX、AVG、SUM、COUNT等聚集函数的查询以及带有存在谓词EXISTS的查询，可以在这些属性上建立索引。</a:t>
            </a:r>
            <a:endParaRPr lang="zh-CN" altLang="zh-CN" sz="2200" dirty="0"/>
          </a:p>
          <a:p>
            <a:pPr lvl="2">
              <a:lnSpc>
                <a:spcPct val="150000"/>
              </a:lnSpc>
              <a:buClr>
                <a:srgbClr val="E40000"/>
              </a:buClr>
              <a:buNone/>
            </a:pPr>
            <a:r>
              <a:rPr lang="zh-CN" altLang="zh-CN" sz="2200" dirty="0"/>
              <a:t>(4)对于以读操作为主的关系，可以多建立一些索引</a:t>
            </a:r>
            <a:endParaRPr lang="zh-CN" altLang="zh-CN"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zh-CN" dirty="0"/>
              <a:t>对于以下的几种情况，不适宜建立索引：</a:t>
            </a:r>
            <a:endParaRPr lang="zh-CN" altLang="zh-CN" dirty="0"/>
          </a:p>
          <a:p>
            <a:pPr lvl="2">
              <a:lnSpc>
                <a:spcPct val="150000"/>
              </a:lnSpc>
              <a:buClr>
                <a:srgbClr val="E40000"/>
              </a:buClr>
              <a:buNone/>
            </a:pPr>
            <a:r>
              <a:rPr lang="zh-CN" altLang="en-US" sz="2200" dirty="0"/>
              <a:t> </a:t>
            </a:r>
            <a:r>
              <a:rPr lang="zh-CN" altLang="zh-CN" sz="2200" dirty="0"/>
              <a:t>(1)对于不经常使用的属性不需要建立索引，否则反而会增加维护开销。</a:t>
            </a:r>
            <a:endParaRPr lang="zh-CN" altLang="zh-CN" sz="2200" dirty="0"/>
          </a:p>
          <a:p>
            <a:pPr lvl="2">
              <a:lnSpc>
                <a:spcPct val="150000"/>
              </a:lnSpc>
              <a:buClr>
                <a:srgbClr val="E40000"/>
              </a:buClr>
              <a:buNone/>
            </a:pPr>
            <a:r>
              <a:rPr lang="zh-CN" altLang="en-US" sz="2200" dirty="0"/>
              <a:t> </a:t>
            </a:r>
            <a:r>
              <a:rPr lang="zh-CN" altLang="zh-CN" sz="2200" dirty="0"/>
              <a:t>(2)属性值很少或属性值分布不均匀的属性，不宜建立索引</a:t>
            </a:r>
            <a:endParaRPr lang="zh-CN" altLang="zh-CN" sz="2200" dirty="0"/>
          </a:p>
          <a:p>
            <a:pPr lvl="2">
              <a:lnSpc>
                <a:spcPct val="150000"/>
              </a:lnSpc>
              <a:buClr>
                <a:srgbClr val="E40000"/>
              </a:buClr>
              <a:buNone/>
            </a:pPr>
            <a:r>
              <a:rPr lang="zh-CN" altLang="en-US" sz="2200" dirty="0"/>
              <a:t> </a:t>
            </a:r>
            <a:r>
              <a:rPr lang="zh-CN" altLang="zh-CN" sz="2200" dirty="0"/>
              <a:t>(3)对于频繁变动的或较小的关系，不宜建立索引</a:t>
            </a:r>
            <a:endParaRPr lang="zh-CN" altLang="zh-CN"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zh-CN" dirty="0"/>
              <a:t>聚簇可以有效提高在物理上连续存储的相关数据的存取速度，因此在实际当中常常也会采用聚簇的方法作为存取路径之一</a:t>
            </a:r>
            <a:endParaRPr lang="zh-CN" altLang="en-US"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确定数据的存取方法</a:t>
            </a:r>
            <a:endParaRPr lang="en-US" altLang="zh-CN" dirty="0"/>
          </a:p>
          <a:p>
            <a:pPr marL="814705" lvl="1" indent="-357505">
              <a:lnSpc>
                <a:spcPct val="150000"/>
              </a:lnSpc>
              <a:tabLst>
                <a:tab pos="190500" algn="l"/>
                <a:tab pos="193675" algn="l"/>
                <a:tab pos="669925" algn="l"/>
              </a:tabLst>
            </a:pPr>
            <a:r>
              <a:rPr lang="zh-CN" altLang="zh-CN" dirty="0"/>
              <a:t>对于以下的几种情况，可以考虑采用聚簇的存取方式：</a:t>
            </a:r>
            <a:endParaRPr lang="zh-CN" altLang="en-US" dirty="0"/>
          </a:p>
          <a:p>
            <a:pPr lvl="2">
              <a:lnSpc>
                <a:spcPct val="150000"/>
              </a:lnSpc>
              <a:buClr>
                <a:srgbClr val="3366FF"/>
              </a:buClr>
              <a:buNone/>
            </a:pPr>
            <a:r>
              <a:rPr lang="zh-CN" altLang="en-US" sz="2200" dirty="0"/>
              <a:t> </a:t>
            </a:r>
            <a:r>
              <a:rPr lang="zh-CN" altLang="zh-CN" sz="2200" dirty="0"/>
              <a:t>(1)对于经常进行等值查询的属性，可以为其建立聚簇</a:t>
            </a:r>
            <a:endParaRPr lang="zh-CN" altLang="en-US" sz="2200" dirty="0"/>
          </a:p>
          <a:p>
            <a:pPr lvl="2">
              <a:lnSpc>
                <a:spcPct val="150000"/>
              </a:lnSpc>
              <a:buClr>
                <a:srgbClr val="3366FF"/>
              </a:buClr>
              <a:buNone/>
            </a:pPr>
            <a:r>
              <a:rPr lang="zh-CN" altLang="en-US" sz="2200" dirty="0"/>
              <a:t> </a:t>
            </a:r>
            <a:r>
              <a:rPr lang="zh-CN" altLang="zh-CN" sz="2200" dirty="0"/>
              <a:t>(2)对聚簇属性的存取应该是关系上的主要应用，而且很少访问其它属性集，特别的，当SQL语句中含有与聚簇属性有关的ORDER BY、GROUP BY、UNION、DISTINCT等子句时，聚簇是非常有利的</a:t>
            </a:r>
            <a:endParaRPr lang="zh-CN" altLang="en-US" sz="2200" dirty="0"/>
          </a:p>
          <a:p>
            <a:pPr lvl="2">
              <a:lnSpc>
                <a:spcPct val="150000"/>
              </a:lnSpc>
              <a:buClr>
                <a:srgbClr val="3366FF"/>
              </a:buClr>
              <a:buNone/>
            </a:pPr>
            <a:r>
              <a:rPr lang="zh-CN" altLang="en-US" sz="2200" dirty="0"/>
              <a:t> </a:t>
            </a:r>
            <a:r>
              <a:rPr lang="zh-CN" altLang="zh-CN" sz="2200" dirty="0"/>
              <a:t>(3)聚簇属性上每个取值所对应的元组个数应比较多，否则聚簇的性能优势并不明显</a:t>
            </a:r>
            <a:endParaRPr lang="zh-CN" altLang="en-US" sz="2200" dirty="0"/>
          </a:p>
          <a:p>
            <a:pPr lvl="2">
              <a:lnSpc>
                <a:spcPct val="150000"/>
              </a:lnSpc>
              <a:buClr>
                <a:srgbClr val="3366FF"/>
              </a:buClr>
              <a:buNone/>
            </a:pPr>
            <a:r>
              <a:rPr lang="zh-CN" altLang="en-US" sz="2200" dirty="0"/>
              <a:t> </a:t>
            </a:r>
            <a:r>
              <a:rPr lang="zh-CN" altLang="zh-CN" sz="2200" dirty="0"/>
              <a:t>(4)聚簇属性上的取值应相对稳定，这样可以降低聚簇的维护开销</a:t>
            </a:r>
            <a:endParaRPr lang="zh-CN" altLang="zh-CN" sz="2200" dirty="0"/>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确定系统配置</a:t>
            </a:r>
            <a:endParaRPr lang="en-US" altLang="zh-CN" dirty="0"/>
          </a:p>
          <a:p>
            <a:pPr marL="814705" lvl="1" indent="-357505">
              <a:lnSpc>
                <a:spcPct val="150000"/>
              </a:lnSpc>
              <a:tabLst>
                <a:tab pos="190500" algn="l"/>
                <a:tab pos="193675" algn="l"/>
                <a:tab pos="669925" algn="l"/>
              </a:tabLst>
            </a:pPr>
            <a:r>
              <a:rPr lang="en-US" altLang="zh-CN" dirty="0">
                <a:sym typeface="Symbol" panose="05050102010706020507" pitchFamily="2" charset="2"/>
              </a:rPr>
              <a:t>DBMS</a:t>
            </a:r>
            <a:r>
              <a:rPr lang="zh-CN" altLang="en-US" dirty="0">
                <a:sym typeface="Symbol" panose="05050102010706020507" pitchFamily="2" charset="2"/>
              </a:rPr>
              <a:t>产品一般都提供了一些存储分配参数，供设计人员和</a:t>
            </a:r>
            <a:r>
              <a:rPr lang="en-US" altLang="zh-CN" dirty="0">
                <a:sym typeface="Symbol" panose="05050102010706020507" pitchFamily="2" charset="2"/>
              </a:rPr>
              <a:t>DBA</a:t>
            </a:r>
            <a:r>
              <a:rPr lang="zh-CN" altLang="en-US" dirty="0">
                <a:sym typeface="Symbol" panose="05050102010706020507" pitchFamily="2" charset="2"/>
              </a:rPr>
              <a:t>对数据库进行物理优化</a:t>
            </a:r>
            <a:endParaRPr lang="zh-CN" altLang="en-US"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初始情况下，系统都为这些变量赋予了合理的缺省值</a:t>
            </a:r>
            <a:endParaRPr lang="zh-CN" altLang="en-US"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但是这些值不一定适合每一种应用环境，在进行物理设计时，需要重新对这些变量赋值以改善系统的性能</a:t>
            </a:r>
            <a:endParaRPr lang="zh-CN" altLang="en-US" dirty="0">
              <a:sym typeface="Symbol" panose="05050102010706020507" pitchFamily="2" charset="2"/>
            </a:endParaRPr>
          </a:p>
          <a:p>
            <a:pPr lvl="1">
              <a:lnSpc>
                <a:spcPct val="150000"/>
              </a:lnSpc>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确定系统配置</a:t>
            </a:r>
            <a:endParaRPr lang="en-US" altLang="zh-CN" dirty="0"/>
          </a:p>
          <a:p>
            <a:pPr lvl="1">
              <a:lnSpc>
                <a:spcPct val="150000"/>
              </a:lnSpc>
            </a:pPr>
            <a:r>
              <a:rPr lang="zh-CN" altLang="en-US" dirty="0">
                <a:sym typeface="Symbol" panose="05050102010706020507" pitchFamily="2" charset="2"/>
              </a:rPr>
              <a:t>通常情况下，这些配置变量包括：同时使用数据库的用户数，同时打开的数据库对象数，使用的缓冲区长度、个数，时间片大小、数据库的大小，装填因子，锁的数目等等，这些参数值影响存取时间和存储空间的分配，在物理设计时就要根据应用环境确定这些参数值，以使系统性能最优</a:t>
            </a:r>
            <a:endParaRPr lang="zh-CN" altLang="en-US" dirty="0">
              <a:sym typeface="Symbol" panose="05050102010706020507" pitchFamily="2" charset="2"/>
            </a:endParaRPr>
          </a:p>
          <a:p>
            <a:pPr marL="457200" lvl="1" indent="0">
              <a:lnSpc>
                <a:spcPct val="150000"/>
              </a:lnSpc>
              <a:buNone/>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确定系统配置</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在物理设计时对系统配置变量的调整只是初步的，在系统运行时还要根据系统实际运行情况做进一步的调整，以期切实改进系统性能</a:t>
            </a:r>
            <a:endParaRPr lang="zh-CN" altLang="en-US" dirty="0">
              <a:sym typeface="Symbol" panose="05050102010706020507" pitchFamily="2" charset="2"/>
            </a:endParaRPr>
          </a:p>
          <a:p>
            <a:pPr marL="457200" lvl="1" indent="0">
              <a:lnSpc>
                <a:spcPct val="150000"/>
              </a:lnSpc>
              <a:buNone/>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物理结构评价</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数据库物理设计过程中需要对时间效率、空间效率、维护代价和各种用户要求进行权衡，其结果可以产生多种方案，数据库设计人员必须对这些方案进行细致的评价，从中选择一个较优的方案作为数据库的物理结构</a:t>
            </a:r>
            <a:endParaRPr lang="zh-CN" altLang="en-US" dirty="0">
              <a:sym typeface="Symbol" panose="05050102010706020507" pitchFamily="2" charset="2"/>
            </a:endParaRPr>
          </a:p>
          <a:p>
            <a:pPr marL="357505" indent="-357505">
              <a:tabLst>
                <a:tab pos="190500" algn="l"/>
                <a:tab pos="193675" algn="l"/>
                <a:tab pos="669925" algn="l"/>
              </a:tabLst>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t>物理结构评价</a:t>
            </a:r>
            <a:endParaRPr lang="en-US" altLang="zh-CN" dirty="0"/>
          </a:p>
          <a:p>
            <a:pPr marL="814705" lvl="1" indent="-357505">
              <a:lnSpc>
                <a:spcPct val="150000"/>
              </a:lnSpc>
              <a:tabLst>
                <a:tab pos="190500" algn="l"/>
                <a:tab pos="193675" algn="l"/>
                <a:tab pos="669925" algn="l"/>
              </a:tabLst>
            </a:pPr>
            <a:r>
              <a:rPr lang="zh-CN" altLang="en-US" dirty="0">
                <a:sym typeface="Symbol" panose="05050102010706020507" pitchFamily="2" charset="2"/>
              </a:rPr>
              <a:t>评价物理数据库的方法很大程度上依赖于所选用的</a:t>
            </a:r>
            <a:r>
              <a:rPr lang="en-US" altLang="zh-CN" dirty="0">
                <a:sym typeface="Symbol" panose="05050102010706020507" pitchFamily="2" charset="2"/>
              </a:rPr>
              <a:t>DBMS</a:t>
            </a:r>
            <a:r>
              <a:rPr lang="zh-CN" altLang="en-US" dirty="0">
                <a:sym typeface="Symbol" panose="05050102010706020507" pitchFamily="2" charset="2"/>
              </a:rPr>
              <a:t>，主要是从定量估算各种方案的存储空间、存取时间和维护代价入手，对估算结果进行权衡、比较，选择出一个较优的合理的物理结构</a:t>
            </a:r>
            <a:endParaRPr lang="zh-CN" altLang="en-US"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如果该结构不符合用户需求，则需要修改设计</a:t>
            </a:r>
            <a:endParaRPr lang="zh-CN" altLang="en-US" dirty="0">
              <a:sym typeface="Symbol" panose="05050102010706020507" pitchFamily="2" charset="2"/>
            </a:endParaRPr>
          </a:p>
          <a:p>
            <a:pPr marL="357505" indent="-357505">
              <a:tabLst>
                <a:tab pos="190500" algn="l"/>
                <a:tab pos="193675" algn="l"/>
                <a:tab pos="669925" algn="l"/>
              </a:tabLst>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6</a:t>
            </a:r>
            <a:r>
              <a:rPr kumimoji="1" lang="en-GB" altLang="zh-CN" dirty="0"/>
              <a:t> </a:t>
            </a:r>
            <a:r>
              <a:rPr kumimoji="1" lang="zh-CN" altLang="en-GB" dirty="0"/>
              <a:t>物理</a:t>
            </a:r>
            <a:r>
              <a:rPr kumimoji="1" lang="zh-CN" altLang="en-US" dirty="0"/>
              <a:t>设计</a:t>
            </a:r>
            <a:endParaRPr kumimoji="1"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sym typeface="Symbol" panose="05050102010706020507" pitchFamily="2" charset="2"/>
              </a:rPr>
              <a:t>数据库物理设计阶段完成后即可以进入数据库实施阶段</a:t>
            </a:r>
            <a:endParaRPr lang="zh-CN" altLang="en-US" dirty="0">
              <a:sym typeface="Symbol" panose="05050102010706020507" pitchFamily="2" charset="2"/>
            </a:endParaRPr>
          </a:p>
          <a:p>
            <a:pPr marL="357505" indent="-357505">
              <a:tabLst>
                <a:tab pos="190500" algn="l"/>
                <a:tab pos="193675" algn="l"/>
                <a:tab pos="669925" algn="l"/>
              </a:tabLst>
            </a:pPr>
            <a:r>
              <a:rPr lang="zh-CN" altLang="en-US" dirty="0">
                <a:sym typeface="Symbol" panose="05050102010706020507" pitchFamily="2" charset="2"/>
              </a:rPr>
              <a:t>数据库实施阶段主要包括以下工作： </a:t>
            </a:r>
            <a:endParaRPr lang="en-US" altLang="zh-CN" dirty="0">
              <a:sym typeface="Symbol" panose="05050102010706020507" pitchFamily="2" charset="2"/>
            </a:endParaRPr>
          </a:p>
          <a:p>
            <a:pPr marL="814705" lvl="1" indent="-357505">
              <a:tabLst>
                <a:tab pos="190500" algn="l"/>
                <a:tab pos="193675" algn="l"/>
                <a:tab pos="669925" algn="l"/>
              </a:tabLst>
            </a:pPr>
            <a:r>
              <a:rPr lang="zh-CN" altLang="en-US" dirty="0">
                <a:sym typeface="Symbol" panose="05050102010706020507" pitchFamily="2" charset="2"/>
              </a:rPr>
              <a:t>用</a:t>
            </a:r>
            <a:r>
              <a:rPr lang="en-US" altLang="zh-CN" dirty="0">
                <a:sym typeface="Symbol" panose="05050102010706020507" pitchFamily="2" charset="2"/>
              </a:rPr>
              <a:t>DDL</a:t>
            </a:r>
            <a:r>
              <a:rPr lang="zh-CN" altLang="en-US" dirty="0">
                <a:sym typeface="Symbol" panose="05050102010706020507" pitchFamily="2" charset="2"/>
              </a:rPr>
              <a:t>定义数据库结构 </a:t>
            </a:r>
            <a:endParaRPr lang="en-US" altLang="zh-CN" dirty="0">
              <a:sym typeface="Symbol" panose="05050102010706020507" pitchFamily="2" charset="2"/>
            </a:endParaRPr>
          </a:p>
          <a:p>
            <a:pPr marL="814705" lvl="1" indent="-357505">
              <a:tabLst>
                <a:tab pos="190500" algn="l"/>
                <a:tab pos="193675" algn="l"/>
                <a:tab pos="669925" algn="l"/>
              </a:tabLst>
            </a:pPr>
            <a:r>
              <a:rPr lang="zh-CN" altLang="en-US" dirty="0">
                <a:sym typeface="Symbol" panose="05050102010706020507" pitchFamily="2" charset="2"/>
              </a:rPr>
              <a:t>组织数据入库 </a:t>
            </a:r>
            <a:endParaRPr lang="en-US" altLang="zh-CN" dirty="0">
              <a:sym typeface="Symbol" panose="05050102010706020507" pitchFamily="2" charset="2"/>
            </a:endParaRPr>
          </a:p>
          <a:p>
            <a:pPr marL="814705" lvl="1" indent="-357505">
              <a:tabLst>
                <a:tab pos="190500" algn="l"/>
                <a:tab pos="193675" algn="l"/>
                <a:tab pos="669925" algn="l"/>
              </a:tabLst>
            </a:pPr>
            <a:r>
              <a:rPr lang="zh-CN" altLang="en-US" dirty="0">
                <a:sym typeface="Symbol" panose="05050102010706020507" pitchFamily="2" charset="2"/>
              </a:rPr>
              <a:t>编制与调试应用程序 </a:t>
            </a:r>
            <a:endParaRPr lang="en-US" altLang="zh-CN" dirty="0">
              <a:sym typeface="Symbol" panose="05050102010706020507" pitchFamily="2" charset="2"/>
            </a:endParaRPr>
          </a:p>
          <a:p>
            <a:pPr marL="814705" lvl="1" indent="-357505">
              <a:tabLst>
                <a:tab pos="190500" algn="l"/>
                <a:tab pos="193675" algn="l"/>
                <a:tab pos="669925" algn="l"/>
              </a:tabLst>
            </a:pPr>
            <a:r>
              <a:rPr lang="zh-CN" altLang="en-US" dirty="0">
                <a:sym typeface="Symbol" panose="05050102010706020507" pitchFamily="2" charset="2"/>
              </a:rPr>
              <a:t>数据库试运行 </a:t>
            </a:r>
            <a:endParaRPr lang="zh-CN" altLang="en-US" dirty="0">
              <a:sym typeface="Symbol" panose="05050102010706020507" pitchFamily="2" charset="2"/>
            </a:endParaRPr>
          </a:p>
          <a:p>
            <a:pPr marL="357505" indent="-357505">
              <a:tabLst>
                <a:tab pos="190500" algn="l"/>
                <a:tab pos="193675" algn="l"/>
                <a:tab pos="669925" algn="l"/>
              </a:tabLst>
            </a:pPr>
            <a:endParaRPr lang="en-US" altLang="zh-CN" sz="2400" b="0" dirty="0"/>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定义数据库结构</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确定了数据库的逻辑结构与物理结构后，就可以用所选用的</a:t>
            </a:r>
            <a:r>
              <a:rPr lang="en-US" altLang="zh-CN" dirty="0">
                <a:sym typeface="Symbol" panose="05050102010706020507" pitchFamily="2" charset="2"/>
              </a:rPr>
              <a:t>DBMS</a:t>
            </a:r>
            <a:r>
              <a:rPr lang="zh-CN" altLang="en-US" dirty="0">
                <a:sym typeface="Symbol" panose="05050102010706020507" pitchFamily="2" charset="2"/>
              </a:rPr>
              <a:t>提供的数据定义语言（</a:t>
            </a:r>
            <a:r>
              <a:rPr lang="en-US" altLang="zh-CN" dirty="0">
                <a:sym typeface="Symbol" panose="05050102010706020507" pitchFamily="2" charset="2"/>
              </a:rPr>
              <a:t>DDL</a:t>
            </a:r>
            <a:r>
              <a:rPr lang="zh-CN" altLang="en-US" dirty="0">
                <a:sym typeface="Symbol" panose="05050102010706020507" pitchFamily="2" charset="2"/>
              </a:rPr>
              <a:t>）来严格描述数据库结构</a:t>
            </a:r>
            <a:endParaRPr lang="zh-CN" altLang="en-US" dirty="0">
              <a:sym typeface="Symbol" panose="05050102010706020507" pitchFamily="2" charset="2"/>
            </a:endParaRPr>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数据装载</a:t>
            </a:r>
            <a:endParaRPr lang="en-US" altLang="zh-CN" dirty="0">
              <a:latin typeface="Arial" panose="020B0604020202020204" pitchFamily="34" charset="0"/>
              <a:sym typeface="Symbol" panose="05050102010706020507" pitchFamily="2" charset="2"/>
            </a:endParaRPr>
          </a:p>
          <a:p>
            <a:pPr marL="730250" lvl="1" indent="-273050">
              <a:lnSpc>
                <a:spcPct val="150000"/>
              </a:lnSpc>
              <a:tabLst>
                <a:tab pos="190500" algn="l"/>
                <a:tab pos="193675" algn="l"/>
                <a:tab pos="669925" algn="l"/>
              </a:tabLst>
            </a:pPr>
            <a:r>
              <a:rPr lang="zh-CN" altLang="en-US" dirty="0">
                <a:sym typeface="Symbol" panose="05050102010706020507" pitchFamily="2" charset="2"/>
              </a:rPr>
              <a:t>数据库结构建立好后，就可以向数据库中装载数据</a:t>
            </a:r>
            <a:endParaRPr lang="zh-CN" altLang="en-US" dirty="0">
              <a:sym typeface="Symbol" panose="05050102010706020507" pitchFamily="2" charset="2"/>
            </a:endParaRPr>
          </a:p>
          <a:p>
            <a:pPr marL="730250" lvl="1" indent="-273050">
              <a:lnSpc>
                <a:spcPct val="150000"/>
              </a:lnSpc>
              <a:tabLst>
                <a:tab pos="190500" algn="l"/>
                <a:tab pos="193675" algn="l"/>
                <a:tab pos="669925" algn="l"/>
              </a:tabLst>
            </a:pPr>
            <a:r>
              <a:rPr lang="zh-CN" altLang="en-US" dirty="0">
                <a:sym typeface="Symbol" panose="05050102010706020507" pitchFamily="2" charset="2"/>
              </a:rPr>
              <a:t>组织数据入库是数据库实施阶段最繁重的工作</a:t>
            </a:r>
            <a:endParaRPr lang="zh-CN" altLang="en-US" dirty="0">
              <a:sym typeface="Symbol" panose="05050102010706020507" pitchFamily="2" charset="2"/>
            </a:endParaRPr>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数据装载</a:t>
            </a:r>
            <a:endParaRPr lang="en-US" altLang="zh-CN" dirty="0">
              <a:latin typeface="Arial" panose="020B0604020202020204" pitchFamily="34" charset="0"/>
              <a:sym typeface="Symbol" panose="05050102010706020507" pitchFamily="2" charset="2"/>
            </a:endParaRPr>
          </a:p>
          <a:p>
            <a:pPr marL="814705" lvl="1" indent="-357505">
              <a:tabLst>
                <a:tab pos="190500" algn="l"/>
                <a:tab pos="193675" algn="l"/>
                <a:tab pos="669925" algn="l"/>
              </a:tabLst>
            </a:pPr>
            <a:r>
              <a:rPr lang="zh-CN" altLang="en-US" dirty="0">
                <a:sym typeface="Symbol" panose="05050102010706020507" pitchFamily="2" charset="2"/>
              </a:rPr>
              <a:t>对于数据量不是很大的系统，可以用人工方法完成数据的入库，其步骤为：</a:t>
            </a:r>
            <a:endParaRPr lang="zh-CN" altLang="en-US" dirty="0">
              <a:sym typeface="Symbol" panose="05050102010706020507" pitchFamily="2" charset="2"/>
            </a:endParaRPr>
          </a:p>
          <a:p>
            <a:pPr marL="1367155" lvl="2" indent="-287655">
              <a:buFontTx/>
              <a:buAutoNum type="arabicPeriod"/>
              <a:tabLst>
                <a:tab pos="177800" algn="l"/>
                <a:tab pos="193675" algn="l"/>
                <a:tab pos="669925" algn="l"/>
                <a:tab pos="985520" algn="l"/>
              </a:tabLst>
            </a:pPr>
            <a:r>
              <a:rPr lang="zh-CN" altLang="en-US" dirty="0">
                <a:sym typeface="Symbol" panose="05050102010706020507" pitchFamily="2" charset="2"/>
              </a:rPr>
              <a:t>数据筛选</a:t>
            </a:r>
            <a:endParaRPr lang="zh-CN" altLang="en-US" dirty="0">
              <a:sym typeface="Symbol" panose="05050102010706020507" pitchFamily="2" charset="2"/>
            </a:endParaRPr>
          </a:p>
          <a:p>
            <a:pPr marL="1889125" lvl="3" indent="-342900">
              <a:tabLst>
                <a:tab pos="177800" algn="l"/>
                <a:tab pos="193675" algn="l"/>
                <a:tab pos="669925" algn="l"/>
                <a:tab pos="985520" algn="l"/>
              </a:tabLst>
            </a:pPr>
            <a:r>
              <a:rPr lang="zh-CN" altLang="en-US" sz="2000" dirty="0">
                <a:sym typeface="Symbol" panose="05050102010706020507" pitchFamily="2" charset="2"/>
              </a:rPr>
              <a:t>需要装入数据库中的数据通常都分散在各个部门的数据文件或原始凭证中，所以首先必须把需要入库的数据筛选出来</a:t>
            </a:r>
            <a:endParaRPr lang="zh-CN" altLang="en-US" sz="2000" dirty="0">
              <a:sym typeface="Symbol" panose="05050102010706020507" pitchFamily="2" charset="2"/>
            </a:endParaRPr>
          </a:p>
          <a:p>
            <a:pPr marL="1367155" lvl="2" indent="-287655">
              <a:buFontTx/>
              <a:buAutoNum type="arabicPeriod"/>
              <a:tabLst>
                <a:tab pos="177800" algn="l"/>
                <a:tab pos="193675" algn="l"/>
                <a:tab pos="669925" algn="l"/>
                <a:tab pos="985520" algn="l"/>
              </a:tabLst>
            </a:pPr>
            <a:r>
              <a:rPr lang="zh-CN" altLang="en-US" dirty="0">
                <a:sym typeface="Symbol" panose="05050102010706020507" pitchFamily="2" charset="2"/>
              </a:rPr>
              <a:t>数据格式转换</a:t>
            </a:r>
            <a:endParaRPr lang="zh-CN" altLang="en-US" dirty="0">
              <a:sym typeface="Symbol" panose="05050102010706020507" pitchFamily="2" charset="2"/>
            </a:endParaRPr>
          </a:p>
          <a:p>
            <a:pPr marL="1889125" lvl="3" indent="-342900">
              <a:tabLst>
                <a:tab pos="177800" algn="l"/>
                <a:tab pos="193675" algn="l"/>
                <a:tab pos="669925" algn="l"/>
                <a:tab pos="985520" algn="l"/>
              </a:tabLst>
            </a:pPr>
            <a:r>
              <a:rPr lang="zh-CN" altLang="en-US" sz="2000" dirty="0">
                <a:sym typeface="Symbol" panose="05050102010706020507" pitchFamily="2" charset="2"/>
              </a:rPr>
              <a:t>筛选出来的需要入库的数据，其格式往往不符合数据库要求，还需要进行转换。这种转换有时可能很复杂 </a:t>
            </a:r>
            <a:endParaRPr lang="zh-CN" altLang="en-US" sz="2000" dirty="0">
              <a:sym typeface="Symbol" panose="05050102010706020507" pitchFamily="2" charset="2"/>
            </a:endParaRPr>
          </a:p>
          <a:p>
            <a:pPr marL="1367155" lvl="2" indent="-287655">
              <a:buNone/>
              <a:tabLst>
                <a:tab pos="177800" algn="l"/>
                <a:tab pos="193675" algn="l"/>
                <a:tab pos="669925" algn="l"/>
                <a:tab pos="985520" algn="l"/>
              </a:tabLst>
            </a:pPr>
            <a:r>
              <a:rPr lang="en-US" altLang="zh-CN" dirty="0">
                <a:sym typeface="Symbol" panose="05050102010706020507" pitchFamily="2" charset="2"/>
              </a:rPr>
              <a:t>3.</a:t>
            </a:r>
            <a:r>
              <a:rPr lang="zh-CN" altLang="en-US" dirty="0">
                <a:sym typeface="Symbol" panose="05050102010706020507" pitchFamily="2" charset="2"/>
              </a:rPr>
              <a:t> 数据输入</a:t>
            </a:r>
            <a:endParaRPr lang="zh-CN" altLang="en-US" dirty="0">
              <a:sym typeface="Symbol" panose="05050102010706020507" pitchFamily="2" charset="2"/>
            </a:endParaRPr>
          </a:p>
          <a:p>
            <a:pPr marL="1889125" lvl="3" indent="-342900">
              <a:tabLst>
                <a:tab pos="177800" algn="l"/>
                <a:tab pos="193675" algn="l"/>
                <a:tab pos="669925" algn="l"/>
                <a:tab pos="985520" algn="l"/>
              </a:tabLst>
            </a:pPr>
            <a:r>
              <a:rPr lang="zh-CN" altLang="en-US" sz="2000" dirty="0">
                <a:sym typeface="Symbol" panose="05050102010706020507" pitchFamily="2" charset="2"/>
              </a:rPr>
              <a:t>将转换好的数据输入计算机中</a:t>
            </a:r>
            <a:endParaRPr lang="zh-CN" altLang="en-US" sz="2000" dirty="0">
              <a:sym typeface="Symbol" panose="05050102010706020507" pitchFamily="2" charset="2"/>
            </a:endParaRPr>
          </a:p>
          <a:p>
            <a:pPr marL="1367155" lvl="2" indent="-287655">
              <a:buNone/>
              <a:tabLst>
                <a:tab pos="177800" algn="l"/>
                <a:tab pos="193675" algn="l"/>
                <a:tab pos="669925" algn="l"/>
                <a:tab pos="985520" algn="l"/>
              </a:tabLst>
            </a:pPr>
            <a:r>
              <a:rPr lang="en-US" altLang="zh-CN" dirty="0">
                <a:sym typeface="Symbol" panose="05050102010706020507" pitchFamily="2" charset="2"/>
              </a:rPr>
              <a:t>4.</a:t>
            </a:r>
            <a:r>
              <a:rPr lang="zh-CN" altLang="en-US" dirty="0">
                <a:sym typeface="Symbol" panose="05050102010706020507" pitchFamily="2" charset="2"/>
              </a:rPr>
              <a:t> 数据校验</a:t>
            </a:r>
            <a:endParaRPr lang="zh-CN" altLang="en-US" dirty="0">
              <a:sym typeface="Symbol" panose="05050102010706020507" pitchFamily="2" charset="2"/>
            </a:endParaRPr>
          </a:p>
          <a:p>
            <a:pPr marL="1889125" lvl="3" indent="-342900">
              <a:tabLst>
                <a:tab pos="177800" algn="l"/>
                <a:tab pos="193675" algn="l"/>
                <a:tab pos="669925" algn="l"/>
                <a:tab pos="985520" algn="l"/>
              </a:tabLst>
            </a:pPr>
            <a:r>
              <a:rPr lang="zh-CN" altLang="en-US" sz="2000" dirty="0">
                <a:sym typeface="Symbol" panose="05050102010706020507" pitchFamily="2" charset="2"/>
              </a:rPr>
              <a:t>检查输入的数据是否有误</a:t>
            </a:r>
            <a:endParaRPr lang="zh-CN" altLang="en-US" sz="2000" dirty="0">
              <a:sym typeface="Symbol" panose="05050102010706020507" pitchFamily="2" charset="2"/>
            </a:endParaRPr>
          </a:p>
          <a:p>
            <a:pPr>
              <a:lnSpc>
                <a:spcPct val="150000"/>
              </a:lnSpc>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数据装载</a:t>
            </a:r>
            <a:endParaRPr lang="en-US" altLang="zh-CN" dirty="0">
              <a:latin typeface="Arial" panose="020B0604020202020204" pitchFamily="34" charset="0"/>
              <a:sym typeface="Symbol" panose="05050102010706020507" pitchFamily="2" charset="2"/>
            </a:endParaRPr>
          </a:p>
          <a:p>
            <a:pPr lvl="1">
              <a:lnSpc>
                <a:spcPct val="150000"/>
              </a:lnSpc>
            </a:pPr>
            <a:r>
              <a:rPr lang="zh-CN" altLang="en-US" dirty="0">
                <a:sym typeface="Symbol" panose="05050102010706020507" pitchFamily="2" charset="2"/>
              </a:rPr>
              <a:t>对于中大型系统，由于数据量极大，用人工方式组织数据入库将会耗费大量人力物力，而且很难保证数据的正确性。因此应该设计一个数据输入子系统由计算机辅助数据的入库工作</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编制与调试应用程序</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数据库应用程序的设计应该与数据库设计并行进行</a:t>
            </a:r>
            <a:endParaRPr lang="zh-CN" altLang="en-US"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在数据库实施阶段，当数据库结构建立好后，就可以开始编制与调试数据库的应用程序，也就是说，编制与调试应用程序是与组织数据入库同步进行的</a:t>
            </a:r>
            <a:endParaRPr lang="zh-CN" altLang="en-US"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调试应用程序时由于数据入库尚未完成，可先使用模拟数据</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数据库试运行</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应用程序调试完成，并且已有一小部分数据入库后，就可以开始数据库的试运行</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数据库试运行也称为联合调试，其主要工作包括： </a:t>
            </a:r>
            <a:endParaRPr lang="en-US" altLang="zh-CN" dirty="0">
              <a:sym typeface="Symbol" panose="05050102010706020507" pitchFamily="2" charset="2"/>
            </a:endParaRPr>
          </a:p>
          <a:p>
            <a:pPr marL="1271905" lvl="2" indent="-357505">
              <a:lnSpc>
                <a:spcPct val="150000"/>
              </a:lnSpc>
              <a:tabLst>
                <a:tab pos="190500" algn="l"/>
                <a:tab pos="193675" algn="l"/>
                <a:tab pos="669925" algn="l"/>
              </a:tabLst>
            </a:pPr>
            <a:r>
              <a:rPr lang="zh-CN" altLang="en-US" sz="2200" dirty="0">
                <a:sym typeface="Symbol" panose="05050102010706020507" pitchFamily="2" charset="2"/>
              </a:rPr>
              <a:t>功能测试</a:t>
            </a:r>
            <a:r>
              <a:rPr lang="en-US" altLang="zh-CN" sz="2200" dirty="0">
                <a:sym typeface="Symbol" panose="05050102010706020507" pitchFamily="2" charset="2"/>
              </a:rPr>
              <a:t>:</a:t>
            </a:r>
            <a:endParaRPr lang="en-US" altLang="zh-CN" sz="2200" dirty="0">
              <a:sym typeface="Symbol" panose="05050102010706020507" pitchFamily="2" charset="2"/>
            </a:endParaRPr>
          </a:p>
          <a:p>
            <a:pPr marL="1729105" lvl="3" indent="-357505">
              <a:lnSpc>
                <a:spcPct val="150000"/>
              </a:lnSpc>
              <a:tabLst>
                <a:tab pos="190500" algn="l"/>
                <a:tab pos="193675" algn="l"/>
                <a:tab pos="669925" algn="l"/>
              </a:tabLst>
            </a:pPr>
            <a:r>
              <a:rPr lang="zh-CN" altLang="en-US" sz="2000" dirty="0">
                <a:sym typeface="Symbol" panose="05050102010706020507" pitchFamily="2" charset="2"/>
              </a:rPr>
              <a:t>即实际运行应用程序，执行对数据库的各种操作，测试应用程序的各种功能 </a:t>
            </a:r>
            <a:endParaRPr lang="en-US" altLang="zh-CN" sz="2000" dirty="0">
              <a:sym typeface="Symbol" panose="05050102010706020507" pitchFamily="2" charset="2"/>
            </a:endParaRPr>
          </a:p>
          <a:p>
            <a:pPr marL="1271905" lvl="2" indent="-357505">
              <a:lnSpc>
                <a:spcPct val="150000"/>
              </a:lnSpc>
              <a:tabLst>
                <a:tab pos="190500" algn="l"/>
                <a:tab pos="193675" algn="l"/>
                <a:tab pos="669925" algn="l"/>
              </a:tabLst>
            </a:pPr>
            <a:r>
              <a:rPr lang="zh-CN" altLang="en-US" sz="2200" dirty="0">
                <a:sym typeface="Symbol" panose="05050102010706020507" pitchFamily="2" charset="2"/>
              </a:rPr>
              <a:t>性能测试</a:t>
            </a:r>
            <a:endParaRPr lang="en-US" altLang="zh-CN" sz="2200" dirty="0">
              <a:sym typeface="Symbol" panose="05050102010706020507" pitchFamily="2" charset="2"/>
            </a:endParaRPr>
          </a:p>
          <a:p>
            <a:pPr marL="1729105" lvl="3" indent="-357505">
              <a:lnSpc>
                <a:spcPct val="150000"/>
              </a:lnSpc>
              <a:tabLst>
                <a:tab pos="190500" algn="l"/>
                <a:tab pos="193675" algn="l"/>
                <a:tab pos="669925" algn="l"/>
              </a:tabLst>
            </a:pPr>
            <a:r>
              <a:rPr lang="zh-CN" altLang="en-US" sz="2000" dirty="0">
                <a:sym typeface="Symbol" panose="05050102010706020507" pitchFamily="2" charset="2"/>
              </a:rPr>
              <a:t>即测量系统的性能指标，分析是否符合设计目标 </a:t>
            </a:r>
            <a:endParaRPr lang="zh-CN" altLang="en-US" sz="2000"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数据库运行与维护</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如果数据库试运行结果符合设计目标，数据库就可以真正投入运行了</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数据库投入运行标着开发任务的基本完成和维护工作的开始，但并不意味着设计过程的终结，由于应用环境在不断变化，数据库运行过程中物理存储也会不断变化，对数据库设计进行评价、调整、修改等维护工作是一个长期的任务，也是设计工作的继续和提高 </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数据库运行与维护和主要内容</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在数据库运行阶段，对数据库经常性的维护工作主要是由</a:t>
            </a:r>
            <a:r>
              <a:rPr lang="en-US" altLang="zh-CN" dirty="0">
                <a:sym typeface="Symbol" panose="05050102010706020507" pitchFamily="2" charset="2"/>
              </a:rPr>
              <a:t>DBA</a:t>
            </a:r>
            <a:r>
              <a:rPr lang="zh-CN" altLang="en-US" dirty="0">
                <a:sym typeface="Symbol" panose="05050102010706020507" pitchFamily="2" charset="2"/>
              </a:rPr>
              <a:t>完成，主要包括：</a:t>
            </a:r>
            <a:endParaRPr lang="zh-CN" altLang="en-US" dirty="0">
              <a:sym typeface="Symbol" panose="05050102010706020507" pitchFamily="2" charset="2"/>
            </a:endParaRPr>
          </a:p>
          <a:p>
            <a:pPr marL="1443355" lvl="2" indent="-449580">
              <a:lnSpc>
                <a:spcPct val="150000"/>
              </a:lnSpc>
              <a:buFontTx/>
              <a:buAutoNum type="arabicPeriod"/>
              <a:tabLst>
                <a:tab pos="190500" algn="l"/>
                <a:tab pos="193675" algn="l"/>
                <a:tab pos="669925" algn="l"/>
              </a:tabLst>
            </a:pPr>
            <a:r>
              <a:rPr lang="zh-CN" altLang="en-US" sz="2200" dirty="0">
                <a:sym typeface="Symbol" panose="05050102010706020507" pitchFamily="2" charset="2"/>
              </a:rPr>
              <a:t>数据库的转储和恢复</a:t>
            </a:r>
            <a:endParaRPr lang="zh-CN" altLang="en-US" sz="2200" dirty="0">
              <a:sym typeface="Symbol" panose="05050102010706020507" pitchFamily="2" charset="2"/>
            </a:endParaRPr>
          </a:p>
          <a:p>
            <a:pPr marL="1443355" lvl="2" indent="-449580">
              <a:lnSpc>
                <a:spcPct val="150000"/>
              </a:lnSpc>
              <a:buFontTx/>
              <a:buAutoNum type="arabicPeriod"/>
              <a:tabLst>
                <a:tab pos="190500" algn="l"/>
                <a:tab pos="193675" algn="l"/>
                <a:tab pos="669925" algn="l"/>
              </a:tabLst>
            </a:pPr>
            <a:r>
              <a:rPr lang="zh-CN" altLang="en-US" sz="2200" dirty="0">
                <a:sym typeface="Symbol" panose="05050102010706020507" pitchFamily="2" charset="2"/>
              </a:rPr>
              <a:t>数据库性能的监督、分析和改进</a:t>
            </a:r>
            <a:endParaRPr lang="zh-CN" altLang="en-US" sz="2200" dirty="0">
              <a:sym typeface="Symbol" panose="05050102010706020507" pitchFamily="2" charset="2"/>
            </a:endParaRPr>
          </a:p>
          <a:p>
            <a:pPr marL="1443355" lvl="2" indent="-449580">
              <a:lnSpc>
                <a:spcPct val="150000"/>
              </a:lnSpc>
              <a:buFontTx/>
              <a:buAutoNum type="arabicPeriod"/>
              <a:tabLst>
                <a:tab pos="190500" algn="l"/>
                <a:tab pos="193675" algn="l"/>
                <a:tab pos="669925" algn="l"/>
              </a:tabLst>
            </a:pPr>
            <a:r>
              <a:rPr lang="zh-CN" altLang="en-US" sz="2200" dirty="0">
                <a:sym typeface="Symbol" panose="05050102010706020507" pitchFamily="2" charset="2"/>
              </a:rPr>
              <a:t>数据库的重组</a:t>
            </a:r>
            <a:endParaRPr lang="zh-CN" altLang="en-US" sz="2200" dirty="0">
              <a:sym typeface="Symbol" panose="05050102010706020507" pitchFamily="2" charset="2"/>
            </a:endParaRPr>
          </a:p>
          <a:p>
            <a:pPr marL="1443355" lvl="2" indent="-449580">
              <a:lnSpc>
                <a:spcPct val="150000"/>
              </a:lnSpc>
              <a:buFontTx/>
              <a:buAutoNum type="arabicPeriod"/>
              <a:tabLst>
                <a:tab pos="190500" algn="l"/>
                <a:tab pos="193675" algn="l"/>
                <a:tab pos="669925" algn="l"/>
              </a:tabLst>
            </a:pPr>
            <a:r>
              <a:rPr lang="zh-CN" altLang="en-US" sz="2200" dirty="0">
                <a:sym typeface="Symbol" panose="05050102010706020507" pitchFamily="2" charset="2"/>
              </a:rPr>
              <a:t>数据库的重构</a:t>
            </a:r>
            <a:endParaRPr lang="zh-CN" altLang="en-US" sz="2200"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数据库的转储和恢复</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定期对数据库和日志文件进行备份，以保证一旦发生故障，能利用数据库备份及日志文件备份，尽快将数据库恢复到某种一致性状态，并尽可能减少对数据库的破坏</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数据库性能的监督分析和改进</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目前</a:t>
            </a:r>
            <a:r>
              <a:rPr lang="en-US" altLang="zh-CN" dirty="0">
                <a:sym typeface="Symbol" panose="05050102010706020507" pitchFamily="2" charset="2"/>
              </a:rPr>
              <a:t>,</a:t>
            </a:r>
            <a:r>
              <a:rPr lang="zh-CN" altLang="en-US" dirty="0">
                <a:sym typeface="Symbol" panose="05050102010706020507" pitchFamily="2" charset="2"/>
              </a:rPr>
              <a:t>许多</a:t>
            </a:r>
            <a:r>
              <a:rPr lang="en-US" altLang="zh-CN" dirty="0">
                <a:sym typeface="Symbol" panose="05050102010706020507" pitchFamily="2" charset="2"/>
              </a:rPr>
              <a:t>DBMS</a:t>
            </a:r>
            <a:r>
              <a:rPr lang="zh-CN" altLang="en-US" dirty="0">
                <a:sym typeface="Symbol" panose="05050102010706020507" pitchFamily="2" charset="2"/>
              </a:rPr>
              <a:t>产品都提供了监测系统性能参数的工具，</a:t>
            </a:r>
            <a:r>
              <a:rPr lang="en-US" altLang="zh-CN" dirty="0">
                <a:sym typeface="Symbol" panose="05050102010706020507" pitchFamily="2" charset="2"/>
              </a:rPr>
              <a:t>DBA</a:t>
            </a:r>
            <a:r>
              <a:rPr lang="zh-CN" altLang="en-US" dirty="0">
                <a:sym typeface="Symbol" panose="05050102010706020507" pitchFamily="2" charset="2"/>
              </a:rPr>
              <a:t>可以利用这些工具方便地得到系统运行过程中一系列性能参数的值</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en-US" altLang="zh-CN" dirty="0">
                <a:sym typeface="Symbol" panose="05050102010706020507" pitchFamily="2" charset="2"/>
              </a:rPr>
              <a:t>DBA</a:t>
            </a:r>
            <a:r>
              <a:rPr lang="zh-CN" altLang="en-US" dirty="0">
                <a:sym typeface="Symbol" panose="05050102010706020507" pitchFamily="2" charset="2"/>
              </a:rPr>
              <a:t>应该仔细分析这些数据，通过调整某些参数来进一步改进数据库性能</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数据库的重组</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数据库运行一段时间后，由于记录的不断增、删、改，会使数据库的物理存储变坏，从而降低数据库存储空间的利用率和数据的存取效率，使数据库的性能下降。这时</a:t>
            </a:r>
            <a:r>
              <a:rPr lang="en-US" altLang="zh-CN" dirty="0">
                <a:sym typeface="Symbol" panose="05050102010706020507" pitchFamily="2" charset="2"/>
              </a:rPr>
              <a:t>DBA</a:t>
            </a:r>
            <a:r>
              <a:rPr lang="zh-CN" altLang="en-US" dirty="0">
                <a:sym typeface="Symbol" panose="05050102010706020507" pitchFamily="2" charset="2"/>
              </a:rPr>
              <a:t>就要对数据库进行</a:t>
            </a:r>
            <a:r>
              <a:rPr lang="zh-CN" altLang="en-US" dirty="0">
                <a:solidFill>
                  <a:srgbClr val="C00000"/>
                </a:solidFill>
                <a:sym typeface="Symbol" panose="05050102010706020507" pitchFamily="2" charset="2"/>
              </a:rPr>
              <a:t>重组</a:t>
            </a:r>
            <a:r>
              <a:rPr lang="zh-CN" altLang="en-US" dirty="0">
                <a:sym typeface="Symbol" panose="05050102010706020507" pitchFamily="2" charset="2"/>
              </a:rPr>
              <a:t>，或部分重组（只对频繁增、删的表进行重组）</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数据库的重组不会改变原设计的数据逻辑结构和物理结构，只是按原设计要求重新安排存储位置，回收垃圾，减少指针链，提高系统性能。</a:t>
            </a:r>
            <a:r>
              <a:rPr lang="en-US" altLang="zh-CN" dirty="0">
                <a:sym typeface="Symbol" panose="05050102010706020507" pitchFamily="2" charset="2"/>
              </a:rPr>
              <a:t>DBMS</a:t>
            </a:r>
            <a:r>
              <a:rPr lang="zh-CN" altLang="en-US" dirty="0">
                <a:sym typeface="Symbol" panose="05050102010706020507" pitchFamily="2" charset="2"/>
              </a:rPr>
              <a:t>一般都提供了供重组数据库使用的实用程序，帮助</a:t>
            </a:r>
            <a:r>
              <a:rPr lang="en-US" altLang="zh-CN" dirty="0">
                <a:sym typeface="Symbol" panose="05050102010706020507" pitchFamily="2" charset="2"/>
              </a:rPr>
              <a:t>DBA</a:t>
            </a:r>
            <a:r>
              <a:rPr lang="zh-CN" altLang="en-US" dirty="0">
                <a:sym typeface="Symbol" panose="05050102010706020507" pitchFamily="2" charset="2"/>
              </a:rPr>
              <a:t>重新组织数据库</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57505" indent="-357505">
              <a:tabLst>
                <a:tab pos="190500" algn="l"/>
                <a:tab pos="193675" algn="l"/>
                <a:tab pos="669925" algn="l"/>
              </a:tabLst>
            </a:pPr>
            <a:r>
              <a:rPr lang="zh-CN" altLang="en-US" dirty="0">
                <a:latin typeface="Arial" panose="020B0604020202020204" pitchFamily="34" charset="0"/>
                <a:sym typeface="Symbol" panose="05050102010706020507" pitchFamily="2" charset="2"/>
              </a:rPr>
              <a:t>数据库的重构</a:t>
            </a:r>
            <a:endParaRPr lang="en-US" altLang="zh-CN" dirty="0">
              <a:latin typeface="Arial" panose="020B0604020202020204" pitchFamily="34" charset="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当数据库应用环境发生变化，会导致实体及实体间的联系也发生相应的变化，使原有的数据库设计不能很好地满足新的需求，从而不得不适当调整数据库的模式和内模式，这就是数据库的</a:t>
            </a:r>
            <a:r>
              <a:rPr lang="zh-CN" altLang="en-US" dirty="0">
                <a:solidFill>
                  <a:srgbClr val="C00000"/>
                </a:solidFill>
                <a:sym typeface="Symbol" panose="05050102010706020507" pitchFamily="2" charset="2"/>
              </a:rPr>
              <a:t>重构</a:t>
            </a:r>
            <a:r>
              <a:rPr lang="zh-CN" altLang="en-US" dirty="0">
                <a:sym typeface="Symbol" panose="05050102010706020507" pitchFamily="2" charset="2"/>
              </a:rPr>
              <a:t>。</a:t>
            </a:r>
            <a:r>
              <a:rPr lang="en-US" altLang="zh-CN" dirty="0">
                <a:sym typeface="Symbol" panose="05050102010706020507" pitchFamily="2" charset="2"/>
              </a:rPr>
              <a:t>DBMS</a:t>
            </a:r>
            <a:r>
              <a:rPr lang="zh-CN" altLang="en-US" dirty="0">
                <a:sym typeface="Symbol" panose="05050102010706020507" pitchFamily="2" charset="2"/>
              </a:rPr>
              <a:t>都提供了修改数据库结构的功能。 </a:t>
            </a:r>
            <a:endParaRPr lang="en-US" altLang="zh-CN" dirty="0">
              <a:sym typeface="Symbol" panose="05050102010706020507" pitchFamily="2" charset="2"/>
            </a:endParaRPr>
          </a:p>
          <a:p>
            <a:pPr marL="814705" lvl="1" indent="-357505">
              <a:lnSpc>
                <a:spcPct val="150000"/>
              </a:lnSpc>
              <a:tabLst>
                <a:tab pos="190500" algn="l"/>
                <a:tab pos="193675" algn="l"/>
                <a:tab pos="669925" algn="l"/>
              </a:tabLst>
            </a:pPr>
            <a:r>
              <a:rPr lang="zh-CN" altLang="en-US" dirty="0">
                <a:sym typeface="Symbol" panose="05050102010706020507" pitchFamily="2" charset="2"/>
              </a:rPr>
              <a:t>重构数据库的程度是有限的，若应用变化太大，已无法通过重构数据库来满足新的需求，或重构数据库的代价太大，则表明现有数据库应用系统的生命周期已经结束，应该重新设计新的数据库系统，开始新数据库应用系统的生命周期</a:t>
            </a:r>
            <a:endParaRPr lang="zh-CN" altLang="en-US" dirty="0">
              <a:sym typeface="Symbol" panose="05050102010706020507" pitchFamily="2" charset="2"/>
            </a:endParaRPr>
          </a:p>
          <a:p>
            <a:pPr marL="0" indent="0">
              <a:lnSpc>
                <a:spcPct val="150000"/>
              </a:lnSpc>
              <a:buNone/>
            </a:pPr>
            <a:endParaRPr lang="zh-CN" altLang="en-US" sz="2000" b="0" dirty="0"/>
          </a:p>
          <a:p>
            <a:pPr>
              <a:lnSpc>
                <a:spcPct val="150000"/>
              </a:lnSpc>
            </a:pPr>
            <a:endParaRPr lang="zh-CN" altLang="en-US" dirty="0"/>
          </a:p>
          <a:p>
            <a:pPr lvl="1">
              <a:lnSpc>
                <a:spcPct val="150000"/>
              </a:lnSpc>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kumimoji="1" lang="en-GB" altLang="zh-CN" dirty="0"/>
              <a:t>5.</a:t>
            </a:r>
            <a:r>
              <a:rPr kumimoji="1" lang="en-US" altLang="zh-CN" dirty="0"/>
              <a:t>7</a:t>
            </a:r>
            <a:r>
              <a:rPr kumimoji="1" lang="en-GB" altLang="zh-CN" dirty="0"/>
              <a:t> </a:t>
            </a:r>
            <a:r>
              <a:rPr kumimoji="1" lang="zh-CN" altLang="en-US" dirty="0"/>
              <a:t>数据库实施</a:t>
            </a:r>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18800</Words>
  <Application>WPS 演示</Application>
  <PresentationFormat>宽屏</PresentationFormat>
  <Paragraphs>3461</Paragraphs>
  <Slides>132</Slides>
  <Notes>3</Notes>
  <HiddenSlides>13</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132</vt:i4>
      </vt:variant>
    </vt:vector>
  </HeadingPairs>
  <TitlesOfParts>
    <vt:vector size="154" baseType="lpstr">
      <vt:lpstr>Arial</vt:lpstr>
      <vt:lpstr>宋体</vt:lpstr>
      <vt:lpstr>Wingdings</vt:lpstr>
      <vt:lpstr>黑体</vt:lpstr>
      <vt:lpstr>微软雅黑</vt:lpstr>
      <vt:lpstr>Times New Roman</vt:lpstr>
      <vt:lpstr>Arial Unicode MS</vt:lpstr>
      <vt:lpstr>等线 Light</vt:lpstr>
      <vt:lpstr>等线</vt:lpstr>
      <vt:lpstr>Tahoma</vt:lpstr>
      <vt:lpstr>Cambria Math</vt:lpstr>
      <vt:lpstr>楷体_GB2312</vt:lpstr>
      <vt:lpstr>新宋体</vt:lpstr>
      <vt:lpstr>仿宋_GB2312</vt:lpstr>
      <vt:lpstr>Symbol</vt:lpstr>
      <vt:lpstr>隶书</vt:lpstr>
      <vt:lpstr>Monotype Sorts</vt:lpstr>
      <vt:lpstr>Wingdings</vt:lpstr>
      <vt:lpstr>PMingLiU</vt:lpstr>
      <vt:lpstr>PMingLiU-ExtB</vt:lpstr>
      <vt:lpstr>仿宋</vt:lpstr>
      <vt:lpstr>Office 主题​​</vt:lpstr>
      <vt:lpstr>第5章 数据库设计</vt:lpstr>
      <vt:lpstr>第5章 数据库设计</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5.1 数据库设计概述</vt:lpstr>
      <vt:lpstr>5.2 需求分析</vt:lpstr>
      <vt:lpstr>5.2 需求分析</vt:lpstr>
      <vt:lpstr>5.2 需求分析</vt:lpstr>
      <vt:lpstr>5.2 需求分析</vt:lpstr>
      <vt:lpstr>5.2 需求分析</vt:lpstr>
      <vt:lpstr>5.2 需求分析</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5.3 概念设计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5.4 逻辑设计</vt:lpstr>
      <vt:lpstr>5.5 IDEF方法简介</vt:lpstr>
      <vt:lpstr>5.5 IDEF方法简介</vt:lpstr>
      <vt:lpstr>5.5 IDEF方法简介</vt:lpstr>
      <vt:lpstr>5.5 IDEF方法简介</vt:lpstr>
      <vt:lpstr>5.5 IDEF方法简介</vt:lpstr>
      <vt:lpstr>5.5 IDEF方法简介</vt:lpstr>
      <vt:lpstr>5.5 IDEF方法简介</vt:lpstr>
      <vt:lpstr>5.5 IDEF方法简介</vt:lpstr>
      <vt:lpstr>5.5 IDEF方法简介</vt:lpstr>
      <vt:lpstr>5.5 IDEF方法简介</vt:lpstr>
      <vt:lpstr>5.5 IDEF方法简介</vt:lpstr>
      <vt:lpstr>5.5 IDEF方法简介</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5.6 物理设计</vt:lpstr>
      <vt:lpstr>5.7 数据库实施</vt:lpstr>
      <vt:lpstr>5.7 数据库实施</vt:lpstr>
      <vt:lpstr>5.7 数据库实施</vt:lpstr>
      <vt:lpstr>5.7 数据库实施</vt:lpstr>
      <vt:lpstr>5.7 数据库实施</vt:lpstr>
      <vt:lpstr>5.7 数据库实施</vt:lpstr>
      <vt:lpstr>5.7 数据库实施</vt:lpstr>
      <vt:lpstr>5.7 数据库实施</vt:lpstr>
      <vt:lpstr>5.7 数据库实施</vt:lpstr>
      <vt:lpstr>5.7 数据库实施</vt:lpstr>
      <vt:lpstr>5.7 数据库实施</vt:lpstr>
      <vt:lpstr>5.7 数据库实施</vt:lpstr>
      <vt:lpstr>5.7 数据库实施</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691</cp:revision>
  <dcterms:created xsi:type="dcterms:W3CDTF">2024-11-02T12:31:00Z</dcterms:created>
  <dcterms:modified xsi:type="dcterms:W3CDTF">2025-07-24T09:21:15Z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BFACE945761A4DC69C2939C0501E70CC_12</vt:lpwstr>
  </property>
  <property fmtid="{D5CDD505-2E9C-101B-9397-08002B2CF9AE}" pid="3" name="KSOProductBuildVer">
    <vt:lpwstr>2052-12.1.0.21915</vt:lpwstr>
  </property>
</Properties>
</file>