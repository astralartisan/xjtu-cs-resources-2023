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3" r:id="rId5"/>
    <p:sldId id="268" r:id="rId6"/>
    <p:sldId id="279" r:id="rId7"/>
    <p:sldId id="280" r:id="rId8"/>
    <p:sldId id="281" r:id="rId9"/>
    <p:sldId id="269" r:id="rId10"/>
    <p:sldId id="270" r:id="rId11"/>
    <p:sldId id="271" r:id="rId12"/>
    <p:sldId id="272" r:id="rId13"/>
    <p:sldId id="273" r:id="rId14"/>
    <p:sldId id="282" r:id="rId15"/>
    <p:sldId id="283" r:id="rId16"/>
    <p:sldId id="284" r:id="rId17"/>
    <p:sldId id="274" r:id="rId18"/>
    <p:sldId id="275" r:id="rId19"/>
    <p:sldId id="285" r:id="rId20"/>
    <p:sldId id="286" r:id="rId21"/>
    <p:sldId id="287" r:id="rId22"/>
    <p:sldId id="288" r:id="rId23"/>
    <p:sldId id="289" r:id="rId24"/>
    <p:sldId id="293" r:id="rId25"/>
    <p:sldId id="294" r:id="rId26"/>
    <p:sldId id="346" r:id="rId27"/>
    <p:sldId id="291" r:id="rId28"/>
    <p:sldId id="295" r:id="rId29"/>
    <p:sldId id="292" r:id="rId30"/>
    <p:sldId id="296" r:id="rId31"/>
    <p:sldId id="298" r:id="rId32"/>
    <p:sldId id="299" r:id="rId33"/>
    <p:sldId id="297" r:id="rId34"/>
    <p:sldId id="300" r:id="rId35"/>
    <p:sldId id="303" r:id="rId36"/>
    <p:sldId id="302" r:id="rId37"/>
    <p:sldId id="304" r:id="rId38"/>
    <p:sldId id="305" r:id="rId39"/>
    <p:sldId id="306" r:id="rId40"/>
    <p:sldId id="307" r:id="rId41"/>
    <p:sldId id="309" r:id="rId42"/>
    <p:sldId id="310" r:id="rId43"/>
    <p:sldId id="311" r:id="rId44"/>
    <p:sldId id="308"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9" r:id="rId58"/>
    <p:sldId id="324" r:id="rId59"/>
    <p:sldId id="325" r:id="rId60"/>
    <p:sldId id="326" r:id="rId61"/>
    <p:sldId id="327" r:id="rId62"/>
    <p:sldId id="331" r:id="rId63"/>
    <p:sldId id="328" r:id="rId64"/>
    <p:sldId id="332" r:id="rId65"/>
    <p:sldId id="330" r:id="rId66"/>
    <p:sldId id="333" r:id="rId67"/>
    <p:sldId id="334" r:id="rId68"/>
    <p:sldId id="335" r:id="rId69"/>
    <p:sldId id="336" r:id="rId70"/>
    <p:sldId id="337" r:id="rId71"/>
    <p:sldId id="338" r:id="rId72"/>
    <p:sldId id="339" r:id="rId73"/>
    <p:sldId id="340" r:id="rId74"/>
    <p:sldId id="341" r:id="rId75"/>
    <p:sldId id="342" r:id="rId76"/>
    <p:sldId id="343" r:id="rId77"/>
    <p:sldId id="344" r:id="rId78"/>
    <p:sldId id="345" r:id="rId7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94421" autoAdjust="0"/>
  </p:normalViewPr>
  <p:slideViewPr>
    <p:cSldViewPr snapToGrid="0">
      <p:cViewPr varScale="1">
        <p:scale>
          <a:sx n="102" d="100"/>
          <a:sy n="102" d="100"/>
        </p:scale>
        <p:origin x="594" y="96"/>
      </p:cViewPr>
      <p:guideLst/>
    </p:cSldViewPr>
  </p:slideViewPr>
  <p:outlineViewPr>
    <p:cViewPr>
      <p:scale>
        <a:sx n="33" d="100"/>
        <a:sy n="33" d="100"/>
      </p:scale>
      <p:origin x="0" y="-220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93E7EC9-FEFA-4E53-BBE2-1E23B138529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0DE2B4E6-1E33-4C1F-B850-208F039E74F1}">
      <dgm:prSet phldrT="[文本]" custT="1"/>
      <dgm:spPr>
        <a:xfrm>
          <a:off x="3154" y="117207"/>
          <a:ext cx="3075436" cy="1230174"/>
        </a:xfrm>
        <a:prstGeom prst="rect">
          <a:avLst/>
        </a:prstGeom>
        <a:solidFill>
          <a:srgbClr val="30B5C5"/>
        </a:solidFill>
        <a:ln w="12700" cap="flat" cmpd="sng" algn="ctr">
          <a:solidFill>
            <a:srgbClr val="5B9BD5">
              <a:hueOff val="0"/>
              <a:satOff val="0"/>
              <a:lumOff val="0"/>
              <a:alphaOff val="0"/>
            </a:srgbClr>
          </a:solidFill>
          <a:prstDash val="solid"/>
          <a:miter lim="800000"/>
        </a:ln>
        <a:effectLst/>
      </dgm:spPr>
      <dgm:t>
        <a:bodyPr/>
        <a:lstStyle/>
        <a:p>
          <a:pPr>
            <a:buNone/>
          </a:pPr>
          <a:r>
            <a:rPr lang="zh-CN" altLang="en-US" sz="2000" dirty="0">
              <a:solidFill>
                <a:sysClr val="window" lastClr="FFFFFF"/>
              </a:solidFill>
              <a:latin typeface="Huawei Sans" panose="020C0503030203020204" pitchFamily="34" charset="0"/>
              <a:ea typeface="方正兰亭黑简体" panose="02000000000000000000" pitchFamily="2" charset="-122"/>
              <a:cs typeface="+mn-cs"/>
              <a:sym typeface="Huawei Sans" panose="020C0503030203020204" pitchFamily="34" charset="0"/>
            </a:rPr>
            <a:t>复合应用场景</a:t>
          </a:r>
        </a:p>
      </dgm:t>
    </dgm:pt>
    <dgm:pt modelId="{FFD7D656-FA62-4D52-807A-8608D7C3871B}" cxnId="{D62C7859-6286-460F-B673-1109DFF6C212}" type="parTrans">
      <dgm:prSet/>
      <dgm:spPr/>
      <dgm:t>
        <a:bodyPr/>
        <a:lstStyle/>
        <a:p>
          <a:endParaRPr lang="zh-CN" altLang="en-US"/>
        </a:p>
      </dgm:t>
    </dgm:pt>
    <dgm:pt modelId="{EDE8382A-9AFB-48D1-AF49-9CF1BAFCBDB4}" cxnId="{D62C7859-6286-460F-B673-1109DFF6C212}" type="sibTrans">
      <dgm:prSet/>
      <dgm:spPr/>
      <dgm:t>
        <a:bodyPr/>
        <a:lstStyle/>
        <a:p>
          <a:endParaRPr lang="zh-CN" altLang="en-US"/>
        </a:p>
      </dgm:t>
    </dgm:pt>
    <dgm:pt modelId="{AE3A9972-CB71-4931-97E6-9250B18FE2E5}">
      <dgm:prSet phldrT="[文本]" custT="1"/>
      <dgm:spPr>
        <a:xfrm>
          <a:off x="3154"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行存储，支持业务数据频繁更新场景；</a:t>
          </a:r>
        </a:p>
      </dgm:t>
    </dgm:pt>
    <dgm:pt modelId="{41EB7084-E706-43FB-8913-BB28499D1A35}" cxnId="{D3ADDE0A-99C0-461E-AAB4-E75742305733}" type="parTrans">
      <dgm:prSet/>
      <dgm:spPr/>
      <dgm:t>
        <a:bodyPr/>
        <a:lstStyle/>
        <a:p>
          <a:endParaRPr lang="zh-CN" altLang="en-US"/>
        </a:p>
      </dgm:t>
    </dgm:pt>
    <dgm:pt modelId="{2A47BF6A-C9EA-4CB6-B517-C4B96F681206}" cxnId="{D3ADDE0A-99C0-461E-AAB4-E75742305733}" type="sibTrans">
      <dgm:prSet/>
      <dgm:spPr/>
      <dgm:t>
        <a:bodyPr/>
        <a:lstStyle/>
        <a:p>
          <a:endParaRPr lang="zh-CN" altLang="en-US"/>
        </a:p>
      </dgm:t>
    </dgm:pt>
    <dgm:pt modelId="{43993642-BA09-4636-8EC5-97A76163A269}">
      <dgm:prSet phldrT="[文本]" custT="1"/>
      <dgm:spPr>
        <a:xfrm>
          <a:off x="3154"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列存储，支持业务数据追加和分析场景；</a:t>
          </a:r>
        </a:p>
      </dgm:t>
    </dgm:pt>
    <dgm:pt modelId="{D8CFF0D2-038D-4A51-9BD3-0CFA7BEA576B}" cxnId="{BE849AE3-8ECA-4E1C-B557-F7C9274DD001}" type="parTrans">
      <dgm:prSet/>
      <dgm:spPr/>
      <dgm:t>
        <a:bodyPr/>
        <a:lstStyle/>
        <a:p>
          <a:endParaRPr lang="zh-CN" altLang="en-US"/>
        </a:p>
      </dgm:t>
    </dgm:pt>
    <dgm:pt modelId="{9AE46682-E4E1-4D08-94E4-B0A11F281254}" cxnId="{BE849AE3-8ECA-4E1C-B557-F7C9274DD001}" type="sibTrans">
      <dgm:prSet/>
      <dgm:spPr/>
      <dgm:t>
        <a:bodyPr/>
        <a:lstStyle/>
        <a:p>
          <a:endParaRPr lang="zh-CN" altLang="en-US"/>
        </a:p>
      </dgm:t>
    </dgm:pt>
    <dgm:pt modelId="{CFEDD78D-F2A6-47D3-9596-FEA155EEA01A}">
      <dgm:prSet phldrT="[文本]" custT="1"/>
      <dgm:spPr>
        <a:xfrm>
          <a:off x="3509151" y="117207"/>
          <a:ext cx="3075436" cy="1230174"/>
        </a:xfrm>
        <a:prstGeom prst="rect">
          <a:avLst/>
        </a:prstGeom>
        <a:solidFill>
          <a:srgbClr val="30B5C5"/>
        </a:solidFill>
        <a:ln w="12700" cap="flat" cmpd="sng" algn="ctr">
          <a:solidFill>
            <a:srgbClr val="5B9BD5">
              <a:hueOff val="0"/>
              <a:satOff val="0"/>
              <a:lumOff val="0"/>
              <a:alphaOff val="0"/>
            </a:srgbClr>
          </a:solidFill>
          <a:prstDash val="solid"/>
          <a:miter lim="800000"/>
        </a:ln>
        <a:effectLst/>
      </dgm:spPr>
      <dgm:t>
        <a:bodyPr/>
        <a:lstStyle/>
        <a:p>
          <a:pPr>
            <a:buNone/>
          </a:pPr>
          <a:r>
            <a:rPr lang="zh-CN" altLang="en-US" sz="2000" dirty="0">
              <a:solidFill>
                <a:sysClr val="window" lastClr="FFFFFF"/>
              </a:solidFill>
              <a:latin typeface="Huawei Sans" panose="020C0503030203020204" pitchFamily="34" charset="0"/>
              <a:ea typeface="方正兰亭黑简体" panose="02000000000000000000" pitchFamily="2" charset="-122"/>
              <a:cs typeface="+mn-cs"/>
              <a:sym typeface="Huawei Sans" panose="020C0503030203020204" pitchFamily="34" charset="0"/>
            </a:rPr>
            <a:t>高性能</a:t>
          </a:r>
        </a:p>
      </dgm:t>
    </dgm:pt>
    <dgm:pt modelId="{542991B8-2BFE-4823-BF41-83C1AB45164E}" cxnId="{2B08AF09-D39A-4868-AC7B-B628533D6292}" type="parTrans">
      <dgm:prSet/>
      <dgm:spPr/>
      <dgm:t>
        <a:bodyPr/>
        <a:lstStyle/>
        <a:p>
          <a:endParaRPr lang="zh-CN" altLang="en-US"/>
        </a:p>
      </dgm:t>
    </dgm:pt>
    <dgm:pt modelId="{31E38977-16F9-4D15-9A43-6F2031AEEEA0}" cxnId="{2B08AF09-D39A-4868-AC7B-B628533D6292}" type="sibTrans">
      <dgm:prSet/>
      <dgm:spPr/>
      <dgm:t>
        <a:bodyPr/>
        <a:lstStyle/>
        <a:p>
          <a:endParaRPr lang="zh-CN" altLang="en-US"/>
        </a:p>
      </dgm:t>
    </dgm:pt>
    <dgm:pt modelId="{4BFA1251-7D45-4B5C-86AF-7858C97DEAFC}">
      <dgm:prSet phldrT="[文本]" custT="1"/>
      <dgm:spPr>
        <a:xfrm>
          <a:off x="3509151"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通过多核数据结构，增量检查点，大内存缓冲区管理实现百万级</a:t>
          </a:r>
          <a:r>
            <a:rPr lang="en-US" altLang="zh-CN" sz="1600" dirty="0" err="1">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tpmC</a:t>
          </a: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p>
      </dgm:t>
    </dgm:pt>
    <dgm:pt modelId="{9B2EB059-9157-4F97-9B1C-AE85ECDA10CC}" cxnId="{F4FD860F-E82A-47C4-B603-B168BCABF56E}" type="parTrans">
      <dgm:prSet/>
      <dgm:spPr/>
      <dgm:t>
        <a:bodyPr/>
        <a:lstStyle/>
        <a:p>
          <a:endParaRPr lang="zh-CN" altLang="en-US"/>
        </a:p>
      </dgm:t>
    </dgm:pt>
    <dgm:pt modelId="{408E5FC1-8818-4064-95A7-85740B7A653B}" cxnId="{F4FD860F-E82A-47C4-B603-B168BCABF56E}" type="sibTrans">
      <dgm:prSet/>
      <dgm:spPr/>
      <dgm:t>
        <a:bodyPr/>
        <a:lstStyle/>
        <a:p>
          <a:endParaRPr lang="zh-CN" altLang="en-US"/>
        </a:p>
      </dgm:t>
    </dgm:pt>
    <dgm:pt modelId="{10890D9B-A4E7-4CDD-8EB9-D3C8315B4621}">
      <dgm:prSet phldrT="[文本]" custT="1"/>
      <dgm:spPr>
        <a:xfrm>
          <a:off x="3509151"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服务端连接池，支持万级并发。</a:t>
          </a:r>
        </a:p>
      </dgm:t>
    </dgm:pt>
    <dgm:pt modelId="{37826673-4CE6-46C2-B6B9-1D5E5EAC1346}" cxnId="{10B97880-22DE-4908-93B2-98BEDC26FE01}" type="parTrans">
      <dgm:prSet/>
      <dgm:spPr/>
      <dgm:t>
        <a:bodyPr/>
        <a:lstStyle/>
        <a:p>
          <a:endParaRPr lang="zh-CN" altLang="en-US"/>
        </a:p>
      </dgm:t>
    </dgm:pt>
    <dgm:pt modelId="{6D64E2CC-AC54-4D3F-A902-40FB6B6877BE}" cxnId="{10B97880-22DE-4908-93B2-98BEDC26FE01}" type="sibTrans">
      <dgm:prSet/>
      <dgm:spPr/>
      <dgm:t>
        <a:bodyPr/>
        <a:lstStyle/>
        <a:p>
          <a:endParaRPr lang="zh-CN" altLang="en-US"/>
        </a:p>
      </dgm:t>
    </dgm:pt>
    <dgm:pt modelId="{074A2550-31AA-4677-99F8-81B28D7FDFE9}">
      <dgm:prSet phldrT="[文本]" custT="1"/>
      <dgm:spPr>
        <a:xfrm>
          <a:off x="7015149" y="117207"/>
          <a:ext cx="3075436" cy="1230174"/>
        </a:xfrm>
        <a:prstGeom prst="rect">
          <a:avLst/>
        </a:prstGeom>
        <a:solidFill>
          <a:srgbClr val="30B5C5"/>
        </a:solidFill>
        <a:ln w="12700" cap="flat" cmpd="sng" algn="ctr">
          <a:solidFill>
            <a:srgbClr val="5B9BD5">
              <a:hueOff val="0"/>
              <a:satOff val="0"/>
              <a:lumOff val="0"/>
              <a:alphaOff val="0"/>
            </a:srgbClr>
          </a:solidFill>
          <a:prstDash val="solid"/>
          <a:miter lim="800000"/>
        </a:ln>
        <a:effectLst/>
      </dgm:spPr>
      <dgm:t>
        <a:bodyPr/>
        <a:lstStyle/>
        <a:p>
          <a:pPr>
            <a:buNone/>
          </a:pPr>
          <a:r>
            <a:rPr lang="zh-CN" altLang="en-US" sz="2000" dirty="0">
              <a:solidFill>
                <a:sysClr val="window" lastClr="FFFFFF"/>
              </a:solidFill>
              <a:latin typeface="Huawei Sans" panose="020C0503030203020204" pitchFamily="34" charset="0"/>
              <a:ea typeface="方正兰亭黑简体" panose="02000000000000000000" pitchFamily="2" charset="-122"/>
              <a:cs typeface="+mn-cs"/>
              <a:sym typeface="Huawei Sans" panose="020C0503030203020204" pitchFamily="34" charset="0"/>
            </a:rPr>
            <a:t>高可用</a:t>
          </a:r>
        </a:p>
      </dgm:t>
    </dgm:pt>
    <dgm:pt modelId="{BC91DE6E-A2FB-44EA-BF94-C8E5AA9AF52F}" cxnId="{8F3E3296-BF18-41A5-9CFD-A365B7C7C306}" type="parTrans">
      <dgm:prSet/>
      <dgm:spPr/>
      <dgm:t>
        <a:bodyPr/>
        <a:lstStyle/>
        <a:p>
          <a:endParaRPr lang="zh-CN" altLang="en-US"/>
        </a:p>
      </dgm:t>
    </dgm:pt>
    <dgm:pt modelId="{BAE90E32-A218-496D-A78D-4BFC394E40D2}" cxnId="{8F3E3296-BF18-41A5-9CFD-A365B7C7C306}" type="sibTrans">
      <dgm:prSet/>
      <dgm:spPr/>
      <dgm:t>
        <a:bodyPr/>
        <a:lstStyle/>
        <a:p>
          <a:endParaRPr lang="zh-CN" altLang="en-US"/>
        </a:p>
      </dgm:t>
    </dgm:pt>
    <dgm:pt modelId="{5C11B2A0-39A0-46E6-847A-EDBCF6A3EA82}">
      <dgm:prSet phldrT="[文本]" custT="1"/>
      <dgm:spPr>
        <a:xfrm>
          <a:off x="7015149"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支持主备同步，异步多种部署模式；</a:t>
          </a:r>
        </a:p>
      </dgm:t>
    </dgm:pt>
    <dgm:pt modelId="{C1F32947-790E-41F5-9186-D89CA9490BB2}" cxnId="{30D943DE-74D7-424B-B6D8-ADEA02E61A4F}" type="parTrans">
      <dgm:prSet/>
      <dgm:spPr/>
      <dgm:t>
        <a:bodyPr/>
        <a:lstStyle/>
        <a:p>
          <a:endParaRPr lang="zh-CN" altLang="en-US"/>
        </a:p>
      </dgm:t>
    </dgm:pt>
    <dgm:pt modelId="{D46512A6-054B-42A2-BB0F-A8504FF0CBEA}" cxnId="{30D943DE-74D7-424B-B6D8-ADEA02E61A4F}" type="sibTrans">
      <dgm:prSet/>
      <dgm:spPr/>
      <dgm:t>
        <a:bodyPr/>
        <a:lstStyle/>
        <a:p>
          <a:endParaRPr lang="zh-CN" altLang="en-US"/>
        </a:p>
      </dgm:t>
    </dgm:pt>
    <dgm:pt modelId="{8A6188CB-4F5B-4397-BFA1-07DE65DB89E2}">
      <dgm:prSet phldrT="[文本]" custT="1"/>
      <dgm:spPr>
        <a:xfrm>
          <a:off x="7015149"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数据页</a:t>
          </a:r>
          <a:r>
            <a:rPr lang="en-US" altLang="zh-CN"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CRC</a:t>
          </a: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校验，损坏数据页通过备机自动修复；</a:t>
          </a:r>
        </a:p>
      </dgm:t>
    </dgm:pt>
    <dgm:pt modelId="{25B029A2-6348-413E-8C48-926E22A1E9F6}" cxnId="{80F16D6A-8A7E-476E-AE69-DFAF848BCA0B}" type="parTrans">
      <dgm:prSet/>
      <dgm:spPr/>
      <dgm:t>
        <a:bodyPr/>
        <a:lstStyle/>
        <a:p>
          <a:endParaRPr lang="zh-CN" altLang="en-US"/>
        </a:p>
      </dgm:t>
    </dgm:pt>
    <dgm:pt modelId="{619DFF98-B84C-4635-B790-F4052FB9223A}" cxnId="{80F16D6A-8A7E-476E-AE69-DFAF848BCA0B}" type="sibTrans">
      <dgm:prSet/>
      <dgm:spPr/>
      <dgm:t>
        <a:bodyPr/>
        <a:lstStyle/>
        <a:p>
          <a:endParaRPr lang="zh-CN" altLang="en-US"/>
        </a:p>
      </dgm:t>
    </dgm:pt>
    <dgm:pt modelId="{05FE474A-63DD-4C3D-865A-455C2C71D43F}">
      <dgm:prSet phldrT="[文本]" custT="1"/>
      <dgm:spPr>
        <a:xfrm>
          <a:off x="3154"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内存表，支持高吞吐，低时延，极高性能场景。</a:t>
          </a:r>
        </a:p>
      </dgm:t>
    </dgm:pt>
    <dgm:pt modelId="{177A4F4A-92E9-4754-BFEA-1699E4DBD568}" cxnId="{346249EF-AB0B-4F7D-A415-F90EC9B85563}" type="parTrans">
      <dgm:prSet/>
      <dgm:spPr/>
      <dgm:t>
        <a:bodyPr/>
        <a:lstStyle/>
        <a:p>
          <a:endParaRPr lang="zh-CN" altLang="en-US"/>
        </a:p>
      </dgm:t>
    </dgm:pt>
    <dgm:pt modelId="{9F31384D-9770-4F81-8505-8D757AF23932}" cxnId="{346249EF-AB0B-4F7D-A415-F90EC9B85563}" type="sibTrans">
      <dgm:prSet/>
      <dgm:spPr/>
      <dgm:t>
        <a:bodyPr/>
        <a:lstStyle/>
        <a:p>
          <a:endParaRPr lang="zh-CN" altLang="en-US"/>
        </a:p>
      </dgm:t>
    </dgm:pt>
    <dgm:pt modelId="{33A3B688-D837-4520-8AA9-47C9AD8FF5E1}">
      <dgm:prSet phldrT="[文本]" custT="1"/>
      <dgm:spPr>
        <a:xfrm>
          <a:off x="7015149" y="1347382"/>
          <a:ext cx="3075436" cy="2854800"/>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gm:spPr>
      <dgm:t>
        <a:bodyPr/>
        <a:lstStyle/>
        <a:p>
          <a:pPr>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备机并行恢复，</a:t>
          </a:r>
          <a:r>
            <a:rPr lang="en-US" altLang="zh-CN"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10</a:t>
          </a: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秒内可升主提供服务</a:t>
          </a:r>
          <a:r>
            <a:rPr lang="zh-CN" altLang="en-US" sz="24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p>
      </dgm:t>
    </dgm:pt>
    <dgm:pt modelId="{76B0311F-319E-4072-98EB-50D6F00FF9BB}" cxnId="{2314768D-503E-47D4-AF0C-D5CADEDB1D61}" type="parTrans">
      <dgm:prSet/>
      <dgm:spPr/>
      <dgm:t>
        <a:bodyPr/>
        <a:lstStyle/>
        <a:p>
          <a:endParaRPr lang="zh-CN" altLang="en-US"/>
        </a:p>
      </dgm:t>
    </dgm:pt>
    <dgm:pt modelId="{76D8267B-4720-489E-9729-BCB2BE9EA5DE}" cxnId="{2314768D-503E-47D4-AF0C-D5CADEDB1D61}" type="sibTrans">
      <dgm:prSet/>
      <dgm:spPr/>
      <dgm:t>
        <a:bodyPr/>
        <a:lstStyle/>
        <a:p>
          <a:endParaRPr lang="zh-CN" altLang="en-US"/>
        </a:p>
      </dgm:t>
    </dgm:pt>
    <dgm:pt modelId="{84DC7294-1814-4720-89C4-D06506BB8781}" type="pres">
      <dgm:prSet presAssocID="{D93E7EC9-FEFA-4E53-BBE2-1E23B1385292}" presName="Name0" presStyleCnt="0">
        <dgm:presLayoutVars>
          <dgm:dir/>
          <dgm:animLvl val="lvl"/>
          <dgm:resizeHandles val="exact"/>
        </dgm:presLayoutVars>
      </dgm:prSet>
      <dgm:spPr/>
    </dgm:pt>
    <dgm:pt modelId="{7FE29C74-D92E-464E-9725-AD170F6E8F6D}" type="pres">
      <dgm:prSet presAssocID="{0DE2B4E6-1E33-4C1F-B850-208F039E74F1}" presName="composite" presStyleCnt="0"/>
      <dgm:spPr/>
    </dgm:pt>
    <dgm:pt modelId="{AB5678C0-3E21-4C63-8E36-8DC2C8833077}" type="pres">
      <dgm:prSet presAssocID="{0DE2B4E6-1E33-4C1F-B850-208F039E74F1}" presName="parTx" presStyleLbl="alignNode1" presStyleIdx="0" presStyleCnt="3" custScaleY="100000">
        <dgm:presLayoutVars>
          <dgm:chMax val="0"/>
          <dgm:chPref val="0"/>
          <dgm:bulletEnabled val="1"/>
        </dgm:presLayoutVars>
      </dgm:prSet>
      <dgm:spPr/>
    </dgm:pt>
    <dgm:pt modelId="{231B3DFE-FF00-49D7-AB75-80CB789BBFD7}" type="pres">
      <dgm:prSet presAssocID="{0DE2B4E6-1E33-4C1F-B850-208F039E74F1}" presName="desTx" presStyleLbl="alignAccFollowNode1" presStyleIdx="0" presStyleCnt="3">
        <dgm:presLayoutVars>
          <dgm:bulletEnabled val="1"/>
        </dgm:presLayoutVars>
      </dgm:prSet>
      <dgm:spPr/>
    </dgm:pt>
    <dgm:pt modelId="{2D00F58D-8AE2-4996-A57F-2C988980E4A5}" type="pres">
      <dgm:prSet presAssocID="{EDE8382A-9AFB-48D1-AF49-9CF1BAFCBDB4}" presName="space" presStyleCnt="0"/>
      <dgm:spPr/>
    </dgm:pt>
    <dgm:pt modelId="{6616E708-FEA9-40B9-946E-B8AA48A8CA01}" type="pres">
      <dgm:prSet presAssocID="{CFEDD78D-F2A6-47D3-9596-FEA155EEA01A}" presName="composite" presStyleCnt="0"/>
      <dgm:spPr/>
    </dgm:pt>
    <dgm:pt modelId="{5BB8F383-57B5-4EAA-AEC7-90E10D211600}" type="pres">
      <dgm:prSet presAssocID="{CFEDD78D-F2A6-47D3-9596-FEA155EEA01A}" presName="parTx" presStyleLbl="alignNode1" presStyleIdx="1" presStyleCnt="3">
        <dgm:presLayoutVars>
          <dgm:chMax val="0"/>
          <dgm:chPref val="0"/>
          <dgm:bulletEnabled val="1"/>
        </dgm:presLayoutVars>
      </dgm:prSet>
      <dgm:spPr/>
    </dgm:pt>
    <dgm:pt modelId="{9EA821E1-A6CA-450E-BCC5-113EA81A18EF}" type="pres">
      <dgm:prSet presAssocID="{CFEDD78D-F2A6-47D3-9596-FEA155EEA01A}" presName="desTx" presStyleLbl="alignAccFollowNode1" presStyleIdx="1" presStyleCnt="3">
        <dgm:presLayoutVars>
          <dgm:bulletEnabled val="1"/>
        </dgm:presLayoutVars>
      </dgm:prSet>
      <dgm:spPr/>
    </dgm:pt>
    <dgm:pt modelId="{C0B05E3C-FF3C-4169-B57F-79E68F7AAF5D}" type="pres">
      <dgm:prSet presAssocID="{31E38977-16F9-4D15-9A43-6F2031AEEEA0}" presName="space" presStyleCnt="0"/>
      <dgm:spPr/>
    </dgm:pt>
    <dgm:pt modelId="{D2329E51-9C2A-4C4D-815F-1269AFE90B4B}" type="pres">
      <dgm:prSet presAssocID="{074A2550-31AA-4677-99F8-81B28D7FDFE9}" presName="composite" presStyleCnt="0"/>
      <dgm:spPr/>
    </dgm:pt>
    <dgm:pt modelId="{B3C856B6-68FA-491A-8054-4FF83A6DF97D}" type="pres">
      <dgm:prSet presAssocID="{074A2550-31AA-4677-99F8-81B28D7FDFE9}" presName="parTx" presStyleLbl="alignNode1" presStyleIdx="2" presStyleCnt="3">
        <dgm:presLayoutVars>
          <dgm:chMax val="0"/>
          <dgm:chPref val="0"/>
          <dgm:bulletEnabled val="1"/>
        </dgm:presLayoutVars>
      </dgm:prSet>
      <dgm:spPr/>
    </dgm:pt>
    <dgm:pt modelId="{9C1FEEAF-47BC-485A-B64B-A9A74E1090FE}" type="pres">
      <dgm:prSet presAssocID="{074A2550-31AA-4677-99F8-81B28D7FDFE9}" presName="desTx" presStyleLbl="alignAccFollowNode1" presStyleIdx="2" presStyleCnt="3">
        <dgm:presLayoutVars>
          <dgm:bulletEnabled val="1"/>
        </dgm:presLayoutVars>
      </dgm:prSet>
      <dgm:spPr/>
    </dgm:pt>
  </dgm:ptLst>
  <dgm:cxnLst>
    <dgm:cxn modelId="{2B08AF09-D39A-4868-AC7B-B628533D6292}" srcId="{D93E7EC9-FEFA-4E53-BBE2-1E23B1385292}" destId="{CFEDD78D-F2A6-47D3-9596-FEA155EEA01A}" srcOrd="1" destOrd="0" parTransId="{542991B8-2BFE-4823-BF41-83C1AB45164E}" sibTransId="{31E38977-16F9-4D15-9A43-6F2031AEEEA0}"/>
    <dgm:cxn modelId="{D3ADDE0A-99C0-461E-AAB4-E75742305733}" srcId="{0DE2B4E6-1E33-4C1F-B850-208F039E74F1}" destId="{AE3A9972-CB71-4931-97E6-9250B18FE2E5}" srcOrd="0" destOrd="0" parTransId="{41EB7084-E706-43FB-8913-BB28499D1A35}" sibTransId="{2A47BF6A-C9EA-4CB6-B517-C4B96F681206}"/>
    <dgm:cxn modelId="{F4FD860F-E82A-47C4-B603-B168BCABF56E}" srcId="{CFEDD78D-F2A6-47D3-9596-FEA155EEA01A}" destId="{4BFA1251-7D45-4B5C-86AF-7858C97DEAFC}" srcOrd="0" destOrd="0" parTransId="{9B2EB059-9157-4F97-9B1C-AE85ECDA10CC}" sibTransId="{408E5FC1-8818-4064-95A7-85740B7A653B}"/>
    <dgm:cxn modelId="{7878B028-3AAD-449A-BEB2-2D64554974E3}" type="presOf" srcId="{074A2550-31AA-4677-99F8-81B28D7FDFE9}" destId="{B3C856B6-68FA-491A-8054-4FF83A6DF97D}" srcOrd="0" destOrd="0" presId="urn:microsoft.com/office/officeart/2005/8/layout/hList1"/>
    <dgm:cxn modelId="{80F16D6A-8A7E-476E-AE69-DFAF848BCA0B}" srcId="{074A2550-31AA-4677-99F8-81B28D7FDFE9}" destId="{8A6188CB-4F5B-4397-BFA1-07DE65DB89E2}" srcOrd="1" destOrd="0" parTransId="{25B029A2-6348-413E-8C48-926E22A1E9F6}" sibTransId="{619DFF98-B84C-4635-B790-F4052FB9223A}"/>
    <dgm:cxn modelId="{D23A146F-4C52-4E21-9397-FA1CBEA9FA33}" type="presOf" srcId="{05FE474A-63DD-4C3D-865A-455C2C71D43F}" destId="{231B3DFE-FF00-49D7-AB75-80CB789BBFD7}" srcOrd="0" destOrd="2" presId="urn:microsoft.com/office/officeart/2005/8/layout/hList1"/>
    <dgm:cxn modelId="{61A78F70-4E15-481C-8F20-6DEC3E6514E0}" type="presOf" srcId="{4BFA1251-7D45-4B5C-86AF-7858C97DEAFC}" destId="{9EA821E1-A6CA-450E-BCC5-113EA81A18EF}" srcOrd="0" destOrd="0" presId="urn:microsoft.com/office/officeart/2005/8/layout/hList1"/>
    <dgm:cxn modelId="{BCE13F56-6074-48E8-BCF6-A54AB3A52235}" type="presOf" srcId="{43993642-BA09-4636-8EC5-97A76163A269}" destId="{231B3DFE-FF00-49D7-AB75-80CB789BBFD7}" srcOrd="0" destOrd="1" presId="urn:microsoft.com/office/officeart/2005/8/layout/hList1"/>
    <dgm:cxn modelId="{4D4EF857-FE87-4BF6-BAA2-F6EF4EB11D02}" type="presOf" srcId="{0DE2B4E6-1E33-4C1F-B850-208F039E74F1}" destId="{AB5678C0-3E21-4C63-8E36-8DC2C8833077}" srcOrd="0" destOrd="0" presId="urn:microsoft.com/office/officeart/2005/8/layout/hList1"/>
    <dgm:cxn modelId="{D62C7859-6286-460F-B673-1109DFF6C212}" srcId="{D93E7EC9-FEFA-4E53-BBE2-1E23B1385292}" destId="{0DE2B4E6-1E33-4C1F-B850-208F039E74F1}" srcOrd="0" destOrd="0" parTransId="{FFD7D656-FA62-4D52-807A-8608D7C3871B}" sibTransId="{EDE8382A-9AFB-48D1-AF49-9CF1BAFCBDB4}"/>
    <dgm:cxn modelId="{10B97880-22DE-4908-93B2-98BEDC26FE01}" srcId="{CFEDD78D-F2A6-47D3-9596-FEA155EEA01A}" destId="{10890D9B-A4E7-4CDD-8EB9-D3C8315B4621}" srcOrd="1" destOrd="0" parTransId="{37826673-4CE6-46C2-B6B9-1D5E5EAC1346}" sibTransId="{6D64E2CC-AC54-4D3F-A902-40FB6B6877BE}"/>
    <dgm:cxn modelId="{2314768D-503E-47D4-AF0C-D5CADEDB1D61}" srcId="{074A2550-31AA-4677-99F8-81B28D7FDFE9}" destId="{33A3B688-D837-4520-8AA9-47C9AD8FF5E1}" srcOrd="2" destOrd="0" parTransId="{76B0311F-319E-4072-98EB-50D6F00FF9BB}" sibTransId="{76D8267B-4720-489E-9729-BCB2BE9EA5DE}"/>
    <dgm:cxn modelId="{C9AB7590-D9B2-4059-86EB-4C836C499980}" type="presOf" srcId="{8A6188CB-4F5B-4397-BFA1-07DE65DB89E2}" destId="{9C1FEEAF-47BC-485A-B64B-A9A74E1090FE}" srcOrd="0" destOrd="1" presId="urn:microsoft.com/office/officeart/2005/8/layout/hList1"/>
    <dgm:cxn modelId="{8F3E3296-BF18-41A5-9CFD-A365B7C7C306}" srcId="{D93E7EC9-FEFA-4E53-BBE2-1E23B1385292}" destId="{074A2550-31AA-4677-99F8-81B28D7FDFE9}" srcOrd="2" destOrd="0" parTransId="{BC91DE6E-A2FB-44EA-BF94-C8E5AA9AF52F}" sibTransId="{BAE90E32-A218-496D-A78D-4BFC394E40D2}"/>
    <dgm:cxn modelId="{E7626C9C-FE11-4F27-B0EB-193871D01C17}" type="presOf" srcId="{5C11B2A0-39A0-46E6-847A-EDBCF6A3EA82}" destId="{9C1FEEAF-47BC-485A-B64B-A9A74E1090FE}" srcOrd="0" destOrd="0" presId="urn:microsoft.com/office/officeart/2005/8/layout/hList1"/>
    <dgm:cxn modelId="{098413BB-3B47-4254-B756-625DE8C11829}" type="presOf" srcId="{AE3A9972-CB71-4931-97E6-9250B18FE2E5}" destId="{231B3DFE-FF00-49D7-AB75-80CB789BBFD7}" srcOrd="0" destOrd="0" presId="urn:microsoft.com/office/officeart/2005/8/layout/hList1"/>
    <dgm:cxn modelId="{B01B4AC5-30B3-45D3-9ED4-882CDDB62B7B}" type="presOf" srcId="{CFEDD78D-F2A6-47D3-9596-FEA155EEA01A}" destId="{5BB8F383-57B5-4EAA-AEC7-90E10D211600}" srcOrd="0" destOrd="0" presId="urn:microsoft.com/office/officeart/2005/8/layout/hList1"/>
    <dgm:cxn modelId="{023CB0CC-A79C-4EFC-874F-F4BB41EA6275}" type="presOf" srcId="{33A3B688-D837-4520-8AA9-47C9AD8FF5E1}" destId="{9C1FEEAF-47BC-485A-B64B-A9A74E1090FE}" srcOrd="0" destOrd="2" presId="urn:microsoft.com/office/officeart/2005/8/layout/hList1"/>
    <dgm:cxn modelId="{30D943DE-74D7-424B-B6D8-ADEA02E61A4F}" srcId="{074A2550-31AA-4677-99F8-81B28D7FDFE9}" destId="{5C11B2A0-39A0-46E6-847A-EDBCF6A3EA82}" srcOrd="0" destOrd="0" parTransId="{C1F32947-790E-41F5-9186-D89CA9490BB2}" sibTransId="{D46512A6-054B-42A2-BB0F-A8504FF0CBEA}"/>
    <dgm:cxn modelId="{E55E1DE0-F840-49AC-9E9D-244515436C29}" type="presOf" srcId="{10890D9B-A4E7-4CDD-8EB9-D3C8315B4621}" destId="{9EA821E1-A6CA-450E-BCC5-113EA81A18EF}" srcOrd="0" destOrd="1" presId="urn:microsoft.com/office/officeart/2005/8/layout/hList1"/>
    <dgm:cxn modelId="{BE849AE3-8ECA-4E1C-B557-F7C9274DD001}" srcId="{0DE2B4E6-1E33-4C1F-B850-208F039E74F1}" destId="{43993642-BA09-4636-8EC5-97A76163A269}" srcOrd="1" destOrd="0" parTransId="{D8CFF0D2-038D-4A51-9BD3-0CFA7BEA576B}" sibTransId="{9AE46682-E4E1-4D08-94E4-B0A11F281254}"/>
    <dgm:cxn modelId="{3925AFE5-BAC3-468E-A02E-76933E090CF5}" type="presOf" srcId="{D93E7EC9-FEFA-4E53-BBE2-1E23B1385292}" destId="{84DC7294-1814-4720-89C4-D06506BB8781}" srcOrd="0" destOrd="0" presId="urn:microsoft.com/office/officeart/2005/8/layout/hList1"/>
    <dgm:cxn modelId="{346249EF-AB0B-4F7D-A415-F90EC9B85563}" srcId="{0DE2B4E6-1E33-4C1F-B850-208F039E74F1}" destId="{05FE474A-63DD-4C3D-865A-455C2C71D43F}" srcOrd="2" destOrd="0" parTransId="{177A4F4A-92E9-4754-BFEA-1699E4DBD568}" sibTransId="{9F31384D-9770-4F81-8505-8D757AF23932}"/>
    <dgm:cxn modelId="{9241E741-0D3B-4BB0-A175-AE0425297D03}" type="presParOf" srcId="{84DC7294-1814-4720-89C4-D06506BB8781}" destId="{7FE29C74-D92E-464E-9725-AD170F6E8F6D}" srcOrd="0" destOrd="0" presId="urn:microsoft.com/office/officeart/2005/8/layout/hList1"/>
    <dgm:cxn modelId="{76704F69-668C-408A-B35F-E7EF3AE555A6}" type="presParOf" srcId="{7FE29C74-D92E-464E-9725-AD170F6E8F6D}" destId="{AB5678C0-3E21-4C63-8E36-8DC2C8833077}" srcOrd="0" destOrd="0" presId="urn:microsoft.com/office/officeart/2005/8/layout/hList1"/>
    <dgm:cxn modelId="{E2188695-F22C-4E36-9989-0F04EB16EF2B}" type="presParOf" srcId="{7FE29C74-D92E-464E-9725-AD170F6E8F6D}" destId="{231B3DFE-FF00-49D7-AB75-80CB789BBFD7}" srcOrd="1" destOrd="0" presId="urn:microsoft.com/office/officeart/2005/8/layout/hList1"/>
    <dgm:cxn modelId="{84675E06-B75C-42A2-9555-A58D296BFC96}" type="presParOf" srcId="{84DC7294-1814-4720-89C4-D06506BB8781}" destId="{2D00F58D-8AE2-4996-A57F-2C988980E4A5}" srcOrd="1" destOrd="0" presId="urn:microsoft.com/office/officeart/2005/8/layout/hList1"/>
    <dgm:cxn modelId="{96C832B3-CB23-4232-BE07-31F1BA8ECDD4}" type="presParOf" srcId="{84DC7294-1814-4720-89C4-D06506BB8781}" destId="{6616E708-FEA9-40B9-946E-B8AA48A8CA01}" srcOrd="2" destOrd="0" presId="urn:microsoft.com/office/officeart/2005/8/layout/hList1"/>
    <dgm:cxn modelId="{CD08706B-2EE9-4F14-B5F4-47161CB73B59}" type="presParOf" srcId="{6616E708-FEA9-40B9-946E-B8AA48A8CA01}" destId="{5BB8F383-57B5-4EAA-AEC7-90E10D211600}" srcOrd="0" destOrd="0" presId="urn:microsoft.com/office/officeart/2005/8/layout/hList1"/>
    <dgm:cxn modelId="{5163006E-BC9C-4CE6-B58C-3516410A12FE}" type="presParOf" srcId="{6616E708-FEA9-40B9-946E-B8AA48A8CA01}" destId="{9EA821E1-A6CA-450E-BCC5-113EA81A18EF}" srcOrd="1" destOrd="0" presId="urn:microsoft.com/office/officeart/2005/8/layout/hList1"/>
    <dgm:cxn modelId="{B478168E-924D-44EB-B4D4-5CFC62443F08}" type="presParOf" srcId="{84DC7294-1814-4720-89C4-D06506BB8781}" destId="{C0B05E3C-FF3C-4169-B57F-79E68F7AAF5D}" srcOrd="3" destOrd="0" presId="urn:microsoft.com/office/officeart/2005/8/layout/hList1"/>
    <dgm:cxn modelId="{FED93EAE-1FB0-42A4-8A28-9DC3BAA2AC83}" type="presParOf" srcId="{84DC7294-1814-4720-89C4-D06506BB8781}" destId="{D2329E51-9C2A-4C4D-815F-1269AFE90B4B}" srcOrd="4" destOrd="0" presId="urn:microsoft.com/office/officeart/2005/8/layout/hList1"/>
    <dgm:cxn modelId="{053E490B-149D-412E-8F6B-8985813ADE55}" type="presParOf" srcId="{D2329E51-9C2A-4C4D-815F-1269AFE90B4B}" destId="{B3C856B6-68FA-491A-8054-4FF83A6DF97D}" srcOrd="0" destOrd="0" presId="urn:microsoft.com/office/officeart/2005/8/layout/hList1"/>
    <dgm:cxn modelId="{843304FB-C22A-4312-AB6A-58E42F608A03}" type="presParOf" srcId="{D2329E51-9C2A-4C4D-815F-1269AFE90B4B}" destId="{9C1FEEAF-47BC-485A-B64B-A9A74E1090FE}"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425107" cy="3776464"/>
        <a:chOff x="0" y="0"/>
        <a:chExt cx="8425107" cy="3776464"/>
      </a:xfrm>
    </dsp:grpSpPr>
    <dsp:sp modelId="{AB5678C0-3E21-4C63-8E36-8DC2C8833077}">
      <dsp:nvSpPr>
        <dsp:cNvPr id="3" name="矩形 2"/>
        <dsp:cNvSpPr/>
      </dsp:nvSpPr>
      <dsp:spPr bwMode="white">
        <a:xfrm>
          <a:off x="0" y="0"/>
          <a:ext cx="2568630" cy="999455"/>
        </a:xfrm>
        <a:prstGeom prst="rect">
          <a:avLst/>
        </a:prstGeom>
        <a:solidFill>
          <a:srgbClr val="30B5C5"/>
        </a:solidFill>
        <a:ln w="12700" cap="flat" cmpd="sng" algn="ctr">
          <a:solidFill>
            <a:srgbClr val="5B9BD5">
              <a:hueOff val="0"/>
              <a:satOff val="0"/>
              <a:lumOff val="0"/>
              <a:alphaOff val="0"/>
            </a:srgbClr>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lIns="142240" tIns="81280" rIns="142240" bIns="812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dirty="0">
              <a:solidFill>
                <a:sysClr val="window" lastClr="FFFFFF"/>
              </a:solidFill>
              <a:latin typeface="Huawei Sans" panose="020C0503030203020204" pitchFamily="34" charset="0"/>
              <a:ea typeface="方正兰亭黑简体" panose="02000000000000000000" pitchFamily="2" charset="-122"/>
              <a:cs typeface="+mn-cs"/>
              <a:sym typeface="Huawei Sans" panose="020C0503030203020204" pitchFamily="34" charset="0"/>
            </a:rPr>
            <a:t>复合应用场景</a:t>
          </a:r>
        </a:p>
      </dsp:txBody>
      <dsp:txXfrm>
        <a:off x="0" y="0"/>
        <a:ext cx="2568630" cy="999455"/>
      </dsp:txXfrm>
    </dsp:sp>
    <dsp:sp modelId="{231B3DFE-FF00-49D7-AB75-80CB789BBFD7}">
      <dsp:nvSpPr>
        <dsp:cNvPr id="4" name="矩形 3"/>
        <dsp:cNvSpPr/>
      </dsp:nvSpPr>
      <dsp:spPr bwMode="white">
        <a:xfrm>
          <a:off x="0" y="999455"/>
          <a:ext cx="2568630" cy="2777009"/>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85344" tIns="85344" rIns="113792" bIns="128016"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行存储，支持业务数据频繁更新场景；</a:t>
          </a:r>
          <a:endPar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列存储，支持业务数据追加和分析场景；</a:t>
          </a:r>
          <a:endPar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内存表，支持高吞吐，低时延，极高性能场景。</a:t>
          </a:r>
          <a:endParaRPr>
            <a:solidFill>
              <a:schemeClr val="dk1"/>
            </a:solidFill>
          </a:endParaRPr>
        </a:p>
      </dsp:txBody>
      <dsp:txXfrm>
        <a:off x="0" y="999455"/>
        <a:ext cx="2568630" cy="2777009"/>
      </dsp:txXfrm>
    </dsp:sp>
    <dsp:sp modelId="{5BB8F383-57B5-4EAA-AEC7-90E10D211600}">
      <dsp:nvSpPr>
        <dsp:cNvPr id="5" name="矩形 4"/>
        <dsp:cNvSpPr/>
      </dsp:nvSpPr>
      <dsp:spPr bwMode="white">
        <a:xfrm>
          <a:off x="2928238" y="0"/>
          <a:ext cx="2568630" cy="999455"/>
        </a:xfrm>
        <a:prstGeom prst="rect">
          <a:avLst/>
        </a:prstGeom>
        <a:solidFill>
          <a:srgbClr val="30B5C5"/>
        </a:solidFill>
        <a:ln w="12700" cap="flat" cmpd="sng" algn="ctr">
          <a:solidFill>
            <a:srgbClr val="5B9BD5">
              <a:hueOff val="0"/>
              <a:satOff val="0"/>
              <a:lumOff val="0"/>
              <a:alphaOff val="0"/>
            </a:srgbClr>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lIns="142240" tIns="81280" rIns="142240" bIns="812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dirty="0">
              <a:solidFill>
                <a:sysClr val="window" lastClr="FFFFFF"/>
              </a:solidFill>
              <a:latin typeface="Huawei Sans" panose="020C0503030203020204" pitchFamily="34" charset="0"/>
              <a:ea typeface="方正兰亭黑简体" panose="02000000000000000000" pitchFamily="2" charset="-122"/>
              <a:cs typeface="+mn-cs"/>
              <a:sym typeface="Huawei Sans" panose="020C0503030203020204" pitchFamily="34" charset="0"/>
            </a:rPr>
            <a:t>高性能</a:t>
          </a:r>
        </a:p>
      </dsp:txBody>
      <dsp:txXfrm>
        <a:off x="2928238" y="0"/>
        <a:ext cx="2568630" cy="999455"/>
      </dsp:txXfrm>
    </dsp:sp>
    <dsp:sp modelId="{9EA821E1-A6CA-450E-BCC5-113EA81A18EF}">
      <dsp:nvSpPr>
        <dsp:cNvPr id="6" name="矩形 5"/>
        <dsp:cNvSpPr/>
      </dsp:nvSpPr>
      <dsp:spPr bwMode="white">
        <a:xfrm>
          <a:off x="2928238" y="999455"/>
          <a:ext cx="2568630" cy="2777009"/>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85344" tIns="85344" rIns="113792" bIns="128016"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通过多核数据结构，增量检查点，大内存缓冲区管理实现百万级</a:t>
          </a:r>
          <a:r>
            <a:rPr lang="en-US" altLang="zh-CN" sz="1600" dirty="0" err="1">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tpmC</a:t>
          </a: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服务端连接池，支持万级并发。</a:t>
          </a:r>
          <a:endParaRPr>
            <a:solidFill>
              <a:schemeClr val="dk1"/>
            </a:solidFill>
          </a:endParaRPr>
        </a:p>
      </dsp:txBody>
      <dsp:txXfrm>
        <a:off x="2928238" y="999455"/>
        <a:ext cx="2568630" cy="2777009"/>
      </dsp:txXfrm>
    </dsp:sp>
    <dsp:sp modelId="{B3C856B6-68FA-491A-8054-4FF83A6DF97D}">
      <dsp:nvSpPr>
        <dsp:cNvPr id="7" name="矩形 6"/>
        <dsp:cNvSpPr/>
      </dsp:nvSpPr>
      <dsp:spPr bwMode="white">
        <a:xfrm>
          <a:off x="5856477" y="0"/>
          <a:ext cx="2568630" cy="999455"/>
        </a:xfrm>
        <a:prstGeom prst="rect">
          <a:avLst/>
        </a:prstGeom>
        <a:solidFill>
          <a:srgbClr val="30B5C5"/>
        </a:solidFill>
        <a:ln w="12700" cap="flat" cmpd="sng" algn="ctr">
          <a:solidFill>
            <a:srgbClr val="5B9BD5">
              <a:hueOff val="0"/>
              <a:satOff val="0"/>
              <a:lumOff val="0"/>
              <a:alphaOff val="0"/>
            </a:srgbClr>
          </a:solidFill>
          <a:prstDash val="solid"/>
          <a:miter lim="800000"/>
        </a:ln>
        <a:effectLst/>
      </dsp:spPr>
      <dsp:style>
        <a:lnRef idx="2">
          <a:schemeClr val="accent1"/>
        </a:lnRef>
        <a:fillRef idx="1">
          <a:schemeClr val="accent1"/>
        </a:fillRef>
        <a:effectRef idx="0">
          <a:scrgbClr r="0" g="0" b="0"/>
        </a:effectRef>
        <a:fontRef idx="minor">
          <a:schemeClr val="lt1"/>
        </a:fontRef>
      </dsp:style>
      <dsp:txBody>
        <a:bodyPr lIns="142240" tIns="81280" rIns="142240" bIns="812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None/>
          </a:pPr>
          <a:r>
            <a:rPr lang="zh-CN" altLang="en-US" sz="2000" dirty="0">
              <a:solidFill>
                <a:sysClr val="window" lastClr="FFFFFF"/>
              </a:solidFill>
              <a:latin typeface="Huawei Sans" panose="020C0503030203020204" pitchFamily="34" charset="0"/>
              <a:ea typeface="方正兰亭黑简体" panose="02000000000000000000" pitchFamily="2" charset="-122"/>
              <a:cs typeface="+mn-cs"/>
              <a:sym typeface="Huawei Sans" panose="020C0503030203020204" pitchFamily="34" charset="0"/>
            </a:rPr>
            <a:t>高可用</a:t>
          </a:r>
        </a:p>
      </dsp:txBody>
      <dsp:txXfrm>
        <a:off x="5856477" y="0"/>
        <a:ext cx="2568630" cy="999455"/>
      </dsp:txXfrm>
    </dsp:sp>
    <dsp:sp modelId="{9C1FEEAF-47BC-485A-B64B-A9A74E1090FE}">
      <dsp:nvSpPr>
        <dsp:cNvPr id="8" name="矩形 7"/>
        <dsp:cNvSpPr/>
      </dsp:nvSpPr>
      <dsp:spPr bwMode="white">
        <a:xfrm>
          <a:off x="5856477" y="999455"/>
          <a:ext cx="2568630" cy="2777009"/>
        </a:xfrm>
        <a:prstGeom prst="rect">
          <a:avLst/>
        </a:prstGeom>
        <a:solidFill>
          <a:srgbClr val="BEE9EE"/>
        </a:solidFill>
        <a:ln w="12700" cap="flat" cmpd="sng" algn="ctr">
          <a:solidFill>
            <a:srgbClr val="5B9BD5">
              <a:alpha val="90000"/>
              <a:tint val="40000"/>
              <a:hueOff val="0"/>
              <a:satOff val="0"/>
              <a:lumOff val="0"/>
              <a:alphaOff val="0"/>
            </a:srgbClr>
          </a:solidFill>
          <a:prstDash val="solid"/>
          <a:miter lim="800000"/>
        </a:ln>
        <a:effectLst/>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85344" tIns="85344" rIns="113792" bIns="128016"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支持主备同步，异步多种部署模式；</a:t>
          </a:r>
          <a:endPar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数据页</a:t>
          </a:r>
          <a:r>
            <a:rPr lang="en-US" altLang="zh-CN"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CRC</a:t>
          </a: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校验，损坏数据页通过备机自动修复；</a:t>
          </a:r>
          <a:endPar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p>
          <a:pPr marL="171450" lvl="1" indent="-171450">
            <a:lnSpc>
              <a:spcPct val="100000"/>
            </a:lnSpc>
            <a:spcBef>
              <a:spcPct val="0"/>
            </a:spcBef>
            <a:spcAft>
              <a:spcPct val="15000"/>
            </a:spcAft>
            <a:buChar char="•"/>
          </a:pP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备机并行恢复，</a:t>
          </a:r>
          <a:r>
            <a:rPr lang="en-US" altLang="zh-CN"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10</a:t>
          </a:r>
          <a:r>
            <a:rPr lang="zh-CN" altLang="en-US" sz="16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秒内可升主提供服务</a:t>
          </a:r>
          <a:r>
            <a:rPr lang="zh-CN" altLang="en-US" sz="2400" dirty="0">
              <a:solidFill>
                <a:sysClr val="windowText" lastClr="000000">
                  <a:hueOff val="0"/>
                  <a:satOff val="0"/>
                  <a:lumOff val="0"/>
                  <a:alphaOff val="0"/>
                </a:sysClr>
              </a:solidFill>
              <a:latin typeface="Huawei Sans" panose="020C0503030203020204" pitchFamily="34" charset="0"/>
              <a:ea typeface="方正兰亭黑简体" panose="02000000000000000000" pitchFamily="2" charset="-122"/>
              <a:cs typeface="+mn-cs"/>
              <a:sym typeface="Huawei Sans" panose="020C0503030203020204" pitchFamily="34" charset="0"/>
            </a:rPr>
            <a:t>。</a:t>
          </a:r>
          <a:endParaRPr>
            <a:solidFill>
              <a:schemeClr val="dk1"/>
            </a:solidFill>
          </a:endParaRPr>
        </a:p>
      </dsp:txBody>
      <dsp:txXfrm>
        <a:off x="5856477" y="999455"/>
        <a:ext cx="2568630" cy="277700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50B64F-FD8B-3F4E-B770-881CBF8AF594}"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05B2D4-4121-E746-8724-2F5AD4F820A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305B2D4-4121-E746-8724-2F5AD4F820A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页">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normAutofit/>
          </a:bodyPr>
          <a:lstStyle>
            <a:lvl1pPr algn="ctr">
              <a:defRPr sz="6000">
                <a:latin typeface="黑体" panose="02010609060101010101" pitchFamily="49" charset="-122"/>
                <a:ea typeface="黑体" panose="02010609060101010101" pitchFamily="49" charset="-122"/>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b="0" i="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4" name="日期占位符 3"/>
          <p:cNvSpPr>
            <a:spLocks noGrp="1"/>
          </p:cNvSpPr>
          <p:nvPr>
            <p:ph type="dt" sz="half" idx="10"/>
          </p:nvPr>
        </p:nvSpPr>
        <p:spPr/>
        <p:txBody>
          <a:bodyPr/>
          <a:lstStyle>
            <a:lvl1pPr>
              <a:defRPr>
                <a:latin typeface="黑体" panose="02010609060101010101" pitchFamily="49" charset="-122"/>
                <a:ea typeface="黑体" panose="02010609060101010101" pitchFamily="49" charset="-122"/>
              </a:defRPr>
            </a:lvl1pPr>
          </a:lstStyle>
          <a:p>
            <a:fld id="{7B2AEECA-C3C8-1244-98CC-025D6DAAF97C}"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1995959" y="1219202"/>
            <a:ext cx="8200082" cy="4957760"/>
          </a:xfrm>
        </p:spPr>
        <p:txBody>
          <a:bodyPr>
            <a:normAutofit/>
          </a:bodyPr>
          <a:lstStyle>
            <a:lvl1pPr marL="0" indent="0">
              <a:lnSpc>
                <a:spcPct val="200000"/>
              </a:lnSpc>
              <a:buFont typeface="Wingdings" panose="05000000000000000000" pitchFamily="2" charset="2"/>
              <a:buNone/>
              <a:defRPr sz="2800" b="0"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en-US" altLang="zh-CN" dirty="0"/>
              <a:t>1.1</a:t>
            </a:r>
            <a:r>
              <a:rPr lang="zh-CN" altLang="en-US" dirty="0"/>
              <a:t> 目录</a:t>
            </a:r>
            <a:r>
              <a:rPr lang="en-US" altLang="zh-CN" dirty="0"/>
              <a:t>1</a:t>
            </a:r>
            <a:endParaRPr lang="en-US" altLang="zh-CN" dirty="0"/>
          </a:p>
          <a:p>
            <a:pPr lvl="0"/>
            <a:r>
              <a:rPr lang="en-US" altLang="zh-CN" dirty="0"/>
              <a:t>1.2</a:t>
            </a:r>
            <a:r>
              <a:rPr lang="zh-CN" altLang="en-US" dirty="0"/>
              <a:t> 目录</a:t>
            </a:r>
            <a:r>
              <a:rPr lang="en-US" altLang="zh-CN" dirty="0"/>
              <a:t>2</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07AFB82E-7069-BD4E-96F2-53BDFC0AAE44}"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正文_单栏">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97163" y="1219203"/>
            <a:ext cx="11453091" cy="4957760"/>
          </a:xfrm>
        </p:spPr>
        <p:txBody>
          <a:bodyPr/>
          <a:lstStyle>
            <a:lvl1pPr marL="228600" indent="-228600" algn="just">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gn="just">
              <a:lnSpc>
                <a:spcPct val="120000"/>
              </a:lnSpc>
              <a:defRPr b="0" i="0">
                <a:latin typeface="微软雅黑" panose="020B0503020204020204" pitchFamily="34" charset="-122"/>
                <a:ea typeface="微软雅黑" panose="020B0503020204020204" pitchFamily="34" charset="-122"/>
              </a:defRPr>
            </a:lvl2pPr>
            <a:lvl3pPr algn="just">
              <a:lnSpc>
                <a:spcPct val="120000"/>
              </a:lnSpc>
              <a:defRPr b="0" i="0">
                <a:latin typeface="微软雅黑" panose="020B0503020204020204" pitchFamily="34" charset="-122"/>
                <a:ea typeface="微软雅黑" panose="020B0503020204020204" pitchFamily="34" charset="-122"/>
              </a:defRPr>
            </a:lvl3pPr>
            <a:lvl4pPr algn="just">
              <a:lnSpc>
                <a:spcPct val="120000"/>
              </a:lnSpc>
              <a:defRPr b="0" i="0">
                <a:latin typeface="微软雅黑" panose="020B0503020204020204" pitchFamily="34" charset="-122"/>
                <a:ea typeface="微软雅黑" panose="020B0503020204020204" pitchFamily="34" charset="-122"/>
              </a:defRPr>
            </a:lvl4pPr>
            <a:lvl5pPr algn="just">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8118BE18-7306-3643-B1E0-A687D3D01200}" type="datetime1">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7"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_双栏">
    <p:spTree>
      <p:nvGrpSpPr>
        <p:cNvPr id="1" name=""/>
        <p:cNvGrpSpPr/>
        <p:nvPr/>
      </p:nvGrpSpPr>
      <p:grpSpPr>
        <a:xfrm>
          <a:off x="0" y="0"/>
          <a:ext cx="0" cy="0"/>
          <a:chOff x="0" y="0"/>
          <a:chExt cx="0" cy="0"/>
        </a:xfrm>
      </p:grpSpPr>
      <p:sp>
        <p:nvSpPr>
          <p:cNvPr id="3" name="内容占位符 2"/>
          <p:cNvSpPr>
            <a:spLocks noGrp="1"/>
          </p:cNvSpPr>
          <p:nvPr>
            <p:ph sz="half" idx="1" hasCustomPrompt="1"/>
          </p:nvPr>
        </p:nvSpPr>
        <p:spPr>
          <a:xfrm>
            <a:off x="367147"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11" name="页脚占位符 4"/>
          <p:cNvSpPr>
            <a:spLocks noGrp="1"/>
          </p:cNvSpPr>
          <p:nvPr>
            <p:ph type="ftr" sz="quarter" idx="11"/>
          </p:nvPr>
        </p:nvSpPr>
        <p:spPr>
          <a:xfrm>
            <a:off x="4038600" y="6356350"/>
            <a:ext cx="4114800" cy="365125"/>
          </a:xfrm>
        </p:spPr>
        <p:txBody>
          <a:bodyPr/>
          <a:lstStyle>
            <a:lvl1pPr>
              <a:defRPr>
                <a:latin typeface="黑体" panose="02010609060101010101" pitchFamily="49" charset="-122"/>
                <a:ea typeface="黑体" panose="02010609060101010101" pitchFamily="49" charset="-122"/>
              </a:defRPr>
            </a:lvl1pPr>
          </a:lstStyle>
          <a:p>
            <a:endParaRPr lang="zh-CN" altLang="en-US" dirty="0"/>
          </a:p>
        </p:txBody>
      </p:sp>
      <p:sp>
        <p:nvSpPr>
          <p:cNvPr id="12"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cxnSp>
        <p:nvCxnSpPr>
          <p:cNvPr id="6"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8" name="内容占位符 2"/>
          <p:cNvSpPr>
            <a:spLocks noGrp="1"/>
          </p:cNvSpPr>
          <p:nvPr>
            <p:ph sz="half" idx="13" hasCustomPrompt="1"/>
          </p:nvPr>
        </p:nvSpPr>
        <p:spPr>
          <a:xfrm>
            <a:off x="6262255" y="1240195"/>
            <a:ext cx="5562598" cy="4828096"/>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图片">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2564091" y="2309567"/>
            <a:ext cx="7239785" cy="355148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文本占位符 3"/>
          <p:cNvSpPr>
            <a:spLocks noGrp="1"/>
          </p:cNvSpPr>
          <p:nvPr>
            <p:ph type="body" sz="quarter" idx="14" hasCustomPrompt="1"/>
          </p:nvPr>
        </p:nvSpPr>
        <p:spPr>
          <a:xfrm>
            <a:off x="5232448" y="5899150"/>
            <a:ext cx="1177779" cy="365125"/>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sz="2000" b="0" i="0">
                <a:latin typeface="微软雅黑" panose="020B0503020204020204" pitchFamily="34" charset="-122"/>
                <a:ea typeface="微软雅黑" panose="020B0503020204020204" pitchFamily="34" charset="-122"/>
              </a:defRPr>
            </a:lvl1pPr>
          </a:lstStyle>
          <a:p>
            <a:pPr lvl="0"/>
            <a:r>
              <a:rPr kumimoji="1" lang="zh-CN" altLang="en-US" dirty="0"/>
              <a:t>图</a:t>
            </a:r>
            <a:r>
              <a:rPr kumimoji="1" lang="en-GB" altLang="zh-CN" dirty="0" err="1"/>
              <a:t>x.x</a:t>
            </a:r>
            <a:r>
              <a:rPr kumimoji="1" lang="en-GB" altLang="zh-CN" dirty="0"/>
              <a:t> </a:t>
            </a:r>
            <a:endParaRPr kumimoji="1" lang="en-GB" altLang="zh-CN" dirty="0"/>
          </a:p>
          <a:p>
            <a:pPr lvl="0"/>
            <a:endParaRPr kumimoji="1" lang="zh-CN" altLang="en-US" dirty="0"/>
          </a:p>
        </p:txBody>
      </p:sp>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8"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5"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格">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p>
            <a:endParaRPr lang="zh-CN" altLang="en-US"/>
          </a:p>
        </p:txBody>
      </p:sp>
      <p:cxnSp>
        <p:nvCxnSpPr>
          <p:cNvPr id="9" name="直接连接符 6"/>
          <p:cNvCxnSpPr/>
          <p:nvPr userDrawn="1"/>
        </p:nvCxnSpPr>
        <p:spPr>
          <a:xfrm>
            <a:off x="0" y="952135"/>
            <a:ext cx="12192000" cy="0"/>
          </a:xfrm>
          <a:prstGeom prst="line">
            <a:avLst/>
          </a:prstGeom>
          <a:ln w="38100"/>
          <a:effectLst>
            <a:outerShdw blurRad="40005" dist="22860" dir="5400000" algn="ctr" rotWithShape="0">
              <a:schemeClr val="tx1">
                <a:alpha val="35000"/>
              </a:schemeClr>
            </a:outerShdw>
          </a:effectLst>
        </p:spPr>
        <p:style>
          <a:lnRef idx="3">
            <a:schemeClr val="dk1"/>
          </a:lnRef>
          <a:fillRef idx="0">
            <a:schemeClr val="dk1"/>
          </a:fillRef>
          <a:effectRef idx="2">
            <a:schemeClr val="dk1"/>
          </a:effectRef>
          <a:fontRef idx="minor">
            <a:schemeClr val="tx1"/>
          </a:fontRef>
        </p:style>
      </p:cxnSp>
      <p:pic>
        <p:nvPicPr>
          <p:cNvPr id="10"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061290" y="22831"/>
            <a:ext cx="884903" cy="884903"/>
          </a:xfrm>
          <a:prstGeom prst="rect">
            <a:avLst/>
          </a:prstGeom>
          <a:noFill/>
          <a:extLst>
            <a:ext uri="{909E8E84-426E-40DD-AFC4-6F175D3DCCD1}">
              <a14:hiddenFill xmlns:a14="http://schemas.microsoft.com/office/drawing/2010/main">
                <a:solidFill>
                  <a:srgbClr val="FFFFFF"/>
                </a:solidFill>
              </a14:hiddenFill>
            </a:ext>
          </a:extLst>
        </p:spPr>
      </p:pic>
      <p:sp>
        <p:nvSpPr>
          <p:cNvPr id="11" name="内容占位符 2"/>
          <p:cNvSpPr>
            <a:spLocks noGrp="1"/>
          </p:cNvSpPr>
          <p:nvPr>
            <p:ph idx="13" hasCustomPrompt="1"/>
          </p:nvPr>
        </p:nvSpPr>
        <p:spPr>
          <a:xfrm>
            <a:off x="397163" y="1219203"/>
            <a:ext cx="11453091" cy="1618255"/>
          </a:xfrm>
        </p:spPr>
        <p:txBody>
          <a:bodyPr/>
          <a:lstStyle>
            <a:lvl1pPr marL="228600" indent="-228600">
              <a:lnSpc>
                <a:spcPct val="120000"/>
              </a:lnSpc>
              <a:buFont typeface="Wingdings" panose="05000000000000000000" pitchFamily="2" charset="2"/>
              <a:buChar char="Ø"/>
              <a:defRPr b="1" i="0">
                <a:latin typeface="微软雅黑" panose="020B0503020204020204" pitchFamily="34" charset="-122"/>
                <a:ea typeface="微软雅黑" panose="020B0503020204020204" pitchFamily="34" charset="-122"/>
              </a:defRPr>
            </a:lvl1pPr>
            <a:lvl2pPr>
              <a:lnSpc>
                <a:spcPct val="120000"/>
              </a:lnSpc>
              <a:defRPr b="0" i="0">
                <a:latin typeface="微软雅黑" panose="020B0503020204020204" pitchFamily="34" charset="-122"/>
                <a:ea typeface="微软雅黑" panose="020B0503020204020204" pitchFamily="34" charset="-122"/>
              </a:defRPr>
            </a:lvl2pPr>
            <a:lvl3pPr>
              <a:lnSpc>
                <a:spcPct val="120000"/>
              </a:lnSpc>
              <a:defRPr b="0" i="0">
                <a:latin typeface="微软雅黑" panose="020B0503020204020204" pitchFamily="34" charset="-122"/>
                <a:ea typeface="微软雅黑" panose="020B0503020204020204" pitchFamily="34" charset="-122"/>
              </a:defRPr>
            </a:lvl3pPr>
            <a:lvl4pPr>
              <a:lnSpc>
                <a:spcPct val="120000"/>
              </a:lnSpc>
              <a:defRPr b="0" i="0">
                <a:latin typeface="微软雅黑" panose="020B0503020204020204" pitchFamily="34" charset="-122"/>
                <a:ea typeface="微软雅黑" panose="020B0503020204020204" pitchFamily="34" charset="-122"/>
              </a:defRPr>
            </a:lvl4pPr>
            <a:lvl5pPr>
              <a:lnSpc>
                <a:spcPct val="120000"/>
              </a:lnSpc>
              <a:defRPr b="0" i="0">
                <a:latin typeface="微软雅黑" panose="020B0503020204020204" pitchFamily="34" charset="-122"/>
                <a:ea typeface="微软雅黑" panose="020B0503020204020204" pitchFamily="34"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12" name="文本框 11"/>
          <p:cNvSpPr txBox="1"/>
          <p:nvPr userDrawn="1"/>
        </p:nvSpPr>
        <p:spPr>
          <a:xfrm>
            <a:off x="5676654" y="5192412"/>
            <a:ext cx="838691" cy="400110"/>
          </a:xfrm>
          <a:prstGeom prst="rect">
            <a:avLst/>
          </a:prstGeom>
          <a:noFill/>
        </p:spPr>
        <p:txBody>
          <a:bodyPr wrap="none" rtlCol="0">
            <a:spAutoFit/>
          </a:bodyPr>
          <a:lstStyle/>
          <a:p>
            <a:r>
              <a:rPr kumimoji="1" lang="zh-CN" altLang="en-US" sz="2000" b="0" i="0" dirty="0">
                <a:latin typeface="微软雅黑" panose="020B0503020204020204" pitchFamily="34" charset="-122"/>
                <a:ea typeface="微软雅黑" panose="020B0503020204020204" pitchFamily="34" charset="-122"/>
              </a:rPr>
              <a:t>表</a:t>
            </a:r>
            <a:r>
              <a:rPr kumimoji="1" lang="en-US" altLang="zh-CN" sz="2000" b="0" i="0" dirty="0" err="1">
                <a:latin typeface="微软雅黑" panose="020B0503020204020204" pitchFamily="34" charset="-122"/>
                <a:ea typeface="微软雅黑" panose="020B0503020204020204" pitchFamily="34" charset="-122"/>
              </a:rPr>
              <a:t>x.x</a:t>
            </a:r>
            <a:r>
              <a:rPr kumimoji="1" lang="en-US" altLang="zh-CN" sz="2000" b="0" i="0" dirty="0">
                <a:latin typeface="微软雅黑" panose="020B0503020204020204" pitchFamily="34" charset="-122"/>
                <a:ea typeface="微软雅黑" panose="020B0503020204020204" pitchFamily="34" charset="-122"/>
              </a:rPr>
              <a:t> </a:t>
            </a:r>
            <a:endParaRPr kumimoji="1" lang="zh-CN" altLang="en-US" sz="2000" b="0" i="0" dirty="0">
              <a:latin typeface="微软雅黑" panose="020B0503020204020204" pitchFamily="34" charset="-122"/>
              <a:ea typeface="微软雅黑" panose="020B0503020204020204" pitchFamily="34" charset="-122"/>
            </a:endParaRPr>
          </a:p>
        </p:txBody>
      </p:sp>
      <p:graphicFrame>
        <p:nvGraphicFramePr>
          <p:cNvPr id="14" name="表格 13"/>
          <p:cNvGraphicFramePr>
            <a:graphicFrameLocks noGrp="1"/>
          </p:cNvGraphicFramePr>
          <p:nvPr userDrawn="1"/>
        </p:nvGraphicFramePr>
        <p:xfrm>
          <a:off x="2209800" y="3473310"/>
          <a:ext cx="8128000" cy="1584960"/>
        </p:xfrm>
        <a:graphic>
          <a:graphicData uri="http://schemas.openxmlformats.org/drawingml/2006/table">
            <a:tbl>
              <a:tblPr firstRow="1" bandRow="1">
                <a:tableStyleId>{5A111915-BE36-4E01-A7E5-04B1672EAD32}</a:tableStyleId>
              </a:tblPr>
              <a:tblGrid>
                <a:gridCol w="1625600"/>
                <a:gridCol w="1625600"/>
                <a:gridCol w="1625600"/>
                <a:gridCol w="1625600"/>
                <a:gridCol w="1625600"/>
              </a:tblGrid>
              <a:tr h="370840">
                <a:tc>
                  <a:txBody>
                    <a:bodyPr/>
                    <a:lstStyle/>
                    <a:p>
                      <a:pPr algn="ctr"/>
                      <a:r>
                        <a:rPr lang="zh-CN" altLang="en-US" sz="2000" b="0" i="0" dirty="0">
                          <a:solidFill>
                            <a:schemeClr val="tx1"/>
                          </a:solidFill>
                          <a:latin typeface="微软雅黑" panose="020B0503020204020204" pitchFamily="34" charset="-122"/>
                          <a:ea typeface="微软雅黑" panose="020B0503020204020204" pitchFamily="34" charset="-122"/>
                        </a:rPr>
                        <a:t>表格</a:t>
                      </a:r>
                      <a:endParaRPr lang="zh-CN" altLang="en-US" sz="2000" b="0" i="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2000" b="0" i="0" dirty="0">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2" name="日期占位符 3"/>
          <p:cNvSpPr>
            <a:spLocks noGrp="1"/>
          </p:cNvSpPr>
          <p:nvPr>
            <p:ph type="dt" sz="half" idx="10"/>
          </p:nvPr>
        </p:nvSpPr>
        <p:spPr>
          <a:xfrm>
            <a:off x="367147" y="6356350"/>
            <a:ext cx="2743200" cy="365125"/>
          </a:xfrm>
        </p:spPr>
        <p:txBody>
          <a:bodyPr/>
          <a:lstStyle>
            <a:lvl1pPr>
              <a:defRPr>
                <a:latin typeface="黑体" panose="02010609060101010101" pitchFamily="49" charset="-122"/>
                <a:ea typeface="黑体" panose="02010609060101010101" pitchFamily="49" charset="-122"/>
              </a:defRPr>
            </a:lvl1pPr>
          </a:lstStyle>
          <a:p>
            <a:fld id="{22038392-684D-6747-99BB-DCDB5DD78B88}" type="datetime1">
              <a:rPr lang="zh-CN" altLang="en-US" smtClean="0"/>
            </a:fld>
            <a:endParaRPr lang="zh-CN" altLang="en-US"/>
          </a:p>
        </p:txBody>
      </p:sp>
      <p:sp>
        <p:nvSpPr>
          <p:cNvPr id="3" name="灯片编号占位符 5"/>
          <p:cNvSpPr>
            <a:spLocks noGrp="1"/>
          </p:cNvSpPr>
          <p:nvPr>
            <p:ph type="sldNum" sz="quarter" idx="12"/>
          </p:nvPr>
        </p:nvSpPr>
        <p:spPr>
          <a:xfrm>
            <a:off x="9118595" y="6356350"/>
            <a:ext cx="2743200" cy="365125"/>
          </a:xfrm>
        </p:spPr>
        <p:txBody>
          <a:bodyPr/>
          <a:lstStyle>
            <a:lvl1pPr>
              <a:defRPr>
                <a:latin typeface="黑体" panose="02010609060101010101" pitchFamily="49" charset="-122"/>
                <a:ea typeface="黑体" panose="02010609060101010101" pitchFamily="49" charset="-122"/>
              </a:defRPr>
            </a:lvl1pPr>
          </a:lstStyle>
          <a:p>
            <a:fld id="{FB891F7F-8655-44AE-A6FF-53AD9F2B6B87}" type="slidenum">
              <a:rPr lang="zh-CN" altLang="en-US" smtClean="0"/>
            </a:fld>
            <a:endParaRPr lang="zh-CN" altLang="en-US"/>
          </a:p>
        </p:txBody>
      </p:sp>
      <p:sp>
        <p:nvSpPr>
          <p:cNvPr id="4" name="标题 1"/>
          <p:cNvSpPr>
            <a:spLocks noGrp="1"/>
          </p:cNvSpPr>
          <p:nvPr>
            <p:ph type="title"/>
          </p:nvPr>
        </p:nvSpPr>
        <p:spPr>
          <a:xfrm>
            <a:off x="367147" y="169816"/>
            <a:ext cx="10697497" cy="590931"/>
          </a:xfrm>
        </p:spPr>
        <p:txBody>
          <a:bodyPr wrap="square">
            <a:spAutoFit/>
          </a:bodyPr>
          <a:lstStyle>
            <a:lvl1pPr algn="just">
              <a:defRPr sz="3600"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A0ED15-8309-5642-9A4C-6A3002950670}"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891F7F-8655-44AE-A6FF-53AD9F2B6B8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9.e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3.xml"/><Relationship Id="rId2" Type="http://schemas.openxmlformats.org/officeDocument/2006/relationships/image" Target="../media/image10.emf"/><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3.xml"/><Relationship Id="rId2" Type="http://schemas.openxmlformats.org/officeDocument/2006/relationships/image" Target="../media/image11.e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3.xml"/><Relationship Id="rId2" Type="http://schemas.openxmlformats.org/officeDocument/2006/relationships/image" Target="../media/image15.wmf"/><Relationship Id="rId1" Type="http://schemas.openxmlformats.org/officeDocument/2006/relationships/oleObject" Target="../embeddings/oleObject4.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8.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1.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6000" b="1" dirty="0"/>
              <a:t>第</a:t>
            </a:r>
            <a:r>
              <a:rPr lang="en-US" altLang="zh-CN" sz="6000" b="1" dirty="0"/>
              <a:t>1</a:t>
            </a:r>
            <a:r>
              <a:rPr lang="zh-CN" altLang="en-US" sz="6000" b="1" dirty="0"/>
              <a:t>章 数据库系统概述</a:t>
            </a:r>
            <a:endParaRPr lang="zh-CN" altLang="en-US" dirty="0">
              <a:highlight>
                <a:srgbClr val="FFFF00"/>
              </a:highlight>
            </a:endParaRPr>
          </a:p>
        </p:txBody>
      </p:sp>
      <p:sp>
        <p:nvSpPr>
          <p:cNvPr id="3" name="副标题 2"/>
          <p:cNvSpPr>
            <a:spLocks noGrp="1"/>
          </p:cNvSpPr>
          <p:nvPr>
            <p:ph type="subTitle" idx="1"/>
          </p:nvPr>
        </p:nvSpPr>
        <p:spPr>
          <a:xfrm>
            <a:off x="1524000" y="4079875"/>
            <a:ext cx="9144000" cy="1655762"/>
          </a:xfrm>
        </p:spPr>
        <p:txBody>
          <a:bodyPr/>
          <a:lstStyle/>
          <a:p>
            <a:pPr>
              <a:lnSpc>
                <a:spcPct val="150000"/>
              </a:lnSpc>
            </a:pPr>
            <a:r>
              <a:rPr lang="zh-CN" altLang="en-US" dirty="0"/>
              <a:t>西安交通大学计算机科学与技术学院</a:t>
            </a:r>
            <a:r>
              <a:rPr lang="en-US" altLang="zh-CN" dirty="0"/>
              <a:t>	</a:t>
            </a:r>
            <a:r>
              <a:rPr lang="zh-CN" altLang="en-US" dirty="0"/>
              <a:t>任雪斌</a:t>
            </a:r>
            <a:endParaRPr lang="en-US" altLang="zh-CN" dirty="0"/>
          </a:p>
          <a:p>
            <a:pPr>
              <a:lnSpc>
                <a:spcPct val="150000"/>
              </a:lnSpc>
            </a:pPr>
            <a:r>
              <a:rPr lang="en-US" altLang="zh-CN" dirty="0" err="1"/>
              <a:t>xuebinren@mail.xjtu.edu.cn</a:t>
            </a:r>
            <a:endParaRPr lang="en-US" altLang="zh-CN"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87172" y="179243"/>
            <a:ext cx="10697497" cy="590931"/>
          </a:xfrm>
        </p:spPr>
        <p:txBody>
          <a:bodyPr/>
          <a:lstStyle/>
          <a:p>
            <a:r>
              <a:rPr kumimoji="1" lang="zh-CN" altLang="en-US" dirty="0"/>
              <a:t>目录</a:t>
            </a:r>
            <a:endParaRPr kumimoji="1" lang="zh-CN" altLang="en-US" dirty="0"/>
          </a:p>
        </p:txBody>
      </p:sp>
      <p:sp>
        <p:nvSpPr>
          <p:cNvPr id="3" name="内容占位符 2"/>
          <p:cNvSpPr>
            <a:spLocks noGrp="1"/>
          </p:cNvSpPr>
          <p:nvPr>
            <p:ph idx="1"/>
          </p:nvPr>
        </p:nvSpPr>
        <p:spPr/>
        <p:txBody>
          <a:bodyPr>
            <a:normAutofit/>
          </a:bodyPr>
          <a:lstStyle/>
          <a:p>
            <a:pPr>
              <a:lnSpc>
                <a:spcPct val="150000"/>
              </a:lnSpc>
            </a:pPr>
            <a:r>
              <a:rPr kumimoji="1" lang="en-US" altLang="zh-CN" dirty="0"/>
              <a:t>1.1 </a:t>
            </a:r>
            <a:r>
              <a:rPr kumimoji="1" lang="zh-CN" altLang="en-US" dirty="0"/>
              <a:t>数据管理技术的发展</a:t>
            </a:r>
            <a:endParaRPr kumimoji="1" lang="en-US" altLang="zh-CN" dirty="0">
              <a:highlight>
                <a:srgbClr val="FFFF00"/>
              </a:highlight>
            </a:endParaRPr>
          </a:p>
          <a:p>
            <a:pPr>
              <a:lnSpc>
                <a:spcPct val="150000"/>
              </a:lnSpc>
            </a:pPr>
            <a:r>
              <a:rPr kumimoji="1" lang="en-US" altLang="zh-CN" dirty="0"/>
              <a:t>1.2 </a:t>
            </a:r>
            <a:r>
              <a:rPr kumimoji="1" lang="zh-CN" altLang="en-US" dirty="0"/>
              <a:t>数据库系统（</a:t>
            </a:r>
            <a:r>
              <a:rPr kumimoji="1" lang="en-US" altLang="zh-CN" dirty="0"/>
              <a:t>DBS</a:t>
            </a:r>
            <a:r>
              <a:rPr kumimoji="1" lang="zh-CN" altLang="en-US" dirty="0"/>
              <a:t>）</a:t>
            </a:r>
            <a:endParaRPr kumimoji="1" lang="en-US" altLang="zh-CN" dirty="0"/>
          </a:p>
          <a:p>
            <a:pPr>
              <a:lnSpc>
                <a:spcPct val="150000"/>
              </a:lnSpc>
            </a:pPr>
            <a:r>
              <a:rPr kumimoji="1" lang="en-US" altLang="zh-CN" dirty="0"/>
              <a:t>1.3 </a:t>
            </a:r>
            <a:r>
              <a:rPr kumimoji="1" lang="zh-CN" altLang="en-US" dirty="0"/>
              <a:t>数据库管理系统（</a:t>
            </a:r>
            <a:r>
              <a:rPr kumimoji="1" lang="en-US" altLang="zh-CN" dirty="0"/>
              <a:t>DBMS</a:t>
            </a:r>
            <a:r>
              <a:rPr kumimoji="1" lang="zh-CN" altLang="en-US" dirty="0"/>
              <a:t>）</a:t>
            </a:r>
            <a:endParaRPr kumimoji="1" lang="en-US" altLang="zh-CN" dirty="0"/>
          </a:p>
          <a:p>
            <a:pPr>
              <a:lnSpc>
                <a:spcPct val="150000"/>
              </a:lnSpc>
            </a:pPr>
            <a:r>
              <a:rPr kumimoji="1" lang="en-US" altLang="zh-CN" dirty="0"/>
              <a:t>1.4 </a:t>
            </a:r>
            <a:r>
              <a:rPr kumimoji="1" lang="zh-CN" altLang="en-US" dirty="0"/>
              <a:t>数据模型与数据模式</a:t>
            </a:r>
            <a:endParaRPr kumimoji="1" lang="en-US" altLang="zh-CN" dirty="0"/>
          </a:p>
          <a:p>
            <a:pPr>
              <a:lnSpc>
                <a:spcPct val="150000"/>
              </a:lnSpc>
            </a:pPr>
            <a:r>
              <a:rPr kumimoji="1" lang="en-US" altLang="zh-CN" dirty="0"/>
              <a:t>1.5 </a:t>
            </a:r>
            <a:r>
              <a:rPr kumimoji="1" lang="zh-CN" altLang="en-US" dirty="0"/>
              <a:t>认识我国数据库的发展</a:t>
            </a:r>
            <a:endParaRPr kumimoji="1" lang="en-US" altLang="zh-CN" dirty="0"/>
          </a:p>
          <a:p>
            <a:pPr>
              <a:lnSpc>
                <a:spcPct val="150000"/>
              </a:lnSpc>
            </a:pPr>
            <a:r>
              <a:rPr kumimoji="1" lang="en-US" altLang="zh-CN" dirty="0"/>
              <a:t>1.6 </a:t>
            </a:r>
            <a:r>
              <a:rPr kumimoji="1" lang="zh-CN" altLang="en-US" dirty="0"/>
              <a:t>华为</a:t>
            </a:r>
            <a:r>
              <a:rPr kumimoji="1" lang="en-US" altLang="zh-CN" dirty="0" err="1"/>
              <a:t>openGauss</a:t>
            </a:r>
            <a:r>
              <a:rPr kumimoji="1" lang="zh-CN" altLang="en-US" dirty="0"/>
              <a:t>初识</a:t>
            </a:r>
            <a:endParaRPr kumimoji="1"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0" dirty="0"/>
              <a:t>研究数据库离不开数据管理的概念</a:t>
            </a:r>
            <a:endParaRPr lang="zh-CN" altLang="en-US" sz="2800" b="0" dirty="0"/>
          </a:p>
          <a:p>
            <a:r>
              <a:rPr lang="zh-CN" altLang="en-US" sz="2800" b="0" dirty="0"/>
              <a:t>数据库是数据管理的产物，而</a:t>
            </a:r>
            <a:r>
              <a:rPr lang="zh-CN" altLang="en-US" sz="2800" b="0" u="sng" dirty="0"/>
              <a:t>数据管理</a:t>
            </a:r>
            <a:r>
              <a:rPr lang="zh-CN" altLang="en-US" sz="2800" b="0" dirty="0"/>
              <a:t>则是</a:t>
            </a:r>
            <a:r>
              <a:rPr lang="zh-CN" altLang="en-US" sz="2800" b="0" u="sng" dirty="0"/>
              <a:t>数据库的核心任务</a:t>
            </a:r>
            <a:endParaRPr lang="zh-CN" altLang="en-US" sz="2800" b="0" u="sng" dirty="0"/>
          </a:p>
          <a:p>
            <a:r>
              <a:rPr lang="zh-CN" altLang="en-US" sz="2800" b="0" dirty="0"/>
              <a:t>伴随计算机硬件和软件的发展，数据管理经历了</a:t>
            </a:r>
            <a:r>
              <a:rPr lang="zh-CN" altLang="en-US" dirty="0">
                <a:solidFill>
                  <a:schemeClr val="accent2">
                    <a:lumMod val="75000"/>
                  </a:schemeClr>
                </a:solidFill>
              </a:rPr>
              <a:t>人工管理</a:t>
            </a:r>
            <a:r>
              <a:rPr lang="zh-CN" altLang="en-US" sz="2800" dirty="0">
                <a:solidFill>
                  <a:schemeClr val="accent2">
                    <a:lumMod val="75000"/>
                  </a:schemeClr>
                </a:solidFill>
              </a:rPr>
              <a:t>、</a:t>
            </a:r>
            <a:r>
              <a:rPr lang="zh-CN" altLang="en-US" dirty="0">
                <a:solidFill>
                  <a:schemeClr val="accent2">
                    <a:lumMod val="75000"/>
                  </a:schemeClr>
                </a:solidFill>
              </a:rPr>
              <a:t>文件系统</a:t>
            </a:r>
            <a:r>
              <a:rPr lang="zh-CN" altLang="en-US" sz="2800" b="0" dirty="0"/>
              <a:t>和</a:t>
            </a:r>
            <a:r>
              <a:rPr lang="zh-CN" altLang="en-US" b="1" dirty="0">
                <a:solidFill>
                  <a:schemeClr val="accent2">
                    <a:lumMod val="75000"/>
                  </a:schemeClr>
                </a:solidFill>
              </a:rPr>
              <a:t>数据库系统</a:t>
            </a:r>
            <a:r>
              <a:rPr lang="zh-CN" altLang="en-US" sz="2800" b="0" dirty="0"/>
              <a:t>三个发展阶段</a:t>
            </a:r>
            <a:endParaRPr lang="zh-CN" altLang="en-US" sz="2800" b="0" dirty="0"/>
          </a:p>
          <a:p>
            <a:endParaRPr lang="en-US" altLang="zh-CN" sz="2800" b="1"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人工管理阶段</a:t>
            </a:r>
            <a:endParaRPr lang="en-US" altLang="zh-CN" sz="2800" b="1" dirty="0"/>
          </a:p>
          <a:p>
            <a:pPr lvl="1"/>
            <a:r>
              <a:rPr lang="zh-CN" altLang="en-US" sz="2400" dirty="0"/>
              <a:t>背景：没有操作系统，没有数据管理软件，用户用机器指令编码，通过纸带机输入程序和数据，程序运行完毕后，由用户取走纸带和运算结果</a:t>
            </a:r>
            <a:endParaRPr lang="zh-CN" altLang="en-US" sz="2400" dirty="0"/>
          </a:p>
          <a:p>
            <a:pPr lvl="1"/>
            <a:endParaRPr lang="zh-CN" altLang="en-US" sz="2400" b="1" dirty="0">
              <a:ea typeface="仿宋_GB2312" pitchFamily="49" charset="-122"/>
            </a:endParaRPr>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grpSp>
        <p:nvGrpSpPr>
          <p:cNvPr id="6" name="组合 3"/>
          <p:cNvGrpSpPr/>
          <p:nvPr/>
        </p:nvGrpSpPr>
        <p:grpSpPr bwMode="auto">
          <a:xfrm>
            <a:off x="2866231" y="2682875"/>
            <a:ext cx="6459537" cy="3673475"/>
            <a:chOff x="971600" y="1381113"/>
            <a:chExt cx="7324574" cy="5024425"/>
          </a:xfrm>
        </p:grpSpPr>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62449" y="3729013"/>
              <a:ext cx="3133725" cy="267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1722858"/>
              <a:ext cx="3220118" cy="1415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659" y="1381113"/>
              <a:ext cx="3203140" cy="2195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789039"/>
              <a:ext cx="3383161" cy="2489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人工管理阶段</a:t>
            </a:r>
            <a:endParaRPr lang="en-US" altLang="zh-CN" sz="2800" b="1" dirty="0"/>
          </a:p>
          <a:p>
            <a:pPr lvl="1"/>
            <a:r>
              <a:rPr lang="zh-CN" altLang="en-US" dirty="0"/>
              <a:t>人工管理阶段的数据管理有下列特点： </a:t>
            </a:r>
            <a:endParaRPr lang="en-US" altLang="zh-CN" dirty="0"/>
          </a:p>
          <a:p>
            <a:pPr lvl="2"/>
            <a:r>
              <a:rPr lang="zh-CN" altLang="en-US" dirty="0"/>
              <a:t>数据不保存在计算机内 </a:t>
            </a:r>
            <a:endParaRPr lang="zh-CN" altLang="en-US" dirty="0"/>
          </a:p>
          <a:p>
            <a:pPr lvl="2"/>
            <a:r>
              <a:rPr lang="zh-CN" altLang="en-US" dirty="0"/>
              <a:t>没有专用的软件对数据进行管理</a:t>
            </a:r>
            <a:endParaRPr lang="zh-CN" altLang="en-US" dirty="0"/>
          </a:p>
          <a:p>
            <a:pPr lvl="2"/>
            <a:r>
              <a:rPr lang="zh-CN" altLang="en-US" dirty="0"/>
              <a:t>只有程序（</a:t>
            </a:r>
            <a:r>
              <a:rPr lang="en-US" altLang="zh-CN" dirty="0"/>
              <a:t>program</a:t>
            </a:r>
            <a:r>
              <a:rPr lang="zh-CN" altLang="en-US" dirty="0"/>
              <a:t>）的概念，没有文件（</a:t>
            </a:r>
            <a:r>
              <a:rPr lang="en-US" altLang="zh-CN" dirty="0"/>
              <a:t>file</a:t>
            </a:r>
            <a:r>
              <a:rPr lang="zh-CN" altLang="en-US" dirty="0"/>
              <a:t>）的概念。数据的组织方式必须由程序员自行设计与安排</a:t>
            </a:r>
            <a:endParaRPr lang="zh-CN" altLang="en-US" dirty="0"/>
          </a:p>
          <a:p>
            <a:pPr lvl="2"/>
            <a:r>
              <a:rPr lang="zh-CN" altLang="en-US" dirty="0"/>
              <a:t>数据面向程序。即一组数据对应一个程序</a:t>
            </a:r>
            <a:endParaRPr lang="zh-CN" altLang="en-US" dirty="0"/>
          </a:p>
          <a:p>
            <a:pPr lvl="2"/>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人工管理阶段</a:t>
            </a:r>
            <a:endParaRPr lang="en-US" altLang="zh-CN" sz="2800" b="1" dirty="0"/>
          </a:p>
          <a:p>
            <a:pPr lvl="1"/>
            <a:r>
              <a:rPr lang="zh-CN" altLang="en-US" dirty="0"/>
              <a:t>在人工管理阶段，程序与数据之间的关系可用图</a:t>
            </a:r>
            <a:r>
              <a:rPr lang="en-US" altLang="zh-CN" dirty="0"/>
              <a:t>1-1</a:t>
            </a:r>
            <a:r>
              <a:rPr lang="zh-CN" altLang="en-US" dirty="0"/>
              <a:t>表示</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
        <p:nvSpPr>
          <p:cNvPr id="6" name="Rectangle 4"/>
          <p:cNvSpPr>
            <a:spLocks noChangeArrowheads="1"/>
          </p:cNvSpPr>
          <p:nvPr/>
        </p:nvSpPr>
        <p:spPr bwMode="auto">
          <a:xfrm>
            <a:off x="3265702" y="6022086"/>
            <a:ext cx="52774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1-1 </a:t>
            </a:r>
            <a:r>
              <a:rPr lang="zh-CN" altLang="en-US" sz="2000" dirty="0">
                <a:latin typeface="微软雅黑" panose="020B0503020204020204" pitchFamily="34" charset="-122"/>
                <a:ea typeface="微软雅黑" panose="020B0503020204020204" pitchFamily="34" charset="-122"/>
              </a:rPr>
              <a:t>程序与数据之间的关系</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人工管理阶段</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p:txBody>
      </p:sp>
      <p:sp>
        <p:nvSpPr>
          <p:cNvPr id="7" name="Rectangle 5"/>
          <p:cNvSpPr>
            <a:spLocks noChangeArrowheads="1"/>
          </p:cNvSpPr>
          <p:nvPr/>
        </p:nvSpPr>
        <p:spPr bwMode="auto">
          <a:xfrm>
            <a:off x="3738841" y="2719328"/>
            <a:ext cx="12954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endParaRPr lang="zh-CN" altLang="zh-CN" sz="1800"/>
          </a:p>
        </p:txBody>
      </p:sp>
      <p:sp>
        <p:nvSpPr>
          <p:cNvPr id="8" name="Rectangle 6"/>
          <p:cNvSpPr>
            <a:spLocks noChangeArrowheads="1"/>
          </p:cNvSpPr>
          <p:nvPr/>
        </p:nvSpPr>
        <p:spPr bwMode="auto">
          <a:xfrm>
            <a:off x="6918603" y="2681228"/>
            <a:ext cx="12954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9" name="Rectangle 7"/>
          <p:cNvSpPr>
            <a:spLocks noChangeArrowheads="1"/>
          </p:cNvSpPr>
          <p:nvPr/>
        </p:nvSpPr>
        <p:spPr bwMode="auto">
          <a:xfrm>
            <a:off x="3738841" y="3709928"/>
            <a:ext cx="12954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0" name="Rectangle 8"/>
          <p:cNvSpPr>
            <a:spLocks noChangeArrowheads="1"/>
          </p:cNvSpPr>
          <p:nvPr/>
        </p:nvSpPr>
        <p:spPr bwMode="auto">
          <a:xfrm>
            <a:off x="6918603" y="3824228"/>
            <a:ext cx="12954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1" name="Rectangle 9"/>
          <p:cNvSpPr>
            <a:spLocks noChangeArrowheads="1"/>
          </p:cNvSpPr>
          <p:nvPr/>
        </p:nvSpPr>
        <p:spPr bwMode="auto">
          <a:xfrm>
            <a:off x="3738841" y="5310128"/>
            <a:ext cx="12954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2" name="Rectangle 10"/>
          <p:cNvSpPr>
            <a:spLocks noChangeArrowheads="1"/>
          </p:cNvSpPr>
          <p:nvPr/>
        </p:nvSpPr>
        <p:spPr bwMode="auto">
          <a:xfrm>
            <a:off x="6918603" y="5348228"/>
            <a:ext cx="1295400" cy="38100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3" name="Rectangle 11"/>
          <p:cNvSpPr>
            <a:spLocks noChangeArrowheads="1"/>
          </p:cNvSpPr>
          <p:nvPr/>
        </p:nvSpPr>
        <p:spPr bwMode="auto">
          <a:xfrm>
            <a:off x="3662641" y="2719328"/>
            <a:ext cx="1347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1</a:t>
            </a:r>
            <a:endParaRPr lang="en-US" altLang="zh-CN" sz="2000" b="1"/>
          </a:p>
        </p:txBody>
      </p:sp>
      <p:sp>
        <p:nvSpPr>
          <p:cNvPr id="14" name="Rectangle 12"/>
          <p:cNvSpPr>
            <a:spLocks noChangeArrowheads="1"/>
          </p:cNvSpPr>
          <p:nvPr/>
        </p:nvSpPr>
        <p:spPr bwMode="auto">
          <a:xfrm>
            <a:off x="6980516" y="2655828"/>
            <a:ext cx="109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数据集</a:t>
            </a:r>
            <a:r>
              <a:rPr lang="en-US" altLang="zh-CN" sz="2000" b="1"/>
              <a:t>1</a:t>
            </a:r>
            <a:endParaRPr lang="en-US" altLang="zh-CN" sz="2000" b="1"/>
          </a:p>
        </p:txBody>
      </p:sp>
      <p:sp>
        <p:nvSpPr>
          <p:cNvPr id="15" name="Rectangle 13"/>
          <p:cNvSpPr>
            <a:spLocks noChangeArrowheads="1"/>
          </p:cNvSpPr>
          <p:nvPr/>
        </p:nvSpPr>
        <p:spPr bwMode="auto">
          <a:xfrm>
            <a:off x="6980516" y="3813115"/>
            <a:ext cx="1092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数据集</a:t>
            </a:r>
            <a:r>
              <a:rPr lang="en-US" altLang="zh-CN" sz="2000" b="1"/>
              <a:t>2</a:t>
            </a:r>
            <a:endParaRPr lang="en-US" altLang="zh-CN" sz="2000" b="1"/>
          </a:p>
        </p:txBody>
      </p:sp>
      <p:sp>
        <p:nvSpPr>
          <p:cNvPr id="16" name="Rectangle 14"/>
          <p:cNvSpPr>
            <a:spLocks noChangeArrowheads="1"/>
          </p:cNvSpPr>
          <p:nvPr/>
        </p:nvSpPr>
        <p:spPr bwMode="auto">
          <a:xfrm>
            <a:off x="6955116" y="5322828"/>
            <a:ext cx="11064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数据集</a:t>
            </a:r>
            <a:r>
              <a:rPr lang="en-US" altLang="zh-CN" sz="2000" b="1"/>
              <a:t>n</a:t>
            </a:r>
            <a:endParaRPr lang="en-US" altLang="zh-CN" sz="2000" b="1"/>
          </a:p>
        </p:txBody>
      </p:sp>
      <p:sp>
        <p:nvSpPr>
          <p:cNvPr id="17" name="Rectangle 15"/>
          <p:cNvSpPr>
            <a:spLocks noChangeArrowheads="1"/>
          </p:cNvSpPr>
          <p:nvPr/>
        </p:nvSpPr>
        <p:spPr bwMode="auto">
          <a:xfrm>
            <a:off x="3686453" y="3709928"/>
            <a:ext cx="13477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2</a:t>
            </a:r>
            <a:endParaRPr lang="en-US" altLang="zh-CN" sz="2000" b="1"/>
          </a:p>
        </p:txBody>
      </p:sp>
      <p:sp>
        <p:nvSpPr>
          <p:cNvPr id="18" name="Rectangle 16"/>
          <p:cNvSpPr>
            <a:spLocks noChangeArrowheads="1"/>
          </p:cNvSpPr>
          <p:nvPr/>
        </p:nvSpPr>
        <p:spPr bwMode="auto">
          <a:xfrm>
            <a:off x="3672166" y="5294253"/>
            <a:ext cx="1362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n</a:t>
            </a:r>
            <a:endParaRPr lang="en-US" altLang="zh-CN" sz="2000" b="1"/>
          </a:p>
        </p:txBody>
      </p:sp>
      <p:sp>
        <p:nvSpPr>
          <p:cNvPr id="19" name="Text Box 17"/>
          <p:cNvSpPr txBox="1">
            <a:spLocks noChangeArrowheads="1"/>
          </p:cNvSpPr>
          <p:nvPr/>
        </p:nvSpPr>
        <p:spPr bwMode="auto">
          <a:xfrm>
            <a:off x="4196041" y="4471928"/>
            <a:ext cx="4587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1"/>
              <a:t>……</a:t>
            </a:r>
            <a:endParaRPr lang="en-US" altLang="zh-CN" sz="1800" b="1"/>
          </a:p>
        </p:txBody>
      </p:sp>
      <p:sp>
        <p:nvSpPr>
          <p:cNvPr id="20" name="Text Box 18"/>
          <p:cNvSpPr txBox="1">
            <a:spLocks noChangeArrowheads="1"/>
          </p:cNvSpPr>
          <p:nvPr/>
        </p:nvSpPr>
        <p:spPr bwMode="auto">
          <a:xfrm>
            <a:off x="7374216" y="4510028"/>
            <a:ext cx="4587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1"/>
              <a:t>……</a:t>
            </a:r>
            <a:endParaRPr lang="en-US" altLang="zh-CN" sz="1800" b="1"/>
          </a:p>
        </p:txBody>
      </p:sp>
      <p:sp>
        <p:nvSpPr>
          <p:cNvPr id="21" name="AutoShape 19"/>
          <p:cNvSpPr>
            <a:spLocks noChangeArrowheads="1"/>
          </p:cNvSpPr>
          <p:nvPr/>
        </p:nvSpPr>
        <p:spPr bwMode="auto">
          <a:xfrm>
            <a:off x="5334278" y="2651065"/>
            <a:ext cx="1295400" cy="533400"/>
          </a:xfrm>
          <a:prstGeom prst="leftRightArrow">
            <a:avLst>
              <a:gd name="adj1" fmla="val 50000"/>
              <a:gd name="adj2" fmla="val 4857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ahoma" panose="020B0604030504040204" pitchFamily="34" charset="0"/>
                <a:ea typeface="华文新魏" panose="02010800040101010101" pitchFamily="2" charset="-122"/>
              </a:rPr>
              <a:t>访问</a:t>
            </a:r>
            <a:endParaRPr kumimoji="1" lang="zh-CN" altLang="en-US" sz="2400">
              <a:latin typeface="Tahoma" panose="020B0604030504040204" pitchFamily="34" charset="0"/>
              <a:ea typeface="华文新魏" panose="02010800040101010101" pitchFamily="2" charset="-122"/>
            </a:endParaRPr>
          </a:p>
        </p:txBody>
      </p:sp>
      <p:sp>
        <p:nvSpPr>
          <p:cNvPr id="22" name="AutoShape 20"/>
          <p:cNvSpPr>
            <a:spLocks noChangeArrowheads="1"/>
          </p:cNvSpPr>
          <p:nvPr/>
        </p:nvSpPr>
        <p:spPr bwMode="auto">
          <a:xfrm>
            <a:off x="5334278" y="3732153"/>
            <a:ext cx="1295400" cy="533400"/>
          </a:xfrm>
          <a:prstGeom prst="leftRightArrow">
            <a:avLst>
              <a:gd name="adj1" fmla="val 50000"/>
              <a:gd name="adj2" fmla="val 4857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ahoma" panose="020B0604030504040204" pitchFamily="34" charset="0"/>
                <a:ea typeface="华文新魏" panose="02010800040101010101" pitchFamily="2" charset="-122"/>
              </a:rPr>
              <a:t>访问</a:t>
            </a:r>
            <a:endParaRPr kumimoji="1" lang="zh-CN" altLang="en-US" sz="2400">
              <a:latin typeface="Tahoma" panose="020B0604030504040204" pitchFamily="34" charset="0"/>
              <a:ea typeface="华文新魏" panose="02010800040101010101" pitchFamily="2" charset="-122"/>
            </a:endParaRPr>
          </a:p>
        </p:txBody>
      </p:sp>
      <p:sp>
        <p:nvSpPr>
          <p:cNvPr id="23" name="AutoShape 21"/>
          <p:cNvSpPr>
            <a:spLocks noChangeArrowheads="1"/>
          </p:cNvSpPr>
          <p:nvPr/>
        </p:nvSpPr>
        <p:spPr bwMode="auto">
          <a:xfrm>
            <a:off x="5262841" y="5243453"/>
            <a:ext cx="1295400" cy="533400"/>
          </a:xfrm>
          <a:prstGeom prst="leftRightArrow">
            <a:avLst>
              <a:gd name="adj1" fmla="val 50000"/>
              <a:gd name="adj2" fmla="val 48571"/>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ahoma" panose="020B0604030504040204" pitchFamily="34" charset="0"/>
                <a:ea typeface="华文新魏" panose="02010800040101010101" pitchFamily="2" charset="-122"/>
              </a:rPr>
              <a:t>访问</a:t>
            </a:r>
            <a:endParaRPr kumimoji="1" lang="zh-CN" altLang="en-US" sz="2400">
              <a:latin typeface="Tahoma" panose="020B0604030504040204" pitchFamily="34" charset="0"/>
              <a:ea typeface="华文新魏" panose="0201080004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文件系统阶段</a:t>
            </a:r>
            <a:endParaRPr lang="en-US" altLang="zh-CN" dirty="0"/>
          </a:p>
          <a:p>
            <a:pPr lvl="1"/>
            <a:r>
              <a:rPr lang="zh-CN" altLang="en-US" dirty="0"/>
              <a:t>背景：</a:t>
            </a:r>
            <a:endParaRPr lang="en-US" altLang="zh-CN" dirty="0"/>
          </a:p>
          <a:p>
            <a:pPr lvl="2"/>
            <a:r>
              <a:rPr lang="zh-CN" altLang="en-US" dirty="0"/>
              <a:t>外部存储器已有磁盘、磁鼓等直接存取存储设备</a:t>
            </a:r>
            <a:endParaRPr lang="zh-CN" altLang="en-US" dirty="0"/>
          </a:p>
          <a:p>
            <a:pPr lvl="2"/>
            <a:r>
              <a:rPr lang="zh-CN" altLang="en-US" dirty="0"/>
              <a:t>软件领域出现了高级语言和操作系统</a:t>
            </a:r>
            <a:endParaRPr lang="zh-CN" altLang="en-US" dirty="0"/>
          </a:p>
          <a:p>
            <a:pPr lvl="2"/>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21848" y="3657601"/>
            <a:ext cx="3786187" cy="251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2720" y="2843340"/>
            <a:ext cx="2571750" cy="177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6932" y="4499102"/>
            <a:ext cx="37433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文件系统阶段</a:t>
            </a:r>
            <a:endParaRPr lang="en-US" altLang="zh-CN" dirty="0"/>
          </a:p>
          <a:p>
            <a:pPr lvl="1"/>
            <a:r>
              <a:rPr lang="zh-CN" altLang="en-US" dirty="0"/>
              <a:t>特点：</a:t>
            </a:r>
            <a:endParaRPr lang="en-US" altLang="zh-CN" dirty="0"/>
          </a:p>
          <a:p>
            <a:pPr lvl="2"/>
            <a:r>
              <a:rPr lang="zh-CN" altLang="en-US" dirty="0"/>
              <a:t>系统提供一定的数据管理功能</a:t>
            </a:r>
            <a:endParaRPr lang="en-US" altLang="zh-CN" dirty="0"/>
          </a:p>
          <a:p>
            <a:pPr lvl="3"/>
            <a:r>
              <a:rPr lang="zh-CN" altLang="en-US" dirty="0"/>
              <a:t>存取方法</a:t>
            </a:r>
            <a:endParaRPr lang="zh-CN" altLang="en-US" dirty="0"/>
          </a:p>
          <a:p>
            <a:pPr lvl="3"/>
            <a:r>
              <a:rPr lang="zh-CN" altLang="en-US" dirty="0"/>
              <a:t>支持对文件的基本操作</a:t>
            </a:r>
            <a:endParaRPr lang="zh-CN" altLang="en-US" dirty="0"/>
          </a:p>
          <a:p>
            <a:pPr lvl="3"/>
            <a:r>
              <a:rPr lang="zh-CN" altLang="en-US" dirty="0"/>
              <a:t>数据的存取基本上以记录为单位</a:t>
            </a:r>
            <a:endParaRPr lang="en-US" altLang="zh-CN" dirty="0"/>
          </a:p>
          <a:p>
            <a:pPr lvl="2"/>
            <a:r>
              <a:rPr lang="zh-CN" altLang="en-US" dirty="0"/>
              <a:t>数据仍是面向应用的</a:t>
            </a:r>
            <a:endParaRPr lang="en-US" altLang="zh-CN" dirty="0"/>
          </a:p>
          <a:p>
            <a:pPr lvl="3"/>
            <a:r>
              <a:rPr lang="zh-CN" altLang="en-US" dirty="0"/>
              <a:t>一个数据文件对应一个或几个用户程序</a:t>
            </a:r>
            <a:endParaRPr lang="en-US" altLang="zh-CN" dirty="0"/>
          </a:p>
          <a:p>
            <a:pPr lvl="2"/>
            <a:r>
              <a:rPr lang="zh-CN" altLang="en-US" dirty="0"/>
              <a:t>数据与程序有一定的独立性</a:t>
            </a:r>
            <a:r>
              <a:rPr lang="en-US" altLang="zh-CN" dirty="0"/>
              <a:t>(independency)</a:t>
            </a:r>
            <a:endParaRPr lang="en-US" altLang="zh-CN" dirty="0"/>
          </a:p>
          <a:p>
            <a:pPr lvl="3"/>
            <a:r>
              <a:rPr lang="zh-CN" altLang="en-US" dirty="0"/>
              <a:t>文件的逻辑结构与存储结构由系统进行转换</a:t>
            </a:r>
            <a:endParaRPr lang="zh-CN" altLang="en-US" dirty="0"/>
          </a:p>
          <a:p>
            <a:pPr lvl="3"/>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文件系统阶段</a:t>
            </a:r>
            <a:endParaRPr lang="en-US" altLang="zh-CN" dirty="0"/>
          </a:p>
          <a:p>
            <a:pPr lvl="1"/>
            <a:r>
              <a:rPr lang="zh-CN" altLang="en-US" dirty="0"/>
              <a:t>在文件系统阶段，程序与数据之间的关系如下图所示</a:t>
            </a:r>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
        <p:nvSpPr>
          <p:cNvPr id="6" name="Rectangle 19"/>
          <p:cNvSpPr>
            <a:spLocks noChangeArrowheads="1"/>
          </p:cNvSpPr>
          <p:nvPr/>
        </p:nvSpPr>
        <p:spPr bwMode="auto">
          <a:xfrm>
            <a:off x="3112072" y="6047613"/>
            <a:ext cx="6121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700"/>
              </a:spcBef>
              <a:spcAft>
                <a:spcPts val="800"/>
              </a:spcAft>
              <a:buClrTx/>
              <a:buFontTx/>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1-2  </a:t>
            </a:r>
            <a:r>
              <a:rPr lang="zh-CN" altLang="en-US" sz="2000" dirty="0">
                <a:latin typeface="微软雅黑" panose="020B0503020204020204" pitchFamily="34" charset="-122"/>
                <a:ea typeface="微软雅黑" panose="020B0503020204020204" pitchFamily="34" charset="-122"/>
              </a:rPr>
              <a:t>程序与数据之间的关系</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文件系统阶段</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7" name="Rectangle 21"/>
          <p:cNvSpPr>
            <a:spLocks noChangeArrowheads="1"/>
          </p:cNvSpPr>
          <p:nvPr/>
        </p:nvSpPr>
        <p:spPr bwMode="auto">
          <a:xfrm>
            <a:off x="2969197" y="2569401"/>
            <a:ext cx="1655762" cy="442912"/>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endParaRPr lang="zh-CN" altLang="zh-CN" sz="1800"/>
          </a:p>
        </p:txBody>
      </p:sp>
      <p:sp>
        <p:nvSpPr>
          <p:cNvPr id="8" name="Rectangle 22"/>
          <p:cNvSpPr>
            <a:spLocks noChangeArrowheads="1"/>
          </p:cNvSpPr>
          <p:nvPr/>
        </p:nvSpPr>
        <p:spPr bwMode="auto">
          <a:xfrm>
            <a:off x="7938072" y="2569401"/>
            <a:ext cx="1655762" cy="442912"/>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9" name="Rectangle 23"/>
          <p:cNvSpPr>
            <a:spLocks noChangeArrowheads="1"/>
          </p:cNvSpPr>
          <p:nvPr/>
        </p:nvSpPr>
        <p:spPr bwMode="auto">
          <a:xfrm>
            <a:off x="2969197" y="3721926"/>
            <a:ext cx="1655762" cy="442912"/>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0" name="Rectangle 24"/>
          <p:cNvSpPr>
            <a:spLocks noChangeArrowheads="1"/>
          </p:cNvSpPr>
          <p:nvPr/>
        </p:nvSpPr>
        <p:spPr bwMode="auto">
          <a:xfrm>
            <a:off x="7938072" y="3721926"/>
            <a:ext cx="1655762" cy="442912"/>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1" name="Rectangle 25"/>
          <p:cNvSpPr>
            <a:spLocks noChangeArrowheads="1"/>
          </p:cNvSpPr>
          <p:nvPr/>
        </p:nvSpPr>
        <p:spPr bwMode="auto">
          <a:xfrm>
            <a:off x="2969197" y="5228463"/>
            <a:ext cx="1655762" cy="442913"/>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2" name="Rectangle 26"/>
          <p:cNvSpPr>
            <a:spLocks noChangeArrowheads="1"/>
          </p:cNvSpPr>
          <p:nvPr/>
        </p:nvSpPr>
        <p:spPr bwMode="auto">
          <a:xfrm>
            <a:off x="7938072" y="5317363"/>
            <a:ext cx="1655762" cy="442913"/>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3" name="Rectangle 27"/>
          <p:cNvSpPr>
            <a:spLocks noChangeArrowheads="1"/>
          </p:cNvSpPr>
          <p:nvPr/>
        </p:nvSpPr>
        <p:spPr bwMode="auto">
          <a:xfrm>
            <a:off x="3112072" y="2569401"/>
            <a:ext cx="1347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1</a:t>
            </a:r>
            <a:endParaRPr lang="en-US" altLang="zh-CN" sz="2000" b="1"/>
          </a:p>
        </p:txBody>
      </p:sp>
      <p:sp>
        <p:nvSpPr>
          <p:cNvPr id="14" name="Rectangle 28"/>
          <p:cNvSpPr>
            <a:spLocks noChangeArrowheads="1"/>
          </p:cNvSpPr>
          <p:nvPr/>
        </p:nvSpPr>
        <p:spPr bwMode="auto">
          <a:xfrm>
            <a:off x="8380984" y="2572576"/>
            <a:ext cx="771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1800" b="1"/>
              <a:t>文件</a:t>
            </a:r>
            <a:r>
              <a:rPr lang="en-US" altLang="zh-CN" sz="1800" b="1"/>
              <a:t>1</a:t>
            </a:r>
            <a:endParaRPr lang="en-US" altLang="zh-CN" sz="1800" b="1"/>
          </a:p>
        </p:txBody>
      </p:sp>
      <p:sp>
        <p:nvSpPr>
          <p:cNvPr id="15" name="Rectangle 29"/>
          <p:cNvSpPr>
            <a:spLocks noChangeArrowheads="1"/>
          </p:cNvSpPr>
          <p:nvPr/>
        </p:nvSpPr>
        <p:spPr bwMode="auto">
          <a:xfrm>
            <a:off x="8382572" y="3725101"/>
            <a:ext cx="7715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1800" b="1"/>
              <a:t>文件</a:t>
            </a:r>
            <a:r>
              <a:rPr lang="en-US" altLang="zh-CN" sz="1800" b="1"/>
              <a:t>2</a:t>
            </a:r>
            <a:endParaRPr lang="en-US" altLang="zh-CN" sz="1800" b="1"/>
          </a:p>
        </p:txBody>
      </p:sp>
      <p:sp>
        <p:nvSpPr>
          <p:cNvPr id="16" name="Rectangle 30"/>
          <p:cNvSpPr>
            <a:spLocks noChangeArrowheads="1"/>
          </p:cNvSpPr>
          <p:nvPr/>
        </p:nvSpPr>
        <p:spPr bwMode="auto">
          <a:xfrm>
            <a:off x="8369872" y="5320538"/>
            <a:ext cx="7842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1800" b="1"/>
              <a:t>文件</a:t>
            </a:r>
            <a:r>
              <a:rPr lang="en-US" altLang="zh-CN" sz="1800" b="1"/>
              <a:t>n</a:t>
            </a:r>
            <a:endParaRPr lang="en-US" altLang="zh-CN" sz="1800" b="1"/>
          </a:p>
        </p:txBody>
      </p:sp>
      <p:sp>
        <p:nvSpPr>
          <p:cNvPr id="17" name="Rectangle 31"/>
          <p:cNvSpPr>
            <a:spLocks noChangeArrowheads="1"/>
          </p:cNvSpPr>
          <p:nvPr/>
        </p:nvSpPr>
        <p:spPr bwMode="auto">
          <a:xfrm>
            <a:off x="3112072" y="3721926"/>
            <a:ext cx="1347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2</a:t>
            </a:r>
            <a:endParaRPr lang="en-US" altLang="zh-CN" sz="2000" b="1"/>
          </a:p>
        </p:txBody>
      </p:sp>
      <p:sp>
        <p:nvSpPr>
          <p:cNvPr id="18" name="Rectangle 32"/>
          <p:cNvSpPr>
            <a:spLocks noChangeArrowheads="1"/>
          </p:cNvSpPr>
          <p:nvPr/>
        </p:nvSpPr>
        <p:spPr bwMode="auto">
          <a:xfrm>
            <a:off x="3112072" y="5209413"/>
            <a:ext cx="13620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n</a:t>
            </a:r>
            <a:endParaRPr lang="en-US" altLang="zh-CN" sz="2000" b="1"/>
          </a:p>
        </p:txBody>
      </p:sp>
      <p:sp>
        <p:nvSpPr>
          <p:cNvPr id="19" name="Text Box 33"/>
          <p:cNvSpPr txBox="1">
            <a:spLocks noChangeArrowheads="1"/>
          </p:cNvSpPr>
          <p:nvPr/>
        </p:nvSpPr>
        <p:spPr bwMode="auto">
          <a:xfrm>
            <a:off x="3681984" y="4253738"/>
            <a:ext cx="4587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1"/>
              <a:t>……</a:t>
            </a:r>
            <a:endParaRPr lang="en-US" altLang="zh-CN" sz="1800" b="1"/>
          </a:p>
        </p:txBody>
      </p:sp>
      <p:sp>
        <p:nvSpPr>
          <p:cNvPr id="20" name="Text Box 34"/>
          <p:cNvSpPr txBox="1">
            <a:spLocks noChangeArrowheads="1"/>
          </p:cNvSpPr>
          <p:nvPr/>
        </p:nvSpPr>
        <p:spPr bwMode="auto">
          <a:xfrm>
            <a:off x="8485759" y="4326763"/>
            <a:ext cx="4587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1"/>
              <a:t>……</a:t>
            </a:r>
            <a:endParaRPr lang="en-US" altLang="zh-CN" sz="1800" b="1"/>
          </a:p>
        </p:txBody>
      </p:sp>
      <p:sp>
        <p:nvSpPr>
          <p:cNvPr id="21" name="Oval 35"/>
          <p:cNvSpPr>
            <a:spLocks noChangeArrowheads="1"/>
          </p:cNvSpPr>
          <p:nvPr/>
        </p:nvSpPr>
        <p:spPr bwMode="auto">
          <a:xfrm>
            <a:off x="5599684" y="3544126"/>
            <a:ext cx="1460500" cy="1152525"/>
          </a:xfrm>
          <a:prstGeom prst="ellipse">
            <a:avLst/>
          </a:prstGeom>
          <a:noFill/>
          <a:ln w="9525">
            <a:solidFill>
              <a:schemeClr val="tx1"/>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2" name="Rectangle 36"/>
          <p:cNvSpPr>
            <a:spLocks noChangeArrowheads="1"/>
          </p:cNvSpPr>
          <p:nvPr/>
        </p:nvSpPr>
        <p:spPr bwMode="auto">
          <a:xfrm>
            <a:off x="5753672" y="3671126"/>
            <a:ext cx="110490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zh-CN" altLang="en-US" sz="1800" b="1"/>
              <a:t>文件系统</a:t>
            </a:r>
            <a:endParaRPr lang="zh-CN" altLang="en-US" sz="1800" b="1"/>
          </a:p>
          <a:p>
            <a:pPr eaLnBrk="1" hangingPunct="1">
              <a:spcBef>
                <a:spcPct val="0"/>
              </a:spcBef>
              <a:buClrTx/>
              <a:buFontTx/>
              <a:buNone/>
            </a:pPr>
            <a:r>
              <a:rPr lang="zh-CN" altLang="en-US" sz="1800" b="1"/>
              <a:t>统一的</a:t>
            </a:r>
            <a:endParaRPr lang="zh-CN" altLang="en-US" sz="1800" b="1"/>
          </a:p>
          <a:p>
            <a:pPr eaLnBrk="1" hangingPunct="1">
              <a:spcBef>
                <a:spcPct val="0"/>
              </a:spcBef>
              <a:buClrTx/>
              <a:buFontTx/>
              <a:buNone/>
            </a:pPr>
            <a:r>
              <a:rPr lang="zh-CN" altLang="en-US" sz="1800" b="1"/>
              <a:t>存储方法</a:t>
            </a:r>
            <a:endParaRPr lang="zh-CN" altLang="en-US" sz="1800" b="1"/>
          </a:p>
        </p:txBody>
      </p:sp>
      <p:sp>
        <p:nvSpPr>
          <p:cNvPr id="23" name="Line 37"/>
          <p:cNvSpPr>
            <a:spLocks noChangeShapeType="1"/>
          </p:cNvSpPr>
          <p:nvPr/>
        </p:nvSpPr>
        <p:spPr bwMode="auto">
          <a:xfrm>
            <a:off x="4624959" y="2747201"/>
            <a:ext cx="1169988" cy="9747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38"/>
          <p:cNvSpPr>
            <a:spLocks noChangeShapeType="1"/>
          </p:cNvSpPr>
          <p:nvPr/>
        </p:nvSpPr>
        <p:spPr bwMode="auto">
          <a:xfrm>
            <a:off x="4624959" y="3899726"/>
            <a:ext cx="974725" cy="87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Line 39"/>
          <p:cNvSpPr>
            <a:spLocks noChangeShapeType="1"/>
          </p:cNvSpPr>
          <p:nvPr/>
        </p:nvSpPr>
        <p:spPr bwMode="auto">
          <a:xfrm flipV="1">
            <a:off x="4624959" y="4518851"/>
            <a:ext cx="1266825" cy="976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40"/>
          <p:cNvSpPr>
            <a:spLocks noChangeShapeType="1"/>
          </p:cNvSpPr>
          <p:nvPr/>
        </p:nvSpPr>
        <p:spPr bwMode="auto">
          <a:xfrm flipV="1">
            <a:off x="6785547" y="2807526"/>
            <a:ext cx="1152525" cy="8636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41"/>
          <p:cNvSpPr>
            <a:spLocks noChangeShapeType="1"/>
          </p:cNvSpPr>
          <p:nvPr/>
        </p:nvSpPr>
        <p:spPr bwMode="auto">
          <a:xfrm flipV="1">
            <a:off x="7060184" y="3899726"/>
            <a:ext cx="877888" cy="87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42"/>
          <p:cNvSpPr>
            <a:spLocks noChangeShapeType="1"/>
          </p:cNvSpPr>
          <p:nvPr/>
        </p:nvSpPr>
        <p:spPr bwMode="auto">
          <a:xfrm>
            <a:off x="6866509" y="4518851"/>
            <a:ext cx="1071563" cy="106362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文件系统阶段</a:t>
            </a:r>
            <a:endParaRPr lang="en-US" altLang="zh-CN" dirty="0"/>
          </a:p>
          <a:p>
            <a:pPr lvl="1"/>
            <a:r>
              <a:rPr lang="zh-CN" altLang="en-US" dirty="0"/>
              <a:t>存在的问题</a:t>
            </a:r>
            <a:endParaRPr lang="en-US" altLang="zh-CN" dirty="0"/>
          </a:p>
          <a:p>
            <a:pPr lvl="2"/>
            <a:r>
              <a:rPr lang="zh-CN" altLang="en-US" dirty="0"/>
              <a:t>数据与程序的独立性差</a:t>
            </a:r>
            <a:endParaRPr lang="en-US" altLang="zh-CN" dirty="0"/>
          </a:p>
          <a:p>
            <a:pPr lvl="2"/>
            <a:r>
              <a:rPr lang="zh-CN" altLang="en-US" dirty="0"/>
              <a:t>数据的共享性差，冗余度大</a:t>
            </a:r>
            <a:endParaRPr lang="en-US" altLang="zh-CN" dirty="0"/>
          </a:p>
          <a:p>
            <a:pPr lvl="3"/>
            <a:r>
              <a:rPr lang="zh-CN" altLang="en-US" dirty="0"/>
              <a:t>数据面向应用</a:t>
            </a:r>
            <a:endParaRPr lang="zh-CN" altLang="en-US" dirty="0"/>
          </a:p>
          <a:p>
            <a:pPr lvl="3"/>
            <a:r>
              <a:rPr lang="zh-CN" altLang="en-US" dirty="0"/>
              <a:t>数据孤立</a:t>
            </a:r>
            <a:endParaRPr lang="zh-CN" altLang="en-US" dirty="0"/>
          </a:p>
          <a:p>
            <a:pPr lvl="2"/>
            <a:r>
              <a:rPr lang="zh-CN" altLang="en-US" dirty="0"/>
              <a:t>数据的不一致性</a:t>
            </a:r>
            <a:endParaRPr lang="zh-CN" altLang="en-US" dirty="0"/>
          </a:p>
          <a:p>
            <a:pPr lvl="2"/>
            <a:r>
              <a:rPr lang="zh-CN" altLang="en-US" dirty="0"/>
              <a:t>数据查询困难</a:t>
            </a:r>
            <a:endParaRPr lang="en-US" altLang="zh-CN" dirty="0"/>
          </a:p>
          <a:p>
            <a:pPr lvl="3"/>
            <a:r>
              <a:rPr lang="zh-CN" altLang="en-US" dirty="0"/>
              <a:t>记录之间无联系</a:t>
            </a:r>
            <a:endParaRPr lang="zh-CN" altLang="en-US" dirty="0"/>
          </a:p>
          <a:p>
            <a:pPr lvl="3"/>
            <a:r>
              <a:rPr lang="zh-CN" altLang="en-US" dirty="0"/>
              <a:t>应用自己编程实现</a:t>
            </a:r>
            <a:endParaRPr lang="zh-CN" altLang="en-US" dirty="0"/>
          </a:p>
          <a:p>
            <a:pPr lvl="3"/>
            <a:r>
              <a:rPr lang="zh-CN" altLang="en-US" dirty="0"/>
              <a:t>对每个查询都重新编码</a:t>
            </a:r>
            <a:endParaRPr lang="zh-CN" altLang="en-US" dirty="0"/>
          </a:p>
          <a:p>
            <a:pPr lvl="2"/>
            <a:r>
              <a:rPr lang="zh-CN" altLang="en-US" dirty="0"/>
              <a:t>数据完整性难于保证</a:t>
            </a:r>
            <a:endParaRPr lang="zh-CN" altLang="en-US" dirty="0"/>
          </a:p>
          <a:p>
            <a:pPr lvl="2"/>
            <a:endParaRPr lang="en-US" altLang="zh-CN"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数据库系统阶段</a:t>
            </a:r>
            <a:endParaRPr lang="en-US" altLang="zh-CN" dirty="0"/>
          </a:p>
          <a:p>
            <a:pPr lvl="1"/>
            <a:r>
              <a:rPr lang="zh-CN" altLang="en-US" sz="2400" dirty="0"/>
              <a:t>从</a:t>
            </a:r>
            <a:r>
              <a:rPr lang="en-US" altLang="zh-CN" sz="2400" dirty="0"/>
              <a:t>20</a:t>
            </a:r>
            <a:r>
              <a:rPr lang="zh-CN" altLang="en-US" sz="2400" dirty="0"/>
              <a:t>世纪</a:t>
            </a:r>
            <a:r>
              <a:rPr lang="en-US" altLang="zh-CN" sz="2400" dirty="0"/>
              <a:t>60</a:t>
            </a:r>
            <a:r>
              <a:rPr lang="zh-CN" altLang="en-US" sz="2400" dirty="0"/>
              <a:t>年代末，数据管理全面进入数据库系统阶段，其标志是三件大事：</a:t>
            </a:r>
            <a:r>
              <a:rPr lang="zh-CN" altLang="en-US" dirty="0"/>
              <a:t> </a:t>
            </a:r>
            <a:endParaRPr lang="zh-CN" altLang="en-US" dirty="0"/>
          </a:p>
          <a:p>
            <a:pPr lvl="2"/>
            <a:r>
              <a:rPr lang="en-US" altLang="zh-CN" sz="2000" dirty="0">
                <a:solidFill>
                  <a:srgbClr val="DB25B4"/>
                </a:solidFill>
                <a:latin typeface="微软雅黑" panose="020B0503020204020204" pitchFamily="34" charset="-122"/>
                <a:ea typeface="微软雅黑" panose="020B0503020204020204" pitchFamily="34" charset="-122"/>
              </a:rPr>
              <a:t>1968</a:t>
            </a:r>
            <a:r>
              <a:rPr lang="zh-CN" altLang="en-US" sz="2000" dirty="0">
                <a:latin typeface="微软雅黑" panose="020B0503020204020204" pitchFamily="34" charset="-122"/>
                <a:ea typeface="微软雅黑" panose="020B0503020204020204" pitchFamily="34" charset="-122"/>
              </a:rPr>
              <a:t>年，美国 </a:t>
            </a:r>
            <a:r>
              <a:rPr lang="en-US" altLang="zh-CN" sz="2000" i="1" dirty="0">
                <a:latin typeface="微软雅黑" panose="020B0503020204020204" pitchFamily="34" charset="-122"/>
                <a:ea typeface="微软雅黑" panose="020B0503020204020204" pitchFamily="34" charset="-122"/>
              </a:rPr>
              <a:t>IBM </a:t>
            </a:r>
            <a:r>
              <a:rPr lang="zh-CN" altLang="en-US" sz="2000" dirty="0">
                <a:latin typeface="微软雅黑" panose="020B0503020204020204" pitchFamily="34" charset="-122"/>
                <a:ea typeface="微软雅黑" panose="020B0503020204020204" pitchFamily="34" charset="-122"/>
              </a:rPr>
              <a:t>公司推出</a:t>
            </a:r>
            <a:r>
              <a:rPr lang="zh-CN" altLang="en-US" sz="2000" dirty="0">
                <a:solidFill>
                  <a:schemeClr val="accent2">
                    <a:lumMod val="50000"/>
                  </a:schemeClr>
                </a:solidFill>
                <a:latin typeface="微软雅黑" panose="020B0503020204020204" pitchFamily="34" charset="-122"/>
                <a:ea typeface="微软雅黑" panose="020B0503020204020204" pitchFamily="34" charset="-122"/>
              </a:rPr>
              <a:t>层次模型</a:t>
            </a:r>
            <a:r>
              <a:rPr lang="zh-CN" altLang="en-US" sz="2000" dirty="0">
                <a:latin typeface="微软雅黑" panose="020B0503020204020204" pitchFamily="34" charset="-122"/>
                <a:ea typeface="微软雅黑" panose="020B0503020204020204" pitchFamily="34" charset="-122"/>
              </a:rPr>
              <a:t>的 </a:t>
            </a:r>
            <a:r>
              <a:rPr lang="en-US" altLang="zh-CN" sz="2000" i="1" dirty="0">
                <a:latin typeface="微软雅黑" panose="020B0503020204020204" pitchFamily="34" charset="-122"/>
                <a:ea typeface="微软雅黑" panose="020B0503020204020204" pitchFamily="34" charset="-122"/>
              </a:rPr>
              <a:t>IMS </a:t>
            </a:r>
            <a:r>
              <a:rPr lang="zh-CN" altLang="en-US" sz="2000" dirty="0">
                <a:latin typeface="微软雅黑" panose="020B0503020204020204" pitchFamily="34" charset="-122"/>
                <a:ea typeface="微软雅黑" panose="020B0503020204020204" pitchFamily="34" charset="-122"/>
              </a:rPr>
              <a:t>系统</a:t>
            </a:r>
            <a:endParaRPr lang="zh-CN" altLang="en-US" sz="2000" dirty="0">
              <a:latin typeface="微软雅黑" panose="020B0503020204020204" pitchFamily="34" charset="-122"/>
              <a:ea typeface="微软雅黑" panose="020B0503020204020204" pitchFamily="34" charset="-122"/>
            </a:endParaRPr>
          </a:p>
          <a:p>
            <a:pPr lvl="2"/>
            <a:r>
              <a:rPr lang="en-US" altLang="zh-CN" sz="2000" dirty="0">
                <a:solidFill>
                  <a:srgbClr val="DB25B4"/>
                </a:solidFill>
                <a:latin typeface="微软雅黑" panose="020B0503020204020204" pitchFamily="34" charset="-122"/>
                <a:ea typeface="微软雅黑" panose="020B0503020204020204" pitchFamily="34" charset="-122"/>
              </a:rPr>
              <a:t>1969</a:t>
            </a:r>
            <a:r>
              <a:rPr lang="zh-CN" altLang="en-US" sz="2000" dirty="0">
                <a:latin typeface="微软雅黑" panose="020B0503020204020204" pitchFamily="34" charset="-122"/>
                <a:ea typeface="微软雅黑" panose="020B0503020204020204" pitchFamily="34" charset="-122"/>
              </a:rPr>
              <a:t>年，美国 </a:t>
            </a:r>
            <a:r>
              <a:rPr lang="en-US" altLang="zh-CN" sz="2000" i="1" dirty="0">
                <a:latin typeface="微软雅黑" panose="020B0503020204020204" pitchFamily="34" charset="-122"/>
                <a:ea typeface="微软雅黑" panose="020B0503020204020204" pitchFamily="34" charset="-122"/>
              </a:rPr>
              <a:t>CODASYL </a:t>
            </a:r>
            <a:r>
              <a:rPr lang="zh-CN" altLang="en-US" sz="2000" dirty="0">
                <a:latin typeface="微软雅黑" panose="020B0503020204020204" pitchFamily="34" charset="-122"/>
                <a:ea typeface="微软雅黑" panose="020B0503020204020204" pitchFamily="34" charset="-122"/>
              </a:rPr>
              <a:t>组织发布了</a:t>
            </a:r>
            <a:r>
              <a:rPr lang="en-US" altLang="zh-CN" sz="2000" i="1" dirty="0">
                <a:latin typeface="微软雅黑" panose="020B0503020204020204" pitchFamily="34" charset="-122"/>
                <a:ea typeface="微软雅黑" panose="020B0503020204020204" pitchFamily="34" charset="-122"/>
              </a:rPr>
              <a:t>DBTG </a:t>
            </a:r>
            <a:r>
              <a:rPr lang="zh-CN" altLang="en-US" sz="2000" dirty="0">
                <a:latin typeface="微软雅黑" panose="020B0503020204020204" pitchFamily="34" charset="-122"/>
                <a:ea typeface="微软雅黑" panose="020B0503020204020204" pitchFamily="34" charset="-122"/>
              </a:rPr>
              <a:t>报告，对当时各式各样的数据库进行了总结，提出</a:t>
            </a:r>
            <a:r>
              <a:rPr lang="zh-CN" altLang="en-US" sz="2000" dirty="0">
                <a:solidFill>
                  <a:schemeClr val="accent2">
                    <a:lumMod val="50000"/>
                  </a:schemeClr>
                </a:solidFill>
                <a:latin typeface="微软雅黑" panose="020B0503020204020204" pitchFamily="34" charset="-122"/>
                <a:ea typeface="微软雅黑" panose="020B0503020204020204" pitchFamily="34" charset="-122"/>
              </a:rPr>
              <a:t>网状模型</a:t>
            </a:r>
            <a:endParaRPr lang="en-US" altLang="zh-CN" sz="2000" dirty="0">
              <a:solidFill>
                <a:schemeClr val="accent2">
                  <a:lumMod val="50000"/>
                </a:schemeClr>
              </a:solidFill>
              <a:latin typeface="微软雅黑" panose="020B0503020204020204" pitchFamily="34" charset="-122"/>
              <a:ea typeface="微软雅黑" panose="020B0503020204020204" pitchFamily="34" charset="-122"/>
            </a:endParaRPr>
          </a:p>
          <a:p>
            <a:pPr lvl="2"/>
            <a:r>
              <a:rPr lang="en-US" altLang="zh-CN" sz="2000" dirty="0">
                <a:solidFill>
                  <a:srgbClr val="DB25B4"/>
                </a:solidFill>
                <a:latin typeface="微软雅黑" panose="020B0503020204020204" pitchFamily="34" charset="-122"/>
                <a:ea typeface="微软雅黑" panose="020B0503020204020204" pitchFamily="34" charset="-122"/>
              </a:rPr>
              <a:t>1970</a:t>
            </a:r>
            <a:r>
              <a:rPr lang="zh-CN" altLang="en-US" sz="2000" dirty="0">
                <a:latin typeface="微软雅黑" panose="020B0503020204020204" pitchFamily="34" charset="-122"/>
                <a:ea typeface="微软雅黑" panose="020B0503020204020204" pitchFamily="34" charset="-122"/>
              </a:rPr>
              <a:t>年，美国 </a:t>
            </a:r>
            <a:r>
              <a:rPr lang="en-US" altLang="zh-CN" sz="2000" i="1" dirty="0">
                <a:latin typeface="微软雅黑" panose="020B0503020204020204" pitchFamily="34" charset="-122"/>
                <a:ea typeface="微软雅黑" panose="020B0503020204020204" pitchFamily="34" charset="-122"/>
              </a:rPr>
              <a:t>IBM </a:t>
            </a:r>
            <a:r>
              <a:rPr lang="zh-CN" altLang="en-US" sz="2000" dirty="0">
                <a:latin typeface="微软雅黑" panose="020B0503020204020204" pitchFamily="34" charset="-122"/>
                <a:ea typeface="微软雅黑" panose="020B0503020204020204" pitchFamily="34" charset="-122"/>
              </a:rPr>
              <a:t>公司的 </a:t>
            </a:r>
            <a:r>
              <a:rPr lang="en-US" altLang="zh-CN" sz="2000" i="1" dirty="0" err="1">
                <a:latin typeface="微软雅黑" panose="020B0503020204020204" pitchFamily="34" charset="-122"/>
                <a:ea typeface="微软雅黑" panose="020B0503020204020204" pitchFamily="34" charset="-122"/>
              </a:rPr>
              <a:t>E</a:t>
            </a:r>
            <a:r>
              <a:rPr lang="en-US" altLang="zh-CN" sz="2000" dirty="0" err="1">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F</a:t>
            </a:r>
            <a:r>
              <a:rPr lang="en-US" altLang="zh-CN" sz="2000" dirty="0" err="1">
                <a:latin typeface="微软雅黑" panose="020B0503020204020204" pitchFamily="34" charset="-122"/>
                <a:ea typeface="微软雅黑" panose="020B0503020204020204" pitchFamily="34" charset="-122"/>
              </a:rPr>
              <a:t>.</a:t>
            </a:r>
            <a:r>
              <a:rPr lang="en-US" altLang="zh-CN" sz="2000" i="1" dirty="0" err="1">
                <a:latin typeface="微软雅黑" panose="020B0503020204020204" pitchFamily="34" charset="-122"/>
                <a:ea typeface="微软雅黑" panose="020B0503020204020204" pitchFamily="34" charset="-122"/>
              </a:rPr>
              <a:t>Codd</a:t>
            </a:r>
            <a:r>
              <a:rPr lang="en-US" altLang="zh-CN" sz="2000" i="1"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连续发表论文，提出</a:t>
            </a:r>
            <a:r>
              <a:rPr lang="zh-CN" altLang="en-US" sz="2000" dirty="0">
                <a:solidFill>
                  <a:schemeClr val="accent2">
                    <a:lumMod val="50000"/>
                  </a:schemeClr>
                </a:solidFill>
                <a:latin typeface="微软雅黑" panose="020B0503020204020204" pitchFamily="34" charset="-122"/>
                <a:ea typeface="微软雅黑" panose="020B0503020204020204" pitchFamily="34" charset="-122"/>
              </a:rPr>
              <a:t>关系模型</a:t>
            </a:r>
            <a:r>
              <a:rPr lang="zh-CN" altLang="en-US" sz="2000" dirty="0">
                <a:latin typeface="微软雅黑" panose="020B0503020204020204" pitchFamily="34" charset="-122"/>
                <a:ea typeface="微软雅黑" panose="020B0503020204020204" pitchFamily="34" charset="-122"/>
              </a:rPr>
              <a:t>，奠定了关系数据库的理论基础</a:t>
            </a:r>
            <a:endParaRPr lang="zh-CN" altLang="en-US"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数据库系统阶段</a:t>
            </a:r>
            <a:endParaRPr lang="en-US" altLang="zh-CN" dirty="0"/>
          </a:p>
          <a:p>
            <a:pPr lvl="1"/>
            <a:r>
              <a:rPr lang="zh-CN" altLang="en-US" dirty="0"/>
              <a:t>背景</a:t>
            </a:r>
            <a:endParaRPr lang="en-US" altLang="zh-CN" dirty="0"/>
          </a:p>
          <a:p>
            <a:pPr lvl="2"/>
            <a:r>
              <a:rPr lang="zh-CN" altLang="en-US" dirty="0"/>
              <a:t>计算机管理的数据量大，关系复杂，共享性要求强</a:t>
            </a:r>
            <a:endParaRPr lang="zh-CN" altLang="en-US" dirty="0"/>
          </a:p>
          <a:p>
            <a:pPr lvl="2"/>
            <a:r>
              <a:rPr lang="zh-CN" altLang="en-US" dirty="0"/>
              <a:t>软、硬件技术的发展</a:t>
            </a:r>
            <a:endParaRPr lang="zh-CN" altLang="en-US" dirty="0"/>
          </a:p>
          <a:p>
            <a:pPr lvl="2"/>
            <a:r>
              <a:rPr lang="zh-CN" altLang="en-US" dirty="0"/>
              <a:t>文件系统的数据管理方法已很难适应开发应用系统的需要</a:t>
            </a:r>
            <a:endParaRPr lang="zh-CN" altLang="en-US" dirty="0"/>
          </a:p>
          <a:p>
            <a:pPr lvl="2"/>
            <a:r>
              <a:rPr lang="zh-CN" altLang="en-US" dirty="0"/>
              <a:t>出现了统一管理数据的专门软件系统，即数据库管理系统</a:t>
            </a:r>
            <a:endParaRPr lang="en-US" altLang="zh-CN" dirty="0"/>
          </a:p>
          <a:p>
            <a:pPr marL="914400" lvl="2" indent="0">
              <a:buNone/>
            </a:pPr>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graphicFrame>
        <p:nvGraphicFramePr>
          <p:cNvPr id="7" name="Object 4"/>
          <p:cNvGraphicFramePr/>
          <p:nvPr/>
        </p:nvGraphicFramePr>
        <p:xfrm>
          <a:off x="8307382" y="2043109"/>
          <a:ext cx="3554413" cy="3595688"/>
        </p:xfrm>
        <a:graphic>
          <a:graphicData uri="http://schemas.openxmlformats.org/presentationml/2006/ole">
            <mc:AlternateContent xmlns:mc="http://schemas.openxmlformats.org/markup-compatibility/2006">
              <mc:Choice xmlns:v="urn:schemas-microsoft-com:vml" Requires="v">
                <p:oleObj spid="_x0000_s0" name="" r:id="rId1" imgW="4560570" imgH="4560570" progId="Visio.Drawing.6">
                  <p:embed/>
                </p:oleObj>
              </mc:Choice>
              <mc:Fallback>
                <p:oleObj name="" r:id="rId1" imgW="4560570" imgH="4560570" progId="Visio.Drawing.6">
                  <p:embed/>
                  <p:pic>
                    <p:nvPicPr>
                      <p:cNvPr id="0" name="Object 4"/>
                      <p:cNvPicPr>
                        <a:picLocks noGrp="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7382" y="2043109"/>
                        <a:ext cx="3554413" cy="359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数据库系统阶段</a:t>
            </a:r>
            <a:endParaRPr lang="en-US" altLang="zh-CN" dirty="0"/>
          </a:p>
          <a:p>
            <a:pPr lvl="1"/>
            <a:r>
              <a:rPr lang="zh-CN" altLang="en-US" dirty="0"/>
              <a:t>特点</a:t>
            </a:r>
            <a:endParaRPr lang="zh-CN" altLang="en-US" dirty="0"/>
          </a:p>
          <a:p>
            <a:pPr lvl="2"/>
            <a:r>
              <a:rPr lang="zh-CN" altLang="en-US" dirty="0"/>
              <a:t>数据共享性好、冗余少</a:t>
            </a:r>
            <a:endParaRPr lang="zh-CN" altLang="en-US" dirty="0"/>
          </a:p>
          <a:p>
            <a:pPr lvl="2"/>
            <a:r>
              <a:rPr lang="zh-CN" altLang="en-US" dirty="0"/>
              <a:t>数据结构化</a:t>
            </a:r>
            <a:endParaRPr lang="zh-CN" altLang="en-US" dirty="0"/>
          </a:p>
          <a:p>
            <a:pPr lvl="2"/>
            <a:r>
              <a:rPr lang="zh-CN" altLang="en-US" dirty="0"/>
              <a:t>数据独立性高</a:t>
            </a:r>
            <a:endParaRPr lang="zh-CN" altLang="en-US" dirty="0"/>
          </a:p>
          <a:p>
            <a:pPr lvl="2"/>
            <a:r>
              <a:rPr lang="zh-CN" altLang="en-US" dirty="0"/>
              <a:t>有统一的数据控制功能，数据共享程度高</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数据库系统阶段</a:t>
            </a:r>
            <a:endParaRPr lang="en-US" altLang="zh-CN" dirty="0"/>
          </a:p>
          <a:p>
            <a:pPr lvl="1"/>
            <a:r>
              <a:rPr lang="zh-CN" altLang="en-US" dirty="0"/>
              <a:t>数据共享性好、冗余少</a:t>
            </a:r>
            <a:endParaRPr lang="en-US" altLang="zh-CN" dirty="0"/>
          </a:p>
          <a:p>
            <a:pPr lvl="2"/>
            <a:r>
              <a:rPr lang="zh-CN" altLang="en-US" dirty="0"/>
              <a:t>数据不再面向某个应用程序，而是面向整个系统。当前所有用户可同时存取数据库中的数据。数据库系统也不仅要描述数据本身，还要描述数据之间的</a:t>
            </a:r>
            <a:r>
              <a:rPr lang="zh-CN" altLang="en-US" u="sng" dirty="0"/>
              <a:t>联系</a:t>
            </a:r>
            <a:endParaRPr lang="zh-CN" altLang="en-US" u="sng" dirty="0"/>
          </a:p>
          <a:p>
            <a:pPr lvl="1"/>
            <a:r>
              <a:rPr lang="zh-CN" altLang="en-US" dirty="0"/>
              <a:t>数据结构化</a:t>
            </a:r>
            <a:endParaRPr lang="en-US" altLang="zh-CN" dirty="0"/>
          </a:p>
          <a:p>
            <a:pPr lvl="2"/>
            <a:r>
              <a:rPr lang="zh-CN" altLang="en-US" dirty="0"/>
              <a:t>按照一定的</a:t>
            </a:r>
            <a:r>
              <a:rPr lang="zh-CN" altLang="en-US" u="sng" dirty="0"/>
              <a:t>数据模型</a:t>
            </a:r>
            <a:r>
              <a:rPr lang="zh-CN" altLang="en-US" dirty="0"/>
              <a:t>，将各种数据组织到一个结构化的数据库中，数据库中的数据不再是一盘散沙</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数据库系统阶段</a:t>
            </a:r>
            <a:endParaRPr lang="en-US" altLang="zh-CN" dirty="0"/>
          </a:p>
          <a:p>
            <a:pPr lvl="1"/>
            <a:r>
              <a:rPr lang="zh-CN" altLang="en-US" dirty="0"/>
              <a:t>数据独立性高</a:t>
            </a:r>
            <a:endParaRPr lang="en-US" altLang="zh-CN" dirty="0"/>
          </a:p>
          <a:p>
            <a:pPr lvl="2"/>
            <a:r>
              <a:rPr lang="zh-CN" altLang="en-US" dirty="0">
                <a:latin typeface="仿宋_GB2312" pitchFamily="49" charset="-122"/>
              </a:rPr>
              <a:t>数据的独立性得到显著提高，包括</a:t>
            </a:r>
            <a:r>
              <a:rPr lang="zh-CN" altLang="en-US" dirty="0">
                <a:solidFill>
                  <a:schemeClr val="accent2">
                    <a:lumMod val="75000"/>
                  </a:schemeClr>
                </a:solidFill>
                <a:latin typeface="仿宋_GB2312" pitchFamily="49" charset="-122"/>
              </a:rPr>
              <a:t>逻辑独立性</a:t>
            </a:r>
            <a:r>
              <a:rPr lang="zh-CN" altLang="en-US" dirty="0">
                <a:latin typeface="仿宋_GB2312" pitchFamily="49" charset="-122"/>
              </a:rPr>
              <a:t>和</a:t>
            </a:r>
            <a:r>
              <a:rPr lang="zh-CN" altLang="en-US" dirty="0">
                <a:solidFill>
                  <a:schemeClr val="accent2">
                    <a:lumMod val="75000"/>
                  </a:schemeClr>
                </a:solidFill>
                <a:latin typeface="仿宋_GB2312" pitchFamily="49" charset="-122"/>
              </a:rPr>
              <a:t>物理独立性</a:t>
            </a:r>
            <a:endParaRPr lang="en-US" altLang="zh-CN" dirty="0">
              <a:solidFill>
                <a:schemeClr val="accent2">
                  <a:lumMod val="75000"/>
                </a:schemeClr>
              </a:solidFill>
              <a:latin typeface="仿宋_GB2312" pitchFamily="49" charset="-122"/>
            </a:endParaRPr>
          </a:p>
          <a:p>
            <a:pPr lvl="2"/>
            <a:r>
              <a:rPr lang="zh-CN" altLang="en-US" dirty="0">
                <a:latin typeface="仿宋_GB2312" pitchFamily="49" charset="-122"/>
              </a:rPr>
              <a:t>数据的逻辑独立性是指当数据的总体逻辑结构改变时，数据的局部逻辑结构不变，由于应用程序是依据数据的局部逻辑结构编写的，所以不必修改应用程序，这样保证了数据与程序间的逻辑独立性 </a:t>
            </a:r>
            <a:endParaRPr lang="zh-CN" altLang="en-US" dirty="0">
              <a:latin typeface="仿宋_GB2312" pitchFamily="49" charset="-122"/>
            </a:endParaRPr>
          </a:p>
          <a:p>
            <a:pPr lvl="2"/>
            <a:r>
              <a:rPr lang="zh-CN" altLang="en-US" dirty="0">
                <a:latin typeface="仿宋_GB2312" pitchFamily="49" charset="-122"/>
              </a:rPr>
              <a:t>数据的物理独立性是指当数据的存储结构改变时，数据的逻辑结构不变，当然更不必修改应用程序</a:t>
            </a:r>
            <a:endParaRPr lang="zh-CN" altLang="en-US" dirty="0">
              <a:latin typeface="仿宋_GB2312" pitchFamily="49" charset="-122"/>
            </a:endParaRPr>
          </a:p>
          <a:p>
            <a:pPr lvl="2"/>
            <a:endParaRPr lang="zh-CN" altLang="en-US" dirty="0">
              <a:latin typeface="仿宋_GB2312" pitchFamily="49" charset="-122"/>
            </a:endParaRPr>
          </a:p>
          <a:p>
            <a:pPr lvl="2"/>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dirty="0"/>
              <a:t>数据库系统阶段</a:t>
            </a:r>
            <a:endParaRPr lang="en-US" altLang="zh-CN" dirty="0"/>
          </a:p>
          <a:p>
            <a:pPr lvl="1"/>
            <a:r>
              <a:rPr lang="zh-CN" altLang="en-US" dirty="0"/>
              <a:t>统一的数据控制功能，数据共享程度高</a:t>
            </a:r>
            <a:endParaRPr lang="zh-CN" altLang="en-US" dirty="0"/>
          </a:p>
          <a:p>
            <a:pPr lvl="2"/>
            <a:r>
              <a:rPr lang="zh-CN" altLang="en-US" dirty="0"/>
              <a:t>数据的安全性控制（</a:t>
            </a:r>
            <a:r>
              <a:rPr lang="en-US" altLang="zh-CN" dirty="0"/>
              <a:t>Security</a:t>
            </a:r>
            <a:r>
              <a:rPr lang="zh-CN" altLang="en-US" dirty="0"/>
              <a:t>）</a:t>
            </a:r>
            <a:endParaRPr lang="en-US" altLang="zh-CN" dirty="0"/>
          </a:p>
          <a:p>
            <a:pPr lvl="3"/>
            <a:r>
              <a:rPr lang="zh-CN" altLang="en-US" dirty="0"/>
              <a:t>保护数据以防止不合法的使用所造成的数据泄露和破坏</a:t>
            </a:r>
            <a:endParaRPr lang="zh-CN" altLang="en-US" dirty="0"/>
          </a:p>
          <a:p>
            <a:pPr lvl="3"/>
            <a:r>
              <a:rPr lang="zh-CN" altLang="en-US" dirty="0"/>
              <a:t>措施：用户标识与鉴定，存取控制</a:t>
            </a:r>
            <a:endParaRPr lang="en-US" altLang="zh-CN" dirty="0"/>
          </a:p>
          <a:p>
            <a:pPr lvl="2"/>
            <a:r>
              <a:rPr lang="zh-CN" altLang="en-US" dirty="0"/>
              <a:t>数据的完整性控制（</a:t>
            </a:r>
            <a:r>
              <a:rPr lang="en-US" altLang="zh-CN" dirty="0"/>
              <a:t>Integrity</a:t>
            </a:r>
            <a:r>
              <a:rPr lang="zh-CN" altLang="en-US" dirty="0"/>
              <a:t>）</a:t>
            </a:r>
            <a:endParaRPr lang="en-US" altLang="zh-CN" dirty="0"/>
          </a:p>
          <a:p>
            <a:pPr lvl="3"/>
            <a:r>
              <a:rPr lang="zh-CN" altLang="en-US" dirty="0"/>
              <a:t>数据的正确性、有效性、相容性</a:t>
            </a:r>
            <a:endParaRPr lang="zh-CN" altLang="en-US" dirty="0"/>
          </a:p>
          <a:p>
            <a:pPr lvl="3"/>
            <a:r>
              <a:rPr lang="zh-CN" altLang="en-US" dirty="0"/>
              <a:t>措施：完整性约束条件定义和检查</a:t>
            </a:r>
            <a:endParaRPr lang="zh-CN" altLang="en-US" dirty="0"/>
          </a:p>
          <a:p>
            <a:pPr lvl="2"/>
            <a:r>
              <a:rPr lang="zh-CN" altLang="en-US" dirty="0"/>
              <a:t>并发控制（</a:t>
            </a:r>
            <a:r>
              <a:rPr lang="en-US" altLang="zh-CN" dirty="0"/>
              <a:t>Concurrency</a:t>
            </a:r>
            <a:r>
              <a:rPr lang="zh-CN" altLang="en-US" dirty="0"/>
              <a:t>）</a:t>
            </a:r>
            <a:endParaRPr lang="en-US" altLang="zh-CN" dirty="0"/>
          </a:p>
          <a:p>
            <a:pPr lvl="3"/>
            <a:r>
              <a:rPr lang="zh-CN" altLang="en-US" dirty="0"/>
              <a:t>对多用户的并发操作加以控制、协调，防止其互相干扰而得到错误的结果并使数据库完整性遭到破坏</a:t>
            </a:r>
            <a:endParaRPr lang="zh-CN" altLang="en-US" dirty="0"/>
          </a:p>
          <a:p>
            <a:pPr lvl="3"/>
            <a:r>
              <a:rPr lang="zh-CN" altLang="en-US" dirty="0"/>
              <a:t>措施：封锁</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数据库系统阶段</a:t>
            </a:r>
            <a:endParaRPr lang="en-US" altLang="zh-CN" dirty="0"/>
          </a:p>
          <a:p>
            <a:pPr lvl="1"/>
            <a:r>
              <a:rPr lang="zh-CN" altLang="en-US" dirty="0"/>
              <a:t>在数据库系统阶段，程序与数据之间的关系可用图</a:t>
            </a:r>
            <a:r>
              <a:rPr lang="en-US" altLang="zh-CN" dirty="0"/>
              <a:t>1-3</a:t>
            </a:r>
            <a:r>
              <a:rPr lang="zh-CN" altLang="en-US" dirty="0"/>
              <a:t>表示 </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sp>
        <p:nvSpPr>
          <p:cNvPr id="6" name="Rectangle 3"/>
          <p:cNvSpPr>
            <a:spLocks noChangeArrowheads="1"/>
          </p:cNvSpPr>
          <p:nvPr/>
        </p:nvSpPr>
        <p:spPr bwMode="auto">
          <a:xfrm>
            <a:off x="3110347" y="5896202"/>
            <a:ext cx="55338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ts val="700"/>
              </a:spcBef>
              <a:spcAft>
                <a:spcPts val="800"/>
              </a:spcAft>
              <a:buClrTx/>
              <a:buFontTx/>
              <a:buNone/>
            </a:pPr>
            <a:r>
              <a:rPr lang="zh-CN" altLang="en-US" sz="2000" dirty="0">
                <a:latin typeface="微软雅黑" panose="020B0503020204020204" pitchFamily="34" charset="-122"/>
                <a:ea typeface="微软雅黑" panose="020B0503020204020204" pitchFamily="34" charset="-122"/>
              </a:rPr>
              <a:t>图</a:t>
            </a:r>
            <a:r>
              <a:rPr lang="en-US" altLang="zh-CN" sz="2000" dirty="0">
                <a:latin typeface="微软雅黑" panose="020B0503020204020204" pitchFamily="34" charset="-122"/>
                <a:ea typeface="微软雅黑" panose="020B0503020204020204" pitchFamily="34" charset="-122"/>
              </a:rPr>
              <a:t>1-3 </a:t>
            </a:r>
            <a:r>
              <a:rPr lang="zh-CN" altLang="en-US" sz="2000" dirty="0">
                <a:latin typeface="微软雅黑" panose="020B0503020204020204" pitchFamily="34" charset="-122"/>
                <a:ea typeface="微软雅黑" panose="020B0503020204020204" pitchFamily="34" charset="-122"/>
              </a:rPr>
              <a:t>程序与数据之间的关系</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数据库系统阶段</a:t>
            </a:r>
            <a:r>
              <a:rPr lang="en-US" altLang="zh-CN" sz="2000" dirty="0">
                <a:latin typeface="微软雅黑" panose="020B0503020204020204" pitchFamily="34" charset="-122"/>
                <a:ea typeface="微软雅黑" panose="020B0503020204020204" pitchFamily="34" charset="-122"/>
              </a:rPr>
              <a:t>)</a:t>
            </a:r>
            <a:r>
              <a:rPr lang="en-US" altLang="zh-CN" sz="2000" dirty="0">
                <a:solidFill>
                  <a:srgbClr val="EE16DF"/>
                </a:solidFill>
                <a:latin typeface="微软雅黑" panose="020B0503020204020204" pitchFamily="34" charset="-122"/>
                <a:ea typeface="微软雅黑" panose="020B0503020204020204" pitchFamily="34" charset="-122"/>
              </a:rPr>
              <a:t> </a:t>
            </a:r>
            <a:endParaRPr lang="en-US" altLang="zh-CN" sz="2000" dirty="0">
              <a:solidFill>
                <a:srgbClr val="EE16DF"/>
              </a:solidFill>
              <a:latin typeface="微软雅黑" panose="020B0503020204020204" pitchFamily="34" charset="-122"/>
              <a:ea typeface="微软雅黑" panose="020B0503020204020204" pitchFamily="34" charset="-122"/>
            </a:endParaRPr>
          </a:p>
        </p:txBody>
      </p:sp>
      <p:grpSp>
        <p:nvGrpSpPr>
          <p:cNvPr id="7" name="Group 21"/>
          <p:cNvGrpSpPr/>
          <p:nvPr/>
        </p:nvGrpSpPr>
        <p:grpSpPr bwMode="auto">
          <a:xfrm>
            <a:off x="2880614" y="2887662"/>
            <a:ext cx="5632450" cy="2667000"/>
            <a:chOff x="916" y="1540"/>
            <a:chExt cx="3548" cy="1680"/>
          </a:xfrm>
        </p:grpSpPr>
        <p:sp>
          <p:nvSpPr>
            <p:cNvPr id="8" name="Rectangle 6"/>
            <p:cNvSpPr>
              <a:spLocks noChangeArrowheads="1"/>
            </p:cNvSpPr>
            <p:nvPr/>
          </p:nvSpPr>
          <p:spPr bwMode="auto">
            <a:xfrm>
              <a:off x="960" y="1540"/>
              <a:ext cx="816"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endParaRPr lang="zh-CN" altLang="zh-CN" sz="1800"/>
            </a:p>
          </p:txBody>
        </p:sp>
        <p:sp>
          <p:nvSpPr>
            <p:cNvPr id="9" name="Rectangle 7"/>
            <p:cNvSpPr>
              <a:spLocks noChangeArrowheads="1"/>
            </p:cNvSpPr>
            <p:nvPr/>
          </p:nvSpPr>
          <p:spPr bwMode="auto">
            <a:xfrm>
              <a:off x="960" y="2164"/>
              <a:ext cx="816"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0" name="Rectangle 8"/>
            <p:cNvSpPr>
              <a:spLocks noChangeArrowheads="1"/>
            </p:cNvSpPr>
            <p:nvPr/>
          </p:nvSpPr>
          <p:spPr bwMode="auto">
            <a:xfrm>
              <a:off x="960" y="2980"/>
              <a:ext cx="816" cy="240"/>
            </a:xfrm>
            <a:prstGeom prst="rect">
              <a:avLst/>
            </a:prstGeom>
            <a:noFill/>
            <a:ln w="9525">
              <a:solidFill>
                <a:schemeClr val="tx1"/>
              </a:solidFill>
              <a:miter lim="800000"/>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1" name="Rectangle 9"/>
            <p:cNvSpPr>
              <a:spLocks noChangeArrowheads="1"/>
            </p:cNvSpPr>
            <p:nvPr/>
          </p:nvSpPr>
          <p:spPr bwMode="auto">
            <a:xfrm>
              <a:off x="916" y="1540"/>
              <a:ext cx="8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1</a:t>
              </a:r>
              <a:endParaRPr lang="en-US" altLang="zh-CN" sz="2000" b="1"/>
            </a:p>
          </p:txBody>
        </p:sp>
        <p:sp>
          <p:nvSpPr>
            <p:cNvPr id="12" name="Rectangle 10"/>
            <p:cNvSpPr>
              <a:spLocks noChangeArrowheads="1"/>
            </p:cNvSpPr>
            <p:nvPr/>
          </p:nvSpPr>
          <p:spPr bwMode="auto">
            <a:xfrm>
              <a:off x="931" y="2164"/>
              <a:ext cx="8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2</a:t>
              </a:r>
              <a:endParaRPr lang="en-US" altLang="zh-CN" sz="2000" b="1"/>
            </a:p>
          </p:txBody>
        </p:sp>
        <p:sp>
          <p:nvSpPr>
            <p:cNvPr id="13" name="Rectangle 11"/>
            <p:cNvSpPr>
              <a:spLocks noChangeArrowheads="1"/>
            </p:cNvSpPr>
            <p:nvPr/>
          </p:nvSpPr>
          <p:spPr bwMode="auto">
            <a:xfrm>
              <a:off x="922" y="2970"/>
              <a:ext cx="85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应用程序</a:t>
              </a:r>
              <a:r>
                <a:rPr lang="en-US" altLang="zh-CN" sz="2000" b="1"/>
                <a:t>n</a:t>
              </a:r>
              <a:endParaRPr lang="en-US" altLang="zh-CN" sz="2000" b="1"/>
            </a:p>
          </p:txBody>
        </p:sp>
        <p:sp>
          <p:nvSpPr>
            <p:cNvPr id="14" name="Text Box 12"/>
            <p:cNvSpPr txBox="1">
              <a:spLocks noChangeArrowheads="1"/>
            </p:cNvSpPr>
            <p:nvPr/>
          </p:nvSpPr>
          <p:spPr bwMode="auto">
            <a:xfrm>
              <a:off x="1248" y="2500"/>
              <a:ext cx="289"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1"/>
                <a:t>……</a:t>
              </a:r>
              <a:endParaRPr lang="en-US" altLang="zh-CN" sz="1800" b="1"/>
            </a:p>
          </p:txBody>
        </p:sp>
        <p:sp>
          <p:nvSpPr>
            <p:cNvPr id="15" name="Line 13"/>
            <p:cNvSpPr>
              <a:spLocks noChangeShapeType="1"/>
            </p:cNvSpPr>
            <p:nvPr/>
          </p:nvSpPr>
          <p:spPr bwMode="auto">
            <a:xfrm>
              <a:off x="1776" y="1636"/>
              <a:ext cx="624"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1776" y="2260"/>
              <a:ext cx="480" cy="96"/>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p:cNvSpPr>
              <a:spLocks noChangeShapeType="1"/>
            </p:cNvSpPr>
            <p:nvPr/>
          </p:nvSpPr>
          <p:spPr bwMode="auto">
            <a:xfrm flipV="1">
              <a:off x="1776" y="2596"/>
              <a:ext cx="624" cy="52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Oval 16"/>
            <p:cNvSpPr>
              <a:spLocks noChangeArrowheads="1"/>
            </p:cNvSpPr>
            <p:nvPr/>
          </p:nvSpPr>
          <p:spPr bwMode="auto">
            <a:xfrm>
              <a:off x="2256" y="2068"/>
              <a:ext cx="912" cy="768"/>
            </a:xfrm>
            <a:prstGeom prst="ellipse">
              <a:avLst/>
            </a:prstGeom>
            <a:noFill/>
            <a:ln w="9525">
              <a:solidFill>
                <a:schemeClr val="tx1"/>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9" name="Rectangle 17"/>
            <p:cNvSpPr>
              <a:spLocks noChangeArrowheads="1"/>
            </p:cNvSpPr>
            <p:nvPr/>
          </p:nvSpPr>
          <p:spPr bwMode="auto">
            <a:xfrm>
              <a:off x="2225" y="2269"/>
              <a:ext cx="952"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0"/>
                </a:spcBef>
                <a:buClrTx/>
                <a:buFontTx/>
                <a:buNone/>
              </a:pPr>
              <a:r>
                <a:rPr lang="zh-CN" altLang="en-US" sz="2000" b="1"/>
                <a:t>数据库管理</a:t>
              </a:r>
              <a:endParaRPr lang="zh-CN" altLang="en-US" sz="2000" b="1"/>
            </a:p>
            <a:p>
              <a:pPr algn="r" eaLnBrk="1" hangingPunct="1">
                <a:spcBef>
                  <a:spcPct val="0"/>
                </a:spcBef>
                <a:buClrTx/>
                <a:buFontTx/>
                <a:buNone/>
              </a:pPr>
              <a:r>
                <a:rPr lang="zh-CN" altLang="en-US" sz="2000" b="1"/>
                <a:t> 系统</a:t>
              </a:r>
              <a:r>
                <a:rPr lang="en-US" altLang="zh-CN" sz="2000" b="1"/>
                <a:t>DBMS</a:t>
              </a:r>
              <a:endParaRPr lang="en-US" altLang="zh-CN" sz="2000" b="1"/>
            </a:p>
          </p:txBody>
        </p:sp>
        <p:sp>
          <p:nvSpPr>
            <p:cNvPr id="20" name="AutoShape 18"/>
            <p:cNvSpPr>
              <a:spLocks noChangeArrowheads="1"/>
            </p:cNvSpPr>
            <p:nvPr/>
          </p:nvSpPr>
          <p:spPr bwMode="auto">
            <a:xfrm>
              <a:off x="3840" y="1876"/>
              <a:ext cx="624" cy="1104"/>
            </a:xfrm>
            <a:prstGeom prst="flowChartMagneticDisk">
              <a:avLst/>
            </a:prstGeom>
            <a:noFill/>
            <a:ln w="9525">
              <a:solidFill>
                <a:schemeClr val="tx1"/>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2000" b="1"/>
                <a:t>数据库</a:t>
              </a:r>
              <a:endParaRPr lang="zh-CN" altLang="en-US" sz="2000" b="1"/>
            </a:p>
          </p:txBody>
        </p:sp>
        <p:sp>
          <p:nvSpPr>
            <p:cNvPr id="21" name="Line 19"/>
            <p:cNvSpPr>
              <a:spLocks noChangeShapeType="1"/>
            </p:cNvSpPr>
            <p:nvPr/>
          </p:nvSpPr>
          <p:spPr bwMode="auto">
            <a:xfrm>
              <a:off x="3168" y="2452"/>
              <a:ext cx="6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数据管理各阶段的比较</a:t>
            </a:r>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graphicFrame>
        <p:nvGraphicFramePr>
          <p:cNvPr id="6" name="Group 52"/>
          <p:cNvGraphicFramePr/>
          <p:nvPr/>
        </p:nvGraphicFramePr>
        <p:xfrm>
          <a:off x="1943820" y="1898648"/>
          <a:ext cx="8359775" cy="4457702"/>
        </p:xfrm>
        <a:graphic>
          <a:graphicData uri="http://schemas.openxmlformats.org/drawingml/2006/table">
            <a:tbl>
              <a:tblPr/>
              <a:tblGrid>
                <a:gridCol w="387350"/>
                <a:gridCol w="1238250"/>
                <a:gridCol w="2393950"/>
                <a:gridCol w="2368550"/>
                <a:gridCol w="1971675"/>
              </a:tblGrid>
              <a:tr h="396210">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zh-CN"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人工管理阶段</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文件系统阶段</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数据库系统阶段</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2928">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产生背景</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应用需求</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科学计算</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科学计算</a:t>
                      </a: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信息管理</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大规模管理</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9926">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硬件水平</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无直接存储设备</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磁盘</a:t>
                      </a: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磁鼓</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大容量磁盘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80808">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软件水平</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没有操作系统和管理数据软件</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高级语言和操作系统（有文件系统）</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有数据库管理系统</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5810">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处理方式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批处理</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联机实时处理、批处理</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联机实时处理，分批处理，批处理</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010">
                <a:tc rowSpan="2">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特点</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数据的管理者</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应用程序，数据不保存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文件系统，数据可长期保存</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数据库管理系统</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1010">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数据面向的对象</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某一应用程序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某一应用程序</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现实世界</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05" marB="45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数据管理各阶段的比较</a:t>
            </a:r>
            <a:endParaRPr lang="zh-CN" altLang="en-US" dirty="0"/>
          </a:p>
        </p:txBody>
      </p:sp>
      <p:sp>
        <p:nvSpPr>
          <p:cNvPr id="5" name="标题 4"/>
          <p:cNvSpPr>
            <a:spLocks noGrp="1"/>
          </p:cNvSpPr>
          <p:nvPr>
            <p:ph type="title"/>
          </p:nvPr>
        </p:nvSpPr>
        <p:spPr/>
        <p:txBody>
          <a:bodyPr/>
          <a:lstStyle/>
          <a:p>
            <a:r>
              <a:rPr kumimoji="1" lang="en-US" altLang="zh-CN" dirty="0"/>
              <a:t>1.1 </a:t>
            </a:r>
            <a:r>
              <a:rPr kumimoji="1" lang="zh-CN" altLang="en-US" dirty="0"/>
              <a:t>数据管理技术的发展</a:t>
            </a:r>
            <a:endParaRPr lang="zh-CN" altLang="en-US" dirty="0"/>
          </a:p>
        </p:txBody>
      </p:sp>
      <p:graphicFrame>
        <p:nvGraphicFramePr>
          <p:cNvPr id="7" name="Group 40"/>
          <p:cNvGraphicFramePr/>
          <p:nvPr/>
        </p:nvGraphicFramePr>
        <p:xfrm>
          <a:off x="631956" y="1897681"/>
          <a:ext cx="10983503" cy="4458669"/>
        </p:xfrm>
        <a:graphic>
          <a:graphicData uri="http://schemas.openxmlformats.org/drawingml/2006/table">
            <a:tbl>
              <a:tblPr/>
              <a:tblGrid>
                <a:gridCol w="580967"/>
                <a:gridCol w="1796254"/>
                <a:gridCol w="3046730"/>
                <a:gridCol w="2544802"/>
                <a:gridCol w="3014750"/>
              </a:tblGrid>
              <a:tr h="652309">
                <a:tc rowSpan="5">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特点</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数据的共享程度</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无共享、冗余度极大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共享性差，冗余度大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共享性好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0109">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数据的独立性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不独立，完全依赖于程序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记录内有结构，整体无结构，独立性差</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高度的物理独立性和一定的逻辑独立性</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35922">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数据的结构化</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无结构</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若数据的逻辑结构改变则必须修改应用程序</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采用数据模型表示复杂的数据结构，整体结构化</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267391">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数据控制能力</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应用程序自己控制</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应用程序自己控制</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由</a:t>
                      </a:r>
                      <a:r>
                        <a:rPr kumimoji="0" lang="en-US" altLang="zh-CN" sz="2000" b="0" i="1" u="none" strike="noStrike" cap="none" normalizeH="0" baseline="0">
                          <a:ln>
                            <a:noFill/>
                          </a:ln>
                          <a:solidFill>
                            <a:schemeClr val="tx1"/>
                          </a:solidFill>
                          <a:effectLst/>
                          <a:latin typeface="Arial" panose="020B0604020202020204" pitchFamily="34" charset="0"/>
                          <a:ea typeface="宋体" panose="02010600030101010101" pitchFamily="2" charset="-122"/>
                        </a:rPr>
                        <a:t>DBMS</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统一管理和控制，提供数据库的并发控制，数据库的恢复，数据的完整性和数据安全性等	</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95586">
                <a:tc vMerge="1">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用户接口</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无</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无</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数据库系统为用户提供方便的用户接口</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t>数据库系统的定义</a:t>
            </a:r>
            <a:endParaRPr lang="en-US" altLang="zh-CN" sz="2800" dirty="0"/>
          </a:p>
          <a:p>
            <a:pPr lvl="1"/>
            <a:r>
              <a:rPr lang="zh-CN" altLang="en-US" b="0" u="sng" dirty="0"/>
              <a:t>数据库系统（</a:t>
            </a:r>
            <a:r>
              <a:rPr lang="en-US" altLang="zh-CN" b="0" u="sng" dirty="0"/>
              <a:t>DBS</a:t>
            </a:r>
            <a:r>
              <a:rPr lang="zh-CN" altLang="en-US" b="0" u="sng" dirty="0"/>
              <a:t>）</a:t>
            </a:r>
            <a:r>
              <a:rPr lang="zh-CN" altLang="en-US" b="0" dirty="0"/>
              <a:t>通常是指数据库和相应的软硬件系统。主要由</a:t>
            </a:r>
            <a:r>
              <a:rPr lang="zh-CN" altLang="en-US" b="0" dirty="0">
                <a:solidFill>
                  <a:schemeClr val="accent2">
                    <a:lumMod val="75000"/>
                  </a:schemeClr>
                </a:solidFill>
              </a:rPr>
              <a:t>数据库</a:t>
            </a:r>
            <a:r>
              <a:rPr lang="zh-CN" altLang="en-US" b="0" dirty="0"/>
              <a:t>、</a:t>
            </a:r>
            <a:r>
              <a:rPr lang="zh-CN" altLang="en-US" b="0" dirty="0">
                <a:solidFill>
                  <a:schemeClr val="accent2">
                    <a:lumMod val="75000"/>
                  </a:schemeClr>
                </a:solidFill>
              </a:rPr>
              <a:t>数据库管理系统</a:t>
            </a:r>
            <a:r>
              <a:rPr lang="zh-CN" altLang="en-US" b="0" dirty="0"/>
              <a:t>以及各类</a:t>
            </a:r>
            <a:r>
              <a:rPr lang="zh-CN" altLang="en-US" b="0" dirty="0">
                <a:solidFill>
                  <a:schemeClr val="accent2">
                    <a:lumMod val="75000"/>
                  </a:schemeClr>
                </a:solidFill>
              </a:rPr>
              <a:t>数据库用户</a:t>
            </a:r>
            <a:r>
              <a:rPr lang="zh-CN" altLang="en-US" b="0" dirty="0"/>
              <a:t>三大部分，系统的组成结构如图所示</a:t>
            </a:r>
            <a:endParaRPr lang="zh-CN" altLang="en-US" b="0" dirty="0"/>
          </a:p>
          <a:p>
            <a:endParaRPr lang="zh-CN" altLang="en-US" dirty="0"/>
          </a:p>
        </p:txBody>
      </p:sp>
      <p:sp>
        <p:nvSpPr>
          <p:cNvPr id="5" name="标题 4"/>
          <p:cNvSpPr>
            <a:spLocks noGrp="1"/>
          </p:cNvSpPr>
          <p:nvPr>
            <p:ph type="title"/>
          </p:nvPr>
        </p:nvSpPr>
        <p:spPr/>
        <p:txBody>
          <a:bodyPr/>
          <a:lstStyle/>
          <a:p>
            <a:r>
              <a:rPr kumimoji="1" lang="en-US" altLang="zh-CN" dirty="0"/>
              <a:t>1.2 </a:t>
            </a:r>
            <a:r>
              <a:rPr kumimoji="1" lang="zh-CN" altLang="en-US" dirty="0"/>
              <a:t>数据库系统</a:t>
            </a:r>
            <a:endParaRPr lang="zh-CN" altLang="en-US" dirty="0"/>
          </a:p>
        </p:txBody>
      </p:sp>
      <p:graphicFrame>
        <p:nvGraphicFramePr>
          <p:cNvPr id="8" name="Object 4"/>
          <p:cNvGraphicFramePr>
            <a:graphicFrameLocks noChangeAspect="1"/>
          </p:cNvGraphicFramePr>
          <p:nvPr/>
        </p:nvGraphicFramePr>
        <p:xfrm>
          <a:off x="1188919" y="3429000"/>
          <a:ext cx="9869577" cy="2376487"/>
        </p:xfrm>
        <a:graphic>
          <a:graphicData uri="http://schemas.openxmlformats.org/presentationml/2006/ole">
            <mc:AlternateContent xmlns:mc="http://schemas.openxmlformats.org/markup-compatibility/2006">
              <mc:Choice xmlns:v="urn:schemas-microsoft-com:vml" Requires="v">
                <p:oleObj spid="_x0000_s0" name="Visio" r:id="rId1" imgW="4243705" imgH="914400" progId="Visio.Drawing.6">
                  <p:embed/>
                </p:oleObj>
              </mc:Choice>
              <mc:Fallback>
                <p:oleObj name="Visio" r:id="rId1" imgW="4243705" imgH="914400" progId="Visio.Drawing.6">
                  <p:embed/>
                  <p:pic>
                    <p:nvPicPr>
                      <p:cNvPr id="0" name="Object 4"/>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8919" y="3429000"/>
                        <a:ext cx="9869577" cy="2376487"/>
                      </a:xfrm>
                      <a:prstGeom prst="rect">
                        <a:avLst/>
                      </a:prstGeom>
                      <a:noFill/>
                      <a:ln>
                        <a:noFill/>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数据库系统的组成</a:t>
            </a:r>
            <a:endParaRPr lang="en-US" altLang="zh-CN" dirty="0"/>
          </a:p>
          <a:p>
            <a:pPr lvl="1"/>
            <a:r>
              <a:rPr lang="zh-CN" altLang="en-US" dirty="0">
                <a:solidFill>
                  <a:schemeClr val="accent2">
                    <a:lumMod val="75000"/>
                  </a:schemeClr>
                </a:solidFill>
                <a:latin typeface="宋体" panose="02010600030101010101" pitchFamily="2" charset="-122"/>
              </a:rPr>
              <a:t>数据库</a:t>
            </a:r>
            <a:r>
              <a:rPr lang="zh-CN" altLang="en-US" dirty="0">
                <a:latin typeface="宋体" panose="02010600030101010101" pitchFamily="2" charset="-122"/>
              </a:rPr>
              <a:t>是一个</a:t>
            </a:r>
            <a:r>
              <a:rPr lang="zh-CN" altLang="en-US" u="sng" dirty="0">
                <a:latin typeface="宋体" panose="02010600030101010101" pitchFamily="2" charset="-122"/>
              </a:rPr>
              <a:t>统一管理</a:t>
            </a:r>
            <a:r>
              <a:rPr lang="zh-CN" altLang="en-US" dirty="0">
                <a:latin typeface="宋体" panose="02010600030101010101" pitchFamily="2" charset="-122"/>
              </a:rPr>
              <a:t>的</a:t>
            </a:r>
            <a:r>
              <a:rPr lang="zh-CN" altLang="en-US" u="sng" dirty="0">
                <a:latin typeface="宋体" panose="02010600030101010101" pitchFamily="2" charset="-122"/>
              </a:rPr>
              <a:t>持久存储</a:t>
            </a:r>
            <a:r>
              <a:rPr lang="zh-CN" altLang="en-US" dirty="0">
                <a:latin typeface="宋体" panose="02010600030101010101" pitchFamily="2" charset="-122"/>
              </a:rPr>
              <a:t>的</a:t>
            </a:r>
            <a:r>
              <a:rPr lang="zh-CN" altLang="en-US" u="sng" dirty="0">
                <a:latin typeface="宋体" panose="02010600030101010101" pitchFamily="2" charset="-122"/>
              </a:rPr>
              <a:t>数据集合</a:t>
            </a:r>
            <a:r>
              <a:rPr lang="en-US" altLang="zh-CN" dirty="0">
                <a:latin typeface="宋体" panose="02010600030101010101" pitchFamily="2" charset="-122"/>
              </a:rPr>
              <a:t>; or:</a:t>
            </a:r>
            <a:r>
              <a:rPr lang="zh-CN" altLang="en-US" sz="2400" dirty="0">
                <a:solidFill>
                  <a:srgbClr val="C00000"/>
                </a:solidFill>
              </a:rPr>
              <a:t>长期储存</a:t>
            </a:r>
            <a:r>
              <a:rPr lang="zh-CN" altLang="en-US" sz="2400" dirty="0">
                <a:solidFill>
                  <a:srgbClr val="000000"/>
                </a:solidFill>
              </a:rPr>
              <a:t>在计算机内、</a:t>
            </a:r>
            <a:r>
              <a:rPr lang="zh-CN" altLang="en-US" sz="2400" dirty="0">
                <a:solidFill>
                  <a:srgbClr val="C00000"/>
                </a:solidFill>
              </a:rPr>
              <a:t>有组织</a:t>
            </a:r>
            <a:r>
              <a:rPr lang="zh-CN" altLang="en-US" sz="2400" dirty="0">
                <a:solidFill>
                  <a:srgbClr val="000000"/>
                </a:solidFill>
              </a:rPr>
              <a:t>的、</a:t>
            </a:r>
            <a:r>
              <a:rPr lang="zh-CN" altLang="en-US" sz="2400" dirty="0">
                <a:solidFill>
                  <a:srgbClr val="C00000"/>
                </a:solidFill>
              </a:rPr>
              <a:t>可共享</a:t>
            </a:r>
            <a:r>
              <a:rPr lang="zh-CN" altLang="en-US" sz="2400" dirty="0">
                <a:solidFill>
                  <a:srgbClr val="000000"/>
                </a:solidFill>
              </a:rPr>
              <a:t>的</a:t>
            </a:r>
            <a:r>
              <a:rPr lang="zh-CN" altLang="en-US" sz="2400" dirty="0">
                <a:solidFill>
                  <a:srgbClr val="C00000"/>
                </a:solidFill>
              </a:rPr>
              <a:t>大量</a:t>
            </a:r>
            <a:r>
              <a:rPr lang="zh-CN" altLang="en-US" sz="2400" dirty="0">
                <a:solidFill>
                  <a:srgbClr val="000000"/>
                </a:solidFill>
              </a:rPr>
              <a:t>数据的集合。</a:t>
            </a:r>
            <a:endParaRPr lang="en-US" altLang="zh-CN" dirty="0">
              <a:latin typeface="宋体" panose="02010600030101010101" pitchFamily="2" charset="-122"/>
            </a:endParaRPr>
          </a:p>
          <a:p>
            <a:pPr lvl="1"/>
            <a:r>
              <a:rPr lang="zh-CN" altLang="en-US" dirty="0">
                <a:latin typeface="宋体" panose="02010600030101010101" pitchFamily="2" charset="-122"/>
              </a:rPr>
              <a:t>这些数据应用于某个应用系统中</a:t>
            </a:r>
            <a:endParaRPr lang="en-US" altLang="zh-CN" dirty="0">
              <a:latin typeface="宋体" panose="02010600030101010101" pitchFamily="2" charset="-122"/>
            </a:endParaRPr>
          </a:p>
          <a:p>
            <a:pPr lvl="2"/>
            <a:r>
              <a:rPr lang="zh-CN" altLang="en-US" dirty="0">
                <a:latin typeface="宋体" panose="02010600030101010101" pitchFamily="2" charset="-122"/>
              </a:rPr>
              <a:t>描述了现实世界的某些方面</a:t>
            </a:r>
            <a:endParaRPr lang="zh-CN" altLang="en-US" dirty="0">
              <a:latin typeface="宋体" panose="02010600030101010101" pitchFamily="2" charset="-122"/>
            </a:endParaRPr>
          </a:p>
          <a:p>
            <a:pPr lvl="2"/>
            <a:r>
              <a:rPr lang="zh-CN" altLang="en-US" dirty="0">
                <a:latin typeface="宋体" panose="02010600030101010101" pitchFamily="2" charset="-122"/>
              </a:rPr>
              <a:t>数据间联系密切，具有最小的冗余度和较高的独立性</a:t>
            </a:r>
            <a:endParaRPr lang="zh-CN" altLang="en-US" dirty="0">
              <a:latin typeface="宋体" panose="02010600030101010101" pitchFamily="2" charset="-122"/>
            </a:endParaRPr>
          </a:p>
          <a:p>
            <a:pPr lvl="2"/>
            <a:r>
              <a:rPr lang="zh-CN" altLang="en-US" dirty="0">
                <a:latin typeface="宋体" panose="02010600030101010101" pitchFamily="2" charset="-122"/>
              </a:rPr>
              <a:t>服务于某个特定的应用</a:t>
            </a:r>
            <a:endParaRPr lang="zh-CN" altLang="en-US" dirty="0">
              <a:latin typeface="宋体" panose="02010600030101010101" pitchFamily="2" charset="-122"/>
            </a:endParaRPr>
          </a:p>
          <a:p>
            <a:pPr lvl="2"/>
            <a:r>
              <a:rPr lang="zh-CN" altLang="en-US" dirty="0">
                <a:latin typeface="宋体" panose="02010600030101010101" pitchFamily="2" charset="-122"/>
              </a:rPr>
              <a:t>可被多用户共享使用</a:t>
            </a:r>
            <a:endParaRPr lang="zh-CN" altLang="en-US" dirty="0">
              <a:latin typeface="宋体" panose="02010600030101010101" pitchFamily="2" charset="-122"/>
            </a:endParaRPr>
          </a:p>
          <a:p>
            <a:pPr lvl="2"/>
            <a:endParaRPr lang="zh-CN" altLang="en-US" dirty="0">
              <a:latin typeface="宋体" panose="02010600030101010101" pitchFamily="2" charset="-122"/>
            </a:endParaRPr>
          </a:p>
          <a:p>
            <a:pPr lvl="1"/>
            <a:endParaRPr lang="zh-CN" altLang="en-US" dirty="0"/>
          </a:p>
        </p:txBody>
      </p:sp>
      <p:sp>
        <p:nvSpPr>
          <p:cNvPr id="5" name="标题 4"/>
          <p:cNvSpPr>
            <a:spLocks noGrp="1"/>
          </p:cNvSpPr>
          <p:nvPr>
            <p:ph type="title"/>
          </p:nvPr>
        </p:nvSpPr>
        <p:spPr/>
        <p:txBody>
          <a:bodyPr/>
          <a:lstStyle/>
          <a:p>
            <a:r>
              <a:rPr kumimoji="1" lang="en-US" altLang="zh-CN" dirty="0"/>
              <a:t>1.2 </a:t>
            </a:r>
            <a:r>
              <a:rPr kumimoji="1" lang="zh-CN" altLang="en-US" dirty="0"/>
              <a:t>数据库系统</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数据库系统的组成</a:t>
            </a:r>
            <a:endParaRPr lang="en-US" altLang="zh-CN" dirty="0"/>
          </a:p>
          <a:p>
            <a:pPr lvl="1"/>
            <a:r>
              <a:rPr lang="zh-CN" altLang="en-US" dirty="0"/>
              <a:t>数据库系统用户</a:t>
            </a:r>
            <a:endParaRPr lang="zh-CN" altLang="en-US" dirty="0"/>
          </a:p>
          <a:p>
            <a:pPr lvl="2"/>
            <a:r>
              <a:rPr lang="zh-CN" altLang="en-US" dirty="0"/>
              <a:t>数据库管理员（</a:t>
            </a:r>
            <a:r>
              <a:rPr lang="en-US" altLang="zh-CN" dirty="0" err="1"/>
              <a:t>DataBase</a:t>
            </a:r>
            <a:r>
              <a:rPr lang="en-US" altLang="zh-CN" dirty="0"/>
              <a:t> Administrator</a:t>
            </a:r>
            <a:r>
              <a:rPr lang="zh-CN" altLang="en-US" dirty="0"/>
              <a:t>，简称</a:t>
            </a:r>
            <a:r>
              <a:rPr lang="en-US" altLang="zh-CN" dirty="0"/>
              <a:t>DBA</a:t>
            </a:r>
            <a:r>
              <a:rPr lang="zh-CN" altLang="en-US" dirty="0"/>
              <a:t>）：全面负责数据库系统的“管理、维护和正常使用的”人员</a:t>
            </a:r>
            <a:endParaRPr lang="zh-CN" altLang="en-US" dirty="0"/>
          </a:p>
          <a:p>
            <a:pPr lvl="2"/>
            <a:r>
              <a:rPr lang="zh-CN" altLang="en-US" dirty="0"/>
              <a:t>终端用户：指最终用户。通过应用系统的用户接口使用数据库。常用的接口方式有浏览器、菜单驱动、表格操作、图形显示、报表书写等，给用户提供简明直观的数据表示</a:t>
            </a:r>
            <a:endParaRPr lang="zh-CN" altLang="en-US" dirty="0"/>
          </a:p>
          <a:p>
            <a:pPr lvl="2"/>
            <a:r>
              <a:rPr lang="zh-CN" altLang="en-US" dirty="0"/>
              <a:t>应用程序员：负责设计和编写应用系统的程序模块，并进行调试和安装</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1.2 </a:t>
            </a:r>
            <a:r>
              <a:rPr kumimoji="1" lang="zh-CN" altLang="en-US" dirty="0"/>
              <a:t>数据库系统</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数据库管理系统（</a:t>
            </a:r>
            <a:r>
              <a:rPr lang="en-US" altLang="zh-CN" b="0" dirty="0"/>
              <a:t>DBMS</a:t>
            </a:r>
            <a:r>
              <a:rPr lang="zh-CN" altLang="en-US" b="0" dirty="0"/>
              <a:t>）是指数据库系统中对数据进行管理的软件系统，是数据库系统的核心组成部分</a:t>
            </a:r>
            <a:endParaRPr lang="zh-CN" altLang="en-US" b="0" dirty="0"/>
          </a:p>
          <a:p>
            <a:r>
              <a:rPr lang="en-US" altLang="zh-CN" b="0" dirty="0"/>
              <a:t>DBMS</a:t>
            </a:r>
            <a:r>
              <a:rPr lang="zh-CN" altLang="en-US" b="0" dirty="0"/>
              <a:t>介于用户和操作系统之间，是一种通用的系统软件</a:t>
            </a:r>
            <a:endParaRPr lang="zh-CN" altLang="en-US" b="0" dirty="0"/>
          </a:p>
          <a:p>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lstStyle/>
          <a:p>
            <a:r>
              <a:rPr lang="en-US" altLang="zh-CN" dirty="0"/>
              <a:t>DBMS</a:t>
            </a:r>
            <a:r>
              <a:rPr lang="zh-CN" altLang="en-US" dirty="0"/>
              <a:t>的主要功能</a:t>
            </a:r>
            <a:endParaRPr lang="en-US" altLang="zh-CN" dirty="0"/>
          </a:p>
          <a:p>
            <a:pPr lvl="1"/>
            <a:r>
              <a:rPr lang="zh-CN" altLang="en-US" dirty="0"/>
              <a:t>提供各类用户接口</a:t>
            </a:r>
            <a:endParaRPr lang="en-US" altLang="zh-CN" dirty="0"/>
          </a:p>
          <a:p>
            <a:pPr lvl="2"/>
            <a:r>
              <a:rPr lang="zh-CN" altLang="en-US" dirty="0"/>
              <a:t>程序员用户</a:t>
            </a:r>
            <a:endParaRPr lang="zh-CN" altLang="en-US" dirty="0"/>
          </a:p>
          <a:p>
            <a:pPr lvl="2"/>
            <a:r>
              <a:rPr lang="zh-CN" altLang="en-US" dirty="0"/>
              <a:t>终端用户</a:t>
            </a:r>
            <a:endParaRPr lang="zh-CN" altLang="en-US" dirty="0"/>
          </a:p>
          <a:p>
            <a:pPr lvl="2"/>
            <a:r>
              <a:rPr lang="zh-CN" altLang="en-US" dirty="0"/>
              <a:t>数据库管理员</a:t>
            </a:r>
            <a:endParaRPr lang="en-US" altLang="zh-CN" dirty="0"/>
          </a:p>
          <a:p>
            <a:pPr lvl="1"/>
            <a:r>
              <a:rPr lang="zh-CN" altLang="en-US" dirty="0"/>
              <a:t>数据目录管理</a:t>
            </a:r>
            <a:endParaRPr lang="zh-CN" altLang="en-US" dirty="0"/>
          </a:p>
        </p:txBody>
      </p:sp>
      <p:sp>
        <p:nvSpPr>
          <p:cNvPr id="5" name="内容占位符 4"/>
          <p:cNvSpPr>
            <a:spLocks noGrp="1"/>
          </p:cNvSpPr>
          <p:nvPr>
            <p:ph sz="half" idx="13"/>
          </p:nvPr>
        </p:nvSpPr>
        <p:spPr/>
        <p:txBody>
          <a:bodyPr/>
          <a:lstStyle/>
          <a:p>
            <a:endParaRPr lang="en-US" altLang="zh-CN" dirty="0"/>
          </a:p>
          <a:p>
            <a:pPr lvl="1"/>
            <a:r>
              <a:rPr lang="zh-CN" altLang="en-US" dirty="0"/>
              <a:t>数据库的运行管理</a:t>
            </a:r>
            <a:endParaRPr lang="zh-CN" altLang="en-US" dirty="0"/>
          </a:p>
          <a:p>
            <a:pPr lvl="2"/>
            <a:r>
              <a:rPr lang="zh-CN" altLang="en-US" dirty="0"/>
              <a:t>安全性</a:t>
            </a:r>
            <a:endParaRPr lang="zh-CN" altLang="en-US" dirty="0"/>
          </a:p>
          <a:p>
            <a:pPr lvl="2"/>
            <a:r>
              <a:rPr lang="zh-CN" altLang="en-US" dirty="0"/>
              <a:t>完整性</a:t>
            </a:r>
            <a:endParaRPr lang="zh-CN" altLang="en-US" dirty="0"/>
          </a:p>
          <a:p>
            <a:pPr lvl="2"/>
            <a:r>
              <a:rPr lang="zh-CN" altLang="en-US" dirty="0"/>
              <a:t>并发控制</a:t>
            </a:r>
            <a:endParaRPr lang="zh-CN" altLang="en-US" dirty="0"/>
          </a:p>
          <a:p>
            <a:pPr lvl="2"/>
            <a:r>
              <a:rPr lang="zh-CN" altLang="en-US" dirty="0"/>
              <a:t>故障恢复</a:t>
            </a:r>
            <a:endParaRPr lang="zh-CN" altLang="en-US" dirty="0"/>
          </a:p>
          <a:p>
            <a:pPr lvl="2"/>
            <a:r>
              <a:rPr lang="zh-CN" altLang="en-US" dirty="0"/>
              <a:t>查询优化</a:t>
            </a:r>
            <a:endParaRPr lang="zh-CN" altLang="en-US" dirty="0"/>
          </a:p>
          <a:p>
            <a:pPr lvl="1"/>
            <a:endParaRPr lang="zh-CN" altLang="en-US" dirty="0"/>
          </a:p>
        </p:txBody>
      </p:sp>
      <p:sp>
        <p:nvSpPr>
          <p:cNvPr id="6" name="标题 5"/>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800" b="1" dirty="0"/>
              <a:t>DBMS</a:t>
            </a:r>
            <a:r>
              <a:rPr lang="zh-CN" altLang="en-US" sz="2800" b="1" dirty="0"/>
              <a:t>体系结构</a:t>
            </a:r>
            <a:endParaRPr lang="en-US" altLang="zh-CN" sz="2800" b="1" dirty="0"/>
          </a:p>
          <a:p>
            <a:pPr lvl="1"/>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作为数据库系统的核心，所有访问数据库的请求都由</a:t>
            </a:r>
            <a:r>
              <a:rPr lang="en-US" altLang="zh-CN" dirty="0">
                <a:latin typeface="微软雅黑" panose="020B0503020204020204" pitchFamily="34" charset="-122"/>
                <a:ea typeface="微软雅黑" panose="020B0503020204020204" pitchFamily="34" charset="-122"/>
              </a:rPr>
              <a:t>DBMS</a:t>
            </a:r>
            <a:r>
              <a:rPr lang="zh-CN" altLang="en-US" dirty="0">
                <a:latin typeface="微软雅黑" panose="020B0503020204020204" pitchFamily="34" charset="-122"/>
                <a:ea typeface="微软雅黑" panose="020B0503020204020204" pitchFamily="34" charset="-122"/>
              </a:rPr>
              <a:t>来处理</a:t>
            </a:r>
            <a:endParaRPr lang="zh-CN" altLang="en-US" dirty="0">
              <a:latin typeface="微软雅黑" panose="020B0503020204020204" pitchFamily="34" charset="-122"/>
              <a:ea typeface="微软雅黑" panose="020B0503020204020204" pitchFamily="34" charset="-122"/>
            </a:endParaRPr>
          </a:p>
          <a:p>
            <a:pPr lvl="1"/>
            <a:r>
              <a:rPr lang="zh-CN" altLang="en-US" dirty="0"/>
              <a:t>考察用户访问数据的过程，可以简单了解</a:t>
            </a:r>
            <a:r>
              <a:rPr lang="en-US" altLang="zh-CN" dirty="0"/>
              <a:t>DBMS</a:t>
            </a:r>
            <a:r>
              <a:rPr lang="zh-CN" altLang="en-US" dirty="0"/>
              <a:t>的主要组成部分</a:t>
            </a:r>
            <a:endParaRPr lang="zh-CN" altLang="en-US" dirty="0"/>
          </a:p>
          <a:p>
            <a:pPr lvl="1"/>
            <a:r>
              <a:rPr lang="zh-CN" altLang="en-US" dirty="0"/>
              <a:t>与高级程序设计语言相似，作为数据库语言的一个实现的</a:t>
            </a:r>
            <a:r>
              <a:rPr lang="en-US" altLang="zh-CN" dirty="0"/>
              <a:t>DBMS</a:t>
            </a:r>
            <a:r>
              <a:rPr lang="zh-CN" altLang="en-US" dirty="0"/>
              <a:t>也有编译和解释两种实现方法</a:t>
            </a:r>
            <a:endParaRPr lang="zh-CN" altLang="en-US" dirty="0"/>
          </a:p>
          <a:p>
            <a:pPr lvl="1"/>
            <a:r>
              <a:rPr lang="zh-CN" altLang="en-US" dirty="0"/>
              <a:t>下图表示一个解释执行的</a:t>
            </a:r>
            <a:r>
              <a:rPr lang="en-US" altLang="zh-CN" dirty="0"/>
              <a:t>DBMS</a:t>
            </a:r>
            <a:r>
              <a:rPr lang="zh-CN" altLang="en-US" dirty="0"/>
              <a:t>的结构</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解释执行的</a:t>
            </a:r>
            <a:r>
              <a:rPr lang="en-US" altLang="zh-CN" sz="2800" b="1" dirty="0"/>
              <a:t>DBMS</a:t>
            </a:r>
            <a:r>
              <a:rPr lang="zh-CN" altLang="en-US" sz="2800" b="1" dirty="0"/>
              <a:t>结构</a:t>
            </a:r>
            <a:endParaRPr lang="en-US" altLang="zh-CN" sz="2800" b="1"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graphicFrame>
        <p:nvGraphicFramePr>
          <p:cNvPr id="7" name="Object 5"/>
          <p:cNvGraphicFramePr>
            <a:graphicFrameLocks noChangeAspect="1"/>
          </p:cNvGraphicFramePr>
          <p:nvPr/>
        </p:nvGraphicFramePr>
        <p:xfrm>
          <a:off x="4313453" y="1065212"/>
          <a:ext cx="5141697" cy="5792788"/>
        </p:xfrm>
        <a:graphic>
          <a:graphicData uri="http://schemas.openxmlformats.org/presentationml/2006/ole">
            <mc:AlternateContent xmlns:mc="http://schemas.openxmlformats.org/markup-compatibility/2006">
              <mc:Choice xmlns:v="urn:schemas-microsoft-com:vml" Requires="v">
                <p:oleObj spid="_x0000_s0" name="" r:id="rId1" imgW="4018915" imgH="6581140" progId="Visio.Drawing.6">
                  <p:embed/>
                </p:oleObj>
              </mc:Choice>
              <mc:Fallback>
                <p:oleObj name="" r:id="rId1" imgW="4018915" imgH="6581140" progId="Visio.Drawing.6">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3453" y="1065212"/>
                        <a:ext cx="5141697" cy="5792788"/>
                      </a:xfrm>
                      <a:prstGeom prst="rect">
                        <a:avLst/>
                      </a:prstGeom>
                      <a:noFill/>
                      <a:ln>
                        <a:noFill/>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800" b="1" dirty="0"/>
              <a:t>DBMS</a:t>
            </a:r>
            <a:r>
              <a:rPr lang="zh-CN" altLang="en-US" sz="2800" b="1" dirty="0"/>
              <a:t>运行过程</a:t>
            </a:r>
            <a:endParaRPr lang="en-US" altLang="zh-CN" sz="2800" b="1" dirty="0"/>
          </a:p>
          <a:p>
            <a:pPr lvl="1"/>
            <a:r>
              <a:rPr lang="zh-CN" altLang="en-US" dirty="0"/>
              <a:t>以上说明的是</a:t>
            </a:r>
            <a:r>
              <a:rPr lang="en-US" altLang="zh-CN" dirty="0"/>
              <a:t>DBMS</a:t>
            </a:r>
            <a:r>
              <a:rPr lang="zh-CN" altLang="en-US" dirty="0"/>
              <a:t>读取数据的过程，其它一些操作，如插入、删除、修改，其过程是类似的</a:t>
            </a:r>
            <a:endParaRPr lang="zh-CN" altLang="en-US" dirty="0"/>
          </a:p>
          <a:p>
            <a:pPr lvl="1"/>
            <a:r>
              <a:rPr lang="zh-CN" altLang="en-US" dirty="0"/>
              <a:t>对于插入、删除操作，先找到相应记录所在位置，然后执行插入、删除操作</a:t>
            </a:r>
            <a:endParaRPr lang="zh-CN" altLang="en-US" dirty="0"/>
          </a:p>
          <a:p>
            <a:pPr lvl="1"/>
            <a:r>
              <a:rPr lang="zh-CN" altLang="en-US" dirty="0"/>
              <a:t>对于修改操作，先要找到要修改的记录，进行完修改后，再把修改后的记录存储起来</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800" b="1" dirty="0"/>
              <a:t>DBMS</a:t>
            </a:r>
            <a:r>
              <a:rPr lang="zh-CN" altLang="en-US" sz="2800" b="1" dirty="0"/>
              <a:t>运行过程</a:t>
            </a:r>
            <a:endParaRPr lang="en-US" altLang="zh-CN" sz="2800" b="1" dirty="0"/>
          </a:p>
          <a:p>
            <a:pPr lvl="1"/>
            <a:r>
              <a:rPr lang="zh-CN" altLang="en-US" dirty="0"/>
              <a:t>从</a:t>
            </a:r>
            <a:r>
              <a:rPr lang="en-US" altLang="zh-CN" dirty="0"/>
              <a:t>DBMS</a:t>
            </a:r>
            <a:r>
              <a:rPr lang="zh-CN" altLang="en-US" dirty="0"/>
              <a:t>执行的过程可以看出，解释方法具有灵活、应变性强的特点</a:t>
            </a:r>
            <a:endParaRPr lang="zh-CN" altLang="en-US" dirty="0"/>
          </a:p>
          <a:p>
            <a:pPr lvl="1"/>
            <a:r>
              <a:rPr lang="zh-CN" altLang="en-US" dirty="0"/>
              <a:t>能保持较高的数据独立性，对在解释过程中发生的数据结构、存储结构的变化能够适应</a:t>
            </a:r>
            <a:endParaRPr lang="zh-CN" altLang="en-US" dirty="0"/>
          </a:p>
          <a:p>
            <a:pPr lvl="1"/>
            <a:r>
              <a:rPr lang="zh-CN" altLang="en-US" dirty="0"/>
              <a:t>由于每次执行都要经过以上所有步骤，开销会很大，效率比较低。随着数据库技术的发展，这种方法已逐步被预编译方法所取代</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DBMS</a:t>
            </a:r>
            <a:r>
              <a:rPr lang="zh-CN" altLang="en-US" dirty="0"/>
              <a:t>的预编译方法</a:t>
            </a:r>
            <a:endParaRPr lang="en-US" altLang="zh-CN" dirty="0"/>
          </a:p>
          <a:p>
            <a:pPr lvl="1"/>
            <a:r>
              <a:rPr lang="zh-CN" altLang="en-US" dirty="0"/>
              <a:t>预编译方法的基本思想，在运行以前，对将要执行的数据库语句进行编译处理，保存生成的可执行代码，需要运行时，取出保存的可执行代码加以执行</a:t>
            </a:r>
            <a:endParaRPr lang="zh-CN" altLang="en-US" dirty="0"/>
          </a:p>
          <a:p>
            <a:pPr lvl="1"/>
            <a:r>
              <a:rPr lang="zh-CN" altLang="en-US" dirty="0"/>
              <a:t>当数据库中某些成分发生改变，使部分编译结果无效时，再对它们执行一次编译</a:t>
            </a:r>
            <a:endParaRPr lang="zh-CN" altLang="en-US" dirty="0"/>
          </a:p>
          <a:p>
            <a:pPr lvl="1"/>
            <a:r>
              <a:rPr lang="zh-CN" altLang="en-US" dirty="0"/>
              <a:t>实践证明，预编译方法的主要优点在于执行效率高，系统开销小</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DBMS</a:t>
            </a:r>
            <a:r>
              <a:rPr lang="zh-CN" altLang="en-US" dirty="0"/>
              <a:t>的进程结构</a:t>
            </a:r>
            <a:endParaRPr lang="en-US" altLang="zh-CN" dirty="0"/>
          </a:p>
          <a:p>
            <a:pPr lvl="1"/>
            <a:r>
              <a:rPr lang="en-US" altLang="zh-CN" dirty="0"/>
              <a:t>DBMS</a:t>
            </a:r>
            <a:r>
              <a:rPr lang="zh-CN" altLang="en-US" dirty="0"/>
              <a:t>是管理数据库的软件系统，必须要在操作系统的支持下才能工作</a:t>
            </a:r>
            <a:endParaRPr lang="zh-CN" altLang="en-US" dirty="0"/>
          </a:p>
          <a:p>
            <a:pPr lvl="1"/>
            <a:r>
              <a:rPr lang="zh-CN" altLang="en-US" dirty="0"/>
              <a:t>早期的计算机系统内存容量有限，</a:t>
            </a:r>
            <a:r>
              <a:rPr lang="en-US" altLang="zh-CN" dirty="0"/>
              <a:t>DBMS</a:t>
            </a:r>
            <a:r>
              <a:rPr lang="zh-CN" altLang="en-US" dirty="0"/>
              <a:t>常按功能划分为多个进程，但进程管理的开销较大</a:t>
            </a:r>
            <a:endParaRPr lang="zh-CN" altLang="en-US" dirty="0"/>
          </a:p>
          <a:p>
            <a:pPr lvl="1"/>
            <a:r>
              <a:rPr lang="zh-CN" altLang="en-US" dirty="0"/>
              <a:t>随着计算机内存越来越大，</a:t>
            </a:r>
            <a:r>
              <a:rPr lang="en-US" altLang="zh-CN" dirty="0"/>
              <a:t>DBMS</a:t>
            </a:r>
            <a:r>
              <a:rPr lang="zh-CN" altLang="en-US" dirty="0"/>
              <a:t>进程的划分不再受内存限制，更多考虑的是结构是否合理以及性能否提高</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线程的概念</a:t>
            </a:r>
            <a:r>
              <a:rPr lang="zh-CN" altLang="en-US" dirty="0"/>
              <a:t> </a:t>
            </a:r>
            <a:endParaRPr lang="en-US" altLang="zh-CN" dirty="0"/>
          </a:p>
          <a:p>
            <a:pPr lvl="1"/>
            <a:r>
              <a:rPr lang="zh-CN" altLang="en-US" dirty="0"/>
              <a:t>现代操作系统中引入线程的概念，作为程序并发执行的单位，分享</a:t>
            </a:r>
            <a:r>
              <a:rPr lang="en-US" altLang="zh-CN" dirty="0"/>
              <a:t>CPU</a:t>
            </a:r>
            <a:r>
              <a:rPr lang="zh-CN" altLang="en-US" dirty="0"/>
              <a:t>时间</a:t>
            </a:r>
            <a:endParaRPr lang="zh-CN" altLang="en-US" dirty="0"/>
          </a:p>
          <a:p>
            <a:pPr lvl="1"/>
            <a:r>
              <a:rPr lang="zh-CN" altLang="en-US" dirty="0"/>
              <a:t>一个进程中可以创建多个可以切换的线程，为进程本身的并发执行提供了基础</a:t>
            </a:r>
            <a:endParaRPr lang="zh-CN" altLang="en-US" dirty="0"/>
          </a:p>
          <a:p>
            <a:pPr lvl="1"/>
            <a:r>
              <a:rPr lang="zh-CN" altLang="en-US" dirty="0"/>
              <a:t>线程是比进程更小的运行单位，称为轻量进程（</a:t>
            </a:r>
            <a:r>
              <a:rPr lang="en-US" altLang="zh-CN" dirty="0"/>
              <a:t>lightweight process</a:t>
            </a:r>
            <a:r>
              <a:rPr lang="zh-CN" altLang="en-US" dirty="0"/>
              <a:t>），而进程则称为重量进程（</a:t>
            </a:r>
            <a:r>
              <a:rPr lang="en-US" altLang="zh-CN" dirty="0"/>
              <a:t>heavyweight process</a:t>
            </a:r>
            <a:r>
              <a:rPr lang="zh-CN" altLang="en-US" dirty="0"/>
              <a:t>）</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线程的优点</a:t>
            </a:r>
            <a:r>
              <a:rPr lang="zh-CN" altLang="en-US" dirty="0"/>
              <a:t> </a:t>
            </a:r>
            <a:endParaRPr lang="en-US" altLang="zh-CN" dirty="0"/>
          </a:p>
          <a:p>
            <a:pPr lvl="1"/>
            <a:r>
              <a:rPr lang="zh-CN" altLang="en-US" dirty="0"/>
              <a:t>一个进程可划分为多个线程</a:t>
            </a:r>
            <a:endParaRPr lang="zh-CN" altLang="en-US" dirty="0"/>
          </a:p>
          <a:p>
            <a:pPr lvl="1"/>
            <a:endParaRPr lang="zh-CN" altLang="en-US" dirty="0"/>
          </a:p>
          <a:p>
            <a:pPr lvl="1"/>
            <a:r>
              <a:rPr lang="zh-CN" altLang="en-US" dirty="0"/>
              <a:t>线程的创建、切换、通信等开销远比进程少</a:t>
            </a:r>
            <a:endParaRPr lang="zh-CN" altLang="en-US" dirty="0"/>
          </a:p>
          <a:p>
            <a:pPr lvl="1"/>
            <a:endParaRPr lang="zh-CN" altLang="en-US" dirty="0"/>
          </a:p>
          <a:p>
            <a:pPr lvl="1"/>
            <a:r>
              <a:rPr lang="zh-CN" altLang="en-US" dirty="0"/>
              <a:t>线程为进程本身的并发执行提供了手段 </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多线程</a:t>
            </a:r>
            <a:r>
              <a:rPr lang="en-US" altLang="zh-CN" sz="2800" b="1" dirty="0"/>
              <a:t>DBMS</a:t>
            </a:r>
            <a:r>
              <a:rPr lang="en-US" altLang="zh-CN" dirty="0"/>
              <a:t> </a:t>
            </a:r>
            <a:endParaRPr lang="en-US" altLang="zh-CN" dirty="0"/>
          </a:p>
          <a:p>
            <a:pPr lvl="1"/>
            <a:r>
              <a:rPr lang="zh-CN" altLang="en-US" dirty="0"/>
              <a:t>在单进程多线程结构的</a:t>
            </a:r>
            <a:r>
              <a:rPr lang="en-US" altLang="zh-CN" dirty="0"/>
              <a:t>DBMS</a:t>
            </a:r>
            <a:r>
              <a:rPr lang="zh-CN" altLang="en-US" dirty="0"/>
              <a:t>中，系统只创建一个</a:t>
            </a:r>
            <a:r>
              <a:rPr lang="en-US" altLang="zh-CN" dirty="0"/>
              <a:t>DBMS</a:t>
            </a:r>
            <a:r>
              <a:rPr lang="zh-CN" altLang="en-US" dirty="0"/>
              <a:t>进程。当有用户申请数据库服务时，</a:t>
            </a:r>
            <a:r>
              <a:rPr lang="en-US" altLang="zh-CN" dirty="0"/>
              <a:t>DBMS</a:t>
            </a:r>
            <a:r>
              <a:rPr lang="zh-CN" altLang="en-US" dirty="0"/>
              <a:t>分配至少一个线程为之服务，多个线程并行工作，共享资源</a:t>
            </a:r>
            <a:endParaRPr lang="zh-CN" altLang="en-US" dirty="0"/>
          </a:p>
          <a:p>
            <a:pPr lvl="1"/>
            <a:r>
              <a:rPr lang="zh-CN" altLang="en-US" dirty="0"/>
              <a:t>在支持多线程的系统中，线程管理功能可以由操作系统提供，也可以由</a:t>
            </a:r>
            <a:r>
              <a:rPr lang="en-US" altLang="zh-CN" dirty="0"/>
              <a:t>DBMS</a:t>
            </a:r>
            <a:r>
              <a:rPr lang="zh-CN" altLang="en-US" dirty="0"/>
              <a:t>进程扩充，最好由</a:t>
            </a:r>
            <a:r>
              <a:rPr lang="en-US" altLang="zh-CN" dirty="0"/>
              <a:t>DBMS</a:t>
            </a:r>
            <a:r>
              <a:rPr lang="zh-CN" altLang="en-US" dirty="0"/>
              <a:t>进程管理线程</a:t>
            </a:r>
            <a:endParaRPr lang="zh-CN" altLang="en-US" dirty="0"/>
          </a:p>
          <a:p>
            <a:pPr lvl="1"/>
            <a:r>
              <a:rPr lang="zh-CN" altLang="en-US" dirty="0"/>
              <a:t>因为线程作为</a:t>
            </a:r>
            <a:r>
              <a:rPr lang="en-US" altLang="zh-CN" dirty="0"/>
              <a:t>DBMS</a:t>
            </a:r>
            <a:r>
              <a:rPr lang="zh-CN" altLang="en-US" dirty="0"/>
              <a:t>的调度单位，可以按照</a:t>
            </a:r>
            <a:r>
              <a:rPr lang="en-US" altLang="zh-CN" dirty="0"/>
              <a:t>DBMS</a:t>
            </a:r>
            <a:r>
              <a:rPr lang="zh-CN" altLang="en-US" dirty="0"/>
              <a:t>的需要按一定的调度算法调度用户请求，由于调度算法是由</a:t>
            </a:r>
            <a:r>
              <a:rPr lang="en-US" altLang="zh-CN" dirty="0"/>
              <a:t>DBMS</a:t>
            </a:r>
            <a:r>
              <a:rPr lang="zh-CN" altLang="en-US" dirty="0"/>
              <a:t>设计与执行，因此会比操作系统直接对这些请求进行调度高效得多，提高了</a:t>
            </a:r>
            <a:r>
              <a:rPr lang="en-US" altLang="zh-CN" dirty="0"/>
              <a:t>DBMS</a:t>
            </a:r>
            <a:r>
              <a:rPr lang="zh-CN" altLang="en-US" dirty="0"/>
              <a:t>的性能和可移植性</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多线程</a:t>
            </a:r>
            <a:r>
              <a:rPr lang="en-US" altLang="zh-CN" sz="2800" b="1" dirty="0"/>
              <a:t>DBMS</a:t>
            </a:r>
            <a:r>
              <a:rPr lang="en-US" altLang="zh-CN" dirty="0"/>
              <a:t> </a:t>
            </a:r>
            <a:endParaRPr lang="en-US" altLang="zh-CN" dirty="0"/>
          </a:p>
          <a:p>
            <a:pPr lvl="1"/>
            <a:r>
              <a:rPr lang="zh-CN" altLang="en-US" dirty="0"/>
              <a:t>由</a:t>
            </a:r>
            <a:r>
              <a:rPr lang="en-US" altLang="zh-CN" dirty="0"/>
              <a:t>DBMS</a:t>
            </a:r>
            <a:r>
              <a:rPr lang="zh-CN" altLang="en-US" dirty="0"/>
              <a:t>进程管理线程增加了</a:t>
            </a:r>
            <a:r>
              <a:rPr lang="en-US" altLang="zh-CN" dirty="0"/>
              <a:t>DBMS</a:t>
            </a:r>
            <a:r>
              <a:rPr lang="zh-CN" altLang="en-US" dirty="0"/>
              <a:t>的复杂性，还对操作系统提出以下两方面的新要求</a:t>
            </a:r>
            <a:r>
              <a:rPr lang="en-US" altLang="zh-CN" dirty="0"/>
              <a:t>:</a:t>
            </a:r>
            <a:endParaRPr lang="en-US" altLang="zh-CN" dirty="0"/>
          </a:p>
          <a:p>
            <a:pPr lvl="2"/>
            <a:r>
              <a:rPr lang="zh-CN" altLang="en-US" dirty="0"/>
              <a:t>提供非阻塞</a:t>
            </a:r>
            <a:r>
              <a:rPr lang="en-US" altLang="zh-CN" dirty="0"/>
              <a:t>I/O(nonblocking I/O)</a:t>
            </a:r>
            <a:r>
              <a:rPr lang="zh-CN" altLang="en-US" dirty="0"/>
              <a:t>和异步</a:t>
            </a:r>
            <a:r>
              <a:rPr lang="en-US" altLang="zh-CN" dirty="0"/>
              <a:t>I/O(asynchronous I/O)</a:t>
            </a:r>
            <a:r>
              <a:rPr lang="zh-CN" altLang="en-US" dirty="0"/>
              <a:t>功能</a:t>
            </a:r>
            <a:endParaRPr lang="zh-CN" altLang="en-US" dirty="0"/>
          </a:p>
          <a:p>
            <a:pPr lvl="2"/>
            <a:r>
              <a:rPr lang="zh-CN" altLang="en-US" dirty="0"/>
              <a:t>支持“公平”调度</a:t>
            </a:r>
            <a:r>
              <a:rPr lang="en-US" altLang="zh-CN" dirty="0"/>
              <a:t>(fair schedule)</a:t>
            </a:r>
            <a:endParaRPr lang="en-US" altLang="zh-CN" dirty="0"/>
          </a:p>
          <a:p>
            <a:pPr lvl="2"/>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数据目录</a:t>
            </a:r>
            <a:endParaRPr lang="en-US" altLang="zh-CN" dirty="0"/>
          </a:p>
          <a:p>
            <a:pPr lvl="1"/>
            <a:r>
              <a:rPr lang="en-US" altLang="zh-CN" dirty="0"/>
              <a:t>DBMS</a:t>
            </a:r>
            <a:r>
              <a:rPr lang="zh-CN" altLang="en-US" dirty="0"/>
              <a:t>的功能是管理大量的、共享的、持久的数据，有关这些数据的定义和描述（即元数据）也需要长期保存在系统中</a:t>
            </a:r>
            <a:endParaRPr lang="zh-CN" altLang="en-US" dirty="0"/>
          </a:p>
          <a:p>
            <a:pPr lvl="1"/>
            <a:r>
              <a:rPr lang="zh-CN" altLang="en-US" dirty="0"/>
              <a:t>数据目录</a:t>
            </a:r>
            <a:r>
              <a:rPr lang="en-US" altLang="zh-CN" dirty="0"/>
              <a:t>(Catalog</a:t>
            </a:r>
            <a:r>
              <a:rPr lang="zh-CN" altLang="en-US" dirty="0"/>
              <a:t>或</a:t>
            </a:r>
            <a:r>
              <a:rPr lang="en-US" altLang="zh-CN" dirty="0"/>
              <a:t>Directory)</a:t>
            </a:r>
            <a:r>
              <a:rPr lang="zh-CN" altLang="en-US" dirty="0"/>
              <a:t>是一组关于数据的数据，也称为元数据</a:t>
            </a:r>
            <a:r>
              <a:rPr lang="en-US" altLang="zh-CN" dirty="0"/>
              <a:t>(meta-data)</a:t>
            </a:r>
            <a:endParaRPr lang="en-US" altLang="zh-CN" dirty="0"/>
          </a:p>
          <a:p>
            <a:pPr lvl="1"/>
            <a:r>
              <a:rPr lang="zh-CN" altLang="en-US" dirty="0"/>
              <a:t>关系数据库中数据目录的组织通常与数据本身的组织相同</a:t>
            </a:r>
            <a:endParaRPr lang="zh-CN" altLang="en-US" dirty="0"/>
          </a:p>
          <a:p>
            <a:pPr lvl="1"/>
            <a:r>
              <a:rPr lang="zh-CN" altLang="en-US" dirty="0"/>
              <a:t>数据目录按不同的内容在逻辑上组织为若干张表</a:t>
            </a:r>
            <a:endParaRPr lang="zh-CN" altLang="en-US" dirty="0"/>
          </a:p>
          <a:p>
            <a:pPr lvl="1"/>
            <a:r>
              <a:rPr lang="zh-CN" altLang="en-US" dirty="0"/>
              <a:t>数据目录的特点是数据量比较小（与数据本身比）、使用频繁，因为任何数据库操作都要参照数据目录的内容</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1.3 </a:t>
            </a:r>
            <a:r>
              <a:rPr kumimoji="1" lang="zh-CN" altLang="en-US" dirty="0"/>
              <a:t>数据库管理系统</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0" dirty="0"/>
              <a:t>数据如何描述、如何组织、如何存放在数据库中，这些都涉及到数据库系统的核心概念：</a:t>
            </a:r>
            <a:r>
              <a:rPr lang="zh-CN" altLang="en-US" b="0" dirty="0">
                <a:solidFill>
                  <a:schemeClr val="accent2">
                    <a:lumMod val="75000"/>
                  </a:schemeClr>
                </a:solidFill>
              </a:rPr>
              <a:t>数据模型</a:t>
            </a:r>
            <a:r>
              <a:rPr lang="zh-CN" altLang="en-US" b="0" dirty="0"/>
              <a:t>（</a:t>
            </a:r>
            <a:r>
              <a:rPr lang="en-US" altLang="zh-CN" b="0" dirty="0"/>
              <a:t>Data Model</a:t>
            </a:r>
            <a:r>
              <a:rPr lang="zh-CN" altLang="en-US" b="0" dirty="0"/>
              <a:t>）与</a:t>
            </a:r>
            <a:r>
              <a:rPr lang="zh-CN" altLang="en-US" b="0" dirty="0">
                <a:solidFill>
                  <a:schemeClr val="accent2">
                    <a:lumMod val="75000"/>
                  </a:schemeClr>
                </a:solidFill>
              </a:rPr>
              <a:t>数据模式</a:t>
            </a:r>
            <a:r>
              <a:rPr lang="zh-CN" altLang="en-US" b="0" dirty="0"/>
              <a:t>（</a:t>
            </a:r>
            <a:r>
              <a:rPr lang="en-US" altLang="zh-CN" b="0" dirty="0"/>
              <a:t>Data Schema</a:t>
            </a:r>
            <a:r>
              <a:rPr lang="zh-CN" altLang="en-US" b="0" dirty="0"/>
              <a:t>） </a:t>
            </a:r>
            <a:endParaRPr lang="zh-CN" altLang="en-US" b="0" dirty="0"/>
          </a:p>
          <a:p>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数据和信息</a:t>
            </a:r>
            <a:endParaRPr lang="en-US" altLang="zh-CN" dirty="0"/>
          </a:p>
          <a:p>
            <a:pPr lvl="1"/>
            <a:r>
              <a:rPr lang="zh-CN" altLang="en-US" sz="2400" dirty="0"/>
              <a:t>信息与数据之间存在着固有的联系，</a:t>
            </a:r>
            <a:r>
              <a:rPr lang="zh-CN" altLang="en-US" sz="2400" dirty="0">
                <a:solidFill>
                  <a:schemeClr val="accent2">
                    <a:lumMod val="75000"/>
                  </a:schemeClr>
                </a:solidFill>
              </a:rPr>
              <a:t>数据</a:t>
            </a:r>
            <a:r>
              <a:rPr lang="zh-CN" altLang="en-US" sz="2400" dirty="0"/>
              <a:t>是信息的符号表示或称为载体，</a:t>
            </a:r>
            <a:r>
              <a:rPr lang="zh-CN" altLang="en-US" sz="2400" dirty="0">
                <a:solidFill>
                  <a:schemeClr val="accent2">
                    <a:lumMod val="75000"/>
                  </a:schemeClr>
                </a:solidFill>
              </a:rPr>
              <a:t>信息</a:t>
            </a:r>
            <a:r>
              <a:rPr lang="zh-CN" altLang="en-US" sz="2400" dirty="0"/>
              <a:t>则是数据的内涵，是对数据语义的解释</a:t>
            </a:r>
            <a:r>
              <a:rPr lang="zh-CN" altLang="en-US" dirty="0"/>
              <a:t> </a:t>
            </a:r>
            <a:endParaRPr lang="zh-CN" altLang="en-US" sz="2400" dirty="0"/>
          </a:p>
          <a:p>
            <a:pPr lvl="1"/>
            <a:r>
              <a:rPr lang="zh-CN" altLang="en-US" sz="2400" dirty="0"/>
              <a:t>对于任何数据而言，都有</a:t>
            </a:r>
            <a:r>
              <a:rPr lang="zh-CN" altLang="en-US" sz="2400" dirty="0">
                <a:solidFill>
                  <a:schemeClr val="accent2">
                    <a:lumMod val="75000"/>
                  </a:schemeClr>
                </a:solidFill>
              </a:rPr>
              <a:t>语法</a:t>
            </a:r>
            <a:r>
              <a:rPr lang="zh-CN" altLang="en-US" sz="2400" dirty="0"/>
              <a:t>、</a:t>
            </a:r>
            <a:r>
              <a:rPr lang="zh-CN" altLang="en-US" sz="2400" dirty="0">
                <a:solidFill>
                  <a:schemeClr val="accent2">
                    <a:lumMod val="75000"/>
                  </a:schemeClr>
                </a:solidFill>
              </a:rPr>
              <a:t>语义</a:t>
            </a:r>
            <a:r>
              <a:rPr lang="zh-CN" altLang="en-US" sz="2400" dirty="0"/>
              <a:t>两个方面要引起注意</a:t>
            </a:r>
            <a:endParaRPr lang="zh-CN" altLang="en-US" sz="2400" dirty="0"/>
          </a:p>
          <a:p>
            <a:pPr lvl="1"/>
            <a:r>
              <a:rPr lang="zh-CN" altLang="en-US" sz="2400" dirty="0">
                <a:solidFill>
                  <a:schemeClr val="accent2">
                    <a:lumMod val="75000"/>
                  </a:schemeClr>
                </a:solidFill>
              </a:rPr>
              <a:t>语法</a:t>
            </a:r>
            <a:r>
              <a:rPr lang="zh-CN" altLang="en-US" sz="2400" dirty="0"/>
              <a:t>（</a:t>
            </a:r>
            <a:r>
              <a:rPr lang="en-US" altLang="zh-CN" sz="2400" dirty="0"/>
              <a:t>Syntax</a:t>
            </a:r>
            <a:r>
              <a:rPr lang="zh-CN" altLang="en-US" sz="2400" dirty="0"/>
              <a:t>）指的是数据的格式规定，如规定数据是数值型、字符型、日期型</a:t>
            </a:r>
            <a:endParaRPr lang="zh-CN" altLang="en-US" sz="2400" dirty="0"/>
          </a:p>
          <a:p>
            <a:pPr lvl="1"/>
            <a:r>
              <a:rPr lang="zh-CN" altLang="en-US" sz="2400" dirty="0">
                <a:solidFill>
                  <a:schemeClr val="accent2">
                    <a:lumMod val="75000"/>
                  </a:schemeClr>
                </a:solidFill>
              </a:rPr>
              <a:t>语义</a:t>
            </a:r>
            <a:r>
              <a:rPr lang="zh-CN" altLang="en-US" sz="2400" dirty="0"/>
              <a:t>（</a:t>
            </a:r>
            <a:r>
              <a:rPr lang="en-US" altLang="zh-CN" sz="2400" dirty="0"/>
              <a:t>Semantic</a:t>
            </a:r>
            <a:r>
              <a:rPr lang="zh-CN" altLang="en-US" sz="2400" dirty="0"/>
              <a:t>）指的是数据本身的含义</a:t>
            </a:r>
            <a:endParaRPr lang="en-US" altLang="zh-CN" sz="2400" dirty="0"/>
          </a:p>
          <a:p>
            <a:pPr lvl="2"/>
            <a:r>
              <a:rPr lang="zh-CN" altLang="en-US" i="1" dirty="0"/>
              <a:t>例：</a:t>
            </a:r>
            <a:r>
              <a:rPr lang="en-US" altLang="zh-CN" i="1" dirty="0"/>
              <a:t>&lt;02055001</a:t>
            </a:r>
            <a:r>
              <a:rPr lang="zh-CN" altLang="en-US" i="1" dirty="0"/>
              <a:t>，张明，男，</a:t>
            </a:r>
            <a:r>
              <a:rPr lang="en-US" altLang="zh-CN" i="1" dirty="0"/>
              <a:t>1984.5</a:t>
            </a:r>
            <a:r>
              <a:rPr lang="zh-CN" altLang="en-US" i="1" dirty="0"/>
              <a:t>，计算机系，陕西，</a:t>
            </a:r>
            <a:r>
              <a:rPr lang="en-US" altLang="zh-CN" i="1" dirty="0"/>
              <a:t>2002&gt; </a:t>
            </a:r>
            <a:endParaRPr lang="en-US" altLang="zh-CN" i="1"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数据与数据模型</a:t>
            </a:r>
            <a:endParaRPr lang="en-US" altLang="zh-CN" dirty="0"/>
          </a:p>
          <a:p>
            <a:pPr lvl="1"/>
            <a:r>
              <a:rPr lang="zh-CN" altLang="en-US" dirty="0">
                <a:latin typeface="华文行楷" panose="02010800040101010101" pitchFamily="2" charset="-122"/>
              </a:rPr>
              <a:t>使用数据库技术，首先必须把现实世界中的事物表示为计算机能够处理的数据</a:t>
            </a:r>
            <a:endParaRPr lang="zh-CN" altLang="en-US" dirty="0">
              <a:latin typeface="华文行楷" panose="02010800040101010101" pitchFamily="2" charset="-122"/>
            </a:endParaRPr>
          </a:p>
          <a:p>
            <a:pPr lvl="1"/>
            <a:r>
              <a:rPr lang="zh-CN" altLang="en-US" dirty="0">
                <a:solidFill>
                  <a:schemeClr val="accent2">
                    <a:lumMod val="75000"/>
                  </a:schemeClr>
                </a:solidFill>
                <a:latin typeface="华文行楷" panose="02010800040101010101" pitchFamily="2" charset="-122"/>
              </a:rPr>
              <a:t>模型</a:t>
            </a:r>
            <a:r>
              <a:rPr lang="zh-CN" altLang="en-US" dirty="0">
                <a:latin typeface="华文行楷" panose="02010800040101010101" pitchFamily="2" charset="-122"/>
              </a:rPr>
              <a:t>是对现实世界特征的抽象</a:t>
            </a:r>
            <a:endParaRPr lang="zh-CN" altLang="en-US" dirty="0">
              <a:latin typeface="华文行楷" panose="02010800040101010101" pitchFamily="2" charset="-122"/>
            </a:endParaRPr>
          </a:p>
          <a:p>
            <a:pPr lvl="1"/>
            <a:r>
              <a:rPr lang="zh-CN" altLang="en-US" dirty="0">
                <a:solidFill>
                  <a:schemeClr val="accent2">
                    <a:lumMod val="75000"/>
                  </a:schemeClr>
                </a:solidFill>
                <a:latin typeface="华文行楷" panose="02010800040101010101" pitchFamily="2" charset="-122"/>
              </a:rPr>
              <a:t>数据模型</a:t>
            </a:r>
            <a:r>
              <a:rPr lang="zh-CN" altLang="en-US" dirty="0">
                <a:latin typeface="华文行楷" panose="02010800040101010101" pitchFamily="2" charset="-122"/>
              </a:rPr>
              <a:t>是对现实世界数据特征的抽象</a:t>
            </a:r>
            <a:endParaRPr lang="zh-CN" altLang="en-US" dirty="0">
              <a:latin typeface="华文行楷" panose="02010800040101010101" pitchFamily="2" charset="-122"/>
            </a:endParaRPr>
          </a:p>
          <a:p>
            <a:pPr lvl="1"/>
            <a:r>
              <a:rPr lang="zh-CN" altLang="en-US" dirty="0"/>
              <a:t>从事物的特性到计算机中的具体表示，实际上经历了</a:t>
            </a:r>
            <a:r>
              <a:rPr lang="zh-CN" altLang="en-US" dirty="0">
                <a:solidFill>
                  <a:schemeClr val="accent2">
                    <a:lumMod val="75000"/>
                  </a:schemeClr>
                </a:solidFill>
              </a:rPr>
              <a:t>三个阶段</a:t>
            </a:r>
            <a:r>
              <a:rPr lang="en-US" altLang="zh-CN" dirty="0"/>
              <a:t>——</a:t>
            </a:r>
            <a:r>
              <a:rPr lang="zh-CN" altLang="en-US" dirty="0"/>
              <a:t>概念设计中的数据描述、逻辑设计中的数据描述和物理设计中的数据描述</a:t>
            </a:r>
            <a:endParaRPr lang="zh-CN" altLang="en-US" dirty="0">
              <a:latin typeface="华文行楷" panose="02010800040101010101" pitchFamily="2" charset="-122"/>
            </a:endParaRPr>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数据模型三要素</a:t>
            </a:r>
            <a:endParaRPr lang="en-US" altLang="zh-CN" dirty="0"/>
          </a:p>
          <a:p>
            <a:pPr lvl="1"/>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数据模型</a:t>
            </a:r>
            <a:r>
              <a:rPr lang="zh-CN" altLang="en-US" sz="2400" dirty="0">
                <a:latin typeface="微软雅黑" panose="020B0503020204020204" pitchFamily="34" charset="-122"/>
                <a:ea typeface="微软雅黑" panose="020B0503020204020204" pitchFamily="34" charset="-122"/>
              </a:rPr>
              <a:t>是规定现实世界数据特征的抽象，是用来描述数据的</a:t>
            </a:r>
            <a:r>
              <a:rPr lang="zh-CN" altLang="en-US" sz="2400" u="sng" dirty="0">
                <a:latin typeface="微软雅黑" panose="020B0503020204020204" pitchFamily="34" charset="-122"/>
                <a:ea typeface="微软雅黑" panose="020B0503020204020204" pitchFamily="34" charset="-122"/>
              </a:rPr>
              <a:t>语法</a:t>
            </a:r>
            <a:r>
              <a:rPr lang="zh-CN" altLang="en-US" sz="2400" dirty="0">
                <a:latin typeface="微软雅黑" panose="020B0503020204020204" pitchFamily="34" charset="-122"/>
                <a:ea typeface="微软雅黑" panose="020B0503020204020204" pitchFamily="34" charset="-122"/>
              </a:rPr>
              <a:t>、</a:t>
            </a:r>
            <a:r>
              <a:rPr lang="zh-CN" altLang="en-US" sz="2400" u="sng" dirty="0">
                <a:latin typeface="微软雅黑" panose="020B0503020204020204" pitchFamily="34" charset="-122"/>
                <a:ea typeface="微软雅黑" panose="020B0503020204020204" pitchFamily="34" charset="-122"/>
              </a:rPr>
              <a:t>语义</a:t>
            </a:r>
            <a:r>
              <a:rPr lang="zh-CN" altLang="en-US" sz="2400" dirty="0">
                <a:latin typeface="微软雅黑" panose="020B0503020204020204" pitchFamily="34" charset="-122"/>
                <a:ea typeface="微软雅黑" panose="020B0503020204020204" pitchFamily="34" charset="-122"/>
              </a:rPr>
              <a:t>和</a:t>
            </a:r>
            <a:r>
              <a:rPr lang="zh-CN" altLang="en-US" sz="2400" u="sng" dirty="0">
                <a:latin typeface="微软雅黑" panose="020B0503020204020204" pitchFamily="34" charset="-122"/>
                <a:ea typeface="微软雅黑" panose="020B0503020204020204" pitchFamily="34" charset="-122"/>
              </a:rPr>
              <a:t>操作</a:t>
            </a:r>
            <a:r>
              <a:rPr lang="zh-CN" altLang="en-US" sz="2400" dirty="0">
                <a:latin typeface="微软雅黑" panose="020B0503020204020204" pitchFamily="34" charset="-122"/>
                <a:ea typeface="微软雅黑" panose="020B0503020204020204" pitchFamily="34" charset="-122"/>
              </a:rPr>
              <a:t>的一组概念的集合</a:t>
            </a:r>
            <a:endParaRPr lang="zh-CN" altLang="en-US" sz="2400" dirty="0">
              <a:latin typeface="微软雅黑" panose="020B0503020204020204" pitchFamily="34" charset="-122"/>
              <a:ea typeface="微软雅黑" panose="020B0503020204020204" pitchFamily="34" charset="-122"/>
            </a:endParaRPr>
          </a:p>
          <a:p>
            <a:pPr lvl="1"/>
            <a:r>
              <a:rPr lang="zh-CN" altLang="en-US" sz="2400" dirty="0">
                <a:latin typeface="微软雅黑" panose="020B0503020204020204" pitchFamily="34" charset="-122"/>
                <a:ea typeface="微软雅黑" panose="020B0503020204020204" pitchFamily="34" charset="-122"/>
              </a:rPr>
              <a:t>数据模型应包含</a:t>
            </a:r>
            <a:r>
              <a:rPr lang="zh-CN" altLang="en-US" sz="2400" u="sng" dirty="0">
                <a:latin typeface="微软雅黑" panose="020B0503020204020204" pitchFamily="34" charset="-122"/>
                <a:ea typeface="微软雅黑" panose="020B0503020204020204" pitchFamily="34" charset="-122"/>
              </a:rPr>
              <a:t>数据结构</a:t>
            </a:r>
            <a:r>
              <a:rPr lang="zh-CN" altLang="en-US" sz="2400" dirty="0">
                <a:latin typeface="微软雅黑" panose="020B0503020204020204" pitchFamily="34" charset="-122"/>
                <a:ea typeface="微软雅黑" panose="020B0503020204020204" pitchFamily="34" charset="-122"/>
              </a:rPr>
              <a:t>、</a:t>
            </a:r>
            <a:r>
              <a:rPr lang="zh-CN" altLang="en-US" sz="2400" u="sng" dirty="0">
                <a:latin typeface="微软雅黑" panose="020B0503020204020204" pitchFamily="34" charset="-122"/>
                <a:ea typeface="微软雅黑" panose="020B0503020204020204" pitchFamily="34" charset="-122"/>
              </a:rPr>
              <a:t>数据操作</a:t>
            </a:r>
            <a:r>
              <a:rPr lang="zh-CN" altLang="en-US" sz="2400" dirty="0">
                <a:latin typeface="微软雅黑" panose="020B0503020204020204" pitchFamily="34" charset="-122"/>
                <a:ea typeface="微软雅黑" panose="020B0503020204020204" pitchFamily="34" charset="-122"/>
              </a:rPr>
              <a:t>和</a:t>
            </a:r>
            <a:r>
              <a:rPr lang="zh-CN" altLang="en-US" sz="2400" u="sng" dirty="0">
                <a:latin typeface="微软雅黑" panose="020B0503020204020204" pitchFamily="34" charset="-122"/>
                <a:ea typeface="微软雅黑" panose="020B0503020204020204" pitchFamily="34" charset="-122"/>
              </a:rPr>
              <a:t>数据完整性约束</a:t>
            </a:r>
            <a:r>
              <a:rPr lang="zh-CN" altLang="en-US" sz="2400" dirty="0">
                <a:latin typeface="微软雅黑" panose="020B0503020204020204" pitchFamily="34" charset="-122"/>
                <a:ea typeface="微软雅黑" panose="020B0503020204020204" pitchFamily="34" charset="-122"/>
              </a:rPr>
              <a:t>三个要素：</a:t>
            </a:r>
            <a:endParaRPr lang="en-US" altLang="zh-CN" sz="2400" dirty="0">
              <a:latin typeface="微软雅黑" panose="020B0503020204020204" pitchFamily="34" charset="-122"/>
              <a:ea typeface="微软雅黑" panose="020B0503020204020204" pitchFamily="34" charset="-122"/>
            </a:endParaRPr>
          </a:p>
          <a:p>
            <a:pPr lvl="2"/>
            <a:r>
              <a:rPr lang="zh-CN" altLang="en-US" sz="2000" dirty="0">
                <a:latin typeface="微软雅黑" panose="020B0503020204020204" pitchFamily="34" charset="-122"/>
                <a:ea typeface="微软雅黑" panose="020B0503020204020204" pitchFamily="34" charset="-122"/>
              </a:rPr>
              <a:t>数据结构：是指对</a:t>
            </a:r>
            <a:r>
              <a:rPr lang="zh-CN" altLang="en-US" sz="2000" u="sng" dirty="0">
                <a:latin typeface="微软雅黑" panose="020B0503020204020204" pitchFamily="34" charset="-122"/>
                <a:ea typeface="微软雅黑" panose="020B0503020204020204" pitchFamily="34" charset="-122"/>
              </a:rPr>
              <a:t>实体类型</a:t>
            </a:r>
            <a:r>
              <a:rPr lang="zh-CN" altLang="en-US" sz="2000" dirty="0">
                <a:latin typeface="微软雅黑" panose="020B0503020204020204" pitchFamily="34" charset="-122"/>
                <a:ea typeface="微软雅黑" panose="020B0503020204020204" pitchFamily="34" charset="-122"/>
              </a:rPr>
              <a:t>和</a:t>
            </a:r>
            <a:r>
              <a:rPr lang="zh-CN" altLang="en-US" sz="2000" u="sng" dirty="0">
                <a:latin typeface="微软雅黑" panose="020B0503020204020204" pitchFamily="34" charset="-122"/>
                <a:ea typeface="微软雅黑" panose="020B0503020204020204" pitchFamily="34" charset="-122"/>
              </a:rPr>
              <a:t>实体间联系</a:t>
            </a:r>
            <a:r>
              <a:rPr lang="zh-CN" altLang="en-US" sz="2000" dirty="0">
                <a:latin typeface="微软雅黑" panose="020B0503020204020204" pitchFamily="34" charset="-122"/>
                <a:ea typeface="微软雅黑" panose="020B0503020204020204" pitchFamily="34" charset="-122"/>
              </a:rPr>
              <a:t>的表达和实现</a:t>
            </a:r>
            <a:endParaRPr lang="zh-CN" altLang="en-US" sz="2000" dirty="0">
              <a:latin typeface="微软雅黑" panose="020B0503020204020204" pitchFamily="34" charset="-122"/>
              <a:ea typeface="微软雅黑" panose="020B0503020204020204" pitchFamily="34" charset="-122"/>
            </a:endParaRPr>
          </a:p>
          <a:p>
            <a:pPr lvl="2"/>
            <a:r>
              <a:rPr lang="zh-CN" altLang="en-US" sz="2000" dirty="0">
                <a:latin typeface="微软雅黑" panose="020B0503020204020204" pitchFamily="34" charset="-122"/>
                <a:ea typeface="微软雅黑" panose="020B0503020204020204" pitchFamily="34" charset="-122"/>
              </a:rPr>
              <a:t>数据操作：是指对数据库的检索和更新（包括插入、删除和修改）两类操作</a:t>
            </a:r>
            <a:endParaRPr lang="zh-CN" altLang="en-US" sz="2000" dirty="0">
              <a:latin typeface="微软雅黑" panose="020B0503020204020204" pitchFamily="34" charset="-122"/>
              <a:ea typeface="微软雅黑" panose="020B0503020204020204" pitchFamily="34" charset="-122"/>
            </a:endParaRPr>
          </a:p>
          <a:p>
            <a:pPr lvl="2"/>
            <a:r>
              <a:rPr lang="zh-CN" altLang="en-US" sz="2000" dirty="0">
                <a:latin typeface="微软雅黑" panose="020B0503020204020204" pitchFamily="34" charset="-122"/>
                <a:ea typeface="微软雅黑" panose="020B0503020204020204" pitchFamily="34" charset="-122"/>
              </a:rPr>
              <a:t>数据完整性约束：给出数据及其联系应具有的制约和依赖规则</a:t>
            </a:r>
            <a:endParaRPr lang="zh-CN" altLang="en-US" sz="2000" dirty="0">
              <a:latin typeface="微软雅黑" panose="020B0503020204020204" pitchFamily="34" charset="-122"/>
              <a:ea typeface="微软雅黑" panose="020B0503020204020204" pitchFamily="34" charset="-122"/>
            </a:endParaRPr>
          </a:p>
          <a:p>
            <a:pPr lvl="2"/>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数据抽象的层次</a:t>
            </a:r>
            <a:endParaRPr lang="en-US" altLang="zh-CN"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pic>
        <p:nvPicPr>
          <p:cNvPr id="6" name="Picture 3" descr="j030125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4747133" y="2868379"/>
            <a:ext cx="1619250" cy="1184275"/>
          </a:xfrm>
          <a:prstGeom prst="rect">
            <a:avLst/>
          </a:prstGeom>
        </p:spPr>
      </p:pic>
      <p:sp>
        <p:nvSpPr>
          <p:cNvPr id="7" name="Cloud"/>
          <p:cNvSpPr>
            <a:spLocks noChangeAspect="1" noEditPoints="1" noChangeArrowheads="1"/>
          </p:cNvSpPr>
          <p:nvPr/>
        </p:nvSpPr>
        <p:spPr bwMode="auto">
          <a:xfrm>
            <a:off x="5186871" y="1341204"/>
            <a:ext cx="2743200" cy="1257300"/>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ln>
          <a:effectLst>
            <a:outerShdw dist="107763" dir="2700000" algn="ctr" rotWithShape="0">
              <a:srgbClr val="808080"/>
            </a:outerShdw>
          </a:effec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endParaRPr lang="en-US" altLang="zh-CN" sz="1800" dirty="0">
              <a:latin typeface="Helvetica" panose="020B0604020202020204" pitchFamily="34" charset="0"/>
            </a:endParaRPr>
          </a:p>
          <a:p>
            <a:pPr algn="ctr">
              <a:spcBef>
                <a:spcPct val="0"/>
              </a:spcBef>
              <a:buClrTx/>
              <a:buFontTx/>
              <a:buNone/>
            </a:pPr>
            <a:r>
              <a:rPr lang="zh-CN" altLang="en-US" sz="1800" dirty="0">
                <a:latin typeface="微软雅黑" panose="020B0503020204020204" pitchFamily="34" charset="-122"/>
                <a:ea typeface="微软雅黑" panose="020B0503020204020204" pitchFamily="34" charset="-122"/>
              </a:rPr>
              <a:t>现实世界</a:t>
            </a:r>
            <a:endParaRPr lang="zh-CN" altLang="en-US" sz="1800" dirty="0">
              <a:latin typeface="微软雅黑" panose="020B0503020204020204" pitchFamily="34" charset="-122"/>
              <a:ea typeface="微软雅黑" panose="020B0503020204020204" pitchFamily="34" charset="-122"/>
            </a:endParaRPr>
          </a:p>
        </p:txBody>
      </p:sp>
      <p:sp>
        <p:nvSpPr>
          <p:cNvPr id="8" name="AutoShape 5"/>
          <p:cNvSpPr>
            <a:spLocks noChangeArrowheads="1"/>
          </p:cNvSpPr>
          <p:nvPr/>
        </p:nvSpPr>
        <p:spPr bwMode="auto">
          <a:xfrm>
            <a:off x="5324983" y="4057417"/>
            <a:ext cx="2393950" cy="782637"/>
          </a:xfrm>
          <a:prstGeom prst="flowChartAlternateProcess">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dirty="0">
                <a:solidFill>
                  <a:schemeClr val="accent1">
                    <a:lumMod val="50000"/>
                  </a:schemeClr>
                </a:solidFill>
                <a:latin typeface="微软雅黑" panose="020B0503020204020204" pitchFamily="34" charset="-122"/>
                <a:ea typeface="微软雅黑" panose="020B0503020204020204" pitchFamily="34" charset="-122"/>
              </a:rPr>
              <a:t>信息世界 </a:t>
            </a:r>
            <a:endParaRPr lang="zh-CN" altLang="en-US" sz="1800" dirty="0">
              <a:solidFill>
                <a:schemeClr val="accent1">
                  <a:lumMod val="50000"/>
                </a:schemeClr>
              </a:solidFill>
              <a:latin typeface="微软雅黑" panose="020B0503020204020204" pitchFamily="34" charset="-122"/>
              <a:ea typeface="微软雅黑" panose="020B0503020204020204" pitchFamily="34" charset="-122"/>
            </a:endParaRPr>
          </a:p>
          <a:p>
            <a:pPr algn="ctr">
              <a:spcBef>
                <a:spcPct val="0"/>
              </a:spcBef>
              <a:buClrTx/>
              <a:buFontTx/>
              <a:buNone/>
            </a:pPr>
            <a:r>
              <a:rPr lang="zh-CN" altLang="en-US" sz="1800" dirty="0">
                <a:latin typeface="微软雅黑" panose="020B0503020204020204" pitchFamily="34" charset="-122"/>
                <a:ea typeface="微软雅黑" panose="020B0503020204020204" pitchFamily="34" charset="-122"/>
              </a:rPr>
              <a:t>概念模型</a:t>
            </a:r>
            <a:endParaRPr lang="zh-CN" altLang="en-US" sz="1800" dirty="0">
              <a:latin typeface="微软雅黑" panose="020B0503020204020204" pitchFamily="34" charset="-122"/>
              <a:ea typeface="微软雅黑" panose="020B0503020204020204" pitchFamily="34" charset="-122"/>
            </a:endParaRPr>
          </a:p>
        </p:txBody>
      </p:sp>
      <p:sp>
        <p:nvSpPr>
          <p:cNvPr id="9" name="AutoShape 6"/>
          <p:cNvSpPr>
            <a:spLocks noChangeArrowheads="1"/>
          </p:cNvSpPr>
          <p:nvPr/>
        </p:nvSpPr>
        <p:spPr bwMode="auto">
          <a:xfrm>
            <a:off x="5266246" y="5843354"/>
            <a:ext cx="2393950" cy="782638"/>
          </a:xfrm>
          <a:prstGeom prst="flowChartAlternateProcess">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dirty="0">
                <a:solidFill>
                  <a:schemeClr val="accent1">
                    <a:lumMod val="50000"/>
                  </a:schemeClr>
                </a:solidFill>
                <a:latin typeface="微软雅黑" panose="020B0503020204020204" pitchFamily="34" charset="-122"/>
                <a:ea typeface="微软雅黑" panose="020B0503020204020204" pitchFamily="34" charset="-122"/>
              </a:rPr>
              <a:t>机器世界 </a:t>
            </a:r>
            <a:endParaRPr lang="zh-CN" altLang="en-US" sz="1800" dirty="0">
              <a:solidFill>
                <a:schemeClr val="accent1">
                  <a:lumMod val="50000"/>
                </a:schemeClr>
              </a:solidFill>
              <a:latin typeface="微软雅黑" panose="020B0503020204020204" pitchFamily="34" charset="-122"/>
              <a:ea typeface="微软雅黑" panose="020B0503020204020204" pitchFamily="34" charset="-122"/>
            </a:endParaRPr>
          </a:p>
          <a:p>
            <a:pPr algn="ctr">
              <a:spcBef>
                <a:spcPct val="0"/>
              </a:spcBef>
              <a:buClrTx/>
              <a:buFontTx/>
              <a:buNone/>
            </a:pPr>
            <a:r>
              <a:rPr lang="en-US" altLang="zh-CN" sz="1800" dirty="0">
                <a:latin typeface="微软雅黑" panose="020B0503020204020204" pitchFamily="34" charset="-122"/>
                <a:ea typeface="微软雅黑" panose="020B0503020204020204" pitchFamily="34" charset="-122"/>
              </a:rPr>
              <a:t>DBMS</a:t>
            </a:r>
            <a:r>
              <a:rPr lang="zh-CN" altLang="en-US" sz="1800" dirty="0">
                <a:latin typeface="微软雅黑" panose="020B0503020204020204" pitchFamily="34" charset="-122"/>
                <a:ea typeface="微软雅黑" panose="020B0503020204020204" pitchFamily="34" charset="-122"/>
              </a:rPr>
              <a:t>支持的数据模型</a:t>
            </a:r>
            <a:endParaRPr lang="zh-CN" altLang="en-US" sz="1800" dirty="0">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flipH="1">
            <a:off x="6383846" y="2576279"/>
            <a:ext cx="14287" cy="1509713"/>
          </a:xfrm>
          <a:prstGeom prst="line">
            <a:avLst/>
          </a:prstGeom>
          <a:noFill/>
          <a:ln w="3810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8"/>
          <p:cNvSpPr>
            <a:spLocks noChangeShapeType="1"/>
          </p:cNvSpPr>
          <p:nvPr/>
        </p:nvSpPr>
        <p:spPr bwMode="auto">
          <a:xfrm>
            <a:off x="6412421" y="4854342"/>
            <a:ext cx="14287" cy="1016000"/>
          </a:xfrm>
          <a:prstGeom prst="line">
            <a:avLst/>
          </a:prstGeom>
          <a:noFill/>
          <a:ln w="38100">
            <a:solidFill>
              <a:schemeClr val="tx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Text Box 9"/>
          <p:cNvSpPr txBox="1">
            <a:spLocks noChangeArrowheads="1"/>
          </p:cNvSpPr>
          <p:nvPr/>
        </p:nvSpPr>
        <p:spPr bwMode="auto">
          <a:xfrm>
            <a:off x="6702933" y="3025542"/>
            <a:ext cx="7254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lang="zh-CN" altLang="en-US" sz="1800" dirty="0">
                <a:latin typeface="微软雅黑" panose="020B0503020204020204" pitchFamily="34" charset="-122"/>
                <a:ea typeface="微软雅黑" panose="020B0503020204020204" pitchFamily="34" charset="-122"/>
              </a:rPr>
              <a:t>认识抽象</a:t>
            </a:r>
            <a:endParaRPr lang="zh-CN" altLang="en-US" sz="1800" dirty="0">
              <a:latin typeface="微软雅黑" panose="020B0503020204020204" pitchFamily="34" charset="-122"/>
              <a:ea typeface="微软雅黑" panose="020B0503020204020204" pitchFamily="34" charset="-122"/>
            </a:endParaRPr>
          </a:p>
        </p:txBody>
      </p:sp>
      <p:sp>
        <p:nvSpPr>
          <p:cNvPr id="13" name="Text Box 10"/>
          <p:cNvSpPr txBox="1">
            <a:spLocks noChangeArrowheads="1"/>
          </p:cNvSpPr>
          <p:nvPr/>
        </p:nvSpPr>
        <p:spPr bwMode="auto">
          <a:xfrm>
            <a:off x="6558471" y="5203592"/>
            <a:ext cx="7254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FontTx/>
              <a:buNone/>
            </a:pPr>
            <a:r>
              <a:rPr lang="zh-CN" altLang="en-US" sz="1800" dirty="0">
                <a:latin typeface="微软雅黑" panose="020B0503020204020204" pitchFamily="34" charset="-122"/>
                <a:ea typeface="微软雅黑" panose="020B0503020204020204" pitchFamily="34" charset="-122"/>
              </a:rPr>
              <a:t>转换</a:t>
            </a:r>
            <a:endParaRPr lang="zh-CN" altLang="en-US" sz="1800" dirty="0">
              <a:latin typeface="微软雅黑" panose="020B0503020204020204" pitchFamily="34" charset="-122"/>
              <a:ea typeface="微软雅黑" panose="020B0503020204020204" pitchFamily="34" charset="-122"/>
            </a:endParaRPr>
          </a:p>
        </p:txBody>
      </p:sp>
      <p:sp>
        <p:nvSpPr>
          <p:cNvPr id="14" name="AutoShape 11"/>
          <p:cNvSpPr>
            <a:spLocks noChangeArrowheads="1"/>
          </p:cNvSpPr>
          <p:nvPr/>
        </p:nvSpPr>
        <p:spPr bwMode="auto">
          <a:xfrm>
            <a:off x="7868158" y="3517667"/>
            <a:ext cx="1668463" cy="666750"/>
          </a:xfrm>
          <a:prstGeom prst="wedgeRoundRectCallout">
            <a:avLst>
              <a:gd name="adj1" fmla="val -57324"/>
              <a:gd name="adj2" fmla="val 92856"/>
              <a:gd name="adj3" fmla="val 16667"/>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b="1" dirty="0">
                <a:latin typeface="微软雅黑" panose="020B0503020204020204" pitchFamily="34" charset="-122"/>
                <a:ea typeface="微软雅黑" panose="020B0503020204020204" pitchFamily="34" charset="-122"/>
              </a:rPr>
              <a:t>如</a:t>
            </a:r>
            <a:r>
              <a:rPr lang="en-US" altLang="zh-CN" sz="1800" b="1" dirty="0">
                <a:latin typeface="微软雅黑" panose="020B0503020204020204" pitchFamily="34" charset="-122"/>
                <a:ea typeface="微软雅黑" panose="020B0503020204020204" pitchFamily="34" charset="-122"/>
              </a:rPr>
              <a:t>E-R</a:t>
            </a:r>
            <a:r>
              <a:rPr lang="zh-CN" altLang="en-US" sz="1800" b="1" dirty="0">
                <a:latin typeface="微软雅黑" panose="020B0503020204020204" pitchFamily="34" charset="-122"/>
                <a:ea typeface="微软雅黑" panose="020B0503020204020204" pitchFamily="34" charset="-122"/>
              </a:rPr>
              <a:t>模型</a:t>
            </a:r>
            <a:endParaRPr lang="zh-CN" altLang="en-US" sz="1800" b="1" dirty="0">
              <a:latin typeface="微软雅黑" panose="020B0503020204020204" pitchFamily="34" charset="-122"/>
              <a:ea typeface="微软雅黑" panose="020B0503020204020204" pitchFamily="34" charset="-122"/>
            </a:endParaRPr>
          </a:p>
        </p:txBody>
      </p:sp>
      <p:sp>
        <p:nvSpPr>
          <p:cNvPr id="15" name="AutoShape 12"/>
          <p:cNvSpPr>
            <a:spLocks noChangeArrowheads="1"/>
          </p:cNvSpPr>
          <p:nvPr/>
        </p:nvSpPr>
        <p:spPr bwMode="auto">
          <a:xfrm>
            <a:off x="2310321" y="4462229"/>
            <a:ext cx="2365375" cy="1144588"/>
          </a:xfrm>
          <a:prstGeom prst="wedgeRoundRectCallout">
            <a:avLst>
              <a:gd name="adj1" fmla="val 79801"/>
              <a:gd name="adj2" fmla="val 93968"/>
              <a:gd name="adj3" fmla="val 16667"/>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b="1" dirty="0">
                <a:latin typeface="微软雅黑" panose="020B0503020204020204" pitchFamily="34" charset="-122"/>
                <a:ea typeface="微软雅黑" panose="020B0503020204020204" pitchFamily="34" charset="-122"/>
              </a:rPr>
              <a:t>如关系模型、层次模型、网状模型、面向对象模型</a:t>
            </a:r>
            <a:endParaRPr lang="zh-CN" altLang="en-US" sz="18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数据抽象的层次</a:t>
            </a:r>
            <a:endParaRPr lang="en-US" altLang="zh-CN" sz="2800" b="1" dirty="0"/>
          </a:p>
          <a:p>
            <a:pPr lvl="1"/>
            <a:r>
              <a:rPr lang="zh-CN" altLang="en-US" dirty="0"/>
              <a:t>现实世界：存在于人们头脑之外的客观世界</a:t>
            </a:r>
            <a:endParaRPr lang="zh-CN" altLang="en-US" dirty="0"/>
          </a:p>
          <a:p>
            <a:pPr lvl="1"/>
            <a:r>
              <a:rPr lang="zh-CN" altLang="en-US" dirty="0"/>
              <a:t>信息世界：是现实世界在人们头脑中的反映，人们可以通过文字符号形式将其记载下来。</a:t>
            </a:r>
            <a:endParaRPr lang="zh-CN" altLang="en-US" dirty="0"/>
          </a:p>
          <a:p>
            <a:pPr lvl="1"/>
            <a:r>
              <a:rPr lang="zh-CN" altLang="en-US" dirty="0"/>
              <a:t>机器世界：信息世界的信息在机器世界以二进制数据形式存储。</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数据模型的级别</a:t>
            </a:r>
            <a:endParaRPr lang="en-US" altLang="zh-CN" sz="2800" b="1" dirty="0"/>
          </a:p>
          <a:p>
            <a:pPr lvl="1"/>
            <a:r>
              <a:rPr lang="zh-CN" altLang="en-US" dirty="0"/>
              <a:t>针对不同的使用对象和应用目的，采用不同层次的数据模型，一般可分为下面三个级别：</a:t>
            </a:r>
            <a:endParaRPr lang="zh-CN" altLang="en-US" dirty="0"/>
          </a:p>
          <a:p>
            <a:pPr lvl="2"/>
            <a:r>
              <a:rPr lang="zh-CN" altLang="en-US" dirty="0">
                <a:solidFill>
                  <a:schemeClr val="accent2">
                    <a:lumMod val="75000"/>
                  </a:schemeClr>
                </a:solidFill>
              </a:rPr>
              <a:t>概念数据模型</a:t>
            </a:r>
            <a:r>
              <a:rPr lang="en-US" altLang="zh-CN" dirty="0"/>
              <a:t>(conceptual data model)</a:t>
            </a:r>
            <a:r>
              <a:rPr lang="zh-CN" altLang="en-US" dirty="0"/>
              <a:t>：面向用户、面向现实世界的数据模型，与特定的</a:t>
            </a:r>
            <a:r>
              <a:rPr lang="en-US" altLang="zh-CN" dirty="0"/>
              <a:t>DBMS</a:t>
            </a:r>
            <a:r>
              <a:rPr lang="zh-CN" altLang="en-US" dirty="0"/>
              <a:t>无关</a:t>
            </a:r>
            <a:endParaRPr lang="zh-CN" altLang="en-US" dirty="0"/>
          </a:p>
          <a:p>
            <a:pPr lvl="2"/>
            <a:r>
              <a:rPr lang="zh-CN" altLang="en-US" dirty="0">
                <a:solidFill>
                  <a:schemeClr val="accent2">
                    <a:lumMod val="75000"/>
                  </a:schemeClr>
                </a:solidFill>
              </a:rPr>
              <a:t>逻辑数据模型</a:t>
            </a:r>
            <a:r>
              <a:rPr lang="en-US" altLang="zh-CN" dirty="0"/>
              <a:t>(logical data model)</a:t>
            </a:r>
            <a:r>
              <a:rPr lang="zh-CN" altLang="en-US" dirty="0"/>
              <a:t>：用户从数据库系统所看到的数据模型，与</a:t>
            </a:r>
            <a:r>
              <a:rPr lang="en-US" altLang="zh-CN" dirty="0"/>
              <a:t>DBMS</a:t>
            </a:r>
            <a:r>
              <a:rPr lang="zh-CN" altLang="en-US" dirty="0"/>
              <a:t>相关</a:t>
            </a:r>
            <a:endParaRPr lang="zh-CN" altLang="en-US" dirty="0"/>
          </a:p>
          <a:p>
            <a:pPr lvl="2"/>
            <a:r>
              <a:rPr lang="zh-CN" altLang="en-US" dirty="0">
                <a:solidFill>
                  <a:schemeClr val="accent2">
                    <a:lumMod val="75000"/>
                  </a:schemeClr>
                </a:solidFill>
              </a:rPr>
              <a:t>物理数据模型</a:t>
            </a:r>
            <a:r>
              <a:rPr lang="en-US" altLang="zh-CN" dirty="0"/>
              <a:t>(physical data model)</a:t>
            </a:r>
            <a:r>
              <a:rPr lang="zh-CN" altLang="en-US" dirty="0"/>
              <a:t>：反映数据存储结构的数据模型</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概念数据模型</a:t>
            </a:r>
            <a:endParaRPr lang="en-US" altLang="zh-CN" sz="2800" b="1" dirty="0"/>
          </a:p>
          <a:p>
            <a:pPr lvl="1"/>
            <a:r>
              <a:rPr lang="zh-CN" altLang="en-US" dirty="0"/>
              <a:t>概念数据模型是将数据从现实世界向抽象世界转换的第一步模型</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pSp>
        <p:nvGrpSpPr>
          <p:cNvPr id="26" name="Group 4"/>
          <p:cNvGrpSpPr/>
          <p:nvPr/>
        </p:nvGrpSpPr>
        <p:grpSpPr bwMode="auto">
          <a:xfrm>
            <a:off x="3762645" y="2550668"/>
            <a:ext cx="4146550" cy="3810000"/>
            <a:chOff x="1824" y="1488"/>
            <a:chExt cx="2612" cy="2400"/>
          </a:xfrm>
        </p:grpSpPr>
        <p:sp>
          <p:nvSpPr>
            <p:cNvPr id="27" name="AutoShape 5"/>
            <p:cNvSpPr>
              <a:spLocks noChangeArrowheads="1"/>
            </p:cNvSpPr>
            <p:nvPr/>
          </p:nvSpPr>
          <p:spPr bwMode="auto">
            <a:xfrm>
              <a:off x="2160" y="1488"/>
              <a:ext cx="1920" cy="480"/>
            </a:xfrm>
            <a:prstGeom prst="irregularSeal2">
              <a:avLst/>
            </a:prstGeom>
            <a:solidFill>
              <a:srgbClr val="07F3F9"/>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b="1" dirty="0">
                  <a:latin typeface="微软雅黑" panose="020B0503020204020204" pitchFamily="34" charset="-122"/>
                  <a:ea typeface="微软雅黑" panose="020B0503020204020204" pitchFamily="34" charset="-122"/>
                </a:rPr>
                <a:t>现实世界</a:t>
              </a:r>
              <a:endParaRPr kumimoji="1" lang="zh-CN" altLang="en-US" sz="2400" b="1" dirty="0">
                <a:latin typeface="微软雅黑" panose="020B0503020204020204" pitchFamily="34" charset="-122"/>
                <a:ea typeface="微软雅黑" panose="020B0503020204020204" pitchFamily="34" charset="-122"/>
              </a:endParaRPr>
            </a:p>
          </p:txBody>
        </p:sp>
        <p:sp>
          <p:nvSpPr>
            <p:cNvPr id="28" name="AutoShape 6"/>
            <p:cNvSpPr>
              <a:spLocks noChangeArrowheads="1"/>
            </p:cNvSpPr>
            <p:nvPr/>
          </p:nvSpPr>
          <p:spPr bwMode="auto">
            <a:xfrm>
              <a:off x="2736" y="2112"/>
              <a:ext cx="576" cy="336"/>
            </a:xfrm>
            <a:prstGeom prst="smileyFace">
              <a:avLst>
                <a:gd name="adj" fmla="val 4653"/>
              </a:avLst>
            </a:prstGeom>
            <a:solidFill>
              <a:srgbClr val="07F3F9"/>
            </a:solidFill>
            <a:ln w="12700" cap="sq">
              <a:solidFill>
                <a:schemeClr val="tx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9" name="Rectangle 7"/>
            <p:cNvSpPr>
              <a:spLocks noChangeArrowheads="1"/>
            </p:cNvSpPr>
            <p:nvPr/>
          </p:nvSpPr>
          <p:spPr bwMode="auto">
            <a:xfrm>
              <a:off x="1824" y="2688"/>
              <a:ext cx="2592" cy="336"/>
            </a:xfrm>
            <a:prstGeom prst="rect">
              <a:avLst/>
            </a:prstGeom>
            <a:solidFill>
              <a:srgbClr val="07F3F9"/>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b="1" dirty="0">
                  <a:latin typeface="微软雅黑" panose="020B0503020204020204" pitchFamily="34" charset="-122"/>
                  <a:ea typeface="微软雅黑" panose="020B0503020204020204" pitchFamily="34" charset="-122"/>
                </a:rPr>
                <a:t>信息世界</a:t>
              </a:r>
              <a:r>
                <a:rPr kumimoji="1" lang="en-US" altLang="zh-CN" sz="2400" b="1" dirty="0">
                  <a:latin typeface="微软雅黑" panose="020B0503020204020204" pitchFamily="34" charset="-122"/>
                  <a:ea typeface="微软雅黑" panose="020B0503020204020204" pitchFamily="34" charset="-122"/>
                </a:rPr>
                <a:t>(</a:t>
              </a:r>
              <a:r>
                <a:rPr kumimoji="1" lang="zh-CN" altLang="en-US" sz="2400" b="1" dirty="0">
                  <a:latin typeface="微软雅黑" panose="020B0503020204020204" pitchFamily="34" charset="-122"/>
                  <a:ea typeface="微软雅黑" panose="020B0503020204020204" pitchFamily="34" charset="-122"/>
                </a:rPr>
                <a:t>概念模型</a:t>
              </a:r>
              <a:r>
                <a:rPr kumimoji="1" lang="en-US" altLang="zh-CN" sz="2400" b="1" dirty="0">
                  <a:latin typeface="微软雅黑" panose="020B0503020204020204" pitchFamily="34" charset="-122"/>
                  <a:ea typeface="微软雅黑" panose="020B0503020204020204" pitchFamily="34" charset="-122"/>
                </a:rPr>
                <a:t>)</a:t>
              </a:r>
              <a:endParaRPr kumimoji="1" lang="en-US" altLang="zh-CN" sz="2400" b="1" dirty="0">
                <a:latin typeface="微软雅黑" panose="020B0503020204020204" pitchFamily="34" charset="-122"/>
                <a:ea typeface="微软雅黑" panose="020B0503020204020204" pitchFamily="34" charset="-122"/>
              </a:endParaRPr>
            </a:p>
          </p:txBody>
        </p:sp>
        <p:sp>
          <p:nvSpPr>
            <p:cNvPr id="30" name="Rectangle 8"/>
            <p:cNvSpPr>
              <a:spLocks noChangeArrowheads="1"/>
            </p:cNvSpPr>
            <p:nvPr/>
          </p:nvSpPr>
          <p:spPr bwMode="auto">
            <a:xfrm>
              <a:off x="1824" y="3360"/>
              <a:ext cx="2592" cy="528"/>
            </a:xfrm>
            <a:prstGeom prst="rect">
              <a:avLst/>
            </a:prstGeom>
            <a:solidFill>
              <a:srgbClr val="07F3F9"/>
            </a:solidFill>
            <a:ln w="12700" cap="sq">
              <a:solidFill>
                <a:schemeClr val="tx1"/>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b="1" dirty="0">
                  <a:latin typeface="微软雅黑" panose="020B0503020204020204" pitchFamily="34" charset="-122"/>
                  <a:ea typeface="微软雅黑" panose="020B0503020204020204" pitchFamily="34" charset="-122"/>
                </a:rPr>
                <a:t>机器世界</a:t>
              </a:r>
              <a:r>
                <a:rPr kumimoji="1" lang="en-US" altLang="zh-CN" sz="2400" b="1" dirty="0">
                  <a:latin typeface="微软雅黑" panose="020B0503020204020204" pitchFamily="34" charset="-122"/>
                  <a:ea typeface="微软雅黑" panose="020B0503020204020204" pitchFamily="34" charset="-122"/>
                </a:rPr>
                <a:t>(DBMS</a:t>
              </a:r>
              <a:r>
                <a:rPr kumimoji="1" lang="zh-CN" altLang="en-US" sz="2400" b="1" dirty="0">
                  <a:latin typeface="微软雅黑" panose="020B0503020204020204" pitchFamily="34" charset="-122"/>
                  <a:ea typeface="微软雅黑" panose="020B0503020204020204" pitchFamily="34" charset="-122"/>
                </a:rPr>
                <a:t>支持的</a:t>
              </a:r>
              <a:endParaRPr kumimoji="1" lang="zh-CN" altLang="en-US" sz="2400" b="1" dirty="0">
                <a:latin typeface="微软雅黑" panose="020B0503020204020204" pitchFamily="34" charset="-122"/>
                <a:ea typeface="微软雅黑" panose="020B0503020204020204" pitchFamily="34" charset="-122"/>
              </a:endParaRPr>
            </a:p>
            <a:p>
              <a:pPr algn="ctr" eaLnBrk="1" hangingPunct="1">
                <a:spcBef>
                  <a:spcPct val="0"/>
                </a:spcBef>
                <a:buClrTx/>
                <a:buFontTx/>
                <a:buNone/>
              </a:pPr>
              <a:r>
                <a:rPr kumimoji="1" lang="zh-CN" altLang="en-US" sz="2400" b="1" dirty="0">
                  <a:latin typeface="微软雅黑" panose="020B0503020204020204" pitchFamily="34" charset="-122"/>
                  <a:ea typeface="微软雅黑" panose="020B0503020204020204" pitchFamily="34" charset="-122"/>
                </a:rPr>
                <a:t>数据模型</a:t>
              </a:r>
              <a:r>
                <a:rPr kumimoji="1" lang="en-US" altLang="zh-CN" sz="2400" b="1" dirty="0">
                  <a:latin typeface="微软雅黑" panose="020B0503020204020204" pitchFamily="34" charset="-122"/>
                  <a:ea typeface="微软雅黑" panose="020B0503020204020204" pitchFamily="34" charset="-122"/>
                </a:rPr>
                <a:t>)</a:t>
              </a:r>
              <a:endParaRPr kumimoji="1" lang="en-US" altLang="zh-CN" sz="2400" b="1" dirty="0">
                <a:latin typeface="微软雅黑" panose="020B0503020204020204" pitchFamily="34" charset="-122"/>
                <a:ea typeface="微软雅黑" panose="020B0503020204020204" pitchFamily="34" charset="-122"/>
              </a:endParaRPr>
            </a:p>
          </p:txBody>
        </p:sp>
        <p:sp>
          <p:nvSpPr>
            <p:cNvPr id="31" name="Line 9"/>
            <p:cNvSpPr>
              <a:spLocks noChangeShapeType="1"/>
            </p:cNvSpPr>
            <p:nvPr/>
          </p:nvSpPr>
          <p:spPr bwMode="auto">
            <a:xfrm>
              <a:off x="3024" y="1872"/>
              <a:ext cx="0" cy="240"/>
            </a:xfrm>
            <a:prstGeom prst="line">
              <a:avLst/>
            </a:prstGeom>
            <a:noFill/>
            <a:ln w="1270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2" name="Line 10"/>
            <p:cNvSpPr>
              <a:spLocks noChangeShapeType="1"/>
            </p:cNvSpPr>
            <p:nvPr/>
          </p:nvSpPr>
          <p:spPr bwMode="auto">
            <a:xfrm>
              <a:off x="3024" y="2448"/>
              <a:ext cx="0" cy="240"/>
            </a:xfrm>
            <a:prstGeom prst="line">
              <a:avLst/>
            </a:prstGeom>
            <a:noFill/>
            <a:ln w="1270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3" name="Line 11"/>
            <p:cNvSpPr>
              <a:spLocks noChangeShapeType="1"/>
            </p:cNvSpPr>
            <p:nvPr/>
          </p:nvSpPr>
          <p:spPr bwMode="auto">
            <a:xfrm>
              <a:off x="3024" y="3024"/>
              <a:ext cx="0" cy="336"/>
            </a:xfrm>
            <a:prstGeom prst="line">
              <a:avLst/>
            </a:prstGeom>
            <a:noFill/>
            <a:ln w="1270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Text Box 12"/>
            <p:cNvSpPr txBox="1">
              <a:spLocks noChangeArrowheads="1"/>
            </p:cNvSpPr>
            <p:nvPr/>
          </p:nvSpPr>
          <p:spPr bwMode="auto">
            <a:xfrm>
              <a:off x="3360" y="2160"/>
              <a:ext cx="1076" cy="288"/>
            </a:xfrm>
            <a:prstGeom prst="rect">
              <a:avLst/>
            </a:prstGeom>
            <a:noFill/>
            <a:ln>
              <a:noFill/>
            </a:ln>
            <a:effectLst/>
            <a:extLst>
              <a:ext uri="{909E8E84-426E-40DD-AFC4-6F175D3DCCD1}">
                <a14:hiddenFill xmlns:a14="http://schemas.microsoft.com/office/drawing/2010/main">
                  <a:solidFill>
                    <a:srgbClr val="07F3F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b="1" dirty="0">
                  <a:latin typeface="微软雅黑" panose="020B0503020204020204" pitchFamily="34" charset="-122"/>
                  <a:ea typeface="微软雅黑" panose="020B0503020204020204" pitchFamily="34" charset="-122"/>
                </a:rPr>
                <a:t>认识和抽象</a:t>
              </a:r>
              <a:endParaRPr kumimoji="1" lang="zh-CN" altLang="en-US" sz="2400" b="1" dirty="0">
                <a:latin typeface="微软雅黑" panose="020B0503020204020204" pitchFamily="34" charset="-122"/>
                <a:ea typeface="微软雅黑" panose="020B0503020204020204" pitchFamily="34" charset="-122"/>
              </a:endParaRPr>
            </a:p>
          </p:txBody>
        </p:sp>
        <p:sp>
          <p:nvSpPr>
            <p:cNvPr id="35" name="Text Box 13"/>
            <p:cNvSpPr txBox="1">
              <a:spLocks noChangeArrowheads="1"/>
            </p:cNvSpPr>
            <p:nvPr/>
          </p:nvSpPr>
          <p:spPr bwMode="auto">
            <a:xfrm>
              <a:off x="3168" y="3024"/>
              <a:ext cx="500" cy="288"/>
            </a:xfrm>
            <a:prstGeom prst="rect">
              <a:avLst/>
            </a:prstGeom>
            <a:noFill/>
            <a:ln>
              <a:noFill/>
            </a:ln>
            <a:effectLst/>
            <a:extLst>
              <a:ext uri="{909E8E84-426E-40DD-AFC4-6F175D3DCCD1}">
                <a14:hiddenFill xmlns:a14="http://schemas.microsoft.com/office/drawing/2010/main">
                  <a:solidFill>
                    <a:srgbClr val="07F3F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b="1" dirty="0">
                  <a:latin typeface="微软雅黑" panose="020B0503020204020204" pitchFamily="34" charset="-122"/>
                  <a:ea typeface="微软雅黑" panose="020B0503020204020204" pitchFamily="34" charset="-122"/>
                </a:rPr>
                <a:t>转换</a:t>
              </a:r>
              <a:endParaRPr kumimoji="1" lang="zh-CN" altLang="en-US" sz="2400" b="1" dirty="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概念模型</a:t>
            </a:r>
            <a:endParaRPr lang="en-US" altLang="zh-CN" sz="2800" b="1" dirty="0"/>
          </a:p>
          <a:p>
            <a:pPr lvl="1"/>
            <a:r>
              <a:rPr lang="zh-CN" altLang="en-US" dirty="0"/>
              <a:t>概念数据模型的实例：</a:t>
            </a:r>
            <a:endParaRPr lang="zh-CN" altLang="en-US" dirty="0"/>
          </a:p>
          <a:p>
            <a:pPr lvl="2"/>
            <a:r>
              <a:rPr lang="zh-CN" altLang="en-US" dirty="0"/>
              <a:t>实体－联系</a:t>
            </a:r>
            <a:r>
              <a:rPr lang="en-US" altLang="zh-CN" dirty="0"/>
              <a:t>(ER)</a:t>
            </a:r>
            <a:r>
              <a:rPr lang="zh-CN" altLang="en-US" dirty="0"/>
              <a:t>模型</a:t>
            </a:r>
            <a:endParaRPr lang="zh-CN" altLang="en-US" dirty="0"/>
          </a:p>
          <a:p>
            <a:pPr lvl="3"/>
            <a:r>
              <a:rPr lang="zh-CN" altLang="en-US" dirty="0"/>
              <a:t>实体：实体是客观世界中可区别的客观对象或抽象概念</a:t>
            </a:r>
            <a:endParaRPr lang="zh-CN" altLang="en-US" dirty="0"/>
          </a:p>
          <a:p>
            <a:pPr lvl="3"/>
            <a:r>
              <a:rPr lang="zh-CN" altLang="en-US" dirty="0"/>
              <a:t>属性：属性是实体特征的抽象，实体全部属性的集合称为实体型。当实体型全部属性的值确定之后，就得到实体型的一个实例</a:t>
            </a:r>
            <a:endParaRPr lang="zh-CN" altLang="en-US" dirty="0"/>
          </a:p>
          <a:p>
            <a:pPr lvl="3"/>
            <a:r>
              <a:rPr lang="zh-CN" altLang="en-US" dirty="0"/>
              <a:t>实体间联系：实体间联系对应于客观世界中各种对象或抽象概念之间的联系</a:t>
            </a:r>
            <a:endParaRPr lang="zh-CN" altLang="en-US" dirty="0"/>
          </a:p>
          <a:p>
            <a:pPr lvl="3"/>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实体－联系</a:t>
            </a:r>
            <a:r>
              <a:rPr lang="en-US" altLang="zh-CN" sz="2800" dirty="0">
                <a:latin typeface="微软雅黑" panose="020B0503020204020204" pitchFamily="34" charset="-122"/>
                <a:ea typeface="微软雅黑" panose="020B0503020204020204" pitchFamily="34" charset="-122"/>
              </a:rPr>
              <a:t>(ER)</a:t>
            </a:r>
            <a:r>
              <a:rPr lang="zh-CN" altLang="en-US" sz="2800" dirty="0">
                <a:latin typeface="微软雅黑" panose="020B0503020204020204" pitchFamily="34" charset="-122"/>
                <a:ea typeface="微软雅黑" panose="020B0503020204020204" pitchFamily="34" charset="-122"/>
              </a:rPr>
              <a:t>模型</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例</a:t>
            </a:r>
            <a:endParaRPr lang="zh-CN" altLang="en-US"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
        <p:nvSpPr>
          <p:cNvPr id="6" name="Rectangle 3"/>
          <p:cNvSpPr>
            <a:spLocks noChangeArrowheads="1"/>
          </p:cNvSpPr>
          <p:nvPr/>
        </p:nvSpPr>
        <p:spPr bwMode="auto">
          <a:xfrm>
            <a:off x="3096634" y="2209800"/>
            <a:ext cx="1219200" cy="533400"/>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dirty="0">
                <a:latin typeface="微软雅黑" panose="020B0503020204020204" pitchFamily="34" charset="-122"/>
                <a:ea typeface="微软雅黑" panose="020B0503020204020204" pitchFamily="34" charset="-122"/>
              </a:rPr>
              <a:t>供应商</a:t>
            </a:r>
            <a:endParaRPr kumimoji="1" lang="zh-CN" altLang="en-US" sz="2400" dirty="0">
              <a:latin typeface="微软雅黑" panose="020B0503020204020204" pitchFamily="34" charset="-122"/>
              <a:ea typeface="微软雅黑" panose="020B0503020204020204" pitchFamily="34" charset="-122"/>
            </a:endParaRPr>
          </a:p>
        </p:txBody>
      </p:sp>
      <p:sp>
        <p:nvSpPr>
          <p:cNvPr id="7" name="Rectangle 4"/>
          <p:cNvSpPr>
            <a:spLocks noChangeArrowheads="1"/>
          </p:cNvSpPr>
          <p:nvPr/>
        </p:nvSpPr>
        <p:spPr bwMode="auto">
          <a:xfrm>
            <a:off x="2182234" y="4953000"/>
            <a:ext cx="1143000" cy="533400"/>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dirty="0">
                <a:latin typeface="微软雅黑" panose="020B0503020204020204" pitchFamily="34" charset="-122"/>
                <a:ea typeface="微软雅黑" panose="020B0503020204020204" pitchFamily="34" charset="-122"/>
              </a:rPr>
              <a:t>项目</a:t>
            </a:r>
            <a:endParaRPr kumimoji="1" lang="zh-CN" altLang="en-US" sz="2400" dirty="0">
              <a:latin typeface="微软雅黑" panose="020B0503020204020204" pitchFamily="34" charset="-122"/>
              <a:ea typeface="微软雅黑" panose="020B0503020204020204" pitchFamily="34" charset="-122"/>
            </a:endParaRPr>
          </a:p>
        </p:txBody>
      </p:sp>
      <p:sp>
        <p:nvSpPr>
          <p:cNvPr id="8" name="Rectangle 5"/>
          <p:cNvSpPr>
            <a:spLocks noChangeArrowheads="1"/>
          </p:cNvSpPr>
          <p:nvPr/>
        </p:nvSpPr>
        <p:spPr bwMode="auto">
          <a:xfrm>
            <a:off x="5535034" y="4953000"/>
            <a:ext cx="1066800" cy="533400"/>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零件</a:t>
            </a:r>
            <a:endParaRPr kumimoji="1" lang="zh-CN" altLang="en-US" sz="2400">
              <a:latin typeface="微软雅黑" panose="020B0503020204020204" pitchFamily="34" charset="-122"/>
              <a:ea typeface="微软雅黑" panose="020B0503020204020204" pitchFamily="34" charset="-122"/>
            </a:endParaRPr>
          </a:p>
        </p:txBody>
      </p:sp>
      <p:sp>
        <p:nvSpPr>
          <p:cNvPr id="9" name="AutoShape 6"/>
          <p:cNvSpPr>
            <a:spLocks noChangeArrowheads="1"/>
          </p:cNvSpPr>
          <p:nvPr/>
        </p:nvSpPr>
        <p:spPr bwMode="auto">
          <a:xfrm>
            <a:off x="2868034" y="3352800"/>
            <a:ext cx="1676400" cy="609600"/>
          </a:xfrm>
          <a:prstGeom prst="diamond">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供应</a:t>
            </a:r>
            <a:endParaRPr kumimoji="1" lang="zh-CN" altLang="en-US" sz="2400">
              <a:latin typeface="微软雅黑" panose="020B0503020204020204" pitchFamily="34" charset="-122"/>
              <a:ea typeface="微软雅黑" panose="020B0503020204020204" pitchFamily="34" charset="-122"/>
            </a:endParaRPr>
          </a:p>
        </p:txBody>
      </p:sp>
      <p:sp>
        <p:nvSpPr>
          <p:cNvPr id="10" name="AutoShape 7"/>
          <p:cNvSpPr>
            <a:spLocks noChangeArrowheads="1"/>
          </p:cNvSpPr>
          <p:nvPr/>
        </p:nvSpPr>
        <p:spPr bwMode="auto">
          <a:xfrm>
            <a:off x="3020434" y="4267200"/>
            <a:ext cx="1371600" cy="457200"/>
          </a:xfrm>
          <a:prstGeom prst="roundRect">
            <a:avLst>
              <a:gd name="adj" fmla="val 40106"/>
            </a:avLst>
          </a:prstGeom>
          <a:solidFill>
            <a:schemeClr val="accent1">
              <a:lumMod val="60000"/>
              <a:lumOff val="40000"/>
            </a:schemeClr>
          </a:solidFill>
          <a:ln w="12700">
            <a:solidFill>
              <a:schemeClr val="tx1"/>
            </a:solidFill>
            <a:round/>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dirty="0">
                <a:latin typeface="微软雅黑" panose="020B0503020204020204" pitchFamily="34" charset="-122"/>
                <a:ea typeface="微软雅黑" panose="020B0503020204020204" pitchFamily="34" charset="-122"/>
              </a:rPr>
              <a:t>供应量</a:t>
            </a:r>
            <a:endParaRPr kumimoji="1" lang="zh-CN" altLang="en-US" sz="2400" dirty="0">
              <a:latin typeface="微软雅黑" panose="020B0503020204020204" pitchFamily="34" charset="-122"/>
              <a:ea typeface="微软雅黑" panose="020B0503020204020204" pitchFamily="34" charset="-122"/>
            </a:endParaRPr>
          </a:p>
        </p:txBody>
      </p:sp>
      <p:sp>
        <p:nvSpPr>
          <p:cNvPr id="11" name="AutoShape 8"/>
          <p:cNvSpPr>
            <a:spLocks noChangeArrowheads="1"/>
          </p:cNvSpPr>
          <p:nvPr/>
        </p:nvSpPr>
        <p:spPr bwMode="auto">
          <a:xfrm>
            <a:off x="5154034" y="3352800"/>
            <a:ext cx="1524000" cy="685800"/>
          </a:xfrm>
          <a:prstGeom prst="diamond">
            <a:avLst/>
          </a:prstGeom>
          <a:solidFill>
            <a:schemeClr val="accent1">
              <a:lumMod val="60000"/>
              <a:lumOff val="40000"/>
            </a:schemeClr>
          </a:solidFill>
          <a:ln w="12700">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库存</a:t>
            </a:r>
            <a:endParaRPr kumimoji="1" lang="zh-CN" altLang="en-US" sz="2400">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5382634" y="2209800"/>
            <a:ext cx="1143000" cy="533400"/>
          </a:xfrm>
          <a:prstGeom prst="rect">
            <a:avLst/>
          </a:prstGeom>
          <a:solidFill>
            <a:schemeClr val="accent1">
              <a:lumMod val="60000"/>
              <a:lumOff val="40000"/>
            </a:schemeClr>
          </a:solidFill>
          <a:ln w="12700">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仓库</a:t>
            </a:r>
            <a:endParaRPr kumimoji="1" lang="zh-CN" altLang="en-US" sz="2400">
              <a:latin typeface="微软雅黑" panose="020B0503020204020204" pitchFamily="34" charset="-122"/>
              <a:ea typeface="微软雅黑" panose="020B0503020204020204" pitchFamily="34" charset="-122"/>
            </a:endParaRPr>
          </a:p>
        </p:txBody>
      </p:sp>
      <p:sp>
        <p:nvSpPr>
          <p:cNvPr id="13" name="AutoShape 10"/>
          <p:cNvSpPr>
            <a:spLocks noChangeArrowheads="1"/>
          </p:cNvSpPr>
          <p:nvPr/>
        </p:nvSpPr>
        <p:spPr bwMode="auto">
          <a:xfrm>
            <a:off x="6982834" y="3429000"/>
            <a:ext cx="1295400" cy="533400"/>
          </a:xfrm>
          <a:prstGeom prst="roundRect">
            <a:avLst>
              <a:gd name="adj" fmla="val 50000"/>
            </a:avLst>
          </a:prstGeom>
          <a:solidFill>
            <a:schemeClr val="accent1">
              <a:lumMod val="60000"/>
              <a:lumOff val="40000"/>
            </a:schemeClr>
          </a:solidFill>
          <a:ln w="12700">
            <a:solidFill>
              <a:schemeClr val="tx1"/>
            </a:solidFill>
            <a:round/>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库存量</a:t>
            </a:r>
            <a:endParaRPr kumimoji="1" lang="zh-CN" altLang="en-US" sz="2400">
              <a:latin typeface="微软雅黑" panose="020B0503020204020204" pitchFamily="34" charset="-122"/>
              <a:ea typeface="微软雅黑" panose="020B0503020204020204" pitchFamily="34" charset="-122"/>
            </a:endParaRPr>
          </a:p>
        </p:txBody>
      </p:sp>
      <p:sp>
        <p:nvSpPr>
          <p:cNvPr id="14" name="Rectangle 11"/>
          <p:cNvSpPr>
            <a:spLocks noChangeArrowheads="1"/>
          </p:cNvSpPr>
          <p:nvPr/>
        </p:nvSpPr>
        <p:spPr bwMode="auto">
          <a:xfrm>
            <a:off x="8583034" y="2209800"/>
            <a:ext cx="1447800" cy="533400"/>
          </a:xfrm>
          <a:prstGeom prst="rect">
            <a:avLst/>
          </a:prstGeom>
          <a:solidFill>
            <a:schemeClr val="accent1">
              <a:lumMod val="60000"/>
              <a:lumOff val="40000"/>
            </a:schemeClr>
          </a:solidFill>
          <a:ln w="12700">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职工</a:t>
            </a:r>
            <a:endParaRPr kumimoji="1" lang="zh-CN" altLang="en-US" sz="2400">
              <a:latin typeface="微软雅黑" panose="020B0503020204020204" pitchFamily="34" charset="-122"/>
              <a:ea typeface="微软雅黑" panose="020B0503020204020204" pitchFamily="34" charset="-122"/>
            </a:endParaRPr>
          </a:p>
        </p:txBody>
      </p:sp>
      <p:sp>
        <p:nvSpPr>
          <p:cNvPr id="15" name="AutoShape 12"/>
          <p:cNvSpPr>
            <a:spLocks noChangeArrowheads="1"/>
          </p:cNvSpPr>
          <p:nvPr/>
        </p:nvSpPr>
        <p:spPr bwMode="auto">
          <a:xfrm>
            <a:off x="8811634" y="3581400"/>
            <a:ext cx="1143000" cy="762000"/>
          </a:xfrm>
          <a:prstGeom prst="diamond">
            <a:avLst/>
          </a:prstGeom>
          <a:solidFill>
            <a:schemeClr val="accent1">
              <a:lumMod val="60000"/>
              <a:lumOff val="40000"/>
            </a:schemeClr>
          </a:solidFill>
          <a:ln w="12700">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领导</a:t>
            </a:r>
            <a:endParaRPr kumimoji="1" lang="zh-CN" altLang="en-US" sz="2400">
              <a:latin typeface="微软雅黑" panose="020B0503020204020204" pitchFamily="34" charset="-122"/>
              <a:ea typeface="微软雅黑" panose="020B0503020204020204" pitchFamily="34" charset="-122"/>
            </a:endParaRPr>
          </a:p>
        </p:txBody>
      </p:sp>
      <p:sp>
        <p:nvSpPr>
          <p:cNvPr id="16" name="AutoShape 13"/>
          <p:cNvSpPr>
            <a:spLocks noChangeArrowheads="1"/>
          </p:cNvSpPr>
          <p:nvPr/>
        </p:nvSpPr>
        <p:spPr bwMode="auto">
          <a:xfrm>
            <a:off x="6906634" y="2133600"/>
            <a:ext cx="1143000" cy="762000"/>
          </a:xfrm>
          <a:prstGeom prst="diamond">
            <a:avLst/>
          </a:prstGeom>
          <a:solidFill>
            <a:schemeClr val="accent1">
              <a:lumMod val="60000"/>
              <a:lumOff val="40000"/>
            </a:schemeClr>
          </a:solidFill>
          <a:ln w="12700">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微软雅黑" panose="020B0503020204020204" pitchFamily="34" charset="-122"/>
                <a:ea typeface="微软雅黑" panose="020B0503020204020204" pitchFamily="34" charset="-122"/>
              </a:rPr>
              <a:t>工作</a:t>
            </a:r>
            <a:endParaRPr kumimoji="1" lang="zh-CN" altLang="en-US" sz="2400">
              <a:latin typeface="微软雅黑" panose="020B0503020204020204" pitchFamily="34" charset="-122"/>
              <a:ea typeface="微软雅黑" panose="020B0503020204020204" pitchFamily="34" charset="-122"/>
            </a:endParaRPr>
          </a:p>
        </p:txBody>
      </p:sp>
      <p:cxnSp>
        <p:nvCxnSpPr>
          <p:cNvPr id="17" name="AutoShape 14"/>
          <p:cNvCxnSpPr>
            <a:cxnSpLocks noChangeShapeType="1"/>
            <a:stCxn id="6" idx="2"/>
            <a:endCxn id="9" idx="0"/>
          </p:cNvCxnSpPr>
          <p:nvPr/>
        </p:nvCxnSpPr>
        <p:spPr bwMode="auto">
          <a:xfrm>
            <a:off x="3706234" y="2743200"/>
            <a:ext cx="0" cy="60960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5"/>
          <p:cNvCxnSpPr>
            <a:cxnSpLocks noChangeShapeType="1"/>
            <a:stCxn id="9" idx="2"/>
            <a:endCxn id="10" idx="0"/>
          </p:cNvCxnSpPr>
          <p:nvPr/>
        </p:nvCxnSpPr>
        <p:spPr bwMode="auto">
          <a:xfrm>
            <a:off x="3706234" y="3962400"/>
            <a:ext cx="0" cy="30480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6"/>
          <p:cNvCxnSpPr>
            <a:cxnSpLocks noChangeShapeType="1"/>
            <a:stCxn id="9" idx="1"/>
            <a:endCxn id="7" idx="0"/>
          </p:cNvCxnSpPr>
          <p:nvPr/>
        </p:nvCxnSpPr>
        <p:spPr bwMode="auto">
          <a:xfrm flipH="1">
            <a:off x="2753734" y="3657600"/>
            <a:ext cx="114300" cy="129540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Line 17"/>
          <p:cNvSpPr>
            <a:spLocks noChangeShapeType="1"/>
          </p:cNvSpPr>
          <p:nvPr/>
        </p:nvSpPr>
        <p:spPr bwMode="auto">
          <a:xfrm>
            <a:off x="4544434" y="3657600"/>
            <a:ext cx="1143000" cy="12954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1" name="Line 18"/>
          <p:cNvSpPr>
            <a:spLocks noChangeShapeType="1"/>
          </p:cNvSpPr>
          <p:nvPr/>
        </p:nvSpPr>
        <p:spPr bwMode="auto">
          <a:xfrm flipV="1">
            <a:off x="5916034" y="2743200"/>
            <a:ext cx="0" cy="6096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2" name="Line 19"/>
          <p:cNvSpPr>
            <a:spLocks noChangeShapeType="1"/>
          </p:cNvSpPr>
          <p:nvPr/>
        </p:nvSpPr>
        <p:spPr bwMode="auto">
          <a:xfrm>
            <a:off x="5916034" y="4038600"/>
            <a:ext cx="0" cy="9144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cxnSp>
        <p:nvCxnSpPr>
          <p:cNvPr id="23" name="AutoShape 20"/>
          <p:cNvCxnSpPr>
            <a:cxnSpLocks noChangeShapeType="1"/>
            <a:stCxn id="11" idx="3"/>
            <a:endCxn id="13" idx="1"/>
          </p:cNvCxnSpPr>
          <p:nvPr/>
        </p:nvCxnSpPr>
        <p:spPr bwMode="auto">
          <a:xfrm>
            <a:off x="6678034" y="3695700"/>
            <a:ext cx="304800" cy="0"/>
          </a:xfrm>
          <a:prstGeom prst="straightConnector1">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Line 21"/>
          <p:cNvSpPr>
            <a:spLocks noChangeShapeType="1"/>
          </p:cNvSpPr>
          <p:nvPr/>
        </p:nvSpPr>
        <p:spPr bwMode="auto">
          <a:xfrm flipH="1">
            <a:off x="6525634" y="2514600"/>
            <a:ext cx="3810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5" name="Line 22"/>
          <p:cNvSpPr>
            <a:spLocks noChangeShapeType="1"/>
          </p:cNvSpPr>
          <p:nvPr/>
        </p:nvSpPr>
        <p:spPr bwMode="auto">
          <a:xfrm>
            <a:off x="8049634" y="2514600"/>
            <a:ext cx="533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6" name="Line 23"/>
          <p:cNvSpPr>
            <a:spLocks noChangeShapeType="1"/>
          </p:cNvSpPr>
          <p:nvPr/>
        </p:nvSpPr>
        <p:spPr bwMode="auto">
          <a:xfrm>
            <a:off x="8964034" y="2743200"/>
            <a:ext cx="0" cy="11430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7" name="Line 24"/>
          <p:cNvSpPr>
            <a:spLocks noChangeShapeType="1"/>
          </p:cNvSpPr>
          <p:nvPr/>
        </p:nvSpPr>
        <p:spPr bwMode="auto">
          <a:xfrm>
            <a:off x="9726034" y="2743200"/>
            <a:ext cx="0" cy="10668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8" name="Text Box 25"/>
          <p:cNvSpPr txBox="1">
            <a:spLocks noChangeArrowheads="1"/>
          </p:cNvSpPr>
          <p:nvPr/>
        </p:nvSpPr>
        <p:spPr bwMode="auto">
          <a:xfrm>
            <a:off x="3679975" y="2817168"/>
            <a:ext cx="4732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m</a:t>
            </a:r>
            <a:endParaRPr kumimoji="1" lang="en-US" altLang="zh-CN" sz="2400">
              <a:latin typeface="微软雅黑" panose="020B0503020204020204" pitchFamily="34" charset="-122"/>
              <a:ea typeface="微软雅黑" panose="020B0503020204020204" pitchFamily="34" charset="-122"/>
            </a:endParaRPr>
          </a:p>
        </p:txBody>
      </p:sp>
      <p:sp>
        <p:nvSpPr>
          <p:cNvPr id="29" name="Text Box 26"/>
          <p:cNvSpPr txBox="1">
            <a:spLocks noChangeArrowheads="1"/>
          </p:cNvSpPr>
          <p:nvPr/>
        </p:nvSpPr>
        <p:spPr bwMode="auto">
          <a:xfrm>
            <a:off x="2512849" y="4036368"/>
            <a:ext cx="3738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n</a:t>
            </a:r>
            <a:endParaRPr kumimoji="1" lang="en-US" altLang="zh-CN" sz="2400">
              <a:latin typeface="微软雅黑" panose="020B0503020204020204" pitchFamily="34" charset="-122"/>
              <a:ea typeface="微软雅黑" panose="020B0503020204020204" pitchFamily="34" charset="-122"/>
            </a:endParaRPr>
          </a:p>
        </p:txBody>
      </p:sp>
      <p:sp>
        <p:nvSpPr>
          <p:cNvPr id="30" name="Text Box 27"/>
          <p:cNvSpPr txBox="1">
            <a:spLocks noChangeArrowheads="1"/>
          </p:cNvSpPr>
          <p:nvPr/>
        </p:nvSpPr>
        <p:spPr bwMode="auto">
          <a:xfrm>
            <a:off x="5099641" y="3960168"/>
            <a:ext cx="3818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p</a:t>
            </a:r>
            <a:endParaRPr kumimoji="1" lang="en-US" altLang="zh-CN" sz="2400">
              <a:latin typeface="微软雅黑" panose="020B0503020204020204" pitchFamily="34" charset="-122"/>
              <a:ea typeface="微软雅黑" panose="020B0503020204020204" pitchFamily="34" charset="-122"/>
            </a:endParaRPr>
          </a:p>
        </p:txBody>
      </p:sp>
      <p:sp>
        <p:nvSpPr>
          <p:cNvPr id="31" name="Text Box 28"/>
          <p:cNvSpPr txBox="1">
            <a:spLocks noChangeArrowheads="1"/>
          </p:cNvSpPr>
          <p:nvPr/>
        </p:nvSpPr>
        <p:spPr bwMode="auto">
          <a:xfrm>
            <a:off x="5889775" y="2893368"/>
            <a:ext cx="4732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m</a:t>
            </a:r>
            <a:endParaRPr kumimoji="1" lang="en-US" altLang="zh-CN" sz="2400">
              <a:latin typeface="微软雅黑" panose="020B0503020204020204" pitchFamily="34" charset="-122"/>
              <a:ea typeface="微软雅黑" panose="020B0503020204020204" pitchFamily="34" charset="-122"/>
            </a:endParaRPr>
          </a:p>
        </p:txBody>
      </p:sp>
      <p:sp>
        <p:nvSpPr>
          <p:cNvPr id="32" name="Text Box 29"/>
          <p:cNvSpPr txBox="1">
            <a:spLocks noChangeArrowheads="1"/>
          </p:cNvSpPr>
          <p:nvPr/>
        </p:nvSpPr>
        <p:spPr bwMode="auto">
          <a:xfrm>
            <a:off x="5897399" y="4264968"/>
            <a:ext cx="3738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n</a:t>
            </a:r>
            <a:endParaRPr kumimoji="1" lang="en-US" altLang="zh-CN" sz="2400">
              <a:latin typeface="微软雅黑" panose="020B0503020204020204" pitchFamily="34" charset="-122"/>
              <a:ea typeface="微软雅黑" panose="020B0503020204020204" pitchFamily="34" charset="-122"/>
            </a:endParaRPr>
          </a:p>
        </p:txBody>
      </p:sp>
      <p:sp>
        <p:nvSpPr>
          <p:cNvPr id="33" name="Text Box 30"/>
          <p:cNvSpPr txBox="1">
            <a:spLocks noChangeArrowheads="1"/>
          </p:cNvSpPr>
          <p:nvPr/>
        </p:nvSpPr>
        <p:spPr bwMode="auto">
          <a:xfrm>
            <a:off x="6571331" y="2131368"/>
            <a:ext cx="3658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1</a:t>
            </a:r>
            <a:endParaRPr kumimoji="1" lang="en-US" altLang="zh-CN" sz="2400">
              <a:latin typeface="微软雅黑" panose="020B0503020204020204" pitchFamily="34" charset="-122"/>
              <a:ea typeface="微软雅黑" panose="020B0503020204020204" pitchFamily="34" charset="-122"/>
            </a:endParaRPr>
          </a:p>
        </p:txBody>
      </p:sp>
      <p:sp>
        <p:nvSpPr>
          <p:cNvPr id="34" name="Text Box 31"/>
          <p:cNvSpPr txBox="1">
            <a:spLocks noChangeArrowheads="1"/>
          </p:cNvSpPr>
          <p:nvPr/>
        </p:nvSpPr>
        <p:spPr bwMode="auto">
          <a:xfrm>
            <a:off x="8075449" y="2131368"/>
            <a:ext cx="3738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n</a:t>
            </a:r>
            <a:endParaRPr kumimoji="1" lang="en-US" altLang="zh-CN" sz="2400">
              <a:latin typeface="微软雅黑" panose="020B0503020204020204" pitchFamily="34" charset="-122"/>
              <a:ea typeface="微软雅黑" panose="020B0503020204020204" pitchFamily="34" charset="-122"/>
            </a:endParaRPr>
          </a:p>
        </p:txBody>
      </p:sp>
      <p:sp>
        <p:nvSpPr>
          <p:cNvPr id="35" name="Text Box 32"/>
          <p:cNvSpPr txBox="1">
            <a:spLocks noChangeArrowheads="1"/>
          </p:cNvSpPr>
          <p:nvPr/>
        </p:nvSpPr>
        <p:spPr bwMode="auto">
          <a:xfrm>
            <a:off x="8644606" y="3045768"/>
            <a:ext cx="36580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1</a:t>
            </a:r>
            <a:endParaRPr kumimoji="1" lang="en-US" altLang="zh-CN" sz="2400">
              <a:latin typeface="微软雅黑" panose="020B0503020204020204" pitchFamily="34" charset="-122"/>
              <a:ea typeface="微软雅黑" panose="020B0503020204020204" pitchFamily="34" charset="-122"/>
            </a:endParaRPr>
          </a:p>
        </p:txBody>
      </p:sp>
      <p:sp>
        <p:nvSpPr>
          <p:cNvPr id="36" name="Text Box 33"/>
          <p:cNvSpPr txBox="1">
            <a:spLocks noChangeArrowheads="1"/>
          </p:cNvSpPr>
          <p:nvPr/>
        </p:nvSpPr>
        <p:spPr bwMode="auto">
          <a:xfrm>
            <a:off x="9691524" y="3045768"/>
            <a:ext cx="3738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微软雅黑" panose="020B0503020204020204" pitchFamily="34" charset="-122"/>
                <a:ea typeface="微软雅黑" panose="020B0503020204020204" pitchFamily="34" charset="-122"/>
              </a:rPr>
              <a:t>n</a:t>
            </a:r>
            <a:endParaRPr kumimoji="1" lang="en-US" altLang="zh-CN" sz="2400">
              <a:latin typeface="微软雅黑" panose="020B0503020204020204" pitchFamily="34" charset="-122"/>
              <a:ea typeface="微软雅黑" panose="020B0503020204020204" pitchFamily="34" charset="-122"/>
            </a:endParaRPr>
          </a:p>
        </p:txBody>
      </p:sp>
      <p:sp>
        <p:nvSpPr>
          <p:cNvPr id="37" name="Text Box 34"/>
          <p:cNvSpPr txBox="1">
            <a:spLocks noChangeArrowheads="1"/>
          </p:cNvSpPr>
          <p:nvPr/>
        </p:nvSpPr>
        <p:spPr bwMode="auto">
          <a:xfrm>
            <a:off x="4620634" y="6096000"/>
            <a:ext cx="2317750" cy="457200"/>
          </a:xfrm>
          <a:prstGeom prst="rect">
            <a:avLst/>
          </a:prstGeom>
          <a:solidFill>
            <a:schemeClr val="accent2">
              <a:lumMod val="40000"/>
              <a:lumOff val="60000"/>
            </a:schemeClr>
          </a:solidFill>
          <a:ln>
            <a:noFill/>
          </a:ln>
          <a:effec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dirty="0">
                <a:solidFill>
                  <a:srgbClr val="FF0000"/>
                </a:solidFill>
                <a:latin typeface="微软雅黑" panose="020B0503020204020204" pitchFamily="34" charset="-122"/>
                <a:ea typeface="微软雅黑" panose="020B0503020204020204" pitchFamily="34" charset="-122"/>
              </a:rPr>
              <a:t>实体及其联系图</a:t>
            </a:r>
            <a:endParaRPr kumimoji="1" lang="zh-CN" altLang="en-US"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zh-CN" altLang="en-US" sz="2800" dirty="0">
                <a:latin typeface="微软雅黑" panose="020B0503020204020204" pitchFamily="34" charset="-122"/>
                <a:ea typeface="微软雅黑" panose="020B0503020204020204" pitchFamily="34" charset="-122"/>
              </a:rPr>
              <a:t>逻辑数据模型</a:t>
            </a:r>
            <a:endParaRPr lang="en-US" altLang="zh-CN" sz="2800" dirty="0">
              <a:latin typeface="微软雅黑" panose="020B0503020204020204" pitchFamily="34" charset="-122"/>
              <a:ea typeface="微软雅黑" panose="020B0503020204020204" pitchFamily="34" charset="-122"/>
            </a:endParaRPr>
          </a:p>
          <a:p>
            <a:pPr lvl="1"/>
            <a:r>
              <a:rPr lang="zh-CN" altLang="en-US" dirty="0"/>
              <a:t>与文件系统的数据管理方式相比，数据库管理方式是一个飞跃，用户和设计者面对的是逻辑数据而不是物理数据，用户不必花费大量的精力考虑数据的物理细节</a:t>
            </a:r>
            <a:endParaRPr lang="zh-CN" altLang="en-US"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逻辑数据与物理数据之间的转换由</a:t>
            </a:r>
            <a:r>
              <a:rPr lang="en-US" altLang="zh-CN" dirty="0"/>
              <a:t>DBMS</a:t>
            </a:r>
            <a:r>
              <a:rPr lang="zh-CN" altLang="en-US" dirty="0"/>
              <a:t>完成</a:t>
            </a:r>
            <a:endParaRPr lang="zh-CN" altLang="en-US" dirty="0"/>
          </a:p>
          <a:p>
            <a:pPr lvl="1"/>
            <a:endParaRPr lang="en-US" altLang="zh-CN"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pic>
        <p:nvPicPr>
          <p:cNvPr id="38" name="图片 14"/>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437440" y="2908299"/>
            <a:ext cx="5762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图片 15"/>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117390" y="3013074"/>
            <a:ext cx="5762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图片 1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18578" y="4016374"/>
            <a:ext cx="57467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图片 17"/>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964865" y="4016374"/>
            <a:ext cx="576263"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Rectangle 5"/>
          <p:cNvSpPr>
            <a:spLocks noChangeArrowheads="1"/>
          </p:cNvSpPr>
          <p:nvPr/>
        </p:nvSpPr>
        <p:spPr bwMode="auto">
          <a:xfrm>
            <a:off x="3364415" y="3768724"/>
            <a:ext cx="792163" cy="246063"/>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200" dirty="0">
                <a:latin typeface="微软雅黑" panose="020B0503020204020204" pitchFamily="34" charset="-122"/>
                <a:ea typeface="微软雅黑" panose="020B0503020204020204" pitchFamily="34" charset="-122"/>
              </a:rPr>
              <a:t>学生数据</a:t>
            </a:r>
            <a:endParaRPr kumimoji="1" lang="zh-CN" altLang="en-US" sz="1200" dirty="0">
              <a:latin typeface="微软雅黑" panose="020B0503020204020204" pitchFamily="34" charset="-122"/>
              <a:ea typeface="微软雅黑" panose="020B0503020204020204" pitchFamily="34" charset="-122"/>
            </a:endParaRPr>
          </a:p>
        </p:txBody>
      </p:sp>
      <p:sp>
        <p:nvSpPr>
          <p:cNvPr id="43" name="Rectangle 5"/>
          <p:cNvSpPr>
            <a:spLocks noChangeArrowheads="1"/>
          </p:cNvSpPr>
          <p:nvPr/>
        </p:nvSpPr>
        <p:spPr bwMode="auto">
          <a:xfrm>
            <a:off x="4810628" y="4822824"/>
            <a:ext cx="790575" cy="246063"/>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200">
                <a:latin typeface="微软雅黑" panose="020B0503020204020204" pitchFamily="34" charset="-122"/>
                <a:ea typeface="微软雅黑" panose="020B0503020204020204" pitchFamily="34" charset="-122"/>
              </a:rPr>
              <a:t>课程数据</a:t>
            </a:r>
            <a:endParaRPr kumimoji="1" lang="zh-CN" altLang="en-US" sz="1200">
              <a:latin typeface="微软雅黑" panose="020B0503020204020204" pitchFamily="34" charset="-122"/>
              <a:ea typeface="微软雅黑" panose="020B0503020204020204" pitchFamily="34" charset="-122"/>
            </a:endParaRPr>
          </a:p>
        </p:txBody>
      </p:sp>
      <p:sp>
        <p:nvSpPr>
          <p:cNvPr id="44" name="Rectangle 5"/>
          <p:cNvSpPr>
            <a:spLocks noChangeArrowheads="1"/>
          </p:cNvSpPr>
          <p:nvPr/>
        </p:nvSpPr>
        <p:spPr bwMode="auto">
          <a:xfrm>
            <a:off x="6856915" y="4822824"/>
            <a:ext cx="792163" cy="246063"/>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200" dirty="0">
                <a:latin typeface="微软雅黑" panose="020B0503020204020204" pitchFamily="34" charset="-122"/>
                <a:ea typeface="微软雅黑" panose="020B0503020204020204" pitchFamily="34" charset="-122"/>
              </a:rPr>
              <a:t>教师数据</a:t>
            </a:r>
            <a:endParaRPr kumimoji="1" lang="zh-CN" altLang="en-US" sz="1200" dirty="0">
              <a:latin typeface="微软雅黑" panose="020B0503020204020204" pitchFamily="34" charset="-122"/>
              <a:ea typeface="微软雅黑" panose="020B0503020204020204" pitchFamily="34" charset="-122"/>
            </a:endParaRPr>
          </a:p>
        </p:txBody>
      </p:sp>
      <p:sp>
        <p:nvSpPr>
          <p:cNvPr id="45" name="Rectangle 5"/>
          <p:cNvSpPr>
            <a:spLocks noChangeArrowheads="1"/>
          </p:cNvSpPr>
          <p:nvPr/>
        </p:nvSpPr>
        <p:spPr bwMode="auto">
          <a:xfrm>
            <a:off x="8009440" y="3819524"/>
            <a:ext cx="792163" cy="246063"/>
          </a:xfrm>
          <a:prstGeom prst="rect">
            <a:avLst/>
          </a:prstGeom>
          <a:solidFill>
            <a:schemeClr val="accent1">
              <a:lumMod val="60000"/>
              <a:lumOff val="40000"/>
            </a:schemeClr>
          </a:solidFill>
          <a:ln w="12700" cap="sq">
            <a:solidFill>
              <a:schemeClr val="tx1"/>
            </a:solidFill>
            <a:miter lim="800000"/>
          </a:ln>
          <a:effec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200" dirty="0">
                <a:latin typeface="微软雅黑" panose="020B0503020204020204" pitchFamily="34" charset="-122"/>
                <a:ea typeface="微软雅黑" panose="020B0503020204020204" pitchFamily="34" charset="-122"/>
              </a:rPr>
              <a:t>教室数据</a:t>
            </a:r>
            <a:endParaRPr kumimoji="1" lang="zh-CN" altLang="en-US" sz="1200" dirty="0">
              <a:latin typeface="微软雅黑" panose="020B0503020204020204" pitchFamily="34" charset="-122"/>
              <a:ea typeface="微软雅黑" panose="020B0503020204020204" pitchFamily="34" charset="-122"/>
            </a:endParaRPr>
          </a:p>
        </p:txBody>
      </p:sp>
      <p:sp>
        <p:nvSpPr>
          <p:cNvPr id="46" name="Rectangle 5"/>
          <p:cNvSpPr>
            <a:spLocks noChangeArrowheads="1"/>
          </p:cNvSpPr>
          <p:nvPr/>
        </p:nvSpPr>
        <p:spPr bwMode="auto">
          <a:xfrm>
            <a:off x="5737728" y="3230562"/>
            <a:ext cx="939800" cy="3968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3600" b="1">
                <a:solidFill>
                  <a:schemeClr val="tx2"/>
                </a:solidFill>
                <a:latin typeface="黑体" panose="02010609060101010101" pitchFamily="49" charset="-122"/>
                <a:ea typeface="黑体" panose="02010609060101010101" pitchFamily="49" charset="-122"/>
              </a:rPr>
              <a:t>？？？</a:t>
            </a:r>
            <a:endParaRPr kumimoji="1" lang="zh-CN" altLang="en-US" sz="3600" b="1">
              <a:solidFill>
                <a:schemeClr val="tx2"/>
              </a:solidFill>
              <a:latin typeface="黑体" panose="02010609060101010101" pitchFamily="49" charset="-122"/>
              <a:ea typeface="黑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逻辑数据模型</a:t>
            </a:r>
            <a:endParaRPr lang="en-US" altLang="zh-CN" sz="2800" b="1" dirty="0"/>
          </a:p>
          <a:p>
            <a:pPr lvl="1"/>
            <a:r>
              <a:rPr lang="zh-CN" altLang="en-US" dirty="0"/>
              <a:t>逻辑数据模型的实例：</a:t>
            </a:r>
            <a:endParaRPr lang="en-US" altLang="zh-CN" dirty="0"/>
          </a:p>
          <a:p>
            <a:pPr lvl="2"/>
            <a:r>
              <a:rPr lang="zh-CN" altLang="en-US" b="1" dirty="0">
                <a:latin typeface="微软雅黑" panose="020B0503020204020204" pitchFamily="34" charset="-122"/>
                <a:ea typeface="微软雅黑" panose="020B0503020204020204" pitchFamily="34" charset="-122"/>
              </a:rPr>
              <a:t>层次模型</a:t>
            </a:r>
            <a:r>
              <a:rPr lang="en-US" altLang="zh-CN" b="1" dirty="0">
                <a:latin typeface="微软雅黑" panose="020B0503020204020204" pitchFamily="34" charset="-122"/>
                <a:ea typeface="微软雅黑" panose="020B0503020204020204" pitchFamily="34" charset="-122"/>
              </a:rPr>
              <a:t>(Hierarchical Model) </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树</a:t>
            </a:r>
            <a:r>
              <a:rPr lang="en-US" altLang="zh-CN" b="1" dirty="0">
                <a:solidFill>
                  <a:srgbClr val="C00000"/>
                </a:solidFill>
                <a:latin typeface="微软雅黑" panose="020B0503020204020204" pitchFamily="34" charset="-122"/>
                <a:ea typeface="微软雅黑" panose="020B0503020204020204" pitchFamily="34" charset="-122"/>
              </a:rPr>
              <a:t>)</a:t>
            </a:r>
            <a:endParaRPr lang="en-US" altLang="zh-CN" b="1" dirty="0">
              <a:solidFill>
                <a:srgbClr val="C00000"/>
              </a:solidFill>
              <a:latin typeface="微软雅黑" panose="020B0503020204020204" pitchFamily="34" charset="-122"/>
              <a:ea typeface="微软雅黑" panose="020B0503020204020204" pitchFamily="34" charset="-122"/>
            </a:endParaRPr>
          </a:p>
          <a:p>
            <a:pPr lvl="2"/>
            <a:r>
              <a:rPr lang="zh-CN" altLang="en-US" b="1" dirty="0">
                <a:latin typeface="微软雅黑" panose="020B0503020204020204" pitchFamily="34" charset="-122"/>
                <a:ea typeface="微软雅黑" panose="020B0503020204020204" pitchFamily="34" charset="-122"/>
              </a:rPr>
              <a:t>网状模型</a:t>
            </a:r>
            <a:r>
              <a:rPr lang="en-US" altLang="zh-CN" b="1" dirty="0">
                <a:latin typeface="微软雅黑" panose="020B0503020204020204" pitchFamily="34" charset="-122"/>
                <a:ea typeface="微软雅黑" panose="020B0503020204020204" pitchFamily="34" charset="-122"/>
              </a:rPr>
              <a:t>(Network Model) </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图</a:t>
            </a:r>
            <a:r>
              <a:rPr lang="en-US" altLang="zh-CN" b="1" dirty="0">
                <a:solidFill>
                  <a:srgbClr val="C00000"/>
                </a:solidFill>
                <a:latin typeface="微软雅黑" panose="020B0503020204020204" pitchFamily="34" charset="-122"/>
                <a:ea typeface="微软雅黑" panose="020B0503020204020204" pitchFamily="34" charset="-122"/>
              </a:rPr>
              <a:t>)</a:t>
            </a:r>
            <a:endParaRPr lang="en-US" altLang="zh-CN" b="1" dirty="0">
              <a:solidFill>
                <a:srgbClr val="C00000"/>
              </a:solidFill>
              <a:latin typeface="微软雅黑" panose="020B0503020204020204" pitchFamily="34" charset="-122"/>
              <a:ea typeface="微软雅黑" panose="020B0503020204020204" pitchFamily="34" charset="-122"/>
            </a:endParaRPr>
          </a:p>
          <a:p>
            <a:pPr lvl="2"/>
            <a:r>
              <a:rPr lang="zh-CN" altLang="en-US" b="1" dirty="0">
                <a:latin typeface="微软雅黑" panose="020B0503020204020204" pitchFamily="34" charset="-122"/>
                <a:ea typeface="微软雅黑" panose="020B0503020204020204" pitchFamily="34" charset="-122"/>
              </a:rPr>
              <a:t>关系模型</a:t>
            </a:r>
            <a:r>
              <a:rPr lang="en-US" altLang="zh-CN" b="1" dirty="0">
                <a:latin typeface="微软雅黑" panose="020B0503020204020204" pitchFamily="34" charset="-122"/>
                <a:ea typeface="微软雅黑" panose="020B0503020204020204" pitchFamily="34" charset="-122"/>
              </a:rPr>
              <a:t>(Relational Model) </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表</a:t>
            </a:r>
            <a:r>
              <a:rPr lang="en-US" altLang="zh-CN" b="1" dirty="0">
                <a:solidFill>
                  <a:srgbClr val="C00000"/>
                </a:solidFill>
                <a:latin typeface="微软雅黑" panose="020B0503020204020204" pitchFamily="34" charset="-122"/>
                <a:ea typeface="微软雅黑" panose="020B0503020204020204" pitchFamily="34" charset="-122"/>
              </a:rPr>
              <a:t>)</a:t>
            </a:r>
            <a:endParaRPr lang="en-US" altLang="zh-CN" b="1" dirty="0">
              <a:solidFill>
                <a:srgbClr val="C00000"/>
              </a:solidFill>
              <a:latin typeface="微软雅黑" panose="020B0503020204020204" pitchFamily="34" charset="-122"/>
              <a:ea typeface="微软雅黑" panose="020B0503020204020204" pitchFamily="34" charset="-122"/>
            </a:endParaRPr>
          </a:p>
          <a:p>
            <a:pPr lvl="2"/>
            <a:r>
              <a:rPr lang="zh-CN" altLang="en-US" b="1" i="1" dirty="0">
                <a:solidFill>
                  <a:schemeClr val="bg1">
                    <a:lumMod val="75000"/>
                  </a:schemeClr>
                </a:solidFill>
                <a:latin typeface="微软雅黑" panose="020B0503020204020204" pitchFamily="34" charset="-122"/>
                <a:ea typeface="微软雅黑" panose="020B0503020204020204" pitchFamily="34" charset="-122"/>
              </a:rPr>
              <a:t>面向对象的数据模型</a:t>
            </a:r>
            <a:r>
              <a:rPr lang="en-US" altLang="zh-CN" b="1" i="1" dirty="0">
                <a:solidFill>
                  <a:schemeClr val="bg1">
                    <a:lumMod val="75000"/>
                  </a:schemeClr>
                </a:solidFill>
                <a:latin typeface="微软雅黑" panose="020B0503020204020204" pitchFamily="34" charset="-122"/>
                <a:ea typeface="微软雅黑" panose="020B0503020204020204" pitchFamily="34" charset="-122"/>
              </a:rPr>
              <a:t>5</a:t>
            </a:r>
            <a:endParaRPr lang="zh-CN" altLang="en-US" b="1" i="1" dirty="0">
              <a:solidFill>
                <a:schemeClr val="bg1">
                  <a:lumMod val="75000"/>
                </a:schemeClr>
              </a:solidFill>
              <a:latin typeface="微软雅黑" panose="020B0503020204020204" pitchFamily="34" charset="-122"/>
              <a:ea typeface="微软雅黑" panose="020B0503020204020204" pitchFamily="34" charset="-122"/>
            </a:endParaRPr>
          </a:p>
          <a:p>
            <a:pPr lvl="2"/>
            <a:r>
              <a:rPr lang="zh-CN" altLang="en-US" b="1" i="1" dirty="0">
                <a:solidFill>
                  <a:schemeClr val="bg1">
                    <a:lumMod val="75000"/>
                  </a:schemeClr>
                </a:solidFill>
                <a:latin typeface="微软雅黑" panose="020B0503020204020204" pitchFamily="34" charset="-122"/>
                <a:ea typeface="微软雅黑" panose="020B0503020204020204" pitchFamily="34" charset="-122"/>
              </a:rPr>
              <a:t>对象关系的数据模型</a:t>
            </a:r>
            <a:endParaRPr lang="en-US" altLang="zh-CN" dirty="0">
              <a:latin typeface="微软雅黑" panose="020B0503020204020204" pitchFamily="34" charset="-122"/>
              <a:ea typeface="微软雅黑" panose="020B0503020204020204" pitchFamily="34" charset="-122"/>
            </a:endParaRPr>
          </a:p>
          <a:p>
            <a:pPr lvl="1"/>
            <a:r>
              <a:rPr lang="zh-CN" altLang="en-US" sz="2400" b="1" dirty="0">
                <a:latin typeface="黑体" panose="02010609060101010101" pitchFamily="49" charset="-122"/>
                <a:ea typeface="黑体" panose="02010609060101010101" pitchFamily="49" charset="-122"/>
              </a:rPr>
              <a:t>各种经典逻辑数据模型之间的根本区别</a:t>
            </a:r>
            <a:r>
              <a:rPr lang="zh-CN" altLang="en-US" sz="2400" b="1" dirty="0">
                <a:solidFill>
                  <a:srgbClr val="C00000"/>
                </a:solidFill>
                <a:latin typeface="黑体" panose="02010609060101010101" pitchFamily="49" charset="-122"/>
                <a:ea typeface="黑体" panose="02010609060101010101" pitchFamily="49" charset="-122"/>
              </a:rPr>
              <a:t>在于</a:t>
            </a:r>
            <a:r>
              <a:rPr lang="zh-CN" altLang="en-US" sz="2400" b="1" u="sng" dirty="0">
                <a:solidFill>
                  <a:srgbClr val="C00000"/>
                </a:solidFill>
                <a:latin typeface="黑体" panose="02010609060101010101" pitchFamily="49" charset="-122"/>
                <a:ea typeface="黑体" panose="02010609060101010101" pitchFamily="49" charset="-122"/>
              </a:rPr>
              <a:t>数据之间的联系</a:t>
            </a:r>
            <a:r>
              <a:rPr lang="zh-CN" altLang="en-US" sz="2400" b="1" dirty="0">
                <a:solidFill>
                  <a:srgbClr val="C00000"/>
                </a:solidFill>
                <a:latin typeface="黑体" panose="02010609060101010101" pitchFamily="49" charset="-122"/>
                <a:ea typeface="黑体" panose="02010609060101010101" pitchFamily="49" charset="-122"/>
              </a:rPr>
              <a:t>的表示方式不同</a:t>
            </a:r>
            <a:endParaRPr lang="zh-CN" altLang="en-US" sz="2400" b="1" dirty="0">
              <a:solidFill>
                <a:srgbClr val="C00000"/>
              </a:solidFill>
              <a:latin typeface="黑体" panose="02010609060101010101" pitchFamily="49" charset="-122"/>
              <a:ea typeface="黑体" panose="02010609060101010101" pitchFamily="49" charset="-122"/>
            </a:endParaRPr>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
        <p:nvSpPr>
          <p:cNvPr id="6" name="AutoShape 4"/>
          <p:cNvSpPr/>
          <p:nvPr/>
        </p:nvSpPr>
        <p:spPr bwMode="auto">
          <a:xfrm>
            <a:off x="6096000" y="2425446"/>
            <a:ext cx="144463" cy="1054100"/>
          </a:xfrm>
          <a:prstGeom prst="rightBrace">
            <a:avLst>
              <a:gd name="adj1" fmla="val 74975"/>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 name="Text Box 5"/>
          <p:cNvSpPr txBox="1">
            <a:spLocks noChangeArrowheads="1"/>
          </p:cNvSpPr>
          <p:nvPr/>
        </p:nvSpPr>
        <p:spPr bwMode="auto">
          <a:xfrm>
            <a:off x="6240463" y="2536571"/>
            <a:ext cx="17145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dirty="0">
                <a:latin typeface="微软雅黑" panose="020B0503020204020204" pitchFamily="34" charset="-122"/>
                <a:ea typeface="微软雅黑" panose="020B0503020204020204" pitchFamily="34" charset="-122"/>
              </a:rPr>
              <a:t>经典模型</a:t>
            </a:r>
            <a:endParaRPr kumimoji="1" lang="en-US" altLang="zh-CN" sz="2400" dirty="0">
              <a:latin typeface="微软雅黑" panose="020B0503020204020204" pitchFamily="34" charset="-122"/>
              <a:ea typeface="微软雅黑" panose="020B0503020204020204" pitchFamily="34" charset="-122"/>
            </a:endParaRPr>
          </a:p>
          <a:p>
            <a:pPr algn="ctr" eaLnBrk="1" hangingPunct="1">
              <a:spcBef>
                <a:spcPct val="0"/>
              </a:spcBef>
              <a:buClrTx/>
              <a:buFontTx/>
              <a:buNone/>
            </a:pPr>
            <a:r>
              <a:rPr kumimoji="1" lang="zh-CN" altLang="en-US" sz="2400" dirty="0">
                <a:latin typeface="微软雅黑" panose="020B0503020204020204" pitchFamily="34" charset="-122"/>
                <a:ea typeface="微软雅黑" panose="020B0503020204020204" pitchFamily="34" charset="-122"/>
              </a:rPr>
              <a:t>（格式化）</a:t>
            </a:r>
            <a:endParaRPr kumimoji="1" lang="zh-CN" altLang="en-US"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层次模型举例</a:t>
            </a:r>
            <a:endParaRPr lang="en-US" altLang="zh-CN" sz="2800" b="1" dirty="0"/>
          </a:p>
          <a:p>
            <a:pPr lvl="1"/>
            <a:r>
              <a:rPr lang="zh-CN" altLang="en-US" sz="2400" dirty="0"/>
              <a:t>用树型（层次）结构表示实体类型及实体间联系的数据模型称为</a:t>
            </a:r>
            <a:r>
              <a:rPr lang="zh-CN" altLang="en-US" sz="2400" dirty="0">
                <a:solidFill>
                  <a:schemeClr val="accent2">
                    <a:lumMod val="75000"/>
                  </a:schemeClr>
                </a:solidFill>
              </a:rPr>
              <a:t>层次模型</a:t>
            </a:r>
            <a:r>
              <a:rPr lang="zh-CN" altLang="en-US" sz="2400" dirty="0"/>
              <a:t>（ </a:t>
            </a:r>
            <a:r>
              <a:rPr lang="en-US" altLang="zh-CN" sz="2400" dirty="0"/>
              <a:t>Hierarchical Model</a:t>
            </a:r>
            <a:r>
              <a:rPr lang="zh-CN" altLang="en-US" sz="2400" dirty="0"/>
              <a:t>）</a:t>
            </a:r>
            <a:endParaRPr lang="en-US" altLang="zh-CN" sz="2400" dirty="0"/>
          </a:p>
          <a:p>
            <a:pPr lvl="2"/>
            <a:r>
              <a:rPr lang="zh-CN" altLang="en-US" dirty="0"/>
              <a:t>在一个学校中，每个系分为若干个专业，而每个专业只属于一个系。系与教师，专业与学生，专业与课程之间也是一对多的联系</a:t>
            </a:r>
            <a:endParaRPr lang="zh-CN" altLang="en-US" dirty="0"/>
          </a:p>
          <a:p>
            <a:pPr lvl="2"/>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pSp>
        <p:nvGrpSpPr>
          <p:cNvPr id="6" name="Group 4"/>
          <p:cNvGrpSpPr/>
          <p:nvPr/>
        </p:nvGrpSpPr>
        <p:grpSpPr bwMode="auto">
          <a:xfrm>
            <a:off x="2477411" y="3865562"/>
            <a:ext cx="7512050" cy="2673350"/>
            <a:chOff x="144" y="2064"/>
            <a:chExt cx="5462" cy="1872"/>
          </a:xfrm>
        </p:grpSpPr>
        <p:grpSp>
          <p:nvGrpSpPr>
            <p:cNvPr id="7" name="Group 5"/>
            <p:cNvGrpSpPr/>
            <p:nvPr/>
          </p:nvGrpSpPr>
          <p:grpSpPr bwMode="auto">
            <a:xfrm>
              <a:off x="1728" y="2064"/>
              <a:ext cx="2064" cy="384"/>
              <a:chOff x="1488" y="1968"/>
              <a:chExt cx="2064" cy="384"/>
            </a:xfrm>
          </p:grpSpPr>
          <p:sp>
            <p:nvSpPr>
              <p:cNvPr id="33" name="Rectangle 6"/>
              <p:cNvSpPr>
                <a:spLocks noChangeArrowheads="1"/>
              </p:cNvSpPr>
              <p:nvPr/>
            </p:nvSpPr>
            <p:spPr bwMode="auto">
              <a:xfrm>
                <a:off x="1488" y="1968"/>
                <a:ext cx="2064" cy="38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 name="Text Box 7"/>
              <p:cNvSpPr txBox="1">
                <a:spLocks noChangeArrowheads="1"/>
              </p:cNvSpPr>
              <p:nvPr/>
            </p:nvSpPr>
            <p:spPr bwMode="auto">
              <a:xfrm>
                <a:off x="1621" y="2016"/>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系号</a:t>
                </a:r>
                <a:endParaRPr kumimoji="1" lang="zh-CN" altLang="en-US" sz="2400" dirty="0">
                  <a:latin typeface="Tahoma" panose="020B0604030504040204" pitchFamily="34" charset="0"/>
                  <a:ea typeface="楷体_GB2312" pitchFamily="49" charset="-122"/>
                </a:endParaRPr>
              </a:p>
            </p:txBody>
          </p:sp>
          <p:sp>
            <p:nvSpPr>
              <p:cNvPr id="35" name="Text Box 8"/>
              <p:cNvSpPr txBox="1">
                <a:spLocks noChangeArrowheads="1"/>
              </p:cNvSpPr>
              <p:nvPr/>
            </p:nvSpPr>
            <p:spPr bwMode="auto">
              <a:xfrm>
                <a:off x="2187" y="2016"/>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系名</a:t>
                </a:r>
                <a:endParaRPr kumimoji="1" lang="zh-CN" altLang="en-US" sz="2400" dirty="0">
                  <a:latin typeface="Tahoma" panose="020B0604030504040204" pitchFamily="34" charset="0"/>
                  <a:ea typeface="楷体_GB2312" pitchFamily="49" charset="-122"/>
                </a:endParaRPr>
              </a:p>
            </p:txBody>
          </p:sp>
          <p:sp>
            <p:nvSpPr>
              <p:cNvPr id="36" name="Text Box 9"/>
              <p:cNvSpPr txBox="1">
                <a:spLocks noChangeArrowheads="1"/>
              </p:cNvSpPr>
              <p:nvPr/>
            </p:nvSpPr>
            <p:spPr bwMode="auto">
              <a:xfrm>
                <a:off x="2763" y="2016"/>
                <a:ext cx="692"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负责人</a:t>
                </a:r>
                <a:endParaRPr kumimoji="1" lang="zh-CN" altLang="en-US" sz="2400" dirty="0">
                  <a:latin typeface="Tahoma" panose="020B0604030504040204" pitchFamily="34" charset="0"/>
                  <a:ea typeface="楷体_GB2312" pitchFamily="49" charset="-122"/>
                </a:endParaRPr>
              </a:p>
            </p:txBody>
          </p:sp>
        </p:grpSp>
        <p:grpSp>
          <p:nvGrpSpPr>
            <p:cNvPr id="8" name="Group 10"/>
            <p:cNvGrpSpPr/>
            <p:nvPr/>
          </p:nvGrpSpPr>
          <p:grpSpPr bwMode="auto">
            <a:xfrm>
              <a:off x="442" y="2784"/>
              <a:ext cx="2064" cy="384"/>
              <a:chOff x="442" y="2784"/>
              <a:chExt cx="2064" cy="384"/>
            </a:xfrm>
          </p:grpSpPr>
          <p:sp>
            <p:nvSpPr>
              <p:cNvPr id="30" name="Rectangle 11"/>
              <p:cNvSpPr>
                <a:spLocks noChangeArrowheads="1"/>
              </p:cNvSpPr>
              <p:nvPr/>
            </p:nvSpPr>
            <p:spPr bwMode="auto">
              <a:xfrm>
                <a:off x="442" y="2784"/>
                <a:ext cx="2064" cy="38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 name="Text Box 12"/>
              <p:cNvSpPr txBox="1">
                <a:spLocks noChangeArrowheads="1"/>
              </p:cNvSpPr>
              <p:nvPr/>
            </p:nvSpPr>
            <p:spPr bwMode="auto">
              <a:xfrm>
                <a:off x="565" y="2832"/>
                <a:ext cx="884"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专业代号</a:t>
                </a:r>
                <a:endParaRPr kumimoji="1" lang="zh-CN" altLang="en-US" sz="2400" dirty="0">
                  <a:latin typeface="Tahoma" panose="020B0604030504040204" pitchFamily="34" charset="0"/>
                  <a:ea typeface="楷体_GB2312" pitchFamily="49" charset="-122"/>
                </a:endParaRPr>
              </a:p>
            </p:txBody>
          </p:sp>
          <p:sp>
            <p:nvSpPr>
              <p:cNvPr id="32" name="Text Box 13"/>
              <p:cNvSpPr txBox="1">
                <a:spLocks noChangeArrowheads="1"/>
              </p:cNvSpPr>
              <p:nvPr/>
            </p:nvSpPr>
            <p:spPr bwMode="auto">
              <a:xfrm>
                <a:off x="1717" y="2832"/>
                <a:ext cx="692"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专业名</a:t>
                </a:r>
                <a:endParaRPr kumimoji="1" lang="zh-CN" altLang="en-US" sz="2400">
                  <a:latin typeface="Tahoma" panose="020B0604030504040204" pitchFamily="34" charset="0"/>
                  <a:ea typeface="楷体_GB2312" pitchFamily="49" charset="-122"/>
                </a:endParaRPr>
              </a:p>
            </p:txBody>
          </p:sp>
        </p:grpSp>
        <p:grpSp>
          <p:nvGrpSpPr>
            <p:cNvPr id="9" name="Group 14"/>
            <p:cNvGrpSpPr/>
            <p:nvPr/>
          </p:nvGrpSpPr>
          <p:grpSpPr bwMode="auto">
            <a:xfrm>
              <a:off x="3034" y="2784"/>
              <a:ext cx="2534" cy="384"/>
              <a:chOff x="3034" y="2784"/>
              <a:chExt cx="2534" cy="384"/>
            </a:xfrm>
          </p:grpSpPr>
          <p:sp>
            <p:nvSpPr>
              <p:cNvPr id="26" name="Rectangle 15"/>
              <p:cNvSpPr>
                <a:spLocks noChangeArrowheads="1"/>
              </p:cNvSpPr>
              <p:nvPr/>
            </p:nvSpPr>
            <p:spPr bwMode="auto">
              <a:xfrm>
                <a:off x="3034" y="2784"/>
                <a:ext cx="2534" cy="38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 name="Text Box 16"/>
              <p:cNvSpPr txBox="1">
                <a:spLocks noChangeArrowheads="1"/>
              </p:cNvSpPr>
              <p:nvPr/>
            </p:nvSpPr>
            <p:spPr bwMode="auto">
              <a:xfrm>
                <a:off x="3167" y="2832"/>
                <a:ext cx="884"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教师编号</a:t>
                </a:r>
                <a:endParaRPr kumimoji="1" lang="zh-CN" altLang="en-US" sz="2400">
                  <a:latin typeface="Tahoma" panose="020B0604030504040204" pitchFamily="34" charset="0"/>
                  <a:ea typeface="楷体_GB2312" pitchFamily="49" charset="-122"/>
                </a:endParaRPr>
              </a:p>
            </p:txBody>
          </p:sp>
          <p:sp>
            <p:nvSpPr>
              <p:cNvPr id="28" name="Text Box 17"/>
              <p:cNvSpPr txBox="1">
                <a:spLocks noChangeArrowheads="1"/>
              </p:cNvSpPr>
              <p:nvPr/>
            </p:nvSpPr>
            <p:spPr bwMode="auto">
              <a:xfrm>
                <a:off x="4193" y="2832"/>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姓名</a:t>
                </a:r>
                <a:endParaRPr kumimoji="1" lang="zh-CN" altLang="en-US" sz="2400">
                  <a:latin typeface="Tahoma" panose="020B0604030504040204" pitchFamily="34" charset="0"/>
                  <a:ea typeface="楷体_GB2312" pitchFamily="49" charset="-122"/>
                </a:endParaRPr>
              </a:p>
            </p:txBody>
          </p:sp>
          <p:sp>
            <p:nvSpPr>
              <p:cNvPr id="29" name="Text Box 18"/>
              <p:cNvSpPr txBox="1">
                <a:spLocks noChangeArrowheads="1"/>
              </p:cNvSpPr>
              <p:nvPr/>
            </p:nvSpPr>
            <p:spPr bwMode="auto">
              <a:xfrm>
                <a:off x="4817" y="2832"/>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职务</a:t>
                </a:r>
                <a:endParaRPr kumimoji="1" lang="zh-CN" altLang="en-US" sz="2400">
                  <a:latin typeface="Tahoma" panose="020B0604030504040204" pitchFamily="34" charset="0"/>
                  <a:ea typeface="楷体_GB2312" pitchFamily="49" charset="-122"/>
                </a:endParaRPr>
              </a:p>
            </p:txBody>
          </p:sp>
        </p:grpSp>
        <p:grpSp>
          <p:nvGrpSpPr>
            <p:cNvPr id="10" name="Group 19"/>
            <p:cNvGrpSpPr/>
            <p:nvPr/>
          </p:nvGrpSpPr>
          <p:grpSpPr bwMode="auto">
            <a:xfrm>
              <a:off x="144" y="3552"/>
              <a:ext cx="1920" cy="384"/>
              <a:chOff x="0" y="3600"/>
              <a:chExt cx="1920" cy="384"/>
            </a:xfrm>
          </p:grpSpPr>
          <p:sp>
            <p:nvSpPr>
              <p:cNvPr id="22" name="Rectangle 20"/>
              <p:cNvSpPr>
                <a:spLocks noChangeArrowheads="1"/>
              </p:cNvSpPr>
              <p:nvPr/>
            </p:nvSpPr>
            <p:spPr bwMode="auto">
              <a:xfrm>
                <a:off x="0" y="3600"/>
                <a:ext cx="1920" cy="38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3" name="Text Box 21"/>
              <p:cNvSpPr txBox="1">
                <a:spLocks noChangeArrowheads="1"/>
              </p:cNvSpPr>
              <p:nvPr/>
            </p:nvSpPr>
            <p:spPr bwMode="auto">
              <a:xfrm>
                <a:off x="133" y="3648"/>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学号</a:t>
                </a:r>
                <a:endParaRPr kumimoji="1" lang="zh-CN" altLang="en-US" sz="2400">
                  <a:latin typeface="Tahoma" panose="020B0604030504040204" pitchFamily="34" charset="0"/>
                  <a:ea typeface="楷体_GB2312" pitchFamily="49" charset="-122"/>
                </a:endParaRPr>
              </a:p>
            </p:txBody>
          </p:sp>
          <p:sp>
            <p:nvSpPr>
              <p:cNvPr id="24" name="Text Box 22"/>
              <p:cNvSpPr txBox="1">
                <a:spLocks noChangeArrowheads="1"/>
              </p:cNvSpPr>
              <p:nvPr/>
            </p:nvSpPr>
            <p:spPr bwMode="auto">
              <a:xfrm>
                <a:off x="699" y="3648"/>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姓名</a:t>
                </a:r>
                <a:endParaRPr kumimoji="1" lang="zh-CN" altLang="en-US" sz="2400">
                  <a:latin typeface="Tahoma" panose="020B0604030504040204" pitchFamily="34" charset="0"/>
                  <a:ea typeface="楷体_GB2312" pitchFamily="49" charset="-122"/>
                </a:endParaRPr>
              </a:p>
            </p:txBody>
          </p:sp>
          <p:sp>
            <p:nvSpPr>
              <p:cNvPr id="25" name="Text Box 23"/>
              <p:cNvSpPr txBox="1">
                <a:spLocks noChangeArrowheads="1"/>
              </p:cNvSpPr>
              <p:nvPr/>
            </p:nvSpPr>
            <p:spPr bwMode="auto">
              <a:xfrm>
                <a:off x="1275" y="3648"/>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性别</a:t>
                </a:r>
                <a:endParaRPr kumimoji="1" lang="zh-CN" altLang="en-US" sz="2400">
                  <a:latin typeface="Tahoma" panose="020B0604030504040204" pitchFamily="34" charset="0"/>
                  <a:ea typeface="楷体_GB2312" pitchFamily="49" charset="-122"/>
                </a:endParaRPr>
              </a:p>
            </p:txBody>
          </p:sp>
        </p:grpSp>
        <p:grpSp>
          <p:nvGrpSpPr>
            <p:cNvPr id="11" name="Group 24"/>
            <p:cNvGrpSpPr/>
            <p:nvPr/>
          </p:nvGrpSpPr>
          <p:grpSpPr bwMode="auto">
            <a:xfrm>
              <a:off x="3312" y="3552"/>
              <a:ext cx="2294" cy="384"/>
              <a:chOff x="3274" y="3600"/>
              <a:chExt cx="2294" cy="384"/>
            </a:xfrm>
          </p:grpSpPr>
          <p:sp>
            <p:nvSpPr>
              <p:cNvPr id="18" name="Rectangle 25"/>
              <p:cNvSpPr>
                <a:spLocks noChangeArrowheads="1"/>
              </p:cNvSpPr>
              <p:nvPr/>
            </p:nvSpPr>
            <p:spPr bwMode="auto">
              <a:xfrm>
                <a:off x="3274" y="3600"/>
                <a:ext cx="2294" cy="384"/>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9" name="Text Box 26"/>
              <p:cNvSpPr txBox="1">
                <a:spLocks noChangeArrowheads="1"/>
              </p:cNvSpPr>
              <p:nvPr/>
            </p:nvSpPr>
            <p:spPr bwMode="auto">
              <a:xfrm>
                <a:off x="3407" y="3648"/>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课号</a:t>
                </a:r>
                <a:endParaRPr kumimoji="1" lang="zh-CN" altLang="en-US" sz="2400">
                  <a:latin typeface="Tahoma" panose="020B0604030504040204" pitchFamily="34" charset="0"/>
                  <a:ea typeface="楷体_GB2312" pitchFamily="49" charset="-122"/>
                </a:endParaRPr>
              </a:p>
            </p:txBody>
          </p:sp>
          <p:sp>
            <p:nvSpPr>
              <p:cNvPr id="20" name="Text Box 27"/>
              <p:cNvSpPr txBox="1">
                <a:spLocks noChangeArrowheads="1"/>
              </p:cNvSpPr>
              <p:nvPr/>
            </p:nvSpPr>
            <p:spPr bwMode="auto">
              <a:xfrm>
                <a:off x="3973" y="3648"/>
                <a:ext cx="692"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课程名</a:t>
                </a:r>
                <a:endParaRPr kumimoji="1" lang="zh-CN" altLang="en-US" sz="2400">
                  <a:latin typeface="Tahoma" panose="020B0604030504040204" pitchFamily="34" charset="0"/>
                  <a:ea typeface="楷体_GB2312" pitchFamily="49" charset="-122"/>
                </a:endParaRPr>
              </a:p>
            </p:txBody>
          </p:sp>
          <p:sp>
            <p:nvSpPr>
              <p:cNvPr id="21" name="Text Box 28"/>
              <p:cNvSpPr txBox="1">
                <a:spLocks noChangeArrowheads="1"/>
              </p:cNvSpPr>
              <p:nvPr/>
            </p:nvSpPr>
            <p:spPr bwMode="auto">
              <a:xfrm>
                <a:off x="4817" y="3648"/>
                <a:ext cx="596"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学时</a:t>
                </a:r>
                <a:endParaRPr kumimoji="1" lang="zh-CN" altLang="en-US" sz="2400">
                  <a:latin typeface="Tahoma" panose="020B0604030504040204" pitchFamily="34" charset="0"/>
                  <a:ea typeface="楷体_GB2312" pitchFamily="49" charset="-122"/>
                </a:endParaRPr>
              </a:p>
            </p:txBody>
          </p:sp>
        </p:grpSp>
        <p:grpSp>
          <p:nvGrpSpPr>
            <p:cNvPr id="12" name="Group 29"/>
            <p:cNvGrpSpPr/>
            <p:nvPr/>
          </p:nvGrpSpPr>
          <p:grpSpPr bwMode="auto">
            <a:xfrm>
              <a:off x="1824" y="2448"/>
              <a:ext cx="1776" cy="336"/>
              <a:chOff x="2352" y="2448"/>
              <a:chExt cx="912" cy="288"/>
            </a:xfrm>
          </p:grpSpPr>
          <p:cxnSp>
            <p:nvCxnSpPr>
              <p:cNvPr id="16" name="AutoShape 30"/>
              <p:cNvCxnSpPr>
                <a:cxnSpLocks noChangeShapeType="1"/>
              </p:cNvCxnSpPr>
              <p:nvPr/>
            </p:nvCxnSpPr>
            <p:spPr bwMode="auto">
              <a:xfrm rot="5400000">
                <a:off x="2424" y="2376"/>
                <a:ext cx="288" cy="432"/>
              </a:xfrm>
              <a:prstGeom prst="bentConnector3">
                <a:avLst>
                  <a:gd name="adj1" fmla="val 50000"/>
                </a:avLst>
              </a:prstGeom>
              <a:noFill/>
              <a:ln w="3810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 name="AutoShape 31"/>
              <p:cNvCxnSpPr>
                <a:cxnSpLocks noChangeShapeType="1"/>
              </p:cNvCxnSpPr>
              <p:nvPr/>
            </p:nvCxnSpPr>
            <p:spPr bwMode="auto">
              <a:xfrm rot="16200000" flipH="1">
                <a:off x="2880" y="2352"/>
                <a:ext cx="288" cy="480"/>
              </a:xfrm>
              <a:prstGeom prst="bentConnector3">
                <a:avLst>
                  <a:gd name="adj1" fmla="val 50000"/>
                </a:avLst>
              </a:prstGeom>
              <a:noFill/>
              <a:ln w="3810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13" name="Group 32"/>
            <p:cNvGrpSpPr/>
            <p:nvPr/>
          </p:nvGrpSpPr>
          <p:grpSpPr bwMode="auto">
            <a:xfrm>
              <a:off x="1152" y="3168"/>
              <a:ext cx="2448" cy="384"/>
              <a:chOff x="2352" y="2448"/>
              <a:chExt cx="912" cy="288"/>
            </a:xfrm>
          </p:grpSpPr>
          <p:cxnSp>
            <p:nvCxnSpPr>
              <p:cNvPr id="14" name="AutoShape 33"/>
              <p:cNvCxnSpPr>
                <a:cxnSpLocks noChangeShapeType="1"/>
              </p:cNvCxnSpPr>
              <p:nvPr/>
            </p:nvCxnSpPr>
            <p:spPr bwMode="auto">
              <a:xfrm rot="5400000">
                <a:off x="2424" y="2376"/>
                <a:ext cx="288" cy="432"/>
              </a:xfrm>
              <a:prstGeom prst="bentConnector3">
                <a:avLst>
                  <a:gd name="adj1" fmla="val 50000"/>
                </a:avLst>
              </a:prstGeom>
              <a:noFill/>
              <a:ln w="3810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5" name="AutoShape 34"/>
              <p:cNvCxnSpPr>
                <a:cxnSpLocks noChangeShapeType="1"/>
              </p:cNvCxnSpPr>
              <p:nvPr/>
            </p:nvCxnSpPr>
            <p:spPr bwMode="auto">
              <a:xfrm rot="16200000" flipH="1">
                <a:off x="2880" y="2352"/>
                <a:ext cx="288" cy="480"/>
              </a:xfrm>
              <a:prstGeom prst="bentConnector3">
                <a:avLst>
                  <a:gd name="adj1" fmla="val 50000"/>
                </a:avLst>
              </a:prstGeom>
              <a:noFill/>
              <a:ln w="3810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层次模型举例</a:t>
            </a:r>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pSp>
        <p:nvGrpSpPr>
          <p:cNvPr id="6" name="Group 3"/>
          <p:cNvGrpSpPr/>
          <p:nvPr/>
        </p:nvGrpSpPr>
        <p:grpSpPr bwMode="auto">
          <a:xfrm>
            <a:off x="6571488" y="5502275"/>
            <a:ext cx="3960813" cy="609600"/>
            <a:chOff x="3274" y="3600"/>
            <a:chExt cx="2294" cy="384"/>
          </a:xfrm>
          <a:solidFill>
            <a:srgbClr val="CC99FF"/>
          </a:solidFill>
        </p:grpSpPr>
        <p:sp>
          <p:nvSpPr>
            <p:cNvPr id="7" name="Rectangle 4"/>
            <p:cNvSpPr>
              <a:spLocks noChangeArrowheads="1"/>
            </p:cNvSpPr>
            <p:nvPr/>
          </p:nvSpPr>
          <p:spPr bwMode="auto">
            <a:xfrm>
              <a:off x="3274" y="3600"/>
              <a:ext cx="2294" cy="38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8" name="Text Box 5"/>
            <p:cNvSpPr txBox="1">
              <a:spLocks noChangeArrowheads="1"/>
            </p:cNvSpPr>
            <p:nvPr/>
          </p:nvSpPr>
          <p:spPr bwMode="auto">
            <a:xfrm>
              <a:off x="3370" y="3656"/>
              <a:ext cx="405"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C24</a:t>
              </a:r>
              <a:endParaRPr kumimoji="1" lang="en-US" altLang="zh-CN" sz="2400">
                <a:latin typeface="Tahoma" panose="020B0604030504040204" pitchFamily="34" charset="0"/>
                <a:ea typeface="楷体_GB2312" pitchFamily="49" charset="-122"/>
              </a:endParaRPr>
            </a:p>
          </p:txBody>
        </p:sp>
        <p:sp>
          <p:nvSpPr>
            <p:cNvPr id="9" name="Text Box 6"/>
            <p:cNvSpPr txBox="1">
              <a:spLocks noChangeArrowheads="1"/>
            </p:cNvSpPr>
            <p:nvPr/>
          </p:nvSpPr>
          <p:spPr bwMode="auto">
            <a:xfrm>
              <a:off x="3936" y="3648"/>
              <a:ext cx="813"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有机化学</a:t>
              </a:r>
              <a:endParaRPr kumimoji="1" lang="zh-CN" altLang="en-US" sz="2400">
                <a:latin typeface="Tahoma" panose="020B0604030504040204" pitchFamily="34" charset="0"/>
                <a:ea typeface="楷体_GB2312" pitchFamily="49" charset="-122"/>
              </a:endParaRPr>
            </a:p>
          </p:txBody>
        </p:sp>
        <p:sp>
          <p:nvSpPr>
            <p:cNvPr id="10" name="Text Box 7"/>
            <p:cNvSpPr txBox="1">
              <a:spLocks noChangeArrowheads="1"/>
            </p:cNvSpPr>
            <p:nvPr/>
          </p:nvSpPr>
          <p:spPr bwMode="auto">
            <a:xfrm>
              <a:off x="4780" y="3648"/>
              <a:ext cx="596"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56</a:t>
              </a:r>
              <a:endParaRPr kumimoji="1" lang="en-US" altLang="zh-CN" sz="2400">
                <a:latin typeface="Tahoma" panose="020B0604030504040204" pitchFamily="34" charset="0"/>
                <a:ea typeface="楷体_GB2312" pitchFamily="49" charset="-122"/>
              </a:endParaRPr>
            </a:p>
          </p:txBody>
        </p:sp>
      </p:grpSp>
      <p:grpSp>
        <p:nvGrpSpPr>
          <p:cNvPr id="11" name="Group 8"/>
          <p:cNvGrpSpPr/>
          <p:nvPr/>
        </p:nvGrpSpPr>
        <p:grpSpPr bwMode="auto">
          <a:xfrm>
            <a:off x="3447288" y="2378075"/>
            <a:ext cx="4495800" cy="534988"/>
            <a:chOff x="1104" y="1392"/>
            <a:chExt cx="2832" cy="337"/>
          </a:xfrm>
        </p:grpSpPr>
        <p:sp>
          <p:nvSpPr>
            <p:cNvPr id="12" name="Rectangle 9"/>
            <p:cNvSpPr>
              <a:spLocks noChangeArrowheads="1"/>
            </p:cNvSpPr>
            <p:nvPr/>
          </p:nvSpPr>
          <p:spPr bwMode="auto">
            <a:xfrm>
              <a:off x="1104" y="1392"/>
              <a:ext cx="2832"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3" name="Text Box 10"/>
            <p:cNvSpPr txBox="1">
              <a:spLocks noChangeArrowheads="1"/>
            </p:cNvSpPr>
            <p:nvPr/>
          </p:nvSpPr>
          <p:spPr bwMode="auto">
            <a:xfrm>
              <a:off x="1254" y="1441"/>
              <a:ext cx="351"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dirty="0">
                  <a:latin typeface="Tahoma" panose="020B0604030504040204" pitchFamily="34" charset="0"/>
                  <a:ea typeface="楷体_GB2312" pitchFamily="49" charset="-122"/>
                </a:rPr>
                <a:t>D2</a:t>
              </a:r>
              <a:endParaRPr kumimoji="1" lang="en-US" altLang="zh-CN" sz="2400" dirty="0">
                <a:latin typeface="Tahoma" panose="020B0604030504040204" pitchFamily="34" charset="0"/>
                <a:ea typeface="楷体_GB2312" pitchFamily="49" charset="-122"/>
              </a:endParaRPr>
            </a:p>
          </p:txBody>
        </p:sp>
        <p:sp>
          <p:nvSpPr>
            <p:cNvPr id="14" name="Text Box 11"/>
            <p:cNvSpPr txBox="1">
              <a:spLocks noChangeArrowheads="1"/>
            </p:cNvSpPr>
            <p:nvPr/>
          </p:nvSpPr>
          <p:spPr bwMode="auto">
            <a:xfrm>
              <a:off x="1872" y="1434"/>
              <a:ext cx="692"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机械系</a:t>
              </a:r>
              <a:endParaRPr kumimoji="1" lang="zh-CN" altLang="en-US" sz="2400" dirty="0">
                <a:latin typeface="Tahoma" panose="020B0604030504040204" pitchFamily="34" charset="0"/>
                <a:ea typeface="楷体_GB2312" pitchFamily="49" charset="-122"/>
              </a:endParaRPr>
            </a:p>
          </p:txBody>
        </p:sp>
        <p:sp>
          <p:nvSpPr>
            <p:cNvPr id="15" name="Text Box 12"/>
            <p:cNvSpPr txBox="1">
              <a:spLocks noChangeArrowheads="1"/>
            </p:cNvSpPr>
            <p:nvPr/>
          </p:nvSpPr>
          <p:spPr bwMode="auto">
            <a:xfrm>
              <a:off x="3033" y="1434"/>
              <a:ext cx="692"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胡永玉</a:t>
              </a:r>
              <a:endParaRPr kumimoji="1" lang="zh-CN" altLang="en-US" sz="2400" dirty="0">
                <a:latin typeface="Tahoma" panose="020B0604030504040204" pitchFamily="34" charset="0"/>
                <a:ea typeface="楷体_GB2312" pitchFamily="49" charset="-122"/>
              </a:endParaRPr>
            </a:p>
          </p:txBody>
        </p:sp>
      </p:grpSp>
      <p:grpSp>
        <p:nvGrpSpPr>
          <p:cNvPr id="16" name="Group 13"/>
          <p:cNvGrpSpPr/>
          <p:nvPr/>
        </p:nvGrpSpPr>
        <p:grpSpPr bwMode="auto">
          <a:xfrm>
            <a:off x="2548763" y="3521075"/>
            <a:ext cx="2193925" cy="609600"/>
            <a:chOff x="442" y="2112"/>
            <a:chExt cx="1382" cy="384"/>
          </a:xfrm>
        </p:grpSpPr>
        <p:sp>
          <p:nvSpPr>
            <p:cNvPr id="17" name="Rectangle 14"/>
            <p:cNvSpPr>
              <a:spLocks noChangeArrowheads="1"/>
            </p:cNvSpPr>
            <p:nvPr/>
          </p:nvSpPr>
          <p:spPr bwMode="auto">
            <a:xfrm>
              <a:off x="442" y="2112"/>
              <a:ext cx="1382" cy="384"/>
            </a:xfrm>
            <a:prstGeom prst="rect">
              <a:avLst/>
            </a:prstGeom>
            <a:solidFill>
              <a:srgbClr val="3C9EA8"/>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8" name="Text Box 15"/>
            <p:cNvSpPr txBox="1">
              <a:spLocks noChangeArrowheads="1"/>
            </p:cNvSpPr>
            <p:nvPr/>
          </p:nvSpPr>
          <p:spPr bwMode="auto">
            <a:xfrm>
              <a:off x="528" y="2168"/>
              <a:ext cx="433" cy="288"/>
            </a:xfrm>
            <a:prstGeom prst="rect">
              <a:avLst/>
            </a:prstGeom>
            <a:solidFill>
              <a:srgbClr val="3C9EA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S22</a:t>
              </a:r>
              <a:endParaRPr kumimoji="1" lang="en-US" altLang="zh-CN" sz="2400">
                <a:latin typeface="Tahoma" panose="020B0604030504040204" pitchFamily="34" charset="0"/>
                <a:ea typeface="楷体_GB2312" pitchFamily="49" charset="-122"/>
              </a:endParaRPr>
            </a:p>
          </p:txBody>
        </p:sp>
        <p:sp>
          <p:nvSpPr>
            <p:cNvPr id="19" name="Text Box 16"/>
            <p:cNvSpPr txBox="1">
              <a:spLocks noChangeArrowheads="1"/>
            </p:cNvSpPr>
            <p:nvPr/>
          </p:nvSpPr>
          <p:spPr bwMode="auto">
            <a:xfrm>
              <a:off x="1152" y="2160"/>
              <a:ext cx="500" cy="288"/>
            </a:xfrm>
            <a:prstGeom prst="rect">
              <a:avLst/>
            </a:prstGeom>
            <a:solidFill>
              <a:srgbClr val="3C9EA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材料</a:t>
              </a:r>
              <a:endParaRPr kumimoji="1" lang="zh-CN" altLang="en-US" sz="2400">
                <a:latin typeface="Tahoma" panose="020B0604030504040204" pitchFamily="34" charset="0"/>
                <a:ea typeface="楷体_GB2312" pitchFamily="49" charset="-122"/>
              </a:endParaRPr>
            </a:p>
          </p:txBody>
        </p:sp>
      </p:grpSp>
      <p:grpSp>
        <p:nvGrpSpPr>
          <p:cNvPr id="20" name="Group 17"/>
          <p:cNvGrpSpPr/>
          <p:nvPr/>
        </p:nvGrpSpPr>
        <p:grpSpPr bwMode="auto">
          <a:xfrm>
            <a:off x="6206363" y="3521075"/>
            <a:ext cx="3717925" cy="608013"/>
            <a:chOff x="3034" y="2784"/>
            <a:chExt cx="2534" cy="384"/>
          </a:xfrm>
          <a:solidFill>
            <a:schemeClr val="accent4">
              <a:lumMod val="40000"/>
              <a:lumOff val="60000"/>
            </a:schemeClr>
          </a:solidFill>
        </p:grpSpPr>
        <p:sp>
          <p:nvSpPr>
            <p:cNvPr id="21" name="Rectangle 18"/>
            <p:cNvSpPr>
              <a:spLocks noChangeArrowheads="1"/>
            </p:cNvSpPr>
            <p:nvPr/>
          </p:nvSpPr>
          <p:spPr bwMode="auto">
            <a:xfrm>
              <a:off x="3034" y="2784"/>
              <a:ext cx="2534" cy="38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2" name="Text Box 19"/>
            <p:cNvSpPr txBox="1">
              <a:spLocks noChangeArrowheads="1"/>
            </p:cNvSpPr>
            <p:nvPr/>
          </p:nvSpPr>
          <p:spPr bwMode="auto">
            <a:xfrm>
              <a:off x="3130" y="2840"/>
              <a:ext cx="585" cy="29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dirty="0">
                  <a:latin typeface="Tahoma" panose="020B0604030504040204" pitchFamily="34" charset="0"/>
                  <a:ea typeface="楷体_GB2312" pitchFamily="49" charset="-122"/>
                </a:rPr>
                <a:t>2230</a:t>
              </a:r>
              <a:endParaRPr kumimoji="1" lang="en-US" altLang="zh-CN" sz="2400" dirty="0">
                <a:latin typeface="Tahoma" panose="020B0604030504040204" pitchFamily="34" charset="0"/>
                <a:ea typeface="楷体_GB2312" pitchFamily="49" charset="-122"/>
              </a:endParaRPr>
            </a:p>
          </p:txBody>
        </p:sp>
        <p:sp>
          <p:nvSpPr>
            <p:cNvPr id="23" name="Text Box 20"/>
            <p:cNvSpPr txBox="1">
              <a:spLocks noChangeArrowheads="1"/>
            </p:cNvSpPr>
            <p:nvPr/>
          </p:nvSpPr>
          <p:spPr bwMode="auto">
            <a:xfrm>
              <a:off x="4155" y="2832"/>
              <a:ext cx="541" cy="28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王娟</a:t>
              </a:r>
              <a:endParaRPr kumimoji="1" lang="zh-CN" altLang="en-US" sz="2400">
                <a:latin typeface="Tahoma" panose="020B0604030504040204" pitchFamily="34" charset="0"/>
                <a:ea typeface="楷体_GB2312" pitchFamily="49" charset="-122"/>
              </a:endParaRPr>
            </a:p>
          </p:txBody>
        </p:sp>
        <p:sp>
          <p:nvSpPr>
            <p:cNvPr id="24" name="Text Box 21"/>
            <p:cNvSpPr txBox="1">
              <a:spLocks noChangeArrowheads="1"/>
            </p:cNvSpPr>
            <p:nvPr/>
          </p:nvSpPr>
          <p:spPr bwMode="auto">
            <a:xfrm>
              <a:off x="4780" y="2832"/>
              <a:ext cx="749" cy="28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副教授</a:t>
              </a:r>
              <a:endParaRPr kumimoji="1" lang="zh-CN" altLang="en-US" sz="2400">
                <a:latin typeface="Tahoma" panose="020B0604030504040204" pitchFamily="34" charset="0"/>
                <a:ea typeface="楷体_GB2312" pitchFamily="49" charset="-122"/>
              </a:endParaRPr>
            </a:p>
          </p:txBody>
        </p:sp>
      </p:grpSp>
      <p:grpSp>
        <p:nvGrpSpPr>
          <p:cNvPr id="25" name="Group 22"/>
          <p:cNvGrpSpPr/>
          <p:nvPr/>
        </p:nvGrpSpPr>
        <p:grpSpPr bwMode="auto">
          <a:xfrm>
            <a:off x="2456688" y="5197475"/>
            <a:ext cx="3048000" cy="609600"/>
            <a:chOff x="0" y="3600"/>
            <a:chExt cx="1920" cy="384"/>
          </a:xfrm>
        </p:grpSpPr>
        <p:sp>
          <p:nvSpPr>
            <p:cNvPr id="26" name="Rectangle 23"/>
            <p:cNvSpPr>
              <a:spLocks noChangeArrowheads="1"/>
            </p:cNvSpPr>
            <p:nvPr/>
          </p:nvSpPr>
          <p:spPr bwMode="auto">
            <a:xfrm>
              <a:off x="0" y="3600"/>
              <a:ext cx="1920" cy="384"/>
            </a:xfrm>
            <a:prstGeom prst="rect">
              <a:avLst/>
            </a:prstGeom>
            <a:solidFill>
              <a:srgbClr val="99CC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 name="Text Box 24"/>
            <p:cNvSpPr txBox="1">
              <a:spLocks noChangeArrowheads="1"/>
            </p:cNvSpPr>
            <p:nvPr/>
          </p:nvSpPr>
          <p:spPr bwMode="auto">
            <a:xfrm>
              <a:off x="96" y="3656"/>
              <a:ext cx="536" cy="288"/>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8830</a:t>
              </a:r>
              <a:endParaRPr kumimoji="1" lang="en-US" altLang="zh-CN" sz="2400">
                <a:latin typeface="Tahoma" panose="020B0604030504040204" pitchFamily="34" charset="0"/>
                <a:ea typeface="楷体_GB2312" pitchFamily="49" charset="-122"/>
              </a:endParaRPr>
            </a:p>
          </p:txBody>
        </p:sp>
        <p:sp>
          <p:nvSpPr>
            <p:cNvPr id="28" name="Text Box 25"/>
            <p:cNvSpPr txBox="1">
              <a:spLocks noChangeArrowheads="1"/>
            </p:cNvSpPr>
            <p:nvPr/>
          </p:nvSpPr>
          <p:spPr bwMode="auto">
            <a:xfrm>
              <a:off x="662" y="3648"/>
              <a:ext cx="500" cy="288"/>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陈成</a:t>
              </a:r>
              <a:endParaRPr kumimoji="1" lang="zh-CN" altLang="en-US" sz="2400">
                <a:latin typeface="Tahoma" panose="020B0604030504040204" pitchFamily="34" charset="0"/>
                <a:ea typeface="楷体_GB2312" pitchFamily="49" charset="-122"/>
              </a:endParaRPr>
            </a:p>
          </p:txBody>
        </p:sp>
        <p:sp>
          <p:nvSpPr>
            <p:cNvPr id="29" name="Text Box 26"/>
            <p:cNvSpPr txBox="1">
              <a:spLocks noChangeArrowheads="1"/>
            </p:cNvSpPr>
            <p:nvPr/>
          </p:nvSpPr>
          <p:spPr bwMode="auto">
            <a:xfrm>
              <a:off x="1238" y="3648"/>
              <a:ext cx="308" cy="288"/>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男</a:t>
              </a:r>
              <a:endParaRPr kumimoji="1" lang="zh-CN" altLang="en-US" sz="2400">
                <a:latin typeface="Tahoma" panose="020B0604030504040204" pitchFamily="34" charset="0"/>
                <a:ea typeface="楷体_GB2312" pitchFamily="49" charset="-122"/>
              </a:endParaRPr>
            </a:p>
          </p:txBody>
        </p:sp>
      </p:grpSp>
      <p:grpSp>
        <p:nvGrpSpPr>
          <p:cNvPr id="30" name="Group 27"/>
          <p:cNvGrpSpPr/>
          <p:nvPr/>
        </p:nvGrpSpPr>
        <p:grpSpPr bwMode="auto">
          <a:xfrm>
            <a:off x="4437888" y="2911475"/>
            <a:ext cx="2819400" cy="609600"/>
            <a:chOff x="2352" y="2448"/>
            <a:chExt cx="912" cy="288"/>
          </a:xfrm>
        </p:grpSpPr>
        <p:cxnSp>
          <p:nvCxnSpPr>
            <p:cNvPr id="31" name="AutoShape 28"/>
            <p:cNvCxnSpPr>
              <a:cxnSpLocks noChangeShapeType="1"/>
            </p:cNvCxnSpPr>
            <p:nvPr/>
          </p:nvCxnSpPr>
          <p:spPr bwMode="auto">
            <a:xfrm rot="5400000">
              <a:off x="2424" y="2376"/>
              <a:ext cx="288" cy="432"/>
            </a:xfrm>
            <a:prstGeom prst="bentConnector3">
              <a:avLst>
                <a:gd name="adj1" fmla="val 50000"/>
              </a:avLst>
            </a:prstGeom>
            <a:noFill/>
            <a:ln w="3810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 name="AutoShape 29"/>
            <p:cNvCxnSpPr>
              <a:cxnSpLocks noChangeShapeType="1"/>
            </p:cNvCxnSpPr>
            <p:nvPr/>
          </p:nvCxnSpPr>
          <p:spPr bwMode="auto">
            <a:xfrm rot="16200000" flipH="1">
              <a:off x="2880" y="2352"/>
              <a:ext cx="288" cy="480"/>
            </a:xfrm>
            <a:prstGeom prst="bentConnector3">
              <a:avLst>
                <a:gd name="adj1" fmla="val 50000"/>
              </a:avLst>
            </a:prstGeom>
            <a:noFill/>
            <a:ln w="38100">
              <a:solidFill>
                <a:srgbClr val="FF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33" name="Group 30"/>
          <p:cNvGrpSpPr/>
          <p:nvPr/>
        </p:nvGrpSpPr>
        <p:grpSpPr bwMode="auto">
          <a:xfrm>
            <a:off x="2151888" y="1844675"/>
            <a:ext cx="4495800" cy="534988"/>
            <a:chOff x="1104" y="1392"/>
            <a:chExt cx="2832" cy="337"/>
          </a:xfrm>
        </p:grpSpPr>
        <p:sp>
          <p:nvSpPr>
            <p:cNvPr id="34" name="Rectangle 31"/>
            <p:cNvSpPr>
              <a:spLocks noChangeArrowheads="1"/>
            </p:cNvSpPr>
            <p:nvPr/>
          </p:nvSpPr>
          <p:spPr bwMode="auto">
            <a:xfrm>
              <a:off x="1104" y="1392"/>
              <a:ext cx="2832" cy="33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5" name="Text Box 32"/>
            <p:cNvSpPr txBox="1">
              <a:spLocks noChangeArrowheads="1"/>
            </p:cNvSpPr>
            <p:nvPr/>
          </p:nvSpPr>
          <p:spPr bwMode="auto">
            <a:xfrm>
              <a:off x="1254" y="1441"/>
              <a:ext cx="352"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D9</a:t>
              </a:r>
              <a:endParaRPr kumimoji="1" lang="en-US" altLang="zh-CN" sz="2400">
                <a:latin typeface="Tahoma" panose="020B0604030504040204" pitchFamily="34" charset="0"/>
                <a:ea typeface="楷体_GB2312" pitchFamily="49" charset="-122"/>
              </a:endParaRPr>
            </a:p>
          </p:txBody>
        </p:sp>
        <p:sp>
          <p:nvSpPr>
            <p:cNvPr id="36" name="Text Box 33"/>
            <p:cNvSpPr txBox="1">
              <a:spLocks noChangeArrowheads="1"/>
            </p:cNvSpPr>
            <p:nvPr/>
          </p:nvSpPr>
          <p:spPr bwMode="auto">
            <a:xfrm>
              <a:off x="1872" y="1434"/>
              <a:ext cx="884"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计算机系</a:t>
              </a:r>
              <a:endParaRPr kumimoji="1" lang="zh-CN" altLang="en-US" sz="2400" dirty="0">
                <a:latin typeface="Tahoma" panose="020B0604030504040204" pitchFamily="34" charset="0"/>
                <a:ea typeface="楷体_GB2312" pitchFamily="49" charset="-122"/>
              </a:endParaRPr>
            </a:p>
          </p:txBody>
        </p:sp>
        <p:sp>
          <p:nvSpPr>
            <p:cNvPr id="37" name="Text Box 34"/>
            <p:cNvSpPr txBox="1">
              <a:spLocks noChangeArrowheads="1"/>
            </p:cNvSpPr>
            <p:nvPr/>
          </p:nvSpPr>
          <p:spPr bwMode="auto">
            <a:xfrm>
              <a:off x="3033" y="1434"/>
              <a:ext cx="500" cy="288"/>
            </a:xfrm>
            <a:prstGeom prst="rect">
              <a:avLst/>
            </a:prstGeom>
            <a:solidFill>
              <a:schemeClr val="accent2">
                <a:lumMod val="40000"/>
                <a:lumOff val="6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dirty="0">
                  <a:latin typeface="Tahoma" panose="020B0604030504040204" pitchFamily="34" charset="0"/>
                  <a:ea typeface="楷体_GB2312" pitchFamily="49" charset="-122"/>
                </a:rPr>
                <a:t>王平</a:t>
              </a:r>
              <a:endParaRPr kumimoji="1" lang="zh-CN" altLang="en-US" sz="2400" dirty="0">
                <a:latin typeface="Tahoma" panose="020B0604030504040204" pitchFamily="34" charset="0"/>
                <a:ea typeface="楷体_GB2312" pitchFamily="49" charset="-122"/>
              </a:endParaRPr>
            </a:p>
          </p:txBody>
        </p:sp>
      </p:grpSp>
      <p:grpSp>
        <p:nvGrpSpPr>
          <p:cNvPr id="38" name="Group 35"/>
          <p:cNvGrpSpPr/>
          <p:nvPr/>
        </p:nvGrpSpPr>
        <p:grpSpPr bwMode="auto">
          <a:xfrm>
            <a:off x="2243963" y="4130675"/>
            <a:ext cx="2193925" cy="609600"/>
            <a:chOff x="442" y="2112"/>
            <a:chExt cx="1382" cy="384"/>
          </a:xfrm>
        </p:grpSpPr>
        <p:sp>
          <p:nvSpPr>
            <p:cNvPr id="39" name="Rectangle 36"/>
            <p:cNvSpPr>
              <a:spLocks noChangeArrowheads="1"/>
            </p:cNvSpPr>
            <p:nvPr/>
          </p:nvSpPr>
          <p:spPr bwMode="auto">
            <a:xfrm>
              <a:off x="442" y="2112"/>
              <a:ext cx="1382" cy="384"/>
            </a:xfrm>
            <a:prstGeom prst="rect">
              <a:avLst/>
            </a:prstGeom>
            <a:solidFill>
              <a:srgbClr val="3C9EA8"/>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0" name="Text Box 37"/>
            <p:cNvSpPr txBox="1">
              <a:spLocks noChangeArrowheads="1"/>
            </p:cNvSpPr>
            <p:nvPr/>
          </p:nvSpPr>
          <p:spPr bwMode="auto">
            <a:xfrm>
              <a:off x="528" y="2168"/>
              <a:ext cx="433" cy="288"/>
            </a:xfrm>
            <a:prstGeom prst="rect">
              <a:avLst/>
            </a:prstGeom>
            <a:solidFill>
              <a:srgbClr val="3C9EA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S21</a:t>
              </a:r>
              <a:endParaRPr kumimoji="1" lang="en-US" altLang="zh-CN" sz="2400">
                <a:latin typeface="Tahoma" panose="020B0604030504040204" pitchFamily="34" charset="0"/>
                <a:ea typeface="楷体_GB2312" pitchFamily="49" charset="-122"/>
              </a:endParaRPr>
            </a:p>
          </p:txBody>
        </p:sp>
        <p:sp>
          <p:nvSpPr>
            <p:cNvPr id="41" name="Text Box 38"/>
            <p:cNvSpPr txBox="1">
              <a:spLocks noChangeArrowheads="1"/>
            </p:cNvSpPr>
            <p:nvPr/>
          </p:nvSpPr>
          <p:spPr bwMode="auto">
            <a:xfrm>
              <a:off x="1152" y="2160"/>
              <a:ext cx="500" cy="288"/>
            </a:xfrm>
            <a:prstGeom prst="rect">
              <a:avLst/>
            </a:prstGeom>
            <a:solidFill>
              <a:srgbClr val="3C9EA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机制</a:t>
              </a:r>
              <a:endParaRPr kumimoji="1" lang="zh-CN" altLang="en-US" sz="2400">
                <a:latin typeface="Tahoma" panose="020B0604030504040204" pitchFamily="34" charset="0"/>
                <a:ea typeface="楷体_GB2312" pitchFamily="49" charset="-122"/>
              </a:endParaRPr>
            </a:p>
          </p:txBody>
        </p:sp>
      </p:grpSp>
      <p:cxnSp>
        <p:nvCxnSpPr>
          <p:cNvPr id="42" name="AutoShape 39"/>
          <p:cNvCxnSpPr>
            <a:cxnSpLocks noChangeShapeType="1"/>
            <a:stCxn id="17" idx="3"/>
          </p:cNvCxnSpPr>
          <p:nvPr/>
        </p:nvCxnSpPr>
        <p:spPr bwMode="auto">
          <a:xfrm>
            <a:off x="4742688" y="3825875"/>
            <a:ext cx="2286000" cy="1143000"/>
          </a:xfrm>
          <a:prstGeom prst="bentConnector3">
            <a:avLst>
              <a:gd name="adj1" fmla="val 50000"/>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3" name="Line 40"/>
          <p:cNvSpPr>
            <a:spLocks noChangeShapeType="1"/>
          </p:cNvSpPr>
          <p:nvPr/>
        </p:nvSpPr>
        <p:spPr bwMode="auto">
          <a:xfrm>
            <a:off x="7028688" y="4968875"/>
            <a:ext cx="0" cy="60960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44" name="Group 41"/>
          <p:cNvGrpSpPr/>
          <p:nvPr/>
        </p:nvGrpSpPr>
        <p:grpSpPr bwMode="auto">
          <a:xfrm>
            <a:off x="6039676" y="6111875"/>
            <a:ext cx="3960812" cy="609600"/>
            <a:chOff x="3274" y="3600"/>
            <a:chExt cx="2294" cy="384"/>
          </a:xfrm>
          <a:solidFill>
            <a:srgbClr val="CC99FF"/>
          </a:solidFill>
        </p:grpSpPr>
        <p:sp>
          <p:nvSpPr>
            <p:cNvPr id="45" name="Rectangle 42"/>
            <p:cNvSpPr>
              <a:spLocks noChangeArrowheads="1"/>
            </p:cNvSpPr>
            <p:nvPr/>
          </p:nvSpPr>
          <p:spPr bwMode="auto">
            <a:xfrm>
              <a:off x="3274" y="3600"/>
              <a:ext cx="2294" cy="38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 name="Text Box 43"/>
            <p:cNvSpPr txBox="1">
              <a:spLocks noChangeArrowheads="1"/>
            </p:cNvSpPr>
            <p:nvPr/>
          </p:nvSpPr>
          <p:spPr bwMode="auto">
            <a:xfrm>
              <a:off x="3370" y="3656"/>
              <a:ext cx="405"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C24</a:t>
              </a:r>
              <a:endParaRPr kumimoji="1" lang="en-US" altLang="zh-CN" sz="2400">
                <a:latin typeface="Tahoma" panose="020B0604030504040204" pitchFamily="34" charset="0"/>
                <a:ea typeface="楷体_GB2312" pitchFamily="49" charset="-122"/>
              </a:endParaRPr>
            </a:p>
          </p:txBody>
        </p:sp>
        <p:sp>
          <p:nvSpPr>
            <p:cNvPr id="47" name="Text Box 44"/>
            <p:cNvSpPr txBox="1">
              <a:spLocks noChangeArrowheads="1"/>
            </p:cNvSpPr>
            <p:nvPr/>
          </p:nvSpPr>
          <p:spPr bwMode="auto">
            <a:xfrm>
              <a:off x="3936" y="3648"/>
              <a:ext cx="813"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有机化学</a:t>
              </a:r>
              <a:endParaRPr kumimoji="1" lang="zh-CN" altLang="en-US" sz="2400">
                <a:latin typeface="Tahoma" panose="020B0604030504040204" pitchFamily="34" charset="0"/>
                <a:ea typeface="楷体_GB2312" pitchFamily="49" charset="-122"/>
              </a:endParaRPr>
            </a:p>
          </p:txBody>
        </p:sp>
        <p:sp>
          <p:nvSpPr>
            <p:cNvPr id="48" name="Text Box 45"/>
            <p:cNvSpPr txBox="1">
              <a:spLocks noChangeArrowheads="1"/>
            </p:cNvSpPr>
            <p:nvPr/>
          </p:nvSpPr>
          <p:spPr bwMode="auto">
            <a:xfrm>
              <a:off x="4780" y="3648"/>
              <a:ext cx="596" cy="28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56</a:t>
              </a:r>
              <a:endParaRPr kumimoji="1" lang="en-US" altLang="zh-CN" sz="2400">
                <a:latin typeface="Tahoma" panose="020B0604030504040204" pitchFamily="34" charset="0"/>
                <a:ea typeface="楷体_GB2312" pitchFamily="49" charset="-122"/>
              </a:endParaRPr>
            </a:p>
          </p:txBody>
        </p:sp>
      </p:grpSp>
      <p:grpSp>
        <p:nvGrpSpPr>
          <p:cNvPr id="49" name="Group 46"/>
          <p:cNvGrpSpPr/>
          <p:nvPr/>
        </p:nvGrpSpPr>
        <p:grpSpPr bwMode="auto">
          <a:xfrm>
            <a:off x="2075688" y="5807075"/>
            <a:ext cx="3048000" cy="609600"/>
            <a:chOff x="0" y="3600"/>
            <a:chExt cx="1920" cy="384"/>
          </a:xfrm>
        </p:grpSpPr>
        <p:sp>
          <p:nvSpPr>
            <p:cNvPr id="50" name="Rectangle 47"/>
            <p:cNvSpPr>
              <a:spLocks noChangeArrowheads="1"/>
            </p:cNvSpPr>
            <p:nvPr/>
          </p:nvSpPr>
          <p:spPr bwMode="auto">
            <a:xfrm>
              <a:off x="0" y="3600"/>
              <a:ext cx="1920" cy="384"/>
            </a:xfrm>
            <a:prstGeom prst="rect">
              <a:avLst/>
            </a:prstGeom>
            <a:solidFill>
              <a:srgbClr val="99CC00"/>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 name="Text Box 48"/>
            <p:cNvSpPr txBox="1">
              <a:spLocks noChangeArrowheads="1"/>
            </p:cNvSpPr>
            <p:nvPr/>
          </p:nvSpPr>
          <p:spPr bwMode="auto">
            <a:xfrm>
              <a:off x="96" y="3656"/>
              <a:ext cx="536" cy="288"/>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a:latin typeface="Tahoma" panose="020B0604030504040204" pitchFamily="34" charset="0"/>
                  <a:ea typeface="楷体_GB2312" pitchFamily="49" charset="-122"/>
                </a:rPr>
                <a:t>8822</a:t>
              </a:r>
              <a:endParaRPr kumimoji="1" lang="en-US" altLang="zh-CN" sz="2400">
                <a:latin typeface="Tahoma" panose="020B0604030504040204" pitchFamily="34" charset="0"/>
                <a:ea typeface="楷体_GB2312" pitchFamily="49" charset="-122"/>
              </a:endParaRPr>
            </a:p>
          </p:txBody>
        </p:sp>
        <p:sp>
          <p:nvSpPr>
            <p:cNvPr id="52" name="Text Box 49"/>
            <p:cNvSpPr txBox="1">
              <a:spLocks noChangeArrowheads="1"/>
            </p:cNvSpPr>
            <p:nvPr/>
          </p:nvSpPr>
          <p:spPr bwMode="auto">
            <a:xfrm>
              <a:off x="662" y="3648"/>
              <a:ext cx="500" cy="288"/>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李萍</a:t>
              </a:r>
              <a:endParaRPr kumimoji="1" lang="zh-CN" altLang="en-US" sz="2400">
                <a:latin typeface="Tahoma" panose="020B0604030504040204" pitchFamily="34" charset="0"/>
                <a:ea typeface="楷体_GB2312" pitchFamily="49" charset="-122"/>
              </a:endParaRPr>
            </a:p>
          </p:txBody>
        </p:sp>
        <p:sp>
          <p:nvSpPr>
            <p:cNvPr id="53" name="Text Box 50"/>
            <p:cNvSpPr txBox="1">
              <a:spLocks noChangeArrowheads="1"/>
            </p:cNvSpPr>
            <p:nvPr/>
          </p:nvSpPr>
          <p:spPr bwMode="auto">
            <a:xfrm>
              <a:off x="1238" y="3648"/>
              <a:ext cx="308" cy="288"/>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女</a:t>
              </a:r>
              <a:endParaRPr kumimoji="1" lang="zh-CN" altLang="en-US" sz="2400">
                <a:latin typeface="Tahoma" panose="020B0604030504040204" pitchFamily="34" charset="0"/>
                <a:ea typeface="楷体_GB2312" pitchFamily="49" charset="-122"/>
              </a:endParaRPr>
            </a:p>
          </p:txBody>
        </p:sp>
      </p:grpSp>
      <p:sp>
        <p:nvSpPr>
          <p:cNvPr id="54" name="Line 51"/>
          <p:cNvSpPr>
            <a:spLocks noChangeShapeType="1"/>
          </p:cNvSpPr>
          <p:nvPr/>
        </p:nvSpPr>
        <p:spPr bwMode="auto">
          <a:xfrm>
            <a:off x="4666488" y="4130675"/>
            <a:ext cx="0" cy="1066800"/>
          </a:xfrm>
          <a:prstGeom prst="line">
            <a:avLst/>
          </a:prstGeom>
          <a:noFill/>
          <a:ln w="9525">
            <a:solidFill>
              <a:schemeClr val="tx1"/>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55" name="Group 52"/>
          <p:cNvGrpSpPr/>
          <p:nvPr/>
        </p:nvGrpSpPr>
        <p:grpSpPr bwMode="auto">
          <a:xfrm>
            <a:off x="6511163" y="4130675"/>
            <a:ext cx="3717925" cy="608013"/>
            <a:chOff x="3034" y="2784"/>
            <a:chExt cx="2534" cy="384"/>
          </a:xfrm>
          <a:solidFill>
            <a:schemeClr val="accent4">
              <a:lumMod val="40000"/>
              <a:lumOff val="60000"/>
            </a:schemeClr>
          </a:solidFill>
        </p:grpSpPr>
        <p:sp>
          <p:nvSpPr>
            <p:cNvPr id="56" name="Rectangle 53"/>
            <p:cNvSpPr>
              <a:spLocks noChangeArrowheads="1"/>
            </p:cNvSpPr>
            <p:nvPr/>
          </p:nvSpPr>
          <p:spPr bwMode="auto">
            <a:xfrm>
              <a:off x="3034" y="2784"/>
              <a:ext cx="2534" cy="384"/>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 name="Text Box 54"/>
            <p:cNvSpPr txBox="1">
              <a:spLocks noChangeArrowheads="1"/>
            </p:cNvSpPr>
            <p:nvPr/>
          </p:nvSpPr>
          <p:spPr bwMode="auto">
            <a:xfrm>
              <a:off x="3130" y="2840"/>
              <a:ext cx="585" cy="29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400" dirty="0">
                  <a:latin typeface="Tahoma" panose="020B0604030504040204" pitchFamily="34" charset="0"/>
                  <a:ea typeface="楷体_GB2312" pitchFamily="49" charset="-122"/>
                </a:rPr>
                <a:t>2241</a:t>
              </a:r>
              <a:endParaRPr kumimoji="1" lang="en-US" altLang="zh-CN" sz="2400" dirty="0">
                <a:latin typeface="Tahoma" panose="020B0604030504040204" pitchFamily="34" charset="0"/>
                <a:ea typeface="楷体_GB2312" pitchFamily="49" charset="-122"/>
              </a:endParaRPr>
            </a:p>
          </p:txBody>
        </p:sp>
        <p:sp>
          <p:nvSpPr>
            <p:cNvPr id="58" name="Text Box 55"/>
            <p:cNvSpPr txBox="1">
              <a:spLocks noChangeArrowheads="1"/>
            </p:cNvSpPr>
            <p:nvPr/>
          </p:nvSpPr>
          <p:spPr bwMode="auto">
            <a:xfrm>
              <a:off x="4155" y="2832"/>
              <a:ext cx="541" cy="28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杨华</a:t>
              </a:r>
              <a:endParaRPr kumimoji="1" lang="zh-CN" altLang="en-US" sz="2400">
                <a:latin typeface="Tahoma" panose="020B0604030504040204" pitchFamily="34" charset="0"/>
                <a:ea typeface="楷体_GB2312" pitchFamily="49" charset="-122"/>
              </a:endParaRPr>
            </a:p>
          </p:txBody>
        </p:sp>
        <p:sp>
          <p:nvSpPr>
            <p:cNvPr id="59" name="Text Box 56"/>
            <p:cNvSpPr txBox="1">
              <a:spLocks noChangeArrowheads="1"/>
            </p:cNvSpPr>
            <p:nvPr/>
          </p:nvSpPr>
          <p:spPr bwMode="auto">
            <a:xfrm>
              <a:off x="4780" y="2832"/>
              <a:ext cx="541" cy="28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a:latin typeface="Tahoma" panose="020B0604030504040204" pitchFamily="34" charset="0"/>
                  <a:ea typeface="楷体_GB2312" pitchFamily="49" charset="-122"/>
                </a:rPr>
                <a:t>教授</a:t>
              </a:r>
              <a:endParaRPr kumimoji="1" lang="zh-CN" altLang="en-US" sz="2400">
                <a:latin typeface="Tahoma" panose="020B0604030504040204" pitchFamily="34" charset="0"/>
                <a:ea typeface="楷体_GB2312" pitchFamily="49" charset="-122"/>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层次模型</a:t>
            </a:r>
            <a:endParaRPr lang="en-US" altLang="zh-CN" sz="2800" dirty="0">
              <a:latin typeface="微软雅黑" panose="020B0503020204020204" pitchFamily="34" charset="-122"/>
              <a:ea typeface="微软雅黑" panose="020B0503020204020204" pitchFamily="34" charset="-122"/>
            </a:endParaRPr>
          </a:p>
          <a:p>
            <a:pPr lvl="1"/>
            <a:r>
              <a:rPr lang="zh-CN" altLang="en-US" dirty="0"/>
              <a:t>层次模型有两个缺点：</a:t>
            </a:r>
            <a:endParaRPr lang="zh-CN" altLang="en-US" dirty="0"/>
          </a:p>
          <a:p>
            <a:pPr lvl="2"/>
            <a:r>
              <a:rPr lang="zh-CN" altLang="en-US" dirty="0"/>
              <a:t>一是只能表示</a:t>
            </a:r>
            <a:r>
              <a:rPr lang="en-US" altLang="zh-CN" dirty="0"/>
              <a:t>1:N</a:t>
            </a:r>
            <a:r>
              <a:rPr lang="zh-CN" altLang="en-US" dirty="0"/>
              <a:t>联系，虽然系统有多种辅助手段实现</a:t>
            </a:r>
            <a:r>
              <a:rPr lang="en-US" altLang="zh-CN" dirty="0"/>
              <a:t>M:N</a:t>
            </a:r>
            <a:r>
              <a:rPr lang="zh-CN" altLang="en-US" dirty="0"/>
              <a:t>联系但较复杂，用户不易掌握</a:t>
            </a:r>
            <a:endParaRPr lang="zh-CN" altLang="en-US" dirty="0"/>
          </a:p>
          <a:p>
            <a:pPr lvl="2"/>
            <a:r>
              <a:rPr lang="zh-CN" altLang="en-US" dirty="0"/>
              <a:t>二是由于层次顺序的严格和复杂，引起数据的查询和更新操作很复杂，因此应用程序的编写也比较复杂</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网状模型举例</a:t>
            </a:r>
            <a:endParaRPr lang="en-US" altLang="zh-CN" sz="2800" b="1" dirty="0"/>
          </a:p>
          <a:p>
            <a:pPr lvl="1"/>
            <a:r>
              <a:rPr lang="zh-CN" altLang="en-US" sz="2400" kern="0" dirty="0">
                <a:solidFill>
                  <a:srgbClr val="000000"/>
                </a:solidFill>
                <a:latin typeface="微软雅黑" panose="020B0503020204020204" pitchFamily="34" charset="-122"/>
                <a:ea typeface="微软雅黑" panose="020B0503020204020204" pitchFamily="34" charset="-122"/>
              </a:rPr>
              <a:t>用有向图结构表示实体类型及实体间联系的数据模型称为</a:t>
            </a:r>
            <a:r>
              <a:rPr lang="zh-CN" altLang="en-US" sz="2400" kern="0" dirty="0">
                <a:solidFill>
                  <a:schemeClr val="accent2">
                    <a:lumMod val="75000"/>
                  </a:schemeClr>
                </a:solidFill>
                <a:latin typeface="微软雅黑" panose="020B0503020204020204" pitchFamily="34" charset="-122"/>
                <a:ea typeface="微软雅黑" panose="020B0503020204020204" pitchFamily="34" charset="-122"/>
              </a:rPr>
              <a:t>网状模型</a:t>
            </a:r>
            <a:r>
              <a:rPr lang="zh-CN" altLang="en-US" sz="2400" kern="0" dirty="0">
                <a:solidFill>
                  <a:srgbClr val="000000"/>
                </a:solidFill>
                <a:latin typeface="微软雅黑" panose="020B0503020204020204" pitchFamily="34" charset="-122"/>
                <a:ea typeface="微软雅黑" panose="020B0503020204020204" pitchFamily="34" charset="-122"/>
              </a:rPr>
              <a:t>（</a:t>
            </a:r>
            <a:r>
              <a:rPr lang="en-US" altLang="zh-CN" sz="2400" kern="0" dirty="0">
                <a:solidFill>
                  <a:srgbClr val="000000"/>
                </a:solidFill>
                <a:latin typeface="微软雅黑" panose="020B0503020204020204" pitchFamily="34" charset="-122"/>
                <a:ea typeface="微软雅黑" panose="020B0503020204020204" pitchFamily="34" charset="-122"/>
              </a:rPr>
              <a:t>network model</a:t>
            </a:r>
            <a:r>
              <a:rPr lang="zh-CN" altLang="en-US" sz="2400" kern="0" dirty="0">
                <a:solidFill>
                  <a:srgbClr val="000000"/>
                </a:solidFill>
                <a:latin typeface="微软雅黑" panose="020B0503020204020204" pitchFamily="34" charset="-122"/>
                <a:ea typeface="微软雅黑" panose="020B0503020204020204" pitchFamily="34" charset="-122"/>
              </a:rPr>
              <a:t>）</a:t>
            </a:r>
            <a:endParaRPr lang="en-US" altLang="zh-CN" sz="2400" kern="0" dirty="0">
              <a:solidFill>
                <a:srgbClr val="000000"/>
              </a:solidFill>
              <a:latin typeface="微软雅黑" panose="020B0503020204020204" pitchFamily="34" charset="-122"/>
              <a:ea typeface="微软雅黑" panose="020B0503020204020204" pitchFamily="34" charset="-122"/>
            </a:endParaRPr>
          </a:p>
          <a:p>
            <a:pPr lvl="1"/>
            <a:r>
              <a:rPr lang="zh-CN" altLang="en-US" sz="2400" dirty="0">
                <a:solidFill>
                  <a:srgbClr val="FF3333"/>
                </a:solidFill>
              </a:rPr>
              <a:t>基本特点：</a:t>
            </a:r>
            <a:r>
              <a:rPr lang="zh-CN" altLang="en-US" sz="2400" dirty="0"/>
              <a:t>一个以上的结点无父结点；至少有一结点有多于一个的父结点。</a:t>
            </a:r>
            <a:endParaRPr lang="zh-CN" altLang="en-US" sz="2400" dirty="0"/>
          </a:p>
          <a:p>
            <a:pPr marL="457200" lvl="1" indent="0">
              <a:buNone/>
            </a:pPr>
            <a:endParaRPr lang="zh-CN" altLang="en-US" sz="2400" kern="0" dirty="0">
              <a:solidFill>
                <a:srgbClr val="000000"/>
              </a:solidFill>
              <a:latin typeface="微软雅黑" panose="020B0503020204020204" pitchFamily="34" charset="-122"/>
              <a:ea typeface="微软雅黑" panose="020B0503020204020204" pitchFamily="34" charset="-122"/>
            </a:endParaRPr>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pSp>
        <p:nvGrpSpPr>
          <p:cNvPr id="6" name="Group 14"/>
          <p:cNvGrpSpPr/>
          <p:nvPr/>
        </p:nvGrpSpPr>
        <p:grpSpPr bwMode="auto">
          <a:xfrm>
            <a:off x="3511820" y="3975099"/>
            <a:ext cx="4648200" cy="2563813"/>
            <a:chOff x="1358" y="1860"/>
            <a:chExt cx="2928" cy="1615"/>
          </a:xfrm>
        </p:grpSpPr>
        <p:sp>
          <p:nvSpPr>
            <p:cNvPr id="7" name="Text Box 5"/>
            <p:cNvSpPr txBox="1">
              <a:spLocks noChangeArrowheads="1"/>
            </p:cNvSpPr>
            <p:nvPr/>
          </p:nvSpPr>
          <p:spPr bwMode="auto">
            <a:xfrm>
              <a:off x="1358" y="1868"/>
              <a:ext cx="869" cy="52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b="1">
                  <a:latin typeface="Times New Roman" panose="02020603050405020304" pitchFamily="18" charset="0"/>
                </a:rPr>
                <a:t>学生宿舍</a:t>
              </a:r>
              <a:endParaRPr kumimoji="1" lang="zh-CN" altLang="en-US" sz="2400" b="1">
                <a:latin typeface="Times New Roman" panose="02020603050405020304" pitchFamily="18" charset="0"/>
              </a:endParaRPr>
            </a:p>
          </p:txBody>
        </p:sp>
        <p:sp>
          <p:nvSpPr>
            <p:cNvPr id="8" name="Text Box 6"/>
            <p:cNvSpPr txBox="1">
              <a:spLocks noChangeArrowheads="1"/>
            </p:cNvSpPr>
            <p:nvPr/>
          </p:nvSpPr>
          <p:spPr bwMode="auto">
            <a:xfrm>
              <a:off x="2044" y="2583"/>
              <a:ext cx="870"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b="1">
                  <a:latin typeface="Times New Roman" panose="02020603050405020304" pitchFamily="18" charset="0"/>
                </a:rPr>
                <a:t>学生</a:t>
              </a:r>
              <a:endParaRPr kumimoji="1" lang="zh-CN" altLang="en-US" sz="2400" b="1">
                <a:latin typeface="Times New Roman" panose="02020603050405020304" pitchFamily="18" charset="0"/>
              </a:endParaRPr>
            </a:p>
          </p:txBody>
        </p:sp>
        <p:sp>
          <p:nvSpPr>
            <p:cNvPr id="9" name="Text Box 7"/>
            <p:cNvSpPr txBox="1">
              <a:spLocks noChangeArrowheads="1"/>
            </p:cNvSpPr>
            <p:nvPr/>
          </p:nvSpPr>
          <p:spPr bwMode="auto">
            <a:xfrm>
              <a:off x="3371" y="2583"/>
              <a:ext cx="869"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b="1">
                  <a:latin typeface="Times New Roman" panose="02020603050405020304" pitchFamily="18" charset="0"/>
                </a:rPr>
                <a:t>教研室</a:t>
              </a:r>
              <a:endParaRPr kumimoji="1" lang="zh-CN" altLang="en-US" sz="2400" b="1">
                <a:latin typeface="Times New Roman" panose="02020603050405020304" pitchFamily="18" charset="0"/>
              </a:endParaRPr>
            </a:p>
          </p:txBody>
        </p:sp>
        <p:sp>
          <p:nvSpPr>
            <p:cNvPr id="10" name="Text Box 8"/>
            <p:cNvSpPr txBox="1">
              <a:spLocks noChangeArrowheads="1"/>
            </p:cNvSpPr>
            <p:nvPr/>
          </p:nvSpPr>
          <p:spPr bwMode="auto">
            <a:xfrm>
              <a:off x="2822" y="1860"/>
              <a:ext cx="869"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b="1">
                  <a:latin typeface="Times New Roman" panose="02020603050405020304" pitchFamily="18" charset="0"/>
                </a:rPr>
                <a:t>系</a:t>
              </a:r>
              <a:endParaRPr kumimoji="1" lang="zh-CN" altLang="en-US" sz="2400" b="1">
                <a:latin typeface="Times New Roman" panose="02020603050405020304" pitchFamily="18" charset="0"/>
              </a:endParaRPr>
            </a:p>
          </p:txBody>
        </p:sp>
        <p:sp>
          <p:nvSpPr>
            <p:cNvPr id="11" name="Text Box 9"/>
            <p:cNvSpPr txBox="1">
              <a:spLocks noChangeArrowheads="1"/>
            </p:cNvSpPr>
            <p:nvPr/>
          </p:nvSpPr>
          <p:spPr bwMode="auto">
            <a:xfrm>
              <a:off x="3417" y="3181"/>
              <a:ext cx="869" cy="294"/>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b="1">
                  <a:latin typeface="Times New Roman" panose="02020603050405020304" pitchFamily="18" charset="0"/>
                </a:rPr>
                <a:t>教师</a:t>
              </a:r>
              <a:endParaRPr kumimoji="1" lang="zh-CN" altLang="en-US" sz="2400" b="1">
                <a:latin typeface="Times New Roman" panose="02020603050405020304" pitchFamily="18" charset="0"/>
              </a:endParaRPr>
            </a:p>
          </p:txBody>
        </p:sp>
        <p:sp>
          <p:nvSpPr>
            <p:cNvPr id="12" name="Line 10"/>
            <p:cNvSpPr>
              <a:spLocks noChangeShapeType="1"/>
            </p:cNvSpPr>
            <p:nvPr/>
          </p:nvSpPr>
          <p:spPr bwMode="auto">
            <a:xfrm>
              <a:off x="2064" y="2387"/>
              <a:ext cx="256" cy="19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p:nvSpPr>
          <p:spPr bwMode="auto">
            <a:xfrm flipH="1">
              <a:off x="2502" y="2160"/>
              <a:ext cx="650" cy="42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p:nvSpPr>
          <p:spPr bwMode="auto">
            <a:xfrm>
              <a:off x="3334" y="2160"/>
              <a:ext cx="449" cy="423"/>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p:nvSpPr>
          <p:spPr bwMode="auto">
            <a:xfrm flipH="1">
              <a:off x="3829" y="2886"/>
              <a:ext cx="4" cy="29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网状模型</a:t>
            </a:r>
            <a:endParaRPr lang="en-US" altLang="zh-CN" sz="2800" b="1" dirty="0"/>
          </a:p>
          <a:p>
            <a:pPr lvl="1"/>
            <a:r>
              <a:rPr lang="zh-CN" altLang="en-US" dirty="0"/>
              <a:t>网状模型的特点是记录之间联系通过指针实现，</a:t>
            </a:r>
            <a:r>
              <a:rPr lang="en-US" altLang="zh-CN" dirty="0"/>
              <a:t>M:N</a:t>
            </a:r>
            <a:r>
              <a:rPr lang="zh-CN" altLang="en-US" dirty="0"/>
              <a:t>联系也容易实现（一个</a:t>
            </a:r>
            <a:r>
              <a:rPr lang="en-US" altLang="zh-CN" dirty="0"/>
              <a:t>M:N</a:t>
            </a:r>
            <a:r>
              <a:rPr lang="zh-CN" altLang="en-US" dirty="0"/>
              <a:t>联系可拆成两个</a:t>
            </a:r>
            <a:r>
              <a:rPr lang="en-US" altLang="zh-CN" dirty="0"/>
              <a:t>1:N</a:t>
            </a:r>
            <a:r>
              <a:rPr lang="zh-CN" altLang="en-US" dirty="0"/>
              <a:t>联系），查询效率较高</a:t>
            </a:r>
            <a:endParaRPr lang="en-US" altLang="zh-CN" dirty="0"/>
          </a:p>
          <a:p>
            <a:pPr lvl="1"/>
            <a:endParaRPr lang="zh-CN" altLang="en-US" dirty="0"/>
          </a:p>
          <a:p>
            <a:pPr lvl="1"/>
            <a:r>
              <a:rPr lang="zh-CN" altLang="en-US" dirty="0"/>
              <a:t>网状模型的缺点是数据结构和编程都比较复杂</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关系模型</a:t>
            </a:r>
            <a:endParaRPr lang="en-US" altLang="zh-CN" sz="2800" b="1" dirty="0"/>
          </a:p>
          <a:p>
            <a:pPr lvl="1"/>
            <a:r>
              <a:rPr lang="zh-CN" altLang="en-US" sz="2400" dirty="0">
                <a:solidFill>
                  <a:schemeClr val="accent2">
                    <a:lumMod val="75000"/>
                  </a:schemeClr>
                </a:solidFill>
              </a:rPr>
              <a:t>关系模型</a:t>
            </a:r>
            <a:r>
              <a:rPr lang="zh-CN" altLang="en-US" sz="2400" dirty="0"/>
              <a:t>（</a:t>
            </a:r>
            <a:r>
              <a:rPr lang="en-US" altLang="zh-CN" sz="2400" dirty="0"/>
              <a:t>Relational Model</a:t>
            </a:r>
            <a:r>
              <a:rPr lang="zh-CN" altLang="en-US" sz="2400" dirty="0"/>
              <a:t>）的主要特征是数据的逻辑结构是“二维表”</a:t>
            </a:r>
            <a:endParaRPr lang="zh-CN" altLang="en-US" sz="2400" dirty="0"/>
          </a:p>
          <a:p>
            <a:pPr lvl="1"/>
            <a:r>
              <a:rPr lang="zh-CN" altLang="en-US" sz="2400" dirty="0"/>
              <a:t>与前两种模型相比，数据结构简单，容易为初学者理解 </a:t>
            </a:r>
            <a:endParaRPr lang="zh-CN" altLang="en-US" sz="2400" dirty="0"/>
          </a:p>
          <a:p>
            <a:pPr lvl="1"/>
            <a:r>
              <a:rPr lang="zh-CN" altLang="en-US" sz="2400" dirty="0"/>
              <a:t>关系</a:t>
            </a:r>
            <a:r>
              <a:rPr lang="zh-CN" altLang="en-US" sz="2400" dirty="0">
                <a:solidFill>
                  <a:srgbClr val="FF0000"/>
                </a:solidFill>
              </a:rPr>
              <a:t>模式</a:t>
            </a:r>
            <a:r>
              <a:rPr lang="zh-CN" altLang="en-US" sz="2400" dirty="0"/>
              <a:t>相当于前面提到的记录类型，它的实例称为关系，每个关系实际上是一张二维表格</a:t>
            </a:r>
            <a:endParaRPr lang="zh-CN" altLang="en-US" sz="2400"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关系模型的直观表示</a:t>
            </a:r>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aphicFrame>
        <p:nvGraphicFramePr>
          <p:cNvPr id="52" name="Object 3"/>
          <p:cNvGraphicFramePr>
            <a:graphicFrameLocks noChangeAspect="1"/>
          </p:cNvGraphicFramePr>
          <p:nvPr/>
        </p:nvGraphicFramePr>
        <p:xfrm>
          <a:off x="2849055" y="3224212"/>
          <a:ext cx="7526337" cy="3263900"/>
        </p:xfrm>
        <a:graphic>
          <a:graphicData uri="http://schemas.openxmlformats.org/presentationml/2006/ole">
            <mc:AlternateContent xmlns:mc="http://schemas.openxmlformats.org/markup-compatibility/2006">
              <mc:Choice xmlns:v="urn:schemas-microsoft-com:vml" Requires="v">
                <p:oleObj spid="_x0000_s0" name="文档" r:id="rId1" imgW="7897495" imgH="4151630" progId="Word.Document.8">
                  <p:embed/>
                </p:oleObj>
              </mc:Choice>
              <mc:Fallback>
                <p:oleObj name="文档" r:id="rId1" imgW="7897495" imgH="4151630" progId="Word.Document.8">
                  <p:embed/>
                  <p:pic>
                    <p:nvPicPr>
                      <p:cNvPr id="0" name="Object 3"/>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9055" y="3224212"/>
                        <a:ext cx="7526337" cy="3263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3" name="Text Box 4"/>
          <p:cNvSpPr txBox="1">
            <a:spLocks noChangeArrowheads="1"/>
          </p:cNvSpPr>
          <p:nvPr/>
        </p:nvSpPr>
        <p:spPr bwMode="auto">
          <a:xfrm>
            <a:off x="2815717" y="2459037"/>
            <a:ext cx="793750" cy="457200"/>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主键</a:t>
            </a:r>
            <a:endParaRPr kumimoji="1" lang="zh-CN" altLang="en-US" sz="2400">
              <a:latin typeface="Times New Roman" panose="02020603050405020304" pitchFamily="18" charset="0"/>
            </a:endParaRPr>
          </a:p>
        </p:txBody>
      </p:sp>
      <p:sp>
        <p:nvSpPr>
          <p:cNvPr id="54" name="Line 5"/>
          <p:cNvSpPr>
            <a:spLocks noChangeShapeType="1"/>
          </p:cNvSpPr>
          <p:nvPr/>
        </p:nvSpPr>
        <p:spPr bwMode="auto">
          <a:xfrm>
            <a:off x="3282442" y="2940050"/>
            <a:ext cx="82550" cy="271462"/>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Rectangle 6"/>
          <p:cNvSpPr>
            <a:spLocks noChangeArrowheads="1"/>
          </p:cNvSpPr>
          <p:nvPr/>
        </p:nvSpPr>
        <p:spPr bwMode="auto">
          <a:xfrm>
            <a:off x="4965192" y="1687512"/>
            <a:ext cx="766763" cy="3810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整数</a:t>
            </a:r>
            <a:endParaRPr kumimoji="1" lang="zh-CN" altLang="en-US" sz="2400">
              <a:latin typeface="Times New Roman" panose="02020603050405020304" pitchFamily="18" charset="0"/>
            </a:endParaRPr>
          </a:p>
        </p:txBody>
      </p:sp>
      <p:sp>
        <p:nvSpPr>
          <p:cNvPr id="56" name="Rectangle 7"/>
          <p:cNvSpPr>
            <a:spLocks noChangeArrowheads="1"/>
          </p:cNvSpPr>
          <p:nvPr/>
        </p:nvSpPr>
        <p:spPr bwMode="auto">
          <a:xfrm>
            <a:off x="4888992" y="2220912"/>
            <a:ext cx="985838" cy="3810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字符串</a:t>
            </a:r>
            <a:endParaRPr kumimoji="1" lang="zh-CN" altLang="en-US" sz="2400">
              <a:latin typeface="Times New Roman" panose="02020603050405020304" pitchFamily="18" charset="0"/>
            </a:endParaRPr>
          </a:p>
        </p:txBody>
      </p:sp>
      <p:sp>
        <p:nvSpPr>
          <p:cNvPr id="57" name="Rectangle 8"/>
          <p:cNvSpPr>
            <a:spLocks noChangeArrowheads="1"/>
          </p:cNvSpPr>
          <p:nvPr/>
        </p:nvSpPr>
        <p:spPr bwMode="auto">
          <a:xfrm>
            <a:off x="4888992" y="2754312"/>
            <a:ext cx="1447800" cy="304800"/>
          </a:xfrm>
          <a:prstGeom prst="rect">
            <a:avLst/>
          </a:prstGeom>
          <a:solidFill>
            <a:schemeClr val="accent1"/>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a:latin typeface="Times New Roman" panose="02020603050405020304" pitchFamily="18" charset="0"/>
              </a:rPr>
              <a:t>1,2,3,4,5</a:t>
            </a:r>
            <a:endParaRPr kumimoji="1" lang="en-US" altLang="zh-CN" sz="2400">
              <a:latin typeface="Times New Roman" panose="02020603050405020304" pitchFamily="18" charset="0"/>
            </a:endParaRPr>
          </a:p>
        </p:txBody>
      </p:sp>
      <p:sp>
        <p:nvSpPr>
          <p:cNvPr id="58" name="Line 9"/>
          <p:cNvSpPr>
            <a:spLocks noChangeShapeType="1"/>
          </p:cNvSpPr>
          <p:nvPr/>
        </p:nvSpPr>
        <p:spPr bwMode="auto">
          <a:xfrm flipH="1">
            <a:off x="3745992" y="1916112"/>
            <a:ext cx="1219200" cy="14478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10"/>
          <p:cNvSpPr>
            <a:spLocks noChangeShapeType="1"/>
          </p:cNvSpPr>
          <p:nvPr/>
        </p:nvSpPr>
        <p:spPr bwMode="auto">
          <a:xfrm flipH="1">
            <a:off x="4431792" y="2449512"/>
            <a:ext cx="457200" cy="7620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11"/>
          <p:cNvSpPr>
            <a:spLocks noChangeShapeType="1"/>
          </p:cNvSpPr>
          <p:nvPr/>
        </p:nvSpPr>
        <p:spPr bwMode="auto">
          <a:xfrm>
            <a:off x="6336792" y="2906712"/>
            <a:ext cx="2209800" cy="30480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AutoShape 12"/>
          <p:cNvSpPr/>
          <p:nvPr/>
        </p:nvSpPr>
        <p:spPr bwMode="auto">
          <a:xfrm>
            <a:off x="6489192" y="1763712"/>
            <a:ext cx="76200" cy="990600"/>
          </a:xfrm>
          <a:prstGeom prst="rightBrace">
            <a:avLst>
              <a:gd name="adj1" fmla="val 108333"/>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2" name="Text Box 13"/>
          <p:cNvSpPr txBox="1">
            <a:spLocks noChangeArrowheads="1"/>
          </p:cNvSpPr>
          <p:nvPr/>
        </p:nvSpPr>
        <p:spPr bwMode="auto">
          <a:xfrm>
            <a:off x="6473317" y="2068512"/>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域</a:t>
            </a:r>
            <a:endParaRPr kumimoji="1" lang="zh-CN" altLang="en-US" sz="2400">
              <a:latin typeface="Times New Roman" panose="02020603050405020304" pitchFamily="18" charset="0"/>
            </a:endParaRPr>
          </a:p>
        </p:txBody>
      </p:sp>
      <p:sp>
        <p:nvSpPr>
          <p:cNvPr id="63" name="Text Box 14"/>
          <p:cNvSpPr txBox="1">
            <a:spLocks noChangeArrowheads="1"/>
          </p:cNvSpPr>
          <p:nvPr/>
        </p:nvSpPr>
        <p:spPr bwMode="auto">
          <a:xfrm>
            <a:off x="8775192" y="2601912"/>
            <a:ext cx="1098550" cy="457200"/>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属性名</a:t>
            </a:r>
            <a:endParaRPr kumimoji="1" lang="zh-CN" altLang="en-US" sz="2400">
              <a:latin typeface="Times New Roman" panose="02020603050405020304" pitchFamily="18" charset="0"/>
            </a:endParaRPr>
          </a:p>
        </p:txBody>
      </p:sp>
      <p:sp>
        <p:nvSpPr>
          <p:cNvPr id="64" name="Line 15"/>
          <p:cNvSpPr>
            <a:spLocks noChangeShapeType="1"/>
          </p:cNvSpPr>
          <p:nvPr/>
        </p:nvSpPr>
        <p:spPr bwMode="auto">
          <a:xfrm flipH="1">
            <a:off x="9079992" y="2982912"/>
            <a:ext cx="152400" cy="2286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Text Box 16"/>
          <p:cNvSpPr txBox="1">
            <a:spLocks noChangeArrowheads="1"/>
          </p:cNvSpPr>
          <p:nvPr/>
        </p:nvSpPr>
        <p:spPr bwMode="auto">
          <a:xfrm>
            <a:off x="9567355" y="3602037"/>
            <a:ext cx="549275" cy="1209675"/>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元组</a:t>
            </a:r>
            <a:r>
              <a:rPr kumimoji="1" lang="en-US" altLang="zh-CN" sz="2400">
                <a:latin typeface="Times New Roman" panose="02020603050405020304" pitchFamily="18" charset="0"/>
              </a:rPr>
              <a:t>(</a:t>
            </a:r>
            <a:r>
              <a:rPr kumimoji="1" lang="zh-CN" altLang="en-US" sz="2400">
                <a:latin typeface="Times New Roman" panose="02020603050405020304" pitchFamily="18" charset="0"/>
              </a:rPr>
              <a:t>行</a:t>
            </a:r>
            <a:r>
              <a:rPr kumimoji="1" lang="en-US" altLang="zh-CN" sz="2400">
                <a:latin typeface="Times New Roman" panose="02020603050405020304" pitchFamily="18" charset="0"/>
              </a:rPr>
              <a:t>)</a:t>
            </a:r>
            <a:endParaRPr kumimoji="1" lang="en-US" altLang="zh-CN" sz="2400">
              <a:latin typeface="Times New Roman" panose="02020603050405020304" pitchFamily="18" charset="0"/>
            </a:endParaRPr>
          </a:p>
        </p:txBody>
      </p:sp>
      <p:sp>
        <p:nvSpPr>
          <p:cNvPr id="66" name="Line 17"/>
          <p:cNvSpPr>
            <a:spLocks noChangeShapeType="1"/>
          </p:cNvSpPr>
          <p:nvPr/>
        </p:nvSpPr>
        <p:spPr bwMode="auto">
          <a:xfrm flipH="1" flipV="1">
            <a:off x="9156192" y="3821112"/>
            <a:ext cx="533400" cy="76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18"/>
          <p:cNvSpPr>
            <a:spLocks noChangeShapeType="1"/>
          </p:cNvSpPr>
          <p:nvPr/>
        </p:nvSpPr>
        <p:spPr bwMode="auto">
          <a:xfrm flipH="1">
            <a:off x="9156192" y="4125912"/>
            <a:ext cx="533400" cy="76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19"/>
          <p:cNvSpPr>
            <a:spLocks noChangeShapeType="1"/>
          </p:cNvSpPr>
          <p:nvPr/>
        </p:nvSpPr>
        <p:spPr bwMode="auto">
          <a:xfrm flipH="1">
            <a:off x="9156192" y="4354512"/>
            <a:ext cx="533400" cy="8382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Text Box 20"/>
          <p:cNvSpPr txBox="1">
            <a:spLocks noChangeArrowheads="1"/>
          </p:cNvSpPr>
          <p:nvPr/>
        </p:nvSpPr>
        <p:spPr bwMode="auto">
          <a:xfrm>
            <a:off x="2099755" y="3973512"/>
            <a:ext cx="5492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关系</a:t>
            </a:r>
            <a:endParaRPr kumimoji="1" lang="zh-CN" altLang="en-US" sz="2400">
              <a:latin typeface="Times New Roman" panose="02020603050405020304" pitchFamily="18" charset="0"/>
            </a:endParaRPr>
          </a:p>
        </p:txBody>
      </p:sp>
      <p:sp>
        <p:nvSpPr>
          <p:cNvPr id="70" name="AutoShape 21"/>
          <p:cNvSpPr/>
          <p:nvPr/>
        </p:nvSpPr>
        <p:spPr bwMode="auto">
          <a:xfrm>
            <a:off x="2526792" y="3516312"/>
            <a:ext cx="228600" cy="1676400"/>
          </a:xfrm>
          <a:prstGeom prst="leftBrace">
            <a:avLst>
              <a:gd name="adj1" fmla="val 61111"/>
              <a:gd name="adj2" fmla="val 50000"/>
            </a:avLst>
          </a:prstGeom>
          <a:noFill/>
          <a:ln w="127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 name="Text Box 22"/>
          <p:cNvSpPr txBox="1">
            <a:spLocks noChangeArrowheads="1"/>
          </p:cNvSpPr>
          <p:nvPr/>
        </p:nvSpPr>
        <p:spPr bwMode="auto">
          <a:xfrm>
            <a:off x="5939917" y="5649912"/>
            <a:ext cx="1098550" cy="457200"/>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400">
                <a:latin typeface="Times New Roman" panose="02020603050405020304" pitchFamily="18" charset="0"/>
              </a:rPr>
              <a:t>属性列</a:t>
            </a:r>
            <a:endParaRPr kumimoji="1" lang="zh-CN" altLang="en-US" sz="2400">
              <a:latin typeface="Times New Roman" panose="02020603050405020304" pitchFamily="18" charset="0"/>
            </a:endParaRPr>
          </a:p>
        </p:txBody>
      </p:sp>
      <p:sp>
        <p:nvSpPr>
          <p:cNvPr id="72" name="Line 23"/>
          <p:cNvSpPr>
            <a:spLocks noChangeShapeType="1"/>
          </p:cNvSpPr>
          <p:nvPr/>
        </p:nvSpPr>
        <p:spPr bwMode="auto">
          <a:xfrm flipH="1" flipV="1">
            <a:off x="5803392" y="5421312"/>
            <a:ext cx="457200" cy="3810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24"/>
          <p:cNvSpPr>
            <a:spLocks noChangeShapeType="1"/>
          </p:cNvSpPr>
          <p:nvPr/>
        </p:nvSpPr>
        <p:spPr bwMode="auto">
          <a:xfrm flipV="1">
            <a:off x="6489192" y="5421312"/>
            <a:ext cx="76200" cy="3048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25"/>
          <p:cNvSpPr>
            <a:spLocks noChangeShapeType="1"/>
          </p:cNvSpPr>
          <p:nvPr/>
        </p:nvSpPr>
        <p:spPr bwMode="auto">
          <a:xfrm flipV="1">
            <a:off x="6793992" y="5421312"/>
            <a:ext cx="762000" cy="3048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Text Box 26"/>
          <p:cNvSpPr txBox="1">
            <a:spLocks noChangeArrowheads="1"/>
          </p:cNvSpPr>
          <p:nvPr/>
        </p:nvSpPr>
        <p:spPr bwMode="auto">
          <a:xfrm>
            <a:off x="2279142" y="6026150"/>
            <a:ext cx="5648325" cy="831850"/>
          </a:xfrm>
          <a:prstGeom prst="rect">
            <a:avLst/>
          </a:prstGeom>
          <a:noFill/>
          <a:ln>
            <a:noFill/>
          </a:ln>
          <a:effec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kumimoji="1" lang="zh-CN" altLang="en-US" sz="2400" dirty="0">
                <a:solidFill>
                  <a:schemeClr val="bg1">
                    <a:lumMod val="75000"/>
                  </a:schemeClr>
                </a:solidFill>
                <a:latin typeface="Times New Roman" panose="02020603050405020304" pitchFamily="18" charset="0"/>
              </a:rPr>
              <a:t>关系名：学生登记表</a:t>
            </a:r>
            <a:endParaRPr kumimoji="1" lang="zh-CN" altLang="en-US" sz="2400" dirty="0">
              <a:solidFill>
                <a:schemeClr val="bg1">
                  <a:lumMod val="75000"/>
                </a:schemeClr>
              </a:solidFill>
              <a:latin typeface="Times New Roman" panose="02020603050405020304" pitchFamily="18" charset="0"/>
            </a:endParaRPr>
          </a:p>
          <a:p>
            <a:pPr eaLnBrk="1" hangingPunct="1">
              <a:defRPr/>
            </a:pPr>
            <a:r>
              <a:rPr kumimoji="1" lang="zh-CN" altLang="en-US" sz="2400" dirty="0">
                <a:latin typeface="Times New Roman" panose="02020603050405020304" pitchFamily="18" charset="0"/>
              </a:rPr>
              <a:t>关系模式：学生（学号，姓名，年龄</a:t>
            </a:r>
            <a:r>
              <a:rPr kumimoji="1" lang="en-US" altLang="zh-CN" sz="2400" dirty="0">
                <a:latin typeface="Times New Roman" panose="02020603050405020304" pitchFamily="18" charset="0"/>
              </a:rPr>
              <a:t>...</a:t>
            </a:r>
            <a:r>
              <a:rPr kumimoji="1" lang="zh-CN" altLang="en-US" sz="2400" dirty="0">
                <a:latin typeface="Times New Roman" panose="02020603050405020304" pitchFamily="18" charset="0"/>
              </a:rPr>
              <a:t>）</a:t>
            </a:r>
            <a:endParaRPr kumimoji="1" lang="zh-CN" altLang="zh-CN" sz="2400" dirty="0">
              <a:latin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b="1" dirty="0"/>
              <a:t>关系模型举例</a:t>
            </a:r>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pSp>
        <p:nvGrpSpPr>
          <p:cNvPr id="6" name="Group 170"/>
          <p:cNvGrpSpPr/>
          <p:nvPr/>
        </p:nvGrpSpPr>
        <p:grpSpPr bwMode="auto">
          <a:xfrm>
            <a:off x="2281365" y="1912903"/>
            <a:ext cx="3671887" cy="4148138"/>
            <a:chOff x="431" y="1152"/>
            <a:chExt cx="2313" cy="2613"/>
          </a:xfrm>
        </p:grpSpPr>
        <p:sp>
          <p:nvSpPr>
            <p:cNvPr id="7" name="Rectangle 5"/>
            <p:cNvSpPr>
              <a:spLocks noChangeArrowheads="1"/>
            </p:cNvSpPr>
            <p:nvPr/>
          </p:nvSpPr>
          <p:spPr bwMode="auto">
            <a:xfrm>
              <a:off x="1192" y="2031"/>
              <a:ext cx="139"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lang="en-US" altLang="zh-CN" sz="1600" b="1">
                  <a:latin typeface="Times New Roman" panose="02020603050405020304" pitchFamily="18" charset="0"/>
                </a:rPr>
                <a:t>n</a:t>
              </a:r>
              <a:endParaRPr lang="en-US" altLang="zh-CN" sz="1600" b="1"/>
            </a:p>
          </p:txBody>
        </p:sp>
        <p:sp>
          <p:nvSpPr>
            <p:cNvPr id="8" name="Oval 6"/>
            <p:cNvSpPr>
              <a:spLocks noChangeArrowheads="1"/>
            </p:cNvSpPr>
            <p:nvPr/>
          </p:nvSpPr>
          <p:spPr bwMode="auto">
            <a:xfrm>
              <a:off x="431" y="1152"/>
              <a:ext cx="617" cy="354"/>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u="sng">
                  <a:latin typeface="Times New Roman" panose="02020603050405020304" pitchFamily="18" charset="0"/>
                </a:rPr>
                <a:t>学 号</a:t>
              </a:r>
              <a:endParaRPr lang="zh-CN" altLang="en-US" sz="1600" b="1"/>
            </a:p>
          </p:txBody>
        </p:sp>
        <p:sp>
          <p:nvSpPr>
            <p:cNvPr id="9" name="Oval 7"/>
            <p:cNvSpPr>
              <a:spLocks noChangeArrowheads="1"/>
            </p:cNvSpPr>
            <p:nvPr/>
          </p:nvSpPr>
          <p:spPr bwMode="auto">
            <a:xfrm>
              <a:off x="1125" y="1152"/>
              <a:ext cx="616" cy="357"/>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姓 名</a:t>
              </a:r>
              <a:endParaRPr lang="zh-CN" altLang="en-US" sz="1600" b="1"/>
            </a:p>
          </p:txBody>
        </p:sp>
        <p:sp>
          <p:nvSpPr>
            <p:cNvPr id="10" name="Oval 8"/>
            <p:cNvSpPr>
              <a:spLocks noChangeArrowheads="1"/>
            </p:cNvSpPr>
            <p:nvPr/>
          </p:nvSpPr>
          <p:spPr bwMode="auto">
            <a:xfrm>
              <a:off x="1818" y="1152"/>
              <a:ext cx="541" cy="357"/>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籍贯</a:t>
              </a:r>
              <a:endParaRPr lang="zh-CN" altLang="en-US" sz="1600" b="1"/>
            </a:p>
          </p:txBody>
        </p:sp>
        <p:sp>
          <p:nvSpPr>
            <p:cNvPr id="11" name="Line 9"/>
            <p:cNvSpPr>
              <a:spLocks noChangeShapeType="1"/>
            </p:cNvSpPr>
            <p:nvPr/>
          </p:nvSpPr>
          <p:spPr bwMode="auto">
            <a:xfrm>
              <a:off x="739" y="1509"/>
              <a:ext cx="309" cy="2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2" name="Line 10"/>
            <p:cNvSpPr>
              <a:spLocks noChangeShapeType="1"/>
            </p:cNvSpPr>
            <p:nvPr/>
          </p:nvSpPr>
          <p:spPr bwMode="auto">
            <a:xfrm flipH="1">
              <a:off x="1356" y="1509"/>
              <a:ext cx="77" cy="2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3" name="Line 11"/>
            <p:cNvSpPr>
              <a:spLocks noChangeShapeType="1"/>
            </p:cNvSpPr>
            <p:nvPr/>
          </p:nvSpPr>
          <p:spPr bwMode="auto">
            <a:xfrm flipH="1">
              <a:off x="1587" y="1509"/>
              <a:ext cx="463" cy="2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4" name="Oval 12"/>
            <p:cNvSpPr>
              <a:spLocks noChangeArrowheads="1"/>
            </p:cNvSpPr>
            <p:nvPr/>
          </p:nvSpPr>
          <p:spPr bwMode="auto">
            <a:xfrm>
              <a:off x="2204" y="1627"/>
              <a:ext cx="540" cy="356"/>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性别</a:t>
              </a:r>
              <a:endParaRPr lang="zh-CN" altLang="en-US" sz="1600" b="1"/>
            </a:p>
          </p:txBody>
        </p:sp>
        <p:sp>
          <p:nvSpPr>
            <p:cNvPr id="15" name="Line 13"/>
            <p:cNvSpPr>
              <a:spLocks noChangeShapeType="1"/>
            </p:cNvSpPr>
            <p:nvPr/>
          </p:nvSpPr>
          <p:spPr bwMode="auto">
            <a:xfrm>
              <a:off x="1587" y="1864"/>
              <a:ext cx="61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16" name="Rectangle 14"/>
            <p:cNvSpPr>
              <a:spLocks noChangeArrowheads="1"/>
            </p:cNvSpPr>
            <p:nvPr/>
          </p:nvSpPr>
          <p:spPr bwMode="auto">
            <a:xfrm>
              <a:off x="1082" y="2815"/>
              <a:ext cx="539" cy="237"/>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课 程</a:t>
              </a:r>
              <a:endParaRPr lang="zh-CN" altLang="en-US" sz="1600" b="1"/>
            </a:p>
          </p:txBody>
        </p:sp>
        <p:sp>
          <p:nvSpPr>
            <p:cNvPr id="17" name="Oval 15"/>
            <p:cNvSpPr>
              <a:spLocks noChangeArrowheads="1"/>
            </p:cNvSpPr>
            <p:nvPr/>
          </p:nvSpPr>
          <p:spPr bwMode="auto">
            <a:xfrm>
              <a:off x="431" y="3409"/>
              <a:ext cx="694" cy="356"/>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lang="zh-CN" altLang="en-US" sz="1600" b="1" u="sng">
                  <a:latin typeface="Times New Roman" panose="02020603050405020304" pitchFamily="18" charset="0"/>
                </a:rPr>
                <a:t>课程号</a:t>
              </a:r>
              <a:endParaRPr lang="zh-CN" altLang="en-US" sz="1600" b="1"/>
            </a:p>
          </p:txBody>
        </p:sp>
        <p:sp>
          <p:nvSpPr>
            <p:cNvPr id="18" name="Oval 16"/>
            <p:cNvSpPr>
              <a:spLocks noChangeArrowheads="1"/>
            </p:cNvSpPr>
            <p:nvPr/>
          </p:nvSpPr>
          <p:spPr bwMode="auto">
            <a:xfrm>
              <a:off x="1202" y="3409"/>
              <a:ext cx="693" cy="356"/>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课程名</a:t>
              </a:r>
              <a:endParaRPr lang="zh-CN" altLang="en-US" sz="1600" b="1"/>
            </a:p>
          </p:txBody>
        </p:sp>
        <p:sp>
          <p:nvSpPr>
            <p:cNvPr id="19" name="Oval 17"/>
            <p:cNvSpPr>
              <a:spLocks noChangeArrowheads="1"/>
            </p:cNvSpPr>
            <p:nvPr/>
          </p:nvSpPr>
          <p:spPr bwMode="auto">
            <a:xfrm>
              <a:off x="1973" y="3409"/>
              <a:ext cx="617" cy="356"/>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学 分</a:t>
              </a:r>
              <a:endParaRPr lang="zh-CN" altLang="en-US" sz="1600" b="1"/>
            </a:p>
          </p:txBody>
        </p:sp>
        <p:sp>
          <p:nvSpPr>
            <p:cNvPr id="20" name="Line 18"/>
            <p:cNvSpPr>
              <a:spLocks noChangeShapeType="1"/>
            </p:cNvSpPr>
            <p:nvPr/>
          </p:nvSpPr>
          <p:spPr bwMode="auto">
            <a:xfrm>
              <a:off x="1369" y="3046"/>
              <a:ext cx="134" cy="37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1" name="Line 19"/>
            <p:cNvSpPr>
              <a:spLocks noChangeShapeType="1"/>
            </p:cNvSpPr>
            <p:nvPr/>
          </p:nvSpPr>
          <p:spPr bwMode="auto">
            <a:xfrm>
              <a:off x="1492" y="3049"/>
              <a:ext cx="703" cy="36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2" name="AutoShape 20"/>
            <p:cNvSpPr>
              <a:spLocks noChangeArrowheads="1"/>
            </p:cNvSpPr>
            <p:nvPr/>
          </p:nvSpPr>
          <p:spPr bwMode="auto">
            <a:xfrm>
              <a:off x="999" y="2207"/>
              <a:ext cx="694" cy="357"/>
            </a:xfrm>
            <a:prstGeom prst="diamond">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zh-CN" sz="1600" b="1"/>
            </a:p>
          </p:txBody>
        </p:sp>
        <p:sp>
          <p:nvSpPr>
            <p:cNvPr id="23" name="Line 21"/>
            <p:cNvSpPr>
              <a:spLocks noChangeShapeType="1"/>
            </p:cNvSpPr>
            <p:nvPr/>
          </p:nvSpPr>
          <p:spPr bwMode="auto">
            <a:xfrm>
              <a:off x="1356" y="1983"/>
              <a:ext cx="0" cy="238"/>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4" name="Line 22"/>
            <p:cNvSpPr>
              <a:spLocks noChangeShapeType="1"/>
            </p:cNvSpPr>
            <p:nvPr/>
          </p:nvSpPr>
          <p:spPr bwMode="auto">
            <a:xfrm>
              <a:off x="1356" y="2578"/>
              <a:ext cx="0" cy="23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5" name="Oval 23"/>
            <p:cNvSpPr>
              <a:spLocks noChangeArrowheads="1"/>
            </p:cNvSpPr>
            <p:nvPr/>
          </p:nvSpPr>
          <p:spPr bwMode="auto">
            <a:xfrm>
              <a:off x="2169" y="2312"/>
              <a:ext cx="540" cy="356"/>
            </a:xfrm>
            <a:prstGeom prst="ellipse">
              <a:avLst/>
            </a:prstGeom>
            <a:solidFill>
              <a:srgbClr val="FFFFFF"/>
            </a:solidFill>
            <a:ln w="9525">
              <a:solidFill>
                <a:srgbClr val="000000"/>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成绩</a:t>
              </a:r>
              <a:endParaRPr lang="zh-CN" altLang="en-US" sz="1600" b="1"/>
            </a:p>
          </p:txBody>
        </p:sp>
        <p:sp>
          <p:nvSpPr>
            <p:cNvPr id="26" name="Line 24"/>
            <p:cNvSpPr>
              <a:spLocks noChangeShapeType="1"/>
            </p:cNvSpPr>
            <p:nvPr/>
          </p:nvSpPr>
          <p:spPr bwMode="auto">
            <a:xfrm>
              <a:off x="1664" y="2379"/>
              <a:ext cx="519" cy="104"/>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7" name="Line 25"/>
            <p:cNvSpPr>
              <a:spLocks noChangeShapeType="1"/>
            </p:cNvSpPr>
            <p:nvPr/>
          </p:nvSpPr>
          <p:spPr bwMode="auto">
            <a:xfrm flipV="1">
              <a:off x="893" y="3052"/>
              <a:ext cx="386" cy="357"/>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lstStyle/>
            <a:p>
              <a:endParaRPr lang="zh-CN" altLang="en-US"/>
            </a:p>
          </p:txBody>
        </p:sp>
        <p:sp>
          <p:nvSpPr>
            <p:cNvPr id="28" name="Rectangle 26"/>
            <p:cNvSpPr>
              <a:spLocks noChangeArrowheads="1"/>
            </p:cNvSpPr>
            <p:nvPr/>
          </p:nvSpPr>
          <p:spPr bwMode="auto">
            <a:xfrm>
              <a:off x="1048" y="1746"/>
              <a:ext cx="539" cy="237"/>
            </a:xfrm>
            <a:prstGeom prst="rect">
              <a:avLst/>
            </a:prstGeom>
            <a:solidFill>
              <a:srgbClr val="FFFF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36000" tIns="0" rIns="3600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学生</a:t>
              </a:r>
              <a:endParaRPr lang="zh-CN" altLang="en-US" sz="1600" b="1"/>
            </a:p>
          </p:txBody>
        </p:sp>
        <p:sp>
          <p:nvSpPr>
            <p:cNvPr id="29" name="Text Box 27"/>
            <p:cNvSpPr txBox="1">
              <a:spLocks noChangeArrowheads="1"/>
            </p:cNvSpPr>
            <p:nvPr/>
          </p:nvSpPr>
          <p:spPr bwMode="auto">
            <a:xfrm>
              <a:off x="1062" y="2239"/>
              <a:ext cx="561"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80000" rIns="0" bIns="0"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zh-CN" altLang="en-US" sz="1600" b="1">
                  <a:latin typeface="Times New Roman" panose="02020603050405020304" pitchFamily="18" charset="0"/>
                </a:rPr>
                <a:t>选修</a:t>
              </a:r>
              <a:endParaRPr lang="zh-CN" altLang="en-US" sz="1600" b="1">
                <a:latin typeface="Times New Roman" panose="02020603050405020304" pitchFamily="18" charset="0"/>
              </a:endParaRPr>
            </a:p>
            <a:p>
              <a:pPr eaLnBrk="1" hangingPunct="1">
                <a:spcBef>
                  <a:spcPct val="0"/>
                </a:spcBef>
                <a:buClrTx/>
                <a:buFontTx/>
                <a:buNone/>
              </a:pPr>
              <a:endParaRPr lang="en-US" altLang="zh-CN" sz="1600" b="1"/>
            </a:p>
          </p:txBody>
        </p:sp>
        <p:sp>
          <p:nvSpPr>
            <p:cNvPr id="30" name="Text Box 28"/>
            <p:cNvSpPr txBox="1">
              <a:spLocks noChangeArrowheads="1"/>
            </p:cNvSpPr>
            <p:nvPr/>
          </p:nvSpPr>
          <p:spPr bwMode="auto">
            <a:xfrm>
              <a:off x="1125" y="2581"/>
              <a:ext cx="24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lang="en-US" altLang="zh-CN" sz="1600" b="1">
                  <a:latin typeface="Times New Roman" panose="02020603050405020304" pitchFamily="18" charset="0"/>
                </a:rPr>
                <a:t>m</a:t>
              </a:r>
              <a:endParaRPr lang="en-US" altLang="zh-CN" sz="1600" b="1"/>
            </a:p>
          </p:txBody>
        </p:sp>
      </p:grpSp>
      <p:graphicFrame>
        <p:nvGraphicFramePr>
          <p:cNvPr id="31" name="Group 108"/>
          <p:cNvGraphicFramePr>
            <a:graphicFrameLocks noGrp="1"/>
          </p:cNvGraphicFramePr>
          <p:nvPr/>
        </p:nvGraphicFramePr>
        <p:xfrm>
          <a:off x="6319965" y="1760503"/>
          <a:ext cx="3810000" cy="1189038"/>
        </p:xfrm>
        <a:graphic>
          <a:graphicData uri="http://schemas.openxmlformats.org/drawingml/2006/table">
            <a:tbl>
              <a:tblPr/>
              <a:tblGrid>
                <a:gridCol w="952500"/>
                <a:gridCol w="952500"/>
                <a:gridCol w="952500"/>
                <a:gridCol w="952500"/>
              </a:tblGrid>
              <a:tr h="39634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学号</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姓名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籍贯</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性别</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张强</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陕西</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男</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4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李丽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河南</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女</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2" name="Group 130"/>
          <p:cNvGraphicFramePr>
            <a:graphicFrameLocks noGrp="1"/>
          </p:cNvGraphicFramePr>
          <p:nvPr/>
        </p:nvGraphicFramePr>
        <p:xfrm>
          <a:off x="6313615" y="3132103"/>
          <a:ext cx="3810000" cy="1317626"/>
        </p:xfrm>
        <a:graphic>
          <a:graphicData uri="http://schemas.openxmlformats.org/drawingml/2006/table">
            <a:tbl>
              <a:tblPr/>
              <a:tblGrid>
                <a:gridCol w="1270000"/>
                <a:gridCol w="1270000"/>
                <a:gridCol w="1270000"/>
              </a:tblGrid>
              <a:tr h="4397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课程号</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课程名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学分</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8150">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英语</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738">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C</a:t>
                      </a: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语言</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3</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3" name="Group 148"/>
          <p:cNvGraphicFramePr>
            <a:graphicFrameLocks noGrp="1"/>
          </p:cNvGraphicFramePr>
          <p:nvPr/>
        </p:nvGraphicFramePr>
        <p:xfrm>
          <a:off x="6319965" y="4592603"/>
          <a:ext cx="3810000" cy="1584360"/>
        </p:xfrm>
        <a:graphic>
          <a:graphicData uri="http://schemas.openxmlformats.org/drawingml/2006/table">
            <a:tbl>
              <a:tblPr/>
              <a:tblGrid>
                <a:gridCol w="1270000"/>
                <a:gridCol w="1270000"/>
                <a:gridCol w="1270000"/>
              </a:tblGrid>
              <a:tr h="39608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学号</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课程号</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成绩</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86</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001</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rPr>
                        <a:t>75</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081">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002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5">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pPr>
                      <a:r>
                        <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82</a:t>
                      </a:r>
                      <a:endParaRPr kumimoji="0" lang="en-US" altLang="zh-CN"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T="45645" marB="4564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up)">
                                      <p:cBhvr>
                                        <p:cTn id="7" dur="500"/>
                                        <p:tgtEl>
                                          <p:spTgt spid="33"/>
                                        </p:tgtEl>
                                      </p:cBhvr>
                                    </p:animEffect>
                                  </p:childTnLst>
                                </p:cTn>
                              </p:par>
                              <p:par>
                                <p:cTn id="8" presetID="22" presetClass="entr" presetSubtype="1"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up)">
                                      <p:cBhvr>
                                        <p:cTn id="10" dur="500"/>
                                        <p:tgtEl>
                                          <p:spTgt spid="32"/>
                                        </p:tgtEl>
                                      </p:cBhvr>
                                    </p:animEffect>
                                  </p:childTnLst>
                                </p:cTn>
                              </p:par>
                              <p:par>
                                <p:cTn id="11" presetID="22" presetClass="entr" presetSubtype="1"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wipe(up)">
                                      <p:cBhvr>
                                        <p:cTn id="1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面向对象模型</a:t>
            </a:r>
            <a:endParaRPr lang="en-US" altLang="zh-CN" dirty="0"/>
          </a:p>
          <a:p>
            <a:pPr lvl="1"/>
            <a:r>
              <a:rPr lang="zh-CN" altLang="en-US" dirty="0"/>
              <a:t>面向对象数据模型的基本元素是对象</a:t>
            </a:r>
            <a:r>
              <a:rPr lang="en-US" altLang="zh-CN" dirty="0"/>
              <a:t>(Object)</a:t>
            </a:r>
            <a:r>
              <a:rPr lang="zh-CN" altLang="en-US" dirty="0"/>
              <a:t>，主要概念是对象类</a:t>
            </a:r>
            <a:r>
              <a:rPr lang="en-US" altLang="zh-CN" dirty="0"/>
              <a:t>(Class) </a:t>
            </a:r>
            <a:endParaRPr lang="en-US" altLang="zh-CN" dirty="0"/>
          </a:p>
          <a:p>
            <a:pPr lvl="1"/>
            <a:r>
              <a:rPr lang="zh-CN" altLang="en-US" dirty="0"/>
              <a:t>对象类由一组变量和一组程序代码组成，变量和程序代码分别定义对象类的特征</a:t>
            </a:r>
            <a:r>
              <a:rPr lang="en-US" altLang="zh-CN" dirty="0"/>
              <a:t>(</a:t>
            </a:r>
            <a:r>
              <a:rPr lang="zh-CN" altLang="en-US" dirty="0"/>
              <a:t>数据</a:t>
            </a:r>
            <a:r>
              <a:rPr lang="en-US" altLang="zh-CN" dirty="0"/>
              <a:t>)</a:t>
            </a:r>
            <a:r>
              <a:rPr lang="zh-CN" altLang="en-US" dirty="0"/>
              <a:t>和操作</a:t>
            </a:r>
            <a:r>
              <a:rPr lang="en-US" altLang="zh-CN" dirty="0"/>
              <a:t>(</a:t>
            </a:r>
            <a:r>
              <a:rPr lang="zh-CN" altLang="en-US" dirty="0"/>
              <a:t>方法</a:t>
            </a:r>
            <a:r>
              <a:rPr lang="en-US" altLang="zh-CN" dirty="0"/>
              <a:t>)</a:t>
            </a:r>
            <a:endParaRPr lang="en-US" altLang="zh-CN" dirty="0"/>
          </a:p>
          <a:p>
            <a:pPr lvl="1"/>
            <a:r>
              <a:rPr lang="zh-CN" altLang="en-US" dirty="0"/>
              <a:t>当一个对象类的所有变量都赋予确定的值后，就得到该对象类的一个对象实例</a:t>
            </a:r>
            <a:r>
              <a:rPr lang="en-US" altLang="zh-CN" dirty="0"/>
              <a:t>(Instance)</a:t>
            </a:r>
            <a:endParaRPr lang="en-US" altLang="zh-CN" dirty="0"/>
          </a:p>
          <a:p>
            <a:pPr lvl="1"/>
            <a:r>
              <a:rPr lang="zh-CN" altLang="en-US" dirty="0"/>
              <a:t>允许一个对象的变量是另一个对象形成嵌套结构，并且不限制对象的嵌套层次</a:t>
            </a:r>
            <a:endParaRPr lang="zh-CN" altLang="en-US" dirty="0"/>
          </a:p>
          <a:p>
            <a:pPr lvl="1"/>
            <a:endParaRPr lang="zh-CN" altLang="en-US" dirty="0"/>
          </a:p>
        </p:txBody>
      </p:sp>
      <p:sp>
        <p:nvSpPr>
          <p:cNvPr id="5" name="标题 4"/>
          <p:cNvSpPr>
            <a:spLocks noGrp="1"/>
          </p:cNvSpPr>
          <p:nvPr>
            <p:ph type="title"/>
          </p:nvPr>
        </p:nvSpPr>
        <p:spPr>
          <a:xfrm>
            <a:off x="367147" y="169816"/>
            <a:ext cx="10697497" cy="590931"/>
          </a:xfrm>
        </p:spPr>
        <p:txBody>
          <a:bodyPr/>
          <a:lstStyle/>
          <a:p>
            <a:r>
              <a:rPr lang="en-US" altLang="zh-CN" dirty="0"/>
              <a:t>1.4 </a:t>
            </a:r>
            <a:r>
              <a:rPr lang="zh-CN" altLang="en-US" dirty="0"/>
              <a:t>数据模型与数据库模式</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四种逻辑数据模型的比较</a:t>
            </a:r>
            <a:endParaRPr lang="zh-CN" altLang="en-US" dirty="0"/>
          </a:p>
        </p:txBody>
      </p:sp>
      <p:sp>
        <p:nvSpPr>
          <p:cNvPr id="5" name="标题 4"/>
          <p:cNvSpPr>
            <a:spLocks noGrp="1"/>
          </p:cNvSpPr>
          <p:nvPr>
            <p:ph type="title"/>
          </p:nvPr>
        </p:nvSpPr>
        <p:spPr>
          <a:xfrm>
            <a:off x="367147" y="169816"/>
            <a:ext cx="10697497" cy="590931"/>
          </a:xfrm>
        </p:spPr>
        <p:txBody>
          <a:bodyPr/>
          <a:lstStyle/>
          <a:p>
            <a:r>
              <a:rPr lang="en-US" altLang="zh-CN" dirty="0"/>
              <a:t>1.4 </a:t>
            </a:r>
            <a:r>
              <a:rPr lang="zh-CN" altLang="en-US" dirty="0"/>
              <a:t>数据模型与数据库模式</a:t>
            </a:r>
            <a:endParaRPr lang="zh-CN" altLang="en-US" dirty="0"/>
          </a:p>
        </p:txBody>
      </p:sp>
      <p:graphicFrame>
        <p:nvGraphicFramePr>
          <p:cNvPr id="6" name="Group 59"/>
          <p:cNvGraphicFramePr/>
          <p:nvPr/>
        </p:nvGraphicFramePr>
        <p:xfrm>
          <a:off x="1426464" y="2020887"/>
          <a:ext cx="9400032" cy="4156076"/>
        </p:xfrm>
        <a:graphic>
          <a:graphicData uri="http://schemas.openxmlformats.org/drawingml/2006/table">
            <a:tbl>
              <a:tblPr/>
              <a:tblGrid>
                <a:gridCol w="1349492"/>
                <a:gridCol w="1835022"/>
                <a:gridCol w="2384817"/>
                <a:gridCol w="2209882"/>
                <a:gridCol w="1620819"/>
              </a:tblGrid>
              <a:tr h="45720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600" b="0" i="0" u="none" strike="noStrike" cap="none" normalizeH="0" baseline="0" dirty="0">
                        <a:ln>
                          <a:noFill/>
                        </a:ln>
                        <a:solidFill>
                          <a:srgbClr val="080808"/>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层次模型</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网状模型</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关系模型</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rPr>
                        <a:t>面向对象模型</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96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创始</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1968</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IBM</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公司的</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IMS</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系统</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1969</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CODASYL</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的</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DBTG</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报告</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(71</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年通过</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1970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F.Codd</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提出关系模型</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世纪</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年代</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096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数据结构</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复杂</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（树结构）</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复杂</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（有向图结构）</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简单</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（二维表）</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复杂</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（嵌套递归）</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5720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数据联系</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通过指针</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通过指针</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通过表间的公共属性</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通过对象标识</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63538">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查询语言</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过程性语言</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过程性语言</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非过程性语言</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面向对象语言</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286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典型产品</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IMS</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IDS/Ⅱ</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IMAGE/3000</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IDMS</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TOTAL</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Oracle</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DB2</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SQL Server</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Sybase</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Informix</a:t>
                      </a:r>
                      <a:endPar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ONTOS  DB</a:t>
                      </a:r>
                      <a:endPar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4607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盛行期</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世纪</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年代</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70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年代至</a:t>
                      </a: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年代中期</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80</a:t>
                      </a:r>
                      <a:r>
                        <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年代至现在</a:t>
                      </a:r>
                      <a:endParaRPr kumimoji="0" lang="zh-CN" altLang="en-US" sz="16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90</a:t>
                      </a:r>
                      <a:r>
                        <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年代至现在</a:t>
                      </a:r>
                      <a:endParaRPr kumimoji="0" lang="zh-CN" altLang="en-US" sz="16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7163" y="1219203"/>
            <a:ext cx="11453091" cy="4957760"/>
          </a:xfrm>
        </p:spPr>
        <p:txBody>
          <a:bodyPr/>
          <a:lstStyle/>
          <a:p>
            <a:r>
              <a:rPr lang="zh-CN" altLang="en-US" dirty="0"/>
              <a:t>数据库模式和实例</a:t>
            </a:r>
            <a:endParaRPr lang="en-US" altLang="zh-CN" dirty="0"/>
          </a:p>
          <a:p>
            <a:pPr lvl="1"/>
            <a:r>
              <a:rPr lang="zh-CN" altLang="en-US" dirty="0"/>
              <a:t>模式</a:t>
            </a:r>
            <a:r>
              <a:rPr lang="en-US" altLang="zh-CN" dirty="0"/>
              <a:t>(Schema)</a:t>
            </a:r>
            <a:r>
              <a:rPr lang="zh-CN" altLang="en-US" dirty="0"/>
              <a:t>是数据库中全体数据的逻辑结构和特征的描述，它仅仅涉及类型的描述，不涉及具体的值</a:t>
            </a:r>
            <a:endParaRPr lang="zh-CN" altLang="en-US" dirty="0"/>
          </a:p>
          <a:p>
            <a:pPr lvl="1"/>
            <a:r>
              <a:rPr lang="zh-CN" altLang="en-US" dirty="0"/>
              <a:t>模式的一个具体值称为模式的一个实例</a:t>
            </a:r>
            <a:r>
              <a:rPr lang="en-US" altLang="zh-CN" dirty="0"/>
              <a:t>(Instance)</a:t>
            </a:r>
            <a:endParaRPr lang="en-US" altLang="zh-CN" dirty="0"/>
          </a:p>
          <a:p>
            <a:pPr lvl="1"/>
            <a:endParaRPr lang="zh-CN" altLang="en-US" dirty="0"/>
          </a:p>
        </p:txBody>
      </p:sp>
      <p:sp>
        <p:nvSpPr>
          <p:cNvPr id="5" name="标题 4"/>
          <p:cNvSpPr>
            <a:spLocks noGrp="1"/>
          </p:cNvSpPr>
          <p:nvPr>
            <p:ph type="title"/>
          </p:nvPr>
        </p:nvSpPr>
        <p:spPr>
          <a:xfrm>
            <a:off x="367147" y="169816"/>
            <a:ext cx="10697497" cy="590931"/>
          </a:xfrm>
        </p:spPr>
        <p:txBody>
          <a:bodyPr/>
          <a:lstStyle/>
          <a:p>
            <a:r>
              <a:rPr lang="en-US" altLang="zh-CN" dirty="0"/>
              <a:t>1.4 </a:t>
            </a:r>
            <a:r>
              <a:rPr lang="zh-CN" altLang="en-US" dirty="0"/>
              <a:t>数据模型与数据库模式</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模式和实例举例</a:t>
            </a:r>
            <a:endParaRPr lang="zh-CN" altLang="en-US"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p:txBody>
          <a:bodyPr/>
          <a:lstStyle/>
          <a:p>
            <a:r>
              <a:rPr kumimoji="1" lang="en-US" altLang="zh-CN"/>
              <a:t>1.4 </a:t>
            </a:r>
            <a:r>
              <a:rPr kumimoji="1" lang="zh-CN" altLang="en-US"/>
              <a:t>数据模型与数据库模式</a:t>
            </a:r>
            <a:endParaRPr lang="zh-CN" altLang="en-US" dirty="0"/>
          </a:p>
        </p:txBody>
      </p:sp>
      <p:sp>
        <p:nvSpPr>
          <p:cNvPr id="6" name="Text Box 3"/>
          <p:cNvSpPr txBox="1">
            <a:spLocks noChangeArrowheads="1"/>
          </p:cNvSpPr>
          <p:nvPr/>
        </p:nvSpPr>
        <p:spPr>
          <a:xfrm>
            <a:off x="2032445" y="3470042"/>
            <a:ext cx="4189412" cy="1422400"/>
          </a:xfrm>
          <a:prstGeom prst="rect">
            <a:avLst/>
          </a:prstGeom>
          <a:ln w="28575" cap="flat">
            <a:solidFill>
              <a:schemeClr val="bg1"/>
            </a:solidFill>
            <a:miter lim="800000"/>
          </a:ln>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Wingdings" panose="05000000000000000000" pitchFamily="2" charset="2"/>
              <a:buChar char="Ø"/>
              <a:defRPr sz="2800" b="1"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a:t>学生表 </a:t>
            </a:r>
            <a:r>
              <a:rPr lang="en-US" altLang="zh-CN" sz="2000"/>
              <a:t>(</a:t>
            </a:r>
            <a:r>
              <a:rPr lang="zh-CN" altLang="en-US" sz="2000" u="sng"/>
              <a:t>学号</a:t>
            </a:r>
            <a:r>
              <a:rPr lang="zh-CN" altLang="en-US" sz="2000"/>
              <a:t>，姓名，年龄</a:t>
            </a:r>
            <a:r>
              <a:rPr lang="en-US" altLang="zh-CN" sz="2000"/>
              <a:t>)</a:t>
            </a:r>
            <a:endParaRPr lang="en-US" altLang="zh-CN" sz="2000"/>
          </a:p>
          <a:p>
            <a:r>
              <a:rPr lang="zh-CN" altLang="en-US" sz="2000"/>
              <a:t>课程表 </a:t>
            </a:r>
            <a:r>
              <a:rPr lang="en-US" altLang="zh-CN" sz="2000"/>
              <a:t>(</a:t>
            </a:r>
            <a:r>
              <a:rPr lang="zh-CN" altLang="en-US" sz="2000" u="sng"/>
              <a:t>课程号</a:t>
            </a:r>
            <a:r>
              <a:rPr lang="zh-CN" altLang="en-US" sz="2000"/>
              <a:t>，课程名，学分</a:t>
            </a:r>
            <a:r>
              <a:rPr lang="en-US" altLang="zh-CN" sz="2000"/>
              <a:t>)</a:t>
            </a:r>
            <a:endParaRPr lang="en-US" altLang="zh-CN" sz="2000"/>
          </a:p>
          <a:p>
            <a:r>
              <a:rPr lang="zh-CN" altLang="en-US" sz="2000"/>
              <a:t>选课表 </a:t>
            </a:r>
            <a:r>
              <a:rPr lang="en-US" altLang="zh-CN" sz="2000"/>
              <a:t>(</a:t>
            </a:r>
            <a:r>
              <a:rPr lang="zh-CN" altLang="en-US" sz="2000" u="sng"/>
              <a:t>学号</a:t>
            </a:r>
            <a:r>
              <a:rPr lang="zh-CN" altLang="en-US" sz="2000"/>
              <a:t>，</a:t>
            </a:r>
            <a:r>
              <a:rPr lang="zh-CN" altLang="en-US" sz="2000" u="sng"/>
              <a:t>课程号</a:t>
            </a:r>
            <a:r>
              <a:rPr lang="zh-CN" altLang="en-US" sz="2000"/>
              <a:t>，成绩</a:t>
            </a:r>
            <a:r>
              <a:rPr lang="en-US" altLang="zh-CN" sz="2000"/>
              <a:t>)</a:t>
            </a:r>
            <a:endParaRPr lang="en-US" altLang="zh-CN" sz="2000"/>
          </a:p>
        </p:txBody>
      </p:sp>
      <p:pic>
        <p:nvPicPr>
          <p:cNvPr id="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14007" y="1565042"/>
            <a:ext cx="3633788"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045" y="3917717"/>
            <a:ext cx="3603625"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7"/>
          <p:cNvSpPr txBox="1">
            <a:spLocks noChangeArrowheads="1"/>
          </p:cNvSpPr>
          <p:nvPr/>
        </p:nvSpPr>
        <p:spPr bwMode="auto">
          <a:xfrm>
            <a:off x="2319782" y="2385779"/>
            <a:ext cx="1381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FontTx/>
              <a:buNone/>
            </a:pPr>
            <a:r>
              <a:rPr lang="en-US" altLang="zh-CN" sz="2400" b="1">
                <a:latin typeface="Helvetica" panose="020B0604020202020204" pitchFamily="34" charset="0"/>
              </a:rPr>
              <a:t>1</a:t>
            </a:r>
            <a:r>
              <a:rPr lang="zh-CN" altLang="en-US" sz="2400" b="1">
                <a:latin typeface="Helvetica" panose="020B0604020202020204" pitchFamily="34" charset="0"/>
              </a:rPr>
              <a:t>个模式</a:t>
            </a:r>
            <a:endParaRPr lang="zh-CN" altLang="en-US" sz="2400" b="1">
              <a:latin typeface="Helvetica" panose="020B0604020202020204" pitchFamily="34" charset="0"/>
            </a:endParaRPr>
          </a:p>
        </p:txBody>
      </p:sp>
      <p:sp>
        <p:nvSpPr>
          <p:cNvPr id="10" name="Text Box 8"/>
          <p:cNvSpPr txBox="1">
            <a:spLocks noChangeArrowheads="1"/>
          </p:cNvSpPr>
          <p:nvPr/>
        </p:nvSpPr>
        <p:spPr bwMode="auto">
          <a:xfrm>
            <a:off x="4435920" y="1761892"/>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FontTx/>
              <a:buNone/>
            </a:pPr>
            <a:r>
              <a:rPr lang="en-US" altLang="zh-CN" sz="2400" b="1">
                <a:latin typeface="Helvetica" panose="020B0604020202020204" pitchFamily="34" charset="0"/>
              </a:rPr>
              <a:t>2</a:t>
            </a:r>
            <a:r>
              <a:rPr lang="zh-CN" altLang="en-US" sz="2400" b="1">
                <a:latin typeface="Helvetica" panose="020B0604020202020204" pitchFamily="34" charset="0"/>
              </a:rPr>
              <a:t>个实例</a:t>
            </a:r>
            <a:endParaRPr lang="zh-CN" altLang="en-US" sz="2400" b="1">
              <a:latin typeface="Helvetica" panose="020B0604020202020204" pitchFamily="34" charset="0"/>
            </a:endParaRPr>
          </a:p>
        </p:txBody>
      </p:sp>
      <p:sp>
        <p:nvSpPr>
          <p:cNvPr id="11" name="Line 9"/>
          <p:cNvSpPr>
            <a:spLocks noChangeShapeType="1"/>
          </p:cNvSpPr>
          <p:nvPr/>
        </p:nvSpPr>
        <p:spPr bwMode="auto">
          <a:xfrm flipV="1">
            <a:off x="6250432" y="3155717"/>
            <a:ext cx="595313" cy="784225"/>
          </a:xfrm>
          <a:prstGeom prst="line">
            <a:avLst/>
          </a:prstGeom>
          <a:noFill/>
          <a:ln w="38100">
            <a:solidFill>
              <a:schemeClr val="bg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2" name="Line 10"/>
          <p:cNvSpPr>
            <a:spLocks noChangeShapeType="1"/>
          </p:cNvSpPr>
          <p:nvPr/>
        </p:nvSpPr>
        <p:spPr bwMode="auto">
          <a:xfrm>
            <a:off x="6234557" y="4344754"/>
            <a:ext cx="696913" cy="579438"/>
          </a:xfrm>
          <a:prstGeom prst="line">
            <a:avLst/>
          </a:prstGeom>
          <a:noFill/>
          <a:ln w="38100">
            <a:solidFill>
              <a:schemeClr val="bg1"/>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3" name="AutoShape 11"/>
          <p:cNvSpPr>
            <a:spLocks noChangeArrowheads="1"/>
          </p:cNvSpPr>
          <p:nvPr/>
        </p:nvSpPr>
        <p:spPr bwMode="auto">
          <a:xfrm>
            <a:off x="5974207" y="1776179"/>
            <a:ext cx="550863" cy="406400"/>
          </a:xfrm>
          <a:prstGeom prst="rightArrow">
            <a:avLst>
              <a:gd name="adj1" fmla="val 50000"/>
              <a:gd name="adj2" fmla="val 3388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4" name="AutoShape 12"/>
          <p:cNvSpPr>
            <a:spLocks noChangeArrowheads="1"/>
          </p:cNvSpPr>
          <p:nvPr/>
        </p:nvSpPr>
        <p:spPr bwMode="auto">
          <a:xfrm rot="19981681">
            <a:off x="2969070" y="2898542"/>
            <a:ext cx="363537" cy="541337"/>
          </a:xfrm>
          <a:prstGeom prst="downArrow">
            <a:avLst>
              <a:gd name="adj1" fmla="val 50000"/>
              <a:gd name="adj2" fmla="val 3722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5" name="AutoShape 13"/>
          <p:cNvSpPr>
            <a:spLocks noChangeArrowheads="1"/>
          </p:cNvSpPr>
          <p:nvPr/>
        </p:nvSpPr>
        <p:spPr bwMode="auto">
          <a:xfrm>
            <a:off x="2767457" y="5419492"/>
            <a:ext cx="3019425" cy="1058862"/>
          </a:xfrm>
          <a:prstGeom prst="wedgeRoundRectCallout">
            <a:avLst>
              <a:gd name="adj1" fmla="val -58991"/>
              <a:gd name="adj2" fmla="val -111319"/>
              <a:gd name="adj3" fmla="val 1666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b="1">
                <a:latin typeface="Helvetica" panose="020B0604020202020204" pitchFamily="34" charset="0"/>
              </a:rPr>
              <a:t>实际中的模式描述比本例要详细得多</a:t>
            </a:r>
            <a:endParaRPr lang="zh-CN" altLang="en-US" sz="2400" b="1">
              <a:latin typeface="Helvetica" panose="020B0604020202020204" pitchFamily="34" charset="0"/>
            </a:endParaRPr>
          </a:p>
        </p:txBody>
      </p:sp>
      <p:cxnSp>
        <p:nvCxnSpPr>
          <p:cNvPr id="16" name="直接连接符 2"/>
          <p:cNvCxnSpPr>
            <a:cxnSpLocks noChangeShapeType="1"/>
          </p:cNvCxnSpPr>
          <p:nvPr/>
        </p:nvCxnSpPr>
        <p:spPr bwMode="auto">
          <a:xfrm>
            <a:off x="6712395" y="3825642"/>
            <a:ext cx="3960812" cy="0"/>
          </a:xfrm>
          <a:prstGeom prst="line">
            <a:avLst/>
          </a:prstGeom>
          <a:noFill/>
          <a:ln w="25400" algn="ctr">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矩形 16"/>
          <p:cNvSpPr/>
          <p:nvPr/>
        </p:nvSpPr>
        <p:spPr>
          <a:xfrm>
            <a:off x="6712396" y="1219203"/>
            <a:ext cx="3960812" cy="5502272"/>
          </a:xfrm>
          <a:prstGeom prst="rect">
            <a:avLst/>
          </a:prstGeom>
          <a:noFill/>
          <a:ln w="1905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1000" fill="hold"/>
                                        <p:tgtEl>
                                          <p:spTgt spid="15"/>
                                        </p:tgtEl>
                                        <p:attrNameLst>
                                          <p:attrName>ppt_x</p:attrName>
                                        </p:attrNameLst>
                                      </p:cBhvr>
                                      <p:tavLst>
                                        <p:tav tm="0">
                                          <p:val>
                                            <p:strVal val="#ppt_x"/>
                                          </p:val>
                                        </p:tav>
                                        <p:tav tm="100000">
                                          <p:val>
                                            <p:strVal val="#ppt_x"/>
                                          </p:val>
                                        </p:tav>
                                      </p:tavLst>
                                    </p:anim>
                                    <p:anim calcmode="lin" valueType="num">
                                      <p:cBhvr additive="base">
                                        <p:cTn id="8" dur="1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模式的分级</a:t>
            </a:r>
            <a:endParaRPr lang="en-US" altLang="zh-CN" sz="2800"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为了提高数据的</a:t>
            </a:r>
            <a:r>
              <a:rPr lang="zh-CN" altLang="en-US" dirty="0">
                <a:solidFill>
                  <a:schemeClr val="accent2">
                    <a:lumMod val="75000"/>
                  </a:schemeClr>
                </a:solidFill>
                <a:latin typeface="微软雅黑" panose="020B0503020204020204" pitchFamily="34" charset="-122"/>
                <a:ea typeface="微软雅黑" panose="020B0503020204020204" pitchFamily="34" charset="-122"/>
              </a:rPr>
              <a:t>物理独立性</a:t>
            </a:r>
            <a:r>
              <a:rPr lang="zh-CN" altLang="en-US" dirty="0">
                <a:latin typeface="微软雅黑" panose="020B0503020204020204" pitchFamily="34" charset="-122"/>
                <a:ea typeface="微软雅黑" panose="020B0503020204020204" pitchFamily="34" charset="-122"/>
              </a:rPr>
              <a:t>和</a:t>
            </a:r>
            <a:r>
              <a:rPr lang="zh-CN" altLang="en-US" dirty="0">
                <a:solidFill>
                  <a:schemeClr val="accent2">
                    <a:lumMod val="75000"/>
                  </a:schemeClr>
                </a:solidFill>
                <a:latin typeface="微软雅黑" panose="020B0503020204020204" pitchFamily="34" charset="-122"/>
                <a:ea typeface="微软雅黑" panose="020B0503020204020204" pitchFamily="34" charset="-122"/>
              </a:rPr>
              <a:t>逻辑独立性</a:t>
            </a:r>
            <a:r>
              <a:rPr lang="zh-CN" altLang="en-US" dirty="0">
                <a:latin typeface="微软雅黑" panose="020B0503020204020204" pitchFamily="34" charset="-122"/>
                <a:ea typeface="微软雅黑" panose="020B0503020204020204" pitchFamily="34" charset="-122"/>
              </a:rPr>
              <a:t>，使数据库的用户观点，即用户看到的数据库，与数据库的物理方面，即实际存储的数据库区分开来，数据库系统的模式是分级的</a:t>
            </a:r>
            <a:endParaRPr lang="zh-CN" altLang="en-US" dirty="0">
              <a:latin typeface="微软雅黑" panose="020B0503020204020204" pitchFamily="34" charset="-122"/>
              <a:ea typeface="微软雅黑" panose="020B0503020204020204" pitchFamily="34" charset="-122"/>
            </a:endParaRPr>
          </a:p>
          <a:p>
            <a:pPr lvl="1"/>
            <a:endParaRPr lang="zh-CN" altLang="en-US" dirty="0"/>
          </a:p>
        </p:txBody>
      </p:sp>
      <p:sp>
        <p:nvSpPr>
          <p:cNvPr id="5" name="标题 4"/>
          <p:cNvSpPr>
            <a:spLocks noGrp="1"/>
          </p:cNvSpPr>
          <p:nvPr>
            <p:ph type="title"/>
          </p:nvPr>
        </p:nvSpPr>
        <p:spPr/>
        <p:txBody>
          <a:bodyPr/>
          <a:lstStyle/>
          <a:p>
            <a:r>
              <a:rPr kumimoji="1" lang="en-US" altLang="zh-CN"/>
              <a:t>1.4 </a:t>
            </a:r>
            <a:r>
              <a:rPr kumimoji="1" lang="zh-CN" altLang="en-US"/>
              <a:t>数据模型与数据库模式</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en-US" altLang="zh-CN" sz="2800" dirty="0">
              <a:latin typeface="微软雅黑" panose="020B0503020204020204" pitchFamily="34" charset="-122"/>
              <a:ea typeface="微软雅黑" panose="020B0503020204020204" pitchFamily="34" charset="-122"/>
            </a:endParaRPr>
          </a:p>
          <a:p>
            <a:pPr lvl="1"/>
            <a:r>
              <a:rPr lang="en-US" altLang="zh-CN" dirty="0"/>
              <a:t>CODASYL</a:t>
            </a:r>
            <a:r>
              <a:rPr lang="zh-CN" altLang="en-US" dirty="0"/>
              <a:t>（</a:t>
            </a:r>
            <a:r>
              <a:rPr lang="en-US" altLang="zh-CN" dirty="0"/>
              <a:t>Conference On Data System Language,</a:t>
            </a:r>
            <a:r>
              <a:rPr lang="zh-CN" altLang="en-US" dirty="0"/>
              <a:t>美国数据系统语言协商会）提出模式、外模式、内模式三级模式的概念。</a:t>
            </a:r>
            <a:endParaRPr lang="zh-CN" altLang="en-US" dirty="0"/>
          </a:p>
          <a:p>
            <a:pPr lvl="1"/>
            <a:r>
              <a:rPr lang="zh-CN" altLang="en-US" dirty="0"/>
              <a:t>三级模式之间有两级映象</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zh-CN" altLang="en-US" dirty="0">
              <a:latin typeface="微软雅黑" panose="020B0503020204020204" pitchFamily="34" charset="-122"/>
              <a:ea typeface="微软雅黑" panose="020B0503020204020204" pitchFamily="34" charset="-122"/>
            </a:endParaRPr>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grpSp>
        <p:nvGrpSpPr>
          <p:cNvPr id="6" name="Group 3"/>
          <p:cNvGrpSpPr/>
          <p:nvPr/>
        </p:nvGrpSpPr>
        <p:grpSpPr bwMode="auto">
          <a:xfrm>
            <a:off x="1853946" y="1844675"/>
            <a:ext cx="8839200" cy="4876800"/>
            <a:chOff x="144" y="1152"/>
            <a:chExt cx="5568" cy="3072"/>
          </a:xfrm>
        </p:grpSpPr>
        <p:sp>
          <p:nvSpPr>
            <p:cNvPr id="7" name="AutoShape 4"/>
            <p:cNvSpPr>
              <a:spLocks noChangeArrowheads="1"/>
            </p:cNvSpPr>
            <p:nvPr/>
          </p:nvSpPr>
          <p:spPr bwMode="auto">
            <a:xfrm>
              <a:off x="2592" y="3696"/>
              <a:ext cx="720" cy="528"/>
            </a:xfrm>
            <a:prstGeom prst="flowChartMagneticDisk">
              <a:avLst/>
            </a:prstGeom>
            <a:solidFill>
              <a:schemeClr val="bg2">
                <a:lumMod val="90000"/>
              </a:schemeClr>
            </a:solidFill>
            <a:ln w="12700" cap="sq">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a:latin typeface="微软雅黑" panose="020B0503020204020204" pitchFamily="34" charset="-122"/>
                  <a:ea typeface="微软雅黑" panose="020B0503020204020204" pitchFamily="34" charset="-122"/>
                </a:rPr>
                <a:t>数据库</a:t>
              </a:r>
              <a:endParaRPr kumimoji="1" lang="zh-CN" altLang="en-US" sz="2000">
                <a:latin typeface="微软雅黑" panose="020B0503020204020204" pitchFamily="34" charset="-122"/>
                <a:ea typeface="微软雅黑" panose="020B0503020204020204" pitchFamily="34" charset="-122"/>
              </a:endParaRPr>
            </a:p>
          </p:txBody>
        </p:sp>
        <p:sp>
          <p:nvSpPr>
            <p:cNvPr id="8" name="AutoShape 5"/>
            <p:cNvSpPr>
              <a:spLocks noChangeArrowheads="1"/>
            </p:cNvSpPr>
            <p:nvPr/>
          </p:nvSpPr>
          <p:spPr bwMode="auto">
            <a:xfrm>
              <a:off x="2448" y="3168"/>
              <a:ext cx="960" cy="336"/>
            </a:xfrm>
            <a:prstGeom prst="bevel">
              <a:avLst>
                <a:gd name="adj" fmla="val 12500"/>
              </a:avLst>
            </a:prstGeom>
            <a:solidFill>
              <a:schemeClr val="accent2">
                <a:lumMod val="60000"/>
                <a:lumOff val="4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a:latin typeface="微软雅黑" panose="020B0503020204020204" pitchFamily="34" charset="-122"/>
                  <a:ea typeface="微软雅黑" panose="020B0503020204020204" pitchFamily="34" charset="-122"/>
                </a:rPr>
                <a:t>内模式</a:t>
              </a:r>
              <a:endParaRPr kumimoji="1" lang="zh-CN" altLang="en-US" sz="2000">
                <a:latin typeface="微软雅黑" panose="020B0503020204020204" pitchFamily="34" charset="-122"/>
                <a:ea typeface="微软雅黑" panose="020B0503020204020204" pitchFamily="34" charset="-122"/>
              </a:endParaRPr>
            </a:p>
          </p:txBody>
        </p:sp>
        <p:sp>
          <p:nvSpPr>
            <p:cNvPr id="9" name="AutoShape 6"/>
            <p:cNvSpPr>
              <a:spLocks noChangeArrowheads="1"/>
            </p:cNvSpPr>
            <p:nvPr/>
          </p:nvSpPr>
          <p:spPr bwMode="auto">
            <a:xfrm>
              <a:off x="2448" y="2640"/>
              <a:ext cx="960" cy="336"/>
            </a:xfrm>
            <a:prstGeom prst="bevel">
              <a:avLst>
                <a:gd name="adj" fmla="val 12500"/>
              </a:avLst>
            </a:prstGeom>
            <a:solidFill>
              <a:schemeClr val="accent2">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模 式</a:t>
              </a:r>
              <a:endParaRPr kumimoji="1" lang="zh-CN" altLang="en-US" sz="2000" dirty="0">
                <a:latin typeface="微软雅黑" panose="020B0503020204020204" pitchFamily="34" charset="-122"/>
                <a:ea typeface="微软雅黑" panose="020B0503020204020204" pitchFamily="34" charset="-122"/>
              </a:endParaRPr>
            </a:p>
          </p:txBody>
        </p:sp>
        <p:sp>
          <p:nvSpPr>
            <p:cNvPr id="10" name="AutoShape 7"/>
            <p:cNvSpPr>
              <a:spLocks noChangeArrowheads="1"/>
            </p:cNvSpPr>
            <p:nvPr/>
          </p:nvSpPr>
          <p:spPr bwMode="auto">
            <a:xfrm>
              <a:off x="2448" y="1824"/>
              <a:ext cx="960" cy="336"/>
            </a:xfrm>
            <a:prstGeom prst="bevel">
              <a:avLst>
                <a:gd name="adj" fmla="val 12500"/>
              </a:avLst>
            </a:prstGeom>
            <a:solidFill>
              <a:schemeClr val="accent4">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外模式</a:t>
              </a:r>
              <a:r>
                <a:rPr kumimoji="1" lang="en-US" altLang="zh-CN" sz="2400" dirty="0">
                  <a:latin typeface="微软雅黑" panose="020B0503020204020204" pitchFamily="34" charset="-122"/>
                  <a:ea typeface="微软雅黑" panose="020B0503020204020204" pitchFamily="34" charset="-122"/>
                </a:rPr>
                <a:t>2</a:t>
              </a:r>
              <a:endParaRPr kumimoji="1" lang="en-US" altLang="zh-CN" sz="2000" dirty="0">
                <a:latin typeface="微软雅黑" panose="020B0503020204020204" pitchFamily="34" charset="-122"/>
                <a:ea typeface="微软雅黑" panose="020B0503020204020204" pitchFamily="34" charset="-122"/>
              </a:endParaRPr>
            </a:p>
          </p:txBody>
        </p:sp>
        <p:sp>
          <p:nvSpPr>
            <p:cNvPr id="11" name="AutoShape 8"/>
            <p:cNvSpPr>
              <a:spLocks noChangeArrowheads="1"/>
            </p:cNvSpPr>
            <p:nvPr/>
          </p:nvSpPr>
          <p:spPr bwMode="auto">
            <a:xfrm>
              <a:off x="4176" y="1824"/>
              <a:ext cx="960" cy="336"/>
            </a:xfrm>
            <a:prstGeom prst="bevel">
              <a:avLst>
                <a:gd name="adj" fmla="val 12500"/>
              </a:avLst>
            </a:prstGeom>
            <a:solidFill>
              <a:schemeClr val="accent4">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a:latin typeface="微软雅黑" panose="020B0503020204020204" pitchFamily="34" charset="-122"/>
                  <a:ea typeface="微软雅黑" panose="020B0503020204020204" pitchFamily="34" charset="-122"/>
                </a:rPr>
                <a:t>外模式</a:t>
              </a:r>
              <a:r>
                <a:rPr kumimoji="1" lang="en-US" altLang="zh-CN" sz="2400">
                  <a:latin typeface="微软雅黑" panose="020B0503020204020204" pitchFamily="34" charset="-122"/>
                  <a:ea typeface="微软雅黑" panose="020B0503020204020204" pitchFamily="34" charset="-122"/>
                </a:rPr>
                <a:t>3</a:t>
              </a:r>
              <a:endParaRPr kumimoji="1" lang="en-US" altLang="zh-CN" sz="2000">
                <a:latin typeface="微软雅黑" panose="020B0503020204020204" pitchFamily="34" charset="-122"/>
                <a:ea typeface="微软雅黑" panose="020B0503020204020204" pitchFamily="34" charset="-122"/>
              </a:endParaRPr>
            </a:p>
          </p:txBody>
        </p:sp>
        <p:sp>
          <p:nvSpPr>
            <p:cNvPr id="12" name="AutoShape 9"/>
            <p:cNvSpPr>
              <a:spLocks noChangeArrowheads="1"/>
            </p:cNvSpPr>
            <p:nvPr/>
          </p:nvSpPr>
          <p:spPr bwMode="auto">
            <a:xfrm>
              <a:off x="720" y="1824"/>
              <a:ext cx="960" cy="336"/>
            </a:xfrm>
            <a:prstGeom prst="bevel">
              <a:avLst>
                <a:gd name="adj" fmla="val 12500"/>
              </a:avLst>
            </a:prstGeom>
            <a:solidFill>
              <a:schemeClr val="accent4">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外模式</a:t>
              </a:r>
              <a:r>
                <a:rPr kumimoji="1" lang="en-US" altLang="zh-CN" sz="2400" dirty="0">
                  <a:latin typeface="微软雅黑" panose="020B0503020204020204" pitchFamily="34" charset="-122"/>
                  <a:ea typeface="微软雅黑" panose="020B0503020204020204" pitchFamily="34" charset="-122"/>
                </a:rPr>
                <a:t>1</a:t>
              </a:r>
              <a:endParaRPr kumimoji="1" lang="en-US" altLang="zh-CN" sz="2000" dirty="0">
                <a:latin typeface="微软雅黑" panose="020B0503020204020204" pitchFamily="34" charset="-122"/>
                <a:ea typeface="微软雅黑" panose="020B0503020204020204" pitchFamily="34" charset="-122"/>
              </a:endParaRPr>
            </a:p>
          </p:txBody>
        </p:sp>
        <p:sp>
          <p:nvSpPr>
            <p:cNvPr id="13" name="AutoShape 10"/>
            <p:cNvSpPr>
              <a:spLocks noChangeArrowheads="1"/>
            </p:cNvSpPr>
            <p:nvPr/>
          </p:nvSpPr>
          <p:spPr bwMode="auto">
            <a:xfrm>
              <a:off x="144" y="1152"/>
              <a:ext cx="960" cy="336"/>
            </a:xfrm>
            <a:prstGeom prst="bevel">
              <a:avLst>
                <a:gd name="adj" fmla="val 12500"/>
              </a:avLst>
            </a:prstGeom>
            <a:solidFill>
              <a:schemeClr val="accent6">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应用</a:t>
              </a:r>
              <a:r>
                <a:rPr kumimoji="1" lang="en-US" altLang="zh-CN" sz="2400" dirty="0">
                  <a:latin typeface="微软雅黑" panose="020B0503020204020204" pitchFamily="34" charset="-122"/>
                  <a:ea typeface="微软雅黑" panose="020B0503020204020204" pitchFamily="34" charset="-122"/>
                </a:rPr>
                <a:t>A</a:t>
              </a:r>
              <a:endParaRPr kumimoji="1" lang="en-US" altLang="zh-CN" sz="2000" dirty="0">
                <a:latin typeface="微软雅黑" panose="020B0503020204020204" pitchFamily="34" charset="-122"/>
                <a:ea typeface="微软雅黑" panose="020B0503020204020204" pitchFamily="34" charset="-122"/>
              </a:endParaRPr>
            </a:p>
          </p:txBody>
        </p:sp>
        <p:sp>
          <p:nvSpPr>
            <p:cNvPr id="14" name="AutoShape 11"/>
            <p:cNvSpPr>
              <a:spLocks noChangeArrowheads="1"/>
            </p:cNvSpPr>
            <p:nvPr/>
          </p:nvSpPr>
          <p:spPr bwMode="auto">
            <a:xfrm>
              <a:off x="1296" y="1152"/>
              <a:ext cx="960" cy="336"/>
            </a:xfrm>
            <a:prstGeom prst="bevel">
              <a:avLst>
                <a:gd name="adj" fmla="val 12500"/>
              </a:avLst>
            </a:prstGeom>
            <a:solidFill>
              <a:schemeClr val="accent6">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应用</a:t>
              </a:r>
              <a:r>
                <a:rPr kumimoji="1" lang="en-US" altLang="zh-CN" sz="2400" dirty="0">
                  <a:latin typeface="微软雅黑" panose="020B0503020204020204" pitchFamily="34" charset="-122"/>
                  <a:ea typeface="微软雅黑" panose="020B0503020204020204" pitchFamily="34" charset="-122"/>
                </a:rPr>
                <a:t>B</a:t>
              </a:r>
              <a:endParaRPr kumimoji="1" lang="en-US" altLang="zh-CN" sz="2000" dirty="0">
                <a:latin typeface="微软雅黑" panose="020B0503020204020204" pitchFamily="34" charset="-122"/>
                <a:ea typeface="微软雅黑" panose="020B0503020204020204" pitchFamily="34" charset="-122"/>
              </a:endParaRPr>
            </a:p>
          </p:txBody>
        </p:sp>
        <p:sp>
          <p:nvSpPr>
            <p:cNvPr id="15" name="AutoShape 12"/>
            <p:cNvSpPr>
              <a:spLocks noChangeArrowheads="1"/>
            </p:cNvSpPr>
            <p:nvPr/>
          </p:nvSpPr>
          <p:spPr bwMode="auto">
            <a:xfrm>
              <a:off x="2448" y="1152"/>
              <a:ext cx="960" cy="336"/>
            </a:xfrm>
            <a:prstGeom prst="bevel">
              <a:avLst>
                <a:gd name="adj" fmla="val 12500"/>
              </a:avLst>
            </a:prstGeom>
            <a:solidFill>
              <a:schemeClr val="accent6">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应用</a:t>
              </a:r>
              <a:r>
                <a:rPr kumimoji="1" lang="en-US" altLang="zh-CN" sz="2400" dirty="0">
                  <a:latin typeface="微软雅黑" panose="020B0503020204020204" pitchFamily="34" charset="-122"/>
                  <a:ea typeface="微软雅黑" panose="020B0503020204020204" pitchFamily="34" charset="-122"/>
                </a:rPr>
                <a:t>C</a:t>
              </a:r>
              <a:endParaRPr kumimoji="1" lang="en-US" altLang="zh-CN" sz="2000" dirty="0">
                <a:latin typeface="微软雅黑" panose="020B0503020204020204" pitchFamily="34" charset="-122"/>
                <a:ea typeface="微软雅黑" panose="020B0503020204020204" pitchFamily="34" charset="-122"/>
              </a:endParaRPr>
            </a:p>
          </p:txBody>
        </p:sp>
        <p:sp>
          <p:nvSpPr>
            <p:cNvPr id="16" name="AutoShape 13"/>
            <p:cNvSpPr>
              <a:spLocks noChangeArrowheads="1"/>
            </p:cNvSpPr>
            <p:nvPr/>
          </p:nvSpPr>
          <p:spPr bwMode="auto">
            <a:xfrm>
              <a:off x="3600" y="1152"/>
              <a:ext cx="960" cy="336"/>
            </a:xfrm>
            <a:prstGeom prst="bevel">
              <a:avLst>
                <a:gd name="adj" fmla="val 12500"/>
              </a:avLst>
            </a:prstGeom>
            <a:solidFill>
              <a:schemeClr val="accent6">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a:latin typeface="微软雅黑" panose="020B0503020204020204" pitchFamily="34" charset="-122"/>
                  <a:ea typeface="微软雅黑" panose="020B0503020204020204" pitchFamily="34" charset="-122"/>
                </a:rPr>
                <a:t>应用</a:t>
              </a:r>
              <a:r>
                <a:rPr kumimoji="1" lang="en-US" altLang="zh-CN" sz="2400">
                  <a:latin typeface="微软雅黑" panose="020B0503020204020204" pitchFamily="34" charset="-122"/>
                  <a:ea typeface="微软雅黑" panose="020B0503020204020204" pitchFamily="34" charset="-122"/>
                </a:rPr>
                <a:t>D</a:t>
              </a:r>
              <a:endParaRPr kumimoji="1" lang="en-US" altLang="zh-CN" sz="2000">
                <a:latin typeface="微软雅黑" panose="020B0503020204020204" pitchFamily="34" charset="-122"/>
                <a:ea typeface="微软雅黑" panose="020B0503020204020204" pitchFamily="34" charset="-122"/>
              </a:endParaRPr>
            </a:p>
          </p:txBody>
        </p:sp>
        <p:sp>
          <p:nvSpPr>
            <p:cNvPr id="17" name="AutoShape 14"/>
            <p:cNvSpPr>
              <a:spLocks noChangeArrowheads="1"/>
            </p:cNvSpPr>
            <p:nvPr/>
          </p:nvSpPr>
          <p:spPr bwMode="auto">
            <a:xfrm>
              <a:off x="4752" y="1152"/>
              <a:ext cx="960" cy="336"/>
            </a:xfrm>
            <a:prstGeom prst="bevel">
              <a:avLst>
                <a:gd name="adj" fmla="val 12500"/>
              </a:avLst>
            </a:prstGeom>
            <a:solidFill>
              <a:schemeClr val="accent6">
                <a:lumMod val="40000"/>
                <a:lumOff val="60000"/>
              </a:schemeClr>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应用</a:t>
              </a:r>
              <a:r>
                <a:rPr kumimoji="1" lang="en-US" altLang="zh-CN" sz="2400" dirty="0">
                  <a:latin typeface="微软雅黑" panose="020B0503020204020204" pitchFamily="34" charset="-122"/>
                  <a:ea typeface="微软雅黑" panose="020B0503020204020204" pitchFamily="34" charset="-122"/>
                </a:rPr>
                <a:t>E</a:t>
              </a:r>
              <a:endParaRPr kumimoji="1" lang="en-US" altLang="zh-CN" sz="2000" dirty="0">
                <a:latin typeface="微软雅黑" panose="020B0503020204020204" pitchFamily="34" charset="-122"/>
                <a:ea typeface="微软雅黑" panose="020B0503020204020204" pitchFamily="34" charset="-122"/>
              </a:endParaRPr>
            </a:p>
          </p:txBody>
        </p:sp>
        <p:sp>
          <p:nvSpPr>
            <p:cNvPr id="18" name="AutoShape 15"/>
            <p:cNvSpPr>
              <a:spLocks noChangeArrowheads="1"/>
            </p:cNvSpPr>
            <p:nvPr/>
          </p:nvSpPr>
          <p:spPr bwMode="auto">
            <a:xfrm>
              <a:off x="2880" y="3504"/>
              <a:ext cx="96" cy="192"/>
            </a:xfrm>
            <a:prstGeom prst="upDownArrow">
              <a:avLst>
                <a:gd name="adj1" fmla="val 50000"/>
                <a:gd name="adj2" fmla="val 40000"/>
              </a:avLst>
            </a:prstGeom>
            <a:solidFill>
              <a:schemeClr val="tx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19" name="AutoShape 16"/>
            <p:cNvSpPr>
              <a:spLocks noChangeArrowheads="1"/>
            </p:cNvSpPr>
            <p:nvPr/>
          </p:nvSpPr>
          <p:spPr bwMode="auto">
            <a:xfrm>
              <a:off x="2880" y="2976"/>
              <a:ext cx="96" cy="192"/>
            </a:xfrm>
            <a:prstGeom prst="upDownArrow">
              <a:avLst>
                <a:gd name="adj1" fmla="val 50000"/>
                <a:gd name="adj2" fmla="val 40000"/>
              </a:avLst>
            </a:prstGeom>
            <a:solidFill>
              <a:srgbClr val="000000"/>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20" name="AutoShape 17"/>
            <p:cNvSpPr>
              <a:spLocks noChangeArrowheads="1"/>
            </p:cNvSpPr>
            <p:nvPr/>
          </p:nvSpPr>
          <p:spPr bwMode="auto">
            <a:xfrm>
              <a:off x="2880" y="2160"/>
              <a:ext cx="96" cy="480"/>
            </a:xfrm>
            <a:prstGeom prst="upDownArrow">
              <a:avLst>
                <a:gd name="adj1" fmla="val 50000"/>
                <a:gd name="adj2" fmla="val 100000"/>
              </a:avLst>
            </a:prstGeom>
            <a:solidFill>
              <a:schemeClr val="tx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21" name="Line 18"/>
            <p:cNvSpPr>
              <a:spLocks noChangeShapeType="1"/>
            </p:cNvSpPr>
            <p:nvPr/>
          </p:nvSpPr>
          <p:spPr bwMode="auto">
            <a:xfrm>
              <a:off x="2976" y="2400"/>
              <a:ext cx="1680" cy="0"/>
            </a:xfrm>
            <a:prstGeom prst="line">
              <a:avLst/>
            </a:prstGeom>
            <a:noFill/>
            <a:ln w="1016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2" name="Line 19"/>
            <p:cNvSpPr>
              <a:spLocks noChangeShapeType="1"/>
            </p:cNvSpPr>
            <p:nvPr/>
          </p:nvSpPr>
          <p:spPr bwMode="auto">
            <a:xfrm>
              <a:off x="1248" y="2400"/>
              <a:ext cx="1680" cy="0"/>
            </a:xfrm>
            <a:prstGeom prst="line">
              <a:avLst/>
            </a:prstGeom>
            <a:noFill/>
            <a:ln w="1016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3" name="Line 20"/>
            <p:cNvSpPr>
              <a:spLocks noChangeShapeType="1"/>
            </p:cNvSpPr>
            <p:nvPr/>
          </p:nvSpPr>
          <p:spPr bwMode="auto">
            <a:xfrm flipV="1">
              <a:off x="1200" y="2160"/>
              <a:ext cx="0" cy="240"/>
            </a:xfrm>
            <a:prstGeom prst="line">
              <a:avLst/>
            </a:prstGeom>
            <a:noFill/>
            <a:ln w="1016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4" name="Line 21"/>
            <p:cNvSpPr>
              <a:spLocks noChangeShapeType="1"/>
            </p:cNvSpPr>
            <p:nvPr/>
          </p:nvSpPr>
          <p:spPr bwMode="auto">
            <a:xfrm flipV="1">
              <a:off x="4656" y="2160"/>
              <a:ext cx="0" cy="240"/>
            </a:xfrm>
            <a:prstGeom prst="line">
              <a:avLst/>
            </a:prstGeom>
            <a:noFill/>
            <a:ln w="1016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5" name="Line 22"/>
            <p:cNvSpPr>
              <a:spLocks noChangeShapeType="1"/>
            </p:cNvSpPr>
            <p:nvPr/>
          </p:nvSpPr>
          <p:spPr bwMode="auto">
            <a:xfrm flipH="1" flipV="1">
              <a:off x="528" y="1488"/>
              <a:ext cx="576" cy="336"/>
            </a:xfrm>
            <a:prstGeom prst="line">
              <a:avLst/>
            </a:prstGeom>
            <a:noFill/>
            <a:ln w="101600" cap="sq">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6" name="Line 23"/>
            <p:cNvSpPr>
              <a:spLocks noChangeShapeType="1"/>
            </p:cNvSpPr>
            <p:nvPr/>
          </p:nvSpPr>
          <p:spPr bwMode="auto">
            <a:xfrm flipH="1" flipV="1">
              <a:off x="3984" y="1488"/>
              <a:ext cx="576" cy="336"/>
            </a:xfrm>
            <a:prstGeom prst="line">
              <a:avLst/>
            </a:prstGeom>
            <a:noFill/>
            <a:ln w="101600" cap="sq">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7" name="Line 24"/>
            <p:cNvSpPr>
              <a:spLocks noChangeShapeType="1"/>
            </p:cNvSpPr>
            <p:nvPr/>
          </p:nvSpPr>
          <p:spPr bwMode="auto">
            <a:xfrm flipV="1">
              <a:off x="1296" y="1488"/>
              <a:ext cx="576" cy="336"/>
            </a:xfrm>
            <a:prstGeom prst="line">
              <a:avLst/>
            </a:prstGeom>
            <a:noFill/>
            <a:ln w="101600" cap="sq">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8" name="Line 25"/>
            <p:cNvSpPr>
              <a:spLocks noChangeShapeType="1"/>
            </p:cNvSpPr>
            <p:nvPr/>
          </p:nvSpPr>
          <p:spPr bwMode="auto">
            <a:xfrm flipV="1">
              <a:off x="4752" y="1488"/>
              <a:ext cx="576" cy="336"/>
            </a:xfrm>
            <a:prstGeom prst="line">
              <a:avLst/>
            </a:prstGeom>
            <a:noFill/>
            <a:ln w="101600" cap="sq">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29" name="AutoShape 26"/>
            <p:cNvSpPr>
              <a:spLocks noChangeArrowheads="1"/>
            </p:cNvSpPr>
            <p:nvPr/>
          </p:nvSpPr>
          <p:spPr bwMode="auto">
            <a:xfrm>
              <a:off x="2880" y="1488"/>
              <a:ext cx="96" cy="336"/>
            </a:xfrm>
            <a:prstGeom prst="upDownArrow">
              <a:avLst>
                <a:gd name="adj1" fmla="val 50000"/>
                <a:gd name="adj2" fmla="val 70000"/>
              </a:avLst>
            </a:prstGeom>
            <a:solidFill>
              <a:schemeClr val="tx1"/>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600">
                <a:latin typeface="微软雅黑" panose="020B0503020204020204" pitchFamily="34" charset="-122"/>
                <a:ea typeface="微软雅黑" panose="020B0503020204020204" pitchFamily="34" charset="-122"/>
              </a:endParaRPr>
            </a:p>
          </p:txBody>
        </p:sp>
        <p:sp>
          <p:nvSpPr>
            <p:cNvPr id="30" name="Text Box 27"/>
            <p:cNvSpPr txBox="1">
              <a:spLocks noChangeArrowheads="1"/>
            </p:cNvSpPr>
            <p:nvPr/>
          </p:nvSpPr>
          <p:spPr bwMode="auto">
            <a:xfrm>
              <a:off x="289" y="2562"/>
              <a:ext cx="1565" cy="291"/>
            </a:xfrm>
            <a:prstGeom prst="rect">
              <a:avLst/>
            </a:prstGeom>
            <a:solidFill>
              <a:schemeClr val="accent1">
                <a:lumMod val="40000"/>
                <a:lumOff val="60000"/>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外模式</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模式映象</a:t>
              </a:r>
              <a:endParaRPr kumimoji="1" lang="zh-CN" altLang="en-US" sz="2000" dirty="0">
                <a:latin typeface="微软雅黑" panose="020B0503020204020204" pitchFamily="34" charset="-122"/>
                <a:ea typeface="微软雅黑" panose="020B0503020204020204" pitchFamily="34" charset="-122"/>
              </a:endParaRPr>
            </a:p>
          </p:txBody>
        </p:sp>
        <p:sp>
          <p:nvSpPr>
            <p:cNvPr id="31" name="Text Box 28"/>
            <p:cNvSpPr txBox="1">
              <a:spLocks noChangeArrowheads="1"/>
            </p:cNvSpPr>
            <p:nvPr/>
          </p:nvSpPr>
          <p:spPr bwMode="auto">
            <a:xfrm>
              <a:off x="4001" y="2907"/>
              <a:ext cx="1565" cy="291"/>
            </a:xfrm>
            <a:prstGeom prst="rect">
              <a:avLst/>
            </a:prstGeom>
            <a:solidFill>
              <a:schemeClr val="accent1">
                <a:lumMod val="40000"/>
                <a:lumOff val="60000"/>
              </a:schemeClr>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85000"/>
                <a:buFont typeface="Wingdings" panose="05000000000000000000" pitchFamily="2" charset="2"/>
                <a:buChar char="Ø"/>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95000"/>
                <a:buFont typeface="Wingdings 2" panose="05020102010507070707" pitchFamily="18"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90000"/>
                <a:buFont typeface="Wingdings" panose="05000000000000000000" pitchFamily="2" charset="2"/>
                <a:buChar char="Ø"/>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Font typeface="Wingdings 2" panose="05020102010507070707" pitchFamily="18"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400" dirty="0">
                  <a:latin typeface="微软雅黑" panose="020B0503020204020204" pitchFamily="34" charset="-122"/>
                  <a:ea typeface="微软雅黑" panose="020B0503020204020204" pitchFamily="34" charset="-122"/>
                </a:rPr>
                <a:t>模式</a:t>
              </a:r>
              <a:r>
                <a:rPr kumimoji="1" lang="en-US" altLang="zh-CN" sz="2400" dirty="0">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内模式映象</a:t>
              </a:r>
              <a:endParaRPr kumimoji="1" lang="zh-CN" altLang="en-US" sz="2000" dirty="0">
                <a:latin typeface="微软雅黑" panose="020B0503020204020204" pitchFamily="34" charset="-122"/>
                <a:ea typeface="微软雅黑" panose="020B0503020204020204" pitchFamily="34" charset="-122"/>
              </a:endParaRPr>
            </a:p>
          </p:txBody>
        </p:sp>
        <p:sp>
          <p:nvSpPr>
            <p:cNvPr id="32" name="Line 29"/>
            <p:cNvSpPr>
              <a:spLocks noChangeShapeType="1"/>
            </p:cNvSpPr>
            <p:nvPr/>
          </p:nvSpPr>
          <p:spPr bwMode="auto">
            <a:xfrm flipV="1">
              <a:off x="1920" y="2448"/>
              <a:ext cx="960" cy="288"/>
            </a:xfrm>
            <a:prstGeom prst="line">
              <a:avLst/>
            </a:prstGeom>
            <a:noFill/>
            <a:ln w="101600" cap="sq">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sp>
          <p:nvSpPr>
            <p:cNvPr id="33" name="Line 30"/>
            <p:cNvSpPr>
              <a:spLocks noChangeShapeType="1"/>
            </p:cNvSpPr>
            <p:nvPr/>
          </p:nvSpPr>
          <p:spPr bwMode="auto">
            <a:xfrm flipV="1">
              <a:off x="2928" y="3072"/>
              <a:ext cx="960" cy="0"/>
            </a:xfrm>
            <a:prstGeom prst="line">
              <a:avLst/>
            </a:prstGeom>
            <a:noFill/>
            <a:ln w="101600" cap="sq">
              <a:solidFill>
                <a:schemeClr val="tx1"/>
              </a:solidFill>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en-US" altLang="zh-CN" sz="2800" dirty="0">
              <a:latin typeface="微软雅黑" panose="020B0503020204020204" pitchFamily="34" charset="-122"/>
              <a:ea typeface="微软雅黑" panose="020B0503020204020204" pitchFamily="34" charset="-122"/>
            </a:endParaRPr>
          </a:p>
          <a:p>
            <a:pPr lvl="1"/>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模式</a:t>
            </a:r>
            <a:r>
              <a:rPr lang="en-US" altLang="zh-CN" sz="2400" dirty="0">
                <a:latin typeface="微软雅黑" panose="020B0503020204020204" pitchFamily="34" charset="-122"/>
                <a:ea typeface="微软雅黑" panose="020B0503020204020204" pitchFamily="34" charset="-122"/>
              </a:rPr>
              <a:t>(Schema)</a:t>
            </a:r>
            <a:endParaRPr lang="en-US" altLang="zh-CN" sz="2400" dirty="0">
              <a:latin typeface="微软雅黑" panose="020B0503020204020204" pitchFamily="34" charset="-122"/>
              <a:ea typeface="微软雅黑" panose="020B0503020204020204" pitchFamily="34" charset="-122"/>
            </a:endParaRPr>
          </a:p>
          <a:p>
            <a:pPr lvl="2"/>
            <a:r>
              <a:rPr lang="zh-CN" altLang="en-US" dirty="0"/>
              <a:t>也称逻辑模式，是数据库中全体数据的逻辑结构和特征的描述，是所有用户的公共数据视图，属于逻辑层抽象（</a:t>
            </a:r>
            <a:r>
              <a:rPr lang="en-US" altLang="zh-CN" dirty="0"/>
              <a:t>Logical  Level</a:t>
            </a:r>
            <a:r>
              <a:rPr lang="zh-CN" altLang="en-US" dirty="0"/>
              <a:t>）</a:t>
            </a:r>
            <a:endParaRPr lang="zh-CN" altLang="en-US" dirty="0"/>
          </a:p>
          <a:p>
            <a:pPr lvl="2"/>
            <a:r>
              <a:rPr lang="zh-CN" altLang="en-US" dirty="0"/>
              <a:t>不涉及数据的物理存储细节和硬件环境，也与具体的应用程序无关</a:t>
            </a:r>
            <a:endParaRPr lang="zh-CN" altLang="en-US" dirty="0"/>
          </a:p>
          <a:p>
            <a:pPr lvl="2"/>
            <a:r>
              <a:rPr lang="zh-CN" altLang="en-US" dirty="0"/>
              <a:t>一个数据库只有一个模式</a:t>
            </a:r>
            <a:endParaRPr lang="zh-CN" altLang="en-US" dirty="0"/>
          </a:p>
          <a:p>
            <a:pPr lvl="2"/>
            <a:r>
              <a:rPr lang="zh-CN" altLang="en-US" dirty="0"/>
              <a:t>定义模式时不仅要逻辑结构，还要定义数据间联系，以及安全性、完整性要求</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en-US" altLang="zh-CN" sz="2800" dirty="0">
              <a:latin typeface="微软雅黑" panose="020B0503020204020204" pitchFamily="34" charset="-122"/>
              <a:ea typeface="微软雅黑" panose="020B0503020204020204" pitchFamily="34" charset="-122"/>
            </a:endParaRPr>
          </a:p>
          <a:p>
            <a:pPr lvl="1"/>
            <a:r>
              <a:rPr lang="zh-CN" altLang="en-US" sz="2400" dirty="0">
                <a:solidFill>
                  <a:schemeClr val="accent2">
                    <a:lumMod val="75000"/>
                  </a:schemeClr>
                </a:solidFill>
                <a:latin typeface="微软雅黑" panose="020B0503020204020204" pitchFamily="34" charset="-122"/>
                <a:ea typeface="微软雅黑" panose="020B0503020204020204" pitchFamily="34" charset="-122"/>
              </a:rPr>
              <a:t>外模式</a:t>
            </a:r>
            <a:r>
              <a:rPr lang="en-US" altLang="zh-CN" sz="2400" dirty="0">
                <a:latin typeface="微软雅黑" panose="020B0503020204020204" pitchFamily="34" charset="-122"/>
                <a:ea typeface="微软雅黑" panose="020B0503020204020204" pitchFamily="34" charset="-122"/>
              </a:rPr>
              <a:t>(Sub-Schema)</a:t>
            </a:r>
            <a:endParaRPr lang="en-US" altLang="zh-CN" sz="2400"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也称子模式（</a:t>
            </a:r>
            <a:r>
              <a:rPr lang="en-US" altLang="zh-CN" dirty="0">
                <a:latin typeface="微软雅黑" panose="020B0503020204020204" pitchFamily="34" charset="-122"/>
                <a:ea typeface="微软雅黑" panose="020B0503020204020204" pitchFamily="34" charset="-122"/>
              </a:rPr>
              <a:t>Subschema</a:t>
            </a:r>
            <a:r>
              <a:rPr lang="zh-CN" altLang="en-US" dirty="0">
                <a:latin typeface="微软雅黑" panose="020B0503020204020204" pitchFamily="34" charset="-122"/>
                <a:ea typeface="微软雅黑" panose="020B0503020204020204" pitchFamily="34" charset="-122"/>
              </a:rPr>
              <a:t>）或用户模式，属于视图层抽象（</a:t>
            </a:r>
            <a:r>
              <a:rPr lang="en-US" altLang="zh-CN" dirty="0">
                <a:latin typeface="微软雅黑" panose="020B0503020204020204" pitchFamily="34" charset="-122"/>
                <a:ea typeface="微软雅黑" panose="020B0503020204020204" pitchFamily="34" charset="-122"/>
              </a:rPr>
              <a:t>View  Level</a:t>
            </a:r>
            <a:r>
              <a:rPr lang="zh-CN" altLang="en-US" dirty="0">
                <a:latin typeface="微软雅黑" panose="020B0503020204020204" pitchFamily="34" charset="-122"/>
                <a:ea typeface="微软雅黑" panose="020B0503020204020204" pitchFamily="34" charset="-122"/>
              </a:rPr>
              <a:t>），它是数据库用户能够看见和使用的局部数据的逻辑结构和特征的描述</a:t>
            </a:r>
            <a:endParaRPr lang="zh-CN" altLang="en-US"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是与某一应用有关的数据逻辑表示，通常是模式的子集，一个数据库可以有多个外模式</a:t>
            </a:r>
            <a:endParaRPr lang="zh-CN" altLang="en-US"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根据应用需求、看待数据方式、数据保密要求等方面存在差异，外模式描述就是不同的</a:t>
            </a:r>
            <a:endParaRPr lang="zh-CN" altLang="en-US" dirty="0">
              <a:latin typeface="微软雅黑" panose="020B0503020204020204" pitchFamily="34" charset="-122"/>
              <a:ea typeface="微软雅黑" panose="020B0503020204020204" pitchFamily="34" charset="-122"/>
            </a:endParaRPr>
          </a:p>
          <a:p>
            <a:pPr lvl="2"/>
            <a:endParaRPr lang="en-US" altLang="zh-CN" dirty="0">
              <a:latin typeface="微软雅黑" panose="020B0503020204020204" pitchFamily="34" charset="-122"/>
              <a:ea typeface="微软雅黑" panose="020B0503020204020204" pitchFamily="34" charset="-122"/>
            </a:endParaRPr>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en-US" altLang="zh-CN" sz="2800" dirty="0">
              <a:latin typeface="微软雅黑" panose="020B0503020204020204" pitchFamily="34" charset="-122"/>
              <a:ea typeface="微软雅黑" panose="020B0503020204020204" pitchFamily="34" charset="-122"/>
            </a:endParaRPr>
          </a:p>
          <a:p>
            <a:pPr lvl="1"/>
            <a:r>
              <a:rPr lang="zh-CN" altLang="en-US" dirty="0">
                <a:solidFill>
                  <a:schemeClr val="accent2">
                    <a:lumMod val="75000"/>
                  </a:schemeClr>
                </a:solidFill>
                <a:latin typeface="微软雅黑" panose="020B0503020204020204" pitchFamily="34" charset="-122"/>
                <a:ea typeface="微软雅黑" panose="020B0503020204020204" pitchFamily="34" charset="-122"/>
              </a:rPr>
              <a:t>内模式</a:t>
            </a:r>
            <a:r>
              <a:rPr lang="en-US" altLang="zh-CN" dirty="0">
                <a:latin typeface="微软雅黑" panose="020B0503020204020204" pitchFamily="34" charset="-122"/>
                <a:ea typeface="微软雅黑" panose="020B0503020204020204" pitchFamily="34" charset="-122"/>
              </a:rPr>
              <a:t>(Storage Schema)</a:t>
            </a:r>
            <a:endParaRPr lang="en-US" altLang="zh-CN" dirty="0">
              <a:latin typeface="微软雅黑" panose="020B0503020204020204" pitchFamily="34" charset="-122"/>
              <a:ea typeface="微软雅黑" panose="020B0503020204020204" pitchFamily="34" charset="-122"/>
            </a:endParaRPr>
          </a:p>
          <a:p>
            <a:pPr lvl="2"/>
            <a:r>
              <a:rPr lang="zh-CN" altLang="en-US" dirty="0"/>
              <a:t>也称存储模式（</a:t>
            </a:r>
            <a:r>
              <a:rPr lang="en-US" altLang="zh-CN" dirty="0"/>
              <a:t>Storage Schema</a:t>
            </a:r>
            <a:r>
              <a:rPr lang="zh-CN" altLang="en-US" dirty="0"/>
              <a:t>），属于物理层抽象（</a:t>
            </a:r>
            <a:r>
              <a:rPr lang="en-US" altLang="zh-CN" dirty="0"/>
              <a:t>Physical Level</a:t>
            </a:r>
            <a:r>
              <a:rPr lang="zh-CN" altLang="en-US" dirty="0"/>
              <a:t>）。</a:t>
            </a:r>
            <a:endParaRPr lang="zh-CN" altLang="en-US" dirty="0"/>
          </a:p>
          <a:p>
            <a:pPr lvl="2"/>
            <a:r>
              <a:rPr lang="zh-CN" altLang="en-US" dirty="0"/>
              <a:t>一个数据库只有一个内模式。它是数据物理结构和存储方式的描述，是数据在数据库内部的表示方式</a:t>
            </a:r>
            <a:endParaRPr lang="zh-CN" altLang="en-US" dirty="0"/>
          </a:p>
          <a:p>
            <a:pPr lvl="2"/>
            <a:r>
              <a:rPr lang="zh-CN" altLang="en-US" dirty="0"/>
              <a:t>例如，记录的存储方式是顺序存储、按照</a:t>
            </a:r>
            <a:r>
              <a:rPr lang="en-US" altLang="zh-CN" dirty="0"/>
              <a:t>B</a:t>
            </a:r>
            <a:r>
              <a:rPr lang="zh-CN" altLang="en-US" dirty="0"/>
              <a:t>树结构存储还是按</a:t>
            </a:r>
            <a:r>
              <a:rPr lang="en-US" altLang="zh-CN" dirty="0"/>
              <a:t>hash</a:t>
            </a:r>
            <a:r>
              <a:rPr lang="zh-CN" altLang="en-US" dirty="0"/>
              <a:t>方法存储；索引按照什么方式组织；数据是否压缩存储，是否加密；数据的存储记录结构有何规定等</a:t>
            </a:r>
            <a:endParaRPr lang="zh-CN" altLang="en-US" dirty="0"/>
          </a:p>
          <a:p>
            <a:pPr lvl="2"/>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en-US" altLang="zh-CN" sz="2800" dirty="0">
              <a:latin typeface="微软雅黑" panose="020B0503020204020204" pitchFamily="34" charset="-122"/>
              <a:ea typeface="微软雅黑" panose="020B0503020204020204" pitchFamily="34" charset="-122"/>
            </a:endParaRPr>
          </a:p>
          <a:p>
            <a:pPr lvl="1"/>
            <a:r>
              <a:rPr lang="zh-CN" altLang="en-US" dirty="0"/>
              <a:t>数据库系统在三级模式之间提供了两层映象：</a:t>
            </a:r>
            <a:endParaRPr lang="en-US" altLang="zh-CN" dirty="0"/>
          </a:p>
          <a:p>
            <a:pPr lvl="2"/>
            <a:r>
              <a:rPr lang="zh-CN" altLang="en-US" dirty="0">
                <a:solidFill>
                  <a:schemeClr val="accent2">
                    <a:lumMod val="75000"/>
                  </a:schemeClr>
                </a:solidFill>
                <a:latin typeface="微软雅黑" panose="020B0503020204020204" pitchFamily="34" charset="-122"/>
                <a:ea typeface="微软雅黑" panose="020B0503020204020204" pitchFamily="34" charset="-122"/>
              </a:rPr>
              <a:t>外模式／模式</a:t>
            </a:r>
            <a:r>
              <a:rPr lang="zh-CN" altLang="en-US" dirty="0">
                <a:latin typeface="微软雅黑" panose="020B0503020204020204" pitchFamily="34" charset="-122"/>
                <a:ea typeface="微软雅黑" panose="020B0503020204020204" pitchFamily="34" charset="-122"/>
              </a:rPr>
              <a:t>映象</a:t>
            </a:r>
            <a:endParaRPr lang="zh-CN" altLang="en-US" dirty="0">
              <a:latin typeface="微软雅黑" panose="020B0503020204020204" pitchFamily="34" charset="-122"/>
              <a:ea typeface="微软雅黑" panose="020B0503020204020204" pitchFamily="34" charset="-122"/>
            </a:endParaRPr>
          </a:p>
          <a:p>
            <a:pPr lvl="2"/>
            <a:r>
              <a:rPr lang="zh-CN" altLang="en-US" dirty="0">
                <a:solidFill>
                  <a:schemeClr val="accent1">
                    <a:lumMod val="75000"/>
                  </a:schemeClr>
                </a:solidFill>
              </a:rPr>
              <a:t>模式／内模式</a:t>
            </a:r>
            <a:r>
              <a:rPr lang="zh-CN" altLang="en-US" dirty="0"/>
              <a:t>映象</a:t>
            </a:r>
            <a:endParaRPr lang="en-US" altLang="zh-CN" dirty="0"/>
          </a:p>
          <a:p>
            <a:pPr marL="914400" lvl="2" indent="0">
              <a:buNone/>
            </a:pPr>
            <a:endParaRPr lang="zh-CN" altLang="en-US" dirty="0"/>
          </a:p>
          <a:p>
            <a:pPr lvl="1"/>
            <a:r>
              <a:rPr lang="zh-CN" altLang="en-US" dirty="0">
                <a:latin typeface="微软雅黑" panose="020B0503020204020204" pitchFamily="34" charset="-122"/>
                <a:ea typeface="微软雅黑" panose="020B0503020204020204" pitchFamily="34" charset="-122"/>
              </a:rPr>
              <a:t>正是这两层映象保证了数据库系统中的数据能够具有较高的</a:t>
            </a:r>
            <a:r>
              <a:rPr lang="zh-CN" altLang="en-US" dirty="0">
                <a:solidFill>
                  <a:schemeClr val="accent2">
                    <a:lumMod val="75000"/>
                  </a:schemeClr>
                </a:solidFill>
                <a:latin typeface="微软雅黑" panose="020B0503020204020204" pitchFamily="34" charset="-122"/>
                <a:ea typeface="微软雅黑" panose="020B0503020204020204" pitchFamily="34" charset="-122"/>
              </a:rPr>
              <a:t>逻辑独立性</a:t>
            </a:r>
            <a:r>
              <a:rPr lang="zh-CN" altLang="en-US" dirty="0">
                <a:latin typeface="微软雅黑" panose="020B0503020204020204" pitchFamily="34" charset="-122"/>
                <a:ea typeface="微软雅黑" panose="020B0503020204020204" pitchFamily="34" charset="-122"/>
              </a:rPr>
              <a:t>和</a:t>
            </a:r>
            <a:r>
              <a:rPr lang="zh-CN" altLang="en-US" dirty="0">
                <a:solidFill>
                  <a:schemeClr val="accent1">
                    <a:lumMod val="75000"/>
                  </a:schemeClr>
                </a:solidFill>
                <a:latin typeface="微软雅黑" panose="020B0503020204020204" pitchFamily="34" charset="-122"/>
                <a:ea typeface="微软雅黑" panose="020B0503020204020204" pitchFamily="34" charset="-122"/>
              </a:rPr>
              <a:t>物理独立性</a:t>
            </a:r>
            <a:endParaRPr lang="en-US" altLang="zh-CN" dirty="0">
              <a:solidFill>
                <a:schemeClr val="accent1">
                  <a:lumMod val="75000"/>
                </a:schemeClr>
              </a:solidFill>
              <a:latin typeface="微软雅黑" panose="020B0503020204020204" pitchFamily="34" charset="-122"/>
              <a:ea typeface="微软雅黑" panose="020B0503020204020204" pitchFamily="34" charset="-122"/>
            </a:endParaRPr>
          </a:p>
          <a:p>
            <a:pPr lvl="1"/>
            <a:endParaRPr lang="zh-CN" altLang="en-US" dirty="0">
              <a:solidFill>
                <a:schemeClr val="accent1">
                  <a:lumMod val="75000"/>
                </a:schemeClr>
              </a:solidFill>
            </a:endParaRPr>
          </a:p>
          <a:p>
            <a:pPr lvl="1"/>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sz="2800" dirty="0">
                <a:latin typeface="微软雅黑" panose="020B0503020204020204" pitchFamily="34" charset="-122"/>
                <a:ea typeface="微软雅黑" panose="020B0503020204020204" pitchFamily="34" charset="-122"/>
              </a:rPr>
              <a:t>三级模式结构</a:t>
            </a:r>
            <a:endParaRPr lang="en-US" altLang="zh-CN" sz="2800" dirty="0">
              <a:latin typeface="微软雅黑" panose="020B0503020204020204" pitchFamily="34" charset="-122"/>
              <a:ea typeface="微软雅黑" panose="020B0503020204020204" pitchFamily="34" charset="-122"/>
            </a:endParaRPr>
          </a:p>
          <a:p>
            <a:pPr lvl="1"/>
            <a:r>
              <a:rPr lang="zh-CN" altLang="en-US" dirty="0"/>
              <a:t>外模式</a:t>
            </a:r>
            <a:r>
              <a:rPr lang="en-US" altLang="zh-CN" dirty="0"/>
              <a:t>/</a:t>
            </a:r>
            <a:r>
              <a:rPr lang="zh-CN" altLang="en-US" dirty="0"/>
              <a:t>模式映象</a:t>
            </a:r>
            <a:endParaRPr lang="en-US" altLang="zh-CN" dirty="0"/>
          </a:p>
          <a:p>
            <a:pPr lvl="2"/>
            <a:r>
              <a:rPr lang="zh-CN" altLang="en-US" dirty="0">
                <a:latin typeface="微软雅黑" panose="020B0503020204020204" pitchFamily="34" charset="-122"/>
                <a:ea typeface="微软雅黑" panose="020B0503020204020204" pitchFamily="34" charset="-122"/>
              </a:rPr>
              <a:t>对于每一个外模式，数据库系统都有一个外模式／模式映象</a:t>
            </a:r>
            <a:endParaRPr lang="zh-CN" altLang="en-US" dirty="0">
              <a:latin typeface="微软雅黑" panose="020B0503020204020204" pitchFamily="34" charset="-122"/>
              <a:ea typeface="微软雅黑" panose="020B0503020204020204" pitchFamily="34" charset="-122"/>
            </a:endParaRPr>
          </a:p>
          <a:p>
            <a:pPr lvl="2"/>
            <a:r>
              <a:rPr lang="zh-CN" altLang="en-US" dirty="0">
                <a:latin typeface="微软雅黑" panose="020B0503020204020204" pitchFamily="34" charset="-122"/>
                <a:ea typeface="微软雅黑" panose="020B0503020204020204" pitchFamily="34" charset="-122"/>
              </a:rPr>
              <a:t>当模式改变时，对各个外模式／模式的映象作相应改变，可以使外模式保持不变，应用程序不必修改，保证了数据与程序的逻辑独立性，简称数据的</a:t>
            </a:r>
            <a:r>
              <a:rPr lang="zh-CN" altLang="en-US" u="sng" dirty="0">
                <a:solidFill>
                  <a:schemeClr val="accent2">
                    <a:lumMod val="75000"/>
                  </a:schemeClr>
                </a:solidFill>
                <a:latin typeface="微软雅黑" panose="020B0503020204020204" pitchFamily="34" charset="-122"/>
                <a:ea typeface="微软雅黑" panose="020B0503020204020204" pitchFamily="34" charset="-122"/>
              </a:rPr>
              <a:t>逻辑独立性</a:t>
            </a:r>
            <a:endParaRPr lang="zh-CN" altLang="en-US" u="sng" dirty="0">
              <a:solidFill>
                <a:schemeClr val="accent2">
                  <a:lumMod val="75000"/>
                </a:schemeClr>
              </a:solidFill>
              <a:latin typeface="微软雅黑" panose="020B0503020204020204" pitchFamily="34" charset="-122"/>
              <a:ea typeface="微软雅黑" panose="020B0503020204020204" pitchFamily="34" charset="-122"/>
            </a:endParaRPr>
          </a:p>
          <a:p>
            <a:pPr lvl="2"/>
            <a:endParaRPr lang="zh-CN" altLang="en-US" dirty="0"/>
          </a:p>
          <a:p>
            <a:pPr lvl="1"/>
            <a:r>
              <a:rPr lang="zh-CN" altLang="en-US" dirty="0"/>
              <a:t>模式</a:t>
            </a:r>
            <a:r>
              <a:rPr lang="en-US" altLang="zh-CN" dirty="0"/>
              <a:t>/</a:t>
            </a:r>
            <a:r>
              <a:rPr lang="zh-CN" altLang="en-US" dirty="0"/>
              <a:t>内模式映象</a:t>
            </a:r>
            <a:endParaRPr lang="zh-CN" altLang="en-US" dirty="0"/>
          </a:p>
          <a:p>
            <a:pPr lvl="2"/>
            <a:r>
              <a:rPr lang="zh-CN" altLang="en-US" dirty="0"/>
              <a:t>定义数据逻辑结构与存储结构之间的对应关系</a:t>
            </a:r>
            <a:endParaRPr lang="zh-CN" altLang="en-US" dirty="0"/>
          </a:p>
          <a:p>
            <a:pPr lvl="2"/>
            <a:r>
              <a:rPr lang="zh-CN" altLang="en-US" dirty="0"/>
              <a:t>存储结构改变时，修改模式</a:t>
            </a:r>
            <a:r>
              <a:rPr lang="en-US" altLang="zh-CN" dirty="0"/>
              <a:t>/</a:t>
            </a:r>
            <a:r>
              <a:rPr lang="zh-CN" altLang="en-US" dirty="0"/>
              <a:t>内模式映象，使模式保持不变，应用程序保持不变，称为数据的</a:t>
            </a:r>
            <a:r>
              <a:rPr lang="zh-CN" altLang="en-US" u="sng" dirty="0">
                <a:solidFill>
                  <a:schemeClr val="accent1">
                    <a:lumMod val="75000"/>
                  </a:schemeClr>
                </a:solidFill>
              </a:rPr>
              <a:t>物理独立性</a:t>
            </a:r>
            <a:endParaRPr lang="zh-CN" altLang="en-US" u="sng" dirty="0">
              <a:solidFill>
                <a:schemeClr val="accent1">
                  <a:lumMod val="75000"/>
                </a:schemeClr>
              </a:solidFill>
            </a:endParaRPr>
          </a:p>
          <a:p>
            <a:pPr lvl="2"/>
            <a:endParaRPr lang="zh-CN" altLang="en-US" dirty="0"/>
          </a:p>
        </p:txBody>
      </p:sp>
      <p:sp>
        <p:nvSpPr>
          <p:cNvPr id="5" name="标题 4"/>
          <p:cNvSpPr>
            <a:spLocks noGrp="1"/>
          </p:cNvSpPr>
          <p:nvPr>
            <p:ph type="title"/>
          </p:nvPr>
        </p:nvSpPr>
        <p:spPr/>
        <p:txBody>
          <a:bodyPr/>
          <a:lstStyle/>
          <a:p>
            <a:r>
              <a:rPr kumimoji="1" lang="en-US" altLang="zh-CN" dirty="0"/>
              <a:t>1.4 </a:t>
            </a:r>
            <a:r>
              <a:rPr kumimoji="1" lang="zh-CN" altLang="en-US" dirty="0"/>
              <a:t>数据模型与数据库模式</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a:bodyPr>
          <a:lstStyle/>
          <a:p>
            <a:r>
              <a:rPr lang="en-US" altLang="zh-CN" b="0" dirty="0"/>
              <a:t>1970-1990</a:t>
            </a:r>
            <a:r>
              <a:rPr lang="zh-CN" altLang="en-US" b="0" dirty="0"/>
              <a:t>：启蒙阶段</a:t>
            </a:r>
            <a:r>
              <a:rPr lang="en-US" altLang="zh-CN" b="0" dirty="0"/>
              <a:t>——</a:t>
            </a:r>
            <a:r>
              <a:rPr lang="zh-CN" altLang="en-US" b="0" dirty="0"/>
              <a:t>主要是高校以及科研机构对数据库进行理论研究和原型探索。</a:t>
            </a:r>
            <a:endParaRPr lang="zh-CN" altLang="en-US" b="0" dirty="0"/>
          </a:p>
          <a:p>
            <a:r>
              <a:rPr lang="en-US" altLang="zh-CN" b="0" dirty="0"/>
              <a:t>1990-2000</a:t>
            </a:r>
            <a:r>
              <a:rPr lang="zh-CN" altLang="en-US" b="0" dirty="0"/>
              <a:t>：研究转化阶段</a:t>
            </a:r>
            <a:r>
              <a:rPr lang="en-US" altLang="zh-CN" b="0" dirty="0"/>
              <a:t>——</a:t>
            </a:r>
            <a:r>
              <a:rPr lang="zh-CN" altLang="en-US" b="0" dirty="0"/>
              <a:t>主要是高校以及研究机构进行原型研究以及产品研发；作为新进入者，数据库产品不能和</a:t>
            </a:r>
            <a:r>
              <a:rPr lang="en-US" altLang="zh-CN" b="0" dirty="0"/>
              <a:t>Oracle</a:t>
            </a:r>
            <a:r>
              <a:rPr lang="zh-CN" altLang="en-US" b="0" dirty="0"/>
              <a:t>等国际厂商抗衡</a:t>
            </a:r>
            <a:endParaRPr lang="zh-CN" altLang="en-US" b="0" dirty="0"/>
          </a:p>
          <a:p>
            <a:r>
              <a:rPr lang="en-US" altLang="zh-CN" b="0" dirty="0"/>
              <a:t>2000-2014</a:t>
            </a:r>
            <a:r>
              <a:rPr lang="zh-CN" altLang="en-US" b="0" dirty="0"/>
              <a:t>：产学研推广期</a:t>
            </a:r>
            <a:r>
              <a:rPr lang="en-US" altLang="zh-CN" b="0" dirty="0"/>
              <a:t>——</a:t>
            </a:r>
            <a:r>
              <a:rPr lang="zh-CN" altLang="en-US" b="0" dirty="0"/>
              <a:t>传统数据库行业受到互联网时代的重启，垄断市场受到挑战；国内催生了例如达梦、人大金仓、南大通用等高校背景的国产数据库厂商</a:t>
            </a:r>
            <a:endParaRPr lang="zh-CN" altLang="en-US" b="0" dirty="0"/>
          </a:p>
          <a:p>
            <a:r>
              <a:rPr lang="en-US" altLang="zh-CN" b="0" dirty="0"/>
              <a:t>2014-</a:t>
            </a:r>
            <a:r>
              <a:rPr lang="zh-CN" altLang="en-US" b="0" dirty="0"/>
              <a:t>至今：国产崛起阶段</a:t>
            </a:r>
            <a:r>
              <a:rPr lang="en-US" altLang="zh-CN" b="0" dirty="0"/>
              <a:t>——</a:t>
            </a:r>
            <a:r>
              <a:rPr lang="zh-CN" altLang="en-US" b="0" dirty="0"/>
              <a:t>国内随着华为、阿里巴巴等云提供商的崛起，互联网巨头数据库引领分布式数据库的发展和创新</a:t>
            </a:r>
            <a:endParaRPr lang="zh-CN" altLang="en-US" b="0" dirty="0"/>
          </a:p>
          <a:p>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2800" b="1" dirty="0"/>
              <a:t>国产数据库的流派</a:t>
            </a:r>
            <a:endParaRPr lang="en-US" altLang="zh-CN" sz="2800" b="1" dirty="0"/>
          </a:p>
          <a:p>
            <a:endParaRPr lang="en-US" altLang="zh-CN" dirty="0"/>
          </a:p>
          <a:p>
            <a:endParaRPr lang="en-US" altLang="zh-CN" dirty="0"/>
          </a:p>
          <a:p>
            <a:endParaRPr lang="en-US" altLang="zh-CN" dirty="0"/>
          </a:p>
          <a:p>
            <a:endParaRPr lang="en-US" altLang="zh-CN" dirty="0"/>
          </a:p>
          <a:p>
            <a:r>
              <a:rPr lang="zh-CN" altLang="en-US" sz="2800" b="1" kern="0" dirty="0">
                <a:latin typeface="+mn-lt"/>
                <a:ea typeface="+mn-ea"/>
              </a:rPr>
              <a:t>国产数据库业务特征分类</a:t>
            </a:r>
            <a:endParaRPr lang="zh-CN" altLang="en-US" sz="2800" b="1" kern="0" dirty="0">
              <a:latin typeface="+mn-lt"/>
              <a:ea typeface="+mn-ea"/>
            </a:endParaRPr>
          </a:p>
          <a:p>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pic>
        <p:nvPicPr>
          <p:cNvPr id="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16710" y="1686116"/>
            <a:ext cx="5857875"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6556" y="5253037"/>
            <a:ext cx="50387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800" b="1" dirty="0" err="1"/>
              <a:t>GaussDB</a:t>
            </a:r>
            <a:r>
              <a:rPr lang="zh-CN" altLang="en-US" sz="2800" b="1" dirty="0"/>
              <a:t>数据库</a:t>
            </a:r>
            <a:endParaRPr lang="en-US" altLang="zh-CN" sz="2800" b="1" dirty="0"/>
          </a:p>
          <a:p>
            <a:pPr lvl="1"/>
            <a:r>
              <a:rPr lang="en-US" altLang="zh-CN" dirty="0" err="1"/>
              <a:t>GaussDB</a:t>
            </a:r>
            <a:r>
              <a:rPr lang="zh-CN" altLang="en-US" dirty="0"/>
              <a:t>是华为自研数据库品牌，是华为基于外部电信与金融政企经验、华为内部流程</a:t>
            </a:r>
            <a:r>
              <a:rPr lang="en-US" altLang="zh-CN" dirty="0"/>
              <a:t>IT</a:t>
            </a:r>
            <a:r>
              <a:rPr lang="zh-CN" altLang="en-US" dirty="0"/>
              <a:t>与云底座深耕</a:t>
            </a:r>
            <a:r>
              <a:rPr lang="en-US" altLang="zh-CN" dirty="0"/>
              <a:t>10</a:t>
            </a:r>
            <a:r>
              <a:rPr lang="zh-CN" altLang="en-US" dirty="0"/>
              <a:t>年以上的数据库内核研发优化能力，从客户对高可用、高性能、安全可靠等诉求出发，结合云的技术倾力打造的企业级分布式数据库。</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pic>
        <p:nvPicPr>
          <p:cNvPr id="6" name="图片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6195" y="3270250"/>
            <a:ext cx="9144000" cy="345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800" b="1" dirty="0" err="1"/>
              <a:t>openGauss</a:t>
            </a:r>
            <a:r>
              <a:rPr lang="zh-CN" altLang="en-US" sz="2800" b="1" dirty="0"/>
              <a:t>数据库</a:t>
            </a:r>
            <a:endParaRPr lang="en-US" altLang="zh-CN" sz="2800" b="1" dirty="0"/>
          </a:p>
          <a:p>
            <a:pPr lvl="1"/>
            <a:r>
              <a:rPr lang="en-US" altLang="zh-CN" dirty="0" err="1"/>
              <a:t>openGauss</a:t>
            </a:r>
            <a:r>
              <a:rPr lang="zh-CN" altLang="en-US" dirty="0"/>
              <a:t>是关系型数据库，采用客户端</a:t>
            </a:r>
            <a:r>
              <a:rPr lang="en-US" altLang="zh-CN" dirty="0"/>
              <a:t>/</a:t>
            </a:r>
            <a:r>
              <a:rPr lang="zh-CN" altLang="en-US" dirty="0"/>
              <a:t>服务器，单进程多线程架构，支持单机和一主多备部署方式，备机可读，支持双机高可用和读扩展。</a:t>
            </a:r>
            <a:endParaRPr lang="zh-CN" altLang="en-US" dirty="0"/>
          </a:p>
          <a:p>
            <a:pPr lvl="1"/>
            <a:r>
              <a:rPr lang="zh-CN" altLang="en-US" dirty="0"/>
              <a:t>产品特点</a:t>
            </a:r>
            <a:endParaRPr lang="en-US" altLang="zh-CN" dirty="0"/>
          </a:p>
          <a:p>
            <a:pPr lvl="2"/>
            <a:r>
              <a:rPr lang="en-US" altLang="zh-CN" dirty="0" err="1"/>
              <a:t>openGauss</a:t>
            </a:r>
            <a:r>
              <a:rPr lang="zh-CN" altLang="en-US" dirty="0"/>
              <a:t>相比其他开源数据库主要有复合应用场景、高性能和高可用等产品特点。</a:t>
            </a:r>
            <a:endParaRPr lang="en-US" altLang="zh-CN" dirty="0"/>
          </a:p>
          <a:p>
            <a:pPr lvl="1"/>
            <a:r>
              <a:rPr lang="zh-CN" altLang="en-US" dirty="0"/>
              <a:t>软件架构</a:t>
            </a:r>
            <a:endParaRPr lang="en-US" altLang="zh-CN" dirty="0"/>
          </a:p>
          <a:p>
            <a:pPr lvl="2"/>
            <a:r>
              <a:rPr lang="en-US" altLang="zh-CN" dirty="0" err="1"/>
              <a:t>openGauss</a:t>
            </a:r>
            <a:r>
              <a:rPr lang="zh-CN" altLang="en-US" dirty="0"/>
              <a:t>主要包含了</a:t>
            </a:r>
            <a:r>
              <a:rPr lang="en-US" altLang="zh-CN" dirty="0" err="1"/>
              <a:t>openGauss</a:t>
            </a:r>
            <a:r>
              <a:rPr lang="zh-CN" altLang="en-US" dirty="0"/>
              <a:t>服务器，客户端驱动，</a:t>
            </a:r>
            <a:r>
              <a:rPr lang="en-US" altLang="zh-CN" dirty="0"/>
              <a:t>OM</a:t>
            </a:r>
            <a:r>
              <a:rPr lang="zh-CN" altLang="en-US" dirty="0"/>
              <a:t>等模块，本章将介绍这些模块之间的相互关系。</a:t>
            </a:r>
            <a:endParaRPr lang="en-US" altLang="zh-CN" dirty="0"/>
          </a:p>
          <a:p>
            <a:pPr lvl="1"/>
            <a:r>
              <a:rPr lang="zh-CN" altLang="en-US" dirty="0"/>
              <a:t>典型组网</a:t>
            </a:r>
            <a:endParaRPr lang="en-US" altLang="zh-CN" dirty="0"/>
          </a:p>
          <a:p>
            <a:pPr lvl="2"/>
            <a:r>
              <a:rPr lang="zh-CN" altLang="en-US" dirty="0"/>
              <a:t>为了保证整个应用数据的安全性，建议将</a:t>
            </a:r>
            <a:r>
              <a:rPr lang="en-US" altLang="zh-CN" dirty="0" err="1"/>
              <a:t>openGauss</a:t>
            </a:r>
            <a:r>
              <a:rPr lang="zh-CN" altLang="en-US" dirty="0"/>
              <a:t>的典型组网划分为两个独立网络：前端业务网络和数据管理存储网络。</a:t>
            </a:r>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800" b="1" dirty="0" err="1"/>
              <a:t>openGauss</a:t>
            </a:r>
            <a:r>
              <a:rPr lang="zh-CN" altLang="en-US" sz="2800" b="1" dirty="0"/>
              <a:t>数据库</a:t>
            </a:r>
            <a:endParaRPr lang="en-US" altLang="zh-CN" sz="2800" b="1" dirty="0"/>
          </a:p>
          <a:p>
            <a:pPr lvl="1"/>
            <a:r>
              <a:rPr lang="en-US" altLang="zh-CN" dirty="0" err="1"/>
              <a:t>openGauss</a:t>
            </a:r>
            <a:r>
              <a:rPr lang="zh-CN" altLang="en-US" dirty="0"/>
              <a:t>相比其他开源数据库主要有复合应用场景、高性能和高可用等产品特点。</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graphicFrame>
        <p:nvGraphicFramePr>
          <p:cNvPr id="6" name="图示 5"/>
          <p:cNvGraphicFramePr/>
          <p:nvPr/>
        </p:nvGraphicFramePr>
        <p:xfrm>
          <a:off x="2065088" y="2579886"/>
          <a:ext cx="8425107" cy="37764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800" b="1" dirty="0" err="1"/>
              <a:t>openGauss</a:t>
            </a:r>
            <a:r>
              <a:rPr lang="zh-CN" altLang="en-US" sz="2800" b="1" dirty="0"/>
              <a:t>数据库</a:t>
            </a:r>
            <a:endParaRPr lang="en-US" altLang="zh-CN" sz="2800" b="1" dirty="0"/>
          </a:p>
          <a:p>
            <a:pPr lvl="1"/>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pic>
        <p:nvPicPr>
          <p:cNvPr id="6" name="图片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1708" y="1739667"/>
            <a:ext cx="9144000" cy="488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800" b="1" dirty="0" err="1"/>
              <a:t>openGauss</a:t>
            </a:r>
            <a:r>
              <a:rPr lang="zh-CN" altLang="en-US" sz="2800" b="1" dirty="0"/>
              <a:t>数据库</a:t>
            </a:r>
            <a:endParaRPr lang="en-US" altLang="zh-CN" sz="2800" b="1" dirty="0"/>
          </a:p>
          <a:p>
            <a:pPr lvl="1"/>
            <a:r>
              <a:rPr lang="zh-CN" altLang="en-US" sz="2400" dirty="0">
                <a:solidFill>
                  <a:srgbClr val="000000"/>
                </a:solidFill>
                <a:latin typeface="Huawei Sans" panose="020C0503030203020204"/>
                <a:ea typeface="方正兰亭黑简体" panose="02000000000000000000"/>
                <a:cs typeface="方正兰亭黑简体" panose="02000000000000000000"/>
                <a:sym typeface="Huawei Sans" panose="020C0503030203020204"/>
              </a:rPr>
              <a:t>应用场景</a:t>
            </a:r>
            <a:endParaRPr lang="zh-CN" altLang="en-US" sz="2400" dirty="0">
              <a:solidFill>
                <a:srgbClr val="000000"/>
              </a:solidFill>
              <a:latin typeface="Huawei Sans" panose="020C0503030203020204"/>
              <a:ea typeface="方正兰亭黑简体" panose="02000000000000000000"/>
              <a:cs typeface="方正兰亭黑简体" panose="02000000000000000000"/>
              <a:sym typeface="Huawei Sans" panose="020C0503030203020204"/>
            </a:endParaRPr>
          </a:p>
          <a:p>
            <a:pPr lvl="1"/>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pic>
        <p:nvPicPr>
          <p:cNvPr id="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51708" y="2193692"/>
            <a:ext cx="9144000" cy="443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800" b="1" dirty="0" err="1"/>
              <a:t>openGauss</a:t>
            </a:r>
            <a:r>
              <a:rPr lang="zh-CN" altLang="en-US" sz="2800" b="1" dirty="0"/>
              <a:t>数据库</a:t>
            </a:r>
            <a:endParaRPr lang="en-US" altLang="zh-CN" sz="2800" b="1" dirty="0"/>
          </a:p>
          <a:p>
            <a:pPr lvl="1"/>
            <a:r>
              <a:rPr lang="zh-CN" altLang="en-US" dirty="0"/>
              <a:t>技术指标</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graphicFrame>
        <p:nvGraphicFramePr>
          <p:cNvPr id="6" name="表格 5"/>
          <p:cNvGraphicFramePr>
            <a:graphicFrameLocks noGrp="1"/>
          </p:cNvGraphicFramePr>
          <p:nvPr/>
        </p:nvGraphicFramePr>
        <p:xfrm>
          <a:off x="2026603" y="2409825"/>
          <a:ext cx="8604249" cy="3767138"/>
        </p:xfrm>
        <a:graphic>
          <a:graphicData uri="http://schemas.openxmlformats.org/drawingml/2006/table">
            <a:tbl>
              <a:tblPr firstRow="1" bandRow="1">
                <a:tableStyleId>{72833802-FEF1-4C79-8D5D-14CF1EAF98D9}</a:tableStyleId>
              </a:tblPr>
              <a:tblGrid>
                <a:gridCol w="2243511"/>
                <a:gridCol w="2800420"/>
                <a:gridCol w="2088146"/>
                <a:gridCol w="1472172"/>
              </a:tblGrid>
              <a:tr h="368023">
                <a:tc>
                  <a:txBody>
                    <a:bodyPr/>
                    <a:lstStyle/>
                    <a:p>
                      <a:pPr algn="l"/>
                      <a:r>
                        <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rPr>
                        <a:t>技术指标</a:t>
                      </a:r>
                      <a:endPar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l"/>
                      <a:r>
                        <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rPr>
                        <a:t>最大值</a:t>
                      </a:r>
                      <a:endPar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l"/>
                      <a:r>
                        <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rPr>
                        <a:t>技术指标</a:t>
                      </a:r>
                      <a:endPar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c>
                  <a:txBody>
                    <a:bodyPr/>
                    <a:lstStyle/>
                    <a:p>
                      <a:pPr algn="l"/>
                      <a:r>
                        <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rPr>
                        <a:t>最大值</a:t>
                      </a:r>
                      <a:endParaRPr lang="zh-CN" altLang="en-US" sz="1800" dirty="0">
                        <a:solidFill>
                          <a:sysClr val="windowText" lastClr="000000"/>
                        </a:solidFill>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D8D8"/>
                    </a:solidFill>
                  </a:tcPr>
                </a:tc>
              </a:tr>
              <a:tr h="367997">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数据库容量</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受限于操作系统与硬件</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复合索引包含列数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32</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7997">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单表大小</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32 TB</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单表约束个数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无限制</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7997">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单行数据大小</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1 GB</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并发连接数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10000</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2367">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每条记录单个字段的大小</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1 GB</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分区表的分区个数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32768</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2367">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单表记录数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2</a:t>
                      </a:r>
                      <a:r>
                        <a:rPr lang="en-US" altLang="zh-CN" sz="1800" kern="1200" baseline="300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48</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分区表的单个分区大小</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32 TB</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42367">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单表列数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250~1600</a:t>
                      </a:r>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（随字段类型不同会有变化）</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分区表的单个分区记录数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2</a:t>
                      </a:r>
                      <a:r>
                        <a:rPr lang="en-US" altLang="zh-CN" sz="1800" kern="1200" baseline="300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55</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68023">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单表中的索引个数</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r>
                        <a:rPr lang="zh-CN" altLang="zh-CN" sz="1800" kern="1200" dirty="0">
                          <a:solidFill>
                            <a:schemeClr val="tx1"/>
                          </a:solidFill>
                          <a:effectLst/>
                          <a:latin typeface="微软雅黑" panose="020B0503020204020204" pitchFamily="34" charset="-122"/>
                          <a:ea typeface="微软雅黑" panose="020B0503020204020204" pitchFamily="34" charset="-122"/>
                          <a:cs typeface="+mn-cs"/>
                          <a:sym typeface="Huawei Sans" panose="020C0503030203020204" pitchFamily="34" charset="0"/>
                        </a:rPr>
                        <a:t>无限制</a:t>
                      </a:r>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endParaRPr lang="zh-CN" altLang="en-US" sz="180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a:endParaRPr lang="zh-CN" altLang="en-US" sz="1800" dirty="0">
                        <a:latin typeface="微软雅黑" panose="020B0503020204020204" pitchFamily="34" charset="-122"/>
                        <a:ea typeface="微软雅黑" panose="020B0503020204020204" pitchFamily="34" charset="-122"/>
                        <a:sym typeface="Huawei Sans" panose="020C0503030203020204" pitchFamily="34" charset="0"/>
                      </a:endParaRPr>
                    </a:p>
                  </a:txBody>
                  <a:tcPr marL="89996" marR="89996" marT="46814" marB="46814"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800" b="1" dirty="0" err="1"/>
              <a:t>openGauss</a:t>
            </a:r>
            <a:r>
              <a:rPr lang="zh-CN" altLang="en-US" sz="2800" b="1" dirty="0"/>
              <a:t>数据库</a:t>
            </a:r>
            <a:endParaRPr lang="en-US" altLang="zh-CN" sz="2800" b="1" dirty="0"/>
          </a:p>
          <a:p>
            <a:pPr lvl="1"/>
            <a:r>
              <a:rPr lang="en-US" altLang="zh-CN" dirty="0" err="1"/>
              <a:t>openGauss</a:t>
            </a:r>
            <a:r>
              <a:rPr lang="zh-CN" altLang="en-US" dirty="0"/>
              <a:t>功能架构</a:t>
            </a:r>
            <a:endParaRPr lang="zh-CN" altLang="en-US" dirty="0"/>
          </a:p>
          <a:p>
            <a:pPr lvl="1"/>
            <a:endParaRPr lang="zh-CN" altLang="en-US" dirty="0"/>
          </a:p>
        </p:txBody>
      </p:sp>
      <p:sp>
        <p:nvSpPr>
          <p:cNvPr id="5" name="标题 4"/>
          <p:cNvSpPr>
            <a:spLocks noGrp="1"/>
          </p:cNvSpPr>
          <p:nvPr>
            <p:ph type="title"/>
          </p:nvPr>
        </p:nvSpPr>
        <p:spPr/>
        <p:txBody>
          <a:bodyPr/>
          <a:lstStyle/>
          <a:p>
            <a:r>
              <a:rPr kumimoji="1" lang="en-US" altLang="zh-CN" dirty="0"/>
              <a:t>1.5 </a:t>
            </a:r>
            <a:r>
              <a:rPr kumimoji="1" lang="zh-CN" altLang="en-US" dirty="0"/>
              <a:t>认识我国数据库的发展</a:t>
            </a:r>
            <a:endParaRPr lang="zh-CN" altLang="en-US" dirty="0"/>
          </a:p>
        </p:txBody>
      </p:sp>
      <p:pic>
        <p:nvPicPr>
          <p:cNvPr id="6"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6950" y="2236788"/>
            <a:ext cx="8404225" cy="448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9945</Words>
  <Application>WPS 演示</Application>
  <PresentationFormat>宽屏</PresentationFormat>
  <Paragraphs>1260</Paragraphs>
  <Slides>76</Slides>
  <Notes>6</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4</vt:i4>
      </vt:variant>
      <vt:variant>
        <vt:lpstr>幻灯片标题</vt:lpstr>
      </vt:variant>
      <vt:variant>
        <vt:i4>76</vt:i4>
      </vt:variant>
    </vt:vector>
  </HeadingPairs>
  <TitlesOfParts>
    <vt:vector size="104" baseType="lpstr">
      <vt:lpstr>Arial</vt:lpstr>
      <vt:lpstr>宋体</vt:lpstr>
      <vt:lpstr>Wingdings</vt:lpstr>
      <vt:lpstr>黑体</vt:lpstr>
      <vt:lpstr>微软雅黑</vt:lpstr>
      <vt:lpstr>仿宋_GB2312</vt:lpstr>
      <vt:lpstr>Wingdings 2</vt:lpstr>
      <vt:lpstr>Tahoma</vt:lpstr>
      <vt:lpstr>华文新魏</vt:lpstr>
      <vt:lpstr>Arial Unicode MS</vt:lpstr>
      <vt:lpstr>等线 Light</vt:lpstr>
      <vt:lpstr>等线</vt:lpstr>
      <vt:lpstr>仿宋</vt:lpstr>
      <vt:lpstr>华文行楷</vt:lpstr>
      <vt:lpstr>Helvetica</vt:lpstr>
      <vt:lpstr>楷体_GB2312</vt:lpstr>
      <vt:lpstr>新宋体</vt:lpstr>
      <vt:lpstr>Times New Roman</vt:lpstr>
      <vt:lpstr>Huawei Sans</vt:lpstr>
      <vt:lpstr>DejaVu Math TeX Gyre</vt:lpstr>
      <vt:lpstr>方正兰亭黑简体</vt:lpstr>
      <vt:lpstr>Huawei Sans</vt:lpstr>
      <vt:lpstr>方正兰亭黑简体</vt:lpstr>
      <vt:lpstr>Office 主题​​</vt:lpstr>
      <vt:lpstr>Visio.Drawing.6</vt:lpstr>
      <vt:lpstr>Visio.Drawing.6</vt:lpstr>
      <vt:lpstr>Visio.Drawing.6</vt:lpstr>
      <vt:lpstr>Word.Document.8</vt:lpstr>
      <vt:lpstr>第1章 数据库系统概述</vt:lpstr>
      <vt:lpstr>目录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1.1 数据管理技术的发展</vt:lpstr>
      <vt:lpstr>1.2 数据库系统</vt:lpstr>
      <vt:lpstr>1.2 数据库系统</vt:lpstr>
      <vt:lpstr>1.2 数据库系统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1.3 数据库管理系统</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1.4 数据模型与数据库模式</vt:lpstr>
      <vt:lpstr>1.5 认识我国数据库的发展</vt:lpstr>
      <vt:lpstr>1.5 认识我国数据库的发展</vt:lpstr>
      <vt:lpstr>1.5 认识我国数据库的发展</vt:lpstr>
      <vt:lpstr>1.5 认识我国数据库的发展</vt:lpstr>
      <vt:lpstr>1.5 认识我国数据库的发展</vt:lpstr>
      <vt:lpstr>1.5 认识我国数据库的发展</vt:lpstr>
      <vt:lpstr>1.5 认识我国数据库的发展</vt:lpstr>
      <vt:lpstr>1.5 认识我国数据库的发展</vt:lpstr>
      <vt:lpstr>1.5 认识我国数据库的发展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五更</cp:lastModifiedBy>
  <cp:revision>24</cp:revision>
  <dcterms:created xsi:type="dcterms:W3CDTF">2024-11-02T12:31:00Z</dcterms:created>
  <dcterms:modified xsi:type="dcterms:W3CDTF">2025-07-14T14:11:15Z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9DD57A11A3C0474B9F88364A83E0DA4B_12</vt:lpwstr>
  </property>
  <property fmtid="{D5CDD505-2E9C-101B-9397-08002B2CF9AE}" pid="3" name="KSOProductBuildVer">
    <vt:lpwstr>2052-12.1.0.21915</vt:lpwstr>
  </property>
</Properties>
</file>